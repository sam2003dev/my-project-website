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393" r:id="rId5"/>
    <p:sldId id="372" r:id="rId6"/>
    <p:sldId id="310" r:id="rId7"/>
    <p:sldId id="377" r:id="rId8"/>
    <p:sldId id="311" r:id="rId9"/>
    <p:sldId id="347" r:id="rId10"/>
    <p:sldId id="312" r:id="rId11"/>
    <p:sldId id="313" r:id="rId12"/>
    <p:sldId id="378" r:id="rId13"/>
    <p:sldId id="384" r:id="rId14"/>
    <p:sldId id="351" r:id="rId15"/>
    <p:sldId id="316" r:id="rId16"/>
    <p:sldId id="385" r:id="rId17"/>
    <p:sldId id="319" r:id="rId18"/>
    <p:sldId id="386" r:id="rId19"/>
    <p:sldId id="387" r:id="rId20"/>
    <p:sldId id="320" r:id="rId21"/>
    <p:sldId id="388" r:id="rId22"/>
    <p:sldId id="321" r:id="rId23"/>
    <p:sldId id="352" r:id="rId24"/>
    <p:sldId id="322" r:id="rId25"/>
    <p:sldId id="394" r:id="rId26"/>
    <p:sldId id="373" r:id="rId27"/>
    <p:sldId id="323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25" r:id="rId36"/>
    <p:sldId id="389" r:id="rId37"/>
    <p:sldId id="379" r:id="rId38"/>
    <p:sldId id="380" r:id="rId39"/>
    <p:sldId id="381" r:id="rId40"/>
    <p:sldId id="382" r:id="rId41"/>
    <p:sldId id="383" r:id="rId42"/>
    <p:sldId id="390" r:id="rId43"/>
    <p:sldId id="360" r:id="rId44"/>
    <p:sldId id="327" r:id="rId45"/>
    <p:sldId id="330" r:id="rId46"/>
    <p:sldId id="338" r:id="rId47"/>
    <p:sldId id="392" r:id="rId48"/>
    <p:sldId id="370" r:id="rId49"/>
    <p:sldId id="341" r:id="rId50"/>
    <p:sldId id="342" r:id="rId51"/>
    <p:sldId id="343" r:id="rId52"/>
    <p:sldId id="344" r:id="rId5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673"/>
    <a:srgbClr val="FF96AF"/>
    <a:srgbClr val="939598"/>
    <a:srgbClr val="CC0000"/>
    <a:srgbClr val="9AA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1416" y="-8"/>
      </p:cViewPr>
      <p:guideLst>
        <p:guide orient="horz" pos="214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9" Type="http://schemas.openxmlformats.org/officeDocument/2006/relationships/slide" Target="slides/slide35.xml" /><Relationship Id="rId21" Type="http://schemas.openxmlformats.org/officeDocument/2006/relationships/slide" Target="slides/slide17.xml" /><Relationship Id="rId34" Type="http://schemas.openxmlformats.org/officeDocument/2006/relationships/slide" Target="slides/slide30.xml" /><Relationship Id="rId42" Type="http://schemas.openxmlformats.org/officeDocument/2006/relationships/slide" Target="slides/slide38.xml" /><Relationship Id="rId47" Type="http://schemas.openxmlformats.org/officeDocument/2006/relationships/slide" Target="slides/slide43.xml" /><Relationship Id="rId50" Type="http://schemas.openxmlformats.org/officeDocument/2006/relationships/slide" Target="slides/slide46.xml" /><Relationship Id="rId55" Type="http://schemas.openxmlformats.org/officeDocument/2006/relationships/handoutMaster" Target="handoutMasters/handoutMaster1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slide" Target="slides/slide29.xml" /><Relationship Id="rId38" Type="http://schemas.openxmlformats.org/officeDocument/2006/relationships/slide" Target="slides/slide34.xml" /><Relationship Id="rId46" Type="http://schemas.openxmlformats.org/officeDocument/2006/relationships/slide" Target="slides/slide42.xml" /><Relationship Id="rId59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41" Type="http://schemas.openxmlformats.org/officeDocument/2006/relationships/slide" Target="slides/slide37.xml" /><Relationship Id="rId54" Type="http://schemas.openxmlformats.org/officeDocument/2006/relationships/notesMaster" Target="notesMasters/notes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37" Type="http://schemas.openxmlformats.org/officeDocument/2006/relationships/slide" Target="slides/slide33.xml" /><Relationship Id="rId40" Type="http://schemas.openxmlformats.org/officeDocument/2006/relationships/slide" Target="slides/slide36.xml" /><Relationship Id="rId45" Type="http://schemas.openxmlformats.org/officeDocument/2006/relationships/slide" Target="slides/slide41.xml" /><Relationship Id="rId53" Type="http://schemas.openxmlformats.org/officeDocument/2006/relationships/slide" Target="slides/slide49.xml" /><Relationship Id="rId58" Type="http://schemas.openxmlformats.org/officeDocument/2006/relationships/theme" Target="theme/theme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slide" Target="slides/slide32.xml" /><Relationship Id="rId49" Type="http://schemas.openxmlformats.org/officeDocument/2006/relationships/slide" Target="slides/slide45.xml" /><Relationship Id="rId57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4" Type="http://schemas.openxmlformats.org/officeDocument/2006/relationships/slide" Target="slides/slide40.xml" /><Relationship Id="rId52" Type="http://schemas.openxmlformats.org/officeDocument/2006/relationships/slide" Target="slides/slide48.xml" /><Relationship Id="rId60" Type="http://schemas.microsoft.com/office/2016/11/relationships/changesInfo" Target="changesInfos/changesInfo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slide" Target="slides/slide31.xml" /><Relationship Id="rId43" Type="http://schemas.openxmlformats.org/officeDocument/2006/relationships/slide" Target="slides/slide39.xml" /><Relationship Id="rId48" Type="http://schemas.openxmlformats.org/officeDocument/2006/relationships/slide" Target="slides/slide44.xml" /><Relationship Id="rId56" Type="http://schemas.openxmlformats.org/officeDocument/2006/relationships/presProps" Target="presProps.xml" /><Relationship Id="rId8" Type="http://schemas.openxmlformats.org/officeDocument/2006/relationships/slide" Target="slides/slide4.xml" /><Relationship Id="rId51" Type="http://schemas.openxmlformats.org/officeDocument/2006/relationships/slide" Target="slides/slide47.xml" /><Relationship Id="rId3" Type="http://schemas.openxmlformats.org/officeDocument/2006/relationships/customXml" Target="../customXml/item3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ODAT" userId="2dced79c-ba6d-4de7-815f-42613af18cb6" providerId="ADAL" clId="{2BFC7A2F-C366-F64E-BCEB-8692989A52BC}"/>
    <pc:docChg chg="addSld modSld">
      <pc:chgData name="MALAK ODAT" userId="2dced79c-ba6d-4de7-815f-42613af18cb6" providerId="ADAL" clId="{2BFC7A2F-C366-F64E-BCEB-8692989A52BC}" dt="2022-09-06T05:49:13.366" v="2" actId="680"/>
      <pc:docMkLst>
        <pc:docMk/>
      </pc:docMkLst>
      <pc:sldChg chg="modSp">
        <pc:chgData name="MALAK ODAT" userId="2dced79c-ba6d-4de7-815f-42613af18cb6" providerId="ADAL" clId="{2BFC7A2F-C366-F64E-BCEB-8692989A52BC}" dt="2022-09-06T05:49:09.056" v="1" actId="1076"/>
        <pc:sldMkLst>
          <pc:docMk/>
          <pc:sldMk cId="0" sldId="322"/>
        </pc:sldMkLst>
        <pc:spChg chg="mod">
          <ac:chgData name="MALAK ODAT" userId="2dced79c-ba6d-4de7-815f-42613af18cb6" providerId="ADAL" clId="{2BFC7A2F-C366-F64E-BCEB-8692989A52BC}" dt="2022-09-06T05:49:05.879" v="0" actId="1076"/>
          <ac:spMkLst>
            <pc:docMk/>
            <pc:sldMk cId="0" sldId="322"/>
            <ac:spMk id="2" creationId="{00000000-0000-0000-0000-000000000000}"/>
          </ac:spMkLst>
        </pc:spChg>
        <pc:picChg chg="mod">
          <ac:chgData name="MALAK ODAT" userId="2dced79c-ba6d-4de7-815f-42613af18cb6" providerId="ADAL" clId="{2BFC7A2F-C366-F64E-BCEB-8692989A52BC}" dt="2022-09-06T05:49:09.056" v="1" actId="1076"/>
          <ac:picMkLst>
            <pc:docMk/>
            <pc:sldMk cId="0" sldId="322"/>
            <ac:picMk id="40961" creationId="{00000000-0000-0000-0000-000000000000}"/>
          </ac:picMkLst>
        </pc:picChg>
      </pc:sldChg>
      <pc:sldChg chg="new">
        <pc:chgData name="MALAK ODAT" userId="2dced79c-ba6d-4de7-815f-42613af18cb6" providerId="ADAL" clId="{2BFC7A2F-C366-F64E-BCEB-8692989A52BC}" dt="2022-09-06T05:49:13.366" v="2" actId="680"/>
        <pc:sldMkLst>
          <pc:docMk/>
          <pc:sldMk cId="747002477" sldId="394"/>
        </pc:sldMkLst>
      </pc:sldChg>
    </pc:docChg>
  </pc:docChgLst>
  <pc:docChgLst>
    <pc:chgData name="Guest User" userId="S::urn:spo:anon#85fcd2fee1dffeae2282614c4e6962946162182a1e1a3cae540314c6ffdc6cae::" providerId="AD" clId="Web-{D95421A1-C6D7-8C96-9A7C-E7ABFB424BD4}"/>
    <pc:docChg chg="modSld">
      <pc:chgData name="Guest User" userId="S::urn:spo:anon#85fcd2fee1dffeae2282614c4e6962946162182a1e1a3cae540314c6ffdc6cae::" providerId="AD" clId="Web-{D95421A1-C6D7-8C96-9A7C-E7ABFB424BD4}" dt="2020-08-16T17:52:24.323" v="2" actId="20577"/>
      <pc:docMkLst>
        <pc:docMk/>
      </pc:docMkLst>
      <pc:sldChg chg="modSp">
        <pc:chgData name="Guest User" userId="S::urn:spo:anon#85fcd2fee1dffeae2282614c4e6962946162182a1e1a3cae540314c6ffdc6cae::" providerId="AD" clId="Web-{D95421A1-C6D7-8C96-9A7C-E7ABFB424BD4}" dt="2020-08-16T17:52:24.323" v="2" actId="20577"/>
        <pc:sldMkLst>
          <pc:docMk/>
          <pc:sldMk cId="0" sldId="380"/>
        </pc:sldMkLst>
        <pc:spChg chg="mod">
          <ac:chgData name="Guest User" userId="S::urn:spo:anon#85fcd2fee1dffeae2282614c4e6962946162182a1e1a3cae540314c6ffdc6cae::" providerId="AD" clId="Web-{D95421A1-C6D7-8C96-9A7C-E7ABFB424BD4}" dt="2020-08-16T17:52:24.323" v="2" actId="20577"/>
          <ac:spMkLst>
            <pc:docMk/>
            <pc:sldMk cId="0" sldId="380"/>
            <ac:spMk id="63490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 /><Relationship Id="rId2" Type="http://schemas.openxmlformats.org/officeDocument/2006/relationships/image" Target="../media/image22.emf" /><Relationship Id="rId1" Type="http://schemas.openxmlformats.org/officeDocument/2006/relationships/image" Target="../media/image21.emf" 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 /><Relationship Id="rId1" Type="http://schemas.openxmlformats.org/officeDocument/2006/relationships/image" Target="../media/image25.emf" 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 /><Relationship Id="rId1" Type="http://schemas.openxmlformats.org/officeDocument/2006/relationships/image" Target="../media/image27.emf" 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 /><Relationship Id="rId2" Type="http://schemas.openxmlformats.org/officeDocument/2006/relationships/image" Target="../media/image30.emf" /><Relationship Id="rId1" Type="http://schemas.openxmlformats.org/officeDocument/2006/relationships/image" Target="../media/image29.emf" /><Relationship Id="rId4" Type="http://schemas.openxmlformats.org/officeDocument/2006/relationships/image" Target="../media/image32.emf" 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DC541CAA-1735-41FD-A5A5-96766A5BD9A2}" type="datetime1">
              <a:rPr lang="en-US"/>
              <a:pPr>
                <a:defRPr/>
              </a:pPr>
              <a:t>9/6/2022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5B9B7B20-EE68-45D5-B221-0979F0077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283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E5F2D325-0EEB-49FF-B607-1563B3F5FF32}" type="datetime1">
              <a:rPr lang="en-US"/>
              <a:pPr>
                <a:defRPr/>
              </a:pPr>
              <a:t>9/6/2022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0E8B7C36-62DD-4588-A068-C8021864A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75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ＭＳ Ｐゴシック" pitchFamily="23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1536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DD07CFB-2EBC-4D21-B138-572F35AD8EDC}" type="slidenum">
              <a:rPr lang="en-US" sz="1200">
                <a:latin typeface="Calibri" pitchFamily="34" charset="0"/>
              </a:rPr>
              <a:pPr algn="r"/>
              <a:t>1</a:t>
            </a:fld>
            <a:endParaRPr lang="en-US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B7B7C00-2802-4903-A609-0AAC1507081D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2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7719C19-94C8-4033-B198-772DC8E7494B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5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E3B98D1-AE8B-4B82-9B27-FE647E63FA02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6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2F6349-6CD2-4903-A237-98C046E8FD85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8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03C5A56-F63E-4FFB-AEFF-234BA35553E9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17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19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53768CD-60D1-4237-9A41-CD5D6C4DEB6D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21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1F2EBE1-F97F-4C60-BEF0-9E3C342B984B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23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17FB97-4289-40AA-8292-AA834A77700E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26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294449-99B5-47B0-A474-A02EFD39FF08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27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EA0743A-BC42-4B56-B337-4D10F5BB68C6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30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49F2868-4FBD-44B1-8809-F1887F24A327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32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300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169189E-C3F3-48FE-ACE8-C62D898C9DA6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37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320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8AE471-AE21-45E3-8516-A1DC67EC67CB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38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351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AC68CC1-29DC-4B58-84A2-8E2CB14E8DD0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40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72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372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FE1A6A9-D01E-4A04-9205-D903D1BBE695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41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9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59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2A589E9-1237-41A4-B634-D647456504C2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42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17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48BD644-D923-4936-9F10-3B6C674CF600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43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1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81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AFF757D-038E-4337-B0E0-D79062BBEB4D}" type="slidenum">
              <a:rPr lang="en-US" smtClean="0">
                <a:latin typeface="Calibri" pitchFamily="34" charset="0"/>
                <a:ea typeface="ＭＳ Ｐゴシック" pitchFamily="34" charset="-128"/>
              </a:rPr>
              <a:pPr/>
              <a:t>49</a:t>
            </a:fld>
            <a:endParaRPr lang="en-US"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pPr>
              <a:defRPr/>
            </a:pPr>
            <a:fld id="{2D4F827D-5840-46C1-BA04-EACFB8557B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pitchFamily="-107" charset="0"/>
                <a:ea typeface="Helvetica" pitchFamily="-107" charset="0"/>
                <a:cs typeface="Helvetica" pitchFamily="-107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gradFill flip="none" rotWithShape="1">
            <a:gsLst>
              <a:gs pos="0">
                <a:srgbClr val="155076"/>
              </a:gs>
              <a:gs pos="50000">
                <a:srgbClr val="14AECA"/>
              </a:gs>
              <a:gs pos="99000">
                <a:srgbClr val="155076"/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80000"/>
                    </a:srgbClr>
                  </a:outerShdw>
                </a:effectLst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0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18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pitchFamily="-107" charset="0"/>
                <a:ea typeface="Helvetica" pitchFamily="-107" charset="0"/>
                <a:cs typeface="Helvetica" pitchFamily="-107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pPr>
              <a:defRPr/>
            </a:pPr>
            <a:fld id="{194EF9D7-72E5-4F80-990E-1AD40A261E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pPr>
              <a:defRPr/>
            </a:pPr>
            <a:fld id="{72DC658E-7C8D-44B9-A98F-AC2CCA0523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pitchFamily="-107" charset="0"/>
                <a:ea typeface="Helvetica" pitchFamily="-107" charset="0"/>
                <a:cs typeface="Helvetica" pitchFamily="-107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gradFill flip="none" rotWithShape="1">
            <a:gsLst>
              <a:gs pos="0">
                <a:srgbClr val="155076"/>
              </a:gs>
              <a:gs pos="50000">
                <a:srgbClr val="14AECA"/>
              </a:gs>
              <a:gs pos="99000">
                <a:srgbClr val="155076"/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80000"/>
                    </a:srgbClr>
                  </a:outerShdw>
                </a:effectLst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418736"/>
            <a:ext cx="4114800" cy="140885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2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20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0" y="1418736"/>
            <a:ext cx="4114800" cy="140885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2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20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Helvetica" charset="0"/>
                <a:cs typeface="Helvetica" charset="0"/>
              </a:defRPr>
            </a:lvl1pPr>
          </a:lstStyle>
          <a:p>
            <a:pPr>
              <a:defRPr/>
            </a:pPr>
            <a:fld id="{68EEF049-E94C-4D74-8D5D-042F26DFB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pitchFamily="-107" charset="0"/>
                <a:ea typeface="Helvetica" pitchFamily="-107" charset="0"/>
                <a:cs typeface="Helvetica" pitchFamily="-107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5DDD8-A942-4C0D-B10A-BCBF9B88D4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97DF5-3B77-4D6C-B93C-7D01C1965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3690C-ECC2-4FE6-91ED-BEF8C7EA4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A7B2C-04DE-45D9-A55C-AE1915767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AD0668-0BBC-4B55-BFF4-A3F4CFD1D6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30BE4-87F2-4D99-9024-4DEA43F1C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07" charset="0"/>
                <a:ea typeface="ＭＳ Ｐゴシック" pitchFamily="-107" charset="-128"/>
                <a:cs typeface="ＭＳ Ｐゴシック" pitchFamily="-107" charset="-128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C452743B-E763-4220-88F3-D5724B0849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23" charset="-128"/>
          <a:cs typeface="ＭＳ Ｐゴシック" pitchFamily="23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23" charset="-128"/>
          <a:cs typeface="ＭＳ Ｐゴシック" pitchFamily="23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 /><Relationship Id="rId3" Type="http://schemas.openxmlformats.org/officeDocument/2006/relationships/notesSlide" Target="../notesSlides/notesSlide9.xml" /><Relationship Id="rId7" Type="http://schemas.openxmlformats.org/officeDocument/2006/relationships/oleObject" Target="../embeddings/oleObject2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1.vml" /><Relationship Id="rId6" Type="http://schemas.openxmlformats.org/officeDocument/2006/relationships/image" Target="../media/image21.emf" /><Relationship Id="rId5" Type="http://schemas.openxmlformats.org/officeDocument/2006/relationships/oleObject" Target="../embeddings/oleObject1.bin" /><Relationship Id="rId10" Type="http://schemas.openxmlformats.org/officeDocument/2006/relationships/image" Target="../media/image23.emf" /><Relationship Id="rId4" Type="http://schemas.openxmlformats.org/officeDocument/2006/relationships/image" Target="../media/image24.jpeg" /><Relationship Id="rId9" Type="http://schemas.openxmlformats.org/officeDocument/2006/relationships/oleObject" Target="../embeddings/oleObject3.bin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7" Type="http://schemas.openxmlformats.org/officeDocument/2006/relationships/image" Target="../media/image26.emf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2.vml" /><Relationship Id="rId6" Type="http://schemas.openxmlformats.org/officeDocument/2006/relationships/oleObject" Target="../embeddings/oleObject5.bin" /><Relationship Id="rId5" Type="http://schemas.openxmlformats.org/officeDocument/2006/relationships/image" Target="../media/image25.emf" /><Relationship Id="rId4" Type="http://schemas.openxmlformats.org/officeDocument/2006/relationships/oleObject" Target="../embeddings/oleObject4.bin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3.vml" /><Relationship Id="rId6" Type="http://schemas.openxmlformats.org/officeDocument/2006/relationships/image" Target="../media/image28.emf" /><Relationship Id="rId5" Type="http://schemas.openxmlformats.org/officeDocument/2006/relationships/oleObject" Target="../embeddings/oleObject7.bin" /><Relationship Id="rId4" Type="http://schemas.openxmlformats.org/officeDocument/2006/relationships/image" Target="../media/image27.emf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 /><Relationship Id="rId3" Type="http://schemas.openxmlformats.org/officeDocument/2006/relationships/notesSlide" Target="../notesSlides/notesSlide11.xml" /><Relationship Id="rId7" Type="http://schemas.openxmlformats.org/officeDocument/2006/relationships/image" Target="../media/image30.emf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4.vml" /><Relationship Id="rId6" Type="http://schemas.openxmlformats.org/officeDocument/2006/relationships/oleObject" Target="../embeddings/oleObject9.bin" /><Relationship Id="rId11" Type="http://schemas.openxmlformats.org/officeDocument/2006/relationships/image" Target="../media/image32.emf" /><Relationship Id="rId5" Type="http://schemas.openxmlformats.org/officeDocument/2006/relationships/image" Target="../media/image29.emf" /><Relationship Id="rId10" Type="http://schemas.openxmlformats.org/officeDocument/2006/relationships/oleObject" Target="../embeddings/oleObject11.bin" /><Relationship Id="rId4" Type="http://schemas.openxmlformats.org/officeDocument/2006/relationships/oleObject" Target="../embeddings/oleObject8.bin" /><Relationship Id="rId9" Type="http://schemas.openxmlformats.org/officeDocument/2006/relationships/image" Target="../media/image31.emf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5.vml" /><Relationship Id="rId4" Type="http://schemas.openxmlformats.org/officeDocument/2006/relationships/image" Target="../media/image35.emf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Number Placeholder 1"/>
          <p:cNvSpPr txBox="1">
            <a:spLocks noGrp="1"/>
          </p:cNvSpPr>
          <p:nvPr/>
        </p:nvSpPr>
        <p:spPr bwMode="auto">
          <a:xfrm>
            <a:off x="6553200" y="6475413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fld id="{E41BFEE2-0AEE-472E-8066-51170E839F49}" type="slidenum"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pPr algn="r"/>
              <a:t>1</a:t>
            </a:fld>
            <a:endParaRPr lang="en-US" sz="1000" b="1">
              <a:solidFill>
                <a:srgbClr val="898989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4338" name="Footer Placeholder 2"/>
          <p:cNvSpPr txBox="1">
            <a:spLocks noGrp="1"/>
          </p:cNvSpPr>
          <p:nvPr/>
        </p:nvSpPr>
        <p:spPr bwMode="auto">
          <a:xfrm>
            <a:off x="1528763" y="6475413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</p:txBody>
      </p:sp>
      <p:grpSp>
        <p:nvGrpSpPr>
          <p:cNvPr id="14339" name="Group 10"/>
          <p:cNvGrpSpPr>
            <a:grpSpLocks/>
          </p:cNvGrpSpPr>
          <p:nvPr/>
        </p:nvGrpSpPr>
        <p:grpSpPr bwMode="auto">
          <a:xfrm>
            <a:off x="371475" y="1090613"/>
            <a:ext cx="8383588" cy="4394200"/>
            <a:chOff x="439738" y="1208608"/>
            <a:chExt cx="8382526" cy="4395055"/>
          </a:xfrm>
        </p:grpSpPr>
        <p:sp>
          <p:nvSpPr>
            <p:cNvPr id="14340" name="Rectangle 9"/>
            <p:cNvSpPr>
              <a:spLocks noChangeArrowheads="1"/>
            </p:cNvSpPr>
            <p:nvPr/>
          </p:nvSpPr>
          <p:spPr bwMode="auto">
            <a:xfrm>
              <a:off x="439738" y="1208608"/>
              <a:ext cx="4831738" cy="4140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b="1">
                  <a:latin typeface="Helvetica" pitchFamily="34" charset="0"/>
                  <a:cs typeface="Helvetica" pitchFamily="34" charset="0"/>
                </a:rPr>
                <a:t>Genetics:  From Genes to Genomes</a:t>
              </a:r>
            </a:p>
            <a:p>
              <a:pPr algn="ctr">
                <a:spcAft>
                  <a:spcPts val="2400"/>
                </a:spcAft>
              </a:pPr>
              <a:r>
                <a:rPr lang="en-US" sz="2000" b="1">
                  <a:latin typeface="Helvetica" pitchFamily="34" charset="0"/>
                  <a:cs typeface="Helvetica" pitchFamily="34" charset="0"/>
                </a:rPr>
                <a:t>Fifth Edition</a:t>
              </a:r>
            </a:p>
            <a:p>
              <a:pPr algn="ctr">
                <a:spcAft>
                  <a:spcPts val="1200"/>
                </a:spcAft>
              </a:pPr>
              <a:r>
                <a:rPr lang="en-US" sz="2000" b="1">
                  <a:latin typeface="Helvetica" pitchFamily="34" charset="0"/>
                  <a:cs typeface="Helvetica" pitchFamily="34" charset="0"/>
                </a:rPr>
                <a:t>Leland H. Hartwell, Michael L. Goldberg, Janice A. Fisher, Leroy Hood, and Charles F. Aquadro</a:t>
              </a:r>
            </a:p>
            <a:p>
              <a:pPr algn="ctr"/>
              <a:endParaRPr lang="en-US" sz="2000" b="1">
                <a:latin typeface="Helvetica" pitchFamily="34" charset="0"/>
                <a:cs typeface="Helvetica" pitchFamily="34" charset="0"/>
              </a:endParaRPr>
            </a:p>
            <a:p>
              <a:pPr algn="ctr"/>
              <a:endParaRPr lang="en-US" sz="2000" b="1">
                <a:latin typeface="Helvetica" pitchFamily="34" charset="0"/>
                <a:cs typeface="Helvetica" pitchFamily="34" charset="0"/>
              </a:endParaRPr>
            </a:p>
            <a:p>
              <a:pPr algn="ctr"/>
              <a:r>
                <a:rPr lang="en-US" sz="1600" b="1">
                  <a:latin typeface="Helvetica" pitchFamily="34" charset="0"/>
                  <a:cs typeface="Helvetica" pitchFamily="34" charset="0"/>
                </a:rPr>
                <a:t>Prepared by Kristin D. Patterson</a:t>
              </a:r>
            </a:p>
            <a:p>
              <a:pPr algn="ctr"/>
              <a:r>
                <a:rPr lang="en-US" sz="1600" b="1">
                  <a:latin typeface="Helvetica" pitchFamily="34" charset="0"/>
                  <a:cs typeface="Helvetica" pitchFamily="34" charset="0"/>
                </a:rPr>
                <a:t>University of Texas at Austin</a:t>
              </a:r>
            </a:p>
            <a:p>
              <a:pPr algn="ctr"/>
              <a:endParaRPr lang="en-US" sz="2000" b="1">
                <a:latin typeface="Helvetica" pitchFamily="34" charset="0"/>
                <a:cs typeface="Helvetica" pitchFamily="34" charset="0"/>
              </a:endParaRPr>
            </a:p>
          </p:txBody>
        </p:sp>
        <p:pic>
          <p:nvPicPr>
            <p:cNvPr id="14341" name="Picture 8" descr="cover.tiff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407701" y="1230248"/>
              <a:ext cx="3414563" cy="4373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1" y="116857"/>
            <a:ext cx="684188" cy="684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ound Same Side Corner Rectangle 17"/>
          <p:cNvSpPr>
            <a:spLocks/>
          </p:cNvSpPr>
          <p:nvPr/>
        </p:nvSpPr>
        <p:spPr bwMode="auto">
          <a:xfrm rot="10800000">
            <a:off x="265113" y="4351338"/>
            <a:ext cx="8640762" cy="2011362"/>
          </a:xfrm>
          <a:custGeom>
            <a:avLst/>
            <a:gdLst>
              <a:gd name="T0" fmla="*/ 8640762 w 8640762"/>
              <a:gd name="T1" fmla="*/ 1005681 h 2011362"/>
              <a:gd name="T2" fmla="*/ 4320381 w 8640762"/>
              <a:gd name="T3" fmla="*/ 2011362 h 2011362"/>
              <a:gd name="T4" fmla="*/ 0 w 8640762"/>
              <a:gd name="T5" fmla="*/ 1005681 h 2011362"/>
              <a:gd name="T6" fmla="*/ 4320381 w 8640762"/>
              <a:gd name="T7" fmla="*/ 0 h 2011362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98187 w 8640762"/>
              <a:gd name="T13" fmla="*/ 98187 h 2011362"/>
              <a:gd name="T14" fmla="*/ 8542570 w 8640762"/>
              <a:gd name="T15" fmla="*/ 2011362 h 20113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0762" h="2011362">
                <a:moveTo>
                  <a:pt x="335234" y="0"/>
                </a:moveTo>
                <a:lnTo>
                  <a:pt x="8305528" y="0"/>
                </a:lnTo>
                <a:lnTo>
                  <a:pt x="8305527" y="0"/>
                </a:lnTo>
                <a:cubicBezTo>
                  <a:pt x="8490672" y="0"/>
                  <a:pt x="8640762" y="150089"/>
                  <a:pt x="8640762" y="335234"/>
                </a:cubicBezTo>
                <a:cubicBezTo>
                  <a:pt x="8640762" y="335234"/>
                  <a:pt x="8640761" y="335234"/>
                  <a:pt x="8640761" y="335234"/>
                </a:cubicBezTo>
                <a:lnTo>
                  <a:pt x="8640762" y="2011362"/>
                </a:lnTo>
                <a:lnTo>
                  <a:pt x="0" y="2011362"/>
                </a:lnTo>
                <a:lnTo>
                  <a:pt x="0" y="335234"/>
                </a:lnTo>
                <a:cubicBezTo>
                  <a:pt x="0" y="150089"/>
                  <a:pt x="150089" y="0"/>
                  <a:pt x="335234" y="0"/>
                </a:cubicBezTo>
                <a:cubicBezTo>
                  <a:pt x="335234" y="0"/>
                  <a:pt x="335234" y="0"/>
                  <a:pt x="335234" y="0"/>
                </a:cubicBezTo>
                <a:close/>
              </a:path>
            </a:pathLst>
          </a:custGeom>
          <a:noFill/>
          <a:ln w="38100">
            <a:solidFill>
              <a:srgbClr val="FF9673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7E86015-AD97-47E4-B75E-6CC2986A9931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215188" y="530225"/>
            <a:ext cx="1165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CHAPTER</a:t>
            </a:r>
          </a:p>
        </p:txBody>
      </p:sp>
      <p:sp>
        <p:nvSpPr>
          <p:cNvPr id="11" name="Title Placeholder 1"/>
          <p:cNvSpPr txBox="1">
            <a:spLocks/>
          </p:cNvSpPr>
          <p:nvPr/>
        </p:nvSpPr>
        <p:spPr bwMode="auto">
          <a:xfrm>
            <a:off x="1414463" y="179388"/>
            <a:ext cx="7491412" cy="823912"/>
          </a:xfrm>
          <a:prstGeom prst="rect">
            <a:avLst/>
          </a:prstGeom>
          <a:solidFill>
            <a:srgbClr val="939598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cs typeface="Helvetica" charset="0"/>
              </a:rPr>
              <a:t>Basic Principles:  How Traits Are Transmitted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381875" y="438150"/>
            <a:ext cx="104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Helvetica" charset="0"/>
                <a:ea typeface="ＭＳ Ｐゴシック" charset="0"/>
                <a:cs typeface="Helvetica" charset="0"/>
              </a:rPr>
              <a:t>CHAPTER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58763" y="179388"/>
            <a:ext cx="1143000" cy="823912"/>
          </a:xfrm>
          <a:prstGeom prst="rect">
            <a:avLst/>
          </a:prstGeom>
          <a:solidFill>
            <a:srgbClr val="939598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PART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2012" y="-170277"/>
            <a:ext cx="647744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elvetica"/>
                <a:ea typeface="+mn-ea"/>
                <a:cs typeface="Helvetica"/>
              </a:rPr>
              <a:t>5</a:t>
            </a:r>
          </a:p>
        </p:txBody>
      </p:sp>
      <p:sp>
        <p:nvSpPr>
          <p:cNvPr id="16393" name="Subtitle 2"/>
          <p:cNvSpPr txBox="1">
            <a:spLocks/>
          </p:cNvSpPr>
          <p:nvPr/>
        </p:nvSpPr>
        <p:spPr bwMode="auto">
          <a:xfrm>
            <a:off x="258763" y="1409700"/>
            <a:ext cx="4506912" cy="183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spcAft>
                <a:spcPts val="4200"/>
              </a:spcAft>
              <a:buFont typeface="Arial" charset="0"/>
              <a:buNone/>
            </a:pPr>
            <a:r>
              <a:rPr lang="en-US" sz="2800" b="1">
                <a:solidFill>
                  <a:srgbClr val="007D1C"/>
                </a:solidFill>
                <a:latin typeface="Helvetica" pitchFamily="34" charset="0"/>
                <a:cs typeface="Helvetica" pitchFamily="34" charset="0"/>
              </a:rPr>
              <a:t>Linkage, Recombination, and the Mapping of Genes on Chromosomes</a:t>
            </a:r>
          </a:p>
        </p:txBody>
      </p:sp>
      <p:sp>
        <p:nvSpPr>
          <p:cNvPr id="16394" name="Text Placeholder 17"/>
          <p:cNvSpPr txBox="1">
            <a:spLocks/>
          </p:cNvSpPr>
          <p:nvPr/>
        </p:nvSpPr>
        <p:spPr bwMode="auto">
          <a:xfrm>
            <a:off x="531813" y="4310063"/>
            <a:ext cx="7853362" cy="190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latin typeface="Helvetica" pitchFamily="34" charset="0"/>
                <a:cs typeface="Helvetica" pitchFamily="34" charset="0"/>
              </a:rPr>
              <a:t>5.1 Gene Linkage and Recombination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latin typeface="Helvetica" pitchFamily="34" charset="0"/>
                <a:cs typeface="Helvetica" pitchFamily="34" charset="0"/>
              </a:rPr>
              <a:t>5.2 Recombination: A Result of Crossing-Over During Meiosis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latin typeface="Helvetica" pitchFamily="34" charset="0"/>
                <a:cs typeface="Helvetica" pitchFamily="34" charset="0"/>
              </a:rPr>
              <a:t>5.3 Mapping: Locating Genes Along a Chromosome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latin typeface="Helvetica" pitchFamily="34" charset="0"/>
                <a:cs typeface="Helvetica" pitchFamily="34" charset="0"/>
              </a:rPr>
              <a:t>5.4 The Chi-Square Test and Linkage Analysis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Helvetica" pitchFamily="34" charset="0"/>
                <a:cs typeface="Helvetica" pitchFamily="34" charset="0"/>
              </a:rPr>
              <a:t>5.5 Tetrad Analysis in Fungi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r>
              <a:rPr lang="en-US" sz="1800" dirty="0">
                <a:latin typeface="Helvetica" pitchFamily="34" charset="0"/>
                <a:cs typeface="Helvetica" pitchFamily="34" charset="0"/>
              </a:rPr>
              <a:t>5.6 Mitotic Recombination and Genetic Mosaics</a:t>
            </a:r>
          </a:p>
          <a:p>
            <a:pPr indent="-273050">
              <a:spcAft>
                <a:spcPts val="400"/>
              </a:spcAft>
              <a:buFont typeface="Wingdings" pitchFamily="2" charset="2"/>
              <a:buChar char="§"/>
            </a:pPr>
            <a:endParaRPr lang="en-US" sz="1800" dirty="0">
              <a:latin typeface="Helvetica" pitchFamily="34" charset="0"/>
              <a:cs typeface="Helvetica" pitchFamily="34" charset="0"/>
            </a:endParaRPr>
          </a:p>
          <a:p>
            <a:pPr indent="-273050">
              <a:spcAft>
                <a:spcPts val="1600"/>
              </a:spcAft>
              <a:buFont typeface="Wingdings" pitchFamily="2" charset="2"/>
              <a:buChar char="§"/>
            </a:pPr>
            <a:endParaRPr lang="en-US" sz="1800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65113" y="3927475"/>
            <a:ext cx="8640762" cy="412750"/>
          </a:xfrm>
          <a:prstGeom prst="rect">
            <a:avLst/>
          </a:prstGeom>
          <a:solidFill>
            <a:srgbClr val="939598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charset="0"/>
                <a:ea typeface="ＭＳ Ｐゴシック" charset="0"/>
                <a:cs typeface="ＭＳ Ｐゴシック" charset="0"/>
              </a:rPr>
              <a:t>CHAPTER OUTLINE</a:t>
            </a:r>
          </a:p>
        </p:txBody>
      </p:sp>
      <p:sp>
        <p:nvSpPr>
          <p:cNvPr id="16396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16397" name="Picture 17" descr="har25316_co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3188" y="1003300"/>
            <a:ext cx="37020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Linkage, recombination, and mapping of genes on chromosomes</a:t>
            </a:r>
          </a:p>
        </p:txBody>
      </p:sp>
      <p:sp>
        <p:nvSpPr>
          <p:cNvPr id="18434" name="Content Placeholder 9"/>
          <p:cNvSpPr>
            <a:spLocks noGrp="1"/>
          </p:cNvSpPr>
          <p:nvPr>
            <p:ph idx="1"/>
          </p:nvPr>
        </p:nvSpPr>
        <p:spPr>
          <a:xfrm>
            <a:off x="457200" y="2400300"/>
            <a:ext cx="4460875" cy="2171700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Genes linked together on the same chromosome usually assort together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Linked genes may become separated by recombination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02A5177-270C-4949-B445-79965D8DA1A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pic>
        <p:nvPicPr>
          <p:cNvPr id="18436" name="Picture 7" descr="har25316_05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3900" y="2212975"/>
            <a:ext cx="4114800" cy="317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5.1 Gene Linkage and Recombination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Define linkage with respect to gene loci and chromosomes.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Differentiate between parental and recombinant gametes.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Conclude from ratios of progeny in a dihybrid cross whether or not two genes are linked.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how a testcross can provide evidence for or against linkage.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39B261-516F-4289-B4FC-BC4A8E72489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946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Detecting linkage by analyzing the progeny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of dihybrid crosses: X-linked genes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457200" y="1522413"/>
            <a:ext cx="8229600" cy="20113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solidFill>
                  <a:srgbClr val="CC0000"/>
                </a:solidFill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Syntenic genes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– genes located on the same chromosome</a:t>
            </a:r>
          </a:p>
          <a:p>
            <a:pPr>
              <a:spcAft>
                <a:spcPct val="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Two X-linked genes in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Drosophila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with recessive alleles</a:t>
            </a:r>
          </a:p>
          <a:p>
            <a:pPr marL="639763" lvl="1">
              <a:spcAft>
                <a:spcPct val="0"/>
              </a:spcAft>
              <a:buSzTx/>
            </a:pP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(red eyes) and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(white eyes)</a:t>
            </a:r>
          </a:p>
          <a:p>
            <a:pPr marL="639763" lvl="1">
              <a:buSzTx/>
            </a:pP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(brown body) and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(yellow body)</a:t>
            </a:r>
          </a:p>
          <a:p>
            <a:pPr marL="639763" lvl="1">
              <a:buSzTx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603EA35-D955-434B-A0C7-F8BEBBB09F0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5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0484" name="Content Placeholder 2"/>
          <p:cNvSpPr txBox="1">
            <a:spLocks/>
          </p:cNvSpPr>
          <p:nvPr/>
        </p:nvSpPr>
        <p:spPr bwMode="auto">
          <a:xfrm>
            <a:off x="457200" y="3814763"/>
            <a:ext cx="4643438" cy="201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</a:pPr>
            <a:r>
              <a:rPr lang="en-US" sz="2200" b="1">
                <a:latin typeface="Helvetica" pitchFamily="34" charset="0"/>
                <a:cs typeface="Helvetica" pitchFamily="34" charset="0"/>
              </a:rPr>
              <a:t>Note that in this cross: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</a:pPr>
            <a:r>
              <a:rPr lang="en-US" sz="2200" b="1">
                <a:latin typeface="Helvetica" pitchFamily="34" charset="0"/>
                <a:cs typeface="Helvetica" pitchFamily="34" charset="0"/>
              </a:rPr>
              <a:t>F</a:t>
            </a:r>
            <a:r>
              <a:rPr lang="en-US" sz="2200" b="1" baseline="-25000">
                <a:latin typeface="Helvetica" pitchFamily="34" charset="0"/>
                <a:cs typeface="Helvetica" pitchFamily="34" charset="0"/>
              </a:rPr>
              <a:t>1</a:t>
            </a:r>
            <a:r>
              <a:rPr lang="en-US" sz="2200" b="1">
                <a:latin typeface="Helvetica" pitchFamily="34" charset="0"/>
                <a:cs typeface="Helvetica" pitchFamily="34" charset="0"/>
              </a:rPr>
              <a:t> males get their only X chromosome from their mothers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</a:pPr>
            <a:r>
              <a:rPr lang="en-US" sz="2200" b="1">
                <a:latin typeface="Helvetica" pitchFamily="34" charset="0"/>
                <a:cs typeface="Helvetica" pitchFamily="34" charset="0"/>
              </a:rPr>
              <a:t>F</a:t>
            </a:r>
            <a:r>
              <a:rPr lang="en-US" sz="2200" b="1" baseline="-25000">
                <a:latin typeface="Helvetica" pitchFamily="34" charset="0"/>
                <a:cs typeface="Helvetica" pitchFamily="34" charset="0"/>
              </a:rPr>
              <a:t>1</a:t>
            </a:r>
            <a:r>
              <a:rPr lang="en-US" sz="2200" b="1">
                <a:latin typeface="Helvetica" pitchFamily="34" charset="0"/>
                <a:cs typeface="Helvetica" pitchFamily="34" charset="0"/>
              </a:rPr>
              <a:t> females are dihybrids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</a:pPr>
            <a:endParaRPr lang="en-US" sz="2200" b="1">
              <a:latin typeface="Helvetica" pitchFamily="34" charset="0"/>
              <a:cs typeface="Helvetica" pitchFamily="34" charset="0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</a:pPr>
            <a:endParaRPr lang="en-US" sz="2200" b="1">
              <a:latin typeface="Helvetica" pitchFamily="34" charset="0"/>
              <a:cs typeface="Helvetica" pitchFamily="34" charset="0"/>
            </a:endParaRP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buSzPct val="125000"/>
              <a:buFont typeface="Arial" charset="0"/>
              <a:buNone/>
            </a:pPr>
            <a:r>
              <a:rPr lang="en-US" sz="2200" b="1">
                <a:latin typeface="Helvetica" pitchFamily="34" charset="0"/>
                <a:cs typeface="Helvetica" pitchFamily="34" charset="0"/>
              </a:rPr>
              <a:t> </a:t>
            </a:r>
          </a:p>
        </p:txBody>
      </p:sp>
      <p:sp>
        <p:nvSpPr>
          <p:cNvPr id="20485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20486" name="Picture 10" descr="har25316_050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61000" y="3467100"/>
            <a:ext cx="31083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Detecting linkage by analyzing the progeny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of dihybrid crosses: X-linked genes (cont)</a:t>
            </a:r>
          </a:p>
        </p:txBody>
      </p:sp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088A6D6-58DD-41BA-80E6-2505BF3377E2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6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2531" name="Content Placeholder 10"/>
          <p:cNvSpPr>
            <a:spLocks noGrp="1"/>
          </p:cNvSpPr>
          <p:nvPr>
            <p:ph idx="1"/>
          </p:nvPr>
        </p:nvSpPr>
        <p:spPr>
          <a:xfrm>
            <a:off x="457200" y="1647825"/>
            <a:ext cx="3616325" cy="4708525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Compare allele configurations in F</a:t>
            </a:r>
            <a:r>
              <a:rPr lang="en-US" baseline="-25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2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to P generation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Deviation from 1:1:1:1 segregation in F</a:t>
            </a:r>
            <a:r>
              <a:rPr lang="en-US" baseline="-25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2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indicates the genes are linked</a:t>
            </a:r>
          </a:p>
          <a:p>
            <a:pPr>
              <a:buFont typeface="Arial" charset="0"/>
              <a:buNone/>
            </a:pPr>
            <a:r>
              <a:rPr lang="en-US" sz="2000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Note that in this cross involving X-linked genes, only the F</a:t>
            </a:r>
            <a:r>
              <a:rPr lang="en-US" sz="2000" i="1" baseline="-25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2</a:t>
            </a:r>
            <a:r>
              <a:rPr lang="en-US" sz="2000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male progeny were counted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2532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22533" name="Picture 9" descr="har25316_0502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8125" y="1978025"/>
            <a:ext cx="4572000" cy="347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Designation of "parental" and "recombinant" relate to past history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457200" y="1641475"/>
            <a:ext cx="8229600" cy="8382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Note that the parental configurations in these two crosses are opposite of each other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846E89-63C0-4F22-BE00-70B9AC5BEBCB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7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458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24581" name="Picture 9" descr="har25316_05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850" y="2466975"/>
            <a:ext cx="82423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Autosomal genes can also exhibit linkage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73501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Detect linkage by generating a double heterozygote and crossing to homozygous recessive (testcross)</a:t>
            </a: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98FAEEF-1DD5-4E74-AF49-C2CDE73DC4EC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8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560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25605" name="Picture 10" descr="har25316_05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6038" y="2195513"/>
            <a:ext cx="6510337" cy="421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/>
              <a:t>The expected 9:3:3:1 ratio of genotypes is altered when genes are linked</a:t>
            </a:r>
          </a:p>
        </p:txBody>
      </p:sp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184C449-A5C6-4656-A333-F2F1D81D1BE7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9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7651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27652" name="Picture 8" descr="har25316_050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592388" y="1550988"/>
            <a:ext cx="3957637" cy="4708525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5.2 Recombination: A Result of Crossing-Over During Meiosis</a:t>
            </a: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the physical process by which recombination takes place.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Describe the role of chiasmata in chromosome segregation during meiosis.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Discuss the relationship between the recombination frequency and the map distance separating two loci.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why the value of the recombination frequency is limited to 50%.</a:t>
            </a: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8DD12AC-2A71-4058-8C65-735BE21EC82C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10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8676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Recombination: A result of crossing-over during meiosis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457200" y="1627188"/>
            <a:ext cx="8229600" cy="4708525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Frans Janssens – 1909, observed chiasmata at chromosomes during prophase of meiosis I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T. H. Morgan  – suggested chiasmata were sites of chromosome breakage and exchange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H. Creighton and B. McClintock (corn) and C. Stern (</a:t>
            </a:r>
            <a:r>
              <a:rPr lang="en-US" sz="2100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Drosophila</a:t>
            </a: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) – 1931, direct evidence that genetic recombination depends on reciprocal exchanged of chromosomes</a:t>
            </a:r>
          </a:p>
          <a:p>
            <a:pPr marL="639763" lvl="1">
              <a:spcAft>
                <a:spcPts val="600"/>
              </a:spcAft>
              <a:buSzTx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Physical markers were used to identify specific chromosomes</a:t>
            </a:r>
          </a:p>
          <a:p>
            <a:pPr marL="639763" lvl="1">
              <a:buSzTx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Genetic markers were used as points of reference for recombination</a:t>
            </a:r>
          </a:p>
          <a:p>
            <a:pPr>
              <a:buFont typeface="Arial" charset="0"/>
              <a:buNone/>
            </a:pPr>
            <a:endParaRPr lang="en-US" sz="2100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5167186-3D53-4AB4-90A7-A2FD4ED11E6B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11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2970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63675"/>
          </a:xfrm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sz="270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Evidence that recombination results from reciprocal exchanges between homologous chromosomes</a:t>
            </a:r>
          </a:p>
        </p:txBody>
      </p:sp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89364B5-1718-461F-8743-B9A1EA272A82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12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pic>
        <p:nvPicPr>
          <p:cNvPr id="30723" name="Picture 5" descr="Ch5_Fig6.tiff"/>
          <p:cNvPicPr>
            <a:picLocks noChangeAspect="1"/>
          </p:cNvPicPr>
          <p:nvPr/>
        </p:nvPicPr>
        <p:blipFill>
          <a:blip r:embed="rId2"/>
          <a:srcRect l="7472" t="19041" r="6538"/>
          <a:stretch>
            <a:fillRect/>
          </a:stretch>
        </p:blipFill>
        <p:spPr bwMode="auto">
          <a:xfrm>
            <a:off x="852488" y="1817688"/>
            <a:ext cx="7408862" cy="456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/>
              <a:t>Recombination helps ensure proper chromosome segregation during meiosis I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457200" y="2251075"/>
            <a:ext cx="4073525" cy="293052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Synaptonemal complexes help homologous chromosomes pair, but they disappear during prophase I.</a:t>
            </a:r>
          </a:p>
          <a:p>
            <a:pPr>
              <a:spcBef>
                <a:spcPts val="1800"/>
              </a:spcBef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Chromosomes are still attached by chiasmata and cohesin.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1C4239-C3BA-458F-9B69-5711900217D2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13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174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31749" name="Picture 8" descr="har25316_050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1425" y="1446213"/>
            <a:ext cx="2100263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9" descr="har25316_05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690938"/>
            <a:ext cx="8229600" cy="223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Recombination frequencies are the basis of genetic maps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731963"/>
            <a:ext cx="8229600" cy="2227262"/>
          </a:xfrm>
        </p:spPr>
        <p:txBody>
          <a:bodyPr/>
          <a:lstStyle/>
          <a:p>
            <a:pPr marL="457200" indent="-457200">
              <a:spcAft>
                <a:spcPts val="2400"/>
              </a:spcAft>
              <a:buFont typeface="Arial" charset="0"/>
              <a:buAutoNum type="alphaUcPeriod"/>
              <a:defRPr/>
            </a:pPr>
            <a:r>
              <a:rPr lang="en-US" dirty="0">
                <a:latin typeface="Helvetica" charset="0"/>
                <a:ea typeface="ＭＳ Ｐゴシック" charset="0"/>
                <a:cs typeface="Helvetica" charset="0"/>
              </a:rPr>
              <a:t>H. Sturtevant – proposed that recombination frequencies (RF) could be used as a measure of physical distance between two linked genes</a:t>
            </a:r>
          </a:p>
          <a:p>
            <a:pPr>
              <a:defRPr/>
            </a:pPr>
            <a:r>
              <a:rPr lang="en-US" dirty="0">
                <a:latin typeface="Helvetica" charset="0"/>
                <a:ea typeface="ＭＳ Ｐゴシック" charset="0"/>
                <a:cs typeface="Helvetica" charset="0"/>
              </a:rPr>
              <a:t>		1 %RF = 1 map unit (</a:t>
            </a:r>
            <a:r>
              <a:rPr lang="en-US" dirty="0" err="1">
                <a:latin typeface="Helvetica" charset="0"/>
                <a:ea typeface="ＭＳ Ｐゴシック" charset="0"/>
                <a:cs typeface="Helvetica" charset="0"/>
              </a:rPr>
              <a:t>m.u</a:t>
            </a:r>
            <a:r>
              <a:rPr lang="en-US" dirty="0">
                <a:latin typeface="Helvetica" charset="0"/>
                <a:ea typeface="ＭＳ Ｐゴシック" charset="0"/>
                <a:cs typeface="Helvetica" charset="0"/>
              </a:rPr>
              <a:t>.) = 1 </a:t>
            </a:r>
            <a:r>
              <a:rPr lang="en-US" dirty="0" err="1">
                <a:latin typeface="Helvetica" charset="0"/>
                <a:ea typeface="ＭＳ Ｐゴシック" charset="0"/>
                <a:cs typeface="Helvetica" charset="0"/>
              </a:rPr>
              <a:t>centiMorgan</a:t>
            </a:r>
            <a:r>
              <a:rPr lang="en-US" dirty="0">
                <a:latin typeface="Helvetica" charset="0"/>
                <a:ea typeface="ＭＳ Ｐゴシック" charset="0"/>
                <a:cs typeface="Helvetica" charset="0"/>
              </a:rPr>
              <a:t> (</a:t>
            </a:r>
            <a:r>
              <a:rPr lang="en-US" dirty="0" err="1">
                <a:latin typeface="Helvetica" charset="0"/>
                <a:ea typeface="ＭＳ Ｐゴシック" charset="0"/>
                <a:cs typeface="Helvetica" charset="0"/>
              </a:rPr>
              <a:t>cM</a:t>
            </a:r>
            <a:r>
              <a:rPr lang="en-US" dirty="0">
                <a:latin typeface="Helvetica" charset="0"/>
                <a:ea typeface="ＭＳ Ｐゴシック" charset="0"/>
                <a:cs typeface="Helvetica" charset="0"/>
              </a:rPr>
              <a:t>)</a:t>
            </a: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96D6E48-AA94-4CAC-9B95-CDA34C72EC59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14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2773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/>
              <a:t>Recombinant gametes are less frequent than parental gametes when genes are linked</a:t>
            </a:r>
          </a:p>
        </p:txBody>
      </p:sp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586934D-2209-4852-BFB1-1F0C3B227679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15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3795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33796" name="Picture 8" descr="har25316_0509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76275" y="1612900"/>
            <a:ext cx="7791450" cy="46609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8" descr="har25316_05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5350" y="1912938"/>
            <a:ext cx="4341813" cy="365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/>
              <a:t>Recombination frequencies between two genes never exceed 50%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1038" cy="45767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The RF of unlinked genes is 50% due to independent assortment.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The RF of linked genes cannot exceed 50%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Meioses without crossovers produce only parental chromosomes.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Single and double crossovers produce a 1:1 parental to recombinant chromosome ratio on average.</a:t>
            </a: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3118E9C-D025-4126-B8BE-5EA8FF90F9A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16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4821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8" descr="har25316_t05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6463" y="1654175"/>
            <a:ext cx="7331075" cy="450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Properties of linked versus unlinked genes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812C25-A553-475A-8A91-0CE021AAF8B9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17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584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5.3 Mapping: Locating Genes Along a Chromosome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Establish relative gene positions using two-point cross data.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Refine genetic maps based on data from three-point testcrosses.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how a genetic map (in map units) is related to physical distance (in base pairs of DNA).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Describe the relationship between linkage groups and chromosomes.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2E043F-5D51-4C08-9132-0B2FA3F352C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18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7892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10" descr="har25316_05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7700" y="2887663"/>
            <a:ext cx="5307013" cy="327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Mapping genes by comparisons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of two-point crosses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487488"/>
            <a:ext cx="8229600" cy="43989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Left-right orientation of map is arbitrary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Most accurate maps obtained by summing many small intervening distances</a:t>
            </a:r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B4A8988-276C-45FF-BF01-E67A4392A288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19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8917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Limitations of two point crosses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>
          <a:xfrm>
            <a:off x="457200" y="2179638"/>
            <a:ext cx="8229600" cy="2422525"/>
          </a:xfrm>
        </p:spPr>
        <p:txBody>
          <a:bodyPr/>
          <a:lstStyle/>
          <a:p>
            <a:pPr>
              <a:spcAft>
                <a:spcPts val="24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Difficult to determine gene order if two genes are close together</a:t>
            </a:r>
          </a:p>
          <a:p>
            <a:pPr>
              <a:spcAft>
                <a:spcPts val="30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Actual distances between genes do not always add up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Pairwise crosses are time and labor consuming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577E293-238B-41D8-92D7-43BDD79233A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20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3994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9" descr="har25316_05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23293" y="2132013"/>
            <a:ext cx="4697413" cy="404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432"/>
            <a:ext cx="8229600" cy="1143000"/>
          </a:xfrm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Three point crosses provide faster and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more accurate mapping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57200" y="1509713"/>
            <a:ext cx="8229600" cy="882650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Testcross of triply-heterozygous F</a:t>
            </a:r>
            <a:r>
              <a:rPr lang="en-US" baseline="-25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1</a:t>
            </a:r>
          </a:p>
        </p:txBody>
      </p:sp>
      <p:sp>
        <p:nvSpPr>
          <p:cNvPr id="40964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85387C-58B8-4D0C-B656-B17C8F80A86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21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40965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C76FD6C-1FFD-6FEC-3DAB-8645068E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354E09C-8A86-AD42-9459-577C2C00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1E72565-15DA-761A-A371-B2D6132679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The McGraw-Hill Companies, Inc.  Permission required to reproduce or display Hartwell et al., 4th ed., Chapter 5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0A4EACC-6F9B-584C-78EE-CA222A5B96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94EF9D7-72E5-4F80-990E-1AD40A261EC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2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Analyzing the results of a three-point cross</a:t>
            </a:r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559050"/>
          </a:xfrm>
        </p:spPr>
        <p:txBody>
          <a:bodyPr/>
          <a:lstStyle/>
          <a:p>
            <a:pPr>
              <a:spcAft>
                <a:spcPct val="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Testcross progeny have four sets of reciprocal pairs of genotypes</a:t>
            </a:r>
          </a:p>
          <a:p>
            <a:pPr marL="639763" lvl="1">
              <a:spcAft>
                <a:spcPts val="6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Most frequent pair has parental configuration of alleles</a:t>
            </a:r>
          </a:p>
          <a:p>
            <a:pPr marL="639763" lvl="1">
              <a:spcAft>
                <a:spcPts val="6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Least frequent pair results from double crossovers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Examination of double crossover class reveals which gene is in the middle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E9BEB61-05B0-41D0-ABC9-D0BF830D8C32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23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43012" name="TextBox 6"/>
          <p:cNvSpPr txBox="1">
            <a:spLocks noChangeArrowheads="1"/>
          </p:cNvSpPr>
          <p:nvPr/>
        </p:nvSpPr>
        <p:spPr bwMode="auto">
          <a:xfrm>
            <a:off x="7108825" y="5818188"/>
            <a:ext cx="882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Helvetica" pitchFamily="34" charset="0"/>
                <a:cs typeface="Helvetica" pitchFamily="34" charset="0"/>
              </a:rPr>
              <a:t>Fig. 5.10</a:t>
            </a:r>
          </a:p>
        </p:txBody>
      </p:sp>
      <p:pic>
        <p:nvPicPr>
          <p:cNvPr id="43013" name="Picture 8" descr="har2526X_05_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86038" y="4210050"/>
            <a:ext cx="4275137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Inferring the location of crossover event</a:t>
            </a: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>
          <a:xfrm>
            <a:off x="457200" y="1985963"/>
            <a:ext cx="8229600" cy="1555750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Examine numbers of progeny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Compare configuration of alleles at two genes at a time to parental configuration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B3D8FE6-5464-4213-B26A-5784CA1985AC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24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4506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45061" name="Picture 9" descr="har25316_0513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973513"/>
            <a:ext cx="8229600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8" descr="har25316_0513b-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43088"/>
            <a:ext cx="82296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Inferring the location of crossover events (cont)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F7A3392-D848-429C-8402-9A6FBBEABC2D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25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4608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96" name="Picture 27" descr="har25316_0512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8838" y="4254500"/>
            <a:ext cx="7424737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Genetic map deduced from three-point cross in Figure 5.12</a:t>
            </a:r>
          </a:p>
        </p:txBody>
      </p:sp>
      <p:sp>
        <p:nvSpPr>
          <p:cNvPr id="50198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DC505F0-387B-4345-B4AC-18E18118B2F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26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graphicFrame>
        <p:nvGraphicFramePr>
          <p:cNvPr id="50193" name="Object 17"/>
          <p:cNvGraphicFramePr>
            <a:graphicFrameLocks noChangeAspect="1"/>
          </p:cNvGraphicFramePr>
          <p:nvPr/>
        </p:nvGraphicFramePr>
        <p:xfrm>
          <a:off x="550863" y="1662113"/>
          <a:ext cx="61420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5" imgW="3729960" imgH="356400" progId="Equation.3">
                  <p:embed/>
                </p:oleObj>
              </mc:Choice>
              <mc:Fallback>
                <p:oleObj name="Equation" r:id="rId5" imgW="3729960" imgH="356400" progId="Equation.3">
                  <p:embed/>
                  <p:pic>
                    <p:nvPicPr>
                      <p:cNvPr id="5019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1662113"/>
                        <a:ext cx="61420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18"/>
          <p:cNvGraphicFramePr>
            <a:graphicFrameLocks noChangeAspect="1"/>
          </p:cNvGraphicFramePr>
          <p:nvPr/>
        </p:nvGraphicFramePr>
        <p:xfrm>
          <a:off x="550863" y="2551113"/>
          <a:ext cx="59959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7" imgW="3647880" imgH="356400" progId="Equation.3">
                  <p:embed/>
                </p:oleObj>
              </mc:Choice>
              <mc:Fallback>
                <p:oleObj name="Equation" r:id="rId7" imgW="3647880" imgH="356400" progId="Equation.3">
                  <p:embed/>
                  <p:pic>
                    <p:nvPicPr>
                      <p:cNvPr id="5019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2551113"/>
                        <a:ext cx="599598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5" name="Object 19"/>
          <p:cNvGraphicFramePr>
            <a:graphicFrameLocks noChangeAspect="1"/>
          </p:cNvGraphicFramePr>
          <p:nvPr/>
        </p:nvGraphicFramePr>
        <p:xfrm>
          <a:off x="550863" y="3438525"/>
          <a:ext cx="5746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9" imgW="3492360" imgH="356400" progId="Equation.3">
                  <p:embed/>
                </p:oleObj>
              </mc:Choice>
              <mc:Fallback>
                <p:oleObj name="Equation" r:id="rId9" imgW="3492360" imgH="356400" progId="Equation.3">
                  <p:embed/>
                  <p:pic>
                    <p:nvPicPr>
                      <p:cNvPr id="5019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3438525"/>
                        <a:ext cx="5746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Correction for double crossovers</a:t>
            </a:r>
          </a:p>
        </p:txBody>
      </p:sp>
      <p:sp>
        <p:nvSpPr>
          <p:cNvPr id="5223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6D380D4-E04F-42EE-A36F-0C83217E9244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27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768350" y="2911475"/>
          <a:ext cx="58420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4" imgW="3547080" imgH="356400" progId="Equation.3">
                  <p:embed/>
                </p:oleObj>
              </mc:Choice>
              <mc:Fallback>
                <p:oleObj name="Equation" r:id="rId4" imgW="3547080" imgH="356400" progId="Equation.3">
                  <p:embed/>
                  <p:pic>
                    <p:nvPicPr>
                      <p:cNvPr id="522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2911475"/>
                        <a:ext cx="58420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Content Placeholder 2"/>
          <p:cNvSpPr>
            <a:spLocks noGrp="1"/>
          </p:cNvSpPr>
          <p:nvPr>
            <p:ph idx="1"/>
          </p:nvPr>
        </p:nvSpPr>
        <p:spPr>
          <a:xfrm>
            <a:off x="457200" y="1895475"/>
            <a:ext cx="8229600" cy="370681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This calculation isn't accurate because it fails to account for double crossovers</a:t>
            </a:r>
          </a:p>
          <a:p>
            <a:pPr>
              <a:spcAft>
                <a:spcPts val="2400"/>
              </a:spcAft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Correct calculation that accounts for double crossovers</a:t>
            </a:r>
          </a:p>
        </p:txBody>
      </p:sp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768350" y="5092700"/>
          <a:ext cx="76517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6" imgW="4626000" imgH="356400" progId="Equation.3">
                  <p:embed/>
                </p:oleObj>
              </mc:Choice>
              <mc:Fallback>
                <p:oleObj name="Equation" r:id="rId6" imgW="4626000" imgH="356400" progId="Equation.3">
                  <p:embed/>
                  <p:pic>
                    <p:nvPicPr>
                      <p:cNvPr id="522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5092700"/>
                        <a:ext cx="76517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Interference:  The number of double crossovers may be less than expected</a:t>
            </a:r>
          </a:p>
        </p:txBody>
      </p:sp>
      <p:sp>
        <p:nvSpPr>
          <p:cNvPr id="54285" name="Content Placeholder 2"/>
          <p:cNvSpPr>
            <a:spLocks noGrp="1"/>
          </p:cNvSpPr>
          <p:nvPr>
            <p:ph idx="1"/>
          </p:nvPr>
        </p:nvSpPr>
        <p:spPr>
          <a:xfrm>
            <a:off x="457200" y="1582738"/>
            <a:ext cx="8229600" cy="4708525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solidFill>
                  <a:srgbClr val="CC0000"/>
                </a:solidFill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Chromosomal interference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– occurrence of crossover in one portion of a chromosome interferes with crossover in an adjacent part of the chromosome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Not uniform between chromosomes or within a chromosome 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Compare observed and expected frequencies of double crossovers (DCO)</a:t>
            </a:r>
          </a:p>
        </p:txBody>
      </p:sp>
      <p:sp>
        <p:nvSpPr>
          <p:cNvPr id="54286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0A9D3C0-1BBA-4C8F-9F43-FBADD2D33E6E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28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1117600" y="4852988"/>
          <a:ext cx="67183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3" imgW="4050000" imgH="383760" progId="Equation.3">
                  <p:embed/>
                </p:oleObj>
              </mc:Choice>
              <mc:Fallback>
                <p:oleObj name="Equation" r:id="rId3" imgW="4050000" imgH="383760" progId="Equation.3">
                  <p:embed/>
                  <p:pic>
                    <p:nvPicPr>
                      <p:cNvPr id="542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4852988"/>
                        <a:ext cx="6718300" cy="6508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1117600" y="5894388"/>
          <a:ext cx="5530850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5" imgW="3300480" imgH="127800" progId="Equation.3">
                  <p:embed/>
                </p:oleObj>
              </mc:Choice>
              <mc:Fallback>
                <p:oleObj name="Equation" r:id="rId5" imgW="3300480" imgH="127800" progId="Equation.3">
                  <p:embed/>
                  <p:pic>
                    <p:nvPicPr>
                      <p:cNvPr id="542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5894388"/>
                        <a:ext cx="5530850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Calculation of interference in the three-point cross in Figure 5.12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>
          <a:xfrm>
            <a:off x="457200" y="1731963"/>
            <a:ext cx="8229600" cy="4708525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Expected probability of double crossovers is the product of the single crossover frequencies in each interval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Probability of single crossover between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vg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and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pr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is 0.123 (12.3 m.u.)</a:t>
            </a:r>
          </a:p>
          <a:p>
            <a:pPr marL="639763" lvl="1">
              <a:spcAft>
                <a:spcPts val="18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Probability of single crossover between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pr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and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b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is 0.064 (6.4 m.u.)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If interference = 0, crossovers in adjacent regions occur independently of each other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If interference = 1, no double crossovers occur 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529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3F5A459-D229-4B4D-AF6C-E992039D14D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29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5300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Calculation of interference in the three-point cross in Figure 5.12 (</a:t>
            </a: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cont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)</a:t>
            </a:r>
          </a:p>
        </p:txBody>
      </p:sp>
      <p:sp>
        <p:nvSpPr>
          <p:cNvPr id="56343" name="Content Placeholder 2"/>
          <p:cNvSpPr>
            <a:spLocks noGrp="1"/>
          </p:cNvSpPr>
          <p:nvPr>
            <p:ph idx="1"/>
          </p:nvPr>
        </p:nvSpPr>
        <p:spPr>
          <a:xfrm>
            <a:off x="457200" y="1627188"/>
            <a:ext cx="8229600" cy="4708525"/>
          </a:xfrm>
        </p:spPr>
        <p:txBody>
          <a:bodyPr/>
          <a:lstStyle/>
          <a:p>
            <a:pPr>
              <a:spcAft>
                <a:spcPts val="2400"/>
              </a:spcAft>
              <a:buFont typeface="Arial" charset="0"/>
              <a:buNone/>
            </a:pPr>
            <a:r>
              <a:rPr lang="en-US" u="sng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Expected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probability of double crossovers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spcAft>
                <a:spcPts val="2400"/>
              </a:spcAft>
              <a:buFont typeface="Arial" charset="0"/>
              <a:buNone/>
            </a:pPr>
            <a:r>
              <a:rPr lang="en-US" u="sng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Observed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proportion of double crossovers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6344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025E28B-8E32-490D-95EB-4781E1296A39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30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graphicFrame>
        <p:nvGraphicFramePr>
          <p:cNvPr id="56338" name="Object 18"/>
          <p:cNvGraphicFramePr>
            <a:graphicFrameLocks noChangeAspect="1"/>
          </p:cNvGraphicFramePr>
          <p:nvPr/>
        </p:nvGraphicFramePr>
        <p:xfrm>
          <a:off x="1120775" y="3641725"/>
          <a:ext cx="25781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4" imgW="1554120" imgH="356400" progId="Equation.3">
                  <p:embed/>
                </p:oleObj>
              </mc:Choice>
              <mc:Fallback>
                <p:oleObj name="Equation" r:id="rId4" imgW="1554120" imgH="356400" progId="Equation.3">
                  <p:embed/>
                  <p:pic>
                    <p:nvPicPr>
                      <p:cNvPr id="5633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3641725"/>
                        <a:ext cx="25781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19"/>
          <p:cNvGraphicFramePr>
            <a:graphicFrameLocks noChangeAspect="1"/>
          </p:cNvGraphicFramePr>
          <p:nvPr/>
        </p:nvGraphicFramePr>
        <p:xfrm>
          <a:off x="1120775" y="2257425"/>
          <a:ext cx="406717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6" imgW="2422800" imgH="127800" progId="Equation.3">
                  <p:embed/>
                </p:oleObj>
              </mc:Choice>
              <mc:Fallback>
                <p:oleObj name="Equation" r:id="rId6" imgW="2422800" imgH="127800" progId="Equation.3">
                  <p:embed/>
                  <p:pic>
                    <p:nvPicPr>
                      <p:cNvPr id="5633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257425"/>
                        <a:ext cx="4067175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517525" y="4759325"/>
          <a:ext cx="52435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8" imgW="2989440" imgH="356400" progId="Equation.3">
                  <p:embed/>
                </p:oleObj>
              </mc:Choice>
              <mc:Fallback>
                <p:oleObj name="Equation" r:id="rId8" imgW="2989440" imgH="356400" progId="Equation.3">
                  <p:embed/>
                  <p:pic>
                    <p:nvPicPr>
                      <p:cNvPr id="563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4759325"/>
                        <a:ext cx="52435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546100" y="5808663"/>
          <a:ext cx="35321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10" imgW="2011320" imgH="127800" progId="Equation.3">
                  <p:embed/>
                </p:oleObj>
              </mc:Choice>
              <mc:Fallback>
                <p:oleObj name="Equation" r:id="rId10" imgW="2011320" imgH="127800" progId="Equation.3">
                  <p:embed/>
                  <p:pic>
                    <p:nvPicPr>
                      <p:cNvPr id="5634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5808663"/>
                        <a:ext cx="35321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5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8" descr="har25316_05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2843213"/>
            <a:ext cx="3200400" cy="247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Do genetic maps correlate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with physical reality?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57200" y="1522413"/>
            <a:ext cx="4826000" cy="4708525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Order of genes revealed by genetic mapping corresponds to the actual order of genes along the chromosome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Actual physical distance (amount of DNA) does not always show direct correspondence to genetic distance</a:t>
            </a:r>
          </a:p>
          <a:p>
            <a:pPr marL="457200" lvl="2" indent="-182563">
              <a:spcBef>
                <a:spcPct val="0"/>
              </a:spcBef>
              <a:spcAft>
                <a:spcPts val="1200"/>
              </a:spcAft>
              <a:buSzTx/>
              <a:buFont typeface="Helvetica Neue"/>
              <a:buChar char="•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Double, triple, and more crossovers</a:t>
            </a:r>
          </a:p>
          <a:p>
            <a:pPr marL="457200" lvl="2" indent="-182563">
              <a:spcBef>
                <a:spcPct val="0"/>
              </a:spcBef>
              <a:spcAft>
                <a:spcPts val="1200"/>
              </a:spcAft>
              <a:buSzTx/>
              <a:buFont typeface="Helvetica Neue"/>
              <a:buChar char="•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50% limit on observable recombination frequency</a:t>
            </a:r>
          </a:p>
          <a:p>
            <a:pPr marL="457200" lvl="2" indent="-182563">
              <a:spcBef>
                <a:spcPct val="0"/>
              </a:spcBef>
              <a:spcAft>
                <a:spcPts val="1200"/>
              </a:spcAft>
              <a:buSzTx/>
              <a:buFont typeface="Helvetica Neue"/>
              <a:buChar char="•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Recombination hotspots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8372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D165729-4481-4855-B7BB-4937E3800D8D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31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8373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9" descr="har25316_05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0038" y="2166938"/>
            <a:ext cx="3462337" cy="421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Drosophila melanogaster 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has four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linkage groups</a:t>
            </a:r>
          </a:p>
        </p:txBody>
      </p:sp>
      <p:sp>
        <p:nvSpPr>
          <p:cNvPr id="59395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475413"/>
            <a:ext cx="2133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5172063-3EF8-4755-BED6-08D44F2C12FE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32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59396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649287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When many genes per chromosome have been mapped, a </a:t>
            </a:r>
            <a:r>
              <a:rPr lang="en-US">
                <a:solidFill>
                  <a:srgbClr val="CC0000"/>
                </a:solidFill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linkage group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is synonymous with a chromosome</a:t>
            </a:r>
          </a:p>
        </p:txBody>
      </p:sp>
      <p:sp>
        <p:nvSpPr>
          <p:cNvPr id="59397" name="Footer Placeholder 4"/>
          <p:cNvSpPr txBox="1">
            <a:spLocks noGrp="1"/>
          </p:cNvSpPr>
          <p:nvPr/>
        </p:nvSpPr>
        <p:spPr bwMode="auto">
          <a:xfrm>
            <a:off x="1528763" y="6489700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5.4 The Chi-Square Test and Linkage Analysis</a:t>
            </a:r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the purpose of the chi-square test.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Discuss the concept of the null hypothesis and its use in data analysis.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Evaluate the significance of experimental data based on the chi-square test.</a:t>
            </a:r>
          </a:p>
        </p:txBody>
      </p:sp>
      <p:sp>
        <p:nvSpPr>
          <p:cNvPr id="6144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EE4917-0A90-4C38-90D5-088F61F5B88B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33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6144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Chi square test pinpoints the probability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that ratios are evidence of linkage</a:t>
            </a:r>
          </a:p>
        </p:txBody>
      </p:sp>
      <p:sp>
        <p:nvSpPr>
          <p:cNvPr id="62466" name="Content Placeholder 8"/>
          <p:cNvSpPr>
            <a:spLocks noGrp="1"/>
          </p:cNvSpPr>
          <p:nvPr>
            <p:ph idx="1"/>
          </p:nvPr>
        </p:nvSpPr>
        <p:spPr>
          <a:xfrm>
            <a:off x="457200" y="1671638"/>
            <a:ext cx="8229600" cy="4708525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Deviations from 1:1:1:1 ratios can represent chance events or linkage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Chi square test measures "goodness of fit" between observed and expected values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solidFill>
                  <a:srgbClr val="CC0000"/>
                </a:solidFill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Null hypothesis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– observed values are no different from expected values</a:t>
            </a:r>
          </a:p>
          <a:p>
            <a:pPr marL="639763" lvl="1">
              <a:spcAft>
                <a:spcPts val="6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In linkage studies, the null hypothesis is no linkage</a:t>
            </a:r>
          </a:p>
          <a:p>
            <a:pPr marL="639763" lvl="1">
              <a:spcAft>
                <a:spcPts val="6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If genes are not linked, expect 1:1:1:1 ratio in F</a:t>
            </a:r>
            <a:r>
              <a:rPr lang="en-US" baseline="-25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2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progeny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Chi-square test can reject the null hypothesis, but it cannot prove a hypothesis</a:t>
            </a:r>
          </a:p>
        </p:txBody>
      </p:sp>
      <p:sp>
        <p:nvSpPr>
          <p:cNvPr id="6246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F8D4253-B5A4-48D5-989B-8D1C92CFCC44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34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6246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Information needed for the chi-square test</a:t>
            </a:r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>
          <a:xfrm>
            <a:off x="457200" y="2044700"/>
            <a:ext cx="8229600" cy="3214688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ea typeface="ＭＳ Ｐゴシック"/>
              </a:rPr>
              <a:t>Use data from breeding experiment</a:t>
            </a: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 marL="639445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Total number of progeny</a:t>
            </a:r>
          </a:p>
          <a:p>
            <a:pPr marL="639445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How many classes of progeny</a:t>
            </a:r>
          </a:p>
          <a:p>
            <a:pPr marL="639445" lvl="1">
              <a:spcAft>
                <a:spcPts val="24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Number of offspring </a:t>
            </a:r>
            <a:r>
              <a:rPr lang="en-US" u="sng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observed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in each class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Calculate number of offspring </a:t>
            </a:r>
            <a:r>
              <a:rPr lang="en-US" u="sng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expected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in each class if there is no linkage (1:1:1:1 segregation)</a:t>
            </a:r>
          </a:p>
        </p:txBody>
      </p:sp>
      <p:sp>
        <p:nvSpPr>
          <p:cNvPr id="6349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67E463-4DC4-45F5-8B7D-16FED95FAAA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35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63492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Applying the chi-square test</a:t>
            </a:r>
          </a:p>
        </p:txBody>
      </p:sp>
      <p:sp>
        <p:nvSpPr>
          <p:cNvPr id="128004" name="Content Placeholder 6"/>
          <p:cNvSpPr>
            <a:spLocks noGrp="1"/>
          </p:cNvSpPr>
          <p:nvPr>
            <p:ph idx="1"/>
          </p:nvPr>
        </p:nvSpPr>
        <p:spPr>
          <a:xfrm>
            <a:off x="457200" y="1641475"/>
            <a:ext cx="8229600" cy="4708525"/>
          </a:xfrm>
        </p:spPr>
        <p:txBody>
          <a:bodyPr/>
          <a:lstStyle/>
          <a:p>
            <a:pPr>
              <a:spcAft>
                <a:spcPts val="10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Calculate the chi-square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Consider degrees of freedom (df) in the experiment</a:t>
            </a:r>
          </a:p>
          <a:p>
            <a:pPr marL="639763" lvl="1">
              <a:spcAft>
                <a:spcPts val="240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df = N – 1 (where N is the number of classes)</a:t>
            </a:r>
          </a:p>
          <a:p>
            <a:pPr>
              <a:spcAft>
                <a:spcPct val="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Determine a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value using chi-square value and df </a:t>
            </a:r>
          </a:p>
          <a:p>
            <a:pPr marL="639763" lvl="1">
              <a:spcAft>
                <a:spcPct val="0"/>
              </a:spcAft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Probability that the deviation from expected numbers had occurred by chance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Use table 5.1 </a:t>
            </a:r>
          </a:p>
        </p:txBody>
      </p:sp>
      <p:sp>
        <p:nvSpPr>
          <p:cNvPr id="128005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A458EA1-076A-4045-92CD-BC458E2CFC3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36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graphicFrame>
        <p:nvGraphicFramePr>
          <p:cNvPr id="128002" name="Object 2"/>
          <p:cNvGraphicFramePr>
            <a:graphicFrameLocks noChangeAspect="1"/>
          </p:cNvGraphicFramePr>
          <p:nvPr/>
        </p:nvGraphicFramePr>
        <p:xfrm>
          <a:off x="920750" y="2309813"/>
          <a:ext cx="70643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3" imgW="3720960" imgH="411120" progId="Equation.3">
                  <p:embed/>
                </p:oleObj>
              </mc:Choice>
              <mc:Fallback>
                <p:oleObj name="Equation" r:id="rId3" imgW="3720960" imgH="411120" progId="Equation.3">
                  <p:embed/>
                  <p:pic>
                    <p:nvPicPr>
                      <p:cNvPr id="1280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309813"/>
                        <a:ext cx="7064375" cy="7921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5" name="Picture 9" descr="har25316_05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2363" y="1598613"/>
            <a:ext cx="6897687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Applying the chi-square test to see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if genes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 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and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B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 are linked</a:t>
            </a:r>
          </a:p>
        </p:txBody>
      </p:sp>
      <p:sp>
        <p:nvSpPr>
          <p:cNvPr id="12902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94C2F9F-A8ED-4B2C-81FB-A7BFB8DF631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37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2902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4" descr="har25316_t05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9963" y="3308350"/>
            <a:ext cx="7202487" cy="284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274638"/>
            <a:ext cx="8229600" cy="1143000"/>
          </a:xfrm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Critical chi-square values</a:t>
            </a:r>
          </a:p>
        </p:txBody>
      </p:sp>
      <p:sp>
        <p:nvSpPr>
          <p:cNvPr id="131075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FEA0552-47EA-454F-A35A-7A89E5C4F94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38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31076" name="Content Placeholder 6"/>
          <p:cNvSpPr>
            <a:spLocks noGrp="1"/>
          </p:cNvSpPr>
          <p:nvPr>
            <p:ph idx="1"/>
          </p:nvPr>
        </p:nvSpPr>
        <p:spPr>
          <a:xfrm>
            <a:off x="457200" y="1431925"/>
            <a:ext cx="8229600" cy="17049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Use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value of 0.05 as cutoff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Chi-square values that lie in the yellow region of this table allow rejection of the null hypothesis with &gt;95% confidence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If null hypothesis is rejected, then linkage can be postulated</a:t>
            </a:r>
          </a:p>
        </p:txBody>
      </p:sp>
      <p:sp>
        <p:nvSpPr>
          <p:cNvPr id="131077" name="TextBox 11"/>
          <p:cNvSpPr txBox="1">
            <a:spLocks noChangeArrowheads="1"/>
          </p:cNvSpPr>
          <p:nvPr/>
        </p:nvSpPr>
        <p:spPr bwMode="auto">
          <a:xfrm>
            <a:off x="-254000" y="2133600"/>
            <a:ext cx="184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3107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5.5 Tetrad Analysis in Fungi</a:t>
            </a:r>
          </a:p>
        </p:txBody>
      </p:sp>
      <p:sp>
        <p:nvSpPr>
          <p:cNvPr id="1331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the meaning of the term “tetrad” as applied to the asci produced by certain fungi.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Differentiate between parental ditype (PD), nonparental ditype (NPD), and tetratype (T).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Describe how the relative numbers of PDs and NPDs can be used to establish linkage.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how ordered and unordered tetrad analysis can map the positions of genes and centromeres.</a:t>
            </a:r>
          </a:p>
        </p:txBody>
      </p:sp>
      <p:sp>
        <p:nvSpPr>
          <p:cNvPr id="13312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DA6F4EF-4A05-406C-83B3-145A55B2649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39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3312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Tetrad analysis in fungi</a:t>
            </a:r>
          </a:p>
        </p:txBody>
      </p:sp>
      <p:sp>
        <p:nvSpPr>
          <p:cNvPr id="1341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Two model organisms for understanding mechanisms of recombination</a:t>
            </a:r>
          </a:p>
          <a:p>
            <a:pPr marL="639763" lvl="1">
              <a:buSzTx/>
            </a:pP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Saccharomyces cerevisiae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– bakers yeast</a:t>
            </a:r>
          </a:p>
          <a:p>
            <a:pPr marL="639763" lvl="1">
              <a:buSzTx/>
            </a:pP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Neurospora crassa 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– bread mold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All four haploid products of each meiosis are contained within an ascus (sac)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Ascospores (haplospores) can germinate and survive as viable haploids that divide by mitosis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Tetrad - four ascospores in a single ascus</a:t>
            </a:r>
          </a:p>
        </p:txBody>
      </p:sp>
      <p:sp>
        <p:nvSpPr>
          <p:cNvPr id="13414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DEE6E0C-208B-416D-A2C6-C397E6117D96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40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3414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3" name="Picture 9" descr="har25316_0519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57463" y="855663"/>
            <a:ext cx="5824537" cy="533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038" y="274638"/>
            <a:ext cx="3346450" cy="1368425"/>
          </a:xfrm>
          <a:solidFill>
            <a:srgbClr val="939598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The life cycle of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Saccharomyces cerevisiae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 </a:t>
            </a:r>
          </a:p>
        </p:txBody>
      </p:sp>
      <p:sp>
        <p:nvSpPr>
          <p:cNvPr id="136195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475413"/>
            <a:ext cx="2133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FB679C5-0683-464E-BE29-237C5A5EAD9F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41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36196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1" name="Picture 8" descr="har25316_0519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38288"/>
            <a:ext cx="822960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The life cycle of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Neurospora crassa  </a:t>
            </a:r>
          </a:p>
        </p:txBody>
      </p:sp>
      <p:sp>
        <p:nvSpPr>
          <p:cNvPr id="15872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0680EE2-B02B-437D-A79C-F68FACA35C38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42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58724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69" name="Picture 10" descr="har25316_05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78213" y="2827338"/>
            <a:ext cx="4986337" cy="306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8825"/>
          </a:xfrm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Neurospora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 form ordered tetrads</a:t>
            </a:r>
          </a:p>
        </p:txBody>
      </p:sp>
      <p:sp>
        <p:nvSpPr>
          <p:cNvPr id="16077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36C17D2-13E8-4675-95B6-90A40CAEC0A2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43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60772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70852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Undergo meiosis I and II as usual, but a single round of mitosis after 2nd meiotic division – produces octad</a:t>
            </a:r>
          </a:p>
          <a:p>
            <a:pPr>
              <a:spcAft>
                <a:spcPts val="4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Ascus is very narrow and spindle forms parallel to long axis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Two genetically 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identical ascospores</a:t>
            </a:r>
          </a:p>
          <a:p>
            <a:pPr marL="273050" lvl="1">
              <a:lnSpc>
                <a:spcPts val="2200"/>
              </a:lnSpc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are next to each other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Arrangement of 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chromatids can be 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inferred from position </a:t>
            </a:r>
          </a:p>
          <a:p>
            <a:pPr marL="273050" lvl="1">
              <a:lnSpc>
                <a:spcPts val="2200"/>
              </a:lnSpc>
              <a:spcAft>
                <a:spcPct val="0"/>
              </a:spcAft>
              <a:buSzTx/>
              <a:buFont typeface="Helvetica Neue"/>
              <a:buNone/>
            </a:pPr>
            <a:r>
              <a:rPr lang="en-US" sz="21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of ascospores</a:t>
            </a: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60773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/>
              <a:t>5.6 Mitotic recombination and genetic mosaics</a:t>
            </a:r>
          </a:p>
        </p:txBody>
      </p:sp>
      <p:sp>
        <p:nvSpPr>
          <p:cNvPr id="175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Learning objectives: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Explain how mitotic recombination leads to twin spots.</a:t>
            </a:r>
          </a:p>
          <a:p>
            <a:pPr marL="639763" lvl="1"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Describe sectored colonies in yeast and their significance in evaluating mitotic recombination.</a:t>
            </a:r>
          </a:p>
        </p:txBody>
      </p:sp>
      <p:sp>
        <p:nvSpPr>
          <p:cNvPr id="17510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83E137B-6D72-465D-8DF6-9D42C55A0448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44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5108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Mitotic recombination can produce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genetic mosaics</a:t>
            </a:r>
          </a:p>
        </p:txBody>
      </p:sp>
      <p:sp>
        <p:nvSpPr>
          <p:cNvPr id="176130" name="Content Placeholder 2"/>
          <p:cNvSpPr>
            <a:spLocks noGrp="1"/>
          </p:cNvSpPr>
          <p:nvPr>
            <p:ph idx="1"/>
          </p:nvPr>
        </p:nvSpPr>
        <p:spPr>
          <a:xfrm>
            <a:off x="457200" y="1522413"/>
            <a:ext cx="8229600" cy="4708525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Rare occurrence through:</a:t>
            </a:r>
          </a:p>
          <a:p>
            <a:pPr marL="639763" lvl="1">
              <a:spcBef>
                <a:spcPct val="0"/>
              </a:spcBef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Mistakes in chromosome replication</a:t>
            </a:r>
          </a:p>
          <a:p>
            <a:pPr marL="639763" lvl="1">
              <a:spcBef>
                <a:spcPct val="0"/>
              </a:spcBef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Chance exposure to radiation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Can be observed in yeast and multicellular organisms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C. Stern (1936), inferred existence of mitotic recombination from observations of "twin spots" in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Drosophila</a:t>
            </a:r>
          </a:p>
          <a:p>
            <a:pPr marL="639763" lvl="1">
              <a:spcBef>
                <a:spcPct val="0"/>
              </a:spcBef>
              <a:buSzTx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Patches of somatic tissue that have different genotypes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Have major repercussions to human health</a:t>
            </a:r>
          </a:p>
          <a:p>
            <a:pPr>
              <a:buFont typeface="Arial" charset="0"/>
              <a:buNone/>
            </a:pPr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613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2DE556-B351-432F-8515-63BB8CA58D87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45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6132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3" name="Picture 9" descr="har25316_052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4663" y="3448050"/>
            <a:ext cx="5654675" cy="270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Twin spots are a form of genetic mosaicism</a:t>
            </a:r>
          </a:p>
        </p:txBody>
      </p:sp>
      <p:sp>
        <p:nvSpPr>
          <p:cNvPr id="177155" name="Content Placeholder 2"/>
          <p:cNvSpPr>
            <a:spLocks noGrp="1"/>
          </p:cNvSpPr>
          <p:nvPr>
            <p:ph idx="1"/>
          </p:nvPr>
        </p:nvSpPr>
        <p:spPr>
          <a:xfrm>
            <a:off x="457200" y="1462088"/>
            <a:ext cx="8229600" cy="208121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Double heterozygous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Drosophila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females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 sn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/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 sn</a:t>
            </a:r>
          </a:p>
          <a:p>
            <a:pPr marL="868363" lvl="2">
              <a:spcBef>
                <a:spcPct val="0"/>
              </a:spcBef>
              <a:buSzTx/>
              <a:buFont typeface="Wingdings" pitchFamily="2" charset="2"/>
              <a:buChar char="§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yellow (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) mutant – yellow body</a:t>
            </a:r>
          </a:p>
          <a:p>
            <a:pPr marL="868363" lvl="2">
              <a:spcBef>
                <a:spcPct val="0"/>
              </a:spcBef>
              <a:buSzTx/>
              <a:buFont typeface="Wingdings" pitchFamily="2" charset="2"/>
              <a:buChar char="§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wildtype (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y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) – brown body</a:t>
            </a:r>
          </a:p>
          <a:p>
            <a:pPr marL="868363" lvl="2">
              <a:spcBef>
                <a:spcPct val="0"/>
              </a:spcBef>
              <a:buSzTx/>
              <a:buFont typeface="Wingdings" pitchFamily="2" charset="2"/>
              <a:buChar char="§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singed (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sn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) mutant – short and curled bristles</a:t>
            </a:r>
          </a:p>
          <a:p>
            <a:pPr marL="868363" lvl="2">
              <a:spcBef>
                <a:spcPct val="0"/>
              </a:spcBef>
              <a:buSzTx/>
              <a:buFont typeface="Wingdings" pitchFamily="2" charset="2"/>
              <a:buChar char="§"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wildtype (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sn</a:t>
            </a:r>
            <a:r>
              <a:rPr lang="en-US" i="1" baseline="3000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+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) – long and straight bristles</a:t>
            </a:r>
          </a:p>
        </p:txBody>
      </p:sp>
      <p:sp>
        <p:nvSpPr>
          <p:cNvPr id="177156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F0015B-8EB1-483F-B2D1-8256338F569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46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7157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50" y="274638"/>
            <a:ext cx="8229600" cy="1143000"/>
          </a:xfrm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Mitotic recombination results in twin spots</a:t>
            </a:r>
            <a:endParaRPr lang="en-US" i="1" dirty="0"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178178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EABC18-B822-432E-BACA-ECAC968DE025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47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8179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178180" name="Picture 9" descr="har25316_0528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09738"/>
            <a:ext cx="8229600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Origin of yellow spots in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Drosophila</a:t>
            </a:r>
          </a:p>
        </p:txBody>
      </p:sp>
      <p:sp>
        <p:nvSpPr>
          <p:cNvPr id="179202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A9D019E-75B8-4502-A715-D1A6457B8BFD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48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79203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  <p:pic>
        <p:nvPicPr>
          <p:cNvPr id="179204" name="Picture 10" descr="har25316_0528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87513"/>
            <a:ext cx="8229600" cy="348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5" name="Picture 9" descr="har25316_052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1513" y="1597025"/>
            <a:ext cx="41814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39598"/>
          </a:solidFill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Sectored yeast colonies can arise from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mitotic recombination</a:t>
            </a:r>
          </a:p>
        </p:txBody>
      </p:sp>
      <p:sp>
        <p:nvSpPr>
          <p:cNvPr id="180227" name="Content Placeholder 2"/>
          <p:cNvSpPr>
            <a:spLocks noGrp="1"/>
          </p:cNvSpPr>
          <p:nvPr>
            <p:ph idx="1"/>
          </p:nvPr>
        </p:nvSpPr>
        <p:spPr>
          <a:xfrm>
            <a:off x="457200" y="2435225"/>
            <a:ext cx="4114800" cy="2782888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Diploid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ADE2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/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ade2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White colonies are wildtype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Red sectors are 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ade2</a:t>
            </a: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/</a:t>
            </a:r>
            <a:r>
              <a:rPr lang="en-US" i="1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ade2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t>Size of sector indicates when recombination took place</a:t>
            </a:r>
          </a:p>
        </p:txBody>
      </p:sp>
      <p:sp>
        <p:nvSpPr>
          <p:cNvPr id="180228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F1818A8-65B8-4854-A07B-F9BAC430768A}" type="slidenum">
              <a:rPr lang="en-US" smtClean="0">
                <a:latin typeface="Helvetica" pitchFamily="34" charset="0"/>
                <a:ea typeface="ＭＳ Ｐゴシック" pitchFamily="34" charset="-128"/>
                <a:cs typeface="Helvetica" pitchFamily="34" charset="0"/>
              </a:rPr>
              <a:pPr/>
              <a:t>49</a:t>
            </a:fld>
            <a:endParaRPr lang="en-US">
              <a:latin typeface="Helvetica" pitchFamily="34" charset="0"/>
              <a:ea typeface="ＭＳ Ｐゴシック" pitchFamily="34" charset="-128"/>
              <a:cs typeface="Helvetica" pitchFamily="34" charset="0"/>
            </a:endParaRPr>
          </a:p>
        </p:txBody>
      </p:sp>
      <p:sp>
        <p:nvSpPr>
          <p:cNvPr id="180229" name="Footer Placeholder 4"/>
          <p:cNvSpPr txBox="1">
            <a:spLocks noGrp="1"/>
          </p:cNvSpPr>
          <p:nvPr/>
        </p:nvSpPr>
        <p:spPr bwMode="auto">
          <a:xfrm>
            <a:off x="1528763" y="6423025"/>
            <a:ext cx="60880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Copyright © McGraw-Hill Education. Permission required for reproduction or display</a:t>
            </a:r>
          </a:p>
          <a:p>
            <a:pPr algn="ctr"/>
            <a:r>
              <a:rPr lang="en-US" sz="1000" b="1">
                <a:solidFill>
                  <a:srgbClr val="898989"/>
                </a:solidFill>
                <a:latin typeface="Helvetica" pitchFamily="34" charset="0"/>
                <a:cs typeface="Helvetica" pitchFamily="34" charset="0"/>
              </a:rPr>
              <a:t>Hartwell et al., 5th ed.,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58E334CAD924EB2297AC12D35D0EB" ma:contentTypeVersion="4" ma:contentTypeDescription="Create a new document." ma:contentTypeScope="" ma:versionID="0ae844f08e6df0167bc7d315aab230a0">
  <xsd:schema xmlns:xsd="http://www.w3.org/2001/XMLSchema" xmlns:xs="http://www.w3.org/2001/XMLSchema" xmlns:p="http://schemas.microsoft.com/office/2006/metadata/properties" xmlns:ns2="ada89209-8dbd-4d3a-b038-916c636c63af" xmlns:ns3="7f331a68-e5ae-47bb-ac4d-12781efa7bc1" targetNamespace="http://schemas.microsoft.com/office/2006/metadata/properties" ma:root="true" ma:fieldsID="fa541b787856cf6ae4f0161aa22fa2f6" ns2:_="" ns3:_="">
    <xsd:import namespace="ada89209-8dbd-4d3a-b038-916c636c63af"/>
    <xsd:import namespace="7f331a68-e5ae-47bb-ac4d-12781efa7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89209-8dbd-4d3a-b038-916c636c63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331a68-e5ae-47bb-ac4d-12781efa7bc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FD850E-523F-467F-B79D-892C13809F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50EEF3-4920-4956-AC99-75FDA25E5AD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da89209-8dbd-4d3a-b038-916c636c63af"/>
    <ds:schemaRef ds:uri="7f331a68-e5ae-47bb-ac4d-12781efa7bc1"/>
  </ds:schemaRefs>
</ds:datastoreItem>
</file>

<file path=customXml/itemProps3.xml><?xml version="1.0" encoding="utf-8"?>
<ds:datastoreItem xmlns:ds="http://schemas.openxmlformats.org/officeDocument/2006/customXml" ds:itemID="{370DA2DA-8C30-4941-917B-C4D0B289DB4F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3216</TotalTime>
  <Words>3065</Words>
  <Application>Microsoft Office PowerPoint</Application>
  <PresentationFormat>عرض على الشاشة (4:3)</PresentationFormat>
  <Paragraphs>376</Paragraphs>
  <Slides>49</Slides>
  <Notes>19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49</vt:i4>
      </vt:variant>
    </vt:vector>
  </HeadingPairs>
  <TitlesOfParts>
    <vt:vector size="50" baseType="lpstr">
      <vt:lpstr>Office Theme</vt:lpstr>
      <vt:lpstr>عرض تقديمي في PowerPoint</vt:lpstr>
      <vt:lpstr>عرض تقديمي في PowerPoint</vt:lpstr>
      <vt:lpstr>Linkage, recombination, and mapping of genes on chromosomes</vt:lpstr>
      <vt:lpstr>5.1 Gene Linkage and Recombination</vt:lpstr>
      <vt:lpstr>Detecting linkage by analyzing the progeny  of dihybrid crosses: X-linked genes</vt:lpstr>
      <vt:lpstr>Detecting linkage by analyzing the progeny  of dihybrid crosses: X-linked genes (cont)</vt:lpstr>
      <vt:lpstr>Designation of "parental" and "recombinant" relate to past history</vt:lpstr>
      <vt:lpstr>Autosomal genes can also exhibit linkage</vt:lpstr>
      <vt:lpstr>The expected 9:3:3:1 ratio of genotypes is altered when genes are linked</vt:lpstr>
      <vt:lpstr>5.2 Recombination: A Result of Crossing-Over During Meiosis</vt:lpstr>
      <vt:lpstr>Recombination: A result of crossing-over during meiosis</vt:lpstr>
      <vt:lpstr>Evidence that recombination results from reciprocal exchanges between homologous chromosomes</vt:lpstr>
      <vt:lpstr>Recombination helps ensure proper chromosome segregation during meiosis I</vt:lpstr>
      <vt:lpstr>Recombination frequencies are the basis of genetic maps</vt:lpstr>
      <vt:lpstr>Recombinant gametes are less frequent than parental gametes when genes are linked</vt:lpstr>
      <vt:lpstr>Recombination frequencies between two genes never exceed 50%</vt:lpstr>
      <vt:lpstr>Properties of linked versus unlinked genes</vt:lpstr>
      <vt:lpstr>5.3 Mapping: Locating Genes Along a Chromosome</vt:lpstr>
      <vt:lpstr>Mapping genes by comparisons  of two-point crosses</vt:lpstr>
      <vt:lpstr>Limitations of two point crosses</vt:lpstr>
      <vt:lpstr>Three point crosses provide faster and  more accurate mapping</vt:lpstr>
      <vt:lpstr>عرض تقديمي في PowerPoint</vt:lpstr>
      <vt:lpstr>Analyzing the results of a three-point cross</vt:lpstr>
      <vt:lpstr>Inferring the location of crossover event</vt:lpstr>
      <vt:lpstr>Inferring the location of crossover events (cont)</vt:lpstr>
      <vt:lpstr>Genetic map deduced from three-point cross in Figure 5.12</vt:lpstr>
      <vt:lpstr>Correction for double crossovers</vt:lpstr>
      <vt:lpstr>Interference:  The number of double crossovers may be less than expected</vt:lpstr>
      <vt:lpstr>Calculation of interference in the three-point cross in Figure 5.12</vt:lpstr>
      <vt:lpstr>Calculation of interference in the three-point cross in Figure 5.12 (cont)</vt:lpstr>
      <vt:lpstr>Do genetic maps correlate  with physical reality?</vt:lpstr>
      <vt:lpstr>Drosophila melanogaster has four  linkage groups</vt:lpstr>
      <vt:lpstr>5.4 The Chi-Square Test and Linkage Analysis</vt:lpstr>
      <vt:lpstr>Chi square test pinpoints the probability  that ratios are evidence of linkage</vt:lpstr>
      <vt:lpstr>Information needed for the chi-square test</vt:lpstr>
      <vt:lpstr>Applying the chi-square test</vt:lpstr>
      <vt:lpstr>Applying the chi-square test to see  if genes A and B are linked</vt:lpstr>
      <vt:lpstr>Critical chi-square values</vt:lpstr>
      <vt:lpstr>5.5 Tetrad Analysis in Fungi</vt:lpstr>
      <vt:lpstr>Tetrad analysis in fungi</vt:lpstr>
      <vt:lpstr>The life cycle of Saccharomyces cerevisiae </vt:lpstr>
      <vt:lpstr>The life cycle of Neurospora crassa  </vt:lpstr>
      <vt:lpstr>Neurospora form ordered tetrads</vt:lpstr>
      <vt:lpstr>5.6 Mitotic recombination and genetic mosaics</vt:lpstr>
      <vt:lpstr>Mitotic recombination can produce  genetic mosaics</vt:lpstr>
      <vt:lpstr>Twin spots are a form of genetic mosaicism</vt:lpstr>
      <vt:lpstr>Mitotic recombination results in twin spots</vt:lpstr>
      <vt:lpstr>Origin of yellow spots in Drosophila</vt:lpstr>
      <vt:lpstr>Sectored yeast colonies can arise from  mitotic recombination</vt:lpstr>
    </vt:vector>
  </TitlesOfParts>
  <Company>University of Georgia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Mary Bedell</dc:creator>
  <cp:lastModifiedBy>منتهى عودات</cp:lastModifiedBy>
  <cp:revision>106</cp:revision>
  <dcterms:created xsi:type="dcterms:W3CDTF">2010-10-03T21:30:16Z</dcterms:created>
  <dcterms:modified xsi:type="dcterms:W3CDTF">2022-09-06T05:49:16Z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0x010100AD158E334CAD924EB2297AC12D35D0EB</vt:lpwstr>
  </property>
</Properties>
</file>