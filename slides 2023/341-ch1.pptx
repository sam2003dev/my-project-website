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309" r:id="rId3"/>
    <p:sldId id="308" r:id="rId4"/>
    <p:sldId id="301" r:id="rId5"/>
    <p:sldId id="305" r:id="rId6"/>
    <p:sldId id="307" r:id="rId7"/>
    <p:sldId id="304" r:id="rId8"/>
    <p:sldId id="263" r:id="rId9"/>
    <p:sldId id="264" r:id="rId10"/>
    <p:sldId id="296" r:id="rId11"/>
    <p:sldId id="282" r:id="rId12"/>
    <p:sldId id="272" r:id="rId13"/>
    <p:sldId id="283" r:id="rId14"/>
    <p:sldId id="269" r:id="rId15"/>
    <p:sldId id="271" r:id="rId16"/>
    <p:sldId id="280" r:id="rId17"/>
    <p:sldId id="275" r:id="rId18"/>
    <p:sldId id="276" r:id="rId19"/>
    <p:sldId id="295" r:id="rId20"/>
    <p:sldId id="294" r:id="rId21"/>
    <p:sldId id="284" r:id="rId22"/>
    <p:sldId id="285" r:id="rId23"/>
    <p:sldId id="310" r:id="rId24"/>
    <p:sldId id="311"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521" autoAdjust="0"/>
  </p:normalViewPr>
  <p:slideViewPr>
    <p:cSldViewPr snapToObjects="1">
      <p:cViewPr varScale="1">
        <p:scale>
          <a:sx n="71" d="100"/>
          <a:sy n="71" d="100"/>
        </p:scale>
        <p:origin x="1356" y="6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AB6901-A581-A944-81E5-5994E5EE8640}" type="datetimeFigureOut">
              <a:rPr lang="en-US" smtClean="0"/>
              <a:pPr/>
              <a:t>7/22/2023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861A3A-B277-5944-B6F7-706FE2242B50}" type="slidenum">
              <a:rPr lang="en-US" smtClean="0"/>
              <a:pPr/>
              <a:t>‹#›</a:t>
            </a:fld>
            <a:endParaRPr lang="en-US"/>
          </a:p>
        </p:txBody>
      </p:sp>
    </p:spTree>
    <p:extLst>
      <p:ext uri="{BB962C8B-B14F-4D97-AF65-F5344CB8AC3E}">
        <p14:creationId xmlns:p14="http://schemas.microsoft.com/office/powerpoint/2010/main" val="71686624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add</a:t>
            </a:r>
            <a:r>
              <a:rPr lang="en-US" baseline="0" dirty="0"/>
              <a:t> little bit on meiosis here at end of </a:t>
            </a:r>
            <a:r>
              <a:rPr lang="en-US" baseline="0" dirty="0" err="1"/>
              <a:t>lect</a:t>
            </a:r>
            <a:r>
              <a:rPr lang="en-US" baseline="0"/>
              <a:t> 1</a:t>
            </a:r>
            <a:endParaRPr lang="en-US"/>
          </a:p>
        </p:txBody>
      </p:sp>
      <p:sp>
        <p:nvSpPr>
          <p:cNvPr id="4" name="Slide Number Placeholder 3"/>
          <p:cNvSpPr>
            <a:spLocks noGrp="1"/>
          </p:cNvSpPr>
          <p:nvPr>
            <p:ph type="sldNum" sz="quarter" idx="10"/>
          </p:nvPr>
        </p:nvSpPr>
        <p:spPr/>
        <p:txBody>
          <a:bodyPr/>
          <a:lstStyle/>
          <a:p>
            <a:fld id="{82861A3A-B277-5944-B6F7-706FE2242B50}" type="slidenum">
              <a:rPr lang="en-US" smtClean="0"/>
              <a:pPr/>
              <a:t>1</a:t>
            </a:fld>
            <a:endParaRPr lang="en-US"/>
          </a:p>
        </p:txBody>
      </p:sp>
    </p:spTree>
    <p:extLst>
      <p:ext uri="{BB962C8B-B14F-4D97-AF65-F5344CB8AC3E}">
        <p14:creationId xmlns:p14="http://schemas.microsoft.com/office/powerpoint/2010/main" val="766515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0CBFC8C0-547E-9C49-B007-159B347BBE86}" type="slidenum">
              <a:rPr lang="en-US" sz="1200"/>
              <a:pPr/>
              <a:t>3</a:t>
            </a:fld>
            <a:endParaRPr lang="en-US" sz="1200"/>
          </a:p>
        </p:txBody>
      </p:sp>
      <p:sp>
        <p:nvSpPr>
          <p:cNvPr id="91139" name="Rectangle 2"/>
          <p:cNvSpPr>
            <a:spLocks noGrp="1" noRot="1" noChangeAspect="1" noChangeArrowheads="1" noTextEdit="1"/>
          </p:cNvSpPr>
          <p:nvPr>
            <p:ph type="sldImg"/>
          </p:nvPr>
        </p:nvSpPr>
        <p:spPr>
          <a:solidFill>
            <a:srgbClr val="FFFFFF"/>
          </a:solidFill>
          <a:ln/>
        </p:spPr>
      </p:sp>
      <p:sp>
        <p:nvSpPr>
          <p:cNvPr id="91140"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endParaRPr lang="en-US">
              <a:ea typeface="ヒラギノ角ゴ Pro W3" charset="0"/>
            </a:endParaRPr>
          </a:p>
        </p:txBody>
      </p:sp>
    </p:spTree>
    <p:extLst>
      <p:ext uri="{BB962C8B-B14F-4D97-AF65-F5344CB8AC3E}">
        <p14:creationId xmlns:p14="http://schemas.microsoft.com/office/powerpoint/2010/main" val="72508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for the remainder</a:t>
            </a:r>
            <a:r>
              <a:rPr lang="en-US" baseline="0" dirty="0"/>
              <a:t> of my class I’m going to summarize some of the key concepts that come up in my lectures</a:t>
            </a:r>
          </a:p>
          <a:p>
            <a:r>
              <a:rPr lang="en-US" baseline="0" dirty="0"/>
              <a:t>in the history of genetics there are lots of milestones – key discoveries events – if we had to choose 3 I’d pick these – </a:t>
            </a:r>
            <a:r>
              <a:rPr lang="en-US" baseline="0" dirty="0" err="1"/>
              <a:t>mendel</a:t>
            </a:r>
            <a:r>
              <a:rPr lang="en-US" baseline="0" dirty="0"/>
              <a:t> started the field </a:t>
            </a:r>
          </a:p>
          <a:p>
            <a:r>
              <a:rPr lang="en-US" baseline="0" dirty="0"/>
              <a:t>structure of </a:t>
            </a:r>
            <a:r>
              <a:rPr lang="en-US" baseline="0" dirty="0" err="1"/>
              <a:t>dna</a:t>
            </a:r>
            <a:r>
              <a:rPr lang="en-US" baseline="0" dirty="0"/>
              <a:t> in the 50s</a:t>
            </a:r>
          </a:p>
          <a:p>
            <a:r>
              <a:rPr lang="en-US" baseline="0" dirty="0"/>
              <a:t>human genome project 15 years ago. </a:t>
            </a:r>
          </a:p>
          <a:p>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4</a:t>
            </a:fld>
            <a:endParaRPr lang="en-US"/>
          </a:p>
        </p:txBody>
      </p:sp>
    </p:spTree>
    <p:extLst>
      <p:ext uri="{BB962C8B-B14F-4D97-AF65-F5344CB8AC3E}">
        <p14:creationId xmlns:p14="http://schemas.microsoft.com/office/powerpoint/2010/main" val="2456143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8"/>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cs typeface="ＭＳ Ｐゴシック"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5pPr>
            <a:lvl6pPr marL="2514600" indent="-228600" eaLnBrk="0" fontAlgn="base" hangingPunct="0">
              <a:lnSpc>
                <a:spcPct val="95000"/>
              </a:lnSpc>
              <a:spcBef>
                <a:spcPct val="0"/>
              </a:spcBef>
              <a:spcAft>
                <a:spcPct val="0"/>
              </a:spcAft>
              <a:buClr>
                <a:srgbClr val="FF7C11"/>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6pPr>
            <a:lvl7pPr marL="2971800" indent="-228600" eaLnBrk="0" fontAlgn="base" hangingPunct="0">
              <a:lnSpc>
                <a:spcPct val="95000"/>
              </a:lnSpc>
              <a:spcBef>
                <a:spcPct val="0"/>
              </a:spcBef>
              <a:spcAft>
                <a:spcPct val="0"/>
              </a:spcAft>
              <a:buClr>
                <a:srgbClr val="FF7C11"/>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7pPr>
            <a:lvl8pPr marL="3429000" indent="-228600" eaLnBrk="0" fontAlgn="base" hangingPunct="0">
              <a:lnSpc>
                <a:spcPct val="95000"/>
              </a:lnSpc>
              <a:spcBef>
                <a:spcPct val="0"/>
              </a:spcBef>
              <a:spcAft>
                <a:spcPct val="0"/>
              </a:spcAft>
              <a:buClr>
                <a:srgbClr val="FF7C11"/>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8pPr>
            <a:lvl9pPr marL="3886200" indent="-228600" eaLnBrk="0" fontAlgn="base" hangingPunct="0">
              <a:lnSpc>
                <a:spcPct val="95000"/>
              </a:lnSpc>
              <a:spcBef>
                <a:spcPct val="0"/>
              </a:spcBef>
              <a:spcAft>
                <a:spcPct val="0"/>
              </a:spcAft>
              <a:buClr>
                <a:srgbClr val="FF7C11"/>
              </a:buClr>
              <a:buSzPct val="100000"/>
              <a:buFont typeface="Arial"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bg1"/>
                </a:solidFill>
                <a:latin typeface="Arial" charset="0"/>
                <a:ea typeface="ＭＳ Ｐゴシック" charset="0"/>
              </a:defRPr>
            </a:lvl9pPr>
          </a:lstStyle>
          <a:p>
            <a:fld id="{3DCB0484-2902-9043-881A-28441576087A}" type="slidenum">
              <a:rPr lang="en-GB" sz="1200">
                <a:solidFill>
                  <a:srgbClr val="000000"/>
                </a:solidFill>
              </a:rPr>
              <a:pPr/>
              <a:t>5</a:t>
            </a:fld>
            <a:endParaRPr lang="en-GB" sz="1200">
              <a:solidFill>
                <a:srgbClr val="000000"/>
              </a:solidFill>
            </a:endParaRPr>
          </a:p>
        </p:txBody>
      </p:sp>
      <p:sp>
        <p:nvSpPr>
          <p:cNvPr id="40963" name="Text Box 1"/>
          <p:cNvSpPr txBox="1">
            <a:spLocks noChangeArrowheads="1"/>
          </p:cNvSpPr>
          <p:nvPr/>
        </p:nvSpPr>
        <p:spPr bwMode="auto">
          <a:xfrm>
            <a:off x="1143000" y="685800"/>
            <a:ext cx="4572000" cy="3429000"/>
          </a:xfrm>
          <a:prstGeom prst="rect">
            <a:avLst/>
          </a:prstGeom>
          <a:solidFill>
            <a:srgbClr val="FFFFFF"/>
          </a:solidFill>
          <a:ln w="9360">
            <a:solidFill>
              <a:srgbClr val="000000"/>
            </a:solidFill>
            <a:miter lim="800000"/>
            <a:headEnd/>
            <a:tailEnd/>
          </a:ln>
        </p:spPr>
        <p:txBody>
          <a:bodyPr wrap="none" anchor="ctr"/>
          <a:lstStyle>
            <a:lvl1pPr>
              <a:defRPr sz="2400">
                <a:solidFill>
                  <a:schemeClr val="bg1"/>
                </a:solidFill>
                <a:latin typeface="Arial" charset="0"/>
                <a:ea typeface="ＭＳ Ｐゴシック" charset="0"/>
                <a:cs typeface="ＭＳ Ｐゴシック" charset="0"/>
              </a:defRPr>
            </a:lvl1pPr>
            <a:lvl2pPr marL="742950" indent="-285750">
              <a:defRPr sz="2400">
                <a:solidFill>
                  <a:schemeClr val="bg1"/>
                </a:solidFill>
                <a:latin typeface="Arial" charset="0"/>
                <a:ea typeface="ＭＳ Ｐゴシック" charset="0"/>
              </a:defRPr>
            </a:lvl2pPr>
            <a:lvl3pPr marL="1143000" indent="-228600">
              <a:defRPr sz="2400">
                <a:solidFill>
                  <a:schemeClr val="bg1"/>
                </a:solidFill>
                <a:latin typeface="Arial" charset="0"/>
                <a:ea typeface="ＭＳ Ｐゴシック" charset="0"/>
              </a:defRPr>
            </a:lvl3pPr>
            <a:lvl4pPr marL="1600200" indent="-228600">
              <a:defRPr sz="2400">
                <a:solidFill>
                  <a:schemeClr val="bg1"/>
                </a:solidFill>
                <a:latin typeface="Arial" charset="0"/>
                <a:ea typeface="ＭＳ Ｐゴシック" charset="0"/>
              </a:defRPr>
            </a:lvl4pPr>
            <a:lvl5pPr marL="2057400" indent="-228600">
              <a:defRPr sz="2400">
                <a:solidFill>
                  <a:schemeClr val="bg1"/>
                </a:solidFill>
                <a:latin typeface="Arial" charset="0"/>
                <a:ea typeface="ＭＳ Ｐゴシック" charset="0"/>
              </a:defRPr>
            </a:lvl5pPr>
            <a:lvl6pPr marL="2514600" indent="-228600" eaLnBrk="0" fontAlgn="base" hangingPunct="0">
              <a:lnSpc>
                <a:spcPct val="95000"/>
              </a:lnSpc>
              <a:spcBef>
                <a:spcPct val="0"/>
              </a:spcBef>
              <a:spcAft>
                <a:spcPct val="0"/>
              </a:spcAft>
              <a:buClr>
                <a:srgbClr val="FF7C11"/>
              </a:buClr>
              <a:buSzPct val="100000"/>
              <a:buFont typeface="Arial" charset="0"/>
              <a:defRPr sz="2400">
                <a:solidFill>
                  <a:schemeClr val="bg1"/>
                </a:solidFill>
                <a:latin typeface="Arial" charset="0"/>
                <a:ea typeface="ＭＳ Ｐゴシック" charset="0"/>
              </a:defRPr>
            </a:lvl6pPr>
            <a:lvl7pPr marL="2971800" indent="-228600" eaLnBrk="0" fontAlgn="base" hangingPunct="0">
              <a:lnSpc>
                <a:spcPct val="95000"/>
              </a:lnSpc>
              <a:spcBef>
                <a:spcPct val="0"/>
              </a:spcBef>
              <a:spcAft>
                <a:spcPct val="0"/>
              </a:spcAft>
              <a:buClr>
                <a:srgbClr val="FF7C11"/>
              </a:buClr>
              <a:buSzPct val="100000"/>
              <a:buFont typeface="Arial" charset="0"/>
              <a:defRPr sz="2400">
                <a:solidFill>
                  <a:schemeClr val="bg1"/>
                </a:solidFill>
                <a:latin typeface="Arial" charset="0"/>
                <a:ea typeface="ＭＳ Ｐゴシック" charset="0"/>
              </a:defRPr>
            </a:lvl7pPr>
            <a:lvl8pPr marL="3429000" indent="-228600" eaLnBrk="0" fontAlgn="base" hangingPunct="0">
              <a:lnSpc>
                <a:spcPct val="95000"/>
              </a:lnSpc>
              <a:spcBef>
                <a:spcPct val="0"/>
              </a:spcBef>
              <a:spcAft>
                <a:spcPct val="0"/>
              </a:spcAft>
              <a:buClr>
                <a:srgbClr val="FF7C11"/>
              </a:buClr>
              <a:buSzPct val="100000"/>
              <a:buFont typeface="Arial" charset="0"/>
              <a:defRPr sz="2400">
                <a:solidFill>
                  <a:schemeClr val="bg1"/>
                </a:solidFill>
                <a:latin typeface="Arial" charset="0"/>
                <a:ea typeface="ＭＳ Ｐゴシック" charset="0"/>
              </a:defRPr>
            </a:lvl8pPr>
            <a:lvl9pPr marL="3886200" indent="-228600" eaLnBrk="0" fontAlgn="base" hangingPunct="0">
              <a:lnSpc>
                <a:spcPct val="95000"/>
              </a:lnSpc>
              <a:spcBef>
                <a:spcPct val="0"/>
              </a:spcBef>
              <a:spcAft>
                <a:spcPct val="0"/>
              </a:spcAft>
              <a:buClr>
                <a:srgbClr val="FF7C11"/>
              </a:buClr>
              <a:buSzPct val="100000"/>
              <a:buFont typeface="Arial" charset="0"/>
              <a:defRPr sz="2400">
                <a:solidFill>
                  <a:schemeClr val="bg1"/>
                </a:solidFill>
                <a:latin typeface="Arial" charset="0"/>
                <a:ea typeface="ＭＳ Ｐゴシック" charset="0"/>
              </a:defRPr>
            </a:lvl9pPr>
          </a:lstStyle>
          <a:p>
            <a:endParaRPr lang="en-US"/>
          </a:p>
        </p:txBody>
      </p:sp>
      <p:sp>
        <p:nvSpPr>
          <p:cNvPr id="40964" name="Rectangle 2"/>
          <p:cNvSpPr>
            <a:spLocks noGrp="1" noChangeArrowheads="1"/>
          </p:cNvSpPr>
          <p:nvPr>
            <p:ph type="body"/>
          </p:nvPr>
        </p:nvSpPr>
        <p:spPr>
          <a:xfrm>
            <a:off x="914400" y="4343400"/>
            <a:ext cx="5027613"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FAA26D3D-D897-4be2-8F04-BA451C77F1D7}">
              <ma14:placeholderFlag xmlns:ma14="http://schemas.microsoft.com/office/mac/drawingml/2011/main" xmlns="" val="1"/>
            </a:ext>
          </a:extLst>
        </p:spPr>
        <p:txBody>
          <a:bodyPr wrap="none" anchor="ctr"/>
          <a:lstStyle/>
          <a:p>
            <a:endParaRPr lang="en-US">
              <a:latin typeface="Times New Roman" charset="0"/>
            </a:endParaRPr>
          </a:p>
        </p:txBody>
      </p:sp>
    </p:spTree>
    <p:extLst>
      <p:ext uri="{BB962C8B-B14F-4D97-AF65-F5344CB8AC3E}">
        <p14:creationId xmlns:p14="http://schemas.microsoft.com/office/powerpoint/2010/main" val="2267873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00C3BE8C-D88F-704A-9A8F-4BB281C81088}" type="slidenum">
              <a:rPr lang="en-US" sz="1200"/>
              <a:pPr/>
              <a:t>6</a:t>
            </a:fld>
            <a:endParaRPr lang="en-US" sz="120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ea typeface="ヒラギノ角ゴ Pro W3" charset="0"/>
              </a:rPr>
              <a:t>Figure 14.4 Alleles, alternative versions of a gene.</a:t>
            </a:r>
          </a:p>
        </p:txBody>
      </p:sp>
    </p:spTree>
    <p:extLst>
      <p:ext uri="{BB962C8B-B14F-4D97-AF65-F5344CB8AC3E}">
        <p14:creationId xmlns:p14="http://schemas.microsoft.com/office/powerpoint/2010/main" val="3310687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885313" y="8685552"/>
            <a:ext cx="2971121" cy="45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2" rIns="91425" bIns="45712"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CF33CFFF-AADB-204E-9566-9D25C45D41D1}" type="slidenum">
              <a:rPr lang="en-US" sz="1200"/>
              <a:pPr algn="r" eaLnBrk="1" hangingPunct="1"/>
              <a:t>7</a:t>
            </a:fld>
            <a:endParaRPr lang="en-US" sz="1200"/>
          </a:p>
        </p:txBody>
      </p:sp>
      <p:sp>
        <p:nvSpPr>
          <p:cNvPr id="675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675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Tree>
    <p:extLst>
      <p:ext uri="{BB962C8B-B14F-4D97-AF65-F5344CB8AC3E}">
        <p14:creationId xmlns:p14="http://schemas.microsoft.com/office/powerpoint/2010/main" val="3774844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remainder of our first class</a:t>
            </a:r>
            <a:r>
              <a:rPr lang="en-US" baseline="0" dirty="0"/>
              <a:t> I want to introduce something that will come up a few times in this course – anyone know what this is? deoxyribonucleic acid. this comes up first in lecture 7 – </a:t>
            </a:r>
          </a:p>
          <a:p>
            <a:r>
              <a:rPr lang="en-US" dirty="0"/>
              <a:t>in the first 6 lectures we deal with genetics </a:t>
            </a:r>
            <a:r>
              <a:rPr lang="en-US" dirty="0" err="1"/>
              <a:t>bc</a:t>
            </a:r>
            <a:r>
              <a:rPr lang="en-US" dirty="0"/>
              <a:t>: before crick (and </a:t>
            </a:r>
            <a:r>
              <a:rPr lang="en-US" dirty="0" err="1"/>
              <a:t>watson</a:t>
            </a:r>
            <a:r>
              <a:rPr lang="en-US" dirty="0"/>
              <a:t>) – as we will see in </a:t>
            </a:r>
            <a:r>
              <a:rPr lang="en-US" dirty="0" err="1"/>
              <a:t>lect</a:t>
            </a:r>
            <a:r>
              <a:rPr lang="en-US" baseline="0" dirty="0"/>
              <a:t> 7 – this molecule is the basis for all genetics in all organisms. all life on earth uses </a:t>
            </a:r>
            <a:r>
              <a:rPr lang="en-US" baseline="0" dirty="0" err="1"/>
              <a:t>dna</a:t>
            </a:r>
            <a:r>
              <a:rPr lang="en-US" baseline="0" dirty="0"/>
              <a:t> – even viruses – even viruses that do not contain </a:t>
            </a:r>
            <a:r>
              <a:rPr lang="en-US" baseline="0" dirty="0" err="1"/>
              <a:t>dna</a:t>
            </a:r>
            <a:r>
              <a:rPr lang="en-US" baseline="0" dirty="0"/>
              <a:t> – they need to make </a:t>
            </a:r>
            <a:r>
              <a:rPr lang="en-US" baseline="0" dirty="0" err="1"/>
              <a:t>dna</a:t>
            </a:r>
            <a:r>
              <a:rPr lang="en-US" baseline="0" dirty="0"/>
              <a:t> at some point in their life cycle. </a:t>
            </a:r>
          </a:p>
          <a:p>
            <a:r>
              <a:rPr lang="en-US" baseline="0" dirty="0"/>
              <a:t>consists of a backbone of </a:t>
            </a:r>
            <a:r>
              <a:rPr lang="en-US" baseline="0" dirty="0" err="1"/>
              <a:t>pphosphates</a:t>
            </a:r>
            <a:r>
              <a:rPr lang="en-US" baseline="0" dirty="0"/>
              <a:t> and sugars. the sugars are attached to bases – one of 4 – adenine, guanine, thymine or cytosine</a:t>
            </a:r>
          </a:p>
          <a:p>
            <a:r>
              <a:rPr lang="en-US" baseline="0" dirty="0"/>
              <a:t>the bases from one strand interact with bases on the other strand – due to constraints c on one strand must pair with g on other, while a and t can pair. </a:t>
            </a:r>
          </a:p>
          <a:p>
            <a:r>
              <a:rPr lang="en-US" baseline="0" dirty="0"/>
              <a:t>the two strands are not identical but they are complementary – the base sequence on one can be used to predict the sequence on the other. and it can be used as a template to synthesize a copy of the other.</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8</a:t>
            </a:fld>
            <a:endParaRPr lang="en-US"/>
          </a:p>
        </p:txBody>
      </p:sp>
    </p:spTree>
    <p:extLst>
      <p:ext uri="{BB962C8B-B14F-4D97-AF65-F5344CB8AC3E}">
        <p14:creationId xmlns:p14="http://schemas.microsoft.com/office/powerpoint/2010/main" val="2285884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2</a:t>
            </a:r>
            <a:r>
              <a:rPr lang="en-US" baseline="30000" dirty="0"/>
              <a:t>nd</a:t>
            </a:r>
            <a:r>
              <a:rPr lang="en-US" dirty="0"/>
              <a:t> critical function of </a:t>
            </a:r>
            <a:r>
              <a:rPr lang="en-US" dirty="0" err="1"/>
              <a:t>dna</a:t>
            </a:r>
            <a:r>
              <a:rPr lang="en-US" dirty="0"/>
              <a:t> is to make proteins</a:t>
            </a:r>
          </a:p>
        </p:txBody>
      </p:sp>
      <p:sp>
        <p:nvSpPr>
          <p:cNvPr id="4" name="Slide Number Placeholder 3"/>
          <p:cNvSpPr>
            <a:spLocks noGrp="1"/>
          </p:cNvSpPr>
          <p:nvPr>
            <p:ph type="sldNum" sz="quarter" idx="10"/>
          </p:nvPr>
        </p:nvSpPr>
        <p:spPr/>
        <p:txBody>
          <a:bodyPr/>
          <a:lstStyle/>
          <a:p>
            <a:fld id="{82861A3A-B277-5944-B6F7-706FE2242B50}" type="slidenum">
              <a:rPr lang="en-US" smtClean="0"/>
              <a:pPr/>
              <a:t>11</a:t>
            </a:fld>
            <a:endParaRPr lang="en-US"/>
          </a:p>
        </p:txBody>
      </p:sp>
    </p:spTree>
    <p:extLst>
      <p:ext uri="{BB962C8B-B14F-4D97-AF65-F5344CB8AC3E}">
        <p14:creationId xmlns:p14="http://schemas.microsoft.com/office/powerpoint/2010/main" val="1719602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p:cNvSpPr>
          <p:nvPr>
            <p:ph type="sldImg"/>
          </p:nvPr>
        </p:nvSpPr>
        <p:spPr bwMode="auto">
          <a:noFill/>
          <a:ln>
            <a:solidFill>
              <a:srgbClr val="000000"/>
            </a:solidFill>
            <a:miter lim="800000"/>
            <a:headEnd/>
            <a:tailEnd/>
          </a:ln>
        </p:spPr>
      </p:sp>
      <p:sp>
        <p:nvSpPr>
          <p:cNvPr id="27651" name="Notes Placeholder 2"/>
          <p:cNvSpPr>
            <a:spLocks noGrp="1"/>
          </p:cNvSpPr>
          <p:nvPr>
            <p:ph type="body" idx="1"/>
          </p:nvPr>
        </p:nvSpPr>
        <p:spPr bwMode="auto">
          <a:noFill/>
        </p:spPr>
        <p:txBody>
          <a:bodyPr/>
          <a:lstStyle/>
          <a:p>
            <a:pPr eaLnBrk="1" hangingPunct="1">
              <a:spcBef>
                <a:spcPct val="0"/>
              </a:spcBef>
            </a:pPr>
            <a:r>
              <a:rPr lang="en-US" dirty="0">
                <a:ea typeface="ＭＳ Ｐゴシック" pitchFamily="-65" charset="-128"/>
                <a:cs typeface="ＭＳ Ｐゴシック" pitchFamily="-65" charset="-128"/>
              </a:rPr>
              <a:t>proteins</a:t>
            </a:r>
            <a:r>
              <a:rPr lang="en-US" baseline="0" dirty="0">
                <a:ea typeface="ＭＳ Ｐゴシック" pitchFamily="-65" charset="-128"/>
                <a:cs typeface="ＭＳ Ｐゴシック" pitchFamily="-65" charset="-128"/>
              </a:rPr>
              <a:t> like DNA are made up of repeating units</a:t>
            </a:r>
          </a:p>
          <a:p>
            <a:pPr eaLnBrk="1" hangingPunct="1">
              <a:spcBef>
                <a:spcPct val="0"/>
              </a:spcBef>
            </a:pPr>
            <a:r>
              <a:rPr lang="en-US" dirty="0">
                <a:ea typeface="ＭＳ Ｐゴシック" pitchFamily="-65" charset="-128"/>
                <a:cs typeface="ＭＳ Ｐゴシック" pitchFamily="-65" charset="-128"/>
              </a:rPr>
              <a:t>there are 20</a:t>
            </a:r>
            <a:r>
              <a:rPr lang="en-US" baseline="0" dirty="0">
                <a:ea typeface="ＭＳ Ｐゴシック" pitchFamily="-65" charset="-128"/>
                <a:cs typeface="ＭＳ Ｐゴシック" pitchFamily="-65" charset="-128"/>
              </a:rPr>
              <a:t> common amino acids – proteins are arrangements of these – here are two amino acids</a:t>
            </a:r>
          </a:p>
          <a:p>
            <a:pPr eaLnBrk="1" hangingPunct="1">
              <a:spcBef>
                <a:spcPct val="0"/>
              </a:spcBef>
            </a:pPr>
            <a:r>
              <a:rPr lang="en-US" baseline="0" dirty="0">
                <a:ea typeface="ＭＳ Ｐゴシック" pitchFamily="-65" charset="-128"/>
                <a:cs typeface="ＭＳ Ｐゴシック" pitchFamily="-65" charset="-128"/>
              </a:rPr>
              <a:t>if these were together on a protein they would be joined by a peptide bond – between this c and this n</a:t>
            </a:r>
          </a:p>
          <a:p>
            <a:pPr eaLnBrk="1" hangingPunct="1">
              <a:spcBef>
                <a:spcPct val="0"/>
              </a:spcBef>
            </a:pPr>
            <a:r>
              <a:rPr lang="en-US" baseline="0" dirty="0">
                <a:ea typeface="ＭＳ Ｐゴシック" pitchFamily="-65" charset="-128"/>
                <a:cs typeface="ＭＳ Ｐゴシック" pitchFamily="-65" charset="-128"/>
              </a:rPr>
              <a:t>proteins are chains of amino acids – they fold in large part based on their sequence, and have some activity.</a:t>
            </a:r>
            <a:endParaRPr lang="en-US" dirty="0">
              <a:ea typeface="ＭＳ Ｐゴシック" pitchFamily="-65" charset="-128"/>
              <a:cs typeface="ＭＳ Ｐゴシック" pitchFamily="-65" charset="-128"/>
            </a:endParaRPr>
          </a:p>
        </p:txBody>
      </p:sp>
      <p:sp>
        <p:nvSpPr>
          <p:cNvPr id="26628" name="Slide Number Placeholder 3"/>
          <p:cNvSpPr>
            <a:spLocks noGrp="1"/>
          </p:cNvSpPr>
          <p:nvPr>
            <p:ph type="sldNum" sz="quarter" idx="5"/>
          </p:nvPr>
        </p:nvSpPr>
        <p:spPr bwMode="auto">
          <a:ln>
            <a:miter lim="800000"/>
            <a:headEnd/>
            <a:tailEnd/>
          </a:ln>
        </p:spPr>
        <p:txBody>
          <a:bodyPr/>
          <a:lstStyle/>
          <a:p>
            <a:fld id="{8834604C-8640-4A41-AF27-3E5E1A9A55CD}" type="slidenum">
              <a:rPr lang="en-US"/>
              <a:pPr/>
              <a:t>12</a:t>
            </a:fld>
            <a:endParaRPr lang="en-US"/>
          </a:p>
        </p:txBody>
      </p:sp>
    </p:spTree>
    <p:extLst>
      <p:ext uri="{BB962C8B-B14F-4D97-AF65-F5344CB8AC3E}">
        <p14:creationId xmlns:p14="http://schemas.microsoft.com/office/powerpoint/2010/main" val="74596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while </a:t>
            </a:r>
            <a:r>
              <a:rPr lang="en-US" dirty="0" err="1"/>
              <a:t>dna</a:t>
            </a:r>
            <a:r>
              <a:rPr lang="en-US" dirty="0"/>
              <a:t> is critical to life – proteins are equally so – and one</a:t>
            </a:r>
            <a:r>
              <a:rPr lang="en-US" baseline="0" dirty="0"/>
              <a:t> could argue that </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13</a:t>
            </a:fld>
            <a:endParaRPr lang="en-US"/>
          </a:p>
        </p:txBody>
      </p:sp>
    </p:spTree>
    <p:extLst>
      <p:ext uri="{BB962C8B-B14F-4D97-AF65-F5344CB8AC3E}">
        <p14:creationId xmlns:p14="http://schemas.microsoft.com/office/powerpoint/2010/main" val="3014266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3A29FD-FC74-D443-84DD-68D079B9668D}" type="slidenum">
              <a:rPr lang="en-US"/>
              <a:pPr/>
              <a:t>14</a:t>
            </a:fld>
            <a:endParaRPr lang="en-US"/>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r>
              <a:rPr lang="en-US" dirty="0"/>
              <a:t>so </a:t>
            </a:r>
            <a:r>
              <a:rPr lang="en-US" dirty="0" err="1"/>
              <a:t>dna</a:t>
            </a:r>
            <a:r>
              <a:rPr lang="en-US" dirty="0"/>
              <a:t> is</a:t>
            </a:r>
            <a:r>
              <a:rPr lang="en-US" baseline="0" dirty="0"/>
              <a:t> necessary because it encodes proteins. the process of converting information in </a:t>
            </a:r>
            <a:r>
              <a:rPr lang="en-US" baseline="0" dirty="0" err="1"/>
              <a:t>dna</a:t>
            </a:r>
            <a:r>
              <a:rPr lang="en-US" baseline="0" dirty="0"/>
              <a:t> to proteins is gene expression – and  the </a:t>
            </a:r>
            <a:r>
              <a:rPr lang="en-US" baseline="0" dirty="0" err="1"/>
              <a:t>båsics</a:t>
            </a:r>
            <a:r>
              <a:rPr lang="en-US" baseline="0" dirty="0"/>
              <a:t> of this will be </a:t>
            </a:r>
            <a:r>
              <a:rPr lang="en-US" baseline="0" dirty="0" err="1"/>
              <a:t>taliked</a:t>
            </a:r>
            <a:r>
              <a:rPr lang="en-US" baseline="0" dirty="0"/>
              <a:t> about in lectures10 and 11</a:t>
            </a:r>
          </a:p>
          <a:p>
            <a:r>
              <a:rPr lang="en-US" baseline="0" dirty="0"/>
              <a:t>to summarize now:</a:t>
            </a:r>
          </a:p>
          <a:p>
            <a:r>
              <a:rPr lang="en-US" baseline="0" dirty="0"/>
              <a:t>genes are sequences on the </a:t>
            </a:r>
            <a:r>
              <a:rPr lang="en-US" baseline="0" dirty="0" err="1"/>
              <a:t>dna</a:t>
            </a:r>
            <a:r>
              <a:rPr lang="en-US" baseline="0" dirty="0"/>
              <a:t> that will code for proteins</a:t>
            </a:r>
            <a:endParaRPr lang="en-US" dirty="0"/>
          </a:p>
        </p:txBody>
      </p:sp>
    </p:spTree>
    <p:extLst>
      <p:ext uri="{BB962C8B-B14F-4D97-AF65-F5344CB8AC3E}">
        <p14:creationId xmlns:p14="http://schemas.microsoft.com/office/powerpoint/2010/main" val="816227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rna</a:t>
            </a:r>
            <a:r>
              <a:rPr lang="en-US" dirty="0"/>
              <a:t> sequence dictates</a:t>
            </a:r>
            <a:r>
              <a:rPr lang="en-US" baseline="0" dirty="0"/>
              <a:t> the sequence of amino acids of a polypeptide or protein</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15</a:t>
            </a:fld>
            <a:endParaRPr lang="en-US"/>
          </a:p>
        </p:txBody>
      </p:sp>
    </p:spTree>
    <p:extLst>
      <p:ext uri="{BB962C8B-B14F-4D97-AF65-F5344CB8AC3E}">
        <p14:creationId xmlns:p14="http://schemas.microsoft.com/office/powerpoint/2010/main" val="273684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a:t>
            </a:r>
            <a:r>
              <a:rPr lang="en-US" baseline="0" dirty="0"/>
              <a:t> example from </a:t>
            </a:r>
            <a:r>
              <a:rPr lang="en-US" baseline="0" dirty="0" err="1"/>
              <a:t>lect</a:t>
            </a:r>
            <a:r>
              <a:rPr lang="en-US" baseline="0" dirty="0"/>
              <a:t> 2 – a gene </a:t>
            </a:r>
            <a:r>
              <a:rPr lang="en-US" baseline="0" dirty="0" err="1"/>
              <a:t>callled</a:t>
            </a:r>
            <a:r>
              <a:rPr lang="en-US" baseline="0" dirty="0"/>
              <a:t> R – makes a protein – an enzyme – this </a:t>
            </a:r>
            <a:r>
              <a:rPr lang="en-US" baseline="0" dirty="0" err="1"/>
              <a:t>enzyeme</a:t>
            </a:r>
            <a:r>
              <a:rPr lang="en-US" baseline="0" dirty="0"/>
              <a:t> makes branched starches. if the gene has a mutation it makes a protein with an altered amino acid sequence. This makes an inactive enzyme – the result for the pea plant is they cannot make branched starches. the result for us is that we have to eat wrinkly peas.</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17</a:t>
            </a:fld>
            <a:endParaRPr lang="en-US"/>
          </a:p>
        </p:txBody>
      </p:sp>
    </p:spTree>
    <p:extLst>
      <p:ext uri="{BB962C8B-B14F-4D97-AF65-F5344CB8AC3E}">
        <p14:creationId xmlns:p14="http://schemas.microsoft.com/office/powerpoint/2010/main" val="11548102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t>
            </a:r>
            <a:r>
              <a:rPr lang="en-US" baseline="0" dirty="0"/>
              <a:t> mutations in genes lead to changes in proteins and this can lead to differences between individuals, including the case of disease.</a:t>
            </a:r>
          </a:p>
          <a:p>
            <a:r>
              <a:rPr lang="en-US" baseline="0" dirty="0"/>
              <a:t> here’ a gene that when mutated leads to alteration of the corresponding protein – </a:t>
            </a:r>
            <a:r>
              <a:rPr lang="en-US" baseline="0" dirty="0" err="1"/>
              <a:t>cftr</a:t>
            </a:r>
            <a:r>
              <a:rPr lang="en-US" baseline="0" dirty="0"/>
              <a:t> – it is a membrane channel that is used in most cells in your body to transport chloride ions</a:t>
            </a:r>
          </a:p>
          <a:p>
            <a:r>
              <a:rPr lang="en-US" baseline="0" dirty="0"/>
              <a:t>this channel is particularly </a:t>
            </a:r>
            <a:r>
              <a:rPr lang="en-US" baseline="0" dirty="0" err="1"/>
              <a:t>immportant</a:t>
            </a:r>
            <a:r>
              <a:rPr lang="en-US" baseline="0" dirty="0"/>
              <a:t> in cells of the lung – and that’s why  </a:t>
            </a:r>
            <a:r>
              <a:rPr lang="en-US" baseline="0" dirty="0" err="1"/>
              <a:t>cf</a:t>
            </a:r>
            <a:r>
              <a:rPr lang="en-US" baseline="0" dirty="0"/>
              <a:t> affects lungs</a:t>
            </a:r>
          </a:p>
          <a:p>
            <a:r>
              <a:rPr lang="en-US" baseline="0" dirty="0"/>
              <a:t>so alterations in genes can cause disease</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18</a:t>
            </a:fld>
            <a:endParaRPr lang="en-US"/>
          </a:p>
        </p:txBody>
      </p:sp>
    </p:spTree>
    <p:extLst>
      <p:ext uri="{BB962C8B-B14F-4D97-AF65-F5344CB8AC3E}">
        <p14:creationId xmlns:p14="http://schemas.microsoft.com/office/powerpoint/2010/main" val="27343966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next</a:t>
            </a:r>
            <a:r>
              <a:rPr lang="en-US" baseline="0" dirty="0"/>
              <a:t> big milestone was not really a conceptual milestone – but </a:t>
            </a:r>
            <a:r>
              <a:rPr lang="en-US" baseline="0" dirty="0" err="1"/>
              <a:t>definetly</a:t>
            </a:r>
            <a:r>
              <a:rPr lang="en-US" baseline="0" dirty="0"/>
              <a:t> lead to a huge number of conceptual advances – which will be discussed in the 2</a:t>
            </a:r>
            <a:r>
              <a:rPr lang="en-US" baseline="30000" dirty="0"/>
              <a:t>nd</a:t>
            </a:r>
            <a:r>
              <a:rPr lang="en-US" baseline="0" dirty="0"/>
              <a:t> half of the course.</a:t>
            </a:r>
          </a:p>
          <a:p>
            <a:r>
              <a:rPr lang="en-US" baseline="0" dirty="0"/>
              <a:t>the </a:t>
            </a:r>
            <a:r>
              <a:rPr lang="en-US" baseline="0" dirty="0" err="1"/>
              <a:t>usefullness</a:t>
            </a:r>
            <a:r>
              <a:rPr lang="en-US" baseline="0" dirty="0"/>
              <a:t> of genome sequence comes from the annotation – taking the raw sequence data and predicting with pretty good accuracy where the genes are and what the proteins are that are made</a:t>
            </a:r>
          </a:p>
          <a:p>
            <a:r>
              <a:rPr lang="en-US" baseline="0" dirty="0"/>
              <a:t>one thing that I’ll touch on for a minute that came out of the genome project – ability to compare humans to other organisms at the </a:t>
            </a:r>
            <a:r>
              <a:rPr lang="en-US" baseline="0" dirty="0" err="1"/>
              <a:t>dna</a:t>
            </a:r>
            <a:r>
              <a:rPr lang="en-US" baseline="0" dirty="0"/>
              <a:t> level or protein level</a:t>
            </a:r>
          </a:p>
          <a:p>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19</a:t>
            </a:fld>
            <a:endParaRPr lang="en-US"/>
          </a:p>
        </p:txBody>
      </p:sp>
    </p:spTree>
    <p:extLst>
      <p:ext uri="{BB962C8B-B14F-4D97-AF65-F5344CB8AC3E}">
        <p14:creationId xmlns:p14="http://schemas.microsoft.com/office/powerpoint/2010/main" val="840312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 with the sequencing of the human genome</a:t>
            </a:r>
            <a:r>
              <a:rPr lang="en-US" baseline="0" dirty="0"/>
              <a:t> several other animal genomes were sequenced – most before that. the mouse here is very similar to us – in terms of what genes we have and what proteins they make, we are more similar to mouse than different. as you go further away – divergence – but really it</a:t>
            </a:r>
            <a:r>
              <a:rPr lang="fr-FR" baseline="0" dirty="0"/>
              <a:t>’</a:t>
            </a:r>
            <a:r>
              <a:rPr lang="en-US" baseline="0" dirty="0"/>
              <a:t>s the similarities that are striking. when you look at the genome of some of these distantly related organisms they are remarkably similar</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20</a:t>
            </a:fld>
            <a:endParaRPr lang="en-US"/>
          </a:p>
        </p:txBody>
      </p:sp>
    </p:spTree>
    <p:extLst>
      <p:ext uri="{BB962C8B-B14F-4D97-AF65-F5344CB8AC3E}">
        <p14:creationId xmlns:p14="http://schemas.microsoft.com/office/powerpoint/2010/main" val="7379613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part of the sequence of the cytochrome c protein – a protein</a:t>
            </a:r>
            <a:r>
              <a:rPr lang="en-US" baseline="0" dirty="0"/>
              <a:t> that is important for energy production in mitochondria. this is ours, here’s mouse – identical except for 3 amino acids. fruit fly- almost the same – here’s a single celled yeast – pretty far from us in evolution – again most amino acids are the same –</a:t>
            </a:r>
          </a:p>
          <a:p>
            <a:r>
              <a:rPr lang="en-US" baseline="0" dirty="0"/>
              <a:t>protein sequence is derived from </a:t>
            </a:r>
            <a:r>
              <a:rPr lang="en-US" baseline="0" dirty="0" err="1"/>
              <a:t>dna</a:t>
            </a:r>
            <a:r>
              <a:rPr lang="en-US" baseline="0" dirty="0"/>
              <a:t> – so if we looked at the </a:t>
            </a:r>
            <a:r>
              <a:rPr lang="en-US" baseline="0" dirty="0" err="1"/>
              <a:t>dna</a:t>
            </a:r>
            <a:r>
              <a:rPr lang="en-US" baseline="0" dirty="0"/>
              <a:t> sequence of this gene it would also be very similar.</a:t>
            </a:r>
          </a:p>
          <a:p>
            <a:r>
              <a:rPr lang="en-US" baseline="0" dirty="0"/>
              <a:t> why they evolved from a common ancestor and acquired a few mutation along the way.</a:t>
            </a:r>
          </a:p>
          <a:p>
            <a:r>
              <a:rPr lang="en-US" baseline="0" dirty="0"/>
              <a:t>one critical thing that we learn from this type of </a:t>
            </a:r>
            <a:r>
              <a:rPr lang="en-US" baseline="0" dirty="0" err="1"/>
              <a:t>comparitive</a:t>
            </a:r>
            <a:r>
              <a:rPr lang="en-US" baseline="0" dirty="0"/>
              <a:t> genomics is that what we learn in yeast is likely to also apply to humans. this validates the approach to genetics that has been used since Mendel – to study genes in model systems – plants or animals or bacteria or viruses that are simple and easy to work with – and making conclusions that are universal. </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21</a:t>
            </a:fld>
            <a:endParaRPr lang="en-US"/>
          </a:p>
        </p:txBody>
      </p:sp>
    </p:spTree>
    <p:extLst>
      <p:ext uri="{BB962C8B-B14F-4D97-AF65-F5344CB8AC3E}">
        <p14:creationId xmlns:p14="http://schemas.microsoft.com/office/powerpoint/2010/main" val="2722729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pax6 gene is required for eye formation in flies and in humans. you can take the human version of the gene and put it into flies and make it express in the </a:t>
            </a:r>
            <a:r>
              <a:rPr lang="en-US" baseline="0" dirty="0" err="1"/>
              <a:t>legg</a:t>
            </a:r>
            <a:r>
              <a:rPr lang="en-US" baseline="0" dirty="0"/>
              <a:t> to make an eye – most likely it would work the other way – the fly gene would work in the human. </a:t>
            </a:r>
          </a:p>
          <a:p>
            <a:endParaRPr lang="en-US" baseline="0" dirty="0"/>
          </a:p>
          <a:p>
            <a:r>
              <a:rPr lang="en-US" baseline="0" dirty="0"/>
              <a:t>an important point to be made here – and I’ll end here – is that genetics can be studied in any organism and the insights we gain from studies in fruit flies or viruses can help us to understand human genetics as well.  </a:t>
            </a:r>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22</a:t>
            </a:fld>
            <a:endParaRPr lang="en-US"/>
          </a:p>
        </p:txBody>
      </p:sp>
    </p:spTree>
    <p:extLst>
      <p:ext uri="{BB962C8B-B14F-4D97-AF65-F5344CB8AC3E}">
        <p14:creationId xmlns:p14="http://schemas.microsoft.com/office/powerpoint/2010/main" val="1628197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latin typeface="Helvetica" pitchFamily="34" charset="0"/>
                <a:ea typeface="ＭＳ Ｐゴシック" pitchFamily="34" charset="-128"/>
                <a:cs typeface="Helvetica" pitchFamily="34" charset="0"/>
              </a:rPr>
              <a:t>How did evolution result in the amazing diversity of life-forms over time? </a:t>
            </a:r>
          </a:p>
          <a:p>
            <a:r>
              <a:rPr lang="en-US" dirty="0"/>
              <a:t>-Exons are arranged</a:t>
            </a:r>
            <a:r>
              <a:rPr lang="en-US" baseline="0" dirty="0"/>
              <a:t> into genes, genes duplicate and diverge  to form gene families and </a:t>
            </a:r>
            <a:r>
              <a:rPr lang="en-US" baseline="0" dirty="0" err="1"/>
              <a:t>superfamilies</a:t>
            </a:r>
            <a:r>
              <a:rPr lang="mr-IN" baseline="0" dirty="0"/>
              <a:t>…</a:t>
            </a:r>
            <a:endParaRPr lang="en-US" baseline="0" dirty="0"/>
          </a:p>
          <a:p>
            <a:r>
              <a:rPr lang="en-US" baseline="0" dirty="0"/>
              <a:t>- Another way is by controlling the spatial and temporal regulation of gene expression. </a:t>
            </a:r>
          </a:p>
          <a:p>
            <a:endParaRPr lang="en-US" dirty="0"/>
          </a:p>
        </p:txBody>
      </p:sp>
      <p:sp>
        <p:nvSpPr>
          <p:cNvPr id="4" name="Slide Number Placeholder 3"/>
          <p:cNvSpPr>
            <a:spLocks noGrp="1"/>
          </p:cNvSpPr>
          <p:nvPr>
            <p:ph type="sldNum" sz="quarter" idx="10"/>
          </p:nvPr>
        </p:nvSpPr>
        <p:spPr/>
        <p:txBody>
          <a:bodyPr/>
          <a:lstStyle/>
          <a:p>
            <a:fld id="{82861A3A-B277-5944-B6F7-706FE2242B50}" type="slidenum">
              <a:rPr lang="en-US" smtClean="0"/>
              <a:pPr/>
              <a:t>23</a:t>
            </a:fld>
            <a:endParaRPr lang="en-US"/>
          </a:p>
        </p:txBody>
      </p:sp>
    </p:spTree>
    <p:extLst>
      <p:ext uri="{BB962C8B-B14F-4D97-AF65-F5344CB8AC3E}">
        <p14:creationId xmlns:p14="http://schemas.microsoft.com/office/powerpoint/2010/main" val="309998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Slide Number Placeholder 4"/>
          <p:cNvSpPr>
            <a:spLocks noGrp="1"/>
          </p:cNvSpPr>
          <p:nvPr>
            <p:ph type="sldNum" sz="quarter" idx="10"/>
          </p:nvPr>
        </p:nvSpPr>
        <p:spPr/>
        <p:txBody>
          <a:bodyPr/>
          <a:lstStyle>
            <a:lvl1pPr>
              <a:defRPr sz="1000" b="1">
                <a:latin typeface="Helvetica" pitchFamily="-65" charset="0"/>
                <a:ea typeface="Helvetica" pitchFamily="-65" charset="0"/>
                <a:cs typeface="Helvetica" pitchFamily="-65" charset="0"/>
              </a:defRPr>
            </a:lvl1pPr>
          </a:lstStyle>
          <a:p>
            <a:fld id="{BBBC9723-280E-404A-8734-B9F6019BFEB4}" type="slidenum">
              <a:rPr lang="en-US" smtClean="0"/>
              <a:pPr/>
              <a:t>‹#›</a:t>
            </a:fld>
            <a:endParaRPr lang="en-US"/>
          </a:p>
        </p:txBody>
      </p:sp>
      <p:sp>
        <p:nvSpPr>
          <p:cNvPr id="3" name="Footer Placeholder 4"/>
          <p:cNvSpPr>
            <a:spLocks noGrp="1"/>
          </p:cNvSpPr>
          <p:nvPr>
            <p:ph type="ftr" sz="quarter" idx="11"/>
          </p:nvPr>
        </p:nvSpPr>
        <p:spPr>
          <a:xfrm>
            <a:off x="1528763" y="6356350"/>
            <a:ext cx="6088062" cy="365125"/>
          </a:xfrm>
        </p:spPr>
        <p:txBody>
          <a:bodyPr/>
          <a:lstStyle>
            <a:lvl1pPr>
              <a:defRPr sz="1000" b="1">
                <a:latin typeface="Helvetica" pitchFamily="-65" charset="0"/>
                <a:ea typeface="Helvetica" pitchFamily="-65" charset="0"/>
                <a:cs typeface="Helvetica" pitchFamily="-65" charset="0"/>
              </a:defRPr>
            </a:lvl1p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74638"/>
            <a:ext cx="8229600" cy="1143000"/>
          </a:xfrm>
          <a:gradFill flip="none" rotWithShape="1">
            <a:gsLst>
              <a:gs pos="0">
                <a:srgbClr val="155076"/>
              </a:gs>
              <a:gs pos="50000">
                <a:srgbClr val="14AECA"/>
              </a:gs>
              <a:gs pos="99000">
                <a:srgbClr val="155076"/>
              </a:gs>
            </a:gsLst>
            <a:lin ang="0" scaled="1"/>
            <a:tileRect/>
          </a:gradFill>
        </p:spPr>
        <p:txBody>
          <a:bodyPr>
            <a:normAutofit/>
          </a:bodyPr>
          <a:lstStyle>
            <a:lvl1pPr>
              <a:defRPr sz="2800" b="1">
                <a:solidFill>
                  <a:schemeClr val="bg1"/>
                </a:solidFill>
                <a:effectLst>
                  <a:outerShdw blurRad="50800" dist="38100" dir="2700000" algn="tl" rotWithShape="0">
                    <a:srgbClr val="000000">
                      <a:alpha val="80000"/>
                    </a:srgbClr>
                  </a:outerShdw>
                </a:effectLst>
                <a:latin typeface="Helvetica"/>
                <a:cs typeface="Helvetica"/>
              </a:defRPr>
            </a:lvl1pPr>
          </a:lstStyle>
          <a:p>
            <a:r>
              <a:rPr lang="en-CA"/>
              <a:t>Click to edit Master title style</a:t>
            </a:r>
            <a:endParaRPr lang="en-US" dirty="0"/>
          </a:p>
        </p:txBody>
      </p:sp>
      <p:sp>
        <p:nvSpPr>
          <p:cNvPr id="8" name="Content Placeholder 2"/>
          <p:cNvSpPr>
            <a:spLocks noGrp="1"/>
          </p:cNvSpPr>
          <p:nvPr>
            <p:ph idx="1"/>
          </p:nvPr>
        </p:nvSpPr>
        <p:spPr>
          <a:xfrm>
            <a:off x="457200" y="1417638"/>
            <a:ext cx="8229600" cy="4708525"/>
          </a:xfrm>
        </p:spPr>
        <p:txBody>
          <a:bodyPr/>
          <a:lstStyle>
            <a:lvl1pPr marL="0" indent="0">
              <a:spcBef>
                <a:spcPts val="600"/>
              </a:spcBef>
              <a:spcAft>
                <a:spcPts val="600"/>
              </a:spcAft>
              <a:buSzPct val="125000"/>
              <a:buFont typeface="Arial"/>
              <a:buNone/>
              <a:defRPr sz="2200" b="1">
                <a:latin typeface="Helvetica"/>
                <a:cs typeface="Helvetica"/>
              </a:defRPr>
            </a:lvl1pPr>
            <a:lvl2pPr marL="640080" indent="-228600">
              <a:spcBef>
                <a:spcPts val="600"/>
              </a:spcBef>
              <a:spcAft>
                <a:spcPts val="1200"/>
              </a:spcAft>
              <a:buSzPct val="100000"/>
              <a:buFont typeface="Helvetica Neue"/>
              <a:buChar char="•"/>
              <a:defRPr sz="2200" b="1">
                <a:latin typeface="Helvetica"/>
                <a:cs typeface="Helvetica"/>
              </a:defRPr>
            </a:lvl2pPr>
            <a:lvl3pPr marL="868680">
              <a:spcBef>
                <a:spcPts val="0"/>
              </a:spcBef>
              <a:spcAft>
                <a:spcPts val="600"/>
              </a:spcAft>
              <a:buSzPct val="100000"/>
              <a:buFont typeface="Wingdings" charset="2"/>
              <a:buChar char="§"/>
              <a:defRPr sz="2000" b="1">
                <a:latin typeface="Helvetica"/>
                <a:cs typeface="Helvetica"/>
              </a:defRPr>
            </a:lvl3pPr>
            <a:lvl4pPr>
              <a:defRPr b="1">
                <a:latin typeface="Helvetica"/>
                <a:cs typeface="Helvetica"/>
              </a:defRPr>
            </a:lvl4pPr>
            <a:lvl5pPr>
              <a:defRPr b="1">
                <a:latin typeface="Helvetica"/>
                <a:cs typeface="Helvetica"/>
              </a:defRPr>
            </a:lvl5pPr>
          </a:lstStyle>
          <a:p>
            <a:pPr lvl="0"/>
            <a:r>
              <a:rPr lang="en-CA"/>
              <a:t>Click to edit Master text styles</a:t>
            </a:r>
          </a:p>
          <a:p>
            <a:pPr lvl="1"/>
            <a:r>
              <a:rPr lang="en-CA"/>
              <a:t>Second level</a:t>
            </a:r>
          </a:p>
          <a:p>
            <a:pPr lvl="2"/>
            <a:r>
              <a:rPr lang="en-CA"/>
              <a:t>Third level</a:t>
            </a:r>
          </a:p>
        </p:txBody>
      </p:sp>
      <p:sp>
        <p:nvSpPr>
          <p:cNvPr id="4" name="Footer Placeholder 4"/>
          <p:cNvSpPr>
            <a:spLocks noGrp="1"/>
          </p:cNvSpPr>
          <p:nvPr>
            <p:ph type="ftr" sz="quarter" idx="10"/>
          </p:nvPr>
        </p:nvSpPr>
        <p:spPr>
          <a:xfrm>
            <a:off x="1528763" y="6356350"/>
            <a:ext cx="6088062" cy="365125"/>
          </a:xfrm>
        </p:spPr>
        <p:txBody>
          <a:bodyPr/>
          <a:lstStyle>
            <a:lvl1pPr>
              <a:defRPr sz="1000" b="1">
                <a:latin typeface="Helvetica" pitchFamily="-65" charset="0"/>
                <a:ea typeface="Helvetica" pitchFamily="-65" charset="0"/>
                <a:cs typeface="Helvetica" pitchFamily="-65" charset="0"/>
              </a:defRPr>
            </a:lvl1pPr>
          </a:lstStyle>
          <a:p>
            <a:endParaRPr lang="en-US"/>
          </a:p>
        </p:txBody>
      </p:sp>
      <p:sp>
        <p:nvSpPr>
          <p:cNvPr id="5" name="Slide Number Placeholder 5"/>
          <p:cNvSpPr>
            <a:spLocks noGrp="1"/>
          </p:cNvSpPr>
          <p:nvPr>
            <p:ph type="sldNum" sz="quarter" idx="11"/>
          </p:nvPr>
        </p:nvSpPr>
        <p:spPr/>
        <p:txBody>
          <a:bodyPr/>
          <a:lstStyle>
            <a:lvl1pPr>
              <a:defRPr sz="1000" b="1">
                <a:latin typeface="Helvetica" pitchFamily="-65" charset="0"/>
                <a:ea typeface="Helvetica" pitchFamily="-65" charset="0"/>
                <a:cs typeface="Helvetica" pitchFamily="-65" charset="0"/>
              </a:defRPr>
            </a:lvl1pPr>
          </a:lstStyle>
          <a:p>
            <a:fld id="{BBBC9723-280E-404A-8734-B9F6019BFEB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3"/>
          <p:cNvSpPr>
            <a:spLocks noGrp="1"/>
          </p:cNvSpPr>
          <p:nvPr>
            <p:ph type="sldNum" sz="quarter" idx="10"/>
          </p:nvPr>
        </p:nvSpPr>
        <p:spPr/>
        <p:txBody>
          <a:bodyPr/>
          <a:lstStyle>
            <a:lvl1pPr>
              <a:defRPr sz="1000" b="1">
                <a:latin typeface="Helvetica" pitchFamily="-65" charset="0"/>
                <a:ea typeface="Helvetica" pitchFamily="-65" charset="0"/>
                <a:cs typeface="Helvetica" pitchFamily="-65" charset="0"/>
              </a:defRPr>
            </a:lvl1pPr>
          </a:lstStyle>
          <a:p>
            <a:fld id="{BBBC9723-280E-404A-8734-B9F6019BFEB4}" type="slidenum">
              <a:rPr lang="en-US" smtClean="0"/>
              <a:pPr/>
              <a:t>‹#›</a:t>
            </a:fld>
            <a:endParaRPr lang="en-US"/>
          </a:p>
        </p:txBody>
      </p:sp>
      <p:sp>
        <p:nvSpPr>
          <p:cNvPr id="3" name="Footer Placeholder 4"/>
          <p:cNvSpPr>
            <a:spLocks noGrp="1"/>
          </p:cNvSpPr>
          <p:nvPr>
            <p:ph type="ftr" sz="quarter" idx="11"/>
          </p:nvPr>
        </p:nvSpPr>
        <p:spPr>
          <a:xfrm>
            <a:off x="1528763" y="6356350"/>
            <a:ext cx="6088062" cy="365125"/>
          </a:xfrm>
        </p:spPr>
        <p:txBody>
          <a:bodyPr/>
          <a:lstStyle>
            <a:lvl1pPr>
              <a:defRPr sz="1000" b="1">
                <a:latin typeface="Helvetica" pitchFamily="-65" charset="0"/>
                <a:ea typeface="Helvetica" pitchFamily="-65" charset="0"/>
                <a:cs typeface="Helvetica" pitchFamily="-65" charset="0"/>
              </a:defRPr>
            </a:lvl1p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9" name="Title 1"/>
          <p:cNvSpPr>
            <a:spLocks noGrp="1"/>
          </p:cNvSpPr>
          <p:nvPr>
            <p:ph type="title"/>
          </p:nvPr>
        </p:nvSpPr>
        <p:spPr>
          <a:xfrm>
            <a:off x="457200" y="274638"/>
            <a:ext cx="8229600" cy="1143000"/>
          </a:xfrm>
          <a:gradFill flip="none" rotWithShape="1">
            <a:gsLst>
              <a:gs pos="0">
                <a:srgbClr val="155076"/>
              </a:gs>
              <a:gs pos="50000">
                <a:srgbClr val="14AECA"/>
              </a:gs>
              <a:gs pos="99000">
                <a:srgbClr val="155076"/>
              </a:gs>
            </a:gsLst>
            <a:lin ang="0" scaled="1"/>
            <a:tileRect/>
          </a:gradFill>
        </p:spPr>
        <p:txBody>
          <a:bodyPr>
            <a:normAutofit/>
          </a:bodyPr>
          <a:lstStyle>
            <a:lvl1pPr>
              <a:defRPr sz="2800" b="1">
                <a:solidFill>
                  <a:schemeClr val="bg1"/>
                </a:solidFill>
                <a:effectLst>
                  <a:outerShdw blurRad="50800" dist="38100" dir="2700000" algn="tl" rotWithShape="0">
                    <a:srgbClr val="000000">
                      <a:alpha val="80000"/>
                    </a:srgbClr>
                  </a:outerShdw>
                </a:effectLst>
                <a:latin typeface="Helvetica"/>
                <a:cs typeface="Helvetica"/>
              </a:defRPr>
            </a:lvl1pPr>
          </a:lstStyle>
          <a:p>
            <a:r>
              <a:rPr lang="en-CA"/>
              <a:t>Click to edit Master title style</a:t>
            </a:r>
            <a:endParaRPr lang="en-US" dirty="0"/>
          </a:p>
        </p:txBody>
      </p:sp>
      <p:sp>
        <p:nvSpPr>
          <p:cNvPr id="10" name="Content Placeholder 2"/>
          <p:cNvSpPr>
            <a:spLocks noGrp="1"/>
          </p:cNvSpPr>
          <p:nvPr>
            <p:ph idx="1"/>
          </p:nvPr>
        </p:nvSpPr>
        <p:spPr>
          <a:xfrm>
            <a:off x="457200" y="1418736"/>
            <a:ext cx="4114800" cy="1408855"/>
          </a:xfrm>
        </p:spPr>
        <p:txBody>
          <a:bodyPr/>
          <a:lstStyle>
            <a:lvl1pPr marL="0" indent="0">
              <a:spcBef>
                <a:spcPts val="600"/>
              </a:spcBef>
              <a:spcAft>
                <a:spcPts val="600"/>
              </a:spcAft>
              <a:buSzPct val="125000"/>
              <a:buFont typeface="Arial"/>
              <a:buNone/>
              <a:defRPr sz="2200" b="1">
                <a:latin typeface="Helvetica"/>
                <a:cs typeface="Helvetica"/>
              </a:defRPr>
            </a:lvl1pPr>
            <a:lvl2pPr marL="640080" indent="-228600">
              <a:spcBef>
                <a:spcPts val="600"/>
              </a:spcBef>
              <a:spcAft>
                <a:spcPts val="1200"/>
              </a:spcAft>
              <a:buSzPct val="100000"/>
              <a:buFont typeface="Helvetica Neue"/>
              <a:buChar char="•"/>
              <a:defRPr sz="2200" b="1">
                <a:latin typeface="Helvetica"/>
                <a:cs typeface="Helvetica"/>
              </a:defRPr>
            </a:lvl2pPr>
            <a:lvl3pPr marL="868680">
              <a:spcBef>
                <a:spcPts val="0"/>
              </a:spcBef>
              <a:spcAft>
                <a:spcPts val="600"/>
              </a:spcAft>
              <a:buSzPct val="100000"/>
              <a:buFont typeface="Wingdings" charset="2"/>
              <a:buChar char="§"/>
              <a:defRPr sz="2000" b="1">
                <a:latin typeface="Helvetica"/>
                <a:cs typeface="Helvetica"/>
              </a:defRPr>
            </a:lvl3pPr>
            <a:lvl4pPr>
              <a:defRPr b="1">
                <a:latin typeface="Helvetica"/>
                <a:cs typeface="Helvetica"/>
              </a:defRPr>
            </a:lvl4pPr>
            <a:lvl5pPr>
              <a:defRPr b="1">
                <a:latin typeface="Helvetica"/>
                <a:cs typeface="Helvetica"/>
              </a:defRPr>
            </a:lvl5pPr>
          </a:lstStyle>
          <a:p>
            <a:pPr lvl="0"/>
            <a:r>
              <a:rPr lang="en-CA"/>
              <a:t>Click to edit Master text styles</a:t>
            </a:r>
          </a:p>
        </p:txBody>
      </p:sp>
      <p:sp>
        <p:nvSpPr>
          <p:cNvPr id="11" name="Content Placeholder 2"/>
          <p:cNvSpPr>
            <a:spLocks noGrp="1"/>
          </p:cNvSpPr>
          <p:nvPr>
            <p:ph idx="13"/>
          </p:nvPr>
        </p:nvSpPr>
        <p:spPr>
          <a:xfrm>
            <a:off x="4572000" y="1418736"/>
            <a:ext cx="4114800" cy="1408855"/>
          </a:xfrm>
        </p:spPr>
        <p:txBody>
          <a:bodyPr/>
          <a:lstStyle>
            <a:lvl1pPr marL="0" indent="0">
              <a:spcBef>
                <a:spcPts val="600"/>
              </a:spcBef>
              <a:spcAft>
                <a:spcPts val="600"/>
              </a:spcAft>
              <a:buSzPct val="125000"/>
              <a:buFont typeface="Arial"/>
              <a:buNone/>
              <a:defRPr sz="2200" b="1">
                <a:latin typeface="Helvetica"/>
                <a:cs typeface="Helvetica"/>
              </a:defRPr>
            </a:lvl1pPr>
            <a:lvl2pPr marL="640080" indent="-228600">
              <a:spcBef>
                <a:spcPts val="600"/>
              </a:spcBef>
              <a:spcAft>
                <a:spcPts val="1200"/>
              </a:spcAft>
              <a:buSzPct val="100000"/>
              <a:buFont typeface="Helvetica Neue"/>
              <a:buChar char="•"/>
              <a:defRPr sz="2200" b="1">
                <a:latin typeface="Helvetica"/>
                <a:cs typeface="Helvetica"/>
              </a:defRPr>
            </a:lvl2pPr>
            <a:lvl3pPr marL="868680">
              <a:spcBef>
                <a:spcPts val="0"/>
              </a:spcBef>
              <a:spcAft>
                <a:spcPts val="600"/>
              </a:spcAft>
              <a:buSzPct val="100000"/>
              <a:buFont typeface="Wingdings" charset="2"/>
              <a:buChar char="§"/>
              <a:defRPr sz="2000" b="1">
                <a:latin typeface="Helvetica"/>
                <a:cs typeface="Helvetica"/>
              </a:defRPr>
            </a:lvl3pPr>
            <a:lvl4pPr>
              <a:defRPr b="1">
                <a:latin typeface="Helvetica"/>
                <a:cs typeface="Helvetica"/>
              </a:defRPr>
            </a:lvl4pPr>
            <a:lvl5pPr>
              <a:defRPr b="1">
                <a:latin typeface="Helvetica"/>
                <a:cs typeface="Helvetica"/>
              </a:defRPr>
            </a:lvl5pPr>
          </a:lstStyle>
          <a:p>
            <a:pPr lvl="0"/>
            <a:r>
              <a:rPr lang="en-CA"/>
              <a:t>Click to edit Master text styles</a:t>
            </a:r>
          </a:p>
        </p:txBody>
      </p:sp>
      <p:sp>
        <p:nvSpPr>
          <p:cNvPr id="5" name="Slide Number Placeholder 6"/>
          <p:cNvSpPr>
            <a:spLocks noGrp="1"/>
          </p:cNvSpPr>
          <p:nvPr>
            <p:ph type="sldNum" sz="quarter" idx="14"/>
          </p:nvPr>
        </p:nvSpPr>
        <p:spPr/>
        <p:txBody>
          <a:bodyPr/>
          <a:lstStyle>
            <a:lvl1pPr>
              <a:defRPr>
                <a:latin typeface="Helvetica" pitchFamily="-65" charset="0"/>
                <a:ea typeface="Helvetica" pitchFamily="-65" charset="0"/>
                <a:cs typeface="Helvetica" pitchFamily="-65" charset="0"/>
              </a:defRPr>
            </a:lvl1pPr>
          </a:lstStyle>
          <a:p>
            <a:fld id="{BBBC9723-280E-404A-8734-B9F6019BFEB4}" type="slidenum">
              <a:rPr lang="en-US" smtClean="0"/>
              <a:pPr/>
              <a:t>‹#›</a:t>
            </a:fld>
            <a:endParaRPr lang="en-US"/>
          </a:p>
        </p:txBody>
      </p:sp>
      <p:sp>
        <p:nvSpPr>
          <p:cNvPr id="6" name="Footer Placeholder 4"/>
          <p:cNvSpPr>
            <a:spLocks noGrp="1"/>
          </p:cNvSpPr>
          <p:nvPr>
            <p:ph type="ftr" sz="quarter" idx="15"/>
          </p:nvPr>
        </p:nvSpPr>
        <p:spPr>
          <a:xfrm>
            <a:off x="1528763" y="6356350"/>
            <a:ext cx="6088062" cy="365125"/>
          </a:xfrm>
        </p:spPr>
        <p:txBody>
          <a:bodyPr/>
          <a:lstStyle>
            <a:lvl1pPr>
              <a:defRPr sz="1000" b="1">
                <a:latin typeface="Helvetica" pitchFamily="-65" charset="0"/>
                <a:ea typeface="Helvetica" pitchFamily="-65" charset="0"/>
                <a:cs typeface="Helvetica" pitchFamily="-65" charset="0"/>
              </a:defRPr>
            </a:lvl1p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lvl1pPr>
              <a:defRPr/>
            </a:lvl1pPr>
          </a:lstStyle>
          <a:p>
            <a:fld id="{B133EDAD-DFCC-AE48-AB17-C3AAFD0BCFF2}" type="datetimeFigureOut">
              <a:rPr lang="en-US" smtClean="0"/>
              <a:pPr/>
              <a:t>7/22/2023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Date Placeholder 3"/>
          <p:cNvSpPr>
            <a:spLocks noGrp="1"/>
          </p:cNvSpPr>
          <p:nvPr>
            <p:ph type="dt" sz="half" idx="10"/>
          </p:nvPr>
        </p:nvSpPr>
        <p:spPr/>
        <p:txBody>
          <a:bodyPr/>
          <a:lstStyle>
            <a:lvl1pPr>
              <a:defRPr/>
            </a:lvl1pPr>
          </a:lstStyle>
          <a:p>
            <a:fld id="{B133EDAD-DFCC-AE48-AB17-C3AAFD0BCFF2}" type="datetimeFigureOut">
              <a:rPr lang="en-US" smtClean="0"/>
              <a:pPr/>
              <a:t>7/22/2023</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3"/>
          <p:cNvSpPr>
            <a:spLocks noGrp="1"/>
          </p:cNvSpPr>
          <p:nvPr>
            <p:ph type="dt" sz="half" idx="10"/>
          </p:nvPr>
        </p:nvSpPr>
        <p:spPr/>
        <p:txBody>
          <a:bodyPr/>
          <a:lstStyle>
            <a:lvl1pPr>
              <a:defRPr/>
            </a:lvl1pPr>
          </a:lstStyle>
          <a:p>
            <a:fld id="{B133EDAD-DFCC-AE48-AB17-C3AAFD0BCFF2}" type="datetimeFigureOut">
              <a:rPr lang="en-US" smtClean="0"/>
              <a:pPr/>
              <a:t>7/22/2023</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CA"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3"/>
          <p:cNvSpPr>
            <a:spLocks noGrp="1"/>
          </p:cNvSpPr>
          <p:nvPr>
            <p:ph type="dt" sz="half" idx="10"/>
          </p:nvPr>
        </p:nvSpPr>
        <p:spPr/>
        <p:txBody>
          <a:bodyPr/>
          <a:lstStyle>
            <a:lvl1pPr>
              <a:defRPr/>
            </a:lvl1pPr>
          </a:lstStyle>
          <a:p>
            <a:fld id="{B133EDAD-DFCC-AE48-AB17-C3AAFD0BCFF2}" type="datetimeFigureOut">
              <a:rPr lang="en-US" smtClean="0"/>
              <a:pPr/>
              <a:t>7/22/2023</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lvl1pPr>
              <a:defRPr/>
            </a:lvl1pPr>
          </a:lstStyle>
          <a:p>
            <a:fld id="{B133EDAD-DFCC-AE48-AB17-C3AAFD0BCFF2}" type="datetimeFigureOut">
              <a:rPr lang="en-US" smtClean="0"/>
              <a:pPr/>
              <a:t>7/22/2023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lvl1pPr>
              <a:defRPr/>
            </a:lvl1pPr>
          </a:lstStyle>
          <a:p>
            <a:fld id="{B133EDAD-DFCC-AE48-AB17-C3AAFD0BCFF2}" type="datetimeFigureOut">
              <a:rPr lang="en-US" smtClean="0"/>
              <a:pPr/>
              <a:t>7/22/2023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Slide Number Placeholder 3"/>
          <p:cNvSpPr>
            <a:spLocks noGrp="1"/>
          </p:cNvSpPr>
          <p:nvPr>
            <p:ph type="sldNum" sz="quarter" idx="10"/>
          </p:nvPr>
        </p:nvSpPr>
        <p:spPr/>
        <p:txBody>
          <a:bodyPr/>
          <a:lstStyle>
            <a:lvl1pPr>
              <a:defRPr/>
            </a:lvl1pPr>
          </a:lstStyle>
          <a:p>
            <a:fld id="{BBBC9723-280E-404A-8734-B9F6019BFEB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a:t>Click to edit Master subtitle style</a:t>
            </a:r>
            <a:endParaRPr lang="en-US"/>
          </a:p>
        </p:txBody>
      </p:sp>
      <p:sp>
        <p:nvSpPr>
          <p:cNvPr id="4" name="Date Placeholder 3"/>
          <p:cNvSpPr>
            <a:spLocks noGrp="1"/>
          </p:cNvSpPr>
          <p:nvPr>
            <p:ph type="dt" sz="half" idx="10"/>
          </p:nvPr>
        </p:nvSpPr>
        <p:spPr/>
        <p:txBody>
          <a:bodyPr/>
          <a:lstStyle/>
          <a:p>
            <a:fld id="{B133EDAD-DFCC-AE48-AB17-C3AAFD0BCFF2}" type="datetimeFigureOut">
              <a:rPr lang="en-US" smtClean="0"/>
              <a:pPr/>
              <a:t>7/22/2023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C9723-280E-404A-8734-B9F6019BFEB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303213"/>
            <a:ext cx="7769225" cy="1754187"/>
          </a:xfrm>
        </p:spPr>
        <p:txBody>
          <a:bodyPr/>
          <a:lstStyle/>
          <a:p>
            <a:r>
              <a:rPr lang="en-US"/>
              <a:t>Click to edit Master title style</a:t>
            </a:r>
          </a:p>
        </p:txBody>
      </p:sp>
      <p:sp>
        <p:nvSpPr>
          <p:cNvPr id="3" name="Content Placeholder 2"/>
          <p:cNvSpPr>
            <a:spLocks noGrp="1"/>
          </p:cNvSpPr>
          <p:nvPr>
            <p:ph sz="half" idx="1"/>
          </p:nvPr>
        </p:nvSpPr>
        <p:spPr>
          <a:xfrm>
            <a:off x="685800" y="1981200"/>
            <a:ext cx="3808413" cy="4491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6613" y="1981200"/>
            <a:ext cx="3808412" cy="4491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p:cNvSpPr>
            <a:spLocks noGrp="1" noChangeArrowheads="1"/>
          </p:cNvSpPr>
          <p:nvPr>
            <p:ph type="dt" idx="10"/>
          </p:nvPr>
        </p:nvSpPr>
        <p:spPr>
          <a:ln/>
        </p:spPr>
        <p:txBody>
          <a:bodyPr/>
          <a:lstStyle>
            <a:lvl1pPr>
              <a:defRPr/>
            </a:lvl1pPr>
          </a:lstStyle>
          <a:p>
            <a:endParaRPr lang="en-US"/>
          </a:p>
        </p:txBody>
      </p:sp>
      <p:sp>
        <p:nvSpPr>
          <p:cNvPr id="6" name="Rectangle 4"/>
          <p:cNvSpPr>
            <a:spLocks noGrp="1" noChangeArrowheads="1"/>
          </p:cNvSpPr>
          <p:nvPr>
            <p:ph type="ftr" idx="11"/>
          </p:nvPr>
        </p:nvSpPr>
        <p:spPr>
          <a:ln/>
        </p:spPr>
        <p:txBody>
          <a:bodyPr/>
          <a:lstStyle>
            <a:lvl1pPr>
              <a:defRPr/>
            </a:lvl1pPr>
          </a:lstStyle>
          <a:p>
            <a:r>
              <a:rPr lang="en-US"/>
              <a:t>© John Wiley &amp; Sons, Inc.</a:t>
            </a:r>
            <a:endParaRPr lang="en-GB"/>
          </a:p>
        </p:txBody>
      </p:sp>
      <p:sp>
        <p:nvSpPr>
          <p:cNvPr id="7" name="Rectangle 5"/>
          <p:cNvSpPr>
            <a:spLocks noGrp="1" noChangeArrowheads="1"/>
          </p:cNvSpPr>
          <p:nvPr>
            <p:ph type="sldNum" idx="12"/>
          </p:nvPr>
        </p:nvSpPr>
        <p:spPr>
          <a:ln/>
        </p:spPr>
        <p:txBody>
          <a:bodyPr/>
          <a:lstStyle>
            <a:lvl1pPr>
              <a:defRPr/>
            </a:lvl1pPr>
          </a:lstStyle>
          <a:p>
            <a:fld id="{88FE4A1D-87EB-3F49-91D6-B78E14AD9337}" type="slidenum">
              <a:rPr lang="en-GB"/>
              <a:pPr/>
              <a:t>‹#›</a:t>
            </a:fld>
            <a:endParaRPr lang="en-GB"/>
          </a:p>
        </p:txBody>
      </p:sp>
    </p:spTree>
    <p:extLst>
      <p:ext uri="{BB962C8B-B14F-4D97-AF65-F5344CB8AC3E}">
        <p14:creationId xmlns:p14="http://schemas.microsoft.com/office/powerpoint/2010/main" val="3590543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CA"/>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65" charset="0"/>
              </a:defRPr>
            </a:lvl1pPr>
          </a:lstStyle>
          <a:p>
            <a:fld id="{B133EDAD-DFCC-AE48-AB17-C3AAFD0BCFF2}" type="datetimeFigureOut">
              <a:rPr lang="en-US" smtClean="0"/>
              <a:pPr/>
              <a:t>7/22/2023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pitchFamily="-65"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65" charset="0"/>
              </a:defRPr>
            </a:lvl1pPr>
          </a:lstStyle>
          <a:p>
            <a:fld id="{BBBC9723-280E-404A-8734-B9F6019BFEB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fontAlgn="base" hangingPunct="1">
        <a:spcBef>
          <a:spcPct val="0"/>
        </a:spcBef>
        <a:spcAft>
          <a:spcPct val="0"/>
        </a:spcAft>
        <a:defRPr sz="4400" kern="1200">
          <a:solidFill>
            <a:schemeClr val="tx1"/>
          </a:solidFill>
          <a:latin typeface="+mj-lt"/>
          <a:ea typeface="ＭＳ Ｐゴシック" pitchFamily="23" charset="-128"/>
          <a:cs typeface="ＭＳ Ｐゴシック" pitchFamily="23" charset="-128"/>
        </a:defRPr>
      </a:lvl1pPr>
      <a:lvl2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2pPr>
      <a:lvl3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3pPr>
      <a:lvl4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4pPr>
      <a:lvl5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5pPr>
      <a:lvl6pPr marL="4572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6pPr>
      <a:lvl7pPr marL="9144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7pPr>
      <a:lvl8pPr marL="13716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8pPr>
      <a:lvl9pPr marL="18288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9pPr>
    </p:titleStyle>
    <p:bodyStyle>
      <a:lvl1pPr marL="342900" indent="-342900" algn="l" defTabSz="457200" rtl="0" eaLnBrk="1" fontAlgn="base" hangingPunct="1">
        <a:spcBef>
          <a:spcPct val="20000"/>
        </a:spcBef>
        <a:spcAft>
          <a:spcPct val="0"/>
        </a:spcAft>
        <a:buFont typeface="Arial" pitchFamily="-65" charset="0"/>
        <a:buChar char="•"/>
        <a:defRPr sz="3200" kern="1200">
          <a:solidFill>
            <a:schemeClr val="tx1"/>
          </a:solidFill>
          <a:latin typeface="+mn-lt"/>
          <a:ea typeface="ＭＳ Ｐゴシック" pitchFamily="23" charset="-128"/>
          <a:cs typeface="ＭＳ Ｐゴシック" pitchFamily="23" charset="-128"/>
        </a:defRPr>
      </a:lvl1pPr>
      <a:lvl2pPr marL="742950" indent="-285750" algn="l" defTabSz="457200" rtl="0" eaLnBrk="1" fontAlgn="base" hangingPunct="1">
        <a:spcBef>
          <a:spcPct val="20000"/>
        </a:spcBef>
        <a:spcAft>
          <a:spcPct val="0"/>
        </a:spcAft>
        <a:buFont typeface="Arial" pitchFamily="-65" charset="0"/>
        <a:buChar char="–"/>
        <a:defRPr sz="2800" kern="1200">
          <a:solidFill>
            <a:schemeClr val="tx1"/>
          </a:solidFill>
          <a:latin typeface="+mn-lt"/>
          <a:ea typeface="ＭＳ Ｐゴシック" pitchFamily="23" charset="-128"/>
          <a:cs typeface="+mn-cs"/>
        </a:defRPr>
      </a:lvl2pPr>
      <a:lvl3pPr marL="1143000" indent="-228600" algn="l" defTabSz="457200" rtl="0" eaLnBrk="1" fontAlgn="base" hangingPunct="1">
        <a:spcBef>
          <a:spcPct val="20000"/>
        </a:spcBef>
        <a:spcAft>
          <a:spcPct val="0"/>
        </a:spcAft>
        <a:buFont typeface="Arial" pitchFamily="-65" charset="0"/>
        <a:buChar char="•"/>
        <a:defRPr sz="2400" kern="1200">
          <a:solidFill>
            <a:schemeClr val="tx1"/>
          </a:solidFill>
          <a:latin typeface="+mn-lt"/>
          <a:ea typeface="ＭＳ Ｐゴシック" pitchFamily="23" charset="-128"/>
          <a:cs typeface="+mn-cs"/>
        </a:defRPr>
      </a:lvl3pPr>
      <a:lvl4pPr marL="1600200" indent="-228600" algn="l" defTabSz="457200" rtl="0" eaLnBrk="1" fontAlgn="base" hangingPunct="1">
        <a:spcBef>
          <a:spcPct val="20000"/>
        </a:spcBef>
        <a:spcAft>
          <a:spcPct val="0"/>
        </a:spcAft>
        <a:buFont typeface="Arial" pitchFamily="-65" charset="0"/>
        <a:buChar char="–"/>
        <a:defRPr sz="2000" kern="1200">
          <a:solidFill>
            <a:schemeClr val="tx1"/>
          </a:solidFill>
          <a:latin typeface="+mn-lt"/>
          <a:ea typeface="ＭＳ Ｐゴシック" pitchFamily="23" charset="-128"/>
          <a:cs typeface="+mn-cs"/>
        </a:defRPr>
      </a:lvl4pPr>
      <a:lvl5pPr marL="2057400" indent="-228600" algn="l" defTabSz="457200" rtl="0" eaLnBrk="1" fontAlgn="base" hangingPunct="1">
        <a:spcBef>
          <a:spcPct val="20000"/>
        </a:spcBef>
        <a:spcAft>
          <a:spcPct val="0"/>
        </a:spcAft>
        <a:buFont typeface="Arial" pitchFamily="-65" charset="0"/>
        <a:buChar char="»"/>
        <a:defRPr sz="2000" kern="1200">
          <a:solidFill>
            <a:schemeClr val="tx1"/>
          </a:solidFill>
          <a:latin typeface="+mn-lt"/>
          <a:ea typeface="ＭＳ Ｐゴシック" pitchFamily="23"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0040" y="2607047"/>
            <a:ext cx="7772400" cy="1470025"/>
          </a:xfrm>
        </p:spPr>
        <p:txBody>
          <a:bodyPr/>
          <a:lstStyle/>
          <a:p>
            <a:r>
              <a:rPr lang="en-US" sz="3600" dirty="0">
                <a:solidFill>
                  <a:schemeClr val="accent1"/>
                </a:solidFill>
                <a:latin typeface="Arial"/>
                <a:cs typeface="Arial"/>
              </a:rPr>
              <a:t>Biology 341</a:t>
            </a:r>
            <a:br>
              <a:rPr lang="en-US" sz="3600" dirty="0">
                <a:solidFill>
                  <a:schemeClr val="accent1"/>
                </a:solidFill>
                <a:latin typeface="Arial"/>
                <a:cs typeface="Arial"/>
              </a:rPr>
            </a:br>
            <a:r>
              <a:rPr lang="en-US" sz="3600" dirty="0">
                <a:solidFill>
                  <a:schemeClr val="accent1"/>
                </a:solidFill>
                <a:latin typeface="Arial"/>
                <a:cs typeface="Arial"/>
              </a:rPr>
              <a:t>Molecular Genetics</a:t>
            </a:r>
            <a:br>
              <a:rPr lang="en-US" sz="3600" dirty="0">
                <a:solidFill>
                  <a:schemeClr val="accent1"/>
                </a:solidFill>
                <a:latin typeface="Arial"/>
                <a:cs typeface="Arial"/>
              </a:rPr>
            </a:br>
            <a:r>
              <a:rPr lang="en-US" sz="3600" dirty="0">
                <a:solidFill>
                  <a:schemeClr val="accent1"/>
                </a:solidFill>
                <a:latin typeface="Arial"/>
                <a:cs typeface="Arial"/>
              </a:rPr>
              <a:t>Sundays- Wednesdays 1-2</a:t>
            </a:r>
            <a:br>
              <a:rPr lang="en-US" sz="3600" dirty="0">
                <a:solidFill>
                  <a:schemeClr val="accent1"/>
                </a:solidFill>
                <a:latin typeface="Arial"/>
                <a:cs typeface="Arial"/>
              </a:rPr>
            </a:br>
            <a:endParaRPr lang="en-US" sz="3600" dirty="0">
              <a:solidFill>
                <a:schemeClr val="accent1"/>
              </a:solidFill>
              <a:latin typeface="Arial"/>
              <a:cs typeface="Arial"/>
            </a:endParaRPr>
          </a:p>
        </p:txBody>
      </p:sp>
      <p:sp>
        <p:nvSpPr>
          <p:cNvPr id="4" name="Subtitle 2"/>
          <p:cNvSpPr txBox="1">
            <a:spLocks/>
          </p:cNvSpPr>
          <p:nvPr/>
        </p:nvSpPr>
        <p:spPr bwMode="auto">
          <a:xfrm>
            <a:off x="1403648" y="-459432"/>
            <a:ext cx="6400800" cy="1752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defTabSz="457200" rtl="0" eaLnBrk="1" fontAlgn="base" hangingPunct="1">
              <a:spcBef>
                <a:spcPct val="20000"/>
              </a:spcBef>
              <a:spcAft>
                <a:spcPct val="0"/>
              </a:spcAft>
              <a:buFont typeface="Arial" pitchFamily="-65" charset="0"/>
              <a:buNone/>
              <a:defRPr sz="3200" kern="1200">
                <a:solidFill>
                  <a:schemeClr val="tx1">
                    <a:tint val="75000"/>
                  </a:schemeClr>
                </a:solidFill>
                <a:latin typeface="+mn-lt"/>
                <a:ea typeface="ＭＳ Ｐゴシック" pitchFamily="23" charset="-128"/>
                <a:cs typeface="ＭＳ Ｐゴシック" pitchFamily="23" charset="-128"/>
              </a:defRPr>
            </a:lvl1pPr>
            <a:lvl2pPr marL="457200" indent="0" algn="ctr" defTabSz="457200" rtl="0" eaLnBrk="1" fontAlgn="base" hangingPunct="1">
              <a:spcBef>
                <a:spcPct val="20000"/>
              </a:spcBef>
              <a:spcAft>
                <a:spcPct val="0"/>
              </a:spcAft>
              <a:buFont typeface="Arial" pitchFamily="-65" charset="0"/>
              <a:buNone/>
              <a:defRPr sz="2800" kern="1200">
                <a:solidFill>
                  <a:schemeClr val="tx1">
                    <a:tint val="75000"/>
                  </a:schemeClr>
                </a:solidFill>
                <a:latin typeface="+mn-lt"/>
                <a:ea typeface="ＭＳ Ｐゴシック" pitchFamily="23" charset="-128"/>
                <a:cs typeface="+mn-cs"/>
              </a:defRPr>
            </a:lvl2pPr>
            <a:lvl3pPr marL="914400" indent="0" algn="ctr" defTabSz="457200" rtl="0" eaLnBrk="1" fontAlgn="base" hangingPunct="1">
              <a:spcBef>
                <a:spcPct val="20000"/>
              </a:spcBef>
              <a:spcAft>
                <a:spcPct val="0"/>
              </a:spcAft>
              <a:buFont typeface="Arial" pitchFamily="-65" charset="0"/>
              <a:buNone/>
              <a:defRPr sz="2400" kern="1200">
                <a:solidFill>
                  <a:schemeClr val="tx1">
                    <a:tint val="75000"/>
                  </a:schemeClr>
                </a:solidFill>
                <a:latin typeface="+mn-lt"/>
                <a:ea typeface="ＭＳ Ｐゴシック" pitchFamily="23" charset="-128"/>
                <a:cs typeface="+mn-cs"/>
              </a:defRPr>
            </a:lvl3pPr>
            <a:lvl4pPr marL="1371600" indent="0" algn="ctr" defTabSz="457200" rtl="0" eaLnBrk="1" fontAlgn="base" hangingPunct="1">
              <a:spcBef>
                <a:spcPct val="20000"/>
              </a:spcBef>
              <a:spcAft>
                <a:spcPct val="0"/>
              </a:spcAft>
              <a:buFont typeface="Arial" pitchFamily="-65" charset="0"/>
              <a:buNone/>
              <a:defRPr sz="2000" kern="1200">
                <a:solidFill>
                  <a:schemeClr val="tx1">
                    <a:tint val="75000"/>
                  </a:schemeClr>
                </a:solidFill>
                <a:latin typeface="+mn-lt"/>
                <a:ea typeface="ＭＳ Ｐゴシック" pitchFamily="23" charset="-128"/>
                <a:cs typeface="+mn-cs"/>
              </a:defRPr>
            </a:lvl4pPr>
            <a:lvl5pPr marL="1828800" indent="0" algn="ctr" defTabSz="457200" rtl="0" eaLnBrk="1" fontAlgn="base" hangingPunct="1">
              <a:spcBef>
                <a:spcPct val="20000"/>
              </a:spcBef>
              <a:spcAft>
                <a:spcPct val="0"/>
              </a:spcAft>
              <a:buFont typeface="Arial" pitchFamily="-65" charset="0"/>
              <a:buNone/>
              <a:defRPr sz="2000" kern="1200">
                <a:solidFill>
                  <a:schemeClr val="tx1">
                    <a:tint val="75000"/>
                  </a:schemeClr>
                </a:solidFill>
                <a:latin typeface="+mn-lt"/>
                <a:ea typeface="ＭＳ Ｐゴシック" pitchFamily="23" charset="-128"/>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sz="2400" dirty="0">
              <a:solidFill>
                <a:srgbClr val="000000"/>
              </a:solidFill>
              <a:latin typeface="Silom"/>
              <a:cs typeface="Silom"/>
            </a:endParaRPr>
          </a:p>
          <a:p>
            <a:r>
              <a:rPr lang="en-US" sz="2400" dirty="0">
                <a:solidFill>
                  <a:srgbClr val="000000"/>
                </a:solidFill>
                <a:latin typeface="Silom"/>
                <a:cs typeface="Silom"/>
              </a:rPr>
              <a:t> </a:t>
            </a:r>
            <a:r>
              <a:rPr lang="en-US" sz="2400" b="1" dirty="0">
                <a:solidFill>
                  <a:srgbClr val="000000"/>
                </a:solidFill>
                <a:latin typeface="Silom"/>
                <a:cs typeface="Silom"/>
              </a:rPr>
              <a:t>Jordan University of Science and Technology </a:t>
            </a:r>
            <a:endParaRPr lang="en-US" sz="2400" dirty="0">
              <a:solidFill>
                <a:srgbClr val="000000"/>
              </a:solidFill>
              <a:latin typeface="Silom"/>
              <a:cs typeface="Silom"/>
            </a:endParaRPr>
          </a:p>
          <a:p>
            <a:r>
              <a:rPr lang="en-US" sz="2400" b="1" dirty="0">
                <a:solidFill>
                  <a:srgbClr val="000000"/>
                </a:solidFill>
                <a:latin typeface="Silom"/>
                <a:cs typeface="Silom"/>
              </a:rPr>
              <a:t>Department of </a:t>
            </a:r>
            <a:r>
              <a:rPr lang="en-US" sz="2400" b="1" dirty="0" err="1">
                <a:solidFill>
                  <a:srgbClr val="000000"/>
                </a:solidFill>
                <a:latin typeface="Silom"/>
                <a:cs typeface="Silom"/>
              </a:rPr>
              <a:t>Biotec</a:t>
            </a:r>
            <a:r>
              <a:rPr lang="en-US" sz="2400" b="1" dirty="0">
                <a:solidFill>
                  <a:srgbClr val="000000"/>
                </a:solidFill>
                <a:latin typeface="Silom"/>
                <a:cs typeface="Silom"/>
              </a:rPr>
              <a:t>. And Genetic ENG.</a:t>
            </a:r>
            <a:endParaRPr lang="en-US" sz="2400" dirty="0">
              <a:solidFill>
                <a:srgbClr val="000000"/>
              </a:solidFill>
              <a:latin typeface="Silom"/>
              <a:cs typeface="Silom"/>
            </a:endParaRPr>
          </a:p>
          <a:p>
            <a:r>
              <a:rPr lang="en-US" sz="2400" b="1" dirty="0">
                <a:solidFill>
                  <a:srgbClr val="000000"/>
                </a:solidFill>
                <a:latin typeface="Silom"/>
                <a:cs typeface="Silom"/>
              </a:rPr>
              <a:t>First  </a:t>
            </a:r>
            <a:r>
              <a:rPr lang="da-DK" sz="2400" b="1" dirty="0">
                <a:solidFill>
                  <a:srgbClr val="000000"/>
                </a:solidFill>
                <a:latin typeface="Silom"/>
                <a:cs typeface="Silom"/>
              </a:rPr>
              <a:t>semester 2022/2023 </a:t>
            </a:r>
            <a:endParaRPr lang="en-US" sz="2400" dirty="0">
              <a:solidFill>
                <a:srgbClr val="000000"/>
              </a:solidFill>
              <a:latin typeface="Silom"/>
              <a:cs typeface="Silom"/>
            </a:endParaRPr>
          </a:p>
        </p:txBody>
      </p:sp>
      <p:sp>
        <p:nvSpPr>
          <p:cNvPr id="5" name="Rectangle 4"/>
          <p:cNvSpPr/>
          <p:nvPr/>
        </p:nvSpPr>
        <p:spPr>
          <a:xfrm>
            <a:off x="827584" y="5910371"/>
            <a:ext cx="8136904" cy="830997"/>
          </a:xfrm>
          <a:prstGeom prst="rect">
            <a:avLst/>
          </a:prstGeom>
        </p:spPr>
        <p:txBody>
          <a:bodyPr wrap="square">
            <a:spAutoFit/>
          </a:bodyPr>
          <a:lstStyle/>
          <a:p>
            <a:endParaRPr lang="en-US" sz="2400" b="1" dirty="0"/>
          </a:p>
          <a:p>
            <a:r>
              <a:rPr lang="en-GB" sz="2400" b="1" dirty="0" err="1"/>
              <a:t>Dr.</a:t>
            </a:r>
            <a:r>
              <a:rPr lang="en-GB" sz="2400" b="1" dirty="0"/>
              <a:t> </a:t>
            </a:r>
            <a:r>
              <a:rPr lang="en-GB" sz="2400" b="1" dirty="0" err="1"/>
              <a:t>Osamah</a:t>
            </a:r>
            <a:r>
              <a:rPr lang="en-GB" sz="2400" b="1" dirty="0"/>
              <a:t> Batiha Ph1 L1			  </a:t>
            </a:r>
            <a:r>
              <a:rPr lang="en-GB" sz="2400" b="1" dirty="0" err="1"/>
              <a:t>oybatiha</a:t>
            </a:r>
            <a:r>
              <a:rPr lang="en-GB" sz="2400" b="1" dirty="0"/>
              <a:t>@</a:t>
            </a:r>
            <a:r>
              <a:rPr lang="en-CA" sz="2400" b="1" dirty="0" err="1"/>
              <a:t>just.edu.jo</a:t>
            </a:r>
            <a:endParaRPr lang="en-US" sz="2400" b="1" dirty="0"/>
          </a:p>
        </p:txBody>
      </p:sp>
      <p:pic>
        <p:nvPicPr>
          <p:cNvPr id="6" name="Picture 5"/>
          <p:cNvPicPr>
            <a:picLocks noChangeAspect="1"/>
          </p:cNvPicPr>
          <p:nvPr/>
        </p:nvPicPr>
        <p:blipFill>
          <a:blip r:embed="rId3"/>
          <a:stretch>
            <a:fillRect/>
          </a:stretch>
        </p:blipFill>
        <p:spPr>
          <a:xfrm>
            <a:off x="7596336" y="44624"/>
            <a:ext cx="1447800" cy="1346200"/>
          </a:xfrm>
          <a:prstGeom prst="rect">
            <a:avLst/>
          </a:prstGeom>
        </p:spPr>
      </p:pic>
      <p:sp>
        <p:nvSpPr>
          <p:cNvPr id="7" name="Title 1"/>
          <p:cNvSpPr txBox="1">
            <a:spLocks/>
          </p:cNvSpPr>
          <p:nvPr/>
        </p:nvSpPr>
        <p:spPr bwMode="auto">
          <a:xfrm>
            <a:off x="1979712" y="4542879"/>
            <a:ext cx="5231698" cy="1046361"/>
          </a:xfrm>
          <a:prstGeom prst="rect">
            <a:avLst/>
          </a:prstGeom>
          <a:solidFill>
            <a:schemeClr val="accent6">
              <a:lumMod val="20000"/>
              <a:lumOff val="80000"/>
              <a:alpha val="84000"/>
            </a:schemeClr>
          </a:solid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1" fontAlgn="base" hangingPunct="1">
              <a:spcBef>
                <a:spcPct val="0"/>
              </a:spcBef>
              <a:spcAft>
                <a:spcPct val="0"/>
              </a:spcAft>
              <a:defRPr sz="4400" kern="1200">
                <a:solidFill>
                  <a:schemeClr val="tx1"/>
                </a:solidFill>
                <a:latin typeface="+mj-lt"/>
                <a:ea typeface="ＭＳ Ｐゴシック" pitchFamily="23" charset="-128"/>
                <a:cs typeface="ＭＳ Ｐゴシック" pitchFamily="23" charset="-128"/>
              </a:defRPr>
            </a:lvl1pPr>
            <a:lvl2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2pPr>
            <a:lvl3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3pPr>
            <a:lvl4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4pPr>
            <a:lvl5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5pPr>
            <a:lvl6pPr marL="4572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6pPr>
            <a:lvl7pPr marL="9144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7pPr>
            <a:lvl8pPr marL="13716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8pPr>
            <a:lvl9pPr marL="18288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9pPr>
          </a:lstStyle>
          <a:p>
            <a:r>
              <a:rPr lang="en-US" dirty="0">
                <a:solidFill>
                  <a:schemeClr val="accent6">
                    <a:lumMod val="50000"/>
                  </a:schemeClr>
                </a:solidFill>
                <a:latin typeface="Arial"/>
                <a:cs typeface="Arial"/>
              </a:rPr>
              <a:t>Chapter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Number Placeholder 2"/>
          <p:cNvSpPr>
            <a:spLocks noGrp="1"/>
          </p:cNvSpPr>
          <p:nvPr>
            <p:ph type="sldNum" sz="quarter" idx="10"/>
          </p:nvPr>
        </p:nvSpPr>
        <p:spPr bwMode="auto">
          <a:xfrm>
            <a:off x="6553200" y="6491288"/>
            <a:ext cx="2133600" cy="365125"/>
          </a:xfrm>
          <a:noFill/>
          <a:ln>
            <a:miter lim="800000"/>
            <a:headEnd/>
            <a:tailEnd/>
          </a:ln>
        </p:spPr>
        <p:txBody>
          <a:bodyPr/>
          <a:lstStyle/>
          <a:p>
            <a:fld id="{07BD107F-E12F-4D5E-9C7E-965BC5B920A4}" type="slidenum">
              <a:rPr lang="en-US" smtClean="0">
                <a:latin typeface="Helvetica" pitchFamily="34" charset="0"/>
                <a:ea typeface="ＭＳ Ｐゴシック" pitchFamily="34" charset="-128"/>
                <a:cs typeface="Helvetica" pitchFamily="34" charset="0"/>
              </a:rPr>
              <a:pPr/>
              <a:t>2</a:t>
            </a:fld>
            <a:endParaRPr lang="en-US">
              <a:latin typeface="Helvetica" pitchFamily="34" charset="0"/>
              <a:ea typeface="ＭＳ Ｐゴシック" pitchFamily="34" charset="-128"/>
              <a:cs typeface="Helvetica" pitchFamily="34" charset="0"/>
            </a:endParaRPr>
          </a:p>
        </p:txBody>
      </p:sp>
      <p:sp>
        <p:nvSpPr>
          <p:cNvPr id="18435" name="Footer Placeholder 4"/>
          <p:cNvSpPr>
            <a:spLocks noGrp="1"/>
          </p:cNvSpPr>
          <p:nvPr>
            <p:ph type="ftr" sz="quarter" idx="11"/>
          </p:nvPr>
        </p:nvSpPr>
        <p:spPr bwMode="auto">
          <a:xfrm>
            <a:off x="1528763" y="6423025"/>
            <a:ext cx="6088062" cy="365125"/>
          </a:xfrm>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solidFill>
                  <a:srgbClr val="898989"/>
                </a:solidFill>
                <a:latin typeface="Helvetica" pitchFamily="34" charset="0"/>
                <a:ea typeface="ＭＳ Ｐゴシック" pitchFamily="34" charset="-128"/>
                <a:cs typeface="Helvetica" pitchFamily="34" charset="0"/>
              </a:rPr>
              <a:t>Copyright © McGraw-Hill Education. Permission required for reproduction or display</a:t>
            </a:r>
          </a:p>
          <a:p>
            <a:pPr fontAlgn="base">
              <a:spcBef>
                <a:spcPct val="0"/>
              </a:spcBef>
              <a:spcAft>
                <a:spcPct val="0"/>
              </a:spcAft>
            </a:pPr>
            <a:r>
              <a:rPr lang="en-US">
                <a:solidFill>
                  <a:srgbClr val="898989"/>
                </a:solidFill>
                <a:latin typeface="Helvetica" pitchFamily="34" charset="0"/>
                <a:ea typeface="ＭＳ Ｐゴシック" pitchFamily="34" charset="-128"/>
                <a:cs typeface="Helvetica" pitchFamily="34" charset="0"/>
              </a:rPr>
              <a:t>Hartwell et al., 5th ed., Chapter 1</a:t>
            </a:r>
          </a:p>
        </p:txBody>
      </p:sp>
      <p:pic>
        <p:nvPicPr>
          <p:cNvPr id="18436" name="Content Placeholder 9" descr="har25316_0101a.jpg"/>
          <p:cNvPicPr>
            <a:picLocks noGrp="1" noChangeAspect="1"/>
          </p:cNvPicPr>
          <p:nvPr>
            <p:ph idx="1"/>
          </p:nvPr>
        </p:nvPicPr>
        <p:blipFill>
          <a:blip r:embed="rId2"/>
          <a:srcRect/>
          <a:stretch>
            <a:fillRect/>
          </a:stretch>
        </p:blipFill>
        <p:spPr>
          <a:xfrm>
            <a:off x="423863" y="2342926"/>
            <a:ext cx="1890712" cy="1504950"/>
          </a:xfrm>
        </p:spPr>
      </p:pic>
      <p:pic>
        <p:nvPicPr>
          <p:cNvPr id="18437" name="Picture 12" descr="har25316_0101b.jpg"/>
          <p:cNvPicPr>
            <a:picLocks noChangeAspect="1"/>
          </p:cNvPicPr>
          <p:nvPr/>
        </p:nvPicPr>
        <p:blipFill>
          <a:blip r:embed="rId3"/>
          <a:srcRect/>
          <a:stretch>
            <a:fillRect/>
          </a:stretch>
        </p:blipFill>
        <p:spPr bwMode="auto">
          <a:xfrm>
            <a:off x="2493963" y="2342926"/>
            <a:ext cx="1901825" cy="1504950"/>
          </a:xfrm>
          <a:prstGeom prst="rect">
            <a:avLst/>
          </a:prstGeom>
          <a:noFill/>
          <a:ln w="9525">
            <a:noFill/>
            <a:miter lim="800000"/>
            <a:headEnd/>
            <a:tailEnd/>
          </a:ln>
        </p:spPr>
      </p:pic>
      <p:pic>
        <p:nvPicPr>
          <p:cNvPr id="18438" name="Picture 13" descr="har25316_0101c.jpg"/>
          <p:cNvPicPr>
            <a:picLocks noChangeAspect="1"/>
          </p:cNvPicPr>
          <p:nvPr/>
        </p:nvPicPr>
        <p:blipFill>
          <a:blip r:embed="rId4"/>
          <a:srcRect/>
          <a:stretch>
            <a:fillRect/>
          </a:stretch>
        </p:blipFill>
        <p:spPr bwMode="auto">
          <a:xfrm>
            <a:off x="4605338" y="2203226"/>
            <a:ext cx="1924050" cy="1644650"/>
          </a:xfrm>
          <a:prstGeom prst="rect">
            <a:avLst/>
          </a:prstGeom>
          <a:noFill/>
          <a:ln w="9525">
            <a:noFill/>
            <a:miter lim="800000"/>
            <a:headEnd/>
            <a:tailEnd/>
          </a:ln>
        </p:spPr>
      </p:pic>
      <p:pic>
        <p:nvPicPr>
          <p:cNvPr id="18439" name="Picture 14" descr="har25316_0101d.jpg"/>
          <p:cNvPicPr>
            <a:picLocks noChangeAspect="1"/>
          </p:cNvPicPr>
          <p:nvPr/>
        </p:nvPicPr>
        <p:blipFill>
          <a:blip r:embed="rId5"/>
          <a:srcRect/>
          <a:stretch>
            <a:fillRect/>
          </a:stretch>
        </p:blipFill>
        <p:spPr bwMode="auto">
          <a:xfrm>
            <a:off x="6802438" y="2350864"/>
            <a:ext cx="1908175" cy="1497012"/>
          </a:xfrm>
          <a:prstGeom prst="rect">
            <a:avLst/>
          </a:prstGeom>
          <a:noFill/>
          <a:ln w="9525">
            <a:noFill/>
            <a:miter lim="800000"/>
            <a:headEnd/>
            <a:tailEnd/>
          </a:ln>
        </p:spPr>
      </p:pic>
      <p:pic>
        <p:nvPicPr>
          <p:cNvPr id="18440" name="Picture 15" descr="har25316_0101e.jpg"/>
          <p:cNvPicPr>
            <a:picLocks noChangeAspect="1"/>
          </p:cNvPicPr>
          <p:nvPr/>
        </p:nvPicPr>
        <p:blipFill>
          <a:blip r:embed="rId6"/>
          <a:srcRect/>
          <a:stretch>
            <a:fillRect/>
          </a:stretch>
        </p:blipFill>
        <p:spPr bwMode="auto">
          <a:xfrm>
            <a:off x="423863" y="4308251"/>
            <a:ext cx="1901825" cy="1497013"/>
          </a:xfrm>
          <a:prstGeom prst="rect">
            <a:avLst/>
          </a:prstGeom>
          <a:noFill/>
          <a:ln w="9525">
            <a:noFill/>
            <a:miter lim="800000"/>
            <a:headEnd/>
            <a:tailEnd/>
          </a:ln>
        </p:spPr>
      </p:pic>
      <p:pic>
        <p:nvPicPr>
          <p:cNvPr id="18441" name="Picture 16" descr="har25316_0101f.jpg"/>
          <p:cNvPicPr>
            <a:picLocks noChangeAspect="1"/>
          </p:cNvPicPr>
          <p:nvPr/>
        </p:nvPicPr>
        <p:blipFill>
          <a:blip r:embed="rId7"/>
          <a:srcRect/>
          <a:stretch>
            <a:fillRect/>
          </a:stretch>
        </p:blipFill>
        <p:spPr bwMode="auto">
          <a:xfrm>
            <a:off x="2493963" y="4305076"/>
            <a:ext cx="1905000" cy="1500188"/>
          </a:xfrm>
          <a:prstGeom prst="rect">
            <a:avLst/>
          </a:prstGeom>
          <a:noFill/>
          <a:ln w="9525">
            <a:noFill/>
            <a:miter lim="800000"/>
            <a:headEnd/>
            <a:tailEnd/>
          </a:ln>
        </p:spPr>
      </p:pic>
      <p:pic>
        <p:nvPicPr>
          <p:cNvPr id="18442" name="Picture 17" descr="har25316_0101g.jpg"/>
          <p:cNvPicPr>
            <a:picLocks noChangeAspect="1"/>
          </p:cNvPicPr>
          <p:nvPr/>
        </p:nvPicPr>
        <p:blipFill>
          <a:blip r:embed="rId8"/>
          <a:srcRect/>
          <a:stretch>
            <a:fillRect/>
          </a:stretch>
        </p:blipFill>
        <p:spPr bwMode="auto">
          <a:xfrm>
            <a:off x="4610100" y="4159026"/>
            <a:ext cx="1917700" cy="1646238"/>
          </a:xfrm>
          <a:prstGeom prst="rect">
            <a:avLst/>
          </a:prstGeom>
          <a:noFill/>
          <a:ln w="9525">
            <a:noFill/>
            <a:miter lim="800000"/>
            <a:headEnd/>
            <a:tailEnd/>
          </a:ln>
        </p:spPr>
      </p:pic>
      <p:pic>
        <p:nvPicPr>
          <p:cNvPr id="18443" name="Picture 18" descr="har25316_0101h.jpg"/>
          <p:cNvPicPr>
            <a:picLocks noChangeAspect="1"/>
          </p:cNvPicPr>
          <p:nvPr/>
        </p:nvPicPr>
        <p:blipFill>
          <a:blip r:embed="rId9"/>
          <a:srcRect/>
          <a:stretch>
            <a:fillRect/>
          </a:stretch>
        </p:blipFill>
        <p:spPr bwMode="auto">
          <a:xfrm>
            <a:off x="6802438" y="4071714"/>
            <a:ext cx="1916112" cy="1733550"/>
          </a:xfrm>
          <a:prstGeom prst="rect">
            <a:avLst/>
          </a:prstGeom>
          <a:noFill/>
          <a:ln w="9525">
            <a:noFill/>
            <a:miter lim="800000"/>
            <a:headEnd/>
            <a:tailEnd/>
          </a:ln>
        </p:spPr>
      </p:pic>
      <p:sp>
        <p:nvSpPr>
          <p:cNvPr id="13" name="Title 1"/>
          <p:cNvSpPr txBox="1">
            <a:spLocks/>
          </p:cNvSpPr>
          <p:nvPr/>
        </p:nvSpPr>
        <p:spPr bwMode="auto">
          <a:xfrm>
            <a:off x="683568" y="116632"/>
            <a:ext cx="8229600" cy="1143000"/>
          </a:xfrm>
          <a:prstGeom prst="rect">
            <a:avLst/>
          </a:prstGeom>
          <a:gradFill flip="none" rotWithShape="1">
            <a:gsLst>
              <a:gs pos="0">
                <a:srgbClr val="155076"/>
              </a:gs>
              <a:gs pos="50000">
                <a:srgbClr val="14AECA"/>
              </a:gs>
              <a:gs pos="99000">
                <a:srgbClr val="155076"/>
              </a:gs>
            </a:gsLst>
            <a:lin ang="0" scaled="1"/>
            <a:tileRect/>
          </a:gradFill>
          <a:ln w="9525">
            <a:noFill/>
            <a:miter lim="800000"/>
            <a:headEnd/>
            <a:tailEnd/>
          </a:ln>
        </p:spPr>
        <p:txBody>
          <a:bodyPr vert="horz" wrap="square" lIns="91440" tIns="45720" rIns="91440" bIns="45720" numCol="1" anchor="ctr" anchorCtr="0" compatLnSpc="1">
            <a:prstTxWarp prst="textNoShape">
              <a:avLst/>
            </a:prstTxWarp>
            <a:normAutofit/>
          </a:bodyPr>
          <a:lstStyle>
            <a:lvl1pPr algn="ctr" defTabSz="457200" rtl="0" eaLnBrk="1" fontAlgn="base" hangingPunct="1">
              <a:spcBef>
                <a:spcPct val="0"/>
              </a:spcBef>
              <a:spcAft>
                <a:spcPct val="0"/>
              </a:spcAft>
              <a:defRPr sz="2800" b="1" kern="1200">
                <a:solidFill>
                  <a:schemeClr val="bg1"/>
                </a:solidFill>
                <a:effectLst>
                  <a:outerShdw blurRad="50800" dist="38100" dir="2700000" algn="tl" rotWithShape="0">
                    <a:srgbClr val="000000">
                      <a:alpha val="80000"/>
                    </a:srgbClr>
                  </a:outerShdw>
                </a:effectLst>
                <a:latin typeface="Helvetica"/>
                <a:ea typeface="ＭＳ Ｐゴシック" pitchFamily="23" charset="-128"/>
                <a:cs typeface="Helvetica"/>
              </a:defRPr>
            </a:lvl1pPr>
            <a:lvl2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2pPr>
            <a:lvl3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3pPr>
            <a:lvl4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4pPr>
            <a:lvl5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5pPr>
            <a:lvl6pPr marL="4572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6pPr>
            <a:lvl7pPr marL="9144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7pPr>
            <a:lvl8pPr marL="13716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8pPr>
            <a:lvl9pPr marL="18288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9pPr>
          </a:lstStyle>
          <a:p>
            <a:r>
              <a:rPr lang="en-US" dirty="0">
                <a:effectLst>
                  <a:outerShdw blurRad="38100" dist="38100" dir="2700000" algn="tl">
                    <a:srgbClr val="000000"/>
                  </a:outerShdw>
                </a:effectLst>
                <a:latin typeface="Helvetica" charset="0"/>
                <a:ea typeface="ＭＳ Ｐゴシック" charset="0"/>
                <a:cs typeface="Helvetica" charset="0"/>
              </a:rPr>
              <a:t>The biological information in DNA generates </a:t>
            </a:r>
            <a:br>
              <a:rPr lang="en-US" dirty="0">
                <a:effectLst>
                  <a:outerShdw blurRad="38100" dist="38100" dir="2700000" algn="tl">
                    <a:srgbClr val="000000"/>
                  </a:outerShdw>
                </a:effectLst>
                <a:latin typeface="Helvetica" charset="0"/>
                <a:ea typeface="ＭＳ Ｐゴシック" charset="0"/>
                <a:cs typeface="Helvetica" charset="0"/>
              </a:rPr>
            </a:br>
            <a:r>
              <a:rPr lang="en-US" dirty="0">
                <a:effectLst>
                  <a:outerShdw blurRad="38100" dist="38100" dir="2700000" algn="tl">
                    <a:srgbClr val="000000"/>
                  </a:outerShdw>
                </a:effectLst>
                <a:latin typeface="Helvetica" charset="0"/>
                <a:ea typeface="ＭＳ Ｐゴシック" charset="0"/>
                <a:cs typeface="Helvetica" charset="0"/>
              </a:rPr>
              <a:t>an enormous diversity of living organisms</a:t>
            </a:r>
            <a:endParaRPr lang="en-US" dirty="0"/>
          </a:p>
        </p:txBody>
      </p:sp>
    </p:spTree>
    <p:extLst>
      <p:ext uri="{BB962C8B-B14F-4D97-AF65-F5344CB8AC3E}">
        <p14:creationId xmlns:p14="http://schemas.microsoft.com/office/powerpoint/2010/main" val="713278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52400" y="538163"/>
            <a:ext cx="8534400" cy="503237"/>
          </a:xfrm>
        </p:spPr>
        <p:txBody>
          <a:bodyPr>
            <a:noAutofit/>
          </a:bodyPr>
          <a:lstStyle/>
          <a:p>
            <a:pPr eaLnBrk="1" hangingPunct="1"/>
            <a:r>
              <a:rPr lang="en-US" dirty="0">
                <a:latin typeface="Times New Roman" charset="0"/>
                <a:ea typeface="ヒラギノ角ゴ Pro W3" charset="0"/>
              </a:rPr>
              <a:t>Studying genetics</a:t>
            </a:r>
          </a:p>
        </p:txBody>
      </p:sp>
      <p:sp>
        <p:nvSpPr>
          <p:cNvPr id="4099" name="Rectangle 3"/>
          <p:cNvSpPr>
            <a:spLocks noGrp="1" noChangeArrowheads="1"/>
          </p:cNvSpPr>
          <p:nvPr>
            <p:ph type="body" idx="1"/>
          </p:nvPr>
        </p:nvSpPr>
        <p:spPr>
          <a:xfrm>
            <a:off x="366588" y="1371600"/>
            <a:ext cx="8597900" cy="5194300"/>
          </a:xfrm>
        </p:spPr>
        <p:txBody>
          <a:bodyPr/>
          <a:lstStyle/>
          <a:p>
            <a:pPr algn="just" eaLnBrk="1" hangingPunct="1"/>
            <a:r>
              <a:rPr lang="en-US" sz="2400" dirty="0">
                <a:latin typeface="Arial" charset="0"/>
                <a:ea typeface="ヒラギノ角ゴ Pro W3" charset="0"/>
              </a:rPr>
              <a:t>Living organisms are distinguished by their ability to reproduce their own kind</a:t>
            </a:r>
          </a:p>
          <a:p>
            <a:pPr eaLnBrk="1" hangingPunct="1"/>
            <a:r>
              <a:rPr lang="en-US" sz="2400" b="1" dirty="0">
                <a:latin typeface="Arial" charset="0"/>
                <a:ea typeface="ヒラギノ角ゴ Pro W3" charset="0"/>
              </a:rPr>
              <a:t>Genetics </a:t>
            </a:r>
            <a:r>
              <a:rPr lang="en-US" sz="2400" dirty="0">
                <a:latin typeface="Arial" charset="0"/>
                <a:ea typeface="ヒラギノ角ゴ Pro W3" charset="0"/>
              </a:rPr>
              <a:t>is the scientific study of heredity and variation</a:t>
            </a:r>
          </a:p>
          <a:p>
            <a:pPr eaLnBrk="1" hangingPunct="1"/>
            <a:r>
              <a:rPr lang="en-US" sz="2400" b="1" dirty="0">
                <a:latin typeface="Arial" charset="0"/>
                <a:ea typeface="ヒラギノ角ゴ Pro W3" charset="0"/>
              </a:rPr>
              <a:t>Heredity </a:t>
            </a:r>
            <a:r>
              <a:rPr lang="en-US" sz="2400" dirty="0">
                <a:latin typeface="Arial" charset="0"/>
                <a:ea typeface="ヒラギノ角ゴ Pro W3" charset="0"/>
              </a:rPr>
              <a:t>is the transmission of traits from one generation to the next</a:t>
            </a:r>
          </a:p>
          <a:p>
            <a:pPr eaLnBrk="1" hangingPunct="1"/>
            <a:r>
              <a:rPr lang="en-US" sz="2400" b="1" dirty="0">
                <a:latin typeface="Arial" charset="0"/>
                <a:ea typeface="ヒラギノ角ゴ Pro W3" charset="0"/>
              </a:rPr>
              <a:t>Variation </a:t>
            </a:r>
            <a:r>
              <a:rPr lang="en-US" sz="2400" dirty="0">
                <a:latin typeface="Arial" charset="0"/>
                <a:ea typeface="ヒラギノ角ゴ Pro W3" charset="0"/>
              </a:rPr>
              <a:t>is demonstrated by the differences in appearance that offspring show from parents and siblings</a:t>
            </a:r>
          </a:p>
        </p:txBody>
      </p:sp>
      <p:grpSp>
        <p:nvGrpSpPr>
          <p:cNvPr id="4100" name="Group 7"/>
          <p:cNvGrpSpPr>
            <a:grpSpLocks/>
          </p:cNvGrpSpPr>
          <p:nvPr/>
        </p:nvGrpSpPr>
        <p:grpSpPr bwMode="auto">
          <a:xfrm>
            <a:off x="0" y="6553200"/>
            <a:ext cx="9144000" cy="304800"/>
            <a:chOff x="0" y="4128"/>
            <a:chExt cx="5760" cy="192"/>
          </a:xfrm>
        </p:grpSpPr>
        <p:sp>
          <p:nvSpPr>
            <p:cNvPr id="4102" name="Rectangle 8"/>
            <p:cNvSpPr>
              <a:spLocks noChangeArrowheads="1"/>
            </p:cNvSpPr>
            <p:nvPr/>
          </p:nvSpPr>
          <p:spPr bwMode="auto">
            <a:xfrm>
              <a:off x="0" y="4128"/>
              <a:ext cx="5760" cy="192"/>
            </a:xfrm>
            <a:prstGeom prst="rect">
              <a:avLst/>
            </a:prstGeom>
            <a:solidFill>
              <a:srgbClr val="FFBA2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103" name="Date Placeholder 3"/>
            <p:cNvSpPr>
              <a:spLocks/>
            </p:cNvSpPr>
            <p:nvPr/>
          </p:nvSpPr>
          <p:spPr bwMode="auto">
            <a:xfrm>
              <a:off x="96" y="4160"/>
              <a:ext cx="14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r>
                <a:rPr lang="en-US" sz="1200">
                  <a:latin typeface="Times New Roman" charset="0"/>
                  <a:cs typeface="Times New Roman" charset="0"/>
                </a:rPr>
                <a:t>© 2011 Pearson Education, Inc.</a:t>
              </a:r>
            </a:p>
          </p:txBody>
        </p:sp>
      </p:grpSp>
    </p:spTree>
    <p:extLst>
      <p:ext uri="{BB962C8B-B14F-4D97-AF65-F5344CB8AC3E}">
        <p14:creationId xmlns:p14="http://schemas.microsoft.com/office/powerpoint/2010/main" val="1262159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milestones in genetics</a:t>
            </a:r>
          </a:p>
        </p:txBody>
      </p:sp>
      <p:sp>
        <p:nvSpPr>
          <p:cNvPr id="3" name="Content Placeholder 2"/>
          <p:cNvSpPr>
            <a:spLocks noGrp="1"/>
          </p:cNvSpPr>
          <p:nvPr>
            <p:ph idx="1"/>
          </p:nvPr>
        </p:nvSpPr>
        <p:spPr>
          <a:xfrm>
            <a:off x="457200" y="1960835"/>
            <a:ext cx="8229600" cy="4708525"/>
          </a:xfrm>
        </p:spPr>
        <p:txBody>
          <a:bodyPr/>
          <a:lstStyle/>
          <a:p>
            <a:r>
              <a:rPr lang="en-US" sz="2400" dirty="0"/>
              <a:t>Mendel – basic laws of inheritance – 1865</a:t>
            </a:r>
          </a:p>
          <a:p>
            <a:endParaRPr lang="en-US" sz="2400" dirty="0"/>
          </a:p>
          <a:p>
            <a:r>
              <a:rPr lang="en-US" sz="2400" dirty="0"/>
              <a:t>Watson and Crick – structure of DNA – 1953</a:t>
            </a:r>
          </a:p>
          <a:p>
            <a:endParaRPr lang="en-US" sz="2400" dirty="0"/>
          </a:p>
          <a:p>
            <a:r>
              <a:rPr lang="en-US" sz="2400" dirty="0"/>
              <a:t>Human Genome Project and Celera – sequence and annotation of human genome - 2003</a:t>
            </a:r>
          </a:p>
        </p:txBody>
      </p:sp>
    </p:spTree>
    <p:extLst>
      <p:ext uri="{BB962C8B-B14F-4D97-AF65-F5344CB8AC3E}">
        <p14:creationId xmlns:p14="http://schemas.microsoft.com/office/powerpoint/2010/main" val="61460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685800" y="609600"/>
            <a:ext cx="7772400" cy="1143000"/>
          </a:xfrm>
        </p:spPr>
        <p:txBody>
          <a:bodyPr/>
          <a:lstStyle/>
          <a:p>
            <a:pPr eaLnBrk="1" hangingPunct="1">
              <a:lnSpc>
                <a:spcPct val="100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rgbClr val="0070C0"/>
                </a:solidFill>
                <a:latin typeface="Helvetica" charset="0"/>
                <a:ea typeface="ＭＳ Ｐゴシック" charset="0"/>
              </a:rPr>
              <a:t>What is a Gene?</a:t>
            </a:r>
          </a:p>
        </p:txBody>
      </p:sp>
      <p:sp>
        <p:nvSpPr>
          <p:cNvPr id="6147" name="Rectangle 2"/>
          <p:cNvSpPr>
            <a:spLocks noGrp="1" noChangeArrowheads="1"/>
          </p:cNvSpPr>
          <p:nvPr>
            <p:ph type="body" sz="half" idx="2"/>
          </p:nvPr>
        </p:nvSpPr>
        <p:spPr>
          <a:xfrm>
            <a:off x="4267200" y="1981200"/>
            <a:ext cx="4572000" cy="4114800"/>
          </a:xfrm>
        </p:spPr>
        <p:txBody>
          <a:bodyPr/>
          <a:lstStyle/>
          <a:p>
            <a:pPr eaLnBrk="1" hangingPunct="1">
              <a:lnSpc>
                <a:spcPct val="90000"/>
              </a:lnSpc>
              <a:spcBef>
                <a:spcPts val="5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a:solidFill>
                  <a:schemeClr val="tx1"/>
                </a:solidFill>
                <a:latin typeface="Helvetica" charset="0"/>
                <a:ea typeface="ＭＳ Ｐゴシック" charset="0"/>
              </a:rPr>
              <a:t>Genes are made of </a:t>
            </a:r>
            <a:r>
              <a:rPr lang="en-GB" sz="2000" b="1">
                <a:solidFill>
                  <a:schemeClr val="tx1"/>
                </a:solidFill>
                <a:latin typeface="Helvetica" charset="0"/>
                <a:ea typeface="ＭＳ Ｐゴシック" charset="0"/>
              </a:rPr>
              <a:t>nucleic acids</a:t>
            </a:r>
          </a:p>
          <a:p>
            <a:pPr eaLnBrk="1" hangingPunct="1">
              <a:lnSpc>
                <a:spcPct val="90000"/>
              </a:lnSpc>
              <a:spcBef>
                <a:spcPts val="5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a:solidFill>
                  <a:schemeClr val="tx1"/>
                </a:solidFill>
                <a:latin typeface="Helvetica" charset="0"/>
                <a:ea typeface="ＭＳ Ｐゴシック" charset="0"/>
              </a:rPr>
              <a:t>Nucleic acids are made of building blocks called </a:t>
            </a:r>
            <a:r>
              <a:rPr lang="en-GB" sz="2000" b="1">
                <a:solidFill>
                  <a:schemeClr val="tx1"/>
                </a:solidFill>
                <a:latin typeface="Helvetica" charset="0"/>
                <a:ea typeface="ＭＳ Ｐゴシック" charset="0"/>
              </a:rPr>
              <a:t>nucleotides</a:t>
            </a:r>
          </a:p>
          <a:p>
            <a:pPr eaLnBrk="1" hangingPunct="1">
              <a:lnSpc>
                <a:spcPct val="90000"/>
              </a:lnSpc>
              <a:spcBef>
                <a:spcPts val="5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a:solidFill>
                  <a:schemeClr val="tx1"/>
                </a:solidFill>
                <a:latin typeface="Helvetica" charset="0"/>
                <a:ea typeface="ＭＳ Ｐゴシック" charset="0"/>
              </a:rPr>
              <a:t>Nucleotides have three components</a:t>
            </a:r>
          </a:p>
          <a:p>
            <a:pPr lvl="1" eaLnBrk="1" hangingPunct="1">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800">
                <a:solidFill>
                  <a:schemeClr val="tx1"/>
                </a:solidFill>
                <a:latin typeface="Helvetica" charset="0"/>
                <a:ea typeface="ＭＳ Ｐゴシック" charset="0"/>
              </a:rPr>
              <a:t>Sugar molecule (ribose or deoxyribose)</a:t>
            </a:r>
          </a:p>
          <a:p>
            <a:pPr lvl="1" eaLnBrk="1" hangingPunct="1">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800">
                <a:solidFill>
                  <a:schemeClr val="tx1"/>
                </a:solidFill>
                <a:latin typeface="Helvetica" charset="0"/>
                <a:ea typeface="ＭＳ Ｐゴシック" charset="0"/>
              </a:rPr>
              <a:t>Phosphate molecule</a:t>
            </a:r>
          </a:p>
          <a:p>
            <a:pPr lvl="1" eaLnBrk="1" hangingPunct="1">
              <a:lnSpc>
                <a:spcPct val="90000"/>
              </a:lnSpc>
              <a:spcBef>
                <a:spcPts val="45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800">
                <a:solidFill>
                  <a:schemeClr val="tx1"/>
                </a:solidFill>
                <a:latin typeface="Helvetica" charset="0"/>
                <a:ea typeface="ＭＳ Ｐゴシック" charset="0"/>
              </a:rPr>
              <a:t>Nitrogen-containing molecule (adenine, guanine, cytosine, thymine, uracil)</a:t>
            </a:r>
          </a:p>
          <a:p>
            <a:pPr eaLnBrk="1" hangingPunct="1">
              <a:lnSpc>
                <a:spcPct val="90000"/>
              </a:lnSpc>
              <a:spcBef>
                <a:spcPts val="5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a:solidFill>
                  <a:schemeClr val="tx1"/>
                </a:solidFill>
                <a:latin typeface="Helvetica" charset="0"/>
                <a:ea typeface="ＭＳ Ｐゴシック" charset="0"/>
              </a:rPr>
              <a:t>RNA is ribonucleic acid</a:t>
            </a:r>
          </a:p>
          <a:p>
            <a:pPr eaLnBrk="1" hangingPunct="1">
              <a:lnSpc>
                <a:spcPct val="90000"/>
              </a:lnSpc>
              <a:spcBef>
                <a:spcPts val="5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a:solidFill>
                  <a:schemeClr val="tx1"/>
                </a:solidFill>
                <a:latin typeface="Helvetica" charset="0"/>
                <a:ea typeface="ＭＳ Ｐゴシック" charset="0"/>
              </a:rPr>
              <a:t>DNA is deoxyribonucleic acid</a:t>
            </a:r>
          </a:p>
        </p:txBody>
      </p:sp>
      <p:pic>
        <p:nvPicPr>
          <p:cNvPr id="6149" name="Picture 2" descr="snu6_fig_01_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3327400"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75966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4" descr="14_04Alleles-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3" y="1611313"/>
            <a:ext cx="8548687" cy="363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ext Box 5"/>
          <p:cNvSpPr txBox="1">
            <a:spLocks noChangeArrowheads="1"/>
          </p:cNvSpPr>
          <p:nvPr/>
        </p:nvSpPr>
        <p:spPr bwMode="auto">
          <a:xfrm>
            <a:off x="4030663" y="1624013"/>
            <a:ext cx="327025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nSpc>
                <a:spcPct val="90000"/>
              </a:lnSpc>
            </a:pPr>
            <a:r>
              <a:rPr lang="en-US" sz="2100" b="1"/>
              <a:t>Allele for purple flowers</a:t>
            </a:r>
          </a:p>
        </p:txBody>
      </p:sp>
      <p:sp>
        <p:nvSpPr>
          <p:cNvPr id="24581" name="Text Box 6"/>
          <p:cNvSpPr txBox="1">
            <a:spLocks noChangeArrowheads="1"/>
          </p:cNvSpPr>
          <p:nvPr/>
        </p:nvSpPr>
        <p:spPr bwMode="auto">
          <a:xfrm>
            <a:off x="2012950" y="3138488"/>
            <a:ext cx="354806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nSpc>
                <a:spcPct val="90000"/>
              </a:lnSpc>
            </a:pPr>
            <a:r>
              <a:rPr lang="en-US" sz="2100" b="1"/>
              <a:t>Locus for flower-color gene</a:t>
            </a:r>
          </a:p>
        </p:txBody>
      </p:sp>
      <p:sp>
        <p:nvSpPr>
          <p:cNvPr id="24582" name="Text Box 7"/>
          <p:cNvSpPr txBox="1">
            <a:spLocks noChangeArrowheads="1"/>
          </p:cNvSpPr>
          <p:nvPr/>
        </p:nvSpPr>
        <p:spPr bwMode="auto">
          <a:xfrm>
            <a:off x="4129088" y="4818063"/>
            <a:ext cx="327025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nSpc>
                <a:spcPct val="90000"/>
              </a:lnSpc>
            </a:pPr>
            <a:r>
              <a:rPr lang="en-US" sz="2100" b="1"/>
              <a:t>Allele for white flowers</a:t>
            </a:r>
          </a:p>
        </p:txBody>
      </p:sp>
      <p:sp>
        <p:nvSpPr>
          <p:cNvPr id="24583" name="Text Box 8"/>
          <p:cNvSpPr txBox="1">
            <a:spLocks noChangeArrowheads="1"/>
          </p:cNvSpPr>
          <p:nvPr/>
        </p:nvSpPr>
        <p:spPr bwMode="auto">
          <a:xfrm>
            <a:off x="6959600" y="2862263"/>
            <a:ext cx="1893888"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nSpc>
                <a:spcPct val="90000"/>
              </a:lnSpc>
            </a:pPr>
            <a:r>
              <a:rPr lang="en-US" sz="2100" b="1"/>
              <a:t>Pair of</a:t>
            </a:r>
            <a:br>
              <a:rPr lang="en-US" sz="2100" b="1"/>
            </a:br>
            <a:r>
              <a:rPr lang="en-US" sz="2100" b="1"/>
              <a:t>homologous</a:t>
            </a:r>
            <a:br>
              <a:rPr lang="en-US" sz="2100" b="1"/>
            </a:br>
            <a:r>
              <a:rPr lang="en-US" sz="2100" b="1"/>
              <a:t>chromosomes</a:t>
            </a:r>
          </a:p>
        </p:txBody>
      </p:sp>
      <p:sp>
        <p:nvSpPr>
          <p:cNvPr id="24584" name="Line 9"/>
          <p:cNvSpPr>
            <a:spLocks noChangeShapeType="1"/>
          </p:cNvSpPr>
          <p:nvPr/>
        </p:nvSpPr>
        <p:spPr bwMode="auto">
          <a:xfrm>
            <a:off x="5556250" y="1944688"/>
            <a:ext cx="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5" name="Line 10"/>
          <p:cNvSpPr>
            <a:spLocks noChangeShapeType="1"/>
          </p:cNvSpPr>
          <p:nvPr/>
        </p:nvSpPr>
        <p:spPr bwMode="auto">
          <a:xfrm flipH="1">
            <a:off x="4986338" y="2790825"/>
            <a:ext cx="555625" cy="3175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6" name="Line 11"/>
          <p:cNvSpPr>
            <a:spLocks noChangeShapeType="1"/>
          </p:cNvSpPr>
          <p:nvPr/>
        </p:nvSpPr>
        <p:spPr bwMode="auto">
          <a:xfrm>
            <a:off x="5000625" y="3479800"/>
            <a:ext cx="528638" cy="303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7" name="Line 12"/>
          <p:cNvSpPr>
            <a:spLocks noChangeShapeType="1"/>
          </p:cNvSpPr>
          <p:nvPr/>
        </p:nvSpPr>
        <p:spPr bwMode="auto">
          <a:xfrm>
            <a:off x="5556250" y="4378325"/>
            <a:ext cx="0" cy="396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8" name="AutoShape 13"/>
          <p:cNvSpPr>
            <a:spLocks/>
          </p:cNvSpPr>
          <p:nvPr/>
        </p:nvSpPr>
        <p:spPr bwMode="auto">
          <a:xfrm>
            <a:off x="6627813" y="2089150"/>
            <a:ext cx="231775" cy="2436813"/>
          </a:xfrm>
          <a:prstGeom prst="rightBrace">
            <a:avLst>
              <a:gd name="adj1" fmla="val 87614"/>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3263848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457200" y="228600"/>
            <a:ext cx="8229600" cy="1143000"/>
          </a:xfrm>
        </p:spPr>
        <p:txBody>
          <a:bodyPr/>
          <a:lstStyle/>
          <a:p>
            <a:pPr eaLnBrk="1" hangingPunct="1"/>
            <a:r>
              <a:rPr lang="en-US">
                <a:solidFill>
                  <a:srgbClr val="0000FF"/>
                </a:solidFill>
                <a:latin typeface="Arial" charset="0"/>
              </a:rPr>
              <a:t>Meiosis</a:t>
            </a:r>
          </a:p>
        </p:txBody>
      </p:sp>
      <p:pic>
        <p:nvPicPr>
          <p:cNvPr id="10243" name="Picture 2" descr="lew25278_03_03.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39875"/>
            <a:ext cx="8229600" cy="44799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7" name="Title 1"/>
          <p:cNvSpPr txBox="1">
            <a:spLocks/>
          </p:cNvSpPr>
          <p:nvPr/>
        </p:nvSpPr>
        <p:spPr bwMode="auto">
          <a:xfrm>
            <a:off x="381000" y="6096000"/>
            <a:ext cx="1219200" cy="344488"/>
          </a:xfrm>
          <a:prstGeom prst="rect">
            <a:avLst/>
          </a:prstGeom>
          <a:noFill/>
          <a:ln w="9525">
            <a:noFill/>
            <a:miter lim="800000"/>
            <a:headEnd/>
            <a:tailEnd/>
          </a:ln>
        </p:spPr>
        <p:txBody>
          <a:bodyPr lIns="91429" tIns="45715" rIns="91429" bIns="45715" anchor="ctr"/>
          <a:lstStyle/>
          <a:p>
            <a:pPr>
              <a:defRPr/>
            </a:pPr>
            <a:r>
              <a:rPr lang="en-US" sz="1600" b="1" kern="0" dirty="0">
                <a:solidFill>
                  <a:srgbClr val="0000FF"/>
                </a:solidFill>
                <a:latin typeface="Arial"/>
                <a:ea typeface="+mj-ea"/>
                <a:cs typeface="+mj-cs"/>
                <a:sym typeface="Arial" charset="0"/>
              </a:rPr>
              <a:t>Figure 3.3</a:t>
            </a:r>
          </a:p>
        </p:txBody>
      </p:sp>
    </p:spTree>
    <p:extLst>
      <p:ext uri="{BB962C8B-B14F-4D97-AF65-F5344CB8AC3E}">
        <p14:creationId xmlns:p14="http://schemas.microsoft.com/office/powerpoint/2010/main" val="3311431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Footer Placeholder 3"/>
          <p:cNvSpPr>
            <a:spLocks noGrp="1"/>
          </p:cNvSpPr>
          <p:nvPr>
            <p:ph type="ftr" sz="quarter" idx="10"/>
          </p:nvPr>
        </p:nvSpPr>
        <p:spPr bwMode="auto">
          <a:noFill/>
          <a:ln>
            <a:miter lim="800000"/>
            <a:headEnd/>
            <a:tailEnd/>
          </a:ln>
        </p:spPr>
        <p:txBody>
          <a:bodyPr/>
          <a:lstStyle/>
          <a:p>
            <a:r>
              <a:rPr lang="en-US"/>
              <a:t>Copyright © The McGraw-Hill Companies, Inc.  Permission required to reproduce or display Hartwell et al., 4th ed., Chapter 6</a:t>
            </a:r>
          </a:p>
        </p:txBody>
      </p:sp>
      <p:sp>
        <p:nvSpPr>
          <p:cNvPr id="46085" name="Slide Number Placeholder 4"/>
          <p:cNvSpPr>
            <a:spLocks noGrp="1"/>
          </p:cNvSpPr>
          <p:nvPr>
            <p:ph type="sldNum" sz="quarter" idx="11"/>
          </p:nvPr>
        </p:nvSpPr>
        <p:spPr bwMode="auto">
          <a:noFill/>
          <a:ln>
            <a:miter lim="800000"/>
            <a:headEnd/>
            <a:tailEnd/>
          </a:ln>
        </p:spPr>
        <p:txBody>
          <a:bodyPr/>
          <a:lstStyle/>
          <a:p>
            <a:fld id="{B1D2FD81-4E89-3C46-B6F1-7CF21C05229A}" type="slidenum">
              <a:rPr lang="en-US"/>
              <a:pPr/>
              <a:t>8</a:t>
            </a:fld>
            <a:endParaRPr lang="en-US"/>
          </a:p>
        </p:txBody>
      </p:sp>
      <p:sp>
        <p:nvSpPr>
          <p:cNvPr id="46087" name="TextBox 6"/>
          <p:cNvSpPr txBox="1">
            <a:spLocks noChangeArrowheads="1"/>
          </p:cNvSpPr>
          <p:nvPr/>
        </p:nvSpPr>
        <p:spPr bwMode="auto">
          <a:xfrm>
            <a:off x="7310438" y="6099175"/>
            <a:ext cx="1538287" cy="307975"/>
          </a:xfrm>
          <a:prstGeom prst="rect">
            <a:avLst/>
          </a:prstGeom>
          <a:noFill/>
          <a:ln w="9525">
            <a:noFill/>
            <a:miter lim="800000"/>
            <a:headEnd/>
            <a:tailEnd/>
          </a:ln>
        </p:spPr>
        <p:txBody>
          <a:bodyPr wrap="none">
            <a:prstTxWarp prst="textNoShape">
              <a:avLst/>
            </a:prstTxWarp>
            <a:spAutoFit/>
          </a:bodyPr>
          <a:lstStyle/>
          <a:p>
            <a:r>
              <a:rPr lang="en-US" sz="1400">
                <a:latin typeface="Helvetica" pitchFamily="-65" charset="0"/>
                <a:ea typeface="Helvetica" pitchFamily="-65" charset="0"/>
                <a:cs typeface="Helvetica" pitchFamily="-65" charset="0"/>
              </a:rPr>
              <a:t>Feature Fig. 6.11</a:t>
            </a:r>
          </a:p>
        </p:txBody>
      </p:sp>
      <p:pic>
        <p:nvPicPr>
          <p:cNvPr id="46088" name="Picture 8" descr="har2526X_06_11b"/>
          <p:cNvPicPr>
            <a:picLocks noChangeAspect="1" noChangeArrowheads="1"/>
          </p:cNvPicPr>
          <p:nvPr/>
        </p:nvPicPr>
        <p:blipFill>
          <a:blip r:embed="rId3"/>
          <a:srcRect/>
          <a:stretch>
            <a:fillRect/>
          </a:stretch>
        </p:blipFill>
        <p:spPr bwMode="auto">
          <a:xfrm>
            <a:off x="4087813" y="1119782"/>
            <a:ext cx="1924347" cy="4841281"/>
          </a:xfrm>
          <a:prstGeom prst="rect">
            <a:avLst/>
          </a:prstGeom>
          <a:noFill/>
        </p:spPr>
      </p:pic>
      <p:pic>
        <p:nvPicPr>
          <p:cNvPr id="46089" name="Picture 9" descr="har2526X_06_11c"/>
          <p:cNvPicPr>
            <a:picLocks noChangeAspect="1" noChangeArrowheads="1"/>
          </p:cNvPicPr>
          <p:nvPr/>
        </p:nvPicPr>
        <p:blipFill>
          <a:blip r:embed="rId4"/>
          <a:srcRect/>
          <a:stretch>
            <a:fillRect/>
          </a:stretch>
        </p:blipFill>
        <p:spPr bwMode="auto">
          <a:xfrm>
            <a:off x="6332538" y="1472460"/>
            <a:ext cx="2127894" cy="4620836"/>
          </a:xfrm>
          <a:prstGeom prst="rect">
            <a:avLst/>
          </a:prstGeom>
          <a:noFill/>
        </p:spPr>
      </p:pic>
      <p:pic>
        <p:nvPicPr>
          <p:cNvPr id="10" name="Picture 7" descr="Ch1_Fig2.tiff"/>
          <p:cNvPicPr>
            <a:picLocks noChangeAspect="1"/>
          </p:cNvPicPr>
          <p:nvPr/>
        </p:nvPicPr>
        <p:blipFill>
          <a:blip r:embed="rId5">
            <a:extLst>
              <a:ext uri="{28A0092B-C50C-407E-A947-70E740481C1C}">
                <a14:useLocalDpi xmlns:a14="http://schemas.microsoft.com/office/drawing/2010/main" val="0"/>
              </a:ext>
            </a:extLst>
          </a:blip>
          <a:srcRect l="12892" t="44591" r="11050" b="861"/>
          <a:stretch>
            <a:fillRect/>
          </a:stretch>
        </p:blipFill>
        <p:spPr bwMode="auto">
          <a:xfrm>
            <a:off x="306388" y="1916832"/>
            <a:ext cx="3781425"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critical functions of DNA</a:t>
            </a:r>
          </a:p>
        </p:txBody>
      </p:sp>
      <p:sp>
        <p:nvSpPr>
          <p:cNvPr id="3" name="Content Placeholder 2"/>
          <p:cNvSpPr>
            <a:spLocks noGrp="1"/>
          </p:cNvSpPr>
          <p:nvPr>
            <p:ph idx="1"/>
          </p:nvPr>
        </p:nvSpPr>
        <p:spPr>
          <a:xfrm>
            <a:off x="457200" y="1744811"/>
            <a:ext cx="8229600" cy="4708525"/>
          </a:xfrm>
        </p:spPr>
        <p:txBody>
          <a:bodyPr/>
          <a:lstStyle/>
          <a:p>
            <a:pPr marL="457200" indent="-457200">
              <a:buFont typeface="+mj-lt"/>
              <a:buAutoNum type="arabicPeriod"/>
            </a:pPr>
            <a:r>
              <a:rPr lang="en-US" sz="2000" dirty="0"/>
              <a:t>Replication – necessary to ensure that genome is replicated each cell division and each generation - heredity</a:t>
            </a:r>
          </a:p>
          <a:p>
            <a:pPr marL="457200" indent="-457200">
              <a:buFont typeface="+mj-lt"/>
              <a:buAutoNum type="arabicPeriod"/>
            </a:pPr>
            <a:endParaRPr lang="en-US" sz="2000" dirty="0"/>
          </a:p>
          <a:p>
            <a:pPr marL="457200" indent="-457200">
              <a:buFont typeface="+mj-lt"/>
              <a:buAutoNum type="arabicPeriod"/>
            </a:pPr>
            <a:r>
              <a:rPr lang="en-US" sz="2000" dirty="0"/>
              <a:t>Code for proteins </a:t>
            </a:r>
            <a:r>
              <a:rPr lang="en-US" sz="1800" i="1" dirty="0"/>
              <a:t>(and functional RNAs)</a:t>
            </a:r>
            <a:r>
              <a:rPr lang="en-US" sz="2000" dirty="0"/>
              <a:t>:</a:t>
            </a:r>
          </a:p>
          <a:p>
            <a:pPr lvl="1"/>
            <a:r>
              <a:rPr lang="en-US" sz="2000" dirty="0"/>
              <a:t>gene transcription </a:t>
            </a:r>
            <a:r>
              <a:rPr lang="en-US" sz="2000" dirty="0">
                <a:sym typeface="Wingdings"/>
              </a:rPr>
              <a:t> RNA </a:t>
            </a:r>
          </a:p>
          <a:p>
            <a:pPr lvl="1"/>
            <a:r>
              <a:rPr lang="en-US" sz="2000" dirty="0">
                <a:sym typeface="Wingdings"/>
              </a:rPr>
              <a:t>translation – nucleotide sequence of mRNA specifies amino acid sequence of a polypeptide.</a:t>
            </a:r>
          </a:p>
          <a:p>
            <a:pPr lvl="2"/>
            <a:r>
              <a:rPr lang="en-US" sz="1600" i="1" dirty="0">
                <a:sym typeface="Wingdings"/>
              </a:rPr>
              <a:t>transcription may also generate </a:t>
            </a:r>
            <a:r>
              <a:rPr lang="en-US" sz="1600" i="1" dirty="0" err="1">
                <a:sym typeface="Wingdings"/>
              </a:rPr>
              <a:t>untranslated</a:t>
            </a:r>
            <a:r>
              <a:rPr lang="en-US" sz="1600" i="1" dirty="0">
                <a:sym typeface="Wingdings"/>
              </a:rPr>
              <a:t> </a:t>
            </a:r>
            <a:r>
              <a:rPr lang="en-US" sz="1600" i="1" dirty="0" err="1">
                <a:sym typeface="Wingdings"/>
              </a:rPr>
              <a:t>RNAs</a:t>
            </a:r>
            <a:r>
              <a:rPr lang="en-US" sz="1600" i="1" dirty="0">
                <a:sym typeface="Wingdings"/>
              </a:rPr>
              <a:t> that have functions (</a:t>
            </a:r>
            <a:r>
              <a:rPr lang="en-US" sz="1600" i="1" dirty="0" err="1">
                <a:sym typeface="Wingdings"/>
              </a:rPr>
              <a:t>eg</a:t>
            </a:r>
            <a:r>
              <a:rPr lang="en-US" sz="1600" i="1" dirty="0">
                <a:sym typeface="Wingdings"/>
              </a:rPr>
              <a:t>. </a:t>
            </a:r>
            <a:r>
              <a:rPr lang="en-US" sz="1600" i="1" dirty="0" err="1">
                <a:sym typeface="Wingdings"/>
              </a:rPr>
              <a:t>rRNA</a:t>
            </a:r>
            <a:r>
              <a:rPr lang="en-US" sz="1600" i="1" dirty="0">
                <a:sym typeface="Wingdings"/>
              </a:rPr>
              <a:t>, </a:t>
            </a:r>
            <a:r>
              <a:rPr lang="en-US" sz="1600" i="1" dirty="0" err="1">
                <a:sym typeface="Wingdings"/>
              </a:rPr>
              <a:t>tRNA</a:t>
            </a:r>
            <a:r>
              <a:rPr lang="en-US" sz="1600" i="1" dirty="0">
                <a:sym typeface="Wingdings"/>
              </a:rPr>
              <a:t>, </a:t>
            </a:r>
            <a:r>
              <a:rPr lang="en-US" sz="1600" i="1" dirty="0" err="1">
                <a:sym typeface="Wingdings"/>
              </a:rPr>
              <a:t>miRNA</a:t>
            </a:r>
            <a:r>
              <a:rPr lang="en-US" sz="1600" i="1" dirty="0">
                <a:sym typeface="Wingdings"/>
              </a:rPr>
              <a:t>).</a:t>
            </a:r>
          </a:p>
          <a:p>
            <a:r>
              <a:rPr lang="en-US" sz="1800" dirty="0">
                <a:sym typeface="Wingdings"/>
              </a:rPr>
              <a:t> </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219700" cy="1325562"/>
          </a:xfrm>
        </p:spPr>
        <p:txBody>
          <a:bodyPr>
            <a:noAutofit/>
          </a:bodyPr>
          <a:lstStyle/>
          <a:p>
            <a:r>
              <a:rPr lang="en-US" dirty="0">
                <a:effectLst>
                  <a:outerShdw blurRad="38100" dist="38100" dir="2700000" algn="tl">
                    <a:srgbClr val="000000"/>
                  </a:outerShdw>
                </a:effectLst>
                <a:latin typeface="Helvetica" charset="0"/>
                <a:ea typeface="ＭＳ Ｐゴシック" charset="0"/>
                <a:cs typeface="Helvetica" charset="0"/>
              </a:rPr>
              <a:t>The model of DNA </a:t>
            </a:r>
            <a:br>
              <a:rPr lang="en-US" dirty="0">
                <a:effectLst>
                  <a:outerShdw blurRad="38100" dist="38100" dir="2700000" algn="tl">
                    <a:srgbClr val="000000"/>
                  </a:outerShdw>
                </a:effectLst>
                <a:latin typeface="Helvetica" charset="0"/>
                <a:ea typeface="ＭＳ Ｐゴシック" charset="0"/>
                <a:cs typeface="Helvetica" charset="0"/>
              </a:rPr>
            </a:br>
            <a:r>
              <a:rPr lang="en-US" dirty="0">
                <a:effectLst>
                  <a:outerShdw blurRad="38100" dist="38100" dir="2700000" algn="tl">
                    <a:srgbClr val="000000"/>
                  </a:outerShdw>
                </a:effectLst>
                <a:latin typeface="Helvetica" charset="0"/>
                <a:ea typeface="ＭＳ Ｐゴシック" charset="0"/>
                <a:cs typeface="Helvetica" charset="0"/>
              </a:rPr>
              <a:t>replication postulated by Watson and Crick</a:t>
            </a:r>
          </a:p>
        </p:txBody>
      </p:sp>
      <p:sp>
        <p:nvSpPr>
          <p:cNvPr id="53252" name="Footer Placeholder 3"/>
          <p:cNvSpPr>
            <a:spLocks noGrp="1"/>
          </p:cNvSpPr>
          <p:nvPr>
            <p:ph type="ftr" sz="quarter" idx="10"/>
          </p:nvPr>
        </p:nvSpPr>
        <p:spPr bwMode="auto">
          <a:xfrm>
            <a:off x="1528763" y="6451600"/>
            <a:ext cx="608806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00">
                <a:solidFill>
                  <a:srgbClr val="898989"/>
                </a:solidFill>
                <a:latin typeface="Helvetica" charset="0"/>
                <a:cs typeface="Helvetica" charset="0"/>
              </a:rPr>
              <a:t>Copyright © The McGraw-Hill Companies, Inc.  Permission required to reproduce or display Hartwell et al., 4th ed., Chapter 6</a:t>
            </a:r>
          </a:p>
        </p:txBody>
      </p:sp>
      <p:sp>
        <p:nvSpPr>
          <p:cNvPr id="53253" name="Slide Number Placeholder 4"/>
          <p:cNvSpPr>
            <a:spLocks noGrp="1"/>
          </p:cNvSpPr>
          <p:nvPr>
            <p:ph type="sldNum" sz="quarter" idx="11"/>
          </p:nvPr>
        </p:nvSpPr>
        <p:spPr bwMode="auto">
          <a:xfrm>
            <a:off x="6553200" y="645160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68AC148F-ADCF-A747-ABB7-1AC5CCB98F2E}" type="slidenum">
              <a:rPr lang="en-US" sz="1000">
                <a:solidFill>
                  <a:srgbClr val="898989"/>
                </a:solidFill>
                <a:latin typeface="Helvetica" charset="0"/>
                <a:cs typeface="Helvetica" charset="0"/>
              </a:rPr>
              <a:pPr eaLnBrk="1" hangingPunct="1"/>
              <a:t>10</a:t>
            </a:fld>
            <a:endParaRPr lang="en-US" sz="1000">
              <a:solidFill>
                <a:srgbClr val="898989"/>
              </a:solidFill>
              <a:latin typeface="Helvetica" charset="0"/>
              <a:cs typeface="Helvetica" charset="0"/>
            </a:endParaRPr>
          </a:p>
        </p:txBody>
      </p:sp>
      <p:sp>
        <p:nvSpPr>
          <p:cNvPr id="53254" name="TextBox 6"/>
          <p:cNvSpPr txBox="1">
            <a:spLocks noChangeArrowheads="1"/>
          </p:cNvSpPr>
          <p:nvPr/>
        </p:nvSpPr>
        <p:spPr bwMode="auto">
          <a:xfrm>
            <a:off x="4572000" y="5911850"/>
            <a:ext cx="890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latin typeface="Helvetica" charset="0"/>
                <a:cs typeface="Helvetica" charset="0"/>
              </a:rPr>
              <a:t>Fig. 6.16</a:t>
            </a:r>
          </a:p>
        </p:txBody>
      </p:sp>
      <p:pic>
        <p:nvPicPr>
          <p:cNvPr id="53256" name="Picture 8" descr="har2526X_06_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638" y="274638"/>
            <a:ext cx="2951162" cy="607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400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critical functions of DNA</a:t>
            </a:r>
          </a:p>
        </p:txBody>
      </p:sp>
      <p:sp>
        <p:nvSpPr>
          <p:cNvPr id="3" name="Content Placeholder 2"/>
          <p:cNvSpPr>
            <a:spLocks noGrp="1"/>
          </p:cNvSpPr>
          <p:nvPr>
            <p:ph idx="1"/>
          </p:nvPr>
        </p:nvSpPr>
        <p:spPr>
          <a:xfrm>
            <a:off x="457200" y="1744811"/>
            <a:ext cx="8229600" cy="4708525"/>
          </a:xfrm>
        </p:spPr>
        <p:txBody>
          <a:bodyPr/>
          <a:lstStyle/>
          <a:p>
            <a:pPr marL="457200" indent="-457200">
              <a:buFont typeface="+mj-lt"/>
              <a:buAutoNum type="arabicPeriod"/>
            </a:pPr>
            <a:r>
              <a:rPr lang="en-US" sz="2000" dirty="0"/>
              <a:t>Replication – necessary to ensure that genome is replicated each cell division and each generation - heredity</a:t>
            </a:r>
          </a:p>
          <a:p>
            <a:pPr marL="457200" indent="-457200">
              <a:buFont typeface="+mj-lt"/>
              <a:buAutoNum type="arabicPeriod"/>
            </a:pPr>
            <a:endParaRPr lang="en-US" sz="2000" dirty="0"/>
          </a:p>
          <a:p>
            <a:pPr marL="457200" indent="-457200">
              <a:buFont typeface="+mj-lt"/>
              <a:buAutoNum type="arabicPeriod"/>
            </a:pPr>
            <a:r>
              <a:rPr lang="en-US" sz="2000" dirty="0"/>
              <a:t>Code for proteins </a:t>
            </a:r>
            <a:r>
              <a:rPr lang="en-US" sz="1800" i="1" dirty="0"/>
              <a:t>(and functional RNAs)</a:t>
            </a:r>
            <a:r>
              <a:rPr lang="en-US" sz="2000" dirty="0"/>
              <a:t>:</a:t>
            </a:r>
          </a:p>
          <a:p>
            <a:pPr lvl="1"/>
            <a:r>
              <a:rPr lang="en-US" sz="2000" dirty="0"/>
              <a:t>gene transcription </a:t>
            </a:r>
            <a:r>
              <a:rPr lang="en-US" sz="2000" dirty="0">
                <a:sym typeface="Wingdings"/>
              </a:rPr>
              <a:t> RNA </a:t>
            </a:r>
          </a:p>
          <a:p>
            <a:pPr lvl="1"/>
            <a:r>
              <a:rPr lang="en-US" sz="2000" dirty="0">
                <a:sym typeface="Wingdings"/>
              </a:rPr>
              <a:t>translation – nucleotide sequence of mRNA specifies amino acid sequence of a polypeptide/protein.</a:t>
            </a:r>
          </a:p>
          <a:p>
            <a:pPr lvl="2"/>
            <a:r>
              <a:rPr lang="en-US" sz="1600" i="1" dirty="0">
                <a:sym typeface="Wingdings"/>
              </a:rPr>
              <a:t>transcription may also generate </a:t>
            </a:r>
            <a:r>
              <a:rPr lang="en-US" sz="1600" i="1" dirty="0" err="1">
                <a:sym typeface="Wingdings"/>
              </a:rPr>
              <a:t>untranslated</a:t>
            </a:r>
            <a:r>
              <a:rPr lang="en-US" sz="1600" i="1" dirty="0">
                <a:sym typeface="Wingdings"/>
              </a:rPr>
              <a:t> </a:t>
            </a:r>
            <a:r>
              <a:rPr lang="en-US" sz="1600" i="1" dirty="0" err="1">
                <a:sym typeface="Wingdings"/>
              </a:rPr>
              <a:t>RNAs</a:t>
            </a:r>
            <a:r>
              <a:rPr lang="en-US" sz="1600" i="1" dirty="0">
                <a:sym typeface="Wingdings"/>
              </a:rPr>
              <a:t> that have functions (</a:t>
            </a:r>
            <a:r>
              <a:rPr lang="en-US" sz="1600" i="1" dirty="0" err="1">
                <a:sym typeface="Wingdings"/>
              </a:rPr>
              <a:t>eg</a:t>
            </a:r>
            <a:r>
              <a:rPr lang="en-US" sz="1600" i="1" dirty="0">
                <a:sym typeface="Wingdings"/>
              </a:rPr>
              <a:t>. </a:t>
            </a:r>
            <a:r>
              <a:rPr lang="en-US" sz="1600" i="1" dirty="0" err="1">
                <a:sym typeface="Wingdings"/>
              </a:rPr>
              <a:t>rRNA</a:t>
            </a:r>
            <a:r>
              <a:rPr lang="en-US" sz="1600" i="1" dirty="0">
                <a:sym typeface="Wingdings"/>
              </a:rPr>
              <a:t>, </a:t>
            </a:r>
            <a:r>
              <a:rPr lang="en-US" sz="1600" i="1" dirty="0" err="1">
                <a:sym typeface="Wingdings"/>
              </a:rPr>
              <a:t>tRNA</a:t>
            </a:r>
            <a:r>
              <a:rPr lang="en-US" sz="1600" i="1" dirty="0">
                <a:sym typeface="Wingdings"/>
              </a:rPr>
              <a:t>, </a:t>
            </a:r>
            <a:r>
              <a:rPr lang="en-US" sz="1600" i="1" dirty="0" err="1">
                <a:sym typeface="Wingdings"/>
              </a:rPr>
              <a:t>miRNA</a:t>
            </a:r>
            <a:r>
              <a:rPr lang="en-US" sz="1600" i="1" dirty="0">
                <a:sym typeface="Wingdings"/>
              </a:rPr>
              <a:t>).</a:t>
            </a:r>
          </a:p>
          <a:p>
            <a:r>
              <a:rPr lang="en-US" sz="1800" dirty="0">
                <a:sym typeface="Wingdings"/>
              </a:rPr>
              <a:t> </a:t>
            </a:r>
            <a:endParaRPr lang="en-US" sz="1800" dirty="0"/>
          </a:p>
        </p:txBody>
      </p:sp>
    </p:spTree>
    <p:extLst>
      <p:ext uri="{BB962C8B-B14F-4D97-AF65-F5344CB8AC3E}">
        <p14:creationId xmlns:p14="http://schemas.microsoft.com/office/powerpoint/2010/main" val="1179631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eaLnBrk="1" hangingPunct="1"/>
            <a:r>
              <a:rPr lang="en-US" dirty="0">
                <a:effectLst>
                  <a:outerShdw blurRad="38100" dist="38100" dir="2700000" algn="tl">
                    <a:srgbClr val="000000"/>
                  </a:outerShdw>
                </a:effectLst>
                <a:latin typeface="Helvetica" pitchFamily="-65" charset="0"/>
                <a:ea typeface="Helvetica" pitchFamily="-65" charset="0"/>
                <a:cs typeface="Helvetica" pitchFamily="-65" charset="0"/>
              </a:rPr>
              <a:t>The amino acid sequence determines </a:t>
            </a:r>
            <a:br>
              <a:rPr lang="en-US" dirty="0">
                <a:effectLst>
                  <a:outerShdw blurRad="38100" dist="38100" dir="2700000" algn="tl">
                    <a:srgbClr val="000000"/>
                  </a:outerShdw>
                </a:effectLst>
                <a:latin typeface="Helvetica" pitchFamily="-65" charset="0"/>
                <a:ea typeface="Helvetica" pitchFamily="-65" charset="0"/>
                <a:cs typeface="Helvetica" pitchFamily="-65" charset="0"/>
              </a:rPr>
            </a:br>
            <a:r>
              <a:rPr lang="en-US" dirty="0">
                <a:effectLst>
                  <a:outerShdw blurRad="38100" dist="38100" dir="2700000" algn="tl">
                    <a:srgbClr val="000000"/>
                  </a:outerShdw>
                </a:effectLst>
                <a:latin typeface="Helvetica" pitchFamily="-65" charset="0"/>
                <a:ea typeface="Helvetica" pitchFamily="-65" charset="0"/>
                <a:cs typeface="Helvetica" pitchFamily="-65" charset="0"/>
              </a:rPr>
              <a:t>the three-dimensional shape of the protein</a:t>
            </a:r>
          </a:p>
        </p:txBody>
      </p:sp>
      <p:sp>
        <p:nvSpPr>
          <p:cNvPr id="26629" name="Content Placeholder 4"/>
          <p:cNvSpPr>
            <a:spLocks noGrp="1"/>
          </p:cNvSpPr>
          <p:nvPr>
            <p:ph idx="1"/>
          </p:nvPr>
        </p:nvSpPr>
        <p:spPr>
          <a:xfrm>
            <a:off x="457200" y="1951038"/>
            <a:ext cx="4114800" cy="787400"/>
          </a:xfrm>
        </p:spPr>
        <p:txBody>
          <a:bodyPr/>
          <a:lstStyle/>
          <a:p>
            <a:pPr eaLnBrk="1" hangingPunct="1">
              <a:buFont typeface="Arial" pitchFamily="-65" charset="0"/>
              <a:buNone/>
            </a:pPr>
            <a:r>
              <a:rPr lang="en-US" dirty="0">
                <a:latin typeface="Helvetica" pitchFamily="-65" charset="0"/>
                <a:ea typeface="Helvetica" pitchFamily="-65" charset="0"/>
                <a:cs typeface="Helvetica" pitchFamily="-65" charset="0"/>
              </a:rPr>
              <a:t>Chemical formulas for two amino acids</a:t>
            </a:r>
          </a:p>
          <a:p>
            <a:pPr eaLnBrk="1" hangingPunct="1">
              <a:buFont typeface="Arial" pitchFamily="-65" charset="0"/>
              <a:buNone/>
            </a:pPr>
            <a:endParaRPr lang="en-US" dirty="0">
              <a:latin typeface="Helvetica" pitchFamily="-65" charset="0"/>
              <a:ea typeface="Helvetica" pitchFamily="-65" charset="0"/>
              <a:cs typeface="Helvetica" pitchFamily="-65" charset="0"/>
            </a:endParaRPr>
          </a:p>
        </p:txBody>
      </p:sp>
      <p:sp>
        <p:nvSpPr>
          <p:cNvPr id="2" name="Footer Placeholder 1"/>
          <p:cNvSpPr>
            <a:spLocks noGrp="1"/>
          </p:cNvSpPr>
          <p:nvPr>
            <p:ph type="ftr" sz="quarter" idx="10"/>
          </p:nvPr>
        </p:nvSpPr>
        <p:spPr>
          <a:xfrm>
            <a:off x="1528763" y="6491288"/>
            <a:ext cx="6088062" cy="365125"/>
          </a:xfrm>
        </p:spPr>
        <p:txBody>
          <a:bodyPr/>
          <a:lstStyle/>
          <a:p>
            <a:r>
              <a:rPr lang="en-US"/>
              <a:t>Copyright © The McGraw-Hill Companies, Inc.  Permission required to reproduce or display Hartwell et al., 4th ed., Chapter 1</a:t>
            </a:r>
          </a:p>
        </p:txBody>
      </p:sp>
      <p:sp>
        <p:nvSpPr>
          <p:cNvPr id="26627" name="Slide Number Placeholder 2"/>
          <p:cNvSpPr>
            <a:spLocks noGrp="1"/>
          </p:cNvSpPr>
          <p:nvPr>
            <p:ph type="sldNum" sz="quarter" idx="11"/>
          </p:nvPr>
        </p:nvSpPr>
        <p:spPr bwMode="auto">
          <a:xfrm>
            <a:off x="6553200" y="6491288"/>
            <a:ext cx="2133600" cy="365125"/>
          </a:xfrm>
          <a:noFill/>
          <a:ln>
            <a:miter lim="800000"/>
            <a:headEnd/>
            <a:tailEnd/>
          </a:ln>
        </p:spPr>
        <p:txBody>
          <a:bodyPr/>
          <a:lstStyle/>
          <a:p>
            <a:fld id="{FB90366B-A47A-5D4B-8EF1-4C0BC5A365AE}" type="slidenum">
              <a:rPr lang="en-US"/>
              <a:pPr/>
              <a:t>12</a:t>
            </a:fld>
            <a:endParaRPr lang="en-US"/>
          </a:p>
        </p:txBody>
      </p:sp>
      <p:sp>
        <p:nvSpPr>
          <p:cNvPr id="26630" name="Content Placeholder 16"/>
          <p:cNvSpPr txBox="1">
            <a:spLocks/>
          </p:cNvSpPr>
          <p:nvPr/>
        </p:nvSpPr>
        <p:spPr bwMode="auto">
          <a:xfrm>
            <a:off x="4557713" y="1951038"/>
            <a:ext cx="4114800" cy="757237"/>
          </a:xfrm>
          <a:prstGeom prst="rect">
            <a:avLst/>
          </a:prstGeom>
          <a:noFill/>
          <a:ln w="9525">
            <a:noFill/>
            <a:miter lim="800000"/>
            <a:headEnd/>
            <a:tailEnd/>
          </a:ln>
        </p:spPr>
        <p:txBody>
          <a:bodyPr>
            <a:prstTxWarp prst="textNoShape">
              <a:avLst/>
            </a:prstTxWarp>
          </a:bodyPr>
          <a:lstStyle/>
          <a:p>
            <a:pPr>
              <a:spcBef>
                <a:spcPct val="20000"/>
              </a:spcBef>
              <a:buFont typeface="Arial" pitchFamily="-65" charset="0"/>
              <a:buNone/>
            </a:pPr>
            <a:r>
              <a:rPr lang="en-US" sz="2200" b="1">
                <a:latin typeface="Helvetica" pitchFamily="-65" charset="0"/>
                <a:ea typeface="Helvetica" pitchFamily="-65" charset="0"/>
                <a:cs typeface="Helvetica" pitchFamily="-65" charset="0"/>
              </a:rPr>
              <a:t>Three-dimensional shapes of two proteins</a:t>
            </a:r>
          </a:p>
        </p:txBody>
      </p:sp>
      <p:pic>
        <p:nvPicPr>
          <p:cNvPr id="26631" name="Picture 11" descr="Ch1_Fig5a.tiff"/>
          <p:cNvPicPr>
            <a:picLocks noChangeAspect="1"/>
          </p:cNvPicPr>
          <p:nvPr/>
        </p:nvPicPr>
        <p:blipFill>
          <a:blip r:embed="rId3"/>
          <a:srcRect l="16016" t="55843" r="17578"/>
          <a:stretch>
            <a:fillRect/>
          </a:stretch>
        </p:blipFill>
        <p:spPr bwMode="auto">
          <a:xfrm>
            <a:off x="457200" y="2892425"/>
            <a:ext cx="3654425" cy="2535238"/>
          </a:xfrm>
          <a:prstGeom prst="rect">
            <a:avLst/>
          </a:prstGeom>
          <a:noFill/>
          <a:ln w="9525">
            <a:noFill/>
            <a:miter lim="800000"/>
            <a:headEnd/>
            <a:tailEnd/>
          </a:ln>
        </p:spPr>
      </p:pic>
      <p:pic>
        <p:nvPicPr>
          <p:cNvPr id="26632" name="Picture 12" descr="Ch1_Fig5b_c.tiff"/>
          <p:cNvPicPr>
            <a:picLocks noChangeAspect="1"/>
          </p:cNvPicPr>
          <p:nvPr/>
        </p:nvPicPr>
        <p:blipFill>
          <a:blip r:embed="rId4"/>
          <a:srcRect t="43251"/>
          <a:stretch>
            <a:fillRect/>
          </a:stretch>
        </p:blipFill>
        <p:spPr bwMode="auto">
          <a:xfrm>
            <a:off x="4575175" y="2827338"/>
            <a:ext cx="4111625" cy="2824162"/>
          </a:xfrm>
          <a:prstGeom prst="rect">
            <a:avLst/>
          </a:prstGeom>
          <a:noFill/>
          <a:ln w="9525">
            <a:noFill/>
            <a:miter lim="800000"/>
            <a:headEnd/>
            <a:tailEnd/>
          </a:ln>
        </p:spPr>
      </p:pic>
      <p:sp>
        <p:nvSpPr>
          <p:cNvPr id="26633" name="TextBox 7"/>
          <p:cNvSpPr txBox="1">
            <a:spLocks noChangeArrowheads="1"/>
          </p:cNvSpPr>
          <p:nvPr/>
        </p:nvSpPr>
        <p:spPr bwMode="auto">
          <a:xfrm>
            <a:off x="457200" y="5653088"/>
            <a:ext cx="1095375" cy="307975"/>
          </a:xfrm>
          <a:prstGeom prst="rect">
            <a:avLst/>
          </a:prstGeom>
          <a:noFill/>
          <a:ln w="9525">
            <a:noFill/>
            <a:miter lim="800000"/>
            <a:headEnd/>
            <a:tailEnd/>
          </a:ln>
        </p:spPr>
        <p:txBody>
          <a:bodyPr wrap="none">
            <a:prstTxWarp prst="textNoShape">
              <a:avLst/>
            </a:prstTxWarp>
            <a:spAutoFit/>
          </a:bodyPr>
          <a:lstStyle/>
          <a:p>
            <a:r>
              <a:rPr lang="en-US" sz="1400">
                <a:latin typeface="Helvetica" pitchFamily="-65" charset="0"/>
                <a:ea typeface="Helvetica" pitchFamily="-65" charset="0"/>
                <a:cs typeface="Helvetica" pitchFamily="-65" charset="0"/>
              </a:rPr>
              <a:t>Figure 1.5a</a:t>
            </a:r>
          </a:p>
        </p:txBody>
      </p:sp>
      <p:sp>
        <p:nvSpPr>
          <p:cNvPr id="26634" name="TextBox 7"/>
          <p:cNvSpPr txBox="1">
            <a:spLocks noChangeArrowheads="1"/>
          </p:cNvSpPr>
          <p:nvPr/>
        </p:nvSpPr>
        <p:spPr bwMode="auto">
          <a:xfrm>
            <a:off x="7616825" y="5653088"/>
            <a:ext cx="1082675" cy="307975"/>
          </a:xfrm>
          <a:prstGeom prst="rect">
            <a:avLst/>
          </a:prstGeom>
          <a:noFill/>
          <a:ln w="9525">
            <a:noFill/>
            <a:miter lim="800000"/>
            <a:headEnd/>
            <a:tailEnd/>
          </a:ln>
        </p:spPr>
        <p:txBody>
          <a:bodyPr wrap="none">
            <a:prstTxWarp prst="textNoShape">
              <a:avLst/>
            </a:prstTxWarp>
            <a:spAutoFit/>
          </a:bodyPr>
          <a:lstStyle/>
          <a:p>
            <a:r>
              <a:rPr lang="en-US" sz="1400">
                <a:latin typeface="Helvetica" pitchFamily="-65" charset="0"/>
                <a:ea typeface="Helvetica" pitchFamily="-65" charset="0"/>
                <a:cs typeface="Helvetica" pitchFamily="-65" charset="0"/>
              </a:rPr>
              <a:t>Figure 1.5c</a:t>
            </a:r>
          </a:p>
        </p:txBody>
      </p:sp>
      <p:cxnSp>
        <p:nvCxnSpPr>
          <p:cNvPr id="12" name="Straight Connector 11"/>
          <p:cNvCxnSpPr/>
          <p:nvPr/>
        </p:nvCxnSpPr>
        <p:spPr>
          <a:xfrm rot="5400000">
            <a:off x="2316163" y="3954463"/>
            <a:ext cx="4008437" cy="1587"/>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Proteins</a:t>
            </a:r>
          </a:p>
        </p:txBody>
      </p:sp>
      <p:sp>
        <p:nvSpPr>
          <p:cNvPr id="3" name="Content Placeholder 2"/>
          <p:cNvSpPr>
            <a:spLocks noGrp="1"/>
          </p:cNvSpPr>
          <p:nvPr>
            <p:ph idx="1"/>
          </p:nvPr>
        </p:nvSpPr>
        <p:spPr>
          <a:xfrm>
            <a:off x="457200" y="1744811"/>
            <a:ext cx="8229600" cy="4708525"/>
          </a:xfrm>
        </p:spPr>
        <p:txBody>
          <a:bodyPr/>
          <a:lstStyle/>
          <a:p>
            <a:pPr marL="342900" indent="-342900">
              <a:buFont typeface="Arial"/>
              <a:buChar char="•"/>
            </a:pPr>
            <a:r>
              <a:rPr lang="en-US" sz="2000" dirty="0"/>
              <a:t>make up most of the mass of a cell</a:t>
            </a:r>
          </a:p>
          <a:p>
            <a:pPr marL="342900" indent="-342900">
              <a:buFont typeface="Arial"/>
              <a:buChar char="•"/>
            </a:pPr>
            <a:r>
              <a:rPr lang="en-US" sz="2000" dirty="0"/>
              <a:t>regulate all cellular processes directly or indirectly</a:t>
            </a:r>
          </a:p>
          <a:p>
            <a:pPr marL="982980" lvl="1" indent="-342900">
              <a:buFont typeface="Arial"/>
              <a:buChar char="•"/>
            </a:pPr>
            <a:r>
              <a:rPr lang="en-US" sz="1800" dirty="0"/>
              <a:t>enzymes involved in energy utilization, energy storage.</a:t>
            </a:r>
          </a:p>
          <a:p>
            <a:pPr marL="982980" lvl="1" indent="-342900">
              <a:buFont typeface="Arial"/>
              <a:buChar char="•"/>
            </a:pPr>
            <a:r>
              <a:rPr lang="en-US" sz="1800" dirty="0"/>
              <a:t>enzymes for biosynthesis or breakdown of other macromolecules (including DNA).</a:t>
            </a:r>
          </a:p>
          <a:p>
            <a:pPr marL="982980" lvl="1" indent="-342900">
              <a:buFont typeface="Arial"/>
              <a:buChar char="•"/>
            </a:pPr>
            <a:r>
              <a:rPr lang="en-US" sz="1800" dirty="0"/>
              <a:t>proteins form scaffolds to hold other proteins and macromolecules in place – to organize the cell.</a:t>
            </a:r>
          </a:p>
          <a:p>
            <a:pPr marL="982980" lvl="1" indent="-342900">
              <a:buFont typeface="Arial"/>
              <a:buChar char="•"/>
            </a:pPr>
            <a:r>
              <a:rPr lang="en-US" sz="1800" dirty="0"/>
              <a:t>proteins regulate transport into and out of cells and signaling between cells.</a:t>
            </a:r>
          </a:p>
          <a:p>
            <a:pPr marL="982980" lvl="1" indent="-342900">
              <a:buFont typeface="Arial"/>
              <a:buChar char="•"/>
            </a:pPr>
            <a:r>
              <a:rPr lang="en-US" sz="1800" dirty="0"/>
              <a:t>motor proteins and other proteins regulate intracellular transport.</a:t>
            </a:r>
          </a:p>
        </p:txBody>
      </p:sp>
    </p:spTree>
    <p:extLst>
      <p:ext uri="{BB962C8B-B14F-4D97-AF65-F5344CB8AC3E}">
        <p14:creationId xmlns:p14="http://schemas.microsoft.com/office/powerpoint/2010/main" val="373878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figure 4-06"/>
          <p:cNvPicPr>
            <a:picLocks noChangeAspect="1" noChangeArrowheads="1"/>
          </p:cNvPicPr>
          <p:nvPr/>
        </p:nvPicPr>
        <p:blipFill>
          <a:blip r:embed="rId3"/>
          <a:srcRect/>
          <a:stretch>
            <a:fillRect/>
          </a:stretch>
        </p:blipFill>
        <p:spPr bwMode="auto">
          <a:xfrm>
            <a:off x="755576" y="609601"/>
            <a:ext cx="6323097" cy="4187552"/>
          </a:xfrm>
          <a:prstGeom prst="rect">
            <a:avLst/>
          </a:prstGeom>
          <a:noFill/>
          <a:ln w="9525">
            <a:noFill/>
            <a:miter lim="800000"/>
            <a:headEnd/>
            <a:tailEnd/>
          </a:ln>
          <a:effectLst/>
        </p:spPr>
      </p:pic>
      <p:sp>
        <p:nvSpPr>
          <p:cNvPr id="113667" name="Text Box 3"/>
          <p:cNvSpPr txBox="1">
            <a:spLocks noChangeArrowheads="1"/>
          </p:cNvSpPr>
          <p:nvPr/>
        </p:nvSpPr>
        <p:spPr bwMode="auto">
          <a:xfrm>
            <a:off x="0" y="6553200"/>
            <a:ext cx="9067800" cy="260350"/>
          </a:xfrm>
          <a:prstGeom prst="rect">
            <a:avLst/>
          </a:prstGeom>
          <a:noFill/>
          <a:ln w="9525">
            <a:noFill/>
            <a:miter lim="800000"/>
            <a:headEnd/>
            <a:tailEnd/>
          </a:ln>
          <a:effectLst/>
        </p:spPr>
        <p:txBody>
          <a:bodyPr>
            <a:prstTxWarp prst="textNoShape">
              <a:avLst/>
            </a:prstTxWarp>
            <a:spAutoFit/>
          </a:bodyPr>
          <a:lstStyle/>
          <a:p>
            <a:r>
              <a:rPr lang="en-US" sz="1100">
                <a:latin typeface="Arial" pitchFamily="-65" charset="0"/>
              </a:rPr>
              <a:t>Figure 4-6 </a:t>
            </a:r>
            <a:r>
              <a:rPr lang="en-US" sz="1100" i="1">
                <a:latin typeface="Arial" pitchFamily="-65" charset="0"/>
              </a:rPr>
              <a:t> Molecular Biology of the Cell</a:t>
            </a:r>
            <a:r>
              <a:rPr lang="en-US" sz="1100">
                <a:latin typeface="Arial" pitchFamily="-65" charset="0"/>
              </a:rPr>
              <a:t> (© Garland Science 2008)</a:t>
            </a:r>
          </a:p>
        </p:txBody>
      </p:sp>
      <p:sp>
        <p:nvSpPr>
          <p:cNvPr id="2" name="TextBox 1"/>
          <p:cNvSpPr txBox="1"/>
          <p:nvPr/>
        </p:nvSpPr>
        <p:spPr>
          <a:xfrm>
            <a:off x="908652" y="5594792"/>
            <a:ext cx="5398909" cy="369332"/>
          </a:xfrm>
          <a:prstGeom prst="rect">
            <a:avLst/>
          </a:prstGeom>
          <a:noFill/>
        </p:spPr>
        <p:txBody>
          <a:bodyPr wrap="none" rtlCol="0">
            <a:spAutoFit/>
          </a:bodyPr>
          <a:lstStyle/>
          <a:p>
            <a:r>
              <a:rPr lang="en-US" b="1" dirty="0">
                <a:latin typeface="Helvetica"/>
                <a:cs typeface="Helvetica"/>
              </a:rPr>
              <a:t>gene expression = transcription and translation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eaLnBrk="1" hangingPunct="1"/>
            <a:r>
              <a:rPr lang="en-US">
                <a:effectLst>
                  <a:outerShdw blurRad="38100" dist="38100" dir="2700000" algn="tl">
                    <a:srgbClr val="000000"/>
                  </a:outerShdw>
                </a:effectLst>
                <a:latin typeface="Helvetica" pitchFamily="-65" charset="0"/>
                <a:ea typeface="Helvetica" pitchFamily="-65" charset="0"/>
                <a:cs typeface="Helvetica" pitchFamily="-65" charset="0"/>
              </a:rPr>
              <a:t>RNA evolved into an intermediary in conversion of DNA information into protein</a:t>
            </a:r>
          </a:p>
        </p:txBody>
      </p:sp>
      <p:sp>
        <p:nvSpPr>
          <p:cNvPr id="30725" name="Content Placeholder 4"/>
          <p:cNvSpPr>
            <a:spLocks noGrp="1"/>
          </p:cNvSpPr>
          <p:nvPr>
            <p:ph idx="1"/>
          </p:nvPr>
        </p:nvSpPr>
        <p:spPr>
          <a:xfrm>
            <a:off x="457200" y="1520825"/>
            <a:ext cx="8153400" cy="4073525"/>
          </a:xfrm>
        </p:spPr>
        <p:txBody>
          <a:bodyPr/>
          <a:lstStyle/>
          <a:p>
            <a:pPr eaLnBrk="1" hangingPunct="1">
              <a:buFont typeface="Arial" pitchFamily="-65" charset="0"/>
              <a:buNone/>
            </a:pPr>
            <a:r>
              <a:rPr lang="en-US" dirty="0">
                <a:latin typeface="Helvetica" pitchFamily="-65" charset="0"/>
                <a:ea typeface="Helvetica" pitchFamily="-65" charset="0"/>
                <a:cs typeface="Helvetica" pitchFamily="-65" charset="0"/>
              </a:rPr>
              <a:t>single strand of RNA is made from DNA template</a:t>
            </a:r>
          </a:p>
          <a:p>
            <a:pPr eaLnBrk="1" hangingPunct="1">
              <a:buFont typeface="Arial" pitchFamily="-65" charset="0"/>
              <a:buNone/>
            </a:pPr>
            <a:r>
              <a:rPr lang="en-US" dirty="0">
                <a:latin typeface="Helvetica" pitchFamily="-65" charset="0"/>
                <a:ea typeface="Helvetica" pitchFamily="-65" charset="0"/>
                <a:cs typeface="Helvetica" pitchFamily="-65" charset="0"/>
              </a:rPr>
              <a:t>Bases are read as triplets to encode amino acid subunits of protein</a:t>
            </a:r>
          </a:p>
        </p:txBody>
      </p:sp>
      <p:sp>
        <p:nvSpPr>
          <p:cNvPr id="2" name="Footer Placeholder 1"/>
          <p:cNvSpPr>
            <a:spLocks noGrp="1"/>
          </p:cNvSpPr>
          <p:nvPr>
            <p:ph type="ftr" sz="quarter" idx="10"/>
          </p:nvPr>
        </p:nvSpPr>
        <p:spPr>
          <a:xfrm>
            <a:off x="1528763" y="6491288"/>
            <a:ext cx="6088062" cy="365125"/>
          </a:xfrm>
        </p:spPr>
        <p:txBody>
          <a:bodyPr/>
          <a:lstStyle/>
          <a:p>
            <a:r>
              <a:rPr lang="en-US"/>
              <a:t>Copyright © The McGraw-Hill Companies, Inc.  Permission required to reproduce or display Hartwell et al., 4th ed., Chapter 1</a:t>
            </a:r>
          </a:p>
        </p:txBody>
      </p:sp>
      <p:sp>
        <p:nvSpPr>
          <p:cNvPr id="30723" name="Slide Number Placeholder 2"/>
          <p:cNvSpPr>
            <a:spLocks noGrp="1"/>
          </p:cNvSpPr>
          <p:nvPr>
            <p:ph type="sldNum" sz="quarter" idx="11"/>
          </p:nvPr>
        </p:nvSpPr>
        <p:spPr bwMode="auto">
          <a:xfrm>
            <a:off x="6553200" y="6491288"/>
            <a:ext cx="2133600" cy="365125"/>
          </a:xfrm>
          <a:noFill/>
          <a:ln>
            <a:miter lim="800000"/>
            <a:headEnd/>
            <a:tailEnd/>
          </a:ln>
        </p:spPr>
        <p:txBody>
          <a:bodyPr/>
          <a:lstStyle/>
          <a:p>
            <a:fld id="{EF170245-ED0D-A343-B15C-4A91E793B942}" type="slidenum">
              <a:rPr lang="en-US"/>
              <a:pPr/>
              <a:t>15</a:t>
            </a:fld>
            <a:endParaRPr lang="en-US"/>
          </a:p>
        </p:txBody>
      </p:sp>
      <p:pic>
        <p:nvPicPr>
          <p:cNvPr id="30726" name="Picture 5" descr="Ch1_Fig7a.tiff"/>
          <p:cNvPicPr>
            <a:picLocks noChangeAspect="1"/>
          </p:cNvPicPr>
          <p:nvPr/>
        </p:nvPicPr>
        <p:blipFill>
          <a:blip r:embed="rId3"/>
          <a:srcRect t="35086"/>
          <a:stretch>
            <a:fillRect/>
          </a:stretch>
        </p:blipFill>
        <p:spPr bwMode="auto">
          <a:xfrm>
            <a:off x="1831975" y="3265488"/>
            <a:ext cx="5489575" cy="3155950"/>
          </a:xfrm>
          <a:prstGeom prst="rect">
            <a:avLst/>
          </a:prstGeom>
          <a:noFill/>
          <a:ln w="9525">
            <a:noFill/>
            <a:miter lim="800000"/>
            <a:headEnd/>
            <a:tailEnd/>
          </a:ln>
        </p:spPr>
      </p:pic>
      <p:sp>
        <p:nvSpPr>
          <p:cNvPr id="30727" name="Rectangle 6"/>
          <p:cNvSpPr>
            <a:spLocks noChangeArrowheads="1"/>
          </p:cNvSpPr>
          <p:nvPr/>
        </p:nvSpPr>
        <p:spPr bwMode="auto">
          <a:xfrm>
            <a:off x="7321550" y="6113463"/>
            <a:ext cx="839788" cy="307975"/>
          </a:xfrm>
          <a:prstGeom prst="rect">
            <a:avLst/>
          </a:prstGeom>
          <a:noFill/>
          <a:ln w="9525">
            <a:noFill/>
            <a:miter lim="800000"/>
            <a:headEnd/>
            <a:tailEnd/>
          </a:ln>
        </p:spPr>
        <p:txBody>
          <a:bodyPr wrap="none">
            <a:prstTxWarp prst="textNoShape">
              <a:avLst/>
            </a:prstTxWarp>
            <a:spAutoFit/>
          </a:bodyPr>
          <a:lstStyle/>
          <a:p>
            <a:r>
              <a:rPr lang="en-US" sz="1400">
                <a:latin typeface="Helvetica" pitchFamily="-65" charset="0"/>
                <a:ea typeface="Helvetica" pitchFamily="-65" charset="0"/>
                <a:cs typeface="Helvetica" pitchFamily="-65" charset="0"/>
              </a:rPr>
              <a:t>Fig 1.7a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eaLnBrk="1" hangingPunct="1"/>
            <a:r>
              <a:rPr lang="en-US" dirty="0">
                <a:effectLst>
                  <a:outerShdw blurRad="38100" dist="38100" dir="2700000" algn="tl">
                    <a:srgbClr val="000000"/>
                  </a:outerShdw>
                </a:effectLst>
                <a:latin typeface="Helvetica" pitchFamily="-65" charset="0"/>
                <a:ea typeface="Helvetica" pitchFamily="-65" charset="0"/>
                <a:cs typeface="Helvetica" pitchFamily="-65" charset="0"/>
              </a:rPr>
              <a:t>Mutations in genes result in altered proteins and give rise to different traits</a:t>
            </a:r>
          </a:p>
        </p:txBody>
      </p:sp>
      <p:sp>
        <p:nvSpPr>
          <p:cNvPr id="2" name="Footer Placeholder 1"/>
          <p:cNvSpPr>
            <a:spLocks noGrp="1"/>
          </p:cNvSpPr>
          <p:nvPr>
            <p:ph type="ftr" sz="quarter" idx="10"/>
          </p:nvPr>
        </p:nvSpPr>
        <p:spPr>
          <a:xfrm>
            <a:off x="1528763" y="6491288"/>
            <a:ext cx="6088062" cy="365125"/>
          </a:xfrm>
        </p:spPr>
        <p:txBody>
          <a:bodyPr/>
          <a:lstStyle/>
          <a:p>
            <a:r>
              <a:rPr lang="en-US" sz="700" dirty="0"/>
              <a:t>Copyright © The McGraw-Hill Companies, Inc.  Permission required to reproduce or display Hartwell et al., 4th ed., Chapter 1</a:t>
            </a:r>
          </a:p>
        </p:txBody>
      </p:sp>
      <p:sp>
        <p:nvSpPr>
          <p:cNvPr id="30723" name="Slide Number Placeholder 2"/>
          <p:cNvSpPr>
            <a:spLocks noGrp="1"/>
          </p:cNvSpPr>
          <p:nvPr>
            <p:ph type="sldNum" sz="quarter" idx="11"/>
          </p:nvPr>
        </p:nvSpPr>
        <p:spPr bwMode="auto">
          <a:xfrm>
            <a:off x="6553200" y="6491288"/>
            <a:ext cx="2133600" cy="365125"/>
          </a:xfrm>
          <a:noFill/>
          <a:ln>
            <a:miter lim="800000"/>
            <a:headEnd/>
            <a:tailEnd/>
          </a:ln>
        </p:spPr>
        <p:txBody>
          <a:bodyPr/>
          <a:lstStyle/>
          <a:p>
            <a:fld id="{EF170245-ED0D-A343-B15C-4A91E793B942}" type="slidenum">
              <a:rPr lang="en-US"/>
              <a:pPr/>
              <a:t>16</a:t>
            </a:fld>
            <a:endParaRPr lang="en-US"/>
          </a:p>
        </p:txBody>
      </p:sp>
      <p:pic>
        <p:nvPicPr>
          <p:cNvPr id="30726" name="Picture 5" descr="Ch1_Fig7a.tiff"/>
          <p:cNvPicPr>
            <a:picLocks noChangeAspect="1"/>
          </p:cNvPicPr>
          <p:nvPr/>
        </p:nvPicPr>
        <p:blipFill>
          <a:blip r:embed="rId2"/>
          <a:srcRect t="35086"/>
          <a:stretch>
            <a:fillRect/>
          </a:stretch>
        </p:blipFill>
        <p:spPr bwMode="auto">
          <a:xfrm>
            <a:off x="1907704" y="1429179"/>
            <a:ext cx="4392972" cy="2525514"/>
          </a:xfrm>
          <a:prstGeom prst="rect">
            <a:avLst/>
          </a:prstGeom>
          <a:noFill/>
          <a:ln w="9525">
            <a:noFill/>
            <a:miter lim="800000"/>
            <a:headEnd/>
            <a:tailEnd/>
          </a:ln>
        </p:spPr>
      </p:pic>
      <p:sp>
        <p:nvSpPr>
          <p:cNvPr id="30727" name="Rectangle 6"/>
          <p:cNvSpPr>
            <a:spLocks noChangeArrowheads="1"/>
          </p:cNvSpPr>
          <p:nvPr/>
        </p:nvSpPr>
        <p:spPr bwMode="auto">
          <a:xfrm>
            <a:off x="7321550" y="6113463"/>
            <a:ext cx="839788" cy="307975"/>
          </a:xfrm>
          <a:prstGeom prst="rect">
            <a:avLst/>
          </a:prstGeom>
          <a:noFill/>
          <a:ln w="9525">
            <a:noFill/>
            <a:miter lim="800000"/>
            <a:headEnd/>
            <a:tailEnd/>
          </a:ln>
        </p:spPr>
        <p:txBody>
          <a:bodyPr wrap="none">
            <a:prstTxWarp prst="textNoShape">
              <a:avLst/>
            </a:prstTxWarp>
            <a:spAutoFit/>
          </a:bodyPr>
          <a:lstStyle/>
          <a:p>
            <a:r>
              <a:rPr lang="en-US" sz="1400">
                <a:latin typeface="Helvetica" pitchFamily="-65" charset="0"/>
                <a:ea typeface="Helvetica" pitchFamily="-65" charset="0"/>
                <a:cs typeface="Helvetica" pitchFamily="-65" charset="0"/>
              </a:rPr>
              <a:t>Fig 1.7a </a:t>
            </a:r>
          </a:p>
        </p:txBody>
      </p:sp>
      <p:pic>
        <p:nvPicPr>
          <p:cNvPr id="12" name="Picture 5" descr="Ch1_Fig7a.tiff"/>
          <p:cNvPicPr>
            <a:picLocks noChangeAspect="1"/>
          </p:cNvPicPr>
          <p:nvPr/>
        </p:nvPicPr>
        <p:blipFill>
          <a:blip r:embed="rId2"/>
          <a:srcRect t="35086"/>
          <a:stretch>
            <a:fillRect/>
          </a:stretch>
        </p:blipFill>
        <p:spPr bwMode="auto">
          <a:xfrm>
            <a:off x="1907704" y="4143846"/>
            <a:ext cx="4392972" cy="2525514"/>
          </a:xfrm>
          <a:prstGeom prst="rect">
            <a:avLst/>
          </a:prstGeom>
          <a:noFill/>
          <a:ln w="9525">
            <a:noFill/>
            <a:miter lim="800000"/>
            <a:headEnd/>
            <a:tailEnd/>
          </a:ln>
        </p:spPr>
      </p:pic>
      <p:sp>
        <p:nvSpPr>
          <p:cNvPr id="13" name="TextBox 12"/>
          <p:cNvSpPr txBox="1"/>
          <p:nvPr/>
        </p:nvSpPr>
        <p:spPr>
          <a:xfrm>
            <a:off x="2267744" y="4457463"/>
            <a:ext cx="637715" cy="338554"/>
          </a:xfrm>
          <a:prstGeom prst="rect">
            <a:avLst/>
          </a:prstGeom>
          <a:solidFill>
            <a:schemeClr val="bg1"/>
          </a:solidFill>
        </p:spPr>
        <p:txBody>
          <a:bodyPr wrap="none" rtlCol="0">
            <a:spAutoFit/>
          </a:bodyPr>
          <a:lstStyle/>
          <a:p>
            <a:r>
              <a:rPr lang="en-US" sz="1600" spc="300" dirty="0">
                <a:solidFill>
                  <a:srgbClr val="FF0000"/>
                </a:solidFill>
                <a:latin typeface="Helvetica"/>
                <a:cs typeface="Helvetica"/>
              </a:rPr>
              <a:t>G-C</a:t>
            </a:r>
          </a:p>
        </p:txBody>
      </p:sp>
      <p:sp>
        <p:nvSpPr>
          <p:cNvPr id="14" name="TextBox 13"/>
          <p:cNvSpPr txBox="1"/>
          <p:nvPr/>
        </p:nvSpPr>
        <p:spPr>
          <a:xfrm>
            <a:off x="3991761" y="4427820"/>
            <a:ext cx="364215" cy="369332"/>
          </a:xfrm>
          <a:prstGeom prst="rect">
            <a:avLst/>
          </a:prstGeom>
          <a:solidFill>
            <a:srgbClr val="FFFFFF"/>
          </a:solidFill>
        </p:spPr>
        <p:txBody>
          <a:bodyPr wrap="none" rtlCol="0">
            <a:spAutoFit/>
          </a:bodyPr>
          <a:lstStyle/>
          <a:p>
            <a:r>
              <a:rPr lang="en-US" dirty="0">
                <a:solidFill>
                  <a:srgbClr val="FF0000"/>
                </a:solidFill>
                <a:latin typeface="Helvetica"/>
                <a:cs typeface="Helvetica"/>
              </a:rPr>
              <a:t>G</a:t>
            </a:r>
          </a:p>
        </p:txBody>
      </p:sp>
      <p:sp>
        <p:nvSpPr>
          <p:cNvPr id="15" name="TextBox 14"/>
          <p:cNvSpPr txBox="1"/>
          <p:nvPr/>
        </p:nvSpPr>
        <p:spPr>
          <a:xfrm>
            <a:off x="5148064" y="4426685"/>
            <a:ext cx="1031577" cy="369332"/>
          </a:xfrm>
          <a:prstGeom prst="rect">
            <a:avLst/>
          </a:prstGeom>
          <a:solidFill>
            <a:srgbClr val="FFFFFF"/>
          </a:solidFill>
        </p:spPr>
        <p:txBody>
          <a:bodyPr wrap="none" rtlCol="0">
            <a:spAutoFit/>
          </a:bodyPr>
          <a:lstStyle/>
          <a:p>
            <a:r>
              <a:rPr lang="en-US" dirty="0">
                <a:solidFill>
                  <a:srgbClr val="FF0000"/>
                </a:solidFill>
                <a:latin typeface="Helvetica"/>
                <a:cs typeface="Helvetica"/>
              </a:rPr>
              <a:t>Arginine</a:t>
            </a:r>
          </a:p>
        </p:txBody>
      </p:sp>
      <p:sp>
        <p:nvSpPr>
          <p:cNvPr id="8" name="Rectangle 7"/>
          <p:cNvSpPr/>
          <p:nvPr/>
        </p:nvSpPr>
        <p:spPr>
          <a:xfrm>
            <a:off x="1907704" y="5969482"/>
            <a:ext cx="4392972" cy="6967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7162061" y="2409347"/>
            <a:ext cx="1903849" cy="369332"/>
          </a:xfrm>
          <a:prstGeom prst="rect">
            <a:avLst/>
          </a:prstGeom>
          <a:noFill/>
        </p:spPr>
        <p:txBody>
          <a:bodyPr wrap="none" rtlCol="0">
            <a:spAutoFit/>
          </a:bodyPr>
          <a:lstStyle/>
          <a:p>
            <a:r>
              <a:rPr lang="en-US" dirty="0">
                <a:latin typeface="Helvetica"/>
                <a:cs typeface="Helvetica"/>
              </a:rPr>
              <a:t>wild type protein</a:t>
            </a:r>
          </a:p>
        </p:txBody>
      </p:sp>
      <p:sp>
        <p:nvSpPr>
          <p:cNvPr id="11" name="TextBox 10"/>
          <p:cNvSpPr txBox="1"/>
          <p:nvPr/>
        </p:nvSpPr>
        <p:spPr>
          <a:xfrm>
            <a:off x="7180087" y="4869596"/>
            <a:ext cx="1685978" cy="369332"/>
          </a:xfrm>
          <a:prstGeom prst="rect">
            <a:avLst/>
          </a:prstGeom>
          <a:noFill/>
        </p:spPr>
        <p:txBody>
          <a:bodyPr wrap="none" rtlCol="0">
            <a:spAutoFit/>
          </a:bodyPr>
          <a:lstStyle/>
          <a:p>
            <a:r>
              <a:rPr lang="en-US" dirty="0">
                <a:latin typeface="Helvetica"/>
                <a:cs typeface="Helvetica"/>
              </a:rPr>
              <a:t>altered protein</a:t>
            </a:r>
          </a:p>
        </p:txBody>
      </p:sp>
    </p:spTree>
    <p:extLst>
      <p:ext uri="{BB962C8B-B14F-4D97-AF65-F5344CB8AC3E}">
        <p14:creationId xmlns:p14="http://schemas.microsoft.com/office/powerpoint/2010/main" val="327984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143000"/>
          </a:xfrm>
        </p:spPr>
        <p:txBody>
          <a:bodyPr/>
          <a:lstStyle/>
          <a:p>
            <a:r>
              <a:rPr lang="en-US" dirty="0"/>
              <a:t>Mutations lead to different traits </a:t>
            </a:r>
          </a:p>
        </p:txBody>
      </p:sp>
      <p:sp>
        <p:nvSpPr>
          <p:cNvPr id="23555" name="Slide Number Placeholder 49"/>
          <p:cNvSpPr>
            <a:spLocks noGrp="1"/>
          </p:cNvSpPr>
          <p:nvPr>
            <p:ph type="sldNum" sz="quarter" idx="10"/>
          </p:nvPr>
        </p:nvSpPr>
        <p:spPr bwMode="auto">
          <a:noFill/>
          <a:ln>
            <a:miter lim="800000"/>
            <a:headEnd/>
            <a:tailEnd/>
          </a:ln>
        </p:spPr>
        <p:txBody>
          <a:bodyPr/>
          <a:lstStyle/>
          <a:p>
            <a:fld id="{336C9A80-410A-EA46-960D-C5F3FBD40A2D}" type="slidenum">
              <a:rPr lang="en-US"/>
              <a:pPr/>
              <a:t>17</a:t>
            </a:fld>
            <a:endParaRPr lang="en-US"/>
          </a:p>
        </p:txBody>
      </p:sp>
      <p:pic>
        <p:nvPicPr>
          <p:cNvPr id="23556" name="Picture 25" descr="har2526X_bx02_01a_unlabeled"/>
          <p:cNvPicPr>
            <a:picLocks noChangeAspect="1" noChangeArrowheads="1"/>
          </p:cNvPicPr>
          <p:nvPr/>
        </p:nvPicPr>
        <p:blipFill>
          <a:blip r:embed="rId3"/>
          <a:srcRect/>
          <a:stretch>
            <a:fillRect/>
          </a:stretch>
        </p:blipFill>
        <p:spPr bwMode="auto">
          <a:xfrm>
            <a:off x="47625" y="2203450"/>
            <a:ext cx="9017000" cy="2414588"/>
          </a:xfrm>
          <a:prstGeom prst="rect">
            <a:avLst/>
          </a:prstGeom>
          <a:noFill/>
          <a:ln w="9525">
            <a:noFill/>
            <a:miter lim="800000"/>
            <a:headEnd/>
            <a:tailEnd/>
          </a:ln>
        </p:spPr>
      </p:pic>
      <p:sp>
        <p:nvSpPr>
          <p:cNvPr id="23557" name="Rectangle 87"/>
          <p:cNvSpPr>
            <a:spLocks noChangeArrowheads="1"/>
          </p:cNvSpPr>
          <p:nvPr/>
        </p:nvSpPr>
        <p:spPr bwMode="auto">
          <a:xfrm>
            <a:off x="539750" y="2487613"/>
            <a:ext cx="119063" cy="198437"/>
          </a:xfrm>
          <a:prstGeom prst="rect">
            <a:avLst/>
          </a:prstGeom>
          <a:noFill/>
          <a:ln w="9525">
            <a:noFill/>
            <a:miter lim="800000"/>
            <a:headEnd/>
            <a:tailEnd/>
          </a:ln>
        </p:spPr>
        <p:txBody>
          <a:bodyPr wrap="none" lIns="0" tIns="0" rIns="0" bIns="0">
            <a:prstTxWarp prst="textNoShape">
              <a:avLst/>
            </a:prstTxWarp>
            <a:spAutoFit/>
          </a:bodyPr>
          <a:lstStyle/>
          <a:p>
            <a:r>
              <a:rPr lang="en-US" sz="1300">
                <a:solidFill>
                  <a:srgbClr val="ED1C24"/>
                </a:solidFill>
              </a:rPr>
              <a:t>R</a:t>
            </a:r>
            <a:endParaRPr lang="en-US" sz="800"/>
          </a:p>
        </p:txBody>
      </p:sp>
      <p:sp>
        <p:nvSpPr>
          <p:cNvPr id="23558" name="Rectangle 103"/>
          <p:cNvSpPr>
            <a:spLocks noChangeArrowheads="1"/>
          </p:cNvSpPr>
          <p:nvPr/>
        </p:nvSpPr>
        <p:spPr bwMode="auto">
          <a:xfrm>
            <a:off x="541338" y="3773488"/>
            <a:ext cx="63500" cy="198437"/>
          </a:xfrm>
          <a:prstGeom prst="rect">
            <a:avLst/>
          </a:prstGeom>
          <a:noFill/>
          <a:ln w="9525">
            <a:noFill/>
            <a:miter lim="800000"/>
            <a:headEnd/>
            <a:tailEnd/>
          </a:ln>
        </p:spPr>
        <p:txBody>
          <a:bodyPr wrap="none" lIns="0" tIns="0" rIns="0" bIns="0">
            <a:prstTxWarp prst="textNoShape">
              <a:avLst/>
            </a:prstTxWarp>
            <a:spAutoFit/>
          </a:bodyPr>
          <a:lstStyle/>
          <a:p>
            <a:r>
              <a:rPr lang="en-US" sz="1300">
                <a:solidFill>
                  <a:srgbClr val="F48165"/>
                </a:solidFill>
              </a:rPr>
              <a:t>r</a:t>
            </a:r>
            <a:endParaRPr lang="en-US" sz="800"/>
          </a:p>
        </p:txBody>
      </p:sp>
      <p:sp>
        <p:nvSpPr>
          <p:cNvPr id="23559" name="Text Box 247"/>
          <p:cNvSpPr txBox="1">
            <a:spLocks noChangeArrowheads="1"/>
          </p:cNvSpPr>
          <p:nvPr/>
        </p:nvSpPr>
        <p:spPr bwMode="auto">
          <a:xfrm>
            <a:off x="2701925" y="2925763"/>
            <a:ext cx="1003300" cy="198437"/>
          </a:xfrm>
          <a:prstGeom prst="rect">
            <a:avLst/>
          </a:prstGeom>
          <a:noFill/>
          <a:ln w="28575">
            <a:noFill/>
            <a:miter lim="800000"/>
            <a:headEnd/>
            <a:tailEnd/>
          </a:ln>
        </p:spPr>
        <p:txBody>
          <a:bodyPr wrap="none" lIns="0" tIns="0" bIns="0">
            <a:prstTxWarp prst="textNoShape">
              <a:avLst/>
            </a:prstTxWarp>
            <a:spAutoFit/>
          </a:bodyPr>
          <a:lstStyle/>
          <a:p>
            <a:r>
              <a:rPr lang="en-US" sz="1300"/>
              <a:t>Conversion</a:t>
            </a:r>
          </a:p>
        </p:txBody>
      </p:sp>
      <p:sp>
        <p:nvSpPr>
          <p:cNvPr id="23560" name="Text Box 248"/>
          <p:cNvSpPr txBox="1">
            <a:spLocks noChangeArrowheads="1"/>
          </p:cNvSpPr>
          <p:nvPr/>
        </p:nvSpPr>
        <p:spPr bwMode="auto">
          <a:xfrm>
            <a:off x="2720975" y="4071938"/>
            <a:ext cx="976313" cy="396875"/>
          </a:xfrm>
          <a:prstGeom prst="rect">
            <a:avLst/>
          </a:prstGeom>
          <a:noFill/>
          <a:ln w="28575">
            <a:noFill/>
            <a:miter lim="800000"/>
            <a:headEnd/>
            <a:tailEnd/>
          </a:ln>
        </p:spPr>
        <p:txBody>
          <a:bodyPr wrap="none" lIns="0" tIns="0" bIns="0">
            <a:prstTxWarp prst="textNoShape">
              <a:avLst/>
            </a:prstTxWarp>
            <a:spAutoFit/>
          </a:bodyPr>
          <a:lstStyle/>
          <a:p>
            <a:pPr algn="ctr"/>
            <a:r>
              <a:rPr lang="en-US" sz="1300"/>
              <a:t>No</a:t>
            </a:r>
          </a:p>
          <a:p>
            <a:pPr algn="ctr"/>
            <a:r>
              <a:rPr lang="en-US" sz="1300"/>
              <a:t>conversion</a:t>
            </a:r>
          </a:p>
        </p:txBody>
      </p:sp>
      <p:sp>
        <p:nvSpPr>
          <p:cNvPr id="23561" name="Text Box 249"/>
          <p:cNvSpPr txBox="1">
            <a:spLocks noChangeArrowheads="1"/>
          </p:cNvSpPr>
          <p:nvPr/>
        </p:nvSpPr>
        <p:spPr bwMode="auto">
          <a:xfrm>
            <a:off x="1016000" y="4405313"/>
            <a:ext cx="1601788" cy="200025"/>
          </a:xfrm>
          <a:prstGeom prst="rect">
            <a:avLst/>
          </a:prstGeom>
          <a:noFill/>
          <a:ln w="28575">
            <a:noFill/>
            <a:miter lim="800000"/>
            <a:headEnd/>
            <a:tailEnd/>
          </a:ln>
        </p:spPr>
        <p:txBody>
          <a:bodyPr wrap="none" lIns="0" tIns="0" bIns="0">
            <a:prstTxWarp prst="textNoShape">
              <a:avLst/>
            </a:prstTxWarp>
            <a:spAutoFit/>
          </a:bodyPr>
          <a:lstStyle/>
          <a:p>
            <a:r>
              <a:rPr lang="en-US" sz="1300"/>
              <a:t>Unbranched starch</a:t>
            </a:r>
          </a:p>
        </p:txBody>
      </p:sp>
      <p:sp>
        <p:nvSpPr>
          <p:cNvPr id="23562" name="Text Box 250"/>
          <p:cNvSpPr txBox="1">
            <a:spLocks noChangeArrowheads="1"/>
          </p:cNvSpPr>
          <p:nvPr/>
        </p:nvSpPr>
        <p:spPr bwMode="auto">
          <a:xfrm>
            <a:off x="71438" y="1982788"/>
            <a:ext cx="506412" cy="198437"/>
          </a:xfrm>
          <a:prstGeom prst="rect">
            <a:avLst/>
          </a:prstGeom>
          <a:noFill/>
          <a:ln w="28575">
            <a:noFill/>
            <a:miter lim="800000"/>
            <a:headEnd/>
            <a:tailEnd/>
          </a:ln>
        </p:spPr>
        <p:txBody>
          <a:bodyPr wrap="none" lIns="0" tIns="0" bIns="0">
            <a:prstTxWarp prst="textNoShape">
              <a:avLst/>
            </a:prstTxWarp>
            <a:spAutoFit/>
          </a:bodyPr>
          <a:lstStyle/>
          <a:p>
            <a:r>
              <a:rPr lang="en-US" sz="1300"/>
              <a:t>Gene</a:t>
            </a:r>
          </a:p>
        </p:txBody>
      </p:sp>
      <p:sp>
        <p:nvSpPr>
          <p:cNvPr id="23564" name="Text Box 252"/>
          <p:cNvSpPr txBox="1">
            <a:spLocks noChangeArrowheads="1"/>
          </p:cNvSpPr>
          <p:nvPr/>
        </p:nvSpPr>
        <p:spPr bwMode="auto">
          <a:xfrm>
            <a:off x="6215063" y="1982788"/>
            <a:ext cx="928687" cy="198437"/>
          </a:xfrm>
          <a:prstGeom prst="rect">
            <a:avLst/>
          </a:prstGeom>
          <a:noFill/>
          <a:ln w="28575">
            <a:noFill/>
            <a:miter lim="800000"/>
            <a:headEnd/>
            <a:tailEnd/>
          </a:ln>
        </p:spPr>
        <p:txBody>
          <a:bodyPr wrap="none" lIns="0" tIns="0" bIns="0">
            <a:prstTxWarp prst="textNoShape">
              <a:avLst/>
            </a:prstTxWarp>
            <a:spAutoFit/>
          </a:bodyPr>
          <a:lstStyle/>
          <a:p>
            <a:r>
              <a:rPr lang="en-US" sz="1300"/>
              <a:t>Pea Shape</a:t>
            </a:r>
          </a:p>
        </p:txBody>
      </p:sp>
      <p:sp>
        <p:nvSpPr>
          <p:cNvPr id="23565" name="Text Box 253"/>
          <p:cNvSpPr txBox="1">
            <a:spLocks noChangeArrowheads="1"/>
          </p:cNvSpPr>
          <p:nvPr/>
        </p:nvSpPr>
        <p:spPr bwMode="auto">
          <a:xfrm>
            <a:off x="3535363" y="2346325"/>
            <a:ext cx="698500" cy="396875"/>
          </a:xfrm>
          <a:prstGeom prst="rect">
            <a:avLst/>
          </a:prstGeom>
          <a:noFill/>
          <a:ln w="28575">
            <a:noFill/>
            <a:miter lim="800000"/>
            <a:headEnd/>
            <a:tailEnd/>
          </a:ln>
        </p:spPr>
        <p:txBody>
          <a:bodyPr wrap="none" lIns="0" tIns="0" bIns="0">
            <a:prstTxWarp prst="textNoShape">
              <a:avLst/>
            </a:prstTxWarp>
            <a:spAutoFit/>
          </a:bodyPr>
          <a:lstStyle/>
          <a:p>
            <a:r>
              <a:rPr lang="en-US" sz="1300"/>
              <a:t>Active</a:t>
            </a:r>
          </a:p>
          <a:p>
            <a:r>
              <a:rPr lang="en-US" sz="1300"/>
              <a:t>enzyme</a:t>
            </a:r>
          </a:p>
        </p:txBody>
      </p:sp>
      <p:sp>
        <p:nvSpPr>
          <p:cNvPr id="23566" name="Text Box 254"/>
          <p:cNvSpPr txBox="1">
            <a:spLocks noChangeArrowheads="1"/>
          </p:cNvSpPr>
          <p:nvPr/>
        </p:nvSpPr>
        <p:spPr bwMode="auto">
          <a:xfrm>
            <a:off x="1016000" y="3167063"/>
            <a:ext cx="1601788" cy="198437"/>
          </a:xfrm>
          <a:prstGeom prst="rect">
            <a:avLst/>
          </a:prstGeom>
          <a:noFill/>
          <a:ln w="28575">
            <a:noFill/>
            <a:miter lim="800000"/>
            <a:headEnd/>
            <a:tailEnd/>
          </a:ln>
        </p:spPr>
        <p:txBody>
          <a:bodyPr wrap="none" lIns="0" tIns="0" bIns="0">
            <a:prstTxWarp prst="textNoShape">
              <a:avLst/>
            </a:prstTxWarp>
            <a:spAutoFit/>
          </a:bodyPr>
          <a:lstStyle/>
          <a:p>
            <a:r>
              <a:rPr lang="en-US" sz="1300"/>
              <a:t>Unbranched starch</a:t>
            </a:r>
          </a:p>
        </p:txBody>
      </p:sp>
      <p:sp>
        <p:nvSpPr>
          <p:cNvPr id="23567" name="Text Box 255"/>
          <p:cNvSpPr txBox="1">
            <a:spLocks noChangeArrowheads="1"/>
          </p:cNvSpPr>
          <p:nvPr/>
        </p:nvSpPr>
        <p:spPr bwMode="auto">
          <a:xfrm>
            <a:off x="4545013" y="3167063"/>
            <a:ext cx="1400175" cy="198437"/>
          </a:xfrm>
          <a:prstGeom prst="rect">
            <a:avLst/>
          </a:prstGeom>
          <a:noFill/>
          <a:ln w="28575">
            <a:noFill/>
            <a:miter lim="800000"/>
            <a:headEnd/>
            <a:tailEnd/>
          </a:ln>
        </p:spPr>
        <p:txBody>
          <a:bodyPr wrap="none" lIns="0" tIns="0" bIns="0">
            <a:prstTxWarp prst="textNoShape">
              <a:avLst/>
            </a:prstTxWarp>
            <a:spAutoFit/>
          </a:bodyPr>
          <a:lstStyle/>
          <a:p>
            <a:r>
              <a:rPr lang="en-US" sz="1300"/>
              <a:t>Branched starch</a:t>
            </a:r>
          </a:p>
        </p:txBody>
      </p:sp>
      <p:sp>
        <p:nvSpPr>
          <p:cNvPr id="23568" name="Text Box 256"/>
          <p:cNvSpPr txBox="1">
            <a:spLocks noChangeArrowheads="1"/>
          </p:cNvSpPr>
          <p:nvPr/>
        </p:nvSpPr>
        <p:spPr bwMode="auto">
          <a:xfrm>
            <a:off x="6269038" y="3167063"/>
            <a:ext cx="949325" cy="198437"/>
          </a:xfrm>
          <a:prstGeom prst="rect">
            <a:avLst/>
          </a:prstGeom>
          <a:noFill/>
          <a:ln w="28575">
            <a:noFill/>
            <a:miter lim="800000"/>
            <a:headEnd/>
            <a:tailEnd/>
          </a:ln>
        </p:spPr>
        <p:txBody>
          <a:bodyPr wrap="none" lIns="0" tIns="0" bIns="0">
            <a:prstTxWarp prst="textNoShape">
              <a:avLst/>
            </a:prstTxWarp>
            <a:spAutoFit/>
          </a:bodyPr>
          <a:lstStyle/>
          <a:p>
            <a:r>
              <a:rPr lang="en-US" sz="1300"/>
              <a:t>Round pea</a:t>
            </a:r>
          </a:p>
        </p:txBody>
      </p:sp>
      <p:sp>
        <p:nvSpPr>
          <p:cNvPr id="23569" name="Text Box 257"/>
          <p:cNvSpPr txBox="1">
            <a:spLocks noChangeArrowheads="1"/>
          </p:cNvSpPr>
          <p:nvPr/>
        </p:nvSpPr>
        <p:spPr bwMode="auto">
          <a:xfrm>
            <a:off x="6124575" y="4394200"/>
            <a:ext cx="1122363" cy="198438"/>
          </a:xfrm>
          <a:prstGeom prst="rect">
            <a:avLst/>
          </a:prstGeom>
          <a:noFill/>
          <a:ln w="28575">
            <a:noFill/>
            <a:miter lim="800000"/>
            <a:headEnd/>
            <a:tailEnd/>
          </a:ln>
        </p:spPr>
        <p:txBody>
          <a:bodyPr wrap="none" lIns="0" tIns="0" bIns="0">
            <a:prstTxWarp prst="textNoShape">
              <a:avLst/>
            </a:prstTxWarp>
            <a:spAutoFit/>
          </a:bodyPr>
          <a:lstStyle/>
          <a:p>
            <a:r>
              <a:rPr lang="en-US" sz="1300"/>
              <a:t>Wrinkled pea</a:t>
            </a:r>
          </a:p>
        </p:txBody>
      </p:sp>
      <p:sp>
        <p:nvSpPr>
          <p:cNvPr id="23570" name="Text Box 258"/>
          <p:cNvSpPr txBox="1">
            <a:spLocks noChangeArrowheads="1"/>
          </p:cNvSpPr>
          <p:nvPr/>
        </p:nvSpPr>
        <p:spPr bwMode="auto">
          <a:xfrm>
            <a:off x="4340225" y="4405313"/>
            <a:ext cx="1601788" cy="200025"/>
          </a:xfrm>
          <a:prstGeom prst="rect">
            <a:avLst/>
          </a:prstGeom>
          <a:noFill/>
          <a:ln w="28575">
            <a:noFill/>
            <a:miter lim="800000"/>
            <a:headEnd/>
            <a:tailEnd/>
          </a:ln>
        </p:spPr>
        <p:txBody>
          <a:bodyPr wrap="none" lIns="0" tIns="0" bIns="0">
            <a:prstTxWarp prst="textNoShape">
              <a:avLst/>
            </a:prstTxWarp>
            <a:spAutoFit/>
          </a:bodyPr>
          <a:lstStyle/>
          <a:p>
            <a:r>
              <a:rPr lang="en-US" sz="1300"/>
              <a:t>Unbranched starch</a:t>
            </a:r>
          </a:p>
        </p:txBody>
      </p:sp>
      <p:sp>
        <p:nvSpPr>
          <p:cNvPr id="23571" name="Text Box 259"/>
          <p:cNvSpPr txBox="1">
            <a:spLocks noChangeArrowheads="1"/>
          </p:cNvSpPr>
          <p:nvPr/>
        </p:nvSpPr>
        <p:spPr bwMode="auto">
          <a:xfrm>
            <a:off x="3803650" y="4002088"/>
            <a:ext cx="312738" cy="396875"/>
          </a:xfrm>
          <a:prstGeom prst="rect">
            <a:avLst/>
          </a:prstGeom>
          <a:noFill/>
          <a:ln w="28575">
            <a:noFill/>
            <a:miter lim="800000"/>
            <a:headEnd/>
            <a:tailEnd/>
          </a:ln>
        </p:spPr>
        <p:txBody>
          <a:bodyPr wrap="none" lIns="0" tIns="0" bIns="0">
            <a:prstTxWarp prst="textNoShape">
              <a:avLst/>
            </a:prstTxWarp>
            <a:spAutoFit/>
          </a:bodyPr>
          <a:lstStyle/>
          <a:p>
            <a:r>
              <a:rPr lang="en-US" sz="2600"/>
              <a:t>X</a:t>
            </a:r>
          </a:p>
        </p:txBody>
      </p:sp>
      <p:sp>
        <p:nvSpPr>
          <p:cNvPr id="23572" name="Text Box 260"/>
          <p:cNvSpPr txBox="1">
            <a:spLocks noChangeArrowheads="1"/>
          </p:cNvSpPr>
          <p:nvPr/>
        </p:nvSpPr>
        <p:spPr bwMode="auto">
          <a:xfrm>
            <a:off x="3521075" y="3530600"/>
            <a:ext cx="709613" cy="396875"/>
          </a:xfrm>
          <a:prstGeom prst="rect">
            <a:avLst/>
          </a:prstGeom>
          <a:noFill/>
          <a:ln w="28575">
            <a:noFill/>
            <a:miter lim="800000"/>
            <a:headEnd/>
            <a:tailEnd/>
          </a:ln>
        </p:spPr>
        <p:txBody>
          <a:bodyPr wrap="none" lIns="0" tIns="0" bIns="0">
            <a:prstTxWarp prst="textNoShape">
              <a:avLst/>
            </a:prstTxWarp>
            <a:spAutoFit/>
          </a:bodyPr>
          <a:lstStyle/>
          <a:p>
            <a:r>
              <a:rPr lang="en-US" sz="1300"/>
              <a:t>Inactive</a:t>
            </a:r>
          </a:p>
          <a:p>
            <a:r>
              <a:rPr lang="en-US" sz="1300"/>
              <a:t>enzyme</a:t>
            </a:r>
          </a:p>
        </p:txBody>
      </p:sp>
      <p:sp>
        <p:nvSpPr>
          <p:cNvPr id="23573" name="Text Box 262"/>
          <p:cNvSpPr txBox="1">
            <a:spLocks noChangeArrowheads="1"/>
          </p:cNvSpPr>
          <p:nvPr/>
        </p:nvSpPr>
        <p:spPr bwMode="auto">
          <a:xfrm>
            <a:off x="112713" y="2306638"/>
            <a:ext cx="855662" cy="396875"/>
          </a:xfrm>
          <a:prstGeom prst="rect">
            <a:avLst/>
          </a:prstGeom>
          <a:noFill/>
          <a:ln w="28575">
            <a:noFill/>
            <a:miter lim="800000"/>
            <a:headEnd/>
            <a:tailEnd/>
          </a:ln>
        </p:spPr>
        <p:txBody>
          <a:bodyPr wrap="none" lIns="0" tIns="0" bIns="0">
            <a:prstTxWarp prst="textNoShape">
              <a:avLst/>
            </a:prstTxWarp>
            <a:spAutoFit/>
          </a:bodyPr>
          <a:lstStyle/>
          <a:p>
            <a:r>
              <a:rPr lang="en-US" sz="1300"/>
              <a:t>Dominant</a:t>
            </a:r>
          </a:p>
          <a:p>
            <a:r>
              <a:rPr lang="en-US" sz="1300"/>
              <a:t>allele </a:t>
            </a:r>
          </a:p>
        </p:txBody>
      </p:sp>
      <p:sp>
        <p:nvSpPr>
          <p:cNvPr id="23574" name="Text Box 263"/>
          <p:cNvSpPr txBox="1">
            <a:spLocks noChangeArrowheads="1"/>
          </p:cNvSpPr>
          <p:nvPr/>
        </p:nvSpPr>
        <p:spPr bwMode="auto">
          <a:xfrm>
            <a:off x="87313" y="3598863"/>
            <a:ext cx="901700" cy="396875"/>
          </a:xfrm>
          <a:prstGeom prst="rect">
            <a:avLst/>
          </a:prstGeom>
          <a:noFill/>
          <a:ln w="28575">
            <a:noFill/>
            <a:miter lim="800000"/>
            <a:headEnd/>
            <a:tailEnd/>
          </a:ln>
        </p:spPr>
        <p:txBody>
          <a:bodyPr wrap="none" lIns="0" tIns="0" bIns="0">
            <a:prstTxWarp prst="textNoShape">
              <a:avLst/>
            </a:prstTxWarp>
            <a:spAutoFit/>
          </a:bodyPr>
          <a:lstStyle/>
          <a:p>
            <a:r>
              <a:rPr lang="en-US" sz="1300"/>
              <a:t>Recessive</a:t>
            </a:r>
          </a:p>
          <a:p>
            <a:r>
              <a:rPr lang="en-US" sz="1300"/>
              <a:t>allele</a:t>
            </a:r>
          </a:p>
        </p:txBody>
      </p:sp>
      <p:sp>
        <p:nvSpPr>
          <p:cNvPr id="23575" name="Text Box 4"/>
          <p:cNvSpPr txBox="1">
            <a:spLocks noChangeArrowheads="1"/>
          </p:cNvSpPr>
          <p:nvPr/>
        </p:nvSpPr>
        <p:spPr bwMode="auto">
          <a:xfrm>
            <a:off x="1511300" y="4668838"/>
            <a:ext cx="6096000" cy="223837"/>
          </a:xfrm>
          <a:prstGeom prst="rect">
            <a:avLst/>
          </a:prstGeom>
          <a:noFill/>
          <a:ln w="9525">
            <a:noFill/>
            <a:miter lim="800000"/>
            <a:headEnd/>
            <a:tailEnd/>
          </a:ln>
        </p:spPr>
        <p:txBody>
          <a:bodyPr lIns="102833" tIns="51417" rIns="102833" bIns="51417">
            <a:prstTxWarp prst="textNoShape">
              <a:avLst/>
            </a:prstTxWarp>
            <a:spAutoFit/>
          </a:bodyPr>
          <a:lstStyle/>
          <a:p>
            <a:pPr algn="ctr" defTabSz="1028700">
              <a:spcBef>
                <a:spcPct val="50000"/>
              </a:spcBef>
            </a:pPr>
            <a:r>
              <a:rPr lang="en-US" sz="800" b="0"/>
              <a:t>(right): Reprinted from Bhattacharyya MK, et al. Cell. 1990 Jan 12: 60(1):115–22, with permission from Elsevier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1646238" y="6445523"/>
            <a:ext cx="6096000" cy="223837"/>
          </a:xfrm>
          <a:prstGeom prst="rect">
            <a:avLst/>
          </a:prstGeom>
          <a:noFill/>
          <a:ln w="9525">
            <a:noFill/>
            <a:miter lim="800000"/>
            <a:headEnd/>
            <a:tailEnd/>
          </a:ln>
        </p:spPr>
        <p:txBody>
          <a:bodyPr lIns="102833" tIns="51417" rIns="102833" bIns="51417">
            <a:prstTxWarp prst="textNoShape">
              <a:avLst/>
            </a:prstTxWarp>
            <a:spAutoFit/>
          </a:bodyPr>
          <a:lstStyle/>
          <a:p>
            <a:pPr algn="ctr" defTabSz="1028700">
              <a:spcBef>
                <a:spcPct val="50000"/>
              </a:spcBef>
            </a:pPr>
            <a:r>
              <a:rPr lang="en-US" sz="800" b="0" dirty="0"/>
              <a:t>Copyright </a:t>
            </a:r>
            <a:r>
              <a:rPr lang="en-US" sz="800" b="0" dirty="0">
                <a:ea typeface="Times New Roman" pitchFamily="-65" charset="0"/>
                <a:cs typeface="Times New Roman" pitchFamily="-65" charset="0"/>
              </a:rPr>
              <a:t>© </a:t>
            </a:r>
            <a:r>
              <a:rPr lang="en-US" sz="800" b="0" dirty="0"/>
              <a:t>The McGraw-Hill Companies, Inc. Permission required for reproduction or display.</a:t>
            </a:r>
          </a:p>
        </p:txBody>
      </p:sp>
      <p:pic>
        <p:nvPicPr>
          <p:cNvPr id="24579" name="Picture 40" descr="har2526X_bx02_01b_unlabeled"/>
          <p:cNvPicPr>
            <a:picLocks noChangeAspect="1" noChangeArrowheads="1"/>
          </p:cNvPicPr>
          <p:nvPr/>
        </p:nvPicPr>
        <p:blipFill>
          <a:blip r:embed="rId3"/>
          <a:srcRect/>
          <a:stretch>
            <a:fillRect/>
          </a:stretch>
        </p:blipFill>
        <p:spPr bwMode="auto">
          <a:xfrm>
            <a:off x="1646238" y="2237160"/>
            <a:ext cx="5127625" cy="3559175"/>
          </a:xfrm>
          <a:prstGeom prst="rect">
            <a:avLst/>
          </a:prstGeom>
          <a:noFill/>
          <a:ln w="9525">
            <a:noFill/>
            <a:miter lim="800000"/>
            <a:headEnd/>
            <a:tailEnd/>
          </a:ln>
        </p:spPr>
      </p:pic>
      <p:sp>
        <p:nvSpPr>
          <p:cNvPr id="24580" name="Freeform 92"/>
          <p:cNvSpPr>
            <a:spLocks/>
          </p:cNvSpPr>
          <p:nvPr/>
        </p:nvSpPr>
        <p:spPr bwMode="auto">
          <a:xfrm>
            <a:off x="3132138" y="2378448"/>
            <a:ext cx="371475" cy="320675"/>
          </a:xfrm>
          <a:custGeom>
            <a:avLst/>
            <a:gdLst>
              <a:gd name="T0" fmla="*/ 371475 w 234"/>
              <a:gd name="T1" fmla="*/ 157163 h 202"/>
              <a:gd name="T2" fmla="*/ 0 w 234"/>
              <a:gd name="T3" fmla="*/ 0 h 202"/>
              <a:gd name="T4" fmla="*/ 157163 w 234"/>
              <a:gd name="T5" fmla="*/ 320675 h 202"/>
              <a:gd name="T6" fmla="*/ 0 60000 65536"/>
              <a:gd name="T7" fmla="*/ 0 60000 65536"/>
              <a:gd name="T8" fmla="*/ 0 60000 65536"/>
              <a:gd name="T9" fmla="*/ 0 w 234"/>
              <a:gd name="T10" fmla="*/ 0 h 202"/>
              <a:gd name="T11" fmla="*/ 234 w 234"/>
              <a:gd name="T12" fmla="*/ 202 h 202"/>
            </a:gdLst>
            <a:ahLst/>
            <a:cxnLst>
              <a:cxn ang="T6">
                <a:pos x="T0" y="T1"/>
              </a:cxn>
              <a:cxn ang="T7">
                <a:pos x="T2" y="T3"/>
              </a:cxn>
              <a:cxn ang="T8">
                <a:pos x="T4" y="T5"/>
              </a:cxn>
            </a:cxnLst>
            <a:rect l="T9" t="T10" r="T11" b="T12"/>
            <a:pathLst>
              <a:path w="234" h="202">
                <a:moveTo>
                  <a:pt x="234" y="99"/>
                </a:moveTo>
                <a:lnTo>
                  <a:pt x="0" y="0"/>
                </a:lnTo>
                <a:lnTo>
                  <a:pt x="99" y="202"/>
                </a:lnTo>
              </a:path>
            </a:pathLst>
          </a:custGeom>
          <a:noFill/>
          <a:ln w="19050">
            <a:solidFill>
              <a:srgbClr val="000000"/>
            </a:solidFill>
            <a:round/>
            <a:headEnd/>
            <a:tailEnd/>
          </a:ln>
        </p:spPr>
        <p:txBody>
          <a:bodyPr>
            <a:prstTxWarp prst="textNoShape">
              <a:avLst/>
            </a:prstTxWarp>
          </a:bodyPr>
          <a:lstStyle/>
          <a:p>
            <a:endParaRPr lang="en-US"/>
          </a:p>
        </p:txBody>
      </p:sp>
      <p:sp>
        <p:nvSpPr>
          <p:cNvPr id="24581" name="Freeform 106"/>
          <p:cNvSpPr>
            <a:spLocks/>
          </p:cNvSpPr>
          <p:nvPr/>
        </p:nvSpPr>
        <p:spPr bwMode="auto">
          <a:xfrm>
            <a:off x="6770688" y="2521323"/>
            <a:ext cx="200025" cy="1201737"/>
          </a:xfrm>
          <a:custGeom>
            <a:avLst/>
            <a:gdLst>
              <a:gd name="T0" fmla="*/ 14288 w 126"/>
              <a:gd name="T1" fmla="*/ 0 h 757"/>
              <a:gd name="T2" fmla="*/ 200025 w 126"/>
              <a:gd name="T3" fmla="*/ 0 h 757"/>
              <a:gd name="T4" fmla="*/ 200025 w 126"/>
              <a:gd name="T5" fmla="*/ 1196975 h 757"/>
              <a:gd name="T6" fmla="*/ 0 w 126"/>
              <a:gd name="T7" fmla="*/ 1201737 h 757"/>
              <a:gd name="T8" fmla="*/ 0 60000 65536"/>
              <a:gd name="T9" fmla="*/ 0 60000 65536"/>
              <a:gd name="T10" fmla="*/ 0 60000 65536"/>
              <a:gd name="T11" fmla="*/ 0 60000 65536"/>
              <a:gd name="T12" fmla="*/ 0 w 126"/>
              <a:gd name="T13" fmla="*/ 0 h 757"/>
              <a:gd name="T14" fmla="*/ 126 w 126"/>
              <a:gd name="T15" fmla="*/ 757 h 757"/>
            </a:gdLst>
            <a:ahLst/>
            <a:cxnLst>
              <a:cxn ang="T8">
                <a:pos x="T0" y="T1"/>
              </a:cxn>
              <a:cxn ang="T9">
                <a:pos x="T2" y="T3"/>
              </a:cxn>
              <a:cxn ang="T10">
                <a:pos x="T4" y="T5"/>
              </a:cxn>
              <a:cxn ang="T11">
                <a:pos x="T6" y="T7"/>
              </a:cxn>
            </a:cxnLst>
            <a:rect l="T12" t="T13" r="T14" b="T15"/>
            <a:pathLst>
              <a:path w="126" h="757">
                <a:moveTo>
                  <a:pt x="9" y="0"/>
                </a:moveTo>
                <a:lnTo>
                  <a:pt x="126" y="0"/>
                </a:lnTo>
                <a:lnTo>
                  <a:pt x="126" y="754"/>
                </a:lnTo>
                <a:lnTo>
                  <a:pt x="0" y="757"/>
                </a:lnTo>
              </a:path>
            </a:pathLst>
          </a:custGeom>
          <a:noFill/>
          <a:ln w="19050">
            <a:solidFill>
              <a:srgbClr val="000000"/>
            </a:solidFill>
            <a:round/>
            <a:headEnd/>
            <a:tailEnd/>
          </a:ln>
        </p:spPr>
        <p:txBody>
          <a:bodyPr>
            <a:prstTxWarp prst="textNoShape">
              <a:avLst/>
            </a:prstTxWarp>
          </a:bodyPr>
          <a:lstStyle/>
          <a:p>
            <a:endParaRPr lang="en-US"/>
          </a:p>
        </p:txBody>
      </p:sp>
      <p:sp>
        <p:nvSpPr>
          <p:cNvPr id="24582" name="Freeform 107"/>
          <p:cNvSpPr>
            <a:spLocks/>
          </p:cNvSpPr>
          <p:nvPr/>
        </p:nvSpPr>
        <p:spPr bwMode="auto">
          <a:xfrm>
            <a:off x="6961188" y="3137273"/>
            <a:ext cx="247650" cy="1463675"/>
          </a:xfrm>
          <a:custGeom>
            <a:avLst/>
            <a:gdLst>
              <a:gd name="T0" fmla="*/ 0 w 156"/>
              <a:gd name="T1" fmla="*/ 0 h 922"/>
              <a:gd name="T2" fmla="*/ 247650 w 156"/>
              <a:gd name="T3" fmla="*/ 0 h 922"/>
              <a:gd name="T4" fmla="*/ 247650 w 156"/>
              <a:gd name="T5" fmla="*/ 1463675 h 922"/>
              <a:gd name="T6" fmla="*/ 0 60000 65536"/>
              <a:gd name="T7" fmla="*/ 0 60000 65536"/>
              <a:gd name="T8" fmla="*/ 0 60000 65536"/>
              <a:gd name="T9" fmla="*/ 0 w 156"/>
              <a:gd name="T10" fmla="*/ 0 h 922"/>
              <a:gd name="T11" fmla="*/ 156 w 156"/>
              <a:gd name="T12" fmla="*/ 922 h 922"/>
            </a:gdLst>
            <a:ahLst/>
            <a:cxnLst>
              <a:cxn ang="T6">
                <a:pos x="T0" y="T1"/>
              </a:cxn>
              <a:cxn ang="T7">
                <a:pos x="T2" y="T3"/>
              </a:cxn>
              <a:cxn ang="T8">
                <a:pos x="T4" y="T5"/>
              </a:cxn>
            </a:cxnLst>
            <a:rect l="T9" t="T10" r="T11" b="T12"/>
            <a:pathLst>
              <a:path w="156" h="922">
                <a:moveTo>
                  <a:pt x="0" y="0"/>
                </a:moveTo>
                <a:lnTo>
                  <a:pt x="156" y="0"/>
                </a:lnTo>
                <a:lnTo>
                  <a:pt x="156" y="922"/>
                </a:lnTo>
              </a:path>
            </a:pathLst>
          </a:custGeom>
          <a:noFill/>
          <a:ln w="19050">
            <a:solidFill>
              <a:srgbClr val="000000"/>
            </a:solidFill>
            <a:round/>
            <a:headEnd/>
            <a:tailEnd/>
          </a:ln>
        </p:spPr>
        <p:txBody>
          <a:bodyPr>
            <a:prstTxWarp prst="textNoShape">
              <a:avLst/>
            </a:prstTxWarp>
          </a:bodyPr>
          <a:lstStyle/>
          <a:p>
            <a:endParaRPr lang="en-US"/>
          </a:p>
        </p:txBody>
      </p:sp>
      <p:sp>
        <p:nvSpPr>
          <p:cNvPr id="24583" name="Text Box 108"/>
          <p:cNvSpPr txBox="1">
            <a:spLocks noChangeArrowheads="1"/>
          </p:cNvSpPr>
          <p:nvPr/>
        </p:nvSpPr>
        <p:spPr bwMode="auto">
          <a:xfrm>
            <a:off x="1825101" y="2013546"/>
            <a:ext cx="1522763" cy="615553"/>
          </a:xfrm>
          <a:prstGeom prst="rect">
            <a:avLst/>
          </a:prstGeom>
          <a:noFill/>
          <a:ln w="28575">
            <a:noFill/>
            <a:miter lim="800000"/>
            <a:headEnd/>
            <a:tailEnd/>
          </a:ln>
        </p:spPr>
        <p:txBody>
          <a:bodyPr wrap="none" lIns="0" tIns="0" bIns="0">
            <a:prstTxWarp prst="textNoShape">
              <a:avLst/>
            </a:prstTxWarp>
            <a:spAutoFit/>
          </a:bodyPr>
          <a:lstStyle/>
          <a:p>
            <a:r>
              <a:rPr lang="en-US" sz="2000" dirty="0"/>
              <a:t>Carbohydrate</a:t>
            </a:r>
          </a:p>
          <a:p>
            <a:r>
              <a:rPr lang="en-US" sz="2000" dirty="0"/>
              <a:t>Side chains</a:t>
            </a:r>
          </a:p>
        </p:txBody>
      </p:sp>
      <p:sp>
        <p:nvSpPr>
          <p:cNvPr id="24584" name="Text Box 109"/>
          <p:cNvSpPr txBox="1">
            <a:spLocks noChangeArrowheads="1"/>
          </p:cNvSpPr>
          <p:nvPr/>
        </p:nvSpPr>
        <p:spPr bwMode="auto">
          <a:xfrm>
            <a:off x="6421211" y="4626348"/>
            <a:ext cx="1679181" cy="615553"/>
          </a:xfrm>
          <a:prstGeom prst="rect">
            <a:avLst/>
          </a:prstGeom>
          <a:noFill/>
          <a:ln w="28575">
            <a:noFill/>
            <a:miter lim="800000"/>
            <a:headEnd/>
            <a:tailEnd/>
          </a:ln>
        </p:spPr>
        <p:txBody>
          <a:bodyPr wrap="none" lIns="0" tIns="0" bIns="0">
            <a:prstTxWarp prst="textNoShape">
              <a:avLst/>
            </a:prstTxWarp>
            <a:spAutoFit/>
          </a:bodyPr>
          <a:lstStyle/>
          <a:p>
            <a:r>
              <a:rPr lang="en-US" sz="2000" dirty="0"/>
              <a:t>Lipid bilayer of</a:t>
            </a:r>
          </a:p>
          <a:p>
            <a:r>
              <a:rPr lang="en-US" sz="2000" dirty="0"/>
              <a:t>Cell membrane</a:t>
            </a:r>
          </a:p>
        </p:txBody>
      </p:sp>
      <p:sp>
        <p:nvSpPr>
          <p:cNvPr id="24585" name="Text Box 110"/>
          <p:cNvSpPr txBox="1">
            <a:spLocks noChangeArrowheads="1"/>
          </p:cNvSpPr>
          <p:nvPr/>
        </p:nvSpPr>
        <p:spPr bwMode="auto">
          <a:xfrm>
            <a:off x="5664200" y="5540748"/>
            <a:ext cx="1435725" cy="307777"/>
          </a:xfrm>
          <a:prstGeom prst="rect">
            <a:avLst/>
          </a:prstGeom>
          <a:noFill/>
          <a:ln w="28575">
            <a:noFill/>
            <a:miter lim="800000"/>
            <a:headEnd/>
            <a:tailEnd/>
          </a:ln>
        </p:spPr>
        <p:txBody>
          <a:bodyPr wrap="none" lIns="0" tIns="0" bIns="0">
            <a:prstTxWarp prst="textNoShape">
              <a:avLst/>
            </a:prstTxWarp>
            <a:spAutoFit/>
          </a:bodyPr>
          <a:lstStyle/>
          <a:p>
            <a:r>
              <a:rPr lang="en-US" sz="2000" dirty="0"/>
              <a:t>CFTR protein</a:t>
            </a:r>
          </a:p>
        </p:txBody>
      </p:sp>
      <p:sp>
        <p:nvSpPr>
          <p:cNvPr id="24586" name="Freeform 176"/>
          <p:cNvSpPr>
            <a:spLocks/>
          </p:cNvSpPr>
          <p:nvPr/>
        </p:nvSpPr>
        <p:spPr bwMode="auto">
          <a:xfrm>
            <a:off x="4943475" y="5445498"/>
            <a:ext cx="633413" cy="247650"/>
          </a:xfrm>
          <a:custGeom>
            <a:avLst/>
            <a:gdLst>
              <a:gd name="T0" fmla="*/ 633413 w 399"/>
              <a:gd name="T1" fmla="*/ 247650 h 156"/>
              <a:gd name="T2" fmla="*/ 385763 w 399"/>
              <a:gd name="T3" fmla="*/ 247650 h 156"/>
              <a:gd name="T4" fmla="*/ 0 w 399"/>
              <a:gd name="T5" fmla="*/ 0 h 156"/>
              <a:gd name="T6" fmla="*/ 0 60000 65536"/>
              <a:gd name="T7" fmla="*/ 0 60000 65536"/>
              <a:gd name="T8" fmla="*/ 0 60000 65536"/>
              <a:gd name="T9" fmla="*/ 0 w 399"/>
              <a:gd name="T10" fmla="*/ 0 h 156"/>
              <a:gd name="T11" fmla="*/ 399 w 399"/>
              <a:gd name="T12" fmla="*/ 156 h 156"/>
            </a:gdLst>
            <a:ahLst/>
            <a:cxnLst>
              <a:cxn ang="T6">
                <a:pos x="T0" y="T1"/>
              </a:cxn>
              <a:cxn ang="T7">
                <a:pos x="T2" y="T3"/>
              </a:cxn>
              <a:cxn ang="T8">
                <a:pos x="T4" y="T5"/>
              </a:cxn>
            </a:cxnLst>
            <a:rect l="T9" t="T10" r="T11" b="T12"/>
            <a:pathLst>
              <a:path w="399" h="156">
                <a:moveTo>
                  <a:pt x="399" y="156"/>
                </a:moveTo>
                <a:lnTo>
                  <a:pt x="243" y="156"/>
                </a:lnTo>
                <a:lnTo>
                  <a:pt x="0" y="0"/>
                </a:lnTo>
              </a:path>
            </a:pathLst>
          </a:custGeom>
          <a:noFill/>
          <a:ln w="19050">
            <a:solidFill>
              <a:srgbClr val="000000"/>
            </a:solidFill>
            <a:round/>
            <a:headEnd/>
            <a:tailEnd/>
          </a:ln>
        </p:spPr>
        <p:txBody>
          <a:bodyPr>
            <a:prstTxWarp prst="textNoShape">
              <a:avLst/>
            </a:prstTxWarp>
          </a:bodyPr>
          <a:lstStyle/>
          <a:p>
            <a:endParaRPr lang="en-US"/>
          </a:p>
        </p:txBody>
      </p:sp>
      <p:sp>
        <p:nvSpPr>
          <p:cNvPr id="2" name="Title 1"/>
          <p:cNvSpPr>
            <a:spLocks noGrp="1"/>
          </p:cNvSpPr>
          <p:nvPr>
            <p:ph type="title"/>
          </p:nvPr>
        </p:nvSpPr>
        <p:spPr>
          <a:xfrm>
            <a:off x="1259632" y="332656"/>
            <a:ext cx="6120680" cy="1143000"/>
          </a:xfrm>
        </p:spPr>
        <p:txBody>
          <a:bodyPr/>
          <a:lstStyle/>
          <a:p>
            <a:r>
              <a:rPr lang="en-US" sz="3600" dirty="0"/>
              <a:t>Mutations in the </a:t>
            </a:r>
            <a:r>
              <a:rPr lang="en-US" sz="3600" i="1" dirty="0" err="1"/>
              <a:t>cftr</a:t>
            </a:r>
            <a:r>
              <a:rPr lang="en-US" sz="3600" dirty="0"/>
              <a:t> gene lead to Cystic Fibrosis</a:t>
            </a:r>
          </a:p>
        </p:txBody>
      </p:sp>
      <p:sp>
        <p:nvSpPr>
          <p:cNvPr id="24588" name="Slide Number Placeholder 49"/>
          <p:cNvSpPr>
            <a:spLocks noGrp="1"/>
          </p:cNvSpPr>
          <p:nvPr>
            <p:ph type="sldNum" sz="quarter" idx="10"/>
          </p:nvPr>
        </p:nvSpPr>
        <p:spPr bwMode="auto">
          <a:noFill/>
          <a:ln>
            <a:miter lim="800000"/>
            <a:headEnd/>
            <a:tailEnd/>
          </a:ln>
        </p:spPr>
        <p:txBody>
          <a:bodyPr/>
          <a:lstStyle/>
          <a:p>
            <a:fld id="{906CE765-C55C-1B48-8485-6C9AC66B14A4}" type="slidenum">
              <a:rPr lang="en-US"/>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milestones in genetics</a:t>
            </a:r>
          </a:p>
        </p:txBody>
      </p:sp>
      <p:sp>
        <p:nvSpPr>
          <p:cNvPr id="3" name="Content Placeholder 2"/>
          <p:cNvSpPr>
            <a:spLocks noGrp="1"/>
          </p:cNvSpPr>
          <p:nvPr>
            <p:ph idx="1"/>
          </p:nvPr>
        </p:nvSpPr>
        <p:spPr>
          <a:xfrm>
            <a:off x="457200" y="1960835"/>
            <a:ext cx="8229600" cy="4708525"/>
          </a:xfrm>
        </p:spPr>
        <p:txBody>
          <a:bodyPr/>
          <a:lstStyle/>
          <a:p>
            <a:r>
              <a:rPr lang="en-US" sz="2000" dirty="0"/>
              <a:t>Mendel – basic laws of inheritance – 1865</a:t>
            </a:r>
          </a:p>
          <a:p>
            <a:pPr marL="342900" indent="-342900">
              <a:buFont typeface="Arial"/>
              <a:buChar char="•"/>
            </a:pPr>
            <a:r>
              <a:rPr lang="en-GB" sz="2000" dirty="0"/>
              <a:t>Genes and the rules of inheritance</a:t>
            </a:r>
          </a:p>
          <a:p>
            <a:endParaRPr lang="en-US" sz="2000" dirty="0"/>
          </a:p>
          <a:p>
            <a:r>
              <a:rPr lang="en-US" sz="2000" dirty="0"/>
              <a:t>Watson and Crick – structure of DNA – 1953</a:t>
            </a:r>
          </a:p>
          <a:p>
            <a:endParaRPr lang="en-US" sz="2000" dirty="0"/>
          </a:p>
          <a:p>
            <a:r>
              <a:rPr lang="en-US" sz="2000" dirty="0"/>
              <a:t>Human Genome Project and Celera – sequence and annotation of human genome - 2003</a:t>
            </a:r>
          </a:p>
        </p:txBody>
      </p:sp>
    </p:spTree>
    <p:extLst>
      <p:ext uri="{BB962C8B-B14F-4D97-AF65-F5344CB8AC3E}">
        <p14:creationId xmlns:p14="http://schemas.microsoft.com/office/powerpoint/2010/main" val="1954685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1528763" y="6491288"/>
            <a:ext cx="6088062" cy="365125"/>
          </a:xfrm>
        </p:spPr>
        <p:txBody>
          <a:bodyPr/>
          <a:lstStyle/>
          <a:p>
            <a:pPr>
              <a:defRPr/>
            </a:pPr>
            <a:r>
              <a:rPr lang="en-US"/>
              <a:t>Copyright © The McGraw-Hill Companies, Inc.  Permission required to reproduce or display Hartwell et al., 4th ed., Chapter 1</a:t>
            </a:r>
          </a:p>
        </p:txBody>
      </p:sp>
      <p:sp>
        <p:nvSpPr>
          <p:cNvPr id="40963" name="Slide Number Placeholder 2"/>
          <p:cNvSpPr>
            <a:spLocks noGrp="1"/>
          </p:cNvSpPr>
          <p:nvPr>
            <p:ph type="sldNum" sz="quarter" idx="10"/>
          </p:nvPr>
        </p:nvSpPr>
        <p:spPr bwMode="auto">
          <a:xfrm>
            <a:off x="6553200" y="649128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86013F93-4752-F146-B60B-F869BF45E37B}" type="slidenum">
              <a:rPr lang="en-US" sz="1000">
                <a:solidFill>
                  <a:srgbClr val="898989"/>
                </a:solidFill>
                <a:latin typeface="Helvetica" charset="0"/>
                <a:cs typeface="Helvetica" charset="0"/>
              </a:rPr>
              <a:pPr eaLnBrk="1" hangingPunct="1"/>
              <a:t>20</a:t>
            </a:fld>
            <a:endParaRPr lang="en-US" sz="1000">
              <a:solidFill>
                <a:srgbClr val="898989"/>
              </a:solidFill>
              <a:latin typeface="Helvetica" charset="0"/>
              <a:cs typeface="Helvetica" charset="0"/>
            </a:endParaRPr>
          </a:p>
        </p:txBody>
      </p:sp>
      <p:sp>
        <p:nvSpPr>
          <p:cNvPr id="4" name="Title 3"/>
          <p:cNvSpPr>
            <a:spLocks noGrp="1"/>
          </p:cNvSpPr>
          <p:nvPr>
            <p:ph type="title"/>
          </p:nvPr>
        </p:nvSpPr>
        <p:spPr>
          <a:xfrm>
            <a:off x="444500" y="274638"/>
            <a:ext cx="8229600" cy="1414462"/>
          </a:xfrm>
        </p:spPr>
        <p:txBody>
          <a:bodyPr/>
          <a:lstStyle/>
          <a:p>
            <a:pPr eaLnBrk="1" hangingPunct="1"/>
            <a:r>
              <a:rPr lang="en-US">
                <a:effectLst>
                  <a:outerShdw blurRad="38100" dist="38100" dir="2700000" algn="tl">
                    <a:srgbClr val="000000"/>
                  </a:outerShdw>
                </a:effectLst>
                <a:latin typeface="Helvetica" charset="0"/>
                <a:ea typeface="ＭＳ Ｐゴシック" charset="0"/>
                <a:cs typeface="Helvetica" charset="0"/>
              </a:rPr>
              <a:t>Genomes of five model organisms </a:t>
            </a:r>
            <a:br>
              <a:rPr lang="en-US">
                <a:effectLst>
                  <a:outerShdw blurRad="38100" dist="38100" dir="2700000" algn="tl">
                    <a:srgbClr val="000000"/>
                  </a:outerShdw>
                </a:effectLst>
                <a:latin typeface="Helvetica" charset="0"/>
                <a:ea typeface="ＭＳ Ｐゴシック" charset="0"/>
                <a:cs typeface="Helvetica" charset="0"/>
              </a:rPr>
            </a:br>
            <a:r>
              <a:rPr lang="en-US">
                <a:effectLst>
                  <a:outerShdw blurRad="38100" dist="38100" dir="2700000" algn="tl">
                    <a:srgbClr val="000000"/>
                  </a:outerShdw>
                </a:effectLst>
                <a:latin typeface="Helvetica" charset="0"/>
                <a:ea typeface="ＭＳ Ｐゴシック" charset="0"/>
                <a:cs typeface="Helvetica" charset="0"/>
              </a:rPr>
              <a:t>were sequenced as part of the </a:t>
            </a:r>
            <a:br>
              <a:rPr lang="en-US">
                <a:effectLst>
                  <a:outerShdw blurRad="38100" dist="38100" dir="2700000" algn="tl">
                    <a:srgbClr val="000000"/>
                  </a:outerShdw>
                </a:effectLst>
                <a:latin typeface="Helvetica" charset="0"/>
                <a:ea typeface="ＭＳ Ｐゴシック" charset="0"/>
                <a:cs typeface="Helvetica" charset="0"/>
              </a:rPr>
            </a:br>
            <a:r>
              <a:rPr lang="en-US">
                <a:effectLst>
                  <a:outerShdw blurRad="38100" dist="38100" dir="2700000" algn="tl">
                    <a:srgbClr val="000000"/>
                  </a:outerShdw>
                </a:effectLst>
                <a:latin typeface="Helvetica" charset="0"/>
                <a:ea typeface="ＭＳ Ｐゴシック" charset="0"/>
                <a:cs typeface="Helvetica" charset="0"/>
              </a:rPr>
              <a:t>Human Genome Project</a:t>
            </a:r>
          </a:p>
        </p:txBody>
      </p:sp>
      <p:pic>
        <p:nvPicPr>
          <p:cNvPr id="40965" name="Picture 5" descr="Ch1_Fig12.tiff"/>
          <p:cNvPicPr>
            <a:picLocks noChangeAspect="1"/>
          </p:cNvPicPr>
          <p:nvPr/>
        </p:nvPicPr>
        <p:blipFill>
          <a:blip r:embed="rId3">
            <a:extLst>
              <a:ext uri="{28A0092B-C50C-407E-A947-70E740481C1C}">
                <a14:useLocalDpi xmlns:a14="http://schemas.microsoft.com/office/drawing/2010/main" val="0"/>
              </a:ext>
            </a:extLst>
          </a:blip>
          <a:srcRect t="16576"/>
          <a:stretch>
            <a:fillRect/>
          </a:stretch>
        </p:blipFill>
        <p:spPr bwMode="auto">
          <a:xfrm>
            <a:off x="444500" y="2503488"/>
            <a:ext cx="8229600" cy="257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Rectangle 5"/>
          <p:cNvSpPr>
            <a:spLocks noChangeArrowheads="1"/>
          </p:cNvSpPr>
          <p:nvPr/>
        </p:nvSpPr>
        <p:spPr bwMode="auto">
          <a:xfrm>
            <a:off x="7580313" y="5380038"/>
            <a:ext cx="10937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latin typeface="Helvetica" charset="0"/>
                <a:cs typeface="Helvetica" charset="0"/>
              </a:rPr>
              <a:t>Figure 1.12</a:t>
            </a:r>
          </a:p>
        </p:txBody>
      </p:sp>
      <p:sp>
        <p:nvSpPr>
          <p:cNvPr id="3" name="TextBox 2"/>
          <p:cNvSpPr txBox="1"/>
          <p:nvPr/>
        </p:nvSpPr>
        <p:spPr>
          <a:xfrm>
            <a:off x="7580313" y="4725144"/>
            <a:ext cx="1093787" cy="369332"/>
          </a:xfrm>
          <a:prstGeom prst="rect">
            <a:avLst/>
          </a:prstGeom>
          <a:solidFill>
            <a:schemeClr val="tx1"/>
          </a:solidFill>
        </p:spPr>
        <p:txBody>
          <a:bodyPr wrap="square" rtlCol="0">
            <a:spAutoFit/>
          </a:bodyPr>
          <a:lstStyle/>
          <a:p>
            <a:r>
              <a:rPr lang="en-US" dirty="0">
                <a:solidFill>
                  <a:schemeClr val="bg1"/>
                </a:solidFill>
                <a:latin typeface="Helvetica"/>
                <a:cs typeface="Helvetica"/>
              </a:rPr>
              <a:t>25,000</a:t>
            </a:r>
          </a:p>
        </p:txBody>
      </p:sp>
      <p:sp>
        <p:nvSpPr>
          <p:cNvPr id="5" name="TextBox 4"/>
          <p:cNvSpPr txBox="1"/>
          <p:nvPr/>
        </p:nvSpPr>
        <p:spPr>
          <a:xfrm>
            <a:off x="683568" y="5517232"/>
            <a:ext cx="2664296" cy="830997"/>
          </a:xfrm>
          <a:prstGeom prst="rect">
            <a:avLst/>
          </a:prstGeom>
          <a:solidFill>
            <a:schemeClr val="accent1">
              <a:alpha val="76000"/>
            </a:schemeClr>
          </a:solidFill>
        </p:spPr>
        <p:txBody>
          <a:bodyPr wrap="square" rtlCol="0">
            <a:spAutoFit/>
          </a:bodyPr>
          <a:lstStyle/>
          <a:p>
            <a:r>
              <a:rPr lang="en-US" sz="2400" dirty="0">
                <a:solidFill>
                  <a:srgbClr val="FFFFFF"/>
                </a:solidFill>
                <a:latin typeface="Times Bold"/>
                <a:cs typeface="Times Bold"/>
              </a:rPr>
              <a:t>Humans? 27,000</a:t>
            </a:r>
          </a:p>
          <a:p>
            <a:r>
              <a:rPr lang="en-US" sz="2400" dirty="0" err="1">
                <a:solidFill>
                  <a:srgbClr val="FFFFFF"/>
                </a:solidFill>
                <a:latin typeface="Times Bold"/>
                <a:cs typeface="Times Bold"/>
              </a:rPr>
              <a:t>Zebrafish</a:t>
            </a:r>
            <a:r>
              <a:rPr lang="en-US" sz="2400" dirty="0">
                <a:solidFill>
                  <a:srgbClr val="FFFFFF"/>
                </a:solidFill>
                <a:latin typeface="Times Bold"/>
                <a:cs typeface="Times Bold"/>
              </a:rPr>
              <a:t>? 36,000</a:t>
            </a:r>
          </a:p>
        </p:txBody>
      </p:sp>
    </p:spTree>
    <p:extLst>
      <p:ext uri="{BB962C8B-B14F-4D97-AF65-F5344CB8AC3E}">
        <p14:creationId xmlns:p14="http://schemas.microsoft.com/office/powerpoint/2010/main" val="4068689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1528763" y="6491288"/>
            <a:ext cx="6088062" cy="365125"/>
          </a:xfrm>
        </p:spPr>
        <p:txBody>
          <a:bodyPr/>
          <a:lstStyle/>
          <a:p>
            <a:pPr>
              <a:defRPr/>
            </a:pPr>
            <a:r>
              <a:rPr lang="en-US"/>
              <a:t>Copyright © The McGraw-Hill Companies, Inc.  Permission required to reproduce or display Hartwell et al., 4th ed., Chapter 1</a:t>
            </a:r>
          </a:p>
        </p:txBody>
      </p:sp>
      <p:sp>
        <p:nvSpPr>
          <p:cNvPr id="33795" name="Slide Number Placeholder 2"/>
          <p:cNvSpPr>
            <a:spLocks noGrp="1"/>
          </p:cNvSpPr>
          <p:nvPr>
            <p:ph type="sldNum" sz="quarter" idx="10"/>
          </p:nvPr>
        </p:nvSpPr>
        <p:spPr bwMode="auto">
          <a:xfrm>
            <a:off x="6553200" y="649128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BC8CC12-AFAD-AD47-A40A-8E8D5DA94097}" type="slidenum">
              <a:rPr lang="en-US" sz="1000">
                <a:solidFill>
                  <a:srgbClr val="898989"/>
                </a:solidFill>
                <a:latin typeface="Helvetica" charset="0"/>
                <a:cs typeface="Helvetica" charset="0"/>
              </a:rPr>
              <a:pPr eaLnBrk="1" hangingPunct="1"/>
              <a:t>21</a:t>
            </a:fld>
            <a:endParaRPr lang="en-US" sz="1000">
              <a:solidFill>
                <a:srgbClr val="898989"/>
              </a:solidFill>
              <a:latin typeface="Helvetica" charset="0"/>
              <a:cs typeface="Helvetica" charset="0"/>
            </a:endParaRPr>
          </a:p>
        </p:txBody>
      </p:sp>
      <p:sp>
        <p:nvSpPr>
          <p:cNvPr id="4" name="Title 3"/>
          <p:cNvSpPr>
            <a:spLocks noGrp="1"/>
          </p:cNvSpPr>
          <p:nvPr>
            <p:ph type="title"/>
          </p:nvPr>
        </p:nvSpPr>
        <p:spPr/>
        <p:txBody>
          <a:bodyPr/>
          <a:lstStyle/>
          <a:p>
            <a:pPr eaLnBrk="1" hangingPunct="1"/>
            <a:r>
              <a:rPr lang="en-US">
                <a:effectLst>
                  <a:outerShdw blurRad="38100" dist="38100" dir="2700000" algn="tl">
                    <a:srgbClr val="000000"/>
                  </a:outerShdw>
                </a:effectLst>
                <a:latin typeface="Helvetica" charset="0"/>
                <a:ea typeface="ＭＳ Ｐゴシック" charset="0"/>
                <a:cs typeface="Helvetica" charset="0"/>
              </a:rPr>
              <a:t>Many genes have similar functions </a:t>
            </a:r>
            <a:br>
              <a:rPr lang="en-US">
                <a:effectLst>
                  <a:outerShdw blurRad="38100" dist="38100" dir="2700000" algn="tl">
                    <a:srgbClr val="000000"/>
                  </a:outerShdw>
                </a:effectLst>
                <a:latin typeface="Helvetica" charset="0"/>
                <a:ea typeface="ＭＳ Ｐゴシック" charset="0"/>
                <a:cs typeface="Helvetica" charset="0"/>
              </a:rPr>
            </a:br>
            <a:r>
              <a:rPr lang="en-US">
                <a:effectLst>
                  <a:outerShdw blurRad="38100" dist="38100" dir="2700000" algn="tl">
                    <a:srgbClr val="000000"/>
                  </a:outerShdw>
                </a:effectLst>
                <a:latin typeface="Helvetica" charset="0"/>
                <a:ea typeface="ＭＳ Ｐゴシック" charset="0"/>
                <a:cs typeface="Helvetica" charset="0"/>
              </a:rPr>
              <a:t>in different organisms</a:t>
            </a:r>
          </a:p>
        </p:txBody>
      </p:sp>
      <p:sp>
        <p:nvSpPr>
          <p:cNvPr id="33797" name="Content Placeholder 4"/>
          <p:cNvSpPr>
            <a:spLocks noGrp="1"/>
          </p:cNvSpPr>
          <p:nvPr>
            <p:ph idx="1"/>
          </p:nvPr>
        </p:nvSpPr>
        <p:spPr>
          <a:xfrm>
            <a:off x="457200" y="1828800"/>
            <a:ext cx="8194675" cy="3263900"/>
          </a:xfrm>
        </p:spPr>
        <p:txBody>
          <a:bodyPr/>
          <a:lstStyle/>
          <a:p>
            <a:pPr eaLnBrk="1" hangingPunct="1">
              <a:buFont typeface="Arial" charset="0"/>
              <a:buNone/>
            </a:pPr>
            <a:r>
              <a:rPr lang="en-US">
                <a:latin typeface="Helvetica" charset="0"/>
                <a:ea typeface="ＭＳ Ｐゴシック" charset="0"/>
                <a:cs typeface="Helvetica" charset="0"/>
              </a:rPr>
              <a:t>Comparison of gene products in different organisms can reveal identical and similar amino acid sequences</a:t>
            </a:r>
          </a:p>
          <a:p>
            <a:pPr eaLnBrk="1" hangingPunct="1">
              <a:buFont typeface="Arial" charset="0"/>
              <a:buNone/>
            </a:pPr>
            <a:r>
              <a:rPr lang="en-US" sz="2000">
                <a:latin typeface="Helvetica" charset="0"/>
                <a:ea typeface="ＭＳ Ｐゴシック" charset="0"/>
                <a:cs typeface="Helvetica" charset="0"/>
              </a:rPr>
              <a:t>e.g. cytochrome C protein from six species</a:t>
            </a:r>
          </a:p>
        </p:txBody>
      </p:sp>
      <p:pic>
        <p:nvPicPr>
          <p:cNvPr id="33799" name="Picture 7" descr="Ch1_Fig8.tiff"/>
          <p:cNvPicPr>
            <a:picLocks noChangeAspect="1"/>
          </p:cNvPicPr>
          <p:nvPr/>
        </p:nvPicPr>
        <p:blipFill>
          <a:blip r:embed="rId3">
            <a:extLst>
              <a:ext uri="{28A0092B-C50C-407E-A947-70E740481C1C}">
                <a14:useLocalDpi xmlns:a14="http://schemas.microsoft.com/office/drawing/2010/main" val="0"/>
              </a:ext>
            </a:extLst>
          </a:blip>
          <a:srcRect t="94601" r="38739" b="73"/>
          <a:stretch>
            <a:fillRect/>
          </a:stretch>
        </p:blipFill>
        <p:spPr bwMode="auto">
          <a:xfrm>
            <a:off x="1343025" y="5688013"/>
            <a:ext cx="387985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Rectangle 7"/>
          <p:cNvSpPr>
            <a:spLocks noChangeArrowheads="1"/>
          </p:cNvSpPr>
          <p:nvPr/>
        </p:nvSpPr>
        <p:spPr bwMode="auto">
          <a:xfrm>
            <a:off x="6673850" y="5688013"/>
            <a:ext cx="993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latin typeface="Helvetica" charset="0"/>
                <a:cs typeface="Helvetica" charset="0"/>
              </a:rPr>
              <a:t>Figure 1.8</a:t>
            </a:r>
          </a:p>
        </p:txBody>
      </p:sp>
      <p:pic>
        <p:nvPicPr>
          <p:cNvPr id="33801" name="Picture 9" descr="har2526X_01_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3140075"/>
            <a:ext cx="6759575" cy="240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34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1528763" y="6491288"/>
            <a:ext cx="6088062" cy="365125"/>
          </a:xfrm>
        </p:spPr>
        <p:txBody>
          <a:bodyPr/>
          <a:lstStyle/>
          <a:p>
            <a:pPr>
              <a:defRPr/>
            </a:pPr>
            <a:r>
              <a:rPr lang="en-US"/>
              <a:t>Copyright © The McGraw-Hill Companies, Inc.  Permission required to reproduce or display Hartwell et al., 4th ed., Chapter 1</a:t>
            </a:r>
          </a:p>
        </p:txBody>
      </p:sp>
      <p:sp>
        <p:nvSpPr>
          <p:cNvPr id="34819" name="Slide Number Placeholder 2"/>
          <p:cNvSpPr>
            <a:spLocks noGrp="1"/>
          </p:cNvSpPr>
          <p:nvPr>
            <p:ph type="sldNum" sz="quarter" idx="10"/>
          </p:nvPr>
        </p:nvSpPr>
        <p:spPr bwMode="auto">
          <a:xfrm>
            <a:off x="6553200" y="6491288"/>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81BEE78-0DD2-7942-A297-9BFFE1D13FE2}" type="slidenum">
              <a:rPr lang="en-US" sz="1000">
                <a:solidFill>
                  <a:srgbClr val="898989"/>
                </a:solidFill>
                <a:latin typeface="Helvetica" charset="0"/>
                <a:cs typeface="Helvetica" charset="0"/>
              </a:rPr>
              <a:pPr eaLnBrk="1" hangingPunct="1"/>
              <a:t>22</a:t>
            </a:fld>
            <a:endParaRPr lang="en-US" sz="1000">
              <a:solidFill>
                <a:srgbClr val="898989"/>
              </a:solidFill>
              <a:latin typeface="Helvetica" charset="0"/>
              <a:cs typeface="Helvetica" charset="0"/>
            </a:endParaRPr>
          </a:p>
        </p:txBody>
      </p:sp>
      <p:sp>
        <p:nvSpPr>
          <p:cNvPr id="4" name="Title 3"/>
          <p:cNvSpPr>
            <a:spLocks noGrp="1"/>
          </p:cNvSpPr>
          <p:nvPr>
            <p:ph type="title"/>
          </p:nvPr>
        </p:nvSpPr>
        <p:spPr/>
        <p:txBody>
          <a:bodyPr/>
          <a:lstStyle/>
          <a:p>
            <a:pPr eaLnBrk="1" hangingPunct="1"/>
            <a:r>
              <a:rPr lang="en-US">
                <a:effectLst>
                  <a:outerShdw blurRad="38100" dist="38100" dir="2700000" algn="tl">
                    <a:srgbClr val="000000"/>
                  </a:outerShdw>
                </a:effectLst>
                <a:latin typeface="Helvetica" charset="0"/>
                <a:ea typeface="ＭＳ Ｐゴシック" charset="0"/>
                <a:cs typeface="Helvetica" charset="0"/>
              </a:rPr>
              <a:t>A gene from one organism can functionally replace a gene in another organism</a:t>
            </a:r>
          </a:p>
        </p:txBody>
      </p:sp>
      <p:sp>
        <p:nvSpPr>
          <p:cNvPr id="34821" name="Content Placeholder 10"/>
          <p:cNvSpPr>
            <a:spLocks noGrp="1"/>
          </p:cNvSpPr>
          <p:nvPr>
            <p:ph idx="1"/>
          </p:nvPr>
        </p:nvSpPr>
        <p:spPr>
          <a:xfrm>
            <a:off x="457200" y="1960563"/>
            <a:ext cx="2941638" cy="4340225"/>
          </a:xfrm>
        </p:spPr>
        <p:txBody>
          <a:bodyPr/>
          <a:lstStyle/>
          <a:p>
            <a:pPr eaLnBrk="1" hangingPunct="1">
              <a:buFont typeface="Arial" charset="0"/>
              <a:buNone/>
            </a:pPr>
            <a:r>
              <a:rPr lang="en-US" sz="2000" dirty="0">
                <a:latin typeface="Helvetica" charset="0"/>
                <a:ea typeface="ＭＳ Ｐゴシック" charset="0"/>
                <a:cs typeface="Helvetica" charset="0"/>
              </a:rPr>
              <a:t>Example:  Pax6 gene is required for eye development </a:t>
            </a:r>
            <a:br>
              <a:rPr lang="en-US" sz="2000" dirty="0">
                <a:latin typeface="Helvetica" charset="0"/>
                <a:ea typeface="ＭＳ Ｐゴシック" charset="0"/>
                <a:cs typeface="Helvetica" charset="0"/>
              </a:rPr>
            </a:br>
            <a:r>
              <a:rPr lang="en-US" sz="2000" dirty="0">
                <a:latin typeface="Helvetica" charset="0"/>
                <a:ea typeface="ＭＳ Ｐゴシック" charset="0"/>
                <a:cs typeface="Helvetica" charset="0"/>
              </a:rPr>
              <a:t>in insects, mice, </a:t>
            </a:r>
            <a:br>
              <a:rPr lang="en-US" sz="2000" dirty="0">
                <a:latin typeface="Helvetica" charset="0"/>
                <a:ea typeface="ＭＳ Ｐゴシック" charset="0"/>
                <a:cs typeface="Helvetica" charset="0"/>
              </a:rPr>
            </a:br>
            <a:r>
              <a:rPr lang="en-US" sz="2000" dirty="0">
                <a:latin typeface="Helvetica" charset="0"/>
                <a:ea typeface="ＭＳ Ｐゴシック" charset="0"/>
                <a:cs typeface="Helvetica" charset="0"/>
              </a:rPr>
              <a:t>and humans</a:t>
            </a:r>
          </a:p>
          <a:p>
            <a:pPr eaLnBrk="1" hangingPunct="1">
              <a:buFont typeface="Arial" charset="0"/>
              <a:buNone/>
            </a:pPr>
            <a:r>
              <a:rPr lang="en-US" sz="2000" dirty="0">
                <a:latin typeface="Helvetica" charset="0"/>
                <a:ea typeface="ＭＳ Ｐゴシック" charset="0"/>
                <a:cs typeface="Helvetica" charset="0"/>
              </a:rPr>
              <a:t>Expression of human Pax6 gene </a:t>
            </a:r>
            <a:br>
              <a:rPr lang="en-US" sz="2000" dirty="0">
                <a:latin typeface="Helvetica" charset="0"/>
                <a:ea typeface="ＭＳ Ｐゴシック" charset="0"/>
                <a:cs typeface="Helvetica" charset="0"/>
              </a:rPr>
            </a:br>
            <a:r>
              <a:rPr lang="en-US" sz="2000" dirty="0">
                <a:latin typeface="Helvetica" charset="0"/>
                <a:ea typeface="ＭＳ Ｐゴシック" charset="0"/>
                <a:cs typeface="Helvetica" charset="0"/>
              </a:rPr>
              <a:t>in Drosophila can induce eye development </a:t>
            </a:r>
          </a:p>
          <a:p>
            <a:pPr eaLnBrk="1" hangingPunct="1">
              <a:buFont typeface="Arial" charset="0"/>
              <a:buNone/>
            </a:pPr>
            <a:endParaRPr lang="en-US" sz="2000" dirty="0">
              <a:latin typeface="Helvetica" charset="0"/>
              <a:ea typeface="ＭＳ Ｐゴシック" charset="0"/>
              <a:cs typeface="Helvetica" charset="0"/>
            </a:endParaRPr>
          </a:p>
        </p:txBody>
      </p:sp>
      <p:pic>
        <p:nvPicPr>
          <p:cNvPr id="34822" name="Picture 5" descr="Ch1_Fig9.tiff"/>
          <p:cNvPicPr>
            <a:picLocks noChangeAspect="1"/>
          </p:cNvPicPr>
          <p:nvPr/>
        </p:nvPicPr>
        <p:blipFill>
          <a:blip r:embed="rId3">
            <a:extLst>
              <a:ext uri="{28A0092B-C50C-407E-A947-70E740481C1C}">
                <a14:useLocalDpi xmlns:a14="http://schemas.microsoft.com/office/drawing/2010/main" val="0"/>
              </a:ext>
            </a:extLst>
          </a:blip>
          <a:srcRect t="16473"/>
          <a:stretch>
            <a:fillRect/>
          </a:stretch>
        </p:blipFill>
        <p:spPr bwMode="auto">
          <a:xfrm>
            <a:off x="3355975" y="2200275"/>
            <a:ext cx="5330825"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Rectangle 6"/>
          <p:cNvSpPr>
            <a:spLocks noChangeArrowheads="1"/>
          </p:cNvSpPr>
          <p:nvPr/>
        </p:nvSpPr>
        <p:spPr bwMode="auto">
          <a:xfrm>
            <a:off x="7694613" y="5278438"/>
            <a:ext cx="9921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400">
                <a:latin typeface="Helvetica" charset="0"/>
                <a:cs typeface="Helvetica" charset="0"/>
              </a:rPr>
              <a:t>Figure 1.9</a:t>
            </a:r>
          </a:p>
        </p:txBody>
      </p:sp>
    </p:spTree>
    <p:extLst>
      <p:ext uri="{BB962C8B-B14F-4D97-AF65-F5344CB8AC3E}">
        <p14:creationId xmlns:p14="http://schemas.microsoft.com/office/powerpoint/2010/main" val="2523766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Number Placeholder 2"/>
          <p:cNvSpPr>
            <a:spLocks noGrp="1"/>
          </p:cNvSpPr>
          <p:nvPr>
            <p:ph type="sldNum" sz="quarter" idx="10"/>
          </p:nvPr>
        </p:nvSpPr>
        <p:spPr bwMode="auto">
          <a:xfrm>
            <a:off x="6553200" y="6491288"/>
            <a:ext cx="2133600" cy="365125"/>
          </a:xfrm>
          <a:noFill/>
          <a:ln>
            <a:miter lim="800000"/>
            <a:headEnd/>
            <a:tailEnd/>
          </a:ln>
        </p:spPr>
        <p:txBody>
          <a:bodyPr/>
          <a:lstStyle/>
          <a:p>
            <a:fld id="{2FC8B4E2-BDA4-43DF-A228-304AE5AA347F}" type="slidenum">
              <a:rPr lang="en-US" smtClean="0">
                <a:latin typeface="Helvetica" pitchFamily="34" charset="0"/>
                <a:ea typeface="ＭＳ Ｐゴシック" pitchFamily="34" charset="-128"/>
                <a:cs typeface="Helvetica" pitchFamily="34" charset="0"/>
              </a:rPr>
              <a:pPr/>
              <a:t>23</a:t>
            </a:fld>
            <a:endParaRPr lang="en-US">
              <a:latin typeface="Helvetica" pitchFamily="34" charset="0"/>
              <a:ea typeface="ＭＳ Ｐゴシック" pitchFamily="34" charset="-128"/>
              <a:cs typeface="Helvetica" pitchFamily="34" charset="0"/>
            </a:endParaRPr>
          </a:p>
        </p:txBody>
      </p:sp>
      <p:sp>
        <p:nvSpPr>
          <p:cNvPr id="39939" name="Content Placeholder 4"/>
          <p:cNvSpPr>
            <a:spLocks noGrp="1"/>
          </p:cNvSpPr>
          <p:nvPr>
            <p:ph idx="1"/>
          </p:nvPr>
        </p:nvSpPr>
        <p:spPr>
          <a:xfrm>
            <a:off x="738188" y="5589240"/>
            <a:ext cx="7667625" cy="760412"/>
          </a:xfrm>
        </p:spPr>
        <p:txBody>
          <a:bodyPr/>
          <a:lstStyle/>
          <a:p>
            <a:r>
              <a:rPr lang="en-US" sz="2400" dirty="0">
                <a:latin typeface="Helvetica" pitchFamily="34" charset="0"/>
                <a:ea typeface="ＭＳ Ｐゴシック" pitchFamily="34" charset="-128"/>
                <a:cs typeface="Helvetica" pitchFamily="34" charset="0"/>
              </a:rPr>
              <a:t>How did evolution result in the amazing diversity of life-forms over time? </a:t>
            </a:r>
          </a:p>
          <a:p>
            <a:pPr eaLnBrk="1" hangingPunct="1">
              <a:buFont typeface="Arial" charset="0"/>
              <a:buNone/>
            </a:pPr>
            <a:endParaRPr lang="en-US" sz="2400" dirty="0">
              <a:latin typeface="Helvetica" pitchFamily="34" charset="0"/>
              <a:ea typeface="ＭＳ Ｐゴシック" pitchFamily="34" charset="-128"/>
              <a:cs typeface="Helvetica" pitchFamily="34" charset="0"/>
            </a:endParaRPr>
          </a:p>
        </p:txBody>
      </p:sp>
      <p:sp>
        <p:nvSpPr>
          <p:cNvPr id="39940" name="Footer Placeholder 4"/>
          <p:cNvSpPr>
            <a:spLocks noGrp="1"/>
          </p:cNvSpPr>
          <p:nvPr>
            <p:ph type="ftr" sz="quarter" idx="11"/>
          </p:nvPr>
        </p:nvSpPr>
        <p:spPr bwMode="auto">
          <a:xfrm>
            <a:off x="1528763" y="6423025"/>
            <a:ext cx="6088062" cy="365125"/>
          </a:xfrm>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a:solidFill>
                  <a:srgbClr val="898989"/>
                </a:solidFill>
                <a:latin typeface="Helvetica" pitchFamily="34" charset="0"/>
                <a:ea typeface="ＭＳ Ｐゴシック" pitchFamily="34" charset="-128"/>
                <a:cs typeface="Helvetica" pitchFamily="34" charset="0"/>
              </a:rPr>
              <a:t>Copyright © McGraw-Hill Education. Permission required for reproduction or display</a:t>
            </a:r>
          </a:p>
          <a:p>
            <a:pPr fontAlgn="base">
              <a:spcBef>
                <a:spcPct val="0"/>
              </a:spcBef>
              <a:spcAft>
                <a:spcPct val="0"/>
              </a:spcAft>
            </a:pPr>
            <a:r>
              <a:rPr lang="en-US">
                <a:solidFill>
                  <a:srgbClr val="898989"/>
                </a:solidFill>
                <a:latin typeface="Helvetica" pitchFamily="34" charset="0"/>
                <a:ea typeface="ＭＳ Ｐゴシック" pitchFamily="34" charset="-128"/>
                <a:cs typeface="Helvetica" pitchFamily="34" charset="0"/>
              </a:rPr>
              <a:t>Hartwell et al., 5th ed., Chapter 1</a:t>
            </a:r>
          </a:p>
        </p:txBody>
      </p:sp>
      <p:pic>
        <p:nvPicPr>
          <p:cNvPr id="39941" name="Picture 8" descr="har25316_t0101"/>
          <p:cNvPicPr>
            <a:picLocks noChangeAspect="1" noChangeArrowheads="1"/>
          </p:cNvPicPr>
          <p:nvPr/>
        </p:nvPicPr>
        <p:blipFill>
          <a:blip r:embed="rId3"/>
          <a:srcRect/>
          <a:stretch>
            <a:fillRect/>
          </a:stretch>
        </p:blipFill>
        <p:spPr bwMode="auto">
          <a:xfrm>
            <a:off x="539552" y="1412776"/>
            <a:ext cx="8228826" cy="4103999"/>
          </a:xfrm>
          <a:prstGeom prst="rect">
            <a:avLst/>
          </a:prstGeom>
          <a:noFill/>
          <a:ln w="9525">
            <a:noFill/>
            <a:miter lim="800000"/>
            <a:headEnd/>
            <a:tailEnd/>
          </a:ln>
        </p:spPr>
      </p:pic>
      <p:sp>
        <p:nvSpPr>
          <p:cNvPr id="7" name="Title 3"/>
          <p:cNvSpPr txBox="1">
            <a:spLocks/>
          </p:cNvSpPr>
          <p:nvPr/>
        </p:nvSpPr>
        <p:spPr bwMode="auto">
          <a:xfrm>
            <a:off x="320228" y="116632"/>
            <a:ext cx="8644260" cy="1143000"/>
          </a:xfrm>
          <a:prstGeom prst="rect">
            <a:avLst/>
          </a:prstGeom>
          <a:gradFill flip="none" rotWithShape="1">
            <a:gsLst>
              <a:gs pos="0">
                <a:srgbClr val="155076"/>
              </a:gs>
              <a:gs pos="50000">
                <a:srgbClr val="14AECA"/>
              </a:gs>
              <a:gs pos="99000">
                <a:srgbClr val="155076"/>
              </a:gs>
            </a:gsLst>
            <a:lin ang="0" scaled="1"/>
            <a:tileRect/>
          </a:gradFill>
          <a:ln w="9525">
            <a:noFill/>
            <a:miter lim="800000"/>
            <a:headEnd/>
            <a:tailEnd/>
          </a:ln>
        </p:spPr>
        <p:txBody>
          <a:bodyPr vert="horz" wrap="square" lIns="91440" tIns="45720" rIns="91440" bIns="45720" numCol="1" anchor="ctr" anchorCtr="0" compatLnSpc="1">
            <a:prstTxWarp prst="textNoShape">
              <a:avLst/>
            </a:prstTxWarp>
            <a:normAutofit/>
          </a:bodyPr>
          <a:lstStyle>
            <a:lvl1pPr algn="ctr" defTabSz="457200" rtl="0" eaLnBrk="1" fontAlgn="base" hangingPunct="1">
              <a:spcBef>
                <a:spcPct val="0"/>
              </a:spcBef>
              <a:spcAft>
                <a:spcPct val="0"/>
              </a:spcAft>
              <a:defRPr sz="2800" b="1" kern="1200">
                <a:solidFill>
                  <a:schemeClr val="bg1"/>
                </a:solidFill>
                <a:effectLst>
                  <a:outerShdw blurRad="50800" dist="38100" dir="2700000" algn="tl" rotWithShape="0">
                    <a:srgbClr val="000000">
                      <a:alpha val="80000"/>
                    </a:srgbClr>
                  </a:outerShdw>
                </a:effectLst>
                <a:latin typeface="Helvetica"/>
                <a:ea typeface="ＭＳ Ｐゴシック" pitchFamily="23" charset="-128"/>
                <a:cs typeface="Helvetica"/>
              </a:defRPr>
            </a:lvl1pPr>
            <a:lvl2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2pPr>
            <a:lvl3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3pPr>
            <a:lvl4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4pPr>
            <a:lvl5pPr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5pPr>
            <a:lvl6pPr marL="4572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6pPr>
            <a:lvl7pPr marL="9144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7pPr>
            <a:lvl8pPr marL="13716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8pPr>
            <a:lvl9pPr marL="1828800" algn="ctr" defTabSz="457200" rtl="0" eaLnBrk="1" fontAlgn="base" hangingPunct="1">
              <a:spcBef>
                <a:spcPct val="0"/>
              </a:spcBef>
              <a:spcAft>
                <a:spcPct val="0"/>
              </a:spcAft>
              <a:defRPr sz="4400">
                <a:solidFill>
                  <a:schemeClr val="tx1"/>
                </a:solidFill>
                <a:latin typeface="Calibri" pitchFamily="23" charset="0"/>
                <a:ea typeface="ＭＳ Ｐゴシック" pitchFamily="23" charset="-128"/>
                <a:cs typeface="ＭＳ Ｐゴシック" pitchFamily="23" charset="-128"/>
              </a:defRPr>
            </a:lvl9pPr>
          </a:lstStyle>
          <a:p>
            <a:r>
              <a:rPr lang="en-US" dirty="0">
                <a:effectLst>
                  <a:outerShdw blurRad="38100" dist="38100" dir="2700000" algn="tl">
                    <a:srgbClr val="000000"/>
                  </a:outerShdw>
                </a:effectLst>
                <a:latin typeface="Helvetica" charset="0"/>
                <a:ea typeface="ＭＳ Ｐゴシック" charset="0"/>
                <a:cs typeface="Helvetica" charset="0"/>
              </a:rPr>
              <a:t>Could Genetics explain Evolution?</a:t>
            </a:r>
          </a:p>
        </p:txBody>
      </p:sp>
    </p:spTree>
    <p:extLst>
      <p:ext uri="{BB962C8B-B14F-4D97-AF65-F5344CB8AC3E}">
        <p14:creationId xmlns:p14="http://schemas.microsoft.com/office/powerpoint/2010/main" val="382754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Number Placeholder 2"/>
          <p:cNvSpPr>
            <a:spLocks noGrp="1"/>
          </p:cNvSpPr>
          <p:nvPr>
            <p:ph type="sldNum" sz="quarter" idx="10"/>
          </p:nvPr>
        </p:nvSpPr>
        <p:spPr bwMode="auto">
          <a:xfrm>
            <a:off x="6553200" y="6491288"/>
            <a:ext cx="2133600" cy="365125"/>
          </a:xfrm>
          <a:noFill/>
          <a:ln>
            <a:miter lim="800000"/>
            <a:headEnd/>
            <a:tailEnd/>
          </a:ln>
        </p:spPr>
        <p:txBody>
          <a:bodyPr/>
          <a:lstStyle/>
          <a:p>
            <a:fld id="{F6C6F769-9B1B-4B77-B3E3-E8715A91D31F}" type="slidenum">
              <a:rPr lang="en-US" smtClean="0">
                <a:latin typeface="Helvetica" pitchFamily="34" charset="0"/>
                <a:ea typeface="ＭＳ Ｐゴシック" pitchFamily="34" charset="-128"/>
                <a:cs typeface="Helvetica" pitchFamily="34" charset="0"/>
              </a:rPr>
              <a:pPr/>
              <a:t>24</a:t>
            </a:fld>
            <a:endParaRPr lang="en-US">
              <a:latin typeface="Helvetica" pitchFamily="34" charset="0"/>
              <a:ea typeface="ＭＳ Ｐゴシック" pitchFamily="34" charset="-128"/>
              <a:cs typeface="Helvetica" pitchFamily="34" charset="0"/>
            </a:endParaRPr>
          </a:p>
        </p:txBody>
      </p:sp>
      <p:sp>
        <p:nvSpPr>
          <p:cNvPr id="4" name="Title 3"/>
          <p:cNvSpPr>
            <a:spLocks noGrp="1"/>
          </p:cNvSpPr>
          <p:nvPr>
            <p:ph type="title"/>
          </p:nvPr>
        </p:nvSpPr>
        <p:spPr>
          <a:solidFill>
            <a:srgbClr val="939598"/>
          </a:solidFill>
        </p:spPr>
        <p:txBody>
          <a:bodyPr/>
          <a:lstStyle/>
          <a:p>
            <a:pPr eaLnBrk="1" hangingPunct="1">
              <a:defRPr/>
            </a:pPr>
            <a:r>
              <a:rPr lang="en-US" dirty="0">
                <a:effectLst>
                  <a:outerShdw blurRad="38100" dist="38100" dir="2700000" algn="tl">
                    <a:srgbClr val="000000"/>
                  </a:outerShdw>
                </a:effectLst>
                <a:latin typeface="Helvetica" charset="0"/>
                <a:ea typeface="ＭＳ Ｐゴシック" charset="0"/>
                <a:cs typeface="Helvetica" charset="0"/>
              </a:rPr>
              <a:t>Mutation of key regulatory networks is important for evolution of complexity</a:t>
            </a:r>
          </a:p>
        </p:txBody>
      </p:sp>
      <p:sp>
        <p:nvSpPr>
          <p:cNvPr id="43011" name="Content Placeholder 4"/>
          <p:cNvSpPr>
            <a:spLocks noGrp="1"/>
          </p:cNvSpPr>
          <p:nvPr>
            <p:ph idx="1"/>
          </p:nvPr>
        </p:nvSpPr>
        <p:spPr>
          <a:xfrm>
            <a:off x="457200" y="1530350"/>
            <a:ext cx="8229600" cy="831850"/>
          </a:xfrm>
        </p:spPr>
        <p:txBody>
          <a:bodyPr/>
          <a:lstStyle/>
          <a:p>
            <a:pPr eaLnBrk="1" hangingPunct="1">
              <a:spcAft>
                <a:spcPts val="1200"/>
              </a:spcAft>
              <a:buFont typeface="Arial" charset="0"/>
              <a:buNone/>
            </a:pPr>
            <a:r>
              <a:rPr lang="en-US" sz="2400">
                <a:latin typeface="Helvetica" pitchFamily="34" charset="0"/>
                <a:ea typeface="ＭＳ Ｐゴシック" pitchFamily="34" charset="-128"/>
                <a:cs typeface="Helvetica" pitchFamily="34" charset="0"/>
              </a:rPr>
              <a:t>Regulatory networks affect the location, timing, and level of expression of genes.</a:t>
            </a:r>
          </a:p>
        </p:txBody>
      </p:sp>
      <p:pic>
        <p:nvPicPr>
          <p:cNvPr id="43012" name="Picture 5" descr="Ch1_Fig11.tiff"/>
          <p:cNvPicPr>
            <a:picLocks noChangeAspect="1"/>
          </p:cNvPicPr>
          <p:nvPr/>
        </p:nvPicPr>
        <p:blipFill>
          <a:blip r:embed="rId2"/>
          <a:srcRect/>
          <a:stretch>
            <a:fillRect/>
          </a:stretch>
        </p:blipFill>
        <p:spPr bwMode="auto">
          <a:xfrm>
            <a:off x="5556250" y="2073275"/>
            <a:ext cx="2960688" cy="4127500"/>
          </a:xfrm>
          <a:prstGeom prst="rect">
            <a:avLst/>
          </a:prstGeom>
          <a:noFill/>
          <a:ln w="9525">
            <a:noFill/>
            <a:miter lim="800000"/>
            <a:headEnd/>
            <a:tailEnd/>
          </a:ln>
        </p:spPr>
      </p:pic>
      <p:sp>
        <p:nvSpPr>
          <p:cNvPr id="43013" name="TextBox 2"/>
          <p:cNvSpPr txBox="1">
            <a:spLocks noChangeArrowheads="1"/>
          </p:cNvSpPr>
          <p:nvPr/>
        </p:nvSpPr>
        <p:spPr bwMode="auto">
          <a:xfrm>
            <a:off x="7427913" y="3201988"/>
            <a:ext cx="882650" cy="366712"/>
          </a:xfrm>
          <a:prstGeom prst="rect">
            <a:avLst/>
          </a:prstGeom>
          <a:noFill/>
          <a:ln w="9525">
            <a:noFill/>
            <a:miter lim="800000"/>
            <a:headEnd/>
            <a:tailEnd/>
          </a:ln>
        </p:spPr>
        <p:txBody>
          <a:bodyPr wrap="none">
            <a:spAutoFit/>
          </a:bodyPr>
          <a:lstStyle/>
          <a:p>
            <a:r>
              <a:rPr lang="en-US">
                <a:latin typeface="Helvetica" pitchFamily="34" charset="0"/>
                <a:cs typeface="Helvetica" pitchFamily="34" charset="0"/>
              </a:rPr>
              <a:t>haltere</a:t>
            </a:r>
          </a:p>
        </p:txBody>
      </p:sp>
      <p:sp>
        <p:nvSpPr>
          <p:cNvPr id="12" name="Content Placeholder 4"/>
          <p:cNvSpPr txBox="1">
            <a:spLocks/>
          </p:cNvSpPr>
          <p:nvPr/>
        </p:nvSpPr>
        <p:spPr bwMode="auto">
          <a:xfrm>
            <a:off x="457200" y="2571750"/>
            <a:ext cx="4786313" cy="3611563"/>
          </a:xfrm>
          <a:prstGeom prst="rect">
            <a:avLst/>
          </a:prstGeom>
          <a:noFill/>
          <a:ln>
            <a:noFill/>
          </a:ln>
        </p:spPr>
        <p:txBody>
          <a:bodyPr/>
          <a:lstStyle>
            <a:lvl1pPr marL="0" indent="0" algn="l" defTabSz="457200" rtl="0" eaLnBrk="0" fontAlgn="base" hangingPunct="0">
              <a:spcBef>
                <a:spcPts val="600"/>
              </a:spcBef>
              <a:spcAft>
                <a:spcPts val="600"/>
              </a:spcAft>
              <a:buSzPct val="125000"/>
              <a:buFont typeface="Arial"/>
              <a:buNone/>
              <a:defRPr sz="2200" b="1" kern="1200">
                <a:solidFill>
                  <a:schemeClr val="tx1"/>
                </a:solidFill>
                <a:latin typeface="Helvetica"/>
                <a:ea typeface="ＭＳ Ｐゴシック" pitchFamily="23" charset="-128"/>
                <a:cs typeface="Helvetica"/>
              </a:defRPr>
            </a:lvl1pPr>
            <a:lvl2pPr marL="640080" indent="-228600" algn="l" defTabSz="457200" rtl="0" eaLnBrk="0" fontAlgn="base" hangingPunct="0">
              <a:spcBef>
                <a:spcPts val="600"/>
              </a:spcBef>
              <a:spcAft>
                <a:spcPts val="1200"/>
              </a:spcAft>
              <a:buSzPct val="100000"/>
              <a:buFont typeface="Helvetica Neue"/>
              <a:buChar char="•"/>
              <a:defRPr sz="2200" b="1" kern="1200">
                <a:solidFill>
                  <a:schemeClr val="tx1"/>
                </a:solidFill>
                <a:latin typeface="Helvetica"/>
                <a:ea typeface="ＭＳ Ｐゴシック" pitchFamily="23" charset="-128"/>
                <a:cs typeface="Helvetica"/>
              </a:defRPr>
            </a:lvl2pPr>
            <a:lvl3pPr marL="868680" indent="-228600" algn="l" defTabSz="457200" rtl="0" eaLnBrk="0" fontAlgn="base" hangingPunct="0">
              <a:spcBef>
                <a:spcPts val="0"/>
              </a:spcBef>
              <a:spcAft>
                <a:spcPts val="600"/>
              </a:spcAft>
              <a:buSzPct val="100000"/>
              <a:buFont typeface="Wingdings" charset="2"/>
              <a:buChar char="§"/>
              <a:defRPr sz="2000" b="1" kern="1200">
                <a:solidFill>
                  <a:schemeClr val="tx1"/>
                </a:solidFill>
                <a:latin typeface="Helvetica"/>
                <a:ea typeface="ＭＳ Ｐゴシック" pitchFamily="23" charset="-128"/>
                <a:cs typeface="Helvetica"/>
              </a:defRPr>
            </a:lvl3pPr>
            <a:lvl4pPr marL="1600200" indent="-228600" algn="l" defTabSz="457200" rtl="0" eaLnBrk="0" fontAlgn="base" hangingPunct="0">
              <a:spcBef>
                <a:spcPct val="20000"/>
              </a:spcBef>
              <a:spcAft>
                <a:spcPct val="0"/>
              </a:spcAft>
              <a:buFont typeface="Arial" charset="0"/>
              <a:buChar char="–"/>
              <a:defRPr sz="2000" b="1" kern="1200">
                <a:solidFill>
                  <a:schemeClr val="tx1"/>
                </a:solidFill>
                <a:latin typeface="Helvetica"/>
                <a:ea typeface="ＭＳ Ｐゴシック" pitchFamily="23" charset="-128"/>
                <a:cs typeface="Helvetica"/>
              </a:defRPr>
            </a:lvl4pPr>
            <a:lvl5pPr marL="2057400" indent="-228600" algn="l" defTabSz="457200" rtl="0" eaLnBrk="0" fontAlgn="base" hangingPunct="0">
              <a:spcBef>
                <a:spcPct val="20000"/>
              </a:spcBef>
              <a:spcAft>
                <a:spcPct val="0"/>
              </a:spcAft>
              <a:buFont typeface="Arial" charset="0"/>
              <a:buChar char="»"/>
              <a:defRPr sz="2000" b="1" kern="1200">
                <a:solidFill>
                  <a:schemeClr val="tx1"/>
                </a:solidFill>
                <a:latin typeface="Helvetica"/>
                <a:ea typeface="ＭＳ Ｐゴシック" pitchFamily="23" charset="-128"/>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spcAft>
                <a:spcPts val="1200"/>
              </a:spcAft>
              <a:buFont typeface="Arial" charset="0"/>
              <a:buNone/>
              <a:defRPr/>
            </a:pPr>
            <a:r>
              <a:rPr lang="en-US" sz="2000" dirty="0">
                <a:latin typeface="Helvetica" charset="0"/>
                <a:ea typeface="ＭＳ Ｐゴシック" charset="0"/>
                <a:cs typeface="Helvetica" charset="0"/>
              </a:rPr>
              <a:t>Example of a dramatic change caused by mutation of a regulatory network:</a:t>
            </a:r>
          </a:p>
          <a:p>
            <a:pPr marL="342900" indent="-342900" eaLnBrk="1" hangingPunct="1">
              <a:spcAft>
                <a:spcPts val="2400"/>
              </a:spcAft>
              <a:buFont typeface="Arial"/>
              <a:buChar char="•"/>
              <a:defRPr/>
            </a:pPr>
            <a:r>
              <a:rPr lang="en-US" sz="2000" dirty="0">
                <a:latin typeface="Helvetica" charset="0"/>
                <a:cs typeface="Helvetica" charset="0"/>
              </a:rPr>
              <a:t>In nature, two-winged flies evolved from four-winged flies by converting wings to </a:t>
            </a:r>
            <a:r>
              <a:rPr lang="en-US" sz="2000" dirty="0" err="1">
                <a:latin typeface="Helvetica" charset="0"/>
                <a:cs typeface="Helvetica" charset="0"/>
              </a:rPr>
              <a:t>halteres</a:t>
            </a:r>
            <a:r>
              <a:rPr lang="en-US" sz="2000" dirty="0">
                <a:latin typeface="Helvetica" charset="0"/>
                <a:cs typeface="Helvetica" charset="0"/>
              </a:rPr>
              <a:t>.</a:t>
            </a:r>
          </a:p>
          <a:p>
            <a:pPr marL="342900" indent="-342900" eaLnBrk="1" hangingPunct="1">
              <a:spcAft>
                <a:spcPts val="1800"/>
              </a:spcAft>
              <a:buFont typeface="Arial"/>
              <a:buChar char="•"/>
              <a:defRPr/>
            </a:pPr>
            <a:r>
              <a:rPr lang="en-US" sz="2000" dirty="0">
                <a:latin typeface="Helvetica" charset="0"/>
                <a:cs typeface="Helvetica" charset="0"/>
              </a:rPr>
              <a:t>In the lab, a two-winged fly was reverted to a four-winged fly by changing one element of a key regulatory network.</a:t>
            </a:r>
          </a:p>
          <a:p>
            <a:pPr eaLnBrk="1" hangingPunct="1">
              <a:spcAft>
                <a:spcPts val="1200"/>
              </a:spcAft>
              <a:buFont typeface="Arial" charset="0"/>
              <a:buNone/>
              <a:defRPr/>
            </a:pPr>
            <a:endParaRPr lang="en-US" dirty="0">
              <a:latin typeface="Helvetica" charset="0"/>
              <a:ea typeface="ＭＳ Ｐゴシック" charset="0"/>
              <a:cs typeface="Helvetica" charset="0"/>
            </a:endParaRPr>
          </a:p>
        </p:txBody>
      </p:sp>
      <p:sp>
        <p:nvSpPr>
          <p:cNvPr id="43015" name="Footer Placeholder 4"/>
          <p:cNvSpPr>
            <a:spLocks noGrp="1"/>
          </p:cNvSpPr>
          <p:nvPr>
            <p:ph type="ftr" sz="quarter" idx="11"/>
          </p:nvPr>
        </p:nvSpPr>
        <p:spPr bwMode="auto">
          <a:xfrm>
            <a:off x="1528763" y="6423025"/>
            <a:ext cx="6088062" cy="365125"/>
          </a:xfrm>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dirty="0">
                <a:solidFill>
                  <a:srgbClr val="898989"/>
                </a:solidFill>
                <a:latin typeface="Helvetica" pitchFamily="34" charset="0"/>
                <a:ea typeface="ＭＳ Ｐゴシック" pitchFamily="34" charset="-128"/>
                <a:cs typeface="Helvetica" pitchFamily="34" charset="0"/>
              </a:rPr>
              <a:t>Copyright © McGraw-Hill Education. Permission required for reproduction or display</a:t>
            </a:r>
          </a:p>
          <a:p>
            <a:pPr fontAlgn="base">
              <a:spcBef>
                <a:spcPct val="0"/>
              </a:spcBef>
              <a:spcAft>
                <a:spcPct val="0"/>
              </a:spcAft>
            </a:pPr>
            <a:r>
              <a:rPr lang="en-US" dirty="0">
                <a:solidFill>
                  <a:srgbClr val="898989"/>
                </a:solidFill>
                <a:latin typeface="Helvetica" pitchFamily="34" charset="0"/>
                <a:ea typeface="ＭＳ Ｐゴシック" pitchFamily="34" charset="-128"/>
                <a:cs typeface="Helvetica" pitchFamily="34" charset="0"/>
              </a:rPr>
              <a:t>Hartwell et al., 5th ed., Chapter 1</a:t>
            </a:r>
          </a:p>
        </p:txBody>
      </p:sp>
    </p:spTree>
    <p:extLst>
      <p:ext uri="{BB962C8B-B14F-4D97-AF65-F5344CB8AC3E}">
        <p14:creationId xmlns:p14="http://schemas.microsoft.com/office/powerpoint/2010/main" val="3204513338"/>
      </p:ext>
    </p:extLst>
  </p:cSld>
  <p:clrMapOvr>
    <a:masterClrMapping/>
  </p:clrMapOvr>
</p:sld>
</file>

<file path=ppt/theme/theme1.xml><?xml version="1.0" encoding="utf-8"?>
<a:theme xmlns:a="http://schemas.openxmlformats.org/drawingml/2006/main" name="Ch02_Hartwell4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Helvetica"/>
            <a:cs typeface="Helvetica"/>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211-lect3-extensions to mendel.pptx</Template>
  <TotalTime>6801</TotalTime>
  <Words>2300</Words>
  <Application>Microsoft Office PowerPoint</Application>
  <PresentationFormat>On-screen Show (4:3)</PresentationFormat>
  <Paragraphs>226</Paragraphs>
  <Slides>24</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Helvetica</vt:lpstr>
      <vt:lpstr>Helvetica Neue</vt:lpstr>
      <vt:lpstr>Silom</vt:lpstr>
      <vt:lpstr>Times Bold</vt:lpstr>
      <vt:lpstr>Times New Roman</vt:lpstr>
      <vt:lpstr>Wingdings</vt:lpstr>
      <vt:lpstr>Ch02_Hartwell4e</vt:lpstr>
      <vt:lpstr>Biology 341 Molecular Genetics Sundays- Wednesdays 1-2 </vt:lpstr>
      <vt:lpstr>PowerPoint Presentation</vt:lpstr>
      <vt:lpstr>Studying genetics</vt:lpstr>
      <vt:lpstr>Three milestones in genetics</vt:lpstr>
      <vt:lpstr>What is a Gene?</vt:lpstr>
      <vt:lpstr>PowerPoint Presentation</vt:lpstr>
      <vt:lpstr>Meiosis</vt:lpstr>
      <vt:lpstr>PowerPoint Presentation</vt:lpstr>
      <vt:lpstr>Two critical functions of DNA</vt:lpstr>
      <vt:lpstr>The model of DNA  replication postulated by Watson and Crick</vt:lpstr>
      <vt:lpstr>Two critical functions of DNA</vt:lpstr>
      <vt:lpstr>The amino acid sequence determines  the three-dimensional shape of the protein</vt:lpstr>
      <vt:lpstr>Proteins</vt:lpstr>
      <vt:lpstr>PowerPoint Presentation</vt:lpstr>
      <vt:lpstr>RNA evolved into an intermediary in conversion of DNA information into protein</vt:lpstr>
      <vt:lpstr>Mutations in genes result in altered proteins and give rise to different traits</vt:lpstr>
      <vt:lpstr>Mutations lead to different traits </vt:lpstr>
      <vt:lpstr>Mutations in the cftr gene lead to Cystic Fibrosis</vt:lpstr>
      <vt:lpstr>Three milestones in genetics</vt:lpstr>
      <vt:lpstr>Genomes of five model organisms  were sequenced as part of the  Human Genome Project</vt:lpstr>
      <vt:lpstr>Many genes have similar functions  in different organisms</vt:lpstr>
      <vt:lpstr>A gene from one organism can functionally replace a gene in another organism</vt:lpstr>
      <vt:lpstr>PowerPoint Presentation</vt:lpstr>
      <vt:lpstr>Mutation of key regulatory networks is important for evolution of complexity</vt:lpstr>
    </vt:vector>
  </TitlesOfParts>
  <Company>University of Windsor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Andrew Swan</dc:creator>
  <cp:lastModifiedBy>OSAMAH BATIHA</cp:lastModifiedBy>
  <cp:revision>131</cp:revision>
  <dcterms:created xsi:type="dcterms:W3CDTF">2012-09-06T02:18:04Z</dcterms:created>
  <dcterms:modified xsi:type="dcterms:W3CDTF">2023-07-22T12:20:54Z</dcterms:modified>
</cp:coreProperties>
</file>