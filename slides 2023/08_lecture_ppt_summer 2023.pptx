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17" r:id="rId2"/>
    <p:sldId id="425" r:id="rId3"/>
    <p:sldId id="495" r:id="rId4"/>
    <p:sldId id="443" r:id="rId5"/>
    <p:sldId id="518" r:id="rId6"/>
    <p:sldId id="442" r:id="rId7"/>
    <p:sldId id="453" r:id="rId8"/>
    <p:sldId id="501" r:id="rId9"/>
    <p:sldId id="502" r:id="rId10"/>
    <p:sldId id="530" r:id="rId11"/>
    <p:sldId id="486" r:id="rId12"/>
    <p:sldId id="513" r:id="rId13"/>
    <p:sldId id="516" r:id="rId14"/>
    <p:sldId id="487" r:id="rId15"/>
    <p:sldId id="514" r:id="rId16"/>
    <p:sldId id="515" r:id="rId17"/>
    <p:sldId id="531" r:id="rId18"/>
    <p:sldId id="491" r:id="rId19"/>
    <p:sldId id="532" r:id="rId20"/>
    <p:sldId id="490" r:id="rId2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A3AF"/>
    <a:srgbClr val="CE0015"/>
    <a:srgbClr val="FABBCD"/>
    <a:srgbClr val="D4DAE6"/>
    <a:srgbClr val="BCDDBC"/>
    <a:srgbClr val="EBEADB"/>
    <a:srgbClr val="FFFFFF"/>
    <a:srgbClr val="714795"/>
    <a:srgbClr val="F0EBDE"/>
    <a:srgbClr val="EBE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846FA-9D96-D04E-A015-6817279780DC}" v="5" dt="2021-01-21T17:05:45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524" y="96"/>
      </p:cViewPr>
      <p:guideLst>
        <p:guide orient="horz" pos="215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82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f8bdb1a38713c6c460f4875b27f5d077f5981b5cc73e6359cd56ec41ae0bdc0a::" providerId="AD" clId="Web-{4D9D5639-5159-53CB-678D-EB9F44A9BF49}"/>
    <pc:docChg chg="modSld">
      <pc:chgData name="Guest User" userId="S::urn:spo:anon#f8bdb1a38713c6c460f4875b27f5d077f5981b5cc73e6359cd56ec41ae0bdc0a::" providerId="AD" clId="Web-{4D9D5639-5159-53CB-678D-EB9F44A9BF49}" dt="2021-01-11T15:04:29.163" v="2" actId="20577"/>
      <pc:docMkLst>
        <pc:docMk/>
      </pc:docMkLst>
      <pc:sldChg chg="modSp">
        <pc:chgData name="Guest User" userId="S::urn:spo:anon#f8bdb1a38713c6c460f4875b27f5d077f5981b5cc73e6359cd56ec41ae0bdc0a::" providerId="AD" clId="Web-{4D9D5639-5159-53CB-678D-EB9F44A9BF49}" dt="2021-01-11T15:04:29.163" v="2" actId="20577"/>
        <pc:sldMkLst>
          <pc:docMk/>
          <pc:sldMk cId="0" sldId="496"/>
        </pc:sldMkLst>
        <pc:spChg chg="mod">
          <ac:chgData name="Guest User" userId="S::urn:spo:anon#f8bdb1a38713c6c460f4875b27f5d077f5981b5cc73e6359cd56ec41ae0bdc0a::" providerId="AD" clId="Web-{4D9D5639-5159-53CB-678D-EB9F44A9BF49}" dt="2021-01-11T15:04:29.163" v="2" actId="20577"/>
          <ac:spMkLst>
            <pc:docMk/>
            <pc:sldMk cId="0" sldId="496"/>
            <ac:spMk id="22531" creationId="{00000000-0000-0000-0000-000000000000}"/>
          </ac:spMkLst>
        </pc:spChg>
      </pc:sldChg>
    </pc:docChg>
  </pc:docChgLst>
  <pc:docChgLst>
    <pc:chgData name="SALLY RA'ED ALGALBAN" userId="e38524a0-7d09-468b-8db8-1ef013538473" providerId="ADAL" clId="{511846FA-9D96-D04E-A015-6817279780DC}"/>
    <pc:docChg chg="custSel delSld modSld">
      <pc:chgData name="SALLY RA'ED ALGALBAN" userId="e38524a0-7d09-468b-8db8-1ef013538473" providerId="ADAL" clId="{511846FA-9D96-D04E-A015-6817279780DC}" dt="2021-01-21T16:53:11.987" v="2" actId="2696"/>
      <pc:docMkLst>
        <pc:docMk/>
      </pc:docMkLst>
      <pc:sldChg chg="delSp del">
        <pc:chgData name="SALLY RA'ED ALGALBAN" userId="e38524a0-7d09-468b-8db8-1ef013538473" providerId="ADAL" clId="{511846FA-9D96-D04E-A015-6817279780DC}" dt="2021-01-21T16:53:08.577" v="1" actId="2696"/>
        <pc:sldMkLst>
          <pc:docMk/>
          <pc:sldMk cId="2039508912" sldId="533"/>
        </pc:sldMkLst>
        <pc:spChg chg="del">
          <ac:chgData name="SALLY RA'ED ALGALBAN" userId="e38524a0-7d09-468b-8db8-1ef013538473" providerId="ADAL" clId="{511846FA-9D96-D04E-A015-6817279780DC}" dt="2021-01-21T16:52:59.920" v="0" actId="21"/>
          <ac:spMkLst>
            <pc:docMk/>
            <pc:sldMk cId="2039508912" sldId="533"/>
            <ac:spMk id="3" creationId="{28F5FEA0-8AE9-6941-A7AB-CEDC31AC0355}"/>
          </ac:spMkLst>
        </pc:spChg>
      </pc:sldChg>
      <pc:sldChg chg="del">
        <pc:chgData name="SALLY RA'ED ALGALBAN" userId="e38524a0-7d09-468b-8db8-1ef013538473" providerId="ADAL" clId="{511846FA-9D96-D04E-A015-6817279780DC}" dt="2021-01-21T16:53:11.987" v="2" actId="2696"/>
        <pc:sldMkLst>
          <pc:docMk/>
          <pc:sldMk cId="4071603489" sldId="534"/>
        </pc:sldMkLst>
      </pc:sldChg>
    </pc:docChg>
  </pc:docChgLst>
  <pc:docChgLst>
    <pc:chgData name="SALLY ALGALBAN" userId="e38524a0-7d09-468b-8db8-1ef013538473" providerId="ADAL" clId="{511846FA-9D96-D04E-A015-6817279780DC}"/>
    <pc:docChg chg="addSld modSld">
      <pc:chgData name="SALLY ALGALBAN" userId="e38524a0-7d09-468b-8db8-1ef013538473" providerId="ADAL" clId="{511846FA-9D96-D04E-A015-6817279780DC}" dt="2021-01-21T17:07:45.155" v="4" actId="1076"/>
      <pc:docMkLst>
        <pc:docMk/>
      </pc:docMkLst>
      <pc:sldChg chg="modSp">
        <pc:chgData name="SALLY ALGALBAN" userId="e38524a0-7d09-468b-8db8-1ef013538473" providerId="ADAL" clId="{511846FA-9D96-D04E-A015-6817279780DC}" dt="2021-01-21T17:07:45.155" v="4" actId="1076"/>
        <pc:sldMkLst>
          <pc:docMk/>
          <pc:sldMk cId="0" sldId="443"/>
        </pc:sldMkLst>
        <pc:spChg chg="mod">
          <ac:chgData name="SALLY ALGALBAN" userId="e38524a0-7d09-468b-8db8-1ef013538473" providerId="ADAL" clId="{511846FA-9D96-D04E-A015-6817279780DC}" dt="2021-01-21T17:05:45.662" v="3" actId="1076"/>
          <ac:spMkLst>
            <pc:docMk/>
            <pc:sldMk cId="0" sldId="443"/>
            <ac:spMk id="19459" creationId="{00000000-0000-0000-0000-000000000000}"/>
          </ac:spMkLst>
        </pc:spChg>
        <pc:picChg chg="mod">
          <ac:chgData name="SALLY ALGALBAN" userId="e38524a0-7d09-468b-8db8-1ef013538473" providerId="ADAL" clId="{511846FA-9D96-D04E-A015-6817279780DC}" dt="2021-01-21T17:07:45.155" v="4" actId="1076"/>
          <ac:picMkLst>
            <pc:docMk/>
            <pc:sldMk cId="0" sldId="443"/>
            <ac:picMk id="8" creationId="{00000000-0000-0000-0000-000000000000}"/>
          </ac:picMkLst>
        </pc:picChg>
      </pc:sldChg>
      <pc:sldChg chg="new">
        <pc:chgData name="SALLY ALGALBAN" userId="e38524a0-7d09-468b-8db8-1ef013538473" providerId="ADAL" clId="{511846FA-9D96-D04E-A015-6817279780DC}" dt="2021-01-21T16:52:19.240" v="0" actId="680"/>
        <pc:sldMkLst>
          <pc:docMk/>
          <pc:sldMk cId="2039508912" sldId="533"/>
        </pc:sldMkLst>
      </pc:sldChg>
      <pc:sldChg chg="new">
        <pc:chgData name="SALLY ALGALBAN" userId="e38524a0-7d09-468b-8db8-1ef013538473" providerId="ADAL" clId="{511846FA-9D96-D04E-A015-6817279780DC}" dt="2021-01-21T16:52:20.485" v="1" actId="680"/>
        <pc:sldMkLst>
          <pc:docMk/>
          <pc:sldMk cId="4071603489" sldId="5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ACDAF9C3-2D29-DF4F-A1DB-D1DD21418253}" type="datetime1">
              <a:rPr lang="en-US"/>
              <a:pPr/>
              <a:t>9/3/2023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8E3EA651-3111-0C48-91A5-1975B07B85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EDC7B7F-77B1-784C-B3E7-A5B8E0357ADE}" type="datetime1">
              <a:rPr lang="en-US"/>
              <a:pPr/>
              <a:t>9/3/2023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6E5025E8-8BCF-7845-A36C-EF1D73075C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606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ＭＳ Ｐゴシック" pitchFamily="23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85E0DFC-DD8F-2B4B-A9E5-3DBE706B0692}" type="slidenum">
              <a:rPr lang="en-US" sz="1200">
                <a:latin typeface="Calibri" charset="0"/>
              </a:rPr>
              <a:pPr eaLnBrk="1" hangingPunct="1"/>
              <a:t>2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9913C9F-8D00-A448-96A2-DD86D996CB3F}" type="slidenum">
              <a:rPr lang="en-US" sz="1200">
                <a:latin typeface="Calibri" charset="0"/>
              </a:rPr>
              <a:pPr eaLnBrk="1" hangingPunct="1"/>
              <a:t>4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C7383F2-90ED-884D-999E-4FCDFBA13F18}" type="slidenum">
              <a:rPr lang="en-US" sz="1200">
                <a:latin typeface="Calibri" charset="0"/>
              </a:rPr>
              <a:pPr eaLnBrk="1" hangingPunct="1"/>
              <a:t>7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7EAF55-4671-9F47-9D43-A4559C903193}" type="slidenum">
              <a:rPr lang="en-US" sz="1200">
                <a:latin typeface="Calibri" charset="0"/>
              </a:rPr>
              <a:pPr eaLnBrk="1" hangingPunct="1"/>
              <a:t>11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B344F07-C15B-DF44-8B53-9B1EC33C9826}" type="slidenum">
              <a:rPr lang="en-US" sz="1200">
                <a:latin typeface="Calibri" charset="0"/>
              </a:rPr>
              <a:pPr eaLnBrk="1" hangingPunct="1"/>
              <a:t>14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1B2A6EC-7818-9947-9359-7D39C488AB69}" type="slidenum">
              <a:rPr lang="en-US" sz="1200">
                <a:latin typeface="Calibri" charset="0"/>
              </a:rPr>
              <a:pPr eaLnBrk="1" hangingPunct="1"/>
              <a:t>18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1B2A6EC-7818-9947-9359-7D39C488AB69}" type="slidenum">
              <a:rPr lang="en-US" sz="1200">
                <a:latin typeface="Calibri" charset="0"/>
              </a:rPr>
              <a:pPr eaLnBrk="1" hangingPunct="1"/>
              <a:t>19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42E7763-D5CB-2041-882F-0CF09F0C599E}" type="slidenum">
              <a:rPr lang="en-US" sz="1200">
                <a:latin typeface="Calibri" charset="0"/>
              </a:rPr>
              <a:pPr eaLnBrk="1" hangingPunct="1"/>
              <a:t>20</a:t>
            </a:fld>
            <a:endParaRPr lang="en-US" sz="1200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 b="1">
                <a:latin typeface="Helvetica" charset="0"/>
                <a:cs typeface="Helvetica" charset="0"/>
              </a:defRPr>
            </a:lvl1pPr>
          </a:lstStyle>
          <a:p>
            <a:fld id="{2B37DFAC-C77D-4F49-B728-D3F374129DF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</p:spTree>
    <p:extLst>
      <p:ext uri="{BB962C8B-B14F-4D97-AF65-F5344CB8AC3E}">
        <p14:creationId xmlns:p14="http://schemas.microsoft.com/office/powerpoint/2010/main" val="1877070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gradFill flip="none" rotWithShape="1">
            <a:gsLst>
              <a:gs pos="0">
                <a:srgbClr val="155076"/>
              </a:gs>
              <a:gs pos="50000">
                <a:srgbClr val="14AECA"/>
              </a:gs>
              <a:gs pos="99000">
                <a:srgbClr val="155076"/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80000"/>
                    </a:srgbClr>
                  </a:outerShdw>
                </a:effectLst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>
                <a:latin typeface="Helvetica"/>
                <a:cs typeface="Helvetica"/>
              </a:defRPr>
            </a:lvl1pPr>
            <a:lvl2pPr marL="640080" indent="-22860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000" b="1">
                <a:latin typeface="Helvetica"/>
                <a:cs typeface="Helvetica"/>
              </a:defRPr>
            </a:lvl2pPr>
            <a:lvl3pPr marL="86868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1800" b="1">
                <a:latin typeface="Helvetica"/>
                <a:cs typeface="Helvetica"/>
              </a:defRPr>
            </a:lvl3pPr>
            <a:lvl4pPr>
              <a:defRPr b="1">
                <a:latin typeface="Helvetica"/>
                <a:cs typeface="Helvetica"/>
              </a:defRPr>
            </a:lvl4pPr>
            <a:lvl5pPr>
              <a:defRPr b="1">
                <a:latin typeface="Helvetica"/>
                <a:cs typeface="Helvetic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00" b="1">
                <a:latin typeface="Helvetica" charset="0"/>
                <a:cs typeface="Helvetica" charset="0"/>
              </a:defRPr>
            </a:lvl1pPr>
          </a:lstStyle>
          <a:p>
            <a:fld id="{95967F73-5A8A-D941-84F4-8ED2EBCE958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3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00" b="1">
                <a:latin typeface="Helvetica" charset="0"/>
                <a:cs typeface="Helvetica" charset="0"/>
              </a:defRPr>
            </a:lvl1pPr>
          </a:lstStyle>
          <a:p>
            <a:fld id="{5637CB2C-61BD-1547-9F30-0268B6D471E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</p:spTree>
    <p:extLst>
      <p:ext uri="{BB962C8B-B14F-4D97-AF65-F5344CB8AC3E}">
        <p14:creationId xmlns:p14="http://schemas.microsoft.com/office/powerpoint/2010/main" val="269673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gradFill flip="none" rotWithShape="1">
            <a:gsLst>
              <a:gs pos="0">
                <a:srgbClr val="155076"/>
              </a:gs>
              <a:gs pos="50000">
                <a:srgbClr val="14AECA"/>
              </a:gs>
              <a:gs pos="99000">
                <a:srgbClr val="155076"/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80000"/>
                    </a:srgbClr>
                  </a:outerShdw>
                </a:effectLst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1418736"/>
            <a:ext cx="4114800" cy="1408855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>
                <a:latin typeface="Helvetica"/>
                <a:cs typeface="Helvetica"/>
              </a:defRPr>
            </a:lvl1pPr>
            <a:lvl2pPr marL="640080" indent="-22860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200" b="1">
                <a:latin typeface="Helvetica"/>
                <a:cs typeface="Helvetica"/>
              </a:defRPr>
            </a:lvl2pPr>
            <a:lvl3pPr marL="86868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2000" b="1">
                <a:latin typeface="Helvetica"/>
                <a:cs typeface="Helvetica"/>
              </a:defRPr>
            </a:lvl3pPr>
            <a:lvl4pPr>
              <a:defRPr b="1">
                <a:latin typeface="Helvetica"/>
                <a:cs typeface="Helvetica"/>
              </a:defRPr>
            </a:lvl4pPr>
            <a:lvl5pPr>
              <a:defRPr b="1">
                <a:latin typeface="Helvetica"/>
                <a:cs typeface="Helvetic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4572000" y="1418736"/>
            <a:ext cx="4114800" cy="1408855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>
                <a:latin typeface="Helvetica"/>
                <a:cs typeface="Helvetica"/>
              </a:defRPr>
            </a:lvl1pPr>
            <a:lvl2pPr marL="640080" indent="-22860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200" b="1">
                <a:latin typeface="Helvetica"/>
                <a:cs typeface="Helvetica"/>
              </a:defRPr>
            </a:lvl2pPr>
            <a:lvl3pPr marL="86868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2000" b="1">
                <a:latin typeface="Helvetica"/>
                <a:cs typeface="Helvetica"/>
              </a:defRPr>
            </a:lvl3pPr>
            <a:lvl4pPr>
              <a:defRPr b="1">
                <a:latin typeface="Helvetica"/>
                <a:cs typeface="Helvetica"/>
              </a:defRPr>
            </a:lvl4pPr>
            <a:lvl5pPr>
              <a:defRPr b="1">
                <a:latin typeface="Helvetica"/>
                <a:cs typeface="Helvetic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Helvetica" charset="0"/>
                <a:cs typeface="Helvetica" charset="0"/>
              </a:defRPr>
            </a:lvl1pPr>
          </a:lstStyle>
          <a:p>
            <a:fld id="{969C2D3C-1DC8-4D46-91DE-35EB5AE94B8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1528763" y="6356350"/>
            <a:ext cx="6088062" cy="365125"/>
          </a:xfrm>
        </p:spPr>
        <p:txBody>
          <a:bodyPr/>
          <a:lstStyle>
            <a:lvl1pPr>
              <a:defRPr sz="1000" b="1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</p:spTree>
    <p:extLst>
      <p:ext uri="{BB962C8B-B14F-4D97-AF65-F5344CB8AC3E}">
        <p14:creationId xmlns:p14="http://schemas.microsoft.com/office/powerpoint/2010/main" val="399750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2E5BCD-9D8E-E848-8B2D-20B60E97459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576F4-584C-1148-B339-22DE8FACB4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1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D0FD44-9E4B-D549-94DB-D164D9ECCE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3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FE8BE9-B3AB-3846-8D4F-28ABF02351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6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38E492-AD7B-FE43-B5CC-4E4B4E664F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6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A75A7-12FA-FE4F-A94D-A082512AC9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en-US"/>
              <a:t>Copyright © The McGraw-Hill Companies, Inc.  Permission required to reproduce or display Hartwell et al., 4th edition, Chapter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C743F542-919D-FD40-BA84-CDB331EA43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86" r:id="rId5"/>
    <p:sldLayoutId id="2147483987" r:id="rId6"/>
    <p:sldLayoutId id="2147483988" r:id="rId7"/>
    <p:sldLayoutId id="2147483989" r:id="rId8"/>
    <p:sldLayoutId id="2147483990" r:id="rId9"/>
    <p:sldLayoutId id="2147483991" r:id="rId10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23" charset="-128"/>
          <a:cs typeface="ＭＳ Ｐゴシック" pitchFamily="23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23" charset="0"/>
          <a:ea typeface="ＭＳ Ｐゴシック" pitchFamily="23" charset="-128"/>
          <a:cs typeface="ＭＳ Ｐゴシック" pitchFamily="23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23" charset="-128"/>
          <a:cs typeface="ＭＳ Ｐゴシック" pitchFamily="23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23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6553200" y="6475413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3EDEF7C-ECBC-BF4A-8AC0-6284D89688E3}" type="slidenum">
              <a:rPr lang="en-US" sz="1000" b="1">
                <a:solidFill>
                  <a:srgbClr val="898989"/>
                </a:solidFill>
                <a:latin typeface="Helvetica" charset="0"/>
                <a:cs typeface="Helvetica" charset="0"/>
              </a:rPr>
              <a:pPr algn="r" eaLnBrk="1" hangingPunct="1"/>
              <a:t>1</a:t>
            </a:fld>
            <a:endParaRPr lang="en-US" sz="1000" b="1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2" name="Footer Placeholder 2"/>
          <p:cNvSpPr txBox="1">
            <a:spLocks noGrp="1"/>
          </p:cNvSpPr>
          <p:nvPr/>
        </p:nvSpPr>
        <p:spPr bwMode="auto">
          <a:xfrm>
            <a:off x="1528763" y="6475413"/>
            <a:ext cx="60880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000" b="1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</p:txBody>
      </p:sp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371475" y="1090613"/>
            <a:ext cx="8383588" cy="4394193"/>
            <a:chOff x="439738" y="1208608"/>
            <a:chExt cx="8382526" cy="4395055"/>
          </a:xfrm>
        </p:grpSpPr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439738" y="1208608"/>
              <a:ext cx="4831738" cy="4140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b="1">
                  <a:latin typeface="Helvetica" charset="0"/>
                  <a:cs typeface="Helvetica" charset="0"/>
                </a:rPr>
                <a:t>Genetics:  From Genes to Genomes</a:t>
              </a:r>
            </a:p>
            <a:p>
              <a:pPr algn="ctr">
                <a:spcAft>
                  <a:spcPts val="2400"/>
                </a:spcAft>
              </a:pPr>
              <a:r>
                <a:rPr lang="en-US" sz="2000" b="1">
                  <a:latin typeface="Helvetica" charset="0"/>
                  <a:cs typeface="Helvetica" charset="0"/>
                </a:rPr>
                <a:t>Fifth Edition</a:t>
              </a:r>
            </a:p>
            <a:p>
              <a:pPr algn="ctr">
                <a:spcAft>
                  <a:spcPts val="1200"/>
                </a:spcAft>
              </a:pPr>
              <a:r>
                <a:rPr lang="en-US" sz="2000" b="1">
                  <a:latin typeface="Helvetica" charset="0"/>
                  <a:cs typeface="Helvetica" charset="0"/>
                </a:rPr>
                <a:t>Leland H. Hartwell, Michael L. Goldberg, Janice A. Fisher, Leroy Hood, and Charles F. </a:t>
              </a:r>
              <a:r>
                <a:rPr lang="en-US" sz="2000" b="1" err="1">
                  <a:latin typeface="Helvetica" charset="0"/>
                  <a:cs typeface="Helvetica" charset="0"/>
                </a:rPr>
                <a:t>Aquadro</a:t>
              </a:r>
              <a:endParaRPr lang="en-US" sz="2000" b="1">
                <a:latin typeface="Helvetica" charset="0"/>
                <a:cs typeface="Helvetica" charset="0"/>
              </a:endParaRPr>
            </a:p>
            <a:p>
              <a:pPr algn="ctr"/>
              <a:endParaRPr lang="en-US" sz="2000" b="1">
                <a:latin typeface="Helvetica" charset="0"/>
                <a:cs typeface="Helvetica" charset="0"/>
              </a:endParaRPr>
            </a:p>
            <a:p>
              <a:pPr algn="ctr"/>
              <a:endParaRPr lang="en-US" sz="2000" b="1">
                <a:latin typeface="Helvetica" charset="0"/>
                <a:cs typeface="Helvetica" charset="0"/>
              </a:endParaRPr>
            </a:p>
            <a:p>
              <a:pPr algn="ctr"/>
              <a:r>
                <a:rPr lang="en-US" sz="1600" b="1">
                  <a:latin typeface="Helvetica" charset="0"/>
                  <a:cs typeface="Helvetica" charset="0"/>
                </a:rPr>
                <a:t>Prepared by Kristin D. Patterson</a:t>
              </a:r>
            </a:p>
            <a:p>
              <a:pPr algn="ctr"/>
              <a:r>
                <a:rPr lang="en-US" sz="1600" b="1">
                  <a:latin typeface="Helvetica" charset="0"/>
                  <a:cs typeface="Helvetica" charset="0"/>
                </a:rPr>
                <a:t>University of Texas at Austin</a:t>
              </a:r>
            </a:p>
            <a:p>
              <a:pPr algn="ctr"/>
              <a:endParaRPr lang="en-US" sz="2000" b="1">
                <a:latin typeface="Helvetica" charset="0"/>
                <a:cs typeface="Helvetica" charset="0"/>
              </a:endParaRPr>
            </a:p>
          </p:txBody>
        </p:sp>
        <p:pic>
          <p:nvPicPr>
            <p:cNvPr id="15" name="Picture 8" descr="cover.tif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 bwMode="auto">
            <a:xfrm>
              <a:off x="5407701" y="1230248"/>
              <a:ext cx="3414563" cy="437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4" y="101743"/>
            <a:ext cx="699302" cy="69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6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 Same Side Corner Rectangle 17"/>
          <p:cNvSpPr/>
          <p:nvPr/>
        </p:nvSpPr>
        <p:spPr bwMode="auto">
          <a:xfrm rot="10800000">
            <a:off x="265113" y="4484625"/>
            <a:ext cx="8640762" cy="1754188"/>
          </a:xfrm>
          <a:prstGeom prst="round2SameRect">
            <a:avLst/>
          </a:prstGeom>
          <a:noFill/>
          <a:ln w="38100">
            <a:solidFill>
              <a:srgbClr val="FF9673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spcAft>
                <a:spcPts val="1200"/>
              </a:spcAft>
            </a:pPr>
            <a:endParaRPr lang="en-US" sz="2800">
              <a:latin typeface="Calibri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DA64093-F945-0D4A-8421-02504B989BC5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2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7215188" y="530225"/>
            <a:ext cx="11652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cs typeface="Helvetica" charset="0"/>
              </a:rPr>
              <a:t>CHAPTER</a:t>
            </a:r>
          </a:p>
        </p:txBody>
      </p:sp>
      <p:sp>
        <p:nvSpPr>
          <p:cNvPr id="11" name="Title Placeholder 1"/>
          <p:cNvSpPr txBox="1">
            <a:spLocks/>
          </p:cNvSpPr>
          <p:nvPr/>
        </p:nvSpPr>
        <p:spPr>
          <a:xfrm>
            <a:off x="1414463" y="179388"/>
            <a:ext cx="7491412" cy="823912"/>
          </a:xfrm>
          <a:prstGeom prst="rect">
            <a:avLst/>
          </a:prstGeom>
          <a:solidFill>
            <a:srgbClr val="9AA3AF"/>
          </a:solidFill>
          <a:ln>
            <a:solidFill>
              <a:srgbClr val="FFFFFF"/>
            </a:solidFill>
          </a:ln>
        </p:spPr>
        <p:txBody>
          <a:bodyPr anchor="ctr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cs typeface="Helvetica" charset="0"/>
              </a:rPr>
              <a:t>What Genes Are and What They Do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369175" y="438150"/>
            <a:ext cx="1044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Helvetica" charset="0"/>
                <a:cs typeface="Helvetica" charset="0"/>
              </a:rPr>
              <a:t>CHAPTER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258763" y="179388"/>
            <a:ext cx="1143000" cy="823912"/>
          </a:xfrm>
          <a:prstGeom prst="rect">
            <a:avLst/>
          </a:prstGeom>
          <a:solidFill>
            <a:srgbClr val="9AA3A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PART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9312" y="-170277"/>
            <a:ext cx="647744" cy="28007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Helvetica"/>
                <a:ea typeface="+mn-ea"/>
                <a:cs typeface="Helvetica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8763" y="4046538"/>
            <a:ext cx="8647111" cy="412750"/>
          </a:xfrm>
          <a:prstGeom prst="rect">
            <a:avLst/>
          </a:prstGeom>
          <a:solidFill>
            <a:srgbClr val="9AA3A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charset="0"/>
                <a:ea typeface="ＭＳ Ｐゴシック" charset="0"/>
                <a:cs typeface="ＭＳ Ｐゴシック" charset="0"/>
              </a:rPr>
              <a:t>CHAPTER OUTLINE</a:t>
            </a:r>
          </a:p>
        </p:txBody>
      </p:sp>
      <p:sp>
        <p:nvSpPr>
          <p:cNvPr id="16395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1528763" y="6354763"/>
            <a:ext cx="6088062" cy="365125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6396" name="Subtitle 2"/>
          <p:cNvSpPr txBox="1">
            <a:spLocks/>
          </p:cNvSpPr>
          <p:nvPr/>
        </p:nvSpPr>
        <p:spPr bwMode="auto">
          <a:xfrm>
            <a:off x="274638" y="1531938"/>
            <a:ext cx="50038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spcAft>
                <a:spcPts val="2400"/>
              </a:spcAft>
            </a:pPr>
            <a:r>
              <a:rPr lang="en-US" sz="2800" b="1">
                <a:solidFill>
                  <a:srgbClr val="714795"/>
                </a:solidFill>
                <a:latin typeface="Helvetica" charset="0"/>
                <a:cs typeface="Helvetica" charset="0"/>
              </a:rPr>
              <a:t>Gene Expression: </a:t>
            </a:r>
            <a:br>
              <a:rPr lang="en-US" sz="2800" b="1">
                <a:solidFill>
                  <a:srgbClr val="714795"/>
                </a:solidFill>
                <a:latin typeface="Helvetica" charset="0"/>
                <a:cs typeface="Helvetica" charset="0"/>
              </a:rPr>
            </a:br>
            <a:r>
              <a:rPr lang="en-US" sz="2800" b="1">
                <a:solidFill>
                  <a:srgbClr val="714795"/>
                </a:solidFill>
                <a:latin typeface="Helvetica" charset="0"/>
                <a:cs typeface="Helvetica" charset="0"/>
              </a:rPr>
              <a:t>The Flow of Information </a:t>
            </a:r>
            <a:br>
              <a:rPr lang="en-US" sz="2800" b="1">
                <a:solidFill>
                  <a:srgbClr val="714795"/>
                </a:solidFill>
                <a:latin typeface="Helvetica" charset="0"/>
                <a:cs typeface="Helvetica" charset="0"/>
              </a:rPr>
            </a:br>
            <a:r>
              <a:rPr lang="en-US" sz="2800" b="1">
                <a:solidFill>
                  <a:srgbClr val="714795"/>
                </a:solidFill>
                <a:latin typeface="Helvetica" charset="0"/>
                <a:cs typeface="Helvetica" charset="0"/>
              </a:rPr>
              <a:t>from DNA to RNA to Protein</a:t>
            </a:r>
          </a:p>
          <a:p>
            <a:pPr>
              <a:spcBef>
                <a:spcPct val="20000"/>
              </a:spcBef>
              <a:spcAft>
                <a:spcPts val="2400"/>
              </a:spcAft>
              <a:buFont typeface="Arial" charset="0"/>
              <a:buNone/>
            </a:pPr>
            <a:endParaRPr lang="en-US" sz="2800" b="1">
              <a:solidFill>
                <a:srgbClr val="714795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6397" name="Text Placeholder 17"/>
          <p:cNvSpPr txBox="1">
            <a:spLocks/>
          </p:cNvSpPr>
          <p:nvPr/>
        </p:nvSpPr>
        <p:spPr bwMode="auto">
          <a:xfrm>
            <a:off x="465138" y="4481450"/>
            <a:ext cx="8032750" cy="190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2730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Aft>
                <a:spcPts val="400"/>
              </a:spcAft>
              <a:buFont typeface="Wingdings" charset="0"/>
              <a:buChar char="§"/>
            </a:pPr>
            <a:r>
              <a:rPr lang="en-US" sz="1800">
                <a:latin typeface="Helvetica" charset="0"/>
                <a:cs typeface="Helvetica" charset="0"/>
              </a:rPr>
              <a:t>8.1 The Genetic Code</a:t>
            </a:r>
          </a:p>
          <a:p>
            <a:pPr eaLnBrk="1" hangingPunct="1">
              <a:spcAft>
                <a:spcPts val="400"/>
              </a:spcAft>
              <a:buFont typeface="Wingdings" charset="0"/>
              <a:buChar char="§"/>
            </a:pPr>
            <a:r>
              <a:rPr lang="en-US" sz="1800">
                <a:latin typeface="Helvetica" charset="0"/>
                <a:cs typeface="Helvetica" charset="0"/>
              </a:rPr>
              <a:t>8.2 Transcription: From DNA to RNA</a:t>
            </a:r>
          </a:p>
          <a:p>
            <a:pPr eaLnBrk="1" hangingPunct="1">
              <a:spcAft>
                <a:spcPts val="400"/>
              </a:spcAft>
              <a:buFont typeface="Wingdings" charset="0"/>
              <a:buChar char="§"/>
            </a:pPr>
            <a:r>
              <a:rPr lang="en-US" sz="1800">
                <a:latin typeface="Helvetica" charset="0"/>
                <a:cs typeface="Helvetica" charset="0"/>
              </a:rPr>
              <a:t>8.3 Translation: From mRNA to Protein</a:t>
            </a:r>
          </a:p>
          <a:p>
            <a:pPr eaLnBrk="1" hangingPunct="1">
              <a:spcAft>
                <a:spcPts val="400"/>
              </a:spcAft>
              <a:buFont typeface="Wingdings" charset="0"/>
              <a:buChar char="§"/>
            </a:pPr>
            <a:r>
              <a:rPr lang="en-US" sz="1800">
                <a:latin typeface="Helvetica" charset="0"/>
                <a:cs typeface="Helvetica" charset="0"/>
              </a:rPr>
              <a:t>8.4 Differences in Gene Expression Between Prokaryotes and Eukaryotes</a:t>
            </a:r>
          </a:p>
          <a:p>
            <a:pPr eaLnBrk="1" hangingPunct="1">
              <a:spcAft>
                <a:spcPts val="400"/>
              </a:spcAft>
              <a:buFont typeface="Wingdings" charset="0"/>
              <a:buChar char="§"/>
            </a:pPr>
            <a:r>
              <a:rPr lang="en-US" sz="1800">
                <a:latin typeface="Helvetica" charset="0"/>
                <a:cs typeface="Helvetica" charset="0"/>
              </a:rPr>
              <a:t>8.5 The Effects of Mutations on Gene Expression and Function</a:t>
            </a:r>
          </a:p>
        </p:txBody>
      </p:sp>
      <p:pic>
        <p:nvPicPr>
          <p:cNvPr id="23" name="Picture 22" descr="har25316_co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185" y="1015469"/>
            <a:ext cx="3547796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Four general themes for gene expression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658938"/>
            <a:ext cx="8229600" cy="4132262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Pairing of complementary bases is the key to the transfer of information from DNA to RNA and from RNA to protein.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Polarities of DNA, RNA, and polypeptides help guide the mechanisms of gene expression.</a:t>
            </a:r>
          </a:p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Gene expression requires input of energy and participation of specific proteins and macromolecular assemblies.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Mutations that change genetic information or obstruct the flow of its expression can have dramatic effects on phenotype.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2BD3002-BE7F-3D4A-BBC9-BBB7E32083E1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3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Gene expression:  the flow of genetic information from DNA via RNA to protein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idx="1"/>
          </p:nvPr>
        </p:nvSpPr>
        <p:spPr>
          <a:xfrm>
            <a:off x="706851" y="1603377"/>
            <a:ext cx="4114800" cy="37131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RNA polymerase transcribes DNA to produce an RNA transcript</a:t>
            </a: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  <a:p>
            <a:pPr>
              <a:spcAft>
                <a:spcPts val="48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Ribosomes translate the mRNA sequence to synthesize a polypeptide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Translation follows the "genetic code"</a:t>
            </a: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19460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CD56C53-D397-B240-8D1E-D1F9C5B936C7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4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946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pic>
        <p:nvPicPr>
          <p:cNvPr id="8" name="Picture 7" descr="har25316_08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41461"/>
            <a:ext cx="3998976" cy="4779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/>
              <a:t>8.1 The genetic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objectives:</a:t>
            </a:r>
          </a:p>
          <a:p>
            <a:pPr marL="457200" lvl="1">
              <a:spcAft>
                <a:spcPts val="0"/>
              </a:spcAft>
            </a:pPr>
            <a:r>
              <a:rPr lang="en-US"/>
              <a:t>Explain the reasoning establishing that a sequence of three nucleotides is the basic unit of the code relating DNA to protein.</a:t>
            </a:r>
          </a:p>
          <a:p>
            <a:pPr marL="457200" lvl="1">
              <a:spcAft>
                <a:spcPts val="0"/>
              </a:spcAft>
            </a:pPr>
            <a:r>
              <a:rPr lang="en-US"/>
              <a:t>Summarize the evidence showing that the sequence of nucleotides in a gene is </a:t>
            </a:r>
            <a:r>
              <a:rPr lang="en-US" err="1"/>
              <a:t>colinear</a:t>
            </a:r>
            <a:r>
              <a:rPr lang="en-US"/>
              <a:t> with the sequence of amino acids in a protein.</a:t>
            </a:r>
          </a:p>
          <a:p>
            <a:pPr marL="457200" lvl="1">
              <a:spcAft>
                <a:spcPts val="0"/>
              </a:spcAft>
            </a:pPr>
            <a:r>
              <a:rPr lang="en-US"/>
              <a:t>Define </a:t>
            </a:r>
            <a:r>
              <a:rPr lang="en-US" i="1"/>
              <a:t>reading frame </a:t>
            </a:r>
            <a:r>
              <a:rPr lang="en-US"/>
              <a:t>and discuss its significance to the genetic code.</a:t>
            </a:r>
          </a:p>
          <a:p>
            <a:pPr marL="457200" lvl="1">
              <a:spcAft>
                <a:spcPts val="0"/>
              </a:spcAft>
            </a:pPr>
            <a:r>
              <a:rPr lang="en-US"/>
              <a:t>Describe experiments that determined which codons are associated with each amino acid and which are stop codons.</a:t>
            </a:r>
          </a:p>
          <a:p>
            <a:pPr marL="457200" lvl="1">
              <a:spcAft>
                <a:spcPts val="0"/>
              </a:spcAft>
            </a:pPr>
            <a:r>
              <a:rPr lang="en-US"/>
              <a:t>Explain how mutations were used to verify the genetic code.</a:t>
            </a:r>
          </a:p>
          <a:p>
            <a:pPr marL="457200" lvl="1">
              <a:spcAft>
                <a:spcPts val="0"/>
              </a:spcAft>
            </a:pPr>
            <a:r>
              <a:rPr lang="en-US"/>
              <a:t>Discuss evidence that the genetic code is almost universal and cite some exceptions.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eaLnBrk="1" hangingPunct="1"/>
            <a:r>
              <a:rPr lang="en-US"/>
              <a:t>Copyright © McGraw-Hill Education. Permission required for reproduction or display</a:t>
            </a:r>
          </a:p>
          <a:p>
            <a:pPr eaLnBrk="1" hangingPunct="1"/>
            <a:r>
              <a:rPr lang="en-US"/>
              <a:t>Hartwell et al., 5th ed., Chapter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967F73-5A8A-D941-84F4-8ED2EBCE958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9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Triplet codons of nucleotides represent individual amino acids</a:t>
            </a:r>
          </a:p>
        </p:txBody>
      </p:sp>
      <p:sp>
        <p:nvSpPr>
          <p:cNvPr id="21507" name="Content Placeholder 4"/>
          <p:cNvSpPr>
            <a:spLocks noGrp="1"/>
          </p:cNvSpPr>
          <p:nvPr>
            <p:ph idx="1"/>
          </p:nvPr>
        </p:nvSpPr>
        <p:spPr>
          <a:xfrm>
            <a:off x="457200" y="2346960"/>
            <a:ext cx="4017963" cy="4009390"/>
          </a:xfrm>
        </p:spPr>
        <p:txBody>
          <a:bodyPr/>
          <a:lstStyle/>
          <a:p>
            <a:pPr marL="571500" lvl="1" indent="-342900">
              <a:spcAft>
                <a:spcPts val="600"/>
              </a:spcAft>
              <a:buFont typeface="Arial"/>
              <a:buChar char="•"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1 nucleotide per amino acid is not enough information</a:t>
            </a:r>
          </a:p>
          <a:p>
            <a:pPr marL="571500" lvl="1" indent="-342900">
              <a:spcAft>
                <a:spcPts val="600"/>
              </a:spcAft>
              <a:buFont typeface="Arial"/>
              <a:buChar char="•"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2 nucleotide code = 4</a:t>
            </a:r>
            <a:r>
              <a:rPr lang="en-US" baseline="30000">
                <a:latin typeface="Helvetica" charset="0"/>
                <a:ea typeface="ＭＳ Ｐゴシック" charset="0"/>
                <a:cs typeface="Helvetica" charset="0"/>
              </a:rPr>
              <a:t>2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= 16 combinations</a:t>
            </a:r>
          </a:p>
          <a:p>
            <a:pPr marL="571500" lvl="1" indent="-342900">
              <a:spcAft>
                <a:spcPts val="600"/>
              </a:spcAft>
              <a:buFont typeface="Arial"/>
              <a:buChar char="•"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3 nucleotide code = 4</a:t>
            </a:r>
            <a:r>
              <a:rPr lang="en-US" baseline="30000">
                <a:latin typeface="Helvetica" charset="0"/>
                <a:ea typeface="ＭＳ Ｐゴシック" charset="0"/>
                <a:cs typeface="Helvetica" charset="0"/>
              </a:rPr>
              <a:t>3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= 64 combinations</a:t>
            </a:r>
          </a:p>
          <a:p>
            <a:pPr>
              <a:spcBef>
                <a:spcPts val="1800"/>
              </a:spcBef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Experiments demonstrated that 3 nucleotides = </a:t>
            </a: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codon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= 1 amino acid</a:t>
            </a: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21508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CAD7D90-0CC3-3A47-8294-A6FF9429F8E3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6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2150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8" name="Content Placeholder 4"/>
          <p:cNvSpPr txBox="1">
            <a:spLocks/>
          </p:cNvSpPr>
          <p:nvPr/>
        </p:nvSpPr>
        <p:spPr bwMode="auto">
          <a:xfrm>
            <a:off x="457200" y="1410654"/>
            <a:ext cx="8229600" cy="783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1pPr>
            <a:lvl2pPr marL="640080" indent="-228600" algn="l" defTabSz="457200" rtl="0" eaLnBrk="0" fontAlgn="base" hangingPunct="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0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2pPr>
            <a:lvl3pPr marL="868680" indent="-228600" algn="l" defTabSz="457200" rtl="0" eaLnBrk="0" fontAlgn="base" hangingPunct="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18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How does DNA with 4 different nucleotide subunits encode 20 different amino acids?</a:t>
            </a:r>
          </a:p>
        </p:txBody>
      </p:sp>
      <p:pic>
        <p:nvPicPr>
          <p:cNvPr id="9" name="Picture 8" descr="har25316_08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398" y="2052060"/>
            <a:ext cx="3672840" cy="4008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Correlation of polarities in DNA, mRNA,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and polypeptide</a:t>
            </a:r>
          </a:p>
        </p:txBody>
      </p:sp>
      <p:sp>
        <p:nvSpPr>
          <p:cNvPr id="45060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45061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F0B1660-1801-3A43-BAA0-5C1FA0D56D44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7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45059" name="Content Placeholder 4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2011362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Template strand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of DNA is complementary to mRNA.</a:t>
            </a:r>
          </a:p>
          <a:p>
            <a:pPr>
              <a:buFont typeface="Arial" charset="0"/>
              <a:buNone/>
            </a:pP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RNA-like strand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of DNA has the same polarity and sequence as mRNA.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5</a:t>
            </a:r>
            <a:r>
              <a:rPr lang="ja-JP" altLang="en-US">
                <a:latin typeface="Helvetica" charset="0"/>
                <a:ea typeface="ＭＳ Ｐゴシック" charset="0"/>
                <a:cs typeface="Helvetica" charset="0"/>
              </a:rPr>
              <a:t>’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-to-3</a:t>
            </a:r>
            <a:r>
              <a:rPr lang="ja-JP" altLang="en-US">
                <a:latin typeface="Helvetica" charset="0"/>
                <a:ea typeface="ＭＳ Ｐゴシック" charset="0"/>
                <a:cs typeface="Helvetica" charset="0"/>
              </a:rPr>
              <a:t>’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in the mRNA corresponds to N-to-C-terminus in the polypeptide  </a:t>
            </a:r>
          </a:p>
        </p:txBody>
      </p:sp>
      <p:pic>
        <p:nvPicPr>
          <p:cNvPr id="8" name="Picture 7" descr="har25316_08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47750"/>
            <a:ext cx="6858000" cy="2700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Summary of the genetic code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457200" y="1519238"/>
            <a:ext cx="8229600" cy="4708525"/>
          </a:xfrm>
        </p:spPr>
        <p:txBody>
          <a:bodyPr/>
          <a:lstStyle/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Genetic code has triplet codons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Codons are </a:t>
            </a:r>
            <a:r>
              <a:rPr lang="en-US" err="1">
                <a:latin typeface="Helvetica" charset="0"/>
                <a:ea typeface="ＭＳ Ｐゴシック" charset="0"/>
                <a:cs typeface="Helvetica" charset="0"/>
              </a:rPr>
              <a:t>nonoverlapping</a:t>
            </a:r>
            <a:endParaRPr lang="en-US">
              <a:latin typeface="Helvetica" charset="0"/>
              <a:ea typeface="ＭＳ Ｐゴシック" charset="0"/>
              <a:cs typeface="Helvetica" charset="0"/>
            </a:endParaRP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Three nonsense codons don’t encode an amino acid: UAA, UAG, and UGA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Genetic code is degenerate, yet unambiguous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Reading frame is established from a fixed starting point – codon for translation initiation is AUG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mRNAs and polypeptides have corresponding polarities</a:t>
            </a:r>
          </a:p>
          <a:p>
            <a:pPr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Mutations can be created in three ways; </a:t>
            </a:r>
            <a:r>
              <a:rPr lang="en-US" err="1">
                <a:latin typeface="Helvetica" charset="0"/>
                <a:ea typeface="ＭＳ Ｐゴシック" charset="0"/>
                <a:cs typeface="Helvetica" charset="0"/>
              </a:rPr>
              <a:t>frameshift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, missense, and nonsense</a:t>
            </a: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BC93F2B-8CEF-5342-A91C-12527B56C5EA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8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Genetic code is almost, but not quite, universal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2438"/>
            <a:ext cx="8229600" cy="4708525"/>
          </a:xfrm>
        </p:spPr>
        <p:txBody>
          <a:bodyPr/>
          <a:lstStyle/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Virtually all cells alive now use the same basic genetic code</a:t>
            </a:r>
          </a:p>
          <a:p>
            <a:pPr marL="639763" lvl="1">
              <a:spcAft>
                <a:spcPts val="1800"/>
              </a:spcAft>
              <a:buSzTx/>
              <a:buFont typeface="Helvetica Neue" charset="0"/>
              <a:buChar char="•"/>
            </a:pPr>
            <a:r>
              <a:rPr lang="en-US" i="1">
                <a:latin typeface="Helvetica" charset="0"/>
                <a:ea typeface="ＭＳ Ｐゴシック" charset="0"/>
                <a:cs typeface="Helvetica" charset="0"/>
              </a:rPr>
              <a:t>In vitro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translational systems from one organism can use mRNA from another organism to generate protein</a:t>
            </a:r>
          </a:p>
          <a:p>
            <a:pPr marL="639763" lvl="1">
              <a:spcAft>
                <a:spcPts val="2400"/>
              </a:spcAft>
              <a:buSzTx/>
              <a:buFont typeface="Helvetica Neue" charset="0"/>
              <a:buChar char="•"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Comparisons of DNA and protein sequence reveal perfect correspondence between codons and amino acids among all organisms</a:t>
            </a:r>
          </a:p>
          <a:p>
            <a:pPr>
              <a:spcAft>
                <a:spcPts val="2400"/>
              </a:spcAft>
              <a:buSzTx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Genetic code must have evolved early in history of life</a:t>
            </a:r>
          </a:p>
          <a:p>
            <a:pPr indent="-228917">
              <a:buSzTx/>
              <a:buFont typeface="Helvetica Neue" charset="0"/>
              <a:buNone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Exceptional genetic codes found in ciliates, mitochondria, and come prokaryotes</a:t>
            </a: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5222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5222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DC8E71F-AACE-8143-831F-6540B148DF94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9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/>
              <a:t>8.5 The effects of mutations on gene expression and function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Learning objectives:</a:t>
            </a:r>
          </a:p>
          <a:p>
            <a:pPr lvl="1"/>
            <a:r>
              <a:rPr lang="en-US"/>
              <a:t>Compare silent, missense, nonsense, and </a:t>
            </a:r>
            <a:r>
              <a:rPr lang="en-US" err="1"/>
              <a:t>frameshift</a:t>
            </a:r>
            <a:r>
              <a:rPr lang="en-US"/>
              <a:t> mutations in terms of how they alter a gene product.</a:t>
            </a:r>
          </a:p>
          <a:p>
            <a:pPr lvl="1"/>
            <a:r>
              <a:rPr lang="en-US"/>
              <a:t>Discuss mutations outside the coding sequence that could affect gene expression.</a:t>
            </a:r>
          </a:p>
          <a:p>
            <a:pPr lvl="1"/>
            <a:r>
              <a:rPr lang="en-US"/>
              <a:t>Explain why most loss-of-function alleles are recessive to wild-type, but some are incompletely dominant or dominant.</a:t>
            </a:r>
          </a:p>
          <a:p>
            <a:pPr lvl="1"/>
            <a:r>
              <a:rPr lang="en-US"/>
              <a:t>Contrast the actions of </a:t>
            </a:r>
            <a:r>
              <a:rPr lang="en-US" err="1"/>
              <a:t>hypermorphic</a:t>
            </a:r>
            <a:r>
              <a:rPr lang="en-US"/>
              <a:t>, </a:t>
            </a:r>
            <a:r>
              <a:rPr lang="en-US" err="1"/>
              <a:t>neomorphic</a:t>
            </a:r>
            <a:r>
              <a:rPr lang="en-US"/>
              <a:t>, and </a:t>
            </a:r>
            <a:r>
              <a:rPr lang="en-US" err="1"/>
              <a:t>antimorphic</a:t>
            </a:r>
            <a:r>
              <a:rPr lang="en-US"/>
              <a:t> gain-of-function alleles.</a:t>
            </a:r>
          </a:p>
          <a:p>
            <a:pPr lvl="1"/>
            <a:r>
              <a:rPr lang="en-US"/>
              <a:t>Give examples of mutations that can have global effects on gene expression.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eaLnBrk="1" hangingPunct="1"/>
            <a:r>
              <a:rPr lang="en-US"/>
              <a:t>Copyright © McGraw-Hill Education. Permission required for reproduction or display</a:t>
            </a:r>
          </a:p>
          <a:p>
            <a:pPr eaLnBrk="1" hangingPunct="1"/>
            <a:r>
              <a:rPr lang="en-US"/>
              <a:t>Hartwell et al., 5th ed., Chapter 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9C2D3C-1DC8-4D46-91DE-35EB5AE94B8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82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Types of mutations in the coding sequence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of genes</a:t>
            </a:r>
          </a:p>
        </p:txBody>
      </p:sp>
      <p:sp>
        <p:nvSpPr>
          <p:cNvPr id="122883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3A2708F-B3F3-924F-AD37-DC80CE74A730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11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22884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pic>
        <p:nvPicPr>
          <p:cNvPr id="8" name="Picture 7" descr="har25316_08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43882"/>
            <a:ext cx="8229600" cy="46969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Mutations in the coding sequence of a gene can alter the gene product</a:t>
            </a:r>
          </a:p>
        </p:txBody>
      </p:sp>
      <p:sp>
        <p:nvSpPr>
          <p:cNvPr id="124931" name="Content Placeholder 2"/>
          <p:cNvSpPr>
            <a:spLocks noGrp="1"/>
          </p:cNvSpPr>
          <p:nvPr>
            <p:ph idx="1"/>
          </p:nvPr>
        </p:nvSpPr>
        <p:spPr>
          <a:xfrm>
            <a:off x="457200" y="2128838"/>
            <a:ext cx="8229600" cy="3509962"/>
          </a:xfrm>
        </p:spPr>
        <p:txBody>
          <a:bodyPr/>
          <a:lstStyle/>
          <a:p>
            <a:pPr>
              <a:spcAft>
                <a:spcPts val="1800"/>
              </a:spcAft>
              <a:buFont typeface="Arial" charset="0"/>
              <a:buNone/>
            </a:pP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</a:rPr>
              <a:t>Missense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</a:t>
            </a: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</a:rPr>
              <a:t>mutations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replace one amino acid with another</a:t>
            </a:r>
          </a:p>
          <a:p>
            <a:pPr marL="639763" lvl="1">
              <a:buSzTx/>
              <a:buFont typeface="Helvetica Neue" charset="0"/>
              <a:buChar char="•"/>
            </a:pP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</a:rPr>
              <a:t>Conservative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– chemical properties of mutant amino acid are similar to the original amino acid</a:t>
            </a:r>
          </a:p>
          <a:p>
            <a:pPr marL="868363" lvl="2">
              <a:spcBef>
                <a:spcPct val="0"/>
              </a:spcBef>
              <a:spcAft>
                <a:spcPts val="1800"/>
              </a:spcAft>
              <a:buSzTx/>
              <a:buFont typeface="Wingdings" charset="0"/>
              <a:buChar char="§"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e.g. aspartic acid [(-)charged]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 glutamic acid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[(-)charged]</a:t>
            </a:r>
            <a:endParaRPr lang="en-US">
              <a:latin typeface="Helvetica" charset="0"/>
              <a:ea typeface="ＭＳ Ｐゴシック" charset="0"/>
              <a:cs typeface="Helvetica" charset="0"/>
              <a:sym typeface="Wingdings" charset="0"/>
            </a:endParaRPr>
          </a:p>
          <a:p>
            <a:pPr marL="639763" lvl="1">
              <a:buSzTx/>
              <a:buFont typeface="Helvetica Neue" charset="0"/>
              <a:buChar char="•"/>
            </a:pP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</a:rPr>
              <a:t>Nonconservative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– chemical properties of mutant amino acid are different from original amino acid</a:t>
            </a:r>
          </a:p>
          <a:p>
            <a:pPr marL="868363" lvl="2">
              <a:spcBef>
                <a:spcPct val="0"/>
              </a:spcBef>
              <a:buSzTx/>
              <a:buFont typeface="Wingdings" charset="0"/>
              <a:buChar char="§"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e.g. aspartic acid [(-)charged]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 alanine (uncharged)</a:t>
            </a:r>
          </a:p>
        </p:txBody>
      </p:sp>
      <p:sp>
        <p:nvSpPr>
          <p:cNvPr id="124932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24933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FF67EC3-1D09-5645-A58E-1814AA7C9803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12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Mutations in the coding sequence of a gene can alter the gene product (cont)</a:t>
            </a:r>
          </a:p>
        </p:txBody>
      </p:sp>
      <p:sp>
        <p:nvSpPr>
          <p:cNvPr id="125955" name="Content Placeholder 2"/>
          <p:cNvSpPr>
            <a:spLocks noGrp="1"/>
          </p:cNvSpPr>
          <p:nvPr>
            <p:ph idx="1"/>
          </p:nvPr>
        </p:nvSpPr>
        <p:spPr>
          <a:xfrm>
            <a:off x="457200" y="1900238"/>
            <a:ext cx="8229600" cy="3929062"/>
          </a:xfrm>
        </p:spPr>
        <p:txBody>
          <a:bodyPr/>
          <a:lstStyle/>
          <a:p>
            <a:pPr>
              <a:spcAft>
                <a:spcPts val="2400"/>
              </a:spcAft>
              <a:buFont typeface="Arial" charset="0"/>
              <a:buNone/>
            </a:pP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Nonsense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change codon that encodes an amino acid to a stop codon (UGA, UAG, or UAA) 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Frameshift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result from insertion or deletion of nucleotides with the coding region </a:t>
            </a:r>
          </a:p>
          <a:p>
            <a:pPr marL="868363" lvl="2">
              <a:spcBef>
                <a:spcPct val="0"/>
              </a:spcBef>
              <a:spcAft>
                <a:spcPts val="2400"/>
              </a:spcAft>
              <a:buSzTx/>
              <a:buFont typeface="Wingdings" charset="0"/>
              <a:buChar char="§"/>
            </a:pP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No frameshift if multiples of three are inserted or deleted</a:t>
            </a:r>
          </a:p>
          <a:p>
            <a:pPr>
              <a:spcAft>
                <a:spcPts val="1200"/>
              </a:spcAft>
              <a:buFont typeface="Arial" charset="0"/>
              <a:buNone/>
            </a:pPr>
            <a:r>
              <a:rPr lang="en-US">
                <a:solidFill>
                  <a:srgbClr val="800000"/>
                </a:solidFill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Silent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do not alter the amino acid sequence</a:t>
            </a:r>
          </a:p>
          <a:p>
            <a:pPr marL="868363" lvl="2">
              <a:spcBef>
                <a:spcPct val="0"/>
              </a:spcBef>
              <a:buSzTx/>
              <a:buFont typeface="Wingdings" charset="0"/>
              <a:buChar char="§"/>
            </a:pPr>
            <a:r>
              <a:rPr lang="en-US">
                <a:latin typeface="Helvetica" charset="0"/>
                <a:ea typeface="ＭＳ Ｐゴシック" charset="0"/>
                <a:cs typeface="Helvetica" charset="0"/>
                <a:sym typeface="Wingdings" charset="0"/>
              </a:rPr>
              <a:t>Degenerate genetic code – most amino acids have &gt;1 codon</a:t>
            </a:r>
            <a:endParaRPr lang="en-US">
              <a:latin typeface="Helvetica" charset="0"/>
              <a:ea typeface="ＭＳ Ｐゴシック" charset="0"/>
              <a:cs typeface="Helvetica" charset="0"/>
            </a:endParaRP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125956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25957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0CEDCC0-EFCB-504E-B301-BD7946999941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13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Mutations outside the coding sequence 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can disrupt gene expression</a:t>
            </a:r>
          </a:p>
        </p:txBody>
      </p:sp>
      <p:sp>
        <p:nvSpPr>
          <p:cNvPr id="126979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689283D-ED97-E744-A714-1C1DC6AB3E01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14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26980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pic>
        <p:nvPicPr>
          <p:cNvPr id="8" name="Picture 7" descr="har25316_0827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3982"/>
            <a:ext cx="8229600" cy="22738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Loss-of-function mutant alleles are usually recessive to wild-type</a:t>
            </a:r>
          </a:p>
        </p:txBody>
      </p:sp>
      <p:sp>
        <p:nvSpPr>
          <p:cNvPr id="129027" name="Content Placeholder 2"/>
          <p:cNvSpPr>
            <a:spLocks noGrp="1"/>
          </p:cNvSpPr>
          <p:nvPr>
            <p:ph idx="1"/>
          </p:nvPr>
        </p:nvSpPr>
        <p:spPr>
          <a:xfrm>
            <a:off x="457200" y="1544638"/>
            <a:ext cx="8229600" cy="1998662"/>
          </a:xfrm>
        </p:spPr>
        <p:txBody>
          <a:bodyPr/>
          <a:lstStyle/>
          <a:p>
            <a:pPr>
              <a:buSzTx/>
            </a:pP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Null (</a:t>
            </a:r>
            <a:r>
              <a:rPr lang="en-US" err="1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amorphic</a:t>
            </a: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)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– completely block function of a gene product (e.g. deletion of an entire gene)</a:t>
            </a:r>
          </a:p>
          <a:p>
            <a:pPr>
              <a:buSzTx/>
            </a:pPr>
            <a:r>
              <a:rPr lang="en-US" err="1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Hypomorphic</a:t>
            </a: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– gene product has weak, but detectable, activity</a:t>
            </a:r>
          </a:p>
        </p:txBody>
      </p:sp>
      <p:sp>
        <p:nvSpPr>
          <p:cNvPr id="129028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29029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6E85E22-950D-AA47-AB2E-D14093CD8F39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15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pic>
        <p:nvPicPr>
          <p:cNvPr id="9" name="Picture 8" descr="har25316_082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215240"/>
            <a:ext cx="6035040" cy="29035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Some loss-of-function alleles can show incomplete dominance</a:t>
            </a:r>
          </a:p>
        </p:txBody>
      </p:sp>
      <p:sp>
        <p:nvSpPr>
          <p:cNvPr id="13005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C5F2104-9497-DE4E-9574-E898787541AD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16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30053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30054" name="Content Placeholder 2"/>
          <p:cNvSpPr>
            <a:spLocks noGrp="1"/>
          </p:cNvSpPr>
          <p:nvPr>
            <p:ph idx="1"/>
          </p:nvPr>
        </p:nvSpPr>
        <p:spPr>
          <a:xfrm>
            <a:off x="457200" y="1560513"/>
            <a:ext cx="8229600" cy="959167"/>
          </a:xfrm>
        </p:spPr>
        <p:txBody>
          <a:bodyPr/>
          <a:lstStyle/>
          <a:p>
            <a:pPr>
              <a:buSzTx/>
            </a:pPr>
            <a:r>
              <a:rPr lang="en-US" sz="2300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Incomplete dominance </a:t>
            </a:r>
            <a:r>
              <a:rPr lang="en-US" sz="2300">
                <a:latin typeface="Helvetica" charset="0"/>
                <a:ea typeface="ＭＳ Ｐゴシック" charset="0"/>
                <a:cs typeface="Helvetica" charset="0"/>
              </a:rPr>
              <a:t>– phenotype varies continuously with the amount of functional gene product</a:t>
            </a:r>
          </a:p>
        </p:txBody>
      </p:sp>
      <p:pic>
        <p:nvPicPr>
          <p:cNvPr id="8" name="Picture 7" descr="har25316_08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67326"/>
            <a:ext cx="5486400" cy="30571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har25316_0830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595" y="2232601"/>
            <a:ext cx="3394414" cy="4114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Some loss-of-function alleles are</a:t>
            </a:r>
            <a:b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</a:b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dominant to wild-type</a:t>
            </a:r>
          </a:p>
        </p:txBody>
      </p:sp>
      <p:sp>
        <p:nvSpPr>
          <p:cNvPr id="130051" name="Slide Number Placeholder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C5F2104-9497-DE4E-9574-E898787541AD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17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30053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30054" name="Content Placeholder 2"/>
          <p:cNvSpPr>
            <a:spLocks noGrp="1"/>
          </p:cNvSpPr>
          <p:nvPr>
            <p:ph idx="1"/>
          </p:nvPr>
        </p:nvSpPr>
        <p:spPr>
          <a:xfrm>
            <a:off x="457200" y="1583372"/>
            <a:ext cx="8148320" cy="926148"/>
          </a:xfrm>
        </p:spPr>
        <p:txBody>
          <a:bodyPr/>
          <a:lstStyle/>
          <a:p>
            <a:pPr>
              <a:buSzTx/>
            </a:pPr>
            <a:r>
              <a:rPr lang="en-US" sz="2300" err="1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Haploinsufficiency</a:t>
            </a:r>
            <a:r>
              <a:rPr lang="en-US" sz="2300">
                <a:latin typeface="Helvetica" charset="0"/>
                <a:ea typeface="ＭＳ Ｐゴシック" charset="0"/>
                <a:cs typeface="Helvetica" charset="0"/>
              </a:rPr>
              <a:t> – phenotype is sensitive to gene dosage (i.e. 50% of gene product)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579120" y="3168332"/>
            <a:ext cx="3454400" cy="926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defTabSz="457200" rtl="0" eaLnBrk="0" fontAlgn="base" hangingPunct="0">
              <a:spcBef>
                <a:spcPts val="600"/>
              </a:spcBef>
              <a:spcAft>
                <a:spcPts val="600"/>
              </a:spcAft>
              <a:buSzPct val="125000"/>
              <a:buFont typeface="Arial"/>
              <a:buNone/>
              <a:defRPr sz="22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1pPr>
            <a:lvl2pPr marL="640080" indent="-228600" algn="l" defTabSz="457200" rtl="0" eaLnBrk="0" fontAlgn="base" hangingPunct="0">
              <a:spcBef>
                <a:spcPts val="600"/>
              </a:spcBef>
              <a:spcAft>
                <a:spcPts val="1200"/>
              </a:spcAft>
              <a:buSzPct val="100000"/>
              <a:buFont typeface="Helvetica Neue"/>
              <a:buChar char="•"/>
              <a:defRPr sz="20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2pPr>
            <a:lvl3pPr marL="868680" indent="-228600" algn="l" defTabSz="457200" rtl="0" eaLnBrk="0" fontAlgn="base" hangingPunct="0">
              <a:spcBef>
                <a:spcPts val="0"/>
              </a:spcBef>
              <a:spcAft>
                <a:spcPts val="600"/>
              </a:spcAft>
              <a:buSzPct val="100000"/>
              <a:buFont typeface="Wingdings" charset="2"/>
              <a:buChar char="§"/>
              <a:defRPr sz="18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b="1" kern="1200">
                <a:solidFill>
                  <a:schemeClr val="tx1"/>
                </a:solidFill>
                <a:latin typeface="Helvetica"/>
                <a:ea typeface="ＭＳ Ｐゴシック" pitchFamily="23" charset="-128"/>
                <a:cs typeface="Helvetic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Tx/>
            </a:pPr>
            <a:r>
              <a:rPr lang="en-US" sz="2300" i="1">
                <a:latin typeface="Helvetica" charset="0"/>
                <a:ea typeface="ＭＳ Ｐゴシック" charset="0"/>
                <a:cs typeface="Helvetica" charset="0"/>
              </a:rPr>
              <a:t>GLI3/GLI3</a:t>
            </a:r>
            <a:r>
              <a:rPr lang="en-US" sz="2300" i="1" baseline="30000">
                <a:latin typeface="Helvetica" charset="0"/>
                <a:ea typeface="ＭＳ Ｐゴシック" charset="0"/>
                <a:cs typeface="Helvetica" charset="0"/>
              </a:rPr>
              <a:t>+</a:t>
            </a:r>
            <a:r>
              <a:rPr lang="en-US" sz="2300" i="1">
                <a:latin typeface="Helvetica" charset="0"/>
                <a:ea typeface="ＭＳ Ｐゴシック" charset="0"/>
                <a:cs typeface="Helvetica" charset="0"/>
              </a:rPr>
              <a:t> </a:t>
            </a:r>
            <a:r>
              <a:rPr lang="en-US" sz="2300">
                <a:latin typeface="Helvetica" charset="0"/>
                <a:ea typeface="ＭＳ Ｐゴシック" charset="0"/>
                <a:cs typeface="Helvetica" charset="0"/>
              </a:rPr>
              <a:t>humans have </a:t>
            </a:r>
            <a:r>
              <a:rPr lang="en-US" sz="2300" err="1">
                <a:latin typeface="Helvetica" charset="0"/>
                <a:ea typeface="ＭＳ Ｐゴシック" charset="0"/>
                <a:cs typeface="Helvetica" charset="0"/>
              </a:rPr>
              <a:t>polydactyly</a:t>
            </a:r>
            <a:r>
              <a:rPr lang="en-US" sz="2300">
                <a:latin typeface="Helvetica" charset="0"/>
                <a:ea typeface="ＭＳ Ｐゴシック" charset="0"/>
                <a:cs typeface="Helvetica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8408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Gain-of-function mutations are </a:t>
            </a:r>
            <a:r>
              <a:rPr lang="en-US" u="sng">
                <a:latin typeface="Helvetica" charset="0"/>
                <a:ea typeface="ＭＳ Ｐゴシック" charset="0"/>
                <a:cs typeface="Helvetica" charset="0"/>
              </a:rPr>
              <a:t>usually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dominant</a:t>
            </a:r>
          </a:p>
        </p:txBody>
      </p:sp>
      <p:sp>
        <p:nvSpPr>
          <p:cNvPr id="133123" name="Content Placeholder 4"/>
          <p:cNvSpPr>
            <a:spLocks noGrp="1"/>
          </p:cNvSpPr>
          <p:nvPr>
            <p:ph idx="1"/>
          </p:nvPr>
        </p:nvSpPr>
        <p:spPr>
          <a:xfrm>
            <a:off x="457200" y="1608138"/>
            <a:ext cx="8229600" cy="840422"/>
          </a:xfrm>
        </p:spPr>
        <p:txBody>
          <a:bodyPr/>
          <a:lstStyle/>
          <a:p>
            <a:pPr>
              <a:buSzTx/>
            </a:pPr>
            <a:r>
              <a:rPr lang="en-US" err="1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Hypermorphic</a:t>
            </a: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– generate more gene product or the same amount of a more efficient gene product</a:t>
            </a:r>
          </a:p>
        </p:txBody>
      </p:sp>
      <p:sp>
        <p:nvSpPr>
          <p:cNvPr id="133124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33125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DA49659-17C0-4C49-9758-4B2A2891777C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18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33128" name="Content Placeholder 4"/>
          <p:cNvSpPr txBox="1">
            <a:spLocks/>
          </p:cNvSpPr>
          <p:nvPr/>
        </p:nvSpPr>
        <p:spPr bwMode="auto">
          <a:xfrm>
            <a:off x="457200" y="2643187"/>
            <a:ext cx="3708400" cy="3076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lvl="2">
              <a:spcAft>
                <a:spcPts val="3000"/>
              </a:spcAft>
              <a:buSzPct val="100000"/>
            </a:pPr>
            <a:r>
              <a:rPr lang="en-US" sz="2000" b="1">
                <a:latin typeface="Helvetica" charset="0"/>
                <a:cs typeface="Helvetica" charset="0"/>
              </a:rPr>
              <a:t>The </a:t>
            </a:r>
            <a:r>
              <a:rPr lang="en-US" sz="2000" b="1" i="1">
                <a:latin typeface="Helvetica" charset="0"/>
                <a:cs typeface="Helvetica" charset="0"/>
              </a:rPr>
              <a:t>FGFR3</a:t>
            </a:r>
            <a:r>
              <a:rPr lang="en-US" sz="2000" b="1">
                <a:latin typeface="Helvetica" charset="0"/>
                <a:cs typeface="Helvetica" charset="0"/>
              </a:rPr>
              <a:t> gene encodes a </a:t>
            </a:r>
            <a:r>
              <a:rPr lang="en-US" sz="2000" b="1" err="1">
                <a:latin typeface="Helvetica" charset="0"/>
                <a:cs typeface="Helvetica" charset="0"/>
              </a:rPr>
              <a:t>transmembrane</a:t>
            </a:r>
            <a:r>
              <a:rPr lang="en-US" sz="2000" b="1">
                <a:latin typeface="Helvetica" charset="0"/>
                <a:cs typeface="Helvetica" charset="0"/>
              </a:rPr>
              <a:t> receptor that is usually active only when bound to the FGF hormone.</a:t>
            </a:r>
          </a:p>
          <a:p>
            <a:pPr marL="0" lvl="2">
              <a:spcAft>
                <a:spcPts val="3000"/>
              </a:spcAft>
              <a:buSzPct val="100000"/>
            </a:pPr>
            <a:r>
              <a:rPr lang="en-US" sz="2000" b="1" err="1">
                <a:latin typeface="Helvetica" charset="0"/>
                <a:cs typeface="Helvetica" charset="0"/>
              </a:rPr>
              <a:t>Achondroplasia</a:t>
            </a:r>
            <a:r>
              <a:rPr lang="en-US" sz="2000" b="1">
                <a:latin typeface="Helvetica" charset="0"/>
                <a:cs typeface="Helvetica" charset="0"/>
              </a:rPr>
              <a:t> is caused by a dominant </a:t>
            </a:r>
            <a:r>
              <a:rPr lang="en-US" sz="2000" b="1" err="1">
                <a:latin typeface="Helvetica" charset="0"/>
                <a:cs typeface="Helvetica" charset="0"/>
              </a:rPr>
              <a:t>hypermorphic</a:t>
            </a:r>
            <a:r>
              <a:rPr lang="en-US" sz="2000" b="1">
                <a:latin typeface="Helvetica" charset="0"/>
                <a:cs typeface="Helvetica" charset="0"/>
              </a:rPr>
              <a:t> allele of </a:t>
            </a:r>
            <a:r>
              <a:rPr lang="en-US" sz="2000" b="1" i="1">
                <a:latin typeface="Helvetica" charset="0"/>
                <a:cs typeface="Helvetica" charset="0"/>
              </a:rPr>
              <a:t>FGFR3</a:t>
            </a:r>
            <a:r>
              <a:rPr lang="en-US" sz="2000" b="1">
                <a:latin typeface="Helvetica" charset="0"/>
                <a:cs typeface="Helvetica" charset="0"/>
              </a:rPr>
              <a:t>. The altered protein is always active.</a:t>
            </a:r>
          </a:p>
        </p:txBody>
      </p:sp>
      <p:pic>
        <p:nvPicPr>
          <p:cNvPr id="9" name="Picture 8" descr="har25316_0831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600" y="2836672"/>
            <a:ext cx="4425696" cy="2883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Gain-of-function mutations are </a:t>
            </a:r>
            <a:r>
              <a:rPr lang="en-US" u="sng">
                <a:latin typeface="Helvetica" charset="0"/>
                <a:ea typeface="ＭＳ Ｐゴシック" charset="0"/>
                <a:cs typeface="Helvetica" charset="0"/>
              </a:rPr>
              <a:t>usually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dominant</a:t>
            </a:r>
          </a:p>
        </p:txBody>
      </p:sp>
      <p:sp>
        <p:nvSpPr>
          <p:cNvPr id="133123" name="Content Placeholder 4"/>
          <p:cNvSpPr>
            <a:spLocks noGrp="1"/>
          </p:cNvSpPr>
          <p:nvPr>
            <p:ph idx="1"/>
          </p:nvPr>
        </p:nvSpPr>
        <p:spPr>
          <a:xfrm>
            <a:off x="457200" y="1608138"/>
            <a:ext cx="8229600" cy="891222"/>
          </a:xfrm>
        </p:spPr>
        <p:txBody>
          <a:bodyPr/>
          <a:lstStyle/>
          <a:p>
            <a:pPr>
              <a:buSzTx/>
            </a:pPr>
            <a:r>
              <a:rPr lang="en-US" err="1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Neomorphic</a:t>
            </a:r>
            <a:r>
              <a:rPr lang="en-US">
                <a:solidFill>
                  <a:srgbClr val="CE0015"/>
                </a:solidFill>
                <a:latin typeface="Helvetica" charset="0"/>
                <a:ea typeface="ＭＳ Ｐゴシック" charset="0"/>
                <a:cs typeface="Helvetica" charset="0"/>
              </a:rPr>
              <a:t> mutations 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– generate gene product with new function or that is expressed at inappropriate time or place</a:t>
            </a:r>
          </a:p>
        </p:txBody>
      </p:sp>
      <p:sp>
        <p:nvSpPr>
          <p:cNvPr id="133124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33125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DA49659-17C0-4C49-9758-4B2A2891777C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19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33128" name="Content Placeholder 4"/>
          <p:cNvSpPr txBox="1">
            <a:spLocks/>
          </p:cNvSpPr>
          <p:nvPr/>
        </p:nvSpPr>
        <p:spPr bwMode="auto">
          <a:xfrm>
            <a:off x="457200" y="3436143"/>
            <a:ext cx="3956050" cy="148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lvl="2">
              <a:spcAft>
                <a:spcPts val="600"/>
              </a:spcAft>
              <a:buSzPct val="100000"/>
            </a:pPr>
            <a:r>
              <a:rPr lang="en-US" sz="1800" b="1">
                <a:latin typeface="Helvetica" charset="0"/>
                <a:cs typeface="Helvetica" charset="0"/>
              </a:rPr>
              <a:t>Mutation in </a:t>
            </a:r>
            <a:r>
              <a:rPr lang="en-US" sz="1800" b="1" i="1" err="1">
                <a:latin typeface="Helvetica" charset="0"/>
                <a:cs typeface="Helvetica" charset="0"/>
              </a:rPr>
              <a:t>Antennapedia</a:t>
            </a:r>
            <a:r>
              <a:rPr lang="en-US" sz="1800" b="1">
                <a:latin typeface="Helvetica" charset="0"/>
                <a:cs typeface="Helvetica" charset="0"/>
              </a:rPr>
              <a:t> gene of </a:t>
            </a:r>
            <a:r>
              <a:rPr lang="en-US" sz="1800" b="1" i="1">
                <a:latin typeface="Helvetica" charset="0"/>
                <a:cs typeface="Helvetica" charset="0"/>
              </a:rPr>
              <a:t>Drosophila</a:t>
            </a:r>
            <a:r>
              <a:rPr lang="en-US" sz="1800" b="1">
                <a:latin typeface="Helvetica" charset="0"/>
                <a:cs typeface="Helvetica" charset="0"/>
              </a:rPr>
              <a:t> causes </a:t>
            </a:r>
            <a:r>
              <a:rPr lang="en-US" sz="1800" b="1">
                <a:solidFill>
                  <a:srgbClr val="800000"/>
                </a:solidFill>
                <a:latin typeface="Helvetica" charset="0"/>
                <a:cs typeface="Helvetica" charset="0"/>
              </a:rPr>
              <a:t>ectopic expression</a:t>
            </a:r>
            <a:r>
              <a:rPr lang="en-US" sz="1800" b="1">
                <a:latin typeface="Helvetica" charset="0"/>
                <a:cs typeface="Helvetica" charset="0"/>
              </a:rPr>
              <a:t> of a leg-determining gene in structures that normally produce antennae</a:t>
            </a:r>
          </a:p>
          <a:p>
            <a:pPr>
              <a:spcBef>
                <a:spcPts val="600"/>
              </a:spcBef>
              <a:spcAft>
                <a:spcPts val="600"/>
              </a:spcAft>
              <a:buSzPct val="125000"/>
              <a:buFont typeface="Arial" charset="0"/>
              <a:buNone/>
            </a:pPr>
            <a:endParaRPr lang="en-US" sz="1800" b="1">
              <a:latin typeface="Helvetica" charset="0"/>
              <a:cs typeface="Helvetica" charset="0"/>
            </a:endParaRPr>
          </a:p>
        </p:txBody>
      </p:sp>
      <p:pic>
        <p:nvPicPr>
          <p:cNvPr id="12" name="Picture 11" descr="har25316_08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00046"/>
            <a:ext cx="3048000" cy="395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88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solidFill>
            <a:srgbClr val="9AA3AF"/>
          </a:solidFill>
        </p:spPr>
        <p:txBody>
          <a:bodyPr/>
          <a:lstStyle/>
          <a:p>
            <a:r>
              <a:rPr lang="en-US" err="1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Antimorphic</a:t>
            </a:r>
            <a:r>
              <a:rPr lang="en-US"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0"/>
                <a:cs typeface="Helvetica" charset="0"/>
              </a:rPr>
              <a:t> (dominant negative) alleles prevent the normal protein from functioning</a:t>
            </a:r>
          </a:p>
        </p:txBody>
      </p:sp>
      <p:sp>
        <p:nvSpPr>
          <p:cNvPr id="131075" name="Content Placeholder 4"/>
          <p:cNvSpPr>
            <a:spLocks noGrp="1"/>
          </p:cNvSpPr>
          <p:nvPr>
            <p:ph idx="1"/>
          </p:nvPr>
        </p:nvSpPr>
        <p:spPr>
          <a:xfrm>
            <a:off x="457200" y="1589088"/>
            <a:ext cx="7752080" cy="514032"/>
          </a:xfrm>
        </p:spPr>
        <p:txBody>
          <a:bodyPr/>
          <a:lstStyle/>
          <a:p>
            <a:pPr>
              <a:spcBef>
                <a:spcPct val="0"/>
              </a:spcBef>
              <a:buSzTx/>
            </a:pP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Usually occurs in genes that encode </a:t>
            </a:r>
            <a:r>
              <a:rPr lang="en-US" err="1">
                <a:latin typeface="Helvetica" charset="0"/>
                <a:ea typeface="ＭＳ Ｐゴシック" charset="0"/>
                <a:cs typeface="Helvetica" charset="0"/>
              </a:rPr>
              <a:t>multimeric</a:t>
            </a:r>
            <a:r>
              <a:rPr lang="en-US">
                <a:latin typeface="Helvetica" charset="0"/>
                <a:ea typeface="ＭＳ Ｐゴシック" charset="0"/>
                <a:cs typeface="Helvetica" charset="0"/>
              </a:rPr>
              <a:t> proteins</a:t>
            </a:r>
          </a:p>
          <a:p>
            <a:pPr>
              <a:buFont typeface="Arial" charset="0"/>
              <a:buNone/>
            </a:pPr>
            <a:endParaRPr lang="en-US">
              <a:latin typeface="Helvetica" charset="0"/>
              <a:ea typeface="ＭＳ Ｐゴシック" charset="0"/>
              <a:cs typeface="Helvetica" charset="0"/>
            </a:endParaRPr>
          </a:p>
        </p:txBody>
      </p:sp>
      <p:sp>
        <p:nvSpPr>
          <p:cNvPr id="131076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Copyright © McGraw-Hill Education. Permission required for reproduction or display</a:t>
            </a:r>
          </a:p>
          <a:p>
            <a:pPr eaLnBrk="1" hangingPunct="1"/>
            <a:r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t>Hartwell et al., 5th ed., Chapter 8</a:t>
            </a:r>
          </a:p>
        </p:txBody>
      </p:sp>
      <p:sp>
        <p:nvSpPr>
          <p:cNvPr id="131077" name="Slide Number Placeholder 1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111AD84-1F0A-8A4A-A3E5-7AFF49506344}" type="slidenum">
              <a:rPr lang="en-US" sz="1000">
                <a:solidFill>
                  <a:srgbClr val="898989"/>
                </a:solidFill>
                <a:latin typeface="Helvetica" charset="0"/>
                <a:cs typeface="Helvetica" charset="0"/>
              </a:rPr>
              <a:pPr eaLnBrk="1" hangingPunct="1"/>
              <a:t>20</a:t>
            </a:fld>
            <a:endParaRPr lang="en-US" sz="1000">
              <a:solidFill>
                <a:srgbClr val="898989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31080" name="Rectangle 15"/>
          <p:cNvSpPr>
            <a:spLocks noChangeArrowheads="1"/>
          </p:cNvSpPr>
          <p:nvPr/>
        </p:nvSpPr>
        <p:spPr bwMode="auto">
          <a:xfrm>
            <a:off x="5283200" y="5287391"/>
            <a:ext cx="34591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000" b="1">
                <a:latin typeface="Helvetica" charset="0"/>
                <a:cs typeface="Helvetica" charset="0"/>
              </a:rPr>
              <a:t>Mutant subunits block the activity of normal subunits</a:t>
            </a:r>
          </a:p>
        </p:txBody>
      </p:sp>
      <p:pic>
        <p:nvPicPr>
          <p:cNvPr id="14" name="Picture 13" descr="har25316_0833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4183032" cy="3892296"/>
          </a:xfrm>
          <a:prstGeom prst="rect">
            <a:avLst/>
          </a:prstGeom>
        </p:spPr>
      </p:pic>
      <p:pic>
        <p:nvPicPr>
          <p:cNvPr id="15" name="Picture 14" descr="har25316_0833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175" y="2103120"/>
            <a:ext cx="3769188" cy="2926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1463</Words>
  <Application>Microsoft Office PowerPoint</Application>
  <PresentationFormat>On-screen Show (4:3)</PresentationFormat>
  <Paragraphs>168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ＭＳ Ｐゴシック</vt:lpstr>
      <vt:lpstr>Arial</vt:lpstr>
      <vt:lpstr>Calibri</vt:lpstr>
      <vt:lpstr>Helvetica</vt:lpstr>
      <vt:lpstr>Helvetica Neue</vt:lpstr>
      <vt:lpstr>Wingdings</vt:lpstr>
      <vt:lpstr>Office Theme</vt:lpstr>
      <vt:lpstr>PowerPoint Presentation</vt:lpstr>
      <vt:lpstr>PowerPoint Presentation</vt:lpstr>
      <vt:lpstr>Four general themes for gene expression</vt:lpstr>
      <vt:lpstr>Gene expression:  the flow of genetic information from DNA via RNA to protein</vt:lpstr>
      <vt:lpstr>8.1 The genetic code</vt:lpstr>
      <vt:lpstr>Triplet codons of nucleotides represent individual amino acids</vt:lpstr>
      <vt:lpstr>Correlation of polarities in DNA, mRNA,  and polypeptide</vt:lpstr>
      <vt:lpstr>Summary of the genetic code</vt:lpstr>
      <vt:lpstr>Genetic code is almost, but not quite, universal </vt:lpstr>
      <vt:lpstr>8.5 The effects of mutations on gene expression and function</vt:lpstr>
      <vt:lpstr>Types of mutations in the coding sequence  of genes</vt:lpstr>
      <vt:lpstr>Mutations in the coding sequence of a gene can alter the gene product</vt:lpstr>
      <vt:lpstr>Mutations in the coding sequence of a gene can alter the gene product (cont)</vt:lpstr>
      <vt:lpstr>Mutations outside the coding sequence  can disrupt gene expression</vt:lpstr>
      <vt:lpstr>Loss-of-function mutant alleles are usually recessive to wild-type</vt:lpstr>
      <vt:lpstr>Some loss-of-function alleles can show incomplete dominance</vt:lpstr>
      <vt:lpstr>Some loss-of-function alleles are dominant to wild-type</vt:lpstr>
      <vt:lpstr>Gain-of-function mutations are usually dominant</vt:lpstr>
      <vt:lpstr>Gain-of-function mutations are usually dominant</vt:lpstr>
      <vt:lpstr>Antimorphic (dominant negative) alleles prevent the normal protein from functioning</vt:lpstr>
    </vt:vector>
  </TitlesOfParts>
  <Company>University of Georgia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Mary Bedell</dc:creator>
  <cp:lastModifiedBy>JUST</cp:lastModifiedBy>
  <cp:revision>2</cp:revision>
  <dcterms:created xsi:type="dcterms:W3CDTF">2010-10-24T16:30:58Z</dcterms:created>
  <dcterms:modified xsi:type="dcterms:W3CDTF">2023-09-03T11:14:01Z</dcterms:modified>
</cp:coreProperties>
</file>