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3" r:id="rId3"/>
    <p:sldId id="262" r:id="rId4"/>
    <p:sldId id="257" r:id="rId5"/>
    <p:sldId id="259" r:id="rId6"/>
    <p:sldId id="260" r:id="rId7"/>
    <p:sldId id="274" r:id="rId8"/>
    <p:sldId id="261" r:id="rId9"/>
    <p:sldId id="263" r:id="rId10"/>
    <p:sldId id="258"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HADEER ALSOUKHNI" initials="G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0" d="100"/>
          <a:sy n="50" d="100"/>
        </p:scale>
        <p:origin x="3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fld>
            <a:endParaRPr lang="en-US"/>
          </a:p>
        </p:txBody>
      </p:sp>
      <p:sp>
        <p:nvSpPr>
          <p:cNvPr id="8" name="Rectangle 7" descr="Tag=AccentColor&#10;Flavor=Light&#10;Target=FillAndLine"/>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2345051-2045-45DA-935E-2E3CA1A69AD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fld>
            <a:endParaRPr lang="en-US"/>
          </a:p>
        </p:txBody>
      </p:sp>
      <p:sp>
        <p:nvSpPr>
          <p:cNvPr id="7" name="Rectangle 6" descr="Tag=AccentColor&#10;Flavor=Light&#10;Target=FillAndLine"/>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929384"/>
            <a:ext cx="5181600" cy="425196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929384"/>
            <a:ext cx="5181600" cy="42519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2345051-2045-45DA-935E-2E3CA1A69AD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D31F4-64FA-4BA0-9498-67783267A8C8}" type="slidenum">
              <a:rPr lang="en-US" smtClean="0"/>
            </a:fld>
            <a:endParaRPr lang="en-US"/>
          </a:p>
        </p:txBody>
      </p:sp>
      <p:sp>
        <p:nvSpPr>
          <p:cNvPr id="9" name="Rectangle 8" descr="Tag=AccentColor&#10;Flavor=Light&#10;Target=FillAndLine"/>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926080"/>
            <a:ext cx="5157787" cy="326440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926080"/>
            <a:ext cx="5183188" cy="326440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2345051-2045-45DA-935E-2E3CA1A69AD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CD31F4-64FA-4BA0-9498-67783267A8C8}" type="slidenum">
              <a:rPr lang="en-US" smtClean="0"/>
            </a:fld>
            <a:endParaRPr lang="en-US"/>
          </a:p>
        </p:txBody>
      </p:sp>
      <p:sp>
        <p:nvSpPr>
          <p:cNvPr id="11" name="Rectangle 10" descr="Tag=AccentColor&#10;Flavor=Light&#10;Target=FillAndLine"/>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345051-2045-45DA-935E-2E3CA1A69AD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CD31F4-64FA-4BA0-9498-67783267A8C8}" type="slidenum">
              <a:rPr lang="en-US" smtClean="0"/>
            </a:fld>
            <a:endParaRPr lang="en-US"/>
          </a:p>
        </p:txBody>
      </p:sp>
      <p:sp>
        <p:nvSpPr>
          <p:cNvPr id="6" name="Rectangle 6" descr="Tag=AccentColor&#10;Flavor=Light&#10;Target=FillAndLine"/>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345051-2045-45DA-935E-2E3CA1A69AD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CD31F4-64FA-4BA0-9498-67783267A8C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fld id="{72345051-2045-45DA-935E-2E3CA1A69AD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D31F4-64FA-4BA0-9498-67783267A8C8}" type="slidenum">
              <a:rPr lang="en-US" smtClean="0"/>
            </a:fld>
            <a:endParaRPr lang="en-US"/>
          </a:p>
        </p:txBody>
      </p:sp>
      <p:sp>
        <p:nvSpPr>
          <p:cNvPr id="8" name="Rectangle 6" descr="Tag=AccentColor&#10;Flavor=Light&#10;Target=FillAndLine"/>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fld id="{72345051-2045-45DA-935E-2E3CA1A69AD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D31F4-64FA-4BA0-9498-67783267A8C8}" type="slidenum">
              <a:rPr lang="en-US" smtClean="0"/>
            </a:fld>
            <a:endParaRPr lang="en-US"/>
          </a:p>
        </p:txBody>
      </p:sp>
      <p:sp>
        <p:nvSpPr>
          <p:cNvPr id="8" name="Rectangle 6" descr="Tag=AccentColor&#10;Flavor=Light&#10;Target=FillAndLine"/>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1"/>
          <p:cNvSpPr>
            <a:spLocks noGrp="1"/>
          </p:cNvSpPr>
          <p:nvPr/>
        </p:nvSpPr>
        <p:spPr>
          <a:xfrm>
            <a:off x="1312545" y="1967230"/>
            <a:ext cx="9144000" cy="2384425"/>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9600" kern="1200">
                <a:solidFill>
                  <a:schemeClr val="tx1"/>
                </a:solidFill>
                <a:latin typeface="+mj-lt"/>
                <a:ea typeface="+mj-ea"/>
                <a:cs typeface="+mj-cs"/>
              </a:defRPr>
            </a:lvl1pPr>
          </a:lstStyle>
          <a:p>
            <a:pPr algn="ctr">
              <a:lnSpc>
                <a:spcPct val="90000"/>
              </a:lnSpc>
            </a:pPr>
            <a:r>
              <a:rPr lang="en-US" sz="6285"/>
              <a:t>Introduction to genetics LAB</a:t>
            </a:r>
            <a:endParaRPr lang="en-US" sz="6285"/>
          </a:p>
        </p:txBody>
      </p:sp>
      <p:sp>
        <p:nvSpPr>
          <p:cNvPr id="5" name="Subtitle 2"/>
          <p:cNvSpPr>
            <a:spLocks noGrp="1"/>
          </p:cNvSpPr>
          <p:nvPr/>
        </p:nvSpPr>
        <p:spPr>
          <a:xfrm>
            <a:off x="1527048" y="4599432"/>
            <a:ext cx="9144000" cy="1536192"/>
          </a:xfrm>
          <a:prstGeom prst="rect">
            <a:avLst/>
          </a:prstGeom>
        </p:spPr>
        <p:txBody>
          <a:bodyPr vert="horz" lIns="91440" tIns="45720" rIns="91440" bIns="45720" rtlCol="0">
            <a:normAutofit fontScale="75000" lnSpcReduction="20000"/>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u="sng" dirty="0"/>
              <a:t>Semester</a:t>
            </a:r>
            <a:r>
              <a:rPr lang="en-US" sz="3200" dirty="0"/>
              <a:t>: Fall 2022/2023</a:t>
            </a:r>
            <a:endParaRPr lang="en-US" sz="3200" dirty="0"/>
          </a:p>
          <a:p>
            <a:r>
              <a:rPr lang="en-US" sz="3200" b="1" u="sng" dirty="0"/>
              <a:t>Course</a:t>
            </a:r>
            <a:r>
              <a:rPr lang="en-US" sz="3200" dirty="0"/>
              <a:t>: Molecular Genetics Laboratory (B344)</a:t>
            </a:r>
            <a:endParaRPr lang="en-US" sz="3200" dirty="0"/>
          </a:p>
          <a:p>
            <a:r>
              <a:rPr lang="en-US" sz="3200" b="1" u="sng" dirty="0"/>
              <a:t>Instructor</a:t>
            </a:r>
            <a:r>
              <a:rPr lang="en-US" sz="3200" dirty="0"/>
              <a:t>: Adan Alnaamneh</a:t>
            </a:r>
            <a:endParaRPr lang="en-US" sz="3200" dirty="0"/>
          </a:p>
        </p:txBody>
      </p:sp>
      <p:pic>
        <p:nvPicPr>
          <p:cNvPr id="6" name="Picture 5" descr="A picture containing text, outdoo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71175" y="136458"/>
            <a:ext cx="1336456" cy="1336456"/>
          </a:xfrm>
          <a:prstGeom prst="rect">
            <a:avLst/>
          </a:prstGeom>
        </p:spPr>
      </p:pic>
      <p:sp>
        <p:nvSpPr>
          <p:cNvPr id="100" name="Text Box 99"/>
          <p:cNvSpPr txBox="1"/>
          <p:nvPr/>
        </p:nvSpPr>
        <p:spPr>
          <a:xfrm>
            <a:off x="2525395" y="205105"/>
            <a:ext cx="5623560" cy="922020"/>
          </a:xfrm>
          <a:prstGeom prst="rect">
            <a:avLst/>
          </a:prstGeom>
          <a:noFill/>
          <a:ln w="9525">
            <a:noFill/>
          </a:ln>
        </p:spPr>
        <p:txBody>
          <a:bodyPr wrap="square">
            <a:spAutoFit/>
          </a:bodyPr>
          <a:p>
            <a:pPr indent="0" algn="ctr"/>
            <a:r>
              <a:rPr lang="en-US" b="1">
                <a:latin typeface="Times New Roman" panose="02020603050405020304" charset="0"/>
              </a:rPr>
              <a:t>Jordan University of Science and TechnologyFaculty of Science &amp; Art Department of Biotechnology &amp; Genetic Engineering</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endParaRPr lang="en-US" dirty="0"/>
          </a:p>
        </p:txBody>
      </p:sp>
      <p:sp>
        <p:nvSpPr>
          <p:cNvPr id="3" name="Content Placeholder 2"/>
          <p:cNvSpPr>
            <a:spLocks noGrp="1"/>
          </p:cNvSpPr>
          <p:nvPr>
            <p:ph idx="1"/>
          </p:nvPr>
        </p:nvSpPr>
        <p:spPr/>
        <p:txBody>
          <a:bodyPr/>
          <a:lstStyle/>
          <a:p>
            <a:r>
              <a:rPr lang="en-US" dirty="0">
                <a:latin typeface="Calibri" panose="020F0502020204030204" pitchFamily="34" charset="0"/>
                <a:cs typeface="Calibri" panose="020F0502020204030204" pitchFamily="34" charset="0"/>
              </a:rPr>
              <a:t>Important definitions in genetics</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Mendelian laws of inheritance </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Instruments in our LAB</a:t>
            </a:r>
            <a:endParaRPr lang="en-US"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endParaRPr lang="en-US" dirty="0"/>
          </a:p>
        </p:txBody>
      </p:sp>
      <p:sp>
        <p:nvSpPr>
          <p:cNvPr id="3" name="Content Placeholder 2"/>
          <p:cNvSpPr>
            <a:spLocks noGrp="1"/>
          </p:cNvSpPr>
          <p:nvPr>
            <p:ph idx="1"/>
          </p:nvPr>
        </p:nvSpPr>
        <p:spPr>
          <a:xfrm>
            <a:off x="838200" y="1929130"/>
            <a:ext cx="11187430" cy="4251960"/>
          </a:xfrm>
        </p:spPr>
        <p:txBody>
          <a:bodyPr>
            <a:normAutofit/>
          </a:bodyPr>
          <a:lstStyle/>
          <a:p>
            <a:r>
              <a:rPr lang="en-US" b="1" dirty="0">
                <a:latin typeface="Calibri" panose="020F0502020204030204" pitchFamily="34" charset="0"/>
                <a:cs typeface="Calibri" panose="020F0502020204030204" pitchFamily="34" charset="0"/>
              </a:rPr>
              <a:t>Genetics</a:t>
            </a:r>
            <a:r>
              <a:rPr lang="en-US" dirty="0">
                <a:latin typeface="Calibri" panose="020F0502020204030204" pitchFamily="34" charset="0"/>
                <a:cs typeface="Calibri" panose="020F0502020204030204" pitchFamily="34" charset="0"/>
              </a:rPr>
              <a:t>: The science that studies the mode of genetic material transmission from one generation to another.</a:t>
            </a: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Gene</a:t>
            </a:r>
            <a:r>
              <a:rPr lang="en-US" dirty="0">
                <a:latin typeface="Calibri" panose="020F0502020204030204" pitchFamily="34" charset="0"/>
                <a:cs typeface="Calibri" panose="020F0502020204030204" pitchFamily="34" charset="0"/>
              </a:rPr>
              <a:t>: A unit of hereditary information consisting of a particular sequence of nucleotides of DNA that determines a certain phenotypic trait either directly or indirectly.</a:t>
            </a: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Genotype</a:t>
            </a:r>
            <a:r>
              <a:rPr lang="en-US" dirty="0">
                <a:latin typeface="Calibri" panose="020F0502020204030204" pitchFamily="34" charset="0"/>
                <a:cs typeface="Calibri" panose="020F0502020204030204" pitchFamily="34" charset="0"/>
              </a:rPr>
              <a:t>: Genetic makeup of an organism.</a:t>
            </a: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Phenotype</a:t>
            </a:r>
            <a:r>
              <a:rPr lang="en-US" dirty="0">
                <a:latin typeface="Calibri" panose="020F0502020204030204" pitchFamily="34" charset="0"/>
                <a:cs typeface="Calibri" panose="020F0502020204030204" pitchFamily="34" charset="0"/>
              </a:rPr>
              <a:t>: The traits of an organism that are expressed.</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pic>
        <p:nvPicPr>
          <p:cNvPr id="7" name="Graphic 6" descr="Open book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72159" y="570706"/>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endParaRPr lang="en-US" dirty="0"/>
          </a:p>
        </p:txBody>
      </p:sp>
      <p:sp>
        <p:nvSpPr>
          <p:cNvPr id="3" name="Content Placeholder 2"/>
          <p:cNvSpPr>
            <a:spLocks noGrp="1"/>
          </p:cNvSpPr>
          <p:nvPr>
            <p:ph idx="1"/>
          </p:nvPr>
        </p:nvSpPr>
        <p:spPr>
          <a:xfrm>
            <a:off x="838200" y="1929384"/>
            <a:ext cx="10515600" cy="4418150"/>
          </a:xfrm>
        </p:spPr>
        <p:txBody>
          <a:bodyPr>
            <a:normAutofit fontScale="85000"/>
          </a:bodyPr>
          <a:lstStyle/>
          <a:p>
            <a:r>
              <a:rPr lang="en-US" b="1" dirty="0">
                <a:latin typeface="Calibri" panose="020F0502020204030204" pitchFamily="34" charset="0"/>
                <a:cs typeface="Calibri" panose="020F0502020204030204" pitchFamily="34" charset="0"/>
              </a:rPr>
              <a:t>Homologous chromosomes</a:t>
            </a:r>
            <a:r>
              <a:rPr lang="en-US" dirty="0">
                <a:latin typeface="Calibri" panose="020F0502020204030204" pitchFamily="34" charset="0"/>
                <a:cs typeface="Calibri" panose="020F0502020204030204" pitchFamily="34" charset="0"/>
              </a:rPr>
              <a:t>: Chromosomes that occur in pairs and are similar in their morphology (length, centromere position, banding pattern). Each member of the pair originates from one of the parents. They contain the same gene loci and segregate during meiosis.</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sym typeface="+mn-ea"/>
              </a:rPr>
              <a:t>Autosome</a:t>
            </a:r>
            <a:r>
              <a:rPr lang="en-US" dirty="0">
                <a:latin typeface="Calibri" panose="020F0502020204030204" pitchFamily="34" charset="0"/>
                <a:cs typeface="Calibri" panose="020F0502020204030204" pitchFamily="34" charset="0"/>
                <a:sym typeface="+mn-ea"/>
              </a:rPr>
              <a:t>: any chromosome other than sex chromosomes that is not involved in sex determination. It occurs in pairs in somatic cells and singly in gametes.</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Somatic cell</a:t>
            </a:r>
            <a:r>
              <a:rPr lang="en-US" dirty="0">
                <a:latin typeface="Calibri" panose="020F0502020204030204" pitchFamily="34" charset="0"/>
                <a:cs typeface="Calibri" panose="020F0502020204030204" pitchFamily="34" charset="0"/>
              </a:rPr>
              <a:t>: any biological cell forming the body of an organism.</a:t>
            </a:r>
            <a:endParaRPr lang="en-US"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4360375" y="570666"/>
            <a:ext cx="914479" cy="9144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Definitions</a:t>
            </a:r>
            <a:endParaRPr lang="en-US" sz="4000" dirty="0"/>
          </a:p>
        </p:txBody>
      </p:sp>
      <p:sp>
        <p:nvSpPr>
          <p:cNvPr id="3" name="Content Placeholder 2"/>
          <p:cNvSpPr>
            <a:spLocks noGrp="1"/>
          </p:cNvSpPr>
          <p:nvPr>
            <p:ph idx="1"/>
          </p:nvPr>
        </p:nvSpPr>
        <p:spPr/>
        <p:txBody>
          <a:bodyPr>
            <a:normAutofit lnSpcReduction="10000"/>
          </a:bodyPr>
          <a:lstStyle/>
          <a:p>
            <a:r>
              <a:rPr lang="en-US" b="1" dirty="0">
                <a:latin typeface="Calibri" panose="020F0502020204030204" pitchFamily="34" charset="0"/>
                <a:cs typeface="Calibri" panose="020F0502020204030204" pitchFamily="34" charset="0"/>
              </a:rPr>
              <a:t>Homozygous</a:t>
            </a:r>
            <a:r>
              <a:rPr lang="en-US" dirty="0">
                <a:latin typeface="Calibri" panose="020F0502020204030204" pitchFamily="34" charset="0"/>
                <a:cs typeface="Calibri" panose="020F0502020204030204" pitchFamily="34" charset="0"/>
              </a:rPr>
              <a:t>: the state of an organism possessing two identical alleles on one or more loci.</a:t>
            </a: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Heterozygous</a:t>
            </a:r>
            <a:r>
              <a:rPr lang="en-US" dirty="0">
                <a:latin typeface="Calibri" panose="020F0502020204030204" pitchFamily="34" charset="0"/>
                <a:cs typeface="Calibri" panose="020F0502020204030204" pitchFamily="34" charset="0"/>
              </a:rPr>
              <a:t>: the state of an organism possessing different alleles at one or more loci.</a:t>
            </a:r>
            <a:endParaRPr lang="en-US" dirty="0">
              <a:latin typeface="Calibri" panose="020F0502020204030204" pitchFamily="34" charset="0"/>
              <a:cs typeface="Calibri" panose="020F0502020204030204" pitchFamily="34" charset="0"/>
            </a:endParaRPr>
          </a:p>
          <a:p>
            <a:pPr marL="0" indent="0">
              <a:buNone/>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Hemizygous</a:t>
            </a:r>
            <a:r>
              <a:rPr lang="en-US" dirty="0">
                <a:latin typeface="Calibri" panose="020F0502020204030204" pitchFamily="34" charset="0"/>
                <a:cs typeface="Calibri" panose="020F0502020204030204" pitchFamily="34" charset="0"/>
              </a:rPr>
              <a:t>: the state of an organism possessing only one allele (usually on sex chromosomes).</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4395886" y="570666"/>
            <a:ext cx="914479" cy="9144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9550" y="1929130"/>
            <a:ext cx="11831320" cy="4810125"/>
          </a:xfrm>
        </p:spPr>
        <p:txBody>
          <a:bodyPr>
            <a:normAutofit fontScale="90000"/>
          </a:bodyPr>
          <a:p>
            <a:r>
              <a:rPr lang="en-US" b="1" dirty="0">
                <a:latin typeface="Calibri" panose="020F0502020204030204" pitchFamily="34" charset="0"/>
                <a:cs typeface="Calibri" panose="020F0502020204030204" pitchFamily="34" charset="0"/>
                <a:sym typeface="+mn-ea"/>
              </a:rPr>
              <a:t>Haploid (1n): </a:t>
            </a:r>
            <a:r>
              <a:rPr lang="en-US" dirty="0">
                <a:latin typeface="Calibri" panose="020F0502020204030204" pitchFamily="34" charset="0"/>
                <a:cs typeface="Calibri" panose="020F0502020204030204" pitchFamily="34" charset="0"/>
                <a:sym typeface="+mn-ea"/>
              </a:rPr>
              <a:t>a cell having one set of chromosomes only (e.g: human gametes).</a:t>
            </a:r>
            <a:endParaRPr lang="en-US" dirty="0">
              <a:latin typeface="Calibri" panose="020F0502020204030204" pitchFamily="34" charset="0"/>
              <a:cs typeface="Calibri" panose="020F0502020204030204" pitchFamily="34" charset="0"/>
              <a:sym typeface="+mn-ea"/>
            </a:endParaRPr>
          </a:p>
          <a:p>
            <a:pPr marL="0" indent="0">
              <a:buNone/>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sym typeface="+mn-ea"/>
              </a:rPr>
              <a:t>Diploid (2n): </a:t>
            </a:r>
            <a:r>
              <a:rPr lang="en-US" dirty="0">
                <a:latin typeface="Calibri" panose="020F0502020204030204" pitchFamily="34" charset="0"/>
                <a:cs typeface="Calibri" panose="020F0502020204030204" pitchFamily="34" charset="0"/>
                <a:sym typeface="+mn-ea"/>
              </a:rPr>
              <a:t>a cell having two sets of chromosomes (e.g.: human somatic cells).</a:t>
            </a:r>
            <a:endParaRPr lang="en-US" dirty="0">
              <a:latin typeface="Calibri" panose="020F0502020204030204" pitchFamily="34" charset="0"/>
              <a:cs typeface="Calibri" panose="020F0502020204030204" pitchFamily="34" charset="0"/>
              <a:sym typeface="+mn-ea"/>
            </a:endParaRPr>
          </a:p>
          <a:p>
            <a:pPr marL="0" indent="0">
              <a:buNone/>
            </a:pPr>
            <a:endParaRPr lang="en-US" dirty="0">
              <a:latin typeface="Calibri" panose="020F0502020204030204" pitchFamily="34" charset="0"/>
              <a:cs typeface="Calibri" panose="020F0502020204030204" pitchFamily="34" charset="0"/>
              <a:sym typeface="+mn-ea"/>
            </a:endParaRPr>
          </a:p>
          <a:p>
            <a:r>
              <a:rPr lang="en-US" b="1" dirty="0">
                <a:latin typeface="Calibri" panose="020F0502020204030204" pitchFamily="34" charset="0"/>
                <a:cs typeface="Calibri" panose="020F0502020204030204" pitchFamily="34" charset="0"/>
                <a:sym typeface="+mn-ea"/>
              </a:rPr>
              <a:t>Codominance</a:t>
            </a:r>
            <a:r>
              <a:rPr lang="en-US" dirty="0">
                <a:latin typeface="Calibri" panose="020F0502020204030204" pitchFamily="34" charset="0"/>
                <a:cs typeface="Calibri" panose="020F0502020204030204" pitchFamily="34" charset="0"/>
                <a:sym typeface="+mn-ea"/>
              </a:rPr>
              <a:t>: when both alleles of a pair are fully expressed in the heterozygous state.</a:t>
            </a:r>
            <a:endParaRPr lang="en-US" dirty="0">
              <a:latin typeface="Calibri" panose="020F0502020204030204" pitchFamily="34" charset="0"/>
              <a:cs typeface="Calibri" panose="020F0502020204030204" pitchFamily="34" charset="0"/>
              <a:sym typeface="+mn-ea"/>
            </a:endParaRPr>
          </a:p>
          <a:p>
            <a:pPr marL="0" indent="0">
              <a:buNone/>
            </a:pPr>
            <a:endParaRPr lang="en-US" dirty="0">
              <a:latin typeface="Calibri" panose="020F0502020204030204" pitchFamily="34" charset="0"/>
              <a:cs typeface="Calibri" panose="020F0502020204030204" pitchFamily="34" charset="0"/>
            </a:endParaRPr>
          </a:p>
          <a:p>
            <a:r>
              <a:rPr lang="en-US" b="1" dirty="0" err="1">
                <a:latin typeface="Calibri" panose="020F0502020204030204" pitchFamily="34" charset="0"/>
                <a:cs typeface="Calibri" panose="020F0502020204030204" pitchFamily="34" charset="0"/>
                <a:sym typeface="+mn-ea"/>
              </a:rPr>
              <a:t>Semidominance</a:t>
            </a:r>
            <a:r>
              <a:rPr lang="en-US" dirty="0">
                <a:latin typeface="Calibri" panose="020F0502020204030204" pitchFamily="34" charset="0"/>
                <a:cs typeface="Calibri" panose="020F0502020204030204" pitchFamily="34" charset="0"/>
                <a:sym typeface="+mn-ea"/>
              </a:rPr>
              <a:t> </a:t>
            </a:r>
            <a:r>
              <a:rPr lang="en-US" b="1" dirty="0">
                <a:latin typeface="Calibri" panose="020F0502020204030204" pitchFamily="34" charset="0"/>
                <a:cs typeface="Calibri" panose="020F0502020204030204" pitchFamily="34" charset="0"/>
                <a:sym typeface="+mn-ea"/>
              </a:rPr>
              <a:t>(incomplete dominance):</a:t>
            </a:r>
            <a:r>
              <a:rPr lang="en-US" dirty="0">
                <a:latin typeface="Calibri" panose="020F0502020204030204" pitchFamily="34" charset="0"/>
                <a:cs typeface="Calibri" panose="020F0502020204030204" pitchFamily="34" charset="0"/>
                <a:sym typeface="+mn-ea"/>
              </a:rPr>
              <a:t> intermediate between the dominant and recessive alleles (phenotypic ratio is 1:2:1 instead of 3:1).</a:t>
            </a:r>
            <a:endParaRPr lang="en-US"/>
          </a:p>
          <a:p>
            <a:endParaRPr lang="en-US" dirty="0">
              <a:latin typeface="Calibri" panose="020F0502020204030204" pitchFamily="34" charset="0"/>
              <a:cs typeface="Calibri" panose="020F0502020204030204" pitchFamily="34" charset="0"/>
            </a:endParaRPr>
          </a:p>
          <a:p>
            <a:endParaRPr lang="en-US"/>
          </a:p>
        </p:txBody>
      </p:sp>
      <p:sp>
        <p:nvSpPr>
          <p:cNvPr id="6" name="Text Box 5"/>
          <p:cNvSpPr txBox="1"/>
          <p:nvPr/>
        </p:nvSpPr>
        <p:spPr>
          <a:xfrm>
            <a:off x="1699895" y="654685"/>
            <a:ext cx="4839970" cy="706755"/>
          </a:xfrm>
          <a:prstGeom prst="rect">
            <a:avLst/>
          </a:prstGeom>
          <a:noFill/>
        </p:spPr>
        <p:txBody>
          <a:bodyPr wrap="square" rtlCol="0" anchor="t">
            <a:spAutoFit/>
          </a:bodyPr>
          <a:p>
            <a:r>
              <a:rPr lang="en-US" sz="4000" dirty="0">
                <a:sym typeface="+mn-ea"/>
              </a:rPr>
              <a:t>Definitions </a:t>
            </a:r>
            <a:endParaRPr lang="en-US" sz="4000"/>
          </a:p>
        </p:txBody>
      </p:sp>
      <p:pic>
        <p:nvPicPr>
          <p:cNvPr id="7" name="Picture 6"/>
          <p:cNvPicPr>
            <a:picLocks noChangeAspect="1"/>
          </p:cNvPicPr>
          <p:nvPr/>
        </p:nvPicPr>
        <p:blipFill>
          <a:blip r:embed="rId1"/>
          <a:stretch>
            <a:fillRect/>
          </a:stretch>
        </p:blipFill>
        <p:spPr>
          <a:xfrm>
            <a:off x="4933146" y="550981"/>
            <a:ext cx="914479" cy="9144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Definitions</a:t>
            </a:r>
            <a:endParaRPr lang="en-US" sz="4000" dirty="0"/>
          </a:p>
        </p:txBody>
      </p:sp>
      <p:sp>
        <p:nvSpPr>
          <p:cNvPr id="3" name="Content Placeholder 2"/>
          <p:cNvSpPr>
            <a:spLocks noGrp="1"/>
          </p:cNvSpPr>
          <p:nvPr>
            <p:ph idx="1"/>
          </p:nvPr>
        </p:nvSpPr>
        <p:spPr>
          <a:xfrm>
            <a:off x="266065" y="1929130"/>
            <a:ext cx="12146915" cy="4724400"/>
          </a:xfrm>
        </p:spPr>
        <p:txBody>
          <a:bodyPr>
            <a:noAutofit/>
          </a:bodyPr>
          <a:lstStyle/>
          <a:p>
            <a:r>
              <a:rPr lang="en-US" sz="2200" b="1" dirty="0">
                <a:latin typeface="Calibri" panose="020F0502020204030204" pitchFamily="34" charset="0"/>
                <a:cs typeface="Calibri" panose="020F0502020204030204" pitchFamily="34" charset="0"/>
                <a:sym typeface="+mn-ea"/>
              </a:rPr>
              <a:t>Allele</a:t>
            </a:r>
            <a:r>
              <a:rPr lang="en-US" sz="2200" dirty="0">
                <a:latin typeface="Calibri" panose="020F0502020204030204" pitchFamily="34" charset="0"/>
                <a:cs typeface="Calibri" panose="020F0502020204030204" pitchFamily="34" charset="0"/>
                <a:sym typeface="+mn-ea"/>
              </a:rPr>
              <a:t>: one of the alternative forms of a gene occupying a corresponding locus on homologous chromosomes.</a:t>
            </a:r>
            <a:endParaRPr lang="en-US" sz="2200" dirty="0">
              <a:latin typeface="Calibri" panose="020F0502020204030204" pitchFamily="34" charset="0"/>
              <a:cs typeface="Calibri" panose="020F0502020204030204" pitchFamily="34" charset="0"/>
            </a:endParaRPr>
          </a:p>
          <a:p>
            <a:endParaRPr lang="en-US" sz="2200" dirty="0">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sym typeface="+mn-ea"/>
              </a:rPr>
              <a:t>Dominant allele</a:t>
            </a:r>
            <a:r>
              <a:rPr lang="en-US" sz="2200" dirty="0">
                <a:latin typeface="Calibri" panose="020F0502020204030204" pitchFamily="34" charset="0"/>
                <a:cs typeface="Calibri" panose="020F0502020204030204" pitchFamily="34" charset="0"/>
                <a:sym typeface="+mn-ea"/>
              </a:rPr>
              <a:t>: an allele that can express itself over the other allele.</a:t>
            </a:r>
            <a:endParaRPr lang="en-US" sz="2200" dirty="0">
              <a:latin typeface="Calibri" panose="020F0502020204030204" pitchFamily="34" charset="0"/>
              <a:cs typeface="Calibri" panose="020F0502020204030204" pitchFamily="34" charset="0"/>
              <a:sym typeface="+mn-ea"/>
            </a:endParaRPr>
          </a:p>
          <a:p>
            <a:pPr marL="0" indent="0">
              <a:buNone/>
            </a:pPr>
            <a:endParaRPr lang="en-US" sz="2200" dirty="0">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sym typeface="+mn-ea"/>
              </a:rPr>
              <a:t>Recessive allele</a:t>
            </a:r>
            <a:r>
              <a:rPr lang="en-US" sz="2200" dirty="0">
                <a:latin typeface="Calibri" panose="020F0502020204030204" pitchFamily="34" charset="0"/>
                <a:cs typeface="Calibri" panose="020F0502020204030204" pitchFamily="34" charset="0"/>
                <a:sym typeface="+mn-ea"/>
              </a:rPr>
              <a:t>: an allele that lacks the ability to express itself when the dominant is present</a:t>
            </a:r>
            <a:endParaRPr lang="en-US" sz="2200" dirty="0">
              <a:latin typeface="Calibri" panose="020F0502020204030204" pitchFamily="34" charset="0"/>
              <a:cs typeface="Calibri" panose="020F0502020204030204" pitchFamily="34" charset="0"/>
            </a:endParaRPr>
          </a:p>
          <a:p>
            <a:endParaRPr lang="en-US" sz="2200" dirty="0">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rPr>
              <a:t>Wild</a:t>
            </a:r>
            <a:r>
              <a:rPr lang="en-US" sz="2200" dirty="0">
                <a:latin typeface="Calibri" panose="020F0502020204030204" pitchFamily="34" charset="0"/>
                <a:cs typeface="Calibri" panose="020F0502020204030204" pitchFamily="34" charset="0"/>
              </a:rPr>
              <a:t> </a:t>
            </a:r>
            <a:r>
              <a:rPr lang="en-US" sz="2200" b="1" dirty="0">
                <a:latin typeface="Calibri" panose="020F0502020204030204" pitchFamily="34" charset="0"/>
                <a:cs typeface="Calibri" panose="020F0502020204030204" pitchFamily="34" charset="0"/>
              </a:rPr>
              <a:t>type</a:t>
            </a:r>
            <a:r>
              <a:rPr lang="en-US" sz="2200" dirty="0">
                <a:latin typeface="Calibri" panose="020F0502020204030204" pitchFamily="34" charset="0"/>
                <a:cs typeface="Calibri" panose="020F0502020204030204" pitchFamily="34" charset="0"/>
              </a:rPr>
              <a:t>: an individual having the normal phenotype (i.e.: the most common phenotype).</a:t>
            </a:r>
            <a:endParaRPr lang="en-US" sz="2200" dirty="0">
              <a:latin typeface="Calibri" panose="020F0502020204030204" pitchFamily="34" charset="0"/>
              <a:cs typeface="Calibri" panose="020F0502020204030204" pitchFamily="34" charset="0"/>
            </a:endParaRPr>
          </a:p>
          <a:p>
            <a:pPr marL="0" indent="0">
              <a:buNone/>
            </a:pPr>
            <a:endParaRPr lang="en-US" sz="2200" dirty="0">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rPr>
              <a:t>Mutant or variant</a:t>
            </a:r>
            <a:r>
              <a:rPr lang="en-US" sz="2200" dirty="0">
                <a:latin typeface="Calibri" panose="020F0502020204030204" pitchFamily="34" charset="0"/>
                <a:cs typeface="Calibri" panose="020F0502020204030204" pitchFamily="34" charset="0"/>
              </a:rPr>
              <a:t>: an individual having a phenotype that differs from the normal phenotype</a:t>
            </a:r>
            <a:r>
              <a:rPr lang="en-US" sz="2200" dirty="0"/>
              <a:t>.</a:t>
            </a:r>
            <a:endParaRPr lang="en-US" sz="2200" dirty="0"/>
          </a:p>
        </p:txBody>
      </p:sp>
      <p:pic>
        <p:nvPicPr>
          <p:cNvPr id="4" name="Picture 3"/>
          <p:cNvPicPr>
            <a:picLocks noChangeAspect="1"/>
          </p:cNvPicPr>
          <p:nvPr/>
        </p:nvPicPr>
        <p:blipFill>
          <a:blip r:embed="rId1"/>
          <a:stretch>
            <a:fillRect/>
          </a:stretch>
        </p:blipFill>
        <p:spPr>
          <a:xfrm>
            <a:off x="4360376" y="570666"/>
            <a:ext cx="914479" cy="9144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Mendelian laws of </a:t>
            </a:r>
            <a:r>
              <a:rPr lang="en-US" dirty="0" err="1"/>
              <a:t>inheritence</a:t>
            </a:r>
            <a:endParaRPr lang="en-US" dirty="0"/>
          </a:p>
        </p:txBody>
      </p:sp>
      <p:sp>
        <p:nvSpPr>
          <p:cNvPr id="3" name="Content Placeholder 2"/>
          <p:cNvSpPr>
            <a:spLocks noGrp="1"/>
          </p:cNvSpPr>
          <p:nvPr>
            <p:ph idx="1"/>
          </p:nvPr>
        </p:nvSpPr>
        <p:spPr/>
        <p:txBody>
          <a:bodyPr>
            <a:normAutofit lnSpcReduction="10000"/>
          </a:bodyPr>
          <a:lstStyle/>
          <a:p>
            <a:r>
              <a:rPr lang="en-US" sz="2200" b="1" dirty="0">
                <a:latin typeface="Calibri" panose="020F0502020204030204" pitchFamily="34" charset="0"/>
                <a:cs typeface="Calibri" panose="020F0502020204030204" pitchFamily="34" charset="0"/>
              </a:rPr>
              <a:t>Law 1: Law of Segregation</a:t>
            </a:r>
            <a:endParaRPr lang="en-US" sz="2200" b="1" dirty="0">
              <a:latin typeface="Calibri" panose="020F0502020204030204" pitchFamily="34" charset="0"/>
              <a:cs typeface="Calibri" panose="020F0502020204030204" pitchFamily="34" charset="0"/>
            </a:endParaRPr>
          </a:p>
          <a:p>
            <a:pPr marL="0" indent="0">
              <a:buNone/>
            </a:pPr>
            <a:r>
              <a:rPr lang="en-US" sz="2200" dirty="0">
                <a:latin typeface="Calibri" panose="020F0502020204030204" pitchFamily="34" charset="0"/>
                <a:cs typeface="Calibri" panose="020F0502020204030204" pitchFamily="34" charset="0"/>
              </a:rPr>
              <a:t>Alleles in diploid individuals separate during the process of gamete formation (meiosis).</a:t>
            </a:r>
            <a:endParaRPr lang="en-US" sz="2200" dirty="0">
              <a:latin typeface="Calibri" panose="020F0502020204030204" pitchFamily="34" charset="0"/>
              <a:cs typeface="Calibri" panose="020F0502020204030204" pitchFamily="34" charset="0"/>
            </a:endParaRPr>
          </a:p>
          <a:p>
            <a:pPr marL="0" indent="0">
              <a:buNone/>
            </a:pPr>
            <a:endParaRPr lang="en-US" sz="2200" dirty="0">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rPr>
              <a:t>Law 2: Law of Independent Assortment</a:t>
            </a:r>
            <a:endParaRPr lang="en-US" sz="2200" b="1" dirty="0">
              <a:latin typeface="Calibri" panose="020F0502020204030204" pitchFamily="34" charset="0"/>
              <a:cs typeface="Calibri" panose="020F0502020204030204" pitchFamily="34" charset="0"/>
            </a:endParaRPr>
          </a:p>
          <a:p>
            <a:pPr marL="0" indent="0">
              <a:buNone/>
            </a:pPr>
            <a:r>
              <a:rPr lang="en-US" sz="2200" dirty="0">
                <a:latin typeface="Calibri" panose="020F0502020204030204" pitchFamily="34" charset="0"/>
                <a:cs typeface="Calibri" panose="020F0502020204030204" pitchFamily="34" charset="0"/>
              </a:rPr>
              <a:t>Each member of a pair of homologous chromosomes separates independently of the members of other pairs so the results are random.</a:t>
            </a:r>
            <a:endParaRPr lang="en-US" sz="2200" dirty="0">
              <a:latin typeface="Calibri" panose="020F0502020204030204" pitchFamily="34" charset="0"/>
              <a:cs typeface="Calibri" panose="020F0502020204030204" pitchFamily="34" charset="0"/>
            </a:endParaRPr>
          </a:p>
          <a:p>
            <a:pPr marL="0" indent="0">
              <a:buNone/>
            </a:pPr>
            <a:endParaRPr lang="en-US" sz="2200" dirty="0">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rPr>
              <a:t>Law 3: Law of Dominance</a:t>
            </a:r>
            <a:endParaRPr lang="en-US" sz="2200" b="1" dirty="0">
              <a:latin typeface="Calibri" panose="020F0502020204030204" pitchFamily="34" charset="0"/>
              <a:cs typeface="Calibri" panose="020F0502020204030204" pitchFamily="34" charset="0"/>
            </a:endParaRPr>
          </a:p>
          <a:p>
            <a:pPr marL="0" indent="0">
              <a:buNone/>
            </a:pPr>
            <a:r>
              <a:rPr lang="en-US" sz="2200" dirty="0">
                <a:latin typeface="Calibri" panose="020F0502020204030204" pitchFamily="34" charset="0"/>
                <a:cs typeface="Calibri" panose="020F0502020204030204" pitchFamily="34" charset="0"/>
              </a:rPr>
              <a:t>A heterozygous individual will express the phenotypic characteristics of the dominant allele.</a:t>
            </a:r>
            <a:endParaRPr lang="en-US" sz="22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9633712" y="570666"/>
            <a:ext cx="914479" cy="9144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Rot="1" noChangeAspect="1" noMove="1" noResize="1" noEditPoints="1" noAdjustHandles="1" noChangeArrowheads="1" noChangeShapeType="1" noTextEdit="1"/>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9951" y="258963"/>
            <a:ext cx="10909640" cy="1065836"/>
          </a:xfrm>
        </p:spPr>
        <p:txBody>
          <a:bodyPr vert="horz" lIns="91440" tIns="45720" rIns="91440" bIns="45720" rtlCol="0" anchor="ctr">
            <a:normAutofit/>
          </a:bodyPr>
          <a:lstStyle/>
          <a:p>
            <a:pPr algn="ctr"/>
            <a:r>
              <a:rPr lang="en-US" sz="4000" dirty="0"/>
              <a:t>Instruments</a:t>
            </a:r>
            <a:endParaRPr lang="en-US" sz="4000" dirty="0"/>
          </a:p>
        </p:txBody>
      </p:sp>
      <p:sp>
        <p:nvSpPr>
          <p:cNvPr id="14" name="Rectangle 6"/>
          <p:cNvSpPr>
            <a:spLocks noGrp="1" noRot="1" noChangeAspect="1" noMove="1" noResize="1" noEditPoints="1" noAdjustHandles="1" noChangeArrowheads="1" noChangeShapeType="1" noTextEdit="1"/>
          </p:cNvSpPr>
          <p:nvPr/>
        </p:nvSpPr>
        <p:spPr>
          <a:xfrm>
            <a:off x="4450080" y="1850683"/>
            <a:ext cx="3291840" cy="27432"/>
          </a:xfrm>
          <a:custGeom>
            <a:avLst/>
            <a:gdLst>
              <a:gd name="connsiteX0" fmla="*/ 0 w 3291840"/>
              <a:gd name="connsiteY0" fmla="*/ 0 h 27432"/>
              <a:gd name="connsiteX1" fmla="*/ 625450 w 3291840"/>
              <a:gd name="connsiteY1" fmla="*/ 0 h 27432"/>
              <a:gd name="connsiteX2" fmla="*/ 1283818 w 3291840"/>
              <a:gd name="connsiteY2" fmla="*/ 0 h 27432"/>
              <a:gd name="connsiteX3" fmla="*/ 1975104 w 3291840"/>
              <a:gd name="connsiteY3" fmla="*/ 0 h 27432"/>
              <a:gd name="connsiteX4" fmla="*/ 2666390 w 3291840"/>
              <a:gd name="connsiteY4" fmla="*/ 0 h 27432"/>
              <a:gd name="connsiteX5" fmla="*/ 3291840 w 3291840"/>
              <a:gd name="connsiteY5" fmla="*/ 0 h 27432"/>
              <a:gd name="connsiteX6" fmla="*/ 3291840 w 3291840"/>
              <a:gd name="connsiteY6" fmla="*/ 27432 h 27432"/>
              <a:gd name="connsiteX7" fmla="*/ 2567635 w 3291840"/>
              <a:gd name="connsiteY7" fmla="*/ 27432 h 27432"/>
              <a:gd name="connsiteX8" fmla="*/ 1843430 w 3291840"/>
              <a:gd name="connsiteY8" fmla="*/ 27432 h 27432"/>
              <a:gd name="connsiteX9" fmla="*/ 1185062 w 3291840"/>
              <a:gd name="connsiteY9" fmla="*/ 27432 h 27432"/>
              <a:gd name="connsiteX10" fmla="*/ 0 w 3291840"/>
              <a:gd name="connsiteY10" fmla="*/ 27432 h 27432"/>
              <a:gd name="connsiteX11" fmla="*/ 0 w 329184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27432"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0674" y="7395"/>
                  <a:pt x="3291885" y="21864"/>
                  <a:pt x="3291840" y="27432"/>
                </a:cubicBezTo>
                <a:cubicBezTo>
                  <a:pt x="3043276" y="47012"/>
                  <a:pt x="2921041" y="-3764"/>
                  <a:pt x="2567635" y="27432"/>
                </a:cubicBezTo>
                <a:cubicBezTo>
                  <a:pt x="2214230" y="58628"/>
                  <a:pt x="2189623" y="-3875"/>
                  <a:pt x="1843430" y="27432"/>
                </a:cubicBezTo>
                <a:cubicBezTo>
                  <a:pt x="1497237" y="58739"/>
                  <a:pt x="1492584" y="38324"/>
                  <a:pt x="1185062" y="27432"/>
                </a:cubicBezTo>
                <a:cubicBezTo>
                  <a:pt x="877540" y="16540"/>
                  <a:pt x="313238" y="55587"/>
                  <a:pt x="0" y="27432"/>
                </a:cubicBezTo>
                <a:cubicBezTo>
                  <a:pt x="-503" y="20663"/>
                  <a:pt x="1168" y="5855"/>
                  <a:pt x="0" y="0"/>
                </a:cubicBezTo>
                <a:close/>
              </a:path>
              <a:path w="3291840" h="27432"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2033" y="12649"/>
                  <a:pt x="3290852" y="17989"/>
                  <a:pt x="3291840" y="27432"/>
                </a:cubicBezTo>
                <a:cubicBezTo>
                  <a:pt x="3120474" y="24858"/>
                  <a:pt x="2816568" y="13777"/>
                  <a:pt x="2633472" y="27432"/>
                </a:cubicBezTo>
                <a:cubicBezTo>
                  <a:pt x="2450376" y="41087"/>
                  <a:pt x="2160769" y="46494"/>
                  <a:pt x="1909267" y="27432"/>
                </a:cubicBezTo>
                <a:cubicBezTo>
                  <a:pt x="1657765" y="8370"/>
                  <a:pt x="1623992" y="18792"/>
                  <a:pt x="1349654" y="27432"/>
                </a:cubicBezTo>
                <a:cubicBezTo>
                  <a:pt x="1075316" y="36072"/>
                  <a:pt x="833426" y="43325"/>
                  <a:pt x="691286" y="27432"/>
                </a:cubicBezTo>
                <a:cubicBezTo>
                  <a:pt x="549146" y="11539"/>
                  <a:pt x="342011" y="33345"/>
                  <a:pt x="0" y="27432"/>
                </a:cubicBezTo>
                <a:cubicBezTo>
                  <a:pt x="1300" y="19678"/>
                  <a:pt x="-86" y="12044"/>
                  <a:pt x="0" y="0"/>
                </a:cubicBezTo>
                <a:close/>
              </a:path>
            </a:pathLst>
          </a:custGeom>
          <a:solidFill>
            <a:srgbClr val="00DBF8"/>
          </a:solidFill>
          <a:ln w="38100" cap="rnd">
            <a:solidFill>
              <a:srgbClr val="00DBF8"/>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1"/>
          </p:nvPr>
        </p:nvPicPr>
        <p:blipFill>
          <a:blip r:embed="rId1"/>
          <a:srcRect l="15487" r="8918"/>
          <a:stretch>
            <a:fillRect/>
          </a:stretch>
        </p:blipFill>
        <p:spPr>
          <a:xfrm>
            <a:off x="702310" y="1609725"/>
            <a:ext cx="2944495" cy="3895090"/>
          </a:xfrm>
          <a:prstGeom prst="rect">
            <a:avLst/>
          </a:prstGeom>
        </p:spPr>
      </p:pic>
      <p:pic>
        <p:nvPicPr>
          <p:cNvPr id="5" name="Picture 4"/>
          <p:cNvPicPr>
            <a:picLocks noChangeAspect="1"/>
          </p:cNvPicPr>
          <p:nvPr/>
        </p:nvPicPr>
        <p:blipFill>
          <a:blip r:embed="rId2"/>
          <a:stretch>
            <a:fillRect/>
          </a:stretch>
        </p:blipFill>
        <p:spPr>
          <a:xfrm>
            <a:off x="6342562" y="2001592"/>
            <a:ext cx="5193792" cy="3895344"/>
          </a:xfrm>
          <a:prstGeom prst="rect">
            <a:avLst/>
          </a:prstGeom>
        </p:spPr>
      </p:pic>
      <p:sp>
        <p:nvSpPr>
          <p:cNvPr id="6" name="TextBox 5"/>
          <p:cNvSpPr txBox="1"/>
          <p:nvPr/>
        </p:nvSpPr>
        <p:spPr>
          <a:xfrm>
            <a:off x="462915" y="5896393"/>
            <a:ext cx="2705100" cy="584775"/>
          </a:xfrm>
          <a:prstGeom prst="rect">
            <a:avLst/>
          </a:prstGeom>
          <a:noFill/>
          <a:ln>
            <a:noFill/>
          </a:ln>
        </p:spPr>
        <p:txBody>
          <a:bodyPr wrap="square" rtlCol="0">
            <a:spAutoFit/>
          </a:bodyPr>
          <a:lstStyle/>
          <a:p>
            <a:pPr algn="ctr"/>
            <a:r>
              <a:rPr lang="en-US" sz="3200" b="1" dirty="0">
                <a:latin typeface="Calibri" panose="020F0502020204030204" pitchFamily="34" charset="0"/>
                <a:cs typeface="Calibri" panose="020F0502020204030204" pitchFamily="34" charset="0"/>
              </a:rPr>
              <a:t>centrifuge</a:t>
            </a:r>
            <a:endParaRPr lang="en-US" b="1" dirty="0">
              <a:latin typeface="Calibri" panose="020F0502020204030204" pitchFamily="34" charset="0"/>
              <a:cs typeface="Calibri" panose="020F0502020204030204" pitchFamily="34" charset="0"/>
            </a:endParaRPr>
          </a:p>
        </p:txBody>
      </p:sp>
      <p:sp>
        <p:nvSpPr>
          <p:cNvPr id="7" name="TextBox 6"/>
          <p:cNvSpPr txBox="1"/>
          <p:nvPr/>
        </p:nvSpPr>
        <p:spPr>
          <a:xfrm>
            <a:off x="7801220" y="6020336"/>
            <a:ext cx="2276475" cy="584775"/>
          </a:xfrm>
          <a:prstGeom prst="rect">
            <a:avLst/>
          </a:prstGeom>
          <a:noFill/>
        </p:spPr>
        <p:txBody>
          <a:bodyPr wrap="square" rtlCol="0">
            <a:spAutoFit/>
          </a:bodyPr>
          <a:lstStyle/>
          <a:p>
            <a:r>
              <a:rPr lang="en-US" sz="3200" b="1" dirty="0">
                <a:latin typeface="Calibri" panose="020F0502020204030204" pitchFamily="34" charset="0"/>
                <a:cs typeface="Calibri" panose="020F0502020204030204" pitchFamily="34" charset="0"/>
              </a:rPr>
              <a:t>Fume hood</a:t>
            </a:r>
            <a:endParaRPr lang="en-US" sz="3200" b="1"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6"/>
          <p:cNvSpPr>
            <a:spLocks noGrp="1" noRot="1" noChangeAspect="1" noMove="1" noResize="1" noEditPoints="1" noAdjustHandles="1" noChangeArrowheads="1" noChangeShapeType="1" noTextEdit="1"/>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7" name="Rectangle 12"/>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4000" dirty="0"/>
              <a:t>Instruments</a:t>
            </a:r>
            <a:endParaRPr lang="en-US" sz="4000" dirty="0"/>
          </a:p>
        </p:txBody>
      </p:sp>
      <p:sp>
        <p:nvSpPr>
          <p:cNvPr id="15" name="Rectangle 6"/>
          <p:cNvSpPr>
            <a:spLocks noGrp="1" noRot="1" noChangeAspect="1" noMove="1" noResize="1" noEditPoints="1" noAdjustHandles="1" noChangeArrowheads="1" noChangeShapeType="1" noTextEdit="1"/>
          </p:cNvSpPr>
          <p:nvPr/>
        </p:nvSpPr>
        <p:spPr>
          <a:xfrm>
            <a:off x="3810000" y="1776977"/>
            <a:ext cx="4572000" cy="27432"/>
          </a:xfrm>
          <a:custGeom>
            <a:avLst/>
            <a:gdLst>
              <a:gd name="connsiteX0" fmla="*/ 0 w 4572000"/>
              <a:gd name="connsiteY0" fmla="*/ 0 h 27432"/>
              <a:gd name="connsiteX1" fmla="*/ 607423 w 4572000"/>
              <a:gd name="connsiteY1" fmla="*/ 0 h 27432"/>
              <a:gd name="connsiteX2" fmla="*/ 1123406 w 4572000"/>
              <a:gd name="connsiteY2" fmla="*/ 0 h 27432"/>
              <a:gd name="connsiteX3" fmla="*/ 1685109 w 4572000"/>
              <a:gd name="connsiteY3" fmla="*/ 0 h 27432"/>
              <a:gd name="connsiteX4" fmla="*/ 2383971 w 4572000"/>
              <a:gd name="connsiteY4" fmla="*/ 0 h 27432"/>
              <a:gd name="connsiteX5" fmla="*/ 2991394 w 4572000"/>
              <a:gd name="connsiteY5" fmla="*/ 0 h 27432"/>
              <a:gd name="connsiteX6" fmla="*/ 3553097 w 4572000"/>
              <a:gd name="connsiteY6" fmla="*/ 0 h 27432"/>
              <a:gd name="connsiteX7" fmla="*/ 4572000 w 4572000"/>
              <a:gd name="connsiteY7" fmla="*/ 0 h 27432"/>
              <a:gd name="connsiteX8" fmla="*/ 4572000 w 4572000"/>
              <a:gd name="connsiteY8" fmla="*/ 27432 h 27432"/>
              <a:gd name="connsiteX9" fmla="*/ 3918857 w 4572000"/>
              <a:gd name="connsiteY9" fmla="*/ 27432 h 27432"/>
              <a:gd name="connsiteX10" fmla="*/ 3357154 w 4572000"/>
              <a:gd name="connsiteY10" fmla="*/ 27432 h 27432"/>
              <a:gd name="connsiteX11" fmla="*/ 2612571 w 4572000"/>
              <a:gd name="connsiteY11" fmla="*/ 27432 h 27432"/>
              <a:gd name="connsiteX12" fmla="*/ 2005149 w 4572000"/>
              <a:gd name="connsiteY12" fmla="*/ 27432 h 27432"/>
              <a:gd name="connsiteX13" fmla="*/ 1489166 w 4572000"/>
              <a:gd name="connsiteY13" fmla="*/ 27432 h 27432"/>
              <a:gd name="connsiteX14" fmla="*/ 790303 w 4572000"/>
              <a:gd name="connsiteY14" fmla="*/ 27432 h 27432"/>
              <a:gd name="connsiteX15" fmla="*/ 0 w 4572000"/>
              <a:gd name="connsiteY15" fmla="*/ 27432 h 27432"/>
              <a:gd name="connsiteX16" fmla="*/ 0 w 457200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27432" fill="none" extrusionOk="0">
                <a:moveTo>
                  <a:pt x="0" y="0"/>
                </a:moveTo>
                <a:cubicBezTo>
                  <a:pt x="150397" y="-23421"/>
                  <a:pt x="474161" y="9174"/>
                  <a:pt x="607423" y="0"/>
                </a:cubicBezTo>
                <a:cubicBezTo>
                  <a:pt x="740685" y="-9174"/>
                  <a:pt x="868821" y="-4258"/>
                  <a:pt x="1123406" y="0"/>
                </a:cubicBezTo>
                <a:cubicBezTo>
                  <a:pt x="1377991" y="4258"/>
                  <a:pt x="1567664" y="-12410"/>
                  <a:pt x="1685109" y="0"/>
                </a:cubicBezTo>
                <a:cubicBezTo>
                  <a:pt x="1802554" y="12410"/>
                  <a:pt x="2193086" y="-14353"/>
                  <a:pt x="2383971" y="0"/>
                </a:cubicBezTo>
                <a:cubicBezTo>
                  <a:pt x="2574856" y="14353"/>
                  <a:pt x="2697477" y="-26142"/>
                  <a:pt x="2991394" y="0"/>
                </a:cubicBezTo>
                <a:cubicBezTo>
                  <a:pt x="3285311" y="26142"/>
                  <a:pt x="3423667" y="26544"/>
                  <a:pt x="3553097" y="0"/>
                </a:cubicBezTo>
                <a:cubicBezTo>
                  <a:pt x="3682527" y="-26544"/>
                  <a:pt x="4344147" y="50350"/>
                  <a:pt x="4572000" y="0"/>
                </a:cubicBezTo>
                <a:cubicBezTo>
                  <a:pt x="4571027" y="8304"/>
                  <a:pt x="4571522" y="21512"/>
                  <a:pt x="4572000" y="27432"/>
                </a:cubicBezTo>
                <a:cubicBezTo>
                  <a:pt x="4438349" y="5490"/>
                  <a:pt x="4090129" y="31231"/>
                  <a:pt x="3918857" y="27432"/>
                </a:cubicBezTo>
                <a:cubicBezTo>
                  <a:pt x="3747585" y="23633"/>
                  <a:pt x="3498826" y="6883"/>
                  <a:pt x="3357154" y="27432"/>
                </a:cubicBezTo>
                <a:cubicBezTo>
                  <a:pt x="3215482" y="47981"/>
                  <a:pt x="2784289" y="56849"/>
                  <a:pt x="2612571" y="27432"/>
                </a:cubicBezTo>
                <a:cubicBezTo>
                  <a:pt x="2440853" y="-1985"/>
                  <a:pt x="2261292" y="25951"/>
                  <a:pt x="2005149" y="27432"/>
                </a:cubicBezTo>
                <a:cubicBezTo>
                  <a:pt x="1749006" y="28913"/>
                  <a:pt x="1700078" y="34342"/>
                  <a:pt x="1489166" y="27432"/>
                </a:cubicBezTo>
                <a:cubicBezTo>
                  <a:pt x="1278254" y="20522"/>
                  <a:pt x="1077188" y="56916"/>
                  <a:pt x="790303" y="27432"/>
                </a:cubicBezTo>
                <a:cubicBezTo>
                  <a:pt x="503418" y="-2052"/>
                  <a:pt x="359168" y="57044"/>
                  <a:pt x="0" y="27432"/>
                </a:cubicBezTo>
                <a:cubicBezTo>
                  <a:pt x="-1048" y="14992"/>
                  <a:pt x="-1120" y="7447"/>
                  <a:pt x="0" y="0"/>
                </a:cubicBezTo>
                <a:close/>
              </a:path>
              <a:path w="4572000" h="27432" stroke="0" extrusionOk="0">
                <a:moveTo>
                  <a:pt x="0" y="0"/>
                </a:moveTo>
                <a:cubicBezTo>
                  <a:pt x="155698" y="6780"/>
                  <a:pt x="465972" y="13197"/>
                  <a:pt x="607423" y="0"/>
                </a:cubicBezTo>
                <a:cubicBezTo>
                  <a:pt x="748874" y="-13197"/>
                  <a:pt x="1014133" y="22994"/>
                  <a:pt x="1123406" y="0"/>
                </a:cubicBezTo>
                <a:cubicBezTo>
                  <a:pt x="1232679" y="-22994"/>
                  <a:pt x="1639431" y="-2997"/>
                  <a:pt x="1867989" y="0"/>
                </a:cubicBezTo>
                <a:cubicBezTo>
                  <a:pt x="2096547" y="2997"/>
                  <a:pt x="2265668" y="29557"/>
                  <a:pt x="2475411" y="0"/>
                </a:cubicBezTo>
                <a:cubicBezTo>
                  <a:pt x="2685154" y="-29557"/>
                  <a:pt x="2951491" y="73"/>
                  <a:pt x="3082834" y="0"/>
                </a:cubicBezTo>
                <a:cubicBezTo>
                  <a:pt x="3214177" y="-73"/>
                  <a:pt x="3641000" y="-33478"/>
                  <a:pt x="3827417" y="0"/>
                </a:cubicBezTo>
                <a:cubicBezTo>
                  <a:pt x="4013834" y="33478"/>
                  <a:pt x="4345917" y="14255"/>
                  <a:pt x="4572000" y="0"/>
                </a:cubicBezTo>
                <a:cubicBezTo>
                  <a:pt x="4572485" y="9333"/>
                  <a:pt x="4573278" y="19699"/>
                  <a:pt x="4572000" y="27432"/>
                </a:cubicBezTo>
                <a:cubicBezTo>
                  <a:pt x="4318030" y="43025"/>
                  <a:pt x="4161104" y="34314"/>
                  <a:pt x="4010297" y="27432"/>
                </a:cubicBezTo>
                <a:cubicBezTo>
                  <a:pt x="3859490" y="20550"/>
                  <a:pt x="3592529" y="6613"/>
                  <a:pt x="3357154" y="27432"/>
                </a:cubicBezTo>
                <a:cubicBezTo>
                  <a:pt x="3121779" y="48251"/>
                  <a:pt x="2884285" y="3780"/>
                  <a:pt x="2704011" y="27432"/>
                </a:cubicBezTo>
                <a:cubicBezTo>
                  <a:pt x="2523737" y="51084"/>
                  <a:pt x="2295944" y="32081"/>
                  <a:pt x="2096589" y="27432"/>
                </a:cubicBezTo>
                <a:cubicBezTo>
                  <a:pt x="1897234" y="22783"/>
                  <a:pt x="1623782" y="52518"/>
                  <a:pt x="1352006" y="27432"/>
                </a:cubicBezTo>
                <a:cubicBezTo>
                  <a:pt x="1080230" y="2346"/>
                  <a:pt x="869959" y="12864"/>
                  <a:pt x="607423" y="27432"/>
                </a:cubicBezTo>
                <a:cubicBezTo>
                  <a:pt x="344887" y="42000"/>
                  <a:pt x="188100" y="40051"/>
                  <a:pt x="0" y="27432"/>
                </a:cubicBezTo>
                <a:cubicBezTo>
                  <a:pt x="211" y="18145"/>
                  <a:pt x="120" y="6480"/>
                  <a:pt x="0" y="0"/>
                </a:cubicBezTo>
                <a:close/>
              </a:path>
            </a:pathLst>
          </a:custGeom>
          <a:solidFill>
            <a:srgbClr val="F2A935"/>
          </a:solidFill>
          <a:ln w="38100" cap="rnd">
            <a:solidFill>
              <a:srgbClr val="F2A93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1"/>
          <a:stretch>
            <a:fillRect/>
          </a:stretch>
        </p:blipFill>
        <p:spPr>
          <a:xfrm>
            <a:off x="292608" y="2782076"/>
            <a:ext cx="3758184" cy="3758184"/>
          </a:xfrm>
          <a:prstGeom prst="rect">
            <a:avLst/>
          </a:prstGeom>
        </p:spPr>
      </p:pic>
      <p:pic>
        <p:nvPicPr>
          <p:cNvPr id="6" name="Picture 5"/>
          <p:cNvPicPr>
            <a:picLocks noChangeAspect="1"/>
          </p:cNvPicPr>
          <p:nvPr/>
        </p:nvPicPr>
        <p:blipFill>
          <a:blip r:embed="rId2"/>
          <a:stretch>
            <a:fillRect/>
          </a:stretch>
        </p:blipFill>
        <p:spPr>
          <a:xfrm>
            <a:off x="4216908" y="2782076"/>
            <a:ext cx="3758184" cy="3758184"/>
          </a:xfrm>
          <a:prstGeom prst="rect">
            <a:avLst/>
          </a:prstGeom>
        </p:spPr>
      </p:pic>
      <p:pic>
        <p:nvPicPr>
          <p:cNvPr id="4" name="Content Placeholder 3"/>
          <p:cNvPicPr>
            <a:picLocks noGrp="1" noChangeAspect="1"/>
          </p:cNvPicPr>
          <p:nvPr>
            <p:ph idx="1"/>
          </p:nvPr>
        </p:nvPicPr>
        <p:blipFill>
          <a:blip r:embed="rId3"/>
          <a:stretch>
            <a:fillRect/>
          </a:stretch>
        </p:blipFill>
        <p:spPr>
          <a:xfrm>
            <a:off x="8141208" y="2782076"/>
            <a:ext cx="3758184" cy="3758184"/>
          </a:xfrm>
          <a:prstGeom prst="rect">
            <a:avLst/>
          </a:prstGeom>
        </p:spPr>
      </p:pic>
      <p:sp>
        <p:nvSpPr>
          <p:cNvPr id="7" name="TextBox 6"/>
          <p:cNvSpPr txBox="1"/>
          <p:nvPr/>
        </p:nvSpPr>
        <p:spPr>
          <a:xfrm>
            <a:off x="1337529" y="2071611"/>
            <a:ext cx="1668342" cy="800219"/>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Autoclave</a:t>
            </a:r>
            <a:endParaRPr lang="en-US" b="1" dirty="0">
              <a:latin typeface="Calibri" panose="020F0502020204030204" pitchFamily="34" charset="0"/>
              <a:cs typeface="Calibri" panose="020F0502020204030204" pitchFamily="34" charset="0"/>
            </a:endParaRPr>
          </a:p>
          <a:p>
            <a:endParaRPr lang="en-US" dirty="0"/>
          </a:p>
        </p:txBody>
      </p:sp>
      <p:sp>
        <p:nvSpPr>
          <p:cNvPr id="8" name="TextBox 7"/>
          <p:cNvSpPr txBox="1"/>
          <p:nvPr/>
        </p:nvSpPr>
        <p:spPr>
          <a:xfrm>
            <a:off x="5281042" y="2074418"/>
            <a:ext cx="1625317"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Incubator</a:t>
            </a:r>
            <a:endParaRPr lang="en-US" b="1" dirty="0">
              <a:latin typeface="Calibri" panose="020F0502020204030204" pitchFamily="34" charset="0"/>
              <a:cs typeface="Calibri" panose="020F0502020204030204" pitchFamily="34" charset="0"/>
            </a:endParaRPr>
          </a:p>
        </p:txBody>
      </p:sp>
      <p:sp>
        <p:nvSpPr>
          <p:cNvPr id="9" name="TextBox 8"/>
          <p:cNvSpPr txBox="1"/>
          <p:nvPr/>
        </p:nvSpPr>
        <p:spPr>
          <a:xfrm>
            <a:off x="9105900" y="2071611"/>
            <a:ext cx="1483098"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Balancer</a:t>
            </a:r>
            <a:endParaRPr lang="en-US" b="1"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Rot="1" noChangeAspect="1" noMove="1" noResize="1" noEditPoints="1" noAdjustHandles="1" noChangeArrowheads="1" noChangeShapeType="1" noTextEdit="1"/>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1" y="759978"/>
            <a:ext cx="10909640" cy="1065836"/>
          </a:xfrm>
        </p:spPr>
        <p:txBody>
          <a:bodyPr vert="horz" lIns="91440" tIns="45720" rIns="91440" bIns="45720" rtlCol="0" anchor="ctr">
            <a:normAutofit/>
          </a:bodyPr>
          <a:lstStyle/>
          <a:p>
            <a:pPr algn="ctr"/>
            <a:r>
              <a:rPr lang="en-US" sz="4000" dirty="0"/>
              <a:t>Instruments</a:t>
            </a:r>
            <a:endParaRPr lang="en-US" sz="4000" dirty="0"/>
          </a:p>
        </p:txBody>
      </p:sp>
      <p:sp>
        <p:nvSpPr>
          <p:cNvPr id="14" name="Rectangle 6"/>
          <p:cNvSpPr>
            <a:spLocks noGrp="1" noRot="1" noChangeAspect="1" noMove="1" noResize="1" noEditPoints="1" noAdjustHandles="1" noChangeArrowheads="1" noChangeShapeType="1" noTextEdit="1"/>
          </p:cNvSpPr>
          <p:nvPr/>
        </p:nvSpPr>
        <p:spPr>
          <a:xfrm>
            <a:off x="4450080" y="1850683"/>
            <a:ext cx="3291840" cy="27432"/>
          </a:xfrm>
          <a:custGeom>
            <a:avLst/>
            <a:gdLst>
              <a:gd name="connsiteX0" fmla="*/ 0 w 3291840"/>
              <a:gd name="connsiteY0" fmla="*/ 0 h 27432"/>
              <a:gd name="connsiteX1" fmla="*/ 625450 w 3291840"/>
              <a:gd name="connsiteY1" fmla="*/ 0 h 27432"/>
              <a:gd name="connsiteX2" fmla="*/ 1283818 w 3291840"/>
              <a:gd name="connsiteY2" fmla="*/ 0 h 27432"/>
              <a:gd name="connsiteX3" fmla="*/ 1975104 w 3291840"/>
              <a:gd name="connsiteY3" fmla="*/ 0 h 27432"/>
              <a:gd name="connsiteX4" fmla="*/ 2666390 w 3291840"/>
              <a:gd name="connsiteY4" fmla="*/ 0 h 27432"/>
              <a:gd name="connsiteX5" fmla="*/ 3291840 w 3291840"/>
              <a:gd name="connsiteY5" fmla="*/ 0 h 27432"/>
              <a:gd name="connsiteX6" fmla="*/ 3291840 w 3291840"/>
              <a:gd name="connsiteY6" fmla="*/ 27432 h 27432"/>
              <a:gd name="connsiteX7" fmla="*/ 2567635 w 3291840"/>
              <a:gd name="connsiteY7" fmla="*/ 27432 h 27432"/>
              <a:gd name="connsiteX8" fmla="*/ 1843430 w 3291840"/>
              <a:gd name="connsiteY8" fmla="*/ 27432 h 27432"/>
              <a:gd name="connsiteX9" fmla="*/ 1185062 w 3291840"/>
              <a:gd name="connsiteY9" fmla="*/ 27432 h 27432"/>
              <a:gd name="connsiteX10" fmla="*/ 0 w 3291840"/>
              <a:gd name="connsiteY10" fmla="*/ 27432 h 27432"/>
              <a:gd name="connsiteX11" fmla="*/ 0 w 329184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27432"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0674" y="7395"/>
                  <a:pt x="3291885" y="21864"/>
                  <a:pt x="3291840" y="27432"/>
                </a:cubicBezTo>
                <a:cubicBezTo>
                  <a:pt x="3043276" y="47012"/>
                  <a:pt x="2921041" y="-3764"/>
                  <a:pt x="2567635" y="27432"/>
                </a:cubicBezTo>
                <a:cubicBezTo>
                  <a:pt x="2214230" y="58628"/>
                  <a:pt x="2189623" y="-3875"/>
                  <a:pt x="1843430" y="27432"/>
                </a:cubicBezTo>
                <a:cubicBezTo>
                  <a:pt x="1497237" y="58739"/>
                  <a:pt x="1492584" y="38324"/>
                  <a:pt x="1185062" y="27432"/>
                </a:cubicBezTo>
                <a:cubicBezTo>
                  <a:pt x="877540" y="16540"/>
                  <a:pt x="313238" y="55587"/>
                  <a:pt x="0" y="27432"/>
                </a:cubicBezTo>
                <a:cubicBezTo>
                  <a:pt x="-503" y="20663"/>
                  <a:pt x="1168" y="5855"/>
                  <a:pt x="0" y="0"/>
                </a:cubicBezTo>
                <a:close/>
              </a:path>
              <a:path w="3291840" h="27432"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2033" y="12649"/>
                  <a:pt x="3290852" y="17989"/>
                  <a:pt x="3291840" y="27432"/>
                </a:cubicBezTo>
                <a:cubicBezTo>
                  <a:pt x="3120474" y="24858"/>
                  <a:pt x="2816568" y="13777"/>
                  <a:pt x="2633472" y="27432"/>
                </a:cubicBezTo>
                <a:cubicBezTo>
                  <a:pt x="2450376" y="41087"/>
                  <a:pt x="2160769" y="46494"/>
                  <a:pt x="1909267" y="27432"/>
                </a:cubicBezTo>
                <a:cubicBezTo>
                  <a:pt x="1657765" y="8370"/>
                  <a:pt x="1623992" y="18792"/>
                  <a:pt x="1349654" y="27432"/>
                </a:cubicBezTo>
                <a:cubicBezTo>
                  <a:pt x="1075316" y="36072"/>
                  <a:pt x="833426" y="43325"/>
                  <a:pt x="691286" y="27432"/>
                </a:cubicBezTo>
                <a:cubicBezTo>
                  <a:pt x="549146" y="11539"/>
                  <a:pt x="342011" y="33345"/>
                  <a:pt x="0" y="27432"/>
                </a:cubicBezTo>
                <a:cubicBezTo>
                  <a:pt x="1300" y="19678"/>
                  <a:pt x="-86" y="12044"/>
                  <a:pt x="0" y="0"/>
                </a:cubicBezTo>
                <a:close/>
              </a:path>
            </a:pathLst>
          </a:custGeom>
          <a:solidFill>
            <a:srgbClr val="97FC1B"/>
          </a:solidFill>
          <a:ln w="38100" cap="rnd">
            <a:solidFill>
              <a:srgbClr val="97FC1B"/>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1"/>
          <a:stretch>
            <a:fillRect/>
          </a:stretch>
        </p:blipFill>
        <p:spPr>
          <a:xfrm>
            <a:off x="1179576" y="2642616"/>
            <a:ext cx="3895344" cy="3895344"/>
          </a:xfrm>
          <a:prstGeom prst="rect">
            <a:avLst/>
          </a:prstGeom>
        </p:spPr>
      </p:pic>
      <p:pic>
        <p:nvPicPr>
          <p:cNvPr id="4" name="Content Placeholder 3"/>
          <p:cNvPicPr>
            <a:picLocks noGrp="1" noChangeAspect="1"/>
          </p:cNvPicPr>
          <p:nvPr>
            <p:ph idx="1"/>
          </p:nvPr>
        </p:nvPicPr>
        <p:blipFill>
          <a:blip r:embed="rId2"/>
          <a:stretch>
            <a:fillRect/>
          </a:stretch>
        </p:blipFill>
        <p:spPr>
          <a:xfrm>
            <a:off x="6254496" y="2772621"/>
            <a:ext cx="5614416" cy="3635333"/>
          </a:xfrm>
          <a:prstGeom prst="rect">
            <a:avLst/>
          </a:prstGeom>
        </p:spPr>
      </p:pic>
      <p:sp>
        <p:nvSpPr>
          <p:cNvPr id="6" name="Rectangle 5"/>
          <p:cNvSpPr/>
          <p:nvPr/>
        </p:nvSpPr>
        <p:spPr>
          <a:xfrm>
            <a:off x="1047565" y="2547891"/>
            <a:ext cx="683581" cy="602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560682" y="2249401"/>
            <a:ext cx="1133131"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vortex</a:t>
            </a:r>
            <a:endParaRPr lang="en-US" b="1" dirty="0">
              <a:latin typeface="Calibri" panose="020F0502020204030204" pitchFamily="34" charset="0"/>
              <a:cs typeface="Calibri" panose="020F0502020204030204" pitchFamily="34" charset="0"/>
            </a:endParaRPr>
          </a:p>
        </p:txBody>
      </p:sp>
      <p:sp>
        <p:nvSpPr>
          <p:cNvPr id="8" name="TextBox 7"/>
          <p:cNvSpPr txBox="1"/>
          <p:nvPr/>
        </p:nvSpPr>
        <p:spPr>
          <a:xfrm>
            <a:off x="7695216" y="2249401"/>
            <a:ext cx="1867884"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Water bath</a:t>
            </a:r>
            <a:endParaRPr lang="en-US" sz="2800" b="1" dirty="0">
              <a:latin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Rot="1" noChangeAspect="1" noMove="1" noResize="1" noEditPoints="1" noAdjustHandles="1" noChangeArrowheads="1" noChangeShapeType="1" noTextEdit="1"/>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1" y="759978"/>
            <a:ext cx="10909640" cy="1065836"/>
          </a:xfrm>
        </p:spPr>
        <p:txBody>
          <a:bodyPr vert="horz" lIns="91440" tIns="45720" rIns="91440" bIns="45720" rtlCol="0" anchor="ctr">
            <a:normAutofit/>
          </a:bodyPr>
          <a:lstStyle/>
          <a:p>
            <a:pPr algn="ctr"/>
            <a:r>
              <a:rPr lang="en-US" sz="4000" dirty="0"/>
              <a:t>Instruments</a:t>
            </a:r>
            <a:endParaRPr lang="en-US" sz="4000" dirty="0"/>
          </a:p>
        </p:txBody>
      </p:sp>
      <p:sp>
        <p:nvSpPr>
          <p:cNvPr id="14" name="Rectangle 6"/>
          <p:cNvSpPr>
            <a:spLocks noGrp="1" noRot="1" noChangeAspect="1" noMove="1" noResize="1" noEditPoints="1" noAdjustHandles="1" noChangeArrowheads="1" noChangeShapeType="1" noTextEdit="1"/>
          </p:cNvSpPr>
          <p:nvPr/>
        </p:nvSpPr>
        <p:spPr>
          <a:xfrm>
            <a:off x="4450080" y="1850683"/>
            <a:ext cx="3291840" cy="27432"/>
          </a:xfrm>
          <a:custGeom>
            <a:avLst/>
            <a:gdLst>
              <a:gd name="connsiteX0" fmla="*/ 0 w 3291840"/>
              <a:gd name="connsiteY0" fmla="*/ 0 h 27432"/>
              <a:gd name="connsiteX1" fmla="*/ 625450 w 3291840"/>
              <a:gd name="connsiteY1" fmla="*/ 0 h 27432"/>
              <a:gd name="connsiteX2" fmla="*/ 1283818 w 3291840"/>
              <a:gd name="connsiteY2" fmla="*/ 0 h 27432"/>
              <a:gd name="connsiteX3" fmla="*/ 1975104 w 3291840"/>
              <a:gd name="connsiteY3" fmla="*/ 0 h 27432"/>
              <a:gd name="connsiteX4" fmla="*/ 2666390 w 3291840"/>
              <a:gd name="connsiteY4" fmla="*/ 0 h 27432"/>
              <a:gd name="connsiteX5" fmla="*/ 3291840 w 3291840"/>
              <a:gd name="connsiteY5" fmla="*/ 0 h 27432"/>
              <a:gd name="connsiteX6" fmla="*/ 3291840 w 3291840"/>
              <a:gd name="connsiteY6" fmla="*/ 27432 h 27432"/>
              <a:gd name="connsiteX7" fmla="*/ 2567635 w 3291840"/>
              <a:gd name="connsiteY7" fmla="*/ 27432 h 27432"/>
              <a:gd name="connsiteX8" fmla="*/ 1843430 w 3291840"/>
              <a:gd name="connsiteY8" fmla="*/ 27432 h 27432"/>
              <a:gd name="connsiteX9" fmla="*/ 1185062 w 3291840"/>
              <a:gd name="connsiteY9" fmla="*/ 27432 h 27432"/>
              <a:gd name="connsiteX10" fmla="*/ 0 w 3291840"/>
              <a:gd name="connsiteY10" fmla="*/ 27432 h 27432"/>
              <a:gd name="connsiteX11" fmla="*/ 0 w 329184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1840" h="27432"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0674" y="7395"/>
                  <a:pt x="3291885" y="21864"/>
                  <a:pt x="3291840" y="27432"/>
                </a:cubicBezTo>
                <a:cubicBezTo>
                  <a:pt x="3043276" y="47012"/>
                  <a:pt x="2921041" y="-3764"/>
                  <a:pt x="2567635" y="27432"/>
                </a:cubicBezTo>
                <a:cubicBezTo>
                  <a:pt x="2214230" y="58628"/>
                  <a:pt x="2189623" y="-3875"/>
                  <a:pt x="1843430" y="27432"/>
                </a:cubicBezTo>
                <a:cubicBezTo>
                  <a:pt x="1497237" y="58739"/>
                  <a:pt x="1492584" y="38324"/>
                  <a:pt x="1185062" y="27432"/>
                </a:cubicBezTo>
                <a:cubicBezTo>
                  <a:pt x="877540" y="16540"/>
                  <a:pt x="313238" y="55587"/>
                  <a:pt x="0" y="27432"/>
                </a:cubicBezTo>
                <a:cubicBezTo>
                  <a:pt x="-503" y="20663"/>
                  <a:pt x="1168" y="5855"/>
                  <a:pt x="0" y="0"/>
                </a:cubicBezTo>
                <a:close/>
              </a:path>
              <a:path w="3291840" h="27432"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2033" y="12649"/>
                  <a:pt x="3290852" y="17989"/>
                  <a:pt x="3291840" y="27432"/>
                </a:cubicBezTo>
                <a:cubicBezTo>
                  <a:pt x="3120474" y="24858"/>
                  <a:pt x="2816568" y="13777"/>
                  <a:pt x="2633472" y="27432"/>
                </a:cubicBezTo>
                <a:cubicBezTo>
                  <a:pt x="2450376" y="41087"/>
                  <a:pt x="2160769" y="46494"/>
                  <a:pt x="1909267" y="27432"/>
                </a:cubicBezTo>
                <a:cubicBezTo>
                  <a:pt x="1657765" y="8370"/>
                  <a:pt x="1623992" y="18792"/>
                  <a:pt x="1349654" y="27432"/>
                </a:cubicBezTo>
                <a:cubicBezTo>
                  <a:pt x="1075316" y="36072"/>
                  <a:pt x="833426" y="43325"/>
                  <a:pt x="691286" y="27432"/>
                </a:cubicBezTo>
                <a:cubicBezTo>
                  <a:pt x="549146" y="11539"/>
                  <a:pt x="342011" y="33345"/>
                  <a:pt x="0" y="27432"/>
                </a:cubicBezTo>
                <a:cubicBezTo>
                  <a:pt x="1300" y="19678"/>
                  <a:pt x="-86" y="12044"/>
                  <a:pt x="0" y="0"/>
                </a:cubicBezTo>
                <a:close/>
              </a:path>
            </a:pathLst>
          </a:custGeom>
          <a:solidFill>
            <a:srgbClr val="7B5C26"/>
          </a:solidFill>
          <a:ln w="38100" cap="rnd">
            <a:solidFill>
              <a:srgbClr val="7B5C2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1"/>
          </p:nvPr>
        </p:nvPicPr>
        <p:blipFill>
          <a:blip r:embed="rId1"/>
          <a:stretch>
            <a:fillRect/>
          </a:stretch>
        </p:blipFill>
        <p:spPr>
          <a:xfrm>
            <a:off x="1179575" y="2464689"/>
            <a:ext cx="4073271" cy="4073271"/>
          </a:xfrm>
          <a:prstGeom prst="rect">
            <a:avLst/>
          </a:prstGeom>
        </p:spPr>
      </p:pic>
      <p:pic>
        <p:nvPicPr>
          <p:cNvPr id="5" name="Picture 4"/>
          <p:cNvPicPr>
            <a:picLocks noChangeAspect="1"/>
          </p:cNvPicPr>
          <p:nvPr/>
        </p:nvPicPr>
        <p:blipFill>
          <a:blip r:embed="rId2"/>
          <a:stretch>
            <a:fillRect/>
          </a:stretch>
        </p:blipFill>
        <p:spPr>
          <a:xfrm>
            <a:off x="6744815" y="2525240"/>
            <a:ext cx="3952168" cy="3952168"/>
          </a:xfrm>
          <a:prstGeom prst="rect">
            <a:avLst/>
          </a:prstGeom>
        </p:spPr>
      </p:pic>
      <p:sp>
        <p:nvSpPr>
          <p:cNvPr id="6" name="TextBox 5"/>
          <p:cNvSpPr txBox="1"/>
          <p:nvPr/>
        </p:nvSpPr>
        <p:spPr>
          <a:xfrm>
            <a:off x="1084326" y="2111243"/>
            <a:ext cx="3607398"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Compound microscope</a:t>
            </a:r>
            <a:endParaRPr lang="en-US" sz="2800" b="1" dirty="0">
              <a:latin typeface="Calibri" panose="020F0502020204030204" pitchFamily="34" charset="0"/>
              <a:cs typeface="Calibri" panose="020F0502020204030204" pitchFamily="34" charset="0"/>
            </a:endParaRPr>
          </a:p>
        </p:txBody>
      </p:sp>
      <p:sp>
        <p:nvSpPr>
          <p:cNvPr id="7" name="TextBox 6"/>
          <p:cNvSpPr txBox="1"/>
          <p:nvPr/>
        </p:nvSpPr>
        <p:spPr>
          <a:xfrm>
            <a:off x="6982121" y="2104676"/>
            <a:ext cx="3477555"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rPr>
              <a:t>Dissecting microscope</a:t>
            </a:r>
            <a:endParaRPr lang="en-US" sz="2800" b="1" dirty="0">
              <a:latin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2914</Words>
  <Application>WPS Presentation</Application>
  <PresentationFormat>Widescreen</PresentationFormat>
  <Paragraphs>106</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Times New Roman</vt:lpstr>
      <vt:lpstr>Calibri</vt:lpstr>
      <vt:lpstr>The Hand</vt:lpstr>
      <vt:lpstr>Segoe Print</vt:lpstr>
      <vt:lpstr>Modern Love</vt:lpstr>
      <vt:lpstr>Microsoft YaHei</vt:lpstr>
      <vt:lpstr>Arial Unicode MS</vt:lpstr>
      <vt:lpstr>SketchyVTI</vt:lpstr>
      <vt:lpstr>PowerPoint 演示文稿</vt:lpstr>
      <vt:lpstr>content</vt:lpstr>
      <vt:lpstr>Definitions</vt:lpstr>
      <vt:lpstr>Definitions</vt:lpstr>
      <vt:lpstr>Definitions</vt:lpstr>
      <vt:lpstr>PowerPoint 演示文稿</vt:lpstr>
      <vt:lpstr>Definitions</vt:lpstr>
      <vt:lpstr>Mendelian laws of inheritence</vt:lpstr>
      <vt:lpstr>Instruments</vt:lpstr>
      <vt:lpstr>Instruments</vt:lpstr>
      <vt:lpstr>Instruments</vt:lpstr>
      <vt:lpstr>Instruments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GHADEER ALSOUKHNI</dc:creator>
  <cp:lastModifiedBy>Lenovo</cp:lastModifiedBy>
  <cp:revision>26</cp:revision>
  <dcterms:created xsi:type="dcterms:W3CDTF">2021-02-19T02:51:00Z</dcterms:created>
  <dcterms:modified xsi:type="dcterms:W3CDTF">2023-07-16T18:08:11Z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8FC87A6825354747ADB82782CAC129C3</vt:lpwstr>
  </property>
  <property fmtid="{D5CDD505-2E9C-101B-9397-08002B2CF9AE}" pid="3" name="KSOProductBuildVer">
    <vt:lpwstr>1033-11.2.0.11537</vt:lpwstr>
  </property>
</Properties>
</file>