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270" r:id="rId5"/>
    <p:sldId id="272" r:id="rId6"/>
    <p:sldId id="331" r:id="rId7"/>
    <p:sldId id="332" r:id="rId8"/>
    <p:sldId id="273" r:id="rId9"/>
    <p:sldId id="286" r:id="rId10"/>
    <p:sldId id="296" r:id="rId11"/>
    <p:sldId id="266" r:id="rId12"/>
    <p:sldId id="257" r:id="rId13"/>
    <p:sldId id="287" r:id="rId14"/>
    <p:sldId id="289" r:id="rId15"/>
    <p:sldId id="290" r:id="rId16"/>
    <p:sldId id="291" r:id="rId17"/>
    <p:sldId id="262" r:id="rId18"/>
    <p:sldId id="264" r:id="rId19"/>
    <p:sldId id="293" r:id="rId20"/>
    <p:sldId id="333" r:id="rId21"/>
    <p:sldId id="275" r:id="rId22"/>
    <p:sldId id="294" r:id="rId23"/>
    <p:sldId id="279" r:id="rId24"/>
    <p:sldId id="282" r:id="rId25"/>
    <p:sldId id="277" r:id="rId26"/>
    <p:sldId id="304" r:id="rId27"/>
    <p:sldId id="327" r:id="rId28"/>
    <p:sldId id="307" r:id="rId29"/>
  </p:sldIdLst>
  <p:sldSz cx="12192000" cy="6858000"/>
  <p:notesSz cx="6858000" cy="9144000"/>
  <p:defaultTextStyle>
    <a:defPPr>
      <a:defRPr lang="ar-J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B097F9-A3BA-4060-BB75-89B130195941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BF55A3-3105-4297-84AB-5F63B66455CC}">
      <dgm:prSet/>
      <dgm:spPr/>
      <dgm:t>
        <a:bodyPr/>
        <a:lstStyle/>
        <a:p>
          <a:r>
            <a:rPr lang="en-US" b="0" i="0" dirty="0"/>
            <a:t>It is a solution of DNA  molecules of different length</a:t>
          </a:r>
          <a:endParaRPr lang="en-US" dirty="0"/>
        </a:p>
      </dgm:t>
    </dgm:pt>
    <dgm:pt modelId="{4A7236C0-ADE4-4484-9ED6-85122882BFA5}" cxnId="{49ADD292-A37B-4A55-AE41-C9651AC2E815}" type="parTrans">
      <dgm:prSet/>
      <dgm:spPr/>
      <dgm:t>
        <a:bodyPr/>
        <a:lstStyle/>
        <a:p>
          <a:endParaRPr lang="en-US"/>
        </a:p>
      </dgm:t>
    </dgm:pt>
    <dgm:pt modelId="{4BAD0951-6825-43C8-917B-87896D25DD12}" cxnId="{49ADD292-A37B-4A55-AE41-C9651AC2E815}" type="sibTrans">
      <dgm:prSet/>
      <dgm:spPr/>
      <dgm:t>
        <a:bodyPr/>
        <a:lstStyle/>
        <a:p>
          <a:endParaRPr lang="en-US"/>
        </a:p>
      </dgm:t>
    </dgm:pt>
    <dgm:pt modelId="{54FA0198-F0D4-4B94-B11C-2D621A149441}">
      <dgm:prSet/>
      <dgm:spPr/>
      <dgm:t>
        <a:bodyPr/>
        <a:lstStyle/>
        <a:p>
          <a:r>
            <a:rPr lang="en-US" b="0" i="0"/>
            <a:t>DNA Ladder consists of	known  DNA sizes used to determine  the size of an unknown DNA  sample.</a:t>
          </a:r>
          <a:endParaRPr lang="en-US"/>
        </a:p>
      </dgm:t>
    </dgm:pt>
    <dgm:pt modelId="{09508C72-E99A-44DF-A4E9-7100DC950A25}" cxnId="{F094237B-7E48-4951-A42D-98AC45BC6003}" type="parTrans">
      <dgm:prSet/>
      <dgm:spPr/>
      <dgm:t>
        <a:bodyPr/>
        <a:lstStyle/>
        <a:p>
          <a:endParaRPr lang="en-US"/>
        </a:p>
      </dgm:t>
    </dgm:pt>
    <dgm:pt modelId="{8EFB984F-4828-47EF-9D21-B011866C17E5}" cxnId="{F094237B-7E48-4951-A42D-98AC45BC6003}" type="sibTrans">
      <dgm:prSet/>
      <dgm:spPr/>
      <dgm:t>
        <a:bodyPr/>
        <a:lstStyle/>
        <a:p>
          <a:endParaRPr lang="en-US"/>
        </a:p>
      </dgm:t>
    </dgm:pt>
    <dgm:pt modelId="{03B12E87-2A48-436A-BE88-5E8E8674278E}">
      <dgm:prSet/>
      <dgm:spPr/>
      <dgm:t>
        <a:bodyPr/>
        <a:lstStyle/>
        <a:p>
          <a:r>
            <a:rPr lang="en-US" b="0" i="0" dirty="0"/>
            <a:t>The DNA ladder	usually  contains regularly spaced sized  samples which when run on an  agarose gel looks like a  "ladder".</a:t>
          </a:r>
          <a:endParaRPr lang="en-US" dirty="0"/>
        </a:p>
      </dgm:t>
    </dgm:pt>
    <dgm:pt modelId="{C90084B5-1591-4DB4-BC4D-365452402772}" cxnId="{6CCC95DA-56B8-4BB3-BFDC-F051FD3D41E2}" type="parTrans">
      <dgm:prSet/>
      <dgm:spPr/>
      <dgm:t>
        <a:bodyPr/>
        <a:lstStyle/>
        <a:p>
          <a:endParaRPr lang="en-US"/>
        </a:p>
      </dgm:t>
    </dgm:pt>
    <dgm:pt modelId="{4CD5AF58-2BBC-4F7E-A4BA-F586402D3584}" cxnId="{6CCC95DA-56B8-4BB3-BFDC-F051FD3D41E2}" type="sibTrans">
      <dgm:prSet/>
      <dgm:spPr/>
      <dgm:t>
        <a:bodyPr/>
        <a:lstStyle/>
        <a:p>
          <a:endParaRPr lang="en-US"/>
        </a:p>
      </dgm:t>
    </dgm:pt>
    <dgm:pt modelId="{55384499-76FD-4F00-98AA-9D7D5DE01140}" type="pres">
      <dgm:prSet presAssocID="{83B097F9-A3BA-4060-BB75-89B130195941}" presName="linear" presStyleCnt="0">
        <dgm:presLayoutVars>
          <dgm:animLvl val="lvl"/>
          <dgm:resizeHandles val="exact"/>
        </dgm:presLayoutVars>
      </dgm:prSet>
      <dgm:spPr/>
    </dgm:pt>
    <dgm:pt modelId="{866FE6CD-C4F0-475C-92D4-C3659833E64A}" type="pres">
      <dgm:prSet presAssocID="{EFBF55A3-3105-4297-84AB-5F63B66455CC}" presName="parentText" presStyleLbl="node1" presStyleIdx="0" presStyleCnt="3" custLinFactY="2191" custLinFactNeighborY="100000">
        <dgm:presLayoutVars>
          <dgm:chMax val="0"/>
          <dgm:bulletEnabled val="1"/>
        </dgm:presLayoutVars>
      </dgm:prSet>
      <dgm:spPr/>
    </dgm:pt>
    <dgm:pt modelId="{EE4864D4-EFA0-4EE7-A822-1330DF86B196}" type="pres">
      <dgm:prSet presAssocID="{4BAD0951-6825-43C8-917B-87896D25DD12}" presName="spacer" presStyleCnt="0"/>
      <dgm:spPr/>
    </dgm:pt>
    <dgm:pt modelId="{89F18076-AF06-49D5-B7AF-73CC71C15E50}" type="pres">
      <dgm:prSet presAssocID="{54FA0198-F0D4-4B94-B11C-2D621A149441}" presName="parentText" presStyleLbl="node1" presStyleIdx="1" presStyleCnt="3" custLinFactNeighborY="95469">
        <dgm:presLayoutVars>
          <dgm:chMax val="0"/>
          <dgm:bulletEnabled val="1"/>
        </dgm:presLayoutVars>
      </dgm:prSet>
      <dgm:spPr/>
    </dgm:pt>
    <dgm:pt modelId="{07D6A0B0-3E4F-41FA-B16B-D53EE6A49E73}" type="pres">
      <dgm:prSet presAssocID="{8EFB984F-4828-47EF-9D21-B011866C17E5}" presName="spacer" presStyleCnt="0"/>
      <dgm:spPr/>
    </dgm:pt>
    <dgm:pt modelId="{B2D4CCC1-8F4B-42D1-AE4F-F7A0FAA0338C}" type="pres">
      <dgm:prSet presAssocID="{03B12E87-2A48-436A-BE88-5E8E8674278E}" presName="parentText" presStyleLbl="node1" presStyleIdx="2" presStyleCnt="3" custLinFactNeighborY="68192">
        <dgm:presLayoutVars>
          <dgm:chMax val="0"/>
          <dgm:bulletEnabled val="1"/>
        </dgm:presLayoutVars>
      </dgm:prSet>
      <dgm:spPr/>
    </dgm:pt>
  </dgm:ptLst>
  <dgm:cxnLst>
    <dgm:cxn modelId="{98ECD707-5233-4291-A071-EA7E663E2F7C}" type="presOf" srcId="{EFBF55A3-3105-4297-84AB-5F63B66455CC}" destId="{866FE6CD-C4F0-475C-92D4-C3659833E64A}" srcOrd="0" destOrd="0" presId="urn:microsoft.com/office/officeart/2005/8/layout/vList2"/>
    <dgm:cxn modelId="{6106DD6A-2711-487F-BF9A-3A69824C6155}" type="presOf" srcId="{83B097F9-A3BA-4060-BB75-89B130195941}" destId="{55384499-76FD-4F00-98AA-9D7D5DE01140}" srcOrd="0" destOrd="0" presId="urn:microsoft.com/office/officeart/2005/8/layout/vList2"/>
    <dgm:cxn modelId="{F094237B-7E48-4951-A42D-98AC45BC6003}" srcId="{83B097F9-A3BA-4060-BB75-89B130195941}" destId="{54FA0198-F0D4-4B94-B11C-2D621A149441}" srcOrd="1" destOrd="0" parTransId="{09508C72-E99A-44DF-A4E9-7100DC950A25}" sibTransId="{8EFB984F-4828-47EF-9D21-B011866C17E5}"/>
    <dgm:cxn modelId="{6C4F5E8D-3B21-4270-BDB0-6BB8B589CF67}" type="presOf" srcId="{54FA0198-F0D4-4B94-B11C-2D621A149441}" destId="{89F18076-AF06-49D5-B7AF-73CC71C15E50}" srcOrd="0" destOrd="0" presId="urn:microsoft.com/office/officeart/2005/8/layout/vList2"/>
    <dgm:cxn modelId="{49ADD292-A37B-4A55-AE41-C9651AC2E815}" srcId="{83B097F9-A3BA-4060-BB75-89B130195941}" destId="{EFBF55A3-3105-4297-84AB-5F63B66455CC}" srcOrd="0" destOrd="0" parTransId="{4A7236C0-ADE4-4484-9ED6-85122882BFA5}" sibTransId="{4BAD0951-6825-43C8-917B-87896D25DD12}"/>
    <dgm:cxn modelId="{6CCC95DA-56B8-4BB3-BFDC-F051FD3D41E2}" srcId="{83B097F9-A3BA-4060-BB75-89B130195941}" destId="{03B12E87-2A48-436A-BE88-5E8E8674278E}" srcOrd="2" destOrd="0" parTransId="{C90084B5-1591-4DB4-BC4D-365452402772}" sibTransId="{4CD5AF58-2BBC-4F7E-A4BA-F586402D3584}"/>
    <dgm:cxn modelId="{288E99E0-9F7E-4569-A557-8E45E0A758AB}" type="presOf" srcId="{03B12E87-2A48-436A-BE88-5E8E8674278E}" destId="{B2D4CCC1-8F4B-42D1-AE4F-F7A0FAA0338C}" srcOrd="0" destOrd="0" presId="urn:microsoft.com/office/officeart/2005/8/layout/vList2"/>
    <dgm:cxn modelId="{3F5EEC58-5D29-4811-A060-C2E8D3E7E05B}" type="presParOf" srcId="{55384499-76FD-4F00-98AA-9D7D5DE01140}" destId="{866FE6CD-C4F0-475C-92D4-C3659833E64A}" srcOrd="0" destOrd="0" presId="urn:microsoft.com/office/officeart/2005/8/layout/vList2"/>
    <dgm:cxn modelId="{867F1280-4D48-4716-A5FB-4E4818278E7C}" type="presParOf" srcId="{55384499-76FD-4F00-98AA-9D7D5DE01140}" destId="{EE4864D4-EFA0-4EE7-A822-1330DF86B196}" srcOrd="1" destOrd="0" presId="urn:microsoft.com/office/officeart/2005/8/layout/vList2"/>
    <dgm:cxn modelId="{933F845E-4E7D-4AD0-92F6-B5E0F83F01B8}" type="presParOf" srcId="{55384499-76FD-4F00-98AA-9D7D5DE01140}" destId="{89F18076-AF06-49D5-B7AF-73CC71C15E50}" srcOrd="2" destOrd="0" presId="urn:microsoft.com/office/officeart/2005/8/layout/vList2"/>
    <dgm:cxn modelId="{45D48951-2D07-4957-95C2-9B97870ADBCD}" type="presParOf" srcId="{55384499-76FD-4F00-98AA-9D7D5DE01140}" destId="{07D6A0B0-3E4F-41FA-B16B-D53EE6A49E73}" srcOrd="3" destOrd="0" presId="urn:microsoft.com/office/officeart/2005/8/layout/vList2"/>
    <dgm:cxn modelId="{94AF8726-E8DB-496B-A9BE-CEE6182A4802}" type="presParOf" srcId="{55384499-76FD-4F00-98AA-9D7D5DE01140}" destId="{B2D4CCC1-8F4B-42D1-AE4F-F7A0FAA033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647878" cy="5250796"/>
        <a:chOff x="0" y="0"/>
        <a:chExt cx="5647878" cy="5250796"/>
      </a:xfrm>
    </dsp:grpSpPr>
    <dsp:sp modelId="{866FE6CD-C4F0-475C-92D4-C3659833E64A}">
      <dsp:nvSpPr>
        <dsp:cNvPr id="3" name="Rounded Rectangle 2"/>
        <dsp:cNvSpPr/>
      </dsp:nvSpPr>
      <dsp:spPr bwMode="white">
        <a:xfrm>
          <a:off x="0" y="610251"/>
          <a:ext cx="5647878" cy="13633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7630" tIns="87630" rIns="87630" bIns="8763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 dirty="0"/>
            <a:t>It is a solution of DNA  molecules of different length</a:t>
          </a:r>
          <a:endParaRPr lang="en-US" dirty="0"/>
        </a:p>
      </dsp:txBody>
      <dsp:txXfrm>
        <a:off x="0" y="610251"/>
        <a:ext cx="5647878" cy="1363345"/>
      </dsp:txXfrm>
    </dsp:sp>
    <dsp:sp modelId="{89F18076-AF06-49D5-B7AF-73CC71C15E50}">
      <dsp:nvSpPr>
        <dsp:cNvPr id="4" name="Rounded Rectangle 3"/>
        <dsp:cNvSpPr/>
      </dsp:nvSpPr>
      <dsp:spPr bwMode="white">
        <a:xfrm>
          <a:off x="0" y="2006964"/>
          <a:ext cx="5647878" cy="13633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7630" tIns="87630" rIns="87630" bIns="8763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/>
            <a:t>DNA Ladder consists of	known  DNA sizes used to determine  the size of an unknown DNA  sample.</a:t>
          </a:r>
          <a:endParaRPr lang="en-US"/>
        </a:p>
      </dsp:txBody>
      <dsp:txXfrm>
        <a:off x="0" y="2006964"/>
        <a:ext cx="5647878" cy="1363345"/>
      </dsp:txXfrm>
    </dsp:sp>
    <dsp:sp modelId="{B2D4CCC1-8F4B-42D1-AE4F-F7A0FAA0338C}">
      <dsp:nvSpPr>
        <dsp:cNvPr id="5" name="Rounded Rectangle 4"/>
        <dsp:cNvSpPr/>
      </dsp:nvSpPr>
      <dsp:spPr bwMode="white">
        <a:xfrm>
          <a:off x="0" y="3418481"/>
          <a:ext cx="5647878" cy="1363345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7630" tIns="87630" rIns="87630" bIns="8763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 dirty="0"/>
            <a:t>The DNA ladder	usually  contains regularly spaced sized  samples which when run on an  agarose gel looks like a  "ladder".</a:t>
          </a:r>
          <a:endParaRPr lang="en-US" dirty="0"/>
        </a:p>
      </dsp:txBody>
      <dsp:txXfrm>
        <a:off x="0" y="3418481"/>
        <a:ext cx="5647878" cy="1363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BCCE1CD-F90C-4F9D-B30F-9C294BCDFE03}" type="datetimeFigureOut">
              <a:rPr lang="ar-JO" smtClean="0"/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C27F725F-21C9-4CD6-A07B-12A743935630}" type="slidenum">
              <a:rPr lang="ar-JO" smtClean="0"/>
            </a:fld>
            <a:endParaRPr 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hyperlink" Target="http://www.agresearch.co.nz/scied/search/help/_electrophoresis.htm" TargetMode="External"/><Relationship Id="rId4" Type="http://schemas.openxmlformats.org/officeDocument/2006/relationships/hyperlink" Target="http://www.agresearch.co.nz/scied/search/help/_buffer.htm" TargetMode="External"/><Relationship Id="rId3" Type="http://schemas.openxmlformats.org/officeDocument/2006/relationships/hyperlink" Target="http://www.agresearch.co.nz/scied/search/help/_ph.ht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A0EEB5-E044-48CE-8CDE-F4BB31468D9A}" type="slidenum">
              <a:rPr lang="en-US" altLang="ar-JO"/>
            </a:fld>
            <a:endParaRPr lang="en-US" altLang="ar-JO"/>
          </a:p>
        </p:txBody>
      </p:sp>
      <p:sp>
        <p:nvSpPr>
          <p:cNvPr id="6553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JO" altLang="ar-J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F4600B-A0A6-4AE2-A079-019765734A7B}" type="slidenum">
              <a:rPr lang="en-US" altLang="en-US" sz="1200"/>
            </a:fld>
            <a:endParaRPr lang="en-US" altLang="en-US" sz="1200"/>
          </a:p>
        </p:txBody>
      </p:sp>
      <p:sp>
        <p:nvSpPr>
          <p:cNvPr id="7171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B1DBB0-9D4E-44CE-A679-B2D63A3AE0C9}" type="slidenum">
              <a:rPr lang="en-US" altLang="en-US" sz="1200"/>
            </a:fld>
            <a:endParaRPr lang="en-US" altLang="en-US" sz="1200"/>
          </a:p>
        </p:txBody>
      </p:sp>
      <p:sp>
        <p:nvSpPr>
          <p:cNvPr id="9219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2A1EDB-DA8B-46EE-B45B-A6E58B8F49E8}" type="slidenum">
              <a:rPr lang="en-US" altLang="ar-JO"/>
            </a:fld>
            <a:endParaRPr lang="en-US" altLang="ar-JO"/>
          </a:p>
        </p:txBody>
      </p:sp>
      <p:sp>
        <p:nvSpPr>
          <p:cNvPr id="6656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JO" altLang="ar-J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E45387-9FCF-4B68-9535-29241DE750BA}" type="slidenum">
              <a:rPr lang="en-US" altLang="en-US" sz="1200"/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5AA605-5D07-4683-96EB-603CD1D255CE}" type="slidenum">
              <a:rPr lang="en-US" altLang="ar-JO"/>
            </a:fld>
            <a:endParaRPr lang="en-US" altLang="ar-JO"/>
          </a:p>
        </p:txBody>
      </p:sp>
      <p:sp>
        <p:nvSpPr>
          <p:cNvPr id="6758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ar-JO">
                <a:latin typeface="Arial" panose="020B0604020202020204" pitchFamily="34" charset="0"/>
              </a:rPr>
              <a:t>A buffer is a chemical system that maintains a relatively constant </a:t>
            </a:r>
            <a:r>
              <a:rPr lang="en-US" altLang="ar-JO">
                <a:latin typeface="Arial" panose="020B0604020202020204" pitchFamily="34" charset="0"/>
                <a:hlinkClick r:id="rId3"/>
              </a:rPr>
              <a:t>pH</a:t>
            </a:r>
            <a:r>
              <a:rPr lang="en-US" altLang="ar-JO">
                <a:latin typeface="Arial" panose="020B0604020202020204" pitchFamily="34" charset="0"/>
              </a:rPr>
              <a:t> even when strong acids or bases are added. Buffer solutions contain either a weak acid or weak base and one of their salts. Because a change in pH can alter the charge on a particle, it is important to use a </a:t>
            </a:r>
            <a:r>
              <a:rPr lang="en-US" altLang="ar-JO">
                <a:latin typeface="Arial" panose="020B0604020202020204" pitchFamily="34" charset="0"/>
                <a:hlinkClick r:id="rId4"/>
              </a:rPr>
              <a:t>buffer</a:t>
            </a:r>
            <a:r>
              <a:rPr lang="en-US" altLang="ar-JO">
                <a:latin typeface="Arial" panose="020B0604020202020204" pitchFamily="34" charset="0"/>
              </a:rPr>
              <a:t> solution when separating during </a:t>
            </a:r>
            <a:r>
              <a:rPr lang="en-US" altLang="ar-JO">
                <a:latin typeface="Arial" panose="020B0604020202020204" pitchFamily="34" charset="0"/>
                <a:hlinkClick r:id="rId5"/>
              </a:rPr>
              <a:t>electrophoresis</a:t>
            </a:r>
            <a:r>
              <a:rPr lang="en-US" altLang="ar-JO">
                <a:latin typeface="Arial" panose="020B0604020202020204" pitchFamily="34" charset="0"/>
              </a:rPr>
              <a:t>.</a:t>
            </a:r>
            <a:endParaRPr lang="en-US" altLang="ar-J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BA5037-49AB-4E98-962B-1309BD708FF9}" type="slidenum">
              <a:rPr lang="en-US" altLang="ar-JO"/>
            </a:fld>
            <a:endParaRPr lang="en-US" altLang="ar-JO"/>
          </a:p>
        </p:txBody>
      </p:sp>
      <p:sp>
        <p:nvSpPr>
          <p:cNvPr id="6861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JO" altLang="ar-J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30618DD-66E4-4CA2-9177-E171F76E3489}" type="slidenum">
              <a:rPr lang="en-US" altLang="en-US" sz="1200"/>
            </a:fld>
            <a:endParaRPr lang="en-US" altLang="en-US" sz="1200"/>
          </a:p>
        </p:txBody>
      </p:sp>
      <p:sp>
        <p:nvSpPr>
          <p:cNvPr id="17411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D30AA9-52D9-435A-A428-FD0C6983EDD7}" type="slidenum">
              <a:rPr lang="en-US" altLang="en-US" sz="1200"/>
            </a:fld>
            <a:endParaRPr lang="en-US" altLang="en-US" sz="1200"/>
          </a:p>
        </p:txBody>
      </p:sp>
      <p:sp>
        <p:nvSpPr>
          <p:cNvPr id="27651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J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DC093-3A9C-4D9E-9E57-2B97D8B103B8}" type="slidenum">
              <a:rPr lang="en-US" altLang="ar-JO"/>
            </a:fld>
            <a:endParaRPr lang="en-US" altLang="ar-J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FE933-3101-47B8-AB81-DD9C6B523BE6}" type="datetimeFigureOut">
              <a:rPr lang="ar-JO" smtClean="0"/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A32AD-D007-43D0-A7FD-247AE23A59E4}" type="slidenum">
              <a:rPr lang="ar-JO" smtClean="0"/>
            </a:fld>
            <a:endParaRPr 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J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00605" y="3781976"/>
            <a:ext cx="7772400" cy="2286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latin typeface="Andalus" panose="02020603050405020304" pitchFamily="18" charset="-78"/>
                <a:cs typeface="Andalus" panose="02020603050405020304" pitchFamily="18" charset="-78"/>
              </a:rPr>
              <a:t>Horizontal </a:t>
            </a:r>
            <a:br>
              <a:rPr lang="en-US" b="1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en-US" b="1" dirty="0">
                <a:latin typeface="Andalus" panose="02020603050405020304" pitchFamily="18" charset="-78"/>
                <a:cs typeface="Andalus" panose="02020603050405020304" pitchFamily="18" charset="-78"/>
              </a:rPr>
              <a:t>Gel Electrophoresis</a:t>
            </a:r>
            <a:endParaRPr lang="en-US" b="1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981835" y="1804035"/>
            <a:ext cx="7482840" cy="1344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  <a:effectLst/>
                <a:latin typeface="Tahoma" panose="020B0604030504040204" charset="0"/>
              </a:rPr>
              <a:t>MOLECULAR GENETICS LABORATORY</a:t>
            </a:r>
            <a:br>
              <a:rPr lang="en-US" sz="2000" dirty="0">
                <a:solidFill>
                  <a:schemeClr val="tx1"/>
                </a:solidFill>
                <a:effectLst/>
                <a:latin typeface="Tahoma" panose="020B0604030504040204" charset="0"/>
              </a:rPr>
            </a:br>
            <a:r>
              <a:rPr lang="en-US" sz="2000" dirty="0">
                <a:solidFill>
                  <a:schemeClr val="tx1"/>
                </a:solidFill>
                <a:effectLst/>
                <a:latin typeface="Tahoma" panose="020B0604030504040204" charset="0"/>
              </a:rPr>
              <a:t>BT344</a:t>
            </a:r>
            <a:br>
              <a:rPr lang="en-US" sz="2000" dirty="0">
                <a:solidFill>
                  <a:schemeClr val="tx1"/>
                </a:solidFill>
                <a:effectLst/>
                <a:latin typeface="Tahoma" panose="020B0604030504040204" charset="0"/>
              </a:rPr>
            </a:br>
            <a:r>
              <a:rPr lang="en-US" sz="2000">
                <a:solidFill>
                  <a:schemeClr val="tx1"/>
                </a:solidFill>
                <a:effectLst/>
                <a:latin typeface="Tahoma" panose="020B0604030504040204" charset="0"/>
              </a:rPr>
              <a:t>Experiment (3)</a:t>
            </a:r>
            <a:endParaRPr lang="en-US" sz="2000" dirty="0">
              <a:solidFill>
                <a:schemeClr val="tx1"/>
              </a:solidFill>
              <a:effectLst/>
              <a:latin typeface="Tahoma" panose="020B0604030504040204" charset="0"/>
            </a:endParaRPr>
          </a:p>
        </p:txBody>
      </p:sp>
      <p:pic>
        <p:nvPicPr>
          <p:cNvPr id="5" name="Picture 4" descr="A picture containing text, outdoor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885" y="166370"/>
            <a:ext cx="1856105" cy="1383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89349" y="951876"/>
            <a:ext cx="9968459" cy="5668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sz="3200" b="1" kern="0" dirty="0"/>
              <a:t>Agarose </a:t>
            </a:r>
            <a:r>
              <a:rPr lang="en-US" altLang="zh-CN" sz="3200" kern="0" dirty="0"/>
              <a:t>gel electrophoresis is a method to separate DNA, or RNA molecules by size. </a:t>
            </a:r>
            <a:endParaRPr lang="en-US" altLang="zh-CN" sz="3200" kern="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altLang="zh-CN" sz="3200" kern="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sz="3200" kern="0" dirty="0"/>
              <a:t>This is achieved by moving negatively charged nucleic acid molecules through an agarose matrix with an electric field (electrophoresis). </a:t>
            </a:r>
            <a:endParaRPr lang="en-US" altLang="zh-CN" sz="3200" kern="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altLang="zh-CN" sz="3200" kern="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sz="3200" kern="0" dirty="0"/>
              <a:t>Shorter molecules move faster and migrate farther than longer ones .</a:t>
            </a:r>
            <a:endParaRPr lang="en-US" altLang="zh-CN" sz="3200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1121139" y="1034322"/>
            <a:ext cx="9949721" cy="434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3200" kern="0"/>
              <a:t>Electrophoresis is the movement of molecules by an electric current.</a:t>
            </a:r>
            <a:endParaRPr lang="en-US" sz="3200" kern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3200" kern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3200" kern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3200" kern="0"/>
              <a:t>Nucleic acid moves from a negative to a positive pole.</a:t>
            </a:r>
            <a:endParaRPr lang="en-US" sz="3200" kern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3200" kern="0"/>
          </a:p>
        </p:txBody>
      </p:sp>
      <p:grpSp>
        <p:nvGrpSpPr>
          <p:cNvPr id="14339" name="Group 6"/>
          <p:cNvGrpSpPr/>
          <p:nvPr/>
        </p:nvGrpSpPr>
        <p:grpSpPr bwMode="auto">
          <a:xfrm>
            <a:off x="1959341" y="5471386"/>
            <a:ext cx="6513861" cy="439737"/>
            <a:chOff x="864" y="2256"/>
            <a:chExt cx="3331" cy="277"/>
          </a:xfrm>
        </p:grpSpPr>
        <p:sp>
          <p:nvSpPr>
            <p:cNvPr id="14340" name="Line 7"/>
            <p:cNvSpPr>
              <a:spLocks noChangeShapeType="1"/>
            </p:cNvSpPr>
            <p:nvPr/>
          </p:nvSpPr>
          <p:spPr bwMode="auto">
            <a:xfrm>
              <a:off x="3938" y="2400"/>
              <a:ext cx="25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ar-JO"/>
            </a:p>
          </p:txBody>
        </p:sp>
        <p:grpSp>
          <p:nvGrpSpPr>
            <p:cNvPr id="14341" name="Group 8"/>
            <p:cNvGrpSpPr/>
            <p:nvPr/>
          </p:nvGrpSpPr>
          <p:grpSpPr bwMode="auto">
            <a:xfrm>
              <a:off x="864" y="2256"/>
              <a:ext cx="3202" cy="277"/>
              <a:chOff x="864" y="1876"/>
              <a:chExt cx="3202" cy="277"/>
            </a:xfrm>
          </p:grpSpPr>
          <p:sp>
            <p:nvSpPr>
              <p:cNvPr id="14342" name="Line 9"/>
              <p:cNvSpPr>
                <a:spLocks noChangeShapeType="1"/>
              </p:cNvSpPr>
              <p:nvPr/>
            </p:nvSpPr>
            <p:spPr bwMode="auto">
              <a:xfrm flipV="1">
                <a:off x="4066" y="1876"/>
                <a:ext cx="0" cy="277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ar-JO"/>
              </a:p>
            </p:txBody>
          </p:sp>
          <p:grpSp>
            <p:nvGrpSpPr>
              <p:cNvPr id="14343" name="Group 10"/>
              <p:cNvGrpSpPr/>
              <p:nvPr/>
            </p:nvGrpSpPr>
            <p:grpSpPr bwMode="auto">
              <a:xfrm>
                <a:off x="864" y="2016"/>
                <a:ext cx="2592" cy="0"/>
                <a:chOff x="864" y="2016"/>
                <a:chExt cx="2592" cy="0"/>
              </a:xfrm>
            </p:grpSpPr>
            <p:sp>
              <p:nvSpPr>
                <p:cNvPr id="14344" name="Line 11"/>
                <p:cNvSpPr>
                  <a:spLocks noChangeShapeType="1"/>
                </p:cNvSpPr>
                <p:nvPr/>
              </p:nvSpPr>
              <p:spPr bwMode="auto">
                <a:xfrm>
                  <a:off x="864" y="2016"/>
                  <a:ext cx="257" cy="0"/>
                </a:xfrm>
                <a:prstGeom prst="line">
                  <a:avLst/>
                </a:prstGeom>
                <a:noFill/>
                <a:ln w="38100">
                  <a:solidFill>
                    <a:srgbClr val="FFC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ar-JO"/>
                </a:p>
              </p:txBody>
            </p:sp>
            <p:sp>
              <p:nvSpPr>
                <p:cNvPr id="14345" name="Line 12"/>
                <p:cNvSpPr>
                  <a:spLocks noChangeShapeType="1"/>
                </p:cNvSpPr>
                <p:nvPr/>
              </p:nvSpPr>
              <p:spPr bwMode="auto">
                <a:xfrm>
                  <a:off x="1872" y="2016"/>
                  <a:ext cx="1584" cy="0"/>
                </a:xfrm>
                <a:prstGeom prst="line">
                  <a:avLst/>
                </a:prstGeom>
                <a:noFill/>
                <a:ln w="38100">
                  <a:solidFill>
                    <a:srgbClr val="00B05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ar-JO"/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4"/>
          <p:cNvSpPr txBox="1">
            <a:spLocks noChangeArrowheads="1"/>
          </p:cNvSpPr>
          <p:nvPr/>
        </p:nvSpPr>
        <p:spPr bwMode="auto">
          <a:xfrm>
            <a:off x="930639" y="674690"/>
            <a:ext cx="110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dirty="0"/>
              <a:t>• DNA is negatively charged.  </a:t>
            </a:r>
            <a:endParaRPr lang="en-US" altLang="en-US" sz="2400" dirty="0"/>
          </a:p>
        </p:txBody>
      </p:sp>
      <p:grpSp>
        <p:nvGrpSpPr>
          <p:cNvPr id="6147" name="Group 41"/>
          <p:cNvGrpSpPr/>
          <p:nvPr/>
        </p:nvGrpSpPr>
        <p:grpSpPr bwMode="auto">
          <a:xfrm>
            <a:off x="930639" y="2603500"/>
            <a:ext cx="9472210" cy="3378200"/>
            <a:chOff x="240" y="1680"/>
            <a:chExt cx="4608" cy="2128"/>
          </a:xfrm>
        </p:grpSpPr>
        <p:grpSp>
          <p:nvGrpSpPr>
            <p:cNvPr id="6159" name="Group 25"/>
            <p:cNvGrpSpPr/>
            <p:nvPr/>
          </p:nvGrpSpPr>
          <p:grpSpPr bwMode="auto">
            <a:xfrm>
              <a:off x="1296" y="1824"/>
              <a:ext cx="3216" cy="672"/>
              <a:chOff x="1392" y="1968"/>
              <a:chExt cx="3216" cy="672"/>
            </a:xfrm>
          </p:grpSpPr>
          <p:sp>
            <p:nvSpPr>
              <p:cNvPr id="6167" name="Rectangle 6"/>
              <p:cNvSpPr>
                <a:spLocks noChangeArrowheads="1"/>
              </p:cNvSpPr>
              <p:nvPr/>
            </p:nvSpPr>
            <p:spPr bwMode="auto">
              <a:xfrm>
                <a:off x="1392" y="2064"/>
                <a:ext cx="3216" cy="5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6168" name="Line 3"/>
              <p:cNvSpPr>
                <a:spLocks noChangeShapeType="1"/>
              </p:cNvSpPr>
              <p:nvPr/>
            </p:nvSpPr>
            <p:spPr bwMode="auto">
              <a:xfrm>
                <a:off x="1392" y="1968"/>
                <a:ext cx="0" cy="67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ar-JO"/>
              </a:p>
            </p:txBody>
          </p:sp>
          <p:sp>
            <p:nvSpPr>
              <p:cNvPr id="6169" name="Line 4"/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67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ar-JO"/>
              </a:p>
            </p:txBody>
          </p:sp>
          <p:sp>
            <p:nvSpPr>
              <p:cNvPr id="6170" name="Line 5"/>
              <p:cNvSpPr>
                <a:spLocks noChangeShapeType="1"/>
              </p:cNvSpPr>
              <p:nvPr/>
            </p:nvSpPr>
            <p:spPr bwMode="auto">
              <a:xfrm>
                <a:off x="1392" y="2631"/>
                <a:ext cx="3216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ar-JO"/>
              </a:p>
            </p:txBody>
          </p:sp>
        </p:grpSp>
        <p:sp>
          <p:nvSpPr>
            <p:cNvPr id="6160" name="Line 7"/>
            <p:cNvSpPr>
              <a:spLocks noChangeShapeType="1"/>
            </p:cNvSpPr>
            <p:nvPr/>
          </p:nvSpPr>
          <p:spPr bwMode="auto">
            <a:xfrm>
              <a:off x="1440" y="1888"/>
              <a:ext cx="0" cy="46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6161" name="Text Box 9"/>
            <p:cNvSpPr txBox="1">
              <a:spLocks noChangeArrowheads="1"/>
            </p:cNvSpPr>
            <p:nvPr/>
          </p:nvSpPr>
          <p:spPr bwMode="auto">
            <a:xfrm>
              <a:off x="4246" y="2400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/>
                <a:t>+</a:t>
              </a:r>
              <a:endParaRPr lang="en-US" altLang="en-US" sz="2400"/>
            </a:p>
          </p:txBody>
        </p:sp>
        <p:sp>
          <p:nvSpPr>
            <p:cNvPr id="6162" name="Text Box 10"/>
            <p:cNvSpPr txBox="1">
              <a:spLocks noChangeArrowheads="1"/>
            </p:cNvSpPr>
            <p:nvPr/>
          </p:nvSpPr>
          <p:spPr bwMode="auto">
            <a:xfrm>
              <a:off x="1335" y="2400"/>
              <a:ext cx="2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/>
                <a:t>-</a:t>
              </a:r>
              <a:endParaRPr lang="en-US" altLang="en-US" sz="2400"/>
            </a:p>
          </p:txBody>
        </p:sp>
        <p:sp>
          <p:nvSpPr>
            <p:cNvPr id="6163" name="Freeform 11"/>
            <p:cNvSpPr/>
            <p:nvPr/>
          </p:nvSpPr>
          <p:spPr bwMode="auto">
            <a:xfrm>
              <a:off x="368" y="1776"/>
              <a:ext cx="1072" cy="1712"/>
            </a:xfrm>
            <a:custGeom>
              <a:avLst/>
              <a:gdLst>
                <a:gd name="T0" fmla="*/ 1072 w 1072"/>
                <a:gd name="T1" fmla="*/ 112 h 1712"/>
                <a:gd name="T2" fmla="*/ 976 w 1072"/>
                <a:gd name="T3" fmla="*/ 16 h 1712"/>
                <a:gd name="T4" fmla="*/ 736 w 1072"/>
                <a:gd name="T5" fmla="*/ 64 h 1712"/>
                <a:gd name="T6" fmla="*/ 400 w 1072"/>
                <a:gd name="T7" fmla="*/ 400 h 1712"/>
                <a:gd name="T8" fmla="*/ 64 w 1072"/>
                <a:gd name="T9" fmla="*/ 1504 h 1712"/>
                <a:gd name="T10" fmla="*/ 16 w 1072"/>
                <a:gd name="T11" fmla="*/ 1648 h 17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72" h="1712">
                  <a:moveTo>
                    <a:pt x="1072" y="112"/>
                  </a:moveTo>
                  <a:cubicBezTo>
                    <a:pt x="1052" y="68"/>
                    <a:pt x="1032" y="24"/>
                    <a:pt x="976" y="16"/>
                  </a:cubicBezTo>
                  <a:cubicBezTo>
                    <a:pt x="920" y="8"/>
                    <a:pt x="832" y="0"/>
                    <a:pt x="736" y="64"/>
                  </a:cubicBezTo>
                  <a:cubicBezTo>
                    <a:pt x="640" y="128"/>
                    <a:pt x="512" y="160"/>
                    <a:pt x="400" y="400"/>
                  </a:cubicBezTo>
                  <a:cubicBezTo>
                    <a:pt x="288" y="640"/>
                    <a:pt x="128" y="1296"/>
                    <a:pt x="64" y="1504"/>
                  </a:cubicBezTo>
                  <a:cubicBezTo>
                    <a:pt x="0" y="1712"/>
                    <a:pt x="8" y="1680"/>
                    <a:pt x="16" y="164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6164" name="Freeform 12"/>
            <p:cNvSpPr/>
            <p:nvPr/>
          </p:nvSpPr>
          <p:spPr bwMode="auto">
            <a:xfrm>
              <a:off x="720" y="1680"/>
              <a:ext cx="4128" cy="1744"/>
            </a:xfrm>
            <a:custGeom>
              <a:avLst/>
              <a:gdLst>
                <a:gd name="T0" fmla="*/ 3656 w 4128"/>
                <a:gd name="T1" fmla="*/ 208 h 1744"/>
                <a:gd name="T2" fmla="*/ 3704 w 4128"/>
                <a:gd name="T3" fmla="*/ 64 h 1744"/>
                <a:gd name="T4" fmla="*/ 3800 w 4128"/>
                <a:gd name="T5" fmla="*/ 16 h 1744"/>
                <a:gd name="T6" fmla="*/ 3944 w 4128"/>
                <a:gd name="T7" fmla="*/ 112 h 1744"/>
                <a:gd name="T8" fmla="*/ 4040 w 4128"/>
                <a:gd name="T9" fmla="*/ 688 h 1744"/>
                <a:gd name="T10" fmla="*/ 3992 w 4128"/>
                <a:gd name="T11" fmla="*/ 1216 h 1744"/>
                <a:gd name="T12" fmla="*/ 3224 w 4128"/>
                <a:gd name="T13" fmla="*/ 1552 h 1744"/>
                <a:gd name="T14" fmla="*/ 1256 w 4128"/>
                <a:gd name="T15" fmla="*/ 1696 h 1744"/>
                <a:gd name="T16" fmla="*/ 200 w 4128"/>
                <a:gd name="T17" fmla="*/ 1696 h 1744"/>
                <a:gd name="T18" fmla="*/ 56 w 4128"/>
                <a:gd name="T19" fmla="*/ 1744 h 17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8" h="1744">
                  <a:moveTo>
                    <a:pt x="3656" y="208"/>
                  </a:moveTo>
                  <a:cubicBezTo>
                    <a:pt x="3668" y="152"/>
                    <a:pt x="3680" y="96"/>
                    <a:pt x="3704" y="64"/>
                  </a:cubicBezTo>
                  <a:cubicBezTo>
                    <a:pt x="3728" y="32"/>
                    <a:pt x="3760" y="8"/>
                    <a:pt x="3800" y="16"/>
                  </a:cubicBezTo>
                  <a:cubicBezTo>
                    <a:pt x="3840" y="24"/>
                    <a:pt x="3904" y="0"/>
                    <a:pt x="3944" y="112"/>
                  </a:cubicBezTo>
                  <a:cubicBezTo>
                    <a:pt x="3984" y="224"/>
                    <a:pt x="4032" y="504"/>
                    <a:pt x="4040" y="688"/>
                  </a:cubicBezTo>
                  <a:cubicBezTo>
                    <a:pt x="4048" y="872"/>
                    <a:pt x="4128" y="1072"/>
                    <a:pt x="3992" y="1216"/>
                  </a:cubicBezTo>
                  <a:cubicBezTo>
                    <a:pt x="3856" y="1360"/>
                    <a:pt x="3680" y="1472"/>
                    <a:pt x="3224" y="1552"/>
                  </a:cubicBezTo>
                  <a:cubicBezTo>
                    <a:pt x="2768" y="1632"/>
                    <a:pt x="1760" y="1672"/>
                    <a:pt x="1256" y="1696"/>
                  </a:cubicBezTo>
                  <a:cubicBezTo>
                    <a:pt x="752" y="1720"/>
                    <a:pt x="400" y="1688"/>
                    <a:pt x="200" y="1696"/>
                  </a:cubicBezTo>
                  <a:cubicBezTo>
                    <a:pt x="0" y="1704"/>
                    <a:pt x="80" y="1736"/>
                    <a:pt x="56" y="1744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6165" name="Rectangle 13"/>
            <p:cNvSpPr>
              <a:spLocks noChangeArrowheads="1"/>
            </p:cNvSpPr>
            <p:nvPr/>
          </p:nvSpPr>
          <p:spPr bwMode="auto">
            <a:xfrm>
              <a:off x="240" y="3424"/>
              <a:ext cx="576" cy="3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/>
                <a:t>Power</a:t>
              </a:r>
              <a:endParaRPr lang="en-US" altLang="en-US" sz="2400"/>
            </a:p>
          </p:txBody>
        </p:sp>
        <p:sp>
          <p:nvSpPr>
            <p:cNvPr id="6166" name="Line 38"/>
            <p:cNvSpPr>
              <a:spLocks noChangeShapeType="1"/>
            </p:cNvSpPr>
            <p:nvPr/>
          </p:nvSpPr>
          <p:spPr bwMode="auto">
            <a:xfrm>
              <a:off x="4387" y="1872"/>
              <a:ext cx="0" cy="46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</p:grpSp>
      <p:grpSp>
        <p:nvGrpSpPr>
          <p:cNvPr id="6148" name="Group 43"/>
          <p:cNvGrpSpPr/>
          <p:nvPr/>
        </p:nvGrpSpPr>
        <p:grpSpPr bwMode="auto">
          <a:xfrm>
            <a:off x="893496" y="1109664"/>
            <a:ext cx="10972799" cy="2489199"/>
            <a:chOff x="211" y="739"/>
            <a:chExt cx="5338" cy="1568"/>
          </a:xfrm>
        </p:grpSpPr>
        <p:sp>
          <p:nvSpPr>
            <p:cNvPr id="6157" name="Text Box 37"/>
            <p:cNvSpPr txBox="1">
              <a:spLocks noChangeArrowheads="1"/>
            </p:cNvSpPr>
            <p:nvPr/>
          </p:nvSpPr>
          <p:spPr bwMode="auto">
            <a:xfrm>
              <a:off x="2592" y="2016"/>
              <a:ext cx="7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DNA</a:t>
              </a:r>
              <a:r>
                <a:rPr lang="en-US" altLang="en-US" sz="2400" b="1">
                  <a:sym typeface="Wingdings" panose="05000000000000000000" pitchFamily="2" charset="2"/>
                </a:rPr>
                <a:t></a:t>
              </a:r>
              <a:endParaRPr lang="en-US" altLang="en-US" sz="2400" b="1"/>
            </a:p>
          </p:txBody>
        </p:sp>
        <p:sp>
          <p:nvSpPr>
            <p:cNvPr id="6158" name="Text Box 42"/>
            <p:cNvSpPr txBox="1">
              <a:spLocks noChangeArrowheads="1"/>
            </p:cNvSpPr>
            <p:nvPr/>
          </p:nvSpPr>
          <p:spPr bwMode="auto">
            <a:xfrm>
              <a:off x="211" y="739"/>
              <a:ext cx="53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/>
                <a:t>• When placed in an electrical field, DNA will migrate toward the positive  </a:t>
              </a:r>
              <a:endParaRPr lang="en-US" altLang="en-US" sz="20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/>
                <a:t>  pole (anode).</a:t>
              </a:r>
              <a:endParaRPr lang="en-US" altLang="en-US" sz="2000" dirty="0"/>
            </a:p>
          </p:txBody>
        </p:sp>
      </p:grpSp>
      <p:grpSp>
        <p:nvGrpSpPr>
          <p:cNvPr id="65595" name="Group 59"/>
          <p:cNvGrpSpPr/>
          <p:nvPr/>
        </p:nvGrpSpPr>
        <p:grpSpPr bwMode="auto">
          <a:xfrm>
            <a:off x="3902438" y="3136900"/>
            <a:ext cx="3157403" cy="609600"/>
            <a:chOff x="2112" y="2016"/>
            <a:chExt cx="1536" cy="384"/>
          </a:xfrm>
        </p:grpSpPr>
        <p:sp>
          <p:nvSpPr>
            <p:cNvPr id="6154" name="AutoShape 53"/>
            <p:cNvSpPr>
              <a:spLocks noChangeArrowheads="1"/>
            </p:cNvSpPr>
            <p:nvPr/>
          </p:nvSpPr>
          <p:spPr bwMode="auto">
            <a:xfrm>
              <a:off x="2112" y="2016"/>
              <a:ext cx="1536" cy="384"/>
            </a:xfrm>
            <a:prstGeom prst="cube">
              <a:avLst>
                <a:gd name="adj" fmla="val 58931"/>
              </a:avLst>
            </a:prstGeom>
            <a:solidFill>
              <a:schemeClr val="bg2">
                <a:alpha val="61176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155" name="AutoShape 54"/>
            <p:cNvSpPr>
              <a:spLocks noChangeArrowheads="1"/>
            </p:cNvSpPr>
            <p:nvPr/>
          </p:nvSpPr>
          <p:spPr bwMode="auto">
            <a:xfrm>
              <a:off x="2413" y="2043"/>
              <a:ext cx="100" cy="83"/>
            </a:xfrm>
            <a:prstGeom prst="cube">
              <a:avLst>
                <a:gd name="adj" fmla="val 47222"/>
              </a:avLst>
            </a:prstGeom>
            <a:solidFill>
              <a:srgbClr val="0000FF">
                <a:alpha val="61176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156" name="AutoShape 55"/>
            <p:cNvSpPr>
              <a:spLocks noChangeArrowheads="1"/>
            </p:cNvSpPr>
            <p:nvPr/>
          </p:nvSpPr>
          <p:spPr bwMode="auto">
            <a:xfrm>
              <a:off x="2291" y="2142"/>
              <a:ext cx="101" cy="82"/>
            </a:xfrm>
            <a:prstGeom prst="cube">
              <a:avLst>
                <a:gd name="adj" fmla="val 47222"/>
              </a:avLst>
            </a:prstGeom>
            <a:solidFill>
              <a:srgbClr val="0000FF">
                <a:alpha val="61176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65594" name="Group 58"/>
          <p:cNvGrpSpPr/>
          <p:nvPr/>
        </p:nvGrpSpPr>
        <p:grpSpPr bwMode="auto">
          <a:xfrm>
            <a:off x="3940539" y="5105400"/>
            <a:ext cx="7202826" cy="1752600"/>
            <a:chOff x="2208" y="3216"/>
            <a:chExt cx="3504" cy="1104"/>
          </a:xfrm>
        </p:grpSpPr>
        <p:sp>
          <p:nvSpPr>
            <p:cNvPr id="6151" name="Text Box 35"/>
            <p:cNvSpPr txBox="1">
              <a:spLocks noChangeArrowheads="1"/>
            </p:cNvSpPr>
            <p:nvPr/>
          </p:nvSpPr>
          <p:spPr bwMode="auto">
            <a:xfrm>
              <a:off x="4352" y="4032"/>
              <a:ext cx="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ym typeface="Wingdings" panose="05000000000000000000" pitchFamily="2" charset="2"/>
                </a:rPr>
                <a:t></a:t>
              </a:r>
              <a:endParaRPr lang="en-US" altLang="en-US" sz="2400"/>
            </a:p>
          </p:txBody>
        </p:sp>
        <p:sp>
          <p:nvSpPr>
            <p:cNvPr id="6152" name="Text Box 50"/>
            <p:cNvSpPr txBox="1">
              <a:spLocks noChangeArrowheads="1"/>
            </p:cNvSpPr>
            <p:nvPr/>
          </p:nvSpPr>
          <p:spPr bwMode="auto">
            <a:xfrm>
              <a:off x="2208" y="3449"/>
              <a:ext cx="2544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800"/>
                <a:t>• Polymerized agarose is porous, </a:t>
              </a:r>
              <a:endParaRPr lang="en-US" altLang="en-US" sz="1800"/>
            </a:p>
            <a:p>
              <a:pPr eaLnBrk="1" hangingPunct="1">
                <a:buFontTx/>
                <a:buNone/>
              </a:pPr>
              <a:r>
                <a:rPr lang="en-US" altLang="en-US" sz="1800"/>
                <a:t>  allowing for the movement of DNA</a:t>
              </a:r>
              <a:endParaRPr lang="en-US" altLang="en-US" sz="1600"/>
            </a:p>
          </p:txBody>
        </p:sp>
        <p:pic>
          <p:nvPicPr>
            <p:cNvPr id="6153" name="Picture 57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2" y="3216"/>
              <a:ext cx="1020" cy="1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80"/>
          <p:cNvGrpSpPr/>
          <p:nvPr/>
        </p:nvGrpSpPr>
        <p:grpSpPr bwMode="auto">
          <a:xfrm>
            <a:off x="2999281" y="3155430"/>
            <a:ext cx="6083639" cy="1676400"/>
            <a:chOff x="1392" y="1968"/>
            <a:chExt cx="3216" cy="672"/>
          </a:xfrm>
        </p:grpSpPr>
        <p:sp>
          <p:nvSpPr>
            <p:cNvPr id="8222" name="Rectangle 81"/>
            <p:cNvSpPr>
              <a:spLocks noChangeArrowheads="1"/>
            </p:cNvSpPr>
            <p:nvPr/>
          </p:nvSpPr>
          <p:spPr bwMode="auto">
            <a:xfrm>
              <a:off x="1392" y="2064"/>
              <a:ext cx="3216" cy="5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23" name="Line 82"/>
            <p:cNvSpPr>
              <a:spLocks noChangeShapeType="1"/>
            </p:cNvSpPr>
            <p:nvPr/>
          </p:nvSpPr>
          <p:spPr bwMode="auto">
            <a:xfrm>
              <a:off x="1392" y="1968"/>
              <a:ext cx="0" cy="67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24" name="Line 83"/>
            <p:cNvSpPr>
              <a:spLocks noChangeShapeType="1"/>
            </p:cNvSpPr>
            <p:nvPr/>
          </p:nvSpPr>
          <p:spPr bwMode="auto">
            <a:xfrm>
              <a:off x="4608" y="1968"/>
              <a:ext cx="0" cy="672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25" name="Line 84"/>
            <p:cNvSpPr>
              <a:spLocks noChangeShapeType="1"/>
            </p:cNvSpPr>
            <p:nvPr/>
          </p:nvSpPr>
          <p:spPr bwMode="auto">
            <a:xfrm>
              <a:off x="1392" y="2631"/>
              <a:ext cx="3216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</p:grpSp>
      <p:grpSp>
        <p:nvGrpSpPr>
          <p:cNvPr id="8195" name="Group 98"/>
          <p:cNvGrpSpPr/>
          <p:nvPr/>
        </p:nvGrpSpPr>
        <p:grpSpPr bwMode="auto">
          <a:xfrm>
            <a:off x="3989881" y="3460230"/>
            <a:ext cx="3997820" cy="1066800"/>
            <a:chOff x="1728" y="2256"/>
            <a:chExt cx="2208" cy="672"/>
          </a:xfrm>
        </p:grpSpPr>
        <p:sp>
          <p:nvSpPr>
            <p:cNvPr id="8219" name="AutoShape 78"/>
            <p:cNvSpPr>
              <a:spLocks noChangeArrowheads="1"/>
            </p:cNvSpPr>
            <p:nvPr/>
          </p:nvSpPr>
          <p:spPr bwMode="auto">
            <a:xfrm>
              <a:off x="1728" y="2256"/>
              <a:ext cx="2208" cy="672"/>
            </a:xfrm>
            <a:prstGeom prst="cube">
              <a:avLst>
                <a:gd name="adj" fmla="val 58931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20" name="AutoShape 96"/>
            <p:cNvSpPr>
              <a:spLocks noChangeArrowheads="1"/>
            </p:cNvSpPr>
            <p:nvPr/>
          </p:nvSpPr>
          <p:spPr bwMode="auto">
            <a:xfrm>
              <a:off x="2160" y="2304"/>
              <a:ext cx="144" cy="144"/>
            </a:xfrm>
            <a:prstGeom prst="cube">
              <a:avLst>
                <a:gd name="adj" fmla="val 47222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21" name="AutoShape 97"/>
            <p:cNvSpPr>
              <a:spLocks noChangeArrowheads="1"/>
            </p:cNvSpPr>
            <p:nvPr/>
          </p:nvSpPr>
          <p:spPr bwMode="auto">
            <a:xfrm>
              <a:off x="1986" y="2476"/>
              <a:ext cx="144" cy="144"/>
            </a:xfrm>
            <a:prstGeom prst="cube">
              <a:avLst>
                <a:gd name="adj" fmla="val 47222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8196" name="Group 99"/>
          <p:cNvGrpSpPr/>
          <p:nvPr/>
        </p:nvGrpSpPr>
        <p:grpSpPr bwMode="auto">
          <a:xfrm>
            <a:off x="1475281" y="2850630"/>
            <a:ext cx="8343276" cy="3378200"/>
            <a:chOff x="192" y="1824"/>
            <a:chExt cx="4608" cy="2128"/>
          </a:xfrm>
        </p:grpSpPr>
        <p:sp>
          <p:nvSpPr>
            <p:cNvPr id="8212" name="Line 85"/>
            <p:cNvSpPr>
              <a:spLocks noChangeShapeType="1"/>
            </p:cNvSpPr>
            <p:nvPr/>
          </p:nvSpPr>
          <p:spPr bwMode="auto">
            <a:xfrm>
              <a:off x="1392" y="2032"/>
              <a:ext cx="0" cy="46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13" name="Text Box 86"/>
            <p:cNvSpPr txBox="1">
              <a:spLocks noChangeArrowheads="1"/>
            </p:cNvSpPr>
            <p:nvPr/>
          </p:nvSpPr>
          <p:spPr bwMode="auto">
            <a:xfrm>
              <a:off x="4198" y="2544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/>
                <a:t>+</a:t>
              </a:r>
              <a:endParaRPr lang="en-US" altLang="en-US" sz="2400"/>
            </a:p>
          </p:txBody>
        </p:sp>
        <p:sp>
          <p:nvSpPr>
            <p:cNvPr id="8214" name="Text Box 87"/>
            <p:cNvSpPr txBox="1">
              <a:spLocks noChangeArrowheads="1"/>
            </p:cNvSpPr>
            <p:nvPr/>
          </p:nvSpPr>
          <p:spPr bwMode="auto">
            <a:xfrm>
              <a:off x="1287" y="2544"/>
              <a:ext cx="2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/>
                <a:t>-</a:t>
              </a:r>
              <a:endParaRPr lang="en-US" altLang="en-US" sz="2400"/>
            </a:p>
          </p:txBody>
        </p:sp>
        <p:sp>
          <p:nvSpPr>
            <p:cNvPr id="8215" name="Freeform 88"/>
            <p:cNvSpPr/>
            <p:nvPr/>
          </p:nvSpPr>
          <p:spPr bwMode="auto">
            <a:xfrm>
              <a:off x="320" y="1920"/>
              <a:ext cx="1072" cy="1712"/>
            </a:xfrm>
            <a:custGeom>
              <a:avLst/>
              <a:gdLst>
                <a:gd name="T0" fmla="*/ 1072 w 1072"/>
                <a:gd name="T1" fmla="*/ 112 h 1712"/>
                <a:gd name="T2" fmla="*/ 976 w 1072"/>
                <a:gd name="T3" fmla="*/ 16 h 1712"/>
                <a:gd name="T4" fmla="*/ 736 w 1072"/>
                <a:gd name="T5" fmla="*/ 64 h 1712"/>
                <a:gd name="T6" fmla="*/ 400 w 1072"/>
                <a:gd name="T7" fmla="*/ 400 h 1712"/>
                <a:gd name="T8" fmla="*/ 64 w 1072"/>
                <a:gd name="T9" fmla="*/ 1504 h 1712"/>
                <a:gd name="T10" fmla="*/ 16 w 1072"/>
                <a:gd name="T11" fmla="*/ 1648 h 17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72" h="1712">
                  <a:moveTo>
                    <a:pt x="1072" y="112"/>
                  </a:moveTo>
                  <a:cubicBezTo>
                    <a:pt x="1052" y="68"/>
                    <a:pt x="1032" y="24"/>
                    <a:pt x="976" y="16"/>
                  </a:cubicBezTo>
                  <a:cubicBezTo>
                    <a:pt x="920" y="8"/>
                    <a:pt x="832" y="0"/>
                    <a:pt x="736" y="64"/>
                  </a:cubicBezTo>
                  <a:cubicBezTo>
                    <a:pt x="640" y="128"/>
                    <a:pt x="512" y="160"/>
                    <a:pt x="400" y="400"/>
                  </a:cubicBezTo>
                  <a:cubicBezTo>
                    <a:pt x="288" y="640"/>
                    <a:pt x="128" y="1296"/>
                    <a:pt x="64" y="1504"/>
                  </a:cubicBezTo>
                  <a:cubicBezTo>
                    <a:pt x="0" y="1712"/>
                    <a:pt x="8" y="1680"/>
                    <a:pt x="16" y="164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16" name="Freeform 89"/>
            <p:cNvSpPr/>
            <p:nvPr/>
          </p:nvSpPr>
          <p:spPr bwMode="auto">
            <a:xfrm>
              <a:off x="672" y="1824"/>
              <a:ext cx="4128" cy="1744"/>
            </a:xfrm>
            <a:custGeom>
              <a:avLst/>
              <a:gdLst>
                <a:gd name="T0" fmla="*/ 3656 w 4128"/>
                <a:gd name="T1" fmla="*/ 208 h 1744"/>
                <a:gd name="T2" fmla="*/ 3704 w 4128"/>
                <a:gd name="T3" fmla="*/ 64 h 1744"/>
                <a:gd name="T4" fmla="*/ 3800 w 4128"/>
                <a:gd name="T5" fmla="*/ 16 h 1744"/>
                <a:gd name="T6" fmla="*/ 3944 w 4128"/>
                <a:gd name="T7" fmla="*/ 112 h 1744"/>
                <a:gd name="T8" fmla="*/ 4040 w 4128"/>
                <a:gd name="T9" fmla="*/ 688 h 1744"/>
                <a:gd name="T10" fmla="*/ 3992 w 4128"/>
                <a:gd name="T11" fmla="*/ 1216 h 1744"/>
                <a:gd name="T12" fmla="*/ 3224 w 4128"/>
                <a:gd name="T13" fmla="*/ 1552 h 1744"/>
                <a:gd name="T14" fmla="*/ 1256 w 4128"/>
                <a:gd name="T15" fmla="*/ 1696 h 1744"/>
                <a:gd name="T16" fmla="*/ 200 w 4128"/>
                <a:gd name="T17" fmla="*/ 1696 h 1744"/>
                <a:gd name="T18" fmla="*/ 56 w 4128"/>
                <a:gd name="T19" fmla="*/ 1744 h 17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8" h="1744">
                  <a:moveTo>
                    <a:pt x="3656" y="208"/>
                  </a:moveTo>
                  <a:cubicBezTo>
                    <a:pt x="3668" y="152"/>
                    <a:pt x="3680" y="96"/>
                    <a:pt x="3704" y="64"/>
                  </a:cubicBezTo>
                  <a:cubicBezTo>
                    <a:pt x="3728" y="32"/>
                    <a:pt x="3760" y="8"/>
                    <a:pt x="3800" y="16"/>
                  </a:cubicBezTo>
                  <a:cubicBezTo>
                    <a:pt x="3840" y="24"/>
                    <a:pt x="3904" y="0"/>
                    <a:pt x="3944" y="112"/>
                  </a:cubicBezTo>
                  <a:cubicBezTo>
                    <a:pt x="3984" y="224"/>
                    <a:pt x="4032" y="504"/>
                    <a:pt x="4040" y="688"/>
                  </a:cubicBezTo>
                  <a:cubicBezTo>
                    <a:pt x="4048" y="872"/>
                    <a:pt x="4128" y="1072"/>
                    <a:pt x="3992" y="1216"/>
                  </a:cubicBezTo>
                  <a:cubicBezTo>
                    <a:pt x="3856" y="1360"/>
                    <a:pt x="3680" y="1472"/>
                    <a:pt x="3224" y="1552"/>
                  </a:cubicBezTo>
                  <a:cubicBezTo>
                    <a:pt x="2768" y="1632"/>
                    <a:pt x="1760" y="1672"/>
                    <a:pt x="1256" y="1696"/>
                  </a:cubicBezTo>
                  <a:cubicBezTo>
                    <a:pt x="752" y="1720"/>
                    <a:pt x="400" y="1688"/>
                    <a:pt x="200" y="1696"/>
                  </a:cubicBezTo>
                  <a:cubicBezTo>
                    <a:pt x="0" y="1704"/>
                    <a:pt x="80" y="1736"/>
                    <a:pt x="56" y="1744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17" name="Rectangle 90"/>
            <p:cNvSpPr>
              <a:spLocks noChangeArrowheads="1"/>
            </p:cNvSpPr>
            <p:nvPr/>
          </p:nvSpPr>
          <p:spPr bwMode="auto">
            <a:xfrm>
              <a:off x="192" y="3568"/>
              <a:ext cx="576" cy="3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/>
                <a:t>Power</a:t>
              </a:r>
              <a:endParaRPr lang="en-US" altLang="en-US" sz="2400"/>
            </a:p>
          </p:txBody>
        </p:sp>
        <p:sp>
          <p:nvSpPr>
            <p:cNvPr id="8218" name="Line 92"/>
            <p:cNvSpPr>
              <a:spLocks noChangeShapeType="1"/>
            </p:cNvSpPr>
            <p:nvPr/>
          </p:nvSpPr>
          <p:spPr bwMode="auto">
            <a:xfrm>
              <a:off x="4339" y="2016"/>
              <a:ext cx="0" cy="46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</p:grpSp>
      <p:grpSp>
        <p:nvGrpSpPr>
          <p:cNvPr id="66672" name="Group 112"/>
          <p:cNvGrpSpPr/>
          <p:nvPr/>
        </p:nvGrpSpPr>
        <p:grpSpPr bwMode="auto">
          <a:xfrm>
            <a:off x="3989881" y="3460230"/>
            <a:ext cx="3997820" cy="1066800"/>
            <a:chOff x="2736" y="624"/>
            <a:chExt cx="2208" cy="672"/>
          </a:xfrm>
        </p:grpSpPr>
        <p:sp>
          <p:nvSpPr>
            <p:cNvPr id="8209" name="AutoShape 109"/>
            <p:cNvSpPr>
              <a:spLocks noChangeArrowheads="1"/>
            </p:cNvSpPr>
            <p:nvPr/>
          </p:nvSpPr>
          <p:spPr bwMode="auto">
            <a:xfrm>
              <a:off x="2736" y="624"/>
              <a:ext cx="2208" cy="672"/>
            </a:xfrm>
            <a:prstGeom prst="cube">
              <a:avLst>
                <a:gd name="adj" fmla="val 58931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10" name="AutoShape 110"/>
            <p:cNvSpPr>
              <a:spLocks noChangeArrowheads="1"/>
            </p:cNvSpPr>
            <p:nvPr/>
          </p:nvSpPr>
          <p:spPr bwMode="auto">
            <a:xfrm>
              <a:off x="3168" y="672"/>
              <a:ext cx="144" cy="144"/>
            </a:xfrm>
            <a:prstGeom prst="cube">
              <a:avLst>
                <a:gd name="adj" fmla="val 47222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11" name="AutoShape 111"/>
            <p:cNvSpPr>
              <a:spLocks noChangeArrowheads="1"/>
            </p:cNvSpPr>
            <p:nvPr/>
          </p:nvSpPr>
          <p:spPr bwMode="auto">
            <a:xfrm>
              <a:off x="2994" y="844"/>
              <a:ext cx="144" cy="144"/>
            </a:xfrm>
            <a:prstGeom prst="cube">
              <a:avLst>
                <a:gd name="adj" fmla="val 47222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66673" name="Group 113"/>
          <p:cNvGrpSpPr/>
          <p:nvPr/>
        </p:nvGrpSpPr>
        <p:grpSpPr bwMode="auto">
          <a:xfrm>
            <a:off x="4362946" y="2469630"/>
            <a:ext cx="974106" cy="1295400"/>
            <a:chOff x="2256" y="1584"/>
            <a:chExt cx="538" cy="816"/>
          </a:xfrm>
        </p:grpSpPr>
        <p:sp>
          <p:nvSpPr>
            <p:cNvPr id="8206" name="Text Box 91"/>
            <p:cNvSpPr txBox="1">
              <a:spLocks noChangeArrowheads="1"/>
            </p:cNvSpPr>
            <p:nvPr/>
          </p:nvSpPr>
          <p:spPr bwMode="auto">
            <a:xfrm>
              <a:off x="2256" y="1584"/>
              <a:ext cx="538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DNA</a:t>
              </a:r>
              <a:endParaRPr lang="en-US" altLang="en-US" sz="2400" b="1"/>
            </a:p>
          </p:txBody>
        </p:sp>
        <p:sp>
          <p:nvSpPr>
            <p:cNvPr id="8207" name="Line 100"/>
            <p:cNvSpPr>
              <a:spLocks noChangeShapeType="1"/>
            </p:cNvSpPr>
            <p:nvPr/>
          </p:nvSpPr>
          <p:spPr bwMode="auto">
            <a:xfrm flipH="1">
              <a:off x="2544" y="1824"/>
              <a:ext cx="48" cy="38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08" name="Line 101"/>
            <p:cNvSpPr>
              <a:spLocks noChangeShapeType="1"/>
            </p:cNvSpPr>
            <p:nvPr/>
          </p:nvSpPr>
          <p:spPr bwMode="auto">
            <a:xfrm flipH="1">
              <a:off x="2352" y="1824"/>
              <a:ext cx="96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 dirty="0"/>
            </a:p>
          </p:txBody>
        </p:sp>
      </p:grpSp>
      <p:grpSp>
        <p:nvGrpSpPr>
          <p:cNvPr id="66687" name="Group 127"/>
          <p:cNvGrpSpPr/>
          <p:nvPr/>
        </p:nvGrpSpPr>
        <p:grpSpPr bwMode="auto">
          <a:xfrm>
            <a:off x="4751881" y="3536430"/>
            <a:ext cx="2085819" cy="457200"/>
            <a:chOff x="2496" y="2256"/>
            <a:chExt cx="1152" cy="288"/>
          </a:xfrm>
        </p:grpSpPr>
        <p:sp>
          <p:nvSpPr>
            <p:cNvPr id="8202" name="AutoShape 120"/>
            <p:cNvSpPr>
              <a:spLocks noChangeArrowheads="1"/>
            </p:cNvSpPr>
            <p:nvPr/>
          </p:nvSpPr>
          <p:spPr bwMode="auto">
            <a:xfrm>
              <a:off x="3024" y="2400"/>
              <a:ext cx="144" cy="144"/>
            </a:xfrm>
            <a:prstGeom prst="cube">
              <a:avLst>
                <a:gd name="adj" fmla="val 47222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03" name="AutoShape 106"/>
            <p:cNvSpPr>
              <a:spLocks noChangeArrowheads="1"/>
            </p:cNvSpPr>
            <p:nvPr/>
          </p:nvSpPr>
          <p:spPr bwMode="auto">
            <a:xfrm>
              <a:off x="3504" y="2256"/>
              <a:ext cx="144" cy="144"/>
            </a:xfrm>
            <a:prstGeom prst="cube">
              <a:avLst>
                <a:gd name="adj" fmla="val 47222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04" name="Line 125"/>
            <p:cNvSpPr>
              <a:spLocks noChangeShapeType="1"/>
            </p:cNvSpPr>
            <p:nvPr/>
          </p:nvSpPr>
          <p:spPr bwMode="auto">
            <a:xfrm>
              <a:off x="2640" y="2304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  <p:sp>
          <p:nvSpPr>
            <p:cNvPr id="8205" name="Line 126"/>
            <p:cNvSpPr>
              <a:spLocks noChangeShapeType="1"/>
            </p:cNvSpPr>
            <p:nvPr/>
          </p:nvSpPr>
          <p:spPr bwMode="auto">
            <a:xfrm>
              <a:off x="2496" y="249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JO"/>
            </a:p>
          </p:txBody>
        </p:sp>
      </p:grpSp>
      <p:sp>
        <p:nvSpPr>
          <p:cNvPr id="66692" name="Text Box 132"/>
          <p:cNvSpPr txBox="1">
            <a:spLocks noChangeArrowheads="1"/>
          </p:cNvSpPr>
          <p:nvPr/>
        </p:nvSpPr>
        <p:spPr bwMode="auto">
          <a:xfrm>
            <a:off x="3293966" y="1163911"/>
            <a:ext cx="578895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How fast will the DNA migrate?</a:t>
            </a:r>
            <a:endParaRPr lang="en-US" altLang="en-US" sz="2800" dirty="0"/>
          </a:p>
        </p:txBody>
      </p:sp>
      <p:sp>
        <p:nvSpPr>
          <p:cNvPr id="66700" name="Text Box 140"/>
          <p:cNvSpPr txBox="1">
            <a:spLocks noChangeArrowheads="1"/>
          </p:cNvSpPr>
          <p:nvPr/>
        </p:nvSpPr>
        <p:spPr bwMode="auto">
          <a:xfrm>
            <a:off x="5890956" y="3307830"/>
            <a:ext cx="20005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          small</a:t>
            </a: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large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92" grpId="0" autoUpdateAnimBg="0"/>
      <p:bldP spid="6670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chemeClr val="tx1"/>
                </a:solidFill>
              </a:rPr>
              <a:t>Components of an Electrophoresis System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03910" y="1143000"/>
            <a:ext cx="11095990" cy="5257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</a:rPr>
              <a:t>Power supply and chamber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</a:rPr>
              <a:t>, a source of negatively charged particles 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  <a:sym typeface="Wingdings" panose="05000000000000000000" pitchFamily="2" charset="2"/>
              </a:rPr>
              <a:t>with a cathode and anode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cs typeface="+mj-lt"/>
              <a:sym typeface="Wingdings" panose="05000000000000000000" pitchFamily="2" charset="2"/>
            </a:endParaRP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  <a:sym typeface="Wingdings" panose="05000000000000000000" pitchFamily="2" charset="2"/>
              </a:rPr>
              <a:t>Buffer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  <a:sym typeface="Wingdings" panose="05000000000000000000" pitchFamily="2" charset="2"/>
              </a:rPr>
              <a:t>, a fluid mixture of water and ions 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cs typeface="+mj-lt"/>
              <a:sym typeface="Wingdings" panose="05000000000000000000" pitchFamily="2" charset="2"/>
            </a:endParaRP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  <a:sym typeface="Wingdings" panose="05000000000000000000" pitchFamily="2" charset="2"/>
              </a:rPr>
              <a:t>Agarose gel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  <a:sym typeface="Wingdings" panose="05000000000000000000" pitchFamily="2" charset="2"/>
              </a:rPr>
              <a:t>, a porous material that DNA migrates through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cs typeface="+mj-lt"/>
              <a:sym typeface="Wingdings" panose="05000000000000000000" pitchFamily="2" charset="2"/>
            </a:endParaRP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  <a:sym typeface="Wingdings" panose="05000000000000000000" pitchFamily="2" charset="2"/>
              </a:rPr>
              <a:t>Gel casting materials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FFFF00"/>
              </a:highlight>
              <a:latin typeface="+mj-lt"/>
              <a:cs typeface="+mj-lt"/>
              <a:sym typeface="Wingdings" panose="05000000000000000000" pitchFamily="2" charset="2"/>
            </a:endParaRP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  <a:sym typeface="Wingdings" panose="05000000000000000000" pitchFamily="2" charset="2"/>
              </a:rPr>
              <a:t>DNA ladder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  <a:sym typeface="Wingdings" panose="05000000000000000000" pitchFamily="2" charset="2"/>
              </a:rPr>
              <a:t>, mixture of DNA fragments of known lengths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cs typeface="+mj-lt"/>
              <a:sym typeface="Wingdings" panose="05000000000000000000" pitchFamily="2" charset="2"/>
            </a:endParaRP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  <a:sym typeface="Wingdings" panose="05000000000000000000" pitchFamily="2" charset="2"/>
              </a:rPr>
              <a:t>Loading dye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  <a:sym typeface="Wingdings" panose="05000000000000000000" pitchFamily="2" charset="2"/>
              </a:rPr>
              <a:t>, contains a dense material and allows visualization of DNA migration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cs typeface="+mj-lt"/>
              <a:sym typeface="Wingdings" panose="05000000000000000000" pitchFamily="2" charset="2"/>
            </a:endParaRP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+mj-lt"/>
                <a:cs typeface="+mj-lt"/>
                <a:sym typeface="Wingdings" panose="05000000000000000000" pitchFamily="2" charset="2"/>
              </a:rPr>
              <a:t>DNA Stain</a:t>
            </a:r>
            <a:r>
              <a:rPr lang="en-US" sz="260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+mj-lt"/>
                <a:sym typeface="Wingdings" panose="05000000000000000000" pitchFamily="2" charset="2"/>
              </a:rPr>
              <a:t>, allows visualizations of DNA fragments after electrophoresis</a:t>
            </a:r>
            <a:endParaRPr lang="en-US" sz="260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cs typeface="+mj-lt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ll equiptme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125" y="1143001"/>
            <a:ext cx="8948113" cy="503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038601" y="5181601"/>
            <a:ext cx="2066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>
                <a:solidFill>
                  <a:schemeClr val="bg1"/>
                </a:solidFill>
              </a:rPr>
              <a:t>Casting tray</a:t>
            </a:r>
            <a:r>
              <a:rPr lang="en-US" altLang="ar-JO" sz="2400">
                <a:solidFill>
                  <a:schemeClr val="bg1"/>
                </a:solidFill>
                <a:sym typeface="Wingdings" panose="05000000000000000000" pitchFamily="2" charset="2"/>
              </a:rPr>
              <a:t></a:t>
            </a:r>
            <a:endParaRPr lang="en-US" altLang="ar-JO" sz="2400">
              <a:solidFill>
                <a:schemeClr val="bg1"/>
              </a:solidFill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010401" y="5715001"/>
            <a:ext cx="1895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>
                <a:solidFill>
                  <a:schemeClr val="bg1"/>
                </a:solidFill>
              </a:rPr>
              <a:t>Gel combs</a:t>
            </a:r>
            <a:r>
              <a:rPr lang="en-US" altLang="ar-JO" sz="2400">
                <a:solidFill>
                  <a:schemeClr val="bg1"/>
                </a:solidFill>
                <a:sym typeface="Wingdings" panose="05000000000000000000" pitchFamily="2" charset="2"/>
              </a:rPr>
              <a:t></a:t>
            </a:r>
            <a:endParaRPr lang="en-US" altLang="ar-JO" sz="240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190876" y="1143001"/>
            <a:ext cx="2335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>
                <a:solidFill>
                  <a:schemeClr val="bg1"/>
                </a:solidFill>
              </a:rPr>
              <a:t>Power supply</a:t>
            </a:r>
            <a:r>
              <a:rPr lang="en-US" altLang="ar-JO" sz="240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altLang="ar-JO" sz="2400">
              <a:solidFill>
                <a:schemeClr val="bg1"/>
              </a:solidFill>
              <a:sym typeface="Monotype Sorts" pitchFamily="48" charset="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905000" y="2209801"/>
            <a:ext cx="1631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>
                <a:solidFill>
                  <a:schemeClr val="bg1"/>
                </a:solidFill>
                <a:sym typeface="Monotype Sorts" pitchFamily="48" charset="2"/>
              </a:rPr>
              <a:t>Gel tank</a:t>
            </a:r>
            <a:r>
              <a:rPr lang="en-US" altLang="ar-JO" sz="240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altLang="ar-JO" sz="240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8915400" y="2133601"/>
            <a:ext cx="1246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>
                <a:solidFill>
                  <a:schemeClr val="bg1"/>
                </a:solidFill>
                <a:sym typeface="Wingdings" panose="05000000000000000000" pitchFamily="2" charset="2"/>
              </a:rPr>
              <a:t></a:t>
            </a:r>
            <a:r>
              <a:rPr lang="en-US" altLang="ar-JO" sz="2400">
                <a:solidFill>
                  <a:schemeClr val="bg1"/>
                </a:solidFill>
                <a:sym typeface="Monotype Sorts" pitchFamily="48" charset="2"/>
              </a:rPr>
              <a:t>Cover</a:t>
            </a:r>
            <a:endParaRPr lang="en-US" altLang="ar-JO" sz="2400">
              <a:solidFill>
                <a:schemeClr val="bg1"/>
              </a:solidFill>
              <a:sym typeface="Monotype Sorts" pitchFamily="48" charset="2"/>
            </a:endParaRP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7010401" y="2987676"/>
            <a:ext cx="20858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 dirty="0">
                <a:solidFill>
                  <a:schemeClr val="bg1"/>
                </a:solidFill>
              </a:rPr>
              <a:t>Electrical wire</a:t>
            </a:r>
            <a:endParaRPr lang="en-US" altLang="ar-JO" sz="2400" dirty="0">
              <a:solidFill>
                <a:schemeClr val="bg1"/>
              </a:solidFill>
            </a:endParaRPr>
          </a:p>
          <a:p>
            <a:r>
              <a:rPr lang="en-US" altLang="ar-JO" sz="2400" dirty="0">
                <a:solidFill>
                  <a:schemeClr val="bg1"/>
                </a:solidFill>
              </a:rPr>
              <a:t>                </a:t>
            </a:r>
            <a:r>
              <a:rPr lang="en-US" altLang="ar-JO" sz="2400" dirty="0">
                <a:solidFill>
                  <a:schemeClr val="bg1"/>
                </a:solidFill>
                <a:sym typeface="Wingdings" panose="05000000000000000000" pitchFamily="2" charset="2"/>
              </a:rPr>
              <a:t></a:t>
            </a:r>
            <a:endParaRPr lang="en-US" altLang="ar-JO" sz="2400" dirty="0">
              <a:solidFill>
                <a:schemeClr val="bg1"/>
              </a:solidFill>
            </a:endParaRPr>
          </a:p>
        </p:txBody>
      </p:sp>
      <p:sp>
        <p:nvSpPr>
          <p:cNvPr id="17417" name="Text Box 10"/>
          <p:cNvSpPr txBox="1">
            <a:spLocks noChangeArrowheads="1"/>
          </p:cNvSpPr>
          <p:nvPr/>
        </p:nvSpPr>
        <p:spPr bwMode="auto">
          <a:xfrm>
            <a:off x="2676526" y="194469"/>
            <a:ext cx="5699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3600" dirty="0">
                <a:solidFill>
                  <a:srgbClr val="FF0000"/>
                </a:solidFill>
              </a:rPr>
              <a:t>Electrophoresis Equipment</a:t>
            </a:r>
            <a:endParaRPr lang="en-US" altLang="ar-JO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34125" y="1027113"/>
            <a:ext cx="5981075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ar-JO" dirty="0"/>
              <a:t>A porous material derived from red seaweed</a:t>
            </a:r>
            <a:endParaRPr lang="en-US" altLang="ar-JO" dirty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ar-JO" dirty="0"/>
              <a:t>Acts as a sieve for separating DNA fragments; smaller fragments travel faster than large fragments</a:t>
            </a:r>
            <a:endParaRPr lang="en-US" altLang="ar-JO" dirty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ar-JO" dirty="0"/>
              <a:t>Concentration affects DNA migration</a:t>
            </a:r>
            <a:endParaRPr lang="en-US" altLang="ar-JO" dirty="0"/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ar-JO" dirty="0"/>
              <a:t>Low conc. = larger pores</a:t>
            </a:r>
            <a:r>
              <a:rPr lang="en-US" altLang="ar-JO" dirty="0">
                <a:sym typeface="Wingdings" panose="05000000000000000000" pitchFamily="2" charset="2"/>
              </a:rPr>
              <a:t> better resolution of larger DNA fragments</a:t>
            </a:r>
            <a:endParaRPr lang="en-US" altLang="ar-JO" dirty="0">
              <a:sym typeface="Wingdings" panose="05000000000000000000" pitchFamily="2" charset="2"/>
            </a:endParaRPr>
          </a:p>
        </p:txBody>
      </p:sp>
      <p:grpSp>
        <p:nvGrpSpPr>
          <p:cNvPr id="18435" name="Group 7"/>
          <p:cNvGrpSpPr/>
          <p:nvPr/>
        </p:nvGrpSpPr>
        <p:grpSpPr bwMode="auto">
          <a:xfrm>
            <a:off x="7315200" y="1066800"/>
            <a:ext cx="2971800" cy="4114800"/>
            <a:chOff x="3600" y="1104"/>
            <a:chExt cx="1872" cy="2592"/>
          </a:xfrm>
        </p:grpSpPr>
        <p:sp>
          <p:nvSpPr>
            <p:cNvPr id="18438" name="Rectangle 8" descr="Sphere"/>
            <p:cNvSpPr>
              <a:spLocks noChangeArrowheads="1"/>
            </p:cNvSpPr>
            <p:nvPr/>
          </p:nvSpPr>
          <p:spPr bwMode="auto">
            <a:xfrm>
              <a:off x="3648" y="1104"/>
              <a:ext cx="1776" cy="672"/>
            </a:xfrm>
            <a:prstGeom prst="rect">
              <a:avLst/>
            </a:prstGeom>
            <a:pattFill prst="sphere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IN" altLang="ar-JO" dirty="0"/>
            </a:p>
          </p:txBody>
        </p:sp>
        <p:sp>
          <p:nvSpPr>
            <p:cNvPr id="18439" name="Rectangle 9" descr="20%"/>
            <p:cNvSpPr>
              <a:spLocks noChangeArrowheads="1"/>
            </p:cNvSpPr>
            <p:nvPr/>
          </p:nvSpPr>
          <p:spPr bwMode="auto">
            <a:xfrm>
              <a:off x="3600" y="2453"/>
              <a:ext cx="1872" cy="859"/>
            </a:xfrm>
            <a:prstGeom prst="rect">
              <a:avLst/>
            </a:prstGeom>
            <a:pattFill prst="pct20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IN" altLang="ar-JO" dirty="0"/>
            </a:p>
          </p:txBody>
        </p:sp>
        <p:sp>
          <p:nvSpPr>
            <p:cNvPr id="18440" name="Text Box 10"/>
            <p:cNvSpPr txBox="1">
              <a:spLocks noChangeArrowheads="1"/>
            </p:cNvSpPr>
            <p:nvPr/>
          </p:nvSpPr>
          <p:spPr bwMode="auto">
            <a:xfrm>
              <a:off x="4032" y="1920"/>
              <a:ext cx="10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ar-JO" sz="2400">
                  <a:latin typeface="Times New Roman" panose="02020603050405020304" pitchFamily="18" charset="0"/>
                </a:rPr>
                <a:t>1% agarose</a:t>
              </a:r>
              <a:endParaRPr lang="en-US" altLang="ar-JO" sz="2400">
                <a:latin typeface="Times New Roman" panose="02020603050405020304" pitchFamily="18" charset="0"/>
              </a:endParaRPr>
            </a:p>
          </p:txBody>
        </p:sp>
        <p:sp>
          <p:nvSpPr>
            <p:cNvPr id="18441" name="Text Box 11"/>
            <p:cNvSpPr txBox="1">
              <a:spLocks noChangeArrowheads="1"/>
            </p:cNvSpPr>
            <p:nvPr/>
          </p:nvSpPr>
          <p:spPr bwMode="auto">
            <a:xfrm>
              <a:off x="4080" y="3408"/>
              <a:ext cx="10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ar-JO" sz="2400">
                  <a:latin typeface="Times New Roman" panose="02020603050405020304" pitchFamily="18" charset="0"/>
                </a:rPr>
                <a:t>2% agarose</a:t>
              </a:r>
              <a:endParaRPr lang="en-US" altLang="ar-JO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8436" name="Rectangle 8"/>
          <p:cNvSpPr>
            <a:spLocks noChangeArrowheads="1"/>
          </p:cNvSpPr>
          <p:nvPr/>
        </p:nvSpPr>
        <p:spPr bwMode="auto">
          <a:xfrm>
            <a:off x="661388" y="5423756"/>
            <a:ext cx="10626205" cy="865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ctr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ar-JO" sz="2800" dirty="0">
                <a:solidFill>
                  <a:schemeClr val="tx1"/>
                </a:solidFill>
                <a:sym typeface="Wingdings" panose="05000000000000000000" pitchFamily="2" charset="2"/>
              </a:rPr>
              <a:t>High conc. = smaller pores  better resolution of smaller DNA fragments</a:t>
            </a:r>
            <a:endParaRPr lang="en-US" altLang="ar-JO" sz="2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8437" name="Rectangle 10"/>
          <p:cNvSpPr>
            <a:spLocks noChangeArrowheads="1"/>
          </p:cNvSpPr>
          <p:nvPr/>
        </p:nvSpPr>
        <p:spPr bwMode="auto">
          <a:xfrm>
            <a:off x="3307490" y="215045"/>
            <a:ext cx="533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ar-JO" sz="3600">
                <a:solidFill>
                  <a:srgbClr val="FF0000"/>
                </a:solidFill>
              </a:rPr>
              <a:t>Agarose Gel</a:t>
            </a:r>
            <a:endParaRPr lang="en-IN" altLang="ar-JO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632" y="496179"/>
            <a:ext cx="9134234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rtl="0">
              <a:spcBef>
                <a:spcPts val="100"/>
              </a:spcBef>
            </a:pPr>
            <a:r>
              <a:rPr lang="en-US" b="1" spc="-285" dirty="0">
                <a:solidFill>
                  <a:schemeClr val="tx1"/>
                </a:solidFill>
                <a:cs typeface="+mn-cs"/>
              </a:rPr>
              <a:t>Concentrations of used agarose </a:t>
            </a:r>
            <a:endParaRPr lang="en-US" b="1" spc="-285" dirty="0">
              <a:solidFill>
                <a:schemeClr val="tx1"/>
              </a:solidFill>
              <a:cs typeface="+mn-cs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206632" y="1322717"/>
          <a:ext cx="8114383" cy="4246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50383"/>
                <a:gridCol w="4064000"/>
              </a:tblGrid>
              <a:tr h="633469">
                <a:tc>
                  <a:txBody>
                    <a:bodyPr/>
                    <a:lstStyle/>
                    <a:p>
                      <a:r>
                        <a:rPr lang="en-US" sz="2400" dirty="0"/>
                        <a:t>% Agarose (w/v)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Size Range (kb pairs)for  Optimal Separation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2400" dirty="0"/>
                        <a:t>0.5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2-30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0.75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0.7-20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0.5-10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1.5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0.2-3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0.1-2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0.07-1.5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0.04-0.9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spc="-110" dirty="0">
                          <a:latin typeface="Arial" panose="020B0604020202020204"/>
                          <a:cs typeface="Arial" panose="020B0604020202020204"/>
                        </a:rPr>
                        <a:t>0.03-0.6</a:t>
                      </a:r>
                      <a:endParaRPr lang="en-US" sz="2400" spc="-11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0.01-0.4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9" descr="agaro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679" y="866775"/>
            <a:ext cx="601980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8853144" y="1827473"/>
            <a:ext cx="1332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Geneva"/>
              </a:rPr>
              <a:t>Agarose</a:t>
            </a:r>
            <a:endParaRPr lang="en-US" altLang="en-US" sz="2400" dirty="0">
              <a:latin typeface="Geneva"/>
            </a:endParaRPr>
          </a:p>
        </p:txBody>
      </p:sp>
      <p:pic>
        <p:nvPicPr>
          <p:cNvPr id="10244" name="Picture 11" descr="img8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383" y="2514879"/>
            <a:ext cx="2801938" cy="842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1271679" y="5702815"/>
            <a:ext cx="876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Agarose is extracted from seaweed.</a:t>
            </a:r>
            <a:endParaRPr lang="en-US" altLang="en-US" sz="2800">
              <a:solidFill>
                <a:schemeClr val="bg1"/>
              </a:solidFill>
            </a:endParaRPr>
          </a:p>
        </p:txBody>
      </p:sp>
      <p:sp>
        <p:nvSpPr>
          <p:cNvPr id="10246" name="Text Box 13"/>
          <p:cNvSpPr txBox="1">
            <a:spLocks noChangeArrowheads="1"/>
          </p:cNvSpPr>
          <p:nvPr/>
        </p:nvSpPr>
        <p:spPr bwMode="auto">
          <a:xfrm>
            <a:off x="8072347" y="3429000"/>
            <a:ext cx="1268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/>
              <a:t>D-galactose</a:t>
            </a:r>
            <a:endParaRPr lang="en-US" altLang="en-US" sz="2400" dirty="0"/>
          </a:p>
        </p:txBody>
      </p:sp>
      <p:sp>
        <p:nvSpPr>
          <p:cNvPr id="10247" name="Text Box 14"/>
          <p:cNvSpPr txBox="1">
            <a:spLocks noChangeArrowheads="1"/>
          </p:cNvSpPr>
          <p:nvPr/>
        </p:nvSpPr>
        <p:spPr bwMode="auto">
          <a:xfrm>
            <a:off x="9651909" y="3255683"/>
            <a:ext cx="12684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/>
              <a:t>3,6-anhydro</a:t>
            </a:r>
            <a:endParaRPr lang="en-US" altLang="en-US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/>
              <a:t>L-galactose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flask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837" y="435370"/>
            <a:ext cx="2800348" cy="4438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4" descr="flask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102" y="435370"/>
            <a:ext cx="2800348" cy="437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4821194" y="4963340"/>
            <a:ext cx="1044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dirty="0"/>
              <a:t>Agarose</a:t>
            </a:r>
            <a:endParaRPr lang="en-US" altLang="ar-JO" dirty="0"/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8783637" y="4852177"/>
            <a:ext cx="1693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/>
              <a:t>Buffer Solution</a:t>
            </a:r>
            <a:endParaRPr lang="en-US" altLang="ar-JO"/>
          </a:p>
        </p:txBody>
      </p:sp>
      <p:sp>
        <p:nvSpPr>
          <p:cNvPr id="19462" name="Text Box 8"/>
          <p:cNvSpPr txBox="1">
            <a:spLocks noChangeArrowheads="1"/>
          </p:cNvSpPr>
          <p:nvPr/>
        </p:nvSpPr>
        <p:spPr bwMode="auto">
          <a:xfrm>
            <a:off x="616006" y="5537616"/>
            <a:ext cx="10411444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200" dirty="0"/>
              <a:t>Combine the agarose powder and buffer solution.  Use a flask that is several times larger than the volume of buffer.</a:t>
            </a:r>
            <a:endParaRPr lang="en-US" altLang="ar-JO" sz="2200" dirty="0"/>
          </a:p>
        </p:txBody>
      </p:sp>
      <p:pic>
        <p:nvPicPr>
          <p:cNvPr id="7" name="Picture 2" descr="agarose and buffer 2"/>
          <p:cNvPicPr>
            <a:picLocks noChangeAspect="1" noChangeArrowheads="1"/>
          </p:cNvPicPr>
          <p:nvPr/>
        </p:nvPicPr>
        <p:blipFill>
          <a:blip r:embed="rId3">
            <a:lum contras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73" y="374396"/>
            <a:ext cx="2800348" cy="4438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melted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479" y="1521268"/>
            <a:ext cx="4038600" cy="33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 descr="unmelted1"/>
          <p:cNvPicPr>
            <a:picLocks noChangeAspect="1" noChangeArrowheads="1"/>
          </p:cNvPicPr>
          <p:nvPr/>
        </p:nvPicPr>
        <p:blipFill>
          <a:blip r:embed="rId2">
            <a:lum bright="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879" y="1526030"/>
            <a:ext cx="4419600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398427" y="5084737"/>
            <a:ext cx="929390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400" b="1" dirty="0"/>
              <a:t>Agarose is insoluble at room temperature (left).</a:t>
            </a:r>
            <a:endParaRPr lang="en-US" altLang="ar-JO" sz="2400" b="1" dirty="0"/>
          </a:p>
          <a:p>
            <a:r>
              <a:rPr lang="en-US" altLang="ar-JO" sz="2400" b="1" dirty="0"/>
              <a:t>The agarose solution is boiled until clear (right).</a:t>
            </a:r>
            <a:endParaRPr lang="en-US" altLang="ar-JO" sz="2400" b="1" dirty="0"/>
          </a:p>
        </p:txBody>
      </p:sp>
      <p:sp>
        <p:nvSpPr>
          <p:cNvPr id="20485" name="Text Box 8"/>
          <p:cNvSpPr txBox="1">
            <a:spLocks noChangeArrowheads="1"/>
          </p:cNvSpPr>
          <p:nvPr/>
        </p:nvSpPr>
        <p:spPr bwMode="auto">
          <a:xfrm>
            <a:off x="4193381" y="699411"/>
            <a:ext cx="3805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3200" dirty="0">
                <a:solidFill>
                  <a:srgbClr val="FF0000"/>
                </a:solidFill>
              </a:rPr>
              <a:t>Melting the Agarose</a:t>
            </a:r>
            <a:endParaRPr lang="en-US" altLang="ar-JO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our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367" y="1514007"/>
            <a:ext cx="7270230" cy="488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4170311" y="638032"/>
            <a:ext cx="2940050" cy="58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3200" dirty="0">
                <a:solidFill>
                  <a:srgbClr val="FF0000"/>
                </a:solidFill>
              </a:rPr>
              <a:t>Pouring the gel</a:t>
            </a:r>
            <a:endParaRPr lang="en-US" altLang="ar-JO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gel in trey w buff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843" y="1359786"/>
            <a:ext cx="7834313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026442" y="3642610"/>
            <a:ext cx="1277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b="1">
                <a:solidFill>
                  <a:srgbClr val="FFFF00"/>
                </a:solidFill>
              </a:rPr>
              <a:t>  buffer</a:t>
            </a:r>
            <a:r>
              <a:rPr lang="en-US" altLang="ar-JO">
                <a:solidFill>
                  <a:srgbClr val="FFFF00"/>
                </a:solidFill>
              </a:rPr>
              <a:t> </a:t>
            </a:r>
            <a:r>
              <a:rPr lang="en-US" altLang="ar-JO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  <a:endParaRPr lang="en-US" altLang="ar-JO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3017043" y="5014211"/>
            <a:ext cx="12874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b="1">
                <a:solidFill>
                  <a:srgbClr val="FFFF00"/>
                </a:solidFill>
                <a:sym typeface="Wingdings" panose="05000000000000000000" pitchFamily="2" charset="2"/>
              </a:rPr>
              <a:t></a:t>
            </a:r>
            <a:r>
              <a:rPr lang="en-US" altLang="ar-JO" b="1">
                <a:solidFill>
                  <a:srgbClr val="FFFF00"/>
                </a:solidFill>
              </a:rPr>
              <a:t>Cathode</a:t>
            </a:r>
            <a:endParaRPr lang="en-US" altLang="ar-JO" b="1">
              <a:solidFill>
                <a:srgbClr val="FFFF00"/>
              </a:solidFill>
            </a:endParaRPr>
          </a:p>
          <a:p>
            <a:r>
              <a:rPr lang="en-US" altLang="ar-JO">
                <a:solidFill>
                  <a:srgbClr val="FFFF00"/>
                </a:solidFill>
              </a:rPr>
              <a:t>(negative)</a:t>
            </a:r>
            <a:endParaRPr lang="en-US" altLang="ar-JO" b="1">
              <a:solidFill>
                <a:srgbClr val="FFFF00"/>
              </a:solidFill>
            </a:endParaRPr>
          </a:p>
        </p:txBody>
      </p:sp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8030368" y="4709411"/>
            <a:ext cx="1120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b="1">
                <a:solidFill>
                  <a:srgbClr val="FFFF00"/>
                </a:solidFill>
              </a:rPr>
              <a:t>Anode</a:t>
            </a:r>
            <a:r>
              <a:rPr lang="en-US" altLang="ar-JO" b="1">
                <a:solidFill>
                  <a:srgbClr val="FFFF00"/>
                </a:solidFill>
                <a:sym typeface="Wingdings" panose="05000000000000000000" pitchFamily="2" charset="2"/>
              </a:rPr>
              <a:t></a:t>
            </a:r>
            <a:endParaRPr lang="en-US" altLang="ar-JO" b="1">
              <a:solidFill>
                <a:srgbClr val="FFFF00"/>
              </a:solidFill>
            </a:endParaRPr>
          </a:p>
          <a:p>
            <a:r>
              <a:rPr lang="en-US" altLang="ar-JO">
                <a:solidFill>
                  <a:srgbClr val="FFFF00"/>
                </a:solidFill>
              </a:rPr>
              <a:t>(positive)</a:t>
            </a:r>
            <a:endParaRPr lang="en-US" altLang="ar-JO">
              <a:solidFill>
                <a:srgbClr val="FFFF00"/>
              </a:solidFill>
            </a:endParaRPr>
          </a:p>
        </p:txBody>
      </p:sp>
      <p:sp>
        <p:nvSpPr>
          <p:cNvPr id="22534" name="Rectangle 9"/>
          <p:cNvSpPr>
            <a:spLocks noChangeArrowheads="1"/>
          </p:cNvSpPr>
          <p:nvPr/>
        </p:nvSpPr>
        <p:spPr bwMode="auto">
          <a:xfrm>
            <a:off x="3931442" y="3734686"/>
            <a:ext cx="749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ar-JO" b="1" dirty="0">
                <a:solidFill>
                  <a:srgbClr val="FFFF00"/>
                </a:solidFill>
                <a:sym typeface="Wingdings" panose="05000000000000000000" pitchFamily="2" charset="2"/>
              </a:rPr>
              <a:t></a:t>
            </a:r>
            <a:endParaRPr lang="en-US" altLang="ar-JO" b="1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altLang="ar-JO" b="1" dirty="0">
                <a:solidFill>
                  <a:srgbClr val="FFFF00"/>
                </a:solidFill>
                <a:sym typeface="Wingdings" panose="05000000000000000000" pitchFamily="2" charset="2"/>
              </a:rPr>
              <a:t>wells</a:t>
            </a:r>
            <a:endParaRPr lang="en-US" altLang="ar-JO" b="1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2535" name="Text Box 10"/>
          <p:cNvSpPr txBox="1">
            <a:spLocks noChangeArrowheads="1"/>
          </p:cNvSpPr>
          <p:nvPr/>
        </p:nvSpPr>
        <p:spPr bwMode="auto">
          <a:xfrm>
            <a:off x="5226843" y="3718810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b="1">
                <a:solidFill>
                  <a:srgbClr val="FFFF00"/>
                </a:solidFill>
                <a:sym typeface="Wingdings" panose="05000000000000000000" pitchFamily="2" charset="2"/>
              </a:rPr>
              <a:t></a:t>
            </a:r>
            <a:endParaRPr lang="en-US" altLang="ar-JO" b="1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6295231" y="3718810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b="1">
                <a:solidFill>
                  <a:srgbClr val="FFFF00"/>
                </a:solidFill>
                <a:sym typeface="Wingdings" panose="05000000000000000000" pitchFamily="2" charset="2"/>
              </a:rPr>
              <a:t></a:t>
            </a:r>
            <a:endParaRPr lang="en-US" altLang="ar-JO" b="1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7285831" y="3718810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b="1">
                <a:solidFill>
                  <a:srgbClr val="FFFF00"/>
                </a:solidFill>
                <a:sym typeface="Wingdings" panose="05000000000000000000" pitchFamily="2" charset="2"/>
              </a:rPr>
              <a:t></a:t>
            </a:r>
            <a:endParaRPr lang="en-US" altLang="ar-JO" b="1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2538" name="Text Box 14"/>
          <p:cNvSpPr txBox="1">
            <a:spLocks noChangeArrowheads="1"/>
          </p:cNvSpPr>
          <p:nvPr/>
        </p:nvSpPr>
        <p:spPr bwMode="auto">
          <a:xfrm>
            <a:off x="5607843" y="2575810"/>
            <a:ext cx="919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>
                <a:solidFill>
                  <a:srgbClr val="FFFF00"/>
                </a:solidFill>
              </a:rPr>
              <a:t>DNA</a:t>
            </a:r>
            <a:r>
              <a:rPr lang="en-US" altLang="ar-JO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  <a:endParaRPr lang="en-US" altLang="ar-JO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961868" y="1600200"/>
            <a:ext cx="10430655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80000"/>
              </a:spcBef>
            </a:pPr>
            <a:r>
              <a:rPr lang="en-US" altLang="ar-JO" dirty="0"/>
              <a:t>TAE (Tris-acetate-EDTA) and TBE (Tris-borate-EDTA) are the most common buffers for duplex DNA</a:t>
            </a:r>
            <a:endParaRPr lang="en-US" altLang="ar-JO" dirty="0"/>
          </a:p>
          <a:p>
            <a:pPr eaLnBrk="1" hangingPunct="1">
              <a:lnSpc>
                <a:spcPct val="80000"/>
              </a:lnSpc>
              <a:spcBef>
                <a:spcPct val="80000"/>
              </a:spcBef>
            </a:pPr>
            <a:endParaRPr lang="en-US" altLang="ar-JO" dirty="0"/>
          </a:p>
          <a:p>
            <a:pPr eaLnBrk="1" hangingPunct="1">
              <a:lnSpc>
                <a:spcPct val="80000"/>
              </a:lnSpc>
              <a:spcBef>
                <a:spcPct val="80000"/>
              </a:spcBef>
            </a:pPr>
            <a:r>
              <a:rPr lang="en-US" altLang="ar-JO" dirty="0"/>
              <a:t>Establish pH and provide ions to support conductivity</a:t>
            </a:r>
            <a:endParaRPr lang="en-US" altLang="ar-JO" dirty="0"/>
          </a:p>
          <a:p>
            <a:pPr eaLnBrk="1" hangingPunct="1">
              <a:lnSpc>
                <a:spcPct val="80000"/>
              </a:lnSpc>
              <a:spcBef>
                <a:spcPct val="80000"/>
              </a:spcBef>
            </a:pPr>
            <a:endParaRPr lang="en-US" altLang="ar-JO" dirty="0"/>
          </a:p>
          <a:p>
            <a:pPr eaLnBrk="1" hangingPunct="1">
              <a:lnSpc>
                <a:spcPct val="80000"/>
              </a:lnSpc>
              <a:spcBef>
                <a:spcPct val="80000"/>
              </a:spcBef>
            </a:pPr>
            <a:r>
              <a:rPr lang="en-US" altLang="ar-JO" dirty="0"/>
              <a:t>Concentration affects DNA migration</a:t>
            </a:r>
            <a:endParaRPr lang="en-US" altLang="ar-JO" dirty="0"/>
          </a:p>
          <a:p>
            <a:pPr lvl="1" eaLnBrk="1" hangingPunct="1">
              <a:lnSpc>
                <a:spcPct val="80000"/>
              </a:lnSpc>
            </a:pPr>
            <a:r>
              <a:rPr lang="en-US" altLang="ar-JO" dirty="0"/>
              <a:t>Use of water will produce no </a:t>
            </a:r>
            <a:r>
              <a:rPr lang="en-US" altLang="ar-JO" dirty="0" err="1"/>
              <a:t>migraton</a:t>
            </a:r>
            <a:endParaRPr lang="en-US" altLang="ar-JO" dirty="0"/>
          </a:p>
          <a:p>
            <a:pPr lvl="1" eaLnBrk="1" hangingPunct="1">
              <a:lnSpc>
                <a:spcPct val="80000"/>
              </a:lnSpc>
            </a:pPr>
            <a:r>
              <a:rPr lang="en-US" altLang="ar-JO" dirty="0"/>
              <a:t>High buffer conc. could melt the agarose gel</a:t>
            </a:r>
            <a:endParaRPr lang="en-US" altLang="ar-JO" dirty="0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961868" y="514534"/>
            <a:ext cx="8899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ar-JO" sz="3600" dirty="0">
                <a:solidFill>
                  <a:srgbClr val="FF0000"/>
                </a:solidFill>
              </a:rPr>
              <a:t>Electrophoresis Buffer</a:t>
            </a:r>
            <a:endParaRPr lang="en-IN" altLang="ar-JO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431353" y="2680949"/>
            <a:ext cx="6689360" cy="4267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ar-JO" dirty="0"/>
              <a:t>Contains a dense substance, such as </a:t>
            </a:r>
            <a:r>
              <a:rPr lang="en-US" altLang="ar-JO" dirty="0">
                <a:solidFill>
                  <a:srgbClr val="FB053A"/>
                </a:solidFill>
              </a:rPr>
              <a:t>glycerol</a:t>
            </a:r>
            <a:r>
              <a:rPr lang="en-US" altLang="ar-JO" dirty="0"/>
              <a:t>, to allow the sample to "fall" into the sample wells</a:t>
            </a:r>
            <a:endParaRPr lang="en-US" altLang="ar-JO" dirty="0"/>
          </a:p>
          <a:p>
            <a:pPr algn="just" eaLnBrk="1" hangingPunct="1">
              <a:lnSpc>
                <a:spcPct val="90000"/>
              </a:lnSpc>
            </a:pPr>
            <a:r>
              <a:rPr lang="en-US" altLang="ar-JO" dirty="0"/>
              <a:t>Contains one or two </a:t>
            </a:r>
            <a:r>
              <a:rPr lang="en-US" altLang="ar-JO" dirty="0">
                <a:solidFill>
                  <a:srgbClr val="FB053A"/>
                </a:solidFill>
              </a:rPr>
              <a:t>tracking dyes</a:t>
            </a:r>
            <a:r>
              <a:rPr lang="en-US" altLang="ar-JO" dirty="0"/>
              <a:t>, which migrate in the gel and allow monitoring of how far the electrophoresis has proceeded. </a:t>
            </a:r>
            <a:endParaRPr lang="en-US" altLang="ar-JO" dirty="0"/>
          </a:p>
        </p:txBody>
      </p:sp>
      <p:pic>
        <p:nvPicPr>
          <p:cNvPr id="27651" name="Picture 5" descr="GelLoad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495" y="2343150"/>
            <a:ext cx="3811270" cy="3952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7"/>
          <p:cNvSpPr>
            <a:spLocks noChangeArrowheads="1"/>
          </p:cNvSpPr>
          <p:nvPr/>
        </p:nvSpPr>
        <p:spPr bwMode="auto">
          <a:xfrm>
            <a:off x="338528" y="1254797"/>
            <a:ext cx="10799164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ar-JO" sz="2800" dirty="0"/>
              <a:t>DNA samples are loaded into a gel AFTER the tank has been filled with buffer, covering the gel</a:t>
            </a:r>
            <a:endParaRPr lang="en-US" altLang="ar-JO" sz="2800" dirty="0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2444647" y="388311"/>
            <a:ext cx="6096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ar-JO" sz="3600" dirty="0">
                <a:solidFill>
                  <a:srgbClr val="FF0000"/>
                </a:solidFill>
              </a:rPr>
              <a:t>Loading Dye</a:t>
            </a:r>
            <a:endParaRPr lang="en-IN" altLang="ar-JO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gel loading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72" y="1446294"/>
            <a:ext cx="6977362" cy="388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742572" y="563139"/>
            <a:ext cx="2725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800" dirty="0">
                <a:solidFill>
                  <a:srgbClr val="FF0000"/>
                </a:solidFill>
              </a:rPr>
              <a:t>Loading the Gel</a:t>
            </a:r>
            <a:endParaRPr lang="en-US" altLang="ar-JO" sz="2800" dirty="0">
              <a:solidFill>
                <a:srgbClr val="FF0000"/>
              </a:solidFill>
            </a:endParaRPr>
          </a:p>
        </p:txBody>
      </p:sp>
      <p:pic>
        <p:nvPicPr>
          <p:cNvPr id="4" name="Picture 2" descr="6X loading dy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503" y="1446294"/>
            <a:ext cx="3399018" cy="388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379503" y="566321"/>
            <a:ext cx="3925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2800" dirty="0">
                <a:solidFill>
                  <a:srgbClr val="FF0000"/>
                </a:solidFill>
              </a:rPr>
              <a:t>Sample Preparation</a:t>
            </a:r>
            <a:endParaRPr lang="en-US" altLang="ar-JO" dirty="0">
              <a:solidFill>
                <a:srgbClr val="FF0000"/>
              </a:solidFill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379503" y="5518716"/>
            <a:ext cx="362761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/>
              <a:t>Loading dye:  </a:t>
            </a:r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endParaRPr lang="en-US" altLang="en-US" sz="2000" dirty="0"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dirty="0"/>
              <a:t>Bromophenol Blue (for color)</a:t>
            </a: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</a:t>
            </a:r>
            <a:endParaRPr lang="en-US" altLang="en-US" sz="240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95091" y="5525043"/>
            <a:ext cx="702484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000" dirty="0"/>
              <a:t>Carefully place the pipette tip over a well and gently expel the sample.  The sample should sink into the well.  Be careful not to puncture the gel with the pipette tip.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90" y="2477622"/>
            <a:ext cx="2054900" cy="2902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3761281" y="351842"/>
            <a:ext cx="56225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Staining DNA in the Gel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6388" name="Text Box 8"/>
          <p:cNvSpPr txBox="1">
            <a:spLocks noChangeArrowheads="1"/>
          </p:cNvSpPr>
          <p:nvPr/>
        </p:nvSpPr>
        <p:spPr bwMode="auto">
          <a:xfrm>
            <a:off x="1870023" y="5793199"/>
            <a:ext cx="9882266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***CAUTION!  Ethidium bromide is a powerful mutagen and is moderately toxic.  </a:t>
            </a:r>
            <a:r>
              <a:rPr lang="en-US" altLang="en-US" sz="2000" b="1" dirty="0">
                <a:solidFill>
                  <a:srgbClr val="C00000"/>
                </a:solidFill>
              </a:rPr>
              <a:t>Gloves should be always worn</a:t>
            </a:r>
            <a:r>
              <a:rPr lang="en-US" altLang="en-US" sz="2000" dirty="0">
                <a:solidFill>
                  <a:srgbClr val="C00000"/>
                </a:solidFill>
              </a:rPr>
              <a:t>.</a:t>
            </a:r>
            <a:endParaRPr lang="en-US" altLang="en-US" sz="2000" dirty="0">
              <a:solidFill>
                <a:srgbClr val="C00000"/>
              </a:solidFill>
            </a:endParaRPr>
          </a:p>
        </p:txBody>
      </p:sp>
      <p:sp>
        <p:nvSpPr>
          <p:cNvPr id="16389" name="Text Box 9"/>
          <p:cNvSpPr txBox="1">
            <a:spLocks noChangeArrowheads="1"/>
          </p:cNvSpPr>
          <p:nvPr/>
        </p:nvSpPr>
        <p:spPr bwMode="auto">
          <a:xfrm>
            <a:off x="870680" y="1064801"/>
            <a:ext cx="1064176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000" dirty="0"/>
              <a:t>•   </a:t>
            </a:r>
            <a:r>
              <a:rPr lang="en-US" altLang="ar-JO" sz="2000" dirty="0"/>
              <a:t>Allows DNA visualization after gel electrophoresis</a:t>
            </a:r>
            <a:endParaRPr lang="en-US" altLang="ar-JO" sz="2000" dirty="0"/>
          </a:p>
          <a:p>
            <a:pPr>
              <a:spcBef>
                <a:spcPct val="0"/>
              </a:spcBef>
              <a:buNone/>
            </a:pPr>
            <a:endParaRPr lang="en-US" altLang="ar-JO" sz="2000" dirty="0"/>
          </a:p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Ethidium bromide binds to DNA and fluoresces under UV light, allowing the visualization of DNA on a Gel. </a:t>
            </a: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</p:txBody>
      </p:sp>
      <p:pic>
        <p:nvPicPr>
          <p:cNvPr id="6" name="Picture 4" descr="200px-AgarosegelU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77622"/>
            <a:ext cx="3386327" cy="2902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2409" y="340167"/>
            <a:ext cx="450749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145" dirty="0">
                <a:solidFill>
                  <a:srgbClr val="FF0000"/>
                </a:solidFill>
                <a:cs typeface="+mn-cs"/>
              </a:rPr>
              <a:t>DNA  ladder</a:t>
            </a:r>
            <a:endParaRPr sz="4000" spc="-145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52727" y="954998"/>
            <a:ext cx="2355209" cy="502371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object 4"/>
          <p:cNvGraphicFramePr/>
          <p:nvPr/>
        </p:nvGraphicFramePr>
        <p:xfrm>
          <a:off x="918470" y="954998"/>
          <a:ext cx="5647878" cy="5250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gel box cov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075" y="1487488"/>
            <a:ext cx="36391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4" descr="power supply 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535" y="1487488"/>
            <a:ext cx="5095407" cy="3883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3822492" y="510214"/>
            <a:ext cx="40160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3200" dirty="0">
                <a:solidFill>
                  <a:srgbClr val="FF0000"/>
                </a:solidFill>
              </a:rPr>
              <a:t>Running the Gel</a:t>
            </a:r>
            <a:endParaRPr lang="en-US" altLang="ar-JO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50692" y="1606050"/>
            <a:ext cx="10490616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sz="3200" kern="0" dirty="0"/>
              <a:t>After electrophoresis, the gel is illuminated with an ultraviolet lamp to view the DNA bands. The ethidium bromide fluoresces reddish-orange in the presence of DNA.</a:t>
            </a:r>
            <a:endParaRPr lang="en-US" altLang="zh-CN" sz="3200" kern="0" dirty="0"/>
          </a:p>
          <a:p>
            <a:pPr indent="0" algn="just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kern="0" dirty="0"/>
              <a:t> </a:t>
            </a:r>
            <a:endParaRPr lang="en-US" altLang="zh-CN" sz="3200" kern="0" dirty="0"/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sz="3200" kern="0" dirty="0"/>
              <a:t>photograph it with a digital camera. </a:t>
            </a:r>
            <a:endParaRPr lang="en-US" altLang="zh-CN" sz="3200" kern="0" dirty="0"/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altLang="zh-CN" sz="3200" kern="0" dirty="0"/>
          </a:p>
        </p:txBody>
      </p:sp>
      <p:sp>
        <p:nvSpPr>
          <p:cNvPr id="2" name="Rectangle 1"/>
          <p:cNvSpPr/>
          <p:nvPr/>
        </p:nvSpPr>
        <p:spPr>
          <a:xfrm>
            <a:off x="4991370" y="546105"/>
            <a:ext cx="22092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zh-CN" sz="4000" kern="0" dirty="0">
                <a:solidFill>
                  <a:srgbClr val="FF0000"/>
                </a:solidFill>
              </a:rPr>
              <a:t>	Analysis</a:t>
            </a:r>
            <a:endParaRPr lang="en-US" altLang="zh-CN" sz="40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5" descr="sld00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39" y="1371600"/>
            <a:ext cx="396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7" descr="sld0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713" y="1371600"/>
            <a:ext cx="48133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early ru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391" y="1562099"/>
            <a:ext cx="3680369" cy="4239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856699" y="2893367"/>
            <a:ext cx="14109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altLang="en-US" sz="2400">
                <a:solidFill>
                  <a:srgbClr val="FF0000"/>
                </a:solidFill>
              </a:rPr>
              <a:t>wells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7856699" y="3198167"/>
            <a:ext cx="348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altLang="en-US" sz="2400">
                <a:solidFill>
                  <a:srgbClr val="FF0000"/>
                </a:solidFill>
              </a:rPr>
              <a:t>Bromophenol Blue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949289" y="1181101"/>
            <a:ext cx="151525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Cathode</a:t>
            </a:r>
            <a:endParaRPr lang="en-US" altLang="en-US" sz="24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(-)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3079202" y="4838701"/>
            <a:ext cx="12076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Anode</a:t>
            </a:r>
            <a:endParaRPr lang="en-US" altLang="en-US" sz="24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(+)</a:t>
            </a:r>
            <a:endParaRPr lang="en-US" altLang="en-US" sz="240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6631" name="Text Box 8"/>
          <p:cNvSpPr txBox="1">
            <a:spLocks noChangeArrowheads="1"/>
          </p:cNvSpPr>
          <p:nvPr/>
        </p:nvSpPr>
        <p:spPr bwMode="auto">
          <a:xfrm>
            <a:off x="6096000" y="4607868"/>
            <a:ext cx="13091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Gel</a:t>
            </a:r>
            <a:endParaRPr lang="en-US" altLang="en-US" sz="2400" dirty="0">
              <a:solidFill>
                <a:srgbClr val="FF0000"/>
              </a:solidFill>
            </a:endParaRPr>
          </a:p>
        </p:txBody>
      </p:sp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3210992" y="2981326"/>
            <a:ext cx="83337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DNA</a:t>
            </a:r>
            <a:endParaRPr lang="en-US" altLang="en-US" sz="20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(-)</a:t>
            </a:r>
            <a:endParaRPr lang="en-US" altLang="en-US" sz="20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sym typeface="Wingdings" panose="05000000000000000000" pitchFamily="2" charset="2"/>
              </a:rPr>
              <a:t></a:t>
            </a:r>
            <a:endParaRPr lang="en-US" altLang="en-US" sz="200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3968" y="752719"/>
            <a:ext cx="8220856" cy="598536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655195" y="1380345"/>
            <a:ext cx="10881610" cy="439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ar-JO" sz="2800" dirty="0"/>
              <a:t>Estimation of the size of DNA molecules following restriction enzyme digestion, e.g. in restriction mapping of cloned DNA.</a:t>
            </a:r>
            <a:endParaRPr lang="en-IN" altLang="ar-J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altLang="ar-J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ar-JO" sz="2800" dirty="0"/>
              <a:t>Analysis of PCR products, e.g. in molecular genetic diagnosis or genetic fingerprinting</a:t>
            </a:r>
            <a:endParaRPr lang="en-IN" altLang="ar-J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altLang="ar-J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ar-JO" sz="2800" dirty="0"/>
              <a:t>Separation of DNA fragments for extraction and purification.</a:t>
            </a:r>
            <a:endParaRPr lang="en-IN" altLang="ar-J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altLang="ar-J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ar-JO" sz="2800" dirty="0"/>
              <a:t>Separation of restricted genomic DNA prior to Southern transfer, or of RNA prior to Northern transfer.</a:t>
            </a:r>
            <a:endParaRPr lang="en-IN" altLang="ar-JO" sz="2800" dirty="0"/>
          </a:p>
        </p:txBody>
      </p:sp>
      <p:sp>
        <p:nvSpPr>
          <p:cNvPr id="32771" name="TextBox 4"/>
          <p:cNvSpPr txBox="1">
            <a:spLocks noChangeArrowheads="1"/>
          </p:cNvSpPr>
          <p:nvPr/>
        </p:nvSpPr>
        <p:spPr bwMode="auto">
          <a:xfrm>
            <a:off x="3943662" y="344488"/>
            <a:ext cx="5943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ar-JO" sz="3600" dirty="0">
                <a:solidFill>
                  <a:schemeClr val="tx1"/>
                </a:solidFill>
              </a:rPr>
              <a:t>Applications</a:t>
            </a:r>
            <a:endParaRPr lang="en-US" altLang="ar-JO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50466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cs typeface="+mn-cs"/>
              </a:rPr>
              <a:t>Protocol</a:t>
            </a:r>
            <a:endParaRPr lang="en-US" altLang="en-US" sz="40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4668" y="945252"/>
            <a:ext cx="11442493" cy="612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Prepare gel tray and place comb in gel tray. 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Prepare a 1 % agarose solution, measure 1.0 g agarose into a flask and add 100 ml 1X TBE buffer. Microwave until agarose is dissolved and solution is clear.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Allow solution to cool to about 60°C before pouring. Add 1 µl of Ethidium bromide.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Pour 60°C gel solution into tray and allow gel to solidify about 30 minutes at room temperature.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To run, gently remove the comb, place tray in electrophoresis chamber, and cover (just until wells are submerged) with electrophoresis buffer (the same buffer used to prepare the agarose).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To prepare samples for electrophoresis, add 2 </a:t>
            </a:r>
            <a:r>
              <a:rPr lang="en-US" sz="2200" dirty="0" err="1">
                <a:latin typeface="Calibri" panose="020F0502020204030204" charset="0"/>
                <a:ea typeface="Calibri" panose="020F0502020204030204" charset="0"/>
              </a:rPr>
              <a:t>μl</a:t>
            </a: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 of 6x gel loading dye for every 5 </a:t>
            </a:r>
            <a:r>
              <a:rPr lang="en-US" sz="2200" dirty="0" err="1">
                <a:latin typeface="Calibri" panose="020F0502020204030204" charset="0"/>
                <a:ea typeface="Calibri" panose="020F0502020204030204" charset="0"/>
              </a:rPr>
              <a:t>μl</a:t>
            </a: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 of DNA solution. Mix well &amp; load. Don’t forget to load the DNA size marker.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 Electrophoresis at 50-150 volts until dye markers have migrated an appropriate distance, depending on the size of DNA to be visualized.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sz="2200" dirty="0">
                <a:latin typeface="Calibri" panose="020F0502020204030204" charset="0"/>
                <a:ea typeface="Calibri" panose="020F0502020204030204" charset="0"/>
              </a:rPr>
              <a:t>Visualize DNA under the UV transilluminator. </a:t>
            </a:r>
            <a:endParaRPr lang="en-US" sz="2200" dirty="0">
              <a:latin typeface="Calibri" panose="020F0502020204030204" charset="0"/>
              <a:ea typeface="Calibri" panose="020F0502020204030204" charset="0"/>
            </a:endParaRPr>
          </a:p>
          <a:p>
            <a:r>
              <a:rPr lang="en-US" sz="2200" b="1" dirty="0">
                <a:latin typeface="Calibri" panose="020F0502020204030204" charset="0"/>
                <a:ea typeface="Calibri" panose="020F0502020204030204" charset="0"/>
              </a:rPr>
              <a:t> </a:t>
            </a:r>
            <a:endParaRPr lang="ar-JO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4969</Words>
  <Application>WPS Presentation</Application>
  <PresentationFormat>Widescreen</PresentationFormat>
  <Paragraphs>254</Paragraphs>
  <Slides>26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SimSun</vt:lpstr>
      <vt:lpstr>Wingdings</vt:lpstr>
      <vt:lpstr>Andalus</vt:lpstr>
      <vt:lpstr>MS PGothic</vt:lpstr>
      <vt:lpstr>Monotype Sorts</vt:lpstr>
      <vt:lpstr>Wingdings</vt:lpstr>
      <vt:lpstr>Times New Roman</vt:lpstr>
      <vt:lpstr>Arial</vt:lpstr>
      <vt:lpstr>Geneva</vt:lpstr>
      <vt:lpstr>Segoe Print</vt:lpstr>
      <vt:lpstr>Microsoft YaHei</vt:lpstr>
      <vt:lpstr>Arial Unicode MS</vt:lpstr>
      <vt:lpstr>Tahoma</vt:lpstr>
      <vt:lpstr>Calibri Light</vt:lpstr>
      <vt:lpstr>Calibri</vt:lpstr>
      <vt:lpstr>Symbol</vt:lpstr>
      <vt:lpstr>Office Theme</vt:lpstr>
      <vt:lpstr>Horizontal  Gel Electrophoresis</vt:lpstr>
      <vt:lpstr>PowerPoint 演示文稿</vt:lpstr>
      <vt:lpstr>PowerPoint 演示文稿</vt:lpstr>
      <vt:lpstr>PowerPoint 演示文稿</vt:lpstr>
      <vt:lpstr>PowerPoint 演示文稿</vt:lpstr>
      <vt:lpstr>Components of an Electrophoresis System</vt:lpstr>
      <vt:lpstr>PowerPoint 演示文稿</vt:lpstr>
      <vt:lpstr>PowerPoint 演示文稿</vt:lpstr>
      <vt:lpstr>Concentrations of used agarose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DNA  ladder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Protocol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Lenovo</cp:lastModifiedBy>
  <cp:revision>15</cp:revision>
  <dcterms:created xsi:type="dcterms:W3CDTF">2021-07-22T16:27:00Z</dcterms:created>
  <dcterms:modified xsi:type="dcterms:W3CDTF">2023-07-16T21:14:19Z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E9AE8DBEBF3C40038A8EEF94E208C550</vt:lpwstr>
  </property>
  <property fmtid="{D5CDD505-2E9C-101B-9397-08002B2CF9AE}" pid="3" name="KSOProductBuildVer">
    <vt:lpwstr>1033-11.2.0.11537</vt:lpwstr>
  </property>
</Properties>
</file>