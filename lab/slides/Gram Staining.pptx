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63" r:id="rId1"/>
    <p:sldMasterId id="2147483775" r:id="rId2"/>
  </p:sldMasterIdLst>
  <p:notesMasterIdLst>
    <p:notesMasterId r:id="rId40"/>
  </p:notesMasterIdLst>
  <p:sldIdLst>
    <p:sldId id="342" r:id="rId3"/>
    <p:sldId id="299" r:id="rId4"/>
    <p:sldId id="257" r:id="rId5"/>
    <p:sldId id="258" r:id="rId6"/>
    <p:sldId id="259" r:id="rId7"/>
    <p:sldId id="260" r:id="rId8"/>
    <p:sldId id="261" r:id="rId9"/>
    <p:sldId id="262" r:id="rId10"/>
    <p:sldId id="288" r:id="rId11"/>
    <p:sldId id="300" r:id="rId12"/>
    <p:sldId id="264" r:id="rId13"/>
    <p:sldId id="301" r:id="rId14"/>
    <p:sldId id="302" r:id="rId15"/>
    <p:sldId id="276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4" r:id="rId27"/>
    <p:sldId id="313" r:id="rId28"/>
    <p:sldId id="266" r:id="rId29"/>
    <p:sldId id="265" r:id="rId30"/>
    <p:sldId id="321" r:id="rId31"/>
    <p:sldId id="293" r:id="rId32"/>
    <p:sldId id="322" r:id="rId33"/>
    <p:sldId id="294" r:id="rId34"/>
    <p:sldId id="324" r:id="rId35"/>
    <p:sldId id="325" r:id="rId36"/>
    <p:sldId id="326" r:id="rId37"/>
    <p:sldId id="327" r:id="rId38"/>
    <p:sldId id="29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380"/>
    <p:restoredTop sz="79032" autoAdjust="0"/>
  </p:normalViewPr>
  <p:slideViewPr>
    <p:cSldViewPr>
      <p:cViewPr varScale="1">
        <p:scale>
          <a:sx n="48" d="100"/>
          <a:sy n="48" d="100"/>
        </p:scale>
        <p:origin x="1347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ah Al Bataineh" userId="b400c1d921f65d71" providerId="LiveId" clId="{665EBC94-7648-4525-B7A8-D831CC08342F}"/>
    <pc:docChg chg="modSld">
      <pc:chgData name="Erwah Al Bataineh" userId="b400c1d921f65d71" providerId="LiveId" clId="{665EBC94-7648-4525-B7A8-D831CC08342F}" dt="2023-03-19T18:17:09.692" v="12" actId="207"/>
      <pc:docMkLst>
        <pc:docMk/>
      </pc:docMkLst>
      <pc:sldChg chg="modSp mod">
        <pc:chgData name="Erwah Al Bataineh" userId="b400c1d921f65d71" providerId="LiveId" clId="{665EBC94-7648-4525-B7A8-D831CC08342F}" dt="2023-03-19T18:17:09.692" v="12" actId="207"/>
        <pc:sldMkLst>
          <pc:docMk/>
          <pc:sldMk cId="3403379665" sldId="308"/>
        </pc:sldMkLst>
        <pc:spChg chg="mod">
          <ac:chgData name="Erwah Al Bataineh" userId="b400c1d921f65d71" providerId="LiveId" clId="{665EBC94-7648-4525-B7A8-D831CC08342F}" dt="2023-03-19T18:17:09.692" v="12" actId="207"/>
          <ac:spMkLst>
            <pc:docMk/>
            <pc:sldMk cId="3403379665" sldId="308"/>
            <ac:spMk id="3" creationId="{93C9920C-02E6-4422-AA0A-5D49BA1F85FA}"/>
          </ac:spMkLst>
        </pc:spChg>
      </pc:sldChg>
      <pc:sldChg chg="modSp mod">
        <pc:chgData name="Erwah Al Bataineh" userId="b400c1d921f65d71" providerId="LiveId" clId="{665EBC94-7648-4525-B7A8-D831CC08342F}" dt="2023-03-19T18:14:59.389" v="8" actId="120"/>
        <pc:sldMkLst>
          <pc:docMk/>
          <pc:sldMk cId="0" sldId="342"/>
        </pc:sldMkLst>
        <pc:spChg chg="mod">
          <ac:chgData name="Erwah Al Bataineh" userId="b400c1d921f65d71" providerId="LiveId" clId="{665EBC94-7648-4525-B7A8-D831CC08342F}" dt="2023-03-19T18:14:59.389" v="8" actId="120"/>
          <ac:spMkLst>
            <pc:docMk/>
            <pc:sldMk cId="0" sldId="342"/>
            <ac:spMk id="6" creationId="{C002929B-7955-5411-ED6E-E7238BB8E24E}"/>
          </ac:spMkLst>
        </pc:spChg>
      </pc:sldChg>
    </pc:docChg>
  </pc:docChgLst>
  <pc:docChgLst>
    <pc:chgData name="Erwah Al Bataineh" userId="b400c1d921f65d71" providerId="LiveId" clId="{8FA2D6F5-88DD-4A2F-8C15-E0EAAF34A725}"/>
    <pc:docChg chg="custSel delSld modSld">
      <pc:chgData name="Erwah Al Bataineh" userId="b400c1d921f65d71" providerId="LiveId" clId="{8FA2D6F5-88DD-4A2F-8C15-E0EAAF34A725}" dt="2022-11-08T08:02:14.573" v="75" actId="20577"/>
      <pc:docMkLst>
        <pc:docMk/>
      </pc:docMkLst>
      <pc:sldChg chg="modSp del mod">
        <pc:chgData name="Erwah Al Bataineh" userId="b400c1d921f65d71" providerId="LiveId" clId="{8FA2D6F5-88DD-4A2F-8C15-E0EAAF34A725}" dt="2022-11-04T18:54:56.926" v="9" actId="47"/>
        <pc:sldMkLst>
          <pc:docMk/>
          <pc:sldMk cId="0" sldId="256"/>
        </pc:sldMkLst>
        <pc:picChg chg="mod">
          <ac:chgData name="Erwah Al Bataineh" userId="b400c1d921f65d71" providerId="LiveId" clId="{8FA2D6F5-88DD-4A2F-8C15-E0EAAF34A725}" dt="2022-11-04T18:53:55.814" v="1" actId="1076"/>
          <ac:picMkLst>
            <pc:docMk/>
            <pc:sldMk cId="0" sldId="256"/>
            <ac:picMk id="4" creationId="{24CE4F00-DF3B-4EE7-8C04-78E0F6ABBB08}"/>
          </ac:picMkLst>
        </pc:picChg>
      </pc:sldChg>
      <pc:sldChg chg="modSp mod">
        <pc:chgData name="Erwah Al Bataineh" userId="b400c1d921f65d71" providerId="LiveId" clId="{8FA2D6F5-88DD-4A2F-8C15-E0EAAF34A725}" dt="2022-11-08T08:02:14.573" v="75" actId="20577"/>
        <pc:sldMkLst>
          <pc:docMk/>
          <pc:sldMk cId="3631110384" sldId="313"/>
        </pc:sldMkLst>
        <pc:spChg chg="mod">
          <ac:chgData name="Erwah Al Bataineh" userId="b400c1d921f65d71" providerId="LiveId" clId="{8FA2D6F5-88DD-4A2F-8C15-E0EAAF34A725}" dt="2022-11-08T08:02:14.573" v="75" actId="20577"/>
          <ac:spMkLst>
            <pc:docMk/>
            <pc:sldMk cId="3631110384" sldId="313"/>
            <ac:spMk id="3" creationId="{E64DD7C6-0324-49D0-A576-9E461319BD48}"/>
          </ac:spMkLst>
        </pc:spChg>
      </pc:sldChg>
      <pc:sldChg chg="addSp delSp modSp del mod">
        <pc:chgData name="Erwah Al Bataineh" userId="b400c1d921f65d71" providerId="LiveId" clId="{8FA2D6F5-88DD-4A2F-8C15-E0EAAF34A725}" dt="2022-11-04T18:56:05.910" v="67" actId="20577"/>
        <pc:sldMkLst>
          <pc:docMk/>
          <pc:sldMk cId="0" sldId="342"/>
        </pc:sldMkLst>
        <pc:spChg chg="add mod">
          <ac:chgData name="Erwah Al Bataineh" userId="b400c1d921f65d71" providerId="LiveId" clId="{8FA2D6F5-88DD-4A2F-8C15-E0EAAF34A725}" dt="2022-11-04T18:56:05.910" v="67" actId="20577"/>
          <ac:spMkLst>
            <pc:docMk/>
            <pc:sldMk cId="0" sldId="342"/>
            <ac:spMk id="6" creationId="{C002929B-7955-5411-ED6E-E7238BB8E24E}"/>
          </ac:spMkLst>
        </pc:spChg>
        <pc:spChg chg="del">
          <ac:chgData name="Erwah Al Bataineh" userId="b400c1d921f65d71" providerId="LiveId" clId="{8FA2D6F5-88DD-4A2F-8C15-E0EAAF34A725}" dt="2022-11-04T18:54:09.999" v="2" actId="478"/>
          <ac:spMkLst>
            <pc:docMk/>
            <pc:sldMk cId="0" sldId="342"/>
            <ac:spMk id="7" creationId="{4D577900-E26E-C1CB-3977-920F2114A124}"/>
          </ac:spMkLst>
        </pc:spChg>
        <pc:picChg chg="del">
          <ac:chgData name="Erwah Al Bataineh" userId="b400c1d921f65d71" providerId="LiveId" clId="{8FA2D6F5-88DD-4A2F-8C15-E0EAAF34A725}" dt="2022-11-04T18:54:51.879" v="7" actId="478"/>
          <ac:picMkLst>
            <pc:docMk/>
            <pc:sldMk cId="0" sldId="342"/>
            <ac:picMk id="2" creationId="{47B5765A-79F3-FE87-FABF-D77F9CCEA6E2}"/>
          </ac:picMkLst>
        </pc:picChg>
        <pc:picChg chg="del">
          <ac:chgData name="Erwah Al Bataineh" userId="b400c1d921f65d71" providerId="LiveId" clId="{8FA2D6F5-88DD-4A2F-8C15-E0EAAF34A725}" dt="2022-11-04T18:54:54.109" v="8" actId="478"/>
          <ac:picMkLst>
            <pc:docMk/>
            <pc:sldMk cId="0" sldId="342"/>
            <ac:picMk id="4" creationId="{BD738AB0-1D60-ED7C-A454-7497D160AA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17E5ED1-0D47-4219-A237-83D516283D8E}" type="datetimeFigureOut">
              <a:rPr lang="ar-JO" smtClean="0"/>
              <a:pPr/>
              <a:t>27/08/1444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1BAB9F4-993E-4B73-9BBE-6BD4F435DBAD}" type="slidenum">
              <a:rPr lang="ar-JO" smtClean="0"/>
              <a:pPr/>
              <a:t>‹#›</a:t>
            </a:fld>
            <a:endParaRPr 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8EEAA1-6D31-437E-B51D-E72B8F5576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63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AB9F4-993E-4B73-9BBE-6BD4F435DBAD}" type="slidenum">
              <a:rPr lang="ar-JO" smtClean="0"/>
              <a:pPr/>
              <a:t>8</a:t>
            </a:fld>
            <a:endParaRPr lang="ar-J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61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57156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4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39086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23806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35072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ar-J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85243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508743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51711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7864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75600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191214" y="262787"/>
            <a:ext cx="8761576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33500"/>
            <a:ext cx="6858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28010"/>
            <a:ext cx="6858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257176" y="4546601"/>
            <a:ext cx="8786813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87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614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351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8" y="1507068"/>
            <a:ext cx="2394284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6654" y="1507068"/>
            <a:ext cx="5357929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5746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1215" y="26278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191214" y="262787"/>
            <a:ext cx="8761576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06" y="1536192"/>
            <a:ext cx="5157216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74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14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0620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98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C3055EA-D944-44B9-BE96-EF18DB3ABA66}" type="datetimeFigureOut">
              <a:rPr lang="ar-JO" smtClean="0"/>
              <a:t>27/08/1444</a:t>
            </a:fld>
            <a:endParaRPr lang="ar-J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ar-J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9BA010-5137-4B14-8B37-9C2FCD68856A}" type="slidenum">
              <a:rPr lang="ar-JO" smtClean="0"/>
              <a:t>‹#›</a:t>
            </a:fld>
            <a:endParaRPr lang="ar-JO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70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26" y="448631"/>
            <a:ext cx="8237349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D83E1-8893-C38B-1E3B-19ACFB05AF60}"/>
              </a:ext>
            </a:extLst>
          </p:cNvPr>
          <p:cNvSpPr/>
          <p:nvPr/>
        </p:nvSpPr>
        <p:spPr>
          <a:xfrm>
            <a:off x="1187624" y="1017081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"/>
                <a:ea typeface="+mn-ea"/>
                <a:cs typeface="+mn-cs"/>
              </a:rPr>
              <a:t>BT233 – General Microbiology Laboratory</a:t>
            </a:r>
            <a:endParaRPr kumimoji="0" lang="en-AE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2929B-7955-5411-ED6E-E7238BB8E24E}"/>
              </a:ext>
            </a:extLst>
          </p:cNvPr>
          <p:cNvSpPr txBox="1"/>
          <p:nvPr/>
        </p:nvSpPr>
        <p:spPr>
          <a:xfrm>
            <a:off x="1132795" y="2644170"/>
            <a:ext cx="70567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Differential Staining</a:t>
            </a:r>
          </a:p>
          <a:p>
            <a:pPr algn="ctr"/>
            <a:r>
              <a:rPr lang="en-US" sz="4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Gram Staining</a:t>
            </a:r>
          </a:p>
          <a:p>
            <a:pPr algn="ctr"/>
            <a:endParaRPr lang="en-US" sz="48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4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Week#4</a:t>
            </a:r>
            <a:endParaRPr lang="en-AE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E674-EA43-4E6D-B019-813F9234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Classification of bacteria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9830-48EF-4184-84E8-FA9B9E18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45734"/>
            <a:ext cx="8568952" cy="44635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The first step in classification of bacteria is differentiation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between:   Gram positive, Gram negative, and acid – Fast bacteria</a:t>
            </a: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tx1"/>
                </a:solidFill>
              </a:rPr>
              <a:t> For further classification, there is a special key for each of the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above bacterial group that differ from the other group. </a:t>
            </a: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tx1"/>
                </a:solidFill>
              </a:rPr>
              <a:t> You must be sure about your first classification in order to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   achieved  the correct bacterial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428190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3"/>
            <a:ext cx="8480861" cy="115573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How we are Sure about our classification of bacteria into Gram positive and Gram negative?!!!</a:t>
            </a:r>
            <a:endParaRPr lang="ar-JO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916832"/>
            <a:ext cx="8208911" cy="3777622"/>
          </a:xfrm>
        </p:spPr>
        <p:txBody>
          <a:bodyPr/>
          <a:lstStyle/>
          <a:p>
            <a:pPr algn="l">
              <a:buNone/>
            </a:pPr>
            <a:r>
              <a:rPr lang="en-US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This is by using the following three methods:</a:t>
            </a:r>
          </a:p>
          <a:p>
            <a:pPr algn="l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1. Using of Selective media</a:t>
            </a:r>
          </a:p>
          <a:p>
            <a:pPr algn="l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2. Using of 10% KOH</a:t>
            </a:r>
          </a:p>
          <a:p>
            <a:pPr algn="l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3. Using of Gram-Staining</a:t>
            </a:r>
            <a:endParaRPr lang="ar-JO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476672"/>
            <a:ext cx="7543800" cy="105416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1.Using Selective Media</a:t>
            </a:r>
            <a:endParaRPr lang="ar-JO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>
            <a:noAutofit/>
          </a:bodyPr>
          <a:lstStyle/>
          <a:p>
            <a:pPr algn="l">
              <a:buFontTx/>
              <a:buChar char="-"/>
            </a:pPr>
            <a:r>
              <a:rPr lang="en-US" sz="2400" b="1" dirty="0">
                <a:solidFill>
                  <a:schemeClr val="tx1"/>
                </a:solidFill>
              </a:rPr>
              <a:t> Example: </a:t>
            </a:r>
            <a:r>
              <a:rPr lang="en-US" sz="2400" b="1" dirty="0">
                <a:solidFill>
                  <a:srgbClr val="FF0000"/>
                </a:solidFill>
              </a:rPr>
              <a:t>EMB (Eosin Methylene Blue media), </a:t>
            </a:r>
            <a:r>
              <a:rPr lang="en-US" sz="2400" b="1" dirty="0">
                <a:solidFill>
                  <a:srgbClr val="0070C0"/>
                </a:solidFill>
              </a:rPr>
              <a:t>TSI (Triple Sugar 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0070C0"/>
                </a:solidFill>
              </a:rPr>
              <a:t>                   Iron agar,   </a:t>
            </a:r>
            <a:r>
              <a:rPr lang="en-US" sz="2400" b="1" dirty="0">
                <a:solidFill>
                  <a:schemeClr val="tx1"/>
                </a:solidFill>
              </a:rPr>
              <a:t>MacConkey agar, </a:t>
            </a:r>
            <a:r>
              <a:rPr lang="en-US" sz="2400" b="1" dirty="0">
                <a:solidFill>
                  <a:srgbClr val="7030A0"/>
                </a:solidFill>
              </a:rPr>
              <a:t>Bismuth sulfite agar</a:t>
            </a:r>
          </a:p>
          <a:p>
            <a:pPr algn="l">
              <a:buFontTx/>
              <a:buChar char="-"/>
            </a:pPr>
            <a:r>
              <a:rPr lang="en-US" sz="2400" b="1" dirty="0">
                <a:solidFill>
                  <a:schemeClr val="tx1"/>
                </a:solidFill>
              </a:rPr>
              <a:t> All of these media are selective for </a:t>
            </a:r>
            <a:r>
              <a:rPr lang="en-US" sz="2400" b="1" dirty="0">
                <a:solidFill>
                  <a:srgbClr val="FF0000"/>
                </a:solidFill>
              </a:rPr>
              <a:t>Gram negative </a:t>
            </a:r>
            <a:r>
              <a:rPr lang="en-US" sz="2400" b="1" dirty="0">
                <a:solidFill>
                  <a:schemeClr val="tx1"/>
                </a:solidFill>
              </a:rPr>
              <a:t>bacteria, the 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    </a:t>
            </a:r>
            <a:r>
              <a:rPr lang="en-US" sz="2400" b="1" dirty="0">
                <a:solidFill>
                  <a:srgbClr val="FF0000"/>
                </a:solidFill>
              </a:rPr>
              <a:t>Gram positive </a:t>
            </a:r>
            <a:r>
              <a:rPr lang="en-US" sz="2400" b="1" dirty="0">
                <a:solidFill>
                  <a:schemeClr val="tx1"/>
                </a:solidFill>
              </a:rPr>
              <a:t>can’t grow on this media </a:t>
            </a:r>
          </a:p>
          <a:p>
            <a:pPr algn="l">
              <a:buFontTx/>
              <a:buChar char="-"/>
            </a:pPr>
            <a:r>
              <a:rPr lang="en-US" sz="2400" b="1" dirty="0">
                <a:solidFill>
                  <a:schemeClr val="tx1"/>
                </a:solidFill>
              </a:rPr>
              <a:t> Question: If We have unknown bacterium, After inoculation 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            and incubation on these media if the bacteria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  * Grew: the bacteria is 95% Gram negative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  * Not grew: the bacteria is Gram positive</a:t>
            </a:r>
          </a:p>
          <a:p>
            <a:pPr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 </a:t>
            </a:r>
            <a:endParaRPr lang="ar-JO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letter&#10;&#10;Description automatically generated">
            <a:extLst>
              <a:ext uri="{FF2B5EF4-FFF2-40B4-BE49-F238E27FC236}">
                <a16:creationId xmlns:a16="http://schemas.microsoft.com/office/drawing/2014/main" id="{C6352412-F3D4-4000-B137-47F0BAA74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0"/>
            <a:ext cx="8776039" cy="630932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710798"/>
            <a:ext cx="7543800" cy="85638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2. Using of 10% KOH</a:t>
            </a:r>
            <a:endParaRPr lang="ar-JO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78083"/>
            <a:ext cx="8686800" cy="4369118"/>
          </a:xfrm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sz="2800" b="1" dirty="0"/>
              <a:t>According to the main composition the bacterial cell wall divide into: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A. The cell wall that mainly composed from peptidoglycan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       </a:t>
            </a:r>
            <a:r>
              <a:rPr lang="en-US" sz="2400" b="1" dirty="0">
                <a:solidFill>
                  <a:schemeClr val="tx1"/>
                </a:solidFill>
              </a:rPr>
              <a:t>The cell wall of Gram-positive bacteria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 B. The cell wall that mainly composed from Lipopolysaccharide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       </a:t>
            </a:r>
            <a:r>
              <a:rPr lang="en-US" sz="2400" b="1" dirty="0">
                <a:solidFill>
                  <a:schemeClr val="tx1"/>
                </a:solidFill>
              </a:rPr>
              <a:t>The cell wall of Gram-negative bacteria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B. The cell wall that composed from Mycolic Acid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</a:rPr>
              <a:t>      </a:t>
            </a:r>
            <a:r>
              <a:rPr lang="en-US" sz="2400" b="1" dirty="0">
                <a:solidFill>
                  <a:schemeClr val="tx1"/>
                </a:solidFill>
              </a:rPr>
              <a:t>The cell wall of bacteria which we considered it as Gram-positive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        bacteria ( Acid-Fast bacteria).</a:t>
            </a:r>
            <a:endParaRPr lang="ar-JO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ECB8E10-0BD1-48C7-B68F-12B7C1955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309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145" y="621953"/>
            <a:ext cx="7543800" cy="98215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principle of 10% KOH test</a:t>
            </a:r>
            <a:endParaRPr lang="ar-JO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845947"/>
            <a:ext cx="7100862" cy="4390099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800" dirty="0"/>
              <a:t>10% KOH dissolves Lipopolysaccharide neither </a:t>
            </a:r>
          </a:p>
          <a:p>
            <a:pPr marL="0" indent="0" algn="l">
              <a:buNone/>
            </a:pPr>
            <a:r>
              <a:rPr lang="en-US" sz="2800" dirty="0"/>
              <a:t>   Peptidoglycan  nor Mycolic Acid.</a:t>
            </a:r>
          </a:p>
          <a:p>
            <a:pPr marL="0" indent="0" algn="l">
              <a:buNone/>
            </a:pPr>
            <a:endParaRPr lang="en-US" sz="2800" dirty="0"/>
          </a:p>
          <a:p>
            <a:pPr algn="l">
              <a:buFontTx/>
              <a:buChar char="-"/>
            </a:pPr>
            <a:r>
              <a:rPr lang="en-US" sz="2800" dirty="0"/>
              <a:t> Saturated mixture of Lipopolysaccharide is </a:t>
            </a:r>
          </a:p>
          <a:p>
            <a:pPr marL="0" indent="0" algn="l">
              <a:buNone/>
            </a:pPr>
            <a:r>
              <a:rPr lang="en-US" sz="2800" dirty="0"/>
              <a:t>   viscous (mucoid)</a:t>
            </a:r>
          </a:p>
          <a:p>
            <a:pPr marL="0" indent="0" algn="l">
              <a:buNone/>
            </a:pPr>
            <a:endParaRPr lang="en-US" sz="2800" dirty="0"/>
          </a:p>
          <a:p>
            <a:pPr algn="l">
              <a:buFontTx/>
              <a:buChar char="-"/>
            </a:pPr>
            <a:r>
              <a:rPr lang="en-US" sz="2800" dirty="0"/>
              <a:t>This method differentiate Gram-negative from </a:t>
            </a:r>
          </a:p>
          <a:p>
            <a:pPr marL="0" indent="0" algn="l">
              <a:buNone/>
            </a:pPr>
            <a:r>
              <a:rPr lang="en-US" sz="2800" dirty="0"/>
              <a:t>   from others ( can’t differentiate between gram-</a:t>
            </a:r>
          </a:p>
          <a:p>
            <a:pPr marL="0" indent="0" algn="l">
              <a:buNone/>
            </a:pPr>
            <a:r>
              <a:rPr lang="en-US" sz="2800" dirty="0"/>
              <a:t>   positive and considered as Gram-positive</a:t>
            </a:r>
          </a:p>
          <a:p>
            <a:pPr marL="0" indent="0" algn="l">
              <a:buNone/>
            </a:pPr>
            <a:endParaRPr lang="en-US" sz="2800" dirty="0"/>
          </a:p>
          <a:p>
            <a:pPr algn="l">
              <a:buFontTx/>
              <a:buChar char="-"/>
            </a:pPr>
            <a:endParaRPr lang="ar-JO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Materials</a:t>
            </a:r>
            <a:endParaRPr lang="ar-JO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endParaRPr lang="en-US" sz="2400" dirty="0"/>
          </a:p>
          <a:p>
            <a:pPr algn="l">
              <a:buNone/>
            </a:pPr>
            <a:r>
              <a:rPr lang="en-US" sz="2400" dirty="0"/>
              <a:t>1. Slides</a:t>
            </a:r>
          </a:p>
          <a:p>
            <a:pPr algn="l">
              <a:buNone/>
            </a:pPr>
            <a:r>
              <a:rPr lang="en-US" sz="2400" dirty="0"/>
              <a:t>2. Loop</a:t>
            </a:r>
          </a:p>
          <a:p>
            <a:pPr algn="l">
              <a:buNone/>
            </a:pPr>
            <a:r>
              <a:rPr lang="en-US" sz="2400" dirty="0"/>
              <a:t>3.Bacteria G+ (</a:t>
            </a:r>
            <a:r>
              <a:rPr lang="en-US" sz="2400" b="1" i="1" dirty="0"/>
              <a:t>Bacillus</a:t>
            </a:r>
            <a:r>
              <a:rPr lang="en-US" sz="2400" dirty="0"/>
              <a:t>) and G- (</a:t>
            </a:r>
            <a:r>
              <a:rPr lang="en-US" sz="2400" b="1" i="1" dirty="0"/>
              <a:t>E coli</a:t>
            </a:r>
            <a:r>
              <a:rPr lang="en-US" sz="2400" dirty="0"/>
              <a:t>)</a:t>
            </a:r>
          </a:p>
          <a:p>
            <a:pPr algn="l">
              <a:buNone/>
            </a:pPr>
            <a:r>
              <a:rPr lang="en-US" sz="2400" dirty="0"/>
              <a:t>4.10% KOH</a:t>
            </a:r>
            <a:endParaRPr lang="ar-JO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67EA5188-E0FB-4DC4-B745-ECE1104E9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3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3. Using Gram Staining</a:t>
            </a:r>
            <a:endParaRPr lang="ar-JO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b="1" dirty="0"/>
              <a:t>Gram staining is used to classify the bacteria into three </a:t>
            </a:r>
          </a:p>
          <a:p>
            <a:pPr marL="0" indent="0" algn="l">
              <a:buNone/>
            </a:pPr>
            <a:r>
              <a:rPr lang="en-US" sz="2400" b="1" dirty="0"/>
              <a:t>    large groups: </a:t>
            </a:r>
          </a:p>
          <a:p>
            <a:pPr algn="l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Gram positive (+</a:t>
            </a:r>
            <a:r>
              <a:rPr lang="en-US" sz="2400" b="1" dirty="0" err="1">
                <a:solidFill>
                  <a:srgbClr val="FF0000"/>
                </a:solidFill>
              </a:rPr>
              <a:t>ve</a:t>
            </a:r>
            <a:r>
              <a:rPr lang="en-US" sz="2400" b="1" dirty="0">
                <a:solidFill>
                  <a:srgbClr val="FF0000"/>
                </a:solidFill>
              </a:rPr>
              <a:t>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0000"/>
                </a:solidFill>
              </a:rPr>
              <a:t> Gram negative (-</a:t>
            </a:r>
            <a:r>
              <a:rPr lang="en-US" sz="2400" b="1" dirty="0" err="1">
                <a:solidFill>
                  <a:srgbClr val="FF0000"/>
                </a:solidFill>
              </a:rPr>
              <a:t>ve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0000"/>
                </a:solidFill>
              </a:rPr>
              <a:t> Considered as Gram positive </a:t>
            </a:r>
          </a:p>
          <a:p>
            <a:pPr algn="l"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2E3E-2145-4EFD-98E5-A3B9C0B6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3. Using Gram Staining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55FEC-70E4-4586-B5A6-2A45F1BEF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845734"/>
            <a:ext cx="8712967" cy="446358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b="1" dirty="0"/>
              <a:t>The bacteria to be stained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through Gram staining it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must be not older than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24 hours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 For motile bacteria the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 center of the colonies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 is fresher than the edge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 of 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07D7C89B-5E4B-4973-8657-12A5FBB9D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845733"/>
            <a:ext cx="5220072" cy="43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1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B50F-CDA1-49B9-93DB-797C26C3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655" y="620688"/>
            <a:ext cx="7543800" cy="10541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Material needs for Gram Staining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369A5-7DD6-4E08-A13A-C61086BFF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988840"/>
            <a:ext cx="3703320" cy="402336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1. </a:t>
            </a:r>
            <a:r>
              <a:rPr lang="en-US" sz="2400" b="1" dirty="0"/>
              <a:t>Bacterial culture (</a:t>
            </a:r>
            <a:r>
              <a:rPr lang="en-US" sz="2400" b="1" i="1" dirty="0">
                <a:solidFill>
                  <a:srgbClr val="FF0000"/>
                </a:solidFill>
              </a:rPr>
              <a:t>E. coli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1" dirty="0"/>
              <a:t>    </a:t>
            </a:r>
            <a:r>
              <a:rPr lang="en-US" sz="2400" b="1" dirty="0"/>
              <a:t>and </a:t>
            </a:r>
            <a:r>
              <a:rPr lang="en-US" sz="2400" b="1" i="1" dirty="0">
                <a:solidFill>
                  <a:srgbClr val="FF0000"/>
                </a:solidFill>
              </a:rPr>
              <a:t>Bacillus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2. Slides</a:t>
            </a:r>
          </a:p>
          <a:p>
            <a:r>
              <a:rPr lang="en-US" sz="2400" b="1" dirty="0"/>
              <a:t>3. Sterile distilled water</a:t>
            </a:r>
          </a:p>
          <a:p>
            <a:r>
              <a:rPr lang="en-US" sz="2400" b="1" dirty="0"/>
              <a:t>4. Filter paper</a:t>
            </a:r>
          </a:p>
          <a:p>
            <a:r>
              <a:rPr lang="en-US" sz="2400" b="1" dirty="0"/>
              <a:t>5. Loop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355A8-3338-4419-AE22-07A4D5899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2446" y="1772816"/>
            <a:ext cx="4314009" cy="40233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6. Crystal violet or Methylene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    blue stains</a:t>
            </a:r>
          </a:p>
          <a:p>
            <a:r>
              <a:rPr lang="en-US" sz="2400" b="1" dirty="0"/>
              <a:t>7. Iodine</a:t>
            </a:r>
          </a:p>
          <a:p>
            <a:r>
              <a:rPr lang="en-US" sz="2400" b="1" dirty="0"/>
              <a:t>8. Safranin</a:t>
            </a:r>
          </a:p>
          <a:p>
            <a:r>
              <a:rPr lang="en-US" sz="2400" b="1" dirty="0"/>
              <a:t>9. Ethanol 95% or Absolute 100%</a:t>
            </a:r>
          </a:p>
          <a:p>
            <a:r>
              <a:rPr lang="en-US" sz="2400" b="1" dirty="0"/>
              <a:t>10. Compound Microscope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2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Bayen\reagents-of-gram-stainin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7544" y="764704"/>
            <a:ext cx="7920880" cy="4950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A632-A063-4844-9D86-E21CAA20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764704"/>
            <a:ext cx="7543800" cy="8381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Procedure of Gram Staining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ECCA-4D54-4486-903D-3DDC0DBB6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45734"/>
            <a:ext cx="8424935" cy="402336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b="1" dirty="0"/>
              <a:t>Smear preparation: we need to prepare three complete smears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 up to the end of heat fixation, these smears 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225425" indent="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</a:pPr>
            <a:r>
              <a:rPr lang="en-US" sz="2400" b="1" dirty="0"/>
              <a:t> Smear for </a:t>
            </a:r>
            <a:r>
              <a:rPr lang="en-US" sz="2400" b="1" i="1" dirty="0">
                <a:solidFill>
                  <a:srgbClr val="FF0000"/>
                </a:solidFill>
              </a:rPr>
              <a:t>Bacillus</a:t>
            </a:r>
            <a:r>
              <a:rPr lang="en-US" sz="2400" b="1" dirty="0"/>
              <a:t> </a:t>
            </a:r>
          </a:p>
          <a:p>
            <a:pPr marL="225425" indent="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</a:pPr>
            <a:endParaRPr lang="en-US" sz="2400" b="1" dirty="0"/>
          </a:p>
          <a:p>
            <a:pPr marL="225425" indent="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</a:pPr>
            <a:r>
              <a:rPr lang="en-US" sz="2400" b="1" dirty="0"/>
              <a:t> Smear for </a:t>
            </a:r>
            <a:r>
              <a:rPr lang="en-US" sz="2400" b="1" i="1" dirty="0">
                <a:solidFill>
                  <a:srgbClr val="FF0000"/>
                </a:solidFill>
              </a:rPr>
              <a:t>E. coli</a:t>
            </a:r>
          </a:p>
          <a:p>
            <a:pPr marL="225425" indent="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</a:pPr>
            <a:endParaRPr lang="en-US" sz="2400" b="1" i="1" dirty="0">
              <a:solidFill>
                <a:srgbClr val="FF0000"/>
              </a:solidFill>
            </a:endParaRPr>
          </a:p>
          <a:p>
            <a:pPr marL="225425" indent="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</a:pPr>
            <a:r>
              <a:rPr lang="en-US" sz="2400" b="1" dirty="0"/>
              <a:t> The third smear is a mixed smear of </a:t>
            </a:r>
            <a:r>
              <a:rPr lang="en-US" sz="2400" b="1" i="1" dirty="0">
                <a:solidFill>
                  <a:srgbClr val="FF0000"/>
                </a:solidFill>
              </a:rPr>
              <a:t>Bacillus</a:t>
            </a:r>
            <a:r>
              <a:rPr lang="en-US" sz="2400" b="1" dirty="0"/>
              <a:t> and </a:t>
            </a:r>
            <a:r>
              <a:rPr lang="en-US" sz="2400" b="1" i="1" dirty="0">
                <a:solidFill>
                  <a:srgbClr val="FF0000"/>
                </a:solidFill>
              </a:rPr>
              <a:t>E. coli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400" b="1" i="1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166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47667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Smear preparation (</a:t>
            </a:r>
            <a:r>
              <a:rPr lang="en-US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Bacillus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 coli 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smear)</a:t>
            </a:r>
          </a:p>
        </p:txBody>
      </p:sp>
      <p:pic>
        <p:nvPicPr>
          <p:cNvPr id="7" name="Content Placeholder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C22B7E1-4B3D-4DE5-984D-00DE1CBB6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2891"/>
            <a:ext cx="9144000" cy="6395109"/>
          </a:xfrm>
        </p:spPr>
      </p:pic>
    </p:spTree>
    <p:extLst>
      <p:ext uri="{BB962C8B-B14F-4D97-AF65-F5344CB8AC3E}">
        <p14:creationId xmlns:p14="http://schemas.microsoft.com/office/powerpoint/2010/main" val="183587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4E01-6DC7-4114-B99D-FEB710B3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65" y="116632"/>
            <a:ext cx="8496944" cy="4060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Smear preparation of mixed bacteria E. coli and Bacillus</a:t>
            </a:r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82C5E5C7-E7E9-4F6A-973C-9FC364004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2724"/>
            <a:ext cx="8952998" cy="633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2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9229-3568-4342-A8A3-48DEB4CF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8820472" cy="406092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Smear preparation of mixed bacteria E. coli and Bacillus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10D25DB7-0701-41AA-8156-32F45819D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724"/>
            <a:ext cx="9144000" cy="633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77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EC65BA-7820-4BFC-8B4A-B6947427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3" y="-8308"/>
            <a:ext cx="7315834" cy="936104"/>
          </a:xfrm>
          <a:prstGeom prst="rect">
            <a:avLst/>
          </a:prstGeom>
        </p:spPr>
      </p:pic>
      <p:pic>
        <p:nvPicPr>
          <p:cNvPr id="13" name="Picture 12" descr="A picture containing timeline&#10;&#10;Description automatically generated">
            <a:extLst>
              <a:ext uri="{FF2B5EF4-FFF2-40B4-BE49-F238E27FC236}">
                <a16:creationId xmlns:a16="http://schemas.microsoft.com/office/drawing/2014/main" id="{FC4CDB9E-5CF9-4A20-922D-FB8123533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9144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2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3A77-A439-426E-8F88-511B028C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713852"/>
            <a:ext cx="7543800" cy="55010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Principle of Gram Staining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920C-02E6-4422-AA0A-5D49BA1F8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845734"/>
            <a:ext cx="8568951" cy="4023360"/>
          </a:xfrm>
        </p:spPr>
        <p:txBody>
          <a:bodyPr/>
          <a:lstStyle/>
          <a:p>
            <a:r>
              <a:rPr lang="en-US" b="1" dirty="0"/>
              <a:t>For staining of bacteria, we depend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The charge of the bacteria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The charge of the stains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The permeability of bacterial cell wall for the stains</a:t>
            </a:r>
          </a:p>
          <a:p>
            <a:pPr marL="514350" indent="-120650">
              <a:buFont typeface="+mj-lt"/>
              <a:buAutoNum type="romanUcPeriod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Peptidoglycan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Lipopolysaccharides</a:t>
            </a:r>
            <a:r>
              <a:rPr lang="en-US" b="1" dirty="0"/>
              <a:t>  cell walls are stains permeable</a:t>
            </a:r>
          </a:p>
          <a:p>
            <a:pPr marL="514350" indent="-120650">
              <a:buFont typeface="+mj-lt"/>
              <a:buAutoNum type="romanUcPeriod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Mycolic acid </a:t>
            </a:r>
            <a:r>
              <a:rPr lang="en-US" b="1" dirty="0"/>
              <a:t>cell wall ( Waxy lipoidal material ) is stains impermeable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The structure of the bacterial cell wall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Berlin Sans FB Demi" panose="020E0802020502020306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Bell MT" panose="02020503060305020303" pitchFamily="18" charset="0"/>
              </a:rPr>
              <a:t>We must consider all of these to understand the principle of Gram staining</a:t>
            </a:r>
          </a:p>
        </p:txBody>
      </p:sp>
    </p:spTree>
    <p:extLst>
      <p:ext uri="{BB962C8B-B14F-4D97-AF65-F5344CB8AC3E}">
        <p14:creationId xmlns:p14="http://schemas.microsoft.com/office/powerpoint/2010/main" val="3403379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73AD-B772-4053-AE5C-90DD5E3FA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80" y="116633"/>
            <a:ext cx="8964488" cy="57606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happened in each step of Gram staining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3"/>
            <a:ext cx="9144000" cy="60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67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meline&#10;&#10;Description automatically generated with low confidence">
            <a:extLst>
              <a:ext uri="{FF2B5EF4-FFF2-40B4-BE49-F238E27FC236}">
                <a16:creationId xmlns:a16="http://schemas.microsoft.com/office/drawing/2014/main" id="{803C4A71-B6A6-46F1-A939-B755A2322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54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55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F13BBB6-2E78-475B-BAA0-4CC0484F2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41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DC1153A6-281C-4000-A0AA-E4AFED777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65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E3007259-EEC2-4959-8F00-F8D6DB5F5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1" y="116633"/>
            <a:ext cx="8200417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35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9CCA-5B4B-4E4A-8944-EC348745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0230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D7C6-0324-49D0-A576-9E461319B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3" y="1845734"/>
            <a:ext cx="8280920" cy="424756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Gram staining divide the bacteria into:</a:t>
            </a:r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Gram positive</a:t>
            </a:r>
            <a:r>
              <a:rPr lang="en-US" b="1" dirty="0"/>
              <a:t>: The bacteria that retain the color of primary stain ( Violet )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Gram negative</a:t>
            </a:r>
            <a:r>
              <a:rPr lang="en-US" b="1" dirty="0"/>
              <a:t>: The bacteria which accept the color of counter stain ( Pink )</a:t>
            </a:r>
          </a:p>
          <a:p>
            <a:pPr marL="0" indent="0">
              <a:buNone/>
            </a:pP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Considered as Gram positive</a:t>
            </a:r>
            <a:r>
              <a:rPr lang="en-US" b="1" dirty="0"/>
              <a:t>: The bacteria that remain colorless at the end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   of Gram staining ( </a:t>
            </a:r>
            <a:r>
              <a:rPr lang="en-US" b="1" dirty="0">
                <a:solidFill>
                  <a:srgbClr val="FF0000"/>
                </a:solidFill>
              </a:rPr>
              <a:t>Can’t stain through Gram staining </a:t>
            </a:r>
            <a:r>
              <a:rPr lang="en-US" b="1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Gram staining determine </a:t>
            </a:r>
            <a:r>
              <a:rPr lang="en-US" b="1" dirty="0">
                <a:solidFill>
                  <a:srgbClr val="0070C0"/>
                </a:solidFill>
              </a:rPr>
              <a:t>the shape of bacterial cells</a:t>
            </a:r>
            <a:r>
              <a:rPr lang="en-US" b="1" dirty="0"/>
              <a:t>: Bacilli, Cocci, </a:t>
            </a:r>
            <a:r>
              <a:rPr lang="en-US" b="1" dirty="0" err="1"/>
              <a:t>Spirilli</a:t>
            </a:r>
            <a:r>
              <a:rPr lang="en-US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   Coccobacilli, and Vibrio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Gram staining determine </a:t>
            </a:r>
            <a:r>
              <a:rPr lang="en-US" b="1" dirty="0">
                <a:solidFill>
                  <a:srgbClr val="0070C0"/>
                </a:solidFill>
              </a:rPr>
              <a:t>the arrangement of bacterial cells</a:t>
            </a:r>
          </a:p>
        </p:txBody>
      </p:sp>
    </p:spTree>
    <p:extLst>
      <p:ext uri="{BB962C8B-B14F-4D97-AF65-F5344CB8AC3E}">
        <p14:creationId xmlns:p14="http://schemas.microsoft.com/office/powerpoint/2010/main" val="3631110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B7F6BD1-D14F-46C3-BFC7-72313CC40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980728"/>
            <a:ext cx="8712967" cy="48965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F154B95-2AC2-4E9A-ABC5-0C15116B6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28800"/>
            <a:ext cx="8468780" cy="42845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008" y="620688"/>
            <a:ext cx="7543800" cy="910148"/>
          </a:xfrm>
        </p:spPr>
        <p:txBody>
          <a:bodyPr/>
          <a:lstStyle/>
          <a:p>
            <a:pPr algn="ctr"/>
            <a:r>
              <a:rPr lang="en-US" dirty="0"/>
              <a:t>Important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45734"/>
            <a:ext cx="8424935" cy="4023360"/>
          </a:xfrm>
        </p:spPr>
        <p:txBody>
          <a:bodyPr>
            <a:normAutofit/>
          </a:bodyPr>
          <a:lstStyle/>
          <a:p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8312"/>
              </a:buClr>
              <a:buNone/>
            </a:pPr>
            <a:r>
              <a:rPr lang="en-US" b="1" cap="all" spc="200" dirty="0">
                <a:solidFill>
                  <a:srgbClr val="0070C0"/>
                </a:solidFill>
                <a:latin typeface="Calibri Light" panose="020F0302020204030204"/>
              </a:rPr>
              <a:t>Q) </a:t>
            </a:r>
            <a:r>
              <a:rPr lang="en-US" b="1" spc="200" dirty="0">
                <a:solidFill>
                  <a:srgbClr val="0070C0"/>
                </a:solidFill>
                <a:latin typeface="Calibri Light" panose="020F0302020204030204"/>
              </a:rPr>
              <a:t>If we do gram stain for acid –fast bacteria. What is the color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8312"/>
              </a:buClr>
              <a:buNone/>
            </a:pPr>
            <a:r>
              <a:rPr lang="en-US" b="1" spc="200" dirty="0">
                <a:solidFill>
                  <a:srgbClr val="0070C0"/>
                </a:solidFill>
                <a:latin typeface="Calibri Light" panose="020F0302020204030204"/>
              </a:rPr>
              <a:t>     will be?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8312"/>
              </a:buClr>
              <a:buNone/>
            </a:pPr>
            <a:endParaRPr lang="en-US" b="1" cap="all" spc="200" dirty="0">
              <a:solidFill>
                <a:srgbClr val="0070C0"/>
              </a:solidFill>
              <a:latin typeface="Calibri Light" panose="020F0302020204030204"/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8312"/>
              </a:buClr>
              <a:buNone/>
            </a:pPr>
            <a:r>
              <a:rPr lang="en-US" b="1" cap="all" spc="200" dirty="0">
                <a:solidFill>
                  <a:srgbClr val="FF0000"/>
                </a:solidFill>
                <a:latin typeface="Calibri Light" panose="020F0302020204030204"/>
              </a:rPr>
              <a:t>Answer</a:t>
            </a:r>
            <a:r>
              <a:rPr lang="en-US" b="1" cap="all" spc="200" dirty="0">
                <a:solidFill>
                  <a:srgbClr val="000000"/>
                </a:solidFill>
                <a:latin typeface="Calibri Light" panose="020F0302020204030204"/>
              </a:rPr>
              <a:t>: </a:t>
            </a:r>
            <a:r>
              <a:rPr lang="en-US" b="1" spc="200" dirty="0">
                <a:solidFill>
                  <a:srgbClr val="000000"/>
                </a:solidFill>
                <a:latin typeface="Calibri Light" panose="020F0302020204030204"/>
              </a:rPr>
              <a:t>The color of acid-fast bacteria (considered as G+) will be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8312"/>
              </a:buClr>
              <a:buNone/>
            </a:pPr>
            <a:r>
              <a:rPr lang="en-US" b="1" spc="200" dirty="0">
                <a:solidFill>
                  <a:srgbClr val="000000"/>
                </a:solidFill>
                <a:latin typeface="Calibri Light" panose="020F0302020204030204"/>
              </a:rPr>
              <a:t>               </a:t>
            </a:r>
            <a:r>
              <a:rPr lang="en-US" b="1" spc="200" dirty="0">
                <a:solidFill>
                  <a:srgbClr val="FF0000"/>
                </a:solidFill>
                <a:latin typeface="Calibri Light" panose="020F0302020204030204"/>
              </a:rPr>
              <a:t>colorless</a:t>
            </a:r>
            <a:endParaRPr lang="en-US" b="1" cap="all" spc="200" dirty="0">
              <a:solidFill>
                <a:srgbClr val="FF0000"/>
              </a:solidFill>
              <a:latin typeface="Calibri Light" panose="020F0302020204030204"/>
            </a:endParaRPr>
          </a:p>
          <a:p>
            <a:pPr marL="0" lvl="0" indent="0">
              <a:buClr>
                <a:srgbClr val="E48312"/>
              </a:buClr>
              <a:buNone/>
            </a:pPr>
            <a:endParaRPr lang="en-US" b="1" cap="all" spc="200" dirty="0">
              <a:solidFill>
                <a:srgbClr val="000000"/>
              </a:solidFill>
              <a:latin typeface="Calibri Light" panose="020F0302020204030204"/>
            </a:endParaRPr>
          </a:p>
          <a:p>
            <a:pPr marL="0" lvl="0" indent="0">
              <a:buClr>
                <a:srgbClr val="E48312"/>
              </a:buClr>
              <a:buNone/>
            </a:pPr>
            <a:r>
              <a:rPr lang="en-US" b="1" cap="all" spc="200" dirty="0">
                <a:solidFill>
                  <a:srgbClr val="FF0000"/>
                </a:solidFill>
                <a:latin typeface="Calibri Light" panose="020F0302020204030204"/>
              </a:rPr>
              <a:t>Why?</a:t>
            </a:r>
          </a:p>
          <a:p>
            <a:pPr marL="0" lvl="0" indent="0" algn="just">
              <a:buClr>
                <a:srgbClr val="E48312"/>
              </a:buClr>
              <a:buNone/>
            </a:pPr>
            <a:r>
              <a:rPr lang="en-US" b="1" spc="200" dirty="0">
                <a:solidFill>
                  <a:srgbClr val="000000"/>
                </a:solidFill>
                <a:latin typeface="Calibri Light" panose="020F0302020204030204"/>
              </a:rPr>
              <a:t>Acid-Fast bacterial cell wall mainly composed of </a:t>
            </a:r>
            <a:r>
              <a:rPr lang="en-US" b="1" spc="200" dirty="0">
                <a:solidFill>
                  <a:srgbClr val="FF0000"/>
                </a:solidFill>
                <a:latin typeface="Calibri Light" panose="020F0302020204030204"/>
              </a:rPr>
              <a:t>Mycolic acid</a:t>
            </a:r>
            <a:r>
              <a:rPr lang="en-US" b="1" spc="200" dirty="0">
                <a:solidFill>
                  <a:srgbClr val="000000"/>
                </a:solidFill>
                <a:latin typeface="Calibri Light" panose="020F0302020204030204"/>
              </a:rPr>
              <a:t> which prevents stain entry to bacteria, so it needs a special protocol for staining.                    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23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838140"/>
          </a:xfrm>
        </p:spPr>
        <p:txBody>
          <a:bodyPr/>
          <a:lstStyle/>
          <a:p>
            <a:pPr algn="ctr"/>
            <a:r>
              <a:rPr lang="en-US" b="1" dirty="0"/>
              <a:t>Troubleshooting</a:t>
            </a:r>
            <a:endParaRPr lang="ar-JO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464496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dirty="0"/>
              <a:t>If we switch primary stain and counterstain. For example, If we use </a:t>
            </a:r>
            <a:r>
              <a:rPr lang="en-US" dirty="0">
                <a:solidFill>
                  <a:srgbClr val="FF0000"/>
                </a:solidFill>
              </a:rPr>
              <a:t>Safranin</a:t>
            </a:r>
            <a:r>
              <a:rPr lang="en-US" dirty="0"/>
              <a:t>  as primary stain and  </a:t>
            </a:r>
            <a:r>
              <a:rPr lang="en-US" dirty="0">
                <a:solidFill>
                  <a:srgbClr val="7030A0"/>
                </a:solidFill>
              </a:rPr>
              <a:t>Crystal violet </a:t>
            </a:r>
            <a:r>
              <a:rPr lang="en-US" dirty="0"/>
              <a:t>as a counterstain, What will happen?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ANSWER: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In the last step, addition of counterstain ( Crystal violet ), it will enter both </a:t>
            </a:r>
            <a:r>
              <a:rPr lang="en-US" dirty="0">
                <a:solidFill>
                  <a:srgbClr val="FF0000"/>
                </a:solidFill>
              </a:rPr>
              <a:t>Gram positive and Gram negative. </a:t>
            </a:r>
            <a:r>
              <a:rPr lang="en-US" dirty="0">
                <a:solidFill>
                  <a:schemeClr val="tx1"/>
                </a:solidFill>
              </a:rPr>
              <a:t>In: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Gram negative: this bacteria became colorless after decolorizing step and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when crystal violet added it became violet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Gram positive: this bacteria retain the color of primary stain, this mean the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color of safranin ( Pink ), and when the Crystal violet adds as a counterstain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it will enter the cell and mask the pink color, the bacteria became violet.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>
                <a:solidFill>
                  <a:srgbClr val="FF0000"/>
                </a:solidFill>
              </a:rPr>
              <a:t>So, we can’t differentiate between </a:t>
            </a:r>
            <a:r>
              <a:rPr lang="en-US" dirty="0">
                <a:solidFill>
                  <a:srgbClr val="002060"/>
                </a:solidFill>
              </a:rPr>
              <a:t>Gram positive </a:t>
            </a:r>
            <a:r>
              <a:rPr lang="en-US" dirty="0">
                <a:solidFill>
                  <a:srgbClr val="FF0000"/>
                </a:solidFill>
              </a:rPr>
              <a:t>and </a:t>
            </a:r>
            <a:r>
              <a:rPr lang="en-US" dirty="0">
                <a:solidFill>
                  <a:srgbClr val="002060"/>
                </a:solidFill>
              </a:rPr>
              <a:t>Gram negative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The following slide shows what happened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61AB74A-C0FD-4AC9-9486-F71E81A5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0"/>
            <a:ext cx="7560840" cy="63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55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4258816" cy="4392489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- If we do Gram staining to a pure </a:t>
            </a:r>
            <a:br>
              <a:rPr lang="en-US" sz="2400" dirty="0"/>
            </a:br>
            <a:r>
              <a:rPr lang="en-US" sz="2400" dirty="0"/>
              <a:t>   culture: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* </a:t>
            </a:r>
            <a:r>
              <a:rPr lang="en-US" sz="2400" b="1" dirty="0"/>
              <a:t>Why we get the following field?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The culture is older than 24 hour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* What the correct Gram reaction</a:t>
            </a:r>
            <a:br>
              <a:rPr lang="en-US" sz="2400" b="1" dirty="0"/>
            </a:br>
            <a:r>
              <a:rPr lang="en-US" sz="2400" b="1" dirty="0"/>
              <a:t>    of this bacteria?</a:t>
            </a:r>
            <a:br>
              <a:rPr lang="en-US" sz="2400" b="1" dirty="0"/>
            </a:b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/>
              <a:t>   </a:t>
            </a:r>
            <a:r>
              <a:rPr lang="en-US" sz="2400" b="1" dirty="0">
                <a:solidFill>
                  <a:srgbClr val="FF0000"/>
                </a:solidFill>
              </a:rPr>
              <a:t>The bacteria is Gram positive</a:t>
            </a:r>
            <a:br>
              <a:rPr lang="en-US" sz="2400" b="1" dirty="0"/>
            </a:br>
            <a:br>
              <a:rPr lang="en-US" sz="2400" b="1" dirty="0"/>
            </a:br>
            <a:endParaRPr lang="ar-JO" sz="2400" dirty="0"/>
          </a:p>
        </p:txBody>
      </p:sp>
      <p:pic>
        <p:nvPicPr>
          <p:cNvPr id="9" name="Content Placeholder 8" descr="A picture containing text, fabric&#10;&#10;Description automatically generated">
            <a:extLst>
              <a:ext uri="{FF2B5EF4-FFF2-40B4-BE49-F238E27FC236}">
                <a16:creationId xmlns:a16="http://schemas.microsoft.com/office/drawing/2014/main" id="{7B348C1C-74D2-4765-B95D-43728F9DF5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844824"/>
            <a:ext cx="4393059" cy="4392489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DD84A-8A2B-4B23-9394-A4C4E466D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45734"/>
            <a:ext cx="4680520" cy="4023360"/>
          </a:xfrm>
        </p:spPr>
        <p:txBody>
          <a:bodyPr/>
          <a:lstStyle/>
          <a:p>
            <a:r>
              <a:rPr lang="en-US" dirty="0"/>
              <a:t>* </a:t>
            </a:r>
            <a:r>
              <a:rPr lang="en-US" sz="2400" b="1" dirty="0"/>
              <a:t>What is the stage for the bacteria</a:t>
            </a:r>
            <a:br>
              <a:rPr lang="en-US" sz="2400" b="1" dirty="0"/>
            </a:br>
            <a:r>
              <a:rPr lang="en-US" sz="2400" b="1" dirty="0"/>
              <a:t>   that stain Pink?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It is in stationary or decline  phase</a:t>
            </a: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/>
              <a:t>* What is the stage for the bacteria</a:t>
            </a:r>
            <a:br>
              <a:rPr lang="en-US" sz="2400" b="1" dirty="0"/>
            </a:br>
            <a:r>
              <a:rPr lang="en-US" sz="2400" b="1" dirty="0"/>
              <a:t>   that stain Violet?</a:t>
            </a:r>
          </a:p>
          <a:p>
            <a:r>
              <a:rPr lang="en-US" sz="2400" b="1" dirty="0"/>
              <a:t>   </a:t>
            </a:r>
            <a:br>
              <a:rPr lang="en-US" sz="2400" b="1" dirty="0"/>
            </a:br>
            <a:r>
              <a:rPr lang="en-US" sz="2400" b="1" dirty="0"/>
              <a:t>  </a:t>
            </a:r>
            <a:r>
              <a:rPr lang="en-US" sz="2400" b="1" dirty="0">
                <a:solidFill>
                  <a:srgbClr val="FF0000"/>
                </a:solidFill>
              </a:rPr>
              <a:t>It is in lag or log  phase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ADDE1-6FB7-4EB1-857A-B05145D2BD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048" y="1737360"/>
            <a:ext cx="4032447" cy="457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35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3FEC-957E-4A88-83C1-BC7B1E69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8" y="286605"/>
            <a:ext cx="7543802" cy="91014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Why we need fresh culture for Gram Staining(less than 24 hour old)?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F13C-73FC-4E1C-B8FF-9297557F9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Because if the bacteria is older than 24 hour: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The cell wall of bacteria became fragile.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 The cell wall will break down by any environmental factor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mixing or heat, the remaining is protoplast the cell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without  cell wall that accept the final stain which we add</a:t>
            </a:r>
            <a:br>
              <a:rPr lang="en-US" sz="2400" b="1" dirty="0"/>
            </a:br>
            <a:r>
              <a:rPr lang="en-US" sz="2400" b="1" dirty="0"/>
              <a:t>   (Safranin  in Gram staining).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indent="0" algn="ctr">
              <a:buNone/>
            </a:pPr>
            <a:r>
              <a:rPr lang="en-US" sz="2400" b="1" dirty="0"/>
              <a:t>  </a:t>
            </a:r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So, the Gram </a:t>
            </a:r>
            <a:r>
              <a:rPr lang="en-US" sz="2400" b="1" dirty="0">
                <a:solidFill>
                  <a:schemeClr val="tx1"/>
                </a:solidFill>
                <a:latin typeface="Algerian" panose="04020705040A02060702" pitchFamily="82" charset="0"/>
              </a:rPr>
              <a:t>positive bacteria </a:t>
            </a:r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tend to be </a:t>
            </a:r>
            <a:r>
              <a:rPr lang="en-US" sz="2400" b="1" dirty="0">
                <a:solidFill>
                  <a:schemeClr val="tx1"/>
                </a:solidFill>
                <a:latin typeface="Algerian" panose="04020705040A02060702" pitchFamily="82" charset="0"/>
              </a:rPr>
              <a:t>Gram negative</a:t>
            </a:r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2559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93BE4-8F78-4EE9-A000-A3234857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060848"/>
            <a:ext cx="4032448" cy="3672408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If we do Gram staining for pure culture and get the following result (picture), Answer the following questions: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>
                <a:solidFill>
                  <a:srgbClr val="FF0000"/>
                </a:solidFill>
              </a:rPr>
              <a:t>What is the Gram  reaction of this bacteria?</a:t>
            </a:r>
            <a:br>
              <a:rPr lang="en-US" sz="2800" b="1" dirty="0">
                <a:solidFill>
                  <a:srgbClr val="FF0000"/>
                </a:solidFill>
              </a:rPr>
            </a:br>
            <a:br>
              <a:rPr lang="en-US" sz="2800" b="1" dirty="0"/>
            </a:br>
            <a:r>
              <a:rPr lang="en-US" sz="2800" b="1" dirty="0">
                <a:solidFill>
                  <a:srgbClr val="FF0000"/>
                </a:solidFill>
              </a:rPr>
              <a:t>Why appear like this?</a:t>
            </a:r>
            <a:br>
              <a:rPr lang="en-US" sz="2800" b="1" dirty="0">
                <a:solidFill>
                  <a:srgbClr val="FF0000"/>
                </a:solidFill>
              </a:rPr>
            </a:br>
            <a:br>
              <a:rPr lang="en-US" sz="2800" b="1" dirty="0"/>
            </a:br>
            <a:endParaRPr lang="en-US" sz="2800" b="1" dirty="0"/>
          </a:p>
        </p:txBody>
      </p:sp>
      <p:pic>
        <p:nvPicPr>
          <p:cNvPr id="5" name="Content Placeholder 4" descr="Venn diagram&#10;&#10;Description automatically generated">
            <a:extLst>
              <a:ext uri="{FF2B5EF4-FFF2-40B4-BE49-F238E27FC236}">
                <a16:creationId xmlns:a16="http://schemas.microsoft.com/office/drawing/2014/main" id="{1F19A339-B4BB-4A1A-954F-1F6D7D708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370" y="1916832"/>
            <a:ext cx="4032448" cy="4261796"/>
          </a:xfrm>
        </p:spPr>
      </p:pic>
    </p:spTree>
    <p:extLst>
      <p:ext uri="{BB962C8B-B14F-4D97-AF65-F5344CB8AC3E}">
        <p14:creationId xmlns:p14="http://schemas.microsoft.com/office/powerpoint/2010/main" val="2255970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F7F45210-09E3-4AAF-902E-B6C8AE56C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0"/>
            <a:ext cx="7704856" cy="63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78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E79F-EF31-480F-A48B-D72CC88B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40968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264765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1842</TotalTime>
  <Words>1226</Words>
  <Application>Microsoft Office PowerPoint</Application>
  <PresentationFormat>On-screen Show (4:3)</PresentationFormat>
  <Paragraphs>165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Aharoni</vt:lpstr>
      <vt:lpstr>Algerian</vt:lpstr>
      <vt:lpstr>Andalus</vt:lpstr>
      <vt:lpstr>Arial</vt:lpstr>
      <vt:lpstr>Bell MT</vt:lpstr>
      <vt:lpstr>Berlin Sans FB Demi</vt:lpstr>
      <vt:lpstr>Calibri</vt:lpstr>
      <vt:lpstr>Calibri Light</vt:lpstr>
      <vt:lpstr>Segoe UI</vt:lpstr>
      <vt:lpstr>Segoe UI Light</vt:lpstr>
      <vt:lpstr>Wingdings</vt:lpstr>
      <vt:lpstr>Retrospect</vt:lpstr>
      <vt:lpstr>Get Started with 3D</vt:lpstr>
      <vt:lpstr>PowerPoint Presentation</vt:lpstr>
      <vt:lpstr>Classification of bacteria</vt:lpstr>
      <vt:lpstr>How we are Sure about our classification of bacteria into Gram positive and Gram negative?!!!</vt:lpstr>
      <vt:lpstr>1.Using Selective Media</vt:lpstr>
      <vt:lpstr>PowerPoint Presentation</vt:lpstr>
      <vt:lpstr>2. Using of 10% KOH</vt:lpstr>
      <vt:lpstr>PowerPoint Presentation</vt:lpstr>
      <vt:lpstr>The principle of 10% KOH test</vt:lpstr>
      <vt:lpstr>Materials</vt:lpstr>
      <vt:lpstr>PowerPoint Presentation</vt:lpstr>
      <vt:lpstr>3. Using Gram Staining</vt:lpstr>
      <vt:lpstr>3. Using Gram Staining</vt:lpstr>
      <vt:lpstr>Material needs for Gram Staining</vt:lpstr>
      <vt:lpstr>PowerPoint Presentation</vt:lpstr>
      <vt:lpstr>The Procedure of Gram Staining</vt:lpstr>
      <vt:lpstr>Smear preparation (Bacillus or E. coli  smear)</vt:lpstr>
      <vt:lpstr>Smear preparation of mixed bacteria E. coli and Bacillus</vt:lpstr>
      <vt:lpstr>Follow Smear preparation of mixed bacteria E. coli and Bacillus</vt:lpstr>
      <vt:lpstr>PowerPoint Presentation</vt:lpstr>
      <vt:lpstr>Principle of Gram Staining</vt:lpstr>
      <vt:lpstr>What happened in each step of Gram staining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Important Question</vt:lpstr>
      <vt:lpstr>Troubleshooting</vt:lpstr>
      <vt:lpstr>PowerPoint Presentation</vt:lpstr>
      <vt:lpstr>- If we do Gram staining to a pure     culture:  * Why we get the following field?   The culture is older than 24 hour  * What the correct Gram reaction     of this bacteria?      The bacteria is Gram positive  </vt:lpstr>
      <vt:lpstr>PowerPoint Presentation</vt:lpstr>
      <vt:lpstr>Why we need fresh culture for Gram Staining(less than 24 hour old)?</vt:lpstr>
      <vt:lpstr>If we do Gram staining for pure culture and get the following result (picture), Answer the following questions:  What is the Gram  reaction of this bacteria?  Why appear like this?  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 Stain</dc:title>
  <dc:creator>user</dc:creator>
  <cp:lastModifiedBy>Erwah Al Bataineh</cp:lastModifiedBy>
  <cp:revision>117</cp:revision>
  <dcterms:created xsi:type="dcterms:W3CDTF">2020-09-18T14:55:23Z</dcterms:created>
  <dcterms:modified xsi:type="dcterms:W3CDTF">2023-03-19T18:17:15Z</dcterms:modified>
</cp:coreProperties>
</file>