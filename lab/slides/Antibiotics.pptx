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8" r:id="rId2"/>
  </p:sldMasterIdLst>
  <p:notesMasterIdLst>
    <p:notesMasterId r:id="rId25"/>
  </p:notesMasterIdLst>
  <p:sldIdLst>
    <p:sldId id="342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8" r:id="rId20"/>
    <p:sldId id="299" r:id="rId21"/>
    <p:sldId id="296" r:id="rId22"/>
    <p:sldId id="297" r:id="rId23"/>
    <p:sldId id="263" r:id="rId2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FF7E0C"/>
    <a:srgbClr val="8F006B"/>
    <a:srgbClr val="7A0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BFA4D7-50CA-475A-81E2-2F2E9EF2C9D5}" v="23" dt="2023-05-02T08:44:13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660"/>
  </p:normalViewPr>
  <p:slideViewPr>
    <p:cSldViewPr>
      <p:cViewPr varScale="1">
        <p:scale>
          <a:sx n="48" d="100"/>
          <a:sy n="48" d="100"/>
        </p:scale>
        <p:origin x="1347" y="3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ah Al Bataineh" userId="b400c1d921f65d71" providerId="LiveId" clId="{EDBFA4D7-50CA-475A-81E2-2F2E9EF2C9D5}"/>
    <pc:docChg chg="modSld">
      <pc:chgData name="Erwah Al Bataineh" userId="b400c1d921f65d71" providerId="LiveId" clId="{EDBFA4D7-50CA-475A-81E2-2F2E9EF2C9D5}" dt="2023-05-02T08:45:14.132" v="64" actId="207"/>
      <pc:docMkLst>
        <pc:docMk/>
      </pc:docMkLst>
      <pc:sldChg chg="modSp mod">
        <pc:chgData name="Erwah Al Bataineh" userId="b400c1d921f65d71" providerId="LiveId" clId="{EDBFA4D7-50CA-475A-81E2-2F2E9EF2C9D5}" dt="2023-05-02T08:45:14.132" v="64" actId="207"/>
        <pc:sldMkLst>
          <pc:docMk/>
          <pc:sldMk cId="0" sldId="263"/>
        </pc:sldMkLst>
        <pc:spChg chg="mod">
          <ac:chgData name="Erwah Al Bataineh" userId="b400c1d921f65d71" providerId="LiveId" clId="{EDBFA4D7-50CA-475A-81E2-2F2E9EF2C9D5}" dt="2023-05-02T08:45:14.132" v="64" actId="207"/>
          <ac:spMkLst>
            <pc:docMk/>
            <pc:sldMk cId="0" sldId="263"/>
            <ac:spMk id="46082" creationId="{A0B88BBA-95DD-C15B-AC1C-A9D98743E6B2}"/>
          </ac:spMkLst>
        </pc:spChg>
      </pc:sldChg>
      <pc:sldChg chg="modSp mod">
        <pc:chgData name="Erwah Al Bataineh" userId="b400c1d921f65d71" providerId="LiveId" clId="{EDBFA4D7-50CA-475A-81E2-2F2E9EF2C9D5}" dt="2023-05-02T08:21:02.663" v="1" actId="113"/>
        <pc:sldMkLst>
          <pc:docMk/>
          <pc:sldMk cId="0" sldId="280"/>
        </pc:sldMkLst>
        <pc:spChg chg="mod">
          <ac:chgData name="Erwah Al Bataineh" userId="b400c1d921f65d71" providerId="LiveId" clId="{EDBFA4D7-50CA-475A-81E2-2F2E9EF2C9D5}" dt="2023-05-02T08:21:02.663" v="1" actId="113"/>
          <ac:spMkLst>
            <pc:docMk/>
            <pc:sldMk cId="0" sldId="280"/>
            <ac:spMk id="25602" creationId="{F9D0A911-F99E-03C2-64BF-6B814B1D3326}"/>
          </ac:spMkLst>
        </pc:spChg>
      </pc:sldChg>
      <pc:sldChg chg="modSp mod">
        <pc:chgData name="Erwah Al Bataineh" userId="b400c1d921f65d71" providerId="LiveId" clId="{EDBFA4D7-50CA-475A-81E2-2F2E9EF2C9D5}" dt="2023-05-02T08:21:14.780" v="3" actId="113"/>
        <pc:sldMkLst>
          <pc:docMk/>
          <pc:sldMk cId="0" sldId="281"/>
        </pc:sldMkLst>
        <pc:spChg chg="mod">
          <ac:chgData name="Erwah Al Bataineh" userId="b400c1d921f65d71" providerId="LiveId" clId="{EDBFA4D7-50CA-475A-81E2-2F2E9EF2C9D5}" dt="2023-05-02T08:21:14.780" v="3" actId="113"/>
          <ac:spMkLst>
            <pc:docMk/>
            <pc:sldMk cId="0" sldId="281"/>
            <ac:spMk id="3" creationId="{768299E6-D0BD-0BBE-3C8C-73CE2415FD57}"/>
          </ac:spMkLst>
        </pc:spChg>
      </pc:sldChg>
      <pc:sldChg chg="modSp mod">
        <pc:chgData name="Erwah Al Bataineh" userId="b400c1d921f65d71" providerId="LiveId" clId="{EDBFA4D7-50CA-475A-81E2-2F2E9EF2C9D5}" dt="2023-05-02T08:38:59.665" v="13" actId="1076"/>
        <pc:sldMkLst>
          <pc:docMk/>
          <pc:sldMk cId="0" sldId="282"/>
        </pc:sldMkLst>
        <pc:spChg chg="mod">
          <ac:chgData name="Erwah Al Bataineh" userId="b400c1d921f65d71" providerId="LiveId" clId="{EDBFA4D7-50CA-475A-81E2-2F2E9EF2C9D5}" dt="2023-05-02T08:38:59.665" v="13" actId="1076"/>
          <ac:spMkLst>
            <pc:docMk/>
            <pc:sldMk cId="0" sldId="282"/>
            <ac:spMk id="27650" creationId="{693BAF14-F8E9-4EDF-795B-C214FECCC260}"/>
          </ac:spMkLst>
        </pc:spChg>
        <pc:spChg chg="mod">
          <ac:chgData name="Erwah Al Bataineh" userId="b400c1d921f65d71" providerId="LiveId" clId="{EDBFA4D7-50CA-475A-81E2-2F2E9EF2C9D5}" dt="2023-05-02T08:38:55.271" v="12" actId="1076"/>
          <ac:spMkLst>
            <pc:docMk/>
            <pc:sldMk cId="0" sldId="282"/>
            <ac:spMk id="27651" creationId="{CAF6B206-27B6-007E-3825-75584658E47F}"/>
          </ac:spMkLst>
        </pc:spChg>
      </pc:sldChg>
      <pc:sldChg chg="modSp mod">
        <pc:chgData name="Erwah Al Bataineh" userId="b400c1d921f65d71" providerId="LiveId" clId="{EDBFA4D7-50CA-475A-81E2-2F2E9EF2C9D5}" dt="2023-05-02T08:38:44.753" v="10" actId="1076"/>
        <pc:sldMkLst>
          <pc:docMk/>
          <pc:sldMk cId="0" sldId="283"/>
        </pc:sldMkLst>
        <pc:spChg chg="mod">
          <ac:chgData name="Erwah Al Bataineh" userId="b400c1d921f65d71" providerId="LiveId" clId="{EDBFA4D7-50CA-475A-81E2-2F2E9EF2C9D5}" dt="2023-05-02T08:38:41.074" v="9" actId="1076"/>
          <ac:spMkLst>
            <pc:docMk/>
            <pc:sldMk cId="0" sldId="283"/>
            <ac:spMk id="22531" creationId="{9FD8173F-8D19-DB86-861F-69ED2EC2F447}"/>
          </ac:spMkLst>
        </pc:spChg>
        <pc:spChg chg="mod">
          <ac:chgData name="Erwah Al Bataineh" userId="b400c1d921f65d71" providerId="LiveId" clId="{EDBFA4D7-50CA-475A-81E2-2F2E9EF2C9D5}" dt="2023-05-02T08:38:44.753" v="10" actId="1076"/>
          <ac:spMkLst>
            <pc:docMk/>
            <pc:sldMk cId="0" sldId="283"/>
            <ac:spMk id="28674" creationId="{E3605DC8-8594-D1D1-96FB-70254B55401D}"/>
          </ac:spMkLst>
        </pc:spChg>
      </pc:sldChg>
      <pc:sldChg chg="modSp mod">
        <pc:chgData name="Erwah Al Bataineh" userId="b400c1d921f65d71" providerId="LiveId" clId="{EDBFA4D7-50CA-475A-81E2-2F2E9EF2C9D5}" dt="2023-05-02T08:39:34.294" v="18" actId="14100"/>
        <pc:sldMkLst>
          <pc:docMk/>
          <pc:sldMk cId="0" sldId="284"/>
        </pc:sldMkLst>
        <pc:spChg chg="mod">
          <ac:chgData name="Erwah Al Bataineh" userId="b400c1d921f65d71" providerId="LiveId" clId="{EDBFA4D7-50CA-475A-81E2-2F2E9EF2C9D5}" dt="2023-05-02T08:39:34.294" v="18" actId="14100"/>
          <ac:spMkLst>
            <pc:docMk/>
            <pc:sldMk cId="0" sldId="284"/>
            <ac:spMk id="29699" creationId="{262396D6-76CF-A43A-DA21-AF9942AD36D2}"/>
          </ac:spMkLst>
        </pc:spChg>
      </pc:sldChg>
      <pc:sldChg chg="modSp mod">
        <pc:chgData name="Erwah Al Bataineh" userId="b400c1d921f65d71" providerId="LiveId" clId="{EDBFA4D7-50CA-475A-81E2-2F2E9EF2C9D5}" dt="2023-05-02T08:40:03.019" v="24" actId="1076"/>
        <pc:sldMkLst>
          <pc:docMk/>
          <pc:sldMk cId="0" sldId="285"/>
        </pc:sldMkLst>
        <pc:spChg chg="mod">
          <ac:chgData name="Erwah Al Bataineh" userId="b400c1d921f65d71" providerId="LiveId" clId="{EDBFA4D7-50CA-475A-81E2-2F2E9EF2C9D5}" dt="2023-05-02T08:40:03.019" v="24" actId="1076"/>
          <ac:spMkLst>
            <pc:docMk/>
            <pc:sldMk cId="0" sldId="285"/>
            <ac:spMk id="30722" creationId="{517EDB81-FDCA-8494-8160-4E132AD76FBF}"/>
          </ac:spMkLst>
        </pc:spChg>
        <pc:spChg chg="mod">
          <ac:chgData name="Erwah Al Bataineh" userId="b400c1d921f65d71" providerId="LiveId" clId="{EDBFA4D7-50CA-475A-81E2-2F2E9EF2C9D5}" dt="2023-05-02T08:39:59.967" v="23" actId="1076"/>
          <ac:spMkLst>
            <pc:docMk/>
            <pc:sldMk cId="0" sldId="285"/>
            <ac:spMk id="30723" creationId="{F214F80E-434A-3C02-CB99-9FC101F846E9}"/>
          </ac:spMkLst>
        </pc:spChg>
      </pc:sldChg>
      <pc:sldChg chg="modSp mod">
        <pc:chgData name="Erwah Al Bataineh" userId="b400c1d921f65d71" providerId="LiveId" clId="{EDBFA4D7-50CA-475A-81E2-2F2E9EF2C9D5}" dt="2023-05-02T08:40:10.592" v="26" actId="113"/>
        <pc:sldMkLst>
          <pc:docMk/>
          <pc:sldMk cId="0" sldId="286"/>
        </pc:sldMkLst>
        <pc:spChg chg="mod">
          <ac:chgData name="Erwah Al Bataineh" userId="b400c1d921f65d71" providerId="LiveId" clId="{EDBFA4D7-50CA-475A-81E2-2F2E9EF2C9D5}" dt="2023-05-02T08:40:10.592" v="26" actId="113"/>
          <ac:spMkLst>
            <pc:docMk/>
            <pc:sldMk cId="0" sldId="286"/>
            <ac:spMk id="25603" creationId="{EED13381-D22E-941B-B0AE-DE0C3091B9DE}"/>
          </ac:spMkLst>
        </pc:spChg>
      </pc:sldChg>
      <pc:sldChg chg="modSp mod">
        <pc:chgData name="Erwah Al Bataineh" userId="b400c1d921f65d71" providerId="LiveId" clId="{EDBFA4D7-50CA-475A-81E2-2F2E9EF2C9D5}" dt="2023-05-02T08:40:21.457" v="29" actId="113"/>
        <pc:sldMkLst>
          <pc:docMk/>
          <pc:sldMk cId="0" sldId="287"/>
        </pc:sldMkLst>
        <pc:spChg chg="mod">
          <ac:chgData name="Erwah Al Bataineh" userId="b400c1d921f65d71" providerId="LiveId" clId="{EDBFA4D7-50CA-475A-81E2-2F2E9EF2C9D5}" dt="2023-05-02T08:40:21.457" v="29" actId="113"/>
          <ac:spMkLst>
            <pc:docMk/>
            <pc:sldMk cId="0" sldId="287"/>
            <ac:spMk id="32771" creationId="{2A1C9983-95FC-879F-0132-D6A14A58FCF2}"/>
          </ac:spMkLst>
        </pc:spChg>
      </pc:sldChg>
      <pc:sldChg chg="modSp mod">
        <pc:chgData name="Erwah Al Bataineh" userId="b400c1d921f65d71" providerId="LiveId" clId="{EDBFA4D7-50CA-475A-81E2-2F2E9EF2C9D5}" dt="2023-05-02T08:40:29.069" v="30" actId="207"/>
        <pc:sldMkLst>
          <pc:docMk/>
          <pc:sldMk cId="0" sldId="288"/>
        </pc:sldMkLst>
        <pc:spChg chg="mod">
          <ac:chgData name="Erwah Al Bataineh" userId="b400c1d921f65d71" providerId="LiveId" clId="{EDBFA4D7-50CA-475A-81E2-2F2E9EF2C9D5}" dt="2023-05-02T08:40:29.069" v="30" actId="207"/>
          <ac:spMkLst>
            <pc:docMk/>
            <pc:sldMk cId="0" sldId="288"/>
            <ac:spMk id="33794" creationId="{110F81D2-C74D-6C23-0903-BA05254859BF}"/>
          </ac:spMkLst>
        </pc:spChg>
      </pc:sldChg>
      <pc:sldChg chg="modSp mod">
        <pc:chgData name="Erwah Al Bataineh" userId="b400c1d921f65d71" providerId="LiveId" clId="{EDBFA4D7-50CA-475A-81E2-2F2E9EF2C9D5}" dt="2023-05-02T08:40:52.999" v="35" actId="1076"/>
        <pc:sldMkLst>
          <pc:docMk/>
          <pc:sldMk cId="0" sldId="289"/>
        </pc:sldMkLst>
        <pc:spChg chg="mod">
          <ac:chgData name="Erwah Al Bataineh" userId="b400c1d921f65d71" providerId="LiveId" clId="{EDBFA4D7-50CA-475A-81E2-2F2E9EF2C9D5}" dt="2023-05-02T08:40:52.999" v="35" actId="1076"/>
          <ac:spMkLst>
            <pc:docMk/>
            <pc:sldMk cId="0" sldId="289"/>
            <ac:spMk id="34818" creationId="{2DAA1CD2-CD57-132E-81F3-38634D8A2338}"/>
          </ac:spMkLst>
        </pc:spChg>
        <pc:spChg chg="mod">
          <ac:chgData name="Erwah Al Bataineh" userId="b400c1d921f65d71" providerId="LiveId" clId="{EDBFA4D7-50CA-475A-81E2-2F2E9EF2C9D5}" dt="2023-05-02T08:40:49.807" v="34" actId="1076"/>
          <ac:spMkLst>
            <pc:docMk/>
            <pc:sldMk cId="0" sldId="289"/>
            <ac:spMk id="34819" creationId="{F68179F8-EDDC-E935-0222-708DA0A52F5D}"/>
          </ac:spMkLst>
        </pc:spChg>
      </pc:sldChg>
      <pc:sldChg chg="modSp mod">
        <pc:chgData name="Erwah Al Bataineh" userId="b400c1d921f65d71" providerId="LiveId" clId="{EDBFA4D7-50CA-475A-81E2-2F2E9EF2C9D5}" dt="2023-05-02T08:41:02.571" v="38" actId="113"/>
        <pc:sldMkLst>
          <pc:docMk/>
          <pc:sldMk cId="0" sldId="290"/>
        </pc:sldMkLst>
        <pc:spChg chg="mod">
          <ac:chgData name="Erwah Al Bataineh" userId="b400c1d921f65d71" providerId="LiveId" clId="{EDBFA4D7-50CA-475A-81E2-2F2E9EF2C9D5}" dt="2023-05-02T08:41:02.571" v="38" actId="113"/>
          <ac:spMkLst>
            <pc:docMk/>
            <pc:sldMk cId="0" sldId="290"/>
            <ac:spMk id="29699" creationId="{5FE573FD-0DCE-EC64-4FBB-F8351F0BA6AE}"/>
          </ac:spMkLst>
        </pc:spChg>
      </pc:sldChg>
      <pc:sldChg chg="modSp mod">
        <pc:chgData name="Erwah Al Bataineh" userId="b400c1d921f65d71" providerId="LiveId" clId="{EDBFA4D7-50CA-475A-81E2-2F2E9EF2C9D5}" dt="2023-05-02T08:41:36.759" v="44" actId="1076"/>
        <pc:sldMkLst>
          <pc:docMk/>
          <pc:sldMk cId="0" sldId="291"/>
        </pc:sldMkLst>
        <pc:spChg chg="mod">
          <ac:chgData name="Erwah Al Bataineh" userId="b400c1d921f65d71" providerId="LiveId" clId="{EDBFA4D7-50CA-475A-81E2-2F2E9EF2C9D5}" dt="2023-05-02T08:41:36.759" v="44" actId="1076"/>
          <ac:spMkLst>
            <pc:docMk/>
            <pc:sldMk cId="0" sldId="291"/>
            <ac:spMk id="36866" creationId="{BE13C771-8035-665E-6254-5282F5915237}"/>
          </ac:spMkLst>
        </pc:spChg>
        <pc:spChg chg="mod">
          <ac:chgData name="Erwah Al Bataineh" userId="b400c1d921f65d71" providerId="LiveId" clId="{EDBFA4D7-50CA-475A-81E2-2F2E9EF2C9D5}" dt="2023-05-02T08:41:32.815" v="43" actId="1076"/>
          <ac:spMkLst>
            <pc:docMk/>
            <pc:sldMk cId="0" sldId="291"/>
            <ac:spMk id="36867" creationId="{07575B41-BEB5-F49D-5518-C9FD4DDA68C5}"/>
          </ac:spMkLst>
        </pc:spChg>
      </pc:sldChg>
      <pc:sldChg chg="modSp mod">
        <pc:chgData name="Erwah Al Bataineh" userId="b400c1d921f65d71" providerId="LiveId" clId="{EDBFA4D7-50CA-475A-81E2-2F2E9EF2C9D5}" dt="2023-05-02T08:41:49.552" v="47" actId="1076"/>
        <pc:sldMkLst>
          <pc:docMk/>
          <pc:sldMk cId="0" sldId="292"/>
        </pc:sldMkLst>
        <pc:spChg chg="mod">
          <ac:chgData name="Erwah Al Bataineh" userId="b400c1d921f65d71" providerId="LiveId" clId="{EDBFA4D7-50CA-475A-81E2-2F2E9EF2C9D5}" dt="2023-05-02T08:41:49.552" v="47" actId="1076"/>
          <ac:spMkLst>
            <pc:docMk/>
            <pc:sldMk cId="0" sldId="292"/>
            <ac:spMk id="37891" creationId="{4D93A1C7-9737-8179-23BB-ED7EEC37BD7C}"/>
          </ac:spMkLst>
        </pc:spChg>
      </pc:sldChg>
      <pc:sldChg chg="modSp mod">
        <pc:chgData name="Erwah Al Bataineh" userId="b400c1d921f65d71" providerId="LiveId" clId="{EDBFA4D7-50CA-475A-81E2-2F2E9EF2C9D5}" dt="2023-05-02T08:42:17.851" v="50" actId="207"/>
        <pc:sldMkLst>
          <pc:docMk/>
          <pc:sldMk cId="0" sldId="293"/>
        </pc:sldMkLst>
        <pc:spChg chg="mod">
          <ac:chgData name="Erwah Al Bataineh" userId="b400c1d921f65d71" providerId="LiveId" clId="{EDBFA4D7-50CA-475A-81E2-2F2E9EF2C9D5}" dt="2023-05-02T08:42:17.851" v="50" actId="207"/>
          <ac:spMkLst>
            <pc:docMk/>
            <pc:sldMk cId="0" sldId="293"/>
            <ac:spMk id="38915" creationId="{902C3EA3-2F51-F171-FD20-E3956F158135}"/>
          </ac:spMkLst>
        </pc:spChg>
      </pc:sldChg>
      <pc:sldChg chg="modSp mod">
        <pc:chgData name="Erwah Al Bataineh" userId="b400c1d921f65d71" providerId="LiveId" clId="{EDBFA4D7-50CA-475A-81E2-2F2E9EF2C9D5}" dt="2023-05-02T08:42:50.917" v="53" actId="14100"/>
        <pc:sldMkLst>
          <pc:docMk/>
          <pc:sldMk cId="0" sldId="294"/>
        </pc:sldMkLst>
        <pc:spChg chg="mod">
          <ac:chgData name="Erwah Al Bataineh" userId="b400c1d921f65d71" providerId="LiveId" clId="{EDBFA4D7-50CA-475A-81E2-2F2E9EF2C9D5}" dt="2023-05-02T08:42:50.917" v="53" actId="14100"/>
          <ac:spMkLst>
            <pc:docMk/>
            <pc:sldMk cId="0" sldId="294"/>
            <ac:spMk id="39938" creationId="{A92BAB73-906E-29E5-6282-DFF8A64D7C11}"/>
          </ac:spMkLst>
        </pc:spChg>
        <pc:spChg chg="mod">
          <ac:chgData name="Erwah Al Bataineh" userId="b400c1d921f65d71" providerId="LiveId" clId="{EDBFA4D7-50CA-475A-81E2-2F2E9EF2C9D5}" dt="2023-05-02T08:42:45.386" v="52" actId="113"/>
          <ac:spMkLst>
            <pc:docMk/>
            <pc:sldMk cId="0" sldId="294"/>
            <ac:spMk id="39939" creationId="{6B327DF8-40F8-85DB-B01F-E6B97609AB7E}"/>
          </ac:spMkLst>
        </pc:spChg>
      </pc:sldChg>
      <pc:sldChg chg="modSp mod">
        <pc:chgData name="Erwah Al Bataineh" userId="b400c1d921f65d71" providerId="LiveId" clId="{EDBFA4D7-50CA-475A-81E2-2F2E9EF2C9D5}" dt="2023-05-02T08:44:13.120" v="63" actId="1076"/>
        <pc:sldMkLst>
          <pc:docMk/>
          <pc:sldMk cId="0" sldId="296"/>
        </pc:sldMkLst>
        <pc:spChg chg="mod">
          <ac:chgData name="Erwah Al Bataineh" userId="b400c1d921f65d71" providerId="LiveId" clId="{EDBFA4D7-50CA-475A-81E2-2F2E9EF2C9D5}" dt="2023-05-02T08:44:13.120" v="63" actId="1076"/>
          <ac:spMkLst>
            <pc:docMk/>
            <pc:sldMk cId="0" sldId="296"/>
            <ac:spMk id="44034" creationId="{E3284DF8-187D-A034-F81F-64190072F167}"/>
          </ac:spMkLst>
        </pc:spChg>
        <pc:spChg chg="mod">
          <ac:chgData name="Erwah Al Bataineh" userId="b400c1d921f65d71" providerId="LiveId" clId="{EDBFA4D7-50CA-475A-81E2-2F2E9EF2C9D5}" dt="2023-05-02T08:44:06.482" v="62" actId="2710"/>
          <ac:spMkLst>
            <pc:docMk/>
            <pc:sldMk cId="0" sldId="296"/>
            <ac:spMk id="44035" creationId="{B2A77F4C-3ACD-DE10-3750-5F05C7920E25}"/>
          </ac:spMkLst>
        </pc:spChg>
      </pc:sldChg>
      <pc:sldChg chg="modSp mod">
        <pc:chgData name="Erwah Al Bataineh" userId="b400c1d921f65d71" providerId="LiveId" clId="{EDBFA4D7-50CA-475A-81E2-2F2E9EF2C9D5}" dt="2023-05-02T08:43:33.687" v="59" actId="1076"/>
        <pc:sldMkLst>
          <pc:docMk/>
          <pc:sldMk cId="0" sldId="298"/>
        </pc:sldMkLst>
        <pc:spChg chg="mod">
          <ac:chgData name="Erwah Al Bataineh" userId="b400c1d921f65d71" providerId="LiveId" clId="{EDBFA4D7-50CA-475A-81E2-2F2E9EF2C9D5}" dt="2023-05-02T08:43:02.609" v="56" actId="14100"/>
          <ac:spMkLst>
            <pc:docMk/>
            <pc:sldMk cId="0" sldId="298"/>
            <ac:spMk id="35843" creationId="{EF552345-7CDE-88EF-3417-CE3CE71E259E}"/>
          </ac:spMkLst>
        </pc:spChg>
        <pc:spChg chg="mod">
          <ac:chgData name="Erwah Al Bataineh" userId="b400c1d921f65d71" providerId="LiveId" clId="{EDBFA4D7-50CA-475A-81E2-2F2E9EF2C9D5}" dt="2023-05-02T08:43:33.687" v="59" actId="1076"/>
          <ac:spMkLst>
            <pc:docMk/>
            <pc:sldMk cId="0" sldId="298"/>
            <ac:spMk id="41986" creationId="{C17A7C3A-959D-E0BB-7111-11A2E000DFE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3:05:08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1619 24575,'-2'-2'0,"0"-1"0,0 1 0,0-1 0,1 1 0,-1-1 0,1 0 0,0 1 0,-1-1 0,2 0 0,-2-4 0,-2-6 0,-133-392 0,100 297 0,-39-106 0,49 144 0,-22-93 0,-2-75 0,40 183 0,-45-143 40,28 112-1445,18 50-5421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6T13:05:13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E97F08-2B02-7899-A785-F792116FE9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883AD-5400-DD65-470A-84254CDB2E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0770F7-FDD6-4673-9D92-E431D0C9B311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C7EB91-EE1E-3CB3-FC7F-C9BE44DAE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AD08711-F617-B103-9BEF-F0B5F0CBE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644A8-8CAB-0CAF-350F-97F256AC15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20D31-3E58-0CA7-9BE0-26F82F173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5D29EC8-5AA0-4797-8B06-586863D7D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47856BE-7590-D7F4-00F2-2463A7078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53C109E0-EE8C-BBF2-1C62-F0B185A6E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E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B83A68E-F0AF-6AC3-0EED-F4F228A80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1C2CBA-CA16-4746-8D99-10BEB3F44E3F}" type="slidenum">
              <a:rPr lang="en-US" altLang="en-US" b="0" smtClean="0">
                <a:solidFill>
                  <a:srgbClr val="000000"/>
                </a:solidFill>
                <a:latin typeface="Calibri" panose="020F0502020204030204" pitchFamily="34" charset="0"/>
              </a:rPr>
              <a:pPr/>
              <a:t>1</a:t>
            </a:fld>
            <a:endParaRPr lang="en-US" altLang="en-US" b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43DFCA-B151-08AD-BEFB-993B9D742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A03681-98CB-A870-3A3A-E14A6BB3E7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F17A0B-97F7-7C8D-7F5A-6113E27CD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91F90-BA98-4472-9E19-5E5DB3730BB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977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20D2C1-7BA6-3F7E-C585-CC24DCF8F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DAEEB4-F573-19C2-7CE8-AC2B93F14D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A12DBD-FB73-A180-0669-2CB3006AB4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DAC55-49C5-4A6C-B20F-7692C63A2C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599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42A7C7-D939-33AD-6D5D-496F97EF6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8252B1-4999-445B-0269-AD55139620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076E34-E405-D75F-5B8D-97A932B2A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9AC06-154F-4B01-8B9E-22A2CA6B901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249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1550" y="1600200"/>
            <a:ext cx="3595688" cy="427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3597275" cy="427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2C3C56A1-6B17-8A7A-AA95-F463C45A3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DD38D7EE-B546-F23C-04F0-D2790F7F22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9F77647-3B02-E6FD-2849-5AB645018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A50C3-DAE5-40B3-A672-F2EEA07B65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307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B6D251-8212-FEE8-ADBC-EE1A9889B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6B5E29-3BA4-2A51-25C4-E3AE30E118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074B93F-3E0F-B500-C3F8-7FDDF1955A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A70A5-213B-4BE5-8C21-E35725F98DD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62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6946321-5BD9-5822-C99B-3F865D98E3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C00FB4-24DC-25B0-0217-73A772457C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B61FFED-0F42-2EC5-CBBB-F19FDA00A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2FDDA-248D-4B81-93C4-257875166D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985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A9F275-43E2-71BE-8353-7D31401BC6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841275-BA96-4306-19DB-58E0ED310C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AA11B0F-DDE1-217A-3557-548C73C1F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16A09-EDA1-47D7-AC17-89F96F04CFA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374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CD27BFD7-D990-9487-58A6-C80C9DD606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78E5719C-D81A-9ACC-6441-549C4952B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08EC22E4-4EA6-6680-5D63-F5B4DF61E7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EBF3D-E697-40C3-A19C-48303EB5441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211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S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D9A1D1CC-ED2A-A6E3-31D5-A2FADA1D64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8F4BE55-BE12-0169-E161-BF01CBA80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430F6E3A-E1F4-14BB-58BD-DF6296723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03C53-568F-47EE-9345-66F2D935E4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594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F30D55-670D-6D4D-1E88-CE60A27A6E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F6AF51-6C0C-3B00-F426-DE14D4C59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198EAC-A11B-CC11-554B-40F27F06A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C1425-C618-4F81-A263-3F7ED62358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884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1763" y="414338"/>
            <a:ext cx="1835150" cy="54625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414338"/>
            <a:ext cx="5357813" cy="54625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D4BB0E-45CC-1BD5-B3BC-A994E35A67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F5E97D-E614-B400-D37C-9598F0D361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B8DB8D-3B68-69A7-FA57-14704A912F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33514-5D91-490B-A6B8-A63557F1BE6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063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A4A9D-C48F-2C38-9FF7-CC8109FD8E8B}"/>
              </a:ext>
            </a:extLst>
          </p:cNvPr>
          <p:cNvSpPr/>
          <p:nvPr userDrawn="1"/>
        </p:nvSpPr>
        <p:spPr bwMode="blackWhite">
          <a:xfrm>
            <a:off x="190500" y="263525"/>
            <a:ext cx="8763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88BF2FF7-021C-69D3-EB04-2EBA610277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7" b="71478"/>
          <a:stretch>
            <a:fillRect/>
          </a:stretch>
        </p:blipFill>
        <p:spPr bwMode="auto">
          <a:xfrm>
            <a:off x="257175" y="4546600"/>
            <a:ext cx="8786813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33500"/>
            <a:ext cx="6858000" cy="1790700"/>
          </a:xfrm>
        </p:spPr>
        <p:txBody>
          <a:bodyPr tIns="0" bIns="0" rtlCol="0" anchor="t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128010"/>
            <a:ext cx="6858000" cy="1287675"/>
          </a:xfrm>
        </p:spPr>
        <p:txBody>
          <a:bodyPr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489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966B644-2CDD-97D4-F7B3-B65341028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01613" y="4802188"/>
            <a:ext cx="874077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4231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1A478-9B92-B42D-830D-9CCAA5AC3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01613" y="4802188"/>
            <a:ext cx="874077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971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FD063BF6-E075-3C64-B460-87CC750FC0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01613" y="4802188"/>
            <a:ext cx="874077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18148" y="1507068"/>
            <a:ext cx="2394284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3296654" y="1507068"/>
            <a:ext cx="5357929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486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250FD9-CADA-7B97-73D0-62A41E02DCA4}"/>
              </a:ext>
            </a:extLst>
          </p:cNvPr>
          <p:cNvSpPr/>
          <p:nvPr userDrawn="1"/>
        </p:nvSpPr>
        <p:spPr>
          <a:xfrm>
            <a:off x="190500" y="263525"/>
            <a:ext cx="8763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0BABB-C756-699B-2759-F5D1D897EC6D}"/>
              </a:ext>
            </a:extLst>
          </p:cNvPr>
          <p:cNvSpPr/>
          <p:nvPr userDrawn="1"/>
        </p:nvSpPr>
        <p:spPr bwMode="blackWhite">
          <a:xfrm>
            <a:off x="190500" y="263525"/>
            <a:ext cx="8763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06" y="1536192"/>
            <a:ext cx="5157216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/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54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673385-6762-CCFA-2DB6-8D063152BAD0}"/>
              </a:ext>
            </a:extLst>
          </p:cNvPr>
          <p:cNvSpPr/>
          <p:nvPr userDrawn="1"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23693E-5F54-2553-0D00-C861B0892852}"/>
              </a:ext>
            </a:extLst>
          </p:cNvPr>
          <p:cNvCxnSpPr/>
          <p:nvPr userDrawn="1"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569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69F7E1-8A1B-A175-608C-81B588056B4D}"/>
              </a:ext>
            </a:extLst>
          </p:cNvPr>
          <p:cNvSpPr/>
          <p:nvPr userDrawn="1"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BF8CA4-49B5-E563-74C3-0E18712F0C8C}"/>
              </a:ext>
            </a:extLst>
          </p:cNvPr>
          <p:cNvCxnSpPr/>
          <p:nvPr userDrawn="1"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0">
            <a:extLst>
              <a:ext uri="{FF2B5EF4-FFF2-40B4-BE49-F238E27FC236}">
                <a16:creationId xmlns:a16="http://schemas.microsoft.com/office/drawing/2014/main" id="{694A8191-57DA-FEAF-106C-E94E179D7D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>
            <a:fillRect/>
          </a:stretch>
        </p:blipFill>
        <p:spPr bwMode="auto">
          <a:xfrm>
            <a:off x="201613" y="4802188"/>
            <a:ext cx="874077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086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9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owerPoint-BG">
            <a:extLst>
              <a:ext uri="{FF2B5EF4-FFF2-40B4-BE49-F238E27FC236}">
                <a16:creationId xmlns:a16="http://schemas.microsoft.com/office/drawing/2014/main" id="{ED2143CB-4B10-829A-6483-9A739BE4F4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CA89BD23-9FAA-DD30-EC1D-288E65312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414338"/>
            <a:ext cx="63373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EBF8D9E-3F20-9757-E8A1-CBCB505C0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1550" y="1600200"/>
            <a:ext cx="7345363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6E7FA0D-6CA9-7808-9967-123B8B5253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320013-BA44-E6C8-E63E-DC35C740F3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4A4D73-4557-110F-2298-6775B3BD25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C5BF4414-0520-4A24-A9B6-DDACA5F9B77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7A0CFF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7E0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" pitchFamily="34" charset="0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49B7E0-2F1A-8A75-CBBC-16BF54FA315B}"/>
              </a:ext>
            </a:extLst>
          </p:cNvPr>
          <p:cNvSpPr/>
          <p:nvPr userDrawn="1"/>
        </p:nvSpPr>
        <p:spPr>
          <a:xfrm>
            <a:off x="192088" y="265113"/>
            <a:ext cx="8763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 sz="1350" dirty="0"/>
          </a:p>
        </p:txBody>
      </p:sp>
      <p:sp>
        <p:nvSpPr>
          <p:cNvPr id="2051" name="Title Placeholder 1">
            <a:extLst>
              <a:ext uri="{FF2B5EF4-FFF2-40B4-BE49-F238E27FC236}">
                <a16:creationId xmlns:a16="http://schemas.microsoft.com/office/drawing/2014/main" id="{8327C3C1-6A48-8F8F-1F61-8A6498677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449263"/>
            <a:ext cx="8235950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2">
            <a:extLst>
              <a:ext uri="{FF2B5EF4-FFF2-40B4-BE49-F238E27FC236}">
                <a16:creationId xmlns:a16="http://schemas.microsoft.com/office/drawing/2014/main" id="{2C16044F-EE7E-B57B-0F9E-6A42CD7143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AAD8C-1940-EECD-2A42-4AB391DFE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AB14EC-7E99-41AE-B569-4552C367C884}" type="datetimeFigureOut">
              <a:rPr lang="en-US"/>
              <a:pPr>
                <a:defRPr/>
              </a:pPr>
              <a:t>5/2/2023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DF36C-9F77-491A-7667-7F4EC8D94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1DC98-40D4-8D7A-A03E-8BA786F9B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656CDE-31EC-4CB1-86C6-F5E85706F8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2F7A4C-8611-136B-86F0-4A36C60DEB3F}"/>
              </a:ext>
            </a:extLst>
          </p:cNvPr>
          <p:cNvCxnSpPr/>
          <p:nvPr userDrawn="1"/>
        </p:nvCxnSpPr>
        <p:spPr>
          <a:xfrm>
            <a:off x="454025" y="1196975"/>
            <a:ext cx="8235950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</p:sldLayoutIdLst>
  <p:txStyles>
    <p:titleStyle>
      <a:lvl1pPr algn="l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2100" kern="1200">
          <a:solidFill>
            <a:srgbClr val="3B3838"/>
          </a:solidFill>
          <a:latin typeface="+mj-lt"/>
          <a:ea typeface="+mj-ea"/>
          <a:cs typeface="+mj-cs"/>
        </a:defRPr>
      </a:lvl1pPr>
      <a:lvl2pPr algn="l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2pPr>
      <a:lvl3pPr algn="l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3pPr>
      <a:lvl4pPr algn="l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4pPr>
      <a:lvl5pPr algn="l" defTabSz="685800" rtl="1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5pPr>
      <a:lvl6pPr marL="457200" algn="l" defTabSz="685800" rtl="1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6pPr>
      <a:lvl7pPr marL="914400" algn="l" defTabSz="685800" rtl="1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7pPr>
      <a:lvl8pPr marL="1371600" algn="l" defTabSz="685800" rtl="1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8pPr>
      <a:lvl9pPr marL="1828800" algn="l" defTabSz="685800" rtl="1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3B3838"/>
          </a:solidFill>
          <a:latin typeface="Segoe UI Light" panose="020B0502040204020203" pitchFamily="34" charset="0"/>
        </a:defRPr>
      </a:lvl9pPr>
    </p:titleStyle>
    <p:bodyStyle>
      <a:lvl1pPr marL="171450" indent="-171450" algn="r" defTabSz="685800" rtl="1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AFA"/>
            </a:gs>
            <a:gs pos="60001">
              <a:srgbClr val="FAFAFA"/>
            </a:gs>
            <a:gs pos="74001">
              <a:srgbClr val="D7D7D7"/>
            </a:gs>
            <a:gs pos="83000">
              <a:srgbClr val="D7D7D7"/>
            </a:gs>
            <a:gs pos="100000">
              <a:srgbClr val="E4E4E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49A62E-F1EB-C15C-2C91-A43FBDCB6843}"/>
              </a:ext>
            </a:extLst>
          </p:cNvPr>
          <p:cNvSpPr/>
          <p:nvPr/>
        </p:nvSpPr>
        <p:spPr>
          <a:xfrm>
            <a:off x="1187624" y="1017081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BT233 – General Microbiology Laboratory</a:t>
            </a:r>
            <a:endParaRPr lang="en-AE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DBBB6000-C9E7-3CF8-4B78-7C868420C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3" t="740" r="12746"/>
          <a:stretch>
            <a:fillRect/>
          </a:stretch>
        </p:blipFill>
        <p:spPr bwMode="auto">
          <a:xfrm>
            <a:off x="1042988" y="3213100"/>
            <a:ext cx="295275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2">
            <a:extLst>
              <a:ext uri="{FF2B5EF4-FFF2-40B4-BE49-F238E27FC236}">
                <a16:creationId xmlns:a16="http://schemas.microsoft.com/office/drawing/2014/main" id="{7B4A9710-29CE-9AEA-905D-E83BEE4697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73363" y="2205038"/>
            <a:ext cx="3597275" cy="863600"/>
          </a:xfrm>
        </p:spPr>
        <p:txBody>
          <a:bodyPr/>
          <a:lstStyle/>
          <a:p>
            <a:pPr eaLnBrk="1" hangingPunct="1"/>
            <a:r>
              <a:rPr altLang="en-US" sz="5400" b="1">
                <a:solidFill>
                  <a:schemeClr val="tx1"/>
                </a:solidFill>
              </a:rPr>
              <a:t>Antibiotics</a:t>
            </a:r>
            <a:endParaRPr lang="en-GB" altLang="en-US" sz="5400" b="1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</a:endParaRPr>
          </a:p>
        </p:txBody>
      </p:sp>
      <p:pic>
        <p:nvPicPr>
          <p:cNvPr id="23557" name="Picture 6" descr="Image result for antibiotics tablets">
            <a:extLst>
              <a:ext uri="{FF2B5EF4-FFF2-40B4-BE49-F238E27FC236}">
                <a16:creationId xmlns:a16="http://schemas.microsoft.com/office/drawing/2014/main" id="{DCFD76B6-FBB5-F6EC-EE7A-6134261C6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924175"/>
            <a:ext cx="401002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E99152-ED18-4CB3-037F-2FA6BC40F315}"/>
                  </a:ext>
                </a:extLst>
              </p14:cNvPr>
              <p14:cNvContentPartPr/>
              <p14:nvPr/>
            </p14:nvContentPartPr>
            <p14:xfrm>
              <a:off x="6699690" y="2091690"/>
              <a:ext cx="181440" cy="58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E99152-ED18-4CB3-037F-2FA6BC40F3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0690" y="2082690"/>
                <a:ext cx="19908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7F8F68-164A-24C9-5C85-348E2BE0026B}"/>
                  </a:ext>
                </a:extLst>
              </p14:cNvPr>
              <p14:cNvContentPartPr/>
              <p14:nvPr/>
            </p14:nvContentPartPr>
            <p14:xfrm>
              <a:off x="7566210" y="235449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7F8F68-164A-24C9-5C85-348E2BE002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57210" y="234549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F9D0A911-F99E-03C2-64BF-6B814B1D3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learned that we can control bacterial growth by </a:t>
            </a:r>
            <a:r>
              <a:rPr lang="en-US" altLang="ar-JO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chemical </a:t>
            </a: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</a:t>
            </a:r>
            <a:r>
              <a:rPr lang="en-US" altLang="ar-JO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physical </a:t>
            </a: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factors.</a:t>
            </a:r>
          </a:p>
          <a:p>
            <a:pPr>
              <a:buFontTx/>
              <a:buChar char="-"/>
            </a:pPr>
            <a:endParaRPr lang="en-US" altLang="ar-JO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Last time, we studied the </a:t>
            </a:r>
            <a:r>
              <a:rPr lang="en-US" altLang="ar-JO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physical </a:t>
            </a: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 of oxygen requirement.</a:t>
            </a:r>
          </a:p>
          <a:p>
            <a:pPr>
              <a:buFontTx/>
              <a:buChar char="-"/>
            </a:pPr>
            <a:endParaRPr lang="en-US" altLang="ar-JO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Today, we will study the effect of antibiotics, which is one type of </a:t>
            </a:r>
            <a:r>
              <a:rPr lang="en-US" altLang="ar-JO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chemical </a:t>
            </a:r>
            <a:r>
              <a:rPr lang="en-US" altLang="ar-J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 </a:t>
            </a:r>
            <a:r>
              <a:rPr lang="en-US" altLang="ar-JO" dirty="0"/>
              <a:t>.</a:t>
            </a:r>
          </a:p>
          <a:p>
            <a:pPr>
              <a:buFontTx/>
              <a:buChar char="-"/>
            </a:pPr>
            <a:endParaRPr lang="en-US" altLang="ar-J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54F14CF-CD3A-9D11-798F-CC14D8908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b="1"/>
              <a:t>How can we classify chemical and physical</a:t>
            </a:r>
            <a:br>
              <a:rPr lang="en-US" altLang="en-US" sz="2400" b="1"/>
            </a:br>
            <a:r>
              <a:rPr lang="en-US" altLang="en-US" sz="2400" b="1"/>
              <a:t>factors?</a:t>
            </a:r>
            <a:endParaRPr lang="en-US" alt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299E6-D0BD-0BBE-3C8C-73CE2415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AutoNum type="arabicPeriod"/>
              <a:defRPr/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Bactericidal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kill bacteria, meaning that the bacteria cannot regrow if placed in optimum conditions</a:t>
            </a:r>
          </a:p>
          <a:p>
            <a:pPr marL="457200" indent="-457200">
              <a:buFontTx/>
              <a:buAutoNum type="arabicPeriod"/>
              <a:defRPr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Bacteriostatic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slow down bacterial growth, meaning that the bacteria can regrow if placed in optimum conditions</a:t>
            </a:r>
          </a:p>
          <a:p>
            <a:pPr marL="0" indent="0">
              <a:buFontTx/>
              <a:buNone/>
              <a:defRPr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693BAF14-F8E9-4EDF-795B-C214FECCC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692696"/>
            <a:ext cx="6337300" cy="1143000"/>
          </a:xfrm>
        </p:spPr>
        <p:txBody>
          <a:bodyPr/>
          <a:lstStyle/>
          <a:p>
            <a:r>
              <a:rPr lang="en-US" altLang="en-US" sz="2400" b="1" dirty="0"/>
              <a:t>What are some examples of physical</a:t>
            </a:r>
            <a:br>
              <a:rPr lang="en-US" altLang="en-US" sz="2400" b="1" dirty="0"/>
            </a:br>
            <a:r>
              <a:rPr lang="en-US" altLang="en-US" sz="2400" b="1" dirty="0"/>
              <a:t>bactericidal and bacteriostatic factors?</a:t>
            </a:r>
            <a:endParaRPr lang="en-US" altLang="en-US" sz="2400" dirty="0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CAF6B206-27B6-007E-3825-75584658E4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298576"/>
            <a:ext cx="7345363" cy="226084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 temperature causes bacterial growth to stop until temperatures rise (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bacteriostatic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High temperature denature bacterial enzymes and kill the bacteria (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bactericidal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E3605DC8-8594-D1D1-96FB-70254B554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764704"/>
            <a:ext cx="6337300" cy="1143000"/>
          </a:xfrm>
        </p:spPr>
        <p:txBody>
          <a:bodyPr/>
          <a:lstStyle/>
          <a:p>
            <a:r>
              <a:rPr lang="en-US" altLang="en-US" b="1" dirty="0"/>
              <a:t>How can we classify chemical factors?</a:t>
            </a:r>
            <a:endParaRPr lang="en-US" altLang="en-US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FD8173F-8D19-DB86-861F-69ED2EC2F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348880"/>
            <a:ext cx="7345363" cy="1684784"/>
          </a:xfrm>
        </p:spPr>
        <p:txBody>
          <a:bodyPr/>
          <a:lstStyle/>
          <a:p>
            <a:pPr marL="457200" indent="-457200">
              <a:buFontTx/>
              <a:buAutoNum type="arabicPeriod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Based on 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source 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(natural or synthetic)</a:t>
            </a:r>
          </a:p>
          <a:p>
            <a:pPr marL="457200" indent="-457200">
              <a:buFontTx/>
              <a:buAutoNum type="arabicPeriod"/>
              <a:defRPr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Based on 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(antiseptic or disinfectant)</a:t>
            </a:r>
          </a:p>
          <a:p>
            <a:pPr marL="0" indent="0">
              <a:buFontTx/>
              <a:buNone/>
              <a:defRPr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55DFA9E6-8FCD-88A4-31CD-6CF468DC9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414338"/>
            <a:ext cx="6481763" cy="1143000"/>
          </a:xfrm>
        </p:spPr>
        <p:txBody>
          <a:bodyPr/>
          <a:lstStyle/>
          <a:p>
            <a:r>
              <a:rPr lang="en-US" altLang="en-US" sz="2800" b="1"/>
              <a:t>What is the difference between natural and synthetic chemical factors?</a:t>
            </a:r>
            <a:endParaRPr lang="en-US" altLang="en-US" sz="2800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62396D6-76CF-A43A-DA21-AF9942AD36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600201"/>
            <a:ext cx="7345363" cy="3773016"/>
          </a:xfrm>
        </p:spPr>
        <p:txBody>
          <a:bodyPr/>
          <a:lstStyle/>
          <a:p>
            <a:pPr algn="just">
              <a:buFontTx/>
              <a:buChar char="-"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Penicillin is an antibiotic</a:t>
            </a:r>
          </a:p>
          <a:p>
            <a:pPr algn="just">
              <a:buFontTx/>
              <a:buChar char="-"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FontTx/>
              <a:buChar char="-"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previous years, penicillin would be derived from the </a:t>
            </a:r>
            <a:r>
              <a:rPr lang="en-US" altLang="en-US" b="1" i="1" dirty="0">
                <a:solidFill>
                  <a:srgbClr val="FF0000"/>
                </a:solidFill>
              </a:rPr>
              <a:t>Penicillium </a:t>
            </a:r>
            <a:r>
              <a:rPr lang="en-US" altLang="en-US" b="1" dirty="0">
                <a:solidFill>
                  <a:srgbClr val="FF0000"/>
                </a:solidFill>
              </a:rPr>
              <a:t>fungi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In this case, it considered natural</a:t>
            </a:r>
          </a:p>
          <a:p>
            <a:pPr algn="just">
              <a:buFontTx/>
              <a:buChar char="-"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FontTx/>
              <a:buChar char="-"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its chemical structure was discovered, penicillin is now artificially produced. In this case, it is considered synthetic</a:t>
            </a:r>
          </a:p>
          <a:p>
            <a:pPr algn="just">
              <a:buFontTx/>
              <a:buChar char="-"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17EDB81-FDCA-8494-8160-4E132AD76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6398" y="620688"/>
            <a:ext cx="6769100" cy="1143000"/>
          </a:xfrm>
        </p:spPr>
        <p:txBody>
          <a:bodyPr/>
          <a:lstStyle/>
          <a:p>
            <a:r>
              <a:rPr lang="en-US" altLang="en-US" sz="2800" b="1" dirty="0"/>
              <a:t>What is the difference between antiseptic and disinfectant chemical factors?</a:t>
            </a:r>
            <a:endParaRPr lang="en-US" altLang="en-US" sz="2800" dirty="0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F214F80E-434A-3C02-CB99-9FC101F846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988840"/>
            <a:ext cx="7345363" cy="2692896"/>
          </a:xfrm>
        </p:spPr>
        <p:txBody>
          <a:bodyPr/>
          <a:lstStyle/>
          <a:p>
            <a:pPr>
              <a:buFontTx/>
              <a:buChar char="-"/>
            </a:pPr>
            <a:r>
              <a:rPr lang="en-US" altLang="en-US" b="1" i="1" dirty="0">
                <a:solidFill>
                  <a:schemeClr val="tx1"/>
                </a:solidFill>
              </a:rPr>
              <a:t>Antiseptics </a:t>
            </a:r>
            <a:r>
              <a:rPr lang="en-US" altLang="en-US" b="1" dirty="0">
                <a:solidFill>
                  <a:schemeClr val="tx1"/>
                </a:solidFill>
              </a:rPr>
              <a:t>are substances that can be used with the human body, such as antibiotics.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en-US" b="1" i="1" dirty="0">
                <a:solidFill>
                  <a:schemeClr val="tx1"/>
                </a:solidFill>
              </a:rPr>
              <a:t>Disinfectants </a:t>
            </a:r>
            <a:r>
              <a:rPr lang="en-US" altLang="en-US" b="1" dirty="0">
                <a:solidFill>
                  <a:schemeClr val="tx1"/>
                </a:solidFill>
              </a:rPr>
              <a:t>are substance that are used on the surfaces of living and non-living things, such as alcohol, </a:t>
            </a:r>
            <a:r>
              <a:rPr lang="en-US" altLang="en-US" b="1" dirty="0" err="1">
                <a:solidFill>
                  <a:schemeClr val="tx1"/>
                </a:solidFill>
              </a:rPr>
              <a:t>HiGeen</a:t>
            </a:r>
            <a:r>
              <a:rPr lang="en-US" altLang="en-US" b="1" dirty="0">
                <a:solidFill>
                  <a:schemeClr val="tx1"/>
                </a:solidFill>
              </a:rPr>
              <a:t>, Lifebuoy soap.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B6CFC1DB-30E7-E1A1-A24C-DC702E96B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/>
              <a:t>What is 75% alcohol and how does it affect bacteria?</a:t>
            </a:r>
            <a:endParaRPr lang="en-US" altLang="en-US" sz="280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EED13381-D22E-941B-B0AE-DE0C3091B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It is a bactericide that is composed of 75 mL alcohol and 25 mL water</a:t>
            </a:r>
          </a:p>
          <a:p>
            <a:pPr>
              <a:buFontTx/>
              <a:buChar char="-"/>
              <a:defRPr/>
            </a:pPr>
            <a:endParaRPr lang="en-US" altLang="en-US" b="1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It kills bacteria in two ways:</a:t>
            </a:r>
          </a:p>
          <a:p>
            <a:pPr marL="514350" indent="-514350">
              <a:buFont typeface="+mj-lt"/>
              <a:buAutoNum type="romanUcPeriod"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The alcohol dissolves the bacterial cell wall to leave a protoplast</a:t>
            </a:r>
          </a:p>
          <a:p>
            <a:pPr marL="514350" indent="-514350">
              <a:buFont typeface="+mj-lt"/>
              <a:buAutoNum type="romanUcPeriod"/>
              <a:defRPr/>
            </a:pPr>
            <a:endParaRPr lang="en-US" altLang="en-US" b="1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romanUcPeriod"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The water acts as a hypotonic solution to cause the protoplast to lyse/burst</a:t>
            </a:r>
          </a:p>
          <a:p>
            <a:pPr marL="0" indent="0">
              <a:buFontTx/>
              <a:buNone/>
              <a:defRPr/>
            </a:pPr>
            <a:endParaRPr lang="en-US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77416A42-5662-138C-7138-CD4937007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/>
              <a:t>How do bacteriostatic and bactericidal</a:t>
            </a:r>
            <a:br>
              <a:rPr lang="en-US" altLang="en-US" sz="2800" b="1"/>
            </a:br>
            <a:r>
              <a:rPr lang="en-US" altLang="en-US" sz="2800" b="1"/>
              <a:t>factors affect bacterial growth?</a:t>
            </a:r>
            <a:endParaRPr lang="en-US" altLang="en-US" sz="280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2A1C9983-95FC-879F-0132-D6A14A58FC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sz="2000" b="1" i="1" dirty="0">
                <a:solidFill>
                  <a:schemeClr val="tx1"/>
                </a:solidFill>
              </a:rPr>
              <a:t>1. Cell wall</a:t>
            </a:r>
          </a:p>
          <a:p>
            <a:pPr marL="0" indent="0">
              <a:buFontTx/>
              <a:buNone/>
            </a:pPr>
            <a:r>
              <a:rPr lang="en-US" altLang="en-US" sz="2000" b="1" dirty="0" err="1">
                <a:solidFill>
                  <a:schemeClr val="tx1"/>
                </a:solidFill>
              </a:rPr>
              <a:t>i</a:t>
            </a:r>
            <a:r>
              <a:rPr lang="en-US" altLang="en-US" sz="2000" b="1" dirty="0">
                <a:solidFill>
                  <a:schemeClr val="tx1"/>
                </a:solidFill>
              </a:rPr>
              <a:t>) Break it down</a:t>
            </a:r>
          </a:p>
          <a:p>
            <a:pPr marL="0" indent="0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ii) Prevent synthesis of cell wall material</a:t>
            </a:r>
          </a:p>
          <a:p>
            <a:pPr marL="0" indent="0">
              <a:buFontTx/>
              <a:buNone/>
            </a:pPr>
            <a:r>
              <a:rPr lang="en-US" altLang="en-US" sz="2000" b="1" i="1" dirty="0">
                <a:solidFill>
                  <a:schemeClr val="tx1"/>
                </a:solidFill>
              </a:rPr>
              <a:t>2. Plasma membrane</a:t>
            </a:r>
          </a:p>
          <a:p>
            <a:pPr marL="0" indent="0">
              <a:buFontTx/>
              <a:buNone/>
            </a:pPr>
            <a:r>
              <a:rPr lang="en-US" altLang="en-US" sz="2000" b="1" dirty="0" err="1">
                <a:solidFill>
                  <a:schemeClr val="tx1"/>
                </a:solidFill>
              </a:rPr>
              <a:t>i</a:t>
            </a:r>
            <a:r>
              <a:rPr lang="en-US" altLang="en-US" sz="2000" b="1" dirty="0">
                <a:solidFill>
                  <a:schemeClr val="tx1"/>
                </a:solidFill>
              </a:rPr>
              <a:t>) Break it down</a:t>
            </a:r>
          </a:p>
          <a:p>
            <a:pPr marL="0" indent="0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ii) Prevent synthesis of plasma membrane material</a:t>
            </a:r>
          </a:p>
          <a:p>
            <a:pPr marL="0" indent="0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iii) Affect permeability</a:t>
            </a:r>
          </a:p>
          <a:p>
            <a:pPr marL="0" indent="0">
              <a:buFontTx/>
              <a:buNone/>
            </a:pPr>
            <a:r>
              <a:rPr lang="en-US" altLang="en-US" sz="2000" b="1" i="1" dirty="0">
                <a:solidFill>
                  <a:schemeClr val="tx1"/>
                </a:solidFill>
              </a:rPr>
              <a:t>- Increase will cause enzymes to leave the cell</a:t>
            </a:r>
          </a:p>
          <a:p>
            <a:pPr marL="0" indent="0">
              <a:buFontTx/>
              <a:buNone/>
            </a:pPr>
            <a:r>
              <a:rPr lang="en-US" altLang="en-US" sz="2000" b="1" i="1" dirty="0">
                <a:solidFill>
                  <a:schemeClr val="tx1"/>
                </a:solidFill>
              </a:rPr>
              <a:t>- Decrease will prevent nutrients from entering and waste from leaving the cell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110F81D2-C74D-6C23-0903-BA0525485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013" y="1196975"/>
            <a:ext cx="7345362" cy="42767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1" i="1" dirty="0">
                <a:solidFill>
                  <a:schemeClr val="tx1"/>
                </a:solidFill>
              </a:rPr>
              <a:t>3. Genetic material</a:t>
            </a:r>
          </a:p>
          <a:p>
            <a:pPr marL="0" indent="0"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) Interfere with DNA replication leading to no cell growth</a:t>
            </a:r>
          </a:p>
          <a:p>
            <a:pPr marL="0" indent="0">
              <a:buFontTx/>
              <a:buNone/>
            </a:pPr>
            <a:r>
              <a:rPr lang="en-US" altLang="en-US" b="1" i="1" dirty="0">
                <a:solidFill>
                  <a:schemeClr val="tx1"/>
                </a:solidFill>
              </a:rPr>
              <a:t>4. Transcription and translation</a:t>
            </a:r>
          </a:p>
          <a:p>
            <a:pPr marL="0" indent="0"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) Prevent transcription/ mRNA cannot be formed from DNA</a:t>
            </a:r>
          </a:p>
          <a:p>
            <a:pPr marL="0" indent="0"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ii) Prevent translation/ Linear protein structure cannot be formed from mRNA either by interfering with tRNA or ribosomes</a:t>
            </a:r>
          </a:p>
          <a:p>
            <a:pPr marL="0" indent="0">
              <a:buFontTx/>
              <a:buNone/>
            </a:pPr>
            <a:r>
              <a:rPr lang="en-US" altLang="en-US" b="1" i="1" dirty="0">
                <a:solidFill>
                  <a:schemeClr val="tx1"/>
                </a:solidFill>
              </a:rPr>
              <a:t>5. Metabolic pathways</a:t>
            </a:r>
          </a:p>
          <a:p>
            <a:pPr marL="0" indent="0"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) Inhibit enzymatic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DAA1CD2-CD57-132E-81F3-38634D8A2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836712"/>
            <a:ext cx="6337300" cy="1143000"/>
          </a:xfrm>
        </p:spPr>
        <p:txBody>
          <a:bodyPr/>
          <a:lstStyle/>
          <a:p>
            <a:r>
              <a:rPr lang="en-US" altLang="en-US" sz="3200" b="1" dirty="0"/>
              <a:t>How can we study the effects of antibiotics on bacteria?</a:t>
            </a:r>
            <a:endParaRPr lang="en-US" altLang="en-US" sz="3200" dirty="0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F68179F8-EDDC-E935-0222-708DA0A52F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2420888"/>
            <a:ext cx="7345363" cy="1143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- By using the Kirby method, which is also called the disc diffusion method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1B46432-E086-24CA-78C2-566788145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What factors affect the Kirby method?</a:t>
            </a:r>
            <a:endParaRPr lang="en-US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5FE573FD-0DCE-EC64-4FBB-F8351F0BA6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AutoNum type="arabicPeriod"/>
              <a:defRPr/>
            </a:pPr>
            <a:r>
              <a:rPr lang="en-US" altLang="en-US" sz="1800" b="1" i="1" u="sng" dirty="0">
                <a:solidFill>
                  <a:schemeClr val="tx1"/>
                </a:solidFill>
              </a:rPr>
              <a:t>Type of media </a:t>
            </a:r>
            <a:r>
              <a:rPr lang="en-US" altLang="en-US" sz="1800" b="1" i="1" dirty="0">
                <a:solidFill>
                  <a:schemeClr val="tx1"/>
                </a:solidFill>
              </a:rPr>
              <a:t>must have the highest possible antibiotic diffusion rate and its components must not react with the Antibiotic           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i="1" dirty="0">
                <a:solidFill>
                  <a:schemeClr val="tx1"/>
                </a:solidFill>
              </a:rPr>
              <a:t>        </a:t>
            </a:r>
            <a:r>
              <a:rPr lang="en-US" altLang="en-US" sz="1800" b="1" dirty="0">
                <a:solidFill>
                  <a:schemeClr val="tx1"/>
                </a:solidFill>
              </a:rPr>
              <a:t>- Mueller-Hinton agar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i="1" dirty="0">
                <a:solidFill>
                  <a:schemeClr val="tx1"/>
                </a:solidFill>
              </a:rPr>
              <a:t>2. </a:t>
            </a:r>
            <a:r>
              <a:rPr lang="en-US" altLang="en-US" sz="1800" b="1" i="1" u="sng" dirty="0" err="1">
                <a:solidFill>
                  <a:schemeClr val="tx1"/>
                </a:solidFill>
              </a:rPr>
              <a:t>Titre</a:t>
            </a:r>
            <a:r>
              <a:rPr lang="en-US" altLang="en-US" sz="1800" b="1" i="1" u="sng" dirty="0">
                <a:solidFill>
                  <a:schemeClr val="tx1"/>
                </a:solidFill>
              </a:rPr>
              <a:t> of the bacteria </a:t>
            </a:r>
            <a:r>
              <a:rPr lang="en-US" altLang="en-US" sz="1800" b="1" i="1" dirty="0">
                <a:solidFill>
                  <a:schemeClr val="tx1"/>
                </a:solidFill>
              </a:rPr>
              <a:t>must not exceed 107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- ↑</a:t>
            </a:r>
            <a:r>
              <a:rPr lang="en-US" altLang="en-US" sz="1800" b="1" dirty="0" err="1">
                <a:solidFill>
                  <a:schemeClr val="tx1"/>
                </a:solidFill>
              </a:rPr>
              <a:t>titre</a:t>
            </a:r>
            <a:r>
              <a:rPr lang="en-US" altLang="en-US" sz="1800" b="1" dirty="0">
                <a:solidFill>
                  <a:schemeClr val="tx1"/>
                </a:solidFill>
              </a:rPr>
              <a:t> = ↓effectiveness of antibiotic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i="1" dirty="0">
                <a:solidFill>
                  <a:schemeClr val="tx1"/>
                </a:solidFill>
              </a:rPr>
              <a:t>3. </a:t>
            </a:r>
            <a:r>
              <a:rPr lang="en-US" altLang="en-US" sz="1800" b="1" i="1" u="sng" dirty="0">
                <a:solidFill>
                  <a:schemeClr val="tx1"/>
                </a:solidFill>
              </a:rPr>
              <a:t>Type of antibiotic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- Broad-spectrum antibiotics targets a wide range of bacteria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- Narrow-spectrum antibiotics target a specific group of bacteria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i="1" dirty="0">
                <a:solidFill>
                  <a:schemeClr val="tx1"/>
                </a:solidFill>
              </a:rPr>
              <a:t>4. </a:t>
            </a:r>
            <a:r>
              <a:rPr lang="en-US" altLang="en-US" sz="1800" b="1" i="1" u="sng" dirty="0">
                <a:solidFill>
                  <a:schemeClr val="tx1"/>
                </a:solidFill>
              </a:rPr>
              <a:t>Concentration of antibiotic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- Different antibiotics have different optimal concentrations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dirty="0">
                <a:solidFill>
                  <a:schemeClr val="tx1"/>
                </a:solidFill>
              </a:rPr>
              <a:t>- Excess antibiotic can be used as a nutrient by fungi</a:t>
            </a:r>
          </a:p>
          <a:p>
            <a:pPr marL="0" indent="0">
              <a:buFontTx/>
              <a:buNone/>
              <a:defRPr/>
            </a:pPr>
            <a:r>
              <a:rPr lang="en-US" altLang="en-US" sz="1800" b="1" i="1" dirty="0">
                <a:solidFill>
                  <a:schemeClr val="tx1"/>
                </a:solidFill>
              </a:rPr>
              <a:t>5. </a:t>
            </a:r>
            <a:r>
              <a:rPr lang="en-US" altLang="en-US" sz="1800" b="1" i="1" u="sng" dirty="0">
                <a:solidFill>
                  <a:schemeClr val="tx1"/>
                </a:solidFill>
              </a:rPr>
              <a:t>Type of bacteria</a:t>
            </a:r>
            <a:endParaRPr lang="en-US" altLang="en-US" sz="1800" b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BE13C771-8035-665E-6254-5282F5915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7290" y="908720"/>
            <a:ext cx="6553200" cy="1143000"/>
          </a:xfrm>
        </p:spPr>
        <p:txBody>
          <a:bodyPr/>
          <a:lstStyle/>
          <a:p>
            <a:r>
              <a:rPr lang="en-US" altLang="en-US" sz="2400" b="1" dirty="0"/>
              <a:t>What is the relationship between rate of antibiotic diffusion and rate of bacterial growth?</a:t>
            </a:r>
            <a:endParaRPr lang="en-US" altLang="en-US" sz="2400" dirty="0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07575B41-BEB5-F49D-5518-C9FD4DDA68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9318" y="2420528"/>
            <a:ext cx="7345363" cy="201694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300" b="1" dirty="0">
                <a:solidFill>
                  <a:schemeClr val="tx1"/>
                </a:solidFill>
              </a:rPr>
              <a:t>- Rate of antibiotic diffusion / rate of bacterial growth ≥ 1</a:t>
            </a:r>
          </a:p>
          <a:p>
            <a:pPr marL="0" indent="0">
              <a:buFontTx/>
              <a:buNone/>
            </a:pPr>
            <a:endParaRPr lang="en-US" altLang="en-US" sz="2300" b="1" dirty="0">
              <a:solidFill>
                <a:schemeClr val="tx1"/>
              </a:solidFill>
            </a:endParaRPr>
          </a:p>
          <a:p>
            <a:pPr marL="0" indent="0">
              <a:buFontTx/>
              <a:buNone/>
            </a:pPr>
            <a:r>
              <a:rPr lang="en-US" altLang="en-US" sz="2300" b="1" dirty="0">
                <a:solidFill>
                  <a:schemeClr val="tx1"/>
                </a:solidFill>
              </a:rPr>
              <a:t>- This means that the rate of antibiotic diffusion has to be equal to or greater than the rate of bacterial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644E0C4-B5C6-539A-8B02-EDCE77E81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188913"/>
            <a:ext cx="6769100" cy="1143000"/>
          </a:xfrm>
        </p:spPr>
        <p:txBody>
          <a:bodyPr/>
          <a:lstStyle/>
          <a:p>
            <a:r>
              <a:rPr lang="en-US" altLang="en-US" sz="2400" b="1"/>
              <a:t>What happens if the rate of antibiotic diffusion is less than the rate of bacterial growth?</a:t>
            </a:r>
            <a:endParaRPr lang="en-US" altLang="en-US" sz="2400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4D93A1C7-9737-8179-23BB-ED7EEC37BD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9318" y="1290637"/>
            <a:ext cx="7345363" cy="4276725"/>
          </a:xfrm>
        </p:spPr>
        <p:txBody>
          <a:bodyPr/>
          <a:lstStyle/>
          <a:p>
            <a:pPr>
              <a:buFontTx/>
              <a:buChar char="-"/>
            </a:pPr>
            <a:r>
              <a:rPr lang="en-US" altLang="en-US" b="1" dirty="0">
                <a:solidFill>
                  <a:schemeClr val="tx1"/>
                </a:solidFill>
              </a:rPr>
              <a:t>The bacterial cell will transform into a colony before the antibiotic reaches it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en-US" b="1" dirty="0">
                <a:solidFill>
                  <a:schemeClr val="tx1"/>
                </a:solidFill>
              </a:rPr>
              <a:t>Even if the antibiotic kills some of the bacteria, we will still be able to see the colony and this will give us a false result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en-US" b="1" dirty="0">
                <a:solidFill>
                  <a:schemeClr val="tx1"/>
                </a:solidFill>
              </a:rPr>
              <a:t>If the rate of antibiotic diffusion is equal to or greater than rate of bacterial growth, the antibiotic will reach the bacterial cell before a colony is formed, and it might or might not interfere kill it</a:t>
            </a:r>
          </a:p>
          <a:p>
            <a:pPr>
              <a:buFontTx/>
              <a:buChar char="-"/>
            </a:pPr>
            <a:endParaRPr lang="en-US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42F9ACB-6E49-A166-6424-E65398485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Kirby Method</a:t>
            </a:r>
            <a:br>
              <a:rPr lang="en-US" altLang="en-US" b="1"/>
            </a:br>
            <a:r>
              <a:rPr lang="en-US" altLang="en-US" b="1"/>
              <a:t> (Disc Diffusion Method)</a:t>
            </a:r>
            <a:endParaRPr lang="en-US" altLang="en-US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902C3EA3-2F51-F171-FD20-E3956F1581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744663"/>
            <a:ext cx="7345363" cy="42767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1. Wash your hands with liquid soap and water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2. Disinfect benchtop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3. Turn on </a:t>
            </a:r>
            <a:r>
              <a:rPr lang="en-US" altLang="en-US" b="1" dirty="0" err="1">
                <a:solidFill>
                  <a:schemeClr val="tx1"/>
                </a:solidFill>
              </a:rPr>
              <a:t>bunsen</a:t>
            </a:r>
            <a:r>
              <a:rPr lang="en-US" altLang="en-US" b="1" dirty="0">
                <a:solidFill>
                  <a:schemeClr val="tx1"/>
                </a:solidFill>
              </a:rPr>
              <a:t> burner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4. Retrieve the nutrient broth culture from our last lab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5. Prepare a </a:t>
            </a:r>
            <a:r>
              <a:rPr lang="en-US" altLang="en-US" b="1" i="1" dirty="0">
                <a:solidFill>
                  <a:schemeClr val="tx1"/>
                </a:solidFill>
              </a:rPr>
              <a:t>bacterial lawn </a:t>
            </a:r>
            <a:r>
              <a:rPr lang="en-US" altLang="en-US" b="1" dirty="0">
                <a:solidFill>
                  <a:schemeClr val="tx1"/>
                </a:solidFill>
              </a:rPr>
              <a:t>(each point on the media is inoculated with bacteria)</a:t>
            </a:r>
          </a:p>
          <a:p>
            <a:pPr marL="0" indent="0">
              <a:buFontTx/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i</a:t>
            </a:r>
            <a:r>
              <a:rPr lang="en-US" altLang="en-US" b="1" dirty="0">
                <a:solidFill>
                  <a:schemeClr val="tx1"/>
                </a:solidFill>
              </a:rPr>
              <a:t>) </a:t>
            </a:r>
            <a:r>
              <a:rPr lang="en-US" altLang="en-US" b="1" dirty="0">
                <a:solidFill>
                  <a:srgbClr val="FF0000"/>
                </a:solidFill>
              </a:rPr>
              <a:t>By adding 2 mL of broth and manually rotating the plate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ii) By surface-spreading</a:t>
            </a:r>
          </a:p>
          <a:p>
            <a:pPr marL="0" indent="0"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iii) By swabbing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A92BAB73-906E-29E5-6282-DFF8A64D7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9613" y="414338"/>
            <a:ext cx="4392587" cy="1143000"/>
          </a:xfrm>
        </p:spPr>
        <p:txBody>
          <a:bodyPr/>
          <a:lstStyle/>
          <a:p>
            <a:r>
              <a:rPr lang="en-US" altLang="en-US" b="1" dirty="0"/>
              <a:t>Kirby Method</a:t>
            </a:r>
            <a:endParaRPr lang="en-US" altLang="en-US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6B327DF8-40F8-85DB-B01F-E6B97609A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6. Vortex the nutrient broth tube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7. Flame the mouth of the nutrient broth tube before and after opening the lid and before closing it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8. Roll the swab inside the nutrient broth tube for 10 seconds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9. Swab the entire surface of the plate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10. Rotate the plate 90° </a:t>
            </a:r>
            <a:r>
              <a:rPr lang="en-US" altLang="en-US" sz="1800" b="1" i="1" dirty="0">
                <a:solidFill>
                  <a:schemeClr val="tx1"/>
                </a:solidFill>
              </a:rPr>
              <a:t>(1st time)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11. Repeat steps 6 to 8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12. Rotate the plate 90° </a:t>
            </a:r>
            <a:r>
              <a:rPr lang="en-US" altLang="en-US" sz="1800" b="1" i="1" dirty="0">
                <a:solidFill>
                  <a:schemeClr val="tx1"/>
                </a:solidFill>
              </a:rPr>
              <a:t>(2nd time)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13. Repeat steps 6 to 8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14. Rotate the plate 90° </a:t>
            </a:r>
            <a:r>
              <a:rPr lang="en-US" altLang="en-US" sz="1800" b="1" i="1" dirty="0">
                <a:solidFill>
                  <a:schemeClr val="tx1"/>
                </a:solidFill>
              </a:rPr>
              <a:t>(3rd time)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15. Repeat steps 6 to 8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16. Rotate the plate 90° </a:t>
            </a:r>
            <a:r>
              <a:rPr lang="en-US" altLang="en-US" sz="1800" b="1" i="1" dirty="0">
                <a:solidFill>
                  <a:schemeClr val="tx1"/>
                </a:solidFill>
              </a:rPr>
              <a:t>(4th time)</a:t>
            </a:r>
          </a:p>
          <a:p>
            <a:pPr marL="0" indent="0"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17. Repeat steps 6 to 8</a:t>
            </a:r>
          </a:p>
        </p:txBody>
      </p:sp>
      <p:pic>
        <p:nvPicPr>
          <p:cNvPr id="39940" name="Picture 3">
            <a:extLst>
              <a:ext uri="{FF2B5EF4-FFF2-40B4-BE49-F238E27FC236}">
                <a16:creationId xmlns:a16="http://schemas.microsoft.com/office/drawing/2014/main" id="{253DF852-2908-F3DC-65AB-37A25C38D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855913"/>
            <a:ext cx="3352800" cy="280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492FF19-D2FD-4B7F-DE1F-29228F33F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Kirby Method</a:t>
            </a:r>
            <a:endParaRPr lang="en-US" altLang="en-US"/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B0CAF3B0-4881-6315-E37E-2F8E974A1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412776"/>
            <a:ext cx="5184775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C17A7C3A-959D-E0BB-7111-11A2E000D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457201"/>
            <a:ext cx="5113164" cy="1143000"/>
          </a:xfrm>
        </p:spPr>
        <p:txBody>
          <a:bodyPr/>
          <a:lstStyle/>
          <a:p>
            <a:r>
              <a:rPr lang="en-US" altLang="en-US" b="1" dirty="0"/>
              <a:t>Kirby Method</a:t>
            </a:r>
            <a:endParaRPr lang="en-US" altLang="en-US" dirty="0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F552345-7CDE-88EF-3417-CE3CE71E25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550" y="1600201"/>
            <a:ext cx="7345363" cy="254888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18. Using sterile forceps, gently press the antibiotic strip against the agar</a:t>
            </a:r>
          </a:p>
          <a:p>
            <a:pPr marL="0" indent="0">
              <a:buFontTx/>
              <a:buNone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19. Incubate upside-down overnight</a:t>
            </a:r>
          </a:p>
          <a:p>
            <a:pPr marL="0" indent="0">
              <a:buFontTx/>
              <a:buNone/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20. Tomorrow, come to the lab and observe the plates. Are there any clear zones around the discs? Measure them using a ruler.</a:t>
            </a:r>
          </a:p>
          <a:p>
            <a:pPr>
              <a:defRPr/>
            </a:pPr>
            <a:endParaRPr lang="en-US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69D97DC9-D38B-5139-A2D1-77D5701AF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Kirby Method</a:t>
            </a:r>
            <a:endParaRPr lang="en-US" altLang="ar-JO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D70A2EBD-8378-B035-B2F0-DC74FF32C5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ar-JO"/>
          </a:p>
        </p:txBody>
      </p:sp>
      <p:pic>
        <p:nvPicPr>
          <p:cNvPr id="43012" name="Picture 3">
            <a:extLst>
              <a:ext uri="{FF2B5EF4-FFF2-40B4-BE49-F238E27FC236}">
                <a16:creationId xmlns:a16="http://schemas.microsoft.com/office/drawing/2014/main" id="{D8432BEC-948D-F381-052C-14791F345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585913"/>
            <a:ext cx="6913562" cy="413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E3284DF8-187D-A034-F81F-64190072F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457200"/>
            <a:ext cx="6337300" cy="1143000"/>
          </a:xfrm>
        </p:spPr>
        <p:txBody>
          <a:bodyPr/>
          <a:lstStyle/>
          <a:p>
            <a:r>
              <a:rPr lang="en-US" altLang="en-US" sz="2400" b="1" dirty="0"/>
              <a:t>How can we determine which antibiotic is the</a:t>
            </a:r>
            <a:br>
              <a:rPr lang="en-US" altLang="en-US" sz="2400" b="1" dirty="0"/>
            </a:br>
            <a:r>
              <a:rPr lang="en-US" altLang="en-US" sz="2400" b="1" dirty="0"/>
              <a:t>most effective against this type of bacteria?</a:t>
            </a:r>
            <a:endParaRPr lang="en-US" altLang="en-US" sz="2400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B2A77F4C-3ACD-DE10-3750-5F05C7920E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- We cannot rely on the size of the measured zone alone.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- We must calculate the </a:t>
            </a:r>
            <a:r>
              <a:rPr lang="en-US" altLang="en-US" b="1" i="1" dirty="0">
                <a:solidFill>
                  <a:schemeClr val="tx1"/>
                </a:solidFill>
              </a:rPr>
              <a:t>real zone</a:t>
            </a:r>
            <a:r>
              <a:rPr lang="en-US" altLang="en-US" b="1" dirty="0">
                <a:solidFill>
                  <a:schemeClr val="tx1"/>
                </a:solidFill>
              </a:rPr>
              <a:t>, which is the measured zone minus the standard zone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- If the inhibition zone is greater than the standard, then the bacteria is </a:t>
            </a:r>
            <a:r>
              <a:rPr lang="en-US" altLang="en-US" b="1" i="1" dirty="0">
                <a:solidFill>
                  <a:schemeClr val="tx1"/>
                </a:solidFill>
              </a:rPr>
              <a:t>sensitive </a:t>
            </a:r>
            <a:r>
              <a:rPr lang="en-US" altLang="en-US" b="1" dirty="0">
                <a:solidFill>
                  <a:schemeClr val="tx1"/>
                </a:solidFill>
              </a:rPr>
              <a:t>to that antibiotic. If the inhibition zone is smaller, then the bacteria is </a:t>
            </a:r>
            <a:r>
              <a:rPr lang="en-US" altLang="en-US" b="1" i="1" dirty="0">
                <a:solidFill>
                  <a:schemeClr val="tx1"/>
                </a:solidFill>
              </a:rPr>
              <a:t>resistant.</a:t>
            </a:r>
            <a:endParaRPr lang="en-US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14F6BE35-2E2D-7876-90AA-D50CAF56B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- Most charts online have already calculated the real zone for you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36D6AA9E-AC13-4EF1-CE82-5420C9CA6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en-US"/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72F1FFF6-96CD-B9BF-1D70-B5429F546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482725"/>
            <a:ext cx="6911975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A0B88BBA-95DD-C15B-AC1C-A9D98743E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7813" y="2492375"/>
            <a:ext cx="6337300" cy="1143000"/>
          </a:xfrm>
        </p:spPr>
        <p:txBody>
          <a:bodyPr/>
          <a:lstStyle/>
          <a:p>
            <a:r>
              <a:rPr lang="en-US" altLang="ar-JO" dirty="0">
                <a:solidFill>
                  <a:schemeClr val="tx1"/>
                </a:solidFill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erlin Sans FB Demi"/>
        <a:ea typeface=""/>
        <a:cs typeface=""/>
      </a:majorFont>
      <a:minorFont>
        <a:latin typeface="Freak Turbulence BR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1076</Words>
  <Application>Microsoft Office PowerPoint</Application>
  <PresentationFormat>On-screen Show (4:3)</PresentationFormat>
  <Paragraphs>112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Unicode MS</vt:lpstr>
      <vt:lpstr>Berlin Sans FB Demi</vt:lpstr>
      <vt:lpstr>Calibri</vt:lpstr>
      <vt:lpstr>Freak Turbulence BRK</vt:lpstr>
      <vt:lpstr>Segoe UI</vt:lpstr>
      <vt:lpstr>Segoe UI Light</vt:lpstr>
      <vt:lpstr>Default Design</vt:lpstr>
      <vt:lpstr>Get Started with 3D</vt:lpstr>
      <vt:lpstr>Antibiotics</vt:lpstr>
      <vt:lpstr>PowerPoint Presentation</vt:lpstr>
      <vt:lpstr>How can we classify chemical and physical factors?</vt:lpstr>
      <vt:lpstr>What are some examples of physical bactericidal and bacteriostatic factors?</vt:lpstr>
      <vt:lpstr>How can we classify chemical factors?</vt:lpstr>
      <vt:lpstr>What is the difference between natural and synthetic chemical factors?</vt:lpstr>
      <vt:lpstr>What is the difference between antiseptic and disinfectant chemical factors?</vt:lpstr>
      <vt:lpstr>What is 75% alcohol and how does it affect bacteria?</vt:lpstr>
      <vt:lpstr>How do bacteriostatic and bactericidal factors affect bacterial growth?</vt:lpstr>
      <vt:lpstr>PowerPoint Presentation</vt:lpstr>
      <vt:lpstr>How can we study the effects of antibiotics on bacteria?</vt:lpstr>
      <vt:lpstr>What factors affect the Kirby method?</vt:lpstr>
      <vt:lpstr>What is the relationship between rate of antibiotic diffusion and rate of bacterial growth?</vt:lpstr>
      <vt:lpstr>What happens if the rate of antibiotic diffusion is less than the rate of bacterial growth?</vt:lpstr>
      <vt:lpstr>Kirby Method  (Disc Diffusion Method)</vt:lpstr>
      <vt:lpstr>Kirby Method</vt:lpstr>
      <vt:lpstr>Kirby Method</vt:lpstr>
      <vt:lpstr>Kirby Method</vt:lpstr>
      <vt:lpstr>Kirby Method</vt:lpstr>
      <vt:lpstr>How can we determine which antibiotic is the most effective against this type of bacteria?</vt:lpstr>
      <vt:lpstr>- Most charts online have already calculated the real zone for you</vt:lpstr>
      <vt:lpstr>The End</vt:lpstr>
    </vt:vector>
  </TitlesOfParts>
  <Company>Health Protection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 of Infection</dc:title>
  <dc:creator>Administrator</dc:creator>
  <cp:lastModifiedBy>Erwah Al Bataineh</cp:lastModifiedBy>
  <cp:revision>49</cp:revision>
  <dcterms:created xsi:type="dcterms:W3CDTF">2008-02-11T12:29:30Z</dcterms:created>
  <dcterms:modified xsi:type="dcterms:W3CDTF">2023-05-02T08:45:22Z</dcterms:modified>
</cp:coreProperties>
</file>