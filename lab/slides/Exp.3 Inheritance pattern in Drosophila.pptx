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96" r:id="rId14"/>
    <p:sldId id="298" r:id="rId15"/>
    <p:sldId id="267" r:id="rId16"/>
    <p:sldId id="295" r:id="rId17"/>
    <p:sldId id="297" r:id="rId18"/>
    <p:sldId id="327" r:id="rId19"/>
    <p:sldId id="353" r:id="rId20"/>
    <p:sldId id="274" r:id="rId21"/>
    <p:sldId id="270" r:id="rId22"/>
    <p:sldId id="271" r:id="rId23"/>
    <p:sldId id="272" r:id="rId24"/>
    <p:sldId id="273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6" r:id="rId34"/>
    <p:sldId id="289" r:id="rId35"/>
    <p:sldId id="283" r:id="rId36"/>
    <p:sldId id="290" r:id="rId37"/>
    <p:sldId id="284" r:id="rId38"/>
    <p:sldId id="285" r:id="rId39"/>
    <p:sldId id="287" r:id="rId40"/>
    <p:sldId id="288" r:id="rId41"/>
    <p:sldId id="291" r:id="rId42"/>
    <p:sldId id="292" r:id="rId43"/>
    <p:sldId id="293" r:id="rId44"/>
    <p:sldId id="260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A2FB-2F8A-43E1-862C-F1A133880B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B96B-4A5D-4918-B8F1-0EDD070EDA3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A2FB-2F8A-43E1-862C-F1A133880B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B96B-4A5D-4918-B8F1-0EDD070EDA3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A2FB-2F8A-43E1-862C-F1A133880B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B96B-4A5D-4918-B8F1-0EDD070EDA3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A2FB-2F8A-43E1-862C-F1A133880B2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B96B-4A5D-4918-B8F1-0EDD070EDA3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A2FB-2F8A-43E1-862C-F1A133880B2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B96B-4A5D-4918-B8F1-0EDD070EDA3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A2FB-2F8A-43E1-862C-F1A133880B2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B96B-4A5D-4918-B8F1-0EDD070EDA3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A2FB-2F8A-43E1-862C-F1A133880B25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B96B-4A5D-4918-B8F1-0EDD070EDA3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A2FB-2F8A-43E1-862C-F1A133880B2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B96B-4A5D-4918-B8F1-0EDD070EDA3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A2FB-2F8A-43E1-862C-F1A133880B2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B96B-4A5D-4918-B8F1-0EDD070EDA3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A2FB-2F8A-43E1-862C-F1A133880B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B96B-4A5D-4918-B8F1-0EDD070EDA3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A2FB-2F8A-43E1-862C-F1A133880B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B96B-4A5D-4918-B8F1-0EDD070EDA3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6A2FB-2F8A-43E1-862C-F1A133880B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AB96B-4A5D-4918-B8F1-0EDD070EDA3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2.png"/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hyperlink" Target="https://www2.le.ac.uk/departments/genetics/research/staff-research-interests/tauber-research-lab/livegene/fly-manual-1#:~:text=The%20most%20simple%20characteristic%20to,females%20have%20light%2C%20pointed%20genitalia" TargetMode="External"/><Relationship Id="rId6" Type="http://schemas.openxmlformats.org/officeDocument/2006/relationships/hyperlink" Target="https://www.medicalimages.com/stock-photo-photomicrograph-of-an-ebony-fruit-fly-variant-drosophila-sp-with-a-black-body-mag-105x-at-6-image22441070.html" TargetMode="External"/><Relationship Id="rId5" Type="http://schemas.openxmlformats.org/officeDocument/2006/relationships/hyperlink" Target="https://www.biologie.uni-halle.de/entwicklungsgenetik/lehre/studenten/drosophila/mutanten/?lang=en" TargetMode="External"/><Relationship Id="rId4" Type="http://schemas.openxmlformats.org/officeDocument/2006/relationships/hyperlink" Target="https://www.tritechresearch.com/MINJ-DROS-FP.html" TargetMode="External"/><Relationship Id="rId3" Type="http://schemas.openxmlformats.org/officeDocument/2006/relationships/hyperlink" Target="https://www.carolina.com/flies/flynap-anesthetic-kit/173010.pr" TargetMode="External"/><Relationship Id="rId2" Type="http://schemas.openxmlformats.org/officeDocument/2006/relationships/hyperlink" Target="https://www.researchgate.net/figure/The-life-cycle-of-Drosophila-melanogaster-Drosophila-exhibit-a-10-day-life-cycle-at_fig41_315866219" TargetMode="External"/><Relationship Id="rId1" Type="http://schemas.openxmlformats.org/officeDocument/2006/relationships/hyperlink" Target="http://depts.washington.edu/cberglab/wordpress/outreach/an-introduction-to-fruit-fli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4805" y="4311015"/>
            <a:ext cx="9144000" cy="999490"/>
          </a:xfrm>
        </p:spPr>
        <p:txBody>
          <a:bodyPr>
            <a:normAutofit/>
          </a:bodyPr>
          <a:lstStyle/>
          <a:p>
            <a:r>
              <a:rPr lang="en-US" b="1" dirty="0"/>
              <a:t>Fruit fly handling</a:t>
            </a:r>
            <a:endParaRPr lang="en-US" b="1" dirty="0"/>
          </a:p>
        </p:txBody>
      </p:sp>
      <p:pic>
        <p:nvPicPr>
          <p:cNvPr id="7" name="Picture 6" descr="A picture containing linedrawing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79" y="4922203"/>
            <a:ext cx="1509712" cy="1622628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/>
        </p:nvSpPr>
        <p:spPr>
          <a:xfrm>
            <a:off x="1981835" y="1804035"/>
            <a:ext cx="7482840" cy="1344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5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dirty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MOLECULAR GENETICS LABORATORY</a:t>
            </a:r>
            <a:br>
              <a:rPr lang="en-US" sz="8000" dirty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</a:br>
            <a:r>
              <a:rPr lang="en-US" sz="8000" dirty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BT344</a:t>
            </a:r>
            <a:br>
              <a:rPr lang="en-US" sz="8000" dirty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</a:br>
            <a:r>
              <a:rPr lang="en-US" sz="8000"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Experiment (2)</a:t>
            </a:r>
            <a:endParaRPr lang="en-US" sz="8000" dirty="0"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pic>
        <p:nvPicPr>
          <p:cNvPr id="5" name="Picture 4" descr="A picture containing text, outdoor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885" y="166370"/>
            <a:ext cx="1856105" cy="1383030"/>
          </a:xfrm>
          <a:prstGeom prst="rect">
            <a:avLst/>
          </a:prstGeom>
        </p:spPr>
      </p:pic>
      <p:pic>
        <p:nvPicPr>
          <p:cNvPr id="6" name="Picture 5" descr="A picture containing linedrawing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139" y="5079683"/>
            <a:ext cx="1509712" cy="16226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8847455" cy="4351655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lang="en-US" dirty="0"/>
          </a:p>
          <a:p>
            <a:r>
              <a:rPr lang="en-US" dirty="0"/>
              <a:t>Why drosophila?</a:t>
            </a:r>
            <a:endParaRPr lang="en-US" dirty="0"/>
          </a:p>
          <a:p>
            <a:r>
              <a:rPr lang="en-US" dirty="0"/>
              <a:t>Life cycle of </a:t>
            </a:r>
            <a:r>
              <a:rPr lang="en-US" i="1" dirty="0"/>
              <a:t>D. melanogaster </a:t>
            </a:r>
            <a:endParaRPr lang="en-US" i="1" dirty="0"/>
          </a:p>
          <a:p>
            <a:r>
              <a:rPr lang="en-US" dirty="0"/>
              <a:t>Crossing flies, sexing, killing and maintenance </a:t>
            </a:r>
            <a:endParaRPr lang="en-US" dirty="0"/>
          </a:p>
          <a:p>
            <a:r>
              <a:rPr lang="en-US" dirty="0"/>
              <a:t>Basic Drosophila Genetics Nomenclature and Definitions</a:t>
            </a:r>
            <a:endParaRPr lang="en-US" i="1" dirty="0"/>
          </a:p>
          <a:p>
            <a:r>
              <a:rPr lang="en-US" dirty="0"/>
              <a:t>Procedure</a:t>
            </a:r>
            <a:r>
              <a:rPr lang="en-US" i="1" dirty="0"/>
              <a:t> </a:t>
            </a:r>
            <a:endParaRPr lang="en-US" i="1" dirty="0"/>
          </a:p>
          <a:p>
            <a:r>
              <a:rPr lang="en-US" dirty="0"/>
              <a:t>References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 descr="A picture containing linedrawing&#10;&#10;Description automatically generated"/>
          <p:cNvPicPr>
            <a:picLocks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9160" y="131445"/>
            <a:ext cx="2307590" cy="24803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To familiarize you with an important model organism, the fruit fly, </a:t>
            </a:r>
            <a:r>
              <a:rPr lang="en-US" i="1" dirty="0"/>
              <a:t>Drosophila melanogaster</a:t>
            </a:r>
            <a:r>
              <a:rPr lang="en-US" dirty="0"/>
              <a:t>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Construct </a:t>
            </a:r>
            <a:r>
              <a:rPr lang="en-US" b="1" dirty="0"/>
              <a:t>crosses</a:t>
            </a:r>
            <a:r>
              <a:rPr lang="en-US" dirty="0"/>
              <a:t> of wild- type and mutant flies and observe the phenotype of their offspring.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Learn techniques to </a:t>
            </a:r>
            <a:r>
              <a:rPr lang="en-US" b="1" dirty="0"/>
              <a:t>anesthetize</a:t>
            </a:r>
            <a:r>
              <a:rPr lang="en-US" dirty="0"/>
              <a:t> flies, </a:t>
            </a:r>
            <a:r>
              <a:rPr lang="en-US" b="1" dirty="0"/>
              <a:t>kill</a:t>
            </a:r>
            <a:r>
              <a:rPr lang="en-US" dirty="0"/>
              <a:t> them and determine their sex.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Learn </a:t>
            </a:r>
            <a:r>
              <a:rPr lang="en-US" b="1" dirty="0"/>
              <a:t>culturing</a:t>
            </a:r>
            <a:r>
              <a:rPr lang="en-US" dirty="0"/>
              <a:t> techniques to keep the flies healthy.</a:t>
            </a:r>
            <a:endParaRPr lang="en-US" dirty="0"/>
          </a:p>
        </p:txBody>
      </p:sp>
      <p:pic>
        <p:nvPicPr>
          <p:cNvPr id="7" name="Content Placeholder 6" descr="A picture containing linedrawing&#10;&#10;Description automatically generated"/>
          <p:cNvPicPr>
            <a:picLocks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100" y="131445"/>
            <a:ext cx="1644650" cy="176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9555" y="1856105"/>
            <a:ext cx="9010015" cy="4351655"/>
          </a:xfrm>
        </p:spPr>
        <p:txBody>
          <a:bodyPr>
            <a:normAutofit/>
          </a:bodyPr>
          <a:lstStyle/>
          <a:p>
            <a:r>
              <a:rPr lang="en-US" sz="2200" i="1" dirty="0">
                <a:highlight>
                  <a:srgbClr val="FFFF00"/>
                </a:highlight>
              </a:rPr>
              <a:t>Drosophila melanogaster</a:t>
            </a:r>
            <a:r>
              <a:rPr lang="en-US" sz="2200" i="1" dirty="0"/>
              <a:t> </a:t>
            </a:r>
            <a:r>
              <a:rPr lang="en-US" sz="2200" dirty="0"/>
              <a:t>is a small, common fly found near unripe and rotted fruit. It has been in use for over a century to study genetics and behavior. 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b="1" dirty="0"/>
              <a:t>Thomas</a:t>
            </a:r>
            <a:r>
              <a:rPr lang="en-US" sz="2200" dirty="0"/>
              <a:t> </a:t>
            </a:r>
            <a:r>
              <a:rPr lang="en-US" sz="2200" b="1" dirty="0"/>
              <a:t>Hunt</a:t>
            </a:r>
            <a:r>
              <a:rPr lang="en-US" sz="2200" dirty="0"/>
              <a:t> </a:t>
            </a:r>
            <a:r>
              <a:rPr lang="en-US" sz="2200" b="1" dirty="0"/>
              <a:t>Morgan</a:t>
            </a:r>
            <a:r>
              <a:rPr lang="en-US" sz="2200" dirty="0"/>
              <a:t> was the preeminent biologist studying Drosophila early in the 1900’s. He was the first to discover </a:t>
            </a:r>
            <a:r>
              <a:rPr lang="en-US" sz="2200" b="1" dirty="0"/>
              <a:t>sex-linkage</a:t>
            </a:r>
            <a:r>
              <a:rPr lang="en-US" sz="2200" dirty="0"/>
              <a:t> and </a:t>
            </a:r>
            <a:r>
              <a:rPr lang="en-US" sz="2200" b="1" dirty="0"/>
              <a:t>genetic</a:t>
            </a:r>
            <a:r>
              <a:rPr lang="en-US" sz="2200" dirty="0"/>
              <a:t> </a:t>
            </a:r>
            <a:r>
              <a:rPr lang="en-US" sz="2200" b="1" dirty="0"/>
              <a:t>recombination</a:t>
            </a:r>
            <a:r>
              <a:rPr lang="en-US" sz="2200" dirty="0"/>
              <a:t>, which placed the small fly in the forefront of genetic research. 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Due to its </a:t>
            </a:r>
            <a:r>
              <a:rPr lang="en-US" sz="2200" u="sng" dirty="0"/>
              <a:t>small size</a:t>
            </a:r>
            <a:r>
              <a:rPr lang="en-US" sz="2200" dirty="0"/>
              <a:t>, </a:t>
            </a:r>
            <a:r>
              <a:rPr lang="en-US" sz="2200" u="sng" dirty="0"/>
              <a:t>ease of culture </a:t>
            </a:r>
            <a:r>
              <a:rPr lang="en-US" sz="2200" dirty="0"/>
              <a:t>and </a:t>
            </a:r>
            <a:r>
              <a:rPr lang="en-US" sz="2200" u="sng" dirty="0"/>
              <a:t>short generation time</a:t>
            </a:r>
            <a:r>
              <a:rPr lang="en-US" sz="2200" dirty="0"/>
              <a:t>, geneticists have been using Drosophila ever since.</a:t>
            </a:r>
            <a:endParaRPr lang="en-US" sz="2200" dirty="0"/>
          </a:p>
        </p:txBody>
      </p:sp>
      <p:pic>
        <p:nvPicPr>
          <p:cNvPr id="100" name="Content Placeholder 99"/>
          <p:cNvPicPr/>
          <p:nvPr>
            <p:ph sz="half" idx="2"/>
          </p:nvPr>
        </p:nvPicPr>
        <p:blipFill>
          <a:blip r:embed="rId1">
            <a:lum bright="6000"/>
          </a:blip>
          <a:srcRect l="4669" r="4363" b="-2498"/>
          <a:stretch>
            <a:fillRect/>
          </a:stretch>
        </p:blipFill>
        <p:spPr>
          <a:xfrm>
            <a:off x="9258935" y="0"/>
            <a:ext cx="2933065" cy="22999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Why drosophila?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Part of the reason is historical; so much is already known about it.</a:t>
            </a: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They are small and easily handled.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You can anesthetize them easily and manipulate individuals with much unsophisticated equipment.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Drosophila are </a:t>
            </a:r>
            <a:r>
              <a:rPr lang="en-US" b="1" dirty="0"/>
              <a:t>sexually</a:t>
            </a:r>
            <a:r>
              <a:rPr lang="en-US" dirty="0"/>
              <a:t> </a:t>
            </a:r>
            <a:r>
              <a:rPr lang="en-US" b="1" dirty="0"/>
              <a:t>dimorphic</a:t>
            </a:r>
            <a:r>
              <a:rPr lang="en-US" dirty="0"/>
              <a:t> (males and females are different), making it quite easy to differentiate the sexes.</a:t>
            </a:r>
            <a:endParaRPr lang="en-US" dirty="0"/>
          </a:p>
        </p:txBody>
      </p:sp>
      <p:pic>
        <p:nvPicPr>
          <p:cNvPr id="100" name="Content Placeholder 99"/>
          <p:cNvPicPr/>
          <p:nvPr>
            <p:ph sz="half" idx="2"/>
          </p:nvPr>
        </p:nvPicPr>
        <p:blipFill>
          <a:blip r:embed="rId1">
            <a:lum bright="6000"/>
          </a:blip>
          <a:srcRect l="4669" r="4363" b="-2498"/>
          <a:stretch>
            <a:fillRect/>
          </a:stretch>
        </p:blipFill>
        <p:spPr>
          <a:xfrm>
            <a:off x="9786620" y="0"/>
            <a:ext cx="2405380" cy="16903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Why drosophila?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5. It is easy to obtain virgin males and females, as virgins are </a:t>
            </a:r>
            <a:r>
              <a:rPr lang="en-US" b="1" dirty="0"/>
              <a:t>physically</a:t>
            </a:r>
            <a:r>
              <a:rPr lang="en-US" dirty="0"/>
              <a:t> distinctive from mature adults.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6. Flies have a </a:t>
            </a:r>
            <a:r>
              <a:rPr lang="en-US" b="1" dirty="0"/>
              <a:t>short generation time (10-12 days)</a:t>
            </a:r>
            <a:r>
              <a:rPr lang="en-US" dirty="0"/>
              <a:t> and do well at room temperature.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7. The care and culture requires little equipment, is </a:t>
            </a:r>
            <a:r>
              <a:rPr lang="en-US" u="sng" dirty="0"/>
              <a:t>low in cost </a:t>
            </a:r>
            <a:r>
              <a:rPr lang="en-US" dirty="0"/>
              <a:t>and </a:t>
            </a:r>
            <a:r>
              <a:rPr lang="en-US" u="sng" dirty="0"/>
              <a:t>uses little space </a:t>
            </a:r>
            <a:r>
              <a:rPr lang="en-US" dirty="0"/>
              <a:t>even for large cultures. </a:t>
            </a:r>
            <a:endParaRPr lang="en-US" dirty="0"/>
          </a:p>
          <a:p>
            <a:endParaRPr lang="en-US" dirty="0"/>
          </a:p>
        </p:txBody>
      </p:sp>
      <p:pic>
        <p:nvPicPr>
          <p:cNvPr id="100" name="Content Placeholder 99"/>
          <p:cNvPicPr/>
          <p:nvPr>
            <p:ph sz="half" idx="2"/>
          </p:nvPr>
        </p:nvPicPr>
        <p:blipFill>
          <a:blip r:embed="rId1">
            <a:lum bright="6000"/>
          </a:blip>
          <a:srcRect l="4669" r="4363" b="-2498"/>
          <a:stretch>
            <a:fillRect/>
          </a:stretch>
        </p:blipFill>
        <p:spPr>
          <a:xfrm>
            <a:off x="9786620" y="0"/>
            <a:ext cx="2405380" cy="16903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Life cycle of </a:t>
            </a:r>
            <a:r>
              <a:rPr lang="en-US" sz="4000" b="1" i="1" dirty="0"/>
              <a:t>D. melanogaster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880" y="2247900"/>
            <a:ext cx="10515600" cy="4351338"/>
          </a:xfrm>
        </p:spPr>
        <p:txBody>
          <a:bodyPr/>
          <a:lstStyle/>
          <a:p>
            <a:r>
              <a:rPr lang="en-US" i="1" dirty="0"/>
              <a:t>Drosophila melanogaster </a:t>
            </a:r>
            <a:r>
              <a:rPr lang="en-US" dirty="0"/>
              <a:t>exhibits </a:t>
            </a:r>
            <a:r>
              <a:rPr lang="en-US" dirty="0">
                <a:highlight>
                  <a:srgbClr val="FFFF00"/>
                </a:highlight>
              </a:rPr>
              <a:t>complete metamorphism</a:t>
            </a:r>
            <a:r>
              <a:rPr lang="en-US" dirty="0"/>
              <a:t>, meaning the life cycle includes an </a:t>
            </a:r>
            <a:r>
              <a:rPr lang="en-US" b="1" dirty="0"/>
              <a:t>egg</a:t>
            </a:r>
            <a:r>
              <a:rPr lang="en-US" dirty="0"/>
              <a:t>, </a:t>
            </a:r>
            <a:r>
              <a:rPr lang="en-US" b="1" dirty="0"/>
              <a:t>larval</a:t>
            </a:r>
            <a:r>
              <a:rPr lang="en-US" dirty="0"/>
              <a:t> (worm-like) form, </a:t>
            </a:r>
            <a:r>
              <a:rPr lang="en-US" b="1" dirty="0"/>
              <a:t>pupa</a:t>
            </a:r>
            <a:r>
              <a:rPr lang="en-US" dirty="0"/>
              <a:t> and finally emergence as a flying </a:t>
            </a:r>
            <a:r>
              <a:rPr lang="en-US" b="1" dirty="0"/>
              <a:t>adult</a:t>
            </a:r>
            <a:r>
              <a:rPr lang="en-US" dirty="0"/>
              <a:t>.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is the same as the well-known metamorphosis of butterflies. The larval stage has three instars, or molts.</a:t>
            </a:r>
            <a:endParaRPr lang="en-US" dirty="0"/>
          </a:p>
        </p:txBody>
      </p:sp>
      <p:pic>
        <p:nvPicPr>
          <p:cNvPr id="100" name="Content Placeholder 99"/>
          <p:cNvPicPr/>
          <p:nvPr>
            <p:ph sz="half" idx="2"/>
          </p:nvPr>
        </p:nvPicPr>
        <p:blipFill>
          <a:blip r:embed="rId1">
            <a:lum bright="6000"/>
          </a:blip>
          <a:srcRect l="4669" r="4363" b="-2498"/>
          <a:stretch>
            <a:fillRect/>
          </a:stretch>
        </p:blipFill>
        <p:spPr>
          <a:xfrm>
            <a:off x="9786620" y="0"/>
            <a:ext cx="2405380" cy="16903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025" y="88900"/>
            <a:ext cx="10515600" cy="1325563"/>
          </a:xfrm>
        </p:spPr>
        <p:txBody>
          <a:bodyPr/>
          <a:lstStyle/>
          <a:p>
            <a:r>
              <a:rPr lang="en-US" sz="4000" b="1" dirty="0"/>
              <a:t>Life cycle of D. melanogaster</a:t>
            </a:r>
            <a:endParaRPr lang="en-US" sz="40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86025" y="1414463"/>
            <a:ext cx="6619875" cy="52003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6175" y="4402307"/>
            <a:ext cx="123825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1</a:t>
            </a:r>
            <a:r>
              <a:rPr lang="en-US" sz="2000" b="1" baseline="30000" dirty="0"/>
              <a:t>st</a:t>
            </a:r>
            <a:r>
              <a:rPr lang="en-US" sz="2000" b="1" dirty="0"/>
              <a:t> instar</a:t>
            </a:r>
            <a:endParaRPr 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684885" y="5619513"/>
            <a:ext cx="123825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2</a:t>
            </a:r>
            <a:r>
              <a:rPr lang="en-US" sz="2000" b="1" baseline="30000" dirty="0"/>
              <a:t>nd</a:t>
            </a:r>
            <a:r>
              <a:rPr lang="en-US" sz="2000" b="1" dirty="0"/>
              <a:t> instar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405312" y="5619513"/>
            <a:ext cx="123825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3</a:t>
            </a:r>
            <a:r>
              <a:rPr lang="en-US" sz="2000" b="1" baseline="30000" dirty="0"/>
              <a:t>rd</a:t>
            </a:r>
            <a:r>
              <a:rPr lang="en-US" sz="2000" b="1" dirty="0"/>
              <a:t> instar</a:t>
            </a: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05312" y="4199138"/>
            <a:ext cx="2901010" cy="57250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Life cycle of D. melanogaster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295" y="1810385"/>
            <a:ext cx="11609705" cy="4728210"/>
          </a:xfrm>
        </p:spPr>
        <p:txBody>
          <a:bodyPr>
            <a:normAutofit/>
          </a:bodyPr>
          <a:lstStyle/>
          <a:p>
            <a:pPr/>
            <a:r>
              <a:rPr lang="en-US" sz="2400" b="1" dirty="0"/>
              <a:t>Life cycle by day:</a:t>
            </a:r>
            <a:endParaRPr lang="en-US" sz="2400" b="1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Day 0:</a:t>
            </a:r>
            <a:r>
              <a:rPr lang="en-US" sz="2400" dirty="0"/>
              <a:t> Female lays eggs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Day 1:</a:t>
            </a:r>
            <a:r>
              <a:rPr lang="en-US" sz="2400" dirty="0"/>
              <a:t> Eggs hatch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Day 2:</a:t>
            </a:r>
            <a:r>
              <a:rPr lang="en-US" sz="2400" dirty="0"/>
              <a:t> First instar (one day in length)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Day 3:</a:t>
            </a:r>
            <a:r>
              <a:rPr lang="en-US" sz="2400" dirty="0"/>
              <a:t> Second instar (one day in length)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Day 5:</a:t>
            </a:r>
            <a:r>
              <a:rPr lang="en-US" sz="2400" dirty="0"/>
              <a:t> Third and final instar (two days in length)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Day 7:</a:t>
            </a:r>
            <a:r>
              <a:rPr lang="en-US" sz="2400" dirty="0"/>
              <a:t> Larvae begin roaming stage. Pupation (pupal formation) occurs 120h after egg laying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Day 11-12:</a:t>
            </a:r>
            <a:r>
              <a:rPr lang="en-US" sz="2400" dirty="0"/>
              <a:t> </a:t>
            </a:r>
            <a:r>
              <a:rPr lang="en-US" sz="2400" dirty="0" err="1"/>
              <a:t>Eclosion</a:t>
            </a:r>
            <a:r>
              <a:rPr lang="en-US" sz="2400" dirty="0"/>
              <a:t> (adults emerge from the pupa case).</a:t>
            </a:r>
            <a:endParaRPr lang="en-US" sz="2400" dirty="0"/>
          </a:p>
        </p:txBody>
      </p:sp>
      <p:pic>
        <p:nvPicPr>
          <p:cNvPr id="100" name="Content Placeholder 99"/>
          <p:cNvPicPr/>
          <p:nvPr>
            <p:ph sz="half" idx="2"/>
          </p:nvPr>
        </p:nvPicPr>
        <p:blipFill>
          <a:blip r:embed="rId1">
            <a:lum bright="6000"/>
          </a:blip>
          <a:srcRect l="4669" r="4363" b="-2498"/>
          <a:stretch>
            <a:fillRect/>
          </a:stretch>
        </p:blipFill>
        <p:spPr>
          <a:xfrm>
            <a:off x="9786620" y="0"/>
            <a:ext cx="2405380" cy="16903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Life cycle of D. melanogaster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Females become sexually mature 8-10 hours after </a:t>
            </a:r>
            <a:r>
              <a:rPr lang="en-US" sz="2400" dirty="0" err="1"/>
              <a:t>eclosion</a:t>
            </a:r>
            <a:r>
              <a:rPr lang="en-US" sz="2400" dirty="0"/>
              <a:t>. 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time from egg to adult is temperature- dependent. The above cycle is  for a temperature of about 22°C.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 The </a:t>
            </a:r>
            <a:r>
              <a:rPr lang="en-US" sz="2400" b="1" dirty="0"/>
              <a:t>higher</a:t>
            </a:r>
            <a:r>
              <a:rPr lang="en-US" sz="2400" dirty="0"/>
              <a:t> the temperature, the </a:t>
            </a:r>
            <a:r>
              <a:rPr lang="en-US" sz="2400" b="1" dirty="0"/>
              <a:t>faster</a:t>
            </a:r>
            <a:r>
              <a:rPr lang="en-US" sz="2400" dirty="0"/>
              <a:t> the generation time, whereas a lower (to 18 °C) temperature causes a longer generation time.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If your media is white, look for the black area at the head of the larvae. 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100" name="Content Placeholder 99"/>
          <p:cNvPicPr/>
          <p:nvPr>
            <p:ph sz="half" idx="2"/>
          </p:nvPr>
        </p:nvPicPr>
        <p:blipFill>
          <a:blip r:embed="rId1">
            <a:lum bright="6000"/>
          </a:blip>
          <a:srcRect l="4669" r="4363" b="-2498"/>
          <a:stretch>
            <a:fillRect/>
          </a:stretch>
        </p:blipFill>
        <p:spPr>
          <a:xfrm>
            <a:off x="9786620" y="0"/>
            <a:ext cx="2405380" cy="16903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Sexing flies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05199"/>
                <a:gridCol w="3505199"/>
                <a:gridCol w="3505199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Sex combs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present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Abdomen</a:t>
                      </a:r>
                      <a:r>
                        <a:rPr lang="en-US" dirty="0"/>
                        <a:t> </a:t>
                      </a:r>
                      <a:r>
                        <a:rPr lang="en-US" b="1" dirty="0"/>
                        <a:t>tip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Rounded &amp; darker than females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Elongated and pointed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Abdomen Segmentation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 segments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 segments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Body size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Larger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6856" y="3974304"/>
            <a:ext cx="3198284" cy="24653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74305"/>
            <a:ext cx="3198283" cy="24653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614" y="3974304"/>
            <a:ext cx="3287183" cy="24653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Sexing flies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93105" cy="4351655"/>
          </a:xfrm>
        </p:spPr>
        <p:txBody>
          <a:bodyPr/>
          <a:lstStyle/>
          <a:p>
            <a:r>
              <a:rPr lang="en-US" dirty="0"/>
              <a:t>This figure shows the clear differences in genitalia between male (left) and female (right) flies.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231" y="434975"/>
            <a:ext cx="4933950" cy="6057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Sexing flies</a:t>
            </a:r>
            <a:endParaRPr lang="en-US" sz="40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06539" y="1779464"/>
            <a:ext cx="6602378" cy="4802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17544" y="3228945"/>
            <a:ext cx="13001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Sex combs</a:t>
            </a:r>
            <a:endParaRPr lang="en-US" sz="20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Collecting virgin females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 Females remain virgins for only 8-10 hours after </a:t>
            </a:r>
            <a:r>
              <a:rPr lang="en-US" sz="2400" dirty="0" err="1"/>
              <a:t>eclosure</a:t>
            </a:r>
            <a:r>
              <a:rPr lang="en-US" sz="2400" dirty="0"/>
              <a:t> and must be collected within this time frame.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u="sng" dirty="0"/>
              <a:t>NOTE</a:t>
            </a:r>
            <a:r>
              <a:rPr lang="en-US" sz="2400" dirty="0"/>
              <a:t>: Females can store sperm after a single mating, so if the female for a cross is not a virgin, you will not know the genotype of the male used for your cross.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Collecting virgin females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4740" cy="4351655"/>
          </a:xfrm>
        </p:spPr>
        <p:txBody>
          <a:bodyPr>
            <a:normAutofit/>
          </a:bodyPr>
          <a:lstStyle/>
          <a:p>
            <a:r>
              <a:rPr lang="en-US" sz="2400" b="1" dirty="0"/>
              <a:t>Virgin females (denoted by the symbol) have several defining characteristics that separate them from mated females: </a:t>
            </a:r>
            <a:endParaRPr lang="en-US" sz="2400" b="1" dirty="0"/>
          </a:p>
          <a:p>
            <a:endParaRPr lang="en-US" sz="2400" dirty="0"/>
          </a:p>
          <a:p>
            <a:pPr marL="514350" indent="-514350">
              <a:buAutoNum type="arabicPeriod"/>
            </a:pPr>
            <a:r>
              <a:rPr lang="en-US" sz="2400" dirty="0"/>
              <a:t>Very pale 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2. Dark spot seen in abdomen (the meconium, waste products remaining from pupation).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3. Distended, large abdomen Note that very young, newly </a:t>
            </a:r>
            <a:r>
              <a:rPr lang="en-US" sz="2400" dirty="0" err="1"/>
              <a:t>eclosed</a:t>
            </a:r>
            <a:r>
              <a:rPr lang="en-US" sz="2400" dirty="0"/>
              <a:t>, females can have their wings folded and the abdomen may not have inflated yet. 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7029" y="1690688"/>
            <a:ext cx="282097" cy="4644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r="1" b="15700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2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97762" y="2706624"/>
            <a:ext cx="6251110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u="sng"/>
              <a:t>NOTE</a:t>
            </a:r>
            <a:r>
              <a:rPr lang="en-US" sz="2200"/>
              <a:t>: One of the best indicators for a virgin female is the presence of the meconium in the gut.</a:t>
            </a:r>
            <a:endParaRPr lang="en-US"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91030" y="365125"/>
            <a:ext cx="8861425" cy="62928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05305" y="96520"/>
            <a:ext cx="8355965" cy="570103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929765" y="6074410"/>
            <a:ext cx="82315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/>
              <a:t>Comparison between a mature (top) and virgin (bottom) female. </a:t>
            </a:r>
            <a:endParaRPr lang="en-US" sz="20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Crossing flies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Generally, males will mate more efficiently if they have matured </a:t>
            </a:r>
            <a:r>
              <a:rPr lang="en-US" sz="2400" b="1" dirty="0"/>
              <a:t>3</a:t>
            </a:r>
            <a:r>
              <a:rPr lang="en-US" sz="2400" dirty="0"/>
              <a:t> </a:t>
            </a:r>
            <a:r>
              <a:rPr lang="en-US" sz="2400" b="1" dirty="0"/>
              <a:t>days</a:t>
            </a:r>
            <a:r>
              <a:rPr lang="en-US" sz="2400" dirty="0"/>
              <a:t> or longer.</a:t>
            </a:r>
            <a:endParaRPr lang="en-US" sz="2400" dirty="0"/>
          </a:p>
          <a:p>
            <a:r>
              <a:rPr lang="en-US" sz="2400" dirty="0"/>
              <a:t>Be sure to select robust, </a:t>
            </a:r>
            <a:r>
              <a:rPr lang="en-US" sz="2400" b="1" dirty="0"/>
              <a:t>healthy</a:t>
            </a:r>
            <a:r>
              <a:rPr lang="en-US" sz="2400" dirty="0"/>
              <a:t> males; the older the flies, the lower the mating efficiency. 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Mating occurs quickly and females begin laying fertile eggs soon after mating.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Remove adults once it has been established that enough larvae are present since you may not be able to distinguish parents from the F1 generation. 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8930"/>
            <a:ext cx="6894830" cy="1571625"/>
          </a:xfrm>
        </p:spPr>
        <p:txBody>
          <a:bodyPr anchor="b">
            <a:normAutofit/>
          </a:bodyPr>
          <a:lstStyle/>
          <a:p>
            <a:r>
              <a:rPr lang="en-US" sz="4000" b="1"/>
              <a:t>Bottles and vials</a:t>
            </a:r>
            <a:endParaRPr lang="en-US" sz="4000" b="1"/>
          </a:p>
        </p:txBody>
      </p:sp>
      <p:sp>
        <p:nvSpPr>
          <p:cNvPr id="12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 dirty="0"/>
              <a:t>For ease of culturing and transferring cultures, uniform bottles and vials are the best approach. </a:t>
            </a:r>
            <a:endParaRPr lang="en-US" sz="2200" dirty="0"/>
          </a:p>
          <a:p>
            <a:endParaRPr lang="en-US" sz="2200" dirty="0"/>
          </a:p>
          <a:p>
            <a:r>
              <a:rPr lang="en-US" sz="2200" b="1" dirty="0"/>
              <a:t>Bottles</a:t>
            </a:r>
            <a:r>
              <a:rPr lang="en-US" sz="2200" dirty="0"/>
              <a:t>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/>
              <a:t>for the maintenance of large populations of flies.</a:t>
            </a:r>
            <a:endParaRPr lang="en-US" sz="2200" dirty="0"/>
          </a:p>
          <a:p>
            <a:endParaRPr lang="en-US" sz="2200" dirty="0"/>
          </a:p>
          <a:p>
            <a:r>
              <a:rPr lang="en-US" sz="2200" b="1" dirty="0"/>
              <a:t>vials</a:t>
            </a:r>
            <a:r>
              <a:rPr lang="en-US" sz="2200" dirty="0"/>
              <a:t> </a:t>
            </a:r>
            <a:r>
              <a:rPr lang="en-US" sz="2200" dirty="0">
                <a:sym typeface="Wingdings" panose="05000000000000000000" pitchFamily="2" charset="2"/>
              </a:rPr>
              <a:t></a:t>
            </a:r>
            <a:r>
              <a:rPr lang="en-US" sz="2200" dirty="0"/>
              <a:t> for maintaining smaller populations and are the preferred container for constructing student crosses.</a:t>
            </a: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3428"/>
          <a:stretch>
            <a:fillRect/>
          </a:stretch>
        </p:blipFill>
        <p:spPr>
          <a:xfrm>
            <a:off x="8144389" y="2813678"/>
            <a:ext cx="4035547" cy="4178808"/>
          </a:xfrm>
          <a:custGeom>
            <a:avLst/>
            <a:gdLst/>
            <a:ahLst/>
            <a:cxnLst/>
            <a:rect l="l" t="t" r="r" b="b"/>
            <a:pathLst>
              <a:path w="4035547" h="4178808">
                <a:moveTo>
                  <a:pt x="14988" y="0"/>
                </a:moveTo>
                <a:lnTo>
                  <a:pt x="4035547" y="0"/>
                </a:lnTo>
                <a:lnTo>
                  <a:pt x="4035547" y="4161794"/>
                </a:lnTo>
                <a:lnTo>
                  <a:pt x="3918602" y="4164199"/>
                </a:lnTo>
                <a:cubicBezTo>
                  <a:pt x="3673497" y="4178956"/>
                  <a:pt x="3428120" y="4172295"/>
                  <a:pt x="3183014" y="4175560"/>
                </a:cubicBezTo>
                <a:cubicBezTo>
                  <a:pt x="2855121" y="4180001"/>
                  <a:pt x="2527499" y="4168639"/>
                  <a:pt x="2199742" y="4167595"/>
                </a:cubicBezTo>
                <a:cubicBezTo>
                  <a:pt x="2132562" y="4167334"/>
                  <a:pt x="2065110" y="4170729"/>
                  <a:pt x="1998202" y="4175952"/>
                </a:cubicBezTo>
                <a:cubicBezTo>
                  <a:pt x="1905507" y="4183005"/>
                  <a:pt x="1814033" y="4174124"/>
                  <a:pt x="1722153" y="4165766"/>
                </a:cubicBezTo>
                <a:cubicBezTo>
                  <a:pt x="1611407" y="4155711"/>
                  <a:pt x="1500933" y="4164591"/>
                  <a:pt x="1390867" y="4176214"/>
                </a:cubicBezTo>
                <a:lnTo>
                  <a:pt x="1348076" y="4178808"/>
                </a:lnTo>
                <a:lnTo>
                  <a:pt x="597587" y="4178808"/>
                </a:lnTo>
                <a:lnTo>
                  <a:pt x="507890" y="4175773"/>
                </a:lnTo>
                <a:cubicBezTo>
                  <a:pt x="403218" y="4174810"/>
                  <a:pt x="298546" y="4175691"/>
                  <a:pt x="193840" y="4176214"/>
                </a:cubicBezTo>
                <a:lnTo>
                  <a:pt x="2757" y="4175742"/>
                </a:lnTo>
                <a:lnTo>
                  <a:pt x="2810" y="4034870"/>
                </a:lnTo>
                <a:cubicBezTo>
                  <a:pt x="5629" y="3979851"/>
                  <a:pt x="10539" y="3924896"/>
                  <a:pt x="15416" y="3870068"/>
                </a:cubicBezTo>
                <a:cubicBezTo>
                  <a:pt x="23018" y="3799731"/>
                  <a:pt x="25045" y="3728899"/>
                  <a:pt x="21498" y="3658244"/>
                </a:cubicBezTo>
                <a:cubicBezTo>
                  <a:pt x="17063" y="3602147"/>
                  <a:pt x="10095" y="3546050"/>
                  <a:pt x="8828" y="3489953"/>
                </a:cubicBezTo>
                <a:cubicBezTo>
                  <a:pt x="6548" y="3389688"/>
                  <a:pt x="7434" y="3289424"/>
                  <a:pt x="13262" y="3189160"/>
                </a:cubicBezTo>
                <a:cubicBezTo>
                  <a:pt x="16176" y="3138901"/>
                  <a:pt x="20864" y="3089150"/>
                  <a:pt x="22891" y="3038510"/>
                </a:cubicBezTo>
                <a:cubicBezTo>
                  <a:pt x="24918" y="2987870"/>
                  <a:pt x="28973" y="2936723"/>
                  <a:pt x="17444" y="2887098"/>
                </a:cubicBezTo>
                <a:cubicBezTo>
                  <a:pt x="-2068" y="2802699"/>
                  <a:pt x="12249" y="2718680"/>
                  <a:pt x="16430" y="2634534"/>
                </a:cubicBezTo>
                <a:cubicBezTo>
                  <a:pt x="18964" y="2582244"/>
                  <a:pt x="34168" y="2528685"/>
                  <a:pt x="20738" y="2477919"/>
                </a:cubicBezTo>
                <a:cubicBezTo>
                  <a:pt x="-421" y="2398342"/>
                  <a:pt x="13389" y="2320415"/>
                  <a:pt x="20738" y="2242107"/>
                </a:cubicBezTo>
                <a:cubicBezTo>
                  <a:pt x="29213" y="2168001"/>
                  <a:pt x="27718" y="2093082"/>
                  <a:pt x="16303" y="2019369"/>
                </a:cubicBezTo>
                <a:cubicBezTo>
                  <a:pt x="1986" y="1946239"/>
                  <a:pt x="1986" y="1871028"/>
                  <a:pt x="16303" y="1797899"/>
                </a:cubicBezTo>
                <a:cubicBezTo>
                  <a:pt x="28162" y="1737537"/>
                  <a:pt x="29530" y="1675589"/>
                  <a:pt x="20357" y="1614758"/>
                </a:cubicBezTo>
                <a:cubicBezTo>
                  <a:pt x="14149" y="1571226"/>
                  <a:pt x="3000" y="1527947"/>
                  <a:pt x="1480" y="1484415"/>
                </a:cubicBezTo>
                <a:cubicBezTo>
                  <a:pt x="-1662" y="1393377"/>
                  <a:pt x="200" y="1302238"/>
                  <a:pt x="7055" y="1211417"/>
                </a:cubicBezTo>
                <a:cubicBezTo>
                  <a:pt x="15036" y="1107980"/>
                  <a:pt x="30366" y="1004923"/>
                  <a:pt x="19724" y="900725"/>
                </a:cubicBezTo>
                <a:cubicBezTo>
                  <a:pt x="16050" y="864934"/>
                  <a:pt x="8575" y="829270"/>
                  <a:pt x="7815" y="793353"/>
                </a:cubicBezTo>
                <a:cubicBezTo>
                  <a:pt x="6168" y="726087"/>
                  <a:pt x="5407" y="659710"/>
                  <a:pt x="9208" y="590286"/>
                </a:cubicBezTo>
                <a:cubicBezTo>
                  <a:pt x="13009" y="520863"/>
                  <a:pt x="27452" y="450424"/>
                  <a:pt x="17697" y="382270"/>
                </a:cubicBezTo>
                <a:cubicBezTo>
                  <a:pt x="7941" y="314115"/>
                  <a:pt x="14276" y="247103"/>
                  <a:pt x="20611" y="180218"/>
                </a:cubicBezTo>
                <a:cubicBezTo>
                  <a:pt x="23652" y="148426"/>
                  <a:pt x="25711" y="116982"/>
                  <a:pt x="25156" y="85665"/>
                </a:cubicBezTo>
                <a:close/>
              </a:path>
            </a:pathLst>
          </a:cu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3748" r="-1" b="-1"/>
          <a:stretch>
            <a:fillRect/>
          </a:stretch>
        </p:blipFill>
        <p:spPr>
          <a:xfrm>
            <a:off x="8144510" y="0"/>
            <a:ext cx="4047490" cy="2814320"/>
          </a:xfrm>
          <a:custGeom>
            <a:avLst/>
            <a:gdLst/>
            <a:ahLst/>
            <a:cxnLst/>
            <a:rect l="l" t="t" r="r" b="b"/>
            <a:pathLst>
              <a:path w="4047645" h="2495811">
                <a:moveTo>
                  <a:pt x="2441891" y="4"/>
                </a:moveTo>
                <a:cubicBezTo>
                  <a:pt x="2489381" y="-78"/>
                  <a:pt x="2536882" y="1163"/>
                  <a:pt x="2584383" y="4428"/>
                </a:cubicBezTo>
                <a:cubicBezTo>
                  <a:pt x="2744314" y="17813"/>
                  <a:pt x="2904989" y="21079"/>
                  <a:pt x="3065367" y="14222"/>
                </a:cubicBezTo>
                <a:cubicBezTo>
                  <a:pt x="3194244" y="5694"/>
                  <a:pt x="3323514" y="4206"/>
                  <a:pt x="3452568" y="9782"/>
                </a:cubicBezTo>
                <a:cubicBezTo>
                  <a:pt x="3572813" y="16442"/>
                  <a:pt x="3693059" y="23233"/>
                  <a:pt x="3813712" y="19315"/>
                </a:cubicBezTo>
                <a:cubicBezTo>
                  <a:pt x="3861755" y="17748"/>
                  <a:pt x="3909121" y="15789"/>
                  <a:pt x="3956758" y="13177"/>
                </a:cubicBezTo>
                <a:lnTo>
                  <a:pt x="4047645" y="9696"/>
                </a:lnTo>
                <a:lnTo>
                  <a:pt x="4047645" y="2495811"/>
                </a:lnTo>
                <a:lnTo>
                  <a:pt x="28177" y="2495811"/>
                </a:lnTo>
                <a:lnTo>
                  <a:pt x="28782" y="2485852"/>
                </a:lnTo>
                <a:cubicBezTo>
                  <a:pt x="31911" y="2365446"/>
                  <a:pt x="35027" y="2245002"/>
                  <a:pt x="38157" y="2124521"/>
                </a:cubicBezTo>
                <a:cubicBezTo>
                  <a:pt x="38284" y="2119444"/>
                  <a:pt x="39171" y="2114494"/>
                  <a:pt x="39171" y="2109417"/>
                </a:cubicBezTo>
                <a:cubicBezTo>
                  <a:pt x="48166" y="1995573"/>
                  <a:pt x="53107" y="1881729"/>
                  <a:pt x="18899" y="1770550"/>
                </a:cubicBezTo>
                <a:cubicBezTo>
                  <a:pt x="15871" y="1760104"/>
                  <a:pt x="14262" y="1749304"/>
                  <a:pt x="14084" y="1738440"/>
                </a:cubicBezTo>
                <a:cubicBezTo>
                  <a:pt x="12413" y="1641514"/>
                  <a:pt x="16644" y="1544587"/>
                  <a:pt x="26754" y="1448181"/>
                </a:cubicBezTo>
                <a:cubicBezTo>
                  <a:pt x="31949" y="1389038"/>
                  <a:pt x="26754" y="1329006"/>
                  <a:pt x="43478" y="1270498"/>
                </a:cubicBezTo>
                <a:cubicBezTo>
                  <a:pt x="50864" y="1241421"/>
                  <a:pt x="55109" y="1211634"/>
                  <a:pt x="56147" y="1181656"/>
                </a:cubicBezTo>
                <a:cubicBezTo>
                  <a:pt x="59948" y="1109060"/>
                  <a:pt x="38537" y="1040779"/>
                  <a:pt x="18139" y="972244"/>
                </a:cubicBezTo>
                <a:cubicBezTo>
                  <a:pt x="7370" y="935945"/>
                  <a:pt x="-5426" y="898886"/>
                  <a:pt x="2429" y="860811"/>
                </a:cubicBezTo>
                <a:cubicBezTo>
                  <a:pt x="16707" y="802251"/>
                  <a:pt x="24854" y="742359"/>
                  <a:pt x="26754" y="682112"/>
                </a:cubicBezTo>
                <a:cubicBezTo>
                  <a:pt x="26754" y="639468"/>
                  <a:pt x="16365" y="597712"/>
                  <a:pt x="20039" y="555195"/>
                </a:cubicBezTo>
                <a:cubicBezTo>
                  <a:pt x="28211" y="472712"/>
                  <a:pt x="30238" y="389734"/>
                  <a:pt x="26121" y="306946"/>
                </a:cubicBezTo>
                <a:cubicBezTo>
                  <a:pt x="26095" y="273846"/>
                  <a:pt x="29846" y="240848"/>
                  <a:pt x="37270" y="208585"/>
                </a:cubicBezTo>
                <a:cubicBezTo>
                  <a:pt x="46506" y="151651"/>
                  <a:pt x="48419" y="93777"/>
                  <a:pt x="42971" y="36360"/>
                </a:cubicBezTo>
                <a:lnTo>
                  <a:pt x="38853" y="8429"/>
                </a:lnTo>
                <a:lnTo>
                  <a:pt x="56649" y="7824"/>
                </a:lnTo>
                <a:cubicBezTo>
                  <a:pt x="210497" y="-156"/>
                  <a:pt x="364754" y="3162"/>
                  <a:pt x="518087" y="17748"/>
                </a:cubicBezTo>
                <a:cubicBezTo>
                  <a:pt x="626567" y="25440"/>
                  <a:pt x="735534" y="24213"/>
                  <a:pt x="843809" y="14092"/>
                </a:cubicBezTo>
                <a:cubicBezTo>
                  <a:pt x="1042499" y="-1711"/>
                  <a:pt x="1240782" y="10958"/>
                  <a:pt x="1439065" y="21666"/>
                </a:cubicBezTo>
                <a:cubicBezTo>
                  <a:pt x="1631105" y="32113"/>
                  <a:pt x="1823010" y="24408"/>
                  <a:pt x="2015050" y="17487"/>
                </a:cubicBezTo>
                <a:cubicBezTo>
                  <a:pt x="2157045" y="12394"/>
                  <a:pt x="2299420" y="249"/>
                  <a:pt x="2441891" y="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Media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94415" cy="4351655"/>
          </a:xfrm>
        </p:spPr>
        <p:txBody>
          <a:bodyPr>
            <a:normAutofit/>
          </a:bodyPr>
          <a:lstStyle/>
          <a:p>
            <a:r>
              <a:rPr lang="en-US" sz="2400" dirty="0"/>
              <a:t>There are a variety of types of food available for the flies; some </a:t>
            </a:r>
            <a:r>
              <a:rPr lang="en-US" sz="2400" b="1" dirty="0"/>
              <a:t>require</a:t>
            </a:r>
            <a:r>
              <a:rPr lang="en-US" sz="2400" dirty="0"/>
              <a:t> </a:t>
            </a:r>
            <a:r>
              <a:rPr lang="en-US" sz="2400" b="1" dirty="0"/>
              <a:t>cooking</a:t>
            </a:r>
            <a:r>
              <a:rPr lang="en-US" sz="2400" dirty="0"/>
              <a:t> and others are bought already </a:t>
            </a:r>
            <a:r>
              <a:rPr lang="en-US" sz="2400" b="1" dirty="0"/>
              <a:t>prepared</a:t>
            </a:r>
            <a:r>
              <a:rPr lang="en-US" sz="2400" dirty="0"/>
              <a:t> and dehydrated.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Flies may be added minutes after media has been hydrated. 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Cooked media can be stored in a refrigerator for several weeks.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Be sure to allow media to warm to room temperature before adding flies.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/>
              <a:t>Media</a:t>
            </a:r>
            <a:endParaRPr lang="en-US"/>
          </a:p>
        </p:txBody>
      </p:sp>
      <p:sp>
        <p:nvSpPr>
          <p:cNvPr id="12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 Do NOT allow media to dry out.</a:t>
            </a:r>
            <a:endParaRPr lang="en-US" sz="2200"/>
          </a:p>
          <a:p>
            <a:endParaRPr lang="en-US" sz="2200"/>
          </a:p>
          <a:p>
            <a:r>
              <a:rPr lang="en-US" sz="2200"/>
              <a:t>Media should fill the culture vial, bottle or vial 1/5th to 2/5th full. </a:t>
            </a:r>
            <a:endParaRPr lang="en-US" sz="2200"/>
          </a:p>
          <a:p>
            <a:endParaRPr lang="en-US" sz="2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4041"/>
          <a:stretch>
            <a:fillRect/>
          </a:stretch>
        </p:blipFill>
        <p:spPr>
          <a:xfrm>
            <a:off x="5309797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b="1" dirty="0"/>
              <a:t>Killing Flies: The Morgue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4669" r="4480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US" sz="2200" dirty="0"/>
              <a:t>A bottle or beaker with soapy water is generally used. </a:t>
            </a:r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Dump anesthetized flies directly into the soapy water where they drown. </a:t>
            </a:r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A bottle (beaker, or screw-capped jar) filled with ethanol or isopropanol can also be used as a morgue.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00874" y="2043803"/>
            <a:ext cx="10190252" cy="80683"/>
          </a:xfrm>
          <a:prstGeom prst="rect">
            <a:avLst/>
          </a:prstGeom>
          <a:solidFill>
            <a:schemeClr val="tx1">
              <a:lumMod val="50000"/>
              <a:lumOff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00" y="2384425"/>
            <a:ext cx="3616325" cy="3616325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8688" y="2384425"/>
            <a:ext cx="3616325" cy="3616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88" y="2384425"/>
            <a:ext cx="2713038" cy="36163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204" y="606564"/>
            <a:ext cx="1045159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Anesthetizing flies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428329" y="6062305"/>
            <a:ext cx="86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Ether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013691" y="6038850"/>
            <a:ext cx="1066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FlyNap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9402944" y="6000750"/>
            <a:ext cx="750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Co2</a:t>
            </a:r>
            <a:endParaRPr lang="en-US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Basic Drosophila Genetics Nomenclature and Definitions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745" y="1946275"/>
            <a:ext cx="10932160" cy="4592955"/>
          </a:xfrm>
        </p:spPr>
        <p:txBody>
          <a:bodyPr>
            <a:normAutofit fontScale="75000" lnSpcReduction="10000"/>
          </a:bodyPr>
          <a:lstStyle/>
          <a:p>
            <a:r>
              <a:rPr lang="en-US" i="1" dirty="0">
                <a:highlight>
                  <a:srgbClr val="FFFF00"/>
                </a:highlight>
              </a:rPr>
              <a:t>Drosophila melanogaster </a:t>
            </a:r>
            <a:r>
              <a:rPr lang="en-US" dirty="0">
                <a:highlight>
                  <a:srgbClr val="FFFF00"/>
                </a:highlight>
              </a:rPr>
              <a:t>flies have </a:t>
            </a:r>
            <a:r>
              <a:rPr lang="en-US" b="1" dirty="0">
                <a:highlight>
                  <a:srgbClr val="FFFF00"/>
                </a:highlight>
              </a:rPr>
              <a:t>4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b="1" dirty="0">
                <a:highlight>
                  <a:srgbClr val="FFFF00"/>
                </a:highlight>
              </a:rPr>
              <a:t>chromosomes (4 pairs)</a:t>
            </a:r>
            <a:r>
              <a:rPr lang="en-US" dirty="0">
                <a:highlight>
                  <a:srgbClr val="FFFF00"/>
                </a:highlight>
              </a:rPr>
              <a:t>:</a:t>
            </a:r>
            <a:endParaRPr lang="en-US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Sex chromosomes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chromosome II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chromosome III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chromosome IV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Wild-type</a:t>
            </a:r>
            <a:r>
              <a:rPr lang="en-US" dirty="0"/>
              <a:t> is denoted as “+” or WT.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Dominant</a:t>
            </a:r>
            <a:r>
              <a:rPr lang="en-US" dirty="0"/>
              <a:t> mutations are written with a capital letter( example: Bar or B).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Recessive</a:t>
            </a:r>
            <a:r>
              <a:rPr lang="en-US" dirty="0"/>
              <a:t> mutations are written with a lower-case letter (For example: white or w).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Basic Drosophila Genetics Nomenclature and Definitions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Any fly exhibiting a phenotypic mutation is called a "mutant". </a:t>
            </a:r>
            <a:endParaRPr lang="en-US" sz="2400" dirty="0"/>
          </a:p>
          <a:p>
            <a:r>
              <a:rPr lang="en-US" sz="2400" dirty="0"/>
              <a:t>Mutant flies are given names that generally denote the type of mutation the fly exhibits. </a:t>
            </a:r>
            <a:endParaRPr lang="en-US" sz="2400" dirty="0"/>
          </a:p>
          <a:p>
            <a:r>
              <a:rPr lang="en-US" sz="2400" dirty="0"/>
              <a:t>For example, the recessive mutant "ebony" has a much darker body than the wild type fly. 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866" y="4231504"/>
            <a:ext cx="2354262" cy="235426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231504"/>
            <a:ext cx="2819399" cy="235426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picture containing snow, covered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4231504"/>
            <a:ext cx="3647207" cy="235426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Basic Drosophila Genetics Nomenclature and Definitions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Each mutation is also given a letter code. Thus, in the case of ebony, the code is a lower-case e. 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wild type fly is denoted by a superscript + over the mutant letter code. 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For example, e+ denotes a wild type fly for the ebony body trait - meaning it has normal body color (not ebony).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Basic Drosophila Genetics Nomenclature and Definitions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gene is located on a sex chromosome, we use a slightly different notation.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 normal diploid conditions a female fruit fly has two X chromosomes; a male has an X and a Y chromosome. </a:t>
            </a:r>
            <a:endParaRPr lang="en-US" dirty="0"/>
          </a:p>
          <a:p>
            <a:endParaRPr lang="en-US" dirty="0"/>
          </a:p>
          <a:p>
            <a:r>
              <a:rPr lang="en-US" dirty="0"/>
              <a:t>Sex-linked genes are located on one of the sex chromosomes (usually the X chromosome). 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Basic Drosophila Genetics Nomenclature and Definitions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27885"/>
            <a:ext cx="10515600" cy="4351338"/>
          </a:xfrm>
        </p:spPr>
        <p:txBody>
          <a:bodyPr/>
          <a:lstStyle/>
          <a:p>
            <a:r>
              <a:rPr lang="en-US" dirty="0"/>
              <a:t>Thus, the genotypic notation for a mutant gene for </a:t>
            </a:r>
            <a:r>
              <a:rPr lang="en-US" b="1" dirty="0"/>
              <a:t>white</a:t>
            </a:r>
            <a:r>
              <a:rPr lang="en-US" dirty="0"/>
              <a:t> </a:t>
            </a:r>
            <a:r>
              <a:rPr lang="en-US" b="1" dirty="0"/>
              <a:t>eye</a:t>
            </a:r>
            <a:r>
              <a:rPr lang="en-US" dirty="0"/>
              <a:t> color on the </a:t>
            </a:r>
            <a:r>
              <a:rPr lang="en-US" b="1" dirty="0"/>
              <a:t>X</a:t>
            </a:r>
            <a:r>
              <a:rPr lang="en-US" dirty="0"/>
              <a:t> </a:t>
            </a:r>
            <a:r>
              <a:rPr lang="en-US" b="1" dirty="0"/>
              <a:t>chromosome</a:t>
            </a:r>
            <a:r>
              <a:rPr lang="en-US" dirty="0"/>
              <a:t> would look like:</a:t>
            </a:r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 err="1"/>
              <a:t>X</a:t>
            </a:r>
            <a:r>
              <a:rPr lang="en-US" baseline="30000" dirty="0" err="1"/>
              <a:t>w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baseline="30000" dirty="0" err="1"/>
              <a:t>w</a:t>
            </a:r>
            <a:r>
              <a:rPr lang="en-US" dirty="0"/>
              <a:t> = white-eyed female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 err="1"/>
              <a:t>X</a:t>
            </a:r>
            <a:r>
              <a:rPr lang="en-US" baseline="30000" dirty="0" err="1"/>
              <a:t>w+</a:t>
            </a:r>
            <a:r>
              <a:rPr lang="en-US" dirty="0" err="1"/>
              <a:t>X</a:t>
            </a:r>
            <a:r>
              <a:rPr lang="en-US" baseline="30000" dirty="0" err="1"/>
              <a:t>w</a:t>
            </a:r>
            <a:r>
              <a:rPr lang="en-US" dirty="0"/>
              <a:t> = wild type heterozygote female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 err="1"/>
              <a:t>X</a:t>
            </a:r>
            <a:r>
              <a:rPr lang="en-US" baseline="30000" dirty="0" err="1"/>
              <a:t>w</a:t>
            </a:r>
            <a:r>
              <a:rPr lang="en-US" dirty="0"/>
              <a:t> Y = white-eyed male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 err="1"/>
              <a:t>X</a:t>
            </a:r>
            <a:r>
              <a:rPr lang="en-US" baseline="30000" dirty="0" err="1"/>
              <a:t>w</a:t>
            </a:r>
            <a:r>
              <a:rPr lang="en-US" baseline="30000" dirty="0"/>
              <a:t>+</a:t>
            </a:r>
            <a:r>
              <a:rPr lang="en-US" dirty="0"/>
              <a:t> Y = wild type male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Basic Drosophila Genetics Nomenclature and Definitions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8210"/>
            <a:ext cx="10515600" cy="4351338"/>
          </a:xfrm>
        </p:spPr>
        <p:txBody>
          <a:bodyPr/>
          <a:lstStyle/>
          <a:p>
            <a:r>
              <a:rPr lang="en-US" b="1" dirty="0"/>
              <a:t>Wild</a:t>
            </a:r>
            <a:r>
              <a:rPr lang="en-US" dirty="0"/>
              <a:t> </a:t>
            </a:r>
            <a:r>
              <a:rPr lang="en-US" b="1" dirty="0"/>
              <a:t>type</a:t>
            </a:r>
            <a:r>
              <a:rPr lang="en-US" dirty="0"/>
              <a:t> traits of Drosophila: 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1. Reddish-brown </a:t>
            </a:r>
            <a:r>
              <a:rPr lang="en-US" b="1" dirty="0"/>
              <a:t>eyes</a:t>
            </a:r>
            <a:r>
              <a:rPr lang="en-US" dirty="0"/>
              <a:t> with a black round spot.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Pale brown (grey) </a:t>
            </a:r>
            <a:r>
              <a:rPr lang="en-US" b="1" dirty="0"/>
              <a:t>body</a:t>
            </a:r>
            <a:r>
              <a:rPr lang="en-US" dirty="0"/>
              <a:t> </a:t>
            </a:r>
            <a:r>
              <a:rPr lang="en-US" b="1" dirty="0"/>
              <a:t>color</a:t>
            </a:r>
            <a:r>
              <a:rPr lang="en-US" dirty="0"/>
              <a:t> with transverse black rings across their abdomen.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Long-rounded </a:t>
            </a:r>
            <a:r>
              <a:rPr lang="en-US" b="1" dirty="0"/>
              <a:t>wings</a:t>
            </a:r>
            <a:r>
              <a:rPr lang="en-US" dirty="0"/>
              <a:t>.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Drosophila</a:t>
            </a:r>
            <a:r>
              <a:rPr lang="en-US" b="1" dirty="0"/>
              <a:t> mutant phenotypes: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8210"/>
            <a:ext cx="10515600" cy="4351338"/>
          </a:xfrm>
        </p:spPr>
        <p:txBody>
          <a:bodyPr/>
          <a:lstStyle/>
          <a:p>
            <a:pPr lvl="0"/>
            <a:r>
              <a:rPr lang="en-US" dirty="0">
                <a:highlight>
                  <a:srgbClr val="FFFF00"/>
                </a:highlight>
              </a:rPr>
              <a:t>Mutations on </a:t>
            </a:r>
            <a:r>
              <a:rPr lang="en-US" b="1" dirty="0">
                <a:highlight>
                  <a:srgbClr val="FFFF00"/>
                </a:highlight>
              </a:rPr>
              <a:t>chromosome I</a:t>
            </a:r>
            <a:r>
              <a:rPr lang="en-US" dirty="0">
                <a:highlight>
                  <a:srgbClr val="FFFF00"/>
                </a:highlight>
              </a:rPr>
              <a:t> (sex chromosome):</a:t>
            </a:r>
            <a:endParaRPr lang="en-US" dirty="0">
              <a:highlight>
                <a:srgbClr val="FFFF00"/>
              </a:highlight>
            </a:endParaRPr>
          </a:p>
          <a:p>
            <a:pPr marL="514350" lvl="0" indent="-514350">
              <a:buFont typeface="+mj-lt"/>
              <a:buAutoNum type="arabicParenR"/>
            </a:pPr>
            <a:r>
              <a:rPr lang="en-US" b="1" dirty="0"/>
              <a:t>Bar eyes </a:t>
            </a:r>
            <a:r>
              <a:rPr lang="en-US" dirty="0"/>
              <a:t>(X</a:t>
            </a:r>
            <a:r>
              <a:rPr lang="en-US" baseline="30000" dirty="0"/>
              <a:t>B</a:t>
            </a:r>
            <a:r>
              <a:rPr lang="en-US" dirty="0"/>
              <a:t>).</a:t>
            </a:r>
            <a:endParaRPr lang="en-US" dirty="0"/>
          </a:p>
          <a:p>
            <a:pPr marL="514350" lvl="0" indent="-514350">
              <a:buFont typeface="+mj-lt"/>
              <a:buAutoNum type="arabicParenR"/>
            </a:pPr>
            <a:r>
              <a:rPr lang="en-US" b="1" dirty="0"/>
              <a:t>White eyes </a:t>
            </a:r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baseline="30000" dirty="0" err="1"/>
              <a:t>w</a:t>
            </a:r>
            <a:r>
              <a:rPr lang="en-US" dirty="0"/>
              <a:t>).</a:t>
            </a:r>
            <a:endParaRPr lang="en-US" dirty="0"/>
          </a:p>
          <a:p>
            <a:pPr marL="514350" lvl="0" indent="-514350">
              <a:buFont typeface="+mj-lt"/>
              <a:buAutoNum type="arabicParenR"/>
            </a:pPr>
            <a:r>
              <a:rPr lang="en-US" b="1" dirty="0"/>
              <a:t>Yellow body </a:t>
            </a:r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baseline="30000" dirty="0" err="1"/>
              <a:t>y</a:t>
            </a:r>
            <a:r>
              <a:rPr lang="en-US" dirty="0"/>
              <a:t>): yellow body color with no black segments.</a:t>
            </a:r>
            <a:endParaRPr lang="en-US" dirty="0"/>
          </a:p>
          <a:p>
            <a:pPr marL="514350" lvl="0" indent="-514350">
              <a:buFont typeface="+mj-lt"/>
              <a:buAutoNum type="arabicParenR"/>
            </a:pPr>
            <a:r>
              <a:rPr lang="en-US" b="1" dirty="0"/>
              <a:t>Cross vein-less wings </a:t>
            </a:r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baseline="30000" dirty="0" err="1"/>
              <a:t>cv</a:t>
            </a:r>
            <a:r>
              <a:rPr lang="en-US" dirty="0"/>
              <a:t>): no cross veins.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00874" y="2043803"/>
            <a:ext cx="10190252" cy="80683"/>
          </a:xfrm>
          <a:prstGeom prst="rect">
            <a:avLst/>
          </a:prstGeom>
          <a:solidFill>
            <a:schemeClr val="tx1">
              <a:lumMod val="50000"/>
              <a:lumOff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90625" y="2384425"/>
            <a:ext cx="3257550" cy="3616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50" y="2384425"/>
            <a:ext cx="3341688" cy="36163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13" y="2384425"/>
            <a:ext cx="3078163" cy="36163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204" y="606564"/>
            <a:ext cx="10451592" cy="1325563"/>
          </a:xfrm>
        </p:spPr>
        <p:txBody>
          <a:bodyPr anchor="ctr">
            <a:normAutofit/>
          </a:bodyPr>
          <a:lstStyle/>
          <a:p>
            <a:r>
              <a:rPr lang="en-US" b="1" i="1"/>
              <a:t>Drosophila</a:t>
            </a:r>
            <a:r>
              <a:rPr lang="en-US" b="1"/>
              <a:t> mutant phenotypes: 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419350" y="6251436"/>
            <a:ext cx="615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WT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639272" y="6260689"/>
            <a:ext cx="913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white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9156775" y="6260689"/>
            <a:ext cx="61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Bar</a:t>
            </a:r>
            <a:endParaRPr lang="en-US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Drosophila</a:t>
            </a: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mutant phenotypes: </a:t>
            </a:r>
            <a:endParaRPr lang="en-US" sz="5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t="11539" r="1" b="1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2309" r="5644" b="-2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1639233" y="1853253"/>
            <a:ext cx="2922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Cross vein-less wings 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783658" y="1806685"/>
            <a:ext cx="615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WT</a:t>
            </a:r>
            <a:endParaRPr lang="en-US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Drosophila</a:t>
            </a:r>
            <a:r>
              <a:rPr lang="en-US" b="1" dirty="0"/>
              <a:t> mutant phenotypes: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63300" cy="435165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Mutations on </a:t>
            </a:r>
            <a:r>
              <a:rPr lang="en-US" b="1" dirty="0">
                <a:highlight>
                  <a:srgbClr val="FFFF00"/>
                </a:highlight>
              </a:rPr>
              <a:t>Chromosome II</a:t>
            </a:r>
            <a:r>
              <a:rPr lang="en-US" dirty="0">
                <a:highlight>
                  <a:srgbClr val="FFFF00"/>
                </a:highlight>
              </a:rPr>
              <a:t>:</a:t>
            </a:r>
            <a:r>
              <a:rPr lang="en-US" dirty="0"/>
              <a:t> 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b="1" dirty="0"/>
              <a:t>Black body color </a:t>
            </a:r>
            <a:r>
              <a:rPr lang="en-US" dirty="0"/>
              <a:t>(b).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b="1" dirty="0"/>
              <a:t>Vestigial wings </a:t>
            </a:r>
            <a:r>
              <a:rPr lang="en-US" dirty="0"/>
              <a:t>(vg): shortened wings. Flies cannot fly.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b="1" dirty="0"/>
              <a:t>Dumpy wings </a:t>
            </a:r>
            <a:r>
              <a:rPr lang="en-US" dirty="0"/>
              <a:t>(</a:t>
            </a:r>
            <a:r>
              <a:rPr lang="en-US" dirty="0" err="1"/>
              <a:t>dp</a:t>
            </a:r>
            <a:r>
              <a:rPr lang="en-US" dirty="0"/>
              <a:t>): wings reduce to 2/3 their normal length with about the length of the body.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b="1" dirty="0"/>
              <a:t>Apterous</a:t>
            </a:r>
            <a:r>
              <a:rPr lang="en-US" dirty="0"/>
              <a:t> (ap): wingless flies.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b="1" dirty="0"/>
              <a:t>Curly wings </a:t>
            </a:r>
            <a:r>
              <a:rPr lang="en-US" dirty="0"/>
              <a:t>(Cy): wings are not straight (Lethal when homozygous).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/>
              <a:t>Drosophila</a:t>
            </a:r>
            <a:r>
              <a:rPr lang="en-US" b="1"/>
              <a:t> mutant phenotypes: </a:t>
            </a:r>
            <a:endParaRPr lang="en-US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67" y="4355079"/>
            <a:ext cx="2493168" cy="143763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67" y="2403239"/>
            <a:ext cx="2493169" cy="17133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A black and white photo of a black and white spider&#10;&#10;Description automatically generated with low confidenc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361" y="2259692"/>
            <a:ext cx="3988297" cy="386189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5605266" y="1682404"/>
            <a:ext cx="1352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Apterous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899914" y="6031209"/>
            <a:ext cx="615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WT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382144" y="1900428"/>
            <a:ext cx="1651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Curly wings</a:t>
            </a:r>
            <a:endParaRPr lang="en-US" sz="2400" b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8583" y="3279559"/>
            <a:ext cx="2493168" cy="167404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2" name="TextBox 21"/>
          <p:cNvSpPr txBox="1"/>
          <p:nvPr/>
        </p:nvSpPr>
        <p:spPr>
          <a:xfrm>
            <a:off x="9725828" y="2663908"/>
            <a:ext cx="1258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Vestigial</a:t>
            </a:r>
            <a:endParaRPr lang="en-US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Drosophila</a:t>
            </a:r>
            <a:r>
              <a:rPr lang="en-US" b="1" dirty="0"/>
              <a:t> mutant phenotypes: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8860"/>
            <a:ext cx="10515600" cy="4351338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Mutations on </a:t>
            </a:r>
            <a:r>
              <a:rPr lang="en-US" b="1" dirty="0">
                <a:highlight>
                  <a:srgbClr val="FFFF00"/>
                </a:highlight>
              </a:rPr>
              <a:t>chromosome III</a:t>
            </a:r>
            <a:r>
              <a:rPr lang="en-US" dirty="0">
                <a:highlight>
                  <a:srgbClr val="FFFF00"/>
                </a:highlight>
              </a:rPr>
              <a:t>:</a:t>
            </a:r>
            <a:endParaRPr lang="en-US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b="1" dirty="0"/>
              <a:t>Ebony</a:t>
            </a:r>
            <a:r>
              <a:rPr lang="en-US" dirty="0"/>
              <a:t> (e): darker body color.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b="1" dirty="0"/>
              <a:t>Scarlet</a:t>
            </a:r>
            <a:r>
              <a:rPr lang="en-US" dirty="0"/>
              <a:t> </a:t>
            </a:r>
            <a:r>
              <a:rPr lang="en-US" b="1" dirty="0"/>
              <a:t>eyes</a:t>
            </a:r>
            <a:r>
              <a:rPr lang="en-US" dirty="0"/>
              <a:t> (</a:t>
            </a:r>
            <a:r>
              <a:rPr lang="en-US" dirty="0" err="1"/>
              <a:t>st</a:t>
            </a:r>
            <a:r>
              <a:rPr lang="en-US" dirty="0"/>
              <a:t>): eyes are reduced in size with brighter red color and the absence of the black spot.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Drosophila</a:t>
            </a:r>
            <a:r>
              <a:rPr lang="en-US" b="1" dirty="0"/>
              <a:t> mutant phenotypes: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57730"/>
            <a:ext cx="10515600" cy="4351338"/>
          </a:xfrm>
        </p:spPr>
        <p:txBody>
          <a:bodyPr/>
          <a:lstStyle/>
          <a:p>
            <a:pPr lvl="0"/>
            <a:r>
              <a:rPr lang="en-US" dirty="0">
                <a:highlight>
                  <a:srgbClr val="FFFF00"/>
                </a:highlight>
              </a:rPr>
              <a:t>Mutations on </a:t>
            </a:r>
            <a:r>
              <a:rPr lang="en-US" b="1" dirty="0">
                <a:highlight>
                  <a:srgbClr val="FFFF00"/>
                </a:highlight>
              </a:rPr>
              <a:t>chromosome IV</a:t>
            </a:r>
            <a:r>
              <a:rPr lang="en-US" dirty="0">
                <a:highlight>
                  <a:srgbClr val="FFFF00"/>
                </a:highlight>
              </a:rPr>
              <a:t>:</a:t>
            </a:r>
            <a:endParaRPr lang="en-US" dirty="0">
              <a:highlight>
                <a:srgbClr val="FFFF00"/>
              </a:highlight>
            </a:endParaRPr>
          </a:p>
          <a:p>
            <a:pPr marL="514350" lvl="0" indent="-514350">
              <a:buFont typeface="+mj-lt"/>
              <a:buAutoNum type="arabicParenR"/>
            </a:pPr>
            <a:r>
              <a:rPr lang="en-US" b="1" dirty="0"/>
              <a:t>Eyeless</a:t>
            </a:r>
            <a:r>
              <a:rPr lang="en-US" dirty="0"/>
              <a:t> (</a:t>
            </a:r>
            <a:r>
              <a:rPr lang="en-US" dirty="0" err="1"/>
              <a:t>ey</a:t>
            </a:r>
            <a:r>
              <a:rPr lang="en-US" dirty="0"/>
              <a:t>): flies develop with no eyes.</a:t>
            </a:r>
            <a:endParaRPr lang="en-US" dirty="0"/>
          </a:p>
          <a:p>
            <a:pPr marL="514350" lvl="0" indent="-514350">
              <a:buFont typeface="+mj-lt"/>
              <a:buAutoNum type="arabicParenR"/>
            </a:pPr>
            <a:r>
              <a:rPr lang="en-US" b="1" dirty="0"/>
              <a:t>Stubble</a:t>
            </a:r>
            <a:r>
              <a:rPr lang="en-US" dirty="0"/>
              <a:t> </a:t>
            </a:r>
            <a:r>
              <a:rPr lang="en-US" b="1" dirty="0"/>
              <a:t>bristles</a:t>
            </a:r>
            <a:r>
              <a:rPr lang="en-US" dirty="0"/>
              <a:t> (Sb): produces short bristles.</a:t>
            </a:r>
            <a:endParaRPr lang="en-US" dirty="0"/>
          </a:p>
          <a:p>
            <a:pPr marL="514350" lvl="0" indent="-514350">
              <a:buFont typeface="+mj-lt"/>
              <a:buAutoNum type="arabicParenR"/>
            </a:pPr>
            <a:endParaRPr lang="en-US" dirty="0"/>
          </a:p>
          <a:p>
            <a:r>
              <a:rPr lang="en-US" b="1" dirty="0"/>
              <a:t>Lethal gene:</a:t>
            </a:r>
            <a:r>
              <a:rPr lang="en-US" dirty="0"/>
              <a:t> a gene that influences viability.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Genetic cross (monohybrid) </a:t>
            </a:r>
            <a:endParaRPr lang="en-US" b="1" dirty="0"/>
          </a:p>
        </p:txBody>
      </p:sp>
      <p:pic>
        <p:nvPicPr>
          <p:cNvPr id="5" name="Content Placeholder 4" descr="A picture containing schematic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480" y="1701165"/>
            <a:ext cx="7971790" cy="4791710"/>
          </a:xfr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Genetic cross (dihybrid)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38374" y="1543050"/>
            <a:ext cx="6878107" cy="515858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Procedure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91995"/>
            <a:ext cx="10515600" cy="4258310"/>
          </a:xfrm>
        </p:spPr>
        <p:txBody>
          <a:bodyPr>
            <a:norm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Preparing fly food</a:t>
            </a:r>
            <a:r>
              <a:rPr lang="en-US" dirty="0">
                <a:highlight>
                  <a:srgbClr val="FFFF00"/>
                </a:highlight>
              </a:rPr>
              <a:t>: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1- Weigh </a:t>
            </a:r>
            <a:r>
              <a:rPr lang="en-US" b="1" dirty="0"/>
              <a:t>1</a:t>
            </a:r>
            <a:r>
              <a:rPr lang="en-US" dirty="0"/>
              <a:t> </a:t>
            </a:r>
            <a:r>
              <a:rPr lang="en-US" b="1" dirty="0"/>
              <a:t>g</a:t>
            </a:r>
            <a:r>
              <a:rPr lang="en-US" dirty="0"/>
              <a:t> Drosophila instant media in a weighing boat, and place in a plastic vial.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2- Add </a:t>
            </a:r>
            <a:r>
              <a:rPr lang="en-US" b="1" dirty="0"/>
              <a:t>5</a:t>
            </a:r>
            <a:r>
              <a:rPr lang="en-US" dirty="0"/>
              <a:t> </a:t>
            </a:r>
            <a:r>
              <a:rPr lang="en-US" b="1" dirty="0"/>
              <a:t>ml</a:t>
            </a:r>
            <a:r>
              <a:rPr lang="en-US" dirty="0"/>
              <a:t> autoclaved distilled water to the vial and mix vigorously.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3- </a:t>
            </a:r>
            <a:r>
              <a:rPr lang="en-US" b="1" dirty="0"/>
              <a:t>Sprinkle</a:t>
            </a:r>
            <a:r>
              <a:rPr lang="en-US" dirty="0"/>
              <a:t> a little bit of </a:t>
            </a:r>
            <a:r>
              <a:rPr lang="en-US" b="1" dirty="0"/>
              <a:t>dried</a:t>
            </a:r>
            <a:r>
              <a:rPr lang="en-US" dirty="0"/>
              <a:t> </a:t>
            </a:r>
            <a:r>
              <a:rPr lang="en-US" b="1" dirty="0"/>
              <a:t>yeast</a:t>
            </a:r>
            <a:r>
              <a:rPr lang="en-US" dirty="0"/>
              <a:t> into the top of the media. 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Procedure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Anesthetizing the flies:</a:t>
            </a:r>
            <a:endParaRPr lang="en-US" sz="2400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2400" dirty="0"/>
              <a:t>1- Open the plastic funnel and add </a:t>
            </a:r>
            <a:r>
              <a:rPr lang="en-US" sz="2400" b="1" dirty="0"/>
              <a:t>2-3</a:t>
            </a:r>
            <a:r>
              <a:rPr lang="en-US" sz="2400" dirty="0"/>
              <a:t> </a:t>
            </a:r>
            <a:r>
              <a:rPr lang="en-US" sz="2400" b="1" dirty="0"/>
              <a:t>drops</a:t>
            </a:r>
            <a:r>
              <a:rPr lang="en-US" sz="2400" dirty="0"/>
              <a:t> of </a:t>
            </a:r>
            <a:r>
              <a:rPr lang="en-US" sz="2400" b="1" dirty="0"/>
              <a:t>ether</a:t>
            </a:r>
            <a:r>
              <a:rPr lang="en-US" sz="2400" dirty="0"/>
              <a:t> to the cotton inside it. </a:t>
            </a:r>
            <a:r>
              <a:rPr lang="en-US" sz="2400" b="1" dirty="0"/>
              <a:t>DO NOT INHALE THE ETHER</a:t>
            </a:r>
            <a:r>
              <a:rPr lang="en-US" sz="2400" dirty="0"/>
              <a:t>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2- On your bench, tap the vial that contains the flies and quickly open the plug and put the opening of the plastic funnel in place of the plug.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3- Held together, turn the funnel and the vial upside down and tap the funnel on the bench until all the flies are inside the funnel.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4- Wait for </a:t>
            </a:r>
            <a:r>
              <a:rPr lang="en-US" sz="2400" b="1" dirty="0"/>
              <a:t>15</a:t>
            </a:r>
            <a:r>
              <a:rPr lang="en-US" sz="2400" dirty="0"/>
              <a:t> </a:t>
            </a:r>
            <a:r>
              <a:rPr lang="en-US" sz="2400" b="1" dirty="0"/>
              <a:t>seconds</a:t>
            </a:r>
            <a:r>
              <a:rPr lang="en-US" sz="2400" dirty="0"/>
              <a:t> and then open the funnel and place the flies on the stage plate.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Procedure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3205"/>
            <a:ext cx="11193780" cy="5233670"/>
          </a:xfrm>
        </p:spPr>
        <p:txBody>
          <a:bodyPr>
            <a:normAutofit lnSpcReduction="10000"/>
          </a:bodyPr>
          <a:lstStyle/>
          <a:p>
            <a:r>
              <a:rPr lang="en-US" sz="2595" b="1" dirty="0"/>
              <a:t>Maintaining the flies:</a:t>
            </a:r>
            <a:endParaRPr lang="en-US" sz="2595" b="1" dirty="0"/>
          </a:p>
          <a:p>
            <a:pPr marL="0" indent="0">
              <a:buNone/>
            </a:pPr>
            <a:r>
              <a:rPr lang="en-US" sz="2595" dirty="0"/>
              <a:t>1- Under the dissecting microscope separate </a:t>
            </a:r>
            <a:r>
              <a:rPr lang="en-US" sz="2595" b="1" dirty="0"/>
              <a:t>4 males </a:t>
            </a:r>
            <a:r>
              <a:rPr lang="en-US" sz="2595" dirty="0"/>
              <a:t>and </a:t>
            </a:r>
            <a:r>
              <a:rPr lang="en-US" sz="2595" b="1" dirty="0"/>
              <a:t>4 females </a:t>
            </a:r>
            <a:r>
              <a:rPr lang="en-US" sz="2595" dirty="0"/>
              <a:t>and put them in the media vial you prepared.</a:t>
            </a:r>
            <a:endParaRPr lang="en-US" sz="2595" dirty="0"/>
          </a:p>
          <a:p>
            <a:pPr marL="0" indent="0">
              <a:buNone/>
            </a:pPr>
            <a:r>
              <a:rPr lang="en-US" sz="2595" dirty="0"/>
              <a:t>2- Keep the vial </a:t>
            </a:r>
            <a:r>
              <a:rPr lang="en-US" sz="2595" b="1" dirty="0"/>
              <a:t>horizontally</a:t>
            </a:r>
            <a:r>
              <a:rPr lang="en-US" sz="2595" dirty="0"/>
              <a:t> until the flies awake.</a:t>
            </a:r>
            <a:endParaRPr lang="en-US" sz="2595" dirty="0"/>
          </a:p>
          <a:p>
            <a:pPr marL="0" indent="0">
              <a:buNone/>
            </a:pPr>
            <a:r>
              <a:rPr lang="en-US" sz="2595" dirty="0"/>
              <a:t>3- Put the vials in an incubator at </a:t>
            </a:r>
            <a:r>
              <a:rPr lang="en-US" sz="2595" b="1" dirty="0"/>
              <a:t>25C</a:t>
            </a:r>
            <a:r>
              <a:rPr lang="en-US" sz="2595" dirty="0"/>
              <a:t>.</a:t>
            </a:r>
            <a:endParaRPr lang="en-US" sz="2595" dirty="0"/>
          </a:p>
          <a:p>
            <a:pPr marL="0" indent="0">
              <a:buNone/>
            </a:pPr>
            <a:r>
              <a:rPr lang="en-US" sz="2595" dirty="0"/>
              <a:t>4- After </a:t>
            </a:r>
            <a:r>
              <a:rPr lang="en-US" sz="2595" b="1" dirty="0"/>
              <a:t>4</a:t>
            </a:r>
            <a:r>
              <a:rPr lang="en-US" sz="2595" dirty="0"/>
              <a:t> </a:t>
            </a:r>
            <a:r>
              <a:rPr lang="en-US" sz="2595" b="1" dirty="0"/>
              <a:t>days</a:t>
            </a:r>
            <a:r>
              <a:rPr lang="en-US" sz="2595" dirty="0"/>
              <a:t>, remove the parent flies by anesthetizing and discard them in a morgue.</a:t>
            </a:r>
            <a:endParaRPr lang="en-US" sz="2595" dirty="0"/>
          </a:p>
          <a:p>
            <a:pPr marL="0" indent="0">
              <a:buNone/>
            </a:pPr>
            <a:r>
              <a:rPr lang="en-US" sz="2595" dirty="0"/>
              <a:t>5- After </a:t>
            </a:r>
            <a:r>
              <a:rPr lang="en-US" sz="2595" b="1" dirty="0"/>
              <a:t>10-12 days </a:t>
            </a:r>
            <a:r>
              <a:rPr lang="en-US" sz="2595" dirty="0"/>
              <a:t>(or </a:t>
            </a:r>
            <a:r>
              <a:rPr lang="en-US" sz="2595" b="1" dirty="0"/>
              <a:t>7 days </a:t>
            </a:r>
            <a:r>
              <a:rPr lang="en-US" sz="2595" dirty="0"/>
              <a:t>from killing </a:t>
            </a:r>
            <a:r>
              <a:rPr lang="en-US" sz="2595" b="1" dirty="0"/>
              <a:t>P</a:t>
            </a:r>
            <a:r>
              <a:rPr lang="en-US" sz="2595" dirty="0"/>
              <a:t>), count the first generation, record your results, and separate </a:t>
            </a:r>
            <a:r>
              <a:rPr lang="en-US" sz="2595" b="1" dirty="0"/>
              <a:t>4 males </a:t>
            </a:r>
            <a:r>
              <a:rPr lang="en-US" sz="2595" dirty="0"/>
              <a:t>and </a:t>
            </a:r>
            <a:r>
              <a:rPr lang="en-US" sz="2595" b="1" dirty="0"/>
              <a:t>4 females </a:t>
            </a:r>
            <a:r>
              <a:rPr lang="en-US" sz="2595" dirty="0"/>
              <a:t>from the F1 and put them in a new vial.</a:t>
            </a:r>
            <a:endParaRPr lang="en-US" sz="2595" dirty="0"/>
          </a:p>
          <a:p>
            <a:pPr marL="0" indent="0">
              <a:buNone/>
            </a:pPr>
            <a:r>
              <a:rPr lang="en-US" sz="2595" dirty="0"/>
              <a:t>6- </a:t>
            </a:r>
            <a:r>
              <a:rPr lang="en-US" sz="2595" b="1" dirty="0"/>
              <a:t>Repeat steps 3+4</a:t>
            </a:r>
            <a:r>
              <a:rPr lang="en-US" sz="2595" dirty="0"/>
              <a:t>.</a:t>
            </a:r>
            <a:endParaRPr lang="en-US" sz="2595" dirty="0"/>
          </a:p>
          <a:p>
            <a:pPr marL="0" indent="0">
              <a:buNone/>
            </a:pPr>
            <a:r>
              <a:rPr lang="en-US" sz="2595" dirty="0"/>
              <a:t>7- After </a:t>
            </a:r>
            <a:r>
              <a:rPr lang="en-US" sz="2595" b="1" dirty="0"/>
              <a:t>10-12 days </a:t>
            </a:r>
            <a:r>
              <a:rPr lang="en-US" sz="2595" dirty="0"/>
              <a:t>(or from killing </a:t>
            </a:r>
            <a:r>
              <a:rPr lang="en-US" sz="2595" b="1" dirty="0"/>
              <a:t>F1</a:t>
            </a:r>
            <a:r>
              <a:rPr lang="en-US" sz="2595" dirty="0"/>
              <a:t>), , count the second generation, record your results.</a:t>
            </a:r>
            <a:r>
              <a:rPr lang="en-US" sz="2595" b="1" dirty="0"/>
              <a:t> 7 days </a:t>
            </a:r>
            <a:endParaRPr lang="en-US" sz="2595" dirty="0"/>
          </a:p>
          <a:p>
            <a:endParaRPr lang="en-US" sz="259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An introduction to fruit flies. (2017, July 11). Retrieved March 03, 2021, from </a:t>
            </a:r>
            <a:r>
              <a:rPr lang="en-US" dirty="0">
                <a:hlinkClick r:id="rId1"/>
              </a:rPr>
              <a:t>http://depts.washington.edu/cberglab/wordpress/outreach/an-introduction-to-fruit-flies/</a:t>
            </a:r>
            <a:endParaRPr lang="en-US" dirty="0"/>
          </a:p>
          <a:p>
            <a:r>
              <a:rPr lang="en-US" dirty="0">
                <a:hlinkClick r:id="rId2"/>
              </a:rPr>
              <a:t>https://www.researchgate.net/figure/The-life-cycle-of-Drosophila-melanogaster-Drosophila-exhibit-a-10-day-life-cycle-at_fig41_315866219</a:t>
            </a:r>
            <a:endParaRPr lang="en-US" dirty="0"/>
          </a:p>
          <a:p>
            <a:r>
              <a:rPr lang="en-US" dirty="0">
                <a:hlinkClick r:id="rId3"/>
              </a:rPr>
              <a:t>https://www.carolina.com/flies/flynap-anesthetic-kit/173010.pr</a:t>
            </a:r>
            <a:endParaRPr lang="en-US" dirty="0"/>
          </a:p>
          <a:p>
            <a:r>
              <a:rPr lang="en-US" dirty="0">
                <a:hlinkClick r:id="rId4"/>
              </a:rPr>
              <a:t>https://www.tritechresearch.com/MINJ-DROS-FP.html</a:t>
            </a:r>
            <a:endParaRPr lang="en-US" dirty="0"/>
          </a:p>
          <a:p>
            <a:r>
              <a:rPr lang="en-US" dirty="0">
                <a:hlinkClick r:id="rId5"/>
              </a:rPr>
              <a:t>https://www.biologie.uni-halle.de/entwicklungsgenetik/lehre/studenten/drosophila/mutanten/?lang=en</a:t>
            </a:r>
            <a:endParaRPr lang="en-US" dirty="0"/>
          </a:p>
          <a:p>
            <a:r>
              <a:rPr lang="en-US" dirty="0">
                <a:hlinkClick r:id="rId6"/>
              </a:rPr>
              <a:t>https://www.medicalimages.com/stock-photo-photomicrograph-of-an-ebony-fruit-fly-variant-drosophila-sp-with-a-black-body-mag-105x-at-6-image22441070.html</a:t>
            </a:r>
            <a:endParaRPr lang="en-US" dirty="0"/>
          </a:p>
          <a:p>
            <a:r>
              <a:rPr lang="en-US" dirty="0">
                <a:hlinkClick r:id="rId7"/>
              </a:rPr>
              <a:t>https://www2.le.ac.uk/departments/genetics/research/staff-research-interests/tauber-research-lab/livegene/fly-manual-1#:~:text=The%20most%20simple%20characteristic%20to,females%20have%20light%2C%20pointed%20genitalia</a:t>
            </a:r>
            <a:r>
              <a:rPr lang="en-US" dirty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10626</Words>
  <Application>WPS Presentation</Application>
  <PresentationFormat>Widescreen</PresentationFormat>
  <Paragraphs>357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Calibri</vt:lpstr>
      <vt:lpstr>Tahoma</vt:lpstr>
      <vt:lpstr>Arial Black</vt:lpstr>
      <vt:lpstr>Office Theme</vt:lpstr>
      <vt:lpstr>MOLECULAR GENETICS LABORATORY BT344 Experiment (1)  Mitosis in onion root tips  </vt:lpstr>
      <vt:lpstr>Content</vt:lpstr>
      <vt:lpstr>Objectives</vt:lpstr>
      <vt:lpstr>Introduction </vt:lpstr>
      <vt:lpstr>Why drosophila?</vt:lpstr>
      <vt:lpstr>Why drosophila?</vt:lpstr>
      <vt:lpstr>Life cycle of D. melanogaster</vt:lpstr>
      <vt:lpstr>Life cycle of D. melanogaster</vt:lpstr>
      <vt:lpstr>Life cycle of D. melanogaster</vt:lpstr>
      <vt:lpstr>Life cycle of D. melanogaster</vt:lpstr>
      <vt:lpstr>Sexing flies</vt:lpstr>
      <vt:lpstr>Sexing flies</vt:lpstr>
      <vt:lpstr>Sexing flies</vt:lpstr>
      <vt:lpstr>Collecting virgin females</vt:lpstr>
      <vt:lpstr>Collecting virgin females</vt:lpstr>
      <vt:lpstr>PowerPoint 演示文稿</vt:lpstr>
      <vt:lpstr>PowerPoint 演示文稿</vt:lpstr>
      <vt:lpstr>PowerPoint 演示文稿</vt:lpstr>
      <vt:lpstr>Crossing flies</vt:lpstr>
      <vt:lpstr>Bottles and vials</vt:lpstr>
      <vt:lpstr>Media</vt:lpstr>
      <vt:lpstr>Media</vt:lpstr>
      <vt:lpstr>Killing Flies: The Morgue </vt:lpstr>
      <vt:lpstr>Anesthetizing flies</vt:lpstr>
      <vt:lpstr>Basic Drosophila Genetics Nomenclature and Definitions</vt:lpstr>
      <vt:lpstr>Basic Drosophila Genetics Nomenclature and Definitions</vt:lpstr>
      <vt:lpstr>Basic Drosophila Genetics Nomenclature and Definitions</vt:lpstr>
      <vt:lpstr>Basic Drosophila Genetics Nomenclature and Definitions</vt:lpstr>
      <vt:lpstr>Basic Drosophila Genetics Nomenclature and Definitions</vt:lpstr>
      <vt:lpstr>Basic Drosophila Genetics Nomenclature and Definitions</vt:lpstr>
      <vt:lpstr>Drosophila mutant phenotypes: </vt:lpstr>
      <vt:lpstr>Drosophila mutant phenotypes: </vt:lpstr>
      <vt:lpstr>Drosophila mutant phenotypes: </vt:lpstr>
      <vt:lpstr>Drosophila mutant phenotypes: </vt:lpstr>
      <vt:lpstr>Drosophila mutant phenotypes: </vt:lpstr>
      <vt:lpstr>Drosophila mutant phenotypes: </vt:lpstr>
      <vt:lpstr>Drosophila mutant phenotypes: </vt:lpstr>
      <vt:lpstr>Genetic cross (monohybrid) </vt:lpstr>
      <vt:lpstr>Genetic cross (dihybrid) </vt:lpstr>
      <vt:lpstr>Procedure </vt:lpstr>
      <vt:lpstr>Procedure</vt:lpstr>
      <vt:lpstr>Procedure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 Fruit fly handling</dc:title>
  <dc:creator>GHADEER MOHAMMAD ALSOUKHNI</dc:creator>
  <cp:lastModifiedBy>Lenovo</cp:lastModifiedBy>
  <cp:revision>76</cp:revision>
  <dcterms:created xsi:type="dcterms:W3CDTF">2021-03-04T05:48:00Z</dcterms:created>
  <dcterms:modified xsi:type="dcterms:W3CDTF">2023-07-16T20:08:50Z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4E7D05822DA9420CA211AC3CF59DA811</vt:lpwstr>
  </property>
  <property fmtid="{D5CDD505-2E9C-101B-9397-08002B2CF9AE}" pid="3" name="KSOProductBuildVer">
    <vt:lpwstr>1033-11.2.0.11537</vt:lpwstr>
  </property>
</Properties>
</file>