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0"/>
  </p:notesMasterIdLst>
  <p:sldIdLst>
    <p:sldId id="342" r:id="rId3"/>
    <p:sldId id="258" r:id="rId4"/>
    <p:sldId id="259" r:id="rId5"/>
    <p:sldId id="261" r:id="rId6"/>
    <p:sldId id="263" r:id="rId7"/>
    <p:sldId id="260" r:id="rId8"/>
    <p:sldId id="264" r:id="rId9"/>
    <p:sldId id="265" r:id="rId10"/>
    <p:sldId id="266" r:id="rId11"/>
    <p:sldId id="267" r:id="rId12"/>
    <p:sldId id="268" r:id="rId13"/>
    <p:sldId id="269" r:id="rId14"/>
    <p:sldId id="270" r:id="rId15"/>
    <p:sldId id="271" r:id="rId16"/>
    <p:sldId id="272" r:id="rId17"/>
    <p:sldId id="273" r:id="rId18"/>
    <p:sldId id="276" r:id="rId19"/>
    <p:sldId id="274" r:id="rId20"/>
    <p:sldId id="275"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49" autoAdjust="0"/>
  </p:normalViewPr>
  <p:slideViewPr>
    <p:cSldViewPr snapToGrid="0">
      <p:cViewPr varScale="1">
        <p:scale>
          <a:sx n="48" d="100"/>
          <a:sy n="48" d="100"/>
        </p:scale>
        <p:origin x="1368" y="3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wah Al Bataineh" userId="b400c1d921f65d71" providerId="LiveId" clId="{8CD66BA6-AADA-436F-B7BB-6B126F0A65EE}"/>
    <pc:docChg chg="modSld">
      <pc:chgData name="Erwah Al Bataineh" userId="b400c1d921f65d71" providerId="LiveId" clId="{8CD66BA6-AADA-436F-B7BB-6B126F0A65EE}" dt="2023-04-10T21:04:07.523" v="5" actId="20577"/>
      <pc:docMkLst>
        <pc:docMk/>
      </pc:docMkLst>
      <pc:sldChg chg="modSp mod">
        <pc:chgData name="Erwah Al Bataineh" userId="b400c1d921f65d71" providerId="LiveId" clId="{8CD66BA6-AADA-436F-B7BB-6B126F0A65EE}" dt="2023-04-10T21:04:07.523" v="5" actId="20577"/>
        <pc:sldMkLst>
          <pc:docMk/>
          <pc:sldMk cId="3741008465" sldId="295"/>
        </pc:sldMkLst>
        <pc:spChg chg="mod">
          <ac:chgData name="Erwah Al Bataineh" userId="b400c1d921f65d71" providerId="LiveId" clId="{8CD66BA6-AADA-436F-B7BB-6B126F0A65EE}" dt="2023-04-10T21:04:07.523" v="5" actId="20577"/>
          <ac:spMkLst>
            <pc:docMk/>
            <pc:sldMk cId="3741008465" sldId="295"/>
            <ac:spMk id="3" creationId="{F854CF3F-30A6-485F-A240-E18EE118B5A8}"/>
          </ac:spMkLst>
        </pc:spChg>
      </pc:sldChg>
    </pc:docChg>
  </pc:docChgLst>
  <pc:docChgLst>
    <pc:chgData name="Erwah Al Bataineh" userId="b400c1d921f65d71" providerId="LiveId" clId="{C410A67C-2D95-4894-B543-C05011612866}"/>
    <pc:docChg chg="custSel addSld delSld modSld">
      <pc:chgData name="Erwah Al Bataineh" userId="b400c1d921f65d71" providerId="LiveId" clId="{C410A67C-2D95-4894-B543-C05011612866}" dt="2022-11-25T01:36:51.738" v="74" actId="1076"/>
      <pc:docMkLst>
        <pc:docMk/>
      </pc:docMkLst>
      <pc:sldChg chg="del">
        <pc:chgData name="Erwah Al Bataineh" userId="b400c1d921f65d71" providerId="LiveId" clId="{C410A67C-2D95-4894-B543-C05011612866}" dt="2022-11-25T01:34:21.347" v="47" actId="47"/>
        <pc:sldMkLst>
          <pc:docMk/>
          <pc:sldMk cId="1001259182" sldId="257"/>
        </pc:sldMkLst>
      </pc:sldChg>
      <pc:sldChg chg="modSp mod">
        <pc:chgData name="Erwah Al Bataineh" userId="b400c1d921f65d71" providerId="LiveId" clId="{C410A67C-2D95-4894-B543-C05011612866}" dt="2022-11-25T01:36:51.738" v="74" actId="1076"/>
        <pc:sldMkLst>
          <pc:docMk/>
          <pc:sldMk cId="812340731" sldId="263"/>
        </pc:sldMkLst>
        <pc:picChg chg="mod">
          <ac:chgData name="Erwah Al Bataineh" userId="b400c1d921f65d71" providerId="LiveId" clId="{C410A67C-2D95-4894-B543-C05011612866}" dt="2022-11-25T01:36:51.738" v="74" actId="1076"/>
          <ac:picMkLst>
            <pc:docMk/>
            <pc:sldMk cId="812340731" sldId="263"/>
            <ac:picMk id="6" creationId="{321BC707-53C3-4124-B669-4AACB6421906}"/>
          </ac:picMkLst>
        </pc:picChg>
      </pc:sldChg>
      <pc:sldChg chg="delSp modSp add del mod setBg">
        <pc:chgData name="Erwah Al Bataineh" userId="b400c1d921f65d71" providerId="LiveId" clId="{C410A67C-2D95-4894-B543-C05011612866}" dt="2022-11-25T01:35:39.675" v="73" actId="1076"/>
        <pc:sldMkLst>
          <pc:docMk/>
          <pc:sldMk cId="0" sldId="342"/>
        </pc:sldMkLst>
        <pc:spChg chg="mod">
          <ac:chgData name="Erwah Al Bataineh" userId="b400c1d921f65d71" providerId="LiveId" clId="{C410A67C-2D95-4894-B543-C05011612866}" dt="2022-11-25T01:35:39.675" v="73" actId="1076"/>
          <ac:spMkLst>
            <pc:docMk/>
            <pc:sldMk cId="0" sldId="342"/>
            <ac:spMk id="7" creationId="{4D577900-E26E-C1CB-3977-920F2114A124}"/>
          </ac:spMkLst>
        </pc:spChg>
        <pc:picChg chg="del">
          <ac:chgData name="Erwah Al Bataineh" userId="b400c1d921f65d71" providerId="LiveId" clId="{C410A67C-2D95-4894-B543-C05011612866}" dt="2022-11-25T01:34:11.966" v="45" actId="478"/>
          <ac:picMkLst>
            <pc:docMk/>
            <pc:sldMk cId="0" sldId="342"/>
            <ac:picMk id="2" creationId="{47B5765A-79F3-FE87-FABF-D77F9CCEA6E2}"/>
          </ac:picMkLst>
        </pc:picChg>
        <pc:picChg chg="del">
          <ac:chgData name="Erwah Al Bataineh" userId="b400c1d921f65d71" providerId="LiveId" clId="{C410A67C-2D95-4894-B543-C05011612866}" dt="2022-11-25T01:34:15.939" v="46" actId="478"/>
          <ac:picMkLst>
            <pc:docMk/>
            <pc:sldMk cId="0" sldId="342"/>
            <ac:picMk id="4" creationId="{BD738AB0-1D60-ED7C-A454-7497D160AABB}"/>
          </ac:picMkLst>
        </pc:picChg>
      </pc:sldChg>
      <pc:sldChg chg="add del setBg">
        <pc:chgData name="Erwah Al Bataineh" userId="b400c1d921f65d71" providerId="LiveId" clId="{C410A67C-2D95-4894-B543-C05011612866}" dt="2022-11-25T01:32:58.160" v="2"/>
        <pc:sldMkLst>
          <pc:docMk/>
          <pc:sldMk cId="0" sldId="34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9B9AD6-30CE-47E2-9F2A-8C7900854846}" type="datetimeFigureOut">
              <a:rPr lang="en-AE" smtClean="0"/>
              <a:t>11/04/2023</a:t>
            </a:fld>
            <a:endParaRPr lang="en-A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A81197-471E-417F-A112-E44B823511F4}" type="slidenum">
              <a:rPr lang="en-AE" smtClean="0"/>
              <a:t>‹#›</a:t>
            </a:fld>
            <a:endParaRPr lang="en-AE"/>
          </a:p>
        </p:txBody>
      </p:sp>
    </p:spTree>
    <p:extLst>
      <p:ext uri="{BB962C8B-B14F-4D97-AF65-F5344CB8AC3E}">
        <p14:creationId xmlns:p14="http://schemas.microsoft.com/office/powerpoint/2010/main" val="2810234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8EEAA1-6D31-437E-B51D-E72B8F5576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4638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C44FEB-68CA-482B-93EC-11DCACAA6176}" type="datetimeFigureOut">
              <a:rPr lang="en-US" smtClean="0"/>
              <a:pPr/>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3762742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C44FEB-68CA-482B-93EC-11DCACAA6176}" type="datetimeFigureOut">
              <a:rPr lang="en-US" smtClean="0"/>
              <a:pPr/>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2581227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C44FEB-68CA-482B-93EC-11DCACAA6176}" type="datetimeFigureOut">
              <a:rPr lang="en-US" smtClean="0"/>
              <a:pPr/>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3980062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C44FEB-68CA-482B-93EC-11DCACAA6176}" type="datetimeFigureOut">
              <a:rPr lang="en-US" smtClean="0"/>
              <a:pPr/>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564679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C44FEB-68CA-482B-93EC-11DCACAA6176}" type="datetimeFigureOut">
              <a:rPr lang="en-US" smtClean="0"/>
              <a:pPr/>
              <a:t>4/11/2023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2309382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C44FEB-68CA-482B-93EC-11DCACAA6176}" type="datetimeFigureOut">
              <a:rPr lang="en-US" smtClean="0"/>
              <a:pPr/>
              <a:t>4/11/2023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1361988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C44FEB-68CA-482B-93EC-11DCACAA6176}" type="datetimeFigureOut">
              <a:rPr lang="en-US" smtClean="0"/>
              <a:pPr/>
              <a:t>4/11/2023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1055270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C44FEB-68CA-482B-93EC-11DCACAA6176}" type="datetimeFigureOut">
              <a:rPr lang="en-US" smtClean="0"/>
              <a:pPr/>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3917559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C44FEB-68CA-482B-93EC-11DCACAA6176}" type="datetimeFigureOut">
              <a:rPr lang="en-US" smtClean="0"/>
              <a:pPr/>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3825762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C44FEB-68CA-482B-93EC-11DCACAA6176}" type="datetimeFigureOut">
              <a:rPr lang="en-US" smtClean="0"/>
              <a:pPr/>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139512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C44FEB-68CA-482B-93EC-11DCACAA6176}" type="datetimeFigureOut">
              <a:rPr lang="en-US" smtClean="0"/>
              <a:pPr/>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250CD-4191-4B5F-B977-059F6A069C70}" type="slidenum">
              <a:rPr lang="en-US" smtClean="0"/>
              <a:pPr/>
              <a:t>‹#›</a:t>
            </a:fld>
            <a:endParaRPr lang="en-US"/>
          </a:p>
        </p:txBody>
      </p:sp>
    </p:spTree>
    <p:extLst>
      <p:ext uri="{BB962C8B-B14F-4D97-AF65-F5344CB8AC3E}">
        <p14:creationId xmlns:p14="http://schemas.microsoft.com/office/powerpoint/2010/main" val="3088218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191214" y="262787"/>
            <a:ext cx="8761576"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143000" y="1333500"/>
            <a:ext cx="6858000" cy="1790700"/>
          </a:xfrm>
        </p:spPr>
        <p:txBody>
          <a:bodyPr vert="horz" lIns="91440" tIns="0" rIns="91440" bIns="0" rtlCol="0" anchor="t" anchorCtr="0">
            <a:noAutofit/>
          </a:bodyPr>
          <a:lstStyle>
            <a:lvl1pPr>
              <a:lnSpc>
                <a:spcPct val="100000"/>
              </a:lnSpc>
              <a:defRPr lang="en-US" sz="36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143000" y="3128010"/>
            <a:ext cx="6858000" cy="1287675"/>
          </a:xfrm>
        </p:spPr>
        <p:txBody>
          <a:bodyPr vert="horz" lIns="91440" tIns="45720" rIns="91440" bIns="45720" rtlCol="0" anchor="t" anchorCtr="0">
            <a:noAutofit/>
          </a:bodyPr>
          <a:lstStyle>
            <a:lvl1pPr marL="0" indent="0">
              <a:buNone/>
              <a:defRPr lang="en-US" sz="1800" dirty="0">
                <a:solidFill>
                  <a:schemeClr val="bg1"/>
                </a:solidFill>
                <a:latin typeface="+mj-lt"/>
              </a:defRPr>
            </a:lvl1pPr>
          </a:lstStyle>
          <a:p>
            <a:pPr marL="171450" lvl="0" indent="-171450">
              <a:lnSpc>
                <a:spcPct val="150000"/>
              </a:lnSpc>
              <a:spcAft>
                <a:spcPts val="9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257176" y="4546601"/>
            <a:ext cx="8786813" cy="2025650"/>
          </a:xfrm>
          <a:prstGeom prst="rect">
            <a:avLst/>
          </a:prstGeom>
        </p:spPr>
      </p:pic>
    </p:spTree>
    <p:extLst>
      <p:ext uri="{BB962C8B-B14F-4D97-AF65-F5344CB8AC3E}">
        <p14:creationId xmlns:p14="http://schemas.microsoft.com/office/powerpoint/2010/main" val="518503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01774" y="4801396"/>
            <a:ext cx="8740452"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453325" y="1604211"/>
            <a:ext cx="8237348"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19224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01774" y="4801396"/>
            <a:ext cx="8740452"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453325" y="1604211"/>
            <a:ext cx="8237348"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0917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01774" y="4801396"/>
            <a:ext cx="8740452"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818148" y="1507068"/>
            <a:ext cx="2394284" cy="4669896"/>
          </a:xfrm>
        </p:spPr>
        <p:txBody>
          <a:bodyPr anchor="ctr"/>
          <a:lstStyle>
            <a:lvl1pPr marL="0" indent="0" algn="l">
              <a:lnSpc>
                <a:spcPct val="150000"/>
              </a:lnSpc>
              <a:spcAft>
                <a:spcPts val="900"/>
              </a:spcAft>
              <a:buSzPct val="25000"/>
              <a:buFont typeface="Segoe UI" panose="020B0502040204020203" pitchFamily="34" charset="0"/>
              <a:buChar char=" "/>
              <a:defRPr sz="900"/>
            </a:lvl1pPr>
            <a:lvl2pPr marL="301229" indent="5954" algn="l">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3296654" y="1507068"/>
            <a:ext cx="5357929" cy="4669896"/>
          </a:xfrm>
        </p:spPr>
        <p:txBody>
          <a:bodyPr anchor="ct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19906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191215" y="26278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userDrawn="1"/>
        </p:nvSpPr>
        <p:spPr bwMode="blackWhite">
          <a:xfrm>
            <a:off x="191214" y="262787"/>
            <a:ext cx="8761576"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a:xfrm>
            <a:off x="390906" y="1536192"/>
            <a:ext cx="5157216" cy="640080"/>
          </a:xfrm>
        </p:spPr>
        <p:txBody>
          <a:bodyPr>
            <a:normAutofit/>
          </a:bodyPr>
          <a:lstStyle>
            <a:lvl1pPr>
              <a:defRPr sz="27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404622" y="2560320"/>
            <a:ext cx="7084314" cy="3977640"/>
          </a:xfrm>
        </p:spPr>
        <p:txBody>
          <a:bodyPr vert="horz" lIns="91440" tIns="45720" rIns="91440" bIns="45720" rtlCol="0">
            <a:normAutofit/>
          </a:bodyPr>
          <a:lstStyle>
            <a:lvl1pPr>
              <a:defRPr lang="en-US" sz="1800" smtClean="0">
                <a:solidFill>
                  <a:schemeClr val="tx1">
                    <a:lumMod val="75000"/>
                    <a:lumOff val="25000"/>
                  </a:schemeClr>
                </a:solidFill>
                <a:latin typeface="+mj-lt"/>
              </a:defRPr>
            </a:lvl1pPr>
            <a:lvl2pPr>
              <a:defRPr lang="en-US" sz="900" dirty="0" smtClean="0">
                <a:solidFill>
                  <a:schemeClr val="tx1">
                    <a:lumMod val="75000"/>
                    <a:lumOff val="25000"/>
                  </a:schemeClr>
                </a:solidFill>
              </a:defRPr>
            </a:lvl2pPr>
            <a:lvl3pPr>
              <a:defRPr lang="en-US" sz="900" dirty="0" smtClean="0">
                <a:solidFill>
                  <a:schemeClr val="tx1">
                    <a:lumMod val="75000"/>
                    <a:lumOff val="25000"/>
                  </a:schemeClr>
                </a:solidFill>
              </a:defRPr>
            </a:lvl3pPr>
            <a:lvl4pPr>
              <a:defRPr lang="en-US" sz="900" dirty="0" smtClean="0">
                <a:solidFill>
                  <a:schemeClr val="tx1">
                    <a:lumMod val="75000"/>
                    <a:lumOff val="25000"/>
                  </a:schemeClr>
                </a:solidFill>
              </a:defRPr>
            </a:lvl4pPr>
            <a:lvl5pPr>
              <a:defRPr lang="en-US" sz="900" dirty="0">
                <a:solidFill>
                  <a:schemeClr val="tx1">
                    <a:lumMod val="75000"/>
                    <a:lumOff val="25000"/>
                  </a:schemeClr>
                </a:solidFill>
              </a:defRPr>
            </a:lvl5pPr>
          </a:lstStyle>
          <a:p>
            <a:pPr marL="0" lvl="0" indent="0">
              <a:lnSpc>
                <a:spcPct val="150000"/>
              </a:lnSpc>
              <a:spcBef>
                <a:spcPts val="750"/>
              </a:spcBef>
              <a:spcAft>
                <a:spcPts val="900"/>
              </a:spcAft>
              <a:buNone/>
            </a:pPr>
            <a:r>
              <a:rPr lang="en-US"/>
              <a:t>Edit Master text styles</a:t>
            </a:r>
          </a:p>
          <a:p>
            <a:pPr marL="0" lvl="1" indent="0">
              <a:lnSpc>
                <a:spcPct val="150000"/>
              </a:lnSpc>
              <a:spcBef>
                <a:spcPts val="750"/>
              </a:spcBef>
              <a:spcAft>
                <a:spcPts val="900"/>
              </a:spcAft>
              <a:buNone/>
            </a:pPr>
            <a:r>
              <a:rPr lang="en-US"/>
              <a:t>Second level</a:t>
            </a:r>
          </a:p>
          <a:p>
            <a:pPr marL="0" lvl="2" indent="0">
              <a:lnSpc>
                <a:spcPct val="150000"/>
              </a:lnSpc>
              <a:spcBef>
                <a:spcPts val="750"/>
              </a:spcBef>
              <a:spcAft>
                <a:spcPts val="900"/>
              </a:spcAft>
              <a:buNone/>
            </a:pPr>
            <a:r>
              <a:rPr lang="en-US"/>
              <a:t>Third level</a:t>
            </a:r>
          </a:p>
          <a:p>
            <a:pPr marL="0" lvl="3" indent="0">
              <a:lnSpc>
                <a:spcPct val="150000"/>
              </a:lnSpc>
              <a:spcBef>
                <a:spcPts val="750"/>
              </a:spcBef>
              <a:spcAft>
                <a:spcPts val="900"/>
              </a:spcAft>
              <a:buNone/>
            </a:pPr>
            <a:r>
              <a:rPr lang="en-US"/>
              <a:t>Fourth level</a:t>
            </a:r>
          </a:p>
          <a:p>
            <a:pPr marL="0" lvl="4" indent="0">
              <a:lnSpc>
                <a:spcPct val="150000"/>
              </a:lnSpc>
              <a:spcBef>
                <a:spcPts val="750"/>
              </a:spcBef>
              <a:spcAft>
                <a:spcPts val="900"/>
              </a:spcAft>
              <a:buNone/>
            </a:pPr>
            <a:r>
              <a:rPr lang="en-US"/>
              <a:t>Fifth level</a:t>
            </a:r>
            <a:endParaRPr lang="en-US" dirty="0"/>
          </a:p>
        </p:txBody>
      </p:sp>
    </p:spTree>
    <p:extLst>
      <p:ext uri="{BB962C8B-B14F-4D97-AF65-F5344CB8AC3E}">
        <p14:creationId xmlns:p14="http://schemas.microsoft.com/office/powerpoint/2010/main" val="228501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192025" y="26517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cxnSp>
        <p:nvCxnSpPr>
          <p:cNvPr id="12" name="Straight Connector 11"/>
          <p:cNvCxnSpPr/>
          <p:nvPr userDrawn="1"/>
        </p:nvCxnSpPr>
        <p:spPr>
          <a:xfrm>
            <a:off x="453326" y="1196392"/>
            <a:ext cx="8237349"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63981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192025" y="26517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cxnSp>
        <p:nvCxnSpPr>
          <p:cNvPr id="12" name="Straight Connector 11"/>
          <p:cNvCxnSpPr/>
          <p:nvPr userDrawn="1"/>
        </p:nvCxnSpPr>
        <p:spPr>
          <a:xfrm>
            <a:off x="453326" y="1196392"/>
            <a:ext cx="8237349"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01774" y="4801396"/>
            <a:ext cx="8740452"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889084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37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C44FEB-68CA-482B-93EC-11DCACAA6176}" type="datetimeFigureOut">
              <a:rPr lang="en-US" smtClean="0"/>
              <a:pPr/>
              <a:t>4/11/2023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2250CD-4191-4B5F-B977-059F6A069C70}" type="slidenum">
              <a:rPr lang="en-US" smtClean="0"/>
              <a:pPr/>
              <a:t>‹#›</a:t>
            </a:fld>
            <a:endParaRPr lang="en-US"/>
          </a:p>
        </p:txBody>
      </p:sp>
    </p:spTree>
    <p:extLst>
      <p:ext uri="{BB962C8B-B14F-4D97-AF65-F5344CB8AC3E}">
        <p14:creationId xmlns:p14="http://schemas.microsoft.com/office/powerpoint/2010/main" val="38264237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192025" y="26517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453326" y="448631"/>
            <a:ext cx="8237349"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744E560-77BF-4D1A-B6E7-CD55CE12B1B8}" type="datetimeFigureOut">
              <a:rPr lang="en-US" smtClean="0"/>
              <a:t>4/11/2023</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453326" y="1196392"/>
            <a:ext cx="8237349"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77424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xStyles>
    <p:titleStyle>
      <a:lvl1pPr algn="l" defTabSz="685800" rtl="1" eaLnBrk="1" latinLnBrk="0" hangingPunct="1">
        <a:lnSpc>
          <a:spcPct val="90000"/>
        </a:lnSpc>
        <a:spcBef>
          <a:spcPct val="0"/>
        </a:spcBef>
        <a:buNone/>
        <a:defRPr lang="en-US" sz="2100" kern="1200">
          <a:solidFill>
            <a:schemeClr val="bg2">
              <a:lumMod val="25000"/>
            </a:schemeClr>
          </a:solidFill>
          <a:latin typeface="+mj-lt"/>
          <a:ea typeface="+mj-ea"/>
          <a:cs typeface="+mj-cs"/>
        </a:defRPr>
      </a:lvl1pPr>
    </p:titleStyle>
    <p:bodyStyle>
      <a:lvl1pPr marL="171450" indent="-171450" algn="r" defTabSz="685800" rtl="1"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r" defTabSz="685800" rtl="1"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r" defTabSz="685800" rtl="1"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6000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5D83E1-8893-C38B-1E3B-19ACFB05AF60}"/>
              </a:ext>
            </a:extLst>
          </p:cNvPr>
          <p:cNvSpPr/>
          <p:nvPr/>
        </p:nvSpPr>
        <p:spPr>
          <a:xfrm>
            <a:off x="1187624" y="1017081"/>
            <a:ext cx="6947127" cy="6537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highlight>
                  <a:srgbClr val="FFFF00"/>
                </a:highlight>
                <a:uLnTx/>
                <a:uFillTx/>
                <a:latin typeface="Segoe UI"/>
                <a:ea typeface="+mn-ea"/>
                <a:cs typeface="+mn-cs"/>
              </a:rPr>
              <a:t>BT233 – General Microbiology Laboratory</a:t>
            </a:r>
            <a:endParaRPr kumimoji="0" lang="en-AE" sz="2800" b="1" i="0" u="none" strike="noStrike" kern="1200" cap="none" spc="0" normalizeH="0" baseline="0" noProof="0" dirty="0">
              <a:ln>
                <a:noFill/>
              </a:ln>
              <a:solidFill>
                <a:srgbClr val="FF0000"/>
              </a:solidFill>
              <a:effectLst/>
              <a:highlight>
                <a:srgbClr val="FFFF00"/>
              </a:highlight>
              <a:uLnTx/>
              <a:uFillTx/>
              <a:latin typeface="Segoe UI"/>
              <a:ea typeface="+mn-ea"/>
              <a:cs typeface="+mn-cs"/>
            </a:endParaRPr>
          </a:p>
        </p:txBody>
      </p:sp>
      <p:sp>
        <p:nvSpPr>
          <p:cNvPr id="7" name="Title 1">
            <a:extLst>
              <a:ext uri="{FF2B5EF4-FFF2-40B4-BE49-F238E27FC236}">
                <a16:creationId xmlns:a16="http://schemas.microsoft.com/office/drawing/2014/main" id="{4D577900-E26E-C1CB-3977-920F2114A124}"/>
              </a:ext>
            </a:extLst>
          </p:cNvPr>
          <p:cNvSpPr txBox="1">
            <a:spLocks/>
          </p:cNvSpPr>
          <p:nvPr/>
        </p:nvSpPr>
        <p:spPr>
          <a:xfrm>
            <a:off x="2090039" y="2176626"/>
            <a:ext cx="4963922" cy="3549804"/>
          </a:xfrm>
          <a:prstGeom prst="rect">
            <a:avLst/>
          </a:prstGeom>
        </p:spPr>
        <p:txBody>
          <a:bodyPr vert="horz" lIns="91440" tIns="0" rIns="91440" bIns="0" rtlCol="0" anchor="t" anchorCtr="0">
            <a:noAutofit/>
          </a:bodyPr>
          <a:lstStyle>
            <a:lvl1pPr algn="l" defTabSz="685800" rtl="1" eaLnBrk="1" latinLnBrk="0" hangingPunct="1">
              <a:lnSpc>
                <a:spcPct val="100000"/>
              </a:lnSpc>
              <a:spcBef>
                <a:spcPct val="0"/>
              </a:spcBef>
              <a:buNone/>
              <a:defRPr lang="en-US" sz="3600" kern="1200" dirty="0">
                <a:solidFill>
                  <a:schemeClr val="bg1"/>
                </a:solidFill>
                <a:latin typeface="+mj-lt"/>
                <a:ea typeface="+mj-ea"/>
                <a:cs typeface="+mj-cs"/>
              </a:defRPr>
            </a:lvl1pPr>
          </a:lstStyle>
          <a:p>
            <a:pPr marL="0" marR="0" lvl="0" indent="0" algn="ctr" defTabSz="685800" rtl="1" eaLnBrk="1" fontAlgn="auto" latinLnBrk="0" hangingPunct="1">
              <a:lnSpc>
                <a:spcPct val="100000"/>
              </a:lnSpc>
              <a:spcBef>
                <a:spcPct val="0"/>
              </a:spcBef>
              <a:spcAft>
                <a:spcPts val="0"/>
              </a:spcAft>
              <a:buClrTx/>
              <a:buSzTx/>
              <a:buFontTx/>
              <a:buNone/>
              <a:tabLst/>
              <a:defRPr/>
            </a:pPr>
            <a:r>
              <a:rPr kumimoji="0" lang="en-US" sz="4800" b="1" i="0" u="none" strike="noStrike" kern="1200" cap="none" spc="0" normalizeH="0" baseline="0" noProof="0" dirty="0">
                <a:ln>
                  <a:noFill/>
                </a:ln>
                <a:solidFill>
                  <a:prstClr val="white"/>
                </a:solidFill>
                <a:effectLst/>
                <a:uLnTx/>
                <a:uFillTx/>
                <a:latin typeface="&amp;quot"/>
                <a:ea typeface="+mj-ea"/>
                <a:cs typeface="+mj-cs"/>
              </a:rPr>
              <a:t>Bacterial Purification and Colony Morphology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FA49738-BB58-40EA-BFEB-9A8C60F8941D}"/>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631319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3AEA67-FBAD-459F-9737-771CF898C427}"/>
              </a:ext>
            </a:extLst>
          </p:cNvPr>
          <p:cNvPicPr>
            <a:picLocks noChangeAspect="1"/>
          </p:cNvPicPr>
          <p:nvPr/>
        </p:nvPicPr>
        <p:blipFill>
          <a:blip r:embed="rId2"/>
          <a:stretch>
            <a:fillRect/>
          </a:stretch>
        </p:blipFill>
        <p:spPr>
          <a:xfrm>
            <a:off x="0" y="11430"/>
            <a:ext cx="9144000" cy="6846569"/>
          </a:xfrm>
          <a:prstGeom prst="rect">
            <a:avLst/>
          </a:prstGeom>
        </p:spPr>
      </p:pic>
    </p:spTree>
    <p:extLst>
      <p:ext uri="{BB962C8B-B14F-4D97-AF65-F5344CB8AC3E}">
        <p14:creationId xmlns:p14="http://schemas.microsoft.com/office/powerpoint/2010/main" val="1201037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 name="Rectangle 55">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57">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59">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975F62E-36DD-47A2-AA73-AE4453C774EF}"/>
              </a:ext>
            </a:extLst>
          </p:cNvPr>
          <p:cNvSpPr>
            <a:spLocks noGrp="1"/>
          </p:cNvSpPr>
          <p:nvPr>
            <p:ph type="title"/>
          </p:nvPr>
        </p:nvSpPr>
        <p:spPr>
          <a:xfrm>
            <a:off x="212021" y="428995"/>
            <a:ext cx="3309016" cy="417365"/>
          </a:xfrm>
        </p:spPr>
        <p:txBody>
          <a:bodyPr vert="horz" lIns="91440" tIns="45720" rIns="91440" bIns="45720" rtlCol="0" anchor="b">
            <a:normAutofit fontScale="90000"/>
          </a:bodyPr>
          <a:lstStyle/>
          <a:p>
            <a:pPr algn="r"/>
            <a:r>
              <a:rPr lang="en-US" sz="2400" b="1" kern="1200" dirty="0">
                <a:solidFill>
                  <a:srgbClr val="FFFFFF"/>
                </a:solidFill>
                <a:latin typeface="+mj-lt"/>
                <a:ea typeface="+mj-ea"/>
                <a:cs typeface="+mj-cs"/>
              </a:rPr>
              <a:t>Bacterial Characteristics</a:t>
            </a:r>
          </a:p>
        </p:txBody>
      </p:sp>
      <p:sp>
        <p:nvSpPr>
          <p:cNvPr id="3" name="Text Placeholder 2">
            <a:extLst>
              <a:ext uri="{FF2B5EF4-FFF2-40B4-BE49-F238E27FC236}">
                <a16:creationId xmlns:a16="http://schemas.microsoft.com/office/drawing/2014/main" id="{7D12ED6F-DE9D-429A-B952-D25224E61D69}"/>
              </a:ext>
            </a:extLst>
          </p:cNvPr>
          <p:cNvSpPr>
            <a:spLocks noGrp="1"/>
          </p:cNvSpPr>
          <p:nvPr>
            <p:ph type="body" idx="1"/>
          </p:nvPr>
        </p:nvSpPr>
        <p:spPr>
          <a:xfrm>
            <a:off x="251162" y="1547447"/>
            <a:ext cx="3552885" cy="4573016"/>
          </a:xfrm>
        </p:spPr>
        <p:txBody>
          <a:bodyPr vert="horz" lIns="91440" tIns="45720" rIns="91440" bIns="45720" rtlCol="0">
            <a:normAutofit/>
          </a:bodyPr>
          <a:lstStyle/>
          <a:p>
            <a:pPr algn="just"/>
            <a:r>
              <a:rPr lang="en-US" sz="2000" kern="1200" dirty="0">
                <a:solidFill>
                  <a:srgbClr val="FFFFFF"/>
                </a:solidFill>
                <a:latin typeface="+mn-lt"/>
                <a:ea typeface="+mn-ea"/>
                <a:cs typeface="+mn-cs"/>
              </a:rPr>
              <a:t>There are two types of bacterial </a:t>
            </a:r>
          </a:p>
          <a:p>
            <a:pPr algn="just"/>
            <a:r>
              <a:rPr lang="en-US" sz="2000" kern="1200" dirty="0">
                <a:solidFill>
                  <a:srgbClr val="FFFFFF"/>
                </a:solidFill>
                <a:latin typeface="+mn-lt"/>
                <a:ea typeface="+mn-ea"/>
                <a:cs typeface="+mn-cs"/>
              </a:rPr>
              <a:t>characteristics:</a:t>
            </a:r>
          </a:p>
          <a:p>
            <a:pPr algn="just"/>
            <a:r>
              <a:rPr lang="en-US" sz="2000" kern="1200" dirty="0">
                <a:solidFill>
                  <a:srgbClr val="FFFFFF"/>
                </a:solidFill>
                <a:latin typeface="+mn-lt"/>
                <a:ea typeface="+mn-ea"/>
                <a:cs typeface="+mn-cs"/>
              </a:rPr>
              <a:t>A- </a:t>
            </a:r>
            <a:r>
              <a:rPr lang="en-US" sz="2000" i="1" u="sng" kern="1200" dirty="0">
                <a:solidFill>
                  <a:srgbClr val="FFFFFF"/>
                </a:solidFill>
                <a:latin typeface="+mn-lt"/>
                <a:ea typeface="+mn-ea"/>
                <a:cs typeface="+mn-cs"/>
              </a:rPr>
              <a:t>Microscopic characters: </a:t>
            </a:r>
            <a:r>
              <a:rPr lang="en-US" sz="2000" kern="1200" dirty="0">
                <a:solidFill>
                  <a:srgbClr val="FFFFFF"/>
                </a:solidFill>
                <a:latin typeface="+mn-lt"/>
                <a:ea typeface="+mn-ea"/>
                <a:cs typeface="+mn-cs"/>
              </a:rPr>
              <a:t>it’s the bacterial morphologies that we can’t see them by the naked eyes(Unaided eyes), these include Shape of bacterial cells and their arrangement as in the behind picture</a:t>
            </a:r>
            <a:r>
              <a:rPr lang="en-US" sz="1000" kern="1200" dirty="0">
                <a:solidFill>
                  <a:srgbClr val="FFFFFF"/>
                </a:solidFill>
                <a:latin typeface="+mn-lt"/>
                <a:ea typeface="+mn-ea"/>
                <a:cs typeface="+mn-cs"/>
              </a:rPr>
              <a:t>.</a:t>
            </a:r>
          </a:p>
        </p:txBody>
      </p:sp>
      <p:pic>
        <p:nvPicPr>
          <p:cNvPr id="5" name="Picture 4" descr="Diagram&#10;&#10;Description automatically generated with low confidence">
            <a:extLst>
              <a:ext uri="{FF2B5EF4-FFF2-40B4-BE49-F238E27FC236}">
                <a16:creationId xmlns:a16="http://schemas.microsoft.com/office/drawing/2014/main" id="{2A0DB2F7-C616-45F0-B1B2-5E84A1EE1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5018" y="10140"/>
            <a:ext cx="4888407" cy="6860923"/>
          </a:xfrm>
          <a:prstGeom prst="rect">
            <a:avLst/>
          </a:prstGeom>
        </p:spPr>
      </p:pic>
    </p:spTree>
    <p:extLst>
      <p:ext uri="{BB962C8B-B14F-4D97-AF65-F5344CB8AC3E}">
        <p14:creationId xmlns:p14="http://schemas.microsoft.com/office/powerpoint/2010/main" val="4073040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 name="Rectangle 55">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57">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ectangle 59">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 name="Rectangle 63">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975F62E-36DD-47A2-AA73-AE4453C774EF}"/>
              </a:ext>
            </a:extLst>
          </p:cNvPr>
          <p:cNvSpPr>
            <a:spLocks noGrp="1"/>
          </p:cNvSpPr>
          <p:nvPr>
            <p:ph type="title"/>
          </p:nvPr>
        </p:nvSpPr>
        <p:spPr>
          <a:xfrm>
            <a:off x="212021" y="428995"/>
            <a:ext cx="3309016" cy="417365"/>
          </a:xfrm>
        </p:spPr>
        <p:txBody>
          <a:bodyPr vert="horz" lIns="91440" tIns="45720" rIns="91440" bIns="45720" rtlCol="0" anchor="b">
            <a:normAutofit fontScale="90000"/>
          </a:bodyPr>
          <a:lstStyle/>
          <a:p>
            <a:pPr algn="r"/>
            <a:r>
              <a:rPr lang="en-US" sz="2400" b="1" kern="1200" dirty="0">
                <a:solidFill>
                  <a:srgbClr val="FFFFFF"/>
                </a:solidFill>
                <a:latin typeface="+mj-lt"/>
                <a:ea typeface="+mj-ea"/>
                <a:cs typeface="+mj-cs"/>
              </a:rPr>
              <a:t>Bacterial Characteristics</a:t>
            </a:r>
          </a:p>
        </p:txBody>
      </p:sp>
      <p:sp>
        <p:nvSpPr>
          <p:cNvPr id="3" name="Text Placeholder 2">
            <a:extLst>
              <a:ext uri="{FF2B5EF4-FFF2-40B4-BE49-F238E27FC236}">
                <a16:creationId xmlns:a16="http://schemas.microsoft.com/office/drawing/2014/main" id="{7D12ED6F-DE9D-429A-B952-D25224E61D69}"/>
              </a:ext>
            </a:extLst>
          </p:cNvPr>
          <p:cNvSpPr>
            <a:spLocks noGrp="1"/>
          </p:cNvSpPr>
          <p:nvPr>
            <p:ph type="body" idx="1"/>
          </p:nvPr>
        </p:nvSpPr>
        <p:spPr>
          <a:xfrm>
            <a:off x="251162" y="1547447"/>
            <a:ext cx="3552885" cy="4573016"/>
          </a:xfrm>
        </p:spPr>
        <p:txBody>
          <a:bodyPr vert="horz" lIns="91440" tIns="45720" rIns="91440" bIns="45720" rtlCol="0">
            <a:normAutofit/>
          </a:bodyPr>
          <a:lstStyle/>
          <a:p>
            <a:pPr algn="just"/>
            <a:endParaRPr lang="en-US" sz="2000" kern="1200" dirty="0">
              <a:solidFill>
                <a:srgbClr val="FFFFFF"/>
              </a:solidFill>
              <a:latin typeface="+mn-lt"/>
              <a:ea typeface="+mn-ea"/>
              <a:cs typeface="+mn-cs"/>
            </a:endParaRPr>
          </a:p>
          <a:p>
            <a:pPr algn="just"/>
            <a:r>
              <a:rPr lang="en-US" sz="2000" kern="1200" dirty="0">
                <a:solidFill>
                  <a:srgbClr val="FFFFFF"/>
                </a:solidFill>
                <a:latin typeface="+mn-lt"/>
                <a:ea typeface="+mn-ea"/>
                <a:cs typeface="+mn-cs"/>
              </a:rPr>
              <a:t>B- </a:t>
            </a:r>
            <a:r>
              <a:rPr lang="en-US" sz="2000" i="1" u="sng" kern="1200" dirty="0">
                <a:solidFill>
                  <a:srgbClr val="FFFFFF"/>
                </a:solidFill>
                <a:latin typeface="+mn-lt"/>
                <a:ea typeface="+mn-ea"/>
                <a:cs typeface="+mn-cs"/>
              </a:rPr>
              <a:t>Macroscopic characters: </a:t>
            </a:r>
            <a:r>
              <a:rPr lang="en-US" sz="2000" kern="1200" dirty="0">
                <a:solidFill>
                  <a:srgbClr val="FFFFFF"/>
                </a:solidFill>
                <a:latin typeface="+mn-lt"/>
                <a:ea typeface="+mn-ea"/>
                <a:cs typeface="+mn-cs"/>
              </a:rPr>
              <a:t>it’s the bacterial morphology that we can see them by the naked eyes(Unaided eyes), this includes:</a:t>
            </a:r>
          </a:p>
          <a:p>
            <a:pPr marL="233363" indent="-233363" algn="just">
              <a:buFont typeface="+mj-lt"/>
              <a:buAutoNum type="romanUcPeriod"/>
            </a:pPr>
            <a:r>
              <a:rPr lang="en-US" sz="2000" kern="1200" dirty="0">
                <a:solidFill>
                  <a:srgbClr val="FFFFFF"/>
                </a:solidFill>
                <a:latin typeface="+mn-lt"/>
                <a:ea typeface="+mn-ea"/>
                <a:cs typeface="+mn-cs"/>
              </a:rPr>
              <a:t>Colony morphology</a:t>
            </a:r>
          </a:p>
          <a:p>
            <a:pPr marL="233363" indent="-233363" algn="just">
              <a:buFont typeface="+mj-lt"/>
              <a:buAutoNum type="romanUcPeriod"/>
            </a:pPr>
            <a:endParaRPr lang="en-US" sz="2000" dirty="0">
              <a:solidFill>
                <a:srgbClr val="FFFFFF"/>
              </a:solidFill>
            </a:endParaRPr>
          </a:p>
          <a:p>
            <a:pPr marL="233363" indent="-233363" algn="just">
              <a:buFont typeface="+mj-lt"/>
              <a:buAutoNum type="romanUcPeriod"/>
            </a:pPr>
            <a:r>
              <a:rPr lang="en-US" sz="2000" dirty="0">
                <a:solidFill>
                  <a:srgbClr val="FFFFFF"/>
                </a:solidFill>
              </a:rPr>
              <a:t>Bacterial Growth morphology</a:t>
            </a:r>
            <a:r>
              <a:rPr lang="en-US" sz="1000" kern="1200" dirty="0">
                <a:solidFill>
                  <a:srgbClr val="FFFFFF"/>
                </a:solidFill>
                <a:latin typeface="+mn-lt"/>
                <a:ea typeface="+mn-ea"/>
                <a:cs typeface="+mn-cs"/>
              </a:rPr>
              <a:t>.</a:t>
            </a:r>
          </a:p>
        </p:txBody>
      </p:sp>
      <p:pic>
        <p:nvPicPr>
          <p:cNvPr id="6" name="Picture 5" descr="Background pattern&#10;&#10;Description automatically generated">
            <a:extLst>
              <a:ext uri="{FF2B5EF4-FFF2-40B4-BE49-F238E27FC236}">
                <a16:creationId xmlns:a16="http://schemas.microsoft.com/office/drawing/2014/main" id="{321BC707-53C3-4124-B669-4AACB64219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2078" y="10141"/>
            <a:ext cx="4926595" cy="6847859"/>
          </a:xfrm>
          <a:prstGeom prst="rect">
            <a:avLst/>
          </a:prstGeom>
        </p:spPr>
      </p:pic>
    </p:spTree>
    <p:extLst>
      <p:ext uri="{BB962C8B-B14F-4D97-AF65-F5344CB8AC3E}">
        <p14:creationId xmlns:p14="http://schemas.microsoft.com/office/powerpoint/2010/main" val="812340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BB96FB-CCA1-43D6-9CA1-3EBEB23C5CCA}"/>
              </a:ext>
            </a:extLst>
          </p:cNvPr>
          <p:cNvPicPr>
            <a:picLocks noChangeAspect="1"/>
          </p:cNvPicPr>
          <p:nvPr/>
        </p:nvPicPr>
        <p:blipFill>
          <a:blip r:embed="rId2"/>
          <a:stretch>
            <a:fillRect/>
          </a:stretch>
        </p:blipFill>
        <p:spPr>
          <a:xfrm>
            <a:off x="370713" y="-1646613"/>
            <a:ext cx="8904849" cy="6759526"/>
          </a:xfrm>
          <a:prstGeom prst="rect">
            <a:avLst/>
          </a:prstGeom>
        </p:spPr>
      </p:pic>
    </p:spTree>
    <p:extLst>
      <p:ext uri="{BB962C8B-B14F-4D97-AF65-F5344CB8AC3E}">
        <p14:creationId xmlns:p14="http://schemas.microsoft.com/office/powerpoint/2010/main" val="4280100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9D6477-0F5A-4805-89E1-0DE901210F6E}"/>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4117248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with medium confidence">
            <a:extLst>
              <a:ext uri="{FF2B5EF4-FFF2-40B4-BE49-F238E27FC236}">
                <a16:creationId xmlns:a16="http://schemas.microsoft.com/office/drawing/2014/main" id="{FE553005-374F-4AEE-B89A-DC9F5AEFC4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49715" cy="6858000"/>
          </a:xfrm>
          <a:prstGeom prst="rect">
            <a:avLst/>
          </a:prstGeom>
        </p:spPr>
      </p:pic>
    </p:spTree>
    <p:extLst>
      <p:ext uri="{BB962C8B-B14F-4D97-AF65-F5344CB8AC3E}">
        <p14:creationId xmlns:p14="http://schemas.microsoft.com/office/powerpoint/2010/main" val="775362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hape, circle&#10;&#10;Description automatically generated">
            <a:extLst>
              <a:ext uri="{FF2B5EF4-FFF2-40B4-BE49-F238E27FC236}">
                <a16:creationId xmlns:a16="http://schemas.microsoft.com/office/drawing/2014/main" id="{7F6286A3-99E8-44B0-B0FD-81390322D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161"/>
            <a:ext cx="9144000" cy="6739677"/>
          </a:xfrm>
          <a:prstGeom prst="rect">
            <a:avLst/>
          </a:prstGeom>
        </p:spPr>
      </p:pic>
    </p:spTree>
    <p:extLst>
      <p:ext uri="{BB962C8B-B14F-4D97-AF65-F5344CB8AC3E}">
        <p14:creationId xmlns:p14="http://schemas.microsoft.com/office/powerpoint/2010/main" val="2357310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F343D44C-753B-4CDF-8349-30B4300335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03897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460B7E9-E7A7-4FB3-9219-563C83179C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30780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F419A9-396D-480F-8E4F-63BEC33A5826}"/>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414734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1220E8-83E0-4E99-98B2-C8AF082B8F4A}"/>
              </a:ext>
            </a:extLst>
          </p:cNvPr>
          <p:cNvPicPr>
            <a:picLocks noChangeAspect="1"/>
          </p:cNvPicPr>
          <p:nvPr/>
        </p:nvPicPr>
        <p:blipFill>
          <a:blip r:embed="rId2"/>
          <a:stretch>
            <a:fillRect/>
          </a:stretch>
        </p:blipFill>
        <p:spPr>
          <a:xfrm>
            <a:off x="47391" y="0"/>
            <a:ext cx="9096609" cy="6858000"/>
          </a:xfrm>
          <a:prstGeom prst="rect">
            <a:avLst/>
          </a:prstGeom>
        </p:spPr>
      </p:pic>
    </p:spTree>
    <p:extLst>
      <p:ext uri="{BB962C8B-B14F-4D97-AF65-F5344CB8AC3E}">
        <p14:creationId xmlns:p14="http://schemas.microsoft.com/office/powerpoint/2010/main" val="2070002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CFBC7044-36F2-40A2-AB27-A2C015AD16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7999"/>
          </a:xfrm>
          <a:prstGeom prst="rect">
            <a:avLst/>
          </a:prstGeom>
        </p:spPr>
      </p:pic>
    </p:spTree>
    <p:extLst>
      <p:ext uri="{BB962C8B-B14F-4D97-AF65-F5344CB8AC3E}">
        <p14:creationId xmlns:p14="http://schemas.microsoft.com/office/powerpoint/2010/main" val="2557276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5A2FDD-7534-4C60-AE8D-186AF68D42E4}"/>
              </a:ext>
            </a:extLst>
          </p:cNvPr>
          <p:cNvPicPr>
            <a:picLocks noChangeAspect="1"/>
          </p:cNvPicPr>
          <p:nvPr/>
        </p:nvPicPr>
        <p:blipFill>
          <a:blip r:embed="rId2"/>
          <a:stretch>
            <a:fillRect/>
          </a:stretch>
        </p:blipFill>
        <p:spPr>
          <a:xfrm>
            <a:off x="1" y="0"/>
            <a:ext cx="9144000" cy="6963508"/>
          </a:xfrm>
          <a:prstGeom prst="rect">
            <a:avLst/>
          </a:prstGeom>
        </p:spPr>
      </p:pic>
    </p:spTree>
    <p:extLst>
      <p:ext uri="{BB962C8B-B14F-4D97-AF65-F5344CB8AC3E}">
        <p14:creationId xmlns:p14="http://schemas.microsoft.com/office/powerpoint/2010/main" val="2521589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3B5499-F89F-4E9E-9F64-B27BA1836102}"/>
              </a:ext>
            </a:extLst>
          </p:cNvPr>
          <p:cNvSpPr>
            <a:spLocks noGrp="1"/>
          </p:cNvSpPr>
          <p:nvPr>
            <p:ph type="title"/>
          </p:nvPr>
        </p:nvSpPr>
        <p:spPr>
          <a:xfrm>
            <a:off x="630936" y="548640"/>
            <a:ext cx="2700645" cy="5431536"/>
          </a:xfrm>
        </p:spPr>
        <p:txBody>
          <a:bodyPr>
            <a:normAutofit/>
          </a:bodyPr>
          <a:lstStyle/>
          <a:p>
            <a:r>
              <a:rPr lang="en-US" sz="4700" b="1"/>
              <a:t>Surface streaking methods</a:t>
            </a:r>
          </a:p>
        </p:txBody>
      </p:sp>
      <p:sp>
        <p:nvSpPr>
          <p:cNvPr id="5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 name="connsiteX0" fmla="*/ 0 w 4480560"/>
              <a:gd name="connsiteY0" fmla="*/ 0 h 13716"/>
              <a:gd name="connsiteX1" fmla="*/ 595274 w 4480560"/>
              <a:gd name="connsiteY1" fmla="*/ 0 h 13716"/>
              <a:gd name="connsiteX2" fmla="*/ 1100938 w 4480560"/>
              <a:gd name="connsiteY2" fmla="*/ 0 h 13716"/>
              <a:gd name="connsiteX3" fmla="*/ 1830629 w 4480560"/>
              <a:gd name="connsiteY3" fmla="*/ 0 h 13716"/>
              <a:gd name="connsiteX4" fmla="*/ 2425903 w 4480560"/>
              <a:gd name="connsiteY4" fmla="*/ 0 h 13716"/>
              <a:gd name="connsiteX5" fmla="*/ 3021178 w 4480560"/>
              <a:gd name="connsiteY5" fmla="*/ 0 h 13716"/>
              <a:gd name="connsiteX6" fmla="*/ 3750869 w 4480560"/>
              <a:gd name="connsiteY6" fmla="*/ 0 h 13716"/>
              <a:gd name="connsiteX7" fmla="*/ 4480560 w 4480560"/>
              <a:gd name="connsiteY7" fmla="*/ 0 h 13716"/>
              <a:gd name="connsiteX8" fmla="*/ 4480560 w 4480560"/>
              <a:gd name="connsiteY8" fmla="*/ 13716 h 13716"/>
              <a:gd name="connsiteX9" fmla="*/ 3930091 w 4480560"/>
              <a:gd name="connsiteY9" fmla="*/ 13716 h 13716"/>
              <a:gd name="connsiteX10" fmla="*/ 3290011 w 4480560"/>
              <a:gd name="connsiteY10" fmla="*/ 13716 h 13716"/>
              <a:gd name="connsiteX11" fmla="*/ 2649931 w 4480560"/>
              <a:gd name="connsiteY11" fmla="*/ 13716 h 13716"/>
              <a:gd name="connsiteX12" fmla="*/ 2054657 w 4480560"/>
              <a:gd name="connsiteY12" fmla="*/ 13716 h 13716"/>
              <a:gd name="connsiteX13" fmla="*/ 1324966 w 4480560"/>
              <a:gd name="connsiteY13" fmla="*/ 13716 h 13716"/>
              <a:gd name="connsiteX14" fmla="*/ 595274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574" y="14606"/>
                  <a:pt x="338605" y="-40"/>
                  <a:pt x="595274" y="0"/>
                </a:cubicBezTo>
                <a:cubicBezTo>
                  <a:pt x="856171" y="-2198"/>
                  <a:pt x="863435" y="-13333"/>
                  <a:pt x="1100938" y="0"/>
                </a:cubicBezTo>
                <a:cubicBezTo>
                  <a:pt x="1340270" y="17713"/>
                  <a:pt x="1418448" y="-18893"/>
                  <a:pt x="1651406" y="0"/>
                </a:cubicBezTo>
                <a:cubicBezTo>
                  <a:pt x="1875387" y="1627"/>
                  <a:pt x="2153037" y="22688"/>
                  <a:pt x="2336292" y="0"/>
                </a:cubicBezTo>
                <a:cubicBezTo>
                  <a:pt x="2522206" y="-4211"/>
                  <a:pt x="2718333" y="34959"/>
                  <a:pt x="2931566" y="0"/>
                </a:cubicBezTo>
                <a:cubicBezTo>
                  <a:pt x="3137043" y="-17106"/>
                  <a:pt x="3304331" y="1415"/>
                  <a:pt x="3482035" y="0"/>
                </a:cubicBezTo>
                <a:cubicBezTo>
                  <a:pt x="3649837" y="-24078"/>
                  <a:pt x="4010577" y="-51921"/>
                  <a:pt x="4480560" y="0"/>
                </a:cubicBezTo>
                <a:cubicBezTo>
                  <a:pt x="4480642" y="3611"/>
                  <a:pt x="4480510" y="9346"/>
                  <a:pt x="4480560" y="13716"/>
                </a:cubicBezTo>
                <a:cubicBezTo>
                  <a:pt x="4305601" y="36948"/>
                  <a:pt x="4025154" y="21890"/>
                  <a:pt x="3840480" y="13716"/>
                </a:cubicBezTo>
                <a:cubicBezTo>
                  <a:pt x="3668919" y="-16903"/>
                  <a:pt x="3556555" y="-17246"/>
                  <a:pt x="3290011" y="13716"/>
                </a:cubicBezTo>
                <a:cubicBezTo>
                  <a:pt x="2991827" y="13600"/>
                  <a:pt x="2862038" y="-27094"/>
                  <a:pt x="2560320" y="13716"/>
                </a:cubicBezTo>
                <a:cubicBezTo>
                  <a:pt x="2273396" y="32804"/>
                  <a:pt x="2159701" y="35426"/>
                  <a:pt x="1965046" y="13716"/>
                </a:cubicBezTo>
                <a:cubicBezTo>
                  <a:pt x="1785994" y="24616"/>
                  <a:pt x="1686680" y="47748"/>
                  <a:pt x="1459382" y="13716"/>
                </a:cubicBezTo>
                <a:cubicBezTo>
                  <a:pt x="1260610" y="398"/>
                  <a:pt x="913962" y="26960"/>
                  <a:pt x="774497" y="13716"/>
                </a:cubicBezTo>
                <a:cubicBezTo>
                  <a:pt x="689426" y="-2719"/>
                  <a:pt x="378264" y="1751"/>
                  <a:pt x="0" y="13716"/>
                </a:cubicBezTo>
                <a:cubicBezTo>
                  <a:pt x="-173" y="8371"/>
                  <a:pt x="-387" y="6213"/>
                  <a:pt x="0" y="0"/>
                </a:cubicBezTo>
                <a:close/>
              </a:path>
              <a:path w="4480560" h="13716" stroke="0" extrusionOk="0">
                <a:moveTo>
                  <a:pt x="0" y="0"/>
                </a:moveTo>
                <a:cubicBezTo>
                  <a:pt x="290844" y="5546"/>
                  <a:pt x="318443" y="10543"/>
                  <a:pt x="595274" y="0"/>
                </a:cubicBezTo>
                <a:cubicBezTo>
                  <a:pt x="862223" y="-10630"/>
                  <a:pt x="1008164" y="-6970"/>
                  <a:pt x="1100938" y="0"/>
                </a:cubicBezTo>
                <a:cubicBezTo>
                  <a:pt x="1231751" y="-9052"/>
                  <a:pt x="1563421" y="-55931"/>
                  <a:pt x="1830629" y="0"/>
                </a:cubicBezTo>
                <a:cubicBezTo>
                  <a:pt x="2081843" y="38764"/>
                  <a:pt x="2181743" y="16966"/>
                  <a:pt x="2425903" y="0"/>
                </a:cubicBezTo>
                <a:cubicBezTo>
                  <a:pt x="2657412" y="-20059"/>
                  <a:pt x="2795431" y="8423"/>
                  <a:pt x="3021178" y="0"/>
                </a:cubicBezTo>
                <a:cubicBezTo>
                  <a:pt x="3275119" y="-4749"/>
                  <a:pt x="3480943" y="2522"/>
                  <a:pt x="3750869" y="0"/>
                </a:cubicBezTo>
                <a:cubicBezTo>
                  <a:pt x="4005211" y="16055"/>
                  <a:pt x="4302144" y="-2969"/>
                  <a:pt x="4480560" y="0"/>
                </a:cubicBezTo>
                <a:cubicBezTo>
                  <a:pt x="4480397" y="3458"/>
                  <a:pt x="4481383" y="8632"/>
                  <a:pt x="4480560" y="13716"/>
                </a:cubicBezTo>
                <a:cubicBezTo>
                  <a:pt x="4261480" y="-10003"/>
                  <a:pt x="4206199" y="28529"/>
                  <a:pt x="3930091" y="13716"/>
                </a:cubicBezTo>
                <a:cubicBezTo>
                  <a:pt x="3666932" y="-15474"/>
                  <a:pt x="3493645" y="14804"/>
                  <a:pt x="3290011" y="13716"/>
                </a:cubicBezTo>
                <a:cubicBezTo>
                  <a:pt x="3137078" y="-41032"/>
                  <a:pt x="2894690" y="-17948"/>
                  <a:pt x="2649931" y="13716"/>
                </a:cubicBezTo>
                <a:cubicBezTo>
                  <a:pt x="2413020" y="21294"/>
                  <a:pt x="2225991" y="-10559"/>
                  <a:pt x="2054657" y="13716"/>
                </a:cubicBezTo>
                <a:cubicBezTo>
                  <a:pt x="1886877" y="37541"/>
                  <a:pt x="1548763" y="45390"/>
                  <a:pt x="1324966" y="13716"/>
                </a:cubicBezTo>
                <a:cubicBezTo>
                  <a:pt x="1040995" y="1897"/>
                  <a:pt x="786929" y="-17655"/>
                  <a:pt x="595274" y="13716"/>
                </a:cubicBezTo>
                <a:cubicBezTo>
                  <a:pt x="371401" y="32831"/>
                  <a:pt x="168483" y="23167"/>
                  <a:pt x="0" y="13716"/>
                </a:cubicBezTo>
                <a:cubicBezTo>
                  <a:pt x="-740" y="8467"/>
                  <a:pt x="-279" y="4434"/>
                  <a:pt x="0" y="0"/>
                </a:cubicBezTo>
                <a:close/>
              </a:path>
              <a:path w="4480560" h="13716" fill="none" stroke="0" extrusionOk="0">
                <a:moveTo>
                  <a:pt x="0" y="0"/>
                </a:moveTo>
                <a:cubicBezTo>
                  <a:pt x="254633" y="596"/>
                  <a:pt x="318854" y="8353"/>
                  <a:pt x="595274" y="0"/>
                </a:cubicBezTo>
                <a:cubicBezTo>
                  <a:pt x="857042" y="-2503"/>
                  <a:pt x="863005" y="-13327"/>
                  <a:pt x="1100938" y="0"/>
                </a:cubicBezTo>
                <a:cubicBezTo>
                  <a:pt x="1322315" y="28736"/>
                  <a:pt x="1429801" y="-15572"/>
                  <a:pt x="1651406" y="0"/>
                </a:cubicBezTo>
                <a:cubicBezTo>
                  <a:pt x="1861310" y="20479"/>
                  <a:pt x="2199002" y="36173"/>
                  <a:pt x="2336292" y="0"/>
                </a:cubicBezTo>
                <a:cubicBezTo>
                  <a:pt x="2504451" y="-23230"/>
                  <a:pt x="2735943" y="-3451"/>
                  <a:pt x="2931566" y="0"/>
                </a:cubicBezTo>
                <a:cubicBezTo>
                  <a:pt x="3109081" y="-33272"/>
                  <a:pt x="3310374" y="39503"/>
                  <a:pt x="3482035" y="0"/>
                </a:cubicBezTo>
                <a:cubicBezTo>
                  <a:pt x="3630968" y="-117346"/>
                  <a:pt x="3975789" y="30358"/>
                  <a:pt x="4480560" y="0"/>
                </a:cubicBezTo>
                <a:cubicBezTo>
                  <a:pt x="4480546" y="3532"/>
                  <a:pt x="4481771" y="9530"/>
                  <a:pt x="4480560" y="13716"/>
                </a:cubicBezTo>
                <a:cubicBezTo>
                  <a:pt x="4299745" y="8025"/>
                  <a:pt x="4055484" y="54224"/>
                  <a:pt x="3840480" y="13716"/>
                </a:cubicBezTo>
                <a:cubicBezTo>
                  <a:pt x="3665362" y="14404"/>
                  <a:pt x="3548412" y="6532"/>
                  <a:pt x="3290011" y="13716"/>
                </a:cubicBezTo>
                <a:cubicBezTo>
                  <a:pt x="3037450" y="36923"/>
                  <a:pt x="2862123" y="43167"/>
                  <a:pt x="2560320" y="13716"/>
                </a:cubicBezTo>
                <a:cubicBezTo>
                  <a:pt x="2308793" y="7156"/>
                  <a:pt x="2153402" y="-25971"/>
                  <a:pt x="1965046" y="13716"/>
                </a:cubicBezTo>
                <a:cubicBezTo>
                  <a:pt x="1778601" y="25944"/>
                  <a:pt x="1672011" y="23840"/>
                  <a:pt x="1459382" y="13716"/>
                </a:cubicBezTo>
                <a:cubicBezTo>
                  <a:pt x="1212351" y="-9856"/>
                  <a:pt x="906131" y="12859"/>
                  <a:pt x="774497" y="13716"/>
                </a:cubicBezTo>
                <a:cubicBezTo>
                  <a:pt x="636671" y="-47283"/>
                  <a:pt x="331670" y="1705"/>
                  <a:pt x="0" y="13716"/>
                </a:cubicBezTo>
                <a:cubicBezTo>
                  <a:pt x="-561" y="8546"/>
                  <a:pt x="-377" y="61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4C2AB8-5BE2-46A5-80DC-AB018C4DD216}"/>
              </a:ext>
            </a:extLst>
          </p:cNvPr>
          <p:cNvSpPr>
            <a:spLocks noGrp="1"/>
          </p:cNvSpPr>
          <p:nvPr>
            <p:ph idx="1"/>
          </p:nvPr>
        </p:nvSpPr>
        <p:spPr>
          <a:xfrm>
            <a:off x="3755723" y="552091"/>
            <a:ext cx="5163545" cy="5431536"/>
          </a:xfrm>
        </p:spPr>
        <p:txBody>
          <a:bodyPr anchor="ctr">
            <a:normAutofit/>
          </a:bodyPr>
          <a:lstStyle/>
          <a:p>
            <a:pPr marL="0" indent="0">
              <a:buNone/>
            </a:pPr>
            <a:r>
              <a:rPr lang="en-US" sz="2400" dirty="0"/>
              <a:t>There are four different streaking methods for purification of bacteria, </a:t>
            </a:r>
          </a:p>
          <a:p>
            <a:pPr marL="0" indent="0">
              <a:buNone/>
            </a:pPr>
            <a:r>
              <a:rPr lang="en-US" sz="2400" dirty="0"/>
              <a:t>these are:</a:t>
            </a:r>
          </a:p>
          <a:p>
            <a:pPr marL="168275" indent="-168275">
              <a:buFont typeface="+mj-lt"/>
              <a:buAutoNum type="romanUcPeriod"/>
            </a:pPr>
            <a:r>
              <a:rPr lang="en-US" sz="3200" dirty="0"/>
              <a:t>  </a:t>
            </a:r>
            <a:r>
              <a:rPr lang="en-US" sz="3200" dirty="0">
                <a:solidFill>
                  <a:srgbClr val="FF0000"/>
                </a:solidFill>
              </a:rPr>
              <a:t>Quadrant method</a:t>
            </a:r>
          </a:p>
          <a:p>
            <a:pPr marL="168275" indent="-168275">
              <a:buFont typeface="+mj-lt"/>
              <a:buAutoNum type="romanUcPeriod"/>
            </a:pPr>
            <a:r>
              <a:rPr lang="en-US" sz="3200" dirty="0"/>
              <a:t> </a:t>
            </a:r>
            <a:r>
              <a:rPr lang="en-US" sz="3200" dirty="0">
                <a:solidFill>
                  <a:srgbClr val="FF0000"/>
                </a:solidFill>
              </a:rPr>
              <a:t>T- Streaking</a:t>
            </a:r>
          </a:p>
          <a:p>
            <a:pPr marL="168275" indent="-168275">
              <a:buFont typeface="+mj-lt"/>
              <a:buAutoNum type="romanUcPeriod"/>
            </a:pPr>
            <a:r>
              <a:rPr lang="en-US" sz="3200" dirty="0"/>
              <a:t> </a:t>
            </a:r>
            <a:r>
              <a:rPr lang="en-US" sz="3200" dirty="0">
                <a:solidFill>
                  <a:srgbClr val="FF0000"/>
                </a:solidFill>
              </a:rPr>
              <a:t>Radiant streaking</a:t>
            </a:r>
          </a:p>
          <a:p>
            <a:pPr marL="168275" indent="-168275">
              <a:buFont typeface="+mj-lt"/>
              <a:buAutoNum type="romanUcPeriod"/>
            </a:pPr>
            <a:r>
              <a:rPr lang="en-US" sz="3200" dirty="0"/>
              <a:t> </a:t>
            </a:r>
            <a:r>
              <a:rPr lang="en-US" sz="3200" dirty="0">
                <a:solidFill>
                  <a:srgbClr val="FF0000"/>
                </a:solidFill>
              </a:rPr>
              <a:t>Continuous streaking</a:t>
            </a:r>
          </a:p>
          <a:p>
            <a:pPr marL="0" indent="0">
              <a:buNone/>
            </a:pPr>
            <a:endParaRPr lang="en-US" sz="1900" dirty="0"/>
          </a:p>
        </p:txBody>
      </p:sp>
    </p:spTree>
    <p:extLst>
      <p:ext uri="{BB962C8B-B14F-4D97-AF65-F5344CB8AC3E}">
        <p14:creationId xmlns:p14="http://schemas.microsoft.com/office/powerpoint/2010/main" val="3743948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0E7583-D662-47FA-89D2-D0DFE9499331}"/>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marL="168275" indent="-168275" algn="ctr">
              <a:buFont typeface="+mj-lt"/>
              <a:buAutoNum type="romanUcPeriod"/>
            </a:pPr>
            <a:r>
              <a:rPr lang="en-US" sz="2800" b="1" dirty="0">
                <a:solidFill>
                  <a:schemeClr val="bg1"/>
                </a:solidFill>
              </a:rPr>
              <a:t> Quadrant method:</a:t>
            </a:r>
          </a:p>
        </p:txBody>
      </p:sp>
      <p:pic>
        <p:nvPicPr>
          <p:cNvPr id="4" name="Picture 3">
            <a:extLst>
              <a:ext uri="{FF2B5EF4-FFF2-40B4-BE49-F238E27FC236}">
                <a16:creationId xmlns:a16="http://schemas.microsoft.com/office/drawing/2014/main" id="{45FEDCB5-C29E-49DE-96AE-08AE671DA82D}"/>
              </a:ext>
            </a:extLst>
          </p:cNvPr>
          <p:cNvPicPr>
            <a:picLocks noChangeAspect="1"/>
          </p:cNvPicPr>
          <p:nvPr/>
        </p:nvPicPr>
        <p:blipFill>
          <a:blip r:embed="rId2"/>
          <a:stretch>
            <a:fillRect/>
          </a:stretch>
        </p:blipFill>
        <p:spPr>
          <a:xfrm>
            <a:off x="126609" y="1396588"/>
            <a:ext cx="9017391" cy="5461412"/>
          </a:xfrm>
          <a:prstGeom prst="rect">
            <a:avLst/>
          </a:prstGeom>
        </p:spPr>
      </p:pic>
    </p:spTree>
    <p:extLst>
      <p:ext uri="{BB962C8B-B14F-4D97-AF65-F5344CB8AC3E}">
        <p14:creationId xmlns:p14="http://schemas.microsoft.com/office/powerpoint/2010/main" val="3783122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E7583-D662-47FA-89D2-D0DFE9499331}"/>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marL="857250" indent="-688975" algn="ctr"/>
            <a:r>
              <a:rPr lang="en-US" sz="2800" b="1" kern="1200" dirty="0">
                <a:solidFill>
                  <a:schemeClr val="bg1"/>
                </a:solidFill>
                <a:latin typeface="+mj-lt"/>
                <a:ea typeface="+mj-ea"/>
                <a:cs typeface="+mj-cs"/>
              </a:rPr>
              <a:t>T - Streaking</a:t>
            </a:r>
          </a:p>
        </p:txBody>
      </p:sp>
      <p:pic>
        <p:nvPicPr>
          <p:cNvPr id="5" name="Content Placeholder 4" descr="Text&#10;&#10;Description automatically generated">
            <a:extLst>
              <a:ext uri="{FF2B5EF4-FFF2-40B4-BE49-F238E27FC236}">
                <a16:creationId xmlns:a16="http://schemas.microsoft.com/office/drawing/2014/main" id="{66A2F58E-315C-415C-AF25-06695E5511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96588"/>
            <a:ext cx="9144000" cy="5461411"/>
          </a:xfrm>
          <a:prstGeom prst="rect">
            <a:avLst/>
          </a:prstGeom>
        </p:spPr>
      </p:pic>
    </p:spTree>
    <p:extLst>
      <p:ext uri="{BB962C8B-B14F-4D97-AF65-F5344CB8AC3E}">
        <p14:creationId xmlns:p14="http://schemas.microsoft.com/office/powerpoint/2010/main" val="2579957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8A30E-80C7-41E6-B6A0-50AEBF6C2711}"/>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marL="688975" indent="-463550" algn="ctr"/>
            <a:r>
              <a:rPr lang="en-US" sz="2800" kern="1200">
                <a:solidFill>
                  <a:schemeClr val="bg1"/>
                </a:solidFill>
                <a:latin typeface="+mj-lt"/>
                <a:ea typeface="+mj-ea"/>
                <a:cs typeface="+mj-cs"/>
              </a:rPr>
              <a:t> </a:t>
            </a:r>
            <a:r>
              <a:rPr lang="en-US" sz="2800" b="1" kern="1200">
                <a:solidFill>
                  <a:schemeClr val="bg1"/>
                </a:solidFill>
                <a:latin typeface="+mj-lt"/>
                <a:ea typeface="+mj-ea"/>
                <a:cs typeface="+mj-cs"/>
              </a:rPr>
              <a:t>Radiant streaking</a:t>
            </a:r>
          </a:p>
        </p:txBody>
      </p:sp>
      <p:pic>
        <p:nvPicPr>
          <p:cNvPr id="5" name="Picture 4">
            <a:extLst>
              <a:ext uri="{FF2B5EF4-FFF2-40B4-BE49-F238E27FC236}">
                <a16:creationId xmlns:a16="http://schemas.microsoft.com/office/drawing/2014/main" id="{E7C07181-738B-43A6-9A49-60F315A0CA7B}"/>
              </a:ext>
            </a:extLst>
          </p:cNvPr>
          <p:cNvPicPr>
            <a:picLocks noChangeAspect="1"/>
          </p:cNvPicPr>
          <p:nvPr/>
        </p:nvPicPr>
        <p:blipFill>
          <a:blip r:embed="rId2"/>
          <a:stretch>
            <a:fillRect/>
          </a:stretch>
        </p:blipFill>
        <p:spPr>
          <a:xfrm>
            <a:off x="0" y="1400857"/>
            <a:ext cx="9142857" cy="5457143"/>
          </a:xfrm>
          <a:prstGeom prst="rect">
            <a:avLst/>
          </a:prstGeom>
        </p:spPr>
      </p:pic>
    </p:spTree>
    <p:extLst>
      <p:ext uri="{BB962C8B-B14F-4D97-AF65-F5344CB8AC3E}">
        <p14:creationId xmlns:p14="http://schemas.microsoft.com/office/powerpoint/2010/main" val="607199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0E7583-D662-47FA-89D2-D0DFE9499331}"/>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marL="857250" indent="-688975" algn="ctr">
              <a:buFont typeface="+mj-lt"/>
              <a:buAutoNum type="romanUcPeriod" startAt="4"/>
            </a:pPr>
            <a:r>
              <a:rPr lang="en-US" sz="2800" b="1" kern="1200" dirty="0">
                <a:solidFill>
                  <a:schemeClr val="bg1"/>
                </a:solidFill>
                <a:latin typeface="+mj-lt"/>
                <a:ea typeface="+mj-ea"/>
                <a:cs typeface="+mj-cs"/>
              </a:rPr>
              <a:t>Continuous streaking</a:t>
            </a:r>
          </a:p>
        </p:txBody>
      </p:sp>
      <p:pic>
        <p:nvPicPr>
          <p:cNvPr id="7" name="Content Placeholder 6" descr="Text&#10;&#10;Description automatically generated">
            <a:extLst>
              <a:ext uri="{FF2B5EF4-FFF2-40B4-BE49-F238E27FC236}">
                <a16:creationId xmlns:a16="http://schemas.microsoft.com/office/drawing/2014/main" id="{54BAA4C8-A693-4FFC-AEFC-D893F3EB52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542" y="1589649"/>
            <a:ext cx="9031458" cy="5268351"/>
          </a:xfrm>
        </p:spPr>
      </p:pic>
    </p:spTree>
    <p:extLst>
      <p:ext uri="{BB962C8B-B14F-4D97-AF65-F5344CB8AC3E}">
        <p14:creationId xmlns:p14="http://schemas.microsoft.com/office/powerpoint/2010/main" val="1435839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FC5550-D9CC-46D1-9F96-3981187D03BB}"/>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875977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924B3D-12C5-49D3-9C73-FC2025355E06}"/>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782270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FDBDCE-493B-4C32-88F6-B8182950C145}"/>
              </a:ext>
            </a:extLst>
          </p:cNvPr>
          <p:cNvPicPr>
            <a:picLocks noChangeAspect="1"/>
          </p:cNvPicPr>
          <p:nvPr/>
        </p:nvPicPr>
        <p:blipFill>
          <a:blip r:embed="rId2"/>
          <a:stretch>
            <a:fillRect/>
          </a:stretch>
        </p:blipFill>
        <p:spPr>
          <a:xfrm>
            <a:off x="1" y="0"/>
            <a:ext cx="9144000" cy="6858000"/>
          </a:xfrm>
          <a:prstGeom prst="rect">
            <a:avLst/>
          </a:prstGeom>
        </p:spPr>
      </p:pic>
    </p:spTree>
    <p:extLst>
      <p:ext uri="{BB962C8B-B14F-4D97-AF65-F5344CB8AC3E}">
        <p14:creationId xmlns:p14="http://schemas.microsoft.com/office/powerpoint/2010/main" val="4178677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5B72C9-DA26-45A9-81A2-6FA4F20C656E}"/>
              </a:ext>
            </a:extLst>
          </p:cNvPr>
          <p:cNvPicPr>
            <a:picLocks noChangeAspect="1"/>
          </p:cNvPicPr>
          <p:nvPr/>
        </p:nvPicPr>
        <p:blipFill>
          <a:blip r:embed="rId2"/>
          <a:stretch>
            <a:fillRect/>
          </a:stretch>
        </p:blipFill>
        <p:spPr>
          <a:xfrm>
            <a:off x="1" y="0"/>
            <a:ext cx="9144000" cy="6858000"/>
          </a:xfrm>
          <a:prstGeom prst="rect">
            <a:avLst/>
          </a:prstGeom>
        </p:spPr>
      </p:pic>
    </p:spTree>
    <p:extLst>
      <p:ext uri="{BB962C8B-B14F-4D97-AF65-F5344CB8AC3E}">
        <p14:creationId xmlns:p14="http://schemas.microsoft.com/office/powerpoint/2010/main" val="4102105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386ED5F-287B-4DA4-81B8-B98FBC2ABE6F}"/>
              </a:ext>
            </a:extLst>
          </p:cNvPr>
          <p:cNvSpPr>
            <a:spLocks noGrp="1"/>
          </p:cNvSpPr>
          <p:nvPr>
            <p:ph type="title"/>
          </p:nvPr>
        </p:nvSpPr>
        <p:spPr>
          <a:xfrm>
            <a:off x="9774" y="-3"/>
            <a:ext cx="4175379" cy="2364522"/>
          </a:xfrm>
        </p:spPr>
        <p:txBody>
          <a:bodyPr vert="horz" lIns="91440" tIns="45720" rIns="91440" bIns="45720" rtlCol="0" anchor="b">
            <a:noAutofit/>
          </a:bodyPr>
          <a:lstStyle/>
          <a:p>
            <a:br>
              <a:rPr lang="en-US" sz="2000" b="1" kern="1200" dirty="0">
                <a:solidFill>
                  <a:srgbClr val="FFFFFF"/>
                </a:solidFill>
                <a:latin typeface="+mj-lt"/>
                <a:ea typeface="+mj-ea"/>
                <a:cs typeface="+mj-cs"/>
              </a:rPr>
            </a:br>
            <a:br>
              <a:rPr lang="en-US" sz="2000" b="1" kern="1200" dirty="0">
                <a:solidFill>
                  <a:srgbClr val="FFFFFF"/>
                </a:solidFill>
                <a:latin typeface="+mj-lt"/>
                <a:ea typeface="+mj-ea"/>
                <a:cs typeface="+mj-cs"/>
              </a:rPr>
            </a:br>
            <a:br>
              <a:rPr lang="en-US" sz="2000" b="1" kern="1200" dirty="0">
                <a:solidFill>
                  <a:srgbClr val="FFFFFF"/>
                </a:solidFill>
                <a:latin typeface="+mj-lt"/>
                <a:ea typeface="+mj-ea"/>
                <a:cs typeface="+mj-cs"/>
              </a:rPr>
            </a:br>
            <a:r>
              <a:rPr lang="en-US" sz="2000" b="1" kern="1200" dirty="0">
                <a:solidFill>
                  <a:srgbClr val="FFFF00"/>
                </a:solidFill>
                <a:latin typeface="+mj-lt"/>
                <a:ea typeface="+mj-ea"/>
                <a:cs typeface="+mj-cs"/>
              </a:rPr>
              <a:t>STEP 1</a:t>
            </a:r>
            <a:br>
              <a:rPr lang="en-US" sz="2000" b="1" kern="1200" dirty="0">
                <a:solidFill>
                  <a:srgbClr val="FFFFFF"/>
                </a:solidFill>
                <a:latin typeface="+mj-lt"/>
                <a:ea typeface="+mj-ea"/>
                <a:cs typeface="+mj-cs"/>
              </a:rPr>
            </a:br>
            <a:r>
              <a:rPr lang="en-US" sz="2000" b="1" kern="1200" dirty="0">
                <a:solidFill>
                  <a:srgbClr val="FFFFFF"/>
                </a:solidFill>
                <a:latin typeface="+mj-lt"/>
                <a:ea typeface="+mj-ea"/>
                <a:cs typeface="+mj-cs"/>
              </a:rPr>
              <a:t>We need to use loop , sterilize the loop in the hottest area of the flame, cool it near the Bunsen Burner , then check the cooling of the loop by inserting it in the agar of the Non- contaminated culture , from where we will take the bacteria, and away from bacteria.</a:t>
            </a:r>
          </a:p>
        </p:txBody>
      </p:sp>
      <p:sp>
        <p:nvSpPr>
          <p:cNvPr id="41" name="Content Placeholder 9">
            <a:extLst>
              <a:ext uri="{FF2B5EF4-FFF2-40B4-BE49-F238E27FC236}">
                <a16:creationId xmlns:a16="http://schemas.microsoft.com/office/drawing/2014/main" id="{F7A67471-3C7E-4294-BE13-DA68B50F0BD7}"/>
              </a:ext>
            </a:extLst>
          </p:cNvPr>
          <p:cNvSpPr>
            <a:spLocks noGrp="1"/>
          </p:cNvSpPr>
          <p:nvPr>
            <p:ph idx="1"/>
          </p:nvPr>
        </p:nvSpPr>
        <p:spPr>
          <a:xfrm>
            <a:off x="0" y="2501983"/>
            <a:ext cx="4245063" cy="3991832"/>
          </a:xfrm>
        </p:spPr>
        <p:txBody>
          <a:bodyPr vert="horz" lIns="91440" tIns="45720" rIns="91440" bIns="45720" rtlCol="0">
            <a:normAutofit fontScale="92500"/>
          </a:bodyPr>
          <a:lstStyle/>
          <a:p>
            <a:pPr marL="0" indent="0">
              <a:buNone/>
            </a:pPr>
            <a:r>
              <a:rPr lang="en-US" sz="2200" b="1" kern="1200" dirty="0">
                <a:solidFill>
                  <a:srgbClr val="FFFF00"/>
                </a:solidFill>
                <a:latin typeface="+mn-lt"/>
                <a:ea typeface="+mn-ea"/>
                <a:cs typeface="+mn-cs"/>
              </a:rPr>
              <a:t>STEP 2</a:t>
            </a:r>
          </a:p>
          <a:p>
            <a:pPr marL="0" indent="0">
              <a:buNone/>
            </a:pPr>
            <a:r>
              <a:rPr lang="en-US" sz="2200" b="1" kern="1200" dirty="0">
                <a:solidFill>
                  <a:srgbClr val="FFFFFF"/>
                </a:solidFill>
                <a:latin typeface="+mn-lt"/>
                <a:ea typeface="+mn-ea"/>
                <a:cs typeface="+mn-cs"/>
              </a:rPr>
              <a:t>Inoculate the bacteria on plate “2” by single, straight, unidirectional line, from “A” toward “B”, and near the edge of the plate as will as possible.</a:t>
            </a:r>
          </a:p>
          <a:p>
            <a:pPr marL="0" indent="0">
              <a:buNone/>
            </a:pPr>
            <a:r>
              <a:rPr lang="en-US" sz="2200" b="1" dirty="0">
                <a:solidFill>
                  <a:srgbClr val="FFFF00"/>
                </a:solidFill>
              </a:rPr>
              <a:t>The movement of the loop must be toward the handle of the loop to prevent crashing of the media.</a:t>
            </a:r>
          </a:p>
          <a:p>
            <a:pPr marL="0" indent="0">
              <a:buNone/>
            </a:pPr>
            <a:endParaRPr lang="en-US" sz="2200" b="1" dirty="0">
              <a:solidFill>
                <a:srgbClr val="FFFF00"/>
              </a:solidFill>
            </a:endParaRPr>
          </a:p>
          <a:p>
            <a:pPr marL="0" indent="0">
              <a:buNone/>
            </a:pPr>
            <a:r>
              <a:rPr lang="en-US" sz="2200" b="1" dirty="0">
                <a:solidFill>
                  <a:srgbClr val="FFFF00"/>
                </a:solidFill>
              </a:rPr>
              <a:t>Unidirectional: dilute the bacteria as we move away from the starting point.  </a:t>
            </a:r>
            <a:endParaRPr lang="en-US" sz="2200" b="1" kern="1200" dirty="0">
              <a:solidFill>
                <a:srgbClr val="FFFF00"/>
              </a:solidFill>
              <a:latin typeface="+mn-lt"/>
              <a:ea typeface="+mn-ea"/>
              <a:cs typeface="+mn-cs"/>
            </a:endParaRPr>
          </a:p>
        </p:txBody>
      </p:sp>
      <p:pic>
        <p:nvPicPr>
          <p:cNvPr id="8" name="Picture 7" descr="Diagram&#10;&#10;Description automatically generated">
            <a:extLst>
              <a:ext uri="{FF2B5EF4-FFF2-40B4-BE49-F238E27FC236}">
                <a16:creationId xmlns:a16="http://schemas.microsoft.com/office/drawing/2014/main" id="{DFEDC16D-9590-4DE7-9A4F-DA9DE14BE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4659" y="10137"/>
            <a:ext cx="5009567" cy="6837721"/>
          </a:xfrm>
          <a:prstGeom prst="rect">
            <a:avLst/>
          </a:prstGeom>
        </p:spPr>
      </p:pic>
    </p:spTree>
    <p:extLst>
      <p:ext uri="{BB962C8B-B14F-4D97-AF65-F5344CB8AC3E}">
        <p14:creationId xmlns:p14="http://schemas.microsoft.com/office/powerpoint/2010/main" val="4160159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5" name="Rectangle 94">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B5FBD5-AB0E-41DC-8A0D-5E52971AC4CD}"/>
              </a:ext>
            </a:extLst>
          </p:cNvPr>
          <p:cNvSpPr>
            <a:spLocks noGrp="1"/>
          </p:cNvSpPr>
          <p:nvPr>
            <p:ph type="title"/>
          </p:nvPr>
        </p:nvSpPr>
        <p:spPr>
          <a:xfrm>
            <a:off x="49172" y="254097"/>
            <a:ext cx="4205664" cy="6102254"/>
          </a:xfrm>
        </p:spPr>
        <p:txBody>
          <a:bodyPr vert="horz" lIns="91440" tIns="45720" rIns="91440" bIns="45720" rtlCol="0" anchor="b">
            <a:normAutofit fontScale="90000"/>
          </a:bodyPr>
          <a:lstStyle/>
          <a:p>
            <a:r>
              <a:rPr lang="en-US" sz="3500" b="1" kern="1200" dirty="0">
                <a:solidFill>
                  <a:srgbClr val="FFFFFF"/>
                </a:solidFill>
                <a:latin typeface="+mj-lt"/>
                <a:ea typeface="+mj-ea"/>
                <a:cs typeface="+mj-cs"/>
              </a:rPr>
              <a:t>STEP: 3</a:t>
            </a:r>
            <a:br>
              <a:rPr lang="en-US" sz="3500" b="1" kern="1200" dirty="0">
                <a:solidFill>
                  <a:srgbClr val="FFFFFF"/>
                </a:solidFill>
                <a:latin typeface="+mj-lt"/>
                <a:ea typeface="+mj-ea"/>
                <a:cs typeface="+mj-cs"/>
              </a:rPr>
            </a:br>
            <a:r>
              <a:rPr lang="en-US" sz="2200" b="1" kern="1200" dirty="0">
                <a:solidFill>
                  <a:srgbClr val="FFFFFF"/>
                </a:solidFill>
                <a:latin typeface="+mj-lt"/>
                <a:ea typeface="+mj-ea"/>
                <a:cs typeface="+mj-cs"/>
              </a:rPr>
              <a:t>After the loop reach “B”,  remove it</a:t>
            </a:r>
            <a:br>
              <a:rPr lang="en-US" sz="2200" b="1" kern="1200" dirty="0">
                <a:solidFill>
                  <a:srgbClr val="FFFFFF"/>
                </a:solidFill>
                <a:latin typeface="+mj-lt"/>
                <a:ea typeface="+mj-ea"/>
                <a:cs typeface="+mj-cs"/>
              </a:rPr>
            </a:br>
            <a:r>
              <a:rPr lang="en-US" sz="2200" b="1" kern="1200" dirty="0">
                <a:solidFill>
                  <a:srgbClr val="FFFFFF"/>
                </a:solidFill>
                <a:latin typeface="+mj-lt"/>
                <a:ea typeface="+mj-ea"/>
                <a:cs typeface="+mj-cs"/>
              </a:rPr>
              <a:t>and by the same side of the loop, and without sterilization of the loop and without addition of bacteria inoculate the plate with straight unidirectional line, parallel to the first and starting from “C” toward “D”.</a:t>
            </a:r>
            <a:br>
              <a:rPr lang="en-US" sz="2200" b="1" kern="1200" dirty="0">
                <a:solidFill>
                  <a:srgbClr val="FFFFFF"/>
                </a:solidFill>
                <a:latin typeface="+mj-lt"/>
                <a:ea typeface="+mj-ea"/>
                <a:cs typeface="+mj-cs"/>
              </a:rPr>
            </a:br>
            <a:br>
              <a:rPr lang="en-US" sz="2200" b="1" kern="1200" dirty="0">
                <a:solidFill>
                  <a:srgbClr val="FFFFFF"/>
                </a:solidFill>
                <a:latin typeface="+mj-lt"/>
                <a:ea typeface="+mj-ea"/>
                <a:cs typeface="+mj-cs"/>
              </a:rPr>
            </a:br>
            <a:r>
              <a:rPr lang="en-US" sz="2200" b="1" kern="1200" dirty="0">
                <a:solidFill>
                  <a:srgbClr val="FFFFFF"/>
                </a:solidFill>
                <a:latin typeface="+mj-lt"/>
                <a:ea typeface="+mj-ea"/>
                <a:cs typeface="+mj-cs"/>
              </a:rPr>
              <a:t>Also,  by the same side of the loop</a:t>
            </a:r>
            <a:br>
              <a:rPr lang="en-US" sz="2200" b="1" kern="1200" dirty="0">
                <a:solidFill>
                  <a:srgbClr val="FFFFFF"/>
                </a:solidFill>
                <a:latin typeface="+mj-lt"/>
                <a:ea typeface="+mj-ea"/>
                <a:cs typeface="+mj-cs"/>
              </a:rPr>
            </a:br>
            <a:r>
              <a:rPr lang="en-US" sz="2200" b="1" kern="1200" dirty="0">
                <a:solidFill>
                  <a:srgbClr val="FFFFFF"/>
                </a:solidFill>
                <a:latin typeface="+mj-lt"/>
                <a:ea typeface="+mj-ea"/>
                <a:cs typeface="+mj-cs"/>
              </a:rPr>
              <a:t>and without addition of bacteria </a:t>
            </a:r>
            <a:br>
              <a:rPr lang="en-US" sz="2200" b="1" kern="1200" dirty="0">
                <a:solidFill>
                  <a:srgbClr val="FFFFFF"/>
                </a:solidFill>
                <a:latin typeface="+mj-lt"/>
                <a:ea typeface="+mj-ea"/>
                <a:cs typeface="+mj-cs"/>
              </a:rPr>
            </a:br>
            <a:r>
              <a:rPr lang="en-US" sz="2000" b="1" dirty="0">
                <a:solidFill>
                  <a:srgbClr val="FFFFFF"/>
                </a:solidFill>
              </a:rPr>
              <a:t>do the other two line, “E” toward “F”</a:t>
            </a:r>
            <a:br>
              <a:rPr lang="en-US" sz="2000" b="1" dirty="0">
                <a:solidFill>
                  <a:srgbClr val="FFFFFF"/>
                </a:solidFill>
              </a:rPr>
            </a:br>
            <a:r>
              <a:rPr lang="en-US" sz="2000" b="1" dirty="0">
                <a:solidFill>
                  <a:srgbClr val="FFFFFF"/>
                </a:solidFill>
              </a:rPr>
              <a:t>and “G” toward “H”.</a:t>
            </a:r>
            <a:br>
              <a:rPr lang="en-US" sz="2000" b="1" dirty="0">
                <a:solidFill>
                  <a:srgbClr val="FFFFFF"/>
                </a:solidFill>
              </a:rPr>
            </a:br>
            <a:br>
              <a:rPr lang="en-US" sz="2000" b="1" dirty="0">
                <a:solidFill>
                  <a:srgbClr val="FFFFFF"/>
                </a:solidFill>
              </a:rPr>
            </a:br>
            <a:r>
              <a:rPr lang="en-US" sz="2000" b="1" dirty="0">
                <a:solidFill>
                  <a:srgbClr val="FFFF00"/>
                </a:solidFill>
              </a:rPr>
              <a:t>This will make the number of bacteria to decrease, this means that the number of bacteria at A highest number of bacteria&gt;B&gt;C&gt;D&gt;E&gt;F&gt;G&gt;H(</a:t>
            </a:r>
            <a:r>
              <a:rPr lang="en-US" sz="2000" b="1" dirty="0" err="1">
                <a:solidFill>
                  <a:srgbClr val="FFFF00"/>
                </a:solidFill>
              </a:rPr>
              <a:t>theleast</a:t>
            </a:r>
            <a:r>
              <a:rPr lang="en-US" sz="2000" b="1" dirty="0">
                <a:solidFill>
                  <a:srgbClr val="FFFF00"/>
                </a:solidFill>
              </a:rPr>
              <a:t> number of bacteria.</a:t>
            </a:r>
            <a:br>
              <a:rPr lang="en-US" sz="3500" b="1" kern="1200" dirty="0">
                <a:solidFill>
                  <a:srgbClr val="FFFFFF"/>
                </a:solidFill>
                <a:latin typeface="+mj-lt"/>
                <a:ea typeface="+mj-ea"/>
                <a:cs typeface="+mj-cs"/>
              </a:rPr>
            </a:br>
            <a:br>
              <a:rPr lang="en-US" sz="3500" b="1" kern="1200" dirty="0">
                <a:solidFill>
                  <a:srgbClr val="FFFFFF"/>
                </a:solidFill>
                <a:latin typeface="+mj-lt"/>
                <a:ea typeface="+mj-ea"/>
                <a:cs typeface="+mj-cs"/>
              </a:rPr>
            </a:br>
            <a:r>
              <a:rPr lang="en-US" sz="2400" b="1" kern="1200" dirty="0">
                <a:solidFill>
                  <a:srgbClr val="FF0000"/>
                </a:solidFill>
                <a:highlight>
                  <a:srgbClr val="C0C0C0"/>
                </a:highlight>
                <a:latin typeface="+mj-lt"/>
                <a:ea typeface="+mj-ea"/>
                <a:cs typeface="+mj-cs"/>
              </a:rPr>
              <a:t>Streaking is a dilution on a solid surface.</a:t>
            </a:r>
            <a:endParaRPr lang="en-US" sz="3500" b="1" kern="1200" dirty="0">
              <a:solidFill>
                <a:srgbClr val="FF0000"/>
              </a:solidFill>
              <a:highlight>
                <a:srgbClr val="C0C0C0"/>
              </a:highlight>
              <a:latin typeface="+mj-lt"/>
              <a:ea typeface="+mj-ea"/>
              <a:cs typeface="+mj-cs"/>
            </a:endParaRPr>
          </a:p>
        </p:txBody>
      </p:sp>
      <p:pic>
        <p:nvPicPr>
          <p:cNvPr id="5" name="Content Placeholder 4" descr="A picture containing clipart&#10;&#10;Description automatically generated">
            <a:extLst>
              <a:ext uri="{FF2B5EF4-FFF2-40B4-BE49-F238E27FC236}">
                <a16:creationId xmlns:a16="http://schemas.microsoft.com/office/drawing/2014/main" id="{95CC56F3-D957-4EBD-A2C9-C98EDAB86D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85153" y="-1"/>
            <a:ext cx="4958273" cy="6847860"/>
          </a:xfrm>
          <a:prstGeom prst="rect">
            <a:avLst/>
          </a:prstGeom>
        </p:spPr>
      </p:pic>
    </p:spTree>
    <p:extLst>
      <p:ext uri="{BB962C8B-B14F-4D97-AF65-F5344CB8AC3E}">
        <p14:creationId xmlns:p14="http://schemas.microsoft.com/office/powerpoint/2010/main" val="27842655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36AEA8B-F831-43E9-B10D-B073711126DC}"/>
              </a:ext>
            </a:extLst>
          </p:cNvPr>
          <p:cNvSpPr>
            <a:spLocks noGrp="1"/>
          </p:cNvSpPr>
          <p:nvPr>
            <p:ph type="title"/>
          </p:nvPr>
        </p:nvSpPr>
        <p:spPr>
          <a:xfrm>
            <a:off x="-78310" y="226064"/>
            <a:ext cx="4333146" cy="5175930"/>
          </a:xfrm>
        </p:spPr>
        <p:txBody>
          <a:bodyPr anchor="b">
            <a:normAutofit/>
          </a:bodyPr>
          <a:lstStyle/>
          <a:p>
            <a:r>
              <a:rPr lang="en-US" sz="3200" b="1" dirty="0">
                <a:solidFill>
                  <a:srgbClr val="FFFFFF"/>
                </a:solidFill>
              </a:rPr>
              <a:t>Step 4:</a:t>
            </a:r>
            <a:br>
              <a:rPr lang="en-US" sz="3200" b="1" dirty="0">
                <a:solidFill>
                  <a:srgbClr val="FFFFFF"/>
                </a:solidFill>
              </a:rPr>
            </a:br>
            <a:r>
              <a:rPr lang="en-US" sz="2400" b="1" dirty="0">
                <a:solidFill>
                  <a:srgbClr val="FFFFFF"/>
                </a:solidFill>
              </a:rPr>
              <a:t>* </a:t>
            </a:r>
            <a:r>
              <a:rPr lang="en-US" sz="2000" b="1" dirty="0">
                <a:solidFill>
                  <a:srgbClr val="FFFFFF"/>
                </a:solidFill>
              </a:rPr>
              <a:t>2</a:t>
            </a:r>
            <a:r>
              <a:rPr lang="en-US" sz="2000" b="1" baseline="30000" dirty="0">
                <a:solidFill>
                  <a:srgbClr val="FFFFFF"/>
                </a:solidFill>
              </a:rPr>
              <a:t>nd</a:t>
            </a:r>
            <a:r>
              <a:rPr lang="en-US" sz="2000" b="1" dirty="0">
                <a:solidFill>
                  <a:srgbClr val="FFFFFF"/>
                </a:solidFill>
              </a:rPr>
              <a:t>  sterilization for the loop, flame </a:t>
            </a:r>
            <a:br>
              <a:rPr lang="en-US" sz="2000" b="1" dirty="0">
                <a:solidFill>
                  <a:srgbClr val="FFFFFF"/>
                </a:solidFill>
              </a:rPr>
            </a:br>
            <a:r>
              <a:rPr lang="en-US" sz="2000" b="1" dirty="0">
                <a:solidFill>
                  <a:srgbClr val="FFFFFF"/>
                </a:solidFill>
              </a:rPr>
              <a:t>    the loop, cool it near the Bunsen </a:t>
            </a:r>
            <a:br>
              <a:rPr lang="en-US" sz="2000" b="1" dirty="0">
                <a:solidFill>
                  <a:srgbClr val="FFFFFF"/>
                </a:solidFill>
              </a:rPr>
            </a:br>
            <a:r>
              <a:rPr lang="en-US" sz="2000" b="1" dirty="0">
                <a:solidFill>
                  <a:srgbClr val="FFFFFF"/>
                </a:solidFill>
              </a:rPr>
              <a:t>    Burner, then check the cooling of the</a:t>
            </a:r>
            <a:br>
              <a:rPr lang="en-US" sz="2000" b="1" dirty="0">
                <a:solidFill>
                  <a:srgbClr val="FFFFFF"/>
                </a:solidFill>
              </a:rPr>
            </a:br>
            <a:r>
              <a:rPr lang="en-US" sz="2000" b="1" dirty="0">
                <a:solidFill>
                  <a:srgbClr val="FFFFFF"/>
                </a:solidFill>
              </a:rPr>
              <a:t>    loop by inserting it in the agar of      </a:t>
            </a:r>
            <a:br>
              <a:rPr lang="en-US" sz="2000" b="1" dirty="0">
                <a:solidFill>
                  <a:srgbClr val="FFFFFF"/>
                </a:solidFill>
              </a:rPr>
            </a:br>
            <a:r>
              <a:rPr lang="en-US" sz="2000" b="1" dirty="0">
                <a:solidFill>
                  <a:srgbClr val="FFFFFF"/>
                </a:solidFill>
              </a:rPr>
              <a:t>    plate “2” between the first inoculating </a:t>
            </a:r>
            <a:br>
              <a:rPr lang="en-US" sz="2000" b="1" dirty="0">
                <a:solidFill>
                  <a:srgbClr val="FFFFFF"/>
                </a:solidFill>
              </a:rPr>
            </a:br>
            <a:r>
              <a:rPr lang="en-US" sz="2000" b="1" dirty="0">
                <a:solidFill>
                  <a:srgbClr val="FFFFFF"/>
                </a:solidFill>
              </a:rPr>
              <a:t>    line and the edge of the plate (at A ).</a:t>
            </a:r>
            <a:br>
              <a:rPr lang="en-US" sz="2000" b="1" dirty="0">
                <a:solidFill>
                  <a:srgbClr val="FFFFFF"/>
                </a:solidFill>
              </a:rPr>
            </a:br>
            <a:br>
              <a:rPr lang="en-US" sz="2000" b="1" dirty="0">
                <a:solidFill>
                  <a:srgbClr val="FFFFFF"/>
                </a:solidFill>
              </a:rPr>
            </a:br>
            <a:r>
              <a:rPr lang="en-US" sz="2000" b="1" dirty="0">
                <a:solidFill>
                  <a:srgbClr val="FFFFFF"/>
                </a:solidFill>
              </a:rPr>
              <a:t>* Then put the loop at the end area of</a:t>
            </a:r>
            <a:br>
              <a:rPr lang="en-US" sz="2000" b="1" dirty="0">
                <a:solidFill>
                  <a:srgbClr val="FFFFFF"/>
                </a:solidFill>
              </a:rPr>
            </a:br>
            <a:r>
              <a:rPr lang="en-US" sz="2000" b="1" dirty="0">
                <a:solidFill>
                  <a:srgbClr val="FFFFFF"/>
                </a:solidFill>
              </a:rPr>
              <a:t>    the fourth line ( B ), and spread the </a:t>
            </a:r>
            <a:br>
              <a:rPr lang="en-US" sz="2000" b="1" dirty="0">
                <a:solidFill>
                  <a:srgbClr val="FFFFFF"/>
                </a:solidFill>
              </a:rPr>
            </a:br>
            <a:r>
              <a:rPr lang="en-US" sz="2000" b="1" dirty="0">
                <a:solidFill>
                  <a:srgbClr val="FFFFFF"/>
                </a:solidFill>
              </a:rPr>
              <a:t>    bacteria by single unidirectional line</a:t>
            </a:r>
            <a:br>
              <a:rPr lang="en-US" sz="2000" b="1" dirty="0">
                <a:solidFill>
                  <a:srgbClr val="FFFFFF"/>
                </a:solidFill>
              </a:rPr>
            </a:br>
            <a:r>
              <a:rPr lang="en-US" sz="2000" b="1" dirty="0">
                <a:solidFill>
                  <a:srgbClr val="FFFFFF"/>
                </a:solidFill>
              </a:rPr>
              <a:t>    near the edge of the plate as will as </a:t>
            </a:r>
            <a:br>
              <a:rPr lang="en-US" sz="2000" b="1" dirty="0">
                <a:solidFill>
                  <a:srgbClr val="FFFFFF"/>
                </a:solidFill>
              </a:rPr>
            </a:br>
            <a:r>
              <a:rPr lang="en-US" sz="2000" b="1" dirty="0">
                <a:solidFill>
                  <a:srgbClr val="FFFFFF"/>
                </a:solidFill>
              </a:rPr>
              <a:t>    possible</a:t>
            </a:r>
            <a:br>
              <a:rPr lang="en-US" sz="3200" b="1" dirty="0">
                <a:solidFill>
                  <a:srgbClr val="FFFFFF"/>
                </a:solidFill>
              </a:rPr>
            </a:br>
            <a:endParaRPr lang="en-US" sz="3200" b="1" dirty="0">
              <a:solidFill>
                <a:srgbClr val="FFFFFF"/>
              </a:solidFill>
            </a:endParaRPr>
          </a:p>
        </p:txBody>
      </p:sp>
      <p:pic>
        <p:nvPicPr>
          <p:cNvPr id="4" name="Picture 3" descr="Diagram&#10;&#10;Description automatically generated">
            <a:extLst>
              <a:ext uri="{FF2B5EF4-FFF2-40B4-BE49-F238E27FC236}">
                <a16:creationId xmlns:a16="http://schemas.microsoft.com/office/drawing/2014/main" id="{04EDB398-7BBF-4E78-A744-60AED51AD2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8942" y="-1"/>
            <a:ext cx="4980952" cy="6838095"/>
          </a:xfrm>
          <a:prstGeom prst="rect">
            <a:avLst/>
          </a:prstGeom>
        </p:spPr>
      </p:pic>
    </p:spTree>
    <p:extLst>
      <p:ext uri="{BB962C8B-B14F-4D97-AF65-F5344CB8AC3E}">
        <p14:creationId xmlns:p14="http://schemas.microsoft.com/office/powerpoint/2010/main" val="2591123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11BFE5-DCD4-419A-8E7F-8629FD9681C3}"/>
              </a:ext>
            </a:extLst>
          </p:cNvPr>
          <p:cNvSpPr>
            <a:spLocks noGrp="1"/>
          </p:cNvSpPr>
          <p:nvPr>
            <p:ph type="title"/>
          </p:nvPr>
        </p:nvSpPr>
        <p:spPr>
          <a:xfrm>
            <a:off x="-6108" y="20278"/>
            <a:ext cx="4260944" cy="6336073"/>
          </a:xfrm>
        </p:spPr>
        <p:txBody>
          <a:bodyPr anchor="b">
            <a:normAutofit/>
          </a:bodyPr>
          <a:lstStyle/>
          <a:p>
            <a:r>
              <a:rPr lang="en-US" sz="3500" b="1" dirty="0">
                <a:solidFill>
                  <a:srgbClr val="FFFFFF"/>
                </a:solidFill>
              </a:rPr>
              <a:t>Step 5:</a:t>
            </a:r>
            <a:br>
              <a:rPr lang="en-US" sz="3500" b="1" dirty="0">
                <a:solidFill>
                  <a:srgbClr val="FFFFFF"/>
                </a:solidFill>
              </a:rPr>
            </a:br>
            <a:r>
              <a:rPr lang="en-US" sz="2000" b="1" dirty="0">
                <a:solidFill>
                  <a:srgbClr val="FFFFFF"/>
                </a:solidFill>
              </a:rPr>
              <a:t>* Then without sterilization of the loop, </a:t>
            </a:r>
            <a:br>
              <a:rPr lang="en-US" sz="2000" b="1" dirty="0">
                <a:solidFill>
                  <a:srgbClr val="FFFFFF"/>
                </a:solidFill>
              </a:rPr>
            </a:br>
            <a:r>
              <a:rPr lang="en-US" sz="2000" b="1" dirty="0">
                <a:solidFill>
                  <a:srgbClr val="FFFFFF"/>
                </a:solidFill>
              </a:rPr>
              <a:t>   put the loop at “C” then spread the </a:t>
            </a:r>
            <a:br>
              <a:rPr lang="en-US" sz="2000" b="1" dirty="0">
                <a:solidFill>
                  <a:srgbClr val="FFFFFF"/>
                </a:solidFill>
              </a:rPr>
            </a:br>
            <a:r>
              <a:rPr lang="en-US" sz="2000" b="1" dirty="0">
                <a:solidFill>
                  <a:srgbClr val="FFFFFF"/>
                </a:solidFill>
              </a:rPr>
              <a:t>   bacteria by unidirectional  line near </a:t>
            </a:r>
            <a:br>
              <a:rPr lang="en-US" sz="2000" b="1" dirty="0">
                <a:solidFill>
                  <a:srgbClr val="FFFFFF"/>
                </a:solidFill>
              </a:rPr>
            </a:br>
            <a:r>
              <a:rPr lang="en-US" sz="2000" b="1" dirty="0">
                <a:solidFill>
                  <a:srgbClr val="FFFFFF"/>
                </a:solidFill>
              </a:rPr>
              <a:t>   the edge of the plate as will as </a:t>
            </a:r>
            <a:br>
              <a:rPr lang="en-US" sz="2000" b="1" dirty="0">
                <a:solidFill>
                  <a:srgbClr val="FFFFFF"/>
                </a:solidFill>
              </a:rPr>
            </a:br>
            <a:r>
              <a:rPr lang="en-US" sz="2000" b="1" dirty="0">
                <a:solidFill>
                  <a:srgbClr val="FFFFFF"/>
                </a:solidFill>
              </a:rPr>
              <a:t>   possible as you see in picture “4”.</a:t>
            </a:r>
            <a:br>
              <a:rPr lang="en-US" sz="2000" b="1" dirty="0">
                <a:solidFill>
                  <a:srgbClr val="FFFFFF"/>
                </a:solidFill>
              </a:rPr>
            </a:br>
            <a:br>
              <a:rPr lang="en-US" sz="2000" b="1" dirty="0">
                <a:solidFill>
                  <a:srgbClr val="FFFFFF"/>
                </a:solidFill>
              </a:rPr>
            </a:br>
            <a:r>
              <a:rPr lang="en-US" sz="3200" b="1" dirty="0">
                <a:solidFill>
                  <a:srgbClr val="FFFFFF"/>
                </a:solidFill>
              </a:rPr>
              <a:t>Step 6:</a:t>
            </a:r>
            <a:br>
              <a:rPr lang="en-US" sz="3200" b="1" dirty="0">
                <a:solidFill>
                  <a:srgbClr val="FFFFFF"/>
                </a:solidFill>
              </a:rPr>
            </a:br>
            <a:r>
              <a:rPr lang="en-US" sz="2000" b="1" dirty="0">
                <a:solidFill>
                  <a:srgbClr val="FFFFFF"/>
                </a:solidFill>
                <a:latin typeface="Calibri Light" panose="020F0302020204030204"/>
              </a:rPr>
              <a:t>* Also,</a:t>
            </a:r>
            <a: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t> without sterilization of the loop, </a:t>
            </a:r>
            <a:b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br>
            <a: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t>   put the loop at “D” then spread the </a:t>
            </a:r>
            <a:b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br>
            <a: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t>   bacteria by unidirectional  line near </a:t>
            </a:r>
            <a:b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br>
            <a: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t>   the edge of the plate as will as </a:t>
            </a:r>
            <a:b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br>
            <a: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t>   possible as you see  in picture 5.</a:t>
            </a:r>
            <a:br>
              <a:rPr kumimoji="0" lang="en-US" sz="2000" b="1" i="0" u="none" strike="noStrike" kern="1200" cap="none" spc="0" normalizeH="0" baseline="0" noProof="0" dirty="0">
                <a:ln>
                  <a:noFill/>
                </a:ln>
                <a:solidFill>
                  <a:srgbClr val="FFFFFF"/>
                </a:solidFill>
                <a:effectLst/>
                <a:uLnTx/>
                <a:uFillTx/>
                <a:latin typeface="Calibri Light" panose="020F0302020204030204"/>
                <a:ea typeface="+mj-ea"/>
                <a:cs typeface="+mj-cs"/>
              </a:rPr>
            </a:br>
            <a:br>
              <a:rPr lang="en-US" sz="3500" dirty="0">
                <a:solidFill>
                  <a:srgbClr val="FFFF00"/>
                </a:solidFill>
              </a:rPr>
            </a:br>
            <a:r>
              <a:rPr lang="en-US" sz="2000" dirty="0">
                <a:solidFill>
                  <a:srgbClr val="FFFF00"/>
                </a:solidFill>
                <a:latin typeface="Algerian" panose="04020705040A02060702" pitchFamily="82" charset="0"/>
              </a:rPr>
              <a:t>In All steps the movement of</a:t>
            </a:r>
            <a:br>
              <a:rPr lang="en-US" sz="2000" dirty="0">
                <a:solidFill>
                  <a:srgbClr val="FFFF00"/>
                </a:solidFill>
                <a:latin typeface="Algerian" panose="04020705040A02060702" pitchFamily="82" charset="0"/>
              </a:rPr>
            </a:br>
            <a:r>
              <a:rPr lang="en-US" sz="2000" dirty="0">
                <a:solidFill>
                  <a:srgbClr val="FFFF00"/>
                </a:solidFill>
                <a:latin typeface="Algerian" panose="04020705040A02060702" pitchFamily="82" charset="0"/>
              </a:rPr>
              <a:t>the loop must be toward its </a:t>
            </a:r>
            <a:br>
              <a:rPr lang="en-US" sz="2000" dirty="0">
                <a:solidFill>
                  <a:srgbClr val="FFFF00"/>
                </a:solidFill>
                <a:latin typeface="Algerian" panose="04020705040A02060702" pitchFamily="82" charset="0"/>
              </a:rPr>
            </a:br>
            <a:r>
              <a:rPr lang="en-US" sz="2000" dirty="0">
                <a:solidFill>
                  <a:srgbClr val="FFFF00"/>
                </a:solidFill>
                <a:latin typeface="Algerian" panose="04020705040A02060702" pitchFamily="82" charset="0"/>
              </a:rPr>
              <a:t>handle to prevent crashing </a:t>
            </a:r>
            <a:br>
              <a:rPr lang="en-US" sz="2000" dirty="0">
                <a:solidFill>
                  <a:srgbClr val="FFFF00"/>
                </a:solidFill>
                <a:latin typeface="Algerian" panose="04020705040A02060702" pitchFamily="82" charset="0"/>
              </a:rPr>
            </a:br>
            <a:r>
              <a:rPr lang="en-US" sz="2000" dirty="0">
                <a:solidFill>
                  <a:srgbClr val="FFFF00"/>
                </a:solidFill>
                <a:latin typeface="Algerian" panose="04020705040A02060702" pitchFamily="82" charset="0"/>
              </a:rPr>
              <a:t>of the media.</a:t>
            </a:r>
          </a:p>
        </p:txBody>
      </p:sp>
      <p:pic>
        <p:nvPicPr>
          <p:cNvPr id="7" name="Content Placeholder 6" descr="Diagram&#10;&#10;Description automatically generated">
            <a:extLst>
              <a:ext uri="{FF2B5EF4-FFF2-40B4-BE49-F238E27FC236}">
                <a16:creationId xmlns:a16="http://schemas.microsoft.com/office/drawing/2014/main" id="{283909B9-54F2-4850-9792-A36D099824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75953" y="10137"/>
            <a:ext cx="4974154" cy="6857999"/>
          </a:xfrm>
        </p:spPr>
      </p:pic>
    </p:spTree>
    <p:extLst>
      <p:ext uri="{BB962C8B-B14F-4D97-AF65-F5344CB8AC3E}">
        <p14:creationId xmlns:p14="http://schemas.microsoft.com/office/powerpoint/2010/main" val="3838131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3ACB4AC-2005-44C8-A5F9-6601818EA8BD}"/>
              </a:ext>
            </a:extLst>
          </p:cNvPr>
          <p:cNvSpPr>
            <a:spLocks noGrp="1"/>
          </p:cNvSpPr>
          <p:nvPr>
            <p:ph type="title"/>
          </p:nvPr>
        </p:nvSpPr>
        <p:spPr>
          <a:xfrm>
            <a:off x="-50733" y="501650"/>
            <a:ext cx="4568322" cy="5986596"/>
          </a:xfrm>
        </p:spPr>
        <p:txBody>
          <a:bodyPr anchor="b">
            <a:normAutofit fontScale="90000"/>
          </a:bodyPr>
          <a:lstStyle/>
          <a:p>
            <a:r>
              <a:rPr lang="en-US" sz="3500" b="1" dirty="0">
                <a:solidFill>
                  <a:srgbClr val="FFFFFF"/>
                </a:solidFill>
              </a:rPr>
              <a:t>Step 7:</a:t>
            </a:r>
            <a:br>
              <a:rPr lang="en-US" sz="3500" b="1" dirty="0">
                <a:solidFill>
                  <a:srgbClr val="FFFFFF"/>
                </a:solidFill>
              </a:rPr>
            </a:br>
            <a:br>
              <a:rPr lang="en-US" sz="2000" b="1" dirty="0">
                <a:solidFill>
                  <a:srgbClr val="FFFFFF"/>
                </a:solidFill>
              </a:rPr>
            </a:br>
            <a:r>
              <a:rPr lang="en-US" sz="2000" b="1" dirty="0">
                <a:solidFill>
                  <a:srgbClr val="FFFFFF"/>
                </a:solidFill>
              </a:rPr>
              <a:t>* </a:t>
            </a:r>
            <a:r>
              <a:rPr lang="en-US" sz="2200" b="1" dirty="0">
                <a:solidFill>
                  <a:srgbClr val="FFFFFF"/>
                </a:solidFill>
              </a:rPr>
              <a:t>Sterilize the loop for the third time , </a:t>
            </a:r>
            <a:br>
              <a:rPr lang="en-US" sz="2200" b="1" dirty="0">
                <a:solidFill>
                  <a:srgbClr val="FFFFFF"/>
                </a:solidFill>
              </a:rPr>
            </a:br>
            <a:r>
              <a:rPr lang="en-US" sz="2200" b="1" dirty="0">
                <a:solidFill>
                  <a:srgbClr val="FFFFFF"/>
                </a:solidFill>
              </a:rPr>
              <a:t>   cool it near the Bunsen Burner, then</a:t>
            </a:r>
            <a:br>
              <a:rPr lang="en-US" sz="2200" b="1" dirty="0">
                <a:solidFill>
                  <a:srgbClr val="FFFFFF"/>
                </a:solidFill>
              </a:rPr>
            </a:br>
            <a:r>
              <a:rPr lang="en-US" sz="2200" b="1" dirty="0">
                <a:solidFill>
                  <a:srgbClr val="FFFFFF"/>
                </a:solidFill>
              </a:rPr>
              <a:t>   check the cooling of the loop by </a:t>
            </a:r>
            <a:br>
              <a:rPr lang="en-US" sz="2200" b="1" dirty="0">
                <a:solidFill>
                  <a:srgbClr val="FFFFFF"/>
                </a:solidFill>
              </a:rPr>
            </a:br>
            <a:r>
              <a:rPr lang="en-US" sz="2200" b="1" dirty="0">
                <a:solidFill>
                  <a:srgbClr val="FFFFFF"/>
                </a:solidFill>
              </a:rPr>
              <a:t>   inserting it in the agar near the first</a:t>
            </a:r>
            <a:br>
              <a:rPr lang="en-US" sz="2200" b="1" dirty="0">
                <a:solidFill>
                  <a:srgbClr val="FFFFFF"/>
                </a:solidFill>
              </a:rPr>
            </a:br>
            <a:r>
              <a:rPr lang="en-US" sz="2200" b="1" dirty="0">
                <a:solidFill>
                  <a:srgbClr val="FFFFFF"/>
                </a:solidFill>
              </a:rPr>
              <a:t>   time (at E).</a:t>
            </a:r>
            <a:br>
              <a:rPr lang="en-US" sz="2200" b="1" dirty="0">
                <a:solidFill>
                  <a:srgbClr val="FFFFFF"/>
                </a:solidFill>
              </a:rPr>
            </a:br>
            <a:r>
              <a:rPr lang="en-US" sz="2200" b="1" dirty="0">
                <a:solidFill>
                  <a:srgbClr val="FFFFFF"/>
                </a:solidFill>
              </a:rPr>
              <a:t>* Then spread the bacteria at the end </a:t>
            </a:r>
            <a:br>
              <a:rPr lang="en-US" sz="2200" b="1" dirty="0">
                <a:solidFill>
                  <a:srgbClr val="FFFFFF"/>
                </a:solidFill>
              </a:rPr>
            </a:br>
            <a:r>
              <a:rPr lang="en-US" sz="2200" b="1" dirty="0">
                <a:solidFill>
                  <a:srgbClr val="FFFFFF"/>
                </a:solidFill>
              </a:rPr>
              <a:t>    of each line ( </a:t>
            </a:r>
            <a:r>
              <a:rPr lang="en-US" sz="2200" b="1" dirty="0">
                <a:solidFill>
                  <a:srgbClr val="FFFF00"/>
                </a:solidFill>
              </a:rPr>
              <a:t>at F1, F2, then F3 </a:t>
            </a:r>
            <a:r>
              <a:rPr lang="en-US" sz="2200" b="1" dirty="0">
                <a:solidFill>
                  <a:srgbClr val="FFFFFF"/>
                </a:solidFill>
              </a:rPr>
              <a:t>)  by </a:t>
            </a:r>
            <a:br>
              <a:rPr lang="en-US" sz="2200" b="1" dirty="0">
                <a:solidFill>
                  <a:srgbClr val="FFFFFF"/>
                </a:solidFill>
              </a:rPr>
            </a:br>
            <a:r>
              <a:rPr lang="en-US" sz="2200" b="1" dirty="0">
                <a:solidFill>
                  <a:srgbClr val="FFFFFF"/>
                </a:solidFill>
              </a:rPr>
              <a:t>    unidirectional line, near the edge of</a:t>
            </a:r>
            <a:br>
              <a:rPr lang="en-US" sz="2200" b="1" dirty="0">
                <a:solidFill>
                  <a:srgbClr val="FFFFFF"/>
                </a:solidFill>
              </a:rPr>
            </a:br>
            <a:r>
              <a:rPr lang="en-US" sz="2200" b="1" dirty="0">
                <a:solidFill>
                  <a:srgbClr val="FFFFFF"/>
                </a:solidFill>
              </a:rPr>
              <a:t>    the plate as will as possible, starting </a:t>
            </a:r>
            <a:br>
              <a:rPr lang="en-US" sz="2200" b="1" dirty="0">
                <a:solidFill>
                  <a:srgbClr val="FFFFFF"/>
                </a:solidFill>
              </a:rPr>
            </a:br>
            <a:r>
              <a:rPr lang="en-US" sz="2200" b="1" dirty="0">
                <a:solidFill>
                  <a:srgbClr val="FFFFFF"/>
                </a:solidFill>
              </a:rPr>
              <a:t>    from the innermost line (  at F1 ) to </a:t>
            </a:r>
            <a:br>
              <a:rPr lang="en-US" sz="2200" b="1" dirty="0">
                <a:solidFill>
                  <a:srgbClr val="FFFFFF"/>
                </a:solidFill>
              </a:rPr>
            </a:br>
            <a:r>
              <a:rPr lang="en-US" sz="2200" b="1" dirty="0">
                <a:solidFill>
                  <a:srgbClr val="FFFFFF"/>
                </a:solidFill>
              </a:rPr>
              <a:t>    be the outermost line ( </a:t>
            </a:r>
            <a:r>
              <a:rPr lang="en-US" sz="2200" b="1" dirty="0">
                <a:solidFill>
                  <a:srgbClr val="FFFF00"/>
                </a:solidFill>
              </a:rPr>
              <a:t>Picture 6 </a:t>
            </a:r>
            <a:r>
              <a:rPr lang="en-US" sz="2200" b="1" dirty="0">
                <a:solidFill>
                  <a:srgbClr val="FFFFFF"/>
                </a:solidFill>
              </a:rPr>
              <a:t>), </a:t>
            </a:r>
            <a:br>
              <a:rPr lang="en-US" sz="2200" b="1" dirty="0">
                <a:solidFill>
                  <a:srgbClr val="FFFFFF"/>
                </a:solidFill>
              </a:rPr>
            </a:br>
            <a:r>
              <a:rPr lang="en-US" sz="2200" b="1" dirty="0">
                <a:solidFill>
                  <a:srgbClr val="FFFFFF"/>
                </a:solidFill>
              </a:rPr>
              <a:t>    then middle line ( </a:t>
            </a:r>
            <a:r>
              <a:rPr lang="en-US" sz="2200" b="1" dirty="0">
                <a:solidFill>
                  <a:srgbClr val="FFFF00"/>
                </a:solidFill>
              </a:rPr>
              <a:t>at  F2 </a:t>
            </a:r>
            <a:r>
              <a:rPr lang="en-US" sz="2200" b="1" dirty="0">
                <a:solidFill>
                  <a:srgbClr val="FFFFFF"/>
                </a:solidFill>
              </a:rPr>
              <a:t>) as you see</a:t>
            </a:r>
            <a:br>
              <a:rPr lang="en-US" sz="2200" b="1" dirty="0">
                <a:solidFill>
                  <a:srgbClr val="FFFFFF"/>
                </a:solidFill>
              </a:rPr>
            </a:br>
            <a:r>
              <a:rPr lang="en-US" sz="2200" b="1" dirty="0">
                <a:solidFill>
                  <a:srgbClr val="FFFFFF"/>
                </a:solidFill>
              </a:rPr>
              <a:t>    in </a:t>
            </a:r>
            <a:r>
              <a:rPr lang="en-US" sz="2200" b="1" dirty="0">
                <a:solidFill>
                  <a:srgbClr val="FFFF00"/>
                </a:solidFill>
              </a:rPr>
              <a:t>picture 7</a:t>
            </a:r>
            <a:r>
              <a:rPr lang="en-US" sz="2200" b="1" dirty="0">
                <a:solidFill>
                  <a:srgbClr val="FFFFFF"/>
                </a:solidFill>
              </a:rPr>
              <a:t>, and finally, the outermost</a:t>
            </a:r>
            <a:br>
              <a:rPr lang="en-US" sz="2200" b="1" dirty="0">
                <a:solidFill>
                  <a:srgbClr val="FFFFFF"/>
                </a:solidFill>
              </a:rPr>
            </a:br>
            <a:r>
              <a:rPr lang="en-US" sz="2200" b="1" dirty="0">
                <a:solidFill>
                  <a:srgbClr val="FFFFFF"/>
                </a:solidFill>
              </a:rPr>
              <a:t>    line ( </a:t>
            </a:r>
            <a:r>
              <a:rPr lang="en-US" sz="2200" b="1" dirty="0">
                <a:solidFill>
                  <a:srgbClr val="FFFF00"/>
                </a:solidFill>
              </a:rPr>
              <a:t>at  F3 </a:t>
            </a:r>
            <a:r>
              <a:rPr lang="en-US" sz="2200" b="1" dirty="0">
                <a:solidFill>
                  <a:srgbClr val="FFFFFF"/>
                </a:solidFill>
              </a:rPr>
              <a:t>) to be the innermost line </a:t>
            </a:r>
            <a:br>
              <a:rPr lang="en-US" sz="2200" b="1" dirty="0">
                <a:solidFill>
                  <a:srgbClr val="FFFFFF"/>
                </a:solidFill>
              </a:rPr>
            </a:br>
            <a:r>
              <a:rPr lang="en-US" sz="2200" b="1" dirty="0">
                <a:solidFill>
                  <a:srgbClr val="FFFFFF"/>
                </a:solidFill>
              </a:rPr>
              <a:t>    as you see in </a:t>
            </a:r>
            <a:r>
              <a:rPr lang="en-US" sz="2200" b="1" dirty="0">
                <a:solidFill>
                  <a:srgbClr val="FFFF00"/>
                </a:solidFill>
              </a:rPr>
              <a:t>picture 8</a:t>
            </a:r>
            <a:r>
              <a:rPr lang="en-US" sz="2200" b="1" dirty="0">
                <a:solidFill>
                  <a:srgbClr val="FFFFFF"/>
                </a:solidFill>
              </a:rPr>
              <a:t>.</a:t>
            </a:r>
            <a:br>
              <a:rPr lang="en-US" sz="2200" b="1" dirty="0">
                <a:solidFill>
                  <a:srgbClr val="FFFFFF"/>
                </a:solidFill>
              </a:rPr>
            </a:br>
            <a:r>
              <a:rPr lang="en-US" sz="2200" b="1" dirty="0">
                <a:solidFill>
                  <a:srgbClr val="FFFFFF"/>
                </a:solidFill>
              </a:rPr>
              <a:t>   </a:t>
            </a:r>
            <a:br>
              <a:rPr lang="en-US" sz="2200" b="1" dirty="0">
                <a:solidFill>
                  <a:srgbClr val="FFFFFF"/>
                </a:solidFill>
              </a:rPr>
            </a:br>
            <a:r>
              <a:rPr lang="en-US" sz="2200" b="1" dirty="0">
                <a:solidFill>
                  <a:srgbClr val="FFFFFF"/>
                </a:solidFill>
              </a:rPr>
              <a:t>     </a:t>
            </a:r>
            <a:r>
              <a:rPr lang="en-US" sz="2200" b="1" dirty="0">
                <a:solidFill>
                  <a:srgbClr val="FFFF00"/>
                </a:solidFill>
                <a:latin typeface="Gill Sans MT Condensed" panose="020B0506020104020203" pitchFamily="34" charset="0"/>
              </a:rPr>
              <a:t>No flaming for the loop between the spreading of     </a:t>
            </a:r>
            <a:br>
              <a:rPr lang="en-US" sz="2200" b="1" dirty="0">
                <a:solidFill>
                  <a:srgbClr val="FFFF00"/>
                </a:solidFill>
                <a:latin typeface="Gill Sans MT Condensed" panose="020B0506020104020203" pitchFamily="34" charset="0"/>
              </a:rPr>
            </a:br>
            <a:r>
              <a:rPr lang="en-US" sz="2200" b="1" dirty="0">
                <a:solidFill>
                  <a:srgbClr val="FFFF00"/>
                </a:solidFill>
                <a:latin typeface="Gill Sans MT Condensed" panose="020B0506020104020203" pitchFamily="34" charset="0"/>
              </a:rPr>
              <a:t>   bacteria from F1. F2, and F3</a:t>
            </a:r>
            <a:br>
              <a:rPr lang="en-US" sz="2200" b="1" dirty="0">
                <a:solidFill>
                  <a:srgbClr val="FFFF00"/>
                </a:solidFill>
                <a:latin typeface="Gill Sans MT Condensed" panose="020B0506020104020203" pitchFamily="34" charset="0"/>
              </a:rPr>
            </a:br>
            <a:endParaRPr lang="en-US" sz="2200" b="1" dirty="0">
              <a:solidFill>
                <a:srgbClr val="FFFF00"/>
              </a:solidFill>
              <a:latin typeface="Gill Sans MT Condensed" panose="020B0506020104020203" pitchFamily="34" charset="0"/>
            </a:endParaRPr>
          </a:p>
        </p:txBody>
      </p:sp>
      <p:pic>
        <p:nvPicPr>
          <p:cNvPr id="11" name="Content Placeholder 10" descr="Diagram&#10;&#10;Description automatically generated">
            <a:extLst>
              <a:ext uri="{FF2B5EF4-FFF2-40B4-BE49-F238E27FC236}">
                <a16:creationId xmlns:a16="http://schemas.microsoft.com/office/drawing/2014/main" id="{2B8CFA90-A379-4A0A-A78F-9C4FF5088E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89166" y="-4"/>
            <a:ext cx="3973131" cy="6858001"/>
          </a:xfrm>
        </p:spPr>
      </p:pic>
    </p:spTree>
    <p:extLst>
      <p:ext uri="{BB962C8B-B14F-4D97-AF65-F5344CB8AC3E}">
        <p14:creationId xmlns:p14="http://schemas.microsoft.com/office/powerpoint/2010/main" val="1177298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1E3E66-DAA5-4A16-AA44-2C477E7BD4A6}"/>
              </a:ext>
            </a:extLst>
          </p:cNvPr>
          <p:cNvSpPr>
            <a:spLocks noGrp="1"/>
          </p:cNvSpPr>
          <p:nvPr>
            <p:ph type="title"/>
          </p:nvPr>
        </p:nvSpPr>
        <p:spPr>
          <a:xfrm>
            <a:off x="-82402" y="1231985"/>
            <a:ext cx="4350532" cy="5113946"/>
          </a:xfrm>
        </p:spPr>
        <p:txBody>
          <a:bodyPr anchor="b">
            <a:normAutofit fontScale="90000"/>
          </a:bodyPr>
          <a:lstStyle/>
          <a:p>
            <a:r>
              <a:rPr lang="en-US" sz="3600" b="1" dirty="0">
                <a:solidFill>
                  <a:srgbClr val="FFFFFF"/>
                </a:solidFill>
              </a:rPr>
              <a:t>Step 8:</a:t>
            </a:r>
            <a:br>
              <a:rPr lang="en-US" sz="3600" b="1" dirty="0">
                <a:solidFill>
                  <a:srgbClr val="FFFFFF"/>
                </a:solidFill>
              </a:rPr>
            </a:br>
            <a:br>
              <a:rPr lang="en-US" sz="2200" b="1" dirty="0">
                <a:solidFill>
                  <a:srgbClr val="FFFFFF"/>
                </a:solidFill>
              </a:rPr>
            </a:br>
            <a:r>
              <a:rPr lang="en-US" sz="2200" b="1" dirty="0">
                <a:solidFill>
                  <a:srgbClr val="FFFFFF"/>
                </a:solidFill>
              </a:rPr>
              <a:t>* Then sterilize the loop again for the </a:t>
            </a:r>
            <a:br>
              <a:rPr lang="en-US" sz="2200" b="1" dirty="0">
                <a:solidFill>
                  <a:srgbClr val="FFFFFF"/>
                </a:solidFill>
              </a:rPr>
            </a:br>
            <a:r>
              <a:rPr lang="en-US" sz="2200" b="1" dirty="0">
                <a:solidFill>
                  <a:srgbClr val="FFFFFF"/>
                </a:solidFill>
              </a:rPr>
              <a:t>   fourth time, cool it near the Bunsen</a:t>
            </a:r>
            <a:br>
              <a:rPr lang="en-US" sz="2200" b="1" dirty="0">
                <a:solidFill>
                  <a:srgbClr val="FFFFFF"/>
                </a:solidFill>
              </a:rPr>
            </a:br>
            <a:r>
              <a:rPr lang="en-US" sz="2200" b="1" dirty="0">
                <a:solidFill>
                  <a:srgbClr val="FFFFFF"/>
                </a:solidFill>
              </a:rPr>
              <a:t>   Burner, check the cooling of the loop</a:t>
            </a:r>
            <a:br>
              <a:rPr lang="en-US" sz="2200" b="1" dirty="0">
                <a:solidFill>
                  <a:srgbClr val="FFFFFF"/>
                </a:solidFill>
              </a:rPr>
            </a:br>
            <a:r>
              <a:rPr lang="en-US" sz="2200" b="1" dirty="0">
                <a:solidFill>
                  <a:srgbClr val="FFFFFF"/>
                </a:solidFill>
              </a:rPr>
              <a:t>   by inserting it to the agar of the plate</a:t>
            </a:r>
            <a:br>
              <a:rPr lang="en-US" sz="2200" b="1" dirty="0">
                <a:solidFill>
                  <a:srgbClr val="FFFFFF"/>
                </a:solidFill>
              </a:rPr>
            </a:br>
            <a:r>
              <a:rPr lang="en-US" sz="2200" b="1" dirty="0">
                <a:solidFill>
                  <a:srgbClr val="FFFFFF"/>
                </a:solidFill>
              </a:rPr>
              <a:t>   near the first and second times (at G).</a:t>
            </a:r>
            <a:br>
              <a:rPr lang="en-US" sz="2200" b="1" dirty="0">
                <a:solidFill>
                  <a:srgbClr val="FFFFFF"/>
                </a:solidFill>
              </a:rPr>
            </a:br>
            <a:br>
              <a:rPr lang="en-US" sz="2200" b="1" dirty="0">
                <a:solidFill>
                  <a:srgbClr val="FFFFFF"/>
                </a:solidFill>
              </a:rPr>
            </a:br>
            <a:r>
              <a:rPr lang="en-US" sz="2200" b="1" dirty="0">
                <a:solidFill>
                  <a:srgbClr val="FFFFFF"/>
                </a:solidFill>
              </a:rPr>
              <a:t>* Spread the bacteria at R1, R2, R3 ,</a:t>
            </a:r>
            <a:br>
              <a:rPr lang="en-US" sz="2200" b="1" dirty="0">
                <a:solidFill>
                  <a:srgbClr val="FFFFFF"/>
                </a:solidFill>
              </a:rPr>
            </a:br>
            <a:r>
              <a:rPr lang="en-US" sz="2200" b="1" dirty="0">
                <a:solidFill>
                  <a:srgbClr val="FFFFFF"/>
                </a:solidFill>
              </a:rPr>
              <a:t>   respectively, by Zig Zag lines Starting </a:t>
            </a:r>
            <a:br>
              <a:rPr lang="en-US" sz="2200" b="1" dirty="0">
                <a:solidFill>
                  <a:srgbClr val="FFFFFF"/>
                </a:solidFill>
              </a:rPr>
            </a:br>
            <a:r>
              <a:rPr lang="en-US" sz="2200" b="1" dirty="0">
                <a:solidFill>
                  <a:srgbClr val="FFFFFF"/>
                </a:solidFill>
              </a:rPr>
              <a:t>   from the innermost line as in picture</a:t>
            </a:r>
            <a:br>
              <a:rPr lang="en-US" sz="2200" b="1" dirty="0">
                <a:solidFill>
                  <a:srgbClr val="FFFFFF"/>
                </a:solidFill>
              </a:rPr>
            </a:br>
            <a:r>
              <a:rPr lang="en-US" sz="2200" b="1" dirty="0">
                <a:solidFill>
                  <a:srgbClr val="FFFFFF"/>
                </a:solidFill>
              </a:rPr>
              <a:t>   9, then middle line as in picture 10, </a:t>
            </a:r>
            <a:br>
              <a:rPr lang="en-US" sz="2200" b="1" dirty="0">
                <a:solidFill>
                  <a:srgbClr val="FFFFFF"/>
                </a:solidFill>
              </a:rPr>
            </a:br>
            <a:r>
              <a:rPr lang="en-US" sz="2200" b="1" dirty="0">
                <a:solidFill>
                  <a:srgbClr val="FFFFFF"/>
                </a:solidFill>
              </a:rPr>
              <a:t>   and finally, the outermost line as in</a:t>
            </a:r>
            <a:br>
              <a:rPr lang="en-US" sz="2200" b="1" dirty="0">
                <a:solidFill>
                  <a:srgbClr val="FFFFFF"/>
                </a:solidFill>
              </a:rPr>
            </a:br>
            <a:r>
              <a:rPr lang="en-US" sz="2200" b="1" dirty="0">
                <a:solidFill>
                  <a:srgbClr val="FFFFFF"/>
                </a:solidFill>
              </a:rPr>
              <a:t>   picture 11.</a:t>
            </a:r>
            <a:br>
              <a:rPr lang="en-US" sz="2200" b="1" dirty="0">
                <a:solidFill>
                  <a:srgbClr val="FFFFFF"/>
                </a:solidFill>
              </a:rPr>
            </a:br>
            <a:br>
              <a:rPr lang="en-US" sz="2000" b="1" dirty="0">
                <a:solidFill>
                  <a:srgbClr val="FFFFFF"/>
                </a:solidFill>
              </a:rPr>
            </a:br>
            <a:r>
              <a:rPr kumimoji="0" lang="en-US" sz="2200" b="1" i="0" u="none" strike="noStrike" kern="1200" cap="none" spc="0" normalizeH="0" baseline="0" noProof="0" dirty="0">
                <a:ln>
                  <a:noFill/>
                </a:ln>
                <a:solidFill>
                  <a:srgbClr val="FFFFFF"/>
                </a:solidFill>
                <a:effectLst/>
                <a:uLnTx/>
                <a:uFillTx/>
                <a:latin typeface="Calibri Light" panose="020F0302020204030204"/>
                <a:ea typeface="+mj-ea"/>
                <a:cs typeface="+mj-cs"/>
              </a:rPr>
              <a:t> </a:t>
            </a:r>
            <a:r>
              <a:rPr kumimoji="0" lang="en-US" sz="2200" b="1" i="0" u="none" strike="noStrike" kern="1200" cap="none" spc="0" normalizeH="0" baseline="0" noProof="0" dirty="0">
                <a:ln>
                  <a:noFill/>
                </a:ln>
                <a:solidFill>
                  <a:srgbClr val="FFFF00"/>
                </a:solidFill>
                <a:effectLst/>
                <a:uLnTx/>
                <a:uFillTx/>
                <a:latin typeface="Gill Sans MT Condensed" panose="020B0506020104020203" pitchFamily="34" charset="0"/>
                <a:ea typeface="+mj-ea"/>
                <a:cs typeface="+mj-cs"/>
              </a:rPr>
              <a:t>No flaming for the loop between the spreading of     </a:t>
            </a:r>
            <a:br>
              <a:rPr kumimoji="0" lang="en-US" sz="2200" b="1" i="0" u="none" strike="noStrike" kern="1200" cap="none" spc="0" normalizeH="0" baseline="0" noProof="0" dirty="0">
                <a:ln>
                  <a:noFill/>
                </a:ln>
                <a:solidFill>
                  <a:srgbClr val="FFFF00"/>
                </a:solidFill>
                <a:effectLst/>
                <a:uLnTx/>
                <a:uFillTx/>
                <a:latin typeface="Gill Sans MT Condensed" panose="020B0506020104020203" pitchFamily="34" charset="0"/>
                <a:ea typeface="+mj-ea"/>
                <a:cs typeface="+mj-cs"/>
              </a:rPr>
            </a:br>
            <a:r>
              <a:rPr kumimoji="0" lang="en-US" sz="2200" b="1" i="0" u="none" strike="noStrike" kern="1200" cap="none" spc="0" normalizeH="0" baseline="0" noProof="0" dirty="0">
                <a:ln>
                  <a:noFill/>
                </a:ln>
                <a:solidFill>
                  <a:srgbClr val="FFFF00"/>
                </a:solidFill>
                <a:effectLst/>
                <a:uLnTx/>
                <a:uFillTx/>
                <a:latin typeface="Gill Sans MT Condensed" panose="020B0506020104020203" pitchFamily="34" charset="0"/>
                <a:ea typeface="+mj-ea"/>
                <a:cs typeface="+mj-cs"/>
              </a:rPr>
              <a:t>   bacteria from R1. R2, and R3</a:t>
            </a:r>
            <a:br>
              <a:rPr kumimoji="0" lang="en-US" sz="2200" b="1" i="0" u="none" strike="noStrike" kern="1200" cap="none" spc="0" normalizeH="0" baseline="0" noProof="0" dirty="0">
                <a:ln>
                  <a:noFill/>
                </a:ln>
                <a:solidFill>
                  <a:srgbClr val="FFFF00"/>
                </a:solidFill>
                <a:effectLst/>
                <a:uLnTx/>
                <a:uFillTx/>
                <a:latin typeface="Gill Sans MT Condensed" panose="020B0506020104020203" pitchFamily="34" charset="0"/>
                <a:ea typeface="+mj-ea"/>
                <a:cs typeface="+mj-cs"/>
              </a:rPr>
            </a:br>
            <a:br>
              <a:rPr kumimoji="0" lang="en-US" sz="2200" b="1" i="0" u="none" strike="noStrike" kern="1200" cap="none" spc="0" normalizeH="0" baseline="0" noProof="0" dirty="0">
                <a:ln>
                  <a:noFill/>
                </a:ln>
                <a:solidFill>
                  <a:srgbClr val="FFFF00"/>
                </a:solidFill>
                <a:effectLst/>
                <a:uLnTx/>
                <a:uFillTx/>
                <a:latin typeface="Gill Sans MT Condensed" panose="020B0506020104020203" pitchFamily="34" charset="0"/>
                <a:ea typeface="+mj-ea"/>
                <a:cs typeface="+mj-cs"/>
              </a:rPr>
            </a:br>
            <a:r>
              <a:rPr kumimoji="0" lang="en-US" sz="2200" b="1" i="0" u="none" strike="noStrike" kern="1200" cap="none" spc="0" normalizeH="0" baseline="0" noProof="0" dirty="0">
                <a:ln>
                  <a:noFill/>
                </a:ln>
                <a:solidFill>
                  <a:schemeClr val="bg1"/>
                </a:solidFill>
                <a:effectLst/>
                <a:uLnTx/>
                <a:uFillTx/>
                <a:latin typeface="Gill Sans MT Condensed" panose="020B0506020104020203" pitchFamily="34" charset="0"/>
                <a:ea typeface="+mj-ea"/>
                <a:cs typeface="+mj-cs"/>
              </a:rPr>
              <a:t>*</a:t>
            </a:r>
            <a:r>
              <a:rPr kumimoji="0" lang="en-US" sz="2200" b="1" i="0" u="none" strike="noStrike" kern="1200" cap="none" spc="0" normalizeH="0" baseline="0" noProof="0" dirty="0">
                <a:ln>
                  <a:noFill/>
                </a:ln>
                <a:solidFill>
                  <a:srgbClr val="FFFF00"/>
                </a:solidFill>
                <a:effectLst/>
                <a:uLnTx/>
                <a:uFillTx/>
                <a:latin typeface="Gill Sans MT Condensed" panose="020B0506020104020203" pitchFamily="34" charset="0"/>
                <a:ea typeface="+mj-ea"/>
                <a:cs typeface="+mj-cs"/>
              </a:rPr>
              <a:t> </a:t>
            </a:r>
            <a:r>
              <a:rPr kumimoji="0" lang="en-US" sz="2200" b="1" i="0" u="none" strike="noStrike" kern="1200" cap="none" spc="0" normalizeH="0" baseline="0" noProof="0" dirty="0">
                <a:ln>
                  <a:noFill/>
                </a:ln>
                <a:solidFill>
                  <a:schemeClr val="bg1"/>
                </a:solidFill>
                <a:effectLst/>
                <a:uLnTx/>
                <a:uFillTx/>
                <a:ea typeface="+mj-ea"/>
                <a:cs typeface="+mj-cs"/>
              </a:rPr>
              <a:t>Repeat steps 1 – 8  for all isolate you </a:t>
            </a:r>
            <a:br>
              <a:rPr kumimoji="0" lang="en-US" sz="2200" b="1" i="0" u="none" strike="noStrike" kern="1200" cap="none" spc="0" normalizeH="0" baseline="0" noProof="0" dirty="0">
                <a:ln>
                  <a:noFill/>
                </a:ln>
                <a:solidFill>
                  <a:schemeClr val="bg1"/>
                </a:solidFill>
                <a:effectLst/>
                <a:uLnTx/>
                <a:uFillTx/>
                <a:ea typeface="+mj-ea"/>
                <a:cs typeface="+mj-cs"/>
              </a:rPr>
            </a:br>
            <a:r>
              <a:rPr kumimoji="0" lang="en-US" sz="2200" b="1" i="0" u="none" strike="noStrike" kern="1200" cap="none" spc="0" normalizeH="0" baseline="0" noProof="0" dirty="0">
                <a:ln>
                  <a:noFill/>
                </a:ln>
                <a:solidFill>
                  <a:schemeClr val="bg1"/>
                </a:solidFill>
                <a:effectLst/>
                <a:uLnTx/>
                <a:uFillTx/>
                <a:ea typeface="+mj-ea"/>
                <a:cs typeface="+mj-cs"/>
              </a:rPr>
              <a:t>   need to purify, each on a separate plate</a:t>
            </a:r>
            <a:br>
              <a:rPr kumimoji="0" lang="en-US" sz="2200" b="1" i="0" u="none" strike="noStrike" kern="1200" cap="none" spc="0" normalizeH="0" baseline="0" noProof="0" dirty="0">
                <a:ln>
                  <a:noFill/>
                </a:ln>
                <a:solidFill>
                  <a:schemeClr val="bg1"/>
                </a:solidFill>
                <a:effectLst/>
                <a:uLnTx/>
                <a:uFillTx/>
                <a:ea typeface="+mj-ea"/>
                <a:cs typeface="+mj-cs"/>
              </a:rPr>
            </a:br>
            <a:endParaRPr lang="en-US" sz="3200" b="1" dirty="0">
              <a:solidFill>
                <a:schemeClr val="bg1"/>
              </a:solidFill>
            </a:endParaRPr>
          </a:p>
        </p:txBody>
      </p:sp>
      <p:pic>
        <p:nvPicPr>
          <p:cNvPr id="11" name="Content Placeholder 10" descr="Diagram&#10;&#10;Description automatically generated">
            <a:extLst>
              <a:ext uri="{FF2B5EF4-FFF2-40B4-BE49-F238E27FC236}">
                <a16:creationId xmlns:a16="http://schemas.microsoft.com/office/drawing/2014/main" id="{02BA9062-5801-43BA-A3E3-90CFFD86CD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51305" y="-5"/>
            <a:ext cx="4480674" cy="6858001"/>
          </a:xfrm>
        </p:spPr>
      </p:pic>
    </p:spTree>
    <p:extLst>
      <p:ext uri="{BB962C8B-B14F-4D97-AF65-F5344CB8AC3E}">
        <p14:creationId xmlns:p14="http://schemas.microsoft.com/office/powerpoint/2010/main" val="4271595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B454326-584B-4A7F-81EF-593CAAFE2481}"/>
              </a:ext>
            </a:extLst>
          </p:cNvPr>
          <p:cNvSpPr>
            <a:spLocks noGrp="1"/>
          </p:cNvSpPr>
          <p:nvPr>
            <p:ph type="title"/>
          </p:nvPr>
        </p:nvSpPr>
        <p:spPr>
          <a:xfrm>
            <a:off x="1" y="112542"/>
            <a:ext cx="4417254" cy="4243471"/>
          </a:xfrm>
        </p:spPr>
        <p:txBody>
          <a:bodyPr anchor="b">
            <a:normAutofit/>
          </a:bodyPr>
          <a:lstStyle/>
          <a:p>
            <a:r>
              <a:rPr lang="en-US" sz="3200" b="1" dirty="0">
                <a:solidFill>
                  <a:srgbClr val="FFFFFF"/>
                </a:solidFill>
              </a:rPr>
              <a:t>Step 9:</a:t>
            </a:r>
            <a:br>
              <a:rPr lang="en-US" sz="3200" b="1" dirty="0">
                <a:solidFill>
                  <a:srgbClr val="FFFFFF"/>
                </a:solidFill>
              </a:rPr>
            </a:br>
            <a:br>
              <a:rPr lang="en-US" sz="3200" b="1" dirty="0">
                <a:solidFill>
                  <a:srgbClr val="FFFFFF"/>
                </a:solidFill>
              </a:rPr>
            </a:br>
            <a:r>
              <a:rPr lang="en-US" sz="3200" b="1" dirty="0">
                <a:solidFill>
                  <a:srgbClr val="FFFFFF"/>
                </a:solidFill>
              </a:rPr>
              <a:t>Incubate All plates upside</a:t>
            </a:r>
            <a:br>
              <a:rPr lang="en-US" sz="3200" b="1" dirty="0">
                <a:solidFill>
                  <a:srgbClr val="FFFFFF"/>
                </a:solidFill>
              </a:rPr>
            </a:br>
            <a:r>
              <a:rPr lang="en-US" sz="3200" b="1" dirty="0">
                <a:solidFill>
                  <a:srgbClr val="FFFFFF"/>
                </a:solidFill>
              </a:rPr>
              <a:t>down over night.</a:t>
            </a:r>
            <a:br>
              <a:rPr lang="en-US" sz="3200" b="1" dirty="0">
                <a:solidFill>
                  <a:srgbClr val="FFFFFF"/>
                </a:solidFill>
              </a:rPr>
            </a:br>
            <a:br>
              <a:rPr lang="en-US" sz="3200" b="1" dirty="0">
                <a:solidFill>
                  <a:srgbClr val="FFFFFF"/>
                </a:solidFill>
              </a:rPr>
            </a:br>
            <a:r>
              <a:rPr lang="en-US" sz="3200" b="1" dirty="0">
                <a:solidFill>
                  <a:srgbClr val="FFFF00"/>
                </a:solidFill>
              </a:rPr>
              <a:t>Why upside down? </a:t>
            </a:r>
          </a:p>
        </p:txBody>
      </p:sp>
      <p:pic>
        <p:nvPicPr>
          <p:cNvPr id="5" name="Content Placeholder 4" descr="Diagram&#10;&#10;Description automatically generated">
            <a:extLst>
              <a:ext uri="{FF2B5EF4-FFF2-40B4-BE49-F238E27FC236}">
                <a16:creationId xmlns:a16="http://schemas.microsoft.com/office/drawing/2014/main" id="{893574C8-D095-44A3-866F-C5210B6030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54836" y="0"/>
            <a:ext cx="4888589" cy="6858000"/>
          </a:xfrm>
        </p:spPr>
      </p:pic>
    </p:spTree>
    <p:extLst>
      <p:ext uri="{BB962C8B-B14F-4D97-AF65-F5344CB8AC3E}">
        <p14:creationId xmlns:p14="http://schemas.microsoft.com/office/powerpoint/2010/main" val="3770019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1A026C-AFE2-4255-B69D-505B7BEDD93E}"/>
              </a:ext>
            </a:extLst>
          </p:cNvPr>
          <p:cNvSpPr>
            <a:spLocks noGrp="1"/>
          </p:cNvSpPr>
          <p:nvPr>
            <p:ph type="title"/>
          </p:nvPr>
        </p:nvSpPr>
        <p:spPr>
          <a:xfrm>
            <a:off x="0" y="1244991"/>
            <a:ext cx="4042815" cy="3387497"/>
          </a:xfrm>
        </p:spPr>
        <p:txBody>
          <a:bodyPr anchor="b">
            <a:normAutofit fontScale="90000"/>
          </a:bodyPr>
          <a:lstStyle/>
          <a:p>
            <a:r>
              <a:rPr lang="en-US" sz="2000" b="1" dirty="0">
                <a:solidFill>
                  <a:srgbClr val="FFFF00"/>
                </a:solidFill>
              </a:rPr>
              <a:t>The Zig Zag line</a:t>
            </a:r>
            <a:r>
              <a:rPr lang="en-US" sz="2000" b="1" dirty="0">
                <a:solidFill>
                  <a:srgbClr val="FFFFFF"/>
                </a:solidFill>
              </a:rPr>
              <a:t>: We inoculate the bacteria by Zig Zag line to increase the area for bacterial distribution. </a:t>
            </a:r>
            <a:r>
              <a:rPr lang="en-US" sz="2000" b="1" dirty="0">
                <a:solidFill>
                  <a:srgbClr val="FFFF00"/>
                </a:solidFill>
              </a:rPr>
              <a:t>(The Zig Zag line is longer than straight line) .</a:t>
            </a:r>
            <a:br>
              <a:rPr lang="en-US" sz="2000" b="1" dirty="0">
                <a:solidFill>
                  <a:srgbClr val="FFFF00"/>
                </a:solidFill>
              </a:rPr>
            </a:br>
            <a:br>
              <a:rPr lang="en-US" sz="2000" b="1" dirty="0">
                <a:solidFill>
                  <a:srgbClr val="FFFF00"/>
                </a:solidFill>
              </a:rPr>
            </a:br>
            <a:br>
              <a:rPr lang="en-US" sz="2000" b="1" dirty="0">
                <a:solidFill>
                  <a:srgbClr val="FFFF00"/>
                </a:solidFill>
              </a:rPr>
            </a:br>
            <a:br>
              <a:rPr lang="en-US" sz="2000" b="1" dirty="0">
                <a:solidFill>
                  <a:schemeClr val="bg1"/>
                </a:solidFill>
              </a:rPr>
            </a:br>
            <a:r>
              <a:rPr lang="en-US" sz="2000" b="1" dirty="0">
                <a:solidFill>
                  <a:schemeClr val="bg1"/>
                </a:solidFill>
              </a:rPr>
              <a:t>The area of zig zag line ( A)  is the area </a:t>
            </a:r>
            <a:br>
              <a:rPr lang="en-US" sz="2000" b="1" dirty="0">
                <a:solidFill>
                  <a:schemeClr val="bg1"/>
                </a:solidFill>
              </a:rPr>
            </a:br>
            <a:r>
              <a:rPr lang="en-US" sz="2000" b="1" dirty="0">
                <a:solidFill>
                  <a:schemeClr val="bg1"/>
                </a:solidFill>
              </a:rPr>
              <a:t>where the isolated colonies  of bacteria</a:t>
            </a:r>
            <a:br>
              <a:rPr lang="en-US" sz="2000" b="1" dirty="0">
                <a:solidFill>
                  <a:schemeClr val="bg1"/>
                </a:solidFill>
              </a:rPr>
            </a:br>
            <a:r>
              <a:rPr lang="en-US" sz="2000" b="1" dirty="0">
                <a:solidFill>
                  <a:schemeClr val="bg1"/>
                </a:solidFill>
              </a:rPr>
              <a:t>will develop, this area must be as large as</a:t>
            </a:r>
            <a:br>
              <a:rPr lang="en-US" sz="2000" b="1" dirty="0">
                <a:solidFill>
                  <a:schemeClr val="bg1"/>
                </a:solidFill>
              </a:rPr>
            </a:br>
            <a:r>
              <a:rPr lang="en-US" sz="2000" b="1" dirty="0">
                <a:solidFill>
                  <a:schemeClr val="bg1"/>
                </a:solidFill>
              </a:rPr>
              <a:t> possible, that’s why we inoculated the plates near the edge of the plate as will as possible.</a:t>
            </a:r>
          </a:p>
        </p:txBody>
      </p:sp>
      <p:pic>
        <p:nvPicPr>
          <p:cNvPr id="5" name="Content Placeholder 4" descr="Icon&#10;&#10;Description automatically generated">
            <a:extLst>
              <a:ext uri="{FF2B5EF4-FFF2-40B4-BE49-F238E27FC236}">
                <a16:creationId xmlns:a16="http://schemas.microsoft.com/office/drawing/2014/main" id="{9A867888-360C-4DB5-A363-4A8382A126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85154" y="351692"/>
            <a:ext cx="4958272" cy="5205046"/>
          </a:xfrm>
        </p:spPr>
      </p:pic>
    </p:spTree>
    <p:extLst>
      <p:ext uri="{BB962C8B-B14F-4D97-AF65-F5344CB8AC3E}">
        <p14:creationId xmlns:p14="http://schemas.microsoft.com/office/powerpoint/2010/main" val="2731686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38EC87-5575-44B3-85A3-20F54684B0EB}"/>
              </a:ext>
            </a:extLst>
          </p:cNvPr>
          <p:cNvSpPr>
            <a:spLocks noGrp="1"/>
          </p:cNvSpPr>
          <p:nvPr>
            <p:ph type="title"/>
          </p:nvPr>
        </p:nvSpPr>
        <p:spPr>
          <a:xfrm>
            <a:off x="574" y="586855"/>
            <a:ext cx="4266059" cy="3387497"/>
          </a:xfrm>
        </p:spPr>
        <p:txBody>
          <a:bodyPr anchor="b">
            <a:normAutofit/>
          </a:bodyPr>
          <a:lstStyle/>
          <a:p>
            <a:r>
              <a:rPr lang="en-US" sz="2800" b="1" dirty="0">
                <a:solidFill>
                  <a:srgbClr val="FFFFFF"/>
                </a:solidFill>
              </a:rPr>
              <a:t>After over night incubation:</a:t>
            </a:r>
            <a:br>
              <a:rPr lang="en-US" sz="2800" b="1" dirty="0">
                <a:solidFill>
                  <a:srgbClr val="FFFFFF"/>
                </a:solidFill>
              </a:rPr>
            </a:br>
            <a:br>
              <a:rPr lang="en-US" sz="2800" b="1" dirty="0">
                <a:solidFill>
                  <a:srgbClr val="FFFFFF"/>
                </a:solidFill>
              </a:rPr>
            </a:br>
            <a:r>
              <a:rPr lang="en-US" sz="2000" b="1" dirty="0">
                <a:solidFill>
                  <a:srgbClr val="FFFFFF"/>
                </a:solidFill>
              </a:rPr>
              <a:t>The pure culture contains </a:t>
            </a:r>
            <a:r>
              <a:rPr lang="en-US" sz="2000" b="1" dirty="0">
                <a:solidFill>
                  <a:srgbClr val="FFFF00"/>
                </a:solidFill>
              </a:rPr>
              <a:t>isolated,</a:t>
            </a:r>
            <a:br>
              <a:rPr lang="en-US" sz="2000" b="1" dirty="0">
                <a:solidFill>
                  <a:srgbClr val="FFFF00"/>
                </a:solidFill>
              </a:rPr>
            </a:br>
            <a:r>
              <a:rPr lang="en-US" sz="2000" b="1" dirty="0">
                <a:solidFill>
                  <a:srgbClr val="FFFF00"/>
                </a:solidFill>
              </a:rPr>
              <a:t>Identical colonies and all of them </a:t>
            </a:r>
            <a:br>
              <a:rPr lang="en-US" sz="2000" b="1" dirty="0">
                <a:solidFill>
                  <a:srgbClr val="FFFF00"/>
                </a:solidFill>
              </a:rPr>
            </a:br>
            <a:r>
              <a:rPr lang="en-US" sz="2000" b="1" dirty="0">
                <a:solidFill>
                  <a:srgbClr val="FFFF00"/>
                </a:solidFill>
              </a:rPr>
              <a:t>grew on the inoculated line as in (1)</a:t>
            </a:r>
            <a:r>
              <a:rPr lang="en-US" sz="2000" b="1" dirty="0">
                <a:solidFill>
                  <a:srgbClr val="FFFFFF"/>
                </a:solidFill>
              </a:rPr>
              <a:t>, otherwise, the culture is not pure</a:t>
            </a:r>
          </a:p>
        </p:txBody>
      </p:sp>
      <p:pic>
        <p:nvPicPr>
          <p:cNvPr id="5" name="Content Placeholder 4" descr="Diagram&#10;&#10;Description automatically generated">
            <a:extLst>
              <a:ext uri="{FF2B5EF4-FFF2-40B4-BE49-F238E27FC236}">
                <a16:creationId xmlns:a16="http://schemas.microsoft.com/office/drawing/2014/main" id="{050AB67D-0E98-4EF2-A562-134247638E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5455" y="1167618"/>
            <a:ext cx="4556523" cy="3999007"/>
          </a:xfrm>
        </p:spPr>
      </p:pic>
    </p:spTree>
    <p:extLst>
      <p:ext uri="{BB962C8B-B14F-4D97-AF65-F5344CB8AC3E}">
        <p14:creationId xmlns:p14="http://schemas.microsoft.com/office/powerpoint/2010/main" val="2428407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C2E6D4A-4FF1-4BC6-8F04-12C97581F67E}"/>
              </a:ext>
            </a:extLst>
          </p:cNvPr>
          <p:cNvSpPr>
            <a:spLocks noGrp="1"/>
          </p:cNvSpPr>
          <p:nvPr>
            <p:ph type="title"/>
          </p:nvPr>
        </p:nvSpPr>
        <p:spPr>
          <a:xfrm>
            <a:off x="112543" y="586853"/>
            <a:ext cx="4063410" cy="6281287"/>
          </a:xfrm>
        </p:spPr>
        <p:txBody>
          <a:bodyPr anchor="b">
            <a:normAutofit fontScale="90000"/>
          </a:bodyPr>
          <a:lstStyle/>
          <a:p>
            <a:r>
              <a:rPr lang="en-US" sz="3500" b="1" dirty="0">
                <a:solidFill>
                  <a:srgbClr val="FFFFFF"/>
                </a:solidFill>
              </a:rPr>
              <a:t>But If:</a:t>
            </a:r>
            <a:br>
              <a:rPr lang="en-US" sz="3500" b="1" dirty="0">
                <a:solidFill>
                  <a:srgbClr val="FFFFFF"/>
                </a:solidFill>
              </a:rPr>
            </a:br>
            <a:r>
              <a:rPr lang="en-US" sz="2400" b="1" dirty="0">
                <a:solidFill>
                  <a:srgbClr val="FFFFFF"/>
                </a:solidFill>
              </a:rPr>
              <a:t>1- The bacterial colonies in the </a:t>
            </a:r>
            <a:br>
              <a:rPr lang="en-US" sz="2400" b="1" dirty="0">
                <a:solidFill>
                  <a:srgbClr val="FFFFFF"/>
                </a:solidFill>
              </a:rPr>
            </a:br>
            <a:r>
              <a:rPr lang="en-US" sz="2400" b="1" dirty="0">
                <a:solidFill>
                  <a:srgbClr val="FFFFFF"/>
                </a:solidFill>
              </a:rPr>
              <a:t>    Zig zag area are not isolated </a:t>
            </a:r>
            <a:br>
              <a:rPr lang="en-US" sz="2400" b="1" dirty="0">
                <a:solidFill>
                  <a:srgbClr val="FFFFFF"/>
                </a:solidFill>
              </a:rPr>
            </a:br>
            <a:r>
              <a:rPr lang="en-US" sz="2400" b="1" dirty="0">
                <a:solidFill>
                  <a:srgbClr val="FFFFFF"/>
                </a:solidFill>
              </a:rPr>
              <a:t>    as in plate “2”</a:t>
            </a:r>
            <a:br>
              <a:rPr lang="en-US" sz="2400" b="1" dirty="0">
                <a:solidFill>
                  <a:srgbClr val="FFFFFF"/>
                </a:solidFill>
              </a:rPr>
            </a:br>
            <a:br>
              <a:rPr lang="en-US" sz="2400" b="1" dirty="0">
                <a:solidFill>
                  <a:srgbClr val="FFFFFF"/>
                </a:solidFill>
              </a:rPr>
            </a:br>
            <a:r>
              <a:rPr lang="en-US" sz="2400" b="1" dirty="0">
                <a:solidFill>
                  <a:srgbClr val="FFFF00"/>
                </a:solidFill>
              </a:rPr>
              <a:t>The culture is NOT pure.</a:t>
            </a:r>
            <a:br>
              <a:rPr lang="en-US" sz="2400" b="1" dirty="0">
                <a:solidFill>
                  <a:srgbClr val="FFFF00"/>
                </a:solidFill>
              </a:rPr>
            </a:br>
            <a:br>
              <a:rPr lang="en-US" sz="2400" b="1" dirty="0">
                <a:solidFill>
                  <a:srgbClr val="FFFFFF"/>
                </a:solidFill>
              </a:rPr>
            </a:br>
            <a:br>
              <a:rPr lang="en-US" sz="2400" b="1" dirty="0">
                <a:solidFill>
                  <a:srgbClr val="FFFFFF"/>
                </a:solidFill>
              </a:rPr>
            </a:br>
            <a:r>
              <a:rPr lang="en-US" sz="2400" b="1" dirty="0">
                <a:solidFill>
                  <a:srgbClr val="FFFFFF"/>
                </a:solidFill>
              </a:rPr>
              <a:t>2- The colonies in the Zig zag </a:t>
            </a:r>
            <a:br>
              <a:rPr lang="en-US" sz="2400" b="1" dirty="0">
                <a:solidFill>
                  <a:srgbClr val="FFFFFF"/>
                </a:solidFill>
              </a:rPr>
            </a:br>
            <a:r>
              <a:rPr lang="en-US" sz="2400" b="1" dirty="0">
                <a:solidFill>
                  <a:srgbClr val="FFFFFF"/>
                </a:solidFill>
              </a:rPr>
              <a:t>    are isolated and identical, </a:t>
            </a:r>
            <a:br>
              <a:rPr lang="en-US" sz="2400" b="1" dirty="0">
                <a:solidFill>
                  <a:srgbClr val="FFFFFF"/>
                </a:solidFill>
              </a:rPr>
            </a:br>
            <a:r>
              <a:rPr lang="en-US" sz="2400" b="1" dirty="0">
                <a:solidFill>
                  <a:srgbClr val="FFFFFF"/>
                </a:solidFill>
              </a:rPr>
              <a:t>    and grew on </a:t>
            </a:r>
            <a:r>
              <a:rPr lang="en-US" sz="2400" b="1" dirty="0">
                <a:solidFill>
                  <a:srgbClr val="FFFF00"/>
                </a:solidFill>
              </a:rPr>
              <a:t>the inoculated </a:t>
            </a:r>
            <a:br>
              <a:rPr lang="en-US" sz="2400" b="1" dirty="0">
                <a:solidFill>
                  <a:srgbClr val="FFFF00"/>
                </a:solidFill>
              </a:rPr>
            </a:br>
            <a:r>
              <a:rPr lang="en-US" sz="2400" b="1" dirty="0">
                <a:solidFill>
                  <a:srgbClr val="FFFF00"/>
                </a:solidFill>
              </a:rPr>
              <a:t>    except one or more of them  </a:t>
            </a:r>
            <a:br>
              <a:rPr lang="en-US" sz="2400" b="1" dirty="0">
                <a:solidFill>
                  <a:srgbClr val="FFFF00"/>
                </a:solidFill>
              </a:rPr>
            </a:br>
            <a:r>
              <a:rPr lang="en-US" sz="2400" b="1" dirty="0">
                <a:solidFill>
                  <a:srgbClr val="FFFF00"/>
                </a:solidFill>
              </a:rPr>
              <a:t>    grew out of the inoculated </a:t>
            </a:r>
            <a:br>
              <a:rPr lang="en-US" sz="2400" b="1" dirty="0">
                <a:solidFill>
                  <a:srgbClr val="FFFF00"/>
                </a:solidFill>
              </a:rPr>
            </a:br>
            <a:r>
              <a:rPr lang="en-US" sz="2400" b="1" dirty="0">
                <a:solidFill>
                  <a:srgbClr val="FFFF00"/>
                </a:solidFill>
              </a:rPr>
              <a:t>    lines </a:t>
            </a:r>
            <a:r>
              <a:rPr lang="en-US" sz="2400" b="1" dirty="0">
                <a:solidFill>
                  <a:srgbClr val="FFFFFF"/>
                </a:solidFill>
              </a:rPr>
              <a:t>as on the tip of arrow</a:t>
            </a:r>
            <a:br>
              <a:rPr lang="en-US" sz="2400" b="1" dirty="0">
                <a:solidFill>
                  <a:srgbClr val="FFFFFF"/>
                </a:solidFill>
              </a:rPr>
            </a:br>
            <a:r>
              <a:rPr lang="en-US" sz="2400" b="1" dirty="0">
                <a:solidFill>
                  <a:srgbClr val="FFFFFF"/>
                </a:solidFill>
              </a:rPr>
              <a:t>    in plate “3” , t</a:t>
            </a:r>
            <a:r>
              <a:rPr lang="en-US" sz="2400" b="1" dirty="0">
                <a:solidFill>
                  <a:srgbClr val="FFFF00"/>
                </a:solidFill>
              </a:rPr>
              <a:t>he culture is</a:t>
            </a:r>
            <a:br>
              <a:rPr lang="en-US" sz="2400" b="1" dirty="0">
                <a:solidFill>
                  <a:srgbClr val="FFFF00"/>
                </a:solidFill>
              </a:rPr>
            </a:br>
            <a:r>
              <a:rPr lang="en-US" sz="2400" b="1" dirty="0">
                <a:solidFill>
                  <a:srgbClr val="FFFF00"/>
                </a:solidFill>
              </a:rPr>
              <a:t>   NOT pure even if the colony(</a:t>
            </a:r>
            <a:r>
              <a:rPr lang="en-US" sz="2400" b="1" dirty="0" err="1">
                <a:solidFill>
                  <a:srgbClr val="FFFF00"/>
                </a:solidFill>
              </a:rPr>
              <a:t>ies</a:t>
            </a:r>
            <a:r>
              <a:rPr lang="en-US" sz="2400" b="1" dirty="0">
                <a:solidFill>
                  <a:srgbClr val="FFFF00"/>
                </a:solidFill>
              </a:rPr>
              <a:t>) </a:t>
            </a:r>
            <a:br>
              <a:rPr lang="en-US" sz="2400" b="1" dirty="0">
                <a:solidFill>
                  <a:srgbClr val="FFFF00"/>
                </a:solidFill>
              </a:rPr>
            </a:br>
            <a:r>
              <a:rPr lang="en-US" sz="2400" b="1" dirty="0">
                <a:solidFill>
                  <a:srgbClr val="FFFF00"/>
                </a:solidFill>
              </a:rPr>
              <a:t>   is (are) identical to the others.</a:t>
            </a:r>
            <a:br>
              <a:rPr lang="en-US" sz="2400" b="1" dirty="0">
                <a:solidFill>
                  <a:srgbClr val="FFFF00"/>
                </a:solidFill>
              </a:rPr>
            </a:br>
            <a:br>
              <a:rPr lang="en-US" sz="2400" b="1" dirty="0">
                <a:solidFill>
                  <a:srgbClr val="FFFFFF"/>
                </a:solidFill>
              </a:rPr>
            </a:br>
            <a:r>
              <a:rPr lang="en-US" sz="2400" b="1" dirty="0">
                <a:solidFill>
                  <a:srgbClr val="FFFFFF"/>
                </a:solidFill>
              </a:rPr>
              <a:t>         </a:t>
            </a:r>
          </a:p>
        </p:txBody>
      </p:sp>
      <p:pic>
        <p:nvPicPr>
          <p:cNvPr id="5" name="Content Placeholder 4" descr="Shape, circle&#10;&#10;Description automatically generated">
            <a:extLst>
              <a:ext uri="{FF2B5EF4-FFF2-40B4-BE49-F238E27FC236}">
                <a16:creationId xmlns:a16="http://schemas.microsoft.com/office/drawing/2014/main" id="{10D9325D-1709-4B08-A62D-5D21528070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93976" y="196948"/>
            <a:ext cx="4529180" cy="6661049"/>
          </a:xfrm>
        </p:spPr>
      </p:pic>
    </p:spTree>
    <p:extLst>
      <p:ext uri="{BB962C8B-B14F-4D97-AF65-F5344CB8AC3E}">
        <p14:creationId xmlns:p14="http://schemas.microsoft.com/office/powerpoint/2010/main" val="35047189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EB413A9-FC8E-4B6F-8062-474E72DA50D6}"/>
              </a:ext>
            </a:extLst>
          </p:cNvPr>
          <p:cNvSpPr>
            <a:spLocks noGrp="1"/>
          </p:cNvSpPr>
          <p:nvPr>
            <p:ph type="title"/>
          </p:nvPr>
        </p:nvSpPr>
        <p:spPr>
          <a:xfrm>
            <a:off x="1" y="586855"/>
            <a:ext cx="4021642" cy="5424785"/>
          </a:xfrm>
        </p:spPr>
        <p:txBody>
          <a:bodyPr anchor="b">
            <a:normAutofit/>
          </a:bodyPr>
          <a:lstStyle/>
          <a:p>
            <a:r>
              <a:rPr lang="en-US" sz="2200" b="1" dirty="0">
                <a:solidFill>
                  <a:srgbClr val="FFFFFF"/>
                </a:solidFill>
              </a:rPr>
              <a:t>3. If the Culture contains identical,</a:t>
            </a:r>
            <a:br>
              <a:rPr lang="en-US" sz="2200" b="1" dirty="0">
                <a:solidFill>
                  <a:srgbClr val="FFFFFF"/>
                </a:solidFill>
              </a:rPr>
            </a:br>
            <a:r>
              <a:rPr lang="en-US" sz="2200" b="1" dirty="0">
                <a:solidFill>
                  <a:srgbClr val="FFFFFF"/>
                </a:solidFill>
              </a:rPr>
              <a:t>     isolated colonies and all of </a:t>
            </a:r>
            <a:br>
              <a:rPr lang="en-US" sz="2200" b="1" dirty="0">
                <a:solidFill>
                  <a:srgbClr val="FFFFFF"/>
                </a:solidFill>
              </a:rPr>
            </a:br>
            <a:r>
              <a:rPr lang="en-US" sz="2200" b="1" dirty="0">
                <a:solidFill>
                  <a:srgbClr val="FFFFFF"/>
                </a:solidFill>
              </a:rPr>
              <a:t>     them grew on the inoculated,   </a:t>
            </a:r>
            <a:br>
              <a:rPr lang="en-US" sz="2200" b="1" dirty="0">
                <a:solidFill>
                  <a:srgbClr val="FFFFFF"/>
                </a:solidFill>
              </a:rPr>
            </a:br>
            <a:r>
              <a:rPr lang="en-US" sz="2200" b="1" dirty="0">
                <a:solidFill>
                  <a:srgbClr val="FFFFFF"/>
                </a:solidFill>
              </a:rPr>
              <a:t>     but the culture contains, also, </a:t>
            </a:r>
            <a:br>
              <a:rPr lang="en-US" sz="2200" b="1" dirty="0">
                <a:solidFill>
                  <a:srgbClr val="FFFFFF"/>
                </a:solidFill>
              </a:rPr>
            </a:br>
            <a:r>
              <a:rPr lang="en-US" sz="2200" b="1" dirty="0">
                <a:solidFill>
                  <a:srgbClr val="FFFFFF"/>
                </a:solidFill>
              </a:rPr>
              <a:t>     some other different colonies </a:t>
            </a:r>
            <a:br>
              <a:rPr lang="en-US" sz="2200" b="1" dirty="0">
                <a:solidFill>
                  <a:srgbClr val="FFFFFF"/>
                </a:solidFill>
              </a:rPr>
            </a:br>
            <a:r>
              <a:rPr lang="en-US" sz="2200" b="1" dirty="0">
                <a:solidFill>
                  <a:srgbClr val="FFFFFF"/>
                </a:solidFill>
              </a:rPr>
              <a:t>     as in the tip of arrows at plate </a:t>
            </a:r>
            <a:br>
              <a:rPr lang="en-US" sz="2200" b="1" dirty="0">
                <a:solidFill>
                  <a:srgbClr val="FFFFFF"/>
                </a:solidFill>
              </a:rPr>
            </a:br>
            <a:r>
              <a:rPr lang="en-US" sz="2200" b="1" dirty="0">
                <a:solidFill>
                  <a:srgbClr val="FFFFFF"/>
                </a:solidFill>
              </a:rPr>
              <a:t>     “5”. </a:t>
            </a:r>
            <a:r>
              <a:rPr lang="en-US" sz="2200" b="1" dirty="0">
                <a:solidFill>
                  <a:srgbClr val="FFFF00"/>
                </a:solidFill>
              </a:rPr>
              <a:t>The culture is NOT pure.</a:t>
            </a:r>
            <a:br>
              <a:rPr lang="en-US" sz="2200" b="1" dirty="0">
                <a:solidFill>
                  <a:srgbClr val="FFFF00"/>
                </a:solidFill>
              </a:rPr>
            </a:br>
            <a:br>
              <a:rPr lang="en-US" sz="2200" b="1" dirty="0">
                <a:solidFill>
                  <a:srgbClr val="FFFF00"/>
                </a:solidFill>
              </a:rPr>
            </a:br>
            <a:r>
              <a:rPr lang="en-US" sz="2200" b="1" dirty="0">
                <a:solidFill>
                  <a:schemeClr val="bg1"/>
                </a:solidFill>
              </a:rPr>
              <a:t>4. If the Culture contains identical,</a:t>
            </a:r>
            <a:br>
              <a:rPr lang="en-US" sz="2200" b="1" dirty="0">
                <a:solidFill>
                  <a:schemeClr val="bg1"/>
                </a:solidFill>
              </a:rPr>
            </a:br>
            <a:r>
              <a:rPr lang="en-US" sz="2200" b="1" dirty="0">
                <a:solidFill>
                  <a:schemeClr val="bg1"/>
                </a:solidFill>
              </a:rPr>
              <a:t>     isolated colonies and all of </a:t>
            </a:r>
            <a:br>
              <a:rPr lang="en-US" sz="2200" b="1" dirty="0">
                <a:solidFill>
                  <a:schemeClr val="bg1"/>
                </a:solidFill>
              </a:rPr>
            </a:br>
            <a:r>
              <a:rPr lang="en-US" sz="2200" b="1" dirty="0">
                <a:solidFill>
                  <a:schemeClr val="bg1"/>
                </a:solidFill>
              </a:rPr>
              <a:t>     them grew on the inoculated  </a:t>
            </a:r>
            <a:br>
              <a:rPr lang="en-US" sz="2200" b="1" dirty="0">
                <a:solidFill>
                  <a:schemeClr val="bg1"/>
                </a:solidFill>
              </a:rPr>
            </a:br>
            <a:r>
              <a:rPr lang="en-US" sz="2200" b="1" dirty="0">
                <a:solidFill>
                  <a:schemeClr val="bg1"/>
                </a:solidFill>
              </a:rPr>
              <a:t>     except a pinpoint colony as in </a:t>
            </a:r>
            <a:br>
              <a:rPr lang="en-US" sz="2200" b="1" dirty="0">
                <a:solidFill>
                  <a:schemeClr val="bg1"/>
                </a:solidFill>
              </a:rPr>
            </a:br>
            <a:r>
              <a:rPr lang="en-US" sz="2200" b="1" dirty="0">
                <a:solidFill>
                  <a:schemeClr val="bg1"/>
                </a:solidFill>
              </a:rPr>
              <a:t>     the tip of arrows at plate “6”. </a:t>
            </a:r>
            <a:br>
              <a:rPr lang="en-US" sz="2200" b="1" dirty="0">
                <a:solidFill>
                  <a:schemeClr val="bg1"/>
                </a:solidFill>
              </a:rPr>
            </a:br>
            <a:r>
              <a:rPr lang="en-US" sz="2200" b="1" dirty="0">
                <a:solidFill>
                  <a:schemeClr val="bg1"/>
                </a:solidFill>
              </a:rPr>
              <a:t>     </a:t>
            </a:r>
            <a:r>
              <a:rPr lang="en-US" sz="2200" b="1" dirty="0">
                <a:solidFill>
                  <a:srgbClr val="FFFF00"/>
                </a:solidFill>
              </a:rPr>
              <a:t>The culture is NOT pure.</a:t>
            </a:r>
            <a:br>
              <a:rPr lang="en-US" sz="2200" b="1" dirty="0">
                <a:solidFill>
                  <a:schemeClr val="bg1"/>
                </a:solidFill>
              </a:rPr>
            </a:br>
            <a:br>
              <a:rPr lang="en-US" sz="2200" b="1" dirty="0">
                <a:solidFill>
                  <a:srgbClr val="FFFFFF"/>
                </a:solidFill>
              </a:rPr>
            </a:br>
            <a:endParaRPr lang="en-US" sz="2200" b="1" dirty="0">
              <a:solidFill>
                <a:srgbClr val="FFFFFF"/>
              </a:solidFill>
            </a:endParaRPr>
          </a:p>
        </p:txBody>
      </p:sp>
      <p:pic>
        <p:nvPicPr>
          <p:cNvPr id="11" name="Content Placeholder 10" descr="A picture containing fruit&#10;&#10;Description automatically generated">
            <a:extLst>
              <a:ext uri="{FF2B5EF4-FFF2-40B4-BE49-F238E27FC236}">
                <a16:creationId xmlns:a16="http://schemas.microsoft.com/office/drawing/2014/main" id="{227CE9C9-9A91-4403-A46A-9E2B91F7FC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91325" y="10141"/>
            <a:ext cx="5052101" cy="6837718"/>
          </a:xfrm>
        </p:spPr>
      </p:pic>
    </p:spTree>
    <p:extLst>
      <p:ext uri="{BB962C8B-B14F-4D97-AF65-F5344CB8AC3E}">
        <p14:creationId xmlns:p14="http://schemas.microsoft.com/office/powerpoint/2010/main" val="9862265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D35711-2187-4759-B2E3-758F0041FF28}"/>
              </a:ext>
            </a:extLst>
          </p:cNvPr>
          <p:cNvSpPr>
            <a:spLocks noGrp="1"/>
          </p:cNvSpPr>
          <p:nvPr>
            <p:ph type="title"/>
          </p:nvPr>
        </p:nvSpPr>
        <p:spPr>
          <a:xfrm>
            <a:off x="-15306" y="-4"/>
            <a:ext cx="4394169" cy="6305348"/>
          </a:xfrm>
        </p:spPr>
        <p:txBody>
          <a:bodyPr anchor="b">
            <a:normAutofit fontScale="90000"/>
          </a:bodyPr>
          <a:lstStyle/>
          <a:p>
            <a:r>
              <a:rPr lang="en-US" sz="2400" dirty="0">
                <a:solidFill>
                  <a:srgbClr val="FFFFFF"/>
                </a:solidFill>
              </a:rPr>
              <a:t>If the culture is not pure you choose a most separated colony as you see on the tips of arrows and repeat the surface streaking method by the same way.</a:t>
            </a:r>
            <a:br>
              <a:rPr lang="en-US" sz="2400" dirty="0">
                <a:solidFill>
                  <a:srgbClr val="FFFFFF"/>
                </a:solidFill>
              </a:rPr>
            </a:br>
            <a:br>
              <a:rPr lang="en-US" sz="2400" dirty="0">
                <a:solidFill>
                  <a:srgbClr val="FFFFFF"/>
                </a:solidFill>
              </a:rPr>
            </a:br>
            <a:br>
              <a:rPr lang="en-US" sz="2400" dirty="0">
                <a:solidFill>
                  <a:srgbClr val="FFFFFF"/>
                </a:solidFill>
              </a:rPr>
            </a:br>
            <a:r>
              <a:rPr lang="en-US" sz="2400" dirty="0">
                <a:solidFill>
                  <a:srgbClr val="FFFFFF"/>
                </a:solidFill>
              </a:rPr>
              <a:t>At the time of getting a pure culture study the followings:</a:t>
            </a:r>
            <a:br>
              <a:rPr lang="en-US" sz="2400" dirty="0">
                <a:solidFill>
                  <a:srgbClr val="FFFFFF"/>
                </a:solidFill>
              </a:rPr>
            </a:br>
            <a:r>
              <a:rPr lang="en-US" sz="2400" dirty="0">
                <a:solidFill>
                  <a:srgbClr val="FFFFFF"/>
                </a:solidFill>
              </a:rPr>
              <a:t>* Colony morphology</a:t>
            </a:r>
            <a:br>
              <a:rPr lang="en-US" sz="2400" dirty="0">
                <a:solidFill>
                  <a:srgbClr val="FFFFFF"/>
                </a:solidFill>
              </a:rPr>
            </a:br>
            <a:r>
              <a:rPr lang="en-US" sz="2400" dirty="0">
                <a:solidFill>
                  <a:srgbClr val="FFFFFF"/>
                </a:solidFill>
              </a:rPr>
              <a:t>* Cell morphology by doing:</a:t>
            </a:r>
            <a:br>
              <a:rPr lang="en-US" sz="2400" dirty="0">
                <a:solidFill>
                  <a:srgbClr val="FFFFFF"/>
                </a:solidFill>
              </a:rPr>
            </a:br>
            <a:r>
              <a:rPr lang="en-US" sz="2400" dirty="0">
                <a:solidFill>
                  <a:srgbClr val="FFFFFF"/>
                </a:solidFill>
              </a:rPr>
              <a:t>  1- Gram staining to identify the </a:t>
            </a:r>
            <a:br>
              <a:rPr lang="en-US" sz="2400" dirty="0">
                <a:solidFill>
                  <a:srgbClr val="FFFFFF"/>
                </a:solidFill>
              </a:rPr>
            </a:br>
            <a:r>
              <a:rPr lang="en-US" sz="2400" dirty="0">
                <a:solidFill>
                  <a:srgbClr val="FFFFFF"/>
                </a:solidFill>
              </a:rPr>
              <a:t>      Gram reaction of bacteria, the </a:t>
            </a:r>
            <a:br>
              <a:rPr lang="en-US" sz="2400" dirty="0">
                <a:solidFill>
                  <a:srgbClr val="FFFFFF"/>
                </a:solidFill>
              </a:rPr>
            </a:br>
            <a:r>
              <a:rPr lang="en-US" sz="2400" dirty="0">
                <a:solidFill>
                  <a:srgbClr val="FFFFFF"/>
                </a:solidFill>
              </a:rPr>
              <a:t>      shape, and the arrangement </a:t>
            </a:r>
            <a:br>
              <a:rPr lang="en-US" sz="2400" dirty="0">
                <a:solidFill>
                  <a:srgbClr val="FFFFFF"/>
                </a:solidFill>
              </a:rPr>
            </a:br>
            <a:r>
              <a:rPr lang="en-US" sz="2400" dirty="0">
                <a:solidFill>
                  <a:srgbClr val="FFFFFF"/>
                </a:solidFill>
              </a:rPr>
              <a:t>      of bacterial cells.</a:t>
            </a:r>
            <a:br>
              <a:rPr lang="en-US" sz="2400" dirty="0">
                <a:solidFill>
                  <a:srgbClr val="FFFFFF"/>
                </a:solidFill>
              </a:rPr>
            </a:br>
            <a:r>
              <a:rPr lang="en-US" sz="2400" dirty="0">
                <a:solidFill>
                  <a:srgbClr val="FFFFFF"/>
                </a:solidFill>
              </a:rPr>
              <a:t>  2- Endospore staining</a:t>
            </a:r>
            <a:br>
              <a:rPr lang="en-US" sz="2400" dirty="0">
                <a:solidFill>
                  <a:srgbClr val="FFFFFF"/>
                </a:solidFill>
              </a:rPr>
            </a:br>
            <a:r>
              <a:rPr lang="en-US" sz="2400" dirty="0">
                <a:solidFill>
                  <a:srgbClr val="FFFFFF"/>
                </a:solidFill>
              </a:rPr>
              <a:t>  3- Capsule staining</a:t>
            </a:r>
            <a:br>
              <a:rPr lang="en-US" sz="2400" dirty="0">
                <a:solidFill>
                  <a:srgbClr val="FFFFFF"/>
                </a:solidFill>
              </a:rPr>
            </a:br>
            <a:r>
              <a:rPr lang="en-US" sz="2400" dirty="0">
                <a:solidFill>
                  <a:srgbClr val="FFFFFF"/>
                </a:solidFill>
              </a:rPr>
              <a:t>  4- Acid–Fast staining if the bacteria </a:t>
            </a:r>
            <a:br>
              <a:rPr lang="en-US" sz="2400" dirty="0">
                <a:solidFill>
                  <a:srgbClr val="FFFFFF"/>
                </a:solidFill>
              </a:rPr>
            </a:br>
            <a:r>
              <a:rPr lang="en-US" sz="2400" dirty="0">
                <a:solidFill>
                  <a:srgbClr val="FFFFFF"/>
                </a:solidFill>
              </a:rPr>
              <a:t>       can’t stain by Gram staining</a:t>
            </a:r>
            <a:endParaRPr lang="en-US" sz="3500" dirty="0">
              <a:solidFill>
                <a:srgbClr val="FFFFFF"/>
              </a:solidFill>
            </a:endParaRPr>
          </a:p>
        </p:txBody>
      </p:sp>
      <p:pic>
        <p:nvPicPr>
          <p:cNvPr id="5" name="Content Placeholder 4" descr="A picture containing fruit&#10;&#10;Description automatically generated">
            <a:extLst>
              <a:ext uri="{FF2B5EF4-FFF2-40B4-BE49-F238E27FC236}">
                <a16:creationId xmlns:a16="http://schemas.microsoft.com/office/drawing/2014/main" id="{875E6D36-CD30-4CE3-AA0C-E5F76FEA52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85153" y="76491"/>
            <a:ext cx="4746825" cy="6781506"/>
          </a:xfrm>
        </p:spPr>
      </p:pic>
    </p:spTree>
    <p:extLst>
      <p:ext uri="{BB962C8B-B14F-4D97-AF65-F5344CB8AC3E}">
        <p14:creationId xmlns:p14="http://schemas.microsoft.com/office/powerpoint/2010/main" val="39474804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6" name="Freeform: Shape 7">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656" y="0"/>
            <a:ext cx="7824687"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9">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1206" y="0"/>
            <a:ext cx="7441587"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44B48F4-C1FD-4D83-B1F3-E15D20697C6E}"/>
              </a:ext>
            </a:extLst>
          </p:cNvPr>
          <p:cNvSpPr>
            <a:spLocks noGrp="1"/>
          </p:cNvSpPr>
          <p:nvPr>
            <p:ph type="title"/>
          </p:nvPr>
        </p:nvSpPr>
        <p:spPr>
          <a:xfrm>
            <a:off x="1842545" y="0"/>
            <a:ext cx="5677279" cy="1288238"/>
          </a:xfrm>
        </p:spPr>
        <p:txBody>
          <a:bodyPr anchor="ctr">
            <a:normAutofit/>
          </a:bodyPr>
          <a:lstStyle/>
          <a:p>
            <a:pPr algn="ctr"/>
            <a:r>
              <a:rPr lang="en-US" sz="4800" b="1" dirty="0">
                <a:solidFill>
                  <a:srgbClr val="FF0000"/>
                </a:solidFill>
              </a:rPr>
              <a:t>At the End</a:t>
            </a:r>
          </a:p>
        </p:txBody>
      </p:sp>
      <p:sp>
        <p:nvSpPr>
          <p:cNvPr id="3" name="Content Placeholder 2">
            <a:extLst>
              <a:ext uri="{FF2B5EF4-FFF2-40B4-BE49-F238E27FC236}">
                <a16:creationId xmlns:a16="http://schemas.microsoft.com/office/drawing/2014/main" id="{F854CF3F-30A6-485F-A240-E18EE118B5A8}"/>
              </a:ext>
            </a:extLst>
          </p:cNvPr>
          <p:cNvSpPr>
            <a:spLocks noGrp="1"/>
          </p:cNvSpPr>
          <p:nvPr>
            <p:ph idx="1"/>
          </p:nvPr>
        </p:nvSpPr>
        <p:spPr>
          <a:xfrm>
            <a:off x="1280161" y="1105358"/>
            <a:ext cx="7012632" cy="5204002"/>
          </a:xfrm>
        </p:spPr>
        <p:txBody>
          <a:bodyPr anchor="t">
            <a:normAutofit/>
          </a:bodyPr>
          <a:lstStyle/>
          <a:p>
            <a:r>
              <a:rPr lang="en-US" sz="3200" b="1" dirty="0"/>
              <a:t>Incubate the plates </a:t>
            </a:r>
            <a:r>
              <a:rPr lang="en-US" sz="3200" b="1" dirty="0">
                <a:solidFill>
                  <a:srgbClr val="FF0000"/>
                </a:solidFill>
              </a:rPr>
              <a:t>upside down </a:t>
            </a:r>
            <a:r>
              <a:rPr lang="en-US" sz="3200" b="1" dirty="0"/>
              <a:t>in   the refrigerator to be used later.</a:t>
            </a:r>
          </a:p>
        </p:txBody>
      </p:sp>
      <p:pic>
        <p:nvPicPr>
          <p:cNvPr id="7" name="Picture 6" descr="A picture containing indoor, person, open, appliance&#10;&#10;Description automatically generated">
            <a:extLst>
              <a:ext uri="{FF2B5EF4-FFF2-40B4-BE49-F238E27FC236}">
                <a16:creationId xmlns:a16="http://schemas.microsoft.com/office/drawing/2014/main" id="{1CE88288-F742-46AF-8E2B-20AE5EE8FF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0161" y="2086921"/>
            <a:ext cx="6583678" cy="3891847"/>
          </a:xfrm>
          <a:prstGeom prst="rect">
            <a:avLst/>
          </a:prstGeom>
        </p:spPr>
      </p:pic>
    </p:spTree>
    <p:extLst>
      <p:ext uri="{BB962C8B-B14F-4D97-AF65-F5344CB8AC3E}">
        <p14:creationId xmlns:p14="http://schemas.microsoft.com/office/powerpoint/2010/main" val="374100846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 (3).potx" id="{9E27ADA6-EA10-4822-B3C1-6E8D86D7E392}" vid="{8B3BFCA4-8458-4DFE-B504-FC98F0D59E1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1687</TotalTime>
  <Words>1504</Words>
  <Application>Microsoft Office PowerPoint</Application>
  <PresentationFormat>On-screen Show (4:3)</PresentationFormat>
  <Paragraphs>43</Paragraphs>
  <Slides>37</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37</vt:i4>
      </vt:variant>
    </vt:vector>
  </HeadingPairs>
  <TitlesOfParts>
    <vt:vector size="47" baseType="lpstr">
      <vt:lpstr>&amp;quot</vt:lpstr>
      <vt:lpstr>Algerian</vt:lpstr>
      <vt:lpstr>Arial</vt:lpstr>
      <vt:lpstr>Calibri</vt:lpstr>
      <vt:lpstr>Calibri Light</vt:lpstr>
      <vt:lpstr>Gill Sans MT Condensed</vt:lpstr>
      <vt:lpstr>Segoe UI</vt:lpstr>
      <vt:lpstr>Segoe UI Light</vt:lpstr>
      <vt:lpstr>Office Theme</vt:lpstr>
      <vt:lpstr>Get Started with 3D</vt:lpstr>
      <vt:lpstr>PowerPoint Presentation</vt:lpstr>
      <vt:lpstr>PowerPoint Presentation</vt:lpstr>
      <vt:lpstr>PowerPoint Presentation</vt:lpstr>
      <vt:lpstr>Bacterial Characteristics</vt:lpstr>
      <vt:lpstr>Bacterial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Surface streaking methods</vt:lpstr>
      <vt:lpstr> Quadrant method:</vt:lpstr>
      <vt:lpstr>T - Streaking</vt:lpstr>
      <vt:lpstr> Radiant streaking</vt:lpstr>
      <vt:lpstr>Continuous streaking</vt:lpstr>
      <vt:lpstr>PowerPoint Presentation</vt:lpstr>
      <vt:lpstr>PowerPoint Presentation</vt:lpstr>
      <vt:lpstr>PowerPoint Presentation</vt:lpstr>
      <vt:lpstr>PowerPoint Presentation</vt:lpstr>
      <vt:lpstr>   STEP 1 We need to use loop , sterilize the loop in the hottest area of the flame, cool it near the Bunsen Burner , then check the cooling of the loop by inserting it in the agar of the Non- contaminated culture , from where we will take the bacteria, and away from bacteria.</vt:lpstr>
      <vt:lpstr>STEP: 3 After the loop reach “B”,  remove it and by the same side of the loop, and without sterilization of the loop and without addition of bacteria inoculate the plate with straight unidirectional line, parallel to the first and starting from “C” toward “D”.  Also,  by the same side of the loop and without addition of bacteria  do the other two line, “E” toward “F” and “G” toward “H”.  This will make the number of bacteria to decrease, this means that the number of bacteria at A highest number of bacteria&gt;B&gt;C&gt;D&gt;E&gt;F&gt;G&gt;H(theleast number of bacteria.  Streaking is a dilution on a solid surface.</vt:lpstr>
      <vt:lpstr>Step 4: * 2nd  sterilization for the loop, flame      the loop, cool it near the Bunsen      Burner, then check the cooling of the     loop by inserting it in the agar of           plate “2” between the first inoculating      line and the edge of the plate (at A ).  * Then put the loop at the end area of     the fourth line ( B ), and spread the      bacteria by single unidirectional line     near the edge of the plate as will as      possible </vt:lpstr>
      <vt:lpstr>Step 5: * Then without sterilization of the loop,     put the loop at “C” then spread the     bacteria by unidirectional  line near     the edge of the plate as will as     possible as you see in picture “4”.  Step 6: * Also, without sterilization of the loop,     put the loop at “D” then spread the     bacteria by unidirectional  line near     the edge of the plate as will as     possible as you see  in picture 5.  In All steps the movement of the loop must be toward its  handle to prevent crashing  of the media.</vt:lpstr>
      <vt:lpstr>Step 7:  * Sterilize the loop for the third time ,     cool it near the Bunsen Burner, then    check the cooling of the loop by     inserting it in the agar near the first    time (at E). * Then spread the bacteria at the end      of each line ( at F1, F2, then F3 )  by      unidirectional line, near the edge of     the plate as will as possible, starting      from the innermost line (  at F1 ) to      be the outermost line ( Picture 6 ),      then middle line ( at  F2 ) as you see     in picture 7, and finally, the outermost     line ( at  F3 ) to be the innermost line      as you see in picture 8.          No flaming for the loop between the spreading of         bacteria from F1. F2, and F3 </vt:lpstr>
      <vt:lpstr>Step 8:  * Then sterilize the loop again for the     fourth time, cool it near the Bunsen    Burner, check the cooling of the loop    by inserting it to the agar of the plate    near the first and second times (at G).  * Spread the bacteria at R1, R2, R3 ,    respectively, by Zig Zag lines Starting     from the innermost line as in picture    9, then middle line as in picture 10,     and finally, the outermost line as in    picture 11.   No flaming for the loop between the spreading of         bacteria from R1. R2, and R3  * Repeat steps 1 – 8  for all isolate you     need to purify, each on a separate plate </vt:lpstr>
      <vt:lpstr>Step 9:  Incubate All plates upside down over night.  Why upside down? </vt:lpstr>
      <vt:lpstr>The Zig Zag line: We inoculate the bacteria by Zig Zag line to increase the area for bacterial distribution. (The Zig Zag line is longer than straight line) .    The area of zig zag line ( A)  is the area  where the isolated colonies  of bacteria will develop, this area must be as large as  possible, that’s why we inoculated the plates near the edge of the plate as will as possible.</vt:lpstr>
      <vt:lpstr>After over night incubation:  The pure culture contains isolated, Identical colonies and all of them  grew on the inoculated line as in (1), otherwise, the culture is not pure</vt:lpstr>
      <vt:lpstr>But If: 1- The bacterial colonies in the      Zig zag area are not isolated      as in plate “2”  The culture is NOT pure.   2- The colonies in the Zig zag      are isolated and identical,      and grew on the inoculated      except one or more of them       grew out of the inoculated      lines as on the tip of arrow     in plate “3” , the culture is    NOT pure even if the colony(ies)     is (are) identical to the others.           </vt:lpstr>
      <vt:lpstr>3. If the Culture contains identical,      isolated colonies and all of       them grew on the inoculated,         but the culture contains, also,       some other different colonies       as in the tip of arrows at plate       “5”. The culture is NOT pure.  4. If the Culture contains identical,      isolated colonies and all of       them grew on the inoculated        except a pinpoint colony as in       the tip of arrows at plate “6”.       The culture is NOT pure.  </vt:lpstr>
      <vt:lpstr>If the culture is not pure you choose a most separated colony as you see on the tips of arrows and repeat the surface streaking method by the same way.   At the time of getting a pure culture study the followings: * Colony morphology * Cell morphology by doing:   1- Gram staining to identify the        Gram reaction of bacteria, the        shape, and the arrangement        of bacterial cells.   2- Endospore staining   3- Capsule staining   4- Acid–Fast staining if the bacteria         can’t stain by Gram staining</vt:lpstr>
      <vt:lpstr>At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Bayen Mahawreh</dc:creator>
  <cp:lastModifiedBy>Erwah Al Bataineh</cp:lastModifiedBy>
  <cp:revision>47</cp:revision>
  <dcterms:created xsi:type="dcterms:W3CDTF">2021-09-28T20:16:04Z</dcterms:created>
  <dcterms:modified xsi:type="dcterms:W3CDTF">2023-04-10T21:04:14Z</dcterms:modified>
</cp:coreProperties>
</file>