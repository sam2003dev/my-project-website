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61" r:id="rId4"/>
    <p:sldId id="265" r:id="rId5"/>
    <p:sldId id="260" r:id="rId6"/>
    <p:sldId id="266" r:id="rId7"/>
    <p:sldId id="267" r:id="rId8"/>
    <p:sldId id="268" r:id="rId9"/>
    <p:sldId id="264" r:id="rId10"/>
    <p:sldId id="269" r:id="rId11"/>
    <p:sldId id="270" r:id="rId12"/>
    <p:sldId id="271" r:id="rId13"/>
    <p:sldId id="272" r:id="rId14"/>
    <p:sldId id="273" r:id="rId15"/>
    <p:sldId id="29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44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2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50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50602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37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72413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72093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4158774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576785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807171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27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08637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17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F0ACBEA-8A87-4EAC-9665-D7BD55771DDF}" type="datetimeFigureOut">
              <a:rPr lang="ar-JO" smtClean="0"/>
              <a:t>14/06/1440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6A62FC8-606E-4B2B-AF99-09AEAEE6565D}" type="slidenum">
              <a:rPr lang="ar-JO" smtClean="0"/>
              <a:t>‹#›</a:t>
            </a:fld>
            <a:endParaRPr lang="ar-JO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48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://onlinesciencenotes.com/biuret-test-principle-requirements-procedure-and-result-interpretation/biiuret/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6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Bioelements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1472340"/>
            <a:ext cx="11535905" cy="5385660"/>
          </a:xfrm>
        </p:spPr>
        <p:txBody>
          <a:bodyPr>
            <a:normAutofit fontScale="25000" lnSpcReduction="2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in human body may be:</a:t>
            </a:r>
          </a:p>
          <a:p>
            <a:pPr marL="976313" indent="-341313"/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Essential elements</a:t>
            </a:r>
            <a:r>
              <a:rPr lang="en-US" sz="7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is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one whose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deficiency consistently causes abnormal </a:t>
            </a:r>
            <a:endParaRPr lang="en-US" sz="5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development or  functioning and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it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death. These are divide </a:t>
            </a:r>
          </a:p>
          <a:p>
            <a:pPr marL="63500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into:</a:t>
            </a:r>
          </a:p>
          <a:p>
            <a:pPr marL="635000" indent="0">
              <a:buNone/>
            </a:pPr>
            <a:endParaRPr lang="en-US" sz="5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5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US" sz="5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Bulk elements</a:t>
            </a:r>
            <a:r>
              <a:rPr lang="en-US" sz="5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blocks of the compounds that constitute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organs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muscles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as: </a:t>
            </a:r>
            <a:endParaRPr lang="en-US" sz="5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0" indent="0">
              <a:buNone/>
            </a:pP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Oxygen(</a:t>
            </a:r>
            <a:r>
              <a:rPr lang="en-US" sz="5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Carbon(</a:t>
            </a:r>
            <a:r>
              <a:rPr lang="en-US" sz="5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Hydrogen(</a:t>
            </a:r>
            <a:r>
              <a:rPr lang="en-US" sz="5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Nitrogen(</a:t>
            </a:r>
            <a:r>
              <a:rPr lang="en-US" sz="5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Sulfur(</a:t>
            </a:r>
            <a:r>
              <a:rPr lang="en-US" sz="5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0" indent="0">
              <a:buNone/>
            </a:pPr>
            <a:endParaRPr lang="en-US" sz="5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0" indent="0">
              <a:buNone/>
            </a:pPr>
            <a:r>
              <a:rPr lang="en-US" sz="5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B</a:t>
            </a:r>
            <a:r>
              <a:rPr lang="en-US" sz="5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55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Macrominerals</a:t>
            </a:r>
            <a:r>
              <a:rPr lang="en-US" sz="5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essential ions in body fluids and form the major structural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endParaRPr lang="en-US" sz="5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body including : Sodium (</a:t>
            </a:r>
            <a:r>
              <a:rPr lang="en-US" sz="5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Magnesium (</a:t>
            </a:r>
            <a:r>
              <a:rPr lang="en-US" sz="5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Potassium (</a:t>
            </a:r>
            <a:r>
              <a:rPr lang="en-US" sz="5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Calcium (</a:t>
            </a:r>
            <a:r>
              <a:rPr lang="en-US" sz="5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Chlorine                      </a:t>
            </a:r>
          </a:p>
          <a:p>
            <a:pPr marL="63500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(</a:t>
            </a:r>
            <a:r>
              <a:rPr lang="en-US" sz="5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Phosphorus (</a:t>
            </a:r>
            <a:r>
              <a:rPr lang="en-US" sz="5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635000" indent="0">
              <a:buNone/>
            </a:pPr>
            <a:endParaRPr lang="en-US" sz="5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5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Trace element</a:t>
            </a:r>
            <a:r>
              <a:rPr lang="en-US" sz="5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very small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amounts,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are not required for growth or good health.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 as: </a:t>
            </a:r>
          </a:p>
          <a:p>
            <a:pPr marL="63500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Cobalt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5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Copper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5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Fluorine  (</a:t>
            </a:r>
            <a:r>
              <a:rPr lang="en-US" sz="5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Iodine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5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Iron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5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Manganese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5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en-US" sz="5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Molybdenum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5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marL="571500" indent="0">
              <a:buNone/>
            </a:pPr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47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221" y="0"/>
            <a:ext cx="10971508" cy="481820"/>
          </a:xfrm>
        </p:spPr>
        <p:txBody>
          <a:bodyPr>
            <a:normAutofit/>
          </a:bodyPr>
          <a:lstStyle/>
          <a:p>
            <a:pPr algn="ctr"/>
            <a:r>
              <a:rPr lang="en-US" sz="2000" dirty="0" smtClean="0">
                <a:latin typeface="Arial Black" panose="020B0A04020102020204" pitchFamily="34" charset="0"/>
              </a:rPr>
              <a:t>Percentage of some elements in human body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362" y="481820"/>
            <a:ext cx="10815367" cy="616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9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16726"/>
            <a:ext cx="9720072" cy="806856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latin typeface="Arial Black" panose="020B0A04020102020204" pitchFamily="34" charset="0"/>
              </a:rPr>
              <a:t>Macromolecules</a:t>
            </a:r>
            <a:endParaRPr lang="ar-JO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275" y="1187354"/>
            <a:ext cx="11068334" cy="5122005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elements combine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 thousands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molecules. Some of these are: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1813" indent="-90488"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27063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molecules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Such as water (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531813" indent="-90488"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627063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Organic compounds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major categories are found in all living things, these divide into:</a:t>
            </a:r>
          </a:p>
          <a:p>
            <a:pPr marL="1077913" indent="20638">
              <a:buFont typeface="Arial" panose="020B0604020202020204" pitchFamily="34" charset="0"/>
              <a:buChar char="•"/>
              <a:tabLst>
                <a:tab pos="627063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Macromolecules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Called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they are made up from repeated subunit    </a:t>
            </a:r>
          </a:p>
          <a:p>
            <a:pPr marL="1077913" indent="0">
              <a:buNone/>
              <a:tabLst>
                <a:tab pos="62706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(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monomer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This type includes:</a:t>
            </a:r>
          </a:p>
          <a:p>
            <a:pPr marL="1077913" indent="0">
              <a:buNone/>
              <a:tabLst>
                <a:tab pos="62706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Carbohydrates,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Proteins, and Nucleic acids.</a:t>
            </a:r>
          </a:p>
          <a:p>
            <a:pPr marL="1255713" indent="-177800">
              <a:buFont typeface="Arial" panose="020B0604020202020204" pitchFamily="34" charset="0"/>
              <a:buChar char="•"/>
              <a:tabLst>
                <a:tab pos="627063" algn="l"/>
              </a:tabLst>
            </a:pPr>
            <a:r>
              <a:rPr lang="en-US" b="1" dirty="0">
                <a:solidFill>
                  <a:srgbClr val="00B0F0"/>
                </a:solidFill>
              </a:rPr>
              <a:t>Lipids</a:t>
            </a:r>
            <a:r>
              <a:rPr lang="en-US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: Large molecules, but not polymer.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1813" indent="-90488">
              <a:buFont typeface="Wingdings" panose="05000000000000000000" pitchFamily="2" charset="2"/>
              <a:buChar char="Ø"/>
              <a:tabLst>
                <a:tab pos="627063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0">
              <a:buNone/>
              <a:tabLst>
                <a:tab pos="627063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1813" indent="-90488">
              <a:buFont typeface="Wingdings" panose="05000000000000000000" pitchFamily="2" charset="2"/>
              <a:buChar char="Ø"/>
              <a:tabLst>
                <a:tab pos="627063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0">
              <a:buNone/>
              <a:tabLst>
                <a:tab pos="627063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5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387458"/>
            <a:ext cx="9720072" cy="76313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+mn-lt"/>
              </a:rPr>
              <a:t>Hydrolysis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915" y="805218"/>
            <a:ext cx="11127783" cy="5759354"/>
          </a:xfrm>
        </p:spPr>
        <p:txBody>
          <a:bodyPr>
            <a:normAutofit/>
          </a:bodyPr>
          <a:lstStyle/>
          <a:p>
            <a:pPr fontAlgn="base"/>
            <a:r>
              <a:rPr lang="en-US" sz="1600" dirty="0" smtClean="0">
                <a:latin typeface="Arial Black" panose="020B0A04020102020204" pitchFamily="34" charset="0"/>
                <a:cs typeface="+mj-cs"/>
              </a:rPr>
              <a:t>Hydrolysis </a:t>
            </a:r>
            <a:r>
              <a:rPr lang="en-US" sz="1600" dirty="0">
                <a:latin typeface="Arial Black" panose="020B0A04020102020204" pitchFamily="34" charset="0"/>
                <a:cs typeface="+mj-cs"/>
              </a:rPr>
              <a:t>reactions result in the breakdown of polymers into </a:t>
            </a:r>
            <a:r>
              <a:rPr lang="en-US" sz="1600" dirty="0" smtClean="0">
                <a:latin typeface="Arial Black" panose="020B0A04020102020204" pitchFamily="34" charset="0"/>
                <a:cs typeface="+mj-cs"/>
              </a:rPr>
              <a:t>monomers, this reaction:</a:t>
            </a:r>
          </a:p>
          <a:p>
            <a:pPr marL="982663" indent="368300" fontAlgn="base">
              <a:buFont typeface="+mj-lt"/>
              <a:buAutoNum type="romanUcPeriod"/>
            </a:pPr>
            <a:r>
              <a:rPr lang="en-US" sz="1600" dirty="0" smtClean="0">
                <a:latin typeface="Arial Black" panose="020B0A04020102020204" pitchFamily="34" charset="0"/>
                <a:cs typeface="+mj-cs"/>
              </a:rPr>
              <a:t>Speed up by specific enzyme</a:t>
            </a:r>
          </a:p>
          <a:p>
            <a:pPr marL="982663" indent="368300" fontAlgn="base">
              <a:buFont typeface="+mj-lt"/>
              <a:buAutoNum type="romanUcPeriod"/>
            </a:pPr>
            <a:r>
              <a:rPr lang="en-US" sz="1600" dirty="0" smtClean="0">
                <a:latin typeface="Arial Black" panose="020B0A04020102020204" pitchFamily="34" charset="0"/>
                <a:cs typeface="+mj-cs"/>
              </a:rPr>
              <a:t>Break chemical bonds</a:t>
            </a:r>
          </a:p>
          <a:p>
            <a:pPr marL="982663" indent="368300" fontAlgn="base">
              <a:buFont typeface="+mj-lt"/>
              <a:buAutoNum type="romanUcPeriod"/>
            </a:pPr>
            <a:r>
              <a:rPr lang="en-US" sz="1600" dirty="0">
                <a:latin typeface="Arial Black" panose="020B0A04020102020204" pitchFamily="34" charset="0"/>
                <a:cs typeface="+mj-cs"/>
              </a:rPr>
              <a:t> </a:t>
            </a:r>
            <a:r>
              <a:rPr lang="en-US" sz="1600" dirty="0" smtClean="0">
                <a:latin typeface="Arial Black" panose="020B0A04020102020204" pitchFamily="34" charset="0"/>
                <a:cs typeface="+mj-cs"/>
              </a:rPr>
              <a:t>Release energy</a:t>
            </a:r>
          </a:p>
          <a:p>
            <a:pPr marL="177800" indent="0" fontAlgn="base">
              <a:buNone/>
            </a:pPr>
            <a:r>
              <a:rPr lang="en-US" sz="1800" b="1" dirty="0">
                <a:latin typeface="Arial Black" panose="020B0A04020102020204" pitchFamily="34" charset="0"/>
                <a:cs typeface="+mj-cs"/>
              </a:rPr>
              <a:t>T</a:t>
            </a:r>
            <a:r>
              <a:rPr lang="en-US" sz="1800" b="1" dirty="0" smtClean="0">
                <a:latin typeface="Arial Black" panose="020B0A04020102020204" pitchFamily="34" charset="0"/>
                <a:cs typeface="+mj-cs"/>
              </a:rPr>
              <a:t>he following schemes show the hydrolysis reaction:</a:t>
            </a:r>
          </a:p>
          <a:p>
            <a:pPr fontAlgn="base"/>
            <a:endParaRPr lang="en-US" sz="1800" b="1" dirty="0">
              <a:latin typeface="Arial Black" panose="020B0A04020102020204" pitchFamily="34" charset="0"/>
              <a:cs typeface="+mj-cs"/>
            </a:endParaRPr>
          </a:p>
          <a:p>
            <a:endParaRPr lang="en-US" sz="1800" b="1" dirty="0">
              <a:latin typeface="Arial Black" panose="020B0A04020102020204" pitchFamily="34" charset="0"/>
              <a:cs typeface="+mj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856" y="3051583"/>
            <a:ext cx="4258102" cy="35129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757" y="3051583"/>
            <a:ext cx="3261815" cy="359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3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124468"/>
            <a:ext cx="9720072" cy="789932"/>
          </a:xfrm>
        </p:spPr>
        <p:txBody>
          <a:bodyPr/>
          <a:lstStyle/>
          <a:p>
            <a:pPr algn="ctr"/>
            <a:r>
              <a:rPr lang="en-US" sz="3200" b="1" dirty="0" smtClean="0"/>
              <a:t>Dehydration</a:t>
            </a:r>
            <a:r>
              <a:rPr lang="en-US" dirty="0" smtClean="0"/>
              <a:t> (</a:t>
            </a:r>
            <a:r>
              <a:rPr lang="en-US" sz="3200" b="1" dirty="0" smtClean="0"/>
              <a:t>Condensation</a:t>
            </a:r>
            <a:r>
              <a:rPr lang="en-US" dirty="0" smtClean="0"/>
              <a:t>)</a:t>
            </a:r>
            <a:endParaRPr lang="ar-J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276" y="901477"/>
            <a:ext cx="11109276" cy="540451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dehydration synthesis reactions, a water molecule is formed as a result of generating a covalent bond between two monomeric components in a larger polymer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112713">
              <a:buFont typeface="+mj-lt"/>
              <a:buAutoNum type="roman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Speed up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specific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enzymes</a:t>
            </a:r>
          </a:p>
          <a:p>
            <a:pPr marL="514350" indent="112713">
              <a:buFont typeface="+mj-lt"/>
              <a:buAutoNum type="roman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new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bonds</a:t>
            </a:r>
          </a:p>
          <a:p>
            <a:pPr marL="514350" indent="112713">
              <a:buFont typeface="+mj-lt"/>
              <a:buAutoNum type="roman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Requiring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    </a:t>
            </a:r>
            <a:endParaRPr lang="ar-J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04" y="3616655"/>
            <a:ext cx="5104261" cy="3050822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64276" y="3100904"/>
            <a:ext cx="4244452" cy="502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u="sng" dirty="0" smtClean="0"/>
              <a:t>Scheme of Dehydration</a:t>
            </a:r>
            <a:endParaRPr lang="ar-JO" u="sn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124" y="2910381"/>
            <a:ext cx="5071306" cy="375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7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857" y="261257"/>
            <a:ext cx="11553371" cy="88945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/>
              <a:t>Macromolecules</a:t>
            </a:r>
            <a:r>
              <a:rPr lang="ar-JO" sz="5400" b="1" dirty="0"/>
              <a:t/>
            </a:r>
            <a:br>
              <a:rPr lang="ar-JO" sz="5400" b="1" dirty="0"/>
            </a:br>
            <a:endParaRPr lang="ar-J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0627" y="923698"/>
            <a:ext cx="10727140" cy="5750057"/>
          </a:xfrm>
        </p:spPr>
        <p:txBody>
          <a:bodyPr>
            <a:normAutofit fontScale="92500"/>
          </a:bodyPr>
          <a:lstStyle/>
          <a:p>
            <a:pPr marL="514350" indent="-514350">
              <a:buAutoNum type="romanUcPeriod"/>
            </a:pPr>
            <a:endParaRPr lang="en-US" sz="3800" dirty="0" smtClean="0">
              <a:latin typeface="Arial Black" panose="020B0A04020102020204" pitchFamily="34" charset="0"/>
            </a:endParaRPr>
          </a:p>
          <a:p>
            <a:pPr marL="514350" indent="-514350">
              <a:buAutoNum type="romanUcPeriod"/>
            </a:pPr>
            <a:r>
              <a:rPr lang="en-US" sz="3800" dirty="0" smtClean="0">
                <a:latin typeface="Arial Black" panose="020B0A04020102020204" pitchFamily="34" charset="0"/>
              </a:rPr>
              <a:t>Carbohydrate:</a:t>
            </a:r>
          </a:p>
          <a:p>
            <a:endParaRPr lang="en-US" sz="2400" dirty="0" smtClean="0">
              <a:latin typeface="Arial Black" panose="020B0A04020102020204" pitchFamily="34" charset="0"/>
            </a:endParaRPr>
          </a:p>
          <a:p>
            <a:endParaRPr lang="en-US" sz="2400" dirty="0" smtClean="0">
              <a:latin typeface="Arial Black" panose="020B0A04020102020204" pitchFamily="34" charset="0"/>
            </a:endParaRPr>
          </a:p>
          <a:p>
            <a:pPr marL="627063" indent="284163">
              <a:buFont typeface="Wingdings" panose="05000000000000000000" pitchFamily="2" charset="2"/>
              <a:buChar char="§"/>
            </a:pPr>
            <a:r>
              <a:rPr lang="en-US" sz="2200" dirty="0">
                <a:latin typeface="Arial Black" panose="020B0A04020102020204" pitchFamily="34" charset="0"/>
              </a:rPr>
              <a:t> </a:t>
            </a:r>
            <a:r>
              <a:rPr lang="en-US" sz="2200" dirty="0" smtClean="0">
                <a:latin typeface="Arial Black" panose="020B0A04020102020204" pitchFamily="34" charset="0"/>
              </a:rPr>
              <a:t>Functions in energy </a:t>
            </a:r>
            <a:r>
              <a:rPr lang="en-US" sz="2200" dirty="0">
                <a:latin typeface="Arial Black" panose="020B0A04020102020204" pitchFamily="34" charset="0"/>
              </a:rPr>
              <a:t>storage (starch and glycogen) and structural </a:t>
            </a:r>
            <a:r>
              <a:rPr lang="en-US" sz="2200" dirty="0" smtClean="0">
                <a:latin typeface="Arial Black" panose="020B0A04020102020204" pitchFamily="34" charset="0"/>
              </a:rPr>
              <a:t> </a:t>
            </a:r>
          </a:p>
          <a:p>
            <a:pPr marL="627063"/>
            <a:r>
              <a:rPr lang="en-US" sz="2200" dirty="0">
                <a:latin typeface="Arial Black" panose="020B0A04020102020204" pitchFamily="34" charset="0"/>
              </a:rPr>
              <a:t> </a:t>
            </a:r>
            <a:r>
              <a:rPr lang="en-US" sz="2200" dirty="0" smtClean="0">
                <a:latin typeface="Arial Black" panose="020B0A04020102020204" pitchFamily="34" charset="0"/>
              </a:rPr>
              <a:t>   support </a:t>
            </a:r>
            <a:r>
              <a:rPr lang="en-US" sz="2200" dirty="0">
                <a:latin typeface="Arial Black" panose="020B0A04020102020204" pitchFamily="34" charset="0"/>
              </a:rPr>
              <a:t>and protection </a:t>
            </a:r>
            <a:r>
              <a:rPr lang="en-US" sz="2200" dirty="0" smtClean="0">
                <a:latin typeface="Arial Black" panose="020B0A04020102020204" pitchFamily="34" charset="0"/>
              </a:rPr>
              <a:t>(</a:t>
            </a:r>
            <a:r>
              <a:rPr lang="en-US" sz="2200" dirty="0">
                <a:latin typeface="Arial Black" panose="020B0A04020102020204" pitchFamily="34" charset="0"/>
              </a:rPr>
              <a:t>cellulose and chitin</a:t>
            </a:r>
            <a:r>
              <a:rPr lang="en-US" sz="2200" dirty="0" smtClean="0">
                <a:latin typeface="Arial Black" panose="020B0A04020102020204" pitchFamily="34" charset="0"/>
              </a:rPr>
              <a:t>).</a:t>
            </a:r>
          </a:p>
          <a:p>
            <a:pPr marL="627063" indent="284163">
              <a:buFont typeface="Wingdings" panose="05000000000000000000" pitchFamily="2" charset="2"/>
              <a:buChar char="§"/>
            </a:pPr>
            <a:endParaRPr lang="en-US" sz="2100" dirty="0">
              <a:latin typeface="Arial Black" panose="020B0A04020102020204" pitchFamily="34" charset="0"/>
            </a:endParaRPr>
          </a:p>
          <a:p>
            <a:pPr marL="627063"/>
            <a:endParaRPr lang="en-US" sz="2100" dirty="0" smtClean="0">
              <a:latin typeface="Arial Black" panose="020B0A04020102020204" pitchFamily="34" charset="0"/>
            </a:endParaRPr>
          </a:p>
          <a:p>
            <a:pPr marL="627063"/>
            <a:r>
              <a:rPr lang="en-US" sz="2100" dirty="0" smtClean="0">
                <a:latin typeface="Arial Black" panose="020B0A04020102020204" pitchFamily="34" charset="0"/>
              </a:rPr>
              <a:t>     </a:t>
            </a:r>
          </a:p>
          <a:p>
            <a:pPr marL="966788" indent="-342900">
              <a:buFont typeface="Wingdings" panose="05000000000000000000" pitchFamily="2" charset="2"/>
              <a:buChar char="§"/>
            </a:pPr>
            <a:r>
              <a:rPr lang="en-US" sz="2100" b="1" dirty="0" smtClean="0">
                <a:latin typeface="Arial Black" panose="020B0A04020102020204" pitchFamily="34" charset="0"/>
              </a:rPr>
              <a:t>Organic compounds that contains Carbon(C), Hydrogen(H), Oxygen(O)</a:t>
            </a:r>
          </a:p>
          <a:p>
            <a:pPr marL="966788" indent="-342900">
              <a:buFont typeface="Wingdings" panose="05000000000000000000" pitchFamily="2" charset="2"/>
              <a:buChar char="§"/>
            </a:pPr>
            <a:endParaRPr lang="en-US" sz="2100" b="1" dirty="0">
              <a:latin typeface="Arial Black" panose="020B0A04020102020204" pitchFamily="34" charset="0"/>
            </a:endParaRPr>
          </a:p>
          <a:p>
            <a:pPr marL="623888"/>
            <a:endParaRPr lang="en-US" sz="2100" b="1" dirty="0" smtClean="0">
              <a:latin typeface="Arial Black" panose="020B0A04020102020204" pitchFamily="34" charset="0"/>
            </a:endParaRPr>
          </a:p>
          <a:p>
            <a:pPr marL="623888"/>
            <a:endParaRPr lang="en-US" sz="2100" b="1" dirty="0" smtClean="0">
              <a:latin typeface="Arial Black" panose="020B0A04020102020204" pitchFamily="34" charset="0"/>
            </a:endParaRPr>
          </a:p>
          <a:p>
            <a:pPr marL="966788" indent="-342900">
              <a:buFont typeface="Wingdings" panose="05000000000000000000" pitchFamily="2" charset="2"/>
              <a:buChar char="§"/>
            </a:pPr>
            <a:r>
              <a:rPr lang="en-US" sz="2100" b="1" dirty="0">
                <a:latin typeface="Arial Black" panose="020B0A04020102020204" pitchFamily="34" charset="0"/>
              </a:rPr>
              <a:t>Carbohydrates </a:t>
            </a:r>
            <a:r>
              <a:rPr lang="en-US" sz="2100" b="1" dirty="0" smtClean="0">
                <a:latin typeface="Arial Black" panose="020B0A04020102020204" pitchFamily="34" charset="0"/>
              </a:rPr>
              <a:t>represented </a:t>
            </a:r>
            <a:r>
              <a:rPr lang="en-US" sz="2100" b="1" dirty="0">
                <a:latin typeface="Arial Black" panose="020B0A04020102020204" pitchFamily="34" charset="0"/>
              </a:rPr>
              <a:t>by the formula </a:t>
            </a:r>
            <a:r>
              <a:rPr lang="en-US" sz="2100" b="1" dirty="0">
                <a:solidFill>
                  <a:srgbClr val="FF0000"/>
                </a:solidFill>
                <a:latin typeface="Arial Black" panose="020B0A04020102020204" pitchFamily="34" charset="0"/>
              </a:rPr>
              <a:t>(CH2O)n</a:t>
            </a:r>
            <a:r>
              <a:rPr lang="en-US" sz="2100" b="1" dirty="0">
                <a:latin typeface="Arial Black" panose="020B0A04020102020204" pitchFamily="34" charset="0"/>
              </a:rPr>
              <a:t>, where </a:t>
            </a:r>
            <a:r>
              <a:rPr lang="en-US" sz="2100" b="1" dirty="0">
                <a:solidFill>
                  <a:srgbClr val="FF0000"/>
                </a:solidFill>
                <a:latin typeface="Arial Black" panose="020B0A04020102020204" pitchFamily="34" charset="0"/>
              </a:rPr>
              <a:t>n</a:t>
            </a:r>
            <a:r>
              <a:rPr lang="en-US" sz="2100" b="1" dirty="0">
                <a:latin typeface="Arial Black" panose="020B0A04020102020204" pitchFamily="34" charset="0"/>
              </a:rPr>
              <a:t> is the </a:t>
            </a:r>
            <a:r>
              <a:rPr lang="en-US" sz="2100" b="1" dirty="0" smtClean="0">
                <a:latin typeface="Arial Black" panose="020B0A04020102020204" pitchFamily="34" charset="0"/>
              </a:rPr>
              <a:t> number </a:t>
            </a:r>
            <a:r>
              <a:rPr lang="en-US" sz="2100" b="1" dirty="0">
                <a:latin typeface="Arial Black" panose="020B0A04020102020204" pitchFamily="34" charset="0"/>
              </a:rPr>
              <a:t>of carbon atoms </a:t>
            </a:r>
            <a:r>
              <a:rPr lang="en-US" sz="2100" b="1" dirty="0" smtClean="0">
                <a:latin typeface="Arial Black" panose="020B0A04020102020204" pitchFamily="34" charset="0"/>
              </a:rPr>
              <a:t>in the molecule. In </a:t>
            </a:r>
            <a:r>
              <a:rPr lang="en-US" sz="2100" b="1" dirty="0">
                <a:latin typeface="Arial Black" panose="020B0A04020102020204" pitchFamily="34" charset="0"/>
              </a:rPr>
              <a:t>other words, the ratio of </a:t>
            </a:r>
            <a:r>
              <a:rPr lang="en-US" sz="21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C:H:O</a:t>
            </a:r>
            <a:r>
              <a:rPr lang="en-US" sz="2100" b="1" dirty="0" smtClean="0">
                <a:latin typeface="Arial Black" panose="020B0A04020102020204" pitchFamily="34" charset="0"/>
              </a:rPr>
              <a:t> </a:t>
            </a:r>
            <a:r>
              <a:rPr lang="en-US" sz="2100" b="1" dirty="0">
                <a:latin typeface="Arial Black" panose="020B0A04020102020204" pitchFamily="34" charset="0"/>
              </a:rPr>
              <a:t>is </a:t>
            </a:r>
            <a:r>
              <a:rPr lang="en-US" sz="2100" b="1" dirty="0">
                <a:solidFill>
                  <a:srgbClr val="FF0000"/>
                </a:solidFill>
                <a:latin typeface="Arial Black" panose="020B0A04020102020204" pitchFamily="34" charset="0"/>
              </a:rPr>
              <a:t>1:2:1</a:t>
            </a:r>
            <a:r>
              <a:rPr lang="en-US" sz="2100" b="1" dirty="0">
                <a:latin typeface="Arial Black" panose="020B0A04020102020204" pitchFamily="34" charset="0"/>
              </a:rPr>
              <a:t> in carbohydrate </a:t>
            </a:r>
            <a:r>
              <a:rPr lang="en-US" sz="2100" b="1" dirty="0" smtClean="0">
                <a:latin typeface="Arial Black" panose="020B0A04020102020204" pitchFamily="34" charset="0"/>
              </a:rPr>
              <a:t>molecules.</a:t>
            </a:r>
          </a:p>
          <a:p>
            <a:pPr marL="623888"/>
            <a:endParaRPr lang="en-US" sz="1400" b="1" dirty="0">
              <a:latin typeface="Arial Black" panose="020B0A04020102020204" pitchFamily="34" charset="0"/>
            </a:endParaRPr>
          </a:p>
          <a:p>
            <a:pPr marL="623888"/>
            <a:endParaRPr lang="en-US" sz="1400" b="1" dirty="0" smtClean="0">
              <a:latin typeface="Arial Black" panose="020B0A04020102020204" pitchFamily="34" charset="0"/>
            </a:endParaRPr>
          </a:p>
          <a:p>
            <a:pPr marL="623888"/>
            <a:endParaRPr lang="en-US" sz="1400" b="1" dirty="0">
              <a:latin typeface="Arial Black" panose="020B0A040201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542" y="705983"/>
            <a:ext cx="12046858" cy="217715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42341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060" y="1449654"/>
            <a:ext cx="9376012" cy="5046680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2956" y="175784"/>
            <a:ext cx="11764369" cy="806856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909638" indent="-285750" algn="ctr"/>
            <a:r>
              <a:rPr lang="en-US" sz="2000" b="1" dirty="0">
                <a:latin typeface="Arial Black" panose="020B0A04020102020204" pitchFamily="34" charset="0"/>
              </a:rPr>
              <a:t> </a:t>
            </a:r>
            <a:r>
              <a:rPr lang="en-US" sz="2000" b="1" dirty="0" smtClean="0">
                <a:latin typeface="Arial Black" panose="020B0A04020102020204" pitchFamily="34" charset="0"/>
              </a:rPr>
              <a:t>CLASSIFICATION OF CARBOHYDRAYES</a:t>
            </a:r>
            <a:endParaRPr lang="en-US" sz="2000" b="1" dirty="0"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536" y="1080322"/>
            <a:ext cx="88710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9638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Arial Black" panose="020B0A04020102020204" pitchFamily="34" charset="0"/>
              </a:rPr>
              <a:t> Carbohydrates are classified into four subtypes, these are:</a:t>
            </a:r>
          </a:p>
        </p:txBody>
      </p:sp>
    </p:spTree>
    <p:extLst>
      <p:ext uri="{BB962C8B-B14F-4D97-AF65-F5344CB8AC3E}">
        <p14:creationId xmlns:p14="http://schemas.microsoft.com/office/powerpoint/2010/main" val="384208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 txBox="1">
            <a:spLocks/>
          </p:cNvSpPr>
          <p:nvPr/>
        </p:nvSpPr>
        <p:spPr>
          <a:xfrm>
            <a:off x="272956" y="162136"/>
            <a:ext cx="11764369" cy="738616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r>
              <a:rPr lang="en-US" sz="28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Monosaccharides</a:t>
            </a:r>
            <a:r>
              <a:rPr lang="en-US" sz="2800" b="1" dirty="0">
                <a:solidFill>
                  <a:schemeClr val="tx1"/>
                </a:solidFill>
                <a:latin typeface="Arial Black" panose="020B0A04020102020204" pitchFamily="34" charset="0"/>
              </a:rPr>
              <a:t>: </a:t>
            </a:r>
          </a:p>
          <a:p>
            <a:pPr marL="909638" indent="-285750" algn="ctr"/>
            <a:endParaRPr lang="en-US" sz="2000" b="1" dirty="0">
              <a:latin typeface="Arial Black" panose="020B0A040201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11540" y="1252267"/>
            <a:ext cx="11887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3888"/>
            <a:endParaRPr lang="en-US" b="1" dirty="0">
              <a:latin typeface="Arial Black" panose="020B0A04020102020204" pitchFamily="34" charset="0"/>
            </a:endParaRPr>
          </a:p>
          <a:p>
            <a:pPr marL="355600"/>
            <a:r>
              <a:rPr lang="en-US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  </a:t>
            </a:r>
          </a:p>
          <a:p>
            <a:pPr marL="355600"/>
            <a:r>
              <a:rPr lang="en-US" b="1" dirty="0">
                <a:solidFill>
                  <a:srgbClr val="00B0F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       </a:t>
            </a:r>
            <a:r>
              <a:rPr lang="en-US" b="1" dirty="0" smtClean="0">
                <a:latin typeface="Arial Black" panose="020B0A04020102020204" pitchFamily="34" charset="0"/>
              </a:rPr>
              <a:t>1- </a:t>
            </a:r>
            <a:r>
              <a:rPr lang="en-US" b="1" dirty="0">
                <a:latin typeface="Arial Black" panose="020B0A04020102020204" pitchFamily="34" charset="0"/>
              </a:rPr>
              <a:t>The simplest sugar</a:t>
            </a:r>
            <a:r>
              <a:rPr lang="en-US" b="1" dirty="0" smtClean="0">
                <a:latin typeface="Arial Black" panose="020B0A04020102020204" pitchFamily="34" charset="0"/>
              </a:rPr>
              <a:t>.</a:t>
            </a:r>
          </a:p>
          <a:p>
            <a:pPr marL="355600" indent="271463">
              <a:buFont typeface="Wingdings" panose="05000000000000000000" pitchFamily="2" charset="2"/>
              <a:buChar char="Ø"/>
            </a:pPr>
            <a:endParaRPr lang="en-US" b="1" dirty="0">
              <a:latin typeface="Arial Black" panose="020B0A04020102020204" pitchFamily="34" charset="0"/>
            </a:endParaRPr>
          </a:p>
          <a:p>
            <a:pPr marL="909638"/>
            <a:r>
              <a:rPr lang="en-US" b="1" dirty="0" smtClean="0">
                <a:latin typeface="Arial Black" panose="020B0A04020102020204" pitchFamily="34" charset="0"/>
              </a:rPr>
              <a:t> 2- They </a:t>
            </a:r>
            <a:r>
              <a:rPr lang="en-US" b="1" dirty="0">
                <a:latin typeface="Arial Black" panose="020B0A04020102020204" pitchFamily="34" charset="0"/>
              </a:rPr>
              <a:t>are either: 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909638"/>
            <a:endParaRPr lang="en-US" b="1" dirty="0" smtClean="0">
              <a:latin typeface="Arial Black" panose="020B0A04020102020204" pitchFamily="34" charset="0"/>
            </a:endParaRP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Aldoses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(         ) such </a:t>
            </a:r>
            <a:r>
              <a:rPr lang="en-US" b="1" dirty="0" smtClean="0">
                <a:latin typeface="Arial Black" panose="020B0A04020102020204" pitchFamily="34" charset="0"/>
              </a:rPr>
              <a:t>as Glucose</a:t>
            </a:r>
            <a:r>
              <a:rPr lang="en-US" b="1" dirty="0">
                <a:latin typeface="Arial Black" panose="020B0A04020102020204" pitchFamily="34" charset="0"/>
              </a:rPr>
              <a:t>, 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909638"/>
            <a:endParaRPr lang="en-US" b="1" dirty="0">
              <a:latin typeface="Arial Black" panose="020B0A04020102020204" pitchFamily="34" charset="0"/>
            </a:endParaRPr>
          </a:p>
          <a:p>
            <a:pPr marL="909638"/>
            <a:r>
              <a:rPr lang="en-US" b="1" dirty="0" smtClean="0">
                <a:latin typeface="Arial Black" panose="020B0A04020102020204" pitchFamily="34" charset="0"/>
              </a:rPr>
              <a:t>       or </a:t>
            </a:r>
            <a:r>
              <a:rPr lang="en-US" b="1" dirty="0">
                <a:latin typeface="Arial Black" panose="020B0A04020102020204" pitchFamily="34" charset="0"/>
              </a:rPr>
              <a:t>Ketoses </a:t>
            </a:r>
            <a:r>
              <a:rPr lang="en-US" b="1" dirty="0" smtClean="0">
                <a:latin typeface="Arial Black" panose="020B0A04020102020204" pitchFamily="34" charset="0"/>
              </a:rPr>
              <a:t>(        </a:t>
            </a:r>
            <a:r>
              <a:rPr lang="en-US" b="1" dirty="0">
                <a:latin typeface="Arial Black" panose="020B0A04020102020204" pitchFamily="34" charset="0"/>
              </a:rPr>
              <a:t>) such as </a:t>
            </a:r>
            <a:r>
              <a:rPr lang="en-US" b="1" dirty="0" smtClean="0">
                <a:latin typeface="Arial Black" panose="020B0A04020102020204" pitchFamily="34" charset="0"/>
              </a:rPr>
              <a:t>Fructose.</a:t>
            </a:r>
          </a:p>
          <a:p>
            <a:pPr marL="909638"/>
            <a:endParaRPr lang="en-US" b="1" dirty="0">
              <a:latin typeface="Arial Black" panose="020B0A04020102020204" pitchFamily="34" charset="0"/>
            </a:endParaRPr>
          </a:p>
          <a:p>
            <a:pPr marL="909638"/>
            <a:endParaRPr lang="en-US" b="1" dirty="0" smtClean="0">
              <a:latin typeface="Arial Black" panose="020B0A04020102020204" pitchFamily="34" charset="0"/>
            </a:endParaRPr>
          </a:p>
          <a:p>
            <a:pPr marL="909638"/>
            <a:r>
              <a:rPr lang="en-US" b="1" dirty="0" smtClean="0">
                <a:latin typeface="Arial Black" panose="020B0A04020102020204" pitchFamily="34" charset="0"/>
              </a:rPr>
              <a:t> 3- Isomers: one or more compound that</a:t>
            </a: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   have the same chemical formula</a:t>
            </a: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   but differ structurally and </a:t>
            </a: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   chemically such as Glucose, </a:t>
            </a: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   Galactose, and Fructose. All of </a:t>
            </a: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   have formula (C6H12O6) but </a:t>
            </a: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   as in behind picture.    </a:t>
            </a: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</a:t>
            </a:r>
            <a:endParaRPr lang="en-US" b="1" dirty="0">
              <a:latin typeface="Arial Black" panose="020B0A04020102020204" pitchFamily="34" charset="0"/>
            </a:endParaRPr>
          </a:p>
          <a:p>
            <a:pPr marL="355600"/>
            <a:r>
              <a:rPr lang="en-US" b="1" dirty="0" smtClean="0">
                <a:latin typeface="Arial Black" panose="020B0A04020102020204" pitchFamily="34" charset="0"/>
              </a:rPr>
              <a:t> </a:t>
            </a:r>
            <a:endParaRPr lang="en-US" b="1" dirty="0">
              <a:latin typeface="Arial Black" panose="020B0A040201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561" y="2743980"/>
            <a:ext cx="549677" cy="5187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301" y="3372651"/>
            <a:ext cx="551873" cy="4640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240" y="1665027"/>
            <a:ext cx="5856086" cy="413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9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72956" y="162136"/>
            <a:ext cx="11764369" cy="561195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  <a:endParaRPr lang="en-US" sz="2000" b="1" dirty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2956" y="1302948"/>
            <a:ext cx="1157330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9638"/>
            <a:r>
              <a:rPr lang="en-US" b="1" dirty="0" smtClean="0">
                <a:latin typeface="Arial Black" panose="020B0A04020102020204" pitchFamily="34" charset="0"/>
              </a:rPr>
              <a:t>   4- The </a:t>
            </a:r>
            <a:r>
              <a:rPr lang="en-US" b="1" dirty="0">
                <a:latin typeface="Arial Black" panose="020B0A04020102020204" pitchFamily="34" charset="0"/>
              </a:rPr>
              <a:t>number of carbon atoms usually ranges from three to six</a:t>
            </a:r>
            <a:r>
              <a:rPr lang="en-US" b="1" dirty="0" smtClean="0">
                <a:latin typeface="Arial Black" panose="020B0A04020102020204" pitchFamily="34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Trioses</a:t>
            </a:r>
            <a:r>
              <a:rPr lang="en-US" b="1" dirty="0">
                <a:latin typeface="Arial Black" panose="020B0A04020102020204" pitchFamily="34" charset="0"/>
              </a:rPr>
              <a:t> (3 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carbon atoms</a:t>
            </a:r>
            <a:r>
              <a:rPr lang="en-US" b="1" dirty="0">
                <a:latin typeface="Arial Black" panose="020B0A04020102020204" pitchFamily="34" charset="0"/>
              </a:rPr>
              <a:t>), </a:t>
            </a:r>
            <a:r>
              <a:rPr lang="en-US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Pentoses</a:t>
            </a:r>
            <a:r>
              <a:rPr lang="en-US" b="1" dirty="0">
                <a:latin typeface="Arial Black" panose="020B0A04020102020204" pitchFamily="34" charset="0"/>
              </a:rPr>
              <a:t> (5 carbon atoms),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Hexoses</a:t>
            </a:r>
            <a:r>
              <a:rPr lang="en-US" b="1" dirty="0" smtClean="0">
                <a:latin typeface="Arial Black" panose="020B0A04020102020204" pitchFamily="34" charset="0"/>
              </a:rPr>
              <a:t>(6 </a:t>
            </a:r>
            <a:r>
              <a:rPr lang="en-US" b="1" dirty="0">
                <a:latin typeface="Arial Black" panose="020B0A04020102020204" pitchFamily="34" charset="0"/>
              </a:rPr>
              <a:t>carbon atoms).</a:t>
            </a:r>
          </a:p>
          <a:p>
            <a:pPr marL="909638"/>
            <a:endParaRPr lang="en-US" b="1" dirty="0" smtClean="0">
              <a:latin typeface="Arial Black" panose="020B0A04020102020204" pitchFamily="34" charset="0"/>
            </a:endParaRPr>
          </a:p>
          <a:p>
            <a:pPr marL="909638"/>
            <a:endParaRPr lang="en-US" b="1" dirty="0">
              <a:latin typeface="Arial Black" panose="020B0A04020102020204" pitchFamily="34" charset="0"/>
            </a:endParaRP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5- </a:t>
            </a:r>
            <a:r>
              <a:rPr lang="en-US" b="1" dirty="0">
                <a:latin typeface="Arial Black" panose="020B0A04020102020204" pitchFamily="34" charset="0"/>
              </a:rPr>
              <a:t>May exist as a linear chain or as ring-shaped molecules; </a:t>
            </a:r>
            <a:r>
              <a:rPr lang="en-US" b="1" dirty="0" smtClean="0">
                <a:latin typeface="Arial Black" panose="020B0A04020102020204" pitchFamily="34" charset="0"/>
              </a:rPr>
              <a:t>in aqueous </a:t>
            </a:r>
            <a:r>
              <a:rPr lang="en-US" b="1" dirty="0">
                <a:latin typeface="Arial Black" panose="020B0A04020102020204" pitchFamily="34" charset="0"/>
              </a:rPr>
              <a:t>solutions, 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they </a:t>
            </a:r>
            <a:r>
              <a:rPr lang="en-US" b="1" dirty="0">
                <a:latin typeface="Arial Black" panose="020B0A04020102020204" pitchFamily="34" charset="0"/>
              </a:rPr>
              <a:t>are usually found in the ring form</a:t>
            </a:r>
            <a:r>
              <a:rPr lang="en-US" b="1" dirty="0" smtClean="0">
                <a:latin typeface="Arial Black" panose="020B0A04020102020204" pitchFamily="34" charset="0"/>
              </a:rPr>
              <a:t>.</a:t>
            </a:r>
          </a:p>
          <a:p>
            <a:pPr marL="909638"/>
            <a:endParaRPr lang="en-US" b="1" dirty="0">
              <a:latin typeface="Arial Black" panose="020B0A04020102020204" pitchFamily="34" charset="0"/>
            </a:endParaRPr>
          </a:p>
          <a:p>
            <a:pPr marL="909638"/>
            <a:endParaRPr lang="en-US" b="1" dirty="0" smtClean="0">
              <a:latin typeface="Arial Black" panose="020B0A04020102020204" pitchFamily="34" charset="0"/>
            </a:endParaRPr>
          </a:p>
          <a:p>
            <a:pPr marL="909638"/>
            <a:endParaRPr lang="en-US" b="1" dirty="0" smtClean="0">
              <a:latin typeface="Arial Black" panose="020B0A04020102020204" pitchFamily="34" charset="0"/>
            </a:endParaRPr>
          </a:p>
          <a:p>
            <a:pPr marL="909638"/>
            <a:endParaRPr lang="en-US" b="1" dirty="0">
              <a:latin typeface="Arial Black" panose="020B0A04020102020204" pitchFamily="34" charset="0"/>
            </a:endParaRPr>
          </a:p>
          <a:p>
            <a:pPr marL="909638"/>
            <a:endParaRPr lang="en-US" b="1" dirty="0" smtClean="0">
              <a:latin typeface="Arial Black" panose="020B0A04020102020204" pitchFamily="34" charset="0"/>
            </a:endParaRPr>
          </a:p>
          <a:p>
            <a:pPr marL="909638"/>
            <a:endParaRPr lang="en-US" b="1" dirty="0">
              <a:latin typeface="Arial Black" panose="020B0A04020102020204" pitchFamily="34" charset="0"/>
            </a:endParaRPr>
          </a:p>
          <a:p>
            <a:pPr marL="909638"/>
            <a:endParaRPr lang="en-US" b="1" dirty="0" smtClean="0">
              <a:latin typeface="Arial Black" panose="020B0A04020102020204" pitchFamily="34" charset="0"/>
            </a:endParaRPr>
          </a:p>
          <a:p>
            <a:pPr marL="909638"/>
            <a:endParaRPr lang="en-US" b="1" dirty="0">
              <a:latin typeface="Arial Black" panose="020B0A04020102020204" pitchFamily="34" charset="0"/>
            </a:endParaRP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                                        </a:t>
            </a:r>
          </a:p>
          <a:p>
            <a:pPr marL="909638"/>
            <a:r>
              <a:rPr lang="en-US" b="1" dirty="0" smtClean="0">
                <a:latin typeface="Arial Black" panose="020B0A04020102020204" pitchFamily="34" charset="0"/>
              </a:rPr>
              <a:t>     6- </a:t>
            </a:r>
            <a:r>
              <a:rPr lang="en-US" b="1" dirty="0">
                <a:latin typeface="Arial Black" panose="020B0A04020102020204" pitchFamily="34" charset="0"/>
              </a:rPr>
              <a:t>All of them are reducing sugar</a:t>
            </a:r>
            <a:r>
              <a:rPr lang="en-US" b="1" dirty="0" smtClean="0">
                <a:latin typeface="Arial Black" panose="020B0A04020102020204" pitchFamily="34" charset="0"/>
              </a:rPr>
              <a:t>. They have free aldehyde group or can  </a:t>
            </a: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 tautomerize in solution to form aldehyde group if they are ketoses, as</a:t>
            </a:r>
          </a:p>
          <a:p>
            <a:pPr marL="909638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 Fructose, ribose, and Xylose.</a:t>
            </a:r>
          </a:p>
          <a:p>
            <a:pPr marL="909638"/>
            <a:endParaRPr lang="en-US" b="1" dirty="0">
              <a:latin typeface="Arial Black" panose="020B0A04020102020204" pitchFamily="34" charset="0"/>
            </a:endParaRPr>
          </a:p>
          <a:p>
            <a:pPr marL="909638"/>
            <a:r>
              <a:rPr lang="en-US" b="1" dirty="0" smtClean="0">
                <a:latin typeface="Arial Black" panose="020B0A04020102020204" pitchFamily="34" charset="0"/>
              </a:rPr>
              <a:t>                  </a:t>
            </a:r>
            <a:endParaRPr lang="ar-JO" b="1" dirty="0">
              <a:latin typeface="Arial Black" panose="020B0A04020102020204" pitchFamily="34" charset="0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272956" y="162136"/>
            <a:ext cx="11764369" cy="738616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r>
              <a:rPr lang="en-US" sz="28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Monosaccharides</a:t>
            </a:r>
            <a:r>
              <a:rPr lang="en-US" sz="2800" b="1" dirty="0">
                <a:solidFill>
                  <a:schemeClr val="tx1"/>
                </a:solidFill>
                <a:latin typeface="Arial Black" panose="020B0A04020102020204" pitchFamily="34" charset="0"/>
              </a:rPr>
              <a:t>: </a:t>
            </a:r>
          </a:p>
          <a:p>
            <a:pPr marL="909638" indent="-285750" algn="ctr"/>
            <a:endParaRPr lang="en-US" sz="200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055620"/>
            <a:ext cx="2483893" cy="21792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96" y="3166280"/>
            <a:ext cx="3185570" cy="165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9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72956" y="162136"/>
            <a:ext cx="11764369" cy="738616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r>
              <a:rPr lang="en-US" sz="28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Disaccharides</a:t>
            </a:r>
            <a:r>
              <a:rPr lang="en-US" sz="2800" b="1" dirty="0">
                <a:solidFill>
                  <a:schemeClr val="tx1"/>
                </a:solidFill>
                <a:latin typeface="Arial Black" panose="020B0A04020102020204" pitchFamily="34" charset="0"/>
              </a:rPr>
              <a:t>: </a:t>
            </a:r>
          </a:p>
          <a:p>
            <a:pPr marL="909638" indent="-285750" algn="ctr"/>
            <a:endParaRPr lang="en-US" sz="2000" b="1" dirty="0"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1382173"/>
            <a:ext cx="1175072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95388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Arial Black" panose="020B0A04020102020204" pitchFamily="34" charset="0"/>
              </a:rPr>
              <a:t>Made up from two monomers bind together by glycoside bond, as:</a:t>
            </a:r>
          </a:p>
          <a:p>
            <a:pPr marL="1195388" indent="-285750">
              <a:buFont typeface="Wingdings" panose="05000000000000000000" pitchFamily="2" charset="2"/>
              <a:buChar char="§"/>
            </a:pPr>
            <a:endParaRPr lang="en-US" b="1" dirty="0">
              <a:latin typeface="Arial Black" panose="020B0A04020102020204" pitchFamily="34" charset="0"/>
            </a:endParaRPr>
          </a:p>
          <a:p>
            <a:pPr marL="909638"/>
            <a:r>
              <a:rPr lang="en-US" b="1" dirty="0" smtClean="0">
                <a:latin typeface="Arial Black" panose="020B0A04020102020204" pitchFamily="34" charset="0"/>
              </a:rPr>
              <a:t>      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Sucrose</a:t>
            </a:r>
          </a:p>
          <a:p>
            <a:pPr marL="909638"/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909638"/>
            <a:endParaRPr lang="en-US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909638"/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909638"/>
            <a:endParaRPr lang="en-US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909638"/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909638"/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      Lactose</a:t>
            </a:r>
          </a:p>
          <a:p>
            <a:pPr marL="909638"/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909638"/>
            <a:endParaRPr lang="en-US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909638"/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909638"/>
            <a:endParaRPr lang="en-US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909638"/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909638"/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     Maltose</a:t>
            </a:r>
          </a:p>
          <a:p>
            <a:pPr marL="1195388" indent="-285750">
              <a:buFont typeface="Wingdings" panose="05000000000000000000" pitchFamily="2" charset="2"/>
              <a:buChar char="§"/>
            </a:pPr>
            <a:endParaRPr lang="en-US" b="1" dirty="0">
              <a:latin typeface="Arial Black" panose="020B0A04020102020204" pitchFamily="34" charset="0"/>
            </a:endParaRPr>
          </a:p>
          <a:p>
            <a:pPr marL="909638"/>
            <a:endParaRPr lang="en-US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299" y="1846772"/>
            <a:ext cx="3179928" cy="15753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012" y="5071298"/>
            <a:ext cx="3144215" cy="13567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012" y="3422082"/>
            <a:ext cx="3275463" cy="163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8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72955" y="1050878"/>
            <a:ext cx="5636526" cy="641444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 Black" panose="020B0A04020102020204" pitchFamily="34" charset="0"/>
                <a:cs typeface="+mj-cs"/>
              </a:rPr>
              <a:t>Benedict’s test for reducing sugar:</a:t>
            </a:r>
            <a:endParaRPr lang="ar-JO" sz="2000" dirty="0">
              <a:latin typeface="Arial Black" panose="020B0A04020102020204" pitchFamily="34" charset="0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2954" y="1842448"/>
            <a:ext cx="11764371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Reducing sugars</a:t>
            </a:r>
            <a:r>
              <a:rPr lang="en-US" sz="1600" b="1" dirty="0" smtClean="0">
                <a:latin typeface="Arial Black" panose="020B0A04020102020204" pitchFamily="34" charset="0"/>
              </a:rPr>
              <a:t>: </a:t>
            </a:r>
          </a:p>
          <a:p>
            <a:pPr marL="69850"/>
            <a:r>
              <a:rPr lang="en-US" sz="1600" b="1" dirty="0"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</a:rPr>
              <a:t>               </a:t>
            </a:r>
          </a:p>
          <a:p>
            <a:pPr marL="723900" indent="-192088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</a:rPr>
              <a:t>Sugar classified as reducing agent if:</a:t>
            </a:r>
          </a:p>
          <a:p>
            <a:pPr marL="69850"/>
            <a:endParaRPr lang="en-US" sz="1600" b="1" dirty="0" smtClean="0">
              <a:latin typeface="Arial Black" panose="020B0A04020102020204" pitchFamily="34" charset="0"/>
            </a:endParaRPr>
          </a:p>
          <a:p>
            <a:pPr marL="69850"/>
            <a:r>
              <a:rPr lang="en-US" sz="1600" b="1" dirty="0"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</a:rPr>
              <a:t>                       - It can act as a reducing agent.</a:t>
            </a:r>
          </a:p>
          <a:p>
            <a:pPr marL="69850"/>
            <a:endParaRPr lang="en-US" sz="1600" b="1" dirty="0">
              <a:latin typeface="Arial Black" panose="020B0A04020102020204" pitchFamily="34" charset="0"/>
            </a:endParaRPr>
          </a:p>
          <a:p>
            <a:pPr marL="69850"/>
            <a:r>
              <a:rPr lang="en-US" sz="1600" b="1" dirty="0" smtClean="0">
                <a:latin typeface="Arial Black" panose="020B0A04020102020204" pitchFamily="34" charset="0"/>
              </a:rPr>
              <a:t>                         - It has open-chain form with free aldehyde or ketone group</a:t>
            </a:r>
          </a:p>
          <a:p>
            <a:pPr marL="69850"/>
            <a:endParaRPr lang="en-US" sz="1600" b="1" dirty="0">
              <a:latin typeface="Arial Black" panose="020B0A04020102020204" pitchFamily="34" charset="0"/>
            </a:endParaRPr>
          </a:p>
          <a:p>
            <a:pPr marL="817563" indent="-285750">
              <a:buFont typeface="Wingdings" panose="05000000000000000000" pitchFamily="2" charset="2"/>
              <a:buChar char="§"/>
            </a:pPr>
            <a:r>
              <a:rPr lang="en-US" sz="1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All monosaccharides </a:t>
            </a:r>
            <a:r>
              <a:rPr lang="en-US" sz="1600" b="1" dirty="0" smtClean="0">
                <a:latin typeface="Arial Black" panose="020B0A04020102020204" pitchFamily="34" charset="0"/>
              </a:rPr>
              <a:t>are reducing sugars because all of </a:t>
            </a:r>
            <a:r>
              <a:rPr lang="en-US" sz="1600" b="1" dirty="0">
                <a:latin typeface="Arial Black" panose="020B0A04020102020204" pitchFamily="34" charset="0"/>
              </a:rPr>
              <a:t>them have open-chain form with free </a:t>
            </a:r>
            <a:endParaRPr lang="en-US" sz="1600" b="1" dirty="0" smtClean="0">
              <a:latin typeface="Arial Black" panose="020B0A04020102020204" pitchFamily="34" charset="0"/>
            </a:endParaRPr>
          </a:p>
          <a:p>
            <a:pPr marL="531813"/>
            <a:r>
              <a:rPr lang="en-US" sz="1600" b="1" dirty="0"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</a:rPr>
              <a:t>   aldehyde </a:t>
            </a:r>
            <a:r>
              <a:rPr lang="en-US" sz="1600" b="1" dirty="0">
                <a:latin typeface="Arial Black" panose="020B0A04020102020204" pitchFamily="34" charset="0"/>
              </a:rPr>
              <a:t>or ketone </a:t>
            </a:r>
            <a:r>
              <a:rPr lang="en-US" sz="1600" b="1" dirty="0" smtClean="0">
                <a:latin typeface="Arial Black" panose="020B0A04020102020204" pitchFamily="34" charset="0"/>
              </a:rPr>
              <a:t>group that tautomerize in solution to form aldehyde group. </a:t>
            </a:r>
          </a:p>
          <a:p>
            <a:pPr marL="531813"/>
            <a:r>
              <a:rPr lang="en-US" sz="1600" b="1" dirty="0"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</a:rPr>
              <a:t>   e.g.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Glucose</a:t>
            </a:r>
            <a:r>
              <a:rPr lang="en-US" sz="1600" b="1" dirty="0" smtClean="0">
                <a:latin typeface="Arial Black" panose="020B0A04020102020204" pitchFamily="34" charset="0"/>
              </a:rPr>
              <a:t>,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Galactose</a:t>
            </a:r>
            <a:r>
              <a:rPr lang="en-US" sz="1600" b="1" dirty="0" smtClean="0">
                <a:latin typeface="Arial Black" panose="020B0A04020102020204" pitchFamily="34" charset="0"/>
              </a:rPr>
              <a:t>,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Fructose</a:t>
            </a:r>
            <a:r>
              <a:rPr lang="en-US" sz="1600" b="1" dirty="0" smtClean="0">
                <a:latin typeface="Arial Black" panose="020B0A04020102020204" pitchFamily="34" charset="0"/>
              </a:rPr>
              <a:t>,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Ribose</a:t>
            </a:r>
            <a:r>
              <a:rPr lang="en-US" sz="1600" b="1" dirty="0" smtClean="0">
                <a:latin typeface="Arial Black" panose="020B0A04020102020204" pitchFamily="34" charset="0"/>
              </a:rPr>
              <a:t>, and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Xylose</a:t>
            </a:r>
            <a:r>
              <a:rPr lang="en-US" sz="1600" b="1" dirty="0" smtClean="0">
                <a:latin typeface="Arial Black" panose="020B0A04020102020204" pitchFamily="34" charset="0"/>
              </a:rPr>
              <a:t>.  </a:t>
            </a:r>
          </a:p>
          <a:p>
            <a:pPr marL="531813"/>
            <a:endParaRPr lang="en-US" sz="1600" b="1" dirty="0" smtClean="0">
              <a:latin typeface="Arial Black" panose="020B0A04020102020204" pitchFamily="34" charset="0"/>
            </a:endParaRPr>
          </a:p>
          <a:p>
            <a:pPr marL="531813"/>
            <a:r>
              <a:rPr lang="en-US" sz="1600" b="1" dirty="0" smtClean="0">
                <a:latin typeface="Arial Black" panose="020B0A04020102020204" pitchFamily="34" charset="0"/>
              </a:rPr>
              <a:t>                         </a:t>
            </a:r>
          </a:p>
          <a:p>
            <a:pPr marL="804863" indent="-285750">
              <a:buFont typeface="Wingdings" panose="05000000000000000000" pitchFamily="2" charset="2"/>
              <a:buChar char="§"/>
            </a:pPr>
            <a:r>
              <a:rPr lang="en-US" sz="1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Disaccharides</a:t>
            </a:r>
            <a:endParaRPr lang="en-US" sz="1600" b="1" dirty="0" smtClean="0">
              <a:latin typeface="Arial Black" panose="020B0A04020102020204" pitchFamily="34" charset="0"/>
            </a:endParaRPr>
          </a:p>
          <a:p>
            <a:pPr marL="531813">
              <a:buFont typeface="Wingdings" panose="05000000000000000000" pitchFamily="2" charset="2"/>
              <a:buChar char="§"/>
            </a:pPr>
            <a:endParaRPr lang="en-US" sz="1600" b="1" dirty="0">
              <a:latin typeface="Arial Black" panose="020B0A04020102020204" pitchFamily="34" charset="0"/>
            </a:endParaRPr>
          </a:p>
          <a:p>
            <a:pPr marL="804863" indent="273050">
              <a:buFont typeface="Courier New" panose="02070309020205020404" pitchFamily="49" charset="0"/>
              <a:buChar char="o"/>
            </a:pPr>
            <a:r>
              <a:rPr lang="en-US" sz="1600" b="1" dirty="0" smtClean="0">
                <a:latin typeface="Arial Black" panose="020B0A04020102020204" pitchFamily="34" charset="0"/>
              </a:rPr>
              <a:t>Reducing sugars: Can </a:t>
            </a:r>
            <a:r>
              <a:rPr lang="en-US" sz="1600" b="1" dirty="0">
                <a:latin typeface="Arial Black" panose="020B0A04020102020204" pitchFamily="34" charset="0"/>
              </a:rPr>
              <a:t>convert </a:t>
            </a:r>
            <a:r>
              <a:rPr lang="en-US" sz="1600" b="1" dirty="0" smtClean="0">
                <a:latin typeface="Arial Black" panose="020B0A04020102020204" pitchFamily="34" charset="0"/>
              </a:rPr>
              <a:t>to open-chain form with free aldehyde group, because only one                        </a:t>
            </a:r>
          </a:p>
          <a:p>
            <a:pPr marL="804863"/>
            <a:r>
              <a:rPr lang="en-US" sz="1600" b="1" dirty="0"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</a:rPr>
              <a:t>                                of their two </a:t>
            </a:r>
            <a:r>
              <a:rPr lang="en-US" sz="1600" b="1" dirty="0" err="1" smtClean="0">
                <a:latin typeface="Arial Black" panose="020B0A04020102020204" pitchFamily="34" charset="0"/>
              </a:rPr>
              <a:t>anomeric</a:t>
            </a:r>
            <a:r>
              <a:rPr lang="en-US" sz="1600" b="1" dirty="0" smtClean="0">
                <a:latin typeface="Arial Black" panose="020B0A04020102020204" pitchFamily="34" charset="0"/>
              </a:rPr>
              <a:t> carbon involve in the glycoside bond.</a:t>
            </a:r>
          </a:p>
          <a:p>
            <a:pPr marL="804863"/>
            <a:endParaRPr lang="en-US" sz="1600" b="1" dirty="0" smtClean="0">
              <a:latin typeface="Arial Black" panose="020B0A04020102020204" pitchFamily="34" charset="0"/>
            </a:endParaRPr>
          </a:p>
          <a:p>
            <a:pPr marL="804863"/>
            <a:r>
              <a:rPr lang="en-US" sz="1600" b="1" dirty="0"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</a:rPr>
              <a:t>                                e.g.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Lactose</a:t>
            </a:r>
            <a:r>
              <a:rPr lang="en-US" sz="1600" b="1" dirty="0" smtClean="0">
                <a:latin typeface="Arial Black" panose="020B0A04020102020204" pitchFamily="34" charset="0"/>
              </a:rPr>
              <a:t> and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Maltose</a:t>
            </a:r>
            <a:endParaRPr lang="en-US" sz="16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245661" y="218363"/>
            <a:ext cx="11764369" cy="532263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endParaRPr lang="en-US" sz="2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2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5661" y="1265408"/>
            <a:ext cx="11764369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9725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Arial Black" panose="020B0A04020102020204" pitchFamily="34" charset="0"/>
              </a:rPr>
              <a:t>Non-reducing sugars:  </a:t>
            </a:r>
            <a:r>
              <a:rPr lang="en-US" sz="1600" b="1" dirty="0" smtClean="0">
                <a:latin typeface="Arial Black" panose="020B0A04020102020204" pitchFamily="34" charset="0"/>
              </a:rPr>
              <a:t>Can’t </a:t>
            </a:r>
            <a:r>
              <a:rPr lang="en-US" sz="1600" b="1" dirty="0">
                <a:latin typeface="Arial Black" panose="020B0A04020102020204" pitchFamily="34" charset="0"/>
              </a:rPr>
              <a:t>convert to open-chain form with free aldehyde group,</a:t>
            </a:r>
            <a:r>
              <a:rPr lang="en-US" sz="1600" b="1" dirty="0" smtClean="0">
                <a:latin typeface="Arial Black" panose="020B0A04020102020204" pitchFamily="34" charset="0"/>
              </a:rPr>
              <a:t>  </a:t>
            </a:r>
          </a:p>
          <a:p>
            <a:pPr marL="1323975"/>
            <a:r>
              <a:rPr lang="en-US" sz="1600" b="1" dirty="0" smtClean="0">
                <a:latin typeface="Arial Black" panose="020B0A04020102020204" pitchFamily="34" charset="0"/>
              </a:rPr>
              <a:t>                                         because the two </a:t>
            </a:r>
            <a:r>
              <a:rPr lang="en-US" sz="1600" b="1" dirty="0" err="1" smtClean="0">
                <a:latin typeface="Arial Black" panose="020B0A04020102020204" pitchFamily="34" charset="0"/>
              </a:rPr>
              <a:t>anomeric</a:t>
            </a:r>
            <a:r>
              <a:rPr lang="en-US" sz="1600" b="1" dirty="0" smtClean="0">
                <a:latin typeface="Arial Black" panose="020B0A04020102020204" pitchFamily="34" charset="0"/>
              </a:rPr>
              <a:t> carbon involve in the </a:t>
            </a:r>
            <a:r>
              <a:rPr lang="en-US" sz="1600" b="1" dirty="0">
                <a:latin typeface="Arial Black" panose="020B0A04020102020204" pitchFamily="34" charset="0"/>
              </a:rPr>
              <a:t>glycoside bond.</a:t>
            </a:r>
          </a:p>
          <a:p>
            <a:pPr marL="1323975"/>
            <a:endParaRPr lang="en-US" sz="1600" b="1" dirty="0" smtClean="0">
              <a:latin typeface="Arial Black" panose="020B0A04020102020204" pitchFamily="34" charset="0"/>
            </a:endParaRPr>
          </a:p>
          <a:p>
            <a:pPr marL="341313"/>
            <a:r>
              <a:rPr lang="en-US" sz="1600" b="1" dirty="0" smtClean="0">
                <a:latin typeface="Arial Black" panose="020B0A04020102020204" pitchFamily="34" charset="0"/>
              </a:rPr>
              <a:t>                                                        e.g.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Sucrose</a:t>
            </a:r>
            <a:r>
              <a:rPr lang="en-US" sz="1600" b="1" dirty="0" smtClean="0">
                <a:latin typeface="Arial Black" panose="020B0A04020102020204" pitchFamily="34" charset="0"/>
              </a:rPr>
              <a:t> and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Trehalose</a:t>
            </a:r>
            <a:r>
              <a:rPr lang="en-US" sz="1600" b="1" dirty="0" smtClean="0">
                <a:latin typeface="Arial Black" panose="020B0A04020102020204" pitchFamily="34" charset="0"/>
              </a:rPr>
              <a:t> </a:t>
            </a:r>
          </a:p>
          <a:p>
            <a:pPr marL="341313"/>
            <a:endParaRPr lang="en-US" b="1" dirty="0">
              <a:latin typeface="Arial Black" panose="020B0A04020102020204" pitchFamily="34" charset="0"/>
            </a:endParaRPr>
          </a:p>
          <a:p>
            <a:pPr marL="341313"/>
            <a:r>
              <a:rPr lang="en-US" b="1" dirty="0" smtClean="0">
                <a:latin typeface="Arial Black" panose="020B0A04020102020204" pitchFamily="34" charset="0"/>
              </a:rPr>
              <a:t>               </a:t>
            </a:r>
          </a:p>
          <a:p>
            <a:pPr marL="900113" indent="-285750"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Arial Black" panose="020B0A04020102020204" pitchFamily="34" charset="0"/>
              </a:rPr>
              <a:t>Some Oligosaccharides and Polysaccharides are reducing sugar, the others are Non. </a:t>
            </a:r>
          </a:p>
          <a:p>
            <a:pPr marL="614363"/>
            <a:endParaRPr lang="en-US" b="1" dirty="0" smtClean="0">
              <a:latin typeface="Arial Black" panose="020B0A04020102020204" pitchFamily="34" charset="0"/>
            </a:endParaRPr>
          </a:p>
          <a:p>
            <a:pPr marL="614363"/>
            <a:endParaRPr lang="en-US" b="1" dirty="0">
              <a:latin typeface="Arial Black" panose="020B0A04020102020204" pitchFamily="34" charset="0"/>
            </a:endParaRPr>
          </a:p>
          <a:p>
            <a:pPr marL="4635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Benedict’s</a:t>
            </a:r>
            <a:r>
              <a:rPr lang="en-US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 reagent: </a:t>
            </a:r>
            <a:r>
              <a:rPr lang="en-US" sz="1600" b="1" dirty="0" smtClean="0">
                <a:latin typeface="Arial Black" panose="020B0A04020102020204" pitchFamily="34" charset="0"/>
              </a:rPr>
              <a:t>is an aqueous solution of copper(II) sulfate, Sodium carbonate, and sodium </a:t>
            </a:r>
          </a:p>
          <a:p>
            <a:pPr marL="177800"/>
            <a:r>
              <a:rPr lang="en-US" sz="1600" b="1" dirty="0"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</a:rPr>
              <a:t>                                      citrate.</a:t>
            </a:r>
          </a:p>
          <a:p>
            <a:pPr marL="177800"/>
            <a:endParaRPr lang="en-US" sz="1600" b="1" dirty="0">
              <a:latin typeface="Arial Black" panose="020B0A04020102020204" pitchFamily="34" charset="0"/>
            </a:endParaRPr>
          </a:p>
          <a:p>
            <a:pPr marL="4635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The principle</a:t>
            </a:r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: </a:t>
            </a:r>
          </a:p>
          <a:p>
            <a:pPr marL="177800"/>
            <a:endParaRPr lang="en-US" sz="1600" b="1" dirty="0" smtClean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pPr marL="1609725" indent="-285750"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Arial Black" panose="020B0A04020102020204" pitchFamily="34" charset="0"/>
              </a:rPr>
              <a:t>Aldehyde group of the sugar oxidized and the copper (II) in solution reduced via the</a:t>
            </a:r>
          </a:p>
          <a:p>
            <a:pPr marL="177800"/>
            <a:r>
              <a:rPr lang="en-US" sz="1600" b="1" dirty="0" smtClean="0">
                <a:latin typeface="Arial Black" panose="020B0A04020102020204" pitchFamily="34" charset="0"/>
              </a:rPr>
              <a:t>                     Redox reaction, then copper (I) oxide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(Cu</a:t>
            </a:r>
            <a:r>
              <a:rPr lang="en-US" sz="11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2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O) </a:t>
            </a:r>
            <a:r>
              <a:rPr lang="en-US" sz="1600" b="1" dirty="0" smtClean="0">
                <a:latin typeface="Arial Black" panose="020B0A04020102020204" pitchFamily="34" charset="0"/>
              </a:rPr>
              <a:t>precipitate is formed.</a:t>
            </a:r>
          </a:p>
          <a:p>
            <a:pPr marL="177800"/>
            <a:endParaRPr lang="en-US" sz="1600" b="1" dirty="0">
              <a:latin typeface="Arial Black" panose="020B0A04020102020204" pitchFamily="34" charset="0"/>
            </a:endParaRPr>
          </a:p>
          <a:p>
            <a:pPr marL="1350963"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Arial Black" panose="020B0A04020102020204" pitchFamily="34" charset="0"/>
              </a:rPr>
              <a:t> The color of the precipitate may be </a:t>
            </a:r>
            <a:r>
              <a:rPr lang="en-US" sz="1600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Green</a:t>
            </a:r>
            <a:r>
              <a:rPr lang="en-US" sz="1600" b="1" dirty="0" smtClean="0">
                <a:latin typeface="Arial Black" panose="020B0A04020102020204" pitchFamily="34" charset="0"/>
              </a:rPr>
              <a:t> (the lowest), </a:t>
            </a:r>
            <a:r>
              <a:rPr lang="en-US" sz="1600" b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Yellow</a:t>
            </a:r>
            <a:r>
              <a:rPr lang="en-US" sz="1600" b="1" dirty="0" smtClean="0">
                <a:latin typeface="Arial Black" panose="020B0A04020102020204" pitchFamily="34" charset="0"/>
              </a:rPr>
              <a:t>, </a:t>
            </a:r>
            <a:r>
              <a:rPr lang="en-US" sz="1600" b="1" dirty="0" smtClean="0">
                <a:solidFill>
                  <a:srgbClr val="F44E0C"/>
                </a:solidFill>
                <a:latin typeface="Arial Black" panose="020B0A04020102020204" pitchFamily="34" charset="0"/>
              </a:rPr>
              <a:t>Orange</a:t>
            </a:r>
            <a:r>
              <a:rPr lang="en-US" sz="1600" b="1" dirty="0" smtClean="0">
                <a:latin typeface="Arial Black" panose="020B0A04020102020204" pitchFamily="34" charset="0"/>
              </a:rPr>
              <a:t>, and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dark red </a:t>
            </a:r>
            <a:r>
              <a:rPr lang="en-US" sz="1600" b="1" dirty="0" smtClean="0">
                <a:latin typeface="Arial Black" panose="020B0A04020102020204" pitchFamily="34" charset="0"/>
              </a:rPr>
              <a:t>( the</a:t>
            </a:r>
          </a:p>
          <a:p>
            <a:pPr marL="1350963"/>
            <a:r>
              <a:rPr lang="en-US" sz="1600" b="1" dirty="0"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</a:rPr>
              <a:t>         highest) depending on the amount of precipitate which in turn depends on the          </a:t>
            </a:r>
          </a:p>
          <a:p>
            <a:pPr marL="1350963"/>
            <a:r>
              <a:rPr lang="en-US" sz="1600" b="1" dirty="0"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</a:rPr>
              <a:t>         amount of reducing sugar.                 </a:t>
            </a:r>
          </a:p>
        </p:txBody>
      </p:sp>
      <p:sp>
        <p:nvSpPr>
          <p:cNvPr id="3" name="Title 3"/>
          <p:cNvSpPr txBox="1">
            <a:spLocks/>
          </p:cNvSpPr>
          <p:nvPr/>
        </p:nvSpPr>
        <p:spPr>
          <a:xfrm>
            <a:off x="245661" y="218363"/>
            <a:ext cx="11764369" cy="532263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endParaRPr lang="en-US" sz="2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04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32263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Experiment 1: Benedict’s test</a:t>
            </a:r>
            <a:endParaRPr lang="en-US" sz="2000" b="1" dirty="0">
              <a:latin typeface="Arial Black" panose="020B0A04020102020204" pitchFamily="34" charset="0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272956" y="162136"/>
            <a:ext cx="11764369" cy="738616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r>
              <a:rPr lang="en-US" sz="28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Identification of carbohydrates: </a:t>
            </a:r>
            <a:endParaRPr lang="en-US" sz="2800" b="1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marL="909638" indent="-285750" algn="ctr"/>
            <a:endParaRPr lang="en-US" sz="2000" b="1" dirty="0">
              <a:latin typeface="Arial Black" panose="020B0A040201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72953" y="1050878"/>
            <a:ext cx="10508777" cy="436728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 Black" panose="020B0A04020102020204" pitchFamily="34" charset="0"/>
                <a:cs typeface="+mj-cs"/>
              </a:rPr>
              <a:t>Experiment 1: The  practical part of </a:t>
            </a:r>
            <a:r>
              <a:rPr lang="en-US" sz="2000" dirty="0" smtClean="0">
                <a:solidFill>
                  <a:srgbClr val="FF0000"/>
                </a:solidFill>
                <a:latin typeface="Arial Black" panose="020B0A04020102020204" pitchFamily="34" charset="0"/>
                <a:cs typeface="+mj-cs"/>
              </a:rPr>
              <a:t>Benedict’s test </a:t>
            </a:r>
            <a:r>
              <a:rPr lang="en-US" sz="2000" dirty="0" smtClean="0">
                <a:latin typeface="Arial Black" panose="020B0A04020102020204" pitchFamily="34" charset="0"/>
                <a:cs typeface="+mj-cs"/>
              </a:rPr>
              <a:t>for reducing sugar:</a:t>
            </a:r>
            <a:endParaRPr lang="ar-JO" sz="2000" dirty="0">
              <a:latin typeface="Arial Black" panose="020B0A04020102020204" pitchFamily="34" charset="0"/>
              <a:cs typeface="+mj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53" y="1487606"/>
            <a:ext cx="11537129" cy="507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17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32263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endParaRPr lang="en-US" sz="2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93" y="928046"/>
            <a:ext cx="10617957" cy="581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4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534" y="1928084"/>
            <a:ext cx="1191449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285750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Lugol’s test: </a:t>
            </a:r>
          </a:p>
          <a:p>
            <a:pPr marL="177800"/>
            <a:endParaRPr lang="en-US" b="1" dirty="0" smtClean="0">
              <a:solidFill>
                <a:srgbClr val="00B0F0"/>
              </a:solidFill>
              <a:latin typeface="Arial Black" panose="020B0A04020102020204" pitchFamily="34" charset="0"/>
            </a:endParaRPr>
          </a:p>
          <a:p>
            <a:pPr marL="1528763" indent="-285750">
              <a:buFont typeface="Courier New" panose="02070309020205020404" pitchFamily="49" charset="0"/>
              <a:buChar char="o"/>
            </a:pPr>
            <a:r>
              <a:rPr lang="en-US" b="1" dirty="0" smtClean="0">
                <a:latin typeface="Arial Black" panose="020B0A04020102020204" pitchFamily="34" charset="0"/>
              </a:rPr>
              <a:t>Used to identify the starch.</a:t>
            </a:r>
          </a:p>
          <a:p>
            <a:pPr marL="1243013"/>
            <a:endParaRPr lang="en-US" b="1" dirty="0" smtClean="0">
              <a:latin typeface="Arial Black" panose="020B0A04020102020204" pitchFamily="34" charset="0"/>
            </a:endParaRPr>
          </a:p>
          <a:p>
            <a:pPr marL="1528763" indent="-285750">
              <a:buFont typeface="Courier New" panose="02070309020205020404" pitchFamily="49" charset="0"/>
              <a:buChar char="o"/>
            </a:pPr>
            <a:r>
              <a:rPr lang="en-US" b="1" dirty="0" smtClean="0">
                <a:latin typeface="Arial Black" panose="020B0A04020102020204" pitchFamily="34" charset="0"/>
              </a:rPr>
              <a:t>Lugol’s solation consists Iodine in aqueous solution of potassium iodide.</a:t>
            </a:r>
          </a:p>
          <a:p>
            <a:pPr marL="1243013"/>
            <a:endParaRPr lang="en-US" b="1" dirty="0" smtClean="0">
              <a:latin typeface="Arial Black" panose="020B0A04020102020204" pitchFamily="34" charset="0"/>
            </a:endParaRPr>
          </a:p>
          <a:p>
            <a:pPr marL="1528763" indent="-285750">
              <a:buFont typeface="Courier New" panose="02070309020205020404" pitchFamily="49" charset="0"/>
              <a:buChar char="o"/>
            </a:pP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The principle: 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Iodine</a:t>
            </a:r>
            <a:r>
              <a:rPr lang="en-US" b="1" dirty="0" smtClean="0">
                <a:latin typeface="Arial Black" panose="020B0A04020102020204" pitchFamily="34" charset="0"/>
              </a:rPr>
              <a:t> react with 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starch</a:t>
            </a:r>
            <a:r>
              <a:rPr lang="en-US" b="1" dirty="0" smtClean="0">
                <a:latin typeface="Arial Black" panose="020B0A04020102020204" pitchFamily="34" charset="0"/>
              </a:rPr>
              <a:t> to form 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polyiodide </a:t>
            </a:r>
            <a:r>
              <a:rPr lang="en-US" b="1" dirty="0" smtClean="0">
                <a:latin typeface="Arial Black" panose="020B0A04020102020204" pitchFamily="34" charset="0"/>
              </a:rPr>
              <a:t>that result in the formation of a deep blue-black color.</a:t>
            </a:r>
          </a:p>
          <a:p>
            <a:pPr marL="1243013"/>
            <a:endParaRPr lang="en-US" b="1" dirty="0" smtClean="0">
              <a:latin typeface="Arial Black" panose="020B0A04020102020204" pitchFamily="34" charset="0"/>
            </a:endParaRPr>
          </a:p>
          <a:p>
            <a:pPr marL="1528763" indent="-285750">
              <a:buFont typeface="Courier New" panose="02070309020205020404" pitchFamily="49" charset="0"/>
              <a:buChar char="o"/>
            </a:pPr>
            <a:r>
              <a:rPr lang="en-US" b="1" dirty="0" smtClean="0">
                <a:latin typeface="Arial Black" panose="020B0A04020102020204" pitchFamily="34" charset="0"/>
              </a:rPr>
              <a:t>The 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amylose</a:t>
            </a:r>
            <a:r>
              <a:rPr lang="en-US" b="1" dirty="0" smtClean="0">
                <a:latin typeface="Arial Black" panose="020B0A04020102020204" pitchFamily="34" charset="0"/>
              </a:rPr>
              <a:t> (straight portion of starch causes 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the dark blue black color</a:t>
            </a:r>
            <a:r>
              <a:rPr lang="en-US" b="1" dirty="0" smtClean="0">
                <a:latin typeface="Arial Black" panose="020B0A04020102020204" pitchFamily="34" charset="0"/>
              </a:rPr>
              <a:t>, while</a:t>
            </a:r>
          </a:p>
          <a:p>
            <a:pPr marL="1243013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the </a:t>
            </a:r>
            <a:r>
              <a:rPr lang="en-US" b="1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amylopectin </a:t>
            </a:r>
            <a:r>
              <a:rPr lang="en-US" b="1" dirty="0" smtClean="0">
                <a:latin typeface="Arial Black" panose="020B0A04020102020204" pitchFamily="34" charset="0"/>
              </a:rPr>
              <a:t>(branched  portion of the starch forms </a:t>
            </a:r>
            <a:r>
              <a:rPr lang="en-US" b="1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orange/yellow</a:t>
            </a:r>
            <a:r>
              <a:rPr lang="en-US" b="1" dirty="0" smtClean="0">
                <a:latin typeface="Arial Black" panose="020B0A04020102020204" pitchFamily="34" charset="0"/>
              </a:rPr>
              <a:t> color  </a:t>
            </a:r>
            <a:endParaRPr lang="en-US" b="1" dirty="0">
              <a:latin typeface="Arial Black" panose="020B0A04020102020204" pitchFamily="34" charset="0"/>
            </a:endParaRPr>
          </a:p>
          <a:p>
            <a:pPr marL="1528763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170597" y="136475"/>
            <a:ext cx="11764369" cy="738616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r>
              <a:rPr lang="en-US" sz="28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Identification of carbohydrates: </a:t>
            </a:r>
            <a:endParaRPr lang="en-US" sz="2800" b="1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marL="909638" indent="-285750" algn="ctr"/>
            <a:endParaRPr lang="en-US" sz="2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81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5661" y="900753"/>
            <a:ext cx="8993873" cy="436728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 Black" panose="020B0A04020102020204" pitchFamily="34" charset="0"/>
                <a:cs typeface="+mj-cs"/>
              </a:rPr>
              <a:t>Experiment 2: The  practical part of </a:t>
            </a:r>
            <a:r>
              <a:rPr lang="en-US" sz="2000" dirty="0" smtClean="0">
                <a:solidFill>
                  <a:srgbClr val="FF0000"/>
                </a:solidFill>
                <a:latin typeface="Arial Black" panose="020B0A04020102020204" pitchFamily="34" charset="0"/>
                <a:cs typeface="+mj-cs"/>
              </a:rPr>
              <a:t>Lugol’s test </a:t>
            </a:r>
            <a:r>
              <a:rPr lang="en-US" sz="2000" dirty="0" smtClean="0">
                <a:latin typeface="Arial Black" panose="020B0A04020102020204" pitchFamily="34" charset="0"/>
                <a:cs typeface="+mj-cs"/>
              </a:rPr>
              <a:t>for starch:</a:t>
            </a:r>
            <a:endParaRPr lang="ar-JO" sz="2000" dirty="0">
              <a:latin typeface="Arial Black" panose="020B0A04020102020204" pitchFamily="34" charset="0"/>
              <a:cs typeface="+mj-cs"/>
            </a:endParaRPr>
          </a:p>
        </p:txBody>
      </p:sp>
      <p:sp>
        <p:nvSpPr>
          <p:cNvPr id="3" name="Title 3"/>
          <p:cNvSpPr txBox="1">
            <a:spLocks/>
          </p:cNvSpPr>
          <p:nvPr/>
        </p:nvSpPr>
        <p:spPr>
          <a:xfrm>
            <a:off x="245661" y="218363"/>
            <a:ext cx="11764369" cy="532263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endParaRPr lang="en-US" sz="2000" b="1" dirty="0">
              <a:latin typeface="Arial Black" panose="020B0A040201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06" y="1446692"/>
            <a:ext cx="11182122" cy="477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8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614150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lipids</a:t>
            </a:r>
            <a:endParaRPr lang="en-US" sz="2000" b="1" dirty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5534" y="979468"/>
            <a:ext cx="11914496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850"/>
            <a:r>
              <a:rPr lang="en-US" sz="28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Lipids: </a:t>
            </a:r>
          </a:p>
          <a:p>
            <a:pPr marL="1255713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Arial Black" panose="020B0A04020102020204" pitchFamily="34" charset="0"/>
              </a:rPr>
              <a:t>Function in energy storage and have structural purposes in living things.</a:t>
            </a:r>
          </a:p>
          <a:p>
            <a:pPr marL="355600" indent="-285750">
              <a:buFont typeface="Wingdings" panose="05000000000000000000" pitchFamily="2" charset="2"/>
              <a:buChar char="q"/>
            </a:pPr>
            <a:endParaRPr lang="en-US" b="1" dirty="0">
              <a:latin typeface="Arial Black" panose="020B0A04020102020204" pitchFamily="34" charset="0"/>
            </a:endParaRPr>
          </a:p>
          <a:p>
            <a:pPr marL="1255713" indent="-273050"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Arial Black" panose="020B0A04020102020204" pitchFamily="34" charset="0"/>
              </a:rPr>
              <a:t> They are neither huge nor polymer</a:t>
            </a:r>
          </a:p>
          <a:p>
            <a:pPr marL="1255713" indent="-273050">
              <a:buFont typeface="Wingdings" panose="05000000000000000000" pitchFamily="2" charset="2"/>
              <a:buChar char="q"/>
            </a:pPr>
            <a:endParaRPr lang="en-US" b="1" dirty="0">
              <a:latin typeface="Arial Black" panose="020B0A04020102020204" pitchFamily="34" charset="0"/>
            </a:endParaRPr>
          </a:p>
          <a:p>
            <a:pPr marL="1255713" indent="-273050"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Arial Black" panose="020B0A04020102020204" pitchFamily="34" charset="0"/>
              </a:rPr>
              <a:t>They are </a:t>
            </a:r>
            <a:r>
              <a:rPr lang="en-US" b="1" smtClean="0">
                <a:latin typeface="Arial Black" panose="020B0A04020102020204" pitchFamily="34" charset="0"/>
              </a:rPr>
              <a:t>hydrophobic (hate </a:t>
            </a:r>
            <a:r>
              <a:rPr lang="en-US" b="1" dirty="0" smtClean="0">
                <a:latin typeface="Arial Black" panose="020B0A04020102020204" pitchFamily="34" charset="0"/>
              </a:rPr>
              <a:t>water)</a:t>
            </a:r>
          </a:p>
          <a:p>
            <a:pPr marL="1255713" indent="-273050">
              <a:buFont typeface="Wingdings" panose="05000000000000000000" pitchFamily="2" charset="2"/>
              <a:buChar char="q"/>
            </a:pPr>
            <a:endParaRPr lang="en-US" b="1" dirty="0">
              <a:latin typeface="Arial Black" panose="020B0A04020102020204" pitchFamily="34" charset="0"/>
            </a:endParaRPr>
          </a:p>
          <a:p>
            <a:pPr marL="1255713" indent="-273050"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Arial Black" panose="020B0A04020102020204" pitchFamily="34" charset="0"/>
              </a:rPr>
              <a:t>They are three types:</a:t>
            </a:r>
          </a:p>
          <a:p>
            <a:pPr marL="1255713" indent="-273050">
              <a:buFont typeface="Wingdings" panose="05000000000000000000" pitchFamily="2" charset="2"/>
              <a:buChar char="q"/>
            </a:pPr>
            <a:endParaRPr lang="en-US" b="1" dirty="0">
              <a:latin typeface="Arial Black" panose="020B0A04020102020204" pitchFamily="34" charset="0"/>
            </a:endParaRPr>
          </a:p>
          <a:p>
            <a:pPr marL="1609725" indent="-285750">
              <a:buFont typeface="Wingdings" panose="05000000000000000000" pitchFamily="2" charset="2"/>
              <a:buChar char="v"/>
            </a:pPr>
            <a:r>
              <a:rPr lang="en-US" sz="2400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Fats:</a:t>
            </a:r>
            <a:r>
              <a:rPr lang="en-US" b="1" dirty="0" smtClean="0">
                <a:latin typeface="Arial Black" panose="020B0A04020102020204" pitchFamily="34" charset="0"/>
              </a:rPr>
              <a:t>  Made from 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Glycerol</a:t>
            </a:r>
            <a:r>
              <a:rPr lang="en-US" b="1" dirty="0" smtClean="0">
                <a:latin typeface="Arial Black" panose="020B0A04020102020204" pitchFamily="34" charset="0"/>
              </a:rPr>
              <a:t> + 3 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fatty acids</a:t>
            </a:r>
          </a:p>
          <a:p>
            <a:pPr marL="1609725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0B0F0"/>
              </a:solidFill>
              <a:latin typeface="Arial Black" panose="020B0A04020102020204" pitchFamily="34" charset="0"/>
            </a:endParaRPr>
          </a:p>
          <a:p>
            <a:pPr marL="2238375" indent="-285750">
              <a:buFont typeface="Courier New" panose="02070309020205020404" pitchFamily="49" charset="0"/>
              <a:buChar char="o"/>
              <a:tabLst>
                <a:tab pos="2238375" algn="l"/>
              </a:tabLst>
            </a:pP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Glycerol: Alcohol with three carbons, each one bears hydroxyl group (- OH).</a:t>
            </a:r>
          </a:p>
          <a:p>
            <a:pPr marL="2238375" indent="-285750">
              <a:buFont typeface="Courier New" panose="02070309020205020404" pitchFamily="49" charset="0"/>
              <a:buChar char="o"/>
              <a:tabLst>
                <a:tab pos="2238375" algn="l"/>
              </a:tabLst>
            </a:pPr>
            <a:endParaRPr lang="en-US" b="1" dirty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 marL="2238375" indent="-285750">
              <a:buFont typeface="Courier New" panose="02070309020205020404" pitchFamily="49" charset="0"/>
              <a:buChar char="o"/>
              <a:tabLst>
                <a:tab pos="2238375" algn="l"/>
              </a:tabLst>
            </a:pP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Fatty acids: </a:t>
            </a:r>
          </a:p>
          <a:p>
            <a:pPr marL="2784475">
              <a:buFont typeface="Wingdings" panose="05000000000000000000" pitchFamily="2" charset="2"/>
              <a:buChar char="Ø"/>
              <a:tabLst>
                <a:tab pos="2606675" algn="l"/>
              </a:tabLst>
            </a:pP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Usually 16 or 18 carbon atoms in length</a:t>
            </a:r>
          </a:p>
          <a:p>
            <a:pPr marL="2784475">
              <a:tabLst>
                <a:tab pos="2606675" algn="l"/>
              </a:tabLst>
            </a:pPr>
            <a:endParaRPr lang="en-US" b="1" dirty="0" smtClean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2784475">
              <a:buFont typeface="Wingdings" panose="05000000000000000000" pitchFamily="2" charset="2"/>
              <a:buChar char="Ø"/>
              <a:tabLst>
                <a:tab pos="2606675" algn="l"/>
              </a:tabLst>
            </a:pP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Consists carboxyl group (-COOH) as functional group.</a:t>
            </a:r>
          </a:p>
          <a:p>
            <a:pPr marL="2784475">
              <a:tabLst>
                <a:tab pos="2606675" algn="l"/>
              </a:tabLst>
            </a:pPr>
            <a:endParaRPr lang="en-US" b="1" dirty="0" smtClean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2784475">
              <a:buFont typeface="Wingdings" panose="05000000000000000000" pitchFamily="2" charset="2"/>
              <a:buChar char="Ø"/>
              <a:tabLst>
                <a:tab pos="2606675" algn="l"/>
              </a:tabLst>
            </a:pP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Makes the Fats Hydrophobic. </a:t>
            </a:r>
          </a:p>
          <a:p>
            <a:pPr marL="2784475">
              <a:tabLst>
                <a:tab pos="2606675" algn="l"/>
              </a:tabLst>
            </a:pP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                  </a:t>
            </a:r>
            <a:endParaRPr lang="en-US" b="1" dirty="0" smtClean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 marL="2238375" indent="-285750">
              <a:buFont typeface="Courier New" panose="02070309020205020404" pitchFamily="49" charset="0"/>
              <a:buChar char="o"/>
              <a:tabLst>
                <a:tab pos="2238375" algn="l"/>
              </a:tabLst>
            </a:pPr>
            <a:endParaRPr lang="en-US" b="1" dirty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 marL="2238375" indent="-285750">
              <a:buFont typeface="Courier New" panose="02070309020205020404" pitchFamily="49" charset="0"/>
              <a:buChar char="o"/>
              <a:tabLst>
                <a:tab pos="2238375" algn="l"/>
              </a:tabLst>
            </a:pPr>
            <a:endParaRPr lang="en-US" b="1" dirty="0" smtClean="0">
              <a:solidFill>
                <a:srgbClr val="00B0F0"/>
              </a:solidFill>
              <a:latin typeface="Arial Black" panose="020B0A04020102020204" pitchFamily="34" charset="0"/>
            </a:endParaRPr>
          </a:p>
          <a:p>
            <a:pPr marL="1609725" indent="-285750">
              <a:buFont typeface="Wingdings" panose="05000000000000000000" pitchFamily="2" charset="2"/>
              <a:buChar char="v"/>
            </a:pPr>
            <a:endParaRPr lang="en-US" b="1" dirty="0">
              <a:latin typeface="Arial Black" panose="020B0A04020102020204" pitchFamily="34" charset="0"/>
            </a:endParaRPr>
          </a:p>
          <a:p>
            <a:pPr marL="1323975"/>
            <a:r>
              <a:rPr lang="en-US" b="1" dirty="0" smtClean="0">
                <a:latin typeface="Arial Black" panose="020B0A04020102020204" pitchFamily="34" charset="0"/>
              </a:rPr>
              <a:t>                                  </a:t>
            </a:r>
            <a:endParaRPr lang="en-US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22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5" y="1056143"/>
            <a:ext cx="1170977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84475" indent="258763">
              <a:buFont typeface="Wingdings" panose="05000000000000000000" pitchFamily="2" charset="2"/>
              <a:buChar char="Ø"/>
              <a:tabLst>
                <a:tab pos="2784475" algn="l"/>
              </a:tabLst>
            </a:pP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Some fatty acids contains one or more double bonds that cause </a:t>
            </a:r>
          </a:p>
          <a:p>
            <a:pPr marL="2784475">
              <a:tabLst>
                <a:tab pos="2784475" algn="l"/>
              </a:tabLst>
            </a:pPr>
            <a:endParaRPr lang="en-US" b="1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2784475">
              <a:tabLst>
                <a:tab pos="2784475" algn="l"/>
              </a:tabLst>
            </a:pP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   kinks or </a:t>
            </a:r>
            <a:r>
              <a:rPr lang="en-US" b="1" dirty="0">
                <a:solidFill>
                  <a:srgbClr val="C00000"/>
                </a:solidFill>
                <a:latin typeface="Arial Black" panose="020B0A04020102020204" pitchFamily="34" charset="0"/>
              </a:rPr>
              <a:t>bends in the carbon 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chain </a:t>
            </a:r>
            <a:r>
              <a:rPr lang="en-US" b="1" dirty="0" smtClean="0">
                <a:latin typeface="Arial Black" panose="020B0A04020102020204" pitchFamily="34" charset="0"/>
              </a:rPr>
              <a:t>(unsaturated fatty acid). 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Others</a:t>
            </a:r>
          </a:p>
          <a:p>
            <a:pPr marL="2784475">
              <a:tabLst>
                <a:tab pos="2784475" algn="l"/>
              </a:tabLst>
            </a:pPr>
            <a:endParaRPr lang="en-US" b="1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2784475">
              <a:tabLst>
                <a:tab pos="2784475" algn="l"/>
              </a:tabLst>
            </a:pP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   have no double bond </a:t>
            </a:r>
            <a:r>
              <a:rPr lang="en-US" b="1" dirty="0" smtClean="0">
                <a:latin typeface="Arial Black" panose="020B0A04020102020204" pitchFamily="34" charset="0"/>
              </a:rPr>
              <a:t>(saturated </a:t>
            </a:r>
            <a:r>
              <a:rPr lang="en-US" b="1" dirty="0">
                <a:latin typeface="Arial Black" panose="020B0A04020102020204" pitchFamily="34" charset="0"/>
              </a:rPr>
              <a:t>fatty acid</a:t>
            </a:r>
            <a:r>
              <a:rPr lang="en-US" b="1" dirty="0" smtClean="0">
                <a:latin typeface="Arial Black" panose="020B0A04020102020204" pitchFamily="34" charset="0"/>
              </a:rPr>
              <a:t>). 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The </a:t>
            </a:r>
            <a:r>
              <a:rPr lang="en-US" b="1" dirty="0">
                <a:latin typeface="Arial Black" panose="020B0A04020102020204" pitchFamily="34" charset="0"/>
              </a:rPr>
              <a:t>saturated fatty 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2784475">
              <a:tabLst>
                <a:tab pos="2784475" algn="l"/>
              </a:tabLst>
            </a:pPr>
            <a:endParaRPr lang="en-US" b="1" dirty="0">
              <a:latin typeface="Arial Black" panose="020B0A04020102020204" pitchFamily="34" charset="0"/>
            </a:endParaRPr>
          </a:p>
          <a:p>
            <a:pPr marL="2784475">
              <a:tabLst>
                <a:tab pos="2784475" algn="l"/>
              </a:tabLst>
            </a:pPr>
            <a:r>
              <a:rPr lang="en-US" b="1" dirty="0" smtClean="0">
                <a:latin typeface="Arial Black" panose="020B0A04020102020204" pitchFamily="34" charset="0"/>
              </a:rPr>
              <a:t>    acid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contains the highest number of hydrogen atoms.</a:t>
            </a:r>
          </a:p>
          <a:p>
            <a:pPr marL="2784475">
              <a:tabLst>
                <a:tab pos="2784475" algn="l"/>
              </a:tabLst>
            </a:pPr>
            <a:endParaRPr lang="en-US" b="1" dirty="0" smtClean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1882775" indent="-176213">
              <a:buFont typeface="Courier New" panose="02070309020205020404" pitchFamily="49" charset="0"/>
              <a:buChar char="o"/>
              <a:tabLst>
                <a:tab pos="2784475" algn="l"/>
              </a:tabLst>
            </a:pPr>
            <a:r>
              <a:rPr lang="en-US" b="1" dirty="0" smtClean="0">
                <a:latin typeface="Arial Black" panose="020B0A04020102020204" pitchFamily="34" charset="0"/>
              </a:rPr>
              <a:t> The carboxyl group of each fatty acid molecules will bind to one of the  </a:t>
            </a:r>
          </a:p>
          <a:p>
            <a:pPr marL="1882775" indent="-176213">
              <a:buFont typeface="Courier New" panose="02070309020205020404" pitchFamily="49" charset="0"/>
              <a:buChar char="o"/>
              <a:tabLst>
                <a:tab pos="2784475" algn="l"/>
              </a:tabLst>
            </a:pPr>
            <a:endParaRPr lang="en-US" b="1" dirty="0" smtClean="0">
              <a:latin typeface="Arial Black" panose="020B0A04020102020204" pitchFamily="34" charset="0"/>
            </a:endParaRPr>
          </a:p>
          <a:p>
            <a:pPr marL="1706562">
              <a:tabLst>
                <a:tab pos="2784475" algn="l"/>
              </a:tabLst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hydroxyl group of glycerol through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dehydration reaction </a:t>
            </a:r>
            <a:r>
              <a:rPr lang="en-US" b="1" dirty="0" smtClean="0">
                <a:latin typeface="Arial Black" panose="020B0A04020102020204" pitchFamily="34" charset="0"/>
              </a:rPr>
              <a:t>to form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ester bond</a:t>
            </a:r>
            <a:r>
              <a:rPr lang="en-US" b="1" dirty="0" smtClean="0">
                <a:latin typeface="Arial Black" panose="020B0A04020102020204" pitchFamily="34" charset="0"/>
              </a:rPr>
              <a:t>. </a:t>
            </a:r>
          </a:p>
          <a:p>
            <a:pPr marL="1706562">
              <a:tabLst>
                <a:tab pos="2784475" algn="l"/>
              </a:tabLst>
            </a:pPr>
            <a:r>
              <a:rPr lang="en-US" b="1" dirty="0" smtClean="0">
                <a:latin typeface="Arial Black" panose="020B0A04020102020204" pitchFamily="34" charset="0"/>
              </a:rPr>
              <a:t> </a:t>
            </a:r>
          </a:p>
          <a:p>
            <a:pPr marL="1992313" indent="-285750">
              <a:buFont typeface="Courier New" panose="02070309020205020404" pitchFamily="49" charset="0"/>
              <a:buChar char="o"/>
              <a:tabLst>
                <a:tab pos="2784475" algn="l"/>
              </a:tabLst>
            </a:pPr>
            <a:r>
              <a:rPr lang="en-US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Fats either:</a:t>
            </a:r>
          </a:p>
          <a:p>
            <a:pPr marL="1992313" indent="-285750">
              <a:buFont typeface="Courier New" panose="02070309020205020404" pitchFamily="49" charset="0"/>
              <a:buChar char="o"/>
              <a:tabLst>
                <a:tab pos="2784475" algn="l"/>
              </a:tabLst>
            </a:pPr>
            <a:endParaRPr lang="en-US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marL="2784475">
              <a:buFont typeface="Wingdings" panose="05000000000000000000" pitchFamily="2" charset="2"/>
              <a:buChar char="§"/>
              <a:tabLst>
                <a:tab pos="2784475" algn="l"/>
              </a:tabLst>
            </a:pPr>
            <a:r>
              <a:rPr lang="en-US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Saturated: if the three fatty acid molecules are saturated.</a:t>
            </a:r>
          </a:p>
          <a:p>
            <a:pPr marL="2784475">
              <a:buFont typeface="Wingdings" panose="05000000000000000000" pitchFamily="2" charset="2"/>
              <a:buChar char="§"/>
              <a:tabLst>
                <a:tab pos="2784475" algn="l"/>
              </a:tabLst>
            </a:pPr>
            <a:endParaRPr lang="en-US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marL="2784475">
              <a:buFont typeface="Wingdings" panose="05000000000000000000" pitchFamily="2" charset="2"/>
              <a:buChar char="§"/>
              <a:tabLst>
                <a:tab pos="2784475" algn="l"/>
              </a:tabLst>
            </a:pPr>
            <a:r>
              <a:rPr lang="en-US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Unsaturated: if at least one of the three fatty acid molecules is</a:t>
            </a:r>
          </a:p>
          <a:p>
            <a:pPr marL="2784475">
              <a:tabLst>
                <a:tab pos="2784475" algn="l"/>
              </a:tabLst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</a:t>
            </a:r>
          </a:p>
          <a:p>
            <a:pPr marL="2784475">
              <a:tabLst>
                <a:tab pos="2784475" algn="l"/>
              </a:tabLst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saturated.            </a:t>
            </a:r>
          </a:p>
          <a:p>
            <a:pPr marL="1706563">
              <a:tabLst>
                <a:tab pos="2784475" algn="l"/>
              </a:tabLst>
            </a:pPr>
            <a:r>
              <a:rPr lang="en-US" b="1" dirty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                    </a:t>
            </a:r>
            <a:endParaRPr lang="en-US" b="1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2784475">
              <a:tabLst>
                <a:tab pos="2784475" algn="l"/>
              </a:tabLst>
            </a:pP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   </a:t>
            </a:r>
            <a:endParaRPr lang="en-US" b="1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itle 3"/>
          <p:cNvSpPr txBox="1">
            <a:spLocks/>
          </p:cNvSpPr>
          <p:nvPr/>
        </p:nvSpPr>
        <p:spPr>
          <a:xfrm>
            <a:off x="245661" y="218363"/>
            <a:ext cx="11764369" cy="614150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lipids</a:t>
            </a:r>
            <a:endParaRPr lang="en-US" sz="2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6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614150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lipids</a:t>
            </a:r>
            <a:endParaRPr lang="en-US" sz="2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70" y="1330025"/>
            <a:ext cx="11457550" cy="47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9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614150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lipids</a:t>
            </a:r>
            <a:endParaRPr lang="en-US" sz="2000" b="1" dirty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450412"/>
            <a:ext cx="1201003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5713" indent="-285750">
              <a:buFont typeface="Wingdings" panose="05000000000000000000" pitchFamily="2" charset="2"/>
              <a:buChar char="v"/>
            </a:pPr>
            <a:r>
              <a:rPr lang="en-US" sz="2400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Phospholipids</a:t>
            </a:r>
            <a:r>
              <a:rPr lang="en-US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:</a:t>
            </a:r>
          </a:p>
          <a:p>
            <a:pPr marL="1255713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0B0F0"/>
              </a:solidFill>
              <a:latin typeface="Arial Black" panose="020B0A04020102020204" pitchFamily="34" charset="0"/>
            </a:endParaRPr>
          </a:p>
          <a:p>
            <a:pPr marL="1528763" indent="177800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Arial Black" panose="020B0A04020102020204" pitchFamily="34" charset="0"/>
              </a:rPr>
              <a:t>Major components of cell membranes.</a:t>
            </a:r>
            <a:endParaRPr lang="en-US" b="1" dirty="0" smtClean="0">
              <a:solidFill>
                <a:srgbClr val="00B0F0"/>
              </a:solidFill>
              <a:latin typeface="Arial Black" panose="020B0A04020102020204" pitchFamily="34" charset="0"/>
            </a:endParaRPr>
          </a:p>
          <a:p>
            <a:pPr marL="969963"/>
            <a:r>
              <a:rPr lang="en-US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         </a:t>
            </a:r>
          </a:p>
          <a:p>
            <a:pPr marL="1706563" indent="-177800"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Arial Black" panose="020B0A04020102020204" pitchFamily="34" charset="0"/>
              </a:rPr>
              <a:t>Amphipathic molecules: with </a:t>
            </a:r>
            <a:r>
              <a:rPr lang="en-US" sz="1600" b="1" dirty="0" smtClean="0">
                <a:latin typeface="Arial Black" panose="020B0A04020102020204" pitchFamily="34" charset="0"/>
              </a:rPr>
              <a:t>hydrophobic tail</a:t>
            </a:r>
            <a:r>
              <a:rPr lang="ar-JO" sz="1600" b="1" dirty="0" smtClean="0"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</a:rPr>
              <a:t>and </a:t>
            </a:r>
            <a:r>
              <a:rPr lang="en-US" sz="1600" b="1" dirty="0" smtClean="0">
                <a:latin typeface="Arial Black" panose="020B0A04020102020204" pitchFamily="34" charset="0"/>
              </a:rPr>
              <a:t>hydrophilic </a:t>
            </a:r>
            <a:r>
              <a:rPr lang="en-US" sz="1600" b="1" dirty="0" smtClean="0">
                <a:latin typeface="Arial Black" panose="020B0A04020102020204" pitchFamily="34" charset="0"/>
              </a:rPr>
              <a:t>head.</a:t>
            </a:r>
            <a:endParaRPr lang="en-US" sz="1600" b="1" dirty="0" smtClean="0">
              <a:latin typeface="Arial Black" panose="020B0A04020102020204" pitchFamily="34" charset="0"/>
            </a:endParaRPr>
          </a:p>
          <a:p>
            <a:pPr marL="1706563" indent="-177800">
              <a:buFont typeface="Wingdings" panose="05000000000000000000" pitchFamily="2" charset="2"/>
              <a:buChar char="§"/>
            </a:pPr>
            <a:endParaRPr lang="en-US" sz="1600" b="1" dirty="0" smtClean="0">
              <a:latin typeface="Arial Black" panose="020B0A04020102020204" pitchFamily="34" charset="0"/>
            </a:endParaRPr>
          </a:p>
          <a:p>
            <a:pPr marL="1706563" indent="-177800">
              <a:buFont typeface="Wingdings" panose="05000000000000000000" pitchFamily="2" charset="2"/>
              <a:buChar char="§"/>
            </a:pPr>
            <a:r>
              <a:rPr lang="en-US" sz="1600" b="1" dirty="0" smtClean="0">
                <a:latin typeface="Arial Black" panose="020B0A04020102020204" pitchFamily="34" charset="0"/>
              </a:rPr>
              <a:t>Made up from:</a:t>
            </a:r>
          </a:p>
          <a:p>
            <a:pPr marL="1528763"/>
            <a:endParaRPr lang="en-US" sz="1600" b="1" dirty="0" smtClean="0">
              <a:latin typeface="Arial Black" panose="020B0A04020102020204" pitchFamily="34" charset="0"/>
            </a:endParaRPr>
          </a:p>
          <a:p>
            <a:pPr marL="2155825" indent="-95250">
              <a:buFont typeface="Courier New" panose="02070309020205020404" pitchFamily="49" charset="0"/>
              <a:buChar char="o"/>
            </a:pP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Glycerol molecules</a:t>
            </a:r>
          </a:p>
          <a:p>
            <a:pPr marL="2060575"/>
            <a:endParaRPr lang="en-US" sz="16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155825" indent="-95250">
              <a:buFont typeface="Courier New" panose="02070309020205020404" pitchFamily="49" charset="0"/>
              <a:buChar char="o"/>
            </a:pP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Two fatty acid molecules, each one attached to one carbon of glycerol. The two fatty</a:t>
            </a:r>
          </a:p>
          <a:p>
            <a:pPr marL="2060575"/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  </a:t>
            </a:r>
          </a:p>
          <a:p>
            <a:pPr marL="2060575"/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 molecules form the hydrophilic tail of the phospholipid.  </a:t>
            </a:r>
          </a:p>
          <a:p>
            <a:pPr marL="2060575"/>
            <a:endParaRPr lang="en-US" sz="16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238375" indent="-177800">
              <a:buFont typeface="Courier New" panose="02070309020205020404" pitchFamily="49" charset="0"/>
              <a:buChar char="o"/>
            </a:pP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The third carbon of the glycerol attached to the phosphate group and choline forming</a:t>
            </a:r>
          </a:p>
          <a:p>
            <a:pPr marL="2238375" indent="-177800">
              <a:buFont typeface="Courier New" panose="02070309020205020404" pitchFamily="49" charset="0"/>
              <a:buChar char="o"/>
            </a:pPr>
            <a:endParaRPr lang="en-US" sz="16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060575"/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</a:rPr>
              <a:t>    the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hydrophobic head </a:t>
            </a:r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</a:rPr>
              <a:t>of the phospholipid. </a:t>
            </a:r>
          </a:p>
          <a:p>
            <a:pPr marL="2060575"/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                  </a:t>
            </a:r>
          </a:p>
          <a:p>
            <a:pPr marL="177800"/>
            <a:endParaRPr lang="en-US" b="1" dirty="0" smtClean="0">
              <a:solidFill>
                <a:srgbClr val="00B0F0"/>
              </a:solidFill>
              <a:latin typeface="Arial Black" panose="020B0A04020102020204" pitchFamily="34" charset="0"/>
            </a:endParaRPr>
          </a:p>
          <a:p>
            <a:pPr marL="1528763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12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5661" y="1087989"/>
            <a:ext cx="25384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0"/>
            <a:r>
              <a:rPr lang="en-US" b="1" dirty="0">
                <a:solidFill>
                  <a:srgbClr val="00B0F0"/>
                </a:solidFill>
                <a:latin typeface="Arial Black" panose="020B0A04020102020204" pitchFamily="34" charset="0"/>
              </a:rPr>
              <a:t>Phospholipids:</a:t>
            </a:r>
          </a:p>
        </p:txBody>
      </p:sp>
      <p:sp>
        <p:nvSpPr>
          <p:cNvPr id="3" name="Title 3"/>
          <p:cNvSpPr txBox="1">
            <a:spLocks/>
          </p:cNvSpPr>
          <p:nvPr/>
        </p:nvSpPr>
        <p:spPr>
          <a:xfrm>
            <a:off x="245661" y="218363"/>
            <a:ext cx="11764369" cy="614150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</p:txBody>
      </p:sp>
      <p:pic>
        <p:nvPicPr>
          <p:cNvPr id="4" name="Picture 3" descr="C:\Users\HP\Desktop\phospholipid_structure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664" y="1457322"/>
            <a:ext cx="9403306" cy="524373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 extrusionH="152400" contourW="57150">
            <a:bevelT/>
            <a:extrusionClr>
              <a:schemeClr val="tx1"/>
            </a:extrusionClr>
            <a:contourClr>
              <a:srgbClr val="FF0000"/>
            </a:contourClr>
          </a:sp3d>
        </p:spPr>
      </p:pic>
    </p:spTree>
    <p:extLst>
      <p:ext uri="{BB962C8B-B14F-4D97-AF65-F5344CB8AC3E}">
        <p14:creationId xmlns:p14="http://schemas.microsoft.com/office/powerpoint/2010/main" val="22750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73207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40785"/>
            <a:ext cx="1201003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5713" indent="-285750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Steroids</a:t>
            </a:r>
            <a:r>
              <a:rPr lang="en-US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:</a:t>
            </a:r>
            <a:endParaRPr lang="en-US" b="1" dirty="0">
              <a:solidFill>
                <a:srgbClr val="00B0F0"/>
              </a:solidFill>
              <a:latin typeface="Arial Black" panose="020B0A04020102020204" pitchFamily="34" charset="0"/>
            </a:endParaRPr>
          </a:p>
          <a:p>
            <a:pPr marL="1255713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0B0F0"/>
              </a:solidFill>
              <a:latin typeface="Arial Black" panose="020B0A04020102020204" pitchFamily="34" charset="0"/>
            </a:endParaRPr>
          </a:p>
          <a:p>
            <a:pPr marL="1528763" indent="177800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Arial Black" panose="020B0A04020102020204" pitchFamily="34" charset="0"/>
              </a:rPr>
              <a:t>Functions:</a:t>
            </a:r>
          </a:p>
          <a:p>
            <a:pPr marL="1528763"/>
            <a:endParaRPr lang="en-US" b="1" dirty="0" smtClean="0">
              <a:latin typeface="Arial Black" panose="020B0A04020102020204" pitchFamily="34" charset="0"/>
            </a:endParaRPr>
          </a:p>
          <a:p>
            <a:pPr marL="2155825" indent="177800"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Alter </a:t>
            </a:r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</a:rPr>
              <a:t>membrane fluidity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(Cholesterol) </a:t>
            </a:r>
          </a:p>
          <a:p>
            <a:pPr marL="2155825" indent="177800">
              <a:buFont typeface="Wingdings" panose="05000000000000000000" pitchFamily="2" charset="2"/>
              <a:buChar char="Ø"/>
            </a:pPr>
            <a:endParaRPr lang="en-US" sz="16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155825" indent="17780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</a:rPr>
              <a:t>Acts as signaling molecules which activate steroid hormone receptors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.</a:t>
            </a:r>
          </a:p>
          <a:p>
            <a:pPr marL="2155825" indent="177800">
              <a:buFont typeface="Wingdings" panose="05000000000000000000" pitchFamily="2" charset="2"/>
              <a:buChar char="Ø"/>
            </a:pPr>
            <a:endParaRPr lang="en-US" sz="16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155825" indent="177800"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Composed </a:t>
            </a:r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</a:rPr>
              <a:t>of seventeen carbon atoms, bonded in four "fused" rings. </a:t>
            </a:r>
            <a:endParaRPr lang="en-US" sz="16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155825" indent="177800">
              <a:buFont typeface="Wingdings" panose="05000000000000000000" pitchFamily="2" charset="2"/>
              <a:buChar char="Ø"/>
            </a:pPr>
            <a:endParaRPr lang="en-US" sz="16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155825" indent="17780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</a:rPr>
              <a:t>Steroids vary by the functional groups attached to this four-ring core and by the </a:t>
            </a:r>
            <a:endParaRPr lang="en-US" sz="16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155825"/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 oxidation </a:t>
            </a:r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</a:rPr>
              <a:t>state of the rings.           </a:t>
            </a:r>
            <a:endParaRPr lang="en-US" sz="16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1528763"/>
            <a:r>
              <a:rPr lang="en-US" b="1" dirty="0">
                <a:solidFill>
                  <a:srgbClr val="00B0F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  </a:t>
            </a:r>
            <a:endParaRPr lang="en-US" b="1" dirty="0">
              <a:solidFill>
                <a:srgbClr val="00B0F0"/>
              </a:solidFill>
              <a:latin typeface="Arial Black" panose="020B0A04020102020204" pitchFamily="34" charset="0"/>
            </a:endParaRPr>
          </a:p>
          <a:p>
            <a:pPr marL="969963"/>
            <a:r>
              <a:rPr lang="en-US" b="1" dirty="0">
                <a:solidFill>
                  <a:srgbClr val="00B0F0"/>
                </a:solidFill>
                <a:latin typeface="Arial Black" panose="020B0A04020102020204" pitchFamily="34" charset="0"/>
              </a:rPr>
              <a:t>         </a:t>
            </a:r>
          </a:p>
          <a:p>
            <a:pPr marL="1528763"/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985" y="4371334"/>
            <a:ext cx="3577847" cy="20863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835" y="4371334"/>
            <a:ext cx="3119508" cy="202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73207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5662" y="900753"/>
            <a:ext cx="7124130" cy="436728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 Black" panose="020B0A04020102020204" pitchFamily="34" charset="0"/>
                <a:cs typeface="+mj-cs"/>
              </a:rPr>
              <a:t>Experiment 3: </a:t>
            </a:r>
            <a:r>
              <a:rPr lang="en-US" sz="2000" dirty="0" smtClean="0">
                <a:solidFill>
                  <a:srgbClr val="FF0000"/>
                </a:solidFill>
                <a:latin typeface="Arial Black" panose="020B0A04020102020204" pitchFamily="34" charset="0"/>
                <a:cs typeface="+mj-cs"/>
              </a:rPr>
              <a:t>Solubility test </a:t>
            </a:r>
            <a:r>
              <a:rPr lang="en-US" sz="2000" dirty="0" smtClean="0">
                <a:latin typeface="Arial Black" panose="020B0A04020102020204" pitchFamily="34" charset="0"/>
                <a:cs typeface="+mj-cs"/>
              </a:rPr>
              <a:t>of fats and lipids:</a:t>
            </a:r>
            <a:endParaRPr lang="ar-JO" sz="2000" dirty="0">
              <a:latin typeface="Arial Black" panose="020B0A04020102020204" pitchFamily="34" charset="0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24" y="1581297"/>
            <a:ext cx="11115981" cy="405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5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73207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Proteins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2831" y="910567"/>
            <a:ext cx="11887199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Proteins:</a:t>
            </a:r>
          </a:p>
          <a:p>
            <a:pPr marL="1160463" indent="-177800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Arial Black" panose="020B0A04020102020204" pitchFamily="34" charset="0"/>
              </a:rPr>
              <a:t>They act as structural components (i.e. in hair, muscles, skin, and other tissues.</a:t>
            </a:r>
          </a:p>
          <a:p>
            <a:pPr marL="1160463" indent="-177800">
              <a:buFont typeface="Wingdings" panose="05000000000000000000" pitchFamily="2" charset="2"/>
              <a:buChar char="§"/>
            </a:pPr>
            <a:endParaRPr lang="en-US" b="1" dirty="0">
              <a:latin typeface="Arial Black" panose="020B0A04020102020204" pitchFamily="34" charset="0"/>
            </a:endParaRPr>
          </a:p>
          <a:p>
            <a:pPr marL="1160463" indent="-177800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Arial Black" panose="020B0A04020102020204" pitchFamily="34" charset="0"/>
              </a:rPr>
              <a:t>Most of the enzymes in the living organisms are proteins that catalyst the speed</a:t>
            </a:r>
          </a:p>
          <a:p>
            <a:pPr marL="982663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up of biological reactions.</a:t>
            </a:r>
          </a:p>
          <a:p>
            <a:pPr marL="982663"/>
            <a:endParaRPr lang="en-US" b="1" dirty="0" smtClean="0">
              <a:latin typeface="Arial Black" panose="020B0A04020102020204" pitchFamily="34" charset="0"/>
            </a:endParaRPr>
          </a:p>
          <a:p>
            <a:pPr marL="1268413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Arial Black" panose="020B0A04020102020204" pitchFamily="34" charset="0"/>
              </a:rPr>
              <a:t>They are polymer of amino acids (monomers).</a:t>
            </a:r>
          </a:p>
          <a:p>
            <a:pPr marL="1268413" indent="-285750">
              <a:buFont typeface="Wingdings" panose="05000000000000000000" pitchFamily="2" charset="2"/>
              <a:buChar char="§"/>
            </a:pPr>
            <a:endParaRPr lang="en-US" b="1" dirty="0">
              <a:latin typeface="Arial Black" panose="020B0A04020102020204" pitchFamily="34" charset="0"/>
            </a:endParaRPr>
          </a:p>
          <a:p>
            <a:pPr marL="1268413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Arial Black" panose="020B0A04020102020204" pitchFamily="34" charset="0"/>
              </a:rPr>
              <a:t>Diversity of protein results from differing in arrangement of 20 amino acid.</a:t>
            </a:r>
          </a:p>
          <a:p>
            <a:pPr marL="982663"/>
            <a:endParaRPr lang="en-US" b="1" dirty="0">
              <a:latin typeface="Arial Black" panose="020B0A04020102020204" pitchFamily="34" charset="0"/>
            </a:endParaRPr>
          </a:p>
          <a:p>
            <a:pPr marL="1268413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Arial Black" panose="020B0A04020102020204" pitchFamily="34" charset="0"/>
              </a:rPr>
              <a:t>All amino acids have central carbon (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alpha carbon</a:t>
            </a:r>
            <a:r>
              <a:rPr lang="en-US" b="1" dirty="0">
                <a:latin typeface="Arial Black" panose="020B0A04020102020204" pitchFamily="34" charset="0"/>
              </a:rPr>
              <a:t>) bind to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Carboxyl group </a:t>
            </a:r>
            <a:r>
              <a:rPr lang="en-US" b="1" dirty="0">
                <a:latin typeface="Arial Black" panose="020B0A04020102020204" pitchFamily="34" charset="0"/>
              </a:rPr>
              <a:t>(-COOH),</a:t>
            </a:r>
          </a:p>
          <a:p>
            <a:pPr marL="982663"/>
            <a:r>
              <a:rPr lang="en-US" b="1" dirty="0">
                <a:latin typeface="Arial Black" panose="020B0A04020102020204" pitchFamily="34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Amino group </a:t>
            </a:r>
            <a:r>
              <a:rPr lang="en-US" b="1" dirty="0">
                <a:latin typeface="Arial Black" panose="020B0A04020102020204" pitchFamily="34" charset="0"/>
              </a:rPr>
              <a:t>(-NH</a:t>
            </a:r>
            <a:r>
              <a:rPr lang="en-US" sz="1100" b="1" dirty="0">
                <a:latin typeface="Arial Black" panose="020B0A04020102020204" pitchFamily="34" charset="0"/>
              </a:rPr>
              <a:t>2</a:t>
            </a:r>
            <a:r>
              <a:rPr lang="en-US" b="1" dirty="0">
                <a:latin typeface="Arial Black" panose="020B0A04020102020204" pitchFamily="34" charset="0"/>
              </a:rPr>
              <a:t>), Hydrogen (H), and side Chain. </a:t>
            </a:r>
          </a:p>
          <a:p>
            <a:pPr marL="982663"/>
            <a:endParaRPr lang="en-US" b="1" dirty="0">
              <a:latin typeface="Arial Black" panose="020B0A04020102020204" pitchFamily="34" charset="0"/>
            </a:endParaRPr>
          </a:p>
          <a:p>
            <a:pPr marL="982663"/>
            <a:endParaRPr lang="en-US" b="1" dirty="0" smtClean="0">
              <a:latin typeface="Arial Black" panose="020B0A04020102020204" pitchFamily="34" charset="0"/>
            </a:endParaRPr>
          </a:p>
          <a:p>
            <a:pPr marL="982663"/>
            <a:endParaRPr lang="en-US" b="1" dirty="0">
              <a:latin typeface="Arial Black" panose="020B0A04020102020204" pitchFamily="34" charset="0"/>
            </a:endParaRPr>
          </a:p>
          <a:p>
            <a:pPr marL="982663"/>
            <a:endParaRPr lang="en-US" b="1" dirty="0" smtClean="0">
              <a:latin typeface="Arial Black" panose="020B0A04020102020204" pitchFamily="34" charset="0"/>
            </a:endParaRPr>
          </a:p>
          <a:p>
            <a:pPr marL="982663"/>
            <a:endParaRPr lang="en-US" b="1" dirty="0" smtClean="0">
              <a:latin typeface="Arial Black" panose="020B0A04020102020204" pitchFamily="34" charset="0"/>
            </a:endParaRPr>
          </a:p>
          <a:p>
            <a:pPr marL="982663"/>
            <a:endParaRPr lang="en-US" b="1" dirty="0">
              <a:latin typeface="Arial Black" panose="020B0A04020102020204" pitchFamily="34" charset="0"/>
            </a:endParaRPr>
          </a:p>
          <a:p>
            <a:pPr marL="982663"/>
            <a:endParaRPr lang="en-US" b="1" dirty="0" smtClean="0">
              <a:latin typeface="Arial Black" panose="020B0A04020102020204" pitchFamily="34" charset="0"/>
            </a:endParaRPr>
          </a:p>
          <a:p>
            <a:pPr marL="982663"/>
            <a:r>
              <a:rPr lang="en-US" b="1" dirty="0" smtClean="0">
                <a:latin typeface="Arial Black" panose="020B0A04020102020204" pitchFamily="34" charset="0"/>
              </a:rPr>
              <a:t>                       </a:t>
            </a:r>
          </a:p>
          <a:p>
            <a:endParaRPr lang="ar-JO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518" y="4499418"/>
            <a:ext cx="3952378" cy="235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9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73207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 Proteins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2831" y="1033397"/>
            <a:ext cx="11887199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1160463" indent="-177800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Arial Black" panose="020B0A04020102020204" pitchFamily="34" charset="0"/>
              </a:rPr>
              <a:t>Amino acids differ only in the side chain (R).</a:t>
            </a:r>
          </a:p>
          <a:p>
            <a:pPr marL="1160463" indent="-177800">
              <a:buFont typeface="Wingdings" panose="05000000000000000000" pitchFamily="2" charset="2"/>
              <a:buChar char="§"/>
            </a:pPr>
            <a:endParaRPr lang="en-US" b="1" dirty="0">
              <a:latin typeface="Arial Black" panose="020B0A04020102020204" pitchFamily="34" charset="0"/>
            </a:endParaRPr>
          </a:p>
          <a:p>
            <a:pPr marL="1160463" indent="-177800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Arial Black" panose="020B0A04020102020204" pitchFamily="34" charset="0"/>
              </a:rPr>
              <a:t>(-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COOH</a:t>
            </a:r>
            <a:r>
              <a:rPr lang="en-US" b="1" dirty="0" smtClean="0">
                <a:latin typeface="Arial Black" panose="020B0A04020102020204" pitchFamily="34" charset="0"/>
              </a:rPr>
              <a:t>) of the first amino acid reacts with (-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NH</a:t>
            </a:r>
            <a:r>
              <a:rPr lang="en-US" sz="12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2</a:t>
            </a:r>
            <a:r>
              <a:rPr lang="en-US" b="1" dirty="0" smtClean="0">
                <a:latin typeface="Arial Black" panose="020B0A04020102020204" pitchFamily="34" charset="0"/>
              </a:rPr>
              <a:t>) of the second to form peptide bond through a dehydration reaction (remove water molecule) as the following:</a:t>
            </a:r>
          </a:p>
          <a:p>
            <a:pPr marL="982663"/>
            <a:endParaRPr lang="en-US" b="1" dirty="0">
              <a:latin typeface="Arial Black" panose="020B0A04020102020204" pitchFamily="34" charset="0"/>
            </a:endParaRPr>
          </a:p>
          <a:p>
            <a:pPr marL="982663"/>
            <a:endParaRPr lang="en-US" b="1" dirty="0">
              <a:latin typeface="Arial Black" panose="020B0A04020102020204" pitchFamily="34" charset="0"/>
            </a:endParaRPr>
          </a:p>
          <a:p>
            <a:pPr marL="982663"/>
            <a:endParaRPr lang="en-US" b="1" dirty="0" smtClean="0">
              <a:latin typeface="Arial Black" panose="020B0A04020102020204" pitchFamily="34" charset="0"/>
            </a:endParaRPr>
          </a:p>
          <a:p>
            <a:pPr marL="982663"/>
            <a:endParaRPr lang="en-US" b="1" dirty="0">
              <a:latin typeface="Arial Black" panose="020B0A04020102020204" pitchFamily="34" charset="0"/>
            </a:endParaRPr>
          </a:p>
          <a:p>
            <a:pPr marL="982663"/>
            <a:endParaRPr lang="en-US" b="1" dirty="0" smtClean="0">
              <a:latin typeface="Arial Black" panose="020B0A04020102020204" pitchFamily="34" charset="0"/>
            </a:endParaRPr>
          </a:p>
          <a:p>
            <a:pPr marL="982663"/>
            <a:endParaRPr lang="en-US" b="1" dirty="0">
              <a:latin typeface="Arial Black" panose="020B0A04020102020204" pitchFamily="34" charset="0"/>
            </a:endParaRPr>
          </a:p>
          <a:p>
            <a:pPr marL="982663"/>
            <a:r>
              <a:rPr lang="en-US" b="1" dirty="0" smtClean="0">
                <a:latin typeface="Arial Black" panose="020B0A04020102020204" pitchFamily="34" charset="0"/>
              </a:rPr>
              <a:t>                              </a:t>
            </a:r>
          </a:p>
          <a:p>
            <a:endParaRPr lang="ar-JO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197" y="2800416"/>
            <a:ext cx="4858539" cy="378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6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73207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endParaRPr lang="en-US" sz="2000" b="1" dirty="0" smtClean="0">
              <a:latin typeface="Arial Black" panose="020B0A040201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45662" y="900753"/>
            <a:ext cx="10249466" cy="436728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 Black" panose="020B0A04020102020204" pitchFamily="34" charset="0"/>
                <a:cs typeface="+mj-cs"/>
              </a:rPr>
              <a:t>Experiment 4: </a:t>
            </a:r>
            <a:r>
              <a:rPr lang="en-US" sz="2000" dirty="0" smtClean="0">
                <a:solidFill>
                  <a:srgbClr val="FF0000"/>
                </a:solidFill>
                <a:latin typeface="Arial Black" panose="020B0A04020102020204" pitchFamily="34" charset="0"/>
                <a:cs typeface="+mj-cs"/>
              </a:rPr>
              <a:t>Biuret test </a:t>
            </a:r>
            <a:r>
              <a:rPr lang="en-US" sz="2000" dirty="0" smtClean="0">
                <a:latin typeface="Arial Black" panose="020B0A04020102020204" pitchFamily="34" charset="0"/>
                <a:cs typeface="+mj-cs"/>
              </a:rPr>
              <a:t>to reveal the presence of peptide bonds:</a:t>
            </a:r>
            <a:endParaRPr lang="ar-JO" sz="2000" dirty="0">
              <a:latin typeface="Arial Black" panose="020B0A04020102020204" pitchFamily="34" charset="0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5660" y="1446664"/>
            <a:ext cx="1194634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buFont typeface="Wingdings" panose="05000000000000000000" pitchFamily="2" charset="2"/>
              <a:buChar char="§"/>
            </a:pPr>
            <a:r>
              <a:rPr lang="en-US" b="1" dirty="0">
                <a:latin typeface="Arial Black" panose="020B0A04020102020204" pitchFamily="34" charset="0"/>
              </a:rPr>
              <a:t>The Biuret reagent is made of sodium hydroxide (</a:t>
            </a:r>
            <a:r>
              <a:rPr lang="en-US" b="1" dirty="0" err="1">
                <a:latin typeface="Arial Black" panose="020B0A04020102020204" pitchFamily="34" charset="0"/>
              </a:rPr>
              <a:t>NaOH</a:t>
            </a:r>
            <a:r>
              <a:rPr lang="en-US" b="1" dirty="0">
                <a:latin typeface="Arial Black" panose="020B0A04020102020204" pitchFamily="34" charset="0"/>
              </a:rPr>
              <a:t>) and hydrated copper(II) sulfate, 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</a:p>
          <a:p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together </a:t>
            </a:r>
            <a:r>
              <a:rPr lang="en-US" b="1" dirty="0">
                <a:latin typeface="Arial Black" panose="020B0A04020102020204" pitchFamily="34" charset="0"/>
              </a:rPr>
              <a:t>with potassium sodium </a:t>
            </a:r>
            <a:r>
              <a:rPr lang="en-US" b="1" dirty="0" smtClean="0">
                <a:latin typeface="Arial Black" panose="020B0A04020102020204" pitchFamily="34" charset="0"/>
              </a:rPr>
              <a:t>tartrate.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r>
              <a:rPr lang="en-US" b="1" dirty="0">
                <a:latin typeface="Arial Black" panose="020B0A04020102020204" pitchFamily="34" charset="0"/>
              </a:rPr>
              <a:t>               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Sodium hydroxide:                </a:t>
            </a:r>
            <a:r>
              <a:rPr lang="en-US" b="1" dirty="0" smtClean="0">
                <a:latin typeface="Arial Black" panose="020B0A04020102020204" pitchFamily="34" charset="0"/>
              </a:rPr>
              <a:t>Provide alkaline condition. 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r>
              <a:rPr lang="en-US" b="1" dirty="0">
                <a:latin typeface="Arial Black" panose="020B0A04020102020204" pitchFamily="34" charset="0"/>
              </a:rPr>
              <a:t>               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Potassium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sodium tartrate</a:t>
            </a:r>
            <a:r>
              <a:rPr lang="en-US" b="1" dirty="0" smtClean="0">
                <a:latin typeface="Arial Black" panose="020B0A04020102020204" pitchFamily="34" charset="0"/>
              </a:rPr>
              <a:t>: </a:t>
            </a:r>
            <a:r>
              <a:rPr lang="en-US" b="1" dirty="0">
                <a:latin typeface="Arial Black" panose="020B0A04020102020204" pitchFamily="34" charset="0"/>
              </a:rPr>
              <a:t>Stabilize the chelate complex</a:t>
            </a:r>
            <a:r>
              <a:rPr lang="en-US" b="1" dirty="0" smtClean="0">
                <a:latin typeface="Arial Black" panose="020B0A04020102020204" pitchFamily="34" charset="0"/>
              </a:rPr>
              <a:t>.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Arial Black" panose="020B0A04020102020204" pitchFamily="34" charset="0"/>
              </a:rPr>
              <a:t>Principles</a:t>
            </a:r>
            <a:r>
              <a:rPr lang="en-US" b="1" dirty="0" smtClean="0">
                <a:latin typeface="Arial Black" panose="020B0A04020102020204" pitchFamily="34" charset="0"/>
              </a:rPr>
              <a:t>: </a:t>
            </a:r>
          </a:p>
          <a:p>
            <a:pPr marL="1609725" indent="-285750">
              <a:buFont typeface="Wingdings" panose="05000000000000000000" pitchFamily="2" charset="2"/>
              <a:buChar char="ü"/>
            </a:pPr>
            <a:r>
              <a:rPr lang="en-US" b="1" dirty="0" smtClean="0">
                <a:latin typeface="Arial Black" panose="020B0A04020102020204" pitchFamily="34" charset="0"/>
              </a:rPr>
              <a:t>The </a:t>
            </a:r>
            <a:r>
              <a:rPr lang="en-US" b="1" dirty="0">
                <a:latin typeface="Arial Black" panose="020B0A04020102020204" pitchFamily="34" charset="0"/>
              </a:rPr>
              <a:t>reaction of the cupric ions with </a:t>
            </a:r>
            <a:r>
              <a:rPr lang="en-US" b="1" dirty="0" smtClean="0">
                <a:latin typeface="Arial Black" panose="020B0A04020102020204" pitchFamily="34" charset="0"/>
              </a:rPr>
              <a:t>unshared </a:t>
            </a:r>
            <a:r>
              <a:rPr lang="en-US" b="1" dirty="0">
                <a:latin typeface="Arial Black" panose="020B0A04020102020204" pitchFamily="34" charset="0"/>
              </a:rPr>
              <a:t>electron </a:t>
            </a:r>
            <a:r>
              <a:rPr lang="en-US" b="1" dirty="0" smtClean="0">
                <a:latin typeface="Arial Black" panose="020B0A04020102020204" pitchFamily="34" charset="0"/>
              </a:rPr>
              <a:t>pairs of the </a:t>
            </a:r>
            <a:r>
              <a:rPr lang="en-US" b="1" dirty="0">
                <a:latin typeface="Arial Black" panose="020B0A04020102020204" pitchFamily="34" charset="0"/>
              </a:rPr>
              <a:t>nitrogen </a:t>
            </a:r>
            <a:endParaRPr lang="en-US" b="1" dirty="0" smtClean="0">
              <a:latin typeface="Arial Black" panose="020B0A04020102020204" pitchFamily="34" charset="0"/>
            </a:endParaRPr>
          </a:p>
          <a:p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              atoms </a:t>
            </a:r>
            <a:r>
              <a:rPr lang="en-US" b="1" dirty="0">
                <a:latin typeface="Arial Black" panose="020B0A04020102020204" pitchFamily="34" charset="0"/>
              </a:rPr>
              <a:t>involved in peptide bonds leads to the displacement of the peptide </a:t>
            </a:r>
            <a:endParaRPr lang="en-US" b="1" dirty="0" smtClean="0">
              <a:latin typeface="Arial Black" panose="020B0A04020102020204" pitchFamily="34" charset="0"/>
            </a:endParaRPr>
          </a:p>
          <a:p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              hydrogen </a:t>
            </a:r>
            <a:r>
              <a:rPr lang="en-US" b="1" dirty="0">
                <a:latin typeface="Arial Black" panose="020B0A04020102020204" pitchFamily="34" charset="0"/>
              </a:rPr>
              <a:t>atoms under the alkaline </a:t>
            </a:r>
            <a:r>
              <a:rPr lang="en-US" b="1" dirty="0" smtClean="0">
                <a:latin typeface="Arial Black" panose="020B0A04020102020204" pitchFamily="34" charset="0"/>
              </a:rPr>
              <a:t>conditions, this result in the formation of </a:t>
            </a:r>
          </a:p>
          <a:p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                 Chelate complex.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pPr marL="1255713" indent="354013">
              <a:buFont typeface="Wingdings" panose="05000000000000000000" pitchFamily="2" charset="2"/>
              <a:buChar char="ü"/>
              <a:tabLst>
                <a:tab pos="1350963" algn="l"/>
              </a:tabLst>
            </a:pPr>
            <a:r>
              <a:rPr lang="en-US" b="1" dirty="0">
                <a:latin typeface="Arial Black" panose="020B0A04020102020204" pitchFamily="34" charset="0"/>
              </a:rPr>
              <a:t>Chelate </a:t>
            </a:r>
            <a:r>
              <a:rPr lang="en-US" b="1" dirty="0" smtClean="0">
                <a:latin typeface="Arial Black" panose="020B0A04020102020204" pitchFamily="34" charset="0"/>
              </a:rPr>
              <a:t>complex absorb </a:t>
            </a:r>
            <a:r>
              <a:rPr lang="en-US" b="1" dirty="0">
                <a:latin typeface="Arial Black" panose="020B0A04020102020204" pitchFamily="34" charset="0"/>
              </a:rPr>
              <a:t>the </a:t>
            </a:r>
            <a:r>
              <a:rPr lang="en-US" b="1" dirty="0" smtClean="0">
                <a:latin typeface="Arial Black" panose="020B0A04020102020204" pitchFamily="34" charset="0"/>
              </a:rPr>
              <a:t>light at </a:t>
            </a:r>
            <a:r>
              <a:rPr lang="en-US" b="1" dirty="0">
                <a:latin typeface="Arial Black" panose="020B0A04020102020204" pitchFamily="34" charset="0"/>
              </a:rPr>
              <a:t>540 nm and hence appears </a:t>
            </a:r>
            <a:r>
              <a:rPr lang="en-US" b="1" dirty="0" smtClean="0">
                <a:latin typeface="Arial Black" panose="020B0A04020102020204" pitchFamily="34" charset="0"/>
              </a:rPr>
              <a:t>violet.</a:t>
            </a:r>
          </a:p>
          <a:p>
            <a:pPr marL="1255713" indent="354013">
              <a:buFont typeface="Wingdings" panose="05000000000000000000" pitchFamily="2" charset="2"/>
              <a:buChar char="ü"/>
              <a:tabLst>
                <a:tab pos="1350963" algn="l"/>
              </a:tabLst>
            </a:pPr>
            <a:endParaRPr lang="en-US" b="1" dirty="0">
              <a:latin typeface="Arial Black" panose="020B0A04020102020204" pitchFamily="34" charset="0"/>
            </a:endParaRPr>
          </a:p>
          <a:p>
            <a:pPr marL="1255713" indent="354013">
              <a:buFont typeface="Wingdings" panose="05000000000000000000" pitchFamily="2" charset="2"/>
              <a:buChar char="ü"/>
              <a:tabLst>
                <a:tab pos="1350963" algn="l"/>
              </a:tabLst>
            </a:pPr>
            <a:r>
              <a:rPr lang="en-US" b="1" dirty="0" smtClean="0">
                <a:latin typeface="Arial Black" panose="020B0A04020102020204" pitchFamily="34" charset="0"/>
              </a:rPr>
              <a:t>The </a:t>
            </a:r>
            <a:r>
              <a:rPr lang="en-US" b="1" dirty="0">
                <a:latin typeface="Arial Black" panose="020B0A04020102020204" pitchFamily="34" charset="0"/>
              </a:rPr>
              <a:t>color </a:t>
            </a:r>
            <a:r>
              <a:rPr lang="en-US" b="1" dirty="0" smtClean="0">
                <a:latin typeface="Arial Black" panose="020B0A04020102020204" pitchFamily="34" charset="0"/>
              </a:rPr>
              <a:t>changes </a:t>
            </a:r>
            <a:r>
              <a:rPr lang="en-US" b="1" dirty="0">
                <a:latin typeface="Arial Black" panose="020B0A04020102020204" pitchFamily="34" charset="0"/>
              </a:rPr>
              <a:t>from blue to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pink</a:t>
            </a:r>
            <a:r>
              <a:rPr lang="en-US" b="1" dirty="0">
                <a:latin typeface="Arial Black" panose="020B0A04020102020204" pitchFamily="34" charset="0"/>
              </a:rPr>
              <a:t> if the concentration of peptide bonds is 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1255713">
              <a:tabLst>
                <a:tab pos="1350963" algn="l"/>
              </a:tabLst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 low like </a:t>
            </a:r>
            <a:r>
              <a:rPr lang="en-US" b="1" dirty="0">
                <a:latin typeface="Arial Black" panose="020B0A04020102020204" pitchFamily="34" charset="0"/>
              </a:rPr>
              <a:t>in  </a:t>
            </a:r>
            <a:r>
              <a:rPr lang="en-US" b="1" dirty="0" smtClean="0">
                <a:latin typeface="Arial Black" panose="020B0A04020102020204" pitchFamily="34" charset="0"/>
              </a:rPr>
              <a:t>short-chain.</a:t>
            </a:r>
          </a:p>
          <a:p>
            <a:pPr marL="1255713">
              <a:tabLst>
                <a:tab pos="1350963" algn="l"/>
              </a:tabLst>
            </a:pPr>
            <a:r>
              <a:rPr lang="en-US" b="1" dirty="0" smtClean="0">
                <a:latin typeface="Arial Black" panose="020B0A04020102020204" pitchFamily="34" charset="0"/>
              </a:rPr>
              <a:t>                 </a:t>
            </a:r>
            <a:endParaRPr lang="en-US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56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73207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endParaRPr lang="en-US" sz="2000" b="1" dirty="0" smtClean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5661" y="1081923"/>
            <a:ext cx="117643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5713" indent="354013">
              <a:buFont typeface="Wingdings" panose="05000000000000000000" pitchFamily="2" charset="2"/>
              <a:buChar char="ü"/>
              <a:tabLst>
                <a:tab pos="1350963" algn="l"/>
              </a:tabLst>
            </a:pPr>
            <a:r>
              <a:rPr lang="en-US" b="1" dirty="0">
                <a:latin typeface="Arial Black" panose="020B0A04020102020204" pitchFamily="34" charset="0"/>
              </a:rPr>
              <a:t>The color changes from blue to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Violet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if the concentration of peptide bonds is </a:t>
            </a:r>
          </a:p>
          <a:p>
            <a:pPr marL="1255713">
              <a:tabLst>
                <a:tab pos="1350963" algn="l"/>
              </a:tabLst>
            </a:pPr>
            <a:r>
              <a:rPr lang="en-US" b="1" dirty="0">
                <a:latin typeface="Arial Black" panose="020B0A04020102020204" pitchFamily="34" charset="0"/>
              </a:rPr>
              <a:t>     </a:t>
            </a:r>
            <a:r>
              <a:rPr lang="en-US" b="1" dirty="0" smtClean="0">
                <a:latin typeface="Arial Black" panose="020B0A04020102020204" pitchFamily="34" charset="0"/>
              </a:rPr>
              <a:t>high </a:t>
            </a:r>
            <a:r>
              <a:rPr lang="en-US" b="1" dirty="0">
                <a:latin typeface="Arial Black" panose="020B0A04020102020204" pitchFamily="34" charset="0"/>
              </a:rPr>
              <a:t>like in </a:t>
            </a:r>
            <a:r>
              <a:rPr lang="en-US" b="1" dirty="0" smtClean="0">
                <a:latin typeface="Arial Black" panose="020B0A04020102020204" pitchFamily="34" charset="0"/>
              </a:rPr>
              <a:t>proteins.</a:t>
            </a:r>
            <a:endParaRPr 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Picture 3" descr="http://onlinesciencenotes.com/wp-content/uploads/2018/10/biiuret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707" y="1971674"/>
            <a:ext cx="9867332" cy="46474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889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73207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endParaRPr lang="en-US" sz="2000" b="1" dirty="0" smtClean="0"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5661" y="655093"/>
            <a:ext cx="1977977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Arial Black" panose="020B0A04020102020204" pitchFamily="34" charset="0"/>
              </a:rPr>
              <a:t>Practical</a:t>
            </a:r>
            <a:r>
              <a:rPr lang="en-US" b="1" dirty="0" smtClean="0">
                <a:latin typeface="Arial Black" panose="020B0A04020102020204" pitchFamily="34" charset="0"/>
              </a:rPr>
              <a:t> : </a:t>
            </a:r>
            <a:endParaRPr lang="en-US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73" y="1446662"/>
            <a:ext cx="9962865" cy="518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96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73207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r>
              <a:rPr lang="en-US" sz="2000" b="1" dirty="0" smtClean="0">
                <a:latin typeface="Arial Black" panose="020B0A04020102020204" pitchFamily="34" charset="0"/>
              </a:rPr>
              <a:t>Vitamin C</a:t>
            </a:r>
          </a:p>
        </p:txBody>
      </p:sp>
      <p:sp>
        <p:nvSpPr>
          <p:cNvPr id="3" name="Rectangle 2"/>
          <p:cNvSpPr/>
          <p:nvPr/>
        </p:nvSpPr>
        <p:spPr>
          <a:xfrm>
            <a:off x="245660" y="933819"/>
            <a:ext cx="1176436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 smtClean="0">
                <a:latin typeface="Arial Black" panose="020B0A04020102020204" pitchFamily="34" charset="0"/>
                <a:cs typeface="+mj-cs"/>
              </a:rPr>
              <a:t>Vitamin C (Ascorbic Acid):</a:t>
            </a:r>
          </a:p>
          <a:p>
            <a:r>
              <a:rPr lang="en-US" sz="2400" b="1" dirty="0">
                <a:latin typeface="Arial Black" panose="020B0A04020102020204" pitchFamily="34" charset="0"/>
                <a:cs typeface="+mj-cs"/>
              </a:rPr>
              <a:t>                   - </a:t>
            </a:r>
            <a:r>
              <a:rPr lang="en-US" sz="1600" b="1" dirty="0" smtClean="0">
                <a:latin typeface="Arial Black" panose="020B0A04020102020204" pitchFamily="34" charset="0"/>
                <a:cs typeface="+mj-cs"/>
              </a:rPr>
              <a:t>Helps </a:t>
            </a:r>
            <a:r>
              <a:rPr lang="en-US" sz="1600" b="1" dirty="0">
                <a:latin typeface="Arial Black" panose="020B0A04020102020204" pitchFamily="34" charset="0"/>
                <a:cs typeface="+mj-cs"/>
              </a:rPr>
              <a:t>the body in forming connective tissue, bone, </a:t>
            </a:r>
            <a:r>
              <a:rPr lang="en-US" sz="1600" b="1" dirty="0" smtClean="0">
                <a:latin typeface="Arial Black" panose="020B0A04020102020204" pitchFamily="34" charset="0"/>
                <a:cs typeface="+mj-cs"/>
              </a:rPr>
              <a:t>teeth, …… etc.</a:t>
            </a:r>
          </a:p>
          <a:p>
            <a:r>
              <a:rPr lang="en-US" sz="1600" b="1" dirty="0">
                <a:latin typeface="Arial Black" panose="020B0A04020102020204" pitchFamily="34" charset="0"/>
                <a:cs typeface="+mj-cs"/>
              </a:rPr>
              <a:t> </a:t>
            </a:r>
            <a:endParaRPr lang="en-US" sz="1600" b="1" dirty="0" smtClean="0">
              <a:latin typeface="Arial Black" panose="020B0A04020102020204" pitchFamily="34" charset="0"/>
              <a:cs typeface="+mj-cs"/>
            </a:endParaRPr>
          </a:p>
          <a:p>
            <a:r>
              <a:rPr lang="en-US" sz="1600" b="1" dirty="0">
                <a:latin typeface="Arial Black" panose="020B0A04020102020204" pitchFamily="34" charset="0"/>
                <a:cs typeface="+mj-cs"/>
              </a:rPr>
              <a:t>                             - </a:t>
            </a:r>
            <a:r>
              <a:rPr lang="en-US" sz="1600" b="1" dirty="0" smtClean="0">
                <a:latin typeface="Arial Black" panose="020B0A04020102020204" pitchFamily="34" charset="0"/>
                <a:cs typeface="+mj-cs"/>
              </a:rPr>
              <a:t>Assists </a:t>
            </a:r>
            <a:r>
              <a:rPr lang="en-US" sz="1600" b="1" dirty="0">
                <a:latin typeface="Arial Black" panose="020B0A04020102020204" pitchFamily="34" charset="0"/>
                <a:cs typeface="+mj-cs"/>
              </a:rPr>
              <a:t>the body in assimilating iron and amino acids</a:t>
            </a:r>
            <a:r>
              <a:rPr lang="en-US" sz="1600" b="1" dirty="0" smtClean="0">
                <a:latin typeface="Arial Black" panose="020B0A04020102020204" pitchFamily="34" charset="0"/>
                <a:cs typeface="+mj-cs"/>
              </a:rPr>
              <a:t>.</a:t>
            </a:r>
          </a:p>
          <a:p>
            <a:endParaRPr lang="en-US" sz="1600" b="1" dirty="0">
              <a:latin typeface="Arial Black" panose="020B0A04020102020204" pitchFamily="34" charset="0"/>
              <a:cs typeface="+mj-cs"/>
            </a:endParaRPr>
          </a:p>
          <a:p>
            <a:r>
              <a:rPr lang="en-US" sz="1600" b="1" dirty="0">
                <a:latin typeface="Arial Black" panose="020B0A04020102020204" pitchFamily="34" charset="0"/>
                <a:cs typeface="+mj-cs"/>
              </a:rPr>
              <a:t>                             - Vitamin C is also an </a:t>
            </a:r>
            <a:r>
              <a:rPr lang="en-US" sz="1600" b="1" dirty="0" smtClean="0">
                <a:latin typeface="Arial Black" panose="020B0A04020102020204" pitchFamily="34" charset="0"/>
                <a:cs typeface="+mj-cs"/>
              </a:rPr>
              <a:t>anti-oxidant, The </a:t>
            </a:r>
            <a:r>
              <a:rPr lang="en-US" sz="1600" b="1" dirty="0">
                <a:latin typeface="Arial Black" panose="020B0A04020102020204" pitchFamily="34" charset="0"/>
                <a:cs typeface="+mj-cs"/>
              </a:rPr>
              <a:t>foods that contain large amount of Vitamin C, </a:t>
            </a:r>
            <a:endParaRPr lang="en-US" sz="1600" b="1" dirty="0" smtClean="0">
              <a:latin typeface="Arial Black" panose="020B0A04020102020204" pitchFamily="34" charset="0"/>
              <a:cs typeface="+mj-cs"/>
            </a:endParaRPr>
          </a:p>
          <a:p>
            <a:r>
              <a:rPr lang="en-US" sz="1600" b="1" dirty="0">
                <a:latin typeface="Arial Black" panose="020B0A04020102020204" pitchFamily="34" charset="0"/>
                <a:cs typeface="+mj-cs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  <a:cs typeface="+mj-cs"/>
              </a:rPr>
              <a:t>                              such </a:t>
            </a:r>
            <a:r>
              <a:rPr lang="en-US" sz="1600" b="1" dirty="0">
                <a:latin typeface="Arial Black" panose="020B0A04020102020204" pitchFamily="34" charset="0"/>
                <a:cs typeface="+mj-cs"/>
              </a:rPr>
              <a:t>as oranges, lemons, and limes, will not turn </a:t>
            </a:r>
            <a:r>
              <a:rPr lang="en-US" sz="1600" b="1" dirty="0" smtClean="0">
                <a:latin typeface="Arial Black" panose="020B0A04020102020204" pitchFamily="34" charset="0"/>
                <a:cs typeface="+mj-cs"/>
              </a:rPr>
              <a:t>brown.</a:t>
            </a:r>
          </a:p>
          <a:p>
            <a:endParaRPr lang="en-US" sz="1600" b="1" dirty="0">
              <a:latin typeface="Arial Black" panose="020B0A04020102020204" pitchFamily="34" charset="0"/>
              <a:cs typeface="+mj-cs"/>
            </a:endParaRPr>
          </a:p>
          <a:p>
            <a:r>
              <a:rPr lang="en-US" sz="1600" b="1" dirty="0">
                <a:latin typeface="Arial Black" panose="020B0A04020102020204" pitchFamily="34" charset="0"/>
                <a:cs typeface="+mj-cs"/>
              </a:rPr>
              <a:t>                             - The chemical instability of vitamin C acid is due to the fact that it is a strong </a:t>
            </a:r>
            <a:endParaRPr lang="en-US" sz="1600" b="1" dirty="0" smtClean="0">
              <a:latin typeface="Arial Black" panose="020B0A04020102020204" pitchFamily="34" charset="0"/>
              <a:cs typeface="+mj-cs"/>
            </a:endParaRPr>
          </a:p>
          <a:p>
            <a:r>
              <a:rPr lang="en-US" sz="1600" b="1" dirty="0">
                <a:latin typeface="Arial Black" panose="020B0A04020102020204" pitchFamily="34" charset="0"/>
                <a:cs typeface="+mj-cs"/>
              </a:rPr>
              <a:t> </a:t>
            </a:r>
            <a:r>
              <a:rPr lang="en-US" sz="1600" b="1" dirty="0" smtClean="0">
                <a:latin typeface="Arial Black" panose="020B0A04020102020204" pitchFamily="34" charset="0"/>
                <a:cs typeface="+mj-cs"/>
              </a:rPr>
              <a:t>                               reducing </a:t>
            </a:r>
            <a:r>
              <a:rPr lang="en-US" sz="1600" b="1" dirty="0">
                <a:latin typeface="Arial Black" panose="020B0A04020102020204" pitchFamily="34" charset="0"/>
                <a:cs typeface="+mj-cs"/>
              </a:rPr>
              <a:t>agent</a:t>
            </a:r>
            <a:endParaRPr lang="en-US" sz="1600" b="1" dirty="0" smtClean="0">
              <a:latin typeface="Arial Black" panose="020B0A04020102020204" pitchFamily="34" charset="0"/>
              <a:cs typeface="+mj-cs"/>
            </a:endParaRPr>
          </a:p>
          <a:p>
            <a:r>
              <a:rPr lang="en-US" sz="2400" b="1" dirty="0">
                <a:latin typeface="Arial Black" panose="020B0A04020102020204" pitchFamily="34" charset="0"/>
                <a:cs typeface="+mj-cs"/>
              </a:rPr>
              <a:t> </a:t>
            </a:r>
            <a:r>
              <a:rPr lang="en-US" sz="2400" b="1" dirty="0" smtClean="0">
                <a:latin typeface="Arial Black" panose="020B0A04020102020204" pitchFamily="34" charset="0"/>
                <a:cs typeface="+mj-cs"/>
              </a:rPr>
              <a:t>                          </a:t>
            </a:r>
            <a:endParaRPr lang="en-US" sz="2400" b="1" dirty="0">
              <a:latin typeface="Arial Black" panose="020B0A04020102020204" pitchFamily="34" charset="0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827" y="3746767"/>
            <a:ext cx="5090615" cy="288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0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73207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endParaRPr lang="en-US" sz="2000" b="1" dirty="0" smtClean="0">
              <a:latin typeface="Arial Black" panose="020B0A040201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45662" y="900753"/>
            <a:ext cx="7697335" cy="436728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 Black" panose="020B0A04020102020204" pitchFamily="34" charset="0"/>
                <a:cs typeface="+mj-cs"/>
              </a:rPr>
              <a:t>Experiment 5: </a:t>
            </a:r>
            <a:r>
              <a:rPr lang="en-US" sz="2000" dirty="0" smtClean="0">
                <a:solidFill>
                  <a:srgbClr val="FF0000"/>
                </a:solidFill>
                <a:latin typeface="Arial Black" panose="020B0A04020102020204" pitchFamily="34" charset="0"/>
                <a:cs typeface="+mj-cs"/>
              </a:rPr>
              <a:t>Test of Vitamin C </a:t>
            </a:r>
            <a:r>
              <a:rPr lang="en-US" sz="2000" dirty="0" smtClean="0">
                <a:solidFill>
                  <a:schemeClr val="bg1"/>
                </a:solidFill>
                <a:latin typeface="Arial Black" panose="020B0A04020102020204" pitchFamily="34" charset="0"/>
                <a:cs typeface="+mj-cs"/>
              </a:rPr>
              <a:t>in different juices</a:t>
            </a:r>
            <a:r>
              <a:rPr lang="en-US" sz="2000" dirty="0" smtClean="0">
                <a:latin typeface="Arial Black" panose="020B0A04020102020204" pitchFamily="34" charset="0"/>
                <a:cs typeface="+mj-cs"/>
              </a:rPr>
              <a:t>:</a:t>
            </a:r>
            <a:endParaRPr lang="ar-JO" sz="2000" dirty="0">
              <a:latin typeface="Arial Black" panose="020B0A04020102020204" pitchFamily="34" charset="0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7631" y="1965279"/>
            <a:ext cx="1176436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 Black" panose="020B0A04020102020204" pitchFamily="34" charset="0"/>
              </a:rPr>
              <a:t>- Studies </a:t>
            </a:r>
            <a:r>
              <a:rPr lang="en-US" b="1" dirty="0">
                <a:latin typeface="Arial Black" panose="020B0A04020102020204" pitchFamily="34" charset="0"/>
              </a:rPr>
              <a:t>the concentration of vitamin </a:t>
            </a:r>
            <a:r>
              <a:rPr lang="en-US" b="1" dirty="0" smtClean="0">
                <a:latin typeface="Arial Black" panose="020B0A04020102020204" pitchFamily="34" charset="0"/>
              </a:rPr>
              <a:t>C in Lemon, Grape, and Orange juices by redox </a:t>
            </a:r>
          </a:p>
          <a:p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   titration.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endParaRPr lang="en-US" b="1" dirty="0" smtClean="0">
              <a:latin typeface="Arial Black" panose="020B0A04020102020204" pitchFamily="34" charset="0"/>
            </a:endParaRPr>
          </a:p>
          <a:p>
            <a:endParaRPr lang="en-US" b="1" dirty="0" smtClean="0">
              <a:latin typeface="Arial Black" panose="020B0A04020102020204" pitchFamily="34" charset="0"/>
            </a:endParaRPr>
          </a:p>
          <a:p>
            <a:endParaRPr lang="en-US" b="1" dirty="0" smtClean="0">
              <a:latin typeface="Arial Black" panose="020B0A04020102020204" pitchFamily="34" charset="0"/>
            </a:endParaRPr>
          </a:p>
          <a:p>
            <a:endParaRPr lang="en-US" b="1" dirty="0">
              <a:latin typeface="Arial Black" panose="020B0A04020102020204" pitchFamily="34" charset="0"/>
            </a:endParaRPr>
          </a:p>
          <a:p>
            <a:endParaRPr lang="en-US" b="1" dirty="0" smtClean="0">
              <a:latin typeface="Arial Black" panose="020B0A04020102020204" pitchFamily="34" charset="0"/>
            </a:endParaRPr>
          </a:p>
          <a:p>
            <a:endParaRPr lang="en-US" b="1" dirty="0">
              <a:latin typeface="Arial Black" panose="020B0A040201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b="1" dirty="0" smtClean="0">
                <a:latin typeface="Arial Black" panose="020B0A04020102020204" pitchFamily="34" charset="0"/>
              </a:rPr>
              <a:t>Indophenol blue in color if the (pH &gt;4), and colorless if the (pH &lt;4). </a:t>
            </a:r>
          </a:p>
          <a:p>
            <a:pPr marL="285750" indent="-285750">
              <a:buFontTx/>
              <a:buChar char="-"/>
            </a:pPr>
            <a:endParaRPr lang="en-US" b="1" dirty="0">
              <a:latin typeface="Arial Black" panose="020B0A040201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b="1" dirty="0" smtClean="0">
                <a:latin typeface="Arial Black" panose="020B0A04020102020204" pitchFamily="34" charset="0"/>
              </a:rPr>
              <a:t>Ascorbic acid lower the pH, and bleach the color </a:t>
            </a:r>
            <a:r>
              <a:rPr lang="en-US" b="1" dirty="0">
                <a:latin typeface="Arial Black" panose="020B0A04020102020204" pitchFamily="34" charset="0"/>
              </a:rPr>
              <a:t>of Indophenol </a:t>
            </a:r>
            <a:r>
              <a:rPr lang="en-US" b="1" dirty="0" smtClean="0">
                <a:latin typeface="Arial Black" panose="020B0A0402010202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b="1" dirty="0">
              <a:latin typeface="Arial Black" panose="020B0A04020102020204" pitchFamily="34" charset="0"/>
            </a:endParaRPr>
          </a:p>
          <a:p>
            <a:pPr marL="285750" indent="-285750">
              <a:buFontTx/>
              <a:buChar char="-"/>
            </a:pPr>
            <a:endParaRPr lang="en-US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 descr="C:\Users\HP\Desktop\Untitled2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993" y="3141534"/>
            <a:ext cx="7492052" cy="808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88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73207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endParaRPr lang="en-US" sz="2000" b="1" dirty="0" smtClean="0"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6088" y="1005996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latin typeface="Arial Black" panose="020B0A04020102020204" pitchFamily="34" charset="0"/>
              </a:rPr>
              <a:t>   </a:t>
            </a:r>
            <a:r>
              <a:rPr lang="en-US" sz="24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The procedure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: </a:t>
            </a:r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96119" y="1423148"/>
            <a:ext cx="11395881" cy="2705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PMingLiU"/>
                <a:cs typeface="Arial" panose="020B0604020202020204" pitchFamily="34" charset="0"/>
              </a:rPr>
              <a:t>1. </a:t>
            </a:r>
            <a:r>
              <a:rPr lang="en-US" b="1" dirty="0">
                <a:latin typeface="Calibri" panose="020F0502020204030204" pitchFamily="34" charset="0"/>
                <a:ea typeface="PMingLiU"/>
                <a:cs typeface="Arial" panose="020B0604020202020204" pitchFamily="34" charset="0"/>
              </a:rPr>
              <a:t>Add 1 ml of 1% indophenol (about 18 drops) in a cleaned test tube.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PMingLiU"/>
                <a:cs typeface="Arial" panose="020B0604020202020204" pitchFamily="34" charset="0"/>
              </a:rPr>
              <a:t>2- By a dropper, add juice drop by drop with shaking after each addition.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PMingLiU"/>
                <a:cs typeface="Arial" panose="020B0604020202020204" pitchFamily="34" charset="0"/>
              </a:rPr>
              <a:t>3- Continue adding the juice until the indophenol became colorless (the color of original juice you added)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PMingLiU"/>
                <a:cs typeface="Arial" panose="020B0604020202020204" pitchFamily="34" charset="0"/>
              </a:rPr>
              <a:t>4- Count How many drops you need from the juice to convert the indophenol to colorless.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PMingLiU"/>
                <a:cs typeface="Arial" panose="020B0604020202020204" pitchFamily="34" charset="0"/>
              </a:rPr>
              <a:t>5- Repeat step 1 – 5 using other juice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</a:pPr>
            <a:r>
              <a:rPr lang="en-US" dirty="0">
                <a:latin typeface="Agency FB" panose="020B0503020202020204" pitchFamily="34" charset="0"/>
                <a:ea typeface="PMingLiU"/>
                <a:cs typeface="Arial" panose="020B0604020202020204" pitchFamily="34" charset="0"/>
              </a:rPr>
              <a:t>Note:</a:t>
            </a:r>
            <a:r>
              <a:rPr lang="en-US" dirty="0">
                <a:latin typeface="Calibri" panose="020F0502020204030204" pitchFamily="34" charset="0"/>
                <a:ea typeface="PMingLiU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Agency FB" panose="020B0503020202020204" pitchFamily="34" charset="0"/>
                <a:ea typeface="PMingLiU"/>
                <a:cs typeface="Arial" panose="020B0604020202020204" pitchFamily="34" charset="0"/>
              </a:rPr>
              <a:t>the concentration of the vitamin C in the juice is inversely proportional with the number of juice drops needed to make the color of indophenol to disappear. 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</p:txBody>
      </p:sp>
      <p:pic>
        <p:nvPicPr>
          <p:cNvPr id="6" name="Picture 5" descr="C:\Users\HP\Desktop\vitctest2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41" y="3825354"/>
            <a:ext cx="5272337" cy="282110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 extrusionH="139700" contourW="57150">
            <a:bevelT/>
            <a:extrusionClr>
              <a:schemeClr val="tx1"/>
            </a:extrusionClr>
            <a:contourClr>
              <a:srgbClr val="FF0000"/>
            </a:contourClr>
          </a:sp3d>
        </p:spPr>
      </p:pic>
    </p:spTree>
    <p:extLst>
      <p:ext uri="{BB962C8B-B14F-4D97-AF65-F5344CB8AC3E}">
        <p14:creationId xmlns:p14="http://schemas.microsoft.com/office/powerpoint/2010/main" val="240945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45661" y="218363"/>
            <a:ext cx="11764369" cy="573207"/>
          </a:xfrm>
          <a:prstGeom prst="roundRect">
            <a:avLst/>
          </a:prstGeom>
          <a:scene3d>
            <a:camera prst="orthographicFront"/>
            <a:lightRig rig="flood" dir="t">
              <a:rot lat="0" lon="0" rev="4200000"/>
            </a:lightRig>
          </a:scene3d>
          <a:sp3d contourW="88900"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9638" indent="-285750" algn="ctr"/>
            <a:endParaRPr lang="en-US" sz="2000" b="1" dirty="0" smtClean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1" y="1579308"/>
            <a:ext cx="1014028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Take care about the followings:</a:t>
            </a:r>
          </a:p>
          <a:p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Don’t use cracked test tubes.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Read the label and the directions on the bottle before use 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Prevent the cross contamination by use a separate pipette for each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Take care when you use the Boiling water bath.</a:t>
            </a:r>
          </a:p>
          <a:p>
            <a:endParaRPr lang="en-US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Don’t retain the excess solution to the bottle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Follow the direction of the instructor in disposing </a:t>
            </a:r>
            <a:r>
              <a:rPr lang="en-US" b="1" smtClean="0">
                <a:solidFill>
                  <a:srgbClr val="FF0000"/>
                </a:solidFill>
                <a:latin typeface="Arial Black" panose="020B0A04020102020204" pitchFamily="34" charset="0"/>
              </a:rPr>
              <a:t>the chemicals  </a:t>
            </a:r>
            <a:endParaRPr lang="ar-JO" dirty="0"/>
          </a:p>
        </p:txBody>
      </p:sp>
    </p:spTree>
    <p:extLst>
      <p:ext uri="{BB962C8B-B14F-4D97-AF65-F5344CB8AC3E}">
        <p14:creationId xmlns:p14="http://schemas.microsoft.com/office/powerpoint/2010/main" val="1150887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2165</TotalTime>
  <Words>2017</Words>
  <Application>Microsoft Office PowerPoint</Application>
  <PresentationFormat>Widescreen</PresentationFormat>
  <Paragraphs>374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Agency FB</vt:lpstr>
      <vt:lpstr>Arial</vt:lpstr>
      <vt:lpstr>Arial Black</vt:lpstr>
      <vt:lpstr>Calibri</vt:lpstr>
      <vt:lpstr>Courier New</vt:lpstr>
      <vt:lpstr>PMingLiU</vt:lpstr>
      <vt:lpstr>Times New Roman</vt:lpstr>
      <vt:lpstr>Tw Cen MT</vt:lpstr>
      <vt:lpstr>Tw Cen MT Condensed</vt:lpstr>
      <vt:lpstr>Wingdings</vt:lpstr>
      <vt:lpstr>Wingdings 3</vt:lpstr>
      <vt:lpstr>Integral</vt:lpstr>
      <vt:lpstr>PowerPoint Presentation</vt:lpstr>
      <vt:lpstr>Bioelements</vt:lpstr>
      <vt:lpstr>Percentage of some elements in human body</vt:lpstr>
      <vt:lpstr>Macromolecules</vt:lpstr>
      <vt:lpstr>Hydrolysis </vt:lpstr>
      <vt:lpstr>Dehydration (Condensation)</vt:lpstr>
      <vt:lpstr>Macromolecules </vt:lpstr>
      <vt:lpstr> CLASSIFICATION OF CARBOHYDRAYES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Macromolecules and living things</dc:title>
  <dc:creator>HP</dc:creator>
  <cp:lastModifiedBy>Bayen Mahawreh</cp:lastModifiedBy>
  <cp:revision>116</cp:revision>
  <dcterms:created xsi:type="dcterms:W3CDTF">2019-02-12T00:50:36Z</dcterms:created>
  <dcterms:modified xsi:type="dcterms:W3CDTF">2019-02-19T09:19:09Z</dcterms:modified>
</cp:coreProperties>
</file>