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75" r:id="rId9"/>
    <p:sldId id="263" r:id="rId10"/>
    <p:sldId id="264" r:id="rId11"/>
    <p:sldId id="266" r:id="rId12"/>
    <p:sldId id="267" r:id="rId13"/>
    <p:sldId id="269" r:id="rId14"/>
    <p:sldId id="276" r:id="rId15"/>
    <p:sldId id="277" r:id="rId16"/>
    <p:sldId id="273" r:id="rId17"/>
    <p:sldId id="270" r:id="rId18"/>
    <p:sldId id="274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75C1-6A14-4743-9461-C73323AA2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6A1E5-437E-4D7F-BA48-43DDCFB7C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8AABB-FECF-4BD5-8051-7C3BDBD3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9809F-55EA-4E5B-8C66-C3582337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B236-D657-4C49-A7C7-2BBCC698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13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4C8C-02D2-4E86-951A-EB9C937A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D53C1-99A4-4C15-B131-5A9C57A0A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8EA33-9EE5-45F5-9B1C-1EEA552BD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EBEBB-98C9-44C2-9DA1-333BF03A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9F811-5FBD-4CFC-AA91-D48E2DED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4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D6AE-97A4-495B-819E-227DCD3E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F4C0C-5EF9-4D5A-B862-90B5B4392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57D5A-3C65-483E-8734-34D4D062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AEEDE-D758-42DA-A0C4-EB7F6677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03C16-D86A-497B-906C-05AACDA3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1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0DB3-CC84-45A7-9E99-FA7631D9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12ECE-15D6-497A-86BB-34AA33D54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7AC81-2EB4-410B-AAF6-80A258921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756BF-D132-4D01-8711-0046E9F0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957B0-BE02-479E-9656-5EEFC5B3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087DA-D320-4F08-90CF-E2877A9A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10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B61FA-290C-4203-A9EF-0D65F2D1E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07941-3111-451A-8975-A7F3B0218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F8D33-7F96-4D8E-9AB7-7AC634B6B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58E44-3383-467D-9107-7A5AEE2CF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3EC2B-46FA-4839-A466-7DF738F73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330A1-1A6A-48B3-BEDD-447BC4D5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EAEAD-0AC9-460D-A2AF-DCF3D45A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ED709E-ABC8-407C-AECD-08C008CD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0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866D-BC1C-441E-8B71-F8A13249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E82C8-D620-4912-927C-80A4946C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51349-9BC2-4064-A1FA-38D43513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42062-66AA-4DCD-B94F-1BB65932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1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530DB-CE8A-4327-A6A5-73D1B30C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85590-D560-4CDC-AE59-8688BBC88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6DC01-1EE8-4806-9CFA-C52E5F0A3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7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C9BA-49CC-4C49-9E41-AE690B397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FC6E2-DF3C-48EC-9A56-FBE796061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C65E9-B6EC-445F-85EB-FA391F623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60F4C-301A-4D58-BA0B-4A1200C1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60ECD-A27C-4297-A025-BF791AFC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0A699-7BB6-4EBB-85DA-1807D8E2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0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A6C31-6B94-4E22-BC84-B4B64B64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151F5-7436-44DF-8B6E-0E41357A6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A193F-5891-4234-86D3-D338FA3B2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09590-6FFA-4ADB-B8BE-3821EFA7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0BC89-C293-4EC3-BC32-C8EE7FDE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3D803-3734-4B71-B4E9-C59AE457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4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0320-9D4D-4D9C-9CA9-D949D0D5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912C0-BABE-4279-8DCA-98849667E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95826-2639-45FF-8B40-4ED7159FB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6D269-A7BC-4BDA-A823-DA36CD2B3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0E966-D67A-4F51-B1E9-C319A3B6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83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8AD7F-25F6-4DC8-865A-7F3CCC897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B6B46-6AF3-4022-BDFC-B1D5C0C02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B4FBB-CFE2-45C7-BF83-8063F9CCC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8AE1E-4AF9-4C62-9677-2C172CEA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732A0-167E-4C58-91E1-16651978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5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E3A5D-CC1D-4CD5-8931-8BD7FCBE1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C410A-6282-4B59-B0DF-648E3B5F8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86BDF-6BFE-46F8-817C-FE242A41C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EB14A-20FE-483B-8ECF-15F560DAA89F}" type="datetimeFigureOut">
              <a:rPr lang="en-US" smtClean="0"/>
              <a:t>03/26/2022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09042-B793-483D-AE76-AE54B07D5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3DAF4-F83A-41C7-952C-6E5F6B0A2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413FA-8FA2-476C-8E38-07EE9A6E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66CE-5551-46DE-871B-74AF2DB59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145" y="3442681"/>
            <a:ext cx="10086535" cy="2387600"/>
          </a:xfrm>
        </p:spPr>
        <p:txBody>
          <a:bodyPr>
            <a:normAutofit fontScale="90000"/>
          </a:bodyPr>
          <a:lstStyle/>
          <a:p>
            <a:r>
              <a:rPr lang="en-US" sz="7300" b="1" dirty="0"/>
              <a:t>Karyotyping</a:t>
            </a:r>
            <a:br>
              <a:rPr lang="en-US" dirty="0"/>
            </a:br>
            <a:r>
              <a:rPr lang="en-US" sz="5300" dirty="0"/>
              <a:t>Human lymphocyte culture and harvesting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BC94A5-7063-4F2D-8B95-296D8CAC24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31" t="18446" r="31808" b="48512"/>
          <a:stretch/>
        </p:blipFill>
        <p:spPr>
          <a:xfrm>
            <a:off x="2236763" y="96556"/>
            <a:ext cx="8060787" cy="235122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E9C1E65-C4B3-49D2-BD0C-01133651C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66254"/>
            <a:ext cx="9144000" cy="757951"/>
          </a:xfrm>
        </p:spPr>
        <p:txBody>
          <a:bodyPr>
            <a:normAutofit fontScale="92500" lnSpcReduction="20000"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CYTOGENETICS LAB (BT456)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2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E9A0-80EA-455B-B4D2-424C2336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arial" panose="020B0604020202020204" pitchFamily="34" charset="0"/>
              </a:rPr>
              <a:t>Karyotyping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C042E-52CA-4507-A4CB-3E47CC0EB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arial" panose="020B0604020202020204" pitchFamily="34" charset="0"/>
              </a:rPr>
              <a:t>Karyotyping</a:t>
            </a:r>
            <a:r>
              <a:rPr lang="en-US" b="0" i="0" dirty="0">
                <a:effectLst/>
                <a:latin typeface="arial" panose="020B0604020202020204" pitchFamily="34" charset="0"/>
              </a:rPr>
              <a:t> is the process of pairing and ordering all the chromosomes of an organism.</a:t>
            </a:r>
          </a:p>
          <a:p>
            <a:endParaRPr lang="en-US" b="0" i="0" dirty="0">
              <a:effectLst/>
              <a:latin typeface="arial" panose="020B0604020202020204" pitchFamily="34" charset="0"/>
            </a:endParaRPr>
          </a:p>
          <a:p>
            <a:r>
              <a:rPr lang="en-US" b="1" i="0" dirty="0">
                <a:effectLst/>
                <a:latin typeface="arial" panose="020B0604020202020204" pitchFamily="34" charset="0"/>
              </a:rPr>
              <a:t>A karyotype </a:t>
            </a:r>
            <a:r>
              <a:rPr lang="en-US" b="0" i="0" dirty="0">
                <a:effectLst/>
                <a:latin typeface="arial" panose="020B0604020202020204" pitchFamily="34" charset="0"/>
              </a:rPr>
              <a:t>is </a:t>
            </a:r>
            <a:r>
              <a:rPr lang="en-US" i="0" dirty="0">
                <a:effectLst/>
                <a:latin typeface="arial" panose="020B0604020202020204" pitchFamily="34" charset="0"/>
              </a:rPr>
              <a:t>an individual's collection of chromosomes in Metaphase, spread out on a slide.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77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9B1AA-390E-4C1D-832B-29F4FB03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Lucida Grande"/>
              </a:rPr>
              <a:t>A karyotype test may be used to:</a:t>
            </a:r>
            <a:br>
              <a:rPr lang="en-US" b="0" i="0" dirty="0">
                <a:effectLst/>
                <a:latin typeface="Lucida Grande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3D9F-D195-4330-AEDA-194F5885E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68" y="1252024"/>
            <a:ext cx="11422967" cy="5423095"/>
          </a:xfrm>
        </p:spPr>
        <p:txBody>
          <a:bodyPr>
            <a:normAutofit lnSpcReduction="10000"/>
          </a:bodyPr>
          <a:lstStyle/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Check an unborn baby for </a:t>
            </a:r>
            <a:r>
              <a:rPr lang="en-US" b="0" i="0" dirty="0">
                <a:solidFill>
                  <a:srgbClr val="FF0000"/>
                </a:solidFill>
                <a:effectLst/>
                <a:latin typeface="inherit"/>
              </a:rPr>
              <a:t>genetic disorders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Diagnose a </a:t>
            </a:r>
            <a:r>
              <a:rPr lang="en-US" b="0" i="0" dirty="0">
                <a:solidFill>
                  <a:srgbClr val="FF0000"/>
                </a:solidFill>
                <a:effectLst/>
                <a:latin typeface="inherit"/>
              </a:rPr>
              <a:t>genetic disease </a:t>
            </a:r>
            <a:r>
              <a:rPr lang="en-US" b="0" i="0" dirty="0">
                <a:effectLst/>
                <a:latin typeface="inherit"/>
              </a:rPr>
              <a:t>in a baby or young child, and if there a genetic disorder that could be passed along to the children from parents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Find out if a </a:t>
            </a:r>
            <a:r>
              <a:rPr lang="en-US" b="0" i="0" dirty="0">
                <a:solidFill>
                  <a:srgbClr val="FF0000"/>
                </a:solidFill>
                <a:effectLst/>
                <a:latin typeface="inherit"/>
              </a:rPr>
              <a:t>chromosomal defect </a:t>
            </a:r>
            <a:r>
              <a:rPr lang="en-US" b="0" i="0" dirty="0">
                <a:effectLst/>
                <a:latin typeface="inherit"/>
              </a:rPr>
              <a:t>is </a:t>
            </a:r>
            <a:r>
              <a:rPr lang="en-US" b="0" i="0" strike="noStrike" dirty="0">
                <a:effectLst/>
                <a:latin typeface="inherit"/>
              </a:rPr>
              <a:t>preventing a woman from getting </a:t>
            </a:r>
            <a:r>
              <a:rPr lang="en-US" b="0" i="0" strike="noStrike" dirty="0">
                <a:solidFill>
                  <a:srgbClr val="FF0000"/>
                </a:solidFill>
                <a:effectLst/>
                <a:latin typeface="inherit"/>
              </a:rPr>
              <a:t>pregnant</a:t>
            </a:r>
            <a:r>
              <a:rPr lang="en-US" b="0" i="0" dirty="0">
                <a:effectLst/>
                <a:latin typeface="inherit"/>
              </a:rPr>
              <a:t> or is causing </a:t>
            </a:r>
            <a:r>
              <a:rPr lang="en-US" b="0" i="0" strike="noStrike" dirty="0">
                <a:solidFill>
                  <a:srgbClr val="FF0000"/>
                </a:solidFill>
                <a:effectLst/>
                <a:latin typeface="inherit"/>
              </a:rPr>
              <a:t>miscarriages</a:t>
            </a:r>
            <a:endParaRPr lang="en-US" b="0" i="0" dirty="0">
              <a:solidFill>
                <a:srgbClr val="FF0000"/>
              </a:solidFill>
              <a:effectLst/>
              <a:latin typeface="inherit"/>
            </a:endParaRP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Check a </a:t>
            </a:r>
            <a:r>
              <a:rPr lang="en-US" b="0" i="0" strike="noStrike" dirty="0">
                <a:effectLst/>
                <a:latin typeface="inherit"/>
              </a:rPr>
              <a:t>stillborn</a:t>
            </a:r>
            <a:r>
              <a:rPr lang="en-US" b="0" i="0" dirty="0">
                <a:effectLst/>
                <a:latin typeface="inherit"/>
              </a:rPr>
              <a:t> to see if a </a:t>
            </a:r>
            <a:r>
              <a:rPr lang="en-US" b="0" i="0" dirty="0">
                <a:solidFill>
                  <a:srgbClr val="FF0000"/>
                </a:solidFill>
                <a:effectLst/>
                <a:latin typeface="inherit"/>
              </a:rPr>
              <a:t>chromosomal defect</a:t>
            </a:r>
            <a:r>
              <a:rPr lang="en-US" b="0" i="0" dirty="0">
                <a:effectLst/>
                <a:latin typeface="inherit"/>
              </a:rPr>
              <a:t> was the cause of death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Diagnose or make a treatment plan for certain types of </a:t>
            </a:r>
            <a:r>
              <a:rPr lang="en-US" b="0" i="0" strike="noStrike" dirty="0">
                <a:solidFill>
                  <a:srgbClr val="FF0000"/>
                </a:solidFill>
                <a:effectLst/>
                <a:latin typeface="inherit"/>
              </a:rPr>
              <a:t>cancer</a:t>
            </a:r>
            <a:r>
              <a:rPr lang="en-US" b="0" i="0" dirty="0">
                <a:effectLst/>
                <a:latin typeface="inherit"/>
              </a:rPr>
              <a:t> and </a:t>
            </a:r>
            <a:r>
              <a:rPr lang="en-US" b="0" i="0" strike="noStrike" dirty="0">
                <a:solidFill>
                  <a:srgbClr val="FF0000"/>
                </a:solidFill>
                <a:effectLst/>
                <a:latin typeface="inherit"/>
              </a:rPr>
              <a:t>blood disorders</a:t>
            </a:r>
            <a:endParaRPr lang="en-US" b="0" i="0" dirty="0">
              <a:solidFill>
                <a:srgbClr val="FF0000"/>
              </a:solidFill>
              <a:effectLst/>
              <a:latin typeface="inheri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23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Chromosomes Human Under the Microscope for Education. Stock Image - Image  of biotechnology, karyotype: 134111845">
            <a:extLst>
              <a:ext uri="{FF2B5EF4-FFF2-40B4-BE49-F238E27FC236}">
                <a16:creationId xmlns:a16="http://schemas.microsoft.com/office/drawing/2014/main" id="{367CEFB5-228E-4437-80D6-C3CB4118C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661888"/>
            <a:ext cx="5294716" cy="353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Karyotype Analysis of Human Chromosome | Easy Biology Class">
            <a:extLst>
              <a:ext uri="{FF2B5EF4-FFF2-40B4-BE49-F238E27FC236}">
                <a16:creationId xmlns:a16="http://schemas.microsoft.com/office/drawing/2014/main" id="{EEDAE2BE-3478-4B6A-829F-C414C2E85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3817" y="1360752"/>
            <a:ext cx="5294715" cy="413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56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ryotyping">
            <a:extLst>
              <a:ext uri="{FF2B5EF4-FFF2-40B4-BE49-F238E27FC236}">
                <a16:creationId xmlns:a16="http://schemas.microsoft.com/office/drawing/2014/main" id="{2DABF803-2C22-4020-97B6-D387B5101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474"/>
            <a:ext cx="12192000" cy="658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92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ZooWeb - Karyotypes, 47, XY, +21">
            <a:extLst>
              <a:ext uri="{FF2B5EF4-FFF2-40B4-BE49-F238E27FC236}">
                <a16:creationId xmlns:a16="http://schemas.microsoft.com/office/drawing/2014/main" id="{80FBF123-B9F7-41D3-A48D-6624E148F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2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2F303-B4C3-41A2-96FA-3DFA61B4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Karyotyping procedure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3287A2-4928-44F3-9796-B92B21D0C2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46" t="28913" r="31115" b="42719"/>
          <a:stretch/>
        </p:blipFill>
        <p:spPr>
          <a:xfrm>
            <a:off x="936674" y="1555115"/>
            <a:ext cx="9600028" cy="32982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D1CD9D-7F6F-4EDD-BBC4-D49153DD389A}"/>
              </a:ext>
            </a:extLst>
          </p:cNvPr>
          <p:cNvSpPr/>
          <p:nvPr/>
        </p:nvSpPr>
        <p:spPr>
          <a:xfrm>
            <a:off x="838200" y="5213349"/>
            <a:ext cx="1533378" cy="872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Sample collecting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BD2623-6EAB-4840-94FC-A80F6B9A935C}"/>
              </a:ext>
            </a:extLst>
          </p:cNvPr>
          <p:cNvSpPr/>
          <p:nvPr/>
        </p:nvSpPr>
        <p:spPr>
          <a:xfrm>
            <a:off x="3522784" y="5217844"/>
            <a:ext cx="1533378" cy="872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Culture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197AC8-0CDB-45D2-8F16-804B16590A19}"/>
              </a:ext>
            </a:extLst>
          </p:cNvPr>
          <p:cNvSpPr/>
          <p:nvPr/>
        </p:nvSpPr>
        <p:spPr>
          <a:xfrm>
            <a:off x="6404316" y="5171146"/>
            <a:ext cx="1533378" cy="872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Harvesting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EE0BAB-AC12-40BD-BD08-CB79F74F59CE}"/>
              </a:ext>
            </a:extLst>
          </p:cNvPr>
          <p:cNvSpPr/>
          <p:nvPr/>
        </p:nvSpPr>
        <p:spPr>
          <a:xfrm>
            <a:off x="9276471" y="5171146"/>
            <a:ext cx="1533378" cy="872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Dropping &amp; Staining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744782-08E5-41D5-B925-91FB900B15B5}"/>
              </a:ext>
            </a:extLst>
          </p:cNvPr>
          <p:cNvCxnSpPr/>
          <p:nvPr/>
        </p:nvCxnSpPr>
        <p:spPr>
          <a:xfrm>
            <a:off x="2560320" y="5607244"/>
            <a:ext cx="787791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6A5868-8A41-46E4-B8DD-D3B1AFC4C97C}"/>
              </a:ext>
            </a:extLst>
          </p:cNvPr>
          <p:cNvCxnSpPr/>
          <p:nvPr/>
        </p:nvCxnSpPr>
        <p:spPr>
          <a:xfrm>
            <a:off x="5342792" y="5607244"/>
            <a:ext cx="787791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936153-91DC-4C2B-A665-4908D09BD0A0}"/>
              </a:ext>
            </a:extLst>
          </p:cNvPr>
          <p:cNvCxnSpPr/>
          <p:nvPr/>
        </p:nvCxnSpPr>
        <p:spPr>
          <a:xfrm>
            <a:off x="8255390" y="5599134"/>
            <a:ext cx="787791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55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A3203F-BDB5-46C2-8408-D90AE9B3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39" t="9504" r="58571" b="11092"/>
          <a:stretch/>
        </p:blipFill>
        <p:spPr>
          <a:xfrm>
            <a:off x="2888343" y="22524"/>
            <a:ext cx="5457371" cy="5623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FE9D5E-9A25-4EBA-B4A9-FFEDC96F23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571" t="55664" r="59287" b="27820"/>
          <a:stretch/>
        </p:blipFill>
        <p:spPr>
          <a:xfrm>
            <a:off x="2888343" y="5646058"/>
            <a:ext cx="5457371" cy="1132114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46285E1B-958B-427E-9C7F-84AECC0ACA7A}"/>
              </a:ext>
            </a:extLst>
          </p:cNvPr>
          <p:cNvSpPr/>
          <p:nvPr/>
        </p:nvSpPr>
        <p:spPr>
          <a:xfrm>
            <a:off x="8374743" y="3178630"/>
            <a:ext cx="769258" cy="2467428"/>
          </a:xfrm>
          <a:prstGeom prst="rightBrac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2F1329-4936-4FBD-A1F7-C6F97728A275}"/>
              </a:ext>
            </a:extLst>
          </p:cNvPr>
          <p:cNvSpPr/>
          <p:nvPr/>
        </p:nvSpPr>
        <p:spPr>
          <a:xfrm>
            <a:off x="9408773" y="3976245"/>
            <a:ext cx="1533378" cy="872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Harvesting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C6619C4-AA28-45E1-A048-CD053AD2219B}"/>
              </a:ext>
            </a:extLst>
          </p:cNvPr>
          <p:cNvSpPr/>
          <p:nvPr/>
        </p:nvSpPr>
        <p:spPr>
          <a:xfrm>
            <a:off x="8345714" y="1066800"/>
            <a:ext cx="769258" cy="1532710"/>
          </a:xfrm>
          <a:prstGeom prst="rightBrace">
            <a:avLst>
              <a:gd name="adj1" fmla="val 36069"/>
              <a:gd name="adj2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1BF33D-90E5-4B40-971E-DC1B0D4E4C7A}"/>
              </a:ext>
            </a:extLst>
          </p:cNvPr>
          <p:cNvSpPr/>
          <p:nvPr/>
        </p:nvSpPr>
        <p:spPr>
          <a:xfrm>
            <a:off x="9408773" y="1397056"/>
            <a:ext cx="1533378" cy="872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Culture</a:t>
            </a:r>
          </a:p>
        </p:txBody>
      </p:sp>
    </p:spTree>
    <p:extLst>
      <p:ext uri="{BB962C8B-B14F-4D97-AF65-F5344CB8AC3E}">
        <p14:creationId xmlns:p14="http://schemas.microsoft.com/office/powerpoint/2010/main" val="205292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3D6E4A4-F389-4801-B98A-3442434394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8586664"/>
              </p:ext>
            </p:extLst>
          </p:nvPr>
        </p:nvGraphicFramePr>
        <p:xfrm>
          <a:off x="905607" y="2450464"/>
          <a:ext cx="4394982" cy="280841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94982">
                  <a:extLst>
                    <a:ext uri="{9D8B030D-6E8A-4147-A177-3AD203B41FA5}">
                      <a16:colId xmlns:a16="http://schemas.microsoft.com/office/drawing/2014/main" val="3906230195"/>
                    </a:ext>
                  </a:extLst>
                </a:gridCol>
              </a:tblGrid>
              <a:tr h="627763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Prenatal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017546"/>
                  </a:ext>
                </a:extLst>
              </a:tr>
              <a:tr h="2180652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2400" dirty="0"/>
                        <a:t>Chorionic villus sampling (CVS)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2400" dirty="0"/>
                        <a:t>Amniotic fluid (AF)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2400" dirty="0"/>
                        <a:t>Products of conception (POC)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50917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E2B5699-29B5-4DC7-A487-DB420E1F23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19" t="56694" r="31042" b="38059"/>
          <a:stretch/>
        </p:blipFill>
        <p:spPr>
          <a:xfrm>
            <a:off x="500575" y="681037"/>
            <a:ext cx="9600028" cy="65182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CF3D6F-C947-402C-980B-061F2C4DC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2975160"/>
              </p:ext>
            </p:extLst>
          </p:nvPr>
        </p:nvGraphicFramePr>
        <p:xfrm>
          <a:off x="6891413" y="2450463"/>
          <a:ext cx="4144108" cy="280841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44108">
                  <a:extLst>
                    <a:ext uri="{9D8B030D-6E8A-4147-A177-3AD203B41FA5}">
                      <a16:colId xmlns:a16="http://schemas.microsoft.com/office/drawing/2014/main" val="390623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Postnatal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017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2400" dirty="0"/>
                        <a:t>Solid tumor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2400" dirty="0"/>
                        <a:t>Bone Marrow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2400" dirty="0"/>
                        <a:t>Lymph nodes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Blood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509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0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BA06F-2E90-4259-8BCC-B22C4772C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429"/>
            <a:ext cx="10515600" cy="4217534"/>
          </a:xfrm>
        </p:spPr>
        <p:txBody>
          <a:bodyPr/>
          <a:lstStyle/>
          <a:p>
            <a:r>
              <a:rPr lang="en-US" b="1" dirty="0"/>
              <a:t>Sample collecting: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0" i="0" dirty="0">
                <a:effectLst/>
                <a:latin typeface="Nunito Sans" panose="020B0604020202020204" pitchFamily="2" charset="0"/>
              </a:rPr>
              <a:t>3-5 mL of peripheral </a:t>
            </a:r>
            <a:r>
              <a:rPr lang="en-US" b="0" i="0" dirty="0">
                <a:solidFill>
                  <a:srgbClr val="FF0000"/>
                </a:solidFill>
                <a:effectLst/>
                <a:latin typeface="Nunito Sans" panose="020B0604020202020204" pitchFamily="2" charset="0"/>
              </a:rPr>
              <a:t>Blood</a:t>
            </a:r>
            <a:r>
              <a:rPr lang="en-US" b="0" i="0" dirty="0">
                <a:solidFill>
                  <a:srgbClr val="333333"/>
                </a:solidFill>
                <a:effectLst/>
                <a:latin typeface="Nunito Sans" panose="020B0604020202020204" pitchFamily="2" charset="0"/>
              </a:rPr>
              <a:t> </a:t>
            </a:r>
            <a:r>
              <a:rPr lang="en-US" b="0" i="0" dirty="0">
                <a:effectLst/>
                <a:latin typeface="Nunito Sans" panose="020B0604020202020204" pitchFamily="2" charset="0"/>
              </a:rPr>
              <a:t>in sodium/ lithium </a:t>
            </a:r>
            <a:r>
              <a:rPr lang="en-US" b="0" i="0" dirty="0">
                <a:solidFill>
                  <a:srgbClr val="FF0000"/>
                </a:solidFill>
                <a:effectLst/>
                <a:latin typeface="Nunito Sans" panose="020B0604020202020204" pitchFamily="2" charset="0"/>
              </a:rPr>
              <a:t>heparin vacutainer tube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F044E8-F104-4C76-9DA6-47039215B1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53" t="62864" r="3809" b="21043"/>
          <a:stretch/>
        </p:blipFill>
        <p:spPr>
          <a:xfrm>
            <a:off x="838200" y="496479"/>
            <a:ext cx="10657114" cy="12016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DD10D00-C703-43FA-9AF8-F731053F129A}"/>
              </a:ext>
            </a:extLst>
          </p:cNvPr>
          <p:cNvSpPr/>
          <p:nvPr/>
        </p:nvSpPr>
        <p:spPr>
          <a:xfrm>
            <a:off x="2002971" y="3962400"/>
            <a:ext cx="8534400" cy="265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0" dirty="0">
                <a:solidFill>
                  <a:srgbClr val="131516"/>
                </a:solidFill>
                <a:effectLst/>
                <a:latin typeface="Lora" panose="020B0604020202020204" pitchFamily="2" charset="0"/>
              </a:rPr>
              <a:t>Why are heparin tubes used in the sample collection for karyotyping?</a:t>
            </a:r>
          </a:p>
          <a:p>
            <a:pPr algn="ctr"/>
            <a:endParaRPr lang="en-US" sz="2000" b="1" i="0" dirty="0">
              <a:solidFill>
                <a:srgbClr val="131516"/>
              </a:solidFill>
              <a:effectLst/>
              <a:latin typeface="Lora" panose="020B0604020202020204" pitchFamily="2" charset="0"/>
            </a:endParaRP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Lora" pitchFamily="2" charset="0"/>
              </a:rPr>
              <a:t>Sodium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Nunito Sans" panose="020B0604020202020204" pitchFamily="2" charset="0"/>
              </a:rPr>
              <a:t>/ lithium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Lora" pitchFamily="2" charset="0"/>
              </a:rPr>
              <a:t> heparin is an anticoagulant, prevents blood clotting</a:t>
            </a:r>
            <a:endParaRPr lang="en-US" sz="2000" b="1" dirty="0">
              <a:solidFill>
                <a:schemeClr val="tx1"/>
              </a:solidFill>
              <a:latin typeface="Lora" panose="020B0604020202020204" pitchFamily="2" charset="0"/>
            </a:endParaRP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Lora" pitchFamily="2" charset="0"/>
              </a:rPr>
              <a:t>Sodium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Nunito Sans" panose="020B0604020202020204" pitchFamily="2" charset="0"/>
              </a:rPr>
              <a:t>/ lithium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Lora" pitchFamily="2" charset="0"/>
              </a:rPr>
              <a:t> heparin is used as an anticoagulant that can’t affect cell division activities.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2" name="Picture 2" descr="Disposable Medical Vacuum Lithium Heparin Tube for Plasma Analysis from  China manufacturer - Nanjing Superfit I&amp;amp;amp;E Co., Ltd.">
            <a:extLst>
              <a:ext uri="{FF2B5EF4-FFF2-40B4-BE49-F238E27FC236}">
                <a16:creationId xmlns:a16="http://schemas.microsoft.com/office/drawing/2014/main" id="{6197FF09-C428-48D8-A961-143333280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8" t="13988" r="41429" b="2679"/>
          <a:stretch/>
        </p:blipFill>
        <p:spPr bwMode="auto">
          <a:xfrm>
            <a:off x="11110686" y="2148114"/>
            <a:ext cx="769256" cy="362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075CAF50-8399-4A15-91AF-A6E1DF316533}"/>
              </a:ext>
            </a:extLst>
          </p:cNvPr>
          <p:cNvSpPr/>
          <p:nvPr/>
        </p:nvSpPr>
        <p:spPr>
          <a:xfrm>
            <a:off x="709386" y="559934"/>
            <a:ext cx="431800" cy="41978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91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7EBED-0646-479B-B858-D60262C6F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Culture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BC2A2-91F4-4984-8B4B-15ADD55FC4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53" t="62864" r="3809" b="21043"/>
          <a:stretch/>
        </p:blipFill>
        <p:spPr>
          <a:xfrm>
            <a:off x="651328" y="426764"/>
            <a:ext cx="10889343" cy="1201693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AFFB01F-36F1-479E-B7CD-1DC843B16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98774"/>
              </p:ext>
            </p:extLst>
          </p:nvPr>
        </p:nvGraphicFramePr>
        <p:xfrm>
          <a:off x="838199" y="2660469"/>
          <a:ext cx="4923972" cy="3169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61986">
                  <a:extLst>
                    <a:ext uri="{9D8B030D-6E8A-4147-A177-3AD203B41FA5}">
                      <a16:colId xmlns:a16="http://schemas.microsoft.com/office/drawing/2014/main" val="260975705"/>
                    </a:ext>
                  </a:extLst>
                </a:gridCol>
                <a:gridCol w="2461986">
                  <a:extLst>
                    <a:ext uri="{9D8B030D-6E8A-4147-A177-3AD203B41FA5}">
                      <a16:colId xmlns:a16="http://schemas.microsoft.com/office/drawing/2014/main" val="284556359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Suspension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41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Sample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Blood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Bone Marrow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20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Culturing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Blood: </a:t>
                      </a:r>
                    </a:p>
                    <a:p>
                      <a:r>
                        <a:rPr lang="en-US" dirty="0"/>
                        <a:t>- Child &amp; Adult: 3-4 days</a:t>
                      </a:r>
                    </a:p>
                    <a:p>
                      <a:r>
                        <a:rPr lang="en-US" dirty="0"/>
                        <a:t>- Newborn: 1 day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Bone Marrow:</a:t>
                      </a:r>
                    </a:p>
                    <a:p>
                      <a:r>
                        <a:rPr lang="en-US" dirty="0"/>
                        <a:t>1 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451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BBEA84-94FB-4D35-8761-5BCBB3C01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2269"/>
              </p:ext>
            </p:extLst>
          </p:nvPr>
        </p:nvGraphicFramePr>
        <p:xfrm>
          <a:off x="6723742" y="2660469"/>
          <a:ext cx="4630058" cy="3169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5029">
                  <a:extLst>
                    <a:ext uri="{9D8B030D-6E8A-4147-A177-3AD203B41FA5}">
                      <a16:colId xmlns:a16="http://schemas.microsoft.com/office/drawing/2014/main" val="260975705"/>
                    </a:ext>
                  </a:extLst>
                </a:gridCol>
                <a:gridCol w="2315029">
                  <a:extLst>
                    <a:ext uri="{9D8B030D-6E8A-4147-A177-3AD203B41FA5}">
                      <a16:colId xmlns:a16="http://schemas.microsoft.com/office/drawing/2014/main" val="284556359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Attached Monolayer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41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Sample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Rest types of samples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(CVS), (AF), (POC)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Solid tumor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Lymph nodes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20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Culturing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Need 14 days for culturing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45139"/>
                  </a:ext>
                </a:extLst>
              </a:tr>
            </a:tbl>
          </a:graphicData>
        </a:graphic>
      </p:graphicFrame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85CB78E6-2463-4A6E-A34B-EE1F1E50DF83}"/>
              </a:ext>
            </a:extLst>
          </p:cNvPr>
          <p:cNvSpPr/>
          <p:nvPr/>
        </p:nvSpPr>
        <p:spPr>
          <a:xfrm>
            <a:off x="3422105" y="472076"/>
            <a:ext cx="431800" cy="417921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770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C55D-3924-4DF1-9419-304B1BAB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4CC73-16F6-44D0-9C38-C3285C1A0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Add 1 mL of blood into 9 mL of complete karyotyping media in </a:t>
            </a:r>
            <a:r>
              <a:rPr lang="en-US" b="0" i="0" dirty="0">
                <a:effectLst/>
              </a:rPr>
              <a:t>falcon tube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dirty="0"/>
              <a:t>and incubate at 37</a:t>
            </a:r>
            <a:r>
              <a:rPr lang="en-US" b="0" i="0" dirty="0">
                <a:effectLst/>
              </a:rPr>
              <a:t>°C for 3-4 days.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Complete karyotyping media Contains:</a:t>
            </a:r>
            <a:endParaRPr lang="en-US" b="1" i="0" dirty="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D224B-0C4A-4CE9-A61B-D84D7EFD58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53" t="62864" r="3809" b="21043"/>
          <a:stretch/>
        </p:blipFill>
        <p:spPr>
          <a:xfrm>
            <a:off x="838200" y="496479"/>
            <a:ext cx="10657114" cy="1201693"/>
          </a:xfrm>
          <a:prstGeom prst="rect">
            <a:avLst/>
          </a:prstGeom>
        </p:spPr>
      </p:pic>
      <p:sp>
        <p:nvSpPr>
          <p:cNvPr id="5" name="Star: 5 Points 4">
            <a:extLst>
              <a:ext uri="{FF2B5EF4-FFF2-40B4-BE49-F238E27FC236}">
                <a16:creationId xmlns:a16="http://schemas.microsoft.com/office/drawing/2014/main" id="{7E09DA9A-372F-4CB2-B3A6-4F0FD22ACF7A}"/>
              </a:ext>
            </a:extLst>
          </p:cNvPr>
          <p:cNvSpPr/>
          <p:nvPr/>
        </p:nvSpPr>
        <p:spPr>
          <a:xfrm>
            <a:off x="3568700" y="496479"/>
            <a:ext cx="431800" cy="41978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C28EE6B-288B-49CB-AA1D-087069FCD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505369"/>
              </p:ext>
            </p:extLst>
          </p:nvPr>
        </p:nvGraphicFramePr>
        <p:xfrm>
          <a:off x="1694543" y="3658235"/>
          <a:ext cx="8128000" cy="2834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892696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76127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44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15% Fetal Calf Serum (FCS)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Growth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454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1% Penicillin \ Streptomycin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Antibacterial agents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586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1% L-Glutamine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Nutrients &amp; 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26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3% Phytohemagglutinin (PHA)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Mitogen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950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Phenol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PH indicator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339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Sodium Bicarbonate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38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870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3146D-C001-431E-A354-7A25BE420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Harvesting: </a:t>
            </a:r>
            <a:r>
              <a:rPr lang="en-US" sz="2400" b="1" i="0" dirty="0">
                <a:solidFill>
                  <a:srgbClr val="202124"/>
                </a:solidFill>
                <a:effectLst/>
              </a:rPr>
              <a:t>arrest cells in the metaphase portion of the cell cycle, when chromosomes assume their most condensed conformations</a:t>
            </a:r>
            <a:r>
              <a:rPr lang="en-US" sz="2400" b="0" i="0" dirty="0">
                <a:solidFill>
                  <a:srgbClr val="202124"/>
                </a:solidFill>
                <a:effectLst/>
              </a:rPr>
              <a:t>. </a:t>
            </a:r>
          </a:p>
          <a:p>
            <a:endParaRPr lang="en-US" sz="2400" b="0" i="0" dirty="0">
              <a:solidFill>
                <a:srgbClr val="202124"/>
              </a:solidFill>
              <a:effectLst/>
            </a:endParaRPr>
          </a:p>
          <a:p>
            <a:pPr marL="0" indent="0">
              <a:buNone/>
            </a:pPr>
            <a:endParaRPr lang="en-US" sz="2400" dirty="0">
              <a:solidFill>
                <a:srgbClr val="222222"/>
              </a:solidFill>
            </a:endParaRPr>
          </a:p>
          <a:p>
            <a:pPr marL="457200" indent="-457200">
              <a:buAutoNum type="arabicPeriod"/>
            </a:pPr>
            <a:endParaRPr lang="en-US" sz="2400" b="0" i="0" dirty="0">
              <a:solidFill>
                <a:srgbClr val="202124"/>
              </a:solidFill>
              <a:effectLst/>
            </a:endParaRP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DC81F-3265-48C2-B9B8-7B835FBF76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53" t="62864" r="3809" b="21043"/>
          <a:stretch/>
        </p:blipFill>
        <p:spPr>
          <a:xfrm>
            <a:off x="838200" y="496479"/>
            <a:ext cx="10657114" cy="1201693"/>
          </a:xfrm>
          <a:prstGeom prst="rect">
            <a:avLst/>
          </a:prstGeom>
        </p:spPr>
      </p:pic>
      <p:sp>
        <p:nvSpPr>
          <p:cNvPr id="5" name="Star: 5 Points 4">
            <a:extLst>
              <a:ext uri="{FF2B5EF4-FFF2-40B4-BE49-F238E27FC236}">
                <a16:creationId xmlns:a16="http://schemas.microsoft.com/office/drawing/2014/main" id="{15292C36-7775-4FCA-BFD6-582C3B558AA7}"/>
              </a:ext>
            </a:extLst>
          </p:cNvPr>
          <p:cNvSpPr/>
          <p:nvPr/>
        </p:nvSpPr>
        <p:spPr>
          <a:xfrm>
            <a:off x="6558643" y="471147"/>
            <a:ext cx="431800" cy="41978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74E80-E389-4241-A4FB-84DD66BB85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90" t="23107" r="31071" b="21936"/>
          <a:stretch/>
        </p:blipFill>
        <p:spPr>
          <a:xfrm>
            <a:off x="1420090" y="2729345"/>
            <a:ext cx="9089571" cy="412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932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B656-BEE6-4C28-B4F3-028AABD9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54" y="1"/>
            <a:ext cx="10515600" cy="1163782"/>
          </a:xfrm>
        </p:spPr>
        <p:txBody>
          <a:bodyPr/>
          <a:lstStyle/>
          <a:p>
            <a:r>
              <a:rPr lang="en-US" b="1" dirty="0"/>
              <a:t>Harvesting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11753B-0841-4083-8EFC-15A7A24D036D}"/>
              </a:ext>
            </a:extLst>
          </p:cNvPr>
          <p:cNvSpPr txBox="1">
            <a:spLocks/>
          </p:cNvSpPr>
          <p:nvPr/>
        </p:nvSpPr>
        <p:spPr>
          <a:xfrm>
            <a:off x="713507" y="1163783"/>
            <a:ext cx="11208329" cy="551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02124"/>
                </a:solidFill>
              </a:rPr>
              <a:t>Add 100</a:t>
            </a:r>
            <a:r>
              <a:rPr lang="en-US" sz="1600" dirty="0">
                <a:solidFill>
                  <a:srgbClr val="222222"/>
                </a:solidFill>
                <a:latin typeface="roboto" panose="02000000000000000000" pitchFamily="2" charset="0"/>
              </a:rPr>
              <a:t> </a:t>
            </a:r>
            <a:r>
              <a:rPr lang="en-US" sz="2400" dirty="0">
                <a:solidFill>
                  <a:srgbClr val="222222"/>
                </a:solidFill>
              </a:rPr>
              <a:t>µL of </a:t>
            </a:r>
            <a:r>
              <a:rPr lang="en-US" sz="2400" dirty="0" err="1">
                <a:solidFill>
                  <a:srgbClr val="222222"/>
                </a:solidFill>
              </a:rPr>
              <a:t>colcemid</a:t>
            </a:r>
            <a:r>
              <a:rPr lang="en-US" sz="2400" dirty="0">
                <a:solidFill>
                  <a:srgbClr val="222222"/>
                </a:solidFill>
              </a:rPr>
              <a:t> to the cell culture, Mix well, and incubate for 1 hour.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Centrifuge at 1000 rpm for 10 minutes.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Discard the supernatant  and resuspend the pellet.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Add pre-warmed hypotonic solution (0.075M KCL) up to 10 </a:t>
            </a:r>
            <a:r>
              <a:rPr lang="en-US" sz="2400" dirty="0" err="1">
                <a:solidFill>
                  <a:srgbClr val="222222"/>
                </a:solidFill>
              </a:rPr>
              <a:t>mL.</a:t>
            </a:r>
            <a:endParaRPr lang="en-US" sz="2400" dirty="0">
              <a:solidFill>
                <a:srgbClr val="222222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Put the culture in water bath (</a:t>
            </a:r>
            <a:r>
              <a:rPr lang="en-US" sz="2400" dirty="0"/>
              <a:t>37°C</a:t>
            </a:r>
            <a:r>
              <a:rPr lang="en-US" sz="2400" dirty="0">
                <a:solidFill>
                  <a:srgbClr val="222222"/>
                </a:solidFill>
              </a:rPr>
              <a:t>) for not more 27 minutes.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Centrifuge at 1000 rpm for 6 minutes.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Discard the supernatant  and resuspend the pellet.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Add fixative (3 Methanol : 1 Acetic acid) up to 10 mL and keep the culture at room temperature for 30 minutes.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Centrifuge at 1000 rpm for 10 minutes.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Discard the supernatant  and resuspend the pellet.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222222"/>
                </a:solidFill>
              </a:rPr>
              <a:t>Washing step.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400" dirty="0">
              <a:solidFill>
                <a:srgbClr val="222222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400" dirty="0">
              <a:solidFill>
                <a:srgbClr val="222222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400" dirty="0">
              <a:solidFill>
                <a:srgbClr val="222222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400" dirty="0">
              <a:solidFill>
                <a:srgbClr val="202124"/>
              </a:solidFill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3893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1707A-E262-43EB-AC12-579B18B41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418" y="1132898"/>
            <a:ext cx="10515600" cy="4351338"/>
          </a:xfrm>
        </p:spPr>
        <p:txBody>
          <a:bodyPr/>
          <a:lstStyle/>
          <a:p>
            <a:r>
              <a:rPr lang="en-US" b="1" dirty="0"/>
              <a:t>Washing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en-US" dirty="0"/>
              <a:t>Add fixative up to 10 </a:t>
            </a:r>
            <a:r>
              <a:rPr lang="en-US" dirty="0" err="1"/>
              <a:t>mL.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Centrifuge at 1000 rpm for 10 minutes.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Discard the supernatant  and resuspend the pellet.</a:t>
            </a:r>
          </a:p>
          <a:p>
            <a:pPr marL="514350" indent="-514350">
              <a:buAutoNum type="arabicPeriod"/>
            </a:pPr>
            <a:r>
              <a:rPr lang="en-US" dirty="0"/>
              <a:t>Add fixative up to 10 </a:t>
            </a:r>
            <a:r>
              <a:rPr lang="en-US" dirty="0" err="1"/>
              <a:t>mL.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Centrifuge at 1000 rpm for 10 minutes.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Don’t </a:t>
            </a:r>
            <a:r>
              <a:rPr lang="en-US" sz="2800" b="1" dirty="0">
                <a:solidFill>
                  <a:srgbClr val="FF0000"/>
                </a:solidFill>
              </a:rPr>
              <a:t>Discard the supernatant.</a:t>
            </a:r>
          </a:p>
          <a:p>
            <a:pPr marL="0" indent="0">
              <a:buNone/>
            </a:pPr>
            <a:r>
              <a:rPr lang="en-US" dirty="0"/>
              <a:t>6. Keep the sample in refrigerator (4</a:t>
            </a:r>
            <a:r>
              <a:rPr lang="en-US" sz="2800" dirty="0"/>
              <a:t>°C</a:t>
            </a:r>
            <a:r>
              <a:rPr lang="en-US" dirty="0"/>
              <a:t>).</a:t>
            </a:r>
            <a:endParaRPr lang="en-US" sz="2800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51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D914-3AB4-43E1-ABFF-AF7D0BDED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4836"/>
            <a:ext cx="10515600" cy="964911"/>
          </a:xfrm>
        </p:spPr>
        <p:txBody>
          <a:bodyPr/>
          <a:lstStyle/>
          <a:p>
            <a:r>
              <a:rPr lang="en-US" b="1" dirty="0"/>
              <a:t>Harvesting</a:t>
            </a:r>
            <a:r>
              <a:rPr lang="en-US" dirty="0"/>
              <a:t> 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D83D499-23E0-4E25-A162-6EF533698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0969475"/>
              </p:ext>
            </p:extLst>
          </p:nvPr>
        </p:nvGraphicFramePr>
        <p:xfrm>
          <a:off x="838200" y="1673225"/>
          <a:ext cx="10799618" cy="4450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34647">
                  <a:extLst>
                    <a:ext uri="{9D8B030D-6E8A-4147-A177-3AD203B41FA5}">
                      <a16:colId xmlns:a16="http://schemas.microsoft.com/office/drawing/2014/main" val="1398068729"/>
                    </a:ext>
                  </a:extLst>
                </a:gridCol>
                <a:gridCol w="6964971">
                  <a:extLst>
                    <a:ext uri="{9D8B030D-6E8A-4147-A177-3AD203B41FA5}">
                      <a16:colId xmlns:a16="http://schemas.microsoft.com/office/drawing/2014/main" val="1194521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966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Colchicine/</a:t>
                      </a:r>
                      <a:r>
                        <a:rPr lang="en-US" sz="2400" b="1" i="0" dirty="0" err="1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colcemid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rgbClr val="222222"/>
                          </a:solidFill>
                          <a:effectLst/>
                          <a:latin typeface="roboto" panose="02000000000000000000" pitchFamily="2" charset="0"/>
                        </a:rPr>
                        <a:t>Prevents spindle fiber formation during the cell division. This action will </a:t>
                      </a: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roboto" panose="02000000000000000000" pitchFamily="2" charset="0"/>
                        </a:rPr>
                        <a:t>arrest the cell in the metaphase stage.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68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Hypotonic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2400" dirty="0"/>
                        <a:t>Allows the intake of water that results in the cell swelling and cell burst. 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2400" dirty="0"/>
                        <a:t>helps in the separation of chromosomes.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58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Fixative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2400" dirty="0"/>
                        <a:t>Encourages RBC’s lysis.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2400" dirty="0"/>
                        <a:t>Preserves chromosomes.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2400" dirty="0"/>
                        <a:t>Hardening the lymphocyte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2400" dirty="0"/>
                        <a:t>Removes other cell debris.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89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558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1A01-8555-4380-8358-A27C7959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2E530-8095-4324-A2F3-906EA3E9F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F176E-E4FC-477A-A744-A8406E731B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429" t="24641" r="15714" b="5302"/>
          <a:stretch/>
        </p:blipFill>
        <p:spPr>
          <a:xfrm>
            <a:off x="1770744" y="154856"/>
            <a:ext cx="8505370" cy="633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93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395A-46BB-479C-9447-EE6A0ABF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Explanations: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65B22-09DF-4E69-BB82-48CBC02CC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Incubate the cell culture more than 1 hour after the addition of </a:t>
            </a:r>
            <a:r>
              <a:rPr lang="en-US" b="1" dirty="0" err="1"/>
              <a:t>colcemid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The Mitotic index will be high, So chromosomes will be shorter.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Hypotonic Solution must be prewarmed:</a:t>
            </a:r>
          </a:p>
          <a:p>
            <a:pPr marL="0" indent="0">
              <a:buNone/>
            </a:pPr>
            <a:r>
              <a:rPr lang="en-US" sz="2800" dirty="0"/>
              <a:t>37°C helps in softening the </a:t>
            </a:r>
            <a:r>
              <a:rPr lang="en-US" sz="2800"/>
              <a:t>plasma membrane </a:t>
            </a:r>
            <a:r>
              <a:rPr lang="en-US" sz="2800" dirty="0"/>
              <a:t>&amp; facilitate water entry to the cells.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43864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A06CF-F715-415B-84C0-32EB8F8A9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091"/>
            <a:ext cx="10515600" cy="5137872"/>
          </a:xfrm>
        </p:spPr>
        <p:txBody>
          <a:bodyPr/>
          <a:lstStyle/>
          <a:p>
            <a:r>
              <a:rPr lang="en-US" b="1" dirty="0"/>
              <a:t>Hypotonic Solution and fixative must be added drop by drop:</a:t>
            </a:r>
          </a:p>
          <a:p>
            <a:pPr marL="0" indent="0">
              <a:buNone/>
            </a:pPr>
            <a:r>
              <a:rPr lang="en-US" dirty="0"/>
              <a:t>To prevent cell sock.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Centrifugation time of cell culture after the addition of hypotonic solution is 6 min:</a:t>
            </a:r>
          </a:p>
          <a:p>
            <a:pPr marL="0" indent="0">
              <a:buNone/>
            </a:pPr>
            <a:r>
              <a:rPr lang="en-US" dirty="0"/>
              <a:t>To prevent rupture of WBC’s, Because they are swelled.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Fixative must be freshly prepared:</a:t>
            </a:r>
          </a:p>
          <a:p>
            <a:pPr marL="0" indent="0">
              <a:buNone/>
            </a:pPr>
            <a:r>
              <a:rPr lang="en-US" dirty="0"/>
              <a:t>Prevent the reaction between methanol and acetic acid.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865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0BA89-4A09-4D8C-885F-DB793E3CC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7CE59-FCF4-4780-8666-960FE844E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9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4627</TotalTime>
  <Words>732</Words>
  <Application>Microsoft Office PowerPoint</Application>
  <PresentationFormat>Widescreen</PresentationFormat>
  <Paragraphs>125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Arial</vt:lpstr>
      <vt:lpstr>Calibri</vt:lpstr>
      <vt:lpstr>Calibri Light</vt:lpstr>
      <vt:lpstr>inherit</vt:lpstr>
      <vt:lpstr>Lora</vt:lpstr>
      <vt:lpstr>Lucida Grande</vt:lpstr>
      <vt:lpstr>Nunito Sans</vt:lpstr>
      <vt:lpstr>roboto</vt:lpstr>
      <vt:lpstr>Times New Roman</vt:lpstr>
      <vt:lpstr>Office Theme</vt:lpstr>
      <vt:lpstr>Karyotyping Human lymphocyte culture and harvesting</vt:lpstr>
      <vt:lpstr>Karyotyping</vt:lpstr>
      <vt:lpstr>A karyotype test may be used to: </vt:lpstr>
      <vt:lpstr>PowerPoint Presentation</vt:lpstr>
      <vt:lpstr>PowerPoint Presentation</vt:lpstr>
      <vt:lpstr>PowerPoint Presentation</vt:lpstr>
      <vt:lpstr>Basic Karyotyping procedure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Harvesting</vt:lpstr>
      <vt:lpstr>PowerPoint Presentation</vt:lpstr>
      <vt:lpstr>Harvesting </vt:lpstr>
      <vt:lpstr>PowerPoint Presentation</vt:lpstr>
      <vt:lpstr>Important Explanations: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Adan</dc:creator>
  <cp:lastModifiedBy>Adan</cp:lastModifiedBy>
  <cp:revision>76</cp:revision>
  <dcterms:created xsi:type="dcterms:W3CDTF">2022-03-02T06:20:11Z</dcterms:created>
  <dcterms:modified xsi:type="dcterms:W3CDTF">2022-03-26T07:57:57Z</dcterms:modified>
</cp:coreProperties>
</file>