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notesMasterIdLst>
    <p:notesMasterId r:id="rId38"/>
  </p:notesMasterIdLst>
  <p:sldIdLst>
    <p:sldId id="256" r:id="rId2"/>
    <p:sldId id="259" r:id="rId3"/>
    <p:sldId id="260" r:id="rId4"/>
    <p:sldId id="262" r:id="rId5"/>
    <p:sldId id="265" r:id="rId6"/>
    <p:sldId id="278" r:id="rId7"/>
    <p:sldId id="263" r:id="rId8"/>
    <p:sldId id="264" r:id="rId9"/>
    <p:sldId id="279" r:id="rId10"/>
    <p:sldId id="276" r:id="rId11"/>
    <p:sldId id="301" r:id="rId12"/>
    <p:sldId id="267" r:id="rId13"/>
    <p:sldId id="292" r:id="rId14"/>
    <p:sldId id="296" r:id="rId15"/>
    <p:sldId id="293" r:id="rId16"/>
    <p:sldId id="294" r:id="rId17"/>
    <p:sldId id="295" r:id="rId18"/>
    <p:sldId id="271" r:id="rId19"/>
    <p:sldId id="272" r:id="rId20"/>
    <p:sldId id="274" r:id="rId21"/>
    <p:sldId id="280" r:id="rId22"/>
    <p:sldId id="281" r:id="rId23"/>
    <p:sldId id="282" r:id="rId24"/>
    <p:sldId id="283" r:id="rId25"/>
    <p:sldId id="284" r:id="rId26"/>
    <p:sldId id="286" r:id="rId27"/>
    <p:sldId id="285" r:id="rId28"/>
    <p:sldId id="290" r:id="rId29"/>
    <p:sldId id="287" r:id="rId30"/>
    <p:sldId id="275" r:id="rId31"/>
    <p:sldId id="288" r:id="rId32"/>
    <p:sldId id="289" r:id="rId33"/>
    <p:sldId id="297" r:id="rId34"/>
    <p:sldId id="299" r:id="rId35"/>
    <p:sldId id="258" r:id="rId36"/>
    <p:sldId id="302" r:id="rId3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itchFamily="34" charset="0"/>
        <a:ea typeface="+mn-ea"/>
        <a:cs typeface="Arial" pitchFamily="34" charset="0"/>
      </a:defRPr>
    </a:lvl2pPr>
    <a:lvl3pPr marL="914400" algn="l" rtl="0" eaLnBrk="0" fontAlgn="base" hangingPunct="0">
      <a:spcBef>
        <a:spcPct val="0"/>
      </a:spcBef>
      <a:spcAft>
        <a:spcPct val="0"/>
      </a:spcAft>
      <a:defRPr kern="1200">
        <a:solidFill>
          <a:schemeClr val="tx1"/>
        </a:solidFill>
        <a:latin typeface="Arial" pitchFamily="34" charset="0"/>
        <a:ea typeface="+mn-ea"/>
        <a:cs typeface="Arial" pitchFamily="34" charset="0"/>
      </a:defRPr>
    </a:lvl3pPr>
    <a:lvl4pPr marL="1371600" algn="l" rtl="0" eaLnBrk="0" fontAlgn="base" hangingPunct="0">
      <a:spcBef>
        <a:spcPct val="0"/>
      </a:spcBef>
      <a:spcAft>
        <a:spcPct val="0"/>
      </a:spcAft>
      <a:defRPr kern="1200">
        <a:solidFill>
          <a:schemeClr val="tx1"/>
        </a:solidFill>
        <a:latin typeface="Arial" pitchFamily="34" charset="0"/>
        <a:ea typeface="+mn-ea"/>
        <a:cs typeface="Arial" pitchFamily="34" charset="0"/>
      </a:defRPr>
    </a:lvl4pPr>
    <a:lvl5pPr marL="1828800" algn="l" rtl="0" eaLnBrk="0" fontAlgn="base" hangingPunct="0">
      <a:spcBef>
        <a:spcPct val="0"/>
      </a:spcBef>
      <a:spcAft>
        <a:spcPct val="0"/>
      </a:spcAft>
      <a:defRPr kern="1200">
        <a:solidFill>
          <a:schemeClr val="tx1"/>
        </a:solidFill>
        <a:latin typeface="Arial" pitchFamily="34" charset="0"/>
        <a:ea typeface="+mn-ea"/>
        <a:cs typeface="Arial" pitchFamily="34" charset="0"/>
      </a:defRPr>
    </a:lvl5pPr>
    <a:lvl6pPr marL="2286000" algn="r" defTabSz="914400" rtl="1" eaLnBrk="1" latinLnBrk="0" hangingPunct="1">
      <a:defRPr kern="1200">
        <a:solidFill>
          <a:schemeClr val="tx1"/>
        </a:solidFill>
        <a:latin typeface="Arial" pitchFamily="34" charset="0"/>
        <a:ea typeface="+mn-ea"/>
        <a:cs typeface="Arial" pitchFamily="34" charset="0"/>
      </a:defRPr>
    </a:lvl6pPr>
    <a:lvl7pPr marL="2743200" algn="r" defTabSz="914400" rtl="1" eaLnBrk="1" latinLnBrk="0" hangingPunct="1">
      <a:defRPr kern="1200">
        <a:solidFill>
          <a:schemeClr val="tx1"/>
        </a:solidFill>
        <a:latin typeface="Arial" pitchFamily="34" charset="0"/>
        <a:ea typeface="+mn-ea"/>
        <a:cs typeface="Arial" pitchFamily="34" charset="0"/>
      </a:defRPr>
    </a:lvl7pPr>
    <a:lvl8pPr marL="3200400" algn="r" defTabSz="914400" rtl="1" eaLnBrk="1" latinLnBrk="0" hangingPunct="1">
      <a:defRPr kern="1200">
        <a:solidFill>
          <a:schemeClr val="tx1"/>
        </a:solidFill>
        <a:latin typeface="Arial" pitchFamily="34" charset="0"/>
        <a:ea typeface="+mn-ea"/>
        <a:cs typeface="Arial" pitchFamily="34" charset="0"/>
      </a:defRPr>
    </a:lvl8pPr>
    <a:lvl9pPr marL="3657600" algn="r" defTabSz="914400" rtl="1" eaLnBrk="1" latinLnBrk="0" hangingPunct="1">
      <a:defRPr kern="1200">
        <a:solidFill>
          <a:schemeClr val="tx1"/>
        </a:solidFill>
        <a:latin typeface="Arial" pitchFamily="34" charset="0"/>
        <a:ea typeface="+mn-ea"/>
        <a:cs typeface="Arial" pitchFamily="34"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415" autoAdjust="0"/>
    <p:restoredTop sz="90143" autoAdjust="0"/>
  </p:normalViewPr>
  <p:slideViewPr>
    <p:cSldViewPr>
      <p:cViewPr varScale="1">
        <p:scale>
          <a:sx n="62" d="100"/>
          <a:sy n="62" d="100"/>
        </p:scale>
        <p:origin x="-1476" y="-7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F314D146-CE33-446D-91C4-F14303D5A41F}" type="datetimeFigureOut">
              <a:rPr lang="en-US"/>
              <a:pPr>
                <a:defRPr/>
              </a:pPr>
              <a:t>11/13/2020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itchFamily="34" charset="0"/>
              </a:defRPr>
            </a:lvl1pPr>
          </a:lstStyle>
          <a:p>
            <a:fld id="{24ECD02D-8EF0-40EF-A3E2-950A61C46DDC}" type="slidenum">
              <a:rPr lang="en-US" altLang="ar-JO"/>
              <a:pPr/>
              <a:t>‹#›</a:t>
            </a:fld>
            <a:endParaRPr lang="en-US" altLang="ar-JO"/>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p:cNvSpPr>
            <a:spLocks noGrp="1" noRot="1" noChangeAspect="1" noChangeArrowheads="1" noTextEdit="1"/>
          </p:cNvSpPr>
          <p:nvPr>
            <p:ph type="sldImg"/>
          </p:nvPr>
        </p:nvSpPr>
        <p:spPr bwMode="auto">
          <a:noFill/>
          <a:ln>
            <a:solidFill>
              <a:srgbClr val="000000"/>
            </a:solidFill>
            <a:miter lim="800000"/>
            <a:headEnd/>
            <a:tailEnd/>
          </a:ln>
        </p:spPr>
      </p:sp>
      <p:sp>
        <p:nvSpPr>
          <p:cNvPr id="5123" name="Notes Placeholder 2"/>
          <p:cNvSpPr>
            <a:spLocks noGrp="1" noChangeArrowheads="1"/>
          </p:cNvSpPr>
          <p:nvPr>
            <p:ph type="body" idx="1"/>
          </p:nvPr>
        </p:nvSpPr>
        <p:spPr bwMode="auto">
          <a:noFill/>
        </p:spPr>
        <p:txBody>
          <a:bodyPr wrap="square" numCol="1" anchor="t" anchorCtr="0" compatLnSpc="1">
            <a:prstTxWarp prst="textNoShape">
              <a:avLst/>
            </a:prstTxWarp>
          </a:bodyPr>
          <a:lstStyle/>
          <a:p>
            <a:pPr rtl="1" eaLnBrk="1" hangingPunct="1"/>
            <a:endParaRPr lang="en-US" altLang="ar-JO" dirty="0" smtClean="0"/>
          </a:p>
        </p:txBody>
      </p:sp>
      <p:sp>
        <p:nvSpPr>
          <p:cNvPr id="5124" name="Slide Number Placeholder 3"/>
          <p:cNvSpPr>
            <a:spLocks noGrp="1" noChangeArrowheads="1"/>
          </p:cNvSpPr>
          <p:nvPr>
            <p:ph type="sldNum" sz="quarter" idx="5"/>
          </p:nvPr>
        </p:nvSpPr>
        <p:spPr bwMode="auto">
          <a:noFill/>
          <a:ln>
            <a:miter lim="800000"/>
            <a:headEnd/>
            <a:tailEnd/>
          </a:ln>
        </p:spPr>
        <p:txBody>
          <a:bodyPr/>
          <a:lstStyle/>
          <a:p>
            <a:fld id="{5CAE6B67-96B7-4C9D-A0D2-718FE8EC98A6}" type="slidenum">
              <a:rPr lang="en-US" altLang="ar-JO"/>
              <a:pPr/>
              <a:t>2</a:t>
            </a:fld>
            <a:endParaRPr lang="en-US" altLang="ar-JO"/>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ChangeArrowheads="1" noTextEdit="1"/>
          </p:cNvSpPr>
          <p:nvPr>
            <p:ph type="sldImg"/>
          </p:nvPr>
        </p:nvSpPr>
        <p:spPr bwMode="auto">
          <a:noFill/>
          <a:ln>
            <a:solidFill>
              <a:srgbClr val="000000"/>
            </a:solidFill>
            <a:miter lim="800000"/>
            <a:headEnd/>
            <a:tailEnd/>
          </a:ln>
        </p:spPr>
      </p:sp>
      <p:sp>
        <p:nvSpPr>
          <p:cNvPr id="7171" name="Notes Placeholder 2"/>
          <p:cNvSpPr>
            <a:spLocks noGrp="1" noChangeArrowheads="1"/>
          </p:cNvSpPr>
          <p:nvPr>
            <p:ph type="body" idx="1"/>
          </p:nvPr>
        </p:nvSpPr>
        <p:spPr bwMode="auto">
          <a:noFill/>
        </p:spPr>
        <p:txBody>
          <a:bodyPr wrap="square" numCol="1" anchor="t" anchorCtr="0" compatLnSpc="1">
            <a:prstTxWarp prst="textNoShape">
              <a:avLst/>
            </a:prstTxWarp>
          </a:bodyPr>
          <a:lstStyle/>
          <a:p>
            <a:pPr rtl="1" eaLnBrk="1" hangingPunct="1"/>
            <a:endParaRPr lang="ar-JO" altLang="ar-JO" dirty="0" smtClean="0"/>
          </a:p>
        </p:txBody>
      </p:sp>
      <p:sp>
        <p:nvSpPr>
          <p:cNvPr id="7172" name="Slide Number Placeholder 3"/>
          <p:cNvSpPr>
            <a:spLocks noGrp="1" noChangeArrowheads="1"/>
          </p:cNvSpPr>
          <p:nvPr>
            <p:ph type="sldNum" sz="quarter" idx="5"/>
          </p:nvPr>
        </p:nvSpPr>
        <p:spPr bwMode="auto">
          <a:noFill/>
          <a:ln>
            <a:miter lim="800000"/>
            <a:headEnd/>
            <a:tailEnd/>
          </a:ln>
        </p:spPr>
        <p:txBody>
          <a:bodyPr/>
          <a:lstStyle/>
          <a:p>
            <a:fld id="{4641AE1B-C701-49F3-A0EC-BF30C672E7D9}" type="slidenum">
              <a:rPr lang="en-US" altLang="ar-JO"/>
              <a:pPr/>
              <a:t>3</a:t>
            </a:fld>
            <a:endParaRPr lang="en-US" altLang="ar-JO"/>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ChangeArrowheads="1" noTextEdit="1"/>
          </p:cNvSpPr>
          <p:nvPr>
            <p:ph type="sldImg"/>
          </p:nvPr>
        </p:nvSpPr>
        <p:spPr bwMode="auto">
          <a:noFill/>
          <a:ln>
            <a:solidFill>
              <a:srgbClr val="000000"/>
            </a:solidFill>
            <a:miter lim="800000"/>
            <a:headEnd/>
            <a:tailEnd/>
          </a:ln>
        </p:spPr>
      </p:sp>
      <p:sp>
        <p:nvSpPr>
          <p:cNvPr id="9219" name="Notes Placeholder 2"/>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altLang="ar-JO" dirty="0" smtClean="0"/>
          </a:p>
        </p:txBody>
      </p:sp>
      <p:sp>
        <p:nvSpPr>
          <p:cNvPr id="9220" name="Slide Number Placeholder 3"/>
          <p:cNvSpPr>
            <a:spLocks noGrp="1" noChangeArrowheads="1"/>
          </p:cNvSpPr>
          <p:nvPr>
            <p:ph type="sldNum" sz="quarter" idx="5"/>
          </p:nvPr>
        </p:nvSpPr>
        <p:spPr bwMode="auto">
          <a:noFill/>
          <a:ln>
            <a:miter lim="800000"/>
            <a:headEnd/>
            <a:tailEnd/>
          </a:ln>
        </p:spPr>
        <p:txBody>
          <a:bodyPr/>
          <a:lstStyle/>
          <a:p>
            <a:fld id="{C5CD6220-E7B8-4108-8EF8-15D968C09369}" type="slidenum">
              <a:rPr lang="en-US" altLang="ar-JO"/>
              <a:pPr/>
              <a:t>4</a:t>
            </a:fld>
            <a:endParaRPr lang="en-US" altLang="ar-JO"/>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ChangeArrowheads="1" noTextEdit="1"/>
          </p:cNvSpPr>
          <p:nvPr>
            <p:ph type="sldImg"/>
          </p:nvPr>
        </p:nvSpPr>
        <p:spPr bwMode="auto">
          <a:noFill/>
          <a:ln>
            <a:solidFill>
              <a:srgbClr val="000000"/>
            </a:solidFill>
            <a:miter lim="800000"/>
            <a:headEnd/>
            <a:tailEnd/>
          </a:ln>
        </p:spPr>
      </p:sp>
      <p:sp>
        <p:nvSpPr>
          <p:cNvPr id="11267" name="Notes Placeholder 2"/>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ar-JO" altLang="ar-JO" dirty="0" smtClean="0"/>
          </a:p>
        </p:txBody>
      </p:sp>
      <p:sp>
        <p:nvSpPr>
          <p:cNvPr id="11268" name="Slide Number Placeholder 3"/>
          <p:cNvSpPr>
            <a:spLocks noGrp="1" noChangeArrowheads="1"/>
          </p:cNvSpPr>
          <p:nvPr>
            <p:ph type="sldNum" sz="quarter" idx="5"/>
          </p:nvPr>
        </p:nvSpPr>
        <p:spPr bwMode="auto">
          <a:noFill/>
          <a:ln>
            <a:miter lim="800000"/>
            <a:headEnd/>
            <a:tailEnd/>
          </a:ln>
        </p:spPr>
        <p:txBody>
          <a:bodyPr/>
          <a:lstStyle/>
          <a:p>
            <a:fld id="{9A2D9BAC-632D-446F-AF82-3E32EF1CEC7E}" type="slidenum">
              <a:rPr lang="en-US" altLang="ar-JO"/>
              <a:pPr/>
              <a:t>5</a:t>
            </a:fld>
            <a:endParaRPr lang="en-US" altLang="ar-JO"/>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ChangeArrowheads="1" noTextEdit="1"/>
          </p:cNvSpPr>
          <p:nvPr>
            <p:ph type="sldImg"/>
          </p:nvPr>
        </p:nvSpPr>
        <p:spPr bwMode="auto">
          <a:noFill/>
          <a:ln>
            <a:solidFill>
              <a:srgbClr val="000000"/>
            </a:solidFill>
            <a:miter lim="800000"/>
            <a:headEnd/>
            <a:tailEnd/>
          </a:ln>
        </p:spPr>
      </p:sp>
      <p:sp>
        <p:nvSpPr>
          <p:cNvPr id="14339" name="Notes Placeholder 2"/>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ar-JO" altLang="ar-JO" dirty="0" smtClean="0"/>
          </a:p>
        </p:txBody>
      </p:sp>
      <p:sp>
        <p:nvSpPr>
          <p:cNvPr id="14340" name="Slide Number Placeholder 3"/>
          <p:cNvSpPr>
            <a:spLocks noGrp="1" noChangeArrowheads="1"/>
          </p:cNvSpPr>
          <p:nvPr>
            <p:ph type="sldNum" sz="quarter" idx="5"/>
          </p:nvPr>
        </p:nvSpPr>
        <p:spPr bwMode="auto">
          <a:noFill/>
          <a:ln>
            <a:miter lim="800000"/>
            <a:headEnd/>
            <a:tailEnd/>
          </a:ln>
        </p:spPr>
        <p:txBody>
          <a:bodyPr/>
          <a:lstStyle/>
          <a:p>
            <a:fld id="{48256B28-FAE9-4A4E-BFAE-17CD1DFEF0EA}" type="slidenum">
              <a:rPr lang="en-US" altLang="ar-JO"/>
              <a:pPr/>
              <a:t>7</a:t>
            </a:fld>
            <a:endParaRPr lang="en-US" altLang="ar-JO"/>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bwMode="auto">
          <a:noFill/>
          <a:ln>
            <a:solidFill>
              <a:srgbClr val="000000"/>
            </a:solidFill>
            <a:miter lim="800000"/>
            <a:headEnd/>
            <a:tailEnd/>
          </a:ln>
        </p:spPr>
      </p:sp>
      <p:sp>
        <p:nvSpPr>
          <p:cNvPr id="1638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ar-JO" altLang="ar-JO" dirty="0" smtClean="0"/>
          </a:p>
        </p:txBody>
      </p:sp>
      <p:sp>
        <p:nvSpPr>
          <p:cNvPr id="16388" name="Slide Number Placeholder 3"/>
          <p:cNvSpPr>
            <a:spLocks noGrp="1"/>
          </p:cNvSpPr>
          <p:nvPr>
            <p:ph type="sldNum" sz="quarter" idx="5"/>
          </p:nvPr>
        </p:nvSpPr>
        <p:spPr bwMode="auto">
          <a:noFill/>
          <a:ln>
            <a:miter lim="800000"/>
            <a:headEnd/>
            <a:tailEnd/>
          </a:ln>
        </p:spPr>
        <p:txBody>
          <a:bodyPr/>
          <a:lstStyle/>
          <a:p>
            <a:fld id="{CC966D87-4182-4783-923C-19E863B7E824}" type="slidenum">
              <a:rPr lang="en-US" altLang="ar-JO"/>
              <a:pPr/>
              <a:t>8</a:t>
            </a:fld>
            <a:endParaRPr lang="en-US" altLang="ar-JO"/>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ChangeArrowheads="1" noTextEdit="1"/>
          </p:cNvSpPr>
          <p:nvPr>
            <p:ph type="sldImg"/>
          </p:nvPr>
        </p:nvSpPr>
        <p:spPr bwMode="auto">
          <a:noFill/>
          <a:ln>
            <a:solidFill>
              <a:srgbClr val="000000"/>
            </a:solidFill>
            <a:miter lim="800000"/>
            <a:headEnd/>
            <a:tailEnd/>
          </a:ln>
        </p:spPr>
      </p:sp>
      <p:sp>
        <p:nvSpPr>
          <p:cNvPr id="18435" name="Notes Placeholder 2"/>
          <p:cNvSpPr>
            <a:spLocks noGrp="1" noChangeArrowheads="1"/>
          </p:cNvSpPr>
          <p:nvPr>
            <p:ph type="body" idx="1"/>
          </p:nvPr>
        </p:nvSpPr>
        <p:spPr bwMode="auto">
          <a:noFill/>
        </p:spPr>
        <p:txBody>
          <a:bodyPr wrap="square" numCol="1" anchor="t" anchorCtr="0" compatLnSpc="1">
            <a:prstTxWarp prst="textNoShape">
              <a:avLst/>
            </a:prstTxWarp>
          </a:bodyPr>
          <a:lstStyle/>
          <a:p>
            <a:endParaRPr lang="ar-JO" altLang="ar-JO" dirty="0" smtClean="0"/>
          </a:p>
        </p:txBody>
      </p:sp>
      <p:sp>
        <p:nvSpPr>
          <p:cNvPr id="18436" name="Slide Number Placeholder 3"/>
          <p:cNvSpPr>
            <a:spLocks noGrp="1" noChangeArrowheads="1"/>
          </p:cNvSpPr>
          <p:nvPr>
            <p:ph type="sldNum" sz="quarter" idx="5"/>
          </p:nvPr>
        </p:nvSpPr>
        <p:spPr bwMode="auto">
          <a:noFill/>
          <a:ln>
            <a:miter lim="800000"/>
            <a:headEnd/>
            <a:tailEnd/>
          </a:ln>
        </p:spPr>
        <p:txBody>
          <a:bodyPr/>
          <a:lstStyle/>
          <a:p>
            <a:fld id="{B26D546A-837E-45A4-840D-11F2C66597B0}" type="slidenum">
              <a:rPr lang="en-US" altLang="ar-JO"/>
              <a:pPr/>
              <a:t>9</a:t>
            </a:fld>
            <a:endParaRPr lang="en-US" altLang="ar-JO"/>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ChangeArrowheads="1" noTextEdit="1"/>
          </p:cNvSpPr>
          <p:nvPr>
            <p:ph type="sldImg"/>
          </p:nvPr>
        </p:nvSpPr>
        <p:spPr bwMode="auto">
          <a:noFill/>
          <a:ln>
            <a:solidFill>
              <a:srgbClr val="000000"/>
            </a:solidFill>
            <a:miter lim="800000"/>
            <a:headEnd/>
            <a:tailEnd/>
          </a:ln>
        </p:spPr>
      </p:sp>
      <p:sp>
        <p:nvSpPr>
          <p:cNvPr id="20483" name="Notes Placeholder 2"/>
          <p:cNvSpPr>
            <a:spLocks noGrp="1" noChangeArrowheads="1"/>
          </p:cNvSpPr>
          <p:nvPr>
            <p:ph type="body" idx="1"/>
          </p:nvPr>
        </p:nvSpPr>
        <p:spPr bwMode="auto"/>
        <p:txBody>
          <a:bodyPr wrap="square" numCol="1" anchor="t" anchorCtr="0" compatLnSpc="1">
            <a:prstTxWarp prst="textNoShape">
              <a:avLst/>
            </a:prstTxWarp>
            <a:normAutofit lnSpcReduction="10000"/>
          </a:bodyPr>
          <a:lstStyle/>
          <a:p>
            <a:pPr>
              <a:defRPr/>
            </a:pPr>
            <a:endParaRPr lang="ar-JO" altLang="ar-JO" dirty="0"/>
          </a:p>
        </p:txBody>
      </p:sp>
      <p:sp>
        <p:nvSpPr>
          <p:cNvPr id="20484" name="Slide Number Placeholder 3"/>
          <p:cNvSpPr>
            <a:spLocks noGrp="1" noChangeArrowheads="1"/>
          </p:cNvSpPr>
          <p:nvPr>
            <p:ph type="sldNum" sz="quarter" idx="5"/>
          </p:nvPr>
        </p:nvSpPr>
        <p:spPr bwMode="auto">
          <a:noFill/>
          <a:ln>
            <a:miter lim="800000"/>
            <a:headEnd/>
            <a:tailEnd/>
          </a:ln>
        </p:spPr>
        <p:txBody>
          <a:bodyPr/>
          <a:lstStyle/>
          <a:p>
            <a:fld id="{3E032E96-2028-4B5D-A787-BDD7545D2573}" type="slidenum">
              <a:rPr lang="en-US" altLang="ar-JO"/>
              <a:pPr/>
              <a:t>10</a:t>
            </a:fld>
            <a:endParaRPr lang="en-US" altLang="ar-JO"/>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p:spPr>
      </p:sp>
      <p:sp>
        <p:nvSpPr>
          <p:cNvPr id="22531" name="Notes Placeholder 2"/>
          <p:cNvSpPr>
            <a:spLocks noGrp="1" noChangeArrowheads="1"/>
          </p:cNvSpPr>
          <p:nvPr>
            <p:ph type="body" idx="1"/>
          </p:nvPr>
        </p:nvSpPr>
        <p:spPr bwMode="auto">
          <a:noFill/>
        </p:spPr>
        <p:txBody>
          <a:bodyPr wrap="square" numCol="1" anchor="t" anchorCtr="0" compatLnSpc="1">
            <a:prstTxWarp prst="textNoShape">
              <a:avLst/>
            </a:prstTxWarp>
          </a:bodyPr>
          <a:lstStyle/>
          <a:p>
            <a:endParaRPr lang="ar-JO" smtClean="0"/>
          </a:p>
        </p:txBody>
      </p:sp>
      <p:sp>
        <p:nvSpPr>
          <p:cNvPr id="22532" name="Slide Number Placeholder 3"/>
          <p:cNvSpPr>
            <a:spLocks noGrp="1" noChangeArrowheads="1"/>
          </p:cNvSpPr>
          <p:nvPr>
            <p:ph type="sldNum" sz="quarter" idx="5"/>
          </p:nvPr>
        </p:nvSpPr>
        <p:spPr bwMode="auto">
          <a:noFill/>
          <a:ln>
            <a:miter lim="800000"/>
            <a:headEnd/>
            <a:tailEnd/>
          </a:ln>
        </p:spPr>
        <p:txBody>
          <a:bodyPr/>
          <a:lstStyle/>
          <a:p>
            <a:fld id="{E22975A4-72B1-40CA-8D80-C98212133346}" type="slidenum">
              <a:rPr lang="en-US" altLang="ar-JO"/>
              <a:pPr/>
              <a:t>11</a:t>
            </a:fld>
            <a:endParaRPr lang="en-US" altLang="ar-JO"/>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ChangeArrowheads="1" noTextEdit="1"/>
          </p:cNvSpPr>
          <p:nvPr>
            <p:ph type="sldImg"/>
          </p:nvPr>
        </p:nvSpPr>
        <p:spPr bwMode="auto">
          <a:noFill/>
          <a:ln>
            <a:solidFill>
              <a:srgbClr val="000000"/>
            </a:solidFill>
            <a:miter lim="800000"/>
            <a:headEnd/>
            <a:tailEnd/>
          </a:ln>
        </p:spPr>
      </p:sp>
      <p:sp>
        <p:nvSpPr>
          <p:cNvPr id="24579" name="Notes Placeholder 2"/>
          <p:cNvSpPr>
            <a:spLocks noGrp="1" noChangeArrowheads="1"/>
          </p:cNvSpPr>
          <p:nvPr>
            <p:ph type="body" idx="1"/>
          </p:nvPr>
        </p:nvSpPr>
        <p:spPr bwMode="auto">
          <a:noFill/>
        </p:spPr>
        <p:txBody>
          <a:bodyPr wrap="square" numCol="1" anchor="t" anchorCtr="0" compatLnSpc="1">
            <a:prstTxWarp prst="textNoShape">
              <a:avLst/>
            </a:prstTxWarp>
          </a:bodyPr>
          <a:lstStyle/>
          <a:p>
            <a:endParaRPr lang="ar-JO" altLang="ar-JO" dirty="0" smtClean="0"/>
          </a:p>
        </p:txBody>
      </p:sp>
      <p:sp>
        <p:nvSpPr>
          <p:cNvPr id="24580" name="Slide Number Placeholder 3"/>
          <p:cNvSpPr>
            <a:spLocks noGrp="1" noChangeArrowheads="1"/>
          </p:cNvSpPr>
          <p:nvPr>
            <p:ph type="sldNum" sz="quarter" idx="5"/>
          </p:nvPr>
        </p:nvSpPr>
        <p:spPr bwMode="auto">
          <a:noFill/>
          <a:ln>
            <a:miter lim="800000"/>
            <a:headEnd/>
            <a:tailEnd/>
          </a:ln>
        </p:spPr>
        <p:txBody>
          <a:bodyPr/>
          <a:lstStyle/>
          <a:p>
            <a:fld id="{12766334-7194-4EDC-95DA-089879AB0B85}" type="slidenum">
              <a:rPr lang="en-US" altLang="ar-JO"/>
              <a:pPr/>
              <a:t>12</a:t>
            </a:fld>
            <a:endParaRPr lang="en-US" altLang="ar-JO"/>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bwMode="auto">
          <a:noFill/>
          <a:ln>
            <a:miter lim="800000"/>
            <a:headEnd/>
            <a:tailEnd/>
          </a:ln>
        </p:spPr>
        <p:txBody>
          <a:bodyPr/>
          <a:lstStyle/>
          <a:p>
            <a:fld id="{B35C712A-D605-4445-8F4B-6650AC34B327}" type="slidenum">
              <a:rPr lang="en-US" altLang="ar-JO"/>
              <a:pPr/>
              <a:t>13</a:t>
            </a:fld>
            <a:endParaRPr lang="en-US" altLang="ar-JO"/>
          </a:p>
        </p:txBody>
      </p:sp>
      <p:sp>
        <p:nvSpPr>
          <p:cNvPr id="2662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662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ar-JO" altLang="ar-JO" dirty="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bwMode="auto">
          <a:noFill/>
          <a:ln>
            <a:miter lim="800000"/>
            <a:headEnd/>
            <a:tailEnd/>
          </a:ln>
        </p:spPr>
        <p:txBody>
          <a:bodyPr/>
          <a:lstStyle/>
          <a:p>
            <a:fld id="{B542EFD3-68A7-4F9C-940B-E426916BC435}" type="slidenum">
              <a:rPr lang="en-US" altLang="ar-JO"/>
              <a:pPr/>
              <a:t>14</a:t>
            </a:fld>
            <a:endParaRPr lang="en-US" altLang="ar-JO"/>
          </a:p>
        </p:txBody>
      </p:sp>
      <p:sp>
        <p:nvSpPr>
          <p:cNvPr id="28675" name="Rectangle 2"/>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28676" name="Rectangle 3"/>
          <p:cNvSpPr>
            <a:spLocks noGrp="1"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altLang="ar-JO" dirty="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bwMode="auto">
          <a:noFill/>
          <a:ln>
            <a:miter lim="800000"/>
            <a:headEnd/>
            <a:tailEnd/>
          </a:ln>
        </p:spPr>
        <p:txBody>
          <a:bodyPr/>
          <a:lstStyle/>
          <a:p>
            <a:fld id="{F9BF8B91-14A3-42E3-A2B2-D48F2CBFBE4D}" type="slidenum">
              <a:rPr lang="en-US" altLang="ar-JO"/>
              <a:pPr/>
              <a:t>15</a:t>
            </a:fld>
            <a:endParaRPr lang="en-US" altLang="ar-JO"/>
          </a:p>
        </p:txBody>
      </p:sp>
      <p:sp>
        <p:nvSpPr>
          <p:cNvPr id="3072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072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ar-JO" altLang="ar-JO" dirty="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bwMode="auto">
          <a:noFill/>
          <a:ln>
            <a:miter lim="800000"/>
            <a:headEnd/>
            <a:tailEnd/>
          </a:ln>
        </p:spPr>
        <p:txBody>
          <a:bodyPr/>
          <a:lstStyle/>
          <a:p>
            <a:fld id="{CBD24568-44C4-4F16-999E-F21554B088D0}" type="slidenum">
              <a:rPr lang="en-US" altLang="ar-JO"/>
              <a:pPr/>
              <a:t>16</a:t>
            </a:fld>
            <a:endParaRPr lang="en-US" altLang="ar-JO"/>
          </a:p>
        </p:txBody>
      </p:sp>
      <p:sp>
        <p:nvSpPr>
          <p:cNvPr id="3277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277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ar-JO" altLang="ar-JO" dirty="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bwMode="auto">
          <a:noFill/>
          <a:ln>
            <a:miter lim="800000"/>
            <a:headEnd/>
            <a:tailEnd/>
          </a:ln>
        </p:spPr>
        <p:txBody>
          <a:bodyPr/>
          <a:lstStyle/>
          <a:p>
            <a:fld id="{5C68EA59-F6CE-48DF-BB17-5813FCA0AF7B}" type="slidenum">
              <a:rPr lang="en-US" altLang="ar-JO"/>
              <a:pPr/>
              <a:t>17</a:t>
            </a:fld>
            <a:endParaRPr lang="en-US" altLang="ar-JO"/>
          </a:p>
        </p:txBody>
      </p:sp>
      <p:sp>
        <p:nvSpPr>
          <p:cNvPr id="3481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482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ar-JO" altLang="ar-JO"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ChangeArrowheads="1" noTextEdit="1"/>
          </p:cNvSpPr>
          <p:nvPr>
            <p:ph type="sldImg"/>
          </p:nvPr>
        </p:nvSpPr>
        <p:spPr bwMode="auto">
          <a:noFill/>
          <a:ln>
            <a:solidFill>
              <a:srgbClr val="000000"/>
            </a:solidFill>
            <a:miter lim="800000"/>
            <a:headEnd/>
            <a:tailEnd/>
          </a:ln>
        </p:spPr>
      </p:sp>
      <p:sp>
        <p:nvSpPr>
          <p:cNvPr id="36867" name="Notes Placeholder 2"/>
          <p:cNvSpPr>
            <a:spLocks noGrp="1" noChangeArrowheads="1"/>
          </p:cNvSpPr>
          <p:nvPr>
            <p:ph type="body" idx="1"/>
          </p:nvPr>
        </p:nvSpPr>
        <p:spPr bwMode="auto">
          <a:noFill/>
        </p:spPr>
        <p:txBody>
          <a:bodyPr wrap="square" numCol="1" anchor="t" anchorCtr="0" compatLnSpc="1">
            <a:prstTxWarp prst="textNoShape">
              <a:avLst/>
            </a:prstTxWarp>
          </a:bodyPr>
          <a:lstStyle/>
          <a:p>
            <a:endParaRPr lang="ar-JO" altLang="ar-JO" dirty="0" smtClean="0"/>
          </a:p>
        </p:txBody>
      </p:sp>
      <p:sp>
        <p:nvSpPr>
          <p:cNvPr id="36868" name="Slide Number Placeholder 3"/>
          <p:cNvSpPr>
            <a:spLocks noGrp="1" noChangeArrowheads="1"/>
          </p:cNvSpPr>
          <p:nvPr>
            <p:ph type="sldNum" sz="quarter" idx="5"/>
          </p:nvPr>
        </p:nvSpPr>
        <p:spPr bwMode="auto">
          <a:noFill/>
          <a:ln>
            <a:miter lim="800000"/>
            <a:headEnd/>
            <a:tailEnd/>
          </a:ln>
        </p:spPr>
        <p:txBody>
          <a:bodyPr/>
          <a:lstStyle/>
          <a:p>
            <a:fld id="{AAAE18E9-18A1-45A6-BD83-62606F408F33}" type="slidenum">
              <a:rPr lang="en-US" altLang="ar-JO"/>
              <a:pPr/>
              <a:t>18</a:t>
            </a:fld>
            <a:endParaRPr lang="en-US" altLang="ar-JO"/>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bwMode="auto">
          <a:noFill/>
          <a:ln>
            <a:miter lim="800000"/>
            <a:headEnd/>
            <a:tailEnd/>
          </a:ln>
        </p:spPr>
        <p:txBody>
          <a:bodyPr/>
          <a:lstStyle/>
          <a:p>
            <a:fld id="{FE815AB9-8329-4747-BF60-2EDCEA00A6C5}" type="slidenum">
              <a:rPr lang="en-US" altLang="ar-JO"/>
              <a:pPr/>
              <a:t>19</a:t>
            </a:fld>
            <a:endParaRPr lang="en-US" altLang="ar-JO"/>
          </a:p>
        </p:txBody>
      </p:sp>
      <p:sp>
        <p:nvSpPr>
          <p:cNvPr id="3891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891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ar-JO" altLang="ar-JO"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bwMode="auto">
          <a:noFill/>
          <a:ln>
            <a:miter lim="800000"/>
            <a:headEnd/>
            <a:tailEnd/>
          </a:ln>
        </p:spPr>
        <p:txBody>
          <a:bodyPr/>
          <a:lstStyle/>
          <a:p>
            <a:fld id="{195D718A-6C0C-4186-A7EB-6B8A53146D82}" type="slidenum">
              <a:rPr lang="en-US" altLang="ar-JO"/>
              <a:pPr/>
              <a:t>20</a:t>
            </a:fld>
            <a:endParaRPr lang="en-US" altLang="ar-JO"/>
          </a:p>
        </p:txBody>
      </p:sp>
      <p:sp>
        <p:nvSpPr>
          <p:cNvPr id="4096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096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ar-JO" altLang="ar-JO"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ChangeArrowheads="1" noTextEdit="1"/>
          </p:cNvSpPr>
          <p:nvPr>
            <p:ph type="sldImg"/>
          </p:nvPr>
        </p:nvSpPr>
        <p:spPr bwMode="auto">
          <a:noFill/>
          <a:ln>
            <a:solidFill>
              <a:srgbClr val="000000"/>
            </a:solidFill>
            <a:miter lim="800000"/>
            <a:headEnd/>
            <a:tailEnd/>
          </a:ln>
        </p:spPr>
      </p:sp>
      <p:sp>
        <p:nvSpPr>
          <p:cNvPr id="43011" name="Notes Placeholder 2"/>
          <p:cNvSpPr>
            <a:spLocks noGrp="1" noChangeArrowheads="1"/>
          </p:cNvSpPr>
          <p:nvPr>
            <p:ph type="body" idx="1"/>
          </p:nvPr>
        </p:nvSpPr>
        <p:spPr bwMode="auto">
          <a:noFill/>
        </p:spPr>
        <p:txBody>
          <a:bodyPr wrap="square" numCol="1" anchor="t" anchorCtr="0" compatLnSpc="1">
            <a:prstTxWarp prst="textNoShape">
              <a:avLst/>
            </a:prstTxWarp>
          </a:bodyPr>
          <a:lstStyle/>
          <a:p>
            <a:endParaRPr lang="en-US" dirty="0" smtClean="0"/>
          </a:p>
        </p:txBody>
      </p:sp>
      <p:sp>
        <p:nvSpPr>
          <p:cNvPr id="43012" name="Slide Number Placeholder 3"/>
          <p:cNvSpPr>
            <a:spLocks noGrp="1" noChangeArrowheads="1"/>
          </p:cNvSpPr>
          <p:nvPr>
            <p:ph type="sldNum" sz="quarter" idx="5"/>
          </p:nvPr>
        </p:nvSpPr>
        <p:spPr bwMode="auto">
          <a:noFill/>
          <a:ln>
            <a:miter lim="800000"/>
            <a:headEnd/>
            <a:tailEnd/>
          </a:ln>
        </p:spPr>
        <p:txBody>
          <a:bodyPr/>
          <a:lstStyle/>
          <a:p>
            <a:fld id="{3B38D3B0-295B-4EE7-924C-A6009712F027}" type="slidenum">
              <a:rPr lang="en-US" altLang="ar-JO"/>
              <a:pPr/>
              <a:t>21</a:t>
            </a:fld>
            <a:endParaRPr lang="en-US" altLang="ar-JO"/>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ChangeArrowheads="1" noTextEdit="1"/>
          </p:cNvSpPr>
          <p:nvPr>
            <p:ph type="sldImg"/>
          </p:nvPr>
        </p:nvSpPr>
        <p:spPr bwMode="auto">
          <a:noFill/>
          <a:ln>
            <a:solidFill>
              <a:srgbClr val="000000"/>
            </a:solidFill>
            <a:miter lim="800000"/>
            <a:headEnd/>
            <a:tailEnd/>
          </a:ln>
        </p:spPr>
      </p:sp>
      <p:sp>
        <p:nvSpPr>
          <p:cNvPr id="45059" name="Notes Placeholder 2"/>
          <p:cNvSpPr>
            <a:spLocks noGrp="1" noChangeArrowheads="1"/>
          </p:cNvSpPr>
          <p:nvPr>
            <p:ph type="body" idx="1"/>
          </p:nvPr>
        </p:nvSpPr>
        <p:spPr bwMode="auto">
          <a:noFill/>
        </p:spPr>
        <p:txBody>
          <a:bodyPr wrap="square" numCol="1" anchor="t" anchorCtr="0" compatLnSpc="1">
            <a:prstTxWarp prst="textNoShape">
              <a:avLst/>
            </a:prstTxWarp>
          </a:bodyPr>
          <a:lstStyle/>
          <a:p>
            <a:endParaRPr lang="ar-JO" altLang="ar-JO" dirty="0" smtClean="0"/>
          </a:p>
        </p:txBody>
      </p:sp>
      <p:sp>
        <p:nvSpPr>
          <p:cNvPr id="45060" name="Slide Number Placeholder 3"/>
          <p:cNvSpPr>
            <a:spLocks noGrp="1" noChangeArrowheads="1"/>
          </p:cNvSpPr>
          <p:nvPr>
            <p:ph type="sldNum" sz="quarter" idx="5"/>
          </p:nvPr>
        </p:nvSpPr>
        <p:spPr bwMode="auto">
          <a:noFill/>
          <a:ln>
            <a:miter lim="800000"/>
            <a:headEnd/>
            <a:tailEnd/>
          </a:ln>
        </p:spPr>
        <p:txBody>
          <a:bodyPr/>
          <a:lstStyle/>
          <a:p>
            <a:fld id="{95CC902F-0BE9-4318-B148-1F37D9CF443E}" type="slidenum">
              <a:rPr lang="en-US" altLang="ar-JO"/>
              <a:pPr/>
              <a:t>22</a:t>
            </a:fld>
            <a:endParaRPr lang="en-US" altLang="ar-JO"/>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ChangeArrowheads="1" noTextEdit="1"/>
          </p:cNvSpPr>
          <p:nvPr>
            <p:ph type="sldImg"/>
          </p:nvPr>
        </p:nvSpPr>
        <p:spPr bwMode="auto">
          <a:noFill/>
          <a:ln>
            <a:solidFill>
              <a:srgbClr val="000000"/>
            </a:solidFill>
            <a:miter lim="800000"/>
            <a:headEnd/>
            <a:tailEnd/>
          </a:ln>
        </p:spPr>
      </p:sp>
      <p:sp>
        <p:nvSpPr>
          <p:cNvPr id="47107" name="Notes Placeholder 2"/>
          <p:cNvSpPr>
            <a:spLocks noGrp="1" noChangeArrowheads="1"/>
          </p:cNvSpPr>
          <p:nvPr>
            <p:ph type="body" idx="1"/>
          </p:nvPr>
        </p:nvSpPr>
        <p:spPr bwMode="auto">
          <a:noFill/>
        </p:spPr>
        <p:txBody>
          <a:bodyPr wrap="square" numCol="1" anchor="t" anchorCtr="0" compatLnSpc="1">
            <a:prstTxWarp prst="textNoShape">
              <a:avLst/>
            </a:prstTxWarp>
          </a:bodyPr>
          <a:lstStyle/>
          <a:p>
            <a:endParaRPr lang="ar-JO" altLang="ar-JO" dirty="0" smtClean="0"/>
          </a:p>
        </p:txBody>
      </p:sp>
      <p:sp>
        <p:nvSpPr>
          <p:cNvPr id="47108" name="Slide Number Placeholder 3"/>
          <p:cNvSpPr>
            <a:spLocks noGrp="1" noChangeArrowheads="1"/>
          </p:cNvSpPr>
          <p:nvPr>
            <p:ph type="sldNum" sz="quarter" idx="5"/>
          </p:nvPr>
        </p:nvSpPr>
        <p:spPr bwMode="auto">
          <a:noFill/>
          <a:ln>
            <a:miter lim="800000"/>
            <a:headEnd/>
            <a:tailEnd/>
          </a:ln>
        </p:spPr>
        <p:txBody>
          <a:bodyPr/>
          <a:lstStyle/>
          <a:p>
            <a:fld id="{816AFEC4-12C4-4CA4-8189-7005B2770C97}" type="slidenum">
              <a:rPr lang="en-US" altLang="ar-JO"/>
              <a:pPr/>
              <a:t>23</a:t>
            </a:fld>
            <a:endParaRPr lang="en-US" altLang="ar-JO"/>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ChangeArrowheads="1" noTextEdit="1"/>
          </p:cNvSpPr>
          <p:nvPr>
            <p:ph type="sldImg"/>
          </p:nvPr>
        </p:nvSpPr>
        <p:spPr bwMode="auto">
          <a:noFill/>
          <a:ln>
            <a:solidFill>
              <a:srgbClr val="000000"/>
            </a:solidFill>
            <a:miter lim="800000"/>
            <a:headEnd/>
            <a:tailEnd/>
          </a:ln>
        </p:spPr>
      </p:sp>
      <p:sp>
        <p:nvSpPr>
          <p:cNvPr id="49155" name="Notes Placeholder 2"/>
          <p:cNvSpPr>
            <a:spLocks noGrp="1" noChangeArrowheads="1"/>
          </p:cNvSpPr>
          <p:nvPr>
            <p:ph type="body" idx="1"/>
          </p:nvPr>
        </p:nvSpPr>
        <p:spPr bwMode="auto">
          <a:noFill/>
        </p:spPr>
        <p:txBody>
          <a:bodyPr wrap="square" numCol="1" anchor="t" anchorCtr="0" compatLnSpc="1">
            <a:prstTxWarp prst="textNoShape">
              <a:avLst/>
            </a:prstTxWarp>
          </a:bodyPr>
          <a:lstStyle/>
          <a:p>
            <a:endParaRPr lang="ar-JO" altLang="ar-JO" dirty="0" smtClean="0"/>
          </a:p>
        </p:txBody>
      </p:sp>
      <p:sp>
        <p:nvSpPr>
          <p:cNvPr id="49156" name="Slide Number Placeholder 3"/>
          <p:cNvSpPr>
            <a:spLocks noGrp="1" noChangeArrowheads="1"/>
          </p:cNvSpPr>
          <p:nvPr>
            <p:ph type="sldNum" sz="quarter" idx="5"/>
          </p:nvPr>
        </p:nvSpPr>
        <p:spPr bwMode="auto">
          <a:noFill/>
          <a:ln>
            <a:miter lim="800000"/>
            <a:headEnd/>
            <a:tailEnd/>
          </a:ln>
        </p:spPr>
        <p:txBody>
          <a:bodyPr/>
          <a:lstStyle/>
          <a:p>
            <a:fld id="{FE628F28-BD04-4F9E-9FB9-9A1F5C0BE766}" type="slidenum">
              <a:rPr lang="en-US" altLang="ar-JO"/>
              <a:pPr/>
              <a:t>24</a:t>
            </a:fld>
            <a:endParaRPr lang="en-US" altLang="ar-JO"/>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ChangeArrowheads="1" noTextEdit="1"/>
          </p:cNvSpPr>
          <p:nvPr>
            <p:ph type="sldImg"/>
          </p:nvPr>
        </p:nvSpPr>
        <p:spPr bwMode="auto">
          <a:noFill/>
          <a:ln>
            <a:solidFill>
              <a:srgbClr val="000000"/>
            </a:solidFill>
            <a:miter lim="800000"/>
            <a:headEnd/>
            <a:tailEnd/>
          </a:ln>
        </p:spPr>
      </p:sp>
      <p:sp>
        <p:nvSpPr>
          <p:cNvPr id="51203" name="Notes Placeholder 2"/>
          <p:cNvSpPr>
            <a:spLocks noGrp="1" noChangeArrowheads="1"/>
          </p:cNvSpPr>
          <p:nvPr>
            <p:ph type="body" idx="1"/>
          </p:nvPr>
        </p:nvSpPr>
        <p:spPr bwMode="auto">
          <a:noFill/>
        </p:spPr>
        <p:txBody>
          <a:bodyPr wrap="square" numCol="1" anchor="t" anchorCtr="0" compatLnSpc="1">
            <a:prstTxWarp prst="textNoShape">
              <a:avLst/>
            </a:prstTxWarp>
          </a:bodyPr>
          <a:lstStyle/>
          <a:p>
            <a:endParaRPr lang="ar-JO" altLang="ar-JO" dirty="0" smtClean="0"/>
          </a:p>
        </p:txBody>
      </p:sp>
      <p:sp>
        <p:nvSpPr>
          <p:cNvPr id="51204" name="Slide Number Placeholder 3"/>
          <p:cNvSpPr>
            <a:spLocks noGrp="1" noChangeArrowheads="1"/>
          </p:cNvSpPr>
          <p:nvPr>
            <p:ph type="sldNum" sz="quarter" idx="5"/>
          </p:nvPr>
        </p:nvSpPr>
        <p:spPr bwMode="auto">
          <a:noFill/>
          <a:ln>
            <a:miter lim="800000"/>
            <a:headEnd/>
            <a:tailEnd/>
          </a:ln>
        </p:spPr>
        <p:txBody>
          <a:bodyPr/>
          <a:lstStyle/>
          <a:p>
            <a:fld id="{69488C41-1F34-4511-A6A1-69AD6B7E4983}" type="slidenum">
              <a:rPr lang="en-US" altLang="ar-JO"/>
              <a:pPr/>
              <a:t>25</a:t>
            </a:fld>
            <a:endParaRPr lang="en-US" altLang="ar-JO"/>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ChangeArrowheads="1" noTextEdit="1"/>
          </p:cNvSpPr>
          <p:nvPr>
            <p:ph type="sldImg"/>
          </p:nvPr>
        </p:nvSpPr>
        <p:spPr bwMode="auto">
          <a:noFill/>
          <a:ln>
            <a:solidFill>
              <a:srgbClr val="000000"/>
            </a:solidFill>
            <a:miter lim="800000"/>
            <a:headEnd/>
            <a:tailEnd/>
          </a:ln>
        </p:spPr>
      </p:sp>
      <p:sp>
        <p:nvSpPr>
          <p:cNvPr id="53251" name="Notes Placeholder 2"/>
          <p:cNvSpPr>
            <a:spLocks noGrp="1" noChangeArrowheads="1"/>
          </p:cNvSpPr>
          <p:nvPr>
            <p:ph type="body" idx="1"/>
          </p:nvPr>
        </p:nvSpPr>
        <p:spPr bwMode="auto">
          <a:noFill/>
        </p:spPr>
        <p:txBody>
          <a:bodyPr wrap="square" numCol="1" anchor="t" anchorCtr="0" compatLnSpc="1">
            <a:prstTxWarp prst="textNoShape">
              <a:avLst/>
            </a:prstTxWarp>
          </a:bodyPr>
          <a:lstStyle/>
          <a:p>
            <a:endParaRPr lang="ar-JO" altLang="ar-JO" dirty="0" smtClean="0"/>
          </a:p>
        </p:txBody>
      </p:sp>
      <p:sp>
        <p:nvSpPr>
          <p:cNvPr id="53252" name="Slide Number Placeholder 3"/>
          <p:cNvSpPr>
            <a:spLocks noGrp="1" noChangeArrowheads="1"/>
          </p:cNvSpPr>
          <p:nvPr>
            <p:ph type="sldNum" sz="quarter" idx="5"/>
          </p:nvPr>
        </p:nvSpPr>
        <p:spPr bwMode="auto">
          <a:noFill/>
          <a:ln>
            <a:miter lim="800000"/>
            <a:headEnd/>
            <a:tailEnd/>
          </a:ln>
        </p:spPr>
        <p:txBody>
          <a:bodyPr/>
          <a:lstStyle/>
          <a:p>
            <a:fld id="{E1F6634C-9517-4252-8E5F-D6DD76624722}" type="slidenum">
              <a:rPr lang="en-US" altLang="ar-JO"/>
              <a:pPr/>
              <a:t>26</a:t>
            </a:fld>
            <a:endParaRPr lang="en-US" altLang="ar-JO"/>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ChangeArrowheads="1" noTextEdit="1"/>
          </p:cNvSpPr>
          <p:nvPr>
            <p:ph type="sldImg"/>
          </p:nvPr>
        </p:nvSpPr>
        <p:spPr bwMode="auto">
          <a:noFill/>
          <a:ln>
            <a:solidFill>
              <a:srgbClr val="000000"/>
            </a:solidFill>
            <a:miter lim="800000"/>
            <a:headEnd/>
            <a:tailEnd/>
          </a:ln>
        </p:spPr>
      </p:sp>
      <p:sp>
        <p:nvSpPr>
          <p:cNvPr id="55299" name="Notes Placeholder 2"/>
          <p:cNvSpPr>
            <a:spLocks noGrp="1" noChangeArrowheads="1"/>
          </p:cNvSpPr>
          <p:nvPr>
            <p:ph type="body" idx="1"/>
          </p:nvPr>
        </p:nvSpPr>
        <p:spPr bwMode="auto">
          <a:noFill/>
        </p:spPr>
        <p:txBody>
          <a:bodyPr wrap="square" numCol="1" anchor="t" anchorCtr="0" compatLnSpc="1">
            <a:prstTxWarp prst="textNoShape">
              <a:avLst/>
            </a:prstTxWarp>
          </a:bodyPr>
          <a:lstStyle/>
          <a:p>
            <a:endParaRPr lang="ar-JO" altLang="ar-JO" dirty="0" smtClean="0"/>
          </a:p>
        </p:txBody>
      </p:sp>
      <p:sp>
        <p:nvSpPr>
          <p:cNvPr id="55300" name="Slide Number Placeholder 3"/>
          <p:cNvSpPr>
            <a:spLocks noGrp="1" noChangeArrowheads="1"/>
          </p:cNvSpPr>
          <p:nvPr>
            <p:ph type="sldNum" sz="quarter" idx="5"/>
          </p:nvPr>
        </p:nvSpPr>
        <p:spPr bwMode="auto">
          <a:noFill/>
          <a:ln>
            <a:miter lim="800000"/>
            <a:headEnd/>
            <a:tailEnd/>
          </a:ln>
        </p:spPr>
        <p:txBody>
          <a:bodyPr/>
          <a:lstStyle/>
          <a:p>
            <a:fld id="{402408E3-A2BD-476A-834B-1B7610E828AD}" type="slidenum">
              <a:rPr lang="en-US" altLang="ar-JO"/>
              <a:pPr/>
              <a:t>27</a:t>
            </a:fld>
            <a:endParaRPr lang="en-US" altLang="ar-JO"/>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ChangeArrowheads="1" noTextEdit="1"/>
          </p:cNvSpPr>
          <p:nvPr>
            <p:ph type="sldImg"/>
          </p:nvPr>
        </p:nvSpPr>
        <p:spPr bwMode="auto">
          <a:noFill/>
          <a:ln>
            <a:solidFill>
              <a:srgbClr val="000000"/>
            </a:solidFill>
            <a:miter lim="800000"/>
            <a:headEnd/>
            <a:tailEnd/>
          </a:ln>
        </p:spPr>
      </p:sp>
      <p:sp>
        <p:nvSpPr>
          <p:cNvPr id="57347" name="Notes Placeholder 2"/>
          <p:cNvSpPr>
            <a:spLocks noGrp="1" noChangeArrowheads="1"/>
          </p:cNvSpPr>
          <p:nvPr>
            <p:ph type="body" idx="1"/>
          </p:nvPr>
        </p:nvSpPr>
        <p:spPr bwMode="auto">
          <a:noFill/>
        </p:spPr>
        <p:txBody>
          <a:bodyPr wrap="square" numCol="1" anchor="t" anchorCtr="0" compatLnSpc="1">
            <a:prstTxWarp prst="textNoShape">
              <a:avLst/>
            </a:prstTxWarp>
          </a:bodyPr>
          <a:lstStyle/>
          <a:p>
            <a:endParaRPr lang="ar-JO" altLang="ar-JO" dirty="0" smtClean="0"/>
          </a:p>
        </p:txBody>
      </p:sp>
      <p:sp>
        <p:nvSpPr>
          <p:cNvPr id="57348" name="Slide Number Placeholder 3"/>
          <p:cNvSpPr>
            <a:spLocks noGrp="1" noChangeArrowheads="1"/>
          </p:cNvSpPr>
          <p:nvPr>
            <p:ph type="sldNum" sz="quarter" idx="5"/>
          </p:nvPr>
        </p:nvSpPr>
        <p:spPr bwMode="auto">
          <a:noFill/>
          <a:ln>
            <a:miter lim="800000"/>
            <a:headEnd/>
            <a:tailEnd/>
          </a:ln>
        </p:spPr>
        <p:txBody>
          <a:bodyPr/>
          <a:lstStyle/>
          <a:p>
            <a:fld id="{147D22B2-AA7E-471B-BC6C-6C88DFDC6158}" type="slidenum">
              <a:rPr lang="en-US" altLang="ar-JO"/>
              <a:pPr/>
              <a:t>28</a:t>
            </a:fld>
            <a:endParaRPr lang="en-US" altLang="ar-JO"/>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ChangeArrowheads="1" noTextEdit="1"/>
          </p:cNvSpPr>
          <p:nvPr>
            <p:ph type="sldImg"/>
          </p:nvPr>
        </p:nvSpPr>
        <p:spPr bwMode="auto">
          <a:noFill/>
          <a:ln>
            <a:solidFill>
              <a:srgbClr val="000000"/>
            </a:solidFill>
            <a:miter lim="800000"/>
            <a:headEnd/>
            <a:tailEnd/>
          </a:ln>
        </p:spPr>
      </p:sp>
      <p:sp>
        <p:nvSpPr>
          <p:cNvPr id="59395" name="Notes Placeholder 2"/>
          <p:cNvSpPr>
            <a:spLocks noGrp="1" noChangeArrowheads="1"/>
          </p:cNvSpPr>
          <p:nvPr>
            <p:ph type="body" idx="1"/>
          </p:nvPr>
        </p:nvSpPr>
        <p:spPr bwMode="auto">
          <a:noFill/>
        </p:spPr>
        <p:txBody>
          <a:bodyPr wrap="square" numCol="1" anchor="t" anchorCtr="0" compatLnSpc="1">
            <a:prstTxWarp prst="textNoShape">
              <a:avLst/>
            </a:prstTxWarp>
          </a:bodyPr>
          <a:lstStyle/>
          <a:p>
            <a:endParaRPr lang="ar-JO" altLang="ar-JO" dirty="0" smtClean="0"/>
          </a:p>
        </p:txBody>
      </p:sp>
      <p:sp>
        <p:nvSpPr>
          <p:cNvPr id="59396" name="Slide Number Placeholder 3"/>
          <p:cNvSpPr>
            <a:spLocks noGrp="1" noChangeArrowheads="1"/>
          </p:cNvSpPr>
          <p:nvPr>
            <p:ph type="sldNum" sz="quarter" idx="5"/>
          </p:nvPr>
        </p:nvSpPr>
        <p:spPr bwMode="auto">
          <a:noFill/>
          <a:ln>
            <a:miter lim="800000"/>
            <a:headEnd/>
            <a:tailEnd/>
          </a:ln>
        </p:spPr>
        <p:txBody>
          <a:bodyPr/>
          <a:lstStyle/>
          <a:p>
            <a:fld id="{318345F6-8D59-4A70-8CCB-C9C5EE879838}" type="slidenum">
              <a:rPr lang="en-US" altLang="ar-JO"/>
              <a:pPr/>
              <a:t>29</a:t>
            </a:fld>
            <a:endParaRPr lang="en-US" altLang="ar-JO"/>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ChangeArrowheads="1" noTextEdit="1"/>
          </p:cNvSpPr>
          <p:nvPr>
            <p:ph type="sldImg"/>
          </p:nvPr>
        </p:nvSpPr>
        <p:spPr bwMode="auto">
          <a:noFill/>
          <a:ln>
            <a:solidFill>
              <a:srgbClr val="000000"/>
            </a:solidFill>
            <a:miter lim="800000"/>
            <a:headEnd/>
            <a:tailEnd/>
          </a:ln>
        </p:spPr>
      </p:sp>
      <p:sp>
        <p:nvSpPr>
          <p:cNvPr id="61443" name="Notes Placeholder 2"/>
          <p:cNvSpPr>
            <a:spLocks noGrp="1" noChangeArrowheads="1"/>
          </p:cNvSpPr>
          <p:nvPr>
            <p:ph type="body" idx="1"/>
          </p:nvPr>
        </p:nvSpPr>
        <p:spPr bwMode="auto">
          <a:noFill/>
        </p:spPr>
        <p:txBody>
          <a:bodyPr wrap="square" numCol="1" anchor="t" anchorCtr="0" compatLnSpc="1">
            <a:prstTxWarp prst="textNoShape">
              <a:avLst/>
            </a:prstTxWarp>
          </a:bodyPr>
          <a:lstStyle/>
          <a:p>
            <a:endParaRPr lang="ar-JO" altLang="ar-JO" dirty="0" smtClean="0"/>
          </a:p>
        </p:txBody>
      </p:sp>
      <p:sp>
        <p:nvSpPr>
          <p:cNvPr id="61444" name="Slide Number Placeholder 3"/>
          <p:cNvSpPr>
            <a:spLocks noGrp="1" noChangeArrowheads="1"/>
          </p:cNvSpPr>
          <p:nvPr>
            <p:ph type="sldNum" sz="quarter" idx="5"/>
          </p:nvPr>
        </p:nvSpPr>
        <p:spPr bwMode="auto">
          <a:noFill/>
          <a:ln>
            <a:miter lim="800000"/>
            <a:headEnd/>
            <a:tailEnd/>
          </a:ln>
        </p:spPr>
        <p:txBody>
          <a:bodyPr/>
          <a:lstStyle/>
          <a:p>
            <a:fld id="{2CE5F1B1-1A8D-4CF1-93F2-F459B06B6C4E}" type="slidenum">
              <a:rPr lang="en-US" altLang="ar-JO"/>
              <a:pPr/>
              <a:t>30</a:t>
            </a:fld>
            <a:endParaRPr lang="en-US" altLang="ar-JO"/>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bwMode="auto">
          <a:noFill/>
          <a:ln>
            <a:miter lim="800000"/>
            <a:headEnd/>
            <a:tailEnd/>
          </a:ln>
        </p:spPr>
        <p:txBody>
          <a:bodyPr/>
          <a:lstStyle/>
          <a:p>
            <a:fld id="{213CCFB3-09B3-4773-94C7-0901ED978980}" type="slidenum">
              <a:rPr lang="en-US" altLang="ar-JO"/>
              <a:pPr/>
              <a:t>31</a:t>
            </a:fld>
            <a:endParaRPr lang="en-US" altLang="ar-JO"/>
          </a:p>
        </p:txBody>
      </p:sp>
      <p:sp>
        <p:nvSpPr>
          <p:cNvPr id="6349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349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ar-JO" altLang="ar-JO" dirty="0"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bwMode="auto">
          <a:noFill/>
          <a:ln>
            <a:miter lim="800000"/>
            <a:headEnd/>
            <a:tailEnd/>
          </a:ln>
        </p:spPr>
        <p:txBody>
          <a:bodyPr/>
          <a:lstStyle/>
          <a:p>
            <a:fld id="{76139A69-A115-4F51-8BE3-E936D9510075}" type="slidenum">
              <a:rPr lang="en-US" altLang="ar-JO"/>
              <a:pPr/>
              <a:t>32</a:t>
            </a:fld>
            <a:endParaRPr lang="en-US" altLang="ar-JO"/>
          </a:p>
        </p:txBody>
      </p:sp>
      <p:sp>
        <p:nvSpPr>
          <p:cNvPr id="6553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554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ltLang="ar-JO" dirty="0"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bwMode="auto">
          <a:noFill/>
          <a:ln>
            <a:solidFill>
              <a:srgbClr val="000000"/>
            </a:solidFill>
            <a:miter lim="800000"/>
            <a:headEnd/>
            <a:tailEnd/>
          </a:ln>
        </p:spPr>
      </p:sp>
      <p:sp>
        <p:nvSpPr>
          <p:cNvPr id="68611" name="Notes Placeholder 2"/>
          <p:cNvSpPr>
            <a:spLocks noGrp="1" noChangeArrowheads="1"/>
          </p:cNvSpPr>
          <p:nvPr>
            <p:ph type="body" idx="1"/>
          </p:nvPr>
        </p:nvSpPr>
        <p:spPr bwMode="auto">
          <a:noFill/>
        </p:spPr>
        <p:txBody>
          <a:bodyPr wrap="square" numCol="1" anchor="t" anchorCtr="0" compatLnSpc="1">
            <a:prstTxWarp prst="textNoShape">
              <a:avLst/>
            </a:prstTxWarp>
          </a:bodyPr>
          <a:lstStyle/>
          <a:p>
            <a:endParaRPr lang="ar-JO" dirty="0" smtClean="0"/>
          </a:p>
        </p:txBody>
      </p:sp>
      <p:sp>
        <p:nvSpPr>
          <p:cNvPr id="68612" name="Slide Number Placeholder 3"/>
          <p:cNvSpPr>
            <a:spLocks noGrp="1" noChangeArrowheads="1"/>
          </p:cNvSpPr>
          <p:nvPr>
            <p:ph type="sldNum" sz="quarter" idx="5"/>
          </p:nvPr>
        </p:nvSpPr>
        <p:spPr bwMode="auto">
          <a:noFill/>
          <a:ln>
            <a:miter lim="800000"/>
            <a:headEnd/>
            <a:tailEnd/>
          </a:ln>
        </p:spPr>
        <p:txBody>
          <a:bodyPr/>
          <a:lstStyle/>
          <a:p>
            <a:fld id="{068C21EE-55E8-4AEC-BAD8-E995C16217C7}" type="slidenum">
              <a:rPr lang="en-US" altLang="ar-JO"/>
              <a:pPr/>
              <a:t>34</a:t>
            </a:fld>
            <a:endParaRPr lang="en-US" altLang="ar-JO"/>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noFill/>
          <a:ln>
            <a:solidFill>
              <a:srgbClr val="000000"/>
            </a:solidFill>
            <a:miter lim="800000"/>
            <a:headEnd/>
            <a:tailEnd/>
          </a:ln>
        </p:spPr>
      </p:sp>
      <p:sp>
        <p:nvSpPr>
          <p:cNvPr id="7065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ar-JO" altLang="ar-JO" smtClean="0"/>
          </a:p>
        </p:txBody>
      </p:sp>
      <p:sp>
        <p:nvSpPr>
          <p:cNvPr id="70660" name="Slide Number Placeholder 3"/>
          <p:cNvSpPr>
            <a:spLocks noGrp="1"/>
          </p:cNvSpPr>
          <p:nvPr>
            <p:ph type="sldNum" sz="quarter" idx="5"/>
          </p:nvPr>
        </p:nvSpPr>
        <p:spPr bwMode="auto">
          <a:noFill/>
          <a:ln>
            <a:miter lim="800000"/>
            <a:headEnd/>
            <a:tailEnd/>
          </a:ln>
        </p:spPr>
        <p:txBody>
          <a:bodyPr/>
          <a:lstStyle/>
          <a:p>
            <a:fld id="{67BB1FB1-2803-44E4-9106-B3183505178B}" type="slidenum">
              <a:rPr lang="en-US" altLang="ar-JO"/>
              <a:pPr/>
              <a:t>35</a:t>
            </a:fld>
            <a:endParaRPr lang="en-US" altLang="ar-JO"/>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68761E56-A9A5-4E93-B5A1-F5570BD3FD35}" type="datetime1">
              <a:rPr lang="en-US"/>
              <a:pPr>
                <a:defRPr/>
              </a:pPr>
              <a:t>11/13/2020</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MBL</a:t>
            </a:r>
          </a:p>
        </p:txBody>
      </p:sp>
      <p:sp>
        <p:nvSpPr>
          <p:cNvPr id="6" name="Slide Number Placeholder 5"/>
          <p:cNvSpPr>
            <a:spLocks noGrp="1"/>
          </p:cNvSpPr>
          <p:nvPr>
            <p:ph type="sldNum" sz="quarter" idx="12"/>
          </p:nvPr>
        </p:nvSpPr>
        <p:spPr/>
        <p:txBody>
          <a:bodyPr/>
          <a:lstStyle>
            <a:lvl1pPr>
              <a:defRPr/>
            </a:lvl1pPr>
          </a:lstStyle>
          <a:p>
            <a:fld id="{4EBEB244-D62E-4375-90A9-743B7723FF97}" type="slidenum">
              <a:rPr lang="en-US" altLang="ar-JO"/>
              <a:pPr/>
              <a:t>‹#›</a:t>
            </a:fld>
            <a:endParaRPr lang="en-US" altLang="ar-J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CBEB3F8-51A6-401D-AC6F-1C7198558249}" type="datetime1">
              <a:rPr lang="en-US"/>
              <a:pPr>
                <a:defRPr/>
              </a:pPr>
              <a:t>11/13/2020</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MBL</a:t>
            </a:r>
          </a:p>
        </p:txBody>
      </p:sp>
      <p:sp>
        <p:nvSpPr>
          <p:cNvPr id="6" name="Slide Number Placeholder 5"/>
          <p:cNvSpPr>
            <a:spLocks noGrp="1"/>
          </p:cNvSpPr>
          <p:nvPr>
            <p:ph type="sldNum" sz="quarter" idx="12"/>
          </p:nvPr>
        </p:nvSpPr>
        <p:spPr/>
        <p:txBody>
          <a:bodyPr/>
          <a:lstStyle>
            <a:lvl1pPr>
              <a:defRPr/>
            </a:lvl1pPr>
          </a:lstStyle>
          <a:p>
            <a:fld id="{2535024F-6889-4D58-A0FA-6AEC42508FDA}" type="slidenum">
              <a:rPr lang="en-US" altLang="ar-JO"/>
              <a:pPr/>
              <a:t>‹#›</a:t>
            </a:fld>
            <a:endParaRPr lang="en-US" altLang="ar-J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A65D761B-07E8-41F7-BCC3-7F3CA8557712}" type="datetime1">
              <a:rPr lang="en-US"/>
              <a:pPr>
                <a:defRPr/>
              </a:pPr>
              <a:t>11/13/2020</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MBL</a:t>
            </a:r>
          </a:p>
        </p:txBody>
      </p:sp>
      <p:sp>
        <p:nvSpPr>
          <p:cNvPr id="6" name="Slide Number Placeholder 5"/>
          <p:cNvSpPr>
            <a:spLocks noGrp="1"/>
          </p:cNvSpPr>
          <p:nvPr>
            <p:ph type="sldNum" sz="quarter" idx="12"/>
          </p:nvPr>
        </p:nvSpPr>
        <p:spPr/>
        <p:txBody>
          <a:bodyPr/>
          <a:lstStyle>
            <a:lvl1pPr>
              <a:defRPr/>
            </a:lvl1pPr>
          </a:lstStyle>
          <a:p>
            <a:fld id="{88664FAB-6D44-4F44-9225-E0F9BB56DC34}" type="slidenum">
              <a:rPr lang="en-US" altLang="ar-JO"/>
              <a:pPr/>
              <a:t>‹#›</a:t>
            </a:fld>
            <a:endParaRPr lang="en-US" altLang="ar-J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30D2B0E0-9B52-49CB-9E08-BE7D68EA2736}" type="datetime1">
              <a:rPr lang="en-US"/>
              <a:pPr>
                <a:defRPr/>
              </a:pPr>
              <a:t>11/13/2020</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MBL</a:t>
            </a:r>
          </a:p>
        </p:txBody>
      </p:sp>
      <p:sp>
        <p:nvSpPr>
          <p:cNvPr id="7" name="Slide Number Placeholder 5"/>
          <p:cNvSpPr>
            <a:spLocks noGrp="1"/>
          </p:cNvSpPr>
          <p:nvPr>
            <p:ph type="sldNum" sz="quarter" idx="12"/>
          </p:nvPr>
        </p:nvSpPr>
        <p:spPr/>
        <p:txBody>
          <a:bodyPr/>
          <a:lstStyle>
            <a:lvl1pPr>
              <a:defRPr/>
            </a:lvl1pPr>
          </a:lstStyle>
          <a:p>
            <a:fld id="{B39FC16F-23BA-489B-8FDC-714A35D854E3}" type="slidenum">
              <a:rPr lang="en-US" altLang="ar-JO"/>
              <a:pPr/>
              <a:t>‹#›</a:t>
            </a:fld>
            <a:endParaRPr lang="en-US" altLang="ar-J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7ADAC801-D2FB-4D01-A06B-22C2C0A86963}" type="datetime1">
              <a:rPr lang="en-US"/>
              <a:pPr>
                <a:defRPr/>
              </a:pPr>
              <a:t>11/13/2020</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MBL</a:t>
            </a:r>
          </a:p>
        </p:txBody>
      </p:sp>
      <p:sp>
        <p:nvSpPr>
          <p:cNvPr id="9" name="Slide Number Placeholder 5"/>
          <p:cNvSpPr>
            <a:spLocks noGrp="1"/>
          </p:cNvSpPr>
          <p:nvPr>
            <p:ph type="sldNum" sz="quarter" idx="12"/>
          </p:nvPr>
        </p:nvSpPr>
        <p:spPr/>
        <p:txBody>
          <a:bodyPr/>
          <a:lstStyle>
            <a:lvl1pPr>
              <a:defRPr/>
            </a:lvl1pPr>
          </a:lstStyle>
          <a:p>
            <a:fld id="{70B5048D-799C-4D06-A3FE-2B7EF8D230C7}" type="slidenum">
              <a:rPr lang="en-US" altLang="ar-JO"/>
              <a:pPr/>
              <a:t>‹#›</a:t>
            </a:fld>
            <a:endParaRPr lang="en-US" altLang="ar-J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FEA9D34B-7C77-4494-9698-60EA6F1E8BA7}" type="datetime1">
              <a:rPr lang="en-US"/>
              <a:pPr>
                <a:defRPr/>
              </a:pPr>
              <a:t>11/13/2020</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MBL</a:t>
            </a:r>
          </a:p>
        </p:txBody>
      </p:sp>
      <p:sp>
        <p:nvSpPr>
          <p:cNvPr id="5" name="Slide Number Placeholder 5"/>
          <p:cNvSpPr>
            <a:spLocks noGrp="1"/>
          </p:cNvSpPr>
          <p:nvPr>
            <p:ph type="sldNum" sz="quarter" idx="12"/>
          </p:nvPr>
        </p:nvSpPr>
        <p:spPr/>
        <p:txBody>
          <a:bodyPr/>
          <a:lstStyle>
            <a:lvl1pPr>
              <a:defRPr/>
            </a:lvl1pPr>
          </a:lstStyle>
          <a:p>
            <a:fld id="{6A07CB9C-22A8-4259-88CE-D9A1288B28F2}" type="slidenum">
              <a:rPr lang="en-US" altLang="ar-JO"/>
              <a:pPr/>
              <a:t>‹#›</a:t>
            </a:fld>
            <a:endParaRPr lang="en-US" altLang="ar-J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A534352-AA7F-443C-99B5-BD31C780019D}" type="datetime1">
              <a:rPr lang="en-US"/>
              <a:pPr>
                <a:defRPr/>
              </a:pPr>
              <a:t>11/13/2020</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MBL</a:t>
            </a:r>
          </a:p>
        </p:txBody>
      </p:sp>
      <p:sp>
        <p:nvSpPr>
          <p:cNvPr id="4" name="Slide Number Placeholder 5"/>
          <p:cNvSpPr>
            <a:spLocks noGrp="1"/>
          </p:cNvSpPr>
          <p:nvPr>
            <p:ph type="sldNum" sz="quarter" idx="12"/>
          </p:nvPr>
        </p:nvSpPr>
        <p:spPr/>
        <p:txBody>
          <a:bodyPr/>
          <a:lstStyle>
            <a:lvl1pPr>
              <a:defRPr/>
            </a:lvl1pPr>
          </a:lstStyle>
          <a:p>
            <a:fld id="{746A1E49-5AFD-4A37-A112-B155A6A7D1F7}" type="slidenum">
              <a:rPr lang="en-US" altLang="ar-JO"/>
              <a:pPr/>
              <a:t>‹#›</a:t>
            </a:fld>
            <a:endParaRPr lang="en-US" altLang="ar-J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B7E7BF3B-CF10-42B4-974B-50C90327A4BB}" type="datetime1">
              <a:rPr lang="en-US"/>
              <a:pPr>
                <a:defRPr/>
              </a:pPr>
              <a:t>11/13/2020</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MBL</a:t>
            </a:r>
          </a:p>
        </p:txBody>
      </p:sp>
      <p:sp>
        <p:nvSpPr>
          <p:cNvPr id="7" name="Slide Number Placeholder 5"/>
          <p:cNvSpPr>
            <a:spLocks noGrp="1"/>
          </p:cNvSpPr>
          <p:nvPr>
            <p:ph type="sldNum" sz="quarter" idx="12"/>
          </p:nvPr>
        </p:nvSpPr>
        <p:spPr/>
        <p:txBody>
          <a:bodyPr/>
          <a:lstStyle>
            <a:lvl1pPr>
              <a:defRPr/>
            </a:lvl1pPr>
          </a:lstStyle>
          <a:p>
            <a:fld id="{5A482545-8070-4426-938B-4310DC5E0919}" type="slidenum">
              <a:rPr lang="en-US" altLang="ar-JO"/>
              <a:pPr/>
              <a:t>‹#›</a:t>
            </a:fld>
            <a:endParaRPr lang="en-US" altLang="ar-J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8A4C72F0-465D-4CFC-B655-9195B8CE1963}" type="datetime1">
              <a:rPr lang="en-US"/>
              <a:pPr>
                <a:defRPr/>
              </a:pPr>
              <a:t>11/13/2020</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MBL</a:t>
            </a:r>
          </a:p>
        </p:txBody>
      </p:sp>
      <p:sp>
        <p:nvSpPr>
          <p:cNvPr id="7" name="Slide Number Placeholder 5"/>
          <p:cNvSpPr>
            <a:spLocks noGrp="1"/>
          </p:cNvSpPr>
          <p:nvPr>
            <p:ph type="sldNum" sz="quarter" idx="12"/>
          </p:nvPr>
        </p:nvSpPr>
        <p:spPr/>
        <p:txBody>
          <a:bodyPr/>
          <a:lstStyle>
            <a:lvl1pPr>
              <a:defRPr/>
            </a:lvl1pPr>
          </a:lstStyle>
          <a:p>
            <a:fld id="{A1979E06-A366-4BB5-A1E7-B877E841746D}" type="slidenum">
              <a:rPr lang="en-US" altLang="ar-JO"/>
              <a:pPr/>
              <a:t>‹#›</a:t>
            </a:fld>
            <a:endParaRPr lang="en-US" altLang="ar-J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8C3C175-7949-4A4A-B206-F36DD90C5D32}" type="datetime1">
              <a:rPr lang="en-US"/>
              <a:pPr>
                <a:defRPr/>
              </a:pPr>
              <a:t>11/13/2020</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MBL</a:t>
            </a:r>
          </a:p>
        </p:txBody>
      </p:sp>
      <p:sp>
        <p:nvSpPr>
          <p:cNvPr id="6" name="Slide Number Placeholder 5"/>
          <p:cNvSpPr>
            <a:spLocks noGrp="1"/>
          </p:cNvSpPr>
          <p:nvPr>
            <p:ph type="sldNum" sz="quarter" idx="12"/>
          </p:nvPr>
        </p:nvSpPr>
        <p:spPr/>
        <p:txBody>
          <a:bodyPr/>
          <a:lstStyle>
            <a:lvl1pPr>
              <a:defRPr/>
            </a:lvl1pPr>
          </a:lstStyle>
          <a:p>
            <a:fld id="{4EEFD266-5FA2-4C6D-8103-9CEB7F8F6F68}" type="slidenum">
              <a:rPr lang="en-US" altLang="ar-JO"/>
              <a:pPr/>
              <a:t>‹#›</a:t>
            </a:fld>
            <a:endParaRPr lang="en-US" altLang="ar-J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A2033C9-D004-46EB-9AB9-F0E1A3853DBC}" type="datetime1">
              <a:rPr lang="en-US"/>
              <a:pPr>
                <a:defRPr/>
              </a:pPr>
              <a:t>11/13/2020</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MBL</a:t>
            </a:r>
          </a:p>
        </p:txBody>
      </p:sp>
      <p:sp>
        <p:nvSpPr>
          <p:cNvPr id="6" name="Slide Number Placeholder 5"/>
          <p:cNvSpPr>
            <a:spLocks noGrp="1"/>
          </p:cNvSpPr>
          <p:nvPr>
            <p:ph type="sldNum" sz="quarter" idx="12"/>
          </p:nvPr>
        </p:nvSpPr>
        <p:spPr/>
        <p:txBody>
          <a:bodyPr/>
          <a:lstStyle>
            <a:lvl1pPr>
              <a:defRPr/>
            </a:lvl1pPr>
          </a:lstStyle>
          <a:p>
            <a:fld id="{F57A7264-425C-4FC7-9E57-9A127A7896C3}" type="slidenum">
              <a:rPr lang="en-US" altLang="ar-JO"/>
              <a:pPr/>
              <a:t>‹#›</a:t>
            </a:fld>
            <a:endParaRPr lang="en-US" altLang="ar-J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ar-JO"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ar-JO" smtClean="0"/>
              <a:t>Click to edit Master text styles</a:t>
            </a:r>
          </a:p>
          <a:p>
            <a:pPr lvl="1"/>
            <a:r>
              <a:rPr lang="en-US" altLang="ar-JO" smtClean="0"/>
              <a:t>Second level</a:t>
            </a:r>
          </a:p>
          <a:p>
            <a:pPr lvl="2"/>
            <a:r>
              <a:rPr lang="en-US" altLang="ar-JO" smtClean="0"/>
              <a:t>Third level</a:t>
            </a:r>
          </a:p>
          <a:p>
            <a:pPr lvl="3"/>
            <a:r>
              <a:rPr lang="en-US" altLang="ar-JO" smtClean="0"/>
              <a:t>Fourth level</a:t>
            </a:r>
          </a:p>
          <a:p>
            <a:pPr lvl="4"/>
            <a:r>
              <a:rPr lang="en-US" altLang="ar-JO"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5B436568-4574-442D-9205-716C024BD711}" type="datetime1">
              <a:rPr lang="en-US"/>
              <a:pPr>
                <a:defRPr/>
              </a:pPr>
              <a:t>11/13/2020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r>
              <a:rPr lang="en-US"/>
              <a:t>MBL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itchFamily="34" charset="0"/>
              </a:defRPr>
            </a:lvl1pPr>
          </a:lstStyle>
          <a:p>
            <a:fld id="{66052606-1D04-43AF-AE5F-C87B1CDF73B8}" type="slidenum">
              <a:rPr lang="en-US" altLang="ar-JO"/>
              <a:pPr/>
              <a:t>‹#›</a:t>
            </a:fld>
            <a:endParaRPr lang="en-US" altLang="ar-JO"/>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2.wmf"/></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2857500"/>
            <a:ext cx="9144000" cy="4000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Title 3"/>
          <p:cNvSpPr>
            <a:spLocks noGrp="1"/>
          </p:cNvSpPr>
          <p:nvPr>
            <p:ph type="title"/>
          </p:nvPr>
        </p:nvSpPr>
        <p:spPr>
          <a:xfrm>
            <a:off x="571500" y="1143000"/>
            <a:ext cx="8072438" cy="1125538"/>
          </a:xfrm>
        </p:spPr>
        <p:txBody>
          <a:bodyPr rtlCol="0">
            <a:noAutofit/>
          </a:bodyPr>
          <a:lstStyle/>
          <a:p>
            <a:pPr algn="ctr" eaLnBrk="1" fontAlgn="auto" hangingPunct="1">
              <a:spcAft>
                <a:spcPts val="0"/>
              </a:spcAft>
              <a:defRPr/>
            </a:pPr>
            <a:r>
              <a:rPr lang="en-US" dirty="0">
                <a:solidFill>
                  <a:schemeClr val="tx2">
                    <a:lumMod val="60000"/>
                    <a:lumOff val="40000"/>
                  </a:schemeClr>
                </a:solidFill>
              </a:rPr>
              <a:t>Molecular Biology Laboratory</a:t>
            </a:r>
            <a:br>
              <a:rPr lang="en-US" dirty="0">
                <a:solidFill>
                  <a:schemeClr val="tx2">
                    <a:lumMod val="60000"/>
                    <a:lumOff val="40000"/>
                  </a:schemeClr>
                </a:solidFill>
              </a:rPr>
            </a:br>
            <a:r>
              <a:rPr lang="en-US" sz="2800" b="0" dirty="0">
                <a:solidFill>
                  <a:schemeClr val="tx2">
                    <a:lumMod val="60000"/>
                    <a:lumOff val="40000"/>
                  </a:schemeClr>
                </a:solidFill>
              </a:rPr>
              <a:t>BT 453</a:t>
            </a:r>
          </a:p>
        </p:txBody>
      </p:sp>
      <p:sp>
        <p:nvSpPr>
          <p:cNvPr id="6" name="Subtitle 5"/>
          <p:cNvSpPr>
            <a:spLocks noGrp="1"/>
          </p:cNvSpPr>
          <p:nvPr>
            <p:ph type="body" idx="1"/>
          </p:nvPr>
        </p:nvSpPr>
        <p:spPr>
          <a:xfrm>
            <a:off x="1357313" y="3857625"/>
            <a:ext cx="6172200" cy="1857375"/>
          </a:xfrm>
        </p:spPr>
        <p:txBody>
          <a:bodyPr rtlCol="0">
            <a:normAutofit fontScale="55000" lnSpcReduction="20000"/>
          </a:bodyPr>
          <a:lstStyle/>
          <a:p>
            <a:pPr algn="ctr" eaLnBrk="1" fontAlgn="auto" hangingPunct="1">
              <a:spcAft>
                <a:spcPts val="0"/>
              </a:spcAft>
              <a:defRPr/>
            </a:pPr>
            <a:r>
              <a:rPr lang="en-US" sz="3600" b="1" dirty="0">
                <a:solidFill>
                  <a:schemeClr val="accent6"/>
                </a:solidFill>
              </a:rPr>
              <a:t>Laboratory  No. 3</a:t>
            </a:r>
          </a:p>
          <a:p>
            <a:pPr algn="ctr" eaLnBrk="1" fontAlgn="auto" hangingPunct="1">
              <a:spcAft>
                <a:spcPts val="0"/>
              </a:spcAft>
              <a:defRPr/>
            </a:pPr>
            <a:endParaRPr lang="en-US" i="1" dirty="0">
              <a:solidFill>
                <a:schemeClr val="accent2">
                  <a:lumMod val="75000"/>
                </a:schemeClr>
              </a:solidFill>
            </a:endParaRPr>
          </a:p>
          <a:p>
            <a:pPr algn="ctr" eaLnBrk="1" fontAlgn="auto" hangingPunct="1">
              <a:spcAft>
                <a:spcPts val="0"/>
              </a:spcAft>
              <a:defRPr/>
            </a:pPr>
            <a:endParaRPr lang="en-US" i="1" dirty="0">
              <a:solidFill>
                <a:schemeClr val="accent2">
                  <a:lumMod val="75000"/>
                </a:schemeClr>
              </a:solidFill>
            </a:endParaRPr>
          </a:p>
          <a:p>
            <a:pPr algn="ctr" eaLnBrk="1" fontAlgn="auto" hangingPunct="1">
              <a:spcAft>
                <a:spcPts val="0"/>
              </a:spcAft>
              <a:defRPr/>
            </a:pPr>
            <a:r>
              <a:rPr lang="en-US" dirty="0"/>
              <a:t> </a:t>
            </a:r>
          </a:p>
          <a:p>
            <a:pPr algn="ctr" eaLnBrk="1" fontAlgn="auto" hangingPunct="1">
              <a:spcAft>
                <a:spcPts val="0"/>
              </a:spcAft>
              <a:defRPr/>
            </a:pPr>
            <a:r>
              <a:rPr lang="en-US" sz="7100" b="1" dirty="0">
                <a:solidFill>
                  <a:schemeClr val="bg1"/>
                </a:solidFill>
              </a:rPr>
              <a:t>DNA Analysis &amp; </a:t>
            </a:r>
            <a:r>
              <a:rPr lang="en-US" sz="7100" b="1" dirty="0" err="1">
                <a:solidFill>
                  <a:schemeClr val="bg1"/>
                </a:solidFill>
              </a:rPr>
              <a:t>Quantitation</a:t>
            </a:r>
            <a:endParaRPr lang="en-US" sz="7100" b="1" dirty="0">
              <a:solidFill>
                <a:schemeClr val="bg1"/>
              </a:solidFill>
            </a:endParaRPr>
          </a:p>
        </p:txBody>
      </p:sp>
      <p:sp>
        <p:nvSpPr>
          <p:cNvPr id="3077" name="Slide Number Placeholder 6"/>
          <p:cNvSpPr>
            <a:spLocks noGrp="1" noChangeArrowheads="1"/>
          </p:cNvSpPr>
          <p:nvPr>
            <p:ph type="sldNum" sz="quarter" idx="12"/>
          </p:nvPr>
        </p:nvSpPr>
        <p:spPr bwMode="auto">
          <a:noFill/>
          <a:ln>
            <a:miter lim="800000"/>
            <a:headEnd/>
            <a:tailEnd/>
          </a:ln>
        </p:spPr>
        <p:txBody>
          <a:bodyPr/>
          <a:lstStyle/>
          <a:p>
            <a:fld id="{378D6245-A871-4FB6-A709-FFE856194493}" type="slidenum">
              <a:rPr lang="en-US" altLang="ar-JO"/>
              <a:pPr/>
              <a:t>1</a:t>
            </a:fld>
            <a:endParaRPr lang="en-US" altLang="ar-JO"/>
          </a:p>
        </p:txBody>
      </p:sp>
      <p:sp>
        <p:nvSpPr>
          <p:cNvPr id="10" name="Footer Placeholder 41"/>
          <p:cNvSpPr>
            <a:spLocks noGrp="1"/>
          </p:cNvSpPr>
          <p:nvPr>
            <p:ph type="ftr" sz="quarter" idx="11"/>
          </p:nvPr>
        </p:nvSpPr>
        <p:spPr>
          <a:xfrm>
            <a:off x="142875" y="6492875"/>
            <a:ext cx="3200400" cy="365125"/>
          </a:xfrm>
        </p:spPr>
        <p:txBody>
          <a:bodyPr/>
          <a:lstStyle/>
          <a:p>
            <a:pPr algn="l">
              <a:defRPr/>
            </a:pPr>
            <a:r>
              <a:rPr lang="en-US" sz="1400" dirty="0"/>
              <a:t>MBL. BT453</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5813" y="1785938"/>
            <a:ext cx="7500937" cy="4429125"/>
          </a:xfrm>
        </p:spPr>
        <p:txBody>
          <a:bodyPr rtlCol="0">
            <a:normAutofit fontScale="92500" lnSpcReduction="10000"/>
          </a:bodyPr>
          <a:lstStyle/>
          <a:p>
            <a:pPr marL="514350" indent="-514350" eaLnBrk="1" fontAlgn="auto" hangingPunct="1">
              <a:spcAft>
                <a:spcPts val="0"/>
              </a:spcAft>
              <a:buFont typeface="+mj-lt"/>
              <a:buAutoNum type="arabicPeriod"/>
              <a:defRPr/>
            </a:pPr>
            <a:r>
              <a:rPr lang="en-AU" altLang="en-AU" sz="2800" dirty="0"/>
              <a:t>Understand how to quantify extracted </a:t>
            </a:r>
            <a:r>
              <a:rPr lang="en-AU" altLang="en-AU" sz="2800" dirty="0" err="1"/>
              <a:t>nucliec</a:t>
            </a:r>
            <a:r>
              <a:rPr lang="en-AU" altLang="en-AU" sz="2800" dirty="0"/>
              <a:t> acids and determine its purity using either UV absorbance spectroscopy or gel electrophoresis </a:t>
            </a:r>
            <a:r>
              <a:rPr lang="en-US" altLang="en-AU" sz="2800" dirty="0"/>
              <a:t>methods </a:t>
            </a:r>
          </a:p>
          <a:p>
            <a:pPr marL="514350" indent="-514350" eaLnBrk="1" fontAlgn="auto" hangingPunct="1">
              <a:spcAft>
                <a:spcPts val="0"/>
              </a:spcAft>
              <a:buFont typeface="+mj-lt"/>
              <a:buAutoNum type="arabicPeriod"/>
              <a:defRPr/>
            </a:pPr>
            <a:endParaRPr lang="en-AU" altLang="en-AU" sz="2800" dirty="0"/>
          </a:p>
          <a:p>
            <a:pPr marL="514350" indent="-514350" eaLnBrk="1" fontAlgn="auto" hangingPunct="1">
              <a:spcAft>
                <a:spcPts val="0"/>
              </a:spcAft>
              <a:buFont typeface="+mj-lt"/>
              <a:buAutoNum type="arabicPeriod"/>
              <a:defRPr/>
            </a:pPr>
            <a:r>
              <a:rPr lang="en-AU" altLang="en-AU" sz="2800" dirty="0"/>
              <a:t>Contrast between the above methods and discuss the quantity and purity requirement for diverse downstream molecular testing.</a:t>
            </a:r>
          </a:p>
          <a:p>
            <a:pPr marL="514350" indent="-514350" eaLnBrk="1" fontAlgn="auto" hangingPunct="1">
              <a:spcAft>
                <a:spcPts val="0"/>
              </a:spcAft>
              <a:buFont typeface="+mj-lt"/>
              <a:buAutoNum type="arabicPeriod"/>
              <a:defRPr/>
            </a:pPr>
            <a:endParaRPr lang="en-AU" altLang="en-AU" sz="2800" dirty="0"/>
          </a:p>
          <a:p>
            <a:pPr marL="514350" indent="-514350" eaLnBrk="1" fontAlgn="auto" hangingPunct="1">
              <a:spcAft>
                <a:spcPts val="0"/>
              </a:spcAft>
              <a:buFont typeface="+mj-lt"/>
              <a:buAutoNum type="arabicPeriod"/>
              <a:defRPr/>
            </a:pPr>
            <a:r>
              <a:rPr lang="en-AU" altLang="en-AU" sz="2800" dirty="0"/>
              <a:t>To analyse the effect of different degradation treatment on DNA integrity.  </a:t>
            </a:r>
          </a:p>
          <a:p>
            <a:pPr marL="514350" indent="-514350" eaLnBrk="1" fontAlgn="auto" hangingPunct="1">
              <a:spcAft>
                <a:spcPts val="0"/>
              </a:spcAft>
              <a:buFont typeface="+mj-lt"/>
              <a:buAutoNum type="arabicPeriod"/>
              <a:defRPr/>
            </a:pPr>
            <a:endParaRPr lang="en-US" sz="2800" dirty="0"/>
          </a:p>
        </p:txBody>
      </p:sp>
      <p:sp>
        <p:nvSpPr>
          <p:cNvPr id="4099" name="Slide Number Placeholder 3"/>
          <p:cNvSpPr>
            <a:spLocks noGrp="1" noChangeArrowheads="1"/>
          </p:cNvSpPr>
          <p:nvPr>
            <p:ph type="sldNum" sz="quarter" idx="12"/>
          </p:nvPr>
        </p:nvSpPr>
        <p:spPr bwMode="auto">
          <a:noFill/>
          <a:ln>
            <a:miter lim="800000"/>
            <a:headEnd/>
            <a:tailEnd/>
          </a:ln>
        </p:spPr>
        <p:txBody>
          <a:bodyPr/>
          <a:lstStyle/>
          <a:p>
            <a:fld id="{AC8AB0FD-F55E-4780-B9CD-C7469281D3FF}" type="slidenum">
              <a:rPr lang="en-US" altLang="ar-JO"/>
              <a:pPr/>
              <a:t>2</a:t>
            </a:fld>
            <a:endParaRPr lang="en-US" altLang="ar-JO"/>
          </a:p>
        </p:txBody>
      </p:sp>
      <p:sp>
        <p:nvSpPr>
          <p:cNvPr id="6" name="Title 4"/>
          <p:cNvSpPr>
            <a:spLocks noGrp="1"/>
          </p:cNvSpPr>
          <p:nvPr>
            <p:ph type="title"/>
          </p:nvPr>
        </p:nvSpPr>
        <p:spPr>
          <a:xfrm>
            <a:off x="819150" y="784225"/>
            <a:ext cx="7467600" cy="488950"/>
          </a:xfrm>
        </p:spPr>
        <p:txBody>
          <a:bodyPr rtlCol="0">
            <a:noAutofit/>
          </a:bodyPr>
          <a:lstStyle/>
          <a:p>
            <a:pPr eaLnBrk="1" fontAlgn="auto" hangingPunct="1">
              <a:spcAft>
                <a:spcPts val="0"/>
              </a:spcAft>
              <a:defRPr/>
            </a:pPr>
            <a:r>
              <a:rPr lang="en-US" sz="3200" b="1" dirty="0">
                <a:solidFill>
                  <a:schemeClr val="tx2">
                    <a:lumMod val="60000"/>
                    <a:lumOff val="40000"/>
                  </a:schemeClr>
                </a:solidFill>
              </a:rPr>
              <a:t>OBJECTIVES</a:t>
            </a:r>
          </a:p>
        </p:txBody>
      </p:sp>
      <p:cxnSp>
        <p:nvCxnSpPr>
          <p:cNvPr id="7" name="Straight Connector 6"/>
          <p:cNvCxnSpPr/>
          <p:nvPr/>
        </p:nvCxnSpPr>
        <p:spPr>
          <a:xfrm>
            <a:off x="785813" y="1427163"/>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8" name="Footer Placeholder 41"/>
          <p:cNvSpPr>
            <a:spLocks noGrp="1"/>
          </p:cNvSpPr>
          <p:nvPr>
            <p:ph type="ftr" sz="quarter" idx="11"/>
          </p:nvPr>
        </p:nvSpPr>
        <p:spPr>
          <a:xfrm>
            <a:off x="142875" y="6492875"/>
            <a:ext cx="3200400" cy="365125"/>
          </a:xfrm>
        </p:spPr>
        <p:txBody>
          <a:bodyPr/>
          <a:lstStyle/>
          <a:p>
            <a:pPr algn="l">
              <a:defRPr/>
            </a:pPr>
            <a:r>
              <a:rPr lang="en-US" sz="1400" dirty="0"/>
              <a:t>MBL. BT453</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4"/>
          <p:cNvSpPr>
            <a:spLocks noGrp="1" noChangeArrowheads="1"/>
          </p:cNvSpPr>
          <p:nvPr>
            <p:ph type="sldNum" sz="quarter" idx="12"/>
          </p:nvPr>
        </p:nvSpPr>
        <p:spPr bwMode="auto">
          <a:noFill/>
          <a:ln>
            <a:miter lim="800000"/>
            <a:headEnd/>
            <a:tailEnd/>
          </a:ln>
        </p:spPr>
        <p:txBody>
          <a:bodyPr/>
          <a:lstStyle/>
          <a:p>
            <a:fld id="{A859C14F-56A2-41E8-9023-824CA74019E4}" type="slidenum">
              <a:rPr lang="en-US" altLang="ar-JO"/>
              <a:pPr/>
              <a:t>3</a:t>
            </a:fld>
            <a:endParaRPr lang="en-US" altLang="ar-JO"/>
          </a:p>
        </p:txBody>
      </p:sp>
      <p:sp>
        <p:nvSpPr>
          <p:cNvPr id="6" name="Title 4"/>
          <p:cNvSpPr txBox="1">
            <a:spLocks/>
          </p:cNvSpPr>
          <p:nvPr/>
        </p:nvSpPr>
        <p:spPr>
          <a:xfrm>
            <a:off x="819150" y="214313"/>
            <a:ext cx="7467600" cy="488950"/>
          </a:xfrm>
          <a:prstGeom prst="rect">
            <a:avLst/>
          </a:prstGeom>
        </p:spPr>
        <p:txBody>
          <a:bodyPr/>
          <a:lstStyle/>
          <a:p>
            <a:pPr algn="ctr" eaLnBrk="1" fontAlgn="auto" hangingPunct="1">
              <a:spcAft>
                <a:spcPts val="0"/>
              </a:spcAft>
              <a:defRPr/>
            </a:pPr>
            <a:r>
              <a:rPr lang="en-US" sz="3200" b="1" dirty="0">
                <a:solidFill>
                  <a:schemeClr val="tx2">
                    <a:lumMod val="60000"/>
                    <a:lumOff val="40000"/>
                  </a:schemeClr>
                </a:solidFill>
                <a:latin typeface="+mj-lt"/>
                <a:ea typeface="+mj-ea"/>
                <a:cs typeface="+mj-cs"/>
              </a:rPr>
              <a:t>Methods</a:t>
            </a:r>
          </a:p>
        </p:txBody>
      </p:sp>
      <p:cxnSp>
        <p:nvCxnSpPr>
          <p:cNvPr id="7" name="Straight Connector 6"/>
          <p:cNvCxnSpPr/>
          <p:nvPr/>
        </p:nvCxnSpPr>
        <p:spPr>
          <a:xfrm>
            <a:off x="785813" y="1000125"/>
            <a:ext cx="7500937" cy="1588"/>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8" name="Footer Placeholder 41"/>
          <p:cNvSpPr>
            <a:spLocks noGrp="1"/>
          </p:cNvSpPr>
          <p:nvPr>
            <p:ph type="ftr" sz="quarter" idx="11"/>
          </p:nvPr>
        </p:nvSpPr>
        <p:spPr>
          <a:xfrm>
            <a:off x="142875" y="6492875"/>
            <a:ext cx="3200400" cy="365125"/>
          </a:xfrm>
        </p:spPr>
        <p:txBody>
          <a:bodyPr/>
          <a:lstStyle/>
          <a:p>
            <a:pPr algn="l">
              <a:defRPr/>
            </a:pPr>
            <a:r>
              <a:rPr lang="en-US" sz="1400" dirty="0"/>
              <a:t>MBL. BT453</a:t>
            </a:r>
          </a:p>
        </p:txBody>
      </p:sp>
      <p:sp>
        <p:nvSpPr>
          <p:cNvPr id="6150" name="Rectangle 3"/>
          <p:cNvSpPr txBox="1">
            <a:spLocks noChangeArrowheads="1"/>
          </p:cNvSpPr>
          <p:nvPr/>
        </p:nvSpPr>
        <p:spPr bwMode="auto">
          <a:xfrm>
            <a:off x="714375" y="1643063"/>
            <a:ext cx="4929188" cy="3429000"/>
          </a:xfrm>
          <a:prstGeom prst="rect">
            <a:avLst/>
          </a:prstGeom>
          <a:noFill/>
          <a:ln w="9525">
            <a:noFill/>
            <a:miter lim="800000"/>
            <a:headEnd/>
            <a:tailEnd/>
          </a:ln>
        </p:spPr>
        <p:txBody>
          <a:bodyPr/>
          <a:lstStyle/>
          <a:p>
            <a:pPr marL="457200" indent="-457200" eaLnBrk="1" hangingPunct="1">
              <a:spcBef>
                <a:spcPct val="20000"/>
              </a:spcBef>
              <a:buClr>
                <a:schemeClr val="accent1"/>
              </a:buClr>
              <a:buFont typeface="Calibri" pitchFamily="34" charset="0"/>
              <a:buAutoNum type="arabicPeriod"/>
            </a:pPr>
            <a:r>
              <a:rPr lang="en-US" altLang="ar-JO" sz="3600">
                <a:latin typeface="Calibri" pitchFamily="34" charset="0"/>
              </a:rPr>
              <a:t>Spectrophotometery</a:t>
            </a:r>
          </a:p>
          <a:p>
            <a:pPr marL="457200" indent="-457200" eaLnBrk="1" hangingPunct="1">
              <a:spcBef>
                <a:spcPct val="20000"/>
              </a:spcBef>
              <a:buClr>
                <a:schemeClr val="accent1"/>
              </a:buClr>
              <a:buFont typeface="Calibri" pitchFamily="34" charset="0"/>
              <a:buAutoNum type="arabicPeriod"/>
            </a:pPr>
            <a:endParaRPr lang="en-US" altLang="ar-JO" sz="4800">
              <a:latin typeface="Calibri" pitchFamily="34" charset="0"/>
            </a:endParaRPr>
          </a:p>
          <a:p>
            <a:pPr marL="457200" indent="-457200" eaLnBrk="1" hangingPunct="1">
              <a:spcBef>
                <a:spcPct val="20000"/>
              </a:spcBef>
              <a:buClr>
                <a:schemeClr val="accent1"/>
              </a:buClr>
              <a:buFont typeface="Calibri" pitchFamily="34" charset="0"/>
              <a:buAutoNum type="arabicPeriod"/>
            </a:pPr>
            <a:r>
              <a:rPr lang="en-US" altLang="ar-JO" sz="3600">
                <a:latin typeface="Calibri" pitchFamily="34" charset="0"/>
              </a:rPr>
              <a:t>Gel electrophoresis</a:t>
            </a:r>
          </a:p>
          <a:p>
            <a:pPr marL="457200" indent="-457200" eaLnBrk="1" hangingPunct="1">
              <a:spcBef>
                <a:spcPct val="20000"/>
              </a:spcBef>
              <a:buClr>
                <a:schemeClr val="accent1"/>
              </a:buClr>
              <a:buFont typeface="Calibri" pitchFamily="34" charset="0"/>
              <a:buAutoNum type="arabicPeriod"/>
            </a:pPr>
            <a:endParaRPr lang="en-US" altLang="ar-JO" sz="4800">
              <a:latin typeface="Calibri" pitchFamily="34" charset="0"/>
            </a:endParaRPr>
          </a:p>
          <a:p>
            <a:pPr marL="457200" indent="-457200" eaLnBrk="1" hangingPunct="1">
              <a:spcBef>
                <a:spcPct val="20000"/>
              </a:spcBef>
              <a:buClr>
                <a:schemeClr val="accent1"/>
              </a:buClr>
              <a:buFont typeface="Calibri" pitchFamily="34" charset="0"/>
              <a:buAutoNum type="arabicPeriod"/>
            </a:pPr>
            <a:r>
              <a:rPr lang="en-US" altLang="ar-JO" sz="3600">
                <a:latin typeface="Calibri" pitchFamily="34" charset="0"/>
              </a:rPr>
              <a:t>Real-time PCR</a:t>
            </a:r>
          </a:p>
          <a:p>
            <a:pPr marL="457200" indent="-457200" eaLnBrk="1" hangingPunct="1">
              <a:spcBef>
                <a:spcPct val="20000"/>
              </a:spcBef>
              <a:buFont typeface="Calibri" pitchFamily="34" charset="0"/>
              <a:buAutoNum type="arabicPeriod"/>
            </a:pPr>
            <a:endParaRPr lang="en-US" altLang="ar-JO" sz="3600">
              <a:latin typeface="Calibri" pitchFamily="34" charset="0"/>
            </a:endParaRPr>
          </a:p>
        </p:txBody>
      </p:sp>
      <p:pic>
        <p:nvPicPr>
          <p:cNvPr id="6151" name="Picture 2" descr="http://www.spectronic.co.uk/img/m550.jpg"/>
          <p:cNvPicPr>
            <a:picLocks noChangeAspect="1" noChangeArrowheads="1"/>
          </p:cNvPicPr>
          <p:nvPr/>
        </p:nvPicPr>
        <p:blipFill>
          <a:blip r:embed="rId3"/>
          <a:srcRect/>
          <a:stretch>
            <a:fillRect/>
          </a:stretch>
        </p:blipFill>
        <p:spPr bwMode="auto">
          <a:xfrm>
            <a:off x="6286500" y="1428750"/>
            <a:ext cx="1785938" cy="1303338"/>
          </a:xfrm>
          <a:prstGeom prst="rect">
            <a:avLst/>
          </a:prstGeom>
          <a:noFill/>
          <a:ln w="9525">
            <a:noFill/>
            <a:miter lim="800000"/>
            <a:headEnd/>
            <a:tailEnd/>
          </a:ln>
        </p:spPr>
      </p:pic>
      <p:pic>
        <p:nvPicPr>
          <p:cNvPr id="6152" name="Picture 3" descr="C:\Documents and Settings\user\Desktop\StaphProject\a.png"/>
          <p:cNvPicPr>
            <a:picLocks noChangeAspect="1" noChangeArrowheads="1"/>
          </p:cNvPicPr>
          <p:nvPr/>
        </p:nvPicPr>
        <p:blipFill>
          <a:blip r:embed="rId4"/>
          <a:srcRect/>
          <a:stretch>
            <a:fillRect/>
          </a:stretch>
        </p:blipFill>
        <p:spPr bwMode="auto">
          <a:xfrm>
            <a:off x="5643563" y="3071813"/>
            <a:ext cx="2643187" cy="1168400"/>
          </a:xfrm>
          <a:prstGeom prst="rect">
            <a:avLst/>
          </a:prstGeom>
          <a:noFill/>
          <a:ln w="9525">
            <a:noFill/>
            <a:miter lim="800000"/>
            <a:headEnd/>
            <a:tailEnd/>
          </a:ln>
        </p:spPr>
      </p:pic>
      <p:pic>
        <p:nvPicPr>
          <p:cNvPr id="6153" name="Picture 4" descr="C:\Documents and Settings\user\Desktop\Posters for Dr. Saied\Aseel\pics\Slide9.JPG"/>
          <p:cNvPicPr>
            <a:picLocks noChangeAspect="1" noChangeArrowheads="1"/>
          </p:cNvPicPr>
          <p:nvPr/>
        </p:nvPicPr>
        <p:blipFill>
          <a:blip r:embed="rId5"/>
          <a:srcRect l="9877" t="24690" r="44444" b="20987"/>
          <a:stretch>
            <a:fillRect/>
          </a:stretch>
        </p:blipFill>
        <p:spPr bwMode="auto">
          <a:xfrm>
            <a:off x="6215063" y="4500563"/>
            <a:ext cx="1682750" cy="15001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2"/>
          <p:cNvSpPr>
            <a:spLocks noGrp="1" noChangeArrowheads="1"/>
          </p:cNvSpPr>
          <p:nvPr>
            <p:ph type="sldNum" sz="quarter" idx="12"/>
          </p:nvPr>
        </p:nvSpPr>
        <p:spPr bwMode="auto">
          <a:noFill/>
          <a:ln>
            <a:miter lim="800000"/>
            <a:headEnd/>
            <a:tailEnd/>
          </a:ln>
        </p:spPr>
        <p:txBody>
          <a:bodyPr/>
          <a:lstStyle/>
          <a:p>
            <a:fld id="{8B39C9DA-1BA5-4BF7-84C2-DAA6484CC70A}" type="slidenum">
              <a:rPr lang="en-US" altLang="ar-JO"/>
              <a:pPr/>
              <a:t>4</a:t>
            </a:fld>
            <a:endParaRPr lang="en-US" altLang="ar-JO"/>
          </a:p>
        </p:txBody>
      </p:sp>
      <p:cxnSp>
        <p:nvCxnSpPr>
          <p:cNvPr id="4" name="Straight Connector 3"/>
          <p:cNvCxnSpPr/>
          <p:nvPr/>
        </p:nvCxnSpPr>
        <p:spPr>
          <a:xfrm>
            <a:off x="785813" y="928688"/>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itle 4"/>
          <p:cNvSpPr txBox="1">
            <a:spLocks/>
          </p:cNvSpPr>
          <p:nvPr/>
        </p:nvSpPr>
        <p:spPr>
          <a:xfrm>
            <a:off x="819150" y="214313"/>
            <a:ext cx="7467600" cy="488950"/>
          </a:xfrm>
          <a:prstGeom prst="rect">
            <a:avLst/>
          </a:prstGeom>
        </p:spPr>
        <p:txBody>
          <a:bodyPr/>
          <a:lstStyle/>
          <a:p>
            <a:pPr algn="ctr" eaLnBrk="1" fontAlgn="auto" hangingPunct="1">
              <a:spcAft>
                <a:spcPts val="0"/>
              </a:spcAft>
              <a:defRPr/>
            </a:pPr>
            <a:r>
              <a:rPr lang="en-US" sz="3200" b="1" dirty="0" err="1">
                <a:solidFill>
                  <a:schemeClr val="tx2">
                    <a:lumMod val="60000"/>
                    <a:lumOff val="40000"/>
                  </a:schemeClr>
                </a:solidFill>
                <a:latin typeface="+mj-lt"/>
                <a:ea typeface="+mj-ea"/>
                <a:cs typeface="+mj-cs"/>
              </a:rPr>
              <a:t>Spectrophotometery</a:t>
            </a:r>
            <a:endParaRPr lang="en-US" sz="3200" b="1" dirty="0">
              <a:solidFill>
                <a:schemeClr val="tx2">
                  <a:lumMod val="60000"/>
                  <a:lumOff val="40000"/>
                </a:schemeClr>
              </a:solidFill>
              <a:latin typeface="+mj-lt"/>
              <a:ea typeface="+mj-ea"/>
              <a:cs typeface="+mj-cs"/>
            </a:endParaRPr>
          </a:p>
        </p:txBody>
      </p:sp>
      <p:sp>
        <p:nvSpPr>
          <p:cNvPr id="6" name="Rectangle 3"/>
          <p:cNvSpPr txBox="1">
            <a:spLocks noChangeArrowheads="1"/>
          </p:cNvSpPr>
          <p:nvPr/>
        </p:nvSpPr>
        <p:spPr>
          <a:xfrm>
            <a:off x="714375" y="1500188"/>
            <a:ext cx="7786688" cy="4643437"/>
          </a:xfrm>
          <a:prstGeom prst="rect">
            <a:avLst/>
          </a:prstGeom>
        </p:spPr>
        <p:txBody>
          <a:bodyPr/>
          <a:lstStyle/>
          <a:p>
            <a:pPr eaLnBrk="1" fontAlgn="auto" hangingPunct="1">
              <a:spcBef>
                <a:spcPts val="0"/>
              </a:spcBef>
              <a:spcAft>
                <a:spcPts val="0"/>
              </a:spcAft>
              <a:defRPr/>
            </a:pPr>
            <a:r>
              <a:rPr lang="en-US" sz="2400" b="1" dirty="0">
                <a:solidFill>
                  <a:schemeClr val="accent1"/>
                </a:solidFill>
                <a:latin typeface="+mn-lt"/>
                <a:cs typeface="+mn-cs"/>
              </a:rPr>
              <a:t>Used to</a:t>
            </a:r>
          </a:p>
          <a:p>
            <a:pPr eaLnBrk="1" fontAlgn="auto" hangingPunct="1">
              <a:spcBef>
                <a:spcPts val="0"/>
              </a:spcBef>
              <a:spcAft>
                <a:spcPts val="0"/>
              </a:spcAft>
              <a:defRPr/>
            </a:pPr>
            <a:endParaRPr lang="en-US" sz="1000" dirty="0">
              <a:latin typeface="+mn-lt"/>
              <a:cs typeface="+mn-cs"/>
            </a:endParaRPr>
          </a:p>
          <a:p>
            <a:pPr eaLnBrk="1" fontAlgn="auto" hangingPunct="1">
              <a:spcBef>
                <a:spcPts val="0"/>
              </a:spcBef>
              <a:spcAft>
                <a:spcPts val="0"/>
              </a:spcAft>
              <a:defRPr/>
            </a:pPr>
            <a:r>
              <a:rPr lang="en-US" sz="2400" dirty="0">
                <a:latin typeface="+mn-lt"/>
                <a:cs typeface="+mn-cs"/>
              </a:rPr>
              <a:t>Determine the concentration of a substance in solution</a:t>
            </a:r>
          </a:p>
          <a:p>
            <a:pPr eaLnBrk="1" fontAlgn="auto" hangingPunct="1">
              <a:spcBef>
                <a:spcPts val="0"/>
              </a:spcBef>
              <a:spcAft>
                <a:spcPts val="0"/>
              </a:spcAft>
              <a:defRPr/>
            </a:pPr>
            <a:endParaRPr lang="en-US" sz="3200" dirty="0">
              <a:latin typeface="+mn-lt"/>
              <a:cs typeface="+mn-cs"/>
            </a:endParaRPr>
          </a:p>
          <a:p>
            <a:pPr eaLnBrk="1" fontAlgn="auto" hangingPunct="1">
              <a:spcBef>
                <a:spcPts val="0"/>
              </a:spcBef>
              <a:spcAft>
                <a:spcPts val="0"/>
              </a:spcAft>
              <a:defRPr/>
            </a:pPr>
            <a:r>
              <a:rPr lang="en-US" sz="2400" b="1" dirty="0">
                <a:solidFill>
                  <a:schemeClr val="accent1"/>
                </a:solidFill>
                <a:latin typeface="+mn-lt"/>
                <a:cs typeface="+mn-cs"/>
              </a:rPr>
              <a:t>Principle</a:t>
            </a:r>
          </a:p>
          <a:p>
            <a:pPr eaLnBrk="1" fontAlgn="auto" hangingPunct="1">
              <a:spcBef>
                <a:spcPts val="0"/>
              </a:spcBef>
              <a:spcAft>
                <a:spcPts val="0"/>
              </a:spcAft>
              <a:defRPr/>
            </a:pPr>
            <a:endParaRPr lang="en-US" sz="1000" dirty="0">
              <a:latin typeface="+mn-lt"/>
              <a:cs typeface="+mn-cs"/>
            </a:endParaRPr>
          </a:p>
          <a:p>
            <a:pPr eaLnBrk="1" fontAlgn="auto" hangingPunct="1">
              <a:spcBef>
                <a:spcPts val="0"/>
              </a:spcBef>
              <a:spcAft>
                <a:spcPts val="0"/>
              </a:spcAft>
              <a:defRPr/>
            </a:pPr>
            <a:r>
              <a:rPr lang="en-US" sz="2400" dirty="0">
                <a:latin typeface="+mn-lt"/>
                <a:cs typeface="+mn-cs"/>
              </a:rPr>
              <a:t>Measures light absorbed by solution at a specific wavelength</a:t>
            </a:r>
          </a:p>
          <a:p>
            <a:pPr eaLnBrk="1" fontAlgn="auto" hangingPunct="1">
              <a:spcBef>
                <a:spcPts val="0"/>
              </a:spcBef>
              <a:spcAft>
                <a:spcPts val="0"/>
              </a:spcAft>
              <a:defRPr/>
            </a:pPr>
            <a:endParaRPr lang="en-US" sz="3200" dirty="0">
              <a:latin typeface="+mn-lt"/>
              <a:cs typeface="+mn-cs"/>
            </a:endParaRPr>
          </a:p>
          <a:p>
            <a:pPr eaLnBrk="1" fontAlgn="auto" hangingPunct="1">
              <a:spcBef>
                <a:spcPts val="0"/>
              </a:spcBef>
              <a:spcAft>
                <a:spcPts val="0"/>
              </a:spcAft>
              <a:defRPr/>
            </a:pPr>
            <a:r>
              <a:rPr lang="en-US" sz="2400" b="1" dirty="0">
                <a:solidFill>
                  <a:schemeClr val="accent1"/>
                </a:solidFill>
                <a:latin typeface="+mn-lt"/>
                <a:cs typeface="+mn-cs"/>
              </a:rPr>
              <a:t>In our case</a:t>
            </a:r>
          </a:p>
          <a:p>
            <a:pPr eaLnBrk="1" fontAlgn="auto" hangingPunct="1">
              <a:spcBef>
                <a:spcPts val="0"/>
              </a:spcBef>
              <a:spcAft>
                <a:spcPts val="0"/>
              </a:spcAft>
              <a:defRPr/>
            </a:pPr>
            <a:endParaRPr lang="en-US" sz="1000" dirty="0">
              <a:latin typeface="+mn-lt"/>
              <a:cs typeface="+mn-cs"/>
            </a:endParaRPr>
          </a:p>
          <a:p>
            <a:pPr eaLnBrk="1" fontAlgn="auto" hangingPunct="1">
              <a:spcBef>
                <a:spcPts val="0"/>
              </a:spcBef>
              <a:spcAft>
                <a:spcPts val="0"/>
              </a:spcAft>
              <a:defRPr/>
            </a:pPr>
            <a:r>
              <a:rPr lang="en-US" sz="2400" dirty="0">
                <a:latin typeface="+mn-lt"/>
                <a:cs typeface="+mn-cs"/>
              </a:rPr>
              <a:t>Determine the concentration of nucleic acids</a:t>
            </a:r>
          </a:p>
          <a:p>
            <a:pPr eaLnBrk="1" fontAlgn="auto" hangingPunct="1">
              <a:spcBef>
                <a:spcPts val="0"/>
              </a:spcBef>
              <a:spcAft>
                <a:spcPts val="0"/>
              </a:spcAft>
              <a:defRPr/>
            </a:pPr>
            <a:r>
              <a:rPr lang="en-US" sz="2400" dirty="0">
                <a:latin typeface="+mn-lt"/>
                <a:cs typeface="+mn-cs"/>
              </a:rPr>
              <a:t>Check the purity of the extracted nucleic acids  </a:t>
            </a:r>
          </a:p>
          <a:p>
            <a:pPr marL="342900" indent="-342900" eaLnBrk="1" fontAlgn="auto" hangingPunct="1">
              <a:spcBef>
                <a:spcPct val="20000"/>
              </a:spcBef>
              <a:spcAft>
                <a:spcPts val="0"/>
              </a:spcAft>
              <a:buFont typeface="Wingdings" pitchFamily="48" charset="2"/>
              <a:buNone/>
              <a:defRPr/>
            </a:pPr>
            <a:endParaRPr lang="en-US" sz="2400" dirty="0">
              <a:latin typeface="+mn-lt"/>
              <a:cs typeface="+mn-cs"/>
            </a:endParaRPr>
          </a:p>
        </p:txBody>
      </p:sp>
      <p:sp>
        <p:nvSpPr>
          <p:cNvPr id="9" name="Footer Placeholder 41"/>
          <p:cNvSpPr txBox="1">
            <a:spLocks/>
          </p:cNvSpPr>
          <p:nvPr/>
        </p:nvSpPr>
        <p:spPr>
          <a:xfrm>
            <a:off x="142875" y="6492875"/>
            <a:ext cx="3200400" cy="365125"/>
          </a:xfrm>
          <a:prstGeom prst="rect">
            <a:avLst/>
          </a:prstGeom>
        </p:spPr>
        <p:txBody>
          <a:bodyPr anchor="ctr"/>
          <a:lstStyle/>
          <a:p>
            <a:pPr eaLnBrk="1" fontAlgn="auto" hangingPunct="1">
              <a:spcBef>
                <a:spcPts val="0"/>
              </a:spcBef>
              <a:spcAft>
                <a:spcPts val="0"/>
              </a:spcAft>
              <a:defRPr/>
            </a:pPr>
            <a:r>
              <a:rPr lang="en-US" sz="1400" dirty="0">
                <a:solidFill>
                  <a:schemeClr val="tx1">
                    <a:tint val="75000"/>
                  </a:schemeClr>
                </a:solidFill>
                <a:latin typeface="+mn-lt"/>
                <a:cs typeface="+mn-cs"/>
              </a:rPr>
              <a:t>MBL. BT453</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2"/>
          <p:cNvSpPr>
            <a:spLocks noGrp="1" noChangeArrowheads="1"/>
          </p:cNvSpPr>
          <p:nvPr>
            <p:ph type="sldNum" sz="quarter" idx="12"/>
          </p:nvPr>
        </p:nvSpPr>
        <p:spPr bwMode="auto">
          <a:noFill/>
          <a:ln>
            <a:miter lim="800000"/>
            <a:headEnd/>
            <a:tailEnd/>
          </a:ln>
        </p:spPr>
        <p:txBody>
          <a:bodyPr/>
          <a:lstStyle/>
          <a:p>
            <a:fld id="{2170D8F0-D5D8-4200-9638-11E3AD73841F}" type="slidenum">
              <a:rPr lang="en-US" altLang="ar-JO"/>
              <a:pPr/>
              <a:t>5</a:t>
            </a:fld>
            <a:endParaRPr lang="en-US" altLang="ar-JO"/>
          </a:p>
        </p:txBody>
      </p:sp>
      <p:cxnSp>
        <p:nvCxnSpPr>
          <p:cNvPr id="4" name="Straight Connector 3"/>
          <p:cNvCxnSpPr/>
          <p:nvPr/>
        </p:nvCxnSpPr>
        <p:spPr>
          <a:xfrm>
            <a:off x="785813" y="928688"/>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itle 4"/>
          <p:cNvSpPr txBox="1">
            <a:spLocks/>
          </p:cNvSpPr>
          <p:nvPr/>
        </p:nvSpPr>
        <p:spPr>
          <a:xfrm>
            <a:off x="819150" y="214313"/>
            <a:ext cx="7467600" cy="488950"/>
          </a:xfrm>
          <a:prstGeom prst="rect">
            <a:avLst/>
          </a:prstGeom>
        </p:spPr>
        <p:txBody>
          <a:bodyPr/>
          <a:lstStyle/>
          <a:p>
            <a:pPr algn="ctr" eaLnBrk="1" fontAlgn="auto" hangingPunct="1">
              <a:spcAft>
                <a:spcPts val="0"/>
              </a:spcAft>
              <a:defRPr/>
            </a:pPr>
            <a:r>
              <a:rPr lang="en-US" sz="3200" b="1" dirty="0" err="1">
                <a:solidFill>
                  <a:schemeClr val="accent1"/>
                </a:solidFill>
                <a:latin typeface="+mj-lt"/>
                <a:ea typeface="+mj-ea"/>
                <a:cs typeface="+mj-cs"/>
              </a:rPr>
              <a:t>Spectrophotometery</a:t>
            </a:r>
            <a:r>
              <a:rPr lang="en-US" sz="3200" b="1" dirty="0">
                <a:solidFill>
                  <a:schemeClr val="accent1"/>
                </a:solidFill>
                <a:latin typeface="+mj-lt"/>
                <a:ea typeface="+mj-ea"/>
                <a:cs typeface="+mj-cs"/>
              </a:rPr>
              <a:t> of Nucleic acids</a:t>
            </a:r>
          </a:p>
        </p:txBody>
      </p:sp>
      <p:sp>
        <p:nvSpPr>
          <p:cNvPr id="6" name="Footer Placeholder 41"/>
          <p:cNvSpPr txBox="1">
            <a:spLocks/>
          </p:cNvSpPr>
          <p:nvPr/>
        </p:nvSpPr>
        <p:spPr>
          <a:xfrm>
            <a:off x="142875" y="6492875"/>
            <a:ext cx="3200400" cy="365125"/>
          </a:xfrm>
          <a:prstGeom prst="rect">
            <a:avLst/>
          </a:prstGeom>
        </p:spPr>
        <p:txBody>
          <a:bodyPr anchor="ctr"/>
          <a:lstStyle/>
          <a:p>
            <a:pPr eaLnBrk="1" fontAlgn="auto" hangingPunct="1">
              <a:spcBef>
                <a:spcPts val="0"/>
              </a:spcBef>
              <a:spcAft>
                <a:spcPts val="0"/>
              </a:spcAft>
              <a:defRPr/>
            </a:pPr>
            <a:r>
              <a:rPr lang="en-US" sz="1400" dirty="0">
                <a:solidFill>
                  <a:schemeClr val="tx1">
                    <a:tint val="75000"/>
                  </a:schemeClr>
                </a:solidFill>
                <a:latin typeface="+mn-lt"/>
                <a:cs typeface="+mn-cs"/>
              </a:rPr>
              <a:t>MBL. BT453</a:t>
            </a:r>
          </a:p>
        </p:txBody>
      </p:sp>
      <p:pic>
        <p:nvPicPr>
          <p:cNvPr id="10246" name="Picture 4" descr="The image “file:///C:/Documents%20and%20Settings/Benjamin/Desktop/Course%20Material/Genetics%20lectures/From%20Publisher/Chapter_10/Present/Figures/10_07.jpg” cannot be displayed, because it contains errors."/>
          <p:cNvPicPr>
            <a:picLocks noChangeAspect="1" noChangeArrowheads="1"/>
          </p:cNvPicPr>
          <p:nvPr/>
        </p:nvPicPr>
        <p:blipFill>
          <a:blip r:embed="rId3"/>
          <a:srcRect/>
          <a:stretch>
            <a:fillRect/>
          </a:stretch>
        </p:blipFill>
        <p:spPr bwMode="auto">
          <a:xfrm>
            <a:off x="4678363" y="1214438"/>
            <a:ext cx="3894137" cy="5248275"/>
          </a:xfrm>
          <a:prstGeom prst="rect">
            <a:avLst/>
          </a:prstGeom>
          <a:noFill/>
          <a:ln w="9525">
            <a:noFill/>
            <a:miter lim="800000"/>
            <a:headEnd/>
            <a:tailEnd/>
          </a:ln>
        </p:spPr>
      </p:pic>
      <p:sp>
        <p:nvSpPr>
          <p:cNvPr id="10247" name="Rectangle 3"/>
          <p:cNvSpPr txBox="1">
            <a:spLocks noChangeArrowheads="1"/>
          </p:cNvSpPr>
          <p:nvPr/>
        </p:nvSpPr>
        <p:spPr bwMode="auto">
          <a:xfrm>
            <a:off x="642938" y="1857375"/>
            <a:ext cx="3386137" cy="3643313"/>
          </a:xfrm>
          <a:prstGeom prst="rect">
            <a:avLst/>
          </a:prstGeom>
          <a:noFill/>
          <a:ln w="9525">
            <a:noFill/>
            <a:miter lim="800000"/>
            <a:headEnd/>
            <a:tailEnd/>
          </a:ln>
        </p:spPr>
        <p:txBody>
          <a:bodyPr/>
          <a:lstStyle/>
          <a:p>
            <a:pPr marL="342900" indent="-342900" eaLnBrk="1" hangingPunct="1">
              <a:spcBef>
                <a:spcPct val="20000"/>
              </a:spcBef>
              <a:buFont typeface="Arial" pitchFamily="34" charset="0"/>
              <a:buChar char="•"/>
            </a:pPr>
            <a:r>
              <a:rPr lang="en-US" altLang="ar-JO" sz="2400">
                <a:latin typeface="Calibri" pitchFamily="34" charset="0"/>
              </a:rPr>
              <a:t>The amino acids tryptophan, tyrosine absorb light in the UV wavelength</a:t>
            </a:r>
          </a:p>
          <a:p>
            <a:pPr marL="342900" indent="-342900" eaLnBrk="1" hangingPunct="1">
              <a:spcBef>
                <a:spcPct val="20000"/>
              </a:spcBef>
              <a:buFont typeface="Arial" pitchFamily="34" charset="0"/>
              <a:buChar char="•"/>
            </a:pPr>
            <a:endParaRPr lang="en-US" altLang="ar-JO" sz="2400">
              <a:latin typeface="Calibri" pitchFamily="34" charset="0"/>
            </a:endParaRPr>
          </a:p>
          <a:p>
            <a:pPr marL="342900" indent="-342900" eaLnBrk="1" hangingPunct="1">
              <a:spcBef>
                <a:spcPct val="20000"/>
              </a:spcBef>
              <a:buFont typeface="Arial" pitchFamily="34" charset="0"/>
              <a:buChar char="•"/>
            </a:pPr>
            <a:r>
              <a:rPr lang="en-US" altLang="ar-JO" sz="2400">
                <a:latin typeface="Calibri" pitchFamily="34" charset="0"/>
              </a:rPr>
              <a:t>Aromatic rings in the bases of nucleic acids also absorb light in the UV range</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2"/>
          <p:cNvSpPr>
            <a:spLocks noGrp="1" noChangeArrowheads="1"/>
          </p:cNvSpPr>
          <p:nvPr>
            <p:ph type="sldNum" sz="quarter" idx="12"/>
          </p:nvPr>
        </p:nvSpPr>
        <p:spPr bwMode="auto">
          <a:noFill/>
          <a:ln>
            <a:miter lim="800000"/>
            <a:headEnd/>
            <a:tailEnd/>
          </a:ln>
        </p:spPr>
        <p:txBody>
          <a:bodyPr/>
          <a:lstStyle/>
          <a:p>
            <a:fld id="{644ECBAF-42E9-487B-A6C4-F714B55BA598}" type="slidenum">
              <a:rPr lang="en-US" altLang="ar-JO"/>
              <a:pPr/>
              <a:t>6</a:t>
            </a:fld>
            <a:endParaRPr lang="en-US" altLang="ar-JO"/>
          </a:p>
        </p:txBody>
      </p:sp>
      <p:cxnSp>
        <p:nvCxnSpPr>
          <p:cNvPr id="4" name="Straight Connector 3"/>
          <p:cNvCxnSpPr/>
          <p:nvPr/>
        </p:nvCxnSpPr>
        <p:spPr>
          <a:xfrm>
            <a:off x="785813" y="928688"/>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itle 4"/>
          <p:cNvSpPr txBox="1">
            <a:spLocks/>
          </p:cNvSpPr>
          <p:nvPr/>
        </p:nvSpPr>
        <p:spPr>
          <a:xfrm>
            <a:off x="819150" y="214313"/>
            <a:ext cx="7467600" cy="488950"/>
          </a:xfrm>
          <a:prstGeom prst="rect">
            <a:avLst/>
          </a:prstGeom>
        </p:spPr>
        <p:txBody>
          <a:bodyPr/>
          <a:lstStyle/>
          <a:p>
            <a:pPr algn="ctr" eaLnBrk="1" fontAlgn="auto" hangingPunct="1">
              <a:spcAft>
                <a:spcPts val="0"/>
              </a:spcAft>
              <a:defRPr/>
            </a:pPr>
            <a:r>
              <a:rPr lang="en-US" sz="3200" b="1" dirty="0" err="1">
                <a:solidFill>
                  <a:schemeClr val="tx2">
                    <a:lumMod val="60000"/>
                    <a:lumOff val="40000"/>
                  </a:schemeClr>
                </a:solidFill>
                <a:latin typeface="+mj-lt"/>
                <a:ea typeface="+mj-ea"/>
                <a:cs typeface="+mj-cs"/>
              </a:rPr>
              <a:t>Spectrophotometery</a:t>
            </a:r>
            <a:endParaRPr lang="en-US" sz="3200" b="1" dirty="0">
              <a:solidFill>
                <a:schemeClr val="tx2">
                  <a:lumMod val="60000"/>
                  <a:lumOff val="40000"/>
                </a:schemeClr>
              </a:solidFill>
              <a:latin typeface="+mj-lt"/>
              <a:ea typeface="+mj-ea"/>
              <a:cs typeface="+mj-cs"/>
            </a:endParaRPr>
          </a:p>
        </p:txBody>
      </p:sp>
      <p:sp>
        <p:nvSpPr>
          <p:cNvPr id="6" name="Footer Placeholder 41"/>
          <p:cNvSpPr txBox="1">
            <a:spLocks/>
          </p:cNvSpPr>
          <p:nvPr/>
        </p:nvSpPr>
        <p:spPr>
          <a:xfrm>
            <a:off x="142875" y="6492875"/>
            <a:ext cx="3200400" cy="365125"/>
          </a:xfrm>
          <a:prstGeom prst="rect">
            <a:avLst/>
          </a:prstGeom>
        </p:spPr>
        <p:txBody>
          <a:bodyPr anchor="ctr"/>
          <a:lstStyle/>
          <a:p>
            <a:pPr eaLnBrk="1" fontAlgn="auto" hangingPunct="1">
              <a:spcBef>
                <a:spcPts val="0"/>
              </a:spcBef>
              <a:spcAft>
                <a:spcPts val="0"/>
              </a:spcAft>
              <a:defRPr/>
            </a:pPr>
            <a:r>
              <a:rPr lang="en-US" sz="1400" dirty="0">
                <a:solidFill>
                  <a:schemeClr val="tx1">
                    <a:tint val="75000"/>
                  </a:schemeClr>
                </a:solidFill>
                <a:latin typeface="+mn-lt"/>
                <a:cs typeface="+mn-cs"/>
              </a:rPr>
              <a:t>MBL. BT453</a:t>
            </a:r>
          </a:p>
        </p:txBody>
      </p:sp>
      <p:pic>
        <p:nvPicPr>
          <p:cNvPr id="12294" name="Picture 3"/>
          <p:cNvPicPr>
            <a:picLocks noChangeAspect="1" noChangeArrowheads="1"/>
          </p:cNvPicPr>
          <p:nvPr/>
        </p:nvPicPr>
        <p:blipFill>
          <a:blip r:embed="rId2"/>
          <a:srcRect t="8913" b="9100"/>
          <a:stretch>
            <a:fillRect/>
          </a:stretch>
        </p:blipFill>
        <p:spPr bwMode="auto">
          <a:xfrm>
            <a:off x="1643063" y="1785938"/>
            <a:ext cx="5729287" cy="3071812"/>
          </a:xfrm>
          <a:prstGeom prst="rect">
            <a:avLst/>
          </a:prstGeom>
          <a:noFill/>
          <a:ln w="9525">
            <a:noFill/>
            <a:miter lim="800000"/>
            <a:headEnd/>
            <a:tailEnd/>
          </a:ln>
        </p:spPr>
      </p:pic>
      <p:sp>
        <p:nvSpPr>
          <p:cNvPr id="12295" name="TextBox 7"/>
          <p:cNvSpPr txBox="1">
            <a:spLocks noChangeArrowheads="1"/>
          </p:cNvSpPr>
          <p:nvPr/>
        </p:nvSpPr>
        <p:spPr bwMode="auto">
          <a:xfrm>
            <a:off x="1571625" y="5214938"/>
            <a:ext cx="5715000" cy="276225"/>
          </a:xfrm>
          <a:prstGeom prst="rect">
            <a:avLst/>
          </a:prstGeom>
          <a:noFill/>
          <a:ln w="9525">
            <a:noFill/>
            <a:miter lim="800000"/>
            <a:headEnd/>
            <a:tailEnd/>
          </a:ln>
        </p:spPr>
        <p:txBody>
          <a:bodyPr>
            <a:spAutoFit/>
          </a:bodyPr>
          <a:lstStyle/>
          <a:p>
            <a:pPr algn="ctr" eaLnBrk="1" hangingPunct="1"/>
            <a:r>
              <a:rPr lang="en-US" altLang="ar-JO" sz="1200">
                <a:solidFill>
                  <a:schemeClr val="accent1"/>
                </a:solidFill>
                <a:latin typeface="Calibri" pitchFamily="34" charset="0"/>
              </a:rPr>
              <a:t>Campbell A. and Reece B. (2001). Biology. 6</a:t>
            </a:r>
            <a:r>
              <a:rPr lang="en-US" altLang="ar-JO" sz="1200" baseline="30000">
                <a:solidFill>
                  <a:schemeClr val="accent1"/>
                </a:solidFill>
                <a:latin typeface="Calibri" pitchFamily="34" charset="0"/>
              </a:rPr>
              <a:t>th</a:t>
            </a:r>
            <a:r>
              <a:rPr lang="en-US" altLang="ar-JO" sz="1200">
                <a:solidFill>
                  <a:schemeClr val="accent1"/>
                </a:solidFill>
                <a:latin typeface="Calibri" pitchFamily="34" charset="0"/>
              </a:rPr>
              <a:t> edition, Benjamin Cummings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2"/>
          <p:cNvSpPr>
            <a:spLocks noGrp="1" noChangeArrowheads="1"/>
          </p:cNvSpPr>
          <p:nvPr>
            <p:ph type="sldNum" sz="quarter" idx="12"/>
          </p:nvPr>
        </p:nvSpPr>
        <p:spPr bwMode="auto">
          <a:noFill/>
          <a:ln>
            <a:miter lim="800000"/>
            <a:headEnd/>
            <a:tailEnd/>
          </a:ln>
        </p:spPr>
        <p:txBody>
          <a:bodyPr/>
          <a:lstStyle/>
          <a:p>
            <a:fld id="{034D1E24-19FE-4ACF-841A-CC0DB798DD9F}" type="slidenum">
              <a:rPr lang="en-US" altLang="ar-JO"/>
              <a:pPr/>
              <a:t>7</a:t>
            </a:fld>
            <a:endParaRPr lang="en-US" altLang="ar-JO"/>
          </a:p>
        </p:txBody>
      </p:sp>
      <p:cxnSp>
        <p:nvCxnSpPr>
          <p:cNvPr id="4" name="Straight Connector 3"/>
          <p:cNvCxnSpPr/>
          <p:nvPr/>
        </p:nvCxnSpPr>
        <p:spPr>
          <a:xfrm>
            <a:off x="785813" y="928688"/>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itle 4"/>
          <p:cNvSpPr txBox="1">
            <a:spLocks/>
          </p:cNvSpPr>
          <p:nvPr/>
        </p:nvSpPr>
        <p:spPr>
          <a:xfrm>
            <a:off x="819150" y="214313"/>
            <a:ext cx="7467600" cy="488950"/>
          </a:xfrm>
          <a:prstGeom prst="rect">
            <a:avLst/>
          </a:prstGeom>
        </p:spPr>
        <p:txBody>
          <a:bodyPr/>
          <a:lstStyle/>
          <a:p>
            <a:pPr algn="ctr" eaLnBrk="1" fontAlgn="auto" hangingPunct="1">
              <a:spcAft>
                <a:spcPts val="0"/>
              </a:spcAft>
              <a:defRPr/>
            </a:pPr>
            <a:r>
              <a:rPr lang="en-US" sz="3200" b="1" dirty="0">
                <a:solidFill>
                  <a:schemeClr val="tx2">
                    <a:lumMod val="60000"/>
                    <a:lumOff val="40000"/>
                  </a:schemeClr>
                </a:solidFill>
                <a:latin typeface="+mn-lt"/>
                <a:cs typeface="+mn-cs"/>
              </a:rPr>
              <a:t>Spectrophotometers</a:t>
            </a:r>
          </a:p>
        </p:txBody>
      </p:sp>
      <p:sp>
        <p:nvSpPr>
          <p:cNvPr id="6" name="Footer Placeholder 41"/>
          <p:cNvSpPr txBox="1">
            <a:spLocks/>
          </p:cNvSpPr>
          <p:nvPr/>
        </p:nvSpPr>
        <p:spPr>
          <a:xfrm>
            <a:off x="142875" y="6492875"/>
            <a:ext cx="3200400" cy="365125"/>
          </a:xfrm>
          <a:prstGeom prst="rect">
            <a:avLst/>
          </a:prstGeom>
        </p:spPr>
        <p:txBody>
          <a:bodyPr anchor="ctr"/>
          <a:lstStyle/>
          <a:p>
            <a:pPr eaLnBrk="1" fontAlgn="auto" hangingPunct="1">
              <a:spcBef>
                <a:spcPts val="0"/>
              </a:spcBef>
              <a:spcAft>
                <a:spcPts val="0"/>
              </a:spcAft>
              <a:defRPr/>
            </a:pPr>
            <a:r>
              <a:rPr lang="en-US" sz="1400" dirty="0">
                <a:solidFill>
                  <a:schemeClr val="tx1">
                    <a:tint val="75000"/>
                  </a:schemeClr>
                </a:solidFill>
                <a:latin typeface="+mn-lt"/>
                <a:cs typeface="+mn-cs"/>
              </a:rPr>
              <a:t>MBL. BT453</a:t>
            </a:r>
          </a:p>
        </p:txBody>
      </p:sp>
      <p:sp>
        <p:nvSpPr>
          <p:cNvPr id="17" name="AutoShape 8"/>
          <p:cNvSpPr>
            <a:spLocks noChangeArrowheads="1"/>
          </p:cNvSpPr>
          <p:nvPr/>
        </p:nvSpPr>
        <p:spPr bwMode="auto">
          <a:xfrm>
            <a:off x="6853238" y="2305050"/>
            <a:ext cx="1600200" cy="685800"/>
          </a:xfrm>
          <a:prstGeom prst="roundRect">
            <a:avLst>
              <a:gd name="adj" fmla="val 16667"/>
            </a:avLst>
          </a:prstGeom>
          <a:solidFill>
            <a:schemeClr val="accent6">
              <a:lumMod val="20000"/>
              <a:lumOff val="80000"/>
            </a:schemeClr>
          </a:solidFill>
          <a:ln w="9525">
            <a:solidFill>
              <a:schemeClr val="tx1"/>
            </a:solidFill>
            <a:round/>
            <a:headEnd/>
            <a:tailEnd/>
          </a:ln>
        </p:spPr>
        <p:txBody>
          <a:bodyPr wrap="none" anchor="ctr"/>
          <a:lstStyle/>
          <a:p>
            <a:pPr eaLnBrk="1" fontAlgn="auto" hangingPunct="1">
              <a:spcBef>
                <a:spcPts val="0"/>
              </a:spcBef>
              <a:spcAft>
                <a:spcPts val="0"/>
              </a:spcAft>
              <a:defRPr/>
            </a:pPr>
            <a:endParaRPr lang="en-US">
              <a:latin typeface="+mn-lt"/>
              <a:cs typeface="+mn-cs"/>
            </a:endParaRPr>
          </a:p>
        </p:txBody>
      </p:sp>
      <p:sp>
        <p:nvSpPr>
          <p:cNvPr id="13319" name="Text Box 9"/>
          <p:cNvSpPr txBox="1">
            <a:spLocks noChangeArrowheads="1"/>
          </p:cNvSpPr>
          <p:nvPr/>
        </p:nvSpPr>
        <p:spPr bwMode="auto">
          <a:xfrm>
            <a:off x="985838" y="3371850"/>
            <a:ext cx="838200" cy="336550"/>
          </a:xfrm>
          <a:prstGeom prst="rect">
            <a:avLst/>
          </a:prstGeom>
          <a:noFill/>
          <a:ln w="9525">
            <a:noFill/>
            <a:miter lim="800000"/>
            <a:headEnd/>
            <a:tailEnd/>
          </a:ln>
        </p:spPr>
        <p:txBody>
          <a:bodyPr>
            <a:spAutoFit/>
          </a:bodyPr>
          <a:lstStyle/>
          <a:p>
            <a:pPr eaLnBrk="1" hangingPunct="1">
              <a:spcBef>
                <a:spcPct val="50000"/>
              </a:spcBef>
            </a:pPr>
            <a:r>
              <a:rPr lang="en-US" altLang="ar-JO" sz="1600">
                <a:latin typeface="Calibri" pitchFamily="34" charset="0"/>
              </a:rPr>
              <a:t>Lamp</a:t>
            </a:r>
          </a:p>
        </p:txBody>
      </p:sp>
      <p:sp>
        <p:nvSpPr>
          <p:cNvPr id="13320" name="Text Box 14"/>
          <p:cNvSpPr txBox="1">
            <a:spLocks noChangeArrowheads="1"/>
          </p:cNvSpPr>
          <p:nvPr/>
        </p:nvSpPr>
        <p:spPr bwMode="auto">
          <a:xfrm>
            <a:off x="2143125" y="3090863"/>
            <a:ext cx="1981200" cy="304800"/>
          </a:xfrm>
          <a:prstGeom prst="rect">
            <a:avLst/>
          </a:prstGeom>
          <a:noFill/>
          <a:ln w="9525">
            <a:noFill/>
            <a:miter lim="800000"/>
            <a:headEnd/>
            <a:tailEnd/>
          </a:ln>
        </p:spPr>
        <p:txBody>
          <a:bodyPr>
            <a:spAutoFit/>
          </a:bodyPr>
          <a:lstStyle/>
          <a:p>
            <a:pPr algn="ctr" eaLnBrk="1" hangingPunct="1">
              <a:spcBef>
                <a:spcPct val="50000"/>
              </a:spcBef>
            </a:pPr>
            <a:r>
              <a:rPr lang="en-US" altLang="ar-JO" sz="1400">
                <a:latin typeface="Calibri" pitchFamily="34" charset="0"/>
              </a:rPr>
              <a:t>Monochromator</a:t>
            </a:r>
          </a:p>
        </p:txBody>
      </p:sp>
      <p:sp>
        <p:nvSpPr>
          <p:cNvPr id="13321" name="Text Box 15"/>
          <p:cNvSpPr txBox="1">
            <a:spLocks noChangeArrowheads="1"/>
          </p:cNvSpPr>
          <p:nvPr/>
        </p:nvSpPr>
        <p:spPr bwMode="auto">
          <a:xfrm>
            <a:off x="4795838" y="3752850"/>
            <a:ext cx="1143000" cy="366713"/>
          </a:xfrm>
          <a:prstGeom prst="rect">
            <a:avLst/>
          </a:prstGeom>
          <a:noFill/>
          <a:ln w="9525">
            <a:noFill/>
            <a:miter lim="800000"/>
            <a:headEnd/>
            <a:tailEnd/>
          </a:ln>
        </p:spPr>
        <p:txBody>
          <a:bodyPr>
            <a:spAutoFit/>
          </a:bodyPr>
          <a:lstStyle/>
          <a:p>
            <a:pPr eaLnBrk="1" hangingPunct="1">
              <a:spcBef>
                <a:spcPct val="50000"/>
              </a:spcBef>
            </a:pPr>
            <a:r>
              <a:rPr lang="en-US" altLang="ar-JO">
                <a:latin typeface="Calibri" pitchFamily="34" charset="0"/>
              </a:rPr>
              <a:t>Cuvette</a:t>
            </a:r>
          </a:p>
        </p:txBody>
      </p:sp>
      <p:sp>
        <p:nvSpPr>
          <p:cNvPr id="13322" name="Text Box 16"/>
          <p:cNvSpPr txBox="1">
            <a:spLocks noChangeArrowheads="1"/>
          </p:cNvSpPr>
          <p:nvPr/>
        </p:nvSpPr>
        <p:spPr bwMode="auto">
          <a:xfrm>
            <a:off x="7000875" y="3233738"/>
            <a:ext cx="1295400" cy="366712"/>
          </a:xfrm>
          <a:prstGeom prst="rect">
            <a:avLst/>
          </a:prstGeom>
          <a:noFill/>
          <a:ln w="9525">
            <a:noFill/>
            <a:miter lim="800000"/>
            <a:headEnd/>
            <a:tailEnd/>
          </a:ln>
        </p:spPr>
        <p:txBody>
          <a:bodyPr>
            <a:spAutoFit/>
          </a:bodyPr>
          <a:lstStyle/>
          <a:p>
            <a:pPr algn="ctr" eaLnBrk="1" hangingPunct="1">
              <a:spcBef>
                <a:spcPct val="50000"/>
              </a:spcBef>
            </a:pPr>
            <a:r>
              <a:rPr lang="en-US" altLang="ar-JO">
                <a:latin typeface="Calibri" pitchFamily="34" charset="0"/>
              </a:rPr>
              <a:t>Detector</a:t>
            </a:r>
          </a:p>
        </p:txBody>
      </p:sp>
      <p:sp>
        <p:nvSpPr>
          <p:cNvPr id="13323" name="Line 17"/>
          <p:cNvSpPr>
            <a:spLocks noChangeShapeType="1"/>
          </p:cNvSpPr>
          <p:nvPr/>
        </p:nvSpPr>
        <p:spPr bwMode="auto">
          <a:xfrm>
            <a:off x="1285875" y="2090738"/>
            <a:ext cx="1143000" cy="214312"/>
          </a:xfrm>
          <a:prstGeom prst="line">
            <a:avLst/>
          </a:prstGeom>
          <a:noFill/>
          <a:ln w="9525">
            <a:solidFill>
              <a:schemeClr val="tx1"/>
            </a:solidFill>
            <a:round/>
            <a:headEnd/>
            <a:tailEnd/>
          </a:ln>
        </p:spPr>
        <p:txBody>
          <a:bodyPr wrap="none" anchor="ctr"/>
          <a:lstStyle/>
          <a:p>
            <a:endParaRPr lang="ar-JO"/>
          </a:p>
        </p:txBody>
      </p:sp>
      <p:sp>
        <p:nvSpPr>
          <p:cNvPr id="13324" name="Line 18"/>
          <p:cNvSpPr>
            <a:spLocks noChangeShapeType="1"/>
          </p:cNvSpPr>
          <p:nvPr/>
        </p:nvSpPr>
        <p:spPr bwMode="auto">
          <a:xfrm flipV="1">
            <a:off x="1285875" y="2947988"/>
            <a:ext cx="1214438" cy="214312"/>
          </a:xfrm>
          <a:prstGeom prst="line">
            <a:avLst/>
          </a:prstGeom>
          <a:noFill/>
          <a:ln w="9525">
            <a:solidFill>
              <a:schemeClr val="tx1"/>
            </a:solidFill>
            <a:round/>
            <a:headEnd/>
            <a:tailEnd/>
          </a:ln>
        </p:spPr>
        <p:txBody>
          <a:bodyPr wrap="none" anchor="ctr"/>
          <a:lstStyle/>
          <a:p>
            <a:endParaRPr lang="ar-JO"/>
          </a:p>
        </p:txBody>
      </p:sp>
      <p:sp>
        <p:nvSpPr>
          <p:cNvPr id="30" name="Freeform 29"/>
          <p:cNvSpPr/>
          <p:nvPr/>
        </p:nvSpPr>
        <p:spPr>
          <a:xfrm>
            <a:off x="3929063" y="2476500"/>
            <a:ext cx="1071562" cy="350838"/>
          </a:xfrm>
          <a:custGeom>
            <a:avLst/>
            <a:gdLst>
              <a:gd name="connsiteX0" fmla="*/ 0 w 4429760"/>
              <a:gd name="connsiteY0" fmla="*/ 416560 h 459232"/>
              <a:gd name="connsiteX1" fmla="*/ 1060704 w 4429760"/>
              <a:gd name="connsiteY1" fmla="*/ 2032 h 459232"/>
              <a:gd name="connsiteX2" fmla="*/ 2206752 w 4429760"/>
              <a:gd name="connsiteY2" fmla="*/ 428752 h 459232"/>
              <a:gd name="connsiteX3" fmla="*/ 3072384 w 4429760"/>
              <a:gd name="connsiteY3" fmla="*/ 38608 h 459232"/>
              <a:gd name="connsiteX4" fmla="*/ 4218432 w 4429760"/>
              <a:gd name="connsiteY4" fmla="*/ 392176 h 459232"/>
              <a:gd name="connsiteX5" fmla="*/ 4340352 w 4429760"/>
              <a:gd name="connsiteY5" fmla="*/ 440944 h 459232"/>
              <a:gd name="connsiteX0" fmla="*/ 0 w 4429760"/>
              <a:gd name="connsiteY0" fmla="*/ 598386 h 676781"/>
              <a:gd name="connsiteX1" fmla="*/ 1060704 w 4429760"/>
              <a:gd name="connsiteY1" fmla="*/ 183858 h 676781"/>
              <a:gd name="connsiteX2" fmla="*/ 2206752 w 4429760"/>
              <a:gd name="connsiteY2" fmla="*/ 610578 h 676781"/>
              <a:gd name="connsiteX3" fmla="*/ 3072385 w 4429760"/>
              <a:gd name="connsiteY3" fmla="*/ 6096 h 676781"/>
              <a:gd name="connsiteX4" fmla="*/ 4218432 w 4429760"/>
              <a:gd name="connsiteY4" fmla="*/ 574002 h 676781"/>
              <a:gd name="connsiteX5" fmla="*/ 4340352 w 4429760"/>
              <a:gd name="connsiteY5" fmla="*/ 622770 h 676781"/>
              <a:gd name="connsiteX0" fmla="*/ 0 w 4429760"/>
              <a:gd name="connsiteY0" fmla="*/ 630898 h 709293"/>
              <a:gd name="connsiteX1" fmla="*/ 1060704 w 4429760"/>
              <a:gd name="connsiteY1" fmla="*/ 2032 h 709293"/>
              <a:gd name="connsiteX2" fmla="*/ 2206752 w 4429760"/>
              <a:gd name="connsiteY2" fmla="*/ 643090 h 709293"/>
              <a:gd name="connsiteX3" fmla="*/ 3072385 w 4429760"/>
              <a:gd name="connsiteY3" fmla="*/ 38608 h 709293"/>
              <a:gd name="connsiteX4" fmla="*/ 4218432 w 4429760"/>
              <a:gd name="connsiteY4" fmla="*/ 606514 h 709293"/>
              <a:gd name="connsiteX5" fmla="*/ 4340352 w 4429760"/>
              <a:gd name="connsiteY5" fmla="*/ 655282 h 709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29760" h="709293">
                <a:moveTo>
                  <a:pt x="0" y="630898"/>
                </a:moveTo>
                <a:cubicBezTo>
                  <a:pt x="346456" y="422618"/>
                  <a:pt x="692912" y="0"/>
                  <a:pt x="1060704" y="2032"/>
                </a:cubicBezTo>
                <a:cubicBezTo>
                  <a:pt x="1428496" y="4064"/>
                  <a:pt x="1871472" y="636994"/>
                  <a:pt x="2206752" y="643090"/>
                </a:cubicBezTo>
                <a:cubicBezTo>
                  <a:pt x="2542032" y="649186"/>
                  <a:pt x="2737105" y="44704"/>
                  <a:pt x="3072385" y="38608"/>
                </a:cubicBezTo>
                <a:cubicBezTo>
                  <a:pt x="3407665" y="32512"/>
                  <a:pt x="4007104" y="503735"/>
                  <a:pt x="4218432" y="606514"/>
                </a:cubicBezTo>
                <a:cubicBezTo>
                  <a:pt x="4429760" y="709293"/>
                  <a:pt x="4385056" y="664426"/>
                  <a:pt x="4340352" y="655282"/>
                </a:cubicBezTo>
              </a:path>
            </a:pathLst>
          </a:custGeom>
          <a:ln w="63500"/>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sp>
        <p:nvSpPr>
          <p:cNvPr id="31" name="Freeform 30"/>
          <p:cNvSpPr/>
          <p:nvPr/>
        </p:nvSpPr>
        <p:spPr>
          <a:xfrm>
            <a:off x="5572125" y="2476500"/>
            <a:ext cx="1285875" cy="350838"/>
          </a:xfrm>
          <a:custGeom>
            <a:avLst/>
            <a:gdLst>
              <a:gd name="connsiteX0" fmla="*/ 0 w 4429760"/>
              <a:gd name="connsiteY0" fmla="*/ 416560 h 459232"/>
              <a:gd name="connsiteX1" fmla="*/ 1060704 w 4429760"/>
              <a:gd name="connsiteY1" fmla="*/ 2032 h 459232"/>
              <a:gd name="connsiteX2" fmla="*/ 2206752 w 4429760"/>
              <a:gd name="connsiteY2" fmla="*/ 428752 h 459232"/>
              <a:gd name="connsiteX3" fmla="*/ 3072384 w 4429760"/>
              <a:gd name="connsiteY3" fmla="*/ 38608 h 459232"/>
              <a:gd name="connsiteX4" fmla="*/ 4218432 w 4429760"/>
              <a:gd name="connsiteY4" fmla="*/ 392176 h 459232"/>
              <a:gd name="connsiteX5" fmla="*/ 4340352 w 4429760"/>
              <a:gd name="connsiteY5" fmla="*/ 440944 h 459232"/>
              <a:gd name="connsiteX0" fmla="*/ 0 w 4429760"/>
              <a:gd name="connsiteY0" fmla="*/ 598386 h 676781"/>
              <a:gd name="connsiteX1" fmla="*/ 1060704 w 4429760"/>
              <a:gd name="connsiteY1" fmla="*/ 183858 h 676781"/>
              <a:gd name="connsiteX2" fmla="*/ 2206752 w 4429760"/>
              <a:gd name="connsiteY2" fmla="*/ 610578 h 676781"/>
              <a:gd name="connsiteX3" fmla="*/ 3072385 w 4429760"/>
              <a:gd name="connsiteY3" fmla="*/ 6096 h 676781"/>
              <a:gd name="connsiteX4" fmla="*/ 4218432 w 4429760"/>
              <a:gd name="connsiteY4" fmla="*/ 574002 h 676781"/>
              <a:gd name="connsiteX5" fmla="*/ 4340352 w 4429760"/>
              <a:gd name="connsiteY5" fmla="*/ 622770 h 676781"/>
              <a:gd name="connsiteX0" fmla="*/ 0 w 4429760"/>
              <a:gd name="connsiteY0" fmla="*/ 630898 h 709293"/>
              <a:gd name="connsiteX1" fmla="*/ 1060704 w 4429760"/>
              <a:gd name="connsiteY1" fmla="*/ 2032 h 709293"/>
              <a:gd name="connsiteX2" fmla="*/ 2206752 w 4429760"/>
              <a:gd name="connsiteY2" fmla="*/ 643090 h 709293"/>
              <a:gd name="connsiteX3" fmla="*/ 3072385 w 4429760"/>
              <a:gd name="connsiteY3" fmla="*/ 38608 h 709293"/>
              <a:gd name="connsiteX4" fmla="*/ 4218432 w 4429760"/>
              <a:gd name="connsiteY4" fmla="*/ 606514 h 709293"/>
              <a:gd name="connsiteX5" fmla="*/ 4340352 w 4429760"/>
              <a:gd name="connsiteY5" fmla="*/ 655282 h 709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29760" h="709293">
                <a:moveTo>
                  <a:pt x="0" y="630898"/>
                </a:moveTo>
                <a:cubicBezTo>
                  <a:pt x="346456" y="422618"/>
                  <a:pt x="692912" y="0"/>
                  <a:pt x="1060704" y="2032"/>
                </a:cubicBezTo>
                <a:cubicBezTo>
                  <a:pt x="1428496" y="4064"/>
                  <a:pt x="1871472" y="636994"/>
                  <a:pt x="2206752" y="643090"/>
                </a:cubicBezTo>
                <a:cubicBezTo>
                  <a:pt x="2542032" y="649186"/>
                  <a:pt x="2737105" y="44704"/>
                  <a:pt x="3072385" y="38608"/>
                </a:cubicBezTo>
                <a:cubicBezTo>
                  <a:pt x="3407665" y="32512"/>
                  <a:pt x="4007104" y="503735"/>
                  <a:pt x="4218432" y="606514"/>
                </a:cubicBezTo>
                <a:cubicBezTo>
                  <a:pt x="4429760" y="709293"/>
                  <a:pt x="4385056" y="664426"/>
                  <a:pt x="4340352" y="655282"/>
                </a:cubicBez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sp>
        <p:nvSpPr>
          <p:cNvPr id="16" name="Rectangle 7"/>
          <p:cNvSpPr>
            <a:spLocks noChangeArrowheads="1"/>
          </p:cNvSpPr>
          <p:nvPr/>
        </p:nvSpPr>
        <p:spPr bwMode="auto">
          <a:xfrm>
            <a:off x="4948238" y="1924050"/>
            <a:ext cx="609600" cy="1447800"/>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eaLnBrk="1" fontAlgn="auto" hangingPunct="1">
              <a:spcBef>
                <a:spcPts val="0"/>
              </a:spcBef>
              <a:spcAft>
                <a:spcPts val="0"/>
              </a:spcAft>
              <a:defRPr/>
            </a:pPr>
            <a:endParaRPr lang="en-US">
              <a:latin typeface="+mn-lt"/>
              <a:cs typeface="+mn-cs"/>
            </a:endParaRPr>
          </a:p>
        </p:txBody>
      </p:sp>
      <p:sp>
        <p:nvSpPr>
          <p:cNvPr id="15" name="AutoShape 6"/>
          <p:cNvSpPr>
            <a:spLocks noChangeArrowheads="1"/>
          </p:cNvSpPr>
          <p:nvPr/>
        </p:nvSpPr>
        <p:spPr bwMode="auto">
          <a:xfrm>
            <a:off x="2357438" y="2305050"/>
            <a:ext cx="1600200" cy="685800"/>
          </a:xfrm>
          <a:prstGeom prst="roundRect">
            <a:avLst>
              <a:gd name="adj" fmla="val 16667"/>
            </a:avLst>
          </a:prstGeom>
          <a:solidFill>
            <a:schemeClr val="accent6">
              <a:lumMod val="20000"/>
              <a:lumOff val="80000"/>
            </a:schemeClr>
          </a:solidFill>
          <a:ln w="9525">
            <a:solidFill>
              <a:schemeClr val="tx1"/>
            </a:solidFill>
            <a:round/>
            <a:headEnd/>
            <a:tailEnd/>
          </a:ln>
        </p:spPr>
        <p:txBody>
          <a:bodyPr wrap="none" anchor="ctr"/>
          <a:lstStyle/>
          <a:p>
            <a:pPr eaLnBrk="1" fontAlgn="auto" hangingPunct="1">
              <a:spcBef>
                <a:spcPts val="0"/>
              </a:spcBef>
              <a:spcAft>
                <a:spcPts val="0"/>
              </a:spcAft>
              <a:defRPr/>
            </a:pPr>
            <a:endParaRPr lang="en-US">
              <a:latin typeface="+mn-lt"/>
              <a:cs typeface="+mn-cs"/>
            </a:endParaRPr>
          </a:p>
        </p:txBody>
      </p:sp>
      <p:sp>
        <p:nvSpPr>
          <p:cNvPr id="32" name="Line 10"/>
          <p:cNvSpPr>
            <a:spLocks noChangeShapeType="1"/>
          </p:cNvSpPr>
          <p:nvPr/>
        </p:nvSpPr>
        <p:spPr bwMode="auto">
          <a:xfrm flipV="1">
            <a:off x="1285875" y="3833813"/>
            <a:ext cx="0" cy="1295400"/>
          </a:xfrm>
          <a:prstGeom prst="line">
            <a:avLst/>
          </a:prstGeom>
          <a:noFill/>
          <a:ln w="9525">
            <a:solidFill>
              <a:schemeClr val="tx1"/>
            </a:solidFill>
            <a:round/>
            <a:headEnd/>
            <a:tailEnd type="oval" w="sm" len="sm"/>
          </a:ln>
        </p:spPr>
        <p:txBody>
          <a:bodyPr/>
          <a:lstStyle/>
          <a:p>
            <a:endParaRPr lang="ar-JO"/>
          </a:p>
        </p:txBody>
      </p:sp>
      <p:sp>
        <p:nvSpPr>
          <p:cNvPr id="33" name="Text Box 11"/>
          <p:cNvSpPr txBox="1">
            <a:spLocks noChangeArrowheads="1"/>
          </p:cNvSpPr>
          <p:nvPr/>
        </p:nvSpPr>
        <p:spPr bwMode="auto">
          <a:xfrm>
            <a:off x="500063" y="5119688"/>
            <a:ext cx="1500187" cy="522287"/>
          </a:xfrm>
          <a:prstGeom prst="rect">
            <a:avLst/>
          </a:prstGeom>
          <a:noFill/>
          <a:ln w="9525">
            <a:solidFill>
              <a:schemeClr val="tx1"/>
            </a:solidFill>
            <a:miter lim="800000"/>
            <a:headEnd/>
            <a:tailEnd/>
          </a:ln>
        </p:spPr>
        <p:txBody>
          <a:bodyPr>
            <a:spAutoFit/>
          </a:bodyPr>
          <a:lstStyle/>
          <a:p>
            <a:pPr algn="ctr" eaLnBrk="1" hangingPunct="1"/>
            <a:r>
              <a:rPr lang="en-US" altLang="ar-JO" sz="1400">
                <a:latin typeface="Calibri" pitchFamily="34" charset="0"/>
              </a:rPr>
              <a:t>Source of visible &amp; UV spectra</a:t>
            </a:r>
          </a:p>
        </p:txBody>
      </p:sp>
      <p:sp>
        <p:nvSpPr>
          <p:cNvPr id="34" name="Line 10"/>
          <p:cNvSpPr>
            <a:spLocks noChangeShapeType="1"/>
          </p:cNvSpPr>
          <p:nvPr/>
        </p:nvSpPr>
        <p:spPr bwMode="auto">
          <a:xfrm flipV="1">
            <a:off x="3071813" y="3548063"/>
            <a:ext cx="0" cy="1565275"/>
          </a:xfrm>
          <a:prstGeom prst="line">
            <a:avLst/>
          </a:prstGeom>
          <a:noFill/>
          <a:ln w="9525">
            <a:solidFill>
              <a:schemeClr val="tx1"/>
            </a:solidFill>
            <a:round/>
            <a:headEnd/>
            <a:tailEnd type="oval" w="sm" len="sm"/>
          </a:ln>
        </p:spPr>
        <p:txBody>
          <a:bodyPr/>
          <a:lstStyle/>
          <a:p>
            <a:endParaRPr lang="ar-JO"/>
          </a:p>
        </p:txBody>
      </p:sp>
      <p:sp>
        <p:nvSpPr>
          <p:cNvPr id="35" name="Text Box 11"/>
          <p:cNvSpPr txBox="1">
            <a:spLocks noChangeArrowheads="1"/>
          </p:cNvSpPr>
          <p:nvPr/>
        </p:nvSpPr>
        <p:spPr bwMode="auto">
          <a:xfrm>
            <a:off x="2214563" y="5119688"/>
            <a:ext cx="1857375" cy="1168400"/>
          </a:xfrm>
          <a:prstGeom prst="rect">
            <a:avLst/>
          </a:prstGeom>
          <a:noFill/>
          <a:ln w="9525">
            <a:solidFill>
              <a:schemeClr val="tx1"/>
            </a:solidFill>
            <a:miter lim="800000"/>
            <a:headEnd/>
            <a:tailEnd/>
          </a:ln>
        </p:spPr>
        <p:txBody>
          <a:bodyPr>
            <a:spAutoFit/>
          </a:bodyPr>
          <a:lstStyle/>
          <a:p>
            <a:pPr algn="ctr" eaLnBrk="1" hangingPunct="1"/>
            <a:r>
              <a:rPr lang="en-US" altLang="ar-JO" sz="1400">
                <a:latin typeface="Calibri" pitchFamily="34" charset="0"/>
              </a:rPr>
              <a:t>isolate a specific wavelength and allow it to pass through the solution being analyzed</a:t>
            </a:r>
          </a:p>
        </p:txBody>
      </p:sp>
      <p:pic>
        <p:nvPicPr>
          <p:cNvPr id="13333" name="Picture 5" descr="4dce1656815acc30"/>
          <p:cNvPicPr>
            <a:picLocks noChangeAspect="1" noChangeArrowheads="1"/>
          </p:cNvPicPr>
          <p:nvPr/>
        </p:nvPicPr>
        <p:blipFill>
          <a:blip r:embed="rId3"/>
          <a:srcRect/>
          <a:stretch>
            <a:fillRect/>
          </a:stretch>
        </p:blipFill>
        <p:spPr bwMode="auto">
          <a:xfrm>
            <a:off x="909638" y="2076450"/>
            <a:ext cx="833437" cy="1120775"/>
          </a:xfrm>
          <a:prstGeom prst="rect">
            <a:avLst/>
          </a:prstGeom>
          <a:noFill/>
          <a:ln w="9525">
            <a:noFill/>
            <a:miter lim="800000"/>
            <a:headEnd/>
            <a:tailEnd/>
          </a:ln>
        </p:spPr>
      </p:pic>
      <p:sp>
        <p:nvSpPr>
          <p:cNvPr id="36" name="Line 10"/>
          <p:cNvSpPr>
            <a:spLocks noChangeShapeType="1"/>
          </p:cNvSpPr>
          <p:nvPr/>
        </p:nvSpPr>
        <p:spPr bwMode="auto">
          <a:xfrm flipV="1">
            <a:off x="5214938" y="4119563"/>
            <a:ext cx="0" cy="989012"/>
          </a:xfrm>
          <a:prstGeom prst="line">
            <a:avLst/>
          </a:prstGeom>
          <a:noFill/>
          <a:ln w="9525">
            <a:solidFill>
              <a:schemeClr val="tx1"/>
            </a:solidFill>
            <a:round/>
            <a:headEnd/>
            <a:tailEnd type="oval" w="sm" len="sm"/>
          </a:ln>
        </p:spPr>
        <p:txBody>
          <a:bodyPr/>
          <a:lstStyle/>
          <a:p>
            <a:endParaRPr lang="ar-JO"/>
          </a:p>
        </p:txBody>
      </p:sp>
      <p:sp>
        <p:nvSpPr>
          <p:cNvPr id="37" name="Text Box 11"/>
          <p:cNvSpPr txBox="1">
            <a:spLocks noChangeArrowheads="1"/>
          </p:cNvSpPr>
          <p:nvPr/>
        </p:nvSpPr>
        <p:spPr bwMode="auto">
          <a:xfrm>
            <a:off x="4429125" y="5119688"/>
            <a:ext cx="1581150" cy="522287"/>
          </a:xfrm>
          <a:prstGeom prst="rect">
            <a:avLst/>
          </a:prstGeom>
          <a:noFill/>
          <a:ln w="9525">
            <a:solidFill>
              <a:schemeClr val="tx1"/>
            </a:solidFill>
            <a:miter lim="800000"/>
            <a:headEnd/>
            <a:tailEnd/>
          </a:ln>
        </p:spPr>
        <p:txBody>
          <a:bodyPr>
            <a:spAutoFit/>
          </a:bodyPr>
          <a:lstStyle/>
          <a:p>
            <a:pPr algn="ctr" eaLnBrk="1" hangingPunct="1"/>
            <a:r>
              <a:rPr lang="en-US" altLang="ar-JO" sz="1400">
                <a:latin typeface="Calibri" pitchFamily="34" charset="0"/>
              </a:rPr>
              <a:t>Where the sample is placed</a:t>
            </a:r>
          </a:p>
        </p:txBody>
      </p:sp>
      <p:sp>
        <p:nvSpPr>
          <p:cNvPr id="38" name="Line 10"/>
          <p:cNvSpPr>
            <a:spLocks noChangeShapeType="1"/>
          </p:cNvSpPr>
          <p:nvPr/>
        </p:nvSpPr>
        <p:spPr bwMode="auto">
          <a:xfrm flipV="1">
            <a:off x="7643813" y="3690938"/>
            <a:ext cx="0" cy="1439862"/>
          </a:xfrm>
          <a:prstGeom prst="line">
            <a:avLst/>
          </a:prstGeom>
          <a:noFill/>
          <a:ln w="9525">
            <a:solidFill>
              <a:schemeClr val="tx1"/>
            </a:solidFill>
            <a:round/>
            <a:headEnd/>
            <a:tailEnd type="oval" w="sm" len="sm"/>
          </a:ln>
        </p:spPr>
        <p:txBody>
          <a:bodyPr/>
          <a:lstStyle/>
          <a:p>
            <a:endParaRPr lang="ar-JO"/>
          </a:p>
        </p:txBody>
      </p:sp>
      <p:sp>
        <p:nvSpPr>
          <p:cNvPr id="39" name="Text Box 11"/>
          <p:cNvSpPr txBox="1">
            <a:spLocks noChangeArrowheads="1"/>
          </p:cNvSpPr>
          <p:nvPr/>
        </p:nvSpPr>
        <p:spPr bwMode="auto">
          <a:xfrm>
            <a:off x="6500813" y="5119688"/>
            <a:ext cx="2286000" cy="738187"/>
          </a:xfrm>
          <a:prstGeom prst="rect">
            <a:avLst/>
          </a:prstGeom>
          <a:noFill/>
          <a:ln w="9525">
            <a:solidFill>
              <a:schemeClr val="tx1"/>
            </a:solidFill>
            <a:miter lim="800000"/>
            <a:headEnd/>
            <a:tailEnd/>
          </a:ln>
        </p:spPr>
        <p:txBody>
          <a:bodyPr>
            <a:spAutoFit/>
          </a:bodyPr>
          <a:lstStyle/>
          <a:p>
            <a:pPr algn="ctr" eaLnBrk="1" hangingPunct="1"/>
            <a:r>
              <a:rPr lang="en-US" altLang="ar-JO" sz="1400">
                <a:latin typeface="Calibri" pitchFamily="34" charset="0"/>
              </a:rPr>
              <a:t>Detects how much light is absorbed/transmitted  by/from  the sample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5" grpId="0" animBg="1"/>
      <p:bldP spid="36" grpId="0" animBg="1"/>
      <p:bldP spid="37" grpId="0" animBg="1"/>
      <p:bldP spid="38" grpId="0" animBg="1"/>
      <p:bldP spid="3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2"/>
          <p:cNvSpPr>
            <a:spLocks noGrp="1" noChangeArrowheads="1"/>
          </p:cNvSpPr>
          <p:nvPr>
            <p:ph type="sldNum" sz="quarter" idx="12"/>
          </p:nvPr>
        </p:nvSpPr>
        <p:spPr bwMode="auto">
          <a:noFill/>
          <a:ln>
            <a:miter lim="800000"/>
            <a:headEnd/>
            <a:tailEnd/>
          </a:ln>
        </p:spPr>
        <p:txBody>
          <a:bodyPr/>
          <a:lstStyle/>
          <a:p>
            <a:fld id="{ECD8DD6D-F338-45E2-8FEC-87D6D81FB1DE}" type="slidenum">
              <a:rPr lang="en-US" altLang="ar-JO"/>
              <a:pPr/>
              <a:t>8</a:t>
            </a:fld>
            <a:endParaRPr lang="en-US" altLang="ar-JO"/>
          </a:p>
        </p:txBody>
      </p:sp>
      <p:cxnSp>
        <p:nvCxnSpPr>
          <p:cNvPr id="4" name="Straight Connector 3"/>
          <p:cNvCxnSpPr/>
          <p:nvPr/>
        </p:nvCxnSpPr>
        <p:spPr>
          <a:xfrm>
            <a:off x="785813" y="928688"/>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itle 4"/>
          <p:cNvSpPr txBox="1">
            <a:spLocks/>
          </p:cNvSpPr>
          <p:nvPr/>
        </p:nvSpPr>
        <p:spPr>
          <a:xfrm>
            <a:off x="819150" y="214313"/>
            <a:ext cx="7467600" cy="488950"/>
          </a:xfrm>
          <a:prstGeom prst="rect">
            <a:avLst/>
          </a:prstGeom>
        </p:spPr>
        <p:txBody>
          <a:bodyPr/>
          <a:lstStyle/>
          <a:p>
            <a:pPr algn="ctr" eaLnBrk="1" fontAlgn="auto" hangingPunct="1">
              <a:spcAft>
                <a:spcPts val="0"/>
              </a:spcAft>
              <a:defRPr/>
            </a:pPr>
            <a:r>
              <a:rPr lang="en-US" sz="3200" b="1" dirty="0">
                <a:solidFill>
                  <a:schemeClr val="tx2">
                    <a:lumMod val="60000"/>
                    <a:lumOff val="40000"/>
                  </a:schemeClr>
                </a:solidFill>
                <a:latin typeface="+mj-lt"/>
                <a:ea typeface="+mj-ea"/>
                <a:cs typeface="+mj-cs"/>
              </a:rPr>
              <a:t>Beer-Lambert’s Law</a:t>
            </a:r>
          </a:p>
          <a:p>
            <a:pPr algn="ctr" eaLnBrk="1" fontAlgn="auto" hangingPunct="1">
              <a:spcAft>
                <a:spcPts val="0"/>
              </a:spcAft>
              <a:defRPr/>
            </a:pPr>
            <a:endParaRPr lang="en-US" sz="3200" b="1" dirty="0">
              <a:solidFill>
                <a:schemeClr val="tx2">
                  <a:lumMod val="60000"/>
                  <a:lumOff val="40000"/>
                </a:schemeClr>
              </a:solidFill>
              <a:latin typeface="+mj-lt"/>
              <a:ea typeface="+mj-ea"/>
              <a:cs typeface="+mj-cs"/>
            </a:endParaRPr>
          </a:p>
        </p:txBody>
      </p:sp>
      <p:sp>
        <p:nvSpPr>
          <p:cNvPr id="6" name="Footer Placeholder 41"/>
          <p:cNvSpPr txBox="1">
            <a:spLocks/>
          </p:cNvSpPr>
          <p:nvPr/>
        </p:nvSpPr>
        <p:spPr>
          <a:xfrm>
            <a:off x="142875" y="6492875"/>
            <a:ext cx="3200400" cy="365125"/>
          </a:xfrm>
          <a:prstGeom prst="rect">
            <a:avLst/>
          </a:prstGeom>
        </p:spPr>
        <p:txBody>
          <a:bodyPr anchor="ctr"/>
          <a:lstStyle/>
          <a:p>
            <a:pPr eaLnBrk="1" fontAlgn="auto" hangingPunct="1">
              <a:spcBef>
                <a:spcPts val="0"/>
              </a:spcBef>
              <a:spcAft>
                <a:spcPts val="0"/>
              </a:spcAft>
              <a:defRPr/>
            </a:pPr>
            <a:r>
              <a:rPr lang="en-US" sz="1400" dirty="0">
                <a:solidFill>
                  <a:schemeClr val="tx1">
                    <a:tint val="75000"/>
                  </a:schemeClr>
                </a:solidFill>
                <a:latin typeface="+mn-lt"/>
                <a:cs typeface="+mn-cs"/>
              </a:rPr>
              <a:t>MBL. BT453</a:t>
            </a:r>
          </a:p>
        </p:txBody>
      </p:sp>
      <p:sp>
        <p:nvSpPr>
          <p:cNvPr id="13" name="Rectangle 3"/>
          <p:cNvSpPr txBox="1">
            <a:spLocks noChangeArrowheads="1"/>
          </p:cNvSpPr>
          <p:nvPr/>
        </p:nvSpPr>
        <p:spPr>
          <a:xfrm>
            <a:off x="642938" y="1500188"/>
            <a:ext cx="7772400" cy="4114800"/>
          </a:xfrm>
          <a:prstGeom prst="rect">
            <a:avLst/>
          </a:prstGeom>
        </p:spPr>
        <p:txBody>
          <a:bodyPr/>
          <a:lstStyle/>
          <a:p>
            <a:pPr marL="342900" indent="-342900" eaLnBrk="1" fontAlgn="auto" hangingPunct="1">
              <a:spcBef>
                <a:spcPct val="20000"/>
              </a:spcBef>
              <a:spcAft>
                <a:spcPts val="0"/>
              </a:spcAft>
              <a:defRPr/>
            </a:pPr>
            <a:endParaRPr lang="en-US" sz="2000" dirty="0">
              <a:latin typeface="+mn-lt"/>
              <a:cs typeface="+mn-cs"/>
            </a:endParaRPr>
          </a:p>
          <a:p>
            <a:pPr marL="342900" indent="-342900" algn="ctr" eaLnBrk="1" fontAlgn="auto" hangingPunct="1">
              <a:spcBef>
                <a:spcPct val="20000"/>
              </a:spcBef>
              <a:spcAft>
                <a:spcPts val="0"/>
              </a:spcAft>
              <a:defRPr/>
            </a:pPr>
            <a:r>
              <a:rPr lang="en-US" sz="6000" b="1" dirty="0">
                <a:solidFill>
                  <a:schemeClr val="accent6">
                    <a:lumMod val="75000"/>
                  </a:schemeClr>
                </a:solidFill>
                <a:latin typeface="+mn-lt"/>
                <a:cs typeface="+mn-cs"/>
              </a:rPr>
              <a:t>A = </a:t>
            </a:r>
            <a:r>
              <a:rPr lang="en-US" sz="6000" b="1" i="1" dirty="0">
                <a:solidFill>
                  <a:schemeClr val="accent6">
                    <a:lumMod val="75000"/>
                  </a:schemeClr>
                </a:solidFill>
                <a:latin typeface="+mn-lt"/>
                <a:cs typeface="+mn-cs"/>
                <a:sym typeface="Symbol" pitchFamily="18" charset="2"/>
              </a:rPr>
              <a:t> c l </a:t>
            </a:r>
          </a:p>
          <a:p>
            <a:pPr marL="342900" indent="-342900" eaLnBrk="1" fontAlgn="auto" hangingPunct="1">
              <a:spcBef>
                <a:spcPct val="20000"/>
              </a:spcBef>
              <a:spcAft>
                <a:spcPts val="0"/>
              </a:spcAft>
              <a:defRPr/>
            </a:pPr>
            <a:r>
              <a:rPr lang="en-US" sz="2000" i="1" dirty="0">
                <a:solidFill>
                  <a:srgbClr val="FF0000"/>
                </a:solidFill>
                <a:latin typeface="+mn-lt"/>
                <a:cs typeface="+mn-cs"/>
                <a:sym typeface="Symbol" pitchFamily="18" charset="2"/>
              </a:rPr>
              <a:t>                		</a:t>
            </a:r>
            <a:endParaRPr lang="en-US" sz="2000" dirty="0">
              <a:solidFill>
                <a:srgbClr val="FF0000"/>
              </a:solidFill>
              <a:latin typeface="ヒラギノ角ゴ Pro W3" pitchFamily="1" charset="-128"/>
              <a:cs typeface="+mn-cs"/>
              <a:sym typeface="Symbol" pitchFamily="18" charset="2"/>
            </a:endParaRPr>
          </a:p>
          <a:p>
            <a:pPr marL="342900" indent="-342900" eaLnBrk="1" fontAlgn="auto" hangingPunct="1">
              <a:spcBef>
                <a:spcPct val="20000"/>
              </a:spcBef>
              <a:spcAft>
                <a:spcPts val="0"/>
              </a:spcAft>
              <a:defRPr/>
            </a:pPr>
            <a:endParaRPr lang="en-US" sz="2000" dirty="0">
              <a:solidFill>
                <a:srgbClr val="FF0000"/>
              </a:solidFill>
              <a:latin typeface="+mn-lt"/>
              <a:cs typeface="+mn-cs"/>
              <a:sym typeface="Symbol" pitchFamily="18" charset="2"/>
            </a:endParaRPr>
          </a:p>
          <a:p>
            <a:pPr marL="342900" indent="-342900" eaLnBrk="1" fontAlgn="auto" hangingPunct="1">
              <a:spcBef>
                <a:spcPct val="20000"/>
              </a:spcBef>
              <a:spcAft>
                <a:spcPts val="0"/>
              </a:spcAft>
              <a:defRPr/>
            </a:pPr>
            <a:r>
              <a:rPr lang="en-US" sz="2000" dirty="0">
                <a:latin typeface="+mn-lt"/>
                <a:cs typeface="+mn-cs"/>
                <a:sym typeface="Symbol" pitchFamily="18" charset="2"/>
              </a:rPr>
              <a:t>Where: 		A = light absorbed by the sample</a:t>
            </a:r>
          </a:p>
          <a:p>
            <a:pPr marL="342900" indent="-342900" eaLnBrk="1" fontAlgn="auto" hangingPunct="1">
              <a:spcBef>
                <a:spcPct val="20000"/>
              </a:spcBef>
              <a:spcAft>
                <a:spcPts val="0"/>
              </a:spcAft>
              <a:defRPr/>
            </a:pPr>
            <a:r>
              <a:rPr lang="en-US" sz="2000" dirty="0">
                <a:latin typeface="+mn-lt"/>
                <a:cs typeface="+mn-cs"/>
                <a:sym typeface="Symbol" pitchFamily="18" charset="2"/>
              </a:rPr>
              <a:t>			</a:t>
            </a:r>
            <a:r>
              <a:rPr lang="en-US" sz="2000" i="1" dirty="0">
                <a:latin typeface="+mn-lt"/>
                <a:cs typeface="+mn-cs"/>
                <a:sym typeface="Symbol" pitchFamily="18" charset="2"/>
              </a:rPr>
              <a:t> </a:t>
            </a:r>
            <a:r>
              <a:rPr lang="en-US" sz="2000" dirty="0">
                <a:latin typeface="+mn-lt"/>
                <a:cs typeface="+mn-cs"/>
                <a:sym typeface="Symbol" pitchFamily="18" charset="2"/>
              </a:rPr>
              <a:t>= molar extinction coefficient </a:t>
            </a:r>
          </a:p>
          <a:p>
            <a:pPr marL="342900" indent="-342900" eaLnBrk="1" fontAlgn="auto" hangingPunct="1">
              <a:spcBef>
                <a:spcPct val="20000"/>
              </a:spcBef>
              <a:spcAft>
                <a:spcPts val="0"/>
              </a:spcAft>
              <a:defRPr/>
            </a:pPr>
            <a:r>
              <a:rPr lang="en-US" sz="2000" dirty="0">
                <a:latin typeface="+mn-lt"/>
                <a:cs typeface="+mn-cs"/>
                <a:sym typeface="Symbol" pitchFamily="18" charset="2"/>
              </a:rPr>
              <a:t>			</a:t>
            </a:r>
            <a:r>
              <a:rPr lang="en-US" sz="2000" i="1" dirty="0">
                <a:latin typeface="+mn-lt"/>
                <a:cs typeface="+mn-cs"/>
                <a:sym typeface="Symbol" pitchFamily="18" charset="2"/>
              </a:rPr>
              <a:t>c </a:t>
            </a:r>
            <a:r>
              <a:rPr lang="en-US" sz="2000" dirty="0">
                <a:latin typeface="+mn-lt"/>
                <a:cs typeface="+mn-cs"/>
                <a:sym typeface="Symbol" pitchFamily="18" charset="2"/>
              </a:rPr>
              <a:t>= concentration of the absorbing species (mol/L)</a:t>
            </a:r>
          </a:p>
          <a:p>
            <a:pPr marL="342900" indent="-342900" eaLnBrk="1" fontAlgn="auto" hangingPunct="1">
              <a:spcBef>
                <a:spcPct val="20000"/>
              </a:spcBef>
              <a:spcAft>
                <a:spcPts val="0"/>
              </a:spcAft>
              <a:defRPr/>
            </a:pPr>
            <a:r>
              <a:rPr lang="en-US" sz="2000" dirty="0">
                <a:latin typeface="+mn-lt"/>
                <a:cs typeface="+mn-cs"/>
                <a:sym typeface="Symbol" pitchFamily="18" charset="2"/>
              </a:rPr>
              <a:t>			</a:t>
            </a:r>
            <a:r>
              <a:rPr lang="en-US" sz="2000" i="1" dirty="0">
                <a:latin typeface="+mn-lt"/>
                <a:cs typeface="+mn-cs"/>
                <a:sym typeface="Symbol" pitchFamily="18" charset="2"/>
              </a:rPr>
              <a:t>l </a:t>
            </a:r>
            <a:r>
              <a:rPr lang="en-US" sz="2000" dirty="0">
                <a:latin typeface="+mn-lt"/>
                <a:cs typeface="+mn-cs"/>
                <a:sym typeface="Symbol" pitchFamily="18" charset="2"/>
              </a:rPr>
              <a:t>= path length of the light-absorbing sample (cm)</a:t>
            </a:r>
            <a:endParaRPr lang="en-US" sz="2000" i="1" dirty="0">
              <a:latin typeface="+mn-lt"/>
              <a:cs typeface="+mn-cs"/>
              <a:sym typeface="Symbol" pitchFamily="18" charset="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2"/>
          <p:cNvSpPr>
            <a:spLocks noGrp="1" noChangeArrowheads="1"/>
          </p:cNvSpPr>
          <p:nvPr>
            <p:ph type="sldNum" sz="quarter" idx="12"/>
          </p:nvPr>
        </p:nvSpPr>
        <p:spPr bwMode="auto">
          <a:noFill/>
          <a:ln>
            <a:miter lim="800000"/>
            <a:headEnd/>
            <a:tailEnd/>
          </a:ln>
        </p:spPr>
        <p:txBody>
          <a:bodyPr/>
          <a:lstStyle/>
          <a:p>
            <a:fld id="{B1D45672-54EB-494B-B583-13139287D9CD}" type="slidenum">
              <a:rPr lang="en-US" altLang="ar-JO"/>
              <a:pPr/>
              <a:t>9</a:t>
            </a:fld>
            <a:endParaRPr lang="en-US" altLang="ar-JO"/>
          </a:p>
        </p:txBody>
      </p:sp>
      <p:cxnSp>
        <p:nvCxnSpPr>
          <p:cNvPr id="4" name="Straight Connector 3"/>
          <p:cNvCxnSpPr/>
          <p:nvPr/>
        </p:nvCxnSpPr>
        <p:spPr>
          <a:xfrm>
            <a:off x="785813" y="928688"/>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itle 4"/>
          <p:cNvSpPr txBox="1">
            <a:spLocks/>
          </p:cNvSpPr>
          <p:nvPr/>
        </p:nvSpPr>
        <p:spPr>
          <a:xfrm>
            <a:off x="819150" y="214313"/>
            <a:ext cx="7467600" cy="488950"/>
          </a:xfrm>
          <a:prstGeom prst="rect">
            <a:avLst/>
          </a:prstGeom>
        </p:spPr>
        <p:txBody>
          <a:bodyPr/>
          <a:lstStyle/>
          <a:p>
            <a:pPr algn="ctr" eaLnBrk="1" fontAlgn="auto" hangingPunct="1">
              <a:spcAft>
                <a:spcPts val="0"/>
              </a:spcAft>
              <a:defRPr/>
            </a:pPr>
            <a:r>
              <a:rPr lang="en-US" sz="3200" b="1" dirty="0">
                <a:solidFill>
                  <a:schemeClr val="tx2">
                    <a:lumMod val="60000"/>
                    <a:lumOff val="40000"/>
                  </a:schemeClr>
                </a:solidFill>
                <a:latin typeface="+mj-lt"/>
                <a:ea typeface="+mj-ea"/>
                <a:cs typeface="+mj-cs"/>
              </a:rPr>
              <a:t>Beer-Lambert’s Law</a:t>
            </a:r>
          </a:p>
          <a:p>
            <a:pPr algn="ctr" eaLnBrk="1" fontAlgn="auto" hangingPunct="1">
              <a:spcAft>
                <a:spcPts val="0"/>
              </a:spcAft>
              <a:defRPr/>
            </a:pPr>
            <a:endParaRPr lang="en-US" sz="3200" b="1" dirty="0">
              <a:solidFill>
                <a:schemeClr val="tx2">
                  <a:lumMod val="60000"/>
                  <a:lumOff val="40000"/>
                </a:schemeClr>
              </a:solidFill>
              <a:latin typeface="+mj-lt"/>
              <a:ea typeface="+mj-ea"/>
              <a:cs typeface="+mj-cs"/>
            </a:endParaRPr>
          </a:p>
        </p:txBody>
      </p:sp>
      <p:sp>
        <p:nvSpPr>
          <p:cNvPr id="6" name="Footer Placeholder 41"/>
          <p:cNvSpPr txBox="1">
            <a:spLocks/>
          </p:cNvSpPr>
          <p:nvPr/>
        </p:nvSpPr>
        <p:spPr>
          <a:xfrm>
            <a:off x="142875" y="6492875"/>
            <a:ext cx="3200400" cy="365125"/>
          </a:xfrm>
          <a:prstGeom prst="rect">
            <a:avLst/>
          </a:prstGeom>
        </p:spPr>
        <p:txBody>
          <a:bodyPr anchor="ctr"/>
          <a:lstStyle/>
          <a:p>
            <a:pPr eaLnBrk="1" fontAlgn="auto" hangingPunct="1">
              <a:spcBef>
                <a:spcPts val="0"/>
              </a:spcBef>
              <a:spcAft>
                <a:spcPts val="0"/>
              </a:spcAft>
              <a:defRPr/>
            </a:pPr>
            <a:r>
              <a:rPr lang="en-US" sz="1400" dirty="0">
                <a:solidFill>
                  <a:schemeClr val="tx1">
                    <a:tint val="75000"/>
                  </a:schemeClr>
                </a:solidFill>
                <a:latin typeface="+mn-lt"/>
                <a:cs typeface="+mn-cs"/>
              </a:rPr>
              <a:t>MBL. BT453</a:t>
            </a:r>
          </a:p>
        </p:txBody>
      </p:sp>
      <p:sp>
        <p:nvSpPr>
          <p:cNvPr id="8" name="Rectangle 3"/>
          <p:cNvSpPr txBox="1">
            <a:spLocks noChangeArrowheads="1"/>
          </p:cNvSpPr>
          <p:nvPr/>
        </p:nvSpPr>
        <p:spPr bwMode="auto">
          <a:xfrm>
            <a:off x="714375" y="1643063"/>
            <a:ext cx="7772400" cy="2786062"/>
          </a:xfrm>
          <a:prstGeom prst="rect">
            <a:avLst/>
          </a:prstGeom>
          <a:noFill/>
          <a:ln w="9525">
            <a:noFill/>
            <a:miter lim="800000"/>
            <a:headEnd/>
            <a:tailEnd/>
          </a:ln>
        </p:spPr>
        <p:txBody>
          <a:bodyPr/>
          <a:lstStyle/>
          <a:p>
            <a:pPr marL="342900" indent="-342900" eaLnBrk="1" hangingPunct="1">
              <a:spcBef>
                <a:spcPct val="20000"/>
              </a:spcBef>
              <a:buFontTx/>
              <a:buChar char="•"/>
              <a:defRPr/>
            </a:pPr>
            <a:r>
              <a:rPr lang="en-US" sz="2400" kern="0" dirty="0">
                <a:solidFill>
                  <a:srgbClr val="000000"/>
                </a:solidFill>
                <a:latin typeface="Arial"/>
                <a:cs typeface="+mn-cs"/>
              </a:rPr>
              <a:t>The fraction of the incident light absorbed by a solution at a given wavelength is related to:</a:t>
            </a:r>
          </a:p>
          <a:p>
            <a:pPr marL="342900" indent="-342900" eaLnBrk="1" hangingPunct="1">
              <a:spcBef>
                <a:spcPct val="20000"/>
              </a:spcBef>
              <a:buFontTx/>
              <a:buChar char="•"/>
              <a:defRPr/>
            </a:pPr>
            <a:endParaRPr lang="en-US" sz="2400" kern="0" dirty="0">
              <a:solidFill>
                <a:srgbClr val="000000"/>
              </a:solidFill>
              <a:latin typeface="Arial"/>
              <a:cs typeface="+mn-cs"/>
            </a:endParaRPr>
          </a:p>
          <a:p>
            <a:pPr marL="514350" indent="-514350" eaLnBrk="1" hangingPunct="1">
              <a:spcBef>
                <a:spcPct val="20000"/>
              </a:spcBef>
              <a:buFont typeface="+mj-lt"/>
              <a:buAutoNum type="arabicPeriod"/>
              <a:defRPr/>
            </a:pPr>
            <a:r>
              <a:rPr lang="en-US" sz="2400" kern="0" dirty="0">
                <a:solidFill>
                  <a:srgbClr val="000000"/>
                </a:solidFill>
                <a:latin typeface="Arial"/>
                <a:cs typeface="+mn-cs"/>
              </a:rPr>
              <a:t>Thickness of the absorbing layer (path length), which is constant </a:t>
            </a:r>
          </a:p>
          <a:p>
            <a:pPr marL="514350" indent="-514350" eaLnBrk="1" hangingPunct="1">
              <a:spcBef>
                <a:spcPct val="20000"/>
              </a:spcBef>
              <a:buFont typeface="+mj-lt"/>
              <a:buAutoNum type="arabicPeriod"/>
              <a:defRPr/>
            </a:pPr>
            <a:endParaRPr lang="en-US" sz="2400" kern="0" dirty="0">
              <a:solidFill>
                <a:srgbClr val="000000"/>
              </a:solidFill>
              <a:latin typeface="Arial"/>
              <a:cs typeface="+mn-cs"/>
            </a:endParaRPr>
          </a:p>
          <a:p>
            <a:pPr marL="514350" indent="-514350" eaLnBrk="1" hangingPunct="1">
              <a:spcBef>
                <a:spcPct val="20000"/>
              </a:spcBef>
              <a:buFont typeface="+mj-lt"/>
              <a:buAutoNum type="arabicPeriod"/>
              <a:defRPr/>
            </a:pPr>
            <a:r>
              <a:rPr lang="en-US" sz="2400" kern="0" dirty="0">
                <a:solidFill>
                  <a:srgbClr val="000000"/>
                </a:solidFill>
                <a:latin typeface="Arial"/>
                <a:cs typeface="+mn-cs"/>
              </a:rPr>
              <a:t>Concentration of the absorbing species</a:t>
            </a:r>
          </a:p>
          <a:p>
            <a:pPr marL="514350" indent="-514350" eaLnBrk="1" hangingPunct="1">
              <a:spcBef>
                <a:spcPct val="20000"/>
              </a:spcBef>
              <a:buFont typeface="+mj-lt"/>
              <a:buAutoNum type="arabicPeriod"/>
              <a:defRPr/>
            </a:pPr>
            <a:endParaRPr lang="en-US" sz="2400" kern="0" dirty="0">
              <a:solidFill>
                <a:srgbClr val="000000"/>
              </a:solidFill>
              <a:latin typeface="Arial"/>
              <a:cs typeface="+mn-cs"/>
            </a:endParaRPr>
          </a:p>
          <a:p>
            <a:pPr marL="514350" indent="-514350" algn="ctr" eaLnBrk="1" hangingPunct="1">
              <a:spcBef>
                <a:spcPct val="20000"/>
              </a:spcBef>
              <a:defRPr/>
            </a:pPr>
            <a:r>
              <a:rPr lang="en-US" sz="2400" b="1" kern="0" dirty="0">
                <a:solidFill>
                  <a:schemeClr val="accent1"/>
                </a:solidFill>
                <a:latin typeface="Arial"/>
                <a:cs typeface="+mn-cs"/>
              </a:rPr>
              <a:t>Absorbance </a:t>
            </a:r>
            <a:r>
              <a:rPr lang="en-US" sz="2400" b="1" dirty="0">
                <a:solidFill>
                  <a:schemeClr val="accent1"/>
                </a:solidFill>
                <a:latin typeface="+mn-lt"/>
                <a:cs typeface="+mn-cs"/>
                <a:sym typeface="Symbol" pitchFamily="18" charset="2"/>
              </a:rPr>
              <a:t> to concentration </a:t>
            </a:r>
            <a:endParaRPr lang="en-US" sz="2400" b="1" kern="0" dirty="0">
              <a:solidFill>
                <a:schemeClr val="accent1"/>
              </a:solidFill>
              <a:latin typeface="Arial"/>
              <a:cs typeface="+mn-cs"/>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2"/>
          <p:cNvSpPr>
            <a:spLocks noGrp="1" noChangeArrowheads="1"/>
          </p:cNvSpPr>
          <p:nvPr>
            <p:ph type="sldNum" sz="quarter" idx="12"/>
          </p:nvPr>
        </p:nvSpPr>
        <p:spPr bwMode="auto">
          <a:noFill/>
          <a:ln>
            <a:miter lim="800000"/>
            <a:headEnd/>
            <a:tailEnd/>
          </a:ln>
        </p:spPr>
        <p:txBody>
          <a:bodyPr/>
          <a:lstStyle/>
          <a:p>
            <a:fld id="{AF89226D-0347-4104-8704-85E190C5FFED}" type="slidenum">
              <a:rPr lang="en-US" altLang="ar-JO"/>
              <a:pPr/>
              <a:t>10</a:t>
            </a:fld>
            <a:endParaRPr lang="en-US" altLang="ar-JO"/>
          </a:p>
        </p:txBody>
      </p:sp>
      <p:cxnSp>
        <p:nvCxnSpPr>
          <p:cNvPr id="4" name="Straight Connector 3"/>
          <p:cNvCxnSpPr/>
          <p:nvPr/>
        </p:nvCxnSpPr>
        <p:spPr>
          <a:xfrm>
            <a:off x="785813" y="928688"/>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itle 4"/>
          <p:cNvSpPr txBox="1">
            <a:spLocks/>
          </p:cNvSpPr>
          <p:nvPr/>
        </p:nvSpPr>
        <p:spPr>
          <a:xfrm>
            <a:off x="819150" y="214313"/>
            <a:ext cx="7467600" cy="488950"/>
          </a:xfrm>
          <a:prstGeom prst="rect">
            <a:avLst/>
          </a:prstGeom>
        </p:spPr>
        <p:txBody>
          <a:bodyPr/>
          <a:lstStyle/>
          <a:p>
            <a:pPr algn="ctr" eaLnBrk="1" fontAlgn="auto" hangingPunct="1">
              <a:spcAft>
                <a:spcPts val="0"/>
              </a:spcAft>
              <a:defRPr/>
            </a:pPr>
            <a:r>
              <a:rPr lang="en-US" sz="3200" b="1" dirty="0">
                <a:solidFill>
                  <a:schemeClr val="tx2">
                    <a:lumMod val="60000"/>
                    <a:lumOff val="40000"/>
                  </a:schemeClr>
                </a:solidFill>
                <a:latin typeface="+mj-lt"/>
                <a:ea typeface="+mj-ea"/>
                <a:cs typeface="+mj-cs"/>
              </a:rPr>
              <a:t>Concentration of Nucleic acids</a:t>
            </a:r>
          </a:p>
        </p:txBody>
      </p:sp>
      <p:sp>
        <p:nvSpPr>
          <p:cNvPr id="7" name="Footer Placeholder 41"/>
          <p:cNvSpPr txBox="1">
            <a:spLocks/>
          </p:cNvSpPr>
          <p:nvPr/>
        </p:nvSpPr>
        <p:spPr>
          <a:xfrm>
            <a:off x="142875" y="6492875"/>
            <a:ext cx="3200400" cy="365125"/>
          </a:xfrm>
          <a:prstGeom prst="rect">
            <a:avLst/>
          </a:prstGeom>
        </p:spPr>
        <p:txBody>
          <a:bodyPr anchor="ctr"/>
          <a:lstStyle/>
          <a:p>
            <a:pPr eaLnBrk="1" fontAlgn="auto" hangingPunct="1">
              <a:spcBef>
                <a:spcPts val="0"/>
              </a:spcBef>
              <a:spcAft>
                <a:spcPts val="0"/>
              </a:spcAft>
              <a:defRPr/>
            </a:pPr>
            <a:r>
              <a:rPr lang="en-US" sz="1400" dirty="0">
                <a:solidFill>
                  <a:schemeClr val="tx1">
                    <a:tint val="75000"/>
                  </a:schemeClr>
                </a:solidFill>
                <a:latin typeface="+mn-lt"/>
                <a:cs typeface="+mn-cs"/>
              </a:rPr>
              <a:t>MBL. BT453</a:t>
            </a:r>
          </a:p>
        </p:txBody>
      </p:sp>
      <p:sp>
        <p:nvSpPr>
          <p:cNvPr id="19462" name="Rectangle 8"/>
          <p:cNvSpPr>
            <a:spLocks noChangeArrowheads="1"/>
          </p:cNvSpPr>
          <p:nvPr/>
        </p:nvSpPr>
        <p:spPr bwMode="auto">
          <a:xfrm>
            <a:off x="785813" y="1357313"/>
            <a:ext cx="7500937" cy="2246312"/>
          </a:xfrm>
          <a:prstGeom prst="rect">
            <a:avLst/>
          </a:prstGeom>
          <a:noFill/>
          <a:ln w="9525">
            <a:noFill/>
            <a:miter lim="800000"/>
            <a:headEnd/>
            <a:tailEnd/>
          </a:ln>
        </p:spPr>
        <p:txBody>
          <a:bodyPr>
            <a:spAutoFit/>
          </a:bodyPr>
          <a:lstStyle/>
          <a:p>
            <a:pPr algn="ctr" eaLnBrk="1" hangingPunct="1"/>
            <a:r>
              <a:rPr lang="en-US" altLang="ar-JO" sz="2800" b="1">
                <a:solidFill>
                  <a:schemeClr val="accent1"/>
                </a:solidFill>
                <a:latin typeface="Calibri" pitchFamily="34" charset="0"/>
              </a:rPr>
              <a:t>[dsDNA] </a:t>
            </a:r>
            <a:r>
              <a:rPr lang="en-US" altLang="ar-JO" sz="2800">
                <a:latin typeface="Calibri" pitchFamily="34" charset="0"/>
              </a:rPr>
              <a:t>≈ A</a:t>
            </a:r>
            <a:r>
              <a:rPr lang="en-US" altLang="ar-JO" sz="2800" baseline="-25000">
                <a:latin typeface="Calibri" pitchFamily="34" charset="0"/>
              </a:rPr>
              <a:t>260</a:t>
            </a:r>
            <a:r>
              <a:rPr lang="en-US" altLang="ar-JO" sz="2800">
                <a:latin typeface="Calibri" pitchFamily="34" charset="0"/>
              </a:rPr>
              <a:t> x (50 µg/mL) x Dilution factor</a:t>
            </a:r>
          </a:p>
          <a:p>
            <a:pPr algn="ctr" eaLnBrk="1" hangingPunct="1"/>
            <a:endParaRPr lang="en-US" altLang="ar-JO" sz="2800">
              <a:latin typeface="Calibri" pitchFamily="34" charset="0"/>
            </a:endParaRPr>
          </a:p>
          <a:p>
            <a:pPr algn="ctr" eaLnBrk="1" hangingPunct="1"/>
            <a:r>
              <a:rPr lang="en-US" altLang="ar-JO" sz="2800" b="1">
                <a:solidFill>
                  <a:schemeClr val="accent1"/>
                </a:solidFill>
                <a:latin typeface="Calibri" pitchFamily="34" charset="0"/>
              </a:rPr>
              <a:t>[ssDNA] </a:t>
            </a:r>
            <a:r>
              <a:rPr lang="en-US" altLang="ar-JO" sz="2800">
                <a:latin typeface="Calibri" pitchFamily="34" charset="0"/>
              </a:rPr>
              <a:t>≈ A</a:t>
            </a:r>
            <a:r>
              <a:rPr lang="en-US" altLang="ar-JO" sz="2800" baseline="-25000">
                <a:latin typeface="Calibri" pitchFamily="34" charset="0"/>
              </a:rPr>
              <a:t>260</a:t>
            </a:r>
            <a:r>
              <a:rPr lang="en-US" altLang="ar-JO" sz="2800">
                <a:latin typeface="Calibri" pitchFamily="34" charset="0"/>
              </a:rPr>
              <a:t> x (33 µg/mL) x Dilution factor</a:t>
            </a:r>
          </a:p>
          <a:p>
            <a:pPr algn="ctr" eaLnBrk="1" hangingPunct="1"/>
            <a:endParaRPr lang="en-US" altLang="ar-JO" sz="2800">
              <a:latin typeface="Calibri" pitchFamily="34" charset="0"/>
            </a:endParaRPr>
          </a:p>
          <a:p>
            <a:pPr algn="ctr" eaLnBrk="1" hangingPunct="1"/>
            <a:r>
              <a:rPr lang="en-US" altLang="ar-JO" sz="2800" b="1">
                <a:solidFill>
                  <a:schemeClr val="accent1"/>
                </a:solidFill>
                <a:latin typeface="Calibri" pitchFamily="34" charset="0"/>
              </a:rPr>
              <a:t>[ssRNA] </a:t>
            </a:r>
            <a:r>
              <a:rPr lang="en-US" altLang="ar-JO" sz="2800">
                <a:latin typeface="Calibri" pitchFamily="34" charset="0"/>
              </a:rPr>
              <a:t>≈ A</a:t>
            </a:r>
            <a:r>
              <a:rPr lang="en-US" altLang="ar-JO" sz="2800" baseline="-25000">
                <a:latin typeface="Calibri" pitchFamily="34" charset="0"/>
              </a:rPr>
              <a:t>260</a:t>
            </a:r>
            <a:r>
              <a:rPr lang="en-US" altLang="ar-JO" sz="2800">
                <a:latin typeface="Calibri" pitchFamily="34" charset="0"/>
              </a:rPr>
              <a:t> x (40 µg/mL) x Dilution factor</a:t>
            </a:r>
          </a:p>
        </p:txBody>
      </p:sp>
      <p:pic>
        <p:nvPicPr>
          <p:cNvPr id="19463" name="Picture 7"/>
          <p:cNvPicPr>
            <a:picLocks noChangeAspect="1" noChangeArrowheads="1"/>
          </p:cNvPicPr>
          <p:nvPr/>
        </p:nvPicPr>
        <p:blipFill>
          <a:blip r:embed="rId3"/>
          <a:srcRect l="8905" r="10947"/>
          <a:stretch>
            <a:fillRect/>
          </a:stretch>
        </p:blipFill>
        <p:spPr bwMode="auto">
          <a:xfrm>
            <a:off x="1285875" y="3929063"/>
            <a:ext cx="4286250" cy="2720975"/>
          </a:xfrm>
          <a:prstGeom prst="rect">
            <a:avLst/>
          </a:prstGeom>
          <a:noFill/>
          <a:ln w="9525">
            <a:noFill/>
            <a:miter lim="800000"/>
            <a:headEnd/>
            <a:tailEnd/>
          </a:ln>
        </p:spPr>
      </p:pic>
      <p:sp>
        <p:nvSpPr>
          <p:cNvPr id="19464" name="TextBox 7"/>
          <p:cNvSpPr txBox="1">
            <a:spLocks noChangeArrowheads="1"/>
          </p:cNvSpPr>
          <p:nvPr/>
        </p:nvSpPr>
        <p:spPr bwMode="auto">
          <a:xfrm>
            <a:off x="5572125" y="4929188"/>
            <a:ext cx="2857500" cy="461962"/>
          </a:xfrm>
          <a:prstGeom prst="rect">
            <a:avLst/>
          </a:prstGeom>
          <a:noFill/>
          <a:ln w="9525">
            <a:noFill/>
            <a:miter lim="800000"/>
            <a:headEnd/>
            <a:tailEnd/>
          </a:ln>
        </p:spPr>
        <p:txBody>
          <a:bodyPr>
            <a:spAutoFit/>
          </a:bodyPr>
          <a:lstStyle/>
          <a:p>
            <a:pPr algn="ctr" eaLnBrk="1" hangingPunct="1"/>
            <a:r>
              <a:rPr lang="en-US" altLang="ar-JO" sz="1200">
                <a:solidFill>
                  <a:schemeClr val="accent1"/>
                </a:solidFill>
                <a:latin typeface="Calibri" pitchFamily="34" charset="0"/>
              </a:rPr>
              <a:t>http://abe.leeward.hawaii.edu/WebSharing/Nucleic%20Acid%20Isolation.ppt</a:t>
            </a: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a:t>MBL</a:t>
            </a:r>
          </a:p>
        </p:txBody>
      </p:sp>
      <p:sp>
        <p:nvSpPr>
          <p:cNvPr id="21507" name="Slide Number Placeholder 2"/>
          <p:cNvSpPr>
            <a:spLocks noGrp="1" noChangeArrowheads="1"/>
          </p:cNvSpPr>
          <p:nvPr>
            <p:ph type="sldNum" sz="quarter" idx="12"/>
          </p:nvPr>
        </p:nvSpPr>
        <p:spPr bwMode="auto">
          <a:noFill/>
          <a:ln>
            <a:miter lim="800000"/>
            <a:headEnd/>
            <a:tailEnd/>
          </a:ln>
        </p:spPr>
        <p:txBody>
          <a:bodyPr/>
          <a:lstStyle/>
          <a:p>
            <a:fld id="{711BA829-0DBE-43DA-A3F0-20C64414DDA7}" type="slidenum">
              <a:rPr lang="en-US" altLang="ar-JO"/>
              <a:pPr/>
              <a:t>11</a:t>
            </a:fld>
            <a:endParaRPr lang="en-US" altLang="ar-JO"/>
          </a:p>
        </p:txBody>
      </p:sp>
      <p:sp>
        <p:nvSpPr>
          <p:cNvPr id="4" name="Rectangle 3"/>
          <p:cNvSpPr/>
          <p:nvPr/>
        </p:nvSpPr>
        <p:spPr>
          <a:xfrm>
            <a:off x="611559" y="1166029"/>
            <a:ext cx="7715200" cy="3877985"/>
          </a:xfrm>
          <a:prstGeom prst="rect">
            <a:avLst/>
          </a:prstGeom>
        </p:spPr>
        <p:txBody>
          <a:bodyPr>
            <a:spAutoFit/>
          </a:bodyPr>
          <a:lstStyle/>
          <a:p>
            <a:pPr>
              <a:defRPr/>
            </a:pPr>
            <a:endParaRPr lang="en-US" sz="2400" b="1" dirty="0">
              <a:solidFill>
                <a:schemeClr val="tx2">
                  <a:lumMod val="40000"/>
                  <a:lumOff val="60000"/>
                </a:schemeClr>
              </a:solidFill>
              <a:latin typeface="+mj-lt"/>
            </a:endParaRPr>
          </a:p>
          <a:p>
            <a:pPr algn="just">
              <a:defRPr/>
            </a:pPr>
            <a:r>
              <a:rPr lang="en-US" sz="2400" b="1" dirty="0">
                <a:solidFill>
                  <a:srgbClr val="403838"/>
                </a:solidFill>
                <a:latin typeface="+mj-lt"/>
              </a:rPr>
              <a:t>A sample of dsDNA was diluted 50X. The diluted sample gave a reading of 0.65 on a spectrophotometer at A</a:t>
            </a:r>
            <a:r>
              <a:rPr lang="en-US" sz="2400" b="1" baseline="-25000" dirty="0">
                <a:solidFill>
                  <a:srgbClr val="403838"/>
                </a:solidFill>
                <a:latin typeface="+mj-lt"/>
              </a:rPr>
              <a:t>260</a:t>
            </a:r>
            <a:r>
              <a:rPr lang="en-US" sz="2400" b="1" dirty="0">
                <a:solidFill>
                  <a:srgbClr val="403838"/>
                </a:solidFill>
                <a:latin typeface="+mj-lt"/>
              </a:rPr>
              <a:t>. To determine the concentration of DNA in the original sample, perform the following calculation:</a:t>
            </a:r>
          </a:p>
          <a:p>
            <a:pPr algn="just">
              <a:defRPr/>
            </a:pPr>
            <a:endParaRPr lang="en-US" b="1" dirty="0">
              <a:solidFill>
                <a:srgbClr val="403838"/>
              </a:solidFill>
              <a:latin typeface="+mj-lt"/>
            </a:endParaRPr>
          </a:p>
          <a:p>
            <a:pPr marL="285750" lvl="6" indent="-285750" algn="l" rtl="0" eaLnBrk="0" fontAlgn="base" hangingPunct="0">
              <a:spcBef>
                <a:spcPct val="0"/>
              </a:spcBef>
              <a:spcAft>
                <a:spcPct val="0"/>
              </a:spcAft>
              <a:buFont typeface="Arial" panose="020B0604020202020204" pitchFamily="34" charset="0"/>
              <a:buChar char="•"/>
              <a:defRPr/>
            </a:pPr>
            <a:r>
              <a:rPr lang="en-US" altLang="ar-JO" sz="2000" b="1" dirty="0">
                <a:solidFill>
                  <a:schemeClr val="accent1"/>
                </a:solidFill>
              </a:rPr>
              <a:t>[dsDNA] </a:t>
            </a:r>
            <a:r>
              <a:rPr lang="en-US" sz="2000" dirty="0">
                <a:solidFill>
                  <a:srgbClr val="403838"/>
                </a:solidFill>
                <a:latin typeface="+mj-lt"/>
              </a:rPr>
              <a:t>= 50 </a:t>
            </a:r>
            <a:r>
              <a:rPr lang="en-US" sz="2000" dirty="0" err="1">
                <a:solidFill>
                  <a:srgbClr val="403838"/>
                </a:solidFill>
                <a:latin typeface="+mj-lt"/>
              </a:rPr>
              <a:t>μg</a:t>
            </a:r>
            <a:r>
              <a:rPr lang="en-US" sz="2000" dirty="0">
                <a:solidFill>
                  <a:srgbClr val="403838"/>
                </a:solidFill>
                <a:latin typeface="+mj-lt"/>
              </a:rPr>
              <a:t>/mL × A260 × dilution factor</a:t>
            </a:r>
          </a:p>
          <a:p>
            <a:pPr marL="285750" lvl="6" indent="-285750" algn="l" rtl="0" eaLnBrk="0" fontAlgn="base" hangingPunct="0">
              <a:spcBef>
                <a:spcPct val="0"/>
              </a:spcBef>
              <a:spcAft>
                <a:spcPct val="0"/>
              </a:spcAft>
              <a:buFont typeface="Arial" panose="020B0604020202020204" pitchFamily="34" charset="0"/>
              <a:buChar char="•"/>
              <a:defRPr/>
            </a:pPr>
            <a:endParaRPr lang="en-US" sz="2000" dirty="0">
              <a:solidFill>
                <a:srgbClr val="403838"/>
              </a:solidFill>
              <a:latin typeface="+mj-lt"/>
            </a:endParaRPr>
          </a:p>
          <a:p>
            <a:pPr marL="266700" indent="-266700">
              <a:buFont typeface="Arial" panose="020B0604020202020204" pitchFamily="34" charset="0"/>
              <a:buChar char="•"/>
              <a:defRPr/>
            </a:pPr>
            <a:r>
              <a:rPr lang="en-US" altLang="ar-JO" sz="2000" b="1" dirty="0">
                <a:solidFill>
                  <a:schemeClr val="accent1"/>
                </a:solidFill>
              </a:rPr>
              <a:t>[dsDNA] </a:t>
            </a:r>
            <a:r>
              <a:rPr lang="en-US" sz="2000" dirty="0">
                <a:solidFill>
                  <a:srgbClr val="403838"/>
                </a:solidFill>
                <a:latin typeface="+mj-lt"/>
              </a:rPr>
              <a:t>= 50 </a:t>
            </a:r>
            <a:r>
              <a:rPr lang="en-US" sz="2000" dirty="0" err="1">
                <a:solidFill>
                  <a:srgbClr val="403838"/>
                </a:solidFill>
                <a:latin typeface="+mj-lt"/>
              </a:rPr>
              <a:t>μg</a:t>
            </a:r>
            <a:r>
              <a:rPr lang="en-US" sz="2000" dirty="0">
                <a:solidFill>
                  <a:srgbClr val="403838"/>
                </a:solidFill>
                <a:latin typeface="+mj-lt"/>
              </a:rPr>
              <a:t>/mL × 0.65 × 50</a:t>
            </a:r>
          </a:p>
          <a:p>
            <a:pPr marL="266700" indent="-266700">
              <a:buFont typeface="Arial" panose="020B0604020202020204" pitchFamily="34" charset="0"/>
              <a:buChar char="•"/>
              <a:defRPr/>
            </a:pPr>
            <a:endParaRPr lang="en-US" sz="2000" dirty="0">
              <a:solidFill>
                <a:srgbClr val="403838"/>
              </a:solidFill>
              <a:latin typeface="+mj-lt"/>
            </a:endParaRPr>
          </a:p>
          <a:p>
            <a:pPr marL="285750" indent="-285750">
              <a:buFont typeface="Arial" panose="020B0604020202020204" pitchFamily="34" charset="0"/>
              <a:buChar char="•"/>
              <a:defRPr/>
            </a:pPr>
            <a:r>
              <a:rPr lang="en-US" altLang="ar-JO" sz="2000" b="1" dirty="0">
                <a:solidFill>
                  <a:schemeClr val="accent1"/>
                </a:solidFill>
              </a:rPr>
              <a:t>[dsDNA] </a:t>
            </a:r>
            <a:r>
              <a:rPr lang="en-US" sz="2000" dirty="0">
                <a:solidFill>
                  <a:srgbClr val="403838"/>
                </a:solidFill>
                <a:latin typeface="+mj-lt"/>
              </a:rPr>
              <a:t>= 1.63 mg/mL</a:t>
            </a:r>
          </a:p>
        </p:txBody>
      </p:sp>
      <p:cxnSp>
        <p:nvCxnSpPr>
          <p:cNvPr id="5" name="Straight Connector 4"/>
          <p:cNvCxnSpPr/>
          <p:nvPr/>
        </p:nvCxnSpPr>
        <p:spPr>
          <a:xfrm>
            <a:off x="719138" y="1166813"/>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21510" name="Rectangle 5"/>
          <p:cNvSpPr>
            <a:spLocks noChangeArrowheads="1"/>
          </p:cNvSpPr>
          <p:nvPr/>
        </p:nvSpPr>
        <p:spPr bwMode="auto">
          <a:xfrm>
            <a:off x="1258888" y="420688"/>
            <a:ext cx="3581400" cy="522287"/>
          </a:xfrm>
          <a:prstGeom prst="rect">
            <a:avLst/>
          </a:prstGeom>
          <a:noFill/>
          <a:ln w="9525">
            <a:noFill/>
            <a:miter lim="800000"/>
            <a:headEnd/>
            <a:tailEnd/>
          </a:ln>
        </p:spPr>
        <p:txBody>
          <a:bodyPr wrap="none">
            <a:spAutoFit/>
          </a:bodyPr>
          <a:lstStyle/>
          <a:p>
            <a:r>
              <a:rPr lang="en-US" altLang="ar-JO" sz="2800" b="1">
                <a:solidFill>
                  <a:schemeClr val="accent1"/>
                </a:solidFill>
                <a:latin typeface="Calibri" pitchFamily="34" charset="0"/>
              </a:rPr>
              <a:t>Example of Calculation</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2"/>
          <p:cNvSpPr>
            <a:spLocks noGrp="1" noChangeArrowheads="1"/>
          </p:cNvSpPr>
          <p:nvPr>
            <p:ph type="sldNum" sz="quarter" idx="12"/>
          </p:nvPr>
        </p:nvSpPr>
        <p:spPr bwMode="auto">
          <a:noFill/>
          <a:ln>
            <a:miter lim="800000"/>
            <a:headEnd/>
            <a:tailEnd/>
          </a:ln>
        </p:spPr>
        <p:txBody>
          <a:bodyPr/>
          <a:lstStyle/>
          <a:p>
            <a:fld id="{FEF225D7-CC6A-4078-ABC3-77EF2E990180}" type="slidenum">
              <a:rPr lang="en-US" altLang="ar-JO"/>
              <a:pPr/>
              <a:t>12</a:t>
            </a:fld>
            <a:endParaRPr lang="en-US" altLang="ar-JO"/>
          </a:p>
        </p:txBody>
      </p:sp>
      <p:sp>
        <p:nvSpPr>
          <p:cNvPr id="5" name="Footer Placeholder 41"/>
          <p:cNvSpPr txBox="1">
            <a:spLocks/>
          </p:cNvSpPr>
          <p:nvPr/>
        </p:nvSpPr>
        <p:spPr>
          <a:xfrm>
            <a:off x="142875" y="6492875"/>
            <a:ext cx="3200400" cy="365125"/>
          </a:xfrm>
          <a:prstGeom prst="rect">
            <a:avLst/>
          </a:prstGeom>
        </p:spPr>
        <p:txBody>
          <a:bodyPr anchor="ctr"/>
          <a:lstStyle/>
          <a:p>
            <a:pPr eaLnBrk="1" fontAlgn="auto" hangingPunct="1">
              <a:spcBef>
                <a:spcPts val="0"/>
              </a:spcBef>
              <a:spcAft>
                <a:spcPts val="0"/>
              </a:spcAft>
              <a:defRPr/>
            </a:pPr>
            <a:r>
              <a:rPr lang="en-US" sz="1400" dirty="0">
                <a:solidFill>
                  <a:schemeClr val="tx1">
                    <a:tint val="75000"/>
                  </a:schemeClr>
                </a:solidFill>
                <a:latin typeface="+mn-lt"/>
                <a:cs typeface="+mn-cs"/>
              </a:rPr>
              <a:t>MBL. BT453</a:t>
            </a:r>
          </a:p>
        </p:txBody>
      </p:sp>
      <p:cxnSp>
        <p:nvCxnSpPr>
          <p:cNvPr id="6" name="Straight Connector 5"/>
          <p:cNvCxnSpPr/>
          <p:nvPr/>
        </p:nvCxnSpPr>
        <p:spPr>
          <a:xfrm>
            <a:off x="785813" y="928688"/>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7" name="Title 4"/>
          <p:cNvSpPr txBox="1">
            <a:spLocks/>
          </p:cNvSpPr>
          <p:nvPr/>
        </p:nvSpPr>
        <p:spPr>
          <a:xfrm>
            <a:off x="357188" y="214313"/>
            <a:ext cx="8215312" cy="488950"/>
          </a:xfrm>
          <a:prstGeom prst="rect">
            <a:avLst/>
          </a:prstGeom>
        </p:spPr>
        <p:txBody>
          <a:bodyPr/>
          <a:lstStyle/>
          <a:p>
            <a:pPr algn="ctr" eaLnBrk="1" fontAlgn="auto" hangingPunct="1">
              <a:spcAft>
                <a:spcPts val="0"/>
              </a:spcAft>
              <a:defRPr/>
            </a:pPr>
            <a:r>
              <a:rPr lang="en-US" sz="2800" b="1" dirty="0">
                <a:solidFill>
                  <a:schemeClr val="accent1"/>
                </a:solidFill>
                <a:latin typeface="+mn-lt"/>
                <a:cs typeface="+mn-cs"/>
              </a:rPr>
              <a:t>Purity of </a:t>
            </a:r>
            <a:r>
              <a:rPr lang="en-US" sz="2800" b="1" dirty="0">
                <a:solidFill>
                  <a:schemeClr val="tx2">
                    <a:lumMod val="60000"/>
                    <a:lumOff val="40000"/>
                  </a:schemeClr>
                </a:solidFill>
                <a:latin typeface="+mn-lt"/>
                <a:cs typeface="+mn-cs"/>
              </a:rPr>
              <a:t>Nucleic acids</a:t>
            </a:r>
          </a:p>
          <a:p>
            <a:pPr algn="ctr" eaLnBrk="1" fontAlgn="auto" hangingPunct="1">
              <a:spcAft>
                <a:spcPts val="0"/>
              </a:spcAft>
              <a:defRPr/>
            </a:pPr>
            <a:r>
              <a:rPr lang="en-US" sz="2800" b="1" dirty="0">
                <a:solidFill>
                  <a:schemeClr val="accent1"/>
                </a:solidFill>
                <a:latin typeface="+mn-lt"/>
                <a:cs typeface="+mn-cs"/>
              </a:rPr>
              <a:t> </a:t>
            </a:r>
            <a:endParaRPr lang="en-US" sz="2800" b="1" dirty="0">
              <a:solidFill>
                <a:schemeClr val="accent1"/>
              </a:solidFill>
              <a:latin typeface="+mj-lt"/>
              <a:ea typeface="+mj-ea"/>
              <a:cs typeface="+mj-cs"/>
            </a:endParaRPr>
          </a:p>
        </p:txBody>
      </p:sp>
      <p:sp>
        <p:nvSpPr>
          <p:cNvPr id="17" name="TextBox 16"/>
          <p:cNvSpPr txBox="1"/>
          <p:nvPr/>
        </p:nvSpPr>
        <p:spPr>
          <a:xfrm>
            <a:off x="785813" y="1392238"/>
            <a:ext cx="7572375" cy="4965700"/>
          </a:xfrm>
          <a:prstGeom prst="rect">
            <a:avLst/>
          </a:prstGeom>
          <a:noFill/>
        </p:spPr>
        <p:txBody>
          <a:bodyPr>
            <a:spAutoFit/>
          </a:bodyPr>
          <a:lstStyle/>
          <a:p>
            <a:pPr algn="ctr" eaLnBrk="1" fontAlgn="auto" hangingPunct="1">
              <a:spcBef>
                <a:spcPts val="0"/>
              </a:spcBef>
              <a:spcAft>
                <a:spcPts val="0"/>
              </a:spcAft>
              <a:defRPr/>
            </a:pPr>
            <a:r>
              <a:rPr lang="en-US" sz="3200" b="1" dirty="0" err="1">
                <a:solidFill>
                  <a:schemeClr val="accent1"/>
                </a:solidFill>
                <a:latin typeface="+mn-lt"/>
                <a:cs typeface="+mn-cs"/>
              </a:rPr>
              <a:t>dsDNA</a:t>
            </a:r>
            <a:r>
              <a:rPr lang="en-US" sz="3200" b="1" dirty="0">
                <a:solidFill>
                  <a:schemeClr val="accent1"/>
                </a:solidFill>
                <a:latin typeface="+mn-lt"/>
                <a:cs typeface="+mn-cs"/>
              </a:rPr>
              <a:t> purity =    A</a:t>
            </a:r>
            <a:r>
              <a:rPr lang="en-US" sz="3200" b="1" baseline="-25000" dirty="0">
                <a:solidFill>
                  <a:schemeClr val="accent1"/>
                </a:solidFill>
                <a:latin typeface="+mn-lt"/>
                <a:cs typeface="+mn-cs"/>
              </a:rPr>
              <a:t>260</a:t>
            </a:r>
            <a:r>
              <a:rPr lang="en-US" sz="3200" b="1" dirty="0">
                <a:solidFill>
                  <a:schemeClr val="accent1"/>
                </a:solidFill>
                <a:latin typeface="+mn-lt"/>
                <a:cs typeface="+mn-cs"/>
              </a:rPr>
              <a:t>  /  A</a:t>
            </a:r>
            <a:r>
              <a:rPr lang="en-US" sz="3200" b="1" baseline="-25000" dirty="0">
                <a:solidFill>
                  <a:schemeClr val="accent1"/>
                </a:solidFill>
                <a:latin typeface="+mn-lt"/>
                <a:cs typeface="+mn-cs"/>
              </a:rPr>
              <a:t>280</a:t>
            </a:r>
          </a:p>
          <a:p>
            <a:pPr eaLnBrk="1" fontAlgn="auto" hangingPunct="1">
              <a:spcBef>
                <a:spcPts val="0"/>
              </a:spcBef>
              <a:spcAft>
                <a:spcPts val="0"/>
              </a:spcAft>
              <a:defRPr/>
            </a:pPr>
            <a:endParaRPr lang="en-US" baseline="-25000" dirty="0">
              <a:latin typeface="+mn-lt"/>
              <a:cs typeface="+mn-cs"/>
            </a:endParaRPr>
          </a:p>
          <a:p>
            <a:pPr eaLnBrk="1" fontAlgn="auto" hangingPunct="1">
              <a:spcBef>
                <a:spcPts val="0"/>
              </a:spcBef>
              <a:spcAft>
                <a:spcPts val="0"/>
              </a:spcAft>
              <a:defRPr/>
            </a:pPr>
            <a:endParaRPr lang="en-US" dirty="0">
              <a:latin typeface="+mn-lt"/>
              <a:cs typeface="+mn-cs"/>
            </a:endParaRPr>
          </a:p>
          <a:p>
            <a:pPr marL="342900" indent="-342900" eaLnBrk="1" fontAlgn="auto" hangingPunct="1">
              <a:spcBef>
                <a:spcPts val="0"/>
              </a:spcBef>
              <a:spcAft>
                <a:spcPts val="0"/>
              </a:spcAft>
              <a:buFont typeface="+mj-lt"/>
              <a:buAutoNum type="arabicPeriod"/>
              <a:defRPr/>
            </a:pPr>
            <a:r>
              <a:rPr lang="en-US" dirty="0">
                <a:latin typeface="+mn-lt"/>
                <a:cs typeface="+mn-cs"/>
              </a:rPr>
              <a:t>A ratio between 1.8 and 2.0 indicates that the DNA sample is pure.</a:t>
            </a:r>
          </a:p>
          <a:p>
            <a:pPr marL="342900" indent="-342900" eaLnBrk="1" fontAlgn="auto" hangingPunct="1">
              <a:spcBef>
                <a:spcPts val="0"/>
              </a:spcBef>
              <a:spcAft>
                <a:spcPts val="0"/>
              </a:spcAft>
              <a:buFont typeface="+mj-lt"/>
              <a:buAutoNum type="arabicPeriod"/>
              <a:defRPr/>
            </a:pPr>
            <a:endParaRPr lang="en-US" dirty="0">
              <a:latin typeface="+mn-lt"/>
              <a:cs typeface="+mn-cs"/>
            </a:endParaRPr>
          </a:p>
          <a:p>
            <a:pPr marL="342900" indent="-342900" eaLnBrk="1" fontAlgn="auto" hangingPunct="1">
              <a:spcBef>
                <a:spcPts val="0"/>
              </a:spcBef>
              <a:spcAft>
                <a:spcPts val="0"/>
              </a:spcAft>
              <a:buFont typeface="+mj-lt"/>
              <a:buAutoNum type="arabicPeriod"/>
              <a:defRPr/>
            </a:pPr>
            <a:r>
              <a:rPr lang="en-US" dirty="0">
                <a:latin typeface="+mn-lt"/>
                <a:cs typeface="+mn-cs"/>
              </a:rPr>
              <a:t>Elevated ratios usually indicate the presence of RNA</a:t>
            </a:r>
          </a:p>
          <a:p>
            <a:pPr marL="342900" indent="-342900" eaLnBrk="1" fontAlgn="auto" hangingPunct="1">
              <a:spcBef>
                <a:spcPts val="0"/>
              </a:spcBef>
              <a:spcAft>
                <a:spcPts val="0"/>
              </a:spcAft>
              <a:buFont typeface="+mj-lt"/>
              <a:buAutoNum type="arabicPeriod"/>
              <a:defRPr/>
            </a:pPr>
            <a:endParaRPr lang="en-US" dirty="0">
              <a:latin typeface="+mn-lt"/>
              <a:cs typeface="+mn-cs"/>
            </a:endParaRPr>
          </a:p>
          <a:p>
            <a:pPr marL="342900" indent="-342900" eaLnBrk="1" fontAlgn="auto" hangingPunct="1">
              <a:spcBef>
                <a:spcPts val="0"/>
              </a:spcBef>
              <a:spcAft>
                <a:spcPts val="0"/>
              </a:spcAft>
              <a:buFont typeface="+mj-lt"/>
              <a:buAutoNum type="arabicPeriod"/>
              <a:defRPr/>
            </a:pPr>
            <a:r>
              <a:rPr lang="en-US" dirty="0">
                <a:latin typeface="+mn-lt"/>
                <a:cs typeface="+mn-cs"/>
              </a:rPr>
              <a:t>Ratios below 1.8 often signal the presence of contaminating protein, or phenol (from the extraction protocol)</a:t>
            </a:r>
          </a:p>
          <a:p>
            <a:pPr marL="342900" indent="-342900" eaLnBrk="1" fontAlgn="auto" hangingPunct="1">
              <a:spcBef>
                <a:spcPts val="0"/>
              </a:spcBef>
              <a:spcAft>
                <a:spcPts val="0"/>
              </a:spcAft>
              <a:buFont typeface="+mj-lt"/>
              <a:buAutoNum type="arabicPeriod"/>
              <a:defRPr/>
            </a:pPr>
            <a:endParaRPr lang="en-US" dirty="0">
              <a:latin typeface="+mn-lt"/>
              <a:cs typeface="+mn-cs"/>
            </a:endParaRPr>
          </a:p>
          <a:p>
            <a:pPr marL="342900" indent="-342900" eaLnBrk="1" fontAlgn="auto" hangingPunct="1">
              <a:spcBef>
                <a:spcPts val="0"/>
              </a:spcBef>
              <a:spcAft>
                <a:spcPts val="0"/>
              </a:spcAft>
              <a:buFont typeface="+mj-lt"/>
              <a:buAutoNum type="arabicPeriod"/>
              <a:defRPr/>
            </a:pPr>
            <a:endParaRPr lang="en-US" dirty="0">
              <a:latin typeface="+mn-lt"/>
              <a:cs typeface="+mn-cs"/>
            </a:endParaRPr>
          </a:p>
          <a:p>
            <a:pPr algn="ctr" eaLnBrk="1" fontAlgn="auto" hangingPunct="1">
              <a:spcBef>
                <a:spcPts val="0"/>
              </a:spcBef>
              <a:spcAft>
                <a:spcPts val="0"/>
              </a:spcAft>
              <a:defRPr/>
            </a:pPr>
            <a:r>
              <a:rPr lang="en-US" sz="3200" b="1" dirty="0" err="1">
                <a:solidFill>
                  <a:srgbClr val="4F81BD"/>
                </a:solidFill>
                <a:latin typeface="+mn-lt"/>
                <a:cs typeface="+mn-cs"/>
              </a:rPr>
              <a:t>ssRNA</a:t>
            </a:r>
            <a:r>
              <a:rPr lang="en-US" sz="3200" b="1" dirty="0">
                <a:solidFill>
                  <a:srgbClr val="4F81BD"/>
                </a:solidFill>
                <a:latin typeface="+mn-lt"/>
                <a:cs typeface="+mn-cs"/>
              </a:rPr>
              <a:t> purity =    A</a:t>
            </a:r>
            <a:r>
              <a:rPr lang="en-US" sz="3200" b="1" baseline="-25000" dirty="0">
                <a:solidFill>
                  <a:srgbClr val="4F81BD"/>
                </a:solidFill>
                <a:latin typeface="+mn-lt"/>
                <a:cs typeface="+mn-cs"/>
              </a:rPr>
              <a:t>260</a:t>
            </a:r>
            <a:r>
              <a:rPr lang="en-US" sz="3200" b="1" dirty="0">
                <a:solidFill>
                  <a:srgbClr val="4F81BD"/>
                </a:solidFill>
                <a:latin typeface="+mn-lt"/>
                <a:cs typeface="+mn-cs"/>
              </a:rPr>
              <a:t>  /  A</a:t>
            </a:r>
            <a:r>
              <a:rPr lang="en-US" sz="3200" b="1" baseline="-25000" dirty="0">
                <a:solidFill>
                  <a:srgbClr val="4F81BD"/>
                </a:solidFill>
                <a:latin typeface="+mn-lt"/>
                <a:cs typeface="+mn-cs"/>
              </a:rPr>
              <a:t>280</a:t>
            </a:r>
          </a:p>
          <a:p>
            <a:pPr algn="ctr" eaLnBrk="1" fontAlgn="auto" hangingPunct="1">
              <a:spcBef>
                <a:spcPts val="0"/>
              </a:spcBef>
              <a:spcAft>
                <a:spcPts val="0"/>
              </a:spcAft>
              <a:defRPr/>
            </a:pPr>
            <a:endParaRPr lang="en-US" sz="3200" b="1" baseline="-25000" dirty="0">
              <a:solidFill>
                <a:srgbClr val="4F81BD"/>
              </a:solidFill>
              <a:latin typeface="+mn-lt"/>
              <a:cs typeface="+mn-cs"/>
            </a:endParaRPr>
          </a:p>
          <a:p>
            <a:pPr marL="342900" indent="-342900" eaLnBrk="1" fontAlgn="auto" hangingPunct="1">
              <a:spcBef>
                <a:spcPts val="0"/>
              </a:spcBef>
              <a:spcAft>
                <a:spcPts val="0"/>
              </a:spcAft>
              <a:buFont typeface="+mj-lt"/>
              <a:buAutoNum type="arabicPeriod"/>
              <a:defRPr/>
            </a:pPr>
            <a:r>
              <a:rPr lang="en-US" dirty="0">
                <a:solidFill>
                  <a:prstClr val="black"/>
                </a:solidFill>
                <a:latin typeface="+mn-lt"/>
                <a:cs typeface="+mn-cs"/>
              </a:rPr>
              <a:t>A ratio between 2.2 and 2.3 indicates that the RNA sample is pure.</a:t>
            </a:r>
          </a:p>
          <a:p>
            <a:pPr algn="ctr" eaLnBrk="1" fontAlgn="auto" hangingPunct="1">
              <a:spcBef>
                <a:spcPts val="0"/>
              </a:spcBef>
              <a:spcAft>
                <a:spcPts val="0"/>
              </a:spcAft>
              <a:defRPr/>
            </a:pPr>
            <a:endParaRPr lang="en-US" sz="3200" b="1" baseline="-25000" dirty="0">
              <a:solidFill>
                <a:srgbClr val="4F81BD"/>
              </a:solidFill>
              <a:latin typeface="+mn-lt"/>
              <a:cs typeface="+mn-cs"/>
            </a:endParaRPr>
          </a:p>
          <a:p>
            <a:pPr marL="342900" indent="-342900" eaLnBrk="1" fontAlgn="auto" hangingPunct="1">
              <a:spcBef>
                <a:spcPts val="0"/>
              </a:spcBef>
              <a:spcAft>
                <a:spcPts val="0"/>
              </a:spcAft>
              <a:buFont typeface="+mj-lt"/>
              <a:buAutoNum type="arabicPeriod"/>
              <a:defRPr/>
            </a:pPr>
            <a:endParaRPr lang="en-US" dirty="0">
              <a:latin typeface="+mn-lt"/>
              <a:cs typeface="+mn-cs"/>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body" sz="half" idx="1"/>
          </p:nvPr>
        </p:nvSpPr>
        <p:spPr>
          <a:xfrm>
            <a:off x="785813" y="1428750"/>
            <a:ext cx="7572375" cy="4648200"/>
          </a:xfrm>
        </p:spPr>
        <p:txBody>
          <a:bodyPr rtlCol="0">
            <a:normAutofit fontScale="92500" lnSpcReduction="10000"/>
          </a:bodyPr>
          <a:lstStyle/>
          <a:p>
            <a:pPr eaLnBrk="1" fontAlgn="auto" hangingPunct="1">
              <a:lnSpc>
                <a:spcPct val="90000"/>
              </a:lnSpc>
              <a:spcAft>
                <a:spcPts val="0"/>
              </a:spcAft>
              <a:buFont typeface="Wingdings" pitchFamily="2" charset="2"/>
              <a:buNone/>
              <a:defRPr/>
            </a:pPr>
            <a:r>
              <a:rPr lang="en-US" sz="2200" b="1" dirty="0" err="1">
                <a:solidFill>
                  <a:schemeClr val="accent1"/>
                </a:solidFill>
              </a:rPr>
              <a:t>NanoDrop</a:t>
            </a:r>
            <a:r>
              <a:rPr lang="en-US" sz="2200" b="1" dirty="0">
                <a:solidFill>
                  <a:schemeClr val="accent1"/>
                </a:solidFill>
              </a:rPr>
              <a:t> ND1000 </a:t>
            </a:r>
          </a:p>
          <a:p>
            <a:pPr eaLnBrk="1" fontAlgn="auto" hangingPunct="1">
              <a:lnSpc>
                <a:spcPct val="90000"/>
              </a:lnSpc>
              <a:spcAft>
                <a:spcPts val="0"/>
              </a:spcAft>
              <a:buFont typeface="Wingdings" pitchFamily="2" charset="2"/>
              <a:buNone/>
              <a:defRPr/>
            </a:pPr>
            <a:endParaRPr lang="en-US" sz="2400" dirty="0"/>
          </a:p>
          <a:p>
            <a:pPr eaLnBrk="1" fontAlgn="auto" hangingPunct="1">
              <a:lnSpc>
                <a:spcPct val="90000"/>
              </a:lnSpc>
              <a:spcAft>
                <a:spcPts val="0"/>
              </a:spcAft>
              <a:defRPr/>
            </a:pPr>
            <a:r>
              <a:rPr lang="en-US" sz="2400" dirty="0"/>
              <a:t>Small sample size: </a:t>
            </a:r>
          </a:p>
          <a:p>
            <a:pPr lvl="1" eaLnBrk="1" fontAlgn="auto" hangingPunct="1">
              <a:lnSpc>
                <a:spcPct val="90000"/>
              </a:lnSpc>
              <a:spcAft>
                <a:spcPts val="0"/>
              </a:spcAft>
              <a:buFont typeface="Wingdings" pitchFamily="2" charset="2"/>
              <a:buNone/>
              <a:defRPr/>
            </a:pPr>
            <a:r>
              <a:rPr lang="en-US" sz="2000" dirty="0"/>
              <a:t>   only 1 – 2 </a:t>
            </a:r>
            <a:r>
              <a:rPr lang="el-GR" sz="2000" dirty="0"/>
              <a:t>μ</a:t>
            </a:r>
            <a:r>
              <a:rPr lang="en-US" sz="2000" dirty="0"/>
              <a:t>L!</a:t>
            </a:r>
          </a:p>
          <a:p>
            <a:pPr lvl="1" eaLnBrk="1" fontAlgn="auto" hangingPunct="1">
              <a:lnSpc>
                <a:spcPct val="90000"/>
              </a:lnSpc>
              <a:spcAft>
                <a:spcPts val="0"/>
              </a:spcAft>
              <a:buFont typeface="Wingdings" pitchFamily="2" charset="2"/>
              <a:buNone/>
              <a:defRPr/>
            </a:pPr>
            <a:endParaRPr lang="en-US" sz="2000" dirty="0"/>
          </a:p>
          <a:p>
            <a:pPr eaLnBrk="1" fontAlgn="auto" hangingPunct="1">
              <a:lnSpc>
                <a:spcPct val="90000"/>
              </a:lnSpc>
              <a:spcAft>
                <a:spcPts val="0"/>
              </a:spcAft>
              <a:defRPr/>
            </a:pPr>
            <a:r>
              <a:rPr lang="en-US" sz="2400" dirty="0"/>
              <a:t>No sample dilution:  </a:t>
            </a:r>
          </a:p>
          <a:p>
            <a:pPr eaLnBrk="1" fontAlgn="auto" hangingPunct="1">
              <a:lnSpc>
                <a:spcPct val="90000"/>
              </a:lnSpc>
              <a:spcAft>
                <a:spcPts val="0"/>
              </a:spcAft>
              <a:buFont typeface="Wingdings" pitchFamily="2" charset="2"/>
              <a:buNone/>
              <a:defRPr/>
            </a:pPr>
            <a:r>
              <a:rPr lang="en-US" sz="2400" dirty="0"/>
              <a:t>     measures up to 3700 </a:t>
            </a:r>
            <a:r>
              <a:rPr lang="en-US" sz="2400" dirty="0" err="1"/>
              <a:t>ng</a:t>
            </a:r>
            <a:r>
              <a:rPr lang="en-US" sz="2400" dirty="0"/>
              <a:t>/</a:t>
            </a:r>
            <a:r>
              <a:rPr lang="en-US" sz="2400" dirty="0" err="1"/>
              <a:t>ul</a:t>
            </a:r>
            <a:endParaRPr lang="en-US" sz="2400" dirty="0"/>
          </a:p>
          <a:p>
            <a:pPr eaLnBrk="1" fontAlgn="auto" hangingPunct="1">
              <a:lnSpc>
                <a:spcPct val="90000"/>
              </a:lnSpc>
              <a:spcAft>
                <a:spcPts val="0"/>
              </a:spcAft>
              <a:buFont typeface="Wingdings" pitchFamily="2" charset="2"/>
              <a:buNone/>
              <a:defRPr/>
            </a:pPr>
            <a:endParaRPr lang="en-US" sz="2400" dirty="0"/>
          </a:p>
          <a:p>
            <a:pPr eaLnBrk="1" fontAlgn="auto" hangingPunct="1">
              <a:lnSpc>
                <a:spcPct val="90000"/>
              </a:lnSpc>
              <a:spcAft>
                <a:spcPts val="0"/>
              </a:spcAft>
              <a:defRPr/>
            </a:pPr>
            <a:r>
              <a:rPr lang="en-US" sz="2400" dirty="0"/>
              <a:t>Fast and easy to use</a:t>
            </a:r>
          </a:p>
          <a:p>
            <a:pPr eaLnBrk="1" fontAlgn="auto" hangingPunct="1">
              <a:lnSpc>
                <a:spcPct val="90000"/>
              </a:lnSpc>
              <a:spcAft>
                <a:spcPts val="0"/>
              </a:spcAft>
              <a:defRPr/>
            </a:pPr>
            <a:endParaRPr lang="en-US" sz="2400" dirty="0"/>
          </a:p>
          <a:p>
            <a:pPr eaLnBrk="1" fontAlgn="auto" hangingPunct="1">
              <a:lnSpc>
                <a:spcPct val="90000"/>
              </a:lnSpc>
              <a:spcAft>
                <a:spcPts val="0"/>
              </a:spcAft>
              <a:defRPr/>
            </a:pPr>
            <a:r>
              <a:rPr lang="en-US" sz="2400" dirty="0"/>
              <a:t>Stores data on computer</a:t>
            </a:r>
          </a:p>
          <a:p>
            <a:pPr eaLnBrk="1" fontAlgn="auto" hangingPunct="1">
              <a:lnSpc>
                <a:spcPct val="90000"/>
              </a:lnSpc>
              <a:spcAft>
                <a:spcPts val="0"/>
              </a:spcAft>
              <a:defRPr/>
            </a:pPr>
            <a:endParaRPr lang="en-US" sz="2400" dirty="0"/>
          </a:p>
          <a:p>
            <a:pPr eaLnBrk="1" fontAlgn="auto" hangingPunct="1">
              <a:lnSpc>
                <a:spcPct val="90000"/>
              </a:lnSpc>
              <a:spcAft>
                <a:spcPts val="0"/>
              </a:spcAft>
              <a:defRPr/>
            </a:pPr>
            <a:r>
              <a:rPr lang="en-US" sz="2400" dirty="0"/>
              <a:t>Converts OD to </a:t>
            </a:r>
            <a:r>
              <a:rPr lang="en-US" sz="2400" dirty="0" err="1"/>
              <a:t>molarity</a:t>
            </a:r>
            <a:r>
              <a:rPr lang="en-US" sz="2400" dirty="0"/>
              <a:t> </a:t>
            </a:r>
          </a:p>
          <a:p>
            <a:pPr eaLnBrk="1" fontAlgn="auto" hangingPunct="1">
              <a:lnSpc>
                <a:spcPct val="90000"/>
              </a:lnSpc>
              <a:spcAft>
                <a:spcPts val="0"/>
              </a:spcAft>
              <a:defRPr/>
            </a:pPr>
            <a:endParaRPr lang="en-US" sz="2400" dirty="0"/>
          </a:p>
        </p:txBody>
      </p:sp>
      <p:sp>
        <p:nvSpPr>
          <p:cNvPr id="5" name="Footer Placeholder 41"/>
          <p:cNvSpPr txBox="1">
            <a:spLocks/>
          </p:cNvSpPr>
          <p:nvPr/>
        </p:nvSpPr>
        <p:spPr>
          <a:xfrm>
            <a:off x="142875" y="6492875"/>
            <a:ext cx="3200400" cy="365125"/>
          </a:xfrm>
          <a:prstGeom prst="rect">
            <a:avLst/>
          </a:prstGeom>
        </p:spPr>
        <p:txBody>
          <a:bodyPr anchor="ctr"/>
          <a:lstStyle/>
          <a:p>
            <a:pPr eaLnBrk="1" fontAlgn="auto" hangingPunct="1">
              <a:spcBef>
                <a:spcPts val="0"/>
              </a:spcBef>
              <a:spcAft>
                <a:spcPts val="0"/>
              </a:spcAft>
              <a:defRPr/>
            </a:pPr>
            <a:r>
              <a:rPr lang="en-US" sz="1400" dirty="0">
                <a:solidFill>
                  <a:schemeClr val="tx1">
                    <a:tint val="75000"/>
                  </a:schemeClr>
                </a:solidFill>
                <a:latin typeface="+mn-lt"/>
                <a:cs typeface="+mn-cs"/>
              </a:rPr>
              <a:t>MBL. BT453</a:t>
            </a:r>
          </a:p>
        </p:txBody>
      </p:sp>
      <p:cxnSp>
        <p:nvCxnSpPr>
          <p:cNvPr id="6" name="Straight Connector 5"/>
          <p:cNvCxnSpPr/>
          <p:nvPr/>
        </p:nvCxnSpPr>
        <p:spPr>
          <a:xfrm>
            <a:off x="785813" y="928688"/>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7" name="Title 4"/>
          <p:cNvSpPr txBox="1">
            <a:spLocks/>
          </p:cNvSpPr>
          <p:nvPr/>
        </p:nvSpPr>
        <p:spPr>
          <a:xfrm>
            <a:off x="357188" y="214313"/>
            <a:ext cx="8215312" cy="488950"/>
          </a:xfrm>
          <a:prstGeom prst="rect">
            <a:avLst/>
          </a:prstGeom>
        </p:spPr>
        <p:txBody>
          <a:bodyPr/>
          <a:lstStyle/>
          <a:p>
            <a:pPr algn="ctr" eaLnBrk="1" fontAlgn="auto" hangingPunct="1">
              <a:spcAft>
                <a:spcPts val="0"/>
              </a:spcAft>
              <a:defRPr/>
            </a:pPr>
            <a:r>
              <a:rPr lang="en-US" sz="3200" b="1" dirty="0">
                <a:solidFill>
                  <a:schemeClr val="accent1"/>
                </a:solidFill>
                <a:latin typeface="+mn-lt"/>
                <a:cs typeface="+mn-cs"/>
              </a:rPr>
              <a:t>New technology (</a:t>
            </a:r>
            <a:r>
              <a:rPr lang="en-US" sz="3200" b="1" dirty="0" err="1">
                <a:solidFill>
                  <a:schemeClr val="accent1"/>
                </a:solidFill>
                <a:latin typeface="+mn-lt"/>
                <a:cs typeface="+mn-cs"/>
              </a:rPr>
              <a:t>NanoDrop</a:t>
            </a:r>
            <a:r>
              <a:rPr lang="en-US" sz="3200" b="1" dirty="0">
                <a:solidFill>
                  <a:schemeClr val="accent1"/>
                </a:solidFill>
                <a:latin typeface="+mn-lt"/>
                <a:cs typeface="+mn-cs"/>
              </a:rPr>
              <a:t>)</a:t>
            </a:r>
            <a:endParaRPr lang="en-US" sz="3200" b="1" dirty="0">
              <a:solidFill>
                <a:schemeClr val="tx2">
                  <a:lumMod val="60000"/>
                  <a:lumOff val="40000"/>
                </a:schemeClr>
              </a:solidFill>
              <a:latin typeface="+mn-lt"/>
              <a:cs typeface="+mn-cs"/>
            </a:endParaRPr>
          </a:p>
          <a:p>
            <a:pPr algn="ctr" eaLnBrk="1" fontAlgn="auto" hangingPunct="1">
              <a:spcAft>
                <a:spcPts val="0"/>
              </a:spcAft>
              <a:defRPr/>
            </a:pPr>
            <a:r>
              <a:rPr lang="en-US" sz="3200" b="1" dirty="0">
                <a:solidFill>
                  <a:schemeClr val="accent1"/>
                </a:solidFill>
                <a:latin typeface="+mn-lt"/>
                <a:cs typeface="+mn-cs"/>
              </a:rPr>
              <a:t> </a:t>
            </a:r>
            <a:endParaRPr lang="en-US" sz="3200" b="1" dirty="0">
              <a:solidFill>
                <a:schemeClr val="accent1"/>
              </a:solidFill>
              <a:latin typeface="+mj-lt"/>
              <a:ea typeface="+mj-ea"/>
              <a:cs typeface="+mj-cs"/>
            </a:endParaRPr>
          </a:p>
        </p:txBody>
      </p:sp>
      <p:pic>
        <p:nvPicPr>
          <p:cNvPr id="25606" name="Picture 2"/>
          <p:cNvPicPr>
            <a:picLocks noChangeAspect="1" noChangeArrowheads="1"/>
          </p:cNvPicPr>
          <p:nvPr/>
        </p:nvPicPr>
        <p:blipFill>
          <a:blip r:embed="rId3"/>
          <a:srcRect r="46594"/>
          <a:stretch>
            <a:fillRect/>
          </a:stretch>
        </p:blipFill>
        <p:spPr bwMode="auto">
          <a:xfrm>
            <a:off x="5929313" y="1357313"/>
            <a:ext cx="1643062" cy="1981200"/>
          </a:xfrm>
          <a:prstGeom prst="rect">
            <a:avLst/>
          </a:prstGeom>
          <a:noFill/>
          <a:ln w="9525">
            <a:noFill/>
            <a:miter lim="800000"/>
            <a:headEnd/>
            <a:tailEnd/>
          </a:ln>
        </p:spPr>
      </p:pic>
      <p:pic>
        <p:nvPicPr>
          <p:cNvPr id="25607" name="Picture 3"/>
          <p:cNvPicPr>
            <a:picLocks noChangeAspect="1" noChangeArrowheads="1"/>
          </p:cNvPicPr>
          <p:nvPr/>
        </p:nvPicPr>
        <p:blipFill>
          <a:blip r:embed="rId4"/>
          <a:srcRect/>
          <a:stretch>
            <a:fillRect/>
          </a:stretch>
        </p:blipFill>
        <p:spPr bwMode="auto">
          <a:xfrm>
            <a:off x="5643563" y="3643313"/>
            <a:ext cx="2084387" cy="2500312"/>
          </a:xfrm>
          <a:prstGeom prst="rect">
            <a:avLst/>
          </a:prstGeom>
          <a:noFill/>
          <a:ln w="9525">
            <a:noFill/>
            <a:miter lim="800000"/>
            <a:headEnd/>
            <a:tailEnd/>
          </a:ln>
        </p:spPr>
      </p:pic>
      <p:sp>
        <p:nvSpPr>
          <p:cNvPr id="25608" name="Slide Number Placeholder 2"/>
          <p:cNvSpPr>
            <a:spLocks noGrp="1" noChangeArrowheads="1"/>
          </p:cNvSpPr>
          <p:nvPr>
            <p:ph type="sldNum" sz="quarter" idx="12"/>
          </p:nvPr>
        </p:nvSpPr>
        <p:spPr bwMode="auto">
          <a:noFill/>
          <a:ln>
            <a:miter lim="800000"/>
            <a:headEnd/>
            <a:tailEnd/>
          </a:ln>
        </p:spPr>
        <p:txBody>
          <a:bodyPr/>
          <a:lstStyle/>
          <a:p>
            <a:fld id="{0F299432-5FF3-4C55-AE17-EDADC66165F5}" type="slidenum">
              <a:rPr lang="en-US" altLang="ar-JO"/>
              <a:pPr/>
              <a:t>13</a:t>
            </a:fld>
            <a:endParaRPr lang="en-US" altLang="ar-JO"/>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2462213" y="1628775"/>
            <a:ext cx="914400" cy="990600"/>
          </a:xfrm>
          <a:prstGeom prst="rect">
            <a:avLst/>
          </a:prstGeom>
          <a:solidFill>
            <a:schemeClr val="accent1"/>
          </a:solidFill>
          <a:ln w="9525">
            <a:noFill/>
            <a:miter lim="800000"/>
            <a:headEnd/>
            <a:tailEnd/>
          </a:ln>
        </p:spPr>
        <p:txBody>
          <a:bodyPr wrap="none" anchor="ctr"/>
          <a:lstStyle/>
          <a:p>
            <a:pPr eaLnBrk="1" hangingPunct="1"/>
            <a:endParaRPr lang="ar-JO" altLang="ar-JO">
              <a:latin typeface="Calibri" pitchFamily="34" charset="0"/>
            </a:endParaRPr>
          </a:p>
        </p:txBody>
      </p:sp>
      <p:sp>
        <p:nvSpPr>
          <p:cNvPr id="27651" name="Rectangle 3"/>
          <p:cNvSpPr>
            <a:spLocks noChangeArrowheads="1"/>
          </p:cNvSpPr>
          <p:nvPr/>
        </p:nvSpPr>
        <p:spPr bwMode="auto">
          <a:xfrm>
            <a:off x="2767013" y="1628775"/>
            <a:ext cx="4876800" cy="609600"/>
          </a:xfrm>
          <a:prstGeom prst="rect">
            <a:avLst/>
          </a:prstGeom>
          <a:solidFill>
            <a:schemeClr val="accent1"/>
          </a:solidFill>
          <a:ln w="9525">
            <a:noFill/>
            <a:miter lim="800000"/>
            <a:headEnd/>
            <a:tailEnd/>
          </a:ln>
        </p:spPr>
        <p:txBody>
          <a:bodyPr wrap="none" anchor="ctr"/>
          <a:lstStyle/>
          <a:p>
            <a:pPr eaLnBrk="1" hangingPunct="1"/>
            <a:endParaRPr lang="ar-JO" altLang="ar-JO">
              <a:latin typeface="Calibri" pitchFamily="34" charset="0"/>
            </a:endParaRPr>
          </a:p>
        </p:txBody>
      </p:sp>
      <p:sp>
        <p:nvSpPr>
          <p:cNvPr id="27652" name="Rectangle 4"/>
          <p:cNvSpPr>
            <a:spLocks noChangeArrowheads="1"/>
          </p:cNvSpPr>
          <p:nvPr/>
        </p:nvSpPr>
        <p:spPr bwMode="auto">
          <a:xfrm>
            <a:off x="2614613" y="2619375"/>
            <a:ext cx="609600" cy="228600"/>
          </a:xfrm>
          <a:prstGeom prst="rect">
            <a:avLst/>
          </a:prstGeom>
          <a:solidFill>
            <a:schemeClr val="tx1"/>
          </a:solidFill>
          <a:ln w="9525">
            <a:solidFill>
              <a:schemeClr val="tx1"/>
            </a:solidFill>
            <a:miter lim="800000"/>
            <a:headEnd/>
            <a:tailEnd/>
          </a:ln>
        </p:spPr>
        <p:txBody>
          <a:bodyPr wrap="none" anchor="ctr"/>
          <a:lstStyle/>
          <a:p>
            <a:pPr eaLnBrk="1" hangingPunct="1"/>
            <a:endParaRPr lang="ar-JO" altLang="ar-JO">
              <a:latin typeface="Calibri" pitchFamily="34" charset="0"/>
            </a:endParaRPr>
          </a:p>
        </p:txBody>
      </p:sp>
      <p:sp>
        <p:nvSpPr>
          <p:cNvPr id="27653" name="Line 5"/>
          <p:cNvSpPr>
            <a:spLocks noChangeShapeType="1"/>
          </p:cNvSpPr>
          <p:nvPr/>
        </p:nvSpPr>
        <p:spPr bwMode="auto">
          <a:xfrm>
            <a:off x="2919413" y="1857375"/>
            <a:ext cx="0" cy="914400"/>
          </a:xfrm>
          <a:prstGeom prst="line">
            <a:avLst/>
          </a:prstGeom>
          <a:noFill/>
          <a:ln w="57150">
            <a:solidFill>
              <a:schemeClr val="folHlink"/>
            </a:solidFill>
            <a:round/>
            <a:headEnd/>
            <a:tailEnd/>
          </a:ln>
        </p:spPr>
        <p:txBody>
          <a:bodyPr/>
          <a:lstStyle/>
          <a:p>
            <a:endParaRPr lang="ar-JO"/>
          </a:p>
        </p:txBody>
      </p:sp>
      <p:sp>
        <p:nvSpPr>
          <p:cNvPr id="27654" name="Text Box 6"/>
          <p:cNvSpPr txBox="1">
            <a:spLocks noChangeArrowheads="1"/>
          </p:cNvSpPr>
          <p:nvPr/>
        </p:nvSpPr>
        <p:spPr bwMode="auto">
          <a:xfrm>
            <a:off x="3833813" y="2847975"/>
            <a:ext cx="1981200" cy="366713"/>
          </a:xfrm>
          <a:prstGeom prst="rect">
            <a:avLst/>
          </a:prstGeom>
          <a:noFill/>
          <a:ln w="9525">
            <a:noFill/>
            <a:miter lim="800000"/>
            <a:headEnd/>
            <a:tailEnd/>
          </a:ln>
        </p:spPr>
        <p:txBody>
          <a:bodyPr>
            <a:spAutoFit/>
          </a:bodyPr>
          <a:lstStyle/>
          <a:p>
            <a:pPr eaLnBrk="1" hangingPunct="1">
              <a:spcBef>
                <a:spcPct val="50000"/>
              </a:spcBef>
            </a:pPr>
            <a:r>
              <a:rPr lang="en-US" altLang="ar-JO"/>
              <a:t>Sample (1-2 </a:t>
            </a:r>
            <a:r>
              <a:rPr lang="el-GR" altLang="ar-JO"/>
              <a:t>μ</a:t>
            </a:r>
            <a:r>
              <a:rPr lang="en-US" altLang="ar-JO"/>
              <a:t>L)</a:t>
            </a:r>
            <a:endParaRPr lang="el-GR" altLang="ar-JO"/>
          </a:p>
        </p:txBody>
      </p:sp>
      <p:sp>
        <p:nvSpPr>
          <p:cNvPr id="27655" name="Rectangle 7"/>
          <p:cNvSpPr>
            <a:spLocks noChangeArrowheads="1"/>
          </p:cNvSpPr>
          <p:nvPr/>
        </p:nvSpPr>
        <p:spPr bwMode="auto">
          <a:xfrm>
            <a:off x="6881813" y="1628775"/>
            <a:ext cx="762000" cy="1752600"/>
          </a:xfrm>
          <a:prstGeom prst="rect">
            <a:avLst/>
          </a:prstGeom>
          <a:solidFill>
            <a:schemeClr val="accent1"/>
          </a:solidFill>
          <a:ln w="9525">
            <a:noFill/>
            <a:miter lim="800000"/>
            <a:headEnd/>
            <a:tailEnd/>
          </a:ln>
        </p:spPr>
        <p:txBody>
          <a:bodyPr wrap="none" anchor="ctr"/>
          <a:lstStyle/>
          <a:p>
            <a:pPr eaLnBrk="1" hangingPunct="1"/>
            <a:endParaRPr lang="ar-JO" altLang="ar-JO">
              <a:latin typeface="Calibri" pitchFamily="34" charset="0"/>
            </a:endParaRPr>
          </a:p>
        </p:txBody>
      </p:sp>
      <p:sp>
        <p:nvSpPr>
          <p:cNvPr id="27656" name="Line 8"/>
          <p:cNvSpPr>
            <a:spLocks noChangeShapeType="1"/>
          </p:cNvSpPr>
          <p:nvPr/>
        </p:nvSpPr>
        <p:spPr bwMode="auto">
          <a:xfrm>
            <a:off x="2919413" y="1857375"/>
            <a:ext cx="4343400" cy="0"/>
          </a:xfrm>
          <a:prstGeom prst="line">
            <a:avLst/>
          </a:prstGeom>
          <a:noFill/>
          <a:ln w="76200">
            <a:solidFill>
              <a:schemeClr val="folHlink"/>
            </a:solidFill>
            <a:round/>
            <a:headEnd/>
            <a:tailEnd/>
          </a:ln>
        </p:spPr>
        <p:txBody>
          <a:bodyPr/>
          <a:lstStyle/>
          <a:p>
            <a:endParaRPr lang="ar-JO"/>
          </a:p>
        </p:txBody>
      </p:sp>
      <p:sp>
        <p:nvSpPr>
          <p:cNvPr id="27657" name="Line 9"/>
          <p:cNvSpPr>
            <a:spLocks noChangeShapeType="1"/>
          </p:cNvSpPr>
          <p:nvPr/>
        </p:nvSpPr>
        <p:spPr bwMode="auto">
          <a:xfrm flipH="1">
            <a:off x="3300413" y="3076575"/>
            <a:ext cx="381000" cy="0"/>
          </a:xfrm>
          <a:prstGeom prst="line">
            <a:avLst/>
          </a:prstGeom>
          <a:noFill/>
          <a:ln w="76200">
            <a:solidFill>
              <a:schemeClr val="accent2"/>
            </a:solidFill>
            <a:round/>
            <a:headEnd/>
            <a:tailEnd type="triangle" w="med" len="med"/>
          </a:ln>
        </p:spPr>
        <p:txBody>
          <a:bodyPr/>
          <a:lstStyle/>
          <a:p>
            <a:endParaRPr lang="ar-JO"/>
          </a:p>
        </p:txBody>
      </p:sp>
      <p:sp>
        <p:nvSpPr>
          <p:cNvPr id="27658" name="Rectangle 10"/>
          <p:cNvSpPr>
            <a:spLocks noChangeArrowheads="1"/>
          </p:cNvSpPr>
          <p:nvPr/>
        </p:nvSpPr>
        <p:spPr bwMode="auto">
          <a:xfrm>
            <a:off x="785813" y="3381375"/>
            <a:ext cx="7162800" cy="3048000"/>
          </a:xfrm>
          <a:prstGeom prst="rect">
            <a:avLst/>
          </a:prstGeom>
          <a:solidFill>
            <a:schemeClr val="bg2"/>
          </a:solidFill>
          <a:ln w="9525">
            <a:noFill/>
            <a:miter lim="800000"/>
            <a:headEnd/>
            <a:tailEnd/>
          </a:ln>
        </p:spPr>
        <p:txBody>
          <a:bodyPr wrap="none" anchor="ctr"/>
          <a:lstStyle/>
          <a:p>
            <a:pPr algn="ctr" eaLnBrk="1" hangingPunct="1"/>
            <a:endParaRPr lang="ar-JO" altLang="ar-JO"/>
          </a:p>
        </p:txBody>
      </p:sp>
      <p:sp>
        <p:nvSpPr>
          <p:cNvPr id="27659" name="Line 12"/>
          <p:cNvSpPr>
            <a:spLocks noChangeShapeType="1"/>
          </p:cNvSpPr>
          <p:nvPr/>
        </p:nvSpPr>
        <p:spPr bwMode="auto">
          <a:xfrm>
            <a:off x="2919413" y="4219575"/>
            <a:ext cx="0" cy="990600"/>
          </a:xfrm>
          <a:prstGeom prst="line">
            <a:avLst/>
          </a:prstGeom>
          <a:noFill/>
          <a:ln w="76200">
            <a:solidFill>
              <a:schemeClr val="folHlink"/>
            </a:solidFill>
            <a:round/>
            <a:headEnd/>
            <a:tailEnd/>
          </a:ln>
        </p:spPr>
        <p:txBody>
          <a:bodyPr/>
          <a:lstStyle/>
          <a:p>
            <a:endParaRPr lang="ar-JO"/>
          </a:p>
        </p:txBody>
      </p:sp>
      <p:sp>
        <p:nvSpPr>
          <p:cNvPr id="27660" name="Rectangle 13"/>
          <p:cNvSpPr>
            <a:spLocks noChangeArrowheads="1"/>
          </p:cNvSpPr>
          <p:nvPr/>
        </p:nvSpPr>
        <p:spPr bwMode="auto">
          <a:xfrm>
            <a:off x="2614613" y="3228975"/>
            <a:ext cx="609600" cy="228600"/>
          </a:xfrm>
          <a:prstGeom prst="rect">
            <a:avLst/>
          </a:prstGeom>
          <a:solidFill>
            <a:schemeClr val="tx1"/>
          </a:solidFill>
          <a:ln w="9525">
            <a:solidFill>
              <a:schemeClr val="tx1"/>
            </a:solidFill>
            <a:miter lim="800000"/>
            <a:headEnd/>
            <a:tailEnd/>
          </a:ln>
        </p:spPr>
        <p:txBody>
          <a:bodyPr wrap="none" anchor="ctr"/>
          <a:lstStyle/>
          <a:p>
            <a:pPr eaLnBrk="1" hangingPunct="1"/>
            <a:endParaRPr lang="ar-JO" altLang="ar-JO">
              <a:latin typeface="Calibri" pitchFamily="34" charset="0"/>
            </a:endParaRPr>
          </a:p>
        </p:txBody>
      </p:sp>
      <p:sp>
        <p:nvSpPr>
          <p:cNvPr id="27661" name="Line 14"/>
          <p:cNvSpPr>
            <a:spLocks noChangeShapeType="1"/>
          </p:cNvSpPr>
          <p:nvPr/>
        </p:nvSpPr>
        <p:spPr bwMode="auto">
          <a:xfrm>
            <a:off x="2919413" y="3305175"/>
            <a:ext cx="0" cy="914400"/>
          </a:xfrm>
          <a:prstGeom prst="line">
            <a:avLst/>
          </a:prstGeom>
          <a:noFill/>
          <a:ln w="57150">
            <a:solidFill>
              <a:schemeClr val="folHlink"/>
            </a:solidFill>
            <a:round/>
            <a:headEnd/>
            <a:tailEnd/>
          </a:ln>
        </p:spPr>
        <p:txBody>
          <a:bodyPr/>
          <a:lstStyle/>
          <a:p>
            <a:endParaRPr lang="ar-JO"/>
          </a:p>
        </p:txBody>
      </p:sp>
      <p:sp>
        <p:nvSpPr>
          <p:cNvPr id="27662" name="Text Box 15"/>
          <p:cNvSpPr txBox="1">
            <a:spLocks noChangeArrowheads="1"/>
          </p:cNvSpPr>
          <p:nvPr/>
        </p:nvSpPr>
        <p:spPr bwMode="auto">
          <a:xfrm>
            <a:off x="4062413" y="3730625"/>
            <a:ext cx="2971800" cy="641350"/>
          </a:xfrm>
          <a:prstGeom prst="rect">
            <a:avLst/>
          </a:prstGeom>
          <a:noFill/>
          <a:ln w="9525">
            <a:noFill/>
            <a:miter lim="800000"/>
            <a:headEnd/>
            <a:tailEnd/>
          </a:ln>
        </p:spPr>
        <p:txBody>
          <a:bodyPr>
            <a:spAutoFit/>
          </a:bodyPr>
          <a:lstStyle/>
          <a:p>
            <a:pPr eaLnBrk="1" hangingPunct="1">
              <a:spcBef>
                <a:spcPct val="50000"/>
              </a:spcBef>
            </a:pPr>
            <a:r>
              <a:rPr lang="en-US" altLang="ar-JO"/>
              <a:t>Receiving fiber (fiber optic cable)</a:t>
            </a:r>
          </a:p>
        </p:txBody>
      </p:sp>
      <p:sp>
        <p:nvSpPr>
          <p:cNvPr id="27663" name="Line 16"/>
          <p:cNvSpPr>
            <a:spLocks noChangeShapeType="1"/>
          </p:cNvSpPr>
          <p:nvPr/>
        </p:nvSpPr>
        <p:spPr bwMode="auto">
          <a:xfrm flipH="1">
            <a:off x="3071813" y="4067175"/>
            <a:ext cx="1066800" cy="0"/>
          </a:xfrm>
          <a:prstGeom prst="line">
            <a:avLst/>
          </a:prstGeom>
          <a:noFill/>
          <a:ln w="76200">
            <a:solidFill>
              <a:schemeClr val="accent2"/>
            </a:solidFill>
            <a:round/>
            <a:headEnd/>
            <a:tailEnd type="triangle" w="med" len="med"/>
          </a:ln>
        </p:spPr>
        <p:txBody>
          <a:bodyPr/>
          <a:lstStyle/>
          <a:p>
            <a:endParaRPr lang="ar-JO"/>
          </a:p>
        </p:txBody>
      </p:sp>
      <p:sp>
        <p:nvSpPr>
          <p:cNvPr id="27664" name="Line 17"/>
          <p:cNvSpPr>
            <a:spLocks noChangeShapeType="1"/>
          </p:cNvSpPr>
          <p:nvPr/>
        </p:nvSpPr>
        <p:spPr bwMode="auto">
          <a:xfrm>
            <a:off x="7262813" y="1857375"/>
            <a:ext cx="0" cy="2895600"/>
          </a:xfrm>
          <a:prstGeom prst="line">
            <a:avLst/>
          </a:prstGeom>
          <a:noFill/>
          <a:ln w="76200">
            <a:solidFill>
              <a:schemeClr val="folHlink"/>
            </a:solidFill>
            <a:round/>
            <a:headEnd/>
            <a:tailEnd/>
          </a:ln>
        </p:spPr>
        <p:txBody>
          <a:bodyPr/>
          <a:lstStyle/>
          <a:p>
            <a:endParaRPr lang="ar-JO"/>
          </a:p>
        </p:txBody>
      </p:sp>
      <p:sp>
        <p:nvSpPr>
          <p:cNvPr id="27665" name="Oval 18"/>
          <p:cNvSpPr>
            <a:spLocks noChangeArrowheads="1"/>
          </p:cNvSpPr>
          <p:nvPr/>
        </p:nvSpPr>
        <p:spPr bwMode="auto">
          <a:xfrm>
            <a:off x="6348413" y="4600575"/>
            <a:ext cx="1447800" cy="1447800"/>
          </a:xfrm>
          <a:prstGeom prst="ellipse">
            <a:avLst/>
          </a:prstGeom>
          <a:solidFill>
            <a:srgbClr val="00CCFF"/>
          </a:solidFill>
          <a:ln w="9525">
            <a:solidFill>
              <a:schemeClr val="tx1"/>
            </a:solidFill>
            <a:round/>
            <a:headEnd/>
            <a:tailEnd/>
          </a:ln>
        </p:spPr>
        <p:txBody>
          <a:bodyPr wrap="none" anchor="ctr"/>
          <a:lstStyle/>
          <a:p>
            <a:pPr eaLnBrk="1" hangingPunct="1"/>
            <a:endParaRPr lang="ar-JO" altLang="ar-JO">
              <a:latin typeface="Calibri" pitchFamily="34" charset="0"/>
            </a:endParaRPr>
          </a:p>
        </p:txBody>
      </p:sp>
      <p:sp>
        <p:nvSpPr>
          <p:cNvPr id="27666" name="Text Box 19"/>
          <p:cNvSpPr txBox="1">
            <a:spLocks noChangeArrowheads="1"/>
          </p:cNvSpPr>
          <p:nvPr/>
        </p:nvSpPr>
        <p:spPr bwMode="auto">
          <a:xfrm>
            <a:off x="6577013" y="4949825"/>
            <a:ext cx="990600" cy="641350"/>
          </a:xfrm>
          <a:prstGeom prst="rect">
            <a:avLst/>
          </a:prstGeom>
          <a:solidFill>
            <a:srgbClr val="00CCFF"/>
          </a:solidFill>
          <a:ln w="9525">
            <a:noFill/>
            <a:miter lim="800000"/>
            <a:headEnd/>
            <a:tailEnd/>
          </a:ln>
        </p:spPr>
        <p:txBody>
          <a:bodyPr>
            <a:spAutoFit/>
          </a:bodyPr>
          <a:lstStyle/>
          <a:p>
            <a:pPr algn="ctr" eaLnBrk="1" hangingPunct="1">
              <a:spcBef>
                <a:spcPct val="50000"/>
              </a:spcBef>
            </a:pPr>
            <a:r>
              <a:rPr lang="en-US" altLang="ar-JO"/>
              <a:t>Xenon lamp</a:t>
            </a:r>
          </a:p>
        </p:txBody>
      </p:sp>
      <p:grpSp>
        <p:nvGrpSpPr>
          <p:cNvPr id="27667" name="Group 20"/>
          <p:cNvGrpSpPr>
            <a:grpSpLocks/>
          </p:cNvGrpSpPr>
          <p:nvPr/>
        </p:nvGrpSpPr>
        <p:grpSpPr bwMode="auto">
          <a:xfrm>
            <a:off x="1547813" y="4676775"/>
            <a:ext cx="2743200" cy="1676400"/>
            <a:chOff x="672" y="3120"/>
            <a:chExt cx="1728" cy="1056"/>
          </a:xfrm>
        </p:grpSpPr>
        <p:sp>
          <p:nvSpPr>
            <p:cNvPr id="27675" name="Oval 21"/>
            <p:cNvSpPr>
              <a:spLocks noChangeArrowheads="1"/>
            </p:cNvSpPr>
            <p:nvPr/>
          </p:nvSpPr>
          <p:spPr bwMode="auto">
            <a:xfrm>
              <a:off x="672" y="3120"/>
              <a:ext cx="1728" cy="1056"/>
            </a:xfrm>
            <a:prstGeom prst="ellipse">
              <a:avLst/>
            </a:prstGeom>
            <a:solidFill>
              <a:srgbClr val="FFFF99"/>
            </a:solidFill>
            <a:ln w="9525">
              <a:solidFill>
                <a:schemeClr val="tx1"/>
              </a:solidFill>
              <a:round/>
              <a:headEnd/>
              <a:tailEnd/>
            </a:ln>
          </p:spPr>
          <p:txBody>
            <a:bodyPr wrap="none" anchor="ctr"/>
            <a:lstStyle/>
            <a:p>
              <a:pPr eaLnBrk="1" hangingPunct="1"/>
              <a:endParaRPr lang="ar-JO" altLang="ar-JO">
                <a:latin typeface="Calibri" pitchFamily="34" charset="0"/>
              </a:endParaRPr>
            </a:p>
          </p:txBody>
        </p:sp>
        <p:sp>
          <p:nvSpPr>
            <p:cNvPr id="27676" name="Text Box 22"/>
            <p:cNvSpPr txBox="1">
              <a:spLocks noChangeArrowheads="1"/>
            </p:cNvSpPr>
            <p:nvPr/>
          </p:nvSpPr>
          <p:spPr bwMode="auto">
            <a:xfrm>
              <a:off x="864" y="3504"/>
              <a:ext cx="1344" cy="231"/>
            </a:xfrm>
            <a:prstGeom prst="rect">
              <a:avLst/>
            </a:prstGeom>
            <a:noFill/>
            <a:ln w="9525">
              <a:noFill/>
              <a:miter lim="800000"/>
              <a:headEnd/>
              <a:tailEnd/>
            </a:ln>
          </p:spPr>
          <p:txBody>
            <a:bodyPr>
              <a:spAutoFit/>
            </a:bodyPr>
            <a:lstStyle/>
            <a:p>
              <a:pPr eaLnBrk="1" hangingPunct="1">
                <a:spcBef>
                  <a:spcPct val="50000"/>
                </a:spcBef>
              </a:pPr>
              <a:r>
                <a:rPr lang="en-US" altLang="ar-JO"/>
                <a:t>Spectrophotometer</a:t>
              </a:r>
            </a:p>
          </p:txBody>
        </p:sp>
      </p:grpSp>
      <p:sp>
        <p:nvSpPr>
          <p:cNvPr id="27668" name="Text Box 23"/>
          <p:cNvSpPr txBox="1">
            <a:spLocks noChangeArrowheads="1"/>
          </p:cNvSpPr>
          <p:nvPr/>
        </p:nvSpPr>
        <p:spPr bwMode="auto">
          <a:xfrm>
            <a:off x="3681413" y="1042988"/>
            <a:ext cx="2971800" cy="641350"/>
          </a:xfrm>
          <a:prstGeom prst="rect">
            <a:avLst/>
          </a:prstGeom>
          <a:noFill/>
          <a:ln w="9525">
            <a:noFill/>
            <a:miter lim="800000"/>
            <a:headEnd/>
            <a:tailEnd/>
          </a:ln>
        </p:spPr>
        <p:txBody>
          <a:bodyPr>
            <a:spAutoFit/>
          </a:bodyPr>
          <a:lstStyle/>
          <a:p>
            <a:pPr eaLnBrk="1" hangingPunct="1">
              <a:spcBef>
                <a:spcPct val="50000"/>
              </a:spcBef>
            </a:pPr>
            <a:r>
              <a:rPr lang="en-US" altLang="ar-JO"/>
              <a:t>Fiber optic cable in measurement arm</a:t>
            </a:r>
          </a:p>
        </p:txBody>
      </p:sp>
      <p:sp>
        <p:nvSpPr>
          <p:cNvPr id="27669" name="Line 24"/>
          <p:cNvSpPr>
            <a:spLocks noChangeShapeType="1"/>
          </p:cNvSpPr>
          <p:nvPr/>
        </p:nvSpPr>
        <p:spPr bwMode="auto">
          <a:xfrm>
            <a:off x="5815013" y="1247775"/>
            <a:ext cx="0" cy="381000"/>
          </a:xfrm>
          <a:prstGeom prst="line">
            <a:avLst/>
          </a:prstGeom>
          <a:noFill/>
          <a:ln w="76200">
            <a:solidFill>
              <a:schemeClr val="accent2"/>
            </a:solidFill>
            <a:round/>
            <a:headEnd/>
            <a:tailEnd type="triangle" w="med" len="med"/>
          </a:ln>
        </p:spPr>
        <p:txBody>
          <a:bodyPr/>
          <a:lstStyle/>
          <a:p>
            <a:endParaRPr lang="ar-JO"/>
          </a:p>
        </p:txBody>
      </p:sp>
      <p:sp>
        <p:nvSpPr>
          <p:cNvPr id="27670" name="Oval 25"/>
          <p:cNvSpPr>
            <a:spLocks noChangeArrowheads="1"/>
          </p:cNvSpPr>
          <p:nvPr/>
        </p:nvSpPr>
        <p:spPr bwMode="auto">
          <a:xfrm>
            <a:off x="2767013" y="2771775"/>
            <a:ext cx="304800" cy="533400"/>
          </a:xfrm>
          <a:prstGeom prst="ellipse">
            <a:avLst/>
          </a:prstGeom>
          <a:solidFill>
            <a:schemeClr val="accent1"/>
          </a:solidFill>
          <a:ln w="9525">
            <a:solidFill>
              <a:schemeClr val="tx1"/>
            </a:solidFill>
            <a:round/>
            <a:headEnd/>
            <a:tailEnd/>
          </a:ln>
        </p:spPr>
        <p:txBody>
          <a:bodyPr wrap="none" anchor="ctr"/>
          <a:lstStyle/>
          <a:p>
            <a:pPr eaLnBrk="1" hangingPunct="1"/>
            <a:endParaRPr lang="ar-JO" altLang="ar-JO">
              <a:latin typeface="Calibri" pitchFamily="34" charset="0"/>
            </a:endParaRPr>
          </a:p>
        </p:txBody>
      </p:sp>
      <p:sp>
        <p:nvSpPr>
          <p:cNvPr id="26" name="Footer Placeholder 41"/>
          <p:cNvSpPr txBox="1">
            <a:spLocks/>
          </p:cNvSpPr>
          <p:nvPr/>
        </p:nvSpPr>
        <p:spPr>
          <a:xfrm>
            <a:off x="142875" y="6492875"/>
            <a:ext cx="3200400" cy="365125"/>
          </a:xfrm>
          <a:prstGeom prst="rect">
            <a:avLst/>
          </a:prstGeom>
        </p:spPr>
        <p:txBody>
          <a:bodyPr anchor="ctr"/>
          <a:lstStyle/>
          <a:p>
            <a:pPr eaLnBrk="1" fontAlgn="auto" hangingPunct="1">
              <a:spcBef>
                <a:spcPts val="0"/>
              </a:spcBef>
              <a:spcAft>
                <a:spcPts val="0"/>
              </a:spcAft>
              <a:defRPr/>
            </a:pPr>
            <a:r>
              <a:rPr lang="en-US" sz="1400" dirty="0">
                <a:solidFill>
                  <a:schemeClr val="tx1">
                    <a:tint val="75000"/>
                  </a:schemeClr>
                </a:solidFill>
                <a:latin typeface="+mn-lt"/>
                <a:cs typeface="+mn-cs"/>
              </a:rPr>
              <a:t>MBL. BT453</a:t>
            </a:r>
          </a:p>
        </p:txBody>
      </p:sp>
      <p:cxnSp>
        <p:nvCxnSpPr>
          <p:cNvPr id="27" name="Straight Connector 26"/>
          <p:cNvCxnSpPr/>
          <p:nvPr/>
        </p:nvCxnSpPr>
        <p:spPr>
          <a:xfrm>
            <a:off x="785813" y="928688"/>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itle 4"/>
          <p:cNvSpPr txBox="1">
            <a:spLocks/>
          </p:cNvSpPr>
          <p:nvPr/>
        </p:nvSpPr>
        <p:spPr>
          <a:xfrm>
            <a:off x="357188" y="214313"/>
            <a:ext cx="8215312" cy="488950"/>
          </a:xfrm>
          <a:prstGeom prst="rect">
            <a:avLst/>
          </a:prstGeom>
        </p:spPr>
        <p:txBody>
          <a:bodyPr/>
          <a:lstStyle/>
          <a:p>
            <a:pPr algn="ctr" eaLnBrk="1" fontAlgn="auto" hangingPunct="1">
              <a:spcAft>
                <a:spcPts val="0"/>
              </a:spcAft>
              <a:defRPr/>
            </a:pPr>
            <a:r>
              <a:rPr lang="en-US" sz="3200" b="1" dirty="0">
                <a:solidFill>
                  <a:schemeClr val="accent1"/>
                </a:solidFill>
                <a:latin typeface="+mn-lt"/>
                <a:cs typeface="+mn-cs"/>
              </a:rPr>
              <a:t>How does it work?</a:t>
            </a:r>
            <a:endParaRPr lang="en-US" sz="3200" b="1" dirty="0">
              <a:solidFill>
                <a:schemeClr val="accent1"/>
              </a:solidFill>
              <a:latin typeface="+mj-lt"/>
              <a:ea typeface="+mj-ea"/>
              <a:cs typeface="+mj-cs"/>
            </a:endParaRPr>
          </a:p>
        </p:txBody>
      </p:sp>
      <p:sp>
        <p:nvSpPr>
          <p:cNvPr id="27674" name="Slide Number Placeholder 2"/>
          <p:cNvSpPr>
            <a:spLocks noGrp="1" noChangeArrowheads="1"/>
          </p:cNvSpPr>
          <p:nvPr>
            <p:ph type="sldNum" sz="quarter" idx="12"/>
          </p:nvPr>
        </p:nvSpPr>
        <p:spPr bwMode="auto">
          <a:noFill/>
          <a:ln>
            <a:miter lim="800000"/>
            <a:headEnd/>
            <a:tailEnd/>
          </a:ln>
        </p:spPr>
        <p:txBody>
          <a:bodyPr/>
          <a:lstStyle/>
          <a:p>
            <a:fld id="{3C0B1273-CB64-4414-ADB5-B5595013FFF3}" type="slidenum">
              <a:rPr lang="en-US" altLang="ar-JO"/>
              <a:pPr/>
              <a:t>14</a:t>
            </a:fld>
            <a:endParaRPr lang="en-US" altLang="ar-JO"/>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p:cNvSpPr>
          <p:nvPr>
            <p:ph type="body" sz="half" idx="1"/>
          </p:nvPr>
        </p:nvSpPr>
        <p:spPr>
          <a:xfrm>
            <a:off x="714375" y="1928813"/>
            <a:ext cx="3814763" cy="4114800"/>
          </a:xfrm>
        </p:spPr>
        <p:txBody>
          <a:bodyPr/>
          <a:lstStyle/>
          <a:p>
            <a:pPr marL="609600" indent="-609600" eaLnBrk="1" hangingPunct="1">
              <a:buFontTx/>
              <a:buAutoNum type="arabicPeriod"/>
            </a:pPr>
            <a:r>
              <a:rPr lang="en-US" altLang="ar-JO" sz="2400" smtClean="0"/>
              <a:t>Turn on PC</a:t>
            </a:r>
          </a:p>
          <a:p>
            <a:pPr marL="609600" indent="-609600" eaLnBrk="1" hangingPunct="1">
              <a:buFontTx/>
              <a:buAutoNum type="arabicPeriod"/>
            </a:pPr>
            <a:endParaRPr lang="en-US" altLang="ar-JO" sz="2400" smtClean="0"/>
          </a:p>
          <a:p>
            <a:pPr marL="609600" indent="-609600" eaLnBrk="1" hangingPunct="1">
              <a:buFontTx/>
              <a:buAutoNum type="arabicPeriod"/>
            </a:pPr>
            <a:r>
              <a:rPr lang="en-US" altLang="ar-JO" sz="2400" smtClean="0"/>
              <a:t>Open NanoDrop program</a:t>
            </a:r>
          </a:p>
          <a:p>
            <a:pPr marL="609600" indent="-609600" eaLnBrk="1" hangingPunct="1">
              <a:buFontTx/>
              <a:buAutoNum type="arabicPeriod"/>
            </a:pPr>
            <a:endParaRPr lang="en-US" altLang="ar-JO" sz="2400" smtClean="0"/>
          </a:p>
          <a:p>
            <a:pPr marL="609600" indent="-609600" eaLnBrk="1" hangingPunct="1">
              <a:buFontTx/>
              <a:buAutoNum type="arabicPeriod"/>
            </a:pPr>
            <a:r>
              <a:rPr lang="en-US" altLang="ar-JO" sz="2400" smtClean="0"/>
              <a:t>Select “DNA” from menu</a:t>
            </a:r>
          </a:p>
        </p:txBody>
      </p:sp>
      <p:pic>
        <p:nvPicPr>
          <p:cNvPr id="29699" name="Picture 4"/>
          <p:cNvPicPr>
            <a:picLocks noChangeAspect="1" noChangeArrowheads="1"/>
          </p:cNvPicPr>
          <p:nvPr/>
        </p:nvPicPr>
        <p:blipFill>
          <a:blip r:embed="rId3"/>
          <a:srcRect/>
          <a:stretch>
            <a:fillRect/>
          </a:stretch>
        </p:blipFill>
        <p:spPr bwMode="auto">
          <a:xfrm>
            <a:off x="4467225" y="1447800"/>
            <a:ext cx="3987800" cy="4267200"/>
          </a:xfrm>
          <a:prstGeom prst="rect">
            <a:avLst/>
          </a:prstGeom>
          <a:noFill/>
          <a:ln w="9525">
            <a:noFill/>
            <a:miter lim="800000"/>
            <a:headEnd/>
            <a:tailEnd/>
          </a:ln>
        </p:spPr>
      </p:pic>
      <p:sp>
        <p:nvSpPr>
          <p:cNvPr id="29700" name="Text Box 5"/>
          <p:cNvSpPr txBox="1">
            <a:spLocks noChangeArrowheads="1"/>
          </p:cNvSpPr>
          <p:nvPr/>
        </p:nvSpPr>
        <p:spPr bwMode="auto">
          <a:xfrm>
            <a:off x="4467225" y="5791200"/>
            <a:ext cx="4038600" cy="276225"/>
          </a:xfrm>
          <a:prstGeom prst="rect">
            <a:avLst/>
          </a:prstGeom>
          <a:noFill/>
          <a:ln w="9525">
            <a:noFill/>
            <a:miter lim="800000"/>
            <a:headEnd/>
            <a:tailEnd/>
          </a:ln>
        </p:spPr>
        <p:txBody>
          <a:bodyPr>
            <a:spAutoFit/>
          </a:bodyPr>
          <a:lstStyle/>
          <a:p>
            <a:pPr algn="ctr" eaLnBrk="1" hangingPunct="1">
              <a:spcBef>
                <a:spcPct val="50000"/>
              </a:spcBef>
            </a:pPr>
            <a:r>
              <a:rPr lang="en-US" altLang="ar-JO" sz="1200">
                <a:solidFill>
                  <a:schemeClr val="accent1"/>
                </a:solidFill>
              </a:rPr>
              <a:t>http://www.nanodrop.com/nd-1000-software.html</a:t>
            </a:r>
          </a:p>
        </p:txBody>
      </p:sp>
      <p:sp>
        <p:nvSpPr>
          <p:cNvPr id="6" name="Footer Placeholder 41"/>
          <p:cNvSpPr txBox="1">
            <a:spLocks/>
          </p:cNvSpPr>
          <p:nvPr/>
        </p:nvSpPr>
        <p:spPr>
          <a:xfrm>
            <a:off x="142875" y="6492875"/>
            <a:ext cx="3200400" cy="365125"/>
          </a:xfrm>
          <a:prstGeom prst="rect">
            <a:avLst/>
          </a:prstGeom>
        </p:spPr>
        <p:txBody>
          <a:bodyPr anchor="ctr"/>
          <a:lstStyle/>
          <a:p>
            <a:pPr eaLnBrk="1" fontAlgn="auto" hangingPunct="1">
              <a:spcBef>
                <a:spcPts val="0"/>
              </a:spcBef>
              <a:spcAft>
                <a:spcPts val="0"/>
              </a:spcAft>
              <a:defRPr/>
            </a:pPr>
            <a:r>
              <a:rPr lang="en-US" sz="1400" dirty="0">
                <a:solidFill>
                  <a:schemeClr val="tx1">
                    <a:tint val="75000"/>
                  </a:schemeClr>
                </a:solidFill>
                <a:latin typeface="+mn-lt"/>
                <a:cs typeface="+mn-cs"/>
              </a:rPr>
              <a:t>MBL. BT453</a:t>
            </a:r>
          </a:p>
        </p:txBody>
      </p:sp>
      <p:cxnSp>
        <p:nvCxnSpPr>
          <p:cNvPr id="7" name="Straight Connector 6"/>
          <p:cNvCxnSpPr/>
          <p:nvPr/>
        </p:nvCxnSpPr>
        <p:spPr>
          <a:xfrm>
            <a:off x="785813" y="928688"/>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8" name="Title 4"/>
          <p:cNvSpPr txBox="1">
            <a:spLocks/>
          </p:cNvSpPr>
          <p:nvPr/>
        </p:nvSpPr>
        <p:spPr>
          <a:xfrm>
            <a:off x="357188" y="214313"/>
            <a:ext cx="8215312" cy="488950"/>
          </a:xfrm>
          <a:prstGeom prst="rect">
            <a:avLst/>
          </a:prstGeom>
        </p:spPr>
        <p:txBody>
          <a:bodyPr/>
          <a:lstStyle/>
          <a:p>
            <a:pPr algn="ctr" eaLnBrk="1" fontAlgn="auto" hangingPunct="1">
              <a:spcAft>
                <a:spcPts val="0"/>
              </a:spcAft>
              <a:defRPr/>
            </a:pPr>
            <a:r>
              <a:rPr lang="en-US" sz="3200" b="1" dirty="0">
                <a:solidFill>
                  <a:schemeClr val="accent1"/>
                </a:solidFill>
                <a:latin typeface="+mn-lt"/>
                <a:cs typeface="+mn-cs"/>
              </a:rPr>
              <a:t>Using the ND1000 </a:t>
            </a:r>
            <a:endParaRPr lang="en-US" sz="3200" b="1" dirty="0">
              <a:solidFill>
                <a:schemeClr val="accent1"/>
              </a:solidFill>
              <a:latin typeface="+mj-lt"/>
              <a:ea typeface="+mj-ea"/>
              <a:cs typeface="+mj-cs"/>
            </a:endParaRPr>
          </a:p>
        </p:txBody>
      </p:sp>
      <p:sp>
        <p:nvSpPr>
          <p:cNvPr id="29704" name="Slide Number Placeholder 2"/>
          <p:cNvSpPr>
            <a:spLocks noGrp="1" noChangeArrowheads="1"/>
          </p:cNvSpPr>
          <p:nvPr>
            <p:ph type="sldNum" sz="quarter" idx="12"/>
          </p:nvPr>
        </p:nvSpPr>
        <p:spPr bwMode="auto">
          <a:noFill/>
          <a:ln>
            <a:miter lim="800000"/>
            <a:headEnd/>
            <a:tailEnd/>
          </a:ln>
        </p:spPr>
        <p:txBody>
          <a:bodyPr/>
          <a:lstStyle/>
          <a:p>
            <a:fld id="{A13A3A5B-BEA9-4016-A8BE-E48231644B43}" type="slidenum">
              <a:rPr lang="en-US" altLang="ar-JO"/>
              <a:pPr/>
              <a:t>15</a:t>
            </a:fld>
            <a:endParaRPr lang="en-US" altLang="ar-JO"/>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Grp="1"/>
          </p:cNvSpPr>
          <p:nvPr>
            <p:ph type="body" sz="half" idx="1"/>
          </p:nvPr>
        </p:nvSpPr>
        <p:spPr>
          <a:xfrm>
            <a:off x="785813" y="1500188"/>
            <a:ext cx="3814762" cy="4800600"/>
          </a:xfrm>
        </p:spPr>
        <p:txBody>
          <a:bodyPr/>
          <a:lstStyle/>
          <a:p>
            <a:pPr marL="609600" indent="-609600" eaLnBrk="1" hangingPunct="1">
              <a:buFontTx/>
              <a:buAutoNum type="arabicPeriod"/>
            </a:pPr>
            <a:r>
              <a:rPr lang="en-US" altLang="ar-JO" sz="2000" smtClean="0"/>
              <a:t>Lift arm</a:t>
            </a:r>
          </a:p>
          <a:p>
            <a:pPr marL="609600" indent="-609600" eaLnBrk="1" hangingPunct="1">
              <a:buFontTx/>
              <a:buAutoNum type="arabicPeriod"/>
            </a:pPr>
            <a:r>
              <a:rPr lang="en-US" altLang="ar-JO" sz="2000" smtClean="0"/>
              <a:t>Place 1 </a:t>
            </a:r>
            <a:r>
              <a:rPr lang="el-GR" altLang="ar-JO" sz="2000" smtClean="0"/>
              <a:t>μ</a:t>
            </a:r>
            <a:r>
              <a:rPr lang="en-US" altLang="ar-JO" sz="2000" smtClean="0"/>
              <a:t>L water on pedestal to initialize instrument</a:t>
            </a:r>
          </a:p>
          <a:p>
            <a:pPr marL="609600" indent="-609600" eaLnBrk="1" hangingPunct="1">
              <a:buFontTx/>
              <a:buAutoNum type="arabicPeriod"/>
            </a:pPr>
            <a:r>
              <a:rPr lang="en-US" altLang="ar-JO" sz="2000" smtClean="0"/>
              <a:t>BLANK instrument using water or elution buffer</a:t>
            </a:r>
          </a:p>
          <a:p>
            <a:pPr marL="609600" indent="-609600" eaLnBrk="1" hangingPunct="1">
              <a:buFontTx/>
              <a:buAutoNum type="arabicPeriod"/>
            </a:pPr>
            <a:r>
              <a:rPr lang="en-US" altLang="ar-JO" sz="2000" smtClean="0"/>
              <a:t>Place 1-2 </a:t>
            </a:r>
            <a:r>
              <a:rPr lang="el-GR" altLang="ar-JO" sz="2000" smtClean="0"/>
              <a:t>μ</a:t>
            </a:r>
            <a:r>
              <a:rPr lang="en-US" altLang="ar-JO" sz="2000" smtClean="0"/>
              <a:t>L of DNA sample on pedestal</a:t>
            </a:r>
          </a:p>
          <a:p>
            <a:pPr marL="609600" indent="-609600" eaLnBrk="1" hangingPunct="1">
              <a:buFontTx/>
              <a:buAutoNum type="arabicPeriod"/>
            </a:pPr>
            <a:r>
              <a:rPr lang="en-US" altLang="ar-JO" sz="2000" smtClean="0"/>
              <a:t>Click “MEASURE” on instrument screen</a:t>
            </a:r>
          </a:p>
          <a:p>
            <a:pPr marL="609600" indent="-609600" eaLnBrk="1" hangingPunct="1">
              <a:buFontTx/>
              <a:buAutoNum type="arabicPeriod"/>
            </a:pPr>
            <a:r>
              <a:rPr lang="en-US" altLang="ar-JO" sz="2000" smtClean="0"/>
              <a:t>Recover sample if precious, or clean pedestals using a lab wipe </a:t>
            </a:r>
          </a:p>
        </p:txBody>
      </p:sp>
      <p:pic>
        <p:nvPicPr>
          <p:cNvPr id="31747" name="Picture 5"/>
          <p:cNvPicPr>
            <a:picLocks noChangeAspect="1" noChangeArrowheads="1"/>
          </p:cNvPicPr>
          <p:nvPr/>
        </p:nvPicPr>
        <p:blipFill>
          <a:blip r:embed="rId3"/>
          <a:srcRect/>
          <a:stretch>
            <a:fillRect/>
          </a:stretch>
        </p:blipFill>
        <p:spPr bwMode="auto">
          <a:xfrm>
            <a:off x="4800600" y="1285875"/>
            <a:ext cx="3770313" cy="2840038"/>
          </a:xfrm>
          <a:prstGeom prst="rect">
            <a:avLst/>
          </a:prstGeom>
          <a:noFill/>
          <a:ln w="9525">
            <a:noFill/>
            <a:miter lim="800000"/>
            <a:headEnd/>
            <a:tailEnd/>
          </a:ln>
        </p:spPr>
      </p:pic>
      <p:pic>
        <p:nvPicPr>
          <p:cNvPr id="31748" name="Picture 6"/>
          <p:cNvPicPr>
            <a:picLocks noChangeAspect="1" noChangeArrowheads="1"/>
          </p:cNvPicPr>
          <p:nvPr/>
        </p:nvPicPr>
        <p:blipFill>
          <a:blip r:embed="rId4"/>
          <a:srcRect/>
          <a:stretch>
            <a:fillRect/>
          </a:stretch>
        </p:blipFill>
        <p:spPr bwMode="auto">
          <a:xfrm>
            <a:off x="5105400" y="3800475"/>
            <a:ext cx="3194050" cy="2413000"/>
          </a:xfrm>
          <a:prstGeom prst="rect">
            <a:avLst/>
          </a:prstGeom>
          <a:noFill/>
          <a:ln w="9525">
            <a:solidFill>
              <a:schemeClr val="bg2"/>
            </a:solidFill>
            <a:miter lim="800000"/>
            <a:headEnd/>
            <a:tailEnd/>
          </a:ln>
        </p:spPr>
      </p:pic>
      <p:sp>
        <p:nvSpPr>
          <p:cNvPr id="31749" name="Text Box 7"/>
          <p:cNvSpPr txBox="1">
            <a:spLocks noChangeArrowheads="1"/>
          </p:cNvSpPr>
          <p:nvPr/>
        </p:nvSpPr>
        <p:spPr bwMode="auto">
          <a:xfrm>
            <a:off x="4953000" y="6162675"/>
            <a:ext cx="3657600" cy="274638"/>
          </a:xfrm>
          <a:prstGeom prst="rect">
            <a:avLst/>
          </a:prstGeom>
          <a:noFill/>
          <a:ln w="9525">
            <a:noFill/>
            <a:miter lim="800000"/>
            <a:headEnd/>
            <a:tailEnd/>
          </a:ln>
        </p:spPr>
        <p:txBody>
          <a:bodyPr>
            <a:spAutoFit/>
          </a:bodyPr>
          <a:lstStyle/>
          <a:p>
            <a:pPr eaLnBrk="1" hangingPunct="1">
              <a:spcBef>
                <a:spcPct val="50000"/>
              </a:spcBef>
            </a:pPr>
            <a:r>
              <a:rPr lang="en-US" altLang="ar-JO" sz="1200">
                <a:solidFill>
                  <a:schemeClr val="accent1"/>
                </a:solidFill>
              </a:rPr>
              <a:t>http://www.nanodrop.com/nd-1000-software.html</a:t>
            </a:r>
          </a:p>
        </p:txBody>
      </p:sp>
      <p:sp>
        <p:nvSpPr>
          <p:cNvPr id="7" name="Footer Placeholder 41"/>
          <p:cNvSpPr txBox="1">
            <a:spLocks/>
          </p:cNvSpPr>
          <p:nvPr/>
        </p:nvSpPr>
        <p:spPr>
          <a:xfrm>
            <a:off x="142875" y="6492875"/>
            <a:ext cx="3200400" cy="365125"/>
          </a:xfrm>
          <a:prstGeom prst="rect">
            <a:avLst/>
          </a:prstGeom>
        </p:spPr>
        <p:txBody>
          <a:bodyPr anchor="ctr"/>
          <a:lstStyle/>
          <a:p>
            <a:pPr eaLnBrk="1" fontAlgn="auto" hangingPunct="1">
              <a:spcBef>
                <a:spcPts val="0"/>
              </a:spcBef>
              <a:spcAft>
                <a:spcPts val="0"/>
              </a:spcAft>
              <a:defRPr/>
            </a:pPr>
            <a:r>
              <a:rPr lang="en-US" sz="1400" dirty="0">
                <a:solidFill>
                  <a:schemeClr val="tx1">
                    <a:tint val="75000"/>
                  </a:schemeClr>
                </a:solidFill>
                <a:latin typeface="+mn-lt"/>
                <a:cs typeface="+mn-cs"/>
              </a:rPr>
              <a:t>MBL. BT453</a:t>
            </a:r>
          </a:p>
        </p:txBody>
      </p:sp>
      <p:cxnSp>
        <p:nvCxnSpPr>
          <p:cNvPr id="8" name="Straight Connector 7"/>
          <p:cNvCxnSpPr/>
          <p:nvPr/>
        </p:nvCxnSpPr>
        <p:spPr>
          <a:xfrm>
            <a:off x="785813" y="928688"/>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Title 4"/>
          <p:cNvSpPr txBox="1">
            <a:spLocks/>
          </p:cNvSpPr>
          <p:nvPr/>
        </p:nvSpPr>
        <p:spPr>
          <a:xfrm>
            <a:off x="357188" y="214313"/>
            <a:ext cx="8215312" cy="488950"/>
          </a:xfrm>
          <a:prstGeom prst="rect">
            <a:avLst/>
          </a:prstGeom>
        </p:spPr>
        <p:txBody>
          <a:bodyPr/>
          <a:lstStyle/>
          <a:p>
            <a:pPr algn="ctr" eaLnBrk="1" fontAlgn="auto" hangingPunct="1">
              <a:spcAft>
                <a:spcPts val="0"/>
              </a:spcAft>
              <a:defRPr/>
            </a:pPr>
            <a:r>
              <a:rPr lang="en-US" sz="3200" b="1" dirty="0">
                <a:solidFill>
                  <a:schemeClr val="accent1"/>
                </a:solidFill>
                <a:latin typeface="+mn-lt"/>
                <a:cs typeface="+mn-cs"/>
              </a:rPr>
              <a:t>Using the ND1000 </a:t>
            </a:r>
            <a:endParaRPr lang="en-US" sz="3200" b="1" dirty="0">
              <a:solidFill>
                <a:schemeClr val="accent1"/>
              </a:solidFill>
              <a:latin typeface="+mj-lt"/>
              <a:ea typeface="+mj-ea"/>
              <a:cs typeface="+mj-cs"/>
            </a:endParaRPr>
          </a:p>
        </p:txBody>
      </p:sp>
      <p:sp>
        <p:nvSpPr>
          <p:cNvPr id="31753" name="Slide Number Placeholder 2"/>
          <p:cNvSpPr>
            <a:spLocks noGrp="1" noChangeArrowheads="1"/>
          </p:cNvSpPr>
          <p:nvPr>
            <p:ph type="sldNum" sz="quarter" idx="12"/>
          </p:nvPr>
        </p:nvSpPr>
        <p:spPr bwMode="auto">
          <a:noFill/>
          <a:ln>
            <a:miter lim="800000"/>
            <a:headEnd/>
            <a:tailEnd/>
          </a:ln>
        </p:spPr>
        <p:txBody>
          <a:bodyPr/>
          <a:lstStyle/>
          <a:p>
            <a:fld id="{3F03422C-3622-4C1B-AEC0-945A8884C967}" type="slidenum">
              <a:rPr lang="en-US" altLang="ar-JO"/>
              <a:pPr/>
              <a:t>16</a:t>
            </a:fld>
            <a:endParaRPr lang="en-US" altLang="ar-JO"/>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3"/>
          <p:cNvPicPr>
            <a:picLocks noGrp="1" noChangeAspect="1" noChangeArrowheads="1"/>
          </p:cNvPicPr>
          <p:nvPr>
            <p:ph type="body" idx="1"/>
          </p:nvPr>
        </p:nvPicPr>
        <p:blipFill>
          <a:blip r:embed="rId3"/>
          <a:srcRect/>
          <a:stretch>
            <a:fillRect/>
          </a:stretch>
        </p:blipFill>
        <p:spPr>
          <a:xfrm>
            <a:off x="714375" y="1676400"/>
            <a:ext cx="5786438" cy="3441700"/>
          </a:xfrm>
        </p:spPr>
      </p:pic>
      <p:sp>
        <p:nvSpPr>
          <p:cNvPr id="4" name="Footer Placeholder 41"/>
          <p:cNvSpPr txBox="1">
            <a:spLocks/>
          </p:cNvSpPr>
          <p:nvPr/>
        </p:nvSpPr>
        <p:spPr>
          <a:xfrm>
            <a:off x="142875" y="6492875"/>
            <a:ext cx="3200400" cy="365125"/>
          </a:xfrm>
          <a:prstGeom prst="rect">
            <a:avLst/>
          </a:prstGeom>
        </p:spPr>
        <p:txBody>
          <a:bodyPr anchor="ctr"/>
          <a:lstStyle/>
          <a:p>
            <a:pPr eaLnBrk="1" fontAlgn="auto" hangingPunct="1">
              <a:spcBef>
                <a:spcPts val="0"/>
              </a:spcBef>
              <a:spcAft>
                <a:spcPts val="0"/>
              </a:spcAft>
              <a:defRPr/>
            </a:pPr>
            <a:r>
              <a:rPr lang="en-US" sz="1400" dirty="0">
                <a:solidFill>
                  <a:schemeClr val="tx1">
                    <a:tint val="75000"/>
                  </a:schemeClr>
                </a:solidFill>
                <a:latin typeface="+mn-lt"/>
                <a:cs typeface="+mn-cs"/>
              </a:rPr>
              <a:t>MBL. BT453</a:t>
            </a:r>
          </a:p>
        </p:txBody>
      </p:sp>
      <p:cxnSp>
        <p:nvCxnSpPr>
          <p:cNvPr id="5" name="Straight Connector 4"/>
          <p:cNvCxnSpPr/>
          <p:nvPr/>
        </p:nvCxnSpPr>
        <p:spPr>
          <a:xfrm>
            <a:off x="785813" y="928688"/>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6" name="Title 4"/>
          <p:cNvSpPr txBox="1">
            <a:spLocks/>
          </p:cNvSpPr>
          <p:nvPr/>
        </p:nvSpPr>
        <p:spPr>
          <a:xfrm>
            <a:off x="357188" y="214313"/>
            <a:ext cx="8215312" cy="488950"/>
          </a:xfrm>
          <a:prstGeom prst="rect">
            <a:avLst/>
          </a:prstGeom>
        </p:spPr>
        <p:txBody>
          <a:bodyPr/>
          <a:lstStyle/>
          <a:p>
            <a:pPr algn="ctr" eaLnBrk="1" fontAlgn="auto" hangingPunct="1">
              <a:spcAft>
                <a:spcPts val="0"/>
              </a:spcAft>
              <a:defRPr/>
            </a:pPr>
            <a:r>
              <a:rPr lang="en-US" sz="3200" b="1" dirty="0" err="1">
                <a:solidFill>
                  <a:schemeClr val="accent1"/>
                </a:solidFill>
                <a:latin typeface="+mn-lt"/>
                <a:cs typeface="+mn-cs"/>
              </a:rPr>
              <a:t>NanoDrop</a:t>
            </a:r>
            <a:r>
              <a:rPr lang="en-US" sz="3200" b="1" dirty="0">
                <a:solidFill>
                  <a:schemeClr val="accent1"/>
                </a:solidFill>
                <a:latin typeface="+mn-lt"/>
                <a:cs typeface="+mn-cs"/>
              </a:rPr>
              <a:t> Data Screen</a:t>
            </a:r>
            <a:endParaRPr lang="en-US" sz="3200" b="1" dirty="0">
              <a:solidFill>
                <a:schemeClr val="accent1"/>
              </a:solidFill>
              <a:latin typeface="+mj-lt"/>
              <a:ea typeface="+mj-ea"/>
              <a:cs typeface="+mj-cs"/>
            </a:endParaRPr>
          </a:p>
        </p:txBody>
      </p:sp>
      <p:cxnSp>
        <p:nvCxnSpPr>
          <p:cNvPr id="9" name="Straight Arrow Connector 8"/>
          <p:cNvCxnSpPr/>
          <p:nvPr/>
        </p:nvCxnSpPr>
        <p:spPr>
          <a:xfrm rot="10800000" flipV="1">
            <a:off x="6572250" y="3571875"/>
            <a:ext cx="785813" cy="714375"/>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10800000">
            <a:off x="6572250" y="4500563"/>
            <a:ext cx="785813" cy="714375"/>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a:spLocks noChangeArrowheads="1"/>
          </p:cNvSpPr>
          <p:nvPr/>
        </p:nvSpPr>
        <p:spPr bwMode="auto">
          <a:xfrm>
            <a:off x="6646863" y="3143250"/>
            <a:ext cx="2328862" cy="369888"/>
          </a:xfrm>
          <a:prstGeom prst="rect">
            <a:avLst/>
          </a:prstGeom>
          <a:noFill/>
          <a:ln w="9525">
            <a:noFill/>
            <a:miter lim="800000"/>
            <a:headEnd/>
            <a:tailEnd/>
          </a:ln>
        </p:spPr>
        <p:txBody>
          <a:bodyPr wrap="none">
            <a:spAutoFit/>
          </a:bodyPr>
          <a:lstStyle/>
          <a:p>
            <a:pPr eaLnBrk="1" hangingPunct="1"/>
            <a:r>
              <a:rPr lang="en-US" altLang="ar-JO" b="1">
                <a:solidFill>
                  <a:schemeClr val="accent1"/>
                </a:solidFill>
                <a:latin typeface="Calibri" pitchFamily="34" charset="0"/>
              </a:rPr>
              <a:t>Protein contamination</a:t>
            </a:r>
          </a:p>
        </p:txBody>
      </p:sp>
      <p:sp>
        <p:nvSpPr>
          <p:cNvPr id="14" name="TextBox 13"/>
          <p:cNvSpPr txBox="1">
            <a:spLocks noChangeArrowheads="1"/>
          </p:cNvSpPr>
          <p:nvPr/>
        </p:nvSpPr>
        <p:spPr bwMode="auto">
          <a:xfrm>
            <a:off x="6742113" y="5429250"/>
            <a:ext cx="2187575" cy="369888"/>
          </a:xfrm>
          <a:prstGeom prst="rect">
            <a:avLst/>
          </a:prstGeom>
          <a:noFill/>
          <a:ln w="9525">
            <a:noFill/>
            <a:miter lim="800000"/>
            <a:headEnd/>
            <a:tailEnd/>
          </a:ln>
        </p:spPr>
        <p:txBody>
          <a:bodyPr wrap="none">
            <a:spAutoFit/>
          </a:bodyPr>
          <a:lstStyle/>
          <a:p>
            <a:pPr eaLnBrk="1" hangingPunct="1"/>
            <a:r>
              <a:rPr lang="en-US" altLang="ar-JO" b="1">
                <a:solidFill>
                  <a:schemeClr val="accent1"/>
                </a:solidFill>
                <a:latin typeface="Calibri" pitchFamily="34" charset="0"/>
              </a:rPr>
              <a:t>Other contamination</a:t>
            </a:r>
          </a:p>
        </p:txBody>
      </p:sp>
      <p:sp>
        <p:nvSpPr>
          <p:cNvPr id="15" name="Oval 14"/>
          <p:cNvSpPr/>
          <p:nvPr/>
        </p:nvSpPr>
        <p:spPr>
          <a:xfrm>
            <a:off x="4929188" y="4572000"/>
            <a:ext cx="1571625" cy="571500"/>
          </a:xfrm>
          <a:prstGeom prst="ellipse">
            <a:avLst/>
          </a:prstGeom>
          <a:noFill/>
          <a:ln w="317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TextBox 15"/>
          <p:cNvSpPr txBox="1">
            <a:spLocks noChangeArrowheads="1"/>
          </p:cNvSpPr>
          <p:nvPr/>
        </p:nvSpPr>
        <p:spPr bwMode="auto">
          <a:xfrm>
            <a:off x="2857500" y="5786438"/>
            <a:ext cx="2065338" cy="461962"/>
          </a:xfrm>
          <a:prstGeom prst="rect">
            <a:avLst/>
          </a:prstGeom>
          <a:noFill/>
          <a:ln w="9525">
            <a:noFill/>
            <a:miter lim="800000"/>
            <a:headEnd/>
            <a:tailEnd/>
          </a:ln>
        </p:spPr>
        <p:txBody>
          <a:bodyPr wrap="none">
            <a:spAutoFit/>
          </a:bodyPr>
          <a:lstStyle/>
          <a:p>
            <a:pPr eaLnBrk="1" hangingPunct="1"/>
            <a:r>
              <a:rPr lang="en-US" altLang="ar-JO" sz="2400" b="1">
                <a:solidFill>
                  <a:schemeClr val="accent1"/>
                </a:solidFill>
                <a:latin typeface="Calibri" pitchFamily="34" charset="0"/>
              </a:rPr>
              <a:t>Concentration </a:t>
            </a:r>
          </a:p>
        </p:txBody>
      </p:sp>
      <p:cxnSp>
        <p:nvCxnSpPr>
          <p:cNvPr id="18" name="Straight Connector 17"/>
          <p:cNvCxnSpPr>
            <a:stCxn id="15" idx="3"/>
            <a:endCxn id="16" idx="0"/>
          </p:cNvCxnSpPr>
          <p:nvPr/>
        </p:nvCxnSpPr>
        <p:spPr>
          <a:xfrm rot="5400000">
            <a:off x="4160837" y="4787901"/>
            <a:ext cx="727075" cy="127000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3805" name="Slide Number Placeholder 2"/>
          <p:cNvSpPr>
            <a:spLocks noGrp="1" noChangeArrowheads="1"/>
          </p:cNvSpPr>
          <p:nvPr>
            <p:ph type="sldNum" sz="quarter" idx="12"/>
          </p:nvPr>
        </p:nvSpPr>
        <p:spPr bwMode="auto">
          <a:noFill/>
          <a:ln>
            <a:miter lim="800000"/>
            <a:headEnd/>
            <a:tailEnd/>
          </a:ln>
        </p:spPr>
        <p:txBody>
          <a:bodyPr/>
          <a:lstStyle/>
          <a:p>
            <a:fld id="{00982244-E831-4163-830B-F3641EB81818}" type="slidenum">
              <a:rPr lang="en-US" altLang="ar-JO"/>
              <a:pPr/>
              <a:t>17</a:t>
            </a:fld>
            <a:endParaRPr lang="en-US" altLang="ar-JO"/>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animBg="1"/>
      <p:bldP spid="1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2"/>
          <p:cNvSpPr>
            <a:spLocks noGrp="1" noChangeArrowheads="1"/>
          </p:cNvSpPr>
          <p:nvPr>
            <p:ph type="sldNum" sz="quarter" idx="12"/>
          </p:nvPr>
        </p:nvSpPr>
        <p:spPr bwMode="auto">
          <a:noFill/>
          <a:ln>
            <a:miter lim="800000"/>
            <a:headEnd/>
            <a:tailEnd/>
          </a:ln>
        </p:spPr>
        <p:txBody>
          <a:bodyPr/>
          <a:lstStyle/>
          <a:p>
            <a:fld id="{0182A9E4-7748-4111-8774-D75A24C4B3F1}" type="slidenum">
              <a:rPr lang="en-US" altLang="ar-JO"/>
              <a:pPr/>
              <a:t>18</a:t>
            </a:fld>
            <a:endParaRPr lang="en-US" altLang="ar-JO"/>
          </a:p>
        </p:txBody>
      </p:sp>
      <p:cxnSp>
        <p:nvCxnSpPr>
          <p:cNvPr id="4" name="Straight Connector 3"/>
          <p:cNvCxnSpPr/>
          <p:nvPr/>
        </p:nvCxnSpPr>
        <p:spPr>
          <a:xfrm>
            <a:off x="785813" y="928688"/>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itle 4"/>
          <p:cNvSpPr txBox="1">
            <a:spLocks/>
          </p:cNvSpPr>
          <p:nvPr/>
        </p:nvSpPr>
        <p:spPr>
          <a:xfrm>
            <a:off x="819150" y="214313"/>
            <a:ext cx="7467600" cy="488950"/>
          </a:xfrm>
          <a:prstGeom prst="rect">
            <a:avLst/>
          </a:prstGeom>
        </p:spPr>
        <p:txBody>
          <a:bodyPr/>
          <a:lstStyle/>
          <a:p>
            <a:pPr algn="ctr" eaLnBrk="1" fontAlgn="auto" hangingPunct="1">
              <a:spcAft>
                <a:spcPts val="0"/>
              </a:spcAft>
              <a:defRPr/>
            </a:pPr>
            <a:r>
              <a:rPr lang="en-US" sz="3200" b="1" dirty="0">
                <a:solidFill>
                  <a:schemeClr val="accent1"/>
                </a:solidFill>
                <a:latin typeface="+mn-lt"/>
                <a:cs typeface="+mn-cs"/>
              </a:rPr>
              <a:t>Gel electrophoresis</a:t>
            </a:r>
            <a:endParaRPr lang="en-US" sz="3200" b="1" dirty="0">
              <a:solidFill>
                <a:schemeClr val="accent1"/>
              </a:solidFill>
              <a:latin typeface="+mj-lt"/>
              <a:ea typeface="+mj-ea"/>
              <a:cs typeface="+mj-cs"/>
            </a:endParaRPr>
          </a:p>
        </p:txBody>
      </p:sp>
      <p:sp>
        <p:nvSpPr>
          <p:cNvPr id="24" name="Footer Placeholder 41"/>
          <p:cNvSpPr txBox="1">
            <a:spLocks/>
          </p:cNvSpPr>
          <p:nvPr/>
        </p:nvSpPr>
        <p:spPr>
          <a:xfrm>
            <a:off x="142875" y="6492875"/>
            <a:ext cx="3200400" cy="365125"/>
          </a:xfrm>
          <a:prstGeom prst="rect">
            <a:avLst/>
          </a:prstGeom>
        </p:spPr>
        <p:txBody>
          <a:bodyPr anchor="ctr"/>
          <a:lstStyle/>
          <a:p>
            <a:pPr eaLnBrk="1" fontAlgn="auto" hangingPunct="1">
              <a:spcBef>
                <a:spcPts val="0"/>
              </a:spcBef>
              <a:spcAft>
                <a:spcPts val="0"/>
              </a:spcAft>
              <a:defRPr/>
            </a:pPr>
            <a:r>
              <a:rPr lang="en-US" sz="1400" dirty="0">
                <a:solidFill>
                  <a:schemeClr val="tx1">
                    <a:tint val="75000"/>
                  </a:schemeClr>
                </a:solidFill>
                <a:latin typeface="+mn-lt"/>
                <a:cs typeface="+mn-cs"/>
              </a:rPr>
              <a:t>MBL. BT453</a:t>
            </a:r>
          </a:p>
        </p:txBody>
      </p:sp>
      <p:sp>
        <p:nvSpPr>
          <p:cNvPr id="25" name="Rectangle 24"/>
          <p:cNvSpPr/>
          <p:nvPr/>
        </p:nvSpPr>
        <p:spPr>
          <a:xfrm>
            <a:off x="714375" y="1285875"/>
            <a:ext cx="7643813" cy="3859213"/>
          </a:xfrm>
          <a:prstGeom prst="rect">
            <a:avLst/>
          </a:prstGeom>
        </p:spPr>
        <p:txBody>
          <a:bodyPr>
            <a:spAutoFit/>
          </a:bodyPr>
          <a:lstStyle/>
          <a:p>
            <a:pPr marL="342900" indent="-342900" eaLnBrk="1" hangingPunct="1">
              <a:spcBef>
                <a:spcPct val="20000"/>
              </a:spcBef>
              <a:buFont typeface="Arial" pitchFamily="34" charset="0"/>
              <a:buChar char="•"/>
              <a:defRPr/>
            </a:pPr>
            <a:r>
              <a:rPr lang="en-US" sz="2400" kern="0" dirty="0">
                <a:solidFill>
                  <a:srgbClr val="000000"/>
                </a:solidFill>
                <a:latin typeface="+mj-lt"/>
                <a:cs typeface="Arial"/>
              </a:rPr>
              <a:t>Electrophoresis is a technique used to separate and purify macromolecules - especially proteins and nucleic acids - that differ in size, charge or conformation.</a:t>
            </a:r>
          </a:p>
          <a:p>
            <a:pPr marL="342900" indent="-342900" eaLnBrk="1" hangingPunct="1">
              <a:spcBef>
                <a:spcPct val="20000"/>
              </a:spcBef>
              <a:buFont typeface="Arial" pitchFamily="34" charset="0"/>
              <a:buChar char="•"/>
              <a:defRPr/>
            </a:pPr>
            <a:endParaRPr lang="en-US" sz="2400" kern="0" dirty="0">
              <a:solidFill>
                <a:srgbClr val="000000"/>
              </a:solidFill>
              <a:latin typeface="+mj-lt"/>
              <a:cs typeface="Arial"/>
            </a:endParaRPr>
          </a:p>
          <a:p>
            <a:pPr marL="342900" indent="-342900" eaLnBrk="1" hangingPunct="1">
              <a:lnSpc>
                <a:spcPct val="90000"/>
              </a:lnSpc>
              <a:spcBef>
                <a:spcPct val="20000"/>
              </a:spcBef>
              <a:buFont typeface="Arial" pitchFamily="34" charset="0"/>
              <a:buChar char="•"/>
              <a:defRPr/>
            </a:pPr>
            <a:r>
              <a:rPr lang="en-US" sz="2400" kern="0" dirty="0">
                <a:solidFill>
                  <a:srgbClr val="000000"/>
                </a:solidFill>
                <a:latin typeface="+mj-lt"/>
                <a:cs typeface="+mn-cs"/>
              </a:rPr>
              <a:t>DNA molecules migrate in an electrical field at a rate that is inversely proportional to the log10 of molecular size (number of base pairs).</a:t>
            </a:r>
          </a:p>
          <a:p>
            <a:pPr marL="342900" indent="-342900" eaLnBrk="1" hangingPunct="1">
              <a:lnSpc>
                <a:spcPct val="90000"/>
              </a:lnSpc>
              <a:spcBef>
                <a:spcPct val="20000"/>
              </a:spcBef>
              <a:buFont typeface="Arial" pitchFamily="34" charset="0"/>
              <a:buChar char="•"/>
              <a:defRPr/>
            </a:pPr>
            <a:endParaRPr lang="en-US" sz="2400" kern="0" dirty="0">
              <a:solidFill>
                <a:srgbClr val="000000"/>
              </a:solidFill>
              <a:latin typeface="+mj-lt"/>
              <a:cs typeface="+mn-cs"/>
            </a:endParaRPr>
          </a:p>
          <a:p>
            <a:pPr marL="342900" indent="-342900" eaLnBrk="1" hangingPunct="1">
              <a:lnSpc>
                <a:spcPct val="90000"/>
              </a:lnSpc>
              <a:spcBef>
                <a:spcPct val="20000"/>
              </a:spcBef>
              <a:buFont typeface="Arial" pitchFamily="34" charset="0"/>
              <a:buChar char="•"/>
              <a:defRPr/>
            </a:pPr>
            <a:r>
              <a:rPr lang="en-US" sz="2400" kern="0" dirty="0">
                <a:solidFill>
                  <a:srgbClr val="000000"/>
                </a:solidFill>
                <a:latin typeface="+mj-lt"/>
                <a:cs typeface="+mn-cs"/>
              </a:rPr>
              <a:t>DNA possesses a net negative charge and migrates towards the positively charged anode.</a:t>
            </a:r>
            <a:endParaRPr lang="en-US" sz="2400" dirty="0">
              <a:latin typeface="+mj-lt"/>
              <a:cs typeface="+mn-cs"/>
            </a:endParaRPr>
          </a:p>
        </p:txBody>
      </p:sp>
      <p:sp>
        <p:nvSpPr>
          <p:cNvPr id="35847" name="Line 5"/>
          <p:cNvSpPr>
            <a:spLocks noChangeShapeType="1"/>
          </p:cNvSpPr>
          <p:nvPr/>
        </p:nvSpPr>
        <p:spPr bwMode="auto">
          <a:xfrm>
            <a:off x="6786563" y="5857875"/>
            <a:ext cx="407987" cy="0"/>
          </a:xfrm>
          <a:prstGeom prst="line">
            <a:avLst/>
          </a:prstGeom>
          <a:noFill/>
          <a:ln w="60325">
            <a:solidFill>
              <a:srgbClr val="FF3300"/>
            </a:solidFill>
            <a:round/>
            <a:headEnd/>
            <a:tailEnd/>
          </a:ln>
        </p:spPr>
        <p:txBody>
          <a:bodyPr anchor="ctr"/>
          <a:lstStyle/>
          <a:p>
            <a:endParaRPr lang="ar-JO"/>
          </a:p>
        </p:txBody>
      </p:sp>
      <p:sp>
        <p:nvSpPr>
          <p:cNvPr id="35848" name="Line 7"/>
          <p:cNvSpPr>
            <a:spLocks noChangeShapeType="1"/>
          </p:cNvSpPr>
          <p:nvPr/>
        </p:nvSpPr>
        <p:spPr bwMode="auto">
          <a:xfrm flipV="1">
            <a:off x="6989763" y="5629275"/>
            <a:ext cx="0" cy="439738"/>
          </a:xfrm>
          <a:prstGeom prst="line">
            <a:avLst/>
          </a:prstGeom>
          <a:noFill/>
          <a:ln w="60325">
            <a:solidFill>
              <a:srgbClr val="FF3300"/>
            </a:solidFill>
            <a:round/>
            <a:headEnd/>
            <a:tailEnd/>
          </a:ln>
        </p:spPr>
        <p:txBody>
          <a:bodyPr anchor="ctr"/>
          <a:lstStyle/>
          <a:p>
            <a:endParaRPr lang="ar-JO"/>
          </a:p>
        </p:txBody>
      </p:sp>
      <p:sp>
        <p:nvSpPr>
          <p:cNvPr id="35849" name="Line 9"/>
          <p:cNvSpPr>
            <a:spLocks noChangeShapeType="1"/>
          </p:cNvSpPr>
          <p:nvPr/>
        </p:nvSpPr>
        <p:spPr bwMode="auto">
          <a:xfrm>
            <a:off x="1906588" y="5851525"/>
            <a:ext cx="407987" cy="0"/>
          </a:xfrm>
          <a:prstGeom prst="line">
            <a:avLst/>
          </a:prstGeom>
          <a:noFill/>
          <a:ln w="60325">
            <a:solidFill>
              <a:srgbClr val="000000"/>
            </a:solidFill>
            <a:round/>
            <a:headEnd/>
            <a:tailEnd/>
          </a:ln>
        </p:spPr>
        <p:txBody>
          <a:bodyPr anchor="ctr"/>
          <a:lstStyle/>
          <a:p>
            <a:endParaRPr lang="ar-JO"/>
          </a:p>
        </p:txBody>
      </p:sp>
      <p:cxnSp>
        <p:nvCxnSpPr>
          <p:cNvPr id="11" name="Straight Arrow Connector 10"/>
          <p:cNvCxnSpPr/>
          <p:nvPr/>
        </p:nvCxnSpPr>
        <p:spPr>
          <a:xfrm>
            <a:off x="2928938" y="5857875"/>
            <a:ext cx="3214687" cy="1588"/>
          </a:xfrm>
          <a:prstGeom prst="straightConnector1">
            <a:avLst/>
          </a:prstGeom>
          <a:ln w="79375">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4" name="Straight Connector 53"/>
          <p:cNvCxnSpPr/>
          <p:nvPr/>
        </p:nvCxnSpPr>
        <p:spPr>
          <a:xfrm>
            <a:off x="785813" y="928688"/>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7891" name="Title 4"/>
          <p:cNvSpPr txBox="1">
            <a:spLocks/>
          </p:cNvSpPr>
          <p:nvPr/>
        </p:nvSpPr>
        <p:spPr bwMode="auto">
          <a:xfrm>
            <a:off x="819150" y="214313"/>
            <a:ext cx="7467600" cy="488950"/>
          </a:xfrm>
          <a:prstGeom prst="rect">
            <a:avLst/>
          </a:prstGeom>
          <a:noFill/>
          <a:ln w="9525">
            <a:noFill/>
            <a:miter lim="800000"/>
            <a:headEnd/>
            <a:tailEnd/>
          </a:ln>
        </p:spPr>
        <p:txBody>
          <a:bodyPr/>
          <a:lstStyle/>
          <a:p>
            <a:pPr algn="ctr" eaLnBrk="1" hangingPunct="1"/>
            <a:r>
              <a:rPr lang="en-US" altLang="ar-JO" sz="3200" b="1">
                <a:solidFill>
                  <a:schemeClr val="accent1"/>
                </a:solidFill>
                <a:latin typeface="Calibri" pitchFamily="34" charset="0"/>
              </a:rPr>
              <a:t>Purposes for Agarose Gel Electrophoresis</a:t>
            </a:r>
          </a:p>
        </p:txBody>
      </p:sp>
      <p:sp>
        <p:nvSpPr>
          <p:cNvPr id="61" name="Footer Placeholder 41"/>
          <p:cNvSpPr txBox="1">
            <a:spLocks/>
          </p:cNvSpPr>
          <p:nvPr/>
        </p:nvSpPr>
        <p:spPr>
          <a:xfrm>
            <a:off x="142875" y="6492875"/>
            <a:ext cx="3200400" cy="365125"/>
          </a:xfrm>
          <a:prstGeom prst="rect">
            <a:avLst/>
          </a:prstGeom>
        </p:spPr>
        <p:txBody>
          <a:bodyPr anchor="ctr"/>
          <a:lstStyle/>
          <a:p>
            <a:pPr eaLnBrk="1" fontAlgn="auto" hangingPunct="1">
              <a:spcBef>
                <a:spcPts val="0"/>
              </a:spcBef>
              <a:spcAft>
                <a:spcPts val="0"/>
              </a:spcAft>
              <a:defRPr/>
            </a:pPr>
            <a:r>
              <a:rPr lang="en-US" sz="1400" dirty="0">
                <a:solidFill>
                  <a:schemeClr val="tx1">
                    <a:tint val="75000"/>
                  </a:schemeClr>
                </a:solidFill>
                <a:latin typeface="+mn-lt"/>
                <a:cs typeface="+mn-cs"/>
              </a:rPr>
              <a:t>MBL. BT453</a:t>
            </a:r>
          </a:p>
        </p:txBody>
      </p:sp>
      <p:sp>
        <p:nvSpPr>
          <p:cNvPr id="37893" name="Rectangle 47"/>
          <p:cNvSpPr>
            <a:spLocks noChangeArrowheads="1"/>
          </p:cNvSpPr>
          <p:nvPr/>
        </p:nvSpPr>
        <p:spPr bwMode="auto">
          <a:xfrm>
            <a:off x="714375" y="1357313"/>
            <a:ext cx="7643813" cy="5324475"/>
          </a:xfrm>
          <a:prstGeom prst="rect">
            <a:avLst/>
          </a:prstGeom>
          <a:noFill/>
          <a:ln w="9525">
            <a:noFill/>
            <a:miter lim="800000"/>
            <a:headEnd/>
            <a:tailEnd/>
          </a:ln>
        </p:spPr>
        <p:txBody>
          <a:bodyPr>
            <a:spAutoFit/>
          </a:bodyPr>
          <a:lstStyle/>
          <a:p>
            <a:pPr marL="342900" indent="-342900" eaLnBrk="1" hangingPunct="1">
              <a:buFont typeface="Calibri" pitchFamily="34" charset="0"/>
              <a:buAutoNum type="arabicPeriod"/>
            </a:pPr>
            <a:r>
              <a:rPr lang="en-US" altLang="ar-JO" sz="2000">
                <a:latin typeface="Calibri" pitchFamily="34" charset="0"/>
              </a:rPr>
              <a:t>Analysis of DNA size and conformation</a:t>
            </a:r>
          </a:p>
          <a:p>
            <a:pPr marL="342900" indent="-342900" eaLnBrk="1" hangingPunct="1">
              <a:buFont typeface="Calibri" pitchFamily="34" charset="0"/>
              <a:buAutoNum type="arabicPeriod"/>
            </a:pPr>
            <a:endParaRPr lang="en-US" altLang="ar-JO" sz="2000">
              <a:latin typeface="Calibri" pitchFamily="34" charset="0"/>
            </a:endParaRPr>
          </a:p>
          <a:p>
            <a:pPr marL="342900" indent="-342900" eaLnBrk="1" hangingPunct="1">
              <a:buFont typeface="Calibri" pitchFamily="34" charset="0"/>
              <a:buAutoNum type="arabicPeriod"/>
            </a:pPr>
            <a:r>
              <a:rPr lang="en-US" altLang="ar-JO" sz="2000">
                <a:latin typeface="Calibri" pitchFamily="34" charset="0"/>
              </a:rPr>
              <a:t>Separation and extraction of DNA fragments</a:t>
            </a:r>
          </a:p>
          <a:p>
            <a:pPr marL="342900" indent="-342900" eaLnBrk="1" hangingPunct="1">
              <a:buFont typeface="Calibri" pitchFamily="34" charset="0"/>
              <a:buAutoNum type="arabicPeriod"/>
            </a:pPr>
            <a:endParaRPr lang="en-US" altLang="ar-JO" sz="2000">
              <a:latin typeface="Calibri" pitchFamily="34" charset="0"/>
            </a:endParaRPr>
          </a:p>
          <a:p>
            <a:pPr marL="342900" indent="-342900" eaLnBrk="1" hangingPunct="1">
              <a:buFont typeface="Calibri" pitchFamily="34" charset="0"/>
              <a:buAutoNum type="arabicPeriod"/>
            </a:pPr>
            <a:r>
              <a:rPr lang="en-US" altLang="ar-JO" sz="2000">
                <a:latin typeface="Calibri" pitchFamily="34" charset="0"/>
              </a:rPr>
              <a:t>DNA  Quantitation</a:t>
            </a:r>
          </a:p>
          <a:p>
            <a:pPr marL="342900" indent="-342900" eaLnBrk="1" hangingPunct="1">
              <a:buFont typeface="Calibri" pitchFamily="34" charset="0"/>
              <a:buAutoNum type="arabicPeriod"/>
            </a:pPr>
            <a:endParaRPr lang="en-US" altLang="ar-JO" sz="2000">
              <a:latin typeface="Calibri" pitchFamily="34" charset="0"/>
            </a:endParaRPr>
          </a:p>
          <a:p>
            <a:pPr marL="342900" indent="-342900" eaLnBrk="1" hangingPunct="1">
              <a:buFont typeface="Calibri" pitchFamily="34" charset="0"/>
              <a:buAutoNum type="arabicPeriod"/>
            </a:pPr>
            <a:r>
              <a:rPr lang="en-US" altLang="ar-JO" sz="2000">
                <a:latin typeface="Calibri" pitchFamily="34" charset="0"/>
              </a:rPr>
              <a:t>DNA degradation</a:t>
            </a:r>
          </a:p>
          <a:p>
            <a:pPr marL="342900" indent="-342900" eaLnBrk="1" hangingPunct="1">
              <a:buFont typeface="Calibri" pitchFamily="34" charset="0"/>
              <a:buAutoNum type="arabicPeriod"/>
            </a:pPr>
            <a:endParaRPr lang="en-US" altLang="ar-JO" sz="2000">
              <a:latin typeface="Calibri" pitchFamily="34" charset="0"/>
            </a:endParaRPr>
          </a:p>
          <a:p>
            <a:pPr marL="342900" indent="-342900" eaLnBrk="1" hangingPunct="1">
              <a:buFont typeface="Calibri" pitchFamily="34" charset="0"/>
              <a:buAutoNum type="arabicPeriod"/>
            </a:pPr>
            <a:r>
              <a:rPr lang="en-US" altLang="ar-JO" sz="2000">
                <a:latin typeface="Calibri" pitchFamily="34" charset="0"/>
              </a:rPr>
              <a:t>Sizing of Nucleic Acid Molecules</a:t>
            </a:r>
          </a:p>
          <a:p>
            <a:pPr marL="342900" indent="-342900" eaLnBrk="1" hangingPunct="1">
              <a:buFont typeface="Calibri" pitchFamily="34" charset="0"/>
              <a:buAutoNum type="arabicPeriod"/>
            </a:pPr>
            <a:endParaRPr lang="en-US" altLang="ar-JO" sz="2000">
              <a:latin typeface="Calibri" pitchFamily="34" charset="0"/>
            </a:endParaRPr>
          </a:p>
          <a:p>
            <a:pPr marL="800100" lvl="1" indent="-342900" eaLnBrk="1" hangingPunct="1">
              <a:buFont typeface="Arial" pitchFamily="34" charset="0"/>
              <a:buChar char="•"/>
            </a:pPr>
            <a:r>
              <a:rPr lang="en-US" altLang="ar-JO" sz="2000">
                <a:latin typeface="Calibri" pitchFamily="34" charset="0"/>
              </a:rPr>
              <a:t>DNA fragments for Southern transfer analysis</a:t>
            </a:r>
          </a:p>
          <a:p>
            <a:pPr marL="800100" lvl="1" indent="-342900" eaLnBrk="1" hangingPunct="1">
              <a:buFont typeface="Arial" pitchFamily="34" charset="0"/>
              <a:buChar char="•"/>
            </a:pPr>
            <a:r>
              <a:rPr lang="en-US" altLang="ar-JO" sz="2000">
                <a:latin typeface="Calibri" pitchFamily="34" charset="0"/>
              </a:rPr>
              <a:t>RNA molecules for Northern transfer analysis</a:t>
            </a:r>
          </a:p>
          <a:p>
            <a:pPr marL="800100" lvl="1" indent="-342900" eaLnBrk="1" hangingPunct="1">
              <a:buFont typeface="Arial" pitchFamily="34" charset="0"/>
              <a:buChar char="•"/>
            </a:pPr>
            <a:r>
              <a:rPr lang="en-US" altLang="ar-JO" sz="2000">
                <a:latin typeface="Calibri" pitchFamily="34" charset="0"/>
              </a:rPr>
              <a:t>Analytical separation of PCR products</a:t>
            </a:r>
          </a:p>
          <a:p>
            <a:pPr marL="800100" lvl="1" indent="-342900" eaLnBrk="1" hangingPunct="1">
              <a:buFont typeface="Arial" pitchFamily="34" charset="0"/>
              <a:buChar char="•"/>
            </a:pPr>
            <a:endParaRPr lang="en-US" altLang="ar-JO" sz="2000">
              <a:latin typeface="Calibri" pitchFamily="34" charset="0"/>
            </a:endParaRPr>
          </a:p>
          <a:p>
            <a:pPr marL="342900" indent="-342900" eaLnBrk="1" hangingPunct="1">
              <a:buFont typeface="Calibri" pitchFamily="34" charset="0"/>
              <a:buAutoNum type="arabicPeriod"/>
            </a:pPr>
            <a:r>
              <a:rPr lang="en-US" altLang="ar-JO" sz="2000">
                <a:latin typeface="Calibri" pitchFamily="34" charset="0"/>
              </a:rPr>
              <a:t>Detection of Mutations or Sequence Variations</a:t>
            </a:r>
          </a:p>
          <a:p>
            <a:pPr marL="342900" indent="-342900" eaLnBrk="1" hangingPunct="1">
              <a:buFont typeface="Calibri" pitchFamily="34" charset="0"/>
              <a:buAutoNum type="arabicPeriod"/>
            </a:pPr>
            <a:endParaRPr lang="en-US" altLang="ar-JO" sz="2000">
              <a:latin typeface="Calibri" pitchFamily="34" charset="0"/>
            </a:endParaRPr>
          </a:p>
          <a:p>
            <a:pPr marL="342900" indent="-342900" eaLnBrk="1" hangingPunct="1">
              <a:buFont typeface="Calibri" pitchFamily="34" charset="0"/>
              <a:buAutoNum type="arabicPeriod"/>
            </a:pPr>
            <a:endParaRPr lang="en-US" altLang="ar-JO" sz="2000">
              <a:latin typeface="Calibri" pitchFamily="34" charset="0"/>
            </a:endParaRPr>
          </a:p>
        </p:txBody>
      </p:sp>
      <p:sp>
        <p:nvSpPr>
          <p:cNvPr id="37894" name="Slide Number Placeholder 2"/>
          <p:cNvSpPr>
            <a:spLocks noGrp="1" noChangeArrowheads="1"/>
          </p:cNvSpPr>
          <p:nvPr>
            <p:ph type="sldNum" sz="quarter" idx="12"/>
          </p:nvPr>
        </p:nvSpPr>
        <p:spPr bwMode="auto">
          <a:noFill/>
          <a:ln>
            <a:miter lim="800000"/>
            <a:headEnd/>
            <a:tailEnd/>
          </a:ln>
        </p:spPr>
        <p:txBody>
          <a:bodyPr/>
          <a:lstStyle/>
          <a:p>
            <a:fld id="{299843E6-9948-4C2F-8903-CD4B43D1C6FA}" type="slidenum">
              <a:rPr lang="en-US" altLang="ar-JO"/>
              <a:pPr/>
              <a:t>19</a:t>
            </a:fld>
            <a:endParaRPr lang="en-US" altLang="ar-JO"/>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Footer Placeholder 41"/>
          <p:cNvSpPr txBox="1">
            <a:spLocks/>
          </p:cNvSpPr>
          <p:nvPr/>
        </p:nvSpPr>
        <p:spPr>
          <a:xfrm>
            <a:off x="142875" y="6492875"/>
            <a:ext cx="3200400" cy="365125"/>
          </a:xfrm>
          <a:prstGeom prst="rect">
            <a:avLst/>
          </a:prstGeom>
        </p:spPr>
        <p:txBody>
          <a:bodyPr anchor="ctr"/>
          <a:lstStyle/>
          <a:p>
            <a:pPr eaLnBrk="1" fontAlgn="auto" hangingPunct="1">
              <a:spcBef>
                <a:spcPts val="0"/>
              </a:spcBef>
              <a:spcAft>
                <a:spcPts val="0"/>
              </a:spcAft>
              <a:defRPr/>
            </a:pPr>
            <a:r>
              <a:rPr lang="en-US" sz="1400" dirty="0">
                <a:solidFill>
                  <a:schemeClr val="tx1">
                    <a:tint val="75000"/>
                  </a:schemeClr>
                </a:solidFill>
                <a:latin typeface="+mn-lt"/>
                <a:cs typeface="+mn-cs"/>
              </a:rPr>
              <a:t>MBL. BT453</a:t>
            </a:r>
          </a:p>
        </p:txBody>
      </p:sp>
      <p:cxnSp>
        <p:nvCxnSpPr>
          <p:cNvPr id="56" name="Straight Connector 55"/>
          <p:cNvCxnSpPr/>
          <p:nvPr/>
        </p:nvCxnSpPr>
        <p:spPr>
          <a:xfrm>
            <a:off x="785813" y="928688"/>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7" name="Title 4"/>
          <p:cNvSpPr txBox="1">
            <a:spLocks/>
          </p:cNvSpPr>
          <p:nvPr/>
        </p:nvSpPr>
        <p:spPr>
          <a:xfrm>
            <a:off x="819150" y="214313"/>
            <a:ext cx="7467600" cy="488950"/>
          </a:xfrm>
          <a:prstGeom prst="rect">
            <a:avLst/>
          </a:prstGeom>
        </p:spPr>
        <p:txBody>
          <a:bodyPr/>
          <a:lstStyle/>
          <a:p>
            <a:pPr algn="ctr" eaLnBrk="1" fontAlgn="auto" hangingPunct="1">
              <a:spcAft>
                <a:spcPts val="0"/>
              </a:spcAft>
              <a:defRPr/>
            </a:pPr>
            <a:r>
              <a:rPr lang="en-US" sz="3200" b="1" dirty="0">
                <a:solidFill>
                  <a:schemeClr val="accent1"/>
                </a:solidFill>
                <a:latin typeface="+mn-lt"/>
                <a:cs typeface="+mn-cs"/>
              </a:rPr>
              <a:t>Components of an Electrophoresis System</a:t>
            </a:r>
            <a:endParaRPr lang="en-US" sz="3200" b="1" dirty="0">
              <a:solidFill>
                <a:schemeClr val="accent1"/>
              </a:solidFill>
              <a:latin typeface="+mj-lt"/>
              <a:ea typeface="+mj-ea"/>
              <a:cs typeface="+mj-cs"/>
            </a:endParaRPr>
          </a:p>
        </p:txBody>
      </p:sp>
      <p:pic>
        <p:nvPicPr>
          <p:cNvPr id="39941" name="Picture 3"/>
          <p:cNvPicPr>
            <a:picLocks noChangeAspect="1" noChangeArrowheads="1"/>
          </p:cNvPicPr>
          <p:nvPr/>
        </p:nvPicPr>
        <p:blipFill>
          <a:blip r:embed="rId3"/>
          <a:srcRect/>
          <a:stretch>
            <a:fillRect/>
          </a:stretch>
        </p:blipFill>
        <p:spPr bwMode="auto">
          <a:xfrm>
            <a:off x="1428750" y="1584325"/>
            <a:ext cx="6269038" cy="4657725"/>
          </a:xfrm>
          <a:prstGeom prst="rect">
            <a:avLst/>
          </a:prstGeom>
          <a:noFill/>
          <a:ln w="9525">
            <a:noFill/>
            <a:miter lim="800000"/>
            <a:headEnd/>
            <a:tailEnd/>
          </a:ln>
        </p:spPr>
      </p:pic>
      <p:sp>
        <p:nvSpPr>
          <p:cNvPr id="39942" name="TextBox 83"/>
          <p:cNvSpPr txBox="1">
            <a:spLocks noChangeArrowheads="1"/>
          </p:cNvSpPr>
          <p:nvPr/>
        </p:nvSpPr>
        <p:spPr bwMode="auto">
          <a:xfrm>
            <a:off x="1928813" y="1584325"/>
            <a:ext cx="1357312" cy="339725"/>
          </a:xfrm>
          <a:prstGeom prst="rect">
            <a:avLst/>
          </a:prstGeom>
          <a:solidFill>
            <a:schemeClr val="bg1"/>
          </a:solidFill>
          <a:ln w="9525">
            <a:noFill/>
            <a:miter lim="800000"/>
            <a:headEnd/>
            <a:tailEnd/>
          </a:ln>
        </p:spPr>
        <p:txBody>
          <a:bodyPr>
            <a:spAutoFit/>
          </a:bodyPr>
          <a:lstStyle/>
          <a:p>
            <a:pPr algn="r" eaLnBrk="1" hangingPunct="1"/>
            <a:r>
              <a:rPr lang="en-US" altLang="ar-JO" sz="1600" b="1">
                <a:solidFill>
                  <a:schemeClr val="accent1"/>
                </a:solidFill>
                <a:latin typeface="Calibri" pitchFamily="34" charset="0"/>
              </a:rPr>
              <a:t>Buffer</a:t>
            </a:r>
          </a:p>
        </p:txBody>
      </p:sp>
      <p:sp>
        <p:nvSpPr>
          <p:cNvPr id="39943" name="TextBox 84"/>
          <p:cNvSpPr txBox="1">
            <a:spLocks noChangeArrowheads="1"/>
          </p:cNvSpPr>
          <p:nvPr/>
        </p:nvSpPr>
        <p:spPr bwMode="auto">
          <a:xfrm>
            <a:off x="3286125" y="1285875"/>
            <a:ext cx="1214438" cy="584200"/>
          </a:xfrm>
          <a:prstGeom prst="rect">
            <a:avLst/>
          </a:prstGeom>
          <a:solidFill>
            <a:schemeClr val="bg1"/>
          </a:solidFill>
          <a:ln w="9525">
            <a:noFill/>
            <a:miter lim="800000"/>
            <a:headEnd/>
            <a:tailEnd/>
          </a:ln>
        </p:spPr>
        <p:txBody>
          <a:bodyPr>
            <a:spAutoFit/>
          </a:bodyPr>
          <a:lstStyle/>
          <a:p>
            <a:pPr algn="r" eaLnBrk="1" hangingPunct="1"/>
            <a:r>
              <a:rPr lang="en-US" altLang="ar-JO" sz="1600" b="1">
                <a:solidFill>
                  <a:schemeClr val="accent1"/>
                </a:solidFill>
                <a:latin typeface="Calibri" pitchFamily="34" charset="0"/>
              </a:rPr>
              <a:t>Supporting Media</a:t>
            </a:r>
          </a:p>
        </p:txBody>
      </p:sp>
      <p:sp>
        <p:nvSpPr>
          <p:cNvPr id="39944" name="TextBox 85"/>
          <p:cNvSpPr txBox="1">
            <a:spLocks noChangeArrowheads="1"/>
          </p:cNvSpPr>
          <p:nvPr/>
        </p:nvSpPr>
        <p:spPr bwMode="auto">
          <a:xfrm>
            <a:off x="4857750" y="1573213"/>
            <a:ext cx="1143000" cy="338137"/>
          </a:xfrm>
          <a:prstGeom prst="rect">
            <a:avLst/>
          </a:prstGeom>
          <a:solidFill>
            <a:schemeClr val="bg1"/>
          </a:solidFill>
          <a:ln w="9525">
            <a:noFill/>
            <a:miter lim="800000"/>
            <a:headEnd/>
            <a:tailEnd/>
          </a:ln>
        </p:spPr>
        <p:txBody>
          <a:bodyPr>
            <a:spAutoFit/>
          </a:bodyPr>
          <a:lstStyle/>
          <a:p>
            <a:pPr algn="r" eaLnBrk="1" hangingPunct="1"/>
            <a:r>
              <a:rPr lang="en-US" altLang="ar-JO" sz="1600" b="1">
                <a:solidFill>
                  <a:schemeClr val="accent1"/>
                </a:solidFill>
                <a:latin typeface="Calibri" pitchFamily="34" charset="0"/>
              </a:rPr>
              <a:t>Electrode</a:t>
            </a:r>
          </a:p>
        </p:txBody>
      </p:sp>
      <p:sp>
        <p:nvSpPr>
          <p:cNvPr id="39945" name="TextBox 86"/>
          <p:cNvSpPr txBox="1">
            <a:spLocks noChangeArrowheads="1"/>
          </p:cNvSpPr>
          <p:nvPr/>
        </p:nvSpPr>
        <p:spPr bwMode="auto">
          <a:xfrm>
            <a:off x="3571875" y="4441825"/>
            <a:ext cx="1571625" cy="339725"/>
          </a:xfrm>
          <a:prstGeom prst="rect">
            <a:avLst/>
          </a:prstGeom>
          <a:solidFill>
            <a:schemeClr val="bg1"/>
          </a:solidFill>
          <a:ln w="9525">
            <a:noFill/>
            <a:miter lim="800000"/>
            <a:headEnd/>
            <a:tailEnd/>
          </a:ln>
        </p:spPr>
        <p:txBody>
          <a:bodyPr>
            <a:spAutoFit/>
          </a:bodyPr>
          <a:lstStyle/>
          <a:p>
            <a:pPr algn="ctr" eaLnBrk="1" hangingPunct="1"/>
            <a:r>
              <a:rPr lang="en-US" altLang="ar-JO" sz="1600" b="1">
                <a:solidFill>
                  <a:schemeClr val="accent1"/>
                </a:solidFill>
                <a:latin typeface="Calibri" pitchFamily="34" charset="0"/>
              </a:rPr>
              <a:t>Power supply</a:t>
            </a:r>
          </a:p>
        </p:txBody>
      </p:sp>
      <p:sp>
        <p:nvSpPr>
          <p:cNvPr id="39946" name="TextBox 87"/>
          <p:cNvSpPr txBox="1">
            <a:spLocks noChangeArrowheads="1"/>
          </p:cNvSpPr>
          <p:nvPr/>
        </p:nvSpPr>
        <p:spPr bwMode="auto">
          <a:xfrm>
            <a:off x="357188" y="2298700"/>
            <a:ext cx="1571625" cy="339725"/>
          </a:xfrm>
          <a:prstGeom prst="rect">
            <a:avLst/>
          </a:prstGeom>
          <a:solidFill>
            <a:schemeClr val="bg1"/>
          </a:solidFill>
          <a:ln w="9525">
            <a:noFill/>
            <a:miter lim="800000"/>
            <a:headEnd/>
            <a:tailEnd/>
          </a:ln>
        </p:spPr>
        <p:txBody>
          <a:bodyPr>
            <a:spAutoFit/>
          </a:bodyPr>
          <a:lstStyle/>
          <a:p>
            <a:pPr algn="r" eaLnBrk="1" hangingPunct="1"/>
            <a:r>
              <a:rPr lang="en-US" altLang="ar-JO" sz="1600" b="1">
                <a:solidFill>
                  <a:schemeClr val="accent1"/>
                </a:solidFill>
                <a:latin typeface="Calibri" pitchFamily="34" charset="0"/>
              </a:rPr>
              <a:t>Loading dye</a:t>
            </a:r>
          </a:p>
        </p:txBody>
      </p:sp>
      <p:cxnSp>
        <p:nvCxnSpPr>
          <p:cNvPr id="89" name="Straight Connector 88"/>
          <p:cNvCxnSpPr/>
          <p:nvPr/>
        </p:nvCxnSpPr>
        <p:spPr>
          <a:xfrm>
            <a:off x="2000250" y="2513013"/>
            <a:ext cx="2143125" cy="5000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9948" name="TextBox 89"/>
          <p:cNvSpPr txBox="1">
            <a:spLocks noChangeArrowheads="1"/>
          </p:cNvSpPr>
          <p:nvPr/>
        </p:nvSpPr>
        <p:spPr bwMode="auto">
          <a:xfrm>
            <a:off x="7000875" y="2155825"/>
            <a:ext cx="1571625" cy="585788"/>
          </a:xfrm>
          <a:prstGeom prst="rect">
            <a:avLst/>
          </a:prstGeom>
          <a:solidFill>
            <a:schemeClr val="bg1"/>
          </a:solidFill>
          <a:ln w="9525">
            <a:noFill/>
            <a:miter lim="800000"/>
            <a:headEnd/>
            <a:tailEnd/>
          </a:ln>
        </p:spPr>
        <p:txBody>
          <a:bodyPr>
            <a:spAutoFit/>
          </a:bodyPr>
          <a:lstStyle/>
          <a:p>
            <a:pPr eaLnBrk="1" hangingPunct="1"/>
            <a:r>
              <a:rPr lang="en-US" altLang="ar-JO" sz="1600" b="1">
                <a:solidFill>
                  <a:schemeClr val="accent1"/>
                </a:solidFill>
                <a:latin typeface="Calibri" pitchFamily="34" charset="0"/>
              </a:rPr>
              <a:t>Electrophoresis chamber</a:t>
            </a:r>
          </a:p>
        </p:txBody>
      </p:sp>
      <p:cxnSp>
        <p:nvCxnSpPr>
          <p:cNvPr id="91" name="Straight Connector 90"/>
          <p:cNvCxnSpPr/>
          <p:nvPr/>
        </p:nvCxnSpPr>
        <p:spPr>
          <a:xfrm rot="10800000" flipV="1">
            <a:off x="6786563" y="2441575"/>
            <a:ext cx="214312" cy="1428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9950" name="Slide Number Placeholder 2"/>
          <p:cNvSpPr>
            <a:spLocks noGrp="1" noChangeArrowheads="1"/>
          </p:cNvSpPr>
          <p:nvPr>
            <p:ph type="sldNum" sz="quarter" idx="12"/>
          </p:nvPr>
        </p:nvSpPr>
        <p:spPr bwMode="auto">
          <a:noFill/>
          <a:ln>
            <a:miter lim="800000"/>
            <a:headEnd/>
            <a:tailEnd/>
          </a:ln>
        </p:spPr>
        <p:txBody>
          <a:bodyPr/>
          <a:lstStyle/>
          <a:p>
            <a:fld id="{54C71F44-8D7B-4DE2-A961-F9F2B1D63358}" type="slidenum">
              <a:rPr lang="en-US" altLang="ar-JO"/>
              <a:pPr/>
              <a:t>20</a:t>
            </a:fld>
            <a:endParaRPr lang="en-US" altLang="ar-JO"/>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2"/>
          <p:cNvSpPr>
            <a:spLocks noGrp="1" noChangeArrowheads="1"/>
          </p:cNvSpPr>
          <p:nvPr>
            <p:ph type="sldNum" sz="quarter" idx="12"/>
          </p:nvPr>
        </p:nvSpPr>
        <p:spPr bwMode="auto">
          <a:noFill/>
          <a:ln>
            <a:miter lim="800000"/>
            <a:headEnd/>
            <a:tailEnd/>
          </a:ln>
        </p:spPr>
        <p:txBody>
          <a:bodyPr/>
          <a:lstStyle/>
          <a:p>
            <a:fld id="{775450B5-A5C5-4C57-A7BA-86EEDC073167}" type="slidenum">
              <a:rPr lang="en-US" altLang="ar-JO"/>
              <a:pPr/>
              <a:t>21</a:t>
            </a:fld>
            <a:endParaRPr lang="en-US" altLang="ar-JO"/>
          </a:p>
        </p:txBody>
      </p:sp>
      <p:sp>
        <p:nvSpPr>
          <p:cNvPr id="15" name="Footer Placeholder 41"/>
          <p:cNvSpPr txBox="1">
            <a:spLocks/>
          </p:cNvSpPr>
          <p:nvPr/>
        </p:nvSpPr>
        <p:spPr>
          <a:xfrm>
            <a:off x="142875" y="6492875"/>
            <a:ext cx="3200400" cy="365125"/>
          </a:xfrm>
          <a:prstGeom prst="rect">
            <a:avLst/>
          </a:prstGeom>
        </p:spPr>
        <p:txBody>
          <a:bodyPr anchor="ctr"/>
          <a:lstStyle/>
          <a:p>
            <a:pPr eaLnBrk="1" fontAlgn="auto" hangingPunct="1">
              <a:spcBef>
                <a:spcPts val="0"/>
              </a:spcBef>
              <a:spcAft>
                <a:spcPts val="0"/>
              </a:spcAft>
              <a:defRPr/>
            </a:pPr>
            <a:r>
              <a:rPr lang="en-US" sz="1400" dirty="0">
                <a:solidFill>
                  <a:schemeClr val="tx1">
                    <a:tint val="75000"/>
                  </a:schemeClr>
                </a:solidFill>
                <a:latin typeface="+mn-lt"/>
                <a:cs typeface="+mn-cs"/>
              </a:rPr>
              <a:t>MBL. BT453</a:t>
            </a:r>
          </a:p>
        </p:txBody>
      </p:sp>
      <p:cxnSp>
        <p:nvCxnSpPr>
          <p:cNvPr id="21" name="Straight Connector 20"/>
          <p:cNvCxnSpPr/>
          <p:nvPr/>
        </p:nvCxnSpPr>
        <p:spPr>
          <a:xfrm>
            <a:off x="785813" y="928688"/>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itle 4"/>
          <p:cNvSpPr txBox="1">
            <a:spLocks/>
          </p:cNvSpPr>
          <p:nvPr/>
        </p:nvSpPr>
        <p:spPr>
          <a:xfrm>
            <a:off x="819150" y="214313"/>
            <a:ext cx="7467600" cy="488950"/>
          </a:xfrm>
          <a:prstGeom prst="rect">
            <a:avLst/>
          </a:prstGeom>
        </p:spPr>
        <p:txBody>
          <a:bodyPr/>
          <a:lstStyle/>
          <a:p>
            <a:pPr algn="ctr" eaLnBrk="1" fontAlgn="auto" hangingPunct="1">
              <a:spcAft>
                <a:spcPts val="0"/>
              </a:spcAft>
              <a:defRPr/>
            </a:pPr>
            <a:r>
              <a:rPr lang="en-US" sz="3200" b="1" dirty="0">
                <a:solidFill>
                  <a:schemeClr val="accent1"/>
                </a:solidFill>
                <a:latin typeface="+mj-lt"/>
                <a:ea typeface="+mj-ea"/>
                <a:cs typeface="+mj-cs"/>
              </a:rPr>
              <a:t>Support Media (</a:t>
            </a:r>
            <a:r>
              <a:rPr lang="en-US" sz="3200" b="1" dirty="0" err="1">
                <a:solidFill>
                  <a:schemeClr val="accent1"/>
                </a:solidFill>
                <a:latin typeface="+mj-lt"/>
                <a:ea typeface="+mj-ea"/>
                <a:cs typeface="+mj-cs"/>
              </a:rPr>
              <a:t>Agarose</a:t>
            </a:r>
            <a:r>
              <a:rPr lang="en-US" sz="3200" b="1" dirty="0">
                <a:solidFill>
                  <a:schemeClr val="accent1"/>
                </a:solidFill>
                <a:latin typeface="+mj-lt"/>
                <a:ea typeface="+mj-ea"/>
                <a:cs typeface="+mj-cs"/>
              </a:rPr>
              <a:t>)</a:t>
            </a:r>
          </a:p>
        </p:txBody>
      </p:sp>
      <p:sp>
        <p:nvSpPr>
          <p:cNvPr id="24" name="Rectangle 3"/>
          <p:cNvSpPr txBox="1">
            <a:spLocks noChangeArrowheads="1"/>
          </p:cNvSpPr>
          <p:nvPr/>
        </p:nvSpPr>
        <p:spPr>
          <a:xfrm>
            <a:off x="714375" y="1219200"/>
            <a:ext cx="7858125" cy="5353050"/>
          </a:xfrm>
          <a:prstGeom prst="rect">
            <a:avLst/>
          </a:prstGeom>
        </p:spPr>
        <p:txBody>
          <a:bodyPr/>
          <a:lstStyle/>
          <a:p>
            <a:pPr marL="342900" indent="-342900" eaLnBrk="1" fontAlgn="auto" hangingPunct="1">
              <a:lnSpc>
                <a:spcPct val="90000"/>
              </a:lnSpc>
              <a:spcBef>
                <a:spcPct val="60000"/>
              </a:spcBef>
              <a:spcAft>
                <a:spcPts val="0"/>
              </a:spcAft>
              <a:buFont typeface="Arial" pitchFamily="34" charset="0"/>
              <a:buChar char="•"/>
              <a:defRPr/>
            </a:pPr>
            <a:r>
              <a:rPr lang="en-US" dirty="0">
                <a:latin typeface="+mn-lt"/>
                <a:cs typeface="+mn-cs"/>
              </a:rPr>
              <a:t>A porous material derived from red seaweed</a:t>
            </a:r>
          </a:p>
          <a:p>
            <a:pPr marL="342900" indent="-342900" eaLnBrk="1" fontAlgn="auto" hangingPunct="1">
              <a:lnSpc>
                <a:spcPct val="90000"/>
              </a:lnSpc>
              <a:spcBef>
                <a:spcPct val="60000"/>
              </a:spcBef>
              <a:spcAft>
                <a:spcPts val="0"/>
              </a:spcAft>
              <a:buFont typeface="Arial" pitchFamily="34" charset="0"/>
              <a:buChar char="•"/>
              <a:defRPr/>
            </a:pPr>
            <a:endParaRPr lang="en-US" dirty="0">
              <a:latin typeface="+mn-lt"/>
              <a:cs typeface="+mn-cs"/>
            </a:endParaRPr>
          </a:p>
          <a:p>
            <a:pPr marL="342900" indent="-342900" eaLnBrk="1" fontAlgn="auto" hangingPunct="1">
              <a:lnSpc>
                <a:spcPct val="90000"/>
              </a:lnSpc>
              <a:spcBef>
                <a:spcPct val="60000"/>
              </a:spcBef>
              <a:spcAft>
                <a:spcPts val="0"/>
              </a:spcAft>
              <a:buFont typeface="Arial" pitchFamily="34" charset="0"/>
              <a:buChar char="•"/>
              <a:defRPr/>
            </a:pPr>
            <a:endParaRPr lang="en-US" dirty="0">
              <a:latin typeface="+mn-lt"/>
              <a:cs typeface="+mn-cs"/>
            </a:endParaRPr>
          </a:p>
          <a:p>
            <a:pPr marL="342900" indent="-342900" eaLnBrk="1" fontAlgn="auto" hangingPunct="1">
              <a:lnSpc>
                <a:spcPct val="90000"/>
              </a:lnSpc>
              <a:spcBef>
                <a:spcPct val="60000"/>
              </a:spcBef>
              <a:spcAft>
                <a:spcPts val="0"/>
              </a:spcAft>
              <a:buFont typeface="Arial" pitchFamily="34" charset="0"/>
              <a:buChar char="•"/>
              <a:defRPr/>
            </a:pPr>
            <a:endParaRPr lang="en-US" dirty="0">
              <a:latin typeface="+mn-lt"/>
              <a:cs typeface="+mn-cs"/>
            </a:endParaRPr>
          </a:p>
          <a:p>
            <a:pPr marL="342900" indent="-342900" eaLnBrk="1" fontAlgn="auto" hangingPunct="1">
              <a:lnSpc>
                <a:spcPct val="90000"/>
              </a:lnSpc>
              <a:spcBef>
                <a:spcPct val="60000"/>
              </a:spcBef>
              <a:spcAft>
                <a:spcPts val="0"/>
              </a:spcAft>
              <a:buFont typeface="Arial" pitchFamily="34" charset="0"/>
              <a:buChar char="•"/>
              <a:defRPr/>
            </a:pPr>
            <a:endParaRPr lang="en-US" dirty="0">
              <a:latin typeface="+mn-lt"/>
              <a:cs typeface="+mn-cs"/>
            </a:endParaRPr>
          </a:p>
          <a:p>
            <a:pPr marL="342900" indent="-342900" eaLnBrk="1" fontAlgn="auto" hangingPunct="1">
              <a:lnSpc>
                <a:spcPct val="90000"/>
              </a:lnSpc>
              <a:spcBef>
                <a:spcPct val="60000"/>
              </a:spcBef>
              <a:spcAft>
                <a:spcPts val="0"/>
              </a:spcAft>
              <a:buFont typeface="Arial" pitchFamily="34" charset="0"/>
              <a:buChar char="•"/>
              <a:defRPr/>
            </a:pPr>
            <a:endParaRPr lang="en-US" dirty="0">
              <a:latin typeface="+mn-lt"/>
              <a:cs typeface="+mn-cs"/>
            </a:endParaRPr>
          </a:p>
          <a:p>
            <a:pPr marL="342900" indent="-342900" eaLnBrk="1" fontAlgn="auto" hangingPunct="1">
              <a:lnSpc>
                <a:spcPct val="90000"/>
              </a:lnSpc>
              <a:spcBef>
                <a:spcPct val="60000"/>
              </a:spcBef>
              <a:spcAft>
                <a:spcPts val="0"/>
              </a:spcAft>
              <a:buFont typeface="Arial" pitchFamily="34" charset="0"/>
              <a:buChar char="•"/>
              <a:defRPr/>
            </a:pPr>
            <a:endParaRPr lang="en-US" dirty="0">
              <a:latin typeface="+mn-lt"/>
              <a:cs typeface="+mn-cs"/>
            </a:endParaRPr>
          </a:p>
          <a:p>
            <a:pPr marL="342900" indent="-342900" eaLnBrk="1" fontAlgn="auto" hangingPunct="1">
              <a:lnSpc>
                <a:spcPct val="90000"/>
              </a:lnSpc>
              <a:spcBef>
                <a:spcPct val="60000"/>
              </a:spcBef>
              <a:spcAft>
                <a:spcPts val="0"/>
              </a:spcAft>
              <a:buFont typeface="Arial" pitchFamily="34" charset="0"/>
              <a:buChar char="•"/>
              <a:defRPr/>
            </a:pPr>
            <a:endParaRPr lang="en-US" sz="900" dirty="0">
              <a:latin typeface="+mn-lt"/>
              <a:cs typeface="+mn-cs"/>
            </a:endParaRPr>
          </a:p>
          <a:p>
            <a:pPr marL="342900" indent="-342900" eaLnBrk="1" fontAlgn="auto" hangingPunct="1">
              <a:lnSpc>
                <a:spcPct val="90000"/>
              </a:lnSpc>
              <a:spcBef>
                <a:spcPct val="60000"/>
              </a:spcBef>
              <a:spcAft>
                <a:spcPts val="0"/>
              </a:spcAft>
              <a:buFont typeface="Arial" pitchFamily="34" charset="0"/>
              <a:buChar char="•"/>
              <a:defRPr/>
            </a:pPr>
            <a:r>
              <a:rPr lang="en-US" dirty="0">
                <a:latin typeface="+mn-lt"/>
                <a:cs typeface="+mn-cs"/>
              </a:rPr>
              <a:t>A chain of sugar molecules </a:t>
            </a:r>
          </a:p>
          <a:p>
            <a:pPr marL="342900" indent="-342900" eaLnBrk="1" fontAlgn="auto" hangingPunct="1">
              <a:lnSpc>
                <a:spcPct val="90000"/>
              </a:lnSpc>
              <a:spcBef>
                <a:spcPct val="60000"/>
              </a:spcBef>
              <a:spcAft>
                <a:spcPts val="0"/>
              </a:spcAft>
              <a:buFont typeface="Arial" pitchFamily="34" charset="0"/>
              <a:buChar char="•"/>
              <a:defRPr/>
            </a:pPr>
            <a:endParaRPr lang="en-US" dirty="0">
              <a:latin typeface="+mn-lt"/>
              <a:cs typeface="+mn-cs"/>
            </a:endParaRPr>
          </a:p>
          <a:p>
            <a:pPr marL="342900" indent="-342900" eaLnBrk="1" fontAlgn="auto" hangingPunct="1">
              <a:lnSpc>
                <a:spcPct val="90000"/>
              </a:lnSpc>
              <a:spcBef>
                <a:spcPct val="60000"/>
              </a:spcBef>
              <a:spcAft>
                <a:spcPts val="0"/>
              </a:spcAft>
              <a:buFont typeface="Arial" pitchFamily="34" charset="0"/>
              <a:buChar char="•"/>
              <a:defRPr/>
            </a:pPr>
            <a:endParaRPr lang="en-US" dirty="0">
              <a:latin typeface="+mn-lt"/>
              <a:cs typeface="+mn-cs"/>
            </a:endParaRPr>
          </a:p>
          <a:p>
            <a:pPr marL="342900" indent="-342900" eaLnBrk="1" fontAlgn="auto" hangingPunct="1">
              <a:lnSpc>
                <a:spcPct val="90000"/>
              </a:lnSpc>
              <a:spcBef>
                <a:spcPct val="60000"/>
              </a:spcBef>
              <a:spcAft>
                <a:spcPts val="0"/>
              </a:spcAft>
              <a:buFont typeface="Arial" pitchFamily="34" charset="0"/>
              <a:buChar char="•"/>
              <a:defRPr/>
            </a:pPr>
            <a:endParaRPr lang="en-US" dirty="0">
              <a:latin typeface="+mn-lt"/>
              <a:cs typeface="+mn-cs"/>
            </a:endParaRPr>
          </a:p>
          <a:p>
            <a:pPr marL="342900" indent="-342900" eaLnBrk="1" fontAlgn="auto" hangingPunct="1">
              <a:lnSpc>
                <a:spcPct val="90000"/>
              </a:lnSpc>
              <a:spcBef>
                <a:spcPct val="60000"/>
              </a:spcBef>
              <a:spcAft>
                <a:spcPts val="0"/>
              </a:spcAft>
              <a:buFont typeface="Arial" pitchFamily="34" charset="0"/>
              <a:buChar char="•"/>
              <a:defRPr/>
            </a:pPr>
            <a:r>
              <a:rPr lang="en-US" dirty="0">
                <a:latin typeface="+mn-lt"/>
                <a:cs typeface="+mn-cs"/>
              </a:rPr>
              <a:t>D-</a:t>
            </a:r>
            <a:r>
              <a:rPr lang="en-US" dirty="0" err="1">
                <a:latin typeface="+mn-lt"/>
                <a:cs typeface="+mn-cs"/>
              </a:rPr>
              <a:t>Galactose</a:t>
            </a:r>
            <a:r>
              <a:rPr lang="en-US" dirty="0">
                <a:latin typeface="+mn-lt"/>
                <a:cs typeface="+mn-cs"/>
              </a:rPr>
              <a:t> + 3,6-anhydrous-L-Galactose</a:t>
            </a:r>
          </a:p>
          <a:p>
            <a:pPr marL="285750" indent="-285750" eaLnBrk="1" fontAlgn="auto" hangingPunct="1">
              <a:lnSpc>
                <a:spcPct val="90000"/>
              </a:lnSpc>
              <a:spcBef>
                <a:spcPct val="60000"/>
              </a:spcBef>
              <a:spcAft>
                <a:spcPts val="0"/>
              </a:spcAft>
              <a:buFont typeface="Arial" pitchFamily="34" charset="0"/>
              <a:buChar char="–"/>
              <a:defRPr/>
            </a:pPr>
            <a:endParaRPr lang="en-US" dirty="0">
              <a:latin typeface="+mn-lt"/>
              <a:cs typeface="+mn-cs"/>
            </a:endParaRPr>
          </a:p>
        </p:txBody>
      </p:sp>
      <p:grpSp>
        <p:nvGrpSpPr>
          <p:cNvPr id="41991" name="Group 28"/>
          <p:cNvGrpSpPr>
            <a:grpSpLocks/>
          </p:cNvGrpSpPr>
          <p:nvPr/>
        </p:nvGrpSpPr>
        <p:grpSpPr bwMode="auto">
          <a:xfrm>
            <a:off x="642938" y="4572000"/>
            <a:ext cx="7643812" cy="1247775"/>
            <a:chOff x="357158" y="1785926"/>
            <a:chExt cx="8429684" cy="1533692"/>
          </a:xfrm>
        </p:grpSpPr>
        <p:pic>
          <p:nvPicPr>
            <p:cNvPr id="42336" name="Picture 4" descr="F05-02"/>
            <p:cNvPicPr>
              <a:picLocks noChangeAspect="1" noChangeArrowheads="1"/>
            </p:cNvPicPr>
            <p:nvPr/>
          </p:nvPicPr>
          <p:blipFill>
            <a:blip r:embed="rId3"/>
            <a:srcRect t="6100" b="45097"/>
            <a:stretch>
              <a:fillRect/>
            </a:stretch>
          </p:blipFill>
          <p:spPr bwMode="auto">
            <a:xfrm>
              <a:off x="357158" y="2214554"/>
              <a:ext cx="3143272" cy="1105064"/>
            </a:xfrm>
            <a:prstGeom prst="rect">
              <a:avLst/>
            </a:prstGeom>
            <a:noFill/>
            <a:ln w="9525">
              <a:noFill/>
              <a:miter lim="800000"/>
              <a:headEnd/>
              <a:tailEnd/>
            </a:ln>
          </p:spPr>
        </p:pic>
        <p:pic>
          <p:nvPicPr>
            <p:cNvPr id="42337" name="Picture 4" descr="F05-02"/>
            <p:cNvPicPr>
              <a:picLocks noChangeAspect="1" noChangeArrowheads="1"/>
            </p:cNvPicPr>
            <p:nvPr/>
          </p:nvPicPr>
          <p:blipFill>
            <a:blip r:embed="rId3"/>
            <a:srcRect l="4546" t="6100" b="45097"/>
            <a:stretch>
              <a:fillRect/>
            </a:stretch>
          </p:blipFill>
          <p:spPr bwMode="auto">
            <a:xfrm>
              <a:off x="3143240" y="2000240"/>
              <a:ext cx="3000396" cy="1105064"/>
            </a:xfrm>
            <a:prstGeom prst="rect">
              <a:avLst/>
            </a:prstGeom>
            <a:noFill/>
            <a:ln w="9525">
              <a:noFill/>
              <a:miter lim="800000"/>
              <a:headEnd/>
              <a:tailEnd/>
            </a:ln>
          </p:spPr>
        </p:pic>
        <p:pic>
          <p:nvPicPr>
            <p:cNvPr id="42338" name="Picture 4" descr="F05-02"/>
            <p:cNvPicPr>
              <a:picLocks noChangeAspect="1" noChangeArrowheads="1"/>
            </p:cNvPicPr>
            <p:nvPr/>
          </p:nvPicPr>
          <p:blipFill>
            <a:blip r:embed="rId3"/>
            <a:srcRect l="4546" t="6100" b="45097"/>
            <a:stretch>
              <a:fillRect/>
            </a:stretch>
          </p:blipFill>
          <p:spPr bwMode="auto">
            <a:xfrm>
              <a:off x="5786478" y="1785926"/>
              <a:ext cx="3000364" cy="1105064"/>
            </a:xfrm>
            <a:prstGeom prst="rect">
              <a:avLst/>
            </a:prstGeom>
            <a:noFill/>
            <a:ln w="9525">
              <a:noFill/>
              <a:miter lim="800000"/>
              <a:headEnd/>
              <a:tailEnd/>
            </a:ln>
          </p:spPr>
        </p:pic>
      </p:grpSp>
      <p:grpSp>
        <p:nvGrpSpPr>
          <p:cNvPr id="41992" name="Group 29"/>
          <p:cNvGrpSpPr>
            <a:grpSpLocks/>
          </p:cNvGrpSpPr>
          <p:nvPr/>
        </p:nvGrpSpPr>
        <p:grpSpPr bwMode="auto">
          <a:xfrm>
            <a:off x="714375" y="1571625"/>
            <a:ext cx="7858125" cy="2254250"/>
            <a:chOff x="738158" y="1719250"/>
            <a:chExt cx="8162926" cy="2535632"/>
          </a:xfrm>
        </p:grpSpPr>
        <p:sp>
          <p:nvSpPr>
            <p:cNvPr id="41993" name="Line 460"/>
            <p:cNvSpPr>
              <a:spLocks noChangeShapeType="1"/>
            </p:cNvSpPr>
            <p:nvPr/>
          </p:nvSpPr>
          <p:spPr bwMode="auto">
            <a:xfrm rot="-2336305">
              <a:off x="6900833" y="1719250"/>
              <a:ext cx="1444625" cy="1457325"/>
            </a:xfrm>
            <a:prstGeom prst="line">
              <a:avLst/>
            </a:prstGeom>
            <a:noFill/>
            <a:ln w="12700">
              <a:solidFill>
                <a:srgbClr val="1313FF"/>
              </a:solidFill>
              <a:round/>
              <a:headEnd/>
              <a:tailEnd/>
            </a:ln>
          </p:spPr>
          <p:txBody>
            <a:bodyPr/>
            <a:lstStyle/>
            <a:p>
              <a:endParaRPr lang="ar-JO"/>
            </a:p>
          </p:txBody>
        </p:sp>
        <p:sp>
          <p:nvSpPr>
            <p:cNvPr id="41994" name="Line 492"/>
            <p:cNvSpPr>
              <a:spLocks noChangeShapeType="1"/>
            </p:cNvSpPr>
            <p:nvPr/>
          </p:nvSpPr>
          <p:spPr bwMode="auto">
            <a:xfrm rot="2594160">
              <a:off x="8159721" y="2473313"/>
              <a:ext cx="741363" cy="890588"/>
            </a:xfrm>
            <a:prstGeom prst="line">
              <a:avLst/>
            </a:prstGeom>
            <a:noFill/>
            <a:ln w="12700">
              <a:solidFill>
                <a:srgbClr val="1313FF"/>
              </a:solidFill>
              <a:round/>
              <a:headEnd/>
              <a:tailEnd/>
            </a:ln>
          </p:spPr>
          <p:txBody>
            <a:bodyPr/>
            <a:lstStyle/>
            <a:p>
              <a:endParaRPr lang="ar-JO"/>
            </a:p>
          </p:txBody>
        </p:sp>
        <p:sp>
          <p:nvSpPr>
            <p:cNvPr id="41995" name="Line 497"/>
            <p:cNvSpPr>
              <a:spLocks noChangeShapeType="1"/>
            </p:cNvSpPr>
            <p:nvPr/>
          </p:nvSpPr>
          <p:spPr bwMode="auto">
            <a:xfrm rot="-3011190">
              <a:off x="6888133" y="1554150"/>
              <a:ext cx="1316038" cy="1663700"/>
            </a:xfrm>
            <a:prstGeom prst="line">
              <a:avLst/>
            </a:prstGeom>
            <a:noFill/>
            <a:ln w="12700">
              <a:solidFill>
                <a:srgbClr val="1313FF"/>
              </a:solidFill>
              <a:round/>
              <a:headEnd/>
              <a:tailEnd/>
            </a:ln>
          </p:spPr>
          <p:txBody>
            <a:bodyPr/>
            <a:lstStyle/>
            <a:p>
              <a:endParaRPr lang="ar-JO"/>
            </a:p>
          </p:txBody>
        </p:sp>
        <p:sp>
          <p:nvSpPr>
            <p:cNvPr id="41996" name="Line 532"/>
            <p:cNvSpPr>
              <a:spLocks noChangeShapeType="1"/>
            </p:cNvSpPr>
            <p:nvPr/>
          </p:nvSpPr>
          <p:spPr bwMode="auto">
            <a:xfrm rot="-1535936">
              <a:off x="6807171" y="1936738"/>
              <a:ext cx="1525588" cy="1741488"/>
            </a:xfrm>
            <a:prstGeom prst="line">
              <a:avLst/>
            </a:prstGeom>
            <a:noFill/>
            <a:ln w="12700">
              <a:solidFill>
                <a:srgbClr val="1313FF"/>
              </a:solidFill>
              <a:round/>
              <a:headEnd/>
              <a:tailEnd/>
            </a:ln>
          </p:spPr>
          <p:txBody>
            <a:bodyPr/>
            <a:lstStyle/>
            <a:p>
              <a:endParaRPr lang="ar-JO"/>
            </a:p>
          </p:txBody>
        </p:sp>
        <p:sp>
          <p:nvSpPr>
            <p:cNvPr id="41997" name="Line 535"/>
            <p:cNvSpPr>
              <a:spLocks noChangeShapeType="1"/>
            </p:cNvSpPr>
            <p:nvPr/>
          </p:nvSpPr>
          <p:spPr bwMode="auto">
            <a:xfrm rot="2740088">
              <a:off x="8015258" y="2544750"/>
              <a:ext cx="987425" cy="615950"/>
            </a:xfrm>
            <a:prstGeom prst="line">
              <a:avLst/>
            </a:prstGeom>
            <a:noFill/>
            <a:ln w="12700">
              <a:solidFill>
                <a:srgbClr val="1313FF"/>
              </a:solidFill>
              <a:round/>
              <a:headEnd/>
              <a:tailEnd/>
            </a:ln>
          </p:spPr>
          <p:txBody>
            <a:bodyPr/>
            <a:lstStyle/>
            <a:p>
              <a:endParaRPr lang="ar-JO"/>
            </a:p>
          </p:txBody>
        </p:sp>
        <p:sp>
          <p:nvSpPr>
            <p:cNvPr id="41998" name="Line 304"/>
            <p:cNvSpPr>
              <a:spLocks noChangeShapeType="1"/>
            </p:cNvSpPr>
            <p:nvPr/>
          </p:nvSpPr>
          <p:spPr bwMode="auto">
            <a:xfrm rot="-2336305">
              <a:off x="3929033" y="1719250"/>
              <a:ext cx="1444625" cy="1457325"/>
            </a:xfrm>
            <a:prstGeom prst="line">
              <a:avLst/>
            </a:prstGeom>
            <a:noFill/>
            <a:ln w="12700">
              <a:solidFill>
                <a:srgbClr val="1313FF"/>
              </a:solidFill>
              <a:round/>
              <a:headEnd/>
              <a:tailEnd/>
            </a:ln>
          </p:spPr>
          <p:txBody>
            <a:bodyPr/>
            <a:lstStyle/>
            <a:p>
              <a:endParaRPr lang="ar-JO"/>
            </a:p>
          </p:txBody>
        </p:sp>
        <p:sp>
          <p:nvSpPr>
            <p:cNvPr id="41999" name="Line 342"/>
            <p:cNvSpPr>
              <a:spLocks noChangeShapeType="1"/>
            </p:cNvSpPr>
            <p:nvPr/>
          </p:nvSpPr>
          <p:spPr bwMode="auto">
            <a:xfrm rot="-3011190">
              <a:off x="3916333" y="1554150"/>
              <a:ext cx="1316038" cy="1663700"/>
            </a:xfrm>
            <a:prstGeom prst="line">
              <a:avLst/>
            </a:prstGeom>
            <a:noFill/>
            <a:ln w="12700">
              <a:solidFill>
                <a:srgbClr val="1313FF"/>
              </a:solidFill>
              <a:round/>
              <a:headEnd/>
              <a:tailEnd/>
            </a:ln>
          </p:spPr>
          <p:txBody>
            <a:bodyPr/>
            <a:lstStyle/>
            <a:p>
              <a:endParaRPr lang="ar-JO"/>
            </a:p>
          </p:txBody>
        </p:sp>
        <p:sp>
          <p:nvSpPr>
            <p:cNvPr id="42000" name="Line 378"/>
            <p:cNvSpPr>
              <a:spLocks noChangeShapeType="1"/>
            </p:cNvSpPr>
            <p:nvPr/>
          </p:nvSpPr>
          <p:spPr bwMode="auto">
            <a:xfrm rot="-1535936">
              <a:off x="3835371" y="1936738"/>
              <a:ext cx="1525588" cy="1741488"/>
            </a:xfrm>
            <a:prstGeom prst="line">
              <a:avLst/>
            </a:prstGeom>
            <a:noFill/>
            <a:ln w="12700">
              <a:solidFill>
                <a:srgbClr val="1313FF"/>
              </a:solidFill>
              <a:round/>
              <a:headEnd/>
              <a:tailEnd/>
            </a:ln>
          </p:spPr>
          <p:txBody>
            <a:bodyPr/>
            <a:lstStyle/>
            <a:p>
              <a:endParaRPr lang="ar-JO"/>
            </a:p>
          </p:txBody>
        </p:sp>
        <p:grpSp>
          <p:nvGrpSpPr>
            <p:cNvPr id="42001" name="Group 351"/>
            <p:cNvGrpSpPr>
              <a:grpSpLocks/>
            </p:cNvGrpSpPr>
            <p:nvPr/>
          </p:nvGrpSpPr>
          <p:grpSpPr bwMode="auto">
            <a:xfrm>
              <a:off x="738158" y="2014526"/>
              <a:ext cx="8089900" cy="2240356"/>
              <a:chOff x="738158" y="2014526"/>
              <a:chExt cx="8089900" cy="2240356"/>
            </a:xfrm>
          </p:grpSpPr>
          <p:sp>
            <p:nvSpPr>
              <p:cNvPr id="42002" name="Line 403"/>
              <p:cNvSpPr>
                <a:spLocks noChangeShapeType="1"/>
              </p:cNvSpPr>
              <p:nvPr/>
            </p:nvSpPr>
            <p:spPr bwMode="auto">
              <a:xfrm flipV="1">
                <a:off x="6834158" y="2225663"/>
                <a:ext cx="457200" cy="76200"/>
              </a:xfrm>
              <a:prstGeom prst="line">
                <a:avLst/>
              </a:prstGeom>
              <a:noFill/>
              <a:ln w="12700">
                <a:solidFill>
                  <a:srgbClr val="1313FF"/>
                </a:solidFill>
                <a:round/>
                <a:headEnd/>
                <a:tailEnd/>
              </a:ln>
            </p:spPr>
            <p:txBody>
              <a:bodyPr/>
              <a:lstStyle/>
              <a:p>
                <a:endParaRPr lang="ar-JO"/>
              </a:p>
            </p:txBody>
          </p:sp>
          <p:sp>
            <p:nvSpPr>
              <p:cNvPr id="42003" name="Line 404"/>
              <p:cNvSpPr>
                <a:spLocks noChangeShapeType="1"/>
              </p:cNvSpPr>
              <p:nvPr/>
            </p:nvSpPr>
            <p:spPr bwMode="auto">
              <a:xfrm flipV="1">
                <a:off x="7138958" y="2301863"/>
                <a:ext cx="457200" cy="76200"/>
              </a:xfrm>
              <a:prstGeom prst="line">
                <a:avLst/>
              </a:prstGeom>
              <a:noFill/>
              <a:ln w="12700">
                <a:solidFill>
                  <a:srgbClr val="1313FF"/>
                </a:solidFill>
                <a:round/>
                <a:headEnd/>
                <a:tailEnd/>
              </a:ln>
            </p:spPr>
            <p:txBody>
              <a:bodyPr/>
              <a:lstStyle/>
              <a:p>
                <a:endParaRPr lang="ar-JO"/>
              </a:p>
            </p:txBody>
          </p:sp>
          <p:sp>
            <p:nvSpPr>
              <p:cNvPr id="42004" name="Line 405"/>
              <p:cNvSpPr>
                <a:spLocks noChangeShapeType="1"/>
              </p:cNvSpPr>
              <p:nvPr/>
            </p:nvSpPr>
            <p:spPr bwMode="auto">
              <a:xfrm flipV="1">
                <a:off x="7443758" y="2301863"/>
                <a:ext cx="609600" cy="0"/>
              </a:xfrm>
              <a:prstGeom prst="line">
                <a:avLst/>
              </a:prstGeom>
              <a:noFill/>
              <a:ln w="12700">
                <a:solidFill>
                  <a:srgbClr val="1313FF"/>
                </a:solidFill>
                <a:round/>
                <a:headEnd/>
                <a:tailEnd/>
              </a:ln>
            </p:spPr>
            <p:txBody>
              <a:bodyPr/>
              <a:lstStyle/>
              <a:p>
                <a:endParaRPr lang="ar-JO"/>
              </a:p>
            </p:txBody>
          </p:sp>
          <p:sp>
            <p:nvSpPr>
              <p:cNvPr id="42005" name="Line 406"/>
              <p:cNvSpPr>
                <a:spLocks noChangeShapeType="1"/>
              </p:cNvSpPr>
              <p:nvPr/>
            </p:nvSpPr>
            <p:spPr bwMode="auto">
              <a:xfrm flipV="1">
                <a:off x="7824758" y="2301863"/>
                <a:ext cx="457200" cy="76200"/>
              </a:xfrm>
              <a:prstGeom prst="line">
                <a:avLst/>
              </a:prstGeom>
              <a:noFill/>
              <a:ln w="12700">
                <a:solidFill>
                  <a:srgbClr val="1313FF"/>
                </a:solidFill>
                <a:round/>
                <a:headEnd/>
                <a:tailEnd/>
              </a:ln>
            </p:spPr>
            <p:txBody>
              <a:bodyPr/>
              <a:lstStyle/>
              <a:p>
                <a:endParaRPr lang="ar-JO"/>
              </a:p>
            </p:txBody>
          </p:sp>
          <p:sp>
            <p:nvSpPr>
              <p:cNvPr id="42006" name="Line 407"/>
              <p:cNvSpPr>
                <a:spLocks noChangeShapeType="1"/>
              </p:cNvSpPr>
              <p:nvPr/>
            </p:nvSpPr>
            <p:spPr bwMode="auto">
              <a:xfrm rot="2372930" flipV="1">
                <a:off x="7391371" y="2233600"/>
                <a:ext cx="457200" cy="152400"/>
              </a:xfrm>
              <a:prstGeom prst="line">
                <a:avLst/>
              </a:prstGeom>
              <a:noFill/>
              <a:ln w="12700">
                <a:solidFill>
                  <a:srgbClr val="1313FF"/>
                </a:solidFill>
                <a:round/>
                <a:headEnd/>
                <a:tailEnd/>
              </a:ln>
            </p:spPr>
            <p:txBody>
              <a:bodyPr/>
              <a:lstStyle/>
              <a:p>
                <a:endParaRPr lang="ar-JO"/>
              </a:p>
            </p:txBody>
          </p:sp>
          <p:sp>
            <p:nvSpPr>
              <p:cNvPr id="42007" name="Line 408"/>
              <p:cNvSpPr>
                <a:spLocks noChangeShapeType="1"/>
              </p:cNvSpPr>
              <p:nvPr/>
            </p:nvSpPr>
            <p:spPr bwMode="auto">
              <a:xfrm rot="2372930" flipV="1">
                <a:off x="7550121" y="2174863"/>
                <a:ext cx="473075" cy="277813"/>
              </a:xfrm>
              <a:prstGeom prst="line">
                <a:avLst/>
              </a:prstGeom>
              <a:noFill/>
              <a:ln w="12700">
                <a:solidFill>
                  <a:srgbClr val="1313FF"/>
                </a:solidFill>
                <a:round/>
                <a:headEnd/>
                <a:tailEnd/>
              </a:ln>
            </p:spPr>
            <p:txBody>
              <a:bodyPr/>
              <a:lstStyle/>
              <a:p>
                <a:endParaRPr lang="ar-JO"/>
              </a:p>
            </p:txBody>
          </p:sp>
          <p:sp>
            <p:nvSpPr>
              <p:cNvPr id="42008" name="Line 409"/>
              <p:cNvSpPr>
                <a:spLocks noChangeShapeType="1"/>
              </p:cNvSpPr>
              <p:nvPr/>
            </p:nvSpPr>
            <p:spPr bwMode="auto">
              <a:xfrm rot="6109587" flipV="1">
                <a:off x="7024658" y="2255825"/>
                <a:ext cx="76200" cy="152400"/>
              </a:xfrm>
              <a:prstGeom prst="line">
                <a:avLst/>
              </a:prstGeom>
              <a:noFill/>
              <a:ln w="12700">
                <a:solidFill>
                  <a:srgbClr val="1313FF"/>
                </a:solidFill>
                <a:round/>
                <a:headEnd/>
                <a:tailEnd/>
              </a:ln>
            </p:spPr>
            <p:txBody>
              <a:bodyPr/>
              <a:lstStyle/>
              <a:p>
                <a:endParaRPr lang="ar-JO"/>
              </a:p>
            </p:txBody>
          </p:sp>
          <p:sp>
            <p:nvSpPr>
              <p:cNvPr id="42009" name="Line 410"/>
              <p:cNvSpPr>
                <a:spLocks noChangeShapeType="1"/>
              </p:cNvSpPr>
              <p:nvPr/>
            </p:nvSpPr>
            <p:spPr bwMode="auto">
              <a:xfrm rot="2372930" flipV="1">
                <a:off x="6970683" y="2241538"/>
                <a:ext cx="320675" cy="125413"/>
              </a:xfrm>
              <a:prstGeom prst="line">
                <a:avLst/>
              </a:prstGeom>
              <a:noFill/>
              <a:ln w="12700">
                <a:solidFill>
                  <a:srgbClr val="1313FF"/>
                </a:solidFill>
                <a:round/>
                <a:headEnd/>
                <a:tailEnd/>
              </a:ln>
            </p:spPr>
            <p:txBody>
              <a:bodyPr/>
              <a:lstStyle/>
              <a:p>
                <a:endParaRPr lang="ar-JO"/>
              </a:p>
            </p:txBody>
          </p:sp>
          <p:sp>
            <p:nvSpPr>
              <p:cNvPr id="42010" name="Line 413"/>
              <p:cNvSpPr>
                <a:spLocks noChangeShapeType="1"/>
              </p:cNvSpPr>
              <p:nvPr/>
            </p:nvSpPr>
            <p:spPr bwMode="auto">
              <a:xfrm rot="4863504" flipV="1">
                <a:off x="7996208" y="2214550"/>
                <a:ext cx="84138" cy="122238"/>
              </a:xfrm>
              <a:prstGeom prst="line">
                <a:avLst/>
              </a:prstGeom>
              <a:noFill/>
              <a:ln w="12700">
                <a:solidFill>
                  <a:srgbClr val="1313FF"/>
                </a:solidFill>
                <a:round/>
                <a:headEnd/>
                <a:tailEnd/>
              </a:ln>
            </p:spPr>
            <p:txBody>
              <a:bodyPr/>
              <a:lstStyle/>
              <a:p>
                <a:endParaRPr lang="ar-JO"/>
              </a:p>
            </p:txBody>
          </p:sp>
          <p:sp>
            <p:nvSpPr>
              <p:cNvPr id="42011" name="Line 414"/>
              <p:cNvSpPr>
                <a:spLocks noChangeShapeType="1"/>
              </p:cNvSpPr>
              <p:nvPr/>
            </p:nvSpPr>
            <p:spPr bwMode="auto">
              <a:xfrm rot="6661901" flipV="1">
                <a:off x="8301008" y="2255825"/>
                <a:ext cx="282575" cy="566738"/>
              </a:xfrm>
              <a:prstGeom prst="line">
                <a:avLst/>
              </a:prstGeom>
              <a:noFill/>
              <a:ln w="12700">
                <a:solidFill>
                  <a:srgbClr val="1313FF"/>
                </a:solidFill>
                <a:round/>
                <a:headEnd/>
                <a:tailEnd/>
              </a:ln>
            </p:spPr>
            <p:txBody>
              <a:bodyPr/>
              <a:lstStyle/>
              <a:p>
                <a:endParaRPr lang="ar-JO"/>
              </a:p>
            </p:txBody>
          </p:sp>
          <p:sp>
            <p:nvSpPr>
              <p:cNvPr id="42012" name="Line 415"/>
              <p:cNvSpPr>
                <a:spLocks noChangeShapeType="1"/>
              </p:cNvSpPr>
              <p:nvPr/>
            </p:nvSpPr>
            <p:spPr bwMode="auto">
              <a:xfrm rot="2372930" flipV="1">
                <a:off x="7097683" y="2182800"/>
                <a:ext cx="533400" cy="304800"/>
              </a:xfrm>
              <a:prstGeom prst="line">
                <a:avLst/>
              </a:prstGeom>
              <a:noFill/>
              <a:ln w="12700">
                <a:solidFill>
                  <a:srgbClr val="1313FF"/>
                </a:solidFill>
                <a:round/>
                <a:headEnd/>
                <a:tailEnd/>
              </a:ln>
            </p:spPr>
            <p:txBody>
              <a:bodyPr/>
              <a:lstStyle/>
              <a:p>
                <a:endParaRPr lang="ar-JO"/>
              </a:p>
            </p:txBody>
          </p:sp>
          <p:sp>
            <p:nvSpPr>
              <p:cNvPr id="42013" name="Line 416"/>
              <p:cNvSpPr>
                <a:spLocks noChangeShapeType="1"/>
              </p:cNvSpPr>
              <p:nvPr/>
            </p:nvSpPr>
            <p:spPr bwMode="auto">
              <a:xfrm rot="-2856037" flipH="1" flipV="1">
                <a:off x="6816695" y="2287575"/>
                <a:ext cx="139700" cy="30163"/>
              </a:xfrm>
              <a:prstGeom prst="line">
                <a:avLst/>
              </a:prstGeom>
              <a:noFill/>
              <a:ln w="12700">
                <a:solidFill>
                  <a:srgbClr val="1313FF"/>
                </a:solidFill>
                <a:round/>
                <a:headEnd/>
                <a:tailEnd/>
              </a:ln>
            </p:spPr>
            <p:txBody>
              <a:bodyPr/>
              <a:lstStyle/>
              <a:p>
                <a:endParaRPr lang="ar-JO"/>
              </a:p>
            </p:txBody>
          </p:sp>
          <p:sp>
            <p:nvSpPr>
              <p:cNvPr id="42014" name="Line 417"/>
              <p:cNvSpPr>
                <a:spLocks noChangeShapeType="1"/>
              </p:cNvSpPr>
              <p:nvPr/>
            </p:nvSpPr>
            <p:spPr bwMode="auto">
              <a:xfrm rot="1093882" flipV="1">
                <a:off x="6681758" y="2225663"/>
                <a:ext cx="457200" cy="152400"/>
              </a:xfrm>
              <a:prstGeom prst="line">
                <a:avLst/>
              </a:prstGeom>
              <a:noFill/>
              <a:ln w="12700">
                <a:solidFill>
                  <a:srgbClr val="1313FF"/>
                </a:solidFill>
                <a:round/>
                <a:headEnd/>
                <a:tailEnd/>
              </a:ln>
            </p:spPr>
            <p:txBody>
              <a:bodyPr/>
              <a:lstStyle/>
              <a:p>
                <a:endParaRPr lang="ar-JO"/>
              </a:p>
            </p:txBody>
          </p:sp>
          <p:sp>
            <p:nvSpPr>
              <p:cNvPr id="42015" name="Line 418"/>
              <p:cNvSpPr>
                <a:spLocks noChangeShapeType="1"/>
              </p:cNvSpPr>
              <p:nvPr/>
            </p:nvSpPr>
            <p:spPr bwMode="auto">
              <a:xfrm rot="1093882" flipV="1">
                <a:off x="7138958" y="2225663"/>
                <a:ext cx="457200" cy="152400"/>
              </a:xfrm>
              <a:prstGeom prst="line">
                <a:avLst/>
              </a:prstGeom>
              <a:noFill/>
              <a:ln w="12700">
                <a:solidFill>
                  <a:srgbClr val="1313FF"/>
                </a:solidFill>
                <a:round/>
                <a:headEnd/>
                <a:tailEnd/>
              </a:ln>
            </p:spPr>
            <p:txBody>
              <a:bodyPr/>
              <a:lstStyle/>
              <a:p>
                <a:endParaRPr lang="ar-JO"/>
              </a:p>
            </p:txBody>
          </p:sp>
          <p:sp>
            <p:nvSpPr>
              <p:cNvPr id="42016" name="Line 419"/>
              <p:cNvSpPr>
                <a:spLocks noChangeShapeType="1"/>
              </p:cNvSpPr>
              <p:nvPr/>
            </p:nvSpPr>
            <p:spPr bwMode="auto">
              <a:xfrm rot="1093882" flipV="1">
                <a:off x="7596158" y="2225663"/>
                <a:ext cx="457200" cy="152400"/>
              </a:xfrm>
              <a:prstGeom prst="line">
                <a:avLst/>
              </a:prstGeom>
              <a:noFill/>
              <a:ln w="12700">
                <a:solidFill>
                  <a:srgbClr val="1313FF"/>
                </a:solidFill>
                <a:round/>
                <a:headEnd/>
                <a:tailEnd/>
              </a:ln>
            </p:spPr>
            <p:txBody>
              <a:bodyPr/>
              <a:lstStyle/>
              <a:p>
                <a:endParaRPr lang="ar-JO"/>
              </a:p>
            </p:txBody>
          </p:sp>
          <p:sp>
            <p:nvSpPr>
              <p:cNvPr id="42017" name="Line 420"/>
              <p:cNvSpPr>
                <a:spLocks noChangeShapeType="1"/>
              </p:cNvSpPr>
              <p:nvPr/>
            </p:nvSpPr>
            <p:spPr bwMode="auto">
              <a:xfrm rot="21115969" flipV="1">
                <a:off x="7818408" y="2290750"/>
                <a:ext cx="304800" cy="76200"/>
              </a:xfrm>
              <a:prstGeom prst="line">
                <a:avLst/>
              </a:prstGeom>
              <a:noFill/>
              <a:ln w="12700">
                <a:solidFill>
                  <a:srgbClr val="1313FF"/>
                </a:solidFill>
                <a:round/>
                <a:headEnd/>
                <a:tailEnd/>
              </a:ln>
            </p:spPr>
            <p:txBody>
              <a:bodyPr/>
              <a:lstStyle/>
              <a:p>
                <a:endParaRPr lang="ar-JO"/>
              </a:p>
            </p:txBody>
          </p:sp>
          <p:sp>
            <p:nvSpPr>
              <p:cNvPr id="42018" name="Line 421"/>
              <p:cNvSpPr>
                <a:spLocks noChangeShapeType="1"/>
              </p:cNvSpPr>
              <p:nvPr/>
            </p:nvSpPr>
            <p:spPr bwMode="auto">
              <a:xfrm rot="19544076" flipV="1">
                <a:off x="6930996" y="2276463"/>
                <a:ext cx="76200" cy="76200"/>
              </a:xfrm>
              <a:prstGeom prst="line">
                <a:avLst/>
              </a:prstGeom>
              <a:noFill/>
              <a:ln w="12700">
                <a:solidFill>
                  <a:srgbClr val="1313FF"/>
                </a:solidFill>
                <a:round/>
                <a:headEnd/>
                <a:tailEnd/>
              </a:ln>
            </p:spPr>
            <p:txBody>
              <a:bodyPr/>
              <a:lstStyle/>
              <a:p>
                <a:endParaRPr lang="ar-JO"/>
              </a:p>
            </p:txBody>
          </p:sp>
          <p:sp>
            <p:nvSpPr>
              <p:cNvPr id="42019" name="Line 422"/>
              <p:cNvSpPr>
                <a:spLocks noChangeShapeType="1"/>
              </p:cNvSpPr>
              <p:nvPr/>
            </p:nvSpPr>
            <p:spPr bwMode="auto">
              <a:xfrm rot="19544076" flipV="1">
                <a:off x="7800946" y="2305038"/>
                <a:ext cx="195263" cy="17463"/>
              </a:xfrm>
              <a:prstGeom prst="line">
                <a:avLst/>
              </a:prstGeom>
              <a:noFill/>
              <a:ln w="12700">
                <a:solidFill>
                  <a:srgbClr val="1313FF"/>
                </a:solidFill>
                <a:round/>
                <a:headEnd/>
                <a:tailEnd/>
              </a:ln>
            </p:spPr>
            <p:txBody>
              <a:bodyPr/>
              <a:lstStyle/>
              <a:p>
                <a:endParaRPr lang="ar-JO"/>
              </a:p>
            </p:txBody>
          </p:sp>
          <p:sp>
            <p:nvSpPr>
              <p:cNvPr id="42020" name="Line 423"/>
              <p:cNvSpPr>
                <a:spLocks noChangeShapeType="1"/>
              </p:cNvSpPr>
              <p:nvPr/>
            </p:nvSpPr>
            <p:spPr bwMode="auto">
              <a:xfrm rot="1093882" flipV="1">
                <a:off x="8040658" y="2298688"/>
                <a:ext cx="457200" cy="76200"/>
              </a:xfrm>
              <a:prstGeom prst="line">
                <a:avLst/>
              </a:prstGeom>
              <a:noFill/>
              <a:ln w="12700">
                <a:solidFill>
                  <a:srgbClr val="1313FF"/>
                </a:solidFill>
                <a:round/>
                <a:headEnd/>
                <a:tailEnd/>
              </a:ln>
            </p:spPr>
            <p:txBody>
              <a:bodyPr/>
              <a:lstStyle/>
              <a:p>
                <a:endParaRPr lang="ar-JO"/>
              </a:p>
            </p:txBody>
          </p:sp>
          <p:sp>
            <p:nvSpPr>
              <p:cNvPr id="42021" name="Line 424"/>
              <p:cNvSpPr>
                <a:spLocks noChangeShapeType="1"/>
              </p:cNvSpPr>
              <p:nvPr/>
            </p:nvSpPr>
            <p:spPr bwMode="auto">
              <a:xfrm rot="19544076" flipV="1">
                <a:off x="6251546" y="2578088"/>
                <a:ext cx="1366838" cy="336550"/>
              </a:xfrm>
              <a:prstGeom prst="line">
                <a:avLst/>
              </a:prstGeom>
              <a:noFill/>
              <a:ln w="12700">
                <a:solidFill>
                  <a:srgbClr val="1313FF"/>
                </a:solidFill>
                <a:round/>
                <a:headEnd/>
                <a:tailEnd/>
              </a:ln>
            </p:spPr>
            <p:txBody>
              <a:bodyPr/>
              <a:lstStyle/>
              <a:p>
                <a:endParaRPr lang="ar-JO"/>
              </a:p>
            </p:txBody>
          </p:sp>
          <p:sp>
            <p:nvSpPr>
              <p:cNvPr id="42022" name="Line 425"/>
              <p:cNvSpPr>
                <a:spLocks noChangeShapeType="1"/>
              </p:cNvSpPr>
              <p:nvPr/>
            </p:nvSpPr>
            <p:spPr bwMode="auto">
              <a:xfrm rot="19544076" flipV="1">
                <a:off x="7332633" y="2363775"/>
                <a:ext cx="487363" cy="71438"/>
              </a:xfrm>
              <a:prstGeom prst="line">
                <a:avLst/>
              </a:prstGeom>
              <a:noFill/>
              <a:ln w="12700">
                <a:solidFill>
                  <a:srgbClr val="1313FF"/>
                </a:solidFill>
                <a:round/>
                <a:headEnd/>
                <a:tailEnd/>
              </a:ln>
            </p:spPr>
            <p:txBody>
              <a:bodyPr/>
              <a:lstStyle/>
              <a:p>
                <a:endParaRPr lang="ar-JO"/>
              </a:p>
            </p:txBody>
          </p:sp>
          <p:sp>
            <p:nvSpPr>
              <p:cNvPr id="42023" name="Line 426"/>
              <p:cNvSpPr>
                <a:spLocks noChangeShapeType="1"/>
              </p:cNvSpPr>
              <p:nvPr/>
            </p:nvSpPr>
            <p:spPr bwMode="auto">
              <a:xfrm rot="21115969" flipV="1">
                <a:off x="6456333" y="2395525"/>
                <a:ext cx="1839913" cy="287338"/>
              </a:xfrm>
              <a:prstGeom prst="line">
                <a:avLst/>
              </a:prstGeom>
              <a:noFill/>
              <a:ln w="12700">
                <a:solidFill>
                  <a:srgbClr val="1313FF"/>
                </a:solidFill>
                <a:round/>
                <a:headEnd/>
                <a:tailEnd/>
              </a:ln>
            </p:spPr>
            <p:txBody>
              <a:bodyPr/>
              <a:lstStyle/>
              <a:p>
                <a:endParaRPr lang="ar-JO"/>
              </a:p>
            </p:txBody>
          </p:sp>
          <p:sp>
            <p:nvSpPr>
              <p:cNvPr id="42024" name="Line 427"/>
              <p:cNvSpPr>
                <a:spLocks noChangeShapeType="1"/>
              </p:cNvSpPr>
              <p:nvPr/>
            </p:nvSpPr>
            <p:spPr bwMode="auto">
              <a:xfrm rot="2138229">
                <a:off x="7535833" y="2141525"/>
                <a:ext cx="20638" cy="1547813"/>
              </a:xfrm>
              <a:prstGeom prst="line">
                <a:avLst/>
              </a:prstGeom>
              <a:noFill/>
              <a:ln w="12700">
                <a:solidFill>
                  <a:srgbClr val="1313FF"/>
                </a:solidFill>
                <a:round/>
                <a:headEnd/>
                <a:tailEnd/>
              </a:ln>
            </p:spPr>
            <p:txBody>
              <a:bodyPr/>
              <a:lstStyle/>
              <a:p>
                <a:endParaRPr lang="ar-JO"/>
              </a:p>
            </p:txBody>
          </p:sp>
          <p:sp>
            <p:nvSpPr>
              <p:cNvPr id="42025" name="Line 428"/>
              <p:cNvSpPr>
                <a:spLocks noChangeShapeType="1"/>
              </p:cNvSpPr>
              <p:nvPr/>
            </p:nvSpPr>
            <p:spPr bwMode="auto">
              <a:xfrm rot="-4208110">
                <a:off x="6497608" y="2328850"/>
                <a:ext cx="1228725" cy="965200"/>
              </a:xfrm>
              <a:prstGeom prst="line">
                <a:avLst/>
              </a:prstGeom>
              <a:noFill/>
              <a:ln w="12700">
                <a:solidFill>
                  <a:srgbClr val="1313FF"/>
                </a:solidFill>
                <a:round/>
                <a:headEnd/>
                <a:tailEnd/>
              </a:ln>
            </p:spPr>
            <p:txBody>
              <a:bodyPr/>
              <a:lstStyle/>
              <a:p>
                <a:endParaRPr lang="ar-JO"/>
              </a:p>
            </p:txBody>
          </p:sp>
          <p:sp>
            <p:nvSpPr>
              <p:cNvPr id="42026" name="Line 429"/>
              <p:cNvSpPr>
                <a:spLocks noChangeShapeType="1"/>
              </p:cNvSpPr>
              <p:nvPr/>
            </p:nvSpPr>
            <p:spPr bwMode="auto">
              <a:xfrm rot="-4208110">
                <a:off x="6834158" y="2606663"/>
                <a:ext cx="1143000" cy="1143000"/>
              </a:xfrm>
              <a:prstGeom prst="line">
                <a:avLst/>
              </a:prstGeom>
              <a:noFill/>
              <a:ln w="12700">
                <a:solidFill>
                  <a:srgbClr val="1313FF"/>
                </a:solidFill>
                <a:round/>
                <a:headEnd/>
                <a:tailEnd/>
              </a:ln>
            </p:spPr>
            <p:txBody>
              <a:bodyPr/>
              <a:lstStyle/>
              <a:p>
                <a:endParaRPr lang="ar-JO"/>
              </a:p>
            </p:txBody>
          </p:sp>
          <p:sp>
            <p:nvSpPr>
              <p:cNvPr id="42027" name="Line 430"/>
              <p:cNvSpPr>
                <a:spLocks noChangeShapeType="1"/>
              </p:cNvSpPr>
              <p:nvPr/>
            </p:nvSpPr>
            <p:spPr bwMode="auto">
              <a:xfrm rot="-9813461">
                <a:off x="7107208" y="2436800"/>
                <a:ext cx="838200" cy="838200"/>
              </a:xfrm>
              <a:prstGeom prst="line">
                <a:avLst/>
              </a:prstGeom>
              <a:noFill/>
              <a:ln w="12700">
                <a:solidFill>
                  <a:srgbClr val="1313FF"/>
                </a:solidFill>
                <a:round/>
                <a:headEnd/>
                <a:tailEnd/>
              </a:ln>
            </p:spPr>
            <p:txBody>
              <a:bodyPr/>
              <a:lstStyle/>
              <a:p>
                <a:endParaRPr lang="ar-JO"/>
              </a:p>
            </p:txBody>
          </p:sp>
          <p:sp>
            <p:nvSpPr>
              <p:cNvPr id="42028" name="Line 431"/>
              <p:cNvSpPr>
                <a:spLocks noChangeShapeType="1"/>
              </p:cNvSpPr>
              <p:nvPr/>
            </p:nvSpPr>
            <p:spPr bwMode="auto">
              <a:xfrm rot="-6142126">
                <a:off x="7323108" y="2041513"/>
                <a:ext cx="7938" cy="833438"/>
              </a:xfrm>
              <a:prstGeom prst="line">
                <a:avLst/>
              </a:prstGeom>
              <a:noFill/>
              <a:ln w="12700">
                <a:solidFill>
                  <a:srgbClr val="1313FF"/>
                </a:solidFill>
                <a:round/>
                <a:headEnd/>
                <a:tailEnd/>
              </a:ln>
            </p:spPr>
            <p:txBody>
              <a:bodyPr/>
              <a:lstStyle/>
              <a:p>
                <a:endParaRPr lang="ar-JO"/>
              </a:p>
            </p:txBody>
          </p:sp>
          <p:sp>
            <p:nvSpPr>
              <p:cNvPr id="42029" name="Line 432"/>
              <p:cNvSpPr>
                <a:spLocks noChangeShapeType="1"/>
              </p:cNvSpPr>
              <p:nvPr/>
            </p:nvSpPr>
            <p:spPr bwMode="auto">
              <a:xfrm rot="-9813461">
                <a:off x="7270721" y="2362188"/>
                <a:ext cx="838200" cy="914400"/>
              </a:xfrm>
              <a:prstGeom prst="line">
                <a:avLst/>
              </a:prstGeom>
              <a:noFill/>
              <a:ln w="12700">
                <a:solidFill>
                  <a:srgbClr val="1313FF"/>
                </a:solidFill>
                <a:round/>
                <a:headEnd/>
                <a:tailEnd/>
              </a:ln>
            </p:spPr>
            <p:txBody>
              <a:bodyPr/>
              <a:lstStyle/>
              <a:p>
                <a:endParaRPr lang="ar-JO"/>
              </a:p>
            </p:txBody>
          </p:sp>
          <p:sp>
            <p:nvSpPr>
              <p:cNvPr id="42030" name="Line 433"/>
              <p:cNvSpPr>
                <a:spLocks noChangeShapeType="1"/>
              </p:cNvSpPr>
              <p:nvPr/>
            </p:nvSpPr>
            <p:spPr bwMode="auto">
              <a:xfrm rot="-9813461">
                <a:off x="6326158" y="2663813"/>
                <a:ext cx="912813" cy="771525"/>
              </a:xfrm>
              <a:prstGeom prst="line">
                <a:avLst/>
              </a:prstGeom>
              <a:noFill/>
              <a:ln w="12700">
                <a:solidFill>
                  <a:srgbClr val="1313FF"/>
                </a:solidFill>
                <a:round/>
                <a:headEnd/>
                <a:tailEnd/>
              </a:ln>
            </p:spPr>
            <p:txBody>
              <a:bodyPr/>
              <a:lstStyle/>
              <a:p>
                <a:endParaRPr lang="ar-JO"/>
              </a:p>
            </p:txBody>
          </p:sp>
          <p:sp>
            <p:nvSpPr>
              <p:cNvPr id="42031" name="Line 434"/>
              <p:cNvSpPr>
                <a:spLocks noChangeShapeType="1"/>
              </p:cNvSpPr>
              <p:nvPr/>
            </p:nvSpPr>
            <p:spPr bwMode="auto">
              <a:xfrm rot="11821325" flipH="1">
                <a:off x="7045296" y="2220900"/>
                <a:ext cx="28575" cy="1368425"/>
              </a:xfrm>
              <a:prstGeom prst="line">
                <a:avLst/>
              </a:prstGeom>
              <a:noFill/>
              <a:ln w="12700">
                <a:solidFill>
                  <a:srgbClr val="1313FF"/>
                </a:solidFill>
                <a:round/>
                <a:headEnd/>
                <a:tailEnd/>
              </a:ln>
            </p:spPr>
            <p:txBody>
              <a:bodyPr/>
              <a:lstStyle/>
              <a:p>
                <a:endParaRPr lang="ar-JO"/>
              </a:p>
            </p:txBody>
          </p:sp>
          <p:sp>
            <p:nvSpPr>
              <p:cNvPr id="42032" name="Line 435"/>
              <p:cNvSpPr>
                <a:spLocks noChangeShapeType="1"/>
              </p:cNvSpPr>
              <p:nvPr/>
            </p:nvSpPr>
            <p:spPr bwMode="auto">
              <a:xfrm rot="12382321" flipH="1">
                <a:off x="6775421" y="2144700"/>
                <a:ext cx="428625" cy="1446213"/>
              </a:xfrm>
              <a:prstGeom prst="line">
                <a:avLst/>
              </a:prstGeom>
              <a:noFill/>
              <a:ln w="12700">
                <a:solidFill>
                  <a:srgbClr val="1313FF"/>
                </a:solidFill>
                <a:round/>
                <a:headEnd/>
                <a:tailEnd/>
              </a:ln>
            </p:spPr>
            <p:txBody>
              <a:bodyPr/>
              <a:lstStyle/>
              <a:p>
                <a:endParaRPr lang="ar-JO"/>
              </a:p>
            </p:txBody>
          </p:sp>
          <p:sp>
            <p:nvSpPr>
              <p:cNvPr id="42033" name="Line 436"/>
              <p:cNvSpPr>
                <a:spLocks noChangeShapeType="1"/>
              </p:cNvSpPr>
              <p:nvPr/>
            </p:nvSpPr>
            <p:spPr bwMode="auto">
              <a:xfrm rot="-9813461">
                <a:off x="6696046" y="2498713"/>
                <a:ext cx="1044575" cy="952500"/>
              </a:xfrm>
              <a:prstGeom prst="line">
                <a:avLst/>
              </a:prstGeom>
              <a:noFill/>
              <a:ln w="12700">
                <a:solidFill>
                  <a:srgbClr val="1313FF"/>
                </a:solidFill>
                <a:round/>
                <a:headEnd/>
                <a:tailEnd/>
              </a:ln>
            </p:spPr>
            <p:txBody>
              <a:bodyPr/>
              <a:lstStyle/>
              <a:p>
                <a:endParaRPr lang="ar-JO"/>
              </a:p>
            </p:txBody>
          </p:sp>
          <p:sp>
            <p:nvSpPr>
              <p:cNvPr id="42034" name="Line 437"/>
              <p:cNvSpPr>
                <a:spLocks noChangeShapeType="1"/>
              </p:cNvSpPr>
              <p:nvPr/>
            </p:nvSpPr>
            <p:spPr bwMode="auto">
              <a:xfrm rot="-6287452">
                <a:off x="6886545" y="2489188"/>
                <a:ext cx="914400" cy="1011238"/>
              </a:xfrm>
              <a:prstGeom prst="line">
                <a:avLst/>
              </a:prstGeom>
              <a:noFill/>
              <a:ln w="12700">
                <a:solidFill>
                  <a:srgbClr val="1313FF"/>
                </a:solidFill>
                <a:round/>
                <a:headEnd/>
                <a:tailEnd/>
              </a:ln>
            </p:spPr>
            <p:txBody>
              <a:bodyPr/>
              <a:lstStyle/>
              <a:p>
                <a:endParaRPr lang="ar-JO"/>
              </a:p>
            </p:txBody>
          </p:sp>
          <p:sp>
            <p:nvSpPr>
              <p:cNvPr id="42035" name="Line 438"/>
              <p:cNvSpPr>
                <a:spLocks noChangeShapeType="1"/>
              </p:cNvSpPr>
              <p:nvPr/>
            </p:nvSpPr>
            <p:spPr bwMode="auto">
              <a:xfrm flipH="1">
                <a:off x="6681758" y="2378063"/>
                <a:ext cx="152400" cy="1143000"/>
              </a:xfrm>
              <a:prstGeom prst="line">
                <a:avLst/>
              </a:prstGeom>
              <a:noFill/>
              <a:ln w="12700">
                <a:solidFill>
                  <a:srgbClr val="1313FF"/>
                </a:solidFill>
                <a:round/>
                <a:headEnd/>
                <a:tailEnd/>
              </a:ln>
            </p:spPr>
            <p:txBody>
              <a:bodyPr/>
              <a:lstStyle/>
              <a:p>
                <a:endParaRPr lang="ar-JO"/>
              </a:p>
            </p:txBody>
          </p:sp>
          <p:sp>
            <p:nvSpPr>
              <p:cNvPr id="42036" name="Line 439"/>
              <p:cNvSpPr>
                <a:spLocks noChangeShapeType="1"/>
              </p:cNvSpPr>
              <p:nvPr/>
            </p:nvSpPr>
            <p:spPr bwMode="auto">
              <a:xfrm rot="-5537435">
                <a:off x="6383308" y="2686038"/>
                <a:ext cx="604838" cy="460375"/>
              </a:xfrm>
              <a:prstGeom prst="line">
                <a:avLst/>
              </a:prstGeom>
              <a:noFill/>
              <a:ln w="12700">
                <a:solidFill>
                  <a:srgbClr val="1313FF"/>
                </a:solidFill>
                <a:round/>
                <a:headEnd/>
                <a:tailEnd/>
              </a:ln>
            </p:spPr>
            <p:txBody>
              <a:bodyPr/>
              <a:lstStyle/>
              <a:p>
                <a:endParaRPr lang="ar-JO"/>
              </a:p>
            </p:txBody>
          </p:sp>
          <p:sp>
            <p:nvSpPr>
              <p:cNvPr id="42037" name="Line 440"/>
              <p:cNvSpPr>
                <a:spLocks noChangeShapeType="1"/>
              </p:cNvSpPr>
              <p:nvPr/>
            </p:nvSpPr>
            <p:spPr bwMode="auto">
              <a:xfrm rot="4816385">
                <a:off x="6402358" y="2282813"/>
                <a:ext cx="752475" cy="806450"/>
              </a:xfrm>
              <a:prstGeom prst="line">
                <a:avLst/>
              </a:prstGeom>
              <a:noFill/>
              <a:ln w="12700">
                <a:solidFill>
                  <a:srgbClr val="1313FF"/>
                </a:solidFill>
                <a:round/>
                <a:headEnd/>
                <a:tailEnd/>
              </a:ln>
            </p:spPr>
            <p:txBody>
              <a:bodyPr/>
              <a:lstStyle/>
              <a:p>
                <a:endParaRPr lang="ar-JO"/>
              </a:p>
            </p:txBody>
          </p:sp>
          <p:sp>
            <p:nvSpPr>
              <p:cNvPr id="42038" name="Line 441"/>
              <p:cNvSpPr>
                <a:spLocks noChangeShapeType="1"/>
              </p:cNvSpPr>
              <p:nvPr/>
            </p:nvSpPr>
            <p:spPr bwMode="auto">
              <a:xfrm rot="6051720">
                <a:off x="6689695" y="2355838"/>
                <a:ext cx="1066800" cy="1371600"/>
              </a:xfrm>
              <a:prstGeom prst="line">
                <a:avLst/>
              </a:prstGeom>
              <a:noFill/>
              <a:ln w="12700">
                <a:solidFill>
                  <a:srgbClr val="1313FF"/>
                </a:solidFill>
                <a:round/>
                <a:headEnd/>
                <a:tailEnd/>
              </a:ln>
            </p:spPr>
            <p:txBody>
              <a:bodyPr/>
              <a:lstStyle/>
              <a:p>
                <a:endParaRPr lang="ar-JO"/>
              </a:p>
            </p:txBody>
          </p:sp>
          <p:sp>
            <p:nvSpPr>
              <p:cNvPr id="42039" name="Line 442"/>
              <p:cNvSpPr>
                <a:spLocks noChangeShapeType="1"/>
              </p:cNvSpPr>
              <p:nvPr/>
            </p:nvSpPr>
            <p:spPr bwMode="auto">
              <a:xfrm rot="5576752">
                <a:off x="6624608" y="2219313"/>
                <a:ext cx="1196975" cy="1390650"/>
              </a:xfrm>
              <a:prstGeom prst="line">
                <a:avLst/>
              </a:prstGeom>
              <a:noFill/>
              <a:ln w="12700">
                <a:solidFill>
                  <a:srgbClr val="1313FF"/>
                </a:solidFill>
                <a:round/>
                <a:headEnd/>
                <a:tailEnd/>
              </a:ln>
            </p:spPr>
            <p:txBody>
              <a:bodyPr/>
              <a:lstStyle/>
              <a:p>
                <a:endParaRPr lang="ar-JO"/>
              </a:p>
            </p:txBody>
          </p:sp>
          <p:sp>
            <p:nvSpPr>
              <p:cNvPr id="42040" name="Line 443"/>
              <p:cNvSpPr>
                <a:spLocks noChangeShapeType="1"/>
              </p:cNvSpPr>
              <p:nvPr/>
            </p:nvSpPr>
            <p:spPr bwMode="auto">
              <a:xfrm rot="-10097023">
                <a:off x="6445221" y="2452675"/>
                <a:ext cx="1065213" cy="996950"/>
              </a:xfrm>
              <a:prstGeom prst="line">
                <a:avLst/>
              </a:prstGeom>
              <a:noFill/>
              <a:ln w="12700">
                <a:solidFill>
                  <a:srgbClr val="1313FF"/>
                </a:solidFill>
                <a:round/>
                <a:headEnd/>
                <a:tailEnd/>
              </a:ln>
            </p:spPr>
            <p:txBody>
              <a:bodyPr/>
              <a:lstStyle/>
              <a:p>
                <a:endParaRPr lang="ar-JO"/>
              </a:p>
            </p:txBody>
          </p:sp>
          <p:sp>
            <p:nvSpPr>
              <p:cNvPr id="42041" name="Line 444"/>
              <p:cNvSpPr>
                <a:spLocks noChangeShapeType="1"/>
              </p:cNvSpPr>
              <p:nvPr/>
            </p:nvSpPr>
            <p:spPr bwMode="auto">
              <a:xfrm rot="9766457">
                <a:off x="6656358" y="2619363"/>
                <a:ext cx="1192213" cy="1149350"/>
              </a:xfrm>
              <a:prstGeom prst="line">
                <a:avLst/>
              </a:prstGeom>
              <a:noFill/>
              <a:ln w="12700">
                <a:solidFill>
                  <a:srgbClr val="1313FF"/>
                </a:solidFill>
                <a:round/>
                <a:headEnd/>
                <a:tailEnd/>
              </a:ln>
            </p:spPr>
            <p:txBody>
              <a:bodyPr/>
              <a:lstStyle/>
              <a:p>
                <a:endParaRPr lang="ar-JO"/>
              </a:p>
            </p:txBody>
          </p:sp>
          <p:sp>
            <p:nvSpPr>
              <p:cNvPr id="42042" name="Line 445"/>
              <p:cNvSpPr>
                <a:spLocks noChangeShapeType="1"/>
              </p:cNvSpPr>
              <p:nvPr/>
            </p:nvSpPr>
            <p:spPr bwMode="auto">
              <a:xfrm rot="4950289">
                <a:off x="7308820" y="1931975"/>
                <a:ext cx="582613" cy="2228850"/>
              </a:xfrm>
              <a:prstGeom prst="line">
                <a:avLst/>
              </a:prstGeom>
              <a:noFill/>
              <a:ln w="12700">
                <a:solidFill>
                  <a:srgbClr val="1313FF"/>
                </a:solidFill>
                <a:round/>
                <a:headEnd/>
                <a:tailEnd/>
              </a:ln>
            </p:spPr>
            <p:txBody>
              <a:bodyPr/>
              <a:lstStyle/>
              <a:p>
                <a:endParaRPr lang="ar-JO"/>
              </a:p>
            </p:txBody>
          </p:sp>
          <p:sp>
            <p:nvSpPr>
              <p:cNvPr id="42043" name="Line 446"/>
              <p:cNvSpPr>
                <a:spLocks noChangeShapeType="1"/>
              </p:cNvSpPr>
              <p:nvPr/>
            </p:nvSpPr>
            <p:spPr bwMode="auto">
              <a:xfrm rot="8691080">
                <a:off x="6794471" y="2298688"/>
                <a:ext cx="1527175" cy="1674813"/>
              </a:xfrm>
              <a:prstGeom prst="line">
                <a:avLst/>
              </a:prstGeom>
              <a:noFill/>
              <a:ln w="12700">
                <a:solidFill>
                  <a:srgbClr val="1313FF"/>
                </a:solidFill>
                <a:round/>
                <a:headEnd/>
                <a:tailEnd/>
              </a:ln>
            </p:spPr>
            <p:txBody>
              <a:bodyPr/>
              <a:lstStyle/>
              <a:p>
                <a:endParaRPr lang="ar-JO"/>
              </a:p>
            </p:txBody>
          </p:sp>
          <p:sp>
            <p:nvSpPr>
              <p:cNvPr id="42044" name="Line 447"/>
              <p:cNvSpPr>
                <a:spLocks noChangeShapeType="1"/>
              </p:cNvSpPr>
              <p:nvPr/>
            </p:nvSpPr>
            <p:spPr bwMode="auto">
              <a:xfrm rot="1901637" flipH="1">
                <a:off x="6830983" y="2220900"/>
                <a:ext cx="228600" cy="1403350"/>
              </a:xfrm>
              <a:prstGeom prst="line">
                <a:avLst/>
              </a:prstGeom>
              <a:noFill/>
              <a:ln w="12700">
                <a:solidFill>
                  <a:srgbClr val="1313FF"/>
                </a:solidFill>
                <a:round/>
                <a:headEnd/>
                <a:tailEnd/>
              </a:ln>
            </p:spPr>
            <p:txBody>
              <a:bodyPr/>
              <a:lstStyle/>
              <a:p>
                <a:endParaRPr lang="ar-JO"/>
              </a:p>
            </p:txBody>
          </p:sp>
          <p:sp>
            <p:nvSpPr>
              <p:cNvPr id="42045" name="Line 448"/>
              <p:cNvSpPr>
                <a:spLocks noChangeShapeType="1"/>
              </p:cNvSpPr>
              <p:nvPr/>
            </p:nvSpPr>
            <p:spPr bwMode="auto">
              <a:xfrm rot="6442666">
                <a:off x="6708745" y="2397113"/>
                <a:ext cx="1109663" cy="1006475"/>
              </a:xfrm>
              <a:prstGeom prst="line">
                <a:avLst/>
              </a:prstGeom>
              <a:noFill/>
              <a:ln w="12700">
                <a:solidFill>
                  <a:srgbClr val="1313FF"/>
                </a:solidFill>
                <a:round/>
                <a:headEnd/>
                <a:tailEnd/>
              </a:ln>
            </p:spPr>
            <p:txBody>
              <a:bodyPr/>
              <a:lstStyle/>
              <a:p>
                <a:endParaRPr lang="ar-JO"/>
              </a:p>
            </p:txBody>
          </p:sp>
          <p:sp>
            <p:nvSpPr>
              <p:cNvPr id="42046" name="Line 449"/>
              <p:cNvSpPr>
                <a:spLocks noChangeShapeType="1"/>
              </p:cNvSpPr>
              <p:nvPr/>
            </p:nvSpPr>
            <p:spPr bwMode="auto">
              <a:xfrm rot="623726">
                <a:off x="7456458" y="2224075"/>
                <a:ext cx="28575" cy="1374775"/>
              </a:xfrm>
              <a:prstGeom prst="line">
                <a:avLst/>
              </a:prstGeom>
              <a:noFill/>
              <a:ln w="12700">
                <a:solidFill>
                  <a:srgbClr val="1313FF"/>
                </a:solidFill>
                <a:round/>
                <a:headEnd/>
                <a:tailEnd/>
              </a:ln>
            </p:spPr>
            <p:txBody>
              <a:bodyPr/>
              <a:lstStyle/>
              <a:p>
                <a:endParaRPr lang="ar-JO"/>
              </a:p>
            </p:txBody>
          </p:sp>
          <p:sp>
            <p:nvSpPr>
              <p:cNvPr id="42047" name="Line 450"/>
              <p:cNvSpPr>
                <a:spLocks noChangeShapeType="1"/>
              </p:cNvSpPr>
              <p:nvPr/>
            </p:nvSpPr>
            <p:spPr bwMode="auto">
              <a:xfrm rot="8761337">
                <a:off x="7070696" y="2068500"/>
                <a:ext cx="371475" cy="1730375"/>
              </a:xfrm>
              <a:prstGeom prst="line">
                <a:avLst/>
              </a:prstGeom>
              <a:noFill/>
              <a:ln w="12700">
                <a:solidFill>
                  <a:srgbClr val="1313FF"/>
                </a:solidFill>
                <a:round/>
                <a:headEnd/>
                <a:tailEnd/>
              </a:ln>
            </p:spPr>
            <p:txBody>
              <a:bodyPr/>
              <a:lstStyle/>
              <a:p>
                <a:endParaRPr lang="ar-JO"/>
              </a:p>
            </p:txBody>
          </p:sp>
          <p:sp>
            <p:nvSpPr>
              <p:cNvPr id="42048" name="Line 451"/>
              <p:cNvSpPr>
                <a:spLocks noChangeShapeType="1"/>
              </p:cNvSpPr>
              <p:nvPr/>
            </p:nvSpPr>
            <p:spPr bwMode="auto">
              <a:xfrm rot="4071278">
                <a:off x="7299295" y="2293925"/>
                <a:ext cx="4763" cy="1677988"/>
              </a:xfrm>
              <a:prstGeom prst="line">
                <a:avLst/>
              </a:prstGeom>
              <a:noFill/>
              <a:ln w="12700">
                <a:solidFill>
                  <a:srgbClr val="1313FF"/>
                </a:solidFill>
                <a:round/>
                <a:headEnd/>
                <a:tailEnd/>
              </a:ln>
            </p:spPr>
            <p:txBody>
              <a:bodyPr/>
              <a:lstStyle/>
              <a:p>
                <a:endParaRPr lang="ar-JO"/>
              </a:p>
            </p:txBody>
          </p:sp>
          <p:sp>
            <p:nvSpPr>
              <p:cNvPr id="42049" name="Line 452"/>
              <p:cNvSpPr>
                <a:spLocks noChangeShapeType="1"/>
              </p:cNvSpPr>
              <p:nvPr/>
            </p:nvSpPr>
            <p:spPr bwMode="auto">
              <a:xfrm rot="1372803" flipH="1">
                <a:off x="7108796" y="2233600"/>
                <a:ext cx="100013" cy="1371600"/>
              </a:xfrm>
              <a:prstGeom prst="line">
                <a:avLst/>
              </a:prstGeom>
              <a:noFill/>
              <a:ln w="12700">
                <a:solidFill>
                  <a:srgbClr val="1313FF"/>
                </a:solidFill>
                <a:round/>
                <a:headEnd/>
                <a:tailEnd/>
              </a:ln>
            </p:spPr>
            <p:txBody>
              <a:bodyPr/>
              <a:lstStyle/>
              <a:p>
                <a:endParaRPr lang="ar-JO"/>
              </a:p>
            </p:txBody>
          </p:sp>
          <p:sp>
            <p:nvSpPr>
              <p:cNvPr id="42050" name="Line 453"/>
              <p:cNvSpPr>
                <a:spLocks noChangeShapeType="1"/>
              </p:cNvSpPr>
              <p:nvPr/>
            </p:nvSpPr>
            <p:spPr bwMode="auto">
              <a:xfrm rot="1715486">
                <a:off x="6449983" y="2509825"/>
                <a:ext cx="1111250" cy="854075"/>
              </a:xfrm>
              <a:prstGeom prst="line">
                <a:avLst/>
              </a:prstGeom>
              <a:noFill/>
              <a:ln w="12700">
                <a:solidFill>
                  <a:srgbClr val="1313FF"/>
                </a:solidFill>
                <a:round/>
                <a:headEnd/>
                <a:tailEnd/>
              </a:ln>
            </p:spPr>
            <p:txBody>
              <a:bodyPr/>
              <a:lstStyle/>
              <a:p>
                <a:endParaRPr lang="ar-JO"/>
              </a:p>
            </p:txBody>
          </p:sp>
          <p:sp>
            <p:nvSpPr>
              <p:cNvPr id="42051" name="Line 454"/>
              <p:cNvSpPr>
                <a:spLocks noChangeShapeType="1"/>
              </p:cNvSpPr>
              <p:nvPr/>
            </p:nvSpPr>
            <p:spPr bwMode="auto">
              <a:xfrm rot="7784355" flipV="1">
                <a:off x="7292946" y="2132000"/>
                <a:ext cx="0" cy="1752600"/>
              </a:xfrm>
              <a:prstGeom prst="line">
                <a:avLst/>
              </a:prstGeom>
              <a:noFill/>
              <a:ln w="12700">
                <a:solidFill>
                  <a:srgbClr val="1313FF"/>
                </a:solidFill>
                <a:round/>
                <a:headEnd/>
                <a:tailEnd/>
              </a:ln>
            </p:spPr>
            <p:txBody>
              <a:bodyPr/>
              <a:lstStyle/>
              <a:p>
                <a:endParaRPr lang="ar-JO"/>
              </a:p>
            </p:txBody>
          </p:sp>
          <p:sp>
            <p:nvSpPr>
              <p:cNvPr id="42052" name="Line 455"/>
              <p:cNvSpPr>
                <a:spLocks noChangeShapeType="1"/>
              </p:cNvSpPr>
              <p:nvPr/>
            </p:nvSpPr>
            <p:spPr bwMode="auto">
              <a:xfrm rot="3468555">
                <a:off x="7289770" y="2868600"/>
                <a:ext cx="663575" cy="552450"/>
              </a:xfrm>
              <a:prstGeom prst="line">
                <a:avLst/>
              </a:prstGeom>
              <a:noFill/>
              <a:ln w="12700">
                <a:solidFill>
                  <a:srgbClr val="1313FF"/>
                </a:solidFill>
                <a:round/>
                <a:headEnd/>
                <a:tailEnd/>
              </a:ln>
            </p:spPr>
            <p:txBody>
              <a:bodyPr/>
              <a:lstStyle/>
              <a:p>
                <a:endParaRPr lang="ar-JO"/>
              </a:p>
            </p:txBody>
          </p:sp>
          <p:sp>
            <p:nvSpPr>
              <p:cNvPr id="42053" name="Line 456"/>
              <p:cNvSpPr>
                <a:spLocks noChangeShapeType="1"/>
              </p:cNvSpPr>
              <p:nvPr/>
            </p:nvSpPr>
            <p:spPr bwMode="auto">
              <a:xfrm rot="1393169">
                <a:off x="6899246" y="2495538"/>
                <a:ext cx="819150" cy="968375"/>
              </a:xfrm>
              <a:prstGeom prst="line">
                <a:avLst/>
              </a:prstGeom>
              <a:noFill/>
              <a:ln w="12700">
                <a:solidFill>
                  <a:srgbClr val="1313FF"/>
                </a:solidFill>
                <a:round/>
                <a:headEnd/>
                <a:tailEnd/>
              </a:ln>
            </p:spPr>
            <p:txBody>
              <a:bodyPr/>
              <a:lstStyle/>
              <a:p>
                <a:endParaRPr lang="ar-JO"/>
              </a:p>
            </p:txBody>
          </p:sp>
          <p:sp>
            <p:nvSpPr>
              <p:cNvPr id="42054" name="Line 457"/>
              <p:cNvSpPr>
                <a:spLocks noChangeShapeType="1"/>
              </p:cNvSpPr>
              <p:nvPr/>
            </p:nvSpPr>
            <p:spPr bwMode="auto">
              <a:xfrm rot="1311632">
                <a:off x="7238971" y="2417750"/>
                <a:ext cx="1077913" cy="982663"/>
              </a:xfrm>
              <a:prstGeom prst="line">
                <a:avLst/>
              </a:prstGeom>
              <a:noFill/>
              <a:ln w="12700">
                <a:solidFill>
                  <a:srgbClr val="1313FF"/>
                </a:solidFill>
                <a:round/>
                <a:headEnd/>
                <a:tailEnd/>
              </a:ln>
            </p:spPr>
            <p:txBody>
              <a:bodyPr/>
              <a:lstStyle/>
              <a:p>
                <a:endParaRPr lang="ar-JO"/>
              </a:p>
            </p:txBody>
          </p:sp>
          <p:sp>
            <p:nvSpPr>
              <p:cNvPr id="42055" name="Line 458"/>
              <p:cNvSpPr>
                <a:spLocks noChangeShapeType="1"/>
              </p:cNvSpPr>
              <p:nvPr/>
            </p:nvSpPr>
            <p:spPr bwMode="auto">
              <a:xfrm>
                <a:off x="6910358" y="2301863"/>
                <a:ext cx="0" cy="1219200"/>
              </a:xfrm>
              <a:prstGeom prst="line">
                <a:avLst/>
              </a:prstGeom>
              <a:noFill/>
              <a:ln w="12700">
                <a:solidFill>
                  <a:srgbClr val="1313FF"/>
                </a:solidFill>
                <a:round/>
                <a:headEnd/>
                <a:tailEnd/>
              </a:ln>
            </p:spPr>
            <p:txBody>
              <a:bodyPr/>
              <a:lstStyle/>
              <a:p>
                <a:endParaRPr lang="ar-JO"/>
              </a:p>
            </p:txBody>
          </p:sp>
          <p:sp>
            <p:nvSpPr>
              <p:cNvPr id="42056" name="Line 459"/>
              <p:cNvSpPr>
                <a:spLocks noChangeShapeType="1"/>
              </p:cNvSpPr>
              <p:nvPr/>
            </p:nvSpPr>
            <p:spPr bwMode="auto">
              <a:xfrm rot="4010033" flipV="1">
                <a:off x="7523133" y="1709725"/>
                <a:ext cx="68263" cy="2341563"/>
              </a:xfrm>
              <a:prstGeom prst="line">
                <a:avLst/>
              </a:prstGeom>
              <a:noFill/>
              <a:ln w="12700">
                <a:solidFill>
                  <a:srgbClr val="1313FF"/>
                </a:solidFill>
                <a:round/>
                <a:headEnd/>
                <a:tailEnd/>
              </a:ln>
            </p:spPr>
            <p:txBody>
              <a:bodyPr/>
              <a:lstStyle/>
              <a:p>
                <a:endParaRPr lang="ar-JO"/>
              </a:p>
            </p:txBody>
          </p:sp>
          <p:sp>
            <p:nvSpPr>
              <p:cNvPr id="42057" name="Line 461"/>
              <p:cNvSpPr>
                <a:spLocks noChangeShapeType="1"/>
              </p:cNvSpPr>
              <p:nvPr/>
            </p:nvSpPr>
            <p:spPr bwMode="auto">
              <a:xfrm rot="-2336305">
                <a:off x="6904008" y="2176450"/>
                <a:ext cx="1255713" cy="1865313"/>
              </a:xfrm>
              <a:prstGeom prst="line">
                <a:avLst/>
              </a:prstGeom>
              <a:noFill/>
              <a:ln w="12700">
                <a:solidFill>
                  <a:srgbClr val="1313FF"/>
                </a:solidFill>
                <a:round/>
                <a:headEnd/>
                <a:tailEnd/>
              </a:ln>
            </p:spPr>
            <p:txBody>
              <a:bodyPr/>
              <a:lstStyle/>
              <a:p>
                <a:endParaRPr lang="ar-JO"/>
              </a:p>
            </p:txBody>
          </p:sp>
          <p:sp>
            <p:nvSpPr>
              <p:cNvPr id="42058" name="Line 462"/>
              <p:cNvSpPr>
                <a:spLocks noChangeShapeType="1"/>
              </p:cNvSpPr>
              <p:nvPr/>
            </p:nvSpPr>
            <p:spPr bwMode="auto">
              <a:xfrm rot="-7941657">
                <a:off x="7086570" y="2506650"/>
                <a:ext cx="776288" cy="638175"/>
              </a:xfrm>
              <a:prstGeom prst="line">
                <a:avLst/>
              </a:prstGeom>
              <a:noFill/>
              <a:ln w="12700">
                <a:solidFill>
                  <a:srgbClr val="1313FF"/>
                </a:solidFill>
                <a:round/>
                <a:headEnd/>
                <a:tailEnd/>
              </a:ln>
            </p:spPr>
            <p:txBody>
              <a:bodyPr/>
              <a:lstStyle/>
              <a:p>
                <a:endParaRPr lang="ar-JO"/>
              </a:p>
            </p:txBody>
          </p:sp>
          <p:sp>
            <p:nvSpPr>
              <p:cNvPr id="42059" name="Line 463"/>
              <p:cNvSpPr>
                <a:spLocks noChangeShapeType="1"/>
              </p:cNvSpPr>
              <p:nvPr/>
            </p:nvSpPr>
            <p:spPr bwMode="auto">
              <a:xfrm rot="-4270322">
                <a:off x="6734145" y="1870063"/>
                <a:ext cx="1117600" cy="1406525"/>
              </a:xfrm>
              <a:prstGeom prst="line">
                <a:avLst/>
              </a:prstGeom>
              <a:noFill/>
              <a:ln w="12700">
                <a:solidFill>
                  <a:srgbClr val="1313FF"/>
                </a:solidFill>
                <a:round/>
                <a:headEnd/>
                <a:tailEnd/>
              </a:ln>
            </p:spPr>
            <p:txBody>
              <a:bodyPr/>
              <a:lstStyle/>
              <a:p>
                <a:endParaRPr lang="ar-JO"/>
              </a:p>
            </p:txBody>
          </p:sp>
          <p:sp>
            <p:nvSpPr>
              <p:cNvPr id="42060" name="Line 464"/>
              <p:cNvSpPr>
                <a:spLocks noChangeShapeType="1"/>
              </p:cNvSpPr>
              <p:nvPr/>
            </p:nvSpPr>
            <p:spPr bwMode="auto">
              <a:xfrm rot="-7941657">
                <a:off x="7280245" y="2563800"/>
                <a:ext cx="806450" cy="831850"/>
              </a:xfrm>
              <a:prstGeom prst="line">
                <a:avLst/>
              </a:prstGeom>
              <a:noFill/>
              <a:ln w="12700">
                <a:solidFill>
                  <a:srgbClr val="1313FF"/>
                </a:solidFill>
                <a:round/>
                <a:headEnd/>
                <a:tailEnd/>
              </a:ln>
            </p:spPr>
            <p:txBody>
              <a:bodyPr/>
              <a:lstStyle/>
              <a:p>
                <a:endParaRPr lang="ar-JO"/>
              </a:p>
            </p:txBody>
          </p:sp>
          <p:sp>
            <p:nvSpPr>
              <p:cNvPr id="42061" name="Line 465"/>
              <p:cNvSpPr>
                <a:spLocks noChangeShapeType="1"/>
              </p:cNvSpPr>
              <p:nvPr/>
            </p:nvSpPr>
            <p:spPr bwMode="auto">
              <a:xfrm rot="-7941657">
                <a:off x="6261070" y="2482838"/>
                <a:ext cx="912813" cy="844550"/>
              </a:xfrm>
              <a:prstGeom prst="line">
                <a:avLst/>
              </a:prstGeom>
              <a:noFill/>
              <a:ln w="12700">
                <a:solidFill>
                  <a:srgbClr val="1313FF"/>
                </a:solidFill>
                <a:round/>
                <a:headEnd/>
                <a:tailEnd/>
              </a:ln>
            </p:spPr>
            <p:txBody>
              <a:bodyPr/>
              <a:lstStyle/>
              <a:p>
                <a:endParaRPr lang="ar-JO"/>
              </a:p>
            </p:txBody>
          </p:sp>
          <p:sp>
            <p:nvSpPr>
              <p:cNvPr id="42062" name="Line 466"/>
              <p:cNvSpPr>
                <a:spLocks noChangeShapeType="1"/>
              </p:cNvSpPr>
              <p:nvPr/>
            </p:nvSpPr>
            <p:spPr bwMode="auto">
              <a:xfrm rot="-7906871">
                <a:off x="6977033" y="2117713"/>
                <a:ext cx="0" cy="1389063"/>
              </a:xfrm>
              <a:prstGeom prst="line">
                <a:avLst/>
              </a:prstGeom>
              <a:noFill/>
              <a:ln w="12700">
                <a:solidFill>
                  <a:srgbClr val="1313FF"/>
                </a:solidFill>
                <a:round/>
                <a:headEnd/>
                <a:tailEnd/>
              </a:ln>
            </p:spPr>
            <p:txBody>
              <a:bodyPr/>
              <a:lstStyle/>
              <a:p>
                <a:endParaRPr lang="ar-JO"/>
              </a:p>
            </p:txBody>
          </p:sp>
          <p:sp>
            <p:nvSpPr>
              <p:cNvPr id="42063" name="Line 467"/>
              <p:cNvSpPr>
                <a:spLocks noChangeShapeType="1"/>
              </p:cNvSpPr>
              <p:nvPr/>
            </p:nvSpPr>
            <p:spPr bwMode="auto">
              <a:xfrm rot="-7345875">
                <a:off x="7053233" y="2066913"/>
                <a:ext cx="33338" cy="1460500"/>
              </a:xfrm>
              <a:prstGeom prst="line">
                <a:avLst/>
              </a:prstGeom>
              <a:noFill/>
              <a:ln w="12700">
                <a:solidFill>
                  <a:srgbClr val="1313FF"/>
                </a:solidFill>
                <a:round/>
                <a:headEnd/>
                <a:tailEnd/>
              </a:ln>
            </p:spPr>
            <p:txBody>
              <a:bodyPr/>
              <a:lstStyle/>
              <a:p>
                <a:endParaRPr lang="ar-JO"/>
              </a:p>
            </p:txBody>
          </p:sp>
          <p:sp>
            <p:nvSpPr>
              <p:cNvPr id="42064" name="Line 468"/>
              <p:cNvSpPr>
                <a:spLocks noChangeShapeType="1"/>
              </p:cNvSpPr>
              <p:nvPr/>
            </p:nvSpPr>
            <p:spPr bwMode="auto">
              <a:xfrm rot="-7941657">
                <a:off x="6675408" y="2335200"/>
                <a:ext cx="581025" cy="1185863"/>
              </a:xfrm>
              <a:prstGeom prst="line">
                <a:avLst/>
              </a:prstGeom>
              <a:noFill/>
              <a:ln w="12700">
                <a:solidFill>
                  <a:srgbClr val="1313FF"/>
                </a:solidFill>
                <a:round/>
                <a:headEnd/>
                <a:tailEnd/>
              </a:ln>
            </p:spPr>
            <p:txBody>
              <a:bodyPr/>
              <a:lstStyle/>
              <a:p>
                <a:endParaRPr lang="ar-JO"/>
              </a:p>
            </p:txBody>
          </p:sp>
          <p:sp>
            <p:nvSpPr>
              <p:cNvPr id="42065" name="Line 469"/>
              <p:cNvSpPr>
                <a:spLocks noChangeShapeType="1"/>
              </p:cNvSpPr>
              <p:nvPr/>
            </p:nvSpPr>
            <p:spPr bwMode="auto">
              <a:xfrm rot="-4415647">
                <a:off x="6591270" y="2243125"/>
                <a:ext cx="1387475" cy="1271588"/>
              </a:xfrm>
              <a:prstGeom prst="line">
                <a:avLst/>
              </a:prstGeom>
              <a:noFill/>
              <a:ln w="12700">
                <a:solidFill>
                  <a:srgbClr val="1313FF"/>
                </a:solidFill>
                <a:round/>
                <a:headEnd/>
                <a:tailEnd/>
              </a:ln>
            </p:spPr>
            <p:txBody>
              <a:bodyPr/>
              <a:lstStyle/>
              <a:p>
                <a:endParaRPr lang="ar-JO"/>
              </a:p>
            </p:txBody>
          </p:sp>
          <p:sp>
            <p:nvSpPr>
              <p:cNvPr id="42066" name="Line 470"/>
              <p:cNvSpPr>
                <a:spLocks noChangeShapeType="1"/>
              </p:cNvSpPr>
              <p:nvPr/>
            </p:nvSpPr>
            <p:spPr bwMode="auto">
              <a:xfrm rot="1871804" flipH="1">
                <a:off x="6624608" y="2201850"/>
                <a:ext cx="101600" cy="635000"/>
              </a:xfrm>
              <a:prstGeom prst="line">
                <a:avLst/>
              </a:prstGeom>
              <a:noFill/>
              <a:ln w="12700">
                <a:solidFill>
                  <a:srgbClr val="1313FF"/>
                </a:solidFill>
                <a:round/>
                <a:headEnd/>
                <a:tailEnd/>
              </a:ln>
            </p:spPr>
            <p:txBody>
              <a:bodyPr/>
              <a:lstStyle/>
              <a:p>
                <a:endParaRPr lang="ar-JO"/>
              </a:p>
            </p:txBody>
          </p:sp>
          <p:sp>
            <p:nvSpPr>
              <p:cNvPr id="42067" name="Line 471"/>
              <p:cNvSpPr>
                <a:spLocks noChangeShapeType="1"/>
              </p:cNvSpPr>
              <p:nvPr/>
            </p:nvSpPr>
            <p:spPr bwMode="auto">
              <a:xfrm rot="-3665632">
                <a:off x="6483320" y="2217725"/>
                <a:ext cx="557213" cy="366713"/>
              </a:xfrm>
              <a:prstGeom prst="line">
                <a:avLst/>
              </a:prstGeom>
              <a:noFill/>
              <a:ln w="12700">
                <a:solidFill>
                  <a:srgbClr val="1313FF"/>
                </a:solidFill>
                <a:round/>
                <a:headEnd/>
                <a:tailEnd/>
              </a:ln>
            </p:spPr>
            <p:txBody>
              <a:bodyPr/>
              <a:lstStyle/>
              <a:p>
                <a:endParaRPr lang="ar-JO"/>
              </a:p>
            </p:txBody>
          </p:sp>
          <p:sp>
            <p:nvSpPr>
              <p:cNvPr id="42068" name="Line 472"/>
              <p:cNvSpPr>
                <a:spLocks noChangeShapeType="1"/>
              </p:cNvSpPr>
              <p:nvPr/>
            </p:nvSpPr>
            <p:spPr bwMode="auto">
              <a:xfrm rot="6688189">
                <a:off x="6621433" y="2127238"/>
                <a:ext cx="708025" cy="812800"/>
              </a:xfrm>
              <a:prstGeom prst="line">
                <a:avLst/>
              </a:prstGeom>
              <a:noFill/>
              <a:ln w="12700">
                <a:solidFill>
                  <a:srgbClr val="1313FF"/>
                </a:solidFill>
                <a:round/>
                <a:headEnd/>
                <a:tailEnd/>
              </a:ln>
            </p:spPr>
            <p:txBody>
              <a:bodyPr/>
              <a:lstStyle/>
              <a:p>
                <a:endParaRPr lang="ar-JO"/>
              </a:p>
            </p:txBody>
          </p:sp>
          <p:sp>
            <p:nvSpPr>
              <p:cNvPr id="42069" name="Line 473"/>
              <p:cNvSpPr>
                <a:spLocks noChangeShapeType="1"/>
              </p:cNvSpPr>
              <p:nvPr/>
            </p:nvSpPr>
            <p:spPr bwMode="auto">
              <a:xfrm rot="7923524">
                <a:off x="6824633" y="2055800"/>
                <a:ext cx="1338263" cy="1614488"/>
              </a:xfrm>
              <a:prstGeom prst="line">
                <a:avLst/>
              </a:prstGeom>
              <a:noFill/>
              <a:ln w="12700">
                <a:solidFill>
                  <a:srgbClr val="1313FF"/>
                </a:solidFill>
                <a:round/>
                <a:headEnd/>
                <a:tailEnd/>
              </a:ln>
            </p:spPr>
            <p:txBody>
              <a:bodyPr/>
              <a:lstStyle/>
              <a:p>
                <a:endParaRPr lang="ar-JO"/>
              </a:p>
            </p:txBody>
          </p:sp>
          <p:sp>
            <p:nvSpPr>
              <p:cNvPr id="42070" name="Line 474"/>
              <p:cNvSpPr>
                <a:spLocks noChangeShapeType="1"/>
              </p:cNvSpPr>
              <p:nvPr/>
            </p:nvSpPr>
            <p:spPr bwMode="auto">
              <a:xfrm rot="7448556">
                <a:off x="6829395" y="2130413"/>
                <a:ext cx="1109663" cy="1093788"/>
              </a:xfrm>
              <a:prstGeom prst="line">
                <a:avLst/>
              </a:prstGeom>
              <a:noFill/>
              <a:ln w="12700">
                <a:solidFill>
                  <a:srgbClr val="1313FF"/>
                </a:solidFill>
                <a:round/>
                <a:headEnd/>
                <a:tailEnd/>
              </a:ln>
            </p:spPr>
            <p:txBody>
              <a:bodyPr/>
              <a:lstStyle/>
              <a:p>
                <a:endParaRPr lang="ar-JO"/>
              </a:p>
            </p:txBody>
          </p:sp>
          <p:sp>
            <p:nvSpPr>
              <p:cNvPr id="42071" name="Line 475"/>
              <p:cNvSpPr>
                <a:spLocks noChangeShapeType="1"/>
              </p:cNvSpPr>
              <p:nvPr/>
            </p:nvSpPr>
            <p:spPr bwMode="auto">
              <a:xfrm rot="-8225219">
                <a:off x="6396008" y="2344725"/>
                <a:ext cx="646113" cy="1085850"/>
              </a:xfrm>
              <a:prstGeom prst="line">
                <a:avLst/>
              </a:prstGeom>
              <a:noFill/>
              <a:ln w="12700">
                <a:solidFill>
                  <a:srgbClr val="1313FF"/>
                </a:solidFill>
                <a:round/>
                <a:headEnd/>
                <a:tailEnd/>
              </a:ln>
            </p:spPr>
            <p:txBody>
              <a:bodyPr/>
              <a:lstStyle/>
              <a:p>
                <a:endParaRPr lang="ar-JO"/>
              </a:p>
            </p:txBody>
          </p:sp>
          <p:sp>
            <p:nvSpPr>
              <p:cNvPr id="42072" name="Line 476"/>
              <p:cNvSpPr>
                <a:spLocks noChangeShapeType="1"/>
              </p:cNvSpPr>
              <p:nvPr/>
            </p:nvSpPr>
            <p:spPr bwMode="auto">
              <a:xfrm rot="-9961740">
                <a:off x="6556346" y="2451088"/>
                <a:ext cx="1138238" cy="993775"/>
              </a:xfrm>
              <a:prstGeom prst="line">
                <a:avLst/>
              </a:prstGeom>
              <a:noFill/>
              <a:ln w="12700">
                <a:solidFill>
                  <a:srgbClr val="1313FF"/>
                </a:solidFill>
                <a:round/>
                <a:headEnd/>
                <a:tailEnd/>
              </a:ln>
            </p:spPr>
            <p:txBody>
              <a:bodyPr/>
              <a:lstStyle/>
              <a:p>
                <a:endParaRPr lang="ar-JO"/>
              </a:p>
            </p:txBody>
          </p:sp>
          <p:sp>
            <p:nvSpPr>
              <p:cNvPr id="42073" name="Line 477"/>
              <p:cNvSpPr>
                <a:spLocks noChangeShapeType="1"/>
              </p:cNvSpPr>
              <p:nvPr/>
            </p:nvSpPr>
            <p:spPr bwMode="auto">
              <a:xfrm rot="6822093" flipV="1">
                <a:off x="7151658" y="2503475"/>
                <a:ext cx="20638" cy="1519238"/>
              </a:xfrm>
              <a:prstGeom prst="line">
                <a:avLst/>
              </a:prstGeom>
              <a:noFill/>
              <a:ln w="12700">
                <a:solidFill>
                  <a:srgbClr val="1313FF"/>
                </a:solidFill>
                <a:round/>
                <a:headEnd/>
                <a:tailEnd/>
              </a:ln>
            </p:spPr>
            <p:txBody>
              <a:bodyPr/>
              <a:lstStyle/>
              <a:p>
                <a:endParaRPr lang="ar-JO"/>
              </a:p>
            </p:txBody>
          </p:sp>
          <p:sp>
            <p:nvSpPr>
              <p:cNvPr id="42074" name="Line 478"/>
              <p:cNvSpPr>
                <a:spLocks noChangeShapeType="1"/>
              </p:cNvSpPr>
              <p:nvPr/>
            </p:nvSpPr>
            <p:spPr bwMode="auto">
              <a:xfrm rot="10562884">
                <a:off x="6751608" y="2303450"/>
                <a:ext cx="1208088" cy="1325563"/>
              </a:xfrm>
              <a:prstGeom prst="line">
                <a:avLst/>
              </a:prstGeom>
              <a:noFill/>
              <a:ln w="12700">
                <a:solidFill>
                  <a:srgbClr val="1313FF"/>
                </a:solidFill>
                <a:round/>
                <a:headEnd/>
                <a:tailEnd/>
              </a:ln>
            </p:spPr>
            <p:txBody>
              <a:bodyPr/>
              <a:lstStyle/>
              <a:p>
                <a:endParaRPr lang="ar-JO"/>
              </a:p>
            </p:txBody>
          </p:sp>
          <p:sp>
            <p:nvSpPr>
              <p:cNvPr id="42075" name="Line 479"/>
              <p:cNvSpPr>
                <a:spLocks noChangeShapeType="1"/>
              </p:cNvSpPr>
              <p:nvPr/>
            </p:nvSpPr>
            <p:spPr bwMode="auto">
              <a:xfrm rot="3773441">
                <a:off x="6818283" y="2236775"/>
                <a:ext cx="123825" cy="1027113"/>
              </a:xfrm>
              <a:prstGeom prst="line">
                <a:avLst/>
              </a:prstGeom>
              <a:noFill/>
              <a:ln w="12700">
                <a:solidFill>
                  <a:srgbClr val="1313FF"/>
                </a:solidFill>
                <a:round/>
                <a:headEnd/>
                <a:tailEnd/>
              </a:ln>
            </p:spPr>
            <p:txBody>
              <a:bodyPr/>
              <a:lstStyle/>
              <a:p>
                <a:endParaRPr lang="ar-JO"/>
              </a:p>
            </p:txBody>
          </p:sp>
          <p:sp>
            <p:nvSpPr>
              <p:cNvPr id="42076" name="Line 480"/>
              <p:cNvSpPr>
                <a:spLocks noChangeShapeType="1"/>
              </p:cNvSpPr>
              <p:nvPr/>
            </p:nvSpPr>
            <p:spPr bwMode="auto">
              <a:xfrm rot="8314470">
                <a:off x="6688108" y="2063738"/>
                <a:ext cx="1122363" cy="1087438"/>
              </a:xfrm>
              <a:prstGeom prst="line">
                <a:avLst/>
              </a:prstGeom>
              <a:noFill/>
              <a:ln w="12700">
                <a:solidFill>
                  <a:srgbClr val="1313FF"/>
                </a:solidFill>
                <a:round/>
                <a:headEnd/>
                <a:tailEnd/>
              </a:ln>
            </p:spPr>
            <p:txBody>
              <a:bodyPr/>
              <a:lstStyle/>
              <a:p>
                <a:endParaRPr lang="ar-JO"/>
              </a:p>
            </p:txBody>
          </p:sp>
          <p:sp>
            <p:nvSpPr>
              <p:cNvPr id="42077" name="Line 481"/>
              <p:cNvSpPr>
                <a:spLocks noChangeShapeType="1"/>
              </p:cNvSpPr>
              <p:nvPr/>
            </p:nvSpPr>
            <p:spPr bwMode="auto">
              <a:xfrm rot="2495530">
                <a:off x="7267546" y="2063738"/>
                <a:ext cx="61913" cy="1674813"/>
              </a:xfrm>
              <a:prstGeom prst="line">
                <a:avLst/>
              </a:prstGeom>
              <a:noFill/>
              <a:ln w="12700">
                <a:solidFill>
                  <a:srgbClr val="1313FF"/>
                </a:solidFill>
                <a:round/>
                <a:headEnd/>
                <a:tailEnd/>
              </a:ln>
            </p:spPr>
            <p:txBody>
              <a:bodyPr/>
              <a:lstStyle/>
              <a:p>
                <a:endParaRPr lang="ar-JO"/>
              </a:p>
            </p:txBody>
          </p:sp>
          <p:sp>
            <p:nvSpPr>
              <p:cNvPr id="42078" name="Line 482"/>
              <p:cNvSpPr>
                <a:spLocks noChangeShapeType="1"/>
              </p:cNvSpPr>
              <p:nvPr/>
            </p:nvSpPr>
            <p:spPr bwMode="auto">
              <a:xfrm rot="10633141">
                <a:off x="7132608" y="2295513"/>
                <a:ext cx="80963" cy="1298575"/>
              </a:xfrm>
              <a:prstGeom prst="line">
                <a:avLst/>
              </a:prstGeom>
              <a:noFill/>
              <a:ln w="12700">
                <a:solidFill>
                  <a:srgbClr val="1313FF"/>
                </a:solidFill>
                <a:round/>
                <a:headEnd/>
                <a:tailEnd/>
              </a:ln>
            </p:spPr>
            <p:txBody>
              <a:bodyPr/>
              <a:lstStyle/>
              <a:p>
                <a:endParaRPr lang="ar-JO"/>
              </a:p>
            </p:txBody>
          </p:sp>
          <p:sp>
            <p:nvSpPr>
              <p:cNvPr id="42079" name="Line 483"/>
              <p:cNvSpPr>
                <a:spLocks noChangeShapeType="1"/>
              </p:cNvSpPr>
              <p:nvPr/>
            </p:nvSpPr>
            <p:spPr bwMode="auto">
              <a:xfrm rot="5943082" flipV="1">
                <a:off x="7159595" y="1976425"/>
                <a:ext cx="177800" cy="1590675"/>
              </a:xfrm>
              <a:prstGeom prst="line">
                <a:avLst/>
              </a:prstGeom>
              <a:noFill/>
              <a:ln w="12700">
                <a:solidFill>
                  <a:srgbClr val="1313FF"/>
                </a:solidFill>
                <a:round/>
                <a:headEnd/>
                <a:tailEnd/>
              </a:ln>
            </p:spPr>
            <p:txBody>
              <a:bodyPr/>
              <a:lstStyle/>
              <a:p>
                <a:endParaRPr lang="ar-JO"/>
              </a:p>
            </p:txBody>
          </p:sp>
          <p:sp>
            <p:nvSpPr>
              <p:cNvPr id="42080" name="Line 484"/>
              <p:cNvSpPr>
                <a:spLocks noChangeShapeType="1"/>
              </p:cNvSpPr>
              <p:nvPr/>
            </p:nvSpPr>
            <p:spPr bwMode="auto">
              <a:xfrm rot="3244607" flipV="1">
                <a:off x="6978620" y="1833550"/>
                <a:ext cx="250825" cy="1430338"/>
              </a:xfrm>
              <a:prstGeom prst="line">
                <a:avLst/>
              </a:prstGeom>
              <a:noFill/>
              <a:ln w="12700">
                <a:solidFill>
                  <a:srgbClr val="1313FF"/>
                </a:solidFill>
                <a:round/>
                <a:headEnd/>
                <a:tailEnd/>
              </a:ln>
            </p:spPr>
            <p:txBody>
              <a:bodyPr/>
              <a:lstStyle/>
              <a:p>
                <a:endParaRPr lang="ar-JO"/>
              </a:p>
            </p:txBody>
          </p:sp>
          <p:sp>
            <p:nvSpPr>
              <p:cNvPr id="42081" name="Line 485"/>
              <p:cNvSpPr>
                <a:spLocks noChangeShapeType="1"/>
              </p:cNvSpPr>
              <p:nvPr/>
            </p:nvSpPr>
            <p:spPr bwMode="auto">
              <a:xfrm rot="3587290">
                <a:off x="6488083" y="2393938"/>
                <a:ext cx="890588" cy="982663"/>
              </a:xfrm>
              <a:prstGeom prst="line">
                <a:avLst/>
              </a:prstGeom>
              <a:noFill/>
              <a:ln w="12700">
                <a:solidFill>
                  <a:srgbClr val="1313FF"/>
                </a:solidFill>
                <a:round/>
                <a:headEnd/>
                <a:tailEnd/>
              </a:ln>
            </p:spPr>
            <p:txBody>
              <a:bodyPr/>
              <a:lstStyle/>
              <a:p>
                <a:endParaRPr lang="ar-JO"/>
              </a:p>
            </p:txBody>
          </p:sp>
          <p:sp>
            <p:nvSpPr>
              <p:cNvPr id="42082" name="Line 486"/>
              <p:cNvSpPr>
                <a:spLocks noChangeShapeType="1"/>
              </p:cNvSpPr>
              <p:nvPr/>
            </p:nvSpPr>
            <p:spPr bwMode="auto">
              <a:xfrm rot="9656159" flipV="1">
                <a:off x="6745258" y="2309800"/>
                <a:ext cx="76200" cy="1279525"/>
              </a:xfrm>
              <a:prstGeom prst="line">
                <a:avLst/>
              </a:prstGeom>
              <a:noFill/>
              <a:ln w="12700">
                <a:solidFill>
                  <a:srgbClr val="1313FF"/>
                </a:solidFill>
                <a:round/>
                <a:headEnd/>
                <a:tailEnd/>
              </a:ln>
            </p:spPr>
            <p:txBody>
              <a:bodyPr/>
              <a:lstStyle/>
              <a:p>
                <a:endParaRPr lang="ar-JO"/>
              </a:p>
            </p:txBody>
          </p:sp>
          <p:sp>
            <p:nvSpPr>
              <p:cNvPr id="42083" name="Line 487"/>
              <p:cNvSpPr>
                <a:spLocks noChangeShapeType="1"/>
              </p:cNvSpPr>
              <p:nvPr/>
            </p:nvSpPr>
            <p:spPr bwMode="auto">
              <a:xfrm rot="5340359">
                <a:off x="6910358" y="2378063"/>
                <a:ext cx="1143000" cy="1143000"/>
              </a:xfrm>
              <a:prstGeom prst="line">
                <a:avLst/>
              </a:prstGeom>
              <a:noFill/>
              <a:ln w="12700">
                <a:solidFill>
                  <a:srgbClr val="1313FF"/>
                </a:solidFill>
                <a:round/>
                <a:headEnd/>
                <a:tailEnd/>
              </a:ln>
            </p:spPr>
            <p:txBody>
              <a:bodyPr/>
              <a:lstStyle/>
              <a:p>
                <a:endParaRPr lang="ar-JO"/>
              </a:p>
            </p:txBody>
          </p:sp>
          <p:sp>
            <p:nvSpPr>
              <p:cNvPr id="42084" name="Line 488"/>
              <p:cNvSpPr>
                <a:spLocks noChangeShapeType="1"/>
              </p:cNvSpPr>
              <p:nvPr/>
            </p:nvSpPr>
            <p:spPr bwMode="auto">
              <a:xfrm rot="3264973">
                <a:off x="6856383" y="2566975"/>
                <a:ext cx="874713" cy="835025"/>
              </a:xfrm>
              <a:prstGeom prst="line">
                <a:avLst/>
              </a:prstGeom>
              <a:noFill/>
              <a:ln w="12700">
                <a:solidFill>
                  <a:srgbClr val="1313FF"/>
                </a:solidFill>
                <a:round/>
                <a:headEnd/>
                <a:tailEnd/>
              </a:ln>
            </p:spPr>
            <p:txBody>
              <a:bodyPr/>
              <a:lstStyle/>
              <a:p>
                <a:endParaRPr lang="ar-JO"/>
              </a:p>
            </p:txBody>
          </p:sp>
          <p:sp>
            <p:nvSpPr>
              <p:cNvPr id="42085" name="Line 489"/>
              <p:cNvSpPr>
                <a:spLocks noChangeShapeType="1"/>
              </p:cNvSpPr>
              <p:nvPr/>
            </p:nvSpPr>
            <p:spPr bwMode="auto">
              <a:xfrm rot="3183436">
                <a:off x="7308820" y="2416163"/>
                <a:ext cx="627063" cy="1150938"/>
              </a:xfrm>
              <a:prstGeom prst="line">
                <a:avLst/>
              </a:prstGeom>
              <a:noFill/>
              <a:ln w="12700">
                <a:solidFill>
                  <a:srgbClr val="1313FF"/>
                </a:solidFill>
                <a:round/>
                <a:headEnd/>
                <a:tailEnd/>
              </a:ln>
            </p:spPr>
            <p:txBody>
              <a:bodyPr/>
              <a:lstStyle/>
              <a:p>
                <a:endParaRPr lang="ar-JO"/>
              </a:p>
            </p:txBody>
          </p:sp>
          <p:sp>
            <p:nvSpPr>
              <p:cNvPr id="42086" name="Line 490"/>
              <p:cNvSpPr>
                <a:spLocks noChangeShapeType="1"/>
              </p:cNvSpPr>
              <p:nvPr/>
            </p:nvSpPr>
            <p:spPr bwMode="auto">
              <a:xfrm rot="1871804" flipH="1">
                <a:off x="6786533" y="2109775"/>
                <a:ext cx="153988" cy="1344613"/>
              </a:xfrm>
              <a:prstGeom prst="line">
                <a:avLst/>
              </a:prstGeom>
              <a:noFill/>
              <a:ln w="12700">
                <a:solidFill>
                  <a:srgbClr val="1313FF"/>
                </a:solidFill>
                <a:round/>
                <a:headEnd/>
                <a:tailEnd/>
              </a:ln>
            </p:spPr>
            <p:txBody>
              <a:bodyPr/>
              <a:lstStyle/>
              <a:p>
                <a:endParaRPr lang="ar-JO"/>
              </a:p>
            </p:txBody>
          </p:sp>
          <p:sp>
            <p:nvSpPr>
              <p:cNvPr id="42087" name="Line 491"/>
              <p:cNvSpPr>
                <a:spLocks noChangeShapeType="1"/>
              </p:cNvSpPr>
              <p:nvPr/>
            </p:nvSpPr>
            <p:spPr bwMode="auto">
              <a:xfrm rot="8940499" flipH="1">
                <a:off x="7888258" y="2279638"/>
                <a:ext cx="149225" cy="1333500"/>
              </a:xfrm>
              <a:prstGeom prst="line">
                <a:avLst/>
              </a:prstGeom>
              <a:noFill/>
              <a:ln w="12700">
                <a:solidFill>
                  <a:srgbClr val="1313FF"/>
                </a:solidFill>
                <a:round/>
                <a:headEnd/>
                <a:tailEnd/>
              </a:ln>
            </p:spPr>
            <p:txBody>
              <a:bodyPr/>
              <a:lstStyle/>
              <a:p>
                <a:endParaRPr lang="ar-JO"/>
              </a:p>
            </p:txBody>
          </p:sp>
          <p:sp>
            <p:nvSpPr>
              <p:cNvPr id="42088" name="Line 493"/>
              <p:cNvSpPr>
                <a:spLocks noChangeShapeType="1"/>
              </p:cNvSpPr>
              <p:nvPr/>
            </p:nvSpPr>
            <p:spPr bwMode="auto">
              <a:xfrm rot="2594160">
                <a:off x="7643783" y="2459025"/>
                <a:ext cx="819150" cy="954088"/>
              </a:xfrm>
              <a:prstGeom prst="line">
                <a:avLst/>
              </a:prstGeom>
              <a:noFill/>
              <a:ln w="12700">
                <a:solidFill>
                  <a:srgbClr val="1313FF"/>
                </a:solidFill>
                <a:round/>
                <a:headEnd/>
                <a:tailEnd/>
              </a:ln>
            </p:spPr>
            <p:txBody>
              <a:bodyPr/>
              <a:lstStyle/>
              <a:p>
                <a:endParaRPr lang="ar-JO"/>
              </a:p>
            </p:txBody>
          </p:sp>
          <p:sp>
            <p:nvSpPr>
              <p:cNvPr id="42089" name="Line 494"/>
              <p:cNvSpPr>
                <a:spLocks noChangeShapeType="1"/>
              </p:cNvSpPr>
              <p:nvPr/>
            </p:nvSpPr>
            <p:spPr bwMode="auto">
              <a:xfrm rot="-3011190">
                <a:off x="6761133" y="2528875"/>
                <a:ext cx="1587500" cy="1535113"/>
              </a:xfrm>
              <a:prstGeom prst="line">
                <a:avLst/>
              </a:prstGeom>
              <a:noFill/>
              <a:ln w="12700">
                <a:solidFill>
                  <a:srgbClr val="1313FF"/>
                </a:solidFill>
                <a:round/>
                <a:headEnd/>
                <a:tailEnd/>
              </a:ln>
            </p:spPr>
            <p:txBody>
              <a:bodyPr/>
              <a:lstStyle/>
              <a:p>
                <a:endParaRPr lang="ar-JO"/>
              </a:p>
            </p:txBody>
          </p:sp>
          <p:sp>
            <p:nvSpPr>
              <p:cNvPr id="42090" name="Line 495"/>
              <p:cNvSpPr>
                <a:spLocks noChangeShapeType="1"/>
              </p:cNvSpPr>
              <p:nvPr/>
            </p:nvSpPr>
            <p:spPr bwMode="auto">
              <a:xfrm rot="660145">
                <a:off x="8510558" y="2378063"/>
                <a:ext cx="7938" cy="1138238"/>
              </a:xfrm>
              <a:prstGeom prst="line">
                <a:avLst/>
              </a:prstGeom>
              <a:noFill/>
              <a:ln w="12700">
                <a:solidFill>
                  <a:srgbClr val="1313FF"/>
                </a:solidFill>
                <a:round/>
                <a:headEnd/>
                <a:tailEnd/>
              </a:ln>
            </p:spPr>
            <p:txBody>
              <a:bodyPr/>
              <a:lstStyle/>
              <a:p>
                <a:endParaRPr lang="ar-JO"/>
              </a:p>
            </p:txBody>
          </p:sp>
          <p:sp>
            <p:nvSpPr>
              <p:cNvPr id="42091" name="Line 496"/>
              <p:cNvSpPr>
                <a:spLocks noChangeShapeType="1"/>
              </p:cNvSpPr>
              <p:nvPr/>
            </p:nvSpPr>
            <p:spPr bwMode="auto">
              <a:xfrm rot="-3011190">
                <a:off x="6927820" y="2684450"/>
                <a:ext cx="1363663" cy="1528763"/>
              </a:xfrm>
              <a:prstGeom prst="line">
                <a:avLst/>
              </a:prstGeom>
              <a:noFill/>
              <a:ln w="12700">
                <a:solidFill>
                  <a:srgbClr val="1313FF"/>
                </a:solidFill>
                <a:round/>
                <a:headEnd/>
                <a:tailEnd/>
              </a:ln>
            </p:spPr>
            <p:txBody>
              <a:bodyPr/>
              <a:lstStyle/>
              <a:p>
                <a:endParaRPr lang="ar-JO"/>
              </a:p>
            </p:txBody>
          </p:sp>
          <p:sp>
            <p:nvSpPr>
              <p:cNvPr id="42092" name="Line 499"/>
              <p:cNvSpPr>
                <a:spLocks noChangeShapeType="1"/>
              </p:cNvSpPr>
              <p:nvPr/>
            </p:nvSpPr>
            <p:spPr bwMode="auto">
              <a:xfrm rot="-2415408">
                <a:off x="7900958" y="2073263"/>
                <a:ext cx="76200" cy="1524000"/>
              </a:xfrm>
              <a:prstGeom prst="line">
                <a:avLst/>
              </a:prstGeom>
              <a:noFill/>
              <a:ln w="12700">
                <a:solidFill>
                  <a:srgbClr val="1313FF"/>
                </a:solidFill>
                <a:round/>
                <a:headEnd/>
                <a:tailEnd/>
              </a:ln>
            </p:spPr>
            <p:txBody>
              <a:bodyPr/>
              <a:lstStyle/>
              <a:p>
                <a:endParaRPr lang="ar-JO"/>
              </a:p>
            </p:txBody>
          </p:sp>
          <p:sp>
            <p:nvSpPr>
              <p:cNvPr id="42093" name="Line 500"/>
              <p:cNvSpPr>
                <a:spLocks noChangeShapeType="1"/>
              </p:cNvSpPr>
              <p:nvPr/>
            </p:nvSpPr>
            <p:spPr bwMode="auto">
              <a:xfrm rot="-3011190">
                <a:off x="6797645" y="2073263"/>
                <a:ext cx="1403350" cy="1514475"/>
              </a:xfrm>
              <a:prstGeom prst="line">
                <a:avLst/>
              </a:prstGeom>
              <a:noFill/>
              <a:ln w="12700">
                <a:solidFill>
                  <a:srgbClr val="1313FF"/>
                </a:solidFill>
                <a:round/>
                <a:headEnd/>
                <a:tailEnd/>
              </a:ln>
            </p:spPr>
            <p:txBody>
              <a:bodyPr/>
              <a:lstStyle/>
              <a:p>
                <a:endParaRPr lang="ar-JO"/>
              </a:p>
            </p:txBody>
          </p:sp>
          <p:sp>
            <p:nvSpPr>
              <p:cNvPr id="42094" name="Line 501"/>
              <p:cNvSpPr>
                <a:spLocks noChangeShapeType="1"/>
              </p:cNvSpPr>
              <p:nvPr/>
            </p:nvSpPr>
            <p:spPr bwMode="auto">
              <a:xfrm rot="514818">
                <a:off x="7673946" y="2416163"/>
                <a:ext cx="677863" cy="1098550"/>
              </a:xfrm>
              <a:prstGeom prst="line">
                <a:avLst/>
              </a:prstGeom>
              <a:noFill/>
              <a:ln w="12700">
                <a:solidFill>
                  <a:srgbClr val="1313FF"/>
                </a:solidFill>
                <a:round/>
                <a:headEnd/>
                <a:tailEnd/>
              </a:ln>
            </p:spPr>
            <p:txBody>
              <a:bodyPr/>
              <a:lstStyle/>
              <a:p>
                <a:endParaRPr lang="ar-JO"/>
              </a:p>
            </p:txBody>
          </p:sp>
          <p:sp>
            <p:nvSpPr>
              <p:cNvPr id="42095" name="Line 502"/>
              <p:cNvSpPr>
                <a:spLocks noChangeShapeType="1"/>
              </p:cNvSpPr>
              <p:nvPr/>
            </p:nvSpPr>
            <p:spPr bwMode="auto">
              <a:xfrm rot="6802270" flipV="1">
                <a:off x="8245445" y="2078025"/>
                <a:ext cx="142875" cy="782638"/>
              </a:xfrm>
              <a:prstGeom prst="line">
                <a:avLst/>
              </a:prstGeom>
              <a:noFill/>
              <a:ln w="12700">
                <a:solidFill>
                  <a:srgbClr val="1313FF"/>
                </a:solidFill>
                <a:round/>
                <a:headEnd/>
                <a:tailEnd/>
              </a:ln>
            </p:spPr>
            <p:txBody>
              <a:bodyPr/>
              <a:lstStyle/>
              <a:p>
                <a:endParaRPr lang="ar-JO"/>
              </a:p>
            </p:txBody>
          </p:sp>
          <p:sp>
            <p:nvSpPr>
              <p:cNvPr id="42096" name="Line 503"/>
              <p:cNvSpPr>
                <a:spLocks noChangeShapeType="1"/>
              </p:cNvSpPr>
              <p:nvPr/>
            </p:nvSpPr>
            <p:spPr bwMode="auto">
              <a:xfrm rot="1264834">
                <a:off x="8127971" y="2365363"/>
                <a:ext cx="520700" cy="211138"/>
              </a:xfrm>
              <a:prstGeom prst="line">
                <a:avLst/>
              </a:prstGeom>
              <a:noFill/>
              <a:ln w="12700">
                <a:solidFill>
                  <a:srgbClr val="1313FF"/>
                </a:solidFill>
                <a:round/>
                <a:headEnd/>
                <a:tailEnd/>
              </a:ln>
            </p:spPr>
            <p:txBody>
              <a:bodyPr/>
              <a:lstStyle/>
              <a:p>
                <a:endParaRPr lang="ar-JO"/>
              </a:p>
            </p:txBody>
          </p:sp>
          <p:sp>
            <p:nvSpPr>
              <p:cNvPr id="42097" name="Line 504"/>
              <p:cNvSpPr>
                <a:spLocks noChangeShapeType="1"/>
              </p:cNvSpPr>
              <p:nvPr/>
            </p:nvSpPr>
            <p:spPr bwMode="auto">
              <a:xfrm rot="-9981345">
                <a:off x="8194646" y="2371713"/>
                <a:ext cx="576263" cy="852488"/>
              </a:xfrm>
              <a:prstGeom prst="line">
                <a:avLst/>
              </a:prstGeom>
              <a:noFill/>
              <a:ln w="12700">
                <a:solidFill>
                  <a:srgbClr val="1313FF"/>
                </a:solidFill>
                <a:round/>
                <a:headEnd/>
                <a:tailEnd/>
              </a:ln>
            </p:spPr>
            <p:txBody>
              <a:bodyPr/>
              <a:lstStyle/>
              <a:p>
                <a:endParaRPr lang="ar-JO"/>
              </a:p>
            </p:txBody>
          </p:sp>
          <p:sp>
            <p:nvSpPr>
              <p:cNvPr id="42098" name="Line 505"/>
              <p:cNvSpPr>
                <a:spLocks noChangeShapeType="1"/>
              </p:cNvSpPr>
              <p:nvPr/>
            </p:nvSpPr>
            <p:spPr bwMode="auto">
              <a:xfrm rot="-8746010">
                <a:off x="7526308" y="2432038"/>
                <a:ext cx="952500" cy="962025"/>
              </a:xfrm>
              <a:prstGeom prst="line">
                <a:avLst/>
              </a:prstGeom>
              <a:noFill/>
              <a:ln w="12700">
                <a:solidFill>
                  <a:srgbClr val="1313FF"/>
                </a:solidFill>
                <a:round/>
                <a:headEnd/>
                <a:tailEnd/>
              </a:ln>
            </p:spPr>
            <p:txBody>
              <a:bodyPr/>
              <a:lstStyle/>
              <a:p>
                <a:endParaRPr lang="ar-JO"/>
              </a:p>
            </p:txBody>
          </p:sp>
          <p:sp>
            <p:nvSpPr>
              <p:cNvPr id="42099" name="Line 506"/>
              <p:cNvSpPr>
                <a:spLocks noChangeShapeType="1"/>
              </p:cNvSpPr>
              <p:nvPr/>
            </p:nvSpPr>
            <p:spPr bwMode="auto">
              <a:xfrm rot="-9220978">
                <a:off x="7859683" y="2435213"/>
                <a:ext cx="730250" cy="998538"/>
              </a:xfrm>
              <a:prstGeom prst="line">
                <a:avLst/>
              </a:prstGeom>
              <a:noFill/>
              <a:ln w="12700">
                <a:solidFill>
                  <a:srgbClr val="1313FF"/>
                </a:solidFill>
                <a:round/>
                <a:headEnd/>
                <a:tailEnd/>
              </a:ln>
            </p:spPr>
            <p:txBody>
              <a:bodyPr/>
              <a:lstStyle/>
              <a:p>
                <a:endParaRPr lang="ar-JO"/>
              </a:p>
            </p:txBody>
          </p:sp>
          <p:sp>
            <p:nvSpPr>
              <p:cNvPr id="42100" name="Line 507"/>
              <p:cNvSpPr>
                <a:spLocks noChangeShapeType="1"/>
              </p:cNvSpPr>
              <p:nvPr/>
            </p:nvSpPr>
            <p:spPr bwMode="auto">
              <a:xfrm rot="-3294753">
                <a:off x="7470745" y="2078025"/>
                <a:ext cx="1033463" cy="927100"/>
              </a:xfrm>
              <a:prstGeom prst="line">
                <a:avLst/>
              </a:prstGeom>
              <a:noFill/>
              <a:ln w="12700">
                <a:solidFill>
                  <a:srgbClr val="1313FF"/>
                </a:solidFill>
                <a:round/>
                <a:headEnd/>
                <a:tailEnd/>
              </a:ln>
            </p:spPr>
            <p:txBody>
              <a:bodyPr/>
              <a:lstStyle/>
              <a:p>
                <a:endParaRPr lang="ar-JO"/>
              </a:p>
            </p:txBody>
          </p:sp>
          <p:sp>
            <p:nvSpPr>
              <p:cNvPr id="42101" name="Line 508"/>
              <p:cNvSpPr>
                <a:spLocks noChangeShapeType="1"/>
              </p:cNvSpPr>
              <p:nvPr/>
            </p:nvSpPr>
            <p:spPr bwMode="auto">
              <a:xfrm rot="-5031273">
                <a:off x="7205633" y="2297100"/>
                <a:ext cx="1376363" cy="1366838"/>
              </a:xfrm>
              <a:prstGeom prst="line">
                <a:avLst/>
              </a:prstGeom>
              <a:noFill/>
              <a:ln w="12700">
                <a:solidFill>
                  <a:srgbClr val="1313FF"/>
                </a:solidFill>
                <a:round/>
                <a:headEnd/>
                <a:tailEnd/>
              </a:ln>
            </p:spPr>
            <p:txBody>
              <a:bodyPr/>
              <a:lstStyle/>
              <a:p>
                <a:endParaRPr lang="ar-JO"/>
              </a:p>
            </p:txBody>
          </p:sp>
          <p:sp>
            <p:nvSpPr>
              <p:cNvPr id="42102" name="Line 509"/>
              <p:cNvSpPr>
                <a:spLocks noChangeShapeType="1"/>
              </p:cNvSpPr>
              <p:nvPr/>
            </p:nvSpPr>
            <p:spPr bwMode="auto">
              <a:xfrm rot="11752560" flipH="1">
                <a:off x="7610446" y="2219313"/>
                <a:ext cx="69850" cy="1373188"/>
              </a:xfrm>
              <a:prstGeom prst="line">
                <a:avLst/>
              </a:prstGeom>
              <a:noFill/>
              <a:ln w="12700">
                <a:solidFill>
                  <a:srgbClr val="1313FF"/>
                </a:solidFill>
                <a:round/>
                <a:headEnd/>
                <a:tailEnd/>
              </a:ln>
            </p:spPr>
            <p:txBody>
              <a:bodyPr/>
              <a:lstStyle/>
              <a:p>
                <a:endParaRPr lang="ar-JO"/>
              </a:p>
            </p:txBody>
          </p:sp>
          <p:sp>
            <p:nvSpPr>
              <p:cNvPr id="42103" name="Line 510"/>
              <p:cNvSpPr>
                <a:spLocks noChangeShapeType="1"/>
              </p:cNvSpPr>
              <p:nvPr/>
            </p:nvSpPr>
            <p:spPr bwMode="auto">
              <a:xfrm rot="-6106650">
                <a:off x="7599333" y="2370125"/>
                <a:ext cx="990600" cy="1150938"/>
              </a:xfrm>
              <a:prstGeom prst="line">
                <a:avLst/>
              </a:prstGeom>
              <a:noFill/>
              <a:ln w="12700">
                <a:solidFill>
                  <a:srgbClr val="1313FF"/>
                </a:solidFill>
                <a:round/>
                <a:headEnd/>
                <a:tailEnd/>
              </a:ln>
            </p:spPr>
            <p:txBody>
              <a:bodyPr/>
              <a:lstStyle/>
              <a:p>
                <a:endParaRPr lang="ar-JO"/>
              </a:p>
            </p:txBody>
          </p:sp>
          <p:sp>
            <p:nvSpPr>
              <p:cNvPr id="42104" name="Line 511"/>
              <p:cNvSpPr>
                <a:spLocks noChangeShapeType="1"/>
              </p:cNvSpPr>
              <p:nvPr/>
            </p:nvSpPr>
            <p:spPr bwMode="auto">
              <a:xfrm rot="8703907" flipH="1">
                <a:off x="8339108" y="2238363"/>
                <a:ext cx="39688" cy="1004888"/>
              </a:xfrm>
              <a:prstGeom prst="line">
                <a:avLst/>
              </a:prstGeom>
              <a:noFill/>
              <a:ln w="12700">
                <a:solidFill>
                  <a:srgbClr val="1313FF"/>
                </a:solidFill>
                <a:round/>
                <a:headEnd/>
                <a:tailEnd/>
              </a:ln>
            </p:spPr>
            <p:txBody>
              <a:bodyPr/>
              <a:lstStyle/>
              <a:p>
                <a:endParaRPr lang="ar-JO"/>
              </a:p>
            </p:txBody>
          </p:sp>
          <p:sp>
            <p:nvSpPr>
              <p:cNvPr id="42105" name="Line 512"/>
              <p:cNvSpPr>
                <a:spLocks noChangeShapeType="1"/>
              </p:cNvSpPr>
              <p:nvPr/>
            </p:nvSpPr>
            <p:spPr bwMode="auto">
              <a:xfrm rot="-8355064">
                <a:off x="7872383" y="2532050"/>
                <a:ext cx="904875" cy="781050"/>
              </a:xfrm>
              <a:prstGeom prst="line">
                <a:avLst/>
              </a:prstGeom>
              <a:noFill/>
              <a:ln w="12700">
                <a:solidFill>
                  <a:srgbClr val="1313FF"/>
                </a:solidFill>
                <a:round/>
                <a:headEnd/>
                <a:tailEnd/>
              </a:ln>
            </p:spPr>
            <p:txBody>
              <a:bodyPr/>
              <a:lstStyle/>
              <a:p>
                <a:endParaRPr lang="ar-JO"/>
              </a:p>
            </p:txBody>
          </p:sp>
          <p:sp>
            <p:nvSpPr>
              <p:cNvPr id="42106" name="Line 513"/>
              <p:cNvSpPr>
                <a:spLocks noChangeShapeType="1"/>
              </p:cNvSpPr>
              <p:nvPr/>
            </p:nvSpPr>
            <p:spPr bwMode="auto">
              <a:xfrm rot="7425996">
                <a:off x="7624733" y="1779575"/>
                <a:ext cx="39688" cy="2225675"/>
              </a:xfrm>
              <a:prstGeom prst="line">
                <a:avLst/>
              </a:prstGeom>
              <a:noFill/>
              <a:ln w="12700">
                <a:solidFill>
                  <a:srgbClr val="1313FF"/>
                </a:solidFill>
                <a:round/>
                <a:headEnd/>
                <a:tailEnd/>
              </a:ln>
            </p:spPr>
            <p:txBody>
              <a:bodyPr/>
              <a:lstStyle/>
              <a:p>
                <a:endParaRPr lang="ar-JO"/>
              </a:p>
            </p:txBody>
          </p:sp>
          <p:sp>
            <p:nvSpPr>
              <p:cNvPr id="42107" name="Line 514"/>
              <p:cNvSpPr>
                <a:spLocks noChangeShapeType="1"/>
              </p:cNvSpPr>
              <p:nvPr/>
            </p:nvSpPr>
            <p:spPr bwMode="auto">
              <a:xfrm rot="-6036393">
                <a:off x="7670770" y="1998650"/>
                <a:ext cx="1588" cy="1828800"/>
              </a:xfrm>
              <a:prstGeom prst="line">
                <a:avLst/>
              </a:prstGeom>
              <a:noFill/>
              <a:ln w="12700">
                <a:solidFill>
                  <a:srgbClr val="1313FF"/>
                </a:solidFill>
                <a:round/>
                <a:headEnd/>
                <a:tailEnd/>
              </a:ln>
            </p:spPr>
            <p:txBody>
              <a:bodyPr/>
              <a:lstStyle/>
              <a:p>
                <a:endParaRPr lang="ar-JO"/>
              </a:p>
            </p:txBody>
          </p:sp>
          <p:sp>
            <p:nvSpPr>
              <p:cNvPr id="42108" name="Line 515"/>
              <p:cNvSpPr>
                <a:spLocks noChangeShapeType="1"/>
              </p:cNvSpPr>
              <p:nvPr/>
            </p:nvSpPr>
            <p:spPr bwMode="auto">
              <a:xfrm rot="10873548" flipH="1">
                <a:off x="8053358" y="2298688"/>
                <a:ext cx="227013" cy="1220788"/>
              </a:xfrm>
              <a:prstGeom prst="line">
                <a:avLst/>
              </a:prstGeom>
              <a:noFill/>
              <a:ln w="12700">
                <a:solidFill>
                  <a:srgbClr val="1313FF"/>
                </a:solidFill>
                <a:round/>
                <a:headEnd/>
                <a:tailEnd/>
              </a:ln>
            </p:spPr>
            <p:txBody>
              <a:bodyPr/>
              <a:lstStyle/>
              <a:p>
                <a:endParaRPr lang="ar-JO"/>
              </a:p>
            </p:txBody>
          </p:sp>
          <p:sp>
            <p:nvSpPr>
              <p:cNvPr id="42109" name="Line 516"/>
              <p:cNvSpPr>
                <a:spLocks noChangeShapeType="1"/>
              </p:cNvSpPr>
              <p:nvPr/>
            </p:nvSpPr>
            <p:spPr bwMode="auto">
              <a:xfrm rot="8175073">
                <a:off x="8142258" y="2143113"/>
                <a:ext cx="9525" cy="1363663"/>
              </a:xfrm>
              <a:prstGeom prst="line">
                <a:avLst/>
              </a:prstGeom>
              <a:noFill/>
              <a:ln w="12700">
                <a:solidFill>
                  <a:srgbClr val="1313FF"/>
                </a:solidFill>
                <a:round/>
                <a:headEnd/>
                <a:tailEnd/>
              </a:ln>
            </p:spPr>
            <p:txBody>
              <a:bodyPr/>
              <a:lstStyle/>
              <a:p>
                <a:endParaRPr lang="ar-JO"/>
              </a:p>
            </p:txBody>
          </p:sp>
          <p:sp>
            <p:nvSpPr>
              <p:cNvPr id="42110" name="Line 517"/>
              <p:cNvSpPr>
                <a:spLocks noChangeShapeType="1"/>
              </p:cNvSpPr>
              <p:nvPr/>
            </p:nvSpPr>
            <p:spPr bwMode="auto">
              <a:xfrm rot="8517756">
                <a:off x="7334221" y="2162163"/>
                <a:ext cx="1027113" cy="1065213"/>
              </a:xfrm>
              <a:prstGeom prst="line">
                <a:avLst/>
              </a:prstGeom>
              <a:noFill/>
              <a:ln w="12700">
                <a:solidFill>
                  <a:srgbClr val="1313FF"/>
                </a:solidFill>
                <a:round/>
                <a:headEnd/>
                <a:tailEnd/>
              </a:ln>
            </p:spPr>
            <p:txBody>
              <a:bodyPr/>
              <a:lstStyle/>
              <a:p>
                <a:endParaRPr lang="ar-JO"/>
              </a:p>
            </p:txBody>
          </p:sp>
          <p:sp>
            <p:nvSpPr>
              <p:cNvPr id="42111" name="Line 518"/>
              <p:cNvSpPr>
                <a:spLocks noChangeShapeType="1"/>
              </p:cNvSpPr>
              <p:nvPr/>
            </p:nvSpPr>
            <p:spPr bwMode="auto">
              <a:xfrm rot="14586626" flipV="1">
                <a:off x="7686645" y="1817675"/>
                <a:ext cx="180975" cy="1506538"/>
              </a:xfrm>
              <a:prstGeom prst="line">
                <a:avLst/>
              </a:prstGeom>
              <a:noFill/>
              <a:ln w="12700">
                <a:solidFill>
                  <a:srgbClr val="1313FF"/>
                </a:solidFill>
                <a:round/>
                <a:headEnd/>
                <a:tailEnd/>
              </a:ln>
            </p:spPr>
            <p:txBody>
              <a:bodyPr/>
              <a:lstStyle/>
              <a:p>
                <a:endParaRPr lang="ar-JO"/>
              </a:p>
            </p:txBody>
          </p:sp>
          <p:sp>
            <p:nvSpPr>
              <p:cNvPr id="42112" name="Line 519"/>
              <p:cNvSpPr>
                <a:spLocks noChangeShapeType="1"/>
              </p:cNvSpPr>
              <p:nvPr/>
            </p:nvSpPr>
            <p:spPr bwMode="auto">
              <a:xfrm rot="10270825">
                <a:off x="7186583" y="2417750"/>
                <a:ext cx="1143000" cy="1143000"/>
              </a:xfrm>
              <a:prstGeom prst="line">
                <a:avLst/>
              </a:prstGeom>
              <a:noFill/>
              <a:ln w="12700">
                <a:solidFill>
                  <a:srgbClr val="1313FF"/>
                </a:solidFill>
                <a:round/>
                <a:headEnd/>
                <a:tailEnd/>
              </a:ln>
            </p:spPr>
            <p:txBody>
              <a:bodyPr/>
              <a:lstStyle/>
              <a:p>
                <a:endParaRPr lang="ar-JO"/>
              </a:p>
            </p:txBody>
          </p:sp>
          <p:sp>
            <p:nvSpPr>
              <p:cNvPr id="42113" name="Line 520"/>
              <p:cNvSpPr>
                <a:spLocks noChangeShapeType="1"/>
              </p:cNvSpPr>
              <p:nvPr/>
            </p:nvSpPr>
            <p:spPr bwMode="auto">
              <a:xfrm rot="8195439">
                <a:off x="6762721" y="2324088"/>
                <a:ext cx="1589088" cy="1497013"/>
              </a:xfrm>
              <a:prstGeom prst="line">
                <a:avLst/>
              </a:prstGeom>
              <a:noFill/>
              <a:ln w="12700">
                <a:solidFill>
                  <a:srgbClr val="1313FF"/>
                </a:solidFill>
                <a:round/>
                <a:headEnd/>
                <a:tailEnd/>
              </a:ln>
            </p:spPr>
            <p:txBody>
              <a:bodyPr/>
              <a:lstStyle/>
              <a:p>
                <a:endParaRPr lang="ar-JO"/>
              </a:p>
            </p:txBody>
          </p:sp>
          <p:sp>
            <p:nvSpPr>
              <p:cNvPr id="42114" name="Line 521"/>
              <p:cNvSpPr>
                <a:spLocks noChangeShapeType="1"/>
              </p:cNvSpPr>
              <p:nvPr/>
            </p:nvSpPr>
            <p:spPr bwMode="auto">
              <a:xfrm rot="8113902">
                <a:off x="7062758" y="2889238"/>
                <a:ext cx="1125538" cy="1209675"/>
              </a:xfrm>
              <a:prstGeom prst="line">
                <a:avLst/>
              </a:prstGeom>
              <a:noFill/>
              <a:ln w="12700">
                <a:solidFill>
                  <a:srgbClr val="1313FF"/>
                </a:solidFill>
                <a:round/>
                <a:headEnd/>
                <a:tailEnd/>
              </a:ln>
            </p:spPr>
            <p:txBody>
              <a:bodyPr/>
              <a:lstStyle/>
              <a:p>
                <a:endParaRPr lang="ar-JO"/>
              </a:p>
            </p:txBody>
          </p:sp>
          <p:sp>
            <p:nvSpPr>
              <p:cNvPr id="42115" name="Line 522"/>
              <p:cNvSpPr>
                <a:spLocks noChangeShapeType="1"/>
              </p:cNvSpPr>
              <p:nvPr/>
            </p:nvSpPr>
            <p:spPr bwMode="auto">
              <a:xfrm rot="6802270">
                <a:off x="7680295" y="1689088"/>
                <a:ext cx="204788" cy="1752600"/>
              </a:xfrm>
              <a:prstGeom prst="line">
                <a:avLst/>
              </a:prstGeom>
              <a:noFill/>
              <a:ln w="12700">
                <a:solidFill>
                  <a:srgbClr val="1313FF"/>
                </a:solidFill>
                <a:round/>
                <a:headEnd/>
                <a:tailEnd/>
              </a:ln>
            </p:spPr>
            <p:txBody>
              <a:bodyPr/>
              <a:lstStyle/>
              <a:p>
                <a:endParaRPr lang="ar-JO"/>
              </a:p>
            </p:txBody>
          </p:sp>
          <p:sp>
            <p:nvSpPr>
              <p:cNvPr id="42116" name="Line 523"/>
              <p:cNvSpPr>
                <a:spLocks noChangeShapeType="1"/>
              </p:cNvSpPr>
              <p:nvPr/>
            </p:nvSpPr>
            <p:spPr bwMode="auto">
              <a:xfrm rot="10415753" flipH="1">
                <a:off x="7972396" y="2381238"/>
                <a:ext cx="41275" cy="1141413"/>
              </a:xfrm>
              <a:prstGeom prst="line">
                <a:avLst/>
              </a:prstGeom>
              <a:noFill/>
              <a:ln w="12700">
                <a:solidFill>
                  <a:srgbClr val="1313FF"/>
                </a:solidFill>
                <a:round/>
                <a:headEnd/>
                <a:tailEnd/>
              </a:ln>
            </p:spPr>
            <p:txBody>
              <a:bodyPr/>
              <a:lstStyle/>
              <a:p>
                <a:endParaRPr lang="ar-JO"/>
              </a:p>
            </p:txBody>
          </p:sp>
          <p:sp>
            <p:nvSpPr>
              <p:cNvPr id="42117" name="Line 524"/>
              <p:cNvSpPr>
                <a:spLocks noChangeShapeType="1"/>
              </p:cNvSpPr>
              <p:nvPr/>
            </p:nvSpPr>
            <p:spPr bwMode="auto">
              <a:xfrm rot="4069415">
                <a:off x="7788245" y="2430450"/>
                <a:ext cx="914400" cy="990600"/>
              </a:xfrm>
              <a:prstGeom prst="line">
                <a:avLst/>
              </a:prstGeom>
              <a:noFill/>
              <a:ln w="12700">
                <a:solidFill>
                  <a:srgbClr val="1313FF"/>
                </a:solidFill>
                <a:round/>
                <a:headEnd/>
                <a:tailEnd/>
              </a:ln>
            </p:spPr>
            <p:txBody>
              <a:bodyPr/>
              <a:lstStyle/>
              <a:p>
                <a:endParaRPr lang="ar-JO"/>
              </a:p>
            </p:txBody>
          </p:sp>
          <p:sp>
            <p:nvSpPr>
              <p:cNvPr id="42118" name="Line 525"/>
              <p:cNvSpPr>
                <a:spLocks noChangeShapeType="1"/>
              </p:cNvSpPr>
              <p:nvPr/>
            </p:nvSpPr>
            <p:spPr bwMode="auto">
              <a:xfrm rot="4069415">
                <a:off x="7524720" y="2384413"/>
                <a:ext cx="839788" cy="1174750"/>
              </a:xfrm>
              <a:prstGeom prst="line">
                <a:avLst/>
              </a:prstGeom>
              <a:noFill/>
              <a:ln w="12700">
                <a:solidFill>
                  <a:srgbClr val="1313FF"/>
                </a:solidFill>
                <a:round/>
                <a:headEnd/>
                <a:tailEnd/>
              </a:ln>
            </p:spPr>
            <p:txBody>
              <a:bodyPr/>
              <a:lstStyle/>
              <a:p>
                <a:endParaRPr lang="ar-JO"/>
              </a:p>
            </p:txBody>
          </p:sp>
          <p:sp>
            <p:nvSpPr>
              <p:cNvPr id="42119" name="Line 526"/>
              <p:cNvSpPr>
                <a:spLocks noChangeShapeType="1"/>
              </p:cNvSpPr>
              <p:nvPr/>
            </p:nvSpPr>
            <p:spPr bwMode="auto">
              <a:xfrm rot="-1535936">
                <a:off x="6789708" y="2098663"/>
                <a:ext cx="1358900" cy="1757363"/>
              </a:xfrm>
              <a:prstGeom prst="line">
                <a:avLst/>
              </a:prstGeom>
              <a:noFill/>
              <a:ln w="12700">
                <a:solidFill>
                  <a:srgbClr val="1313FF"/>
                </a:solidFill>
                <a:round/>
                <a:headEnd/>
                <a:tailEnd/>
              </a:ln>
            </p:spPr>
            <p:txBody>
              <a:bodyPr/>
              <a:lstStyle/>
              <a:p>
                <a:endParaRPr lang="ar-JO"/>
              </a:p>
            </p:txBody>
          </p:sp>
          <p:sp>
            <p:nvSpPr>
              <p:cNvPr id="42120" name="Line 527"/>
              <p:cNvSpPr>
                <a:spLocks noChangeShapeType="1"/>
              </p:cNvSpPr>
              <p:nvPr/>
            </p:nvSpPr>
            <p:spPr bwMode="auto">
              <a:xfrm rot="2135398">
                <a:off x="8334346" y="2538400"/>
                <a:ext cx="1588" cy="1119188"/>
              </a:xfrm>
              <a:prstGeom prst="line">
                <a:avLst/>
              </a:prstGeom>
              <a:noFill/>
              <a:ln w="12700">
                <a:solidFill>
                  <a:srgbClr val="1313FF"/>
                </a:solidFill>
                <a:round/>
                <a:headEnd/>
                <a:tailEnd/>
              </a:ln>
            </p:spPr>
            <p:txBody>
              <a:bodyPr/>
              <a:lstStyle/>
              <a:p>
                <a:endParaRPr lang="ar-JO"/>
              </a:p>
            </p:txBody>
          </p:sp>
          <p:sp>
            <p:nvSpPr>
              <p:cNvPr id="42121" name="Line 528"/>
              <p:cNvSpPr>
                <a:spLocks noChangeShapeType="1"/>
              </p:cNvSpPr>
              <p:nvPr/>
            </p:nvSpPr>
            <p:spPr bwMode="auto">
              <a:xfrm rot="-1535936">
                <a:off x="6721446" y="2474900"/>
                <a:ext cx="1047750" cy="1398588"/>
              </a:xfrm>
              <a:prstGeom prst="line">
                <a:avLst/>
              </a:prstGeom>
              <a:noFill/>
              <a:ln w="12700">
                <a:solidFill>
                  <a:srgbClr val="1313FF"/>
                </a:solidFill>
                <a:round/>
                <a:headEnd/>
                <a:tailEnd/>
              </a:ln>
            </p:spPr>
            <p:txBody>
              <a:bodyPr/>
              <a:lstStyle/>
              <a:p>
                <a:endParaRPr lang="ar-JO"/>
              </a:p>
            </p:txBody>
          </p:sp>
          <p:sp>
            <p:nvSpPr>
              <p:cNvPr id="42122" name="Line 529"/>
              <p:cNvSpPr>
                <a:spLocks noChangeShapeType="1"/>
              </p:cNvSpPr>
              <p:nvPr/>
            </p:nvSpPr>
            <p:spPr bwMode="auto">
              <a:xfrm rot="-1535936">
                <a:off x="8037483" y="2227250"/>
                <a:ext cx="457200" cy="762000"/>
              </a:xfrm>
              <a:prstGeom prst="line">
                <a:avLst/>
              </a:prstGeom>
              <a:noFill/>
              <a:ln w="12700">
                <a:solidFill>
                  <a:srgbClr val="1313FF"/>
                </a:solidFill>
                <a:round/>
                <a:headEnd/>
                <a:tailEnd/>
              </a:ln>
            </p:spPr>
            <p:txBody>
              <a:bodyPr/>
              <a:lstStyle/>
              <a:p>
                <a:endParaRPr lang="ar-JO"/>
              </a:p>
            </p:txBody>
          </p:sp>
          <p:sp>
            <p:nvSpPr>
              <p:cNvPr id="42123" name="Line 530"/>
              <p:cNvSpPr>
                <a:spLocks noChangeShapeType="1"/>
              </p:cNvSpPr>
              <p:nvPr/>
            </p:nvSpPr>
            <p:spPr bwMode="auto">
              <a:xfrm rot="20098849" flipH="1">
                <a:off x="8204171" y="2259000"/>
                <a:ext cx="76200" cy="1295400"/>
              </a:xfrm>
              <a:prstGeom prst="line">
                <a:avLst/>
              </a:prstGeom>
              <a:noFill/>
              <a:ln w="12700">
                <a:solidFill>
                  <a:srgbClr val="1313FF"/>
                </a:solidFill>
                <a:round/>
                <a:headEnd/>
                <a:tailEnd/>
              </a:ln>
            </p:spPr>
            <p:txBody>
              <a:bodyPr/>
              <a:lstStyle/>
              <a:p>
                <a:endParaRPr lang="ar-JO"/>
              </a:p>
            </p:txBody>
          </p:sp>
          <p:sp>
            <p:nvSpPr>
              <p:cNvPr id="42124" name="Line 531"/>
              <p:cNvSpPr>
                <a:spLocks noChangeShapeType="1"/>
              </p:cNvSpPr>
              <p:nvPr/>
            </p:nvSpPr>
            <p:spPr bwMode="auto">
              <a:xfrm rot="-940154">
                <a:off x="8223221" y="2239950"/>
                <a:ext cx="0" cy="1295400"/>
              </a:xfrm>
              <a:prstGeom prst="line">
                <a:avLst/>
              </a:prstGeom>
              <a:noFill/>
              <a:ln w="12700">
                <a:solidFill>
                  <a:srgbClr val="1313FF"/>
                </a:solidFill>
                <a:round/>
                <a:headEnd/>
                <a:tailEnd/>
              </a:ln>
            </p:spPr>
            <p:txBody>
              <a:bodyPr/>
              <a:lstStyle/>
              <a:p>
                <a:endParaRPr lang="ar-JO"/>
              </a:p>
            </p:txBody>
          </p:sp>
          <p:sp>
            <p:nvSpPr>
              <p:cNvPr id="42125" name="Line 533"/>
              <p:cNvSpPr>
                <a:spLocks noChangeShapeType="1"/>
              </p:cNvSpPr>
              <p:nvPr/>
            </p:nvSpPr>
            <p:spPr bwMode="auto">
              <a:xfrm rot="1990073">
                <a:off x="7654896" y="2403463"/>
                <a:ext cx="914400" cy="990600"/>
              </a:xfrm>
              <a:prstGeom prst="line">
                <a:avLst/>
              </a:prstGeom>
              <a:noFill/>
              <a:ln w="12700">
                <a:solidFill>
                  <a:srgbClr val="1313FF"/>
                </a:solidFill>
                <a:round/>
                <a:headEnd/>
                <a:tailEnd/>
              </a:ln>
            </p:spPr>
            <p:txBody>
              <a:bodyPr/>
              <a:lstStyle/>
              <a:p>
                <a:endParaRPr lang="ar-JO"/>
              </a:p>
            </p:txBody>
          </p:sp>
          <p:sp>
            <p:nvSpPr>
              <p:cNvPr id="42126" name="Line 534"/>
              <p:cNvSpPr>
                <a:spLocks noChangeShapeType="1"/>
              </p:cNvSpPr>
              <p:nvPr/>
            </p:nvSpPr>
            <p:spPr bwMode="auto">
              <a:xfrm rot="8277524" flipH="1">
                <a:off x="8351808" y="2178038"/>
                <a:ext cx="49213" cy="876300"/>
              </a:xfrm>
              <a:prstGeom prst="line">
                <a:avLst/>
              </a:prstGeom>
              <a:noFill/>
              <a:ln w="12700">
                <a:solidFill>
                  <a:srgbClr val="1313FF"/>
                </a:solidFill>
                <a:round/>
                <a:headEnd/>
                <a:tailEnd/>
              </a:ln>
            </p:spPr>
            <p:txBody>
              <a:bodyPr/>
              <a:lstStyle/>
              <a:p>
                <a:endParaRPr lang="ar-JO"/>
              </a:p>
            </p:txBody>
          </p:sp>
          <p:sp>
            <p:nvSpPr>
              <p:cNvPr id="42127" name="Line 536"/>
              <p:cNvSpPr>
                <a:spLocks noChangeShapeType="1"/>
              </p:cNvSpPr>
              <p:nvPr/>
            </p:nvSpPr>
            <p:spPr bwMode="auto">
              <a:xfrm rot="-8506090">
                <a:off x="7961283" y="2522525"/>
                <a:ext cx="842963" cy="817563"/>
              </a:xfrm>
              <a:prstGeom prst="line">
                <a:avLst/>
              </a:prstGeom>
              <a:noFill/>
              <a:ln w="12700">
                <a:solidFill>
                  <a:srgbClr val="1313FF"/>
                </a:solidFill>
                <a:round/>
                <a:headEnd/>
                <a:tailEnd/>
              </a:ln>
            </p:spPr>
            <p:txBody>
              <a:bodyPr/>
              <a:lstStyle/>
              <a:p>
                <a:endParaRPr lang="ar-JO"/>
              </a:p>
            </p:txBody>
          </p:sp>
          <p:sp>
            <p:nvSpPr>
              <p:cNvPr id="42128" name="Line 537"/>
              <p:cNvSpPr>
                <a:spLocks noChangeShapeType="1"/>
              </p:cNvSpPr>
              <p:nvPr/>
            </p:nvSpPr>
            <p:spPr bwMode="auto">
              <a:xfrm rot="-7270756">
                <a:off x="7529483" y="2376475"/>
                <a:ext cx="779463" cy="1150938"/>
              </a:xfrm>
              <a:prstGeom prst="line">
                <a:avLst/>
              </a:prstGeom>
              <a:noFill/>
              <a:ln w="12700">
                <a:solidFill>
                  <a:srgbClr val="1313FF"/>
                </a:solidFill>
                <a:round/>
                <a:headEnd/>
                <a:tailEnd/>
              </a:ln>
            </p:spPr>
            <p:txBody>
              <a:bodyPr/>
              <a:lstStyle/>
              <a:p>
                <a:endParaRPr lang="ar-JO"/>
              </a:p>
            </p:txBody>
          </p:sp>
          <p:sp>
            <p:nvSpPr>
              <p:cNvPr id="42129" name="Line 538"/>
              <p:cNvSpPr>
                <a:spLocks noChangeShapeType="1"/>
              </p:cNvSpPr>
              <p:nvPr/>
            </p:nvSpPr>
            <p:spPr bwMode="auto">
              <a:xfrm rot="-7745724">
                <a:off x="7588220" y="2490775"/>
                <a:ext cx="1011238" cy="836613"/>
              </a:xfrm>
              <a:prstGeom prst="line">
                <a:avLst/>
              </a:prstGeom>
              <a:noFill/>
              <a:ln w="12700">
                <a:solidFill>
                  <a:srgbClr val="1313FF"/>
                </a:solidFill>
                <a:round/>
                <a:headEnd/>
                <a:tailEnd/>
              </a:ln>
            </p:spPr>
            <p:txBody>
              <a:bodyPr/>
              <a:lstStyle/>
              <a:p>
                <a:endParaRPr lang="ar-JO"/>
              </a:p>
            </p:txBody>
          </p:sp>
          <p:sp>
            <p:nvSpPr>
              <p:cNvPr id="42130" name="Line 539"/>
              <p:cNvSpPr>
                <a:spLocks noChangeShapeType="1"/>
              </p:cNvSpPr>
              <p:nvPr/>
            </p:nvSpPr>
            <p:spPr bwMode="auto">
              <a:xfrm rot="-1819499">
                <a:off x="7383433" y="2127238"/>
                <a:ext cx="1047750" cy="1149350"/>
              </a:xfrm>
              <a:prstGeom prst="line">
                <a:avLst/>
              </a:prstGeom>
              <a:noFill/>
              <a:ln w="12700">
                <a:solidFill>
                  <a:srgbClr val="1313FF"/>
                </a:solidFill>
                <a:round/>
                <a:headEnd/>
                <a:tailEnd/>
              </a:ln>
            </p:spPr>
            <p:txBody>
              <a:bodyPr/>
              <a:lstStyle/>
              <a:p>
                <a:endParaRPr lang="ar-JO"/>
              </a:p>
            </p:txBody>
          </p:sp>
          <p:sp>
            <p:nvSpPr>
              <p:cNvPr id="42131" name="Line 540"/>
              <p:cNvSpPr>
                <a:spLocks noChangeShapeType="1"/>
              </p:cNvSpPr>
              <p:nvPr/>
            </p:nvSpPr>
            <p:spPr bwMode="auto">
              <a:xfrm rot="-3556019">
                <a:off x="7180233" y="2490775"/>
                <a:ext cx="1239838" cy="1123950"/>
              </a:xfrm>
              <a:prstGeom prst="line">
                <a:avLst/>
              </a:prstGeom>
              <a:noFill/>
              <a:ln w="12700">
                <a:solidFill>
                  <a:srgbClr val="1313FF"/>
                </a:solidFill>
                <a:round/>
                <a:headEnd/>
                <a:tailEnd/>
              </a:ln>
            </p:spPr>
            <p:txBody>
              <a:bodyPr/>
              <a:lstStyle/>
              <a:p>
                <a:endParaRPr lang="ar-JO"/>
              </a:p>
            </p:txBody>
          </p:sp>
          <p:sp>
            <p:nvSpPr>
              <p:cNvPr id="42132" name="Line 541"/>
              <p:cNvSpPr>
                <a:spLocks noChangeShapeType="1"/>
              </p:cNvSpPr>
              <p:nvPr/>
            </p:nvSpPr>
            <p:spPr bwMode="auto">
              <a:xfrm rot="-8372186">
                <a:off x="7759671" y="2162163"/>
                <a:ext cx="76200" cy="1524000"/>
              </a:xfrm>
              <a:prstGeom prst="line">
                <a:avLst/>
              </a:prstGeom>
              <a:noFill/>
              <a:ln w="12700">
                <a:solidFill>
                  <a:srgbClr val="1313FF"/>
                </a:solidFill>
                <a:round/>
                <a:headEnd/>
                <a:tailEnd/>
              </a:ln>
            </p:spPr>
            <p:txBody>
              <a:bodyPr/>
              <a:lstStyle/>
              <a:p>
                <a:endParaRPr lang="ar-JO"/>
              </a:p>
            </p:txBody>
          </p:sp>
          <p:sp>
            <p:nvSpPr>
              <p:cNvPr id="42133" name="Line 542"/>
              <p:cNvSpPr>
                <a:spLocks noChangeShapeType="1"/>
              </p:cNvSpPr>
              <p:nvPr/>
            </p:nvSpPr>
            <p:spPr bwMode="auto">
              <a:xfrm rot="-4631396">
                <a:off x="6992908" y="2309800"/>
                <a:ext cx="1447800" cy="1371600"/>
              </a:xfrm>
              <a:prstGeom prst="line">
                <a:avLst/>
              </a:prstGeom>
              <a:noFill/>
              <a:ln w="12700">
                <a:solidFill>
                  <a:srgbClr val="1313FF"/>
                </a:solidFill>
                <a:round/>
                <a:headEnd/>
                <a:tailEnd/>
              </a:ln>
            </p:spPr>
            <p:txBody>
              <a:bodyPr/>
              <a:lstStyle/>
              <a:p>
                <a:endParaRPr lang="ar-JO"/>
              </a:p>
            </p:txBody>
          </p:sp>
          <p:sp>
            <p:nvSpPr>
              <p:cNvPr id="42134" name="Line 543"/>
              <p:cNvSpPr>
                <a:spLocks noChangeShapeType="1"/>
              </p:cNvSpPr>
              <p:nvPr/>
            </p:nvSpPr>
            <p:spPr bwMode="auto">
              <a:xfrm rot="10179162" flipH="1">
                <a:off x="8426421" y="2305038"/>
                <a:ext cx="53975" cy="1139825"/>
              </a:xfrm>
              <a:prstGeom prst="line">
                <a:avLst/>
              </a:prstGeom>
              <a:noFill/>
              <a:ln w="12700">
                <a:solidFill>
                  <a:srgbClr val="1313FF"/>
                </a:solidFill>
                <a:round/>
                <a:headEnd/>
                <a:tailEnd/>
              </a:ln>
            </p:spPr>
            <p:txBody>
              <a:bodyPr/>
              <a:lstStyle/>
              <a:p>
                <a:endParaRPr lang="ar-JO"/>
              </a:p>
            </p:txBody>
          </p:sp>
          <p:sp>
            <p:nvSpPr>
              <p:cNvPr id="42135" name="Line 544"/>
              <p:cNvSpPr>
                <a:spLocks noChangeShapeType="1"/>
              </p:cNvSpPr>
              <p:nvPr/>
            </p:nvSpPr>
            <p:spPr bwMode="auto">
              <a:xfrm rot="-6879810">
                <a:off x="7780308" y="2425688"/>
                <a:ext cx="858838" cy="1085850"/>
              </a:xfrm>
              <a:prstGeom prst="line">
                <a:avLst/>
              </a:prstGeom>
              <a:noFill/>
              <a:ln w="12700">
                <a:solidFill>
                  <a:srgbClr val="1313FF"/>
                </a:solidFill>
                <a:round/>
                <a:headEnd/>
                <a:tailEnd/>
              </a:ln>
            </p:spPr>
            <p:txBody>
              <a:bodyPr/>
              <a:lstStyle/>
              <a:p>
                <a:endParaRPr lang="ar-JO"/>
              </a:p>
            </p:txBody>
          </p:sp>
          <p:sp>
            <p:nvSpPr>
              <p:cNvPr id="42136" name="Line 545"/>
              <p:cNvSpPr>
                <a:spLocks noChangeShapeType="1"/>
              </p:cNvSpPr>
              <p:nvPr/>
            </p:nvSpPr>
            <p:spPr bwMode="auto">
              <a:xfrm rot="8901250" flipH="1">
                <a:off x="7842221" y="2133588"/>
                <a:ext cx="100013" cy="1457325"/>
              </a:xfrm>
              <a:prstGeom prst="line">
                <a:avLst/>
              </a:prstGeom>
              <a:noFill/>
              <a:ln w="12700">
                <a:solidFill>
                  <a:srgbClr val="1313FF"/>
                </a:solidFill>
                <a:round/>
                <a:headEnd/>
                <a:tailEnd/>
              </a:ln>
            </p:spPr>
            <p:txBody>
              <a:bodyPr/>
              <a:lstStyle/>
              <a:p>
                <a:endParaRPr lang="ar-JO"/>
              </a:p>
            </p:txBody>
          </p:sp>
          <p:sp>
            <p:nvSpPr>
              <p:cNvPr id="42137" name="Line 546"/>
              <p:cNvSpPr>
                <a:spLocks noChangeShapeType="1"/>
              </p:cNvSpPr>
              <p:nvPr/>
            </p:nvSpPr>
            <p:spPr bwMode="auto">
              <a:xfrm rot="17038861" flipV="1">
                <a:off x="7424708" y="1703375"/>
                <a:ext cx="225425" cy="2286000"/>
              </a:xfrm>
              <a:prstGeom prst="line">
                <a:avLst/>
              </a:prstGeom>
              <a:noFill/>
              <a:ln w="12700">
                <a:solidFill>
                  <a:srgbClr val="1313FF"/>
                </a:solidFill>
                <a:round/>
                <a:headEnd/>
                <a:tailEnd/>
              </a:ln>
            </p:spPr>
            <p:txBody>
              <a:bodyPr/>
              <a:lstStyle/>
              <a:p>
                <a:endParaRPr lang="ar-JO"/>
              </a:p>
            </p:txBody>
          </p:sp>
          <p:sp>
            <p:nvSpPr>
              <p:cNvPr id="42138" name="Line 547"/>
              <p:cNvSpPr>
                <a:spLocks noChangeShapeType="1"/>
              </p:cNvSpPr>
              <p:nvPr/>
            </p:nvSpPr>
            <p:spPr bwMode="auto">
              <a:xfrm rot="12348802" flipH="1">
                <a:off x="8158133" y="2241538"/>
                <a:ext cx="117475" cy="1428750"/>
              </a:xfrm>
              <a:prstGeom prst="line">
                <a:avLst/>
              </a:prstGeom>
              <a:noFill/>
              <a:ln w="12700">
                <a:solidFill>
                  <a:srgbClr val="1313FF"/>
                </a:solidFill>
                <a:round/>
                <a:headEnd/>
                <a:tailEnd/>
              </a:ln>
            </p:spPr>
            <p:txBody>
              <a:bodyPr/>
              <a:lstStyle/>
              <a:p>
                <a:endParaRPr lang="ar-JO"/>
              </a:p>
            </p:txBody>
          </p:sp>
          <p:sp>
            <p:nvSpPr>
              <p:cNvPr id="42139" name="Line 548"/>
              <p:cNvSpPr>
                <a:spLocks noChangeShapeType="1"/>
              </p:cNvSpPr>
              <p:nvPr/>
            </p:nvSpPr>
            <p:spPr bwMode="auto">
              <a:xfrm rot="9650327" flipH="1">
                <a:off x="8301008" y="2293925"/>
                <a:ext cx="47625" cy="1244600"/>
              </a:xfrm>
              <a:prstGeom prst="line">
                <a:avLst/>
              </a:prstGeom>
              <a:noFill/>
              <a:ln w="12700">
                <a:solidFill>
                  <a:srgbClr val="1313FF"/>
                </a:solidFill>
                <a:round/>
                <a:headEnd/>
                <a:tailEnd/>
              </a:ln>
            </p:spPr>
            <p:txBody>
              <a:bodyPr/>
              <a:lstStyle/>
              <a:p>
                <a:endParaRPr lang="ar-JO"/>
              </a:p>
            </p:txBody>
          </p:sp>
          <p:sp>
            <p:nvSpPr>
              <p:cNvPr id="42140" name="Line 549"/>
              <p:cNvSpPr>
                <a:spLocks noChangeShapeType="1"/>
              </p:cNvSpPr>
              <p:nvPr/>
            </p:nvSpPr>
            <p:spPr bwMode="auto">
              <a:xfrm rot="9993010">
                <a:off x="7442171" y="2270113"/>
                <a:ext cx="1076325" cy="1095375"/>
              </a:xfrm>
              <a:prstGeom prst="line">
                <a:avLst/>
              </a:prstGeom>
              <a:noFill/>
              <a:ln w="12700">
                <a:solidFill>
                  <a:srgbClr val="1313FF"/>
                </a:solidFill>
                <a:round/>
                <a:headEnd/>
                <a:tailEnd/>
              </a:ln>
            </p:spPr>
            <p:txBody>
              <a:bodyPr/>
              <a:lstStyle/>
              <a:p>
                <a:endParaRPr lang="ar-JO"/>
              </a:p>
            </p:txBody>
          </p:sp>
          <p:sp>
            <p:nvSpPr>
              <p:cNvPr id="42141" name="Line 550"/>
              <p:cNvSpPr>
                <a:spLocks noChangeShapeType="1"/>
              </p:cNvSpPr>
              <p:nvPr/>
            </p:nvSpPr>
            <p:spPr bwMode="auto">
              <a:xfrm rot="16061880" flipV="1">
                <a:off x="7861270" y="1881175"/>
                <a:ext cx="76200" cy="1524000"/>
              </a:xfrm>
              <a:prstGeom prst="line">
                <a:avLst/>
              </a:prstGeom>
              <a:noFill/>
              <a:ln w="12700">
                <a:solidFill>
                  <a:srgbClr val="1313FF"/>
                </a:solidFill>
                <a:round/>
                <a:headEnd/>
                <a:tailEnd/>
              </a:ln>
            </p:spPr>
            <p:txBody>
              <a:bodyPr/>
              <a:lstStyle/>
              <a:p>
                <a:endParaRPr lang="ar-JO"/>
              </a:p>
            </p:txBody>
          </p:sp>
          <p:sp>
            <p:nvSpPr>
              <p:cNvPr id="42142" name="Line 551"/>
              <p:cNvSpPr>
                <a:spLocks noChangeShapeType="1"/>
              </p:cNvSpPr>
              <p:nvPr/>
            </p:nvSpPr>
            <p:spPr bwMode="auto">
              <a:xfrm rot="-9853921">
                <a:off x="7148483" y="2365363"/>
                <a:ext cx="1089025" cy="1047750"/>
              </a:xfrm>
              <a:prstGeom prst="line">
                <a:avLst/>
              </a:prstGeom>
              <a:noFill/>
              <a:ln w="12700">
                <a:solidFill>
                  <a:srgbClr val="1313FF"/>
                </a:solidFill>
                <a:round/>
                <a:headEnd/>
                <a:tailEnd/>
              </a:ln>
            </p:spPr>
            <p:txBody>
              <a:bodyPr/>
              <a:lstStyle/>
              <a:p>
                <a:endParaRPr lang="ar-JO"/>
              </a:p>
            </p:txBody>
          </p:sp>
          <p:sp>
            <p:nvSpPr>
              <p:cNvPr id="42143" name="Line 552"/>
              <p:cNvSpPr>
                <a:spLocks noChangeShapeType="1"/>
              </p:cNvSpPr>
              <p:nvPr/>
            </p:nvSpPr>
            <p:spPr bwMode="auto">
              <a:xfrm rot="9670693">
                <a:off x="7280246" y="2620950"/>
                <a:ext cx="1066800" cy="1066800"/>
              </a:xfrm>
              <a:prstGeom prst="line">
                <a:avLst/>
              </a:prstGeom>
              <a:noFill/>
              <a:ln w="12700">
                <a:solidFill>
                  <a:srgbClr val="1313FF"/>
                </a:solidFill>
                <a:round/>
                <a:headEnd/>
                <a:tailEnd/>
              </a:ln>
            </p:spPr>
            <p:txBody>
              <a:bodyPr/>
              <a:lstStyle/>
              <a:p>
                <a:endParaRPr lang="ar-JO"/>
              </a:p>
            </p:txBody>
          </p:sp>
          <p:sp>
            <p:nvSpPr>
              <p:cNvPr id="42144" name="Line 553"/>
              <p:cNvSpPr>
                <a:spLocks noChangeShapeType="1"/>
              </p:cNvSpPr>
              <p:nvPr/>
            </p:nvSpPr>
            <p:spPr bwMode="auto">
              <a:xfrm rot="9589156">
                <a:off x="6778596" y="2574913"/>
                <a:ext cx="1219200" cy="1219200"/>
              </a:xfrm>
              <a:prstGeom prst="line">
                <a:avLst/>
              </a:prstGeom>
              <a:noFill/>
              <a:ln w="12700">
                <a:solidFill>
                  <a:srgbClr val="1313FF"/>
                </a:solidFill>
                <a:round/>
                <a:headEnd/>
                <a:tailEnd/>
              </a:ln>
            </p:spPr>
            <p:txBody>
              <a:bodyPr/>
              <a:lstStyle/>
              <a:p>
                <a:endParaRPr lang="ar-JO"/>
              </a:p>
            </p:txBody>
          </p:sp>
          <p:sp>
            <p:nvSpPr>
              <p:cNvPr id="42145" name="Line 554"/>
              <p:cNvSpPr>
                <a:spLocks noChangeShapeType="1"/>
              </p:cNvSpPr>
              <p:nvPr/>
            </p:nvSpPr>
            <p:spPr bwMode="auto">
              <a:xfrm rot="8277524" flipH="1">
                <a:off x="8169246" y="2178038"/>
                <a:ext cx="20638" cy="1409700"/>
              </a:xfrm>
              <a:prstGeom prst="line">
                <a:avLst/>
              </a:prstGeom>
              <a:noFill/>
              <a:ln w="12700">
                <a:solidFill>
                  <a:srgbClr val="1313FF"/>
                </a:solidFill>
                <a:round/>
                <a:headEnd/>
                <a:tailEnd/>
              </a:ln>
            </p:spPr>
            <p:txBody>
              <a:bodyPr/>
              <a:lstStyle/>
              <a:p>
                <a:endParaRPr lang="ar-JO"/>
              </a:p>
            </p:txBody>
          </p:sp>
          <p:sp>
            <p:nvSpPr>
              <p:cNvPr id="42146" name="Line 498"/>
              <p:cNvSpPr>
                <a:spLocks noChangeShapeType="1"/>
              </p:cNvSpPr>
              <p:nvPr/>
            </p:nvSpPr>
            <p:spPr bwMode="auto">
              <a:xfrm rot="18623595" flipV="1">
                <a:off x="8099395" y="2033575"/>
                <a:ext cx="92075" cy="1365250"/>
              </a:xfrm>
              <a:prstGeom prst="line">
                <a:avLst/>
              </a:prstGeom>
              <a:noFill/>
              <a:ln w="12700">
                <a:solidFill>
                  <a:srgbClr val="1313FF"/>
                </a:solidFill>
                <a:round/>
                <a:headEnd/>
                <a:tailEnd/>
              </a:ln>
            </p:spPr>
            <p:txBody>
              <a:bodyPr/>
              <a:lstStyle/>
              <a:p>
                <a:endParaRPr lang="ar-JO"/>
              </a:p>
            </p:txBody>
          </p:sp>
          <p:sp>
            <p:nvSpPr>
              <p:cNvPr id="42147" name="Line 105"/>
              <p:cNvSpPr>
                <a:spLocks noChangeShapeType="1"/>
              </p:cNvSpPr>
              <p:nvPr/>
            </p:nvSpPr>
            <p:spPr bwMode="auto">
              <a:xfrm flipV="1">
                <a:off x="3862358" y="2225663"/>
                <a:ext cx="457200" cy="76200"/>
              </a:xfrm>
              <a:prstGeom prst="line">
                <a:avLst/>
              </a:prstGeom>
              <a:noFill/>
              <a:ln w="12700">
                <a:solidFill>
                  <a:srgbClr val="1313FF"/>
                </a:solidFill>
                <a:round/>
                <a:headEnd/>
                <a:tailEnd/>
              </a:ln>
            </p:spPr>
            <p:txBody>
              <a:bodyPr/>
              <a:lstStyle/>
              <a:p>
                <a:endParaRPr lang="ar-JO"/>
              </a:p>
            </p:txBody>
          </p:sp>
          <p:sp>
            <p:nvSpPr>
              <p:cNvPr id="42148" name="Line 106"/>
              <p:cNvSpPr>
                <a:spLocks noChangeShapeType="1"/>
              </p:cNvSpPr>
              <p:nvPr/>
            </p:nvSpPr>
            <p:spPr bwMode="auto">
              <a:xfrm flipV="1">
                <a:off x="4167158" y="2301863"/>
                <a:ext cx="457200" cy="76200"/>
              </a:xfrm>
              <a:prstGeom prst="line">
                <a:avLst/>
              </a:prstGeom>
              <a:noFill/>
              <a:ln w="12700">
                <a:solidFill>
                  <a:srgbClr val="1313FF"/>
                </a:solidFill>
                <a:round/>
                <a:headEnd/>
                <a:tailEnd/>
              </a:ln>
            </p:spPr>
            <p:txBody>
              <a:bodyPr/>
              <a:lstStyle/>
              <a:p>
                <a:endParaRPr lang="ar-JO"/>
              </a:p>
            </p:txBody>
          </p:sp>
          <p:sp>
            <p:nvSpPr>
              <p:cNvPr id="42149" name="Line 107"/>
              <p:cNvSpPr>
                <a:spLocks noChangeShapeType="1"/>
              </p:cNvSpPr>
              <p:nvPr/>
            </p:nvSpPr>
            <p:spPr bwMode="auto">
              <a:xfrm flipV="1">
                <a:off x="4471958" y="2301863"/>
                <a:ext cx="609600" cy="0"/>
              </a:xfrm>
              <a:prstGeom prst="line">
                <a:avLst/>
              </a:prstGeom>
              <a:noFill/>
              <a:ln w="12700">
                <a:solidFill>
                  <a:srgbClr val="1313FF"/>
                </a:solidFill>
                <a:round/>
                <a:headEnd/>
                <a:tailEnd/>
              </a:ln>
            </p:spPr>
            <p:txBody>
              <a:bodyPr/>
              <a:lstStyle/>
              <a:p>
                <a:endParaRPr lang="ar-JO"/>
              </a:p>
            </p:txBody>
          </p:sp>
          <p:sp>
            <p:nvSpPr>
              <p:cNvPr id="42150" name="Line 108"/>
              <p:cNvSpPr>
                <a:spLocks noChangeShapeType="1"/>
              </p:cNvSpPr>
              <p:nvPr/>
            </p:nvSpPr>
            <p:spPr bwMode="auto">
              <a:xfrm flipV="1">
                <a:off x="4852958" y="2301863"/>
                <a:ext cx="457200" cy="76200"/>
              </a:xfrm>
              <a:prstGeom prst="line">
                <a:avLst/>
              </a:prstGeom>
              <a:noFill/>
              <a:ln w="12700">
                <a:solidFill>
                  <a:srgbClr val="1313FF"/>
                </a:solidFill>
                <a:round/>
                <a:headEnd/>
                <a:tailEnd/>
              </a:ln>
            </p:spPr>
            <p:txBody>
              <a:bodyPr/>
              <a:lstStyle/>
              <a:p>
                <a:endParaRPr lang="ar-JO"/>
              </a:p>
            </p:txBody>
          </p:sp>
          <p:sp>
            <p:nvSpPr>
              <p:cNvPr id="42151" name="Line 109"/>
              <p:cNvSpPr>
                <a:spLocks noChangeShapeType="1"/>
              </p:cNvSpPr>
              <p:nvPr/>
            </p:nvSpPr>
            <p:spPr bwMode="auto">
              <a:xfrm rot="2372930" flipV="1">
                <a:off x="4419571" y="2233600"/>
                <a:ext cx="457200" cy="152400"/>
              </a:xfrm>
              <a:prstGeom prst="line">
                <a:avLst/>
              </a:prstGeom>
              <a:noFill/>
              <a:ln w="12700">
                <a:solidFill>
                  <a:srgbClr val="1313FF"/>
                </a:solidFill>
                <a:round/>
                <a:headEnd/>
                <a:tailEnd/>
              </a:ln>
            </p:spPr>
            <p:txBody>
              <a:bodyPr/>
              <a:lstStyle/>
              <a:p>
                <a:endParaRPr lang="ar-JO"/>
              </a:p>
            </p:txBody>
          </p:sp>
          <p:sp>
            <p:nvSpPr>
              <p:cNvPr id="42152" name="Line 110"/>
              <p:cNvSpPr>
                <a:spLocks noChangeShapeType="1"/>
              </p:cNvSpPr>
              <p:nvPr/>
            </p:nvSpPr>
            <p:spPr bwMode="auto">
              <a:xfrm rot="2372930" flipV="1">
                <a:off x="4578321" y="2174863"/>
                <a:ext cx="473075" cy="277813"/>
              </a:xfrm>
              <a:prstGeom prst="line">
                <a:avLst/>
              </a:prstGeom>
              <a:noFill/>
              <a:ln w="12700">
                <a:solidFill>
                  <a:srgbClr val="1313FF"/>
                </a:solidFill>
                <a:round/>
                <a:headEnd/>
                <a:tailEnd/>
              </a:ln>
            </p:spPr>
            <p:txBody>
              <a:bodyPr/>
              <a:lstStyle/>
              <a:p>
                <a:endParaRPr lang="ar-JO"/>
              </a:p>
            </p:txBody>
          </p:sp>
          <p:sp>
            <p:nvSpPr>
              <p:cNvPr id="42153" name="Line 111"/>
              <p:cNvSpPr>
                <a:spLocks noChangeShapeType="1"/>
              </p:cNvSpPr>
              <p:nvPr/>
            </p:nvSpPr>
            <p:spPr bwMode="auto">
              <a:xfrm rot="6109587" flipV="1">
                <a:off x="4052858" y="2255825"/>
                <a:ext cx="76200" cy="152400"/>
              </a:xfrm>
              <a:prstGeom prst="line">
                <a:avLst/>
              </a:prstGeom>
              <a:noFill/>
              <a:ln w="12700">
                <a:solidFill>
                  <a:srgbClr val="1313FF"/>
                </a:solidFill>
                <a:round/>
                <a:headEnd/>
                <a:tailEnd/>
              </a:ln>
            </p:spPr>
            <p:txBody>
              <a:bodyPr/>
              <a:lstStyle/>
              <a:p>
                <a:endParaRPr lang="ar-JO"/>
              </a:p>
            </p:txBody>
          </p:sp>
          <p:sp>
            <p:nvSpPr>
              <p:cNvPr id="42154" name="Line 112"/>
              <p:cNvSpPr>
                <a:spLocks noChangeShapeType="1"/>
              </p:cNvSpPr>
              <p:nvPr/>
            </p:nvSpPr>
            <p:spPr bwMode="auto">
              <a:xfrm rot="2372930" flipV="1">
                <a:off x="3998883" y="2241538"/>
                <a:ext cx="320675" cy="125413"/>
              </a:xfrm>
              <a:prstGeom prst="line">
                <a:avLst/>
              </a:prstGeom>
              <a:noFill/>
              <a:ln w="12700">
                <a:solidFill>
                  <a:srgbClr val="1313FF"/>
                </a:solidFill>
                <a:round/>
                <a:headEnd/>
                <a:tailEnd/>
              </a:ln>
            </p:spPr>
            <p:txBody>
              <a:bodyPr/>
              <a:lstStyle/>
              <a:p>
                <a:endParaRPr lang="ar-JO"/>
              </a:p>
            </p:txBody>
          </p:sp>
          <p:sp>
            <p:nvSpPr>
              <p:cNvPr id="42155" name="Line 113"/>
              <p:cNvSpPr>
                <a:spLocks noChangeShapeType="1"/>
              </p:cNvSpPr>
              <p:nvPr/>
            </p:nvSpPr>
            <p:spPr bwMode="auto">
              <a:xfrm rot="6109587" flipV="1">
                <a:off x="4387820" y="2266938"/>
                <a:ext cx="152400" cy="76200"/>
              </a:xfrm>
              <a:prstGeom prst="line">
                <a:avLst/>
              </a:prstGeom>
              <a:noFill/>
              <a:ln w="12700">
                <a:solidFill>
                  <a:srgbClr val="1313FF"/>
                </a:solidFill>
                <a:round/>
                <a:headEnd/>
                <a:tailEnd/>
              </a:ln>
            </p:spPr>
            <p:txBody>
              <a:bodyPr/>
              <a:lstStyle/>
              <a:p>
                <a:endParaRPr lang="ar-JO"/>
              </a:p>
            </p:txBody>
          </p:sp>
          <p:sp>
            <p:nvSpPr>
              <p:cNvPr id="42156" name="Line 114"/>
              <p:cNvSpPr>
                <a:spLocks noChangeShapeType="1"/>
              </p:cNvSpPr>
              <p:nvPr/>
            </p:nvSpPr>
            <p:spPr bwMode="auto">
              <a:xfrm rot="4863504" flipV="1">
                <a:off x="4752945" y="2308213"/>
                <a:ext cx="152400" cy="0"/>
              </a:xfrm>
              <a:prstGeom prst="line">
                <a:avLst/>
              </a:prstGeom>
              <a:noFill/>
              <a:ln w="12700">
                <a:solidFill>
                  <a:srgbClr val="1313FF"/>
                </a:solidFill>
                <a:round/>
                <a:headEnd/>
                <a:tailEnd/>
              </a:ln>
            </p:spPr>
            <p:txBody>
              <a:bodyPr/>
              <a:lstStyle/>
              <a:p>
                <a:endParaRPr lang="ar-JO"/>
              </a:p>
            </p:txBody>
          </p:sp>
          <p:sp>
            <p:nvSpPr>
              <p:cNvPr id="42157" name="Line 115"/>
              <p:cNvSpPr>
                <a:spLocks noChangeShapeType="1"/>
              </p:cNvSpPr>
              <p:nvPr/>
            </p:nvSpPr>
            <p:spPr bwMode="auto">
              <a:xfrm rot="4863504" flipV="1">
                <a:off x="5024408" y="2214550"/>
                <a:ext cx="84138" cy="122238"/>
              </a:xfrm>
              <a:prstGeom prst="line">
                <a:avLst/>
              </a:prstGeom>
              <a:noFill/>
              <a:ln w="12700">
                <a:solidFill>
                  <a:srgbClr val="1313FF"/>
                </a:solidFill>
                <a:round/>
                <a:headEnd/>
                <a:tailEnd/>
              </a:ln>
            </p:spPr>
            <p:txBody>
              <a:bodyPr/>
              <a:lstStyle/>
              <a:p>
                <a:endParaRPr lang="ar-JO"/>
              </a:p>
            </p:txBody>
          </p:sp>
          <p:sp>
            <p:nvSpPr>
              <p:cNvPr id="42158" name="Line 116"/>
              <p:cNvSpPr>
                <a:spLocks noChangeShapeType="1"/>
              </p:cNvSpPr>
              <p:nvPr/>
            </p:nvSpPr>
            <p:spPr bwMode="auto">
              <a:xfrm rot="6661901" flipV="1">
                <a:off x="5329208" y="2255825"/>
                <a:ext cx="282575" cy="566738"/>
              </a:xfrm>
              <a:prstGeom prst="line">
                <a:avLst/>
              </a:prstGeom>
              <a:noFill/>
              <a:ln w="12700">
                <a:solidFill>
                  <a:srgbClr val="1313FF"/>
                </a:solidFill>
                <a:round/>
                <a:headEnd/>
                <a:tailEnd/>
              </a:ln>
            </p:spPr>
            <p:txBody>
              <a:bodyPr/>
              <a:lstStyle/>
              <a:p>
                <a:endParaRPr lang="ar-JO"/>
              </a:p>
            </p:txBody>
          </p:sp>
          <p:sp>
            <p:nvSpPr>
              <p:cNvPr id="42159" name="Line 193"/>
              <p:cNvSpPr>
                <a:spLocks noChangeShapeType="1"/>
              </p:cNvSpPr>
              <p:nvPr/>
            </p:nvSpPr>
            <p:spPr bwMode="auto">
              <a:xfrm rot="2372930" flipV="1">
                <a:off x="4125883" y="2182800"/>
                <a:ext cx="533400" cy="304800"/>
              </a:xfrm>
              <a:prstGeom prst="line">
                <a:avLst/>
              </a:prstGeom>
              <a:noFill/>
              <a:ln w="12700">
                <a:solidFill>
                  <a:srgbClr val="1313FF"/>
                </a:solidFill>
                <a:round/>
                <a:headEnd/>
                <a:tailEnd/>
              </a:ln>
            </p:spPr>
            <p:txBody>
              <a:bodyPr/>
              <a:lstStyle/>
              <a:p>
                <a:endParaRPr lang="ar-JO"/>
              </a:p>
            </p:txBody>
          </p:sp>
          <p:sp>
            <p:nvSpPr>
              <p:cNvPr id="42160" name="Line 195"/>
              <p:cNvSpPr>
                <a:spLocks noChangeShapeType="1"/>
              </p:cNvSpPr>
              <p:nvPr/>
            </p:nvSpPr>
            <p:spPr bwMode="auto">
              <a:xfrm rot="-2856037" flipH="1" flipV="1">
                <a:off x="3844895" y="2287575"/>
                <a:ext cx="139700" cy="30163"/>
              </a:xfrm>
              <a:prstGeom prst="line">
                <a:avLst/>
              </a:prstGeom>
              <a:noFill/>
              <a:ln w="12700">
                <a:solidFill>
                  <a:srgbClr val="1313FF"/>
                </a:solidFill>
                <a:round/>
                <a:headEnd/>
                <a:tailEnd/>
              </a:ln>
            </p:spPr>
            <p:txBody>
              <a:bodyPr/>
              <a:lstStyle/>
              <a:p>
                <a:endParaRPr lang="ar-JO"/>
              </a:p>
            </p:txBody>
          </p:sp>
          <p:sp>
            <p:nvSpPr>
              <p:cNvPr id="42161" name="Line 196"/>
              <p:cNvSpPr>
                <a:spLocks noChangeShapeType="1"/>
              </p:cNvSpPr>
              <p:nvPr/>
            </p:nvSpPr>
            <p:spPr bwMode="auto">
              <a:xfrm rot="1093882" flipV="1">
                <a:off x="3709958" y="2225663"/>
                <a:ext cx="457200" cy="152400"/>
              </a:xfrm>
              <a:prstGeom prst="line">
                <a:avLst/>
              </a:prstGeom>
              <a:noFill/>
              <a:ln w="12700">
                <a:solidFill>
                  <a:srgbClr val="1313FF"/>
                </a:solidFill>
                <a:round/>
                <a:headEnd/>
                <a:tailEnd/>
              </a:ln>
            </p:spPr>
            <p:txBody>
              <a:bodyPr/>
              <a:lstStyle/>
              <a:p>
                <a:endParaRPr lang="ar-JO"/>
              </a:p>
            </p:txBody>
          </p:sp>
          <p:sp>
            <p:nvSpPr>
              <p:cNvPr id="42162" name="Line 197"/>
              <p:cNvSpPr>
                <a:spLocks noChangeShapeType="1"/>
              </p:cNvSpPr>
              <p:nvPr/>
            </p:nvSpPr>
            <p:spPr bwMode="auto">
              <a:xfrm rot="1093882" flipV="1">
                <a:off x="4167158" y="2225663"/>
                <a:ext cx="457200" cy="152400"/>
              </a:xfrm>
              <a:prstGeom prst="line">
                <a:avLst/>
              </a:prstGeom>
              <a:noFill/>
              <a:ln w="12700">
                <a:solidFill>
                  <a:srgbClr val="1313FF"/>
                </a:solidFill>
                <a:round/>
                <a:headEnd/>
                <a:tailEnd/>
              </a:ln>
            </p:spPr>
            <p:txBody>
              <a:bodyPr/>
              <a:lstStyle/>
              <a:p>
                <a:endParaRPr lang="ar-JO"/>
              </a:p>
            </p:txBody>
          </p:sp>
          <p:sp>
            <p:nvSpPr>
              <p:cNvPr id="42163" name="Line 198"/>
              <p:cNvSpPr>
                <a:spLocks noChangeShapeType="1"/>
              </p:cNvSpPr>
              <p:nvPr/>
            </p:nvSpPr>
            <p:spPr bwMode="auto">
              <a:xfrm rot="1093882" flipV="1">
                <a:off x="4624358" y="2225663"/>
                <a:ext cx="457200" cy="152400"/>
              </a:xfrm>
              <a:prstGeom prst="line">
                <a:avLst/>
              </a:prstGeom>
              <a:noFill/>
              <a:ln w="12700">
                <a:solidFill>
                  <a:srgbClr val="1313FF"/>
                </a:solidFill>
                <a:round/>
                <a:headEnd/>
                <a:tailEnd/>
              </a:ln>
            </p:spPr>
            <p:txBody>
              <a:bodyPr/>
              <a:lstStyle/>
              <a:p>
                <a:endParaRPr lang="ar-JO"/>
              </a:p>
            </p:txBody>
          </p:sp>
          <p:sp>
            <p:nvSpPr>
              <p:cNvPr id="42164" name="Line 199"/>
              <p:cNvSpPr>
                <a:spLocks noChangeShapeType="1"/>
              </p:cNvSpPr>
              <p:nvPr/>
            </p:nvSpPr>
            <p:spPr bwMode="auto">
              <a:xfrm rot="21115969" flipV="1">
                <a:off x="4846608" y="2290750"/>
                <a:ext cx="304800" cy="76200"/>
              </a:xfrm>
              <a:prstGeom prst="line">
                <a:avLst/>
              </a:prstGeom>
              <a:noFill/>
              <a:ln w="12700">
                <a:solidFill>
                  <a:srgbClr val="1313FF"/>
                </a:solidFill>
                <a:round/>
                <a:headEnd/>
                <a:tailEnd/>
              </a:ln>
            </p:spPr>
            <p:txBody>
              <a:bodyPr/>
              <a:lstStyle/>
              <a:p>
                <a:endParaRPr lang="ar-JO"/>
              </a:p>
            </p:txBody>
          </p:sp>
          <p:sp>
            <p:nvSpPr>
              <p:cNvPr id="42165" name="Line 200"/>
              <p:cNvSpPr>
                <a:spLocks noChangeShapeType="1"/>
              </p:cNvSpPr>
              <p:nvPr/>
            </p:nvSpPr>
            <p:spPr bwMode="auto">
              <a:xfrm rot="19544076" flipV="1">
                <a:off x="3959196" y="2276463"/>
                <a:ext cx="76200" cy="76200"/>
              </a:xfrm>
              <a:prstGeom prst="line">
                <a:avLst/>
              </a:prstGeom>
              <a:noFill/>
              <a:ln w="12700">
                <a:solidFill>
                  <a:srgbClr val="1313FF"/>
                </a:solidFill>
                <a:round/>
                <a:headEnd/>
                <a:tailEnd/>
              </a:ln>
            </p:spPr>
            <p:txBody>
              <a:bodyPr/>
              <a:lstStyle/>
              <a:p>
                <a:endParaRPr lang="ar-JO"/>
              </a:p>
            </p:txBody>
          </p:sp>
          <p:sp>
            <p:nvSpPr>
              <p:cNvPr id="42166" name="Line 201"/>
              <p:cNvSpPr>
                <a:spLocks noChangeShapeType="1"/>
              </p:cNvSpPr>
              <p:nvPr/>
            </p:nvSpPr>
            <p:spPr bwMode="auto">
              <a:xfrm rot="19544076" flipV="1">
                <a:off x="4829146" y="2305038"/>
                <a:ext cx="195263" cy="17463"/>
              </a:xfrm>
              <a:prstGeom prst="line">
                <a:avLst/>
              </a:prstGeom>
              <a:noFill/>
              <a:ln w="12700">
                <a:solidFill>
                  <a:srgbClr val="1313FF"/>
                </a:solidFill>
                <a:round/>
                <a:headEnd/>
                <a:tailEnd/>
              </a:ln>
            </p:spPr>
            <p:txBody>
              <a:bodyPr/>
              <a:lstStyle/>
              <a:p>
                <a:endParaRPr lang="ar-JO"/>
              </a:p>
            </p:txBody>
          </p:sp>
          <p:sp>
            <p:nvSpPr>
              <p:cNvPr id="42167" name="Line 202"/>
              <p:cNvSpPr>
                <a:spLocks noChangeShapeType="1"/>
              </p:cNvSpPr>
              <p:nvPr/>
            </p:nvSpPr>
            <p:spPr bwMode="auto">
              <a:xfrm rot="1093882" flipV="1">
                <a:off x="5068858" y="2298688"/>
                <a:ext cx="457200" cy="76200"/>
              </a:xfrm>
              <a:prstGeom prst="line">
                <a:avLst/>
              </a:prstGeom>
              <a:noFill/>
              <a:ln w="12700">
                <a:solidFill>
                  <a:srgbClr val="1313FF"/>
                </a:solidFill>
                <a:round/>
                <a:headEnd/>
                <a:tailEnd/>
              </a:ln>
            </p:spPr>
            <p:txBody>
              <a:bodyPr/>
              <a:lstStyle/>
              <a:p>
                <a:endParaRPr lang="ar-JO"/>
              </a:p>
            </p:txBody>
          </p:sp>
          <p:sp>
            <p:nvSpPr>
              <p:cNvPr id="42168" name="Line 203"/>
              <p:cNvSpPr>
                <a:spLocks noChangeShapeType="1"/>
              </p:cNvSpPr>
              <p:nvPr/>
            </p:nvSpPr>
            <p:spPr bwMode="auto">
              <a:xfrm rot="19544076" flipV="1">
                <a:off x="3279746" y="2578088"/>
                <a:ext cx="1366838" cy="336550"/>
              </a:xfrm>
              <a:prstGeom prst="line">
                <a:avLst/>
              </a:prstGeom>
              <a:noFill/>
              <a:ln w="12700">
                <a:solidFill>
                  <a:srgbClr val="1313FF"/>
                </a:solidFill>
                <a:round/>
                <a:headEnd/>
                <a:tailEnd/>
              </a:ln>
            </p:spPr>
            <p:txBody>
              <a:bodyPr/>
              <a:lstStyle/>
              <a:p>
                <a:endParaRPr lang="ar-JO"/>
              </a:p>
            </p:txBody>
          </p:sp>
          <p:sp>
            <p:nvSpPr>
              <p:cNvPr id="42169" name="Line 204"/>
              <p:cNvSpPr>
                <a:spLocks noChangeShapeType="1"/>
              </p:cNvSpPr>
              <p:nvPr/>
            </p:nvSpPr>
            <p:spPr bwMode="auto">
              <a:xfrm rot="19544076" flipV="1">
                <a:off x="4360833" y="2363775"/>
                <a:ext cx="487363" cy="71438"/>
              </a:xfrm>
              <a:prstGeom prst="line">
                <a:avLst/>
              </a:prstGeom>
              <a:noFill/>
              <a:ln w="12700">
                <a:solidFill>
                  <a:srgbClr val="1313FF"/>
                </a:solidFill>
                <a:round/>
                <a:headEnd/>
                <a:tailEnd/>
              </a:ln>
            </p:spPr>
            <p:txBody>
              <a:bodyPr/>
              <a:lstStyle/>
              <a:p>
                <a:endParaRPr lang="ar-JO"/>
              </a:p>
            </p:txBody>
          </p:sp>
          <p:sp>
            <p:nvSpPr>
              <p:cNvPr id="42170" name="Line 205"/>
              <p:cNvSpPr>
                <a:spLocks noChangeShapeType="1"/>
              </p:cNvSpPr>
              <p:nvPr/>
            </p:nvSpPr>
            <p:spPr bwMode="auto">
              <a:xfrm rot="21115969" flipV="1">
                <a:off x="3484533" y="2395525"/>
                <a:ext cx="1839913" cy="287338"/>
              </a:xfrm>
              <a:prstGeom prst="line">
                <a:avLst/>
              </a:prstGeom>
              <a:noFill/>
              <a:ln w="12700">
                <a:solidFill>
                  <a:srgbClr val="1313FF"/>
                </a:solidFill>
                <a:round/>
                <a:headEnd/>
                <a:tailEnd/>
              </a:ln>
            </p:spPr>
            <p:txBody>
              <a:bodyPr/>
              <a:lstStyle/>
              <a:p>
                <a:endParaRPr lang="ar-JO"/>
              </a:p>
            </p:txBody>
          </p:sp>
          <p:sp>
            <p:nvSpPr>
              <p:cNvPr id="42171" name="AutoShape 222"/>
              <p:cNvSpPr>
                <a:spLocks noChangeArrowheads="1"/>
              </p:cNvSpPr>
              <p:nvPr/>
            </p:nvSpPr>
            <p:spPr bwMode="auto">
              <a:xfrm rot="-10269">
                <a:off x="5765771" y="2681275"/>
                <a:ext cx="609600" cy="269875"/>
              </a:xfrm>
              <a:prstGeom prst="rightArrow">
                <a:avLst>
                  <a:gd name="adj1" fmla="val 50000"/>
                  <a:gd name="adj2" fmla="val 56471"/>
                </a:avLst>
              </a:prstGeom>
              <a:solidFill>
                <a:schemeClr val="tx1"/>
              </a:solidFill>
              <a:ln w="9525">
                <a:solidFill>
                  <a:schemeClr val="tx1"/>
                </a:solidFill>
                <a:miter lim="800000"/>
                <a:headEnd/>
                <a:tailEnd/>
              </a:ln>
            </p:spPr>
            <p:txBody>
              <a:bodyPr wrap="none" anchor="ctr"/>
              <a:lstStyle/>
              <a:p>
                <a:pPr eaLnBrk="1" hangingPunct="1"/>
                <a:endParaRPr lang="ar-JO" altLang="ar-JO">
                  <a:latin typeface="Calibri" pitchFamily="34" charset="0"/>
                </a:endParaRPr>
              </a:p>
            </p:txBody>
          </p:sp>
          <p:sp>
            <p:nvSpPr>
              <p:cNvPr id="42172" name="Text Box 263"/>
              <p:cNvSpPr txBox="1">
                <a:spLocks noChangeArrowheads="1"/>
              </p:cNvSpPr>
              <p:nvPr/>
            </p:nvSpPr>
            <p:spPr bwMode="auto">
              <a:xfrm>
                <a:off x="1042958" y="3521063"/>
                <a:ext cx="1066800" cy="657619"/>
              </a:xfrm>
              <a:prstGeom prst="rect">
                <a:avLst/>
              </a:prstGeom>
              <a:noFill/>
              <a:ln w="9525">
                <a:noFill/>
                <a:miter lim="800000"/>
                <a:headEnd/>
                <a:tailEnd/>
              </a:ln>
            </p:spPr>
            <p:txBody>
              <a:bodyPr>
                <a:spAutoFit/>
              </a:bodyPr>
              <a:lstStyle/>
              <a:p>
                <a:pPr eaLnBrk="1" hangingPunct="1">
                  <a:spcBef>
                    <a:spcPct val="50000"/>
                  </a:spcBef>
                </a:pPr>
                <a:r>
                  <a:rPr lang="en-US" altLang="ar-JO" sz="1600">
                    <a:latin typeface="Calibri" pitchFamily="34" charset="0"/>
                  </a:rPr>
                  <a:t>Porous Material</a:t>
                </a:r>
              </a:p>
            </p:txBody>
          </p:sp>
          <p:sp>
            <p:nvSpPr>
              <p:cNvPr id="42173" name="Text Box 264"/>
              <p:cNvSpPr txBox="1">
                <a:spLocks noChangeArrowheads="1"/>
              </p:cNvSpPr>
              <p:nvPr/>
            </p:nvSpPr>
            <p:spPr bwMode="auto">
              <a:xfrm>
                <a:off x="3557558" y="3597263"/>
                <a:ext cx="1981200" cy="657619"/>
              </a:xfrm>
              <a:prstGeom prst="rect">
                <a:avLst/>
              </a:prstGeom>
              <a:noFill/>
              <a:ln w="9525">
                <a:noFill/>
                <a:miter lim="800000"/>
                <a:headEnd/>
                <a:tailEnd/>
              </a:ln>
            </p:spPr>
            <p:txBody>
              <a:bodyPr>
                <a:spAutoFit/>
              </a:bodyPr>
              <a:lstStyle/>
              <a:p>
                <a:pPr algn="ctr" eaLnBrk="1" hangingPunct="1">
                  <a:spcBef>
                    <a:spcPct val="50000"/>
                  </a:spcBef>
                </a:pPr>
                <a:r>
                  <a:rPr lang="en-US" altLang="ar-JO" sz="1600">
                    <a:latin typeface="Calibri" pitchFamily="34" charset="0"/>
                  </a:rPr>
                  <a:t>Proteins Entering Porous Material</a:t>
                </a:r>
              </a:p>
            </p:txBody>
          </p:sp>
          <p:sp>
            <p:nvSpPr>
              <p:cNvPr id="42174" name="Text Box 265"/>
              <p:cNvSpPr txBox="1">
                <a:spLocks noChangeArrowheads="1"/>
              </p:cNvSpPr>
              <p:nvPr/>
            </p:nvSpPr>
            <p:spPr bwMode="auto">
              <a:xfrm>
                <a:off x="6681758" y="3597263"/>
                <a:ext cx="1752600" cy="657619"/>
              </a:xfrm>
              <a:prstGeom prst="rect">
                <a:avLst/>
              </a:prstGeom>
              <a:noFill/>
              <a:ln w="9525">
                <a:noFill/>
                <a:miter lim="800000"/>
                <a:headEnd/>
                <a:tailEnd/>
              </a:ln>
            </p:spPr>
            <p:txBody>
              <a:bodyPr>
                <a:spAutoFit/>
              </a:bodyPr>
              <a:lstStyle/>
              <a:p>
                <a:pPr algn="ctr" eaLnBrk="1" hangingPunct="1">
                  <a:spcBef>
                    <a:spcPct val="50000"/>
                  </a:spcBef>
                </a:pPr>
                <a:r>
                  <a:rPr lang="en-US" altLang="ar-JO" sz="1600">
                    <a:latin typeface="Calibri" pitchFamily="34" charset="0"/>
                  </a:rPr>
                  <a:t>Smallest Move Fastest</a:t>
                </a:r>
              </a:p>
            </p:txBody>
          </p:sp>
          <p:sp>
            <p:nvSpPr>
              <p:cNvPr id="42175" name="Line 271"/>
              <p:cNvSpPr>
                <a:spLocks noChangeShapeType="1"/>
              </p:cNvSpPr>
              <p:nvPr/>
            </p:nvSpPr>
            <p:spPr bwMode="auto">
              <a:xfrm rot="2138229">
                <a:off x="4564033" y="2141525"/>
                <a:ext cx="20638" cy="1547813"/>
              </a:xfrm>
              <a:prstGeom prst="line">
                <a:avLst/>
              </a:prstGeom>
              <a:noFill/>
              <a:ln w="12700">
                <a:solidFill>
                  <a:srgbClr val="1313FF"/>
                </a:solidFill>
                <a:round/>
                <a:headEnd/>
                <a:tailEnd/>
              </a:ln>
            </p:spPr>
            <p:txBody>
              <a:bodyPr/>
              <a:lstStyle/>
              <a:p>
                <a:endParaRPr lang="ar-JO"/>
              </a:p>
            </p:txBody>
          </p:sp>
          <p:sp>
            <p:nvSpPr>
              <p:cNvPr id="42176" name="Line 272"/>
              <p:cNvSpPr>
                <a:spLocks noChangeShapeType="1"/>
              </p:cNvSpPr>
              <p:nvPr/>
            </p:nvSpPr>
            <p:spPr bwMode="auto">
              <a:xfrm rot="-4208110">
                <a:off x="3525808" y="2328850"/>
                <a:ext cx="1228725" cy="965200"/>
              </a:xfrm>
              <a:prstGeom prst="line">
                <a:avLst/>
              </a:prstGeom>
              <a:noFill/>
              <a:ln w="12700">
                <a:solidFill>
                  <a:srgbClr val="1313FF"/>
                </a:solidFill>
                <a:round/>
                <a:headEnd/>
                <a:tailEnd/>
              </a:ln>
            </p:spPr>
            <p:txBody>
              <a:bodyPr/>
              <a:lstStyle/>
              <a:p>
                <a:endParaRPr lang="ar-JO"/>
              </a:p>
            </p:txBody>
          </p:sp>
          <p:sp>
            <p:nvSpPr>
              <p:cNvPr id="42177" name="Line 273"/>
              <p:cNvSpPr>
                <a:spLocks noChangeShapeType="1"/>
              </p:cNvSpPr>
              <p:nvPr/>
            </p:nvSpPr>
            <p:spPr bwMode="auto">
              <a:xfrm rot="-4208110">
                <a:off x="3862358" y="2606663"/>
                <a:ext cx="1143000" cy="1143000"/>
              </a:xfrm>
              <a:prstGeom prst="line">
                <a:avLst/>
              </a:prstGeom>
              <a:noFill/>
              <a:ln w="12700">
                <a:solidFill>
                  <a:srgbClr val="1313FF"/>
                </a:solidFill>
                <a:round/>
                <a:headEnd/>
                <a:tailEnd/>
              </a:ln>
            </p:spPr>
            <p:txBody>
              <a:bodyPr/>
              <a:lstStyle/>
              <a:p>
                <a:endParaRPr lang="ar-JO"/>
              </a:p>
            </p:txBody>
          </p:sp>
          <p:sp>
            <p:nvSpPr>
              <p:cNvPr id="42178" name="Line 274"/>
              <p:cNvSpPr>
                <a:spLocks noChangeShapeType="1"/>
              </p:cNvSpPr>
              <p:nvPr/>
            </p:nvSpPr>
            <p:spPr bwMode="auto">
              <a:xfrm rot="-9813461">
                <a:off x="4135408" y="2436800"/>
                <a:ext cx="838200" cy="838200"/>
              </a:xfrm>
              <a:prstGeom prst="line">
                <a:avLst/>
              </a:prstGeom>
              <a:noFill/>
              <a:ln w="12700">
                <a:solidFill>
                  <a:srgbClr val="1313FF"/>
                </a:solidFill>
                <a:round/>
                <a:headEnd/>
                <a:tailEnd/>
              </a:ln>
            </p:spPr>
            <p:txBody>
              <a:bodyPr/>
              <a:lstStyle/>
              <a:p>
                <a:endParaRPr lang="ar-JO"/>
              </a:p>
            </p:txBody>
          </p:sp>
          <p:sp>
            <p:nvSpPr>
              <p:cNvPr id="42179" name="Line 275"/>
              <p:cNvSpPr>
                <a:spLocks noChangeShapeType="1"/>
              </p:cNvSpPr>
              <p:nvPr/>
            </p:nvSpPr>
            <p:spPr bwMode="auto">
              <a:xfrm rot="-6142126">
                <a:off x="4351308" y="2041513"/>
                <a:ext cx="7938" cy="833438"/>
              </a:xfrm>
              <a:prstGeom prst="line">
                <a:avLst/>
              </a:prstGeom>
              <a:noFill/>
              <a:ln w="12700">
                <a:solidFill>
                  <a:srgbClr val="1313FF"/>
                </a:solidFill>
                <a:round/>
                <a:headEnd/>
                <a:tailEnd/>
              </a:ln>
            </p:spPr>
            <p:txBody>
              <a:bodyPr/>
              <a:lstStyle/>
              <a:p>
                <a:endParaRPr lang="ar-JO"/>
              </a:p>
            </p:txBody>
          </p:sp>
          <p:sp>
            <p:nvSpPr>
              <p:cNvPr id="42180" name="Line 276"/>
              <p:cNvSpPr>
                <a:spLocks noChangeShapeType="1"/>
              </p:cNvSpPr>
              <p:nvPr/>
            </p:nvSpPr>
            <p:spPr bwMode="auto">
              <a:xfrm rot="-9813461">
                <a:off x="4298921" y="2362188"/>
                <a:ext cx="838200" cy="914400"/>
              </a:xfrm>
              <a:prstGeom prst="line">
                <a:avLst/>
              </a:prstGeom>
              <a:noFill/>
              <a:ln w="12700">
                <a:solidFill>
                  <a:srgbClr val="1313FF"/>
                </a:solidFill>
                <a:round/>
                <a:headEnd/>
                <a:tailEnd/>
              </a:ln>
            </p:spPr>
            <p:txBody>
              <a:bodyPr/>
              <a:lstStyle/>
              <a:p>
                <a:endParaRPr lang="ar-JO"/>
              </a:p>
            </p:txBody>
          </p:sp>
          <p:sp>
            <p:nvSpPr>
              <p:cNvPr id="42181" name="Line 277"/>
              <p:cNvSpPr>
                <a:spLocks noChangeShapeType="1"/>
              </p:cNvSpPr>
              <p:nvPr/>
            </p:nvSpPr>
            <p:spPr bwMode="auto">
              <a:xfrm rot="-9813461">
                <a:off x="3354358" y="2663813"/>
                <a:ext cx="912813" cy="771525"/>
              </a:xfrm>
              <a:prstGeom prst="line">
                <a:avLst/>
              </a:prstGeom>
              <a:noFill/>
              <a:ln w="12700">
                <a:solidFill>
                  <a:srgbClr val="1313FF"/>
                </a:solidFill>
                <a:round/>
                <a:headEnd/>
                <a:tailEnd/>
              </a:ln>
            </p:spPr>
            <p:txBody>
              <a:bodyPr/>
              <a:lstStyle/>
              <a:p>
                <a:endParaRPr lang="ar-JO"/>
              </a:p>
            </p:txBody>
          </p:sp>
          <p:sp>
            <p:nvSpPr>
              <p:cNvPr id="42182" name="Line 278"/>
              <p:cNvSpPr>
                <a:spLocks noChangeShapeType="1"/>
              </p:cNvSpPr>
              <p:nvPr/>
            </p:nvSpPr>
            <p:spPr bwMode="auto">
              <a:xfrm rot="11821325" flipH="1">
                <a:off x="4073496" y="2220900"/>
                <a:ext cx="28575" cy="1368425"/>
              </a:xfrm>
              <a:prstGeom prst="line">
                <a:avLst/>
              </a:prstGeom>
              <a:noFill/>
              <a:ln w="12700">
                <a:solidFill>
                  <a:srgbClr val="1313FF"/>
                </a:solidFill>
                <a:round/>
                <a:headEnd/>
                <a:tailEnd/>
              </a:ln>
            </p:spPr>
            <p:txBody>
              <a:bodyPr/>
              <a:lstStyle/>
              <a:p>
                <a:endParaRPr lang="ar-JO"/>
              </a:p>
            </p:txBody>
          </p:sp>
          <p:sp>
            <p:nvSpPr>
              <p:cNvPr id="42183" name="Line 279"/>
              <p:cNvSpPr>
                <a:spLocks noChangeShapeType="1"/>
              </p:cNvSpPr>
              <p:nvPr/>
            </p:nvSpPr>
            <p:spPr bwMode="auto">
              <a:xfrm rot="12382321" flipH="1">
                <a:off x="3803621" y="2144700"/>
                <a:ext cx="428625" cy="1446213"/>
              </a:xfrm>
              <a:prstGeom prst="line">
                <a:avLst/>
              </a:prstGeom>
              <a:noFill/>
              <a:ln w="12700">
                <a:solidFill>
                  <a:srgbClr val="1313FF"/>
                </a:solidFill>
                <a:round/>
                <a:headEnd/>
                <a:tailEnd/>
              </a:ln>
            </p:spPr>
            <p:txBody>
              <a:bodyPr/>
              <a:lstStyle/>
              <a:p>
                <a:endParaRPr lang="ar-JO"/>
              </a:p>
            </p:txBody>
          </p:sp>
          <p:sp>
            <p:nvSpPr>
              <p:cNvPr id="42184" name="Line 280"/>
              <p:cNvSpPr>
                <a:spLocks noChangeShapeType="1"/>
              </p:cNvSpPr>
              <p:nvPr/>
            </p:nvSpPr>
            <p:spPr bwMode="auto">
              <a:xfrm rot="-9813461">
                <a:off x="3724246" y="2498713"/>
                <a:ext cx="1044575" cy="952500"/>
              </a:xfrm>
              <a:prstGeom prst="line">
                <a:avLst/>
              </a:prstGeom>
              <a:noFill/>
              <a:ln w="12700">
                <a:solidFill>
                  <a:srgbClr val="1313FF"/>
                </a:solidFill>
                <a:round/>
                <a:headEnd/>
                <a:tailEnd/>
              </a:ln>
            </p:spPr>
            <p:txBody>
              <a:bodyPr/>
              <a:lstStyle/>
              <a:p>
                <a:endParaRPr lang="ar-JO"/>
              </a:p>
            </p:txBody>
          </p:sp>
          <p:sp>
            <p:nvSpPr>
              <p:cNvPr id="42185" name="Line 281"/>
              <p:cNvSpPr>
                <a:spLocks noChangeShapeType="1"/>
              </p:cNvSpPr>
              <p:nvPr/>
            </p:nvSpPr>
            <p:spPr bwMode="auto">
              <a:xfrm rot="-6287452">
                <a:off x="3914745" y="2489188"/>
                <a:ext cx="914400" cy="1011238"/>
              </a:xfrm>
              <a:prstGeom prst="line">
                <a:avLst/>
              </a:prstGeom>
              <a:noFill/>
              <a:ln w="12700">
                <a:solidFill>
                  <a:srgbClr val="1313FF"/>
                </a:solidFill>
                <a:round/>
                <a:headEnd/>
                <a:tailEnd/>
              </a:ln>
            </p:spPr>
            <p:txBody>
              <a:bodyPr/>
              <a:lstStyle/>
              <a:p>
                <a:endParaRPr lang="ar-JO"/>
              </a:p>
            </p:txBody>
          </p:sp>
          <p:sp>
            <p:nvSpPr>
              <p:cNvPr id="42186" name="Line 282"/>
              <p:cNvSpPr>
                <a:spLocks noChangeShapeType="1"/>
              </p:cNvSpPr>
              <p:nvPr/>
            </p:nvSpPr>
            <p:spPr bwMode="auto">
              <a:xfrm flipH="1">
                <a:off x="3709958" y="2378063"/>
                <a:ext cx="152400" cy="1143000"/>
              </a:xfrm>
              <a:prstGeom prst="line">
                <a:avLst/>
              </a:prstGeom>
              <a:noFill/>
              <a:ln w="12700">
                <a:solidFill>
                  <a:srgbClr val="1313FF"/>
                </a:solidFill>
                <a:round/>
                <a:headEnd/>
                <a:tailEnd/>
              </a:ln>
            </p:spPr>
            <p:txBody>
              <a:bodyPr/>
              <a:lstStyle/>
              <a:p>
                <a:endParaRPr lang="ar-JO"/>
              </a:p>
            </p:txBody>
          </p:sp>
          <p:sp>
            <p:nvSpPr>
              <p:cNvPr id="42187" name="Line 283"/>
              <p:cNvSpPr>
                <a:spLocks noChangeShapeType="1"/>
              </p:cNvSpPr>
              <p:nvPr/>
            </p:nvSpPr>
            <p:spPr bwMode="auto">
              <a:xfrm rot="-5537435">
                <a:off x="3411508" y="2686038"/>
                <a:ext cx="604838" cy="460375"/>
              </a:xfrm>
              <a:prstGeom prst="line">
                <a:avLst/>
              </a:prstGeom>
              <a:noFill/>
              <a:ln w="12700">
                <a:solidFill>
                  <a:srgbClr val="1313FF"/>
                </a:solidFill>
                <a:round/>
                <a:headEnd/>
                <a:tailEnd/>
              </a:ln>
            </p:spPr>
            <p:txBody>
              <a:bodyPr/>
              <a:lstStyle/>
              <a:p>
                <a:endParaRPr lang="ar-JO"/>
              </a:p>
            </p:txBody>
          </p:sp>
          <p:sp>
            <p:nvSpPr>
              <p:cNvPr id="42188" name="Line 284"/>
              <p:cNvSpPr>
                <a:spLocks noChangeShapeType="1"/>
              </p:cNvSpPr>
              <p:nvPr/>
            </p:nvSpPr>
            <p:spPr bwMode="auto">
              <a:xfrm rot="4816385">
                <a:off x="3430558" y="2282813"/>
                <a:ext cx="752475" cy="806450"/>
              </a:xfrm>
              <a:prstGeom prst="line">
                <a:avLst/>
              </a:prstGeom>
              <a:noFill/>
              <a:ln w="12700">
                <a:solidFill>
                  <a:srgbClr val="1313FF"/>
                </a:solidFill>
                <a:round/>
                <a:headEnd/>
                <a:tailEnd/>
              </a:ln>
            </p:spPr>
            <p:txBody>
              <a:bodyPr/>
              <a:lstStyle/>
              <a:p>
                <a:endParaRPr lang="ar-JO"/>
              </a:p>
            </p:txBody>
          </p:sp>
          <p:sp>
            <p:nvSpPr>
              <p:cNvPr id="42189" name="Line 285"/>
              <p:cNvSpPr>
                <a:spLocks noChangeShapeType="1"/>
              </p:cNvSpPr>
              <p:nvPr/>
            </p:nvSpPr>
            <p:spPr bwMode="auto">
              <a:xfrm rot="6051720">
                <a:off x="3717895" y="2355838"/>
                <a:ext cx="1066800" cy="1371600"/>
              </a:xfrm>
              <a:prstGeom prst="line">
                <a:avLst/>
              </a:prstGeom>
              <a:noFill/>
              <a:ln w="12700">
                <a:solidFill>
                  <a:srgbClr val="1313FF"/>
                </a:solidFill>
                <a:round/>
                <a:headEnd/>
                <a:tailEnd/>
              </a:ln>
            </p:spPr>
            <p:txBody>
              <a:bodyPr/>
              <a:lstStyle/>
              <a:p>
                <a:endParaRPr lang="ar-JO"/>
              </a:p>
            </p:txBody>
          </p:sp>
          <p:sp>
            <p:nvSpPr>
              <p:cNvPr id="42190" name="Line 286"/>
              <p:cNvSpPr>
                <a:spLocks noChangeShapeType="1"/>
              </p:cNvSpPr>
              <p:nvPr/>
            </p:nvSpPr>
            <p:spPr bwMode="auto">
              <a:xfrm rot="5576752">
                <a:off x="3652808" y="2219313"/>
                <a:ext cx="1196975" cy="1390650"/>
              </a:xfrm>
              <a:prstGeom prst="line">
                <a:avLst/>
              </a:prstGeom>
              <a:noFill/>
              <a:ln w="12700">
                <a:solidFill>
                  <a:srgbClr val="1313FF"/>
                </a:solidFill>
                <a:round/>
                <a:headEnd/>
                <a:tailEnd/>
              </a:ln>
            </p:spPr>
            <p:txBody>
              <a:bodyPr/>
              <a:lstStyle/>
              <a:p>
                <a:endParaRPr lang="ar-JO"/>
              </a:p>
            </p:txBody>
          </p:sp>
          <p:sp>
            <p:nvSpPr>
              <p:cNvPr id="42191" name="Line 287"/>
              <p:cNvSpPr>
                <a:spLocks noChangeShapeType="1"/>
              </p:cNvSpPr>
              <p:nvPr/>
            </p:nvSpPr>
            <p:spPr bwMode="auto">
              <a:xfrm rot="-10097023">
                <a:off x="3473421" y="2452675"/>
                <a:ext cx="1065213" cy="996950"/>
              </a:xfrm>
              <a:prstGeom prst="line">
                <a:avLst/>
              </a:prstGeom>
              <a:noFill/>
              <a:ln w="12700">
                <a:solidFill>
                  <a:srgbClr val="1313FF"/>
                </a:solidFill>
                <a:round/>
                <a:headEnd/>
                <a:tailEnd/>
              </a:ln>
            </p:spPr>
            <p:txBody>
              <a:bodyPr/>
              <a:lstStyle/>
              <a:p>
                <a:endParaRPr lang="ar-JO"/>
              </a:p>
            </p:txBody>
          </p:sp>
          <p:sp>
            <p:nvSpPr>
              <p:cNvPr id="42192" name="Line 288"/>
              <p:cNvSpPr>
                <a:spLocks noChangeShapeType="1"/>
              </p:cNvSpPr>
              <p:nvPr/>
            </p:nvSpPr>
            <p:spPr bwMode="auto">
              <a:xfrm rot="9766457">
                <a:off x="3684558" y="2619363"/>
                <a:ext cx="1192213" cy="1149350"/>
              </a:xfrm>
              <a:prstGeom prst="line">
                <a:avLst/>
              </a:prstGeom>
              <a:noFill/>
              <a:ln w="12700">
                <a:solidFill>
                  <a:srgbClr val="1313FF"/>
                </a:solidFill>
                <a:round/>
                <a:headEnd/>
                <a:tailEnd/>
              </a:ln>
            </p:spPr>
            <p:txBody>
              <a:bodyPr/>
              <a:lstStyle/>
              <a:p>
                <a:endParaRPr lang="ar-JO"/>
              </a:p>
            </p:txBody>
          </p:sp>
          <p:sp>
            <p:nvSpPr>
              <p:cNvPr id="42193" name="Line 289"/>
              <p:cNvSpPr>
                <a:spLocks noChangeShapeType="1"/>
              </p:cNvSpPr>
              <p:nvPr/>
            </p:nvSpPr>
            <p:spPr bwMode="auto">
              <a:xfrm rot="4950289">
                <a:off x="4337020" y="1931975"/>
                <a:ext cx="582613" cy="2228850"/>
              </a:xfrm>
              <a:prstGeom prst="line">
                <a:avLst/>
              </a:prstGeom>
              <a:noFill/>
              <a:ln w="12700">
                <a:solidFill>
                  <a:srgbClr val="1313FF"/>
                </a:solidFill>
                <a:round/>
                <a:headEnd/>
                <a:tailEnd/>
              </a:ln>
            </p:spPr>
            <p:txBody>
              <a:bodyPr/>
              <a:lstStyle/>
              <a:p>
                <a:endParaRPr lang="ar-JO"/>
              </a:p>
            </p:txBody>
          </p:sp>
          <p:sp>
            <p:nvSpPr>
              <p:cNvPr id="42194" name="Line 290"/>
              <p:cNvSpPr>
                <a:spLocks noChangeShapeType="1"/>
              </p:cNvSpPr>
              <p:nvPr/>
            </p:nvSpPr>
            <p:spPr bwMode="auto">
              <a:xfrm rot="8691080">
                <a:off x="3822671" y="2298688"/>
                <a:ext cx="1527175" cy="1674813"/>
              </a:xfrm>
              <a:prstGeom prst="line">
                <a:avLst/>
              </a:prstGeom>
              <a:noFill/>
              <a:ln w="12700">
                <a:solidFill>
                  <a:srgbClr val="1313FF"/>
                </a:solidFill>
                <a:round/>
                <a:headEnd/>
                <a:tailEnd/>
              </a:ln>
            </p:spPr>
            <p:txBody>
              <a:bodyPr/>
              <a:lstStyle/>
              <a:p>
                <a:endParaRPr lang="ar-JO"/>
              </a:p>
            </p:txBody>
          </p:sp>
          <p:sp>
            <p:nvSpPr>
              <p:cNvPr id="42195" name="Line 291"/>
              <p:cNvSpPr>
                <a:spLocks noChangeShapeType="1"/>
              </p:cNvSpPr>
              <p:nvPr/>
            </p:nvSpPr>
            <p:spPr bwMode="auto">
              <a:xfrm rot="1901637" flipH="1">
                <a:off x="3859183" y="2220900"/>
                <a:ext cx="228600" cy="1403350"/>
              </a:xfrm>
              <a:prstGeom prst="line">
                <a:avLst/>
              </a:prstGeom>
              <a:noFill/>
              <a:ln w="12700">
                <a:solidFill>
                  <a:srgbClr val="1313FF"/>
                </a:solidFill>
                <a:round/>
                <a:headEnd/>
                <a:tailEnd/>
              </a:ln>
            </p:spPr>
            <p:txBody>
              <a:bodyPr/>
              <a:lstStyle/>
              <a:p>
                <a:endParaRPr lang="ar-JO"/>
              </a:p>
            </p:txBody>
          </p:sp>
          <p:sp>
            <p:nvSpPr>
              <p:cNvPr id="42196" name="Line 292"/>
              <p:cNvSpPr>
                <a:spLocks noChangeShapeType="1"/>
              </p:cNvSpPr>
              <p:nvPr/>
            </p:nvSpPr>
            <p:spPr bwMode="auto">
              <a:xfrm rot="6442666">
                <a:off x="3736945" y="2397113"/>
                <a:ext cx="1109663" cy="1006475"/>
              </a:xfrm>
              <a:prstGeom prst="line">
                <a:avLst/>
              </a:prstGeom>
              <a:noFill/>
              <a:ln w="12700">
                <a:solidFill>
                  <a:srgbClr val="1313FF"/>
                </a:solidFill>
                <a:round/>
                <a:headEnd/>
                <a:tailEnd/>
              </a:ln>
            </p:spPr>
            <p:txBody>
              <a:bodyPr/>
              <a:lstStyle/>
              <a:p>
                <a:endParaRPr lang="ar-JO"/>
              </a:p>
            </p:txBody>
          </p:sp>
          <p:sp>
            <p:nvSpPr>
              <p:cNvPr id="42197" name="Line 293"/>
              <p:cNvSpPr>
                <a:spLocks noChangeShapeType="1"/>
              </p:cNvSpPr>
              <p:nvPr/>
            </p:nvSpPr>
            <p:spPr bwMode="auto">
              <a:xfrm rot="623726">
                <a:off x="4484658" y="2224075"/>
                <a:ext cx="28575" cy="1374775"/>
              </a:xfrm>
              <a:prstGeom prst="line">
                <a:avLst/>
              </a:prstGeom>
              <a:noFill/>
              <a:ln w="12700">
                <a:solidFill>
                  <a:srgbClr val="1313FF"/>
                </a:solidFill>
                <a:round/>
                <a:headEnd/>
                <a:tailEnd/>
              </a:ln>
            </p:spPr>
            <p:txBody>
              <a:bodyPr/>
              <a:lstStyle/>
              <a:p>
                <a:endParaRPr lang="ar-JO"/>
              </a:p>
            </p:txBody>
          </p:sp>
          <p:sp>
            <p:nvSpPr>
              <p:cNvPr id="42198" name="Line 294"/>
              <p:cNvSpPr>
                <a:spLocks noChangeShapeType="1"/>
              </p:cNvSpPr>
              <p:nvPr/>
            </p:nvSpPr>
            <p:spPr bwMode="auto">
              <a:xfrm rot="8761337">
                <a:off x="4098896" y="2068500"/>
                <a:ext cx="371475" cy="1730375"/>
              </a:xfrm>
              <a:prstGeom prst="line">
                <a:avLst/>
              </a:prstGeom>
              <a:noFill/>
              <a:ln w="12700">
                <a:solidFill>
                  <a:srgbClr val="1313FF"/>
                </a:solidFill>
                <a:round/>
                <a:headEnd/>
                <a:tailEnd/>
              </a:ln>
            </p:spPr>
            <p:txBody>
              <a:bodyPr/>
              <a:lstStyle/>
              <a:p>
                <a:endParaRPr lang="ar-JO"/>
              </a:p>
            </p:txBody>
          </p:sp>
          <p:sp>
            <p:nvSpPr>
              <p:cNvPr id="42199" name="Line 295"/>
              <p:cNvSpPr>
                <a:spLocks noChangeShapeType="1"/>
              </p:cNvSpPr>
              <p:nvPr/>
            </p:nvSpPr>
            <p:spPr bwMode="auto">
              <a:xfrm rot="4071278">
                <a:off x="4327495" y="2293925"/>
                <a:ext cx="4763" cy="1677988"/>
              </a:xfrm>
              <a:prstGeom prst="line">
                <a:avLst/>
              </a:prstGeom>
              <a:noFill/>
              <a:ln w="12700">
                <a:solidFill>
                  <a:srgbClr val="1313FF"/>
                </a:solidFill>
                <a:round/>
                <a:headEnd/>
                <a:tailEnd/>
              </a:ln>
            </p:spPr>
            <p:txBody>
              <a:bodyPr/>
              <a:lstStyle/>
              <a:p>
                <a:endParaRPr lang="ar-JO"/>
              </a:p>
            </p:txBody>
          </p:sp>
          <p:sp>
            <p:nvSpPr>
              <p:cNvPr id="42200" name="Line 296"/>
              <p:cNvSpPr>
                <a:spLocks noChangeShapeType="1"/>
              </p:cNvSpPr>
              <p:nvPr/>
            </p:nvSpPr>
            <p:spPr bwMode="auto">
              <a:xfrm rot="1372803" flipH="1">
                <a:off x="4136996" y="2233600"/>
                <a:ext cx="100013" cy="1371600"/>
              </a:xfrm>
              <a:prstGeom prst="line">
                <a:avLst/>
              </a:prstGeom>
              <a:noFill/>
              <a:ln w="12700">
                <a:solidFill>
                  <a:srgbClr val="1313FF"/>
                </a:solidFill>
                <a:round/>
                <a:headEnd/>
                <a:tailEnd/>
              </a:ln>
            </p:spPr>
            <p:txBody>
              <a:bodyPr/>
              <a:lstStyle/>
              <a:p>
                <a:endParaRPr lang="ar-JO"/>
              </a:p>
            </p:txBody>
          </p:sp>
          <p:sp>
            <p:nvSpPr>
              <p:cNvPr id="42201" name="Line 297"/>
              <p:cNvSpPr>
                <a:spLocks noChangeShapeType="1"/>
              </p:cNvSpPr>
              <p:nvPr/>
            </p:nvSpPr>
            <p:spPr bwMode="auto">
              <a:xfrm rot="1715486">
                <a:off x="3478183" y="2509825"/>
                <a:ext cx="1111250" cy="854075"/>
              </a:xfrm>
              <a:prstGeom prst="line">
                <a:avLst/>
              </a:prstGeom>
              <a:noFill/>
              <a:ln w="12700">
                <a:solidFill>
                  <a:srgbClr val="1313FF"/>
                </a:solidFill>
                <a:round/>
                <a:headEnd/>
                <a:tailEnd/>
              </a:ln>
            </p:spPr>
            <p:txBody>
              <a:bodyPr/>
              <a:lstStyle/>
              <a:p>
                <a:endParaRPr lang="ar-JO"/>
              </a:p>
            </p:txBody>
          </p:sp>
          <p:sp>
            <p:nvSpPr>
              <p:cNvPr id="42202" name="Line 298"/>
              <p:cNvSpPr>
                <a:spLocks noChangeShapeType="1"/>
              </p:cNvSpPr>
              <p:nvPr/>
            </p:nvSpPr>
            <p:spPr bwMode="auto">
              <a:xfrm rot="7784355" flipV="1">
                <a:off x="4321146" y="2132000"/>
                <a:ext cx="0" cy="1752600"/>
              </a:xfrm>
              <a:prstGeom prst="line">
                <a:avLst/>
              </a:prstGeom>
              <a:noFill/>
              <a:ln w="12700">
                <a:solidFill>
                  <a:srgbClr val="1313FF"/>
                </a:solidFill>
                <a:round/>
                <a:headEnd/>
                <a:tailEnd/>
              </a:ln>
            </p:spPr>
            <p:txBody>
              <a:bodyPr/>
              <a:lstStyle/>
              <a:p>
                <a:endParaRPr lang="ar-JO"/>
              </a:p>
            </p:txBody>
          </p:sp>
          <p:sp>
            <p:nvSpPr>
              <p:cNvPr id="42203" name="Line 299"/>
              <p:cNvSpPr>
                <a:spLocks noChangeShapeType="1"/>
              </p:cNvSpPr>
              <p:nvPr/>
            </p:nvSpPr>
            <p:spPr bwMode="auto">
              <a:xfrm rot="3468555">
                <a:off x="4317970" y="2868600"/>
                <a:ext cx="663575" cy="552450"/>
              </a:xfrm>
              <a:prstGeom prst="line">
                <a:avLst/>
              </a:prstGeom>
              <a:noFill/>
              <a:ln w="12700">
                <a:solidFill>
                  <a:srgbClr val="1313FF"/>
                </a:solidFill>
                <a:round/>
                <a:headEnd/>
                <a:tailEnd/>
              </a:ln>
            </p:spPr>
            <p:txBody>
              <a:bodyPr/>
              <a:lstStyle/>
              <a:p>
                <a:endParaRPr lang="ar-JO"/>
              </a:p>
            </p:txBody>
          </p:sp>
          <p:sp>
            <p:nvSpPr>
              <p:cNvPr id="42204" name="Line 300"/>
              <p:cNvSpPr>
                <a:spLocks noChangeShapeType="1"/>
              </p:cNvSpPr>
              <p:nvPr/>
            </p:nvSpPr>
            <p:spPr bwMode="auto">
              <a:xfrm rot="1393169">
                <a:off x="3927446" y="2495538"/>
                <a:ext cx="819150" cy="968375"/>
              </a:xfrm>
              <a:prstGeom prst="line">
                <a:avLst/>
              </a:prstGeom>
              <a:noFill/>
              <a:ln w="12700">
                <a:solidFill>
                  <a:srgbClr val="1313FF"/>
                </a:solidFill>
                <a:round/>
                <a:headEnd/>
                <a:tailEnd/>
              </a:ln>
            </p:spPr>
            <p:txBody>
              <a:bodyPr/>
              <a:lstStyle/>
              <a:p>
                <a:endParaRPr lang="ar-JO"/>
              </a:p>
            </p:txBody>
          </p:sp>
          <p:sp>
            <p:nvSpPr>
              <p:cNvPr id="42205" name="Line 301"/>
              <p:cNvSpPr>
                <a:spLocks noChangeShapeType="1"/>
              </p:cNvSpPr>
              <p:nvPr/>
            </p:nvSpPr>
            <p:spPr bwMode="auto">
              <a:xfrm rot="1311632">
                <a:off x="4267171" y="2417750"/>
                <a:ext cx="1077913" cy="982663"/>
              </a:xfrm>
              <a:prstGeom prst="line">
                <a:avLst/>
              </a:prstGeom>
              <a:noFill/>
              <a:ln w="12700">
                <a:solidFill>
                  <a:srgbClr val="1313FF"/>
                </a:solidFill>
                <a:round/>
                <a:headEnd/>
                <a:tailEnd/>
              </a:ln>
            </p:spPr>
            <p:txBody>
              <a:bodyPr/>
              <a:lstStyle/>
              <a:p>
                <a:endParaRPr lang="ar-JO"/>
              </a:p>
            </p:txBody>
          </p:sp>
          <p:sp>
            <p:nvSpPr>
              <p:cNvPr id="42206" name="Line 302"/>
              <p:cNvSpPr>
                <a:spLocks noChangeShapeType="1"/>
              </p:cNvSpPr>
              <p:nvPr/>
            </p:nvSpPr>
            <p:spPr bwMode="auto">
              <a:xfrm>
                <a:off x="3938558" y="2301863"/>
                <a:ext cx="0" cy="1219200"/>
              </a:xfrm>
              <a:prstGeom prst="line">
                <a:avLst/>
              </a:prstGeom>
              <a:noFill/>
              <a:ln w="12700">
                <a:solidFill>
                  <a:srgbClr val="1313FF"/>
                </a:solidFill>
                <a:round/>
                <a:headEnd/>
                <a:tailEnd/>
              </a:ln>
            </p:spPr>
            <p:txBody>
              <a:bodyPr/>
              <a:lstStyle/>
              <a:p>
                <a:endParaRPr lang="ar-JO"/>
              </a:p>
            </p:txBody>
          </p:sp>
          <p:sp>
            <p:nvSpPr>
              <p:cNvPr id="42207" name="Line 303"/>
              <p:cNvSpPr>
                <a:spLocks noChangeShapeType="1"/>
              </p:cNvSpPr>
              <p:nvPr/>
            </p:nvSpPr>
            <p:spPr bwMode="auto">
              <a:xfrm rot="4010033" flipV="1">
                <a:off x="4551333" y="1709725"/>
                <a:ext cx="68263" cy="2341563"/>
              </a:xfrm>
              <a:prstGeom prst="line">
                <a:avLst/>
              </a:prstGeom>
              <a:noFill/>
              <a:ln w="12700">
                <a:solidFill>
                  <a:srgbClr val="1313FF"/>
                </a:solidFill>
                <a:round/>
                <a:headEnd/>
                <a:tailEnd/>
              </a:ln>
            </p:spPr>
            <p:txBody>
              <a:bodyPr/>
              <a:lstStyle/>
              <a:p>
                <a:endParaRPr lang="ar-JO"/>
              </a:p>
            </p:txBody>
          </p:sp>
          <p:sp>
            <p:nvSpPr>
              <p:cNvPr id="42208" name="Line 305"/>
              <p:cNvSpPr>
                <a:spLocks noChangeShapeType="1"/>
              </p:cNvSpPr>
              <p:nvPr/>
            </p:nvSpPr>
            <p:spPr bwMode="auto">
              <a:xfrm rot="-2336305">
                <a:off x="3932208" y="2176450"/>
                <a:ext cx="1255713" cy="1865313"/>
              </a:xfrm>
              <a:prstGeom prst="line">
                <a:avLst/>
              </a:prstGeom>
              <a:noFill/>
              <a:ln w="12700">
                <a:solidFill>
                  <a:srgbClr val="1313FF"/>
                </a:solidFill>
                <a:round/>
                <a:headEnd/>
                <a:tailEnd/>
              </a:ln>
            </p:spPr>
            <p:txBody>
              <a:bodyPr/>
              <a:lstStyle/>
              <a:p>
                <a:endParaRPr lang="ar-JO"/>
              </a:p>
            </p:txBody>
          </p:sp>
          <p:sp>
            <p:nvSpPr>
              <p:cNvPr id="42209" name="Line 306"/>
              <p:cNvSpPr>
                <a:spLocks noChangeShapeType="1"/>
              </p:cNvSpPr>
              <p:nvPr/>
            </p:nvSpPr>
            <p:spPr bwMode="auto">
              <a:xfrm rot="-7941657">
                <a:off x="4114770" y="2506650"/>
                <a:ext cx="776288" cy="638175"/>
              </a:xfrm>
              <a:prstGeom prst="line">
                <a:avLst/>
              </a:prstGeom>
              <a:noFill/>
              <a:ln w="12700">
                <a:solidFill>
                  <a:srgbClr val="1313FF"/>
                </a:solidFill>
                <a:round/>
                <a:headEnd/>
                <a:tailEnd/>
              </a:ln>
            </p:spPr>
            <p:txBody>
              <a:bodyPr/>
              <a:lstStyle/>
              <a:p>
                <a:endParaRPr lang="ar-JO"/>
              </a:p>
            </p:txBody>
          </p:sp>
          <p:sp>
            <p:nvSpPr>
              <p:cNvPr id="42210" name="Line 307"/>
              <p:cNvSpPr>
                <a:spLocks noChangeShapeType="1"/>
              </p:cNvSpPr>
              <p:nvPr/>
            </p:nvSpPr>
            <p:spPr bwMode="auto">
              <a:xfrm rot="-4270322">
                <a:off x="3762345" y="1870063"/>
                <a:ext cx="1117600" cy="1406525"/>
              </a:xfrm>
              <a:prstGeom prst="line">
                <a:avLst/>
              </a:prstGeom>
              <a:noFill/>
              <a:ln w="12700">
                <a:solidFill>
                  <a:srgbClr val="1313FF"/>
                </a:solidFill>
                <a:round/>
                <a:headEnd/>
                <a:tailEnd/>
              </a:ln>
            </p:spPr>
            <p:txBody>
              <a:bodyPr/>
              <a:lstStyle/>
              <a:p>
                <a:endParaRPr lang="ar-JO"/>
              </a:p>
            </p:txBody>
          </p:sp>
          <p:sp>
            <p:nvSpPr>
              <p:cNvPr id="42211" name="Line 308"/>
              <p:cNvSpPr>
                <a:spLocks noChangeShapeType="1"/>
              </p:cNvSpPr>
              <p:nvPr/>
            </p:nvSpPr>
            <p:spPr bwMode="auto">
              <a:xfrm rot="-7941657">
                <a:off x="4308445" y="2563800"/>
                <a:ext cx="806450" cy="831850"/>
              </a:xfrm>
              <a:prstGeom prst="line">
                <a:avLst/>
              </a:prstGeom>
              <a:noFill/>
              <a:ln w="12700">
                <a:solidFill>
                  <a:srgbClr val="1313FF"/>
                </a:solidFill>
                <a:round/>
                <a:headEnd/>
                <a:tailEnd/>
              </a:ln>
            </p:spPr>
            <p:txBody>
              <a:bodyPr/>
              <a:lstStyle/>
              <a:p>
                <a:endParaRPr lang="ar-JO"/>
              </a:p>
            </p:txBody>
          </p:sp>
          <p:sp>
            <p:nvSpPr>
              <p:cNvPr id="42212" name="Line 309"/>
              <p:cNvSpPr>
                <a:spLocks noChangeShapeType="1"/>
              </p:cNvSpPr>
              <p:nvPr/>
            </p:nvSpPr>
            <p:spPr bwMode="auto">
              <a:xfrm rot="-7941657">
                <a:off x="3289270" y="2482838"/>
                <a:ext cx="912813" cy="844550"/>
              </a:xfrm>
              <a:prstGeom prst="line">
                <a:avLst/>
              </a:prstGeom>
              <a:noFill/>
              <a:ln w="12700">
                <a:solidFill>
                  <a:srgbClr val="1313FF"/>
                </a:solidFill>
                <a:round/>
                <a:headEnd/>
                <a:tailEnd/>
              </a:ln>
            </p:spPr>
            <p:txBody>
              <a:bodyPr/>
              <a:lstStyle/>
              <a:p>
                <a:endParaRPr lang="ar-JO"/>
              </a:p>
            </p:txBody>
          </p:sp>
          <p:sp>
            <p:nvSpPr>
              <p:cNvPr id="42213" name="Line 310"/>
              <p:cNvSpPr>
                <a:spLocks noChangeShapeType="1"/>
              </p:cNvSpPr>
              <p:nvPr/>
            </p:nvSpPr>
            <p:spPr bwMode="auto">
              <a:xfrm rot="-7906871">
                <a:off x="4005233" y="2117713"/>
                <a:ext cx="0" cy="1389063"/>
              </a:xfrm>
              <a:prstGeom prst="line">
                <a:avLst/>
              </a:prstGeom>
              <a:noFill/>
              <a:ln w="12700">
                <a:solidFill>
                  <a:srgbClr val="1313FF"/>
                </a:solidFill>
                <a:round/>
                <a:headEnd/>
                <a:tailEnd/>
              </a:ln>
            </p:spPr>
            <p:txBody>
              <a:bodyPr/>
              <a:lstStyle/>
              <a:p>
                <a:endParaRPr lang="ar-JO"/>
              </a:p>
            </p:txBody>
          </p:sp>
          <p:sp>
            <p:nvSpPr>
              <p:cNvPr id="42214" name="Line 311"/>
              <p:cNvSpPr>
                <a:spLocks noChangeShapeType="1"/>
              </p:cNvSpPr>
              <p:nvPr/>
            </p:nvSpPr>
            <p:spPr bwMode="auto">
              <a:xfrm rot="-7345875">
                <a:off x="4081433" y="2066913"/>
                <a:ext cx="33338" cy="1460500"/>
              </a:xfrm>
              <a:prstGeom prst="line">
                <a:avLst/>
              </a:prstGeom>
              <a:noFill/>
              <a:ln w="12700">
                <a:solidFill>
                  <a:srgbClr val="1313FF"/>
                </a:solidFill>
                <a:round/>
                <a:headEnd/>
                <a:tailEnd/>
              </a:ln>
            </p:spPr>
            <p:txBody>
              <a:bodyPr/>
              <a:lstStyle/>
              <a:p>
                <a:endParaRPr lang="ar-JO"/>
              </a:p>
            </p:txBody>
          </p:sp>
          <p:sp>
            <p:nvSpPr>
              <p:cNvPr id="42215" name="Line 312"/>
              <p:cNvSpPr>
                <a:spLocks noChangeShapeType="1"/>
              </p:cNvSpPr>
              <p:nvPr/>
            </p:nvSpPr>
            <p:spPr bwMode="auto">
              <a:xfrm rot="-7941657">
                <a:off x="3703608" y="2335200"/>
                <a:ext cx="581025" cy="1185863"/>
              </a:xfrm>
              <a:prstGeom prst="line">
                <a:avLst/>
              </a:prstGeom>
              <a:noFill/>
              <a:ln w="12700">
                <a:solidFill>
                  <a:srgbClr val="1313FF"/>
                </a:solidFill>
                <a:round/>
                <a:headEnd/>
                <a:tailEnd/>
              </a:ln>
            </p:spPr>
            <p:txBody>
              <a:bodyPr/>
              <a:lstStyle/>
              <a:p>
                <a:endParaRPr lang="ar-JO"/>
              </a:p>
            </p:txBody>
          </p:sp>
          <p:sp>
            <p:nvSpPr>
              <p:cNvPr id="42216" name="Line 313"/>
              <p:cNvSpPr>
                <a:spLocks noChangeShapeType="1"/>
              </p:cNvSpPr>
              <p:nvPr/>
            </p:nvSpPr>
            <p:spPr bwMode="auto">
              <a:xfrm rot="-4415647">
                <a:off x="3619470" y="2243125"/>
                <a:ext cx="1387475" cy="1271588"/>
              </a:xfrm>
              <a:prstGeom prst="line">
                <a:avLst/>
              </a:prstGeom>
              <a:noFill/>
              <a:ln w="12700">
                <a:solidFill>
                  <a:srgbClr val="1313FF"/>
                </a:solidFill>
                <a:round/>
                <a:headEnd/>
                <a:tailEnd/>
              </a:ln>
            </p:spPr>
            <p:txBody>
              <a:bodyPr/>
              <a:lstStyle/>
              <a:p>
                <a:endParaRPr lang="ar-JO"/>
              </a:p>
            </p:txBody>
          </p:sp>
          <p:sp>
            <p:nvSpPr>
              <p:cNvPr id="42217" name="Line 314"/>
              <p:cNvSpPr>
                <a:spLocks noChangeShapeType="1"/>
              </p:cNvSpPr>
              <p:nvPr/>
            </p:nvSpPr>
            <p:spPr bwMode="auto">
              <a:xfrm rot="1871804" flipH="1">
                <a:off x="3652808" y="2201850"/>
                <a:ext cx="101600" cy="635000"/>
              </a:xfrm>
              <a:prstGeom prst="line">
                <a:avLst/>
              </a:prstGeom>
              <a:noFill/>
              <a:ln w="12700">
                <a:solidFill>
                  <a:srgbClr val="1313FF"/>
                </a:solidFill>
                <a:round/>
                <a:headEnd/>
                <a:tailEnd/>
              </a:ln>
            </p:spPr>
            <p:txBody>
              <a:bodyPr/>
              <a:lstStyle/>
              <a:p>
                <a:endParaRPr lang="ar-JO"/>
              </a:p>
            </p:txBody>
          </p:sp>
          <p:sp>
            <p:nvSpPr>
              <p:cNvPr id="42218" name="Line 315"/>
              <p:cNvSpPr>
                <a:spLocks noChangeShapeType="1"/>
              </p:cNvSpPr>
              <p:nvPr/>
            </p:nvSpPr>
            <p:spPr bwMode="auto">
              <a:xfrm rot="-3665632">
                <a:off x="3511520" y="2217725"/>
                <a:ext cx="557213" cy="366713"/>
              </a:xfrm>
              <a:prstGeom prst="line">
                <a:avLst/>
              </a:prstGeom>
              <a:noFill/>
              <a:ln w="12700">
                <a:solidFill>
                  <a:srgbClr val="1313FF"/>
                </a:solidFill>
                <a:round/>
                <a:headEnd/>
                <a:tailEnd/>
              </a:ln>
            </p:spPr>
            <p:txBody>
              <a:bodyPr/>
              <a:lstStyle/>
              <a:p>
                <a:endParaRPr lang="ar-JO"/>
              </a:p>
            </p:txBody>
          </p:sp>
          <p:sp>
            <p:nvSpPr>
              <p:cNvPr id="42219" name="Line 316"/>
              <p:cNvSpPr>
                <a:spLocks noChangeShapeType="1"/>
              </p:cNvSpPr>
              <p:nvPr/>
            </p:nvSpPr>
            <p:spPr bwMode="auto">
              <a:xfrm rot="6688189">
                <a:off x="3649633" y="2127238"/>
                <a:ext cx="708025" cy="812800"/>
              </a:xfrm>
              <a:prstGeom prst="line">
                <a:avLst/>
              </a:prstGeom>
              <a:noFill/>
              <a:ln w="12700">
                <a:solidFill>
                  <a:srgbClr val="1313FF"/>
                </a:solidFill>
                <a:round/>
                <a:headEnd/>
                <a:tailEnd/>
              </a:ln>
            </p:spPr>
            <p:txBody>
              <a:bodyPr/>
              <a:lstStyle/>
              <a:p>
                <a:endParaRPr lang="ar-JO"/>
              </a:p>
            </p:txBody>
          </p:sp>
          <p:sp>
            <p:nvSpPr>
              <p:cNvPr id="42220" name="Line 317"/>
              <p:cNvSpPr>
                <a:spLocks noChangeShapeType="1"/>
              </p:cNvSpPr>
              <p:nvPr/>
            </p:nvSpPr>
            <p:spPr bwMode="auto">
              <a:xfrm rot="7923524">
                <a:off x="3852833" y="2055800"/>
                <a:ext cx="1338263" cy="1614488"/>
              </a:xfrm>
              <a:prstGeom prst="line">
                <a:avLst/>
              </a:prstGeom>
              <a:noFill/>
              <a:ln w="12700">
                <a:solidFill>
                  <a:srgbClr val="1313FF"/>
                </a:solidFill>
                <a:round/>
                <a:headEnd/>
                <a:tailEnd/>
              </a:ln>
            </p:spPr>
            <p:txBody>
              <a:bodyPr/>
              <a:lstStyle/>
              <a:p>
                <a:endParaRPr lang="ar-JO"/>
              </a:p>
            </p:txBody>
          </p:sp>
          <p:sp>
            <p:nvSpPr>
              <p:cNvPr id="42221" name="Line 318"/>
              <p:cNvSpPr>
                <a:spLocks noChangeShapeType="1"/>
              </p:cNvSpPr>
              <p:nvPr/>
            </p:nvSpPr>
            <p:spPr bwMode="auto">
              <a:xfrm rot="7448556">
                <a:off x="3857595" y="2130413"/>
                <a:ext cx="1109663" cy="1093788"/>
              </a:xfrm>
              <a:prstGeom prst="line">
                <a:avLst/>
              </a:prstGeom>
              <a:noFill/>
              <a:ln w="12700">
                <a:solidFill>
                  <a:srgbClr val="1313FF"/>
                </a:solidFill>
                <a:round/>
                <a:headEnd/>
                <a:tailEnd/>
              </a:ln>
            </p:spPr>
            <p:txBody>
              <a:bodyPr/>
              <a:lstStyle/>
              <a:p>
                <a:endParaRPr lang="ar-JO"/>
              </a:p>
            </p:txBody>
          </p:sp>
          <p:sp>
            <p:nvSpPr>
              <p:cNvPr id="42222" name="Line 319"/>
              <p:cNvSpPr>
                <a:spLocks noChangeShapeType="1"/>
              </p:cNvSpPr>
              <p:nvPr/>
            </p:nvSpPr>
            <p:spPr bwMode="auto">
              <a:xfrm rot="-8225219">
                <a:off x="3424208" y="2344725"/>
                <a:ext cx="646113" cy="1085850"/>
              </a:xfrm>
              <a:prstGeom prst="line">
                <a:avLst/>
              </a:prstGeom>
              <a:noFill/>
              <a:ln w="12700">
                <a:solidFill>
                  <a:srgbClr val="1313FF"/>
                </a:solidFill>
                <a:round/>
                <a:headEnd/>
                <a:tailEnd/>
              </a:ln>
            </p:spPr>
            <p:txBody>
              <a:bodyPr/>
              <a:lstStyle/>
              <a:p>
                <a:endParaRPr lang="ar-JO"/>
              </a:p>
            </p:txBody>
          </p:sp>
          <p:sp>
            <p:nvSpPr>
              <p:cNvPr id="42223" name="Line 320"/>
              <p:cNvSpPr>
                <a:spLocks noChangeShapeType="1"/>
              </p:cNvSpPr>
              <p:nvPr/>
            </p:nvSpPr>
            <p:spPr bwMode="auto">
              <a:xfrm rot="-9961740">
                <a:off x="3584546" y="2451088"/>
                <a:ext cx="1138238" cy="993775"/>
              </a:xfrm>
              <a:prstGeom prst="line">
                <a:avLst/>
              </a:prstGeom>
              <a:noFill/>
              <a:ln w="12700">
                <a:solidFill>
                  <a:srgbClr val="1313FF"/>
                </a:solidFill>
                <a:round/>
                <a:headEnd/>
                <a:tailEnd/>
              </a:ln>
            </p:spPr>
            <p:txBody>
              <a:bodyPr/>
              <a:lstStyle/>
              <a:p>
                <a:endParaRPr lang="ar-JO"/>
              </a:p>
            </p:txBody>
          </p:sp>
          <p:sp>
            <p:nvSpPr>
              <p:cNvPr id="42224" name="Line 321"/>
              <p:cNvSpPr>
                <a:spLocks noChangeShapeType="1"/>
              </p:cNvSpPr>
              <p:nvPr/>
            </p:nvSpPr>
            <p:spPr bwMode="auto">
              <a:xfrm rot="6822093" flipV="1">
                <a:off x="4179858" y="2503475"/>
                <a:ext cx="20638" cy="1519238"/>
              </a:xfrm>
              <a:prstGeom prst="line">
                <a:avLst/>
              </a:prstGeom>
              <a:noFill/>
              <a:ln w="12700">
                <a:solidFill>
                  <a:srgbClr val="1313FF"/>
                </a:solidFill>
                <a:round/>
                <a:headEnd/>
                <a:tailEnd/>
              </a:ln>
            </p:spPr>
            <p:txBody>
              <a:bodyPr/>
              <a:lstStyle/>
              <a:p>
                <a:endParaRPr lang="ar-JO"/>
              </a:p>
            </p:txBody>
          </p:sp>
          <p:sp>
            <p:nvSpPr>
              <p:cNvPr id="42225" name="Line 322"/>
              <p:cNvSpPr>
                <a:spLocks noChangeShapeType="1"/>
              </p:cNvSpPr>
              <p:nvPr/>
            </p:nvSpPr>
            <p:spPr bwMode="auto">
              <a:xfrm rot="10562884">
                <a:off x="3779808" y="2303450"/>
                <a:ext cx="1208088" cy="1325563"/>
              </a:xfrm>
              <a:prstGeom prst="line">
                <a:avLst/>
              </a:prstGeom>
              <a:noFill/>
              <a:ln w="12700">
                <a:solidFill>
                  <a:srgbClr val="1313FF"/>
                </a:solidFill>
                <a:round/>
                <a:headEnd/>
                <a:tailEnd/>
              </a:ln>
            </p:spPr>
            <p:txBody>
              <a:bodyPr/>
              <a:lstStyle/>
              <a:p>
                <a:endParaRPr lang="ar-JO"/>
              </a:p>
            </p:txBody>
          </p:sp>
          <p:sp>
            <p:nvSpPr>
              <p:cNvPr id="42226" name="Line 323"/>
              <p:cNvSpPr>
                <a:spLocks noChangeShapeType="1"/>
              </p:cNvSpPr>
              <p:nvPr/>
            </p:nvSpPr>
            <p:spPr bwMode="auto">
              <a:xfrm rot="3773441">
                <a:off x="3846483" y="2236775"/>
                <a:ext cx="123825" cy="1027113"/>
              </a:xfrm>
              <a:prstGeom prst="line">
                <a:avLst/>
              </a:prstGeom>
              <a:noFill/>
              <a:ln w="12700">
                <a:solidFill>
                  <a:srgbClr val="1313FF"/>
                </a:solidFill>
                <a:round/>
                <a:headEnd/>
                <a:tailEnd/>
              </a:ln>
            </p:spPr>
            <p:txBody>
              <a:bodyPr/>
              <a:lstStyle/>
              <a:p>
                <a:endParaRPr lang="ar-JO"/>
              </a:p>
            </p:txBody>
          </p:sp>
          <p:sp>
            <p:nvSpPr>
              <p:cNvPr id="42227" name="Line 324"/>
              <p:cNvSpPr>
                <a:spLocks noChangeShapeType="1"/>
              </p:cNvSpPr>
              <p:nvPr/>
            </p:nvSpPr>
            <p:spPr bwMode="auto">
              <a:xfrm rot="8314470">
                <a:off x="3716308" y="2063738"/>
                <a:ext cx="1122363" cy="1087438"/>
              </a:xfrm>
              <a:prstGeom prst="line">
                <a:avLst/>
              </a:prstGeom>
              <a:noFill/>
              <a:ln w="12700">
                <a:solidFill>
                  <a:srgbClr val="1313FF"/>
                </a:solidFill>
                <a:round/>
                <a:headEnd/>
                <a:tailEnd/>
              </a:ln>
            </p:spPr>
            <p:txBody>
              <a:bodyPr/>
              <a:lstStyle/>
              <a:p>
                <a:endParaRPr lang="ar-JO"/>
              </a:p>
            </p:txBody>
          </p:sp>
          <p:sp>
            <p:nvSpPr>
              <p:cNvPr id="42228" name="Line 325"/>
              <p:cNvSpPr>
                <a:spLocks noChangeShapeType="1"/>
              </p:cNvSpPr>
              <p:nvPr/>
            </p:nvSpPr>
            <p:spPr bwMode="auto">
              <a:xfrm rot="2495530">
                <a:off x="4295746" y="2063738"/>
                <a:ext cx="61913" cy="1674813"/>
              </a:xfrm>
              <a:prstGeom prst="line">
                <a:avLst/>
              </a:prstGeom>
              <a:noFill/>
              <a:ln w="12700">
                <a:solidFill>
                  <a:srgbClr val="1313FF"/>
                </a:solidFill>
                <a:round/>
                <a:headEnd/>
                <a:tailEnd/>
              </a:ln>
            </p:spPr>
            <p:txBody>
              <a:bodyPr/>
              <a:lstStyle/>
              <a:p>
                <a:endParaRPr lang="ar-JO"/>
              </a:p>
            </p:txBody>
          </p:sp>
          <p:sp>
            <p:nvSpPr>
              <p:cNvPr id="42229" name="Line 326"/>
              <p:cNvSpPr>
                <a:spLocks noChangeShapeType="1"/>
              </p:cNvSpPr>
              <p:nvPr/>
            </p:nvSpPr>
            <p:spPr bwMode="auto">
              <a:xfrm rot="10633141">
                <a:off x="4160808" y="2295513"/>
                <a:ext cx="80963" cy="1298575"/>
              </a:xfrm>
              <a:prstGeom prst="line">
                <a:avLst/>
              </a:prstGeom>
              <a:noFill/>
              <a:ln w="12700">
                <a:solidFill>
                  <a:srgbClr val="1313FF"/>
                </a:solidFill>
                <a:round/>
                <a:headEnd/>
                <a:tailEnd/>
              </a:ln>
            </p:spPr>
            <p:txBody>
              <a:bodyPr/>
              <a:lstStyle/>
              <a:p>
                <a:endParaRPr lang="ar-JO"/>
              </a:p>
            </p:txBody>
          </p:sp>
          <p:sp>
            <p:nvSpPr>
              <p:cNvPr id="42230" name="Line 327"/>
              <p:cNvSpPr>
                <a:spLocks noChangeShapeType="1"/>
              </p:cNvSpPr>
              <p:nvPr/>
            </p:nvSpPr>
            <p:spPr bwMode="auto">
              <a:xfrm rot="5943082" flipV="1">
                <a:off x="4187795" y="1976425"/>
                <a:ext cx="177800" cy="1590675"/>
              </a:xfrm>
              <a:prstGeom prst="line">
                <a:avLst/>
              </a:prstGeom>
              <a:noFill/>
              <a:ln w="12700">
                <a:solidFill>
                  <a:srgbClr val="1313FF"/>
                </a:solidFill>
                <a:round/>
                <a:headEnd/>
                <a:tailEnd/>
              </a:ln>
            </p:spPr>
            <p:txBody>
              <a:bodyPr/>
              <a:lstStyle/>
              <a:p>
                <a:endParaRPr lang="ar-JO"/>
              </a:p>
            </p:txBody>
          </p:sp>
          <p:sp>
            <p:nvSpPr>
              <p:cNvPr id="42231" name="Line 328"/>
              <p:cNvSpPr>
                <a:spLocks noChangeShapeType="1"/>
              </p:cNvSpPr>
              <p:nvPr/>
            </p:nvSpPr>
            <p:spPr bwMode="auto">
              <a:xfrm rot="3244607" flipV="1">
                <a:off x="4006820" y="1833550"/>
                <a:ext cx="250825" cy="1430338"/>
              </a:xfrm>
              <a:prstGeom prst="line">
                <a:avLst/>
              </a:prstGeom>
              <a:noFill/>
              <a:ln w="12700">
                <a:solidFill>
                  <a:srgbClr val="1313FF"/>
                </a:solidFill>
                <a:round/>
                <a:headEnd/>
                <a:tailEnd/>
              </a:ln>
            </p:spPr>
            <p:txBody>
              <a:bodyPr/>
              <a:lstStyle/>
              <a:p>
                <a:endParaRPr lang="ar-JO"/>
              </a:p>
            </p:txBody>
          </p:sp>
          <p:sp>
            <p:nvSpPr>
              <p:cNvPr id="42232" name="Line 329"/>
              <p:cNvSpPr>
                <a:spLocks noChangeShapeType="1"/>
              </p:cNvSpPr>
              <p:nvPr/>
            </p:nvSpPr>
            <p:spPr bwMode="auto">
              <a:xfrm rot="3587290">
                <a:off x="3516283" y="2393938"/>
                <a:ext cx="890588" cy="982663"/>
              </a:xfrm>
              <a:prstGeom prst="line">
                <a:avLst/>
              </a:prstGeom>
              <a:noFill/>
              <a:ln w="12700">
                <a:solidFill>
                  <a:srgbClr val="1313FF"/>
                </a:solidFill>
                <a:round/>
                <a:headEnd/>
                <a:tailEnd/>
              </a:ln>
            </p:spPr>
            <p:txBody>
              <a:bodyPr/>
              <a:lstStyle/>
              <a:p>
                <a:endParaRPr lang="ar-JO"/>
              </a:p>
            </p:txBody>
          </p:sp>
          <p:sp>
            <p:nvSpPr>
              <p:cNvPr id="42233" name="Line 330"/>
              <p:cNvSpPr>
                <a:spLocks noChangeShapeType="1"/>
              </p:cNvSpPr>
              <p:nvPr/>
            </p:nvSpPr>
            <p:spPr bwMode="auto">
              <a:xfrm rot="9656159" flipV="1">
                <a:off x="3773458" y="2309800"/>
                <a:ext cx="76200" cy="1279525"/>
              </a:xfrm>
              <a:prstGeom prst="line">
                <a:avLst/>
              </a:prstGeom>
              <a:noFill/>
              <a:ln w="12700">
                <a:solidFill>
                  <a:srgbClr val="1313FF"/>
                </a:solidFill>
                <a:round/>
                <a:headEnd/>
                <a:tailEnd/>
              </a:ln>
            </p:spPr>
            <p:txBody>
              <a:bodyPr/>
              <a:lstStyle/>
              <a:p>
                <a:endParaRPr lang="ar-JO"/>
              </a:p>
            </p:txBody>
          </p:sp>
          <p:sp>
            <p:nvSpPr>
              <p:cNvPr id="42234" name="Line 331"/>
              <p:cNvSpPr>
                <a:spLocks noChangeShapeType="1"/>
              </p:cNvSpPr>
              <p:nvPr/>
            </p:nvSpPr>
            <p:spPr bwMode="auto">
              <a:xfrm rot="5340359">
                <a:off x="3938558" y="2378063"/>
                <a:ext cx="1143000" cy="1143000"/>
              </a:xfrm>
              <a:prstGeom prst="line">
                <a:avLst/>
              </a:prstGeom>
              <a:noFill/>
              <a:ln w="12700">
                <a:solidFill>
                  <a:srgbClr val="1313FF"/>
                </a:solidFill>
                <a:round/>
                <a:headEnd/>
                <a:tailEnd/>
              </a:ln>
            </p:spPr>
            <p:txBody>
              <a:bodyPr/>
              <a:lstStyle/>
              <a:p>
                <a:endParaRPr lang="ar-JO"/>
              </a:p>
            </p:txBody>
          </p:sp>
          <p:sp>
            <p:nvSpPr>
              <p:cNvPr id="42235" name="Line 332"/>
              <p:cNvSpPr>
                <a:spLocks noChangeShapeType="1"/>
              </p:cNvSpPr>
              <p:nvPr/>
            </p:nvSpPr>
            <p:spPr bwMode="auto">
              <a:xfrm rot="3264973">
                <a:off x="3884583" y="2566975"/>
                <a:ext cx="874713" cy="835025"/>
              </a:xfrm>
              <a:prstGeom prst="line">
                <a:avLst/>
              </a:prstGeom>
              <a:noFill/>
              <a:ln w="12700">
                <a:solidFill>
                  <a:srgbClr val="1313FF"/>
                </a:solidFill>
                <a:round/>
                <a:headEnd/>
                <a:tailEnd/>
              </a:ln>
            </p:spPr>
            <p:txBody>
              <a:bodyPr/>
              <a:lstStyle/>
              <a:p>
                <a:endParaRPr lang="ar-JO"/>
              </a:p>
            </p:txBody>
          </p:sp>
          <p:sp>
            <p:nvSpPr>
              <p:cNvPr id="42236" name="Line 333"/>
              <p:cNvSpPr>
                <a:spLocks noChangeShapeType="1"/>
              </p:cNvSpPr>
              <p:nvPr/>
            </p:nvSpPr>
            <p:spPr bwMode="auto">
              <a:xfrm rot="3183436">
                <a:off x="4337020" y="2416163"/>
                <a:ext cx="627063" cy="1150938"/>
              </a:xfrm>
              <a:prstGeom prst="line">
                <a:avLst/>
              </a:prstGeom>
              <a:noFill/>
              <a:ln w="12700">
                <a:solidFill>
                  <a:srgbClr val="1313FF"/>
                </a:solidFill>
                <a:round/>
                <a:headEnd/>
                <a:tailEnd/>
              </a:ln>
            </p:spPr>
            <p:txBody>
              <a:bodyPr/>
              <a:lstStyle/>
              <a:p>
                <a:endParaRPr lang="ar-JO"/>
              </a:p>
            </p:txBody>
          </p:sp>
          <p:sp>
            <p:nvSpPr>
              <p:cNvPr id="42237" name="Line 334"/>
              <p:cNvSpPr>
                <a:spLocks noChangeShapeType="1"/>
              </p:cNvSpPr>
              <p:nvPr/>
            </p:nvSpPr>
            <p:spPr bwMode="auto">
              <a:xfrm rot="1871804" flipH="1">
                <a:off x="3814733" y="2109775"/>
                <a:ext cx="153988" cy="1344613"/>
              </a:xfrm>
              <a:prstGeom prst="line">
                <a:avLst/>
              </a:prstGeom>
              <a:noFill/>
              <a:ln w="12700">
                <a:solidFill>
                  <a:srgbClr val="1313FF"/>
                </a:solidFill>
                <a:round/>
                <a:headEnd/>
                <a:tailEnd/>
              </a:ln>
            </p:spPr>
            <p:txBody>
              <a:bodyPr/>
              <a:lstStyle/>
              <a:p>
                <a:endParaRPr lang="ar-JO"/>
              </a:p>
            </p:txBody>
          </p:sp>
          <p:sp>
            <p:nvSpPr>
              <p:cNvPr id="42238" name="Line 336"/>
              <p:cNvSpPr>
                <a:spLocks noChangeShapeType="1"/>
              </p:cNvSpPr>
              <p:nvPr/>
            </p:nvSpPr>
            <p:spPr bwMode="auto">
              <a:xfrm rot="8940499" flipH="1">
                <a:off x="4916458" y="2279638"/>
                <a:ext cx="149225" cy="1333500"/>
              </a:xfrm>
              <a:prstGeom prst="line">
                <a:avLst/>
              </a:prstGeom>
              <a:noFill/>
              <a:ln w="12700">
                <a:solidFill>
                  <a:srgbClr val="1313FF"/>
                </a:solidFill>
                <a:round/>
                <a:headEnd/>
                <a:tailEnd/>
              </a:ln>
            </p:spPr>
            <p:txBody>
              <a:bodyPr/>
              <a:lstStyle/>
              <a:p>
                <a:endParaRPr lang="ar-JO"/>
              </a:p>
            </p:txBody>
          </p:sp>
          <p:sp>
            <p:nvSpPr>
              <p:cNvPr id="42239" name="Line 337"/>
              <p:cNvSpPr>
                <a:spLocks noChangeShapeType="1"/>
              </p:cNvSpPr>
              <p:nvPr/>
            </p:nvSpPr>
            <p:spPr bwMode="auto">
              <a:xfrm rot="2594160">
                <a:off x="5187921" y="2473313"/>
                <a:ext cx="741363" cy="890588"/>
              </a:xfrm>
              <a:prstGeom prst="line">
                <a:avLst/>
              </a:prstGeom>
              <a:noFill/>
              <a:ln w="12700">
                <a:solidFill>
                  <a:srgbClr val="1313FF"/>
                </a:solidFill>
                <a:round/>
                <a:headEnd/>
                <a:tailEnd/>
              </a:ln>
            </p:spPr>
            <p:txBody>
              <a:bodyPr/>
              <a:lstStyle/>
              <a:p>
                <a:endParaRPr lang="ar-JO"/>
              </a:p>
            </p:txBody>
          </p:sp>
          <p:sp>
            <p:nvSpPr>
              <p:cNvPr id="42240" name="Line 338"/>
              <p:cNvSpPr>
                <a:spLocks noChangeShapeType="1"/>
              </p:cNvSpPr>
              <p:nvPr/>
            </p:nvSpPr>
            <p:spPr bwMode="auto">
              <a:xfrm rot="2594160">
                <a:off x="4671983" y="2459025"/>
                <a:ext cx="819150" cy="954088"/>
              </a:xfrm>
              <a:prstGeom prst="line">
                <a:avLst/>
              </a:prstGeom>
              <a:noFill/>
              <a:ln w="12700">
                <a:solidFill>
                  <a:srgbClr val="1313FF"/>
                </a:solidFill>
                <a:round/>
                <a:headEnd/>
                <a:tailEnd/>
              </a:ln>
            </p:spPr>
            <p:txBody>
              <a:bodyPr/>
              <a:lstStyle/>
              <a:p>
                <a:endParaRPr lang="ar-JO"/>
              </a:p>
            </p:txBody>
          </p:sp>
          <p:sp>
            <p:nvSpPr>
              <p:cNvPr id="42241" name="Line 339"/>
              <p:cNvSpPr>
                <a:spLocks noChangeShapeType="1"/>
              </p:cNvSpPr>
              <p:nvPr/>
            </p:nvSpPr>
            <p:spPr bwMode="auto">
              <a:xfrm rot="-3011190">
                <a:off x="3789333" y="2528875"/>
                <a:ext cx="1587500" cy="1535113"/>
              </a:xfrm>
              <a:prstGeom prst="line">
                <a:avLst/>
              </a:prstGeom>
              <a:noFill/>
              <a:ln w="12700">
                <a:solidFill>
                  <a:srgbClr val="1313FF"/>
                </a:solidFill>
                <a:round/>
                <a:headEnd/>
                <a:tailEnd/>
              </a:ln>
            </p:spPr>
            <p:txBody>
              <a:bodyPr/>
              <a:lstStyle/>
              <a:p>
                <a:endParaRPr lang="ar-JO"/>
              </a:p>
            </p:txBody>
          </p:sp>
          <p:sp>
            <p:nvSpPr>
              <p:cNvPr id="42242" name="Line 340"/>
              <p:cNvSpPr>
                <a:spLocks noChangeShapeType="1"/>
              </p:cNvSpPr>
              <p:nvPr/>
            </p:nvSpPr>
            <p:spPr bwMode="auto">
              <a:xfrm rot="660145">
                <a:off x="5538758" y="2378063"/>
                <a:ext cx="7938" cy="1138238"/>
              </a:xfrm>
              <a:prstGeom prst="line">
                <a:avLst/>
              </a:prstGeom>
              <a:noFill/>
              <a:ln w="12700">
                <a:solidFill>
                  <a:srgbClr val="1313FF"/>
                </a:solidFill>
                <a:round/>
                <a:headEnd/>
                <a:tailEnd/>
              </a:ln>
            </p:spPr>
            <p:txBody>
              <a:bodyPr/>
              <a:lstStyle/>
              <a:p>
                <a:endParaRPr lang="ar-JO"/>
              </a:p>
            </p:txBody>
          </p:sp>
          <p:sp>
            <p:nvSpPr>
              <p:cNvPr id="42243" name="Line 341"/>
              <p:cNvSpPr>
                <a:spLocks noChangeShapeType="1"/>
              </p:cNvSpPr>
              <p:nvPr/>
            </p:nvSpPr>
            <p:spPr bwMode="auto">
              <a:xfrm rot="-3011190">
                <a:off x="3956020" y="2684450"/>
                <a:ext cx="1363663" cy="1528763"/>
              </a:xfrm>
              <a:prstGeom prst="line">
                <a:avLst/>
              </a:prstGeom>
              <a:noFill/>
              <a:ln w="12700">
                <a:solidFill>
                  <a:srgbClr val="1313FF"/>
                </a:solidFill>
                <a:round/>
                <a:headEnd/>
                <a:tailEnd/>
              </a:ln>
            </p:spPr>
            <p:txBody>
              <a:bodyPr/>
              <a:lstStyle/>
              <a:p>
                <a:endParaRPr lang="ar-JO"/>
              </a:p>
            </p:txBody>
          </p:sp>
          <p:sp>
            <p:nvSpPr>
              <p:cNvPr id="42244" name="Line 343"/>
              <p:cNvSpPr>
                <a:spLocks noChangeShapeType="1"/>
              </p:cNvSpPr>
              <p:nvPr/>
            </p:nvSpPr>
            <p:spPr bwMode="auto">
              <a:xfrm rot="18623595" flipV="1">
                <a:off x="5127595" y="2033575"/>
                <a:ext cx="92075" cy="1365250"/>
              </a:xfrm>
              <a:prstGeom prst="line">
                <a:avLst/>
              </a:prstGeom>
              <a:noFill/>
              <a:ln w="12700">
                <a:solidFill>
                  <a:srgbClr val="1313FF"/>
                </a:solidFill>
                <a:round/>
                <a:headEnd/>
                <a:tailEnd/>
              </a:ln>
            </p:spPr>
            <p:txBody>
              <a:bodyPr/>
              <a:lstStyle/>
              <a:p>
                <a:endParaRPr lang="ar-JO"/>
              </a:p>
            </p:txBody>
          </p:sp>
          <p:sp>
            <p:nvSpPr>
              <p:cNvPr id="42245" name="Line 344"/>
              <p:cNvSpPr>
                <a:spLocks noChangeShapeType="1"/>
              </p:cNvSpPr>
              <p:nvPr/>
            </p:nvSpPr>
            <p:spPr bwMode="auto">
              <a:xfrm rot="-2415408">
                <a:off x="4929158" y="2073263"/>
                <a:ext cx="76200" cy="1524000"/>
              </a:xfrm>
              <a:prstGeom prst="line">
                <a:avLst/>
              </a:prstGeom>
              <a:noFill/>
              <a:ln w="12700">
                <a:solidFill>
                  <a:srgbClr val="1313FF"/>
                </a:solidFill>
                <a:round/>
                <a:headEnd/>
                <a:tailEnd/>
              </a:ln>
            </p:spPr>
            <p:txBody>
              <a:bodyPr/>
              <a:lstStyle/>
              <a:p>
                <a:endParaRPr lang="ar-JO"/>
              </a:p>
            </p:txBody>
          </p:sp>
          <p:sp>
            <p:nvSpPr>
              <p:cNvPr id="42246" name="Line 345"/>
              <p:cNvSpPr>
                <a:spLocks noChangeShapeType="1"/>
              </p:cNvSpPr>
              <p:nvPr/>
            </p:nvSpPr>
            <p:spPr bwMode="auto">
              <a:xfrm rot="-3011190">
                <a:off x="3825845" y="2073263"/>
                <a:ext cx="1403350" cy="1514475"/>
              </a:xfrm>
              <a:prstGeom prst="line">
                <a:avLst/>
              </a:prstGeom>
              <a:noFill/>
              <a:ln w="12700">
                <a:solidFill>
                  <a:srgbClr val="1313FF"/>
                </a:solidFill>
                <a:round/>
                <a:headEnd/>
                <a:tailEnd/>
              </a:ln>
            </p:spPr>
            <p:txBody>
              <a:bodyPr/>
              <a:lstStyle/>
              <a:p>
                <a:endParaRPr lang="ar-JO"/>
              </a:p>
            </p:txBody>
          </p:sp>
          <p:sp>
            <p:nvSpPr>
              <p:cNvPr id="42247" name="Line 346"/>
              <p:cNvSpPr>
                <a:spLocks noChangeShapeType="1"/>
              </p:cNvSpPr>
              <p:nvPr/>
            </p:nvSpPr>
            <p:spPr bwMode="auto">
              <a:xfrm rot="514818">
                <a:off x="4702146" y="2416163"/>
                <a:ext cx="677863" cy="1098550"/>
              </a:xfrm>
              <a:prstGeom prst="line">
                <a:avLst/>
              </a:prstGeom>
              <a:noFill/>
              <a:ln w="12700">
                <a:solidFill>
                  <a:srgbClr val="1313FF"/>
                </a:solidFill>
                <a:round/>
                <a:headEnd/>
                <a:tailEnd/>
              </a:ln>
            </p:spPr>
            <p:txBody>
              <a:bodyPr/>
              <a:lstStyle/>
              <a:p>
                <a:endParaRPr lang="ar-JO"/>
              </a:p>
            </p:txBody>
          </p:sp>
          <p:sp>
            <p:nvSpPr>
              <p:cNvPr id="42248" name="Line 347"/>
              <p:cNvSpPr>
                <a:spLocks noChangeShapeType="1"/>
              </p:cNvSpPr>
              <p:nvPr/>
            </p:nvSpPr>
            <p:spPr bwMode="auto">
              <a:xfrm rot="6802270" flipV="1">
                <a:off x="5273645" y="2078025"/>
                <a:ext cx="142875" cy="782638"/>
              </a:xfrm>
              <a:prstGeom prst="line">
                <a:avLst/>
              </a:prstGeom>
              <a:noFill/>
              <a:ln w="12700">
                <a:solidFill>
                  <a:srgbClr val="1313FF"/>
                </a:solidFill>
                <a:round/>
                <a:headEnd/>
                <a:tailEnd/>
              </a:ln>
            </p:spPr>
            <p:txBody>
              <a:bodyPr/>
              <a:lstStyle/>
              <a:p>
                <a:endParaRPr lang="ar-JO"/>
              </a:p>
            </p:txBody>
          </p:sp>
          <p:sp>
            <p:nvSpPr>
              <p:cNvPr id="42249" name="Line 348"/>
              <p:cNvSpPr>
                <a:spLocks noChangeShapeType="1"/>
              </p:cNvSpPr>
              <p:nvPr/>
            </p:nvSpPr>
            <p:spPr bwMode="auto">
              <a:xfrm rot="1264834">
                <a:off x="5156171" y="2365363"/>
                <a:ext cx="520700" cy="211138"/>
              </a:xfrm>
              <a:prstGeom prst="line">
                <a:avLst/>
              </a:prstGeom>
              <a:noFill/>
              <a:ln w="12700">
                <a:solidFill>
                  <a:srgbClr val="1313FF"/>
                </a:solidFill>
                <a:round/>
                <a:headEnd/>
                <a:tailEnd/>
              </a:ln>
            </p:spPr>
            <p:txBody>
              <a:bodyPr/>
              <a:lstStyle/>
              <a:p>
                <a:endParaRPr lang="ar-JO"/>
              </a:p>
            </p:txBody>
          </p:sp>
          <p:sp>
            <p:nvSpPr>
              <p:cNvPr id="42250" name="Line 349"/>
              <p:cNvSpPr>
                <a:spLocks noChangeShapeType="1"/>
              </p:cNvSpPr>
              <p:nvPr/>
            </p:nvSpPr>
            <p:spPr bwMode="auto">
              <a:xfrm rot="-9981345">
                <a:off x="5222846" y="2371713"/>
                <a:ext cx="576263" cy="852488"/>
              </a:xfrm>
              <a:prstGeom prst="line">
                <a:avLst/>
              </a:prstGeom>
              <a:noFill/>
              <a:ln w="12700">
                <a:solidFill>
                  <a:srgbClr val="1313FF"/>
                </a:solidFill>
                <a:round/>
                <a:headEnd/>
                <a:tailEnd/>
              </a:ln>
            </p:spPr>
            <p:txBody>
              <a:bodyPr/>
              <a:lstStyle/>
              <a:p>
                <a:endParaRPr lang="ar-JO"/>
              </a:p>
            </p:txBody>
          </p:sp>
          <p:sp>
            <p:nvSpPr>
              <p:cNvPr id="42251" name="Line 350"/>
              <p:cNvSpPr>
                <a:spLocks noChangeShapeType="1"/>
              </p:cNvSpPr>
              <p:nvPr/>
            </p:nvSpPr>
            <p:spPr bwMode="auto">
              <a:xfrm rot="-8746010">
                <a:off x="4554508" y="2432038"/>
                <a:ext cx="952500" cy="962025"/>
              </a:xfrm>
              <a:prstGeom prst="line">
                <a:avLst/>
              </a:prstGeom>
              <a:noFill/>
              <a:ln w="12700">
                <a:solidFill>
                  <a:srgbClr val="1313FF"/>
                </a:solidFill>
                <a:round/>
                <a:headEnd/>
                <a:tailEnd/>
              </a:ln>
            </p:spPr>
            <p:txBody>
              <a:bodyPr/>
              <a:lstStyle/>
              <a:p>
                <a:endParaRPr lang="ar-JO"/>
              </a:p>
            </p:txBody>
          </p:sp>
          <p:sp>
            <p:nvSpPr>
              <p:cNvPr id="42252" name="Line 351"/>
              <p:cNvSpPr>
                <a:spLocks noChangeShapeType="1"/>
              </p:cNvSpPr>
              <p:nvPr/>
            </p:nvSpPr>
            <p:spPr bwMode="auto">
              <a:xfrm rot="-9220978">
                <a:off x="4887883" y="2435213"/>
                <a:ext cx="730250" cy="998538"/>
              </a:xfrm>
              <a:prstGeom prst="line">
                <a:avLst/>
              </a:prstGeom>
              <a:noFill/>
              <a:ln w="12700">
                <a:solidFill>
                  <a:srgbClr val="1313FF"/>
                </a:solidFill>
                <a:round/>
                <a:headEnd/>
                <a:tailEnd/>
              </a:ln>
            </p:spPr>
            <p:txBody>
              <a:bodyPr/>
              <a:lstStyle/>
              <a:p>
                <a:endParaRPr lang="ar-JO"/>
              </a:p>
            </p:txBody>
          </p:sp>
          <p:sp>
            <p:nvSpPr>
              <p:cNvPr id="42253" name="Line 352"/>
              <p:cNvSpPr>
                <a:spLocks noChangeShapeType="1"/>
              </p:cNvSpPr>
              <p:nvPr/>
            </p:nvSpPr>
            <p:spPr bwMode="auto">
              <a:xfrm rot="-3294753">
                <a:off x="4498945" y="2078025"/>
                <a:ext cx="1033463" cy="927100"/>
              </a:xfrm>
              <a:prstGeom prst="line">
                <a:avLst/>
              </a:prstGeom>
              <a:noFill/>
              <a:ln w="12700">
                <a:solidFill>
                  <a:srgbClr val="1313FF"/>
                </a:solidFill>
                <a:round/>
                <a:headEnd/>
                <a:tailEnd/>
              </a:ln>
            </p:spPr>
            <p:txBody>
              <a:bodyPr/>
              <a:lstStyle/>
              <a:p>
                <a:endParaRPr lang="ar-JO"/>
              </a:p>
            </p:txBody>
          </p:sp>
          <p:sp>
            <p:nvSpPr>
              <p:cNvPr id="42254" name="Line 353"/>
              <p:cNvSpPr>
                <a:spLocks noChangeShapeType="1"/>
              </p:cNvSpPr>
              <p:nvPr/>
            </p:nvSpPr>
            <p:spPr bwMode="auto">
              <a:xfrm rot="-5031273">
                <a:off x="4233833" y="2297100"/>
                <a:ext cx="1376363" cy="1366838"/>
              </a:xfrm>
              <a:prstGeom prst="line">
                <a:avLst/>
              </a:prstGeom>
              <a:noFill/>
              <a:ln w="12700">
                <a:solidFill>
                  <a:srgbClr val="1313FF"/>
                </a:solidFill>
                <a:round/>
                <a:headEnd/>
                <a:tailEnd/>
              </a:ln>
            </p:spPr>
            <p:txBody>
              <a:bodyPr/>
              <a:lstStyle/>
              <a:p>
                <a:endParaRPr lang="ar-JO"/>
              </a:p>
            </p:txBody>
          </p:sp>
          <p:sp>
            <p:nvSpPr>
              <p:cNvPr id="42255" name="Line 354"/>
              <p:cNvSpPr>
                <a:spLocks noChangeShapeType="1"/>
              </p:cNvSpPr>
              <p:nvPr/>
            </p:nvSpPr>
            <p:spPr bwMode="auto">
              <a:xfrm rot="11752560" flipH="1">
                <a:off x="4638646" y="2219313"/>
                <a:ext cx="69850" cy="1373188"/>
              </a:xfrm>
              <a:prstGeom prst="line">
                <a:avLst/>
              </a:prstGeom>
              <a:noFill/>
              <a:ln w="12700">
                <a:solidFill>
                  <a:srgbClr val="1313FF"/>
                </a:solidFill>
                <a:round/>
                <a:headEnd/>
                <a:tailEnd/>
              </a:ln>
            </p:spPr>
            <p:txBody>
              <a:bodyPr/>
              <a:lstStyle/>
              <a:p>
                <a:endParaRPr lang="ar-JO"/>
              </a:p>
            </p:txBody>
          </p:sp>
          <p:sp>
            <p:nvSpPr>
              <p:cNvPr id="42256" name="Line 355"/>
              <p:cNvSpPr>
                <a:spLocks noChangeShapeType="1"/>
              </p:cNvSpPr>
              <p:nvPr/>
            </p:nvSpPr>
            <p:spPr bwMode="auto">
              <a:xfrm rot="-6106650">
                <a:off x="4627533" y="2370125"/>
                <a:ext cx="990600" cy="1150938"/>
              </a:xfrm>
              <a:prstGeom prst="line">
                <a:avLst/>
              </a:prstGeom>
              <a:noFill/>
              <a:ln w="12700">
                <a:solidFill>
                  <a:srgbClr val="1313FF"/>
                </a:solidFill>
                <a:round/>
                <a:headEnd/>
                <a:tailEnd/>
              </a:ln>
            </p:spPr>
            <p:txBody>
              <a:bodyPr/>
              <a:lstStyle/>
              <a:p>
                <a:endParaRPr lang="ar-JO"/>
              </a:p>
            </p:txBody>
          </p:sp>
          <p:sp>
            <p:nvSpPr>
              <p:cNvPr id="42257" name="Line 356"/>
              <p:cNvSpPr>
                <a:spLocks noChangeShapeType="1"/>
              </p:cNvSpPr>
              <p:nvPr/>
            </p:nvSpPr>
            <p:spPr bwMode="auto">
              <a:xfrm rot="8703907" flipH="1">
                <a:off x="5367308" y="2238363"/>
                <a:ext cx="39688" cy="1004888"/>
              </a:xfrm>
              <a:prstGeom prst="line">
                <a:avLst/>
              </a:prstGeom>
              <a:noFill/>
              <a:ln w="12700">
                <a:solidFill>
                  <a:srgbClr val="1313FF"/>
                </a:solidFill>
                <a:round/>
                <a:headEnd/>
                <a:tailEnd/>
              </a:ln>
            </p:spPr>
            <p:txBody>
              <a:bodyPr/>
              <a:lstStyle/>
              <a:p>
                <a:endParaRPr lang="ar-JO"/>
              </a:p>
            </p:txBody>
          </p:sp>
          <p:sp>
            <p:nvSpPr>
              <p:cNvPr id="42258" name="Line 357"/>
              <p:cNvSpPr>
                <a:spLocks noChangeShapeType="1"/>
              </p:cNvSpPr>
              <p:nvPr/>
            </p:nvSpPr>
            <p:spPr bwMode="auto">
              <a:xfrm rot="-8355064">
                <a:off x="4900583" y="2532050"/>
                <a:ext cx="904875" cy="781050"/>
              </a:xfrm>
              <a:prstGeom prst="line">
                <a:avLst/>
              </a:prstGeom>
              <a:noFill/>
              <a:ln w="12700">
                <a:solidFill>
                  <a:srgbClr val="1313FF"/>
                </a:solidFill>
                <a:round/>
                <a:headEnd/>
                <a:tailEnd/>
              </a:ln>
            </p:spPr>
            <p:txBody>
              <a:bodyPr/>
              <a:lstStyle/>
              <a:p>
                <a:endParaRPr lang="ar-JO"/>
              </a:p>
            </p:txBody>
          </p:sp>
          <p:sp>
            <p:nvSpPr>
              <p:cNvPr id="42259" name="Line 358"/>
              <p:cNvSpPr>
                <a:spLocks noChangeShapeType="1"/>
              </p:cNvSpPr>
              <p:nvPr/>
            </p:nvSpPr>
            <p:spPr bwMode="auto">
              <a:xfrm rot="7425996">
                <a:off x="4652933" y="1779575"/>
                <a:ext cx="39688" cy="2225675"/>
              </a:xfrm>
              <a:prstGeom prst="line">
                <a:avLst/>
              </a:prstGeom>
              <a:noFill/>
              <a:ln w="12700">
                <a:solidFill>
                  <a:srgbClr val="1313FF"/>
                </a:solidFill>
                <a:round/>
                <a:headEnd/>
                <a:tailEnd/>
              </a:ln>
            </p:spPr>
            <p:txBody>
              <a:bodyPr/>
              <a:lstStyle/>
              <a:p>
                <a:endParaRPr lang="ar-JO"/>
              </a:p>
            </p:txBody>
          </p:sp>
          <p:sp>
            <p:nvSpPr>
              <p:cNvPr id="42260" name="Line 359"/>
              <p:cNvSpPr>
                <a:spLocks noChangeShapeType="1"/>
              </p:cNvSpPr>
              <p:nvPr/>
            </p:nvSpPr>
            <p:spPr bwMode="auto">
              <a:xfrm rot="-6036393">
                <a:off x="4698970" y="1998650"/>
                <a:ext cx="1588" cy="1828800"/>
              </a:xfrm>
              <a:prstGeom prst="line">
                <a:avLst/>
              </a:prstGeom>
              <a:noFill/>
              <a:ln w="12700">
                <a:solidFill>
                  <a:srgbClr val="1313FF"/>
                </a:solidFill>
                <a:round/>
                <a:headEnd/>
                <a:tailEnd/>
              </a:ln>
            </p:spPr>
            <p:txBody>
              <a:bodyPr/>
              <a:lstStyle/>
              <a:p>
                <a:endParaRPr lang="ar-JO"/>
              </a:p>
            </p:txBody>
          </p:sp>
          <p:sp>
            <p:nvSpPr>
              <p:cNvPr id="42261" name="Line 360"/>
              <p:cNvSpPr>
                <a:spLocks noChangeShapeType="1"/>
              </p:cNvSpPr>
              <p:nvPr/>
            </p:nvSpPr>
            <p:spPr bwMode="auto">
              <a:xfrm rot="10873548" flipH="1">
                <a:off x="5081558" y="2298688"/>
                <a:ext cx="227013" cy="1220788"/>
              </a:xfrm>
              <a:prstGeom prst="line">
                <a:avLst/>
              </a:prstGeom>
              <a:noFill/>
              <a:ln w="12700">
                <a:solidFill>
                  <a:srgbClr val="1313FF"/>
                </a:solidFill>
                <a:round/>
                <a:headEnd/>
                <a:tailEnd/>
              </a:ln>
            </p:spPr>
            <p:txBody>
              <a:bodyPr/>
              <a:lstStyle/>
              <a:p>
                <a:endParaRPr lang="ar-JO"/>
              </a:p>
            </p:txBody>
          </p:sp>
          <p:sp>
            <p:nvSpPr>
              <p:cNvPr id="42262" name="Line 361"/>
              <p:cNvSpPr>
                <a:spLocks noChangeShapeType="1"/>
              </p:cNvSpPr>
              <p:nvPr/>
            </p:nvSpPr>
            <p:spPr bwMode="auto">
              <a:xfrm rot="8175073">
                <a:off x="5170458" y="2143113"/>
                <a:ext cx="9525" cy="1363663"/>
              </a:xfrm>
              <a:prstGeom prst="line">
                <a:avLst/>
              </a:prstGeom>
              <a:noFill/>
              <a:ln w="12700">
                <a:solidFill>
                  <a:srgbClr val="1313FF"/>
                </a:solidFill>
                <a:round/>
                <a:headEnd/>
                <a:tailEnd/>
              </a:ln>
            </p:spPr>
            <p:txBody>
              <a:bodyPr/>
              <a:lstStyle/>
              <a:p>
                <a:endParaRPr lang="ar-JO"/>
              </a:p>
            </p:txBody>
          </p:sp>
          <p:sp>
            <p:nvSpPr>
              <p:cNvPr id="42263" name="Line 362"/>
              <p:cNvSpPr>
                <a:spLocks noChangeShapeType="1"/>
              </p:cNvSpPr>
              <p:nvPr/>
            </p:nvSpPr>
            <p:spPr bwMode="auto">
              <a:xfrm rot="8517756">
                <a:off x="4362421" y="2162163"/>
                <a:ext cx="1027113" cy="1065213"/>
              </a:xfrm>
              <a:prstGeom prst="line">
                <a:avLst/>
              </a:prstGeom>
              <a:noFill/>
              <a:ln w="12700">
                <a:solidFill>
                  <a:srgbClr val="1313FF"/>
                </a:solidFill>
                <a:round/>
                <a:headEnd/>
                <a:tailEnd/>
              </a:ln>
            </p:spPr>
            <p:txBody>
              <a:bodyPr/>
              <a:lstStyle/>
              <a:p>
                <a:endParaRPr lang="ar-JO"/>
              </a:p>
            </p:txBody>
          </p:sp>
          <p:sp>
            <p:nvSpPr>
              <p:cNvPr id="42264" name="Line 363"/>
              <p:cNvSpPr>
                <a:spLocks noChangeShapeType="1"/>
              </p:cNvSpPr>
              <p:nvPr/>
            </p:nvSpPr>
            <p:spPr bwMode="auto">
              <a:xfrm rot="14586626" flipV="1">
                <a:off x="4714845" y="1817675"/>
                <a:ext cx="180975" cy="1506538"/>
              </a:xfrm>
              <a:prstGeom prst="line">
                <a:avLst/>
              </a:prstGeom>
              <a:noFill/>
              <a:ln w="12700">
                <a:solidFill>
                  <a:srgbClr val="1313FF"/>
                </a:solidFill>
                <a:round/>
                <a:headEnd/>
                <a:tailEnd/>
              </a:ln>
            </p:spPr>
            <p:txBody>
              <a:bodyPr/>
              <a:lstStyle/>
              <a:p>
                <a:endParaRPr lang="ar-JO"/>
              </a:p>
            </p:txBody>
          </p:sp>
          <p:sp>
            <p:nvSpPr>
              <p:cNvPr id="42265" name="Line 364"/>
              <p:cNvSpPr>
                <a:spLocks noChangeShapeType="1"/>
              </p:cNvSpPr>
              <p:nvPr/>
            </p:nvSpPr>
            <p:spPr bwMode="auto">
              <a:xfrm rot="10270825">
                <a:off x="4214783" y="2417750"/>
                <a:ext cx="1143000" cy="1143000"/>
              </a:xfrm>
              <a:prstGeom prst="line">
                <a:avLst/>
              </a:prstGeom>
              <a:noFill/>
              <a:ln w="12700">
                <a:solidFill>
                  <a:srgbClr val="1313FF"/>
                </a:solidFill>
                <a:round/>
                <a:headEnd/>
                <a:tailEnd/>
              </a:ln>
            </p:spPr>
            <p:txBody>
              <a:bodyPr/>
              <a:lstStyle/>
              <a:p>
                <a:endParaRPr lang="ar-JO"/>
              </a:p>
            </p:txBody>
          </p:sp>
          <p:sp>
            <p:nvSpPr>
              <p:cNvPr id="42266" name="Line 365"/>
              <p:cNvSpPr>
                <a:spLocks noChangeShapeType="1"/>
              </p:cNvSpPr>
              <p:nvPr/>
            </p:nvSpPr>
            <p:spPr bwMode="auto">
              <a:xfrm rot="8195439">
                <a:off x="3790921" y="2324088"/>
                <a:ext cx="1589088" cy="1497013"/>
              </a:xfrm>
              <a:prstGeom prst="line">
                <a:avLst/>
              </a:prstGeom>
              <a:noFill/>
              <a:ln w="12700">
                <a:solidFill>
                  <a:srgbClr val="1313FF"/>
                </a:solidFill>
                <a:round/>
                <a:headEnd/>
                <a:tailEnd/>
              </a:ln>
            </p:spPr>
            <p:txBody>
              <a:bodyPr/>
              <a:lstStyle/>
              <a:p>
                <a:endParaRPr lang="ar-JO"/>
              </a:p>
            </p:txBody>
          </p:sp>
          <p:sp>
            <p:nvSpPr>
              <p:cNvPr id="42267" name="Line 366"/>
              <p:cNvSpPr>
                <a:spLocks noChangeShapeType="1"/>
              </p:cNvSpPr>
              <p:nvPr/>
            </p:nvSpPr>
            <p:spPr bwMode="auto">
              <a:xfrm rot="8113902">
                <a:off x="4090958" y="2889238"/>
                <a:ext cx="1125538" cy="1209675"/>
              </a:xfrm>
              <a:prstGeom prst="line">
                <a:avLst/>
              </a:prstGeom>
              <a:noFill/>
              <a:ln w="12700">
                <a:solidFill>
                  <a:srgbClr val="1313FF"/>
                </a:solidFill>
                <a:round/>
                <a:headEnd/>
                <a:tailEnd/>
              </a:ln>
            </p:spPr>
            <p:txBody>
              <a:bodyPr/>
              <a:lstStyle/>
              <a:p>
                <a:endParaRPr lang="ar-JO"/>
              </a:p>
            </p:txBody>
          </p:sp>
          <p:sp>
            <p:nvSpPr>
              <p:cNvPr id="42268" name="Line 367"/>
              <p:cNvSpPr>
                <a:spLocks noChangeShapeType="1"/>
              </p:cNvSpPr>
              <p:nvPr/>
            </p:nvSpPr>
            <p:spPr bwMode="auto">
              <a:xfrm rot="6802270">
                <a:off x="4708495" y="1689088"/>
                <a:ext cx="204788" cy="1752600"/>
              </a:xfrm>
              <a:prstGeom prst="line">
                <a:avLst/>
              </a:prstGeom>
              <a:noFill/>
              <a:ln w="12700">
                <a:solidFill>
                  <a:srgbClr val="1313FF"/>
                </a:solidFill>
                <a:round/>
                <a:headEnd/>
                <a:tailEnd/>
              </a:ln>
            </p:spPr>
            <p:txBody>
              <a:bodyPr/>
              <a:lstStyle/>
              <a:p>
                <a:endParaRPr lang="ar-JO"/>
              </a:p>
            </p:txBody>
          </p:sp>
          <p:sp>
            <p:nvSpPr>
              <p:cNvPr id="42269" name="Line 369"/>
              <p:cNvSpPr>
                <a:spLocks noChangeShapeType="1"/>
              </p:cNvSpPr>
              <p:nvPr/>
            </p:nvSpPr>
            <p:spPr bwMode="auto">
              <a:xfrm rot="10415753" flipH="1">
                <a:off x="5000596" y="2381238"/>
                <a:ext cx="41275" cy="1141413"/>
              </a:xfrm>
              <a:prstGeom prst="line">
                <a:avLst/>
              </a:prstGeom>
              <a:noFill/>
              <a:ln w="12700">
                <a:solidFill>
                  <a:srgbClr val="1313FF"/>
                </a:solidFill>
                <a:round/>
                <a:headEnd/>
                <a:tailEnd/>
              </a:ln>
            </p:spPr>
            <p:txBody>
              <a:bodyPr/>
              <a:lstStyle/>
              <a:p>
                <a:endParaRPr lang="ar-JO"/>
              </a:p>
            </p:txBody>
          </p:sp>
          <p:sp>
            <p:nvSpPr>
              <p:cNvPr id="42270" name="Line 370"/>
              <p:cNvSpPr>
                <a:spLocks noChangeShapeType="1"/>
              </p:cNvSpPr>
              <p:nvPr/>
            </p:nvSpPr>
            <p:spPr bwMode="auto">
              <a:xfrm rot="4069415">
                <a:off x="4816445" y="2430450"/>
                <a:ext cx="914400" cy="990600"/>
              </a:xfrm>
              <a:prstGeom prst="line">
                <a:avLst/>
              </a:prstGeom>
              <a:noFill/>
              <a:ln w="12700">
                <a:solidFill>
                  <a:srgbClr val="1313FF"/>
                </a:solidFill>
                <a:round/>
                <a:headEnd/>
                <a:tailEnd/>
              </a:ln>
            </p:spPr>
            <p:txBody>
              <a:bodyPr/>
              <a:lstStyle/>
              <a:p>
                <a:endParaRPr lang="ar-JO"/>
              </a:p>
            </p:txBody>
          </p:sp>
          <p:sp>
            <p:nvSpPr>
              <p:cNvPr id="42271" name="Line 371"/>
              <p:cNvSpPr>
                <a:spLocks noChangeShapeType="1"/>
              </p:cNvSpPr>
              <p:nvPr/>
            </p:nvSpPr>
            <p:spPr bwMode="auto">
              <a:xfrm rot="4069415">
                <a:off x="4552920" y="2384413"/>
                <a:ext cx="839788" cy="1174750"/>
              </a:xfrm>
              <a:prstGeom prst="line">
                <a:avLst/>
              </a:prstGeom>
              <a:noFill/>
              <a:ln w="12700">
                <a:solidFill>
                  <a:srgbClr val="1313FF"/>
                </a:solidFill>
                <a:round/>
                <a:headEnd/>
                <a:tailEnd/>
              </a:ln>
            </p:spPr>
            <p:txBody>
              <a:bodyPr/>
              <a:lstStyle/>
              <a:p>
                <a:endParaRPr lang="ar-JO"/>
              </a:p>
            </p:txBody>
          </p:sp>
          <p:sp>
            <p:nvSpPr>
              <p:cNvPr id="42272" name="Line 372"/>
              <p:cNvSpPr>
                <a:spLocks noChangeShapeType="1"/>
              </p:cNvSpPr>
              <p:nvPr/>
            </p:nvSpPr>
            <p:spPr bwMode="auto">
              <a:xfrm rot="-1535936">
                <a:off x="3817908" y="2098663"/>
                <a:ext cx="1358900" cy="1757363"/>
              </a:xfrm>
              <a:prstGeom prst="line">
                <a:avLst/>
              </a:prstGeom>
              <a:noFill/>
              <a:ln w="12700">
                <a:solidFill>
                  <a:srgbClr val="1313FF"/>
                </a:solidFill>
                <a:round/>
                <a:headEnd/>
                <a:tailEnd/>
              </a:ln>
            </p:spPr>
            <p:txBody>
              <a:bodyPr/>
              <a:lstStyle/>
              <a:p>
                <a:endParaRPr lang="ar-JO"/>
              </a:p>
            </p:txBody>
          </p:sp>
          <p:sp>
            <p:nvSpPr>
              <p:cNvPr id="42273" name="Line 373"/>
              <p:cNvSpPr>
                <a:spLocks noChangeShapeType="1"/>
              </p:cNvSpPr>
              <p:nvPr/>
            </p:nvSpPr>
            <p:spPr bwMode="auto">
              <a:xfrm rot="2135398">
                <a:off x="5362546" y="2538400"/>
                <a:ext cx="1588" cy="1119188"/>
              </a:xfrm>
              <a:prstGeom prst="line">
                <a:avLst/>
              </a:prstGeom>
              <a:noFill/>
              <a:ln w="12700">
                <a:solidFill>
                  <a:srgbClr val="1313FF"/>
                </a:solidFill>
                <a:round/>
                <a:headEnd/>
                <a:tailEnd/>
              </a:ln>
            </p:spPr>
            <p:txBody>
              <a:bodyPr/>
              <a:lstStyle/>
              <a:p>
                <a:endParaRPr lang="ar-JO"/>
              </a:p>
            </p:txBody>
          </p:sp>
          <p:sp>
            <p:nvSpPr>
              <p:cNvPr id="42274" name="Line 374"/>
              <p:cNvSpPr>
                <a:spLocks noChangeShapeType="1"/>
              </p:cNvSpPr>
              <p:nvPr/>
            </p:nvSpPr>
            <p:spPr bwMode="auto">
              <a:xfrm rot="-1535936">
                <a:off x="3749646" y="2474900"/>
                <a:ext cx="1047750" cy="1398588"/>
              </a:xfrm>
              <a:prstGeom prst="line">
                <a:avLst/>
              </a:prstGeom>
              <a:noFill/>
              <a:ln w="12700">
                <a:solidFill>
                  <a:srgbClr val="1313FF"/>
                </a:solidFill>
                <a:round/>
                <a:headEnd/>
                <a:tailEnd/>
              </a:ln>
            </p:spPr>
            <p:txBody>
              <a:bodyPr/>
              <a:lstStyle/>
              <a:p>
                <a:endParaRPr lang="ar-JO"/>
              </a:p>
            </p:txBody>
          </p:sp>
          <p:sp>
            <p:nvSpPr>
              <p:cNvPr id="42275" name="Line 375"/>
              <p:cNvSpPr>
                <a:spLocks noChangeShapeType="1"/>
              </p:cNvSpPr>
              <p:nvPr/>
            </p:nvSpPr>
            <p:spPr bwMode="auto">
              <a:xfrm rot="-1535936">
                <a:off x="5065683" y="2227250"/>
                <a:ext cx="457200" cy="762000"/>
              </a:xfrm>
              <a:prstGeom prst="line">
                <a:avLst/>
              </a:prstGeom>
              <a:noFill/>
              <a:ln w="12700">
                <a:solidFill>
                  <a:srgbClr val="1313FF"/>
                </a:solidFill>
                <a:round/>
                <a:headEnd/>
                <a:tailEnd/>
              </a:ln>
            </p:spPr>
            <p:txBody>
              <a:bodyPr/>
              <a:lstStyle/>
              <a:p>
                <a:endParaRPr lang="ar-JO"/>
              </a:p>
            </p:txBody>
          </p:sp>
          <p:sp>
            <p:nvSpPr>
              <p:cNvPr id="42276" name="Line 376"/>
              <p:cNvSpPr>
                <a:spLocks noChangeShapeType="1"/>
              </p:cNvSpPr>
              <p:nvPr/>
            </p:nvSpPr>
            <p:spPr bwMode="auto">
              <a:xfrm rot="20098849" flipH="1">
                <a:off x="5232371" y="2259000"/>
                <a:ext cx="76200" cy="1295400"/>
              </a:xfrm>
              <a:prstGeom prst="line">
                <a:avLst/>
              </a:prstGeom>
              <a:noFill/>
              <a:ln w="12700">
                <a:solidFill>
                  <a:srgbClr val="1313FF"/>
                </a:solidFill>
                <a:round/>
                <a:headEnd/>
                <a:tailEnd/>
              </a:ln>
            </p:spPr>
            <p:txBody>
              <a:bodyPr/>
              <a:lstStyle/>
              <a:p>
                <a:endParaRPr lang="ar-JO"/>
              </a:p>
            </p:txBody>
          </p:sp>
          <p:sp>
            <p:nvSpPr>
              <p:cNvPr id="42277" name="Line 377"/>
              <p:cNvSpPr>
                <a:spLocks noChangeShapeType="1"/>
              </p:cNvSpPr>
              <p:nvPr/>
            </p:nvSpPr>
            <p:spPr bwMode="auto">
              <a:xfrm rot="-940154">
                <a:off x="5251421" y="2239950"/>
                <a:ext cx="0" cy="1295400"/>
              </a:xfrm>
              <a:prstGeom prst="line">
                <a:avLst/>
              </a:prstGeom>
              <a:noFill/>
              <a:ln w="12700">
                <a:solidFill>
                  <a:srgbClr val="1313FF"/>
                </a:solidFill>
                <a:round/>
                <a:headEnd/>
                <a:tailEnd/>
              </a:ln>
            </p:spPr>
            <p:txBody>
              <a:bodyPr/>
              <a:lstStyle/>
              <a:p>
                <a:endParaRPr lang="ar-JO"/>
              </a:p>
            </p:txBody>
          </p:sp>
          <p:sp>
            <p:nvSpPr>
              <p:cNvPr id="42278" name="Line 379"/>
              <p:cNvSpPr>
                <a:spLocks noChangeShapeType="1"/>
              </p:cNvSpPr>
              <p:nvPr/>
            </p:nvSpPr>
            <p:spPr bwMode="auto">
              <a:xfrm rot="1990073">
                <a:off x="4683096" y="2403463"/>
                <a:ext cx="914400" cy="990600"/>
              </a:xfrm>
              <a:prstGeom prst="line">
                <a:avLst/>
              </a:prstGeom>
              <a:noFill/>
              <a:ln w="12700">
                <a:solidFill>
                  <a:srgbClr val="1313FF"/>
                </a:solidFill>
                <a:round/>
                <a:headEnd/>
                <a:tailEnd/>
              </a:ln>
            </p:spPr>
            <p:txBody>
              <a:bodyPr/>
              <a:lstStyle/>
              <a:p>
                <a:endParaRPr lang="ar-JO"/>
              </a:p>
            </p:txBody>
          </p:sp>
          <p:sp>
            <p:nvSpPr>
              <p:cNvPr id="42279" name="Line 380"/>
              <p:cNvSpPr>
                <a:spLocks noChangeShapeType="1"/>
              </p:cNvSpPr>
              <p:nvPr/>
            </p:nvSpPr>
            <p:spPr bwMode="auto">
              <a:xfrm rot="8277524" flipH="1">
                <a:off x="5380008" y="2178038"/>
                <a:ext cx="49213" cy="876300"/>
              </a:xfrm>
              <a:prstGeom prst="line">
                <a:avLst/>
              </a:prstGeom>
              <a:noFill/>
              <a:ln w="12700">
                <a:solidFill>
                  <a:srgbClr val="1313FF"/>
                </a:solidFill>
                <a:round/>
                <a:headEnd/>
                <a:tailEnd/>
              </a:ln>
            </p:spPr>
            <p:txBody>
              <a:bodyPr/>
              <a:lstStyle/>
              <a:p>
                <a:endParaRPr lang="ar-JO"/>
              </a:p>
            </p:txBody>
          </p:sp>
          <p:sp>
            <p:nvSpPr>
              <p:cNvPr id="42280" name="Line 381"/>
              <p:cNvSpPr>
                <a:spLocks noChangeShapeType="1"/>
              </p:cNvSpPr>
              <p:nvPr/>
            </p:nvSpPr>
            <p:spPr bwMode="auto">
              <a:xfrm rot="2740088">
                <a:off x="5043458" y="2544750"/>
                <a:ext cx="987425" cy="615950"/>
              </a:xfrm>
              <a:prstGeom prst="line">
                <a:avLst/>
              </a:prstGeom>
              <a:noFill/>
              <a:ln w="12700">
                <a:solidFill>
                  <a:srgbClr val="1313FF"/>
                </a:solidFill>
                <a:round/>
                <a:headEnd/>
                <a:tailEnd/>
              </a:ln>
            </p:spPr>
            <p:txBody>
              <a:bodyPr/>
              <a:lstStyle/>
              <a:p>
                <a:endParaRPr lang="ar-JO"/>
              </a:p>
            </p:txBody>
          </p:sp>
          <p:sp>
            <p:nvSpPr>
              <p:cNvPr id="42281" name="Line 382"/>
              <p:cNvSpPr>
                <a:spLocks noChangeShapeType="1"/>
              </p:cNvSpPr>
              <p:nvPr/>
            </p:nvSpPr>
            <p:spPr bwMode="auto">
              <a:xfrm rot="-8506090">
                <a:off x="4989483" y="2522525"/>
                <a:ext cx="842963" cy="817563"/>
              </a:xfrm>
              <a:prstGeom prst="line">
                <a:avLst/>
              </a:prstGeom>
              <a:noFill/>
              <a:ln w="12700">
                <a:solidFill>
                  <a:srgbClr val="1313FF"/>
                </a:solidFill>
                <a:round/>
                <a:headEnd/>
                <a:tailEnd/>
              </a:ln>
            </p:spPr>
            <p:txBody>
              <a:bodyPr/>
              <a:lstStyle/>
              <a:p>
                <a:endParaRPr lang="ar-JO"/>
              </a:p>
            </p:txBody>
          </p:sp>
          <p:sp>
            <p:nvSpPr>
              <p:cNvPr id="42282" name="Line 383"/>
              <p:cNvSpPr>
                <a:spLocks noChangeShapeType="1"/>
              </p:cNvSpPr>
              <p:nvPr/>
            </p:nvSpPr>
            <p:spPr bwMode="auto">
              <a:xfrm rot="-7270756">
                <a:off x="4557683" y="2376475"/>
                <a:ext cx="779463" cy="1150938"/>
              </a:xfrm>
              <a:prstGeom prst="line">
                <a:avLst/>
              </a:prstGeom>
              <a:noFill/>
              <a:ln w="12700">
                <a:solidFill>
                  <a:srgbClr val="1313FF"/>
                </a:solidFill>
                <a:round/>
                <a:headEnd/>
                <a:tailEnd/>
              </a:ln>
            </p:spPr>
            <p:txBody>
              <a:bodyPr/>
              <a:lstStyle/>
              <a:p>
                <a:endParaRPr lang="ar-JO"/>
              </a:p>
            </p:txBody>
          </p:sp>
          <p:sp>
            <p:nvSpPr>
              <p:cNvPr id="42283" name="Line 384"/>
              <p:cNvSpPr>
                <a:spLocks noChangeShapeType="1"/>
              </p:cNvSpPr>
              <p:nvPr/>
            </p:nvSpPr>
            <p:spPr bwMode="auto">
              <a:xfrm rot="-7745724">
                <a:off x="4616420" y="2490775"/>
                <a:ext cx="1011238" cy="836613"/>
              </a:xfrm>
              <a:prstGeom prst="line">
                <a:avLst/>
              </a:prstGeom>
              <a:noFill/>
              <a:ln w="12700">
                <a:solidFill>
                  <a:srgbClr val="1313FF"/>
                </a:solidFill>
                <a:round/>
                <a:headEnd/>
                <a:tailEnd/>
              </a:ln>
            </p:spPr>
            <p:txBody>
              <a:bodyPr/>
              <a:lstStyle/>
              <a:p>
                <a:endParaRPr lang="ar-JO"/>
              </a:p>
            </p:txBody>
          </p:sp>
          <p:sp>
            <p:nvSpPr>
              <p:cNvPr id="42284" name="Line 385"/>
              <p:cNvSpPr>
                <a:spLocks noChangeShapeType="1"/>
              </p:cNvSpPr>
              <p:nvPr/>
            </p:nvSpPr>
            <p:spPr bwMode="auto">
              <a:xfrm rot="-1819499">
                <a:off x="4411633" y="2127238"/>
                <a:ext cx="1047750" cy="1149350"/>
              </a:xfrm>
              <a:prstGeom prst="line">
                <a:avLst/>
              </a:prstGeom>
              <a:noFill/>
              <a:ln w="12700">
                <a:solidFill>
                  <a:srgbClr val="1313FF"/>
                </a:solidFill>
                <a:round/>
                <a:headEnd/>
                <a:tailEnd/>
              </a:ln>
            </p:spPr>
            <p:txBody>
              <a:bodyPr/>
              <a:lstStyle/>
              <a:p>
                <a:endParaRPr lang="ar-JO"/>
              </a:p>
            </p:txBody>
          </p:sp>
          <p:sp>
            <p:nvSpPr>
              <p:cNvPr id="42285" name="Line 386"/>
              <p:cNvSpPr>
                <a:spLocks noChangeShapeType="1"/>
              </p:cNvSpPr>
              <p:nvPr/>
            </p:nvSpPr>
            <p:spPr bwMode="auto">
              <a:xfrm rot="-3556019">
                <a:off x="4208433" y="2490775"/>
                <a:ext cx="1239838" cy="1123950"/>
              </a:xfrm>
              <a:prstGeom prst="line">
                <a:avLst/>
              </a:prstGeom>
              <a:noFill/>
              <a:ln w="12700">
                <a:solidFill>
                  <a:srgbClr val="1313FF"/>
                </a:solidFill>
                <a:round/>
                <a:headEnd/>
                <a:tailEnd/>
              </a:ln>
            </p:spPr>
            <p:txBody>
              <a:bodyPr/>
              <a:lstStyle/>
              <a:p>
                <a:endParaRPr lang="ar-JO"/>
              </a:p>
            </p:txBody>
          </p:sp>
          <p:sp>
            <p:nvSpPr>
              <p:cNvPr id="42286" name="Line 387"/>
              <p:cNvSpPr>
                <a:spLocks noChangeShapeType="1"/>
              </p:cNvSpPr>
              <p:nvPr/>
            </p:nvSpPr>
            <p:spPr bwMode="auto">
              <a:xfrm rot="-8372186">
                <a:off x="4787871" y="2162163"/>
                <a:ext cx="76200" cy="1524000"/>
              </a:xfrm>
              <a:prstGeom prst="line">
                <a:avLst/>
              </a:prstGeom>
              <a:noFill/>
              <a:ln w="12700">
                <a:solidFill>
                  <a:srgbClr val="1313FF"/>
                </a:solidFill>
                <a:round/>
                <a:headEnd/>
                <a:tailEnd/>
              </a:ln>
            </p:spPr>
            <p:txBody>
              <a:bodyPr/>
              <a:lstStyle/>
              <a:p>
                <a:endParaRPr lang="ar-JO"/>
              </a:p>
            </p:txBody>
          </p:sp>
          <p:sp>
            <p:nvSpPr>
              <p:cNvPr id="42287" name="Line 388"/>
              <p:cNvSpPr>
                <a:spLocks noChangeShapeType="1"/>
              </p:cNvSpPr>
              <p:nvPr/>
            </p:nvSpPr>
            <p:spPr bwMode="auto">
              <a:xfrm rot="-4631396">
                <a:off x="4021108" y="2309800"/>
                <a:ext cx="1447800" cy="1371600"/>
              </a:xfrm>
              <a:prstGeom prst="line">
                <a:avLst/>
              </a:prstGeom>
              <a:noFill/>
              <a:ln w="12700">
                <a:solidFill>
                  <a:srgbClr val="1313FF"/>
                </a:solidFill>
                <a:round/>
                <a:headEnd/>
                <a:tailEnd/>
              </a:ln>
            </p:spPr>
            <p:txBody>
              <a:bodyPr/>
              <a:lstStyle/>
              <a:p>
                <a:endParaRPr lang="ar-JO"/>
              </a:p>
            </p:txBody>
          </p:sp>
          <p:sp>
            <p:nvSpPr>
              <p:cNvPr id="42288" name="Line 389"/>
              <p:cNvSpPr>
                <a:spLocks noChangeShapeType="1"/>
              </p:cNvSpPr>
              <p:nvPr/>
            </p:nvSpPr>
            <p:spPr bwMode="auto">
              <a:xfrm rot="10179162" flipH="1">
                <a:off x="5454621" y="2305038"/>
                <a:ext cx="53975" cy="1139825"/>
              </a:xfrm>
              <a:prstGeom prst="line">
                <a:avLst/>
              </a:prstGeom>
              <a:noFill/>
              <a:ln w="12700">
                <a:solidFill>
                  <a:srgbClr val="1313FF"/>
                </a:solidFill>
                <a:round/>
                <a:headEnd/>
                <a:tailEnd/>
              </a:ln>
            </p:spPr>
            <p:txBody>
              <a:bodyPr/>
              <a:lstStyle/>
              <a:p>
                <a:endParaRPr lang="ar-JO"/>
              </a:p>
            </p:txBody>
          </p:sp>
          <p:sp>
            <p:nvSpPr>
              <p:cNvPr id="42289" name="Line 390"/>
              <p:cNvSpPr>
                <a:spLocks noChangeShapeType="1"/>
              </p:cNvSpPr>
              <p:nvPr/>
            </p:nvSpPr>
            <p:spPr bwMode="auto">
              <a:xfrm rot="-6879810">
                <a:off x="4808508" y="2425688"/>
                <a:ext cx="858838" cy="1085850"/>
              </a:xfrm>
              <a:prstGeom prst="line">
                <a:avLst/>
              </a:prstGeom>
              <a:noFill/>
              <a:ln w="12700">
                <a:solidFill>
                  <a:srgbClr val="1313FF"/>
                </a:solidFill>
                <a:round/>
                <a:headEnd/>
                <a:tailEnd/>
              </a:ln>
            </p:spPr>
            <p:txBody>
              <a:bodyPr/>
              <a:lstStyle/>
              <a:p>
                <a:endParaRPr lang="ar-JO"/>
              </a:p>
            </p:txBody>
          </p:sp>
          <p:sp>
            <p:nvSpPr>
              <p:cNvPr id="42290" name="Line 391"/>
              <p:cNvSpPr>
                <a:spLocks noChangeShapeType="1"/>
              </p:cNvSpPr>
              <p:nvPr/>
            </p:nvSpPr>
            <p:spPr bwMode="auto">
              <a:xfrm rot="8901250" flipH="1">
                <a:off x="4870421" y="2133588"/>
                <a:ext cx="100013" cy="1457325"/>
              </a:xfrm>
              <a:prstGeom prst="line">
                <a:avLst/>
              </a:prstGeom>
              <a:noFill/>
              <a:ln w="12700">
                <a:solidFill>
                  <a:srgbClr val="1313FF"/>
                </a:solidFill>
                <a:round/>
                <a:headEnd/>
                <a:tailEnd/>
              </a:ln>
            </p:spPr>
            <p:txBody>
              <a:bodyPr/>
              <a:lstStyle/>
              <a:p>
                <a:endParaRPr lang="ar-JO"/>
              </a:p>
            </p:txBody>
          </p:sp>
          <p:sp>
            <p:nvSpPr>
              <p:cNvPr id="42291" name="Line 392"/>
              <p:cNvSpPr>
                <a:spLocks noChangeShapeType="1"/>
              </p:cNvSpPr>
              <p:nvPr/>
            </p:nvSpPr>
            <p:spPr bwMode="auto">
              <a:xfrm rot="17038861" flipV="1">
                <a:off x="4452908" y="1703375"/>
                <a:ext cx="225425" cy="2286000"/>
              </a:xfrm>
              <a:prstGeom prst="line">
                <a:avLst/>
              </a:prstGeom>
              <a:noFill/>
              <a:ln w="12700">
                <a:solidFill>
                  <a:srgbClr val="1313FF"/>
                </a:solidFill>
                <a:round/>
                <a:headEnd/>
                <a:tailEnd/>
              </a:ln>
            </p:spPr>
            <p:txBody>
              <a:bodyPr/>
              <a:lstStyle/>
              <a:p>
                <a:endParaRPr lang="ar-JO"/>
              </a:p>
            </p:txBody>
          </p:sp>
          <p:sp>
            <p:nvSpPr>
              <p:cNvPr id="42292" name="Line 393"/>
              <p:cNvSpPr>
                <a:spLocks noChangeShapeType="1"/>
              </p:cNvSpPr>
              <p:nvPr/>
            </p:nvSpPr>
            <p:spPr bwMode="auto">
              <a:xfrm rot="12348802" flipH="1">
                <a:off x="5186333" y="2241538"/>
                <a:ext cx="117475" cy="1428750"/>
              </a:xfrm>
              <a:prstGeom prst="line">
                <a:avLst/>
              </a:prstGeom>
              <a:noFill/>
              <a:ln w="12700">
                <a:solidFill>
                  <a:srgbClr val="1313FF"/>
                </a:solidFill>
                <a:round/>
                <a:headEnd/>
                <a:tailEnd/>
              </a:ln>
            </p:spPr>
            <p:txBody>
              <a:bodyPr/>
              <a:lstStyle/>
              <a:p>
                <a:endParaRPr lang="ar-JO"/>
              </a:p>
            </p:txBody>
          </p:sp>
          <p:sp>
            <p:nvSpPr>
              <p:cNvPr id="42293" name="Line 394"/>
              <p:cNvSpPr>
                <a:spLocks noChangeShapeType="1"/>
              </p:cNvSpPr>
              <p:nvPr/>
            </p:nvSpPr>
            <p:spPr bwMode="auto">
              <a:xfrm rot="9650327" flipH="1">
                <a:off x="5329208" y="2293925"/>
                <a:ext cx="47625" cy="1244600"/>
              </a:xfrm>
              <a:prstGeom prst="line">
                <a:avLst/>
              </a:prstGeom>
              <a:noFill/>
              <a:ln w="12700">
                <a:solidFill>
                  <a:srgbClr val="1313FF"/>
                </a:solidFill>
                <a:round/>
                <a:headEnd/>
                <a:tailEnd/>
              </a:ln>
            </p:spPr>
            <p:txBody>
              <a:bodyPr/>
              <a:lstStyle/>
              <a:p>
                <a:endParaRPr lang="ar-JO"/>
              </a:p>
            </p:txBody>
          </p:sp>
          <p:sp>
            <p:nvSpPr>
              <p:cNvPr id="42294" name="Line 395"/>
              <p:cNvSpPr>
                <a:spLocks noChangeShapeType="1"/>
              </p:cNvSpPr>
              <p:nvPr/>
            </p:nvSpPr>
            <p:spPr bwMode="auto">
              <a:xfrm rot="9993010">
                <a:off x="4470371" y="2270113"/>
                <a:ext cx="1076325" cy="1095375"/>
              </a:xfrm>
              <a:prstGeom prst="line">
                <a:avLst/>
              </a:prstGeom>
              <a:noFill/>
              <a:ln w="12700">
                <a:solidFill>
                  <a:srgbClr val="1313FF"/>
                </a:solidFill>
                <a:round/>
                <a:headEnd/>
                <a:tailEnd/>
              </a:ln>
            </p:spPr>
            <p:txBody>
              <a:bodyPr/>
              <a:lstStyle/>
              <a:p>
                <a:endParaRPr lang="ar-JO"/>
              </a:p>
            </p:txBody>
          </p:sp>
          <p:sp>
            <p:nvSpPr>
              <p:cNvPr id="42295" name="Line 396"/>
              <p:cNvSpPr>
                <a:spLocks noChangeShapeType="1"/>
              </p:cNvSpPr>
              <p:nvPr/>
            </p:nvSpPr>
            <p:spPr bwMode="auto">
              <a:xfrm rot="16061880" flipV="1">
                <a:off x="4889470" y="1881175"/>
                <a:ext cx="76200" cy="1524000"/>
              </a:xfrm>
              <a:prstGeom prst="line">
                <a:avLst/>
              </a:prstGeom>
              <a:noFill/>
              <a:ln w="12700">
                <a:solidFill>
                  <a:srgbClr val="1313FF"/>
                </a:solidFill>
                <a:round/>
                <a:headEnd/>
                <a:tailEnd/>
              </a:ln>
            </p:spPr>
            <p:txBody>
              <a:bodyPr/>
              <a:lstStyle/>
              <a:p>
                <a:endParaRPr lang="ar-JO"/>
              </a:p>
            </p:txBody>
          </p:sp>
          <p:sp>
            <p:nvSpPr>
              <p:cNvPr id="42296" name="Line 397"/>
              <p:cNvSpPr>
                <a:spLocks noChangeShapeType="1"/>
              </p:cNvSpPr>
              <p:nvPr/>
            </p:nvSpPr>
            <p:spPr bwMode="auto">
              <a:xfrm rot="-9853921">
                <a:off x="4176683" y="2365363"/>
                <a:ext cx="1089025" cy="1047750"/>
              </a:xfrm>
              <a:prstGeom prst="line">
                <a:avLst/>
              </a:prstGeom>
              <a:noFill/>
              <a:ln w="12700">
                <a:solidFill>
                  <a:srgbClr val="1313FF"/>
                </a:solidFill>
                <a:round/>
                <a:headEnd/>
                <a:tailEnd/>
              </a:ln>
            </p:spPr>
            <p:txBody>
              <a:bodyPr/>
              <a:lstStyle/>
              <a:p>
                <a:endParaRPr lang="ar-JO"/>
              </a:p>
            </p:txBody>
          </p:sp>
          <p:sp>
            <p:nvSpPr>
              <p:cNvPr id="42297" name="Line 398"/>
              <p:cNvSpPr>
                <a:spLocks noChangeShapeType="1"/>
              </p:cNvSpPr>
              <p:nvPr/>
            </p:nvSpPr>
            <p:spPr bwMode="auto">
              <a:xfrm rot="9670693">
                <a:off x="4308446" y="2620950"/>
                <a:ext cx="1066800" cy="1066800"/>
              </a:xfrm>
              <a:prstGeom prst="line">
                <a:avLst/>
              </a:prstGeom>
              <a:noFill/>
              <a:ln w="12700">
                <a:solidFill>
                  <a:srgbClr val="1313FF"/>
                </a:solidFill>
                <a:round/>
                <a:headEnd/>
                <a:tailEnd/>
              </a:ln>
            </p:spPr>
            <p:txBody>
              <a:bodyPr/>
              <a:lstStyle/>
              <a:p>
                <a:endParaRPr lang="ar-JO"/>
              </a:p>
            </p:txBody>
          </p:sp>
          <p:sp>
            <p:nvSpPr>
              <p:cNvPr id="42298" name="Line 399"/>
              <p:cNvSpPr>
                <a:spLocks noChangeShapeType="1"/>
              </p:cNvSpPr>
              <p:nvPr/>
            </p:nvSpPr>
            <p:spPr bwMode="auto">
              <a:xfrm rot="9589156">
                <a:off x="3806796" y="2574913"/>
                <a:ext cx="1219200" cy="1219200"/>
              </a:xfrm>
              <a:prstGeom prst="line">
                <a:avLst/>
              </a:prstGeom>
              <a:noFill/>
              <a:ln w="12700">
                <a:solidFill>
                  <a:srgbClr val="1313FF"/>
                </a:solidFill>
                <a:round/>
                <a:headEnd/>
                <a:tailEnd/>
              </a:ln>
            </p:spPr>
            <p:txBody>
              <a:bodyPr/>
              <a:lstStyle/>
              <a:p>
                <a:endParaRPr lang="ar-JO"/>
              </a:p>
            </p:txBody>
          </p:sp>
          <p:sp>
            <p:nvSpPr>
              <p:cNvPr id="42299" name="Line 400"/>
              <p:cNvSpPr>
                <a:spLocks noChangeShapeType="1"/>
              </p:cNvSpPr>
              <p:nvPr/>
            </p:nvSpPr>
            <p:spPr bwMode="auto">
              <a:xfrm rot="8277524" flipH="1">
                <a:off x="5197446" y="2178038"/>
                <a:ext cx="20638" cy="1409700"/>
              </a:xfrm>
              <a:prstGeom prst="line">
                <a:avLst/>
              </a:prstGeom>
              <a:noFill/>
              <a:ln w="12700">
                <a:solidFill>
                  <a:srgbClr val="1313FF"/>
                </a:solidFill>
                <a:round/>
                <a:headEnd/>
                <a:tailEnd/>
              </a:ln>
            </p:spPr>
            <p:txBody>
              <a:bodyPr/>
              <a:lstStyle/>
              <a:p>
                <a:endParaRPr lang="ar-JO"/>
              </a:p>
            </p:txBody>
          </p:sp>
          <p:sp>
            <p:nvSpPr>
              <p:cNvPr id="42300" name="AutoShape 402"/>
              <p:cNvSpPr>
                <a:spLocks noChangeArrowheads="1"/>
              </p:cNvSpPr>
              <p:nvPr/>
            </p:nvSpPr>
            <p:spPr bwMode="auto">
              <a:xfrm>
                <a:off x="3500430" y="2214554"/>
                <a:ext cx="2209800" cy="1371600"/>
              </a:xfrm>
              <a:prstGeom prst="can">
                <a:avLst>
                  <a:gd name="adj" fmla="val 25000"/>
                </a:avLst>
              </a:prstGeom>
              <a:solidFill>
                <a:schemeClr val="bg1">
                  <a:alpha val="50195"/>
                </a:schemeClr>
              </a:solidFill>
              <a:ln w="19050">
                <a:solidFill>
                  <a:schemeClr val="tx1"/>
                </a:solidFill>
                <a:round/>
                <a:headEnd/>
                <a:tailEnd/>
              </a:ln>
            </p:spPr>
            <p:txBody>
              <a:bodyPr wrap="none" anchor="ctr"/>
              <a:lstStyle/>
              <a:p>
                <a:pPr eaLnBrk="1" hangingPunct="1"/>
                <a:endParaRPr lang="ar-JO" altLang="ar-JO">
                  <a:latin typeface="Calibri" pitchFamily="34" charset="0"/>
                </a:endParaRPr>
              </a:p>
            </p:txBody>
          </p:sp>
          <p:sp>
            <p:nvSpPr>
              <p:cNvPr id="42301" name="Line 412"/>
              <p:cNvSpPr>
                <a:spLocks noChangeShapeType="1"/>
              </p:cNvSpPr>
              <p:nvPr/>
            </p:nvSpPr>
            <p:spPr bwMode="auto">
              <a:xfrm rot="4863504" flipV="1">
                <a:off x="7900958" y="2378063"/>
                <a:ext cx="152400" cy="0"/>
              </a:xfrm>
              <a:prstGeom prst="line">
                <a:avLst/>
              </a:prstGeom>
              <a:noFill/>
              <a:ln w="12700">
                <a:solidFill>
                  <a:srgbClr val="1313FF"/>
                </a:solidFill>
                <a:round/>
                <a:headEnd/>
                <a:tailEnd/>
              </a:ln>
            </p:spPr>
            <p:txBody>
              <a:bodyPr/>
              <a:lstStyle/>
              <a:p>
                <a:endParaRPr lang="ar-JO"/>
              </a:p>
            </p:txBody>
          </p:sp>
          <p:sp>
            <p:nvSpPr>
              <p:cNvPr id="42302" name="AutoShape 555"/>
              <p:cNvSpPr>
                <a:spLocks noChangeArrowheads="1"/>
              </p:cNvSpPr>
              <p:nvPr/>
            </p:nvSpPr>
            <p:spPr bwMode="auto">
              <a:xfrm>
                <a:off x="6453158" y="2225663"/>
                <a:ext cx="2209800" cy="1371600"/>
              </a:xfrm>
              <a:prstGeom prst="can">
                <a:avLst>
                  <a:gd name="adj" fmla="val 25000"/>
                </a:avLst>
              </a:prstGeom>
              <a:solidFill>
                <a:schemeClr val="bg1">
                  <a:alpha val="50195"/>
                </a:schemeClr>
              </a:solidFill>
              <a:ln w="19050">
                <a:solidFill>
                  <a:schemeClr val="tx1"/>
                </a:solidFill>
                <a:round/>
                <a:headEnd/>
                <a:tailEnd/>
              </a:ln>
            </p:spPr>
            <p:txBody>
              <a:bodyPr wrap="none" anchor="ctr"/>
              <a:lstStyle/>
              <a:p>
                <a:pPr eaLnBrk="1" hangingPunct="1"/>
                <a:endParaRPr lang="ar-JO" altLang="ar-JO">
                  <a:latin typeface="Calibri" pitchFamily="34" charset="0"/>
                </a:endParaRPr>
              </a:p>
            </p:txBody>
          </p:sp>
          <p:sp>
            <p:nvSpPr>
              <p:cNvPr id="341" name="Oval 249"/>
              <p:cNvSpPr>
                <a:spLocks noChangeArrowheads="1"/>
              </p:cNvSpPr>
              <p:nvPr/>
            </p:nvSpPr>
            <p:spPr bwMode="auto">
              <a:xfrm>
                <a:off x="7520808" y="2149594"/>
                <a:ext cx="227572" cy="228564"/>
              </a:xfrm>
              <a:prstGeom prst="ellipse">
                <a:avLst/>
              </a:prstGeom>
              <a:solidFill>
                <a:schemeClr val="accent6">
                  <a:lumMod val="75000"/>
                </a:schemeClr>
              </a:solidFill>
              <a:ln w="9525">
                <a:solidFill>
                  <a:schemeClr val="tx1"/>
                </a:solidFill>
                <a:round/>
                <a:headEnd/>
                <a:tailEnd/>
              </a:ln>
              <a:effectLst/>
            </p:spPr>
            <p:txBody>
              <a:bodyPr wrap="none" anchor="ctr"/>
              <a:lstStyle/>
              <a:p>
                <a:pPr eaLnBrk="1" fontAlgn="auto" hangingPunct="1">
                  <a:spcBef>
                    <a:spcPts val="0"/>
                  </a:spcBef>
                  <a:spcAft>
                    <a:spcPts val="0"/>
                  </a:spcAft>
                  <a:defRPr/>
                </a:pPr>
                <a:endParaRPr lang="en-US">
                  <a:latin typeface="+mn-lt"/>
                  <a:cs typeface="+mn-cs"/>
                </a:endParaRPr>
              </a:p>
            </p:txBody>
          </p:sp>
          <p:sp>
            <p:nvSpPr>
              <p:cNvPr id="342" name="Oval 250"/>
              <p:cNvSpPr>
                <a:spLocks noChangeArrowheads="1"/>
              </p:cNvSpPr>
              <p:nvPr/>
            </p:nvSpPr>
            <p:spPr bwMode="auto">
              <a:xfrm>
                <a:off x="7291586" y="2149594"/>
                <a:ext cx="229222" cy="228564"/>
              </a:xfrm>
              <a:prstGeom prst="ellipse">
                <a:avLst/>
              </a:prstGeom>
              <a:solidFill>
                <a:schemeClr val="accent6">
                  <a:lumMod val="75000"/>
                </a:schemeClr>
              </a:solidFill>
              <a:ln w="9525">
                <a:solidFill>
                  <a:schemeClr val="tx1"/>
                </a:solidFill>
                <a:round/>
                <a:headEnd/>
                <a:tailEnd/>
              </a:ln>
              <a:effectLst/>
            </p:spPr>
            <p:txBody>
              <a:bodyPr wrap="none" anchor="ctr"/>
              <a:lstStyle/>
              <a:p>
                <a:pPr eaLnBrk="1" fontAlgn="auto" hangingPunct="1">
                  <a:spcBef>
                    <a:spcPts val="0"/>
                  </a:spcBef>
                  <a:spcAft>
                    <a:spcPts val="0"/>
                  </a:spcAft>
                  <a:defRPr/>
                </a:pPr>
                <a:endParaRPr lang="en-US">
                  <a:latin typeface="+mn-lt"/>
                  <a:cs typeface="+mn-cs"/>
                </a:endParaRPr>
              </a:p>
            </p:txBody>
          </p:sp>
          <p:sp>
            <p:nvSpPr>
              <p:cNvPr id="343" name="Oval 251"/>
              <p:cNvSpPr>
                <a:spLocks noChangeArrowheads="1"/>
              </p:cNvSpPr>
              <p:nvPr/>
            </p:nvSpPr>
            <p:spPr bwMode="auto">
              <a:xfrm>
                <a:off x="7367443" y="2224591"/>
                <a:ext cx="229222" cy="228564"/>
              </a:xfrm>
              <a:prstGeom prst="ellipse">
                <a:avLst/>
              </a:prstGeom>
              <a:solidFill>
                <a:schemeClr val="accent6">
                  <a:lumMod val="75000"/>
                </a:schemeClr>
              </a:solidFill>
              <a:ln w="9525">
                <a:solidFill>
                  <a:schemeClr val="tx1"/>
                </a:solidFill>
                <a:round/>
                <a:headEnd/>
                <a:tailEnd/>
              </a:ln>
              <a:effectLst/>
            </p:spPr>
            <p:txBody>
              <a:bodyPr wrap="none" anchor="ctr"/>
              <a:lstStyle/>
              <a:p>
                <a:pPr eaLnBrk="1" fontAlgn="auto" hangingPunct="1">
                  <a:spcBef>
                    <a:spcPts val="0"/>
                  </a:spcBef>
                  <a:spcAft>
                    <a:spcPts val="0"/>
                  </a:spcAft>
                  <a:defRPr/>
                </a:pPr>
                <a:endParaRPr lang="en-US">
                  <a:latin typeface="+mn-lt"/>
                  <a:cs typeface="+mn-cs"/>
                </a:endParaRPr>
              </a:p>
            </p:txBody>
          </p:sp>
          <p:sp>
            <p:nvSpPr>
              <p:cNvPr id="344" name="Oval 253"/>
              <p:cNvSpPr>
                <a:spLocks noChangeArrowheads="1"/>
              </p:cNvSpPr>
              <p:nvPr/>
            </p:nvSpPr>
            <p:spPr bwMode="auto">
              <a:xfrm>
                <a:off x="7672523" y="2224591"/>
                <a:ext cx="229221" cy="228564"/>
              </a:xfrm>
              <a:prstGeom prst="ellipse">
                <a:avLst/>
              </a:prstGeom>
              <a:solidFill>
                <a:schemeClr val="accent6">
                  <a:lumMod val="75000"/>
                </a:schemeClr>
              </a:solidFill>
              <a:ln w="9525">
                <a:solidFill>
                  <a:schemeClr val="tx1"/>
                </a:solidFill>
                <a:round/>
                <a:headEnd/>
                <a:tailEnd/>
              </a:ln>
              <a:effectLst/>
            </p:spPr>
            <p:txBody>
              <a:bodyPr wrap="none" anchor="ctr"/>
              <a:lstStyle/>
              <a:p>
                <a:pPr eaLnBrk="1" fontAlgn="auto" hangingPunct="1">
                  <a:spcBef>
                    <a:spcPts val="0"/>
                  </a:spcBef>
                  <a:spcAft>
                    <a:spcPts val="0"/>
                  </a:spcAft>
                  <a:defRPr/>
                </a:pPr>
                <a:endParaRPr lang="en-US">
                  <a:latin typeface="+mn-lt"/>
                  <a:cs typeface="+mn-cs"/>
                </a:endParaRPr>
              </a:p>
            </p:txBody>
          </p:sp>
          <p:sp>
            <p:nvSpPr>
              <p:cNvPr id="42307" name="Line 411"/>
              <p:cNvSpPr>
                <a:spLocks noChangeShapeType="1"/>
              </p:cNvSpPr>
              <p:nvPr/>
            </p:nvSpPr>
            <p:spPr bwMode="auto">
              <a:xfrm rot="6109587" flipV="1">
                <a:off x="7437408" y="2265350"/>
                <a:ext cx="149225" cy="76200"/>
              </a:xfrm>
              <a:prstGeom prst="line">
                <a:avLst/>
              </a:prstGeom>
              <a:noFill/>
              <a:ln w="12700">
                <a:solidFill>
                  <a:srgbClr val="1313FF"/>
                </a:solidFill>
                <a:round/>
                <a:headEnd/>
                <a:tailEnd/>
              </a:ln>
            </p:spPr>
            <p:txBody>
              <a:bodyPr/>
              <a:lstStyle/>
              <a:p>
                <a:endParaRPr lang="ar-JO"/>
              </a:p>
            </p:txBody>
          </p:sp>
          <p:sp>
            <p:nvSpPr>
              <p:cNvPr id="346" name="Oval 252"/>
              <p:cNvSpPr>
                <a:spLocks noChangeArrowheads="1"/>
              </p:cNvSpPr>
              <p:nvPr/>
            </p:nvSpPr>
            <p:spPr bwMode="auto">
              <a:xfrm>
                <a:off x="7596665" y="3292414"/>
                <a:ext cx="75857" cy="76783"/>
              </a:xfrm>
              <a:prstGeom prst="ellipse">
                <a:avLst/>
              </a:prstGeom>
              <a:solidFill>
                <a:schemeClr val="accent6">
                  <a:lumMod val="75000"/>
                </a:schemeClr>
              </a:solidFill>
              <a:ln w="9525">
                <a:solidFill>
                  <a:schemeClr val="tx1"/>
                </a:solidFill>
                <a:round/>
                <a:headEnd/>
                <a:tailEnd/>
              </a:ln>
              <a:effectLst/>
            </p:spPr>
            <p:txBody>
              <a:bodyPr wrap="none" anchor="ctr"/>
              <a:lstStyle/>
              <a:p>
                <a:pPr eaLnBrk="1" fontAlgn="auto" hangingPunct="1">
                  <a:spcBef>
                    <a:spcPts val="0"/>
                  </a:spcBef>
                  <a:spcAft>
                    <a:spcPts val="0"/>
                  </a:spcAft>
                  <a:defRPr/>
                </a:pPr>
                <a:endParaRPr lang="en-US">
                  <a:latin typeface="+mn-lt"/>
                  <a:cs typeface="+mn-cs"/>
                </a:endParaRPr>
              </a:p>
            </p:txBody>
          </p:sp>
          <p:sp>
            <p:nvSpPr>
              <p:cNvPr id="347" name="Oval 254"/>
              <p:cNvSpPr>
                <a:spLocks noChangeArrowheads="1"/>
              </p:cNvSpPr>
              <p:nvPr/>
            </p:nvSpPr>
            <p:spPr bwMode="auto">
              <a:xfrm>
                <a:off x="7444950" y="3369196"/>
                <a:ext cx="75857" cy="74998"/>
              </a:xfrm>
              <a:prstGeom prst="ellipse">
                <a:avLst/>
              </a:prstGeom>
              <a:solidFill>
                <a:schemeClr val="accent6">
                  <a:lumMod val="75000"/>
                </a:schemeClr>
              </a:solidFill>
              <a:ln w="9525">
                <a:solidFill>
                  <a:schemeClr val="tx1"/>
                </a:solidFill>
                <a:round/>
                <a:headEnd/>
                <a:tailEnd/>
              </a:ln>
              <a:effectLst/>
            </p:spPr>
            <p:txBody>
              <a:bodyPr wrap="none" anchor="ctr"/>
              <a:lstStyle/>
              <a:p>
                <a:pPr eaLnBrk="1" fontAlgn="auto" hangingPunct="1">
                  <a:spcBef>
                    <a:spcPts val="0"/>
                  </a:spcBef>
                  <a:spcAft>
                    <a:spcPts val="0"/>
                  </a:spcAft>
                  <a:defRPr/>
                </a:pPr>
                <a:endParaRPr lang="en-US">
                  <a:latin typeface="+mn-lt"/>
                  <a:cs typeface="+mn-cs"/>
                </a:endParaRPr>
              </a:p>
            </p:txBody>
          </p:sp>
          <p:sp>
            <p:nvSpPr>
              <p:cNvPr id="348" name="Oval 255"/>
              <p:cNvSpPr>
                <a:spLocks noChangeArrowheads="1"/>
              </p:cNvSpPr>
              <p:nvPr/>
            </p:nvSpPr>
            <p:spPr bwMode="auto">
              <a:xfrm>
                <a:off x="7596665" y="3444194"/>
                <a:ext cx="75857" cy="76784"/>
              </a:xfrm>
              <a:prstGeom prst="ellipse">
                <a:avLst/>
              </a:prstGeom>
              <a:solidFill>
                <a:schemeClr val="accent6">
                  <a:lumMod val="75000"/>
                </a:schemeClr>
              </a:solidFill>
              <a:ln w="9525">
                <a:solidFill>
                  <a:schemeClr val="tx1"/>
                </a:solidFill>
                <a:round/>
                <a:headEnd/>
                <a:tailEnd/>
              </a:ln>
              <a:effectLst/>
            </p:spPr>
            <p:txBody>
              <a:bodyPr wrap="none" anchor="ctr"/>
              <a:lstStyle/>
              <a:p>
                <a:pPr eaLnBrk="1" fontAlgn="auto" hangingPunct="1">
                  <a:spcBef>
                    <a:spcPts val="0"/>
                  </a:spcBef>
                  <a:spcAft>
                    <a:spcPts val="0"/>
                  </a:spcAft>
                  <a:defRPr/>
                </a:pPr>
                <a:endParaRPr lang="en-US">
                  <a:latin typeface="+mn-lt"/>
                  <a:cs typeface="+mn-cs"/>
                </a:endParaRPr>
              </a:p>
            </p:txBody>
          </p:sp>
          <p:sp>
            <p:nvSpPr>
              <p:cNvPr id="349" name="Oval 256"/>
              <p:cNvSpPr>
                <a:spLocks noChangeArrowheads="1"/>
              </p:cNvSpPr>
              <p:nvPr/>
            </p:nvSpPr>
            <p:spPr bwMode="auto">
              <a:xfrm flipV="1">
                <a:off x="7672523" y="3369196"/>
                <a:ext cx="75857" cy="74998"/>
              </a:xfrm>
              <a:prstGeom prst="ellipse">
                <a:avLst/>
              </a:prstGeom>
              <a:solidFill>
                <a:schemeClr val="accent6">
                  <a:lumMod val="75000"/>
                </a:schemeClr>
              </a:solidFill>
              <a:ln w="9525">
                <a:solidFill>
                  <a:schemeClr val="tx1"/>
                </a:solidFill>
                <a:round/>
                <a:headEnd/>
                <a:tailEnd/>
              </a:ln>
              <a:effectLst/>
            </p:spPr>
            <p:txBody>
              <a:bodyPr wrap="none" anchor="ctr"/>
              <a:lstStyle/>
              <a:p>
                <a:pPr eaLnBrk="1" fontAlgn="auto" hangingPunct="1">
                  <a:spcBef>
                    <a:spcPts val="0"/>
                  </a:spcBef>
                  <a:spcAft>
                    <a:spcPts val="0"/>
                  </a:spcAft>
                  <a:defRPr/>
                </a:pPr>
                <a:endParaRPr lang="en-US">
                  <a:latin typeface="+mn-lt"/>
                  <a:cs typeface="+mn-cs"/>
                </a:endParaRPr>
              </a:p>
            </p:txBody>
          </p:sp>
          <p:sp>
            <p:nvSpPr>
              <p:cNvPr id="350" name="Oval 257"/>
              <p:cNvSpPr>
                <a:spLocks noChangeArrowheads="1"/>
              </p:cNvSpPr>
              <p:nvPr/>
            </p:nvSpPr>
            <p:spPr bwMode="auto">
              <a:xfrm>
                <a:off x="7520808" y="2681719"/>
                <a:ext cx="151715" cy="153566"/>
              </a:xfrm>
              <a:prstGeom prst="ellipse">
                <a:avLst/>
              </a:prstGeom>
              <a:solidFill>
                <a:schemeClr val="accent6">
                  <a:lumMod val="75000"/>
                </a:schemeClr>
              </a:solidFill>
              <a:ln w="9525">
                <a:solidFill>
                  <a:schemeClr val="tx1"/>
                </a:solidFill>
                <a:round/>
                <a:headEnd/>
                <a:tailEnd/>
              </a:ln>
              <a:effectLst/>
            </p:spPr>
            <p:txBody>
              <a:bodyPr wrap="none" anchor="ctr"/>
              <a:lstStyle/>
              <a:p>
                <a:pPr eaLnBrk="1" fontAlgn="auto" hangingPunct="1">
                  <a:spcBef>
                    <a:spcPts val="0"/>
                  </a:spcBef>
                  <a:spcAft>
                    <a:spcPts val="0"/>
                  </a:spcAft>
                  <a:defRPr/>
                </a:pPr>
                <a:endParaRPr lang="en-US">
                  <a:latin typeface="+mn-lt"/>
                  <a:cs typeface="+mn-cs"/>
                </a:endParaRPr>
              </a:p>
            </p:txBody>
          </p:sp>
          <p:sp>
            <p:nvSpPr>
              <p:cNvPr id="351" name="Oval 258"/>
              <p:cNvSpPr>
                <a:spLocks noChangeArrowheads="1"/>
              </p:cNvSpPr>
              <p:nvPr/>
            </p:nvSpPr>
            <p:spPr bwMode="auto">
              <a:xfrm>
                <a:off x="7748380" y="2758502"/>
                <a:ext cx="153364" cy="151781"/>
              </a:xfrm>
              <a:prstGeom prst="ellipse">
                <a:avLst/>
              </a:prstGeom>
              <a:solidFill>
                <a:schemeClr val="accent6">
                  <a:lumMod val="75000"/>
                </a:schemeClr>
              </a:solidFill>
              <a:ln w="9525">
                <a:solidFill>
                  <a:schemeClr val="tx1"/>
                </a:solidFill>
                <a:round/>
                <a:headEnd/>
                <a:tailEnd/>
              </a:ln>
              <a:effectLst/>
            </p:spPr>
            <p:txBody>
              <a:bodyPr wrap="none" anchor="ctr"/>
              <a:lstStyle/>
              <a:p>
                <a:pPr eaLnBrk="1" fontAlgn="auto" hangingPunct="1">
                  <a:spcBef>
                    <a:spcPts val="0"/>
                  </a:spcBef>
                  <a:spcAft>
                    <a:spcPts val="0"/>
                  </a:spcAft>
                  <a:defRPr/>
                </a:pPr>
                <a:endParaRPr lang="en-US">
                  <a:latin typeface="+mn-lt"/>
                  <a:cs typeface="+mn-cs"/>
                </a:endParaRPr>
              </a:p>
            </p:txBody>
          </p:sp>
          <p:sp>
            <p:nvSpPr>
              <p:cNvPr id="352" name="Oval 259"/>
              <p:cNvSpPr>
                <a:spLocks noChangeArrowheads="1"/>
              </p:cNvSpPr>
              <p:nvPr/>
            </p:nvSpPr>
            <p:spPr bwMode="auto">
              <a:xfrm>
                <a:off x="7444950" y="2835286"/>
                <a:ext cx="151715" cy="151780"/>
              </a:xfrm>
              <a:prstGeom prst="ellipse">
                <a:avLst/>
              </a:prstGeom>
              <a:solidFill>
                <a:schemeClr val="accent6">
                  <a:lumMod val="75000"/>
                </a:schemeClr>
              </a:solidFill>
              <a:ln w="9525">
                <a:solidFill>
                  <a:schemeClr val="tx1"/>
                </a:solidFill>
                <a:round/>
                <a:headEnd/>
                <a:tailEnd/>
              </a:ln>
              <a:effectLst/>
            </p:spPr>
            <p:txBody>
              <a:bodyPr wrap="none" anchor="ctr"/>
              <a:lstStyle/>
              <a:p>
                <a:pPr eaLnBrk="1" fontAlgn="auto" hangingPunct="1">
                  <a:spcBef>
                    <a:spcPts val="0"/>
                  </a:spcBef>
                  <a:spcAft>
                    <a:spcPts val="0"/>
                  </a:spcAft>
                  <a:defRPr/>
                </a:pPr>
                <a:endParaRPr lang="en-US">
                  <a:latin typeface="+mn-lt"/>
                  <a:cs typeface="+mn-cs"/>
                </a:endParaRPr>
              </a:p>
            </p:txBody>
          </p:sp>
          <p:sp>
            <p:nvSpPr>
              <p:cNvPr id="353" name="Oval 260"/>
              <p:cNvSpPr>
                <a:spLocks noChangeArrowheads="1"/>
              </p:cNvSpPr>
              <p:nvPr/>
            </p:nvSpPr>
            <p:spPr bwMode="auto">
              <a:xfrm>
                <a:off x="7291586" y="2681719"/>
                <a:ext cx="153365" cy="153566"/>
              </a:xfrm>
              <a:prstGeom prst="ellipse">
                <a:avLst/>
              </a:prstGeom>
              <a:solidFill>
                <a:schemeClr val="accent6">
                  <a:lumMod val="75000"/>
                </a:schemeClr>
              </a:solidFill>
              <a:ln w="9525">
                <a:solidFill>
                  <a:schemeClr val="tx1"/>
                </a:solidFill>
                <a:round/>
                <a:headEnd/>
                <a:tailEnd/>
              </a:ln>
              <a:effectLst/>
            </p:spPr>
            <p:txBody>
              <a:bodyPr wrap="none" anchor="ctr"/>
              <a:lstStyle/>
              <a:p>
                <a:pPr eaLnBrk="1" fontAlgn="auto" hangingPunct="1">
                  <a:spcBef>
                    <a:spcPts val="0"/>
                  </a:spcBef>
                  <a:spcAft>
                    <a:spcPts val="0"/>
                  </a:spcAft>
                  <a:defRPr/>
                </a:pPr>
                <a:endParaRPr lang="en-US">
                  <a:latin typeface="+mn-lt"/>
                  <a:cs typeface="+mn-cs"/>
                </a:endParaRPr>
              </a:p>
            </p:txBody>
          </p:sp>
          <p:sp>
            <p:nvSpPr>
              <p:cNvPr id="354" name="Oval 261"/>
              <p:cNvSpPr>
                <a:spLocks noChangeArrowheads="1"/>
              </p:cNvSpPr>
              <p:nvPr/>
            </p:nvSpPr>
            <p:spPr bwMode="auto">
              <a:xfrm>
                <a:off x="7596665" y="2835286"/>
                <a:ext cx="151715" cy="151780"/>
              </a:xfrm>
              <a:prstGeom prst="ellipse">
                <a:avLst/>
              </a:prstGeom>
              <a:solidFill>
                <a:schemeClr val="accent6">
                  <a:lumMod val="75000"/>
                </a:schemeClr>
              </a:solidFill>
              <a:ln w="9525">
                <a:solidFill>
                  <a:schemeClr val="tx1"/>
                </a:solidFill>
                <a:round/>
                <a:headEnd/>
                <a:tailEnd/>
              </a:ln>
              <a:effectLst/>
            </p:spPr>
            <p:txBody>
              <a:bodyPr wrap="none" anchor="ctr"/>
              <a:lstStyle/>
              <a:p>
                <a:pPr eaLnBrk="1" fontAlgn="auto" hangingPunct="1">
                  <a:spcBef>
                    <a:spcPts val="0"/>
                  </a:spcBef>
                  <a:spcAft>
                    <a:spcPts val="0"/>
                  </a:spcAft>
                  <a:defRPr/>
                </a:pPr>
                <a:endParaRPr lang="en-US">
                  <a:latin typeface="+mn-lt"/>
                  <a:cs typeface="+mn-cs"/>
                </a:endParaRPr>
              </a:p>
            </p:txBody>
          </p:sp>
          <p:sp>
            <p:nvSpPr>
              <p:cNvPr id="355" name="Oval 206"/>
              <p:cNvSpPr>
                <a:spLocks noChangeArrowheads="1"/>
              </p:cNvSpPr>
              <p:nvPr/>
            </p:nvSpPr>
            <p:spPr bwMode="auto">
              <a:xfrm>
                <a:off x="4625030" y="2149594"/>
                <a:ext cx="227572" cy="228564"/>
              </a:xfrm>
              <a:prstGeom prst="ellipse">
                <a:avLst/>
              </a:prstGeom>
              <a:solidFill>
                <a:schemeClr val="accent6">
                  <a:lumMod val="75000"/>
                </a:schemeClr>
              </a:solidFill>
              <a:ln w="9525">
                <a:solidFill>
                  <a:schemeClr val="tx1"/>
                </a:solidFill>
                <a:round/>
                <a:headEnd/>
                <a:tailEnd/>
              </a:ln>
              <a:effectLst/>
            </p:spPr>
            <p:txBody>
              <a:bodyPr wrap="none" anchor="ctr"/>
              <a:lstStyle/>
              <a:p>
                <a:pPr eaLnBrk="1" fontAlgn="auto" hangingPunct="1">
                  <a:spcBef>
                    <a:spcPts val="0"/>
                  </a:spcBef>
                  <a:spcAft>
                    <a:spcPts val="0"/>
                  </a:spcAft>
                  <a:defRPr/>
                </a:pPr>
                <a:endParaRPr lang="en-US">
                  <a:latin typeface="+mn-lt"/>
                  <a:cs typeface="+mn-cs"/>
                </a:endParaRPr>
              </a:p>
            </p:txBody>
          </p:sp>
          <p:sp>
            <p:nvSpPr>
              <p:cNvPr id="356" name="Oval 207"/>
              <p:cNvSpPr>
                <a:spLocks noChangeArrowheads="1"/>
              </p:cNvSpPr>
              <p:nvPr/>
            </p:nvSpPr>
            <p:spPr bwMode="auto">
              <a:xfrm>
                <a:off x="4395808" y="2072810"/>
                <a:ext cx="229222" cy="228564"/>
              </a:xfrm>
              <a:prstGeom prst="ellipse">
                <a:avLst/>
              </a:prstGeom>
              <a:solidFill>
                <a:schemeClr val="accent6">
                  <a:lumMod val="75000"/>
                </a:schemeClr>
              </a:solidFill>
              <a:ln w="9525">
                <a:solidFill>
                  <a:schemeClr val="tx1"/>
                </a:solidFill>
                <a:round/>
                <a:headEnd/>
                <a:tailEnd/>
              </a:ln>
              <a:effectLst/>
            </p:spPr>
            <p:txBody>
              <a:bodyPr wrap="none" anchor="ctr"/>
              <a:lstStyle/>
              <a:p>
                <a:pPr eaLnBrk="1" fontAlgn="auto" hangingPunct="1">
                  <a:spcBef>
                    <a:spcPts val="0"/>
                  </a:spcBef>
                  <a:spcAft>
                    <a:spcPts val="0"/>
                  </a:spcAft>
                  <a:defRPr/>
                </a:pPr>
                <a:endParaRPr lang="en-US">
                  <a:latin typeface="+mn-lt"/>
                  <a:cs typeface="+mn-cs"/>
                </a:endParaRPr>
              </a:p>
            </p:txBody>
          </p:sp>
          <p:sp>
            <p:nvSpPr>
              <p:cNvPr id="357" name="Oval 208"/>
              <p:cNvSpPr>
                <a:spLocks noChangeArrowheads="1"/>
              </p:cNvSpPr>
              <p:nvPr/>
            </p:nvSpPr>
            <p:spPr bwMode="auto">
              <a:xfrm>
                <a:off x="4244093" y="2149594"/>
                <a:ext cx="227572" cy="228564"/>
              </a:xfrm>
              <a:prstGeom prst="ellipse">
                <a:avLst/>
              </a:prstGeom>
              <a:solidFill>
                <a:schemeClr val="accent6">
                  <a:lumMod val="75000"/>
                </a:schemeClr>
              </a:solidFill>
              <a:ln w="9525">
                <a:solidFill>
                  <a:schemeClr val="tx1"/>
                </a:solidFill>
                <a:round/>
                <a:headEnd/>
                <a:tailEnd/>
              </a:ln>
              <a:effectLst/>
            </p:spPr>
            <p:txBody>
              <a:bodyPr wrap="none" anchor="ctr"/>
              <a:lstStyle/>
              <a:p>
                <a:pPr eaLnBrk="1" fontAlgn="auto" hangingPunct="1">
                  <a:spcBef>
                    <a:spcPts val="0"/>
                  </a:spcBef>
                  <a:spcAft>
                    <a:spcPts val="0"/>
                  </a:spcAft>
                  <a:defRPr/>
                </a:pPr>
                <a:endParaRPr lang="en-US">
                  <a:latin typeface="+mn-lt"/>
                  <a:cs typeface="+mn-cs"/>
                </a:endParaRPr>
              </a:p>
            </p:txBody>
          </p:sp>
          <p:sp>
            <p:nvSpPr>
              <p:cNvPr id="358" name="Oval 209"/>
              <p:cNvSpPr>
                <a:spLocks noChangeArrowheads="1"/>
              </p:cNvSpPr>
              <p:nvPr/>
            </p:nvSpPr>
            <p:spPr bwMode="auto">
              <a:xfrm>
                <a:off x="4395808" y="2301374"/>
                <a:ext cx="75857" cy="76784"/>
              </a:xfrm>
              <a:prstGeom prst="ellipse">
                <a:avLst/>
              </a:prstGeom>
              <a:solidFill>
                <a:schemeClr val="accent6">
                  <a:lumMod val="75000"/>
                </a:schemeClr>
              </a:solidFill>
              <a:ln w="9525">
                <a:solidFill>
                  <a:schemeClr val="tx1"/>
                </a:solidFill>
                <a:round/>
                <a:headEnd/>
                <a:tailEnd/>
              </a:ln>
              <a:effectLst/>
            </p:spPr>
            <p:txBody>
              <a:bodyPr wrap="none" anchor="ctr"/>
              <a:lstStyle/>
              <a:p>
                <a:pPr eaLnBrk="1" fontAlgn="auto" hangingPunct="1">
                  <a:spcBef>
                    <a:spcPts val="0"/>
                  </a:spcBef>
                  <a:spcAft>
                    <a:spcPts val="0"/>
                  </a:spcAft>
                  <a:defRPr/>
                </a:pPr>
                <a:endParaRPr lang="en-US">
                  <a:latin typeface="+mn-lt"/>
                  <a:cs typeface="+mn-cs"/>
                </a:endParaRPr>
              </a:p>
            </p:txBody>
          </p:sp>
          <p:sp>
            <p:nvSpPr>
              <p:cNvPr id="359" name="Oval 210"/>
              <p:cNvSpPr>
                <a:spLocks noChangeArrowheads="1"/>
              </p:cNvSpPr>
              <p:nvPr/>
            </p:nvSpPr>
            <p:spPr bwMode="auto">
              <a:xfrm>
                <a:off x="4471666" y="2224591"/>
                <a:ext cx="229222" cy="228564"/>
              </a:xfrm>
              <a:prstGeom prst="ellipse">
                <a:avLst/>
              </a:prstGeom>
              <a:solidFill>
                <a:schemeClr val="accent6">
                  <a:lumMod val="75000"/>
                </a:schemeClr>
              </a:solidFill>
              <a:ln w="9525">
                <a:solidFill>
                  <a:schemeClr val="tx1"/>
                </a:solidFill>
                <a:round/>
                <a:headEnd/>
                <a:tailEnd/>
              </a:ln>
              <a:effectLst/>
            </p:spPr>
            <p:txBody>
              <a:bodyPr wrap="none" anchor="ctr"/>
              <a:lstStyle/>
              <a:p>
                <a:pPr eaLnBrk="1" fontAlgn="auto" hangingPunct="1">
                  <a:spcBef>
                    <a:spcPts val="0"/>
                  </a:spcBef>
                  <a:spcAft>
                    <a:spcPts val="0"/>
                  </a:spcAft>
                  <a:defRPr/>
                </a:pPr>
                <a:endParaRPr lang="en-US">
                  <a:latin typeface="+mn-lt"/>
                  <a:cs typeface="+mn-cs"/>
                </a:endParaRPr>
              </a:p>
            </p:txBody>
          </p:sp>
          <p:sp>
            <p:nvSpPr>
              <p:cNvPr id="360" name="Oval 211"/>
              <p:cNvSpPr>
                <a:spLocks noChangeArrowheads="1"/>
              </p:cNvSpPr>
              <p:nvPr/>
            </p:nvSpPr>
            <p:spPr bwMode="auto">
              <a:xfrm>
                <a:off x="4776745" y="2301374"/>
                <a:ext cx="75857" cy="76784"/>
              </a:xfrm>
              <a:prstGeom prst="ellipse">
                <a:avLst/>
              </a:prstGeom>
              <a:solidFill>
                <a:schemeClr val="accent6">
                  <a:lumMod val="75000"/>
                </a:schemeClr>
              </a:solidFill>
              <a:ln w="9525">
                <a:solidFill>
                  <a:schemeClr val="tx1"/>
                </a:solidFill>
                <a:round/>
                <a:headEnd/>
                <a:tailEnd/>
              </a:ln>
              <a:effectLst/>
            </p:spPr>
            <p:txBody>
              <a:bodyPr wrap="none" anchor="ctr"/>
              <a:lstStyle/>
              <a:p>
                <a:pPr eaLnBrk="1" fontAlgn="auto" hangingPunct="1">
                  <a:spcBef>
                    <a:spcPts val="0"/>
                  </a:spcBef>
                  <a:spcAft>
                    <a:spcPts val="0"/>
                  </a:spcAft>
                  <a:defRPr/>
                </a:pPr>
                <a:endParaRPr lang="en-US">
                  <a:latin typeface="+mn-lt"/>
                  <a:cs typeface="+mn-cs"/>
                </a:endParaRPr>
              </a:p>
            </p:txBody>
          </p:sp>
          <p:sp>
            <p:nvSpPr>
              <p:cNvPr id="361" name="Oval 212"/>
              <p:cNvSpPr>
                <a:spLocks noChangeArrowheads="1"/>
              </p:cNvSpPr>
              <p:nvPr/>
            </p:nvSpPr>
            <p:spPr bwMode="auto">
              <a:xfrm>
                <a:off x="4319951" y="2301374"/>
                <a:ext cx="75857" cy="76784"/>
              </a:xfrm>
              <a:prstGeom prst="ellipse">
                <a:avLst/>
              </a:prstGeom>
              <a:solidFill>
                <a:schemeClr val="accent6">
                  <a:lumMod val="75000"/>
                </a:schemeClr>
              </a:solidFill>
              <a:ln w="9525">
                <a:solidFill>
                  <a:schemeClr val="tx1"/>
                </a:solidFill>
                <a:round/>
                <a:headEnd/>
                <a:tailEnd/>
              </a:ln>
              <a:effectLst/>
            </p:spPr>
            <p:txBody>
              <a:bodyPr wrap="none" anchor="ctr"/>
              <a:lstStyle/>
              <a:p>
                <a:pPr eaLnBrk="1" fontAlgn="auto" hangingPunct="1">
                  <a:spcBef>
                    <a:spcPts val="0"/>
                  </a:spcBef>
                  <a:spcAft>
                    <a:spcPts val="0"/>
                  </a:spcAft>
                  <a:defRPr/>
                </a:pPr>
                <a:endParaRPr lang="en-US">
                  <a:latin typeface="+mn-lt"/>
                  <a:cs typeface="+mn-cs"/>
                </a:endParaRPr>
              </a:p>
            </p:txBody>
          </p:sp>
          <p:sp>
            <p:nvSpPr>
              <p:cNvPr id="362" name="Oval 213"/>
              <p:cNvSpPr>
                <a:spLocks noChangeArrowheads="1"/>
              </p:cNvSpPr>
              <p:nvPr/>
            </p:nvSpPr>
            <p:spPr bwMode="auto">
              <a:xfrm>
                <a:off x="4625030" y="2378158"/>
                <a:ext cx="75857" cy="74998"/>
              </a:xfrm>
              <a:prstGeom prst="ellipse">
                <a:avLst/>
              </a:prstGeom>
              <a:solidFill>
                <a:schemeClr val="accent6">
                  <a:lumMod val="75000"/>
                </a:schemeClr>
              </a:solidFill>
              <a:ln w="9525">
                <a:solidFill>
                  <a:schemeClr val="tx1"/>
                </a:solidFill>
                <a:round/>
                <a:headEnd/>
                <a:tailEnd/>
              </a:ln>
              <a:effectLst/>
            </p:spPr>
            <p:txBody>
              <a:bodyPr wrap="none" anchor="ctr"/>
              <a:lstStyle/>
              <a:p>
                <a:pPr eaLnBrk="1" fontAlgn="auto" hangingPunct="1">
                  <a:spcBef>
                    <a:spcPts val="0"/>
                  </a:spcBef>
                  <a:spcAft>
                    <a:spcPts val="0"/>
                  </a:spcAft>
                  <a:defRPr/>
                </a:pPr>
                <a:endParaRPr lang="en-US">
                  <a:latin typeface="+mn-lt"/>
                  <a:cs typeface="+mn-cs"/>
                </a:endParaRPr>
              </a:p>
            </p:txBody>
          </p:sp>
          <p:sp>
            <p:nvSpPr>
              <p:cNvPr id="363" name="Oval 214"/>
              <p:cNvSpPr>
                <a:spLocks noChangeArrowheads="1"/>
              </p:cNvSpPr>
              <p:nvPr/>
            </p:nvSpPr>
            <p:spPr bwMode="auto">
              <a:xfrm>
                <a:off x="4700888" y="2301374"/>
                <a:ext cx="151715" cy="151781"/>
              </a:xfrm>
              <a:prstGeom prst="ellipse">
                <a:avLst/>
              </a:prstGeom>
              <a:solidFill>
                <a:schemeClr val="accent6">
                  <a:lumMod val="75000"/>
                </a:schemeClr>
              </a:solidFill>
              <a:ln w="9525">
                <a:solidFill>
                  <a:schemeClr val="tx1"/>
                </a:solidFill>
                <a:round/>
                <a:headEnd/>
                <a:tailEnd/>
              </a:ln>
              <a:effectLst/>
            </p:spPr>
            <p:txBody>
              <a:bodyPr wrap="none" anchor="ctr"/>
              <a:lstStyle/>
              <a:p>
                <a:pPr eaLnBrk="1" fontAlgn="auto" hangingPunct="1">
                  <a:spcBef>
                    <a:spcPts val="0"/>
                  </a:spcBef>
                  <a:spcAft>
                    <a:spcPts val="0"/>
                  </a:spcAft>
                  <a:defRPr/>
                </a:pPr>
                <a:endParaRPr lang="en-US">
                  <a:latin typeface="+mn-lt"/>
                  <a:cs typeface="+mn-cs"/>
                </a:endParaRPr>
              </a:p>
            </p:txBody>
          </p:sp>
          <p:sp>
            <p:nvSpPr>
              <p:cNvPr id="364" name="Oval 218"/>
              <p:cNvSpPr>
                <a:spLocks noChangeArrowheads="1"/>
              </p:cNvSpPr>
              <p:nvPr/>
            </p:nvSpPr>
            <p:spPr bwMode="auto">
              <a:xfrm>
                <a:off x="4776745" y="2224591"/>
                <a:ext cx="153364" cy="153566"/>
              </a:xfrm>
              <a:prstGeom prst="ellipse">
                <a:avLst/>
              </a:prstGeom>
              <a:solidFill>
                <a:schemeClr val="accent6">
                  <a:lumMod val="75000"/>
                </a:schemeClr>
              </a:solidFill>
              <a:ln w="9525">
                <a:solidFill>
                  <a:schemeClr val="tx1"/>
                </a:solidFill>
                <a:round/>
                <a:headEnd/>
                <a:tailEnd/>
              </a:ln>
              <a:effectLst/>
            </p:spPr>
            <p:txBody>
              <a:bodyPr wrap="none" anchor="ctr"/>
              <a:lstStyle/>
              <a:p>
                <a:pPr eaLnBrk="1" fontAlgn="auto" hangingPunct="1">
                  <a:spcBef>
                    <a:spcPts val="0"/>
                  </a:spcBef>
                  <a:spcAft>
                    <a:spcPts val="0"/>
                  </a:spcAft>
                  <a:defRPr/>
                </a:pPr>
                <a:endParaRPr lang="en-US">
                  <a:latin typeface="+mn-lt"/>
                  <a:cs typeface="+mn-cs"/>
                </a:endParaRPr>
              </a:p>
            </p:txBody>
          </p:sp>
          <p:sp>
            <p:nvSpPr>
              <p:cNvPr id="365" name="Oval 219"/>
              <p:cNvSpPr>
                <a:spLocks noChangeArrowheads="1"/>
              </p:cNvSpPr>
              <p:nvPr/>
            </p:nvSpPr>
            <p:spPr bwMode="auto">
              <a:xfrm>
                <a:off x="4549173" y="2072810"/>
                <a:ext cx="151715" cy="151781"/>
              </a:xfrm>
              <a:prstGeom prst="ellipse">
                <a:avLst/>
              </a:prstGeom>
              <a:solidFill>
                <a:schemeClr val="accent6">
                  <a:lumMod val="75000"/>
                </a:schemeClr>
              </a:solidFill>
              <a:ln w="9525">
                <a:solidFill>
                  <a:schemeClr val="tx1"/>
                </a:solidFill>
                <a:round/>
                <a:headEnd/>
                <a:tailEnd/>
              </a:ln>
              <a:effectLst/>
            </p:spPr>
            <p:txBody>
              <a:bodyPr wrap="none" anchor="ctr"/>
              <a:lstStyle/>
              <a:p>
                <a:pPr eaLnBrk="1" fontAlgn="auto" hangingPunct="1">
                  <a:spcBef>
                    <a:spcPts val="0"/>
                  </a:spcBef>
                  <a:spcAft>
                    <a:spcPts val="0"/>
                  </a:spcAft>
                  <a:defRPr/>
                </a:pPr>
                <a:endParaRPr lang="en-US">
                  <a:latin typeface="+mn-lt"/>
                  <a:cs typeface="+mn-cs"/>
                </a:endParaRPr>
              </a:p>
            </p:txBody>
          </p:sp>
          <p:sp>
            <p:nvSpPr>
              <p:cNvPr id="366" name="Oval 220"/>
              <p:cNvSpPr>
                <a:spLocks noChangeArrowheads="1"/>
              </p:cNvSpPr>
              <p:nvPr/>
            </p:nvSpPr>
            <p:spPr bwMode="auto">
              <a:xfrm>
                <a:off x="4395808" y="2224591"/>
                <a:ext cx="153365" cy="153566"/>
              </a:xfrm>
              <a:prstGeom prst="ellipse">
                <a:avLst/>
              </a:prstGeom>
              <a:solidFill>
                <a:schemeClr val="accent6">
                  <a:lumMod val="75000"/>
                </a:schemeClr>
              </a:solidFill>
              <a:ln w="9525">
                <a:solidFill>
                  <a:schemeClr val="tx1"/>
                </a:solidFill>
                <a:round/>
                <a:headEnd/>
                <a:tailEnd/>
              </a:ln>
              <a:effectLst/>
            </p:spPr>
            <p:txBody>
              <a:bodyPr wrap="none" anchor="ctr"/>
              <a:lstStyle/>
              <a:p>
                <a:pPr eaLnBrk="1" fontAlgn="auto" hangingPunct="1">
                  <a:spcBef>
                    <a:spcPts val="0"/>
                  </a:spcBef>
                  <a:spcAft>
                    <a:spcPts val="0"/>
                  </a:spcAft>
                  <a:defRPr/>
                </a:pPr>
                <a:endParaRPr lang="en-US">
                  <a:latin typeface="+mn-lt"/>
                  <a:cs typeface="+mn-cs"/>
                </a:endParaRPr>
              </a:p>
            </p:txBody>
          </p:sp>
          <p:sp>
            <p:nvSpPr>
              <p:cNvPr id="367" name="Oval 221"/>
              <p:cNvSpPr>
                <a:spLocks noChangeArrowheads="1"/>
              </p:cNvSpPr>
              <p:nvPr/>
            </p:nvSpPr>
            <p:spPr bwMode="auto">
              <a:xfrm>
                <a:off x="4166587" y="2224591"/>
                <a:ext cx="153364" cy="153566"/>
              </a:xfrm>
              <a:prstGeom prst="ellipse">
                <a:avLst/>
              </a:prstGeom>
              <a:solidFill>
                <a:schemeClr val="accent6">
                  <a:lumMod val="75000"/>
                </a:schemeClr>
              </a:solidFill>
              <a:ln w="9525">
                <a:solidFill>
                  <a:schemeClr val="tx1"/>
                </a:solidFill>
                <a:round/>
                <a:headEnd/>
                <a:tailEnd/>
              </a:ln>
              <a:effectLst/>
            </p:spPr>
            <p:txBody>
              <a:bodyPr wrap="none" anchor="ctr"/>
              <a:lstStyle/>
              <a:p>
                <a:pPr eaLnBrk="1" fontAlgn="auto" hangingPunct="1">
                  <a:spcBef>
                    <a:spcPts val="0"/>
                  </a:spcBef>
                  <a:spcAft>
                    <a:spcPts val="0"/>
                  </a:spcAft>
                  <a:defRPr/>
                </a:pPr>
                <a:endParaRPr lang="en-US">
                  <a:latin typeface="+mn-lt"/>
                  <a:cs typeface="+mn-cs"/>
                </a:endParaRPr>
              </a:p>
            </p:txBody>
          </p:sp>
          <p:sp>
            <p:nvSpPr>
              <p:cNvPr id="42330" name="Rectangle 558"/>
              <p:cNvSpPr>
                <a:spLocks noChangeArrowheads="1"/>
              </p:cNvSpPr>
              <p:nvPr/>
            </p:nvSpPr>
            <p:spPr bwMode="auto">
              <a:xfrm>
                <a:off x="3633758" y="2835263"/>
                <a:ext cx="304800" cy="228600"/>
              </a:xfrm>
              <a:prstGeom prst="rect">
                <a:avLst/>
              </a:prstGeom>
              <a:solidFill>
                <a:srgbClr val="C0C0C0">
                  <a:alpha val="50195"/>
                </a:srgbClr>
              </a:solidFill>
              <a:ln w="9525">
                <a:solidFill>
                  <a:schemeClr val="tx1"/>
                </a:solidFill>
                <a:miter lim="800000"/>
                <a:headEnd/>
                <a:tailEnd/>
              </a:ln>
            </p:spPr>
            <p:txBody>
              <a:bodyPr wrap="none" anchor="ctr"/>
              <a:lstStyle/>
              <a:p>
                <a:pPr eaLnBrk="1" hangingPunct="1"/>
                <a:endParaRPr lang="ar-JO" altLang="ar-JO">
                  <a:latin typeface="Calibri" pitchFamily="34" charset="0"/>
                </a:endParaRPr>
              </a:p>
            </p:txBody>
          </p:sp>
          <p:sp>
            <p:nvSpPr>
              <p:cNvPr id="42331" name="Line 559"/>
              <p:cNvSpPr>
                <a:spLocks noChangeShapeType="1"/>
              </p:cNvSpPr>
              <p:nvPr/>
            </p:nvSpPr>
            <p:spPr bwMode="auto">
              <a:xfrm flipH="1">
                <a:off x="2643158" y="3063863"/>
                <a:ext cx="1295400" cy="457200"/>
              </a:xfrm>
              <a:prstGeom prst="line">
                <a:avLst/>
              </a:prstGeom>
              <a:noFill/>
              <a:ln w="9525">
                <a:solidFill>
                  <a:schemeClr val="tx1"/>
                </a:solidFill>
                <a:round/>
                <a:headEnd/>
                <a:tailEnd/>
              </a:ln>
            </p:spPr>
            <p:txBody>
              <a:bodyPr/>
              <a:lstStyle/>
              <a:p>
                <a:endParaRPr lang="ar-JO"/>
              </a:p>
            </p:txBody>
          </p:sp>
          <p:sp>
            <p:nvSpPr>
              <p:cNvPr id="42332" name="Line 560"/>
              <p:cNvSpPr>
                <a:spLocks noChangeShapeType="1"/>
              </p:cNvSpPr>
              <p:nvPr/>
            </p:nvSpPr>
            <p:spPr bwMode="auto">
              <a:xfrm flipH="1" flipV="1">
                <a:off x="738158" y="2301863"/>
                <a:ext cx="2895600" cy="533400"/>
              </a:xfrm>
              <a:prstGeom prst="line">
                <a:avLst/>
              </a:prstGeom>
              <a:noFill/>
              <a:ln w="9525">
                <a:solidFill>
                  <a:schemeClr val="tx1"/>
                </a:solidFill>
                <a:round/>
                <a:headEnd/>
                <a:tailEnd/>
              </a:ln>
            </p:spPr>
            <p:txBody>
              <a:bodyPr/>
              <a:lstStyle/>
              <a:p>
                <a:endParaRPr lang="ar-JO"/>
              </a:p>
            </p:txBody>
          </p:sp>
          <p:sp>
            <p:nvSpPr>
              <p:cNvPr id="42333" name="Line 561"/>
              <p:cNvSpPr>
                <a:spLocks noChangeShapeType="1"/>
              </p:cNvSpPr>
              <p:nvPr/>
            </p:nvSpPr>
            <p:spPr bwMode="auto">
              <a:xfrm flipH="1" flipV="1">
                <a:off x="2643158" y="2301863"/>
                <a:ext cx="1295400" cy="533400"/>
              </a:xfrm>
              <a:prstGeom prst="line">
                <a:avLst/>
              </a:prstGeom>
              <a:noFill/>
              <a:ln w="9525">
                <a:solidFill>
                  <a:schemeClr val="tx1"/>
                </a:solidFill>
                <a:round/>
                <a:headEnd/>
                <a:tailEnd/>
              </a:ln>
            </p:spPr>
            <p:txBody>
              <a:bodyPr/>
              <a:lstStyle/>
              <a:p>
                <a:endParaRPr lang="ar-JO"/>
              </a:p>
            </p:txBody>
          </p:sp>
          <p:sp>
            <p:nvSpPr>
              <p:cNvPr id="42334" name="Line 562"/>
              <p:cNvSpPr>
                <a:spLocks noChangeShapeType="1"/>
              </p:cNvSpPr>
              <p:nvPr/>
            </p:nvSpPr>
            <p:spPr bwMode="auto">
              <a:xfrm flipH="1">
                <a:off x="738158" y="3063863"/>
                <a:ext cx="2895600" cy="457200"/>
              </a:xfrm>
              <a:prstGeom prst="line">
                <a:avLst/>
              </a:prstGeom>
              <a:noFill/>
              <a:ln w="9525">
                <a:solidFill>
                  <a:schemeClr val="tx1"/>
                </a:solidFill>
                <a:round/>
                <a:headEnd/>
                <a:tailEnd/>
              </a:ln>
            </p:spPr>
            <p:txBody>
              <a:bodyPr/>
              <a:lstStyle/>
              <a:p>
                <a:endParaRPr lang="ar-JO"/>
              </a:p>
            </p:txBody>
          </p:sp>
          <p:pic>
            <p:nvPicPr>
              <p:cNvPr id="42335" name="Picture 557" descr="gel"/>
              <p:cNvPicPr>
                <a:picLocks noChangeAspect="1" noChangeArrowheads="1"/>
              </p:cNvPicPr>
              <p:nvPr/>
            </p:nvPicPr>
            <p:blipFill>
              <a:blip r:embed="rId4"/>
              <a:srcRect r="1199" b="1840"/>
              <a:stretch>
                <a:fillRect/>
              </a:stretch>
            </p:blipFill>
            <p:spPr bwMode="auto">
              <a:xfrm>
                <a:off x="738158" y="2301863"/>
                <a:ext cx="1882775" cy="1219200"/>
              </a:xfrm>
              <a:prstGeom prst="rect">
                <a:avLst/>
              </a:prstGeom>
              <a:noFill/>
              <a:ln w="19050">
                <a:solidFill>
                  <a:schemeClr val="tx1"/>
                </a:solidFill>
                <a:miter lim="800000"/>
                <a:headEnd/>
                <a:tailEnd/>
              </a:ln>
            </p:spPr>
          </p:pic>
        </p:grpSp>
      </p:gr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2"/>
          <p:cNvSpPr>
            <a:spLocks noGrp="1" noChangeArrowheads="1"/>
          </p:cNvSpPr>
          <p:nvPr>
            <p:ph type="sldNum" sz="quarter" idx="12"/>
          </p:nvPr>
        </p:nvSpPr>
        <p:spPr bwMode="auto">
          <a:noFill/>
          <a:ln>
            <a:miter lim="800000"/>
            <a:headEnd/>
            <a:tailEnd/>
          </a:ln>
        </p:spPr>
        <p:txBody>
          <a:bodyPr/>
          <a:lstStyle/>
          <a:p>
            <a:fld id="{E008AB7A-D5C4-4A3F-A50F-B90CB673DD1E}" type="slidenum">
              <a:rPr lang="en-US" altLang="ar-JO"/>
              <a:pPr/>
              <a:t>22</a:t>
            </a:fld>
            <a:endParaRPr lang="en-US" altLang="ar-JO"/>
          </a:p>
        </p:txBody>
      </p:sp>
      <p:sp>
        <p:nvSpPr>
          <p:cNvPr id="4" name="Footer Placeholder 41"/>
          <p:cNvSpPr txBox="1">
            <a:spLocks/>
          </p:cNvSpPr>
          <p:nvPr/>
        </p:nvSpPr>
        <p:spPr>
          <a:xfrm>
            <a:off x="142875" y="6492875"/>
            <a:ext cx="3200400" cy="365125"/>
          </a:xfrm>
          <a:prstGeom prst="rect">
            <a:avLst/>
          </a:prstGeom>
        </p:spPr>
        <p:txBody>
          <a:bodyPr anchor="ctr"/>
          <a:lstStyle/>
          <a:p>
            <a:pPr eaLnBrk="1" fontAlgn="auto" hangingPunct="1">
              <a:spcBef>
                <a:spcPts val="0"/>
              </a:spcBef>
              <a:spcAft>
                <a:spcPts val="0"/>
              </a:spcAft>
              <a:defRPr/>
            </a:pPr>
            <a:r>
              <a:rPr lang="en-US" sz="1400" dirty="0">
                <a:solidFill>
                  <a:schemeClr val="tx1">
                    <a:tint val="75000"/>
                  </a:schemeClr>
                </a:solidFill>
                <a:latin typeface="+mn-lt"/>
                <a:cs typeface="+mn-cs"/>
              </a:rPr>
              <a:t>MBL. BT453</a:t>
            </a:r>
          </a:p>
        </p:txBody>
      </p:sp>
      <p:cxnSp>
        <p:nvCxnSpPr>
          <p:cNvPr id="5" name="Straight Connector 4"/>
          <p:cNvCxnSpPr/>
          <p:nvPr/>
        </p:nvCxnSpPr>
        <p:spPr>
          <a:xfrm>
            <a:off x="785813" y="928688"/>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6" name="Title 4"/>
          <p:cNvSpPr txBox="1">
            <a:spLocks/>
          </p:cNvSpPr>
          <p:nvPr/>
        </p:nvSpPr>
        <p:spPr>
          <a:xfrm>
            <a:off x="819150" y="214313"/>
            <a:ext cx="7467600" cy="488950"/>
          </a:xfrm>
          <a:prstGeom prst="rect">
            <a:avLst/>
          </a:prstGeom>
        </p:spPr>
        <p:txBody>
          <a:bodyPr/>
          <a:lstStyle/>
          <a:p>
            <a:pPr algn="ctr" eaLnBrk="1" fontAlgn="auto" hangingPunct="1">
              <a:spcAft>
                <a:spcPts val="0"/>
              </a:spcAft>
              <a:defRPr/>
            </a:pPr>
            <a:r>
              <a:rPr lang="en-US" sz="3200" b="1" dirty="0">
                <a:solidFill>
                  <a:schemeClr val="accent1"/>
                </a:solidFill>
                <a:latin typeface="+mj-lt"/>
                <a:ea typeface="+mj-ea"/>
                <a:cs typeface="+mj-cs"/>
              </a:rPr>
              <a:t>Support Media (</a:t>
            </a:r>
            <a:r>
              <a:rPr lang="en-US" sz="3200" b="1" dirty="0" err="1">
                <a:solidFill>
                  <a:schemeClr val="accent1"/>
                </a:solidFill>
                <a:latin typeface="+mj-lt"/>
                <a:ea typeface="+mj-ea"/>
                <a:cs typeface="+mj-cs"/>
              </a:rPr>
              <a:t>Agarose</a:t>
            </a:r>
            <a:r>
              <a:rPr lang="en-US" sz="3200" b="1" dirty="0">
                <a:solidFill>
                  <a:schemeClr val="accent1"/>
                </a:solidFill>
                <a:latin typeface="+mj-lt"/>
                <a:ea typeface="+mj-ea"/>
                <a:cs typeface="+mj-cs"/>
              </a:rPr>
              <a:t>)</a:t>
            </a:r>
          </a:p>
        </p:txBody>
      </p:sp>
      <p:sp>
        <p:nvSpPr>
          <p:cNvPr id="354" name="Rectangle 3"/>
          <p:cNvSpPr txBox="1">
            <a:spLocks noChangeArrowheads="1"/>
          </p:cNvSpPr>
          <p:nvPr/>
        </p:nvSpPr>
        <p:spPr>
          <a:xfrm>
            <a:off x="714375" y="1219200"/>
            <a:ext cx="7858125" cy="3067050"/>
          </a:xfrm>
          <a:prstGeom prst="rect">
            <a:avLst/>
          </a:prstGeom>
        </p:spPr>
        <p:txBody>
          <a:bodyPr/>
          <a:lstStyle/>
          <a:p>
            <a:pPr marL="342900" indent="-342900" eaLnBrk="1" fontAlgn="auto" hangingPunct="1">
              <a:lnSpc>
                <a:spcPct val="90000"/>
              </a:lnSpc>
              <a:spcBef>
                <a:spcPct val="60000"/>
              </a:spcBef>
              <a:spcAft>
                <a:spcPts val="0"/>
              </a:spcAft>
              <a:buFont typeface="Arial" pitchFamily="34" charset="0"/>
              <a:buChar char="•"/>
              <a:defRPr/>
            </a:pPr>
            <a:r>
              <a:rPr lang="en-US" dirty="0">
                <a:latin typeface="+mn-lt"/>
                <a:cs typeface="+mn-cs"/>
              </a:rPr>
              <a:t>Acts as a sieve for separating DNA fragments; </a:t>
            </a:r>
            <a:r>
              <a:rPr lang="en-US" dirty="0">
                <a:solidFill>
                  <a:schemeClr val="accent1"/>
                </a:solidFill>
                <a:latin typeface="+mn-lt"/>
                <a:cs typeface="+mn-cs"/>
              </a:rPr>
              <a:t>Smaller fragments travel faster than large fragments</a:t>
            </a:r>
          </a:p>
          <a:p>
            <a:pPr marL="342900" indent="-342900" eaLnBrk="1" fontAlgn="auto" hangingPunct="1">
              <a:lnSpc>
                <a:spcPct val="90000"/>
              </a:lnSpc>
              <a:spcBef>
                <a:spcPct val="60000"/>
              </a:spcBef>
              <a:spcAft>
                <a:spcPts val="0"/>
              </a:spcAft>
              <a:buFont typeface="Arial" pitchFamily="34" charset="0"/>
              <a:buChar char="•"/>
              <a:defRPr/>
            </a:pPr>
            <a:r>
              <a:rPr lang="en-US" dirty="0">
                <a:latin typeface="+mn-lt"/>
                <a:cs typeface="+mn-cs"/>
              </a:rPr>
              <a:t>Concentration of </a:t>
            </a:r>
            <a:r>
              <a:rPr lang="en-US" dirty="0" err="1">
                <a:latin typeface="+mn-lt"/>
                <a:cs typeface="+mn-cs"/>
              </a:rPr>
              <a:t>agarose</a:t>
            </a:r>
            <a:r>
              <a:rPr lang="en-US" dirty="0">
                <a:latin typeface="+mn-lt"/>
                <a:cs typeface="+mn-cs"/>
              </a:rPr>
              <a:t> affects DNA migration</a:t>
            </a:r>
          </a:p>
          <a:p>
            <a:pPr marL="285750" indent="-285750" eaLnBrk="1" fontAlgn="auto" hangingPunct="1">
              <a:lnSpc>
                <a:spcPct val="90000"/>
              </a:lnSpc>
              <a:spcBef>
                <a:spcPct val="60000"/>
              </a:spcBef>
              <a:spcAft>
                <a:spcPts val="0"/>
              </a:spcAft>
              <a:buFont typeface="Arial" pitchFamily="34" charset="0"/>
              <a:buChar char="–"/>
              <a:defRPr/>
            </a:pPr>
            <a:r>
              <a:rPr lang="en-US" dirty="0">
                <a:latin typeface="+mn-lt"/>
                <a:cs typeface="+mn-cs"/>
              </a:rPr>
              <a:t>Low [</a:t>
            </a:r>
            <a:r>
              <a:rPr lang="en-US" dirty="0" err="1">
                <a:latin typeface="+mn-lt"/>
                <a:cs typeface="+mn-cs"/>
              </a:rPr>
              <a:t>agarose</a:t>
            </a:r>
            <a:r>
              <a:rPr lang="en-US" dirty="0">
                <a:latin typeface="+mn-lt"/>
                <a:cs typeface="+mn-cs"/>
              </a:rPr>
              <a:t>]  = larger pores   </a:t>
            </a:r>
            <a:r>
              <a:rPr lang="en-US" dirty="0">
                <a:latin typeface="+mn-lt"/>
                <a:cs typeface="+mn-cs"/>
                <a:sym typeface="Wingdings" pitchFamily="2" charset="2"/>
              </a:rPr>
              <a:t>  better resolution of larger DNA fragments</a:t>
            </a:r>
          </a:p>
          <a:p>
            <a:pPr marL="285750" indent="-285750" eaLnBrk="1" fontAlgn="auto" hangingPunct="1">
              <a:lnSpc>
                <a:spcPct val="90000"/>
              </a:lnSpc>
              <a:spcBef>
                <a:spcPct val="60000"/>
              </a:spcBef>
              <a:spcAft>
                <a:spcPts val="0"/>
              </a:spcAft>
              <a:buFont typeface="Arial" pitchFamily="34" charset="0"/>
              <a:buChar char="–"/>
              <a:defRPr/>
            </a:pPr>
            <a:r>
              <a:rPr lang="en-US" dirty="0">
                <a:latin typeface="+mn-lt"/>
                <a:cs typeface="+mn-cs"/>
                <a:sym typeface="Wingdings" pitchFamily="2" charset="2"/>
              </a:rPr>
              <a:t>High </a:t>
            </a:r>
            <a:r>
              <a:rPr lang="en-US" dirty="0">
                <a:latin typeface="+mn-lt"/>
                <a:cs typeface="+mn-cs"/>
              </a:rPr>
              <a:t>[</a:t>
            </a:r>
            <a:r>
              <a:rPr lang="en-US" dirty="0" err="1">
                <a:latin typeface="+mn-lt"/>
                <a:cs typeface="+mn-cs"/>
              </a:rPr>
              <a:t>agarose</a:t>
            </a:r>
            <a:r>
              <a:rPr lang="en-US" dirty="0">
                <a:latin typeface="+mn-lt"/>
                <a:cs typeface="+mn-cs"/>
              </a:rPr>
              <a:t>] </a:t>
            </a:r>
            <a:r>
              <a:rPr lang="en-US" dirty="0">
                <a:latin typeface="+mn-lt"/>
                <a:cs typeface="+mn-cs"/>
                <a:sym typeface="Wingdings" pitchFamily="2" charset="2"/>
              </a:rPr>
              <a:t>= smaller pores   better resolution of smaller DNA fragments</a:t>
            </a:r>
            <a:endParaRPr lang="en-US" dirty="0">
              <a:latin typeface="+mn-lt"/>
              <a:cs typeface="+mn-cs"/>
            </a:endParaRPr>
          </a:p>
        </p:txBody>
      </p:sp>
      <p:pic>
        <p:nvPicPr>
          <p:cNvPr id="44039" name="Picture 3"/>
          <p:cNvPicPr>
            <a:picLocks noChangeAspect="1" noChangeArrowheads="1"/>
          </p:cNvPicPr>
          <p:nvPr/>
        </p:nvPicPr>
        <p:blipFill>
          <a:blip r:embed="rId3"/>
          <a:srcRect/>
          <a:stretch>
            <a:fillRect/>
          </a:stretch>
        </p:blipFill>
        <p:spPr bwMode="auto">
          <a:xfrm>
            <a:off x="500063" y="3449638"/>
            <a:ext cx="3733800" cy="2717800"/>
          </a:xfrm>
          <a:prstGeom prst="rect">
            <a:avLst/>
          </a:prstGeom>
          <a:noFill/>
          <a:ln w="9525">
            <a:noFill/>
            <a:miter lim="800000"/>
            <a:headEnd/>
            <a:tailEnd/>
          </a:ln>
        </p:spPr>
      </p:pic>
      <p:pic>
        <p:nvPicPr>
          <p:cNvPr id="44040" name="Picture 5"/>
          <p:cNvPicPr>
            <a:picLocks noChangeAspect="1" noChangeArrowheads="1"/>
          </p:cNvPicPr>
          <p:nvPr/>
        </p:nvPicPr>
        <p:blipFill>
          <a:blip r:embed="rId4"/>
          <a:srcRect/>
          <a:stretch>
            <a:fillRect/>
          </a:stretch>
        </p:blipFill>
        <p:spPr bwMode="auto">
          <a:xfrm>
            <a:off x="4995863" y="3221038"/>
            <a:ext cx="3581400" cy="32083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2"/>
          <p:cNvSpPr>
            <a:spLocks noGrp="1" noChangeArrowheads="1"/>
          </p:cNvSpPr>
          <p:nvPr>
            <p:ph type="sldNum" sz="quarter" idx="12"/>
          </p:nvPr>
        </p:nvSpPr>
        <p:spPr bwMode="auto">
          <a:noFill/>
          <a:ln>
            <a:miter lim="800000"/>
            <a:headEnd/>
            <a:tailEnd/>
          </a:ln>
        </p:spPr>
        <p:txBody>
          <a:bodyPr/>
          <a:lstStyle/>
          <a:p>
            <a:fld id="{BB1CE574-EE9C-4228-A253-2C409819FC4A}" type="slidenum">
              <a:rPr lang="en-US" altLang="ar-JO"/>
              <a:pPr/>
              <a:t>23</a:t>
            </a:fld>
            <a:endParaRPr lang="en-US" altLang="ar-JO"/>
          </a:p>
        </p:txBody>
      </p:sp>
      <p:sp>
        <p:nvSpPr>
          <p:cNvPr id="4" name="Footer Placeholder 41"/>
          <p:cNvSpPr txBox="1">
            <a:spLocks/>
          </p:cNvSpPr>
          <p:nvPr/>
        </p:nvSpPr>
        <p:spPr>
          <a:xfrm>
            <a:off x="142875" y="6492875"/>
            <a:ext cx="3200400" cy="365125"/>
          </a:xfrm>
          <a:prstGeom prst="rect">
            <a:avLst/>
          </a:prstGeom>
        </p:spPr>
        <p:txBody>
          <a:bodyPr anchor="ctr"/>
          <a:lstStyle/>
          <a:p>
            <a:pPr eaLnBrk="1" fontAlgn="auto" hangingPunct="1">
              <a:spcBef>
                <a:spcPts val="0"/>
              </a:spcBef>
              <a:spcAft>
                <a:spcPts val="0"/>
              </a:spcAft>
              <a:defRPr/>
            </a:pPr>
            <a:r>
              <a:rPr lang="en-US" sz="1400" dirty="0">
                <a:solidFill>
                  <a:schemeClr val="tx1">
                    <a:tint val="75000"/>
                  </a:schemeClr>
                </a:solidFill>
                <a:latin typeface="+mn-lt"/>
                <a:cs typeface="+mn-cs"/>
              </a:rPr>
              <a:t>MBL. BT453</a:t>
            </a:r>
          </a:p>
        </p:txBody>
      </p:sp>
      <p:cxnSp>
        <p:nvCxnSpPr>
          <p:cNvPr id="5" name="Straight Connector 4"/>
          <p:cNvCxnSpPr/>
          <p:nvPr/>
        </p:nvCxnSpPr>
        <p:spPr>
          <a:xfrm>
            <a:off x="785813" y="928688"/>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6" name="Title 4"/>
          <p:cNvSpPr txBox="1">
            <a:spLocks/>
          </p:cNvSpPr>
          <p:nvPr/>
        </p:nvSpPr>
        <p:spPr>
          <a:xfrm>
            <a:off x="819150" y="214313"/>
            <a:ext cx="7467600" cy="488950"/>
          </a:xfrm>
          <a:prstGeom prst="rect">
            <a:avLst/>
          </a:prstGeom>
        </p:spPr>
        <p:txBody>
          <a:bodyPr/>
          <a:lstStyle/>
          <a:p>
            <a:pPr algn="ctr" eaLnBrk="1" fontAlgn="auto" hangingPunct="1">
              <a:spcAft>
                <a:spcPts val="0"/>
              </a:spcAft>
              <a:defRPr/>
            </a:pPr>
            <a:r>
              <a:rPr lang="en-US" sz="3200" b="1" dirty="0">
                <a:solidFill>
                  <a:schemeClr val="accent1"/>
                </a:solidFill>
                <a:latin typeface="+mj-lt"/>
                <a:ea typeface="+mj-ea"/>
                <a:cs typeface="+mj-cs"/>
              </a:rPr>
              <a:t>Support Media (</a:t>
            </a:r>
            <a:r>
              <a:rPr lang="en-US" sz="3200" b="1" dirty="0" err="1">
                <a:solidFill>
                  <a:schemeClr val="accent1"/>
                </a:solidFill>
                <a:latin typeface="+mj-lt"/>
                <a:ea typeface="+mj-ea"/>
                <a:cs typeface="+mj-cs"/>
              </a:rPr>
              <a:t>Agarose</a:t>
            </a:r>
            <a:r>
              <a:rPr lang="en-US" sz="3200" b="1" dirty="0">
                <a:solidFill>
                  <a:schemeClr val="accent1"/>
                </a:solidFill>
                <a:latin typeface="+mj-lt"/>
                <a:ea typeface="+mj-ea"/>
                <a:cs typeface="+mj-cs"/>
              </a:rPr>
              <a:t>)</a:t>
            </a:r>
          </a:p>
        </p:txBody>
      </p:sp>
      <p:graphicFrame>
        <p:nvGraphicFramePr>
          <p:cNvPr id="10" name="Group 103"/>
          <p:cNvGraphicFramePr>
            <a:graphicFrameLocks/>
          </p:cNvGraphicFramePr>
          <p:nvPr/>
        </p:nvGraphicFramePr>
        <p:xfrm>
          <a:off x="1500188" y="1500188"/>
          <a:ext cx="5929312" cy="4611687"/>
        </p:xfrm>
        <a:graphic>
          <a:graphicData uri="http://schemas.openxmlformats.org/drawingml/2006/table">
            <a:tbl>
              <a:tblPr rtl="1"/>
              <a:tblGrid>
                <a:gridCol w="3598681"/>
                <a:gridCol w="2330631"/>
              </a:tblGrid>
              <a:tr h="518151">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j-lt"/>
                          <a:cs typeface="Times New Roman" pitchFamily="18" charset="0"/>
                        </a:rPr>
                        <a:t>Range of separation of linear DNA </a:t>
                      </a:r>
                      <a:endParaRPr kumimoji="0" lang="en-US" sz="1400" b="1" i="0" u="none" strike="noStrike" cap="none" normalizeH="0" baseline="0" dirty="0">
                        <a:ln>
                          <a:noFill/>
                        </a:ln>
                        <a:solidFill>
                          <a:schemeClr val="tx1"/>
                        </a:solidFill>
                        <a:effectLst/>
                        <a:latin typeface="+mj-lt"/>
                        <a:cs typeface="Arial" pitchFamily="34"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j-lt"/>
                          <a:cs typeface="Times New Roman" pitchFamily="18" charset="0"/>
                        </a:rPr>
                        <a:t>(in </a:t>
                      </a:r>
                      <a:r>
                        <a:rPr kumimoji="0" lang="en-US" sz="1400" b="1" i="0" u="none" strike="noStrike" cap="none" normalizeH="0" baseline="0" dirty="0" err="1">
                          <a:ln>
                            <a:noFill/>
                          </a:ln>
                          <a:solidFill>
                            <a:schemeClr val="tx1"/>
                          </a:solidFill>
                          <a:effectLst/>
                          <a:latin typeface="+mj-lt"/>
                          <a:cs typeface="Times New Roman" pitchFamily="18" charset="0"/>
                        </a:rPr>
                        <a:t>kilobases</a:t>
                      </a:r>
                      <a:r>
                        <a:rPr kumimoji="0" lang="en-US" sz="1400" b="1" i="0" u="none" strike="noStrike" cap="none" normalizeH="0" baseline="0" dirty="0">
                          <a:ln>
                            <a:noFill/>
                          </a:ln>
                          <a:solidFill>
                            <a:schemeClr val="tx1"/>
                          </a:solidFill>
                          <a:effectLst/>
                          <a:latin typeface="+mj-lt"/>
                          <a:cs typeface="Times New Roman" pitchFamily="18" charset="0"/>
                        </a:rPr>
                        <a:t>)</a:t>
                      </a:r>
                      <a:endParaRPr kumimoji="0" lang="en-US" sz="1400" b="1" i="0" u="none" strike="noStrike" cap="none" normalizeH="0" baseline="0" dirty="0">
                        <a:ln>
                          <a:noFill/>
                        </a:ln>
                        <a:solidFill>
                          <a:schemeClr val="tx1"/>
                        </a:solidFill>
                        <a:effectLst/>
                        <a:latin typeface="+mj-lt"/>
                        <a:cs typeface="Arial" pitchFamily="34" charset="0"/>
                      </a:endParaRPr>
                    </a:p>
                  </a:txBody>
                  <a:tcPr marL="91439" marR="91439" marT="45716" marB="45716" anchor="ctr" horzOverflow="overflow">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err="1">
                          <a:ln>
                            <a:noFill/>
                          </a:ln>
                          <a:solidFill>
                            <a:schemeClr val="tx1"/>
                          </a:solidFill>
                          <a:effectLst/>
                          <a:latin typeface="+mj-lt"/>
                          <a:cs typeface="Times New Roman" pitchFamily="18" charset="0"/>
                        </a:rPr>
                        <a:t>Agarose</a:t>
                      </a:r>
                      <a:r>
                        <a:rPr kumimoji="0" lang="en-US" sz="2000" b="1" i="0" u="none" strike="noStrike" cap="none" normalizeH="0" baseline="0" dirty="0">
                          <a:ln>
                            <a:noFill/>
                          </a:ln>
                          <a:solidFill>
                            <a:schemeClr val="tx1"/>
                          </a:solidFill>
                          <a:effectLst/>
                          <a:latin typeface="+mj-lt"/>
                          <a:cs typeface="Times New Roman" pitchFamily="18" charset="0"/>
                        </a:rPr>
                        <a:t> (%)</a:t>
                      </a:r>
                      <a:endParaRPr kumimoji="0" lang="en-US" sz="2000" b="1" i="0" u="none" strike="noStrike" cap="none" normalizeH="0" baseline="0" dirty="0">
                        <a:ln>
                          <a:noFill/>
                        </a:ln>
                        <a:solidFill>
                          <a:schemeClr val="tx1"/>
                        </a:solidFill>
                        <a:effectLst/>
                        <a:latin typeface="+mj-lt"/>
                        <a:cs typeface="Arial" pitchFamily="34" charset="0"/>
                      </a:endParaRPr>
                    </a:p>
                  </a:txBody>
                  <a:tcPr marL="91439" marR="91439" marT="45716" marB="45716" anchor="ctr" horzOverflow="overflow">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85577">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mj-lt"/>
                          <a:cs typeface="Times New Roman" pitchFamily="18" charset="0"/>
                        </a:rPr>
                        <a:t>60 - 5</a:t>
                      </a:r>
                      <a:endParaRPr kumimoji="0" lang="en-US" sz="2400" b="0" i="0" u="none" strike="noStrike" cap="none" normalizeH="0" baseline="0" dirty="0">
                        <a:ln>
                          <a:noFill/>
                        </a:ln>
                        <a:solidFill>
                          <a:schemeClr val="tx1"/>
                        </a:solidFill>
                        <a:effectLst/>
                        <a:latin typeface="+mj-lt"/>
                        <a:cs typeface="Arial" pitchFamily="34" charset="0"/>
                      </a:endParaRPr>
                    </a:p>
                  </a:txBody>
                  <a:tcPr marL="91439" marR="91439" marT="45716" marB="45716" anchor="ctr" horzOverflow="overflow">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mj-lt"/>
                          <a:cs typeface="Times New Roman" pitchFamily="18" charset="0"/>
                        </a:rPr>
                        <a:t>0.3</a:t>
                      </a:r>
                      <a:endParaRPr kumimoji="0" lang="en-US" sz="2400" b="0" i="0" u="none" strike="noStrike" cap="none" normalizeH="0" baseline="0" dirty="0">
                        <a:ln>
                          <a:noFill/>
                        </a:ln>
                        <a:solidFill>
                          <a:schemeClr val="tx1"/>
                        </a:solidFill>
                        <a:effectLst/>
                        <a:latin typeface="+mj-lt"/>
                        <a:cs typeface="Arial" pitchFamily="34" charset="0"/>
                      </a:endParaRPr>
                    </a:p>
                  </a:txBody>
                  <a:tcPr marL="91439" marR="91439" marT="45716" marB="45716" anchor="ctr" horzOverflow="overflow">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r>
              <a:tr h="584201">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mj-lt"/>
                          <a:cs typeface="Times New Roman" pitchFamily="18" charset="0"/>
                        </a:rPr>
                        <a:t>20 - 1</a:t>
                      </a:r>
                      <a:endParaRPr kumimoji="0" lang="en-US" sz="2400" b="0" i="0" u="none" strike="noStrike" cap="none" normalizeH="0" baseline="0" dirty="0">
                        <a:ln>
                          <a:noFill/>
                        </a:ln>
                        <a:solidFill>
                          <a:schemeClr val="tx1"/>
                        </a:solidFill>
                        <a:effectLst/>
                        <a:latin typeface="+mj-lt"/>
                        <a:cs typeface="Arial" pitchFamily="34" charset="0"/>
                      </a:endParaRPr>
                    </a:p>
                  </a:txBody>
                  <a:tcPr marL="91439" marR="91439" marT="45716" marB="45716" anchor="ctr" horzOverflow="overflow">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mj-lt"/>
                          <a:cs typeface="Times New Roman" pitchFamily="18" charset="0"/>
                        </a:rPr>
                        <a:t>0.6</a:t>
                      </a:r>
                      <a:endParaRPr kumimoji="0" lang="en-US" sz="2400" b="0" i="0" u="none" strike="noStrike" cap="none" normalizeH="0" baseline="0" dirty="0">
                        <a:ln>
                          <a:noFill/>
                        </a:ln>
                        <a:solidFill>
                          <a:schemeClr val="tx1"/>
                        </a:solidFill>
                        <a:effectLst/>
                        <a:latin typeface="+mj-lt"/>
                        <a:cs typeface="Arial" pitchFamily="34" charset="0"/>
                      </a:endParaRPr>
                    </a:p>
                  </a:txBody>
                  <a:tcPr marL="91439" marR="91439" marT="45716" marB="45716" anchor="ctr" horzOverflow="overflow">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r>
              <a:tr h="584201">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mj-lt"/>
                          <a:cs typeface="Times New Roman" pitchFamily="18" charset="0"/>
                        </a:rPr>
                        <a:t>10 - 0.8</a:t>
                      </a:r>
                      <a:endParaRPr kumimoji="0" lang="en-US" sz="2400" b="0" i="0" u="none" strike="noStrike" cap="none" normalizeH="0" baseline="0" dirty="0">
                        <a:ln>
                          <a:noFill/>
                        </a:ln>
                        <a:solidFill>
                          <a:schemeClr val="tx1"/>
                        </a:solidFill>
                        <a:effectLst/>
                        <a:latin typeface="+mj-lt"/>
                        <a:cs typeface="Arial" pitchFamily="34" charset="0"/>
                      </a:endParaRPr>
                    </a:p>
                  </a:txBody>
                  <a:tcPr marL="91439" marR="91439" marT="45716" marB="45716" anchor="ctr" horzOverflow="overflow">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mj-lt"/>
                          <a:cs typeface="Times New Roman" pitchFamily="18" charset="0"/>
                        </a:rPr>
                        <a:t>0.7</a:t>
                      </a:r>
                      <a:endParaRPr kumimoji="0" lang="en-US" sz="2400" b="0" i="0" u="none" strike="noStrike" cap="none" normalizeH="0" baseline="0" dirty="0">
                        <a:ln>
                          <a:noFill/>
                        </a:ln>
                        <a:solidFill>
                          <a:schemeClr val="tx1"/>
                        </a:solidFill>
                        <a:effectLst/>
                        <a:latin typeface="+mj-lt"/>
                        <a:cs typeface="Arial" pitchFamily="34" charset="0"/>
                      </a:endParaRPr>
                    </a:p>
                  </a:txBody>
                  <a:tcPr marL="91439" marR="91439" marT="45716" marB="45716" anchor="ctr" horzOverflow="overflow">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r>
              <a:tr h="585577">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mj-lt"/>
                          <a:cs typeface="Times New Roman" pitchFamily="18" charset="0"/>
                        </a:rPr>
                        <a:t>7 - 0.5</a:t>
                      </a:r>
                      <a:endParaRPr kumimoji="0" lang="en-US" sz="2400" b="0" i="0" u="none" strike="noStrike" cap="none" normalizeH="0" baseline="0" dirty="0">
                        <a:ln>
                          <a:noFill/>
                        </a:ln>
                        <a:solidFill>
                          <a:schemeClr val="tx1"/>
                        </a:solidFill>
                        <a:effectLst/>
                        <a:latin typeface="+mj-lt"/>
                        <a:cs typeface="Arial" pitchFamily="34" charset="0"/>
                      </a:endParaRPr>
                    </a:p>
                  </a:txBody>
                  <a:tcPr marL="91439" marR="91439" marT="45716" marB="45716" anchor="ctr" horzOverflow="overflow">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mj-lt"/>
                          <a:cs typeface="Times New Roman" pitchFamily="18" charset="0"/>
                        </a:rPr>
                        <a:t>0.9</a:t>
                      </a:r>
                      <a:endParaRPr kumimoji="0" lang="en-US" sz="2400" b="0" i="0" u="none" strike="noStrike" cap="none" normalizeH="0" baseline="0" dirty="0">
                        <a:ln>
                          <a:noFill/>
                        </a:ln>
                        <a:solidFill>
                          <a:schemeClr val="tx1"/>
                        </a:solidFill>
                        <a:effectLst/>
                        <a:latin typeface="+mj-lt"/>
                        <a:cs typeface="Arial" pitchFamily="34" charset="0"/>
                      </a:endParaRPr>
                    </a:p>
                  </a:txBody>
                  <a:tcPr marL="91439" marR="91439" marT="45716" marB="45716" anchor="ctr" horzOverflow="overflow">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r>
              <a:tr h="584201">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mj-lt"/>
                          <a:cs typeface="Times New Roman" pitchFamily="18" charset="0"/>
                        </a:rPr>
                        <a:t>6 - 0.4</a:t>
                      </a:r>
                      <a:endParaRPr kumimoji="0" lang="en-US" sz="2400" b="0" i="0" u="none" strike="noStrike" cap="none" normalizeH="0" baseline="0" dirty="0">
                        <a:ln>
                          <a:noFill/>
                        </a:ln>
                        <a:solidFill>
                          <a:schemeClr val="tx1"/>
                        </a:solidFill>
                        <a:effectLst/>
                        <a:latin typeface="+mj-lt"/>
                        <a:cs typeface="Arial" pitchFamily="34" charset="0"/>
                      </a:endParaRPr>
                    </a:p>
                  </a:txBody>
                  <a:tcPr marL="91439" marR="91439" marT="45716" marB="45716" anchor="ctr" horzOverflow="overflow">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mj-lt"/>
                          <a:cs typeface="Times New Roman" pitchFamily="18" charset="0"/>
                        </a:rPr>
                        <a:t>1.2</a:t>
                      </a:r>
                      <a:endParaRPr kumimoji="0" lang="en-US" sz="2400" b="0" i="0" u="none" strike="noStrike" cap="none" normalizeH="0" baseline="0" dirty="0">
                        <a:ln>
                          <a:noFill/>
                        </a:ln>
                        <a:solidFill>
                          <a:schemeClr val="tx1"/>
                        </a:solidFill>
                        <a:effectLst/>
                        <a:latin typeface="+mj-lt"/>
                        <a:cs typeface="Arial" pitchFamily="34" charset="0"/>
                      </a:endParaRPr>
                    </a:p>
                  </a:txBody>
                  <a:tcPr marL="91439" marR="91439" marT="45716" marB="45716" anchor="ctr" horzOverflow="overflow">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r>
              <a:tr h="585577">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mj-lt"/>
                          <a:cs typeface="Times New Roman" pitchFamily="18" charset="0"/>
                        </a:rPr>
                        <a:t>4 - 0.2</a:t>
                      </a:r>
                      <a:endParaRPr kumimoji="0" lang="en-US" sz="2400" b="0" i="0" u="none" strike="noStrike" cap="none" normalizeH="0" baseline="0" dirty="0">
                        <a:ln>
                          <a:noFill/>
                        </a:ln>
                        <a:solidFill>
                          <a:schemeClr val="tx1"/>
                        </a:solidFill>
                        <a:effectLst/>
                        <a:latin typeface="+mj-lt"/>
                        <a:cs typeface="Arial" pitchFamily="34" charset="0"/>
                      </a:endParaRPr>
                    </a:p>
                  </a:txBody>
                  <a:tcPr marL="91439" marR="91439" marT="45716" marB="45716" anchor="ctr" horzOverflow="overflow">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mj-lt"/>
                          <a:cs typeface="Times New Roman" pitchFamily="18" charset="0"/>
                        </a:rPr>
                        <a:t>1.5</a:t>
                      </a:r>
                      <a:endParaRPr kumimoji="0" lang="en-US" sz="2400" b="0" i="0" u="none" strike="noStrike" cap="none" normalizeH="0" baseline="0" dirty="0">
                        <a:ln>
                          <a:noFill/>
                        </a:ln>
                        <a:solidFill>
                          <a:schemeClr val="tx1"/>
                        </a:solidFill>
                        <a:effectLst/>
                        <a:latin typeface="+mj-lt"/>
                        <a:cs typeface="Arial" pitchFamily="34" charset="0"/>
                      </a:endParaRPr>
                    </a:p>
                  </a:txBody>
                  <a:tcPr marL="91439" marR="91439" marT="45716" marB="45716" anchor="ctr" horzOverflow="overflow">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r>
              <a:tr h="584201">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mj-lt"/>
                          <a:cs typeface="Times New Roman" pitchFamily="18" charset="0"/>
                        </a:rPr>
                        <a:t>3 - 0.1</a:t>
                      </a:r>
                      <a:endParaRPr kumimoji="0" lang="en-US" sz="2400" b="0" i="0" u="none" strike="noStrike" cap="none" normalizeH="0" baseline="0" dirty="0">
                        <a:ln>
                          <a:noFill/>
                        </a:ln>
                        <a:solidFill>
                          <a:schemeClr val="tx1"/>
                        </a:solidFill>
                        <a:effectLst/>
                        <a:latin typeface="+mj-lt"/>
                        <a:cs typeface="Arial" pitchFamily="34" charset="0"/>
                      </a:endParaRPr>
                    </a:p>
                  </a:txBody>
                  <a:tcPr marL="91439" marR="91439" marT="45716" marB="45716" anchor="ctr" horzOverflow="overflow">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mj-lt"/>
                          <a:cs typeface="Times New Roman" pitchFamily="18" charset="0"/>
                        </a:rPr>
                        <a:t>2.0</a:t>
                      </a:r>
                      <a:endParaRPr kumimoji="0" lang="en-US" sz="2400" b="0" i="0" u="none" strike="noStrike" cap="none" normalizeH="0" baseline="0" dirty="0">
                        <a:ln>
                          <a:noFill/>
                        </a:ln>
                        <a:solidFill>
                          <a:schemeClr val="tx1"/>
                        </a:solidFill>
                        <a:effectLst/>
                        <a:latin typeface="+mj-lt"/>
                        <a:cs typeface="Arial" pitchFamily="34" charset="0"/>
                      </a:endParaRPr>
                    </a:p>
                  </a:txBody>
                  <a:tcPr marL="91439" marR="91439" marT="45716" marB="45716" anchor="ctr" horzOverflow="overflow">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2"/>
          <p:cNvSpPr>
            <a:spLocks noGrp="1" noChangeArrowheads="1"/>
          </p:cNvSpPr>
          <p:nvPr>
            <p:ph type="sldNum" sz="quarter" idx="12"/>
          </p:nvPr>
        </p:nvSpPr>
        <p:spPr bwMode="auto">
          <a:noFill/>
          <a:ln>
            <a:miter lim="800000"/>
            <a:headEnd/>
            <a:tailEnd/>
          </a:ln>
        </p:spPr>
        <p:txBody>
          <a:bodyPr/>
          <a:lstStyle/>
          <a:p>
            <a:fld id="{6558EE55-4BF7-4AB0-86E6-16E6C307E725}" type="slidenum">
              <a:rPr lang="en-US" altLang="ar-JO"/>
              <a:pPr/>
              <a:t>24</a:t>
            </a:fld>
            <a:endParaRPr lang="en-US" altLang="ar-JO"/>
          </a:p>
        </p:txBody>
      </p:sp>
      <p:sp>
        <p:nvSpPr>
          <p:cNvPr id="4" name="Footer Placeholder 41"/>
          <p:cNvSpPr txBox="1">
            <a:spLocks/>
          </p:cNvSpPr>
          <p:nvPr/>
        </p:nvSpPr>
        <p:spPr>
          <a:xfrm>
            <a:off x="142875" y="6492875"/>
            <a:ext cx="3200400" cy="365125"/>
          </a:xfrm>
          <a:prstGeom prst="rect">
            <a:avLst/>
          </a:prstGeom>
        </p:spPr>
        <p:txBody>
          <a:bodyPr anchor="ctr"/>
          <a:lstStyle/>
          <a:p>
            <a:pPr eaLnBrk="1" fontAlgn="auto" hangingPunct="1">
              <a:spcBef>
                <a:spcPts val="0"/>
              </a:spcBef>
              <a:spcAft>
                <a:spcPts val="0"/>
              </a:spcAft>
              <a:defRPr/>
            </a:pPr>
            <a:r>
              <a:rPr lang="en-US" sz="1400" dirty="0">
                <a:solidFill>
                  <a:schemeClr val="tx1">
                    <a:tint val="75000"/>
                  </a:schemeClr>
                </a:solidFill>
                <a:latin typeface="+mn-lt"/>
                <a:cs typeface="+mn-cs"/>
              </a:rPr>
              <a:t>MBL. BT453</a:t>
            </a:r>
          </a:p>
        </p:txBody>
      </p:sp>
      <p:cxnSp>
        <p:nvCxnSpPr>
          <p:cNvPr id="5" name="Straight Connector 4"/>
          <p:cNvCxnSpPr/>
          <p:nvPr/>
        </p:nvCxnSpPr>
        <p:spPr>
          <a:xfrm>
            <a:off x="785813" y="928688"/>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6" name="Title 4"/>
          <p:cNvSpPr txBox="1">
            <a:spLocks/>
          </p:cNvSpPr>
          <p:nvPr/>
        </p:nvSpPr>
        <p:spPr>
          <a:xfrm>
            <a:off x="819150" y="214313"/>
            <a:ext cx="7467600" cy="488950"/>
          </a:xfrm>
          <a:prstGeom prst="rect">
            <a:avLst/>
          </a:prstGeom>
        </p:spPr>
        <p:txBody>
          <a:bodyPr/>
          <a:lstStyle/>
          <a:p>
            <a:pPr algn="ctr" eaLnBrk="1" fontAlgn="auto" hangingPunct="1">
              <a:spcAft>
                <a:spcPts val="0"/>
              </a:spcAft>
              <a:defRPr/>
            </a:pPr>
            <a:r>
              <a:rPr lang="en-US" sz="3200" b="1" dirty="0">
                <a:solidFill>
                  <a:schemeClr val="accent1"/>
                </a:solidFill>
                <a:latin typeface="+mj-lt"/>
                <a:ea typeface="+mj-ea"/>
                <a:cs typeface="+mj-cs"/>
              </a:rPr>
              <a:t>Power supply &amp; Buffers</a:t>
            </a:r>
          </a:p>
        </p:txBody>
      </p:sp>
      <p:sp>
        <p:nvSpPr>
          <p:cNvPr id="7" name="Rectangle 6"/>
          <p:cNvSpPr/>
          <p:nvPr/>
        </p:nvSpPr>
        <p:spPr>
          <a:xfrm>
            <a:off x="785813" y="1285875"/>
            <a:ext cx="7500937" cy="4992688"/>
          </a:xfrm>
          <a:prstGeom prst="rect">
            <a:avLst/>
          </a:prstGeom>
        </p:spPr>
        <p:txBody>
          <a:bodyPr>
            <a:spAutoFit/>
          </a:bodyPr>
          <a:lstStyle/>
          <a:p>
            <a:pPr eaLnBrk="1" fontAlgn="auto" hangingPunct="1">
              <a:lnSpc>
                <a:spcPct val="90000"/>
              </a:lnSpc>
              <a:spcBef>
                <a:spcPct val="50000"/>
              </a:spcBef>
              <a:spcAft>
                <a:spcPts val="0"/>
              </a:spcAft>
              <a:defRPr/>
            </a:pPr>
            <a:r>
              <a:rPr lang="en-US" sz="1600" b="1" dirty="0">
                <a:solidFill>
                  <a:schemeClr val="accent1"/>
                </a:solidFill>
                <a:latin typeface="+mn-lt"/>
                <a:cs typeface="+mn-cs"/>
              </a:rPr>
              <a:t>Power supply and chamber</a:t>
            </a:r>
            <a:endParaRPr lang="en-US" sz="1600" b="1" dirty="0">
              <a:latin typeface="+mn-lt"/>
              <a:cs typeface="+mn-cs"/>
            </a:endParaRPr>
          </a:p>
          <a:p>
            <a:pPr eaLnBrk="1" fontAlgn="auto" hangingPunct="1">
              <a:lnSpc>
                <a:spcPct val="90000"/>
              </a:lnSpc>
              <a:spcBef>
                <a:spcPct val="50000"/>
              </a:spcBef>
              <a:spcAft>
                <a:spcPts val="0"/>
              </a:spcAft>
              <a:defRPr/>
            </a:pPr>
            <a:r>
              <a:rPr lang="en-US" sz="1600" dirty="0">
                <a:latin typeface="+mn-lt"/>
                <a:cs typeface="+mn-cs"/>
              </a:rPr>
              <a:t>A source of negatively charged particles </a:t>
            </a:r>
            <a:r>
              <a:rPr lang="en-US" sz="1600" dirty="0">
                <a:latin typeface="+mn-lt"/>
                <a:cs typeface="+mn-cs"/>
                <a:sym typeface="Wingdings" pitchFamily="2" charset="2"/>
              </a:rPr>
              <a:t>with a cathode and anode</a:t>
            </a:r>
          </a:p>
          <a:p>
            <a:pPr eaLnBrk="1" fontAlgn="auto" hangingPunct="1">
              <a:lnSpc>
                <a:spcPct val="90000"/>
              </a:lnSpc>
              <a:spcBef>
                <a:spcPct val="50000"/>
              </a:spcBef>
              <a:spcAft>
                <a:spcPts val="0"/>
              </a:spcAft>
              <a:defRPr/>
            </a:pPr>
            <a:endParaRPr lang="en-US" sz="1600" dirty="0">
              <a:latin typeface="+mn-lt"/>
              <a:cs typeface="+mn-cs"/>
              <a:sym typeface="Wingdings" pitchFamily="2" charset="2"/>
            </a:endParaRPr>
          </a:p>
          <a:p>
            <a:pPr eaLnBrk="1" fontAlgn="auto" hangingPunct="1">
              <a:lnSpc>
                <a:spcPct val="90000"/>
              </a:lnSpc>
              <a:spcBef>
                <a:spcPct val="50000"/>
              </a:spcBef>
              <a:spcAft>
                <a:spcPts val="0"/>
              </a:spcAft>
              <a:defRPr/>
            </a:pPr>
            <a:r>
              <a:rPr lang="en-US" sz="1600" b="1" dirty="0">
                <a:solidFill>
                  <a:schemeClr val="accent1"/>
                </a:solidFill>
                <a:latin typeface="+mn-lt"/>
                <a:cs typeface="+mn-cs"/>
                <a:sym typeface="Wingdings" pitchFamily="2" charset="2"/>
              </a:rPr>
              <a:t>Buffer</a:t>
            </a:r>
            <a:endParaRPr lang="en-US" sz="1600" b="1" dirty="0">
              <a:latin typeface="+mn-lt"/>
              <a:cs typeface="+mn-cs"/>
              <a:sym typeface="Wingdings" pitchFamily="2" charset="2"/>
            </a:endParaRPr>
          </a:p>
          <a:p>
            <a:pPr eaLnBrk="1" fontAlgn="auto" hangingPunct="1">
              <a:lnSpc>
                <a:spcPct val="90000"/>
              </a:lnSpc>
              <a:spcBef>
                <a:spcPct val="50000"/>
              </a:spcBef>
              <a:spcAft>
                <a:spcPts val="0"/>
              </a:spcAft>
              <a:defRPr/>
            </a:pPr>
            <a:r>
              <a:rPr lang="en-US" sz="1600" dirty="0">
                <a:latin typeface="+mn-lt"/>
                <a:cs typeface="+mn-cs"/>
                <a:sym typeface="Wingdings" pitchFamily="2" charset="2"/>
              </a:rPr>
              <a:t>A fluid mixture of water and ions, having the following functions:</a:t>
            </a:r>
          </a:p>
          <a:p>
            <a:pPr marL="342900" indent="-342900" eaLnBrk="1" fontAlgn="auto" hangingPunct="1">
              <a:lnSpc>
                <a:spcPct val="90000"/>
              </a:lnSpc>
              <a:spcBef>
                <a:spcPct val="50000"/>
              </a:spcBef>
              <a:spcAft>
                <a:spcPts val="0"/>
              </a:spcAft>
              <a:buFont typeface="+mj-lt"/>
              <a:buAutoNum type="arabicPeriod"/>
              <a:defRPr/>
            </a:pPr>
            <a:r>
              <a:rPr lang="en-US" sz="1600" dirty="0">
                <a:latin typeface="+mn-lt"/>
                <a:cs typeface="+mn-cs"/>
                <a:sym typeface="Wingdings" pitchFamily="2" charset="2"/>
              </a:rPr>
              <a:t>Carries the applied current</a:t>
            </a:r>
          </a:p>
          <a:p>
            <a:pPr marL="342900" indent="-342900" eaLnBrk="1" fontAlgn="auto" hangingPunct="1">
              <a:lnSpc>
                <a:spcPct val="90000"/>
              </a:lnSpc>
              <a:spcBef>
                <a:spcPct val="50000"/>
              </a:spcBef>
              <a:spcAft>
                <a:spcPts val="0"/>
              </a:spcAft>
              <a:buFont typeface="+mj-lt"/>
              <a:buAutoNum type="arabicPeriod"/>
              <a:defRPr/>
            </a:pPr>
            <a:r>
              <a:rPr lang="en-US" sz="1600" dirty="0">
                <a:latin typeface="+mn-lt"/>
                <a:cs typeface="+mn-cs"/>
                <a:sym typeface="Wingdings" pitchFamily="2" charset="2"/>
              </a:rPr>
              <a:t>Maintain the pH (pH 8)</a:t>
            </a:r>
          </a:p>
          <a:p>
            <a:pPr marL="342900" indent="-342900" eaLnBrk="1" fontAlgn="auto" hangingPunct="1">
              <a:lnSpc>
                <a:spcPct val="90000"/>
              </a:lnSpc>
              <a:spcBef>
                <a:spcPct val="50000"/>
              </a:spcBef>
              <a:spcAft>
                <a:spcPts val="0"/>
              </a:spcAft>
              <a:buFont typeface="+mj-lt"/>
              <a:buAutoNum type="arabicPeriod"/>
              <a:defRPr/>
            </a:pPr>
            <a:r>
              <a:rPr lang="en-US" sz="1600" dirty="0">
                <a:latin typeface="+mn-lt"/>
                <a:cs typeface="+mn-cs"/>
                <a:sym typeface="Wingdings" pitchFamily="2" charset="2"/>
              </a:rPr>
              <a:t>Determine the electric charge on the solute</a:t>
            </a:r>
          </a:p>
          <a:p>
            <a:pPr marL="342900" indent="-342900" eaLnBrk="1" fontAlgn="auto" hangingPunct="1">
              <a:lnSpc>
                <a:spcPct val="90000"/>
              </a:lnSpc>
              <a:spcBef>
                <a:spcPct val="50000"/>
              </a:spcBef>
              <a:spcAft>
                <a:spcPts val="0"/>
              </a:spcAft>
              <a:buFont typeface="+mj-lt"/>
              <a:buAutoNum type="arabicPeriod"/>
              <a:defRPr/>
            </a:pPr>
            <a:endParaRPr lang="en-US" sz="1600" dirty="0">
              <a:latin typeface="+mn-lt"/>
              <a:cs typeface="+mn-cs"/>
              <a:sym typeface="Wingdings" pitchFamily="2" charset="2"/>
            </a:endParaRPr>
          </a:p>
          <a:p>
            <a:pPr marL="342900" indent="-342900" eaLnBrk="1" fontAlgn="auto" hangingPunct="1">
              <a:lnSpc>
                <a:spcPct val="90000"/>
              </a:lnSpc>
              <a:spcBef>
                <a:spcPct val="50000"/>
              </a:spcBef>
              <a:spcAft>
                <a:spcPts val="0"/>
              </a:spcAft>
              <a:defRPr/>
            </a:pPr>
            <a:r>
              <a:rPr lang="en-US" sz="1600" b="1" dirty="0">
                <a:solidFill>
                  <a:schemeClr val="accent1"/>
                </a:solidFill>
                <a:latin typeface="+mj-lt"/>
                <a:cs typeface="+mn-cs"/>
              </a:rPr>
              <a:t>Types of buffers commonly used:</a:t>
            </a:r>
          </a:p>
          <a:p>
            <a:pPr marL="342900" indent="-342900" eaLnBrk="1" fontAlgn="auto" hangingPunct="1">
              <a:lnSpc>
                <a:spcPct val="90000"/>
              </a:lnSpc>
              <a:spcBef>
                <a:spcPct val="50000"/>
              </a:spcBef>
              <a:spcAft>
                <a:spcPts val="0"/>
              </a:spcAft>
              <a:defRPr/>
            </a:pPr>
            <a:endParaRPr lang="en-US" sz="1600" dirty="0">
              <a:latin typeface="+mj-lt"/>
              <a:cs typeface="+mn-cs"/>
            </a:endParaRPr>
          </a:p>
          <a:p>
            <a:pPr marL="342900" indent="-342900" eaLnBrk="1" fontAlgn="auto" hangingPunct="1">
              <a:spcBef>
                <a:spcPts val="0"/>
              </a:spcBef>
              <a:spcAft>
                <a:spcPts val="0"/>
              </a:spcAft>
              <a:buFont typeface="+mj-lt"/>
              <a:buAutoNum type="arabicPeriod"/>
              <a:defRPr/>
            </a:pPr>
            <a:r>
              <a:rPr lang="en-US" sz="1600" b="1" dirty="0" err="1">
                <a:latin typeface="+mj-lt"/>
                <a:cs typeface="+mn-cs"/>
              </a:rPr>
              <a:t>Tris</a:t>
            </a:r>
            <a:r>
              <a:rPr lang="en-US" sz="1600" b="1" dirty="0">
                <a:latin typeface="+mj-lt"/>
                <a:cs typeface="+mn-cs"/>
              </a:rPr>
              <a:t>-Borate-EDTA (TBE): </a:t>
            </a:r>
            <a:r>
              <a:rPr lang="en-US" sz="1600" dirty="0">
                <a:latin typeface="+mn-lt"/>
                <a:cs typeface="+mn-cs"/>
              </a:rPr>
              <a:t>Greater buffering capacity and gives better resolution with shaper bands</a:t>
            </a:r>
          </a:p>
          <a:p>
            <a:pPr marL="342900" indent="-342900" eaLnBrk="1" fontAlgn="auto" hangingPunct="1">
              <a:spcBef>
                <a:spcPts val="0"/>
              </a:spcBef>
              <a:spcAft>
                <a:spcPts val="0"/>
              </a:spcAft>
              <a:buFont typeface="+mj-lt"/>
              <a:buAutoNum type="arabicPeriod"/>
              <a:defRPr/>
            </a:pPr>
            <a:endParaRPr lang="en-US" sz="1600" dirty="0">
              <a:latin typeface="+mn-lt"/>
              <a:cs typeface="+mn-cs"/>
            </a:endParaRPr>
          </a:p>
          <a:p>
            <a:pPr marL="342900" indent="-342900" eaLnBrk="1" fontAlgn="auto" hangingPunct="1">
              <a:spcBef>
                <a:spcPts val="0"/>
              </a:spcBef>
              <a:spcAft>
                <a:spcPts val="0"/>
              </a:spcAft>
              <a:buFont typeface="+mj-lt"/>
              <a:buAutoNum type="arabicPeriod"/>
              <a:defRPr/>
            </a:pPr>
            <a:r>
              <a:rPr lang="en-US" sz="1600" b="1" dirty="0" err="1">
                <a:latin typeface="+mj-lt"/>
                <a:cs typeface="+mn-cs"/>
              </a:rPr>
              <a:t>Tris</a:t>
            </a:r>
            <a:r>
              <a:rPr lang="en-US" sz="1600" b="1" dirty="0">
                <a:latin typeface="+mj-lt"/>
                <a:cs typeface="+mn-cs"/>
              </a:rPr>
              <a:t>-Acetate-EDTA(TAE):</a:t>
            </a:r>
            <a:r>
              <a:rPr lang="en-US" sz="1600" dirty="0">
                <a:latin typeface="+mj-lt"/>
                <a:cs typeface="+mn-cs"/>
              </a:rPr>
              <a:t> </a:t>
            </a:r>
            <a:r>
              <a:rPr lang="en-US" sz="1600" dirty="0">
                <a:latin typeface="+mn-lt"/>
                <a:cs typeface="+mn-cs"/>
              </a:rPr>
              <a:t>Lower buffering capacity and mainly used when DNA are purified from the </a:t>
            </a:r>
            <a:r>
              <a:rPr lang="en-US" sz="1600" dirty="0" err="1">
                <a:latin typeface="+mn-lt"/>
                <a:cs typeface="+mn-cs"/>
              </a:rPr>
              <a:t>agarose</a:t>
            </a:r>
            <a:r>
              <a:rPr lang="en-US" sz="1600" dirty="0">
                <a:latin typeface="+mn-lt"/>
                <a:cs typeface="+mn-cs"/>
              </a:rPr>
              <a:t> gels</a:t>
            </a:r>
            <a:endParaRPr lang="en-US" sz="1600" dirty="0">
              <a:latin typeface="+mj-lt"/>
              <a:cs typeface="+mn-cs"/>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2"/>
          <p:cNvSpPr>
            <a:spLocks noGrp="1" noChangeArrowheads="1"/>
          </p:cNvSpPr>
          <p:nvPr>
            <p:ph type="sldNum" sz="quarter" idx="12"/>
          </p:nvPr>
        </p:nvSpPr>
        <p:spPr bwMode="auto">
          <a:noFill/>
          <a:ln>
            <a:miter lim="800000"/>
            <a:headEnd/>
            <a:tailEnd/>
          </a:ln>
        </p:spPr>
        <p:txBody>
          <a:bodyPr/>
          <a:lstStyle/>
          <a:p>
            <a:fld id="{487472D5-408C-46AD-B82D-850EC5CA4A7F}" type="slidenum">
              <a:rPr lang="en-US" altLang="ar-JO"/>
              <a:pPr/>
              <a:t>25</a:t>
            </a:fld>
            <a:endParaRPr lang="en-US" altLang="ar-JO"/>
          </a:p>
        </p:txBody>
      </p:sp>
      <p:sp>
        <p:nvSpPr>
          <p:cNvPr id="4" name="Footer Placeholder 41"/>
          <p:cNvSpPr txBox="1">
            <a:spLocks/>
          </p:cNvSpPr>
          <p:nvPr/>
        </p:nvSpPr>
        <p:spPr>
          <a:xfrm>
            <a:off x="142875" y="6492875"/>
            <a:ext cx="3200400" cy="365125"/>
          </a:xfrm>
          <a:prstGeom prst="rect">
            <a:avLst/>
          </a:prstGeom>
        </p:spPr>
        <p:txBody>
          <a:bodyPr anchor="ctr"/>
          <a:lstStyle/>
          <a:p>
            <a:pPr eaLnBrk="1" fontAlgn="auto" hangingPunct="1">
              <a:spcBef>
                <a:spcPts val="0"/>
              </a:spcBef>
              <a:spcAft>
                <a:spcPts val="0"/>
              </a:spcAft>
              <a:defRPr/>
            </a:pPr>
            <a:r>
              <a:rPr lang="en-US" sz="1400" dirty="0">
                <a:solidFill>
                  <a:schemeClr val="tx1">
                    <a:tint val="75000"/>
                  </a:schemeClr>
                </a:solidFill>
                <a:latin typeface="+mn-lt"/>
                <a:cs typeface="+mn-cs"/>
              </a:rPr>
              <a:t>MBL. BT453</a:t>
            </a:r>
          </a:p>
        </p:txBody>
      </p:sp>
      <p:cxnSp>
        <p:nvCxnSpPr>
          <p:cNvPr id="5" name="Straight Connector 4"/>
          <p:cNvCxnSpPr/>
          <p:nvPr/>
        </p:nvCxnSpPr>
        <p:spPr>
          <a:xfrm>
            <a:off x="785813" y="928688"/>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6" name="Title 4"/>
          <p:cNvSpPr txBox="1">
            <a:spLocks/>
          </p:cNvSpPr>
          <p:nvPr/>
        </p:nvSpPr>
        <p:spPr>
          <a:xfrm>
            <a:off x="819150" y="214313"/>
            <a:ext cx="7467600" cy="488950"/>
          </a:xfrm>
          <a:prstGeom prst="rect">
            <a:avLst/>
          </a:prstGeom>
        </p:spPr>
        <p:txBody>
          <a:bodyPr/>
          <a:lstStyle/>
          <a:p>
            <a:pPr algn="ctr" eaLnBrk="1" fontAlgn="auto" hangingPunct="1">
              <a:spcAft>
                <a:spcPts val="0"/>
              </a:spcAft>
              <a:defRPr/>
            </a:pPr>
            <a:r>
              <a:rPr lang="en-US" sz="3200" b="1" dirty="0" err="1">
                <a:solidFill>
                  <a:schemeClr val="accent1"/>
                </a:solidFill>
                <a:latin typeface="+mj-lt"/>
                <a:ea typeface="+mj-ea"/>
                <a:cs typeface="+mj-cs"/>
              </a:rPr>
              <a:t>Loadying</a:t>
            </a:r>
            <a:r>
              <a:rPr lang="en-US" sz="3200" b="1" dirty="0">
                <a:solidFill>
                  <a:schemeClr val="accent1"/>
                </a:solidFill>
                <a:latin typeface="+mj-lt"/>
                <a:ea typeface="+mj-ea"/>
                <a:cs typeface="+mj-cs"/>
              </a:rPr>
              <a:t> Dye &amp; DNA stain</a:t>
            </a:r>
          </a:p>
        </p:txBody>
      </p:sp>
      <p:sp>
        <p:nvSpPr>
          <p:cNvPr id="7" name="Rectangle 6"/>
          <p:cNvSpPr/>
          <p:nvPr/>
        </p:nvSpPr>
        <p:spPr>
          <a:xfrm>
            <a:off x="714375" y="1214438"/>
            <a:ext cx="7572375" cy="5105400"/>
          </a:xfrm>
          <a:prstGeom prst="rect">
            <a:avLst/>
          </a:prstGeom>
        </p:spPr>
        <p:txBody>
          <a:bodyPr>
            <a:spAutoFit/>
          </a:bodyPr>
          <a:lstStyle/>
          <a:p>
            <a:pPr eaLnBrk="1" fontAlgn="auto" hangingPunct="1">
              <a:spcBef>
                <a:spcPts val="0"/>
              </a:spcBef>
              <a:spcAft>
                <a:spcPts val="0"/>
              </a:spcAft>
              <a:defRPr/>
            </a:pPr>
            <a:r>
              <a:rPr lang="en-US" b="1" dirty="0">
                <a:solidFill>
                  <a:schemeClr val="accent1"/>
                </a:solidFill>
                <a:latin typeface="+mn-lt"/>
                <a:cs typeface="+mn-cs"/>
              </a:rPr>
              <a:t>Loading Dye</a:t>
            </a:r>
            <a:r>
              <a:rPr lang="en-US" dirty="0">
                <a:latin typeface="+mn-lt"/>
                <a:cs typeface="+mn-cs"/>
              </a:rPr>
              <a:t> </a:t>
            </a:r>
          </a:p>
          <a:p>
            <a:pPr eaLnBrk="1" fontAlgn="auto" hangingPunct="1">
              <a:spcBef>
                <a:spcPts val="0"/>
              </a:spcBef>
              <a:spcAft>
                <a:spcPts val="0"/>
              </a:spcAft>
              <a:defRPr/>
            </a:pPr>
            <a:endParaRPr lang="en-US" dirty="0">
              <a:latin typeface="+mn-lt"/>
              <a:cs typeface="+mn-cs"/>
            </a:endParaRPr>
          </a:p>
          <a:p>
            <a:pPr eaLnBrk="1" fontAlgn="auto" hangingPunct="1">
              <a:spcBef>
                <a:spcPts val="0"/>
              </a:spcBef>
              <a:spcAft>
                <a:spcPts val="0"/>
              </a:spcAft>
              <a:defRPr/>
            </a:pPr>
            <a:r>
              <a:rPr lang="en-US" dirty="0">
                <a:latin typeface="+mn-lt"/>
                <a:cs typeface="+mn-cs"/>
              </a:rPr>
              <a:t>which contains:</a:t>
            </a:r>
          </a:p>
          <a:p>
            <a:pPr marL="342900" indent="-342900" eaLnBrk="1" fontAlgn="auto" hangingPunct="1">
              <a:spcBef>
                <a:spcPts val="0"/>
              </a:spcBef>
              <a:spcAft>
                <a:spcPts val="0"/>
              </a:spcAft>
              <a:buFont typeface="+mj-lt"/>
              <a:buAutoNum type="arabicPeriod"/>
              <a:defRPr/>
            </a:pPr>
            <a:r>
              <a:rPr lang="en-US" b="1" dirty="0">
                <a:latin typeface="+mn-lt"/>
                <a:cs typeface="+mn-cs"/>
              </a:rPr>
              <a:t>Dense material (e.g. glycerol or sucrose):</a:t>
            </a:r>
            <a:r>
              <a:rPr lang="en-US" dirty="0">
                <a:latin typeface="+mn-lt"/>
                <a:cs typeface="+mn-cs"/>
              </a:rPr>
              <a:t>  to allow the sample to "fall" into the sample wells</a:t>
            </a:r>
          </a:p>
          <a:p>
            <a:pPr marL="342900" indent="-342900" eaLnBrk="1" fontAlgn="auto" hangingPunct="1">
              <a:spcBef>
                <a:spcPts val="0"/>
              </a:spcBef>
              <a:spcAft>
                <a:spcPts val="0"/>
              </a:spcAft>
              <a:buFont typeface="+mj-lt"/>
              <a:buAutoNum type="arabicPeriod"/>
              <a:defRPr/>
            </a:pPr>
            <a:endParaRPr lang="en-US" dirty="0">
              <a:latin typeface="+mn-lt"/>
              <a:cs typeface="+mn-cs"/>
            </a:endParaRPr>
          </a:p>
          <a:p>
            <a:pPr marL="342900" indent="-342900" eaLnBrk="1" fontAlgn="auto" hangingPunct="1">
              <a:spcBef>
                <a:spcPts val="0"/>
              </a:spcBef>
              <a:spcAft>
                <a:spcPts val="0"/>
              </a:spcAft>
              <a:buFont typeface="+mj-lt"/>
              <a:buAutoNum type="arabicPeriod"/>
              <a:defRPr/>
            </a:pPr>
            <a:r>
              <a:rPr lang="en-US" b="1" dirty="0">
                <a:latin typeface="+mn-lt"/>
                <a:cs typeface="+mn-cs"/>
              </a:rPr>
              <a:t>Tracking dyes (e.g. </a:t>
            </a:r>
            <a:r>
              <a:rPr lang="en-US" b="1" dirty="0" err="1">
                <a:latin typeface="+mn-lt"/>
                <a:cs typeface="+mn-cs"/>
              </a:rPr>
              <a:t>xylene</a:t>
            </a:r>
            <a:r>
              <a:rPr lang="en-US" b="1" dirty="0">
                <a:latin typeface="+mn-lt"/>
                <a:cs typeface="+mn-cs"/>
              </a:rPr>
              <a:t> </a:t>
            </a:r>
            <a:r>
              <a:rPr lang="en-US" b="1" dirty="0" err="1">
                <a:latin typeface="+mn-lt"/>
                <a:cs typeface="+mn-cs"/>
              </a:rPr>
              <a:t>cyanol</a:t>
            </a:r>
            <a:r>
              <a:rPr lang="en-US" b="1" dirty="0">
                <a:latin typeface="+mn-lt"/>
                <a:cs typeface="+mn-cs"/>
              </a:rPr>
              <a:t> / </a:t>
            </a:r>
            <a:r>
              <a:rPr lang="en-US" b="1" dirty="0" err="1">
                <a:latin typeface="+mn-lt"/>
                <a:cs typeface="+mn-cs"/>
              </a:rPr>
              <a:t>bromophenol</a:t>
            </a:r>
            <a:r>
              <a:rPr lang="en-US" b="1" dirty="0">
                <a:latin typeface="+mn-lt"/>
                <a:cs typeface="+mn-cs"/>
              </a:rPr>
              <a:t> blue)</a:t>
            </a:r>
          </a:p>
          <a:p>
            <a:pPr marL="342900" indent="-342900" eaLnBrk="1" fontAlgn="auto" hangingPunct="1">
              <a:spcBef>
                <a:spcPts val="0"/>
              </a:spcBef>
              <a:spcAft>
                <a:spcPts val="0"/>
              </a:spcAft>
              <a:buFont typeface="Arial" pitchFamily="34" charset="0"/>
              <a:buChar char="•"/>
              <a:defRPr/>
            </a:pPr>
            <a:r>
              <a:rPr lang="en-US" dirty="0">
                <a:latin typeface="+mn-lt"/>
                <a:cs typeface="+mn-cs"/>
              </a:rPr>
              <a:t>Migrate in the gel and allow visual monitoring or how far the electrophoresis has proceeded</a:t>
            </a:r>
          </a:p>
          <a:p>
            <a:pPr marL="342900" indent="-342900" eaLnBrk="1" fontAlgn="auto" hangingPunct="1">
              <a:spcBef>
                <a:spcPts val="0"/>
              </a:spcBef>
              <a:spcAft>
                <a:spcPts val="0"/>
              </a:spcAft>
              <a:buFont typeface="+mj-lt"/>
              <a:buAutoNum type="arabicPeriod"/>
              <a:defRPr/>
            </a:pPr>
            <a:endParaRPr lang="en-US" dirty="0">
              <a:latin typeface="+mn-lt"/>
              <a:cs typeface="+mn-cs"/>
            </a:endParaRPr>
          </a:p>
          <a:p>
            <a:pPr marL="342900" indent="-342900" eaLnBrk="1" fontAlgn="auto" hangingPunct="1">
              <a:spcBef>
                <a:spcPts val="0"/>
              </a:spcBef>
              <a:spcAft>
                <a:spcPts val="0"/>
              </a:spcAft>
              <a:defRPr/>
            </a:pPr>
            <a:r>
              <a:rPr lang="en-US" b="1" dirty="0">
                <a:solidFill>
                  <a:schemeClr val="accent1"/>
                </a:solidFill>
                <a:latin typeface="+mn-lt"/>
                <a:cs typeface="+mn-cs"/>
              </a:rPr>
              <a:t>DNA Stains</a:t>
            </a:r>
          </a:p>
          <a:p>
            <a:pPr marL="342900" indent="-342900" eaLnBrk="1" fontAlgn="auto" hangingPunct="1">
              <a:spcBef>
                <a:spcPts val="0"/>
              </a:spcBef>
              <a:spcAft>
                <a:spcPts val="0"/>
              </a:spcAft>
              <a:defRPr/>
            </a:pPr>
            <a:endParaRPr lang="en-US" b="1" dirty="0">
              <a:solidFill>
                <a:schemeClr val="accent1"/>
              </a:solidFill>
              <a:latin typeface="+mn-lt"/>
              <a:cs typeface="+mn-cs"/>
            </a:endParaRPr>
          </a:p>
          <a:p>
            <a:pPr marL="342900" indent="-342900" eaLnBrk="1" fontAlgn="auto" hangingPunct="1">
              <a:lnSpc>
                <a:spcPct val="90000"/>
              </a:lnSpc>
              <a:spcBef>
                <a:spcPct val="20000"/>
              </a:spcBef>
              <a:spcAft>
                <a:spcPts val="0"/>
              </a:spcAft>
              <a:buFont typeface="Arial" pitchFamily="34" charset="0"/>
              <a:buChar char="•"/>
              <a:defRPr/>
            </a:pPr>
            <a:r>
              <a:rPr lang="en-US" dirty="0">
                <a:solidFill>
                  <a:prstClr val="black"/>
                </a:solidFill>
                <a:latin typeface="+mn-lt"/>
                <a:cs typeface="+mn-cs"/>
              </a:rPr>
              <a:t>Several hydrophobic molecules containing flat aromatic and fused heterocyclic rings can insert between the stacked base pairs of DNA. These molecules are called </a:t>
            </a:r>
            <a:r>
              <a:rPr lang="en-US" b="1" dirty="0">
                <a:solidFill>
                  <a:schemeClr val="accent1"/>
                </a:solidFill>
                <a:latin typeface="+mn-lt"/>
                <a:cs typeface="+mn-cs"/>
              </a:rPr>
              <a:t>intercalating agents</a:t>
            </a:r>
            <a:r>
              <a:rPr lang="en-US" dirty="0">
                <a:solidFill>
                  <a:srgbClr val="1F497D"/>
                </a:solidFill>
                <a:latin typeface="+mn-lt"/>
                <a:cs typeface="+mn-cs"/>
              </a:rPr>
              <a:t>.</a:t>
            </a:r>
          </a:p>
          <a:p>
            <a:pPr marL="342900" indent="-342900" eaLnBrk="1" fontAlgn="auto" hangingPunct="1">
              <a:lnSpc>
                <a:spcPct val="90000"/>
              </a:lnSpc>
              <a:spcBef>
                <a:spcPct val="20000"/>
              </a:spcBef>
              <a:spcAft>
                <a:spcPts val="0"/>
              </a:spcAft>
              <a:buFont typeface="Arial" pitchFamily="34" charset="0"/>
              <a:buChar char="•"/>
              <a:defRPr/>
            </a:pPr>
            <a:endParaRPr lang="en-US" dirty="0">
              <a:solidFill>
                <a:srgbClr val="1F497D"/>
              </a:solidFill>
              <a:latin typeface="+mn-lt"/>
              <a:cs typeface="+mn-cs"/>
            </a:endParaRPr>
          </a:p>
          <a:p>
            <a:pPr marL="342900" indent="-342900" eaLnBrk="1" fontAlgn="auto" hangingPunct="1">
              <a:lnSpc>
                <a:spcPct val="90000"/>
              </a:lnSpc>
              <a:spcBef>
                <a:spcPct val="20000"/>
              </a:spcBef>
              <a:spcAft>
                <a:spcPts val="0"/>
              </a:spcAft>
              <a:buFont typeface="Arial" pitchFamily="34" charset="0"/>
              <a:buChar char="•"/>
              <a:defRPr/>
            </a:pPr>
            <a:r>
              <a:rPr lang="en-US" dirty="0">
                <a:solidFill>
                  <a:prstClr val="black"/>
                </a:solidFill>
                <a:latin typeface="+mn-lt"/>
                <a:cs typeface="+mn-cs"/>
              </a:rPr>
              <a:t>Intercalating agents are potential</a:t>
            </a:r>
            <a:r>
              <a:rPr lang="en-US" dirty="0">
                <a:solidFill>
                  <a:srgbClr val="1F497D"/>
                </a:solidFill>
                <a:latin typeface="+mn-lt"/>
                <a:cs typeface="+mn-cs"/>
              </a:rPr>
              <a:t> </a:t>
            </a:r>
            <a:r>
              <a:rPr lang="en-US" dirty="0">
                <a:solidFill>
                  <a:prstClr val="black"/>
                </a:solidFill>
                <a:latin typeface="+mn-lt"/>
                <a:cs typeface="+mn-cs"/>
              </a:rPr>
              <a:t>Cancer-inducing reagents.  </a:t>
            </a:r>
          </a:p>
          <a:p>
            <a:pPr marL="342900" indent="-342900" eaLnBrk="1" fontAlgn="auto" hangingPunct="1">
              <a:spcBef>
                <a:spcPts val="0"/>
              </a:spcBef>
              <a:spcAft>
                <a:spcPts val="0"/>
              </a:spcAft>
              <a:defRPr/>
            </a:pPr>
            <a:endParaRPr lang="en-US" b="1" dirty="0">
              <a:solidFill>
                <a:schemeClr val="accent1"/>
              </a:solidFill>
              <a:latin typeface="+mn-lt"/>
              <a:cs typeface="+mn-cs"/>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a:t>MBL</a:t>
            </a:r>
          </a:p>
        </p:txBody>
      </p:sp>
      <p:sp>
        <p:nvSpPr>
          <p:cNvPr id="52227" name="Slide Number Placeholder 2"/>
          <p:cNvSpPr>
            <a:spLocks noGrp="1" noChangeArrowheads="1"/>
          </p:cNvSpPr>
          <p:nvPr>
            <p:ph type="sldNum" sz="quarter" idx="12"/>
          </p:nvPr>
        </p:nvSpPr>
        <p:spPr bwMode="auto">
          <a:noFill/>
          <a:ln>
            <a:miter lim="800000"/>
            <a:headEnd/>
            <a:tailEnd/>
          </a:ln>
        </p:spPr>
        <p:txBody>
          <a:bodyPr/>
          <a:lstStyle/>
          <a:p>
            <a:fld id="{C8B7E71E-B05C-4A06-B7C9-7B9D3D97390C}" type="slidenum">
              <a:rPr lang="en-US" altLang="ar-JO"/>
              <a:pPr/>
              <a:t>26</a:t>
            </a:fld>
            <a:endParaRPr lang="en-US" altLang="ar-JO"/>
          </a:p>
        </p:txBody>
      </p:sp>
      <p:sp>
        <p:nvSpPr>
          <p:cNvPr id="4" name="Rectangle 1026"/>
          <p:cNvSpPr txBox="1">
            <a:spLocks noChangeArrowheads="1"/>
          </p:cNvSpPr>
          <p:nvPr/>
        </p:nvSpPr>
        <p:spPr>
          <a:xfrm>
            <a:off x="685800" y="228600"/>
            <a:ext cx="7772400" cy="1143000"/>
          </a:xfrm>
          <a:prstGeom prst="rect">
            <a:avLst/>
          </a:prstGeom>
        </p:spPr>
        <p:txBody>
          <a:bodyPr/>
          <a:lstStyle/>
          <a:p>
            <a:pPr algn="ctr" eaLnBrk="1" fontAlgn="auto" hangingPunct="1">
              <a:spcAft>
                <a:spcPts val="0"/>
              </a:spcAft>
              <a:defRPr/>
            </a:pPr>
            <a:endParaRPr lang="en-US" sz="3200" dirty="0">
              <a:latin typeface="Tahoma" pitchFamily="34" charset="0"/>
              <a:ea typeface="+mj-ea"/>
              <a:cs typeface="+mj-cs"/>
            </a:endParaRPr>
          </a:p>
        </p:txBody>
      </p:sp>
      <p:pic>
        <p:nvPicPr>
          <p:cNvPr id="52229" name="Picture 1027" descr="UVGEL"/>
          <p:cNvPicPr>
            <a:picLocks noChangeAspect="1" noChangeArrowheads="1"/>
          </p:cNvPicPr>
          <p:nvPr/>
        </p:nvPicPr>
        <p:blipFill>
          <a:blip r:embed="rId3"/>
          <a:srcRect/>
          <a:stretch>
            <a:fillRect/>
          </a:stretch>
        </p:blipFill>
        <p:spPr bwMode="auto">
          <a:xfrm>
            <a:off x="2643188" y="1285875"/>
            <a:ext cx="3929062" cy="2711450"/>
          </a:xfrm>
          <a:prstGeom prst="rect">
            <a:avLst/>
          </a:prstGeom>
          <a:noFill/>
          <a:ln w="9525">
            <a:noFill/>
            <a:miter lim="800000"/>
            <a:headEnd/>
            <a:tailEnd/>
          </a:ln>
        </p:spPr>
      </p:pic>
      <p:sp>
        <p:nvSpPr>
          <p:cNvPr id="6" name="Text Box 1028"/>
          <p:cNvSpPr txBox="1">
            <a:spLocks noChangeArrowheads="1"/>
          </p:cNvSpPr>
          <p:nvPr/>
        </p:nvSpPr>
        <p:spPr bwMode="auto">
          <a:xfrm>
            <a:off x="638175" y="4737100"/>
            <a:ext cx="8077200" cy="1477963"/>
          </a:xfrm>
          <a:prstGeom prst="rect">
            <a:avLst/>
          </a:prstGeom>
          <a:noFill/>
          <a:ln w="9525">
            <a:noFill/>
            <a:miter lim="800000"/>
            <a:headEnd/>
            <a:tailEnd/>
          </a:ln>
          <a:effectLst/>
        </p:spPr>
        <p:txBody>
          <a:bodyPr>
            <a:spAutoFit/>
          </a:bodyPr>
          <a:lstStyle/>
          <a:p>
            <a:pPr marL="342900" indent="-342900" eaLnBrk="1" fontAlgn="auto" hangingPunct="1">
              <a:spcBef>
                <a:spcPts val="0"/>
              </a:spcBef>
              <a:spcAft>
                <a:spcPts val="0"/>
              </a:spcAft>
              <a:buFont typeface="Arial" pitchFamily="34" charset="0"/>
              <a:buChar char="•"/>
              <a:defRPr/>
            </a:pPr>
            <a:r>
              <a:rPr lang="en-US" dirty="0">
                <a:latin typeface="+mj-lt"/>
                <a:cs typeface="+mn-cs"/>
              </a:rPr>
              <a:t>When </a:t>
            </a:r>
            <a:r>
              <a:rPr lang="en-US" dirty="0" err="1">
                <a:latin typeface="+mj-lt"/>
                <a:cs typeface="+mn-cs"/>
              </a:rPr>
              <a:t>ethidium</a:t>
            </a:r>
            <a:r>
              <a:rPr lang="en-US" dirty="0">
                <a:latin typeface="+mj-lt"/>
                <a:cs typeface="+mn-cs"/>
              </a:rPr>
              <a:t> bromide is exposed to ultraviolet light, it will fluoresce with an orange </a:t>
            </a:r>
            <a:r>
              <a:rPr lang="en-US" dirty="0" err="1">
                <a:latin typeface="+mj-lt"/>
                <a:cs typeface="+mn-cs"/>
              </a:rPr>
              <a:t>colour</a:t>
            </a:r>
            <a:r>
              <a:rPr lang="en-US" dirty="0">
                <a:latin typeface="+mj-lt"/>
                <a:cs typeface="+mn-cs"/>
              </a:rPr>
              <a:t>, intensifying almost 20-fold after binding to DNA.</a:t>
            </a:r>
          </a:p>
          <a:p>
            <a:pPr marL="342900" indent="-342900" eaLnBrk="1" fontAlgn="auto" hangingPunct="1">
              <a:spcBef>
                <a:spcPts val="0"/>
              </a:spcBef>
              <a:spcAft>
                <a:spcPts val="0"/>
              </a:spcAft>
              <a:buFont typeface="Arial" pitchFamily="34" charset="0"/>
              <a:buChar char="•"/>
              <a:defRPr/>
            </a:pPr>
            <a:endParaRPr lang="en-US" dirty="0">
              <a:latin typeface="+mj-lt"/>
              <a:cs typeface="+mn-cs"/>
            </a:endParaRPr>
          </a:p>
          <a:p>
            <a:pPr marL="342900" indent="-342900" eaLnBrk="1" fontAlgn="auto" hangingPunct="1">
              <a:spcBef>
                <a:spcPts val="0"/>
              </a:spcBef>
              <a:spcAft>
                <a:spcPts val="0"/>
              </a:spcAft>
              <a:buFont typeface="Arial" pitchFamily="34" charset="0"/>
              <a:buChar char="•"/>
              <a:defRPr/>
            </a:pPr>
            <a:r>
              <a:rPr lang="en-US" dirty="0">
                <a:latin typeface="+mj-lt"/>
                <a:cs typeface="+mn-cs"/>
              </a:rPr>
              <a:t>Each band that you see is a collection of millions of DNA molecules, all of the same length!!</a:t>
            </a:r>
          </a:p>
        </p:txBody>
      </p:sp>
      <p:sp>
        <p:nvSpPr>
          <p:cNvPr id="7" name="Footer Placeholder 41"/>
          <p:cNvSpPr txBox="1">
            <a:spLocks/>
          </p:cNvSpPr>
          <p:nvPr/>
        </p:nvSpPr>
        <p:spPr>
          <a:xfrm>
            <a:off x="142875" y="6492875"/>
            <a:ext cx="3200400" cy="365125"/>
          </a:xfrm>
          <a:prstGeom prst="rect">
            <a:avLst/>
          </a:prstGeom>
        </p:spPr>
        <p:txBody>
          <a:bodyPr anchor="ctr"/>
          <a:lstStyle/>
          <a:p>
            <a:pPr eaLnBrk="1" fontAlgn="auto" hangingPunct="1">
              <a:spcBef>
                <a:spcPts val="0"/>
              </a:spcBef>
              <a:spcAft>
                <a:spcPts val="0"/>
              </a:spcAft>
              <a:defRPr/>
            </a:pPr>
            <a:r>
              <a:rPr lang="en-US" sz="1400" dirty="0">
                <a:solidFill>
                  <a:schemeClr val="tx1">
                    <a:tint val="75000"/>
                  </a:schemeClr>
                </a:solidFill>
                <a:latin typeface="+mn-lt"/>
                <a:cs typeface="+mn-cs"/>
              </a:rPr>
              <a:t>MBL. BT453</a:t>
            </a:r>
          </a:p>
        </p:txBody>
      </p:sp>
      <p:cxnSp>
        <p:nvCxnSpPr>
          <p:cNvPr id="8" name="Straight Connector 7"/>
          <p:cNvCxnSpPr/>
          <p:nvPr/>
        </p:nvCxnSpPr>
        <p:spPr>
          <a:xfrm>
            <a:off x="785813" y="928688"/>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itle 4"/>
          <p:cNvSpPr txBox="1">
            <a:spLocks/>
          </p:cNvSpPr>
          <p:nvPr/>
        </p:nvSpPr>
        <p:spPr>
          <a:xfrm>
            <a:off x="819150" y="296863"/>
            <a:ext cx="7467600" cy="488950"/>
          </a:xfrm>
          <a:prstGeom prst="rect">
            <a:avLst/>
          </a:prstGeom>
        </p:spPr>
        <p:txBody>
          <a:bodyPr/>
          <a:lstStyle/>
          <a:p>
            <a:pPr algn="ctr" eaLnBrk="1" fontAlgn="auto" hangingPunct="1">
              <a:spcAft>
                <a:spcPts val="0"/>
              </a:spcAft>
              <a:defRPr/>
            </a:pPr>
            <a:r>
              <a:rPr lang="en-US" sz="2400" b="1" dirty="0">
                <a:solidFill>
                  <a:schemeClr val="accent1"/>
                </a:solidFill>
                <a:latin typeface="+mj-lt"/>
                <a:ea typeface="+mj-ea"/>
                <a:cs typeface="+mj-cs"/>
              </a:rPr>
              <a:t>An ethidium-stained gel photographed under UV light</a:t>
            </a:r>
          </a:p>
        </p:txBody>
      </p:sp>
      <p:sp>
        <p:nvSpPr>
          <p:cNvPr id="52234" name="TextBox 10"/>
          <p:cNvSpPr txBox="1">
            <a:spLocks noChangeArrowheads="1"/>
          </p:cNvSpPr>
          <p:nvPr/>
        </p:nvSpPr>
        <p:spPr bwMode="auto">
          <a:xfrm>
            <a:off x="2643188" y="4071938"/>
            <a:ext cx="3929062" cy="461962"/>
          </a:xfrm>
          <a:prstGeom prst="rect">
            <a:avLst/>
          </a:prstGeom>
          <a:noFill/>
          <a:ln w="9525">
            <a:noFill/>
            <a:miter lim="800000"/>
            <a:headEnd/>
            <a:tailEnd/>
          </a:ln>
        </p:spPr>
        <p:txBody>
          <a:bodyPr>
            <a:spAutoFit/>
          </a:bodyPr>
          <a:lstStyle/>
          <a:p>
            <a:pPr algn="ctr" eaLnBrk="1" hangingPunct="1"/>
            <a:r>
              <a:rPr lang="en-US" altLang="ar-JO" sz="1200">
                <a:solidFill>
                  <a:schemeClr val="accent1"/>
                </a:solidFill>
                <a:latin typeface="Calibri" pitchFamily="34" charset="0"/>
              </a:rPr>
              <a:t>http://www.ams.cmu.ac.th/mt/clinchemwebsite/teaching/510204/ElectrophoresisI204_RCr.ppt</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274" name="Group 17"/>
          <p:cNvGrpSpPr>
            <a:grpSpLocks/>
          </p:cNvGrpSpPr>
          <p:nvPr/>
        </p:nvGrpSpPr>
        <p:grpSpPr bwMode="auto">
          <a:xfrm>
            <a:off x="1285875" y="1500188"/>
            <a:ext cx="5969000" cy="4357687"/>
            <a:chOff x="1285852" y="1071546"/>
            <a:chExt cx="5968596" cy="4357718"/>
          </a:xfrm>
        </p:grpSpPr>
        <p:pic>
          <p:nvPicPr>
            <p:cNvPr id="54286" name="Picture 3" descr="D:\Garrett\ch12\GA12_16.GIF"/>
            <p:cNvPicPr>
              <a:picLocks noChangeAspect="1" noChangeArrowheads="1"/>
            </p:cNvPicPr>
            <p:nvPr/>
          </p:nvPicPr>
          <p:blipFill>
            <a:blip r:embed="rId3"/>
            <a:srcRect t="27419" b="12122"/>
            <a:stretch>
              <a:fillRect/>
            </a:stretch>
          </p:blipFill>
          <p:spPr bwMode="auto">
            <a:xfrm>
              <a:off x="1285852" y="1142984"/>
              <a:ext cx="5968596" cy="4286280"/>
            </a:xfrm>
            <a:prstGeom prst="rect">
              <a:avLst/>
            </a:prstGeom>
            <a:noFill/>
            <a:ln w="9525">
              <a:noFill/>
              <a:miter lim="800000"/>
              <a:headEnd/>
              <a:tailEnd/>
            </a:ln>
          </p:spPr>
        </p:pic>
        <p:sp>
          <p:nvSpPr>
            <p:cNvPr id="17" name="Rectangle 16"/>
            <p:cNvSpPr/>
            <p:nvPr/>
          </p:nvSpPr>
          <p:spPr>
            <a:xfrm>
              <a:off x="2000179" y="1071546"/>
              <a:ext cx="3785932" cy="2143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54275" name="Slide Number Placeholder 2"/>
          <p:cNvSpPr>
            <a:spLocks noGrp="1" noChangeArrowheads="1"/>
          </p:cNvSpPr>
          <p:nvPr>
            <p:ph type="sldNum" sz="quarter" idx="12"/>
          </p:nvPr>
        </p:nvSpPr>
        <p:spPr bwMode="auto">
          <a:noFill/>
          <a:ln>
            <a:miter lim="800000"/>
            <a:headEnd/>
            <a:tailEnd/>
          </a:ln>
        </p:spPr>
        <p:txBody>
          <a:bodyPr/>
          <a:lstStyle/>
          <a:p>
            <a:fld id="{A4571C0E-8C19-46D2-B318-7EA32F2D7C79}" type="slidenum">
              <a:rPr lang="en-US" altLang="ar-JO"/>
              <a:pPr/>
              <a:t>27</a:t>
            </a:fld>
            <a:endParaRPr lang="en-US" altLang="ar-JO"/>
          </a:p>
        </p:txBody>
      </p:sp>
      <p:sp>
        <p:nvSpPr>
          <p:cNvPr id="54276" name="Line 6"/>
          <p:cNvSpPr>
            <a:spLocks noChangeShapeType="1"/>
          </p:cNvSpPr>
          <p:nvPr/>
        </p:nvSpPr>
        <p:spPr bwMode="auto">
          <a:xfrm flipH="1">
            <a:off x="7069138" y="2786063"/>
            <a:ext cx="838200" cy="0"/>
          </a:xfrm>
          <a:prstGeom prst="line">
            <a:avLst/>
          </a:prstGeom>
          <a:noFill/>
          <a:ln w="38100">
            <a:solidFill>
              <a:schemeClr val="tx1"/>
            </a:solidFill>
            <a:miter lim="800000"/>
            <a:headEnd/>
            <a:tailEnd type="triangle" w="med" len="med"/>
          </a:ln>
        </p:spPr>
        <p:txBody>
          <a:bodyPr wrap="none"/>
          <a:lstStyle/>
          <a:p>
            <a:endParaRPr lang="ar-JO"/>
          </a:p>
        </p:txBody>
      </p:sp>
      <p:sp>
        <p:nvSpPr>
          <p:cNvPr id="54277" name="Line 7"/>
          <p:cNvSpPr>
            <a:spLocks noChangeShapeType="1"/>
          </p:cNvSpPr>
          <p:nvPr/>
        </p:nvSpPr>
        <p:spPr bwMode="auto">
          <a:xfrm flipH="1">
            <a:off x="7221538" y="3206750"/>
            <a:ext cx="838200" cy="0"/>
          </a:xfrm>
          <a:prstGeom prst="line">
            <a:avLst/>
          </a:prstGeom>
          <a:noFill/>
          <a:ln w="38100">
            <a:solidFill>
              <a:schemeClr val="tx1"/>
            </a:solidFill>
            <a:miter lim="800000"/>
            <a:headEnd/>
            <a:tailEnd type="triangle" w="med" len="med"/>
          </a:ln>
        </p:spPr>
        <p:txBody>
          <a:bodyPr wrap="none"/>
          <a:lstStyle/>
          <a:p>
            <a:endParaRPr lang="ar-JO"/>
          </a:p>
        </p:txBody>
      </p:sp>
      <p:sp>
        <p:nvSpPr>
          <p:cNvPr id="54278" name="Line 8"/>
          <p:cNvSpPr>
            <a:spLocks noChangeShapeType="1"/>
          </p:cNvSpPr>
          <p:nvPr/>
        </p:nvSpPr>
        <p:spPr bwMode="auto">
          <a:xfrm flipH="1">
            <a:off x="7234238" y="3643313"/>
            <a:ext cx="838200" cy="0"/>
          </a:xfrm>
          <a:prstGeom prst="line">
            <a:avLst/>
          </a:prstGeom>
          <a:noFill/>
          <a:ln w="38100">
            <a:solidFill>
              <a:schemeClr val="tx1"/>
            </a:solidFill>
            <a:miter lim="800000"/>
            <a:headEnd/>
            <a:tailEnd type="triangle" w="med" len="med"/>
          </a:ln>
        </p:spPr>
        <p:txBody>
          <a:bodyPr wrap="none"/>
          <a:lstStyle/>
          <a:p>
            <a:endParaRPr lang="ar-JO"/>
          </a:p>
        </p:txBody>
      </p:sp>
      <p:sp>
        <p:nvSpPr>
          <p:cNvPr id="54279" name="Line 9"/>
          <p:cNvSpPr>
            <a:spLocks noChangeShapeType="1"/>
          </p:cNvSpPr>
          <p:nvPr/>
        </p:nvSpPr>
        <p:spPr bwMode="auto">
          <a:xfrm flipH="1">
            <a:off x="6992938" y="4071938"/>
            <a:ext cx="838200" cy="0"/>
          </a:xfrm>
          <a:prstGeom prst="line">
            <a:avLst/>
          </a:prstGeom>
          <a:noFill/>
          <a:ln w="38100">
            <a:solidFill>
              <a:schemeClr val="tx1"/>
            </a:solidFill>
            <a:miter lim="800000"/>
            <a:headEnd/>
            <a:tailEnd type="triangle" w="med" len="med"/>
          </a:ln>
        </p:spPr>
        <p:txBody>
          <a:bodyPr wrap="none"/>
          <a:lstStyle/>
          <a:p>
            <a:endParaRPr lang="ar-JO"/>
          </a:p>
        </p:txBody>
      </p:sp>
      <p:sp>
        <p:nvSpPr>
          <p:cNvPr id="54280" name="Line 10"/>
          <p:cNvSpPr>
            <a:spLocks noChangeShapeType="1"/>
          </p:cNvSpPr>
          <p:nvPr/>
        </p:nvSpPr>
        <p:spPr bwMode="auto">
          <a:xfrm flipH="1">
            <a:off x="6992938" y="4429125"/>
            <a:ext cx="838200" cy="0"/>
          </a:xfrm>
          <a:prstGeom prst="line">
            <a:avLst/>
          </a:prstGeom>
          <a:noFill/>
          <a:ln w="38100">
            <a:solidFill>
              <a:schemeClr val="tx1"/>
            </a:solidFill>
            <a:miter lim="800000"/>
            <a:headEnd/>
            <a:tailEnd type="triangle" w="med" len="med"/>
          </a:ln>
        </p:spPr>
        <p:txBody>
          <a:bodyPr wrap="none"/>
          <a:lstStyle/>
          <a:p>
            <a:endParaRPr lang="ar-JO"/>
          </a:p>
        </p:txBody>
      </p:sp>
      <p:sp>
        <p:nvSpPr>
          <p:cNvPr id="54281" name="Line 11"/>
          <p:cNvSpPr>
            <a:spLocks noChangeShapeType="1"/>
          </p:cNvSpPr>
          <p:nvPr/>
        </p:nvSpPr>
        <p:spPr bwMode="auto">
          <a:xfrm flipH="1">
            <a:off x="7221538" y="4757738"/>
            <a:ext cx="838200" cy="0"/>
          </a:xfrm>
          <a:prstGeom prst="line">
            <a:avLst/>
          </a:prstGeom>
          <a:noFill/>
          <a:ln w="38100">
            <a:solidFill>
              <a:schemeClr val="tx1"/>
            </a:solidFill>
            <a:miter lim="800000"/>
            <a:headEnd/>
            <a:tailEnd type="triangle" w="med" len="med"/>
          </a:ln>
        </p:spPr>
        <p:txBody>
          <a:bodyPr wrap="none"/>
          <a:lstStyle/>
          <a:p>
            <a:endParaRPr lang="ar-JO"/>
          </a:p>
        </p:txBody>
      </p:sp>
      <p:sp>
        <p:nvSpPr>
          <p:cNvPr id="14" name="Footer Placeholder 41"/>
          <p:cNvSpPr txBox="1">
            <a:spLocks/>
          </p:cNvSpPr>
          <p:nvPr/>
        </p:nvSpPr>
        <p:spPr>
          <a:xfrm>
            <a:off x="142875" y="6492875"/>
            <a:ext cx="3200400" cy="365125"/>
          </a:xfrm>
          <a:prstGeom prst="rect">
            <a:avLst/>
          </a:prstGeom>
        </p:spPr>
        <p:txBody>
          <a:bodyPr anchor="ctr"/>
          <a:lstStyle/>
          <a:p>
            <a:pPr eaLnBrk="1" fontAlgn="auto" hangingPunct="1">
              <a:spcBef>
                <a:spcPts val="0"/>
              </a:spcBef>
              <a:spcAft>
                <a:spcPts val="0"/>
              </a:spcAft>
              <a:defRPr/>
            </a:pPr>
            <a:r>
              <a:rPr lang="en-US" sz="1400" dirty="0">
                <a:solidFill>
                  <a:schemeClr val="tx1">
                    <a:tint val="75000"/>
                  </a:schemeClr>
                </a:solidFill>
                <a:latin typeface="+mn-lt"/>
                <a:cs typeface="+mn-cs"/>
              </a:rPr>
              <a:t>MBL. BT453</a:t>
            </a:r>
          </a:p>
        </p:txBody>
      </p:sp>
      <p:cxnSp>
        <p:nvCxnSpPr>
          <p:cNvPr id="15" name="Straight Connector 14"/>
          <p:cNvCxnSpPr/>
          <p:nvPr/>
        </p:nvCxnSpPr>
        <p:spPr>
          <a:xfrm>
            <a:off x="785813" y="928688"/>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6" name="Title 4"/>
          <p:cNvSpPr txBox="1">
            <a:spLocks/>
          </p:cNvSpPr>
          <p:nvPr/>
        </p:nvSpPr>
        <p:spPr>
          <a:xfrm>
            <a:off x="819150" y="214313"/>
            <a:ext cx="7467600" cy="488950"/>
          </a:xfrm>
          <a:prstGeom prst="rect">
            <a:avLst/>
          </a:prstGeom>
        </p:spPr>
        <p:txBody>
          <a:bodyPr/>
          <a:lstStyle/>
          <a:p>
            <a:pPr algn="ctr" eaLnBrk="1" fontAlgn="auto" hangingPunct="1">
              <a:spcAft>
                <a:spcPts val="0"/>
              </a:spcAft>
              <a:defRPr/>
            </a:pPr>
            <a:r>
              <a:rPr lang="en-US" sz="3200" b="1" dirty="0">
                <a:solidFill>
                  <a:schemeClr val="accent1"/>
                </a:solidFill>
                <a:latin typeface="+mj-lt"/>
                <a:ea typeface="+mj-ea"/>
                <a:cs typeface="+mj-cs"/>
              </a:rPr>
              <a:t>DNA stains</a:t>
            </a:r>
          </a:p>
        </p:txBody>
      </p:sp>
      <p:sp>
        <p:nvSpPr>
          <p:cNvPr id="54285" name="TextBox 18"/>
          <p:cNvSpPr txBox="1">
            <a:spLocks noChangeArrowheads="1"/>
          </p:cNvSpPr>
          <p:nvPr/>
        </p:nvSpPr>
        <p:spPr bwMode="auto">
          <a:xfrm>
            <a:off x="2214563" y="6000750"/>
            <a:ext cx="4367212" cy="276225"/>
          </a:xfrm>
          <a:prstGeom prst="rect">
            <a:avLst/>
          </a:prstGeom>
          <a:noFill/>
          <a:ln w="9525">
            <a:noFill/>
            <a:miter lim="800000"/>
            <a:headEnd/>
            <a:tailEnd/>
          </a:ln>
        </p:spPr>
        <p:txBody>
          <a:bodyPr wrap="none">
            <a:spAutoFit/>
          </a:bodyPr>
          <a:lstStyle/>
          <a:p>
            <a:pPr eaLnBrk="1" hangingPunct="1"/>
            <a:r>
              <a:rPr lang="en-US" altLang="ar-JO" sz="1200">
                <a:solidFill>
                  <a:schemeClr val="accent1"/>
                </a:solidFill>
                <a:latin typeface="Calibri" pitchFamily="34" charset="0"/>
              </a:rPr>
              <a:t>http://faculty.ksu.edu.sa/73637/Documents/DNA%20isolation.ppt.</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2"/>
          <p:cNvSpPr>
            <a:spLocks noGrp="1" noChangeArrowheads="1"/>
          </p:cNvSpPr>
          <p:nvPr>
            <p:ph type="sldNum" sz="quarter" idx="12"/>
          </p:nvPr>
        </p:nvSpPr>
        <p:spPr bwMode="auto">
          <a:noFill/>
          <a:ln>
            <a:miter lim="800000"/>
            <a:headEnd/>
            <a:tailEnd/>
          </a:ln>
        </p:spPr>
        <p:txBody>
          <a:bodyPr/>
          <a:lstStyle/>
          <a:p>
            <a:fld id="{978B59A5-A433-495F-97FA-F6E782A0BA63}" type="slidenum">
              <a:rPr lang="en-US" altLang="ar-JO"/>
              <a:pPr/>
              <a:t>28</a:t>
            </a:fld>
            <a:endParaRPr lang="en-US" altLang="ar-JO"/>
          </a:p>
        </p:txBody>
      </p:sp>
      <p:sp>
        <p:nvSpPr>
          <p:cNvPr id="4" name="Footer Placeholder 41"/>
          <p:cNvSpPr txBox="1">
            <a:spLocks/>
          </p:cNvSpPr>
          <p:nvPr/>
        </p:nvSpPr>
        <p:spPr>
          <a:xfrm>
            <a:off x="142875" y="6492875"/>
            <a:ext cx="3200400" cy="365125"/>
          </a:xfrm>
          <a:prstGeom prst="rect">
            <a:avLst/>
          </a:prstGeom>
        </p:spPr>
        <p:txBody>
          <a:bodyPr anchor="ctr"/>
          <a:lstStyle/>
          <a:p>
            <a:pPr eaLnBrk="1" fontAlgn="auto" hangingPunct="1">
              <a:spcBef>
                <a:spcPts val="0"/>
              </a:spcBef>
              <a:spcAft>
                <a:spcPts val="0"/>
              </a:spcAft>
              <a:defRPr/>
            </a:pPr>
            <a:r>
              <a:rPr lang="en-US" sz="1400" dirty="0">
                <a:solidFill>
                  <a:schemeClr val="tx1">
                    <a:tint val="75000"/>
                  </a:schemeClr>
                </a:solidFill>
                <a:latin typeface="+mn-lt"/>
                <a:cs typeface="+mn-cs"/>
              </a:rPr>
              <a:t>MBL. BT453</a:t>
            </a:r>
          </a:p>
        </p:txBody>
      </p:sp>
      <p:cxnSp>
        <p:nvCxnSpPr>
          <p:cNvPr id="5" name="Straight Connector 4"/>
          <p:cNvCxnSpPr/>
          <p:nvPr/>
        </p:nvCxnSpPr>
        <p:spPr>
          <a:xfrm>
            <a:off x="785813" y="928688"/>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6" name="Title 4"/>
          <p:cNvSpPr txBox="1">
            <a:spLocks/>
          </p:cNvSpPr>
          <p:nvPr/>
        </p:nvSpPr>
        <p:spPr>
          <a:xfrm>
            <a:off x="819150" y="214313"/>
            <a:ext cx="7467600" cy="488950"/>
          </a:xfrm>
          <a:prstGeom prst="rect">
            <a:avLst/>
          </a:prstGeom>
        </p:spPr>
        <p:txBody>
          <a:bodyPr/>
          <a:lstStyle/>
          <a:p>
            <a:pPr algn="ctr" eaLnBrk="1" fontAlgn="auto" hangingPunct="1">
              <a:spcAft>
                <a:spcPts val="0"/>
              </a:spcAft>
              <a:defRPr/>
            </a:pPr>
            <a:r>
              <a:rPr lang="en-US" sz="3200" b="1" dirty="0">
                <a:solidFill>
                  <a:schemeClr val="accent1"/>
                </a:solidFill>
                <a:latin typeface="+mj-lt"/>
                <a:ea typeface="+mj-ea"/>
                <a:cs typeface="+mj-cs"/>
              </a:rPr>
              <a:t>DNA markers</a:t>
            </a:r>
          </a:p>
        </p:txBody>
      </p:sp>
      <p:sp>
        <p:nvSpPr>
          <p:cNvPr id="56326" name="Rectangle 6"/>
          <p:cNvSpPr>
            <a:spLocks noChangeArrowheads="1"/>
          </p:cNvSpPr>
          <p:nvPr/>
        </p:nvSpPr>
        <p:spPr bwMode="auto">
          <a:xfrm>
            <a:off x="1428750" y="1214438"/>
            <a:ext cx="6146800" cy="369887"/>
          </a:xfrm>
          <a:prstGeom prst="rect">
            <a:avLst/>
          </a:prstGeom>
          <a:noFill/>
          <a:ln w="9525">
            <a:noFill/>
            <a:miter lim="800000"/>
            <a:headEnd/>
            <a:tailEnd/>
          </a:ln>
        </p:spPr>
        <p:txBody>
          <a:bodyPr wrap="none">
            <a:spAutoFit/>
          </a:bodyPr>
          <a:lstStyle/>
          <a:p>
            <a:pPr eaLnBrk="1" hangingPunct="1"/>
            <a:r>
              <a:rPr lang="en-US" altLang="ar-JO" b="1">
                <a:latin typeface="Calibri" pitchFamily="34" charset="0"/>
                <a:sym typeface="Wingdings" pitchFamily="2" charset="2"/>
              </a:rPr>
              <a:t>DNA markers </a:t>
            </a:r>
            <a:r>
              <a:rPr lang="en-US" altLang="ar-JO">
                <a:latin typeface="Calibri" pitchFamily="34" charset="0"/>
                <a:sym typeface="Wingdings" pitchFamily="2" charset="2"/>
              </a:rPr>
              <a:t>are a mixture of DNA fragments of known lengths</a:t>
            </a:r>
            <a:endParaRPr lang="en-US" altLang="ar-JO">
              <a:latin typeface="Calibri" pitchFamily="34" charset="0"/>
            </a:endParaRPr>
          </a:p>
        </p:txBody>
      </p:sp>
      <p:sp>
        <p:nvSpPr>
          <p:cNvPr id="56327" name="Rectangle 8"/>
          <p:cNvSpPr>
            <a:spLocks noChangeArrowheads="1"/>
          </p:cNvSpPr>
          <p:nvPr/>
        </p:nvSpPr>
        <p:spPr bwMode="auto">
          <a:xfrm>
            <a:off x="1928813" y="6215063"/>
            <a:ext cx="1485900" cy="276225"/>
          </a:xfrm>
          <a:prstGeom prst="rect">
            <a:avLst/>
          </a:prstGeom>
          <a:noFill/>
          <a:ln w="9525">
            <a:noFill/>
            <a:miter lim="800000"/>
            <a:headEnd/>
            <a:tailEnd/>
          </a:ln>
        </p:spPr>
        <p:txBody>
          <a:bodyPr wrap="none">
            <a:spAutoFit/>
          </a:bodyPr>
          <a:lstStyle/>
          <a:p>
            <a:pPr eaLnBrk="1" hangingPunct="1"/>
            <a:r>
              <a:rPr lang="en-US" altLang="ar-JO" sz="1200">
                <a:solidFill>
                  <a:schemeClr val="accent1"/>
                </a:solidFill>
                <a:latin typeface="Calibri" pitchFamily="34" charset="0"/>
              </a:rPr>
              <a:t>www.fermentas.com</a:t>
            </a:r>
          </a:p>
        </p:txBody>
      </p:sp>
      <p:pic>
        <p:nvPicPr>
          <p:cNvPr id="56328" name="Picture 2"/>
          <p:cNvPicPr>
            <a:picLocks noChangeAspect="1" noChangeArrowheads="1"/>
          </p:cNvPicPr>
          <p:nvPr/>
        </p:nvPicPr>
        <p:blipFill>
          <a:blip r:embed="rId3"/>
          <a:srcRect/>
          <a:stretch>
            <a:fillRect/>
          </a:stretch>
        </p:blipFill>
        <p:spPr bwMode="auto">
          <a:xfrm>
            <a:off x="5926138" y="2384425"/>
            <a:ext cx="922337" cy="3544888"/>
          </a:xfrm>
          <a:prstGeom prst="rect">
            <a:avLst/>
          </a:prstGeom>
          <a:noFill/>
          <a:ln w="9525">
            <a:noFill/>
            <a:miter lim="800000"/>
            <a:headEnd/>
            <a:tailEnd/>
          </a:ln>
        </p:spPr>
      </p:pic>
      <p:sp>
        <p:nvSpPr>
          <p:cNvPr id="56329" name="Rectangle 10"/>
          <p:cNvSpPr>
            <a:spLocks noChangeArrowheads="1"/>
          </p:cNvSpPr>
          <p:nvPr/>
        </p:nvSpPr>
        <p:spPr bwMode="auto">
          <a:xfrm>
            <a:off x="5643563" y="6224588"/>
            <a:ext cx="1409700" cy="276225"/>
          </a:xfrm>
          <a:prstGeom prst="rect">
            <a:avLst/>
          </a:prstGeom>
          <a:noFill/>
          <a:ln w="9525">
            <a:noFill/>
            <a:miter lim="800000"/>
            <a:headEnd/>
            <a:tailEnd/>
          </a:ln>
        </p:spPr>
        <p:txBody>
          <a:bodyPr wrap="none">
            <a:spAutoFit/>
          </a:bodyPr>
          <a:lstStyle/>
          <a:p>
            <a:pPr eaLnBrk="1" hangingPunct="1"/>
            <a:r>
              <a:rPr lang="en-US" altLang="ar-JO" sz="1200">
                <a:solidFill>
                  <a:schemeClr val="accent1"/>
                </a:solidFill>
                <a:latin typeface="Calibri" pitchFamily="34" charset="0"/>
              </a:rPr>
              <a:t>www.Promega.com</a:t>
            </a:r>
          </a:p>
        </p:txBody>
      </p:sp>
      <p:sp>
        <p:nvSpPr>
          <p:cNvPr id="12" name="Title 4"/>
          <p:cNvSpPr txBox="1">
            <a:spLocks/>
          </p:cNvSpPr>
          <p:nvPr/>
        </p:nvSpPr>
        <p:spPr>
          <a:xfrm>
            <a:off x="4643438" y="1785938"/>
            <a:ext cx="3286125" cy="488950"/>
          </a:xfrm>
          <a:prstGeom prst="rect">
            <a:avLst/>
          </a:prstGeom>
        </p:spPr>
        <p:txBody>
          <a:bodyPr/>
          <a:lstStyle/>
          <a:p>
            <a:pPr algn="ctr" eaLnBrk="1" fontAlgn="auto" hangingPunct="1">
              <a:spcAft>
                <a:spcPts val="0"/>
              </a:spcAft>
              <a:defRPr/>
            </a:pPr>
            <a:r>
              <a:rPr lang="en-US" sz="2000" b="1" dirty="0">
                <a:solidFill>
                  <a:schemeClr val="accent1"/>
                </a:solidFill>
                <a:latin typeface="+mj-lt"/>
                <a:ea typeface="+mj-ea"/>
                <a:cs typeface="+mj-cs"/>
              </a:rPr>
              <a:t>100 </a:t>
            </a:r>
            <a:r>
              <a:rPr lang="en-US" sz="2000" b="1" dirty="0" err="1">
                <a:solidFill>
                  <a:schemeClr val="accent1"/>
                </a:solidFill>
                <a:latin typeface="+mj-lt"/>
                <a:ea typeface="+mj-ea"/>
                <a:cs typeface="+mj-cs"/>
              </a:rPr>
              <a:t>bp</a:t>
            </a:r>
            <a:r>
              <a:rPr lang="en-US" sz="2000" b="1" dirty="0">
                <a:solidFill>
                  <a:schemeClr val="accent1"/>
                </a:solidFill>
                <a:latin typeface="+mj-lt"/>
                <a:ea typeface="+mj-ea"/>
                <a:cs typeface="+mj-cs"/>
              </a:rPr>
              <a:t> ladder</a:t>
            </a:r>
          </a:p>
        </p:txBody>
      </p:sp>
      <p:pic>
        <p:nvPicPr>
          <p:cNvPr id="56331" name="Picture 3"/>
          <p:cNvPicPr>
            <a:picLocks noChangeAspect="1" noChangeArrowheads="1"/>
          </p:cNvPicPr>
          <p:nvPr/>
        </p:nvPicPr>
        <p:blipFill>
          <a:blip r:embed="rId4"/>
          <a:srcRect/>
          <a:stretch>
            <a:fillRect/>
          </a:stretch>
        </p:blipFill>
        <p:spPr bwMode="auto">
          <a:xfrm>
            <a:off x="1346200" y="2357438"/>
            <a:ext cx="3511550" cy="3500437"/>
          </a:xfrm>
          <a:prstGeom prst="rect">
            <a:avLst/>
          </a:prstGeom>
          <a:noFill/>
          <a:ln w="9525">
            <a:noFill/>
            <a:miter lim="800000"/>
            <a:headEnd/>
            <a:tailEnd/>
          </a:ln>
        </p:spPr>
      </p:pic>
      <p:sp>
        <p:nvSpPr>
          <p:cNvPr id="16" name="Title 4"/>
          <p:cNvSpPr txBox="1">
            <a:spLocks/>
          </p:cNvSpPr>
          <p:nvPr/>
        </p:nvSpPr>
        <p:spPr>
          <a:xfrm>
            <a:off x="1285875" y="1785938"/>
            <a:ext cx="3286125" cy="488950"/>
          </a:xfrm>
          <a:prstGeom prst="rect">
            <a:avLst/>
          </a:prstGeom>
        </p:spPr>
        <p:txBody>
          <a:bodyPr/>
          <a:lstStyle/>
          <a:p>
            <a:pPr algn="ctr" eaLnBrk="1" fontAlgn="auto" hangingPunct="1">
              <a:spcAft>
                <a:spcPts val="0"/>
              </a:spcAft>
              <a:defRPr/>
            </a:pPr>
            <a:r>
              <a:rPr lang="en-US" sz="2000" b="1" dirty="0">
                <a:solidFill>
                  <a:schemeClr val="accent1"/>
                </a:solidFill>
                <a:latin typeface="+mj-lt"/>
                <a:ea typeface="+mj-ea"/>
                <a:cs typeface="+mj-cs"/>
              </a:rPr>
              <a:t>DNA marker</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Number Placeholder 2"/>
          <p:cNvSpPr>
            <a:spLocks noGrp="1" noChangeArrowheads="1"/>
          </p:cNvSpPr>
          <p:nvPr>
            <p:ph type="sldNum" sz="quarter" idx="12"/>
          </p:nvPr>
        </p:nvSpPr>
        <p:spPr bwMode="auto">
          <a:noFill/>
          <a:ln>
            <a:miter lim="800000"/>
            <a:headEnd/>
            <a:tailEnd/>
          </a:ln>
        </p:spPr>
        <p:txBody>
          <a:bodyPr/>
          <a:lstStyle/>
          <a:p>
            <a:fld id="{409E3C73-0355-4A78-BEE1-D1CA1B95957F}" type="slidenum">
              <a:rPr lang="en-US" altLang="ar-JO"/>
              <a:pPr/>
              <a:t>29</a:t>
            </a:fld>
            <a:endParaRPr lang="en-US" altLang="ar-JO"/>
          </a:p>
        </p:txBody>
      </p:sp>
      <p:sp>
        <p:nvSpPr>
          <p:cNvPr id="4" name="Footer Placeholder 41"/>
          <p:cNvSpPr txBox="1">
            <a:spLocks/>
          </p:cNvSpPr>
          <p:nvPr/>
        </p:nvSpPr>
        <p:spPr>
          <a:xfrm>
            <a:off x="142875" y="6492875"/>
            <a:ext cx="3200400" cy="365125"/>
          </a:xfrm>
          <a:prstGeom prst="rect">
            <a:avLst/>
          </a:prstGeom>
        </p:spPr>
        <p:txBody>
          <a:bodyPr anchor="ctr"/>
          <a:lstStyle/>
          <a:p>
            <a:pPr eaLnBrk="1" fontAlgn="auto" hangingPunct="1">
              <a:spcBef>
                <a:spcPts val="0"/>
              </a:spcBef>
              <a:spcAft>
                <a:spcPts val="0"/>
              </a:spcAft>
              <a:defRPr/>
            </a:pPr>
            <a:r>
              <a:rPr lang="en-US" sz="1400" dirty="0">
                <a:solidFill>
                  <a:schemeClr val="tx1">
                    <a:tint val="75000"/>
                  </a:schemeClr>
                </a:solidFill>
                <a:latin typeface="+mn-lt"/>
                <a:cs typeface="+mn-cs"/>
              </a:rPr>
              <a:t>MBL. BT453</a:t>
            </a:r>
          </a:p>
        </p:txBody>
      </p:sp>
      <p:cxnSp>
        <p:nvCxnSpPr>
          <p:cNvPr id="5" name="Straight Connector 4"/>
          <p:cNvCxnSpPr/>
          <p:nvPr/>
        </p:nvCxnSpPr>
        <p:spPr>
          <a:xfrm>
            <a:off x="785813" y="928688"/>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6" name="Title 4"/>
          <p:cNvSpPr txBox="1">
            <a:spLocks/>
          </p:cNvSpPr>
          <p:nvPr/>
        </p:nvSpPr>
        <p:spPr>
          <a:xfrm>
            <a:off x="819150" y="296863"/>
            <a:ext cx="7467600" cy="488950"/>
          </a:xfrm>
          <a:prstGeom prst="rect">
            <a:avLst/>
          </a:prstGeom>
        </p:spPr>
        <p:txBody>
          <a:bodyPr/>
          <a:lstStyle/>
          <a:p>
            <a:pPr algn="ctr" eaLnBrk="1" fontAlgn="auto" hangingPunct="1">
              <a:spcAft>
                <a:spcPts val="0"/>
              </a:spcAft>
              <a:defRPr/>
            </a:pPr>
            <a:r>
              <a:rPr lang="en-US" sz="2400" b="1" dirty="0">
                <a:solidFill>
                  <a:schemeClr val="accent1"/>
                </a:solidFill>
                <a:latin typeface="+mj-lt"/>
                <a:ea typeface="+mj-ea"/>
                <a:cs typeface="+mj-cs"/>
              </a:rPr>
              <a:t>The rate of migration of DNA is determined by</a:t>
            </a:r>
          </a:p>
        </p:txBody>
      </p:sp>
      <p:sp>
        <p:nvSpPr>
          <p:cNvPr id="58374" name="TextBox 6"/>
          <p:cNvSpPr txBox="1">
            <a:spLocks noChangeArrowheads="1"/>
          </p:cNvSpPr>
          <p:nvPr/>
        </p:nvSpPr>
        <p:spPr bwMode="auto">
          <a:xfrm>
            <a:off x="857250" y="1285875"/>
            <a:ext cx="7358063" cy="4894263"/>
          </a:xfrm>
          <a:prstGeom prst="rect">
            <a:avLst/>
          </a:prstGeom>
          <a:noFill/>
          <a:ln w="9525">
            <a:noFill/>
            <a:miter lim="800000"/>
            <a:headEnd/>
            <a:tailEnd/>
          </a:ln>
        </p:spPr>
        <p:txBody>
          <a:bodyPr>
            <a:spAutoFit/>
          </a:bodyPr>
          <a:lstStyle/>
          <a:p>
            <a:pPr marL="342900" indent="-342900" eaLnBrk="1" hangingPunct="1">
              <a:lnSpc>
                <a:spcPct val="150000"/>
              </a:lnSpc>
              <a:buFont typeface="Calibri" pitchFamily="34" charset="0"/>
              <a:buAutoNum type="arabicPeriod"/>
            </a:pPr>
            <a:r>
              <a:rPr lang="en-US" altLang="ar-JO" sz="2600">
                <a:latin typeface="Calibri" pitchFamily="34" charset="0"/>
              </a:rPr>
              <a:t>The charge on the DNA</a:t>
            </a:r>
          </a:p>
          <a:p>
            <a:pPr marL="342900" indent="-342900" eaLnBrk="1" hangingPunct="1">
              <a:lnSpc>
                <a:spcPct val="150000"/>
              </a:lnSpc>
              <a:buFont typeface="Calibri" pitchFamily="34" charset="0"/>
              <a:buAutoNum type="arabicPeriod"/>
            </a:pPr>
            <a:r>
              <a:rPr lang="en-US" altLang="ar-JO" sz="2600">
                <a:latin typeface="Calibri" pitchFamily="34" charset="0"/>
              </a:rPr>
              <a:t>The strength of the electrical field</a:t>
            </a:r>
          </a:p>
          <a:p>
            <a:pPr marL="342900" indent="-342900" eaLnBrk="1" hangingPunct="1">
              <a:lnSpc>
                <a:spcPct val="150000"/>
              </a:lnSpc>
              <a:buFont typeface="Calibri" pitchFamily="34" charset="0"/>
              <a:buAutoNum type="arabicPeriod"/>
            </a:pPr>
            <a:r>
              <a:rPr lang="en-US" altLang="ar-JO" sz="2600">
                <a:latin typeface="Calibri" pitchFamily="34" charset="0"/>
              </a:rPr>
              <a:t>The size of the DNA</a:t>
            </a:r>
          </a:p>
          <a:p>
            <a:pPr marL="342900" indent="-342900" eaLnBrk="1" hangingPunct="1">
              <a:lnSpc>
                <a:spcPct val="150000"/>
              </a:lnSpc>
              <a:buFont typeface="Calibri" pitchFamily="34" charset="0"/>
              <a:buAutoNum type="arabicPeriod"/>
            </a:pPr>
            <a:r>
              <a:rPr lang="en-US" altLang="ar-JO" sz="2600">
                <a:latin typeface="Calibri" pitchFamily="34" charset="0"/>
              </a:rPr>
              <a:t>The shape of the DNA</a:t>
            </a:r>
          </a:p>
          <a:p>
            <a:pPr marL="342900" indent="-342900" eaLnBrk="1" hangingPunct="1">
              <a:lnSpc>
                <a:spcPct val="150000"/>
              </a:lnSpc>
              <a:buFont typeface="Calibri" pitchFamily="34" charset="0"/>
              <a:buAutoNum type="arabicPeriod"/>
            </a:pPr>
            <a:r>
              <a:rPr lang="en-US" altLang="ar-JO" sz="2600">
                <a:latin typeface="Calibri" pitchFamily="34" charset="0"/>
              </a:rPr>
              <a:t>The state of hydration of the DNA</a:t>
            </a:r>
          </a:p>
          <a:p>
            <a:pPr marL="342900" indent="-342900" eaLnBrk="1" hangingPunct="1">
              <a:lnSpc>
                <a:spcPct val="150000"/>
              </a:lnSpc>
              <a:buFont typeface="Calibri" pitchFamily="34" charset="0"/>
              <a:buAutoNum type="arabicPeriod"/>
            </a:pPr>
            <a:r>
              <a:rPr lang="en-US" altLang="ar-JO" sz="2600">
                <a:latin typeface="Calibri" pitchFamily="34" charset="0"/>
              </a:rPr>
              <a:t>The viscosity of the solution</a:t>
            </a:r>
          </a:p>
          <a:p>
            <a:pPr marL="342900" indent="-342900" eaLnBrk="1" hangingPunct="1">
              <a:lnSpc>
                <a:spcPct val="150000"/>
              </a:lnSpc>
              <a:buFont typeface="Calibri" pitchFamily="34" charset="0"/>
              <a:buAutoNum type="arabicPeriod"/>
            </a:pPr>
            <a:r>
              <a:rPr lang="en-US" altLang="ar-JO" sz="2600">
                <a:latin typeface="Calibri" pitchFamily="34" charset="0"/>
              </a:rPr>
              <a:t>The pore size of the gel.</a:t>
            </a:r>
          </a:p>
          <a:p>
            <a:pPr marL="342900" indent="-342900" eaLnBrk="1" hangingPunct="1">
              <a:lnSpc>
                <a:spcPct val="150000"/>
              </a:lnSpc>
              <a:buFont typeface="Calibri" pitchFamily="34" charset="0"/>
              <a:buAutoNum type="arabicPeriod"/>
            </a:pPr>
            <a:r>
              <a:rPr lang="en-US" altLang="ar-JO" sz="2600">
                <a:latin typeface="Calibri" pitchFamily="34" charset="0"/>
              </a:rPr>
              <a:t>DNA stains</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2"/>
          <p:cNvSpPr>
            <a:spLocks noGrp="1" noChangeArrowheads="1"/>
          </p:cNvSpPr>
          <p:nvPr>
            <p:ph type="sldNum" sz="quarter" idx="12"/>
          </p:nvPr>
        </p:nvSpPr>
        <p:spPr bwMode="auto">
          <a:noFill/>
          <a:ln>
            <a:miter lim="800000"/>
            <a:headEnd/>
            <a:tailEnd/>
          </a:ln>
        </p:spPr>
        <p:txBody>
          <a:bodyPr/>
          <a:lstStyle/>
          <a:p>
            <a:fld id="{4F8B6C92-49CB-485A-A933-CE4F65A2BE01}" type="slidenum">
              <a:rPr lang="en-US" altLang="ar-JO"/>
              <a:pPr/>
              <a:t>30</a:t>
            </a:fld>
            <a:endParaRPr lang="en-US" altLang="ar-JO"/>
          </a:p>
        </p:txBody>
      </p:sp>
      <p:cxnSp>
        <p:nvCxnSpPr>
          <p:cNvPr id="4" name="Straight Connector 3"/>
          <p:cNvCxnSpPr/>
          <p:nvPr/>
        </p:nvCxnSpPr>
        <p:spPr>
          <a:xfrm>
            <a:off x="785813" y="928688"/>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60420" name="Title 4"/>
          <p:cNvSpPr txBox="1">
            <a:spLocks/>
          </p:cNvSpPr>
          <p:nvPr/>
        </p:nvSpPr>
        <p:spPr bwMode="auto">
          <a:xfrm>
            <a:off x="819150" y="142875"/>
            <a:ext cx="7467600" cy="488950"/>
          </a:xfrm>
          <a:prstGeom prst="rect">
            <a:avLst/>
          </a:prstGeom>
          <a:noFill/>
          <a:ln w="9525">
            <a:noFill/>
            <a:miter lim="800000"/>
            <a:headEnd/>
            <a:tailEnd/>
          </a:ln>
        </p:spPr>
        <p:txBody>
          <a:bodyPr/>
          <a:lstStyle/>
          <a:p>
            <a:pPr algn="ctr" eaLnBrk="1" hangingPunct="1"/>
            <a:r>
              <a:rPr lang="en-US" altLang="ar-JO" sz="3600" b="1">
                <a:solidFill>
                  <a:schemeClr val="accent1"/>
                </a:solidFill>
                <a:latin typeface="Calibri" pitchFamily="34" charset="0"/>
              </a:rPr>
              <a:t>The rate of migration of DNA</a:t>
            </a:r>
          </a:p>
        </p:txBody>
      </p:sp>
      <p:sp>
        <p:nvSpPr>
          <p:cNvPr id="6" name="Footer Placeholder 41"/>
          <p:cNvSpPr txBox="1">
            <a:spLocks/>
          </p:cNvSpPr>
          <p:nvPr/>
        </p:nvSpPr>
        <p:spPr>
          <a:xfrm>
            <a:off x="142875" y="6492875"/>
            <a:ext cx="3200400" cy="365125"/>
          </a:xfrm>
          <a:prstGeom prst="rect">
            <a:avLst/>
          </a:prstGeom>
        </p:spPr>
        <p:txBody>
          <a:bodyPr anchor="ctr"/>
          <a:lstStyle/>
          <a:p>
            <a:pPr eaLnBrk="1" fontAlgn="auto" hangingPunct="1">
              <a:spcBef>
                <a:spcPts val="0"/>
              </a:spcBef>
              <a:spcAft>
                <a:spcPts val="0"/>
              </a:spcAft>
              <a:defRPr/>
            </a:pPr>
            <a:r>
              <a:rPr lang="en-US" sz="1400" dirty="0">
                <a:solidFill>
                  <a:schemeClr val="tx1">
                    <a:tint val="75000"/>
                  </a:schemeClr>
                </a:solidFill>
                <a:latin typeface="+mn-lt"/>
                <a:cs typeface="+mn-cs"/>
              </a:rPr>
              <a:t>MBL. BT453</a:t>
            </a:r>
          </a:p>
        </p:txBody>
      </p:sp>
      <p:pic>
        <p:nvPicPr>
          <p:cNvPr id="60422" name="Picture 4"/>
          <p:cNvPicPr>
            <a:picLocks noChangeAspect="1" noChangeArrowheads="1"/>
          </p:cNvPicPr>
          <p:nvPr/>
        </p:nvPicPr>
        <p:blipFill>
          <a:blip r:embed="rId3"/>
          <a:srcRect/>
          <a:stretch>
            <a:fillRect/>
          </a:stretch>
        </p:blipFill>
        <p:spPr bwMode="auto">
          <a:xfrm>
            <a:off x="1285875" y="2643188"/>
            <a:ext cx="2681288" cy="1990725"/>
          </a:xfrm>
          <a:prstGeom prst="rect">
            <a:avLst/>
          </a:prstGeom>
          <a:noFill/>
          <a:ln w="9525">
            <a:noFill/>
            <a:miter lim="800000"/>
            <a:headEnd/>
            <a:tailEnd/>
          </a:ln>
        </p:spPr>
      </p:pic>
      <p:pic>
        <p:nvPicPr>
          <p:cNvPr id="60423" name="Picture 5"/>
          <p:cNvPicPr>
            <a:picLocks noChangeAspect="1" noChangeArrowheads="1"/>
          </p:cNvPicPr>
          <p:nvPr/>
        </p:nvPicPr>
        <p:blipFill>
          <a:blip r:embed="rId4"/>
          <a:srcRect/>
          <a:stretch>
            <a:fillRect/>
          </a:stretch>
        </p:blipFill>
        <p:spPr bwMode="auto">
          <a:xfrm>
            <a:off x="5357813" y="1928813"/>
            <a:ext cx="2644775" cy="3838575"/>
          </a:xfrm>
          <a:prstGeom prst="rect">
            <a:avLst/>
          </a:prstGeom>
          <a:noFill/>
          <a:ln w="9525">
            <a:noFill/>
            <a:miter lim="800000"/>
            <a:headEnd/>
            <a:tailEnd/>
          </a:ln>
        </p:spPr>
      </p:pic>
      <p:sp>
        <p:nvSpPr>
          <p:cNvPr id="60424" name="Rectangle 20"/>
          <p:cNvSpPr>
            <a:spLocks noChangeArrowheads="1"/>
          </p:cNvSpPr>
          <p:nvPr/>
        </p:nvSpPr>
        <p:spPr bwMode="auto">
          <a:xfrm>
            <a:off x="1428750" y="1928813"/>
            <a:ext cx="2178050" cy="465137"/>
          </a:xfrm>
          <a:prstGeom prst="rect">
            <a:avLst/>
          </a:prstGeom>
          <a:noFill/>
          <a:ln w="9525">
            <a:noFill/>
            <a:miter lim="800000"/>
            <a:headEnd/>
            <a:tailEnd/>
          </a:ln>
        </p:spPr>
        <p:txBody>
          <a:bodyPr wrap="none">
            <a:spAutoFit/>
          </a:bodyPr>
          <a:lstStyle/>
          <a:p>
            <a:pPr marL="342900" indent="-342900" algn="ctr" eaLnBrk="1" hangingPunct="1">
              <a:lnSpc>
                <a:spcPct val="150000"/>
              </a:lnSpc>
            </a:pPr>
            <a:r>
              <a:rPr lang="en-US" altLang="ar-JO">
                <a:latin typeface="Calibri" pitchFamily="34" charset="0"/>
              </a:rPr>
              <a:t>The shape of plasmid</a:t>
            </a:r>
          </a:p>
        </p:txBody>
      </p:sp>
      <p:sp>
        <p:nvSpPr>
          <p:cNvPr id="60425" name="Rectangle 21"/>
          <p:cNvSpPr>
            <a:spLocks noChangeArrowheads="1"/>
          </p:cNvSpPr>
          <p:nvPr/>
        </p:nvSpPr>
        <p:spPr bwMode="auto">
          <a:xfrm>
            <a:off x="6072188" y="1285875"/>
            <a:ext cx="1260475" cy="465138"/>
          </a:xfrm>
          <a:prstGeom prst="rect">
            <a:avLst/>
          </a:prstGeom>
          <a:noFill/>
          <a:ln w="9525">
            <a:noFill/>
            <a:miter lim="800000"/>
            <a:headEnd/>
            <a:tailEnd/>
          </a:ln>
        </p:spPr>
        <p:txBody>
          <a:bodyPr wrap="none">
            <a:spAutoFit/>
          </a:bodyPr>
          <a:lstStyle/>
          <a:p>
            <a:pPr marL="342900" indent="-342900" algn="ctr" eaLnBrk="1" hangingPunct="1">
              <a:lnSpc>
                <a:spcPct val="150000"/>
              </a:lnSpc>
            </a:pPr>
            <a:r>
              <a:rPr lang="en-US" altLang="ar-JO">
                <a:latin typeface="Calibri" pitchFamily="34" charset="0"/>
              </a:rPr>
              <a:t>%   Agarose</a:t>
            </a:r>
          </a:p>
        </p:txBody>
      </p:sp>
      <p:sp>
        <p:nvSpPr>
          <p:cNvPr id="60426" name="TextBox 22"/>
          <p:cNvSpPr txBox="1">
            <a:spLocks noChangeArrowheads="1"/>
          </p:cNvSpPr>
          <p:nvPr/>
        </p:nvSpPr>
        <p:spPr bwMode="auto">
          <a:xfrm>
            <a:off x="1285875" y="4786313"/>
            <a:ext cx="2714625" cy="461962"/>
          </a:xfrm>
          <a:prstGeom prst="rect">
            <a:avLst/>
          </a:prstGeom>
          <a:noFill/>
          <a:ln w="9525">
            <a:noFill/>
            <a:miter lim="800000"/>
            <a:headEnd/>
            <a:tailEnd/>
          </a:ln>
        </p:spPr>
        <p:txBody>
          <a:bodyPr>
            <a:spAutoFit/>
          </a:bodyPr>
          <a:lstStyle/>
          <a:p>
            <a:pPr algn="ctr" eaLnBrk="1" hangingPunct="1"/>
            <a:r>
              <a:rPr lang="en-US" altLang="ar-JO" sz="1200">
                <a:solidFill>
                  <a:schemeClr val="accent1"/>
                </a:solidFill>
                <a:latin typeface="Calibri" pitchFamily="34" charset="0"/>
              </a:rPr>
              <a:t>rtfw.james.googlepages.com/James_</a:t>
            </a:r>
            <a:r>
              <a:rPr lang="en-US" altLang="ar-JO" sz="1200" b="1">
                <a:solidFill>
                  <a:schemeClr val="accent1"/>
                </a:solidFill>
                <a:latin typeface="Calibri" pitchFamily="34" charset="0"/>
              </a:rPr>
              <a:t>Gel</a:t>
            </a:r>
            <a:r>
              <a:rPr lang="en-US" altLang="ar-JO" sz="1200">
                <a:solidFill>
                  <a:schemeClr val="accent1"/>
                </a:solidFill>
                <a:latin typeface="Calibri" pitchFamily="34" charset="0"/>
              </a:rPr>
              <a:t>Electro_Spring07.ppt</a:t>
            </a:r>
          </a:p>
        </p:txBody>
      </p:sp>
      <p:sp>
        <p:nvSpPr>
          <p:cNvPr id="60427" name="TextBox 23"/>
          <p:cNvSpPr txBox="1">
            <a:spLocks noChangeArrowheads="1"/>
          </p:cNvSpPr>
          <p:nvPr/>
        </p:nvSpPr>
        <p:spPr bwMode="auto">
          <a:xfrm>
            <a:off x="5357813" y="5929313"/>
            <a:ext cx="2714625" cy="461962"/>
          </a:xfrm>
          <a:prstGeom prst="rect">
            <a:avLst/>
          </a:prstGeom>
          <a:noFill/>
          <a:ln w="9525">
            <a:noFill/>
            <a:miter lim="800000"/>
            <a:headEnd/>
            <a:tailEnd/>
          </a:ln>
        </p:spPr>
        <p:txBody>
          <a:bodyPr>
            <a:spAutoFit/>
          </a:bodyPr>
          <a:lstStyle/>
          <a:p>
            <a:pPr algn="ctr" eaLnBrk="1" hangingPunct="1"/>
            <a:r>
              <a:rPr lang="en-US" altLang="ar-JO" sz="1200">
                <a:solidFill>
                  <a:schemeClr val="accent1"/>
                </a:solidFill>
                <a:latin typeface="Calibri" pitchFamily="34" charset="0"/>
              </a:rPr>
              <a:t>rtfw.james.googlepages.com/James_</a:t>
            </a:r>
            <a:r>
              <a:rPr lang="en-US" altLang="ar-JO" sz="1200" b="1">
                <a:solidFill>
                  <a:schemeClr val="accent1"/>
                </a:solidFill>
                <a:latin typeface="Calibri" pitchFamily="34" charset="0"/>
              </a:rPr>
              <a:t>Gel</a:t>
            </a:r>
            <a:r>
              <a:rPr lang="en-US" altLang="ar-JO" sz="1200">
                <a:solidFill>
                  <a:schemeClr val="accent1"/>
                </a:solidFill>
                <a:latin typeface="Calibri" pitchFamily="34" charset="0"/>
              </a:rPr>
              <a:t>Electro_Spring07.ppt</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5"/>
          <p:cNvSpPr txBox="1">
            <a:spLocks noChangeArrowheads="1"/>
          </p:cNvSpPr>
          <p:nvPr/>
        </p:nvSpPr>
        <p:spPr bwMode="auto">
          <a:xfrm>
            <a:off x="3505200" y="2590800"/>
            <a:ext cx="4572000" cy="1739900"/>
          </a:xfrm>
          <a:prstGeom prst="rect">
            <a:avLst/>
          </a:prstGeom>
          <a:noFill/>
          <a:ln w="9525">
            <a:noFill/>
            <a:miter lim="800000"/>
            <a:headEnd/>
            <a:tailEnd/>
          </a:ln>
        </p:spPr>
        <p:txBody>
          <a:bodyPr>
            <a:spAutoFit/>
          </a:bodyPr>
          <a:lstStyle/>
          <a:p>
            <a:pPr eaLnBrk="1" hangingPunct="1"/>
            <a:r>
              <a:rPr lang="en-US" altLang="ar-JO">
                <a:latin typeface="Calibri" pitchFamily="34" charset="0"/>
              </a:rPr>
              <a:t>Running your sample through an agarose gel is a common method for examining the extent of DNA degradation. Good quality DNA should migrate as a high molecular weight band, with little or no evidence of smearing.</a:t>
            </a:r>
          </a:p>
        </p:txBody>
      </p:sp>
      <p:pic>
        <p:nvPicPr>
          <p:cNvPr id="62467" name="Picture 4" descr="Fig_1_Master_pure_plant_6-1"/>
          <p:cNvPicPr>
            <a:picLocks noChangeAspect="1" noChangeArrowheads="1"/>
          </p:cNvPicPr>
          <p:nvPr/>
        </p:nvPicPr>
        <p:blipFill>
          <a:blip r:embed="rId3"/>
          <a:srcRect l="21120" t="17058" r="37248" b="7141"/>
          <a:stretch>
            <a:fillRect/>
          </a:stretch>
        </p:blipFill>
        <p:spPr bwMode="auto">
          <a:xfrm>
            <a:off x="874713" y="2447925"/>
            <a:ext cx="1189037" cy="2095500"/>
          </a:xfrm>
          <a:prstGeom prst="rect">
            <a:avLst/>
          </a:prstGeom>
          <a:noFill/>
          <a:ln w="9525">
            <a:noFill/>
            <a:miter lim="800000"/>
            <a:headEnd/>
            <a:tailEnd/>
          </a:ln>
        </p:spPr>
      </p:pic>
      <p:sp>
        <p:nvSpPr>
          <p:cNvPr id="62468" name="Line 6"/>
          <p:cNvSpPr>
            <a:spLocks noChangeShapeType="1"/>
          </p:cNvSpPr>
          <p:nvPr/>
        </p:nvSpPr>
        <p:spPr bwMode="auto">
          <a:xfrm rot="10800000">
            <a:off x="2146300" y="2540000"/>
            <a:ext cx="228600" cy="0"/>
          </a:xfrm>
          <a:prstGeom prst="line">
            <a:avLst/>
          </a:prstGeom>
          <a:noFill/>
          <a:ln w="9525">
            <a:solidFill>
              <a:schemeClr val="tx1"/>
            </a:solidFill>
            <a:round/>
            <a:headEnd/>
            <a:tailEnd type="triangle" w="med" len="med"/>
          </a:ln>
        </p:spPr>
        <p:txBody>
          <a:bodyPr/>
          <a:lstStyle/>
          <a:p>
            <a:endParaRPr lang="ar-JO"/>
          </a:p>
        </p:txBody>
      </p:sp>
      <p:sp>
        <p:nvSpPr>
          <p:cNvPr id="62469" name="Text Box 7"/>
          <p:cNvSpPr txBox="1">
            <a:spLocks noChangeArrowheads="1"/>
          </p:cNvSpPr>
          <p:nvPr/>
        </p:nvSpPr>
        <p:spPr bwMode="auto">
          <a:xfrm>
            <a:off x="2346325" y="2298700"/>
            <a:ext cx="930275" cy="457200"/>
          </a:xfrm>
          <a:prstGeom prst="rect">
            <a:avLst/>
          </a:prstGeom>
          <a:noFill/>
          <a:ln w="9525">
            <a:noFill/>
            <a:miter lim="800000"/>
            <a:headEnd/>
            <a:tailEnd/>
          </a:ln>
        </p:spPr>
        <p:txBody>
          <a:bodyPr>
            <a:spAutoFit/>
          </a:bodyPr>
          <a:lstStyle/>
          <a:p>
            <a:pPr eaLnBrk="1" hangingPunct="1"/>
            <a:r>
              <a:rPr lang="en-US" altLang="ar-JO" sz="1200">
                <a:latin typeface="Calibri" pitchFamily="34" charset="0"/>
              </a:rPr>
              <a:t>genomic</a:t>
            </a:r>
          </a:p>
          <a:p>
            <a:pPr eaLnBrk="1" hangingPunct="1"/>
            <a:r>
              <a:rPr lang="en-US" altLang="ar-JO" sz="1200">
                <a:latin typeface="Calibri" pitchFamily="34" charset="0"/>
              </a:rPr>
              <a:t>DNA</a:t>
            </a:r>
          </a:p>
        </p:txBody>
      </p:sp>
      <p:sp>
        <p:nvSpPr>
          <p:cNvPr id="62470" name="AutoShape 9"/>
          <p:cNvSpPr>
            <a:spLocks/>
          </p:cNvSpPr>
          <p:nvPr/>
        </p:nvSpPr>
        <p:spPr bwMode="auto">
          <a:xfrm>
            <a:off x="2143125" y="3952875"/>
            <a:ext cx="152400" cy="457200"/>
          </a:xfrm>
          <a:prstGeom prst="rightBrace">
            <a:avLst>
              <a:gd name="adj1" fmla="val 25000"/>
              <a:gd name="adj2" fmla="val 50000"/>
            </a:avLst>
          </a:prstGeom>
          <a:noFill/>
          <a:ln w="19050">
            <a:solidFill>
              <a:schemeClr val="tx1"/>
            </a:solidFill>
            <a:round/>
            <a:headEnd/>
            <a:tailEnd/>
          </a:ln>
        </p:spPr>
        <p:txBody>
          <a:bodyPr wrap="none" anchor="ctr"/>
          <a:lstStyle/>
          <a:p>
            <a:pPr eaLnBrk="1" hangingPunct="1"/>
            <a:endParaRPr lang="ar-JO" altLang="ar-JO">
              <a:latin typeface="Calibri" pitchFamily="34" charset="0"/>
            </a:endParaRPr>
          </a:p>
        </p:txBody>
      </p:sp>
      <p:sp>
        <p:nvSpPr>
          <p:cNvPr id="62471" name="Text Box 10"/>
          <p:cNvSpPr txBox="1">
            <a:spLocks noChangeArrowheads="1"/>
          </p:cNvSpPr>
          <p:nvPr/>
        </p:nvSpPr>
        <p:spPr bwMode="auto">
          <a:xfrm>
            <a:off x="2295525" y="3940175"/>
            <a:ext cx="930275" cy="457200"/>
          </a:xfrm>
          <a:prstGeom prst="rect">
            <a:avLst/>
          </a:prstGeom>
          <a:noFill/>
          <a:ln w="9525">
            <a:noFill/>
            <a:miter lim="800000"/>
            <a:headEnd/>
            <a:tailEnd/>
          </a:ln>
        </p:spPr>
        <p:txBody>
          <a:bodyPr>
            <a:spAutoFit/>
          </a:bodyPr>
          <a:lstStyle/>
          <a:p>
            <a:pPr eaLnBrk="1" hangingPunct="1"/>
            <a:r>
              <a:rPr lang="en-US" altLang="ar-JO" sz="1200">
                <a:latin typeface="Calibri" pitchFamily="34" charset="0"/>
              </a:rPr>
              <a:t>RNA</a:t>
            </a:r>
          </a:p>
          <a:p>
            <a:pPr eaLnBrk="1" hangingPunct="1"/>
            <a:r>
              <a:rPr lang="en-US" altLang="ar-JO" sz="1200">
                <a:latin typeface="Calibri" pitchFamily="34" charset="0"/>
              </a:rPr>
              <a:t>(degraded)</a:t>
            </a:r>
          </a:p>
        </p:txBody>
      </p:sp>
      <p:cxnSp>
        <p:nvCxnSpPr>
          <p:cNvPr id="9" name="Straight Connector 8"/>
          <p:cNvCxnSpPr/>
          <p:nvPr/>
        </p:nvCxnSpPr>
        <p:spPr>
          <a:xfrm>
            <a:off x="785813" y="928688"/>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62473" name="Title 4"/>
          <p:cNvSpPr txBox="1">
            <a:spLocks/>
          </p:cNvSpPr>
          <p:nvPr/>
        </p:nvSpPr>
        <p:spPr bwMode="auto">
          <a:xfrm>
            <a:off x="819150" y="142875"/>
            <a:ext cx="7467600" cy="488950"/>
          </a:xfrm>
          <a:prstGeom prst="rect">
            <a:avLst/>
          </a:prstGeom>
          <a:noFill/>
          <a:ln w="9525">
            <a:noFill/>
            <a:miter lim="800000"/>
            <a:headEnd/>
            <a:tailEnd/>
          </a:ln>
        </p:spPr>
        <p:txBody>
          <a:bodyPr/>
          <a:lstStyle/>
          <a:p>
            <a:pPr algn="ctr" eaLnBrk="1" hangingPunct="1"/>
            <a:r>
              <a:rPr lang="en-US" altLang="ar-JO" sz="3600" b="1">
                <a:solidFill>
                  <a:schemeClr val="accent1"/>
                </a:solidFill>
                <a:latin typeface="Calibri" pitchFamily="34" charset="0"/>
              </a:rPr>
              <a:t>Checking for Degradation: DNA</a:t>
            </a:r>
          </a:p>
        </p:txBody>
      </p:sp>
      <p:sp>
        <p:nvSpPr>
          <p:cNvPr id="11" name="Footer Placeholder 41"/>
          <p:cNvSpPr txBox="1">
            <a:spLocks/>
          </p:cNvSpPr>
          <p:nvPr/>
        </p:nvSpPr>
        <p:spPr>
          <a:xfrm>
            <a:off x="142875" y="6492875"/>
            <a:ext cx="3200400" cy="365125"/>
          </a:xfrm>
          <a:prstGeom prst="rect">
            <a:avLst/>
          </a:prstGeom>
        </p:spPr>
        <p:txBody>
          <a:bodyPr anchor="ctr"/>
          <a:lstStyle/>
          <a:p>
            <a:pPr eaLnBrk="1" fontAlgn="auto" hangingPunct="1">
              <a:spcBef>
                <a:spcPts val="0"/>
              </a:spcBef>
              <a:spcAft>
                <a:spcPts val="0"/>
              </a:spcAft>
              <a:defRPr/>
            </a:pPr>
            <a:r>
              <a:rPr lang="en-US" sz="1400" dirty="0">
                <a:solidFill>
                  <a:schemeClr val="tx1">
                    <a:tint val="75000"/>
                  </a:schemeClr>
                </a:solidFill>
                <a:latin typeface="+mn-lt"/>
                <a:cs typeface="+mn-cs"/>
              </a:rPr>
              <a:t>MBL. BT453</a:t>
            </a:r>
          </a:p>
        </p:txBody>
      </p:sp>
      <p:sp>
        <p:nvSpPr>
          <p:cNvPr id="62475" name="TextBox 11"/>
          <p:cNvSpPr txBox="1">
            <a:spLocks noChangeArrowheads="1"/>
          </p:cNvSpPr>
          <p:nvPr/>
        </p:nvSpPr>
        <p:spPr bwMode="auto">
          <a:xfrm>
            <a:off x="642938" y="4714875"/>
            <a:ext cx="2571750" cy="646113"/>
          </a:xfrm>
          <a:prstGeom prst="rect">
            <a:avLst/>
          </a:prstGeom>
          <a:noFill/>
          <a:ln w="9525">
            <a:noFill/>
            <a:miter lim="800000"/>
            <a:headEnd/>
            <a:tailEnd/>
          </a:ln>
        </p:spPr>
        <p:txBody>
          <a:bodyPr>
            <a:spAutoFit/>
          </a:bodyPr>
          <a:lstStyle/>
          <a:p>
            <a:pPr algn="ctr" eaLnBrk="1" hangingPunct="1"/>
            <a:r>
              <a:rPr lang="en-US" altLang="ar-JO" sz="1200">
                <a:solidFill>
                  <a:schemeClr val="accent1"/>
                </a:solidFill>
                <a:latin typeface="Calibri" pitchFamily="34" charset="0"/>
              </a:rPr>
              <a:t>http://abe.leeward.hawaii.edu/WebSharing/Nucleic%20Acid%20Isolation.ppt</a:t>
            </a:r>
          </a:p>
        </p:txBody>
      </p:sp>
      <p:sp>
        <p:nvSpPr>
          <p:cNvPr id="62476" name="Slide Number Placeholder 2"/>
          <p:cNvSpPr>
            <a:spLocks noGrp="1" noChangeArrowheads="1"/>
          </p:cNvSpPr>
          <p:nvPr>
            <p:ph type="sldNum" sz="quarter" idx="12"/>
          </p:nvPr>
        </p:nvSpPr>
        <p:spPr bwMode="auto">
          <a:noFill/>
          <a:ln>
            <a:miter lim="800000"/>
            <a:headEnd/>
            <a:tailEnd/>
          </a:ln>
        </p:spPr>
        <p:txBody>
          <a:bodyPr/>
          <a:lstStyle/>
          <a:p>
            <a:fld id="{3624460A-5ACB-43D4-9599-551BA1D5683F}" type="slidenum">
              <a:rPr lang="en-US" altLang="ar-JO"/>
              <a:pPr/>
              <a:t>31</a:t>
            </a:fld>
            <a:endParaRPr lang="en-US" altLang="ar-JO"/>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4"/>
          <p:cNvSpPr txBox="1">
            <a:spLocks noChangeArrowheads="1"/>
          </p:cNvSpPr>
          <p:nvPr/>
        </p:nvSpPr>
        <p:spPr bwMode="auto">
          <a:xfrm>
            <a:off x="3794125" y="2297113"/>
            <a:ext cx="4892675" cy="2836862"/>
          </a:xfrm>
          <a:prstGeom prst="rect">
            <a:avLst/>
          </a:prstGeom>
          <a:noFill/>
          <a:ln w="9525">
            <a:noFill/>
            <a:miter lim="800000"/>
            <a:headEnd/>
            <a:tailEnd/>
          </a:ln>
        </p:spPr>
        <p:txBody>
          <a:bodyPr>
            <a:spAutoFit/>
          </a:bodyPr>
          <a:lstStyle/>
          <a:p>
            <a:pPr eaLnBrk="1" hangingPunct="1"/>
            <a:r>
              <a:rPr lang="en-US" altLang="ar-JO">
                <a:latin typeface="Calibri" pitchFamily="34" charset="0"/>
              </a:rPr>
              <a:t>Ribosomal RNA (rRNA) makes up more than 80% of total RNA samples. Total RNA preps should display two prominent bands after gel electrophoresis. These correspond to the 25S and 18S rRNAs, which are 3.4 kb and 1.9 kb in Arabidopsis (respectively). </a:t>
            </a:r>
          </a:p>
          <a:p>
            <a:pPr eaLnBrk="1" hangingPunct="1"/>
            <a:endParaRPr lang="en-US" altLang="ar-JO">
              <a:latin typeface="Calibri" pitchFamily="34" charset="0"/>
            </a:endParaRPr>
          </a:p>
          <a:p>
            <a:pPr eaLnBrk="1" hangingPunct="1"/>
            <a:r>
              <a:rPr lang="en-US" altLang="ar-JO">
                <a:latin typeface="Calibri" pitchFamily="34" charset="0"/>
              </a:rPr>
              <a:t>Good quality RNA will have:</a:t>
            </a:r>
          </a:p>
          <a:p>
            <a:pPr eaLnBrk="1" hangingPunct="1"/>
            <a:r>
              <a:rPr lang="en-US" altLang="ar-JO">
                <a:latin typeface="Calibri" pitchFamily="34" charset="0"/>
              </a:rPr>
              <a:t>No evidence of smearing</a:t>
            </a:r>
          </a:p>
          <a:p>
            <a:pPr eaLnBrk="1" hangingPunct="1"/>
            <a:r>
              <a:rPr lang="en-US" altLang="ar-JO">
                <a:latin typeface="Calibri" pitchFamily="34" charset="0"/>
              </a:rPr>
              <a:t>25S/18S ratio between 1.8 - 2.3</a:t>
            </a:r>
          </a:p>
        </p:txBody>
      </p:sp>
      <p:sp>
        <p:nvSpPr>
          <p:cNvPr id="64515" name="Text Box 6"/>
          <p:cNvSpPr txBox="1">
            <a:spLocks noChangeArrowheads="1"/>
          </p:cNvSpPr>
          <p:nvPr/>
        </p:nvSpPr>
        <p:spPr bwMode="auto">
          <a:xfrm>
            <a:off x="3302000" y="3146425"/>
            <a:ext cx="457200" cy="274638"/>
          </a:xfrm>
          <a:prstGeom prst="rect">
            <a:avLst/>
          </a:prstGeom>
          <a:noFill/>
          <a:ln w="9525">
            <a:noFill/>
            <a:miter lim="800000"/>
            <a:headEnd/>
            <a:tailEnd/>
          </a:ln>
        </p:spPr>
        <p:txBody>
          <a:bodyPr>
            <a:spAutoFit/>
          </a:bodyPr>
          <a:lstStyle/>
          <a:p>
            <a:pPr eaLnBrk="1" hangingPunct="1"/>
            <a:r>
              <a:rPr lang="en-US" altLang="ar-JO" sz="1200">
                <a:latin typeface="Calibri" pitchFamily="34" charset="0"/>
              </a:rPr>
              <a:t>25S</a:t>
            </a:r>
          </a:p>
        </p:txBody>
      </p:sp>
      <p:pic>
        <p:nvPicPr>
          <p:cNvPr id="64516" name="Picture 9" descr="f01003"/>
          <p:cNvPicPr>
            <a:picLocks noChangeAspect="1" noChangeArrowheads="1"/>
          </p:cNvPicPr>
          <p:nvPr/>
        </p:nvPicPr>
        <p:blipFill>
          <a:blip r:embed="rId3"/>
          <a:srcRect t="30573" r="13142"/>
          <a:stretch>
            <a:fillRect/>
          </a:stretch>
        </p:blipFill>
        <p:spPr bwMode="auto">
          <a:xfrm>
            <a:off x="457200" y="2678113"/>
            <a:ext cx="2895600" cy="2076450"/>
          </a:xfrm>
          <a:prstGeom prst="rect">
            <a:avLst/>
          </a:prstGeom>
          <a:noFill/>
          <a:ln w="9525">
            <a:noFill/>
            <a:miter lim="800000"/>
            <a:headEnd/>
            <a:tailEnd/>
          </a:ln>
        </p:spPr>
      </p:pic>
      <p:sp>
        <p:nvSpPr>
          <p:cNvPr id="64517" name="Text Box 10"/>
          <p:cNvSpPr txBox="1">
            <a:spLocks noChangeArrowheads="1"/>
          </p:cNvSpPr>
          <p:nvPr/>
        </p:nvSpPr>
        <p:spPr bwMode="auto">
          <a:xfrm>
            <a:off x="3302000" y="3451225"/>
            <a:ext cx="457200" cy="274638"/>
          </a:xfrm>
          <a:prstGeom prst="rect">
            <a:avLst/>
          </a:prstGeom>
          <a:noFill/>
          <a:ln w="9525">
            <a:noFill/>
            <a:miter lim="800000"/>
            <a:headEnd/>
            <a:tailEnd/>
          </a:ln>
        </p:spPr>
        <p:txBody>
          <a:bodyPr>
            <a:spAutoFit/>
          </a:bodyPr>
          <a:lstStyle/>
          <a:p>
            <a:pPr eaLnBrk="1" hangingPunct="1"/>
            <a:r>
              <a:rPr lang="en-US" altLang="ar-JO" sz="1200">
                <a:latin typeface="Calibri" pitchFamily="34" charset="0"/>
              </a:rPr>
              <a:t>18S</a:t>
            </a:r>
          </a:p>
        </p:txBody>
      </p:sp>
      <p:cxnSp>
        <p:nvCxnSpPr>
          <p:cNvPr id="9" name="Straight Connector 8"/>
          <p:cNvCxnSpPr/>
          <p:nvPr/>
        </p:nvCxnSpPr>
        <p:spPr>
          <a:xfrm>
            <a:off x="785813" y="928688"/>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64519" name="Title 4"/>
          <p:cNvSpPr txBox="1">
            <a:spLocks/>
          </p:cNvSpPr>
          <p:nvPr/>
        </p:nvSpPr>
        <p:spPr bwMode="auto">
          <a:xfrm>
            <a:off x="819150" y="142875"/>
            <a:ext cx="7467600" cy="488950"/>
          </a:xfrm>
          <a:prstGeom prst="rect">
            <a:avLst/>
          </a:prstGeom>
          <a:noFill/>
          <a:ln w="9525">
            <a:noFill/>
            <a:miter lim="800000"/>
            <a:headEnd/>
            <a:tailEnd/>
          </a:ln>
        </p:spPr>
        <p:txBody>
          <a:bodyPr/>
          <a:lstStyle/>
          <a:p>
            <a:pPr algn="ctr" eaLnBrk="1" hangingPunct="1"/>
            <a:r>
              <a:rPr lang="en-US" altLang="ar-JO" sz="3600" b="1">
                <a:solidFill>
                  <a:schemeClr val="accent1"/>
                </a:solidFill>
                <a:latin typeface="Calibri" pitchFamily="34" charset="0"/>
              </a:rPr>
              <a:t>Checking for Degradation: RNA</a:t>
            </a:r>
          </a:p>
        </p:txBody>
      </p:sp>
      <p:sp>
        <p:nvSpPr>
          <p:cNvPr id="11" name="Footer Placeholder 41"/>
          <p:cNvSpPr txBox="1">
            <a:spLocks/>
          </p:cNvSpPr>
          <p:nvPr/>
        </p:nvSpPr>
        <p:spPr>
          <a:xfrm>
            <a:off x="142875" y="6492875"/>
            <a:ext cx="3200400" cy="365125"/>
          </a:xfrm>
          <a:prstGeom prst="rect">
            <a:avLst/>
          </a:prstGeom>
        </p:spPr>
        <p:txBody>
          <a:bodyPr anchor="ctr"/>
          <a:lstStyle/>
          <a:p>
            <a:pPr eaLnBrk="1" fontAlgn="auto" hangingPunct="1">
              <a:spcBef>
                <a:spcPts val="0"/>
              </a:spcBef>
              <a:spcAft>
                <a:spcPts val="0"/>
              </a:spcAft>
              <a:defRPr/>
            </a:pPr>
            <a:r>
              <a:rPr lang="en-US" sz="1400" dirty="0">
                <a:solidFill>
                  <a:schemeClr val="tx1">
                    <a:tint val="75000"/>
                  </a:schemeClr>
                </a:solidFill>
                <a:latin typeface="+mn-lt"/>
                <a:cs typeface="+mn-cs"/>
              </a:rPr>
              <a:t>MBL. BT453</a:t>
            </a:r>
          </a:p>
        </p:txBody>
      </p:sp>
      <p:sp>
        <p:nvSpPr>
          <p:cNvPr id="64521" name="TextBox 11"/>
          <p:cNvSpPr txBox="1">
            <a:spLocks noChangeArrowheads="1"/>
          </p:cNvSpPr>
          <p:nvPr/>
        </p:nvSpPr>
        <p:spPr bwMode="auto">
          <a:xfrm>
            <a:off x="500063" y="4929188"/>
            <a:ext cx="2857500" cy="461962"/>
          </a:xfrm>
          <a:prstGeom prst="rect">
            <a:avLst/>
          </a:prstGeom>
          <a:noFill/>
          <a:ln w="9525">
            <a:noFill/>
            <a:miter lim="800000"/>
            <a:headEnd/>
            <a:tailEnd/>
          </a:ln>
        </p:spPr>
        <p:txBody>
          <a:bodyPr>
            <a:spAutoFit/>
          </a:bodyPr>
          <a:lstStyle/>
          <a:p>
            <a:pPr algn="ctr" eaLnBrk="1" hangingPunct="1"/>
            <a:r>
              <a:rPr lang="en-US" altLang="ar-JO" sz="1200">
                <a:solidFill>
                  <a:schemeClr val="accent1"/>
                </a:solidFill>
                <a:latin typeface="Calibri" pitchFamily="34" charset="0"/>
              </a:rPr>
              <a:t>http://abe.leeward.hawaii.edu/WebSharing/Nucleic%20Acid%20Isolation.ppt</a:t>
            </a:r>
          </a:p>
        </p:txBody>
      </p:sp>
      <p:sp>
        <p:nvSpPr>
          <p:cNvPr id="64522" name="Slide Number Placeholder 2"/>
          <p:cNvSpPr>
            <a:spLocks noGrp="1" noChangeArrowheads="1"/>
          </p:cNvSpPr>
          <p:nvPr>
            <p:ph type="sldNum" sz="quarter" idx="12"/>
          </p:nvPr>
        </p:nvSpPr>
        <p:spPr bwMode="auto">
          <a:noFill/>
          <a:ln>
            <a:miter lim="800000"/>
            <a:headEnd/>
            <a:tailEnd/>
          </a:ln>
        </p:spPr>
        <p:txBody>
          <a:bodyPr/>
          <a:lstStyle/>
          <a:p>
            <a:fld id="{4C43011A-41B8-4BE0-ADC6-EA549B8F71D7}" type="slidenum">
              <a:rPr lang="en-US" altLang="ar-JO"/>
              <a:pPr/>
              <a:t>32</a:t>
            </a:fld>
            <a:endParaRPr lang="en-US" altLang="ar-JO"/>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a:t>MBL</a:t>
            </a:r>
          </a:p>
        </p:txBody>
      </p:sp>
      <p:sp>
        <p:nvSpPr>
          <p:cNvPr id="66563" name="Slide Number Placeholder 2"/>
          <p:cNvSpPr>
            <a:spLocks noGrp="1" noChangeArrowheads="1"/>
          </p:cNvSpPr>
          <p:nvPr>
            <p:ph type="sldNum" sz="quarter" idx="12"/>
          </p:nvPr>
        </p:nvSpPr>
        <p:spPr bwMode="auto">
          <a:noFill/>
          <a:ln>
            <a:miter lim="800000"/>
            <a:headEnd/>
            <a:tailEnd/>
          </a:ln>
        </p:spPr>
        <p:txBody>
          <a:bodyPr/>
          <a:lstStyle/>
          <a:p>
            <a:fld id="{BF9B3ECE-DD87-460C-BE29-34BA6269B2B8}" type="slidenum">
              <a:rPr lang="en-US" altLang="ar-JO"/>
              <a:pPr/>
              <a:t>33</a:t>
            </a:fld>
            <a:endParaRPr lang="en-US" altLang="ar-JO"/>
          </a:p>
        </p:txBody>
      </p:sp>
      <p:pic>
        <p:nvPicPr>
          <p:cNvPr id="66564" name="Picture 3"/>
          <p:cNvPicPr>
            <a:picLocks noChangeAspect="1" noChangeArrowheads="1"/>
          </p:cNvPicPr>
          <p:nvPr/>
        </p:nvPicPr>
        <p:blipFill>
          <a:blip r:embed="rId2"/>
          <a:srcRect/>
          <a:stretch>
            <a:fillRect/>
          </a:stretch>
        </p:blipFill>
        <p:spPr bwMode="auto">
          <a:xfrm>
            <a:off x="1143000" y="804863"/>
            <a:ext cx="7072313" cy="5248275"/>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a:t>MBL</a:t>
            </a:r>
          </a:p>
        </p:txBody>
      </p:sp>
      <p:sp>
        <p:nvSpPr>
          <p:cNvPr id="67587" name="Slide Number Placeholder 2"/>
          <p:cNvSpPr>
            <a:spLocks noGrp="1" noChangeArrowheads="1"/>
          </p:cNvSpPr>
          <p:nvPr>
            <p:ph type="sldNum" sz="quarter" idx="12"/>
          </p:nvPr>
        </p:nvSpPr>
        <p:spPr bwMode="auto">
          <a:noFill/>
          <a:ln>
            <a:miter lim="800000"/>
            <a:headEnd/>
            <a:tailEnd/>
          </a:ln>
        </p:spPr>
        <p:txBody>
          <a:bodyPr/>
          <a:lstStyle/>
          <a:p>
            <a:fld id="{2D2A2046-E6AB-4D21-9A45-F414D19A0F97}" type="slidenum">
              <a:rPr lang="en-US" altLang="ar-JO"/>
              <a:pPr/>
              <a:t>34</a:t>
            </a:fld>
            <a:endParaRPr lang="en-US" altLang="ar-JO"/>
          </a:p>
        </p:txBody>
      </p:sp>
      <p:pic>
        <p:nvPicPr>
          <p:cNvPr id="67588" name="Picture 3"/>
          <p:cNvPicPr>
            <a:picLocks noChangeAspect="1" noChangeArrowheads="1"/>
          </p:cNvPicPr>
          <p:nvPr/>
        </p:nvPicPr>
        <p:blipFill>
          <a:blip r:embed="rId3"/>
          <a:srcRect/>
          <a:stretch>
            <a:fillRect/>
          </a:stretch>
        </p:blipFill>
        <p:spPr bwMode="auto">
          <a:xfrm>
            <a:off x="1500188" y="1428750"/>
            <a:ext cx="6500812" cy="4357688"/>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7713" y="153988"/>
            <a:ext cx="7467600" cy="488950"/>
          </a:xfrm>
        </p:spPr>
        <p:txBody>
          <a:bodyPr rtlCol="0">
            <a:noAutofit/>
          </a:bodyPr>
          <a:lstStyle/>
          <a:p>
            <a:pPr eaLnBrk="1" fontAlgn="auto" hangingPunct="1">
              <a:spcAft>
                <a:spcPts val="0"/>
              </a:spcAft>
              <a:defRPr/>
            </a:pPr>
            <a:r>
              <a:rPr lang="en-US" sz="3600" b="1" dirty="0">
                <a:solidFill>
                  <a:schemeClr val="tx2">
                    <a:lumMod val="60000"/>
                    <a:lumOff val="40000"/>
                  </a:schemeClr>
                </a:solidFill>
              </a:rPr>
              <a:t>Laboratory No. </a:t>
            </a:r>
          </a:p>
        </p:txBody>
      </p:sp>
      <p:sp>
        <p:nvSpPr>
          <p:cNvPr id="42" name="Footer Placeholder 41"/>
          <p:cNvSpPr>
            <a:spLocks noGrp="1"/>
          </p:cNvSpPr>
          <p:nvPr>
            <p:ph type="ftr" sz="quarter" idx="11"/>
          </p:nvPr>
        </p:nvSpPr>
        <p:spPr>
          <a:xfrm>
            <a:off x="142875" y="6492875"/>
            <a:ext cx="3200400" cy="365125"/>
          </a:xfrm>
        </p:spPr>
        <p:txBody>
          <a:bodyPr/>
          <a:lstStyle/>
          <a:p>
            <a:pPr algn="l">
              <a:defRPr/>
            </a:pPr>
            <a:r>
              <a:rPr lang="en-US" sz="1400" dirty="0"/>
              <a:t>MBL. BT453</a:t>
            </a:r>
          </a:p>
        </p:txBody>
      </p:sp>
      <p:sp>
        <p:nvSpPr>
          <p:cNvPr id="69636" name="Slide Number Placeholder 40"/>
          <p:cNvSpPr>
            <a:spLocks noGrp="1" noChangeArrowheads="1"/>
          </p:cNvSpPr>
          <p:nvPr>
            <p:ph type="sldNum" sz="quarter" idx="12"/>
          </p:nvPr>
        </p:nvSpPr>
        <p:spPr bwMode="auto">
          <a:noFill/>
          <a:ln>
            <a:miter lim="800000"/>
            <a:headEnd/>
            <a:tailEnd/>
          </a:ln>
        </p:spPr>
        <p:txBody>
          <a:bodyPr/>
          <a:lstStyle/>
          <a:p>
            <a:fld id="{5B85B1D0-AFA8-4AE3-87F6-8C11DE5758B2}" type="slidenum">
              <a:rPr lang="en-US" altLang="ar-JO"/>
              <a:pPr/>
              <a:t>35</a:t>
            </a:fld>
            <a:endParaRPr lang="en-US" altLang="ar-JO"/>
          </a:p>
        </p:txBody>
      </p:sp>
      <p:cxnSp>
        <p:nvCxnSpPr>
          <p:cNvPr id="43" name="Straight Connector 42"/>
          <p:cNvCxnSpPr/>
          <p:nvPr/>
        </p:nvCxnSpPr>
        <p:spPr>
          <a:xfrm>
            <a:off x="785813" y="785813"/>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2" name="Rounded Rectangle 51"/>
          <p:cNvSpPr/>
          <p:nvPr/>
        </p:nvSpPr>
        <p:spPr>
          <a:xfrm>
            <a:off x="3500438" y="1143000"/>
            <a:ext cx="2143125" cy="355600"/>
          </a:xfrm>
          <a:prstGeom prst="roundRect">
            <a:avLst/>
          </a:prstGeom>
        </p:spPr>
        <p:style>
          <a:lnRef idx="1">
            <a:schemeClr val="accent6"/>
          </a:lnRef>
          <a:fillRef idx="2">
            <a:schemeClr val="accent6"/>
          </a:fillRef>
          <a:effectRef idx="1">
            <a:schemeClr val="accent6"/>
          </a:effectRef>
          <a:fontRef idx="minor">
            <a:schemeClr val="dk1"/>
          </a:fontRef>
        </p:style>
        <p:txBody>
          <a:bodyPr anchor="ctr"/>
          <a:lstStyle/>
          <a:p>
            <a:pPr algn="ctr" eaLnBrk="1" fontAlgn="auto" hangingPunct="1">
              <a:spcBef>
                <a:spcPts val="0"/>
              </a:spcBef>
              <a:spcAft>
                <a:spcPts val="0"/>
              </a:spcAft>
              <a:defRPr/>
            </a:pPr>
            <a:r>
              <a:rPr lang="en-US" sz="1200" dirty="0"/>
              <a:t>Your samples</a:t>
            </a:r>
          </a:p>
        </p:txBody>
      </p:sp>
      <p:sp>
        <p:nvSpPr>
          <p:cNvPr id="53" name="TextBox 52"/>
          <p:cNvSpPr txBox="1"/>
          <p:nvPr/>
        </p:nvSpPr>
        <p:spPr>
          <a:xfrm>
            <a:off x="6357938" y="2357438"/>
            <a:ext cx="1143000" cy="307975"/>
          </a:xfrm>
          <a:prstGeom prst="rect">
            <a:avLst/>
          </a:prstGeom>
          <a:noFill/>
          <a:ln>
            <a:noFill/>
          </a:ln>
        </p:spPr>
        <p:txBody>
          <a:bodyPr>
            <a:spAutoFit/>
          </a:bodyPr>
          <a:lstStyle/>
          <a:p>
            <a:pPr algn="ctr" eaLnBrk="1" fontAlgn="auto" hangingPunct="1">
              <a:spcBef>
                <a:spcPts val="0"/>
              </a:spcBef>
              <a:spcAft>
                <a:spcPts val="0"/>
              </a:spcAft>
              <a:defRPr/>
            </a:pPr>
            <a:r>
              <a:rPr lang="en-US" sz="1400" dirty="0" err="1">
                <a:solidFill>
                  <a:schemeClr val="accent1">
                    <a:lumMod val="75000"/>
                  </a:schemeClr>
                </a:solidFill>
                <a:latin typeface="+mn-lt"/>
                <a:cs typeface="+mn-cs"/>
              </a:rPr>
              <a:t>NanoDrop</a:t>
            </a:r>
            <a:endParaRPr lang="en-US" sz="1400" dirty="0">
              <a:solidFill>
                <a:schemeClr val="accent1">
                  <a:lumMod val="75000"/>
                </a:schemeClr>
              </a:solidFill>
              <a:latin typeface="+mn-lt"/>
              <a:cs typeface="+mn-cs"/>
            </a:endParaRPr>
          </a:p>
        </p:txBody>
      </p:sp>
      <p:sp>
        <p:nvSpPr>
          <p:cNvPr id="54" name="TextBox 53"/>
          <p:cNvSpPr txBox="1"/>
          <p:nvPr/>
        </p:nvSpPr>
        <p:spPr>
          <a:xfrm>
            <a:off x="3571875" y="2357438"/>
            <a:ext cx="1928813" cy="307975"/>
          </a:xfrm>
          <a:prstGeom prst="rect">
            <a:avLst/>
          </a:prstGeom>
          <a:noFill/>
          <a:ln>
            <a:noFill/>
          </a:ln>
        </p:spPr>
        <p:txBody>
          <a:bodyPr>
            <a:spAutoFit/>
          </a:bodyPr>
          <a:lstStyle/>
          <a:p>
            <a:pPr algn="ctr" eaLnBrk="1" fontAlgn="auto" hangingPunct="1">
              <a:spcBef>
                <a:spcPts val="0"/>
              </a:spcBef>
              <a:spcAft>
                <a:spcPts val="0"/>
              </a:spcAft>
              <a:defRPr/>
            </a:pPr>
            <a:r>
              <a:rPr lang="en-US" sz="1400" dirty="0">
                <a:solidFill>
                  <a:schemeClr val="accent1">
                    <a:lumMod val="75000"/>
                  </a:schemeClr>
                </a:solidFill>
                <a:latin typeface="+mn-lt"/>
                <a:cs typeface="+mn-cs"/>
              </a:rPr>
              <a:t>Spectrophotometer</a:t>
            </a:r>
          </a:p>
        </p:txBody>
      </p:sp>
      <p:sp>
        <p:nvSpPr>
          <p:cNvPr id="55" name="TextBox 54"/>
          <p:cNvSpPr txBox="1"/>
          <p:nvPr/>
        </p:nvSpPr>
        <p:spPr>
          <a:xfrm>
            <a:off x="1071563" y="2262188"/>
            <a:ext cx="1857375" cy="523875"/>
          </a:xfrm>
          <a:prstGeom prst="rect">
            <a:avLst/>
          </a:prstGeom>
          <a:noFill/>
          <a:ln>
            <a:noFill/>
          </a:ln>
        </p:spPr>
        <p:txBody>
          <a:bodyPr>
            <a:spAutoFit/>
          </a:bodyPr>
          <a:lstStyle/>
          <a:p>
            <a:pPr algn="ctr" eaLnBrk="1" fontAlgn="auto" hangingPunct="1">
              <a:spcBef>
                <a:spcPts val="0"/>
              </a:spcBef>
              <a:spcAft>
                <a:spcPts val="0"/>
              </a:spcAft>
              <a:defRPr/>
            </a:pPr>
            <a:r>
              <a:rPr lang="en-US" sz="1400" dirty="0" err="1">
                <a:solidFill>
                  <a:schemeClr val="accent1">
                    <a:lumMod val="75000"/>
                  </a:schemeClr>
                </a:solidFill>
                <a:latin typeface="+mn-lt"/>
                <a:cs typeface="+mn-cs"/>
              </a:rPr>
              <a:t>Agarose</a:t>
            </a:r>
            <a:r>
              <a:rPr lang="en-US" sz="1400" dirty="0">
                <a:solidFill>
                  <a:schemeClr val="accent1">
                    <a:lumMod val="75000"/>
                  </a:schemeClr>
                </a:solidFill>
                <a:latin typeface="+mn-lt"/>
                <a:cs typeface="+mn-cs"/>
              </a:rPr>
              <a:t> Gel electrophoresis</a:t>
            </a:r>
          </a:p>
        </p:txBody>
      </p:sp>
      <p:cxnSp>
        <p:nvCxnSpPr>
          <p:cNvPr id="56" name="Straight Arrow Connector 55"/>
          <p:cNvCxnSpPr/>
          <p:nvPr/>
        </p:nvCxnSpPr>
        <p:spPr>
          <a:xfrm rot="5400000">
            <a:off x="4275931" y="1989932"/>
            <a:ext cx="592137" cy="0"/>
          </a:xfrm>
          <a:prstGeom prst="straightConnector1">
            <a:avLst/>
          </a:prstGeom>
          <a:ln w="381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rot="5400000">
            <a:off x="2632869" y="1653382"/>
            <a:ext cx="520700" cy="500062"/>
          </a:xfrm>
          <a:prstGeom prst="straightConnector1">
            <a:avLst/>
          </a:prstGeom>
          <a:ln w="381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rot="16200000" flipH="1">
            <a:off x="5990432" y="1653381"/>
            <a:ext cx="520700" cy="500063"/>
          </a:xfrm>
          <a:prstGeom prst="straightConnector1">
            <a:avLst/>
          </a:prstGeom>
          <a:ln w="381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59" name="Rounded Rectangle 58"/>
          <p:cNvSpPr/>
          <p:nvPr/>
        </p:nvSpPr>
        <p:spPr>
          <a:xfrm>
            <a:off x="3571875" y="3429000"/>
            <a:ext cx="2143125" cy="355600"/>
          </a:xfrm>
          <a:prstGeom prst="roundRect">
            <a:avLst/>
          </a:prstGeom>
        </p:spPr>
        <p:style>
          <a:lnRef idx="1">
            <a:schemeClr val="accent6"/>
          </a:lnRef>
          <a:fillRef idx="2">
            <a:schemeClr val="accent6"/>
          </a:fillRef>
          <a:effectRef idx="1">
            <a:schemeClr val="accent6"/>
          </a:effectRef>
          <a:fontRef idx="minor">
            <a:schemeClr val="dk1"/>
          </a:fontRef>
        </p:style>
        <p:txBody>
          <a:bodyPr anchor="ctr"/>
          <a:lstStyle/>
          <a:p>
            <a:pPr algn="ctr" eaLnBrk="1" fontAlgn="auto" hangingPunct="1">
              <a:spcBef>
                <a:spcPts val="0"/>
              </a:spcBef>
              <a:spcAft>
                <a:spcPts val="0"/>
              </a:spcAft>
              <a:defRPr/>
            </a:pPr>
            <a:r>
              <a:rPr lang="en-US" sz="1200" dirty="0"/>
              <a:t>DNA samples</a:t>
            </a:r>
          </a:p>
        </p:txBody>
      </p:sp>
      <p:sp>
        <p:nvSpPr>
          <p:cNvPr id="60" name="TextBox 59"/>
          <p:cNvSpPr txBox="1"/>
          <p:nvPr/>
        </p:nvSpPr>
        <p:spPr>
          <a:xfrm>
            <a:off x="6357938" y="4692650"/>
            <a:ext cx="1857375" cy="307975"/>
          </a:xfrm>
          <a:prstGeom prst="rect">
            <a:avLst/>
          </a:prstGeom>
          <a:noFill/>
          <a:ln>
            <a:noFill/>
          </a:ln>
        </p:spPr>
        <p:txBody>
          <a:bodyPr>
            <a:spAutoFit/>
          </a:bodyPr>
          <a:lstStyle/>
          <a:p>
            <a:pPr algn="ctr" eaLnBrk="1" fontAlgn="auto" hangingPunct="1">
              <a:spcBef>
                <a:spcPts val="0"/>
              </a:spcBef>
              <a:spcAft>
                <a:spcPts val="0"/>
              </a:spcAft>
              <a:defRPr/>
            </a:pPr>
            <a:r>
              <a:rPr lang="en-US" sz="1400" dirty="0">
                <a:solidFill>
                  <a:schemeClr val="accent1">
                    <a:lumMod val="75000"/>
                  </a:schemeClr>
                </a:solidFill>
                <a:latin typeface="+mn-lt"/>
                <a:cs typeface="+mn-cs"/>
              </a:rPr>
              <a:t>Chemical degradation</a:t>
            </a:r>
          </a:p>
        </p:txBody>
      </p:sp>
      <p:sp>
        <p:nvSpPr>
          <p:cNvPr id="61" name="TextBox 60"/>
          <p:cNvSpPr txBox="1"/>
          <p:nvPr/>
        </p:nvSpPr>
        <p:spPr>
          <a:xfrm>
            <a:off x="3643313" y="4692650"/>
            <a:ext cx="1928812" cy="307975"/>
          </a:xfrm>
          <a:prstGeom prst="rect">
            <a:avLst/>
          </a:prstGeom>
          <a:noFill/>
          <a:ln>
            <a:noFill/>
          </a:ln>
        </p:spPr>
        <p:txBody>
          <a:bodyPr>
            <a:spAutoFit/>
          </a:bodyPr>
          <a:lstStyle/>
          <a:p>
            <a:pPr algn="ctr" eaLnBrk="1" fontAlgn="auto" hangingPunct="1">
              <a:spcBef>
                <a:spcPts val="0"/>
              </a:spcBef>
              <a:spcAft>
                <a:spcPts val="0"/>
              </a:spcAft>
              <a:defRPr/>
            </a:pPr>
            <a:r>
              <a:rPr lang="en-US" sz="1400" dirty="0">
                <a:solidFill>
                  <a:schemeClr val="accent1">
                    <a:lumMod val="75000"/>
                  </a:schemeClr>
                </a:solidFill>
                <a:latin typeface="+mn-lt"/>
                <a:cs typeface="+mn-cs"/>
              </a:rPr>
              <a:t>Biological degradation</a:t>
            </a:r>
          </a:p>
        </p:txBody>
      </p:sp>
      <p:sp>
        <p:nvSpPr>
          <p:cNvPr id="62" name="TextBox 61"/>
          <p:cNvSpPr txBox="1"/>
          <p:nvPr/>
        </p:nvSpPr>
        <p:spPr>
          <a:xfrm>
            <a:off x="1143000" y="4692650"/>
            <a:ext cx="1857375" cy="307975"/>
          </a:xfrm>
          <a:prstGeom prst="rect">
            <a:avLst/>
          </a:prstGeom>
          <a:noFill/>
          <a:ln>
            <a:noFill/>
          </a:ln>
        </p:spPr>
        <p:txBody>
          <a:bodyPr>
            <a:spAutoFit/>
          </a:bodyPr>
          <a:lstStyle/>
          <a:p>
            <a:pPr algn="ctr" eaLnBrk="1" fontAlgn="auto" hangingPunct="1">
              <a:spcBef>
                <a:spcPts val="0"/>
              </a:spcBef>
              <a:spcAft>
                <a:spcPts val="0"/>
              </a:spcAft>
              <a:defRPr/>
            </a:pPr>
            <a:r>
              <a:rPr lang="en-US" sz="1400" dirty="0">
                <a:solidFill>
                  <a:schemeClr val="accent1">
                    <a:lumMod val="75000"/>
                  </a:schemeClr>
                </a:solidFill>
                <a:latin typeface="+mn-lt"/>
                <a:cs typeface="+mn-cs"/>
              </a:rPr>
              <a:t>Physical degradation</a:t>
            </a:r>
          </a:p>
        </p:txBody>
      </p:sp>
      <p:cxnSp>
        <p:nvCxnSpPr>
          <p:cNvPr id="63" name="Straight Arrow Connector 62"/>
          <p:cNvCxnSpPr/>
          <p:nvPr/>
        </p:nvCxnSpPr>
        <p:spPr>
          <a:xfrm rot="5400000">
            <a:off x="4347369" y="4275932"/>
            <a:ext cx="592137" cy="0"/>
          </a:xfrm>
          <a:prstGeom prst="straightConnector1">
            <a:avLst/>
          </a:prstGeom>
          <a:ln w="381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rot="5400000">
            <a:off x="2704307" y="3939381"/>
            <a:ext cx="520700" cy="500063"/>
          </a:xfrm>
          <a:prstGeom prst="straightConnector1">
            <a:avLst/>
          </a:prstGeom>
          <a:ln w="381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rot="16200000" flipH="1">
            <a:off x="6061869" y="3939382"/>
            <a:ext cx="520700" cy="500062"/>
          </a:xfrm>
          <a:prstGeom prst="straightConnector1">
            <a:avLst/>
          </a:prstGeom>
          <a:ln w="381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66" name="Rounded Rectangle 65"/>
          <p:cNvSpPr/>
          <p:nvPr/>
        </p:nvSpPr>
        <p:spPr>
          <a:xfrm>
            <a:off x="3571875" y="5929313"/>
            <a:ext cx="2143125" cy="355600"/>
          </a:xfrm>
          <a:prstGeom prst="roundRect">
            <a:avLst/>
          </a:prstGeom>
        </p:spPr>
        <p:style>
          <a:lnRef idx="1">
            <a:schemeClr val="accent6"/>
          </a:lnRef>
          <a:fillRef idx="2">
            <a:schemeClr val="accent6"/>
          </a:fillRef>
          <a:effectRef idx="1">
            <a:schemeClr val="accent6"/>
          </a:effectRef>
          <a:fontRef idx="minor">
            <a:schemeClr val="dk1"/>
          </a:fontRef>
        </p:style>
        <p:txBody>
          <a:bodyPr anchor="ctr"/>
          <a:lstStyle/>
          <a:p>
            <a:pPr algn="ctr" eaLnBrk="1" fontAlgn="auto" hangingPunct="1">
              <a:spcBef>
                <a:spcPts val="0"/>
              </a:spcBef>
              <a:spcAft>
                <a:spcPts val="0"/>
              </a:spcAft>
              <a:defRPr/>
            </a:pPr>
            <a:r>
              <a:rPr lang="en-US" sz="1200" dirty="0" err="1"/>
              <a:t>Agarose</a:t>
            </a:r>
            <a:r>
              <a:rPr lang="en-US" sz="1200" dirty="0"/>
              <a:t> Gel Electrophoresis</a:t>
            </a:r>
          </a:p>
        </p:txBody>
      </p:sp>
      <p:cxnSp>
        <p:nvCxnSpPr>
          <p:cNvPr id="67" name="Straight Arrow Connector 66"/>
          <p:cNvCxnSpPr/>
          <p:nvPr/>
        </p:nvCxnSpPr>
        <p:spPr>
          <a:xfrm rot="5400000">
            <a:off x="5857875" y="5143500"/>
            <a:ext cx="500063" cy="500063"/>
          </a:xfrm>
          <a:prstGeom prst="straightConnector1">
            <a:avLst/>
          </a:prstGeom>
          <a:ln w="381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rot="16200000" flipH="1">
            <a:off x="2928937" y="5143501"/>
            <a:ext cx="500063" cy="500062"/>
          </a:xfrm>
          <a:prstGeom prst="straightConnector1">
            <a:avLst/>
          </a:prstGeom>
          <a:ln w="381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rot="5400000">
            <a:off x="4347369" y="5439569"/>
            <a:ext cx="592138" cy="0"/>
          </a:xfrm>
          <a:prstGeom prst="straightConnector1">
            <a:avLst/>
          </a:prstGeom>
          <a:ln w="381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36"/>
          <p:cNvSpPr/>
          <p:nvPr/>
        </p:nvSpPr>
        <p:spPr>
          <a:xfrm>
            <a:off x="714375" y="1428750"/>
            <a:ext cx="3071813" cy="2071688"/>
          </a:xfrm>
          <a:prstGeom prst="rect">
            <a:avLst/>
          </a:prstGeom>
          <a:solidFill>
            <a:schemeClr val="accent1">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Bef>
                <a:spcPts val="0"/>
              </a:spcBef>
              <a:spcAft>
                <a:spcPts val="0"/>
              </a:spcAft>
              <a:defRPr/>
            </a:pPr>
            <a:endParaRPr lang="en-US"/>
          </a:p>
        </p:txBody>
      </p:sp>
      <p:sp>
        <p:nvSpPr>
          <p:cNvPr id="61" name="Rectangle 60"/>
          <p:cNvSpPr/>
          <p:nvPr/>
        </p:nvSpPr>
        <p:spPr>
          <a:xfrm>
            <a:off x="5357813" y="1428750"/>
            <a:ext cx="3071812" cy="2071688"/>
          </a:xfrm>
          <a:prstGeom prst="rect">
            <a:avLst/>
          </a:prstGeom>
          <a:solidFill>
            <a:schemeClr val="accent1">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Bef>
                <a:spcPts val="0"/>
              </a:spcBef>
              <a:spcAft>
                <a:spcPts val="0"/>
              </a:spcAft>
              <a:defRPr/>
            </a:pPr>
            <a:endParaRPr lang="en-US"/>
          </a:p>
        </p:txBody>
      </p:sp>
      <p:sp>
        <p:nvSpPr>
          <p:cNvPr id="62" name="Rectangle 61"/>
          <p:cNvSpPr/>
          <p:nvPr/>
        </p:nvSpPr>
        <p:spPr>
          <a:xfrm>
            <a:off x="1000125" y="4429125"/>
            <a:ext cx="7000875" cy="2000250"/>
          </a:xfrm>
          <a:prstGeom prst="rect">
            <a:avLst/>
          </a:prstGeom>
          <a:solidFill>
            <a:schemeClr val="accent1">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Bef>
                <a:spcPts val="0"/>
              </a:spcBef>
              <a:spcAft>
                <a:spcPts val="0"/>
              </a:spcAft>
              <a:defRPr/>
            </a:pPr>
            <a:endParaRPr lang="en-US"/>
          </a:p>
        </p:txBody>
      </p:sp>
      <p:sp>
        <p:nvSpPr>
          <p:cNvPr id="5" name="Title 4"/>
          <p:cNvSpPr>
            <a:spLocks noGrp="1"/>
          </p:cNvSpPr>
          <p:nvPr>
            <p:ph type="title"/>
          </p:nvPr>
        </p:nvSpPr>
        <p:spPr>
          <a:xfrm>
            <a:off x="857250" y="142875"/>
            <a:ext cx="7467600" cy="488950"/>
          </a:xfrm>
        </p:spPr>
        <p:txBody>
          <a:bodyPr rtlCol="0">
            <a:noAutofit/>
          </a:bodyPr>
          <a:lstStyle/>
          <a:p>
            <a:pPr eaLnBrk="1" fontAlgn="auto" hangingPunct="1">
              <a:spcAft>
                <a:spcPts val="0"/>
              </a:spcAft>
              <a:defRPr/>
            </a:pPr>
            <a:r>
              <a:rPr lang="en-US" sz="3200" b="1" dirty="0">
                <a:solidFill>
                  <a:schemeClr val="tx2">
                    <a:lumMod val="60000"/>
                    <a:lumOff val="40000"/>
                  </a:schemeClr>
                </a:solidFill>
              </a:rPr>
              <a:t>WORK FLOW CHART</a:t>
            </a:r>
          </a:p>
        </p:txBody>
      </p:sp>
      <p:sp>
        <p:nvSpPr>
          <p:cNvPr id="69" name="Footer Placeholder 41"/>
          <p:cNvSpPr>
            <a:spLocks noGrp="1"/>
          </p:cNvSpPr>
          <p:nvPr>
            <p:ph type="ftr" sz="quarter" idx="11"/>
          </p:nvPr>
        </p:nvSpPr>
        <p:spPr>
          <a:xfrm>
            <a:off x="142875" y="6492875"/>
            <a:ext cx="3200400" cy="365125"/>
          </a:xfrm>
        </p:spPr>
        <p:txBody>
          <a:bodyPr/>
          <a:lstStyle/>
          <a:p>
            <a:pPr algn="l">
              <a:defRPr/>
            </a:pPr>
            <a:r>
              <a:rPr lang="en-US" sz="1400" dirty="0"/>
              <a:t>MBL. BT453</a:t>
            </a:r>
          </a:p>
        </p:txBody>
      </p:sp>
      <p:sp>
        <p:nvSpPr>
          <p:cNvPr id="71687" name="Slide Number Placeholder 66"/>
          <p:cNvSpPr>
            <a:spLocks noGrp="1" noChangeArrowheads="1"/>
          </p:cNvSpPr>
          <p:nvPr>
            <p:ph type="sldNum" sz="quarter" idx="12"/>
          </p:nvPr>
        </p:nvSpPr>
        <p:spPr bwMode="auto">
          <a:noFill/>
          <a:ln>
            <a:miter lim="800000"/>
            <a:headEnd/>
            <a:tailEnd/>
          </a:ln>
        </p:spPr>
        <p:txBody>
          <a:bodyPr/>
          <a:lstStyle/>
          <a:p>
            <a:fld id="{C84761BB-76B3-474C-9372-200E04D0A1DE}" type="slidenum">
              <a:rPr lang="en-US" altLang="ar-JO"/>
              <a:pPr/>
              <a:t>36</a:t>
            </a:fld>
            <a:endParaRPr lang="en-US" altLang="ar-JO"/>
          </a:p>
        </p:txBody>
      </p:sp>
      <p:sp>
        <p:nvSpPr>
          <p:cNvPr id="8" name="Rounded Rectangle 7"/>
          <p:cNvSpPr/>
          <p:nvPr/>
        </p:nvSpPr>
        <p:spPr>
          <a:xfrm>
            <a:off x="7186613" y="1644650"/>
            <a:ext cx="1028700" cy="355600"/>
          </a:xfrm>
          <a:prstGeom prst="roundRect">
            <a:avLst/>
          </a:prstGeom>
        </p:spPr>
        <p:style>
          <a:lnRef idx="1">
            <a:schemeClr val="accent6"/>
          </a:lnRef>
          <a:fillRef idx="2">
            <a:schemeClr val="accent6"/>
          </a:fillRef>
          <a:effectRef idx="1">
            <a:schemeClr val="accent6"/>
          </a:effectRef>
          <a:fontRef idx="minor">
            <a:schemeClr val="dk1"/>
          </a:fontRef>
        </p:style>
        <p:txBody>
          <a:bodyPr anchor="ctr"/>
          <a:lstStyle/>
          <a:p>
            <a:pPr algn="ctr" eaLnBrk="1" fontAlgn="auto" hangingPunct="1">
              <a:spcBef>
                <a:spcPts val="0"/>
              </a:spcBef>
              <a:spcAft>
                <a:spcPts val="0"/>
              </a:spcAft>
              <a:defRPr/>
            </a:pPr>
            <a:r>
              <a:rPr lang="en-US" sz="1200" dirty="0"/>
              <a:t>Blood</a:t>
            </a:r>
          </a:p>
        </p:txBody>
      </p:sp>
      <p:sp>
        <p:nvSpPr>
          <p:cNvPr id="9" name="Rounded Rectangle 8"/>
          <p:cNvSpPr/>
          <p:nvPr/>
        </p:nvSpPr>
        <p:spPr>
          <a:xfrm>
            <a:off x="5543550" y="1644650"/>
            <a:ext cx="1028700" cy="355600"/>
          </a:xfrm>
          <a:prstGeom prst="roundRect">
            <a:avLst/>
          </a:prstGeom>
        </p:spPr>
        <p:style>
          <a:lnRef idx="1">
            <a:schemeClr val="accent6"/>
          </a:lnRef>
          <a:fillRef idx="2">
            <a:schemeClr val="accent6"/>
          </a:fillRef>
          <a:effectRef idx="1">
            <a:schemeClr val="accent6"/>
          </a:effectRef>
          <a:fontRef idx="minor">
            <a:schemeClr val="dk1"/>
          </a:fontRef>
        </p:style>
        <p:txBody>
          <a:bodyPr anchor="ctr"/>
          <a:lstStyle/>
          <a:p>
            <a:pPr algn="ctr" eaLnBrk="1" fontAlgn="auto" hangingPunct="1">
              <a:spcBef>
                <a:spcPts val="0"/>
              </a:spcBef>
              <a:spcAft>
                <a:spcPts val="0"/>
              </a:spcAft>
              <a:defRPr/>
            </a:pPr>
            <a:r>
              <a:rPr lang="en-US" sz="1200" dirty="0"/>
              <a:t>Bacteria </a:t>
            </a:r>
          </a:p>
        </p:txBody>
      </p:sp>
      <p:sp>
        <p:nvSpPr>
          <p:cNvPr id="10" name="Rounded Rectangle 9"/>
          <p:cNvSpPr/>
          <p:nvPr/>
        </p:nvSpPr>
        <p:spPr>
          <a:xfrm>
            <a:off x="2543175" y="1644650"/>
            <a:ext cx="1028700" cy="355600"/>
          </a:xfrm>
          <a:prstGeom prst="roundRect">
            <a:avLst/>
          </a:prstGeom>
        </p:spPr>
        <p:style>
          <a:lnRef idx="1">
            <a:schemeClr val="accent6"/>
          </a:lnRef>
          <a:fillRef idx="2">
            <a:schemeClr val="accent6"/>
          </a:fillRef>
          <a:effectRef idx="1">
            <a:schemeClr val="accent6"/>
          </a:effectRef>
          <a:fontRef idx="minor">
            <a:schemeClr val="dk1"/>
          </a:fontRef>
        </p:style>
        <p:txBody>
          <a:bodyPr anchor="ctr"/>
          <a:lstStyle/>
          <a:p>
            <a:pPr algn="ctr" eaLnBrk="1" fontAlgn="auto" hangingPunct="1">
              <a:spcBef>
                <a:spcPts val="0"/>
              </a:spcBef>
              <a:spcAft>
                <a:spcPts val="0"/>
              </a:spcAft>
              <a:defRPr/>
            </a:pPr>
            <a:r>
              <a:rPr lang="en-US" sz="1050" dirty="0"/>
              <a:t>Blood</a:t>
            </a:r>
          </a:p>
        </p:txBody>
      </p:sp>
      <p:sp>
        <p:nvSpPr>
          <p:cNvPr id="11" name="Rounded Rectangle 10"/>
          <p:cNvSpPr/>
          <p:nvPr/>
        </p:nvSpPr>
        <p:spPr>
          <a:xfrm>
            <a:off x="900113" y="1644650"/>
            <a:ext cx="1028700" cy="355600"/>
          </a:xfrm>
          <a:prstGeom prst="roundRect">
            <a:avLst/>
          </a:prstGeom>
        </p:spPr>
        <p:style>
          <a:lnRef idx="1">
            <a:schemeClr val="accent6"/>
          </a:lnRef>
          <a:fillRef idx="2">
            <a:schemeClr val="accent6"/>
          </a:fillRef>
          <a:effectRef idx="1">
            <a:schemeClr val="accent6"/>
          </a:effectRef>
          <a:fontRef idx="minor">
            <a:schemeClr val="dk1"/>
          </a:fontRef>
        </p:style>
        <p:txBody>
          <a:bodyPr anchor="ctr"/>
          <a:lstStyle/>
          <a:p>
            <a:pPr algn="ctr" eaLnBrk="1" fontAlgn="auto" hangingPunct="1">
              <a:spcBef>
                <a:spcPts val="0"/>
              </a:spcBef>
              <a:spcAft>
                <a:spcPts val="0"/>
              </a:spcAft>
              <a:defRPr/>
            </a:pPr>
            <a:r>
              <a:rPr lang="en-US" sz="1200" dirty="0"/>
              <a:t>Bacteria </a:t>
            </a:r>
          </a:p>
        </p:txBody>
      </p:sp>
      <p:sp>
        <p:nvSpPr>
          <p:cNvPr id="16" name="TextBox 15"/>
          <p:cNvSpPr txBox="1"/>
          <p:nvPr/>
        </p:nvSpPr>
        <p:spPr>
          <a:xfrm>
            <a:off x="7343775" y="2824163"/>
            <a:ext cx="800100" cy="400050"/>
          </a:xfrm>
          <a:prstGeom prst="rect">
            <a:avLst/>
          </a:prstGeom>
          <a:noFill/>
          <a:ln>
            <a:noFill/>
          </a:ln>
        </p:spPr>
        <p:txBody>
          <a:bodyPr>
            <a:spAutoFit/>
          </a:bodyPr>
          <a:lstStyle/>
          <a:p>
            <a:pPr algn="ctr" eaLnBrk="1" fontAlgn="auto" hangingPunct="1">
              <a:spcBef>
                <a:spcPts val="0"/>
              </a:spcBef>
              <a:spcAft>
                <a:spcPts val="0"/>
              </a:spcAft>
              <a:defRPr/>
            </a:pPr>
            <a:r>
              <a:rPr lang="en-US" sz="2000" dirty="0">
                <a:solidFill>
                  <a:schemeClr val="accent1">
                    <a:lumMod val="75000"/>
                  </a:schemeClr>
                </a:solidFill>
                <a:latin typeface="+mn-lt"/>
                <a:cs typeface="+mn-cs"/>
              </a:rPr>
              <a:t>DNA </a:t>
            </a:r>
          </a:p>
        </p:txBody>
      </p:sp>
      <p:sp>
        <p:nvSpPr>
          <p:cNvPr id="17" name="TextBox 16"/>
          <p:cNvSpPr txBox="1"/>
          <p:nvPr/>
        </p:nvSpPr>
        <p:spPr>
          <a:xfrm>
            <a:off x="5643563" y="2824163"/>
            <a:ext cx="800100" cy="400050"/>
          </a:xfrm>
          <a:prstGeom prst="rect">
            <a:avLst/>
          </a:prstGeom>
          <a:noFill/>
          <a:ln>
            <a:noFill/>
          </a:ln>
        </p:spPr>
        <p:txBody>
          <a:bodyPr>
            <a:spAutoFit/>
          </a:bodyPr>
          <a:lstStyle/>
          <a:p>
            <a:pPr algn="ctr" eaLnBrk="1" fontAlgn="auto" hangingPunct="1">
              <a:spcBef>
                <a:spcPts val="0"/>
              </a:spcBef>
              <a:spcAft>
                <a:spcPts val="0"/>
              </a:spcAft>
              <a:defRPr/>
            </a:pPr>
            <a:r>
              <a:rPr lang="en-US" sz="2000" dirty="0">
                <a:solidFill>
                  <a:schemeClr val="accent1">
                    <a:lumMod val="75000"/>
                  </a:schemeClr>
                </a:solidFill>
                <a:latin typeface="+mn-lt"/>
                <a:cs typeface="+mn-cs"/>
              </a:rPr>
              <a:t>DNA </a:t>
            </a:r>
          </a:p>
        </p:txBody>
      </p:sp>
      <p:sp>
        <p:nvSpPr>
          <p:cNvPr id="18" name="TextBox 17"/>
          <p:cNvSpPr txBox="1"/>
          <p:nvPr/>
        </p:nvSpPr>
        <p:spPr>
          <a:xfrm>
            <a:off x="2700338" y="2786063"/>
            <a:ext cx="800100" cy="400050"/>
          </a:xfrm>
          <a:prstGeom prst="rect">
            <a:avLst/>
          </a:prstGeom>
          <a:noFill/>
          <a:ln>
            <a:noFill/>
          </a:ln>
        </p:spPr>
        <p:txBody>
          <a:bodyPr>
            <a:spAutoFit/>
          </a:bodyPr>
          <a:lstStyle/>
          <a:p>
            <a:pPr algn="ctr" eaLnBrk="1" fontAlgn="auto" hangingPunct="1">
              <a:spcBef>
                <a:spcPts val="0"/>
              </a:spcBef>
              <a:spcAft>
                <a:spcPts val="0"/>
              </a:spcAft>
              <a:defRPr/>
            </a:pPr>
            <a:r>
              <a:rPr lang="en-US" sz="2000" dirty="0">
                <a:solidFill>
                  <a:schemeClr val="accent1">
                    <a:lumMod val="75000"/>
                  </a:schemeClr>
                </a:solidFill>
                <a:latin typeface="+mn-lt"/>
                <a:cs typeface="+mn-cs"/>
              </a:rPr>
              <a:t>RNA </a:t>
            </a:r>
          </a:p>
        </p:txBody>
      </p:sp>
      <p:sp>
        <p:nvSpPr>
          <p:cNvPr id="19" name="TextBox 18"/>
          <p:cNvSpPr txBox="1"/>
          <p:nvPr/>
        </p:nvSpPr>
        <p:spPr>
          <a:xfrm>
            <a:off x="785813" y="2786063"/>
            <a:ext cx="1214437" cy="400050"/>
          </a:xfrm>
          <a:prstGeom prst="rect">
            <a:avLst/>
          </a:prstGeom>
          <a:noFill/>
          <a:ln>
            <a:noFill/>
          </a:ln>
        </p:spPr>
        <p:txBody>
          <a:bodyPr>
            <a:spAutoFit/>
          </a:bodyPr>
          <a:lstStyle/>
          <a:p>
            <a:pPr algn="ctr" eaLnBrk="1" fontAlgn="auto" hangingPunct="1">
              <a:spcBef>
                <a:spcPts val="0"/>
              </a:spcBef>
              <a:spcAft>
                <a:spcPts val="0"/>
              </a:spcAft>
              <a:defRPr/>
            </a:pPr>
            <a:r>
              <a:rPr lang="en-US" sz="2000" dirty="0">
                <a:solidFill>
                  <a:schemeClr val="accent1">
                    <a:lumMod val="75000"/>
                  </a:schemeClr>
                </a:solidFill>
                <a:latin typeface="+mn-lt"/>
                <a:cs typeface="+mn-cs"/>
              </a:rPr>
              <a:t>Plasmid </a:t>
            </a:r>
          </a:p>
        </p:txBody>
      </p:sp>
      <p:cxnSp>
        <p:nvCxnSpPr>
          <p:cNvPr id="27" name="Straight Connector 26"/>
          <p:cNvCxnSpPr/>
          <p:nvPr/>
        </p:nvCxnSpPr>
        <p:spPr>
          <a:xfrm rot="5400000">
            <a:off x="5894388" y="3463925"/>
            <a:ext cx="355600" cy="0"/>
          </a:xfrm>
          <a:prstGeom prst="line">
            <a:avLst/>
          </a:prstGeom>
          <a:ln w="381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5400000">
            <a:off x="7537450" y="3463925"/>
            <a:ext cx="355600" cy="0"/>
          </a:xfrm>
          <a:prstGeom prst="line">
            <a:avLst/>
          </a:prstGeom>
          <a:ln w="381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5400000">
            <a:off x="1249363" y="3463925"/>
            <a:ext cx="355600" cy="0"/>
          </a:xfrm>
          <a:prstGeom prst="line">
            <a:avLst/>
          </a:prstGeom>
          <a:ln w="381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5400000">
            <a:off x="2894013" y="3463925"/>
            <a:ext cx="355600" cy="0"/>
          </a:xfrm>
          <a:prstGeom prst="line">
            <a:avLst/>
          </a:prstGeom>
          <a:ln w="381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1428750" y="3643313"/>
            <a:ext cx="6286500" cy="1587"/>
          </a:xfrm>
          <a:prstGeom prst="line">
            <a:avLst/>
          </a:prstGeom>
          <a:ln w="381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rot="5400000">
            <a:off x="4204494" y="3939382"/>
            <a:ext cx="592137" cy="0"/>
          </a:xfrm>
          <a:prstGeom prst="straightConnector1">
            <a:avLst/>
          </a:prstGeom>
          <a:ln w="381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35" name="Rounded Rectangle 34"/>
          <p:cNvSpPr/>
          <p:nvPr/>
        </p:nvSpPr>
        <p:spPr>
          <a:xfrm>
            <a:off x="3429000" y="4643438"/>
            <a:ext cx="2143125" cy="355600"/>
          </a:xfrm>
          <a:prstGeom prst="roundRect">
            <a:avLst/>
          </a:prstGeom>
        </p:spPr>
        <p:style>
          <a:lnRef idx="1">
            <a:schemeClr val="accent6"/>
          </a:lnRef>
          <a:fillRef idx="2">
            <a:schemeClr val="accent6"/>
          </a:fillRef>
          <a:effectRef idx="1">
            <a:schemeClr val="accent6"/>
          </a:effectRef>
          <a:fontRef idx="minor">
            <a:schemeClr val="dk1"/>
          </a:fontRef>
        </p:style>
        <p:txBody>
          <a:bodyPr anchor="ctr"/>
          <a:lstStyle/>
          <a:p>
            <a:pPr algn="ctr" eaLnBrk="1" fontAlgn="auto" hangingPunct="1">
              <a:spcBef>
                <a:spcPts val="0"/>
              </a:spcBef>
              <a:spcAft>
                <a:spcPts val="0"/>
              </a:spcAft>
              <a:defRPr/>
            </a:pPr>
            <a:r>
              <a:rPr lang="en-US" sz="1200" dirty="0" err="1"/>
              <a:t>Quantitation</a:t>
            </a:r>
            <a:r>
              <a:rPr lang="en-US" sz="1200" dirty="0"/>
              <a:t> &amp; Analysis </a:t>
            </a:r>
          </a:p>
        </p:txBody>
      </p:sp>
      <p:sp>
        <p:nvSpPr>
          <p:cNvPr id="46" name="TextBox 45"/>
          <p:cNvSpPr txBox="1"/>
          <p:nvPr/>
        </p:nvSpPr>
        <p:spPr>
          <a:xfrm>
            <a:off x="6286500" y="5857875"/>
            <a:ext cx="1143000" cy="307975"/>
          </a:xfrm>
          <a:prstGeom prst="rect">
            <a:avLst/>
          </a:prstGeom>
          <a:noFill/>
          <a:ln>
            <a:noFill/>
          </a:ln>
        </p:spPr>
        <p:txBody>
          <a:bodyPr>
            <a:spAutoFit/>
          </a:bodyPr>
          <a:lstStyle/>
          <a:p>
            <a:pPr algn="ctr" eaLnBrk="1" fontAlgn="auto" hangingPunct="1">
              <a:spcBef>
                <a:spcPts val="0"/>
              </a:spcBef>
              <a:spcAft>
                <a:spcPts val="0"/>
              </a:spcAft>
              <a:defRPr/>
            </a:pPr>
            <a:r>
              <a:rPr lang="en-US" sz="1400" dirty="0">
                <a:solidFill>
                  <a:schemeClr val="accent1">
                    <a:lumMod val="75000"/>
                  </a:schemeClr>
                </a:solidFill>
                <a:latin typeface="+mn-lt"/>
                <a:cs typeface="+mn-cs"/>
              </a:rPr>
              <a:t>Nanodrop</a:t>
            </a:r>
          </a:p>
        </p:txBody>
      </p:sp>
      <p:sp>
        <p:nvSpPr>
          <p:cNvPr id="47" name="TextBox 46"/>
          <p:cNvSpPr txBox="1"/>
          <p:nvPr/>
        </p:nvSpPr>
        <p:spPr>
          <a:xfrm>
            <a:off x="3500438" y="5857875"/>
            <a:ext cx="1928812" cy="307975"/>
          </a:xfrm>
          <a:prstGeom prst="rect">
            <a:avLst/>
          </a:prstGeom>
          <a:noFill/>
          <a:ln>
            <a:noFill/>
          </a:ln>
        </p:spPr>
        <p:txBody>
          <a:bodyPr>
            <a:spAutoFit/>
          </a:bodyPr>
          <a:lstStyle/>
          <a:p>
            <a:pPr algn="ctr" eaLnBrk="1" fontAlgn="auto" hangingPunct="1">
              <a:spcBef>
                <a:spcPts val="0"/>
              </a:spcBef>
              <a:spcAft>
                <a:spcPts val="0"/>
              </a:spcAft>
              <a:defRPr/>
            </a:pPr>
            <a:r>
              <a:rPr lang="en-US" sz="1400" dirty="0">
                <a:solidFill>
                  <a:schemeClr val="accent1">
                    <a:lumMod val="75000"/>
                  </a:schemeClr>
                </a:solidFill>
                <a:latin typeface="+mn-lt"/>
                <a:cs typeface="+mn-cs"/>
              </a:rPr>
              <a:t>Spectrophotometer</a:t>
            </a:r>
          </a:p>
        </p:txBody>
      </p:sp>
      <p:sp>
        <p:nvSpPr>
          <p:cNvPr id="48" name="TextBox 47"/>
          <p:cNvSpPr txBox="1"/>
          <p:nvPr/>
        </p:nvSpPr>
        <p:spPr>
          <a:xfrm>
            <a:off x="1000125" y="5762625"/>
            <a:ext cx="1857375" cy="523875"/>
          </a:xfrm>
          <a:prstGeom prst="rect">
            <a:avLst/>
          </a:prstGeom>
          <a:noFill/>
          <a:ln>
            <a:noFill/>
          </a:ln>
        </p:spPr>
        <p:txBody>
          <a:bodyPr>
            <a:spAutoFit/>
          </a:bodyPr>
          <a:lstStyle/>
          <a:p>
            <a:pPr algn="ctr" eaLnBrk="1" fontAlgn="auto" hangingPunct="1">
              <a:spcBef>
                <a:spcPts val="0"/>
              </a:spcBef>
              <a:spcAft>
                <a:spcPts val="0"/>
              </a:spcAft>
              <a:defRPr/>
            </a:pPr>
            <a:r>
              <a:rPr lang="en-US" sz="1400" dirty="0" err="1">
                <a:solidFill>
                  <a:schemeClr val="accent1">
                    <a:lumMod val="75000"/>
                  </a:schemeClr>
                </a:solidFill>
                <a:latin typeface="+mn-lt"/>
                <a:cs typeface="+mn-cs"/>
              </a:rPr>
              <a:t>Agarose</a:t>
            </a:r>
            <a:r>
              <a:rPr lang="en-US" sz="1400" dirty="0">
                <a:solidFill>
                  <a:schemeClr val="accent1">
                    <a:lumMod val="75000"/>
                  </a:schemeClr>
                </a:solidFill>
                <a:latin typeface="+mn-lt"/>
                <a:cs typeface="+mn-cs"/>
              </a:rPr>
              <a:t> Gel electrophoresis</a:t>
            </a:r>
          </a:p>
        </p:txBody>
      </p:sp>
      <p:cxnSp>
        <p:nvCxnSpPr>
          <p:cNvPr id="52" name="Straight Arrow Connector 51"/>
          <p:cNvCxnSpPr/>
          <p:nvPr/>
        </p:nvCxnSpPr>
        <p:spPr>
          <a:xfrm rot="5400000">
            <a:off x="5776119" y="2439194"/>
            <a:ext cx="592138" cy="0"/>
          </a:xfrm>
          <a:prstGeom prst="straightConnector1">
            <a:avLst/>
          </a:prstGeom>
          <a:ln w="381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rot="5400000">
            <a:off x="7419181" y="2439194"/>
            <a:ext cx="592138" cy="0"/>
          </a:xfrm>
          <a:prstGeom prst="straightConnector1">
            <a:avLst/>
          </a:prstGeom>
          <a:ln w="381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rot="5400000">
            <a:off x="1132681" y="2439194"/>
            <a:ext cx="592138" cy="0"/>
          </a:xfrm>
          <a:prstGeom prst="straightConnector1">
            <a:avLst/>
          </a:prstGeom>
          <a:ln w="381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rot="5400000">
            <a:off x="2775744" y="2439194"/>
            <a:ext cx="592138" cy="0"/>
          </a:xfrm>
          <a:prstGeom prst="straightConnector1">
            <a:avLst/>
          </a:prstGeom>
          <a:ln w="381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rot="5400000">
            <a:off x="4204494" y="5490369"/>
            <a:ext cx="592138" cy="0"/>
          </a:xfrm>
          <a:prstGeom prst="straightConnector1">
            <a:avLst/>
          </a:prstGeom>
          <a:ln w="381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rot="5400000">
            <a:off x="2561432" y="5153818"/>
            <a:ext cx="520700" cy="500063"/>
          </a:xfrm>
          <a:prstGeom prst="straightConnector1">
            <a:avLst/>
          </a:prstGeom>
          <a:ln w="381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rot="16200000" flipH="1">
            <a:off x="5918994" y="5153819"/>
            <a:ext cx="520700" cy="500062"/>
          </a:xfrm>
          <a:prstGeom prst="straightConnector1">
            <a:avLst/>
          </a:prstGeom>
          <a:ln w="381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63" name="Title 4"/>
          <p:cNvSpPr txBox="1">
            <a:spLocks/>
          </p:cNvSpPr>
          <p:nvPr/>
        </p:nvSpPr>
        <p:spPr>
          <a:xfrm>
            <a:off x="642938" y="1082675"/>
            <a:ext cx="2357437" cy="346075"/>
          </a:xfrm>
          <a:prstGeom prst="rect">
            <a:avLst/>
          </a:prstGeom>
        </p:spPr>
        <p:txBody>
          <a:bodyPr anchor="b">
            <a:normAutofit fontScale="97500"/>
          </a:bodyPr>
          <a:lstStyle/>
          <a:p>
            <a:pPr eaLnBrk="1" fontAlgn="auto" hangingPunct="1">
              <a:spcAft>
                <a:spcPts val="0"/>
              </a:spcAft>
              <a:defRPr/>
            </a:pPr>
            <a:r>
              <a:rPr lang="en-US" sz="1600" b="1" cap="small" dirty="0">
                <a:solidFill>
                  <a:schemeClr val="accent1">
                    <a:lumMod val="75000"/>
                  </a:schemeClr>
                </a:solidFill>
                <a:latin typeface="+mj-lt"/>
                <a:ea typeface="+mj-ea"/>
                <a:cs typeface="+mj-cs"/>
              </a:rPr>
              <a:t>Laboratory No. 3 &amp;4</a:t>
            </a:r>
          </a:p>
        </p:txBody>
      </p:sp>
      <p:sp>
        <p:nvSpPr>
          <p:cNvPr id="64" name="Title 4"/>
          <p:cNvSpPr txBox="1">
            <a:spLocks/>
          </p:cNvSpPr>
          <p:nvPr/>
        </p:nvSpPr>
        <p:spPr>
          <a:xfrm>
            <a:off x="6072188" y="1071563"/>
            <a:ext cx="2357437" cy="346075"/>
          </a:xfrm>
          <a:prstGeom prst="rect">
            <a:avLst/>
          </a:prstGeom>
        </p:spPr>
        <p:txBody>
          <a:bodyPr anchor="b">
            <a:normAutofit fontScale="97500"/>
          </a:bodyPr>
          <a:lstStyle/>
          <a:p>
            <a:pPr algn="r" eaLnBrk="1" fontAlgn="auto" hangingPunct="1">
              <a:spcAft>
                <a:spcPts val="0"/>
              </a:spcAft>
              <a:defRPr/>
            </a:pPr>
            <a:r>
              <a:rPr lang="en-US" sz="1600" b="1" cap="small" dirty="0">
                <a:solidFill>
                  <a:schemeClr val="accent1">
                    <a:lumMod val="75000"/>
                  </a:schemeClr>
                </a:solidFill>
                <a:latin typeface="+mj-lt"/>
                <a:ea typeface="+mj-ea"/>
                <a:cs typeface="+mj-cs"/>
              </a:rPr>
              <a:t>Laboratory No. 1&amp;2</a:t>
            </a:r>
          </a:p>
        </p:txBody>
      </p:sp>
      <p:sp>
        <p:nvSpPr>
          <p:cNvPr id="65" name="Title 4"/>
          <p:cNvSpPr txBox="1">
            <a:spLocks/>
          </p:cNvSpPr>
          <p:nvPr/>
        </p:nvSpPr>
        <p:spPr>
          <a:xfrm>
            <a:off x="5643563" y="4071938"/>
            <a:ext cx="2357437" cy="346075"/>
          </a:xfrm>
          <a:prstGeom prst="rect">
            <a:avLst/>
          </a:prstGeom>
        </p:spPr>
        <p:txBody>
          <a:bodyPr anchor="b">
            <a:normAutofit fontScale="97500"/>
          </a:bodyPr>
          <a:lstStyle/>
          <a:p>
            <a:pPr algn="r" eaLnBrk="1" fontAlgn="auto" hangingPunct="1">
              <a:spcAft>
                <a:spcPts val="0"/>
              </a:spcAft>
              <a:defRPr/>
            </a:pPr>
            <a:r>
              <a:rPr lang="en-US" sz="1600" b="1" cap="small" dirty="0">
                <a:solidFill>
                  <a:schemeClr val="accent1">
                    <a:lumMod val="75000"/>
                  </a:schemeClr>
                </a:solidFill>
                <a:latin typeface="+mj-lt"/>
                <a:ea typeface="+mj-ea"/>
                <a:cs typeface="+mj-cs"/>
              </a:rPr>
              <a:t>Laboratory No.5</a:t>
            </a:r>
          </a:p>
        </p:txBody>
      </p:sp>
      <p:cxnSp>
        <p:nvCxnSpPr>
          <p:cNvPr id="73" name="Straight Connector 72"/>
          <p:cNvCxnSpPr/>
          <p:nvPr/>
        </p:nvCxnSpPr>
        <p:spPr>
          <a:xfrm>
            <a:off x="785813" y="785813"/>
            <a:ext cx="7500937"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advTm="12303"/>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3311</TotalTime>
  <Words>1498</Words>
  <Application>Microsoft Office PowerPoint</Application>
  <PresentationFormat>On-screen Show (4:3)</PresentationFormat>
  <Paragraphs>406</Paragraphs>
  <Slides>36</Slides>
  <Notes>32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Arial</vt:lpstr>
      <vt:lpstr>Calibri</vt:lpstr>
      <vt:lpstr>Wingdings</vt:lpstr>
      <vt:lpstr>Symbol</vt:lpstr>
      <vt:lpstr>ヒラギノ角ゴ Pro W3</vt:lpstr>
      <vt:lpstr>Times New Roman</vt:lpstr>
      <vt:lpstr>Tahoma</vt:lpstr>
      <vt:lpstr>Office Theme</vt:lpstr>
      <vt:lpstr>Molecular Biology Laboratory BT 453</vt:lpstr>
      <vt:lpstr>OBJECTIVES</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Laboratory No. </vt:lpstr>
      <vt:lpstr>WORK FLOW CHART</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feras</dc:creator>
  <cp:lastModifiedBy>Dell</cp:lastModifiedBy>
  <cp:revision>191</cp:revision>
  <dcterms:created xsi:type="dcterms:W3CDTF">2008-10-08T10:11:23Z</dcterms:created>
  <dcterms:modified xsi:type="dcterms:W3CDTF">2020-11-13T18:36:03Z</dcterms:modified>
</cp:coreProperties>
</file>