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6"/>
  </p:notesMasterIdLst>
  <p:sldIdLst>
    <p:sldId id="256" r:id="rId2"/>
    <p:sldId id="259" r:id="rId3"/>
    <p:sldId id="278" r:id="rId4"/>
    <p:sldId id="262" r:id="rId5"/>
    <p:sldId id="298" r:id="rId6"/>
    <p:sldId id="263" r:id="rId7"/>
    <p:sldId id="264" r:id="rId8"/>
    <p:sldId id="279" r:id="rId9"/>
    <p:sldId id="276" r:id="rId10"/>
    <p:sldId id="267" r:id="rId11"/>
    <p:sldId id="292" r:id="rId12"/>
    <p:sldId id="293" r:id="rId13"/>
    <p:sldId id="294" r:id="rId14"/>
    <p:sldId id="295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5" autoAdjust="0"/>
    <p:restoredTop sz="90323" autoAdjust="0"/>
  </p:normalViewPr>
  <p:slideViewPr>
    <p:cSldViewPr>
      <p:cViewPr varScale="1">
        <p:scale>
          <a:sx n="61" d="100"/>
          <a:sy n="61" d="100"/>
        </p:scale>
        <p:origin x="15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04F5CC-4A3D-4696-A03D-89EF4684C5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D7B18-DD5D-4E23-859F-D57D0570F3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DB1F627-3341-4591-839E-A85FCD0319DB}" type="datetimeFigureOut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9B7AD3C-B065-435D-839E-3F815912D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8A4E1B7-A75B-425B-9397-41EDAA9A4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982A1-D773-40DA-A3EC-6CC21EE13B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35FBE-059C-4791-9022-041C491B1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4F84C65-422A-4CB7-AC03-53DD8D344EF2}" type="slidenum">
              <a:rPr lang="en-US" altLang="ar-JO"/>
              <a:pPr/>
              <a:t>‹#›</a:t>
            </a:fld>
            <a:endParaRPr lang="en-US" alt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63940936-2190-48F9-9ECD-B41396F941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1BB755FD-2B34-4F92-B3EC-88D491F8E9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ar-JO" altLang="ar-J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95BC-3A96-4A7F-A0CF-077F37817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A162E9-8BD3-48F7-B659-21255BF6113E}" type="slidenum">
              <a:rPr lang="en-US" altLang="ar-JO">
                <a:latin typeface="Calibri" panose="020F0502020204030204" pitchFamily="34" charset="0"/>
              </a:rPr>
              <a:pPr eaLnBrk="1" hangingPunct="1"/>
              <a:t>7</a:t>
            </a:fld>
            <a:endParaRPr lang="en-US" altLang="ar-JO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58C23A3A-C87B-48FB-A75E-6EBE1361BE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80F3AA9E-D863-45E9-A2EF-6A8C681771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ar-JO" altLang="ar-J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CAB12-9C88-41B8-999C-F6837164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030E29-EBC0-418C-BCF3-96E3615F294F}" type="slidenum">
              <a:rPr lang="en-US" altLang="ar-JO">
                <a:latin typeface="Calibri" panose="020F0502020204030204" pitchFamily="34" charset="0"/>
              </a:rPr>
              <a:pPr eaLnBrk="1" hangingPunct="1"/>
              <a:t>8</a:t>
            </a:fld>
            <a:endParaRPr lang="en-US" altLang="ar-JO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B5EF59C-6EF9-405F-892B-A61ACBF04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55ED0F-22E5-4037-907D-849A4C3D51EA}" type="slidenum">
              <a:rPr lang="en-US" altLang="ar-JO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ar-JO">
              <a:latin typeface="Calibri" panose="020F050202020403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156B4B6-DD40-45E9-BE78-BFDF5534C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1715D23-FD9B-49B1-BEDD-5B2F6FA08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JO" altLang="ar-J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5F624E9-4105-42D9-A392-98349FABC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B8259B2-BCFC-41EB-941B-F35231BB1B83}" type="slidenum">
              <a:rPr lang="en-US" altLang="ar-JO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ar-JO">
              <a:latin typeface="Calibri" panose="020F050202020403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7590FC1-A3D5-47AA-84C9-161DF36256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5FA2F0C-48B6-477A-B05A-7B8C986D9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JO" altLang="ar-JO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A0D3198-1CC5-4C87-8CAE-68E63DB83F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6224A9-2830-4CC6-AF46-FE0663C5A6BB}" type="slidenum">
              <a:rPr lang="en-US" altLang="ar-JO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ar-JO">
              <a:latin typeface="Calibri" panose="020F050202020403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7DE879C-2453-4669-B8DB-9BC9052D8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65BD386-D06E-4EB6-B6FA-D2E33FA5C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JO" altLang="ar-J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6B5C8F13-12C5-40FE-ADC7-9CBF7A82F7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CA45B9-7A33-4EF9-8705-A320490D6959}" type="slidenum">
              <a:rPr lang="en-US" altLang="ar-JO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ar-JO">
              <a:latin typeface="Calibri" panose="020F050202020403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E9BC5A9-F6B9-4360-9482-6F780B9C6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3085465-785E-49A9-AD57-BC9E6F00B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JO" altLang="ar-J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1F72-304E-46A4-B166-8A45E8C5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EFBD0-74C0-44D9-9E70-2F651DD253CA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9684-B152-405A-AD41-1B4353ED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2D82E-91F0-4F86-9400-C5C67192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B360C-BBD9-4BE1-85F1-E123F70F54F5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186493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F382D-B303-4294-A3FD-E36D0B6D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4188C-2410-492A-8475-803A51C3552E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16888-8099-4DA0-8E2E-997DC245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93998-6297-4E53-A640-A4A8BEB3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7AB4F-3514-4FA5-9CC5-89446B321045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402969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E247-23A2-4C8C-B07F-5A7F4374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A39FE-09A5-489F-9FDC-212EF1F09454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8103-AA45-47AC-9FDD-9B0EDA80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06110-DC92-4943-A2FC-A1676A5F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DDA38F-7794-4F1C-913C-EBDB200C542E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15857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716607-9FEC-4CA0-8284-B1A4EC0A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1ECDC-3A93-4560-ACE0-34E3E7DC70AE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51DEA7-2216-415F-935F-CD3CCA5C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A2BE0C-D208-4782-B5ED-D0DAE418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8AB5B-07C1-4857-9393-80B8BE00A047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348277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54B9FF-646B-48AC-89E5-2398DF5C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FBFAC-69CD-4B0A-8DAE-7F5BF2C44058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7499639-3FA5-4333-97D8-41B005E2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4C8C4E-73DE-49E9-A661-4284414D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CA568-7A58-47EC-97ED-0534C0AC105E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102242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7D30E9F-BDEE-4A53-9074-3E1F7127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E5897-8FEC-4DCB-A495-7B2B35CC4F71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1FA062-948F-4DF5-85CE-B6AC11F2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C2567-B5BA-48F4-8957-5DB288B3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5C028B-D007-4EEF-9CF4-91290D84F7F4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143583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12FF2CC-DCED-49E9-8EA5-C2CAF8F8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55CC4-1336-419C-BFD3-17652A9DF541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72711A-3C15-4DEA-ACB4-F3CCE8C1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BF2B8F-41F4-4C67-B0F8-754EE378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2F5C8-2FDA-4A96-9993-93036F77EAAD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96968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64343A-6CF3-4A2B-8288-EFA17C06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D2116-8A15-4FB4-A6A8-2CE20201EB06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1EA472-345B-42A6-B03C-CE30BFB0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D17B10-B08A-4270-8534-0BC491E0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E5ECA-97E4-42F3-8390-2AC1617622E6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296768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B56123-08D8-4B52-A7BB-D8E1E31D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38197-517D-4EB1-828B-00313C7B9835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026870-6816-413D-99AF-6B93912F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15B5FE-183C-4B6D-96EA-8A59E0F1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F13BF-15C9-4A40-AE84-9DA43D54CCF6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327531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6880-6E05-41CC-AC0E-2663BE92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36878-263D-432C-8AFC-8AFB427F7DB0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2742-2509-4316-AB33-69A6803D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0A94-3050-4AF7-A8D5-0617FD4A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BD5ECB-2C32-458E-B600-C311E818CE9F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14154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74E1F-B4D0-4FF9-ACE1-F55BFBAF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64B22-D776-4CE2-B599-16C997FCC6D1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7529-F3E4-48DA-AE13-59570286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70260-7F83-402D-929C-5F8F59C0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60B79-63D6-4990-9AB0-D15D9866D4CC}" type="slidenum">
              <a:rPr lang="en-US" altLang="ar-JO"/>
              <a:pPr/>
              <a:t>‹#›</a:t>
            </a:fld>
            <a:endParaRPr lang="en-US" altLang="ar-JO"/>
          </a:p>
        </p:txBody>
      </p:sp>
    </p:spTree>
    <p:extLst>
      <p:ext uri="{BB962C8B-B14F-4D97-AF65-F5344CB8AC3E}">
        <p14:creationId xmlns:p14="http://schemas.microsoft.com/office/powerpoint/2010/main" val="218285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D8E72454-6CFB-498D-A0BF-1B6F5E9C0C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JO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F2F9B20-A9C6-4428-B933-8779EB1B3B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ar-JO"/>
              <a:t>Click to edit Master text styles</a:t>
            </a:r>
          </a:p>
          <a:p>
            <a:pPr lvl="1"/>
            <a:r>
              <a:rPr lang="en-US" altLang="ar-JO"/>
              <a:t>Second level</a:t>
            </a:r>
          </a:p>
          <a:p>
            <a:pPr lvl="2"/>
            <a:r>
              <a:rPr lang="en-US" altLang="ar-JO"/>
              <a:t>Third level</a:t>
            </a:r>
          </a:p>
          <a:p>
            <a:pPr lvl="3"/>
            <a:r>
              <a:rPr lang="en-US" altLang="ar-JO"/>
              <a:t>Fourth level</a:t>
            </a:r>
          </a:p>
          <a:p>
            <a:pPr lvl="4"/>
            <a:r>
              <a:rPr lang="en-US" altLang="ar-JO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CFEF6-B0BF-4828-AB8B-EAD7017DF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B686D4-B8EB-4460-97B7-808D9C7D09F0}" type="datetime1">
              <a:rPr lang="en-US"/>
              <a:pPr>
                <a:defRPr/>
              </a:pPr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B19AD-FB69-454A-A571-BF6BE7392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MBL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EDA05-CEC8-42F3-BBC3-2CED32751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DC55C065-6963-4C5A-9E71-7D6F3646DD0D}" type="slidenum">
              <a:rPr lang="en-US" altLang="ar-JO"/>
              <a:pPr/>
              <a:t>‹#›</a:t>
            </a:fld>
            <a:endParaRPr lang="en-US" altLang="ar-J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A19A018-7CE6-4DD6-8585-3674E47EF068}"/>
              </a:ext>
            </a:extLst>
          </p:cNvPr>
          <p:cNvSpPr/>
          <p:nvPr/>
        </p:nvSpPr>
        <p:spPr>
          <a:xfrm>
            <a:off x="0" y="3100388"/>
            <a:ext cx="9144000" cy="4000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32E6EE-B9F6-49F9-94FB-B75F7696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143000"/>
            <a:ext cx="8072438" cy="1125538"/>
          </a:xfrm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Molecular Biology Laboratory</a:t>
            </a:r>
            <a:b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2800" b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BT 453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B2E599-A643-4C87-9692-DB5E80699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7313" y="3857625"/>
            <a:ext cx="6172200" cy="1857375"/>
          </a:xfrm>
        </p:spPr>
        <p:txBody>
          <a:bodyPr rtlCol="0">
            <a:normAutofit fontScale="55000" lnSpcReduction="2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/>
                </a:solidFill>
              </a:rPr>
              <a:t>Laboratory  No. 6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7100" b="1" dirty="0">
                <a:solidFill>
                  <a:schemeClr val="bg1"/>
                </a:solidFill>
              </a:rPr>
              <a:t>Restriction </a:t>
            </a:r>
            <a:r>
              <a:rPr lang="en-US" sz="7100" b="1" dirty="0" err="1">
                <a:solidFill>
                  <a:schemeClr val="bg1"/>
                </a:solidFill>
              </a:rPr>
              <a:t>Endonucleases</a:t>
            </a:r>
            <a:endParaRPr lang="en-US" sz="7100" b="1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BCB6D-04CB-4AB3-8CEC-5CA53FE4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B2BB81-9CD8-428D-B8DA-C616BB897EFE}" type="slidenum">
              <a:rPr lang="ar-SA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Footer Placeholder 41">
            <a:extLst>
              <a:ext uri="{FF2B5EF4-FFF2-40B4-BE49-F238E27FC236}">
                <a16:creationId xmlns:a16="http://schemas.microsoft.com/office/drawing/2014/main" id="{53D5E471-3C81-4B53-92E2-81391DD4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875" y="6492875"/>
            <a:ext cx="3200400" cy="365125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MBL. BT453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>
            <a:extLst>
              <a:ext uri="{FF2B5EF4-FFF2-40B4-BE49-F238E27FC236}">
                <a16:creationId xmlns:a16="http://schemas.microsoft.com/office/drawing/2014/main" id="{362BDAEE-E53F-4200-89E3-771EFBE5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1785938"/>
            <a:ext cx="7500937" cy="4429125"/>
          </a:xfrm>
        </p:spPr>
        <p:txBody>
          <a:bodyPr/>
          <a:lstStyle/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n-AU" altLang="en-AU" sz="2800"/>
              <a:t>To understand the origin &amp;  natural function of restriction enzymes (RE)</a:t>
            </a:r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n-AU" altLang="en-AU" sz="280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n-AU" altLang="en-AU" sz="2800"/>
              <a:t>To have an idea about the Restriction/Modification Systems in bacteria</a:t>
            </a:r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n-AU" altLang="en-AU" sz="280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r>
              <a:rPr lang="en-AU" altLang="en-AU" sz="2800"/>
              <a:t>To understand the different experimental uses of RE</a:t>
            </a:r>
          </a:p>
          <a:p>
            <a:pPr marL="514350" indent="-514350" eaLnBrk="1" hangingPunct="1">
              <a:buFont typeface="Arial" panose="020B0604020202020204" pitchFamily="34" charset="0"/>
              <a:buNone/>
            </a:pPr>
            <a:endParaRPr lang="en-AU" altLang="en-AU" sz="2800"/>
          </a:p>
          <a:p>
            <a:pPr marL="514350" indent="-514350" eaLnBrk="1" hangingPunct="1">
              <a:buFont typeface="Calibri" panose="020F0502020204030204" pitchFamily="34" charset="0"/>
              <a:buAutoNum type="arabicPeriod"/>
            </a:pPr>
            <a:endParaRPr lang="en-US" altLang="ar-JO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F9CE9-87D1-47A4-A669-D154A18B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5C054E2-ED99-4B31-A196-E4DA33252B0E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36C1B732-5289-4307-AA54-2668ED7E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784225"/>
            <a:ext cx="7467600" cy="4889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OBJECTIVES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30BD-D967-47CA-9D9C-2DE0D20A9561}"/>
              </a:ext>
            </a:extLst>
          </p:cNvPr>
          <p:cNvCxnSpPr/>
          <p:nvPr/>
        </p:nvCxnSpPr>
        <p:spPr>
          <a:xfrm>
            <a:off x="785813" y="1427163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1">
            <a:extLst>
              <a:ext uri="{FF2B5EF4-FFF2-40B4-BE49-F238E27FC236}">
                <a16:creationId xmlns:a16="http://schemas.microsoft.com/office/drawing/2014/main" id="{5A66D443-DF44-47D8-9999-61CE1968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875" y="6492875"/>
            <a:ext cx="3200400" cy="365125"/>
          </a:xfrm>
        </p:spPr>
        <p:txBody>
          <a:bodyPr/>
          <a:lstStyle/>
          <a:p>
            <a:pPr algn="l">
              <a:defRPr/>
            </a:pPr>
            <a:r>
              <a:rPr lang="en-US" sz="1400" dirty="0"/>
              <a:t>MBL. BT453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8F701B-E994-46BD-B2B2-7A3CE9DA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7DF62B-1593-475C-BE77-48486275B745}" type="slidenum">
              <a:rPr lang="ar-SA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EB5EEA-79DE-42F9-91A1-BAE72FE7F890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5F79F833-CFD4-4E86-893D-6B5BF2FFB7EB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Restriction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Endonucleases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Footer Placeholder 41">
            <a:extLst>
              <a:ext uri="{FF2B5EF4-FFF2-40B4-BE49-F238E27FC236}">
                <a16:creationId xmlns:a16="http://schemas.microsoft.com/office/drawing/2014/main" id="{66E2A872-0E34-4B28-9417-BD63208126AB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1F8A38-3EC1-4A1B-8094-2609D7A213BF}"/>
              </a:ext>
            </a:extLst>
          </p:cNvPr>
          <p:cNvSpPr txBox="1">
            <a:spLocks/>
          </p:cNvSpPr>
          <p:nvPr/>
        </p:nvSpPr>
        <p:spPr>
          <a:xfrm>
            <a:off x="785813" y="1214438"/>
            <a:ext cx="7500937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Restriction enzyme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cs typeface="+mn-cs"/>
              </a:rPr>
              <a:t>       A protein that recognizes a particular sequence of DNA and cuts  the DNA at that site (the restriction site) 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cs typeface="+mn-cs"/>
              </a:rPr>
              <a:t>Isolated from bacteria as endogenous “restrictors” of bacterial pathogens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cs typeface="+mn-cs"/>
              </a:rPr>
              <a:t>Called "restriction enzymes“ because restrict host range for certain </a:t>
            </a:r>
            <a:r>
              <a:rPr lang="en-US" dirty="0" err="1">
                <a:latin typeface="+mn-lt"/>
                <a:cs typeface="+mn-cs"/>
              </a:rPr>
              <a:t>bacteriophage</a:t>
            </a:r>
            <a:r>
              <a:rPr lang="en-US" dirty="0">
                <a:latin typeface="+mn-lt"/>
                <a:cs typeface="+mn-cs"/>
              </a:rPr>
              <a:t>  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+mn-lt"/>
                <a:cs typeface="+mn-cs"/>
              </a:rPr>
              <a:t>Bacterial" immune system": destroy any "non-self" DNA</a:t>
            </a:r>
          </a:p>
        </p:txBody>
      </p:sp>
      <p:pic>
        <p:nvPicPr>
          <p:cNvPr id="5127" name="Picture 2" descr="http://www.cksinfo.com/clipart/construction/tools/scissors/scissors-2.png">
            <a:extLst>
              <a:ext uri="{FF2B5EF4-FFF2-40B4-BE49-F238E27FC236}">
                <a16:creationId xmlns:a16="http://schemas.microsoft.com/office/drawing/2014/main" id="{3040434E-0890-48B6-8B97-773E82C7C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5" r="17253"/>
          <a:stretch>
            <a:fillRect/>
          </a:stretch>
        </p:blipFill>
        <p:spPr bwMode="auto">
          <a:xfrm rot="5146094">
            <a:off x="1847851" y="4556125"/>
            <a:ext cx="13589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2" descr="http://www.dorlingkindersley-uk.co.uk/static/clipart/uk/dk/future/image_future007.jpg">
            <a:extLst>
              <a:ext uri="{FF2B5EF4-FFF2-40B4-BE49-F238E27FC236}">
                <a16:creationId xmlns:a16="http://schemas.microsoft.com/office/drawing/2014/main" id="{2CDF861E-00CC-4E0B-A67D-4A9905FCC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5" b="30186"/>
          <a:stretch>
            <a:fillRect/>
          </a:stretch>
        </p:blipFill>
        <p:spPr bwMode="auto">
          <a:xfrm>
            <a:off x="3635375" y="5084763"/>
            <a:ext cx="4625975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DDC70-5660-43E9-891A-E365E318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66E7146-A26F-49C8-A7D1-7841F08756AD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DDA924-23B2-4519-BCD8-8928C0F85F7D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B0E8A69-7B66-49FF-AE78-91AE1EC237ED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Bacterial immune system</a:t>
            </a:r>
          </a:p>
        </p:txBody>
      </p:sp>
      <p:sp>
        <p:nvSpPr>
          <p:cNvPr id="9" name="Footer Placeholder 41">
            <a:extLst>
              <a:ext uri="{FF2B5EF4-FFF2-40B4-BE49-F238E27FC236}">
                <a16:creationId xmlns:a16="http://schemas.microsoft.com/office/drawing/2014/main" id="{56305192-D5C3-45F1-9595-C04A0E1E7A34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pic>
        <p:nvPicPr>
          <p:cNvPr id="6150" name="Picture 4" descr="restriction enzymes 7.tiff">
            <a:extLst>
              <a:ext uri="{FF2B5EF4-FFF2-40B4-BE49-F238E27FC236}">
                <a16:creationId xmlns:a16="http://schemas.microsoft.com/office/drawing/2014/main" id="{64192EFB-8FD5-4D7A-B79D-6780EEE1E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t="16362" r="5215" b="5954"/>
          <a:stretch>
            <a:fillRect/>
          </a:stretch>
        </p:blipFill>
        <p:spPr bwMode="auto">
          <a:xfrm>
            <a:off x="1000125" y="1428750"/>
            <a:ext cx="6929438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6F9375-6B90-471F-950D-A4285626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MBL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83866-A548-4BC0-968C-8266CB48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C2142B-4D5F-4437-88C1-85EE0EA96563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26D17A0-31B4-462D-A621-F7D4F151CA1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8805F29-3106-44F0-B3C7-8A35BBA67649}" type="slidenum">
              <a:rPr lang="en-US" altLang="ar-JO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5</a:t>
            </a:fld>
            <a:endParaRPr lang="en-US" altLang="ar-JO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5F034F-62CD-4A0F-AE78-3820931EB29D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2DED2B15-062E-4B59-928B-CA9AC9C08A96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Restriction Enzymes</a:t>
            </a:r>
          </a:p>
        </p:txBody>
      </p:sp>
      <p:sp>
        <p:nvSpPr>
          <p:cNvPr id="7" name="Footer Placeholder 41">
            <a:extLst>
              <a:ext uri="{FF2B5EF4-FFF2-40B4-BE49-F238E27FC236}">
                <a16:creationId xmlns:a16="http://schemas.microsoft.com/office/drawing/2014/main" id="{02870F8A-6B73-4672-9980-78DED8FE5E0D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90D70A-8971-493A-96FA-6C7BCA935905}"/>
              </a:ext>
            </a:extLst>
          </p:cNvPr>
          <p:cNvSpPr txBox="1">
            <a:spLocks/>
          </p:cNvSpPr>
          <p:nvPr/>
        </p:nvSpPr>
        <p:spPr>
          <a:xfrm>
            <a:off x="714375" y="1285875"/>
            <a:ext cx="7500938" cy="46863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 err="1">
                <a:latin typeface="+mn-lt"/>
                <a:cs typeface="+mn-cs"/>
              </a:rPr>
              <a:t>Methylase</a:t>
            </a:r>
            <a:r>
              <a:rPr lang="en-US" sz="2400" dirty="0">
                <a:latin typeface="+mn-lt"/>
                <a:cs typeface="+mn-cs"/>
              </a:rPr>
              <a:t> recognizes same sequence in host DNA and protects it by </a:t>
            </a:r>
            <a:r>
              <a:rPr lang="en-US" sz="2400" dirty="0" err="1">
                <a:latin typeface="+mn-lt"/>
                <a:cs typeface="+mn-cs"/>
              </a:rPr>
              <a:t>methylating</a:t>
            </a:r>
            <a:r>
              <a:rPr lang="en-US" sz="2400" dirty="0">
                <a:latin typeface="+mn-lt"/>
                <a:cs typeface="+mn-cs"/>
              </a:rPr>
              <a:t> it; restriction enzyme destroys unprotected = non-self DNA</a:t>
            </a:r>
          </a:p>
          <a:p>
            <a:pPr marL="342900" indent="-342900"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(Restriction/Modification Systems)</a:t>
            </a:r>
          </a:p>
        </p:txBody>
      </p:sp>
      <p:pic>
        <p:nvPicPr>
          <p:cNvPr id="7177" name="Picture 4" descr="EcoRI">
            <a:extLst>
              <a:ext uri="{FF2B5EF4-FFF2-40B4-BE49-F238E27FC236}">
                <a16:creationId xmlns:a16="http://schemas.microsoft.com/office/drawing/2014/main" id="{54FA5E2A-34B7-436E-8C79-F0149FD83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86188"/>
            <a:ext cx="7000875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389F57-9AF8-4E7C-972A-04E3BBC7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AA0E3C-A6CE-4BEA-80C3-6F2870E6BFB5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B14EA0-C3B4-4EE4-88B8-2E74D0AB4847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FD21B1B5-8777-46B1-88D8-D9700D632585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+mn-cs"/>
              </a:rPr>
              <a:t>Methylation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6" name="Footer Placeholder 41">
            <a:extLst>
              <a:ext uri="{FF2B5EF4-FFF2-40B4-BE49-F238E27FC236}">
                <a16:creationId xmlns:a16="http://schemas.microsoft.com/office/drawing/2014/main" id="{53634C00-BBF4-43E8-B72F-CBBB280ABA5B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sp>
        <p:nvSpPr>
          <p:cNvPr id="8198" name="Content Placeholder 2">
            <a:extLst>
              <a:ext uri="{FF2B5EF4-FFF2-40B4-BE49-F238E27FC236}">
                <a16:creationId xmlns:a16="http://schemas.microsoft.com/office/drawing/2014/main" id="{8D934DBD-A5AB-41E4-BD34-A2E3C16F39CE}"/>
              </a:ext>
            </a:extLst>
          </p:cNvPr>
          <p:cNvSpPr txBox="1">
            <a:spLocks/>
          </p:cNvSpPr>
          <p:nvPr/>
        </p:nvSpPr>
        <p:spPr bwMode="auto">
          <a:xfrm>
            <a:off x="714375" y="1285875"/>
            <a:ext cx="7500938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ar-JO" sz="2400">
                <a:latin typeface="Calibri" panose="020F0502020204030204" pitchFamily="34" charset="0"/>
              </a:rPr>
              <a:t>Typical sites of methylation include the N6 position of adenine, the N4 position of cytosine, or the C5 position of cytosine.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ar-JO" sz="2400">
                <a:latin typeface="Calibri" panose="020F0502020204030204" pitchFamily="34" charset="0"/>
              </a:rPr>
              <a:t>Methylation occures at very specific sites in the DNA</a:t>
            </a:r>
          </a:p>
        </p:txBody>
      </p:sp>
      <p:pic>
        <p:nvPicPr>
          <p:cNvPr id="8199" name="Picture 5" descr="IMG00001">
            <a:extLst>
              <a:ext uri="{FF2B5EF4-FFF2-40B4-BE49-F238E27FC236}">
                <a16:creationId xmlns:a16="http://schemas.microsoft.com/office/drawing/2014/main" id="{0A5FB3D4-352C-4DD5-B57A-D030C9CE0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3714750"/>
            <a:ext cx="5715000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C7DD33-7BFE-46B8-8E9E-582E78F6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7F2FCA-B37F-4793-8B51-0E3D6BAC2D08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A70F88-4143-4DE5-B2B5-3CF7460ABA58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6BC5CF94-66E6-4B73-AC8E-61C885C918F6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Function</a:t>
            </a:r>
          </a:p>
          <a:p>
            <a:pPr algn="ctr" fontAlgn="auto">
              <a:spcAft>
                <a:spcPts val="0"/>
              </a:spcAft>
              <a:defRPr/>
            </a:pP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Footer Placeholder 41">
            <a:extLst>
              <a:ext uri="{FF2B5EF4-FFF2-40B4-BE49-F238E27FC236}">
                <a16:creationId xmlns:a16="http://schemas.microsoft.com/office/drawing/2014/main" id="{A073DF95-3C8C-4478-99DF-6916EFE8BFD3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DE252A-4CCF-49E2-9E6D-5870757D3A36}"/>
              </a:ext>
            </a:extLst>
          </p:cNvPr>
          <p:cNvSpPr txBox="1">
            <a:spLocks/>
          </p:cNvSpPr>
          <p:nvPr/>
        </p:nvSpPr>
        <p:spPr>
          <a:xfrm>
            <a:off x="714375" y="1285875"/>
            <a:ext cx="4786313" cy="50006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Restriction enzymes recognize and make a cut within specific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Palindromic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Sequences</a:t>
            </a:r>
            <a:r>
              <a:rPr lang="en-US" sz="2000" dirty="0">
                <a:latin typeface="+mn-lt"/>
                <a:cs typeface="+mn-cs"/>
              </a:rPr>
              <a:t>, known as </a:t>
            </a:r>
            <a:r>
              <a:rPr lang="en-US" sz="2000" b="1" i="1" dirty="0">
                <a:solidFill>
                  <a:schemeClr val="accent1"/>
                </a:solidFill>
                <a:latin typeface="+mn-lt"/>
                <a:cs typeface="+mn-cs"/>
              </a:rPr>
              <a:t>Restriction Sites</a:t>
            </a:r>
            <a:r>
              <a:rPr lang="en-US" sz="2000" dirty="0">
                <a:latin typeface="+mn-lt"/>
                <a:cs typeface="+mn-cs"/>
              </a:rPr>
              <a:t>, in the DNA. </a:t>
            </a: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Palindromic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 sequence</a:t>
            </a: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cs typeface="+mn-cs"/>
              </a:rPr>
              <a:t>      DNA sequence in which the 5’ to 3’ base pair sequence is identical on both strands. </a:t>
            </a: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chemeClr val="accent1"/>
                </a:solidFill>
                <a:latin typeface="+mn-lt"/>
                <a:cs typeface="+mn-cs"/>
              </a:rPr>
              <a:t>Different enzymes</a:t>
            </a: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chemeClr val="accent1"/>
                </a:solidFill>
                <a:latin typeface="+mn-lt"/>
                <a:cs typeface="+mn-cs"/>
              </a:rPr>
              <a:t>Different restriction sites</a:t>
            </a:r>
          </a:p>
          <a:p>
            <a:pPr marL="342900" indent="-342900" fontAlgn="auto">
              <a:spcBef>
                <a:spcPct val="5000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000" b="1" dirty="0">
                <a:solidFill>
                  <a:schemeClr val="accent1"/>
                </a:solidFill>
                <a:latin typeface="+mn-lt"/>
                <a:cs typeface="+mn-cs"/>
              </a:rPr>
              <a:t>Different cuts</a:t>
            </a:r>
          </a:p>
        </p:txBody>
      </p:sp>
      <p:sp>
        <p:nvSpPr>
          <p:cNvPr id="9223" name="Text Box 5">
            <a:extLst>
              <a:ext uri="{FF2B5EF4-FFF2-40B4-BE49-F238E27FC236}">
                <a16:creationId xmlns:a16="http://schemas.microsoft.com/office/drawing/2014/main" id="{3305273F-67FA-4750-896F-E9381A1CC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5868988"/>
            <a:ext cx="22939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1200"/>
              <a:t>http://arbl.cvmbs.colostate.edu/</a:t>
            </a:r>
          </a:p>
        </p:txBody>
      </p:sp>
      <p:pic>
        <p:nvPicPr>
          <p:cNvPr id="9224" name="Picture 10" descr="recogsites">
            <a:extLst>
              <a:ext uri="{FF2B5EF4-FFF2-40B4-BE49-F238E27FC236}">
                <a16:creationId xmlns:a16="http://schemas.microsoft.com/office/drawing/2014/main" id="{76100E07-E74A-4A66-B3B8-042908CE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1571625"/>
            <a:ext cx="2133600" cy="42672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AFB6A-699B-4D7C-9122-4BF8A2AD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428B885-F61C-44C4-BC53-6192BE8B439E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4E1A90-8205-46B6-8070-90066DF185ED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CBC1FC0D-84A0-4169-B3D9-09AB87DDA067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Examples of RE</a:t>
            </a:r>
          </a:p>
          <a:p>
            <a:pPr algn="ctr" fontAlgn="auto">
              <a:spcAft>
                <a:spcPts val="0"/>
              </a:spcAft>
              <a:defRPr/>
            </a:pP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Footer Placeholder 41">
            <a:extLst>
              <a:ext uri="{FF2B5EF4-FFF2-40B4-BE49-F238E27FC236}">
                <a16:creationId xmlns:a16="http://schemas.microsoft.com/office/drawing/2014/main" id="{469BD25F-9751-4080-9E3B-52279B2F1232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graphicFrame>
        <p:nvGraphicFramePr>
          <p:cNvPr id="9" name="Group 469">
            <a:extLst>
              <a:ext uri="{FF2B5EF4-FFF2-40B4-BE49-F238E27FC236}">
                <a16:creationId xmlns:a16="http://schemas.microsoft.com/office/drawing/2014/main" id="{8226C810-73A6-41E5-950D-27DC0A9C26C1}"/>
              </a:ext>
            </a:extLst>
          </p:cNvPr>
          <p:cNvGraphicFramePr>
            <a:graphicFrameLocks noGrp="1"/>
          </p:cNvGraphicFramePr>
          <p:nvPr/>
        </p:nvGraphicFramePr>
        <p:xfrm>
          <a:off x="285750" y="1857375"/>
          <a:ext cx="8562975" cy="3872137"/>
        </p:xfrm>
        <a:graphic>
          <a:graphicData uri="http://schemas.openxmlformats.org/drawingml/2006/table">
            <a:tbl>
              <a:tblPr/>
              <a:tblGrid>
                <a:gridCol w="86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4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Name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Source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Recognition Sequence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Comments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Alu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Arthrobacter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luteus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| 5'… A G C T … 3' 3'… T C G A … 5' |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"Four cutter". Leaves blunt ends to the DNA.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8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Bfa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Bacteroides fragilis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| 5'… C T A G … 3' 3'… G A T C … 5' |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"Four cutter". Leaves 5' overhang.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297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Eco R1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Escherichia coli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| 5'… G A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T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C … 3' 3'… C T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A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G … 5' |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"Six cutter". Leaves 5' overhang.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0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Hae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II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Haemophilus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aegyptius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| 5'… Pu G C G C Py … 3' 3'… Py C G C G Pu … 5' |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"Six cutter".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Pu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is any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purine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Py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is any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pyrimidine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. Leaves 3' overhang.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0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Bgl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I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Bacillus globigii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| 5'… GCCN NNNNGGC … 3' 3'… CGGNNNN NCCG … 5' |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7170F"/>
                          </a:solidFill>
                          <a:effectLst/>
                          <a:latin typeface="+mn-lt"/>
                        </a:rPr>
                        <a:t>"Six cutter with interrupted palindrome". Leaves 5' overhang. </a:t>
                      </a:r>
                    </a:p>
                  </a:txBody>
                  <a:tcPr marT="45716" marB="4571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7E149-A2B8-4CE0-90C0-8E4713ED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1B6CC6-947C-41F6-8EE8-1E24911EFD3E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BB3F96-C7D6-44B9-A096-74D8752F72BB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9B7AFDB2-B08A-4754-9F99-DAA45CDF8E3E}"/>
              </a:ext>
            </a:extLst>
          </p:cNvPr>
          <p:cNvSpPr txBox="1">
            <a:spLocks/>
          </p:cNvSpPr>
          <p:nvPr/>
        </p:nvSpPr>
        <p:spPr>
          <a:xfrm>
            <a:off x="819150" y="214313"/>
            <a:ext cx="7467600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Cutting Position</a:t>
            </a:r>
          </a:p>
        </p:txBody>
      </p:sp>
      <p:sp>
        <p:nvSpPr>
          <p:cNvPr id="7" name="Footer Placeholder 41">
            <a:extLst>
              <a:ext uri="{FF2B5EF4-FFF2-40B4-BE49-F238E27FC236}">
                <a16:creationId xmlns:a16="http://schemas.microsoft.com/office/drawing/2014/main" id="{C5F7DA51-4C5E-40E6-97F9-1947C5F7FABB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sp>
        <p:nvSpPr>
          <p:cNvPr id="11270" name="Text Box 11">
            <a:extLst>
              <a:ext uri="{FF2B5EF4-FFF2-40B4-BE49-F238E27FC236}">
                <a16:creationId xmlns:a16="http://schemas.microsoft.com/office/drawing/2014/main" id="{5F437E51-871E-403F-9C5D-C07F1610D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46225"/>
            <a:ext cx="2097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1000"/>
              <a:t>http://www.phschool.com/science/</a:t>
            </a:r>
          </a:p>
        </p:txBody>
      </p:sp>
      <p:sp>
        <p:nvSpPr>
          <p:cNvPr id="11271" name="Text Box 12">
            <a:extLst>
              <a:ext uri="{FF2B5EF4-FFF2-40B4-BE49-F238E27FC236}">
                <a16:creationId xmlns:a16="http://schemas.microsoft.com/office/drawing/2014/main" id="{D96ED7C1-5357-482C-A32E-958834C61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546225"/>
            <a:ext cx="2097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1000"/>
              <a:t>http://www.phschool.com/science/</a:t>
            </a:r>
          </a:p>
        </p:txBody>
      </p:sp>
      <p:sp>
        <p:nvSpPr>
          <p:cNvPr id="11272" name="Text Box 13">
            <a:extLst>
              <a:ext uri="{FF2B5EF4-FFF2-40B4-BE49-F238E27FC236}">
                <a16:creationId xmlns:a16="http://schemas.microsoft.com/office/drawing/2014/main" id="{7FC05932-50A2-4DA5-827E-97A2601F5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546225"/>
            <a:ext cx="2097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1000"/>
              <a:t>http://www.phschool.com/science/</a:t>
            </a:r>
          </a:p>
        </p:txBody>
      </p:sp>
      <p:pic>
        <p:nvPicPr>
          <p:cNvPr id="11273" name="Picture 24" descr="EcoR1">
            <a:extLst>
              <a:ext uri="{FF2B5EF4-FFF2-40B4-BE49-F238E27FC236}">
                <a16:creationId xmlns:a16="http://schemas.microsoft.com/office/drawing/2014/main" id="{08488C62-0086-43E3-9E37-80627AE3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86050"/>
            <a:ext cx="2281238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25" descr="Pst1">
            <a:extLst>
              <a:ext uri="{FF2B5EF4-FFF2-40B4-BE49-F238E27FC236}">
                <a16:creationId xmlns:a16="http://schemas.microsoft.com/office/drawing/2014/main" id="{3BEC6A68-0FB6-4467-B8B0-592304D86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686050"/>
            <a:ext cx="2281238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26" descr="Sma1">
            <a:extLst>
              <a:ext uri="{FF2B5EF4-FFF2-40B4-BE49-F238E27FC236}">
                <a16:creationId xmlns:a16="http://schemas.microsoft.com/office/drawing/2014/main" id="{ACBB3BC3-EFD3-4658-939E-F1AD68284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86050"/>
            <a:ext cx="2281238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6" name="Text Box 27">
            <a:extLst>
              <a:ext uri="{FF2B5EF4-FFF2-40B4-BE49-F238E27FC236}">
                <a16:creationId xmlns:a16="http://schemas.microsoft.com/office/drawing/2014/main" id="{8D712647-EB23-4C9F-8A27-832F7A8A9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5357813"/>
            <a:ext cx="1141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2400" b="1">
                <a:solidFill>
                  <a:schemeClr val="accent1"/>
                </a:solidFill>
              </a:rPr>
              <a:t>Eco RI</a:t>
            </a:r>
          </a:p>
        </p:txBody>
      </p:sp>
      <p:sp>
        <p:nvSpPr>
          <p:cNvPr id="11277" name="Text Box 28">
            <a:extLst>
              <a:ext uri="{FF2B5EF4-FFF2-40B4-BE49-F238E27FC236}">
                <a16:creationId xmlns:a16="http://schemas.microsoft.com/office/drawing/2014/main" id="{A631B435-57F0-4EEE-AEE9-17217B292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213" y="5357813"/>
            <a:ext cx="1004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2400" b="1">
                <a:solidFill>
                  <a:schemeClr val="accent1"/>
                </a:solidFill>
              </a:rPr>
              <a:t>Sma I</a:t>
            </a:r>
          </a:p>
        </p:txBody>
      </p:sp>
      <p:sp>
        <p:nvSpPr>
          <p:cNvPr id="11278" name="Text Box 29">
            <a:extLst>
              <a:ext uri="{FF2B5EF4-FFF2-40B4-BE49-F238E27FC236}">
                <a16:creationId xmlns:a16="http://schemas.microsoft.com/office/drawing/2014/main" id="{93EF304C-E679-42C1-8935-8390C572C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5357813"/>
            <a:ext cx="83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2400" b="1">
                <a:solidFill>
                  <a:schemeClr val="accent1"/>
                </a:solidFill>
              </a:rPr>
              <a:t>Pst I</a:t>
            </a:r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9AD2F7A4-A9C0-4F74-906D-6590E1772E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5188" y="4500563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DF79225A-6413-443F-8285-388658159C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0500" y="4500563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  <p:sp>
        <p:nvSpPr>
          <p:cNvPr id="22" name="Line 10">
            <a:extLst>
              <a:ext uri="{FF2B5EF4-FFF2-40B4-BE49-F238E27FC236}">
                <a16:creationId xmlns:a16="http://schemas.microsoft.com/office/drawing/2014/main" id="{873BD6D3-01D2-4CA4-B659-8C98D85F30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57438" y="4500563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A78194A7-BADA-45FD-A066-60D476FF3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15188" y="2114550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FD64797C-2AB5-40D2-9B36-51CAE594F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500" y="2114550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  <p:sp>
        <p:nvSpPr>
          <p:cNvPr id="25" name="Line 10">
            <a:extLst>
              <a:ext uri="{FF2B5EF4-FFF2-40B4-BE49-F238E27FC236}">
                <a16:creationId xmlns:a16="http://schemas.microsoft.com/office/drawing/2014/main" id="{1C301233-5D42-4F9F-B234-CFFD76F7D3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5875" y="2114550"/>
            <a:ext cx="0" cy="457200"/>
          </a:xfrm>
          <a:prstGeom prst="line">
            <a:avLst/>
          </a:prstGeom>
          <a:noFill/>
          <a:ln w="88900">
            <a:solidFill>
              <a:schemeClr val="accent6">
                <a:lumMod val="75000"/>
              </a:schemeClr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ar-AE">
              <a:latin typeface="+mn-lt"/>
              <a:cs typeface="+mn-cs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3A1D61-DCE6-44A2-B9A4-A4178AC6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D0267D-1081-493F-8C5C-2D73737D28EE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1">
            <a:extLst>
              <a:ext uri="{FF2B5EF4-FFF2-40B4-BE49-F238E27FC236}">
                <a16:creationId xmlns:a16="http://schemas.microsoft.com/office/drawing/2014/main" id="{C3E6F962-DE66-4620-BC87-E7C442679172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E2DB69-D5B8-4A8D-9506-B699D84ADE2E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6FE4F024-C2F9-485E-82F6-40D8855530DB}"/>
              </a:ext>
            </a:extLst>
          </p:cNvPr>
          <p:cNvSpPr txBox="1">
            <a:spLocks/>
          </p:cNvSpPr>
          <p:nvPr/>
        </p:nvSpPr>
        <p:spPr>
          <a:xfrm>
            <a:off x="357188" y="214313"/>
            <a:ext cx="8215312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accent1"/>
                </a:solidFill>
                <a:latin typeface="+mn-lt"/>
                <a:cs typeface="+mn-cs"/>
              </a:rPr>
              <a:t>Types of Cuts </a:t>
            </a:r>
            <a:endParaRPr lang="en-US" sz="28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E429795-08B4-400C-8301-982999583E34}"/>
              </a:ext>
            </a:extLst>
          </p:cNvPr>
          <p:cNvSpPr txBox="1">
            <a:spLocks noChangeArrowheads="1"/>
          </p:cNvSpPr>
          <p:nvPr/>
        </p:nvSpPr>
        <p:spPr>
          <a:xfrm>
            <a:off x="714375" y="2171700"/>
            <a:ext cx="3810000" cy="4114800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b="1" i="1" dirty="0">
                <a:solidFill>
                  <a:schemeClr val="accent6"/>
                </a:solidFill>
                <a:latin typeface="+mn-lt"/>
                <a:cs typeface="+mn-cs"/>
              </a:rPr>
              <a:t>Blunt end Cutters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b="1" i="1" dirty="0">
              <a:solidFill>
                <a:schemeClr val="accent6"/>
              </a:solidFill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b="1" i="1" dirty="0">
              <a:solidFill>
                <a:schemeClr val="accent6"/>
              </a:solidFill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b="1" i="1" dirty="0">
              <a:solidFill>
                <a:schemeClr val="accent6"/>
              </a:solidFill>
              <a:latin typeface="+mn-lt"/>
              <a:cs typeface="+mn-cs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b="1" i="1" dirty="0">
                <a:solidFill>
                  <a:schemeClr val="accent6"/>
                </a:solidFill>
                <a:latin typeface="+mn-lt"/>
                <a:cs typeface="+mn-cs"/>
              </a:rPr>
              <a:t>Sticky-end Over-hangers</a:t>
            </a: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3B42895D-2CAB-48D1-89F2-3420A8363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714500"/>
          <a:ext cx="38100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Bitmap Image" r:id="rId3" imgW="3742857" imgH="1409897" progId="PBrush">
                  <p:embed/>
                </p:oleObj>
              </mc:Choice>
              <mc:Fallback>
                <p:oleObj name="Bitmap Image" r:id="rId3" imgW="3742857" imgH="1409897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14500"/>
                        <a:ext cx="3810000" cy="143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B8CFC201-4D60-46BF-BB2F-F56CFF6110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929063"/>
          <a:ext cx="381000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Bitmap Image" r:id="rId5" imgW="4029637" imgH="1324160" progId="PBrush">
                  <p:embed/>
                </p:oleObj>
              </mc:Choice>
              <mc:Fallback>
                <p:oleObj name="Bitmap Image" r:id="rId5" imgW="4029637" imgH="132416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929063"/>
                        <a:ext cx="3810000" cy="1252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1">
            <a:extLst>
              <a:ext uri="{FF2B5EF4-FFF2-40B4-BE49-F238E27FC236}">
                <a16:creationId xmlns:a16="http://schemas.microsoft.com/office/drawing/2014/main" id="{06DCA772-39F9-420F-86DC-2684849D3EE0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599406-AA45-4D59-A4DA-D6F89B63009C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BDCB44B1-CA0E-4907-8B71-BBBBD24673A4}"/>
              </a:ext>
            </a:extLst>
          </p:cNvPr>
          <p:cNvSpPr txBox="1">
            <a:spLocks/>
          </p:cNvSpPr>
          <p:nvPr/>
        </p:nvSpPr>
        <p:spPr>
          <a:xfrm>
            <a:off x="357188" y="214313"/>
            <a:ext cx="8215312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Types of Enzymes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cs typeface="+mn-cs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 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212428FB-14CC-4FB6-B0E5-209F943B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F65071-664C-45D7-83C0-87B4214983E5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294" name="Rectangle 9">
            <a:extLst>
              <a:ext uri="{FF2B5EF4-FFF2-40B4-BE49-F238E27FC236}">
                <a16:creationId xmlns:a16="http://schemas.microsoft.com/office/drawing/2014/main" id="{76A83AE4-6862-4C08-A581-0AC70975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1285875"/>
            <a:ext cx="7286625" cy="538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JO" sz="2400" b="1">
                <a:solidFill>
                  <a:schemeClr val="accent1"/>
                </a:solidFill>
                <a:latin typeface="Calibri" panose="020F0502020204030204" pitchFamily="34" charset="0"/>
              </a:rPr>
              <a:t>Type I</a:t>
            </a:r>
          </a:p>
          <a:p>
            <a:pPr eaLnBrk="1" hangingPunct="1"/>
            <a:endParaRPr lang="en-US" altLang="ar-JO" sz="800" b="1">
              <a:solidFill>
                <a:schemeClr val="accent1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ar-JO" sz="1600">
                <a:latin typeface="Calibri" panose="020F0502020204030204" pitchFamily="34" charset="0"/>
              </a:rPr>
              <a:t>Multi-non-identical subunits, both endonuclease and methylase activities, cleave at random up to 1000 bp from recognition sequence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Mwt:</a:t>
            </a:r>
            <a:r>
              <a:rPr lang="en-US" altLang="ar-JO" sz="1600">
                <a:latin typeface="Calibri" panose="020F0502020204030204" pitchFamily="34" charset="0"/>
              </a:rPr>
              <a:t> 300.000 Da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Cofactors: </a:t>
            </a:r>
            <a:r>
              <a:rPr lang="en-US" altLang="ar-JO" sz="1600">
                <a:latin typeface="Calibri" panose="020F0502020204030204" pitchFamily="34" charset="0"/>
              </a:rPr>
              <a:t>Mg2+, SAM, ATP</a:t>
            </a:r>
          </a:p>
          <a:p>
            <a:pPr eaLnBrk="1" hangingPunct="1"/>
            <a:endParaRPr lang="en-US" altLang="ar-JO" sz="20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ar-JO" sz="2400" b="1">
                <a:solidFill>
                  <a:schemeClr val="accent1"/>
                </a:solidFill>
                <a:latin typeface="Calibri" panose="020F0502020204030204" pitchFamily="34" charset="0"/>
              </a:rPr>
              <a:t>Type II</a:t>
            </a:r>
          </a:p>
          <a:p>
            <a:pPr eaLnBrk="1" hangingPunct="1"/>
            <a:endParaRPr lang="en-US" altLang="ar-JO" sz="800">
              <a:solidFill>
                <a:schemeClr val="accent1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ar-JO" sz="1600">
                <a:latin typeface="Calibri" panose="020F0502020204030204" pitchFamily="34" charset="0"/>
              </a:rPr>
              <a:t>Most single subunit or Multi-identical subunits, cleave DNA within recognition sequence 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Mwt:</a:t>
            </a:r>
            <a:r>
              <a:rPr lang="en-US" altLang="ar-JO" sz="1600">
                <a:latin typeface="Calibri" panose="020F0502020204030204" pitchFamily="34" charset="0"/>
              </a:rPr>
              <a:t> 20.000-100.000 Da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Cofactors: </a:t>
            </a:r>
            <a:r>
              <a:rPr lang="en-US" altLang="ar-JO" sz="1600">
                <a:latin typeface="Calibri" panose="020F0502020204030204" pitchFamily="34" charset="0"/>
              </a:rPr>
              <a:t>Mg2+</a:t>
            </a:r>
          </a:p>
          <a:p>
            <a:pPr eaLnBrk="1" hangingPunct="1"/>
            <a:endParaRPr lang="en-US" altLang="ar-JO" sz="2000">
              <a:latin typeface="Calibri" panose="020F0502020204030204" pitchFamily="34" charset="0"/>
            </a:endParaRPr>
          </a:p>
          <a:p>
            <a:pPr eaLnBrk="1" hangingPunct="1"/>
            <a:r>
              <a:rPr lang="en-US" altLang="ar-JO" sz="2400" b="1">
                <a:solidFill>
                  <a:schemeClr val="accent1"/>
                </a:solidFill>
                <a:latin typeface="Calibri" panose="020F0502020204030204" pitchFamily="34" charset="0"/>
              </a:rPr>
              <a:t>Type III</a:t>
            </a:r>
          </a:p>
          <a:p>
            <a:pPr eaLnBrk="1" hangingPunct="1"/>
            <a:endParaRPr lang="en-US" altLang="ar-JO" sz="800" b="1">
              <a:solidFill>
                <a:schemeClr val="accent1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en-US" altLang="ar-JO" sz="1600">
                <a:latin typeface="Calibri" panose="020F0502020204030204" pitchFamily="34" charset="0"/>
              </a:rPr>
              <a:t>Multi-non-identical subunit, endonuclease and methylase about 25 bp from recognition sequence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Mwt:</a:t>
            </a:r>
            <a:r>
              <a:rPr lang="en-US" altLang="ar-JO" sz="1600">
                <a:latin typeface="Calibri" panose="020F0502020204030204" pitchFamily="34" charset="0"/>
              </a:rPr>
              <a:t> 200.000 Da</a:t>
            </a:r>
          </a:p>
          <a:p>
            <a:pPr eaLnBrk="1" hangingPunct="1"/>
            <a:r>
              <a:rPr lang="en-US" altLang="ar-JO" sz="1600" b="1">
                <a:latin typeface="Calibri" panose="020F0502020204030204" pitchFamily="34" charset="0"/>
              </a:rPr>
              <a:t>Cofactors: </a:t>
            </a:r>
            <a:r>
              <a:rPr lang="en-US" altLang="ar-JO" sz="1600">
                <a:latin typeface="Calibri" panose="020F0502020204030204" pitchFamily="34" charset="0"/>
              </a:rPr>
              <a:t>Mg2+, ATP</a:t>
            </a:r>
          </a:p>
          <a:p>
            <a:pPr eaLnBrk="1" hangingPunct="1"/>
            <a:endParaRPr lang="ar-AE" altLang="ar-JO" sz="16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1">
            <a:extLst>
              <a:ext uri="{FF2B5EF4-FFF2-40B4-BE49-F238E27FC236}">
                <a16:creationId xmlns:a16="http://schemas.microsoft.com/office/drawing/2014/main" id="{279AF685-0304-4A4E-AC5C-D167F93C751E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490D63-8C4C-4E4B-A44E-8725116BA791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4">
            <a:extLst>
              <a:ext uri="{FF2B5EF4-FFF2-40B4-BE49-F238E27FC236}">
                <a16:creationId xmlns:a16="http://schemas.microsoft.com/office/drawing/2014/main" id="{12F2D140-0792-40AF-8C92-75840D68D695}"/>
              </a:ext>
            </a:extLst>
          </p:cNvPr>
          <p:cNvSpPr txBox="1">
            <a:spLocks/>
          </p:cNvSpPr>
          <p:nvPr/>
        </p:nvSpPr>
        <p:spPr>
          <a:xfrm>
            <a:off x="357188" y="214313"/>
            <a:ext cx="8215312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Uses of RE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C2D23197-B059-4E6E-88A9-9A87917B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10E7E3-B19A-45C8-811A-DD1B9C07B2C9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5594BD2-CCA0-41B3-B34B-BFAC4583FA39}"/>
              </a:ext>
            </a:extLst>
          </p:cNvPr>
          <p:cNvSpPr txBox="1">
            <a:spLocks noChangeArrowheads="1"/>
          </p:cNvSpPr>
          <p:nvPr/>
        </p:nvSpPr>
        <p:spPr>
          <a:xfrm>
            <a:off x="857250" y="1357313"/>
            <a:ext cx="7315200" cy="452596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RFLP</a:t>
            </a:r>
          </a:p>
          <a:p>
            <a:pPr marL="914400" lvl="1" indent="-4572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Restriction Fragment Length Polymorphism</a:t>
            </a:r>
          </a:p>
          <a:p>
            <a:pPr marL="914400" lvl="1" indent="-4572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dirty="0">
              <a:latin typeface="+mn-lt"/>
              <a:cs typeface="+mn-cs"/>
            </a:endParaRP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Molecular diagnostics</a:t>
            </a: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800" b="1" dirty="0">
              <a:latin typeface="+mn-lt"/>
              <a:cs typeface="+mn-cs"/>
            </a:endParaRP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Cloning</a:t>
            </a: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800" b="1" dirty="0">
              <a:latin typeface="+mn-lt"/>
              <a:cs typeface="+mn-cs"/>
            </a:endParaRP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 err="1">
                <a:latin typeface="+mn-lt"/>
                <a:cs typeface="+mn-cs"/>
              </a:rPr>
              <a:t>cDNA</a:t>
            </a:r>
            <a:r>
              <a:rPr lang="en-US" sz="2800" b="1" dirty="0">
                <a:latin typeface="+mn-lt"/>
                <a:cs typeface="+mn-cs"/>
              </a:rPr>
              <a:t> library construction</a:t>
            </a: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2800" b="1" dirty="0">
              <a:latin typeface="+mn-lt"/>
              <a:cs typeface="+mn-cs"/>
            </a:endParaRPr>
          </a:p>
          <a:p>
            <a:pPr marL="514350" indent="-514350" fontAlgn="auto">
              <a:spcBef>
                <a:spcPct val="200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b="1" dirty="0">
                <a:latin typeface="+mn-lt"/>
                <a:cs typeface="+mn-cs"/>
              </a:rPr>
              <a:t>Population studies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1">
            <a:extLst>
              <a:ext uri="{FF2B5EF4-FFF2-40B4-BE49-F238E27FC236}">
                <a16:creationId xmlns:a16="http://schemas.microsoft.com/office/drawing/2014/main" id="{63649572-55AA-437B-8439-E90B26CE57DA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29D3BB-B3C8-41F6-B5EB-9401BCAF3450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65614B6E-F15D-405B-B517-CBB0B378B8CE}"/>
              </a:ext>
            </a:extLst>
          </p:cNvPr>
          <p:cNvSpPr txBox="1">
            <a:spLocks/>
          </p:cNvSpPr>
          <p:nvPr/>
        </p:nvSpPr>
        <p:spPr>
          <a:xfrm>
            <a:off x="357188" y="214313"/>
            <a:ext cx="8215312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Example of RFLP 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69460ED-2632-4086-A3B0-960A830E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CD1C82-70F1-484B-A807-AAE079780CF8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4342" name="Picture 39">
            <a:extLst>
              <a:ext uri="{FF2B5EF4-FFF2-40B4-BE49-F238E27FC236}">
                <a16:creationId xmlns:a16="http://schemas.microsoft.com/office/drawing/2014/main" id="{D44CDFA2-136F-423B-A769-0263EC3B7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49"/>
          <a:stretch>
            <a:fillRect/>
          </a:stretch>
        </p:blipFill>
        <p:spPr bwMode="auto">
          <a:xfrm>
            <a:off x="500063" y="1857375"/>
            <a:ext cx="806450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1">
            <a:extLst>
              <a:ext uri="{FF2B5EF4-FFF2-40B4-BE49-F238E27FC236}">
                <a16:creationId xmlns:a16="http://schemas.microsoft.com/office/drawing/2014/main" id="{79A83E2A-C3DF-47D2-A87F-55E66DB69B61}"/>
              </a:ext>
            </a:extLst>
          </p:cNvPr>
          <p:cNvSpPr txBox="1">
            <a:spLocks/>
          </p:cNvSpPr>
          <p:nvPr/>
        </p:nvSpPr>
        <p:spPr>
          <a:xfrm>
            <a:off x="142875" y="6492875"/>
            <a:ext cx="3200400" cy="365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t>MBL. BT453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9446A5-A705-44EB-A50C-2EB08E7CF14D}"/>
              </a:ext>
            </a:extLst>
          </p:cNvPr>
          <p:cNvCxnSpPr/>
          <p:nvPr/>
        </p:nvCxnSpPr>
        <p:spPr>
          <a:xfrm>
            <a:off x="785813" y="928688"/>
            <a:ext cx="7500937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212766E2-0594-4A90-B555-9A530B5B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6A2A35-DAF1-4B2E-A332-B2FC7495F1FB}" type="slidenum">
              <a:rPr lang="en-US" altLang="ar-JO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ar-JO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15365" name="Picture 19" descr="a.png">
            <a:extLst>
              <a:ext uri="{FF2B5EF4-FFF2-40B4-BE49-F238E27FC236}">
                <a16:creationId xmlns:a16="http://schemas.microsoft.com/office/drawing/2014/main" id="{1B817CB2-772D-47B7-8BCE-1E6DF20EA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4438"/>
            <a:ext cx="6572250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22" descr="Cfo I R. D..png">
            <a:extLst>
              <a:ext uri="{FF2B5EF4-FFF2-40B4-BE49-F238E27FC236}">
                <a16:creationId xmlns:a16="http://schemas.microsoft.com/office/drawing/2014/main" id="{085ACBD7-1847-4301-8B64-68A0B08E6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17"/>
          <a:stretch>
            <a:fillRect/>
          </a:stretch>
        </p:blipFill>
        <p:spPr bwMode="auto">
          <a:xfrm>
            <a:off x="1143000" y="4286250"/>
            <a:ext cx="6786563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Down Arrow 23">
            <a:extLst>
              <a:ext uri="{FF2B5EF4-FFF2-40B4-BE49-F238E27FC236}">
                <a16:creationId xmlns:a16="http://schemas.microsoft.com/office/drawing/2014/main" id="{77784208-9B09-4FCA-941E-CBBC894985C9}"/>
              </a:ext>
            </a:extLst>
          </p:cNvPr>
          <p:cNvSpPr/>
          <p:nvPr/>
        </p:nvSpPr>
        <p:spPr>
          <a:xfrm>
            <a:off x="4071938" y="3357563"/>
            <a:ext cx="785812" cy="100012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ar-AE" dirty="0">
              <a:solidFill>
                <a:schemeClr val="accent6"/>
              </a:solidFill>
            </a:endParaRPr>
          </a:p>
        </p:txBody>
      </p:sp>
      <p:sp>
        <p:nvSpPr>
          <p:cNvPr id="15368" name="TextBox 24">
            <a:extLst>
              <a:ext uri="{FF2B5EF4-FFF2-40B4-BE49-F238E27FC236}">
                <a16:creationId xmlns:a16="http://schemas.microsoft.com/office/drawing/2014/main" id="{29160156-760D-4DC5-A09B-E695C2B75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3429000"/>
            <a:ext cx="14287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ar-JO" sz="4000" b="1">
                <a:solidFill>
                  <a:schemeClr val="accent1"/>
                </a:solidFill>
                <a:latin typeface="Calibri" panose="020F0502020204030204" pitchFamily="34" charset="0"/>
              </a:rPr>
              <a:t>Alu I</a:t>
            </a:r>
            <a:endParaRPr lang="ar-AE" altLang="ar-JO" sz="4000" b="1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itle 4">
            <a:extLst>
              <a:ext uri="{FF2B5EF4-FFF2-40B4-BE49-F238E27FC236}">
                <a16:creationId xmlns:a16="http://schemas.microsoft.com/office/drawing/2014/main" id="{15C08076-B3A9-4C16-AD88-01DE2BA6FCBF}"/>
              </a:ext>
            </a:extLst>
          </p:cNvPr>
          <p:cNvSpPr txBox="1">
            <a:spLocks/>
          </p:cNvSpPr>
          <p:nvPr/>
        </p:nvSpPr>
        <p:spPr>
          <a:xfrm>
            <a:off x="357188" y="214313"/>
            <a:ext cx="8215312" cy="488950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1"/>
                </a:solidFill>
                <a:latin typeface="+mn-lt"/>
                <a:cs typeface="+mn-cs"/>
              </a:rPr>
              <a:t>Example of RFLP 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5369</TotalTime>
  <Words>642</Words>
  <Application>Microsoft Office PowerPoint</Application>
  <PresentationFormat>On-screen Show (4:3)</PresentationFormat>
  <Paragraphs>145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Bitmap Image</vt:lpstr>
      <vt:lpstr>Molecular Biology Laboratory BT 453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feras</dc:creator>
  <cp:lastModifiedBy>Dell</cp:lastModifiedBy>
  <cp:revision>457</cp:revision>
  <dcterms:created xsi:type="dcterms:W3CDTF">2008-10-08T10:11:23Z</dcterms:created>
  <dcterms:modified xsi:type="dcterms:W3CDTF">2020-12-11T21:27:51Z</dcterms:modified>
</cp:coreProperties>
</file>