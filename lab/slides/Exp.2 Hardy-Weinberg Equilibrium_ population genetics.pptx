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07" r:id="rId3"/>
    <p:sldId id="257" r:id="rId4"/>
    <p:sldId id="274" r:id="rId5"/>
    <p:sldId id="258" r:id="rId6"/>
    <p:sldId id="259" r:id="rId7"/>
    <p:sldId id="260" r:id="rId8"/>
    <p:sldId id="276" r:id="rId9"/>
    <p:sldId id="277" r:id="rId10"/>
    <p:sldId id="308" r:id="rId11"/>
    <p:sldId id="278" r:id="rId12"/>
    <p:sldId id="279" r:id="rId13"/>
    <p:sldId id="280" r:id="rId14"/>
    <p:sldId id="281" r:id="rId15"/>
    <p:sldId id="282" r:id="rId16"/>
    <p:sldId id="283" r:id="rId17"/>
    <p:sldId id="261" r:id="rId18"/>
    <p:sldId id="262" r:id="rId19"/>
    <p:sldId id="266" r:id="rId20"/>
    <p:sldId id="267" r:id="rId21"/>
    <p:sldId id="268" r:id="rId22"/>
    <p:sldId id="265" r:id="rId23"/>
    <p:sldId id="269" r:id="rId24"/>
    <p:sldId id="270"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A14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995" autoAdjust="0"/>
    <p:restoredTop sz="94660"/>
  </p:normalViewPr>
  <p:slideViewPr>
    <p:cSldViewPr snapToGrid="0">
      <p:cViewPr varScale="1">
        <p:scale>
          <a:sx n="69" d="100"/>
          <a:sy n="69" d="100"/>
        </p:scale>
        <p:origin x="-696" y="-108"/>
      </p:cViewPr>
      <p:guideLst>
        <p:guide orient="horz" pos="2147"/>
        <p:guide pos="384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E64465A-CD8E-4D9A-8386-DE5A9D593A6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F89BAD-A201-4404-8944-07D87E0BBDB6}"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E64465A-CD8E-4D9A-8386-DE5A9D593A6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F89BAD-A201-4404-8944-07D87E0BBDB6}"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9E64465A-CD8E-4D9A-8386-DE5A9D593A6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F89BAD-A201-4404-8944-07D87E0BBDB6}"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205728"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9E64465A-CD8E-4D9A-8386-DE5A9D593A6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F89BAD-A201-4404-8944-07D87E0BBDB6}"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9E64465A-CD8E-4D9A-8386-DE5A9D593A6A}"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8F89BAD-A201-4404-8944-07D87E0BBDB6}"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E64465A-CD8E-4D9A-8386-DE5A9D593A6A}"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8F89BAD-A201-4404-8944-07D87E0BBDB6}"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64465A-CD8E-4D9A-8386-DE5A9D593A6A}"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8F89BAD-A201-4404-8944-07D87E0BBDB6}"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9E64465A-CD8E-4D9A-8386-DE5A9D593A6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F89BAD-A201-4404-8944-07D87E0BBDB6}"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9E64465A-CD8E-4D9A-8386-DE5A9D593A6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F89BAD-A201-4404-8944-07D87E0BBDB6}" type="slidenum">
              <a:rPr lang="en-US" smtClean="0"/>
            </a:fld>
            <a:endParaRPr lang="en-US"/>
          </a:p>
        </p:txBody>
      </p:sp>
    </p:spTree>
  </p:cSld>
  <p:clrMapOvr>
    <a:masterClrMapping/>
  </p:clrMapOvr>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E64465A-CD8E-4D9A-8386-DE5A9D593A6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F89BAD-A201-4404-8944-07D87E0BBDB6}"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70573"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E64465A-CD8E-4D9A-8386-DE5A9D593A6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F89BAD-A201-4404-8944-07D87E0BBDB6}"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1026" name="Title 1025"/>
          <p:cNvSpPr/>
          <p:nvPr>
            <p:ph type="title"/>
          </p:nvPr>
        </p:nvSpPr>
        <p:spPr>
          <a:xfrm>
            <a:off x="609600" y="274638"/>
            <a:ext cx="10972800" cy="1143000"/>
          </a:xfrm>
          <a:prstGeom prst="rect">
            <a:avLst/>
          </a:prstGeom>
          <a:noFill/>
          <a:ln w="9525">
            <a:noFill/>
          </a:ln>
        </p:spPr>
        <p:txBody>
          <a:bodyPr anchor="ctr" anchorCtr="0"/>
          <a:p>
            <a:pPr lvl="0"/>
            <a:r>
              <a:t>Click to edit Master title style</a:t>
            </a:r>
          </a:p>
        </p:txBody>
      </p:sp>
      <p:sp>
        <p:nvSpPr>
          <p:cNvPr id="1027" name="Text Placeholder 1026"/>
          <p:cNvSpPr/>
          <p:nvPr>
            <p:ph type="body" idx="1"/>
          </p:nvPr>
        </p:nvSpPr>
        <p:spPr>
          <a:xfrm>
            <a:off x="609600" y="1600200"/>
            <a:ext cx="10972800" cy="4525963"/>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p:nvPr>
            <p:ph type="dt" sz="half" idx="2"/>
          </p:nvPr>
        </p:nvSpPr>
        <p:spPr>
          <a:xfrm>
            <a:off x="609600" y="6245225"/>
            <a:ext cx="2844800" cy="476250"/>
          </a:xfrm>
          <a:prstGeom prst="rect">
            <a:avLst/>
          </a:prstGeom>
          <a:noFill/>
          <a:ln w="9525">
            <a:noFill/>
          </a:ln>
        </p:spPr>
        <p:txBody>
          <a:bodyPr/>
          <a:lstStyle>
            <a:lvl1pPr>
              <a:defRPr sz="1400"/>
            </a:lvl1pPr>
          </a:lstStyle>
          <a:p>
            <a:fld id="{9E64465A-CD8E-4D9A-8386-DE5A9D593A6A}" type="datetimeFigureOut">
              <a:rPr lang="en-US" smtClean="0"/>
            </a:fld>
            <a:endParaRPr lang="en-US"/>
          </a:p>
        </p:txBody>
      </p:sp>
      <p:sp>
        <p:nvSpPr>
          <p:cNvPr id="1029" name="Footer Placeholder 1028"/>
          <p:cNvSpPr/>
          <p:nvPr>
            <p:ph type="ftr" sz="quarter" idx="3"/>
          </p:nvPr>
        </p:nvSpPr>
        <p:spPr>
          <a:xfrm>
            <a:off x="4165600" y="6245225"/>
            <a:ext cx="3860800" cy="476250"/>
          </a:xfrm>
          <a:prstGeom prst="rect">
            <a:avLst/>
          </a:prstGeom>
          <a:noFill/>
          <a:ln w="9525">
            <a:noFill/>
          </a:ln>
        </p:spPr>
        <p:txBody>
          <a:bodyPr/>
          <a:lstStyle>
            <a:lvl1pPr algn="ctr">
              <a:defRPr sz="1400"/>
            </a:lvl1pPr>
          </a:lstStyle>
          <a:p>
            <a:endParaRPr lang="en-US"/>
          </a:p>
        </p:txBody>
      </p:sp>
      <p:sp>
        <p:nvSpPr>
          <p:cNvPr id="1030" name="Slide Number Placeholder 1029"/>
          <p:cNvSpPr/>
          <p:nvPr>
            <p:ph type="sldNum" sz="quarter" idx="4"/>
          </p:nvPr>
        </p:nvSpPr>
        <p:spPr>
          <a:xfrm>
            <a:off x="8737600" y="6245225"/>
            <a:ext cx="2844800" cy="476250"/>
          </a:xfrm>
          <a:prstGeom prst="rect">
            <a:avLst/>
          </a:prstGeom>
          <a:noFill/>
          <a:ln w="9525">
            <a:noFill/>
          </a:ln>
        </p:spPr>
        <p:txBody>
          <a:bodyPr/>
          <a:lstStyle>
            <a:lvl1pPr algn="r">
              <a:defRPr sz="1400"/>
            </a:lvl1pPr>
          </a:lstStyle>
          <a:p>
            <a:fld id="{88F89BAD-A201-4404-8944-07D87E0BBDB6}"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expii.com/t/hardy-weinberg-principle-overview-equation-10992"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k-state.edu/parasitology/biology198/hardwein.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1"/>
          <p:cNvSpPr>
            <a:spLocks noGrp="1"/>
          </p:cNvSpPr>
          <p:nvPr/>
        </p:nvSpPr>
        <p:spPr>
          <a:xfrm>
            <a:off x="1981835" y="1804035"/>
            <a:ext cx="7482840" cy="1344930"/>
          </a:xfrm>
          <a:prstGeom prst="rect">
            <a:avLst/>
          </a:prstGeom>
        </p:spPr>
        <p:txBody>
          <a:bodyPr vert="horz" lIns="91440" tIns="45720" rIns="91440" bIns="45720" rtlCol="0" anchor="ctr">
            <a:normAutofit fontScale="35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8000" dirty="0">
                <a:solidFill>
                  <a:schemeClr val="tx1"/>
                </a:solidFill>
                <a:effectLst/>
                <a:latin typeface="Tahoma" panose="020B0604030504040204" pitchFamily="34" charset="0"/>
              </a:rPr>
              <a:t>MOLECULAR GENETICS LABORATORY</a:t>
            </a:r>
            <a:br>
              <a:rPr lang="en-US" sz="8000" dirty="0">
                <a:solidFill>
                  <a:schemeClr val="tx1"/>
                </a:solidFill>
                <a:effectLst/>
                <a:latin typeface="Tahoma" panose="020B0604030504040204" pitchFamily="34" charset="0"/>
              </a:rPr>
            </a:br>
            <a:r>
              <a:rPr lang="en-US" sz="8000" dirty="0">
                <a:solidFill>
                  <a:schemeClr val="tx1"/>
                </a:solidFill>
                <a:effectLst/>
                <a:latin typeface="Tahoma" panose="020B0604030504040204" pitchFamily="34" charset="0"/>
              </a:rPr>
              <a:t>BT344</a:t>
            </a:r>
            <a:br>
              <a:rPr lang="en-US" sz="8000" dirty="0">
                <a:solidFill>
                  <a:schemeClr val="tx1"/>
                </a:solidFill>
                <a:effectLst/>
                <a:latin typeface="Tahoma" panose="020B0604030504040204" pitchFamily="34" charset="0"/>
              </a:rPr>
            </a:br>
            <a:r>
              <a:rPr lang="en-US" sz="8000">
                <a:solidFill>
                  <a:schemeClr val="tx1"/>
                </a:solidFill>
                <a:effectLst/>
                <a:latin typeface="Tahoma" panose="020B0604030504040204" pitchFamily="34" charset="0"/>
              </a:rPr>
              <a:t>Experiment (3)</a:t>
            </a:r>
            <a:endParaRPr lang="en-US" sz="8000" dirty="0">
              <a:solidFill>
                <a:schemeClr val="tx1"/>
              </a:solidFill>
              <a:effectLst/>
              <a:latin typeface="Tahoma" panose="020B0604030504040204" pitchFamily="34" charset="0"/>
            </a:endParaRPr>
          </a:p>
        </p:txBody>
      </p:sp>
      <p:pic>
        <p:nvPicPr>
          <p:cNvPr id="5" name="Picture 4" descr="A picture containing text, outdoor&#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794885" y="166370"/>
            <a:ext cx="1856105" cy="1383030"/>
          </a:xfrm>
          <a:prstGeom prst="rect">
            <a:avLst/>
          </a:prstGeom>
        </p:spPr>
      </p:pic>
      <p:sp>
        <p:nvSpPr>
          <p:cNvPr id="6" name="Text Box 5"/>
          <p:cNvSpPr txBox="1"/>
          <p:nvPr/>
        </p:nvSpPr>
        <p:spPr>
          <a:xfrm>
            <a:off x="2235200" y="4053840"/>
            <a:ext cx="7414260" cy="1322070"/>
          </a:xfrm>
          <a:prstGeom prst="rect">
            <a:avLst/>
          </a:prstGeom>
          <a:noFill/>
        </p:spPr>
        <p:txBody>
          <a:bodyPr wrap="square" rtlCol="0" anchor="t">
            <a:spAutoFit/>
          </a:bodyPr>
          <a:p>
            <a:pPr algn="ctr" fontAlgn="auto">
              <a:spcAft>
                <a:spcPts val="0"/>
              </a:spcAft>
              <a:defRPr/>
            </a:pPr>
            <a:r>
              <a:rPr lang="en-US" sz="4000" b="1" dirty="0" smtClean="0">
                <a:solidFill>
                  <a:schemeClr val="tx1"/>
                </a:solidFill>
                <a:sym typeface="+mn-ea"/>
              </a:rPr>
              <a:t>Hardy-Weinberg Equilibrium</a:t>
            </a:r>
            <a:endParaRPr lang="en-US" sz="4000" b="1" dirty="0" smtClean="0">
              <a:solidFill>
                <a:schemeClr val="tx1"/>
              </a:solidFill>
            </a:endParaRPr>
          </a:p>
          <a:p>
            <a:pPr algn="ctr" fontAlgn="auto">
              <a:spcAft>
                <a:spcPts val="0"/>
              </a:spcAft>
              <a:defRPr/>
            </a:pPr>
            <a:r>
              <a:rPr lang="en-US" sz="4000" dirty="0" smtClean="0">
                <a:solidFill>
                  <a:schemeClr val="tx1"/>
                </a:solidFill>
                <a:sym typeface="+mn-ea"/>
              </a:rPr>
              <a:t>Population Genetics</a:t>
            </a:r>
            <a:endParaRPr lang="en-US" sz="4000" dirty="0" smtClean="0">
              <a:solidFill>
                <a:schemeClr val="tx1"/>
              </a:solidFill>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solidFill>
                  <a:schemeClr val="tx1"/>
                </a:solidFill>
              </a:rPr>
            </a:br>
            <a:r>
              <a:rPr lang="en-US" dirty="0">
                <a:solidFill>
                  <a:schemeClr val="tx1"/>
                </a:solidFill>
              </a:rPr>
              <a:t>What Is </a:t>
            </a:r>
            <a:r>
              <a:rPr lang="en-US" dirty="0" smtClean="0">
                <a:solidFill>
                  <a:schemeClr val="tx1"/>
                </a:solidFill>
              </a:rPr>
              <a:t>Hardy-Weinberg Equilibrium?</a:t>
            </a:r>
            <a:br>
              <a:rPr lang="en-US" dirty="0" smtClean="0">
                <a:solidFill>
                  <a:schemeClr val="tx1"/>
                </a:solidFill>
              </a:rPr>
            </a:br>
            <a:endParaRPr lang="en-US" dirty="0" smtClean="0">
              <a:solidFill>
                <a:schemeClr val="tx1"/>
              </a:solidFill>
            </a:endParaRPr>
          </a:p>
        </p:txBody>
      </p:sp>
      <p:sp>
        <p:nvSpPr>
          <p:cNvPr id="3" name="Content Placeholder 2"/>
          <p:cNvSpPr>
            <a:spLocks noGrp="1"/>
          </p:cNvSpPr>
          <p:nvPr>
            <p:ph idx="1"/>
          </p:nvPr>
        </p:nvSpPr>
        <p:spPr/>
        <p:txBody>
          <a:bodyPr/>
          <a:lstStyle/>
          <a:p>
            <a:endParaRPr lang="en-US" sz="2400" dirty="0"/>
          </a:p>
          <a:p>
            <a:r>
              <a:rPr lang="en-US" sz="2400" dirty="0"/>
              <a:t>The</a:t>
            </a:r>
            <a:r>
              <a:rPr lang="en-US" sz="2400" dirty="0">
                <a:solidFill>
                  <a:schemeClr val="tx1"/>
                </a:solidFill>
                <a:highlight>
                  <a:srgbClr val="FFFF00"/>
                </a:highlight>
              </a:rPr>
              <a:t> </a:t>
            </a:r>
            <a:r>
              <a:rPr lang="en-US" sz="2400" b="1" dirty="0">
                <a:solidFill>
                  <a:schemeClr val="tx1"/>
                </a:solidFill>
                <a:highlight>
                  <a:srgbClr val="FFFF00"/>
                </a:highlight>
              </a:rPr>
              <a:t>Hardy-Weinberg Principle</a:t>
            </a:r>
            <a:r>
              <a:rPr lang="en-US" sz="2400" b="1" dirty="0">
                <a:solidFill>
                  <a:srgbClr val="AA14AA"/>
                </a:solidFill>
              </a:rPr>
              <a:t> </a:t>
            </a:r>
            <a:r>
              <a:rPr lang="en-US" sz="2400" dirty="0"/>
              <a:t>is a way to measure if populations are evolving or not. It is a way to compare allele frequencies in a population over time. There are two equations that can be used if a population is in Hardy-Weinberg equilibrium.</a:t>
            </a:r>
            <a:endParaRPr lang="en-US" sz="2400" dirty="0"/>
          </a:p>
          <a:p>
            <a:endParaRPr lang="en-US" sz="2400" dirty="0"/>
          </a:p>
          <a:p>
            <a:r>
              <a:rPr lang="en-US" sz="2400" dirty="0"/>
              <a:t>It states that allele frequencies &amp; genotype frequencies in a population remain constant through generations </a:t>
            </a:r>
            <a:r>
              <a:rPr lang="en-US" sz="2400" u="sng" dirty="0"/>
              <a:t>if?</a:t>
            </a:r>
            <a:endParaRPr lang="en-US" sz="2400" u="sng"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2" descr="C:\Documents and Settings\binouye\My Documents\My Pictures\hardy.jpg"/>
          <p:cNvPicPr>
            <a:picLocks noChangeAspect="1" noChangeArrowheads="1"/>
          </p:cNvPicPr>
          <p:nvPr/>
        </p:nvPicPr>
        <p:blipFill>
          <a:blip r:embed="rId1"/>
          <a:srcRect/>
          <a:stretch>
            <a:fillRect/>
          </a:stretch>
        </p:blipFill>
        <p:spPr bwMode="auto">
          <a:xfrm>
            <a:off x="0" y="0"/>
            <a:ext cx="12192000" cy="6858000"/>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cstate="print"/>
          <a:stretch>
            <a:fillRect/>
          </a:stretch>
        </p:blipFill>
        <p:spPr>
          <a:xfrm>
            <a:off x="1304290" y="311150"/>
            <a:ext cx="8753475" cy="6249035"/>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cstate="print"/>
          <a:stretch>
            <a:fillRect/>
          </a:stretch>
        </p:blipFill>
        <p:spPr>
          <a:xfrm>
            <a:off x="1832610" y="205740"/>
            <a:ext cx="8104505" cy="643128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AA14AA"/>
                </a:solidFill>
              </a:rPr>
              <a:t>Hardy-Weinberg assumptions</a:t>
            </a:r>
            <a:endParaRPr lang="en-US" b="1" dirty="0">
              <a:solidFill>
                <a:srgbClr val="AA14AA"/>
              </a:solidFill>
            </a:endParaRPr>
          </a:p>
        </p:txBody>
      </p:sp>
      <p:sp>
        <p:nvSpPr>
          <p:cNvPr id="3" name="Content Placeholder 2"/>
          <p:cNvSpPr>
            <a:spLocks noGrp="1"/>
          </p:cNvSpPr>
          <p:nvPr>
            <p:ph idx="1"/>
          </p:nvPr>
        </p:nvSpPr>
        <p:spPr>
          <a:xfrm>
            <a:off x="609600" y="1600200"/>
            <a:ext cx="10972800" cy="4903470"/>
          </a:xfrm>
        </p:spPr>
        <p:txBody>
          <a:bodyPr>
            <a:normAutofit lnSpcReduction="20000"/>
          </a:bodyPr>
          <a:lstStyle/>
          <a:p>
            <a:r>
              <a:rPr lang="en-US" sz="2800" dirty="0">
                <a:highlight>
                  <a:srgbClr val="FFFF00"/>
                </a:highlight>
              </a:rPr>
              <a:t>There are also five assumptions about the population:</a:t>
            </a:r>
            <a:endParaRPr lang="en-US" sz="2800" dirty="0">
              <a:highlight>
                <a:srgbClr val="FFFF00"/>
              </a:highlight>
            </a:endParaRPr>
          </a:p>
          <a:p>
            <a:pPr marL="0" indent="0">
              <a:buNone/>
            </a:pPr>
            <a:endParaRPr lang="en-US" sz="2800" dirty="0">
              <a:highlight>
                <a:srgbClr val="FFFF00"/>
              </a:highlight>
            </a:endParaRPr>
          </a:p>
          <a:p>
            <a:pPr marL="514350" indent="-514350">
              <a:buFont typeface="+mj-lt"/>
              <a:buAutoNum type="arabicParenR"/>
            </a:pPr>
            <a:r>
              <a:rPr lang="en-US" sz="2800" dirty="0"/>
              <a:t> Random mating (that is, no sexual selection)</a:t>
            </a:r>
            <a:endParaRPr lang="en-US" sz="2800" dirty="0"/>
          </a:p>
          <a:p>
            <a:pPr marL="514350" indent="-514350">
              <a:buFont typeface="+mj-lt"/>
              <a:buAutoNum type="arabicParenR"/>
            </a:pPr>
            <a:r>
              <a:rPr lang="en-US" sz="2800" dirty="0"/>
              <a:t> Large or infinite population (no genetic drift)</a:t>
            </a:r>
            <a:endParaRPr lang="en-US" sz="2800" dirty="0"/>
          </a:p>
          <a:p>
            <a:pPr marL="514350" indent="-514350">
              <a:buFont typeface="+mj-lt"/>
              <a:buAutoNum type="arabicParenR"/>
            </a:pPr>
            <a:r>
              <a:rPr lang="en-US" sz="2800" dirty="0"/>
              <a:t> No mutation</a:t>
            </a:r>
            <a:endParaRPr lang="en-US" sz="2800" dirty="0"/>
          </a:p>
          <a:p>
            <a:pPr marL="514350" indent="-514350">
              <a:buFont typeface="+mj-lt"/>
              <a:buAutoNum type="arabicParenR"/>
            </a:pPr>
            <a:r>
              <a:rPr lang="en-US" sz="2800" dirty="0"/>
              <a:t> No migration </a:t>
            </a:r>
            <a:endParaRPr lang="en-US" sz="2800" dirty="0"/>
          </a:p>
          <a:p>
            <a:pPr marL="514350" indent="-514350">
              <a:buFont typeface="+mj-lt"/>
              <a:buAutoNum type="arabicParenR"/>
            </a:pPr>
            <a:r>
              <a:rPr lang="en-US" sz="2800" dirty="0"/>
              <a:t> No natural selection</a:t>
            </a:r>
            <a:endParaRPr lang="en-US" sz="2800" dirty="0"/>
          </a:p>
          <a:p>
            <a:pPr marL="514350" indent="-514350">
              <a:buFont typeface="+mj-lt"/>
              <a:buAutoNum type="arabicParenR"/>
            </a:pPr>
            <a:endParaRPr lang="en-US" sz="2800" dirty="0"/>
          </a:p>
          <a:p>
            <a:pPr marL="0" indent="0">
              <a:buFont typeface="+mj-lt"/>
              <a:buNone/>
            </a:pPr>
            <a:endParaRPr lang="en-US" sz="2800" dirty="0"/>
          </a:p>
          <a:p>
            <a:pPr marL="0" indent="0" algn="ctr">
              <a:buNone/>
            </a:pPr>
            <a:r>
              <a:rPr lang="en-US" sz="2800" b="1" dirty="0">
                <a:sym typeface="Wingdings" panose="05000000000000000000" pitchFamily="2" charset="2"/>
              </a:rPr>
              <a:t> </a:t>
            </a:r>
            <a:r>
              <a:rPr lang="en-US" sz="2800" b="1" dirty="0"/>
              <a:t>These five conditions must be met for a population to be in Hardy-Weinberg equilibrium.</a:t>
            </a:r>
            <a:endParaRPr lang="en-US" sz="2800" b="1"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338667" y="790576"/>
            <a:ext cx="11853333" cy="822325"/>
          </a:xfrm>
        </p:spPr>
        <p:txBody>
          <a:bodyPr>
            <a:normAutofit fontScale="90000"/>
          </a:bodyPr>
          <a:lstStyle/>
          <a:p>
            <a:pPr eaLnBrk="1" hangingPunct="1"/>
            <a:r>
              <a:rPr lang="en-US" sz="3600" dirty="0" smtClean="0">
                <a:solidFill>
                  <a:schemeClr val="tx1"/>
                </a:solidFill>
              </a:rPr>
              <a:t>Hardy-Weinberg equilibrium describes populations that are not evolving</a:t>
            </a:r>
            <a:r>
              <a:rPr lang="en-US" dirty="0" smtClean="0">
                <a:solidFill>
                  <a:schemeClr val="tx1"/>
                </a:solidFill>
              </a:rPr>
              <a:t>. </a:t>
            </a:r>
            <a:endParaRPr lang="en-US" dirty="0" smtClean="0">
              <a:solidFill>
                <a:schemeClr val="tx1"/>
              </a:solidFill>
            </a:endParaRPr>
          </a:p>
        </p:txBody>
      </p:sp>
      <p:sp>
        <p:nvSpPr>
          <p:cNvPr id="6147" name="Rectangle 3"/>
          <p:cNvSpPr>
            <a:spLocks noGrp="1" noChangeArrowheads="1"/>
          </p:cNvSpPr>
          <p:nvPr>
            <p:ph type="body" idx="1"/>
          </p:nvPr>
        </p:nvSpPr>
        <p:spPr>
          <a:xfrm>
            <a:off x="168275" y="2713355"/>
            <a:ext cx="7346950" cy="2428875"/>
          </a:xfrm>
        </p:spPr>
        <p:txBody>
          <a:bodyPr/>
          <a:lstStyle/>
          <a:p>
            <a:pPr eaLnBrk="1" hangingPunct="1"/>
            <a:r>
              <a:rPr lang="en-US" sz="2600" dirty="0" smtClean="0"/>
              <a:t>Real populations rarely meet all five conditions.</a:t>
            </a:r>
            <a:endParaRPr lang="en-US" sz="2600" dirty="0" smtClean="0"/>
          </a:p>
          <a:p>
            <a:pPr lvl="1" eaLnBrk="1" hangingPunct="1"/>
            <a:r>
              <a:rPr lang="en-US" sz="2600" dirty="0" smtClean="0"/>
              <a:t>Real population data is compared to a model.</a:t>
            </a:r>
            <a:endParaRPr lang="en-US" sz="2600" dirty="0" smtClean="0"/>
          </a:p>
          <a:p>
            <a:pPr lvl="1" eaLnBrk="1" hangingPunct="1"/>
            <a:r>
              <a:rPr lang="en-US" sz="2600" dirty="0" smtClean="0"/>
              <a:t>Models are used to studying how populations evolve.</a:t>
            </a:r>
            <a:endParaRPr lang="en-US" sz="2600" dirty="0" smtClean="0"/>
          </a:p>
        </p:txBody>
      </p:sp>
      <p:pic>
        <p:nvPicPr>
          <p:cNvPr id="45060" name="Picture 4"/>
          <p:cNvPicPr>
            <a:picLocks noChangeAspect="1" noChangeArrowheads="1"/>
          </p:cNvPicPr>
          <p:nvPr/>
        </p:nvPicPr>
        <p:blipFill>
          <a:blip r:embed="rId1"/>
          <a:srcRect/>
          <a:stretch>
            <a:fillRect/>
          </a:stretch>
        </p:blipFill>
        <p:spPr bwMode="auto">
          <a:xfrm>
            <a:off x="7691756" y="2438400"/>
            <a:ext cx="4500033" cy="4419600"/>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5060"/>
                                        </p:tgtEl>
                                        <p:attrNameLst>
                                          <p:attrName>style.visibility</p:attrName>
                                        </p:attrNameLst>
                                      </p:cBhvr>
                                      <p:to>
                                        <p:strVal val="visible"/>
                                      </p:to>
                                    </p:set>
                                    <p:animEffect transition="in" filter="wipe(up)">
                                      <p:cBhvr>
                                        <p:cTn id="7" dur="500"/>
                                        <p:tgtEl>
                                          <p:spTgt spid="45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338667" y="458066"/>
            <a:ext cx="11853333" cy="822325"/>
          </a:xfrm>
        </p:spPr>
        <p:txBody>
          <a:bodyPr>
            <a:noAutofit/>
          </a:bodyPr>
          <a:lstStyle/>
          <a:p>
            <a:pPr eaLnBrk="1" hangingPunct="1"/>
            <a:r>
              <a:rPr lang="en-US" sz="3200" dirty="0" smtClean="0">
                <a:solidFill>
                  <a:schemeClr val="tx1"/>
                </a:solidFill>
              </a:rPr>
              <a:t>The Hardy-Weinberg equation is used to predict genotype frequencies in a population. </a:t>
            </a:r>
            <a:endParaRPr lang="en-US" sz="3200" dirty="0" smtClean="0">
              <a:solidFill>
                <a:schemeClr val="tx1"/>
              </a:solidFill>
            </a:endParaRPr>
          </a:p>
        </p:txBody>
      </p:sp>
      <p:sp>
        <p:nvSpPr>
          <p:cNvPr id="26627" name="Rectangle 3"/>
          <p:cNvSpPr>
            <a:spLocks noGrp="1" noChangeArrowheads="1"/>
          </p:cNvSpPr>
          <p:nvPr>
            <p:ph type="body" idx="1"/>
          </p:nvPr>
        </p:nvSpPr>
        <p:spPr>
          <a:xfrm>
            <a:off x="711200" y="1714501"/>
            <a:ext cx="11480800" cy="1260475"/>
          </a:xfrm>
        </p:spPr>
        <p:txBody>
          <a:bodyPr/>
          <a:lstStyle/>
          <a:p>
            <a:pPr eaLnBrk="1" hangingPunct="1"/>
            <a:r>
              <a:rPr lang="en-US" sz="2400" dirty="0" smtClean="0"/>
              <a:t>Predicted genotype frequencies are compared with actual frequencies.</a:t>
            </a:r>
            <a:endParaRPr lang="en-US" sz="2400" dirty="0" smtClean="0"/>
          </a:p>
          <a:p>
            <a:pPr lvl="1" eaLnBrk="1" hangingPunct="1"/>
            <a:r>
              <a:rPr lang="en-US" sz="2400" dirty="0" smtClean="0"/>
              <a:t>used for traits in simple dominant-recessive systems</a:t>
            </a:r>
            <a:endParaRPr lang="en-US" sz="2400" dirty="0" smtClean="0"/>
          </a:p>
        </p:txBody>
      </p:sp>
      <p:sp>
        <p:nvSpPr>
          <p:cNvPr id="26638" name="Rectangle 14"/>
          <p:cNvSpPr>
            <a:spLocks noChangeArrowheads="1"/>
          </p:cNvSpPr>
          <p:nvPr/>
        </p:nvSpPr>
        <p:spPr bwMode="auto">
          <a:xfrm>
            <a:off x="1154431" y="3070860"/>
            <a:ext cx="2715260" cy="460375"/>
          </a:xfrm>
          <a:prstGeom prst="rect">
            <a:avLst/>
          </a:prstGeom>
          <a:noFill/>
          <a:ln w="9525">
            <a:noFill/>
            <a:miter lim="800000"/>
          </a:ln>
        </p:spPr>
        <p:txBody>
          <a:bodyPr wrap="none">
            <a:spAutoFit/>
          </a:bodyPr>
          <a:lstStyle/>
          <a:p>
            <a:pPr>
              <a:buFontTx/>
              <a:buChar char="–"/>
            </a:pPr>
            <a:r>
              <a:rPr lang="en-US" sz="2400">
                <a:latin typeface="Arial" panose="020B0604020202020204" pitchFamily="34" charset="0"/>
              </a:rPr>
              <a:t> p</a:t>
            </a:r>
            <a:r>
              <a:rPr lang="en-US" sz="2400" baseline="30000">
                <a:latin typeface="Arial" panose="020B0604020202020204" pitchFamily="34" charset="0"/>
              </a:rPr>
              <a:t>2</a:t>
            </a:r>
            <a:r>
              <a:rPr lang="en-US" sz="2400">
                <a:latin typeface="Arial" panose="020B0604020202020204" pitchFamily="34" charset="0"/>
              </a:rPr>
              <a:t> + 2pq + q</a:t>
            </a:r>
            <a:r>
              <a:rPr lang="en-US" sz="2400" baseline="30000">
                <a:latin typeface="Arial" panose="020B0604020202020204" pitchFamily="34" charset="0"/>
              </a:rPr>
              <a:t>2</a:t>
            </a:r>
            <a:r>
              <a:rPr lang="en-US" sz="2400">
                <a:latin typeface="Arial" panose="020B0604020202020204" pitchFamily="34" charset="0"/>
              </a:rPr>
              <a:t> = 1</a:t>
            </a:r>
            <a:endParaRPr lang="en-US" sz="2400">
              <a:latin typeface="Arial" panose="020B0604020202020204" pitchFamily="34" charset="0"/>
            </a:endParaRPr>
          </a:p>
        </p:txBody>
      </p:sp>
      <p:pic>
        <p:nvPicPr>
          <p:cNvPr id="26630" name="Picture 6" descr="bhspe-041104_0341_a"/>
          <p:cNvPicPr>
            <a:picLocks noChangeAspect="1" noChangeArrowheads="1"/>
          </p:cNvPicPr>
          <p:nvPr/>
        </p:nvPicPr>
        <p:blipFill>
          <a:blip r:embed="rId1"/>
          <a:srcRect/>
          <a:stretch>
            <a:fillRect/>
          </a:stretch>
        </p:blipFill>
        <p:spPr bwMode="auto">
          <a:xfrm>
            <a:off x="7416800" y="3409316"/>
            <a:ext cx="4775200" cy="3222625"/>
          </a:xfrm>
          <a:prstGeom prst="rect">
            <a:avLst/>
          </a:prstGeom>
          <a:noFill/>
          <a:ln w="9525">
            <a:noFill/>
            <a:miter lim="800000"/>
            <a:headEnd/>
            <a:tailEnd/>
          </a:ln>
        </p:spPr>
      </p:pic>
      <p:sp>
        <p:nvSpPr>
          <p:cNvPr id="3" name="Text Box 2"/>
          <p:cNvSpPr txBox="1"/>
          <p:nvPr/>
        </p:nvSpPr>
        <p:spPr>
          <a:xfrm>
            <a:off x="711200" y="2610485"/>
            <a:ext cx="7381875" cy="460375"/>
          </a:xfrm>
          <a:prstGeom prst="rect">
            <a:avLst/>
          </a:prstGeom>
          <a:noFill/>
        </p:spPr>
        <p:txBody>
          <a:bodyPr wrap="none" rtlCol="0">
            <a:spAutoFit/>
          </a:bodyPr>
          <a:p>
            <a:pPr lvl="1" algn="l" eaLnBrk="1" hangingPunct="1">
              <a:spcBef>
                <a:spcPct val="20000"/>
              </a:spcBef>
              <a:buFontTx/>
              <a:buChar char="–"/>
            </a:pPr>
            <a:r>
              <a:rPr lang="en-US" sz="2400" dirty="0">
                <a:latin typeface="Arial" panose="020B0604020202020204" pitchFamily="34" charset="0"/>
                <a:sym typeface="+mn-ea"/>
              </a:rPr>
              <a:t> must know frequency of recessive </a:t>
            </a:r>
            <a:r>
              <a:rPr lang="en-US" sz="2400" dirty="0" err="1">
                <a:latin typeface="Arial" panose="020B0604020202020204" pitchFamily="34" charset="0"/>
                <a:sym typeface="+mn-ea"/>
              </a:rPr>
              <a:t>homozygotes</a:t>
            </a:r>
            <a:endParaRPr lang="en-US" sz="2400" dirty="0">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6626"/>
                                        </p:tgtEl>
                                        <p:attrNameLst>
                                          <p:attrName>style.visibility</p:attrName>
                                        </p:attrNameLst>
                                      </p:cBhvr>
                                      <p:to>
                                        <p:strVal val="visible"/>
                                      </p:to>
                                    </p:set>
                                    <p:animEffect transition="in" filter="wipe(left)">
                                      <p:cBhvr>
                                        <p:cTn id="7" dur="500"/>
                                        <p:tgtEl>
                                          <p:spTgt spid="266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627">
                                            <p:txEl>
                                              <p:pRg st="0" end="0"/>
                                            </p:txEl>
                                          </p:spTgt>
                                        </p:tgtEl>
                                        <p:attrNameLst>
                                          <p:attrName>style.visibility</p:attrName>
                                        </p:attrNameLst>
                                      </p:cBhvr>
                                      <p:to>
                                        <p:strVal val="visible"/>
                                      </p:to>
                                    </p:set>
                                    <p:animEffect transition="in" filter="wipe(left)">
                                      <p:cBhvr>
                                        <p:cTn id="12" dur="500"/>
                                        <p:tgtEl>
                                          <p:spTgt spid="2662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627">
                                            <p:txEl>
                                              <p:pRg st="1" end="1"/>
                                            </p:txEl>
                                          </p:spTgt>
                                        </p:tgtEl>
                                        <p:attrNameLst>
                                          <p:attrName>style.visibility</p:attrName>
                                        </p:attrNameLst>
                                      </p:cBhvr>
                                      <p:to>
                                        <p:strVal val="visible"/>
                                      </p:to>
                                    </p:set>
                                    <p:animEffect transition="in" filter="wipe(left)">
                                      <p:cBhvr>
                                        <p:cTn id="17" dur="500"/>
                                        <p:tgtEl>
                                          <p:spTgt spid="2662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638"/>
                                        </p:tgtEl>
                                        <p:attrNameLst>
                                          <p:attrName>style.visibility</p:attrName>
                                        </p:attrNameLst>
                                      </p:cBhvr>
                                      <p:to>
                                        <p:strVal val="visible"/>
                                      </p:to>
                                    </p:set>
                                    <p:animEffect transition="in" filter="wipe(left)">
                                      <p:cBhvr>
                                        <p:cTn id="22" dur="500"/>
                                        <p:tgtEl>
                                          <p:spTgt spid="2663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6630"/>
                                        </p:tgtEl>
                                        <p:attrNameLst>
                                          <p:attrName>style.visibility</p:attrName>
                                        </p:attrNameLst>
                                      </p:cBhvr>
                                      <p:to>
                                        <p:strVal val="visible"/>
                                      </p:to>
                                    </p:set>
                                    <p:animEffect transition="in" filter="wipe(up)">
                                      <p:cBhvr>
                                        <p:cTn id="27" dur="500"/>
                                        <p:tgtEl>
                                          <p:spTgt spid="266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autoUpdateAnimBg="0"/>
      <p:bldP spid="26627" grpId="0" bldLvl="5" autoUpdateAnimBg="0" build="p"/>
      <p:bldP spid="26638"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 name="Group 15"/>
          <p:cNvGrpSpPr/>
          <p:nvPr/>
        </p:nvGrpSpPr>
        <p:grpSpPr bwMode="auto">
          <a:xfrm>
            <a:off x="541232" y="2046159"/>
            <a:ext cx="9882293" cy="2765398"/>
            <a:chOff x="255" y="2195"/>
            <a:chExt cx="4377" cy="1633"/>
          </a:xfrm>
        </p:grpSpPr>
        <p:pic>
          <p:nvPicPr>
            <p:cNvPr id="7176" name="Picture 8" descr="bhspe-041104_0340"/>
            <p:cNvPicPr>
              <a:picLocks noChangeAspect="1" noChangeArrowheads="1"/>
            </p:cNvPicPr>
            <p:nvPr/>
          </p:nvPicPr>
          <p:blipFill>
            <a:blip r:embed="rId1"/>
            <a:srcRect l="5731" t="3804" r="10058" b="9027"/>
            <a:stretch>
              <a:fillRect/>
            </a:stretch>
          </p:blipFill>
          <p:spPr bwMode="auto">
            <a:xfrm>
              <a:off x="255" y="2195"/>
              <a:ext cx="1566" cy="1633"/>
            </a:xfrm>
            <a:prstGeom prst="rect">
              <a:avLst/>
            </a:prstGeom>
            <a:noFill/>
            <a:ln w="9525">
              <a:noFill/>
              <a:miter lim="800000"/>
              <a:headEnd/>
              <a:tailEnd/>
            </a:ln>
          </p:spPr>
        </p:pic>
        <p:sp>
          <p:nvSpPr>
            <p:cNvPr id="7177" name="Text Box 10"/>
            <p:cNvSpPr txBox="1">
              <a:spLocks noChangeArrowheads="1"/>
            </p:cNvSpPr>
            <p:nvPr/>
          </p:nvSpPr>
          <p:spPr bwMode="auto">
            <a:xfrm>
              <a:off x="2035" y="2592"/>
              <a:ext cx="2597" cy="1053"/>
            </a:xfrm>
            <a:prstGeom prst="rect">
              <a:avLst/>
            </a:prstGeom>
            <a:noFill/>
            <a:ln w="9525">
              <a:noFill/>
              <a:miter lim="800000"/>
            </a:ln>
          </p:spPr>
          <p:txBody>
            <a:bodyPr wrap="square">
              <a:spAutoFit/>
            </a:bodyPr>
            <a:p>
              <a:r>
                <a:rPr lang="en-US" sz="2200" b="1">
                  <a:latin typeface="Arial" panose="020B0604020202020204" pitchFamily="34" charset="0"/>
                </a:rPr>
                <a:t>"The Hardy-Weinberg equation is based on Mendelian genetics. It is derived from a simple Punnett square in which p is the frequency of the dominant allele and q is the frequency of the recessive allele."</a:t>
              </a:r>
              <a:endParaRPr lang="en-US" sz="2200" b="1">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7" name="Rectangle 3"/>
          <p:cNvSpPr>
            <a:spLocks noGrp="1" noChangeArrowheads="1"/>
          </p:cNvSpPr>
          <p:nvPr>
            <p:ph type="body" idx="1"/>
          </p:nvPr>
        </p:nvSpPr>
        <p:spPr>
          <a:xfrm>
            <a:off x="728133" y="915989"/>
            <a:ext cx="11463867" cy="1260475"/>
          </a:xfrm>
          <a:noFill/>
        </p:spPr>
        <p:txBody>
          <a:bodyPr/>
          <a:lstStyle/>
          <a:p>
            <a:pPr eaLnBrk="1" hangingPunct="1"/>
            <a:r>
              <a:rPr lang="en-US" smtClean="0"/>
              <a:t>Genetic drift changes allele frequencies due to chance alone.</a:t>
            </a:r>
            <a:endParaRPr lang="en-US" smtClean="0"/>
          </a:p>
          <a:p>
            <a:pPr eaLnBrk="1" hangingPunct="1"/>
            <a:endParaRPr lang="en-US" smtClean="0"/>
          </a:p>
        </p:txBody>
      </p:sp>
      <p:pic>
        <p:nvPicPr>
          <p:cNvPr id="31751" name="Picture 7"/>
          <p:cNvPicPr>
            <a:picLocks noChangeAspect="1" noChangeArrowheads="1"/>
          </p:cNvPicPr>
          <p:nvPr/>
        </p:nvPicPr>
        <p:blipFill>
          <a:blip r:embed="rId1"/>
          <a:srcRect/>
          <a:stretch>
            <a:fillRect/>
          </a:stretch>
        </p:blipFill>
        <p:spPr bwMode="auto">
          <a:xfrm>
            <a:off x="5384800" y="2590800"/>
            <a:ext cx="6502400" cy="4025900"/>
          </a:xfrm>
          <a:prstGeom prst="rect">
            <a:avLst/>
          </a:prstGeom>
          <a:noFill/>
          <a:ln w="9525">
            <a:noFill/>
            <a:miter lim="800000"/>
            <a:headEnd/>
            <a:tailEnd/>
          </a:ln>
        </p:spPr>
      </p:pic>
      <p:pic>
        <p:nvPicPr>
          <p:cNvPr id="31753" name="Picture 9"/>
          <p:cNvPicPr>
            <a:picLocks noChangeAspect="1" noChangeArrowheads="1"/>
          </p:cNvPicPr>
          <p:nvPr/>
        </p:nvPicPr>
        <p:blipFill>
          <a:blip r:embed="rId2"/>
          <a:srcRect/>
          <a:stretch>
            <a:fillRect/>
          </a:stretch>
        </p:blipFill>
        <p:spPr bwMode="auto">
          <a:xfrm>
            <a:off x="812800" y="1905001"/>
            <a:ext cx="4368800" cy="270351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Effect transition="in" filter="wipe(left)">
                                      <p:cBhvr>
                                        <p:cTn id="7" dur="500"/>
                                        <p:tgtEl>
                                          <p:spTgt spid="317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1753"/>
                                        </p:tgtEl>
                                        <p:attrNameLst>
                                          <p:attrName>style.visibility</p:attrName>
                                        </p:attrNameLst>
                                      </p:cBhvr>
                                      <p:to>
                                        <p:strVal val="visible"/>
                                      </p:to>
                                    </p:set>
                                    <p:animEffect transition="in" filter="wipe(up)">
                                      <p:cBhvr>
                                        <p:cTn id="12" dur="500"/>
                                        <p:tgtEl>
                                          <p:spTgt spid="3175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1751"/>
                                        </p:tgtEl>
                                        <p:attrNameLst>
                                          <p:attrName>style.visibility</p:attrName>
                                        </p:attrNameLst>
                                      </p:cBhvr>
                                      <p:to>
                                        <p:strVal val="visible"/>
                                      </p:to>
                                    </p:set>
                                    <p:animEffect transition="in" filter="wipe(up)">
                                      <p:cBhvr>
                                        <p:cTn id="17" dur="500"/>
                                        <p:tgtEl>
                                          <p:spTgt spid="317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ldLvl="5" advAuto="0" autoUpdateAnimBg="0" build="p"/>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1" name="Rectangle 3"/>
          <p:cNvSpPr>
            <a:spLocks noGrp="1" noChangeArrowheads="1"/>
          </p:cNvSpPr>
          <p:nvPr>
            <p:ph type="body" idx="1"/>
          </p:nvPr>
        </p:nvSpPr>
        <p:spPr>
          <a:xfrm>
            <a:off x="711200" y="915988"/>
            <a:ext cx="11480800" cy="895350"/>
          </a:xfrm>
          <a:noFill/>
        </p:spPr>
        <p:txBody>
          <a:bodyPr/>
          <a:lstStyle/>
          <a:p>
            <a:pPr eaLnBrk="1" hangingPunct="1"/>
            <a:r>
              <a:rPr lang="en-US" smtClean="0"/>
              <a:t>Gene flow moves alleles from one population to another.</a:t>
            </a:r>
            <a:endParaRPr lang="en-US" smtClean="0"/>
          </a:p>
          <a:p>
            <a:pPr eaLnBrk="1" hangingPunct="1">
              <a:buFontTx/>
              <a:buNone/>
            </a:pPr>
            <a:endParaRPr lang="en-US" smtClean="0"/>
          </a:p>
        </p:txBody>
      </p:sp>
      <p:pic>
        <p:nvPicPr>
          <p:cNvPr id="32775" name="Picture 7"/>
          <p:cNvPicPr>
            <a:picLocks noChangeAspect="1" noChangeArrowheads="1"/>
          </p:cNvPicPr>
          <p:nvPr/>
        </p:nvPicPr>
        <p:blipFill>
          <a:blip r:embed="rId1"/>
          <a:srcRect/>
          <a:stretch>
            <a:fillRect/>
          </a:stretch>
        </p:blipFill>
        <p:spPr bwMode="auto">
          <a:xfrm>
            <a:off x="5949952" y="2362200"/>
            <a:ext cx="5734049" cy="4343400"/>
          </a:xfrm>
          <a:prstGeom prst="rect">
            <a:avLst/>
          </a:prstGeom>
          <a:noFill/>
          <a:ln w="9525">
            <a:noFill/>
            <a:miter lim="800000"/>
            <a:headEnd/>
            <a:tailEnd/>
          </a:ln>
        </p:spPr>
      </p:pic>
      <p:pic>
        <p:nvPicPr>
          <p:cNvPr id="32778" name="Picture 10"/>
          <p:cNvPicPr>
            <a:picLocks noChangeAspect="1" noChangeArrowheads="1"/>
          </p:cNvPicPr>
          <p:nvPr/>
        </p:nvPicPr>
        <p:blipFill>
          <a:blip r:embed="rId2"/>
          <a:srcRect/>
          <a:stretch>
            <a:fillRect/>
          </a:stretch>
        </p:blipFill>
        <p:spPr bwMode="auto">
          <a:xfrm>
            <a:off x="812800" y="1524001"/>
            <a:ext cx="4368800" cy="270351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Effect transition="in" filter="wipe(left)">
                                      <p:cBhvr>
                                        <p:cTn id="7" dur="500"/>
                                        <p:tgtEl>
                                          <p:spTgt spid="327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2778"/>
                                        </p:tgtEl>
                                        <p:attrNameLst>
                                          <p:attrName>style.visibility</p:attrName>
                                        </p:attrNameLst>
                                      </p:cBhvr>
                                      <p:to>
                                        <p:strVal val="visible"/>
                                      </p:to>
                                    </p:set>
                                    <p:animEffect transition="in" filter="wipe(up)">
                                      <p:cBhvr>
                                        <p:cTn id="12" dur="500"/>
                                        <p:tgtEl>
                                          <p:spTgt spid="3277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2775"/>
                                        </p:tgtEl>
                                        <p:attrNameLst>
                                          <p:attrName>style.visibility</p:attrName>
                                        </p:attrNameLst>
                                      </p:cBhvr>
                                      <p:to>
                                        <p:strVal val="visible"/>
                                      </p:to>
                                    </p:set>
                                    <p:animEffect transition="in" filter="wipe(up)">
                                      <p:cBhvr>
                                        <p:cTn id="17" dur="500"/>
                                        <p:tgtEl>
                                          <p:spTgt spid="327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ldLvl="5" advAuto="0" autoUpdateAnimBg="0" build="p"/>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5" name="Rectangle 3"/>
          <p:cNvSpPr>
            <a:spLocks noGrp="1" noChangeArrowheads="1"/>
          </p:cNvSpPr>
          <p:nvPr>
            <p:ph type="body" idx="1"/>
          </p:nvPr>
        </p:nvSpPr>
        <p:spPr>
          <a:xfrm>
            <a:off x="711200" y="915989"/>
            <a:ext cx="11480800" cy="822325"/>
          </a:xfrm>
          <a:noFill/>
        </p:spPr>
        <p:txBody>
          <a:bodyPr/>
          <a:lstStyle/>
          <a:p>
            <a:pPr eaLnBrk="1" hangingPunct="1"/>
            <a:r>
              <a:rPr lang="en-US" smtClean="0"/>
              <a:t>Mutations produce the genetic variation needed for evolution. </a:t>
            </a:r>
            <a:endParaRPr lang="en-US" smtClean="0"/>
          </a:p>
        </p:txBody>
      </p:sp>
      <p:pic>
        <p:nvPicPr>
          <p:cNvPr id="33799" name="Picture 7"/>
          <p:cNvPicPr>
            <a:picLocks noChangeAspect="1" noChangeArrowheads="1"/>
          </p:cNvPicPr>
          <p:nvPr/>
        </p:nvPicPr>
        <p:blipFill>
          <a:blip r:embed="rId1"/>
          <a:srcRect/>
          <a:stretch>
            <a:fillRect/>
          </a:stretch>
        </p:blipFill>
        <p:spPr bwMode="auto">
          <a:xfrm>
            <a:off x="5964768" y="2286000"/>
            <a:ext cx="5617633" cy="4419600"/>
          </a:xfrm>
          <a:prstGeom prst="rect">
            <a:avLst/>
          </a:prstGeom>
          <a:noFill/>
          <a:ln w="9525">
            <a:noFill/>
            <a:miter lim="800000"/>
            <a:headEnd/>
            <a:tailEnd/>
          </a:ln>
        </p:spPr>
      </p:pic>
      <p:pic>
        <p:nvPicPr>
          <p:cNvPr id="33804" name="Picture 12"/>
          <p:cNvPicPr>
            <a:picLocks noChangeAspect="1" noChangeArrowheads="1"/>
          </p:cNvPicPr>
          <p:nvPr/>
        </p:nvPicPr>
        <p:blipFill>
          <a:blip r:embed="rId2"/>
          <a:srcRect/>
          <a:stretch>
            <a:fillRect/>
          </a:stretch>
        </p:blipFill>
        <p:spPr bwMode="auto">
          <a:xfrm>
            <a:off x="812800" y="1905001"/>
            <a:ext cx="4368800" cy="270351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Effect transition="in" filter="wipe(left)">
                                      <p:cBhvr>
                                        <p:cTn id="7" dur="500"/>
                                        <p:tgtEl>
                                          <p:spTgt spid="337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3804"/>
                                        </p:tgtEl>
                                        <p:attrNameLst>
                                          <p:attrName>style.visibility</p:attrName>
                                        </p:attrNameLst>
                                      </p:cBhvr>
                                      <p:to>
                                        <p:strVal val="visible"/>
                                      </p:to>
                                    </p:set>
                                    <p:animEffect transition="in" filter="wipe(up)">
                                      <p:cBhvr>
                                        <p:cTn id="12" dur="500"/>
                                        <p:tgtEl>
                                          <p:spTgt spid="3380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3799"/>
                                        </p:tgtEl>
                                        <p:attrNameLst>
                                          <p:attrName>style.visibility</p:attrName>
                                        </p:attrNameLst>
                                      </p:cBhvr>
                                      <p:to>
                                        <p:strVal val="visible"/>
                                      </p:to>
                                    </p:set>
                                    <p:animEffect transition="in" filter="wipe(up)">
                                      <p:cBhvr>
                                        <p:cTn id="17" dur="500"/>
                                        <p:tgtEl>
                                          <p:spTgt spid="337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ldLvl="5" advAuto="0" autoUpdateAnimBg="0" build="p"/>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9" name="Rectangle 3"/>
          <p:cNvSpPr>
            <a:spLocks noGrp="1" noChangeArrowheads="1"/>
          </p:cNvSpPr>
          <p:nvPr>
            <p:ph type="body" idx="1"/>
          </p:nvPr>
        </p:nvSpPr>
        <p:spPr>
          <a:xfrm>
            <a:off x="711200" y="915989"/>
            <a:ext cx="11480800" cy="1260475"/>
          </a:xfrm>
          <a:noFill/>
        </p:spPr>
        <p:txBody>
          <a:bodyPr/>
          <a:lstStyle/>
          <a:p>
            <a:pPr eaLnBrk="1" hangingPunct="1"/>
            <a:r>
              <a:rPr lang="en-US" smtClean="0"/>
              <a:t>Sexual selection selects for traits that improve mating success.</a:t>
            </a:r>
            <a:endParaRPr lang="en-US" smtClean="0"/>
          </a:p>
          <a:p>
            <a:pPr eaLnBrk="1" hangingPunct="1"/>
            <a:endParaRPr lang="en-US" smtClean="0"/>
          </a:p>
        </p:txBody>
      </p:sp>
      <p:pic>
        <p:nvPicPr>
          <p:cNvPr id="34823" name="Picture 7"/>
          <p:cNvPicPr>
            <a:picLocks noChangeAspect="1" noChangeArrowheads="1"/>
          </p:cNvPicPr>
          <p:nvPr/>
        </p:nvPicPr>
        <p:blipFill>
          <a:blip r:embed="rId1"/>
          <a:srcRect/>
          <a:stretch>
            <a:fillRect/>
          </a:stretch>
        </p:blipFill>
        <p:spPr bwMode="auto">
          <a:xfrm>
            <a:off x="5588000" y="2590800"/>
            <a:ext cx="6197600" cy="4095750"/>
          </a:xfrm>
          <a:prstGeom prst="rect">
            <a:avLst/>
          </a:prstGeom>
          <a:noFill/>
          <a:ln w="9525">
            <a:noFill/>
            <a:miter lim="800000"/>
            <a:headEnd/>
            <a:tailEnd/>
          </a:ln>
        </p:spPr>
      </p:pic>
      <p:pic>
        <p:nvPicPr>
          <p:cNvPr id="34825" name="Picture 9"/>
          <p:cNvPicPr>
            <a:picLocks noChangeAspect="1" noChangeArrowheads="1"/>
          </p:cNvPicPr>
          <p:nvPr/>
        </p:nvPicPr>
        <p:blipFill>
          <a:blip r:embed="rId2"/>
          <a:srcRect/>
          <a:stretch>
            <a:fillRect/>
          </a:stretch>
        </p:blipFill>
        <p:spPr bwMode="auto">
          <a:xfrm>
            <a:off x="812800" y="2176781"/>
            <a:ext cx="4368800" cy="270351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Effect transition="in" filter="wipe(left)">
                                      <p:cBhvr>
                                        <p:cTn id="7" dur="500"/>
                                        <p:tgtEl>
                                          <p:spTgt spid="348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4825"/>
                                        </p:tgtEl>
                                        <p:attrNameLst>
                                          <p:attrName>style.visibility</p:attrName>
                                        </p:attrNameLst>
                                      </p:cBhvr>
                                      <p:to>
                                        <p:strVal val="visible"/>
                                      </p:to>
                                    </p:set>
                                    <p:animEffect transition="in" filter="wipe(up)">
                                      <p:cBhvr>
                                        <p:cTn id="12" dur="500"/>
                                        <p:tgtEl>
                                          <p:spTgt spid="348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4823"/>
                                        </p:tgtEl>
                                        <p:attrNameLst>
                                          <p:attrName>style.visibility</p:attrName>
                                        </p:attrNameLst>
                                      </p:cBhvr>
                                      <p:to>
                                        <p:strVal val="visible"/>
                                      </p:to>
                                    </p:set>
                                    <p:animEffect transition="in" filter="wipe(up)">
                                      <p:cBhvr>
                                        <p:cTn id="17" dur="500"/>
                                        <p:tgtEl>
                                          <p:spTgt spid="348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ldLvl="5" advAuto="0" autoUpdateAnimBg="0" build="p"/>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8678" name="Picture 6"/>
          <p:cNvPicPr>
            <a:picLocks noChangeAspect="1" noChangeArrowheads="1"/>
          </p:cNvPicPr>
          <p:nvPr/>
        </p:nvPicPr>
        <p:blipFill>
          <a:blip r:embed="rId1"/>
          <a:srcRect/>
          <a:stretch>
            <a:fillRect/>
          </a:stretch>
        </p:blipFill>
        <p:spPr bwMode="auto">
          <a:xfrm>
            <a:off x="5588000" y="2587625"/>
            <a:ext cx="6197600" cy="4108450"/>
          </a:xfrm>
          <a:prstGeom prst="rect">
            <a:avLst/>
          </a:prstGeom>
          <a:noFill/>
          <a:ln w="9525">
            <a:noFill/>
            <a:miter lim="800000"/>
            <a:headEnd/>
            <a:tailEnd/>
          </a:ln>
        </p:spPr>
      </p:pic>
      <p:sp>
        <p:nvSpPr>
          <p:cNvPr id="28674" name="Rectangle 2"/>
          <p:cNvSpPr>
            <a:spLocks noGrp="1" noChangeArrowheads="1"/>
          </p:cNvSpPr>
          <p:nvPr>
            <p:ph type="body" idx="1"/>
          </p:nvPr>
        </p:nvSpPr>
        <p:spPr>
          <a:xfrm>
            <a:off x="711200" y="914401"/>
            <a:ext cx="11480800" cy="822325"/>
          </a:xfrm>
          <a:noFill/>
        </p:spPr>
        <p:txBody>
          <a:bodyPr/>
          <a:lstStyle/>
          <a:p>
            <a:pPr eaLnBrk="1" hangingPunct="1"/>
            <a:r>
              <a:rPr lang="en-US" smtClean="0"/>
              <a:t>Natural selection selects for traits advantageous for survival.</a:t>
            </a:r>
            <a:endParaRPr lang="en-US" smtClean="0"/>
          </a:p>
        </p:txBody>
      </p:sp>
      <p:pic>
        <p:nvPicPr>
          <p:cNvPr id="28682" name="Picture 10"/>
          <p:cNvPicPr>
            <a:picLocks noChangeAspect="1" noChangeArrowheads="1"/>
          </p:cNvPicPr>
          <p:nvPr/>
        </p:nvPicPr>
        <p:blipFill>
          <a:blip r:embed="rId2"/>
          <a:srcRect/>
          <a:stretch>
            <a:fillRect/>
          </a:stretch>
        </p:blipFill>
        <p:spPr bwMode="auto">
          <a:xfrm>
            <a:off x="812800" y="1905001"/>
            <a:ext cx="4368800" cy="2703513"/>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8674"/>
                                        </p:tgtEl>
                                        <p:attrNameLst>
                                          <p:attrName>style.visibility</p:attrName>
                                        </p:attrNameLst>
                                      </p:cBhvr>
                                      <p:to>
                                        <p:strVal val="visible"/>
                                      </p:to>
                                    </p:set>
                                    <p:animEffect transition="in" filter="wipe(left)">
                                      <p:cBhvr>
                                        <p:cTn id="7" dur="500"/>
                                        <p:tgtEl>
                                          <p:spTgt spid="2867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8682"/>
                                        </p:tgtEl>
                                        <p:attrNameLst>
                                          <p:attrName>style.visibility</p:attrName>
                                        </p:attrNameLst>
                                      </p:cBhvr>
                                      <p:to>
                                        <p:strVal val="visible"/>
                                      </p:to>
                                    </p:set>
                                    <p:animEffect transition="in" filter="wipe(up)">
                                      <p:cBhvr>
                                        <p:cTn id="12" dur="500"/>
                                        <p:tgtEl>
                                          <p:spTgt spid="2868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8678"/>
                                        </p:tgtEl>
                                        <p:attrNameLst>
                                          <p:attrName>style.visibility</p:attrName>
                                        </p:attrNameLst>
                                      </p:cBhvr>
                                      <p:to>
                                        <p:strVal val="visible"/>
                                      </p:to>
                                    </p:set>
                                    <p:animEffect transition="in" filter="wipe(up)">
                                      <p:cBhvr>
                                        <p:cTn id="17" dur="500"/>
                                        <p:tgtEl>
                                          <p:spTgt spid="286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3" name="Rectangle 3"/>
          <p:cNvSpPr>
            <a:spLocks noGrp="1" noChangeArrowheads="1"/>
          </p:cNvSpPr>
          <p:nvPr>
            <p:ph type="body" idx="1"/>
          </p:nvPr>
        </p:nvSpPr>
        <p:spPr>
          <a:xfrm>
            <a:off x="711200" y="915988"/>
            <a:ext cx="11480800" cy="457200"/>
          </a:xfrm>
          <a:noFill/>
        </p:spPr>
        <p:txBody>
          <a:bodyPr>
            <a:normAutofit fontScale="70000"/>
          </a:bodyPr>
          <a:lstStyle/>
          <a:p>
            <a:pPr eaLnBrk="1" hangingPunct="1"/>
            <a:r>
              <a:rPr lang="en-US" b="1" smtClean="0"/>
              <a:t>In nature, populations evolve.</a:t>
            </a:r>
            <a:endParaRPr lang="en-US" b="1" smtClean="0"/>
          </a:p>
        </p:txBody>
      </p:sp>
      <p:sp>
        <p:nvSpPr>
          <p:cNvPr id="35844" name="Rectangle 4"/>
          <p:cNvSpPr>
            <a:spLocks noChangeArrowheads="1"/>
          </p:cNvSpPr>
          <p:nvPr/>
        </p:nvSpPr>
        <p:spPr bwMode="auto">
          <a:xfrm>
            <a:off x="318770" y="2031365"/>
            <a:ext cx="6705600" cy="1715770"/>
          </a:xfrm>
          <a:prstGeom prst="rect">
            <a:avLst/>
          </a:prstGeom>
          <a:noFill/>
          <a:ln w="9525">
            <a:noFill/>
            <a:miter lim="800000"/>
          </a:ln>
        </p:spPr>
        <p:txBody>
          <a:bodyPr>
            <a:spAutoFit/>
          </a:bodyPr>
          <a:lstStyle/>
          <a:p>
            <a:pPr marL="742950" lvl="1" indent="-285750" eaLnBrk="1" hangingPunct="1">
              <a:spcBef>
                <a:spcPct val="20000"/>
              </a:spcBef>
              <a:buFontTx/>
              <a:buChar char="–"/>
            </a:pPr>
            <a:r>
              <a:rPr lang="en-US" sz="2400">
                <a:latin typeface="Arial" panose="020B0604020202020204" pitchFamily="34" charset="0"/>
              </a:rPr>
              <a:t>expected in all populations most of the time</a:t>
            </a:r>
            <a:endParaRPr lang="en-US" sz="2400">
              <a:latin typeface="Arial" panose="020B0604020202020204" pitchFamily="34" charset="0"/>
            </a:endParaRPr>
          </a:p>
          <a:p>
            <a:pPr marL="742950" lvl="1" indent="-285750" eaLnBrk="1" hangingPunct="1">
              <a:spcBef>
                <a:spcPct val="20000"/>
              </a:spcBef>
              <a:buFontTx/>
              <a:buChar char="–"/>
            </a:pPr>
            <a:r>
              <a:rPr lang="en-US" sz="2400">
                <a:latin typeface="Arial" panose="020B0604020202020204" pitchFamily="34" charset="0"/>
              </a:rPr>
              <a:t>respond to changing environments</a:t>
            </a:r>
            <a:endParaRPr lang="en-US" sz="2400">
              <a:latin typeface="Arial" panose="020B0604020202020204" pitchFamily="34" charset="0"/>
            </a:endParaRPr>
          </a:p>
          <a:p>
            <a:pPr marL="342900" indent="-342900" eaLnBrk="1" hangingPunct="1">
              <a:spcBef>
                <a:spcPct val="20000"/>
              </a:spcBef>
              <a:buFontTx/>
              <a:buChar char="•"/>
            </a:pPr>
            <a:endParaRPr lang="en-US" sz="2400">
              <a:latin typeface="Arial" panose="020B0604020202020204" pitchFamily="34" charset="0"/>
            </a:endParaRPr>
          </a:p>
        </p:txBody>
      </p:sp>
      <p:pic>
        <p:nvPicPr>
          <p:cNvPr id="35845" name="Picture 5"/>
          <p:cNvPicPr>
            <a:picLocks noChangeAspect="1" noChangeArrowheads="1"/>
          </p:cNvPicPr>
          <p:nvPr/>
        </p:nvPicPr>
        <p:blipFill>
          <a:blip r:embed="rId1"/>
          <a:srcRect/>
          <a:stretch>
            <a:fillRect/>
          </a:stretch>
        </p:blipFill>
        <p:spPr bwMode="auto">
          <a:xfrm>
            <a:off x="6807200" y="914400"/>
            <a:ext cx="4207933" cy="57912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animEffect transition="in" filter="wipe(left)">
                                      <p:cBhvr>
                                        <p:cTn id="7" dur="500"/>
                                        <p:tgtEl>
                                          <p:spTgt spid="358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844">
                                            <p:txEl>
                                              <p:pRg st="0" end="0"/>
                                            </p:txEl>
                                          </p:spTgt>
                                        </p:tgtEl>
                                        <p:attrNameLst>
                                          <p:attrName>style.visibility</p:attrName>
                                        </p:attrNameLst>
                                      </p:cBhvr>
                                      <p:to>
                                        <p:strVal val="visible"/>
                                      </p:to>
                                    </p:set>
                                    <p:animEffect transition="in" filter="wipe(left)">
                                      <p:cBhvr>
                                        <p:cTn id="12" dur="500"/>
                                        <p:tgtEl>
                                          <p:spTgt spid="3584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5844">
                                            <p:txEl>
                                              <p:pRg st="1" end="1"/>
                                            </p:txEl>
                                          </p:spTgt>
                                        </p:tgtEl>
                                        <p:attrNameLst>
                                          <p:attrName>style.visibility</p:attrName>
                                        </p:attrNameLst>
                                      </p:cBhvr>
                                      <p:to>
                                        <p:strVal val="visible"/>
                                      </p:to>
                                    </p:set>
                                    <p:animEffect transition="in" filter="wipe(left)">
                                      <p:cBhvr>
                                        <p:cTn id="17" dur="500"/>
                                        <p:tgtEl>
                                          <p:spTgt spid="3584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5845"/>
                                        </p:tgtEl>
                                        <p:attrNameLst>
                                          <p:attrName>style.visibility</p:attrName>
                                        </p:attrNameLst>
                                      </p:cBhvr>
                                      <p:to>
                                        <p:strVal val="visible"/>
                                      </p:to>
                                    </p:set>
                                    <p:animEffect transition="in" filter="wipe(up)">
                                      <p:cBhvr>
                                        <p:cTn id="22" dur="500"/>
                                        <p:tgtEl>
                                          <p:spTgt spid="358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ldLvl="5" advAuto="0" autoUpdateAnimBg="0" build="p"/>
      <p:bldP spid="35844" grpId="0" bldLvl="2" autoUpdateAnimBg="0" build="p"/>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cstate="print"/>
          <a:stretch>
            <a:fillRect/>
          </a:stretch>
        </p:blipFill>
        <p:spPr>
          <a:xfrm>
            <a:off x="2960158" y="293158"/>
            <a:ext cx="6271683" cy="6271683"/>
          </a:xfrm>
          <a:prstGeom prst="rect">
            <a:avLst/>
          </a:prstGeom>
        </p:spPr>
      </p:pic>
      <p:sp>
        <p:nvSpPr>
          <p:cNvPr id="2" name="TextBox 1"/>
          <p:cNvSpPr txBox="1"/>
          <p:nvPr/>
        </p:nvSpPr>
        <p:spPr>
          <a:xfrm>
            <a:off x="171450" y="142875"/>
            <a:ext cx="11858625" cy="6581775"/>
          </a:xfrm>
          <a:prstGeom prst="rect">
            <a:avLst/>
          </a:prstGeom>
          <a:noFill/>
          <a:ln w="38100">
            <a:solidFill>
              <a:srgbClr val="AA14AA"/>
            </a:solidFill>
          </a:ln>
        </p:spPr>
        <p:txBody>
          <a:bodyPr wrap="square" rtlCol="0">
            <a:spAutoFit/>
          </a:bodyPr>
          <a:lstStyle/>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Reality?</a:t>
            </a:r>
            <a:endParaRPr lang="en-US" b="1" dirty="0">
              <a:solidFill>
                <a:schemeClr val="tx1"/>
              </a:solidFill>
            </a:endParaRPr>
          </a:p>
        </p:txBody>
      </p:sp>
      <p:sp>
        <p:nvSpPr>
          <p:cNvPr id="3" name="Content Placeholder 2"/>
          <p:cNvSpPr>
            <a:spLocks noGrp="1"/>
          </p:cNvSpPr>
          <p:nvPr>
            <p:ph idx="1"/>
          </p:nvPr>
        </p:nvSpPr>
        <p:spPr/>
        <p:txBody>
          <a:bodyPr/>
          <a:lstStyle/>
          <a:p>
            <a:r>
              <a:rPr lang="en-US" dirty="0">
                <a:solidFill>
                  <a:schemeClr val="tx1"/>
                </a:solidFill>
              </a:rPr>
              <a:t>If all of these conditions are met, and the </a:t>
            </a:r>
            <a:r>
              <a:rPr lang="en-US" dirty="0">
                <a:solidFill>
                  <a:schemeClr val="tx1"/>
                </a:solidFill>
                <a:highlight>
                  <a:srgbClr val="FFFF00"/>
                </a:highlight>
              </a:rPr>
              <a:t>allele frequencies are not changing between generations</a:t>
            </a:r>
            <a:r>
              <a:rPr lang="en-US" dirty="0">
                <a:solidFill>
                  <a:schemeClr val="tx1"/>
                </a:solidFill>
              </a:rPr>
              <a:t>, then the population is in Hardy-Weinberg equilibrium </a:t>
            </a:r>
            <a:r>
              <a:rPr lang="en-US" u="sng" dirty="0">
                <a:solidFill>
                  <a:schemeClr val="tx1"/>
                </a:solidFill>
              </a:rPr>
              <a:t>and</a:t>
            </a:r>
            <a:r>
              <a:rPr lang="en-US" dirty="0">
                <a:solidFill>
                  <a:schemeClr val="tx1"/>
                </a:solidFill>
              </a:rPr>
              <a:t> is </a:t>
            </a:r>
            <a:r>
              <a:rPr lang="en-US" u="sng" dirty="0">
                <a:solidFill>
                  <a:schemeClr val="tx1"/>
                </a:solidFill>
              </a:rPr>
              <a:t>not evolving</a:t>
            </a:r>
            <a:r>
              <a:rPr lang="en-US" dirty="0">
                <a:solidFill>
                  <a:schemeClr val="tx1"/>
                </a:solidFill>
              </a:rPr>
              <a:t>.</a:t>
            </a:r>
            <a:endParaRPr lang="en-US" dirty="0">
              <a:solidFill>
                <a:schemeClr val="tx1"/>
              </a:solidFill>
            </a:endParaRPr>
          </a:p>
          <a:p>
            <a:endParaRPr lang="en-US" dirty="0">
              <a:solidFill>
                <a:schemeClr val="tx1"/>
              </a:solidFill>
            </a:endParaRPr>
          </a:p>
          <a:p>
            <a:r>
              <a:rPr lang="en-US" dirty="0">
                <a:solidFill>
                  <a:schemeClr val="tx1"/>
                </a:solidFill>
              </a:rPr>
              <a:t>In nature, one or more of these assumptions is always being violated. Real, natural populations are compared against the Hardy-Weinberg model to see if they are evolving.</a:t>
            </a:r>
            <a:endParaRPr lang="en-US" dirty="0">
              <a:solidFill>
                <a:schemeClr val="tx1"/>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91503"/>
            <a:ext cx="10972800" cy="1143000"/>
          </a:xfrm>
        </p:spPr>
        <p:txBody>
          <a:bodyPr/>
          <a:lstStyle/>
          <a:p>
            <a:r>
              <a:rPr lang="en-US" sz="4000" dirty="0">
                <a:solidFill>
                  <a:schemeClr val="tx1"/>
                </a:solidFill>
              </a:rPr>
              <a:t>How Do We Calculate Hardy-Weinberg Equilibrium?</a:t>
            </a:r>
            <a:endParaRPr lang="en-US" sz="4000" dirty="0">
              <a:solidFill>
                <a:schemeClr val="tx1"/>
              </a:solidFill>
            </a:endParaRPr>
          </a:p>
        </p:txBody>
      </p:sp>
      <p:sp>
        <p:nvSpPr>
          <p:cNvPr id="3" name="Content Placeholder 2"/>
          <p:cNvSpPr>
            <a:spLocks noGrp="1"/>
          </p:cNvSpPr>
          <p:nvPr>
            <p:ph idx="1"/>
          </p:nvPr>
        </p:nvSpPr>
        <p:spPr>
          <a:xfrm>
            <a:off x="609600" y="2233930"/>
            <a:ext cx="10972800" cy="4525963"/>
          </a:xfrm>
        </p:spPr>
        <p:txBody>
          <a:bodyPr>
            <a:normAutofit/>
          </a:bodyPr>
          <a:lstStyle/>
          <a:p>
            <a:r>
              <a:rPr lang="en-US" sz="2400" dirty="0"/>
              <a:t>There are two important equations in Hardy-Weinberg calculations. When there are two alleles for a trait in a population, we know that:</a:t>
            </a:r>
            <a:endParaRPr lang="en-US" sz="2400" dirty="0"/>
          </a:p>
          <a:p>
            <a:pPr marL="0" indent="0" algn="ctr">
              <a:buNone/>
            </a:pPr>
            <a:endParaRPr lang="en-US" sz="2400" dirty="0"/>
          </a:p>
          <a:p>
            <a:pPr marL="0" indent="0" algn="ctr">
              <a:buNone/>
            </a:pPr>
            <a:r>
              <a:rPr lang="en-US" sz="2400" dirty="0" err="1"/>
              <a:t>p+q</a:t>
            </a:r>
            <a:r>
              <a:rPr lang="en-US" sz="2400" dirty="0"/>
              <a:t>=1</a:t>
            </a:r>
            <a:endParaRPr lang="en-US" sz="2400" dirty="0"/>
          </a:p>
          <a:p>
            <a:endParaRPr lang="en-US" sz="2400" dirty="0"/>
          </a:p>
          <a:p>
            <a:r>
              <a:rPr lang="en-US" sz="2400" dirty="0"/>
              <a:t>Here, p is the frequency of the dominant allele and q is the frequency of the recessive allele. Together, the two frequencies must add up to 1 (100 percent of the population).</a:t>
            </a:r>
            <a:endParaRPr lang="en-US" sz="24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55613"/>
            <a:ext cx="10972800" cy="1143000"/>
          </a:xfrm>
        </p:spPr>
        <p:txBody>
          <a:bodyPr/>
          <a:lstStyle/>
          <a:p>
            <a:r>
              <a:rPr lang="en-US" sz="4000" dirty="0">
                <a:solidFill>
                  <a:schemeClr val="tx1"/>
                </a:solidFill>
              </a:rPr>
              <a:t>How Do We Calculate Hardy-Weinberg Equilibrium?</a:t>
            </a:r>
            <a:endParaRPr lang="en-US" sz="4000" dirty="0">
              <a:solidFill>
                <a:schemeClr val="tx1"/>
              </a:solidFill>
            </a:endParaRPr>
          </a:p>
        </p:txBody>
      </p:sp>
      <p:sp>
        <p:nvSpPr>
          <p:cNvPr id="3" name="Content Placeholder 2"/>
          <p:cNvSpPr>
            <a:spLocks noGrp="1"/>
          </p:cNvSpPr>
          <p:nvPr>
            <p:ph idx="1"/>
          </p:nvPr>
        </p:nvSpPr>
        <p:spPr>
          <a:xfrm>
            <a:off x="609600" y="2023110"/>
            <a:ext cx="10972800" cy="4525963"/>
          </a:xfrm>
        </p:spPr>
        <p:txBody>
          <a:bodyPr>
            <a:normAutofit/>
          </a:bodyPr>
          <a:lstStyle/>
          <a:p>
            <a:r>
              <a:rPr lang="en-US" sz="2400" dirty="0"/>
              <a:t>Each organism has two copies of every gene per trait, so allele frequencies are doubled for genotype frequencies. </a:t>
            </a:r>
            <a:endParaRPr lang="en-US" sz="2400" dirty="0"/>
          </a:p>
          <a:p>
            <a:pPr marL="0" indent="0">
              <a:buNone/>
            </a:pPr>
            <a:endParaRPr lang="en-US" sz="2400" dirty="0"/>
          </a:p>
          <a:p>
            <a:r>
              <a:rPr lang="en-US" sz="2400" dirty="0"/>
              <a:t>Because of this, genotype frequencies for a population at Hardy-Weinberg proportions can be calculated by squaring the previous equation:</a:t>
            </a:r>
            <a:endParaRPr lang="en-US" sz="2400" dirty="0"/>
          </a:p>
          <a:p>
            <a:endParaRPr lang="en-US" sz="2400" dirty="0"/>
          </a:p>
          <a:p>
            <a:pPr marL="0" indent="0" algn="ctr">
              <a:buNone/>
            </a:pPr>
            <a:r>
              <a:rPr lang="en-US" sz="2400" dirty="0"/>
              <a:t> (</a:t>
            </a:r>
            <a:r>
              <a:rPr lang="en-US" sz="2400" dirty="0" err="1"/>
              <a:t>p+q</a:t>
            </a:r>
            <a:r>
              <a:rPr lang="en-US" sz="2400" dirty="0"/>
              <a:t>=1) </a:t>
            </a:r>
            <a:r>
              <a:rPr lang="en-US" sz="2400" baseline="30000" dirty="0"/>
              <a:t>2</a:t>
            </a:r>
            <a:endParaRPr lang="en-US" sz="2400" baseline="30000" dirty="0"/>
          </a:p>
          <a:p>
            <a:pPr marL="0" indent="0" algn="ctr">
              <a:buNone/>
            </a:pPr>
            <a:endParaRPr lang="en-US" sz="2400" baseline="30000" dirty="0"/>
          </a:p>
          <a:p>
            <a:pPr marL="0" indent="0" algn="ctr">
              <a:buNone/>
            </a:pPr>
            <a:r>
              <a:rPr lang="en-US" sz="2400" dirty="0"/>
              <a:t>p</a:t>
            </a:r>
            <a:r>
              <a:rPr lang="en-US" sz="2400" baseline="30000" dirty="0"/>
              <a:t>2</a:t>
            </a:r>
            <a:r>
              <a:rPr lang="en-US" sz="2400" dirty="0"/>
              <a:t>+2pq+q</a:t>
            </a:r>
            <a:r>
              <a:rPr lang="en-US" sz="2400" baseline="30000" dirty="0"/>
              <a:t>2</a:t>
            </a:r>
            <a:r>
              <a:rPr lang="en-US" sz="2400" dirty="0"/>
              <a:t>=1</a:t>
            </a:r>
            <a:endParaRPr lang="en-US" sz="24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schemeClr val="tx1"/>
                </a:solidFill>
              </a:rPr>
              <a:t>How Do We Calculate Hardy-Weinberg Equilibrium?</a:t>
            </a:r>
            <a:endParaRPr lang="en-US" sz="4000" dirty="0">
              <a:solidFill>
                <a:schemeClr val="tx1"/>
              </a:solidFill>
            </a:endParaRPr>
          </a:p>
        </p:txBody>
      </p:sp>
      <p:sp>
        <p:nvSpPr>
          <p:cNvPr id="3" name="Content Placeholder 2"/>
          <p:cNvSpPr>
            <a:spLocks noGrp="1"/>
          </p:cNvSpPr>
          <p:nvPr>
            <p:ph idx="1"/>
          </p:nvPr>
        </p:nvSpPr>
        <p:spPr/>
        <p:txBody>
          <a:bodyPr/>
          <a:lstStyle/>
          <a:p>
            <a:endParaRPr lang="en-US" sz="2400" b="0" dirty="0">
              <a:effectLst/>
            </a:endParaRPr>
          </a:p>
          <a:p>
            <a:r>
              <a:rPr lang="en-US" sz="2400" b="0" dirty="0">
                <a:effectLst/>
              </a:rPr>
              <a:t>Again, </a:t>
            </a:r>
            <a:r>
              <a:rPr lang="en-US" sz="2400" b="0" i="0" dirty="0">
                <a:effectLst/>
                <a:latin typeface="MJXc-TeX-math-I"/>
              </a:rPr>
              <a:t>p</a:t>
            </a:r>
            <a:r>
              <a:rPr lang="en-US" sz="2400" b="0" dirty="0">
                <a:effectLst/>
              </a:rPr>
              <a:t> is the frequency of the dominant allele and </a:t>
            </a:r>
            <a:r>
              <a:rPr lang="en-US" sz="2400" b="0" i="0" dirty="0">
                <a:effectLst/>
                <a:latin typeface="MJXc-TeX-math-I"/>
              </a:rPr>
              <a:t>q</a:t>
            </a:r>
            <a:r>
              <a:rPr lang="en-US" sz="2400" b="0" dirty="0">
                <a:effectLst/>
              </a:rPr>
              <a:t> is the frequency of the recessive allele.</a:t>
            </a:r>
            <a:endParaRPr lang="en-US" sz="2400" b="0" dirty="0">
              <a:effectLst/>
            </a:endParaRPr>
          </a:p>
          <a:p>
            <a:endParaRPr lang="en-US" sz="2400" b="0" dirty="0">
              <a:effectLst/>
            </a:endParaRPr>
          </a:p>
          <a:p>
            <a:pPr marL="0" indent="0">
              <a:lnSpc>
                <a:spcPct val="180000"/>
              </a:lnSpc>
              <a:buNone/>
            </a:pPr>
            <a:r>
              <a:rPr lang="en-US" sz="2400" b="0" dirty="0">
                <a:effectLst/>
                <a:sym typeface="Wingdings" panose="05000000000000000000" pitchFamily="2" charset="2"/>
              </a:rPr>
              <a:t></a:t>
            </a:r>
            <a:r>
              <a:rPr lang="en-US" sz="2400" b="0" dirty="0">
                <a:effectLst/>
              </a:rPr>
              <a:t> </a:t>
            </a:r>
            <a:r>
              <a:rPr lang="en-US" sz="2400" b="0" i="0" dirty="0">
                <a:effectLst/>
                <a:latin typeface="MJXc-TeX-math-I"/>
              </a:rPr>
              <a:t>p</a:t>
            </a:r>
            <a:r>
              <a:rPr lang="en-US" sz="2400" b="0" i="0" baseline="30000" dirty="0">
                <a:effectLst/>
                <a:latin typeface="MJXc-TeX-main-R"/>
              </a:rPr>
              <a:t>2</a:t>
            </a:r>
            <a:r>
              <a:rPr lang="en-US" sz="2400" b="0" dirty="0">
                <a:effectLst/>
              </a:rPr>
              <a:t> is the frequency of the </a:t>
            </a:r>
            <a:r>
              <a:rPr lang="en-US" sz="2400" b="1" dirty="0">
                <a:solidFill>
                  <a:schemeClr val="tx1"/>
                </a:solidFill>
                <a:effectLst/>
              </a:rPr>
              <a:t>homozygous dominant </a:t>
            </a:r>
            <a:r>
              <a:rPr lang="en-US" sz="2400" b="1" dirty="0">
                <a:effectLst/>
              </a:rPr>
              <a:t>genotype.</a:t>
            </a:r>
            <a:r>
              <a:rPr lang="en-US" sz="2400" b="0" dirty="0">
                <a:effectLst/>
              </a:rPr>
              <a:t> </a:t>
            </a:r>
            <a:endParaRPr lang="en-US" sz="2400" b="0" dirty="0">
              <a:effectLst/>
            </a:endParaRPr>
          </a:p>
          <a:p>
            <a:pPr marL="0" indent="0">
              <a:lnSpc>
                <a:spcPct val="180000"/>
              </a:lnSpc>
              <a:buNone/>
            </a:pPr>
            <a:r>
              <a:rPr lang="en-US" sz="2400" b="0" dirty="0">
                <a:effectLst/>
                <a:latin typeface="MJXc-TeX-math-I"/>
                <a:sym typeface="Wingdings" panose="05000000000000000000" pitchFamily="2" charset="2"/>
              </a:rPr>
              <a:t> </a:t>
            </a:r>
            <a:r>
              <a:rPr lang="en-US" sz="2400" b="0" i="0" dirty="0">
                <a:effectLst/>
                <a:latin typeface="MJXc-TeX-math-I"/>
              </a:rPr>
              <a:t>q</a:t>
            </a:r>
            <a:r>
              <a:rPr lang="en-US" sz="2400" b="0" i="0" baseline="30000" dirty="0">
                <a:effectLst/>
                <a:latin typeface="MJXc-TeX-main-R"/>
              </a:rPr>
              <a:t>2</a:t>
            </a:r>
            <a:r>
              <a:rPr lang="en-US" sz="2400" b="0" dirty="0">
                <a:effectLst/>
              </a:rPr>
              <a:t> is the frequency of the</a:t>
            </a:r>
            <a:r>
              <a:rPr lang="en-US" sz="2400" b="0" dirty="0">
                <a:solidFill>
                  <a:schemeClr val="tx1"/>
                </a:solidFill>
                <a:effectLst/>
              </a:rPr>
              <a:t> </a:t>
            </a:r>
            <a:r>
              <a:rPr lang="en-US" sz="2400" b="1" dirty="0">
                <a:solidFill>
                  <a:schemeClr val="tx1"/>
                </a:solidFill>
                <a:effectLst/>
              </a:rPr>
              <a:t>homozygous recessive</a:t>
            </a:r>
            <a:r>
              <a:rPr lang="en-US" sz="2400" b="0" dirty="0">
                <a:solidFill>
                  <a:srgbClr val="AA14AA"/>
                </a:solidFill>
                <a:effectLst/>
              </a:rPr>
              <a:t> </a:t>
            </a:r>
            <a:r>
              <a:rPr lang="en-US" sz="2400" b="1" dirty="0">
                <a:effectLst/>
              </a:rPr>
              <a:t>genotype. </a:t>
            </a:r>
            <a:endParaRPr lang="en-US" sz="2400" b="0" dirty="0">
              <a:effectLst/>
            </a:endParaRPr>
          </a:p>
          <a:p>
            <a:pPr marL="0" indent="0">
              <a:lnSpc>
                <a:spcPct val="180000"/>
              </a:lnSpc>
              <a:buNone/>
            </a:pPr>
            <a:r>
              <a:rPr lang="en-US" sz="2400" b="0" dirty="0">
                <a:effectLst/>
                <a:latin typeface="MJXc-TeX-main-R"/>
                <a:sym typeface="Wingdings" panose="05000000000000000000" pitchFamily="2" charset="2"/>
              </a:rPr>
              <a:t> </a:t>
            </a:r>
            <a:r>
              <a:rPr lang="en-US" sz="2400" b="0" i="0" dirty="0">
                <a:effectLst/>
                <a:latin typeface="MJXc-TeX-main-R"/>
              </a:rPr>
              <a:t>2</a:t>
            </a:r>
            <a:r>
              <a:rPr lang="en-US" sz="2400" b="0" i="0" dirty="0">
                <a:effectLst/>
                <a:latin typeface="MJXc-TeX-math-I"/>
              </a:rPr>
              <a:t>pq</a:t>
            </a:r>
            <a:r>
              <a:rPr lang="en-US" sz="2400" b="0" dirty="0">
                <a:effectLst/>
              </a:rPr>
              <a:t> is the frequency of the </a:t>
            </a:r>
            <a:r>
              <a:rPr lang="en-US" sz="2400" b="1" dirty="0">
                <a:solidFill>
                  <a:schemeClr val="tx1"/>
                </a:solidFill>
                <a:effectLst/>
              </a:rPr>
              <a:t>heterozygous genotype</a:t>
            </a:r>
            <a:r>
              <a:rPr lang="en-US" sz="2400" b="0" dirty="0">
                <a:solidFill>
                  <a:schemeClr val="tx1"/>
                </a:solidFill>
                <a:effectLst/>
              </a:rPr>
              <a:t>.</a:t>
            </a:r>
            <a:endParaRPr lang="en-US" sz="2400" b="0" dirty="0">
              <a:effectLst/>
            </a:endParaRPr>
          </a:p>
          <a:p>
            <a:pPr marL="0" indent="0">
              <a:buNone/>
            </a:pPr>
            <a:br>
              <a:rPr lang="en-US" sz="2400" u="none" strike="noStrike" dirty="0">
                <a:solidFill>
                  <a:srgbClr val="858E9A"/>
                </a:solidFill>
                <a:effectLst/>
                <a:hlinkClick r:id="rId1"/>
              </a:rPr>
            </a:br>
            <a:endParaRPr lang="en-US" sz="24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a:solidFill>
                  <a:schemeClr val="tx1"/>
                </a:solidFill>
              </a:rPr>
              <a:t>Example</a:t>
            </a:r>
            <a:endParaRPr lang="en-US" sz="4000" b="1" dirty="0">
              <a:solidFill>
                <a:schemeClr val="tx1"/>
              </a:solidFill>
            </a:endParaRPr>
          </a:p>
        </p:txBody>
      </p:sp>
      <p:sp>
        <p:nvSpPr>
          <p:cNvPr id="3" name="Content Placeholder 2"/>
          <p:cNvSpPr>
            <a:spLocks noGrp="1"/>
          </p:cNvSpPr>
          <p:nvPr>
            <p:ph idx="1"/>
          </p:nvPr>
        </p:nvSpPr>
        <p:spPr>
          <a:xfrm>
            <a:off x="400685" y="1581150"/>
            <a:ext cx="11555730" cy="4991100"/>
          </a:xfrm>
        </p:spPr>
        <p:txBody>
          <a:bodyPr>
            <a:normAutofit fontScale="92500"/>
          </a:bodyPr>
          <a:lstStyle/>
          <a:p>
            <a:pPr algn="l">
              <a:lnSpc>
                <a:spcPct val="110000"/>
              </a:lnSpc>
            </a:pPr>
            <a:r>
              <a:rPr lang="en-US" sz="2400" i="0" dirty="0">
                <a:solidFill>
                  <a:srgbClr val="000000"/>
                </a:solidFill>
                <a:effectLst/>
              </a:rPr>
              <a:t>Sickle-cell anemia is an interesting genetic disease:</a:t>
            </a:r>
            <a:endParaRPr lang="en-US" sz="2400" i="0" dirty="0">
              <a:solidFill>
                <a:srgbClr val="000000"/>
              </a:solidFill>
              <a:effectLst/>
            </a:endParaRPr>
          </a:p>
          <a:p>
            <a:pPr marL="514350" indent="-514350" algn="l">
              <a:lnSpc>
                <a:spcPct val="110000"/>
              </a:lnSpc>
              <a:buAutoNum type="arabicParenR"/>
            </a:pPr>
            <a:r>
              <a:rPr lang="en-US" sz="2400" b="1" i="0" dirty="0">
                <a:solidFill>
                  <a:schemeClr val="tx1"/>
                </a:solidFill>
                <a:effectLst/>
                <a:highlight>
                  <a:srgbClr val="FFFF00"/>
                </a:highlight>
              </a:rPr>
              <a:t>Normal homozygous individuals (SS)</a:t>
            </a:r>
            <a:r>
              <a:rPr lang="en-US" sz="2400" b="1" i="0" dirty="0">
                <a:solidFill>
                  <a:srgbClr val="AA14AA"/>
                </a:solidFill>
                <a:effectLst/>
              </a:rPr>
              <a:t> </a:t>
            </a:r>
            <a:r>
              <a:rPr lang="en-US" sz="2400" i="0" dirty="0">
                <a:solidFill>
                  <a:srgbClr val="000000"/>
                </a:solidFill>
                <a:effectLst/>
              </a:rPr>
              <a:t>have normal blood cells that are easily infected with the malarial parasite. Thus, many of these individuals become very ill from the parasite and many die. </a:t>
            </a:r>
            <a:endParaRPr lang="en-US" sz="2400" i="0" dirty="0">
              <a:solidFill>
                <a:srgbClr val="000000"/>
              </a:solidFill>
              <a:effectLst/>
            </a:endParaRPr>
          </a:p>
          <a:p>
            <a:pPr marL="514350" indent="-514350" algn="l">
              <a:lnSpc>
                <a:spcPct val="110000"/>
              </a:lnSpc>
              <a:buAutoNum type="arabicParenR"/>
            </a:pPr>
            <a:r>
              <a:rPr lang="en-US" sz="2400" b="1" i="0" dirty="0">
                <a:solidFill>
                  <a:schemeClr val="tx1"/>
                </a:solidFill>
                <a:effectLst/>
                <a:highlight>
                  <a:srgbClr val="FFFF00"/>
                </a:highlight>
              </a:rPr>
              <a:t>Individuals homozygous for the sickle-cell trait (ss)</a:t>
            </a:r>
            <a:r>
              <a:rPr lang="en-US" sz="2400" i="0" dirty="0">
                <a:solidFill>
                  <a:srgbClr val="000000"/>
                </a:solidFill>
                <a:effectLst/>
              </a:rPr>
              <a:t> have red blood cells that readily collapse when deoxygenated. Although malaria cannot grow in these red blood cells, individuals often die because of the genetic defect. </a:t>
            </a:r>
            <a:endParaRPr lang="en-US" sz="2400" i="0" dirty="0">
              <a:solidFill>
                <a:srgbClr val="000000"/>
              </a:solidFill>
              <a:effectLst/>
            </a:endParaRPr>
          </a:p>
          <a:p>
            <a:pPr marL="514350" indent="-514350" algn="l">
              <a:lnSpc>
                <a:spcPct val="110000"/>
              </a:lnSpc>
              <a:buAutoNum type="arabicParenR"/>
            </a:pPr>
            <a:r>
              <a:rPr lang="en-US" sz="2400" b="1" i="0" dirty="0">
                <a:solidFill>
                  <a:schemeClr val="tx1"/>
                </a:solidFill>
                <a:effectLst/>
                <a:highlight>
                  <a:srgbClr val="FFFF00"/>
                </a:highlight>
              </a:rPr>
              <a:t>However, individuals with the heterozygous condition (Ss)</a:t>
            </a:r>
            <a:r>
              <a:rPr lang="en-US" sz="2400" b="1" i="0" dirty="0">
                <a:solidFill>
                  <a:srgbClr val="AA14AA"/>
                </a:solidFill>
                <a:effectLst/>
              </a:rPr>
              <a:t> </a:t>
            </a:r>
            <a:r>
              <a:rPr lang="en-US" sz="2400" i="0" dirty="0">
                <a:solidFill>
                  <a:srgbClr val="000000"/>
                </a:solidFill>
                <a:effectLst/>
              </a:rPr>
              <a:t>have some sickling of red blood cells, but generally not enough to cause mortality. In addition, malaria cannot survive well within these "partially defective" red blood cells. Thus, heterozygotes tend to survive better than either of the homozygous conditions. </a:t>
            </a:r>
            <a:br>
              <a:rPr lang="en-US" sz="2400" dirty="0"/>
            </a:br>
            <a:endParaRPr lang="en-US" sz="24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Example</a:t>
            </a:r>
            <a:endParaRPr lang="en-US" b="1" dirty="0">
              <a:solidFill>
                <a:schemeClr val="tx1"/>
              </a:solidFill>
            </a:endParaRPr>
          </a:p>
        </p:txBody>
      </p:sp>
      <p:sp>
        <p:nvSpPr>
          <p:cNvPr id="3" name="Content Placeholder 2"/>
          <p:cNvSpPr>
            <a:spLocks noGrp="1"/>
          </p:cNvSpPr>
          <p:nvPr>
            <p:ph idx="1"/>
          </p:nvPr>
        </p:nvSpPr>
        <p:spPr>
          <a:xfrm>
            <a:off x="250825" y="1825625"/>
            <a:ext cx="11941175" cy="4351655"/>
          </a:xfrm>
        </p:spPr>
        <p:txBody>
          <a:bodyPr>
            <a:normAutofit lnSpcReduction="10000"/>
          </a:bodyPr>
          <a:lstStyle/>
          <a:p>
            <a:pPr>
              <a:lnSpc>
                <a:spcPct val="110000"/>
              </a:lnSpc>
            </a:pPr>
            <a:r>
              <a:rPr lang="en-US" sz="2400" b="1" i="0" dirty="0">
                <a:solidFill>
                  <a:srgbClr val="000000"/>
                </a:solidFill>
                <a:effectLst/>
              </a:rPr>
              <a:t>If 9% of an African population is born with a severe form of sickle-cell anemia (ss), what percentage of the population will be more resistant to malaria because they are heterozygous (Ss) for the sickle-cell gene?</a:t>
            </a:r>
            <a:endParaRPr lang="en-US" sz="2400" b="1" i="0" dirty="0">
              <a:solidFill>
                <a:srgbClr val="000000"/>
              </a:solidFill>
              <a:effectLst/>
            </a:endParaRPr>
          </a:p>
          <a:p>
            <a:endParaRPr lang="en-US" sz="2400" dirty="0">
              <a:solidFill>
                <a:srgbClr val="000000"/>
              </a:solidFill>
            </a:endParaRPr>
          </a:p>
          <a:p>
            <a:pPr marL="0" indent="0">
              <a:buNone/>
            </a:pPr>
            <a:endParaRPr lang="en-US" sz="2400" dirty="0">
              <a:solidFill>
                <a:srgbClr val="000000"/>
              </a:solidFill>
            </a:endParaRPr>
          </a:p>
          <a:p>
            <a:pPr marL="0" indent="0">
              <a:buNone/>
            </a:pPr>
            <a:r>
              <a:rPr lang="en-US" sz="2400" i="0" u="sng" dirty="0">
                <a:solidFill>
                  <a:srgbClr val="FF0000"/>
                </a:solidFill>
                <a:effectLst/>
              </a:rPr>
              <a:t>ANS </a:t>
            </a:r>
            <a:endParaRPr lang="en-US" sz="2400" i="0" u="sng" dirty="0">
              <a:solidFill>
                <a:srgbClr val="FF0000"/>
              </a:solidFill>
              <a:effectLst/>
            </a:endParaRPr>
          </a:p>
          <a:p>
            <a:pPr marL="457200" indent="-457200">
              <a:buFont typeface="+mj-lt"/>
              <a:buAutoNum type="arabicPeriod"/>
            </a:pPr>
            <a:r>
              <a:rPr lang="en-US" sz="2400" i="0" dirty="0">
                <a:solidFill>
                  <a:srgbClr val="000000"/>
                </a:solidFill>
                <a:effectLst/>
              </a:rPr>
              <a:t> 9% =0.09 = ss = q</a:t>
            </a:r>
            <a:r>
              <a:rPr lang="en-US" sz="2400" i="0" baseline="30000" dirty="0">
                <a:solidFill>
                  <a:srgbClr val="000000"/>
                </a:solidFill>
                <a:effectLst/>
              </a:rPr>
              <a:t>2</a:t>
            </a:r>
            <a:r>
              <a:rPr lang="en-US" sz="2400" i="0" dirty="0">
                <a:solidFill>
                  <a:srgbClr val="000000"/>
                </a:solidFill>
                <a:effectLst/>
              </a:rPr>
              <a:t>.</a:t>
            </a:r>
            <a:endParaRPr lang="en-US" sz="2400" i="0" dirty="0">
              <a:solidFill>
                <a:srgbClr val="000000"/>
              </a:solidFill>
              <a:effectLst/>
            </a:endParaRPr>
          </a:p>
          <a:p>
            <a:pPr marL="457200" indent="-457200">
              <a:buFont typeface="+mj-lt"/>
              <a:buAutoNum type="arabicPeriod"/>
            </a:pPr>
            <a:r>
              <a:rPr lang="en-US" sz="2400" i="0" dirty="0">
                <a:solidFill>
                  <a:srgbClr val="000000"/>
                </a:solidFill>
                <a:effectLst/>
              </a:rPr>
              <a:t> To find q, simply take the square root of 0.09 to get 0.3.</a:t>
            </a:r>
            <a:endParaRPr lang="en-US" sz="2400" i="0" dirty="0">
              <a:solidFill>
                <a:srgbClr val="000000"/>
              </a:solidFill>
              <a:effectLst/>
            </a:endParaRPr>
          </a:p>
          <a:p>
            <a:pPr marL="457200" indent="-457200">
              <a:buFont typeface="+mj-lt"/>
              <a:buAutoNum type="arabicPeriod"/>
            </a:pPr>
            <a:r>
              <a:rPr lang="en-US" sz="2400" i="0" dirty="0">
                <a:solidFill>
                  <a:srgbClr val="000000"/>
                </a:solidFill>
                <a:effectLst/>
              </a:rPr>
              <a:t> Since p = 1 - 0.3, then p must equal 0.7.</a:t>
            </a:r>
            <a:endParaRPr lang="en-US" sz="2400" i="0" dirty="0">
              <a:solidFill>
                <a:srgbClr val="000000"/>
              </a:solidFill>
              <a:effectLst/>
            </a:endParaRPr>
          </a:p>
          <a:p>
            <a:pPr marL="457200" indent="-457200">
              <a:buFont typeface="+mj-lt"/>
              <a:buAutoNum type="arabicPeriod"/>
            </a:pPr>
            <a:r>
              <a:rPr lang="en-US" sz="2400" i="0" dirty="0">
                <a:solidFill>
                  <a:srgbClr val="000000"/>
                </a:solidFill>
                <a:effectLst/>
              </a:rPr>
              <a:t> 2pq = 2 (0.7 x 0.3) = 0.42 = 42% of the population are heterozygotes (carriers).</a:t>
            </a:r>
            <a:endParaRPr lang="en-US" sz="2400" i="0" u="sng" dirty="0">
              <a:solidFill>
                <a:srgbClr val="FF0000"/>
              </a:solidFill>
              <a:effectLst/>
            </a:endParaRPr>
          </a:p>
          <a:p>
            <a:endParaRPr lang="en-US" sz="24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A14AA"/>
                </a:solidFill>
              </a:rPr>
              <a:t>More examples?</a:t>
            </a:r>
            <a:endParaRPr lang="en-US" dirty="0">
              <a:solidFill>
                <a:srgbClr val="AA14AA"/>
              </a:solidFill>
            </a:endParaRPr>
          </a:p>
        </p:txBody>
      </p:sp>
      <p:sp>
        <p:nvSpPr>
          <p:cNvPr id="3" name="Content Placeholder 2"/>
          <p:cNvSpPr>
            <a:spLocks noGrp="1"/>
          </p:cNvSpPr>
          <p:nvPr>
            <p:ph idx="1"/>
          </p:nvPr>
        </p:nvSpPr>
        <p:spPr/>
        <p:txBody>
          <a:bodyPr/>
          <a:lstStyle/>
          <a:p>
            <a:r>
              <a:rPr lang="en-US" dirty="0">
                <a:hlinkClick r:id="rId1"/>
              </a:rPr>
              <a:t>https://www.k-state.edu/parasitology/biology198/hardwein.html</a:t>
            </a:r>
            <a:endParaRPr lang="en-US" dirty="0"/>
          </a:p>
          <a:p>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4542</Words>
  <Application>WPS Presentation</Application>
  <PresentationFormat>Custom</PresentationFormat>
  <Paragraphs>117</Paragraphs>
  <Slides>23</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23</vt:i4>
      </vt:variant>
    </vt:vector>
  </HeadingPairs>
  <TitlesOfParts>
    <vt:vector size="34" baseType="lpstr">
      <vt:lpstr>Arial</vt:lpstr>
      <vt:lpstr>SimSun</vt:lpstr>
      <vt:lpstr>Wingdings</vt:lpstr>
      <vt:lpstr>Tahoma</vt:lpstr>
      <vt:lpstr>Microsoft YaHei</vt:lpstr>
      <vt:lpstr>Arial Unicode MS</vt:lpstr>
      <vt:lpstr>Calibri</vt:lpstr>
      <vt:lpstr>MJXc-TeX-math-I</vt:lpstr>
      <vt:lpstr>Segoe Print</vt:lpstr>
      <vt:lpstr>MJXc-TeX-main-R</vt:lpstr>
      <vt:lpstr>Default Design</vt:lpstr>
      <vt:lpstr>PowerPoint 演示文稿</vt:lpstr>
      <vt:lpstr> What Is Hardy-Weinberg Equilibrium? </vt:lpstr>
      <vt:lpstr>PowerPoint 演示文稿</vt:lpstr>
      <vt:lpstr>PowerPoint 演示文稿</vt:lpstr>
      <vt:lpstr>PowerPoint 演示文稿</vt:lpstr>
      <vt:lpstr>Hardy-Weinberg assumptions</vt:lpstr>
      <vt:lpstr>Hardy-Weinberg equilibrium describes populations that are not evolving. </vt:lpstr>
      <vt:lpstr>The Hardy-Weinberg equation is used to predict genotype frequencies in a population.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Reality?</vt:lpstr>
      <vt:lpstr>How Do We Calculate Hardy-Weinberg Equilibrium?</vt:lpstr>
      <vt:lpstr>How Do We Calculate Hardy-Weinberg Equilibrium?</vt:lpstr>
      <vt:lpstr>How Do We Calculate Hardy-Weinberg Equilibrium?</vt:lpstr>
      <vt:lpstr>Example</vt:lpstr>
      <vt:lpstr>Example</vt:lpstr>
      <vt:lpstr>More examples?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LAB#8  population genetics</dc:title>
  <dc:creator>GHADEER MOHAMMAD ALSOUKHNI</dc:creator>
  <cp:lastModifiedBy>Lenovo</cp:lastModifiedBy>
  <cp:revision>39</cp:revision>
  <dcterms:created xsi:type="dcterms:W3CDTF">2021-05-02T00:39:00Z</dcterms:created>
  <dcterms:modified xsi:type="dcterms:W3CDTF">2023-07-16T20:37:10Z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17D48FF50C6E486F804ECCD738E77BC8</vt:lpwstr>
  </property>
  <property fmtid="{D5CDD505-2E9C-101B-9397-08002B2CF9AE}" pid="3" name="KSOProductBuildVer">
    <vt:lpwstr>1033-11.2.0.11537</vt:lpwstr>
  </property>
</Properties>
</file>