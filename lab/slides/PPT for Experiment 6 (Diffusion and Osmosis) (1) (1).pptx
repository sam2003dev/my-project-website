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425" r:id="rId2"/>
    <p:sldId id="565" r:id="rId3"/>
    <p:sldId id="566" r:id="rId4"/>
    <p:sldId id="567" r:id="rId5"/>
    <p:sldId id="568" r:id="rId6"/>
    <p:sldId id="569" r:id="rId7"/>
    <p:sldId id="570" r:id="rId8"/>
    <p:sldId id="574" r:id="rId9"/>
    <p:sldId id="573" r:id="rId10"/>
    <p:sldId id="578" r:id="rId11"/>
    <p:sldId id="575" r:id="rId12"/>
    <p:sldId id="579" r:id="rId13"/>
    <p:sldId id="576" r:id="rId14"/>
    <p:sldId id="580" r:id="rId15"/>
    <p:sldId id="577" r:id="rId16"/>
    <p:sldId id="581" r:id="rId17"/>
    <p:sldId id="592" r:id="rId18"/>
    <p:sldId id="593" r:id="rId19"/>
    <p:sldId id="583" r:id="rId20"/>
    <p:sldId id="594" r:id="rId21"/>
    <p:sldId id="595" r:id="rId22"/>
    <p:sldId id="585" r:id="rId23"/>
    <p:sldId id="596" r:id="rId24"/>
    <p:sldId id="589" r:id="rId25"/>
    <p:sldId id="591" r:id="rId26"/>
    <p:sldId id="597" r:id="rId27"/>
    <p:sldId id="598" r:id="rId28"/>
  </p:sldIdLst>
  <p:sldSz cx="9144000" cy="6858000" type="screen4x3"/>
  <p:notesSz cx="6858000" cy="8686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NS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9" autoAdjust="0"/>
    <p:restoredTop sz="94008" autoAdjust="0"/>
  </p:normalViewPr>
  <p:slideViewPr>
    <p:cSldViewPr>
      <p:cViewPr varScale="1">
        <p:scale>
          <a:sx n="65" d="100"/>
          <a:sy n="65" d="100"/>
        </p:scale>
        <p:origin x="16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7A53D1E0-60EA-A043-BC22-286B78A20D5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45D108A2-940D-5945-8ABB-900F58D7D9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B6CF69C0-F8DE-F040-86AD-C0C158ED40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312325" name="Rectangle 5">
            <a:extLst>
              <a:ext uri="{FF2B5EF4-FFF2-40B4-BE49-F238E27FC236}">
                <a16:creationId xmlns:a16="http://schemas.microsoft.com/office/drawing/2014/main" id="{D76F9B5D-D557-0F48-ACEE-A3EB8609778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763C3B4-67B5-CA42-8807-AD26BDD173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88C3A83-249C-B448-A568-4B7FEF2904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6838BC2-1E56-9D46-BE59-32F707F3B1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1798FE11-237E-A34B-B038-B6468AFF4C5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650875"/>
            <a:ext cx="4343400" cy="3257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57657315-D41A-E442-A786-8E3F1515A3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125913"/>
            <a:ext cx="5486400" cy="39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F2EDD228-1AC1-954C-8218-B293D054DB9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AF87C1FB-880B-084A-9746-6BBF7740E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fld id="{A34ECB6F-5D76-F549-A316-A8EBCFDDB61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20399D4-1631-4040-A706-C5D64524F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C5C962-497E-C64F-9214-52CD8ED4D840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A4FCD0C7-49AD-564E-9D2C-4B39DDD47F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6FD3703B-6DEB-D041-BADA-C1D7901B3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031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30" name="Group 2">
            <a:extLst>
              <a:ext uri="{FF2B5EF4-FFF2-40B4-BE49-F238E27FC236}">
                <a16:creationId xmlns:a16="http://schemas.microsoft.com/office/drawing/2014/main" id="{78191BE6-F8C5-0D44-968E-E9D9DF651BE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1731" name="Rectangle 3">
              <a:extLst>
                <a:ext uri="{FF2B5EF4-FFF2-40B4-BE49-F238E27FC236}">
                  <a16:creationId xmlns:a16="http://schemas.microsoft.com/office/drawing/2014/main" id="{EF8C3435-2D5B-1D43-831E-F718ED343F9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1732" name="Rectangle 4">
              <a:extLst>
                <a:ext uri="{FF2B5EF4-FFF2-40B4-BE49-F238E27FC236}">
                  <a16:creationId xmlns:a16="http://schemas.microsoft.com/office/drawing/2014/main" id="{02FE1605-6C46-5B48-B007-262F5F50A7F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>
                <a:cs typeface="Arial" panose="020B0604020202020204" pitchFamily="34" charset="0"/>
              </a:endParaRPr>
            </a:p>
          </p:txBody>
        </p:sp>
        <p:grpSp>
          <p:nvGrpSpPr>
            <p:cNvPr id="201733" name="Group 5">
              <a:extLst>
                <a:ext uri="{FF2B5EF4-FFF2-40B4-BE49-F238E27FC236}">
                  <a16:creationId xmlns:a16="http://schemas.microsoft.com/office/drawing/2014/main" id="{5B5E4C65-7BFC-C84B-BFBC-1E79B4F63E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1734" name="Rectangle 6">
                <a:extLst>
                  <a:ext uri="{FF2B5EF4-FFF2-40B4-BE49-F238E27FC236}">
                    <a16:creationId xmlns:a16="http://schemas.microsoft.com/office/drawing/2014/main" id="{878A055F-5299-2941-881C-C1EFAC9544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5" name="Rectangle 7">
                <a:extLst>
                  <a:ext uri="{FF2B5EF4-FFF2-40B4-BE49-F238E27FC236}">
                    <a16:creationId xmlns:a16="http://schemas.microsoft.com/office/drawing/2014/main" id="{C88A23E6-FB9E-1141-8A62-989B124BA1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6" name="Rectangle 8">
                <a:extLst>
                  <a:ext uri="{FF2B5EF4-FFF2-40B4-BE49-F238E27FC236}">
                    <a16:creationId xmlns:a16="http://schemas.microsoft.com/office/drawing/2014/main" id="{B99C9928-0B26-8C47-A444-4EFFFFB4B7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7" name="Rectangle 9">
                <a:extLst>
                  <a:ext uri="{FF2B5EF4-FFF2-40B4-BE49-F238E27FC236}">
                    <a16:creationId xmlns:a16="http://schemas.microsoft.com/office/drawing/2014/main" id="{75A76123-04BC-9E4A-BD8C-E23AAAA702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8" name="Rectangle 10">
                <a:extLst>
                  <a:ext uri="{FF2B5EF4-FFF2-40B4-BE49-F238E27FC236}">
                    <a16:creationId xmlns:a16="http://schemas.microsoft.com/office/drawing/2014/main" id="{94D95688-A439-F84E-813E-995DB49EA5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9" name="Rectangle 11">
                <a:extLst>
                  <a:ext uri="{FF2B5EF4-FFF2-40B4-BE49-F238E27FC236}">
                    <a16:creationId xmlns:a16="http://schemas.microsoft.com/office/drawing/2014/main" id="{6C19F2A9-D310-0642-BA32-3CB9CDE0B0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0" name="Rectangle 12">
                <a:extLst>
                  <a:ext uri="{FF2B5EF4-FFF2-40B4-BE49-F238E27FC236}">
                    <a16:creationId xmlns:a16="http://schemas.microsoft.com/office/drawing/2014/main" id="{2F702AFF-03AB-5C48-97E9-48F11371D9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1" name="Rectangle 13">
                <a:extLst>
                  <a:ext uri="{FF2B5EF4-FFF2-40B4-BE49-F238E27FC236}">
                    <a16:creationId xmlns:a16="http://schemas.microsoft.com/office/drawing/2014/main" id="{9BD1B939-411F-5B4A-A6A8-0D88CAD3F5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2" name="Rectangle 14">
                <a:extLst>
                  <a:ext uri="{FF2B5EF4-FFF2-40B4-BE49-F238E27FC236}">
                    <a16:creationId xmlns:a16="http://schemas.microsoft.com/office/drawing/2014/main" id="{307B0216-449C-6D46-A52F-DCF6C848BB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3" name="Rectangle 15">
                <a:extLst>
                  <a:ext uri="{FF2B5EF4-FFF2-40B4-BE49-F238E27FC236}">
                    <a16:creationId xmlns:a16="http://schemas.microsoft.com/office/drawing/2014/main" id="{6EFBC2B6-CAFA-DC44-AF6E-07A6D738B4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01744" name="Rectangle 16">
            <a:extLst>
              <a:ext uri="{FF2B5EF4-FFF2-40B4-BE49-F238E27FC236}">
                <a16:creationId xmlns:a16="http://schemas.microsoft.com/office/drawing/2014/main" id="{1A4C1F96-14B2-404F-81D4-FC9C03BE45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1745" name="Rectangle 17">
            <a:extLst>
              <a:ext uri="{FF2B5EF4-FFF2-40B4-BE49-F238E27FC236}">
                <a16:creationId xmlns:a16="http://schemas.microsoft.com/office/drawing/2014/main" id="{F22949FE-B435-0244-A527-8E4851BF51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3124200" cy="457200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201746" name="Rectangle 18">
            <a:extLst>
              <a:ext uri="{FF2B5EF4-FFF2-40B4-BE49-F238E27FC236}">
                <a16:creationId xmlns:a16="http://schemas.microsoft.com/office/drawing/2014/main" id="{189609D0-CC0A-4449-AAF9-68E122EEBB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0" y="6400800"/>
            <a:ext cx="2133600" cy="457200"/>
          </a:xfrm>
        </p:spPr>
        <p:txBody>
          <a:bodyPr/>
          <a:lstStyle>
            <a:lvl1pPr algn="l">
              <a:defRPr sz="1200">
                <a:latin typeface="Arial Black" panose="020B0604020202020204" pitchFamily="34" charset="0"/>
              </a:defRPr>
            </a:lvl1pPr>
          </a:lstStyle>
          <a:p>
            <a:fld id="{6E025D3A-A67A-4349-817B-439EA90FAC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1747" name="Rectangle 19">
            <a:extLst>
              <a:ext uri="{FF2B5EF4-FFF2-40B4-BE49-F238E27FC236}">
                <a16:creationId xmlns:a16="http://schemas.microsoft.com/office/drawing/2014/main" id="{AADD46CB-C3F1-AC41-ABAC-0CFE6FEC53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01748" name="Rectangle 20">
            <a:extLst>
              <a:ext uri="{FF2B5EF4-FFF2-40B4-BE49-F238E27FC236}">
                <a16:creationId xmlns:a16="http://schemas.microsoft.com/office/drawing/2014/main" id="{FFF9D635-D06E-D942-853A-E0FB5D07E4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65AC-188C-D24E-86FA-08A612A6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A77CF-A671-DD40-9D7C-E0506BA02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F83FC-2F1D-AD4B-B4B3-5BF0A3BCBD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BD3DF-2AC1-5645-8FBA-E6E86A1A0C3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80EAA-8AFF-B946-B0C6-825094A4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09D508-A623-D242-B490-3AD37F05B8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86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8FDD-649C-A948-AB51-8E69EBA4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16B7-3796-AC4C-B7C9-CAF6DAE6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C96BD-3D34-FE46-A7DE-B44BC0CE80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A7373-0C56-DC4E-B549-AE15B5F35DF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7DC3-7E21-1548-A01E-0C545E2A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ABD0D-ECB4-F04C-8C76-42C145F23A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2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0D18-01D0-204F-965D-626E730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0E2F-13AC-5844-AA50-9DCA133BF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BC11F-BE7B-EE41-80DD-8820A8E68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13D95-B55F-E445-8C0C-170072AB48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6A3226-9269-164E-8D1A-BE83FB684C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54420-C6E1-8E44-A3E6-ADACDE71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A6983-B095-EC4A-A979-F21BF6548D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88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BFCE-F726-1249-8BAD-32E6AC13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E4DC2-57C9-1F49-A6F0-07DA699C4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95AD4-ABE9-7E48-9F15-605BD681E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F024B-5843-DF49-AE6F-1B2F49CF0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564B2-58EA-3C46-B02A-E0204D8B4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2439AC3-5966-E348-9D66-62B30C23C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FA5F7A-6991-ED40-BBAF-D3D919FF79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56B1F-D0AA-6648-A00A-69506CD0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D21AA-C6B4-0C40-9749-0AAEE51565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20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9A44-E883-0F4E-BB8D-06A32C88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3E8EB-9835-9A47-B994-E9D9B75B7C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FF5DE-E3BD-1147-B0EC-095E11366C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A3534-2D9D-2E4C-A32F-AAE878B4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FB6F9-F573-D04C-A7C1-7771D40BB3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00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70ACDC-C5B6-3943-8F8B-FF4EE71CEC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D690A-5CBD-664F-80C6-294EC6AE7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6FEF-82E4-2446-A954-99F2E111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41F22-0FF3-4D4B-AA68-B5E4434837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91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545B-0A9F-0B41-BE40-C026E489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13AF2-6F4A-234A-9AF5-E00644F0A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C97D2-AC27-674A-81DC-BC7A1B092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F685A-E93E-AD41-AC43-51E6D0B73E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4BB0AC-B99F-9A40-9F25-DAE6C16D8D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EE9A-2378-E34B-8508-EEEB23D2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0317F-450A-0244-B16A-0B91EBB38F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11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E94F-37A3-F14D-B455-14B3AC59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AB954-5123-5B4F-AC21-D8235F2A9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DAFFC-B42E-204D-85E2-7427A6CB1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15EA6-A892-D24A-8948-11A1698FA3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4567E8-7880-314D-BBA6-4FF33BC2A4E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48C2A-C44C-1549-98EA-F8138A67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F65FA8-5669-2641-921C-2A808E9DE4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46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6D3D-8EB7-E14B-BF30-EC8BA4E6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D96A4-8E0F-8949-9ADD-B74041F9A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3F4D7-E672-E647-AA3B-86512EC01F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8ECB1-3748-A140-B334-5ECA1CBE5B5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98060-561B-8540-8608-AC1CB027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F5E18-C5BE-0C42-817F-EB4A81F8C2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8260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C2BB7-AE99-1B4F-8568-59B36CA33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E123B-4A15-9147-9652-3602AAED1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E073E-0B7C-8F44-A894-46F77DA242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603D6-18E8-2349-9838-EEFA74791A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83DF0-130E-5746-B880-8130A293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B55A2A-06D9-4245-8E3F-047AC78433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7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8427-E1E6-D34B-90E9-594CD56B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61201-AABF-9046-85CA-5E0F7286E4A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14582-1EC8-8D49-BF14-4AFAD5484CA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752600"/>
            <a:ext cx="4038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95434B-1C6D-9C40-BEC2-0DEF607BB170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575A6-7D3F-6A4D-9FFD-5C40540EB9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48400"/>
            <a:ext cx="9144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1499B-4EF8-5846-B4AC-0AD13E63796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0104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98A29F-67AE-3647-A7D6-0612D954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E1D26E8-247B-F14C-B1F1-E42ADF05D6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34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9B21-92D1-E740-9962-B42E1296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A7371-2781-DC4E-9BBF-0E2B52A9971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35727-E771-4C45-8379-9AEA65C63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2F15-688A-B64B-9FFF-7498E20390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48400"/>
            <a:ext cx="9144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638182-234F-8F45-B354-57EFD7489DD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0104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9F6C4-3C04-E542-BC35-31D47577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9A439A6-6321-F44F-982B-DBAE7645FD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392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8A1C-55AA-BA49-9361-3E704FD9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9FB89-7208-654A-84D9-7045739BEEE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52600"/>
            <a:ext cx="8229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C773D-3039-294D-88FD-19F141EE8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DF6FC-0E74-C24D-A1C0-8CF0A0BF1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48400"/>
            <a:ext cx="9144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47883C-B82B-0946-AEEF-003846FD13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0104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C1E0-6C24-B946-A001-4BF938A4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B536E75-B0C9-B947-89FC-B0A535708F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17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19" name="Rectangle 15">
            <a:extLst>
              <a:ext uri="{FF2B5EF4-FFF2-40B4-BE49-F238E27FC236}">
                <a16:creationId xmlns:a16="http://schemas.microsoft.com/office/drawing/2014/main" id="{300FCB71-EEBD-6C4D-8747-021C23EA5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FA9FB4DB-6543-E74E-A03C-B339C57D71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248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600">
                <a:latin typeface="+mj-lt"/>
                <a:cs typeface="+mn-cs"/>
              </a:defRPr>
            </a:lvl1pPr>
          </a:lstStyle>
          <a:p>
            <a:r>
              <a:rPr lang="en-US" altLang="en-US"/>
              <a:t>asd</a:t>
            </a:r>
          </a:p>
        </p:txBody>
      </p:sp>
      <p:grpSp>
        <p:nvGrpSpPr>
          <p:cNvPr id="200708" name="Group 4">
            <a:extLst>
              <a:ext uri="{FF2B5EF4-FFF2-40B4-BE49-F238E27FC236}">
                <a16:creationId xmlns:a16="http://schemas.microsoft.com/office/drawing/2014/main" id="{1BE4C8D1-9FC6-AB48-B849-7C8DC9EF61B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0709" name="Rectangle 5">
              <a:extLst>
                <a:ext uri="{FF2B5EF4-FFF2-40B4-BE49-F238E27FC236}">
                  <a16:creationId xmlns:a16="http://schemas.microsoft.com/office/drawing/2014/main" id="{4C145B0A-434D-8940-A8BE-D4FCC4E92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0710" name="Rectangle 6">
              <a:extLst>
                <a:ext uri="{FF2B5EF4-FFF2-40B4-BE49-F238E27FC236}">
                  <a16:creationId xmlns:a16="http://schemas.microsoft.com/office/drawing/2014/main" id="{489BFFF0-68D8-5340-9218-C9A1F5A41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0711" name="Rectangle 7">
              <a:extLst>
                <a:ext uri="{FF2B5EF4-FFF2-40B4-BE49-F238E27FC236}">
                  <a16:creationId xmlns:a16="http://schemas.microsoft.com/office/drawing/2014/main" id="{887490DA-F78C-B54C-88D4-8E7AE4A7B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2" name="Rectangle 8">
              <a:extLst>
                <a:ext uri="{FF2B5EF4-FFF2-40B4-BE49-F238E27FC236}">
                  <a16:creationId xmlns:a16="http://schemas.microsoft.com/office/drawing/2014/main" id="{07FE667F-39A8-334D-A2E0-E65019B4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3" name="Rectangle 9">
              <a:extLst>
                <a:ext uri="{FF2B5EF4-FFF2-40B4-BE49-F238E27FC236}">
                  <a16:creationId xmlns:a16="http://schemas.microsoft.com/office/drawing/2014/main" id="{14037D7C-0077-B24A-95DE-8C8A1E7EE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4" name="Rectangle 10">
              <a:extLst>
                <a:ext uri="{FF2B5EF4-FFF2-40B4-BE49-F238E27FC236}">
                  <a16:creationId xmlns:a16="http://schemas.microsoft.com/office/drawing/2014/main" id="{35FCD7D0-DD7A-7344-BC43-8D2E0C80D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5" name="Rectangle 11">
              <a:extLst>
                <a:ext uri="{FF2B5EF4-FFF2-40B4-BE49-F238E27FC236}">
                  <a16:creationId xmlns:a16="http://schemas.microsoft.com/office/drawing/2014/main" id="{B045B75B-71F5-BF41-B9C9-544A6B92F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0716" name="Rectangle 12">
              <a:extLst>
                <a:ext uri="{FF2B5EF4-FFF2-40B4-BE49-F238E27FC236}">
                  <a16:creationId xmlns:a16="http://schemas.microsoft.com/office/drawing/2014/main" id="{821450E8-B02C-2F49-BC8A-B35A767FA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7" name="Rectangle 13">
              <a:extLst>
                <a:ext uri="{FF2B5EF4-FFF2-40B4-BE49-F238E27FC236}">
                  <a16:creationId xmlns:a16="http://schemas.microsoft.com/office/drawing/2014/main" id="{397E9DEC-465F-D04E-9D79-B1239C25D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0718" name="Rectangle 14">
            <a:extLst>
              <a:ext uri="{FF2B5EF4-FFF2-40B4-BE49-F238E27FC236}">
                <a16:creationId xmlns:a16="http://schemas.microsoft.com/office/drawing/2014/main" id="{47491C6C-ABEA-DA40-9BF1-F214FEC8B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0720" name="Rectangle 16">
            <a:extLst>
              <a:ext uri="{FF2B5EF4-FFF2-40B4-BE49-F238E27FC236}">
                <a16:creationId xmlns:a16="http://schemas.microsoft.com/office/drawing/2014/main" id="{7D4822EF-A1F7-D144-811F-9F20D22361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600">
                <a:latin typeface="+mj-lt"/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8870BBE9-E935-544F-97F4-7BCFB6B03C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+mn-lt"/>
                <a:cs typeface="+mn-cs"/>
              </a:defRPr>
            </a:lvl1pPr>
          </a:lstStyle>
          <a:p>
            <a:fld id="{D5CAEEDA-B635-9D4A-AC77-02F3B7F03AB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16E1A692-CFB4-B344-8B51-55C7927BD3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28491" y="2621460"/>
            <a:ext cx="7220140" cy="1382580"/>
          </a:xfrm>
        </p:spPr>
        <p:txBody>
          <a:bodyPr/>
          <a:lstStyle/>
          <a:p>
            <a:pPr algn="ctr"/>
            <a:r>
              <a:rPr lang="en-US" altLang="en-US" sz="5400" b="1" dirty="0"/>
              <a:t>Diffusion &amp; Osmosis</a:t>
            </a:r>
          </a:p>
        </p:txBody>
      </p:sp>
      <p:sp>
        <p:nvSpPr>
          <p:cNvPr id="204805" name="Rectangle 5">
            <a:extLst>
              <a:ext uri="{FF2B5EF4-FFF2-40B4-BE49-F238E27FC236}">
                <a16:creationId xmlns:a16="http://schemas.microsoft.com/office/drawing/2014/main" id="{C70DB427-D43D-6D4D-831C-A3B95721C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961" y="2162669"/>
            <a:ext cx="5029200" cy="690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defRPr sz="3400">
                <a:solidFill>
                  <a:schemeClr val="bg2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1pPr>
            <a:lvl2pPr marL="742950" indent="-285750"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defRPr sz="28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2pPr>
            <a:lvl3pPr marL="1143000" indent="-228600" algn="ctr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defRPr sz="24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3pPr>
            <a:lvl4pPr marL="1600200" indent="-228600" algn="ctr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4pPr>
            <a:lvl5pPr marL="2057400" indent="-228600" algn="ctr">
              <a:spcBef>
                <a:spcPct val="20000"/>
              </a:spcBef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400" b="1" dirty="0">
                <a:solidFill>
                  <a:schemeClr val="accent2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Experiment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64D5-FDBE-374A-901D-160461CE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homeostasis?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C306-C2D2-2240-831F-58DB55529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self-regulatory process by which biological systems tend to maintain stability while adjusting to conditions that are optimal</a:t>
            </a:r>
            <a:r>
              <a:rPr lang="en-US" b="1" dirty="0"/>
              <a:t> </a:t>
            </a:r>
            <a:r>
              <a:rPr lang="en-US" dirty="0"/>
              <a:t>for survival.</a:t>
            </a:r>
          </a:p>
          <a:p>
            <a:r>
              <a:rPr lang="en-US" dirty="0"/>
              <a:t>Cells must move materials through plasma membranes into and out of the cytoplasm in order to </a:t>
            </a:r>
            <a:r>
              <a:rPr lang="en-US" u="sng" dirty="0"/>
              <a:t>maintain</a:t>
            </a:r>
            <a:r>
              <a:rPr lang="en-US" dirty="0"/>
              <a:t> homeostasis.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E692-DE09-FB49-A8D1-33171898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60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64D5-FDBE-374A-901D-160461CE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movement regulated?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C306-C2D2-2240-831F-58DB55529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575660" cy="4343400"/>
          </a:xfrm>
        </p:spPr>
        <p:txBody>
          <a:bodyPr/>
          <a:lstStyle/>
          <a:p>
            <a:r>
              <a:rPr lang="en-US" sz="2800" dirty="0"/>
              <a:t>Because cellular membranes are </a:t>
            </a:r>
            <a:r>
              <a:rPr lang="en-US" sz="2800" i="1" dirty="0"/>
              <a:t>selectively permeable </a:t>
            </a:r>
            <a:endParaRPr lang="en-US" sz="2800" dirty="0"/>
          </a:p>
          <a:p>
            <a:r>
              <a:rPr lang="en-US" sz="2800" dirty="0"/>
              <a:t>Cell membranes are </a:t>
            </a:r>
            <a:r>
              <a:rPr lang="en-US" sz="2800" u="sng" dirty="0"/>
              <a:t>phospholipid bilayers</a:t>
            </a:r>
            <a:r>
              <a:rPr lang="en-US" sz="2800" dirty="0"/>
              <a:t> containing embedded proteins </a:t>
            </a:r>
          </a:p>
          <a:p>
            <a:r>
              <a:rPr lang="en-US" sz="2800" dirty="0"/>
              <a:t>Phospholipid fatty acids are hydrophobic and</a:t>
            </a:r>
            <a:r>
              <a:rPr lang="en-US" sz="2800" b="1" dirty="0"/>
              <a:t> </a:t>
            </a:r>
            <a:r>
              <a:rPr lang="en-US" sz="2800" u="sng" dirty="0"/>
              <a:t>limit the movement of water 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E692-DE09-FB49-A8D1-33171898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8CF30-F298-3C42-A634-33F92EC86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34" y="1752601"/>
            <a:ext cx="4136841" cy="383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7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64D5-FDBE-374A-901D-160461CE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water pass through the membrane?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C306-C2D2-2240-831F-58DB55529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75630"/>
            <a:ext cx="3948476" cy="36484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Freely by osmosis (</a:t>
            </a:r>
            <a:r>
              <a:rPr lang="en-US" i="1" dirty="0"/>
              <a:t>small amount</a:t>
            </a:r>
            <a:r>
              <a:rPr lang="en-US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Selectively by specialized protein channels called </a:t>
            </a:r>
            <a:r>
              <a:rPr lang="en-US" u="sng" dirty="0"/>
              <a:t>aquaporins</a:t>
            </a:r>
            <a:r>
              <a:rPr lang="en-US" dirty="0"/>
              <a:t> (</a:t>
            </a:r>
            <a:r>
              <a:rPr lang="en-US" i="1" dirty="0"/>
              <a:t>large amount</a:t>
            </a:r>
            <a:r>
              <a:rPr lang="en-US" dirty="0"/>
              <a:t>)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E692-DE09-FB49-A8D1-33171898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D9148-D84D-D540-A788-EF19BBF85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216" y="2598845"/>
            <a:ext cx="4533595" cy="300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3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64D5-FDBE-374A-901D-160461CE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molecules pass through the membrane?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C306-C2D2-2240-831F-58DB55529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196353"/>
            <a:ext cx="3797916" cy="36484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Most ions move through protein channels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Larger molecules, such as carbohydrates, are carried by transport proteins via </a:t>
            </a:r>
            <a:r>
              <a:rPr lang="en-US" sz="2800" u="sng" dirty="0"/>
              <a:t>active</a:t>
            </a:r>
            <a:r>
              <a:rPr lang="en-US" sz="2800" dirty="0"/>
              <a:t> or </a:t>
            </a:r>
            <a:r>
              <a:rPr lang="en-US" sz="2800" u="sng" dirty="0"/>
              <a:t>passive</a:t>
            </a:r>
            <a:r>
              <a:rPr lang="en-US" sz="2800" dirty="0"/>
              <a:t> transport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E692-DE09-FB49-A8D1-33171898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6A09F-FC98-C647-9EAA-9F27CF244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443" y="2275079"/>
            <a:ext cx="4875728" cy="34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0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64D5-FDBE-374A-901D-160461CE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active and passive transport?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C306-C2D2-2240-831F-58DB55529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196353"/>
            <a:ext cx="8531375" cy="3690567"/>
          </a:xfrm>
        </p:spPr>
        <p:txBody>
          <a:bodyPr/>
          <a:lstStyle/>
          <a:p>
            <a:r>
              <a:rPr lang="en-US" dirty="0"/>
              <a:t>Active transport is a process that requires</a:t>
            </a:r>
            <a:br>
              <a:rPr lang="en-US" dirty="0"/>
            </a:br>
            <a:r>
              <a:rPr lang="en-US" dirty="0"/>
              <a:t>(1) </a:t>
            </a:r>
            <a:r>
              <a:rPr lang="en-US" i="1" dirty="0"/>
              <a:t>transport proteins</a:t>
            </a:r>
            <a:r>
              <a:rPr lang="en-US" dirty="0"/>
              <a:t>, (2) </a:t>
            </a:r>
            <a:r>
              <a:rPr lang="en-US" i="1" dirty="0"/>
              <a:t>energy output</a:t>
            </a:r>
            <a:r>
              <a:rPr lang="en-US" dirty="0"/>
              <a:t>, and (3) </a:t>
            </a:r>
            <a:r>
              <a:rPr lang="en-US" i="1" dirty="0"/>
              <a:t>moving against a concentration gradient </a:t>
            </a:r>
          </a:p>
          <a:p>
            <a:r>
              <a:rPr lang="en-US" dirty="0"/>
              <a:t>Passive transport (1) </a:t>
            </a:r>
            <a:r>
              <a:rPr lang="en-US" i="1" dirty="0"/>
              <a:t>does not require energy </a:t>
            </a:r>
            <a:r>
              <a:rPr lang="en-US" dirty="0"/>
              <a:t>- and (2) </a:t>
            </a:r>
            <a:r>
              <a:rPr lang="en-US" i="1" dirty="0"/>
              <a:t>moves along the concentration </a:t>
            </a:r>
            <a:r>
              <a:rPr lang="en-US" dirty="0"/>
              <a:t>- </a:t>
            </a:r>
            <a:r>
              <a:rPr lang="en-US" i="1" dirty="0"/>
              <a:t>gradient </a:t>
            </a:r>
            <a:r>
              <a:rPr lang="en-US" dirty="0"/>
              <a:t>in a passive process. This includes </a:t>
            </a:r>
            <a:r>
              <a:rPr lang="en-US" i="1" u="sng" dirty="0"/>
              <a:t>diffusion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u="sng" dirty="0"/>
              <a:t>osmosis</a:t>
            </a:r>
            <a:r>
              <a:rPr lang="en-US" i="1" dirty="0"/>
              <a:t>. 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E692-DE09-FB49-A8D1-33171898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15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1A80-EC38-6B4F-9E65-250F2D0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3" y="457200"/>
            <a:ext cx="4460445" cy="667500"/>
          </a:xfrm>
        </p:spPr>
        <p:txBody>
          <a:bodyPr/>
          <a:lstStyle/>
          <a:p>
            <a:r>
              <a:rPr lang="en-US" dirty="0"/>
              <a:t>What is diffusion?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7418-A0B7-B24A-B9C4-55409C8C1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9045" y="1198885"/>
            <a:ext cx="4353476" cy="4343400"/>
          </a:xfrm>
        </p:spPr>
        <p:txBody>
          <a:bodyPr/>
          <a:lstStyle/>
          <a:p>
            <a:r>
              <a:rPr lang="en-US" sz="2000" b="1" dirty="0"/>
              <a:t>It is the net movement of molecules or atoms down/along a concentration gradient (</a:t>
            </a:r>
            <a:r>
              <a:rPr lang="en-US" sz="2000" b="1" i="1" dirty="0"/>
              <a:t>from a region of high concentration to a region of low concentration</a:t>
            </a:r>
            <a:r>
              <a:rPr lang="en-US" sz="2000" b="1" dirty="0"/>
              <a:t>) </a:t>
            </a: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/>
              <a:t>Molecules intermingle as a result of their kinetic energy of random motion even in the absence of a membrane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6A90D-C8AA-E646-A602-8D92882E9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5798" y="1198885"/>
            <a:ext cx="4430288" cy="4343400"/>
          </a:xfrm>
        </p:spPr>
        <p:txBody>
          <a:bodyPr/>
          <a:lstStyle/>
          <a:p>
            <a:r>
              <a:rPr lang="en-US" sz="2000" b="1" dirty="0"/>
              <a:t>It is a type of diffusion that involves the net movement of solvent from a region of </a:t>
            </a:r>
            <a:r>
              <a:rPr lang="en-US" sz="2000" b="1" u="sng" dirty="0"/>
              <a:t>low solute concentration*</a:t>
            </a:r>
            <a:r>
              <a:rPr lang="en-US" sz="2000" b="1" dirty="0"/>
              <a:t> to a region of </a:t>
            </a:r>
            <a:r>
              <a:rPr lang="en-US" sz="2000" b="1" u="sng" dirty="0"/>
              <a:t>high solute concentration*</a:t>
            </a:r>
            <a:r>
              <a:rPr lang="en-US" sz="2000" b="1" dirty="0"/>
              <a:t> in the direction that tends to equalize the solute concentrations on the two sides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u="sng" dirty="0"/>
              <a:t>Low solute concentration </a:t>
            </a:r>
            <a:r>
              <a:rPr lang="en-US" sz="2000" b="1" dirty="0"/>
              <a:t>= high free water concentration</a:t>
            </a:r>
          </a:p>
          <a:p>
            <a:pPr>
              <a:buFont typeface="Wingdings" pitchFamily="2" charset="2"/>
              <a:buChar char="Ø"/>
            </a:pPr>
            <a:r>
              <a:rPr lang="en-US" sz="2000" b="1" u="sng" dirty="0"/>
              <a:t>High solute concentration </a:t>
            </a:r>
            <a:r>
              <a:rPr lang="en-US" sz="2000" b="1" dirty="0"/>
              <a:t>= low free water concentration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3E755-B8F1-4043-B715-1B9D0744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BADFCC-D9A3-4747-8E20-025EB878D133}"/>
              </a:ext>
            </a:extLst>
          </p:cNvPr>
          <p:cNvSpPr txBox="1">
            <a:spLocks/>
          </p:cNvSpPr>
          <p:nvPr/>
        </p:nvSpPr>
        <p:spPr bwMode="auto">
          <a:xfrm>
            <a:off x="4662521" y="457200"/>
            <a:ext cx="4263565" cy="66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dirty="0"/>
              <a:t>What is osmosis?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99EE2-2247-5B47-AD85-410D05A8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93" y="4926795"/>
            <a:ext cx="4192832" cy="19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5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7D55-ADC3-1F4A-AC82-F18FFCB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demonstrate osmosis?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6BE992-1002-1149-B873-3A34286EC3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6520" y="1431940"/>
            <a:ext cx="8566120" cy="507542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F1B-49F4-704B-AAF0-A450DD1C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85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5E7E-86CA-354F-9A76-A373D6D4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meant by tonicity?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8EFA-549E-5843-AB0B-2AFC03738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8454565" cy="4343400"/>
          </a:xfrm>
        </p:spPr>
        <p:txBody>
          <a:bodyPr/>
          <a:lstStyle/>
          <a:p>
            <a:r>
              <a:rPr lang="en-US" sz="2800" dirty="0"/>
              <a:t>It is the relative solute concentrations of two solutions separated by a semipermeable membrane that determine the following:</a:t>
            </a:r>
          </a:p>
          <a:p>
            <a:pPr lvl="1"/>
            <a:r>
              <a:rPr lang="en-US" dirty="0"/>
              <a:t>Direction of diffusion</a:t>
            </a:r>
          </a:p>
          <a:p>
            <a:pPr lvl="1"/>
            <a:r>
              <a:rPr lang="en-US" dirty="0"/>
              <a:t>Extent of </a:t>
            </a:r>
            <a:r>
              <a:rPr lang="en-US" dirty="0" smtClean="0"/>
              <a:t>diffusion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800" dirty="0"/>
              <a:t>A solution can be </a:t>
            </a:r>
            <a:r>
              <a:rPr lang="en-US" sz="2800" i="1" dirty="0"/>
              <a:t>hypertonic</a:t>
            </a:r>
            <a:r>
              <a:rPr lang="en-US" sz="2800" dirty="0"/>
              <a:t>, </a:t>
            </a:r>
            <a:r>
              <a:rPr lang="en-US" sz="2800" i="1" dirty="0"/>
              <a:t>isotonic</a:t>
            </a:r>
            <a:r>
              <a:rPr lang="en-US" sz="2800" dirty="0"/>
              <a:t>, and </a:t>
            </a:r>
            <a:r>
              <a:rPr lang="en-US" sz="2800" i="1" dirty="0"/>
              <a:t>hypotonic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3B42D-D945-214D-A35B-AA23DC1E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13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FCF5-4D30-0F4A-803C-CF3221F4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meant by hypertonic?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2710-B1D9-CB4D-B1FA-1B2B10278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8229600" cy="133075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[free water in cell] &gt; [free water out of cell] </a:t>
            </a:r>
          </a:p>
          <a:p>
            <a:pPr marL="0" indent="0" algn="ctr">
              <a:buNone/>
            </a:pPr>
            <a:r>
              <a:rPr lang="en-US" dirty="0"/>
              <a:t>[solutes in cell] &lt; [solutes out of cell]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94BB2-CAFD-914C-86EE-2717C008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393C1-9C14-B74E-8948-C8D7AECE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0" y="2875554"/>
            <a:ext cx="4676959" cy="385026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EAF853-DB08-104B-9D44-51EC4E10B825}"/>
              </a:ext>
            </a:extLst>
          </p:cNvPr>
          <p:cNvSpPr txBox="1">
            <a:spLocks/>
          </p:cNvSpPr>
          <p:nvPr/>
        </p:nvSpPr>
        <p:spPr bwMode="auto">
          <a:xfrm>
            <a:off x="193830" y="3582548"/>
            <a:ext cx="4147740" cy="1592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u="sng" dirty="0"/>
              <a:t>Saltwater</a:t>
            </a:r>
            <a:r>
              <a:rPr lang="en-US" dirty="0"/>
              <a:t> is an example of a hypertonic solution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46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619C-D66F-AF41-942E-8DCF1397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915987"/>
          </a:xfrm>
        </p:spPr>
        <p:txBody>
          <a:bodyPr/>
          <a:lstStyle/>
          <a:p>
            <a:r>
              <a:rPr lang="en-US" dirty="0"/>
              <a:t>In a hypertonic solution…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E3EA3-1FF8-1A40-B73F-7E2FB296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99723"/>
            <a:ext cx="3868737" cy="823912"/>
          </a:xfrm>
        </p:spPr>
        <p:txBody>
          <a:bodyPr/>
          <a:lstStyle/>
          <a:p>
            <a:pPr algn="ctr"/>
            <a:r>
              <a:rPr lang="en-US" sz="2800" dirty="0"/>
              <a:t>Animal cell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8E268-F4D7-A842-8413-5A0D66EA3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123635"/>
            <a:ext cx="3868737" cy="3684588"/>
          </a:xfrm>
        </p:spPr>
        <p:txBody>
          <a:bodyPr/>
          <a:lstStyle/>
          <a:p>
            <a:r>
              <a:rPr lang="en-US" i="1" dirty="0"/>
              <a:t>Shriveled</a:t>
            </a:r>
            <a:r>
              <a:rPr lang="en-US" dirty="0"/>
              <a:t> or </a:t>
            </a:r>
            <a:r>
              <a:rPr lang="en-US" i="1" dirty="0" err="1" smtClean="0"/>
              <a:t>crenated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0F45F-ED39-2048-A404-34B01AF2B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99723"/>
            <a:ext cx="3887788" cy="823912"/>
          </a:xfrm>
        </p:spPr>
        <p:txBody>
          <a:bodyPr/>
          <a:lstStyle/>
          <a:p>
            <a:pPr algn="ctr"/>
            <a:r>
              <a:rPr lang="en-US" sz="2800" dirty="0"/>
              <a:t>Plant cell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B44C0-6D90-5741-8D9D-236DD22A1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123635"/>
            <a:ext cx="3887788" cy="3684588"/>
          </a:xfrm>
        </p:spPr>
        <p:txBody>
          <a:bodyPr/>
          <a:lstStyle/>
          <a:p>
            <a:r>
              <a:rPr lang="en-US" i="1" dirty="0"/>
              <a:t>Plasmolyzed*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2C0A7-F0EE-FC45-A9D2-8F260889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D21AA-C6B4-0C40-9749-0AAEE5156573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E1CFCE-C02E-E448-A640-2BE0D974C5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07" b="52159"/>
          <a:stretch/>
        </p:blipFill>
        <p:spPr>
          <a:xfrm>
            <a:off x="1012082" y="3313785"/>
            <a:ext cx="2984658" cy="2150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80ECC7-0730-914D-946B-82E0ED49FC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794" b="6390"/>
          <a:stretch/>
        </p:blipFill>
        <p:spPr>
          <a:xfrm>
            <a:off x="5253647" y="2890589"/>
            <a:ext cx="2638793" cy="21506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3B533A-DFFD-3A47-9599-33DD1A3093BE}"/>
              </a:ext>
            </a:extLst>
          </p:cNvPr>
          <p:cNvSpPr txBox="1"/>
          <p:nvPr/>
        </p:nvSpPr>
        <p:spPr>
          <a:xfrm>
            <a:off x="4655290" y="5214310"/>
            <a:ext cx="38355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*During plasmolysis, the cell takes the appearance of a pincushion, and </a:t>
            </a:r>
            <a:r>
              <a:rPr lang="en-US" sz="2000" i="1" dirty="0"/>
              <a:t>plasmodesmata </a:t>
            </a:r>
            <a:r>
              <a:rPr lang="en-US" sz="2000" dirty="0"/>
              <a:t>almost cease to function because of constriction 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407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FCF5-4D30-0F4A-803C-CF3221F4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meant by isotonic?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2710-B1D9-CB4D-B1FA-1B2B10278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8229600" cy="133075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[free water in cell] = [free water out of cell] </a:t>
            </a:r>
          </a:p>
          <a:p>
            <a:pPr marL="0" indent="0" algn="ctr">
              <a:buNone/>
            </a:pPr>
            <a:r>
              <a:rPr lang="en-US" dirty="0"/>
              <a:t>[solutes in cell] = [solutes out of cell]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94BB2-CAFD-914C-86EE-2717C008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EAF853-DB08-104B-9D44-51EC4E10B825}"/>
              </a:ext>
            </a:extLst>
          </p:cNvPr>
          <p:cNvSpPr txBox="1">
            <a:spLocks/>
          </p:cNvSpPr>
          <p:nvPr/>
        </p:nvSpPr>
        <p:spPr bwMode="auto">
          <a:xfrm>
            <a:off x="458384" y="3582548"/>
            <a:ext cx="4651286" cy="1592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u="sng" dirty="0"/>
              <a:t>Normal saline</a:t>
            </a:r>
            <a:r>
              <a:rPr lang="en-US" dirty="0"/>
              <a:t> is an example of an isotonic solution. It is made of water and 0.85-0.9% </a:t>
            </a:r>
            <a:r>
              <a:rPr lang="en-US" dirty="0" err="1"/>
              <a:t>NaCl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9E6B0-FD89-2742-AC63-76579660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40" y="3124200"/>
            <a:ext cx="4070930" cy="338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28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619C-D66F-AF41-942E-8DCF1397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915987"/>
          </a:xfrm>
        </p:spPr>
        <p:txBody>
          <a:bodyPr/>
          <a:lstStyle/>
          <a:p>
            <a:r>
              <a:rPr lang="en-US" dirty="0"/>
              <a:t>In an isotonic solution…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E3EA3-1FF8-1A40-B73F-7E2FB296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99723"/>
            <a:ext cx="3868737" cy="823912"/>
          </a:xfrm>
        </p:spPr>
        <p:txBody>
          <a:bodyPr/>
          <a:lstStyle/>
          <a:p>
            <a:pPr algn="ctr"/>
            <a:r>
              <a:rPr lang="en-US" sz="2800" dirty="0"/>
              <a:t>Animal cell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8E268-F4D7-A842-8413-5A0D66EA3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123635"/>
            <a:ext cx="3868737" cy="3684588"/>
          </a:xfrm>
        </p:spPr>
        <p:txBody>
          <a:bodyPr/>
          <a:lstStyle/>
          <a:p>
            <a:r>
              <a:rPr lang="en-US" i="1" dirty="0"/>
              <a:t>Normal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0F45F-ED39-2048-A404-34B01AF2B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99723"/>
            <a:ext cx="3887788" cy="823912"/>
          </a:xfrm>
        </p:spPr>
        <p:txBody>
          <a:bodyPr/>
          <a:lstStyle/>
          <a:p>
            <a:pPr algn="ctr"/>
            <a:r>
              <a:rPr lang="en-US" sz="2800" dirty="0"/>
              <a:t>Plant cell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B44C0-6D90-5741-8D9D-236DD22A1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123635"/>
            <a:ext cx="3887788" cy="3684588"/>
          </a:xfrm>
        </p:spPr>
        <p:txBody>
          <a:bodyPr/>
          <a:lstStyle/>
          <a:p>
            <a:r>
              <a:rPr lang="en-US" i="1" dirty="0"/>
              <a:t>Flaccid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2C0A7-F0EE-FC45-A9D2-8F260889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D21AA-C6B4-0C40-9749-0AAEE5156573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D24426-E149-8941-B87A-F26F182B31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96" b="53248"/>
          <a:stretch/>
        </p:blipFill>
        <p:spPr>
          <a:xfrm>
            <a:off x="741874" y="3127812"/>
            <a:ext cx="3645463" cy="26864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FD8D52-F35E-604C-9FB2-3C59059475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793" b="6942"/>
          <a:stretch/>
        </p:blipFill>
        <p:spPr>
          <a:xfrm>
            <a:off x="4882874" y="3121760"/>
            <a:ext cx="3380339" cy="268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7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FCF5-4D30-0F4A-803C-CF3221F4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meant by hypotonic?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2710-B1D9-CB4D-B1FA-1B2B10278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8229600" cy="133075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[free water in cell] &lt; [free water out of cell] </a:t>
            </a:r>
          </a:p>
          <a:p>
            <a:pPr marL="0" indent="0" algn="ctr">
              <a:buNone/>
            </a:pPr>
            <a:r>
              <a:rPr lang="en-US" dirty="0"/>
              <a:t>[solutes in cell] &gt; [solutes out of cell]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94BB2-CAFD-914C-86EE-2717C008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EAF853-DB08-104B-9D44-51EC4E10B825}"/>
              </a:ext>
            </a:extLst>
          </p:cNvPr>
          <p:cNvSpPr txBox="1">
            <a:spLocks/>
          </p:cNvSpPr>
          <p:nvPr/>
        </p:nvSpPr>
        <p:spPr bwMode="auto">
          <a:xfrm>
            <a:off x="1072864" y="4043480"/>
            <a:ext cx="3652756" cy="1592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u="sng" dirty="0"/>
              <a:t>Distilled water</a:t>
            </a:r>
            <a:r>
              <a:rPr lang="en-US" dirty="0"/>
              <a:t> is an example of an hypotonic solution.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26C9BD-CC60-2E42-AA81-73FF7E015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20" y="3083271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97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619C-D66F-AF41-942E-8DCF1397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915987"/>
          </a:xfrm>
        </p:spPr>
        <p:txBody>
          <a:bodyPr/>
          <a:lstStyle/>
          <a:p>
            <a:r>
              <a:rPr lang="en-US" dirty="0"/>
              <a:t>In a hypotonic solution…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E3EA3-1FF8-1A40-B73F-7E2FB296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99723"/>
            <a:ext cx="3868737" cy="823912"/>
          </a:xfrm>
        </p:spPr>
        <p:txBody>
          <a:bodyPr/>
          <a:lstStyle/>
          <a:p>
            <a:pPr algn="ctr"/>
            <a:r>
              <a:rPr lang="en-US" sz="2800" dirty="0"/>
              <a:t>Animal cell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8E268-F4D7-A842-8413-5A0D66EA3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123635"/>
            <a:ext cx="3868737" cy="3684588"/>
          </a:xfrm>
        </p:spPr>
        <p:txBody>
          <a:bodyPr/>
          <a:lstStyle/>
          <a:p>
            <a:r>
              <a:rPr lang="en-US" i="1" dirty="0"/>
              <a:t>Lysed </a:t>
            </a:r>
            <a:r>
              <a:rPr lang="en-US" dirty="0"/>
              <a:t>or </a:t>
            </a:r>
            <a:r>
              <a:rPr lang="en-US" i="1" dirty="0"/>
              <a:t>burst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0F45F-ED39-2048-A404-34B01AF2B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99723"/>
            <a:ext cx="3887788" cy="823912"/>
          </a:xfrm>
        </p:spPr>
        <p:txBody>
          <a:bodyPr/>
          <a:lstStyle/>
          <a:p>
            <a:pPr algn="ctr"/>
            <a:r>
              <a:rPr lang="en-US" sz="2800" dirty="0"/>
              <a:t>Plant cell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B44C0-6D90-5741-8D9D-236DD22A1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123635"/>
            <a:ext cx="3887788" cy="3684588"/>
          </a:xfrm>
        </p:spPr>
        <p:txBody>
          <a:bodyPr/>
          <a:lstStyle/>
          <a:p>
            <a:r>
              <a:rPr lang="en-US" i="1" dirty="0"/>
              <a:t>Normal </a:t>
            </a:r>
            <a:r>
              <a:rPr lang="en-US" dirty="0"/>
              <a:t>or </a:t>
            </a:r>
            <a:r>
              <a:rPr lang="en-US" i="1" dirty="0"/>
              <a:t>turgid </a:t>
            </a:r>
            <a:r>
              <a:rPr lang="en-US" dirty="0"/>
              <a:t>or </a:t>
            </a:r>
            <a:r>
              <a:rPr lang="en-US" i="1" dirty="0" err="1"/>
              <a:t>deplasmolyzed</a:t>
            </a:r>
            <a:endParaRPr lang="en-US" i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2C0A7-F0EE-FC45-A9D2-8F260889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D21AA-C6B4-0C40-9749-0AAEE5156573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AA096D-A978-A94F-B108-D7C3F4280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7" t="10525" r="28475" b="49036"/>
          <a:stretch/>
        </p:blipFill>
        <p:spPr>
          <a:xfrm>
            <a:off x="1213723" y="3276160"/>
            <a:ext cx="2701766" cy="2919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3FC615-67A0-9E40-BE38-311150CE7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754" b="5918"/>
          <a:stretch/>
        </p:blipFill>
        <p:spPr>
          <a:xfrm>
            <a:off x="4762923" y="3735458"/>
            <a:ext cx="3620242" cy="24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84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B970-1FE6-7E4B-B1F7-B8348010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influence the rate of diffusion?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342D-2030-704E-98F6-E678D9080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434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u="sng" dirty="0"/>
              <a:t>rate of diffusion</a:t>
            </a:r>
            <a:r>
              <a:rPr lang="en-US" dirty="0"/>
              <a:t> is the distance moved in a given amount of time. It is influenced by: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/>
              <a:t>Mass of particle</a:t>
            </a:r>
          </a:p>
          <a:p>
            <a:pPr lvl="2"/>
            <a:r>
              <a:rPr lang="en-US" dirty="0"/>
              <a:t>↑mass of particle = ↓rate of diffusion </a:t>
            </a:r>
          </a:p>
          <a:p>
            <a:pPr marL="857250" lvl="2" indent="0">
              <a:buNone/>
            </a:pPr>
            <a:endParaRPr lang="en-US" dirty="0"/>
          </a:p>
          <a:p>
            <a:pPr marL="857250" lvl="2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/>
              <a:t>Temperature</a:t>
            </a:r>
          </a:p>
          <a:p>
            <a:pPr lvl="2"/>
            <a:r>
              <a:rPr lang="en-US" dirty="0"/>
              <a:t>↑temperature = ↑rate of diffusion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E9774-AC9C-0B4C-BFAD-48187B3C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F80D1-DA59-D14A-B797-1200D622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440" y="3194300"/>
            <a:ext cx="2543957" cy="153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E856A1-5F3D-3145-80E9-2D9BF44F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664" y="5042010"/>
            <a:ext cx="2543957" cy="164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4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199"/>
            <a:ext cx="8229600" cy="1704435"/>
          </a:xfrm>
        </p:spPr>
        <p:txBody>
          <a:bodyPr/>
          <a:lstStyle/>
          <a:p>
            <a:pPr algn="ctr"/>
            <a:r>
              <a:rPr lang="en-US" sz="9600" dirty="0">
                <a:solidFill>
                  <a:srgbClr val="FF0000"/>
                </a:solidFill>
                <a:latin typeface="Edwardian Script ITC" panose="030303020407070D0804" pitchFamily="66" charset="0"/>
              </a:rPr>
              <a:t>Practical part</a:t>
            </a:r>
            <a:r>
              <a:rPr lang="ar-JO" sz="9600" dirty="0">
                <a:solidFill>
                  <a:srgbClr val="FF0000"/>
                </a:solidFill>
                <a:latin typeface="Edwardian Script ITC" panose="030303020407070D0804" pitchFamily="66" charset="0"/>
              </a:rPr>
              <a:t/>
            </a:r>
            <a:br>
              <a:rPr lang="ar-JO" sz="9600" dirty="0">
                <a:solidFill>
                  <a:srgbClr val="FF0000"/>
                </a:solidFill>
                <a:latin typeface="Edwardian Script ITC" panose="030303020407070D0804" pitchFamily="66" charset="0"/>
              </a:rPr>
            </a:br>
            <a:endParaRPr lang="ar-J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020" y="1931204"/>
            <a:ext cx="9026980" cy="4164795"/>
          </a:xfrm>
        </p:spPr>
        <p:txBody>
          <a:bodyPr/>
          <a:lstStyle/>
          <a:p>
            <a:r>
              <a:rPr lang="en-US" dirty="0"/>
              <a:t>In today’s lab, we will investigate three things: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Diffusion of gases</a:t>
            </a:r>
          </a:p>
          <a:p>
            <a:pPr marL="914400" lvl="1" indent="-514350">
              <a:spcBef>
                <a:spcPts val="0"/>
              </a:spcBef>
              <a:buFont typeface="+mj-lt"/>
              <a:buAutoNum type="arabicPeriod"/>
            </a:pPr>
            <a:r>
              <a:rPr lang="en-US" sz="3200" b="1" dirty="0"/>
              <a:t>Osmosis </a:t>
            </a:r>
            <a:r>
              <a:rPr lang="en-US" sz="3200" dirty="0"/>
              <a:t>(</a:t>
            </a:r>
            <a:r>
              <a:rPr lang="en-US" sz="3200" i="1" dirty="0"/>
              <a:t>diffusion of molecules through a selectively permeable membrane</a:t>
            </a:r>
            <a:r>
              <a:rPr lang="en-US" sz="3200" dirty="0"/>
              <a:t>)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Osmotic behavior in plant cells</a:t>
            </a:r>
          </a:p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26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7500"/>
          </a:xfrm>
        </p:spPr>
        <p:txBody>
          <a:bodyPr/>
          <a:lstStyle/>
          <a:p>
            <a:pPr algn="ctr"/>
            <a:r>
              <a:rPr lang="en-US" dirty="0" smtClean="0"/>
              <a:t>Diffusion of liquid in Liquid</a:t>
            </a:r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04" y="1124700"/>
            <a:ext cx="7642595" cy="5733300"/>
          </a:xfrm>
        </p:spPr>
      </p:pic>
    </p:spTree>
    <p:extLst>
      <p:ext uri="{BB962C8B-B14F-4D97-AF65-F5344CB8AC3E}">
        <p14:creationId xmlns:p14="http://schemas.microsoft.com/office/powerpoint/2010/main" val="343730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DB8C-F8A4-EC4A-812D-8E138634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Diffusion of gases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0DFB-6931-A048-827C-630A72C5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28800"/>
            <a:ext cx="8686800" cy="4343400"/>
          </a:xfrm>
        </p:spPr>
        <p:txBody>
          <a:bodyPr/>
          <a:lstStyle/>
          <a:p>
            <a:r>
              <a:rPr lang="en-US" sz="3600" dirty="0"/>
              <a:t>Hydrochloric </a:t>
            </a:r>
            <a:r>
              <a:rPr lang="en-US" sz="3600" dirty="0" smtClean="0"/>
              <a:t>acid (</a:t>
            </a:r>
            <a:r>
              <a:rPr lang="en-US" sz="3600" dirty="0" err="1" smtClean="0"/>
              <a:t>HCl</a:t>
            </a:r>
            <a:r>
              <a:rPr lang="en-US" sz="3600" dirty="0" smtClean="0"/>
              <a:t>) </a:t>
            </a:r>
            <a:r>
              <a:rPr lang="en-US" sz="3600" dirty="0"/>
              <a:t>and </a:t>
            </a:r>
            <a:r>
              <a:rPr lang="en-US" sz="3600" dirty="0" smtClean="0"/>
              <a:t>ammonium hydroxide (NH</a:t>
            </a:r>
            <a:r>
              <a:rPr lang="en-US" sz="3600" baseline="-25000" dirty="0" smtClean="0"/>
              <a:t>4</a:t>
            </a:r>
            <a:r>
              <a:rPr lang="en-US" sz="3600" dirty="0" smtClean="0"/>
              <a:t>OH</a:t>
            </a:r>
            <a:r>
              <a:rPr lang="en-US" sz="3600" dirty="0"/>
              <a:t>) are both </a:t>
            </a:r>
            <a:r>
              <a:rPr lang="en-US" sz="3600" i="1" dirty="0"/>
              <a:t>volatile</a:t>
            </a:r>
            <a:r>
              <a:rPr lang="en-US" sz="3600" dirty="0"/>
              <a:t>, meaning that they can easily leave the solution and enter the gaseous </a:t>
            </a:r>
            <a:r>
              <a:rPr lang="en-US" sz="3600" dirty="0" smtClean="0"/>
              <a:t>state. </a:t>
            </a:r>
            <a:endParaRPr lang="en-US" sz="3600" dirty="0"/>
          </a:p>
          <a:p>
            <a:r>
              <a:rPr lang="en-US" sz="3600" dirty="0"/>
              <a:t>When gaseous NH</a:t>
            </a:r>
            <a:r>
              <a:rPr lang="en-US" sz="3600" baseline="-25000" dirty="0"/>
              <a:t>3</a:t>
            </a:r>
            <a:r>
              <a:rPr lang="en-US" sz="3600" dirty="0"/>
              <a:t> and </a:t>
            </a:r>
            <a:r>
              <a:rPr lang="en-US" sz="3600" dirty="0" err="1"/>
              <a:t>HCl</a:t>
            </a:r>
            <a:r>
              <a:rPr lang="en-US" sz="3600" dirty="0"/>
              <a:t> collide, they form ammonium chloride (NH</a:t>
            </a:r>
            <a:r>
              <a:rPr lang="en-US" sz="3600" baseline="-25000" dirty="0"/>
              <a:t>4</a:t>
            </a:r>
            <a:r>
              <a:rPr lang="en-US" sz="3600" dirty="0"/>
              <a:t>Cl), which is a white </a:t>
            </a:r>
            <a:r>
              <a:rPr lang="en-US" sz="3600" dirty="0" smtClean="0"/>
              <a:t>precipitate. 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1AA4-0483-4D40-8198-D96E319E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08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045" y="543231"/>
            <a:ext cx="8834956" cy="6150193"/>
          </a:xfrm>
        </p:spPr>
        <p:txBody>
          <a:bodyPr/>
          <a:lstStyle/>
          <a:p>
            <a:r>
              <a:rPr lang="en-US" sz="2800" dirty="0"/>
              <a:t>Because the NH3 molecules are lighter (</a:t>
            </a:r>
            <a:r>
              <a:rPr lang="en-US" sz="2800" dirty="0" smtClean="0"/>
              <a:t>smaller molecular weight) </a:t>
            </a:r>
            <a:r>
              <a:rPr lang="en-US" sz="2800" dirty="0"/>
              <a:t>than the </a:t>
            </a:r>
            <a:r>
              <a:rPr lang="en-US" sz="2800" dirty="0" err="1"/>
              <a:t>HCl</a:t>
            </a:r>
            <a:r>
              <a:rPr lang="en-US" sz="2800" dirty="0"/>
              <a:t> </a:t>
            </a:r>
            <a:r>
              <a:rPr lang="en-US" sz="2800" dirty="0" smtClean="0"/>
              <a:t>molecules, the diffusion rate of it is higher than that of </a:t>
            </a:r>
            <a:r>
              <a:rPr lang="en-US" sz="2800" dirty="0" err="1" smtClean="0"/>
              <a:t>HCl</a:t>
            </a:r>
            <a:r>
              <a:rPr lang="en-US" sz="2800" dirty="0" smtClean="0"/>
              <a:t> (diffuse quicker).</a:t>
            </a:r>
          </a:p>
          <a:p>
            <a:r>
              <a:rPr lang="en-US" sz="2800" dirty="0" smtClean="0"/>
              <a:t>Each gas diffuse from a region of high to a region of low concentration of the same gas.</a:t>
            </a:r>
          </a:p>
          <a:p>
            <a:r>
              <a:rPr lang="en-US" sz="2800" dirty="0"/>
              <a:t>In the fume cupboard or fume hood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endParaRPr lang="en-US" sz="2800" dirty="0"/>
          </a:p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16EA0-DB3A-154A-8BFB-27667CAE1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74" y="3755061"/>
            <a:ext cx="4032525" cy="302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9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81" y="457200"/>
            <a:ext cx="9030917" cy="6400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2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DB8C-F8A4-EC4A-812D-8E138634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686800" cy="1371600"/>
          </a:xfrm>
        </p:spPr>
        <p:txBody>
          <a:bodyPr/>
          <a:lstStyle/>
          <a:p>
            <a:r>
              <a:rPr lang="en-US" sz="1800" dirty="0">
                <a:latin typeface="Arial Black" panose="020B0A04020102020204" pitchFamily="34" charset="0"/>
              </a:rPr>
              <a:t>2. </a:t>
            </a:r>
            <a:r>
              <a:rPr lang="en-US" sz="1800" dirty="0" smtClean="0">
                <a:latin typeface="Arial Black" panose="020B0A04020102020204" pitchFamily="34" charset="0"/>
              </a:rPr>
              <a:t>Diffusion of molecules through selective permeable membrane</a:t>
            </a:r>
            <a:br>
              <a:rPr lang="en-US" sz="1800" dirty="0" smtClean="0">
                <a:latin typeface="Arial Black" panose="020B0A04020102020204" pitchFamily="34" charset="0"/>
              </a:rPr>
            </a:b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(Dialysis bag)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0DFB-6931-A048-827C-630A72C56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8229600" cy="3827080"/>
          </a:xfrm>
        </p:spPr>
        <p:txBody>
          <a:bodyPr/>
          <a:lstStyle/>
          <a:p>
            <a:r>
              <a:rPr lang="en-US" sz="2800" u="sng" dirty="0"/>
              <a:t>Dialysis bag </a:t>
            </a:r>
            <a:r>
              <a:rPr lang="en-US" sz="2800" dirty="0"/>
              <a:t>will act as a </a:t>
            </a:r>
            <a:r>
              <a:rPr lang="en-US" sz="2800" dirty="0" smtClean="0"/>
              <a:t>selective </a:t>
            </a:r>
            <a:r>
              <a:rPr lang="en-US" sz="2800" dirty="0"/>
              <a:t>permeable membrane, meaning that it will only allow some molecules to pass </a:t>
            </a:r>
            <a:r>
              <a:rPr lang="en-US" sz="2800" dirty="0" smtClean="0"/>
              <a:t>through.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</a:p>
          <a:p>
            <a:r>
              <a:rPr lang="en-US" sz="2800" dirty="0" smtClean="0"/>
              <a:t>The dialysis bag differentiate between molecules according to their molecular size.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1AA4-0483-4D40-8198-D96E319E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04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63840"/>
            <a:ext cx="9144001" cy="568394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61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DB8C-F8A4-EC4A-812D-8E138634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16" y="419100"/>
            <a:ext cx="8229600" cy="628790"/>
          </a:xfrm>
        </p:spPr>
        <p:txBody>
          <a:bodyPr/>
          <a:lstStyle/>
          <a:p>
            <a:r>
              <a:rPr lang="en-US" dirty="0"/>
              <a:t>3. Osmotic behavior in plant cells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25" y="1047750"/>
            <a:ext cx="8756340" cy="56072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1AA4-0483-4D40-8198-D96E319E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31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29DD-57F8-DC48-8F47-A18308C4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0" y="663840"/>
            <a:ext cx="8588128" cy="61448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Why do plant cells not burst in a hypotonic solution?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DF29-5298-4B4B-B259-7BEA9CDE3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301" y="1192500"/>
            <a:ext cx="6935264" cy="2060450"/>
          </a:xfrm>
        </p:spPr>
        <p:txBody>
          <a:bodyPr/>
          <a:lstStyle/>
          <a:p>
            <a:r>
              <a:rPr lang="en-US" dirty="0"/>
              <a:t>Because they have a: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Cell wall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Large central </a:t>
            </a:r>
            <a:r>
              <a:rPr lang="en-US" dirty="0" err="1"/>
              <a:t>vacoule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70FC4-EE9B-C240-B275-153C93A9E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8310" y="4197100"/>
            <a:ext cx="8218670" cy="2387273"/>
          </a:xfrm>
        </p:spPr>
        <p:txBody>
          <a:bodyPr/>
          <a:lstStyle/>
          <a:p>
            <a:r>
              <a:rPr lang="en-US" dirty="0"/>
              <a:t>It is the plant cell without the cell wall</a:t>
            </a:r>
          </a:p>
          <a:p>
            <a:r>
              <a:rPr lang="en-US" dirty="0"/>
              <a:t>It expands in a hypotonic solution</a:t>
            </a:r>
          </a:p>
          <a:p>
            <a:r>
              <a:rPr lang="en-US" dirty="0"/>
              <a:t>It shrinks in a hypertonic 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7835C-B2AA-A842-AFB8-895D2E25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050A34-D4FC-1343-9FBA-66A91702C76B}"/>
              </a:ext>
            </a:extLst>
          </p:cNvPr>
          <p:cNvSpPr txBox="1">
            <a:spLocks/>
          </p:cNvSpPr>
          <p:nvPr/>
        </p:nvSpPr>
        <p:spPr bwMode="auto">
          <a:xfrm>
            <a:off x="440301" y="3076010"/>
            <a:ext cx="4038600" cy="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2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r>
              <a:rPr lang="en-US" sz="3200" dirty="0">
                <a:solidFill>
                  <a:srgbClr val="FF0000"/>
                </a:solidFill>
              </a:rPr>
              <a:t>What is a protoplast</a:t>
            </a:r>
            <a:r>
              <a:rPr lang="en-US" sz="3200" dirty="0" smtClean="0">
                <a:solidFill>
                  <a:srgbClr val="FF0000"/>
                </a:solidFill>
              </a:rPr>
              <a:t>?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60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71" y="1123949"/>
            <a:ext cx="8880629" cy="55694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75DB8C-F8A4-EC4A-812D-8E138634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492970" cy="667500"/>
          </a:xfrm>
        </p:spPr>
        <p:txBody>
          <a:bodyPr/>
          <a:lstStyle/>
          <a:p>
            <a:r>
              <a:rPr lang="en-US" sz="2800" dirty="0"/>
              <a:t>3. Osmotic behavior in </a:t>
            </a:r>
            <a:r>
              <a:rPr lang="en-US" sz="2800" dirty="0" smtClean="0"/>
              <a:t>Animals </a:t>
            </a:r>
            <a:r>
              <a:rPr lang="en-US" sz="2800" dirty="0"/>
              <a:t>cells</a:t>
            </a:r>
          </a:p>
        </p:txBody>
      </p:sp>
    </p:spTree>
    <p:extLst>
      <p:ext uri="{BB962C8B-B14F-4D97-AF65-F5344CB8AC3E}">
        <p14:creationId xmlns:p14="http://schemas.microsoft.com/office/powerpoint/2010/main" val="303678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8229600" cy="4343400"/>
          </a:xfrm>
        </p:spPr>
        <p:txBody>
          <a:bodyPr/>
          <a:lstStyle/>
          <a:p>
            <a:r>
              <a:rPr lang="en-US" dirty="0" smtClean="0"/>
              <a:t>Don’t inhale the </a:t>
            </a:r>
            <a:r>
              <a:rPr lang="en-US" dirty="0" err="1" smtClean="0"/>
              <a:t>HCl</a:t>
            </a:r>
            <a:r>
              <a:rPr lang="en-US" dirty="0" smtClean="0"/>
              <a:t> and NH</a:t>
            </a:r>
            <a:r>
              <a:rPr lang="en-US" baseline="-25000" dirty="0" smtClean="0"/>
              <a:t>4</a:t>
            </a:r>
            <a:r>
              <a:rPr lang="en-US" dirty="0" smtClean="0"/>
              <a:t>OH.</a:t>
            </a:r>
          </a:p>
          <a:p>
            <a:endParaRPr lang="en-US" dirty="0"/>
          </a:p>
          <a:p>
            <a:r>
              <a:rPr lang="en-US" dirty="0" smtClean="0"/>
              <a:t>Do the experiment of gas in gas under the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hood and dress the Gloves.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Avoid skin contact with </a:t>
            </a:r>
            <a:r>
              <a:rPr lang="en-US" dirty="0" err="1" smtClean="0"/>
              <a:t>HCl</a:t>
            </a:r>
            <a:r>
              <a:rPr lang="en-US" dirty="0" smtClean="0"/>
              <a:t>, it burns your skin.</a:t>
            </a:r>
            <a:endParaRPr lang="ar-J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A6983-B095-EC4A-A979-F21BF6548DC9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6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CUATIONS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4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Garamond"/>
        <a:ea typeface=""/>
        <a:cs typeface="Arial"/>
      </a:majorFont>
      <a:minorFont>
        <a:latin typeface="Gill Sans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12164</TotalTime>
  <Words>863</Words>
  <Application>Microsoft Office PowerPoint</Application>
  <PresentationFormat>On-screen Show (4:3)</PresentationFormat>
  <Paragraphs>132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等线</vt:lpstr>
      <vt:lpstr>Gill Sans</vt:lpstr>
      <vt:lpstr>宋体</vt:lpstr>
      <vt:lpstr>Arial</vt:lpstr>
      <vt:lpstr>Arial Black</vt:lpstr>
      <vt:lpstr>Edwardian Script ITC</vt:lpstr>
      <vt:lpstr>Garamond</vt:lpstr>
      <vt:lpstr>Segoe UI Black</vt:lpstr>
      <vt:lpstr>Segoe UI Light</vt:lpstr>
      <vt:lpstr>Times New Roman</vt:lpstr>
      <vt:lpstr>Wingdings</vt:lpstr>
      <vt:lpstr>Pixel</vt:lpstr>
      <vt:lpstr>Diffusion &amp; Osmosis</vt:lpstr>
      <vt:lpstr>What is homeostasis?</vt:lpstr>
      <vt:lpstr>Why is movement regulated?</vt:lpstr>
      <vt:lpstr>How can water pass through the membrane?</vt:lpstr>
      <vt:lpstr>How can molecules pass through the membrane?</vt:lpstr>
      <vt:lpstr>What is the difference between active and passive transport?</vt:lpstr>
      <vt:lpstr>What is diffusion?</vt:lpstr>
      <vt:lpstr>How can we demonstrate osmosis?</vt:lpstr>
      <vt:lpstr>What is meant by tonicity?</vt:lpstr>
      <vt:lpstr>What is meant by hypertonic?</vt:lpstr>
      <vt:lpstr>In a hypertonic solution…</vt:lpstr>
      <vt:lpstr>What is meant by isotonic?</vt:lpstr>
      <vt:lpstr>In an isotonic solution…</vt:lpstr>
      <vt:lpstr>What is meant by hypotonic?</vt:lpstr>
      <vt:lpstr>In a hypotonic solution…</vt:lpstr>
      <vt:lpstr>What factors influence the rate of diffusion?</vt:lpstr>
      <vt:lpstr>Practical part </vt:lpstr>
      <vt:lpstr>Diffusion of liquid in Liquid</vt:lpstr>
      <vt:lpstr>1. Diffusion of gases</vt:lpstr>
      <vt:lpstr>PowerPoint Presentation</vt:lpstr>
      <vt:lpstr>PowerPoint Presentation</vt:lpstr>
      <vt:lpstr>2. Diffusion of molecules through selective permeable membrane     (Dialysis bag)</vt:lpstr>
      <vt:lpstr>PowerPoint Presentation</vt:lpstr>
      <vt:lpstr>3. Osmotic behavior in plant cells</vt:lpstr>
      <vt:lpstr>Why do plant cells not burst in a hypotonic solution?</vt:lpstr>
      <vt:lpstr>3. Osmotic behavior in Animals cells</vt:lpstr>
      <vt:lpstr>CUATIONS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2368</cp:revision>
  <dcterms:created xsi:type="dcterms:W3CDTF">1601-01-01T00:00:00Z</dcterms:created>
  <dcterms:modified xsi:type="dcterms:W3CDTF">2019-03-10T00:12:28Z</dcterms:modified>
</cp:coreProperties>
</file>