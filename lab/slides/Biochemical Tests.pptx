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4" r:id="rId2"/>
  </p:sldMasterIdLst>
  <p:notesMasterIdLst>
    <p:notesMasterId r:id="rId28"/>
  </p:notesMasterIdLst>
  <p:sldIdLst>
    <p:sldId id="342" r:id="rId3"/>
    <p:sldId id="347" r:id="rId4"/>
    <p:sldId id="343" r:id="rId5"/>
    <p:sldId id="344" r:id="rId6"/>
    <p:sldId id="294" r:id="rId7"/>
    <p:sldId id="295" r:id="rId8"/>
    <p:sldId id="296" r:id="rId9"/>
    <p:sldId id="297" r:id="rId10"/>
    <p:sldId id="298" r:id="rId11"/>
    <p:sldId id="299" r:id="rId12"/>
    <p:sldId id="313" r:id="rId13"/>
    <p:sldId id="314" r:id="rId14"/>
    <p:sldId id="315" r:id="rId15"/>
    <p:sldId id="303" r:id="rId16"/>
    <p:sldId id="274" r:id="rId17"/>
    <p:sldId id="275" r:id="rId18"/>
    <p:sldId id="308" r:id="rId19"/>
    <p:sldId id="278" r:id="rId20"/>
    <p:sldId id="309" r:id="rId21"/>
    <p:sldId id="281" r:id="rId22"/>
    <p:sldId id="345" r:id="rId23"/>
    <p:sldId id="310" r:id="rId24"/>
    <p:sldId id="312" r:id="rId25"/>
    <p:sldId id="311" r:id="rId26"/>
    <p:sldId id="346" r:id="rId27"/>
  </p:sldIdLst>
  <p:sldSz cx="13177838" cy="6911975"/>
  <p:notesSz cx="12192000" cy="6858000"/>
  <p:defaultTex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903">
          <p15:clr>
            <a:srgbClr val="A4A3A4"/>
          </p15:clr>
        </p15:guide>
        <p15:guide id="2" pos="23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287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E0BACF-9BBD-48D7-999B-393A35553968}" v="14" dt="2023-05-08T08:48:55.6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24" autoAdjust="0"/>
    <p:restoredTop sz="96774" autoAdjust="0"/>
  </p:normalViewPr>
  <p:slideViewPr>
    <p:cSldViewPr>
      <p:cViewPr varScale="1">
        <p:scale>
          <a:sx n="43" d="100"/>
          <a:sy n="43" d="100"/>
        </p:scale>
        <p:origin x="998" y="34"/>
      </p:cViewPr>
      <p:guideLst>
        <p:guide orient="horz" pos="2903"/>
        <p:guide pos="2335"/>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wah Al Bataineh" userId="b400c1d921f65d71" providerId="LiveId" clId="{9AE0BACF-9BBD-48D7-999B-393A35553968}"/>
    <pc:docChg chg="custSel addSld delSld modSld">
      <pc:chgData name="Erwah Al Bataineh" userId="b400c1d921f65d71" providerId="LiveId" clId="{9AE0BACF-9BBD-48D7-999B-393A35553968}" dt="2023-05-08T08:48:55.662" v="226" actId="1076"/>
      <pc:docMkLst>
        <pc:docMk/>
      </pc:docMkLst>
      <pc:sldChg chg="delSp modSp mod">
        <pc:chgData name="Erwah Al Bataineh" userId="b400c1d921f65d71" providerId="LiveId" clId="{9AE0BACF-9BBD-48D7-999B-393A35553968}" dt="2023-05-08T08:48:55.662" v="226" actId="1076"/>
        <pc:sldMkLst>
          <pc:docMk/>
          <pc:sldMk cId="0" sldId="342"/>
        </pc:sldMkLst>
        <pc:spChg chg="del">
          <ac:chgData name="Erwah Al Bataineh" userId="b400c1d921f65d71" providerId="LiveId" clId="{9AE0BACF-9BBD-48D7-999B-393A35553968}" dt="2023-05-08T08:48:25.117" v="201" actId="478"/>
          <ac:spMkLst>
            <pc:docMk/>
            <pc:sldMk cId="0" sldId="342"/>
            <ac:spMk id="2" creationId="{2B8EC6BA-1838-6487-CC15-6AB3411A5BEE}"/>
          </ac:spMkLst>
        </pc:spChg>
        <pc:spChg chg="mod">
          <ac:chgData name="Erwah Al Bataineh" userId="b400c1d921f65d71" providerId="LiveId" clId="{9AE0BACF-9BBD-48D7-999B-393A35553968}" dt="2023-05-08T08:48:55.662" v="226" actId="1076"/>
          <ac:spMkLst>
            <pc:docMk/>
            <pc:sldMk cId="0" sldId="342"/>
            <ac:spMk id="6" creationId="{E2928688-C8B1-9124-150B-ED57F072F155}"/>
          </ac:spMkLst>
        </pc:spChg>
      </pc:sldChg>
      <pc:sldChg chg="delSp modSp new mod">
        <pc:chgData name="Erwah Al Bataineh" userId="b400c1d921f65d71" providerId="LiveId" clId="{9AE0BACF-9BBD-48D7-999B-393A35553968}" dt="2023-05-08T08:36:57.093" v="23" actId="122"/>
        <pc:sldMkLst>
          <pc:docMk/>
          <pc:sldMk cId="1874895958" sldId="346"/>
        </pc:sldMkLst>
        <pc:spChg chg="del">
          <ac:chgData name="Erwah Al Bataineh" userId="b400c1d921f65d71" providerId="LiveId" clId="{9AE0BACF-9BBD-48D7-999B-393A35553968}" dt="2023-05-08T08:36:30.252" v="8" actId="478"/>
          <ac:spMkLst>
            <pc:docMk/>
            <pc:sldMk cId="1874895958" sldId="346"/>
            <ac:spMk id="2" creationId="{C9BA4422-8165-3CE6-5282-B8EAE9CEB289}"/>
          </ac:spMkLst>
        </pc:spChg>
        <pc:spChg chg="mod">
          <ac:chgData name="Erwah Al Bataineh" userId="b400c1d921f65d71" providerId="LiveId" clId="{9AE0BACF-9BBD-48D7-999B-393A35553968}" dt="2023-05-08T08:36:57.093" v="23" actId="122"/>
          <ac:spMkLst>
            <pc:docMk/>
            <pc:sldMk cId="1874895958" sldId="346"/>
            <ac:spMk id="3" creationId="{522388EF-E60D-F21D-D28D-91FA9CAE7B9D}"/>
          </ac:spMkLst>
        </pc:spChg>
      </pc:sldChg>
      <pc:sldChg chg="delSp modSp new del mod">
        <pc:chgData name="Erwah Al Bataineh" userId="b400c1d921f65d71" providerId="LiveId" clId="{9AE0BACF-9BBD-48D7-999B-393A35553968}" dt="2023-05-08T08:39:02.977" v="88" actId="2696"/>
        <pc:sldMkLst>
          <pc:docMk/>
          <pc:sldMk cId="932017726" sldId="347"/>
        </pc:sldMkLst>
        <pc:spChg chg="del mod">
          <ac:chgData name="Erwah Al Bataineh" userId="b400c1d921f65d71" providerId="LiveId" clId="{9AE0BACF-9BBD-48D7-999B-393A35553968}" dt="2023-05-08T08:38:47.297" v="87" actId="21"/>
          <ac:spMkLst>
            <pc:docMk/>
            <pc:sldMk cId="932017726" sldId="347"/>
            <ac:spMk id="2" creationId="{0B934AE5-40D4-21F3-ED27-DBD967BEF41A}"/>
          </ac:spMkLst>
        </pc:spChg>
        <pc:spChg chg="mod">
          <ac:chgData name="Erwah Al Bataineh" userId="b400c1d921f65d71" providerId="LiveId" clId="{9AE0BACF-9BBD-48D7-999B-393A35553968}" dt="2023-05-08T08:37:30.114" v="49" actId="20577"/>
          <ac:spMkLst>
            <pc:docMk/>
            <pc:sldMk cId="932017726" sldId="347"/>
            <ac:spMk id="3" creationId="{7279C154-B5FB-35D9-C606-48C57B9EBDFB}"/>
          </ac:spMkLst>
        </pc:spChg>
      </pc:sldChg>
      <pc:sldChg chg="addSp delSp modSp mod">
        <pc:chgData name="Erwah Al Bataineh" userId="b400c1d921f65d71" providerId="LiveId" clId="{9AE0BACF-9BBD-48D7-999B-393A35553968}" dt="2023-05-08T08:47:55.057" v="200" actId="255"/>
        <pc:sldMkLst>
          <pc:docMk/>
          <pc:sldMk cId="2677965983" sldId="347"/>
        </pc:sldMkLst>
        <pc:spChg chg="mod">
          <ac:chgData name="Erwah Al Bataineh" userId="b400c1d921f65d71" providerId="LiveId" clId="{9AE0BACF-9BBD-48D7-999B-393A35553968}" dt="2023-05-08T08:47:55.057" v="200" actId="255"/>
          <ac:spMkLst>
            <pc:docMk/>
            <pc:sldMk cId="2677965983" sldId="347"/>
            <ac:spMk id="2" creationId="{00000000-0000-0000-0000-000000000000}"/>
          </ac:spMkLst>
        </pc:spChg>
        <pc:spChg chg="add del mod">
          <ac:chgData name="Erwah Al Bataineh" userId="b400c1d921f65d71" providerId="LiveId" clId="{9AE0BACF-9BBD-48D7-999B-393A35553968}" dt="2023-05-08T08:46:31.330" v="142" actId="478"/>
          <ac:spMkLst>
            <pc:docMk/>
            <pc:sldMk cId="2677965983" sldId="347"/>
            <ac:spMk id="6" creationId="{DA1BB671-9C67-F201-7F69-BEFCA8722C21}"/>
          </ac:spMkLst>
        </pc:spChg>
        <pc:graphicFrameChg chg="del mod">
          <ac:chgData name="Erwah Al Bataineh" userId="b400c1d921f65d71" providerId="LiveId" clId="{9AE0BACF-9BBD-48D7-999B-393A35553968}" dt="2023-05-08T08:47:06.770" v="147" actId="478"/>
          <ac:graphicFrameMkLst>
            <pc:docMk/>
            <pc:sldMk cId="2677965983" sldId="347"/>
            <ac:graphicFrameMk id="3" creationId="{0A1757AB-0164-D0A8-EC24-D19D0C464F07}"/>
          </ac:graphicFrameMkLst>
        </pc:graphicFrameChg>
        <pc:graphicFrameChg chg="del mod">
          <ac:chgData name="Erwah Al Bataineh" userId="b400c1d921f65d71" providerId="LiveId" clId="{9AE0BACF-9BBD-48D7-999B-393A35553968}" dt="2023-05-08T08:44:58.772" v="138" actId="478"/>
          <ac:graphicFrameMkLst>
            <pc:docMk/>
            <pc:sldMk cId="2677965983" sldId="347"/>
            <ac:graphicFrameMk id="4" creationId="{00000000-0000-0000-0000-000000000000}"/>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0A8416-9B4C-4506-9331-F70ABA277C66}" type="doc">
      <dgm:prSet loTypeId="urn:microsoft.com/office/officeart/2005/8/layout/vList2" loCatId="list" qsTypeId="urn:microsoft.com/office/officeart/2005/8/quickstyle/simple3" qsCatId="simple" csTypeId="urn:microsoft.com/office/officeart/2005/8/colors/colorful2" csCatId="colorful" phldr="1"/>
      <dgm:spPr/>
      <dgm:t>
        <a:bodyPr/>
        <a:lstStyle/>
        <a:p>
          <a:pPr rtl="1"/>
          <a:endParaRPr lang="ar-JO"/>
        </a:p>
      </dgm:t>
    </dgm:pt>
    <dgm:pt modelId="{864C406F-BD3A-4CB4-99BF-7A6B513CBBCE}">
      <dgm:prSet phldrT="[Text]" custT="1"/>
      <dgm:spPr/>
      <dgm:t>
        <a:bodyPr/>
        <a:lstStyle/>
        <a:p>
          <a:pPr algn="just" rtl="0"/>
          <a:r>
            <a:rPr lang="en-US" sz="2400" dirty="0"/>
            <a:t>Each bacteria has which is called biochemical fingerprints which is a properties controlled by the cells' enzymatic system, these includes bioenergetics, biosynthesis, and biodegradation. </a:t>
          </a:r>
          <a:endParaRPr lang="ar-JO" sz="2400" dirty="0"/>
        </a:p>
      </dgm:t>
    </dgm:pt>
    <dgm:pt modelId="{53247CED-83AC-412F-BEE4-01C8132704EE}" type="parTrans" cxnId="{D434F5C5-3873-4078-8D4A-CD1E3EEA63C2}">
      <dgm:prSet/>
      <dgm:spPr/>
      <dgm:t>
        <a:bodyPr/>
        <a:lstStyle/>
        <a:p>
          <a:pPr rtl="1"/>
          <a:endParaRPr lang="ar-JO"/>
        </a:p>
      </dgm:t>
    </dgm:pt>
    <dgm:pt modelId="{2B73D91B-61A7-4BAD-9CF8-089BADCAE111}" type="sibTrans" cxnId="{D434F5C5-3873-4078-8D4A-CD1E3EEA63C2}">
      <dgm:prSet/>
      <dgm:spPr/>
      <dgm:t>
        <a:bodyPr/>
        <a:lstStyle/>
        <a:p>
          <a:pPr rtl="1"/>
          <a:endParaRPr lang="ar-JO"/>
        </a:p>
      </dgm:t>
    </dgm:pt>
    <dgm:pt modelId="{4C14B986-2340-4B07-9D5A-116D71FF6BA3}" type="pres">
      <dgm:prSet presAssocID="{DB0A8416-9B4C-4506-9331-F70ABA277C66}" presName="linear" presStyleCnt="0">
        <dgm:presLayoutVars>
          <dgm:animLvl val="lvl"/>
          <dgm:resizeHandles val="exact"/>
        </dgm:presLayoutVars>
      </dgm:prSet>
      <dgm:spPr/>
    </dgm:pt>
    <dgm:pt modelId="{E459367E-498A-4E93-B225-DE902042089D}" type="pres">
      <dgm:prSet presAssocID="{864C406F-BD3A-4CB4-99BF-7A6B513CBBCE}" presName="parentText" presStyleLbl="node1" presStyleIdx="0" presStyleCnt="1" custLinFactNeighborY="90728">
        <dgm:presLayoutVars>
          <dgm:chMax val="0"/>
          <dgm:bulletEnabled val="1"/>
        </dgm:presLayoutVars>
      </dgm:prSet>
      <dgm:spPr/>
    </dgm:pt>
  </dgm:ptLst>
  <dgm:cxnLst>
    <dgm:cxn modelId="{D95F7773-DB53-42B3-A5CD-705AA9F0884A}" type="presOf" srcId="{DB0A8416-9B4C-4506-9331-F70ABA277C66}" destId="{4C14B986-2340-4B07-9D5A-116D71FF6BA3}" srcOrd="0" destOrd="0" presId="urn:microsoft.com/office/officeart/2005/8/layout/vList2"/>
    <dgm:cxn modelId="{D434F5C5-3873-4078-8D4A-CD1E3EEA63C2}" srcId="{DB0A8416-9B4C-4506-9331-F70ABA277C66}" destId="{864C406F-BD3A-4CB4-99BF-7A6B513CBBCE}" srcOrd="0" destOrd="0" parTransId="{53247CED-83AC-412F-BEE4-01C8132704EE}" sibTransId="{2B73D91B-61A7-4BAD-9CF8-089BADCAE111}"/>
    <dgm:cxn modelId="{3009E8E7-BF7F-4888-8D91-01A4F5C2808F}" type="presOf" srcId="{864C406F-BD3A-4CB4-99BF-7A6B513CBBCE}" destId="{E459367E-498A-4E93-B225-DE902042089D}" srcOrd="0" destOrd="0" presId="urn:microsoft.com/office/officeart/2005/8/layout/vList2"/>
    <dgm:cxn modelId="{A67E90D3-931F-410B-8E71-F5A0F9B6F763}" type="presParOf" srcId="{4C14B986-2340-4B07-9D5A-116D71FF6BA3}" destId="{E459367E-498A-4E93-B225-DE902042089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0A8416-9B4C-4506-9331-F70ABA277C66}" type="doc">
      <dgm:prSet loTypeId="urn:microsoft.com/office/officeart/2005/8/layout/vList2" loCatId="list" qsTypeId="urn:microsoft.com/office/officeart/2005/8/quickstyle/simple3" qsCatId="simple" csTypeId="urn:microsoft.com/office/officeart/2005/8/colors/colorful2" csCatId="colorful" phldr="1"/>
      <dgm:spPr/>
      <dgm:t>
        <a:bodyPr/>
        <a:lstStyle/>
        <a:p>
          <a:pPr rtl="1"/>
          <a:endParaRPr lang="ar-JO"/>
        </a:p>
      </dgm:t>
    </dgm:pt>
    <dgm:pt modelId="{4C14B986-2340-4B07-9D5A-116D71FF6BA3}" type="pres">
      <dgm:prSet presAssocID="{DB0A8416-9B4C-4506-9331-F70ABA277C66}" presName="linear" presStyleCnt="0">
        <dgm:presLayoutVars>
          <dgm:animLvl val="lvl"/>
          <dgm:resizeHandles val="exact"/>
        </dgm:presLayoutVars>
      </dgm:prSet>
      <dgm:spPr/>
    </dgm:pt>
  </dgm:ptLst>
  <dgm:cxnLst>
    <dgm:cxn modelId="{D95F7773-DB53-42B3-A5CD-705AA9F0884A}" type="presOf" srcId="{DB0A8416-9B4C-4506-9331-F70ABA277C66}" destId="{4C14B986-2340-4B07-9D5A-116D71FF6BA3}"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0A8416-9B4C-4506-9331-F70ABA277C66}" type="doc">
      <dgm:prSet loTypeId="urn:microsoft.com/office/officeart/2005/8/layout/vList2" loCatId="list" qsTypeId="urn:microsoft.com/office/officeart/2005/8/quickstyle/simple3" qsCatId="simple" csTypeId="urn:microsoft.com/office/officeart/2005/8/colors/colorful2" csCatId="colorful" phldr="1"/>
      <dgm:spPr/>
      <dgm:t>
        <a:bodyPr/>
        <a:lstStyle/>
        <a:p>
          <a:pPr rtl="1"/>
          <a:endParaRPr lang="ar-JO"/>
        </a:p>
      </dgm:t>
    </dgm:pt>
    <dgm:pt modelId="{864C406F-BD3A-4CB4-99BF-7A6B513CBBCE}">
      <dgm:prSet phldrT="[Text]" custT="1"/>
      <dgm:spPr/>
      <dgm:t>
        <a:bodyPr/>
        <a:lstStyle/>
        <a:p>
          <a:pPr algn="just" rtl="0"/>
          <a:r>
            <a:rPr lang="en-US" sz="2400" b="1" dirty="0"/>
            <a:t>Enzymes are </a:t>
          </a:r>
          <a:r>
            <a:rPr lang="en-US" sz="2400" b="1" dirty="0">
              <a:solidFill>
                <a:srgbClr val="0070C0"/>
              </a:solidFill>
            </a:rPr>
            <a:t>divided according to where it works  into (Intracellular and Extracellular).</a:t>
          </a:r>
          <a:r>
            <a:rPr lang="en-US" sz="2400" dirty="0">
              <a:solidFill>
                <a:srgbClr val="0070C0"/>
              </a:solidFill>
            </a:rPr>
            <a:t> </a:t>
          </a:r>
          <a:endParaRPr lang="ar-JO" sz="2400" dirty="0">
            <a:solidFill>
              <a:srgbClr val="0070C0"/>
            </a:solidFill>
          </a:endParaRPr>
        </a:p>
      </dgm:t>
    </dgm:pt>
    <dgm:pt modelId="{53247CED-83AC-412F-BEE4-01C8132704EE}" type="parTrans" cxnId="{D434F5C5-3873-4078-8D4A-CD1E3EEA63C2}">
      <dgm:prSet/>
      <dgm:spPr/>
      <dgm:t>
        <a:bodyPr/>
        <a:lstStyle/>
        <a:p>
          <a:pPr rtl="1"/>
          <a:endParaRPr lang="ar-JO"/>
        </a:p>
      </dgm:t>
    </dgm:pt>
    <dgm:pt modelId="{2B73D91B-61A7-4BAD-9CF8-089BADCAE111}" type="sibTrans" cxnId="{D434F5C5-3873-4078-8D4A-CD1E3EEA63C2}">
      <dgm:prSet/>
      <dgm:spPr/>
      <dgm:t>
        <a:bodyPr/>
        <a:lstStyle/>
        <a:p>
          <a:pPr rtl="1"/>
          <a:endParaRPr lang="ar-JO"/>
        </a:p>
      </dgm:t>
    </dgm:pt>
    <dgm:pt modelId="{4C14B986-2340-4B07-9D5A-116D71FF6BA3}" type="pres">
      <dgm:prSet presAssocID="{DB0A8416-9B4C-4506-9331-F70ABA277C66}" presName="linear" presStyleCnt="0">
        <dgm:presLayoutVars>
          <dgm:animLvl val="lvl"/>
          <dgm:resizeHandles val="exact"/>
        </dgm:presLayoutVars>
      </dgm:prSet>
      <dgm:spPr/>
    </dgm:pt>
    <dgm:pt modelId="{E459367E-498A-4E93-B225-DE902042089D}" type="pres">
      <dgm:prSet presAssocID="{864C406F-BD3A-4CB4-99BF-7A6B513CBBCE}" presName="parentText" presStyleLbl="node1" presStyleIdx="0" presStyleCnt="1" custLinFactNeighborX="-409" custLinFactNeighborY="30721">
        <dgm:presLayoutVars>
          <dgm:chMax val="0"/>
          <dgm:bulletEnabled val="1"/>
        </dgm:presLayoutVars>
      </dgm:prSet>
      <dgm:spPr/>
    </dgm:pt>
  </dgm:ptLst>
  <dgm:cxnLst>
    <dgm:cxn modelId="{D95F7773-DB53-42B3-A5CD-705AA9F0884A}" type="presOf" srcId="{DB0A8416-9B4C-4506-9331-F70ABA277C66}" destId="{4C14B986-2340-4B07-9D5A-116D71FF6BA3}" srcOrd="0" destOrd="0" presId="urn:microsoft.com/office/officeart/2005/8/layout/vList2"/>
    <dgm:cxn modelId="{D434F5C5-3873-4078-8D4A-CD1E3EEA63C2}" srcId="{DB0A8416-9B4C-4506-9331-F70ABA277C66}" destId="{864C406F-BD3A-4CB4-99BF-7A6B513CBBCE}" srcOrd="0" destOrd="0" parTransId="{53247CED-83AC-412F-BEE4-01C8132704EE}" sibTransId="{2B73D91B-61A7-4BAD-9CF8-089BADCAE111}"/>
    <dgm:cxn modelId="{3009E8E7-BF7F-4888-8D91-01A4F5C2808F}" type="presOf" srcId="{864C406F-BD3A-4CB4-99BF-7A6B513CBBCE}" destId="{E459367E-498A-4E93-B225-DE902042089D}" srcOrd="0" destOrd="0" presId="urn:microsoft.com/office/officeart/2005/8/layout/vList2"/>
    <dgm:cxn modelId="{A67E90D3-931F-410B-8E71-F5A0F9B6F763}" type="presParOf" srcId="{4C14B986-2340-4B07-9D5A-116D71FF6BA3}" destId="{E459367E-498A-4E93-B225-DE902042089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8A78F4-3443-4CCB-BA73-758E7684247A}" type="doc">
      <dgm:prSet loTypeId="urn:microsoft.com/office/officeart/2005/8/layout/vList2" loCatId="list" qsTypeId="urn:microsoft.com/office/officeart/2005/8/quickstyle/simple3" qsCatId="simple" csTypeId="urn:microsoft.com/office/officeart/2005/8/colors/colorful1#1" csCatId="colorful" phldr="1"/>
      <dgm:spPr/>
      <dgm:t>
        <a:bodyPr/>
        <a:lstStyle/>
        <a:p>
          <a:pPr rtl="1"/>
          <a:endParaRPr lang="ar-JO"/>
        </a:p>
      </dgm:t>
    </dgm:pt>
    <dgm:pt modelId="{488BF3DD-EA9C-4DB8-B380-7B18D9B5BB38}">
      <dgm:prSet phldrT="[Text]" custT="1"/>
      <dgm:spPr/>
      <dgm:t>
        <a:bodyPr anchor="t"/>
        <a:lstStyle/>
        <a:p>
          <a:pPr algn="just" rtl="0"/>
          <a:r>
            <a:rPr lang="en-US" sz="2800" b="1" dirty="0">
              <a:latin typeface="+mn-lt"/>
            </a:rPr>
            <a:t>Respiration (either Aerobic or Anaerobic): </a:t>
          </a:r>
          <a:r>
            <a:rPr lang="en-US" sz="2400" b="0" dirty="0">
              <a:latin typeface="+mn-lt"/>
            </a:rPr>
            <a:t>i</a:t>
          </a:r>
          <a:r>
            <a:rPr lang="en-US" sz="2400" dirty="0">
              <a:latin typeface="+mn-lt"/>
            </a:rPr>
            <a:t>n aerobic respiration use 0</a:t>
          </a:r>
          <a:r>
            <a:rPr lang="en-US" sz="2400" baseline="-25000" dirty="0">
              <a:latin typeface="+mn-lt"/>
            </a:rPr>
            <a:t>2</a:t>
          </a:r>
          <a:r>
            <a:rPr lang="en-US" sz="2400" dirty="0">
              <a:latin typeface="+mn-lt"/>
            </a:rPr>
            <a:t> as a final electron acceptor. In Anaerobic respiration  use inorganic ions as </a:t>
          </a:r>
          <a:r>
            <a:rPr lang="es-ES" sz="2400" dirty="0">
              <a:latin typeface="+mn-lt"/>
            </a:rPr>
            <a:t>a final electrón  Aceptor </a:t>
          </a:r>
          <a:r>
            <a:rPr lang="es-ES" sz="2400" dirty="0" err="1">
              <a:latin typeface="+mn-lt"/>
            </a:rPr>
            <a:t>e.g.</a:t>
          </a:r>
          <a:r>
            <a:rPr lang="es-ES" sz="2400" dirty="0">
              <a:latin typeface="+mn-lt"/>
            </a:rPr>
            <a:t> NO</a:t>
          </a:r>
          <a:r>
            <a:rPr lang="es-ES" sz="2400" baseline="30000" dirty="0">
              <a:latin typeface="+mn-lt"/>
            </a:rPr>
            <a:t>-3</a:t>
          </a:r>
          <a:r>
            <a:rPr lang="es-ES" sz="2400" dirty="0">
              <a:latin typeface="+mn-lt"/>
            </a:rPr>
            <a:t> </a:t>
          </a:r>
          <a:r>
            <a:rPr lang="en-US" sz="2400" dirty="0">
              <a:latin typeface="+mn-lt"/>
            </a:rPr>
            <a:t>or SO</a:t>
          </a:r>
          <a:r>
            <a:rPr lang="en-US" sz="2400" baseline="30000" dirty="0">
              <a:latin typeface="+mn-lt"/>
            </a:rPr>
            <a:t>-4</a:t>
          </a:r>
        </a:p>
        <a:p>
          <a:pPr algn="just" rtl="0"/>
          <a:endParaRPr lang="ar-JO" sz="2400" dirty="0">
            <a:latin typeface="+mn-lt"/>
          </a:endParaRPr>
        </a:p>
      </dgm:t>
    </dgm:pt>
    <dgm:pt modelId="{0B993A96-83C0-4822-807B-66376857AC2A}" type="parTrans" cxnId="{AEE7C9C2-36DE-4C31-A326-94633086C914}">
      <dgm:prSet/>
      <dgm:spPr/>
      <dgm:t>
        <a:bodyPr/>
        <a:lstStyle/>
        <a:p>
          <a:pPr algn="just" rtl="0"/>
          <a:endParaRPr lang="ar-JO"/>
        </a:p>
      </dgm:t>
    </dgm:pt>
    <dgm:pt modelId="{61E6101E-F351-45C6-8250-9ECA163B7CED}" type="sibTrans" cxnId="{AEE7C9C2-36DE-4C31-A326-94633086C914}">
      <dgm:prSet/>
      <dgm:spPr/>
      <dgm:t>
        <a:bodyPr/>
        <a:lstStyle/>
        <a:p>
          <a:pPr algn="just" rtl="0"/>
          <a:endParaRPr lang="ar-JO"/>
        </a:p>
      </dgm:t>
    </dgm:pt>
    <dgm:pt modelId="{8D5AE306-8CC7-479E-8DE3-DF8880F80C6A}">
      <dgm:prSet phldrT="[Text]" custT="1"/>
      <dgm:spPr/>
      <dgm:t>
        <a:bodyPr/>
        <a:lstStyle/>
        <a:p>
          <a:pPr algn="just" rtl="0"/>
          <a:r>
            <a:rPr lang="en-US" sz="2800" b="1" dirty="0"/>
            <a:t>Fermentation</a:t>
          </a:r>
          <a:r>
            <a:rPr lang="en-US" sz="2900" dirty="0"/>
            <a:t>: </a:t>
          </a:r>
          <a:r>
            <a:rPr lang="en-US" sz="2400" dirty="0"/>
            <a:t>in </a:t>
          </a:r>
          <a:r>
            <a:rPr lang="en-US" sz="2400" dirty="0" err="1"/>
            <a:t>biooxidations</a:t>
          </a:r>
          <a:r>
            <a:rPr lang="en-US" sz="2400" dirty="0"/>
            <a:t> use organic substances as a final electron Acceptor and need no oxygen.</a:t>
          </a:r>
          <a:endParaRPr lang="ar-JO" sz="2900" dirty="0"/>
        </a:p>
      </dgm:t>
    </dgm:pt>
    <dgm:pt modelId="{F31F0ECE-571D-4AA2-992E-2A52FBE3BACE}" type="parTrans" cxnId="{3F83EFD6-946C-43D2-8E4C-EB2C56587E49}">
      <dgm:prSet/>
      <dgm:spPr/>
      <dgm:t>
        <a:bodyPr/>
        <a:lstStyle/>
        <a:p>
          <a:pPr algn="just" rtl="0"/>
          <a:endParaRPr lang="ar-JO"/>
        </a:p>
      </dgm:t>
    </dgm:pt>
    <dgm:pt modelId="{C6AB09DA-C50E-43AF-A1C2-75B2AEF58708}" type="sibTrans" cxnId="{3F83EFD6-946C-43D2-8E4C-EB2C56587E49}">
      <dgm:prSet/>
      <dgm:spPr/>
      <dgm:t>
        <a:bodyPr/>
        <a:lstStyle/>
        <a:p>
          <a:pPr algn="just" rtl="0"/>
          <a:endParaRPr lang="ar-JO"/>
        </a:p>
      </dgm:t>
    </dgm:pt>
    <dgm:pt modelId="{BF75AE9A-F4DF-4D39-BB30-A6051B991476}" type="pres">
      <dgm:prSet presAssocID="{DC8A78F4-3443-4CCB-BA73-758E7684247A}" presName="linear" presStyleCnt="0">
        <dgm:presLayoutVars>
          <dgm:animLvl val="lvl"/>
          <dgm:resizeHandles val="exact"/>
        </dgm:presLayoutVars>
      </dgm:prSet>
      <dgm:spPr/>
    </dgm:pt>
    <dgm:pt modelId="{C172B0D8-B44C-463B-A9E2-789B766A3139}" type="pres">
      <dgm:prSet presAssocID="{488BF3DD-EA9C-4DB8-B380-7B18D9B5BB38}" presName="parentText" presStyleLbl="node1" presStyleIdx="0" presStyleCnt="2" custScaleY="245259" custLinFactY="-45727" custLinFactNeighborY="-100000">
        <dgm:presLayoutVars>
          <dgm:chMax val="0"/>
          <dgm:bulletEnabled val="1"/>
        </dgm:presLayoutVars>
      </dgm:prSet>
      <dgm:spPr/>
    </dgm:pt>
    <dgm:pt modelId="{ADED63E3-D403-4873-B812-555B2A20EA68}" type="pres">
      <dgm:prSet presAssocID="{61E6101E-F351-45C6-8250-9ECA163B7CED}" presName="spacer" presStyleCnt="0"/>
      <dgm:spPr/>
    </dgm:pt>
    <dgm:pt modelId="{6BAB121E-3826-4855-84BE-F3BD96E30E06}" type="pres">
      <dgm:prSet presAssocID="{8D5AE306-8CC7-479E-8DE3-DF8880F80C6A}" presName="parentText" presStyleLbl="node1" presStyleIdx="1" presStyleCnt="2" custScaleY="159155" custLinFactY="24642" custLinFactNeighborY="100000">
        <dgm:presLayoutVars>
          <dgm:chMax val="0"/>
          <dgm:bulletEnabled val="1"/>
        </dgm:presLayoutVars>
      </dgm:prSet>
      <dgm:spPr/>
    </dgm:pt>
  </dgm:ptLst>
  <dgm:cxnLst>
    <dgm:cxn modelId="{A88FA60F-8BC3-4FA8-9CB1-30BF255E5957}" type="presOf" srcId="{8D5AE306-8CC7-479E-8DE3-DF8880F80C6A}" destId="{6BAB121E-3826-4855-84BE-F3BD96E30E06}" srcOrd="0" destOrd="0" presId="urn:microsoft.com/office/officeart/2005/8/layout/vList2"/>
    <dgm:cxn modelId="{CEE7E137-DD5E-48D8-AEE1-9D8275D139B8}" type="presOf" srcId="{DC8A78F4-3443-4CCB-BA73-758E7684247A}" destId="{BF75AE9A-F4DF-4D39-BB30-A6051B991476}" srcOrd="0" destOrd="0" presId="urn:microsoft.com/office/officeart/2005/8/layout/vList2"/>
    <dgm:cxn modelId="{AEE7C9C2-36DE-4C31-A326-94633086C914}" srcId="{DC8A78F4-3443-4CCB-BA73-758E7684247A}" destId="{488BF3DD-EA9C-4DB8-B380-7B18D9B5BB38}" srcOrd="0" destOrd="0" parTransId="{0B993A96-83C0-4822-807B-66376857AC2A}" sibTransId="{61E6101E-F351-45C6-8250-9ECA163B7CED}"/>
    <dgm:cxn modelId="{ECBA9DD3-5C2E-4C60-B050-D52DC54A6858}" type="presOf" srcId="{488BF3DD-EA9C-4DB8-B380-7B18D9B5BB38}" destId="{C172B0D8-B44C-463B-A9E2-789B766A3139}" srcOrd="0" destOrd="0" presId="urn:microsoft.com/office/officeart/2005/8/layout/vList2"/>
    <dgm:cxn modelId="{3F83EFD6-946C-43D2-8E4C-EB2C56587E49}" srcId="{DC8A78F4-3443-4CCB-BA73-758E7684247A}" destId="{8D5AE306-8CC7-479E-8DE3-DF8880F80C6A}" srcOrd="1" destOrd="0" parTransId="{F31F0ECE-571D-4AA2-992E-2A52FBE3BACE}" sibTransId="{C6AB09DA-C50E-43AF-A1C2-75B2AEF58708}"/>
    <dgm:cxn modelId="{BB331CFA-AE31-4BB2-AA94-40CCDD30D5ED}" type="presParOf" srcId="{BF75AE9A-F4DF-4D39-BB30-A6051B991476}" destId="{C172B0D8-B44C-463B-A9E2-789B766A3139}" srcOrd="0" destOrd="0" presId="urn:microsoft.com/office/officeart/2005/8/layout/vList2"/>
    <dgm:cxn modelId="{BA1705D5-C728-40A8-BF74-C8BF6EC4AB64}" type="presParOf" srcId="{BF75AE9A-F4DF-4D39-BB30-A6051B991476}" destId="{ADED63E3-D403-4873-B812-555B2A20EA68}" srcOrd="1" destOrd="0" presId="urn:microsoft.com/office/officeart/2005/8/layout/vList2"/>
    <dgm:cxn modelId="{DCB22695-81B2-4FC3-9C57-812CDD52BEAB}" type="presParOf" srcId="{BF75AE9A-F4DF-4D39-BB30-A6051B991476}" destId="{6BAB121E-3826-4855-84BE-F3BD96E30E0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59367E-498A-4E93-B225-DE902042089D}">
      <dsp:nvSpPr>
        <dsp:cNvPr id="0" name=""/>
        <dsp:cNvSpPr/>
      </dsp:nvSpPr>
      <dsp:spPr>
        <a:xfrm>
          <a:off x="0" y="4412"/>
          <a:ext cx="11860213" cy="11980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n-US" sz="2400" kern="1200" dirty="0"/>
            <a:t>Each bacteria has which is called biochemical fingerprints which is a properties controlled by the cells' enzymatic system, these includes bioenergetics, biosynthesis, and biodegradation. </a:t>
          </a:r>
          <a:endParaRPr lang="ar-JO" sz="2400" kern="1200" dirty="0"/>
        </a:p>
      </dsp:txBody>
      <dsp:txXfrm>
        <a:off x="58485" y="62897"/>
        <a:ext cx="11743243" cy="10811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59367E-498A-4E93-B225-DE902042089D}">
      <dsp:nvSpPr>
        <dsp:cNvPr id="0" name=""/>
        <dsp:cNvSpPr/>
      </dsp:nvSpPr>
      <dsp:spPr>
        <a:xfrm>
          <a:off x="0" y="4412"/>
          <a:ext cx="11326812" cy="11980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n-US" sz="2400" b="1" kern="1200" dirty="0"/>
            <a:t>Enzymes are </a:t>
          </a:r>
          <a:r>
            <a:rPr lang="en-US" sz="2400" b="1" kern="1200" dirty="0">
              <a:solidFill>
                <a:srgbClr val="0070C0"/>
              </a:solidFill>
            </a:rPr>
            <a:t>divided according to where it works  into (Intracellular and Extracellular).</a:t>
          </a:r>
          <a:r>
            <a:rPr lang="en-US" sz="2400" kern="1200" dirty="0">
              <a:solidFill>
                <a:srgbClr val="0070C0"/>
              </a:solidFill>
            </a:rPr>
            <a:t> </a:t>
          </a:r>
          <a:endParaRPr lang="ar-JO" sz="2400" kern="1200" dirty="0">
            <a:solidFill>
              <a:srgbClr val="0070C0"/>
            </a:solidFill>
          </a:endParaRPr>
        </a:p>
      </dsp:txBody>
      <dsp:txXfrm>
        <a:off x="58485" y="62897"/>
        <a:ext cx="11209842" cy="10811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72B0D8-B44C-463B-A9E2-789B766A3139}">
      <dsp:nvSpPr>
        <dsp:cNvPr id="0" name=""/>
        <dsp:cNvSpPr/>
      </dsp:nvSpPr>
      <dsp:spPr>
        <a:xfrm>
          <a:off x="0" y="461337"/>
          <a:ext cx="12354309" cy="155950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t" anchorCtr="0">
          <a:noAutofit/>
        </a:bodyPr>
        <a:lstStyle/>
        <a:p>
          <a:pPr marL="0" lvl="0" indent="0" algn="just" defTabSz="1244600" rtl="0">
            <a:lnSpc>
              <a:spcPct val="90000"/>
            </a:lnSpc>
            <a:spcBef>
              <a:spcPct val="0"/>
            </a:spcBef>
            <a:spcAft>
              <a:spcPct val="35000"/>
            </a:spcAft>
            <a:buNone/>
          </a:pPr>
          <a:r>
            <a:rPr lang="en-US" sz="2800" b="1" kern="1200" dirty="0">
              <a:latin typeface="+mn-lt"/>
            </a:rPr>
            <a:t>Respiration (either Aerobic or Anaerobic): </a:t>
          </a:r>
          <a:r>
            <a:rPr lang="en-US" sz="2400" b="0" kern="1200" dirty="0">
              <a:latin typeface="+mn-lt"/>
            </a:rPr>
            <a:t>i</a:t>
          </a:r>
          <a:r>
            <a:rPr lang="en-US" sz="2400" kern="1200" dirty="0">
              <a:latin typeface="+mn-lt"/>
            </a:rPr>
            <a:t>n aerobic respiration use 0</a:t>
          </a:r>
          <a:r>
            <a:rPr lang="en-US" sz="2400" kern="1200" baseline="-25000" dirty="0">
              <a:latin typeface="+mn-lt"/>
            </a:rPr>
            <a:t>2</a:t>
          </a:r>
          <a:r>
            <a:rPr lang="en-US" sz="2400" kern="1200" dirty="0">
              <a:latin typeface="+mn-lt"/>
            </a:rPr>
            <a:t> as a final electron acceptor. In Anaerobic respiration  use inorganic ions as </a:t>
          </a:r>
          <a:r>
            <a:rPr lang="es-ES" sz="2400" kern="1200" dirty="0">
              <a:latin typeface="+mn-lt"/>
            </a:rPr>
            <a:t>a final electrón  Aceptor </a:t>
          </a:r>
          <a:r>
            <a:rPr lang="es-ES" sz="2400" kern="1200" dirty="0" err="1">
              <a:latin typeface="+mn-lt"/>
            </a:rPr>
            <a:t>e.g.</a:t>
          </a:r>
          <a:r>
            <a:rPr lang="es-ES" sz="2400" kern="1200" dirty="0">
              <a:latin typeface="+mn-lt"/>
            </a:rPr>
            <a:t> NO</a:t>
          </a:r>
          <a:r>
            <a:rPr lang="es-ES" sz="2400" kern="1200" baseline="30000" dirty="0">
              <a:latin typeface="+mn-lt"/>
            </a:rPr>
            <a:t>-3</a:t>
          </a:r>
          <a:r>
            <a:rPr lang="es-ES" sz="2400" kern="1200" dirty="0">
              <a:latin typeface="+mn-lt"/>
            </a:rPr>
            <a:t> </a:t>
          </a:r>
          <a:r>
            <a:rPr lang="en-US" sz="2400" kern="1200" dirty="0">
              <a:latin typeface="+mn-lt"/>
            </a:rPr>
            <a:t>or SO</a:t>
          </a:r>
          <a:r>
            <a:rPr lang="en-US" sz="2400" kern="1200" baseline="30000" dirty="0">
              <a:latin typeface="+mn-lt"/>
            </a:rPr>
            <a:t>-4</a:t>
          </a:r>
        </a:p>
        <a:p>
          <a:pPr marL="0" lvl="0" indent="0" algn="just" defTabSz="1244600" rtl="0">
            <a:lnSpc>
              <a:spcPct val="90000"/>
            </a:lnSpc>
            <a:spcBef>
              <a:spcPct val="0"/>
            </a:spcBef>
            <a:spcAft>
              <a:spcPct val="35000"/>
            </a:spcAft>
            <a:buNone/>
          </a:pPr>
          <a:endParaRPr lang="ar-JO" sz="2400" kern="1200" dirty="0">
            <a:latin typeface="+mn-lt"/>
          </a:endParaRPr>
        </a:p>
      </dsp:txBody>
      <dsp:txXfrm>
        <a:off x="76129" y="537466"/>
        <a:ext cx="12202051" cy="1407247"/>
      </dsp:txXfrm>
    </dsp:sp>
    <dsp:sp modelId="{6BAB121E-3826-4855-84BE-F3BD96E30E06}">
      <dsp:nvSpPr>
        <dsp:cNvPr id="0" name=""/>
        <dsp:cNvSpPr/>
      </dsp:nvSpPr>
      <dsp:spPr>
        <a:xfrm>
          <a:off x="0" y="2496600"/>
          <a:ext cx="12354309" cy="1012004"/>
        </a:xfrm>
        <a:prstGeom prst="round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n-US" sz="2800" b="1" kern="1200" dirty="0"/>
            <a:t>Fermentation</a:t>
          </a:r>
          <a:r>
            <a:rPr lang="en-US" sz="2900" kern="1200" dirty="0"/>
            <a:t>: </a:t>
          </a:r>
          <a:r>
            <a:rPr lang="en-US" sz="2400" kern="1200" dirty="0"/>
            <a:t>in </a:t>
          </a:r>
          <a:r>
            <a:rPr lang="en-US" sz="2400" kern="1200" dirty="0" err="1"/>
            <a:t>biooxidations</a:t>
          </a:r>
          <a:r>
            <a:rPr lang="en-US" sz="2400" kern="1200" dirty="0"/>
            <a:t> use organic substances as a final electron Acceptor and need no oxygen.</a:t>
          </a:r>
          <a:endParaRPr lang="ar-JO" sz="2900" kern="1200" dirty="0"/>
        </a:p>
      </dsp:txBody>
      <dsp:txXfrm>
        <a:off x="49402" y="2546002"/>
        <a:ext cx="12255505" cy="9132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6T13:05:08.851"/>
    </inkml:context>
    <inkml:brush xml:id="br0">
      <inkml:brushProperty name="width" value="0.05" units="cm"/>
      <inkml:brushProperty name="height" value="0.05" units="cm"/>
      <inkml:brushProperty name="color" value="#E71224"/>
    </inkml:brush>
  </inkml:definitions>
  <inkml:trace contextRef="#ctx0" brushRef="#br0">507 1632 24575,'-2'-2'0,"0"-1"0,0 1 0,0-1 0,1 1 0,-1-1 0,1 0 0,0 1 0,-1-1 0,2 0 0,-2-5 0,-2-5 0,-134-395 0,100 299 0,-38-106 0,49 144 0,-23-93 0,-1-76 0,40 185 0,-46-145 40,29 113-1445,18 51-5421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6T13:05:13.332"/>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908800" y="0"/>
            <a:ext cx="5283200" cy="342900"/>
          </a:xfrm>
          <a:prstGeom prst="rect">
            <a:avLst/>
          </a:prstGeom>
        </p:spPr>
        <p:txBody>
          <a:bodyPr vert="horz" lIns="91440" tIns="45720" rIns="91440" bIns="45720" rtlCol="1"/>
          <a:lstStyle>
            <a:lvl1pPr algn="r">
              <a:defRPr sz="1200"/>
            </a:lvl1pPr>
          </a:lstStyle>
          <a:p>
            <a:endParaRPr lang="ar-JO"/>
          </a:p>
        </p:txBody>
      </p:sp>
      <p:sp>
        <p:nvSpPr>
          <p:cNvPr id="3" name="Date Placeholder 2"/>
          <p:cNvSpPr>
            <a:spLocks noGrp="1"/>
          </p:cNvSpPr>
          <p:nvPr>
            <p:ph type="dt" idx="1"/>
          </p:nvPr>
        </p:nvSpPr>
        <p:spPr>
          <a:xfrm>
            <a:off x="3175" y="0"/>
            <a:ext cx="5283200" cy="342900"/>
          </a:xfrm>
          <a:prstGeom prst="rect">
            <a:avLst/>
          </a:prstGeom>
        </p:spPr>
        <p:txBody>
          <a:bodyPr vert="horz" lIns="91440" tIns="45720" rIns="91440" bIns="45720" rtlCol="1"/>
          <a:lstStyle>
            <a:lvl1pPr algn="l">
              <a:defRPr sz="1200"/>
            </a:lvl1pPr>
          </a:lstStyle>
          <a:p>
            <a:fld id="{D6AED4A6-A393-41A2-BF1F-A9C75011B40B}" type="datetimeFigureOut">
              <a:rPr lang="ar-JO" smtClean="0"/>
              <a:pPr/>
              <a:t>18/10/1444</a:t>
            </a:fld>
            <a:endParaRPr lang="ar-JO"/>
          </a:p>
        </p:txBody>
      </p:sp>
      <p:sp>
        <p:nvSpPr>
          <p:cNvPr id="4" name="Slide Image Placeholder 3"/>
          <p:cNvSpPr>
            <a:spLocks noGrp="1" noRot="1" noChangeAspect="1"/>
          </p:cNvSpPr>
          <p:nvPr>
            <p:ph type="sldImg" idx="2"/>
          </p:nvPr>
        </p:nvSpPr>
        <p:spPr>
          <a:xfrm>
            <a:off x="3644900" y="514350"/>
            <a:ext cx="4902200" cy="2571750"/>
          </a:xfrm>
          <a:prstGeom prst="rect">
            <a:avLst/>
          </a:prstGeom>
          <a:noFill/>
          <a:ln w="12700">
            <a:solidFill>
              <a:prstClr val="black"/>
            </a:solidFill>
          </a:ln>
        </p:spPr>
        <p:txBody>
          <a:bodyPr vert="horz" lIns="91440" tIns="45720" rIns="91440" bIns="45720" rtlCol="1" anchor="ctr"/>
          <a:lstStyle/>
          <a:p>
            <a:endParaRPr lang="ar-JO"/>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6" name="Footer Placeholder 5"/>
          <p:cNvSpPr>
            <a:spLocks noGrp="1"/>
          </p:cNvSpPr>
          <p:nvPr>
            <p:ph type="ftr" sz="quarter" idx="4"/>
          </p:nvPr>
        </p:nvSpPr>
        <p:spPr>
          <a:xfrm>
            <a:off x="6908800" y="6513513"/>
            <a:ext cx="5283200" cy="342900"/>
          </a:xfrm>
          <a:prstGeom prst="rect">
            <a:avLst/>
          </a:prstGeom>
        </p:spPr>
        <p:txBody>
          <a:bodyPr vert="horz" lIns="91440" tIns="45720" rIns="91440" bIns="45720" rtlCol="1" anchor="b"/>
          <a:lstStyle>
            <a:lvl1pPr algn="r">
              <a:defRPr sz="1200"/>
            </a:lvl1pPr>
          </a:lstStyle>
          <a:p>
            <a:endParaRPr lang="ar-JO"/>
          </a:p>
        </p:txBody>
      </p:sp>
      <p:sp>
        <p:nvSpPr>
          <p:cNvPr id="7" name="Slide Number Placeholder 6"/>
          <p:cNvSpPr>
            <a:spLocks noGrp="1"/>
          </p:cNvSpPr>
          <p:nvPr>
            <p:ph type="sldNum" sz="quarter" idx="5"/>
          </p:nvPr>
        </p:nvSpPr>
        <p:spPr>
          <a:xfrm>
            <a:off x="3175" y="6513513"/>
            <a:ext cx="5283200" cy="342900"/>
          </a:xfrm>
          <a:prstGeom prst="rect">
            <a:avLst/>
          </a:prstGeom>
        </p:spPr>
        <p:txBody>
          <a:bodyPr vert="horz" lIns="91440" tIns="45720" rIns="91440" bIns="45720" rtlCol="1" anchor="b"/>
          <a:lstStyle>
            <a:lvl1pPr algn="l">
              <a:defRPr sz="1200"/>
            </a:lvl1pPr>
          </a:lstStyle>
          <a:p>
            <a:fld id="{C95D961F-DBF8-40EB-8499-1B0810634D66}" type="slidenum">
              <a:rPr lang="ar-JO" smtClean="0"/>
              <a:pPr/>
              <a:t>‹#›</a:t>
            </a:fld>
            <a:endParaRPr lang="ar-JO"/>
          </a:p>
        </p:txBody>
      </p:sp>
    </p:spTree>
  </p:cSld>
  <p:clrMap bg1="lt1" tx1="dk1" bg2="lt2" tx2="dk2" accent1="accent1" accent2="accent2" accent3="accent3" accent4="accent4" accent5="accent5" accent6="accent6" hlink="hlink" folHlink="folHlink"/>
  <p:notesStyle>
    <a:lvl1pPr marL="0" algn="r" defTabSz="964235" rtl="1" eaLnBrk="1" latinLnBrk="0" hangingPunct="1">
      <a:defRPr sz="1300" kern="1200">
        <a:solidFill>
          <a:schemeClr val="tx1"/>
        </a:solidFill>
        <a:latin typeface="+mn-lt"/>
        <a:ea typeface="+mn-ea"/>
        <a:cs typeface="+mn-cs"/>
      </a:defRPr>
    </a:lvl1pPr>
    <a:lvl2pPr marL="482117" algn="r" defTabSz="964235" rtl="1" eaLnBrk="1" latinLnBrk="0" hangingPunct="1">
      <a:defRPr sz="1300" kern="1200">
        <a:solidFill>
          <a:schemeClr val="tx1"/>
        </a:solidFill>
        <a:latin typeface="+mn-lt"/>
        <a:ea typeface="+mn-ea"/>
        <a:cs typeface="+mn-cs"/>
      </a:defRPr>
    </a:lvl2pPr>
    <a:lvl3pPr marL="964235" algn="r" defTabSz="964235" rtl="1" eaLnBrk="1" latinLnBrk="0" hangingPunct="1">
      <a:defRPr sz="1300" kern="1200">
        <a:solidFill>
          <a:schemeClr val="tx1"/>
        </a:solidFill>
        <a:latin typeface="+mn-lt"/>
        <a:ea typeface="+mn-ea"/>
        <a:cs typeface="+mn-cs"/>
      </a:defRPr>
    </a:lvl3pPr>
    <a:lvl4pPr marL="1446352" algn="r" defTabSz="964235" rtl="1" eaLnBrk="1" latinLnBrk="0" hangingPunct="1">
      <a:defRPr sz="1300" kern="1200">
        <a:solidFill>
          <a:schemeClr val="tx1"/>
        </a:solidFill>
        <a:latin typeface="+mn-lt"/>
        <a:ea typeface="+mn-ea"/>
        <a:cs typeface="+mn-cs"/>
      </a:defRPr>
    </a:lvl4pPr>
    <a:lvl5pPr marL="1928470" algn="r" defTabSz="964235" rtl="1" eaLnBrk="1" latinLnBrk="0" hangingPunct="1">
      <a:defRPr sz="1300" kern="1200">
        <a:solidFill>
          <a:schemeClr val="tx1"/>
        </a:solidFill>
        <a:latin typeface="+mn-lt"/>
        <a:ea typeface="+mn-ea"/>
        <a:cs typeface="+mn-cs"/>
      </a:defRPr>
    </a:lvl5pPr>
    <a:lvl6pPr marL="2410587" algn="r" defTabSz="964235" rtl="1" eaLnBrk="1" latinLnBrk="0" hangingPunct="1">
      <a:defRPr sz="1300" kern="1200">
        <a:solidFill>
          <a:schemeClr val="tx1"/>
        </a:solidFill>
        <a:latin typeface="+mn-lt"/>
        <a:ea typeface="+mn-ea"/>
        <a:cs typeface="+mn-cs"/>
      </a:defRPr>
    </a:lvl6pPr>
    <a:lvl7pPr marL="2892704" algn="r" defTabSz="964235" rtl="1" eaLnBrk="1" latinLnBrk="0" hangingPunct="1">
      <a:defRPr sz="1300" kern="1200">
        <a:solidFill>
          <a:schemeClr val="tx1"/>
        </a:solidFill>
        <a:latin typeface="+mn-lt"/>
        <a:ea typeface="+mn-ea"/>
        <a:cs typeface="+mn-cs"/>
      </a:defRPr>
    </a:lvl7pPr>
    <a:lvl8pPr marL="3374822" algn="r" defTabSz="964235" rtl="1" eaLnBrk="1" latinLnBrk="0" hangingPunct="1">
      <a:defRPr sz="1300" kern="1200">
        <a:solidFill>
          <a:schemeClr val="tx1"/>
        </a:solidFill>
        <a:latin typeface="+mn-lt"/>
        <a:ea typeface="+mn-ea"/>
        <a:cs typeface="+mn-cs"/>
      </a:defRPr>
    </a:lvl8pPr>
    <a:lvl9pPr marL="3856939" algn="r" defTabSz="964235" rtl="1"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A961DB1A-7588-81A1-2334-0CEF92CA50C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5DE32E56-9395-6B57-FADA-314D5E0731B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E" altLang="en-US"/>
          </a:p>
        </p:txBody>
      </p:sp>
      <p:sp>
        <p:nvSpPr>
          <p:cNvPr id="24580" name="Slide Number Placeholder 3">
            <a:extLst>
              <a:ext uri="{FF2B5EF4-FFF2-40B4-BE49-F238E27FC236}">
                <a16:creationId xmlns:a16="http://schemas.microsoft.com/office/drawing/2014/main" id="{6FAC72C4-4612-2A9B-0A91-B582E9BA741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7DFF36A-50C5-4C8E-B735-A14DDA231D69}"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44900" y="514350"/>
            <a:ext cx="4902200" cy="2571750"/>
          </a:xfrm>
        </p:spPr>
      </p:sp>
      <p:sp>
        <p:nvSpPr>
          <p:cNvPr id="3" name="Notes Placeholder 2"/>
          <p:cNvSpPr>
            <a:spLocks noGrp="1"/>
          </p:cNvSpPr>
          <p:nvPr>
            <p:ph type="body" idx="1"/>
          </p:nvPr>
        </p:nvSpPr>
        <p:spPr/>
        <p:txBody>
          <a:bodyPr>
            <a:normAutofit/>
          </a:bodyPr>
          <a:lstStyle/>
          <a:p>
            <a:endParaRPr lang="ar-JO" dirty="0"/>
          </a:p>
        </p:txBody>
      </p:sp>
      <p:sp>
        <p:nvSpPr>
          <p:cNvPr id="4" name="Slide Number Placeholder 3"/>
          <p:cNvSpPr>
            <a:spLocks noGrp="1"/>
          </p:cNvSpPr>
          <p:nvPr>
            <p:ph type="sldNum" sz="quarter" idx="10"/>
          </p:nvPr>
        </p:nvSpPr>
        <p:spPr/>
        <p:txBody>
          <a:bodyPr/>
          <a:lstStyle/>
          <a:p>
            <a:fld id="{08953C99-B366-445D-B991-B6BCC6CCF3F2}" type="slidenum">
              <a:rPr lang="ar-JO" smtClean="0"/>
              <a:pPr/>
              <a:t>6</a:t>
            </a:fld>
            <a:endParaRPr lang="ar-J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44900" y="514350"/>
            <a:ext cx="4902200" cy="2571750"/>
          </a:xfrm>
        </p:spPr>
      </p:sp>
      <p:sp>
        <p:nvSpPr>
          <p:cNvPr id="3" name="Notes Placeholder 2"/>
          <p:cNvSpPr>
            <a:spLocks noGrp="1"/>
          </p:cNvSpPr>
          <p:nvPr>
            <p:ph type="body" idx="1"/>
          </p:nvPr>
        </p:nvSpPr>
        <p:spPr/>
        <p:txBody>
          <a:bodyPr>
            <a:normAutofit/>
          </a:bodyPr>
          <a:lstStyle/>
          <a:p>
            <a:endParaRPr lang="ar-JO" dirty="0"/>
          </a:p>
        </p:txBody>
      </p:sp>
      <p:sp>
        <p:nvSpPr>
          <p:cNvPr id="4" name="Slide Number Placeholder 3"/>
          <p:cNvSpPr>
            <a:spLocks noGrp="1"/>
          </p:cNvSpPr>
          <p:nvPr>
            <p:ph type="sldNum" sz="quarter" idx="10"/>
          </p:nvPr>
        </p:nvSpPr>
        <p:spPr/>
        <p:txBody>
          <a:bodyPr/>
          <a:lstStyle/>
          <a:p>
            <a:fld id="{08953C99-B366-445D-B991-B6BCC6CCF3F2}" type="slidenum">
              <a:rPr lang="ar-JO" smtClean="0"/>
              <a:pPr/>
              <a:t>8</a:t>
            </a:fld>
            <a:endParaRPr lang="ar-J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88338" y="2142712"/>
            <a:ext cx="11201162" cy="707886"/>
          </a:xfrm>
          <a:prstGeom prst="rect">
            <a:avLst/>
          </a:prstGeom>
        </p:spPr>
        <p:txBody>
          <a:bodyPr/>
          <a:lstStyle>
            <a:lvl1pPr>
              <a:defRPr/>
            </a:lvl1pPr>
          </a:lstStyle>
          <a:p>
            <a:endParaRPr/>
          </a:p>
        </p:txBody>
      </p:sp>
      <p:sp>
        <p:nvSpPr>
          <p:cNvPr id="3" name="Holder 3"/>
          <p:cNvSpPr>
            <a:spLocks noGrp="1"/>
          </p:cNvSpPr>
          <p:nvPr>
            <p:ph type="subTitle" idx="4"/>
          </p:nvPr>
        </p:nvSpPr>
        <p:spPr>
          <a:xfrm>
            <a:off x="1976676" y="3870706"/>
            <a:ext cx="9224487" cy="523220"/>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r>
              <a:rPr lang="ar-JO"/>
              <a:t>Dr. MHedayatiCh GUMS</a:t>
            </a:r>
          </a:p>
        </p:txBody>
      </p:sp>
      <p:sp>
        <p:nvSpPr>
          <p:cNvPr id="5" name="Holder 5"/>
          <p:cNvSpPr>
            <a:spLocks noGrp="1"/>
          </p:cNvSpPr>
          <p:nvPr>
            <p:ph type="dt" sz="half" idx="11"/>
          </p:nvPr>
        </p:nvSpPr>
        <p:spPr/>
        <p:txBody>
          <a:bodyPr/>
          <a:lstStyle>
            <a:lvl1pPr>
              <a:defRPr/>
            </a:lvl1pPr>
          </a:lstStyle>
          <a:p>
            <a:pPr>
              <a:defRPr/>
            </a:pPr>
            <a:fld id="{9A9313AF-81C8-4741-A924-7D2EA74227E6}" type="datetimeFigureOut">
              <a:rPr lang="en-US"/>
              <a:pPr>
                <a:defRPr/>
              </a:pPr>
              <a:t>5/8/2023</a:t>
            </a:fld>
            <a:endParaRPr lang="en-US"/>
          </a:p>
        </p:txBody>
      </p:sp>
      <p:sp>
        <p:nvSpPr>
          <p:cNvPr id="6" name="Holder 6"/>
          <p:cNvSpPr>
            <a:spLocks noGrp="1"/>
          </p:cNvSpPr>
          <p:nvPr>
            <p:ph type="sldNum" sz="quarter" idx="12"/>
          </p:nvPr>
        </p:nvSpPr>
        <p:spPr/>
        <p:txBody>
          <a:bodyPr/>
          <a:lstStyle>
            <a:lvl1pPr>
              <a:defRPr/>
            </a:lvl1pPr>
          </a:lstStyle>
          <a:p>
            <a:pPr>
              <a:defRPr/>
            </a:pPr>
            <a:r>
              <a:rPr lang="ar-JO"/>
              <a:t>1</a:t>
            </a:r>
            <a:fld id="{F523B6F4-67FB-43B9-95B4-DFD08AE3F76E}" type="slidenum">
              <a:rPr lang="ar-JO"/>
              <a:pPr>
                <a:defRPr/>
              </a:pPr>
              <a:t>‹#›</a:t>
            </a:fld>
            <a:endParaRPr lang="ar-J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062469" y="44800"/>
            <a:ext cx="9052900" cy="477054"/>
          </a:xfrm>
        </p:spPr>
        <p:txBody>
          <a:bodyPr/>
          <a:lstStyle>
            <a:lvl1pPr>
              <a:defRPr sz="3100" b="0" i="0">
                <a:solidFill>
                  <a:srgbClr val="FF3300"/>
                </a:solidFill>
                <a:latin typeface="Calibri Light"/>
                <a:cs typeface="Calibri Light"/>
              </a:defRPr>
            </a:lvl1pPr>
          </a:lstStyle>
          <a:p>
            <a:endParaRPr/>
          </a:p>
        </p:txBody>
      </p:sp>
      <p:sp>
        <p:nvSpPr>
          <p:cNvPr id="3" name="Holder 3"/>
          <p:cNvSpPr>
            <a:spLocks noGrp="1"/>
          </p:cNvSpPr>
          <p:nvPr>
            <p:ph type="body" idx="1"/>
          </p:nvPr>
        </p:nvSpPr>
        <p:spPr/>
        <p:txBody>
          <a:bodyPr/>
          <a:lstStyle>
            <a:lvl1pPr>
              <a:defRPr b="0" i="0">
                <a:solidFill>
                  <a:schemeClr val="tx1"/>
                </a:solidFill>
              </a:defRPr>
            </a:lvl1pPr>
          </a:lstStyle>
          <a:p>
            <a:endParaRPr/>
          </a:p>
        </p:txBody>
      </p:sp>
      <p:sp>
        <p:nvSpPr>
          <p:cNvPr id="4" name="Holder 4"/>
          <p:cNvSpPr>
            <a:spLocks noGrp="1"/>
          </p:cNvSpPr>
          <p:nvPr>
            <p:ph type="ftr" sz="quarter" idx="10"/>
          </p:nvPr>
        </p:nvSpPr>
        <p:spPr/>
        <p:txBody>
          <a:bodyPr/>
          <a:lstStyle>
            <a:lvl1pPr>
              <a:defRPr/>
            </a:lvl1pPr>
          </a:lstStyle>
          <a:p>
            <a:pPr>
              <a:defRPr/>
            </a:pPr>
            <a:r>
              <a:rPr lang="ar-JO"/>
              <a:t>Dr. MHedayatiCh GUMS</a:t>
            </a:r>
          </a:p>
        </p:txBody>
      </p:sp>
      <p:sp>
        <p:nvSpPr>
          <p:cNvPr id="5" name="Holder 5"/>
          <p:cNvSpPr>
            <a:spLocks noGrp="1"/>
          </p:cNvSpPr>
          <p:nvPr>
            <p:ph type="dt" sz="half" idx="11"/>
          </p:nvPr>
        </p:nvSpPr>
        <p:spPr/>
        <p:txBody>
          <a:bodyPr/>
          <a:lstStyle>
            <a:lvl1pPr>
              <a:defRPr/>
            </a:lvl1pPr>
          </a:lstStyle>
          <a:p>
            <a:pPr>
              <a:defRPr/>
            </a:pPr>
            <a:fld id="{B2662F28-C57A-479D-B82A-033C7A16483E}" type="datetimeFigureOut">
              <a:rPr lang="en-US"/>
              <a:pPr>
                <a:defRPr/>
              </a:pPr>
              <a:t>5/8/2023</a:t>
            </a:fld>
            <a:endParaRPr lang="en-US"/>
          </a:p>
        </p:txBody>
      </p:sp>
      <p:sp>
        <p:nvSpPr>
          <p:cNvPr id="6" name="Holder 6"/>
          <p:cNvSpPr>
            <a:spLocks noGrp="1"/>
          </p:cNvSpPr>
          <p:nvPr>
            <p:ph type="sldNum" sz="quarter" idx="12"/>
          </p:nvPr>
        </p:nvSpPr>
        <p:spPr/>
        <p:txBody>
          <a:bodyPr/>
          <a:lstStyle>
            <a:lvl1pPr>
              <a:defRPr/>
            </a:lvl1pPr>
          </a:lstStyle>
          <a:p>
            <a:pPr>
              <a:defRPr/>
            </a:pPr>
            <a:r>
              <a:rPr lang="ar-JO"/>
              <a:t>1</a:t>
            </a:r>
            <a:fld id="{CF22CF0D-8307-4CDD-867F-465FF0D88259}" type="slidenum">
              <a:rPr lang="ar-JO"/>
              <a:pPr>
                <a:defRPr/>
              </a:pPr>
              <a:t>‹#›</a:t>
            </a:fld>
            <a:endParaRPr lang="ar-J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062469" y="44800"/>
            <a:ext cx="9052900" cy="477054"/>
          </a:xfrm>
        </p:spPr>
        <p:txBody>
          <a:bodyPr/>
          <a:lstStyle>
            <a:lvl1pPr>
              <a:defRPr sz="3100" b="0" i="0">
                <a:solidFill>
                  <a:srgbClr val="FF3300"/>
                </a:solidFill>
                <a:latin typeface="Calibri Light"/>
                <a:cs typeface="Calibri Light"/>
              </a:defRPr>
            </a:lvl1pPr>
          </a:lstStyle>
          <a:p>
            <a:endParaRPr/>
          </a:p>
        </p:txBody>
      </p:sp>
      <p:sp>
        <p:nvSpPr>
          <p:cNvPr id="3" name="Holder 3"/>
          <p:cNvSpPr>
            <a:spLocks noGrp="1"/>
          </p:cNvSpPr>
          <p:nvPr>
            <p:ph sz="half" idx="2"/>
          </p:nvPr>
        </p:nvSpPr>
        <p:spPr>
          <a:xfrm>
            <a:off x="658892" y="1589754"/>
            <a:ext cx="5732360" cy="523220"/>
          </a:xfrm>
          <a:prstGeom prst="rect">
            <a:avLst/>
          </a:prstGeom>
        </p:spPr>
        <p:txBody>
          <a:bodyPr/>
          <a:lstStyle>
            <a:lvl1pPr>
              <a:defRPr/>
            </a:lvl1pPr>
          </a:lstStyle>
          <a:p>
            <a:endParaRPr/>
          </a:p>
        </p:txBody>
      </p:sp>
      <p:sp>
        <p:nvSpPr>
          <p:cNvPr id="4" name="Holder 4"/>
          <p:cNvSpPr>
            <a:spLocks noGrp="1"/>
          </p:cNvSpPr>
          <p:nvPr>
            <p:ph sz="half" idx="3"/>
          </p:nvPr>
        </p:nvSpPr>
        <p:spPr>
          <a:xfrm>
            <a:off x="6786586" y="1589754"/>
            <a:ext cx="5732360" cy="523220"/>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r>
              <a:rPr lang="ar-JO"/>
              <a:t>Dr. MHedayatiCh GUMS</a:t>
            </a:r>
          </a:p>
        </p:txBody>
      </p:sp>
      <p:sp>
        <p:nvSpPr>
          <p:cNvPr id="6" name="Holder 5"/>
          <p:cNvSpPr>
            <a:spLocks noGrp="1"/>
          </p:cNvSpPr>
          <p:nvPr>
            <p:ph type="dt" sz="half" idx="11"/>
          </p:nvPr>
        </p:nvSpPr>
        <p:spPr/>
        <p:txBody>
          <a:bodyPr/>
          <a:lstStyle>
            <a:lvl1pPr>
              <a:defRPr/>
            </a:lvl1pPr>
          </a:lstStyle>
          <a:p>
            <a:pPr>
              <a:defRPr/>
            </a:pPr>
            <a:fld id="{B4F7FB85-6D83-4E89-87EC-8E419EB7A4B5}" type="datetimeFigureOut">
              <a:rPr lang="en-US"/>
              <a:pPr>
                <a:defRPr/>
              </a:pPr>
              <a:t>5/8/2023</a:t>
            </a:fld>
            <a:endParaRPr lang="en-US"/>
          </a:p>
        </p:txBody>
      </p:sp>
      <p:sp>
        <p:nvSpPr>
          <p:cNvPr id="7" name="Holder 6"/>
          <p:cNvSpPr>
            <a:spLocks noGrp="1"/>
          </p:cNvSpPr>
          <p:nvPr>
            <p:ph type="sldNum" sz="quarter" idx="12"/>
          </p:nvPr>
        </p:nvSpPr>
        <p:spPr/>
        <p:txBody>
          <a:bodyPr/>
          <a:lstStyle>
            <a:lvl1pPr>
              <a:defRPr/>
            </a:lvl1pPr>
          </a:lstStyle>
          <a:p>
            <a:pPr>
              <a:defRPr/>
            </a:pPr>
            <a:r>
              <a:rPr lang="ar-JO"/>
              <a:t>1</a:t>
            </a:r>
            <a:fld id="{813897F7-9EB9-4738-8513-A97050FEE637}" type="slidenum">
              <a:rPr lang="ar-JO"/>
              <a:pPr>
                <a:defRPr/>
              </a:pPr>
              <a:t>‹#›</a:t>
            </a:fld>
            <a:endParaRPr lang="ar-J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062469" y="44800"/>
            <a:ext cx="9052900" cy="477054"/>
          </a:xfrm>
        </p:spPr>
        <p:txBody>
          <a:bodyPr/>
          <a:lstStyle>
            <a:lvl1pPr>
              <a:defRPr sz="3100" b="0" i="0">
                <a:solidFill>
                  <a:srgbClr val="FF3300"/>
                </a:solidFill>
                <a:latin typeface="Calibri Light"/>
                <a:cs typeface="Calibri Light"/>
              </a:defRPr>
            </a:lvl1pPr>
          </a:lstStyle>
          <a:p>
            <a:endParaRPr/>
          </a:p>
        </p:txBody>
      </p:sp>
      <p:sp>
        <p:nvSpPr>
          <p:cNvPr id="3" name="Holder 4"/>
          <p:cNvSpPr>
            <a:spLocks noGrp="1"/>
          </p:cNvSpPr>
          <p:nvPr>
            <p:ph type="ftr" sz="quarter" idx="10"/>
          </p:nvPr>
        </p:nvSpPr>
        <p:spPr/>
        <p:txBody>
          <a:bodyPr/>
          <a:lstStyle>
            <a:lvl1pPr>
              <a:defRPr/>
            </a:lvl1pPr>
          </a:lstStyle>
          <a:p>
            <a:pPr>
              <a:defRPr/>
            </a:pPr>
            <a:r>
              <a:rPr lang="ar-JO"/>
              <a:t>Dr. MHedayatiCh GUMS</a:t>
            </a:r>
          </a:p>
        </p:txBody>
      </p:sp>
      <p:sp>
        <p:nvSpPr>
          <p:cNvPr id="4" name="Holder 5"/>
          <p:cNvSpPr>
            <a:spLocks noGrp="1"/>
          </p:cNvSpPr>
          <p:nvPr>
            <p:ph type="dt" sz="half" idx="11"/>
          </p:nvPr>
        </p:nvSpPr>
        <p:spPr/>
        <p:txBody>
          <a:bodyPr/>
          <a:lstStyle>
            <a:lvl1pPr>
              <a:defRPr/>
            </a:lvl1pPr>
          </a:lstStyle>
          <a:p>
            <a:pPr>
              <a:defRPr/>
            </a:pPr>
            <a:fld id="{BFB932AB-3177-46AA-8645-8A2C22E308A9}" type="datetimeFigureOut">
              <a:rPr lang="en-US"/>
              <a:pPr>
                <a:defRPr/>
              </a:pPr>
              <a:t>5/8/2023</a:t>
            </a:fld>
            <a:endParaRPr lang="en-US"/>
          </a:p>
        </p:txBody>
      </p:sp>
      <p:sp>
        <p:nvSpPr>
          <p:cNvPr id="5" name="Holder 6"/>
          <p:cNvSpPr>
            <a:spLocks noGrp="1"/>
          </p:cNvSpPr>
          <p:nvPr>
            <p:ph type="sldNum" sz="quarter" idx="12"/>
          </p:nvPr>
        </p:nvSpPr>
        <p:spPr/>
        <p:txBody>
          <a:bodyPr/>
          <a:lstStyle>
            <a:lvl1pPr>
              <a:defRPr/>
            </a:lvl1pPr>
          </a:lstStyle>
          <a:p>
            <a:pPr>
              <a:defRPr/>
            </a:pPr>
            <a:r>
              <a:rPr lang="ar-JO"/>
              <a:t>1</a:t>
            </a:r>
            <a:fld id="{66874233-8C24-4708-BE6C-6481E662EE73}" type="slidenum">
              <a:rPr lang="ar-JO"/>
              <a:pPr>
                <a:defRPr/>
              </a:pPr>
              <a:t>‹#›</a:t>
            </a:fld>
            <a:endParaRPr lang="ar-J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r>
              <a:rPr lang="ar-JO"/>
              <a:t>Dr. MHedayatiCh GUMS</a:t>
            </a:r>
          </a:p>
        </p:txBody>
      </p:sp>
      <p:sp>
        <p:nvSpPr>
          <p:cNvPr id="3" name="Holder 5"/>
          <p:cNvSpPr>
            <a:spLocks noGrp="1"/>
          </p:cNvSpPr>
          <p:nvPr>
            <p:ph type="dt" sz="half" idx="11"/>
          </p:nvPr>
        </p:nvSpPr>
        <p:spPr/>
        <p:txBody>
          <a:bodyPr/>
          <a:lstStyle>
            <a:lvl1pPr>
              <a:defRPr/>
            </a:lvl1pPr>
          </a:lstStyle>
          <a:p>
            <a:pPr>
              <a:defRPr/>
            </a:pPr>
            <a:fld id="{498808FC-57FA-4491-AE89-54C0212E1C17}" type="datetimeFigureOut">
              <a:rPr lang="en-US"/>
              <a:pPr>
                <a:defRPr/>
              </a:pPr>
              <a:t>5/8/2023</a:t>
            </a:fld>
            <a:endParaRPr lang="en-US"/>
          </a:p>
        </p:txBody>
      </p:sp>
      <p:sp>
        <p:nvSpPr>
          <p:cNvPr id="4" name="Holder 6"/>
          <p:cNvSpPr>
            <a:spLocks noGrp="1"/>
          </p:cNvSpPr>
          <p:nvPr>
            <p:ph type="sldNum" sz="quarter" idx="12"/>
          </p:nvPr>
        </p:nvSpPr>
        <p:spPr/>
        <p:txBody>
          <a:bodyPr/>
          <a:lstStyle>
            <a:lvl1pPr>
              <a:defRPr/>
            </a:lvl1pPr>
          </a:lstStyle>
          <a:p>
            <a:pPr>
              <a:defRPr/>
            </a:pPr>
            <a:r>
              <a:rPr lang="ar-JO"/>
              <a:t>1</a:t>
            </a:r>
            <a:fld id="{78486C71-D782-4E14-ACC8-70A34B5FC532}" type="slidenum">
              <a:rPr lang="ar-JO"/>
              <a:pPr>
                <a:defRPr/>
              </a:pPr>
              <a:t>‹#›</a:t>
            </a:fld>
            <a:endParaRPr lang="ar-J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7EA869-F7E0-E0AE-08F5-16F4EC1A2524}"/>
              </a:ext>
            </a:extLst>
          </p:cNvPr>
          <p:cNvSpPr/>
          <p:nvPr userDrawn="1"/>
        </p:nvSpPr>
        <p:spPr bwMode="blackWhite">
          <a:xfrm>
            <a:off x="274539" y="265599"/>
            <a:ext cx="12628761" cy="6380777"/>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61"/>
          </a:p>
        </p:txBody>
      </p:sp>
      <p:pic>
        <p:nvPicPr>
          <p:cNvPr id="5" name="Picture 9">
            <a:extLst>
              <a:ext uri="{FF2B5EF4-FFF2-40B4-BE49-F238E27FC236}">
                <a16:creationId xmlns:a16="http://schemas.microsoft.com/office/drawing/2014/main" id="{C6EDE377-AB17-CEC1-02EC-5825786C144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648" r="13927" b="71478"/>
          <a:stretch>
            <a:fillRect/>
          </a:stretch>
        </p:blipFill>
        <p:spPr bwMode="auto">
          <a:xfrm>
            <a:off x="370628" y="4582383"/>
            <a:ext cx="12663079" cy="2041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647230" y="1343995"/>
            <a:ext cx="9883379" cy="1804793"/>
          </a:xfrm>
        </p:spPr>
        <p:txBody>
          <a:bodyPr tIns="0" bIns="0" rtlCol="0" anchor="t">
            <a:noAutofit/>
          </a:bodyPr>
          <a:lstStyle>
            <a:lvl1pPr>
              <a:lnSpc>
                <a:spcPct val="100000"/>
              </a:lnSpc>
              <a:defRPr lang="en-US" sz="3628" dirty="0">
                <a:solidFill>
                  <a:schemeClr val="bg1"/>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1647230" y="3152629"/>
            <a:ext cx="9883379" cy="1297809"/>
          </a:xfrm>
        </p:spPr>
        <p:txBody>
          <a:bodyPr>
            <a:noAutofit/>
          </a:bodyPr>
          <a:lstStyle>
            <a:lvl1pPr marL="0" indent="0">
              <a:buNone/>
              <a:defRPr lang="en-US" sz="1814" dirty="0">
                <a:solidFill>
                  <a:schemeClr val="bg1"/>
                </a:solidFill>
                <a:latin typeface="+mj-lt"/>
              </a:defRPr>
            </a:lvl1pPr>
          </a:lstStyle>
          <a:p>
            <a:pPr lvl="0"/>
            <a:r>
              <a:rPr lang="en-US"/>
              <a:t>Click to edit Master subtitle style</a:t>
            </a:r>
            <a:endParaRPr lang="en-US" dirty="0"/>
          </a:p>
        </p:txBody>
      </p:sp>
    </p:spTree>
    <p:extLst>
      <p:ext uri="{BB962C8B-B14F-4D97-AF65-F5344CB8AC3E}">
        <p14:creationId xmlns:p14="http://schemas.microsoft.com/office/powerpoint/2010/main" val="286444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014BEBD5-9D75-7CE7-3DBB-315C30A0A7D8}"/>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90554" y="4839983"/>
            <a:ext cx="12596732" cy="1799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53308" y="1616837"/>
            <a:ext cx="11871220" cy="4608741"/>
          </a:xfrm>
        </p:spPr>
        <p:txBody>
          <a:bodyPr/>
          <a:lstStyle>
            <a:lvl1pPr marL="0" indent="0">
              <a:spcAft>
                <a:spcPts val="907"/>
              </a:spcAft>
              <a:buSzPct val="25000"/>
              <a:buFont typeface="Segoe UI" panose="020B0502040204020203" pitchFamily="34" charset="0"/>
              <a:buChar char=" "/>
              <a:defRPr sz="907"/>
            </a:lvl1pPr>
            <a:lvl2pPr marL="303609" indent="6001">
              <a:spcBef>
                <a:spcPts val="454"/>
              </a:spcBef>
              <a:spcAft>
                <a:spcPts val="907"/>
              </a:spcAft>
              <a:buFont typeface="Segoe UI" panose="020B0502040204020203" pitchFamily="34" charset="0"/>
              <a:buChar char=" "/>
              <a:defRPr sz="907"/>
            </a:lvl2pPr>
            <a:lvl3pPr marL="864022" indent="-172804">
              <a:buFont typeface="Segoe UI" panose="020B0502040204020203" pitchFamily="34" charset="0"/>
              <a:buChar char=" "/>
              <a:defRPr/>
            </a:lvl3pPr>
            <a:lvl4pPr marL="1209631" indent="-172804">
              <a:buFont typeface="Segoe UI" panose="020B0502040204020203" pitchFamily="34" charset="0"/>
              <a:buChar char=" "/>
              <a:defRPr/>
            </a:lvl4pPr>
            <a:lvl5pPr marL="1555240" indent="-172804">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5937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23C4B306-3686-680E-D682-9797F25EE508}"/>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90554" y="4839983"/>
            <a:ext cx="12596732" cy="1799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53308" y="1616837"/>
            <a:ext cx="11871220" cy="4608741"/>
          </a:xfrm>
        </p:spPr>
        <p:txBody>
          <a:bodyPr/>
          <a:lstStyle>
            <a:lvl1pPr marL="0" indent="0">
              <a:spcAft>
                <a:spcPts val="907"/>
              </a:spcAft>
              <a:buSzPct val="25000"/>
              <a:buFont typeface="Segoe UI" panose="020B0502040204020203" pitchFamily="34" charset="0"/>
              <a:buChar char=" "/>
              <a:defRPr sz="907"/>
            </a:lvl1pPr>
            <a:lvl2pPr marL="303609" indent="6001">
              <a:spcBef>
                <a:spcPts val="454"/>
              </a:spcBef>
              <a:spcAft>
                <a:spcPts val="907"/>
              </a:spcAft>
              <a:buFont typeface="Segoe UI" panose="020B0502040204020203" pitchFamily="34" charset="0"/>
              <a:buChar char=" "/>
              <a:defRPr sz="907"/>
            </a:lvl2pPr>
            <a:lvl3pPr marL="864022" indent="-172804">
              <a:buFont typeface="Segoe UI" panose="020B0502040204020203" pitchFamily="34" charset="0"/>
              <a:buChar char=" "/>
              <a:defRPr/>
            </a:lvl3pPr>
            <a:lvl4pPr marL="1209631" indent="-172804">
              <a:buFont typeface="Segoe UI" panose="020B0502040204020203" pitchFamily="34" charset="0"/>
              <a:buChar char=" "/>
              <a:defRPr/>
            </a:lvl4pPr>
            <a:lvl5pPr marL="1555240" indent="-172804">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647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052275D3-535F-02EA-7AE5-95AB55F3861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90554" y="4839983"/>
            <a:ext cx="12596732" cy="1799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1179070" y="1518929"/>
            <a:ext cx="3450513" cy="4706650"/>
          </a:xfrm>
        </p:spPr>
        <p:txBody>
          <a:bodyPr anchor="ctr"/>
          <a:lstStyle>
            <a:lvl1pPr marL="0" indent="0" algn="l">
              <a:lnSpc>
                <a:spcPct val="150000"/>
              </a:lnSpc>
              <a:spcAft>
                <a:spcPts val="907"/>
              </a:spcAft>
              <a:buSzPct val="25000"/>
              <a:buFont typeface="Segoe UI" panose="020B0502040204020203" pitchFamily="34" charset="0"/>
              <a:buChar char=" "/>
              <a:defRPr sz="907"/>
            </a:lvl1pPr>
            <a:lvl2pPr marL="303609" indent="6001" algn="l">
              <a:spcBef>
                <a:spcPts val="454"/>
              </a:spcBef>
              <a:spcAft>
                <a:spcPts val="907"/>
              </a:spcAft>
              <a:buFont typeface="Segoe UI" panose="020B0502040204020203" pitchFamily="34" charset="0"/>
              <a:buChar char=" "/>
              <a:defRPr sz="907"/>
            </a:lvl2pPr>
            <a:lvl3pPr marL="864022" indent="-172804">
              <a:buFont typeface="Segoe UI" panose="020B0502040204020203" pitchFamily="34" charset="0"/>
              <a:buChar char=" "/>
              <a:defRPr/>
            </a:lvl3pPr>
            <a:lvl4pPr marL="1209631" indent="-172804">
              <a:buFont typeface="Segoe UI" panose="020B0502040204020203" pitchFamily="34" charset="0"/>
              <a:buChar char=" "/>
              <a:defRPr/>
            </a:lvl4pPr>
            <a:lvl5pPr marL="1555240" indent="-172804">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p:cNvSpPr>
            <a:spLocks noGrp="1"/>
          </p:cNvSpPr>
          <p:nvPr>
            <p:ph idx="13"/>
          </p:nvPr>
        </p:nvSpPr>
        <p:spPr>
          <a:xfrm>
            <a:off x="4750960" y="1518929"/>
            <a:ext cx="7721557" cy="4706650"/>
          </a:xfrm>
        </p:spPr>
        <p:txBody>
          <a:bodyPr anchor="ctr"/>
          <a:lstStyle>
            <a:lvl1pPr marL="0" indent="0">
              <a:spcAft>
                <a:spcPts val="907"/>
              </a:spcAft>
              <a:buSzPct val="25000"/>
              <a:buFont typeface="Segoe UI" panose="020B0502040204020203" pitchFamily="34" charset="0"/>
              <a:buChar char=" "/>
              <a:defRPr sz="907"/>
            </a:lvl1pPr>
            <a:lvl2pPr marL="303609" indent="6001">
              <a:spcBef>
                <a:spcPts val="454"/>
              </a:spcBef>
              <a:spcAft>
                <a:spcPts val="907"/>
              </a:spcAft>
              <a:buFont typeface="Segoe UI" panose="020B0502040204020203" pitchFamily="34" charset="0"/>
              <a:buChar char=" "/>
              <a:defRPr sz="907"/>
            </a:lvl2pPr>
            <a:lvl3pPr marL="864022" indent="-172804">
              <a:buFont typeface="Segoe UI" panose="020B0502040204020203" pitchFamily="34" charset="0"/>
              <a:buChar char=" "/>
              <a:defRPr/>
            </a:lvl3pPr>
            <a:lvl4pPr marL="1209631" indent="-172804">
              <a:buFont typeface="Segoe UI" panose="020B0502040204020203" pitchFamily="34" charset="0"/>
              <a:buChar char=" "/>
              <a:defRPr/>
            </a:lvl4pPr>
            <a:lvl5pPr marL="1555240" indent="-172804">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31057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73C374-3FCE-CF1E-626C-D3A1C891F0CF}"/>
              </a:ext>
            </a:extLst>
          </p:cNvPr>
          <p:cNvSpPr/>
          <p:nvPr userDrawn="1"/>
        </p:nvSpPr>
        <p:spPr>
          <a:xfrm>
            <a:off x="274539" y="265599"/>
            <a:ext cx="12628761" cy="638077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61"/>
          </a:p>
        </p:txBody>
      </p:sp>
      <p:sp>
        <p:nvSpPr>
          <p:cNvPr id="4" name="Rectangle 3">
            <a:extLst>
              <a:ext uri="{FF2B5EF4-FFF2-40B4-BE49-F238E27FC236}">
                <a16:creationId xmlns:a16="http://schemas.microsoft.com/office/drawing/2014/main" id="{4551C902-09F1-1392-EF68-1FD57C8872DB}"/>
              </a:ext>
            </a:extLst>
          </p:cNvPr>
          <p:cNvSpPr/>
          <p:nvPr userDrawn="1"/>
        </p:nvSpPr>
        <p:spPr bwMode="blackWhite">
          <a:xfrm>
            <a:off x="274539" y="265599"/>
            <a:ext cx="12628761" cy="208799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61"/>
          </a:p>
        </p:txBody>
      </p:sp>
      <p:sp>
        <p:nvSpPr>
          <p:cNvPr id="2" name="Title 1"/>
          <p:cNvSpPr>
            <a:spLocks noGrp="1"/>
          </p:cNvSpPr>
          <p:nvPr>
            <p:ph type="title"/>
          </p:nvPr>
        </p:nvSpPr>
        <p:spPr>
          <a:xfrm>
            <a:off x="563352" y="1548282"/>
            <a:ext cx="7432301" cy="645118"/>
          </a:xfrm>
        </p:spPr>
        <p:txBody>
          <a:bodyPr>
            <a:normAutofit/>
          </a:bodyPr>
          <a:lstStyle>
            <a:lvl1pPr>
              <a:defRPr sz="2721">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83119" y="2580470"/>
            <a:ext cx="10209530" cy="4008946"/>
          </a:xfrm>
        </p:spPr>
        <p:txBody>
          <a:bodyPr/>
          <a:lstStyle>
            <a:lvl1pPr>
              <a:defRPr lang="en-US" sz="1814" smtClean="0">
                <a:solidFill>
                  <a:schemeClr val="tx1">
                    <a:lumMod val="75000"/>
                    <a:lumOff val="25000"/>
                  </a:schemeClr>
                </a:solidFill>
                <a:latin typeface="+mj-lt"/>
              </a:defRPr>
            </a:lvl1pPr>
            <a:lvl2pPr>
              <a:defRPr lang="en-US" sz="907" dirty="0" smtClean="0">
                <a:solidFill>
                  <a:schemeClr val="tx1">
                    <a:lumMod val="75000"/>
                    <a:lumOff val="25000"/>
                  </a:schemeClr>
                </a:solidFill>
              </a:defRPr>
            </a:lvl2pPr>
            <a:lvl3pPr>
              <a:defRPr lang="en-US" sz="907" dirty="0" smtClean="0">
                <a:solidFill>
                  <a:schemeClr val="tx1">
                    <a:lumMod val="75000"/>
                    <a:lumOff val="25000"/>
                  </a:schemeClr>
                </a:solidFill>
              </a:defRPr>
            </a:lvl3pPr>
            <a:lvl4pPr>
              <a:defRPr lang="en-US" sz="907" dirty="0" smtClean="0">
                <a:solidFill>
                  <a:schemeClr val="tx1">
                    <a:lumMod val="75000"/>
                    <a:lumOff val="25000"/>
                  </a:schemeClr>
                </a:solidFill>
              </a:defRPr>
            </a:lvl4pPr>
            <a:lvl5pPr>
              <a:defRPr lang="en-US" sz="907"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7244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F0351D-3898-9119-8009-7F0F0DE34018}"/>
              </a:ext>
            </a:extLst>
          </p:cNvPr>
          <p:cNvSpPr/>
          <p:nvPr userDrawn="1"/>
        </p:nvSpPr>
        <p:spPr>
          <a:xfrm>
            <a:off x="276827" y="267200"/>
            <a:ext cx="12628761" cy="6382376"/>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61" dirty="0"/>
          </a:p>
        </p:txBody>
      </p:sp>
      <p:cxnSp>
        <p:nvCxnSpPr>
          <p:cNvPr id="3" name="Straight Connector 2">
            <a:extLst>
              <a:ext uri="{FF2B5EF4-FFF2-40B4-BE49-F238E27FC236}">
                <a16:creationId xmlns:a16="http://schemas.microsoft.com/office/drawing/2014/main" id="{7F32A293-D656-9253-B56E-EBB20322669B}"/>
              </a:ext>
            </a:extLst>
          </p:cNvPr>
          <p:cNvCxnSpPr/>
          <p:nvPr userDrawn="1"/>
        </p:nvCxnSpPr>
        <p:spPr>
          <a:xfrm>
            <a:off x="654317" y="1206396"/>
            <a:ext cx="1186920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8946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F6FFFB-A370-1BF5-266D-B59E791502CD}"/>
              </a:ext>
            </a:extLst>
          </p:cNvPr>
          <p:cNvSpPr/>
          <p:nvPr userDrawn="1"/>
        </p:nvSpPr>
        <p:spPr>
          <a:xfrm>
            <a:off x="276827" y="267200"/>
            <a:ext cx="12628761" cy="6382376"/>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61" dirty="0"/>
          </a:p>
        </p:txBody>
      </p:sp>
      <p:cxnSp>
        <p:nvCxnSpPr>
          <p:cNvPr id="4" name="Straight Connector 3">
            <a:extLst>
              <a:ext uri="{FF2B5EF4-FFF2-40B4-BE49-F238E27FC236}">
                <a16:creationId xmlns:a16="http://schemas.microsoft.com/office/drawing/2014/main" id="{D4DFE3B3-DCD1-5775-12A5-3628A33ED62E}"/>
              </a:ext>
            </a:extLst>
          </p:cNvPr>
          <p:cNvCxnSpPr/>
          <p:nvPr userDrawn="1"/>
        </p:nvCxnSpPr>
        <p:spPr>
          <a:xfrm>
            <a:off x="654317" y="1206396"/>
            <a:ext cx="1186920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5" name="Picture 10">
            <a:extLst>
              <a:ext uri="{FF2B5EF4-FFF2-40B4-BE49-F238E27FC236}">
                <a16:creationId xmlns:a16="http://schemas.microsoft.com/office/drawing/2014/main" id="{9CE8BDC7-2EC2-46C9-7622-9E43D436B3E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1783" t="-3"/>
          <a:stretch>
            <a:fillRect/>
          </a:stretch>
        </p:blipFill>
        <p:spPr bwMode="auto">
          <a:xfrm>
            <a:off x="290554" y="4839983"/>
            <a:ext cx="12596732" cy="1799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97522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1334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1.png"/><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p:cNvSpPr>
            <a:spLocks noGrp="1"/>
          </p:cNvSpPr>
          <p:nvPr>
            <p:ph type="title"/>
          </p:nvPr>
        </p:nvSpPr>
        <p:spPr bwMode="auto">
          <a:xfrm>
            <a:off x="2062469" y="44800"/>
            <a:ext cx="9052900" cy="70788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endParaRPr lang="ar-JO"/>
          </a:p>
        </p:txBody>
      </p:sp>
      <p:sp>
        <p:nvSpPr>
          <p:cNvPr id="1027" name="Holder 3"/>
          <p:cNvSpPr>
            <a:spLocks noGrp="1"/>
          </p:cNvSpPr>
          <p:nvPr>
            <p:ph type="body" idx="1"/>
          </p:nvPr>
        </p:nvSpPr>
        <p:spPr bwMode="auto">
          <a:xfrm>
            <a:off x="1969812" y="1683195"/>
            <a:ext cx="9245077" cy="52322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endParaRPr lang="ar-JO"/>
          </a:p>
        </p:txBody>
      </p:sp>
      <p:sp>
        <p:nvSpPr>
          <p:cNvPr id="4" name="Holder 4"/>
          <p:cNvSpPr>
            <a:spLocks noGrp="1"/>
          </p:cNvSpPr>
          <p:nvPr>
            <p:ph type="ftr" sz="quarter" idx="5"/>
          </p:nvPr>
        </p:nvSpPr>
        <p:spPr>
          <a:xfrm>
            <a:off x="5708681" y="6516777"/>
            <a:ext cx="1612912" cy="166712"/>
          </a:xfrm>
          <a:prstGeom prst="rect">
            <a:avLst/>
          </a:prstGeom>
        </p:spPr>
        <p:txBody>
          <a:bodyPr vert="horz" wrap="square" lIns="0" tIns="0" rIns="0" bIns="0" numCol="1" anchor="t" anchorCtr="0" compatLnSpc="1">
            <a:prstTxWarp prst="textNoShape">
              <a:avLst/>
            </a:prstTxWarp>
            <a:spAutoFit/>
          </a:bodyPr>
          <a:lstStyle>
            <a:lvl1pPr>
              <a:lnSpc>
                <a:spcPts val="1305"/>
              </a:lnSpc>
              <a:defRPr sz="1300">
                <a:solidFill>
                  <a:srgbClr val="888888"/>
                </a:solidFill>
                <a:latin typeface="Calibri" pitchFamily="34" charset="0"/>
              </a:defRPr>
            </a:lvl1pPr>
          </a:lstStyle>
          <a:p>
            <a:pPr>
              <a:defRPr/>
            </a:pPr>
            <a:r>
              <a:rPr lang="ar-JO"/>
              <a:t>Dr. MHedayatiCh GUMS</a:t>
            </a:r>
          </a:p>
        </p:txBody>
      </p:sp>
      <p:sp>
        <p:nvSpPr>
          <p:cNvPr id="5" name="Holder 5"/>
          <p:cNvSpPr>
            <a:spLocks noGrp="1"/>
          </p:cNvSpPr>
          <p:nvPr>
            <p:ph type="dt" sz="half" idx="6"/>
          </p:nvPr>
        </p:nvSpPr>
        <p:spPr>
          <a:xfrm>
            <a:off x="658893" y="6428777"/>
            <a:ext cx="3030216" cy="276999"/>
          </a:xfrm>
          <a:prstGeom prst="rect">
            <a:avLst/>
          </a:prstGeom>
        </p:spPr>
        <p:txBody>
          <a:bodyPr wrap="square" lIns="0" tIns="0" rIns="0" bIns="0">
            <a:spAutoFit/>
          </a:bodyPr>
          <a:lstStyle>
            <a:lvl1pPr algn="l" fontAlgn="auto">
              <a:spcBef>
                <a:spcPts val="0"/>
              </a:spcBef>
              <a:spcAft>
                <a:spcPts val="0"/>
              </a:spcAft>
              <a:defRPr>
                <a:solidFill>
                  <a:schemeClr val="tx1">
                    <a:tint val="75000"/>
                  </a:schemeClr>
                </a:solidFill>
                <a:latin typeface="+mn-lt"/>
                <a:cs typeface="+mn-cs"/>
              </a:defRPr>
            </a:lvl1pPr>
          </a:lstStyle>
          <a:p>
            <a:pPr>
              <a:defRPr/>
            </a:pPr>
            <a:fld id="{1BAE5931-0C85-4261-B15B-FBBA02CD556E}" type="datetimeFigureOut">
              <a:rPr lang="en-US"/>
              <a:pPr>
                <a:defRPr/>
              </a:pPr>
              <a:t>5/8/2023</a:t>
            </a:fld>
            <a:endParaRPr lang="en-US"/>
          </a:p>
        </p:txBody>
      </p:sp>
      <p:sp>
        <p:nvSpPr>
          <p:cNvPr id="6" name="Holder 6"/>
          <p:cNvSpPr>
            <a:spLocks noGrp="1"/>
          </p:cNvSpPr>
          <p:nvPr>
            <p:ph type="sldNum" sz="quarter" idx="7"/>
          </p:nvPr>
        </p:nvSpPr>
        <p:spPr>
          <a:xfrm>
            <a:off x="993486" y="6497577"/>
            <a:ext cx="238505" cy="384721"/>
          </a:xfrm>
          <a:prstGeom prst="rect">
            <a:avLst/>
          </a:prstGeom>
        </p:spPr>
        <p:txBody>
          <a:bodyPr vert="horz" wrap="square" lIns="0" tIns="0" rIns="0" bIns="0" numCol="1" anchor="t" anchorCtr="0" compatLnSpc="1">
            <a:prstTxWarp prst="textNoShape">
              <a:avLst/>
            </a:prstTxWarp>
            <a:spAutoFit/>
          </a:bodyPr>
          <a:lstStyle>
            <a:lvl1pPr>
              <a:lnSpc>
                <a:spcPts val="1503"/>
              </a:lnSpc>
              <a:defRPr sz="1300">
                <a:solidFill>
                  <a:srgbClr val="888888"/>
                </a:solidFill>
              </a:defRPr>
            </a:lvl1pPr>
          </a:lstStyle>
          <a:p>
            <a:pPr>
              <a:defRPr/>
            </a:pPr>
            <a:r>
              <a:rPr lang="ar-JO"/>
              <a:t>1</a:t>
            </a:r>
            <a:fld id="{92A41523-F2A6-4038-B53E-B3AE1BF7B51C}" type="slidenum">
              <a:rPr lang="ar-JO"/>
              <a:pPr>
                <a:defRPr/>
              </a:pPr>
              <a:t>‹#›</a:t>
            </a:fld>
            <a:endParaRPr lang="ar-J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rtl="0" eaLnBrk="0" fontAlgn="base" hangingPunct="0">
        <a:spcBef>
          <a:spcPct val="0"/>
        </a:spcBef>
        <a:spcAft>
          <a:spcPct val="0"/>
        </a:spcAft>
        <a:defRPr sz="4600">
          <a:solidFill>
            <a:schemeClr val="tx2"/>
          </a:solidFill>
          <a:latin typeface="+mj-lt"/>
          <a:ea typeface="+mj-ea"/>
          <a:cs typeface="+mj-cs"/>
        </a:defRPr>
      </a:lvl1pPr>
      <a:lvl2pPr algn="ctr" rtl="0" eaLnBrk="0" fontAlgn="base" hangingPunct="0">
        <a:spcBef>
          <a:spcPct val="0"/>
        </a:spcBef>
        <a:spcAft>
          <a:spcPct val="0"/>
        </a:spcAft>
        <a:defRPr sz="4600">
          <a:solidFill>
            <a:schemeClr val="tx2"/>
          </a:solidFill>
          <a:latin typeface="Calibri" pitchFamily="34" charset="0"/>
          <a:cs typeface="Times New Roman" pitchFamily="18" charset="0"/>
        </a:defRPr>
      </a:lvl2pPr>
      <a:lvl3pPr algn="ctr" rtl="0" eaLnBrk="0" fontAlgn="base" hangingPunct="0">
        <a:spcBef>
          <a:spcPct val="0"/>
        </a:spcBef>
        <a:spcAft>
          <a:spcPct val="0"/>
        </a:spcAft>
        <a:defRPr sz="4600">
          <a:solidFill>
            <a:schemeClr val="tx2"/>
          </a:solidFill>
          <a:latin typeface="Calibri" pitchFamily="34" charset="0"/>
          <a:cs typeface="Times New Roman" pitchFamily="18" charset="0"/>
        </a:defRPr>
      </a:lvl3pPr>
      <a:lvl4pPr algn="ctr" rtl="0" eaLnBrk="0" fontAlgn="base" hangingPunct="0">
        <a:spcBef>
          <a:spcPct val="0"/>
        </a:spcBef>
        <a:spcAft>
          <a:spcPct val="0"/>
        </a:spcAft>
        <a:defRPr sz="4600">
          <a:solidFill>
            <a:schemeClr val="tx2"/>
          </a:solidFill>
          <a:latin typeface="Calibri" pitchFamily="34" charset="0"/>
          <a:cs typeface="Times New Roman" pitchFamily="18" charset="0"/>
        </a:defRPr>
      </a:lvl4pPr>
      <a:lvl5pPr algn="ctr" rtl="0" eaLnBrk="0" fontAlgn="base" hangingPunct="0">
        <a:spcBef>
          <a:spcPct val="0"/>
        </a:spcBef>
        <a:spcAft>
          <a:spcPct val="0"/>
        </a:spcAft>
        <a:defRPr sz="4600">
          <a:solidFill>
            <a:schemeClr val="tx2"/>
          </a:solidFill>
          <a:latin typeface="Calibri" pitchFamily="34" charset="0"/>
          <a:cs typeface="Times New Roman" pitchFamily="18" charset="0"/>
        </a:defRPr>
      </a:lvl5pPr>
      <a:lvl6pPr marL="482117" algn="ctr" rtl="0" eaLnBrk="0" fontAlgn="base" hangingPunct="0">
        <a:spcBef>
          <a:spcPct val="0"/>
        </a:spcBef>
        <a:spcAft>
          <a:spcPct val="0"/>
        </a:spcAft>
        <a:defRPr sz="4600">
          <a:solidFill>
            <a:schemeClr val="tx2"/>
          </a:solidFill>
          <a:latin typeface="Calibri" pitchFamily="34" charset="0"/>
          <a:cs typeface="Times New Roman" pitchFamily="18" charset="0"/>
        </a:defRPr>
      </a:lvl6pPr>
      <a:lvl7pPr marL="964235" algn="ctr" rtl="0" eaLnBrk="0" fontAlgn="base" hangingPunct="0">
        <a:spcBef>
          <a:spcPct val="0"/>
        </a:spcBef>
        <a:spcAft>
          <a:spcPct val="0"/>
        </a:spcAft>
        <a:defRPr sz="4600">
          <a:solidFill>
            <a:schemeClr val="tx2"/>
          </a:solidFill>
          <a:latin typeface="Calibri" pitchFamily="34" charset="0"/>
          <a:cs typeface="Times New Roman" pitchFamily="18" charset="0"/>
        </a:defRPr>
      </a:lvl7pPr>
      <a:lvl8pPr marL="1446352" algn="ctr" rtl="0" eaLnBrk="0" fontAlgn="base" hangingPunct="0">
        <a:spcBef>
          <a:spcPct val="0"/>
        </a:spcBef>
        <a:spcAft>
          <a:spcPct val="0"/>
        </a:spcAft>
        <a:defRPr sz="4600">
          <a:solidFill>
            <a:schemeClr val="tx2"/>
          </a:solidFill>
          <a:latin typeface="Calibri" pitchFamily="34" charset="0"/>
          <a:cs typeface="Times New Roman" pitchFamily="18" charset="0"/>
        </a:defRPr>
      </a:lvl8pPr>
      <a:lvl9pPr marL="1928470" algn="ctr" rtl="0" eaLnBrk="0" fontAlgn="base" hangingPunct="0">
        <a:spcBef>
          <a:spcPct val="0"/>
        </a:spcBef>
        <a:spcAft>
          <a:spcPct val="0"/>
        </a:spcAft>
        <a:defRPr sz="4600">
          <a:solidFill>
            <a:schemeClr val="tx2"/>
          </a:solidFill>
          <a:latin typeface="Calibri" pitchFamily="34" charset="0"/>
          <a:cs typeface="Times New Roman" pitchFamily="18" charset="0"/>
        </a:defRPr>
      </a:lvl9pPr>
    </p:titleStyle>
    <p:bodyStyle>
      <a:lvl1pPr marL="361588" indent="-361588" algn="l" rtl="0" eaLnBrk="0" fontAlgn="base" hangingPunct="0">
        <a:spcBef>
          <a:spcPct val="20000"/>
        </a:spcBef>
        <a:spcAft>
          <a:spcPct val="0"/>
        </a:spcAft>
        <a:buChar char="•"/>
        <a:defRPr sz="3400">
          <a:solidFill>
            <a:schemeClr val="tx1"/>
          </a:solidFill>
          <a:latin typeface="+mn-lt"/>
          <a:ea typeface="+mn-ea"/>
          <a:cs typeface="+mn-cs"/>
        </a:defRPr>
      </a:lvl1pPr>
      <a:lvl2pPr marL="482117" algn="l" rtl="0" eaLnBrk="0" fontAlgn="base" hangingPunct="0">
        <a:spcBef>
          <a:spcPct val="20000"/>
        </a:spcBef>
        <a:spcAft>
          <a:spcPct val="0"/>
        </a:spcAft>
        <a:buChar char="–"/>
        <a:defRPr sz="3000">
          <a:solidFill>
            <a:schemeClr val="tx1"/>
          </a:solidFill>
          <a:latin typeface="+mn-lt"/>
          <a:ea typeface="+mn-ea"/>
          <a:cs typeface="+mn-cs"/>
        </a:defRPr>
      </a:lvl2pPr>
      <a:lvl3pPr marL="964235" algn="l" rtl="0" eaLnBrk="0" fontAlgn="base" hangingPunct="0">
        <a:spcBef>
          <a:spcPct val="20000"/>
        </a:spcBef>
        <a:spcAft>
          <a:spcPct val="0"/>
        </a:spcAft>
        <a:buChar char="•"/>
        <a:defRPr sz="2500">
          <a:solidFill>
            <a:schemeClr val="tx1"/>
          </a:solidFill>
          <a:latin typeface="+mn-lt"/>
          <a:ea typeface="+mn-ea"/>
          <a:cs typeface="+mn-cs"/>
        </a:defRPr>
      </a:lvl3pPr>
      <a:lvl4pPr marL="1446352" algn="l" rtl="0" eaLnBrk="0" fontAlgn="base" hangingPunct="0">
        <a:spcBef>
          <a:spcPct val="20000"/>
        </a:spcBef>
        <a:spcAft>
          <a:spcPct val="0"/>
        </a:spcAft>
        <a:buChar char="–"/>
        <a:defRPr sz="2100">
          <a:solidFill>
            <a:schemeClr val="tx1"/>
          </a:solidFill>
          <a:latin typeface="+mn-lt"/>
          <a:ea typeface="+mn-ea"/>
          <a:cs typeface="+mn-cs"/>
        </a:defRPr>
      </a:lvl4pPr>
      <a:lvl5pPr marL="1928470" algn="l" rtl="0" eaLnBrk="0" fontAlgn="base" hangingPunct="0">
        <a:spcBef>
          <a:spcPct val="20000"/>
        </a:spcBef>
        <a:spcAft>
          <a:spcPct val="0"/>
        </a:spcAft>
        <a:buChar char="»"/>
        <a:defRPr sz="2100">
          <a:solidFill>
            <a:schemeClr val="tx1"/>
          </a:solidFill>
          <a:latin typeface="+mn-lt"/>
          <a:ea typeface="+mn-ea"/>
          <a:cs typeface="+mn-cs"/>
        </a:defRPr>
      </a:lvl5pPr>
      <a:lvl6pPr marL="2410587">
        <a:defRPr>
          <a:latin typeface="+mn-lt"/>
          <a:ea typeface="+mn-ea"/>
          <a:cs typeface="+mn-cs"/>
        </a:defRPr>
      </a:lvl6pPr>
      <a:lvl7pPr marL="2892704">
        <a:defRPr>
          <a:latin typeface="+mn-lt"/>
          <a:ea typeface="+mn-ea"/>
          <a:cs typeface="+mn-cs"/>
        </a:defRPr>
      </a:lvl7pPr>
      <a:lvl8pPr marL="3374822">
        <a:defRPr>
          <a:latin typeface="+mn-lt"/>
          <a:ea typeface="+mn-ea"/>
          <a:cs typeface="+mn-cs"/>
        </a:defRPr>
      </a:lvl8pPr>
      <a:lvl9pPr marL="3856939">
        <a:defRPr>
          <a:latin typeface="+mn-lt"/>
          <a:ea typeface="+mn-ea"/>
          <a:cs typeface="+mn-cs"/>
        </a:defRPr>
      </a:lvl9pPr>
    </p:bodyStyle>
    <p:otherStyle>
      <a:lvl1pPr marL="0">
        <a:defRPr>
          <a:latin typeface="+mn-lt"/>
          <a:ea typeface="+mn-ea"/>
          <a:cs typeface="+mn-cs"/>
        </a:defRPr>
      </a:lvl1pPr>
      <a:lvl2pPr marL="482117">
        <a:defRPr>
          <a:latin typeface="+mn-lt"/>
          <a:ea typeface="+mn-ea"/>
          <a:cs typeface="+mn-cs"/>
        </a:defRPr>
      </a:lvl2pPr>
      <a:lvl3pPr marL="964235">
        <a:defRPr>
          <a:latin typeface="+mn-lt"/>
          <a:ea typeface="+mn-ea"/>
          <a:cs typeface="+mn-cs"/>
        </a:defRPr>
      </a:lvl3pPr>
      <a:lvl4pPr marL="1446352">
        <a:defRPr>
          <a:latin typeface="+mn-lt"/>
          <a:ea typeface="+mn-ea"/>
          <a:cs typeface="+mn-cs"/>
        </a:defRPr>
      </a:lvl4pPr>
      <a:lvl5pPr marL="1928470">
        <a:defRPr>
          <a:latin typeface="+mn-lt"/>
          <a:ea typeface="+mn-ea"/>
          <a:cs typeface="+mn-cs"/>
        </a:defRPr>
      </a:lvl5pPr>
      <a:lvl6pPr marL="2410587">
        <a:defRPr>
          <a:latin typeface="+mn-lt"/>
          <a:ea typeface="+mn-ea"/>
          <a:cs typeface="+mn-cs"/>
        </a:defRPr>
      </a:lvl6pPr>
      <a:lvl7pPr marL="2892704">
        <a:defRPr>
          <a:latin typeface="+mn-lt"/>
          <a:ea typeface="+mn-ea"/>
          <a:cs typeface="+mn-cs"/>
        </a:defRPr>
      </a:lvl7pPr>
      <a:lvl8pPr marL="3374822">
        <a:defRPr>
          <a:latin typeface="+mn-lt"/>
          <a:ea typeface="+mn-ea"/>
          <a:cs typeface="+mn-cs"/>
        </a:defRPr>
      </a:lvl8pPr>
      <a:lvl9pPr marL="3856939">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0"/>
          <a:srcRect/>
          <a:tile tx="0" ty="0" sx="100000" sy="100000" flip="none" algn="tl"/>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B4FD1A-3C98-0444-0525-EF7E8F603552}"/>
              </a:ext>
            </a:extLst>
          </p:cNvPr>
          <p:cNvSpPr/>
          <p:nvPr userDrawn="1"/>
        </p:nvSpPr>
        <p:spPr>
          <a:xfrm>
            <a:off x="276827" y="267200"/>
            <a:ext cx="12628761" cy="6382376"/>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61" dirty="0"/>
          </a:p>
        </p:txBody>
      </p:sp>
      <p:sp>
        <p:nvSpPr>
          <p:cNvPr id="2051" name="Title Placeholder 1">
            <a:extLst>
              <a:ext uri="{FF2B5EF4-FFF2-40B4-BE49-F238E27FC236}">
                <a16:creationId xmlns:a16="http://schemas.microsoft.com/office/drawing/2014/main" id="{7EA99C28-2060-E770-F57D-C3058D143635}"/>
              </a:ext>
            </a:extLst>
          </p:cNvPr>
          <p:cNvSpPr>
            <a:spLocks noGrp="1" noChangeArrowheads="1"/>
          </p:cNvSpPr>
          <p:nvPr>
            <p:ph type="title"/>
          </p:nvPr>
        </p:nvSpPr>
        <p:spPr bwMode="auto">
          <a:xfrm>
            <a:off x="654317" y="452799"/>
            <a:ext cx="11869205" cy="753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2" name="Text Placeholder 2">
            <a:extLst>
              <a:ext uri="{FF2B5EF4-FFF2-40B4-BE49-F238E27FC236}">
                <a16:creationId xmlns:a16="http://schemas.microsoft.com/office/drawing/2014/main" id="{EAA336C8-DABB-3979-A2C0-7E942F26C28A}"/>
              </a:ext>
            </a:extLst>
          </p:cNvPr>
          <p:cNvSpPr>
            <a:spLocks noGrp="1" noChangeArrowheads="1"/>
          </p:cNvSpPr>
          <p:nvPr>
            <p:ph type="body" idx="1"/>
          </p:nvPr>
        </p:nvSpPr>
        <p:spPr bwMode="auto">
          <a:xfrm>
            <a:off x="905977" y="1839993"/>
            <a:ext cx="11365885" cy="438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3674BEA-14BA-ACF2-6C9F-82DC29368898}"/>
              </a:ext>
            </a:extLst>
          </p:cNvPr>
          <p:cNvSpPr>
            <a:spLocks noGrp="1"/>
          </p:cNvSpPr>
          <p:nvPr>
            <p:ph type="dt" sz="half" idx="2"/>
          </p:nvPr>
        </p:nvSpPr>
        <p:spPr>
          <a:xfrm>
            <a:off x="905976" y="6406377"/>
            <a:ext cx="2965014" cy="367999"/>
          </a:xfrm>
          <a:prstGeom prst="rect">
            <a:avLst/>
          </a:prstGeom>
        </p:spPr>
        <p:txBody>
          <a:bodyPr vert="horz" lIns="91440" tIns="45720" rIns="91440" bIns="45720" rtlCol="0" anchor="ctr"/>
          <a:lstStyle>
            <a:lvl1pPr algn="l">
              <a:defRPr sz="907">
                <a:solidFill>
                  <a:schemeClr val="tx1">
                    <a:tint val="75000"/>
                  </a:schemeClr>
                </a:solidFill>
              </a:defRPr>
            </a:lvl1pPr>
          </a:lstStyle>
          <a:p>
            <a:pPr>
              <a:defRPr/>
            </a:pPr>
            <a:fld id="{1FF88CD8-BAED-4D70-8F2E-0332F02C5321}" type="datetimeFigureOut">
              <a:rPr lang="en-US"/>
              <a:pPr>
                <a:defRPr/>
              </a:pPr>
              <a:t>5/8/2023</a:t>
            </a:fld>
            <a:endParaRPr lang="en-US"/>
          </a:p>
        </p:txBody>
      </p:sp>
      <p:sp>
        <p:nvSpPr>
          <p:cNvPr id="5" name="Footer Placeholder 4">
            <a:extLst>
              <a:ext uri="{FF2B5EF4-FFF2-40B4-BE49-F238E27FC236}">
                <a16:creationId xmlns:a16="http://schemas.microsoft.com/office/drawing/2014/main" id="{31C8E980-844D-540B-CD26-A308F27BF360}"/>
              </a:ext>
            </a:extLst>
          </p:cNvPr>
          <p:cNvSpPr>
            <a:spLocks noGrp="1"/>
          </p:cNvSpPr>
          <p:nvPr>
            <p:ph type="ftr" sz="quarter" idx="3"/>
          </p:nvPr>
        </p:nvSpPr>
        <p:spPr>
          <a:xfrm>
            <a:off x="4365159" y="6406377"/>
            <a:ext cx="4447520" cy="367999"/>
          </a:xfrm>
          <a:prstGeom prst="rect">
            <a:avLst/>
          </a:prstGeom>
        </p:spPr>
        <p:txBody>
          <a:bodyPr vert="horz" lIns="91440" tIns="45720" rIns="91440" bIns="45720" rtlCol="0" anchor="ctr"/>
          <a:lstStyle>
            <a:lvl1pPr algn="ctr">
              <a:defRPr sz="907">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614D48D8-CFCC-8CAE-7532-E7384786C364}"/>
              </a:ext>
            </a:extLst>
          </p:cNvPr>
          <p:cNvSpPr>
            <a:spLocks noGrp="1"/>
          </p:cNvSpPr>
          <p:nvPr>
            <p:ph type="sldNum" sz="quarter" idx="4"/>
          </p:nvPr>
        </p:nvSpPr>
        <p:spPr>
          <a:xfrm>
            <a:off x="9306848" y="6406377"/>
            <a:ext cx="2965014" cy="367999"/>
          </a:xfrm>
          <a:prstGeom prst="rect">
            <a:avLst/>
          </a:prstGeom>
        </p:spPr>
        <p:txBody>
          <a:bodyPr vert="horz" lIns="91440" tIns="45720" rIns="91440" bIns="45720" rtlCol="0" anchor="ctr"/>
          <a:lstStyle>
            <a:lvl1pPr algn="r">
              <a:defRPr sz="907">
                <a:solidFill>
                  <a:schemeClr val="tx1">
                    <a:tint val="75000"/>
                  </a:schemeClr>
                </a:solidFill>
              </a:defRPr>
            </a:lvl1pPr>
          </a:lstStyle>
          <a:p>
            <a:pPr>
              <a:defRPr/>
            </a:pPr>
            <a:fld id="{60A8D44A-D7B3-4915-839F-C5A7C612DA70}" type="slidenum">
              <a:rPr lang="en-US"/>
              <a:pPr>
                <a:defRPr/>
              </a:pPr>
              <a:t>‹#›</a:t>
            </a:fld>
            <a:endParaRPr lang="en-US"/>
          </a:p>
        </p:txBody>
      </p:sp>
      <p:cxnSp>
        <p:nvCxnSpPr>
          <p:cNvPr id="8" name="Straight Connector 7">
            <a:extLst>
              <a:ext uri="{FF2B5EF4-FFF2-40B4-BE49-F238E27FC236}">
                <a16:creationId xmlns:a16="http://schemas.microsoft.com/office/drawing/2014/main" id="{501A0D76-F152-058B-DCD1-60B69B260B53}"/>
              </a:ext>
            </a:extLst>
          </p:cNvPr>
          <p:cNvCxnSpPr/>
          <p:nvPr userDrawn="1"/>
        </p:nvCxnSpPr>
        <p:spPr>
          <a:xfrm>
            <a:off x="654317" y="1206396"/>
            <a:ext cx="1186920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44993"/>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Lst>
  <p:txStyles>
    <p:titleStyle>
      <a:lvl1pPr algn="l" defTabSz="691218" rtl="1" eaLnBrk="0" fontAlgn="base" hangingPunct="0">
        <a:lnSpc>
          <a:spcPct val="90000"/>
        </a:lnSpc>
        <a:spcBef>
          <a:spcPct val="0"/>
        </a:spcBef>
        <a:spcAft>
          <a:spcPct val="0"/>
        </a:spcAft>
        <a:defRPr lang="en-US" sz="2117" kern="1200">
          <a:solidFill>
            <a:srgbClr val="3B3838"/>
          </a:solidFill>
          <a:latin typeface="+mj-lt"/>
          <a:ea typeface="+mj-ea"/>
          <a:cs typeface="+mj-cs"/>
        </a:defRPr>
      </a:lvl1pPr>
      <a:lvl2pPr algn="l" defTabSz="691218" rtl="1" eaLnBrk="0" fontAlgn="base" hangingPunct="0">
        <a:lnSpc>
          <a:spcPct val="90000"/>
        </a:lnSpc>
        <a:spcBef>
          <a:spcPct val="0"/>
        </a:spcBef>
        <a:spcAft>
          <a:spcPct val="0"/>
        </a:spcAft>
        <a:defRPr sz="2117">
          <a:solidFill>
            <a:srgbClr val="3B3838"/>
          </a:solidFill>
          <a:latin typeface="Segoe UI Light" panose="020B0502040204020203" pitchFamily="34" charset="0"/>
        </a:defRPr>
      </a:lvl2pPr>
      <a:lvl3pPr algn="l" defTabSz="691218" rtl="1" eaLnBrk="0" fontAlgn="base" hangingPunct="0">
        <a:lnSpc>
          <a:spcPct val="90000"/>
        </a:lnSpc>
        <a:spcBef>
          <a:spcPct val="0"/>
        </a:spcBef>
        <a:spcAft>
          <a:spcPct val="0"/>
        </a:spcAft>
        <a:defRPr sz="2117">
          <a:solidFill>
            <a:srgbClr val="3B3838"/>
          </a:solidFill>
          <a:latin typeface="Segoe UI Light" panose="020B0502040204020203" pitchFamily="34" charset="0"/>
        </a:defRPr>
      </a:lvl3pPr>
      <a:lvl4pPr algn="l" defTabSz="691218" rtl="1" eaLnBrk="0" fontAlgn="base" hangingPunct="0">
        <a:lnSpc>
          <a:spcPct val="90000"/>
        </a:lnSpc>
        <a:spcBef>
          <a:spcPct val="0"/>
        </a:spcBef>
        <a:spcAft>
          <a:spcPct val="0"/>
        </a:spcAft>
        <a:defRPr sz="2117">
          <a:solidFill>
            <a:srgbClr val="3B3838"/>
          </a:solidFill>
          <a:latin typeface="Segoe UI Light" panose="020B0502040204020203" pitchFamily="34" charset="0"/>
        </a:defRPr>
      </a:lvl4pPr>
      <a:lvl5pPr algn="l" defTabSz="691218" rtl="1" eaLnBrk="0" fontAlgn="base" hangingPunct="0">
        <a:lnSpc>
          <a:spcPct val="90000"/>
        </a:lnSpc>
        <a:spcBef>
          <a:spcPct val="0"/>
        </a:spcBef>
        <a:spcAft>
          <a:spcPct val="0"/>
        </a:spcAft>
        <a:defRPr sz="2117">
          <a:solidFill>
            <a:srgbClr val="3B3838"/>
          </a:solidFill>
          <a:latin typeface="Segoe UI Light" panose="020B0502040204020203" pitchFamily="34" charset="0"/>
        </a:defRPr>
      </a:lvl5pPr>
      <a:lvl6pPr marL="460812" algn="l" defTabSz="691218" rtl="1" fontAlgn="base">
        <a:lnSpc>
          <a:spcPct val="90000"/>
        </a:lnSpc>
        <a:spcBef>
          <a:spcPct val="0"/>
        </a:spcBef>
        <a:spcAft>
          <a:spcPct val="0"/>
        </a:spcAft>
        <a:defRPr sz="2117">
          <a:solidFill>
            <a:srgbClr val="3B3838"/>
          </a:solidFill>
          <a:latin typeface="Segoe UI Light" panose="020B0502040204020203" pitchFamily="34" charset="0"/>
        </a:defRPr>
      </a:lvl6pPr>
      <a:lvl7pPr marL="921624" algn="l" defTabSz="691218" rtl="1" fontAlgn="base">
        <a:lnSpc>
          <a:spcPct val="90000"/>
        </a:lnSpc>
        <a:spcBef>
          <a:spcPct val="0"/>
        </a:spcBef>
        <a:spcAft>
          <a:spcPct val="0"/>
        </a:spcAft>
        <a:defRPr sz="2117">
          <a:solidFill>
            <a:srgbClr val="3B3838"/>
          </a:solidFill>
          <a:latin typeface="Segoe UI Light" panose="020B0502040204020203" pitchFamily="34" charset="0"/>
        </a:defRPr>
      </a:lvl7pPr>
      <a:lvl8pPr marL="1382436" algn="l" defTabSz="691218" rtl="1" fontAlgn="base">
        <a:lnSpc>
          <a:spcPct val="90000"/>
        </a:lnSpc>
        <a:spcBef>
          <a:spcPct val="0"/>
        </a:spcBef>
        <a:spcAft>
          <a:spcPct val="0"/>
        </a:spcAft>
        <a:defRPr sz="2117">
          <a:solidFill>
            <a:srgbClr val="3B3838"/>
          </a:solidFill>
          <a:latin typeface="Segoe UI Light" panose="020B0502040204020203" pitchFamily="34" charset="0"/>
        </a:defRPr>
      </a:lvl8pPr>
      <a:lvl9pPr marL="1843248" algn="l" defTabSz="691218" rtl="1" fontAlgn="base">
        <a:lnSpc>
          <a:spcPct val="90000"/>
        </a:lnSpc>
        <a:spcBef>
          <a:spcPct val="0"/>
        </a:spcBef>
        <a:spcAft>
          <a:spcPct val="0"/>
        </a:spcAft>
        <a:defRPr sz="2117">
          <a:solidFill>
            <a:srgbClr val="3B3838"/>
          </a:solidFill>
          <a:latin typeface="Segoe UI Light" panose="020B0502040204020203" pitchFamily="34" charset="0"/>
        </a:defRPr>
      </a:lvl9pPr>
    </p:titleStyle>
    <p:bodyStyle>
      <a:lvl1pPr marL="172804" indent="-172804" algn="r" defTabSz="691218" rtl="1" eaLnBrk="0" fontAlgn="base" hangingPunct="0">
        <a:lnSpc>
          <a:spcPct val="90000"/>
        </a:lnSpc>
        <a:spcBef>
          <a:spcPts val="756"/>
        </a:spcBef>
        <a:spcAft>
          <a:spcPct val="0"/>
        </a:spcAft>
        <a:buFont typeface="Arial" panose="020B0604020202020204" pitchFamily="34" charset="0"/>
        <a:buChar char="•"/>
        <a:defRPr sz="2117" kern="1200">
          <a:solidFill>
            <a:schemeClr val="tx1"/>
          </a:solidFill>
          <a:latin typeface="+mn-lt"/>
          <a:ea typeface="+mn-ea"/>
          <a:cs typeface="+mn-cs"/>
        </a:defRPr>
      </a:lvl1pPr>
      <a:lvl2pPr marL="518413" indent="-172804" algn="r" defTabSz="691218" rtl="1" eaLnBrk="0" fontAlgn="base" hangingPunct="0">
        <a:lnSpc>
          <a:spcPct val="90000"/>
        </a:lnSpc>
        <a:spcBef>
          <a:spcPts val="378"/>
        </a:spcBef>
        <a:spcAft>
          <a:spcPct val="0"/>
        </a:spcAft>
        <a:buFont typeface="Arial" panose="020B0604020202020204" pitchFamily="34" charset="0"/>
        <a:buChar char="•"/>
        <a:defRPr kern="1200">
          <a:solidFill>
            <a:schemeClr val="tx1"/>
          </a:solidFill>
          <a:latin typeface="+mn-lt"/>
          <a:ea typeface="+mn-ea"/>
          <a:cs typeface="+mn-cs"/>
        </a:defRPr>
      </a:lvl2pPr>
      <a:lvl3pPr marL="864022" indent="-172804" algn="r" defTabSz="691218" rtl="1" eaLnBrk="0" fontAlgn="base" hangingPunct="0">
        <a:lnSpc>
          <a:spcPct val="90000"/>
        </a:lnSpc>
        <a:spcBef>
          <a:spcPts val="378"/>
        </a:spcBef>
        <a:spcAft>
          <a:spcPct val="0"/>
        </a:spcAft>
        <a:buFont typeface="Arial" panose="020B0604020202020204" pitchFamily="34" charset="0"/>
        <a:buChar char="•"/>
        <a:defRPr sz="1512" kern="1200">
          <a:solidFill>
            <a:schemeClr val="tx1"/>
          </a:solidFill>
          <a:latin typeface="+mn-lt"/>
          <a:ea typeface="+mn-ea"/>
          <a:cs typeface="+mn-cs"/>
        </a:defRPr>
      </a:lvl3pPr>
      <a:lvl4pPr marL="1209631" indent="-172804" algn="r" defTabSz="691218" rtl="1" eaLnBrk="0" fontAlgn="base" hangingPunct="0">
        <a:lnSpc>
          <a:spcPct val="90000"/>
        </a:lnSpc>
        <a:spcBef>
          <a:spcPts val="378"/>
        </a:spcBef>
        <a:spcAft>
          <a:spcPct val="0"/>
        </a:spcAft>
        <a:buFont typeface="Arial" panose="020B0604020202020204" pitchFamily="34" charset="0"/>
        <a:buChar char="•"/>
        <a:defRPr sz="1310" kern="1200">
          <a:solidFill>
            <a:schemeClr val="tx1"/>
          </a:solidFill>
          <a:latin typeface="+mn-lt"/>
          <a:ea typeface="+mn-ea"/>
          <a:cs typeface="+mn-cs"/>
        </a:defRPr>
      </a:lvl4pPr>
      <a:lvl5pPr marL="1555240" indent="-172804" algn="r" defTabSz="691218" rtl="1" eaLnBrk="0" fontAlgn="base" hangingPunct="0">
        <a:lnSpc>
          <a:spcPct val="90000"/>
        </a:lnSpc>
        <a:spcBef>
          <a:spcPts val="378"/>
        </a:spcBef>
        <a:spcAft>
          <a:spcPct val="0"/>
        </a:spcAft>
        <a:buFont typeface="Arial" panose="020B0604020202020204" pitchFamily="34" charset="0"/>
        <a:buChar char="•"/>
        <a:defRPr sz="1310" kern="1200">
          <a:solidFill>
            <a:schemeClr val="tx1"/>
          </a:solidFill>
          <a:latin typeface="+mn-lt"/>
          <a:ea typeface="+mn-ea"/>
          <a:cs typeface="+mn-cs"/>
        </a:defRPr>
      </a:lvl5pPr>
      <a:lvl6pPr marL="1900849" indent="-172804" algn="r" defTabSz="691218" rtl="1" eaLnBrk="1" latinLnBrk="0" hangingPunct="1">
        <a:lnSpc>
          <a:spcPct val="90000"/>
        </a:lnSpc>
        <a:spcBef>
          <a:spcPts val="378"/>
        </a:spcBef>
        <a:buFont typeface="Arial" panose="020B0604020202020204" pitchFamily="34" charset="0"/>
        <a:buChar char="•"/>
        <a:defRPr sz="1361" kern="1200">
          <a:solidFill>
            <a:schemeClr val="tx1"/>
          </a:solidFill>
          <a:latin typeface="+mn-lt"/>
          <a:ea typeface="+mn-ea"/>
          <a:cs typeface="+mn-cs"/>
        </a:defRPr>
      </a:lvl6pPr>
      <a:lvl7pPr marL="2246458" indent="-172804" algn="r" defTabSz="691218" rtl="1" eaLnBrk="1" latinLnBrk="0" hangingPunct="1">
        <a:lnSpc>
          <a:spcPct val="90000"/>
        </a:lnSpc>
        <a:spcBef>
          <a:spcPts val="378"/>
        </a:spcBef>
        <a:buFont typeface="Arial" panose="020B0604020202020204" pitchFamily="34" charset="0"/>
        <a:buChar char="•"/>
        <a:defRPr sz="1361" kern="1200">
          <a:solidFill>
            <a:schemeClr val="tx1"/>
          </a:solidFill>
          <a:latin typeface="+mn-lt"/>
          <a:ea typeface="+mn-ea"/>
          <a:cs typeface="+mn-cs"/>
        </a:defRPr>
      </a:lvl7pPr>
      <a:lvl8pPr marL="2592067" indent="-172804" algn="r" defTabSz="691218" rtl="1" eaLnBrk="1" latinLnBrk="0" hangingPunct="1">
        <a:lnSpc>
          <a:spcPct val="90000"/>
        </a:lnSpc>
        <a:spcBef>
          <a:spcPts val="378"/>
        </a:spcBef>
        <a:buFont typeface="Arial" panose="020B0604020202020204" pitchFamily="34" charset="0"/>
        <a:buChar char="•"/>
        <a:defRPr sz="1361" kern="1200">
          <a:solidFill>
            <a:schemeClr val="tx1"/>
          </a:solidFill>
          <a:latin typeface="+mn-lt"/>
          <a:ea typeface="+mn-ea"/>
          <a:cs typeface="+mn-cs"/>
        </a:defRPr>
      </a:lvl8pPr>
      <a:lvl9pPr marL="2937676" indent="-172804" algn="r" defTabSz="691218" rtl="1" eaLnBrk="1" latinLnBrk="0" hangingPunct="1">
        <a:lnSpc>
          <a:spcPct val="90000"/>
        </a:lnSpc>
        <a:spcBef>
          <a:spcPts val="378"/>
        </a:spcBef>
        <a:buFont typeface="Arial" panose="020B0604020202020204" pitchFamily="34" charset="0"/>
        <a:buChar char="•"/>
        <a:defRPr sz="1361" kern="1200">
          <a:solidFill>
            <a:schemeClr val="tx1"/>
          </a:solidFill>
          <a:latin typeface="+mn-lt"/>
          <a:ea typeface="+mn-ea"/>
          <a:cs typeface="+mn-cs"/>
        </a:defRPr>
      </a:lvl9pPr>
    </p:bodyStyle>
    <p:otherStyle>
      <a:defPPr>
        <a:defRPr lang="en-US"/>
      </a:defPPr>
      <a:lvl1pPr marL="0" algn="r" defTabSz="691218" rtl="1" eaLnBrk="1" latinLnBrk="0" hangingPunct="1">
        <a:defRPr sz="1361" kern="1200">
          <a:solidFill>
            <a:schemeClr val="tx1"/>
          </a:solidFill>
          <a:latin typeface="+mn-lt"/>
          <a:ea typeface="+mn-ea"/>
          <a:cs typeface="+mn-cs"/>
        </a:defRPr>
      </a:lvl1pPr>
      <a:lvl2pPr marL="345609" algn="r" defTabSz="691218" rtl="1" eaLnBrk="1" latinLnBrk="0" hangingPunct="1">
        <a:defRPr sz="1361" kern="1200">
          <a:solidFill>
            <a:schemeClr val="tx1"/>
          </a:solidFill>
          <a:latin typeface="+mn-lt"/>
          <a:ea typeface="+mn-ea"/>
          <a:cs typeface="+mn-cs"/>
        </a:defRPr>
      </a:lvl2pPr>
      <a:lvl3pPr marL="691218" algn="r" defTabSz="691218" rtl="1" eaLnBrk="1" latinLnBrk="0" hangingPunct="1">
        <a:defRPr sz="1361" kern="1200">
          <a:solidFill>
            <a:schemeClr val="tx1"/>
          </a:solidFill>
          <a:latin typeface="+mn-lt"/>
          <a:ea typeface="+mn-ea"/>
          <a:cs typeface="+mn-cs"/>
        </a:defRPr>
      </a:lvl3pPr>
      <a:lvl4pPr marL="1036827" algn="r" defTabSz="691218" rtl="1" eaLnBrk="1" latinLnBrk="0" hangingPunct="1">
        <a:defRPr sz="1361" kern="1200">
          <a:solidFill>
            <a:schemeClr val="tx1"/>
          </a:solidFill>
          <a:latin typeface="+mn-lt"/>
          <a:ea typeface="+mn-ea"/>
          <a:cs typeface="+mn-cs"/>
        </a:defRPr>
      </a:lvl4pPr>
      <a:lvl5pPr marL="1382436" algn="r" defTabSz="691218" rtl="1" eaLnBrk="1" latinLnBrk="0" hangingPunct="1">
        <a:defRPr sz="1361" kern="1200">
          <a:solidFill>
            <a:schemeClr val="tx1"/>
          </a:solidFill>
          <a:latin typeface="+mn-lt"/>
          <a:ea typeface="+mn-ea"/>
          <a:cs typeface="+mn-cs"/>
        </a:defRPr>
      </a:lvl5pPr>
      <a:lvl6pPr marL="1728045" algn="r" defTabSz="691218" rtl="1" eaLnBrk="1" latinLnBrk="0" hangingPunct="1">
        <a:defRPr sz="1361" kern="1200">
          <a:solidFill>
            <a:schemeClr val="tx1"/>
          </a:solidFill>
          <a:latin typeface="+mn-lt"/>
          <a:ea typeface="+mn-ea"/>
          <a:cs typeface="+mn-cs"/>
        </a:defRPr>
      </a:lvl6pPr>
      <a:lvl7pPr marL="2073653" algn="r" defTabSz="691218" rtl="1" eaLnBrk="1" latinLnBrk="0" hangingPunct="1">
        <a:defRPr sz="1361" kern="1200">
          <a:solidFill>
            <a:schemeClr val="tx1"/>
          </a:solidFill>
          <a:latin typeface="+mn-lt"/>
          <a:ea typeface="+mn-ea"/>
          <a:cs typeface="+mn-cs"/>
        </a:defRPr>
      </a:lvl7pPr>
      <a:lvl8pPr marL="2419262" algn="r" defTabSz="691218" rtl="1" eaLnBrk="1" latinLnBrk="0" hangingPunct="1">
        <a:defRPr sz="1361" kern="1200">
          <a:solidFill>
            <a:schemeClr val="tx1"/>
          </a:solidFill>
          <a:latin typeface="+mn-lt"/>
          <a:ea typeface="+mn-ea"/>
          <a:cs typeface="+mn-cs"/>
        </a:defRPr>
      </a:lvl8pPr>
      <a:lvl9pPr marL="2764871" algn="r" defTabSz="691218" rtl="1" eaLnBrk="1" latinLnBrk="0" hangingPunct="1">
        <a:defRPr sz="13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customXml" Target="../ink/ink1.xml"/><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gif"/><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jpe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2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0.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AFAFA"/>
            </a:gs>
            <a:gs pos="60001">
              <a:srgbClr val="FAFAFA"/>
            </a:gs>
            <a:gs pos="74001">
              <a:srgbClr val="D7D7D7"/>
            </a:gs>
            <a:gs pos="83000">
              <a:srgbClr val="D7D7D7"/>
            </a:gs>
            <a:gs pos="100000">
              <a:srgbClr val="E4E4E4"/>
            </a:gs>
          </a:gsLst>
          <a:lin ang="5400000" scaled="1"/>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16E681-6C6B-68CD-5A3C-CC15A6482ED2}"/>
              </a:ext>
            </a:extLst>
          </p:cNvPr>
          <p:cNvSpPr/>
          <p:nvPr/>
        </p:nvSpPr>
        <p:spPr>
          <a:xfrm>
            <a:off x="3177907" y="1025086"/>
            <a:ext cx="7001803" cy="6588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624" rtl="0" fontAlgn="auto">
              <a:spcBef>
                <a:spcPts val="0"/>
              </a:spcBef>
              <a:spcAft>
                <a:spcPts val="0"/>
              </a:spcAft>
              <a:defRPr/>
            </a:pPr>
            <a:r>
              <a:rPr lang="en-US" sz="2822" b="1" dirty="0">
                <a:solidFill>
                  <a:srgbClr val="FF0000"/>
                </a:solidFill>
                <a:highlight>
                  <a:srgbClr val="FFFF00"/>
                </a:highlight>
                <a:latin typeface="Segoe UI"/>
              </a:rPr>
              <a:t>BT233 – General Microbiology Laboratory</a:t>
            </a:r>
            <a:endParaRPr lang="en-AE" sz="2822" b="1" dirty="0">
              <a:solidFill>
                <a:srgbClr val="FF0000"/>
              </a:solidFill>
              <a:highlight>
                <a:srgbClr val="FFFF00"/>
              </a:highlight>
              <a:latin typeface="Segoe UI"/>
            </a:endParaRPr>
          </a:p>
        </p:txBody>
      </p:sp>
      <p:sp>
        <p:nvSpPr>
          <p:cNvPr id="23556" name="Rectangle 2">
            <a:extLst>
              <a:ext uri="{FF2B5EF4-FFF2-40B4-BE49-F238E27FC236}">
                <a16:creationId xmlns:a16="http://schemas.microsoft.com/office/drawing/2014/main" id="{13219C83-E438-B21C-C99C-63EA03ABFC6C}"/>
              </a:ext>
            </a:extLst>
          </p:cNvPr>
          <p:cNvSpPr>
            <a:spLocks noGrp="1" noChangeArrowheads="1"/>
          </p:cNvSpPr>
          <p:nvPr>
            <p:ph type="ctrTitle"/>
          </p:nvPr>
        </p:nvSpPr>
        <p:spPr>
          <a:xfrm>
            <a:off x="569119" y="3151187"/>
            <a:ext cx="7001803" cy="870397"/>
          </a:xfrm>
        </p:spPr>
        <p:txBody>
          <a:bodyPr/>
          <a:lstStyle/>
          <a:p>
            <a:pPr eaLnBrk="1" hangingPunct="1"/>
            <a:r>
              <a:rPr lang="en-GB" altLang="en-US" sz="5443" b="1" dirty="0">
                <a:solidFill>
                  <a:schemeClr val="tx1"/>
                </a:solidFill>
                <a:latin typeface="Arial Unicode MS" pitchFamily="34" charset="-128"/>
                <a:ea typeface="Arial Unicode MS" pitchFamily="34" charset="-128"/>
              </a:rPr>
              <a:t>Biochemical Tests</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DD51B96-E2E6-67D4-8C54-09665AD9BE0E}"/>
                  </a:ext>
                </a:extLst>
              </p14:cNvPr>
              <p14:cNvContentPartPr/>
              <p14:nvPr/>
            </p14:nvContentPartPr>
            <p14:xfrm>
              <a:off x="8733355" y="2108152"/>
              <a:ext cx="182868" cy="587790"/>
            </p14:xfrm>
          </p:contentPart>
        </mc:Choice>
        <mc:Fallback xmlns="">
          <p:pic>
            <p:nvPicPr>
              <p:cNvPr id="4" name="Ink 3">
                <a:extLst>
                  <a:ext uri="{FF2B5EF4-FFF2-40B4-BE49-F238E27FC236}">
                    <a16:creationId xmlns:a16="http://schemas.microsoft.com/office/drawing/2014/main" id="{1DD51B96-E2E6-67D4-8C54-09665AD9BE0E}"/>
                  </a:ext>
                </a:extLst>
              </p:cNvPr>
              <p:cNvPicPr/>
              <p:nvPr/>
            </p:nvPicPr>
            <p:blipFill>
              <a:blip r:embed="rId4"/>
              <a:stretch>
                <a:fillRect/>
              </a:stretch>
            </p:blipFill>
            <p:spPr>
              <a:xfrm>
                <a:off x="8724356" y="2099153"/>
                <a:ext cx="200507" cy="605427"/>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D4A2754A-D747-0679-648A-66666AF0C1FD}"/>
                  </a:ext>
                </a:extLst>
              </p14:cNvPr>
              <p14:cNvContentPartPr/>
              <p14:nvPr/>
            </p14:nvContentPartPr>
            <p14:xfrm>
              <a:off x="9606694" y="2373020"/>
              <a:ext cx="363" cy="363"/>
            </p14:xfrm>
          </p:contentPart>
        </mc:Choice>
        <mc:Fallback xmlns="">
          <p:pic>
            <p:nvPicPr>
              <p:cNvPr id="5" name="Ink 4">
                <a:extLst>
                  <a:ext uri="{FF2B5EF4-FFF2-40B4-BE49-F238E27FC236}">
                    <a16:creationId xmlns:a16="http://schemas.microsoft.com/office/drawing/2014/main" id="{D4A2754A-D747-0679-648A-66666AF0C1FD}"/>
                  </a:ext>
                </a:extLst>
              </p:cNvPr>
              <p:cNvPicPr/>
              <p:nvPr/>
            </p:nvPicPr>
            <p:blipFill>
              <a:blip r:embed="rId6"/>
              <a:stretch>
                <a:fillRect/>
              </a:stretch>
            </p:blipFill>
            <p:spPr>
              <a:xfrm>
                <a:off x="9597619" y="2363945"/>
                <a:ext cx="18150" cy="18150"/>
              </a:xfrm>
              <a:prstGeom prst="rect">
                <a:avLst/>
              </a:prstGeom>
            </p:spPr>
          </p:pic>
        </mc:Fallback>
      </mc:AlternateContent>
      <p:pic>
        <p:nvPicPr>
          <p:cNvPr id="1028" name="Picture 4" descr="Image result for triple sugar iron test">
            <a:extLst>
              <a:ext uri="{FF2B5EF4-FFF2-40B4-BE49-F238E27FC236}">
                <a16:creationId xmlns:a16="http://schemas.microsoft.com/office/drawing/2014/main" id="{5F93BF28-ED0A-D694-7361-C3B6B8CF1BED}"/>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15705" y="927937"/>
            <a:ext cx="4768452" cy="476845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E2928688-C8B1-9124-150B-ED57F072F155}"/>
              </a:ext>
            </a:extLst>
          </p:cNvPr>
          <p:cNvSpPr txBox="1">
            <a:spLocks noChangeArrowheads="1"/>
          </p:cNvSpPr>
          <p:nvPr/>
        </p:nvSpPr>
        <p:spPr bwMode="auto">
          <a:xfrm>
            <a:off x="629083" y="4900998"/>
            <a:ext cx="4767723" cy="587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rtlCol="0" anchor="t" anchorCtr="0" compatLnSpc="1">
            <a:prstTxWarp prst="textNoShape">
              <a:avLst/>
            </a:prstTxWarp>
            <a:noAutofit/>
          </a:bodyPr>
          <a:lstStyle>
            <a:lvl1pPr algn="l" defTabSz="691218" rtl="1" eaLnBrk="0" fontAlgn="base" hangingPunct="0">
              <a:lnSpc>
                <a:spcPct val="100000"/>
              </a:lnSpc>
              <a:spcBef>
                <a:spcPct val="0"/>
              </a:spcBef>
              <a:spcAft>
                <a:spcPct val="0"/>
              </a:spcAft>
              <a:defRPr lang="en-US" sz="3628" kern="1200" dirty="0">
                <a:solidFill>
                  <a:schemeClr val="bg1"/>
                </a:solidFill>
                <a:latin typeface="+mj-lt"/>
                <a:ea typeface="+mj-ea"/>
                <a:cs typeface="+mj-cs"/>
              </a:defRPr>
            </a:lvl1pPr>
            <a:lvl2pPr algn="l" defTabSz="691218" rtl="1" eaLnBrk="0" fontAlgn="base" hangingPunct="0">
              <a:lnSpc>
                <a:spcPct val="90000"/>
              </a:lnSpc>
              <a:spcBef>
                <a:spcPct val="0"/>
              </a:spcBef>
              <a:spcAft>
                <a:spcPct val="0"/>
              </a:spcAft>
              <a:defRPr sz="2117">
                <a:solidFill>
                  <a:srgbClr val="3B3838"/>
                </a:solidFill>
                <a:latin typeface="Segoe UI Light" panose="020B0502040204020203" pitchFamily="34" charset="0"/>
              </a:defRPr>
            </a:lvl2pPr>
            <a:lvl3pPr algn="l" defTabSz="691218" rtl="1" eaLnBrk="0" fontAlgn="base" hangingPunct="0">
              <a:lnSpc>
                <a:spcPct val="90000"/>
              </a:lnSpc>
              <a:spcBef>
                <a:spcPct val="0"/>
              </a:spcBef>
              <a:spcAft>
                <a:spcPct val="0"/>
              </a:spcAft>
              <a:defRPr sz="2117">
                <a:solidFill>
                  <a:srgbClr val="3B3838"/>
                </a:solidFill>
                <a:latin typeface="Segoe UI Light" panose="020B0502040204020203" pitchFamily="34" charset="0"/>
              </a:defRPr>
            </a:lvl3pPr>
            <a:lvl4pPr algn="l" defTabSz="691218" rtl="1" eaLnBrk="0" fontAlgn="base" hangingPunct="0">
              <a:lnSpc>
                <a:spcPct val="90000"/>
              </a:lnSpc>
              <a:spcBef>
                <a:spcPct val="0"/>
              </a:spcBef>
              <a:spcAft>
                <a:spcPct val="0"/>
              </a:spcAft>
              <a:defRPr sz="2117">
                <a:solidFill>
                  <a:srgbClr val="3B3838"/>
                </a:solidFill>
                <a:latin typeface="Segoe UI Light" panose="020B0502040204020203" pitchFamily="34" charset="0"/>
              </a:defRPr>
            </a:lvl4pPr>
            <a:lvl5pPr algn="l" defTabSz="691218" rtl="1" eaLnBrk="0" fontAlgn="base" hangingPunct="0">
              <a:lnSpc>
                <a:spcPct val="90000"/>
              </a:lnSpc>
              <a:spcBef>
                <a:spcPct val="0"/>
              </a:spcBef>
              <a:spcAft>
                <a:spcPct val="0"/>
              </a:spcAft>
              <a:defRPr sz="2117">
                <a:solidFill>
                  <a:srgbClr val="3B3838"/>
                </a:solidFill>
                <a:latin typeface="Segoe UI Light" panose="020B0502040204020203" pitchFamily="34" charset="0"/>
              </a:defRPr>
            </a:lvl5pPr>
            <a:lvl6pPr marL="460812" algn="l" defTabSz="691218" rtl="1" fontAlgn="base">
              <a:lnSpc>
                <a:spcPct val="90000"/>
              </a:lnSpc>
              <a:spcBef>
                <a:spcPct val="0"/>
              </a:spcBef>
              <a:spcAft>
                <a:spcPct val="0"/>
              </a:spcAft>
              <a:defRPr sz="2117">
                <a:solidFill>
                  <a:srgbClr val="3B3838"/>
                </a:solidFill>
                <a:latin typeface="Segoe UI Light" panose="020B0502040204020203" pitchFamily="34" charset="0"/>
              </a:defRPr>
            </a:lvl6pPr>
            <a:lvl7pPr marL="921624" algn="l" defTabSz="691218" rtl="1" fontAlgn="base">
              <a:lnSpc>
                <a:spcPct val="90000"/>
              </a:lnSpc>
              <a:spcBef>
                <a:spcPct val="0"/>
              </a:spcBef>
              <a:spcAft>
                <a:spcPct val="0"/>
              </a:spcAft>
              <a:defRPr sz="2117">
                <a:solidFill>
                  <a:srgbClr val="3B3838"/>
                </a:solidFill>
                <a:latin typeface="Segoe UI Light" panose="020B0502040204020203" pitchFamily="34" charset="0"/>
              </a:defRPr>
            </a:lvl7pPr>
            <a:lvl8pPr marL="1382436" algn="l" defTabSz="691218" rtl="1" fontAlgn="base">
              <a:lnSpc>
                <a:spcPct val="90000"/>
              </a:lnSpc>
              <a:spcBef>
                <a:spcPct val="0"/>
              </a:spcBef>
              <a:spcAft>
                <a:spcPct val="0"/>
              </a:spcAft>
              <a:defRPr sz="2117">
                <a:solidFill>
                  <a:srgbClr val="3B3838"/>
                </a:solidFill>
                <a:latin typeface="Segoe UI Light" panose="020B0502040204020203" pitchFamily="34" charset="0"/>
              </a:defRPr>
            </a:lvl8pPr>
            <a:lvl9pPr marL="1843248" algn="l" defTabSz="691218" rtl="1" fontAlgn="base">
              <a:lnSpc>
                <a:spcPct val="90000"/>
              </a:lnSpc>
              <a:spcBef>
                <a:spcPct val="0"/>
              </a:spcBef>
              <a:spcAft>
                <a:spcPct val="0"/>
              </a:spcAft>
              <a:defRPr sz="2117">
                <a:solidFill>
                  <a:srgbClr val="3B3838"/>
                </a:solidFill>
                <a:latin typeface="Segoe UI Light" panose="020B0502040204020203" pitchFamily="34" charset="0"/>
              </a:defRPr>
            </a:lvl9pPr>
          </a:lstStyle>
          <a:p>
            <a:pPr eaLnBrk="1" hangingPunct="1"/>
            <a:r>
              <a:rPr lang="en-GB" altLang="en-US" sz="2800" b="1" dirty="0">
                <a:solidFill>
                  <a:srgbClr val="002060"/>
                </a:solidFill>
                <a:latin typeface="Arial Unicode MS" pitchFamily="34" charset="-128"/>
                <a:ea typeface="Arial Unicode MS" pitchFamily="34" charset="-128"/>
              </a:rPr>
              <a:t>Next Lab: Media (Online)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119" y="1703387"/>
            <a:ext cx="12192000" cy="3024186"/>
          </a:xfrm>
        </p:spPr>
        <p:txBody>
          <a:bodyPr>
            <a:noAutofit/>
          </a:bodyPr>
          <a:lstStyle/>
          <a:p>
            <a:pPr algn="l">
              <a:lnSpc>
                <a:spcPct val="150000"/>
              </a:lnSpc>
            </a:pPr>
            <a:r>
              <a:rPr lang="en-US" sz="3200" b="1" dirty="0"/>
              <a:t> </a:t>
            </a:r>
            <a:r>
              <a:rPr lang="en-US" sz="3600" b="1" dirty="0">
                <a:solidFill>
                  <a:srgbClr val="0070C0"/>
                </a:solidFill>
              </a:rPr>
              <a:t>Identification Approach</a:t>
            </a:r>
            <a:r>
              <a:rPr lang="en-US" sz="3600" b="1" dirty="0">
                <a:solidFill>
                  <a:srgbClr val="FF0000"/>
                </a:solidFill>
              </a:rPr>
              <a:t>: </a:t>
            </a:r>
            <a:br>
              <a:rPr lang="en-US" sz="3600" b="1" dirty="0">
                <a:solidFill>
                  <a:srgbClr val="FF0000"/>
                </a:solidFill>
              </a:rPr>
            </a:br>
            <a:r>
              <a:rPr lang="en-US" sz="3200" b="1" dirty="0">
                <a:solidFill>
                  <a:srgbClr val="FF0000"/>
                </a:solidFill>
                <a:latin typeface="Roboto" panose="02000000000000000000" pitchFamily="2" charset="0"/>
              </a:rPr>
              <a:t>G</a:t>
            </a:r>
            <a:r>
              <a:rPr lang="en-US" sz="3200" b="1" i="0" dirty="0">
                <a:solidFill>
                  <a:srgbClr val="FF0000"/>
                </a:solidFill>
                <a:effectLst/>
                <a:latin typeface="Roboto" panose="02000000000000000000" pitchFamily="2" charset="0"/>
              </a:rPr>
              <a:t>enotypic, chemotaxonomic, and phenotypic methods of characterizing the bacteria in order to find its taxonomic position.</a:t>
            </a:r>
            <a:r>
              <a:rPr lang="en-US" sz="3200" b="1" i="0" dirty="0">
                <a:solidFill>
                  <a:srgbClr val="FF0000"/>
                </a:solidFill>
                <a:effectLst/>
                <a:latin typeface="Roboto" panose="020B0604020202020204" pitchFamily="2" charset="0"/>
              </a:rPr>
              <a:t>.</a:t>
            </a:r>
            <a:r>
              <a:rPr lang="en-US" sz="3200" b="1" dirty="0">
                <a:solidFill>
                  <a:srgbClr val="FF0000"/>
                </a:solidFill>
              </a:rPr>
              <a:t> </a:t>
            </a:r>
            <a:br>
              <a:rPr lang="en-US" sz="3200" b="1" dirty="0">
                <a:solidFill>
                  <a:srgbClr val="FF0000"/>
                </a:solidFill>
              </a:rPr>
            </a:br>
            <a:r>
              <a:rPr lang="en-US" sz="3200" b="1" dirty="0">
                <a:solidFill>
                  <a:srgbClr val="FF0000"/>
                </a:solidFill>
                <a:latin typeface="Roboto" panose="02000000000000000000" pitchFamily="2" charset="0"/>
              </a:rPr>
              <a:t>C</a:t>
            </a:r>
            <a:r>
              <a:rPr lang="en-US" sz="3200" b="1" i="0" dirty="0">
                <a:solidFill>
                  <a:srgbClr val="FF0000"/>
                </a:solidFill>
                <a:effectLst/>
                <a:latin typeface="Roboto" panose="02000000000000000000" pitchFamily="2" charset="0"/>
              </a:rPr>
              <a:t>olonial, cellular, and biochemical characterization is needed</a:t>
            </a:r>
            <a:r>
              <a:rPr lang="en-US" sz="2400" b="0" i="0" dirty="0">
                <a:solidFill>
                  <a:srgbClr val="111111"/>
                </a:solidFill>
                <a:effectLst/>
                <a:latin typeface="Roboto" panose="02000000000000000000" pitchFamily="2" charset="0"/>
              </a:rPr>
              <a:t>.</a:t>
            </a:r>
            <a:br>
              <a:rPr lang="en-US" sz="3200" dirty="0">
                <a:solidFill>
                  <a:srgbClr val="FF0000"/>
                </a:solidFill>
              </a:rPr>
            </a:br>
            <a:endParaRPr lang="ar-JO" sz="3200" dirty="0">
              <a:solidFill>
                <a:srgbClr val="FF0000"/>
              </a:solidFill>
            </a:endParaRPr>
          </a:p>
        </p:txBody>
      </p:sp>
    </p:spTree>
    <p:extLst>
      <p:ext uri="{BB962C8B-B14F-4D97-AF65-F5344CB8AC3E}">
        <p14:creationId xmlns:p14="http://schemas.microsoft.com/office/powerpoint/2010/main" val="2677965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938" y="574658"/>
            <a:ext cx="12192000" cy="2857515"/>
          </a:xfrm>
        </p:spPr>
        <p:txBody>
          <a:bodyPr>
            <a:noAutofit/>
          </a:bodyPr>
          <a:lstStyle/>
          <a:p>
            <a:pPr algn="l">
              <a:lnSpc>
                <a:spcPct val="150000"/>
              </a:lnSpc>
            </a:pPr>
            <a:r>
              <a:rPr lang="en-US" sz="3200" b="1" dirty="0"/>
              <a:t> </a:t>
            </a:r>
            <a:r>
              <a:rPr lang="en-US" sz="3600" b="1" dirty="0">
                <a:solidFill>
                  <a:srgbClr val="0070C0"/>
                </a:solidFill>
              </a:rPr>
              <a:t>Biochemical tests</a:t>
            </a:r>
            <a:r>
              <a:rPr lang="en-US" sz="3600" b="1" dirty="0">
                <a:solidFill>
                  <a:srgbClr val="FF0000"/>
                </a:solidFill>
              </a:rPr>
              <a:t>: </a:t>
            </a:r>
            <a:br>
              <a:rPr lang="en-US" sz="3600" b="1" dirty="0">
                <a:solidFill>
                  <a:srgbClr val="FF0000"/>
                </a:solidFill>
              </a:rPr>
            </a:br>
            <a:r>
              <a:rPr lang="en-US" sz="3200" dirty="0">
                <a:solidFill>
                  <a:srgbClr val="FF0000"/>
                </a:solidFill>
                <a:latin typeface="Roboto" panose="020B0604020202020204" pitchFamily="2" charset="0"/>
              </a:rPr>
              <a:t>T</a:t>
            </a:r>
            <a:r>
              <a:rPr lang="en-US" sz="3200" i="0" dirty="0">
                <a:solidFill>
                  <a:srgbClr val="FF0000"/>
                </a:solidFill>
                <a:effectLst/>
                <a:latin typeface="Roboto" panose="020B0604020202020204" pitchFamily="2" charset="0"/>
              </a:rPr>
              <a:t>he tests that are performed on bacteria for their identification on the basis of their biochemical activities towards different biochemical compounds.</a:t>
            </a:r>
            <a:r>
              <a:rPr lang="en-US" sz="3200" dirty="0">
                <a:solidFill>
                  <a:srgbClr val="FF0000"/>
                </a:solidFill>
              </a:rPr>
              <a:t> </a:t>
            </a:r>
            <a:br>
              <a:rPr lang="en-US" sz="3200" dirty="0">
                <a:solidFill>
                  <a:srgbClr val="FF0000"/>
                </a:solidFill>
              </a:rPr>
            </a:br>
            <a:endParaRPr lang="ar-JO" sz="3200" dirty="0">
              <a:solidFill>
                <a:srgbClr val="FF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00349257"/>
              </p:ext>
            </p:extLst>
          </p:nvPr>
        </p:nvGraphicFramePr>
        <p:xfrm>
          <a:off x="416719" y="3913187"/>
          <a:ext cx="11860213" cy="12024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3">
            <a:extLst>
              <a:ext uri="{FF2B5EF4-FFF2-40B4-BE49-F238E27FC236}">
                <a16:creationId xmlns:a16="http://schemas.microsoft.com/office/drawing/2014/main" id="{0A1757AB-0164-D0A8-EC24-D19D0C464F07}"/>
              </a:ext>
            </a:extLst>
          </p:cNvPr>
          <p:cNvGraphicFramePr>
            <a:graphicFrameLocks/>
          </p:cNvGraphicFramePr>
          <p:nvPr>
            <p:extLst>
              <p:ext uri="{D42A27DB-BD31-4B8C-83A1-F6EECF244321}">
                <p14:modId xmlns:p14="http://schemas.microsoft.com/office/powerpoint/2010/main" val="2868289387"/>
              </p:ext>
            </p:extLst>
          </p:nvPr>
        </p:nvGraphicFramePr>
        <p:xfrm>
          <a:off x="2016919" y="2936859"/>
          <a:ext cx="7238999" cy="120249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23659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3">
            <a:extLst>
              <a:ext uri="{FF2B5EF4-FFF2-40B4-BE49-F238E27FC236}">
                <a16:creationId xmlns:a16="http://schemas.microsoft.com/office/drawing/2014/main" id="{0A1757AB-0164-D0A8-EC24-D19D0C464F07}"/>
              </a:ext>
            </a:extLst>
          </p:cNvPr>
          <p:cNvGraphicFramePr>
            <a:graphicFrameLocks/>
          </p:cNvGraphicFramePr>
          <p:nvPr>
            <p:extLst>
              <p:ext uri="{D42A27DB-BD31-4B8C-83A1-F6EECF244321}">
                <p14:modId xmlns:p14="http://schemas.microsoft.com/office/powerpoint/2010/main" val="4233575002"/>
              </p:ext>
            </p:extLst>
          </p:nvPr>
        </p:nvGraphicFramePr>
        <p:xfrm>
          <a:off x="531019" y="895496"/>
          <a:ext cx="11326812" cy="12024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Rounded Corners 4">
            <a:extLst>
              <a:ext uri="{FF2B5EF4-FFF2-40B4-BE49-F238E27FC236}">
                <a16:creationId xmlns:a16="http://schemas.microsoft.com/office/drawing/2014/main" id="{CECAF2E5-1CD9-A0BA-F08A-256C992EE4EE}"/>
              </a:ext>
            </a:extLst>
          </p:cNvPr>
          <p:cNvSpPr txBox="1"/>
          <p:nvPr/>
        </p:nvSpPr>
        <p:spPr>
          <a:xfrm>
            <a:off x="264319" y="2612448"/>
            <a:ext cx="11860213" cy="1743655"/>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pPr lvl="0" algn="l" rtl="0"/>
            <a:r>
              <a:rPr lang="en-US" sz="4000" b="1" dirty="0">
                <a:solidFill>
                  <a:srgbClr val="0070C0"/>
                </a:solidFill>
              </a:rPr>
              <a:t>   </a:t>
            </a:r>
            <a:r>
              <a:rPr lang="en-US" sz="4000" b="1" dirty="0">
                <a:solidFill>
                  <a:srgbClr val="FF0000"/>
                </a:solidFill>
              </a:rPr>
              <a:t>Intracellular</a:t>
            </a:r>
            <a:endParaRPr lang="en-US" sz="2000" b="1" dirty="0">
              <a:solidFill>
                <a:srgbClr val="FF0000"/>
              </a:solidFill>
            </a:endParaRPr>
          </a:p>
          <a:p>
            <a:pPr lvl="0" algn="l" rtl="0"/>
            <a:r>
              <a:rPr lang="en-US" sz="2000" b="1" i="0" dirty="0">
                <a:solidFill>
                  <a:srgbClr val="0070C0"/>
                </a:solidFill>
                <a:latin typeface="+mn-lt"/>
              </a:rPr>
              <a:t>      (</a:t>
            </a:r>
            <a:r>
              <a:rPr lang="en-US" sz="2400" b="1" i="0" dirty="0">
                <a:solidFill>
                  <a:srgbClr val="0070C0"/>
                </a:solidFill>
                <a:latin typeface="+mn-lt"/>
              </a:rPr>
              <a:t>Work inside the </a:t>
            </a:r>
            <a:r>
              <a:rPr lang="en-US" sz="2400" b="1" dirty="0">
                <a:solidFill>
                  <a:srgbClr val="0070C0"/>
                </a:solidFill>
                <a:latin typeface="+mn-lt"/>
              </a:rPr>
              <a:t>bacteria to break down </a:t>
            </a:r>
            <a:r>
              <a:rPr lang="en-US" sz="2400" b="1" i="0" dirty="0">
                <a:solidFill>
                  <a:srgbClr val="0070C0"/>
                </a:solidFill>
                <a:latin typeface="+mn-lt"/>
              </a:rPr>
              <a:t>the nutrients to yield energy). Ex.  All enzymes   </a:t>
            </a:r>
          </a:p>
          <a:p>
            <a:pPr lvl="0" algn="l" rtl="0"/>
            <a:r>
              <a:rPr lang="en-US" sz="2400" b="1" dirty="0">
                <a:solidFill>
                  <a:srgbClr val="0070C0"/>
                </a:solidFill>
              </a:rPr>
              <a:t>       </a:t>
            </a:r>
            <a:r>
              <a:rPr lang="en-US" sz="2400" b="1" i="0" dirty="0">
                <a:solidFill>
                  <a:srgbClr val="0070C0"/>
                </a:solidFill>
                <a:latin typeface="+mn-lt"/>
              </a:rPr>
              <a:t>involved in fermentation, glycolysis, and Krebs  cycle.</a:t>
            </a:r>
            <a:r>
              <a:rPr lang="en-US" sz="2400" b="0" i="0" dirty="0">
                <a:solidFill>
                  <a:srgbClr val="0070C0"/>
                </a:solidFill>
                <a:latin typeface="+mn-lt"/>
              </a:rPr>
              <a:t> </a:t>
            </a:r>
            <a:endParaRPr lang="ar-JO" sz="2400" b="1" dirty="0">
              <a:solidFill>
                <a:srgbClr val="0070C0"/>
              </a:solidFill>
              <a:latin typeface="+mn-lt"/>
            </a:endParaRPr>
          </a:p>
        </p:txBody>
      </p:sp>
      <p:sp>
        <p:nvSpPr>
          <p:cNvPr id="11" name="Rectangle: Rounded Corners 4">
            <a:extLst>
              <a:ext uri="{FF2B5EF4-FFF2-40B4-BE49-F238E27FC236}">
                <a16:creationId xmlns:a16="http://schemas.microsoft.com/office/drawing/2014/main" id="{2066DB57-ECA8-FFAC-EC52-2F0C0EA7E5B0}"/>
              </a:ext>
            </a:extLst>
          </p:cNvPr>
          <p:cNvSpPr txBox="1"/>
          <p:nvPr/>
        </p:nvSpPr>
        <p:spPr>
          <a:xfrm>
            <a:off x="400571" y="4329400"/>
            <a:ext cx="12774886" cy="1743655"/>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pPr lvl="0" algn="l"/>
            <a:r>
              <a:rPr lang="en-US" sz="4000" b="1" dirty="0">
                <a:latin typeface="+mn-lt"/>
              </a:rPr>
              <a:t>  </a:t>
            </a:r>
            <a:r>
              <a:rPr lang="en-US" sz="4000" b="1" dirty="0">
                <a:solidFill>
                  <a:srgbClr val="FF0000"/>
                </a:solidFill>
                <a:latin typeface="+mn-lt"/>
              </a:rPr>
              <a:t>Extracellular</a:t>
            </a:r>
          </a:p>
          <a:p>
            <a:pPr lvl="0" algn="l"/>
            <a:r>
              <a:rPr lang="en-US" sz="2400" b="1" dirty="0">
                <a:solidFill>
                  <a:srgbClr val="0070C0"/>
                </a:solidFill>
                <a:latin typeface="+mn-lt"/>
              </a:rPr>
              <a:t>   (Synthesized  in bacteria and  secreted outside the cell to convert the high molecular compounds  </a:t>
            </a:r>
          </a:p>
          <a:p>
            <a:pPr lvl="0" algn="l"/>
            <a:r>
              <a:rPr lang="en-US" sz="2400" b="1" dirty="0">
                <a:solidFill>
                  <a:srgbClr val="0070C0"/>
                </a:solidFill>
              </a:rPr>
              <a:t>    t</a:t>
            </a:r>
            <a:r>
              <a:rPr lang="en-US" sz="2400" b="1" dirty="0">
                <a:solidFill>
                  <a:srgbClr val="0070C0"/>
                </a:solidFill>
                <a:latin typeface="+mn-lt"/>
              </a:rPr>
              <a:t>o low one) Ex. Amylase and Maltase</a:t>
            </a:r>
            <a:endParaRPr lang="ar-JO" sz="2400" b="1" dirty="0">
              <a:solidFill>
                <a:srgbClr val="0070C0"/>
              </a:solidFill>
              <a:latin typeface="+mn-lt"/>
            </a:endParaRPr>
          </a:p>
        </p:txBody>
      </p:sp>
    </p:spTree>
    <p:extLst>
      <p:ext uri="{BB962C8B-B14F-4D97-AF65-F5344CB8AC3E}">
        <p14:creationId xmlns:p14="http://schemas.microsoft.com/office/powerpoint/2010/main" val="3571188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514718" y="331787"/>
            <a:ext cx="11324783" cy="606179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119" y="331787"/>
            <a:ext cx="10744200" cy="941387"/>
          </a:xfrm>
        </p:spPr>
        <p:txBody>
          <a:bodyPr>
            <a:normAutofit/>
          </a:bodyPr>
          <a:lstStyle/>
          <a:p>
            <a:pPr algn="l" rtl="0"/>
            <a:r>
              <a:rPr lang="en-US" sz="4000" b="1" dirty="0">
                <a:latin typeface="+mj-lt"/>
              </a:rPr>
              <a:t>Intracellular Enzymes </a:t>
            </a:r>
            <a:r>
              <a:rPr lang="en-US" sz="5200" b="1" dirty="0">
                <a:latin typeface="+mj-lt"/>
              </a:rPr>
              <a:t>:</a:t>
            </a:r>
            <a:r>
              <a:rPr lang="en-US" b="1" dirty="0">
                <a:latin typeface="+mj-lt"/>
              </a:rPr>
              <a:t> </a:t>
            </a:r>
            <a:r>
              <a:rPr lang="en-US" sz="3600" b="1" dirty="0">
                <a:solidFill>
                  <a:schemeClr val="tx2"/>
                </a:solidFill>
                <a:latin typeface="+mj-lt"/>
              </a:rPr>
              <a:t>Carbohydrate Fermentation</a:t>
            </a:r>
            <a:endParaRPr lang="ar-JO" b="1" dirty="0">
              <a:solidFill>
                <a:schemeClr val="tx2"/>
              </a:solidFill>
              <a:latin typeface="+mj-lt"/>
            </a:endParaRPr>
          </a:p>
        </p:txBody>
      </p:sp>
      <p:sp>
        <p:nvSpPr>
          <p:cNvPr id="3" name="Content Placeholder 2"/>
          <p:cNvSpPr>
            <a:spLocks noGrp="1"/>
          </p:cNvSpPr>
          <p:nvPr>
            <p:ph idx="1"/>
          </p:nvPr>
        </p:nvSpPr>
        <p:spPr>
          <a:xfrm>
            <a:off x="569119" y="1627187"/>
            <a:ext cx="9245077" cy="523220"/>
          </a:xfrm>
        </p:spPr>
        <p:txBody>
          <a:bodyPr>
            <a:normAutofit/>
          </a:bodyPr>
          <a:lstStyle/>
          <a:p>
            <a:pPr algn="l" rtl="0">
              <a:buNone/>
            </a:pPr>
            <a:r>
              <a:rPr lang="en-US" sz="2500" b="1" dirty="0">
                <a:solidFill>
                  <a:schemeClr val="accent2"/>
                </a:solidFill>
              </a:rPr>
              <a:t>The differences between respiration and fermentation? </a:t>
            </a:r>
            <a:endParaRPr lang="ar-JO" sz="2500" b="1" dirty="0">
              <a:solidFill>
                <a:schemeClr val="accent2"/>
              </a:solidFill>
            </a:endParaRPr>
          </a:p>
        </p:txBody>
      </p:sp>
      <p:graphicFrame>
        <p:nvGraphicFramePr>
          <p:cNvPr id="4" name="Diagram 3"/>
          <p:cNvGraphicFramePr/>
          <p:nvPr>
            <p:extLst>
              <p:ext uri="{D42A27DB-BD31-4B8C-83A1-F6EECF244321}">
                <p14:modId xmlns:p14="http://schemas.microsoft.com/office/powerpoint/2010/main" val="1261908772"/>
              </p:ext>
            </p:extLst>
          </p:nvPr>
        </p:nvGraphicFramePr>
        <p:xfrm>
          <a:off x="416719" y="2160587"/>
          <a:ext cx="12354310" cy="41040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319" y="255587"/>
            <a:ext cx="6705600" cy="554471"/>
          </a:xfrm>
        </p:spPr>
        <p:txBody>
          <a:bodyPr/>
          <a:lstStyle/>
          <a:p>
            <a:pPr algn="l"/>
            <a:r>
              <a:rPr lang="fr-FR" sz="3200" b="1" dirty="0">
                <a:latin typeface="+mj-lt"/>
              </a:rPr>
              <a:t>Test # 1: Triple Suger </a:t>
            </a:r>
            <a:r>
              <a:rPr lang="fr-FR" sz="3200" b="1" dirty="0" err="1">
                <a:latin typeface="+mj-lt"/>
              </a:rPr>
              <a:t>Iron</a:t>
            </a:r>
            <a:r>
              <a:rPr lang="fr-FR" sz="3200" b="1" dirty="0">
                <a:latin typeface="+mj-lt"/>
              </a:rPr>
              <a:t> Agar ( TSI )</a:t>
            </a:r>
            <a:endParaRPr lang="ar-JO" sz="3200" b="1" dirty="0">
              <a:latin typeface="+mj-lt"/>
            </a:endParaRPr>
          </a:p>
        </p:txBody>
      </p:sp>
      <p:sp>
        <p:nvSpPr>
          <p:cNvPr id="3" name="Content Placeholder 2"/>
          <p:cNvSpPr>
            <a:spLocks noGrp="1"/>
          </p:cNvSpPr>
          <p:nvPr>
            <p:ph idx="1"/>
          </p:nvPr>
        </p:nvSpPr>
        <p:spPr>
          <a:xfrm>
            <a:off x="645319" y="2008187"/>
            <a:ext cx="10287000" cy="3096010"/>
          </a:xfrm>
        </p:spPr>
        <p:txBody>
          <a:bodyPr>
            <a:noAutofit/>
          </a:bodyPr>
          <a:lstStyle/>
          <a:p>
            <a:pPr algn="l" rtl="0">
              <a:buNone/>
            </a:pPr>
            <a:r>
              <a:rPr lang="en-US" sz="2000" b="1" dirty="0">
                <a:solidFill>
                  <a:srgbClr val="FF0000"/>
                </a:solidFill>
              </a:rPr>
              <a:t>      This media contains: </a:t>
            </a:r>
          </a:p>
          <a:p>
            <a:pPr algn="l" rtl="0"/>
            <a:r>
              <a:rPr lang="ar-JO" sz="2000" b="1" dirty="0">
                <a:solidFill>
                  <a:srgbClr val="FF0000"/>
                </a:solidFill>
              </a:rPr>
              <a:t>Three different types of sugars</a:t>
            </a:r>
            <a:r>
              <a:rPr lang="en-US" sz="2000" b="1" dirty="0">
                <a:solidFill>
                  <a:srgbClr val="FF0000"/>
                </a:solidFill>
              </a:rPr>
              <a:t> :</a:t>
            </a:r>
            <a:r>
              <a:rPr lang="en-US" sz="2000" b="1" dirty="0">
                <a:solidFill>
                  <a:schemeClr val="accent2"/>
                </a:solidFill>
              </a:rPr>
              <a:t> </a:t>
            </a:r>
            <a:r>
              <a:rPr lang="en-US" sz="2000" dirty="0"/>
              <a:t>lactose and sucrose1.0% , and glucose 0.1%</a:t>
            </a:r>
          </a:p>
          <a:p>
            <a:pPr algn="l" rtl="0"/>
            <a:endParaRPr lang="en-US" sz="2000" dirty="0"/>
          </a:p>
          <a:p>
            <a:pPr algn="l" rtl="0"/>
            <a:endParaRPr lang="en-US" sz="2000" dirty="0"/>
          </a:p>
          <a:p>
            <a:pPr marL="0" indent="0"/>
            <a:r>
              <a:rPr lang="en-US" sz="2000" b="1" dirty="0">
                <a:solidFill>
                  <a:srgbClr val="FF0000"/>
                </a:solidFill>
              </a:rPr>
              <a:t>   pH indicator: </a:t>
            </a:r>
            <a:r>
              <a:rPr lang="en-US" sz="2000" dirty="0"/>
              <a:t>Phenol red </a:t>
            </a:r>
          </a:p>
          <a:p>
            <a:pPr algn="l" rtl="0"/>
            <a:endParaRPr lang="en-US" sz="2000" b="1" dirty="0">
              <a:solidFill>
                <a:schemeClr val="accent2"/>
              </a:solidFill>
            </a:endParaRPr>
          </a:p>
          <a:p>
            <a:pPr algn="l" rtl="0"/>
            <a:endParaRPr lang="en-US" sz="2000" b="1" dirty="0">
              <a:solidFill>
                <a:schemeClr val="accent2"/>
              </a:solidFill>
            </a:endParaRPr>
          </a:p>
          <a:p>
            <a:pPr algn="l" rtl="0"/>
            <a:endParaRPr lang="en-US" sz="2000" b="1" dirty="0">
              <a:solidFill>
                <a:schemeClr val="accent2"/>
              </a:solidFill>
            </a:endParaRPr>
          </a:p>
          <a:p>
            <a:pPr algn="l" rtl="0"/>
            <a:endParaRPr lang="en-US" sz="2000" b="1" dirty="0">
              <a:solidFill>
                <a:schemeClr val="accent2"/>
              </a:solidFill>
            </a:endParaRPr>
          </a:p>
          <a:p>
            <a:pPr algn="l" rtl="0"/>
            <a:r>
              <a:rPr lang="en-US" sz="2000" b="1" dirty="0">
                <a:solidFill>
                  <a:srgbClr val="FF0000"/>
                </a:solidFill>
              </a:rPr>
              <a:t>Sulfur source: </a:t>
            </a:r>
            <a:r>
              <a:rPr lang="en-US" sz="2000" dirty="0"/>
              <a:t>Sodium </a:t>
            </a:r>
            <a:r>
              <a:rPr lang="en-US" sz="2000" dirty="0" err="1"/>
              <a:t>thiosulate</a:t>
            </a:r>
            <a:r>
              <a:rPr lang="en-US" sz="2000" dirty="0"/>
              <a:t> or </a:t>
            </a:r>
            <a:r>
              <a:rPr lang="en-US" sz="2000" dirty="0" err="1"/>
              <a:t>cysteine</a:t>
            </a:r>
            <a:endParaRPr lang="en-US" sz="2000" dirty="0"/>
          </a:p>
          <a:p>
            <a:pPr algn="l" rtl="0"/>
            <a:r>
              <a:rPr lang="en-US" sz="2000" b="1" dirty="0">
                <a:solidFill>
                  <a:srgbClr val="FF0000"/>
                </a:solidFill>
              </a:rPr>
              <a:t>Sulfur indicator: </a:t>
            </a:r>
            <a:r>
              <a:rPr lang="en-US" sz="2000" dirty="0"/>
              <a:t>Ferrous sulfate ( FeS04 ) </a:t>
            </a:r>
          </a:p>
          <a:p>
            <a:pPr algn="l" rtl="0"/>
            <a:r>
              <a:rPr lang="en-US" sz="2000" b="1" dirty="0">
                <a:solidFill>
                  <a:srgbClr val="FF0000"/>
                </a:solidFill>
              </a:rPr>
              <a:t>Carbon 'source : </a:t>
            </a:r>
            <a:r>
              <a:rPr lang="en-US" sz="2000" dirty="0"/>
              <a:t>Peptone</a:t>
            </a:r>
          </a:p>
          <a:p>
            <a:pPr algn="l" rtl="0"/>
            <a:endParaRPr lang="en-US" sz="2000" dirty="0"/>
          </a:p>
          <a:p>
            <a:pPr algn="l" rtl="0"/>
            <a:endParaRPr lang="en-US" sz="2000" dirty="0"/>
          </a:p>
          <a:p>
            <a:pPr algn="l" rtl="0"/>
            <a:endParaRPr lang="en-US" sz="2000" dirty="0"/>
          </a:p>
          <a:p>
            <a:pPr algn="l" rtl="0"/>
            <a:endParaRPr lang="en-US" sz="2000" dirty="0"/>
          </a:p>
          <a:p>
            <a:pPr algn="l" rtl="0"/>
            <a:endParaRPr lang="ar-JO" sz="2000" dirty="0"/>
          </a:p>
        </p:txBody>
      </p:sp>
      <p:sp>
        <p:nvSpPr>
          <p:cNvPr id="4" name="Rectangle 3"/>
          <p:cNvSpPr/>
          <p:nvPr/>
        </p:nvSpPr>
        <p:spPr>
          <a:xfrm>
            <a:off x="569119" y="941387"/>
            <a:ext cx="11839547" cy="651363"/>
          </a:xfrm>
          <a:prstGeom prst="rect">
            <a:avLst/>
          </a:prstGeom>
          <a:ln>
            <a:solidFill>
              <a:schemeClr val="accent2"/>
            </a:solidFill>
          </a:ln>
        </p:spPr>
        <p:txBody>
          <a:bodyPr wrap="square" lIns="96423" tIns="48212" rIns="96423" bIns="48212">
            <a:spAutoFit/>
          </a:bodyPr>
          <a:lstStyle/>
          <a:p>
            <a:pPr marL="6350" indent="22225" algn="just" rtl="0">
              <a:spcBef>
                <a:spcPts val="1661"/>
              </a:spcBef>
              <a:tabLst>
                <a:tab pos="0" algn="l"/>
                <a:tab pos="1703388" algn="l"/>
              </a:tabLst>
            </a:pPr>
            <a:r>
              <a:rPr lang="ar-JO" b="1" dirty="0">
                <a:solidFill>
                  <a:srgbClr val="FF0000"/>
                </a:solidFill>
                <a:latin typeface="Calibri"/>
                <a:cs typeface="Calibri"/>
              </a:rPr>
              <a:t>Principle</a:t>
            </a:r>
            <a:r>
              <a:rPr lang="en-US" b="1" dirty="0">
                <a:solidFill>
                  <a:schemeClr val="accent2"/>
                </a:solidFill>
                <a:latin typeface="+mn-lt"/>
              </a:rPr>
              <a:t>:</a:t>
            </a:r>
            <a:r>
              <a:rPr lang="ar-JO" dirty="0">
                <a:latin typeface="Calibri"/>
                <a:cs typeface="Calibri"/>
              </a:rPr>
              <a:t>To determine the ability of </a:t>
            </a:r>
            <a:r>
              <a:rPr lang="en-US" dirty="0">
                <a:latin typeface="Calibri"/>
                <a:cs typeface="Arial"/>
              </a:rPr>
              <a:t>bacteria </a:t>
            </a:r>
            <a:r>
              <a:rPr lang="ar-JO" dirty="0">
                <a:latin typeface="Calibri"/>
                <a:cs typeface="Calibri"/>
              </a:rPr>
              <a:t>to </a:t>
            </a:r>
            <a:r>
              <a:rPr lang="en-US" dirty="0">
                <a:latin typeface="Calibri"/>
                <a:cs typeface="Arial"/>
              </a:rPr>
              <a:t>ferment </a:t>
            </a:r>
            <a:r>
              <a:rPr lang="ar-JO" dirty="0">
                <a:latin typeface="Calibri"/>
                <a:cs typeface="Calibri"/>
              </a:rPr>
              <a:t>a specific carbohydrate  incorporated into a growth medium, with or without the production  of gas, along with the determination of possible hydrogen sulphide  production.</a:t>
            </a:r>
            <a:endParaRPr lang="ar-JO" dirty="0">
              <a:latin typeface="+mn-lt"/>
            </a:endParaRPr>
          </a:p>
        </p:txBody>
      </p:sp>
      <p:cxnSp>
        <p:nvCxnSpPr>
          <p:cNvPr id="6" name="Straight Arrow Connector 5"/>
          <p:cNvCxnSpPr/>
          <p:nvPr/>
        </p:nvCxnSpPr>
        <p:spPr>
          <a:xfrm>
            <a:off x="3998120" y="3815105"/>
            <a:ext cx="1219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a:off x="3921920" y="3891305"/>
            <a:ext cx="1295400" cy="457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 name="Straight Arrow Connector 7"/>
          <p:cNvCxnSpPr/>
          <p:nvPr/>
        </p:nvCxnSpPr>
        <p:spPr>
          <a:xfrm flipV="1">
            <a:off x="3921920" y="3281705"/>
            <a:ext cx="1143000" cy="457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 name="Rectangle 8"/>
          <p:cNvSpPr/>
          <p:nvPr/>
        </p:nvSpPr>
        <p:spPr>
          <a:xfrm>
            <a:off x="4379119" y="3455987"/>
            <a:ext cx="1693284" cy="400110"/>
          </a:xfrm>
          <a:prstGeom prst="rect">
            <a:avLst/>
          </a:prstGeom>
        </p:spPr>
        <p:txBody>
          <a:bodyPr wrap="none">
            <a:spAutoFit/>
          </a:bodyPr>
          <a:lstStyle/>
          <a:p>
            <a:r>
              <a:rPr lang="en-US" sz="2000" b="1" dirty="0">
                <a:latin typeface="+mn-lt"/>
              </a:rPr>
              <a:t>Neutral :   </a:t>
            </a:r>
            <a:r>
              <a:rPr lang="en-US" sz="2000" b="1" dirty="0">
                <a:solidFill>
                  <a:srgbClr val="C00000"/>
                </a:solidFill>
                <a:latin typeface="+mn-lt"/>
              </a:rPr>
              <a:t>Red</a:t>
            </a:r>
            <a:endParaRPr lang="ar-JO" sz="2000" b="1" dirty="0">
              <a:solidFill>
                <a:srgbClr val="C00000"/>
              </a:solidFill>
              <a:latin typeface="+mn-lt"/>
            </a:endParaRPr>
          </a:p>
        </p:txBody>
      </p:sp>
      <p:sp>
        <p:nvSpPr>
          <p:cNvPr id="10" name="Rectangle 9"/>
          <p:cNvSpPr/>
          <p:nvPr/>
        </p:nvSpPr>
        <p:spPr>
          <a:xfrm rot="20297833">
            <a:off x="3911910" y="2959932"/>
            <a:ext cx="1746055" cy="400110"/>
          </a:xfrm>
          <a:prstGeom prst="rect">
            <a:avLst/>
          </a:prstGeom>
        </p:spPr>
        <p:txBody>
          <a:bodyPr wrap="none">
            <a:spAutoFit/>
          </a:bodyPr>
          <a:lstStyle/>
          <a:p>
            <a:r>
              <a:rPr lang="en-US" sz="2000" b="1" dirty="0">
                <a:latin typeface="+mn-lt"/>
              </a:rPr>
              <a:t>Alkaline :  </a:t>
            </a:r>
            <a:r>
              <a:rPr lang="en-US" sz="2000" b="1" dirty="0">
                <a:solidFill>
                  <a:srgbClr val="A22876"/>
                </a:solidFill>
                <a:latin typeface="+mn-lt"/>
              </a:rPr>
              <a:t>Pink</a:t>
            </a:r>
            <a:endParaRPr lang="ar-JO" sz="2000" b="1" dirty="0">
              <a:solidFill>
                <a:srgbClr val="A22876"/>
              </a:solidFill>
              <a:latin typeface="+mn-lt"/>
            </a:endParaRPr>
          </a:p>
        </p:txBody>
      </p:sp>
      <p:sp>
        <p:nvSpPr>
          <p:cNvPr id="11" name="Rectangle 10"/>
          <p:cNvSpPr/>
          <p:nvPr/>
        </p:nvSpPr>
        <p:spPr>
          <a:xfrm rot="1295951">
            <a:off x="3877476" y="4234886"/>
            <a:ext cx="1912024" cy="400110"/>
          </a:xfrm>
          <a:prstGeom prst="rect">
            <a:avLst/>
          </a:prstGeom>
        </p:spPr>
        <p:txBody>
          <a:bodyPr wrap="square">
            <a:spAutoFit/>
          </a:bodyPr>
          <a:lstStyle/>
          <a:p>
            <a:pPr algn="l" rtl="0"/>
            <a:r>
              <a:rPr lang="en-US" sz="2000" b="1" dirty="0">
                <a:latin typeface="+mn-lt"/>
              </a:rPr>
              <a:t>Acidic : </a:t>
            </a:r>
            <a:r>
              <a:rPr lang="en-US" sz="2000" b="1" dirty="0">
                <a:solidFill>
                  <a:srgbClr val="FFFF00"/>
                </a:solidFill>
                <a:highlight>
                  <a:srgbClr val="FF0000"/>
                </a:highlight>
                <a:latin typeface="+mn-lt"/>
              </a:rPr>
              <a:t>Yellow   </a:t>
            </a:r>
            <a:endParaRPr lang="ar-JO" sz="2000" b="1" dirty="0">
              <a:solidFill>
                <a:srgbClr val="FFFF00"/>
              </a:solidFill>
              <a:highlight>
                <a:srgbClr val="FF0000"/>
              </a:highlight>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16719" y="168548"/>
            <a:ext cx="11702238" cy="559030"/>
          </a:xfrm>
          <a:prstGeom prst="rect">
            <a:avLst/>
          </a:prstGeom>
          <a:noFill/>
          <a:ln>
            <a:noFill/>
          </a:ln>
        </p:spPr>
        <p:txBody>
          <a:bodyPr wrap="none" lIns="96423" tIns="48212" rIns="96423" bIns="48212">
            <a:spAutoFit/>
          </a:bodyPr>
          <a:lstStyle/>
          <a:p>
            <a:r>
              <a:rPr lang="en-US" sz="3000" b="1" dirty="0">
                <a:latin typeface="+mj-lt"/>
              </a:rPr>
              <a:t> TSI  Slant Agar Inoculation (</a:t>
            </a:r>
            <a:r>
              <a:rPr lang="en-US" sz="3000" dirty="0">
                <a:solidFill>
                  <a:srgbClr val="FF0000"/>
                </a:solidFill>
                <a:latin typeface="+mj-lt"/>
              </a:rPr>
              <a:t>Only Gram-Negative Bacteria should be used</a:t>
            </a:r>
            <a:r>
              <a:rPr lang="en-US" sz="3000" b="1" dirty="0">
                <a:latin typeface="+mj-lt"/>
              </a:rPr>
              <a:t>)</a:t>
            </a:r>
            <a:endParaRPr lang="ar-JO" sz="3000" b="1" dirty="0">
              <a:latin typeface="+mj-lt"/>
            </a:endParaRPr>
          </a:p>
        </p:txBody>
      </p:sp>
      <p:pic>
        <p:nvPicPr>
          <p:cNvPr id="3074" name="Picture 2"/>
          <p:cNvPicPr>
            <a:picLocks noChangeAspect="1" noChangeArrowheads="1"/>
          </p:cNvPicPr>
          <p:nvPr/>
        </p:nvPicPr>
        <p:blipFill>
          <a:blip r:embed="rId3"/>
          <a:srcRect l="28053" t="5882"/>
          <a:stretch>
            <a:fillRect/>
          </a:stretch>
        </p:blipFill>
        <p:spPr bwMode="auto">
          <a:xfrm rot="120000">
            <a:off x="3981340" y="1067216"/>
            <a:ext cx="2904378" cy="3456013"/>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a:srcRect t="17326"/>
          <a:stretch>
            <a:fillRect/>
          </a:stretch>
        </p:blipFill>
        <p:spPr bwMode="auto">
          <a:xfrm>
            <a:off x="645319" y="941387"/>
            <a:ext cx="1219200" cy="3594604"/>
          </a:xfrm>
          <a:prstGeom prst="rect">
            <a:avLst/>
          </a:prstGeom>
          <a:noFill/>
          <a:ln w="9525">
            <a:noFill/>
            <a:miter lim="800000"/>
            <a:headEnd/>
            <a:tailEnd/>
          </a:ln>
          <a:effectLst/>
        </p:spPr>
      </p:pic>
      <p:sp>
        <p:nvSpPr>
          <p:cNvPr id="6" name="Rectangle 5"/>
          <p:cNvSpPr/>
          <p:nvPr/>
        </p:nvSpPr>
        <p:spPr>
          <a:xfrm>
            <a:off x="721519" y="5284787"/>
            <a:ext cx="11736594" cy="1020695"/>
          </a:xfrm>
          <a:prstGeom prst="rect">
            <a:avLst/>
          </a:prstGeom>
        </p:spPr>
        <p:txBody>
          <a:bodyPr wrap="square" lIns="96423" tIns="48212" rIns="96423" bIns="48212">
            <a:spAutoFit/>
          </a:bodyPr>
          <a:lstStyle/>
          <a:p>
            <a:pPr algn="just" rtl="0"/>
            <a:r>
              <a:rPr lang="en-US" sz="2000" dirty="0">
                <a:latin typeface="+mn-lt"/>
              </a:rPr>
              <a:t>By sterilely cooled needle inoculate the butt of the TSI at </a:t>
            </a:r>
            <a:r>
              <a:rPr lang="en-US" sz="2000" b="1" dirty="0">
                <a:solidFill>
                  <a:srgbClr val="FF0000"/>
                </a:solidFill>
                <a:latin typeface="+mn-lt"/>
              </a:rPr>
              <a:t>“ 1 "</a:t>
            </a:r>
            <a:r>
              <a:rPr lang="en-US" sz="2000" dirty="0">
                <a:latin typeface="+mn-lt"/>
              </a:rPr>
              <a:t> from your pure culture. Then from the same culture inoculate the surface by sterile cooled loop through streaking. Incubate at 37°C for not more than 18 hours. </a:t>
            </a:r>
            <a:endParaRPr lang="ar-JO" sz="2000" dirty="0">
              <a:latin typeface="+mn-lt"/>
            </a:endParaRPr>
          </a:p>
        </p:txBody>
      </p:sp>
      <p:pic>
        <p:nvPicPr>
          <p:cNvPr id="3079" name="Picture 7" descr="Inoculation in TSI Agar"/>
          <p:cNvPicPr>
            <a:picLocks noChangeAspect="1" noChangeArrowheads="1"/>
          </p:cNvPicPr>
          <p:nvPr/>
        </p:nvPicPr>
        <p:blipFill>
          <a:blip r:embed="rId5"/>
          <a:srcRect/>
          <a:stretch>
            <a:fillRect/>
          </a:stretch>
        </p:blipFill>
        <p:spPr bwMode="auto">
          <a:xfrm>
            <a:off x="7579519" y="788987"/>
            <a:ext cx="3294482" cy="3490921"/>
          </a:xfrm>
          <a:prstGeom prst="rect">
            <a:avLst/>
          </a:prstGeom>
          <a:noFill/>
        </p:spPr>
      </p:pic>
      <p:sp>
        <p:nvSpPr>
          <p:cNvPr id="7" name="Oval 6"/>
          <p:cNvSpPr/>
          <p:nvPr/>
        </p:nvSpPr>
        <p:spPr>
          <a:xfrm>
            <a:off x="5369719" y="3151187"/>
            <a:ext cx="685800" cy="76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0" name="Rectangle 9"/>
          <p:cNvSpPr/>
          <p:nvPr/>
        </p:nvSpPr>
        <p:spPr>
          <a:xfrm>
            <a:off x="520171" y="4598987"/>
            <a:ext cx="1593706" cy="400110"/>
          </a:xfrm>
          <a:prstGeom prst="rect">
            <a:avLst/>
          </a:prstGeom>
          <a:ln>
            <a:solidFill>
              <a:srgbClr val="FF0000"/>
            </a:solidFill>
          </a:ln>
        </p:spPr>
        <p:txBody>
          <a:bodyPr wrap="none">
            <a:spAutoFit/>
          </a:bodyPr>
          <a:lstStyle/>
          <a:p>
            <a:r>
              <a:rPr lang="en-US" sz="2000" b="1" dirty="0">
                <a:solidFill>
                  <a:srgbClr val="FF0000"/>
                </a:solidFill>
                <a:latin typeface="+mn-lt"/>
              </a:rPr>
              <a:t>TSI slant agar</a:t>
            </a:r>
            <a:endParaRPr lang="ar-JO" sz="2000" b="1" dirty="0">
              <a:solidFill>
                <a:srgbClr val="FF0000"/>
              </a:solidFill>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8811" y="215978"/>
            <a:ext cx="12354310" cy="2249409"/>
          </a:xfrm>
        </p:spPr>
        <p:txBody>
          <a:bodyPr>
            <a:normAutofit/>
          </a:bodyPr>
          <a:lstStyle/>
          <a:p>
            <a:pPr marL="0" indent="0" algn="just">
              <a:buNone/>
            </a:pPr>
            <a:r>
              <a:rPr lang="en-US" sz="2000" dirty="0"/>
              <a:t>Bacteria if have enzymes to degrade both glucose, sucrose, lactose and peptone they start with the simplest then more and more complex as in the following curve: </a:t>
            </a:r>
          </a:p>
          <a:p>
            <a:pPr marL="0" indent="0" algn="just">
              <a:buNone/>
            </a:pPr>
            <a:endParaRPr lang="ar-JO" sz="2100" dirty="0"/>
          </a:p>
        </p:txBody>
      </p:sp>
      <p:pic>
        <p:nvPicPr>
          <p:cNvPr id="2050" name="Picture 2"/>
          <p:cNvPicPr>
            <a:picLocks noChangeAspect="1" noChangeArrowheads="1"/>
          </p:cNvPicPr>
          <p:nvPr/>
        </p:nvPicPr>
        <p:blipFill>
          <a:blip r:embed="rId2"/>
          <a:srcRect/>
          <a:stretch>
            <a:fillRect/>
          </a:stretch>
        </p:blipFill>
        <p:spPr bwMode="auto">
          <a:xfrm>
            <a:off x="416719" y="941387"/>
            <a:ext cx="10951002" cy="1872006"/>
          </a:xfrm>
          <a:prstGeom prst="rect">
            <a:avLst/>
          </a:prstGeom>
          <a:noFill/>
          <a:ln w="9525">
            <a:noFill/>
            <a:miter lim="800000"/>
            <a:headEnd/>
            <a:tailEnd/>
          </a:ln>
          <a:effectLst/>
        </p:spPr>
      </p:pic>
      <p:sp>
        <p:nvSpPr>
          <p:cNvPr id="6" name="Rectangle 5"/>
          <p:cNvSpPr/>
          <p:nvPr/>
        </p:nvSpPr>
        <p:spPr>
          <a:xfrm>
            <a:off x="264319" y="2998787"/>
            <a:ext cx="4180371" cy="697530"/>
          </a:xfrm>
          <a:prstGeom prst="rect">
            <a:avLst/>
          </a:prstGeom>
        </p:spPr>
        <p:txBody>
          <a:bodyPr wrap="square" lIns="96423" tIns="48212" rIns="96423" bIns="48212">
            <a:spAutoFit/>
          </a:bodyPr>
          <a:lstStyle/>
          <a:p>
            <a:pPr algn="l"/>
            <a:r>
              <a:rPr lang="en-US" sz="2100" b="1" dirty="0"/>
              <a:t>Slant (Aerobic Reaction)</a:t>
            </a:r>
          </a:p>
          <a:p>
            <a:endParaRPr lang="ar-JO" dirty="0"/>
          </a:p>
        </p:txBody>
      </p:sp>
      <p:pic>
        <p:nvPicPr>
          <p:cNvPr id="4097" name="Picture 1"/>
          <p:cNvPicPr>
            <a:picLocks noChangeAspect="1" noChangeArrowheads="1"/>
          </p:cNvPicPr>
          <p:nvPr/>
        </p:nvPicPr>
        <p:blipFill>
          <a:blip r:embed="rId3"/>
          <a:srcRect/>
          <a:stretch>
            <a:fillRect/>
          </a:stretch>
        </p:blipFill>
        <p:spPr bwMode="auto">
          <a:xfrm>
            <a:off x="362288" y="3519587"/>
            <a:ext cx="5353532" cy="576002"/>
          </a:xfrm>
          <a:prstGeom prst="rect">
            <a:avLst/>
          </a:prstGeom>
          <a:noFill/>
          <a:ln w="9525">
            <a:noFill/>
            <a:miter lim="800000"/>
            <a:headEnd/>
            <a:tailEnd/>
          </a:ln>
          <a:effectLst/>
        </p:spPr>
      </p:pic>
      <p:pic>
        <p:nvPicPr>
          <p:cNvPr id="4098" name="Picture 2"/>
          <p:cNvPicPr>
            <a:picLocks noChangeAspect="1" noChangeArrowheads="1"/>
          </p:cNvPicPr>
          <p:nvPr/>
        </p:nvPicPr>
        <p:blipFill>
          <a:blip r:embed="rId4"/>
          <a:srcRect l="1471" t="15356" b="21161"/>
          <a:stretch>
            <a:fillRect/>
          </a:stretch>
        </p:blipFill>
        <p:spPr bwMode="auto">
          <a:xfrm>
            <a:off x="5612867" y="3519587"/>
            <a:ext cx="6897777" cy="432001"/>
          </a:xfrm>
          <a:prstGeom prst="rect">
            <a:avLst/>
          </a:prstGeom>
          <a:noFill/>
          <a:ln w="9525">
            <a:noFill/>
            <a:miter lim="800000"/>
            <a:headEnd/>
            <a:tailEnd/>
          </a:ln>
          <a:effectLst/>
        </p:spPr>
      </p:pic>
      <p:sp>
        <p:nvSpPr>
          <p:cNvPr id="10" name="Rectangle 9"/>
          <p:cNvSpPr/>
          <p:nvPr/>
        </p:nvSpPr>
        <p:spPr>
          <a:xfrm>
            <a:off x="308812" y="4455591"/>
            <a:ext cx="5353535" cy="697530"/>
          </a:xfrm>
          <a:prstGeom prst="rect">
            <a:avLst/>
          </a:prstGeom>
        </p:spPr>
        <p:txBody>
          <a:bodyPr wrap="square" lIns="96423" tIns="48212" rIns="96423" bIns="48212">
            <a:spAutoFit/>
          </a:bodyPr>
          <a:lstStyle/>
          <a:p>
            <a:pPr algn="l" rtl="0"/>
            <a:r>
              <a:rPr lang="en-US" sz="2100" b="1" dirty="0"/>
              <a:t>Butt (Anaerobic Reaction)</a:t>
            </a:r>
          </a:p>
          <a:p>
            <a:pPr algn="l" rtl="0"/>
            <a:endParaRPr lang="ar-JO" dirty="0"/>
          </a:p>
        </p:txBody>
      </p:sp>
      <p:pic>
        <p:nvPicPr>
          <p:cNvPr id="11" name="Picture 1"/>
          <p:cNvPicPr>
            <a:picLocks noChangeAspect="1" noChangeArrowheads="1"/>
          </p:cNvPicPr>
          <p:nvPr/>
        </p:nvPicPr>
        <p:blipFill>
          <a:blip r:embed="rId3"/>
          <a:srcRect/>
          <a:stretch>
            <a:fillRect/>
          </a:stretch>
        </p:blipFill>
        <p:spPr bwMode="auto">
          <a:xfrm>
            <a:off x="209856" y="5183992"/>
            <a:ext cx="5353532" cy="576002"/>
          </a:xfrm>
          <a:prstGeom prst="rect">
            <a:avLst/>
          </a:prstGeom>
          <a:noFill/>
          <a:ln w="9525">
            <a:noFill/>
            <a:miter lim="800000"/>
            <a:headEnd/>
            <a:tailEnd/>
          </a:ln>
          <a:effectLst/>
        </p:spPr>
      </p:pic>
      <p:pic>
        <p:nvPicPr>
          <p:cNvPr id="12" name="Picture 2"/>
          <p:cNvPicPr>
            <a:picLocks noChangeAspect="1" noChangeArrowheads="1"/>
          </p:cNvPicPr>
          <p:nvPr/>
        </p:nvPicPr>
        <p:blipFill>
          <a:blip r:embed="rId4"/>
          <a:srcRect l="1471" t="15356" b="21161"/>
          <a:stretch>
            <a:fillRect/>
          </a:stretch>
        </p:blipFill>
        <p:spPr bwMode="auto">
          <a:xfrm>
            <a:off x="5460436" y="5031593"/>
            <a:ext cx="6897777" cy="432001"/>
          </a:xfrm>
          <a:prstGeom prst="rect">
            <a:avLst/>
          </a:prstGeom>
          <a:noFill/>
          <a:ln w="9525">
            <a:noFill/>
            <a:miter lim="800000"/>
            <a:headEnd/>
            <a:tailEnd/>
          </a:ln>
          <a:effectLst/>
        </p:spPr>
      </p:pic>
      <p:sp>
        <p:nvSpPr>
          <p:cNvPr id="13" name="Rectangle 12"/>
          <p:cNvSpPr/>
          <p:nvPr/>
        </p:nvSpPr>
        <p:spPr>
          <a:xfrm>
            <a:off x="1559719" y="5818187"/>
            <a:ext cx="9454572" cy="712919"/>
          </a:xfrm>
          <a:prstGeom prst="rect">
            <a:avLst/>
          </a:prstGeom>
          <a:ln>
            <a:solidFill>
              <a:schemeClr val="tx1">
                <a:lumMod val="50000"/>
                <a:lumOff val="50000"/>
              </a:schemeClr>
            </a:solidFill>
          </a:ln>
        </p:spPr>
        <p:txBody>
          <a:bodyPr wrap="none" lIns="96423" tIns="48212" rIns="96423" bIns="48212">
            <a:spAutoFit/>
          </a:bodyPr>
          <a:lstStyle/>
          <a:p>
            <a:pPr algn="just" rtl="0"/>
            <a:r>
              <a:rPr lang="en-US" sz="2000" b="1" dirty="0">
                <a:solidFill>
                  <a:srgbClr val="FF0000"/>
                </a:solidFill>
                <a:latin typeface="+mn-lt"/>
              </a:rPr>
              <a:t>If the reaction under anaerobic at X3 the reaction under aerobic must be at X4, If the </a:t>
            </a:r>
          </a:p>
          <a:p>
            <a:pPr algn="just" rtl="0"/>
            <a:r>
              <a:rPr lang="en-US" sz="2000" b="1" dirty="0">
                <a:solidFill>
                  <a:srgbClr val="FF0000"/>
                </a:solidFill>
                <a:latin typeface="+mn-lt"/>
              </a:rPr>
              <a:t>reaction under anaerobic at X4 the reaction under aerobic must be already completed. </a:t>
            </a:r>
            <a:endParaRPr lang="ar-JO" sz="2000" b="1" dirty="0">
              <a:solidFill>
                <a:srgbClr val="FF0000"/>
              </a:solidFill>
              <a:latin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srcRect/>
          <a:stretch>
            <a:fillRect/>
          </a:stretch>
        </p:blipFill>
        <p:spPr bwMode="auto">
          <a:xfrm>
            <a:off x="823575" y="3379787"/>
            <a:ext cx="12045452" cy="3148212"/>
          </a:xfrm>
          <a:prstGeom prst="rect">
            <a:avLst/>
          </a:prstGeom>
          <a:noFill/>
          <a:ln w="9525">
            <a:noFill/>
            <a:miter lim="800000"/>
            <a:headEnd/>
            <a:tailEnd/>
          </a:ln>
          <a:effectLst/>
        </p:spPr>
      </p:pic>
      <p:sp>
        <p:nvSpPr>
          <p:cNvPr id="5" name="عنصر نائب للمحتوى 2"/>
          <p:cNvSpPr txBox="1">
            <a:spLocks/>
          </p:cNvSpPr>
          <p:nvPr/>
        </p:nvSpPr>
        <p:spPr>
          <a:xfrm>
            <a:off x="950119" y="407987"/>
            <a:ext cx="10810021" cy="2808009"/>
          </a:xfrm>
          <a:prstGeom prst="rect">
            <a:avLst/>
          </a:prstGeom>
          <a:ln>
            <a:solidFill>
              <a:schemeClr val="accent2">
                <a:lumMod val="60000"/>
                <a:lumOff val="40000"/>
              </a:schemeClr>
            </a:solidFill>
          </a:ln>
        </p:spPr>
        <p:txBody>
          <a:bodyPr vert="horz" lIns="96423" tIns="48212" rIns="96423" bIns="48212" rtlCol="1">
            <a:noAutofit/>
          </a:bodyPr>
          <a:lstStyle/>
          <a:p>
            <a:pPr marL="361588" indent="-361588" algn="l" defTabSz="964235" fontAlgn="auto">
              <a:spcBef>
                <a:spcPct val="20000"/>
              </a:spcBef>
              <a:spcAft>
                <a:spcPts val="0"/>
              </a:spcAft>
              <a:defRPr/>
            </a:pPr>
            <a:r>
              <a:rPr lang="en-US" sz="2000" b="1" dirty="0">
                <a:latin typeface="+mn-lt"/>
                <a:cs typeface="Times New Roman" pitchFamily="18" charset="0"/>
              </a:rPr>
              <a:t>Results :</a:t>
            </a:r>
          </a:p>
          <a:p>
            <a:pPr marL="783441" lvl="1" indent="-301323" algn="l" defTabSz="964235" fontAlgn="auto">
              <a:spcBef>
                <a:spcPct val="20000"/>
              </a:spcBef>
              <a:spcAft>
                <a:spcPts val="0"/>
              </a:spcAft>
              <a:defRPr/>
            </a:pPr>
            <a:r>
              <a:rPr lang="en-US" sz="2000" b="1" dirty="0">
                <a:latin typeface="+mn-lt"/>
                <a:cs typeface="Times New Roman" pitchFamily="18" charset="0"/>
              </a:rPr>
              <a:t>1-If  there  is  </a:t>
            </a:r>
            <a:r>
              <a:rPr lang="en-US" sz="2000" b="1" u="sng" dirty="0">
                <a:latin typeface="+mn-lt"/>
                <a:cs typeface="Times New Roman" pitchFamily="18" charset="0"/>
              </a:rPr>
              <a:t>no</a:t>
            </a:r>
            <a:r>
              <a:rPr lang="en-US" sz="2000" b="1" dirty="0">
                <a:latin typeface="+mn-lt"/>
                <a:cs typeface="Times New Roman" pitchFamily="18" charset="0"/>
              </a:rPr>
              <a:t> fermentation occurred  = </a:t>
            </a:r>
            <a:r>
              <a:rPr lang="en-US" sz="2000" b="1" dirty="0">
                <a:solidFill>
                  <a:srgbClr val="FF0000"/>
                </a:solidFill>
                <a:latin typeface="+mn-lt"/>
                <a:cs typeface="Times New Roman" pitchFamily="18" charset="0"/>
              </a:rPr>
              <a:t>Red </a:t>
            </a:r>
            <a:r>
              <a:rPr lang="en-US" sz="2000" b="1" dirty="0">
                <a:latin typeface="+mn-lt"/>
                <a:cs typeface="Times New Roman" pitchFamily="18" charset="0"/>
              </a:rPr>
              <a:t>color</a:t>
            </a:r>
          </a:p>
          <a:p>
            <a:pPr marL="564145" lvl="5" indent="-473748" algn="l">
              <a:spcBef>
                <a:spcPct val="20000"/>
              </a:spcBef>
              <a:defRPr/>
            </a:pPr>
            <a:r>
              <a:rPr lang="en-US" sz="2000" b="1" dirty="0">
                <a:latin typeface="+mn-lt"/>
                <a:cs typeface="Times New Roman" pitchFamily="18" charset="0"/>
              </a:rPr>
              <a:t>2-If  bacteria ferment lactose and sucrose = </a:t>
            </a:r>
            <a:r>
              <a:rPr lang="en-US" sz="2000" b="1" dirty="0">
                <a:solidFill>
                  <a:srgbClr val="FFFF00"/>
                </a:solidFill>
                <a:highlight>
                  <a:srgbClr val="FF0000"/>
                </a:highlight>
                <a:latin typeface="+mn-lt"/>
                <a:cs typeface="Times New Roman" pitchFamily="18" charset="0"/>
              </a:rPr>
              <a:t>Yellow</a:t>
            </a:r>
          </a:p>
          <a:p>
            <a:pPr marL="542382" indent="-542382" algn="l" defTabSz="964235" rtl="0" fontAlgn="auto">
              <a:spcBef>
                <a:spcPct val="20000"/>
              </a:spcBef>
              <a:spcAft>
                <a:spcPts val="0"/>
              </a:spcAft>
              <a:defRPr/>
            </a:pPr>
            <a:r>
              <a:rPr lang="en-US" sz="2000" b="1" dirty="0">
                <a:latin typeface="+mn-lt"/>
                <a:cs typeface="Times New Roman" pitchFamily="18" charset="0"/>
              </a:rPr>
              <a:t>3-If  bacteria ferment glucose = </a:t>
            </a:r>
            <a:r>
              <a:rPr lang="en-US" sz="2000" b="1" dirty="0">
                <a:solidFill>
                  <a:srgbClr val="FFFF00"/>
                </a:solidFill>
                <a:highlight>
                  <a:srgbClr val="FF0000"/>
                </a:highlight>
                <a:latin typeface="+mn-lt"/>
                <a:cs typeface="Times New Roman" pitchFamily="18" charset="0"/>
              </a:rPr>
              <a:t>Yellow</a:t>
            </a:r>
          </a:p>
          <a:p>
            <a:pPr marL="542382" indent="-542382" algn="l" rtl="0">
              <a:spcBef>
                <a:spcPct val="20000"/>
              </a:spcBef>
              <a:defRPr/>
            </a:pPr>
            <a:r>
              <a:rPr lang="en-US" sz="2000" b="1" dirty="0">
                <a:latin typeface="+mn-lt"/>
                <a:cs typeface="Times New Roman" pitchFamily="18" charset="0"/>
              </a:rPr>
              <a:t>4-If  bacteria catabolize </a:t>
            </a:r>
            <a:r>
              <a:rPr lang="en-US" sz="2000" b="1" dirty="0" err="1">
                <a:latin typeface="+mn-lt"/>
                <a:cs typeface="Times New Roman" pitchFamily="18" charset="0"/>
              </a:rPr>
              <a:t>pepton</a:t>
            </a:r>
            <a:r>
              <a:rPr lang="en-US" sz="2000" b="1" dirty="0">
                <a:latin typeface="+mn-lt"/>
                <a:cs typeface="Times New Roman" pitchFamily="18" charset="0"/>
              </a:rPr>
              <a:t> = </a:t>
            </a:r>
            <a:r>
              <a:rPr lang="en-US" sz="2000" b="1" dirty="0">
                <a:solidFill>
                  <a:srgbClr val="A22876"/>
                </a:solidFill>
                <a:latin typeface="+mn-lt"/>
                <a:cs typeface="Times New Roman" pitchFamily="18" charset="0"/>
              </a:rPr>
              <a:t>Pink</a:t>
            </a:r>
          </a:p>
          <a:p>
            <a:pPr marL="0" lvl="6" indent="406787" algn="l">
              <a:spcBef>
                <a:spcPct val="20000"/>
              </a:spcBef>
              <a:defRPr/>
            </a:pPr>
            <a:r>
              <a:rPr lang="en-US" sz="2000" b="1" dirty="0">
                <a:latin typeface="+mn-lt"/>
                <a:cs typeface="Times New Roman" pitchFamily="18" charset="0"/>
              </a:rPr>
              <a:t>5-If  bacteria produce gas from fermentation = cracks in the butt.  </a:t>
            </a:r>
          </a:p>
          <a:p>
            <a:pPr marL="783441" lvl="1" indent="-301323" algn="l">
              <a:spcBef>
                <a:spcPct val="20000"/>
              </a:spcBef>
            </a:pPr>
            <a:r>
              <a:rPr lang="en-US" sz="2000" b="1" dirty="0">
                <a:latin typeface="+mn-lt"/>
                <a:cs typeface="Times New Roman" pitchFamily="18" charset="0"/>
              </a:rPr>
              <a:t>black  precipitatein the butt.  </a:t>
            </a:r>
            <a:r>
              <a:rPr lang="ar-IQ" sz="2000" b="1" dirty="0">
                <a:latin typeface="+mn-lt"/>
                <a:cs typeface="+mn-cs"/>
              </a:rPr>
              <a:t>=</a:t>
            </a:r>
            <a:r>
              <a:rPr lang="en-US" sz="2000" b="1" dirty="0">
                <a:latin typeface="+mn-lt"/>
                <a:cs typeface="+mn-cs"/>
              </a:rPr>
              <a:t>6-</a:t>
            </a:r>
            <a:r>
              <a:rPr lang="en-US" sz="2000" b="1" dirty="0">
                <a:latin typeface="+mn-lt"/>
                <a:cs typeface="Times New Roman" pitchFamily="18" charset="0"/>
              </a:rPr>
              <a:t> If  bacteria produce H₂S gas</a:t>
            </a:r>
            <a:endParaRPr lang="ar-IQ" sz="2000" b="1" dirty="0">
              <a:latin typeface="+mn-lt"/>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ar-JO"/>
          </a:p>
        </p:txBody>
      </p:sp>
      <p:graphicFrame>
        <p:nvGraphicFramePr>
          <p:cNvPr id="4" name="Table 3"/>
          <p:cNvGraphicFramePr>
            <a:graphicFrameLocks noGrp="1"/>
          </p:cNvGraphicFramePr>
          <p:nvPr/>
        </p:nvGraphicFramePr>
        <p:xfrm>
          <a:off x="492919" y="331787"/>
          <a:ext cx="12192000" cy="5932471"/>
        </p:xfrm>
        <a:graphic>
          <a:graphicData uri="http://schemas.openxmlformats.org/drawingml/2006/table">
            <a:tbl>
              <a:tblPr rtl="1" firstRow="1" bandRow="1">
                <a:tableStyleId>{5C22544A-7EE6-4342-B048-85BDC9FD1C3A}</a:tableStyleId>
              </a:tblPr>
              <a:tblGrid>
                <a:gridCol w="4496338">
                  <a:extLst>
                    <a:ext uri="{9D8B030D-6E8A-4147-A177-3AD203B41FA5}">
                      <a16:colId xmlns:a16="http://schemas.microsoft.com/office/drawing/2014/main" val="20000"/>
                    </a:ext>
                  </a:extLst>
                </a:gridCol>
                <a:gridCol w="4214775">
                  <a:extLst>
                    <a:ext uri="{9D8B030D-6E8A-4147-A177-3AD203B41FA5}">
                      <a16:colId xmlns:a16="http://schemas.microsoft.com/office/drawing/2014/main" val="20001"/>
                    </a:ext>
                  </a:extLst>
                </a:gridCol>
                <a:gridCol w="3480887">
                  <a:extLst>
                    <a:ext uri="{9D8B030D-6E8A-4147-A177-3AD203B41FA5}">
                      <a16:colId xmlns:a16="http://schemas.microsoft.com/office/drawing/2014/main" val="20002"/>
                    </a:ext>
                  </a:extLst>
                </a:gridCol>
              </a:tblGrid>
              <a:tr h="606142">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mn-lt"/>
                        </a:rPr>
                        <a:t>TSI Slant Results (Color of Slant / Color of Butt)</a:t>
                      </a:r>
                    </a:p>
                    <a:p>
                      <a:pPr algn="ctr" rtl="0"/>
                      <a:endParaRPr lang="ar-JO" sz="2000" dirty="0">
                        <a:latin typeface="+mn-lt"/>
                      </a:endParaRPr>
                    </a:p>
                  </a:txBody>
                  <a:tcPr marL="131778" marR="131778" marT="46080" marB="46080" anchor="ctr"/>
                </a:tc>
                <a:tc hMerge="1">
                  <a:txBody>
                    <a:bodyPr/>
                    <a:lstStyle/>
                    <a:p>
                      <a:pPr algn="just" rtl="0"/>
                      <a:endParaRPr lang="ar-JO" sz="2000" dirty="0">
                        <a:latin typeface="+mn-lt"/>
                      </a:endParaRPr>
                    </a:p>
                  </a:txBody>
                  <a:tcPr marL="131778" marR="131778" marT="46080" marB="46080" anchor="ctr"/>
                </a:tc>
                <a:tc hMerge="1">
                  <a:txBody>
                    <a:bodyPr/>
                    <a:lstStyle/>
                    <a:p>
                      <a:pPr algn="just" rtl="0"/>
                      <a:endParaRPr lang="ar-JO" sz="2000" dirty="0">
                        <a:latin typeface="+mn-lt"/>
                      </a:endParaRPr>
                    </a:p>
                  </a:txBody>
                  <a:tcPr marL="131778" marR="131778" marT="46080" marB="46080" anchor="ctr"/>
                </a:tc>
                <a:extLst>
                  <a:ext uri="{0D108BD9-81ED-4DB2-BD59-A6C34878D82A}">
                    <a16:rowId xmlns:a16="http://schemas.microsoft.com/office/drawing/2014/main" val="10000"/>
                  </a:ext>
                </a:extLst>
              </a:tr>
              <a:tr h="55895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mn-lt"/>
                        </a:rPr>
                        <a:t>Yellow I Yellow (black color in the butt )</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mn-lt"/>
                        </a:rPr>
                        <a:t>Acid I Acid   </a:t>
                      </a:r>
                    </a:p>
                  </a:txBody>
                  <a:tcPr marL="131778" marR="131778" marT="46080" marB="46080" anchor="ctr"/>
                </a:tc>
                <a:tc>
                  <a:txBody>
                    <a:bodyPr/>
                    <a:lstStyle/>
                    <a:p>
                      <a:pPr algn="just" rtl="0"/>
                      <a:r>
                        <a:rPr lang="en-US" sz="1800" dirty="0">
                          <a:latin typeface="+mn-lt"/>
                        </a:rPr>
                        <a:t>Yellow I Yellow (cracking in the butt )</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mn-lt"/>
                        </a:rPr>
                        <a:t>Acid I Acid   </a:t>
                      </a:r>
                    </a:p>
                  </a:txBody>
                  <a:tcPr marL="131778" marR="131778" marT="46080" marB="46080" anchor="ctr"/>
                </a:tc>
                <a:tc>
                  <a:txBody>
                    <a:bodyPr/>
                    <a:lstStyle/>
                    <a:p>
                      <a:pPr algn="just" rtl="0"/>
                      <a:r>
                        <a:rPr lang="en-US" sz="1800" dirty="0">
                          <a:latin typeface="+mn-lt"/>
                        </a:rPr>
                        <a:t>Yellow I Yellow</a:t>
                      </a:r>
                    </a:p>
                    <a:p>
                      <a:pPr algn="just" rtl="0"/>
                      <a:r>
                        <a:rPr lang="en-US" sz="1800" dirty="0">
                          <a:latin typeface="+mn-lt"/>
                        </a:rPr>
                        <a:t>Acid I Acid   </a:t>
                      </a:r>
                    </a:p>
                  </a:txBody>
                  <a:tcPr marL="131778" marR="131778" marT="46080" marB="46080" anchor="ctr"/>
                </a:tc>
                <a:extLst>
                  <a:ext uri="{0D108BD9-81ED-4DB2-BD59-A6C34878D82A}">
                    <a16:rowId xmlns:a16="http://schemas.microsoft.com/office/drawing/2014/main" val="10001"/>
                  </a:ext>
                </a:extLst>
              </a:tr>
              <a:tr h="53247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400" b="1" dirty="0">
                          <a:solidFill>
                            <a:schemeClr val="dk1"/>
                          </a:solidFill>
                          <a:latin typeface="+mn-lt"/>
                          <a:ea typeface="+mn-ea"/>
                          <a:cs typeface="+mn-cs"/>
                        </a:rPr>
                        <a:t>A/</a:t>
                      </a:r>
                      <a:r>
                        <a:rPr lang="en-US" sz="2000" b="1" dirty="0">
                          <a:solidFill>
                            <a:schemeClr val="dk1"/>
                          </a:solidFill>
                          <a:latin typeface="+mn-lt"/>
                          <a:ea typeface="+mn-ea"/>
                          <a:cs typeface="+mn-cs"/>
                        </a:rPr>
                        <a:t>   </a:t>
                      </a:r>
                      <a:r>
                        <a:rPr lang="en-US" sz="1800" b="0" dirty="0">
                          <a:latin typeface="+mn-lt"/>
                        </a:rPr>
                        <a:t>A</a:t>
                      </a:r>
                      <a:r>
                        <a:rPr lang="en-US" sz="1800" b="1" dirty="0">
                          <a:latin typeface="+mn-lt"/>
                        </a:rPr>
                        <a:t>     . H</a:t>
                      </a:r>
                      <a:r>
                        <a:rPr lang="en-US" sz="1800" b="1" baseline="-25000" dirty="0">
                          <a:latin typeface="+mn-lt"/>
                        </a:rPr>
                        <a:t>2</a:t>
                      </a:r>
                      <a:r>
                        <a:rPr lang="en-US" sz="1800" b="1" dirty="0">
                          <a:latin typeface="+mn-lt"/>
                        </a:rPr>
                        <a:t>S</a:t>
                      </a:r>
                    </a:p>
                  </a:txBody>
                  <a:tcPr marL="131778" marR="131778" marT="46080" marB="46080" anchor="ctr"/>
                </a:tc>
                <a:tc>
                  <a:txBody>
                    <a:bodyPr/>
                    <a:lstStyle/>
                    <a:p>
                      <a:pPr algn="just" rtl="0"/>
                      <a:r>
                        <a:rPr lang="en-US" sz="1800" dirty="0">
                          <a:latin typeface="+mn-lt"/>
                        </a:rPr>
                        <a:t> </a:t>
                      </a:r>
                      <a:r>
                        <a:rPr lang="en-US" sz="2400" b="1" dirty="0">
                          <a:solidFill>
                            <a:schemeClr val="dk1"/>
                          </a:solidFill>
                          <a:latin typeface="+mn-lt"/>
                          <a:ea typeface="+mn-ea"/>
                          <a:cs typeface="+mn-cs"/>
                        </a:rPr>
                        <a:t>A/</a:t>
                      </a:r>
                      <a:r>
                        <a:rPr lang="en-US" sz="2000" b="1" dirty="0">
                          <a:solidFill>
                            <a:schemeClr val="dk1"/>
                          </a:solidFill>
                          <a:latin typeface="+mn-lt"/>
                          <a:ea typeface="+mn-ea"/>
                          <a:cs typeface="+mn-cs"/>
                        </a:rPr>
                        <a:t>   </a:t>
                      </a:r>
                      <a:r>
                        <a:rPr lang="en-US" sz="1800" dirty="0">
                          <a:latin typeface="+mn-lt"/>
                        </a:rPr>
                        <a:t>A</a:t>
                      </a:r>
                    </a:p>
                  </a:txBody>
                  <a:tcPr marL="131778" marR="131778" marT="46080" marB="4608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400" b="1" dirty="0">
                          <a:solidFill>
                            <a:schemeClr val="dk1"/>
                          </a:solidFill>
                          <a:latin typeface="+mn-lt"/>
                          <a:ea typeface="+mn-ea"/>
                          <a:cs typeface="+mn-cs"/>
                        </a:rPr>
                        <a:t>A/   </a:t>
                      </a:r>
                      <a:r>
                        <a:rPr lang="en-US" sz="1800" dirty="0">
                          <a:solidFill>
                            <a:schemeClr val="dk1"/>
                          </a:solidFill>
                          <a:latin typeface="+mn-lt"/>
                          <a:ea typeface="+mn-ea"/>
                          <a:cs typeface="+mn-cs"/>
                        </a:rPr>
                        <a:t>A</a:t>
                      </a:r>
                    </a:p>
                  </a:txBody>
                  <a:tcPr marL="131778" marR="131778" marT="46080" marB="46080" anchor="ctr"/>
                </a:tc>
                <a:extLst>
                  <a:ext uri="{0D108BD9-81ED-4DB2-BD59-A6C34878D82A}">
                    <a16:rowId xmlns:a16="http://schemas.microsoft.com/office/drawing/2014/main" val="10002"/>
                  </a:ext>
                </a:extLst>
              </a:tr>
              <a:tr h="917276">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mn-lt"/>
                        </a:rPr>
                        <a:t>Lactose and I or sucrose </a:t>
                      </a:r>
                      <a:r>
                        <a:rPr lang="en-US" sz="1800" dirty="0" err="1">
                          <a:latin typeface="+mn-lt"/>
                        </a:rPr>
                        <a:t>fermenter</a:t>
                      </a:r>
                      <a:r>
                        <a:rPr lang="en-US" sz="1800" dirty="0">
                          <a:latin typeface="+mn-lt"/>
                        </a:rPr>
                        <a:t>  and H</a:t>
                      </a:r>
                      <a:r>
                        <a:rPr lang="en-US" sz="1800" baseline="-25000" dirty="0">
                          <a:latin typeface="+mn-lt"/>
                        </a:rPr>
                        <a:t>2</a:t>
                      </a:r>
                      <a:r>
                        <a:rPr lang="en-US" sz="1800" dirty="0">
                          <a:latin typeface="+mn-lt"/>
                        </a:rPr>
                        <a:t>S gas producer bacteria </a:t>
                      </a:r>
                      <a:endParaRPr lang="ar-JO" sz="1800" dirty="0">
                        <a:latin typeface="+mn-lt"/>
                      </a:endParaRPr>
                    </a:p>
                  </a:txBody>
                  <a:tcPr marL="131778" marR="131778" marT="46080" marB="4608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mn-lt"/>
                        </a:rPr>
                        <a:t>Lactose and I or sucrose </a:t>
                      </a:r>
                      <a:r>
                        <a:rPr lang="en-US" sz="1800" dirty="0" err="1">
                          <a:latin typeface="+mn-lt"/>
                        </a:rPr>
                        <a:t>fermenter</a:t>
                      </a:r>
                      <a:r>
                        <a:rPr lang="en-US" sz="1800" dirty="0">
                          <a:latin typeface="+mn-lt"/>
                        </a:rPr>
                        <a:t>  and gas producer bacteria</a:t>
                      </a:r>
                    </a:p>
                  </a:txBody>
                  <a:tcPr marL="131778" marR="131778" marT="46080" marB="4608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mn-lt"/>
                        </a:rPr>
                        <a:t>Lactose and I or sucrose </a:t>
                      </a:r>
                      <a:r>
                        <a:rPr lang="en-US" sz="1800" dirty="0" err="1">
                          <a:latin typeface="+mn-lt"/>
                        </a:rPr>
                        <a:t>fermenter</a:t>
                      </a:r>
                      <a:r>
                        <a:rPr lang="en-US" sz="1800" dirty="0">
                          <a:latin typeface="+mn-lt"/>
                        </a:rPr>
                        <a:t> bacteria</a:t>
                      </a:r>
                      <a:endParaRPr lang="ar-JO" sz="1800" dirty="0">
                        <a:latin typeface="+mn-lt"/>
                      </a:endParaRPr>
                    </a:p>
                  </a:txBody>
                  <a:tcPr marL="131778" marR="131778" marT="46080" marB="46080" anchor="ctr"/>
                </a:tc>
                <a:extLst>
                  <a:ext uri="{0D108BD9-81ED-4DB2-BD59-A6C34878D82A}">
                    <a16:rowId xmlns:a16="http://schemas.microsoft.com/office/drawing/2014/main" val="10003"/>
                  </a:ext>
                </a:extLst>
              </a:tr>
              <a:tr h="2185759">
                <a:tc>
                  <a:txBody>
                    <a:bodyPr/>
                    <a:lstStyle/>
                    <a:p>
                      <a:pPr algn="just" rtl="0"/>
                      <a:endParaRPr lang="ar-JO" sz="2000" dirty="0">
                        <a:latin typeface="+mn-lt"/>
                      </a:endParaRPr>
                    </a:p>
                  </a:txBody>
                  <a:tcPr marL="131778" marR="131778" marT="46080" marB="4608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ar-JO" sz="2000" b="1" dirty="0">
                        <a:latin typeface="+mn-lt"/>
                      </a:endParaRPr>
                    </a:p>
                  </a:txBody>
                  <a:tcPr marL="131778" marR="131778" marT="46080" marB="46080" anchor="ctr"/>
                </a:tc>
                <a:tc>
                  <a:txBody>
                    <a:bodyPr/>
                    <a:lstStyle/>
                    <a:p>
                      <a:pPr algn="just" rtl="0"/>
                      <a:endParaRPr lang="en-US" sz="2000" dirty="0">
                        <a:latin typeface="+mn-lt"/>
                      </a:endParaRPr>
                    </a:p>
                    <a:p>
                      <a:pPr algn="just" rtl="0"/>
                      <a:endParaRPr lang="en-US" sz="2000" dirty="0">
                        <a:latin typeface="+mn-lt"/>
                      </a:endParaRPr>
                    </a:p>
                    <a:p>
                      <a:pPr algn="just" rtl="0"/>
                      <a:endParaRPr lang="en-US" sz="2000" dirty="0">
                        <a:latin typeface="+mn-lt"/>
                      </a:endParaRPr>
                    </a:p>
                    <a:p>
                      <a:pPr algn="just" rtl="0"/>
                      <a:endParaRPr lang="en-US" sz="2000" dirty="0">
                        <a:latin typeface="+mn-lt"/>
                      </a:endParaRPr>
                    </a:p>
                    <a:p>
                      <a:pPr algn="just" rtl="0"/>
                      <a:endParaRPr lang="en-US" sz="2000" dirty="0">
                        <a:latin typeface="+mn-lt"/>
                      </a:endParaRPr>
                    </a:p>
                    <a:p>
                      <a:pPr algn="just" rtl="0"/>
                      <a:endParaRPr lang="en-US" sz="2000" dirty="0">
                        <a:latin typeface="+mn-lt"/>
                      </a:endParaRPr>
                    </a:p>
                    <a:p>
                      <a:pPr algn="just" rtl="0"/>
                      <a:endParaRPr lang="en-US" sz="2000" dirty="0">
                        <a:latin typeface="+mn-lt"/>
                      </a:endParaRPr>
                    </a:p>
                    <a:p>
                      <a:pPr algn="just" rtl="0"/>
                      <a:endParaRPr lang="en-US" sz="2000" dirty="0">
                        <a:latin typeface="+mn-lt"/>
                      </a:endParaRPr>
                    </a:p>
                    <a:p>
                      <a:pPr algn="just" rtl="0"/>
                      <a:endParaRPr lang="en-US" sz="2000" dirty="0">
                        <a:latin typeface="+mn-lt"/>
                      </a:endParaRPr>
                    </a:p>
                    <a:p>
                      <a:pPr algn="just" rtl="0"/>
                      <a:endParaRPr lang="ar-JO" sz="2000" dirty="0">
                        <a:latin typeface="+mn-lt"/>
                      </a:endParaRPr>
                    </a:p>
                  </a:txBody>
                  <a:tcPr marL="131778" marR="131778" marT="46080" marB="46080" anchor="ctr"/>
                </a:tc>
                <a:extLst>
                  <a:ext uri="{0D108BD9-81ED-4DB2-BD59-A6C34878D82A}">
                    <a16:rowId xmlns:a16="http://schemas.microsoft.com/office/drawing/2014/main" val="10004"/>
                  </a:ext>
                </a:extLst>
              </a:tr>
            </a:tbl>
          </a:graphicData>
        </a:graphic>
      </p:graphicFrame>
      <p:pic>
        <p:nvPicPr>
          <p:cNvPr id="5" name="Picture 2" descr="triple sugar iron agar - Google Search | Microbiology lab ..."/>
          <p:cNvPicPr>
            <a:picLocks noChangeAspect="1" noChangeArrowheads="1"/>
          </p:cNvPicPr>
          <p:nvPr/>
        </p:nvPicPr>
        <p:blipFill>
          <a:blip r:embed="rId2"/>
          <a:srcRect l="34588" t="1098" r="43567"/>
          <a:stretch>
            <a:fillRect/>
          </a:stretch>
        </p:blipFill>
        <p:spPr bwMode="auto">
          <a:xfrm>
            <a:off x="1712119" y="3227387"/>
            <a:ext cx="990600" cy="2971800"/>
          </a:xfrm>
          <a:prstGeom prst="rect">
            <a:avLst/>
          </a:prstGeom>
          <a:noFill/>
        </p:spPr>
      </p:pic>
      <p:pic>
        <p:nvPicPr>
          <p:cNvPr id="6" name="Picture 2" descr="https://i2.wp.com/microbeonline.com/wp-content/uploads/2019/04/KIA-Test-Results.jpg?w=678&amp;ssl=1"/>
          <p:cNvPicPr>
            <a:picLocks noChangeAspect="1" noChangeArrowheads="1"/>
          </p:cNvPicPr>
          <p:nvPr/>
        </p:nvPicPr>
        <p:blipFill>
          <a:blip r:embed="rId3"/>
          <a:srcRect l="9812" t="15259" r="68600"/>
          <a:stretch>
            <a:fillRect/>
          </a:stretch>
        </p:blipFill>
        <p:spPr bwMode="auto">
          <a:xfrm>
            <a:off x="5522119" y="3303587"/>
            <a:ext cx="963573" cy="2895600"/>
          </a:xfrm>
          <a:prstGeom prst="rect">
            <a:avLst/>
          </a:prstGeom>
          <a:noFill/>
        </p:spPr>
      </p:pic>
      <p:pic>
        <p:nvPicPr>
          <p:cNvPr id="7" name="Picture 2" descr="triple sugar iron agar - Google Search | Microbiology lab ..."/>
          <p:cNvPicPr>
            <a:picLocks noChangeAspect="1" noChangeArrowheads="1"/>
          </p:cNvPicPr>
          <p:nvPr/>
        </p:nvPicPr>
        <p:blipFill>
          <a:blip r:embed="rId2"/>
          <a:srcRect l="54612" t="5494" r="23543"/>
          <a:stretch>
            <a:fillRect/>
          </a:stretch>
        </p:blipFill>
        <p:spPr bwMode="auto">
          <a:xfrm>
            <a:off x="9560719" y="3227387"/>
            <a:ext cx="1047408" cy="2895600"/>
          </a:xfrm>
          <a:prstGeom prst="rect">
            <a:avLst/>
          </a:prstGeom>
          <a:noFill/>
        </p:spPr>
      </p:pic>
      <p:sp>
        <p:nvSpPr>
          <p:cNvPr id="8" name="Oval 7"/>
          <p:cNvSpPr/>
          <p:nvPr/>
        </p:nvSpPr>
        <p:spPr>
          <a:xfrm>
            <a:off x="8722519" y="1779587"/>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9" name="Oval 8"/>
          <p:cNvSpPr/>
          <p:nvPr/>
        </p:nvSpPr>
        <p:spPr>
          <a:xfrm>
            <a:off x="4531519" y="1779587"/>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00243236"/>
              </p:ext>
            </p:extLst>
          </p:nvPr>
        </p:nvGraphicFramePr>
        <p:xfrm>
          <a:off x="569121" y="407987"/>
          <a:ext cx="12115799" cy="6151861"/>
        </p:xfrm>
        <a:graphic>
          <a:graphicData uri="http://schemas.openxmlformats.org/drawingml/2006/table">
            <a:tbl>
              <a:tblPr rtl="1" firstRow="1" bandRow="1">
                <a:tableStyleId>{5C22544A-7EE6-4342-B048-85BDC9FD1C3A}</a:tableStyleId>
              </a:tblPr>
              <a:tblGrid>
                <a:gridCol w="4777937">
                  <a:extLst>
                    <a:ext uri="{9D8B030D-6E8A-4147-A177-3AD203B41FA5}">
                      <a16:colId xmlns:a16="http://schemas.microsoft.com/office/drawing/2014/main" val="20000"/>
                    </a:ext>
                  </a:extLst>
                </a:gridCol>
                <a:gridCol w="3715608">
                  <a:extLst>
                    <a:ext uri="{9D8B030D-6E8A-4147-A177-3AD203B41FA5}">
                      <a16:colId xmlns:a16="http://schemas.microsoft.com/office/drawing/2014/main" val="20001"/>
                    </a:ext>
                  </a:extLst>
                </a:gridCol>
                <a:gridCol w="3622254">
                  <a:extLst>
                    <a:ext uri="{9D8B030D-6E8A-4147-A177-3AD203B41FA5}">
                      <a16:colId xmlns:a16="http://schemas.microsoft.com/office/drawing/2014/main" val="20002"/>
                    </a:ext>
                  </a:extLst>
                </a:gridCol>
              </a:tblGrid>
              <a:tr h="625324">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mn-lt"/>
                        </a:rPr>
                        <a:t>TSI Slant Results (Color of Slant / Color of Butt)</a:t>
                      </a:r>
                    </a:p>
                  </a:txBody>
                  <a:tcPr marL="131778" marR="131778" marT="46080" marB="46080"/>
                </a:tc>
                <a:tc hMerge="1">
                  <a:txBody>
                    <a:bodyPr/>
                    <a:lstStyle/>
                    <a:p>
                      <a:pPr algn="l" rtl="0"/>
                      <a:endParaRPr lang="ar-JO" sz="1800" dirty="0">
                        <a:latin typeface="+mn-lt"/>
                      </a:endParaRPr>
                    </a:p>
                  </a:txBody>
                  <a:tcPr marL="131778" marR="131778" marT="46080" marB="46080"/>
                </a:tc>
                <a:tc hMerge="1">
                  <a:txBody>
                    <a:bodyPr/>
                    <a:lstStyle/>
                    <a:p>
                      <a:pPr algn="l" rtl="0"/>
                      <a:endParaRPr lang="ar-JO" sz="1800" dirty="0">
                        <a:latin typeface="+mn-lt"/>
                      </a:endParaRPr>
                    </a:p>
                  </a:txBody>
                  <a:tcPr marL="131778" marR="131778" marT="46080" marB="46080"/>
                </a:tc>
                <a:extLst>
                  <a:ext uri="{0D108BD9-81ED-4DB2-BD59-A6C34878D82A}">
                    <a16:rowId xmlns:a16="http://schemas.microsoft.com/office/drawing/2014/main" val="10000"/>
                  </a:ext>
                </a:extLst>
              </a:tr>
              <a:tr h="9387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Pink /Yellow (black color in the butt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Alkaline / Acid   </a:t>
                      </a:r>
                    </a:p>
                    <a:p>
                      <a:pPr algn="l" rtl="0"/>
                      <a:endParaRPr lang="ar-JO" sz="1800" dirty="0">
                        <a:latin typeface="+mn-lt"/>
                      </a:endParaRPr>
                    </a:p>
                  </a:txBody>
                  <a:tcPr marL="131778" marR="131778" marT="46080" marB="460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Pink / Yellow (cracking in the butt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Alkaline / Acid  </a:t>
                      </a:r>
                    </a:p>
                  </a:txBody>
                  <a:tcPr marL="131778" marR="131778" marT="46080" marB="46080"/>
                </a:tc>
                <a:tc>
                  <a:txBody>
                    <a:bodyPr/>
                    <a:lstStyle/>
                    <a:p>
                      <a:pPr algn="l" rtl="0"/>
                      <a:r>
                        <a:rPr lang="en-US" sz="1800" dirty="0">
                          <a:latin typeface="+mn-lt"/>
                        </a:rPr>
                        <a:t>Pink /Yellow</a:t>
                      </a:r>
                    </a:p>
                    <a:p>
                      <a:pPr algn="l" rtl="0"/>
                      <a:r>
                        <a:rPr lang="en-US" sz="1800" dirty="0">
                          <a:latin typeface="+mn-lt"/>
                        </a:rPr>
                        <a:t>Alkaline / Acid  </a:t>
                      </a:r>
                    </a:p>
                  </a:txBody>
                  <a:tcPr marL="131778" marR="131778" marT="46080" marB="46080"/>
                </a:tc>
                <a:extLst>
                  <a:ext uri="{0D108BD9-81ED-4DB2-BD59-A6C34878D82A}">
                    <a16:rowId xmlns:a16="http://schemas.microsoft.com/office/drawing/2014/main" val="10001"/>
                  </a:ext>
                </a:extLst>
              </a:tr>
              <a:tr h="5966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dk1"/>
                          </a:solidFill>
                          <a:latin typeface="+mn-lt"/>
                          <a:ea typeface="+mn-ea"/>
                          <a:cs typeface="+mn-cs"/>
                        </a:rPr>
                        <a:t>K/   </a:t>
                      </a:r>
                      <a:r>
                        <a:rPr lang="en-US" sz="1800" b="0" dirty="0">
                          <a:latin typeface="+mn-lt"/>
                        </a:rPr>
                        <a:t>A</a:t>
                      </a:r>
                      <a:r>
                        <a:rPr lang="en-US" sz="1800" b="1" dirty="0">
                          <a:latin typeface="+mn-lt"/>
                        </a:rPr>
                        <a:t>     . H</a:t>
                      </a:r>
                      <a:r>
                        <a:rPr lang="en-US" sz="1800" b="1" baseline="-25000" dirty="0">
                          <a:latin typeface="+mn-lt"/>
                        </a:rPr>
                        <a:t>2</a:t>
                      </a:r>
                      <a:r>
                        <a:rPr lang="en-US" sz="1800" b="1" dirty="0">
                          <a:latin typeface="+mn-lt"/>
                        </a:rPr>
                        <a:t>S</a:t>
                      </a:r>
                      <a:endParaRPr lang="ar-JO" sz="1800" b="1" dirty="0">
                        <a:latin typeface="+mn-lt"/>
                      </a:endParaRPr>
                    </a:p>
                  </a:txBody>
                  <a:tcPr marL="131778" marR="131778" marT="46080" marB="46080"/>
                </a:tc>
                <a:tc>
                  <a:txBody>
                    <a:bodyPr/>
                    <a:lstStyle/>
                    <a:p>
                      <a:pPr algn="l" rtl="0"/>
                      <a:r>
                        <a:rPr lang="en-US" sz="2400" b="1" dirty="0">
                          <a:solidFill>
                            <a:schemeClr val="dk1"/>
                          </a:solidFill>
                          <a:latin typeface="+mn-lt"/>
                          <a:ea typeface="+mn-ea"/>
                          <a:cs typeface="+mn-cs"/>
                        </a:rPr>
                        <a:t>K/   </a:t>
                      </a:r>
                      <a:r>
                        <a:rPr lang="en-US" sz="1800" dirty="0">
                          <a:latin typeface="+mn-lt"/>
                        </a:rPr>
                        <a:t>A</a:t>
                      </a:r>
                    </a:p>
                  </a:txBody>
                  <a:tcPr marL="131778" marR="131778" marT="46080" marB="46080"/>
                </a:tc>
                <a:tc>
                  <a:txBody>
                    <a:bodyPr/>
                    <a:lstStyle/>
                    <a:p>
                      <a:pPr algn="l" rtl="0"/>
                      <a:r>
                        <a:rPr lang="en-US" sz="2400" b="1" dirty="0">
                          <a:latin typeface="+mn-lt"/>
                        </a:rPr>
                        <a:t>K/   </a:t>
                      </a:r>
                      <a:r>
                        <a:rPr lang="en-US" sz="1800" dirty="0">
                          <a:latin typeface="+mn-lt"/>
                        </a:rPr>
                        <a:t>A</a:t>
                      </a:r>
                    </a:p>
                  </a:txBody>
                  <a:tcPr marL="131778" marR="131778" marT="46080" marB="46080"/>
                </a:tc>
                <a:extLst>
                  <a:ext uri="{0D108BD9-81ED-4DB2-BD59-A6C34878D82A}">
                    <a16:rowId xmlns:a16="http://schemas.microsoft.com/office/drawing/2014/main" val="10002"/>
                  </a:ext>
                </a:extLst>
              </a:tr>
              <a:tr h="11558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Non</a:t>
                      </a:r>
                      <a:r>
                        <a:rPr lang="en-US" sz="1800" baseline="0" dirty="0">
                          <a:latin typeface="+mn-lt"/>
                        </a:rPr>
                        <a:t> -</a:t>
                      </a:r>
                      <a:r>
                        <a:rPr lang="en-US" sz="1800" dirty="0">
                          <a:latin typeface="+mn-lt"/>
                        </a:rPr>
                        <a:t>Lactose and I or sucrose </a:t>
                      </a:r>
                      <a:r>
                        <a:rPr lang="en-US" sz="1800" dirty="0" err="1">
                          <a:latin typeface="+mn-lt"/>
                        </a:rPr>
                        <a:t>fermenter</a:t>
                      </a:r>
                      <a:r>
                        <a:rPr lang="en-US" sz="1800" dirty="0">
                          <a:latin typeface="+mn-lt"/>
                        </a:rPr>
                        <a:t>  and H</a:t>
                      </a:r>
                      <a:r>
                        <a:rPr lang="en-US" sz="1800" baseline="-25000" dirty="0">
                          <a:latin typeface="+mn-lt"/>
                        </a:rPr>
                        <a:t>2</a:t>
                      </a:r>
                      <a:r>
                        <a:rPr lang="en-US" sz="1800" dirty="0">
                          <a:latin typeface="+mn-lt"/>
                        </a:rPr>
                        <a:t>S gas producer bacteria </a:t>
                      </a:r>
                      <a:endParaRPr lang="ar-JO" sz="1800" dirty="0">
                        <a:latin typeface="+mn-lt"/>
                      </a:endParaRPr>
                    </a:p>
                    <a:p>
                      <a:pPr algn="l" rtl="0"/>
                      <a:endParaRPr lang="ar-JO" sz="1800" dirty="0">
                        <a:latin typeface="+mn-lt"/>
                      </a:endParaRPr>
                    </a:p>
                  </a:txBody>
                  <a:tcPr marL="131778" marR="131778" marT="46080" marB="460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Non</a:t>
                      </a:r>
                      <a:r>
                        <a:rPr lang="en-US" sz="1800" baseline="0" dirty="0">
                          <a:latin typeface="+mn-lt"/>
                        </a:rPr>
                        <a:t> -</a:t>
                      </a:r>
                      <a:r>
                        <a:rPr lang="en-US" sz="1800" dirty="0">
                          <a:latin typeface="+mn-lt"/>
                        </a:rPr>
                        <a:t>Lactose and I or sucrose </a:t>
                      </a:r>
                      <a:r>
                        <a:rPr lang="en-US" sz="1800" dirty="0" err="1">
                          <a:latin typeface="+mn-lt"/>
                        </a:rPr>
                        <a:t>fermenter</a:t>
                      </a:r>
                      <a:r>
                        <a:rPr lang="en-US" sz="1800" dirty="0">
                          <a:latin typeface="+mn-lt"/>
                        </a:rPr>
                        <a:t>  and gas producer bacteria </a:t>
                      </a:r>
                      <a:endParaRPr lang="ar-JO" sz="1800" dirty="0">
                        <a:latin typeface="+mn-lt"/>
                      </a:endParaRPr>
                    </a:p>
                  </a:txBody>
                  <a:tcPr marL="131778" marR="131778" marT="46080" marB="460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Non</a:t>
                      </a:r>
                      <a:r>
                        <a:rPr lang="en-US" sz="1800" baseline="0" dirty="0">
                          <a:latin typeface="+mn-lt"/>
                        </a:rPr>
                        <a:t> -</a:t>
                      </a:r>
                      <a:r>
                        <a:rPr lang="en-US" sz="1800" dirty="0">
                          <a:latin typeface="+mn-lt"/>
                        </a:rPr>
                        <a:t>Lactose and I or sucrose </a:t>
                      </a:r>
                      <a:r>
                        <a:rPr lang="en-US" sz="1800" dirty="0" err="1">
                          <a:latin typeface="+mn-lt"/>
                        </a:rPr>
                        <a:t>fermenter</a:t>
                      </a:r>
                      <a:r>
                        <a:rPr lang="en-US" sz="1800" dirty="0">
                          <a:latin typeface="+mn-lt"/>
                        </a:rPr>
                        <a:t> bacteria</a:t>
                      </a:r>
                    </a:p>
                    <a:p>
                      <a:pPr algn="l" rtl="0"/>
                      <a:endParaRPr lang="ar-JO" sz="1800" dirty="0">
                        <a:latin typeface="+mn-lt"/>
                      </a:endParaRPr>
                    </a:p>
                  </a:txBody>
                  <a:tcPr marL="131778" marR="131778" marT="46080" marB="46080"/>
                </a:tc>
                <a:extLst>
                  <a:ext uri="{0D108BD9-81ED-4DB2-BD59-A6C34878D82A}">
                    <a16:rowId xmlns:a16="http://schemas.microsoft.com/office/drawing/2014/main" val="10003"/>
                  </a:ext>
                </a:extLst>
              </a:tr>
              <a:tr h="2627099">
                <a:tc>
                  <a:txBody>
                    <a:bodyPr/>
                    <a:lstStyle/>
                    <a:p>
                      <a:pPr algn="l" rtl="0"/>
                      <a:endParaRPr lang="ar-JO" sz="1800" dirty="0">
                        <a:latin typeface="+mn-lt"/>
                      </a:endParaRPr>
                    </a:p>
                  </a:txBody>
                  <a:tcPr marL="131778" marR="131778" marT="46080" marB="460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ar-JO" sz="1800" dirty="0">
                        <a:latin typeface="+mn-lt"/>
                      </a:endParaRPr>
                    </a:p>
                  </a:txBody>
                  <a:tcPr marL="131778" marR="131778" marT="46080" marB="46080"/>
                </a:tc>
                <a:tc>
                  <a:txBody>
                    <a:bodyPr/>
                    <a:lstStyle/>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ar-JO" sz="1800" dirty="0">
                        <a:latin typeface="+mn-lt"/>
                      </a:endParaRPr>
                    </a:p>
                  </a:txBody>
                  <a:tcPr marL="131778" marR="131778" marT="46080" marB="46080"/>
                </a:tc>
                <a:extLst>
                  <a:ext uri="{0D108BD9-81ED-4DB2-BD59-A6C34878D82A}">
                    <a16:rowId xmlns:a16="http://schemas.microsoft.com/office/drawing/2014/main" val="10004"/>
                  </a:ext>
                </a:extLst>
              </a:tr>
            </a:tbl>
          </a:graphicData>
        </a:graphic>
      </p:graphicFrame>
      <p:pic>
        <p:nvPicPr>
          <p:cNvPr id="5" name="Picture 5" descr="5-068 TSI tubes"/>
          <p:cNvPicPr>
            <a:picLocks noChangeAspect="1" noChangeArrowheads="1"/>
          </p:cNvPicPr>
          <p:nvPr/>
        </p:nvPicPr>
        <p:blipFill>
          <a:blip r:embed="rId2"/>
          <a:srcRect l="40476" t="-1688" r="38095" b="7263"/>
          <a:stretch>
            <a:fillRect/>
          </a:stretch>
        </p:blipFill>
        <p:spPr bwMode="auto">
          <a:xfrm>
            <a:off x="1712119" y="3760787"/>
            <a:ext cx="914400" cy="2743200"/>
          </a:xfrm>
          <a:prstGeom prst="rect">
            <a:avLst/>
          </a:prstGeom>
          <a:noFill/>
          <a:ln w="9525">
            <a:noFill/>
            <a:miter lim="800000"/>
            <a:headEnd/>
            <a:tailEnd/>
          </a:ln>
        </p:spPr>
      </p:pic>
      <p:pic>
        <p:nvPicPr>
          <p:cNvPr id="6" name="Picture 5" descr="https://image1.slideserve.com/2043294/slide20-n.jpg"/>
          <p:cNvPicPr/>
          <p:nvPr/>
        </p:nvPicPr>
        <p:blipFill>
          <a:blip r:embed="rId3"/>
          <a:srcRect l="63476" t="32281" r="23698" b="17354"/>
          <a:stretch>
            <a:fillRect/>
          </a:stretch>
        </p:blipFill>
        <p:spPr bwMode="auto">
          <a:xfrm flipH="1">
            <a:off x="4836319" y="3836987"/>
            <a:ext cx="990600" cy="2590800"/>
          </a:xfrm>
          <a:prstGeom prst="rect">
            <a:avLst/>
          </a:prstGeom>
          <a:noFill/>
          <a:ln w="9525">
            <a:noFill/>
            <a:miter lim="800000"/>
            <a:headEnd/>
            <a:tailEnd/>
          </a:ln>
        </p:spPr>
      </p:pic>
      <p:pic>
        <p:nvPicPr>
          <p:cNvPr id="7" name="Picture 5" descr="5-068 TSI tubes"/>
          <p:cNvPicPr>
            <a:picLocks noChangeAspect="1" noChangeArrowheads="1"/>
          </p:cNvPicPr>
          <p:nvPr/>
        </p:nvPicPr>
        <p:blipFill>
          <a:blip r:embed="rId2"/>
          <a:srcRect l="74004" t="-1901" b="8783"/>
          <a:stretch>
            <a:fillRect/>
          </a:stretch>
        </p:blipFill>
        <p:spPr bwMode="auto">
          <a:xfrm>
            <a:off x="8874919" y="3836987"/>
            <a:ext cx="990600" cy="2617788"/>
          </a:xfrm>
          <a:prstGeom prst="rect">
            <a:avLst/>
          </a:prstGeom>
          <a:noFill/>
          <a:ln w="9525">
            <a:noFill/>
            <a:miter lim="800000"/>
            <a:headEnd/>
            <a:tailEnd/>
          </a:ln>
        </p:spPr>
      </p:pic>
      <p:sp>
        <p:nvSpPr>
          <p:cNvPr id="8" name="Oval 7"/>
          <p:cNvSpPr/>
          <p:nvPr/>
        </p:nvSpPr>
        <p:spPr>
          <a:xfrm>
            <a:off x="4683919" y="2084387"/>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9" name="Oval 8"/>
          <p:cNvSpPr/>
          <p:nvPr/>
        </p:nvSpPr>
        <p:spPr>
          <a:xfrm>
            <a:off x="8417719" y="2084387"/>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p:cNvGraphicFramePr>
            <a:graphicFrameLocks noGrp="1"/>
          </p:cNvGraphicFramePr>
          <p:nvPr/>
        </p:nvGraphicFramePr>
        <p:xfrm>
          <a:off x="569118" y="325480"/>
          <a:ext cx="12039601" cy="6152141"/>
        </p:xfrm>
        <a:graphic>
          <a:graphicData uri="http://schemas.openxmlformats.org/drawingml/2006/table">
            <a:tbl>
              <a:tblPr rtl="1" firstRow="1" bandRow="1">
                <a:tableStyleId>{5C22544A-7EE6-4342-B048-85BDC9FD1C3A}</a:tableStyleId>
              </a:tblPr>
              <a:tblGrid>
                <a:gridCol w="4254820">
                  <a:extLst>
                    <a:ext uri="{9D8B030D-6E8A-4147-A177-3AD203B41FA5}">
                      <a16:colId xmlns:a16="http://schemas.microsoft.com/office/drawing/2014/main" val="20000"/>
                    </a:ext>
                  </a:extLst>
                </a:gridCol>
                <a:gridCol w="3376184">
                  <a:extLst>
                    <a:ext uri="{9D8B030D-6E8A-4147-A177-3AD203B41FA5}">
                      <a16:colId xmlns:a16="http://schemas.microsoft.com/office/drawing/2014/main" val="20001"/>
                    </a:ext>
                  </a:extLst>
                </a:gridCol>
                <a:gridCol w="4408597">
                  <a:extLst>
                    <a:ext uri="{9D8B030D-6E8A-4147-A177-3AD203B41FA5}">
                      <a16:colId xmlns:a16="http://schemas.microsoft.com/office/drawing/2014/main" val="20002"/>
                    </a:ext>
                  </a:extLst>
                </a:gridCol>
              </a:tblGrid>
              <a:tr h="600193">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mn-lt"/>
                        </a:rPr>
                        <a:t>TSI Slant Results (Color of Slant / Color of Butt)</a:t>
                      </a:r>
                    </a:p>
                  </a:txBody>
                  <a:tcPr marL="131778" marR="131778" marT="46080" marB="46080"/>
                </a:tc>
                <a:tc hMerge="1">
                  <a:txBody>
                    <a:bodyPr/>
                    <a:lstStyle/>
                    <a:p>
                      <a:pPr algn="l" rtl="0"/>
                      <a:endParaRPr lang="ar-JO" sz="1600" dirty="0">
                        <a:latin typeface="+mn-lt"/>
                      </a:endParaRPr>
                    </a:p>
                  </a:txBody>
                  <a:tcPr marL="131778" marR="131778" marT="46080" marB="46080"/>
                </a:tc>
                <a:tc hMerge="1">
                  <a:txBody>
                    <a:bodyPr/>
                    <a:lstStyle/>
                    <a:p>
                      <a:pPr algn="l" rtl="0"/>
                      <a:endParaRPr lang="ar-JO" sz="1600" dirty="0">
                        <a:latin typeface="+mn-lt"/>
                      </a:endParaRPr>
                    </a:p>
                  </a:txBody>
                  <a:tcPr marL="131778" marR="131778" marT="46080" marB="46080"/>
                </a:tc>
                <a:extLst>
                  <a:ext uri="{0D108BD9-81ED-4DB2-BD59-A6C34878D82A}">
                    <a16:rowId xmlns:a16="http://schemas.microsoft.com/office/drawing/2014/main" val="10000"/>
                  </a:ext>
                </a:extLst>
              </a:tr>
              <a:tr h="891772">
                <a:tc>
                  <a:txBody>
                    <a:bodyPr/>
                    <a:lstStyle/>
                    <a:p>
                      <a:pPr algn="l" rtl="0"/>
                      <a:r>
                        <a:rPr lang="en-US" sz="1800" dirty="0">
                          <a:latin typeface="+mn-lt"/>
                        </a:rPr>
                        <a:t>Pink / Pink (black color in the butt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Alkaline / Alkaline</a:t>
                      </a:r>
                    </a:p>
                    <a:p>
                      <a:pPr algn="l" rtl="0"/>
                      <a:endParaRPr lang="en-US" sz="1800" dirty="0">
                        <a:latin typeface="+mn-lt"/>
                      </a:endParaRPr>
                    </a:p>
                  </a:txBody>
                  <a:tcPr marL="131778" marR="131778" marT="46080" marB="46080"/>
                </a:tc>
                <a:tc>
                  <a:txBody>
                    <a:bodyPr/>
                    <a:lstStyle/>
                    <a:p>
                      <a:pPr algn="l" rtl="0"/>
                      <a:r>
                        <a:rPr lang="en-US" sz="1600" dirty="0">
                          <a:latin typeface="+mn-lt"/>
                        </a:rPr>
                        <a:t>Pink / Pink (cracking in the butt )</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Alkaline / Alkaline</a:t>
                      </a:r>
                    </a:p>
                  </a:txBody>
                  <a:tcPr marL="131778" marR="131778" marT="46080" marB="46080"/>
                </a:tc>
                <a:tc>
                  <a:txBody>
                    <a:bodyPr/>
                    <a:lstStyle/>
                    <a:p>
                      <a:pPr algn="l" rtl="0"/>
                      <a:r>
                        <a:rPr lang="en-US" sz="1800" dirty="0">
                          <a:latin typeface="+mn-lt"/>
                        </a:rPr>
                        <a:t>Pink / Pink</a:t>
                      </a:r>
                    </a:p>
                    <a:p>
                      <a:pPr algn="l" rtl="0"/>
                      <a:r>
                        <a:rPr lang="en-US" sz="1800" dirty="0">
                          <a:latin typeface="+mn-lt"/>
                        </a:rPr>
                        <a:t>Alkaline / Alkaline</a:t>
                      </a:r>
                    </a:p>
                    <a:p>
                      <a:pPr algn="l" rtl="0"/>
                      <a:endParaRPr lang="ar-JO" sz="1800" dirty="0">
                        <a:latin typeface="+mn-lt"/>
                      </a:endParaRPr>
                    </a:p>
                  </a:txBody>
                  <a:tcPr marL="131778" marR="131778" marT="46080" marB="46080"/>
                </a:tc>
                <a:extLst>
                  <a:ext uri="{0D108BD9-81ED-4DB2-BD59-A6C34878D82A}">
                    <a16:rowId xmlns:a16="http://schemas.microsoft.com/office/drawing/2014/main" val="10001"/>
                  </a:ext>
                </a:extLst>
              </a:tr>
              <a:tr h="6120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latin typeface="+mn-lt"/>
                        </a:rPr>
                        <a:t>K/   </a:t>
                      </a:r>
                      <a:r>
                        <a:rPr lang="en-US" sz="1800" b="1" dirty="0">
                          <a:latin typeface="+mn-lt"/>
                        </a:rPr>
                        <a:t>K     . H</a:t>
                      </a:r>
                      <a:r>
                        <a:rPr lang="en-US" sz="1800" b="1" baseline="-25000" dirty="0">
                          <a:latin typeface="+mn-lt"/>
                        </a:rPr>
                        <a:t>2</a:t>
                      </a:r>
                      <a:r>
                        <a:rPr lang="en-US" sz="1800" b="1" dirty="0">
                          <a:latin typeface="+mn-lt"/>
                        </a:rPr>
                        <a:t>S</a:t>
                      </a:r>
                      <a:endParaRPr lang="ar-JO" sz="1800" dirty="0">
                        <a:latin typeface="+mn-lt"/>
                      </a:endParaRPr>
                    </a:p>
                  </a:txBody>
                  <a:tcPr marL="131778" marR="131778" marT="46080" marB="46080"/>
                </a:tc>
                <a:tc>
                  <a:txBody>
                    <a:bodyPr/>
                    <a:lstStyle/>
                    <a:p>
                      <a:pPr algn="l" rtl="0"/>
                      <a:r>
                        <a:rPr lang="en-US" sz="1600" dirty="0">
                          <a:latin typeface="+mn-lt"/>
                        </a:rPr>
                        <a:t> </a:t>
                      </a:r>
                      <a:r>
                        <a:rPr lang="en-US" sz="2400" b="1" dirty="0">
                          <a:latin typeface="+mn-lt"/>
                        </a:rPr>
                        <a:t>K/   </a:t>
                      </a:r>
                      <a:r>
                        <a:rPr lang="en-US" sz="1800" dirty="0">
                          <a:latin typeface="+mn-lt"/>
                        </a:rPr>
                        <a:t>K</a:t>
                      </a:r>
                      <a:endParaRPr lang="en-US" sz="1600" dirty="0">
                        <a:latin typeface="+mn-lt"/>
                      </a:endParaRPr>
                    </a:p>
                  </a:txBody>
                  <a:tcPr marL="131778" marR="131778" marT="46080" marB="460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latin typeface="+mn-lt"/>
                        </a:rPr>
                        <a:t>K/ </a:t>
                      </a:r>
                      <a:r>
                        <a:rPr lang="en-US" sz="1800" b="0" dirty="0">
                          <a:latin typeface="+mn-lt"/>
                        </a:rPr>
                        <a:t>K</a:t>
                      </a:r>
                      <a:endParaRPr lang="en-US" sz="2000" b="0" dirty="0">
                        <a:latin typeface="+mn-lt"/>
                      </a:endParaRPr>
                    </a:p>
                  </a:txBody>
                  <a:tcPr marL="131778" marR="131778" marT="46080" marB="46080"/>
                </a:tc>
                <a:extLst>
                  <a:ext uri="{0D108BD9-81ED-4DB2-BD59-A6C34878D82A}">
                    <a16:rowId xmlns:a16="http://schemas.microsoft.com/office/drawing/2014/main" val="10002"/>
                  </a:ext>
                </a:extLst>
              </a:tr>
              <a:tr h="11590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H</a:t>
                      </a:r>
                      <a:r>
                        <a:rPr lang="en-US" sz="1800" baseline="-25000" dirty="0">
                          <a:latin typeface="+mn-lt"/>
                        </a:rPr>
                        <a:t>2</a:t>
                      </a:r>
                      <a:r>
                        <a:rPr lang="en-US" sz="1800" dirty="0">
                          <a:latin typeface="+mn-lt"/>
                        </a:rPr>
                        <a:t>S gas producer bacteria </a:t>
                      </a:r>
                      <a:endParaRPr lang="ar-JO" sz="1800" dirty="0">
                        <a:latin typeface="+mn-lt"/>
                      </a:endParaRPr>
                    </a:p>
                    <a:p>
                      <a:pPr algn="l" rtl="0"/>
                      <a:endParaRPr lang="ar-JO" sz="1800" dirty="0">
                        <a:latin typeface="+mn-lt"/>
                      </a:endParaRPr>
                    </a:p>
                  </a:txBody>
                  <a:tcPr marL="131778" marR="131778" marT="46080" marB="460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Gas producer bacteria </a:t>
                      </a:r>
                      <a:endParaRPr lang="ar-JO" sz="16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ar-JO" sz="1600" b="1" dirty="0">
                        <a:latin typeface="+mn-lt"/>
                      </a:endParaRPr>
                    </a:p>
                  </a:txBody>
                  <a:tcPr marL="131778" marR="131778" marT="46080" marB="4608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mn-lt"/>
                        </a:rPr>
                        <a:t>Non carbohydrate </a:t>
                      </a:r>
                      <a:r>
                        <a:rPr lang="en-US" sz="1800" dirty="0" err="1">
                          <a:latin typeface="+mn-lt"/>
                        </a:rPr>
                        <a:t>fermenter</a:t>
                      </a:r>
                      <a:r>
                        <a:rPr lang="en-US" sz="1800" dirty="0">
                          <a:latin typeface="+mn-lt"/>
                        </a:rPr>
                        <a:t>, </a:t>
                      </a:r>
                      <a:r>
                        <a:rPr lang="en-US" sz="1800" dirty="0" err="1">
                          <a:latin typeface="+mn-lt"/>
                        </a:rPr>
                        <a:t>catabolized</a:t>
                      </a:r>
                      <a:r>
                        <a:rPr lang="en-US" sz="1800" dirty="0">
                          <a:latin typeface="+mn-lt"/>
                        </a:rPr>
                        <a:t> peptone under aerobic and anaerobic condition</a:t>
                      </a:r>
                      <a:endParaRPr lang="ar-JO" sz="1800" dirty="0">
                        <a:latin typeface="+mn-lt"/>
                      </a:endParaRPr>
                    </a:p>
                    <a:p>
                      <a:pPr algn="l" rtl="0"/>
                      <a:endParaRPr lang="ar-JO" sz="1800" dirty="0">
                        <a:latin typeface="+mn-lt"/>
                      </a:endParaRPr>
                    </a:p>
                  </a:txBody>
                  <a:tcPr marL="131778" marR="131778" marT="46080" marB="46080"/>
                </a:tc>
                <a:extLst>
                  <a:ext uri="{0D108BD9-81ED-4DB2-BD59-A6C34878D82A}">
                    <a16:rowId xmlns:a16="http://schemas.microsoft.com/office/drawing/2014/main" val="10003"/>
                  </a:ext>
                </a:extLst>
              </a:tr>
              <a:tr h="2763020">
                <a:tc>
                  <a:txBody>
                    <a:bodyPr/>
                    <a:lstStyle/>
                    <a:p>
                      <a:pPr algn="l" rtl="0"/>
                      <a:endParaRPr lang="ar-JO" sz="1800" dirty="0">
                        <a:latin typeface="+mn-lt"/>
                      </a:endParaRPr>
                    </a:p>
                  </a:txBody>
                  <a:tcPr marL="131778" marR="131778" marT="46080" marB="460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ar-JO" sz="1600" b="1" dirty="0">
                        <a:latin typeface="+mn-lt"/>
                      </a:endParaRPr>
                    </a:p>
                  </a:txBody>
                  <a:tcPr marL="131778" marR="131778" marT="46080" marB="46080"/>
                </a:tc>
                <a:tc>
                  <a:txBody>
                    <a:bodyPr/>
                    <a:lstStyle/>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en-US" sz="1800" dirty="0">
                        <a:latin typeface="+mn-lt"/>
                      </a:endParaRPr>
                    </a:p>
                    <a:p>
                      <a:pPr algn="l" rtl="0"/>
                      <a:endParaRPr lang="ar-JO" sz="1800" dirty="0">
                        <a:latin typeface="+mn-lt"/>
                      </a:endParaRPr>
                    </a:p>
                  </a:txBody>
                  <a:tcPr marL="131778" marR="131778" marT="46080" marB="46080"/>
                </a:tc>
                <a:extLst>
                  <a:ext uri="{0D108BD9-81ED-4DB2-BD59-A6C34878D82A}">
                    <a16:rowId xmlns:a16="http://schemas.microsoft.com/office/drawing/2014/main" val="10004"/>
                  </a:ext>
                </a:extLst>
              </a:tr>
            </a:tbl>
          </a:graphicData>
        </a:graphic>
      </p:graphicFrame>
      <p:pic>
        <p:nvPicPr>
          <p:cNvPr id="9" name="Picture 2" descr="https://i2.wp.com/microbeonline.com/wp-content/uploads/2019/04/KIA-Test-Results.jpg?w=678&amp;ssl=1"/>
          <p:cNvPicPr>
            <a:picLocks noChangeAspect="1" noChangeArrowheads="1"/>
          </p:cNvPicPr>
          <p:nvPr/>
        </p:nvPicPr>
        <p:blipFill>
          <a:blip r:embed="rId2"/>
          <a:srcRect l="76924" t="18887" r="6881"/>
          <a:stretch>
            <a:fillRect/>
          </a:stretch>
        </p:blipFill>
        <p:spPr bwMode="auto">
          <a:xfrm>
            <a:off x="2016919" y="3684587"/>
            <a:ext cx="1128420" cy="2744385"/>
          </a:xfrm>
          <a:prstGeom prst="rect">
            <a:avLst/>
          </a:prstGeom>
          <a:noFill/>
        </p:spPr>
      </p:pic>
      <p:pic>
        <p:nvPicPr>
          <p:cNvPr id="11" name="Picture 2" descr="https://i2.wp.com/microbeonline.com/wp-content/uploads/2019/04/KIA-Test-Results.jpg?w=678&amp;ssl=1"/>
          <p:cNvPicPr>
            <a:picLocks noChangeAspect="1" noChangeArrowheads="1"/>
          </p:cNvPicPr>
          <p:nvPr/>
        </p:nvPicPr>
        <p:blipFill>
          <a:blip r:embed="rId2"/>
          <a:srcRect l="60731" t="15740" r="25100"/>
          <a:stretch>
            <a:fillRect/>
          </a:stretch>
        </p:blipFill>
        <p:spPr bwMode="auto">
          <a:xfrm>
            <a:off x="9789319" y="3760787"/>
            <a:ext cx="1143000" cy="2744409"/>
          </a:xfrm>
          <a:prstGeom prst="rect">
            <a:avLst/>
          </a:prstGeom>
          <a:noFill/>
        </p:spPr>
      </p:pic>
      <p:sp>
        <p:nvSpPr>
          <p:cNvPr id="8" name="Oval 7"/>
          <p:cNvSpPr/>
          <p:nvPr/>
        </p:nvSpPr>
        <p:spPr>
          <a:xfrm>
            <a:off x="8874919" y="1931987"/>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2" name="Oval 11"/>
          <p:cNvSpPr/>
          <p:nvPr/>
        </p:nvSpPr>
        <p:spPr>
          <a:xfrm>
            <a:off x="5522119" y="1931987"/>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p:cNvGraphicFramePr>
            <a:graphicFrameLocks noGrp="1"/>
          </p:cNvGraphicFramePr>
          <p:nvPr/>
        </p:nvGraphicFramePr>
        <p:xfrm>
          <a:off x="492920" y="484187"/>
          <a:ext cx="9753599" cy="1647360"/>
        </p:xfrm>
        <a:graphic>
          <a:graphicData uri="http://schemas.openxmlformats.org/drawingml/2006/table">
            <a:tbl>
              <a:tblPr rtl="1" firstRow="1" bandRow="1">
                <a:tableStyleId>{5C22544A-7EE6-4342-B048-85BDC9FD1C3A}</a:tableStyleId>
              </a:tblPr>
              <a:tblGrid>
                <a:gridCol w="3679983">
                  <a:extLst>
                    <a:ext uri="{9D8B030D-6E8A-4147-A177-3AD203B41FA5}">
                      <a16:colId xmlns:a16="http://schemas.microsoft.com/office/drawing/2014/main" val="20000"/>
                    </a:ext>
                  </a:extLst>
                </a:gridCol>
                <a:gridCol w="2895471">
                  <a:extLst>
                    <a:ext uri="{9D8B030D-6E8A-4147-A177-3AD203B41FA5}">
                      <a16:colId xmlns:a16="http://schemas.microsoft.com/office/drawing/2014/main" val="20001"/>
                    </a:ext>
                  </a:extLst>
                </a:gridCol>
                <a:gridCol w="3178145">
                  <a:extLst>
                    <a:ext uri="{9D8B030D-6E8A-4147-A177-3AD203B41FA5}">
                      <a16:colId xmlns:a16="http://schemas.microsoft.com/office/drawing/2014/main" val="20002"/>
                    </a:ext>
                  </a:extLst>
                </a:gridCol>
              </a:tblGrid>
              <a:tr h="583678">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mn-lt"/>
                        </a:rPr>
                        <a:t>TSI Slant Results (Color of Slant / Color of Butt)</a:t>
                      </a:r>
                    </a:p>
                    <a:p>
                      <a:pPr algn="l" rtl="0"/>
                      <a:endParaRPr lang="ar-JO" sz="1600" dirty="0">
                        <a:latin typeface="+mn-lt"/>
                      </a:endParaRPr>
                    </a:p>
                  </a:txBody>
                  <a:tcPr marL="131778" marR="131778" marT="46080" marB="46080"/>
                </a:tc>
                <a:tc hMerge="1">
                  <a:txBody>
                    <a:bodyPr/>
                    <a:lstStyle/>
                    <a:p>
                      <a:pPr algn="l" rtl="0"/>
                      <a:endParaRPr lang="ar-JO" sz="1600" dirty="0">
                        <a:latin typeface="+mn-lt"/>
                      </a:endParaRPr>
                    </a:p>
                  </a:txBody>
                  <a:tcPr marL="131778" marR="131778" marT="46080" marB="46080"/>
                </a:tc>
                <a:tc hMerge="1">
                  <a:txBody>
                    <a:bodyPr/>
                    <a:lstStyle/>
                    <a:p>
                      <a:pPr algn="l" rtl="0"/>
                      <a:endParaRPr lang="ar-JO" sz="1600" dirty="0">
                        <a:latin typeface="+mn-lt"/>
                      </a:endParaRPr>
                    </a:p>
                  </a:txBody>
                  <a:tcPr marL="131778" marR="131778" marT="46080" marB="46080"/>
                </a:tc>
                <a:extLst>
                  <a:ext uri="{0D108BD9-81ED-4DB2-BD59-A6C34878D82A}">
                    <a16:rowId xmlns:a16="http://schemas.microsoft.com/office/drawing/2014/main" val="10000"/>
                  </a:ext>
                </a:extLst>
              </a:tr>
              <a:tr h="829437">
                <a:tc>
                  <a:txBody>
                    <a:bodyPr/>
                    <a:lstStyle/>
                    <a:p>
                      <a:pPr algn="l" rtl="0"/>
                      <a:r>
                        <a:rPr lang="en-US" sz="2000" dirty="0">
                          <a:latin typeface="+mn-lt"/>
                        </a:rPr>
                        <a:t>only </a:t>
                      </a:r>
                      <a:r>
                        <a:rPr lang="en-US" sz="2000" dirty="0" err="1">
                          <a:latin typeface="+mn-lt"/>
                        </a:rPr>
                        <a:t>catabolize</a:t>
                      </a:r>
                      <a:r>
                        <a:rPr lang="en-US" sz="2000" dirty="0">
                          <a:latin typeface="+mn-lt"/>
                        </a:rPr>
                        <a:t> peptone under aerobic condition. </a:t>
                      </a:r>
                    </a:p>
                    <a:p>
                      <a:pPr algn="l" rtl="0"/>
                      <a:endParaRPr lang="en-US" sz="2000" dirty="0">
                        <a:latin typeface="+mn-lt"/>
                      </a:endParaRPr>
                    </a:p>
                  </a:txBody>
                  <a:tcPr marL="131778" marR="131778" marT="46080" marB="46080"/>
                </a:tc>
                <a:tc>
                  <a:txBody>
                    <a:bodyPr/>
                    <a:lstStyle/>
                    <a:p>
                      <a:pPr algn="l" rtl="0"/>
                      <a:r>
                        <a:rPr lang="en-US" sz="2400" b="1" dirty="0">
                          <a:latin typeface="+mn-lt"/>
                        </a:rPr>
                        <a:t>K/</a:t>
                      </a:r>
                      <a:r>
                        <a:rPr lang="en-US" sz="2400" dirty="0">
                          <a:latin typeface="+mn-lt"/>
                        </a:rPr>
                        <a:t> </a:t>
                      </a:r>
                      <a:r>
                        <a:rPr lang="en-US" sz="2000" dirty="0">
                          <a:latin typeface="+mn-lt"/>
                        </a:rPr>
                        <a:t>no change</a:t>
                      </a:r>
                    </a:p>
                    <a:p>
                      <a:pPr algn="l" rtl="0"/>
                      <a:endParaRPr lang="ar-JO" sz="2000" dirty="0">
                        <a:latin typeface="+mn-lt"/>
                      </a:endParaRPr>
                    </a:p>
                  </a:txBody>
                  <a:tcPr marL="131778" marR="131778" marT="46080" marB="46080"/>
                </a:tc>
                <a:tc>
                  <a:txBody>
                    <a:bodyPr/>
                    <a:lstStyle/>
                    <a:p>
                      <a:pPr algn="l" rtl="0"/>
                      <a:r>
                        <a:rPr lang="en-US" sz="2000" dirty="0">
                          <a:latin typeface="+mn-lt"/>
                        </a:rPr>
                        <a:t>Pink / red</a:t>
                      </a:r>
                    </a:p>
                    <a:p>
                      <a:pPr algn="l" rtl="0"/>
                      <a:r>
                        <a:rPr lang="en-US" sz="2000" dirty="0">
                          <a:latin typeface="+mn-lt"/>
                        </a:rPr>
                        <a:t>Alkaline/no change </a:t>
                      </a:r>
                    </a:p>
                    <a:p>
                      <a:pPr algn="l" rtl="0"/>
                      <a:endParaRPr lang="ar-JO" sz="2000" dirty="0">
                        <a:latin typeface="+mn-lt"/>
                      </a:endParaRPr>
                    </a:p>
                  </a:txBody>
                  <a:tcPr marL="131778" marR="131778" marT="46080" marB="46080"/>
                </a:tc>
                <a:extLst>
                  <a:ext uri="{0D108BD9-81ED-4DB2-BD59-A6C34878D82A}">
                    <a16:rowId xmlns:a16="http://schemas.microsoft.com/office/drawing/2014/main" val="10001"/>
                  </a:ext>
                </a:extLst>
              </a:tr>
            </a:tbl>
          </a:graphicData>
        </a:graphic>
      </p:graphicFrame>
      <p:sp>
        <p:nvSpPr>
          <p:cNvPr id="8" name="Rectangle 7"/>
          <p:cNvSpPr/>
          <p:nvPr/>
        </p:nvSpPr>
        <p:spPr>
          <a:xfrm>
            <a:off x="569119" y="3379787"/>
            <a:ext cx="11506200" cy="405142"/>
          </a:xfrm>
          <a:prstGeom prst="rect">
            <a:avLst/>
          </a:prstGeom>
        </p:spPr>
        <p:txBody>
          <a:bodyPr wrap="square" lIns="96423" tIns="48212" rIns="96423" bIns="48212">
            <a:spAutoFit/>
          </a:bodyPr>
          <a:lstStyle/>
          <a:p>
            <a:pPr algn="just" rtl="0"/>
            <a:r>
              <a:rPr lang="en-US" sz="2000" b="1" dirty="0">
                <a:solidFill>
                  <a:srgbClr val="FF0000"/>
                </a:solidFill>
                <a:latin typeface="+mn-lt"/>
              </a:rPr>
              <a:t>If the black color mask the color of butt, </a:t>
            </a:r>
            <a:r>
              <a:rPr lang="en-US" sz="2000" b="1" dirty="0">
                <a:latin typeface="+mn-lt"/>
              </a:rPr>
              <a:t>the color of the butt is considered yellow.</a:t>
            </a:r>
            <a:endParaRPr lang="ar-JO" sz="2000" b="1" dirty="0">
              <a:latin typeface="+mn-lt"/>
            </a:endParaRPr>
          </a:p>
        </p:txBody>
      </p:sp>
      <p:sp>
        <p:nvSpPr>
          <p:cNvPr id="12" name="Rectangle 11"/>
          <p:cNvSpPr/>
          <p:nvPr/>
        </p:nvSpPr>
        <p:spPr>
          <a:xfrm>
            <a:off x="492919" y="3989387"/>
            <a:ext cx="8686800" cy="1636248"/>
          </a:xfrm>
          <a:prstGeom prst="rect">
            <a:avLst/>
          </a:prstGeom>
        </p:spPr>
        <p:txBody>
          <a:bodyPr wrap="square" lIns="96423" tIns="48212" rIns="96423" bIns="48212">
            <a:spAutoFit/>
          </a:bodyPr>
          <a:lstStyle/>
          <a:p>
            <a:pPr algn="just" rtl="0"/>
            <a:r>
              <a:rPr lang="en-US" sz="2000" b="1" dirty="0">
                <a:solidFill>
                  <a:srgbClr val="FF0000"/>
                </a:solidFill>
                <a:latin typeface="+mn-lt"/>
              </a:rPr>
              <a:t>Why the incubation must be not longer than 18 hours? </a:t>
            </a:r>
          </a:p>
          <a:p>
            <a:pPr algn="just" rtl="0"/>
            <a:r>
              <a:rPr lang="en-US" sz="2000" b="1" dirty="0">
                <a:latin typeface="+mn-lt"/>
              </a:rPr>
              <a:t>Because for example the result is A /A and the bacteria incubate longer than 18 hours, the bacteria ferment lactose and sucrose completely, then start to degrade peptone which change the pH of the media from acid to alkaline and the result will appear K I K. </a:t>
            </a:r>
          </a:p>
        </p:txBody>
      </p:sp>
      <p:sp>
        <p:nvSpPr>
          <p:cNvPr id="13" name="Rectangle 12"/>
          <p:cNvSpPr/>
          <p:nvPr/>
        </p:nvSpPr>
        <p:spPr>
          <a:xfrm>
            <a:off x="492919" y="5741987"/>
            <a:ext cx="11049000" cy="712919"/>
          </a:xfrm>
          <a:prstGeom prst="rect">
            <a:avLst/>
          </a:prstGeom>
        </p:spPr>
        <p:txBody>
          <a:bodyPr wrap="square" lIns="96423" tIns="48212" rIns="96423" bIns="48212">
            <a:spAutoFit/>
          </a:bodyPr>
          <a:lstStyle/>
          <a:p>
            <a:pPr algn="just" rtl="0"/>
            <a:r>
              <a:rPr lang="en-US" sz="2000" b="1" dirty="0">
                <a:solidFill>
                  <a:srgbClr val="FF0000"/>
                </a:solidFill>
                <a:latin typeface="+mn-lt"/>
              </a:rPr>
              <a:t>Why there is no A I K? </a:t>
            </a:r>
          </a:p>
          <a:p>
            <a:pPr algn="just" rtl="0"/>
            <a:r>
              <a:rPr lang="en-US" sz="2000" b="1" dirty="0">
                <a:latin typeface="+mn-lt"/>
              </a:rPr>
              <a:t>Because the reaction under aerobic condition is faster than that under anaerobic. </a:t>
            </a:r>
            <a:endParaRPr lang="ar-JO" sz="2000" b="1" dirty="0">
              <a:latin typeface="+mn-lt"/>
            </a:endParaRPr>
          </a:p>
        </p:txBody>
      </p:sp>
      <p:pic>
        <p:nvPicPr>
          <p:cNvPr id="7" name="Picture 6" descr="https://image1.slideserve.com/2043294/slide20-n.jpg"/>
          <p:cNvPicPr/>
          <p:nvPr/>
        </p:nvPicPr>
        <p:blipFill>
          <a:blip r:embed="rId2">
            <a:lum bright="10000" contrast="20000"/>
          </a:blip>
          <a:srcRect l="38116" t="28988" r="45616" b="20623"/>
          <a:stretch>
            <a:fillRect/>
          </a:stretch>
        </p:blipFill>
        <p:spPr bwMode="auto">
          <a:xfrm flipH="1">
            <a:off x="10475119" y="255587"/>
            <a:ext cx="2057402" cy="3352800"/>
          </a:xfrm>
          <a:prstGeom prst="rect">
            <a:avLst/>
          </a:prstGeom>
          <a:noFill/>
          <a:ln w="9525">
            <a:noFill/>
            <a:miter lim="800000"/>
            <a:headEnd/>
            <a:tailEnd/>
          </a:ln>
        </p:spPr>
      </p:pic>
      <p:sp>
        <p:nvSpPr>
          <p:cNvPr id="10" name="Rectangle 9"/>
          <p:cNvSpPr/>
          <p:nvPr/>
        </p:nvSpPr>
        <p:spPr>
          <a:xfrm>
            <a:off x="10779919" y="3608387"/>
            <a:ext cx="1654620" cy="461665"/>
          </a:xfrm>
          <a:prstGeom prst="rect">
            <a:avLst/>
          </a:prstGeom>
        </p:spPr>
        <p:txBody>
          <a:bodyPr wrap="none">
            <a:spAutoFit/>
          </a:bodyPr>
          <a:lstStyle/>
          <a:p>
            <a:pPr algn="l" rtl="0"/>
            <a:r>
              <a:rPr lang="en-US" sz="2400" b="1" dirty="0">
                <a:latin typeface="+mn-lt"/>
              </a:rPr>
              <a:t>K/</a:t>
            </a:r>
            <a:r>
              <a:rPr lang="en-US" sz="2400" dirty="0">
                <a:latin typeface="+mn-lt"/>
              </a:rPr>
              <a:t> </a:t>
            </a:r>
            <a:r>
              <a:rPr lang="en-US" dirty="0"/>
              <a:t>no change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9119" y="407987"/>
            <a:ext cx="8126024" cy="752863"/>
          </a:xfrm>
        </p:spPr>
        <p:txBody>
          <a:bodyPr tIns="14062" rtlCol="0"/>
          <a:lstStyle/>
          <a:p>
            <a:pPr marL="13392" algn="l" eaLnBrk="1" fontAlgn="auto" hangingPunct="1">
              <a:spcBef>
                <a:spcPts val="111"/>
              </a:spcBef>
              <a:spcAft>
                <a:spcPts val="0"/>
              </a:spcAft>
              <a:defRPr/>
            </a:pPr>
            <a:r>
              <a:rPr lang="en-US" sz="4800" b="1" spc="-32" dirty="0">
                <a:latin typeface="Calibri"/>
                <a:cs typeface="Calibri"/>
              </a:rPr>
              <a:t>Test #2: </a:t>
            </a:r>
            <a:r>
              <a:rPr lang="ar-JO" sz="4800" b="1" spc="-32" dirty="0">
                <a:latin typeface="Calibri"/>
                <a:cs typeface="Calibri"/>
              </a:rPr>
              <a:t>IMViC</a:t>
            </a:r>
            <a:r>
              <a:rPr lang="ar-JO" sz="4800" b="1" spc="-174" dirty="0">
                <a:latin typeface="Calibri"/>
                <a:cs typeface="Calibri"/>
              </a:rPr>
              <a:t> </a:t>
            </a:r>
            <a:r>
              <a:rPr lang="ar-JO" sz="4800" b="1" spc="-142" dirty="0">
                <a:latin typeface="Calibri"/>
                <a:cs typeface="Calibri"/>
              </a:rPr>
              <a:t>Test</a:t>
            </a:r>
            <a:endParaRPr sz="4800" b="1" dirty="0">
              <a:latin typeface="+mj-lt"/>
            </a:endParaRPr>
          </a:p>
        </p:txBody>
      </p:sp>
      <p:sp>
        <p:nvSpPr>
          <p:cNvPr id="8" name="Rectangle 7"/>
          <p:cNvSpPr/>
          <p:nvPr/>
        </p:nvSpPr>
        <p:spPr>
          <a:xfrm>
            <a:off x="416719" y="1779587"/>
            <a:ext cx="11658600" cy="2805896"/>
          </a:xfrm>
          <a:prstGeom prst="rect">
            <a:avLst/>
          </a:prstGeom>
        </p:spPr>
        <p:txBody>
          <a:bodyPr wrap="square">
            <a:spAutoFit/>
          </a:bodyPr>
          <a:lstStyle/>
          <a:p>
            <a:pPr marL="256032" indent="-237744" algn="justLow" rtl="0">
              <a:spcBef>
                <a:spcPts val="395"/>
              </a:spcBef>
              <a:spcAft>
                <a:spcPts val="0"/>
              </a:spcAft>
              <a:buSzPts val="3000"/>
              <a:buFont typeface="Arial"/>
              <a:buChar char="•"/>
              <a:tabLst>
                <a:tab pos="254508" algn="l"/>
              </a:tabLst>
            </a:pPr>
            <a:r>
              <a:rPr lang="ar-JO" sz="2400" b="1" u="sng" dirty="0">
                <a:solidFill>
                  <a:srgbClr val="FF3300"/>
                </a:solidFill>
                <a:latin typeface="+mn-lt"/>
                <a:cs typeface="Calibri"/>
              </a:rPr>
              <a:t>I</a:t>
            </a:r>
            <a:r>
              <a:rPr lang="ar-JO" sz="2400" dirty="0">
                <a:latin typeface="+mn-lt"/>
                <a:cs typeface="Calibri"/>
              </a:rPr>
              <a:t>ndole,</a:t>
            </a:r>
            <a:r>
              <a:rPr lang="ar-JO" sz="2400" dirty="0">
                <a:solidFill>
                  <a:srgbClr val="FF3300"/>
                </a:solidFill>
                <a:latin typeface="+mn-lt"/>
                <a:cs typeface="Calibri"/>
              </a:rPr>
              <a:t> </a:t>
            </a:r>
            <a:r>
              <a:rPr lang="ar-JO" sz="2400" b="1" u="sng" dirty="0">
                <a:solidFill>
                  <a:srgbClr val="FF3300"/>
                </a:solidFill>
                <a:latin typeface="+mn-lt"/>
                <a:cs typeface="Calibri"/>
              </a:rPr>
              <a:t>M</a:t>
            </a:r>
            <a:r>
              <a:rPr lang="ar-JO" sz="2400" dirty="0">
                <a:latin typeface="+mn-lt"/>
                <a:cs typeface="Calibri"/>
              </a:rPr>
              <a:t>ethyl Red,</a:t>
            </a:r>
            <a:r>
              <a:rPr lang="ar-JO" sz="2400" dirty="0">
                <a:solidFill>
                  <a:srgbClr val="FF3300"/>
                </a:solidFill>
                <a:latin typeface="+mn-lt"/>
                <a:cs typeface="Calibri"/>
              </a:rPr>
              <a:t> </a:t>
            </a:r>
            <a:r>
              <a:rPr lang="ar-JO" sz="2400" b="1" u="sng" dirty="0">
                <a:solidFill>
                  <a:srgbClr val="FF3300"/>
                </a:solidFill>
                <a:latin typeface="+mn-lt"/>
                <a:cs typeface="Calibri"/>
              </a:rPr>
              <a:t>V</a:t>
            </a:r>
            <a:r>
              <a:rPr lang="ar-JO" sz="2400" dirty="0">
                <a:latin typeface="+mn-lt"/>
                <a:cs typeface="Calibri"/>
              </a:rPr>
              <a:t>oges-Prosakaur,</a:t>
            </a:r>
            <a:r>
              <a:rPr lang="ar-JO" sz="2400" dirty="0">
                <a:solidFill>
                  <a:srgbClr val="FF3300"/>
                </a:solidFill>
                <a:latin typeface="+mn-lt"/>
                <a:cs typeface="Calibri"/>
              </a:rPr>
              <a:t> </a:t>
            </a:r>
            <a:r>
              <a:rPr lang="ar-JO" sz="2400" b="1" u="sng" dirty="0">
                <a:solidFill>
                  <a:srgbClr val="FF3300"/>
                </a:solidFill>
                <a:latin typeface="+mn-lt"/>
                <a:cs typeface="Calibri"/>
              </a:rPr>
              <a:t>C</a:t>
            </a:r>
            <a:r>
              <a:rPr lang="ar-JO" sz="2400" dirty="0">
                <a:latin typeface="+mn-lt"/>
                <a:cs typeface="Calibri"/>
              </a:rPr>
              <a:t>itrate </a:t>
            </a:r>
            <a:r>
              <a:rPr lang="en-US" sz="2400" dirty="0">
                <a:latin typeface="+mn-lt"/>
                <a:cs typeface="Calibri"/>
              </a:rPr>
              <a:t>(</a:t>
            </a:r>
            <a:r>
              <a:rPr lang="ar-JO" sz="2400" dirty="0">
                <a:latin typeface="+mn-lt"/>
                <a:cs typeface="Calibri"/>
              </a:rPr>
              <a:t>IMViC) Tests:</a:t>
            </a:r>
            <a:endParaRPr lang="ar-JO" sz="2400" dirty="0">
              <a:latin typeface="+mn-lt"/>
            </a:endParaRPr>
          </a:p>
          <a:p>
            <a:pPr marL="256032" indent="-237744" algn="justLow" rtl="0">
              <a:spcBef>
                <a:spcPts val="395"/>
              </a:spcBef>
              <a:spcAft>
                <a:spcPts val="0"/>
              </a:spcAft>
              <a:buFont typeface="Arial" pitchFamily="34" charset="0"/>
              <a:buChar char="•"/>
              <a:tabLst>
                <a:tab pos="254508" algn="l"/>
              </a:tabLst>
            </a:pPr>
            <a:endParaRPr lang="ar-JO" sz="2400" dirty="0">
              <a:latin typeface="+mn-lt"/>
              <a:cs typeface="Calibri"/>
            </a:endParaRPr>
          </a:p>
          <a:p>
            <a:pPr marL="90488" algn="justLow" rtl="0">
              <a:lnSpc>
                <a:spcPts val="2887"/>
              </a:lnSpc>
              <a:spcBef>
                <a:spcPts val="264"/>
              </a:spcBef>
              <a:spcAft>
                <a:spcPts val="0"/>
              </a:spcAft>
              <a:buFont typeface="Arial" pitchFamily="34" charset="0"/>
              <a:buChar char="•"/>
              <a:tabLst>
                <a:tab pos="254508" algn="l"/>
              </a:tabLst>
            </a:pPr>
            <a:r>
              <a:rPr lang="ar-JO" sz="2400" dirty="0">
                <a:latin typeface="+mn-lt"/>
                <a:cs typeface="Calibri"/>
              </a:rPr>
              <a:t>The four tests comprise a series of important determinations that</a:t>
            </a:r>
            <a:r>
              <a:rPr lang="en-US" sz="2400" dirty="0">
                <a:latin typeface="+mn-lt"/>
                <a:cs typeface="Arial"/>
              </a:rPr>
              <a:t> </a:t>
            </a:r>
            <a:r>
              <a:rPr lang="ar-JO" sz="2400" dirty="0">
                <a:latin typeface="+mn-lt"/>
                <a:cs typeface="Calibri"/>
              </a:rPr>
              <a:t>are collectively called the IMViC series of reactions</a:t>
            </a:r>
            <a:r>
              <a:rPr lang="en-US" sz="2400" dirty="0">
                <a:latin typeface="+mn-lt"/>
                <a:cs typeface="Arial"/>
              </a:rPr>
              <a:t>.</a:t>
            </a:r>
            <a:endParaRPr lang="ar-JO" sz="2400" dirty="0">
              <a:latin typeface="+mn-lt"/>
            </a:endParaRPr>
          </a:p>
          <a:p>
            <a:pPr marL="90488" algn="justLow" rtl="0">
              <a:lnSpc>
                <a:spcPts val="2887"/>
              </a:lnSpc>
              <a:spcBef>
                <a:spcPts val="0"/>
              </a:spcBef>
              <a:spcAft>
                <a:spcPts val="0"/>
              </a:spcAft>
              <a:buFont typeface="Arial" pitchFamily="34" charset="0"/>
              <a:buChar char="•"/>
              <a:tabLst>
                <a:tab pos="254508" algn="l"/>
              </a:tabLst>
            </a:pPr>
            <a:endParaRPr lang="ar-JO" sz="2400" dirty="0">
              <a:latin typeface="+mn-lt"/>
              <a:cs typeface="Calibri"/>
            </a:endParaRPr>
          </a:p>
          <a:p>
            <a:pPr marL="90488" algn="justLow" rtl="0">
              <a:lnSpc>
                <a:spcPts val="2729"/>
              </a:lnSpc>
              <a:spcBef>
                <a:spcPts val="580"/>
              </a:spcBef>
              <a:spcAft>
                <a:spcPts val="0"/>
              </a:spcAft>
              <a:buFont typeface="Arial" pitchFamily="34" charset="0"/>
              <a:buChar char="•"/>
              <a:tabLst>
                <a:tab pos="254508" algn="l"/>
              </a:tabLst>
            </a:pPr>
            <a:r>
              <a:rPr lang="ar-JO" sz="2400" dirty="0">
                <a:latin typeface="+mn-lt"/>
                <a:cs typeface="Calibri"/>
              </a:rPr>
              <a:t>The IMViC series of reactions allows for the differentiation of the various  </a:t>
            </a:r>
            <a:r>
              <a:rPr lang="en-US" sz="2400" dirty="0">
                <a:latin typeface="+mn-lt"/>
                <a:cs typeface="Arial"/>
              </a:rPr>
              <a:t>species</a:t>
            </a:r>
            <a:r>
              <a:rPr lang="ar-JO" sz="2400" dirty="0">
                <a:latin typeface="+mn-lt"/>
                <a:cs typeface="Calibri"/>
              </a:rPr>
              <a:t> of </a:t>
            </a:r>
            <a:r>
              <a:rPr lang="en-US" sz="2400" dirty="0">
                <a:latin typeface="+mn-lt"/>
                <a:cs typeface="Arial"/>
              </a:rPr>
              <a:t>bacteria</a:t>
            </a:r>
            <a:r>
              <a:rPr lang="ar-JO" sz="2400" dirty="0">
                <a:latin typeface="+mn-lt"/>
                <a:cs typeface="Calibri"/>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2"/>
          <p:cNvSpPr txBox="1">
            <a:spLocks noGrp="1"/>
          </p:cNvSpPr>
          <p:nvPr/>
        </p:nvSpPr>
        <p:spPr bwMode="auto">
          <a:xfrm>
            <a:off x="797719" y="255587"/>
            <a:ext cx="3562134" cy="444410"/>
          </a:xfrm>
          <a:prstGeom prst="rect">
            <a:avLst/>
          </a:prstGeom>
          <a:noFill/>
          <a:ln w="9525">
            <a:noFill/>
            <a:miter lim="800000"/>
            <a:headEnd/>
            <a:tailEnd/>
          </a:ln>
        </p:spPr>
        <p:txBody>
          <a:bodyPr vert="horz" wrap="square" lIns="0" tIns="13392" rIns="0" bIns="0" numCol="1" rtlCol="0" anchor="t" anchorCtr="0" compatLnSpc="1">
            <a:prstTxWarp prst="textNoShape">
              <a:avLst/>
            </a:prstTxWarp>
            <a:spAutoFit/>
          </a:bodyPr>
          <a:lstStyle>
            <a:lvl1pPr algn="ctr" rtl="0" eaLnBrk="0" fontAlgn="base" hangingPunct="0">
              <a:spcBef>
                <a:spcPct val="0"/>
              </a:spcBef>
              <a:spcAft>
                <a:spcPct val="0"/>
              </a:spcAft>
              <a:defRPr sz="3100" b="0" i="0">
                <a:solidFill>
                  <a:srgbClr val="FF3300"/>
                </a:solidFill>
                <a:latin typeface="Calibri Light"/>
                <a:ea typeface="+mj-ea"/>
                <a:cs typeface="Calibri Light"/>
              </a:defRPr>
            </a:lvl1pPr>
            <a:lvl2pPr algn="ctr" rtl="0" eaLnBrk="0" fontAlgn="base" hangingPunct="0">
              <a:spcBef>
                <a:spcPct val="0"/>
              </a:spcBef>
              <a:spcAft>
                <a:spcPct val="0"/>
              </a:spcAft>
              <a:defRPr sz="4600">
                <a:solidFill>
                  <a:schemeClr val="tx2"/>
                </a:solidFill>
                <a:latin typeface="Calibri" pitchFamily="34" charset="0"/>
                <a:cs typeface="Times New Roman" pitchFamily="18" charset="0"/>
              </a:defRPr>
            </a:lvl2pPr>
            <a:lvl3pPr algn="ctr" rtl="0" eaLnBrk="0" fontAlgn="base" hangingPunct="0">
              <a:spcBef>
                <a:spcPct val="0"/>
              </a:spcBef>
              <a:spcAft>
                <a:spcPct val="0"/>
              </a:spcAft>
              <a:defRPr sz="4600">
                <a:solidFill>
                  <a:schemeClr val="tx2"/>
                </a:solidFill>
                <a:latin typeface="Calibri" pitchFamily="34" charset="0"/>
                <a:cs typeface="Times New Roman" pitchFamily="18" charset="0"/>
              </a:defRPr>
            </a:lvl3pPr>
            <a:lvl4pPr algn="ctr" rtl="0" eaLnBrk="0" fontAlgn="base" hangingPunct="0">
              <a:spcBef>
                <a:spcPct val="0"/>
              </a:spcBef>
              <a:spcAft>
                <a:spcPct val="0"/>
              </a:spcAft>
              <a:defRPr sz="4600">
                <a:solidFill>
                  <a:schemeClr val="tx2"/>
                </a:solidFill>
                <a:latin typeface="Calibri" pitchFamily="34" charset="0"/>
                <a:cs typeface="Times New Roman" pitchFamily="18" charset="0"/>
              </a:defRPr>
            </a:lvl4pPr>
            <a:lvl5pPr algn="ctr" rtl="0" eaLnBrk="0" fontAlgn="base" hangingPunct="0">
              <a:spcBef>
                <a:spcPct val="0"/>
              </a:spcBef>
              <a:spcAft>
                <a:spcPct val="0"/>
              </a:spcAft>
              <a:defRPr sz="4600">
                <a:solidFill>
                  <a:schemeClr val="tx2"/>
                </a:solidFill>
                <a:latin typeface="Calibri" pitchFamily="34" charset="0"/>
                <a:cs typeface="Times New Roman" pitchFamily="18" charset="0"/>
              </a:defRPr>
            </a:lvl5pPr>
            <a:lvl6pPr marL="482117" algn="ctr" rtl="0" eaLnBrk="0" fontAlgn="base" hangingPunct="0">
              <a:spcBef>
                <a:spcPct val="0"/>
              </a:spcBef>
              <a:spcAft>
                <a:spcPct val="0"/>
              </a:spcAft>
              <a:defRPr sz="4600">
                <a:solidFill>
                  <a:schemeClr val="tx2"/>
                </a:solidFill>
                <a:latin typeface="Calibri" pitchFamily="34" charset="0"/>
                <a:cs typeface="Times New Roman" pitchFamily="18" charset="0"/>
              </a:defRPr>
            </a:lvl6pPr>
            <a:lvl7pPr marL="964235" algn="ctr" rtl="0" eaLnBrk="0" fontAlgn="base" hangingPunct="0">
              <a:spcBef>
                <a:spcPct val="0"/>
              </a:spcBef>
              <a:spcAft>
                <a:spcPct val="0"/>
              </a:spcAft>
              <a:defRPr sz="4600">
                <a:solidFill>
                  <a:schemeClr val="tx2"/>
                </a:solidFill>
                <a:latin typeface="Calibri" pitchFamily="34" charset="0"/>
                <a:cs typeface="Times New Roman" pitchFamily="18" charset="0"/>
              </a:defRPr>
            </a:lvl7pPr>
            <a:lvl8pPr marL="1446352" algn="ctr" rtl="0" eaLnBrk="0" fontAlgn="base" hangingPunct="0">
              <a:spcBef>
                <a:spcPct val="0"/>
              </a:spcBef>
              <a:spcAft>
                <a:spcPct val="0"/>
              </a:spcAft>
              <a:defRPr sz="4600">
                <a:solidFill>
                  <a:schemeClr val="tx2"/>
                </a:solidFill>
                <a:latin typeface="Calibri" pitchFamily="34" charset="0"/>
                <a:cs typeface="Times New Roman" pitchFamily="18" charset="0"/>
              </a:defRPr>
            </a:lvl8pPr>
            <a:lvl9pPr marL="1928470" algn="ctr" rtl="0" eaLnBrk="0" fontAlgn="base" hangingPunct="0">
              <a:spcBef>
                <a:spcPct val="0"/>
              </a:spcBef>
              <a:spcAft>
                <a:spcPct val="0"/>
              </a:spcAft>
              <a:defRPr sz="4600">
                <a:solidFill>
                  <a:schemeClr val="tx2"/>
                </a:solidFill>
                <a:latin typeface="Calibri" pitchFamily="34" charset="0"/>
                <a:cs typeface="Times New Roman" pitchFamily="18" charset="0"/>
              </a:defRPr>
            </a:lvl9pPr>
          </a:lstStyle>
          <a:p>
            <a:pPr marL="13392" algn="l" eaLnBrk="1" fontAlgn="auto" hangingPunct="1">
              <a:spcBef>
                <a:spcPts val="105"/>
              </a:spcBef>
              <a:spcAft>
                <a:spcPts val="0"/>
              </a:spcAft>
              <a:defRPr/>
            </a:pPr>
            <a:r>
              <a:rPr sz="2800" b="1" spc="-5" dirty="0">
                <a:solidFill>
                  <a:schemeClr val="tx1"/>
                </a:solidFill>
                <a:latin typeface="+mn-lt"/>
              </a:rPr>
              <a:t>I</a:t>
            </a:r>
            <a:r>
              <a:rPr sz="2800" b="1" spc="-5" dirty="0">
                <a:latin typeface="+mn-lt"/>
              </a:rPr>
              <a:t>MViC: </a:t>
            </a:r>
            <a:r>
              <a:rPr sz="2800" b="1" spc="-5" dirty="0">
                <a:solidFill>
                  <a:schemeClr val="tx1"/>
                </a:solidFill>
                <a:latin typeface="+mn-lt"/>
              </a:rPr>
              <a:t>I</a:t>
            </a:r>
            <a:r>
              <a:rPr sz="2800" b="1" spc="-5" dirty="0">
                <a:solidFill>
                  <a:srgbClr val="FF0000"/>
                </a:solidFill>
                <a:latin typeface="+mn-lt"/>
              </a:rPr>
              <a:t>ndole</a:t>
            </a:r>
            <a:r>
              <a:rPr sz="2800" b="1" spc="-37" dirty="0">
                <a:solidFill>
                  <a:srgbClr val="FF0000"/>
                </a:solidFill>
                <a:latin typeface="+mn-lt"/>
              </a:rPr>
              <a:t> </a:t>
            </a:r>
            <a:r>
              <a:rPr sz="2800" b="1" spc="-26" dirty="0">
                <a:solidFill>
                  <a:srgbClr val="FF0000"/>
                </a:solidFill>
                <a:latin typeface="+mn-lt"/>
              </a:rPr>
              <a:t>test</a:t>
            </a:r>
            <a:endParaRPr sz="2800" b="1">
              <a:solidFill>
                <a:srgbClr val="FF0000"/>
              </a:solidFill>
              <a:latin typeface="+mn-lt"/>
            </a:endParaRPr>
          </a:p>
        </p:txBody>
      </p:sp>
      <p:sp>
        <p:nvSpPr>
          <p:cNvPr id="12" name="object 3"/>
          <p:cNvSpPr txBox="1">
            <a:spLocks noChangeArrowheads="1"/>
          </p:cNvSpPr>
          <p:nvPr/>
        </p:nvSpPr>
        <p:spPr bwMode="auto">
          <a:xfrm>
            <a:off x="569119" y="941387"/>
            <a:ext cx="11506200" cy="882384"/>
          </a:xfrm>
          <a:prstGeom prst="rect">
            <a:avLst/>
          </a:prstGeom>
          <a:noFill/>
          <a:ln w="9525">
            <a:solidFill>
              <a:schemeClr val="accent2"/>
            </a:solidFill>
            <a:miter lim="800000"/>
            <a:headEnd/>
            <a:tailEnd/>
          </a:ln>
        </p:spPr>
        <p:txBody>
          <a:bodyPr wrap="square" lIns="0" tIns="50890" rIns="0" bIns="0">
            <a:spAutoFit/>
          </a:bodyPr>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marL="87313" algn="just" rtl="0">
              <a:spcBef>
                <a:spcPts val="395"/>
              </a:spcBef>
              <a:spcAft>
                <a:spcPts val="0"/>
              </a:spcAft>
              <a:buSzPts val="2400"/>
              <a:tabLst>
                <a:tab pos="87313" algn="l"/>
              </a:tabLst>
            </a:pPr>
            <a:r>
              <a:rPr lang="ar-JO" b="1" dirty="0">
                <a:solidFill>
                  <a:srgbClr val="FF0000"/>
                </a:solidFill>
                <a:latin typeface="Calibri"/>
                <a:cs typeface="Calibri"/>
              </a:rPr>
              <a:t>Principle</a:t>
            </a:r>
            <a:r>
              <a:rPr lang="ar-JO" b="1" dirty="0">
                <a:latin typeface="Calibri"/>
                <a:cs typeface="Calibri"/>
              </a:rPr>
              <a:t> </a:t>
            </a:r>
            <a:r>
              <a:rPr lang="en-US" b="1" dirty="0">
                <a:latin typeface="Calibri"/>
                <a:cs typeface="Calibri"/>
              </a:rPr>
              <a:t> : </a:t>
            </a:r>
            <a:r>
              <a:rPr lang="ar-JO" dirty="0">
                <a:latin typeface="Calibri"/>
                <a:cs typeface="Calibri"/>
              </a:rPr>
              <a:t>Certain microorganisms can metabolize tryptophan by  tryptophanase</a:t>
            </a:r>
            <a:r>
              <a:rPr lang="en-US" dirty="0">
                <a:latin typeface="Calibri"/>
                <a:cs typeface="Calibri"/>
              </a:rPr>
              <a:t> </a:t>
            </a:r>
            <a:r>
              <a:rPr lang="ar-JO" dirty="0">
                <a:latin typeface="Calibri"/>
                <a:cs typeface="Calibri"/>
              </a:rPr>
              <a:t>The enzymatic degradation leads to the formation of  pyruvic acid, indole and ammonia</a:t>
            </a:r>
            <a:r>
              <a:rPr lang="en-US" dirty="0">
                <a:latin typeface="Calibri"/>
                <a:cs typeface="Calibri"/>
              </a:rPr>
              <a:t>. </a:t>
            </a:r>
            <a:r>
              <a:rPr lang="ar-JO" dirty="0">
                <a:latin typeface="Calibri"/>
                <a:cs typeface="Calibri"/>
              </a:rPr>
              <a:t>The</a:t>
            </a:r>
            <a:r>
              <a:rPr lang="en-US" dirty="0">
                <a:latin typeface="Calibri"/>
                <a:cs typeface="Calibri"/>
              </a:rPr>
              <a:t> </a:t>
            </a:r>
            <a:r>
              <a:rPr lang="ar-JO" dirty="0">
                <a:latin typeface="Calibri"/>
                <a:cs typeface="Calibri"/>
              </a:rPr>
              <a:t>presence	of</a:t>
            </a:r>
            <a:r>
              <a:rPr lang="en-US" dirty="0">
                <a:latin typeface="Calibri"/>
                <a:cs typeface="Calibri"/>
              </a:rPr>
              <a:t> </a:t>
            </a:r>
            <a:r>
              <a:rPr lang="ar-JO" dirty="0">
                <a:latin typeface="Calibri"/>
                <a:cs typeface="Calibri"/>
              </a:rPr>
              <a:t>indole	is</a:t>
            </a:r>
            <a:r>
              <a:rPr lang="en-US" dirty="0">
                <a:latin typeface="Calibri"/>
                <a:cs typeface="Calibri"/>
              </a:rPr>
              <a:t> </a:t>
            </a:r>
            <a:r>
              <a:rPr lang="ar-JO" dirty="0">
                <a:latin typeface="Calibri"/>
                <a:cs typeface="Calibri"/>
              </a:rPr>
              <a:t>detected	by	addition	of Kovac's reagent</a:t>
            </a:r>
            <a:r>
              <a:rPr lang="en-US" dirty="0">
                <a:latin typeface="Calibri"/>
                <a:cs typeface="Calibri"/>
              </a:rPr>
              <a:t>.</a:t>
            </a:r>
            <a:endParaRPr lang="ar-JO" dirty="0">
              <a:latin typeface="+mn-lt"/>
            </a:endParaRPr>
          </a:p>
        </p:txBody>
      </p:sp>
      <p:sp>
        <p:nvSpPr>
          <p:cNvPr id="13" name="object 4"/>
          <p:cNvSpPr>
            <a:spLocks noChangeArrowheads="1"/>
          </p:cNvSpPr>
          <p:nvPr/>
        </p:nvSpPr>
        <p:spPr bwMode="auto">
          <a:xfrm>
            <a:off x="3447794" y="3222386"/>
            <a:ext cx="2491435" cy="230399"/>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00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sz="2400">
              <a:latin typeface="+mn-lt"/>
            </a:endParaRPr>
          </a:p>
        </p:txBody>
      </p:sp>
      <p:sp>
        <p:nvSpPr>
          <p:cNvPr id="14" name="object 5"/>
          <p:cNvSpPr txBox="1"/>
          <p:nvPr/>
        </p:nvSpPr>
        <p:spPr>
          <a:xfrm>
            <a:off x="1864519" y="2922587"/>
            <a:ext cx="4315398" cy="1180509"/>
          </a:xfrm>
          <a:prstGeom prst="rect">
            <a:avLst/>
          </a:prstGeom>
        </p:spPr>
        <p:txBody>
          <a:bodyPr lIns="0" tIns="13392" rIns="0" bIns="0">
            <a:spAutoFit/>
          </a:bodyPr>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marL="36576" algn="l" rtl="0" fontAlgn="auto">
              <a:spcBef>
                <a:spcPts val="105"/>
              </a:spcBef>
              <a:spcAft>
                <a:spcPts val="0"/>
              </a:spcAft>
            </a:pPr>
            <a:r>
              <a:rPr sz="2000" b="1" spc="-5">
                <a:latin typeface="+mn-lt"/>
                <a:cs typeface="Tahoma"/>
              </a:rPr>
              <a:t>T</a:t>
            </a:r>
            <a:r>
              <a:rPr lang="ar-JO" sz="2000" b="1" spc="-5" dirty="0">
                <a:latin typeface="Calibri"/>
                <a:cs typeface="Calibri"/>
              </a:rPr>
              <a:t>ryptophane        Tryptophanase</a:t>
            </a:r>
          </a:p>
          <a:p>
            <a:pPr marL="173736" algn="l" rtl="0" fontAlgn="auto">
              <a:spcBef>
                <a:spcPts val="1798"/>
              </a:spcBef>
              <a:spcAft>
                <a:spcPts val="0"/>
              </a:spcAft>
            </a:pPr>
            <a:r>
              <a:rPr lang="ar-JO" sz="2000" b="1" spc="-5" dirty="0">
                <a:latin typeface="Calibri"/>
                <a:cs typeface="Calibri"/>
              </a:rPr>
              <a:t>amino acids</a:t>
            </a:r>
            <a:r>
              <a:rPr lang="en-US" sz="2000" b="1" spc="-5" dirty="0">
                <a:latin typeface="Calibri"/>
                <a:cs typeface="Calibri"/>
              </a:rPr>
              <a:t>    </a:t>
            </a:r>
            <a:endParaRPr lang="ar-JO" sz="2000" b="1" spc="-5" dirty="0">
              <a:latin typeface="Calibri"/>
              <a:cs typeface="Calibri"/>
            </a:endParaRPr>
          </a:p>
          <a:p>
            <a:pPr marL="40176" algn="l" rtl="0" fontAlgn="auto">
              <a:spcBef>
                <a:spcPts val="105"/>
              </a:spcBef>
              <a:spcAft>
                <a:spcPts val="0"/>
              </a:spcAft>
              <a:defRPr/>
            </a:pPr>
            <a:endParaRPr sz="2000" b="1" spc="-5">
              <a:latin typeface="+mn-lt"/>
              <a:cs typeface="Tahoma"/>
            </a:endParaRPr>
          </a:p>
        </p:txBody>
      </p:sp>
      <p:sp>
        <p:nvSpPr>
          <p:cNvPr id="16" name="object 7"/>
          <p:cNvSpPr txBox="1"/>
          <p:nvPr/>
        </p:nvSpPr>
        <p:spPr>
          <a:xfrm>
            <a:off x="6014727" y="2990387"/>
            <a:ext cx="4742649" cy="974457"/>
          </a:xfrm>
          <a:prstGeom prst="rect">
            <a:avLst/>
          </a:prstGeom>
        </p:spPr>
        <p:txBody>
          <a:bodyPr lIns="0" tIns="131913" rIns="0" bIns="0">
            <a:spAutoFit/>
          </a:bodyPr>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marL="13392" algn="l" rtl="0" fontAlgn="auto">
              <a:spcBef>
                <a:spcPts val="1039"/>
              </a:spcBef>
              <a:spcAft>
                <a:spcPts val="0"/>
              </a:spcAft>
              <a:defRPr/>
            </a:pPr>
            <a:r>
              <a:rPr sz="2400" b="1" spc="-5" dirty="0">
                <a:latin typeface="+mn-lt"/>
                <a:cs typeface="Tahoma"/>
              </a:rPr>
              <a:t>Indole </a:t>
            </a:r>
            <a:r>
              <a:rPr sz="2400" b="1">
                <a:latin typeface="+mn-lt"/>
                <a:cs typeface="Tahoma"/>
              </a:rPr>
              <a:t>+ </a:t>
            </a:r>
            <a:r>
              <a:rPr sz="2400" b="1" spc="-5">
                <a:latin typeface="+mn-lt"/>
                <a:cs typeface="Tahoma"/>
              </a:rPr>
              <a:t>Pyurvic </a:t>
            </a:r>
            <a:r>
              <a:rPr sz="2400" b="1" dirty="0">
                <a:latin typeface="+mn-lt"/>
                <a:cs typeface="Tahoma"/>
              </a:rPr>
              <a:t>acid +</a:t>
            </a:r>
            <a:r>
              <a:rPr sz="2400" b="1" spc="-100" dirty="0">
                <a:latin typeface="+mn-lt"/>
                <a:cs typeface="Tahoma"/>
              </a:rPr>
              <a:t> </a:t>
            </a:r>
            <a:r>
              <a:rPr sz="2400" b="1" dirty="0">
                <a:latin typeface="+mn-lt"/>
                <a:cs typeface="Tahoma"/>
              </a:rPr>
              <a:t>NH</a:t>
            </a:r>
            <a:r>
              <a:rPr sz="2400" b="1" baseline="-25000" dirty="0">
                <a:latin typeface="+mn-lt"/>
                <a:cs typeface="Tahoma"/>
              </a:rPr>
              <a:t>3</a:t>
            </a:r>
            <a:endParaRPr sz="2400" baseline="-25000">
              <a:latin typeface="+mn-lt"/>
              <a:cs typeface="Tahoma"/>
            </a:endParaRPr>
          </a:p>
          <a:p>
            <a:pPr marL="1313770" algn="l" rtl="0" fontAlgn="auto">
              <a:spcBef>
                <a:spcPts val="780"/>
              </a:spcBef>
              <a:spcAft>
                <a:spcPts val="0"/>
              </a:spcAft>
              <a:defRPr/>
            </a:pPr>
            <a:endParaRPr lang="ar-JO" sz="2400" b="1" spc="-26" dirty="0">
              <a:latin typeface="+mn-lt"/>
              <a:cs typeface="Calibri"/>
            </a:endParaRPr>
          </a:p>
        </p:txBody>
      </p:sp>
      <p:pic>
        <p:nvPicPr>
          <p:cNvPr id="21" name="Picture 20" descr="Metabolism, Physiology, and Growth Characteristics of Bacilli ..."/>
          <p:cNvPicPr/>
          <p:nvPr/>
        </p:nvPicPr>
        <p:blipFill>
          <a:blip r:embed="rId2"/>
          <a:srcRect l="16890" t="28803" r="55327" b="8722"/>
          <a:stretch>
            <a:fillRect/>
          </a:stretch>
        </p:blipFill>
        <p:spPr bwMode="auto">
          <a:xfrm>
            <a:off x="797719" y="3151187"/>
            <a:ext cx="662940" cy="2823883"/>
          </a:xfrm>
          <a:prstGeom prst="rect">
            <a:avLst/>
          </a:prstGeom>
          <a:noFill/>
          <a:ln w="9525">
            <a:noFill/>
            <a:miter lim="800000"/>
            <a:headEnd/>
            <a:tailEnd/>
          </a:ln>
        </p:spPr>
      </p:pic>
      <p:sp>
        <p:nvSpPr>
          <p:cNvPr id="22" name="Rectangle 21"/>
          <p:cNvSpPr/>
          <p:nvPr/>
        </p:nvSpPr>
        <p:spPr>
          <a:xfrm>
            <a:off x="569119" y="6122987"/>
            <a:ext cx="1273105" cy="369332"/>
          </a:xfrm>
          <a:prstGeom prst="rect">
            <a:avLst/>
          </a:prstGeom>
          <a:ln>
            <a:solidFill>
              <a:srgbClr val="FF0000"/>
            </a:solidFill>
          </a:ln>
        </p:spPr>
        <p:txBody>
          <a:bodyPr wrap="none">
            <a:spAutoFit/>
          </a:bodyPr>
          <a:lstStyle/>
          <a:p>
            <a:r>
              <a:rPr lang="en-US" b="1" dirty="0">
                <a:latin typeface="Calibri"/>
                <a:cs typeface="Calibri"/>
              </a:rPr>
              <a:t> SIM Media</a:t>
            </a:r>
            <a:endParaRPr lang="ar-JO" b="1" dirty="0"/>
          </a:p>
        </p:txBody>
      </p:sp>
      <p:sp>
        <p:nvSpPr>
          <p:cNvPr id="23" name="object 4"/>
          <p:cNvSpPr>
            <a:spLocks noChangeArrowheads="1"/>
          </p:cNvSpPr>
          <p:nvPr/>
        </p:nvSpPr>
        <p:spPr bwMode="auto">
          <a:xfrm flipV="1">
            <a:off x="1864519" y="4827587"/>
            <a:ext cx="5410200" cy="304800"/>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00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sz="2400">
              <a:latin typeface="+mn-lt"/>
            </a:endParaRPr>
          </a:p>
        </p:txBody>
      </p:sp>
      <p:sp>
        <p:nvSpPr>
          <p:cNvPr id="24" name="Rectangle 23"/>
          <p:cNvSpPr/>
          <p:nvPr/>
        </p:nvSpPr>
        <p:spPr>
          <a:xfrm>
            <a:off x="2169319" y="4065588"/>
            <a:ext cx="4267200" cy="646331"/>
          </a:xfrm>
          <a:prstGeom prst="rect">
            <a:avLst/>
          </a:prstGeom>
        </p:spPr>
        <p:txBody>
          <a:bodyPr wrap="square">
            <a:spAutoFit/>
          </a:bodyPr>
          <a:lstStyle/>
          <a:p>
            <a:pPr algn="just" rtl="0"/>
            <a:r>
              <a:rPr lang="en-US" b="1" spc="-5" dirty="0">
                <a:latin typeface="+mn-lt"/>
                <a:cs typeface="Tahoma"/>
              </a:rPr>
              <a:t>Inoculate from your culture by just </a:t>
            </a:r>
            <a:r>
              <a:rPr lang="en-US" b="1" spc="-5" dirty="0">
                <a:solidFill>
                  <a:srgbClr val="FF0000"/>
                </a:solidFill>
                <a:latin typeface="+mn-lt"/>
                <a:cs typeface="Tahoma"/>
              </a:rPr>
              <a:t>single line inoculation</a:t>
            </a:r>
            <a:r>
              <a:rPr lang="en-US" b="1" spc="-5" dirty="0">
                <a:latin typeface="+mn-lt"/>
                <a:cs typeface="Tahoma"/>
              </a:rPr>
              <a:t> Using sterile cooled needle</a:t>
            </a:r>
            <a:endParaRPr lang="ar-JO" dirty="0">
              <a:latin typeface="+mn-lt"/>
            </a:endParaRPr>
          </a:p>
        </p:txBody>
      </p:sp>
      <p:sp>
        <p:nvSpPr>
          <p:cNvPr id="25" name="Rectangle 24"/>
          <p:cNvSpPr/>
          <p:nvPr/>
        </p:nvSpPr>
        <p:spPr>
          <a:xfrm>
            <a:off x="7579519" y="4751388"/>
            <a:ext cx="4343400" cy="400110"/>
          </a:xfrm>
          <a:prstGeom prst="rect">
            <a:avLst/>
          </a:prstGeom>
        </p:spPr>
        <p:txBody>
          <a:bodyPr wrap="square">
            <a:spAutoFit/>
          </a:bodyPr>
          <a:lstStyle/>
          <a:p>
            <a:pPr algn="l" rtl="0"/>
            <a:r>
              <a:rPr lang="en-US" sz="2000" b="1" spc="-5" dirty="0">
                <a:latin typeface="+mn-lt"/>
                <a:cs typeface="Tahoma"/>
              </a:rPr>
              <a:t>incubate at 37°C for 48 hours</a:t>
            </a:r>
            <a:endParaRPr lang="ar-JO" sz="2000" dirty="0">
              <a:latin typeface="+mn-lt"/>
            </a:endParaRPr>
          </a:p>
        </p:txBody>
      </p:sp>
      <p:sp>
        <p:nvSpPr>
          <p:cNvPr id="26" name="object 6"/>
          <p:cNvSpPr>
            <a:spLocks noChangeArrowheads="1"/>
          </p:cNvSpPr>
          <p:nvPr/>
        </p:nvSpPr>
        <p:spPr bwMode="auto">
          <a:xfrm>
            <a:off x="8570119" y="5132388"/>
            <a:ext cx="247084" cy="580797"/>
          </a:xfrm>
          <a:custGeom>
            <a:avLst/>
            <a:gdLst>
              <a:gd name="T0" fmla="*/ 0 w 228600"/>
              <a:gd name="T1" fmla="*/ 0 h 576579"/>
              <a:gd name="T2" fmla="*/ 228600 w 228600"/>
              <a:gd name="T3" fmla="*/ 576579 h 576579"/>
            </a:gdLst>
            <a:ahLst/>
            <a:cxnLst/>
            <a:rect l="T0" t="T1" r="T2" b="T3"/>
            <a:pathLst>
              <a:path w="228600" h="576579">
                <a:moveTo>
                  <a:pt x="76200" y="347472"/>
                </a:moveTo>
                <a:lnTo>
                  <a:pt x="0" y="347472"/>
                </a:lnTo>
                <a:lnTo>
                  <a:pt x="114300" y="576072"/>
                </a:lnTo>
                <a:lnTo>
                  <a:pt x="209550" y="385572"/>
                </a:lnTo>
                <a:lnTo>
                  <a:pt x="76200" y="385572"/>
                </a:lnTo>
                <a:lnTo>
                  <a:pt x="76200" y="347472"/>
                </a:lnTo>
                <a:close/>
              </a:path>
              <a:path w="228600" h="576579">
                <a:moveTo>
                  <a:pt x="152400" y="0"/>
                </a:moveTo>
                <a:lnTo>
                  <a:pt x="76200" y="0"/>
                </a:lnTo>
                <a:lnTo>
                  <a:pt x="76200" y="385572"/>
                </a:lnTo>
                <a:lnTo>
                  <a:pt x="152400" y="385572"/>
                </a:lnTo>
                <a:lnTo>
                  <a:pt x="152400" y="0"/>
                </a:lnTo>
                <a:close/>
              </a:path>
              <a:path w="228600" h="576579">
                <a:moveTo>
                  <a:pt x="228600" y="347472"/>
                </a:moveTo>
                <a:lnTo>
                  <a:pt x="152400" y="347472"/>
                </a:lnTo>
                <a:lnTo>
                  <a:pt x="152400" y="385572"/>
                </a:lnTo>
                <a:lnTo>
                  <a:pt x="209550" y="385572"/>
                </a:lnTo>
                <a:lnTo>
                  <a:pt x="228600" y="347472"/>
                </a:lnTo>
                <a:close/>
              </a:path>
            </a:pathLst>
          </a:custGeom>
          <a:solidFill>
            <a:srgbClr val="00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sz="2400">
              <a:latin typeface="+mn-lt"/>
            </a:endParaRPr>
          </a:p>
        </p:txBody>
      </p:sp>
      <p:sp>
        <p:nvSpPr>
          <p:cNvPr id="27" name="Rectangle 26"/>
          <p:cNvSpPr/>
          <p:nvPr/>
        </p:nvSpPr>
        <p:spPr>
          <a:xfrm>
            <a:off x="8291176" y="5780644"/>
            <a:ext cx="1013739" cy="369332"/>
          </a:xfrm>
          <a:prstGeom prst="rect">
            <a:avLst/>
          </a:prstGeom>
        </p:spPr>
        <p:txBody>
          <a:bodyPr wrap="none">
            <a:spAutoFit/>
          </a:bodyPr>
          <a:lstStyle/>
          <a:p>
            <a:r>
              <a:rPr lang="en-US" b="1" spc="-5" dirty="0">
                <a:cs typeface="Tahoma"/>
              </a:rPr>
              <a:t>Results</a:t>
            </a:r>
            <a:endParaRPr lang="ar-JO" dirty="0"/>
          </a:p>
        </p:txBody>
      </p:sp>
      <p:sp>
        <p:nvSpPr>
          <p:cNvPr id="28" name="Rectangle 27"/>
          <p:cNvSpPr/>
          <p:nvPr/>
        </p:nvSpPr>
        <p:spPr>
          <a:xfrm>
            <a:off x="2245519" y="2084387"/>
            <a:ext cx="7863884" cy="461665"/>
          </a:xfrm>
          <a:prstGeom prst="rect">
            <a:avLst/>
          </a:prstGeom>
        </p:spPr>
        <p:txBody>
          <a:bodyPr wrap="none">
            <a:spAutoFit/>
          </a:bodyPr>
          <a:lstStyle/>
          <a:p>
            <a:pPr algn="l" rtl="0"/>
            <a:r>
              <a:rPr lang="en-US" sz="2400" b="1" dirty="0">
                <a:solidFill>
                  <a:srgbClr val="FF0000"/>
                </a:solidFill>
                <a:latin typeface="+mn-lt"/>
                <a:cs typeface="Calibri"/>
              </a:rPr>
              <a:t> </a:t>
            </a:r>
            <a:r>
              <a:rPr lang="en-US" sz="2400" b="1" dirty="0">
                <a:solidFill>
                  <a:srgbClr val="FF0000"/>
                </a:solidFill>
                <a:latin typeface="+mn-lt"/>
              </a:rPr>
              <a:t>SIM </a:t>
            </a:r>
            <a:r>
              <a:rPr lang="en-US" sz="2400" b="1" dirty="0">
                <a:latin typeface="+mn-lt"/>
              </a:rPr>
              <a:t>Media</a:t>
            </a:r>
            <a:r>
              <a:rPr lang="en-US" sz="2400" b="1" dirty="0">
                <a:solidFill>
                  <a:srgbClr val="FF0000"/>
                </a:solidFill>
                <a:latin typeface="+mn-lt"/>
              </a:rPr>
              <a:t> : S </a:t>
            </a:r>
            <a:r>
              <a:rPr lang="en-US" sz="2400" b="1" dirty="0">
                <a:latin typeface="+mn-lt"/>
              </a:rPr>
              <a:t>: for sulfide</a:t>
            </a:r>
            <a:r>
              <a:rPr lang="en-US" sz="2400" b="1" dirty="0">
                <a:solidFill>
                  <a:srgbClr val="FF0000"/>
                </a:solidFill>
                <a:latin typeface="+mn-lt"/>
              </a:rPr>
              <a:t>, I </a:t>
            </a:r>
            <a:r>
              <a:rPr lang="en-US" sz="2400" b="1" dirty="0">
                <a:latin typeface="+mn-lt"/>
              </a:rPr>
              <a:t>: for </a:t>
            </a:r>
            <a:r>
              <a:rPr lang="en-US" sz="2400" b="1" dirty="0" err="1">
                <a:latin typeface="+mn-lt"/>
              </a:rPr>
              <a:t>Indole</a:t>
            </a:r>
            <a:r>
              <a:rPr lang="en-US" sz="2400" b="1" dirty="0">
                <a:solidFill>
                  <a:srgbClr val="FF0000"/>
                </a:solidFill>
                <a:latin typeface="+mn-lt"/>
              </a:rPr>
              <a:t>, </a:t>
            </a:r>
            <a:r>
              <a:rPr lang="en-US" sz="2400" b="1" dirty="0">
                <a:latin typeface="+mn-lt"/>
              </a:rPr>
              <a:t>and</a:t>
            </a:r>
            <a:r>
              <a:rPr lang="en-US" sz="2400" b="1" dirty="0">
                <a:solidFill>
                  <a:srgbClr val="FF0000"/>
                </a:solidFill>
                <a:latin typeface="+mn-lt"/>
              </a:rPr>
              <a:t> M: </a:t>
            </a:r>
            <a:r>
              <a:rPr lang="en-US" sz="2400" b="1" dirty="0">
                <a:latin typeface="+mn-lt"/>
              </a:rPr>
              <a:t>for Motility</a:t>
            </a:r>
            <a:r>
              <a:rPr lang="en-US" sz="2400" b="1" dirty="0">
                <a:solidFill>
                  <a:srgbClr val="FF0000"/>
                </a:solidFill>
                <a:latin typeface="+mn-lt"/>
              </a:rPr>
              <a:t>.</a:t>
            </a:r>
            <a:endParaRPr lang="ar-JO" sz="2400" b="1" dirty="0">
              <a:solidFill>
                <a:srgbClr val="FF0000"/>
              </a:solidFill>
              <a:latin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76"/>
          <p:cNvGraphicFramePr>
            <a:graphicFrameLocks noGrp="1"/>
          </p:cNvGraphicFramePr>
          <p:nvPr/>
        </p:nvGraphicFramePr>
        <p:xfrm>
          <a:off x="797719" y="255587"/>
          <a:ext cx="11582400" cy="630936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362200">
                  <a:extLst>
                    <a:ext uri="{9D8B030D-6E8A-4147-A177-3AD203B41FA5}">
                      <a16:colId xmlns:a16="http://schemas.microsoft.com/office/drawing/2014/main" val="20004"/>
                    </a:ext>
                  </a:extLst>
                </a:gridCol>
                <a:gridCol w="2362200">
                  <a:extLst>
                    <a:ext uri="{9D8B030D-6E8A-4147-A177-3AD203B41FA5}">
                      <a16:colId xmlns:a16="http://schemas.microsoft.com/office/drawing/2014/main" val="20005"/>
                    </a:ext>
                  </a:extLst>
                </a:gridCol>
              </a:tblGrid>
              <a:tr h="454636">
                <a:tc gridSpan="6">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FFFFFF"/>
                          </a:solidFill>
                          <a:effectLst/>
                          <a:latin typeface="+mn-lt"/>
                          <a:cs typeface="+mj-cs"/>
                        </a:rPr>
                        <a:t>SIM Results</a:t>
                      </a:r>
                      <a:endParaRPr kumimoji="0" lang="en-US" sz="2800" b="1" i="0" u="none" strike="noStrike" cap="none" normalizeH="0" baseline="0" dirty="0">
                        <a:ln>
                          <a:noFill/>
                        </a:ln>
                        <a:solidFill>
                          <a:schemeClr val="tx1"/>
                        </a:solidFill>
                        <a:effectLst/>
                        <a:latin typeface="+mn-lt"/>
                        <a:cs typeface="+mj-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2060"/>
                    </a:solid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2060"/>
                    </a:solid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2060"/>
                    </a:solidFill>
                  </a:tcPr>
                </a:tc>
                <a:tc hMerge="1">
                  <a:txBody>
                    <a:bodyPr/>
                    <a:lstStyle/>
                    <a:p>
                      <a:pPr rtl="1"/>
                      <a:endParaRPr lang="ar-JO"/>
                    </a:p>
                  </a:txBody>
                  <a:tcPr/>
                </a:tc>
                <a:extLst>
                  <a:ext uri="{0D108BD9-81ED-4DB2-BD59-A6C34878D82A}">
                    <a16:rowId xmlns:a16="http://schemas.microsoft.com/office/drawing/2014/main" val="10000"/>
                  </a:ext>
                </a:extLst>
              </a:tr>
              <a:tr h="259792">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mn-lt"/>
                          <a:cs typeface="+mj-cs"/>
                        </a:rPr>
                        <a:t>Sulfide  test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mn-lt"/>
                          <a:cs typeface="+mj-cs"/>
                        </a:rPr>
                        <a:t>Motility test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FF0000"/>
                          </a:solidFill>
                          <a:effectLst/>
                          <a:latin typeface="+mn-lt"/>
                          <a:cs typeface="+mj-cs"/>
                        </a:rPr>
                        <a:t>Indole</a:t>
                      </a:r>
                      <a:r>
                        <a:rPr kumimoji="0" lang="en-US" sz="2000" b="1" i="0" u="none" strike="noStrike" cap="none" normalizeH="0" baseline="0" dirty="0">
                          <a:ln>
                            <a:noFill/>
                          </a:ln>
                          <a:solidFill>
                            <a:srgbClr val="FF0000"/>
                          </a:solidFill>
                          <a:effectLst/>
                          <a:latin typeface="+mn-lt"/>
                          <a:cs typeface="+mj-cs"/>
                        </a:rPr>
                        <a:t> Test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pPr rtl="1"/>
                      <a:endParaRPr lang="ar-JO"/>
                    </a:p>
                  </a:txBody>
                  <a:tcPr/>
                </a:tc>
                <a:extLst>
                  <a:ext uri="{0D108BD9-81ED-4DB2-BD59-A6C34878D82A}">
                    <a16:rowId xmlns:a16="http://schemas.microsoft.com/office/drawing/2014/main" val="10001"/>
                  </a:ext>
                </a:extLst>
              </a:tr>
              <a:tr h="476659">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mn-lt"/>
                          <a:cs typeface="+mj-cs"/>
                        </a:rPr>
                        <a:t>Black in the medium</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800" b="1" i="0" u="none" strike="noStrike" cap="none" normalizeH="0" baseline="0" dirty="0">
                          <a:ln>
                            <a:noFill/>
                          </a:ln>
                          <a:solidFill>
                            <a:schemeClr val="tx1"/>
                          </a:solidFill>
                          <a:effectLst/>
                          <a:latin typeface="+mn-lt"/>
                          <a:ea typeface="+mn-ea"/>
                          <a:cs typeface="+mj-cs"/>
                        </a:rPr>
                        <a:t>No black in the medium</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cap="none" normalizeH="0" baseline="0" dirty="0">
                        <a:ln>
                          <a:noFill/>
                        </a:ln>
                        <a:solidFill>
                          <a:schemeClr val="tx1"/>
                        </a:solidFill>
                        <a:effectLst/>
                        <a:latin typeface="+mn-lt"/>
                        <a:cs typeface="+mj-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mn-lt"/>
                          <a:cs typeface="+mj-cs"/>
                        </a:rPr>
                        <a:t>Bacteria grow at the inoculating line only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mn-lt"/>
                          <a:cs typeface="+mj-cs"/>
                        </a:rPr>
                        <a:t>Bacteria grow at the surface of the media, or the bacteria grow a way from inoculating line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mn-lt"/>
                          <a:cs typeface="+mj-cs"/>
                        </a:rPr>
                        <a:t>Add about one 1 ml </a:t>
                      </a:r>
                      <a:r>
                        <a:rPr kumimoji="0" lang="en-US" sz="1800" b="1" i="0" u="none" strike="noStrike" cap="none" normalizeH="0" baseline="0" dirty="0">
                          <a:ln>
                            <a:noFill/>
                          </a:ln>
                          <a:solidFill>
                            <a:srgbClr val="FF0000"/>
                          </a:solidFill>
                          <a:effectLst/>
                          <a:latin typeface="+mn-lt"/>
                          <a:cs typeface="+mj-cs"/>
                        </a:rPr>
                        <a:t>of </a:t>
                      </a:r>
                      <a:r>
                        <a:rPr kumimoji="0" lang="en-US" sz="1800" b="1" i="0" u="none" strike="noStrike" cap="none" normalizeH="0" baseline="0" dirty="0" err="1">
                          <a:ln>
                            <a:noFill/>
                          </a:ln>
                          <a:solidFill>
                            <a:srgbClr val="FF0000"/>
                          </a:solidFill>
                          <a:effectLst/>
                          <a:latin typeface="+mn-lt"/>
                          <a:cs typeface="+mj-cs"/>
                        </a:rPr>
                        <a:t>kovac's</a:t>
                      </a:r>
                      <a:r>
                        <a:rPr kumimoji="0" lang="en-US" sz="1800" b="1" i="0" u="none" strike="noStrike" cap="none" normalizeH="0" baseline="0" dirty="0">
                          <a:ln>
                            <a:noFill/>
                          </a:ln>
                          <a:solidFill>
                            <a:srgbClr val="FF0000"/>
                          </a:solidFill>
                          <a:effectLst/>
                          <a:latin typeface="+mn-lt"/>
                          <a:cs typeface="+mj-cs"/>
                        </a:rPr>
                        <a:t> reagent </a:t>
                      </a:r>
                      <a:r>
                        <a:rPr kumimoji="0" lang="en-US" sz="1800" b="1" i="0" u="none" strike="noStrike" cap="none" normalizeH="0" baseline="0" dirty="0">
                          <a:ln>
                            <a:noFill/>
                          </a:ln>
                          <a:solidFill>
                            <a:schemeClr val="tx1"/>
                          </a:solidFill>
                          <a:effectLst/>
                          <a:latin typeface="+mn-lt"/>
                          <a:cs typeface="+mj-cs"/>
                        </a:rPr>
                        <a:t>to the media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pPr rtl="1"/>
                      <a:endParaRPr lang="ar-JO"/>
                    </a:p>
                  </a:txBody>
                  <a:tcPr/>
                </a:tc>
                <a:extLst>
                  <a:ext uri="{0D108BD9-81ED-4DB2-BD59-A6C34878D82A}">
                    <a16:rowId xmlns:a16="http://schemas.microsoft.com/office/drawing/2014/main" val="10002"/>
                  </a:ext>
                </a:extLst>
              </a:tr>
              <a:tr h="1040979">
                <a:tc vMerge="1">
                  <a:txBody>
                    <a:bodyPr/>
                    <a:lstStyle/>
                    <a:p>
                      <a:pPr rtl="1"/>
                      <a:endParaRPr lang="ar-JO"/>
                    </a:p>
                  </a:txBody>
                  <a:tcPr/>
                </a:tc>
                <a:tc vMerge="1">
                  <a:txBody>
                    <a:bodyPr/>
                    <a:lstStyle/>
                    <a:p>
                      <a:pPr rtl="1"/>
                      <a:endParaRPr lang="ar-JO"/>
                    </a:p>
                  </a:txBody>
                  <a:tcPr/>
                </a:tc>
                <a:tc vMerge="1">
                  <a:txBody>
                    <a:bodyPr/>
                    <a:lstStyle/>
                    <a:p>
                      <a:pPr rtl="1"/>
                      <a:endParaRPr lang="ar-JO"/>
                    </a:p>
                  </a:txBody>
                  <a:tcPr/>
                </a:tc>
                <a:tc vMerge="1">
                  <a:txBody>
                    <a:bodyPr/>
                    <a:lstStyle/>
                    <a:p>
                      <a:pPr rtl="1"/>
                      <a:endParaRPr lang="ar-JO"/>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mn-lt"/>
                          <a:ea typeface="+mn-ea"/>
                          <a:cs typeface="+mn-cs"/>
                        </a:rPr>
                        <a:t>If a red ring developed  at the surface top within 10 minutes </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800" b="1" i="0" u="none" strike="noStrike" cap="none" normalizeH="0" baseline="0" dirty="0">
                          <a:ln>
                            <a:noFill/>
                          </a:ln>
                          <a:solidFill>
                            <a:schemeClr val="tx1"/>
                          </a:solidFill>
                          <a:effectLst/>
                          <a:latin typeface="+mn-lt"/>
                          <a:ea typeface="+mn-ea"/>
                          <a:cs typeface="+mn-cs"/>
                        </a:rPr>
                        <a:t>If there is no red ring developed  at the surface top within 10 minutes </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027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mn-lt"/>
                          <a:cs typeface="+mj-cs"/>
                        </a:rPr>
                        <a:t>Sulfide </a:t>
                      </a:r>
                      <a:r>
                        <a:rPr kumimoji="0" lang="en-US" sz="2400" b="1" i="0" u="none" strike="noStrike" cap="none" normalizeH="0" baseline="0" dirty="0">
                          <a:ln>
                            <a:noFill/>
                          </a:ln>
                          <a:solidFill>
                            <a:srgbClr val="FF0000"/>
                          </a:solidFill>
                          <a:effectLst/>
                          <a:latin typeface="+mn-lt"/>
                          <a:cs typeface="+mj-cs"/>
                        </a:rPr>
                        <a:t>+</a:t>
                      </a:r>
                      <a:endParaRPr kumimoji="0" lang="en-US" sz="2000" b="1" i="0" u="none" strike="noStrike" cap="none" normalizeH="0" baseline="0" dirty="0">
                        <a:ln>
                          <a:noFill/>
                        </a:ln>
                        <a:solidFill>
                          <a:srgbClr val="FF0000"/>
                        </a:solidFill>
                        <a:effectLst/>
                        <a:latin typeface="+mn-lt"/>
                        <a:cs typeface="+mj-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cap="none" normalizeH="0" baseline="0" dirty="0">
                          <a:ln>
                            <a:noFill/>
                          </a:ln>
                          <a:solidFill>
                            <a:srgbClr val="FF0000"/>
                          </a:solidFill>
                          <a:effectLst/>
                          <a:latin typeface="+mn-lt"/>
                          <a:cs typeface="+mj-cs"/>
                        </a:rPr>
                        <a:t>Sulfide </a:t>
                      </a:r>
                      <a:r>
                        <a:rPr kumimoji="0" lang="en-US" sz="2400" b="1" i="0" u="none" strike="noStrike" cap="none" normalizeH="0" baseline="0" dirty="0">
                          <a:ln>
                            <a:noFill/>
                          </a:ln>
                          <a:solidFill>
                            <a:srgbClr val="FF0000"/>
                          </a:solidFill>
                          <a:effectLst/>
                          <a:latin typeface="+mn-lt"/>
                          <a:cs typeface="+mj-cs"/>
                          <a:sym typeface="Symbol" pitchFamily="18" charset="2"/>
                        </a:rPr>
                        <a:t></a:t>
                      </a:r>
                      <a:endParaRPr kumimoji="0" lang="en-US" sz="2000" b="1" i="0" u="none" strike="noStrike" cap="none" normalizeH="0" baseline="0" dirty="0">
                        <a:ln>
                          <a:noFill/>
                        </a:ln>
                        <a:solidFill>
                          <a:srgbClr val="FF0000"/>
                        </a:solidFill>
                        <a:effectLst/>
                        <a:latin typeface="+mn-lt"/>
                        <a:cs typeface="+mj-cs"/>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mn-lt"/>
                          <a:cs typeface="+mj-cs"/>
                          <a:sym typeface="Symbol" pitchFamily="18" charset="2"/>
                        </a:rPr>
                        <a:t>Non motile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mn-lt"/>
                          <a:cs typeface="+mj-cs"/>
                          <a:sym typeface="Symbol" pitchFamily="18" charset="2"/>
                        </a:rPr>
                        <a:t>Motile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FF0000"/>
                          </a:solidFill>
                          <a:effectLst/>
                          <a:latin typeface="+mn-lt"/>
                          <a:cs typeface="+mj-cs"/>
                        </a:rPr>
                        <a:t>Indole</a:t>
                      </a:r>
                      <a:r>
                        <a:rPr kumimoji="0" lang="en-US" sz="2000" b="1" i="0" u="none" strike="noStrike" cap="none" normalizeH="0" baseline="0" dirty="0">
                          <a:ln>
                            <a:noFill/>
                          </a:ln>
                          <a:solidFill>
                            <a:srgbClr val="FF0000"/>
                          </a:solidFill>
                          <a:effectLst/>
                          <a:latin typeface="+mn-lt"/>
                          <a:cs typeface="+mj-cs"/>
                        </a:rPr>
                        <a:t> +</a:t>
                      </a:r>
                      <a:endParaRPr kumimoji="0" lang="en-US" sz="2000" b="1" i="0" u="none" strike="noStrike" cap="none" normalizeH="0" baseline="0" dirty="0">
                        <a:ln>
                          <a:noFill/>
                        </a:ln>
                        <a:solidFill>
                          <a:srgbClr val="FF0000"/>
                        </a:solidFill>
                        <a:effectLst/>
                        <a:latin typeface="+mn-lt"/>
                        <a:cs typeface="+mj-cs"/>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FF0000"/>
                          </a:solidFill>
                          <a:effectLst/>
                          <a:latin typeface="+mn-lt"/>
                          <a:cs typeface="+mj-cs"/>
                        </a:rPr>
                        <a:t>Indole</a:t>
                      </a:r>
                      <a:r>
                        <a:rPr kumimoji="0" lang="en-US" sz="2000" b="1" i="0" u="none" strike="noStrike" cap="none" normalizeH="0" baseline="0" dirty="0">
                          <a:ln>
                            <a:noFill/>
                          </a:ln>
                          <a:solidFill>
                            <a:srgbClr val="FF0000"/>
                          </a:solidFill>
                          <a:effectLst/>
                          <a:latin typeface="+mn-lt"/>
                          <a:cs typeface="+mj-cs"/>
                        </a:rPr>
                        <a:t>  </a:t>
                      </a:r>
                      <a:r>
                        <a:rPr kumimoji="0" lang="ar-JO" sz="2000" b="1" i="0" u="none" strike="noStrike" cap="none" normalizeH="0" baseline="0" dirty="0">
                          <a:ln>
                            <a:noFill/>
                          </a:ln>
                          <a:solidFill>
                            <a:srgbClr val="FF0000"/>
                          </a:solidFill>
                          <a:effectLst/>
                          <a:latin typeface="+mn-lt"/>
                          <a:cs typeface="+mj-cs"/>
                        </a:rPr>
                        <a:t> -</a:t>
                      </a:r>
                      <a:endParaRPr kumimoji="0" lang="en-US" sz="2000" b="1" i="0" u="none" strike="noStrike" cap="none" normalizeH="0" baseline="0" dirty="0">
                        <a:ln>
                          <a:noFill/>
                        </a:ln>
                        <a:solidFill>
                          <a:srgbClr val="FF0000"/>
                        </a:solidFill>
                        <a:effectLst/>
                        <a:latin typeface="+mn-lt"/>
                        <a:cs typeface="+mj-cs"/>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01338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cap="none" normalizeH="0" baseline="0" dirty="0">
                        <a:ln>
                          <a:noFill/>
                        </a:ln>
                        <a:solidFill>
                          <a:schemeClr val="tx1"/>
                        </a:solidFill>
                        <a:effectLst/>
                        <a:latin typeface="+mn-lt"/>
                        <a:cs typeface="+mj-cs"/>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mn-lt"/>
                        <a:cs typeface="+mj-cs"/>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rtl="1"/>
                      <a:endParaRPr lang="ar-JO" dirty="0">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pic>
        <p:nvPicPr>
          <p:cNvPr id="6" name="Picture 5" descr="SENTHIL PRABHU SIVASAMY: Hanging Drop Method (Motility Determination)"/>
          <p:cNvPicPr/>
          <p:nvPr/>
        </p:nvPicPr>
        <p:blipFill>
          <a:blip r:embed="rId2"/>
          <a:srcRect l="47411"/>
          <a:stretch>
            <a:fillRect/>
          </a:stretch>
        </p:blipFill>
        <p:spPr bwMode="auto">
          <a:xfrm>
            <a:off x="3921919" y="3760787"/>
            <a:ext cx="1066800" cy="2438400"/>
          </a:xfrm>
          <a:prstGeom prst="rect">
            <a:avLst/>
          </a:prstGeom>
          <a:noFill/>
          <a:ln w="9525">
            <a:noFill/>
            <a:miter lim="800000"/>
            <a:headEnd/>
            <a:tailEnd/>
          </a:ln>
        </p:spPr>
      </p:pic>
      <p:pic>
        <p:nvPicPr>
          <p:cNvPr id="7" name="Picture 6" descr="Gram-Negative Rods. - ppt video online download"/>
          <p:cNvPicPr/>
          <p:nvPr/>
        </p:nvPicPr>
        <p:blipFill>
          <a:blip r:embed="rId3"/>
          <a:srcRect l="22373" t="53017" r="66254" b="12609"/>
          <a:stretch>
            <a:fillRect/>
          </a:stretch>
        </p:blipFill>
        <p:spPr bwMode="auto">
          <a:xfrm>
            <a:off x="5750719" y="3836987"/>
            <a:ext cx="1219200" cy="2438400"/>
          </a:xfrm>
          <a:prstGeom prst="rect">
            <a:avLst/>
          </a:prstGeom>
          <a:noFill/>
          <a:ln w="9525">
            <a:noFill/>
            <a:miter lim="800000"/>
            <a:headEnd/>
            <a:tailEnd/>
          </a:ln>
        </p:spPr>
      </p:pic>
      <p:pic>
        <p:nvPicPr>
          <p:cNvPr id="11" name="Picture 10" descr="Gram-Negative Rods. - ppt video online download"/>
          <p:cNvPicPr/>
          <p:nvPr/>
        </p:nvPicPr>
        <p:blipFill>
          <a:blip r:embed="rId3"/>
          <a:srcRect l="22373" t="53017" r="66254" b="12609"/>
          <a:stretch>
            <a:fillRect/>
          </a:stretch>
        </p:blipFill>
        <p:spPr bwMode="auto">
          <a:xfrm>
            <a:off x="2397919" y="3836987"/>
            <a:ext cx="990600" cy="2362200"/>
          </a:xfrm>
          <a:prstGeom prst="rect">
            <a:avLst/>
          </a:prstGeom>
          <a:noFill/>
          <a:ln w="9525">
            <a:noFill/>
            <a:miter lim="800000"/>
            <a:headEnd/>
            <a:tailEnd/>
          </a:ln>
        </p:spPr>
      </p:pic>
      <p:pic>
        <p:nvPicPr>
          <p:cNvPr id="2050" name="Picture 2"/>
          <p:cNvPicPr>
            <a:picLocks noChangeAspect="1" noChangeArrowheads="1"/>
          </p:cNvPicPr>
          <p:nvPr/>
        </p:nvPicPr>
        <p:blipFill>
          <a:blip r:embed="rId4"/>
          <a:srcRect/>
          <a:stretch>
            <a:fillRect/>
          </a:stretch>
        </p:blipFill>
        <p:spPr bwMode="auto">
          <a:xfrm>
            <a:off x="8112919" y="3836987"/>
            <a:ext cx="1312631" cy="2409825"/>
          </a:xfrm>
          <a:prstGeom prst="rect">
            <a:avLst/>
          </a:prstGeom>
          <a:noFill/>
          <a:ln w="9525">
            <a:noFill/>
            <a:miter lim="800000"/>
            <a:headEnd/>
            <a:tailEnd/>
          </a:ln>
          <a:effectLst/>
        </p:spPr>
      </p:pic>
      <p:pic>
        <p:nvPicPr>
          <p:cNvPr id="2051" name="Picture 3"/>
          <p:cNvPicPr>
            <a:picLocks noChangeAspect="1" noChangeArrowheads="1"/>
          </p:cNvPicPr>
          <p:nvPr/>
        </p:nvPicPr>
        <p:blipFill>
          <a:blip r:embed="rId5"/>
          <a:srcRect/>
          <a:stretch>
            <a:fillRect/>
          </a:stretch>
        </p:blipFill>
        <p:spPr bwMode="auto">
          <a:xfrm>
            <a:off x="10856119" y="3760787"/>
            <a:ext cx="990600" cy="2504688"/>
          </a:xfrm>
          <a:prstGeom prst="rect">
            <a:avLst/>
          </a:prstGeom>
          <a:noFill/>
          <a:ln w="9525">
            <a:noFill/>
            <a:miter lim="800000"/>
            <a:headEnd/>
            <a:tailEnd/>
          </a:ln>
          <a:effectLst/>
        </p:spPr>
      </p:pic>
      <p:pic>
        <p:nvPicPr>
          <p:cNvPr id="2052" name="Picture 4"/>
          <p:cNvPicPr>
            <a:picLocks noChangeAspect="1" noChangeArrowheads="1"/>
          </p:cNvPicPr>
          <p:nvPr/>
        </p:nvPicPr>
        <p:blipFill>
          <a:blip r:embed="rId6"/>
          <a:srcRect/>
          <a:stretch>
            <a:fillRect/>
          </a:stretch>
        </p:blipFill>
        <p:spPr bwMode="auto">
          <a:xfrm>
            <a:off x="1102519" y="3836987"/>
            <a:ext cx="914400" cy="2465614"/>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5919" y="0"/>
            <a:ext cx="9052900" cy="987797"/>
          </a:xfrm>
        </p:spPr>
        <p:txBody>
          <a:bodyPr tIns="89244" rtlCol="0"/>
          <a:lstStyle/>
          <a:p>
            <a:pPr marL="535016" eaLnBrk="1" fontAlgn="auto" hangingPunct="1">
              <a:lnSpc>
                <a:spcPts val="3484"/>
              </a:lnSpc>
              <a:spcBef>
                <a:spcPts val="105"/>
              </a:spcBef>
              <a:spcAft>
                <a:spcPts val="0"/>
              </a:spcAft>
              <a:defRPr/>
            </a:pPr>
            <a:r>
              <a:rPr lang="ar-JO" sz="2800" b="1" spc="-21" dirty="0">
                <a:latin typeface="Calibri"/>
                <a:cs typeface="Calibri"/>
              </a:rPr>
              <a:t>I</a:t>
            </a:r>
            <a:r>
              <a:rPr lang="ar-JO" sz="2800" b="1" spc="-21" dirty="0">
                <a:solidFill>
                  <a:srgbClr val="000000"/>
                </a:solidFill>
                <a:latin typeface="Calibri"/>
                <a:cs typeface="Calibri"/>
              </a:rPr>
              <a:t>MV</a:t>
            </a:r>
            <a:r>
              <a:rPr lang="ar-JO" sz="2800" b="1" spc="-21" dirty="0">
                <a:latin typeface="Calibri"/>
                <a:cs typeface="Calibri"/>
              </a:rPr>
              <a:t>iC</a:t>
            </a:r>
            <a:r>
              <a:rPr lang="ar-JO" sz="2800" b="1" spc="-84" dirty="0">
                <a:latin typeface="Calibri"/>
                <a:cs typeface="Calibri"/>
              </a:rPr>
              <a:t> </a:t>
            </a:r>
            <a:r>
              <a:rPr lang="ar-JO" sz="2800" b="1" spc="-32" dirty="0">
                <a:latin typeface="Calibri"/>
                <a:cs typeface="Calibri"/>
              </a:rPr>
              <a:t>test</a:t>
            </a:r>
            <a:br>
              <a:rPr lang="ar-JO" sz="2800" b="1" spc="-32" dirty="0">
                <a:latin typeface="Calibri"/>
                <a:cs typeface="Calibri"/>
              </a:rPr>
            </a:br>
            <a:r>
              <a:rPr lang="ar-JO" sz="2800" b="1" spc="-37" dirty="0">
                <a:solidFill>
                  <a:srgbClr val="000000"/>
                </a:solidFill>
                <a:latin typeface="Calibri"/>
                <a:cs typeface="Calibri"/>
              </a:rPr>
              <a:t>M</a:t>
            </a:r>
            <a:r>
              <a:rPr lang="ar-JO" sz="2800" b="1" spc="-37" dirty="0">
                <a:latin typeface="Calibri"/>
                <a:cs typeface="Calibri"/>
              </a:rPr>
              <a:t>ethyl </a:t>
            </a:r>
            <a:r>
              <a:rPr lang="ar-JO" sz="2800" b="1" spc="-47" dirty="0">
                <a:solidFill>
                  <a:schemeClr val="tx1"/>
                </a:solidFill>
                <a:latin typeface="Calibri"/>
                <a:cs typeface="Calibri"/>
              </a:rPr>
              <a:t>R</a:t>
            </a:r>
            <a:r>
              <a:rPr lang="ar-JO" sz="2800" b="1" spc="-47" dirty="0">
                <a:latin typeface="Calibri"/>
                <a:cs typeface="Calibri"/>
              </a:rPr>
              <a:t>ed-</a:t>
            </a:r>
            <a:r>
              <a:rPr lang="ar-JO" sz="2800" b="1" spc="-47" dirty="0">
                <a:solidFill>
                  <a:srgbClr val="000000"/>
                </a:solidFill>
                <a:latin typeface="Calibri"/>
                <a:cs typeface="Calibri"/>
              </a:rPr>
              <a:t>V</a:t>
            </a:r>
            <a:r>
              <a:rPr lang="ar-JO" sz="2800" b="1" spc="-47" dirty="0">
                <a:latin typeface="Calibri"/>
                <a:cs typeface="Calibri"/>
              </a:rPr>
              <a:t>oges </a:t>
            </a:r>
            <a:r>
              <a:rPr lang="ar-JO" sz="2800" b="1" spc="-42" dirty="0">
                <a:solidFill>
                  <a:schemeClr val="tx1"/>
                </a:solidFill>
                <a:latin typeface="Calibri"/>
                <a:cs typeface="Calibri"/>
              </a:rPr>
              <a:t>P</a:t>
            </a:r>
            <a:r>
              <a:rPr lang="ar-JO" sz="2800" b="1" spc="-42" dirty="0">
                <a:latin typeface="Calibri"/>
                <a:cs typeface="Calibri"/>
              </a:rPr>
              <a:t>roskauer </a:t>
            </a:r>
            <a:r>
              <a:rPr lang="en-US" sz="2800" b="1" spc="-21" dirty="0">
                <a:latin typeface="Calibri"/>
              </a:rPr>
              <a:t>(</a:t>
            </a:r>
            <a:r>
              <a:rPr lang="ar-JO" sz="2800" b="1" spc="-21" dirty="0">
                <a:solidFill>
                  <a:schemeClr val="tx1"/>
                </a:solidFill>
                <a:latin typeface="Calibri"/>
                <a:cs typeface="Calibri"/>
              </a:rPr>
              <a:t>MR-VP</a:t>
            </a:r>
            <a:r>
              <a:rPr lang="ar-JO" sz="2800" b="1" spc="-21" dirty="0">
                <a:latin typeface="Calibri"/>
                <a:cs typeface="Calibri"/>
              </a:rPr>
              <a:t>)</a:t>
            </a:r>
            <a:r>
              <a:rPr lang="ar-JO" sz="2800" b="1" spc="-142" dirty="0">
                <a:latin typeface="Calibri"/>
                <a:cs typeface="Calibri"/>
              </a:rPr>
              <a:t> </a:t>
            </a:r>
            <a:r>
              <a:rPr lang="ar-JO" sz="2800" b="1" spc="-79" dirty="0">
                <a:latin typeface="Calibri"/>
                <a:cs typeface="Calibri"/>
              </a:rPr>
              <a:t>Tests</a:t>
            </a:r>
            <a:endParaRPr sz="2800" b="1" spc="-79" dirty="0">
              <a:latin typeface="+mn-lt"/>
            </a:endParaRPr>
          </a:p>
        </p:txBody>
      </p:sp>
      <p:sp>
        <p:nvSpPr>
          <p:cNvPr id="9" name="object 9"/>
          <p:cNvSpPr txBox="1"/>
          <p:nvPr/>
        </p:nvSpPr>
        <p:spPr>
          <a:xfrm>
            <a:off x="1728576" y="4387184"/>
            <a:ext cx="2328428" cy="334123"/>
          </a:xfrm>
          <a:prstGeom prst="rect">
            <a:avLst/>
          </a:prstGeom>
        </p:spPr>
        <p:txBody>
          <a:bodyPr lIns="0" tIns="13392" rIns="0" bIns="0">
            <a:spAutoFit/>
          </a:bodyPr>
          <a:lstStyle/>
          <a:p>
            <a:pPr algn="ctr" rtl="0" fontAlgn="auto">
              <a:lnSpc>
                <a:spcPts val="2510"/>
              </a:lnSpc>
              <a:spcBef>
                <a:spcPts val="105"/>
              </a:spcBef>
              <a:spcAft>
                <a:spcPts val="0"/>
              </a:spcAft>
              <a:defRPr/>
            </a:pPr>
            <a:r>
              <a:rPr lang="en-US" sz="2000" b="1" dirty="0">
                <a:latin typeface="+mn-lt"/>
              </a:rPr>
              <a:t>Stable  End  Product</a:t>
            </a:r>
            <a:endParaRPr lang="en-US" sz="2000" b="1" dirty="0">
              <a:latin typeface="+mn-lt"/>
              <a:cs typeface="Tahoma"/>
            </a:endParaRPr>
          </a:p>
        </p:txBody>
      </p:sp>
      <p:sp>
        <p:nvSpPr>
          <p:cNvPr id="6151" name="object 10"/>
          <p:cNvSpPr>
            <a:spLocks noChangeArrowheads="1"/>
          </p:cNvSpPr>
          <p:nvPr/>
        </p:nvSpPr>
        <p:spPr bwMode="auto">
          <a:xfrm>
            <a:off x="2657169" y="4782787"/>
            <a:ext cx="247084" cy="1087996"/>
          </a:xfrm>
          <a:custGeom>
            <a:avLst/>
            <a:gdLst>
              <a:gd name="T0" fmla="*/ 0 w 228600"/>
              <a:gd name="T1" fmla="*/ 0 h 1080770"/>
              <a:gd name="T2" fmla="*/ 228600 w 228600"/>
              <a:gd name="T3" fmla="*/ 1080770 h 1080770"/>
            </a:gdLst>
            <a:ahLst/>
            <a:cxnLst/>
            <a:rect l="T0" t="T1" r="T2" b="T3"/>
            <a:pathLst>
              <a:path w="228600" h="1080770">
                <a:moveTo>
                  <a:pt x="76200" y="851916"/>
                </a:moveTo>
                <a:lnTo>
                  <a:pt x="0" y="851916"/>
                </a:lnTo>
                <a:lnTo>
                  <a:pt x="114300" y="1080516"/>
                </a:lnTo>
                <a:lnTo>
                  <a:pt x="209550" y="890016"/>
                </a:lnTo>
                <a:lnTo>
                  <a:pt x="76200" y="890016"/>
                </a:lnTo>
                <a:lnTo>
                  <a:pt x="76200" y="851916"/>
                </a:lnTo>
                <a:close/>
              </a:path>
              <a:path w="228600" h="1080770">
                <a:moveTo>
                  <a:pt x="152400" y="0"/>
                </a:moveTo>
                <a:lnTo>
                  <a:pt x="76200" y="0"/>
                </a:lnTo>
                <a:lnTo>
                  <a:pt x="76200" y="890016"/>
                </a:lnTo>
                <a:lnTo>
                  <a:pt x="152400" y="890016"/>
                </a:lnTo>
                <a:lnTo>
                  <a:pt x="152400" y="0"/>
                </a:lnTo>
                <a:close/>
              </a:path>
              <a:path w="228600" h="1080770">
                <a:moveTo>
                  <a:pt x="228600" y="851916"/>
                </a:moveTo>
                <a:lnTo>
                  <a:pt x="152400" y="851916"/>
                </a:lnTo>
                <a:lnTo>
                  <a:pt x="152400" y="890016"/>
                </a:lnTo>
                <a:lnTo>
                  <a:pt x="209550" y="890016"/>
                </a:lnTo>
                <a:lnTo>
                  <a:pt x="228600" y="851916"/>
                </a:lnTo>
                <a:close/>
              </a:path>
            </a:pathLst>
          </a:custGeom>
          <a:solidFill>
            <a:srgbClr val="FF3300"/>
          </a:solidFill>
          <a:ln w="9525">
            <a:noFill/>
            <a:miter lim="800000"/>
            <a:headEnd/>
            <a:tailEnd/>
          </a:ln>
        </p:spPr>
        <p:txBody>
          <a:bodyPr lIns="0" tIns="0" rIns="0" bIns="0"/>
          <a:lstStyle/>
          <a:p>
            <a:pPr algn="l" rtl="0"/>
            <a:endParaRPr lang="ar-JO" sz="2000" b="1">
              <a:latin typeface="+mn-lt"/>
            </a:endParaRPr>
          </a:p>
        </p:txBody>
      </p:sp>
      <p:sp>
        <p:nvSpPr>
          <p:cNvPr id="6152" name="object 11"/>
          <p:cNvSpPr txBox="1">
            <a:spLocks noChangeArrowheads="1"/>
          </p:cNvSpPr>
          <p:nvPr/>
        </p:nvSpPr>
        <p:spPr bwMode="auto">
          <a:xfrm>
            <a:off x="3038169" y="5011387"/>
            <a:ext cx="1338374" cy="629076"/>
          </a:xfrm>
          <a:prstGeom prst="rect">
            <a:avLst/>
          </a:prstGeom>
          <a:noFill/>
          <a:ln w="9525">
            <a:noFill/>
            <a:miter lim="800000"/>
            <a:headEnd/>
            <a:tailEnd/>
          </a:ln>
        </p:spPr>
        <p:txBody>
          <a:bodyPr lIns="0" tIns="13392" rIns="0" bIns="0">
            <a:spAutoFit/>
          </a:bodyPr>
          <a:lstStyle/>
          <a:p>
            <a:pPr marL="9144" indent="-231015" algn="l" rtl="0" fontAlgn="auto">
              <a:spcBef>
                <a:spcPts val="105"/>
              </a:spcBef>
              <a:spcAft>
                <a:spcPts val="0"/>
              </a:spcAft>
              <a:defRPr/>
            </a:pPr>
            <a:r>
              <a:rPr lang="ar-JO" sz="2000" b="1" spc="-16" dirty="0">
                <a:solidFill>
                  <a:srgbClr val="FF0000"/>
                </a:solidFill>
                <a:latin typeface="Calibri"/>
                <a:cs typeface="Calibri"/>
              </a:rPr>
              <a:t>Methyl Red  indicator</a:t>
            </a:r>
          </a:p>
        </p:txBody>
      </p:sp>
      <p:sp>
        <p:nvSpPr>
          <p:cNvPr id="12" name="object 12"/>
          <p:cNvSpPr txBox="1"/>
          <p:nvPr/>
        </p:nvSpPr>
        <p:spPr>
          <a:xfrm>
            <a:off x="2123769" y="6078187"/>
            <a:ext cx="1314352" cy="641900"/>
          </a:xfrm>
          <a:prstGeom prst="rect">
            <a:avLst/>
          </a:prstGeom>
        </p:spPr>
        <p:txBody>
          <a:bodyPr lIns="0" tIns="13392" rIns="0" bIns="0">
            <a:spAutoFit/>
          </a:bodyPr>
          <a:lstStyle/>
          <a:p>
            <a:pPr marL="9144" algn="l" rtl="0" fontAlgn="auto">
              <a:spcBef>
                <a:spcPts val="105"/>
              </a:spcBef>
              <a:spcAft>
                <a:spcPts val="0"/>
              </a:spcAft>
            </a:pPr>
            <a:r>
              <a:rPr lang="ar-JO" sz="2000" b="1" spc="-16" dirty="0">
                <a:latin typeface="Calibri"/>
                <a:cs typeface="Calibri"/>
              </a:rPr>
              <a:t>Red</a:t>
            </a:r>
            <a:r>
              <a:rPr lang="ar-JO" sz="2000" b="1" spc="-79" dirty="0">
                <a:latin typeface="Calibri"/>
                <a:cs typeface="Calibri"/>
              </a:rPr>
              <a:t> </a:t>
            </a:r>
            <a:r>
              <a:rPr lang="ar-JO" sz="2000" b="1" spc="-5" dirty="0">
                <a:latin typeface="Calibri"/>
                <a:cs typeface="Calibri"/>
              </a:rPr>
              <a:t>color</a:t>
            </a:r>
            <a:endParaRPr lang="ar-JO" sz="2000" b="1" dirty="0">
              <a:latin typeface="Calibri"/>
              <a:cs typeface="Calibri"/>
            </a:endParaRPr>
          </a:p>
          <a:p>
            <a:pPr marL="13392" algn="l" rtl="0" fontAlgn="auto">
              <a:spcBef>
                <a:spcPts val="105"/>
              </a:spcBef>
              <a:spcAft>
                <a:spcPts val="0"/>
              </a:spcAft>
              <a:defRPr/>
            </a:pPr>
            <a:endParaRPr sz="2000" b="1">
              <a:latin typeface="+mn-lt"/>
              <a:cs typeface="Calibri"/>
            </a:endParaRPr>
          </a:p>
        </p:txBody>
      </p:sp>
      <p:sp>
        <p:nvSpPr>
          <p:cNvPr id="13" name="object 13"/>
          <p:cNvSpPr txBox="1"/>
          <p:nvPr/>
        </p:nvSpPr>
        <p:spPr>
          <a:xfrm>
            <a:off x="4943169" y="1201387"/>
            <a:ext cx="2286000" cy="320624"/>
          </a:xfrm>
          <a:prstGeom prst="rect">
            <a:avLst/>
          </a:prstGeom>
        </p:spPr>
        <p:txBody>
          <a:bodyPr wrap="square" lIns="0" tIns="12723" rIns="0" bIns="0">
            <a:spAutoFit/>
          </a:bodyPr>
          <a:lstStyle/>
          <a:p>
            <a:pPr marL="13392" algn="l" rtl="0" fontAlgn="auto">
              <a:spcBef>
                <a:spcPts val="100"/>
              </a:spcBef>
              <a:spcAft>
                <a:spcPts val="0"/>
              </a:spcAft>
              <a:defRPr/>
            </a:pPr>
            <a:r>
              <a:rPr lang="ar-JO" sz="2000" b="1" spc="-16" dirty="0">
                <a:solidFill>
                  <a:srgbClr val="FF0000"/>
                </a:solidFill>
                <a:latin typeface="Calibri"/>
                <a:cs typeface="Calibri"/>
              </a:rPr>
              <a:t>Principle:</a:t>
            </a:r>
            <a:r>
              <a:rPr lang="en-US" sz="2000" b="1" spc="-16" dirty="0">
                <a:solidFill>
                  <a:srgbClr val="FF0000"/>
                </a:solidFill>
                <a:latin typeface="Calibri"/>
                <a:cs typeface="Calibri"/>
              </a:rPr>
              <a:t>   </a:t>
            </a:r>
            <a:r>
              <a:rPr lang="ar-JO" sz="2000" b="1" spc="-11" dirty="0">
                <a:latin typeface="Calibri"/>
                <a:cs typeface="Calibri"/>
              </a:rPr>
              <a:t>Glucose</a:t>
            </a:r>
            <a:endParaRPr lang="ar-JO" sz="2000" b="1" spc="-16" dirty="0">
              <a:solidFill>
                <a:srgbClr val="FF0000"/>
              </a:solidFill>
              <a:latin typeface="Calibri"/>
              <a:cs typeface="Calibri"/>
            </a:endParaRPr>
          </a:p>
        </p:txBody>
      </p:sp>
      <p:sp>
        <p:nvSpPr>
          <p:cNvPr id="6169" name="object 15"/>
          <p:cNvSpPr>
            <a:spLocks noChangeArrowheads="1"/>
          </p:cNvSpPr>
          <p:nvPr/>
        </p:nvSpPr>
        <p:spPr bwMode="auto">
          <a:xfrm>
            <a:off x="2657169" y="3258788"/>
            <a:ext cx="228600" cy="914400"/>
          </a:xfrm>
          <a:custGeom>
            <a:avLst/>
            <a:gdLst>
              <a:gd name="T0" fmla="*/ 0 w 228600"/>
              <a:gd name="T1" fmla="*/ 0 h 864235"/>
              <a:gd name="T2" fmla="*/ 228600 w 228600"/>
              <a:gd name="T3" fmla="*/ 864235 h 864235"/>
            </a:gdLst>
            <a:ahLst/>
            <a:cxnLst/>
            <a:rect l="T0" t="T1" r="T2" b="T3"/>
            <a:pathLst>
              <a:path w="228600" h="864235">
                <a:moveTo>
                  <a:pt x="76200" y="635507"/>
                </a:moveTo>
                <a:lnTo>
                  <a:pt x="0" y="635507"/>
                </a:lnTo>
                <a:lnTo>
                  <a:pt x="114300" y="864107"/>
                </a:lnTo>
                <a:lnTo>
                  <a:pt x="209550" y="673607"/>
                </a:lnTo>
                <a:lnTo>
                  <a:pt x="76200" y="673607"/>
                </a:lnTo>
                <a:lnTo>
                  <a:pt x="76200" y="635507"/>
                </a:lnTo>
                <a:close/>
              </a:path>
              <a:path w="228600" h="864235">
                <a:moveTo>
                  <a:pt x="152400" y="0"/>
                </a:moveTo>
                <a:lnTo>
                  <a:pt x="76200" y="0"/>
                </a:lnTo>
                <a:lnTo>
                  <a:pt x="76200" y="673607"/>
                </a:lnTo>
                <a:lnTo>
                  <a:pt x="152400" y="673607"/>
                </a:lnTo>
                <a:lnTo>
                  <a:pt x="152400" y="0"/>
                </a:lnTo>
                <a:close/>
              </a:path>
              <a:path w="228600" h="864235">
                <a:moveTo>
                  <a:pt x="228600" y="635507"/>
                </a:moveTo>
                <a:lnTo>
                  <a:pt x="152400" y="635507"/>
                </a:lnTo>
                <a:lnTo>
                  <a:pt x="152400" y="673607"/>
                </a:lnTo>
                <a:lnTo>
                  <a:pt x="209550" y="673607"/>
                </a:lnTo>
                <a:lnTo>
                  <a:pt x="228600" y="635507"/>
                </a:lnTo>
                <a:close/>
              </a:path>
            </a:pathLst>
          </a:custGeom>
          <a:solidFill>
            <a:srgbClr val="FF3300"/>
          </a:solidFill>
          <a:ln w="9525">
            <a:noFill/>
            <a:miter lim="800000"/>
            <a:headEnd/>
            <a:tailEnd/>
          </a:ln>
        </p:spPr>
        <p:txBody>
          <a:bodyPr lIns="0" tIns="0" rIns="0" bIns="0"/>
          <a:lstStyle/>
          <a:p>
            <a:pPr algn="l" rtl="0"/>
            <a:endParaRPr lang="ar-JO" sz="2000" b="1">
              <a:latin typeface="+mn-lt"/>
            </a:endParaRPr>
          </a:p>
        </p:txBody>
      </p:sp>
      <p:sp>
        <p:nvSpPr>
          <p:cNvPr id="18" name="object 18"/>
          <p:cNvSpPr txBox="1"/>
          <p:nvPr/>
        </p:nvSpPr>
        <p:spPr>
          <a:xfrm>
            <a:off x="4482539" y="6060778"/>
            <a:ext cx="1386418" cy="321299"/>
          </a:xfrm>
          <a:prstGeom prst="rect">
            <a:avLst/>
          </a:prstGeom>
        </p:spPr>
        <p:txBody>
          <a:bodyPr lIns="0" tIns="13392" rIns="0" bIns="0">
            <a:spAutoFit/>
          </a:bodyPr>
          <a:lstStyle/>
          <a:p>
            <a:pPr marL="9144" indent="-231015" algn="ctr" rtl="0" fontAlgn="auto">
              <a:spcBef>
                <a:spcPts val="105"/>
              </a:spcBef>
              <a:spcAft>
                <a:spcPts val="0"/>
              </a:spcAft>
              <a:defRPr/>
            </a:pPr>
            <a:r>
              <a:rPr lang="ar-JO" sz="2000" b="1" spc="-16" dirty="0">
                <a:latin typeface="Calibri"/>
                <a:cs typeface="Calibri"/>
              </a:rPr>
              <a:t>MR positive</a:t>
            </a:r>
          </a:p>
        </p:txBody>
      </p:sp>
      <p:sp>
        <p:nvSpPr>
          <p:cNvPr id="20" name="object 20"/>
          <p:cNvSpPr txBox="1"/>
          <p:nvPr/>
        </p:nvSpPr>
        <p:spPr>
          <a:xfrm>
            <a:off x="9165132" y="2870389"/>
            <a:ext cx="2178837" cy="321299"/>
          </a:xfrm>
          <a:prstGeom prst="rect">
            <a:avLst/>
          </a:prstGeom>
        </p:spPr>
        <p:txBody>
          <a:bodyPr wrap="square" lIns="0" tIns="13392" rIns="0" bIns="0">
            <a:spAutoFit/>
          </a:bodyPr>
          <a:lstStyle/>
          <a:p>
            <a:pPr marL="13392" algn="l" rtl="0" fontAlgn="auto">
              <a:spcBef>
                <a:spcPts val="105"/>
              </a:spcBef>
              <a:spcAft>
                <a:spcPts val="0"/>
              </a:spcAft>
              <a:defRPr/>
            </a:pPr>
            <a:r>
              <a:rPr lang="en-US" sz="2000" b="1" dirty="0">
                <a:latin typeface="+mn-lt"/>
              </a:rPr>
              <a:t>None Stable Acid</a:t>
            </a:r>
            <a:endParaRPr sz="2000" b="1">
              <a:latin typeface="+mn-lt"/>
              <a:cs typeface="Calibri"/>
            </a:endParaRPr>
          </a:p>
        </p:txBody>
      </p:sp>
      <p:sp>
        <p:nvSpPr>
          <p:cNvPr id="6159" name="object 21"/>
          <p:cNvSpPr>
            <a:spLocks noChangeArrowheads="1"/>
          </p:cNvSpPr>
          <p:nvPr/>
        </p:nvSpPr>
        <p:spPr bwMode="auto">
          <a:xfrm>
            <a:off x="9667569" y="3258787"/>
            <a:ext cx="228600" cy="914400"/>
          </a:xfrm>
          <a:custGeom>
            <a:avLst/>
            <a:gdLst>
              <a:gd name="T0" fmla="*/ 0 w 228600"/>
              <a:gd name="T1" fmla="*/ 0 h 719454"/>
              <a:gd name="T2" fmla="*/ 228600 w 228600"/>
              <a:gd name="T3" fmla="*/ 719454 h 719454"/>
            </a:gdLst>
            <a:ahLst/>
            <a:cxnLst/>
            <a:rect l="T0" t="T1" r="T2" b="T3"/>
            <a:pathLst>
              <a:path w="228600" h="719454">
                <a:moveTo>
                  <a:pt x="76200" y="490728"/>
                </a:moveTo>
                <a:lnTo>
                  <a:pt x="0" y="490728"/>
                </a:lnTo>
                <a:lnTo>
                  <a:pt x="114300" y="719328"/>
                </a:lnTo>
                <a:lnTo>
                  <a:pt x="209550" y="528828"/>
                </a:lnTo>
                <a:lnTo>
                  <a:pt x="76200" y="528828"/>
                </a:lnTo>
                <a:lnTo>
                  <a:pt x="76200" y="490728"/>
                </a:lnTo>
                <a:close/>
              </a:path>
              <a:path w="228600" h="719454">
                <a:moveTo>
                  <a:pt x="152400" y="0"/>
                </a:moveTo>
                <a:lnTo>
                  <a:pt x="76200" y="0"/>
                </a:lnTo>
                <a:lnTo>
                  <a:pt x="76200" y="528828"/>
                </a:lnTo>
                <a:lnTo>
                  <a:pt x="152400" y="528828"/>
                </a:lnTo>
                <a:lnTo>
                  <a:pt x="152400" y="0"/>
                </a:lnTo>
                <a:close/>
              </a:path>
              <a:path w="228600" h="719454">
                <a:moveTo>
                  <a:pt x="228600" y="490728"/>
                </a:moveTo>
                <a:lnTo>
                  <a:pt x="152400" y="490728"/>
                </a:lnTo>
                <a:lnTo>
                  <a:pt x="152400" y="528828"/>
                </a:lnTo>
                <a:lnTo>
                  <a:pt x="209550" y="528828"/>
                </a:lnTo>
                <a:lnTo>
                  <a:pt x="228600" y="490728"/>
                </a:lnTo>
                <a:close/>
              </a:path>
            </a:pathLst>
          </a:custGeom>
          <a:solidFill>
            <a:srgbClr val="FF3300"/>
          </a:solidFill>
          <a:ln w="9525">
            <a:noFill/>
            <a:miter lim="800000"/>
            <a:headEnd/>
            <a:tailEnd/>
          </a:ln>
        </p:spPr>
        <p:txBody>
          <a:bodyPr lIns="0" tIns="0" rIns="0" bIns="0"/>
          <a:lstStyle/>
          <a:p>
            <a:pPr algn="l" rtl="0"/>
            <a:endParaRPr lang="ar-JO" sz="2000" b="1">
              <a:latin typeface="+mn-lt"/>
            </a:endParaRPr>
          </a:p>
        </p:txBody>
      </p:sp>
      <p:sp>
        <p:nvSpPr>
          <p:cNvPr id="6160" name="object 22"/>
          <p:cNvSpPr txBox="1">
            <a:spLocks noChangeArrowheads="1"/>
          </p:cNvSpPr>
          <p:nvPr/>
        </p:nvSpPr>
        <p:spPr bwMode="auto">
          <a:xfrm>
            <a:off x="8524569" y="4325587"/>
            <a:ext cx="3418158" cy="321299"/>
          </a:xfrm>
          <a:prstGeom prst="rect">
            <a:avLst/>
          </a:prstGeom>
          <a:noFill/>
          <a:ln w="9525">
            <a:noFill/>
            <a:miter lim="800000"/>
            <a:headEnd/>
            <a:tailEnd/>
          </a:ln>
        </p:spPr>
        <p:txBody>
          <a:bodyPr wrap="square" lIns="0" tIns="13392" rIns="0" bIns="0">
            <a:spAutoFit/>
          </a:bodyPr>
          <a:lstStyle/>
          <a:p>
            <a:pPr marL="584233" indent="-572514" algn="l" rtl="0">
              <a:spcBef>
                <a:spcPts val="105"/>
              </a:spcBef>
            </a:pPr>
            <a:r>
              <a:rPr lang="en-US" sz="2000" b="1" dirty="0" err="1">
                <a:latin typeface="+mn-lt"/>
              </a:rPr>
              <a:t>Acetoin</a:t>
            </a:r>
            <a:r>
              <a:rPr lang="en-US" sz="2000" b="1" dirty="0">
                <a:latin typeface="+mn-lt"/>
              </a:rPr>
              <a:t>  and  2,3 </a:t>
            </a:r>
            <a:r>
              <a:rPr lang="en-US" sz="2000" b="1" dirty="0" err="1">
                <a:latin typeface="+mn-lt"/>
              </a:rPr>
              <a:t>butanediol</a:t>
            </a:r>
            <a:endParaRPr lang="ar-JO" sz="2000" b="1" dirty="0">
              <a:latin typeface="+mn-lt"/>
            </a:endParaRPr>
          </a:p>
        </p:txBody>
      </p:sp>
      <p:sp>
        <p:nvSpPr>
          <p:cNvPr id="6161" name="object 23"/>
          <p:cNvSpPr>
            <a:spLocks noChangeArrowheads="1"/>
          </p:cNvSpPr>
          <p:nvPr/>
        </p:nvSpPr>
        <p:spPr bwMode="auto">
          <a:xfrm>
            <a:off x="9697049" y="4782787"/>
            <a:ext cx="275319" cy="1169192"/>
          </a:xfrm>
          <a:custGeom>
            <a:avLst/>
            <a:gdLst>
              <a:gd name="T0" fmla="*/ 0 w 228600"/>
              <a:gd name="T1" fmla="*/ 0 h 1297304"/>
              <a:gd name="T2" fmla="*/ 228600 w 228600"/>
              <a:gd name="T3" fmla="*/ 1297304 h 1297304"/>
            </a:gdLst>
            <a:ahLst/>
            <a:cxnLst/>
            <a:rect l="T0" t="T1" r="T2" b="T3"/>
            <a:pathLst>
              <a:path w="228600" h="1297304">
                <a:moveTo>
                  <a:pt x="76200" y="1068323"/>
                </a:moveTo>
                <a:lnTo>
                  <a:pt x="0" y="1068323"/>
                </a:lnTo>
                <a:lnTo>
                  <a:pt x="114300" y="1296923"/>
                </a:lnTo>
                <a:lnTo>
                  <a:pt x="209550" y="1106423"/>
                </a:lnTo>
                <a:lnTo>
                  <a:pt x="76200" y="1106423"/>
                </a:lnTo>
                <a:lnTo>
                  <a:pt x="76200" y="1068323"/>
                </a:lnTo>
                <a:close/>
              </a:path>
              <a:path w="228600" h="1297304">
                <a:moveTo>
                  <a:pt x="152400" y="0"/>
                </a:moveTo>
                <a:lnTo>
                  <a:pt x="76200" y="0"/>
                </a:lnTo>
                <a:lnTo>
                  <a:pt x="76200" y="1106423"/>
                </a:lnTo>
                <a:lnTo>
                  <a:pt x="152400" y="1106423"/>
                </a:lnTo>
                <a:lnTo>
                  <a:pt x="152400" y="0"/>
                </a:lnTo>
                <a:close/>
              </a:path>
              <a:path w="228600" h="1297304">
                <a:moveTo>
                  <a:pt x="228600" y="1068323"/>
                </a:moveTo>
                <a:lnTo>
                  <a:pt x="152400" y="1068323"/>
                </a:lnTo>
                <a:lnTo>
                  <a:pt x="152400" y="1106423"/>
                </a:lnTo>
                <a:lnTo>
                  <a:pt x="209550" y="1106423"/>
                </a:lnTo>
                <a:lnTo>
                  <a:pt x="228600" y="1068323"/>
                </a:lnTo>
                <a:close/>
              </a:path>
            </a:pathLst>
          </a:custGeom>
          <a:solidFill>
            <a:srgbClr val="FF3300"/>
          </a:solidFill>
          <a:ln w="9525">
            <a:noFill/>
            <a:miter lim="800000"/>
            <a:headEnd/>
            <a:tailEnd/>
          </a:ln>
        </p:spPr>
        <p:txBody>
          <a:bodyPr lIns="0" tIns="0" rIns="0" bIns="0"/>
          <a:lstStyle/>
          <a:p>
            <a:pPr algn="l" rtl="0"/>
            <a:endParaRPr lang="ar-JO" sz="2000" b="1">
              <a:latin typeface="+mn-lt"/>
            </a:endParaRPr>
          </a:p>
        </p:txBody>
      </p:sp>
      <p:sp>
        <p:nvSpPr>
          <p:cNvPr id="24" name="object 24"/>
          <p:cNvSpPr txBox="1"/>
          <p:nvPr/>
        </p:nvSpPr>
        <p:spPr>
          <a:xfrm>
            <a:off x="7838769" y="4935187"/>
            <a:ext cx="1828800" cy="641900"/>
          </a:xfrm>
          <a:prstGeom prst="rect">
            <a:avLst/>
          </a:prstGeom>
        </p:spPr>
        <p:txBody>
          <a:bodyPr wrap="square" lIns="0" tIns="13392" rIns="0" bIns="0">
            <a:spAutoFit/>
          </a:bodyPr>
          <a:lstStyle/>
          <a:p>
            <a:pPr marL="9144" algn="l" rtl="0" fontAlgn="auto">
              <a:spcBef>
                <a:spcPts val="105"/>
              </a:spcBef>
              <a:spcAft>
                <a:spcPts val="0"/>
              </a:spcAft>
              <a:defRPr/>
            </a:pPr>
            <a:r>
              <a:rPr lang="ar-JO" sz="2000" b="1" spc="-16" dirty="0">
                <a:solidFill>
                  <a:srgbClr val="FF0000"/>
                </a:solidFill>
                <a:latin typeface="Calibri"/>
                <a:cs typeface="Calibri"/>
              </a:rPr>
              <a:t>Barrit’s</a:t>
            </a:r>
            <a:r>
              <a:rPr lang="en-US" sz="2000" b="1" spc="-16" dirty="0">
                <a:solidFill>
                  <a:srgbClr val="FF0000"/>
                </a:solidFill>
                <a:latin typeface="Calibri"/>
                <a:cs typeface="Calibri"/>
              </a:rPr>
              <a:t> reagent </a:t>
            </a:r>
            <a:endParaRPr lang="ar-JO" sz="2000" b="1" spc="-16" dirty="0">
              <a:solidFill>
                <a:srgbClr val="FF0000"/>
              </a:solidFill>
              <a:latin typeface="Calibri"/>
              <a:cs typeface="Calibri"/>
            </a:endParaRPr>
          </a:p>
          <a:p>
            <a:pPr marL="9144" algn="l" rtl="0" fontAlgn="auto">
              <a:spcBef>
                <a:spcPts val="105"/>
              </a:spcBef>
              <a:spcAft>
                <a:spcPts val="0"/>
              </a:spcAft>
              <a:defRPr/>
            </a:pPr>
            <a:r>
              <a:rPr lang="en-US" sz="2000" b="1" spc="-16" dirty="0">
                <a:solidFill>
                  <a:srgbClr val="FF0000"/>
                </a:solidFill>
                <a:latin typeface="Calibri"/>
                <a:cs typeface="Calibri"/>
              </a:rPr>
              <a:t>40% KOH</a:t>
            </a:r>
            <a:endParaRPr lang="ar-JO" sz="2000" b="1" spc="-16" dirty="0">
              <a:solidFill>
                <a:srgbClr val="FF0000"/>
              </a:solidFill>
              <a:latin typeface="Calibri"/>
              <a:cs typeface="Calibri"/>
            </a:endParaRPr>
          </a:p>
        </p:txBody>
      </p:sp>
      <p:sp>
        <p:nvSpPr>
          <p:cNvPr id="25" name="object 25"/>
          <p:cNvSpPr txBox="1"/>
          <p:nvPr/>
        </p:nvSpPr>
        <p:spPr>
          <a:xfrm>
            <a:off x="9292105" y="6180779"/>
            <a:ext cx="1043246" cy="321299"/>
          </a:xfrm>
          <a:prstGeom prst="rect">
            <a:avLst/>
          </a:prstGeom>
        </p:spPr>
        <p:txBody>
          <a:bodyPr lIns="0" tIns="13392" rIns="0" bIns="0">
            <a:spAutoFit/>
          </a:bodyPr>
          <a:lstStyle/>
          <a:p>
            <a:pPr marL="9144" indent="-231015" algn="l" rtl="0" fontAlgn="auto">
              <a:spcBef>
                <a:spcPts val="105"/>
              </a:spcBef>
              <a:spcAft>
                <a:spcPts val="0"/>
              </a:spcAft>
              <a:defRPr/>
            </a:pPr>
            <a:r>
              <a:rPr lang="en-US" sz="2000" b="1" spc="-16" dirty="0">
                <a:latin typeface="Calibri"/>
                <a:cs typeface="Calibri"/>
              </a:rPr>
              <a:t>Red </a:t>
            </a:r>
            <a:r>
              <a:rPr lang="ar-JO" sz="2000" b="1" spc="-16" dirty="0">
                <a:latin typeface="Calibri"/>
                <a:cs typeface="Calibri"/>
              </a:rPr>
              <a:t>color</a:t>
            </a:r>
          </a:p>
        </p:txBody>
      </p:sp>
      <p:sp>
        <p:nvSpPr>
          <p:cNvPr id="6164" name="object 26"/>
          <p:cNvSpPr>
            <a:spLocks noChangeArrowheads="1"/>
          </p:cNvSpPr>
          <p:nvPr/>
        </p:nvSpPr>
        <p:spPr bwMode="auto">
          <a:xfrm>
            <a:off x="7952017" y="6198378"/>
            <a:ext cx="1012360" cy="230399"/>
          </a:xfrm>
          <a:custGeom>
            <a:avLst/>
            <a:gdLst>
              <a:gd name="T0" fmla="*/ 0 w 937259"/>
              <a:gd name="T1" fmla="*/ 0 h 228600"/>
              <a:gd name="T2" fmla="*/ 937259 w 937259"/>
              <a:gd name="T3" fmla="*/ 228600 h 228600"/>
            </a:gdLst>
            <a:ahLst/>
            <a:cxnLst/>
            <a:rect l="T0" t="T1" r="T2" b="T3"/>
            <a:pathLst>
              <a:path w="937259" h="228600">
                <a:moveTo>
                  <a:pt x="937259" y="76199"/>
                </a:moveTo>
                <a:lnTo>
                  <a:pt x="861059" y="76199"/>
                </a:lnTo>
                <a:lnTo>
                  <a:pt x="861059" y="152399"/>
                </a:lnTo>
                <a:lnTo>
                  <a:pt x="937259" y="152399"/>
                </a:lnTo>
                <a:lnTo>
                  <a:pt x="937259" y="76199"/>
                </a:lnTo>
                <a:close/>
              </a:path>
              <a:path w="937259" h="228600">
                <a:moveTo>
                  <a:pt x="784859" y="76199"/>
                </a:moveTo>
                <a:lnTo>
                  <a:pt x="708659" y="76199"/>
                </a:lnTo>
                <a:lnTo>
                  <a:pt x="708659" y="152399"/>
                </a:lnTo>
                <a:lnTo>
                  <a:pt x="784859" y="152399"/>
                </a:lnTo>
                <a:lnTo>
                  <a:pt x="784859" y="76199"/>
                </a:lnTo>
                <a:close/>
              </a:path>
              <a:path w="937259" h="228600">
                <a:moveTo>
                  <a:pt x="632459" y="76199"/>
                </a:moveTo>
                <a:lnTo>
                  <a:pt x="556259" y="76199"/>
                </a:lnTo>
                <a:lnTo>
                  <a:pt x="556259" y="152399"/>
                </a:lnTo>
                <a:lnTo>
                  <a:pt x="632459" y="152399"/>
                </a:lnTo>
                <a:lnTo>
                  <a:pt x="632459" y="76199"/>
                </a:lnTo>
                <a:close/>
              </a:path>
              <a:path w="937259" h="228600">
                <a:moveTo>
                  <a:pt x="480059" y="76199"/>
                </a:moveTo>
                <a:lnTo>
                  <a:pt x="403859" y="76199"/>
                </a:lnTo>
                <a:lnTo>
                  <a:pt x="403859" y="152399"/>
                </a:lnTo>
                <a:lnTo>
                  <a:pt x="480059" y="152399"/>
                </a:lnTo>
                <a:lnTo>
                  <a:pt x="480059" y="76199"/>
                </a:lnTo>
                <a:close/>
              </a:path>
              <a:path w="937259" h="228600">
                <a:moveTo>
                  <a:pt x="327659" y="76199"/>
                </a:moveTo>
                <a:lnTo>
                  <a:pt x="251459" y="76199"/>
                </a:lnTo>
                <a:lnTo>
                  <a:pt x="251459" y="152399"/>
                </a:lnTo>
                <a:lnTo>
                  <a:pt x="327659" y="152399"/>
                </a:lnTo>
                <a:lnTo>
                  <a:pt x="327659" y="76199"/>
                </a:lnTo>
                <a:close/>
              </a:path>
              <a:path w="937259" h="228600">
                <a:moveTo>
                  <a:pt x="228600" y="0"/>
                </a:moveTo>
                <a:lnTo>
                  <a:pt x="0" y="114299"/>
                </a:lnTo>
                <a:lnTo>
                  <a:pt x="228600" y="228599"/>
                </a:lnTo>
                <a:lnTo>
                  <a:pt x="228600" y="0"/>
                </a:lnTo>
                <a:close/>
              </a:path>
            </a:pathLst>
          </a:custGeom>
          <a:solidFill>
            <a:srgbClr val="FF3300"/>
          </a:solidFill>
          <a:ln w="9525">
            <a:noFill/>
            <a:miter lim="800000"/>
            <a:headEnd/>
            <a:tailEnd/>
          </a:ln>
        </p:spPr>
        <p:txBody>
          <a:bodyPr lIns="0" tIns="0" rIns="0" bIns="0"/>
          <a:lstStyle/>
          <a:p>
            <a:pPr algn="l" rtl="0"/>
            <a:endParaRPr lang="ar-JO" sz="2000" b="1">
              <a:latin typeface="+mn-lt"/>
            </a:endParaRPr>
          </a:p>
        </p:txBody>
      </p:sp>
      <p:sp>
        <p:nvSpPr>
          <p:cNvPr id="27" name="object 27"/>
          <p:cNvSpPr txBox="1"/>
          <p:nvPr/>
        </p:nvSpPr>
        <p:spPr>
          <a:xfrm>
            <a:off x="6543369" y="6154387"/>
            <a:ext cx="1173651" cy="321299"/>
          </a:xfrm>
          <a:prstGeom prst="rect">
            <a:avLst/>
          </a:prstGeom>
        </p:spPr>
        <p:txBody>
          <a:bodyPr lIns="0" tIns="13392" rIns="0" bIns="0">
            <a:spAutoFit/>
          </a:bodyPr>
          <a:lstStyle/>
          <a:p>
            <a:pPr marL="9144" algn="l" rtl="0" fontAlgn="auto">
              <a:spcBef>
                <a:spcPts val="105"/>
              </a:spcBef>
              <a:spcAft>
                <a:spcPts val="0"/>
              </a:spcAft>
              <a:defRPr/>
            </a:pPr>
            <a:r>
              <a:rPr lang="ar-JO" sz="2000" b="1" spc="-16" dirty="0">
                <a:latin typeface="Calibri"/>
                <a:cs typeface="Calibri"/>
              </a:rPr>
              <a:t>VP positive</a:t>
            </a:r>
          </a:p>
        </p:txBody>
      </p:sp>
      <p:sp>
        <p:nvSpPr>
          <p:cNvPr id="32" name="Rectangle 31"/>
          <p:cNvSpPr/>
          <p:nvPr/>
        </p:nvSpPr>
        <p:spPr>
          <a:xfrm>
            <a:off x="2420556" y="2877787"/>
            <a:ext cx="705642" cy="400110"/>
          </a:xfrm>
          <a:prstGeom prst="rect">
            <a:avLst/>
          </a:prstGeom>
        </p:spPr>
        <p:txBody>
          <a:bodyPr wrap="none">
            <a:spAutoFit/>
          </a:bodyPr>
          <a:lstStyle/>
          <a:p>
            <a:r>
              <a:rPr lang="en-US" sz="2000" b="1" dirty="0">
                <a:latin typeface="+mn-lt"/>
              </a:rPr>
              <a:t>Acid </a:t>
            </a:r>
            <a:endParaRPr lang="ar-JO" sz="2000" b="1" dirty="0">
              <a:latin typeface="+mn-lt"/>
            </a:endParaRPr>
          </a:p>
        </p:txBody>
      </p:sp>
      <p:sp>
        <p:nvSpPr>
          <p:cNvPr id="33" name="object 21"/>
          <p:cNvSpPr>
            <a:spLocks noChangeArrowheads="1"/>
          </p:cNvSpPr>
          <p:nvPr/>
        </p:nvSpPr>
        <p:spPr bwMode="auto">
          <a:xfrm>
            <a:off x="9667569" y="1963387"/>
            <a:ext cx="228600" cy="877197"/>
          </a:xfrm>
          <a:custGeom>
            <a:avLst/>
            <a:gdLst>
              <a:gd name="T0" fmla="*/ 0 w 228600"/>
              <a:gd name="T1" fmla="*/ 0 h 719454"/>
              <a:gd name="T2" fmla="*/ 228600 w 228600"/>
              <a:gd name="T3" fmla="*/ 719454 h 719454"/>
            </a:gdLst>
            <a:ahLst/>
            <a:cxnLst/>
            <a:rect l="T0" t="T1" r="T2" b="T3"/>
            <a:pathLst>
              <a:path w="228600" h="719454">
                <a:moveTo>
                  <a:pt x="76200" y="490728"/>
                </a:moveTo>
                <a:lnTo>
                  <a:pt x="0" y="490728"/>
                </a:lnTo>
                <a:lnTo>
                  <a:pt x="114300" y="719328"/>
                </a:lnTo>
                <a:lnTo>
                  <a:pt x="209550" y="528828"/>
                </a:lnTo>
                <a:lnTo>
                  <a:pt x="76200" y="528828"/>
                </a:lnTo>
                <a:lnTo>
                  <a:pt x="76200" y="490728"/>
                </a:lnTo>
                <a:close/>
              </a:path>
              <a:path w="228600" h="719454">
                <a:moveTo>
                  <a:pt x="152400" y="0"/>
                </a:moveTo>
                <a:lnTo>
                  <a:pt x="76200" y="0"/>
                </a:lnTo>
                <a:lnTo>
                  <a:pt x="76200" y="528828"/>
                </a:lnTo>
                <a:lnTo>
                  <a:pt x="152400" y="528828"/>
                </a:lnTo>
                <a:lnTo>
                  <a:pt x="152400" y="0"/>
                </a:lnTo>
                <a:close/>
              </a:path>
              <a:path w="228600" h="719454">
                <a:moveTo>
                  <a:pt x="228600" y="490728"/>
                </a:moveTo>
                <a:lnTo>
                  <a:pt x="152400" y="490728"/>
                </a:lnTo>
                <a:lnTo>
                  <a:pt x="152400" y="528828"/>
                </a:lnTo>
                <a:lnTo>
                  <a:pt x="209550" y="528828"/>
                </a:lnTo>
                <a:lnTo>
                  <a:pt x="228600" y="490728"/>
                </a:lnTo>
                <a:close/>
              </a:path>
            </a:pathLst>
          </a:custGeom>
          <a:solidFill>
            <a:srgbClr val="FF3300"/>
          </a:solidFill>
          <a:ln w="9525">
            <a:noFill/>
            <a:miter lim="800000"/>
            <a:headEnd/>
            <a:tailEnd/>
          </a:ln>
        </p:spPr>
        <p:txBody>
          <a:bodyPr lIns="0" tIns="0" rIns="0" bIns="0"/>
          <a:lstStyle/>
          <a:p>
            <a:pPr algn="l" rtl="0"/>
            <a:endParaRPr lang="ar-JO" sz="2000" b="1">
              <a:latin typeface="+mn-lt"/>
            </a:endParaRPr>
          </a:p>
        </p:txBody>
      </p:sp>
      <p:cxnSp>
        <p:nvCxnSpPr>
          <p:cNvPr id="35" name="Straight Connector 34"/>
          <p:cNvCxnSpPr/>
          <p:nvPr/>
        </p:nvCxnSpPr>
        <p:spPr>
          <a:xfrm>
            <a:off x="2657169" y="1963387"/>
            <a:ext cx="7162800" cy="1588"/>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sp>
        <p:nvSpPr>
          <p:cNvPr id="37" name="object 15"/>
          <p:cNvSpPr>
            <a:spLocks noChangeArrowheads="1"/>
          </p:cNvSpPr>
          <p:nvPr/>
        </p:nvSpPr>
        <p:spPr bwMode="auto">
          <a:xfrm>
            <a:off x="2580969" y="1963387"/>
            <a:ext cx="247084" cy="870889"/>
          </a:xfrm>
          <a:custGeom>
            <a:avLst/>
            <a:gdLst>
              <a:gd name="T0" fmla="*/ 0 w 228600"/>
              <a:gd name="T1" fmla="*/ 0 h 864235"/>
              <a:gd name="T2" fmla="*/ 228600 w 228600"/>
              <a:gd name="T3" fmla="*/ 864235 h 864235"/>
            </a:gdLst>
            <a:ahLst/>
            <a:cxnLst/>
            <a:rect l="T0" t="T1" r="T2" b="T3"/>
            <a:pathLst>
              <a:path w="228600" h="864235">
                <a:moveTo>
                  <a:pt x="76200" y="635507"/>
                </a:moveTo>
                <a:lnTo>
                  <a:pt x="0" y="635507"/>
                </a:lnTo>
                <a:lnTo>
                  <a:pt x="114300" y="864107"/>
                </a:lnTo>
                <a:lnTo>
                  <a:pt x="209550" y="673607"/>
                </a:lnTo>
                <a:lnTo>
                  <a:pt x="76200" y="673607"/>
                </a:lnTo>
                <a:lnTo>
                  <a:pt x="76200" y="635507"/>
                </a:lnTo>
                <a:close/>
              </a:path>
              <a:path w="228600" h="864235">
                <a:moveTo>
                  <a:pt x="152400" y="0"/>
                </a:moveTo>
                <a:lnTo>
                  <a:pt x="76200" y="0"/>
                </a:lnTo>
                <a:lnTo>
                  <a:pt x="76200" y="673607"/>
                </a:lnTo>
                <a:lnTo>
                  <a:pt x="152400" y="673607"/>
                </a:lnTo>
                <a:lnTo>
                  <a:pt x="152400" y="0"/>
                </a:lnTo>
                <a:close/>
              </a:path>
              <a:path w="228600" h="864235">
                <a:moveTo>
                  <a:pt x="228600" y="635507"/>
                </a:moveTo>
                <a:lnTo>
                  <a:pt x="152400" y="635507"/>
                </a:lnTo>
                <a:lnTo>
                  <a:pt x="152400" y="673607"/>
                </a:lnTo>
                <a:lnTo>
                  <a:pt x="209550" y="673607"/>
                </a:lnTo>
                <a:lnTo>
                  <a:pt x="228600" y="635507"/>
                </a:lnTo>
                <a:close/>
              </a:path>
            </a:pathLst>
          </a:custGeom>
          <a:solidFill>
            <a:srgbClr val="FF3300"/>
          </a:solidFill>
          <a:ln w="9525">
            <a:noFill/>
            <a:miter lim="800000"/>
            <a:headEnd/>
            <a:tailEnd/>
          </a:ln>
        </p:spPr>
        <p:txBody>
          <a:bodyPr lIns="0" tIns="0" rIns="0" bIns="0"/>
          <a:lstStyle/>
          <a:p>
            <a:pPr algn="l" rtl="0"/>
            <a:endParaRPr lang="ar-JO" sz="2000" b="1">
              <a:latin typeface="+mn-lt"/>
            </a:endParaRPr>
          </a:p>
        </p:txBody>
      </p:sp>
      <p:cxnSp>
        <p:nvCxnSpPr>
          <p:cNvPr id="41" name="Straight Connector 40"/>
          <p:cNvCxnSpPr/>
          <p:nvPr/>
        </p:nvCxnSpPr>
        <p:spPr>
          <a:xfrm rot="5400000">
            <a:off x="6201263" y="1772887"/>
            <a:ext cx="380206" cy="794"/>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sp>
        <p:nvSpPr>
          <p:cNvPr id="43" name="object 26"/>
          <p:cNvSpPr>
            <a:spLocks noChangeArrowheads="1"/>
          </p:cNvSpPr>
          <p:nvPr/>
        </p:nvSpPr>
        <p:spPr bwMode="auto">
          <a:xfrm flipH="1">
            <a:off x="3266769" y="6154387"/>
            <a:ext cx="1012360" cy="230399"/>
          </a:xfrm>
          <a:custGeom>
            <a:avLst/>
            <a:gdLst>
              <a:gd name="T0" fmla="*/ 0 w 937259"/>
              <a:gd name="T1" fmla="*/ 0 h 228600"/>
              <a:gd name="T2" fmla="*/ 937259 w 937259"/>
              <a:gd name="T3" fmla="*/ 228600 h 228600"/>
            </a:gdLst>
            <a:ahLst/>
            <a:cxnLst/>
            <a:rect l="T0" t="T1" r="T2" b="T3"/>
            <a:pathLst>
              <a:path w="937259" h="228600">
                <a:moveTo>
                  <a:pt x="937259" y="76199"/>
                </a:moveTo>
                <a:lnTo>
                  <a:pt x="861059" y="76199"/>
                </a:lnTo>
                <a:lnTo>
                  <a:pt x="861059" y="152399"/>
                </a:lnTo>
                <a:lnTo>
                  <a:pt x="937259" y="152399"/>
                </a:lnTo>
                <a:lnTo>
                  <a:pt x="937259" y="76199"/>
                </a:lnTo>
                <a:close/>
              </a:path>
              <a:path w="937259" h="228600">
                <a:moveTo>
                  <a:pt x="784859" y="76199"/>
                </a:moveTo>
                <a:lnTo>
                  <a:pt x="708659" y="76199"/>
                </a:lnTo>
                <a:lnTo>
                  <a:pt x="708659" y="152399"/>
                </a:lnTo>
                <a:lnTo>
                  <a:pt x="784859" y="152399"/>
                </a:lnTo>
                <a:lnTo>
                  <a:pt x="784859" y="76199"/>
                </a:lnTo>
                <a:close/>
              </a:path>
              <a:path w="937259" h="228600">
                <a:moveTo>
                  <a:pt x="632459" y="76199"/>
                </a:moveTo>
                <a:lnTo>
                  <a:pt x="556259" y="76199"/>
                </a:lnTo>
                <a:lnTo>
                  <a:pt x="556259" y="152399"/>
                </a:lnTo>
                <a:lnTo>
                  <a:pt x="632459" y="152399"/>
                </a:lnTo>
                <a:lnTo>
                  <a:pt x="632459" y="76199"/>
                </a:lnTo>
                <a:close/>
              </a:path>
              <a:path w="937259" h="228600">
                <a:moveTo>
                  <a:pt x="480059" y="76199"/>
                </a:moveTo>
                <a:lnTo>
                  <a:pt x="403859" y="76199"/>
                </a:lnTo>
                <a:lnTo>
                  <a:pt x="403859" y="152399"/>
                </a:lnTo>
                <a:lnTo>
                  <a:pt x="480059" y="152399"/>
                </a:lnTo>
                <a:lnTo>
                  <a:pt x="480059" y="76199"/>
                </a:lnTo>
                <a:close/>
              </a:path>
              <a:path w="937259" h="228600">
                <a:moveTo>
                  <a:pt x="327659" y="76199"/>
                </a:moveTo>
                <a:lnTo>
                  <a:pt x="251459" y="76199"/>
                </a:lnTo>
                <a:lnTo>
                  <a:pt x="251459" y="152399"/>
                </a:lnTo>
                <a:lnTo>
                  <a:pt x="327659" y="152399"/>
                </a:lnTo>
                <a:lnTo>
                  <a:pt x="327659" y="76199"/>
                </a:lnTo>
                <a:close/>
              </a:path>
              <a:path w="937259" h="228600">
                <a:moveTo>
                  <a:pt x="228600" y="0"/>
                </a:moveTo>
                <a:lnTo>
                  <a:pt x="0" y="114299"/>
                </a:lnTo>
                <a:lnTo>
                  <a:pt x="228600" y="228599"/>
                </a:lnTo>
                <a:lnTo>
                  <a:pt x="228600" y="0"/>
                </a:lnTo>
                <a:close/>
              </a:path>
            </a:pathLst>
          </a:custGeom>
          <a:solidFill>
            <a:srgbClr val="FF3300"/>
          </a:solidFill>
          <a:ln w="9525">
            <a:noFill/>
            <a:miter lim="800000"/>
            <a:headEnd/>
            <a:tailEnd/>
          </a:ln>
        </p:spPr>
        <p:txBody>
          <a:bodyPr lIns="0" tIns="0" rIns="0" bIns="0"/>
          <a:lstStyle/>
          <a:p>
            <a:pPr algn="l" rtl="0"/>
            <a:endParaRPr lang="ar-JO" sz="2000" b="1">
              <a:latin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i1.wp.com/microbeonline.com/wp-content/uploads/2014/01/Methyl-Red-Test.jpg"/>
          <p:cNvPicPr/>
          <p:nvPr/>
        </p:nvPicPr>
        <p:blipFill>
          <a:blip r:embed="rId2"/>
          <a:srcRect r="49787"/>
          <a:stretch>
            <a:fillRect/>
          </a:stretch>
        </p:blipFill>
        <p:spPr bwMode="auto">
          <a:xfrm>
            <a:off x="340519" y="407987"/>
            <a:ext cx="762000" cy="3227387"/>
          </a:xfrm>
          <a:prstGeom prst="rect">
            <a:avLst/>
          </a:prstGeom>
          <a:noFill/>
          <a:ln w="9525">
            <a:noFill/>
            <a:miter lim="800000"/>
            <a:headEnd/>
            <a:tailEnd/>
          </a:ln>
        </p:spPr>
      </p:pic>
      <p:sp>
        <p:nvSpPr>
          <p:cNvPr id="6" name="Rectangle 5"/>
          <p:cNvSpPr/>
          <p:nvPr/>
        </p:nvSpPr>
        <p:spPr>
          <a:xfrm>
            <a:off x="264319" y="3684587"/>
            <a:ext cx="1406411" cy="369332"/>
          </a:xfrm>
          <a:prstGeom prst="rect">
            <a:avLst/>
          </a:prstGeom>
          <a:ln>
            <a:solidFill>
              <a:srgbClr val="FF0000"/>
            </a:solidFill>
          </a:ln>
        </p:spPr>
        <p:txBody>
          <a:bodyPr wrap="none">
            <a:spAutoFit/>
          </a:bodyPr>
          <a:lstStyle/>
          <a:p>
            <a:r>
              <a:rPr lang="en-US" b="1" spc="-16" dirty="0">
                <a:latin typeface="+mn-lt"/>
                <a:cs typeface="Calibri"/>
              </a:rPr>
              <a:t>MR-VP broth</a:t>
            </a:r>
            <a:endParaRPr lang="ar-JO" dirty="0">
              <a:latin typeface="+mn-lt"/>
            </a:endParaRPr>
          </a:p>
        </p:txBody>
      </p:sp>
      <p:sp>
        <p:nvSpPr>
          <p:cNvPr id="9" name="Rectangle 8"/>
          <p:cNvSpPr/>
          <p:nvPr/>
        </p:nvSpPr>
        <p:spPr>
          <a:xfrm>
            <a:off x="1331119" y="228600"/>
            <a:ext cx="4419600" cy="646331"/>
          </a:xfrm>
          <a:prstGeom prst="rect">
            <a:avLst/>
          </a:prstGeom>
        </p:spPr>
        <p:txBody>
          <a:bodyPr wrap="square">
            <a:spAutoFit/>
          </a:bodyPr>
          <a:lstStyle/>
          <a:p>
            <a:pPr algn="ctr" rtl="0"/>
            <a:r>
              <a:rPr lang="en-US" b="1" dirty="0">
                <a:latin typeface="+mn-lt"/>
              </a:rPr>
              <a:t>Inoculate a </a:t>
            </a:r>
            <a:r>
              <a:rPr lang="en-US" b="1" dirty="0" err="1">
                <a:latin typeface="+mn-lt"/>
              </a:rPr>
              <a:t>loopful</a:t>
            </a:r>
            <a:r>
              <a:rPr lang="en-US" b="1" dirty="0">
                <a:latin typeface="+mn-lt"/>
              </a:rPr>
              <a:t> of your pure culture using sterile cooled loop</a:t>
            </a:r>
            <a:endParaRPr lang="ar-JO" b="1" dirty="0">
              <a:latin typeface="+mn-lt"/>
            </a:endParaRPr>
          </a:p>
        </p:txBody>
      </p:sp>
      <p:sp>
        <p:nvSpPr>
          <p:cNvPr id="10" name="object 4"/>
          <p:cNvSpPr>
            <a:spLocks noChangeArrowheads="1"/>
          </p:cNvSpPr>
          <p:nvPr/>
        </p:nvSpPr>
        <p:spPr bwMode="auto">
          <a:xfrm flipV="1">
            <a:off x="1407319" y="838200"/>
            <a:ext cx="5040000" cy="180000"/>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00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a:latin typeface="+mn-lt"/>
            </a:endParaRPr>
          </a:p>
        </p:txBody>
      </p:sp>
      <p:sp>
        <p:nvSpPr>
          <p:cNvPr id="11" name="Rectangle 10"/>
          <p:cNvSpPr/>
          <p:nvPr/>
        </p:nvSpPr>
        <p:spPr>
          <a:xfrm>
            <a:off x="1940719" y="1143000"/>
            <a:ext cx="6588125" cy="369332"/>
          </a:xfrm>
          <a:prstGeom prst="rect">
            <a:avLst/>
          </a:prstGeom>
        </p:spPr>
        <p:txBody>
          <a:bodyPr>
            <a:spAutoFit/>
          </a:bodyPr>
          <a:lstStyle/>
          <a:p>
            <a:pPr algn="l" rtl="0"/>
            <a:r>
              <a:rPr lang="en-US" b="1" dirty="0">
                <a:latin typeface="+mn-lt"/>
              </a:rPr>
              <a:t>Incubate at 37°C for 48 hours. </a:t>
            </a:r>
            <a:endParaRPr lang="ar-JO" b="1" dirty="0">
              <a:latin typeface="+mn-lt"/>
            </a:endParaRPr>
          </a:p>
        </p:txBody>
      </p:sp>
      <p:sp>
        <p:nvSpPr>
          <p:cNvPr id="12" name="Rectangle 11"/>
          <p:cNvSpPr/>
          <p:nvPr/>
        </p:nvSpPr>
        <p:spPr>
          <a:xfrm>
            <a:off x="7274719" y="484187"/>
            <a:ext cx="2286652" cy="369332"/>
          </a:xfrm>
          <a:prstGeom prst="rect">
            <a:avLst/>
          </a:prstGeom>
        </p:spPr>
        <p:txBody>
          <a:bodyPr wrap="none">
            <a:spAutoFit/>
          </a:bodyPr>
          <a:lstStyle/>
          <a:p>
            <a:r>
              <a:rPr lang="en-US" b="1" dirty="0">
                <a:latin typeface="+mn-lt"/>
              </a:rPr>
              <a:t>Then divide into 2 vial</a:t>
            </a:r>
            <a:endParaRPr lang="ar-JO" b="1" dirty="0">
              <a:latin typeface="+mn-lt"/>
            </a:endParaRPr>
          </a:p>
        </p:txBody>
      </p:sp>
      <p:sp>
        <p:nvSpPr>
          <p:cNvPr id="14" name="object 4"/>
          <p:cNvSpPr>
            <a:spLocks noChangeArrowheads="1"/>
          </p:cNvSpPr>
          <p:nvPr/>
        </p:nvSpPr>
        <p:spPr bwMode="auto">
          <a:xfrm rot="12671237" flipH="1" flipV="1">
            <a:off x="9090487" y="1357955"/>
            <a:ext cx="2002143" cy="189729"/>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00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a:latin typeface="+mn-lt"/>
            </a:endParaRPr>
          </a:p>
        </p:txBody>
      </p:sp>
      <p:pic>
        <p:nvPicPr>
          <p:cNvPr id="16" name="Picture 15" descr="https://i1.wp.com/microbeonline.com/wp-content/uploads/2014/01/Methyl-Red-Test.jpg"/>
          <p:cNvPicPr/>
          <p:nvPr/>
        </p:nvPicPr>
        <p:blipFill>
          <a:blip r:embed="rId2"/>
          <a:srcRect r="49787"/>
          <a:stretch>
            <a:fillRect/>
          </a:stretch>
        </p:blipFill>
        <p:spPr bwMode="auto">
          <a:xfrm>
            <a:off x="5674519" y="1246187"/>
            <a:ext cx="762000" cy="2362200"/>
          </a:xfrm>
          <a:prstGeom prst="rect">
            <a:avLst/>
          </a:prstGeom>
          <a:noFill/>
          <a:ln w="9525">
            <a:noFill/>
            <a:miter lim="800000"/>
            <a:headEnd/>
            <a:tailEnd/>
          </a:ln>
        </p:spPr>
      </p:pic>
      <p:pic>
        <p:nvPicPr>
          <p:cNvPr id="17" name="Picture 16" descr="https://i1.wp.com/microbeonline.com/wp-content/uploads/2014/01/Methyl-Red-Test.jpg"/>
          <p:cNvPicPr/>
          <p:nvPr/>
        </p:nvPicPr>
        <p:blipFill>
          <a:blip r:embed="rId2"/>
          <a:srcRect r="49787"/>
          <a:stretch>
            <a:fillRect/>
          </a:stretch>
        </p:blipFill>
        <p:spPr bwMode="auto">
          <a:xfrm>
            <a:off x="11389519" y="788987"/>
            <a:ext cx="762000" cy="2514600"/>
          </a:xfrm>
          <a:prstGeom prst="rect">
            <a:avLst/>
          </a:prstGeom>
          <a:noFill/>
          <a:ln w="9525">
            <a:noFill/>
            <a:miter lim="800000"/>
            <a:headEnd/>
            <a:tailEnd/>
          </a:ln>
        </p:spPr>
      </p:pic>
      <p:sp>
        <p:nvSpPr>
          <p:cNvPr id="18" name="Rectangle 17"/>
          <p:cNvSpPr/>
          <p:nvPr/>
        </p:nvSpPr>
        <p:spPr>
          <a:xfrm>
            <a:off x="4836319" y="5988645"/>
            <a:ext cx="3733800" cy="646331"/>
          </a:xfrm>
          <a:prstGeom prst="rect">
            <a:avLst/>
          </a:prstGeom>
        </p:spPr>
        <p:txBody>
          <a:bodyPr wrap="square">
            <a:spAutoFit/>
          </a:bodyPr>
          <a:lstStyle/>
          <a:p>
            <a:pPr algn="l" rtl="0"/>
            <a:r>
              <a:rPr lang="en-US" b="1" spc="-16" dirty="0">
                <a:solidFill>
                  <a:srgbClr val="FF0000"/>
                </a:solidFill>
                <a:latin typeface="+mn-lt"/>
                <a:cs typeface="Calibri"/>
              </a:rPr>
              <a:t>If the whole media converted to the </a:t>
            </a:r>
            <a:r>
              <a:rPr lang="ar-JO" b="1" spc="-16" dirty="0">
                <a:solidFill>
                  <a:srgbClr val="FF0000"/>
                </a:solidFill>
                <a:latin typeface="+mn-lt"/>
                <a:cs typeface="Calibri"/>
              </a:rPr>
              <a:t> </a:t>
            </a:r>
            <a:r>
              <a:rPr lang="en-US" b="1" spc="-16" dirty="0">
                <a:solidFill>
                  <a:srgbClr val="FF0000"/>
                </a:solidFill>
                <a:latin typeface="+mn-lt"/>
                <a:cs typeface="Calibri"/>
              </a:rPr>
              <a:t>                        red                      MR test Positive </a:t>
            </a:r>
            <a:endParaRPr lang="ar-JO" b="1" spc="-16" dirty="0">
              <a:solidFill>
                <a:srgbClr val="FF0000"/>
              </a:solidFill>
              <a:latin typeface="+mn-lt"/>
              <a:cs typeface="Calibri"/>
            </a:endParaRPr>
          </a:p>
        </p:txBody>
      </p:sp>
      <p:sp>
        <p:nvSpPr>
          <p:cNvPr id="19" name="Rectangle 18"/>
          <p:cNvSpPr/>
          <p:nvPr/>
        </p:nvSpPr>
        <p:spPr>
          <a:xfrm>
            <a:off x="3312319" y="2312987"/>
            <a:ext cx="2302425" cy="659155"/>
          </a:xfrm>
          <a:prstGeom prst="rect">
            <a:avLst/>
          </a:prstGeom>
          <a:ln>
            <a:solidFill>
              <a:srgbClr val="FF0000"/>
            </a:solidFill>
          </a:ln>
        </p:spPr>
        <p:txBody>
          <a:bodyPr wrap="none">
            <a:spAutoFit/>
          </a:bodyPr>
          <a:lstStyle/>
          <a:p>
            <a:pPr marL="9144" indent="-231015" algn="just" rtl="0" fontAlgn="auto">
              <a:spcBef>
                <a:spcPts val="105"/>
              </a:spcBef>
              <a:spcAft>
                <a:spcPts val="0"/>
              </a:spcAft>
              <a:defRPr/>
            </a:pPr>
            <a:r>
              <a:rPr lang="en-US" b="1" spc="-16" dirty="0">
                <a:latin typeface="+mn-lt"/>
                <a:cs typeface="Calibri"/>
              </a:rPr>
              <a:t>Add  1 ml </a:t>
            </a:r>
            <a:r>
              <a:rPr lang="ar-JO" b="1" spc="-16" dirty="0">
                <a:latin typeface="+mn-lt"/>
                <a:cs typeface="Calibri"/>
              </a:rPr>
              <a:t>Methyl Red  </a:t>
            </a:r>
          </a:p>
          <a:p>
            <a:pPr marL="9144" indent="-231015" algn="just" rtl="0" fontAlgn="auto">
              <a:spcBef>
                <a:spcPts val="105"/>
              </a:spcBef>
              <a:spcAft>
                <a:spcPts val="0"/>
              </a:spcAft>
              <a:defRPr/>
            </a:pPr>
            <a:r>
              <a:rPr lang="ar-JO" b="1" spc="-16" dirty="0">
                <a:latin typeface="+mn-lt"/>
                <a:cs typeface="Calibri"/>
              </a:rPr>
              <a:t>indicator</a:t>
            </a:r>
          </a:p>
        </p:txBody>
      </p:sp>
      <p:sp>
        <p:nvSpPr>
          <p:cNvPr id="20" name="Rectangle 19"/>
          <p:cNvSpPr/>
          <p:nvPr/>
        </p:nvSpPr>
        <p:spPr>
          <a:xfrm>
            <a:off x="8265319" y="2236787"/>
            <a:ext cx="2971800" cy="646331"/>
          </a:xfrm>
          <a:prstGeom prst="rect">
            <a:avLst/>
          </a:prstGeom>
          <a:ln>
            <a:solidFill>
              <a:srgbClr val="FF0000"/>
            </a:solidFill>
          </a:ln>
        </p:spPr>
        <p:txBody>
          <a:bodyPr wrap="square">
            <a:spAutoFit/>
          </a:bodyPr>
          <a:lstStyle/>
          <a:p>
            <a:pPr algn="just" rtl="0"/>
            <a:r>
              <a:rPr lang="en-US" b="1" spc="-16" dirty="0">
                <a:latin typeface="+mn-lt"/>
                <a:cs typeface="Calibri"/>
              </a:rPr>
              <a:t>Add </a:t>
            </a:r>
            <a:r>
              <a:rPr lang="en-US" b="1" spc="-16" dirty="0" err="1">
                <a:latin typeface="+mn-lt"/>
                <a:cs typeface="Calibri"/>
              </a:rPr>
              <a:t>Barritt's</a:t>
            </a:r>
            <a:r>
              <a:rPr lang="en-US" b="1" spc="-16" dirty="0">
                <a:latin typeface="+mn-lt"/>
                <a:cs typeface="Calibri"/>
              </a:rPr>
              <a:t> reagent ( alpha </a:t>
            </a:r>
            <a:r>
              <a:rPr lang="en-US" b="1" spc="-16" dirty="0" err="1">
                <a:latin typeface="+mn-lt"/>
                <a:cs typeface="Calibri"/>
              </a:rPr>
              <a:t>naphthol</a:t>
            </a:r>
            <a:r>
              <a:rPr lang="en-US" b="1" spc="-16" dirty="0">
                <a:latin typeface="+mn-lt"/>
                <a:cs typeface="Calibri"/>
              </a:rPr>
              <a:t> + 40% KOH)</a:t>
            </a:r>
            <a:endParaRPr lang="ar-JO" b="1" spc="-16" dirty="0">
              <a:latin typeface="+mn-lt"/>
              <a:cs typeface="Calibri"/>
            </a:endParaRPr>
          </a:p>
        </p:txBody>
      </p:sp>
      <p:cxnSp>
        <p:nvCxnSpPr>
          <p:cNvPr id="22" name="Straight Arrow Connector 21"/>
          <p:cNvCxnSpPr/>
          <p:nvPr/>
        </p:nvCxnSpPr>
        <p:spPr>
          <a:xfrm>
            <a:off x="5369719" y="6427787"/>
            <a:ext cx="870857" cy="233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3" name="Straight Arrow Connector 22"/>
          <p:cNvCxnSpPr/>
          <p:nvPr/>
        </p:nvCxnSpPr>
        <p:spPr>
          <a:xfrm>
            <a:off x="12227719" y="6122987"/>
            <a:ext cx="494591" cy="839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sp>
        <p:nvSpPr>
          <p:cNvPr id="24" name="Rectangle 23"/>
          <p:cNvSpPr/>
          <p:nvPr/>
        </p:nvSpPr>
        <p:spPr>
          <a:xfrm>
            <a:off x="9977438" y="5970587"/>
            <a:ext cx="3200400" cy="646331"/>
          </a:xfrm>
          <a:prstGeom prst="rect">
            <a:avLst/>
          </a:prstGeom>
        </p:spPr>
        <p:txBody>
          <a:bodyPr wrap="square">
            <a:spAutoFit/>
          </a:bodyPr>
          <a:lstStyle/>
          <a:p>
            <a:pPr algn="l" rtl="0"/>
            <a:r>
              <a:rPr lang="en-US" b="1" spc="-16" dirty="0">
                <a:solidFill>
                  <a:srgbClr val="FF0000"/>
                </a:solidFill>
                <a:latin typeface="+mn-lt"/>
                <a:cs typeface="Calibri"/>
              </a:rPr>
              <a:t>If red ring developed                VP test Positive </a:t>
            </a:r>
            <a:endParaRPr lang="ar-JO" b="1" spc="-16" dirty="0">
              <a:solidFill>
                <a:srgbClr val="FF0000"/>
              </a:solidFill>
              <a:latin typeface="+mn-lt"/>
              <a:cs typeface="Calibri"/>
            </a:endParaRPr>
          </a:p>
        </p:txBody>
      </p:sp>
      <p:pic>
        <p:nvPicPr>
          <p:cNvPr id="3075" name="Picture 3"/>
          <p:cNvPicPr>
            <a:picLocks noChangeAspect="1" noChangeArrowheads="1"/>
          </p:cNvPicPr>
          <p:nvPr/>
        </p:nvPicPr>
        <p:blipFill>
          <a:blip r:embed="rId3"/>
          <a:srcRect/>
          <a:stretch>
            <a:fillRect/>
          </a:stretch>
        </p:blipFill>
        <p:spPr bwMode="auto">
          <a:xfrm>
            <a:off x="4760119" y="3760787"/>
            <a:ext cx="2514600" cy="2236788"/>
          </a:xfrm>
          <a:prstGeom prst="rect">
            <a:avLst/>
          </a:prstGeom>
          <a:noFill/>
          <a:ln w="9525">
            <a:noFill/>
            <a:miter lim="800000"/>
            <a:headEnd/>
            <a:tailEnd/>
          </a:ln>
          <a:effectLst/>
        </p:spPr>
      </p:pic>
      <p:pic>
        <p:nvPicPr>
          <p:cNvPr id="26" name="object 6"/>
          <p:cNvPicPr>
            <a:picLocks noChangeAspect="1" noChangeArrowheads="1"/>
          </p:cNvPicPr>
          <p:nvPr/>
        </p:nvPicPr>
        <p:blipFill>
          <a:blip r:embed="rId4"/>
          <a:srcRect/>
          <a:stretch>
            <a:fillRect/>
          </a:stretch>
        </p:blipFill>
        <p:spPr bwMode="auto">
          <a:xfrm>
            <a:off x="10398919" y="3608387"/>
            <a:ext cx="2438400" cy="2273738"/>
          </a:xfrm>
          <a:prstGeom prst="rect">
            <a:avLst/>
          </a:prstGeom>
          <a:noFill/>
          <a:ln w="9525">
            <a:noFill/>
            <a:miter lim="800000"/>
            <a:headEnd/>
            <a:tailEnd/>
          </a:ln>
        </p:spPr>
      </p:pic>
      <p:pic>
        <p:nvPicPr>
          <p:cNvPr id="1026" name="Picture 2"/>
          <p:cNvPicPr>
            <a:picLocks noChangeAspect="1" noChangeArrowheads="1"/>
          </p:cNvPicPr>
          <p:nvPr/>
        </p:nvPicPr>
        <p:blipFill>
          <a:blip r:embed="rId5"/>
          <a:srcRect/>
          <a:stretch>
            <a:fillRect/>
          </a:stretch>
        </p:blipFill>
        <p:spPr bwMode="auto">
          <a:xfrm>
            <a:off x="1483519" y="1703387"/>
            <a:ext cx="609600" cy="1743075"/>
          </a:xfrm>
          <a:prstGeom prst="rect">
            <a:avLst/>
          </a:prstGeom>
          <a:noFill/>
          <a:ln w="9525">
            <a:noFill/>
            <a:miter lim="800000"/>
            <a:headEnd/>
            <a:tailEnd/>
          </a:ln>
          <a:effectLst/>
        </p:spPr>
      </p:pic>
      <p:sp>
        <p:nvSpPr>
          <p:cNvPr id="27" name="Rectangle 26"/>
          <p:cNvSpPr/>
          <p:nvPr/>
        </p:nvSpPr>
        <p:spPr>
          <a:xfrm>
            <a:off x="264319" y="4370387"/>
            <a:ext cx="4343400" cy="1323439"/>
          </a:xfrm>
          <a:prstGeom prst="rect">
            <a:avLst/>
          </a:prstGeom>
          <a:ln>
            <a:solidFill>
              <a:srgbClr val="FF0000"/>
            </a:solidFill>
          </a:ln>
        </p:spPr>
        <p:txBody>
          <a:bodyPr wrap="square">
            <a:spAutoFit/>
          </a:bodyPr>
          <a:lstStyle/>
          <a:p>
            <a:pPr algn="just" rtl="0"/>
            <a:r>
              <a:rPr lang="en-US" sz="2000" b="1" dirty="0">
                <a:latin typeface="+mn-lt"/>
              </a:rPr>
              <a:t>Results</a:t>
            </a:r>
          </a:p>
          <a:p>
            <a:pPr algn="just" rtl="0"/>
            <a:r>
              <a:rPr lang="en-US" sz="2000" b="1" dirty="0">
                <a:latin typeface="+mn-lt"/>
              </a:rPr>
              <a:t>MR : +</a:t>
            </a:r>
            <a:r>
              <a:rPr lang="en-US" sz="2000" b="1" dirty="0" err="1">
                <a:latin typeface="+mn-lt"/>
              </a:rPr>
              <a:t>ve</a:t>
            </a:r>
            <a:r>
              <a:rPr lang="en-US" sz="2000" b="1" dirty="0">
                <a:latin typeface="+mn-lt"/>
              </a:rPr>
              <a:t> must be VP : -</a:t>
            </a:r>
            <a:r>
              <a:rPr lang="en-US" sz="2000" b="1" dirty="0" err="1">
                <a:latin typeface="+mn-lt"/>
              </a:rPr>
              <a:t>ve</a:t>
            </a:r>
            <a:r>
              <a:rPr lang="en-US" sz="2000" b="1" dirty="0">
                <a:latin typeface="+mn-lt"/>
              </a:rPr>
              <a:t> </a:t>
            </a:r>
          </a:p>
          <a:p>
            <a:pPr algn="just" rtl="0"/>
            <a:r>
              <a:rPr lang="en-US" sz="2000" b="1" dirty="0">
                <a:latin typeface="+mn-lt"/>
              </a:rPr>
              <a:t>MR: -</a:t>
            </a:r>
            <a:r>
              <a:rPr lang="en-US" sz="2000" b="1" dirty="0" err="1">
                <a:latin typeface="+mn-lt"/>
              </a:rPr>
              <a:t>ve</a:t>
            </a:r>
            <a:r>
              <a:rPr lang="en-US" sz="2000" b="1" dirty="0">
                <a:latin typeface="+mn-lt"/>
              </a:rPr>
              <a:t> could be VP : +</a:t>
            </a:r>
            <a:r>
              <a:rPr lang="en-US" sz="2000" b="1" dirty="0" err="1">
                <a:latin typeface="+mn-lt"/>
              </a:rPr>
              <a:t>ve</a:t>
            </a:r>
            <a:r>
              <a:rPr lang="en-US" sz="2000" b="1" dirty="0">
                <a:latin typeface="+mn-lt"/>
              </a:rPr>
              <a:t> or -</a:t>
            </a:r>
            <a:r>
              <a:rPr lang="en-US" sz="2000" b="1" dirty="0" err="1">
                <a:latin typeface="+mn-lt"/>
              </a:rPr>
              <a:t>ve</a:t>
            </a:r>
            <a:endParaRPr lang="en-US" sz="2000" b="1" dirty="0">
              <a:latin typeface="+mn-lt"/>
            </a:endParaRPr>
          </a:p>
          <a:p>
            <a:pPr algn="just" rtl="0"/>
            <a:r>
              <a:rPr lang="en-US" sz="2000" b="1" dirty="0">
                <a:solidFill>
                  <a:srgbClr val="FF0000"/>
                </a:solidFill>
                <a:latin typeface="+mn-lt"/>
              </a:rPr>
              <a:t>But impossible to be :MR: +</a:t>
            </a:r>
            <a:r>
              <a:rPr lang="en-US" sz="2000" b="1" dirty="0" err="1">
                <a:solidFill>
                  <a:srgbClr val="FF0000"/>
                </a:solidFill>
                <a:latin typeface="+mn-lt"/>
              </a:rPr>
              <a:t>ve</a:t>
            </a:r>
            <a:r>
              <a:rPr lang="en-US" sz="2000" b="1" dirty="0">
                <a:solidFill>
                  <a:srgbClr val="FF0000"/>
                </a:solidFill>
                <a:latin typeface="+mn-lt"/>
              </a:rPr>
              <a:t> VP: +</a:t>
            </a:r>
            <a:r>
              <a:rPr lang="en-US" sz="2000" b="1" dirty="0" err="1">
                <a:solidFill>
                  <a:srgbClr val="FF0000"/>
                </a:solidFill>
                <a:latin typeface="+mn-lt"/>
              </a:rPr>
              <a:t>ve</a:t>
            </a:r>
            <a:endParaRPr lang="ar-JO" sz="2000" b="1" dirty="0">
              <a:solidFill>
                <a:srgbClr val="FF0000"/>
              </a:solidFill>
              <a:latin typeface="+mn-lt"/>
            </a:endParaRPr>
          </a:p>
        </p:txBody>
      </p:sp>
      <p:sp>
        <p:nvSpPr>
          <p:cNvPr id="28" name="object 4"/>
          <p:cNvSpPr>
            <a:spLocks noChangeArrowheads="1"/>
          </p:cNvSpPr>
          <p:nvPr/>
        </p:nvSpPr>
        <p:spPr bwMode="auto">
          <a:xfrm rot="18966943" flipH="1" flipV="1">
            <a:off x="6354684" y="1480021"/>
            <a:ext cx="1914095" cy="210781"/>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00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a:latin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739246" y="1523871"/>
            <a:ext cx="966032" cy="673354"/>
          </a:xfrm>
          <a:prstGeom prst="rect">
            <a:avLst/>
          </a:prstGeom>
        </p:spPr>
        <p:txBody>
          <a:bodyPr lIns="0" tIns="14062" rIns="0" bIns="0">
            <a:spAutoFit/>
          </a:bodyPr>
          <a:lstStyle/>
          <a:p>
            <a:pPr marL="9144" algn="l" rtl="0" fontAlgn="auto">
              <a:spcBef>
                <a:spcPts val="111"/>
              </a:spcBef>
              <a:spcAft>
                <a:spcPts val="0"/>
              </a:spcAft>
            </a:pPr>
            <a:r>
              <a:rPr lang="ar-JO" sz="2100" b="1" spc="-5" dirty="0">
                <a:latin typeface="+mj-lt"/>
                <a:cs typeface="Tahoma"/>
              </a:rPr>
              <a:t>C</a:t>
            </a:r>
            <a:r>
              <a:rPr lang="ar-JO" sz="2100" b="1" spc="-16" dirty="0">
                <a:latin typeface="+mj-lt"/>
                <a:cs typeface="Tahoma"/>
              </a:rPr>
              <a:t>i</a:t>
            </a:r>
            <a:r>
              <a:rPr lang="ar-JO" sz="2100" b="1" dirty="0">
                <a:latin typeface="+mj-lt"/>
                <a:cs typeface="Tahoma"/>
              </a:rPr>
              <a:t>t</a:t>
            </a:r>
            <a:r>
              <a:rPr lang="ar-JO" sz="2100" b="1" spc="-16" dirty="0">
                <a:latin typeface="+mj-lt"/>
                <a:cs typeface="Tahoma"/>
              </a:rPr>
              <a:t>r</a:t>
            </a:r>
            <a:r>
              <a:rPr lang="ar-JO" sz="2100" b="1" dirty="0">
                <a:latin typeface="+mj-lt"/>
                <a:cs typeface="Tahoma"/>
              </a:rPr>
              <a:t>a</a:t>
            </a:r>
            <a:r>
              <a:rPr lang="ar-JO" sz="2100" b="1" spc="-11" dirty="0">
                <a:latin typeface="+mj-lt"/>
                <a:cs typeface="Tahoma"/>
              </a:rPr>
              <a:t>t</a:t>
            </a:r>
            <a:r>
              <a:rPr lang="ar-JO" sz="2100" b="1" dirty="0">
                <a:latin typeface="+mj-lt"/>
                <a:cs typeface="Tahoma"/>
              </a:rPr>
              <a:t>e</a:t>
            </a:r>
            <a:endParaRPr lang="ar-JO" sz="2100" dirty="0">
              <a:latin typeface="+mj-lt"/>
              <a:cs typeface="Tahoma"/>
            </a:endParaRPr>
          </a:p>
          <a:p>
            <a:pPr marL="13392" algn="l" rtl="0" fontAlgn="auto">
              <a:spcBef>
                <a:spcPts val="111"/>
              </a:spcBef>
              <a:spcAft>
                <a:spcPts val="0"/>
              </a:spcAft>
              <a:defRPr/>
            </a:pPr>
            <a:endParaRPr sz="2100">
              <a:latin typeface="Tahoma"/>
              <a:cs typeface="Tahoma"/>
            </a:endParaRPr>
          </a:p>
        </p:txBody>
      </p:sp>
      <p:sp>
        <p:nvSpPr>
          <p:cNvPr id="6" name="object 6"/>
          <p:cNvSpPr txBox="1"/>
          <p:nvPr/>
        </p:nvSpPr>
        <p:spPr>
          <a:xfrm>
            <a:off x="9865519" y="1550987"/>
            <a:ext cx="1286898" cy="1095870"/>
          </a:xfrm>
          <a:prstGeom prst="rect">
            <a:avLst/>
          </a:prstGeom>
        </p:spPr>
        <p:txBody>
          <a:bodyPr lIns="0" tIns="13392" rIns="0" bIns="0">
            <a:spAutoFit/>
          </a:bodyPr>
          <a:lstStyle/>
          <a:p>
            <a:pPr marL="36576" algn="l" rtl="0" fontAlgn="auto">
              <a:spcBef>
                <a:spcPts val="105"/>
              </a:spcBef>
              <a:spcAft>
                <a:spcPts val="0"/>
              </a:spcAft>
            </a:pPr>
            <a:r>
              <a:rPr lang="ar-JO" sz="2400" b="1" spc="-5" dirty="0">
                <a:latin typeface="+mn-lt"/>
                <a:cs typeface="Tahoma"/>
              </a:rPr>
              <a:t>Na</a:t>
            </a:r>
            <a:r>
              <a:rPr lang="en-US" sz="2400" b="1" spc="-7" baseline="-21000" dirty="0">
                <a:latin typeface="+mn-lt"/>
                <a:cs typeface="Tahoma"/>
              </a:rPr>
              <a:t>2</a:t>
            </a:r>
            <a:r>
              <a:rPr lang="ar-JO" sz="2400" b="1" spc="-5" dirty="0">
                <a:latin typeface="+mn-lt"/>
                <a:cs typeface="Tahoma"/>
              </a:rPr>
              <a:t>CO</a:t>
            </a:r>
            <a:r>
              <a:rPr lang="en-US" sz="2400" b="1" spc="-7" baseline="-21000" dirty="0">
                <a:latin typeface="+mn-lt"/>
                <a:cs typeface="Tahoma"/>
              </a:rPr>
              <a:t>3 </a:t>
            </a:r>
            <a:r>
              <a:rPr lang="ar-JO" sz="1600" b="1" dirty="0">
                <a:latin typeface="+mn-lt"/>
                <a:cs typeface="Tahoma" pitchFamily="34" charset="0"/>
              </a:rPr>
              <a:t>Alkaline,</a:t>
            </a:r>
            <a:r>
              <a:rPr lang="ar-JO" sz="1600" b="1" dirty="0">
                <a:latin typeface="+mn-lt"/>
                <a:cs typeface="Times New Roman" pitchFamily="18" charset="0"/>
              </a:rPr>
              <a:t>↑pH</a:t>
            </a:r>
            <a:endParaRPr lang="ar-JO" sz="1600" dirty="0">
              <a:latin typeface="+mn-lt"/>
              <a:cs typeface="Times New Roman" pitchFamily="18" charset="0"/>
            </a:endParaRPr>
          </a:p>
          <a:p>
            <a:pPr marL="36576" algn="l" rtl="0" fontAlgn="auto">
              <a:spcBef>
                <a:spcPts val="105"/>
              </a:spcBef>
              <a:spcAft>
                <a:spcPts val="0"/>
              </a:spcAft>
            </a:pPr>
            <a:endParaRPr lang="ar-JO" sz="1600" baseline="-21000" dirty="0">
              <a:latin typeface="+mn-lt"/>
              <a:cs typeface="Tahoma"/>
            </a:endParaRPr>
          </a:p>
          <a:p>
            <a:pPr marL="40176" algn="l" rtl="0" fontAlgn="auto">
              <a:spcBef>
                <a:spcPts val="105"/>
              </a:spcBef>
              <a:spcAft>
                <a:spcPts val="0"/>
              </a:spcAft>
              <a:defRPr/>
            </a:pPr>
            <a:endParaRPr sz="2500" baseline="-20833">
              <a:latin typeface="Tahoma"/>
              <a:cs typeface="Tahoma"/>
            </a:endParaRPr>
          </a:p>
        </p:txBody>
      </p:sp>
      <p:sp>
        <p:nvSpPr>
          <p:cNvPr id="48" name="object 48"/>
          <p:cNvSpPr txBox="1"/>
          <p:nvPr/>
        </p:nvSpPr>
        <p:spPr>
          <a:xfrm>
            <a:off x="5903119" y="1550987"/>
            <a:ext cx="3511377" cy="673354"/>
          </a:xfrm>
          <a:prstGeom prst="rect">
            <a:avLst/>
          </a:prstGeom>
        </p:spPr>
        <p:txBody>
          <a:bodyPr wrap="square" lIns="0" tIns="14062" rIns="0" bIns="0">
            <a:spAutoFit/>
          </a:bodyPr>
          <a:lstStyle/>
          <a:p>
            <a:pPr marL="9144" algn="l" rtl="0" fontAlgn="auto">
              <a:spcBef>
                <a:spcPts val="111"/>
              </a:spcBef>
              <a:spcAft>
                <a:spcPts val="0"/>
              </a:spcAft>
            </a:pPr>
            <a:r>
              <a:rPr lang="ar-JO" sz="2100" b="1" spc="-5" dirty="0">
                <a:latin typeface="+mj-lt"/>
                <a:cs typeface="Calibri"/>
              </a:rPr>
              <a:t>CO</a:t>
            </a:r>
            <a:r>
              <a:rPr lang="en-US" sz="2100" b="1" spc="-5" dirty="0">
                <a:latin typeface="+mj-lt"/>
                <a:cs typeface="Calibri"/>
              </a:rPr>
              <a:t>2</a:t>
            </a:r>
            <a:r>
              <a:rPr lang="ar-JO" sz="2100" b="1" spc="-5" dirty="0">
                <a:latin typeface="+mj-lt"/>
                <a:cs typeface="Calibri"/>
              </a:rPr>
              <a:t> </a:t>
            </a:r>
            <a:r>
              <a:rPr lang="ar-JO" sz="2100" b="1" dirty="0">
                <a:latin typeface="+mj-lt"/>
                <a:cs typeface="Calibri"/>
              </a:rPr>
              <a:t>+ Na +</a:t>
            </a:r>
            <a:r>
              <a:rPr lang="ar-JO" sz="2100" b="1" spc="-105" dirty="0">
                <a:latin typeface="+mj-lt"/>
                <a:cs typeface="Calibri"/>
              </a:rPr>
              <a:t> </a:t>
            </a:r>
            <a:r>
              <a:rPr lang="ar-JO" sz="2100" b="1" dirty="0">
                <a:latin typeface="+mj-lt"/>
                <a:cs typeface="Calibri"/>
              </a:rPr>
              <a:t>H</a:t>
            </a:r>
            <a:r>
              <a:rPr lang="en-US" sz="2100" b="1" baseline="-25000" dirty="0">
                <a:latin typeface="+mj-lt"/>
                <a:cs typeface="Calibri"/>
              </a:rPr>
              <a:t>2</a:t>
            </a:r>
            <a:r>
              <a:rPr lang="ar-JO" sz="2100" b="1" dirty="0">
                <a:latin typeface="+mj-lt"/>
                <a:cs typeface="Calibri"/>
              </a:rPr>
              <a:t>O</a:t>
            </a:r>
            <a:endParaRPr lang="ar-JO" sz="2100" dirty="0">
              <a:latin typeface="+mj-lt"/>
              <a:cs typeface="Calibri"/>
            </a:endParaRPr>
          </a:p>
          <a:p>
            <a:pPr marL="13392" algn="l" rtl="0" fontAlgn="auto">
              <a:spcBef>
                <a:spcPts val="111"/>
              </a:spcBef>
              <a:spcAft>
                <a:spcPts val="0"/>
              </a:spcAft>
              <a:defRPr/>
            </a:pPr>
            <a:endParaRPr sz="2100">
              <a:latin typeface="Calibri"/>
              <a:cs typeface="Calibri"/>
            </a:endParaRPr>
          </a:p>
        </p:txBody>
      </p:sp>
      <p:sp>
        <p:nvSpPr>
          <p:cNvPr id="9230" name="object 50"/>
          <p:cNvSpPr>
            <a:spLocks noChangeArrowheads="1"/>
          </p:cNvSpPr>
          <p:nvPr/>
        </p:nvSpPr>
        <p:spPr bwMode="auto">
          <a:xfrm>
            <a:off x="3921919" y="1627187"/>
            <a:ext cx="1937990" cy="220000"/>
          </a:xfrm>
          <a:custGeom>
            <a:avLst/>
            <a:gdLst>
              <a:gd name="T0" fmla="*/ 0 w 937260"/>
              <a:gd name="T1" fmla="*/ 0 h 228600"/>
              <a:gd name="T2" fmla="*/ 937260 w 937260"/>
              <a:gd name="T3" fmla="*/ 228600 h 228600"/>
            </a:gdLst>
            <a:ahLst/>
            <a:cxnLst/>
            <a:rect l="T0" t="T1" r="T2" b="T3"/>
            <a:pathLst>
              <a:path w="937260" h="228600">
                <a:moveTo>
                  <a:pt x="708660" y="0"/>
                </a:moveTo>
                <a:lnTo>
                  <a:pt x="708660" y="228600"/>
                </a:lnTo>
                <a:lnTo>
                  <a:pt x="861060" y="152400"/>
                </a:lnTo>
                <a:lnTo>
                  <a:pt x="746760" y="152400"/>
                </a:lnTo>
                <a:lnTo>
                  <a:pt x="746760" y="76200"/>
                </a:lnTo>
                <a:lnTo>
                  <a:pt x="861060" y="76200"/>
                </a:lnTo>
                <a:lnTo>
                  <a:pt x="708660" y="0"/>
                </a:lnTo>
                <a:close/>
              </a:path>
              <a:path w="937260" h="228600">
                <a:moveTo>
                  <a:pt x="708660" y="76200"/>
                </a:moveTo>
                <a:lnTo>
                  <a:pt x="0" y="76200"/>
                </a:lnTo>
                <a:lnTo>
                  <a:pt x="0" y="152400"/>
                </a:lnTo>
                <a:lnTo>
                  <a:pt x="708660" y="152400"/>
                </a:lnTo>
                <a:lnTo>
                  <a:pt x="708660" y="76200"/>
                </a:lnTo>
                <a:close/>
              </a:path>
              <a:path w="937260" h="228600">
                <a:moveTo>
                  <a:pt x="861060" y="76200"/>
                </a:moveTo>
                <a:lnTo>
                  <a:pt x="746760" y="76200"/>
                </a:lnTo>
                <a:lnTo>
                  <a:pt x="746760" y="152400"/>
                </a:lnTo>
                <a:lnTo>
                  <a:pt x="861060" y="152400"/>
                </a:lnTo>
                <a:lnTo>
                  <a:pt x="937260" y="114300"/>
                </a:lnTo>
                <a:lnTo>
                  <a:pt x="861060" y="76200"/>
                </a:lnTo>
                <a:close/>
              </a:path>
            </a:pathLst>
          </a:custGeom>
          <a:solidFill>
            <a:srgbClr val="FF3300"/>
          </a:solidFill>
          <a:ln w="9525">
            <a:noFill/>
            <a:miter lim="800000"/>
            <a:headEnd/>
            <a:tailEnd/>
          </a:ln>
        </p:spPr>
        <p:txBody>
          <a:bodyPr lIns="0" tIns="0" rIns="0" bIns="0"/>
          <a:lstStyle/>
          <a:p>
            <a:pPr algn="l" rtl="0"/>
            <a:endParaRPr lang="ar-JO">
              <a:latin typeface="Calibri" pitchFamily="34" charset="0"/>
            </a:endParaRPr>
          </a:p>
        </p:txBody>
      </p:sp>
      <p:sp>
        <p:nvSpPr>
          <p:cNvPr id="9231" name="object 51"/>
          <p:cNvSpPr>
            <a:spLocks noChangeArrowheads="1"/>
          </p:cNvSpPr>
          <p:nvPr/>
        </p:nvSpPr>
        <p:spPr bwMode="auto">
          <a:xfrm>
            <a:off x="7808119" y="1703387"/>
            <a:ext cx="1937990" cy="220000"/>
          </a:xfrm>
          <a:custGeom>
            <a:avLst/>
            <a:gdLst>
              <a:gd name="T0" fmla="*/ 0 w 935990"/>
              <a:gd name="T1" fmla="*/ 0 h 228600"/>
              <a:gd name="T2" fmla="*/ 935990 w 935990"/>
              <a:gd name="T3" fmla="*/ 228600 h 228600"/>
            </a:gdLst>
            <a:ahLst/>
            <a:cxnLst/>
            <a:rect l="T0" t="T1" r="T2" b="T3"/>
            <a:pathLst>
              <a:path w="935990" h="228600">
                <a:moveTo>
                  <a:pt x="707136" y="0"/>
                </a:moveTo>
                <a:lnTo>
                  <a:pt x="707136" y="228600"/>
                </a:lnTo>
                <a:lnTo>
                  <a:pt x="859536" y="152400"/>
                </a:lnTo>
                <a:lnTo>
                  <a:pt x="745236" y="152400"/>
                </a:lnTo>
                <a:lnTo>
                  <a:pt x="745236" y="76200"/>
                </a:lnTo>
                <a:lnTo>
                  <a:pt x="859536" y="76200"/>
                </a:lnTo>
                <a:lnTo>
                  <a:pt x="707136" y="0"/>
                </a:lnTo>
                <a:close/>
              </a:path>
              <a:path w="935990" h="228600">
                <a:moveTo>
                  <a:pt x="707136" y="76200"/>
                </a:moveTo>
                <a:lnTo>
                  <a:pt x="0" y="76200"/>
                </a:lnTo>
                <a:lnTo>
                  <a:pt x="0" y="152400"/>
                </a:lnTo>
                <a:lnTo>
                  <a:pt x="707136" y="152400"/>
                </a:lnTo>
                <a:lnTo>
                  <a:pt x="707136" y="76200"/>
                </a:lnTo>
                <a:close/>
              </a:path>
              <a:path w="935990" h="228600">
                <a:moveTo>
                  <a:pt x="859536" y="76200"/>
                </a:moveTo>
                <a:lnTo>
                  <a:pt x="745236" y="76200"/>
                </a:lnTo>
                <a:lnTo>
                  <a:pt x="745236" y="152400"/>
                </a:lnTo>
                <a:lnTo>
                  <a:pt x="859536" y="152400"/>
                </a:lnTo>
                <a:lnTo>
                  <a:pt x="935736" y="114300"/>
                </a:lnTo>
                <a:lnTo>
                  <a:pt x="859536" y="76200"/>
                </a:lnTo>
                <a:close/>
              </a:path>
            </a:pathLst>
          </a:custGeom>
          <a:solidFill>
            <a:srgbClr val="FF3300"/>
          </a:solidFill>
          <a:ln w="9525">
            <a:noFill/>
            <a:miter lim="800000"/>
            <a:headEnd/>
            <a:tailEnd/>
          </a:ln>
        </p:spPr>
        <p:txBody>
          <a:bodyPr lIns="0" tIns="0" rIns="0" bIns="0"/>
          <a:lstStyle/>
          <a:p>
            <a:pPr algn="l" rtl="0"/>
            <a:endParaRPr lang="ar-JO">
              <a:latin typeface="Calibri" pitchFamily="34" charset="0"/>
            </a:endParaRPr>
          </a:p>
        </p:txBody>
      </p:sp>
      <p:sp>
        <p:nvSpPr>
          <p:cNvPr id="9234" name="object 54"/>
          <p:cNvSpPr txBox="1">
            <a:spLocks noChangeArrowheads="1"/>
          </p:cNvSpPr>
          <p:nvPr/>
        </p:nvSpPr>
        <p:spPr bwMode="auto">
          <a:xfrm>
            <a:off x="416719" y="3507791"/>
            <a:ext cx="7010400" cy="819883"/>
          </a:xfrm>
          <a:prstGeom prst="rect">
            <a:avLst/>
          </a:prstGeom>
          <a:noFill/>
          <a:ln w="9525">
            <a:noFill/>
            <a:miter lim="800000"/>
            <a:headEnd/>
            <a:tailEnd/>
          </a:ln>
        </p:spPr>
        <p:txBody>
          <a:bodyPr wrap="square" lIns="0" tIns="62273" rIns="0" bIns="0">
            <a:spAutoFit/>
          </a:bodyPr>
          <a:lstStyle/>
          <a:p>
            <a:pPr algn="l" rtl="0">
              <a:lnSpc>
                <a:spcPts val="3084"/>
              </a:lnSpc>
              <a:spcBef>
                <a:spcPts val="26"/>
              </a:spcBef>
            </a:pPr>
            <a:endParaRPr lang="ar-JO" sz="2100" b="1" dirty="0">
              <a:solidFill>
                <a:srgbClr val="FF0066"/>
              </a:solidFill>
              <a:latin typeface="+mn-lt"/>
            </a:endParaRPr>
          </a:p>
          <a:p>
            <a:pPr algn="l" rtl="0">
              <a:lnSpc>
                <a:spcPts val="3084"/>
              </a:lnSpc>
              <a:spcBef>
                <a:spcPts val="26"/>
              </a:spcBef>
            </a:pPr>
            <a:endParaRPr lang="ar-JO" sz="2100" dirty="0">
              <a:latin typeface="+mn-lt"/>
            </a:endParaRPr>
          </a:p>
        </p:txBody>
      </p:sp>
      <p:sp>
        <p:nvSpPr>
          <p:cNvPr id="9237" name="object 57"/>
          <p:cNvSpPr>
            <a:spLocks noChangeArrowheads="1"/>
          </p:cNvSpPr>
          <p:nvPr/>
        </p:nvSpPr>
        <p:spPr bwMode="auto">
          <a:xfrm>
            <a:off x="1254919" y="1627187"/>
            <a:ext cx="2212742" cy="1596318"/>
          </a:xfrm>
          <a:custGeom>
            <a:avLst/>
            <a:gdLst>
              <a:gd name="T0" fmla="*/ 0 w 2755900"/>
              <a:gd name="T1" fmla="*/ 0 h 2178685"/>
              <a:gd name="T2" fmla="*/ 2755900 w 2755900"/>
              <a:gd name="T3" fmla="*/ 2178685 h 2178685"/>
            </a:gdLst>
            <a:ahLst/>
            <a:cxnLst/>
            <a:rect l="T0" t="T1" r="T2" b="T3"/>
            <a:pathLst>
              <a:path w="2755900" h="2178685">
                <a:moveTo>
                  <a:pt x="1676400" y="114300"/>
                </a:moveTo>
                <a:lnTo>
                  <a:pt x="1600200" y="76200"/>
                </a:lnTo>
                <a:lnTo>
                  <a:pt x="1447800" y="0"/>
                </a:lnTo>
                <a:lnTo>
                  <a:pt x="1447800" y="76200"/>
                </a:lnTo>
                <a:lnTo>
                  <a:pt x="740664" y="76200"/>
                </a:lnTo>
                <a:lnTo>
                  <a:pt x="740664" y="152400"/>
                </a:lnTo>
                <a:lnTo>
                  <a:pt x="1447800" y="152400"/>
                </a:lnTo>
                <a:lnTo>
                  <a:pt x="1447800" y="228600"/>
                </a:lnTo>
                <a:lnTo>
                  <a:pt x="1600200" y="152400"/>
                </a:lnTo>
                <a:lnTo>
                  <a:pt x="1676400" y="114300"/>
                </a:lnTo>
                <a:close/>
              </a:path>
              <a:path w="2755900" h="2178685">
                <a:moveTo>
                  <a:pt x="2755900" y="2102104"/>
                </a:moveTo>
                <a:lnTo>
                  <a:pt x="152400" y="2102104"/>
                </a:lnTo>
                <a:lnTo>
                  <a:pt x="152400" y="487680"/>
                </a:lnTo>
                <a:lnTo>
                  <a:pt x="228600" y="487680"/>
                </a:lnTo>
                <a:lnTo>
                  <a:pt x="209550" y="449580"/>
                </a:lnTo>
                <a:lnTo>
                  <a:pt x="114300" y="259080"/>
                </a:lnTo>
                <a:lnTo>
                  <a:pt x="0" y="487680"/>
                </a:lnTo>
                <a:lnTo>
                  <a:pt x="76200" y="487680"/>
                </a:lnTo>
                <a:lnTo>
                  <a:pt x="76200" y="2178304"/>
                </a:lnTo>
                <a:lnTo>
                  <a:pt x="2755900" y="2178304"/>
                </a:lnTo>
                <a:lnTo>
                  <a:pt x="2755900" y="2140204"/>
                </a:lnTo>
                <a:lnTo>
                  <a:pt x="2755900" y="2102104"/>
                </a:lnTo>
                <a:close/>
              </a:path>
            </a:pathLst>
          </a:custGeom>
          <a:solidFill>
            <a:srgbClr val="FF3300"/>
          </a:solidFill>
          <a:ln w="9525">
            <a:noFill/>
            <a:miter lim="800000"/>
            <a:headEnd/>
            <a:tailEnd/>
          </a:ln>
        </p:spPr>
        <p:txBody>
          <a:bodyPr lIns="0" tIns="0" rIns="0" bIns="0"/>
          <a:lstStyle/>
          <a:p>
            <a:pPr algn="l" rtl="0"/>
            <a:endParaRPr lang="ar-JO">
              <a:latin typeface="Calibri" pitchFamily="34" charset="0"/>
            </a:endParaRPr>
          </a:p>
        </p:txBody>
      </p:sp>
      <p:sp>
        <p:nvSpPr>
          <p:cNvPr id="60" name="Rectangle 59"/>
          <p:cNvSpPr/>
          <p:nvPr/>
        </p:nvSpPr>
        <p:spPr>
          <a:xfrm>
            <a:off x="416719" y="255587"/>
            <a:ext cx="6588125" cy="523220"/>
          </a:xfrm>
          <a:prstGeom prst="rect">
            <a:avLst/>
          </a:prstGeom>
        </p:spPr>
        <p:txBody>
          <a:bodyPr wrap="square">
            <a:spAutoFit/>
          </a:bodyPr>
          <a:lstStyle/>
          <a:p>
            <a:pPr algn="l" rtl="0">
              <a:spcBef>
                <a:spcPts val="0"/>
              </a:spcBef>
              <a:spcAft>
                <a:spcPts val="0"/>
              </a:spcAft>
            </a:pPr>
            <a:r>
              <a:rPr lang="ar-JO" sz="2800" b="1" spc="-21" dirty="0">
                <a:solidFill>
                  <a:srgbClr val="FF0000"/>
                </a:solidFill>
                <a:latin typeface="+mn-lt"/>
                <a:cs typeface="Calibri"/>
              </a:rPr>
              <a:t>I</a:t>
            </a:r>
            <a:r>
              <a:rPr lang="ar-JO" sz="2800" b="1" spc="-21" dirty="0">
                <a:solidFill>
                  <a:srgbClr val="FF3300"/>
                </a:solidFill>
                <a:latin typeface="+mn-lt"/>
                <a:ea typeface="+mj-ea"/>
                <a:cs typeface="Calibri"/>
              </a:rPr>
              <a:t>MVi</a:t>
            </a:r>
            <a:r>
              <a:rPr lang="ar-JO" sz="2800" b="1" spc="-21" dirty="0">
                <a:latin typeface="+mn-lt"/>
                <a:ea typeface="+mj-ea"/>
                <a:cs typeface="Calibri"/>
              </a:rPr>
              <a:t>C</a:t>
            </a:r>
            <a:r>
              <a:rPr lang="ar-JO" sz="2800" b="1" spc="-21" dirty="0">
                <a:solidFill>
                  <a:srgbClr val="FF3300"/>
                </a:solidFill>
                <a:latin typeface="+mn-lt"/>
                <a:ea typeface="+mj-ea"/>
                <a:cs typeface="Calibri"/>
              </a:rPr>
              <a:t> test</a:t>
            </a:r>
            <a:r>
              <a:rPr lang="en-US" sz="2800" b="1" spc="-21" dirty="0">
                <a:solidFill>
                  <a:srgbClr val="FF3300"/>
                </a:solidFill>
                <a:latin typeface="+mn-lt"/>
                <a:cs typeface="Calibri"/>
              </a:rPr>
              <a:t>:</a:t>
            </a:r>
            <a:r>
              <a:rPr lang="en-US" sz="2800" b="1" spc="-5" dirty="0">
                <a:latin typeface="+mn-lt"/>
                <a:cs typeface="Arial"/>
              </a:rPr>
              <a:t>C</a:t>
            </a:r>
            <a:r>
              <a:rPr lang="en-US" sz="2800" b="1" spc="-5" dirty="0">
                <a:solidFill>
                  <a:srgbClr val="FF0000"/>
                </a:solidFill>
                <a:latin typeface="+mn-lt"/>
                <a:cs typeface="Arial"/>
              </a:rPr>
              <a:t>itrate </a:t>
            </a:r>
            <a:r>
              <a:rPr lang="en-US" sz="2800" b="1" spc="-58" dirty="0">
                <a:solidFill>
                  <a:srgbClr val="FF0000"/>
                </a:solidFill>
                <a:latin typeface="+mn-lt"/>
                <a:cs typeface="Arial"/>
              </a:rPr>
              <a:t>test</a:t>
            </a:r>
            <a:endParaRPr lang="ar-JO" sz="2800" b="1" dirty="0">
              <a:solidFill>
                <a:srgbClr val="FF0000"/>
              </a:solidFill>
            </a:endParaRPr>
          </a:p>
        </p:txBody>
      </p:sp>
      <p:sp>
        <p:nvSpPr>
          <p:cNvPr id="63" name="Rectangle 62"/>
          <p:cNvSpPr/>
          <p:nvPr/>
        </p:nvSpPr>
        <p:spPr>
          <a:xfrm>
            <a:off x="1407319" y="4065587"/>
            <a:ext cx="4087401" cy="443070"/>
          </a:xfrm>
          <a:prstGeom prst="rect">
            <a:avLst/>
          </a:prstGeom>
          <a:ln>
            <a:solidFill>
              <a:srgbClr val="FF0000"/>
            </a:solidFill>
          </a:ln>
        </p:spPr>
        <p:txBody>
          <a:bodyPr wrap="none">
            <a:spAutoFit/>
          </a:bodyPr>
          <a:lstStyle/>
          <a:p>
            <a:pPr algn="l" rtl="0">
              <a:lnSpc>
                <a:spcPts val="3084"/>
              </a:lnSpc>
              <a:spcBef>
                <a:spcPts val="26"/>
              </a:spcBef>
            </a:pPr>
            <a:r>
              <a:rPr lang="ar-JO" b="1" dirty="0"/>
              <a:t>Simmone’s Citrate</a:t>
            </a:r>
            <a:r>
              <a:rPr lang="en-US" b="1" dirty="0"/>
              <a:t> slant agar </a:t>
            </a:r>
            <a:r>
              <a:rPr lang="ar-JO" b="1" dirty="0"/>
              <a:t>media</a:t>
            </a:r>
            <a:endParaRPr lang="en-US" b="1" dirty="0"/>
          </a:p>
        </p:txBody>
      </p:sp>
      <p:cxnSp>
        <p:nvCxnSpPr>
          <p:cNvPr id="70" name="Straight Arrow Connector 69"/>
          <p:cNvCxnSpPr/>
          <p:nvPr/>
        </p:nvCxnSpPr>
        <p:spPr>
          <a:xfrm>
            <a:off x="3886200" y="5665788"/>
            <a:ext cx="1219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2" name="Straight Arrow Connector 71"/>
          <p:cNvCxnSpPr/>
          <p:nvPr/>
        </p:nvCxnSpPr>
        <p:spPr>
          <a:xfrm>
            <a:off x="3810000" y="5741988"/>
            <a:ext cx="1295400" cy="457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4" name="Straight Arrow Connector 73"/>
          <p:cNvCxnSpPr/>
          <p:nvPr/>
        </p:nvCxnSpPr>
        <p:spPr>
          <a:xfrm flipV="1">
            <a:off x="3810000" y="5132388"/>
            <a:ext cx="1143000" cy="457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7" name="Rectangle 76"/>
          <p:cNvSpPr/>
          <p:nvPr/>
        </p:nvSpPr>
        <p:spPr>
          <a:xfrm>
            <a:off x="4216393" y="5360988"/>
            <a:ext cx="1736629" cy="369332"/>
          </a:xfrm>
          <a:prstGeom prst="rect">
            <a:avLst/>
          </a:prstGeom>
        </p:spPr>
        <p:txBody>
          <a:bodyPr wrap="none">
            <a:spAutoFit/>
          </a:bodyPr>
          <a:lstStyle/>
          <a:p>
            <a:r>
              <a:rPr lang="en-US" dirty="0">
                <a:latin typeface="+mn-lt"/>
              </a:rPr>
              <a:t>Neutral :   </a:t>
            </a:r>
            <a:r>
              <a:rPr lang="en-US" dirty="0">
                <a:solidFill>
                  <a:srgbClr val="00B050"/>
                </a:solidFill>
                <a:latin typeface="+mn-lt"/>
              </a:rPr>
              <a:t>Green</a:t>
            </a:r>
            <a:endParaRPr lang="ar-JO" dirty="0">
              <a:solidFill>
                <a:srgbClr val="00B050"/>
              </a:solidFill>
              <a:latin typeface="+mn-lt"/>
            </a:endParaRPr>
          </a:p>
        </p:txBody>
      </p:sp>
      <p:sp>
        <p:nvSpPr>
          <p:cNvPr id="78" name="Rectangle 77"/>
          <p:cNvSpPr/>
          <p:nvPr/>
        </p:nvSpPr>
        <p:spPr>
          <a:xfrm rot="20297833">
            <a:off x="3892579" y="4826004"/>
            <a:ext cx="1560876" cy="369332"/>
          </a:xfrm>
          <a:prstGeom prst="rect">
            <a:avLst/>
          </a:prstGeom>
        </p:spPr>
        <p:txBody>
          <a:bodyPr wrap="none">
            <a:spAutoFit/>
          </a:bodyPr>
          <a:lstStyle/>
          <a:p>
            <a:r>
              <a:rPr lang="en-US" dirty="0">
                <a:latin typeface="+mn-lt"/>
              </a:rPr>
              <a:t>Alkaline :  </a:t>
            </a:r>
            <a:r>
              <a:rPr lang="en-US" dirty="0">
                <a:solidFill>
                  <a:schemeClr val="accent5">
                    <a:lumMod val="50000"/>
                  </a:schemeClr>
                </a:solidFill>
                <a:latin typeface="+mn-lt"/>
              </a:rPr>
              <a:t>Blue</a:t>
            </a:r>
            <a:endParaRPr lang="ar-JO" dirty="0">
              <a:solidFill>
                <a:schemeClr val="accent5">
                  <a:lumMod val="50000"/>
                </a:schemeClr>
              </a:solidFill>
              <a:latin typeface="+mn-lt"/>
            </a:endParaRPr>
          </a:p>
        </p:txBody>
      </p:sp>
      <p:sp>
        <p:nvSpPr>
          <p:cNvPr id="79" name="Rectangle 78"/>
          <p:cNvSpPr/>
          <p:nvPr/>
        </p:nvSpPr>
        <p:spPr>
          <a:xfrm rot="1295951">
            <a:off x="3732295" y="6191357"/>
            <a:ext cx="1979037" cy="369332"/>
          </a:xfrm>
          <a:prstGeom prst="rect">
            <a:avLst/>
          </a:prstGeom>
        </p:spPr>
        <p:txBody>
          <a:bodyPr wrap="square">
            <a:spAutoFit/>
          </a:bodyPr>
          <a:lstStyle/>
          <a:p>
            <a:pPr algn="l" rtl="0"/>
            <a:r>
              <a:rPr lang="en-US" dirty="0">
                <a:latin typeface="+mn-lt"/>
              </a:rPr>
              <a:t>Acidic : </a:t>
            </a:r>
            <a:r>
              <a:rPr lang="en-US" dirty="0">
                <a:solidFill>
                  <a:srgbClr val="FFFF00"/>
                </a:solidFill>
                <a:latin typeface="+mn-lt"/>
              </a:rPr>
              <a:t>Yellow   </a:t>
            </a:r>
            <a:endParaRPr lang="ar-JO" dirty="0">
              <a:solidFill>
                <a:srgbClr val="FFFF00"/>
              </a:solidFill>
              <a:latin typeface="+mn-lt"/>
            </a:endParaRPr>
          </a:p>
        </p:txBody>
      </p:sp>
      <p:sp>
        <p:nvSpPr>
          <p:cNvPr id="80" name="Rectangle 79"/>
          <p:cNvSpPr/>
          <p:nvPr/>
        </p:nvSpPr>
        <p:spPr>
          <a:xfrm>
            <a:off x="416719" y="4522788"/>
            <a:ext cx="6588125" cy="1284967"/>
          </a:xfrm>
          <a:prstGeom prst="rect">
            <a:avLst/>
          </a:prstGeom>
        </p:spPr>
        <p:txBody>
          <a:bodyPr>
            <a:spAutoFit/>
          </a:bodyPr>
          <a:lstStyle/>
          <a:p>
            <a:pPr algn="l" rtl="0">
              <a:lnSpc>
                <a:spcPts val="3084"/>
              </a:lnSpc>
              <a:spcBef>
                <a:spcPts val="26"/>
              </a:spcBef>
              <a:spcAft>
                <a:spcPts val="0"/>
              </a:spcAft>
            </a:pPr>
            <a:r>
              <a:rPr lang="ar-JO" b="1" dirty="0">
                <a:solidFill>
                  <a:schemeClr val="accent3">
                    <a:lumMod val="50000"/>
                  </a:schemeClr>
                </a:solidFill>
                <a:latin typeface="Calibri"/>
                <a:cs typeface="Calibri"/>
              </a:rPr>
              <a:t>Simmone’s Citrate media  Contains </a:t>
            </a:r>
            <a:endParaRPr lang="en-US" b="1" dirty="0">
              <a:solidFill>
                <a:schemeClr val="accent3">
                  <a:lumMod val="50000"/>
                </a:schemeClr>
              </a:solidFill>
              <a:latin typeface="Calibri"/>
              <a:cs typeface="Arial"/>
            </a:endParaRPr>
          </a:p>
          <a:p>
            <a:pPr algn="l" rtl="0">
              <a:lnSpc>
                <a:spcPts val="3084"/>
              </a:lnSpc>
              <a:spcBef>
                <a:spcPts val="26"/>
              </a:spcBef>
              <a:spcAft>
                <a:spcPts val="0"/>
              </a:spcAft>
            </a:pPr>
            <a:r>
              <a:rPr lang="ar-JO" b="1" dirty="0">
                <a:latin typeface="Calibri"/>
                <a:cs typeface="Calibri"/>
              </a:rPr>
              <a:t>Citrate as a </a:t>
            </a:r>
            <a:r>
              <a:rPr lang="en-US" b="1" dirty="0">
                <a:latin typeface="Calibri"/>
                <a:cs typeface="Arial"/>
              </a:rPr>
              <a:t>carbon</a:t>
            </a:r>
            <a:r>
              <a:rPr lang="ar-JO" b="1" dirty="0">
                <a:latin typeface="Calibri"/>
                <a:cs typeface="Calibri"/>
              </a:rPr>
              <a:t> source</a:t>
            </a:r>
            <a:endParaRPr lang="ar-JO" dirty="0"/>
          </a:p>
          <a:p>
            <a:pPr algn="l" rtl="0">
              <a:lnSpc>
                <a:spcPts val="3084"/>
              </a:lnSpc>
              <a:spcBef>
                <a:spcPts val="26"/>
              </a:spcBef>
              <a:spcAft>
                <a:spcPts val="0"/>
              </a:spcAft>
            </a:pPr>
            <a:r>
              <a:rPr lang="en-US" b="1" spc="-11" dirty="0">
                <a:latin typeface="Calibri"/>
                <a:cs typeface="Calibri"/>
              </a:rPr>
              <a:t>Bromothymol</a:t>
            </a:r>
            <a:r>
              <a:rPr lang="en-US" b="1" spc="-74" dirty="0">
                <a:latin typeface="Calibri"/>
                <a:cs typeface="Calibri"/>
              </a:rPr>
              <a:t> </a:t>
            </a:r>
            <a:r>
              <a:rPr lang="en-US" b="1" spc="-5" dirty="0">
                <a:latin typeface="Calibri"/>
                <a:cs typeface="Calibri"/>
              </a:rPr>
              <a:t>blue :pH indicator</a:t>
            </a:r>
            <a:endParaRPr lang="en-US" dirty="0">
              <a:latin typeface="Calibri"/>
              <a:cs typeface="Calibri"/>
            </a:endParaRPr>
          </a:p>
        </p:txBody>
      </p:sp>
      <p:sp>
        <p:nvSpPr>
          <p:cNvPr id="81" name="Rectangle 80"/>
          <p:cNvSpPr/>
          <p:nvPr/>
        </p:nvSpPr>
        <p:spPr>
          <a:xfrm>
            <a:off x="569119" y="788987"/>
            <a:ext cx="11658600" cy="646331"/>
          </a:xfrm>
          <a:prstGeom prst="rect">
            <a:avLst/>
          </a:prstGeom>
          <a:ln>
            <a:solidFill>
              <a:schemeClr val="accent2"/>
            </a:solidFill>
          </a:ln>
        </p:spPr>
        <p:txBody>
          <a:bodyPr wrap="square">
            <a:spAutoFit/>
          </a:bodyPr>
          <a:lstStyle/>
          <a:p>
            <a:pPr algn="l" rtl="0"/>
            <a:r>
              <a:rPr lang="ar-JO" b="1" spc="-5" dirty="0">
                <a:solidFill>
                  <a:srgbClr val="FF0000"/>
                </a:solidFill>
                <a:latin typeface="+mn-lt"/>
                <a:cs typeface="Calibri"/>
              </a:rPr>
              <a:t>Principle</a:t>
            </a:r>
            <a:r>
              <a:rPr lang="ar-JO" b="1" spc="-5" dirty="0">
                <a:latin typeface="+mn-lt"/>
                <a:cs typeface="Calibri"/>
              </a:rPr>
              <a:t>: </a:t>
            </a:r>
            <a:r>
              <a:rPr lang="en-US" dirty="0">
                <a:latin typeface="+mn-lt"/>
              </a:rPr>
              <a:t>Often  used  for  the  detection  of  gram-negative  enteric  bacilli  based  on  the  ability  of  an  organism  to  use  citrate  as  the source of carbon and energy .</a:t>
            </a:r>
            <a:endParaRPr lang="ar-JO" dirty="0">
              <a:latin typeface="+mn-lt"/>
            </a:endParaRPr>
          </a:p>
        </p:txBody>
      </p:sp>
      <p:pic>
        <p:nvPicPr>
          <p:cNvPr id="2050" name="Picture 2"/>
          <p:cNvPicPr>
            <a:picLocks noChangeAspect="1" noChangeArrowheads="1"/>
          </p:cNvPicPr>
          <p:nvPr/>
        </p:nvPicPr>
        <p:blipFill>
          <a:blip r:embed="rId2"/>
          <a:srcRect/>
          <a:stretch>
            <a:fillRect/>
          </a:stretch>
        </p:blipFill>
        <p:spPr bwMode="auto">
          <a:xfrm>
            <a:off x="4226719" y="2008187"/>
            <a:ext cx="1285875" cy="1381125"/>
          </a:xfrm>
          <a:prstGeom prst="rect">
            <a:avLst/>
          </a:prstGeom>
          <a:noFill/>
          <a:ln w="9525">
            <a:noFill/>
            <a:miter lim="800000"/>
            <a:headEnd/>
            <a:tailEnd/>
          </a:ln>
          <a:effectLst/>
        </p:spPr>
      </p:pic>
      <p:sp>
        <p:nvSpPr>
          <p:cNvPr id="87" name="object 4"/>
          <p:cNvSpPr>
            <a:spLocks noChangeArrowheads="1"/>
          </p:cNvSpPr>
          <p:nvPr/>
        </p:nvSpPr>
        <p:spPr bwMode="auto">
          <a:xfrm>
            <a:off x="4988719" y="2998787"/>
            <a:ext cx="4191000" cy="228600"/>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00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a:latin typeface="+mn-lt"/>
            </a:endParaRPr>
          </a:p>
        </p:txBody>
      </p:sp>
      <p:sp>
        <p:nvSpPr>
          <p:cNvPr id="89" name="Rectangle 88"/>
          <p:cNvSpPr/>
          <p:nvPr/>
        </p:nvSpPr>
        <p:spPr>
          <a:xfrm>
            <a:off x="5141119" y="2389187"/>
            <a:ext cx="3681072" cy="646331"/>
          </a:xfrm>
          <a:prstGeom prst="rect">
            <a:avLst/>
          </a:prstGeom>
        </p:spPr>
        <p:txBody>
          <a:bodyPr wrap="none">
            <a:spAutoFit/>
          </a:bodyPr>
          <a:lstStyle/>
          <a:p>
            <a:pPr algn="ctr" rtl="0"/>
            <a:r>
              <a:rPr lang="en-US" b="1" dirty="0">
                <a:latin typeface="+mn-lt"/>
              </a:rPr>
              <a:t>inoculate the slant surface by sterile </a:t>
            </a:r>
          </a:p>
          <a:p>
            <a:pPr algn="ctr" rtl="0"/>
            <a:r>
              <a:rPr lang="en-US" b="1" dirty="0">
                <a:latin typeface="+mn-lt"/>
              </a:rPr>
              <a:t>cooled loop through streaking</a:t>
            </a:r>
            <a:endParaRPr lang="ar-JO" b="1" dirty="0">
              <a:latin typeface="+mn-lt"/>
            </a:endParaRPr>
          </a:p>
        </p:txBody>
      </p:sp>
      <p:cxnSp>
        <p:nvCxnSpPr>
          <p:cNvPr id="90" name="Straight Arrow Connector 89"/>
          <p:cNvCxnSpPr/>
          <p:nvPr/>
        </p:nvCxnSpPr>
        <p:spPr>
          <a:xfrm rot="5400000">
            <a:off x="9866313" y="3378993"/>
            <a:ext cx="3048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2" name="Rectangle 91"/>
          <p:cNvSpPr/>
          <p:nvPr/>
        </p:nvSpPr>
        <p:spPr>
          <a:xfrm>
            <a:off x="9103519" y="2846387"/>
            <a:ext cx="3027880" cy="369332"/>
          </a:xfrm>
          <a:prstGeom prst="rect">
            <a:avLst/>
          </a:prstGeom>
        </p:spPr>
        <p:txBody>
          <a:bodyPr wrap="none">
            <a:spAutoFit/>
          </a:bodyPr>
          <a:lstStyle/>
          <a:p>
            <a:pPr algn="l" rtl="0"/>
            <a:r>
              <a:rPr lang="en-US" b="1" dirty="0">
                <a:latin typeface="+mn-lt"/>
              </a:rPr>
              <a:t>incubate at 37°C for 48 hours.</a:t>
            </a:r>
            <a:endParaRPr lang="ar-JO" b="1" dirty="0">
              <a:latin typeface="+mn-lt"/>
            </a:endParaRPr>
          </a:p>
        </p:txBody>
      </p:sp>
      <p:cxnSp>
        <p:nvCxnSpPr>
          <p:cNvPr id="95" name="Straight Arrow Connector 94"/>
          <p:cNvCxnSpPr/>
          <p:nvPr/>
        </p:nvCxnSpPr>
        <p:spPr>
          <a:xfrm rot="10800000" flipV="1">
            <a:off x="8874919" y="3760787"/>
            <a:ext cx="685800" cy="381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6" name="Rectangle 95"/>
          <p:cNvSpPr/>
          <p:nvPr/>
        </p:nvSpPr>
        <p:spPr>
          <a:xfrm>
            <a:off x="9636919" y="3532187"/>
            <a:ext cx="948721" cy="400110"/>
          </a:xfrm>
          <a:prstGeom prst="rect">
            <a:avLst/>
          </a:prstGeom>
        </p:spPr>
        <p:txBody>
          <a:bodyPr wrap="none">
            <a:spAutoFit/>
          </a:bodyPr>
          <a:lstStyle/>
          <a:p>
            <a:r>
              <a:rPr lang="en-US" sz="2000" b="1" dirty="0">
                <a:latin typeface="+mn-lt"/>
              </a:rPr>
              <a:t>Results</a:t>
            </a:r>
            <a:endParaRPr lang="ar-JO" sz="2000" b="1" dirty="0">
              <a:latin typeface="+mn-lt"/>
            </a:endParaRPr>
          </a:p>
        </p:txBody>
      </p:sp>
      <p:pic>
        <p:nvPicPr>
          <p:cNvPr id="2051" name="Picture 3"/>
          <p:cNvPicPr>
            <a:picLocks noChangeAspect="1" noChangeArrowheads="1"/>
          </p:cNvPicPr>
          <p:nvPr/>
        </p:nvPicPr>
        <p:blipFill>
          <a:blip r:embed="rId3"/>
          <a:srcRect/>
          <a:stretch>
            <a:fillRect/>
          </a:stretch>
        </p:blipFill>
        <p:spPr bwMode="auto">
          <a:xfrm>
            <a:off x="3159919" y="1855787"/>
            <a:ext cx="914400" cy="2209800"/>
          </a:xfrm>
          <a:prstGeom prst="rect">
            <a:avLst/>
          </a:prstGeom>
          <a:noFill/>
          <a:ln w="9525">
            <a:noFill/>
            <a:miter lim="800000"/>
            <a:headEnd/>
            <a:tailEnd/>
          </a:ln>
          <a:effectLst/>
        </p:spPr>
      </p:pic>
      <p:sp>
        <p:nvSpPr>
          <p:cNvPr id="101" name="Rectangle 100"/>
          <p:cNvSpPr/>
          <p:nvPr/>
        </p:nvSpPr>
        <p:spPr>
          <a:xfrm>
            <a:off x="6512719" y="3913187"/>
            <a:ext cx="3505199" cy="1292662"/>
          </a:xfrm>
          <a:prstGeom prst="rect">
            <a:avLst/>
          </a:prstGeom>
        </p:spPr>
        <p:txBody>
          <a:bodyPr wrap="square">
            <a:spAutoFit/>
          </a:bodyPr>
          <a:lstStyle/>
          <a:p>
            <a:pPr algn="l" rtl="0"/>
            <a:r>
              <a:rPr lang="en-US" sz="2000" b="1" dirty="0">
                <a:latin typeface="+mn-lt"/>
              </a:rPr>
              <a:t>Citrate</a:t>
            </a:r>
            <a:r>
              <a:rPr lang="en-US" sz="2000" dirty="0">
                <a:latin typeface="+mn-lt"/>
              </a:rPr>
              <a:t> </a:t>
            </a:r>
            <a:r>
              <a:rPr lang="en-US" sz="2800" b="1" dirty="0">
                <a:latin typeface="+mn-lt"/>
              </a:rPr>
              <a:t>+</a:t>
            </a:r>
            <a:r>
              <a:rPr lang="en-US" dirty="0">
                <a:latin typeface="+mn-lt"/>
              </a:rPr>
              <a:t> </a:t>
            </a:r>
          </a:p>
          <a:p>
            <a:pPr algn="l" rtl="0">
              <a:buFont typeface="Wingdings" pitchFamily="2" charset="2"/>
              <a:buChar char="§"/>
            </a:pPr>
            <a:r>
              <a:rPr lang="en-US" sz="1600" dirty="0">
                <a:latin typeface="+mn-lt"/>
              </a:rPr>
              <a:t>If there is growth </a:t>
            </a:r>
          </a:p>
          <a:p>
            <a:pPr algn="l" rtl="0">
              <a:buFont typeface="Wingdings" pitchFamily="2" charset="2"/>
              <a:buChar char="§"/>
            </a:pPr>
            <a:r>
              <a:rPr lang="en-US" sz="1600" dirty="0">
                <a:latin typeface="+mn-lt"/>
              </a:rPr>
              <a:t>and/or the color of the media </a:t>
            </a:r>
          </a:p>
          <a:p>
            <a:pPr algn="l" rtl="0"/>
            <a:r>
              <a:rPr lang="en-US" sz="1600" dirty="0">
                <a:latin typeface="+mn-lt"/>
              </a:rPr>
              <a:t>converted from green to the blue</a:t>
            </a:r>
            <a:endParaRPr lang="ar-JO" sz="1600" dirty="0">
              <a:latin typeface="+mn-lt"/>
            </a:endParaRPr>
          </a:p>
        </p:txBody>
      </p:sp>
      <p:sp>
        <p:nvSpPr>
          <p:cNvPr id="102" name="Rectangle 101"/>
          <p:cNvSpPr/>
          <p:nvPr/>
        </p:nvSpPr>
        <p:spPr>
          <a:xfrm>
            <a:off x="11313318" y="4056773"/>
            <a:ext cx="1649001" cy="1754326"/>
          </a:xfrm>
          <a:prstGeom prst="rect">
            <a:avLst/>
          </a:prstGeom>
        </p:spPr>
        <p:txBody>
          <a:bodyPr wrap="square">
            <a:spAutoFit/>
          </a:bodyPr>
          <a:lstStyle/>
          <a:p>
            <a:pPr algn="l" rtl="0"/>
            <a:r>
              <a:rPr lang="en-US" sz="2000" b="1" dirty="0">
                <a:latin typeface="+mn-lt"/>
              </a:rPr>
              <a:t>Citrate</a:t>
            </a:r>
            <a:r>
              <a:rPr lang="en-US" sz="2000" dirty="0">
                <a:latin typeface="+mn-lt"/>
              </a:rPr>
              <a:t> </a:t>
            </a:r>
            <a:r>
              <a:rPr lang="en-US" sz="2800" b="1" dirty="0">
                <a:latin typeface="+mn-lt"/>
              </a:rPr>
              <a:t>-</a:t>
            </a:r>
            <a:r>
              <a:rPr lang="en-US" dirty="0">
                <a:latin typeface="+mn-lt"/>
              </a:rPr>
              <a:t> </a:t>
            </a:r>
          </a:p>
          <a:p>
            <a:pPr algn="l" rtl="0">
              <a:buFont typeface="Wingdings" pitchFamily="2" charset="2"/>
              <a:buChar char="§"/>
            </a:pPr>
            <a:r>
              <a:rPr lang="en-US" sz="1600" dirty="0">
                <a:latin typeface="+mn-lt"/>
              </a:rPr>
              <a:t>If there is no growth </a:t>
            </a:r>
          </a:p>
          <a:p>
            <a:pPr algn="l" rtl="0">
              <a:buFont typeface="Wingdings" pitchFamily="2" charset="2"/>
              <a:buChar char="§"/>
            </a:pPr>
            <a:r>
              <a:rPr lang="en-US" sz="1600" dirty="0">
                <a:latin typeface="+mn-lt"/>
              </a:rPr>
              <a:t>and/or the color of the media </a:t>
            </a:r>
          </a:p>
          <a:p>
            <a:pPr algn="l" rtl="0"/>
            <a:r>
              <a:rPr lang="en-US" sz="1600" dirty="0">
                <a:latin typeface="+mn-lt"/>
              </a:rPr>
              <a:t>remains green</a:t>
            </a:r>
            <a:endParaRPr lang="ar-JO" sz="1600" dirty="0">
              <a:latin typeface="+mn-lt"/>
            </a:endParaRPr>
          </a:p>
        </p:txBody>
      </p:sp>
      <p:cxnSp>
        <p:nvCxnSpPr>
          <p:cNvPr id="103" name="Straight Arrow Connector 102"/>
          <p:cNvCxnSpPr>
            <a:cxnSpLocks/>
          </p:cNvCxnSpPr>
          <p:nvPr/>
        </p:nvCxnSpPr>
        <p:spPr>
          <a:xfrm>
            <a:off x="10627519" y="3760787"/>
            <a:ext cx="685800" cy="40011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2052" name="Picture 4"/>
          <p:cNvPicPr>
            <a:picLocks noChangeAspect="1" noChangeArrowheads="1"/>
          </p:cNvPicPr>
          <p:nvPr/>
        </p:nvPicPr>
        <p:blipFill rotWithShape="1">
          <a:blip r:embed="rId4"/>
          <a:srcRect t="23358" r="6612"/>
          <a:stretch/>
        </p:blipFill>
        <p:spPr bwMode="auto">
          <a:xfrm>
            <a:off x="6893719" y="5132387"/>
            <a:ext cx="1367064" cy="1600200"/>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9560719" y="5195958"/>
            <a:ext cx="1475197" cy="1740401"/>
          </a:xfrm>
          <a:prstGeom prst="rect">
            <a:avLst/>
          </a:prstGeom>
          <a:noFill/>
          <a:ln w="9525">
            <a:noFill/>
            <a:miter lim="800000"/>
            <a:headEnd/>
            <a:tailEnd/>
          </a:ln>
          <a:effectLst/>
        </p:spPr>
      </p:pic>
      <p:sp>
        <p:nvSpPr>
          <p:cNvPr id="110" name="Rectangle 109"/>
          <p:cNvSpPr/>
          <p:nvPr/>
        </p:nvSpPr>
        <p:spPr>
          <a:xfrm>
            <a:off x="2702719" y="1474787"/>
            <a:ext cx="1129861" cy="400110"/>
          </a:xfrm>
          <a:prstGeom prst="rect">
            <a:avLst/>
          </a:prstGeom>
        </p:spPr>
        <p:txBody>
          <a:bodyPr wrap="none">
            <a:spAutoFit/>
          </a:bodyPr>
          <a:lstStyle/>
          <a:p>
            <a:pPr marL="9144" algn="l" rtl="0" fontAlgn="auto">
              <a:spcBef>
                <a:spcPts val="111"/>
              </a:spcBef>
              <a:spcAft>
                <a:spcPts val="0"/>
              </a:spcAft>
            </a:pPr>
            <a:r>
              <a:rPr lang="ar-JO" sz="2000" b="1" spc="11" dirty="0">
                <a:latin typeface="Calibri"/>
                <a:cs typeface="Calibri"/>
              </a:rPr>
              <a:t>P</a:t>
            </a:r>
            <a:r>
              <a:rPr lang="ar-JO" sz="2000" b="1" dirty="0">
                <a:latin typeface="Calibri"/>
                <a:cs typeface="Calibri"/>
              </a:rPr>
              <a:t>yru</a:t>
            </a:r>
            <a:r>
              <a:rPr lang="ar-JO" sz="2000" b="1" spc="-32" dirty="0">
                <a:latin typeface="Calibri"/>
                <a:cs typeface="Calibri"/>
              </a:rPr>
              <a:t>va</a:t>
            </a:r>
            <a:r>
              <a:rPr lang="ar-JO" sz="2000" b="1" spc="-26" dirty="0">
                <a:latin typeface="Calibri"/>
                <a:cs typeface="Calibri"/>
              </a:rPr>
              <a:t>t</a:t>
            </a:r>
            <a:r>
              <a:rPr lang="ar-JO" sz="2000" b="1" dirty="0">
                <a:latin typeface="Calibri"/>
                <a:cs typeface="Calibri"/>
              </a:rPr>
              <a:t>e</a:t>
            </a:r>
            <a:endParaRPr lang="ar-JO"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See the source image">
            <a:extLst>
              <a:ext uri="{FF2B5EF4-FFF2-40B4-BE49-F238E27FC236}">
                <a16:creationId xmlns:a16="http://schemas.microsoft.com/office/drawing/2014/main" id="{2CD61F95-0D4C-5638-C731-965B22FA0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375" y="1541463"/>
            <a:ext cx="10477500" cy="4886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15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92919" y="179387"/>
            <a:ext cx="9245077" cy="523220"/>
          </a:xfrm>
        </p:spPr>
        <p:txBody>
          <a:bodyPr/>
          <a:lstStyle/>
          <a:p>
            <a:pPr>
              <a:buNone/>
            </a:pPr>
            <a:r>
              <a:rPr lang="en-US" b="1" dirty="0">
                <a:solidFill>
                  <a:srgbClr val="FF0000"/>
                </a:solidFill>
              </a:rPr>
              <a:t>Test # 3: Catalase Test :</a:t>
            </a:r>
            <a:endParaRPr lang="ar-JO" b="1" dirty="0">
              <a:solidFill>
                <a:srgbClr val="FF0000"/>
              </a:solidFill>
            </a:endParaRPr>
          </a:p>
        </p:txBody>
      </p:sp>
      <p:sp>
        <p:nvSpPr>
          <p:cNvPr id="4" name="Rectangle 3"/>
          <p:cNvSpPr/>
          <p:nvPr/>
        </p:nvSpPr>
        <p:spPr>
          <a:xfrm>
            <a:off x="569119" y="788987"/>
            <a:ext cx="11887200" cy="646331"/>
          </a:xfrm>
          <a:prstGeom prst="rect">
            <a:avLst/>
          </a:prstGeom>
          <a:ln>
            <a:solidFill>
              <a:schemeClr val="accent2"/>
            </a:solidFill>
          </a:ln>
        </p:spPr>
        <p:txBody>
          <a:bodyPr wrap="square">
            <a:spAutoFit/>
          </a:bodyPr>
          <a:lstStyle/>
          <a:p>
            <a:pPr algn="just" rtl="0"/>
            <a:r>
              <a:rPr lang="ar-JO" b="1" spc="-16" dirty="0">
                <a:solidFill>
                  <a:srgbClr val="FF0000"/>
                </a:solidFill>
                <a:latin typeface="+mn-lt"/>
                <a:cs typeface="Calibri"/>
              </a:rPr>
              <a:t>Principle </a:t>
            </a:r>
            <a:r>
              <a:rPr lang="en-US" b="1" spc="-16" dirty="0">
                <a:solidFill>
                  <a:srgbClr val="FF0000"/>
                </a:solidFill>
                <a:latin typeface="+mn-lt"/>
                <a:cs typeface="Calibri"/>
              </a:rPr>
              <a:t>: </a:t>
            </a:r>
            <a:r>
              <a:rPr lang="en-US" dirty="0">
                <a:latin typeface="+mn-lt"/>
              </a:rPr>
              <a:t>Test for the presence of </a:t>
            </a:r>
            <a:r>
              <a:rPr lang="en-US" dirty="0" err="1">
                <a:latin typeface="+mn-lt"/>
              </a:rPr>
              <a:t>catalase</a:t>
            </a:r>
            <a:r>
              <a:rPr lang="en-US" dirty="0">
                <a:latin typeface="+mn-lt"/>
              </a:rPr>
              <a:t> enzyme that converts hydrogen peroxide (H</a:t>
            </a:r>
            <a:r>
              <a:rPr lang="en-US" baseline="-25000" dirty="0">
                <a:latin typeface="+mn-lt"/>
              </a:rPr>
              <a:t>2</a:t>
            </a:r>
            <a:r>
              <a:rPr lang="en-US" dirty="0">
                <a:latin typeface="+mn-lt"/>
              </a:rPr>
              <a:t>O</a:t>
            </a:r>
            <a:r>
              <a:rPr lang="en-US" baseline="-25000" dirty="0">
                <a:latin typeface="+mn-lt"/>
              </a:rPr>
              <a:t>2</a:t>
            </a:r>
            <a:r>
              <a:rPr lang="en-US" dirty="0">
                <a:latin typeface="+mn-lt"/>
              </a:rPr>
              <a:t> ) into water and oxygen gas. When a drop of  peroxide  is  placed  on  </a:t>
            </a:r>
            <a:r>
              <a:rPr lang="en-US" dirty="0" err="1">
                <a:latin typeface="+mn-lt"/>
              </a:rPr>
              <a:t>catalase</a:t>
            </a:r>
            <a:r>
              <a:rPr lang="en-US" dirty="0">
                <a:latin typeface="+mn-lt"/>
              </a:rPr>
              <a:t>-producing  bacteria,  bubbles  appear  when  the  oxygen  gas  is  formed.</a:t>
            </a:r>
            <a:endParaRPr lang="ar-JO" dirty="0">
              <a:latin typeface="+mn-lt"/>
            </a:endParaRPr>
          </a:p>
        </p:txBody>
      </p:sp>
      <p:sp>
        <p:nvSpPr>
          <p:cNvPr id="5" name="Rectangle 4"/>
          <p:cNvSpPr/>
          <p:nvPr/>
        </p:nvSpPr>
        <p:spPr>
          <a:xfrm>
            <a:off x="569119" y="1779587"/>
            <a:ext cx="10668000" cy="646331"/>
          </a:xfrm>
          <a:prstGeom prst="rect">
            <a:avLst/>
          </a:prstGeom>
        </p:spPr>
        <p:txBody>
          <a:bodyPr wrap="square">
            <a:spAutoFit/>
          </a:bodyPr>
          <a:lstStyle/>
          <a:p>
            <a:pPr algn="l" rtl="0"/>
            <a:r>
              <a:rPr lang="en-US" dirty="0">
                <a:latin typeface="+mn-lt"/>
              </a:rPr>
              <a:t>In Aerobic, Facultative anaerobic, and </a:t>
            </a:r>
            <a:r>
              <a:rPr lang="en-US" dirty="0" err="1">
                <a:latin typeface="+mn-lt"/>
              </a:rPr>
              <a:t>Aerotolerant</a:t>
            </a:r>
            <a:r>
              <a:rPr lang="en-US" dirty="0">
                <a:latin typeface="+mn-lt"/>
              </a:rPr>
              <a:t> anaerobic use O</a:t>
            </a:r>
            <a:r>
              <a:rPr lang="en-US" baseline="-25000" dirty="0">
                <a:latin typeface="+mn-lt"/>
              </a:rPr>
              <a:t>2</a:t>
            </a:r>
            <a:r>
              <a:rPr lang="en-US" dirty="0">
                <a:latin typeface="+mn-lt"/>
              </a:rPr>
              <a:t> as final electron acceptor </a:t>
            </a:r>
          </a:p>
          <a:p>
            <a:pPr algn="l" rtl="0"/>
            <a:endParaRPr lang="en-US" dirty="0">
              <a:latin typeface="+mn-lt"/>
            </a:endParaRPr>
          </a:p>
        </p:txBody>
      </p:sp>
      <p:pic>
        <p:nvPicPr>
          <p:cNvPr id="3074" name="Picture 2"/>
          <p:cNvPicPr>
            <a:picLocks noChangeAspect="1" noChangeArrowheads="1"/>
          </p:cNvPicPr>
          <p:nvPr/>
        </p:nvPicPr>
        <p:blipFill>
          <a:blip r:embed="rId2"/>
          <a:srcRect/>
          <a:stretch>
            <a:fillRect/>
          </a:stretch>
        </p:blipFill>
        <p:spPr bwMode="auto">
          <a:xfrm>
            <a:off x="416719" y="2084387"/>
            <a:ext cx="6248400" cy="1779587"/>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6969919" y="2465387"/>
            <a:ext cx="5562600" cy="1093787"/>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l="3628" t="16216" b="13513"/>
          <a:stretch>
            <a:fillRect/>
          </a:stretch>
        </p:blipFill>
        <p:spPr bwMode="auto">
          <a:xfrm>
            <a:off x="0" y="4065587"/>
            <a:ext cx="4048506" cy="990600"/>
          </a:xfrm>
          <a:prstGeom prst="rect">
            <a:avLst/>
          </a:prstGeom>
          <a:noFill/>
          <a:ln w="9525">
            <a:noFill/>
            <a:miter lim="800000"/>
            <a:headEnd/>
            <a:tailEnd/>
          </a:ln>
          <a:effectLst/>
        </p:spPr>
      </p:pic>
      <p:sp>
        <p:nvSpPr>
          <p:cNvPr id="9" name="Rectangle 8"/>
          <p:cNvSpPr/>
          <p:nvPr/>
        </p:nvSpPr>
        <p:spPr>
          <a:xfrm>
            <a:off x="264320" y="5284787"/>
            <a:ext cx="4190999" cy="923330"/>
          </a:xfrm>
          <a:prstGeom prst="rect">
            <a:avLst/>
          </a:prstGeom>
        </p:spPr>
        <p:txBody>
          <a:bodyPr wrap="square">
            <a:spAutoFit/>
          </a:bodyPr>
          <a:lstStyle/>
          <a:p>
            <a:pPr algn="just" rtl="0"/>
            <a:r>
              <a:rPr lang="en-US" dirty="0">
                <a:latin typeface="+mn-lt"/>
              </a:rPr>
              <a:t>1- Add a </a:t>
            </a:r>
            <a:r>
              <a:rPr lang="en-US" dirty="0" err="1">
                <a:latin typeface="+mn-lt"/>
              </a:rPr>
              <a:t>loopful</a:t>
            </a:r>
            <a:r>
              <a:rPr lang="en-US" dirty="0">
                <a:latin typeface="+mn-lt"/>
              </a:rPr>
              <a:t> from your pure culture into a cleaned slide. </a:t>
            </a:r>
          </a:p>
          <a:p>
            <a:pPr algn="just" rtl="0"/>
            <a:r>
              <a:rPr lang="en-US" dirty="0">
                <a:latin typeface="+mn-lt"/>
              </a:rPr>
              <a:t>2- Add one drops of 3% </a:t>
            </a:r>
            <a:r>
              <a:rPr lang="en-US" dirty="0"/>
              <a:t>H</a:t>
            </a:r>
            <a:r>
              <a:rPr lang="en-US" baseline="-25000" dirty="0"/>
              <a:t>2</a:t>
            </a:r>
            <a:r>
              <a:rPr lang="en-US" dirty="0"/>
              <a:t>O</a:t>
            </a:r>
            <a:r>
              <a:rPr lang="en-US" baseline="-25000" dirty="0"/>
              <a:t>2</a:t>
            </a:r>
            <a:r>
              <a:rPr lang="en-US" dirty="0"/>
              <a:t> </a:t>
            </a:r>
            <a:r>
              <a:rPr lang="en-US" dirty="0">
                <a:latin typeface="+mn-lt"/>
              </a:rPr>
              <a:t>( </a:t>
            </a:r>
            <a:r>
              <a:rPr lang="en-US" dirty="0" err="1">
                <a:latin typeface="+mn-lt"/>
              </a:rPr>
              <a:t>suhstrate</a:t>
            </a:r>
            <a:r>
              <a:rPr lang="en-US" dirty="0">
                <a:latin typeface="+mn-lt"/>
              </a:rPr>
              <a:t>) </a:t>
            </a:r>
            <a:endParaRPr lang="ar-JO" dirty="0">
              <a:latin typeface="+mn-lt"/>
            </a:endParaRPr>
          </a:p>
        </p:txBody>
      </p:sp>
      <p:sp>
        <p:nvSpPr>
          <p:cNvPr id="10" name="object 4"/>
          <p:cNvSpPr>
            <a:spLocks noChangeArrowheads="1"/>
          </p:cNvSpPr>
          <p:nvPr/>
        </p:nvSpPr>
        <p:spPr bwMode="auto">
          <a:xfrm rot="5400000" flipV="1">
            <a:off x="1474219" y="4913087"/>
            <a:ext cx="628200" cy="152400"/>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00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a:latin typeface="+mn-lt"/>
            </a:endParaRPr>
          </a:p>
        </p:txBody>
      </p:sp>
      <p:sp>
        <p:nvSpPr>
          <p:cNvPr id="11" name="object 4"/>
          <p:cNvSpPr>
            <a:spLocks noChangeArrowheads="1"/>
          </p:cNvSpPr>
          <p:nvPr/>
        </p:nvSpPr>
        <p:spPr bwMode="auto">
          <a:xfrm flipV="1">
            <a:off x="4607719" y="5589587"/>
            <a:ext cx="1676400" cy="304800"/>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00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a:latin typeface="+mn-lt"/>
            </a:endParaRPr>
          </a:p>
        </p:txBody>
      </p:sp>
      <p:sp>
        <p:nvSpPr>
          <p:cNvPr id="12" name="Rectangle 11"/>
          <p:cNvSpPr/>
          <p:nvPr/>
        </p:nvSpPr>
        <p:spPr>
          <a:xfrm>
            <a:off x="4760119" y="5284787"/>
            <a:ext cx="948721" cy="400110"/>
          </a:xfrm>
          <a:prstGeom prst="rect">
            <a:avLst/>
          </a:prstGeom>
        </p:spPr>
        <p:txBody>
          <a:bodyPr wrap="none">
            <a:spAutoFit/>
          </a:bodyPr>
          <a:lstStyle/>
          <a:p>
            <a:r>
              <a:rPr lang="en-US" sz="2000" b="1" dirty="0">
                <a:latin typeface="+mn-lt"/>
              </a:rPr>
              <a:t>Results</a:t>
            </a:r>
            <a:endParaRPr lang="ar-JO" sz="2000" dirty="0">
              <a:latin typeface="+mn-lt"/>
            </a:endParaRPr>
          </a:p>
        </p:txBody>
      </p:sp>
      <p:cxnSp>
        <p:nvCxnSpPr>
          <p:cNvPr id="13" name="Straight Arrow Connector 12"/>
          <p:cNvCxnSpPr>
            <a:stCxn id="12" idx="0"/>
          </p:cNvCxnSpPr>
          <p:nvPr/>
        </p:nvCxnSpPr>
        <p:spPr>
          <a:xfrm rot="5400000" flipH="1" flipV="1">
            <a:off x="5149699" y="4455168"/>
            <a:ext cx="914400" cy="74483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Straight Arrow Connector 13"/>
          <p:cNvCxnSpPr/>
          <p:nvPr/>
        </p:nvCxnSpPr>
        <p:spPr>
          <a:xfrm>
            <a:off x="5141119" y="5894387"/>
            <a:ext cx="1143000" cy="609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5" name="Rectangle 14"/>
          <p:cNvSpPr/>
          <p:nvPr/>
        </p:nvSpPr>
        <p:spPr>
          <a:xfrm>
            <a:off x="6131719" y="3760787"/>
            <a:ext cx="7046119" cy="1077218"/>
          </a:xfrm>
          <a:prstGeom prst="rect">
            <a:avLst/>
          </a:prstGeom>
        </p:spPr>
        <p:txBody>
          <a:bodyPr wrap="square">
            <a:spAutoFit/>
          </a:bodyPr>
          <a:lstStyle/>
          <a:p>
            <a:pPr algn="l" rtl="0"/>
            <a:r>
              <a:rPr lang="en-US" sz="2000" b="1" dirty="0" err="1">
                <a:latin typeface="+mn-lt"/>
              </a:rPr>
              <a:t>Catalase</a:t>
            </a:r>
            <a:r>
              <a:rPr lang="en-US" sz="2000" b="1" dirty="0">
                <a:latin typeface="+mn-lt"/>
              </a:rPr>
              <a:t> </a:t>
            </a:r>
            <a:r>
              <a:rPr lang="en-US" sz="2800" b="1" dirty="0">
                <a:latin typeface="+mn-lt"/>
              </a:rPr>
              <a:t>+</a:t>
            </a:r>
            <a:r>
              <a:rPr lang="en-US" dirty="0">
                <a:latin typeface="+mn-lt"/>
              </a:rPr>
              <a:t> </a:t>
            </a:r>
          </a:p>
          <a:p>
            <a:pPr algn="l" rtl="0">
              <a:buFont typeface="Wingdings" pitchFamily="2" charset="2"/>
              <a:buChar char="§"/>
            </a:pPr>
            <a:r>
              <a:rPr lang="en-US" dirty="0">
                <a:latin typeface="+mn-lt"/>
              </a:rPr>
              <a:t>If  there are large amount of bubbles (</a:t>
            </a:r>
            <a:r>
              <a:rPr lang="en-US" b="1" dirty="0">
                <a:solidFill>
                  <a:srgbClr val="FF0000"/>
                </a:solidFill>
                <a:latin typeface="+mn-lt"/>
              </a:rPr>
              <a:t>Strong </a:t>
            </a:r>
            <a:r>
              <a:rPr lang="en-US" b="1" dirty="0" err="1">
                <a:solidFill>
                  <a:srgbClr val="FF0000"/>
                </a:solidFill>
                <a:latin typeface="+mn-lt"/>
              </a:rPr>
              <a:t>catalase</a:t>
            </a:r>
            <a:r>
              <a:rPr lang="en-US" b="1" dirty="0">
                <a:solidFill>
                  <a:srgbClr val="FF0000"/>
                </a:solidFill>
                <a:latin typeface="+mn-lt"/>
              </a:rPr>
              <a:t> positive</a:t>
            </a:r>
            <a:r>
              <a:rPr lang="en-US" dirty="0">
                <a:latin typeface="+mn-lt"/>
              </a:rPr>
              <a:t>) </a:t>
            </a:r>
          </a:p>
          <a:p>
            <a:pPr algn="l" rtl="0">
              <a:buFont typeface="Wingdings" pitchFamily="2" charset="2"/>
              <a:buChar char="§"/>
            </a:pPr>
            <a:r>
              <a:rPr lang="en-US" dirty="0">
                <a:latin typeface="+mn-lt"/>
              </a:rPr>
              <a:t> If  there are small amount of bubbles (</a:t>
            </a:r>
            <a:r>
              <a:rPr lang="en-US" b="1" dirty="0">
                <a:solidFill>
                  <a:srgbClr val="FF0000"/>
                </a:solidFill>
                <a:latin typeface="+mn-lt"/>
              </a:rPr>
              <a:t>Weak </a:t>
            </a:r>
            <a:r>
              <a:rPr lang="en-US" b="1" dirty="0" err="1">
                <a:solidFill>
                  <a:srgbClr val="FF0000"/>
                </a:solidFill>
                <a:latin typeface="+mn-lt"/>
              </a:rPr>
              <a:t>catalase</a:t>
            </a:r>
            <a:r>
              <a:rPr lang="en-US" b="1" dirty="0">
                <a:solidFill>
                  <a:srgbClr val="FF0000"/>
                </a:solidFill>
                <a:latin typeface="+mn-lt"/>
              </a:rPr>
              <a:t> positive</a:t>
            </a:r>
            <a:r>
              <a:rPr lang="en-US" dirty="0">
                <a:latin typeface="+mn-lt"/>
              </a:rPr>
              <a:t>)</a:t>
            </a:r>
            <a:endParaRPr lang="ar-JO" dirty="0">
              <a:latin typeface="+mn-lt"/>
            </a:endParaRPr>
          </a:p>
        </p:txBody>
      </p:sp>
      <p:sp>
        <p:nvSpPr>
          <p:cNvPr id="18" name="Rectangle 17"/>
          <p:cNvSpPr/>
          <p:nvPr/>
        </p:nvSpPr>
        <p:spPr>
          <a:xfrm>
            <a:off x="6284119" y="5894387"/>
            <a:ext cx="1371600" cy="800219"/>
          </a:xfrm>
          <a:prstGeom prst="rect">
            <a:avLst/>
          </a:prstGeom>
        </p:spPr>
        <p:txBody>
          <a:bodyPr wrap="square">
            <a:spAutoFit/>
          </a:bodyPr>
          <a:lstStyle/>
          <a:p>
            <a:pPr algn="l" rtl="0"/>
            <a:r>
              <a:rPr lang="en-US" sz="2000" b="1" dirty="0" err="1">
                <a:latin typeface="+mn-lt"/>
              </a:rPr>
              <a:t>Catalase</a:t>
            </a:r>
            <a:r>
              <a:rPr lang="en-US" sz="2000" b="1" dirty="0">
                <a:latin typeface="+mn-lt"/>
              </a:rPr>
              <a:t> </a:t>
            </a:r>
            <a:r>
              <a:rPr lang="en-US" sz="2800" b="1" dirty="0">
                <a:latin typeface="+mn-lt"/>
              </a:rPr>
              <a:t>-</a:t>
            </a:r>
            <a:r>
              <a:rPr lang="en-US" b="1" dirty="0">
                <a:latin typeface="+mn-lt"/>
              </a:rPr>
              <a:t> </a:t>
            </a:r>
          </a:p>
          <a:p>
            <a:pPr algn="l" rtl="0">
              <a:buFont typeface="Wingdings" pitchFamily="2" charset="2"/>
              <a:buChar char="§"/>
            </a:pPr>
            <a:r>
              <a:rPr lang="en-US" dirty="0">
                <a:latin typeface="+mn-lt"/>
              </a:rPr>
              <a:t>No bubbles</a:t>
            </a:r>
            <a:endParaRPr lang="ar-JO" dirty="0">
              <a:latin typeface="+mn-lt"/>
            </a:endParaRPr>
          </a:p>
        </p:txBody>
      </p:sp>
      <p:pic>
        <p:nvPicPr>
          <p:cNvPr id="19" name="Picture 18"/>
          <p:cNvPicPr/>
          <p:nvPr/>
        </p:nvPicPr>
        <p:blipFill>
          <a:blip r:embed="rId5"/>
          <a:srcRect l="33751" t="32383" r="25746" b="11062"/>
          <a:stretch>
            <a:fillRect/>
          </a:stretch>
        </p:blipFill>
        <p:spPr bwMode="auto">
          <a:xfrm>
            <a:off x="7655719" y="4979987"/>
            <a:ext cx="4884087" cy="15240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40519" y="865187"/>
            <a:ext cx="11811000" cy="553998"/>
          </a:xfrm>
          <a:ln>
            <a:solidFill>
              <a:schemeClr val="accent2"/>
            </a:solidFill>
          </a:ln>
        </p:spPr>
        <p:txBody>
          <a:bodyPr/>
          <a:lstStyle/>
          <a:p>
            <a:pPr marL="84138" indent="3175" algn="just">
              <a:buNone/>
            </a:pPr>
            <a:r>
              <a:rPr lang="ar-JO" sz="1800" b="1" dirty="0">
                <a:solidFill>
                  <a:srgbClr val="FF0000"/>
                </a:solidFill>
                <a:cs typeface="Calibri"/>
              </a:rPr>
              <a:t>Principle</a:t>
            </a:r>
            <a:r>
              <a:rPr lang="ar-JO" sz="1800" dirty="0">
                <a:cs typeface="Calibri"/>
              </a:rPr>
              <a:t>:</a:t>
            </a:r>
            <a:r>
              <a:rPr lang="en-US" sz="1800" dirty="0"/>
              <a:t>Gelatin  provides  a  rich  source  of  amino  acids  and  peptides  for  bacteria,  but it   is  too large  to  be  transported  inside  the  cell  directly .  Therefore,  it  must  first  be  broken  down  by extra-cellular gelatinase enzyme .</a:t>
            </a:r>
            <a:endParaRPr lang="ar-JO" sz="1800" dirty="0"/>
          </a:p>
        </p:txBody>
      </p:sp>
      <p:sp>
        <p:nvSpPr>
          <p:cNvPr id="4" name="Title 1"/>
          <p:cNvSpPr txBox="1">
            <a:spLocks/>
          </p:cNvSpPr>
          <p:nvPr/>
        </p:nvSpPr>
        <p:spPr bwMode="auto">
          <a:xfrm>
            <a:off x="188119" y="179387"/>
            <a:ext cx="11811000" cy="55399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0" hangingPunct="0"/>
            <a:r>
              <a:rPr kumimoji="0" lang="en-US" sz="3600" b="1" i="0" u="none" strike="noStrike" kern="0" cap="none" spc="0" normalizeH="0" baseline="0" noProof="0" dirty="0">
                <a:ln>
                  <a:noFill/>
                </a:ln>
                <a:solidFill>
                  <a:srgbClr val="FF3300"/>
                </a:solidFill>
                <a:effectLst/>
                <a:uLnTx/>
                <a:uFillTx/>
                <a:latin typeface="+mj-lt"/>
                <a:ea typeface="+mj-ea"/>
                <a:cs typeface="Calibri Light"/>
              </a:rPr>
              <a:t>Extracellular enzymes: Gelatin </a:t>
            </a:r>
            <a:r>
              <a:rPr lang="en-US" sz="3600" b="1" kern="0" dirty="0">
                <a:solidFill>
                  <a:srgbClr val="FF3300"/>
                </a:solidFill>
                <a:latin typeface="+mj-lt"/>
                <a:ea typeface="+mj-ea"/>
                <a:cs typeface="Calibri Light"/>
              </a:rPr>
              <a:t>test </a:t>
            </a:r>
            <a:r>
              <a:rPr lang="en-US" sz="2400" kern="0" dirty="0">
                <a:latin typeface="+mj-lt"/>
                <a:ea typeface="+mj-ea"/>
                <a:cs typeface="Calibri Light"/>
              </a:rPr>
              <a:t>(Monomer of gelatin is amino acids) </a:t>
            </a:r>
            <a:endParaRPr kumimoji="0" lang="ar-JO" sz="3600" i="0" u="none" strike="noStrike" kern="0" cap="none" spc="0" normalizeH="0" baseline="0" noProof="0" dirty="0">
              <a:ln>
                <a:noFill/>
              </a:ln>
              <a:effectLst/>
              <a:uLnTx/>
              <a:uFillTx/>
              <a:latin typeface="+mj-lt"/>
              <a:ea typeface="+mj-ea"/>
              <a:cs typeface="Calibri Light"/>
            </a:endParaRPr>
          </a:p>
        </p:txBody>
      </p:sp>
      <p:pic>
        <p:nvPicPr>
          <p:cNvPr id="6" name="Picture 2"/>
          <p:cNvPicPr>
            <a:picLocks noChangeAspect="1" noChangeArrowheads="1"/>
          </p:cNvPicPr>
          <p:nvPr/>
        </p:nvPicPr>
        <p:blipFill>
          <a:blip r:embed="rId2"/>
          <a:srcRect t="26986" r="6657" b="8921"/>
          <a:stretch>
            <a:fillRect/>
          </a:stretch>
        </p:blipFill>
        <p:spPr bwMode="auto">
          <a:xfrm>
            <a:off x="0" y="1855787"/>
            <a:ext cx="1635919" cy="1447800"/>
          </a:xfrm>
          <a:prstGeom prst="rect">
            <a:avLst/>
          </a:prstGeom>
          <a:noFill/>
          <a:ln w="9525">
            <a:noFill/>
            <a:miter lim="800000"/>
            <a:headEnd/>
            <a:tailEnd/>
          </a:ln>
          <a:effectLst/>
        </p:spPr>
      </p:pic>
      <p:sp>
        <p:nvSpPr>
          <p:cNvPr id="7" name="Rectangle 6"/>
          <p:cNvSpPr/>
          <p:nvPr/>
        </p:nvSpPr>
        <p:spPr>
          <a:xfrm>
            <a:off x="0" y="3227387"/>
            <a:ext cx="2441759" cy="338554"/>
          </a:xfrm>
          <a:prstGeom prst="rect">
            <a:avLst/>
          </a:prstGeom>
          <a:ln>
            <a:solidFill>
              <a:srgbClr val="FF0000"/>
            </a:solidFill>
          </a:ln>
        </p:spPr>
        <p:txBody>
          <a:bodyPr wrap="none">
            <a:spAutoFit/>
          </a:bodyPr>
          <a:lstStyle/>
          <a:p>
            <a:r>
              <a:rPr lang="en-US" sz="1600" b="1" dirty="0">
                <a:latin typeface="+mn-lt"/>
              </a:rPr>
              <a:t>Nutrient agar + 4 % gelatin</a:t>
            </a:r>
            <a:endParaRPr lang="ar-JO" sz="1600" b="1" dirty="0">
              <a:latin typeface="+mn-lt"/>
            </a:endParaRPr>
          </a:p>
        </p:txBody>
      </p:sp>
      <p:sp>
        <p:nvSpPr>
          <p:cNvPr id="8" name="object 4"/>
          <p:cNvSpPr>
            <a:spLocks noChangeArrowheads="1"/>
          </p:cNvSpPr>
          <p:nvPr/>
        </p:nvSpPr>
        <p:spPr bwMode="auto">
          <a:xfrm>
            <a:off x="1788319" y="2693987"/>
            <a:ext cx="4191000" cy="228600"/>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FF0000"/>
          </a:solidFill>
          <a:ln w="9525">
            <a:no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a:latin typeface="+mn-lt"/>
            </a:endParaRPr>
          </a:p>
        </p:txBody>
      </p:sp>
      <p:sp>
        <p:nvSpPr>
          <p:cNvPr id="9" name="Rectangle 8"/>
          <p:cNvSpPr/>
          <p:nvPr/>
        </p:nvSpPr>
        <p:spPr>
          <a:xfrm>
            <a:off x="1940719" y="1855787"/>
            <a:ext cx="3814635" cy="923330"/>
          </a:xfrm>
          <a:prstGeom prst="rect">
            <a:avLst/>
          </a:prstGeom>
        </p:spPr>
        <p:txBody>
          <a:bodyPr wrap="none">
            <a:spAutoFit/>
          </a:bodyPr>
          <a:lstStyle/>
          <a:p>
            <a:pPr algn="ctr" rtl="0"/>
            <a:r>
              <a:rPr lang="en-US" b="1" dirty="0">
                <a:latin typeface="+mn-lt"/>
              </a:rPr>
              <a:t>inoculate the media surface by sterile </a:t>
            </a:r>
          </a:p>
          <a:p>
            <a:pPr algn="ctr" rtl="0"/>
            <a:r>
              <a:rPr lang="en-US" b="1" dirty="0">
                <a:latin typeface="+mn-lt"/>
              </a:rPr>
              <a:t>cooled loop through streaking or  as </a:t>
            </a:r>
          </a:p>
          <a:p>
            <a:pPr algn="ctr" rtl="0"/>
            <a:r>
              <a:rPr lang="en-US" b="1" dirty="0">
                <a:latin typeface="+mn-lt"/>
              </a:rPr>
              <a:t>a dot at the center of plate. </a:t>
            </a:r>
            <a:endParaRPr lang="ar-JO" b="1" dirty="0">
              <a:latin typeface="+mn-lt"/>
            </a:endParaRPr>
          </a:p>
        </p:txBody>
      </p:sp>
      <p:cxnSp>
        <p:nvCxnSpPr>
          <p:cNvPr id="10" name="Straight Arrow Connector 9"/>
          <p:cNvCxnSpPr/>
          <p:nvPr/>
        </p:nvCxnSpPr>
        <p:spPr>
          <a:xfrm rot="5400000">
            <a:off x="6665913" y="2845593"/>
            <a:ext cx="304800" cy="1588"/>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1" name="Rectangle 10"/>
          <p:cNvSpPr/>
          <p:nvPr/>
        </p:nvSpPr>
        <p:spPr>
          <a:xfrm>
            <a:off x="5903119" y="2389187"/>
            <a:ext cx="3027880" cy="369332"/>
          </a:xfrm>
          <a:prstGeom prst="rect">
            <a:avLst/>
          </a:prstGeom>
        </p:spPr>
        <p:txBody>
          <a:bodyPr wrap="none">
            <a:spAutoFit/>
          </a:bodyPr>
          <a:lstStyle/>
          <a:p>
            <a:pPr algn="l" rtl="0"/>
            <a:r>
              <a:rPr lang="en-US" b="1" dirty="0">
                <a:latin typeface="+mn-lt"/>
              </a:rPr>
              <a:t>incubate at 37°C for 48 hours.</a:t>
            </a:r>
            <a:endParaRPr lang="ar-JO" b="1" dirty="0">
              <a:latin typeface="+mn-lt"/>
            </a:endParaRPr>
          </a:p>
        </p:txBody>
      </p:sp>
      <p:cxnSp>
        <p:nvCxnSpPr>
          <p:cNvPr id="12" name="Straight Arrow Connector 11"/>
          <p:cNvCxnSpPr/>
          <p:nvPr/>
        </p:nvCxnSpPr>
        <p:spPr>
          <a:xfrm rot="10800000" flipV="1">
            <a:off x="5522119" y="3227387"/>
            <a:ext cx="838200" cy="457200"/>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3" name="Rectangle 12"/>
          <p:cNvSpPr/>
          <p:nvPr/>
        </p:nvSpPr>
        <p:spPr>
          <a:xfrm>
            <a:off x="6436519" y="2998787"/>
            <a:ext cx="948721" cy="400110"/>
          </a:xfrm>
          <a:prstGeom prst="rect">
            <a:avLst/>
          </a:prstGeom>
        </p:spPr>
        <p:txBody>
          <a:bodyPr wrap="none">
            <a:spAutoFit/>
          </a:bodyPr>
          <a:lstStyle/>
          <a:p>
            <a:r>
              <a:rPr lang="en-US" sz="2000" b="1" dirty="0">
                <a:latin typeface="+mn-lt"/>
              </a:rPr>
              <a:t>Results</a:t>
            </a:r>
            <a:endParaRPr lang="ar-JO" sz="2000" b="1" dirty="0">
              <a:latin typeface="+mn-lt"/>
            </a:endParaRPr>
          </a:p>
        </p:txBody>
      </p:sp>
      <p:cxnSp>
        <p:nvCxnSpPr>
          <p:cNvPr id="14" name="Straight Arrow Connector 13"/>
          <p:cNvCxnSpPr/>
          <p:nvPr/>
        </p:nvCxnSpPr>
        <p:spPr>
          <a:xfrm>
            <a:off x="7427119" y="3227387"/>
            <a:ext cx="838200" cy="457200"/>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5" name="Rectangle 14"/>
          <p:cNvSpPr/>
          <p:nvPr/>
        </p:nvSpPr>
        <p:spPr>
          <a:xfrm>
            <a:off x="8112919" y="2770187"/>
            <a:ext cx="4664869" cy="584775"/>
          </a:xfrm>
          <a:prstGeom prst="rect">
            <a:avLst/>
          </a:prstGeom>
          <a:ln>
            <a:solidFill>
              <a:schemeClr val="tx1"/>
            </a:solidFill>
          </a:ln>
        </p:spPr>
        <p:txBody>
          <a:bodyPr wrap="square">
            <a:spAutoFit/>
          </a:bodyPr>
          <a:lstStyle/>
          <a:p>
            <a:pPr algn="just" rtl="0"/>
            <a:r>
              <a:rPr lang="en-US" sz="1600" dirty="0" err="1">
                <a:solidFill>
                  <a:srgbClr val="FF0000"/>
                </a:solidFill>
                <a:latin typeface="+mn-lt"/>
              </a:rPr>
              <a:t>HgCh</a:t>
            </a:r>
            <a:r>
              <a:rPr lang="en-US" sz="1600" dirty="0">
                <a:solidFill>
                  <a:srgbClr val="FF0000"/>
                </a:solidFill>
                <a:latin typeface="+mn-lt"/>
              </a:rPr>
              <a:t>/ HCI will be added to the plate. </a:t>
            </a:r>
            <a:r>
              <a:rPr lang="en-US" sz="1600" dirty="0" err="1">
                <a:solidFill>
                  <a:srgbClr val="FF0000"/>
                </a:solidFill>
                <a:latin typeface="+mn-lt"/>
              </a:rPr>
              <a:t>HgCh</a:t>
            </a:r>
            <a:r>
              <a:rPr lang="en-US" sz="1600" dirty="0">
                <a:solidFill>
                  <a:srgbClr val="FF0000"/>
                </a:solidFill>
                <a:latin typeface="+mn-lt"/>
              </a:rPr>
              <a:t>/ HCI reacts with gelatin to produce white precipitate .</a:t>
            </a:r>
            <a:endParaRPr lang="ar-JO" sz="1600" dirty="0">
              <a:solidFill>
                <a:srgbClr val="FF0000"/>
              </a:solidFill>
              <a:latin typeface="+mn-lt"/>
            </a:endParaRPr>
          </a:p>
        </p:txBody>
      </p:sp>
      <p:sp>
        <p:nvSpPr>
          <p:cNvPr id="16" name="Rectangle 15"/>
          <p:cNvSpPr/>
          <p:nvPr/>
        </p:nvSpPr>
        <p:spPr>
          <a:xfrm>
            <a:off x="2550319" y="3455987"/>
            <a:ext cx="3657599" cy="2031325"/>
          </a:xfrm>
          <a:prstGeom prst="rect">
            <a:avLst/>
          </a:prstGeom>
        </p:spPr>
        <p:txBody>
          <a:bodyPr wrap="square">
            <a:spAutoFit/>
          </a:bodyPr>
          <a:lstStyle/>
          <a:p>
            <a:pPr algn="just" rtl="0"/>
            <a:r>
              <a:rPr lang="en-US" sz="2000" b="1" dirty="0">
                <a:latin typeface="+mn-lt"/>
              </a:rPr>
              <a:t>Gelatin </a:t>
            </a:r>
            <a:r>
              <a:rPr lang="en-US" sz="2800" b="1" dirty="0">
                <a:latin typeface="+mn-lt"/>
              </a:rPr>
              <a:t>+</a:t>
            </a:r>
            <a:r>
              <a:rPr lang="en-US" dirty="0">
                <a:latin typeface="+mn-lt"/>
              </a:rPr>
              <a:t> </a:t>
            </a:r>
          </a:p>
          <a:p>
            <a:pPr algn="just" rtl="0">
              <a:buFont typeface="Wingdings" pitchFamily="2" charset="2"/>
              <a:buChar char="§"/>
            </a:pPr>
            <a:r>
              <a:rPr lang="en-US" sz="1600" dirty="0">
                <a:latin typeface="+mn-lt"/>
              </a:rPr>
              <a:t>Gelatin hydrolysis is indicated by clear zones around bacteria growth</a:t>
            </a:r>
          </a:p>
          <a:p>
            <a:pPr algn="just" rtl="0">
              <a:buFont typeface="Wingdings" pitchFamily="2" charset="2"/>
              <a:buChar char="§"/>
            </a:pPr>
            <a:r>
              <a:rPr lang="en-US" sz="1600" dirty="0">
                <a:latin typeface="+mn-lt"/>
              </a:rPr>
              <a:t>Using </a:t>
            </a:r>
            <a:r>
              <a:rPr lang="en-US" sz="1600" dirty="0" err="1">
                <a:solidFill>
                  <a:srgbClr val="FF0000"/>
                </a:solidFill>
                <a:latin typeface="+mn-lt"/>
              </a:rPr>
              <a:t>HgCh</a:t>
            </a:r>
            <a:r>
              <a:rPr lang="en-US" sz="1600" dirty="0">
                <a:solidFill>
                  <a:srgbClr val="FF0000"/>
                </a:solidFill>
                <a:latin typeface="+mn-lt"/>
              </a:rPr>
              <a:t>/ HCI                 </a:t>
            </a:r>
            <a:r>
              <a:rPr lang="en-US" sz="1600" dirty="0">
                <a:latin typeface="+mn-lt"/>
              </a:rPr>
              <a:t>White </a:t>
            </a:r>
            <a:r>
              <a:rPr lang="en-US" sz="1600" dirty="0" err="1">
                <a:latin typeface="+mn-lt"/>
              </a:rPr>
              <a:t>PPt</a:t>
            </a:r>
            <a:r>
              <a:rPr lang="en-US" sz="1600" dirty="0">
                <a:latin typeface="+mn-lt"/>
              </a:rPr>
              <a:t> in the whole plate except area surrounding bacteria growth .</a:t>
            </a:r>
            <a:r>
              <a:rPr lang="en-US" b="1" dirty="0">
                <a:solidFill>
                  <a:srgbClr val="FF0000"/>
                </a:solidFill>
                <a:latin typeface="+mn-lt"/>
              </a:rPr>
              <a:t> (A)</a:t>
            </a:r>
            <a:endParaRPr lang="ar-JO" sz="1600" b="1" dirty="0">
              <a:solidFill>
                <a:srgbClr val="FF0000"/>
              </a:solidFill>
              <a:latin typeface="+mn-lt"/>
            </a:endParaRPr>
          </a:p>
          <a:p>
            <a:pPr algn="just" rtl="0">
              <a:buFont typeface="Wingdings" pitchFamily="2" charset="2"/>
              <a:buChar char="§"/>
            </a:pPr>
            <a:endParaRPr lang="ar-JO" sz="1600" dirty="0">
              <a:latin typeface="+mn-lt"/>
            </a:endParaRPr>
          </a:p>
        </p:txBody>
      </p:sp>
      <p:sp>
        <p:nvSpPr>
          <p:cNvPr id="17" name="Rectangle 16"/>
          <p:cNvSpPr/>
          <p:nvPr/>
        </p:nvSpPr>
        <p:spPr>
          <a:xfrm>
            <a:off x="8036720" y="3608387"/>
            <a:ext cx="5141118" cy="1261884"/>
          </a:xfrm>
          <a:prstGeom prst="rect">
            <a:avLst/>
          </a:prstGeom>
        </p:spPr>
        <p:txBody>
          <a:bodyPr wrap="square">
            <a:spAutoFit/>
          </a:bodyPr>
          <a:lstStyle/>
          <a:p>
            <a:pPr algn="just" rtl="0"/>
            <a:r>
              <a:rPr lang="en-US" sz="2000" b="1" dirty="0">
                <a:latin typeface="+mn-lt"/>
              </a:rPr>
              <a:t>Gelatin</a:t>
            </a:r>
            <a:r>
              <a:rPr lang="en-US" sz="2800" b="1" dirty="0">
                <a:latin typeface="+mn-lt"/>
              </a:rPr>
              <a:t>-</a:t>
            </a:r>
            <a:r>
              <a:rPr lang="en-US" dirty="0">
                <a:latin typeface="+mn-lt"/>
              </a:rPr>
              <a:t> </a:t>
            </a:r>
          </a:p>
          <a:p>
            <a:pPr algn="just" rtl="0">
              <a:buFont typeface="Wingdings" pitchFamily="2" charset="2"/>
              <a:buChar char="§"/>
            </a:pPr>
            <a:r>
              <a:rPr lang="en-US" sz="1600" dirty="0">
                <a:latin typeface="+mn-lt"/>
                <a:cs typeface="Arial"/>
              </a:rPr>
              <a:t>If gelatin has not been hydrolyzed, NO </a:t>
            </a:r>
            <a:r>
              <a:rPr lang="en-US" sz="1600" dirty="0">
                <a:latin typeface="+mn-lt"/>
              </a:rPr>
              <a:t>clear zones around bacteria growth</a:t>
            </a:r>
          </a:p>
          <a:p>
            <a:pPr algn="just" rtl="0">
              <a:buFont typeface="Wingdings" pitchFamily="2" charset="2"/>
              <a:buChar char="§"/>
            </a:pPr>
            <a:r>
              <a:rPr lang="en-US" sz="1600" dirty="0">
                <a:latin typeface="+mn-lt"/>
              </a:rPr>
              <a:t>Using </a:t>
            </a:r>
            <a:r>
              <a:rPr lang="en-US" sz="1600" dirty="0" err="1">
                <a:solidFill>
                  <a:srgbClr val="FF0000"/>
                </a:solidFill>
              </a:rPr>
              <a:t>HgCh</a:t>
            </a:r>
            <a:r>
              <a:rPr lang="en-US" sz="1600" dirty="0">
                <a:solidFill>
                  <a:srgbClr val="FF0000"/>
                </a:solidFill>
              </a:rPr>
              <a:t>/ </a:t>
            </a:r>
            <a:r>
              <a:rPr lang="en-US" sz="1600" dirty="0" err="1">
                <a:solidFill>
                  <a:srgbClr val="FF0000"/>
                </a:solidFill>
              </a:rPr>
              <a:t>HCl</a:t>
            </a:r>
            <a:r>
              <a:rPr lang="en-US" sz="1600" dirty="0">
                <a:latin typeface="+mn-lt"/>
              </a:rPr>
              <a:t>              White </a:t>
            </a:r>
            <a:r>
              <a:rPr lang="en-US" sz="1600" dirty="0" err="1">
                <a:latin typeface="+mn-lt"/>
              </a:rPr>
              <a:t>PPt</a:t>
            </a:r>
            <a:r>
              <a:rPr lang="en-US" sz="1600" dirty="0">
                <a:latin typeface="+mn-lt"/>
              </a:rPr>
              <a:t> in the whole plate </a:t>
            </a:r>
            <a:r>
              <a:rPr lang="en-US" sz="1600" b="1" dirty="0">
                <a:solidFill>
                  <a:srgbClr val="FF0000"/>
                </a:solidFill>
                <a:latin typeface="+mn-lt"/>
              </a:rPr>
              <a:t>(B)</a:t>
            </a:r>
            <a:endParaRPr lang="ar-JO" sz="1600" b="1" dirty="0">
              <a:solidFill>
                <a:srgbClr val="FF0000"/>
              </a:solidFill>
              <a:latin typeface="+mn-lt"/>
            </a:endParaRPr>
          </a:p>
        </p:txBody>
      </p:sp>
      <p:pic>
        <p:nvPicPr>
          <p:cNvPr id="19" name="Picture 18" descr="Starch Hydrolysis Test"/>
          <p:cNvPicPr/>
          <p:nvPr/>
        </p:nvPicPr>
        <p:blipFill>
          <a:blip r:embed="rId3"/>
          <a:srcRect l="7384" t="48256" r="62471" b="13128"/>
          <a:stretch>
            <a:fillRect/>
          </a:stretch>
        </p:blipFill>
        <p:spPr bwMode="auto">
          <a:xfrm>
            <a:off x="6360319" y="3379787"/>
            <a:ext cx="1295400" cy="1219200"/>
          </a:xfrm>
          <a:prstGeom prst="rect">
            <a:avLst/>
          </a:prstGeom>
          <a:noFill/>
          <a:ln w="9525">
            <a:noFill/>
            <a:miter lim="800000"/>
            <a:headEnd/>
            <a:tailEnd/>
          </a:ln>
        </p:spPr>
      </p:pic>
      <p:pic>
        <p:nvPicPr>
          <p:cNvPr id="3074" name="Picture 2" descr="Gelatin Hydrolysis Test Results"/>
          <p:cNvPicPr>
            <a:picLocks noChangeAspect="1" noChangeArrowheads="1"/>
          </p:cNvPicPr>
          <p:nvPr/>
        </p:nvPicPr>
        <p:blipFill>
          <a:blip r:embed="rId4"/>
          <a:srcRect/>
          <a:stretch>
            <a:fillRect/>
          </a:stretch>
        </p:blipFill>
        <p:spPr bwMode="auto">
          <a:xfrm>
            <a:off x="6131719" y="4947037"/>
            <a:ext cx="2743200" cy="1709349"/>
          </a:xfrm>
          <a:prstGeom prst="rect">
            <a:avLst/>
          </a:prstGeom>
          <a:noFill/>
        </p:spPr>
      </p:pic>
      <p:cxnSp>
        <p:nvCxnSpPr>
          <p:cNvPr id="21" name="Straight Arrow Connector 20"/>
          <p:cNvCxnSpPr/>
          <p:nvPr/>
        </p:nvCxnSpPr>
        <p:spPr>
          <a:xfrm>
            <a:off x="13599319" y="4294187"/>
            <a:ext cx="9144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9789319" y="4827587"/>
            <a:ext cx="533400" cy="1588"/>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24" name="Straight Arrow Connector 23"/>
          <p:cNvCxnSpPr/>
          <p:nvPr/>
        </p:nvCxnSpPr>
        <p:spPr>
          <a:xfrm>
            <a:off x="4302919" y="4598987"/>
            <a:ext cx="457200" cy="1588"/>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33" name="Straight Arrow Connector 32"/>
          <p:cNvCxnSpPr/>
          <p:nvPr/>
        </p:nvCxnSpPr>
        <p:spPr>
          <a:xfrm>
            <a:off x="4455319" y="5132387"/>
            <a:ext cx="2590800" cy="6858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5" name="Straight Arrow Connector 34"/>
          <p:cNvCxnSpPr/>
          <p:nvPr/>
        </p:nvCxnSpPr>
        <p:spPr>
          <a:xfrm rot="10800000" flipV="1">
            <a:off x="8112919" y="4979987"/>
            <a:ext cx="4343400" cy="457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119" y="179387"/>
            <a:ext cx="12039600" cy="923330"/>
          </a:xfrm>
        </p:spPr>
        <p:txBody>
          <a:bodyPr/>
          <a:lstStyle/>
          <a:p>
            <a:pPr algn="l"/>
            <a:r>
              <a:rPr lang="en-US" sz="3600" b="1" dirty="0">
                <a:latin typeface="+mj-lt"/>
              </a:rPr>
              <a:t>Extracellular enzymes: Starch test </a:t>
            </a:r>
            <a:r>
              <a:rPr lang="en-US" sz="2400" dirty="0">
                <a:solidFill>
                  <a:schemeClr val="tx1"/>
                </a:solidFill>
                <a:latin typeface="+mj-lt"/>
              </a:rPr>
              <a:t>(Monomer of starch is glucose) </a:t>
            </a:r>
            <a:endParaRPr lang="ar-JO" sz="3600" dirty="0">
              <a:solidFill>
                <a:schemeClr val="tx1"/>
              </a:solidFill>
              <a:latin typeface="+mj-lt"/>
            </a:endParaRPr>
          </a:p>
        </p:txBody>
      </p:sp>
      <p:sp>
        <p:nvSpPr>
          <p:cNvPr id="3" name="Text Placeholder 2"/>
          <p:cNvSpPr>
            <a:spLocks noGrp="1"/>
          </p:cNvSpPr>
          <p:nvPr>
            <p:ph type="body" idx="1"/>
          </p:nvPr>
        </p:nvSpPr>
        <p:spPr>
          <a:xfrm>
            <a:off x="340519" y="865187"/>
            <a:ext cx="11582400" cy="830997"/>
          </a:xfrm>
          <a:ln>
            <a:solidFill>
              <a:schemeClr val="accent2"/>
            </a:solidFill>
          </a:ln>
        </p:spPr>
        <p:txBody>
          <a:bodyPr/>
          <a:lstStyle/>
          <a:p>
            <a:pPr marL="88900" indent="-7938" algn="just">
              <a:buNone/>
            </a:pPr>
            <a:r>
              <a:rPr lang="ar-JO" sz="1800" b="1" spc="-16" dirty="0">
                <a:solidFill>
                  <a:srgbClr val="FF0000"/>
                </a:solidFill>
                <a:cs typeface="Calibri"/>
              </a:rPr>
              <a:t>Principle </a:t>
            </a:r>
            <a:r>
              <a:rPr lang="en-US" sz="1800" b="1" dirty="0"/>
              <a:t>:</a:t>
            </a:r>
            <a:r>
              <a:rPr lang="en-US" sz="1800" dirty="0"/>
              <a:t> Starch  is  too  large  to  pass  through  the  plasma  membrane  and  must  be  split  into  individual  glucose molecules. So,  this test aims  to determine if the organism is capable of breaking down starch into its monomer through the activity of the extra-cellular α-amylase enzyme.</a:t>
            </a:r>
            <a:endParaRPr lang="ar-JO" sz="1800" dirty="0"/>
          </a:p>
        </p:txBody>
      </p:sp>
      <p:pic>
        <p:nvPicPr>
          <p:cNvPr id="1026" name="Picture 2"/>
          <p:cNvPicPr>
            <a:picLocks noChangeAspect="1" noChangeArrowheads="1"/>
          </p:cNvPicPr>
          <p:nvPr/>
        </p:nvPicPr>
        <p:blipFill>
          <a:blip r:embed="rId2"/>
          <a:srcRect t="26986" r="6657" b="8921"/>
          <a:stretch>
            <a:fillRect/>
          </a:stretch>
        </p:blipFill>
        <p:spPr bwMode="auto">
          <a:xfrm>
            <a:off x="0" y="2084387"/>
            <a:ext cx="1788319" cy="1600200"/>
          </a:xfrm>
          <a:prstGeom prst="rect">
            <a:avLst/>
          </a:prstGeom>
          <a:noFill/>
          <a:ln w="9525">
            <a:noFill/>
            <a:miter lim="800000"/>
            <a:headEnd/>
            <a:tailEnd/>
          </a:ln>
          <a:effectLst/>
        </p:spPr>
      </p:pic>
      <p:sp>
        <p:nvSpPr>
          <p:cNvPr id="5" name="Rectangle 4"/>
          <p:cNvSpPr/>
          <p:nvPr/>
        </p:nvSpPr>
        <p:spPr>
          <a:xfrm>
            <a:off x="264320" y="3836987"/>
            <a:ext cx="1524000" cy="584775"/>
          </a:xfrm>
          <a:prstGeom prst="rect">
            <a:avLst/>
          </a:prstGeom>
          <a:ln>
            <a:solidFill>
              <a:srgbClr val="FF0000"/>
            </a:solidFill>
          </a:ln>
        </p:spPr>
        <p:txBody>
          <a:bodyPr wrap="square">
            <a:spAutoFit/>
          </a:bodyPr>
          <a:lstStyle/>
          <a:p>
            <a:pPr algn="l" rtl="0"/>
            <a:r>
              <a:rPr lang="en-US" sz="1600" b="1" dirty="0">
                <a:latin typeface="+mn-lt"/>
              </a:rPr>
              <a:t>Nutrient agar +</a:t>
            </a:r>
          </a:p>
          <a:p>
            <a:pPr algn="l" rtl="0"/>
            <a:r>
              <a:rPr lang="en-US" sz="1600" b="1" dirty="0">
                <a:latin typeface="+mn-lt"/>
              </a:rPr>
              <a:t> 1 % starch </a:t>
            </a:r>
            <a:endParaRPr lang="ar-JO" sz="1600" b="1" dirty="0">
              <a:latin typeface="+mn-lt"/>
            </a:endParaRPr>
          </a:p>
        </p:txBody>
      </p:sp>
      <p:sp>
        <p:nvSpPr>
          <p:cNvPr id="6" name="object 4"/>
          <p:cNvSpPr>
            <a:spLocks noChangeArrowheads="1"/>
          </p:cNvSpPr>
          <p:nvPr/>
        </p:nvSpPr>
        <p:spPr bwMode="auto">
          <a:xfrm>
            <a:off x="1788319" y="2846387"/>
            <a:ext cx="4191000" cy="228600"/>
          </a:xfrm>
          <a:custGeom>
            <a:avLst/>
            <a:gdLst>
              <a:gd name="T0" fmla="*/ 0 w 2304415"/>
              <a:gd name="T1" fmla="*/ 0 h 228600"/>
              <a:gd name="T2" fmla="*/ 2304415 w 2304415"/>
              <a:gd name="T3" fmla="*/ 228600 h 228600"/>
            </a:gdLst>
            <a:ahLst/>
            <a:cxnLst/>
            <a:rect l="T0" t="T1" r="T2" b="T3"/>
            <a:pathLst>
              <a:path w="2304415" h="228600">
                <a:moveTo>
                  <a:pt x="2075688" y="0"/>
                </a:moveTo>
                <a:lnTo>
                  <a:pt x="2075688" y="228600"/>
                </a:lnTo>
                <a:lnTo>
                  <a:pt x="2228088" y="152400"/>
                </a:lnTo>
                <a:lnTo>
                  <a:pt x="2113788" y="152400"/>
                </a:lnTo>
                <a:lnTo>
                  <a:pt x="2113788" y="76200"/>
                </a:lnTo>
                <a:lnTo>
                  <a:pt x="2228088" y="76200"/>
                </a:lnTo>
                <a:lnTo>
                  <a:pt x="2075688" y="0"/>
                </a:lnTo>
                <a:close/>
              </a:path>
              <a:path w="2304415" h="228600">
                <a:moveTo>
                  <a:pt x="2075688" y="76200"/>
                </a:moveTo>
                <a:lnTo>
                  <a:pt x="0" y="76200"/>
                </a:lnTo>
                <a:lnTo>
                  <a:pt x="0" y="152400"/>
                </a:lnTo>
                <a:lnTo>
                  <a:pt x="2075688" y="152400"/>
                </a:lnTo>
                <a:lnTo>
                  <a:pt x="2075688" y="76200"/>
                </a:lnTo>
                <a:close/>
              </a:path>
              <a:path w="2304415" h="228600">
                <a:moveTo>
                  <a:pt x="2228088" y="76200"/>
                </a:moveTo>
                <a:lnTo>
                  <a:pt x="2113788" y="76200"/>
                </a:lnTo>
                <a:lnTo>
                  <a:pt x="2113788" y="152400"/>
                </a:lnTo>
                <a:lnTo>
                  <a:pt x="2228088" y="152400"/>
                </a:lnTo>
                <a:lnTo>
                  <a:pt x="2304288" y="114300"/>
                </a:lnTo>
                <a:lnTo>
                  <a:pt x="2228088" y="76200"/>
                </a:lnTo>
                <a:close/>
              </a:path>
            </a:pathLst>
          </a:custGeom>
          <a:solidFill>
            <a:srgbClr val="FF0000"/>
          </a:solidFill>
          <a:ln w="9525">
            <a:solidFill>
              <a:srgbClr val="FF0000"/>
            </a:solidFill>
            <a:miter lim="800000"/>
            <a:headEnd/>
            <a:tailEnd/>
          </a:ln>
        </p:spPr>
        <p:txBody>
          <a:bodyPr lIns="0" tIns="0" rIns="0" bIns="0"/>
          <a:lstStyle>
            <a:defPPr>
              <a:defRPr lang="ar-JO"/>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82117" algn="r" rtl="1" fontAlgn="base">
              <a:spcBef>
                <a:spcPct val="0"/>
              </a:spcBef>
              <a:spcAft>
                <a:spcPct val="0"/>
              </a:spcAft>
              <a:defRPr kern="1200">
                <a:solidFill>
                  <a:schemeClr val="tx1"/>
                </a:solidFill>
                <a:latin typeface="Arial" pitchFamily="34" charset="0"/>
                <a:ea typeface="+mn-ea"/>
                <a:cs typeface="Arial" pitchFamily="34" charset="0"/>
              </a:defRPr>
            </a:lvl2pPr>
            <a:lvl3pPr marL="964235" algn="r" rtl="1" fontAlgn="base">
              <a:spcBef>
                <a:spcPct val="0"/>
              </a:spcBef>
              <a:spcAft>
                <a:spcPct val="0"/>
              </a:spcAft>
              <a:defRPr kern="1200">
                <a:solidFill>
                  <a:schemeClr val="tx1"/>
                </a:solidFill>
                <a:latin typeface="Arial" pitchFamily="34" charset="0"/>
                <a:ea typeface="+mn-ea"/>
                <a:cs typeface="Arial" pitchFamily="34" charset="0"/>
              </a:defRPr>
            </a:lvl3pPr>
            <a:lvl4pPr marL="1446352" algn="r" rtl="1" fontAlgn="base">
              <a:spcBef>
                <a:spcPct val="0"/>
              </a:spcBef>
              <a:spcAft>
                <a:spcPct val="0"/>
              </a:spcAft>
              <a:defRPr kern="1200">
                <a:solidFill>
                  <a:schemeClr val="tx1"/>
                </a:solidFill>
                <a:latin typeface="Arial" pitchFamily="34" charset="0"/>
                <a:ea typeface="+mn-ea"/>
                <a:cs typeface="Arial" pitchFamily="34" charset="0"/>
              </a:defRPr>
            </a:lvl4pPr>
            <a:lvl5pPr marL="1928470" algn="r" rtl="1" fontAlgn="base">
              <a:spcBef>
                <a:spcPct val="0"/>
              </a:spcBef>
              <a:spcAft>
                <a:spcPct val="0"/>
              </a:spcAft>
              <a:defRPr kern="1200">
                <a:solidFill>
                  <a:schemeClr val="tx1"/>
                </a:solidFill>
                <a:latin typeface="Arial" pitchFamily="34" charset="0"/>
                <a:ea typeface="+mn-ea"/>
                <a:cs typeface="Arial" pitchFamily="34" charset="0"/>
              </a:defRPr>
            </a:lvl5pPr>
            <a:lvl6pPr marL="2410587" algn="r" defTabSz="964235" rtl="1" eaLnBrk="1" latinLnBrk="0" hangingPunct="1">
              <a:defRPr kern="1200">
                <a:solidFill>
                  <a:schemeClr val="tx1"/>
                </a:solidFill>
                <a:latin typeface="Arial" pitchFamily="34" charset="0"/>
                <a:ea typeface="+mn-ea"/>
                <a:cs typeface="Arial" pitchFamily="34" charset="0"/>
              </a:defRPr>
            </a:lvl6pPr>
            <a:lvl7pPr marL="2892704" algn="r" defTabSz="964235" rtl="1" eaLnBrk="1" latinLnBrk="0" hangingPunct="1">
              <a:defRPr kern="1200">
                <a:solidFill>
                  <a:schemeClr val="tx1"/>
                </a:solidFill>
                <a:latin typeface="Arial" pitchFamily="34" charset="0"/>
                <a:ea typeface="+mn-ea"/>
                <a:cs typeface="Arial" pitchFamily="34" charset="0"/>
              </a:defRPr>
            </a:lvl7pPr>
            <a:lvl8pPr marL="3374822" algn="r" defTabSz="964235" rtl="1" eaLnBrk="1" latinLnBrk="0" hangingPunct="1">
              <a:defRPr kern="1200">
                <a:solidFill>
                  <a:schemeClr val="tx1"/>
                </a:solidFill>
                <a:latin typeface="Arial" pitchFamily="34" charset="0"/>
                <a:ea typeface="+mn-ea"/>
                <a:cs typeface="Arial" pitchFamily="34" charset="0"/>
              </a:defRPr>
            </a:lvl8pPr>
            <a:lvl9pPr marL="3856939" algn="r" defTabSz="964235" rtl="1" eaLnBrk="1" latinLnBrk="0" hangingPunct="1">
              <a:defRPr kern="1200">
                <a:solidFill>
                  <a:schemeClr val="tx1"/>
                </a:solidFill>
                <a:latin typeface="Arial" pitchFamily="34" charset="0"/>
                <a:ea typeface="+mn-ea"/>
                <a:cs typeface="Arial" pitchFamily="34" charset="0"/>
              </a:defRPr>
            </a:lvl9pPr>
          </a:lstStyle>
          <a:p>
            <a:pPr algn="l" rtl="0"/>
            <a:endParaRPr lang="ar-JO">
              <a:latin typeface="+mn-lt"/>
            </a:endParaRPr>
          </a:p>
        </p:txBody>
      </p:sp>
      <p:sp>
        <p:nvSpPr>
          <p:cNvPr id="7" name="Rectangle 6"/>
          <p:cNvSpPr/>
          <p:nvPr/>
        </p:nvSpPr>
        <p:spPr>
          <a:xfrm>
            <a:off x="1940719" y="2008187"/>
            <a:ext cx="3814635" cy="923330"/>
          </a:xfrm>
          <a:prstGeom prst="rect">
            <a:avLst/>
          </a:prstGeom>
        </p:spPr>
        <p:txBody>
          <a:bodyPr wrap="none">
            <a:spAutoFit/>
          </a:bodyPr>
          <a:lstStyle/>
          <a:p>
            <a:pPr algn="ctr" rtl="0"/>
            <a:r>
              <a:rPr lang="en-US" b="1" dirty="0">
                <a:latin typeface="+mn-lt"/>
              </a:rPr>
              <a:t>inoculate the media surface by sterile </a:t>
            </a:r>
          </a:p>
          <a:p>
            <a:pPr algn="ctr" rtl="0"/>
            <a:r>
              <a:rPr lang="en-US" b="1" dirty="0">
                <a:latin typeface="+mn-lt"/>
              </a:rPr>
              <a:t>cooled loop through streaking or  as </a:t>
            </a:r>
          </a:p>
          <a:p>
            <a:pPr algn="ctr" rtl="0"/>
            <a:r>
              <a:rPr lang="en-US" b="1" dirty="0">
                <a:latin typeface="+mn-lt"/>
              </a:rPr>
              <a:t>a dot at the center of plate. </a:t>
            </a:r>
            <a:endParaRPr lang="ar-JO" b="1" dirty="0">
              <a:latin typeface="+mn-lt"/>
            </a:endParaRPr>
          </a:p>
        </p:txBody>
      </p:sp>
      <p:cxnSp>
        <p:nvCxnSpPr>
          <p:cNvPr id="8" name="Straight Arrow Connector 7"/>
          <p:cNvCxnSpPr/>
          <p:nvPr/>
        </p:nvCxnSpPr>
        <p:spPr>
          <a:xfrm rot="5400000">
            <a:off x="6665913" y="2997993"/>
            <a:ext cx="304800" cy="1588"/>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9" name="Rectangle 8"/>
          <p:cNvSpPr/>
          <p:nvPr/>
        </p:nvSpPr>
        <p:spPr>
          <a:xfrm>
            <a:off x="5903119" y="2541587"/>
            <a:ext cx="3027880" cy="369332"/>
          </a:xfrm>
          <a:prstGeom prst="rect">
            <a:avLst/>
          </a:prstGeom>
        </p:spPr>
        <p:txBody>
          <a:bodyPr wrap="none">
            <a:spAutoFit/>
          </a:bodyPr>
          <a:lstStyle/>
          <a:p>
            <a:pPr algn="l" rtl="0"/>
            <a:r>
              <a:rPr lang="en-US" b="1" dirty="0">
                <a:latin typeface="+mn-lt"/>
              </a:rPr>
              <a:t>incubate at 37°C for 48 hours.</a:t>
            </a:r>
            <a:endParaRPr lang="ar-JO" b="1" dirty="0">
              <a:latin typeface="+mn-lt"/>
            </a:endParaRPr>
          </a:p>
        </p:txBody>
      </p:sp>
      <p:cxnSp>
        <p:nvCxnSpPr>
          <p:cNvPr id="10" name="Straight Arrow Connector 9"/>
          <p:cNvCxnSpPr/>
          <p:nvPr/>
        </p:nvCxnSpPr>
        <p:spPr>
          <a:xfrm rot="10800000" flipV="1">
            <a:off x="5217319" y="3379787"/>
            <a:ext cx="1143000" cy="228600"/>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1" name="Rectangle 10"/>
          <p:cNvSpPr/>
          <p:nvPr/>
        </p:nvSpPr>
        <p:spPr>
          <a:xfrm>
            <a:off x="6436519" y="3151187"/>
            <a:ext cx="948721" cy="400110"/>
          </a:xfrm>
          <a:prstGeom prst="rect">
            <a:avLst/>
          </a:prstGeom>
        </p:spPr>
        <p:txBody>
          <a:bodyPr wrap="none">
            <a:spAutoFit/>
          </a:bodyPr>
          <a:lstStyle/>
          <a:p>
            <a:r>
              <a:rPr lang="en-US" sz="2000" b="1" dirty="0">
                <a:latin typeface="+mn-lt"/>
              </a:rPr>
              <a:t>Results</a:t>
            </a:r>
            <a:endParaRPr lang="ar-JO" sz="2000" b="1" dirty="0">
              <a:latin typeface="+mn-lt"/>
            </a:endParaRPr>
          </a:p>
        </p:txBody>
      </p:sp>
      <p:cxnSp>
        <p:nvCxnSpPr>
          <p:cNvPr id="12" name="Straight Arrow Connector 11"/>
          <p:cNvCxnSpPr/>
          <p:nvPr/>
        </p:nvCxnSpPr>
        <p:spPr>
          <a:xfrm>
            <a:off x="7427119" y="3379787"/>
            <a:ext cx="838200" cy="381000"/>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3" name="Rectangle 12"/>
          <p:cNvSpPr/>
          <p:nvPr/>
        </p:nvSpPr>
        <p:spPr>
          <a:xfrm>
            <a:off x="7808119" y="2846387"/>
            <a:ext cx="4664869" cy="584775"/>
          </a:xfrm>
          <a:prstGeom prst="rect">
            <a:avLst/>
          </a:prstGeom>
          <a:ln>
            <a:solidFill>
              <a:schemeClr val="tx1"/>
            </a:solidFill>
          </a:ln>
        </p:spPr>
        <p:txBody>
          <a:bodyPr wrap="square">
            <a:spAutoFit/>
          </a:bodyPr>
          <a:lstStyle/>
          <a:p>
            <a:pPr algn="just" rtl="0"/>
            <a:r>
              <a:rPr lang="en-US" sz="1600" dirty="0">
                <a:solidFill>
                  <a:srgbClr val="FF0000"/>
                </a:solidFill>
                <a:latin typeface="+mn-lt"/>
              </a:rPr>
              <a:t>Iodine will be added to the plate. Iodine reacts with starch to produce a dark brown or blue/black color.</a:t>
            </a:r>
            <a:endParaRPr lang="ar-JO" sz="1600" dirty="0">
              <a:solidFill>
                <a:srgbClr val="FF0000"/>
              </a:solidFill>
              <a:latin typeface="+mn-lt"/>
            </a:endParaRPr>
          </a:p>
        </p:txBody>
      </p:sp>
      <p:sp>
        <p:nvSpPr>
          <p:cNvPr id="14" name="Rectangle 13"/>
          <p:cNvSpPr/>
          <p:nvPr/>
        </p:nvSpPr>
        <p:spPr>
          <a:xfrm>
            <a:off x="2245519" y="3379787"/>
            <a:ext cx="3810000" cy="1569660"/>
          </a:xfrm>
          <a:prstGeom prst="rect">
            <a:avLst/>
          </a:prstGeom>
        </p:spPr>
        <p:txBody>
          <a:bodyPr wrap="square">
            <a:spAutoFit/>
          </a:bodyPr>
          <a:lstStyle/>
          <a:p>
            <a:pPr algn="just" rtl="0"/>
            <a:r>
              <a:rPr lang="en-US" sz="1600" b="1" dirty="0">
                <a:latin typeface="+mn-lt"/>
              </a:rPr>
              <a:t>Starch +</a:t>
            </a:r>
            <a:r>
              <a:rPr lang="en-US" sz="1600" dirty="0">
                <a:latin typeface="+mn-lt"/>
              </a:rPr>
              <a:t> </a:t>
            </a:r>
          </a:p>
          <a:p>
            <a:pPr algn="just" rtl="0">
              <a:buFont typeface="Wingdings" pitchFamily="2" charset="2"/>
              <a:buChar char="§"/>
            </a:pPr>
            <a:r>
              <a:rPr lang="en-US" sz="1600" dirty="0">
                <a:latin typeface="+mn-lt"/>
              </a:rPr>
              <a:t>If starch has been hydrolyzed, there will be a clear zone around the bacterial growth</a:t>
            </a:r>
          </a:p>
          <a:p>
            <a:pPr algn="just" rtl="0">
              <a:buFont typeface="Wingdings" pitchFamily="2" charset="2"/>
              <a:buChar char="§"/>
            </a:pPr>
            <a:r>
              <a:rPr lang="en-US" sz="1600" dirty="0"/>
              <a:t>Using  iodine </a:t>
            </a:r>
            <a:r>
              <a:rPr lang="en-US" sz="1600" dirty="0">
                <a:cs typeface="Arial"/>
              </a:rPr>
              <a:t>dark brown or blue/black color </a:t>
            </a:r>
            <a:r>
              <a:rPr lang="en-US" sz="1600" dirty="0"/>
              <a:t>in the whole plate except area surrounding bacteria growth .</a:t>
            </a:r>
            <a:endParaRPr lang="ar-JO" sz="1600" dirty="0">
              <a:latin typeface="+mn-lt"/>
            </a:endParaRPr>
          </a:p>
        </p:txBody>
      </p:sp>
      <p:sp>
        <p:nvSpPr>
          <p:cNvPr id="15" name="Rectangle 14"/>
          <p:cNvSpPr/>
          <p:nvPr/>
        </p:nvSpPr>
        <p:spPr>
          <a:xfrm>
            <a:off x="8341519" y="3455987"/>
            <a:ext cx="4572000" cy="1508105"/>
          </a:xfrm>
          <a:prstGeom prst="rect">
            <a:avLst/>
          </a:prstGeom>
        </p:spPr>
        <p:txBody>
          <a:bodyPr wrap="square">
            <a:spAutoFit/>
          </a:bodyPr>
          <a:lstStyle/>
          <a:p>
            <a:pPr algn="l" rtl="0"/>
            <a:r>
              <a:rPr lang="en-US" sz="2000" b="1" dirty="0">
                <a:latin typeface="+mn-lt"/>
              </a:rPr>
              <a:t>Starch </a:t>
            </a:r>
            <a:r>
              <a:rPr lang="en-US" sz="2800" b="1" dirty="0">
                <a:latin typeface="+mn-lt"/>
              </a:rPr>
              <a:t>-</a:t>
            </a:r>
            <a:r>
              <a:rPr lang="en-US" dirty="0">
                <a:latin typeface="+mn-lt"/>
              </a:rPr>
              <a:t> </a:t>
            </a:r>
          </a:p>
          <a:p>
            <a:pPr algn="l" rtl="0">
              <a:buFont typeface="Wingdings" pitchFamily="2" charset="2"/>
              <a:buChar char="§"/>
            </a:pPr>
            <a:r>
              <a:rPr lang="en-US" sz="1600" dirty="0">
                <a:latin typeface="+mn-lt"/>
                <a:cs typeface="Arial"/>
              </a:rPr>
              <a:t>If starch has not been </a:t>
            </a:r>
            <a:r>
              <a:rPr lang="en-US" sz="1600" dirty="0" err="1">
                <a:latin typeface="+mn-lt"/>
                <a:cs typeface="Arial"/>
              </a:rPr>
              <a:t>hydrolyzed,no</a:t>
            </a:r>
            <a:r>
              <a:rPr lang="en-US" sz="1600" dirty="0">
                <a:latin typeface="+mn-lt"/>
                <a:cs typeface="Arial"/>
              </a:rPr>
              <a:t> </a:t>
            </a:r>
            <a:r>
              <a:rPr lang="en-US" sz="1600" dirty="0">
                <a:latin typeface="+mn-lt"/>
              </a:rPr>
              <a:t>clear zone around bacteria growth</a:t>
            </a:r>
          </a:p>
          <a:p>
            <a:pPr algn="l" rtl="0">
              <a:buFont typeface="Wingdings" pitchFamily="2" charset="2"/>
              <a:buChar char="§"/>
            </a:pPr>
            <a:r>
              <a:rPr lang="en-US" sz="1600" dirty="0">
                <a:latin typeface="+mn-lt"/>
              </a:rPr>
              <a:t>Using  iodine </a:t>
            </a:r>
            <a:r>
              <a:rPr lang="en-US" sz="1600" dirty="0">
                <a:latin typeface="+mn-lt"/>
                <a:cs typeface="Arial"/>
              </a:rPr>
              <a:t>the agar will remain a dark brown or blue/black color </a:t>
            </a:r>
            <a:endParaRPr lang="ar-JO" sz="1600" dirty="0">
              <a:latin typeface="+mn-lt"/>
            </a:endParaRPr>
          </a:p>
        </p:txBody>
      </p:sp>
      <p:pic>
        <p:nvPicPr>
          <p:cNvPr id="16" name="Picture 15" descr="Starch Hydrolysis Test"/>
          <p:cNvPicPr/>
          <p:nvPr/>
        </p:nvPicPr>
        <p:blipFill>
          <a:blip r:embed="rId3"/>
          <a:srcRect/>
          <a:stretch>
            <a:fillRect/>
          </a:stretch>
        </p:blipFill>
        <p:spPr bwMode="auto">
          <a:xfrm>
            <a:off x="5064919" y="5132387"/>
            <a:ext cx="5715000" cy="1600200"/>
          </a:xfrm>
          <a:prstGeom prst="rect">
            <a:avLst/>
          </a:prstGeom>
          <a:noFill/>
          <a:ln w="9525">
            <a:noFill/>
            <a:miter lim="800000"/>
            <a:headEnd/>
            <a:tailEnd/>
          </a:ln>
        </p:spPr>
      </p:pic>
      <p:pic>
        <p:nvPicPr>
          <p:cNvPr id="17" name="Picture 16" descr="Starch Hydrolysis Test"/>
          <p:cNvPicPr/>
          <p:nvPr/>
        </p:nvPicPr>
        <p:blipFill>
          <a:blip r:embed="rId4"/>
          <a:srcRect l="6653" t="7755" r="62471" b="51460"/>
          <a:stretch>
            <a:fillRect/>
          </a:stretch>
        </p:blipFill>
        <p:spPr bwMode="auto">
          <a:xfrm>
            <a:off x="6284119" y="3684587"/>
            <a:ext cx="1524000" cy="1308847"/>
          </a:xfrm>
          <a:prstGeom prst="rect">
            <a:avLst/>
          </a:prstGeom>
          <a:noFill/>
          <a:ln w="9525">
            <a:noFill/>
            <a:miter lim="800000"/>
            <a:headEnd/>
            <a:tailEnd/>
          </a:ln>
        </p:spPr>
      </p:pic>
      <p:pic>
        <p:nvPicPr>
          <p:cNvPr id="18" name="Picture 17" descr="Screening of glucoamylase-producing microbial isolates. (A) Starch ..."/>
          <p:cNvPicPr/>
          <p:nvPr/>
        </p:nvPicPr>
        <p:blipFill>
          <a:blip r:embed="rId5"/>
          <a:srcRect l="294" t="17647" r="50375" b="2674"/>
          <a:stretch>
            <a:fillRect/>
          </a:stretch>
        </p:blipFill>
        <p:spPr bwMode="auto">
          <a:xfrm>
            <a:off x="2474119" y="5132387"/>
            <a:ext cx="2590800" cy="15240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2388EF-E60D-F21D-D28D-91FA9CAE7B9D}"/>
              </a:ext>
            </a:extLst>
          </p:cNvPr>
          <p:cNvSpPr>
            <a:spLocks noGrp="1"/>
          </p:cNvSpPr>
          <p:nvPr>
            <p:ph type="body" idx="1"/>
          </p:nvPr>
        </p:nvSpPr>
        <p:spPr>
          <a:xfrm>
            <a:off x="1969812" y="1683195"/>
            <a:ext cx="9724507" cy="1391792"/>
          </a:xfrm>
        </p:spPr>
        <p:txBody>
          <a:bodyPr/>
          <a:lstStyle/>
          <a:p>
            <a:pPr algn="ctr"/>
            <a:r>
              <a:rPr lang="en-US" sz="8800" dirty="0">
                <a:solidFill>
                  <a:srgbClr val="FF0000"/>
                </a:solidFill>
              </a:rPr>
              <a:t>The End</a:t>
            </a:r>
            <a:endParaRPr lang="en-AE" sz="8800" dirty="0">
              <a:solidFill>
                <a:srgbClr val="FF0000"/>
              </a:solidFill>
            </a:endParaRPr>
          </a:p>
        </p:txBody>
      </p:sp>
    </p:spTree>
    <p:extLst>
      <p:ext uri="{BB962C8B-B14F-4D97-AF65-F5344CB8AC3E}">
        <p14:creationId xmlns:p14="http://schemas.microsoft.com/office/powerpoint/2010/main" val="1874895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 (3).potx" id="{9E27ADA6-EA10-4822-B3C1-6E8D86D7E392}" vid="{8B3BFCA4-8458-4DFE-B504-FC98F0D59E1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1058</TotalTime>
  <Words>1921</Words>
  <Application>Microsoft Office PowerPoint</Application>
  <PresentationFormat>Custom</PresentationFormat>
  <Paragraphs>271</Paragraphs>
  <Slides>25</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25</vt:i4>
      </vt:variant>
    </vt:vector>
  </HeadingPairs>
  <TitlesOfParts>
    <vt:vector size="36" baseType="lpstr">
      <vt:lpstr>Arial</vt:lpstr>
      <vt:lpstr>Arial Unicode MS</vt:lpstr>
      <vt:lpstr>Calibri</vt:lpstr>
      <vt:lpstr>Calibri Light</vt:lpstr>
      <vt:lpstr>Roboto</vt:lpstr>
      <vt:lpstr>Segoe UI</vt:lpstr>
      <vt:lpstr>Segoe UI Light</vt:lpstr>
      <vt:lpstr>Tahoma</vt:lpstr>
      <vt:lpstr>Wingdings</vt:lpstr>
      <vt:lpstr>Office Theme</vt:lpstr>
      <vt:lpstr>Get Started with 3D</vt:lpstr>
      <vt:lpstr>Biochemical Tests</vt:lpstr>
      <vt:lpstr> Identification Approach:  Genotypic, chemotaxonomic, and phenotypic methods of characterizing the bacteria in order to find its taxonomic position..  Colonial, cellular, and biochemical characterization is needed. </vt:lpstr>
      <vt:lpstr> Biochemical tests:  The tests that are performed on bacteria for their identification on the basis of their biochemical activities towards different biochemical compounds.  </vt:lpstr>
      <vt:lpstr>PowerPoint Presentation</vt:lpstr>
      <vt:lpstr>PowerPoint Presentation</vt:lpstr>
      <vt:lpstr>Intracellular Enzymes : Carbohydrate Fermentation</vt:lpstr>
      <vt:lpstr>Test # 1: Triple Suger Iron Agar ( TSI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#2: IMViC Test</vt:lpstr>
      <vt:lpstr>PowerPoint Presentation</vt:lpstr>
      <vt:lpstr>PowerPoint Presentation</vt:lpstr>
      <vt:lpstr>IMViC test Methyl Red-Voges Proskauer (MR-VP) Tests</vt:lpstr>
      <vt:lpstr>PowerPoint Presentation</vt:lpstr>
      <vt:lpstr>PowerPoint Presentation</vt:lpstr>
      <vt:lpstr>PowerPoint Presentation</vt:lpstr>
      <vt:lpstr>PowerPoint Presentation</vt:lpstr>
      <vt:lpstr>PowerPoint Presentation</vt:lpstr>
      <vt:lpstr>Extracellular enzymes: Starch test (Monomer of starch is glucose)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IMViC Test</dc:title>
  <dc:creator>hedayati hedayati</dc:creator>
  <cp:lastModifiedBy>Erwah Al Bataineh</cp:lastModifiedBy>
  <cp:revision>169</cp:revision>
  <dcterms:created xsi:type="dcterms:W3CDTF">2020-04-21T17:49:23Z</dcterms:created>
  <dcterms:modified xsi:type="dcterms:W3CDTF">2023-05-08T08:49:04Z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2016-11-05T00:00:00Z</vt:filetime>
  </property>
  <property fmtid="{D5CDD505-2E9C-101B-9397-08002B2CF9AE}" pid="3" name="Creator">
    <vt:lpwstr>Microsoft® PowerPoint® 2013</vt:lpwstr>
  </property>
  <property fmtid="{D5CDD505-2E9C-101B-9397-08002B2CF9AE}" pid="4" name="LastSaved">
    <vt:filetime>2020-04-21T00:00:00Z</vt:filetime>
  </property>
</Properties>
</file>