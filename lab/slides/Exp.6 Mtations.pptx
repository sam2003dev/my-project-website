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handoutMasterIdLst>
    <p:handoutMasterId r:id="rId49"/>
  </p:handoutMasterIdLst>
  <p:sldIdLst>
    <p:sldId id="307" r:id="rId4"/>
    <p:sldId id="258" r:id="rId5"/>
    <p:sldId id="340" r:id="rId7"/>
    <p:sldId id="266" r:id="rId8"/>
    <p:sldId id="296" r:id="rId9"/>
    <p:sldId id="297" r:id="rId10"/>
    <p:sldId id="311" r:id="rId11"/>
    <p:sldId id="299" r:id="rId12"/>
    <p:sldId id="301" r:id="rId13"/>
    <p:sldId id="343" r:id="rId14"/>
    <p:sldId id="341" r:id="rId15"/>
    <p:sldId id="302" r:id="rId16"/>
    <p:sldId id="342" r:id="rId17"/>
    <p:sldId id="261" r:id="rId18"/>
    <p:sldId id="351" r:id="rId19"/>
    <p:sldId id="344" r:id="rId20"/>
    <p:sldId id="348" r:id="rId21"/>
    <p:sldId id="346" r:id="rId22"/>
    <p:sldId id="350" r:id="rId23"/>
    <p:sldId id="349" r:id="rId24"/>
    <p:sldId id="352" r:id="rId25"/>
    <p:sldId id="353" r:id="rId26"/>
    <p:sldId id="354" r:id="rId27"/>
    <p:sldId id="262" r:id="rId28"/>
    <p:sldId id="263" r:id="rId29"/>
    <p:sldId id="309" r:id="rId30"/>
    <p:sldId id="357" r:id="rId31"/>
    <p:sldId id="355" r:id="rId32"/>
    <p:sldId id="310" r:id="rId33"/>
    <p:sldId id="312" r:id="rId34"/>
    <p:sldId id="356" r:id="rId35"/>
    <p:sldId id="274" r:id="rId36"/>
    <p:sldId id="275" r:id="rId37"/>
    <p:sldId id="276" r:id="rId38"/>
    <p:sldId id="277" r:id="rId39"/>
    <p:sldId id="278" r:id="rId40"/>
    <p:sldId id="358" r:id="rId41"/>
    <p:sldId id="308" r:id="rId42"/>
    <p:sldId id="280" r:id="rId43"/>
    <p:sldId id="359" r:id="rId44"/>
    <p:sldId id="316" r:id="rId45"/>
    <p:sldId id="303" r:id="rId46"/>
    <p:sldId id="317" r:id="rId47"/>
    <p:sldId id="314" r:id="rId48"/>
  </p:sldIdLst>
  <p:sldSz cx="9144000" cy="6858000" type="screen4x3"/>
  <p:notesSz cx="6858000" cy="9296400"/>
  <p:defaultTextStyle>
    <a:defPPr>
      <a:defRPr lang="en-US"/>
    </a:defPPr>
    <a:lvl1pPr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5pPr>
    <a:lvl6pPr marL="22860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6pPr>
    <a:lvl7pPr marL="27432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7pPr>
    <a:lvl8pPr marL="32004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8pPr>
    <a:lvl9pPr marL="36576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6" autoAdjust="0"/>
  </p:normalViewPr>
  <p:slideViewPr>
    <p:cSldViewPr>
      <p:cViewPr varScale="1">
        <p:scale>
          <a:sx n="81" d="100"/>
          <a:sy n="81" d="100"/>
        </p:scale>
        <p:origin x="1498" y="62"/>
      </p:cViewPr>
      <p:guideLst>
        <p:guide orient="horz" pos="216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eaLnBrk="0" hangingPunct="0">
              <a:defRPr sz="1200">
                <a:latin typeface="Comic Sans MS" panose="030F0702030302020204" pitchFamily="66" charset="0"/>
                <a:cs typeface="+mn-cs"/>
              </a:defRPr>
            </a:lvl1pPr>
          </a:lstStyle>
          <a:p>
            <a:pPr>
              <a:defRPr/>
            </a:pPr>
            <a:endParaRPr lang="en-US"/>
          </a:p>
        </p:txBody>
      </p:sp>
      <p:sp>
        <p:nvSpPr>
          <p:cNvPr id="3" name="Date Placeholder 2"/>
          <p:cNvSpPr>
            <a:spLocks noGrp="1"/>
          </p:cNvSpPr>
          <p:nvPr>
            <p:ph type="dt" sz="quarter" idx="1"/>
          </p:nvPr>
        </p:nvSpPr>
        <p:spPr>
          <a:xfrm>
            <a:off x="3884613" y="0"/>
            <a:ext cx="2971800" cy="465138"/>
          </a:xfrm>
          <a:prstGeom prst="rect">
            <a:avLst/>
          </a:prstGeom>
        </p:spPr>
        <p:txBody>
          <a:bodyPr vert="horz" lIns="91440" tIns="45720" rIns="91440" bIns="45720" rtlCol="0"/>
          <a:lstStyle>
            <a:lvl1pPr algn="r" eaLnBrk="0" hangingPunct="0">
              <a:defRPr sz="1200">
                <a:latin typeface="Comic Sans MS" panose="030F0702030302020204" pitchFamily="66" charset="0"/>
                <a:cs typeface="+mn-cs"/>
              </a:defRPr>
            </a:lvl1pPr>
          </a:lstStyle>
          <a:p>
            <a:pPr>
              <a:defRPr/>
            </a:pPr>
            <a:fld id="{5A7C6C3B-3C76-4E42-8241-0F2A571B5E4F}" type="datetimeFigureOut">
              <a:rPr lang="en-US"/>
            </a:fld>
            <a:endParaRPr lang="en-US"/>
          </a:p>
        </p:txBody>
      </p:sp>
      <p:sp>
        <p:nvSpPr>
          <p:cNvPr id="4" name="Footer Placeholder 3"/>
          <p:cNvSpPr>
            <a:spLocks noGrp="1"/>
          </p:cNvSpPr>
          <p:nvPr>
            <p:ph type="ftr" sz="quarter" idx="2"/>
          </p:nvPr>
        </p:nvSpPr>
        <p:spPr>
          <a:xfrm>
            <a:off x="0" y="8829675"/>
            <a:ext cx="2971800" cy="465138"/>
          </a:xfrm>
          <a:prstGeom prst="rect">
            <a:avLst/>
          </a:prstGeom>
        </p:spPr>
        <p:txBody>
          <a:bodyPr vert="horz" lIns="91440" tIns="45720" rIns="91440" bIns="45720" rtlCol="0" anchor="b"/>
          <a:lstStyle>
            <a:lvl1pPr algn="l" eaLnBrk="0" hangingPunct="0">
              <a:defRPr sz="1200">
                <a:latin typeface="Comic Sans MS" panose="030F0702030302020204" pitchFamily="66" charset="0"/>
                <a:cs typeface="+mn-cs"/>
              </a:defRPr>
            </a:lvl1pPr>
          </a:lstStyle>
          <a:p>
            <a:pPr>
              <a:defRPr/>
            </a:pPr>
            <a:endParaRPr lang="en-US"/>
          </a:p>
        </p:txBody>
      </p:sp>
      <p:sp>
        <p:nvSpPr>
          <p:cNvPr id="5" name="Slide Number Placeholder 4"/>
          <p:cNvSpPr>
            <a:spLocks noGrp="1"/>
          </p:cNvSpPr>
          <p:nvPr>
            <p:ph type="sldNum" sz="quarter" idx="3"/>
          </p:nvPr>
        </p:nvSpPr>
        <p:spPr>
          <a:xfrm>
            <a:off x="3884613" y="8829675"/>
            <a:ext cx="2971800" cy="465138"/>
          </a:xfrm>
          <a:prstGeom prst="rect">
            <a:avLst/>
          </a:prstGeom>
        </p:spPr>
        <p:txBody>
          <a:bodyPr vert="horz" wrap="square" lIns="91440" tIns="45720" rIns="91440" bIns="45720" numCol="1" anchor="b" anchorCtr="0" compatLnSpc="1"/>
          <a:lstStyle>
            <a:lvl1pPr algn="r" eaLnBrk="0" hangingPunct="0">
              <a:defRPr sz="1200" smtClean="0">
                <a:latin typeface="Comic Sans MS" panose="030F0702030302020204" pitchFamily="66" charset="0"/>
              </a:defRPr>
            </a:lvl1pPr>
          </a:lstStyle>
          <a:p>
            <a:pPr>
              <a:defRPr/>
            </a:pPr>
            <a:fld id="{4DB7D3E2-A249-4243-9707-E7C2A97C2CAC}"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6513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Comic Sans MS" panose="030F0702030302020204" pitchFamily="66" charset="0"/>
                <a:cs typeface="+mn-cs"/>
              </a:defRPr>
            </a:lvl1pPr>
          </a:lstStyle>
          <a:p>
            <a:pPr>
              <a:defRPr/>
            </a:pPr>
            <a:endParaRPr lang="en-US"/>
          </a:p>
        </p:txBody>
      </p:sp>
      <p:sp>
        <p:nvSpPr>
          <p:cNvPr id="9219" name="Rectangle 3"/>
          <p:cNvSpPr>
            <a:spLocks noGrp="1" noChangeArrowheads="1"/>
          </p:cNvSpPr>
          <p:nvPr>
            <p:ph type="dt" idx="1"/>
          </p:nvPr>
        </p:nvSpPr>
        <p:spPr bwMode="auto">
          <a:xfrm>
            <a:off x="3884613" y="0"/>
            <a:ext cx="2971800" cy="46513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Comic Sans MS" panose="030F0702030302020204" pitchFamily="66" charset="0"/>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416425"/>
            <a:ext cx="5486400" cy="418306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9222" name="Rectangle 6"/>
          <p:cNvSpPr>
            <a:spLocks noGrp="1" noChangeArrowheads="1"/>
          </p:cNvSpPr>
          <p:nvPr>
            <p:ph type="ftr" sz="quarter" idx="4"/>
          </p:nvPr>
        </p:nvSpPr>
        <p:spPr bwMode="auto">
          <a:xfrm>
            <a:off x="0" y="8829675"/>
            <a:ext cx="2971800" cy="46513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Comic Sans MS" panose="030F0702030302020204" pitchFamily="66" charset="0"/>
                <a:cs typeface="+mn-cs"/>
              </a:defRPr>
            </a:lvl1pPr>
          </a:lstStyle>
          <a:p>
            <a:pPr>
              <a:defRPr/>
            </a:pPr>
            <a:endParaRPr lang="en-US"/>
          </a:p>
        </p:txBody>
      </p:sp>
      <p:sp>
        <p:nvSpPr>
          <p:cNvPr id="9223" name="Rectangle 7"/>
          <p:cNvSpPr>
            <a:spLocks noGrp="1" noChangeArrowheads="1"/>
          </p:cNvSpPr>
          <p:nvPr>
            <p:ph type="sldNum" sz="quarter" idx="5"/>
          </p:nvPr>
        </p:nvSpPr>
        <p:spPr bwMode="auto">
          <a:xfrm>
            <a:off x="3884613" y="8829675"/>
            <a:ext cx="2971800" cy="46513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latin typeface="Comic Sans MS" panose="030F0702030302020204" pitchFamily="66" charset="0"/>
              </a:defRPr>
            </a:lvl1pPr>
          </a:lstStyle>
          <a:p>
            <a:pPr>
              <a:defRPr/>
            </a:pPr>
            <a:fld id="{7BE42614-AB80-415E-A7DA-5800ED6FCC96}"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omic Sans MS" panose="030F0702030302020204" pitchFamily="66" charset="0"/>
        <a:ea typeface="+mn-ea"/>
        <a:cs typeface="+mn-cs"/>
      </a:defRPr>
    </a:lvl1pPr>
    <a:lvl2pPr marL="457200" algn="l" rtl="0" eaLnBrk="0" fontAlgn="base" hangingPunct="0">
      <a:spcBef>
        <a:spcPct val="30000"/>
      </a:spcBef>
      <a:spcAft>
        <a:spcPct val="0"/>
      </a:spcAft>
      <a:defRPr sz="1200" kern="1200">
        <a:solidFill>
          <a:schemeClr val="tx1"/>
        </a:solidFill>
        <a:latin typeface="Comic Sans MS" panose="030F0702030302020204" pitchFamily="66" charset="0"/>
        <a:ea typeface="+mn-ea"/>
        <a:cs typeface="+mn-cs"/>
      </a:defRPr>
    </a:lvl2pPr>
    <a:lvl3pPr marL="914400" algn="l" rtl="0" eaLnBrk="0" fontAlgn="base" hangingPunct="0">
      <a:spcBef>
        <a:spcPct val="30000"/>
      </a:spcBef>
      <a:spcAft>
        <a:spcPct val="0"/>
      </a:spcAft>
      <a:defRPr sz="1200" kern="1200">
        <a:solidFill>
          <a:schemeClr val="tx1"/>
        </a:solidFill>
        <a:latin typeface="Comic Sans MS" panose="030F0702030302020204" pitchFamily="66" charset="0"/>
        <a:ea typeface="+mn-ea"/>
        <a:cs typeface="+mn-cs"/>
      </a:defRPr>
    </a:lvl3pPr>
    <a:lvl4pPr marL="1371600" algn="l" rtl="0" eaLnBrk="0" fontAlgn="base" hangingPunct="0">
      <a:spcBef>
        <a:spcPct val="30000"/>
      </a:spcBef>
      <a:spcAft>
        <a:spcPct val="0"/>
      </a:spcAft>
      <a:defRPr sz="1200" kern="1200">
        <a:solidFill>
          <a:schemeClr val="tx1"/>
        </a:solidFill>
        <a:latin typeface="Comic Sans MS" panose="030F0702030302020204" pitchFamily="66" charset="0"/>
        <a:ea typeface="+mn-ea"/>
        <a:cs typeface="+mn-cs"/>
      </a:defRPr>
    </a:lvl4pPr>
    <a:lvl5pPr marL="1828800" algn="l" rtl="0" eaLnBrk="0" fontAlgn="base" hangingPunct="0">
      <a:spcBef>
        <a:spcPct val="30000"/>
      </a:spcBef>
      <a:spcAft>
        <a:spcPct val="0"/>
      </a:spcAft>
      <a:defRPr sz="1200" kern="1200">
        <a:solidFill>
          <a:schemeClr val="tx1"/>
        </a:solidFill>
        <a:latin typeface="Comic Sans MS" panose="030F0702030302020204" pitchFamily="6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605226A2-5882-40C4-96AA-70858DCF2DEE}" type="slidenum">
              <a:rPr lang="en-US" altLang="en-US"/>
            </a:fld>
            <a:endParaRPr lang="en-US" altLang="en-US"/>
          </a:p>
        </p:txBody>
      </p:sp>
      <p:sp>
        <p:nvSpPr>
          <p:cNvPr id="19459" name="Rectangle 2"/>
          <p:cNvSpPr>
            <a:spLocks noGrp="1" noRot="1" noChangeAspect="1" noChangeArrowheads="1" noTextEdit="1"/>
          </p:cNvSpPr>
          <p:nvPr>
            <p:ph type="sldImg"/>
          </p:nvPr>
        </p:nvSpPr>
        <p:spPr>
          <a:xfrm>
            <a:off x="1588" y="0"/>
            <a:ext cx="1587" cy="1588"/>
          </a:xfrm>
        </p:spPr>
      </p:sp>
      <p:sp>
        <p:nvSpPr>
          <p:cNvPr id="19460" name="Rectangle 3"/>
          <p:cNvSpPr>
            <a:spLocks noGrp="1" noChangeArrowheads="1"/>
          </p:cNvSpPr>
          <p:nvPr>
            <p:ph type="body" idx="1"/>
          </p:nvPr>
        </p:nvSpPr>
        <p:spPr>
          <a:xfrm>
            <a:off x="685800" y="4416425"/>
            <a:ext cx="5486400" cy="40909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3E7B838A-2BAE-4364-A5B2-ABA341393704}" type="slidenum">
              <a:rPr lang="en-US" altLang="en-US"/>
            </a:fld>
            <a:endParaRPr lang="en-US" altLang="en-US"/>
          </a:p>
        </p:txBody>
      </p:sp>
      <p:sp>
        <p:nvSpPr>
          <p:cNvPr id="21506" name="Rectangle 2"/>
          <p:cNvSpPr>
            <a:spLocks noGrp="1" noRot="1" noChangeAspect="1" noChangeArrowheads="1" noTextEdit="1"/>
          </p:cNvSpPr>
          <p:nvPr>
            <p:ph type="sldImg"/>
          </p:nvPr>
        </p:nvSpPr>
        <p:spPr/>
      </p:sp>
      <p:sp>
        <p:nvSpPr>
          <p:cNvPr id="215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noChangeArrowheads="1" noTextEdit="1"/>
          </p:cNvSpPr>
          <p:nvPr>
            <p:ph type="sldImg"/>
          </p:nvPr>
        </p:nvSpPr>
        <p:spPr/>
      </p:sp>
      <p:sp>
        <p:nvSpPr>
          <p:cNvPr id="2765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7651"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2B511F99-7F88-4942-B0A0-D5FE04BDDD48}" type="slidenum">
              <a:rPr lang="en-US" altLang="en-US"/>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ChangeArrowheads="1" noTextEdit="1"/>
          </p:cNvSpPr>
          <p:nvPr>
            <p:ph type="sldImg"/>
          </p:nvPr>
        </p:nvSpPr>
        <p:spPr/>
      </p:sp>
      <p:sp>
        <p:nvSpPr>
          <p:cNvPr id="2969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9699"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77C7F811-D06C-4879-9859-F4C6733EB581}" type="slidenum">
              <a:rPr lang="en-US" altLang="en-US"/>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ChangeArrowheads="1" noTextEdit="1"/>
          </p:cNvSpPr>
          <p:nvPr>
            <p:ph type="sldImg"/>
          </p:nvPr>
        </p:nvSpPr>
        <p:spPr/>
      </p:sp>
      <p:sp>
        <p:nvSpPr>
          <p:cNvPr id="32770"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2771"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3B6A2976-90B3-40C5-987A-BD1BC50951AF}" type="slidenum">
              <a:rPr lang="en-US" altLang="en-US"/>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ChangeArrowheads="1" noTextEdit="1"/>
          </p:cNvSpPr>
          <p:nvPr>
            <p:ph type="sldImg"/>
          </p:nvPr>
        </p:nvSpPr>
        <p:spPr/>
      </p:sp>
      <p:sp>
        <p:nvSpPr>
          <p:cNvPr id="3686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6867"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omic Sans MS" panose="030F0702030302020204" pitchFamily="66" charset="0"/>
              </a:defRPr>
            </a:lvl1pPr>
            <a:lvl2pPr marL="742950" indent="-285750">
              <a:spcBef>
                <a:spcPct val="30000"/>
              </a:spcBef>
              <a:defRPr sz="1200">
                <a:solidFill>
                  <a:schemeClr val="tx1"/>
                </a:solidFill>
                <a:latin typeface="Comic Sans MS" panose="030F0702030302020204" pitchFamily="66" charset="0"/>
              </a:defRPr>
            </a:lvl2pPr>
            <a:lvl3pPr marL="1143000" indent="-228600">
              <a:spcBef>
                <a:spcPct val="30000"/>
              </a:spcBef>
              <a:defRPr sz="1200">
                <a:solidFill>
                  <a:schemeClr val="tx1"/>
                </a:solidFill>
                <a:latin typeface="Comic Sans MS" panose="030F0702030302020204" pitchFamily="66" charset="0"/>
              </a:defRPr>
            </a:lvl3pPr>
            <a:lvl4pPr marL="1600200" indent="-228600">
              <a:spcBef>
                <a:spcPct val="30000"/>
              </a:spcBef>
              <a:defRPr sz="1200">
                <a:solidFill>
                  <a:schemeClr val="tx1"/>
                </a:solidFill>
                <a:latin typeface="Comic Sans MS" panose="030F0702030302020204" pitchFamily="66" charset="0"/>
              </a:defRPr>
            </a:lvl4pPr>
            <a:lvl5pPr marL="2057400" indent="-228600">
              <a:spcBef>
                <a:spcPct val="30000"/>
              </a:spcBef>
              <a:defRPr sz="1200">
                <a:solidFill>
                  <a:schemeClr val="tx1"/>
                </a:solidFill>
                <a:latin typeface="Comic Sans MS" panose="030F0702030302020204" pitchFamily="66" charset="0"/>
              </a:defRPr>
            </a:lvl5pPr>
            <a:lvl6pPr marL="2514600" indent="-228600" eaLnBrk="0" fontAlgn="base" hangingPunct="0">
              <a:spcBef>
                <a:spcPct val="30000"/>
              </a:spcBef>
              <a:spcAft>
                <a:spcPct val="0"/>
              </a:spcAft>
              <a:defRPr sz="1200">
                <a:solidFill>
                  <a:schemeClr val="tx1"/>
                </a:solidFill>
                <a:latin typeface="Comic Sans MS" panose="030F0702030302020204" pitchFamily="66" charset="0"/>
              </a:defRPr>
            </a:lvl6pPr>
            <a:lvl7pPr marL="2971800" indent="-228600" eaLnBrk="0" fontAlgn="base" hangingPunct="0">
              <a:spcBef>
                <a:spcPct val="30000"/>
              </a:spcBef>
              <a:spcAft>
                <a:spcPct val="0"/>
              </a:spcAft>
              <a:defRPr sz="1200">
                <a:solidFill>
                  <a:schemeClr val="tx1"/>
                </a:solidFill>
                <a:latin typeface="Comic Sans MS" panose="030F0702030302020204" pitchFamily="66" charset="0"/>
              </a:defRPr>
            </a:lvl7pPr>
            <a:lvl8pPr marL="3429000" indent="-228600" eaLnBrk="0" fontAlgn="base" hangingPunct="0">
              <a:spcBef>
                <a:spcPct val="30000"/>
              </a:spcBef>
              <a:spcAft>
                <a:spcPct val="0"/>
              </a:spcAft>
              <a:defRPr sz="1200">
                <a:solidFill>
                  <a:schemeClr val="tx1"/>
                </a:solidFill>
                <a:latin typeface="Comic Sans MS" panose="030F0702030302020204" pitchFamily="66" charset="0"/>
              </a:defRPr>
            </a:lvl8pPr>
            <a:lvl9pPr marL="3886200" indent="-228600" eaLnBrk="0" fontAlgn="base" hangingPunct="0">
              <a:spcBef>
                <a:spcPct val="30000"/>
              </a:spcBef>
              <a:spcAft>
                <a:spcPct val="0"/>
              </a:spcAft>
              <a:defRPr sz="1200">
                <a:solidFill>
                  <a:schemeClr val="tx1"/>
                </a:solidFill>
                <a:latin typeface="Comic Sans MS" panose="030F0702030302020204" pitchFamily="66" charset="0"/>
              </a:defRPr>
            </a:lvl9pPr>
          </a:lstStyle>
          <a:p>
            <a:pPr>
              <a:spcBef>
                <a:spcPct val="0"/>
              </a:spcBef>
            </a:pPr>
            <a:fld id="{E6106B73-2CF2-4022-9762-58EA7F66A44E}" type="slidenum">
              <a:rPr lang="en-US" altLang="en-US"/>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304800" y="2209800"/>
            <a:ext cx="3200400" cy="1752600"/>
          </a:xfrm>
        </p:spPr>
        <p:txBody>
          <a:bodyPr/>
          <a:lstStyle>
            <a:lvl1pPr>
              <a:defRPr sz="3600"/>
            </a:lvl1pPr>
          </a:lstStyle>
          <a:p>
            <a:r>
              <a:rPr lang="en-US"/>
              <a:t>Click to edit Master title style</a:t>
            </a:r>
            <a:endParaRPr lang="en-US"/>
          </a:p>
        </p:txBody>
      </p:sp>
      <p:sp>
        <p:nvSpPr>
          <p:cNvPr id="24579" name="Rectangle 3"/>
          <p:cNvSpPr>
            <a:spLocks noGrp="1" noChangeArrowheads="1"/>
          </p:cNvSpPr>
          <p:nvPr>
            <p:ph type="subTitle" idx="1"/>
          </p:nvPr>
        </p:nvSpPr>
        <p:spPr>
          <a:xfrm>
            <a:off x="304800" y="4114800"/>
            <a:ext cx="3200400" cy="609600"/>
          </a:xfrm>
        </p:spPr>
        <p:txBody>
          <a:bodyPr/>
          <a:lstStyle>
            <a:lvl1pPr marL="0" indent="0">
              <a:buFontTx/>
              <a:buNone/>
              <a:defRPr>
                <a:solidFill>
                  <a:schemeClr val="bg2"/>
                </a:solidFill>
              </a:defRPr>
            </a:lvl1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143000" y="1905000"/>
            <a:ext cx="22098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3505200" y="1905000"/>
            <a:ext cx="22098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4500" y="914400"/>
            <a:ext cx="1485900" cy="54102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066800" y="914400"/>
            <a:ext cx="4305300" cy="54102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F5A040D8-9817-46EA-983E-E658C31A31FB}" type="datetimeFigureOut">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4772D3E-6D9A-4937-9D90-5904522DFD50}" type="slidenum">
              <a:rPr lang="en-US" altLang="en-US"/>
            </a:fld>
            <a:endParaRPr lang="en-US" altLang="en-US"/>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1A29B5BD-CB53-4462-8540-DA9D1EF89C4F}" type="datetimeFigureOut">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AEADABD-BC84-42AF-8BA7-A6C0C1260AF0}" type="slidenum">
              <a:rPr lang="en-US" altLang="en-US"/>
            </a:fld>
            <a:endParaRPr lang="en-US"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a:defRPr/>
            </a:pPr>
            <a:fld id="{89DBC3BA-8A5B-4D9D-BA1C-7B4B5C3C4D35}" type="datetimeFigureOut">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C8C4998-A938-4FFD-8499-DC854E272C5D}" type="slidenum">
              <a:rPr lang="en-US" altLang="en-US"/>
            </a:fld>
            <a:endParaRPr lang="en-US"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EE0727A4-3887-4AF9-A992-1E5246E21202}" type="datetimeFigureOut">
              <a:rPr lang="en-US"/>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DE057EF-5678-4102-84A3-B03D56D4454D}" type="slidenum">
              <a:rPr lang="en-US" altLang="en-US"/>
            </a:fld>
            <a:endParaRPr lang="en-US"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33A1AE95-A91D-421D-BEF9-35F76898A5DD}" type="datetimeFigureOut">
              <a:rPr lang="en-US"/>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3FCAC7C-560B-4D2B-A5F3-6D166EFEF0EB}" type="slidenum">
              <a:rPr lang="en-US" altLang="en-US"/>
            </a:fld>
            <a:endParaRPr lang="en-US"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39D0D73A-4A07-4CB4-88AE-4C086FF1A228}" type="datetimeFigureOut">
              <a:rPr lang="en-US"/>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2639CD9-36AD-4CFA-921E-5FA015E064E9}" type="slidenum">
              <a:rPr lang="en-US" altLang="en-US"/>
            </a:fld>
            <a:endParaRPr lang="en-US"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09EA815-9A49-45A3-8564-1A839D9F2DD0}" type="datetimeFigureOut">
              <a:rPr lang="en-US"/>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855D896C-726D-46DF-8A4E-2A7090B6236F}" type="slidenum">
              <a:rPr lang="en-US" altLang="en-US"/>
            </a:fld>
            <a:endParaRPr lang="en-US" altLang="en-US"/>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fld id="{6E226C27-BB88-4386-A72A-B656CE920BB3}" type="datetimeFigureOut">
              <a:rPr lang="en-US"/>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96D661D-3AE3-4766-8A67-7594DA7DA02C}" type="slidenum">
              <a:rPr lang="en-US" altLang="en-US"/>
            </a:fld>
            <a:endParaRPr lang="en-US" altLang="en-US"/>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fld id="{C005099D-B032-4BCC-8445-39E540BCB109}" type="datetimeFigureOut">
              <a:rPr lang="en-US"/>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CB1F4E-9001-4A2E-B111-CD1F41568037}" type="slidenum">
              <a:rPr lang="en-US" altLang="en-US"/>
            </a:fld>
            <a:endParaRPr lang="en-US" altLang="en-US"/>
          </a:p>
        </p:txBody>
      </p:sp>
    </p:spTree>
  </p:cSld>
  <p:clrMapOvr>
    <a:masterClrMapping/>
  </p:clrMapOvr>
  <p:timing>
    <p:tnLst>
      <p:par>
        <p:cTn id="1" dur="indefinite" restart="never" nodeType="tmRoot"/>
      </p:par>
    </p:tn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54C5CE3A-904B-4A66-A5C5-E02E97B1884C}" type="datetimeFigureOut">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EEEA510-5328-4BBA-86E2-82598D1BDB29}" type="slidenum">
              <a:rPr lang="en-US" altLang="en-US"/>
            </a:fld>
            <a:endParaRPr lang="en-US" altLang="en-US"/>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421534F7-D5C2-4277-BD01-C69CA6E07CC1}" type="datetimeFigureOut">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04CFA49-074F-41ED-B469-68C9D4B44F45}" type="slidenum">
              <a:rPr lang="en-US" altLang="en-US"/>
            </a:fld>
            <a:endParaRPr lang="en-US"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0" y="914400"/>
            <a:ext cx="5943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Your Topic Goes Here</a:t>
            </a:r>
            <a:endParaRPr lang="en-US" altLang="en-US"/>
          </a:p>
        </p:txBody>
      </p:sp>
      <p:sp>
        <p:nvSpPr>
          <p:cNvPr id="1027" name="Rectangle 3"/>
          <p:cNvSpPr>
            <a:spLocks noGrp="1" noChangeArrowheads="1"/>
          </p:cNvSpPr>
          <p:nvPr>
            <p:ph type="body" idx="1"/>
          </p:nvPr>
        </p:nvSpPr>
        <p:spPr bwMode="auto">
          <a:xfrm>
            <a:off x="1143000" y="1905000"/>
            <a:ext cx="4572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Your Subtopics Go Here</a:t>
            </a:r>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3200">
          <a:solidFill>
            <a:srgbClr val="FFCC00"/>
          </a:solidFill>
          <a:latin typeface="+mj-lt"/>
          <a:ea typeface="+mj-ea"/>
          <a:cs typeface="+mj-cs"/>
        </a:defRPr>
      </a:lvl1pPr>
      <a:lvl2pPr algn="l" rtl="0" eaLnBrk="0" fontAlgn="base" hangingPunct="0">
        <a:spcBef>
          <a:spcPct val="0"/>
        </a:spcBef>
        <a:spcAft>
          <a:spcPct val="0"/>
        </a:spcAft>
        <a:defRPr sz="3200">
          <a:solidFill>
            <a:srgbClr val="FFCC00"/>
          </a:solidFill>
          <a:latin typeface="Comic Sans MS" panose="030F0702030302020204" pitchFamily="66" charset="0"/>
        </a:defRPr>
      </a:lvl2pPr>
      <a:lvl3pPr algn="l" rtl="0" eaLnBrk="0" fontAlgn="base" hangingPunct="0">
        <a:spcBef>
          <a:spcPct val="0"/>
        </a:spcBef>
        <a:spcAft>
          <a:spcPct val="0"/>
        </a:spcAft>
        <a:defRPr sz="3200">
          <a:solidFill>
            <a:srgbClr val="FFCC00"/>
          </a:solidFill>
          <a:latin typeface="Comic Sans MS" panose="030F0702030302020204" pitchFamily="66" charset="0"/>
        </a:defRPr>
      </a:lvl3pPr>
      <a:lvl4pPr algn="l" rtl="0" eaLnBrk="0" fontAlgn="base" hangingPunct="0">
        <a:spcBef>
          <a:spcPct val="0"/>
        </a:spcBef>
        <a:spcAft>
          <a:spcPct val="0"/>
        </a:spcAft>
        <a:defRPr sz="3200">
          <a:solidFill>
            <a:srgbClr val="FFCC00"/>
          </a:solidFill>
          <a:latin typeface="Comic Sans MS" panose="030F0702030302020204" pitchFamily="66" charset="0"/>
        </a:defRPr>
      </a:lvl4pPr>
      <a:lvl5pPr algn="l" rtl="0" eaLnBrk="0" fontAlgn="base" hangingPunct="0">
        <a:spcBef>
          <a:spcPct val="0"/>
        </a:spcBef>
        <a:spcAft>
          <a:spcPct val="0"/>
        </a:spcAft>
        <a:defRPr sz="3200">
          <a:solidFill>
            <a:srgbClr val="FFCC00"/>
          </a:solidFill>
          <a:latin typeface="Comic Sans MS" panose="030F0702030302020204" pitchFamily="66" charset="0"/>
        </a:defRPr>
      </a:lvl5pPr>
      <a:lvl6pPr marL="457200" algn="l" rtl="0" fontAlgn="base">
        <a:spcBef>
          <a:spcPct val="0"/>
        </a:spcBef>
        <a:spcAft>
          <a:spcPct val="0"/>
        </a:spcAft>
        <a:defRPr sz="3200">
          <a:solidFill>
            <a:srgbClr val="FFCC00"/>
          </a:solidFill>
          <a:latin typeface="Comic Sans MS" panose="030F0702030302020204" pitchFamily="66" charset="0"/>
        </a:defRPr>
      </a:lvl6pPr>
      <a:lvl7pPr marL="914400" algn="l" rtl="0" fontAlgn="base">
        <a:spcBef>
          <a:spcPct val="0"/>
        </a:spcBef>
        <a:spcAft>
          <a:spcPct val="0"/>
        </a:spcAft>
        <a:defRPr sz="3200">
          <a:solidFill>
            <a:srgbClr val="FFCC00"/>
          </a:solidFill>
          <a:latin typeface="Comic Sans MS" panose="030F0702030302020204" pitchFamily="66" charset="0"/>
        </a:defRPr>
      </a:lvl7pPr>
      <a:lvl8pPr marL="1371600" algn="l" rtl="0" fontAlgn="base">
        <a:spcBef>
          <a:spcPct val="0"/>
        </a:spcBef>
        <a:spcAft>
          <a:spcPct val="0"/>
        </a:spcAft>
        <a:defRPr sz="3200">
          <a:solidFill>
            <a:srgbClr val="FFCC00"/>
          </a:solidFill>
          <a:latin typeface="Comic Sans MS" panose="030F0702030302020204" pitchFamily="66" charset="0"/>
        </a:defRPr>
      </a:lvl8pPr>
      <a:lvl9pPr marL="1828800" algn="l" rtl="0" fontAlgn="base">
        <a:spcBef>
          <a:spcPct val="0"/>
        </a:spcBef>
        <a:spcAft>
          <a:spcPct val="0"/>
        </a:spcAft>
        <a:defRPr sz="3200">
          <a:solidFill>
            <a:srgbClr val="FFCC00"/>
          </a:solidFill>
          <a:latin typeface="Comic Sans MS" panose="030F0702030302020204" pitchFamily="66" charset="0"/>
        </a:defRPr>
      </a:lvl9pPr>
    </p:titleStyle>
    <p:bodyStyle>
      <a:lvl1pPr marL="342900" indent="-342900" algn="l" rtl="0" eaLnBrk="0" fontAlgn="base" hangingPunct="0">
        <a:spcBef>
          <a:spcPct val="20000"/>
        </a:spcBef>
        <a:spcAft>
          <a:spcPct val="0"/>
        </a:spcAft>
        <a:buChar char="•"/>
        <a:defRPr sz="20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j-lt"/>
        </a:defRPr>
      </a:lvl2pPr>
      <a:lvl3pPr marL="1143000" indent="-228600" algn="l" rtl="0" eaLnBrk="0" fontAlgn="base" hangingPunct="0">
        <a:spcBef>
          <a:spcPct val="20000"/>
        </a:spcBef>
        <a:spcAft>
          <a:spcPct val="0"/>
        </a:spcAft>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vl6pPr marL="2514600" indent="-228600" algn="l" rtl="0" fontAlgn="base">
        <a:spcBef>
          <a:spcPct val="20000"/>
        </a:spcBef>
        <a:spcAft>
          <a:spcPct val="0"/>
        </a:spcAft>
        <a:buChar char="»"/>
        <a:defRPr sz="2000">
          <a:solidFill>
            <a:schemeClr val="tx1"/>
          </a:solidFill>
          <a:latin typeface="+mj-lt"/>
        </a:defRPr>
      </a:lvl6pPr>
      <a:lvl7pPr marL="2971800" indent="-228600" algn="l" rtl="0" fontAlgn="base">
        <a:spcBef>
          <a:spcPct val="20000"/>
        </a:spcBef>
        <a:spcAft>
          <a:spcPct val="0"/>
        </a:spcAft>
        <a:buChar char="»"/>
        <a:defRPr sz="2000">
          <a:solidFill>
            <a:schemeClr val="tx1"/>
          </a:solidFill>
          <a:latin typeface="+mj-lt"/>
        </a:defRPr>
      </a:lvl7pPr>
      <a:lvl8pPr marL="3429000" indent="-228600" algn="l" rtl="0" fontAlgn="base">
        <a:spcBef>
          <a:spcPct val="20000"/>
        </a:spcBef>
        <a:spcAft>
          <a:spcPct val="0"/>
        </a:spcAft>
        <a:buChar char="»"/>
        <a:defRPr sz="2000">
          <a:solidFill>
            <a:schemeClr val="tx1"/>
          </a:solidFill>
          <a:latin typeface="+mj-lt"/>
        </a:defRPr>
      </a:lvl8pPr>
      <a:lvl9pPr marL="3886200" indent="-228600" algn="l" rtl="0" fontAlgn="base">
        <a:spcBef>
          <a:spcPct val="20000"/>
        </a:spcBef>
        <a:spcAft>
          <a:spcPct val="0"/>
        </a:spcAft>
        <a:buChar char="»"/>
        <a:defRPr sz="20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a:defRPr/>
            </a:pPr>
            <a:fld id="{E8D540BF-0B37-4A72-BB89-279CACC69991}" type="datetimeFigureOut">
              <a:rPr lang="en-US"/>
            </a:fld>
            <a:endParaRPr lang="en-US"/>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a:defRPr/>
            </a:pPr>
            <a:endParaRPr lang="en-US"/>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a:defRPr/>
            </a:pPr>
            <a:fld id="{214D243E-4846-42E3-8300-5748ECD5D257}"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0" Type="http://schemas.openxmlformats.org/officeDocument/2006/relationships/slideLayout" Target="../slideLayouts/slideLayout18.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emf"/><Relationship Id="rId1" Type="http://schemas.openxmlformats.org/officeDocument/2006/relationships/image" Target="../media/image18.emf"/></Relationships>
</file>

<file path=ppt/slides/_rels/slide15.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6" Type="http://schemas.openxmlformats.org/officeDocument/2006/relationships/slideLayout" Target="../slideLayouts/slideLayout18.xml"/><Relationship Id="rId15" Type="http://schemas.openxmlformats.org/officeDocument/2006/relationships/image" Target="../media/image34.png"/><Relationship Id="rId14" Type="http://schemas.openxmlformats.org/officeDocument/2006/relationships/image" Target="../media/image33.png"/><Relationship Id="rId13" Type="http://schemas.openxmlformats.org/officeDocument/2006/relationships/image" Target="../media/image32.png"/><Relationship Id="rId12" Type="http://schemas.openxmlformats.org/officeDocument/2006/relationships/image" Target="../media/image31.png"/><Relationship Id="rId11" Type="http://schemas.openxmlformats.org/officeDocument/2006/relationships/image" Target="../media/image30.png"/><Relationship Id="rId10" Type="http://schemas.openxmlformats.org/officeDocument/2006/relationships/image" Target="../media/image29.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3.emf"/><Relationship Id="rId1" Type="http://schemas.openxmlformats.org/officeDocument/2006/relationships/image" Target="../media/image4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45.png"/><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s://en.wikipedia.org/wiki/Ag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352800"/>
            <a:ext cx="7475220" cy="1838325"/>
          </a:xfrm>
        </p:spPr>
        <p:txBody>
          <a:bodyPr/>
          <a:lstStyle/>
          <a:p>
            <a:r>
              <a:rPr lang="en-US" sz="6000" dirty="0">
                <a:latin typeface="Arial Black" panose="020B0A04020102020204" charset="0"/>
                <a:cs typeface="Arial Black" panose="020B0A04020102020204" charset="0"/>
              </a:rPr>
              <a:t>Mutations</a:t>
            </a:r>
            <a:endParaRPr lang="en-US" sz="6000" dirty="0">
              <a:latin typeface="Arial Black" panose="020B0A04020102020204" charset="0"/>
              <a:cs typeface="Arial Black" panose="020B0A04020102020204" charset="0"/>
            </a:endParaRPr>
          </a:p>
        </p:txBody>
      </p:sp>
      <p:pic>
        <p:nvPicPr>
          <p:cNvPr id="5" name="Graphic 4" descr="DNA outline"/>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77000" y="2895600"/>
            <a:ext cx="1143635" cy="3242310"/>
          </a:xfrm>
          <a:prstGeom prst="rect">
            <a:avLst/>
          </a:prstGeom>
        </p:spPr>
      </p:pic>
      <p:sp>
        <p:nvSpPr>
          <p:cNvPr id="4" name="Title 1"/>
          <p:cNvSpPr>
            <a:spLocks noGrp="1"/>
          </p:cNvSpPr>
          <p:nvPr/>
        </p:nvSpPr>
        <p:spPr>
          <a:xfrm>
            <a:off x="533400" y="1524000"/>
            <a:ext cx="7482840" cy="1344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335" dirty="0">
                <a:solidFill>
                  <a:schemeClr val="tx1"/>
                </a:solidFill>
                <a:effectLst/>
                <a:latin typeface="Tahoma" panose="020B0604030504040204" pitchFamily="34" charset="0"/>
              </a:rPr>
              <a:t>MOLECULAR GENETICS LABORATORY</a:t>
            </a:r>
            <a:br>
              <a:rPr lang="en-US" sz="2335" dirty="0">
                <a:solidFill>
                  <a:schemeClr val="tx1"/>
                </a:solidFill>
                <a:effectLst/>
                <a:latin typeface="Tahoma" panose="020B0604030504040204" pitchFamily="34" charset="0"/>
              </a:rPr>
            </a:br>
            <a:r>
              <a:rPr lang="en-US" sz="2335" dirty="0">
                <a:solidFill>
                  <a:schemeClr val="tx1"/>
                </a:solidFill>
                <a:effectLst/>
                <a:latin typeface="Tahoma" panose="020B0604030504040204" pitchFamily="34" charset="0"/>
              </a:rPr>
              <a:t>BT344</a:t>
            </a:r>
            <a:br>
              <a:rPr lang="en-US" sz="2335" dirty="0">
                <a:solidFill>
                  <a:schemeClr val="tx1"/>
                </a:solidFill>
                <a:effectLst/>
                <a:latin typeface="Tahoma" panose="020B0604030504040204" pitchFamily="34" charset="0"/>
              </a:rPr>
            </a:br>
            <a:r>
              <a:rPr lang="en-US" sz="2335">
                <a:solidFill>
                  <a:schemeClr val="tx1"/>
                </a:solidFill>
                <a:effectLst/>
                <a:latin typeface="Tahoma" panose="020B0604030504040204" pitchFamily="34" charset="0"/>
              </a:rPr>
              <a:t>Experiment (3)</a:t>
            </a:r>
            <a:endParaRPr lang="en-US" sz="2335" dirty="0">
              <a:solidFill>
                <a:schemeClr val="tx1"/>
              </a:solidFill>
              <a:effectLst/>
              <a:latin typeface="Tahoma" panose="020B0604030504040204" pitchFamily="34" charset="0"/>
            </a:endParaRPr>
          </a:p>
        </p:txBody>
      </p:sp>
      <p:pic>
        <p:nvPicPr>
          <p:cNvPr id="3" name="Picture 2" descr="A picture containing text, outdoor&#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52400"/>
            <a:ext cx="1856105" cy="13830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62000" y="990600"/>
            <a:ext cx="6477000" cy="609600"/>
          </a:xfrm>
        </p:spPr>
        <p:txBody>
          <a:bodyPr lIns="0" tIns="0" rIns="0" bIns="0" rtlCol="0">
            <a:spAutoFit/>
          </a:bodyPr>
          <a:lstStyle/>
          <a:p>
            <a:pPr algn="ctr" defTabSz="457200" eaLnBrk="1" fontAlgn="auto" hangingPunct="1">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b="1" dirty="0">
                <a:effectLst>
                  <a:outerShdw blurRad="38100" dist="38100" dir="2700000" algn="tl">
                    <a:srgbClr val="C0C0C0"/>
                  </a:outerShdw>
                </a:effectLst>
              </a:rPr>
              <a:t>What Are Mutations?</a:t>
            </a:r>
            <a:endParaRPr lang="en-GB" b="1" dirty="0">
              <a:effectLst>
                <a:outerShdw blurRad="38100" dist="38100" dir="2700000" algn="tl">
                  <a:srgbClr val="C0C0C0"/>
                </a:outerShdw>
              </a:effectLst>
            </a:endParaRPr>
          </a:p>
        </p:txBody>
      </p:sp>
      <p:sp>
        <p:nvSpPr>
          <p:cNvPr id="18434" name="Rectangle 4"/>
          <p:cNvSpPr>
            <a:spLocks noGrp="1"/>
          </p:cNvSpPr>
          <p:nvPr>
            <p:ph idx="1"/>
          </p:nvPr>
        </p:nvSpPr>
        <p:spPr>
          <a:xfrm>
            <a:off x="213360" y="2393315"/>
            <a:ext cx="8656320" cy="3931285"/>
          </a:xfrm>
        </p:spPr>
        <p:txBody>
          <a:bodyPr/>
          <a:lstStyle/>
          <a:p>
            <a:pPr eaLnBrk="1" hangingPunct="1"/>
            <a:r>
              <a:rPr lang="en-US" altLang="en-US" sz="2400">
                <a:solidFill>
                  <a:schemeClr val="tx1"/>
                </a:solidFill>
                <a:latin typeface="Comic Sans MS" panose="030F0702030302020204" pitchFamily="66" charset="0"/>
              </a:rPr>
              <a:t>Changes in the nucleotide sequence of DNA</a:t>
            </a:r>
            <a:endParaRPr lang="en-US" altLang="en-US" sz="2400">
              <a:solidFill>
                <a:schemeClr val="tx1"/>
              </a:solidFill>
              <a:latin typeface="Comic Sans MS" panose="030F0702030302020204" pitchFamily="66" charset="0"/>
            </a:endParaRPr>
          </a:p>
          <a:p>
            <a:pPr eaLnBrk="1" hangingPunct="1"/>
            <a:endParaRPr lang="en-US" altLang="en-US" sz="2400">
              <a:solidFill>
                <a:schemeClr val="tx1"/>
              </a:solidFill>
              <a:latin typeface="Comic Sans MS" panose="030F0702030302020204" pitchFamily="66" charset="0"/>
            </a:endParaRPr>
          </a:p>
          <a:p>
            <a:pPr eaLnBrk="1" hangingPunct="1"/>
            <a:r>
              <a:rPr lang="en-US" altLang="en-US" sz="2400">
                <a:solidFill>
                  <a:schemeClr val="tx1"/>
                </a:solidFill>
                <a:latin typeface="Comic Sans MS" panose="030F0702030302020204" pitchFamily="66" charset="0"/>
              </a:rPr>
              <a:t>May occur in </a:t>
            </a:r>
            <a:r>
              <a:rPr lang="en-US" altLang="en-US" sz="2400" b="1">
                <a:solidFill>
                  <a:schemeClr val="tx1"/>
                </a:solidFill>
                <a:latin typeface="Comic Sans MS" panose="030F0702030302020204" pitchFamily="66" charset="0"/>
              </a:rPr>
              <a:t>somatic cells</a:t>
            </a:r>
            <a:r>
              <a:rPr lang="en-US" altLang="en-US" sz="2400">
                <a:solidFill>
                  <a:schemeClr val="tx1"/>
                </a:solidFill>
                <a:latin typeface="Comic Sans MS" panose="030F0702030302020204" pitchFamily="66" charset="0"/>
              </a:rPr>
              <a:t> (aren’t passed to offspring)</a:t>
            </a:r>
            <a:endParaRPr lang="en-US" altLang="en-US" sz="2400">
              <a:solidFill>
                <a:schemeClr val="tx1"/>
              </a:solidFill>
              <a:latin typeface="Comic Sans MS" panose="030F0702030302020204" pitchFamily="66" charset="0"/>
            </a:endParaRPr>
          </a:p>
          <a:p>
            <a:pPr eaLnBrk="1" hangingPunct="1"/>
            <a:endParaRPr lang="en-US" altLang="en-US" sz="2400">
              <a:solidFill>
                <a:schemeClr val="tx1"/>
              </a:solidFill>
              <a:latin typeface="Comic Sans MS" panose="030F0702030302020204" pitchFamily="66" charset="0"/>
            </a:endParaRPr>
          </a:p>
          <a:p>
            <a:pPr eaLnBrk="1" hangingPunct="1"/>
            <a:r>
              <a:rPr lang="en-US" altLang="en-US" sz="2400">
                <a:solidFill>
                  <a:schemeClr val="tx1"/>
                </a:solidFill>
                <a:latin typeface="Comic Sans MS" panose="030F0702030302020204" pitchFamily="66" charset="0"/>
              </a:rPr>
              <a:t>May occur in </a:t>
            </a:r>
            <a:r>
              <a:rPr lang="en-US" altLang="en-US" sz="2400" b="1">
                <a:solidFill>
                  <a:schemeClr val="tx1"/>
                </a:solidFill>
                <a:latin typeface="Comic Sans MS" panose="030F0702030302020204" pitchFamily="66" charset="0"/>
              </a:rPr>
              <a:t>gametes</a:t>
            </a:r>
            <a:r>
              <a:rPr lang="en-US" altLang="en-US" sz="2400">
                <a:solidFill>
                  <a:schemeClr val="tx1"/>
                </a:solidFill>
                <a:latin typeface="Comic Sans MS" panose="030F0702030302020204" pitchFamily="66" charset="0"/>
              </a:rPr>
              <a:t> (eggs &amp; sperm) and be passed to offspring</a:t>
            </a:r>
            <a:endParaRPr lang="en-US" altLang="en-US" sz="2400">
              <a:solidFill>
                <a:schemeClr val="tx1"/>
              </a:solidFill>
              <a:latin typeface="Comic Sans MS" panose="030F0702030302020204" pitchFamily="66"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12271" y="2421814"/>
            <a:ext cx="132229" cy="742390"/>
            <a:chOff x="2921507" y="2744722"/>
            <a:chExt cx="149860" cy="841375"/>
          </a:xfrm>
        </p:grpSpPr>
        <p:sp>
          <p:nvSpPr>
            <p:cNvPr id="3" name="object 3"/>
            <p:cNvSpPr/>
            <p:nvPr/>
          </p:nvSpPr>
          <p:spPr>
            <a:xfrm>
              <a:off x="2994659" y="2744722"/>
              <a:ext cx="0" cy="695325"/>
            </a:xfrm>
            <a:custGeom>
              <a:avLst/>
              <a:gdLst/>
              <a:ahLst/>
              <a:cxnLst/>
              <a:rect l="l" t="t" r="r" b="b"/>
              <a:pathLst>
                <a:path h="695325">
                  <a:moveTo>
                    <a:pt x="0" y="0"/>
                  </a:moveTo>
                  <a:lnTo>
                    <a:pt x="0" y="694943"/>
                  </a:lnTo>
                </a:path>
              </a:pathLst>
            </a:custGeom>
            <a:ln w="27431">
              <a:solidFill>
                <a:srgbClr val="000000"/>
              </a:solidFill>
            </a:ln>
          </p:spPr>
          <p:txBody>
            <a:bodyPr wrap="square" lIns="0" tIns="0" rIns="0" bIns="0" rtlCol="0"/>
            <a:lstStyle/>
            <a:p>
              <a:endParaRPr sz="100"/>
            </a:p>
          </p:txBody>
        </p:sp>
        <p:sp>
          <p:nvSpPr>
            <p:cNvPr id="4" name="object 4"/>
            <p:cNvSpPr/>
            <p:nvPr/>
          </p:nvSpPr>
          <p:spPr>
            <a:xfrm>
              <a:off x="2921507" y="3436618"/>
              <a:ext cx="149860" cy="149860"/>
            </a:xfrm>
            <a:custGeom>
              <a:avLst/>
              <a:gdLst/>
              <a:ahLst/>
              <a:cxnLst/>
              <a:rect l="l" t="t" r="r" b="b"/>
              <a:pathLst>
                <a:path w="149860" h="149860">
                  <a:moveTo>
                    <a:pt x="149352" y="0"/>
                  </a:moveTo>
                  <a:lnTo>
                    <a:pt x="0" y="0"/>
                  </a:lnTo>
                  <a:lnTo>
                    <a:pt x="73152" y="149352"/>
                  </a:lnTo>
                  <a:lnTo>
                    <a:pt x="149352" y="0"/>
                  </a:lnTo>
                  <a:close/>
                </a:path>
              </a:pathLst>
            </a:custGeom>
            <a:solidFill>
              <a:srgbClr val="000000"/>
            </a:solidFill>
          </p:spPr>
          <p:txBody>
            <a:bodyPr wrap="square" lIns="0" tIns="0" rIns="0" bIns="0" rtlCol="0"/>
            <a:lstStyle/>
            <a:p>
              <a:endParaRPr sz="100"/>
            </a:p>
          </p:txBody>
        </p:sp>
      </p:grpSp>
      <p:grpSp>
        <p:nvGrpSpPr>
          <p:cNvPr id="5" name="object 5"/>
          <p:cNvGrpSpPr/>
          <p:nvPr/>
        </p:nvGrpSpPr>
        <p:grpSpPr>
          <a:xfrm>
            <a:off x="1701053" y="1676847"/>
            <a:ext cx="3410510" cy="278466"/>
            <a:chOff x="1775460" y="1900427"/>
            <a:chExt cx="3865245" cy="315595"/>
          </a:xfrm>
        </p:grpSpPr>
        <p:sp>
          <p:nvSpPr>
            <p:cNvPr id="6" name="object 6"/>
            <p:cNvSpPr/>
            <p:nvPr/>
          </p:nvSpPr>
          <p:spPr>
            <a:xfrm>
              <a:off x="1775460" y="1903474"/>
              <a:ext cx="3048000" cy="5080"/>
            </a:xfrm>
            <a:custGeom>
              <a:avLst/>
              <a:gdLst/>
              <a:ahLst/>
              <a:cxnLst/>
              <a:rect l="l" t="t" r="r" b="b"/>
              <a:pathLst>
                <a:path w="3048000" h="5080">
                  <a:moveTo>
                    <a:pt x="0" y="4571"/>
                  </a:moveTo>
                  <a:lnTo>
                    <a:pt x="3048000" y="4571"/>
                  </a:lnTo>
                </a:path>
                <a:path w="3048000" h="5080">
                  <a:moveTo>
                    <a:pt x="0" y="0"/>
                  </a:moveTo>
                  <a:lnTo>
                    <a:pt x="3048000" y="0"/>
                  </a:lnTo>
                </a:path>
              </a:pathLst>
            </a:custGeom>
            <a:ln w="6095">
              <a:solidFill>
                <a:srgbClr val="000000"/>
              </a:solidFill>
            </a:ln>
          </p:spPr>
          <p:txBody>
            <a:bodyPr wrap="square" lIns="0" tIns="0" rIns="0" bIns="0" rtlCol="0"/>
            <a:lstStyle/>
            <a:p>
              <a:endParaRPr sz="100"/>
            </a:p>
          </p:txBody>
        </p:sp>
        <p:sp>
          <p:nvSpPr>
            <p:cNvPr id="7" name="object 7"/>
            <p:cNvSpPr/>
            <p:nvPr/>
          </p:nvSpPr>
          <p:spPr>
            <a:xfrm>
              <a:off x="1775460" y="2208274"/>
              <a:ext cx="3048000" cy="5080"/>
            </a:xfrm>
            <a:custGeom>
              <a:avLst/>
              <a:gdLst/>
              <a:ahLst/>
              <a:cxnLst/>
              <a:rect l="l" t="t" r="r" b="b"/>
              <a:pathLst>
                <a:path w="3048000" h="5080">
                  <a:moveTo>
                    <a:pt x="0" y="0"/>
                  </a:moveTo>
                  <a:lnTo>
                    <a:pt x="3048000" y="0"/>
                  </a:lnTo>
                </a:path>
                <a:path w="3048000" h="5080">
                  <a:moveTo>
                    <a:pt x="0" y="4571"/>
                  </a:moveTo>
                  <a:lnTo>
                    <a:pt x="3048000" y="4571"/>
                  </a:lnTo>
                </a:path>
              </a:pathLst>
            </a:custGeom>
            <a:ln w="3175">
              <a:solidFill>
                <a:srgbClr val="000000"/>
              </a:solidFill>
            </a:ln>
          </p:spPr>
          <p:txBody>
            <a:bodyPr wrap="square" lIns="0" tIns="0" rIns="0" bIns="0" rtlCol="0"/>
            <a:lstStyle/>
            <a:p>
              <a:endParaRPr sz="100"/>
            </a:p>
          </p:txBody>
        </p:sp>
        <p:sp>
          <p:nvSpPr>
            <p:cNvPr id="8" name="object 8"/>
            <p:cNvSpPr/>
            <p:nvPr/>
          </p:nvSpPr>
          <p:spPr>
            <a:xfrm>
              <a:off x="2612136" y="1904999"/>
              <a:ext cx="685800" cy="304800"/>
            </a:xfrm>
            <a:custGeom>
              <a:avLst/>
              <a:gdLst/>
              <a:ahLst/>
              <a:cxnLst/>
              <a:rect l="l" t="t" r="r" b="b"/>
              <a:pathLst>
                <a:path w="685800" h="304800">
                  <a:moveTo>
                    <a:pt x="685799" y="0"/>
                  </a:moveTo>
                  <a:lnTo>
                    <a:pt x="0" y="0"/>
                  </a:lnTo>
                  <a:lnTo>
                    <a:pt x="0" y="304800"/>
                  </a:lnTo>
                  <a:lnTo>
                    <a:pt x="685799" y="304800"/>
                  </a:lnTo>
                  <a:lnTo>
                    <a:pt x="685799" y="0"/>
                  </a:lnTo>
                  <a:close/>
                </a:path>
              </a:pathLst>
            </a:custGeom>
            <a:solidFill>
              <a:srgbClr val="39D5FF"/>
            </a:solidFill>
          </p:spPr>
          <p:txBody>
            <a:bodyPr wrap="square" lIns="0" tIns="0" rIns="0" bIns="0" rtlCol="0"/>
            <a:lstStyle/>
            <a:p>
              <a:endParaRPr sz="100"/>
            </a:p>
          </p:txBody>
        </p:sp>
        <p:sp>
          <p:nvSpPr>
            <p:cNvPr id="9" name="object 9"/>
            <p:cNvSpPr/>
            <p:nvPr/>
          </p:nvSpPr>
          <p:spPr>
            <a:xfrm>
              <a:off x="2613660" y="1906522"/>
              <a:ext cx="685800" cy="304800"/>
            </a:xfrm>
            <a:custGeom>
              <a:avLst/>
              <a:gdLst/>
              <a:ahLst/>
              <a:cxnLst/>
              <a:rect l="l" t="t" r="r" b="b"/>
              <a:pathLst>
                <a:path w="685800" h="304800">
                  <a:moveTo>
                    <a:pt x="0" y="0"/>
                  </a:moveTo>
                  <a:lnTo>
                    <a:pt x="685799" y="0"/>
                  </a:lnTo>
                  <a:lnTo>
                    <a:pt x="685799" y="304799"/>
                  </a:lnTo>
                  <a:lnTo>
                    <a:pt x="0" y="304799"/>
                  </a:lnTo>
                  <a:lnTo>
                    <a:pt x="0" y="0"/>
                  </a:lnTo>
                  <a:close/>
                </a:path>
              </a:pathLst>
            </a:custGeom>
            <a:ln w="9143">
              <a:solidFill>
                <a:srgbClr val="000000"/>
              </a:solidFill>
            </a:ln>
          </p:spPr>
          <p:txBody>
            <a:bodyPr wrap="square" lIns="0" tIns="0" rIns="0" bIns="0" rtlCol="0"/>
            <a:lstStyle/>
            <a:p>
              <a:endParaRPr sz="100"/>
            </a:p>
          </p:txBody>
        </p:sp>
        <p:sp>
          <p:nvSpPr>
            <p:cNvPr id="10" name="object 10"/>
            <p:cNvSpPr/>
            <p:nvPr/>
          </p:nvSpPr>
          <p:spPr>
            <a:xfrm>
              <a:off x="4800600" y="2057398"/>
              <a:ext cx="716280" cy="0"/>
            </a:xfrm>
            <a:custGeom>
              <a:avLst/>
              <a:gdLst/>
              <a:ahLst/>
              <a:cxnLst/>
              <a:rect l="l" t="t" r="r" b="b"/>
              <a:pathLst>
                <a:path w="716279">
                  <a:moveTo>
                    <a:pt x="0" y="0"/>
                  </a:moveTo>
                  <a:lnTo>
                    <a:pt x="716279" y="0"/>
                  </a:lnTo>
                </a:path>
              </a:pathLst>
            </a:custGeom>
            <a:ln w="18287">
              <a:solidFill>
                <a:srgbClr val="000000"/>
              </a:solidFill>
            </a:ln>
          </p:spPr>
          <p:txBody>
            <a:bodyPr wrap="square" lIns="0" tIns="0" rIns="0" bIns="0" rtlCol="0"/>
            <a:lstStyle/>
            <a:p>
              <a:endParaRPr sz="100"/>
            </a:p>
          </p:txBody>
        </p:sp>
        <p:sp>
          <p:nvSpPr>
            <p:cNvPr id="11" name="object 11"/>
            <p:cNvSpPr/>
            <p:nvPr/>
          </p:nvSpPr>
          <p:spPr>
            <a:xfrm>
              <a:off x="5518403" y="1997963"/>
              <a:ext cx="121920" cy="125095"/>
            </a:xfrm>
            <a:custGeom>
              <a:avLst/>
              <a:gdLst/>
              <a:ahLst/>
              <a:cxnLst/>
              <a:rect l="l" t="t" r="r" b="b"/>
              <a:pathLst>
                <a:path w="121920" h="125094">
                  <a:moveTo>
                    <a:pt x="0" y="0"/>
                  </a:moveTo>
                  <a:lnTo>
                    <a:pt x="0" y="124967"/>
                  </a:lnTo>
                  <a:lnTo>
                    <a:pt x="121920" y="64007"/>
                  </a:lnTo>
                  <a:lnTo>
                    <a:pt x="0" y="0"/>
                  </a:lnTo>
                  <a:close/>
                </a:path>
              </a:pathLst>
            </a:custGeom>
            <a:solidFill>
              <a:srgbClr val="000000"/>
            </a:solidFill>
          </p:spPr>
          <p:txBody>
            <a:bodyPr wrap="square" lIns="0" tIns="0" rIns="0" bIns="0" rtlCol="0"/>
            <a:lstStyle/>
            <a:p>
              <a:endParaRPr sz="100"/>
            </a:p>
          </p:txBody>
        </p:sp>
      </p:grpSp>
      <p:sp>
        <p:nvSpPr>
          <p:cNvPr id="12" name="object 12"/>
          <p:cNvSpPr txBox="1"/>
          <p:nvPr/>
        </p:nvSpPr>
        <p:spPr>
          <a:xfrm>
            <a:off x="1005392" y="1602440"/>
            <a:ext cx="605118" cy="335915"/>
          </a:xfrm>
          <a:prstGeom prst="rect">
            <a:avLst/>
          </a:prstGeom>
        </p:spPr>
        <p:txBody>
          <a:bodyPr vert="horz" wrap="square" lIns="0" tIns="11205" rIns="0" bIns="0" rtlCol="0">
            <a:spAutoFit/>
          </a:bodyPr>
          <a:lstStyle/>
          <a:p>
            <a:pPr marL="12700">
              <a:lnSpc>
                <a:spcPct val="100000"/>
              </a:lnSpc>
              <a:spcBef>
                <a:spcPts val="100"/>
              </a:spcBef>
            </a:pPr>
            <a:r>
              <a:rPr sz="2120" b="1" spc="-5" dirty="0">
                <a:latin typeface="Times New Roman" panose="02020603050405020304"/>
                <a:cs typeface="Times New Roman" panose="02020603050405020304"/>
              </a:rPr>
              <a:t>DNA</a:t>
            </a:r>
            <a:endParaRPr sz="2120">
              <a:latin typeface="Times New Roman" panose="02020603050405020304"/>
              <a:cs typeface="Times New Roman" panose="02020603050405020304"/>
            </a:endParaRPr>
          </a:p>
        </p:txBody>
      </p:sp>
      <p:sp>
        <p:nvSpPr>
          <p:cNvPr id="13" name="object 13"/>
          <p:cNvSpPr txBox="1"/>
          <p:nvPr/>
        </p:nvSpPr>
        <p:spPr>
          <a:xfrm>
            <a:off x="2038125" y="1212476"/>
            <a:ext cx="2330263" cy="335915"/>
          </a:xfrm>
          <a:prstGeom prst="rect">
            <a:avLst/>
          </a:prstGeom>
        </p:spPr>
        <p:txBody>
          <a:bodyPr vert="horz" wrap="square" lIns="0" tIns="11205" rIns="0" bIns="0" rtlCol="0">
            <a:spAutoFit/>
          </a:bodyPr>
          <a:lstStyle/>
          <a:p>
            <a:pPr marL="12700">
              <a:lnSpc>
                <a:spcPct val="100000"/>
              </a:lnSpc>
              <a:spcBef>
                <a:spcPts val="100"/>
              </a:spcBef>
            </a:pPr>
            <a:r>
              <a:rPr sz="2120" b="1" spc="-5" dirty="0">
                <a:latin typeface="Times New Roman" panose="02020603050405020304"/>
                <a:cs typeface="Times New Roman" panose="02020603050405020304"/>
              </a:rPr>
              <a:t>Normal</a:t>
            </a:r>
            <a:r>
              <a:rPr sz="2120" b="1" spc="-3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or</a:t>
            </a:r>
            <a:r>
              <a:rPr sz="2120" b="1" spc="-3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WT</a:t>
            </a:r>
            <a:r>
              <a:rPr sz="2120" b="1" spc="-3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gene</a:t>
            </a:r>
            <a:endParaRPr sz="2120">
              <a:latin typeface="Times New Roman" panose="02020603050405020304"/>
              <a:cs typeface="Times New Roman" panose="02020603050405020304"/>
            </a:endParaRPr>
          </a:p>
        </p:txBody>
      </p:sp>
      <p:grpSp>
        <p:nvGrpSpPr>
          <p:cNvPr id="14" name="object 14"/>
          <p:cNvGrpSpPr/>
          <p:nvPr/>
        </p:nvGrpSpPr>
        <p:grpSpPr>
          <a:xfrm>
            <a:off x="1701053" y="3480097"/>
            <a:ext cx="4818529" cy="954741"/>
            <a:chOff x="1775460" y="3944110"/>
            <a:chExt cx="5461000" cy="1082040"/>
          </a:xfrm>
        </p:grpSpPr>
        <p:sp>
          <p:nvSpPr>
            <p:cNvPr id="15" name="object 15"/>
            <p:cNvSpPr/>
            <p:nvPr/>
          </p:nvSpPr>
          <p:spPr>
            <a:xfrm>
              <a:off x="1775460" y="4494275"/>
              <a:ext cx="3048000" cy="5080"/>
            </a:xfrm>
            <a:custGeom>
              <a:avLst/>
              <a:gdLst/>
              <a:ahLst/>
              <a:cxnLst/>
              <a:rect l="l" t="t" r="r" b="b"/>
              <a:pathLst>
                <a:path w="3048000" h="5079">
                  <a:moveTo>
                    <a:pt x="0" y="4571"/>
                  </a:moveTo>
                  <a:lnTo>
                    <a:pt x="3048000" y="4571"/>
                  </a:lnTo>
                </a:path>
                <a:path w="3048000" h="5079">
                  <a:moveTo>
                    <a:pt x="0" y="0"/>
                  </a:moveTo>
                  <a:lnTo>
                    <a:pt x="3048000" y="0"/>
                  </a:lnTo>
                </a:path>
              </a:pathLst>
            </a:custGeom>
            <a:ln w="6095">
              <a:solidFill>
                <a:srgbClr val="000000"/>
              </a:solidFill>
            </a:ln>
          </p:spPr>
          <p:txBody>
            <a:bodyPr wrap="square" lIns="0" tIns="0" rIns="0" bIns="0" rtlCol="0"/>
            <a:lstStyle/>
            <a:p>
              <a:endParaRPr sz="100"/>
            </a:p>
          </p:txBody>
        </p:sp>
        <p:sp>
          <p:nvSpPr>
            <p:cNvPr id="16" name="object 16"/>
            <p:cNvSpPr/>
            <p:nvPr/>
          </p:nvSpPr>
          <p:spPr>
            <a:xfrm>
              <a:off x="1775460" y="4799075"/>
              <a:ext cx="3048000" cy="5080"/>
            </a:xfrm>
            <a:custGeom>
              <a:avLst/>
              <a:gdLst/>
              <a:ahLst/>
              <a:cxnLst/>
              <a:rect l="l" t="t" r="r" b="b"/>
              <a:pathLst>
                <a:path w="3048000" h="5079">
                  <a:moveTo>
                    <a:pt x="0" y="0"/>
                  </a:moveTo>
                  <a:lnTo>
                    <a:pt x="3048000" y="0"/>
                  </a:lnTo>
                </a:path>
                <a:path w="3048000" h="5079">
                  <a:moveTo>
                    <a:pt x="0" y="4571"/>
                  </a:moveTo>
                  <a:lnTo>
                    <a:pt x="3048000" y="4571"/>
                  </a:lnTo>
                </a:path>
              </a:pathLst>
            </a:custGeom>
            <a:ln w="3175">
              <a:solidFill>
                <a:srgbClr val="000000"/>
              </a:solidFill>
            </a:ln>
          </p:spPr>
          <p:txBody>
            <a:bodyPr wrap="square" lIns="0" tIns="0" rIns="0" bIns="0" rtlCol="0"/>
            <a:lstStyle/>
            <a:p>
              <a:endParaRPr sz="100"/>
            </a:p>
          </p:txBody>
        </p:sp>
        <p:sp>
          <p:nvSpPr>
            <p:cNvPr id="17" name="object 17"/>
            <p:cNvSpPr/>
            <p:nvPr/>
          </p:nvSpPr>
          <p:spPr>
            <a:xfrm>
              <a:off x="2688336" y="4495799"/>
              <a:ext cx="685800" cy="304800"/>
            </a:xfrm>
            <a:custGeom>
              <a:avLst/>
              <a:gdLst/>
              <a:ahLst/>
              <a:cxnLst/>
              <a:rect l="l" t="t" r="r" b="b"/>
              <a:pathLst>
                <a:path w="685800" h="304800">
                  <a:moveTo>
                    <a:pt x="685799" y="0"/>
                  </a:moveTo>
                  <a:lnTo>
                    <a:pt x="0" y="0"/>
                  </a:lnTo>
                  <a:lnTo>
                    <a:pt x="0" y="304800"/>
                  </a:lnTo>
                  <a:lnTo>
                    <a:pt x="685799" y="304800"/>
                  </a:lnTo>
                  <a:lnTo>
                    <a:pt x="685799" y="0"/>
                  </a:lnTo>
                  <a:close/>
                </a:path>
              </a:pathLst>
            </a:custGeom>
            <a:solidFill>
              <a:srgbClr val="FF9292"/>
            </a:solidFill>
          </p:spPr>
          <p:txBody>
            <a:bodyPr wrap="square" lIns="0" tIns="0" rIns="0" bIns="0" rtlCol="0"/>
            <a:lstStyle/>
            <a:p>
              <a:endParaRPr sz="100"/>
            </a:p>
          </p:txBody>
        </p:sp>
        <p:sp>
          <p:nvSpPr>
            <p:cNvPr id="18" name="object 18"/>
            <p:cNvSpPr/>
            <p:nvPr/>
          </p:nvSpPr>
          <p:spPr>
            <a:xfrm>
              <a:off x="2689860" y="4497322"/>
              <a:ext cx="685800" cy="304800"/>
            </a:xfrm>
            <a:custGeom>
              <a:avLst/>
              <a:gdLst/>
              <a:ahLst/>
              <a:cxnLst/>
              <a:rect l="l" t="t" r="r" b="b"/>
              <a:pathLst>
                <a:path w="685800" h="304800">
                  <a:moveTo>
                    <a:pt x="0" y="0"/>
                  </a:moveTo>
                  <a:lnTo>
                    <a:pt x="685799" y="0"/>
                  </a:lnTo>
                  <a:lnTo>
                    <a:pt x="685799" y="304799"/>
                  </a:lnTo>
                  <a:lnTo>
                    <a:pt x="0" y="304799"/>
                  </a:lnTo>
                  <a:lnTo>
                    <a:pt x="0" y="0"/>
                  </a:lnTo>
                  <a:close/>
                </a:path>
              </a:pathLst>
            </a:custGeom>
            <a:ln w="9143">
              <a:solidFill>
                <a:srgbClr val="000000"/>
              </a:solidFill>
            </a:ln>
          </p:spPr>
          <p:txBody>
            <a:bodyPr wrap="square" lIns="0" tIns="0" rIns="0" bIns="0" rtlCol="0"/>
            <a:lstStyle/>
            <a:p>
              <a:endParaRPr sz="100"/>
            </a:p>
          </p:txBody>
        </p:sp>
        <p:sp>
          <p:nvSpPr>
            <p:cNvPr id="19" name="object 19"/>
            <p:cNvSpPr/>
            <p:nvPr/>
          </p:nvSpPr>
          <p:spPr>
            <a:xfrm>
              <a:off x="4800600" y="4571998"/>
              <a:ext cx="716280" cy="0"/>
            </a:xfrm>
            <a:custGeom>
              <a:avLst/>
              <a:gdLst/>
              <a:ahLst/>
              <a:cxnLst/>
              <a:rect l="l" t="t" r="r" b="b"/>
              <a:pathLst>
                <a:path w="716279">
                  <a:moveTo>
                    <a:pt x="0" y="0"/>
                  </a:moveTo>
                  <a:lnTo>
                    <a:pt x="716279" y="0"/>
                  </a:lnTo>
                </a:path>
              </a:pathLst>
            </a:custGeom>
            <a:ln w="18287">
              <a:solidFill>
                <a:srgbClr val="000000"/>
              </a:solidFill>
            </a:ln>
          </p:spPr>
          <p:txBody>
            <a:bodyPr wrap="square" lIns="0" tIns="0" rIns="0" bIns="0" rtlCol="0"/>
            <a:lstStyle/>
            <a:p>
              <a:endParaRPr sz="100"/>
            </a:p>
          </p:txBody>
        </p:sp>
        <p:sp>
          <p:nvSpPr>
            <p:cNvPr id="20" name="object 20"/>
            <p:cNvSpPr/>
            <p:nvPr/>
          </p:nvSpPr>
          <p:spPr>
            <a:xfrm>
              <a:off x="5518403" y="4512563"/>
              <a:ext cx="121920" cy="125095"/>
            </a:xfrm>
            <a:custGeom>
              <a:avLst/>
              <a:gdLst/>
              <a:ahLst/>
              <a:cxnLst/>
              <a:rect l="l" t="t" r="r" b="b"/>
              <a:pathLst>
                <a:path w="121920" h="125095">
                  <a:moveTo>
                    <a:pt x="0" y="0"/>
                  </a:moveTo>
                  <a:lnTo>
                    <a:pt x="0" y="124967"/>
                  </a:lnTo>
                  <a:lnTo>
                    <a:pt x="121920" y="60959"/>
                  </a:lnTo>
                  <a:lnTo>
                    <a:pt x="0" y="0"/>
                  </a:lnTo>
                  <a:close/>
                </a:path>
              </a:pathLst>
            </a:custGeom>
            <a:solidFill>
              <a:srgbClr val="000000"/>
            </a:solidFill>
          </p:spPr>
          <p:txBody>
            <a:bodyPr wrap="square" lIns="0" tIns="0" rIns="0" bIns="0" rtlCol="0"/>
            <a:lstStyle/>
            <a:p>
              <a:endParaRPr sz="100"/>
            </a:p>
          </p:txBody>
        </p:sp>
        <p:sp>
          <p:nvSpPr>
            <p:cNvPr id="21" name="object 21"/>
            <p:cNvSpPr/>
            <p:nvPr/>
          </p:nvSpPr>
          <p:spPr>
            <a:xfrm>
              <a:off x="5581483" y="3957826"/>
              <a:ext cx="1640839" cy="1054735"/>
            </a:xfrm>
            <a:custGeom>
              <a:avLst/>
              <a:gdLst/>
              <a:ahLst/>
              <a:cxnLst/>
              <a:rect l="l" t="t" r="r" b="b"/>
              <a:pathLst>
                <a:path w="1640840" h="1054735">
                  <a:moveTo>
                    <a:pt x="19216" y="0"/>
                  </a:moveTo>
                  <a:lnTo>
                    <a:pt x="12417" y="46756"/>
                  </a:lnTo>
                  <a:lnTo>
                    <a:pt x="6597" y="95219"/>
                  </a:lnTo>
                  <a:lnTo>
                    <a:pt x="2282" y="144836"/>
                  </a:lnTo>
                  <a:lnTo>
                    <a:pt x="0" y="195055"/>
                  </a:lnTo>
                  <a:lnTo>
                    <a:pt x="275" y="245324"/>
                  </a:lnTo>
                  <a:lnTo>
                    <a:pt x="3637" y="295091"/>
                  </a:lnTo>
                  <a:lnTo>
                    <a:pt x="10611" y="343805"/>
                  </a:lnTo>
                  <a:lnTo>
                    <a:pt x="21724" y="390913"/>
                  </a:lnTo>
                  <a:lnTo>
                    <a:pt x="37504" y="435863"/>
                  </a:lnTo>
                  <a:lnTo>
                    <a:pt x="60507" y="474678"/>
                  </a:lnTo>
                  <a:lnTo>
                    <a:pt x="88939" y="510920"/>
                  </a:lnTo>
                  <a:lnTo>
                    <a:pt x="116799" y="547735"/>
                  </a:lnTo>
                  <a:lnTo>
                    <a:pt x="138088" y="588263"/>
                  </a:lnTo>
                  <a:lnTo>
                    <a:pt x="153669" y="632740"/>
                  </a:lnTo>
                  <a:lnTo>
                    <a:pt x="169836" y="671949"/>
                  </a:lnTo>
                  <a:lnTo>
                    <a:pt x="190099" y="707209"/>
                  </a:lnTo>
                  <a:lnTo>
                    <a:pt x="217970" y="739834"/>
                  </a:lnTo>
                  <a:lnTo>
                    <a:pt x="256960" y="771143"/>
                  </a:lnTo>
                  <a:lnTo>
                    <a:pt x="301822" y="763333"/>
                  </a:lnTo>
                  <a:lnTo>
                    <a:pt x="348400" y="756665"/>
                  </a:lnTo>
                  <a:lnTo>
                    <a:pt x="394977" y="748855"/>
                  </a:lnTo>
                  <a:lnTo>
                    <a:pt x="439840" y="737616"/>
                  </a:lnTo>
                  <a:lnTo>
                    <a:pt x="481878" y="668121"/>
                  </a:lnTo>
                  <a:lnTo>
                    <a:pt x="493387" y="616915"/>
                  </a:lnTo>
                  <a:lnTo>
                    <a:pt x="501092" y="569366"/>
                  </a:lnTo>
                  <a:lnTo>
                    <a:pt x="506896" y="536447"/>
                  </a:lnTo>
                  <a:lnTo>
                    <a:pt x="508025" y="488992"/>
                  </a:lnTo>
                  <a:lnTo>
                    <a:pt x="508815" y="441282"/>
                  </a:lnTo>
                  <a:lnTo>
                    <a:pt x="509944" y="393572"/>
                  </a:lnTo>
                  <a:lnTo>
                    <a:pt x="512089" y="346117"/>
                  </a:lnTo>
                  <a:lnTo>
                    <a:pt x="515927" y="299169"/>
                  </a:lnTo>
                  <a:lnTo>
                    <a:pt x="522136" y="252983"/>
                  </a:lnTo>
                  <a:lnTo>
                    <a:pt x="541853" y="207549"/>
                  </a:lnTo>
                  <a:lnTo>
                    <a:pt x="555664" y="201167"/>
                  </a:lnTo>
                  <a:lnTo>
                    <a:pt x="565617" y="202168"/>
                  </a:lnTo>
                  <a:lnTo>
                    <a:pt x="573571" y="211454"/>
                  </a:lnTo>
                  <a:lnTo>
                    <a:pt x="580953" y="224742"/>
                  </a:lnTo>
                  <a:lnTo>
                    <a:pt x="589192" y="237743"/>
                  </a:lnTo>
                  <a:lnTo>
                    <a:pt x="597955" y="285273"/>
                  </a:lnTo>
                  <a:lnTo>
                    <a:pt x="604590" y="333076"/>
                  </a:lnTo>
                  <a:lnTo>
                    <a:pt x="609534" y="381128"/>
                  </a:lnTo>
                  <a:lnTo>
                    <a:pt x="613228" y="429399"/>
                  </a:lnTo>
                  <a:lnTo>
                    <a:pt x="616111" y="477862"/>
                  </a:lnTo>
                  <a:lnTo>
                    <a:pt x="618623" y="526490"/>
                  </a:lnTo>
                  <a:lnTo>
                    <a:pt x="621204" y="575256"/>
                  </a:lnTo>
                  <a:lnTo>
                    <a:pt x="624293" y="624132"/>
                  </a:lnTo>
                  <a:lnTo>
                    <a:pt x="628330" y="673090"/>
                  </a:lnTo>
                  <a:lnTo>
                    <a:pt x="633755" y="722103"/>
                  </a:lnTo>
                  <a:lnTo>
                    <a:pt x="641008" y="771143"/>
                  </a:lnTo>
                  <a:lnTo>
                    <a:pt x="648225" y="819424"/>
                  </a:lnTo>
                  <a:lnTo>
                    <a:pt x="657784" y="864047"/>
                  </a:lnTo>
                  <a:lnTo>
                    <a:pt x="673487" y="902817"/>
                  </a:lnTo>
                  <a:lnTo>
                    <a:pt x="699139" y="933541"/>
                  </a:lnTo>
                  <a:lnTo>
                    <a:pt x="738544" y="954023"/>
                  </a:lnTo>
                  <a:lnTo>
                    <a:pt x="763451" y="949213"/>
                  </a:lnTo>
                  <a:lnTo>
                    <a:pt x="816649" y="940688"/>
                  </a:lnTo>
                  <a:lnTo>
                    <a:pt x="872704" y="930449"/>
                  </a:lnTo>
                  <a:lnTo>
                    <a:pt x="944046" y="887777"/>
                  </a:lnTo>
                  <a:lnTo>
                    <a:pt x="982765" y="848486"/>
                  </a:lnTo>
                  <a:lnTo>
                    <a:pt x="1012912" y="815482"/>
                  </a:lnTo>
                  <a:lnTo>
                    <a:pt x="1033724" y="769143"/>
                  </a:lnTo>
                  <a:lnTo>
                    <a:pt x="1044106" y="736091"/>
                  </a:lnTo>
                  <a:lnTo>
                    <a:pt x="1053345" y="703040"/>
                  </a:lnTo>
                  <a:lnTo>
                    <a:pt x="1058584" y="670559"/>
                  </a:lnTo>
                  <a:lnTo>
                    <a:pt x="1058764" y="619362"/>
                  </a:lnTo>
                  <a:lnTo>
                    <a:pt x="1057828" y="568220"/>
                  </a:lnTo>
                  <a:lnTo>
                    <a:pt x="1056307" y="517187"/>
                  </a:lnTo>
                  <a:lnTo>
                    <a:pt x="1054731" y="466319"/>
                  </a:lnTo>
                  <a:lnTo>
                    <a:pt x="1053631" y="415670"/>
                  </a:lnTo>
                  <a:lnTo>
                    <a:pt x="1053536" y="365296"/>
                  </a:lnTo>
                  <a:lnTo>
                    <a:pt x="1054978" y="315251"/>
                  </a:lnTo>
                  <a:lnTo>
                    <a:pt x="1058486" y="265590"/>
                  </a:lnTo>
                  <a:lnTo>
                    <a:pt x="1064591" y="216368"/>
                  </a:lnTo>
                  <a:lnTo>
                    <a:pt x="1073824" y="167639"/>
                  </a:lnTo>
                  <a:lnTo>
                    <a:pt x="1095779" y="134207"/>
                  </a:lnTo>
                  <a:lnTo>
                    <a:pt x="1135165" y="108203"/>
                  </a:lnTo>
                  <a:lnTo>
                    <a:pt x="1172836" y="91344"/>
                  </a:lnTo>
                  <a:lnTo>
                    <a:pt x="1189648" y="85343"/>
                  </a:lnTo>
                  <a:lnTo>
                    <a:pt x="1227099" y="116487"/>
                  </a:lnTo>
                  <a:lnTo>
                    <a:pt x="1253543" y="151609"/>
                  </a:lnTo>
                  <a:lnTo>
                    <a:pt x="1272706" y="190118"/>
                  </a:lnTo>
                  <a:lnTo>
                    <a:pt x="1288313" y="231422"/>
                  </a:lnTo>
                  <a:lnTo>
                    <a:pt x="1304089" y="274926"/>
                  </a:lnTo>
                  <a:lnTo>
                    <a:pt x="1323760" y="320039"/>
                  </a:lnTo>
                  <a:lnTo>
                    <a:pt x="1329105" y="358845"/>
                  </a:lnTo>
                  <a:lnTo>
                    <a:pt x="1332137" y="398635"/>
                  </a:lnTo>
                  <a:lnTo>
                    <a:pt x="1333300" y="439184"/>
                  </a:lnTo>
                  <a:lnTo>
                    <a:pt x="1333039" y="480267"/>
                  </a:lnTo>
                  <a:lnTo>
                    <a:pt x="1331799" y="521659"/>
                  </a:lnTo>
                  <a:lnTo>
                    <a:pt x="1330025" y="563135"/>
                  </a:lnTo>
                  <a:lnTo>
                    <a:pt x="1328162" y="604471"/>
                  </a:lnTo>
                  <a:lnTo>
                    <a:pt x="1326655" y="645440"/>
                  </a:lnTo>
                  <a:lnTo>
                    <a:pt x="1325947" y="685819"/>
                  </a:lnTo>
                  <a:lnTo>
                    <a:pt x="1326485" y="725382"/>
                  </a:lnTo>
                  <a:lnTo>
                    <a:pt x="1328713" y="763904"/>
                  </a:lnTo>
                  <a:lnTo>
                    <a:pt x="1340018" y="836927"/>
                  </a:lnTo>
                  <a:lnTo>
                    <a:pt x="1363421" y="903085"/>
                  </a:lnTo>
                  <a:lnTo>
                    <a:pt x="1402481" y="960581"/>
                  </a:lnTo>
                  <a:lnTo>
                    <a:pt x="1460757" y="1007614"/>
                  </a:lnTo>
                  <a:lnTo>
                    <a:pt x="1498212" y="1026644"/>
                  </a:lnTo>
                  <a:lnTo>
                    <a:pt x="1541806" y="1042384"/>
                  </a:lnTo>
                  <a:lnTo>
                    <a:pt x="1591984" y="1054607"/>
                  </a:lnTo>
                  <a:lnTo>
                    <a:pt x="1606033" y="1049654"/>
                  </a:lnTo>
                  <a:lnTo>
                    <a:pt x="1622083" y="1044701"/>
                  </a:lnTo>
                  <a:lnTo>
                    <a:pt x="1635275" y="1040891"/>
                  </a:lnTo>
                  <a:lnTo>
                    <a:pt x="1640752" y="1039367"/>
                  </a:lnTo>
                </a:path>
              </a:pathLst>
            </a:custGeom>
            <a:ln w="27431">
              <a:solidFill>
                <a:srgbClr val="000000"/>
              </a:solidFill>
            </a:ln>
          </p:spPr>
          <p:txBody>
            <a:bodyPr wrap="square" lIns="0" tIns="0" rIns="0" bIns="0" rtlCol="0"/>
            <a:lstStyle/>
            <a:p>
              <a:endParaRPr sz="100"/>
            </a:p>
          </p:txBody>
        </p:sp>
      </p:grpSp>
      <p:sp>
        <p:nvSpPr>
          <p:cNvPr id="22" name="object 22"/>
          <p:cNvSpPr txBox="1"/>
          <p:nvPr/>
        </p:nvSpPr>
        <p:spPr>
          <a:xfrm>
            <a:off x="817132" y="3901887"/>
            <a:ext cx="605118" cy="335915"/>
          </a:xfrm>
          <a:prstGeom prst="rect">
            <a:avLst/>
          </a:prstGeom>
        </p:spPr>
        <p:txBody>
          <a:bodyPr vert="horz" wrap="square" lIns="0" tIns="11205" rIns="0" bIns="0" rtlCol="0">
            <a:spAutoFit/>
          </a:bodyPr>
          <a:lstStyle/>
          <a:p>
            <a:pPr marL="12700">
              <a:lnSpc>
                <a:spcPct val="100000"/>
              </a:lnSpc>
              <a:spcBef>
                <a:spcPts val="100"/>
              </a:spcBef>
            </a:pPr>
            <a:r>
              <a:rPr sz="2120" b="1" spc="-5" dirty="0">
                <a:latin typeface="Times New Roman" panose="02020603050405020304"/>
                <a:cs typeface="Times New Roman" panose="02020603050405020304"/>
              </a:rPr>
              <a:t>DNA</a:t>
            </a:r>
            <a:endParaRPr sz="2120">
              <a:latin typeface="Times New Roman" panose="02020603050405020304"/>
              <a:cs typeface="Times New Roman" panose="02020603050405020304"/>
            </a:endParaRPr>
          </a:p>
        </p:txBody>
      </p:sp>
      <p:sp>
        <p:nvSpPr>
          <p:cNvPr id="23" name="object 23"/>
          <p:cNvSpPr txBox="1"/>
          <p:nvPr/>
        </p:nvSpPr>
        <p:spPr>
          <a:xfrm>
            <a:off x="2105360" y="3498476"/>
            <a:ext cx="1599079" cy="335915"/>
          </a:xfrm>
          <a:prstGeom prst="rect">
            <a:avLst/>
          </a:prstGeom>
        </p:spPr>
        <p:txBody>
          <a:bodyPr vert="horz" wrap="square" lIns="0" tIns="11205" rIns="0" bIns="0" rtlCol="0">
            <a:spAutoFit/>
          </a:bodyPr>
          <a:lstStyle/>
          <a:p>
            <a:pPr marL="12700">
              <a:lnSpc>
                <a:spcPct val="100000"/>
              </a:lnSpc>
              <a:spcBef>
                <a:spcPts val="100"/>
              </a:spcBef>
            </a:pPr>
            <a:r>
              <a:rPr sz="2120" b="1" dirty="0">
                <a:latin typeface="Times New Roman" panose="02020603050405020304"/>
                <a:cs typeface="Times New Roman" panose="02020603050405020304"/>
              </a:rPr>
              <a:t>Mutated</a:t>
            </a:r>
            <a:r>
              <a:rPr sz="2120" b="1" spc="-8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gene</a:t>
            </a:r>
            <a:endParaRPr sz="2120">
              <a:latin typeface="Times New Roman" panose="02020603050405020304"/>
              <a:cs typeface="Times New Roman" panose="02020603050405020304"/>
            </a:endParaRPr>
          </a:p>
        </p:txBody>
      </p:sp>
      <p:sp>
        <p:nvSpPr>
          <p:cNvPr id="24" name="object 24"/>
          <p:cNvSpPr txBox="1">
            <a:spLocks noGrp="1"/>
          </p:cNvSpPr>
          <p:nvPr>
            <p:ph type="title"/>
          </p:nvPr>
        </p:nvSpPr>
        <p:spPr>
          <a:xfrm>
            <a:off x="4775946" y="746442"/>
            <a:ext cx="1806949" cy="335915"/>
          </a:xfrm>
          <a:prstGeom prst="rect">
            <a:avLst/>
          </a:prstGeom>
        </p:spPr>
        <p:txBody>
          <a:bodyPr vert="horz" wrap="square" lIns="0" tIns="11205" rIns="0" bIns="0" rtlCol="0">
            <a:spAutoFit/>
          </a:bodyPr>
          <a:lstStyle/>
          <a:p>
            <a:pPr marL="12700">
              <a:lnSpc>
                <a:spcPct val="100000"/>
              </a:lnSpc>
              <a:spcBef>
                <a:spcPts val="100"/>
              </a:spcBef>
            </a:pPr>
            <a:r>
              <a:rPr sz="2120" b="1" spc="-5" dirty="0">
                <a:solidFill>
                  <a:srgbClr val="000000"/>
                </a:solidFill>
                <a:latin typeface="Times New Roman" panose="02020603050405020304"/>
                <a:cs typeface="Times New Roman" panose="02020603050405020304"/>
              </a:rPr>
              <a:t>Normal</a:t>
            </a:r>
            <a:r>
              <a:rPr sz="2120" b="1" spc="-80" dirty="0">
                <a:solidFill>
                  <a:srgbClr val="000000"/>
                </a:solidFill>
                <a:latin typeface="Times New Roman" panose="02020603050405020304"/>
                <a:cs typeface="Times New Roman" panose="02020603050405020304"/>
              </a:rPr>
              <a:t> </a:t>
            </a:r>
            <a:r>
              <a:rPr sz="2120" b="1" spc="-5" dirty="0">
                <a:solidFill>
                  <a:srgbClr val="000000"/>
                </a:solidFill>
                <a:latin typeface="Times New Roman" panose="02020603050405020304"/>
                <a:cs typeface="Times New Roman" panose="02020603050405020304"/>
              </a:rPr>
              <a:t>protein</a:t>
            </a:r>
            <a:endParaRPr sz="2120">
              <a:latin typeface="Times New Roman" panose="02020603050405020304"/>
              <a:cs typeface="Times New Roman" panose="02020603050405020304"/>
            </a:endParaRPr>
          </a:p>
        </p:txBody>
      </p:sp>
      <p:sp>
        <p:nvSpPr>
          <p:cNvPr id="25" name="object 25"/>
          <p:cNvSpPr/>
          <p:nvPr/>
        </p:nvSpPr>
        <p:spPr>
          <a:xfrm>
            <a:off x="5243007" y="1259988"/>
            <a:ext cx="1151404" cy="900953"/>
          </a:xfrm>
          <a:custGeom>
            <a:avLst/>
            <a:gdLst/>
            <a:ahLst/>
            <a:cxnLst/>
            <a:rect l="l" t="t" r="r" b="b"/>
            <a:pathLst>
              <a:path w="1304925" h="1021080">
                <a:moveTo>
                  <a:pt x="0" y="48767"/>
                </a:moveTo>
                <a:lnTo>
                  <a:pt x="3609" y="112998"/>
                </a:lnTo>
                <a:lnTo>
                  <a:pt x="6352" y="164504"/>
                </a:lnTo>
                <a:lnTo>
                  <a:pt x="8573" y="205981"/>
                </a:lnTo>
                <a:lnTo>
                  <a:pt x="12824" y="269616"/>
                </a:lnTo>
                <a:lnTo>
                  <a:pt x="19108" y="325446"/>
                </a:lnTo>
                <a:lnTo>
                  <a:pt x="30173" y="395017"/>
                </a:lnTo>
                <a:lnTo>
                  <a:pt x="38357" y="441687"/>
                </a:lnTo>
                <a:lnTo>
                  <a:pt x="48767" y="499871"/>
                </a:lnTo>
                <a:lnTo>
                  <a:pt x="59716" y="561342"/>
                </a:lnTo>
                <a:lnTo>
                  <a:pt x="68494" y="615146"/>
                </a:lnTo>
                <a:lnTo>
                  <a:pt x="76406" y="662382"/>
                </a:lnTo>
                <a:lnTo>
                  <a:pt x="84757" y="704149"/>
                </a:lnTo>
                <a:lnTo>
                  <a:pt x="94854" y="741548"/>
                </a:lnTo>
                <a:lnTo>
                  <a:pt x="125504" y="807633"/>
                </a:lnTo>
                <a:lnTo>
                  <a:pt x="148667" y="838518"/>
                </a:lnTo>
                <a:lnTo>
                  <a:pt x="178797" y="869431"/>
                </a:lnTo>
                <a:lnTo>
                  <a:pt x="217198" y="901470"/>
                </a:lnTo>
                <a:lnTo>
                  <a:pt x="265176" y="935736"/>
                </a:lnTo>
                <a:lnTo>
                  <a:pt x="317365" y="920001"/>
                </a:lnTo>
                <a:lnTo>
                  <a:pt x="363028" y="899636"/>
                </a:lnTo>
                <a:lnTo>
                  <a:pt x="402892" y="874998"/>
                </a:lnTo>
                <a:lnTo>
                  <a:pt x="437687" y="846444"/>
                </a:lnTo>
                <a:lnTo>
                  <a:pt x="468139" y="814331"/>
                </a:lnTo>
                <a:lnTo>
                  <a:pt x="494978" y="779017"/>
                </a:lnTo>
                <a:lnTo>
                  <a:pt x="518932" y="740858"/>
                </a:lnTo>
                <a:lnTo>
                  <a:pt x="540728" y="700213"/>
                </a:lnTo>
                <a:lnTo>
                  <a:pt x="561095" y="657438"/>
                </a:lnTo>
                <a:lnTo>
                  <a:pt x="580762" y="612890"/>
                </a:lnTo>
                <a:lnTo>
                  <a:pt x="600455" y="566927"/>
                </a:lnTo>
                <a:lnTo>
                  <a:pt x="599529" y="528260"/>
                </a:lnTo>
                <a:lnTo>
                  <a:pt x="599952" y="487040"/>
                </a:lnTo>
                <a:lnTo>
                  <a:pt x="601041" y="443886"/>
                </a:lnTo>
                <a:lnTo>
                  <a:pt x="602114" y="399415"/>
                </a:lnTo>
                <a:lnTo>
                  <a:pt x="602487" y="354245"/>
                </a:lnTo>
                <a:lnTo>
                  <a:pt x="601480" y="308994"/>
                </a:lnTo>
                <a:lnTo>
                  <a:pt x="598407" y="264279"/>
                </a:lnTo>
                <a:lnTo>
                  <a:pt x="592588" y="220718"/>
                </a:lnTo>
                <a:lnTo>
                  <a:pt x="583338" y="178929"/>
                </a:lnTo>
                <a:lnTo>
                  <a:pt x="569976" y="139530"/>
                </a:lnTo>
                <a:lnTo>
                  <a:pt x="551818" y="103138"/>
                </a:lnTo>
                <a:lnTo>
                  <a:pt x="528181" y="70372"/>
                </a:lnTo>
                <a:lnTo>
                  <a:pt x="498384" y="41848"/>
                </a:lnTo>
                <a:lnTo>
                  <a:pt x="461743" y="18185"/>
                </a:lnTo>
                <a:lnTo>
                  <a:pt x="417576" y="0"/>
                </a:lnTo>
                <a:lnTo>
                  <a:pt x="389858" y="7191"/>
                </a:lnTo>
                <a:lnTo>
                  <a:pt x="337852" y="29575"/>
                </a:lnTo>
                <a:lnTo>
                  <a:pt x="310277" y="60721"/>
                </a:lnTo>
                <a:lnTo>
                  <a:pt x="303704" y="86915"/>
                </a:lnTo>
                <a:lnTo>
                  <a:pt x="298704" y="100583"/>
                </a:lnTo>
                <a:lnTo>
                  <a:pt x="280701" y="134397"/>
                </a:lnTo>
                <a:lnTo>
                  <a:pt x="259842" y="167640"/>
                </a:lnTo>
                <a:lnTo>
                  <a:pt x="237839" y="200882"/>
                </a:lnTo>
                <a:lnTo>
                  <a:pt x="216408" y="234695"/>
                </a:lnTo>
                <a:lnTo>
                  <a:pt x="217475" y="286484"/>
                </a:lnTo>
                <a:lnTo>
                  <a:pt x="217690" y="337201"/>
                </a:lnTo>
                <a:lnTo>
                  <a:pt x="217562" y="386983"/>
                </a:lnTo>
                <a:lnTo>
                  <a:pt x="217599" y="435969"/>
                </a:lnTo>
                <a:lnTo>
                  <a:pt x="218308" y="484295"/>
                </a:lnTo>
                <a:lnTo>
                  <a:pt x="220200" y="532099"/>
                </a:lnTo>
                <a:lnTo>
                  <a:pt x="223781" y="579518"/>
                </a:lnTo>
                <a:lnTo>
                  <a:pt x="229561" y="626690"/>
                </a:lnTo>
                <a:lnTo>
                  <a:pt x="238048" y="673752"/>
                </a:lnTo>
                <a:lnTo>
                  <a:pt x="249750" y="720841"/>
                </a:lnTo>
                <a:lnTo>
                  <a:pt x="265176" y="768095"/>
                </a:lnTo>
                <a:lnTo>
                  <a:pt x="272986" y="789527"/>
                </a:lnTo>
                <a:lnTo>
                  <a:pt x="279654" y="811530"/>
                </a:lnTo>
                <a:lnTo>
                  <a:pt x="298704" y="850392"/>
                </a:lnTo>
                <a:lnTo>
                  <a:pt x="331422" y="886968"/>
                </a:lnTo>
                <a:lnTo>
                  <a:pt x="370713" y="925830"/>
                </a:lnTo>
                <a:lnTo>
                  <a:pt x="403717" y="956691"/>
                </a:lnTo>
                <a:lnTo>
                  <a:pt x="417576" y="969264"/>
                </a:lnTo>
                <a:lnTo>
                  <a:pt x="463832" y="964722"/>
                </a:lnTo>
                <a:lnTo>
                  <a:pt x="512731" y="961501"/>
                </a:lnTo>
                <a:lnTo>
                  <a:pt x="563201" y="958066"/>
                </a:lnTo>
                <a:lnTo>
                  <a:pt x="614172" y="952881"/>
                </a:lnTo>
                <a:lnTo>
                  <a:pt x="664571" y="944409"/>
                </a:lnTo>
                <a:lnTo>
                  <a:pt x="713327" y="931116"/>
                </a:lnTo>
                <a:lnTo>
                  <a:pt x="759369" y="911465"/>
                </a:lnTo>
                <a:lnTo>
                  <a:pt x="801624" y="883919"/>
                </a:lnTo>
                <a:lnTo>
                  <a:pt x="848106" y="842581"/>
                </a:lnTo>
                <a:lnTo>
                  <a:pt x="896874" y="793242"/>
                </a:lnTo>
                <a:lnTo>
                  <a:pt x="935355" y="751903"/>
                </a:lnTo>
                <a:lnTo>
                  <a:pt x="967043" y="690821"/>
                </a:lnTo>
                <a:lnTo>
                  <a:pt x="985828" y="648086"/>
                </a:lnTo>
                <a:lnTo>
                  <a:pt x="1006320" y="605885"/>
                </a:lnTo>
                <a:lnTo>
                  <a:pt x="1027505" y="563737"/>
                </a:lnTo>
                <a:lnTo>
                  <a:pt x="1048370" y="521163"/>
                </a:lnTo>
                <a:lnTo>
                  <a:pt x="1067902" y="477682"/>
                </a:lnTo>
                <a:lnTo>
                  <a:pt x="1085088" y="432815"/>
                </a:lnTo>
                <a:lnTo>
                  <a:pt x="1093202" y="376399"/>
                </a:lnTo>
                <a:lnTo>
                  <a:pt x="1101231" y="328958"/>
                </a:lnTo>
                <a:lnTo>
                  <a:pt x="1107567" y="285750"/>
                </a:lnTo>
                <a:lnTo>
                  <a:pt x="1110601" y="242034"/>
                </a:lnTo>
                <a:lnTo>
                  <a:pt x="1108724" y="193068"/>
                </a:lnTo>
                <a:lnTo>
                  <a:pt x="1100328" y="134112"/>
                </a:lnTo>
                <a:lnTo>
                  <a:pt x="1098804" y="119586"/>
                </a:lnTo>
                <a:lnTo>
                  <a:pt x="1085088" y="82295"/>
                </a:lnTo>
                <a:lnTo>
                  <a:pt x="1043940" y="71247"/>
                </a:lnTo>
                <a:lnTo>
                  <a:pt x="1022509" y="69866"/>
                </a:lnTo>
                <a:lnTo>
                  <a:pt x="1002792" y="67055"/>
                </a:lnTo>
                <a:lnTo>
                  <a:pt x="938404" y="82220"/>
                </a:lnTo>
                <a:lnTo>
                  <a:pt x="892730" y="92192"/>
                </a:lnTo>
                <a:lnTo>
                  <a:pt x="861455" y="98552"/>
                </a:lnTo>
                <a:lnTo>
                  <a:pt x="840265" y="102879"/>
                </a:lnTo>
                <a:lnTo>
                  <a:pt x="794056" y="119474"/>
                </a:lnTo>
                <a:lnTo>
                  <a:pt x="734567" y="149352"/>
                </a:lnTo>
                <a:lnTo>
                  <a:pt x="704398" y="193844"/>
                </a:lnTo>
                <a:lnTo>
                  <a:pt x="682187" y="239098"/>
                </a:lnTo>
                <a:lnTo>
                  <a:pt x="665225" y="285369"/>
                </a:lnTo>
                <a:lnTo>
                  <a:pt x="650804" y="332909"/>
                </a:lnTo>
                <a:lnTo>
                  <a:pt x="636213" y="381973"/>
                </a:lnTo>
                <a:lnTo>
                  <a:pt x="618743" y="432815"/>
                </a:lnTo>
                <a:lnTo>
                  <a:pt x="624780" y="478571"/>
                </a:lnTo>
                <a:lnTo>
                  <a:pt x="629888" y="527970"/>
                </a:lnTo>
                <a:lnTo>
                  <a:pt x="635138" y="579512"/>
                </a:lnTo>
                <a:lnTo>
                  <a:pt x="641603" y="631698"/>
                </a:lnTo>
                <a:lnTo>
                  <a:pt x="650355" y="683025"/>
                </a:lnTo>
                <a:lnTo>
                  <a:pt x="662463" y="731996"/>
                </a:lnTo>
                <a:lnTo>
                  <a:pt x="679001" y="777109"/>
                </a:lnTo>
                <a:lnTo>
                  <a:pt x="701039" y="816864"/>
                </a:lnTo>
                <a:lnTo>
                  <a:pt x="717566" y="867019"/>
                </a:lnTo>
                <a:lnTo>
                  <a:pt x="739521" y="906637"/>
                </a:lnTo>
                <a:lnTo>
                  <a:pt x="766620" y="937468"/>
                </a:lnTo>
                <a:lnTo>
                  <a:pt x="798576" y="961263"/>
                </a:lnTo>
                <a:lnTo>
                  <a:pt x="835104" y="979771"/>
                </a:lnTo>
                <a:lnTo>
                  <a:pt x="875919" y="994743"/>
                </a:lnTo>
                <a:lnTo>
                  <a:pt x="920734" y="1007929"/>
                </a:lnTo>
                <a:lnTo>
                  <a:pt x="969264" y="1021080"/>
                </a:lnTo>
                <a:lnTo>
                  <a:pt x="1011126" y="1010840"/>
                </a:lnTo>
                <a:lnTo>
                  <a:pt x="1064133" y="998601"/>
                </a:lnTo>
                <a:lnTo>
                  <a:pt x="1115425" y="984647"/>
                </a:lnTo>
                <a:lnTo>
                  <a:pt x="1152143" y="969264"/>
                </a:lnTo>
                <a:lnTo>
                  <a:pt x="1215009" y="927735"/>
                </a:lnTo>
                <a:lnTo>
                  <a:pt x="1252727" y="902207"/>
                </a:lnTo>
                <a:lnTo>
                  <a:pt x="1262538" y="867727"/>
                </a:lnTo>
                <a:lnTo>
                  <a:pt x="1267206" y="852678"/>
                </a:lnTo>
                <a:lnTo>
                  <a:pt x="1277588" y="845629"/>
                </a:lnTo>
                <a:lnTo>
                  <a:pt x="1304543" y="835152"/>
                </a:lnTo>
              </a:path>
            </a:pathLst>
          </a:custGeom>
          <a:ln w="27431">
            <a:solidFill>
              <a:srgbClr val="000000"/>
            </a:solidFill>
          </a:ln>
        </p:spPr>
        <p:txBody>
          <a:bodyPr wrap="square" lIns="0" tIns="0" rIns="0" bIns="0" rtlCol="0"/>
          <a:lstStyle/>
          <a:p>
            <a:endParaRPr sz="100"/>
          </a:p>
        </p:txBody>
      </p:sp>
      <p:sp>
        <p:nvSpPr>
          <p:cNvPr id="26" name="object 26"/>
          <p:cNvSpPr txBox="1"/>
          <p:nvPr/>
        </p:nvSpPr>
        <p:spPr>
          <a:xfrm>
            <a:off x="6456829" y="1481417"/>
            <a:ext cx="1733549" cy="335915"/>
          </a:xfrm>
          <a:prstGeom prst="rect">
            <a:avLst/>
          </a:prstGeom>
        </p:spPr>
        <p:txBody>
          <a:bodyPr vert="horz" wrap="square" lIns="0" tIns="11205" rIns="0" bIns="0" rtlCol="0">
            <a:spAutoFit/>
          </a:bodyPr>
          <a:lstStyle/>
          <a:p>
            <a:pPr marL="12700">
              <a:lnSpc>
                <a:spcPct val="100000"/>
              </a:lnSpc>
              <a:spcBef>
                <a:spcPts val="100"/>
              </a:spcBef>
            </a:pPr>
            <a:r>
              <a:rPr sz="2120" b="1" dirty="0">
                <a:latin typeface="Times New Roman" panose="02020603050405020304"/>
                <a:cs typeface="Times New Roman" panose="02020603050405020304"/>
              </a:rPr>
              <a:t>WT</a:t>
            </a:r>
            <a:r>
              <a:rPr sz="2120" b="1" spc="-8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phenotype</a:t>
            </a:r>
            <a:endParaRPr sz="2120">
              <a:latin typeface="Times New Roman" panose="02020603050405020304"/>
              <a:cs typeface="Times New Roman" panose="02020603050405020304"/>
            </a:endParaRPr>
          </a:p>
        </p:txBody>
      </p:sp>
      <p:sp>
        <p:nvSpPr>
          <p:cNvPr id="27" name="object 27"/>
          <p:cNvSpPr txBox="1"/>
          <p:nvPr/>
        </p:nvSpPr>
        <p:spPr>
          <a:xfrm>
            <a:off x="4641476" y="4574240"/>
            <a:ext cx="1793501" cy="335915"/>
          </a:xfrm>
          <a:prstGeom prst="rect">
            <a:avLst/>
          </a:prstGeom>
        </p:spPr>
        <p:txBody>
          <a:bodyPr vert="horz" wrap="square" lIns="0" tIns="11205" rIns="0" bIns="0" rtlCol="0">
            <a:spAutoFit/>
          </a:bodyPr>
          <a:lstStyle/>
          <a:p>
            <a:pPr marL="12700">
              <a:lnSpc>
                <a:spcPct val="100000"/>
              </a:lnSpc>
              <a:spcBef>
                <a:spcPts val="100"/>
              </a:spcBef>
            </a:pPr>
            <a:r>
              <a:rPr sz="2120" b="1" dirty="0">
                <a:latin typeface="Times New Roman" panose="02020603050405020304"/>
                <a:cs typeface="Times New Roman" panose="02020603050405020304"/>
              </a:rPr>
              <a:t>Mutant</a:t>
            </a:r>
            <a:r>
              <a:rPr sz="2120" b="1" spc="-8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protein</a:t>
            </a:r>
            <a:endParaRPr sz="2120">
              <a:latin typeface="Times New Roman" panose="02020603050405020304"/>
              <a:cs typeface="Times New Roman" panose="02020603050405020304"/>
            </a:endParaRPr>
          </a:p>
        </p:txBody>
      </p:sp>
      <p:sp>
        <p:nvSpPr>
          <p:cNvPr id="28" name="object 28"/>
          <p:cNvSpPr txBox="1"/>
          <p:nvPr/>
        </p:nvSpPr>
        <p:spPr>
          <a:xfrm>
            <a:off x="6322358" y="3565711"/>
            <a:ext cx="2152090" cy="335915"/>
          </a:xfrm>
          <a:prstGeom prst="rect">
            <a:avLst/>
          </a:prstGeom>
        </p:spPr>
        <p:txBody>
          <a:bodyPr vert="horz" wrap="square" lIns="0" tIns="11205" rIns="0" bIns="0" rtlCol="0">
            <a:spAutoFit/>
          </a:bodyPr>
          <a:lstStyle/>
          <a:p>
            <a:pPr marL="12700">
              <a:lnSpc>
                <a:spcPct val="100000"/>
              </a:lnSpc>
              <a:spcBef>
                <a:spcPts val="100"/>
              </a:spcBef>
            </a:pPr>
            <a:r>
              <a:rPr sz="2120" b="1" dirty="0">
                <a:latin typeface="Times New Roman" panose="02020603050405020304"/>
                <a:cs typeface="Times New Roman" panose="02020603050405020304"/>
              </a:rPr>
              <a:t>Mutant</a:t>
            </a:r>
            <a:r>
              <a:rPr sz="2120" b="1" spc="-8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phenotype</a:t>
            </a:r>
            <a:endParaRPr sz="212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7400" y="4343400"/>
            <a:ext cx="32004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Rectangle 2"/>
          <p:cNvSpPr>
            <a:spLocks noGrp="1" noChangeArrowheads="1"/>
          </p:cNvSpPr>
          <p:nvPr>
            <p:ph type="title"/>
          </p:nvPr>
        </p:nvSpPr>
        <p:spPr>
          <a:xfrm>
            <a:off x="609600" y="533400"/>
            <a:ext cx="6629400" cy="838200"/>
          </a:xfrm>
        </p:spPr>
        <p:txBody>
          <a:bodyPr rtlCol="0">
            <a:normAutofit fontScale="90000"/>
          </a:bodyPr>
          <a:lstStyle/>
          <a:p>
            <a:pPr algn="ctr" eaLnBrk="1" fontAlgn="auto" hangingPunct="1">
              <a:spcAft>
                <a:spcPts val="0"/>
              </a:spcAft>
              <a:defRPr/>
            </a:pPr>
            <a:r>
              <a:rPr lang="en-US" sz="3600" b="1" dirty="0"/>
              <a:t>Are Mutations Helpful or Harmful?</a:t>
            </a:r>
            <a:endParaRPr lang="en-US" sz="3600" b="1" dirty="0"/>
          </a:p>
        </p:txBody>
      </p:sp>
      <p:sp>
        <p:nvSpPr>
          <p:cNvPr id="8195" name="Rectangle 3"/>
          <p:cNvSpPr>
            <a:spLocks noGrp="1" noChangeArrowheads="1"/>
          </p:cNvSpPr>
          <p:nvPr>
            <p:ph idx="1"/>
          </p:nvPr>
        </p:nvSpPr>
        <p:spPr>
          <a:xfrm>
            <a:off x="76200" y="1676400"/>
            <a:ext cx="8968105" cy="4419600"/>
          </a:xfrm>
        </p:spPr>
        <p:txBody>
          <a:bodyPr/>
          <a:lstStyle/>
          <a:p>
            <a:pPr eaLnBrk="1" hangingPunct="1">
              <a:lnSpc>
                <a:spcPct val="100000"/>
              </a:lnSpc>
              <a:defRPr/>
            </a:pPr>
            <a:r>
              <a:rPr lang="en-US" altLang="en-US" sz="2400" dirty="0">
                <a:solidFill>
                  <a:schemeClr val="tx1"/>
                </a:solidFill>
                <a:latin typeface="Comic Sans MS" panose="030F0702030302020204" pitchFamily="66" charset="0"/>
              </a:rPr>
              <a:t> </a:t>
            </a:r>
            <a:r>
              <a:rPr lang="en-US" altLang="en-US" sz="2400" dirty="0">
                <a:solidFill>
                  <a:schemeClr val="tx1"/>
                </a:solidFill>
              </a:rPr>
              <a:t>Some mutations may improve an organism’s survival (beneficial)</a:t>
            </a:r>
            <a:endParaRPr lang="ar-SA" altLang="en-US" sz="2400" dirty="0">
              <a:solidFill>
                <a:schemeClr val="tx1"/>
              </a:solidFill>
            </a:endParaRPr>
          </a:p>
          <a:p>
            <a:pPr eaLnBrk="1" hangingPunct="1">
              <a:lnSpc>
                <a:spcPct val="150000"/>
              </a:lnSpc>
              <a:defRPr/>
            </a:pPr>
            <a:r>
              <a:rPr lang="en-US" sz="2400" dirty="0">
                <a:solidFill>
                  <a:schemeClr val="tx1"/>
                </a:solidFill>
              </a:rPr>
              <a:t> Protein-coding DNA can be divided into codons</a:t>
            </a:r>
            <a:endParaRPr lang="en-US" sz="2400" dirty="0">
              <a:solidFill>
                <a:schemeClr val="tx1"/>
              </a:solidFill>
            </a:endParaRPr>
          </a:p>
          <a:p>
            <a:pPr eaLnBrk="1" hangingPunct="1">
              <a:lnSpc>
                <a:spcPct val="100000"/>
              </a:lnSpc>
              <a:defRPr/>
            </a:pPr>
            <a:r>
              <a:rPr lang="en-US" sz="2400" dirty="0">
                <a:solidFill>
                  <a:schemeClr val="tx1"/>
                </a:solidFill>
              </a:rPr>
              <a:t>Codons: are sets of three bases that specify an amino acid or signal the end of the protein. </a:t>
            </a:r>
            <a:endParaRPr lang="en-US" sz="2400" dirty="0">
              <a:solidFill>
                <a:schemeClr val="tx1"/>
              </a:solidFill>
            </a:endParaRPr>
          </a:p>
          <a:p>
            <a:pPr marL="492125" indent="-457200" eaLnBrk="1" hangingPunct="1">
              <a:lnSpc>
                <a:spcPct val="100000"/>
              </a:lnSpc>
              <a:defRPr/>
            </a:pPr>
            <a:r>
              <a:rPr lang="en-US" sz="2400" dirty="0">
                <a:solidFill>
                  <a:schemeClr val="tx1"/>
                </a:solidFill>
              </a:rPr>
              <a:t>In the example at right, GCA  for guanine, cytosine, and adenine. </a:t>
            </a:r>
            <a:endParaRPr lang="en-US" sz="2400" dirty="0">
              <a:solidFill>
                <a:schemeClr val="tx1"/>
              </a:solidFill>
            </a:endParaRPr>
          </a:p>
          <a:p>
            <a:pPr eaLnBrk="1" hangingPunct="1">
              <a:defRPr/>
            </a:pPr>
            <a:endParaRPr lang="en-US" altLang="en-US" sz="2400" dirty="0">
              <a:solidFill>
                <a:schemeClr val="tx1"/>
              </a:solidFill>
              <a:latin typeface="Comic Sans MS" panose="030F0702030302020204"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algn="ctr" eaLnBrk="1" hangingPunct="1"/>
            <a:r>
              <a:rPr lang="en-US" altLang="en-US" sz="4000" b="1"/>
              <a:t>      Types of Gene Mutations</a:t>
            </a:r>
            <a:endParaRPr lang="en-US" altLang="en-US" sz="4000" b="1"/>
          </a:p>
        </p:txBody>
      </p:sp>
      <p:sp>
        <p:nvSpPr>
          <p:cNvPr id="3" name="Content Placeholder 2"/>
          <p:cNvSpPr>
            <a:spLocks noGrp="1"/>
          </p:cNvSpPr>
          <p:nvPr>
            <p:ph sz="half" idx="1"/>
          </p:nvPr>
        </p:nvSpPr>
        <p:spPr>
          <a:xfrm>
            <a:off x="457200" y="1600200"/>
            <a:ext cx="5204460" cy="4526280"/>
          </a:xfrm>
        </p:spPr>
        <p:txBody>
          <a:bodyPr rtlCol="0">
            <a:normAutofit/>
          </a:bodyPr>
          <a:lstStyle/>
          <a:p>
            <a:pPr marL="1525905" lvl="4" indent="-742950" eaLnBrk="1" fontAlgn="auto" hangingPunct="1">
              <a:buFont typeface="+mj-lt"/>
              <a:buAutoNum type="arabicPeriod"/>
              <a:defRPr/>
            </a:pPr>
            <a:r>
              <a:rPr lang="en-US" sz="2400" b="1" dirty="0">
                <a:solidFill>
                  <a:schemeClr val="tx1"/>
                </a:solidFill>
              </a:rPr>
              <a:t>Point Mutations</a:t>
            </a:r>
            <a:endParaRPr lang="en-US" sz="2400" b="1" dirty="0">
              <a:solidFill>
                <a:schemeClr val="tx1"/>
              </a:solidFill>
            </a:endParaRPr>
          </a:p>
          <a:p>
            <a:pPr marL="782955" lvl="4" indent="0" eaLnBrk="1" fontAlgn="auto" hangingPunct="1">
              <a:buFont typeface="+mj-lt"/>
              <a:buNone/>
              <a:defRPr/>
            </a:pPr>
            <a:r>
              <a:rPr lang="en-US" sz="2400" dirty="0">
                <a:solidFill>
                  <a:schemeClr val="tx1"/>
                </a:solidFill>
              </a:rPr>
              <a:t>             - Substitutions</a:t>
            </a:r>
            <a:endParaRPr lang="en-US" sz="2400" dirty="0">
              <a:solidFill>
                <a:schemeClr val="tx1"/>
              </a:solidFill>
            </a:endParaRPr>
          </a:p>
          <a:p>
            <a:pPr marL="782955" lvl="4" indent="0" eaLnBrk="1" fontAlgn="auto" hangingPunct="1">
              <a:buFont typeface="+mj-lt"/>
              <a:buNone/>
              <a:defRPr/>
            </a:pPr>
            <a:r>
              <a:rPr lang="en-US" sz="2400" dirty="0">
                <a:solidFill>
                  <a:schemeClr val="tx1"/>
                </a:solidFill>
              </a:rPr>
              <a:t>             - Insertions</a:t>
            </a:r>
            <a:endParaRPr lang="en-US" sz="2400" dirty="0">
              <a:solidFill>
                <a:schemeClr val="tx1"/>
              </a:solidFill>
            </a:endParaRPr>
          </a:p>
          <a:p>
            <a:pPr marL="782955" lvl="4" indent="0" eaLnBrk="1" fontAlgn="auto" hangingPunct="1">
              <a:buFont typeface="+mj-lt"/>
              <a:buNone/>
              <a:defRPr/>
            </a:pPr>
            <a:r>
              <a:rPr lang="en-US" sz="2400" dirty="0">
                <a:solidFill>
                  <a:schemeClr val="tx1"/>
                </a:solidFill>
              </a:rPr>
              <a:t>             - Deletions</a:t>
            </a:r>
            <a:endParaRPr lang="en-US" sz="2400" dirty="0">
              <a:solidFill>
                <a:schemeClr val="tx1"/>
              </a:solidFill>
            </a:endParaRPr>
          </a:p>
          <a:p>
            <a:pPr marL="782955" lvl="4" indent="0" eaLnBrk="1" fontAlgn="auto" hangingPunct="1">
              <a:buFont typeface="+mj-lt"/>
              <a:buNone/>
              <a:defRPr/>
            </a:pPr>
            <a:endParaRPr lang="en-US" sz="2400" dirty="0">
              <a:solidFill>
                <a:schemeClr val="tx1"/>
              </a:solidFill>
            </a:endParaRPr>
          </a:p>
          <a:p>
            <a:pPr marL="782955" lvl="4" indent="0" eaLnBrk="1" fontAlgn="auto" hangingPunct="1">
              <a:buFont typeface="+mj-lt"/>
              <a:buNone/>
              <a:defRPr/>
            </a:pPr>
            <a:r>
              <a:rPr lang="en-US" sz="2400" b="1" dirty="0">
                <a:solidFill>
                  <a:schemeClr val="tx1"/>
                </a:solidFill>
              </a:rPr>
              <a:t>2.   Frameshift </a:t>
            </a:r>
            <a:r>
              <a:rPr lang="en-US" sz="2400" b="1" dirty="0">
                <a:solidFill>
                  <a:schemeClr val="tx1"/>
                </a:solidFill>
                <a:sym typeface="+mn-ea"/>
              </a:rPr>
              <a:t>Mutations</a:t>
            </a:r>
            <a:endParaRPr lang="en-US" sz="2400" b="1" dirty="0">
              <a:solidFill>
                <a:schemeClr val="tx1"/>
              </a:solidFill>
            </a:endParaRPr>
          </a:p>
          <a:p>
            <a:pPr marL="782955" lvl="4" indent="0" eaLnBrk="1" fontAlgn="auto" hangingPunct="1">
              <a:buFont typeface="+mj-lt"/>
              <a:buNone/>
              <a:defRPr/>
            </a:pPr>
            <a:r>
              <a:rPr lang="en-US" sz="2400" dirty="0">
                <a:solidFill>
                  <a:schemeClr val="tx1"/>
                </a:solidFill>
                <a:sym typeface="+mn-ea"/>
              </a:rPr>
              <a:t>            - Insertions</a:t>
            </a:r>
            <a:endParaRPr lang="en-US" sz="2400" dirty="0">
              <a:solidFill>
                <a:schemeClr val="tx1"/>
              </a:solidFill>
            </a:endParaRPr>
          </a:p>
          <a:p>
            <a:pPr marL="782955" lvl="4" indent="0" eaLnBrk="1" fontAlgn="auto" hangingPunct="1">
              <a:buFont typeface="+mj-lt"/>
              <a:buNone/>
              <a:defRPr/>
            </a:pPr>
            <a:r>
              <a:rPr lang="en-US" sz="2400" dirty="0">
                <a:solidFill>
                  <a:schemeClr val="tx1"/>
                </a:solidFill>
                <a:sym typeface="+mn-ea"/>
              </a:rPr>
              <a:t>            - Deletions</a:t>
            </a:r>
            <a:endParaRPr lang="en-US" sz="2400" dirty="0">
              <a:solidFill>
                <a:schemeClr val="tx1"/>
              </a:solidFill>
            </a:endParaRPr>
          </a:p>
          <a:p>
            <a:pPr marL="782955" lvl="4" indent="0" eaLnBrk="1" fontAlgn="auto" hangingPunct="1">
              <a:buFont typeface="+mj-lt"/>
              <a:buNone/>
              <a:defRPr/>
            </a:pPr>
            <a:endParaRPr lang="en-US" sz="2400" b="1" dirty="0">
              <a:solidFill>
                <a:schemeClr val="tx1"/>
              </a:solidFill>
            </a:endParaRPr>
          </a:p>
          <a:p>
            <a:pPr marL="782955" lvl="4" indent="0" eaLnBrk="1" fontAlgn="auto" hangingPunct="1">
              <a:buFont typeface="+mj-lt"/>
              <a:buNone/>
              <a:defRPr/>
            </a:pPr>
            <a:endParaRPr lang="en-US" sz="2400" b="1" dirty="0">
              <a:solidFill>
                <a:schemeClr val="tx1"/>
              </a:solidFill>
            </a:endParaRPr>
          </a:p>
        </p:txBody>
      </p:sp>
      <p:pic>
        <p:nvPicPr>
          <p:cNvPr id="100" name="Content Placeholder 99"/>
          <p:cNvPicPr>
            <a:picLocks noChangeAspect="1"/>
          </p:cNvPicPr>
          <p:nvPr>
            <p:ph sz="half" idx="2"/>
          </p:nvPr>
        </p:nvPicPr>
        <p:blipFill>
          <a:blip r:embed="rId1"/>
          <a:stretch>
            <a:fillRect/>
          </a:stretch>
        </p:blipFill>
        <p:spPr>
          <a:xfrm>
            <a:off x="6477000" y="5114925"/>
            <a:ext cx="2619375" cy="17430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381000" y="609600"/>
            <a:ext cx="7467600" cy="838200"/>
          </a:xfrm>
        </p:spPr>
        <p:txBody>
          <a:bodyPr/>
          <a:lstStyle/>
          <a:p>
            <a:pPr algn="ctr" eaLnBrk="1" hangingPunct="1"/>
            <a:r>
              <a:rPr lang="en-US" altLang="en-US" sz="4000" b="1" dirty="0"/>
              <a:t>     1. Point Mutations</a:t>
            </a:r>
            <a:endParaRPr lang="en-US" altLang="en-US" sz="4000" b="1" dirty="0"/>
          </a:p>
        </p:txBody>
      </p:sp>
      <p:sp>
        <p:nvSpPr>
          <p:cNvPr id="3" name="Content Placeholder 2"/>
          <p:cNvSpPr>
            <a:spLocks noGrp="1"/>
          </p:cNvSpPr>
          <p:nvPr>
            <p:ph idx="1"/>
          </p:nvPr>
        </p:nvSpPr>
        <p:spPr>
          <a:xfrm>
            <a:off x="228600" y="2287270"/>
            <a:ext cx="8858885" cy="4037330"/>
          </a:xfrm>
        </p:spPr>
        <p:txBody>
          <a:bodyPr rtlCol="0">
            <a:normAutofit/>
          </a:bodyPr>
          <a:lstStyle/>
          <a:p>
            <a:pPr indent="-137160" eaLnBrk="1" fontAlgn="auto" hangingPunct="1">
              <a:spcAft>
                <a:spcPts val="0"/>
              </a:spcAft>
              <a:defRPr/>
            </a:pPr>
            <a:r>
              <a:rPr lang="en-US" sz="2400" dirty="0">
                <a:solidFill>
                  <a:schemeClr val="tx1"/>
                </a:solidFill>
                <a:latin typeface="+mj-lt"/>
              </a:rPr>
              <a:t>Change of a </a:t>
            </a:r>
            <a:r>
              <a:rPr lang="en-US" sz="2400" b="1" dirty="0">
                <a:solidFill>
                  <a:schemeClr val="tx1"/>
                </a:solidFill>
                <a:latin typeface="+mj-lt"/>
              </a:rPr>
              <a:t>single</a:t>
            </a:r>
            <a:r>
              <a:rPr lang="en-US" sz="2400" dirty="0">
                <a:solidFill>
                  <a:schemeClr val="tx1"/>
                </a:solidFill>
                <a:latin typeface="+mj-lt"/>
              </a:rPr>
              <a:t> nucleotide</a:t>
            </a:r>
            <a:endParaRPr lang="en-US" sz="2400" dirty="0">
              <a:solidFill>
                <a:schemeClr val="tx1"/>
              </a:solidFill>
              <a:latin typeface="+mj-lt"/>
            </a:endParaRPr>
          </a:p>
          <a:p>
            <a:pPr indent="-137160" eaLnBrk="1" fontAlgn="auto" hangingPunct="1">
              <a:spcAft>
                <a:spcPts val="0"/>
              </a:spcAft>
              <a:defRPr/>
            </a:pPr>
            <a:endParaRPr lang="en-US" sz="2400" dirty="0">
              <a:solidFill>
                <a:schemeClr val="tx1"/>
              </a:solidFill>
              <a:latin typeface="+mj-lt"/>
            </a:endParaRPr>
          </a:p>
          <a:p>
            <a:pPr indent="-137160" eaLnBrk="1" fontAlgn="auto" hangingPunct="1">
              <a:spcAft>
                <a:spcPts val="0"/>
              </a:spcAft>
              <a:defRPr/>
            </a:pPr>
            <a:r>
              <a:rPr lang="en-US" sz="2400" dirty="0">
                <a:solidFill>
                  <a:schemeClr val="tx1"/>
                </a:solidFill>
                <a:latin typeface="+mj-lt"/>
              </a:rPr>
              <a:t>Includes the deletion, insertion, or substitution of </a:t>
            </a:r>
            <a:r>
              <a:rPr lang="en-US" sz="2400" b="1" dirty="0">
                <a:solidFill>
                  <a:schemeClr val="tx1"/>
                </a:solidFill>
                <a:latin typeface="+mj-lt"/>
              </a:rPr>
              <a:t>ONE</a:t>
            </a:r>
            <a:r>
              <a:rPr lang="en-US" sz="2400" dirty="0">
                <a:solidFill>
                  <a:schemeClr val="tx1"/>
                </a:solidFill>
                <a:latin typeface="+mj-lt"/>
              </a:rPr>
              <a:t> nucleotide in a gene</a:t>
            </a:r>
            <a:endParaRPr lang="en-US" sz="2400" dirty="0">
              <a:solidFill>
                <a:schemeClr val="tx1"/>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Rectangle 13"/>
          <p:cNvSpPr>
            <a:spLocks noGrp="1" noRot="1" noChangeAspect="1" noMove="1" noResize="1" noEditPoints="1" noAdjustHandles="1" noChangeArrowheads="1" noChangeShapeType="1" noTextEdit="1"/>
          </p:cNvSpPr>
          <p:nvPr/>
        </p:nvSpPr>
        <p:spPr>
          <a:xfrm>
            <a:off x="173355" y="243840"/>
            <a:ext cx="879348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a:spLocks noGrp="1" noRot="1" noChangeAspect="1" noMove="1" noResize="1" noEditPoints="1" noAdjustHandles="1" noChangeArrowheads="1" noChangeShapeType="1" noTextEdit="1"/>
          </p:cNvSpPr>
          <p:nvPr/>
        </p:nvSpPr>
        <p:spPr>
          <a:xfrm>
            <a:off x="0" y="0"/>
            <a:ext cx="9144000" cy="6858000"/>
          </a:xfrm>
          <a:prstGeom prst="rect">
            <a:avLst/>
          </a:prstGeom>
          <a:solidFill>
            <a:srgbClr val="FB9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a:off x="357759" y="480060"/>
            <a:ext cx="8428482"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a:spLocks noGrp="1" noRot="1" noChangeAspect="1" noMove="1" noResize="1" noEditPoints="1" noAdjustHandles="1" noChangeArrowheads="1" noChangeShapeType="1" noTextEdit="1"/>
          </p:cNvSpPr>
          <p:nvPr/>
        </p:nvSpPr>
        <p:spPr>
          <a:xfrm>
            <a:off x="482599" y="643468"/>
            <a:ext cx="8178800"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a:blip r:embed="rId1"/>
          <a:stretch>
            <a:fillRect/>
          </a:stretch>
        </p:blipFill>
        <p:spPr>
          <a:xfrm>
            <a:off x="554990" y="1387475"/>
            <a:ext cx="7926705" cy="4023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1066800" y="685800"/>
            <a:ext cx="6705600" cy="838200"/>
          </a:xfrm>
        </p:spPr>
        <p:txBody>
          <a:bodyPr/>
          <a:lstStyle/>
          <a:p>
            <a:pPr algn="ctr" eaLnBrk="1" hangingPunct="1"/>
            <a:r>
              <a:rPr lang="en-US" altLang="en-US" sz="4000" b="1" dirty="0"/>
              <a:t>2. Frameshift Mutations</a:t>
            </a:r>
            <a:endParaRPr lang="en-US" altLang="en-US" sz="4000" b="1" dirty="0"/>
          </a:p>
        </p:txBody>
      </p:sp>
      <p:sp>
        <p:nvSpPr>
          <p:cNvPr id="3" name="Content Placeholder 2"/>
          <p:cNvSpPr>
            <a:spLocks noGrp="1"/>
          </p:cNvSpPr>
          <p:nvPr>
            <p:ph idx="1"/>
          </p:nvPr>
        </p:nvSpPr>
        <p:spPr>
          <a:xfrm>
            <a:off x="337820" y="2211705"/>
            <a:ext cx="8607425" cy="4112895"/>
          </a:xfrm>
        </p:spPr>
        <p:txBody>
          <a:bodyPr rtlCol="0">
            <a:normAutofit/>
          </a:bodyPr>
          <a:lstStyle/>
          <a:p>
            <a:pPr indent="-137160" eaLnBrk="1" fontAlgn="auto" hangingPunct="1">
              <a:spcAft>
                <a:spcPts val="0"/>
              </a:spcAft>
              <a:defRPr/>
            </a:pPr>
            <a:r>
              <a:rPr lang="en-US" sz="2400" b="1" dirty="0">
                <a:solidFill>
                  <a:schemeClr val="tx1"/>
                </a:solidFill>
                <a:latin typeface="+mj-lt"/>
              </a:rPr>
              <a:t>Inserting or deleting </a:t>
            </a:r>
            <a:r>
              <a:rPr lang="en-US" sz="2400" dirty="0">
                <a:solidFill>
                  <a:schemeClr val="tx1"/>
                </a:solidFill>
                <a:latin typeface="+mj-lt"/>
              </a:rPr>
              <a:t>one or more nucleotides – a specific type of point mutation that can change the created protein.</a:t>
            </a:r>
            <a:endParaRPr lang="en-US" sz="2400" dirty="0">
              <a:solidFill>
                <a:schemeClr val="tx1"/>
              </a:solidFill>
              <a:latin typeface="+mj-lt"/>
            </a:endParaRPr>
          </a:p>
          <a:p>
            <a:pPr indent="-137160" eaLnBrk="1" fontAlgn="auto" hangingPunct="1">
              <a:spcAft>
                <a:spcPts val="0"/>
              </a:spcAft>
              <a:defRPr/>
            </a:pPr>
            <a:endParaRPr lang="en-US" sz="2400" dirty="0">
              <a:solidFill>
                <a:schemeClr val="tx1"/>
              </a:solidFill>
              <a:latin typeface="+mj-lt"/>
            </a:endParaRPr>
          </a:p>
          <a:p>
            <a:pPr indent="-137160" eaLnBrk="1" fontAlgn="auto" hangingPunct="1">
              <a:spcAft>
                <a:spcPts val="0"/>
              </a:spcAft>
              <a:defRPr/>
            </a:pPr>
            <a:r>
              <a:rPr lang="en-US" sz="2400" dirty="0">
                <a:solidFill>
                  <a:schemeClr val="tx1"/>
                </a:solidFill>
                <a:latin typeface="+mj-lt"/>
              </a:rPr>
              <a:t>Changes the “</a:t>
            </a:r>
            <a:r>
              <a:rPr lang="en-US" sz="2400" b="1" dirty="0">
                <a:solidFill>
                  <a:schemeClr val="tx1"/>
                </a:solidFill>
                <a:latin typeface="+mj-lt"/>
              </a:rPr>
              <a:t>reading frame</a:t>
            </a:r>
            <a:r>
              <a:rPr lang="en-US" sz="2400" dirty="0">
                <a:solidFill>
                  <a:schemeClr val="tx1"/>
                </a:solidFill>
                <a:latin typeface="+mj-lt"/>
              </a:rPr>
              <a:t>” like changing a sentence</a:t>
            </a:r>
            <a:endParaRPr lang="en-US" sz="2400" dirty="0">
              <a:solidFill>
                <a:schemeClr val="tx1"/>
              </a:solidFill>
              <a:latin typeface="+mj-lt"/>
            </a:endParaRPr>
          </a:p>
          <a:p>
            <a:pPr indent="-137160" eaLnBrk="1" fontAlgn="auto" hangingPunct="1">
              <a:spcAft>
                <a:spcPts val="0"/>
              </a:spcAft>
              <a:defRPr/>
            </a:pPr>
            <a:endParaRPr lang="en-US" sz="2400" dirty="0">
              <a:solidFill>
                <a:schemeClr val="tx1"/>
              </a:solidFill>
              <a:latin typeface="+mj-lt"/>
            </a:endParaRPr>
          </a:p>
          <a:p>
            <a:pPr indent="-137160" eaLnBrk="1" fontAlgn="auto" hangingPunct="1">
              <a:spcAft>
                <a:spcPts val="0"/>
              </a:spcAft>
              <a:defRPr/>
            </a:pPr>
            <a:r>
              <a:rPr lang="en-US" sz="2400" b="1" dirty="0">
                <a:solidFill>
                  <a:schemeClr val="tx1"/>
                </a:solidFill>
                <a:latin typeface="+mj-lt"/>
              </a:rPr>
              <a:t>Proteins</a:t>
            </a:r>
            <a:r>
              <a:rPr lang="en-US" sz="2400" dirty="0">
                <a:solidFill>
                  <a:schemeClr val="tx1"/>
                </a:solidFill>
                <a:latin typeface="+mj-lt"/>
              </a:rPr>
              <a:t> built </a:t>
            </a:r>
            <a:r>
              <a:rPr lang="en-US" sz="2400" b="1" dirty="0">
                <a:solidFill>
                  <a:schemeClr val="tx1"/>
                </a:solidFill>
                <a:latin typeface="+mj-lt"/>
              </a:rPr>
              <a:t>incorrectly</a:t>
            </a:r>
            <a:endParaRPr lang="en-US" sz="2400" b="1" dirty="0">
              <a:solidFill>
                <a:schemeClr val="tx1"/>
              </a:solidFill>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57530" y="609600"/>
            <a:ext cx="8028940" cy="838200"/>
          </a:xfrm>
        </p:spPr>
        <p:txBody>
          <a:bodyPr rtlCol="0">
            <a:normAutofit fontScale="90000"/>
          </a:bodyPr>
          <a:lstStyle/>
          <a:p>
            <a:pPr algn="l" eaLnBrk="1" fontAlgn="auto" hangingPunct="1">
              <a:spcAft>
                <a:spcPts val="0"/>
              </a:spcAft>
              <a:defRPr/>
            </a:pPr>
            <a:r>
              <a:rPr lang="en-US" b="1" dirty="0"/>
              <a:t>Amino Acid Sequence Changed</a:t>
            </a:r>
            <a:endParaRPr lang="en-US" b="1" dirty="0"/>
          </a:p>
        </p:txBody>
      </p:sp>
      <p:pic>
        <p:nvPicPr>
          <p:cNvPr id="35842" name="Picture 2" descr="http://members.cox.net/amgough/Mutation_frameshift-01_03_03d.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4165" y="1473835"/>
            <a:ext cx="5818505" cy="508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defRPr/>
            </a:pPr>
            <a:r>
              <a:rPr lang="en-US" b="1" dirty="0">
                <a:solidFill>
                  <a:schemeClr val="tx1"/>
                </a:solidFill>
                <a:sym typeface="+mn-ea"/>
              </a:rPr>
              <a:t> (</a:t>
            </a:r>
            <a:r>
              <a:rPr b="1" dirty="0">
                <a:solidFill>
                  <a:schemeClr val="tx1"/>
                </a:solidFill>
                <a:latin typeface="Times New Roman" panose="02020603050405020304"/>
                <a:cs typeface="Times New Roman" panose="02020603050405020304"/>
                <a:sym typeface="+mn-ea"/>
              </a:rPr>
              <a:t>Effect</a:t>
            </a:r>
            <a:r>
              <a:rPr b="1" spc="-25" dirty="0">
                <a:solidFill>
                  <a:schemeClr val="tx1"/>
                </a:solidFill>
                <a:latin typeface="Times New Roman" panose="02020603050405020304"/>
                <a:cs typeface="Times New Roman" panose="02020603050405020304"/>
                <a:sym typeface="+mn-ea"/>
              </a:rPr>
              <a:t> </a:t>
            </a:r>
            <a:r>
              <a:rPr b="1" dirty="0">
                <a:solidFill>
                  <a:schemeClr val="tx1"/>
                </a:solidFill>
                <a:latin typeface="Times New Roman" panose="02020603050405020304"/>
                <a:cs typeface="Times New Roman" panose="02020603050405020304"/>
                <a:sym typeface="+mn-ea"/>
              </a:rPr>
              <a:t>on</a:t>
            </a:r>
            <a:r>
              <a:rPr b="1" spc="-20" dirty="0">
                <a:solidFill>
                  <a:schemeClr val="tx1"/>
                </a:solidFill>
                <a:latin typeface="Times New Roman" panose="02020603050405020304"/>
                <a:cs typeface="Times New Roman" panose="02020603050405020304"/>
                <a:sym typeface="+mn-ea"/>
              </a:rPr>
              <a:t> </a:t>
            </a:r>
            <a:r>
              <a:rPr b="1" spc="-5" dirty="0">
                <a:solidFill>
                  <a:schemeClr val="tx1"/>
                </a:solidFill>
                <a:latin typeface="Times New Roman" panose="02020603050405020304"/>
                <a:cs typeface="Times New Roman" panose="02020603050405020304"/>
                <a:sym typeface="+mn-ea"/>
              </a:rPr>
              <a:t>protein</a:t>
            </a:r>
            <a:r>
              <a:rPr b="1" spc="-30" dirty="0">
                <a:solidFill>
                  <a:schemeClr val="tx1"/>
                </a:solidFill>
                <a:latin typeface="Times New Roman" panose="02020603050405020304"/>
                <a:cs typeface="Times New Roman" panose="02020603050405020304"/>
                <a:sym typeface="+mn-ea"/>
              </a:rPr>
              <a:t> </a:t>
            </a:r>
            <a:r>
              <a:rPr b="1" dirty="0">
                <a:solidFill>
                  <a:schemeClr val="tx1"/>
                </a:solidFill>
                <a:latin typeface="Times New Roman" panose="02020603050405020304"/>
                <a:cs typeface="Times New Roman" panose="02020603050405020304"/>
                <a:sym typeface="+mn-ea"/>
              </a:rPr>
              <a:t>encoded</a:t>
            </a:r>
            <a:r>
              <a:rPr lang="en-US" b="1" dirty="0">
                <a:solidFill>
                  <a:schemeClr val="tx1"/>
                </a:solidFill>
                <a:latin typeface="Times New Roman" panose="02020603050405020304"/>
                <a:cs typeface="Times New Roman" panose="02020603050405020304"/>
                <a:sym typeface="+mn-ea"/>
              </a:rPr>
              <a:t>)</a:t>
            </a:r>
            <a:endParaRPr lang="en-US" b="1" dirty="0">
              <a:solidFill>
                <a:schemeClr val="tx1"/>
              </a:solidFill>
              <a:latin typeface="Times New Roman" panose="02020603050405020304"/>
              <a:cs typeface="Times New Roman" panose="02020603050405020304"/>
              <a:sym typeface="+mn-ea"/>
            </a:endParaRPr>
          </a:p>
          <a:p>
            <a:pPr marL="0" indent="0">
              <a:buNone/>
              <a:defRPr/>
            </a:pPr>
            <a:endParaRPr lang="en-US" dirty="0">
              <a:solidFill>
                <a:schemeClr val="tx1"/>
              </a:solidFill>
            </a:endParaRPr>
          </a:p>
          <a:p>
            <a:pPr marL="457200" indent="-457200" algn="l" rtl="0">
              <a:lnSpc>
                <a:spcPct val="130000"/>
              </a:lnSpc>
              <a:spcBef>
                <a:spcPts val="435"/>
              </a:spcBef>
              <a:buAutoNum type="arabicPeriod"/>
            </a:pPr>
            <a:r>
              <a:rPr spc="-5" dirty="0">
                <a:solidFill>
                  <a:schemeClr val="tx1"/>
                </a:solidFill>
                <a:latin typeface="Verdana" panose="020B0604030504040204"/>
                <a:cs typeface="Verdana" panose="020B0604030504040204"/>
                <a:sym typeface="+mn-ea"/>
              </a:rPr>
              <a:t>Missense</a:t>
            </a:r>
            <a:r>
              <a:rPr spc="20" dirty="0">
                <a:solidFill>
                  <a:schemeClr val="tx1"/>
                </a:solidFill>
                <a:latin typeface="Verdana" panose="020B0604030504040204"/>
                <a:cs typeface="Verdana" panose="020B0604030504040204"/>
                <a:sym typeface="+mn-ea"/>
              </a:rPr>
              <a:t> </a:t>
            </a:r>
            <a:r>
              <a:rPr spc="-5" dirty="0">
                <a:solidFill>
                  <a:schemeClr val="tx1"/>
                </a:solidFill>
                <a:latin typeface="Verdana" panose="020B0604030504040204"/>
                <a:cs typeface="Verdana" panose="020B0604030504040204"/>
                <a:sym typeface="+mn-ea"/>
              </a:rPr>
              <a:t>mutations</a:t>
            </a:r>
            <a:endParaRPr>
              <a:solidFill>
                <a:schemeClr val="tx1"/>
              </a:solidFill>
              <a:latin typeface="Verdana" panose="020B0604030504040204"/>
              <a:cs typeface="Verdana" panose="020B0604030504040204"/>
            </a:endParaRPr>
          </a:p>
          <a:p>
            <a:pPr marL="457200" indent="-457200" algn="l" rtl="0">
              <a:lnSpc>
                <a:spcPct val="130000"/>
              </a:lnSpc>
              <a:spcBef>
                <a:spcPts val="320"/>
              </a:spcBef>
              <a:buAutoNum type="arabicPeriod"/>
            </a:pPr>
            <a:r>
              <a:rPr spc="-5" dirty="0">
                <a:solidFill>
                  <a:schemeClr val="tx1"/>
                </a:solidFill>
                <a:latin typeface="Verdana" panose="020B0604030504040204"/>
                <a:cs typeface="Verdana" panose="020B0604030504040204"/>
                <a:sym typeface="+mn-ea"/>
              </a:rPr>
              <a:t>Sense</a:t>
            </a:r>
            <a:r>
              <a:rPr spc="-25" dirty="0">
                <a:solidFill>
                  <a:schemeClr val="tx1"/>
                </a:solidFill>
                <a:latin typeface="Verdana" panose="020B0604030504040204"/>
                <a:cs typeface="Verdana" panose="020B0604030504040204"/>
                <a:sym typeface="+mn-ea"/>
              </a:rPr>
              <a:t> </a:t>
            </a:r>
            <a:r>
              <a:rPr spc="-5" dirty="0">
                <a:solidFill>
                  <a:schemeClr val="tx1"/>
                </a:solidFill>
                <a:latin typeface="Verdana" panose="020B0604030504040204"/>
                <a:cs typeface="Verdana" panose="020B0604030504040204"/>
                <a:sym typeface="+mn-ea"/>
              </a:rPr>
              <a:t>mutations</a:t>
            </a:r>
            <a:endParaRPr>
              <a:solidFill>
                <a:schemeClr val="tx1"/>
              </a:solidFill>
              <a:latin typeface="Verdana" panose="020B0604030504040204"/>
              <a:cs typeface="Verdana" panose="020B0604030504040204"/>
            </a:endParaRPr>
          </a:p>
          <a:p>
            <a:pPr marL="457200" indent="-457200" algn="l" rtl="0">
              <a:lnSpc>
                <a:spcPct val="130000"/>
              </a:lnSpc>
              <a:spcBef>
                <a:spcPts val="300"/>
              </a:spcBef>
              <a:buAutoNum type="arabicPeriod"/>
            </a:pPr>
            <a:r>
              <a:rPr spc="-5" dirty="0">
                <a:solidFill>
                  <a:schemeClr val="tx1"/>
                </a:solidFill>
                <a:latin typeface="Verdana" panose="020B0604030504040204"/>
                <a:cs typeface="Verdana" panose="020B0604030504040204"/>
                <a:sym typeface="+mn-ea"/>
              </a:rPr>
              <a:t>Nonsense</a:t>
            </a:r>
            <a:r>
              <a:rPr spc="-15" dirty="0">
                <a:solidFill>
                  <a:schemeClr val="tx1"/>
                </a:solidFill>
                <a:latin typeface="Verdana" panose="020B0604030504040204"/>
                <a:cs typeface="Verdana" panose="020B0604030504040204"/>
                <a:sym typeface="+mn-ea"/>
              </a:rPr>
              <a:t> </a:t>
            </a:r>
            <a:r>
              <a:rPr spc="-5" dirty="0">
                <a:solidFill>
                  <a:schemeClr val="tx1"/>
                </a:solidFill>
                <a:latin typeface="Verdana" panose="020B0604030504040204"/>
                <a:cs typeface="Verdana" panose="020B0604030504040204"/>
                <a:sym typeface="+mn-ea"/>
              </a:rPr>
              <a:t>mutations</a:t>
            </a:r>
            <a:endParaRPr>
              <a:solidFill>
                <a:schemeClr val="tx1"/>
              </a:solidFill>
              <a:latin typeface="Verdana" panose="020B0604030504040204"/>
              <a:cs typeface="Verdana" panose="020B0604030504040204"/>
            </a:endParaRPr>
          </a:p>
          <a:p>
            <a:pPr>
              <a:lnSpc>
                <a:spcPct val="130000"/>
              </a:lnSpc>
            </a:pPr>
            <a:endParaRPr lang="en-US">
              <a:solidFill>
                <a:schemeClr val="tx1"/>
              </a:solidFill>
              <a:latin typeface="Verdana" panose="020B0604030504040204"/>
              <a:cs typeface="Verdana" panose="020B060403050404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549910"/>
            <a:ext cx="8229600" cy="5576570"/>
          </a:xfrm>
        </p:spPr>
        <p:txBody>
          <a:bodyPr/>
          <a:p>
            <a:pPr algn="l" rtl="0">
              <a:lnSpc>
                <a:spcPct val="100000"/>
              </a:lnSpc>
              <a:spcBef>
                <a:spcPts val="435"/>
              </a:spcBef>
            </a:pPr>
            <a:r>
              <a:rPr sz="2400" spc="-5" dirty="0">
                <a:solidFill>
                  <a:schemeClr val="tx1"/>
                </a:solidFill>
                <a:highlight>
                  <a:srgbClr val="FFFF00"/>
                </a:highlight>
                <a:latin typeface="Verdana" panose="020B0604030504040204"/>
                <a:cs typeface="Verdana" panose="020B0604030504040204"/>
                <a:sym typeface="+mn-ea"/>
              </a:rPr>
              <a:t>Missense</a:t>
            </a:r>
            <a:r>
              <a:rPr sz="2400" spc="20" dirty="0">
                <a:solidFill>
                  <a:schemeClr val="tx1"/>
                </a:solidFill>
                <a:highlight>
                  <a:srgbClr val="FFFF00"/>
                </a:highlight>
                <a:latin typeface="Verdana" panose="020B0604030504040204"/>
                <a:cs typeface="Verdana" panose="020B0604030504040204"/>
                <a:sym typeface="+mn-ea"/>
              </a:rPr>
              <a:t> </a:t>
            </a:r>
            <a:r>
              <a:rPr sz="2400" spc="-5" dirty="0">
                <a:solidFill>
                  <a:schemeClr val="tx1"/>
                </a:solidFill>
                <a:highlight>
                  <a:srgbClr val="FFFF00"/>
                </a:highlight>
                <a:latin typeface="Verdana" panose="020B0604030504040204"/>
                <a:cs typeface="Verdana" panose="020B0604030504040204"/>
                <a:sym typeface="+mn-ea"/>
              </a:rPr>
              <a:t>mutations</a:t>
            </a:r>
            <a:endParaRPr sz="2400">
              <a:solidFill>
                <a:schemeClr val="tx1"/>
              </a:solidFill>
              <a:highlight>
                <a:srgbClr val="FFFF00"/>
              </a:highlight>
              <a:latin typeface="Verdana" panose="020B0604030504040204"/>
              <a:cs typeface="Verdana" panose="020B0604030504040204"/>
            </a:endParaRPr>
          </a:p>
          <a:p>
            <a:pPr marL="469265" marR="20320" indent="0" algn="l" rtl="0">
              <a:lnSpc>
                <a:spcPts val="3020"/>
              </a:lnSpc>
              <a:spcBef>
                <a:spcPts val="720"/>
              </a:spcBef>
              <a:buNone/>
            </a:pPr>
            <a:r>
              <a:rPr sz="2400" spc="5" dirty="0">
                <a:solidFill>
                  <a:schemeClr val="tx1"/>
                </a:solidFill>
                <a:latin typeface="Verdana" panose="020B0604030504040204"/>
                <a:cs typeface="Verdana" panose="020B0604030504040204"/>
                <a:sym typeface="+mn-ea"/>
              </a:rPr>
              <a:t>–</a:t>
            </a:r>
            <a:r>
              <a:rPr sz="2400" spc="-51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Single</a:t>
            </a:r>
            <a:r>
              <a:rPr sz="2400" spc="-1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nucleotide</a:t>
            </a:r>
            <a:r>
              <a:rPr sz="240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change</a:t>
            </a:r>
            <a:r>
              <a:rPr sz="240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that changes </a:t>
            </a:r>
            <a:r>
              <a:rPr sz="2400" spc="-969"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one</a:t>
            </a:r>
            <a:r>
              <a:rPr sz="2400" spc="-1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amino </a:t>
            </a:r>
            <a:r>
              <a:rPr sz="2400">
                <a:solidFill>
                  <a:schemeClr val="tx1"/>
                </a:solidFill>
                <a:latin typeface="Verdana" panose="020B0604030504040204"/>
                <a:cs typeface="Verdana" panose="020B0604030504040204"/>
                <a:sym typeface="+mn-ea"/>
              </a:rPr>
              <a:t>acid</a:t>
            </a:r>
            <a:r>
              <a:rPr sz="2400" spc="-15">
                <a:solidFill>
                  <a:schemeClr val="tx1"/>
                </a:solidFill>
                <a:latin typeface="Verdana" panose="020B0604030504040204"/>
                <a:cs typeface="Verdana" panose="020B0604030504040204"/>
                <a:sym typeface="+mn-ea"/>
              </a:rPr>
              <a:t> </a:t>
            </a:r>
            <a:r>
              <a:rPr sz="2400" smtClean="0">
                <a:solidFill>
                  <a:schemeClr val="tx1"/>
                </a:solidFill>
                <a:latin typeface="Verdana" panose="020B0604030504040204"/>
                <a:cs typeface="Verdana" panose="020B0604030504040204"/>
                <a:sym typeface="+mn-ea"/>
              </a:rPr>
              <a:t>for</a:t>
            </a:r>
            <a:r>
              <a:rPr sz="2400" spc="-5" smtClean="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another</a:t>
            </a:r>
            <a:endParaRPr sz="2400" spc="-5" dirty="0">
              <a:solidFill>
                <a:schemeClr val="tx1"/>
              </a:solidFill>
              <a:latin typeface="Verdana" panose="020B0604030504040204"/>
              <a:cs typeface="Verdana" panose="020B0604030504040204"/>
              <a:sym typeface="+mn-ea"/>
            </a:endParaRPr>
          </a:p>
          <a:p>
            <a:pPr marL="469265" marR="20320" indent="0" algn="l" rtl="0">
              <a:lnSpc>
                <a:spcPts val="3020"/>
              </a:lnSpc>
              <a:spcBef>
                <a:spcPts val="720"/>
              </a:spcBef>
              <a:buNone/>
            </a:pPr>
            <a:endParaRPr sz="2400">
              <a:solidFill>
                <a:schemeClr val="tx1"/>
              </a:solidFill>
              <a:latin typeface="Verdana" panose="020B0604030504040204"/>
              <a:cs typeface="Verdana" panose="020B0604030504040204"/>
            </a:endParaRPr>
          </a:p>
          <a:p>
            <a:pPr marL="0" indent="0" algn="l" rtl="0">
              <a:lnSpc>
                <a:spcPct val="100000"/>
              </a:lnSpc>
              <a:spcBef>
                <a:spcPts val="320"/>
              </a:spcBef>
              <a:buNone/>
            </a:pPr>
            <a:r>
              <a:rPr sz="2400" dirty="0">
                <a:solidFill>
                  <a:schemeClr val="tx1"/>
                </a:solidFill>
                <a:latin typeface="Verdana" panose="020B0604030504040204"/>
                <a:cs typeface="Verdana" panose="020B0604030504040204"/>
                <a:sym typeface="+mn-ea"/>
              </a:rPr>
              <a:t>•</a:t>
            </a:r>
            <a:r>
              <a:rPr sz="2400" spc="175" dirty="0">
                <a:solidFill>
                  <a:schemeClr val="tx1"/>
                </a:solidFill>
                <a:latin typeface="Verdana" panose="020B0604030504040204"/>
                <a:cs typeface="Verdana" panose="020B0604030504040204"/>
                <a:sym typeface="+mn-ea"/>
              </a:rPr>
              <a:t> </a:t>
            </a:r>
            <a:r>
              <a:rPr sz="2400" spc="-5" dirty="0">
                <a:solidFill>
                  <a:schemeClr val="tx1"/>
                </a:solidFill>
                <a:highlight>
                  <a:srgbClr val="FFFF00"/>
                </a:highlight>
                <a:latin typeface="Verdana" panose="020B0604030504040204"/>
                <a:cs typeface="Verdana" panose="020B0604030504040204"/>
                <a:sym typeface="+mn-ea"/>
              </a:rPr>
              <a:t>Sense</a:t>
            </a:r>
            <a:r>
              <a:rPr sz="2400" spc="-25" dirty="0">
                <a:solidFill>
                  <a:schemeClr val="tx1"/>
                </a:solidFill>
                <a:highlight>
                  <a:srgbClr val="FFFF00"/>
                </a:highlight>
                <a:latin typeface="Verdana" panose="020B0604030504040204"/>
                <a:cs typeface="Verdana" panose="020B0604030504040204"/>
                <a:sym typeface="+mn-ea"/>
              </a:rPr>
              <a:t> </a:t>
            </a:r>
            <a:r>
              <a:rPr sz="2400" spc="-5" dirty="0">
                <a:solidFill>
                  <a:schemeClr val="tx1"/>
                </a:solidFill>
                <a:highlight>
                  <a:srgbClr val="FFFF00"/>
                </a:highlight>
                <a:latin typeface="Verdana" panose="020B0604030504040204"/>
                <a:cs typeface="Verdana" panose="020B0604030504040204"/>
                <a:sym typeface="+mn-ea"/>
              </a:rPr>
              <a:t>mutations</a:t>
            </a:r>
            <a:endParaRPr sz="2400">
              <a:solidFill>
                <a:schemeClr val="tx1"/>
              </a:solidFill>
              <a:latin typeface="Verdana" panose="020B0604030504040204"/>
              <a:cs typeface="Verdana" panose="020B0604030504040204"/>
            </a:endParaRPr>
          </a:p>
          <a:p>
            <a:pPr marL="469265" marR="5080" indent="0" algn="l" rtl="0">
              <a:lnSpc>
                <a:spcPts val="3020"/>
              </a:lnSpc>
              <a:spcBef>
                <a:spcPts val="720"/>
              </a:spcBef>
              <a:buNone/>
            </a:pPr>
            <a:r>
              <a:rPr sz="2400" spc="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Produce longer </a:t>
            </a:r>
            <a:r>
              <a:rPr sz="2400" dirty="0">
                <a:solidFill>
                  <a:schemeClr val="tx1"/>
                </a:solidFill>
                <a:latin typeface="Verdana" panose="020B0604030504040204"/>
                <a:cs typeface="Verdana" panose="020B0604030504040204"/>
                <a:sym typeface="+mn-ea"/>
              </a:rPr>
              <a:t>or </a:t>
            </a:r>
            <a:r>
              <a:rPr sz="2400" spc="-5" dirty="0">
                <a:solidFill>
                  <a:schemeClr val="tx1"/>
                </a:solidFill>
                <a:latin typeface="Verdana" panose="020B0604030504040204"/>
                <a:cs typeface="Verdana" panose="020B0604030504040204"/>
                <a:sym typeface="+mn-ea"/>
              </a:rPr>
              <a:t>shorter proteins </a:t>
            </a:r>
            <a:r>
              <a:rPr sz="2400" dirty="0">
                <a:solidFill>
                  <a:schemeClr val="tx1"/>
                </a:solidFill>
                <a:latin typeface="Verdana" panose="020B0604030504040204"/>
                <a:cs typeface="Verdana" panose="020B0604030504040204"/>
                <a:sym typeface="+mn-ea"/>
              </a:rPr>
              <a:t>by </a:t>
            </a:r>
            <a:r>
              <a:rPr sz="2400" spc="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changing </a:t>
            </a:r>
            <a:r>
              <a:rPr sz="2400" dirty="0">
                <a:solidFill>
                  <a:schemeClr val="tx1"/>
                </a:solidFill>
                <a:latin typeface="Verdana" panose="020B0604030504040204"/>
                <a:cs typeface="Verdana" panose="020B0604030504040204"/>
                <a:sym typeface="+mn-ea"/>
              </a:rPr>
              <a:t>a </a:t>
            </a:r>
            <a:r>
              <a:rPr sz="2400" spc="-5" dirty="0">
                <a:solidFill>
                  <a:schemeClr val="tx1"/>
                </a:solidFill>
                <a:latin typeface="Verdana" panose="020B0604030504040204"/>
                <a:cs typeface="Verdana" panose="020B0604030504040204"/>
                <a:sym typeface="+mn-ea"/>
              </a:rPr>
              <a:t>termination </a:t>
            </a:r>
            <a:r>
              <a:rPr sz="2400" dirty="0">
                <a:solidFill>
                  <a:schemeClr val="tx1"/>
                </a:solidFill>
                <a:latin typeface="Verdana" panose="020B0604030504040204"/>
                <a:cs typeface="Verdana" panose="020B0604030504040204"/>
                <a:sym typeface="+mn-ea"/>
              </a:rPr>
              <a:t>codon </a:t>
            </a:r>
            <a:r>
              <a:rPr sz="2400" spc="-5" dirty="0">
                <a:solidFill>
                  <a:schemeClr val="tx1"/>
                </a:solidFill>
                <a:latin typeface="Verdana" panose="020B0604030504040204"/>
                <a:cs typeface="Verdana" panose="020B0604030504040204"/>
                <a:sym typeface="+mn-ea"/>
              </a:rPr>
              <a:t>into one </a:t>
            </a:r>
            <a:r>
              <a:rPr sz="2400" spc="-969"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that</a:t>
            </a:r>
            <a:r>
              <a:rPr sz="2400" spc="-10" dirty="0">
                <a:solidFill>
                  <a:schemeClr val="tx1"/>
                </a:solidFill>
                <a:latin typeface="Verdana" panose="020B0604030504040204"/>
                <a:cs typeface="Verdana" panose="020B0604030504040204"/>
                <a:sym typeface="+mn-ea"/>
              </a:rPr>
              <a:t> </a:t>
            </a:r>
            <a:r>
              <a:rPr sz="2400" dirty="0">
                <a:solidFill>
                  <a:schemeClr val="tx1"/>
                </a:solidFill>
                <a:latin typeface="Verdana" panose="020B0604030504040204"/>
                <a:cs typeface="Verdana" panose="020B0604030504040204"/>
                <a:sym typeface="+mn-ea"/>
              </a:rPr>
              <a:t>codes</a:t>
            </a:r>
            <a:r>
              <a:rPr sz="2400" spc="-5" dirty="0">
                <a:solidFill>
                  <a:schemeClr val="tx1"/>
                </a:solidFill>
                <a:latin typeface="Verdana" panose="020B0604030504040204"/>
                <a:cs typeface="Verdana" panose="020B0604030504040204"/>
                <a:sym typeface="+mn-ea"/>
              </a:rPr>
              <a:t> </a:t>
            </a:r>
            <a:r>
              <a:rPr sz="2400" dirty="0">
                <a:solidFill>
                  <a:schemeClr val="tx1"/>
                </a:solidFill>
                <a:latin typeface="Verdana" panose="020B0604030504040204"/>
                <a:cs typeface="Verdana" panose="020B0604030504040204"/>
                <a:sym typeface="+mn-ea"/>
              </a:rPr>
              <a:t>for</a:t>
            </a:r>
            <a:r>
              <a:rPr sz="2400" spc="-10" dirty="0">
                <a:solidFill>
                  <a:schemeClr val="tx1"/>
                </a:solidFill>
                <a:latin typeface="Verdana" panose="020B0604030504040204"/>
                <a:cs typeface="Verdana" panose="020B0604030504040204"/>
                <a:sym typeface="+mn-ea"/>
              </a:rPr>
              <a:t> </a:t>
            </a:r>
            <a:r>
              <a:rPr sz="2400" dirty="0">
                <a:solidFill>
                  <a:schemeClr val="tx1"/>
                </a:solidFill>
                <a:latin typeface="Verdana" panose="020B0604030504040204"/>
                <a:cs typeface="Verdana" panose="020B0604030504040204"/>
                <a:sym typeface="+mn-ea"/>
              </a:rPr>
              <a:t>an</a:t>
            </a:r>
            <a:r>
              <a:rPr sz="2400" spc="-5" dirty="0">
                <a:solidFill>
                  <a:schemeClr val="tx1"/>
                </a:solidFill>
                <a:latin typeface="Verdana" panose="020B0604030504040204"/>
                <a:cs typeface="Verdana" panose="020B0604030504040204"/>
                <a:sym typeface="+mn-ea"/>
              </a:rPr>
              <a:t> </a:t>
            </a:r>
            <a:r>
              <a:rPr sz="2400" dirty="0">
                <a:solidFill>
                  <a:schemeClr val="tx1"/>
                </a:solidFill>
                <a:latin typeface="Verdana" panose="020B0604030504040204"/>
                <a:cs typeface="Verdana" panose="020B0604030504040204"/>
                <a:sym typeface="+mn-ea"/>
              </a:rPr>
              <a:t>amino</a:t>
            </a:r>
            <a:r>
              <a:rPr sz="2400" spc="-1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acid</a:t>
            </a:r>
            <a:endParaRPr sz="2400" spc="-5" dirty="0">
              <a:solidFill>
                <a:schemeClr val="tx1"/>
              </a:solidFill>
              <a:latin typeface="Verdana" panose="020B0604030504040204"/>
              <a:cs typeface="Verdana" panose="020B0604030504040204"/>
              <a:sym typeface="+mn-ea"/>
            </a:endParaRPr>
          </a:p>
          <a:p>
            <a:pPr marL="469265" marR="5080" indent="0" algn="l" rtl="0">
              <a:lnSpc>
                <a:spcPts val="3020"/>
              </a:lnSpc>
              <a:spcBef>
                <a:spcPts val="720"/>
              </a:spcBef>
              <a:buNone/>
            </a:pPr>
            <a:endParaRPr sz="2400">
              <a:solidFill>
                <a:schemeClr val="tx1"/>
              </a:solidFill>
              <a:latin typeface="Verdana" panose="020B0604030504040204"/>
              <a:cs typeface="Verdana" panose="020B0604030504040204"/>
            </a:endParaRPr>
          </a:p>
          <a:p>
            <a:pPr marL="0" indent="0" algn="l" rtl="0">
              <a:lnSpc>
                <a:spcPct val="100000"/>
              </a:lnSpc>
              <a:spcBef>
                <a:spcPts val="300"/>
              </a:spcBef>
              <a:buNone/>
            </a:pPr>
            <a:r>
              <a:rPr sz="2400" dirty="0">
                <a:solidFill>
                  <a:schemeClr val="tx1"/>
                </a:solidFill>
                <a:latin typeface="Verdana" panose="020B0604030504040204"/>
                <a:cs typeface="Verdana" panose="020B0604030504040204"/>
                <a:sym typeface="+mn-ea"/>
              </a:rPr>
              <a:t>•</a:t>
            </a:r>
            <a:r>
              <a:rPr sz="2400" spc="175" dirty="0">
                <a:solidFill>
                  <a:schemeClr val="tx1"/>
                </a:solidFill>
                <a:latin typeface="Verdana" panose="020B0604030504040204"/>
                <a:cs typeface="Verdana" panose="020B0604030504040204"/>
                <a:sym typeface="+mn-ea"/>
              </a:rPr>
              <a:t> </a:t>
            </a:r>
            <a:r>
              <a:rPr sz="2400" spc="-5" dirty="0">
                <a:solidFill>
                  <a:schemeClr val="tx1"/>
                </a:solidFill>
                <a:highlight>
                  <a:srgbClr val="FFFF00"/>
                </a:highlight>
                <a:latin typeface="Verdana" panose="020B0604030504040204"/>
                <a:cs typeface="Verdana" panose="020B0604030504040204"/>
                <a:sym typeface="+mn-ea"/>
              </a:rPr>
              <a:t>Nonsense</a:t>
            </a:r>
            <a:r>
              <a:rPr sz="2400" spc="-15" dirty="0">
                <a:solidFill>
                  <a:schemeClr val="tx1"/>
                </a:solidFill>
                <a:highlight>
                  <a:srgbClr val="FFFF00"/>
                </a:highlight>
                <a:latin typeface="Verdana" panose="020B0604030504040204"/>
                <a:cs typeface="Verdana" panose="020B0604030504040204"/>
                <a:sym typeface="+mn-ea"/>
              </a:rPr>
              <a:t> </a:t>
            </a:r>
            <a:r>
              <a:rPr sz="2400" spc="-5" dirty="0">
                <a:solidFill>
                  <a:schemeClr val="tx1"/>
                </a:solidFill>
                <a:highlight>
                  <a:srgbClr val="FFFF00"/>
                </a:highlight>
                <a:latin typeface="Verdana" panose="020B0604030504040204"/>
                <a:cs typeface="Verdana" panose="020B0604030504040204"/>
                <a:sym typeface="+mn-ea"/>
              </a:rPr>
              <a:t>mutations</a:t>
            </a:r>
            <a:endParaRPr sz="2400">
              <a:solidFill>
                <a:schemeClr val="tx1"/>
              </a:solidFill>
              <a:latin typeface="Verdana" panose="020B0604030504040204"/>
              <a:cs typeface="Verdana" panose="020B0604030504040204"/>
            </a:endParaRPr>
          </a:p>
          <a:p>
            <a:pPr marL="469265" marR="154940" indent="0" algn="l" rtl="0">
              <a:lnSpc>
                <a:spcPts val="3020"/>
              </a:lnSpc>
              <a:spcBef>
                <a:spcPts val="720"/>
              </a:spcBef>
              <a:buNone/>
            </a:pPr>
            <a:r>
              <a:rPr sz="2400" spc="5" dirty="0">
                <a:solidFill>
                  <a:schemeClr val="tx1"/>
                </a:solidFill>
                <a:latin typeface="Verdana" panose="020B0604030504040204"/>
                <a:cs typeface="Verdana" panose="020B0604030504040204"/>
                <a:sym typeface="+mn-ea"/>
              </a:rPr>
              <a:t>–</a:t>
            </a:r>
            <a:r>
              <a:rPr sz="2400" spc="-51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Chan</a:t>
            </a:r>
            <a:r>
              <a:rPr sz="2400" dirty="0">
                <a:solidFill>
                  <a:schemeClr val="tx1"/>
                </a:solidFill>
                <a:latin typeface="Verdana" panose="020B0604030504040204"/>
                <a:cs typeface="Verdana" panose="020B0604030504040204"/>
                <a:sym typeface="+mn-ea"/>
              </a:rPr>
              <a:t>ge</a:t>
            </a:r>
            <a:r>
              <a:rPr sz="2400" spc="-5" dirty="0">
                <a:solidFill>
                  <a:schemeClr val="tx1"/>
                </a:solidFill>
                <a:latin typeface="Verdana" panose="020B0604030504040204"/>
                <a:cs typeface="Verdana" panose="020B0604030504040204"/>
                <a:sym typeface="+mn-ea"/>
              </a:rPr>
              <a:t> o</a:t>
            </a:r>
            <a:r>
              <a:rPr sz="2400" dirty="0">
                <a:solidFill>
                  <a:schemeClr val="tx1"/>
                </a:solidFill>
                <a:latin typeface="Verdana" panose="020B0604030504040204"/>
                <a:cs typeface="Verdana" panose="020B0604030504040204"/>
                <a:sym typeface="+mn-ea"/>
              </a:rPr>
              <a:t>f</a:t>
            </a:r>
            <a:r>
              <a:rPr sz="2400" spc="-5" dirty="0">
                <a:solidFill>
                  <a:schemeClr val="tx1"/>
                </a:solidFill>
                <a:latin typeface="Verdana" panose="020B0604030504040204"/>
                <a:cs typeface="Verdana" panose="020B0604030504040204"/>
                <a:sym typeface="+mn-ea"/>
              </a:rPr>
              <a:t> </a:t>
            </a:r>
            <a:r>
              <a:rPr sz="2400" dirty="0">
                <a:solidFill>
                  <a:schemeClr val="tx1"/>
                </a:solidFill>
                <a:latin typeface="Verdana" panose="020B0604030504040204"/>
                <a:cs typeface="Verdana" panose="020B0604030504040204"/>
                <a:sym typeface="+mn-ea"/>
              </a:rPr>
              <a:t>a</a:t>
            </a:r>
            <a:r>
              <a:rPr sz="2400" spc="-5" dirty="0">
                <a:solidFill>
                  <a:schemeClr val="tx1"/>
                </a:solidFill>
                <a:latin typeface="Verdana" panose="020B0604030504040204"/>
                <a:cs typeface="Verdana" panose="020B0604030504040204"/>
                <a:sym typeface="+mn-ea"/>
              </a:rPr>
              <a:t> codo</a:t>
            </a:r>
            <a:r>
              <a:rPr sz="2400" spc="5" dirty="0">
                <a:solidFill>
                  <a:schemeClr val="tx1"/>
                </a:solidFill>
                <a:latin typeface="Verdana" panose="020B0604030504040204"/>
                <a:cs typeface="Verdana" panose="020B0604030504040204"/>
                <a:sym typeface="+mn-ea"/>
              </a:rPr>
              <a:t>n</a:t>
            </a:r>
            <a:r>
              <a:rPr sz="2400" spc="-1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fo</a:t>
            </a:r>
            <a:r>
              <a:rPr sz="2400" dirty="0">
                <a:solidFill>
                  <a:schemeClr val="tx1"/>
                </a:solidFill>
                <a:latin typeface="Verdana" panose="020B0604030504040204"/>
                <a:cs typeface="Verdana" panose="020B0604030504040204"/>
                <a:sym typeface="+mn-ea"/>
              </a:rPr>
              <a:t>r</a:t>
            </a:r>
            <a:r>
              <a:rPr sz="2400" spc="-5" dirty="0">
                <a:solidFill>
                  <a:schemeClr val="tx1"/>
                </a:solidFill>
                <a:latin typeface="Verdana" panose="020B0604030504040204"/>
                <a:cs typeface="Verdana" panose="020B0604030504040204"/>
                <a:sym typeface="+mn-ea"/>
              </a:rPr>
              <a:t> a</a:t>
            </a:r>
            <a:r>
              <a:rPr sz="2400" spc="5" dirty="0">
                <a:solidFill>
                  <a:schemeClr val="tx1"/>
                </a:solidFill>
                <a:latin typeface="Verdana" panose="020B0604030504040204"/>
                <a:cs typeface="Verdana" panose="020B0604030504040204"/>
                <a:sym typeface="+mn-ea"/>
              </a:rPr>
              <a:t>n</a:t>
            </a:r>
            <a:r>
              <a:rPr sz="2400" spc="-1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amin</a:t>
            </a:r>
            <a:r>
              <a:rPr sz="2400" dirty="0">
                <a:solidFill>
                  <a:schemeClr val="tx1"/>
                </a:solidFill>
                <a:latin typeface="Verdana" panose="020B0604030504040204"/>
                <a:cs typeface="Verdana" panose="020B0604030504040204"/>
                <a:sym typeface="+mn-ea"/>
              </a:rPr>
              <a:t>o</a:t>
            </a:r>
            <a:r>
              <a:rPr sz="2400" spc="-5" dirty="0">
                <a:solidFill>
                  <a:schemeClr val="tx1"/>
                </a:solidFill>
                <a:latin typeface="Verdana" panose="020B0604030504040204"/>
                <a:cs typeface="Verdana" panose="020B0604030504040204"/>
                <a:sym typeface="+mn-ea"/>
              </a:rPr>
              <a:t> acid  into </a:t>
            </a:r>
            <a:r>
              <a:rPr sz="2400" dirty="0">
                <a:solidFill>
                  <a:schemeClr val="tx1"/>
                </a:solidFill>
                <a:latin typeface="Verdana" panose="020B0604030504040204"/>
                <a:cs typeface="Verdana" panose="020B0604030504040204"/>
                <a:sym typeface="+mn-ea"/>
              </a:rPr>
              <a:t>a </a:t>
            </a:r>
            <a:r>
              <a:rPr sz="2400" spc="-5" dirty="0">
                <a:solidFill>
                  <a:schemeClr val="tx1"/>
                </a:solidFill>
                <a:latin typeface="Verdana" panose="020B0604030504040204"/>
                <a:cs typeface="Verdana" panose="020B0604030504040204"/>
                <a:sym typeface="+mn-ea"/>
              </a:rPr>
              <a:t>termination </a:t>
            </a:r>
            <a:r>
              <a:rPr sz="2400" dirty="0">
                <a:solidFill>
                  <a:schemeClr val="tx1"/>
                </a:solidFill>
                <a:latin typeface="Verdana" panose="020B0604030504040204"/>
                <a:cs typeface="Verdana" panose="020B0604030504040204"/>
                <a:sym typeface="+mn-ea"/>
              </a:rPr>
              <a:t>codon </a:t>
            </a:r>
            <a:r>
              <a:rPr sz="2400" spc="-5" dirty="0">
                <a:solidFill>
                  <a:schemeClr val="tx1"/>
                </a:solidFill>
                <a:latin typeface="Verdana" panose="020B0604030504040204"/>
                <a:cs typeface="Verdana" panose="020B0604030504040204"/>
                <a:sym typeface="+mn-ea"/>
              </a:rPr>
              <a:t>shortens the </a:t>
            </a:r>
            <a:r>
              <a:rPr sz="2400" spc="-969"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protein</a:t>
            </a:r>
            <a:r>
              <a:rPr sz="2400" spc="-1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product</a:t>
            </a:r>
            <a:endParaRPr lang="en-US" sz="2400" spc="-5" dirty="0">
              <a:solidFill>
                <a:schemeClr val="tx1"/>
              </a:solidFill>
              <a:latin typeface="Verdana" panose="020B0604030504040204"/>
              <a:cs typeface="Verdana" panose="020B0604030504040204"/>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857250" y="388620"/>
            <a:ext cx="7407275" cy="1010285"/>
          </a:xfrm>
        </p:spPr>
        <p:txBody>
          <a:bodyPr/>
          <a:lstStyle/>
          <a:p>
            <a:pPr algn="ctr" rtl="1"/>
            <a:r>
              <a:rPr lang="en-US" altLang="en-US" sz="3600" b="1"/>
              <a:t> Substitution mutations </a:t>
            </a:r>
            <a:endParaRPr lang="en-US" altLang="en-US" sz="3600" b="1" dirty="0"/>
          </a:p>
        </p:txBody>
      </p:sp>
      <p:sp>
        <p:nvSpPr>
          <p:cNvPr id="3" name="Content Placeholder 2"/>
          <p:cNvSpPr>
            <a:spLocks noGrp="1"/>
          </p:cNvSpPr>
          <p:nvPr>
            <p:ph idx="1"/>
          </p:nvPr>
        </p:nvSpPr>
        <p:spPr>
          <a:xfrm>
            <a:off x="194945" y="2110740"/>
            <a:ext cx="8763635" cy="3680460"/>
          </a:xfrm>
        </p:spPr>
        <p:txBody>
          <a:bodyPr/>
          <a:lstStyle/>
          <a:p>
            <a:pPr>
              <a:defRPr/>
            </a:pPr>
            <a:r>
              <a:rPr lang="en-US" sz="2400" b="1" dirty="0">
                <a:solidFill>
                  <a:schemeClr val="tx1"/>
                </a:solidFill>
              </a:rPr>
              <a:t> A mutation that exchanges one base for another. </a:t>
            </a:r>
            <a:endParaRPr lang="en-US" sz="2400" b="1" dirty="0">
              <a:solidFill>
                <a:schemeClr val="tx1"/>
              </a:solidFill>
            </a:endParaRPr>
          </a:p>
          <a:p>
            <a:pPr>
              <a:defRPr/>
            </a:pPr>
            <a:endParaRPr lang="en-US" sz="2400" dirty="0">
              <a:solidFill>
                <a:schemeClr val="tx1"/>
              </a:solidFill>
            </a:endParaRPr>
          </a:p>
          <a:p>
            <a:pPr>
              <a:defRPr/>
            </a:pPr>
            <a:r>
              <a:rPr lang="en-US" sz="2400" b="1" dirty="0">
                <a:solidFill>
                  <a:schemeClr val="tx1"/>
                </a:solidFill>
              </a:rPr>
              <a:t>Substitution could: (</a:t>
            </a:r>
            <a:r>
              <a:rPr sz="2400" b="1" dirty="0">
                <a:solidFill>
                  <a:schemeClr val="tx1"/>
                </a:solidFill>
                <a:latin typeface="Times New Roman" panose="02020603050405020304"/>
                <a:cs typeface="Times New Roman" panose="02020603050405020304"/>
                <a:sym typeface="+mn-ea"/>
              </a:rPr>
              <a:t>Effect</a:t>
            </a:r>
            <a:r>
              <a:rPr sz="2400" b="1" spc="-25" dirty="0">
                <a:solidFill>
                  <a:schemeClr val="tx1"/>
                </a:solidFill>
                <a:latin typeface="Times New Roman" panose="02020603050405020304"/>
                <a:cs typeface="Times New Roman" panose="02020603050405020304"/>
                <a:sym typeface="+mn-ea"/>
              </a:rPr>
              <a:t> </a:t>
            </a:r>
            <a:r>
              <a:rPr sz="2400" b="1" dirty="0">
                <a:solidFill>
                  <a:schemeClr val="tx1"/>
                </a:solidFill>
                <a:latin typeface="Times New Roman" panose="02020603050405020304"/>
                <a:cs typeface="Times New Roman" panose="02020603050405020304"/>
                <a:sym typeface="+mn-ea"/>
              </a:rPr>
              <a:t>on</a:t>
            </a:r>
            <a:r>
              <a:rPr sz="2400" b="1" spc="-20" dirty="0">
                <a:solidFill>
                  <a:schemeClr val="tx1"/>
                </a:solidFill>
                <a:latin typeface="Times New Roman" panose="02020603050405020304"/>
                <a:cs typeface="Times New Roman" panose="02020603050405020304"/>
                <a:sym typeface="+mn-ea"/>
              </a:rPr>
              <a:t> </a:t>
            </a:r>
            <a:r>
              <a:rPr sz="2400" b="1" spc="-5" dirty="0">
                <a:solidFill>
                  <a:schemeClr val="tx1"/>
                </a:solidFill>
                <a:latin typeface="Times New Roman" panose="02020603050405020304"/>
                <a:cs typeface="Times New Roman" panose="02020603050405020304"/>
                <a:sym typeface="+mn-ea"/>
              </a:rPr>
              <a:t>protein</a:t>
            </a:r>
            <a:r>
              <a:rPr sz="2400" b="1" spc="-30" dirty="0">
                <a:solidFill>
                  <a:schemeClr val="tx1"/>
                </a:solidFill>
                <a:latin typeface="Times New Roman" panose="02020603050405020304"/>
                <a:cs typeface="Times New Roman" panose="02020603050405020304"/>
                <a:sym typeface="+mn-ea"/>
              </a:rPr>
              <a:t> </a:t>
            </a:r>
            <a:r>
              <a:rPr sz="2400" b="1" dirty="0">
                <a:solidFill>
                  <a:schemeClr val="tx1"/>
                </a:solidFill>
                <a:latin typeface="Times New Roman" panose="02020603050405020304"/>
                <a:cs typeface="Times New Roman" panose="02020603050405020304"/>
                <a:sym typeface="+mn-ea"/>
              </a:rPr>
              <a:t>encoded</a:t>
            </a:r>
            <a:r>
              <a:rPr lang="en-US" sz="2400" b="1" dirty="0">
                <a:solidFill>
                  <a:schemeClr val="tx1"/>
                </a:solidFill>
                <a:latin typeface="Times New Roman" panose="02020603050405020304"/>
                <a:cs typeface="Times New Roman" panose="02020603050405020304"/>
                <a:sym typeface="+mn-ea"/>
              </a:rPr>
              <a:t>)</a:t>
            </a:r>
            <a:endParaRPr sz="2400">
              <a:solidFill>
                <a:schemeClr val="tx1"/>
              </a:solidFill>
              <a:latin typeface="Times New Roman" panose="02020603050405020304"/>
              <a:cs typeface="Times New Roman" panose="02020603050405020304"/>
            </a:endParaRPr>
          </a:p>
          <a:p>
            <a:pPr>
              <a:defRPr/>
            </a:pPr>
            <a:endParaRPr lang="en-US" sz="2400" dirty="0">
              <a:solidFill>
                <a:schemeClr val="tx1"/>
              </a:solidFill>
            </a:endParaRPr>
          </a:p>
          <a:p>
            <a:pPr marL="457200" indent="-457200" algn="l" rtl="0">
              <a:lnSpc>
                <a:spcPct val="100000"/>
              </a:lnSpc>
              <a:spcBef>
                <a:spcPts val="435"/>
              </a:spcBef>
              <a:buAutoNum type="arabicPeriod"/>
            </a:pPr>
            <a:r>
              <a:rPr sz="2400" spc="-5" dirty="0">
                <a:solidFill>
                  <a:schemeClr val="tx1"/>
                </a:solidFill>
                <a:latin typeface="Verdana" panose="020B0604030504040204"/>
                <a:cs typeface="Verdana" panose="020B0604030504040204"/>
                <a:sym typeface="+mn-ea"/>
              </a:rPr>
              <a:t>Missense</a:t>
            </a:r>
            <a:r>
              <a:rPr sz="2400" spc="20"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mutations</a:t>
            </a:r>
            <a:endParaRPr sz="2400">
              <a:solidFill>
                <a:schemeClr val="tx1"/>
              </a:solidFill>
              <a:latin typeface="Verdana" panose="020B0604030504040204"/>
              <a:cs typeface="Verdana" panose="020B0604030504040204"/>
            </a:endParaRPr>
          </a:p>
          <a:p>
            <a:pPr marL="457200" indent="-457200" algn="l" rtl="0">
              <a:lnSpc>
                <a:spcPct val="100000"/>
              </a:lnSpc>
              <a:spcBef>
                <a:spcPts val="320"/>
              </a:spcBef>
              <a:buAutoNum type="arabicPeriod"/>
            </a:pPr>
            <a:r>
              <a:rPr sz="2400" spc="-5" dirty="0">
                <a:solidFill>
                  <a:schemeClr val="tx1"/>
                </a:solidFill>
                <a:latin typeface="Verdana" panose="020B0604030504040204"/>
                <a:cs typeface="Verdana" panose="020B0604030504040204"/>
                <a:sym typeface="+mn-ea"/>
              </a:rPr>
              <a:t>Sense</a:t>
            </a:r>
            <a:r>
              <a:rPr sz="2400" spc="-2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mutations</a:t>
            </a:r>
            <a:endParaRPr sz="2400">
              <a:solidFill>
                <a:schemeClr val="tx1"/>
              </a:solidFill>
              <a:latin typeface="Verdana" panose="020B0604030504040204"/>
              <a:cs typeface="Verdana" panose="020B0604030504040204"/>
            </a:endParaRPr>
          </a:p>
          <a:p>
            <a:pPr marL="457200" indent="-457200" algn="l" rtl="0">
              <a:lnSpc>
                <a:spcPct val="100000"/>
              </a:lnSpc>
              <a:spcBef>
                <a:spcPts val="300"/>
              </a:spcBef>
              <a:buAutoNum type="arabicPeriod"/>
            </a:pPr>
            <a:r>
              <a:rPr sz="2400" spc="-5" dirty="0">
                <a:solidFill>
                  <a:schemeClr val="tx1"/>
                </a:solidFill>
                <a:latin typeface="Verdana" panose="020B0604030504040204"/>
                <a:cs typeface="Verdana" panose="020B0604030504040204"/>
                <a:sym typeface="+mn-ea"/>
              </a:rPr>
              <a:t>Nonsense</a:t>
            </a:r>
            <a:r>
              <a:rPr sz="2400" spc="-15" dirty="0">
                <a:solidFill>
                  <a:schemeClr val="tx1"/>
                </a:solidFill>
                <a:latin typeface="Verdana" panose="020B0604030504040204"/>
                <a:cs typeface="Verdana" panose="020B0604030504040204"/>
                <a:sym typeface="+mn-ea"/>
              </a:rPr>
              <a:t> </a:t>
            </a:r>
            <a:r>
              <a:rPr sz="2400" spc="-5" dirty="0">
                <a:solidFill>
                  <a:schemeClr val="tx1"/>
                </a:solidFill>
                <a:latin typeface="Verdana" panose="020B0604030504040204"/>
                <a:cs typeface="Verdana" panose="020B0604030504040204"/>
                <a:sym typeface="+mn-ea"/>
              </a:rPr>
              <a:t>mutations</a:t>
            </a:r>
            <a:endParaRPr sz="2400">
              <a:solidFill>
                <a:schemeClr val="tx1"/>
              </a:solidFill>
              <a:latin typeface="Verdana" panose="020B0604030504040204"/>
              <a:cs typeface="Verdana" panose="020B0604030504040204"/>
            </a:endParaRPr>
          </a:p>
          <a:p>
            <a:pPr marL="0" indent="0">
              <a:buNone/>
              <a:defRPr/>
            </a:pPr>
            <a:endParaRPr lang="en-US" sz="2400" dirty="0">
              <a:solidFill>
                <a:schemeClr val="tx1"/>
              </a:solidFill>
            </a:endParaRPr>
          </a:p>
          <a:p>
            <a:pPr algn="r" rtl="1">
              <a:defRPr/>
            </a:pPr>
            <a:endParaRPr lang="en-US" sz="24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09265" y="728381"/>
            <a:ext cx="3772460"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solidFill>
                  <a:srgbClr val="AC2FD6"/>
                </a:solidFill>
                <a:latin typeface="Times New Roman" panose="02020603050405020304"/>
                <a:cs typeface="Times New Roman" panose="02020603050405020304"/>
              </a:rPr>
              <a:t>Base-pair</a:t>
            </a:r>
            <a:r>
              <a:rPr sz="2120" b="1" spc="-45" dirty="0">
                <a:solidFill>
                  <a:srgbClr val="AC2FD6"/>
                </a:solidFill>
                <a:latin typeface="Times New Roman" panose="02020603050405020304"/>
                <a:cs typeface="Times New Roman" panose="02020603050405020304"/>
              </a:rPr>
              <a:t> </a:t>
            </a:r>
            <a:r>
              <a:rPr sz="2120" b="1" spc="-5" dirty="0">
                <a:solidFill>
                  <a:srgbClr val="AC2FD6"/>
                </a:solidFill>
                <a:latin typeface="Times New Roman" panose="02020603050405020304"/>
                <a:cs typeface="Times New Roman" panose="02020603050405020304"/>
              </a:rPr>
              <a:t>substitution</a:t>
            </a:r>
            <a:r>
              <a:rPr sz="2120" b="1" spc="-45" dirty="0">
                <a:solidFill>
                  <a:srgbClr val="AC2FD6"/>
                </a:solidFill>
                <a:latin typeface="Times New Roman" panose="02020603050405020304"/>
                <a:cs typeface="Times New Roman" panose="02020603050405020304"/>
              </a:rPr>
              <a:t> </a:t>
            </a:r>
            <a:r>
              <a:rPr sz="2120" b="1" dirty="0">
                <a:solidFill>
                  <a:srgbClr val="AC2FD6"/>
                </a:solidFill>
                <a:latin typeface="Times New Roman" panose="02020603050405020304"/>
                <a:cs typeface="Times New Roman" panose="02020603050405020304"/>
              </a:rPr>
              <a:t>mutations</a:t>
            </a:r>
            <a:endParaRPr sz="2120">
              <a:latin typeface="Times New Roman" panose="02020603050405020304"/>
              <a:cs typeface="Times New Roman" panose="02020603050405020304"/>
            </a:endParaRPr>
          </a:p>
        </p:txBody>
      </p:sp>
      <p:sp>
        <p:nvSpPr>
          <p:cNvPr id="3" name="object 3"/>
          <p:cNvSpPr txBox="1"/>
          <p:nvPr/>
        </p:nvSpPr>
        <p:spPr>
          <a:xfrm>
            <a:off x="1131794" y="1535205"/>
            <a:ext cx="1233207"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solidFill>
                  <a:srgbClr val="4348AA"/>
                </a:solidFill>
                <a:latin typeface="Times New Roman" panose="02020603050405020304"/>
                <a:cs typeface="Times New Roman" panose="02020603050405020304"/>
              </a:rPr>
              <a:t>Transition</a:t>
            </a:r>
            <a:endParaRPr sz="2120">
              <a:latin typeface="Times New Roman" panose="02020603050405020304"/>
              <a:cs typeface="Times New Roman" panose="02020603050405020304"/>
            </a:endParaRPr>
          </a:p>
        </p:txBody>
      </p:sp>
      <p:sp>
        <p:nvSpPr>
          <p:cNvPr id="4" name="object 4"/>
          <p:cNvSpPr txBox="1"/>
          <p:nvPr/>
        </p:nvSpPr>
        <p:spPr>
          <a:xfrm>
            <a:off x="1131794" y="3821205"/>
            <a:ext cx="1546972"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solidFill>
                  <a:srgbClr val="008F00"/>
                </a:solidFill>
                <a:latin typeface="Times New Roman" panose="02020603050405020304"/>
                <a:cs typeface="Times New Roman" panose="02020603050405020304"/>
              </a:rPr>
              <a:t>Transversion</a:t>
            </a:r>
            <a:endParaRPr sz="2120">
              <a:latin typeface="Times New Roman" panose="02020603050405020304"/>
              <a:cs typeface="Times New Roman" panose="02020603050405020304"/>
            </a:endParaRPr>
          </a:p>
        </p:txBody>
      </p:sp>
      <p:sp>
        <p:nvSpPr>
          <p:cNvPr id="5" name="object 5"/>
          <p:cNvSpPr/>
          <p:nvPr/>
        </p:nvSpPr>
        <p:spPr>
          <a:xfrm>
            <a:off x="4847665" y="1752151"/>
            <a:ext cx="129428" cy="132229"/>
          </a:xfrm>
          <a:custGeom>
            <a:avLst/>
            <a:gdLst/>
            <a:ahLst/>
            <a:cxnLst/>
            <a:rect l="l" t="t" r="r" b="b"/>
            <a:pathLst>
              <a:path w="146685" h="149860">
                <a:moveTo>
                  <a:pt x="0" y="0"/>
                </a:moveTo>
                <a:lnTo>
                  <a:pt x="0" y="149352"/>
                </a:lnTo>
                <a:lnTo>
                  <a:pt x="146303" y="76200"/>
                </a:lnTo>
                <a:lnTo>
                  <a:pt x="0" y="0"/>
                </a:lnTo>
                <a:close/>
              </a:path>
            </a:pathLst>
          </a:custGeom>
          <a:solidFill>
            <a:srgbClr val="000000"/>
          </a:solidFill>
        </p:spPr>
        <p:txBody>
          <a:bodyPr wrap="square" lIns="0" tIns="0" rIns="0" bIns="0" rtlCol="0"/>
          <a:lstStyle/>
          <a:p>
            <a:pPr algn="l" rtl="0"/>
            <a:endParaRPr sz="100"/>
          </a:p>
        </p:txBody>
      </p:sp>
      <p:sp>
        <p:nvSpPr>
          <p:cNvPr id="6" name="object 6"/>
          <p:cNvSpPr txBox="1"/>
          <p:nvPr/>
        </p:nvSpPr>
        <p:spPr>
          <a:xfrm>
            <a:off x="3767455" y="1481455"/>
            <a:ext cx="2870835" cy="1625600"/>
          </a:xfrm>
          <a:prstGeom prst="rect">
            <a:avLst/>
          </a:prstGeom>
        </p:spPr>
        <p:txBody>
          <a:bodyPr vert="horz" wrap="square" lIns="0" tIns="11205" rIns="0" bIns="0" rtlCol="0">
            <a:spAutoFit/>
          </a:bodyPr>
          <a:lstStyle/>
          <a:p>
            <a:pPr marL="12700" marR="5080" algn="l" rtl="0">
              <a:lnSpc>
                <a:spcPct val="100000"/>
              </a:lnSpc>
              <a:spcBef>
                <a:spcPts val="100"/>
              </a:spcBef>
              <a:tabLst>
                <a:tab pos="684530" algn="l"/>
                <a:tab pos="1226820" algn="l"/>
                <a:tab pos="1536065" algn="l"/>
                <a:tab pos="2298065" algn="l"/>
              </a:tabLst>
            </a:pPr>
            <a:r>
              <a:rPr sz="2120" b="1" dirty="0">
                <a:latin typeface="Times New Roman" panose="02020603050405020304"/>
                <a:cs typeface="Times New Roman" panose="02020603050405020304"/>
              </a:rPr>
              <a:t>Pur	</a:t>
            </a:r>
            <a:r>
              <a:rPr sz="2120" b="1" u="heavy" dirty="0">
                <a:uFill>
                  <a:solidFill>
                    <a:srgbClr val="000000"/>
                  </a:solidFill>
                </a:uFill>
                <a:latin typeface="Times New Roman" panose="02020603050405020304"/>
                <a:cs typeface="Times New Roman" panose="02020603050405020304"/>
              </a:rPr>
              <a:t> 	</a:t>
            </a:r>
            <a:r>
              <a:rPr sz="2120" b="1" dirty="0">
                <a:latin typeface="Times New Roman" panose="02020603050405020304"/>
                <a:cs typeface="Times New Roman" panose="02020603050405020304"/>
              </a:rPr>
              <a:t>	Other</a:t>
            </a:r>
            <a:r>
              <a:rPr sz="2120" b="1" spc="-10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Pur </a:t>
            </a:r>
            <a:r>
              <a:rPr sz="2120" b="1" spc="-58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Pyr				Pyr</a:t>
            </a:r>
            <a:endParaRPr sz="2120">
              <a:latin typeface="Times New Roman" panose="02020603050405020304"/>
              <a:cs typeface="Times New Roman" panose="02020603050405020304"/>
            </a:endParaRPr>
          </a:p>
          <a:p>
            <a:pPr algn="l" rtl="0">
              <a:lnSpc>
                <a:spcPct val="100000"/>
              </a:lnSpc>
              <a:spcBef>
                <a:spcPts val="50"/>
              </a:spcBef>
            </a:pPr>
            <a:endParaRPr sz="1985">
              <a:latin typeface="Times New Roman" panose="02020603050405020304"/>
              <a:cs typeface="Times New Roman" panose="02020603050405020304"/>
            </a:endParaRPr>
          </a:p>
          <a:p>
            <a:pPr marL="88265" marR="1431925" algn="l" rtl="0">
              <a:lnSpc>
                <a:spcPct val="100000"/>
              </a:lnSpc>
              <a:tabLst>
                <a:tab pos="913130" algn="l"/>
                <a:tab pos="1455420" algn="l"/>
              </a:tabLst>
            </a:pPr>
            <a:r>
              <a:rPr sz="2120" b="1" dirty="0">
                <a:latin typeface="Times New Roman" panose="02020603050405020304"/>
                <a:cs typeface="Times New Roman" panose="02020603050405020304"/>
              </a:rPr>
              <a:t>A 	</a:t>
            </a:r>
            <a:r>
              <a:rPr sz="2120" b="1" u="heavy" dirty="0">
                <a:uFill>
                  <a:solidFill>
                    <a:srgbClr val="000000"/>
                  </a:solidFill>
                </a:uFill>
                <a:latin typeface="Times New Roman" panose="02020603050405020304"/>
                <a:cs typeface="Times New Roman" panose="02020603050405020304"/>
              </a:rPr>
              <a:t> </a:t>
            </a:r>
            <a:endParaRPr sz="2120" b="1" u="heavy" dirty="0">
              <a:uFill>
                <a:solidFill>
                  <a:srgbClr val="000000"/>
                </a:solidFill>
              </a:uFill>
              <a:latin typeface="Times New Roman" panose="02020603050405020304"/>
              <a:cs typeface="Times New Roman" panose="02020603050405020304"/>
            </a:endParaRPr>
          </a:p>
          <a:p>
            <a:pPr marL="88265" marR="1431925" algn="l" rtl="0">
              <a:lnSpc>
                <a:spcPct val="100000"/>
              </a:lnSpc>
              <a:tabLst>
                <a:tab pos="913130" algn="l"/>
                <a:tab pos="1455420" algn="l"/>
              </a:tabLst>
            </a:pPr>
            <a:r>
              <a:rPr sz="2120" b="1" dirty="0">
                <a:latin typeface="Times New Roman" panose="02020603050405020304"/>
                <a:cs typeface="Times New Roman" panose="02020603050405020304"/>
              </a:rPr>
              <a:t>T</a:t>
            </a:r>
            <a:endParaRPr sz="2120">
              <a:latin typeface="Times New Roman" panose="02020603050405020304"/>
              <a:cs typeface="Times New Roman" panose="02020603050405020304"/>
            </a:endParaRPr>
          </a:p>
        </p:txBody>
      </p:sp>
      <p:sp>
        <p:nvSpPr>
          <p:cNvPr id="7" name="object 7"/>
          <p:cNvSpPr txBox="1"/>
          <p:nvPr/>
        </p:nvSpPr>
        <p:spPr>
          <a:xfrm>
            <a:off x="5682278" y="2422711"/>
            <a:ext cx="231962" cy="661670"/>
          </a:xfrm>
          <a:prstGeom prst="rect">
            <a:avLst/>
          </a:prstGeom>
        </p:spPr>
        <p:txBody>
          <a:bodyPr vert="horz" wrap="square" lIns="0" tIns="11205" rIns="0" bIns="0" rtlCol="0">
            <a:spAutoFit/>
          </a:bodyPr>
          <a:lstStyle/>
          <a:p>
            <a:pPr marL="12700" marR="5080" algn="l" rtl="0">
              <a:lnSpc>
                <a:spcPct val="100000"/>
              </a:lnSpc>
              <a:spcBef>
                <a:spcPts val="100"/>
              </a:spcBef>
            </a:pPr>
            <a:r>
              <a:rPr sz="2120" b="1" dirty="0">
                <a:latin typeface="Times New Roman" panose="02020603050405020304"/>
                <a:cs typeface="Times New Roman" panose="02020603050405020304"/>
              </a:rPr>
              <a:t>G  C</a:t>
            </a:r>
            <a:endParaRPr sz="2120">
              <a:latin typeface="Times New Roman" panose="02020603050405020304"/>
              <a:cs typeface="Times New Roman" panose="02020603050405020304"/>
            </a:endParaRPr>
          </a:p>
        </p:txBody>
      </p:sp>
      <p:sp>
        <p:nvSpPr>
          <p:cNvPr id="8" name="object 8"/>
          <p:cNvSpPr/>
          <p:nvPr/>
        </p:nvSpPr>
        <p:spPr>
          <a:xfrm>
            <a:off x="5049371" y="2693445"/>
            <a:ext cx="132229" cy="132229"/>
          </a:xfrm>
          <a:custGeom>
            <a:avLst/>
            <a:gdLst/>
            <a:ahLst/>
            <a:cxnLst/>
            <a:rect l="l" t="t" r="r" b="b"/>
            <a:pathLst>
              <a:path w="149860" h="149860">
                <a:moveTo>
                  <a:pt x="0" y="0"/>
                </a:moveTo>
                <a:lnTo>
                  <a:pt x="0" y="149352"/>
                </a:lnTo>
                <a:lnTo>
                  <a:pt x="149351" y="76200"/>
                </a:lnTo>
                <a:lnTo>
                  <a:pt x="0" y="0"/>
                </a:lnTo>
                <a:close/>
              </a:path>
            </a:pathLst>
          </a:custGeom>
          <a:solidFill>
            <a:srgbClr val="000000"/>
          </a:solidFill>
        </p:spPr>
        <p:txBody>
          <a:bodyPr wrap="square" lIns="0" tIns="0" rIns="0" bIns="0" rtlCol="0"/>
          <a:lstStyle/>
          <a:p>
            <a:pPr algn="l" rtl="0"/>
            <a:endParaRPr sz="100"/>
          </a:p>
        </p:txBody>
      </p:sp>
      <p:sp>
        <p:nvSpPr>
          <p:cNvPr id="9" name="object 9"/>
          <p:cNvSpPr txBox="1"/>
          <p:nvPr/>
        </p:nvSpPr>
        <p:spPr>
          <a:xfrm>
            <a:off x="3901887" y="3969123"/>
            <a:ext cx="456079" cy="661670"/>
          </a:xfrm>
          <a:prstGeom prst="rect">
            <a:avLst/>
          </a:prstGeom>
        </p:spPr>
        <p:txBody>
          <a:bodyPr vert="horz" wrap="square" lIns="0" tIns="11205" rIns="0" bIns="0" rtlCol="0">
            <a:spAutoFit/>
          </a:bodyPr>
          <a:lstStyle/>
          <a:p>
            <a:pPr marL="12700" marR="5080" algn="l" rtl="0">
              <a:lnSpc>
                <a:spcPct val="100000"/>
              </a:lnSpc>
              <a:spcBef>
                <a:spcPts val="100"/>
              </a:spcBef>
            </a:pPr>
            <a:r>
              <a:rPr sz="2120" b="1" dirty="0">
                <a:latin typeface="Times New Roman" panose="02020603050405020304"/>
                <a:cs typeface="Times New Roman" panose="02020603050405020304"/>
              </a:rPr>
              <a:t>Pur  Pyr</a:t>
            </a:r>
            <a:endParaRPr sz="2120">
              <a:latin typeface="Times New Roman" panose="02020603050405020304"/>
              <a:cs typeface="Times New Roman" panose="02020603050405020304"/>
            </a:endParaRPr>
          </a:p>
        </p:txBody>
      </p:sp>
      <p:sp>
        <p:nvSpPr>
          <p:cNvPr id="10" name="object 10"/>
          <p:cNvSpPr txBox="1"/>
          <p:nvPr/>
        </p:nvSpPr>
        <p:spPr>
          <a:xfrm>
            <a:off x="5717240" y="3915334"/>
            <a:ext cx="456079" cy="661670"/>
          </a:xfrm>
          <a:prstGeom prst="rect">
            <a:avLst/>
          </a:prstGeom>
        </p:spPr>
        <p:txBody>
          <a:bodyPr vert="horz" wrap="square" lIns="0" tIns="11205" rIns="0" bIns="0" rtlCol="0">
            <a:spAutoFit/>
          </a:bodyPr>
          <a:lstStyle/>
          <a:p>
            <a:pPr marL="12700" marR="5080" algn="l" rtl="0">
              <a:lnSpc>
                <a:spcPct val="100000"/>
              </a:lnSpc>
              <a:spcBef>
                <a:spcPts val="100"/>
              </a:spcBef>
            </a:pPr>
            <a:r>
              <a:rPr sz="2120" b="1" dirty="0">
                <a:latin typeface="Times New Roman" panose="02020603050405020304"/>
                <a:cs typeface="Times New Roman" panose="02020603050405020304"/>
              </a:rPr>
              <a:t>Pyr  Pur</a:t>
            </a:r>
            <a:endParaRPr sz="2120">
              <a:latin typeface="Times New Roman" panose="02020603050405020304"/>
              <a:cs typeface="Times New Roman" panose="02020603050405020304"/>
            </a:endParaRPr>
          </a:p>
        </p:txBody>
      </p:sp>
      <p:grpSp>
        <p:nvGrpSpPr>
          <p:cNvPr id="11" name="object 11"/>
          <p:cNvGrpSpPr/>
          <p:nvPr/>
        </p:nvGrpSpPr>
        <p:grpSpPr>
          <a:xfrm>
            <a:off x="4640580" y="4307092"/>
            <a:ext cx="605118" cy="132229"/>
            <a:chOff x="5106924" y="4881371"/>
            <a:chExt cx="685800" cy="149860"/>
          </a:xfrm>
        </p:grpSpPr>
        <p:sp>
          <p:nvSpPr>
            <p:cNvPr id="12" name="object 12"/>
            <p:cNvSpPr/>
            <p:nvPr/>
          </p:nvSpPr>
          <p:spPr>
            <a:xfrm>
              <a:off x="5106924" y="495452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rtl="0"/>
              <a:endParaRPr sz="100"/>
            </a:p>
          </p:txBody>
        </p:sp>
        <p:sp>
          <p:nvSpPr>
            <p:cNvPr id="13" name="object 13"/>
            <p:cNvSpPr/>
            <p:nvPr/>
          </p:nvSpPr>
          <p:spPr>
            <a:xfrm>
              <a:off x="5646420" y="4881371"/>
              <a:ext cx="146685" cy="149860"/>
            </a:xfrm>
            <a:custGeom>
              <a:avLst/>
              <a:gdLst/>
              <a:ahLst/>
              <a:cxnLst/>
              <a:rect l="l" t="t" r="r" b="b"/>
              <a:pathLst>
                <a:path w="146685" h="149860">
                  <a:moveTo>
                    <a:pt x="0" y="0"/>
                  </a:moveTo>
                  <a:lnTo>
                    <a:pt x="0" y="149352"/>
                  </a:lnTo>
                  <a:lnTo>
                    <a:pt x="146303" y="76200"/>
                  </a:lnTo>
                  <a:lnTo>
                    <a:pt x="0" y="0"/>
                  </a:lnTo>
                  <a:close/>
                </a:path>
              </a:pathLst>
            </a:custGeom>
            <a:solidFill>
              <a:srgbClr val="000000"/>
            </a:solidFill>
          </p:spPr>
          <p:txBody>
            <a:bodyPr wrap="square" lIns="0" tIns="0" rIns="0" bIns="0" rtlCol="0"/>
            <a:lstStyle/>
            <a:p>
              <a:pPr algn="l" rtl="0"/>
              <a:endParaRPr sz="100"/>
            </a:p>
          </p:txBody>
        </p:sp>
      </p:grpSp>
      <p:sp>
        <p:nvSpPr>
          <p:cNvPr id="14" name="object 14"/>
          <p:cNvSpPr txBox="1"/>
          <p:nvPr/>
        </p:nvSpPr>
        <p:spPr>
          <a:xfrm>
            <a:off x="3938270" y="5112385"/>
            <a:ext cx="459105" cy="675005"/>
          </a:xfrm>
          <a:prstGeom prst="rect">
            <a:avLst/>
          </a:prstGeom>
        </p:spPr>
        <p:txBody>
          <a:bodyPr vert="horz" wrap="square" lIns="0" tIns="11205" rIns="0" bIns="0" rtlCol="0">
            <a:spAutoFit/>
          </a:bodyPr>
          <a:lstStyle/>
          <a:p>
            <a:pPr marL="12700" marR="5080" algn="l" rtl="0">
              <a:lnSpc>
                <a:spcPct val="100000"/>
              </a:lnSpc>
              <a:spcBef>
                <a:spcPts val="100"/>
              </a:spcBef>
              <a:tabLst>
                <a:tab pos="684530" algn="l"/>
                <a:tab pos="1226820" algn="l"/>
              </a:tabLst>
            </a:pPr>
            <a:r>
              <a:rPr sz="2120" b="1" dirty="0">
                <a:latin typeface="Times New Roman" panose="02020603050405020304"/>
                <a:cs typeface="Times New Roman" panose="02020603050405020304"/>
              </a:rPr>
              <a:t>A</a:t>
            </a:r>
            <a:endParaRPr sz="2120" b="1" dirty="0">
              <a:latin typeface="Times New Roman" panose="02020603050405020304"/>
              <a:cs typeface="Times New Roman" panose="02020603050405020304"/>
            </a:endParaRPr>
          </a:p>
          <a:p>
            <a:pPr marL="12700" marR="5080" algn="l" rtl="0">
              <a:lnSpc>
                <a:spcPct val="100000"/>
              </a:lnSpc>
              <a:spcBef>
                <a:spcPts val="100"/>
              </a:spcBef>
              <a:tabLst>
                <a:tab pos="684530" algn="l"/>
                <a:tab pos="1226820" algn="l"/>
              </a:tabLst>
            </a:pPr>
            <a:r>
              <a:rPr sz="2120" b="1" dirty="0">
                <a:latin typeface="Times New Roman" panose="02020603050405020304"/>
                <a:cs typeface="Times New Roman" panose="02020603050405020304"/>
              </a:rPr>
              <a:t> T</a:t>
            </a:r>
            <a:endParaRPr sz="2120">
              <a:latin typeface="Times New Roman" panose="02020603050405020304"/>
              <a:cs typeface="Times New Roman" panose="02020603050405020304"/>
            </a:endParaRPr>
          </a:p>
        </p:txBody>
      </p:sp>
      <p:sp>
        <p:nvSpPr>
          <p:cNvPr id="15" name="object 15"/>
          <p:cNvSpPr txBox="1"/>
          <p:nvPr/>
        </p:nvSpPr>
        <p:spPr>
          <a:xfrm>
            <a:off x="5784476" y="5112123"/>
            <a:ext cx="216834" cy="661670"/>
          </a:xfrm>
          <a:prstGeom prst="rect">
            <a:avLst/>
          </a:prstGeom>
        </p:spPr>
        <p:txBody>
          <a:bodyPr vert="horz" wrap="square" lIns="0" tIns="11205" rIns="0" bIns="0" rtlCol="0">
            <a:spAutoFit/>
          </a:bodyPr>
          <a:lstStyle/>
          <a:p>
            <a:pPr marL="12700" marR="5080" algn="l" rtl="0">
              <a:lnSpc>
                <a:spcPct val="100000"/>
              </a:lnSpc>
              <a:spcBef>
                <a:spcPts val="100"/>
              </a:spcBef>
            </a:pPr>
            <a:r>
              <a:rPr sz="2120" b="1" dirty="0">
                <a:latin typeface="Times New Roman" panose="02020603050405020304"/>
                <a:cs typeface="Times New Roman" panose="02020603050405020304"/>
              </a:rPr>
              <a:t>T  A</a:t>
            </a:r>
            <a:endParaRPr sz="2120">
              <a:latin typeface="Times New Roman" panose="02020603050405020304"/>
              <a:cs typeface="Times New Roman" panose="02020603050405020304"/>
            </a:endParaRPr>
          </a:p>
        </p:txBody>
      </p:sp>
      <p:sp>
        <p:nvSpPr>
          <p:cNvPr id="16" name="object 16"/>
          <p:cNvSpPr/>
          <p:nvPr/>
        </p:nvSpPr>
        <p:spPr>
          <a:xfrm>
            <a:off x="5183840" y="5382857"/>
            <a:ext cx="132229" cy="132229"/>
          </a:xfrm>
          <a:custGeom>
            <a:avLst/>
            <a:gdLst/>
            <a:ahLst/>
            <a:cxnLst/>
            <a:rect l="l" t="t" r="r" b="b"/>
            <a:pathLst>
              <a:path w="149860" h="149860">
                <a:moveTo>
                  <a:pt x="0" y="0"/>
                </a:moveTo>
                <a:lnTo>
                  <a:pt x="0" y="149352"/>
                </a:lnTo>
                <a:lnTo>
                  <a:pt x="149352" y="76200"/>
                </a:lnTo>
                <a:lnTo>
                  <a:pt x="0" y="0"/>
                </a:lnTo>
                <a:close/>
              </a:path>
            </a:pathLst>
          </a:custGeom>
          <a:solidFill>
            <a:srgbClr val="000000"/>
          </a:solidFill>
        </p:spPr>
        <p:txBody>
          <a:bodyPr wrap="square" lIns="0" tIns="0" rIns="0" bIns="0" rtlCol="0"/>
          <a:lstStyle/>
          <a:p>
            <a:pPr algn="l" rtl="0"/>
            <a:endParaRPr sz="100"/>
          </a:p>
        </p:txBody>
      </p:sp>
      <p:grpSp>
        <p:nvGrpSpPr>
          <p:cNvPr id="17" name="object 17"/>
          <p:cNvGrpSpPr/>
          <p:nvPr/>
        </p:nvGrpSpPr>
        <p:grpSpPr>
          <a:xfrm>
            <a:off x="6390041" y="1070384"/>
            <a:ext cx="1659591" cy="398368"/>
            <a:chOff x="7089647" y="1213102"/>
            <a:chExt cx="1880870" cy="451484"/>
          </a:xfrm>
        </p:grpSpPr>
        <p:sp>
          <p:nvSpPr>
            <p:cNvPr id="18" name="object 18"/>
            <p:cNvSpPr/>
            <p:nvPr/>
          </p:nvSpPr>
          <p:spPr>
            <a:xfrm>
              <a:off x="7089635" y="1487423"/>
              <a:ext cx="1880870" cy="177165"/>
            </a:xfrm>
            <a:custGeom>
              <a:avLst/>
              <a:gdLst/>
              <a:ahLst/>
              <a:cxnLst/>
              <a:rect l="l" t="t" r="r" b="b"/>
              <a:pathLst>
                <a:path w="1880870" h="177164">
                  <a:moveTo>
                    <a:pt x="393204" y="161544"/>
                  </a:moveTo>
                  <a:lnTo>
                    <a:pt x="374510" y="128016"/>
                  </a:lnTo>
                  <a:lnTo>
                    <a:pt x="342138" y="104013"/>
                  </a:lnTo>
                  <a:lnTo>
                    <a:pt x="301764" y="79248"/>
                  </a:lnTo>
                  <a:lnTo>
                    <a:pt x="292608" y="73190"/>
                  </a:lnTo>
                  <a:lnTo>
                    <a:pt x="292608" y="121920"/>
                  </a:lnTo>
                  <a:lnTo>
                    <a:pt x="289560" y="124968"/>
                  </a:lnTo>
                  <a:lnTo>
                    <a:pt x="289560" y="128016"/>
                  </a:lnTo>
                  <a:lnTo>
                    <a:pt x="249936" y="128016"/>
                  </a:lnTo>
                  <a:lnTo>
                    <a:pt x="144005" y="56388"/>
                  </a:lnTo>
                  <a:lnTo>
                    <a:pt x="109740" y="33528"/>
                  </a:lnTo>
                  <a:lnTo>
                    <a:pt x="124980" y="33528"/>
                  </a:lnTo>
                  <a:lnTo>
                    <a:pt x="136880" y="34099"/>
                  </a:lnTo>
                  <a:lnTo>
                    <a:pt x="188074" y="48387"/>
                  </a:lnTo>
                  <a:lnTo>
                    <a:pt x="240804" y="79248"/>
                  </a:lnTo>
                  <a:lnTo>
                    <a:pt x="255612" y="89585"/>
                  </a:lnTo>
                  <a:lnTo>
                    <a:pt x="267855" y="97917"/>
                  </a:lnTo>
                  <a:lnTo>
                    <a:pt x="277228" y="104546"/>
                  </a:lnTo>
                  <a:lnTo>
                    <a:pt x="283476" y="109728"/>
                  </a:lnTo>
                  <a:lnTo>
                    <a:pt x="289560" y="115824"/>
                  </a:lnTo>
                  <a:lnTo>
                    <a:pt x="292608" y="121920"/>
                  </a:lnTo>
                  <a:lnTo>
                    <a:pt x="292608" y="73190"/>
                  </a:lnTo>
                  <a:lnTo>
                    <a:pt x="246888" y="45720"/>
                  </a:lnTo>
                  <a:lnTo>
                    <a:pt x="203136" y="26416"/>
                  </a:lnTo>
                  <a:lnTo>
                    <a:pt x="188988" y="21336"/>
                  </a:lnTo>
                  <a:lnTo>
                    <a:pt x="177076" y="15481"/>
                  </a:lnTo>
                  <a:lnTo>
                    <a:pt x="164592" y="11049"/>
                  </a:lnTo>
                  <a:lnTo>
                    <a:pt x="152120" y="7200"/>
                  </a:lnTo>
                  <a:lnTo>
                    <a:pt x="140208" y="3048"/>
                  </a:lnTo>
                  <a:lnTo>
                    <a:pt x="126974" y="1295"/>
                  </a:lnTo>
                  <a:lnTo>
                    <a:pt x="114300" y="381"/>
                  </a:lnTo>
                  <a:lnTo>
                    <a:pt x="101638" y="50"/>
                  </a:lnTo>
                  <a:lnTo>
                    <a:pt x="88404" y="0"/>
                  </a:lnTo>
                  <a:lnTo>
                    <a:pt x="0" y="0"/>
                  </a:lnTo>
                  <a:lnTo>
                    <a:pt x="37363" y="26441"/>
                  </a:lnTo>
                  <a:lnTo>
                    <a:pt x="79883" y="56438"/>
                  </a:lnTo>
                  <a:lnTo>
                    <a:pt x="246888" y="173736"/>
                  </a:lnTo>
                  <a:lnTo>
                    <a:pt x="350520" y="173736"/>
                  </a:lnTo>
                  <a:lnTo>
                    <a:pt x="360908" y="173647"/>
                  </a:lnTo>
                  <a:lnTo>
                    <a:pt x="369570" y="172974"/>
                  </a:lnTo>
                  <a:lnTo>
                    <a:pt x="377101" y="171170"/>
                  </a:lnTo>
                  <a:lnTo>
                    <a:pt x="384048" y="167640"/>
                  </a:lnTo>
                  <a:lnTo>
                    <a:pt x="393204" y="164592"/>
                  </a:lnTo>
                  <a:lnTo>
                    <a:pt x="393204" y="161544"/>
                  </a:lnTo>
                  <a:close/>
                </a:path>
                <a:path w="1880870" h="177164">
                  <a:moveTo>
                    <a:pt x="713232" y="173736"/>
                  </a:moveTo>
                  <a:lnTo>
                    <a:pt x="612394" y="120370"/>
                  </a:lnTo>
                  <a:lnTo>
                    <a:pt x="518591" y="69989"/>
                  </a:lnTo>
                  <a:lnTo>
                    <a:pt x="390144" y="0"/>
                  </a:lnTo>
                  <a:lnTo>
                    <a:pt x="335292" y="0"/>
                  </a:lnTo>
                  <a:lnTo>
                    <a:pt x="451446" y="64300"/>
                  </a:lnTo>
                  <a:lnTo>
                    <a:pt x="493788" y="88392"/>
                  </a:lnTo>
                  <a:lnTo>
                    <a:pt x="445109" y="68961"/>
                  </a:lnTo>
                  <a:lnTo>
                    <a:pt x="397764" y="50698"/>
                  </a:lnTo>
                  <a:lnTo>
                    <a:pt x="262140" y="0"/>
                  </a:lnTo>
                  <a:lnTo>
                    <a:pt x="207276" y="0"/>
                  </a:lnTo>
                  <a:lnTo>
                    <a:pt x="493788" y="173736"/>
                  </a:lnTo>
                  <a:lnTo>
                    <a:pt x="560832" y="173736"/>
                  </a:lnTo>
                  <a:lnTo>
                    <a:pt x="513930" y="146837"/>
                  </a:lnTo>
                  <a:lnTo>
                    <a:pt x="469011" y="120777"/>
                  </a:lnTo>
                  <a:lnTo>
                    <a:pt x="425818" y="95300"/>
                  </a:lnTo>
                  <a:lnTo>
                    <a:pt x="384048" y="70104"/>
                  </a:lnTo>
                  <a:lnTo>
                    <a:pt x="425488" y="86893"/>
                  </a:lnTo>
                  <a:lnTo>
                    <a:pt x="510540" y="120777"/>
                  </a:lnTo>
                  <a:lnTo>
                    <a:pt x="646188" y="173736"/>
                  </a:lnTo>
                  <a:lnTo>
                    <a:pt x="713232" y="173736"/>
                  </a:lnTo>
                  <a:close/>
                </a:path>
                <a:path w="1880870" h="177164">
                  <a:moveTo>
                    <a:pt x="981456" y="173736"/>
                  </a:moveTo>
                  <a:lnTo>
                    <a:pt x="895515" y="140208"/>
                  </a:lnTo>
                  <a:lnTo>
                    <a:pt x="794613" y="100584"/>
                  </a:lnTo>
                  <a:lnTo>
                    <a:pt x="731520" y="75590"/>
                  </a:lnTo>
                  <a:lnTo>
                    <a:pt x="731520" y="100584"/>
                  </a:lnTo>
                  <a:lnTo>
                    <a:pt x="685800" y="100584"/>
                  </a:lnTo>
                  <a:lnTo>
                    <a:pt x="635889" y="68961"/>
                  </a:lnTo>
                  <a:lnTo>
                    <a:pt x="611632" y="53848"/>
                  </a:lnTo>
                  <a:lnTo>
                    <a:pt x="588276" y="39624"/>
                  </a:lnTo>
                  <a:lnTo>
                    <a:pt x="623087" y="53873"/>
                  </a:lnTo>
                  <a:lnTo>
                    <a:pt x="658749" y="68961"/>
                  </a:lnTo>
                  <a:lnTo>
                    <a:pt x="731520" y="100584"/>
                  </a:lnTo>
                  <a:lnTo>
                    <a:pt x="731520" y="75590"/>
                  </a:lnTo>
                  <a:lnTo>
                    <a:pt x="676656" y="53848"/>
                  </a:lnTo>
                  <a:lnTo>
                    <a:pt x="641057" y="39624"/>
                  </a:lnTo>
                  <a:lnTo>
                    <a:pt x="542544" y="0"/>
                  </a:lnTo>
                  <a:lnTo>
                    <a:pt x="478536" y="0"/>
                  </a:lnTo>
                  <a:lnTo>
                    <a:pt x="557161" y="53873"/>
                  </a:lnTo>
                  <a:lnTo>
                    <a:pt x="687031" y="142240"/>
                  </a:lnTo>
                  <a:lnTo>
                    <a:pt x="734580" y="173736"/>
                  </a:lnTo>
                  <a:lnTo>
                    <a:pt x="804672" y="173736"/>
                  </a:lnTo>
                  <a:lnTo>
                    <a:pt x="790956" y="165074"/>
                  </a:lnTo>
                  <a:lnTo>
                    <a:pt x="763524" y="148882"/>
                  </a:lnTo>
                  <a:lnTo>
                    <a:pt x="749808" y="140208"/>
                  </a:lnTo>
                  <a:lnTo>
                    <a:pt x="829056" y="140208"/>
                  </a:lnTo>
                  <a:lnTo>
                    <a:pt x="847877" y="148882"/>
                  </a:lnTo>
                  <a:lnTo>
                    <a:pt x="867537" y="156972"/>
                  </a:lnTo>
                  <a:lnTo>
                    <a:pt x="887780" y="165074"/>
                  </a:lnTo>
                  <a:lnTo>
                    <a:pt x="908316" y="173736"/>
                  </a:lnTo>
                  <a:lnTo>
                    <a:pt x="981456" y="173736"/>
                  </a:lnTo>
                  <a:close/>
                </a:path>
                <a:path w="1880870" h="177164">
                  <a:moveTo>
                    <a:pt x="1170432" y="173736"/>
                  </a:moveTo>
                  <a:lnTo>
                    <a:pt x="1073543" y="131978"/>
                  </a:lnTo>
                  <a:lnTo>
                    <a:pt x="937933" y="72707"/>
                  </a:lnTo>
                  <a:lnTo>
                    <a:pt x="774204" y="0"/>
                  </a:lnTo>
                  <a:lnTo>
                    <a:pt x="719340" y="0"/>
                  </a:lnTo>
                  <a:lnTo>
                    <a:pt x="952284" y="104305"/>
                  </a:lnTo>
                  <a:lnTo>
                    <a:pt x="1109472" y="173736"/>
                  </a:lnTo>
                  <a:lnTo>
                    <a:pt x="1170432" y="173736"/>
                  </a:lnTo>
                  <a:close/>
                </a:path>
                <a:path w="1880870" h="177164">
                  <a:moveTo>
                    <a:pt x="1341120" y="167640"/>
                  </a:moveTo>
                  <a:lnTo>
                    <a:pt x="1309585" y="143256"/>
                  </a:lnTo>
                  <a:lnTo>
                    <a:pt x="1243584" y="132880"/>
                  </a:lnTo>
                  <a:lnTo>
                    <a:pt x="1225296" y="131064"/>
                  </a:lnTo>
                  <a:lnTo>
                    <a:pt x="1231404" y="134112"/>
                  </a:lnTo>
                  <a:lnTo>
                    <a:pt x="1237488" y="140208"/>
                  </a:lnTo>
                  <a:lnTo>
                    <a:pt x="1237488" y="143256"/>
                  </a:lnTo>
                  <a:lnTo>
                    <a:pt x="1228344" y="143256"/>
                  </a:lnTo>
                  <a:lnTo>
                    <a:pt x="1172387" y="131254"/>
                  </a:lnTo>
                  <a:lnTo>
                    <a:pt x="1130808" y="115824"/>
                  </a:lnTo>
                  <a:lnTo>
                    <a:pt x="1249692" y="115824"/>
                  </a:lnTo>
                  <a:lnTo>
                    <a:pt x="1246632" y="112776"/>
                  </a:lnTo>
                  <a:lnTo>
                    <a:pt x="1240536" y="112776"/>
                  </a:lnTo>
                  <a:lnTo>
                    <a:pt x="1237488" y="109728"/>
                  </a:lnTo>
                  <a:lnTo>
                    <a:pt x="1206157" y="97116"/>
                  </a:lnTo>
                  <a:lnTo>
                    <a:pt x="1190345" y="91440"/>
                  </a:lnTo>
                  <a:lnTo>
                    <a:pt x="1176540" y="86487"/>
                  </a:lnTo>
                  <a:lnTo>
                    <a:pt x="1149197" y="77584"/>
                  </a:lnTo>
                  <a:lnTo>
                    <a:pt x="1130808" y="71970"/>
                  </a:lnTo>
                  <a:lnTo>
                    <a:pt x="1130808" y="91440"/>
                  </a:lnTo>
                  <a:lnTo>
                    <a:pt x="1072896" y="91440"/>
                  </a:lnTo>
                  <a:lnTo>
                    <a:pt x="1062088" y="86868"/>
                  </a:lnTo>
                  <a:lnTo>
                    <a:pt x="1052703" y="82296"/>
                  </a:lnTo>
                  <a:lnTo>
                    <a:pt x="1045044" y="77724"/>
                  </a:lnTo>
                  <a:lnTo>
                    <a:pt x="1039368" y="73152"/>
                  </a:lnTo>
                  <a:lnTo>
                    <a:pt x="1030224" y="67056"/>
                  </a:lnTo>
                  <a:lnTo>
                    <a:pt x="1030224" y="64008"/>
                  </a:lnTo>
                  <a:lnTo>
                    <a:pt x="1039368" y="64008"/>
                  </a:lnTo>
                  <a:lnTo>
                    <a:pt x="1084948" y="74726"/>
                  </a:lnTo>
                  <a:lnTo>
                    <a:pt x="1130808" y="91440"/>
                  </a:lnTo>
                  <a:lnTo>
                    <a:pt x="1130808" y="71970"/>
                  </a:lnTo>
                  <a:lnTo>
                    <a:pt x="1124712" y="70104"/>
                  </a:lnTo>
                  <a:lnTo>
                    <a:pt x="1107935" y="64008"/>
                  </a:lnTo>
                  <a:lnTo>
                    <a:pt x="1061275" y="50393"/>
                  </a:lnTo>
                  <a:lnTo>
                    <a:pt x="1006221" y="40386"/>
                  </a:lnTo>
                  <a:lnTo>
                    <a:pt x="972312" y="39624"/>
                  </a:lnTo>
                  <a:lnTo>
                    <a:pt x="957453" y="40297"/>
                  </a:lnTo>
                  <a:lnTo>
                    <a:pt x="949452" y="42672"/>
                  </a:lnTo>
                  <a:lnTo>
                    <a:pt x="948309" y="47345"/>
                  </a:lnTo>
                  <a:lnTo>
                    <a:pt x="954024" y="54864"/>
                  </a:lnTo>
                  <a:lnTo>
                    <a:pt x="1009751" y="88734"/>
                  </a:lnTo>
                  <a:lnTo>
                    <a:pt x="1067562" y="114541"/>
                  </a:lnTo>
                  <a:lnTo>
                    <a:pt x="1117854" y="134073"/>
                  </a:lnTo>
                  <a:lnTo>
                    <a:pt x="1169289" y="151790"/>
                  </a:lnTo>
                  <a:lnTo>
                    <a:pt x="1215009" y="164261"/>
                  </a:lnTo>
                  <a:lnTo>
                    <a:pt x="1234452" y="167640"/>
                  </a:lnTo>
                  <a:lnTo>
                    <a:pt x="1254442" y="171640"/>
                  </a:lnTo>
                  <a:lnTo>
                    <a:pt x="1273302" y="174498"/>
                  </a:lnTo>
                  <a:lnTo>
                    <a:pt x="1291018" y="176212"/>
                  </a:lnTo>
                  <a:lnTo>
                    <a:pt x="1307604" y="176784"/>
                  </a:lnTo>
                  <a:lnTo>
                    <a:pt x="1323555" y="176212"/>
                  </a:lnTo>
                  <a:lnTo>
                    <a:pt x="1334643" y="174498"/>
                  </a:lnTo>
                  <a:lnTo>
                    <a:pt x="1340599" y="171640"/>
                  </a:lnTo>
                  <a:lnTo>
                    <a:pt x="1341120" y="167640"/>
                  </a:lnTo>
                  <a:close/>
                </a:path>
                <a:path w="1880870" h="177164">
                  <a:moveTo>
                    <a:pt x="1520964" y="173736"/>
                  </a:moveTo>
                  <a:lnTo>
                    <a:pt x="1327238" y="82524"/>
                  </a:lnTo>
                  <a:lnTo>
                    <a:pt x="1237488" y="39624"/>
                  </a:lnTo>
                  <a:lnTo>
                    <a:pt x="1182624" y="39624"/>
                  </a:lnTo>
                  <a:lnTo>
                    <a:pt x="1224394" y="60198"/>
                  </a:lnTo>
                  <a:lnTo>
                    <a:pt x="1267587" y="80772"/>
                  </a:lnTo>
                  <a:lnTo>
                    <a:pt x="1312506" y="101346"/>
                  </a:lnTo>
                  <a:lnTo>
                    <a:pt x="1359408" y="121920"/>
                  </a:lnTo>
                  <a:lnTo>
                    <a:pt x="1310424" y="105460"/>
                  </a:lnTo>
                  <a:lnTo>
                    <a:pt x="1262316" y="89001"/>
                  </a:lnTo>
                  <a:lnTo>
                    <a:pt x="1215237" y="72542"/>
                  </a:lnTo>
                  <a:lnTo>
                    <a:pt x="1169314" y="56083"/>
                  </a:lnTo>
                  <a:lnTo>
                    <a:pt x="1124712" y="39624"/>
                  </a:lnTo>
                  <a:lnTo>
                    <a:pt x="1066800" y="39624"/>
                  </a:lnTo>
                  <a:lnTo>
                    <a:pt x="1112964" y="55638"/>
                  </a:lnTo>
                  <a:lnTo>
                    <a:pt x="1208151" y="87960"/>
                  </a:lnTo>
                  <a:lnTo>
                    <a:pt x="1466088" y="173736"/>
                  </a:lnTo>
                  <a:lnTo>
                    <a:pt x="1520964" y="173736"/>
                  </a:lnTo>
                  <a:close/>
                </a:path>
                <a:path w="1880870" h="177164">
                  <a:moveTo>
                    <a:pt x="1729892" y="171640"/>
                  </a:moveTo>
                  <a:lnTo>
                    <a:pt x="1695640" y="146215"/>
                  </a:lnTo>
                  <a:lnTo>
                    <a:pt x="1655064" y="135356"/>
                  </a:lnTo>
                  <a:lnTo>
                    <a:pt x="1618488" y="132880"/>
                  </a:lnTo>
                  <a:lnTo>
                    <a:pt x="1600200" y="131064"/>
                  </a:lnTo>
                  <a:lnTo>
                    <a:pt x="1609344" y="134112"/>
                  </a:lnTo>
                  <a:lnTo>
                    <a:pt x="1615452" y="140208"/>
                  </a:lnTo>
                  <a:lnTo>
                    <a:pt x="1615452" y="143256"/>
                  </a:lnTo>
                  <a:lnTo>
                    <a:pt x="1609344" y="143256"/>
                  </a:lnTo>
                  <a:lnTo>
                    <a:pt x="1600873" y="142684"/>
                  </a:lnTo>
                  <a:lnTo>
                    <a:pt x="1589532" y="140970"/>
                  </a:lnTo>
                  <a:lnTo>
                    <a:pt x="1575917" y="138112"/>
                  </a:lnTo>
                  <a:lnTo>
                    <a:pt x="1560588" y="134112"/>
                  </a:lnTo>
                  <a:lnTo>
                    <a:pt x="1548053" y="131254"/>
                  </a:lnTo>
                  <a:lnTo>
                    <a:pt x="1533525" y="127254"/>
                  </a:lnTo>
                  <a:lnTo>
                    <a:pt x="1517294" y="122110"/>
                  </a:lnTo>
                  <a:lnTo>
                    <a:pt x="1499628" y="115824"/>
                  </a:lnTo>
                  <a:lnTo>
                    <a:pt x="1621536" y="115824"/>
                  </a:lnTo>
                  <a:lnTo>
                    <a:pt x="1615452" y="112776"/>
                  </a:lnTo>
                  <a:lnTo>
                    <a:pt x="1609344" y="112776"/>
                  </a:lnTo>
                  <a:lnTo>
                    <a:pt x="1603248" y="109728"/>
                  </a:lnTo>
                  <a:lnTo>
                    <a:pt x="1567815" y="97116"/>
                  </a:lnTo>
                  <a:lnTo>
                    <a:pt x="1550136" y="91440"/>
                  </a:lnTo>
                  <a:lnTo>
                    <a:pt x="1534668" y="86487"/>
                  </a:lnTo>
                  <a:lnTo>
                    <a:pt x="1503807" y="77584"/>
                  </a:lnTo>
                  <a:lnTo>
                    <a:pt x="1490472" y="74104"/>
                  </a:lnTo>
                  <a:lnTo>
                    <a:pt x="1490472" y="91440"/>
                  </a:lnTo>
                  <a:lnTo>
                    <a:pt x="1432560" y="91440"/>
                  </a:lnTo>
                  <a:lnTo>
                    <a:pt x="1392936" y="73152"/>
                  </a:lnTo>
                  <a:lnTo>
                    <a:pt x="1380744" y="64008"/>
                  </a:lnTo>
                  <a:lnTo>
                    <a:pt x="1389888" y="64008"/>
                  </a:lnTo>
                  <a:lnTo>
                    <a:pt x="1397317" y="64541"/>
                  </a:lnTo>
                  <a:lnTo>
                    <a:pt x="1405890" y="65913"/>
                  </a:lnTo>
                  <a:lnTo>
                    <a:pt x="1426476" y="70104"/>
                  </a:lnTo>
                  <a:lnTo>
                    <a:pt x="1439049" y="74726"/>
                  </a:lnTo>
                  <a:lnTo>
                    <a:pt x="1490472" y="91440"/>
                  </a:lnTo>
                  <a:lnTo>
                    <a:pt x="1490472" y="74104"/>
                  </a:lnTo>
                  <a:lnTo>
                    <a:pt x="1475232" y="70104"/>
                  </a:lnTo>
                  <a:lnTo>
                    <a:pt x="1456740" y="64008"/>
                  </a:lnTo>
                  <a:lnTo>
                    <a:pt x="1404950" y="50393"/>
                  </a:lnTo>
                  <a:lnTo>
                    <a:pt x="1365554" y="42202"/>
                  </a:lnTo>
                  <a:lnTo>
                    <a:pt x="1313688" y="39624"/>
                  </a:lnTo>
                  <a:lnTo>
                    <a:pt x="1298930" y="40297"/>
                  </a:lnTo>
                  <a:lnTo>
                    <a:pt x="1291590" y="42672"/>
                  </a:lnTo>
                  <a:lnTo>
                    <a:pt x="1292263" y="47345"/>
                  </a:lnTo>
                  <a:lnTo>
                    <a:pt x="1339596" y="75819"/>
                  </a:lnTo>
                  <a:lnTo>
                    <a:pt x="1405140" y="103632"/>
                  </a:lnTo>
                  <a:lnTo>
                    <a:pt x="1464564" y="124587"/>
                  </a:lnTo>
                  <a:lnTo>
                    <a:pt x="1524000" y="143256"/>
                  </a:lnTo>
                  <a:lnTo>
                    <a:pt x="1578864" y="158877"/>
                  </a:lnTo>
                  <a:lnTo>
                    <a:pt x="1624584" y="167640"/>
                  </a:lnTo>
                  <a:lnTo>
                    <a:pt x="1644586" y="171640"/>
                  </a:lnTo>
                  <a:lnTo>
                    <a:pt x="1663446" y="174498"/>
                  </a:lnTo>
                  <a:lnTo>
                    <a:pt x="1681162" y="176212"/>
                  </a:lnTo>
                  <a:lnTo>
                    <a:pt x="1697736" y="176784"/>
                  </a:lnTo>
                  <a:lnTo>
                    <a:pt x="1714931" y="176212"/>
                  </a:lnTo>
                  <a:lnTo>
                    <a:pt x="1725549" y="174498"/>
                  </a:lnTo>
                  <a:lnTo>
                    <a:pt x="1729892" y="171640"/>
                  </a:lnTo>
                  <a:close/>
                </a:path>
                <a:path w="1880870" h="177164">
                  <a:moveTo>
                    <a:pt x="1880628" y="173736"/>
                  </a:moveTo>
                  <a:lnTo>
                    <a:pt x="1777974" y="139433"/>
                  </a:lnTo>
                  <a:lnTo>
                    <a:pt x="1365516" y="0"/>
                  </a:lnTo>
                  <a:lnTo>
                    <a:pt x="1313688" y="0"/>
                  </a:lnTo>
                  <a:lnTo>
                    <a:pt x="1652866" y="117779"/>
                  </a:lnTo>
                  <a:lnTo>
                    <a:pt x="1816608" y="173736"/>
                  </a:lnTo>
                  <a:lnTo>
                    <a:pt x="1880628" y="173736"/>
                  </a:lnTo>
                  <a:close/>
                </a:path>
              </a:pathLst>
            </a:custGeom>
            <a:solidFill>
              <a:srgbClr val="CBCBCB">
                <a:alpha val="75000"/>
              </a:srgbClr>
            </a:solidFill>
          </p:spPr>
          <p:txBody>
            <a:bodyPr wrap="square" lIns="0" tIns="0" rIns="0" bIns="0" rtlCol="0"/>
            <a:lstStyle/>
            <a:p>
              <a:pPr algn="l" rtl="0"/>
              <a:endParaRPr sz="100"/>
            </a:p>
          </p:txBody>
        </p:sp>
        <p:pic>
          <p:nvPicPr>
            <p:cNvPr id="19" name="object 19"/>
            <p:cNvPicPr/>
            <p:nvPr/>
          </p:nvPicPr>
          <p:blipFill>
            <a:blip r:embed="rId1" cstate="print"/>
            <a:stretch>
              <a:fillRect/>
            </a:stretch>
          </p:blipFill>
          <p:spPr>
            <a:xfrm>
              <a:off x="7316722" y="1220724"/>
              <a:ext cx="208788" cy="409955"/>
            </a:xfrm>
            <a:prstGeom prst="rect">
              <a:avLst/>
            </a:prstGeom>
          </p:spPr>
        </p:pic>
        <p:pic>
          <p:nvPicPr>
            <p:cNvPr id="20" name="object 20"/>
            <p:cNvPicPr/>
            <p:nvPr/>
          </p:nvPicPr>
          <p:blipFill>
            <a:blip r:embed="rId2" cstate="print"/>
            <a:stretch>
              <a:fillRect/>
            </a:stretch>
          </p:blipFill>
          <p:spPr>
            <a:xfrm>
              <a:off x="7562087" y="1220724"/>
              <a:ext cx="219456" cy="409955"/>
            </a:xfrm>
            <a:prstGeom prst="rect">
              <a:avLst/>
            </a:prstGeom>
          </p:spPr>
        </p:pic>
        <p:pic>
          <p:nvPicPr>
            <p:cNvPr id="21" name="object 21"/>
            <p:cNvPicPr/>
            <p:nvPr/>
          </p:nvPicPr>
          <p:blipFill>
            <a:blip r:embed="rId3" cstate="print"/>
            <a:stretch>
              <a:fillRect/>
            </a:stretch>
          </p:blipFill>
          <p:spPr>
            <a:xfrm>
              <a:off x="7802879" y="1220724"/>
              <a:ext cx="249936" cy="409955"/>
            </a:xfrm>
            <a:prstGeom prst="rect">
              <a:avLst/>
            </a:prstGeom>
          </p:spPr>
        </p:pic>
        <p:pic>
          <p:nvPicPr>
            <p:cNvPr id="22" name="object 22"/>
            <p:cNvPicPr/>
            <p:nvPr/>
          </p:nvPicPr>
          <p:blipFill>
            <a:blip r:embed="rId4" cstate="print"/>
            <a:stretch>
              <a:fillRect/>
            </a:stretch>
          </p:blipFill>
          <p:spPr>
            <a:xfrm>
              <a:off x="8177783" y="1220724"/>
              <a:ext cx="64007" cy="409955"/>
            </a:xfrm>
            <a:prstGeom prst="rect">
              <a:avLst/>
            </a:prstGeom>
          </p:spPr>
        </p:pic>
        <p:pic>
          <p:nvPicPr>
            <p:cNvPr id="23" name="object 23"/>
            <p:cNvPicPr/>
            <p:nvPr/>
          </p:nvPicPr>
          <p:blipFill>
            <a:blip r:embed="rId5" cstate="print"/>
            <a:stretch>
              <a:fillRect/>
            </a:stretch>
          </p:blipFill>
          <p:spPr>
            <a:xfrm>
              <a:off x="8275319" y="1220724"/>
              <a:ext cx="676655" cy="416051"/>
            </a:xfrm>
            <a:prstGeom prst="rect">
              <a:avLst/>
            </a:prstGeom>
          </p:spPr>
        </p:pic>
        <p:sp>
          <p:nvSpPr>
            <p:cNvPr id="24" name="object 24"/>
            <p:cNvSpPr/>
            <p:nvPr/>
          </p:nvSpPr>
          <p:spPr>
            <a:xfrm>
              <a:off x="7315200" y="1219198"/>
              <a:ext cx="210820" cy="411480"/>
            </a:xfrm>
            <a:custGeom>
              <a:avLst/>
              <a:gdLst/>
              <a:ahLst/>
              <a:cxnLst/>
              <a:rect l="l" t="t" r="r" b="b"/>
              <a:pathLst>
                <a:path w="210820" h="411480">
                  <a:moveTo>
                    <a:pt x="0" y="0"/>
                  </a:moveTo>
                  <a:lnTo>
                    <a:pt x="25622" y="0"/>
                  </a:lnTo>
                  <a:lnTo>
                    <a:pt x="51815" y="0"/>
                  </a:lnTo>
                  <a:lnTo>
                    <a:pt x="78009" y="0"/>
                  </a:lnTo>
                  <a:lnTo>
                    <a:pt x="103631" y="0"/>
                  </a:lnTo>
                  <a:lnTo>
                    <a:pt x="119014" y="1095"/>
                  </a:lnTo>
                  <a:lnTo>
                    <a:pt x="155447" y="15239"/>
                  </a:lnTo>
                  <a:lnTo>
                    <a:pt x="180307" y="44815"/>
                  </a:lnTo>
                  <a:lnTo>
                    <a:pt x="197357" y="89153"/>
                  </a:lnTo>
                  <a:lnTo>
                    <a:pt x="206454" y="143779"/>
                  </a:lnTo>
                  <a:lnTo>
                    <a:pt x="209788" y="183689"/>
                  </a:lnTo>
                  <a:lnTo>
                    <a:pt x="210311" y="204216"/>
                  </a:lnTo>
                  <a:lnTo>
                    <a:pt x="209740" y="236267"/>
                  </a:lnTo>
                  <a:lnTo>
                    <a:pt x="208025" y="264033"/>
                  </a:lnTo>
                  <a:lnTo>
                    <a:pt x="205168" y="287797"/>
                  </a:lnTo>
                  <a:lnTo>
                    <a:pt x="201167" y="307847"/>
                  </a:lnTo>
                  <a:lnTo>
                    <a:pt x="197833" y="325088"/>
                  </a:lnTo>
                  <a:lnTo>
                    <a:pt x="179831" y="368808"/>
                  </a:lnTo>
                  <a:lnTo>
                    <a:pt x="146303" y="402335"/>
                  </a:lnTo>
                  <a:lnTo>
                    <a:pt x="103631" y="411479"/>
                  </a:lnTo>
                  <a:lnTo>
                    <a:pt x="78009" y="411479"/>
                  </a:lnTo>
                  <a:lnTo>
                    <a:pt x="51815" y="411479"/>
                  </a:lnTo>
                  <a:lnTo>
                    <a:pt x="25622" y="411479"/>
                  </a:lnTo>
                  <a:lnTo>
                    <a:pt x="0" y="411479"/>
                  </a:lnTo>
                  <a:lnTo>
                    <a:pt x="0" y="360044"/>
                  </a:lnTo>
                  <a:lnTo>
                    <a:pt x="0" y="51434"/>
                  </a:lnTo>
                  <a:lnTo>
                    <a:pt x="0" y="0"/>
                  </a:lnTo>
                  <a:close/>
                </a:path>
              </a:pathLst>
            </a:custGeom>
            <a:ln w="12191">
              <a:solidFill>
                <a:srgbClr val="EEEEEE"/>
              </a:solidFill>
            </a:ln>
          </p:spPr>
          <p:txBody>
            <a:bodyPr wrap="square" lIns="0" tIns="0" rIns="0" bIns="0" rtlCol="0"/>
            <a:lstStyle/>
            <a:p>
              <a:pPr algn="l" rtl="0"/>
              <a:endParaRPr sz="100"/>
            </a:p>
          </p:txBody>
        </p:sp>
        <p:pic>
          <p:nvPicPr>
            <p:cNvPr id="25" name="object 25"/>
            <p:cNvPicPr/>
            <p:nvPr/>
          </p:nvPicPr>
          <p:blipFill>
            <a:blip r:embed="rId6" cstate="print"/>
            <a:stretch>
              <a:fillRect/>
            </a:stretch>
          </p:blipFill>
          <p:spPr>
            <a:xfrm>
              <a:off x="7379207" y="1307590"/>
              <a:ext cx="82295" cy="234695"/>
            </a:xfrm>
            <a:prstGeom prst="rect">
              <a:avLst/>
            </a:prstGeom>
          </p:spPr>
        </p:pic>
        <p:sp>
          <p:nvSpPr>
            <p:cNvPr id="26" name="object 26"/>
            <p:cNvSpPr/>
            <p:nvPr/>
          </p:nvSpPr>
          <p:spPr>
            <a:xfrm>
              <a:off x="7562088" y="1219198"/>
              <a:ext cx="490855" cy="411480"/>
            </a:xfrm>
            <a:custGeom>
              <a:avLst/>
              <a:gdLst/>
              <a:ahLst/>
              <a:cxnLst/>
              <a:rect l="l" t="t" r="r" b="b"/>
              <a:pathLst>
                <a:path w="490854" h="411480">
                  <a:moveTo>
                    <a:pt x="0" y="0"/>
                  </a:moveTo>
                  <a:lnTo>
                    <a:pt x="17764" y="0"/>
                  </a:lnTo>
                  <a:lnTo>
                    <a:pt x="34670" y="0"/>
                  </a:lnTo>
                  <a:lnTo>
                    <a:pt x="51005" y="0"/>
                  </a:lnTo>
                  <a:lnTo>
                    <a:pt x="67055" y="0"/>
                  </a:lnTo>
                  <a:lnTo>
                    <a:pt x="83831" y="45719"/>
                  </a:lnTo>
                  <a:lnTo>
                    <a:pt x="101046" y="91439"/>
                  </a:lnTo>
                  <a:lnTo>
                    <a:pt x="118408" y="137159"/>
                  </a:lnTo>
                  <a:lnTo>
                    <a:pt x="135623" y="182879"/>
                  </a:lnTo>
                  <a:lnTo>
                    <a:pt x="152399" y="228599"/>
                  </a:lnTo>
                  <a:lnTo>
                    <a:pt x="152399" y="171449"/>
                  </a:lnTo>
                  <a:lnTo>
                    <a:pt x="152399" y="114299"/>
                  </a:lnTo>
                  <a:lnTo>
                    <a:pt x="152399" y="57149"/>
                  </a:lnTo>
                  <a:lnTo>
                    <a:pt x="152399" y="0"/>
                  </a:lnTo>
                  <a:lnTo>
                    <a:pt x="170164" y="0"/>
                  </a:lnTo>
                  <a:lnTo>
                    <a:pt x="187070" y="0"/>
                  </a:lnTo>
                  <a:lnTo>
                    <a:pt x="203405" y="0"/>
                  </a:lnTo>
                  <a:lnTo>
                    <a:pt x="219455" y="0"/>
                  </a:lnTo>
                  <a:lnTo>
                    <a:pt x="219455" y="51434"/>
                  </a:lnTo>
                  <a:lnTo>
                    <a:pt x="219455" y="411479"/>
                  </a:lnTo>
                  <a:lnTo>
                    <a:pt x="203405" y="411479"/>
                  </a:lnTo>
                  <a:lnTo>
                    <a:pt x="187070" y="411479"/>
                  </a:lnTo>
                  <a:lnTo>
                    <a:pt x="170164" y="411479"/>
                  </a:lnTo>
                  <a:lnTo>
                    <a:pt x="152399" y="411479"/>
                  </a:lnTo>
                  <a:lnTo>
                    <a:pt x="135623" y="366077"/>
                  </a:lnTo>
                  <a:lnTo>
                    <a:pt x="118408" y="321113"/>
                  </a:lnTo>
                  <a:lnTo>
                    <a:pt x="101046" y="276295"/>
                  </a:lnTo>
                  <a:lnTo>
                    <a:pt x="83831" y="231331"/>
                  </a:lnTo>
                  <a:lnTo>
                    <a:pt x="67055" y="185928"/>
                  </a:lnTo>
                  <a:lnTo>
                    <a:pt x="67055" y="242602"/>
                  </a:lnTo>
                  <a:lnTo>
                    <a:pt x="67055" y="298704"/>
                  </a:lnTo>
                  <a:lnTo>
                    <a:pt x="67055" y="354806"/>
                  </a:lnTo>
                  <a:lnTo>
                    <a:pt x="67055" y="411479"/>
                  </a:lnTo>
                  <a:lnTo>
                    <a:pt x="51005" y="411479"/>
                  </a:lnTo>
                  <a:lnTo>
                    <a:pt x="34670" y="411479"/>
                  </a:lnTo>
                  <a:lnTo>
                    <a:pt x="17764" y="411479"/>
                  </a:lnTo>
                  <a:lnTo>
                    <a:pt x="0" y="411479"/>
                  </a:lnTo>
                  <a:lnTo>
                    <a:pt x="0" y="360044"/>
                  </a:lnTo>
                  <a:lnTo>
                    <a:pt x="0" y="51434"/>
                  </a:lnTo>
                  <a:lnTo>
                    <a:pt x="0" y="0"/>
                  </a:lnTo>
                  <a:close/>
                </a:path>
                <a:path w="490854" h="411480">
                  <a:moveTo>
                    <a:pt x="405383" y="344423"/>
                  </a:moveTo>
                  <a:lnTo>
                    <a:pt x="384809" y="344423"/>
                  </a:lnTo>
                  <a:lnTo>
                    <a:pt x="364235" y="344423"/>
                  </a:lnTo>
                  <a:lnTo>
                    <a:pt x="343661" y="344423"/>
                  </a:lnTo>
                  <a:lnTo>
                    <a:pt x="323087" y="344423"/>
                  </a:lnTo>
                  <a:lnTo>
                    <a:pt x="320801" y="360902"/>
                  </a:lnTo>
                  <a:lnTo>
                    <a:pt x="318515" y="377952"/>
                  </a:lnTo>
                  <a:lnTo>
                    <a:pt x="316229" y="395001"/>
                  </a:lnTo>
                  <a:lnTo>
                    <a:pt x="313943" y="411479"/>
                  </a:lnTo>
                  <a:lnTo>
                    <a:pt x="295655" y="411479"/>
                  </a:lnTo>
                  <a:lnTo>
                    <a:pt x="277367" y="411479"/>
                  </a:lnTo>
                  <a:lnTo>
                    <a:pt x="259079" y="411479"/>
                  </a:lnTo>
                  <a:lnTo>
                    <a:pt x="240791" y="411479"/>
                  </a:lnTo>
                  <a:lnTo>
                    <a:pt x="251209" y="360044"/>
                  </a:lnTo>
                  <a:lnTo>
                    <a:pt x="261841" y="308609"/>
                  </a:lnTo>
                  <a:lnTo>
                    <a:pt x="272617" y="257174"/>
                  </a:lnTo>
                  <a:lnTo>
                    <a:pt x="283463" y="205739"/>
                  </a:lnTo>
                  <a:lnTo>
                    <a:pt x="294310" y="154304"/>
                  </a:lnTo>
                  <a:lnTo>
                    <a:pt x="305085" y="102869"/>
                  </a:lnTo>
                  <a:lnTo>
                    <a:pt x="315717" y="51434"/>
                  </a:lnTo>
                  <a:lnTo>
                    <a:pt x="326135" y="0"/>
                  </a:lnTo>
                  <a:lnTo>
                    <a:pt x="346185" y="0"/>
                  </a:lnTo>
                  <a:lnTo>
                    <a:pt x="365378" y="0"/>
                  </a:lnTo>
                  <a:lnTo>
                    <a:pt x="384000" y="0"/>
                  </a:lnTo>
                  <a:lnTo>
                    <a:pt x="402335" y="0"/>
                  </a:lnTo>
                  <a:lnTo>
                    <a:pt x="413634" y="51434"/>
                  </a:lnTo>
                  <a:lnTo>
                    <a:pt x="424719" y="102869"/>
                  </a:lnTo>
                  <a:lnTo>
                    <a:pt x="435661" y="154304"/>
                  </a:lnTo>
                  <a:lnTo>
                    <a:pt x="446531" y="205739"/>
                  </a:lnTo>
                  <a:lnTo>
                    <a:pt x="457402" y="257174"/>
                  </a:lnTo>
                  <a:lnTo>
                    <a:pt x="468344" y="308609"/>
                  </a:lnTo>
                  <a:lnTo>
                    <a:pt x="479428" y="360044"/>
                  </a:lnTo>
                  <a:lnTo>
                    <a:pt x="490727" y="411479"/>
                  </a:lnTo>
                  <a:lnTo>
                    <a:pt x="470677" y="411479"/>
                  </a:lnTo>
                  <a:lnTo>
                    <a:pt x="451484" y="411479"/>
                  </a:lnTo>
                  <a:lnTo>
                    <a:pt x="432863" y="411479"/>
                  </a:lnTo>
                  <a:lnTo>
                    <a:pt x="414527" y="411479"/>
                  </a:lnTo>
                  <a:lnTo>
                    <a:pt x="412241" y="395001"/>
                  </a:lnTo>
                  <a:lnTo>
                    <a:pt x="409955" y="377952"/>
                  </a:lnTo>
                  <a:lnTo>
                    <a:pt x="407669" y="360902"/>
                  </a:lnTo>
                  <a:lnTo>
                    <a:pt x="405383" y="344423"/>
                  </a:lnTo>
                  <a:close/>
                </a:path>
              </a:pathLst>
            </a:custGeom>
            <a:ln w="12191">
              <a:solidFill>
                <a:srgbClr val="EEEEEE"/>
              </a:solidFill>
            </a:ln>
          </p:spPr>
          <p:txBody>
            <a:bodyPr wrap="square" lIns="0" tIns="0" rIns="0" bIns="0" rtlCol="0"/>
            <a:lstStyle/>
            <a:p>
              <a:pPr algn="l" rtl="0"/>
              <a:endParaRPr sz="100"/>
            </a:p>
          </p:txBody>
        </p:sp>
        <p:pic>
          <p:nvPicPr>
            <p:cNvPr id="27" name="object 27"/>
            <p:cNvPicPr/>
            <p:nvPr/>
          </p:nvPicPr>
          <p:blipFill>
            <a:blip r:embed="rId7" cstate="print"/>
            <a:stretch>
              <a:fillRect/>
            </a:stretch>
          </p:blipFill>
          <p:spPr>
            <a:xfrm>
              <a:off x="7894320" y="1319782"/>
              <a:ext cx="64007" cy="161543"/>
            </a:xfrm>
            <a:prstGeom prst="rect">
              <a:avLst/>
            </a:prstGeom>
          </p:spPr>
        </p:pic>
        <p:sp>
          <p:nvSpPr>
            <p:cNvPr id="28" name="object 28"/>
            <p:cNvSpPr/>
            <p:nvPr/>
          </p:nvSpPr>
          <p:spPr>
            <a:xfrm>
              <a:off x="8177784" y="1219198"/>
              <a:ext cx="289560" cy="417830"/>
            </a:xfrm>
            <a:custGeom>
              <a:avLst/>
              <a:gdLst/>
              <a:ahLst/>
              <a:cxnLst/>
              <a:rect l="l" t="t" r="r" b="b"/>
              <a:pathLst>
                <a:path w="289559" h="417830">
                  <a:moveTo>
                    <a:pt x="0" y="0"/>
                  </a:moveTo>
                  <a:lnTo>
                    <a:pt x="16001" y="0"/>
                  </a:lnTo>
                  <a:lnTo>
                    <a:pt x="32003" y="0"/>
                  </a:lnTo>
                  <a:lnTo>
                    <a:pt x="48005" y="0"/>
                  </a:lnTo>
                  <a:lnTo>
                    <a:pt x="64007" y="0"/>
                  </a:lnTo>
                  <a:lnTo>
                    <a:pt x="64007" y="51434"/>
                  </a:lnTo>
                  <a:lnTo>
                    <a:pt x="64007" y="411479"/>
                  </a:lnTo>
                  <a:lnTo>
                    <a:pt x="48005" y="411479"/>
                  </a:lnTo>
                  <a:lnTo>
                    <a:pt x="32003" y="411479"/>
                  </a:lnTo>
                  <a:lnTo>
                    <a:pt x="16001" y="411479"/>
                  </a:lnTo>
                  <a:lnTo>
                    <a:pt x="0" y="411479"/>
                  </a:lnTo>
                  <a:lnTo>
                    <a:pt x="0" y="360044"/>
                  </a:lnTo>
                  <a:lnTo>
                    <a:pt x="0" y="51434"/>
                  </a:lnTo>
                  <a:lnTo>
                    <a:pt x="0" y="0"/>
                  </a:lnTo>
                  <a:close/>
                </a:path>
                <a:path w="289559" h="417830">
                  <a:moveTo>
                    <a:pt x="289559" y="292607"/>
                  </a:moveTo>
                  <a:lnTo>
                    <a:pt x="257555" y="292607"/>
                  </a:lnTo>
                  <a:lnTo>
                    <a:pt x="225551" y="292607"/>
                  </a:lnTo>
                  <a:lnTo>
                    <a:pt x="193547" y="292607"/>
                  </a:lnTo>
                  <a:lnTo>
                    <a:pt x="161543" y="292607"/>
                  </a:lnTo>
                  <a:lnTo>
                    <a:pt x="162115" y="305228"/>
                  </a:lnTo>
                  <a:lnTo>
                    <a:pt x="180593" y="345948"/>
                  </a:lnTo>
                  <a:lnTo>
                    <a:pt x="195071" y="350520"/>
                  </a:lnTo>
                  <a:lnTo>
                    <a:pt x="201167" y="350520"/>
                  </a:lnTo>
                  <a:lnTo>
                    <a:pt x="222503" y="323088"/>
                  </a:lnTo>
                  <a:lnTo>
                    <a:pt x="238505" y="327136"/>
                  </a:lnTo>
                  <a:lnTo>
                    <a:pt x="254507" y="330327"/>
                  </a:lnTo>
                  <a:lnTo>
                    <a:pt x="270509" y="332946"/>
                  </a:lnTo>
                  <a:lnTo>
                    <a:pt x="286511" y="335279"/>
                  </a:lnTo>
                  <a:lnTo>
                    <a:pt x="279082" y="356425"/>
                  </a:lnTo>
                  <a:lnTo>
                    <a:pt x="249935" y="399288"/>
                  </a:lnTo>
                  <a:lnTo>
                    <a:pt x="209644" y="416433"/>
                  </a:lnTo>
                  <a:lnTo>
                    <a:pt x="192023" y="417576"/>
                  </a:lnTo>
                  <a:lnTo>
                    <a:pt x="176640" y="416909"/>
                  </a:lnTo>
                  <a:lnTo>
                    <a:pt x="140207" y="402335"/>
                  </a:lnTo>
                  <a:lnTo>
                    <a:pt x="116633" y="364617"/>
                  </a:lnTo>
                  <a:lnTo>
                    <a:pt x="103965" y="328565"/>
                  </a:lnTo>
                  <a:lnTo>
                    <a:pt x="98154" y="286178"/>
                  </a:lnTo>
                  <a:lnTo>
                    <a:pt x="97535" y="262128"/>
                  </a:lnTo>
                  <a:lnTo>
                    <a:pt x="99202" y="229505"/>
                  </a:lnTo>
                  <a:lnTo>
                    <a:pt x="111680" y="173402"/>
                  </a:lnTo>
                  <a:lnTo>
                    <a:pt x="135016" y="131111"/>
                  </a:lnTo>
                  <a:lnTo>
                    <a:pt x="170354" y="109489"/>
                  </a:lnTo>
                  <a:lnTo>
                    <a:pt x="192023" y="106679"/>
                  </a:lnTo>
                  <a:lnTo>
                    <a:pt x="207882" y="107822"/>
                  </a:lnTo>
                  <a:lnTo>
                    <a:pt x="246887" y="124967"/>
                  </a:lnTo>
                  <a:lnTo>
                    <a:pt x="271747" y="165687"/>
                  </a:lnTo>
                  <a:lnTo>
                    <a:pt x="283130" y="202358"/>
                  </a:lnTo>
                  <a:lnTo>
                    <a:pt x="288940" y="249316"/>
                  </a:lnTo>
                  <a:lnTo>
                    <a:pt x="289559" y="277367"/>
                  </a:lnTo>
                  <a:lnTo>
                    <a:pt x="289559" y="283463"/>
                  </a:lnTo>
                  <a:lnTo>
                    <a:pt x="289559" y="286511"/>
                  </a:lnTo>
                  <a:lnTo>
                    <a:pt x="289559" y="292607"/>
                  </a:lnTo>
                  <a:close/>
                </a:path>
              </a:pathLst>
            </a:custGeom>
            <a:ln w="12191">
              <a:solidFill>
                <a:srgbClr val="EEEEEE"/>
              </a:solidFill>
            </a:ln>
          </p:spPr>
          <p:txBody>
            <a:bodyPr wrap="square" lIns="0" tIns="0" rIns="0" bIns="0" rtlCol="0"/>
            <a:lstStyle/>
            <a:p>
              <a:pPr algn="l" rtl="0"/>
              <a:endParaRPr sz="100"/>
            </a:p>
          </p:txBody>
        </p:sp>
        <p:pic>
          <p:nvPicPr>
            <p:cNvPr id="29" name="object 29"/>
            <p:cNvPicPr/>
            <p:nvPr/>
          </p:nvPicPr>
          <p:blipFill>
            <a:blip r:embed="rId8" cstate="print"/>
            <a:stretch>
              <a:fillRect/>
            </a:stretch>
          </p:blipFill>
          <p:spPr>
            <a:xfrm>
              <a:off x="8333232" y="1386838"/>
              <a:ext cx="76199" cy="76199"/>
            </a:xfrm>
            <a:prstGeom prst="rect">
              <a:avLst/>
            </a:prstGeom>
          </p:spPr>
        </p:pic>
        <p:sp>
          <p:nvSpPr>
            <p:cNvPr id="30" name="object 30"/>
            <p:cNvSpPr/>
            <p:nvPr/>
          </p:nvSpPr>
          <p:spPr>
            <a:xfrm>
              <a:off x="8467343" y="1325878"/>
              <a:ext cx="390525" cy="311150"/>
            </a:xfrm>
            <a:custGeom>
              <a:avLst/>
              <a:gdLst/>
              <a:ahLst/>
              <a:cxnLst/>
              <a:rect l="l" t="t" r="r" b="b"/>
              <a:pathLst>
                <a:path w="390525" h="311150">
                  <a:moveTo>
                    <a:pt x="0" y="6095"/>
                  </a:moveTo>
                  <a:lnTo>
                    <a:pt x="17764" y="6095"/>
                  </a:lnTo>
                  <a:lnTo>
                    <a:pt x="34671" y="6095"/>
                  </a:lnTo>
                  <a:lnTo>
                    <a:pt x="51006" y="6095"/>
                  </a:lnTo>
                  <a:lnTo>
                    <a:pt x="67056" y="6095"/>
                  </a:lnTo>
                  <a:lnTo>
                    <a:pt x="75724" y="54054"/>
                  </a:lnTo>
                  <a:lnTo>
                    <a:pt x="83820" y="101726"/>
                  </a:lnTo>
                  <a:lnTo>
                    <a:pt x="91916" y="148828"/>
                  </a:lnTo>
                  <a:lnTo>
                    <a:pt x="100584" y="195071"/>
                  </a:lnTo>
                  <a:lnTo>
                    <a:pt x="107966" y="148828"/>
                  </a:lnTo>
                  <a:lnTo>
                    <a:pt x="116205" y="101726"/>
                  </a:lnTo>
                  <a:lnTo>
                    <a:pt x="125015" y="54054"/>
                  </a:lnTo>
                  <a:lnTo>
                    <a:pt x="134111" y="6095"/>
                  </a:lnTo>
                  <a:lnTo>
                    <a:pt x="150114" y="6095"/>
                  </a:lnTo>
                  <a:lnTo>
                    <a:pt x="166116" y="6095"/>
                  </a:lnTo>
                  <a:lnTo>
                    <a:pt x="182118" y="6095"/>
                  </a:lnTo>
                  <a:lnTo>
                    <a:pt x="198120" y="6095"/>
                  </a:lnTo>
                  <a:lnTo>
                    <a:pt x="185942" y="56373"/>
                  </a:lnTo>
                  <a:lnTo>
                    <a:pt x="173849" y="106567"/>
                  </a:lnTo>
                  <a:lnTo>
                    <a:pt x="161925" y="156591"/>
                  </a:lnTo>
                  <a:lnTo>
                    <a:pt x="150255" y="206361"/>
                  </a:lnTo>
                  <a:lnTo>
                    <a:pt x="138924" y="255792"/>
                  </a:lnTo>
                  <a:lnTo>
                    <a:pt x="128016" y="304799"/>
                  </a:lnTo>
                  <a:lnTo>
                    <a:pt x="112538" y="304799"/>
                  </a:lnTo>
                  <a:lnTo>
                    <a:pt x="97917" y="304799"/>
                  </a:lnTo>
                  <a:lnTo>
                    <a:pt x="83868" y="304799"/>
                  </a:lnTo>
                  <a:lnTo>
                    <a:pt x="70104" y="304799"/>
                  </a:lnTo>
                  <a:lnTo>
                    <a:pt x="59196" y="255792"/>
                  </a:lnTo>
                  <a:lnTo>
                    <a:pt x="47865" y="206361"/>
                  </a:lnTo>
                  <a:lnTo>
                    <a:pt x="36195" y="156591"/>
                  </a:lnTo>
                  <a:lnTo>
                    <a:pt x="24271" y="106567"/>
                  </a:lnTo>
                  <a:lnTo>
                    <a:pt x="12178" y="56373"/>
                  </a:lnTo>
                  <a:lnTo>
                    <a:pt x="0" y="6095"/>
                  </a:lnTo>
                  <a:close/>
                </a:path>
                <a:path w="390525" h="311150">
                  <a:moveTo>
                    <a:pt x="390144" y="185927"/>
                  </a:moveTo>
                  <a:lnTo>
                    <a:pt x="358187" y="185927"/>
                  </a:lnTo>
                  <a:lnTo>
                    <a:pt x="326517" y="185927"/>
                  </a:lnTo>
                  <a:lnTo>
                    <a:pt x="295417" y="185927"/>
                  </a:lnTo>
                  <a:lnTo>
                    <a:pt x="265175" y="185927"/>
                  </a:lnTo>
                  <a:lnTo>
                    <a:pt x="265699" y="198548"/>
                  </a:lnTo>
                  <a:lnTo>
                    <a:pt x="282321" y="239268"/>
                  </a:lnTo>
                  <a:lnTo>
                    <a:pt x="295656" y="243840"/>
                  </a:lnTo>
                  <a:lnTo>
                    <a:pt x="301752" y="243840"/>
                  </a:lnTo>
                  <a:lnTo>
                    <a:pt x="307847" y="240791"/>
                  </a:lnTo>
                  <a:lnTo>
                    <a:pt x="313944" y="237743"/>
                  </a:lnTo>
                  <a:lnTo>
                    <a:pt x="316992" y="231648"/>
                  </a:lnTo>
                  <a:lnTo>
                    <a:pt x="320040" y="225552"/>
                  </a:lnTo>
                  <a:lnTo>
                    <a:pt x="326135" y="216408"/>
                  </a:lnTo>
                  <a:lnTo>
                    <a:pt x="340375" y="220456"/>
                  </a:lnTo>
                  <a:lnTo>
                    <a:pt x="355473" y="223647"/>
                  </a:lnTo>
                  <a:lnTo>
                    <a:pt x="371141" y="226266"/>
                  </a:lnTo>
                  <a:lnTo>
                    <a:pt x="387096" y="228599"/>
                  </a:lnTo>
                  <a:lnTo>
                    <a:pt x="379714" y="249745"/>
                  </a:lnTo>
                  <a:lnTo>
                    <a:pt x="353568" y="292608"/>
                  </a:lnTo>
                  <a:lnTo>
                    <a:pt x="312849" y="309753"/>
                  </a:lnTo>
                  <a:lnTo>
                    <a:pt x="295656" y="310896"/>
                  </a:lnTo>
                  <a:lnTo>
                    <a:pt x="278987" y="310229"/>
                  </a:lnTo>
                  <a:lnTo>
                    <a:pt x="234743" y="285369"/>
                  </a:lnTo>
                  <a:lnTo>
                    <a:pt x="210311" y="240791"/>
                  </a:lnTo>
                  <a:lnTo>
                    <a:pt x="201930" y="201549"/>
                  </a:lnTo>
                  <a:lnTo>
                    <a:pt x="198120" y="155448"/>
                  </a:lnTo>
                  <a:lnTo>
                    <a:pt x="199835" y="122825"/>
                  </a:lnTo>
                  <a:lnTo>
                    <a:pt x="213551" y="66722"/>
                  </a:lnTo>
                  <a:lnTo>
                    <a:pt x="238173" y="24431"/>
                  </a:lnTo>
                  <a:lnTo>
                    <a:pt x="271415" y="2809"/>
                  </a:lnTo>
                  <a:lnTo>
                    <a:pt x="292608" y="0"/>
                  </a:lnTo>
                  <a:lnTo>
                    <a:pt x="309753" y="1142"/>
                  </a:lnTo>
                  <a:lnTo>
                    <a:pt x="347471" y="18287"/>
                  </a:lnTo>
                  <a:lnTo>
                    <a:pt x="374046" y="59007"/>
                  </a:lnTo>
                  <a:lnTo>
                    <a:pt x="385000" y="95678"/>
                  </a:lnTo>
                  <a:lnTo>
                    <a:pt x="389573" y="142636"/>
                  </a:lnTo>
                  <a:lnTo>
                    <a:pt x="390144" y="170687"/>
                  </a:lnTo>
                  <a:lnTo>
                    <a:pt x="390144" y="176783"/>
                  </a:lnTo>
                  <a:lnTo>
                    <a:pt x="390144" y="179831"/>
                  </a:lnTo>
                  <a:lnTo>
                    <a:pt x="390144" y="185927"/>
                  </a:lnTo>
                  <a:close/>
                </a:path>
              </a:pathLst>
            </a:custGeom>
            <a:ln w="12191">
              <a:solidFill>
                <a:srgbClr val="EEEEEE"/>
              </a:solidFill>
            </a:ln>
          </p:spPr>
          <p:txBody>
            <a:bodyPr wrap="square" lIns="0" tIns="0" rIns="0" bIns="0" rtlCol="0"/>
            <a:lstStyle/>
            <a:p>
              <a:pPr algn="l" rtl="0"/>
              <a:endParaRPr sz="100"/>
            </a:p>
          </p:txBody>
        </p:sp>
        <p:pic>
          <p:nvPicPr>
            <p:cNvPr id="31" name="object 31"/>
            <p:cNvPicPr/>
            <p:nvPr/>
          </p:nvPicPr>
          <p:blipFill>
            <a:blip r:embed="rId9" cstate="print"/>
            <a:stretch>
              <a:fillRect/>
            </a:stretch>
          </p:blipFill>
          <p:spPr>
            <a:xfrm>
              <a:off x="8726423" y="1386838"/>
              <a:ext cx="73151" cy="76199"/>
            </a:xfrm>
            <a:prstGeom prst="rect">
              <a:avLst/>
            </a:prstGeom>
          </p:spPr>
        </p:pic>
        <p:sp>
          <p:nvSpPr>
            <p:cNvPr id="32" name="object 32"/>
            <p:cNvSpPr/>
            <p:nvPr/>
          </p:nvSpPr>
          <p:spPr>
            <a:xfrm>
              <a:off x="8891015" y="1219198"/>
              <a:ext cx="60960" cy="411480"/>
            </a:xfrm>
            <a:custGeom>
              <a:avLst/>
              <a:gdLst/>
              <a:ahLst/>
              <a:cxnLst/>
              <a:rect l="l" t="t" r="r" b="b"/>
              <a:pathLst>
                <a:path w="60959" h="411480">
                  <a:moveTo>
                    <a:pt x="0" y="0"/>
                  </a:moveTo>
                  <a:lnTo>
                    <a:pt x="15526" y="0"/>
                  </a:lnTo>
                  <a:lnTo>
                    <a:pt x="30480" y="0"/>
                  </a:lnTo>
                  <a:lnTo>
                    <a:pt x="45434" y="0"/>
                  </a:lnTo>
                  <a:lnTo>
                    <a:pt x="60960" y="0"/>
                  </a:lnTo>
                  <a:lnTo>
                    <a:pt x="60960" y="51434"/>
                  </a:lnTo>
                  <a:lnTo>
                    <a:pt x="60960" y="411479"/>
                  </a:lnTo>
                  <a:lnTo>
                    <a:pt x="45434" y="411479"/>
                  </a:lnTo>
                  <a:lnTo>
                    <a:pt x="30480" y="411479"/>
                  </a:lnTo>
                  <a:lnTo>
                    <a:pt x="15526" y="411479"/>
                  </a:lnTo>
                  <a:lnTo>
                    <a:pt x="0" y="411479"/>
                  </a:lnTo>
                  <a:lnTo>
                    <a:pt x="0" y="360044"/>
                  </a:lnTo>
                  <a:lnTo>
                    <a:pt x="0" y="51434"/>
                  </a:lnTo>
                  <a:lnTo>
                    <a:pt x="0" y="0"/>
                  </a:lnTo>
                  <a:close/>
                </a:path>
              </a:pathLst>
            </a:custGeom>
            <a:ln w="12191">
              <a:solidFill>
                <a:srgbClr val="EEEEEE"/>
              </a:solidFill>
            </a:ln>
          </p:spPr>
          <p:txBody>
            <a:bodyPr wrap="square" lIns="0" tIns="0" rIns="0" bIns="0" rtlCol="0"/>
            <a:lstStyle/>
            <a:p>
              <a:pPr algn="l" rtl="0"/>
              <a:endParaRPr sz="10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533400" y="457200"/>
            <a:ext cx="7677150" cy="1355725"/>
          </a:xfrm>
        </p:spPr>
        <p:txBody>
          <a:bodyPr/>
          <a:lstStyle/>
          <a:p>
            <a:r>
              <a:rPr lang="en-US" altLang="en-US" sz="3600" b="1" dirty="0"/>
              <a:t>Deletion and insertion mutations </a:t>
            </a:r>
            <a:endParaRPr lang="en-US" altLang="en-US" sz="3600" b="1" dirty="0"/>
          </a:p>
        </p:txBody>
      </p:sp>
      <p:sp>
        <p:nvSpPr>
          <p:cNvPr id="3" name="Content Placeholder 2"/>
          <p:cNvSpPr>
            <a:spLocks noGrp="1"/>
          </p:cNvSpPr>
          <p:nvPr>
            <p:ph idx="1"/>
          </p:nvPr>
        </p:nvSpPr>
        <p:spPr>
          <a:xfrm>
            <a:off x="457200" y="1905000"/>
            <a:ext cx="8229600" cy="4525963"/>
          </a:xfrm>
        </p:spPr>
        <p:txBody>
          <a:bodyPr/>
          <a:lstStyle/>
          <a:p>
            <a:pPr>
              <a:defRPr/>
            </a:pPr>
            <a:r>
              <a:rPr lang="en-US" sz="2400" b="1" dirty="0">
                <a:solidFill>
                  <a:schemeClr val="tx1"/>
                </a:solidFill>
              </a:rPr>
              <a:t>Insertion</a:t>
            </a:r>
            <a:r>
              <a:rPr lang="en-US" sz="2400" dirty="0">
                <a:solidFill>
                  <a:schemeClr val="tx1"/>
                </a:solidFill>
              </a:rPr>
              <a:t>: Extra base pairs are inserted into a new place in the DNA </a:t>
            </a:r>
            <a:r>
              <a:rPr lang="en-US" sz="2400" b="1" dirty="0">
                <a:solidFill>
                  <a:schemeClr val="tx1"/>
                </a:solidFill>
              </a:rPr>
              <a:t>(cause a frameshift). </a:t>
            </a:r>
            <a:endParaRPr lang="en-US" sz="2400" b="1" dirty="0">
              <a:solidFill>
                <a:schemeClr val="tx1"/>
              </a:solidFill>
            </a:endParaRPr>
          </a:p>
          <a:p>
            <a:pPr>
              <a:defRPr/>
            </a:pPr>
            <a:endParaRPr lang="en-US" sz="2400" b="1" dirty="0">
              <a:solidFill>
                <a:schemeClr val="tx1"/>
              </a:solidFill>
            </a:endParaRPr>
          </a:p>
          <a:p>
            <a:pPr marL="0" indent="0">
              <a:buFont typeface="Corbel" panose="020B0503020204020204" pitchFamily="34" charset="0"/>
              <a:buNone/>
              <a:defRPr/>
            </a:pPr>
            <a:r>
              <a:rPr lang="en-US" sz="2400" dirty="0">
                <a:solidFill>
                  <a:schemeClr val="tx1"/>
                </a:solidFill>
              </a:rPr>
              <a:t>	</a:t>
            </a:r>
            <a:endParaRPr lang="ar-SA" sz="2400" dirty="0">
              <a:solidFill>
                <a:schemeClr val="tx1"/>
              </a:solidFill>
            </a:endParaRPr>
          </a:p>
          <a:p>
            <a:pPr marL="0" indent="0">
              <a:buFont typeface="Corbel" panose="020B0503020204020204" pitchFamily="34" charset="0"/>
              <a:buNone/>
              <a:defRPr/>
            </a:pPr>
            <a:endParaRPr lang="en-US" sz="2400" dirty="0">
              <a:solidFill>
                <a:schemeClr val="tx1"/>
              </a:solidFill>
            </a:endParaRPr>
          </a:p>
          <a:p>
            <a:pPr>
              <a:defRPr/>
            </a:pPr>
            <a:r>
              <a:rPr lang="en-US" sz="2400" b="1" dirty="0">
                <a:solidFill>
                  <a:schemeClr val="tx1"/>
                </a:solidFill>
              </a:rPr>
              <a:t>Deletion :</a:t>
            </a:r>
            <a:r>
              <a:rPr lang="en-US" sz="2400" dirty="0">
                <a:solidFill>
                  <a:schemeClr val="tx1"/>
                </a:solidFill>
              </a:rPr>
              <a:t> Section of DNA is lost or deleted </a:t>
            </a:r>
            <a:r>
              <a:rPr lang="en-US" sz="2400" b="1" dirty="0">
                <a:solidFill>
                  <a:schemeClr val="tx1"/>
                </a:solidFill>
              </a:rPr>
              <a:t>(cause a frameshift). </a:t>
            </a:r>
            <a:r>
              <a:rPr lang="en-US" sz="2400" dirty="0">
                <a:solidFill>
                  <a:schemeClr val="tx1"/>
                </a:solidFill>
              </a:rPr>
              <a:t>	</a:t>
            </a:r>
            <a:endParaRPr lang="en-US" sz="2400" dirty="0">
              <a:solidFill>
                <a:schemeClr val="tx1"/>
              </a:solidFill>
            </a:endParaRPr>
          </a:p>
          <a:p>
            <a:pPr>
              <a:defRPr/>
            </a:pPr>
            <a:endParaRPr lang="en-US" sz="2400" dirty="0">
              <a:solidFill>
                <a:schemeClr val="tx1"/>
              </a:solidFill>
            </a:endParaRPr>
          </a:p>
        </p:txBody>
      </p:sp>
      <p:pic>
        <p:nvPicPr>
          <p:cNvPr id="4198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0645" y="2971800"/>
            <a:ext cx="3274695" cy="808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4025" y="5029200"/>
            <a:ext cx="2994025" cy="1202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4559" y="809064"/>
            <a:ext cx="7196978" cy="1964690"/>
          </a:xfrm>
          <a:prstGeom prst="rect">
            <a:avLst/>
          </a:prstGeom>
        </p:spPr>
        <p:txBody>
          <a:bodyPr vert="horz" wrap="square" lIns="0" tIns="11205" rIns="0" bIns="0" rtlCol="0">
            <a:spAutoFit/>
          </a:bodyPr>
          <a:lstStyle/>
          <a:p>
            <a:pPr marL="2084705" algn="l" rtl="0">
              <a:lnSpc>
                <a:spcPct val="100000"/>
              </a:lnSpc>
              <a:spcBef>
                <a:spcPts val="100"/>
              </a:spcBef>
            </a:pPr>
            <a:r>
              <a:rPr sz="2120" b="1" dirty="0">
                <a:solidFill>
                  <a:srgbClr val="FF2800"/>
                </a:solidFill>
                <a:latin typeface="Times New Roman" panose="02020603050405020304"/>
                <a:cs typeface="Times New Roman" panose="02020603050405020304"/>
              </a:rPr>
              <a:t>Effect</a:t>
            </a:r>
            <a:r>
              <a:rPr sz="2120" b="1" spc="-25" dirty="0">
                <a:solidFill>
                  <a:srgbClr val="FF2800"/>
                </a:solidFill>
                <a:latin typeface="Times New Roman" panose="02020603050405020304"/>
                <a:cs typeface="Times New Roman" panose="02020603050405020304"/>
              </a:rPr>
              <a:t> </a:t>
            </a:r>
            <a:r>
              <a:rPr sz="2120" b="1" dirty="0">
                <a:solidFill>
                  <a:srgbClr val="FF2800"/>
                </a:solidFill>
                <a:latin typeface="Times New Roman" panose="02020603050405020304"/>
                <a:cs typeface="Times New Roman" panose="02020603050405020304"/>
              </a:rPr>
              <a:t>on</a:t>
            </a:r>
            <a:r>
              <a:rPr sz="2120" b="1" spc="-20" dirty="0">
                <a:solidFill>
                  <a:srgbClr val="FF2800"/>
                </a:solidFill>
                <a:latin typeface="Times New Roman" panose="02020603050405020304"/>
                <a:cs typeface="Times New Roman" panose="02020603050405020304"/>
              </a:rPr>
              <a:t> </a:t>
            </a:r>
            <a:r>
              <a:rPr sz="2120" b="1" spc="-5" dirty="0">
                <a:solidFill>
                  <a:srgbClr val="FF2800"/>
                </a:solidFill>
                <a:latin typeface="Times New Roman" panose="02020603050405020304"/>
                <a:cs typeface="Times New Roman" panose="02020603050405020304"/>
              </a:rPr>
              <a:t>protein</a:t>
            </a:r>
            <a:r>
              <a:rPr sz="2120" b="1" spc="-30" dirty="0">
                <a:solidFill>
                  <a:srgbClr val="FF2800"/>
                </a:solidFill>
                <a:latin typeface="Times New Roman" panose="02020603050405020304"/>
                <a:cs typeface="Times New Roman" panose="02020603050405020304"/>
              </a:rPr>
              <a:t> </a:t>
            </a:r>
            <a:r>
              <a:rPr sz="2120" b="1" dirty="0">
                <a:solidFill>
                  <a:srgbClr val="FF2800"/>
                </a:solidFill>
                <a:latin typeface="Times New Roman" panose="02020603050405020304"/>
                <a:cs typeface="Times New Roman" panose="02020603050405020304"/>
              </a:rPr>
              <a:t>encoded</a:t>
            </a:r>
            <a:endParaRPr sz="2120">
              <a:latin typeface="Times New Roman" panose="02020603050405020304"/>
              <a:cs typeface="Times New Roman" panose="02020603050405020304"/>
            </a:endParaRPr>
          </a:p>
          <a:p>
            <a:pPr algn="l" rtl="0">
              <a:lnSpc>
                <a:spcPct val="100000"/>
              </a:lnSpc>
              <a:spcBef>
                <a:spcPts val="40"/>
              </a:spcBef>
            </a:pPr>
            <a:endParaRPr sz="1810">
              <a:latin typeface="Times New Roman" panose="02020603050405020304"/>
              <a:cs typeface="Times New Roman" panose="02020603050405020304"/>
            </a:endParaRPr>
          </a:p>
          <a:p>
            <a:pPr marL="12700" algn="l" rtl="0">
              <a:lnSpc>
                <a:spcPct val="100000"/>
              </a:lnSpc>
            </a:pPr>
            <a:r>
              <a:rPr sz="2120" b="1" u="sng" dirty="0">
                <a:solidFill>
                  <a:srgbClr val="4348AA"/>
                </a:solidFill>
                <a:uFill>
                  <a:solidFill>
                    <a:srgbClr val="4348AA"/>
                  </a:solidFill>
                </a:uFill>
                <a:latin typeface="Times New Roman" panose="02020603050405020304"/>
                <a:cs typeface="Times New Roman" panose="02020603050405020304"/>
              </a:rPr>
              <a:t>Missense</a:t>
            </a:r>
            <a:r>
              <a:rPr sz="2120" b="1" u="sng" spc="-45" dirty="0">
                <a:solidFill>
                  <a:srgbClr val="4348AA"/>
                </a:solidFill>
                <a:uFill>
                  <a:solidFill>
                    <a:srgbClr val="4348AA"/>
                  </a:solidFill>
                </a:uFill>
                <a:latin typeface="Times New Roman" panose="02020603050405020304"/>
                <a:cs typeface="Times New Roman" panose="02020603050405020304"/>
              </a:rPr>
              <a:t> </a:t>
            </a:r>
            <a:r>
              <a:rPr sz="2120" b="1" u="sng" dirty="0">
                <a:solidFill>
                  <a:srgbClr val="4348AA"/>
                </a:solidFill>
                <a:uFill>
                  <a:solidFill>
                    <a:srgbClr val="4348AA"/>
                  </a:solidFill>
                </a:uFill>
                <a:latin typeface="Times New Roman" panose="02020603050405020304"/>
                <a:cs typeface="Times New Roman" panose="02020603050405020304"/>
              </a:rPr>
              <a:t>mutation</a:t>
            </a:r>
            <a:endParaRPr sz="2120">
              <a:latin typeface="Times New Roman" panose="02020603050405020304"/>
              <a:cs typeface="Times New Roman" panose="02020603050405020304"/>
            </a:endParaRPr>
          </a:p>
          <a:p>
            <a:pPr algn="l" rtl="0">
              <a:lnSpc>
                <a:spcPct val="100000"/>
              </a:lnSpc>
              <a:spcBef>
                <a:spcPts val="15"/>
              </a:spcBef>
            </a:pPr>
            <a:endParaRPr sz="2380">
              <a:latin typeface="Times New Roman" panose="02020603050405020304"/>
              <a:cs typeface="Times New Roman" panose="02020603050405020304"/>
            </a:endParaRPr>
          </a:p>
          <a:p>
            <a:pPr marL="12700" marR="5080" algn="l" rtl="0">
              <a:lnSpc>
                <a:spcPct val="100000"/>
              </a:lnSpc>
            </a:pPr>
            <a:r>
              <a:rPr sz="2120" b="1" spc="-5" dirty="0">
                <a:latin typeface="Times New Roman" panose="02020603050405020304"/>
                <a:cs typeface="Times New Roman" panose="02020603050405020304"/>
              </a:rPr>
              <a:t>bp</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mutation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5" dirty="0">
                <a:latin typeface="Times New Roman" panose="02020603050405020304"/>
                <a:cs typeface="Times New Roman" panose="02020603050405020304"/>
              </a:rPr>
              <a:t> DNA</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results</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mRNA</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codon,</a:t>
            </a:r>
            <a:r>
              <a:rPr sz="2120" b="1" spc="-10"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so</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that </a:t>
            </a:r>
            <a:r>
              <a:rPr sz="2120" b="1" spc="-58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a:t>
            </a:r>
            <a:r>
              <a:rPr sz="2120" b="1" spc="-10"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different</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amino</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acid</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is</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inserted</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at</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that</a:t>
            </a:r>
            <a:r>
              <a:rPr sz="2120" b="1" spc="-5" dirty="0">
                <a:latin typeface="Times New Roman" panose="02020603050405020304"/>
                <a:cs typeface="Times New Roman" panose="02020603050405020304"/>
              </a:rPr>
              <a:t> site</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the</a:t>
            </a:r>
            <a:r>
              <a:rPr sz="2120" b="1" spc="-5" dirty="0">
                <a:latin typeface="Times New Roman" panose="02020603050405020304"/>
                <a:cs typeface="Times New Roman" panose="02020603050405020304"/>
              </a:rPr>
              <a:t> protein.</a:t>
            </a:r>
            <a:endParaRPr sz="2120">
              <a:latin typeface="Times New Roman" panose="02020603050405020304"/>
              <a:cs typeface="Times New Roman" panose="02020603050405020304"/>
            </a:endParaRPr>
          </a:p>
        </p:txBody>
      </p:sp>
      <p:grpSp>
        <p:nvGrpSpPr>
          <p:cNvPr id="3" name="object 3"/>
          <p:cNvGrpSpPr/>
          <p:nvPr/>
        </p:nvGrpSpPr>
        <p:grpSpPr>
          <a:xfrm>
            <a:off x="669664" y="2148838"/>
            <a:ext cx="277346" cy="411816"/>
            <a:chOff x="606552" y="2435350"/>
            <a:chExt cx="314325" cy="466725"/>
          </a:xfrm>
        </p:grpSpPr>
        <p:sp>
          <p:nvSpPr>
            <p:cNvPr id="4" name="object 4"/>
            <p:cNvSpPr/>
            <p:nvPr/>
          </p:nvSpPr>
          <p:spPr>
            <a:xfrm>
              <a:off x="611124" y="2439922"/>
              <a:ext cx="304800" cy="457200"/>
            </a:xfrm>
            <a:custGeom>
              <a:avLst/>
              <a:gdLst/>
              <a:ahLst/>
              <a:cxnLst/>
              <a:rect l="l" t="t" r="r" b="b"/>
              <a:pathLst>
                <a:path w="304800" h="457200">
                  <a:moveTo>
                    <a:pt x="246887" y="457199"/>
                  </a:moveTo>
                  <a:lnTo>
                    <a:pt x="152400" y="350519"/>
                  </a:lnTo>
                  <a:lnTo>
                    <a:pt x="57911" y="457199"/>
                  </a:lnTo>
                  <a:lnTo>
                    <a:pt x="94487" y="283463"/>
                  </a:lnTo>
                  <a:lnTo>
                    <a:pt x="0" y="173735"/>
                  </a:lnTo>
                  <a:lnTo>
                    <a:pt x="115823" y="173735"/>
                  </a:lnTo>
                  <a:lnTo>
                    <a:pt x="152400" y="0"/>
                  </a:lnTo>
                  <a:lnTo>
                    <a:pt x="188976" y="173735"/>
                  </a:lnTo>
                  <a:lnTo>
                    <a:pt x="304799" y="173735"/>
                  </a:lnTo>
                  <a:lnTo>
                    <a:pt x="210312" y="283463"/>
                  </a:lnTo>
                  <a:lnTo>
                    <a:pt x="246887" y="457199"/>
                  </a:lnTo>
                  <a:close/>
                </a:path>
              </a:pathLst>
            </a:custGeom>
            <a:solidFill>
              <a:srgbClr val="FFAA41"/>
            </a:solidFill>
          </p:spPr>
          <p:txBody>
            <a:bodyPr wrap="square" lIns="0" tIns="0" rIns="0" bIns="0" rtlCol="0"/>
            <a:lstStyle/>
            <a:p>
              <a:pPr algn="l" rtl="0"/>
              <a:endParaRPr sz="100"/>
            </a:p>
          </p:txBody>
        </p:sp>
        <p:sp>
          <p:nvSpPr>
            <p:cNvPr id="5" name="object 5"/>
            <p:cNvSpPr/>
            <p:nvPr/>
          </p:nvSpPr>
          <p:spPr>
            <a:xfrm>
              <a:off x="611124" y="2439922"/>
              <a:ext cx="304800" cy="457200"/>
            </a:xfrm>
            <a:custGeom>
              <a:avLst/>
              <a:gdLst/>
              <a:ahLst/>
              <a:cxnLst/>
              <a:rect l="l" t="t" r="r" b="b"/>
              <a:pathLst>
                <a:path w="304800" h="457200">
                  <a:moveTo>
                    <a:pt x="152400" y="0"/>
                  </a:moveTo>
                  <a:lnTo>
                    <a:pt x="115823" y="173735"/>
                  </a:lnTo>
                  <a:lnTo>
                    <a:pt x="0" y="173735"/>
                  </a:lnTo>
                  <a:lnTo>
                    <a:pt x="94487" y="283463"/>
                  </a:lnTo>
                  <a:lnTo>
                    <a:pt x="57911" y="457199"/>
                  </a:lnTo>
                  <a:lnTo>
                    <a:pt x="152400" y="350519"/>
                  </a:lnTo>
                  <a:lnTo>
                    <a:pt x="246887" y="457199"/>
                  </a:lnTo>
                  <a:lnTo>
                    <a:pt x="210312" y="283463"/>
                  </a:lnTo>
                  <a:lnTo>
                    <a:pt x="304799" y="173735"/>
                  </a:lnTo>
                  <a:lnTo>
                    <a:pt x="188976" y="173735"/>
                  </a:lnTo>
                  <a:lnTo>
                    <a:pt x="152400" y="0"/>
                  </a:lnTo>
                  <a:close/>
                </a:path>
              </a:pathLst>
            </a:custGeom>
            <a:ln w="9143">
              <a:solidFill>
                <a:srgbClr val="000000"/>
              </a:solidFill>
            </a:ln>
          </p:spPr>
          <p:txBody>
            <a:bodyPr wrap="square" lIns="0" tIns="0" rIns="0" bIns="0" rtlCol="0"/>
            <a:lstStyle/>
            <a:p>
              <a:pPr algn="l" rtl="0"/>
              <a:endParaRPr sz="100"/>
            </a:p>
          </p:txBody>
        </p:sp>
      </p:grpSp>
      <p:sp>
        <p:nvSpPr>
          <p:cNvPr id="6" name="object 6"/>
          <p:cNvSpPr txBox="1"/>
          <p:nvPr/>
        </p:nvSpPr>
        <p:spPr>
          <a:xfrm>
            <a:off x="4708711" y="2933699"/>
            <a:ext cx="605118" cy="988695"/>
          </a:xfrm>
          <a:prstGeom prst="rect">
            <a:avLst/>
          </a:prstGeom>
        </p:spPr>
        <p:txBody>
          <a:bodyPr vert="horz" wrap="square" lIns="0" tIns="11205" rIns="0" bIns="0" rtlCol="0">
            <a:spAutoFit/>
          </a:bodyPr>
          <a:lstStyle/>
          <a:p>
            <a:pPr marL="12700" marR="5080" algn="l" rtl="0">
              <a:lnSpc>
                <a:spcPct val="150000"/>
              </a:lnSpc>
              <a:spcBef>
                <a:spcPts val="100"/>
              </a:spcBef>
            </a:pPr>
            <a:r>
              <a:rPr sz="2120" b="1" spc="-10" dirty="0">
                <a:solidFill>
                  <a:srgbClr val="FF2800"/>
                </a:solidFill>
                <a:latin typeface="Times New Roman" panose="02020603050405020304"/>
                <a:cs typeface="Times New Roman" panose="02020603050405020304"/>
              </a:rPr>
              <a:t>A</a:t>
            </a:r>
            <a:r>
              <a:rPr sz="2120" b="1" spc="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  </a:t>
            </a:r>
            <a:r>
              <a:rPr sz="2120" b="1" spc="-10" dirty="0">
                <a:solidFill>
                  <a:srgbClr val="FF2800"/>
                </a:solidFill>
                <a:latin typeface="Times New Roman" panose="02020603050405020304"/>
                <a:cs typeface="Times New Roman" panose="02020603050405020304"/>
              </a:rPr>
              <a:t>A</a:t>
            </a:r>
            <a:r>
              <a:rPr sz="2120" b="1" spc="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sp>
        <p:nvSpPr>
          <p:cNvPr id="7" name="object 7"/>
          <p:cNvSpPr txBox="1"/>
          <p:nvPr/>
        </p:nvSpPr>
        <p:spPr>
          <a:xfrm>
            <a:off x="6403040" y="2944457"/>
            <a:ext cx="623047" cy="995680"/>
          </a:xfrm>
          <a:prstGeom prst="rect">
            <a:avLst/>
          </a:prstGeom>
        </p:spPr>
        <p:txBody>
          <a:bodyPr vert="horz" wrap="square" lIns="0" tIns="11205" rIns="0" bIns="0" rtlCol="0">
            <a:spAutoFit/>
          </a:bodyPr>
          <a:lstStyle/>
          <a:p>
            <a:pPr marL="12700" marR="5080" algn="l" rtl="0">
              <a:lnSpc>
                <a:spcPct val="151000"/>
              </a:lnSpc>
              <a:spcBef>
                <a:spcPts val="100"/>
              </a:spcBef>
            </a:pPr>
            <a:r>
              <a:rPr sz="2120" b="1" spc="5" dirty="0">
                <a:solidFill>
                  <a:srgbClr val="FF2800"/>
                </a:solidFill>
                <a:latin typeface="Times New Roman" panose="02020603050405020304"/>
                <a:cs typeface="Times New Roman" panose="02020603050405020304"/>
              </a:rPr>
              <a:t>G</a:t>
            </a:r>
            <a:r>
              <a:rPr sz="2120" b="1" spc="1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  </a:t>
            </a:r>
            <a:r>
              <a:rPr sz="2120" b="1" spc="5" dirty="0">
                <a:solidFill>
                  <a:srgbClr val="FF2800"/>
                </a:solidFill>
                <a:latin typeface="Times New Roman" panose="02020603050405020304"/>
                <a:cs typeface="Times New Roman" panose="02020603050405020304"/>
              </a:rPr>
              <a:t>G</a:t>
            </a:r>
            <a:r>
              <a:rPr sz="2120" b="1" spc="1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grpSp>
        <p:nvGrpSpPr>
          <p:cNvPr id="8" name="object 8"/>
          <p:cNvGrpSpPr/>
          <p:nvPr/>
        </p:nvGrpSpPr>
        <p:grpSpPr>
          <a:xfrm>
            <a:off x="5595320" y="3244774"/>
            <a:ext cx="607919" cy="132229"/>
            <a:chOff x="6188963" y="3677411"/>
            <a:chExt cx="688975" cy="149860"/>
          </a:xfrm>
        </p:grpSpPr>
        <p:sp>
          <p:nvSpPr>
            <p:cNvPr id="9" name="object 9"/>
            <p:cNvSpPr/>
            <p:nvPr/>
          </p:nvSpPr>
          <p:spPr>
            <a:xfrm>
              <a:off x="6188963" y="375056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rtl="0"/>
              <a:endParaRPr sz="100"/>
            </a:p>
          </p:txBody>
        </p:sp>
        <p:sp>
          <p:nvSpPr>
            <p:cNvPr id="10" name="object 10"/>
            <p:cNvSpPr/>
            <p:nvPr/>
          </p:nvSpPr>
          <p:spPr>
            <a:xfrm>
              <a:off x="6728459" y="3677411"/>
              <a:ext cx="149860" cy="149860"/>
            </a:xfrm>
            <a:custGeom>
              <a:avLst/>
              <a:gdLst/>
              <a:ahLst/>
              <a:cxnLst/>
              <a:rect l="l" t="t" r="r" b="b"/>
              <a:pathLst>
                <a:path w="149859" h="149860">
                  <a:moveTo>
                    <a:pt x="0" y="0"/>
                  </a:moveTo>
                  <a:lnTo>
                    <a:pt x="0" y="149352"/>
                  </a:lnTo>
                  <a:lnTo>
                    <a:pt x="149352" y="73152"/>
                  </a:lnTo>
                  <a:lnTo>
                    <a:pt x="0" y="0"/>
                  </a:lnTo>
                  <a:close/>
                </a:path>
              </a:pathLst>
            </a:custGeom>
            <a:solidFill>
              <a:srgbClr val="000000"/>
            </a:solidFill>
          </p:spPr>
          <p:txBody>
            <a:bodyPr wrap="square" lIns="0" tIns="0" rIns="0" bIns="0" rtlCol="0"/>
            <a:lstStyle/>
            <a:p>
              <a:pPr algn="l" rtl="0"/>
              <a:endParaRPr sz="100"/>
            </a:p>
          </p:txBody>
        </p:sp>
      </p:grpSp>
      <p:sp>
        <p:nvSpPr>
          <p:cNvPr id="11" name="object 11"/>
          <p:cNvSpPr txBox="1"/>
          <p:nvPr/>
        </p:nvSpPr>
        <p:spPr>
          <a:xfrm>
            <a:off x="1804147" y="2987486"/>
            <a:ext cx="874059" cy="1972945"/>
          </a:xfrm>
          <a:prstGeom prst="rect">
            <a:avLst/>
          </a:prstGeom>
        </p:spPr>
        <p:txBody>
          <a:bodyPr vert="horz" wrap="square" lIns="0" tIns="11205" rIns="0" bIns="0" rtlCol="0">
            <a:spAutoFit/>
          </a:bodyPr>
          <a:lstStyle/>
          <a:p>
            <a:pPr marL="12700" marR="233680" indent="76200" algn="l" rtl="0">
              <a:lnSpc>
                <a:spcPct val="150000"/>
              </a:lnSpc>
              <a:spcBef>
                <a:spcPts val="100"/>
              </a:spcBef>
            </a:pPr>
            <a:r>
              <a:rPr sz="2120" b="1" spc="-5" dirty="0">
                <a:solidFill>
                  <a:srgbClr val="AC2FD6"/>
                </a:solidFill>
                <a:latin typeface="Times New Roman" panose="02020603050405020304"/>
                <a:cs typeface="Times New Roman" panose="02020603050405020304"/>
              </a:rPr>
              <a:t>DNA  </a:t>
            </a:r>
            <a:r>
              <a:rPr sz="2120" b="1" spc="-5" dirty="0">
                <a:solidFill>
                  <a:srgbClr val="008F00"/>
                </a:solidFill>
                <a:latin typeface="Times New Roman" panose="02020603050405020304"/>
                <a:cs typeface="Times New Roman" panose="02020603050405020304"/>
              </a:rPr>
              <a:t>RNA</a:t>
            </a:r>
            <a:endParaRPr sz="2120">
              <a:latin typeface="Times New Roman" panose="02020603050405020304"/>
              <a:cs typeface="Times New Roman" panose="02020603050405020304"/>
            </a:endParaRPr>
          </a:p>
          <a:p>
            <a:pPr marL="12700" algn="l" rtl="0">
              <a:lnSpc>
                <a:spcPct val="100000"/>
              </a:lnSpc>
              <a:spcBef>
                <a:spcPts val="1320"/>
              </a:spcBef>
            </a:pPr>
            <a:r>
              <a:rPr sz="2120" b="1" dirty="0">
                <a:solidFill>
                  <a:srgbClr val="D77A00"/>
                </a:solidFill>
                <a:latin typeface="Times New Roman" panose="02020603050405020304"/>
                <a:cs typeface="Times New Roman" panose="02020603050405020304"/>
              </a:rPr>
              <a:t>Protein</a:t>
            </a:r>
            <a:endParaRPr sz="2120">
              <a:latin typeface="Times New Roman" panose="02020603050405020304"/>
              <a:cs typeface="Times New Roman" panose="02020603050405020304"/>
            </a:endParaRPr>
          </a:p>
        </p:txBody>
      </p:sp>
      <p:grpSp>
        <p:nvGrpSpPr>
          <p:cNvPr id="12" name="object 12"/>
          <p:cNvGrpSpPr/>
          <p:nvPr/>
        </p:nvGrpSpPr>
        <p:grpSpPr>
          <a:xfrm>
            <a:off x="5595320" y="3728868"/>
            <a:ext cx="607919" cy="132229"/>
            <a:chOff x="6188963" y="4226050"/>
            <a:chExt cx="688975" cy="149860"/>
          </a:xfrm>
        </p:grpSpPr>
        <p:sp>
          <p:nvSpPr>
            <p:cNvPr id="13" name="object 13"/>
            <p:cNvSpPr/>
            <p:nvPr/>
          </p:nvSpPr>
          <p:spPr>
            <a:xfrm>
              <a:off x="6188963" y="429920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rtl="0"/>
              <a:endParaRPr sz="100"/>
            </a:p>
          </p:txBody>
        </p:sp>
        <p:sp>
          <p:nvSpPr>
            <p:cNvPr id="14" name="object 14"/>
            <p:cNvSpPr/>
            <p:nvPr/>
          </p:nvSpPr>
          <p:spPr>
            <a:xfrm>
              <a:off x="6728459" y="4226050"/>
              <a:ext cx="149860" cy="149860"/>
            </a:xfrm>
            <a:custGeom>
              <a:avLst/>
              <a:gdLst/>
              <a:ahLst/>
              <a:cxnLst/>
              <a:rect l="l" t="t" r="r" b="b"/>
              <a:pathLst>
                <a:path w="149859" h="149860">
                  <a:moveTo>
                    <a:pt x="0" y="0"/>
                  </a:moveTo>
                  <a:lnTo>
                    <a:pt x="0" y="149352"/>
                  </a:lnTo>
                  <a:lnTo>
                    <a:pt x="149352" y="73152"/>
                  </a:lnTo>
                  <a:lnTo>
                    <a:pt x="0" y="0"/>
                  </a:lnTo>
                  <a:close/>
                </a:path>
              </a:pathLst>
            </a:custGeom>
            <a:solidFill>
              <a:srgbClr val="000000"/>
            </a:solidFill>
          </p:spPr>
          <p:txBody>
            <a:bodyPr wrap="square" lIns="0" tIns="0" rIns="0" bIns="0" rtlCol="0"/>
            <a:lstStyle/>
            <a:p>
              <a:pPr algn="l" rtl="0"/>
              <a:endParaRPr sz="100"/>
            </a:p>
          </p:txBody>
        </p:sp>
      </p:grpSp>
      <p:sp>
        <p:nvSpPr>
          <p:cNvPr id="15" name="object 15"/>
          <p:cNvSpPr txBox="1"/>
          <p:nvPr/>
        </p:nvSpPr>
        <p:spPr>
          <a:xfrm>
            <a:off x="4170829" y="4117040"/>
            <a:ext cx="680197"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latin typeface="Times New Roman" panose="02020603050405020304"/>
                <a:cs typeface="Times New Roman" panose="02020603050405020304"/>
              </a:rPr>
              <a:t>lysine</a:t>
            </a:r>
            <a:endParaRPr sz="2120">
              <a:latin typeface="Times New Roman" panose="02020603050405020304"/>
              <a:cs typeface="Times New Roman" panose="02020603050405020304"/>
            </a:endParaRPr>
          </a:p>
        </p:txBody>
      </p:sp>
      <p:sp>
        <p:nvSpPr>
          <p:cNvPr id="16" name="object 16"/>
          <p:cNvSpPr txBox="1"/>
          <p:nvPr/>
        </p:nvSpPr>
        <p:spPr>
          <a:xfrm>
            <a:off x="5932393" y="4117040"/>
            <a:ext cx="1568824"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latin typeface="Times New Roman" panose="02020603050405020304"/>
                <a:cs typeface="Times New Roman" panose="02020603050405020304"/>
              </a:rPr>
              <a:t>glutamic</a:t>
            </a:r>
            <a:r>
              <a:rPr sz="2120" b="1" spc="-9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acid</a:t>
            </a:r>
            <a:endParaRPr sz="2120">
              <a:latin typeface="Times New Roman" panose="02020603050405020304"/>
              <a:cs typeface="Times New Roman" panose="02020603050405020304"/>
            </a:endParaRPr>
          </a:p>
        </p:txBody>
      </p:sp>
      <p:grpSp>
        <p:nvGrpSpPr>
          <p:cNvPr id="17" name="object 17"/>
          <p:cNvGrpSpPr/>
          <p:nvPr/>
        </p:nvGrpSpPr>
        <p:grpSpPr>
          <a:xfrm>
            <a:off x="4990203" y="4266750"/>
            <a:ext cx="605118" cy="132229"/>
            <a:chOff x="5503163" y="4835650"/>
            <a:chExt cx="685800" cy="149860"/>
          </a:xfrm>
        </p:grpSpPr>
        <p:sp>
          <p:nvSpPr>
            <p:cNvPr id="18" name="object 18"/>
            <p:cNvSpPr/>
            <p:nvPr/>
          </p:nvSpPr>
          <p:spPr>
            <a:xfrm>
              <a:off x="5503163" y="490880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rtl="0"/>
              <a:endParaRPr sz="100"/>
            </a:p>
          </p:txBody>
        </p:sp>
        <p:sp>
          <p:nvSpPr>
            <p:cNvPr id="19" name="object 19"/>
            <p:cNvSpPr/>
            <p:nvPr/>
          </p:nvSpPr>
          <p:spPr>
            <a:xfrm>
              <a:off x="6042659" y="4835650"/>
              <a:ext cx="146685" cy="149860"/>
            </a:xfrm>
            <a:custGeom>
              <a:avLst/>
              <a:gdLst/>
              <a:ahLst/>
              <a:cxnLst/>
              <a:rect l="l" t="t" r="r" b="b"/>
              <a:pathLst>
                <a:path w="146685" h="149860">
                  <a:moveTo>
                    <a:pt x="0" y="0"/>
                  </a:moveTo>
                  <a:lnTo>
                    <a:pt x="0" y="149352"/>
                  </a:lnTo>
                  <a:lnTo>
                    <a:pt x="146303" y="73152"/>
                  </a:lnTo>
                  <a:lnTo>
                    <a:pt x="0" y="0"/>
                  </a:lnTo>
                  <a:close/>
                </a:path>
              </a:pathLst>
            </a:custGeom>
            <a:solidFill>
              <a:srgbClr val="000000"/>
            </a:solidFill>
          </p:spPr>
          <p:txBody>
            <a:bodyPr wrap="square" lIns="0" tIns="0" rIns="0" bIns="0" rtlCol="0"/>
            <a:lstStyle/>
            <a:p>
              <a:pPr algn="l" rtl="0"/>
              <a:endParaRPr sz="100"/>
            </a:p>
          </p:txBody>
        </p:sp>
      </p:grpSp>
      <p:sp>
        <p:nvSpPr>
          <p:cNvPr id="20" name="object 20"/>
          <p:cNvSpPr txBox="1"/>
          <p:nvPr/>
        </p:nvSpPr>
        <p:spPr>
          <a:xfrm>
            <a:off x="1010770" y="4977652"/>
            <a:ext cx="7305115" cy="671830"/>
          </a:xfrm>
          <a:prstGeom prst="rect">
            <a:avLst/>
          </a:prstGeom>
        </p:spPr>
        <p:txBody>
          <a:bodyPr vert="horz" wrap="square" lIns="0" tIns="560" rIns="0" bIns="0" rtlCol="0">
            <a:spAutoFit/>
          </a:bodyPr>
          <a:lstStyle/>
          <a:p>
            <a:pPr marL="88900" marR="5080" indent="-76200" algn="l" rtl="0">
              <a:lnSpc>
                <a:spcPct val="103000"/>
              </a:lnSpc>
              <a:spcBef>
                <a:spcPts val="5"/>
              </a:spcBef>
            </a:pPr>
            <a:r>
              <a:rPr sz="2120" b="1" spc="-5" dirty="0">
                <a:latin typeface="Times New Roman" panose="02020603050405020304"/>
                <a:cs typeface="Times New Roman" panose="02020603050405020304"/>
              </a:rPr>
              <a:t>Single</a:t>
            </a:r>
            <a:r>
              <a:rPr sz="2120" b="1" spc="-1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nucleotide</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codon</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6</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(glu</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to</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val)</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of</a:t>
            </a:r>
            <a:r>
              <a:rPr sz="2120" b="1" spc="-20" dirty="0">
                <a:latin typeface="Times New Roman" panose="02020603050405020304"/>
                <a:cs typeface="Times New Roman" panose="02020603050405020304"/>
              </a:rPr>
              <a:t> </a:t>
            </a:r>
            <a:r>
              <a:rPr sz="2120" b="1" dirty="0">
                <a:latin typeface="Symbol" panose="05050102010706020507"/>
                <a:cs typeface="Symbol" panose="05050102010706020507"/>
              </a:rPr>
              <a:t></a:t>
            </a:r>
            <a:r>
              <a:rPr sz="2120" b="1" dirty="0">
                <a:latin typeface="Times New Roman" panose="02020603050405020304"/>
                <a:cs typeface="Times New Roman" panose="02020603050405020304"/>
              </a:rPr>
              <a:t>-globin</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gene </a:t>
            </a:r>
            <a:r>
              <a:rPr sz="2120" b="1" spc="-58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leads</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to</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mutant</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form</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of</a:t>
            </a:r>
            <a:r>
              <a:rPr sz="2120" b="1" spc="-5" dirty="0">
                <a:latin typeface="Times New Roman" panose="02020603050405020304"/>
                <a:cs typeface="Times New Roman" panose="02020603050405020304"/>
              </a:rPr>
              <a:t> hemoglobin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and</a:t>
            </a:r>
            <a:r>
              <a:rPr sz="2120" b="1" spc="-5" dirty="0">
                <a:latin typeface="Times New Roman" panose="02020603050405020304"/>
                <a:cs typeface="Times New Roman" panose="02020603050405020304"/>
              </a:rPr>
              <a:t> sickle</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cell</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anemia.</a:t>
            </a:r>
            <a:endParaRPr sz="2120">
              <a:latin typeface="Times New Roman" panose="02020603050405020304"/>
              <a:cs typeface="Times New Roman" panose="02020603050405020304"/>
            </a:endParaRPr>
          </a:p>
        </p:txBody>
      </p:sp>
      <p:grpSp>
        <p:nvGrpSpPr>
          <p:cNvPr id="21" name="object 21"/>
          <p:cNvGrpSpPr/>
          <p:nvPr/>
        </p:nvGrpSpPr>
        <p:grpSpPr>
          <a:xfrm>
            <a:off x="5919394" y="1272090"/>
            <a:ext cx="2070847" cy="398368"/>
            <a:chOff x="6556247" y="1441702"/>
            <a:chExt cx="2346960" cy="451484"/>
          </a:xfrm>
        </p:grpSpPr>
        <p:sp>
          <p:nvSpPr>
            <p:cNvPr id="22" name="object 22"/>
            <p:cNvSpPr/>
            <p:nvPr/>
          </p:nvSpPr>
          <p:spPr>
            <a:xfrm>
              <a:off x="6556235" y="1716023"/>
              <a:ext cx="2346960" cy="177165"/>
            </a:xfrm>
            <a:custGeom>
              <a:avLst/>
              <a:gdLst/>
              <a:ahLst/>
              <a:cxnLst/>
              <a:rect l="l" t="t" r="r" b="b"/>
              <a:pathLst>
                <a:path w="2346959" h="177164">
                  <a:moveTo>
                    <a:pt x="316992" y="173736"/>
                  </a:moveTo>
                  <a:lnTo>
                    <a:pt x="262509" y="137160"/>
                  </a:lnTo>
                  <a:lnTo>
                    <a:pt x="235991" y="118872"/>
                  </a:lnTo>
                  <a:lnTo>
                    <a:pt x="210312" y="100584"/>
                  </a:lnTo>
                  <a:lnTo>
                    <a:pt x="246888" y="100584"/>
                  </a:lnTo>
                  <a:lnTo>
                    <a:pt x="262851" y="99923"/>
                  </a:lnTo>
                  <a:lnTo>
                    <a:pt x="273939" y="97536"/>
                  </a:lnTo>
                  <a:lnTo>
                    <a:pt x="279895" y="92875"/>
                  </a:lnTo>
                  <a:lnTo>
                    <a:pt x="280416" y="85344"/>
                  </a:lnTo>
                  <a:lnTo>
                    <a:pt x="275844" y="77876"/>
                  </a:lnTo>
                  <a:lnTo>
                    <a:pt x="234696" y="45720"/>
                  </a:lnTo>
                  <a:lnTo>
                    <a:pt x="198120" y="25146"/>
                  </a:lnTo>
                  <a:lnTo>
                    <a:pt x="192024" y="22288"/>
                  </a:lnTo>
                  <a:lnTo>
                    <a:pt x="192024" y="64008"/>
                  </a:lnTo>
                  <a:lnTo>
                    <a:pt x="185940" y="67056"/>
                  </a:lnTo>
                  <a:lnTo>
                    <a:pt x="158496" y="67056"/>
                  </a:lnTo>
                  <a:lnTo>
                    <a:pt x="103644" y="30480"/>
                  </a:lnTo>
                  <a:lnTo>
                    <a:pt x="121920" y="30480"/>
                  </a:lnTo>
                  <a:lnTo>
                    <a:pt x="130543" y="30530"/>
                  </a:lnTo>
                  <a:lnTo>
                    <a:pt x="138303" y="30861"/>
                  </a:lnTo>
                  <a:lnTo>
                    <a:pt x="145503" y="31775"/>
                  </a:lnTo>
                  <a:lnTo>
                    <a:pt x="152400" y="33528"/>
                  </a:lnTo>
                  <a:lnTo>
                    <a:pt x="159219" y="37630"/>
                  </a:lnTo>
                  <a:lnTo>
                    <a:pt x="165735" y="41148"/>
                  </a:lnTo>
                  <a:lnTo>
                    <a:pt x="171691" y="44678"/>
                  </a:lnTo>
                  <a:lnTo>
                    <a:pt x="176796" y="48768"/>
                  </a:lnTo>
                  <a:lnTo>
                    <a:pt x="185940" y="51816"/>
                  </a:lnTo>
                  <a:lnTo>
                    <a:pt x="188988" y="57912"/>
                  </a:lnTo>
                  <a:lnTo>
                    <a:pt x="188988" y="60960"/>
                  </a:lnTo>
                  <a:lnTo>
                    <a:pt x="192024" y="64008"/>
                  </a:lnTo>
                  <a:lnTo>
                    <a:pt x="192024" y="22288"/>
                  </a:lnTo>
                  <a:lnTo>
                    <a:pt x="145542" y="5143"/>
                  </a:lnTo>
                  <a:lnTo>
                    <a:pt x="97536" y="0"/>
                  </a:lnTo>
                  <a:lnTo>
                    <a:pt x="0" y="0"/>
                  </a:lnTo>
                  <a:lnTo>
                    <a:pt x="43167" y="30530"/>
                  </a:lnTo>
                  <a:lnTo>
                    <a:pt x="246888" y="173736"/>
                  </a:lnTo>
                  <a:lnTo>
                    <a:pt x="316992" y="173736"/>
                  </a:lnTo>
                  <a:close/>
                </a:path>
                <a:path w="2346959" h="177164">
                  <a:moveTo>
                    <a:pt x="533400" y="173736"/>
                  </a:moveTo>
                  <a:lnTo>
                    <a:pt x="512838" y="161836"/>
                  </a:lnTo>
                  <a:lnTo>
                    <a:pt x="471678" y="136880"/>
                  </a:lnTo>
                  <a:lnTo>
                    <a:pt x="451116" y="124968"/>
                  </a:lnTo>
                  <a:lnTo>
                    <a:pt x="407670" y="97917"/>
                  </a:lnTo>
                  <a:lnTo>
                    <a:pt x="384048" y="76200"/>
                  </a:lnTo>
                  <a:lnTo>
                    <a:pt x="384048" y="73152"/>
                  </a:lnTo>
                  <a:lnTo>
                    <a:pt x="396252" y="73152"/>
                  </a:lnTo>
                  <a:lnTo>
                    <a:pt x="402336" y="76200"/>
                  </a:lnTo>
                  <a:lnTo>
                    <a:pt x="414540" y="79248"/>
                  </a:lnTo>
                  <a:lnTo>
                    <a:pt x="403631" y="70154"/>
                  </a:lnTo>
                  <a:lnTo>
                    <a:pt x="384098" y="53111"/>
                  </a:lnTo>
                  <a:lnTo>
                    <a:pt x="374916" y="45720"/>
                  </a:lnTo>
                  <a:lnTo>
                    <a:pt x="362292" y="42202"/>
                  </a:lnTo>
                  <a:lnTo>
                    <a:pt x="351663" y="40386"/>
                  </a:lnTo>
                  <a:lnTo>
                    <a:pt x="342760" y="39725"/>
                  </a:lnTo>
                  <a:lnTo>
                    <a:pt x="326136" y="39624"/>
                  </a:lnTo>
                  <a:lnTo>
                    <a:pt x="326136" y="45720"/>
                  </a:lnTo>
                  <a:lnTo>
                    <a:pt x="329196" y="51816"/>
                  </a:lnTo>
                  <a:lnTo>
                    <a:pt x="338340" y="60960"/>
                  </a:lnTo>
                  <a:lnTo>
                    <a:pt x="323088" y="51435"/>
                  </a:lnTo>
                  <a:lnTo>
                    <a:pt x="315188" y="45961"/>
                  </a:lnTo>
                  <a:lnTo>
                    <a:pt x="307848" y="39624"/>
                  </a:lnTo>
                  <a:lnTo>
                    <a:pt x="256044" y="39624"/>
                  </a:lnTo>
                  <a:lnTo>
                    <a:pt x="295490" y="65278"/>
                  </a:lnTo>
                  <a:lnTo>
                    <a:pt x="336842" y="91224"/>
                  </a:lnTo>
                  <a:lnTo>
                    <a:pt x="424091" y="145161"/>
                  </a:lnTo>
                  <a:lnTo>
                    <a:pt x="469404" y="173736"/>
                  </a:lnTo>
                  <a:lnTo>
                    <a:pt x="533400" y="173736"/>
                  </a:lnTo>
                  <a:close/>
                </a:path>
                <a:path w="2346959" h="177164">
                  <a:moveTo>
                    <a:pt x="736663" y="165214"/>
                  </a:moveTo>
                  <a:lnTo>
                    <a:pt x="704850" y="131826"/>
                  </a:lnTo>
                  <a:lnTo>
                    <a:pt x="655320" y="103632"/>
                  </a:lnTo>
                  <a:lnTo>
                    <a:pt x="646188" y="98869"/>
                  </a:lnTo>
                  <a:lnTo>
                    <a:pt x="646188" y="137160"/>
                  </a:lnTo>
                  <a:lnTo>
                    <a:pt x="643140" y="140208"/>
                  </a:lnTo>
                  <a:lnTo>
                    <a:pt x="637032" y="140208"/>
                  </a:lnTo>
                  <a:lnTo>
                    <a:pt x="629564" y="139636"/>
                  </a:lnTo>
                  <a:lnTo>
                    <a:pt x="585406" y="125920"/>
                  </a:lnTo>
                  <a:lnTo>
                    <a:pt x="542544" y="103632"/>
                  </a:lnTo>
                  <a:lnTo>
                    <a:pt x="508685" y="82638"/>
                  </a:lnTo>
                  <a:lnTo>
                    <a:pt x="502920" y="79248"/>
                  </a:lnTo>
                  <a:lnTo>
                    <a:pt x="499872" y="73152"/>
                  </a:lnTo>
                  <a:lnTo>
                    <a:pt x="499872" y="70104"/>
                  </a:lnTo>
                  <a:lnTo>
                    <a:pt x="509028" y="70104"/>
                  </a:lnTo>
                  <a:lnTo>
                    <a:pt x="515975" y="70675"/>
                  </a:lnTo>
                  <a:lnTo>
                    <a:pt x="523494" y="72390"/>
                  </a:lnTo>
                  <a:lnTo>
                    <a:pt x="532168" y="75247"/>
                  </a:lnTo>
                  <a:lnTo>
                    <a:pt x="542544" y="79248"/>
                  </a:lnTo>
                  <a:lnTo>
                    <a:pt x="554545" y="82638"/>
                  </a:lnTo>
                  <a:lnTo>
                    <a:pt x="567690" y="88011"/>
                  </a:lnTo>
                  <a:lnTo>
                    <a:pt x="581977" y="95110"/>
                  </a:lnTo>
                  <a:lnTo>
                    <a:pt x="597408" y="103632"/>
                  </a:lnTo>
                  <a:lnTo>
                    <a:pt x="613511" y="112204"/>
                  </a:lnTo>
                  <a:lnTo>
                    <a:pt x="625602" y="119634"/>
                  </a:lnTo>
                  <a:lnTo>
                    <a:pt x="634276" y="125920"/>
                  </a:lnTo>
                  <a:lnTo>
                    <a:pt x="640092" y="131064"/>
                  </a:lnTo>
                  <a:lnTo>
                    <a:pt x="646188" y="137160"/>
                  </a:lnTo>
                  <a:lnTo>
                    <a:pt x="646188" y="98869"/>
                  </a:lnTo>
                  <a:lnTo>
                    <a:pt x="605028" y="78486"/>
                  </a:lnTo>
                  <a:lnTo>
                    <a:pt x="554736" y="57912"/>
                  </a:lnTo>
                  <a:lnTo>
                    <a:pt x="498348" y="44196"/>
                  </a:lnTo>
                  <a:lnTo>
                    <a:pt x="451116" y="39624"/>
                  </a:lnTo>
                  <a:lnTo>
                    <a:pt x="435673" y="40297"/>
                  </a:lnTo>
                  <a:lnTo>
                    <a:pt x="425958" y="42672"/>
                  </a:lnTo>
                  <a:lnTo>
                    <a:pt x="421957" y="47345"/>
                  </a:lnTo>
                  <a:lnTo>
                    <a:pt x="423672" y="54864"/>
                  </a:lnTo>
                  <a:lnTo>
                    <a:pt x="460540" y="88734"/>
                  </a:lnTo>
                  <a:lnTo>
                    <a:pt x="513168" y="119062"/>
                  </a:lnTo>
                  <a:lnTo>
                    <a:pt x="575932" y="146494"/>
                  </a:lnTo>
                  <a:lnTo>
                    <a:pt x="636371" y="166497"/>
                  </a:lnTo>
                  <a:lnTo>
                    <a:pt x="684187" y="175641"/>
                  </a:lnTo>
                  <a:lnTo>
                    <a:pt x="704088" y="176784"/>
                  </a:lnTo>
                  <a:lnTo>
                    <a:pt x="722960" y="175602"/>
                  </a:lnTo>
                  <a:lnTo>
                    <a:pt x="733806" y="171831"/>
                  </a:lnTo>
                  <a:lnTo>
                    <a:pt x="736663" y="165214"/>
                  </a:lnTo>
                  <a:close/>
                </a:path>
                <a:path w="2346959" h="177164">
                  <a:moveTo>
                    <a:pt x="893076" y="27432"/>
                  </a:moveTo>
                  <a:lnTo>
                    <a:pt x="876592" y="20574"/>
                  </a:lnTo>
                  <a:lnTo>
                    <a:pt x="842492" y="6858"/>
                  </a:lnTo>
                  <a:lnTo>
                    <a:pt x="826008" y="0"/>
                  </a:lnTo>
                  <a:lnTo>
                    <a:pt x="774204" y="0"/>
                  </a:lnTo>
                  <a:lnTo>
                    <a:pt x="838200" y="27432"/>
                  </a:lnTo>
                  <a:lnTo>
                    <a:pt x="893076" y="27432"/>
                  </a:lnTo>
                  <a:close/>
                </a:path>
                <a:path w="2346959" h="177164">
                  <a:moveTo>
                    <a:pt x="932688" y="173736"/>
                  </a:moveTo>
                  <a:lnTo>
                    <a:pt x="910361" y="162839"/>
                  </a:lnTo>
                  <a:lnTo>
                    <a:pt x="888873" y="152781"/>
                  </a:lnTo>
                  <a:lnTo>
                    <a:pt x="847344" y="134112"/>
                  </a:lnTo>
                  <a:lnTo>
                    <a:pt x="844296" y="137160"/>
                  </a:lnTo>
                  <a:lnTo>
                    <a:pt x="826008" y="137160"/>
                  </a:lnTo>
                  <a:lnTo>
                    <a:pt x="816876" y="134112"/>
                  </a:lnTo>
                  <a:lnTo>
                    <a:pt x="805827" y="129159"/>
                  </a:lnTo>
                  <a:lnTo>
                    <a:pt x="799299" y="125971"/>
                  </a:lnTo>
                  <a:lnTo>
                    <a:pt x="792492" y="121920"/>
                  </a:lnTo>
                  <a:lnTo>
                    <a:pt x="767867" y="110070"/>
                  </a:lnTo>
                  <a:lnTo>
                    <a:pt x="720902" y="86347"/>
                  </a:lnTo>
                  <a:lnTo>
                    <a:pt x="698004" y="76200"/>
                  </a:lnTo>
                  <a:lnTo>
                    <a:pt x="728472" y="76200"/>
                  </a:lnTo>
                  <a:lnTo>
                    <a:pt x="710666" y="67056"/>
                  </a:lnTo>
                  <a:lnTo>
                    <a:pt x="676186" y="48768"/>
                  </a:lnTo>
                  <a:lnTo>
                    <a:pt x="658380" y="39624"/>
                  </a:lnTo>
                  <a:lnTo>
                    <a:pt x="630936" y="39624"/>
                  </a:lnTo>
                  <a:lnTo>
                    <a:pt x="608609" y="30010"/>
                  </a:lnTo>
                  <a:lnTo>
                    <a:pt x="566216" y="9626"/>
                  </a:lnTo>
                  <a:lnTo>
                    <a:pt x="545604" y="0"/>
                  </a:lnTo>
                  <a:lnTo>
                    <a:pt x="542544" y="6096"/>
                  </a:lnTo>
                  <a:lnTo>
                    <a:pt x="536448" y="12192"/>
                  </a:lnTo>
                  <a:lnTo>
                    <a:pt x="533400" y="21336"/>
                  </a:lnTo>
                  <a:lnTo>
                    <a:pt x="576072" y="39624"/>
                  </a:lnTo>
                  <a:lnTo>
                    <a:pt x="554736" y="39624"/>
                  </a:lnTo>
                  <a:lnTo>
                    <a:pt x="618744" y="76200"/>
                  </a:lnTo>
                  <a:lnTo>
                    <a:pt x="640092" y="76200"/>
                  </a:lnTo>
                  <a:lnTo>
                    <a:pt x="662940" y="85915"/>
                  </a:lnTo>
                  <a:lnTo>
                    <a:pt x="685800" y="96774"/>
                  </a:lnTo>
                  <a:lnTo>
                    <a:pt x="708660" y="108775"/>
                  </a:lnTo>
                  <a:lnTo>
                    <a:pt x="731520" y="121920"/>
                  </a:lnTo>
                  <a:lnTo>
                    <a:pt x="753237" y="132740"/>
                  </a:lnTo>
                  <a:lnTo>
                    <a:pt x="789813" y="149783"/>
                  </a:lnTo>
                  <a:lnTo>
                    <a:pt x="829056" y="164211"/>
                  </a:lnTo>
                  <a:lnTo>
                    <a:pt x="853452" y="170688"/>
                  </a:lnTo>
                  <a:lnTo>
                    <a:pt x="863155" y="174218"/>
                  </a:lnTo>
                  <a:lnTo>
                    <a:pt x="874014" y="176022"/>
                  </a:lnTo>
                  <a:lnTo>
                    <a:pt x="886015" y="176695"/>
                  </a:lnTo>
                  <a:lnTo>
                    <a:pt x="908265" y="176745"/>
                  </a:lnTo>
                  <a:lnTo>
                    <a:pt x="917067" y="176403"/>
                  </a:lnTo>
                  <a:lnTo>
                    <a:pt x="925309" y="175501"/>
                  </a:lnTo>
                  <a:lnTo>
                    <a:pt x="932688" y="173736"/>
                  </a:lnTo>
                  <a:close/>
                </a:path>
                <a:path w="2346959" h="177164">
                  <a:moveTo>
                    <a:pt x="1088136" y="167640"/>
                  </a:moveTo>
                  <a:lnTo>
                    <a:pt x="1051560" y="137160"/>
                  </a:lnTo>
                  <a:lnTo>
                    <a:pt x="1000988" y="132880"/>
                  </a:lnTo>
                  <a:lnTo>
                    <a:pt x="984516" y="131064"/>
                  </a:lnTo>
                  <a:lnTo>
                    <a:pt x="993648" y="140208"/>
                  </a:lnTo>
                  <a:lnTo>
                    <a:pt x="993648" y="143256"/>
                  </a:lnTo>
                  <a:lnTo>
                    <a:pt x="984516" y="143256"/>
                  </a:lnTo>
                  <a:lnTo>
                    <a:pt x="976553" y="142684"/>
                  </a:lnTo>
                  <a:lnTo>
                    <a:pt x="966597" y="140970"/>
                  </a:lnTo>
                  <a:lnTo>
                    <a:pt x="954938" y="138112"/>
                  </a:lnTo>
                  <a:lnTo>
                    <a:pt x="941832" y="134112"/>
                  </a:lnTo>
                  <a:lnTo>
                    <a:pt x="931646" y="131254"/>
                  </a:lnTo>
                  <a:lnTo>
                    <a:pt x="919734" y="127254"/>
                  </a:lnTo>
                  <a:lnTo>
                    <a:pt x="906691" y="122110"/>
                  </a:lnTo>
                  <a:lnTo>
                    <a:pt x="893076" y="115824"/>
                  </a:lnTo>
                  <a:lnTo>
                    <a:pt x="1011936" y="115824"/>
                  </a:lnTo>
                  <a:lnTo>
                    <a:pt x="1005852" y="112776"/>
                  </a:lnTo>
                  <a:lnTo>
                    <a:pt x="1002804" y="112776"/>
                  </a:lnTo>
                  <a:lnTo>
                    <a:pt x="996696" y="109728"/>
                  </a:lnTo>
                  <a:lnTo>
                    <a:pt x="969416" y="97116"/>
                  </a:lnTo>
                  <a:lnTo>
                    <a:pt x="955306" y="91440"/>
                  </a:lnTo>
                  <a:lnTo>
                    <a:pt x="942975" y="86487"/>
                  </a:lnTo>
                  <a:lnTo>
                    <a:pt x="918260" y="77584"/>
                  </a:lnTo>
                  <a:lnTo>
                    <a:pt x="899160" y="71145"/>
                  </a:lnTo>
                  <a:lnTo>
                    <a:pt x="899160" y="91440"/>
                  </a:lnTo>
                  <a:lnTo>
                    <a:pt x="841248" y="91440"/>
                  </a:lnTo>
                  <a:lnTo>
                    <a:pt x="804672" y="67056"/>
                  </a:lnTo>
                  <a:lnTo>
                    <a:pt x="804672" y="64008"/>
                  </a:lnTo>
                  <a:lnTo>
                    <a:pt x="813828" y="64008"/>
                  </a:lnTo>
                  <a:lnTo>
                    <a:pt x="820724" y="64541"/>
                  </a:lnTo>
                  <a:lnTo>
                    <a:pt x="827913" y="65913"/>
                  </a:lnTo>
                  <a:lnTo>
                    <a:pt x="844296" y="70104"/>
                  </a:lnTo>
                  <a:lnTo>
                    <a:pt x="868299" y="79629"/>
                  </a:lnTo>
                  <a:lnTo>
                    <a:pt x="899160" y="91440"/>
                  </a:lnTo>
                  <a:lnTo>
                    <a:pt x="899160" y="71145"/>
                  </a:lnTo>
                  <a:lnTo>
                    <a:pt x="896112" y="70104"/>
                  </a:lnTo>
                  <a:lnTo>
                    <a:pt x="880668" y="64008"/>
                  </a:lnTo>
                  <a:lnTo>
                    <a:pt x="835685" y="50393"/>
                  </a:lnTo>
                  <a:lnTo>
                    <a:pt x="784860" y="40386"/>
                  </a:lnTo>
                  <a:lnTo>
                    <a:pt x="752856" y="39624"/>
                  </a:lnTo>
                  <a:lnTo>
                    <a:pt x="737527" y="40297"/>
                  </a:lnTo>
                  <a:lnTo>
                    <a:pt x="728472" y="42672"/>
                  </a:lnTo>
                  <a:lnTo>
                    <a:pt x="726287" y="47345"/>
                  </a:lnTo>
                  <a:lnTo>
                    <a:pt x="731520" y="54864"/>
                  </a:lnTo>
                  <a:lnTo>
                    <a:pt x="779106" y="88734"/>
                  </a:lnTo>
                  <a:lnTo>
                    <a:pt x="830630" y="114541"/>
                  </a:lnTo>
                  <a:lnTo>
                    <a:pt x="877595" y="134073"/>
                  </a:lnTo>
                  <a:lnTo>
                    <a:pt x="924496" y="151790"/>
                  </a:lnTo>
                  <a:lnTo>
                    <a:pt x="965644" y="164261"/>
                  </a:lnTo>
                  <a:lnTo>
                    <a:pt x="984516" y="167640"/>
                  </a:lnTo>
                  <a:lnTo>
                    <a:pt x="1002753" y="171640"/>
                  </a:lnTo>
                  <a:lnTo>
                    <a:pt x="1020699" y="174498"/>
                  </a:lnTo>
                  <a:lnTo>
                    <a:pt x="1038085" y="176212"/>
                  </a:lnTo>
                  <a:lnTo>
                    <a:pt x="1054608" y="176784"/>
                  </a:lnTo>
                  <a:lnTo>
                    <a:pt x="1070571" y="176212"/>
                  </a:lnTo>
                  <a:lnTo>
                    <a:pt x="1081659" y="174498"/>
                  </a:lnTo>
                  <a:lnTo>
                    <a:pt x="1087615" y="171640"/>
                  </a:lnTo>
                  <a:lnTo>
                    <a:pt x="1088136" y="167640"/>
                  </a:lnTo>
                  <a:close/>
                </a:path>
                <a:path w="2346959" h="177164">
                  <a:moveTo>
                    <a:pt x="1234452" y="173736"/>
                  </a:moveTo>
                  <a:lnTo>
                    <a:pt x="964603" y="57937"/>
                  </a:lnTo>
                  <a:lnTo>
                    <a:pt x="923544" y="39624"/>
                  </a:lnTo>
                  <a:lnTo>
                    <a:pt x="871740" y="39624"/>
                  </a:lnTo>
                  <a:lnTo>
                    <a:pt x="911479" y="57937"/>
                  </a:lnTo>
                  <a:lnTo>
                    <a:pt x="952347" y="76352"/>
                  </a:lnTo>
                  <a:lnTo>
                    <a:pt x="1173492" y="173736"/>
                  </a:lnTo>
                  <a:lnTo>
                    <a:pt x="1234452" y="173736"/>
                  </a:lnTo>
                  <a:close/>
                </a:path>
                <a:path w="2346959" h="177164">
                  <a:moveTo>
                    <a:pt x="1444764" y="173736"/>
                  </a:moveTo>
                  <a:lnTo>
                    <a:pt x="1397914" y="155473"/>
                  </a:lnTo>
                  <a:lnTo>
                    <a:pt x="1222248" y="85344"/>
                  </a:lnTo>
                  <a:lnTo>
                    <a:pt x="1164717" y="64770"/>
                  </a:lnTo>
                  <a:lnTo>
                    <a:pt x="1118628" y="48768"/>
                  </a:lnTo>
                  <a:lnTo>
                    <a:pt x="1067181" y="40195"/>
                  </a:lnTo>
                  <a:lnTo>
                    <a:pt x="1054608" y="39624"/>
                  </a:lnTo>
                  <a:lnTo>
                    <a:pt x="1039380" y="39624"/>
                  </a:lnTo>
                  <a:lnTo>
                    <a:pt x="1039380" y="42672"/>
                  </a:lnTo>
                  <a:lnTo>
                    <a:pt x="1040523" y="45529"/>
                  </a:lnTo>
                  <a:lnTo>
                    <a:pt x="1043952" y="49530"/>
                  </a:lnTo>
                  <a:lnTo>
                    <a:pt x="1049655" y="54673"/>
                  </a:lnTo>
                  <a:lnTo>
                    <a:pt x="1057656" y="60960"/>
                  </a:lnTo>
                  <a:lnTo>
                    <a:pt x="1034415" y="51435"/>
                  </a:lnTo>
                  <a:lnTo>
                    <a:pt x="1022083" y="45961"/>
                  </a:lnTo>
                  <a:lnTo>
                    <a:pt x="1008888" y="39624"/>
                  </a:lnTo>
                  <a:lnTo>
                    <a:pt x="960120" y="39624"/>
                  </a:lnTo>
                  <a:lnTo>
                    <a:pt x="1001344" y="57937"/>
                  </a:lnTo>
                  <a:lnTo>
                    <a:pt x="1043965" y="76352"/>
                  </a:lnTo>
                  <a:lnTo>
                    <a:pt x="1226134" y="153200"/>
                  </a:lnTo>
                  <a:lnTo>
                    <a:pt x="1274076" y="173736"/>
                  </a:lnTo>
                  <a:lnTo>
                    <a:pt x="1335024" y="173736"/>
                  </a:lnTo>
                  <a:lnTo>
                    <a:pt x="1293456" y="155981"/>
                  </a:lnTo>
                  <a:lnTo>
                    <a:pt x="1251585" y="139065"/>
                  </a:lnTo>
                  <a:lnTo>
                    <a:pt x="1210297" y="122732"/>
                  </a:lnTo>
                  <a:lnTo>
                    <a:pt x="1170432" y="106680"/>
                  </a:lnTo>
                  <a:lnTo>
                    <a:pt x="1151623" y="98158"/>
                  </a:lnTo>
                  <a:lnTo>
                    <a:pt x="1136523" y="91059"/>
                  </a:lnTo>
                  <a:lnTo>
                    <a:pt x="1118628" y="82296"/>
                  </a:lnTo>
                  <a:lnTo>
                    <a:pt x="1112520" y="76200"/>
                  </a:lnTo>
                  <a:lnTo>
                    <a:pt x="1112520" y="73152"/>
                  </a:lnTo>
                  <a:lnTo>
                    <a:pt x="1118628" y="73152"/>
                  </a:lnTo>
                  <a:lnTo>
                    <a:pt x="1123759" y="73685"/>
                  </a:lnTo>
                  <a:lnTo>
                    <a:pt x="1165491" y="86106"/>
                  </a:lnTo>
                  <a:lnTo>
                    <a:pt x="1191780" y="97536"/>
                  </a:lnTo>
                  <a:lnTo>
                    <a:pt x="1334071" y="153695"/>
                  </a:lnTo>
                  <a:lnTo>
                    <a:pt x="1383804" y="173736"/>
                  </a:lnTo>
                  <a:lnTo>
                    <a:pt x="1444764" y="173736"/>
                  </a:lnTo>
                  <a:close/>
                </a:path>
                <a:path w="2346959" h="177164">
                  <a:moveTo>
                    <a:pt x="1652028" y="173736"/>
                  </a:moveTo>
                  <a:lnTo>
                    <a:pt x="1598790" y="154724"/>
                  </a:lnTo>
                  <a:lnTo>
                    <a:pt x="1447342" y="99860"/>
                  </a:lnTo>
                  <a:lnTo>
                    <a:pt x="1176540" y="0"/>
                  </a:lnTo>
                  <a:lnTo>
                    <a:pt x="1124712" y="0"/>
                  </a:lnTo>
                  <a:lnTo>
                    <a:pt x="1389380" y="99860"/>
                  </a:lnTo>
                  <a:lnTo>
                    <a:pt x="1588008" y="173736"/>
                  </a:lnTo>
                  <a:lnTo>
                    <a:pt x="1652028" y="173736"/>
                  </a:lnTo>
                  <a:close/>
                </a:path>
                <a:path w="2346959" h="177164">
                  <a:moveTo>
                    <a:pt x="1817852" y="171640"/>
                  </a:moveTo>
                  <a:lnTo>
                    <a:pt x="1779752" y="146215"/>
                  </a:lnTo>
                  <a:lnTo>
                    <a:pt x="1740408" y="135356"/>
                  </a:lnTo>
                  <a:lnTo>
                    <a:pt x="1703832" y="132880"/>
                  </a:lnTo>
                  <a:lnTo>
                    <a:pt x="1685544" y="131064"/>
                  </a:lnTo>
                  <a:lnTo>
                    <a:pt x="1697736" y="137160"/>
                  </a:lnTo>
                  <a:lnTo>
                    <a:pt x="1700784" y="140208"/>
                  </a:lnTo>
                  <a:lnTo>
                    <a:pt x="1700784" y="143256"/>
                  </a:lnTo>
                  <a:lnTo>
                    <a:pt x="1694688" y="143256"/>
                  </a:lnTo>
                  <a:lnTo>
                    <a:pt x="1686217" y="142684"/>
                  </a:lnTo>
                  <a:lnTo>
                    <a:pt x="1674876" y="140970"/>
                  </a:lnTo>
                  <a:lnTo>
                    <a:pt x="1661261" y="138112"/>
                  </a:lnTo>
                  <a:lnTo>
                    <a:pt x="1645920" y="134112"/>
                  </a:lnTo>
                  <a:lnTo>
                    <a:pt x="1632115" y="131254"/>
                  </a:lnTo>
                  <a:lnTo>
                    <a:pt x="1617726" y="127254"/>
                  </a:lnTo>
                  <a:lnTo>
                    <a:pt x="1602206" y="122110"/>
                  </a:lnTo>
                  <a:lnTo>
                    <a:pt x="1584960" y="115824"/>
                  </a:lnTo>
                  <a:lnTo>
                    <a:pt x="1700784" y="115824"/>
                  </a:lnTo>
                  <a:lnTo>
                    <a:pt x="1694688" y="112776"/>
                  </a:lnTo>
                  <a:lnTo>
                    <a:pt x="1691652" y="112776"/>
                  </a:lnTo>
                  <a:lnTo>
                    <a:pt x="1685544" y="109728"/>
                  </a:lnTo>
                  <a:lnTo>
                    <a:pt x="1648358" y="97116"/>
                  </a:lnTo>
                  <a:lnTo>
                    <a:pt x="1630184" y="91440"/>
                  </a:lnTo>
                  <a:lnTo>
                    <a:pt x="1614297" y="86487"/>
                  </a:lnTo>
                  <a:lnTo>
                    <a:pt x="1583105" y="77584"/>
                  </a:lnTo>
                  <a:lnTo>
                    <a:pt x="1572768" y="74891"/>
                  </a:lnTo>
                  <a:lnTo>
                    <a:pt x="1572768" y="91440"/>
                  </a:lnTo>
                  <a:lnTo>
                    <a:pt x="1514856" y="91440"/>
                  </a:lnTo>
                  <a:lnTo>
                    <a:pt x="1501813" y="86868"/>
                  </a:lnTo>
                  <a:lnTo>
                    <a:pt x="1490472" y="82296"/>
                  </a:lnTo>
                  <a:lnTo>
                    <a:pt x="1481429" y="77724"/>
                  </a:lnTo>
                  <a:lnTo>
                    <a:pt x="1475232" y="73152"/>
                  </a:lnTo>
                  <a:lnTo>
                    <a:pt x="1467853" y="69151"/>
                  </a:lnTo>
                  <a:lnTo>
                    <a:pt x="1464183" y="66294"/>
                  </a:lnTo>
                  <a:lnTo>
                    <a:pt x="1464525" y="64579"/>
                  </a:lnTo>
                  <a:lnTo>
                    <a:pt x="1469136" y="64008"/>
                  </a:lnTo>
                  <a:lnTo>
                    <a:pt x="1476565" y="64541"/>
                  </a:lnTo>
                  <a:lnTo>
                    <a:pt x="1485138" y="65913"/>
                  </a:lnTo>
                  <a:lnTo>
                    <a:pt x="1505712" y="70104"/>
                  </a:lnTo>
                  <a:lnTo>
                    <a:pt x="1518335" y="74726"/>
                  </a:lnTo>
                  <a:lnTo>
                    <a:pt x="1533525" y="79629"/>
                  </a:lnTo>
                  <a:lnTo>
                    <a:pt x="1572768" y="91440"/>
                  </a:lnTo>
                  <a:lnTo>
                    <a:pt x="1572768" y="74891"/>
                  </a:lnTo>
                  <a:lnTo>
                    <a:pt x="1554492" y="70104"/>
                  </a:lnTo>
                  <a:lnTo>
                    <a:pt x="1534655" y="64008"/>
                  </a:lnTo>
                  <a:lnTo>
                    <a:pt x="1481188" y="50393"/>
                  </a:lnTo>
                  <a:lnTo>
                    <a:pt x="1441754" y="42202"/>
                  </a:lnTo>
                  <a:lnTo>
                    <a:pt x="1389888" y="39624"/>
                  </a:lnTo>
                  <a:lnTo>
                    <a:pt x="1375600" y="40297"/>
                  </a:lnTo>
                  <a:lnTo>
                    <a:pt x="1369314" y="42672"/>
                  </a:lnTo>
                  <a:lnTo>
                    <a:pt x="1371028" y="47345"/>
                  </a:lnTo>
                  <a:lnTo>
                    <a:pt x="1420749" y="75819"/>
                  </a:lnTo>
                  <a:lnTo>
                    <a:pt x="1490472" y="103632"/>
                  </a:lnTo>
                  <a:lnTo>
                    <a:pt x="1549908" y="124587"/>
                  </a:lnTo>
                  <a:lnTo>
                    <a:pt x="1609344" y="143256"/>
                  </a:lnTo>
                  <a:lnTo>
                    <a:pt x="1665732" y="158877"/>
                  </a:lnTo>
                  <a:lnTo>
                    <a:pt x="1712988" y="167640"/>
                  </a:lnTo>
                  <a:lnTo>
                    <a:pt x="1732978" y="171640"/>
                  </a:lnTo>
                  <a:lnTo>
                    <a:pt x="1751838" y="174498"/>
                  </a:lnTo>
                  <a:lnTo>
                    <a:pt x="1769567" y="176212"/>
                  </a:lnTo>
                  <a:lnTo>
                    <a:pt x="1786140" y="176784"/>
                  </a:lnTo>
                  <a:lnTo>
                    <a:pt x="1802041" y="176212"/>
                  </a:lnTo>
                  <a:lnTo>
                    <a:pt x="1812798" y="174498"/>
                  </a:lnTo>
                  <a:lnTo>
                    <a:pt x="1817852" y="171640"/>
                  </a:lnTo>
                  <a:close/>
                </a:path>
                <a:path w="2346959" h="177164">
                  <a:moveTo>
                    <a:pt x="1996452" y="173736"/>
                  </a:moveTo>
                  <a:lnTo>
                    <a:pt x="1745094" y="76352"/>
                  </a:lnTo>
                  <a:lnTo>
                    <a:pt x="1652028" y="39624"/>
                  </a:lnTo>
                  <a:lnTo>
                    <a:pt x="1597164" y="39624"/>
                  </a:lnTo>
                  <a:lnTo>
                    <a:pt x="1637779" y="56083"/>
                  </a:lnTo>
                  <a:lnTo>
                    <a:pt x="1679282" y="72542"/>
                  </a:lnTo>
                  <a:lnTo>
                    <a:pt x="1721815" y="89001"/>
                  </a:lnTo>
                  <a:lnTo>
                    <a:pt x="1765503" y="105460"/>
                  </a:lnTo>
                  <a:lnTo>
                    <a:pt x="1810512" y="121920"/>
                  </a:lnTo>
                  <a:lnTo>
                    <a:pt x="1763763" y="108204"/>
                  </a:lnTo>
                  <a:lnTo>
                    <a:pt x="1717954" y="94488"/>
                  </a:lnTo>
                  <a:lnTo>
                    <a:pt x="1628762" y="67056"/>
                  </a:lnTo>
                  <a:lnTo>
                    <a:pt x="1542288" y="39624"/>
                  </a:lnTo>
                  <a:lnTo>
                    <a:pt x="1484388" y="39624"/>
                  </a:lnTo>
                  <a:lnTo>
                    <a:pt x="1579664" y="68148"/>
                  </a:lnTo>
                  <a:lnTo>
                    <a:pt x="1941588" y="173736"/>
                  </a:lnTo>
                  <a:lnTo>
                    <a:pt x="1996452" y="173736"/>
                  </a:lnTo>
                  <a:close/>
                </a:path>
                <a:path w="2346959" h="177164">
                  <a:moveTo>
                    <a:pt x="2201087" y="171640"/>
                  </a:moveTo>
                  <a:lnTo>
                    <a:pt x="2153894" y="146215"/>
                  </a:lnTo>
                  <a:lnTo>
                    <a:pt x="2109178" y="135356"/>
                  </a:lnTo>
                  <a:lnTo>
                    <a:pt x="2071357" y="132880"/>
                  </a:lnTo>
                  <a:lnTo>
                    <a:pt x="2051316" y="131064"/>
                  </a:lnTo>
                  <a:lnTo>
                    <a:pt x="2063496" y="134112"/>
                  </a:lnTo>
                  <a:lnTo>
                    <a:pt x="2069604" y="137160"/>
                  </a:lnTo>
                  <a:lnTo>
                    <a:pt x="2069604" y="140208"/>
                  </a:lnTo>
                  <a:lnTo>
                    <a:pt x="2075688" y="143256"/>
                  </a:lnTo>
                  <a:lnTo>
                    <a:pt x="2066544" y="143256"/>
                  </a:lnTo>
                  <a:lnTo>
                    <a:pt x="2058022" y="142684"/>
                  </a:lnTo>
                  <a:lnTo>
                    <a:pt x="2046351" y="140970"/>
                  </a:lnTo>
                  <a:lnTo>
                    <a:pt x="2031834" y="138112"/>
                  </a:lnTo>
                  <a:lnTo>
                    <a:pt x="2014740" y="134112"/>
                  </a:lnTo>
                  <a:lnTo>
                    <a:pt x="2000402" y="131254"/>
                  </a:lnTo>
                  <a:lnTo>
                    <a:pt x="1984641" y="127254"/>
                  </a:lnTo>
                  <a:lnTo>
                    <a:pt x="1967153" y="122110"/>
                  </a:lnTo>
                  <a:lnTo>
                    <a:pt x="1947672" y="115824"/>
                  </a:lnTo>
                  <a:lnTo>
                    <a:pt x="2063496" y="115824"/>
                  </a:lnTo>
                  <a:lnTo>
                    <a:pt x="2057400" y="112776"/>
                  </a:lnTo>
                  <a:lnTo>
                    <a:pt x="2051316" y="112776"/>
                  </a:lnTo>
                  <a:lnTo>
                    <a:pt x="2045208" y="109728"/>
                  </a:lnTo>
                  <a:lnTo>
                    <a:pt x="2003488" y="97116"/>
                  </a:lnTo>
                  <a:lnTo>
                    <a:pt x="1983066" y="91440"/>
                  </a:lnTo>
                  <a:lnTo>
                    <a:pt x="1965198" y="86487"/>
                  </a:lnTo>
                  <a:lnTo>
                    <a:pt x="1930336" y="77584"/>
                  </a:lnTo>
                  <a:lnTo>
                    <a:pt x="1926336" y="76644"/>
                  </a:lnTo>
                  <a:lnTo>
                    <a:pt x="1926336" y="91440"/>
                  </a:lnTo>
                  <a:lnTo>
                    <a:pt x="1868424" y="91440"/>
                  </a:lnTo>
                  <a:lnTo>
                    <a:pt x="1853565" y="86868"/>
                  </a:lnTo>
                  <a:lnTo>
                    <a:pt x="1840992" y="82296"/>
                  </a:lnTo>
                  <a:lnTo>
                    <a:pt x="1830705" y="77724"/>
                  </a:lnTo>
                  <a:lnTo>
                    <a:pt x="1822716" y="73152"/>
                  </a:lnTo>
                  <a:lnTo>
                    <a:pt x="1807476" y="67056"/>
                  </a:lnTo>
                  <a:lnTo>
                    <a:pt x="1807476" y="64008"/>
                  </a:lnTo>
                  <a:lnTo>
                    <a:pt x="1813560" y="64008"/>
                  </a:lnTo>
                  <a:lnTo>
                    <a:pt x="1821040" y="64541"/>
                  </a:lnTo>
                  <a:lnTo>
                    <a:pt x="1829943" y="65913"/>
                  </a:lnTo>
                  <a:lnTo>
                    <a:pt x="1853184" y="70104"/>
                  </a:lnTo>
                  <a:lnTo>
                    <a:pt x="1868043" y="74726"/>
                  </a:lnTo>
                  <a:lnTo>
                    <a:pt x="1926336" y="91440"/>
                  </a:lnTo>
                  <a:lnTo>
                    <a:pt x="1926336" y="76644"/>
                  </a:lnTo>
                  <a:lnTo>
                    <a:pt x="1898916" y="70104"/>
                  </a:lnTo>
                  <a:lnTo>
                    <a:pt x="1878685" y="64008"/>
                  </a:lnTo>
                  <a:lnTo>
                    <a:pt x="1821751" y="50393"/>
                  </a:lnTo>
                  <a:lnTo>
                    <a:pt x="1778317" y="42202"/>
                  </a:lnTo>
                  <a:lnTo>
                    <a:pt x="1725168" y="39624"/>
                  </a:lnTo>
                  <a:lnTo>
                    <a:pt x="1710982" y="40297"/>
                  </a:lnTo>
                  <a:lnTo>
                    <a:pt x="1705356" y="42672"/>
                  </a:lnTo>
                  <a:lnTo>
                    <a:pt x="1708886" y="47345"/>
                  </a:lnTo>
                  <a:lnTo>
                    <a:pt x="1769745" y="75819"/>
                  </a:lnTo>
                  <a:lnTo>
                    <a:pt x="1847088" y="103632"/>
                  </a:lnTo>
                  <a:lnTo>
                    <a:pt x="1915287" y="124587"/>
                  </a:lnTo>
                  <a:lnTo>
                    <a:pt x="1981200" y="143256"/>
                  </a:lnTo>
                  <a:lnTo>
                    <a:pt x="2043303" y="158877"/>
                  </a:lnTo>
                  <a:lnTo>
                    <a:pt x="2093988" y="167640"/>
                  </a:lnTo>
                  <a:lnTo>
                    <a:pt x="2115794" y="171640"/>
                  </a:lnTo>
                  <a:lnTo>
                    <a:pt x="2135886" y="174498"/>
                  </a:lnTo>
                  <a:lnTo>
                    <a:pt x="2154847" y="176212"/>
                  </a:lnTo>
                  <a:lnTo>
                    <a:pt x="2173224" y="176784"/>
                  </a:lnTo>
                  <a:lnTo>
                    <a:pt x="2188616" y="176212"/>
                  </a:lnTo>
                  <a:lnTo>
                    <a:pt x="2197989" y="174498"/>
                  </a:lnTo>
                  <a:lnTo>
                    <a:pt x="2201087" y="171640"/>
                  </a:lnTo>
                  <a:close/>
                </a:path>
                <a:path w="2346959" h="177164">
                  <a:moveTo>
                    <a:pt x="2346960" y="173736"/>
                  </a:moveTo>
                  <a:lnTo>
                    <a:pt x="2239251" y="142240"/>
                  </a:lnTo>
                  <a:lnTo>
                    <a:pt x="1758696" y="0"/>
                  </a:lnTo>
                  <a:lnTo>
                    <a:pt x="1706892" y="0"/>
                  </a:lnTo>
                  <a:lnTo>
                    <a:pt x="1838947" y="40005"/>
                  </a:lnTo>
                  <a:lnTo>
                    <a:pt x="2286000" y="173736"/>
                  </a:lnTo>
                  <a:lnTo>
                    <a:pt x="2346960" y="173736"/>
                  </a:lnTo>
                  <a:close/>
                </a:path>
              </a:pathLst>
            </a:custGeom>
            <a:solidFill>
              <a:srgbClr val="CBCBCB">
                <a:alpha val="75000"/>
              </a:srgbClr>
            </a:solidFill>
          </p:spPr>
          <p:txBody>
            <a:bodyPr wrap="square" lIns="0" tIns="0" rIns="0" bIns="0" rtlCol="0"/>
            <a:lstStyle/>
            <a:p>
              <a:pPr algn="l" rtl="0"/>
              <a:endParaRPr sz="100"/>
            </a:p>
          </p:txBody>
        </p:sp>
        <p:pic>
          <p:nvPicPr>
            <p:cNvPr id="23" name="object 23"/>
            <p:cNvPicPr/>
            <p:nvPr/>
          </p:nvPicPr>
          <p:blipFill>
            <a:blip r:embed="rId1" cstate="print"/>
            <a:stretch>
              <a:fillRect/>
            </a:stretch>
          </p:blipFill>
          <p:spPr>
            <a:xfrm>
              <a:off x="6781799" y="1449323"/>
              <a:ext cx="192023" cy="409956"/>
            </a:xfrm>
            <a:prstGeom prst="rect">
              <a:avLst/>
            </a:prstGeom>
          </p:spPr>
        </p:pic>
        <p:pic>
          <p:nvPicPr>
            <p:cNvPr id="24" name="object 24"/>
            <p:cNvPicPr/>
            <p:nvPr/>
          </p:nvPicPr>
          <p:blipFill>
            <a:blip r:embed="rId2" cstate="print"/>
            <a:stretch>
              <a:fillRect/>
            </a:stretch>
          </p:blipFill>
          <p:spPr>
            <a:xfrm>
              <a:off x="7004303" y="1554479"/>
              <a:ext cx="128016" cy="304800"/>
            </a:xfrm>
            <a:prstGeom prst="rect">
              <a:avLst/>
            </a:prstGeom>
          </p:spPr>
        </p:pic>
        <p:pic>
          <p:nvPicPr>
            <p:cNvPr id="25" name="object 25"/>
            <p:cNvPicPr/>
            <p:nvPr/>
          </p:nvPicPr>
          <p:blipFill>
            <a:blip r:embed="rId3" cstate="print"/>
            <a:stretch>
              <a:fillRect/>
            </a:stretch>
          </p:blipFill>
          <p:spPr>
            <a:xfrm>
              <a:off x="7141463" y="1554479"/>
              <a:ext cx="185928" cy="310895"/>
            </a:xfrm>
            <a:prstGeom prst="rect">
              <a:avLst/>
            </a:prstGeom>
          </p:spPr>
        </p:pic>
        <p:pic>
          <p:nvPicPr>
            <p:cNvPr id="26" name="object 26"/>
            <p:cNvPicPr/>
            <p:nvPr/>
          </p:nvPicPr>
          <p:blipFill>
            <a:blip r:embed="rId4" cstate="print"/>
            <a:stretch>
              <a:fillRect/>
            </a:stretch>
          </p:blipFill>
          <p:spPr>
            <a:xfrm>
              <a:off x="7348727" y="1449323"/>
              <a:ext cx="121919" cy="416051"/>
            </a:xfrm>
            <a:prstGeom prst="rect">
              <a:avLst/>
            </a:prstGeom>
          </p:spPr>
        </p:pic>
        <p:pic>
          <p:nvPicPr>
            <p:cNvPr id="27" name="object 27"/>
            <p:cNvPicPr/>
            <p:nvPr/>
          </p:nvPicPr>
          <p:blipFill>
            <a:blip r:embed="rId5" cstate="print"/>
            <a:stretch>
              <a:fillRect/>
            </a:stretch>
          </p:blipFill>
          <p:spPr>
            <a:xfrm>
              <a:off x="7488935" y="1554479"/>
              <a:ext cx="188976" cy="310895"/>
            </a:xfrm>
            <a:prstGeom prst="rect">
              <a:avLst/>
            </a:prstGeom>
          </p:spPr>
        </p:pic>
        <p:pic>
          <p:nvPicPr>
            <p:cNvPr id="28" name="object 28"/>
            <p:cNvPicPr/>
            <p:nvPr/>
          </p:nvPicPr>
          <p:blipFill>
            <a:blip r:embed="rId6" cstate="print"/>
            <a:stretch>
              <a:fillRect/>
            </a:stretch>
          </p:blipFill>
          <p:spPr>
            <a:xfrm>
              <a:off x="7708391" y="1449323"/>
              <a:ext cx="64007" cy="77724"/>
            </a:xfrm>
            <a:prstGeom prst="rect">
              <a:avLst/>
            </a:prstGeom>
          </p:spPr>
        </p:pic>
        <p:pic>
          <p:nvPicPr>
            <p:cNvPr id="29" name="object 29"/>
            <p:cNvPicPr/>
            <p:nvPr/>
          </p:nvPicPr>
          <p:blipFill>
            <a:blip r:embed="rId7" cstate="print"/>
            <a:stretch>
              <a:fillRect/>
            </a:stretch>
          </p:blipFill>
          <p:spPr>
            <a:xfrm>
              <a:off x="7812023" y="1554479"/>
              <a:ext cx="170688" cy="304800"/>
            </a:xfrm>
            <a:prstGeom prst="rect">
              <a:avLst/>
            </a:prstGeom>
          </p:spPr>
        </p:pic>
        <p:pic>
          <p:nvPicPr>
            <p:cNvPr id="30" name="object 30"/>
            <p:cNvPicPr/>
            <p:nvPr/>
          </p:nvPicPr>
          <p:blipFill>
            <a:blip r:embed="rId8" cstate="print"/>
            <a:stretch>
              <a:fillRect/>
            </a:stretch>
          </p:blipFill>
          <p:spPr>
            <a:xfrm>
              <a:off x="8129015" y="1449323"/>
              <a:ext cx="60959" cy="409956"/>
            </a:xfrm>
            <a:prstGeom prst="rect">
              <a:avLst/>
            </a:prstGeom>
          </p:spPr>
        </p:pic>
        <p:pic>
          <p:nvPicPr>
            <p:cNvPr id="31" name="object 31"/>
            <p:cNvPicPr/>
            <p:nvPr/>
          </p:nvPicPr>
          <p:blipFill>
            <a:blip r:embed="rId9" cstate="print"/>
            <a:stretch>
              <a:fillRect/>
            </a:stretch>
          </p:blipFill>
          <p:spPr>
            <a:xfrm>
              <a:off x="8223503" y="1554479"/>
              <a:ext cx="573023" cy="310895"/>
            </a:xfrm>
            <a:prstGeom prst="rect">
              <a:avLst/>
            </a:prstGeom>
          </p:spPr>
        </p:pic>
        <p:pic>
          <p:nvPicPr>
            <p:cNvPr id="32" name="object 32"/>
            <p:cNvPicPr/>
            <p:nvPr/>
          </p:nvPicPr>
          <p:blipFill>
            <a:blip r:embed="rId10" cstate="print"/>
            <a:stretch>
              <a:fillRect/>
            </a:stretch>
          </p:blipFill>
          <p:spPr>
            <a:xfrm>
              <a:off x="8827007" y="1449323"/>
              <a:ext cx="64007" cy="409956"/>
            </a:xfrm>
            <a:prstGeom prst="rect">
              <a:avLst/>
            </a:prstGeom>
          </p:spPr>
        </p:pic>
        <p:sp>
          <p:nvSpPr>
            <p:cNvPr id="33" name="object 33"/>
            <p:cNvSpPr/>
            <p:nvPr/>
          </p:nvSpPr>
          <p:spPr>
            <a:xfrm>
              <a:off x="6781800" y="1447798"/>
              <a:ext cx="192405" cy="411480"/>
            </a:xfrm>
            <a:custGeom>
              <a:avLst/>
              <a:gdLst/>
              <a:ahLst/>
              <a:cxnLst/>
              <a:rect l="l" t="t" r="r" b="b"/>
              <a:pathLst>
                <a:path w="192404" h="411480">
                  <a:moveTo>
                    <a:pt x="0" y="0"/>
                  </a:moveTo>
                  <a:lnTo>
                    <a:pt x="29241" y="0"/>
                  </a:lnTo>
                  <a:lnTo>
                    <a:pt x="57911" y="0"/>
                  </a:lnTo>
                  <a:lnTo>
                    <a:pt x="86582" y="0"/>
                  </a:lnTo>
                  <a:lnTo>
                    <a:pt x="115823" y="0"/>
                  </a:lnTo>
                  <a:lnTo>
                    <a:pt x="132968" y="2238"/>
                  </a:lnTo>
                  <a:lnTo>
                    <a:pt x="170687" y="33528"/>
                  </a:lnTo>
                  <a:lnTo>
                    <a:pt x="185927" y="72390"/>
                  </a:lnTo>
                  <a:lnTo>
                    <a:pt x="192023" y="124968"/>
                  </a:lnTo>
                  <a:lnTo>
                    <a:pt x="190404" y="155210"/>
                  </a:lnTo>
                  <a:lnTo>
                    <a:pt x="179164" y="204263"/>
                  </a:lnTo>
                  <a:lnTo>
                    <a:pt x="158543" y="238506"/>
                  </a:lnTo>
                  <a:lnTo>
                    <a:pt x="106679" y="259079"/>
                  </a:lnTo>
                  <a:lnTo>
                    <a:pt x="97535" y="259079"/>
                  </a:lnTo>
                  <a:lnTo>
                    <a:pt x="88391" y="259079"/>
                  </a:lnTo>
                  <a:lnTo>
                    <a:pt x="79247" y="259079"/>
                  </a:lnTo>
                  <a:lnTo>
                    <a:pt x="70103" y="259079"/>
                  </a:lnTo>
                  <a:lnTo>
                    <a:pt x="70103" y="297465"/>
                  </a:lnTo>
                  <a:lnTo>
                    <a:pt x="70103" y="335280"/>
                  </a:lnTo>
                  <a:lnTo>
                    <a:pt x="70103" y="373094"/>
                  </a:lnTo>
                  <a:lnTo>
                    <a:pt x="70103" y="411479"/>
                  </a:lnTo>
                  <a:lnTo>
                    <a:pt x="52291" y="411479"/>
                  </a:lnTo>
                  <a:lnTo>
                    <a:pt x="35051" y="411479"/>
                  </a:lnTo>
                  <a:lnTo>
                    <a:pt x="17811" y="411479"/>
                  </a:lnTo>
                  <a:lnTo>
                    <a:pt x="0" y="411479"/>
                  </a:lnTo>
                  <a:lnTo>
                    <a:pt x="0" y="360045"/>
                  </a:lnTo>
                  <a:lnTo>
                    <a:pt x="0" y="51435"/>
                  </a:lnTo>
                  <a:lnTo>
                    <a:pt x="0" y="0"/>
                  </a:lnTo>
                  <a:close/>
                </a:path>
              </a:pathLst>
            </a:custGeom>
            <a:ln w="12191">
              <a:solidFill>
                <a:srgbClr val="EEEEEE"/>
              </a:solidFill>
            </a:ln>
          </p:spPr>
          <p:txBody>
            <a:bodyPr wrap="square" lIns="0" tIns="0" rIns="0" bIns="0" rtlCol="0"/>
            <a:lstStyle/>
            <a:p>
              <a:pPr algn="l" rtl="0"/>
              <a:endParaRPr sz="100"/>
            </a:p>
          </p:txBody>
        </p:sp>
        <p:pic>
          <p:nvPicPr>
            <p:cNvPr id="34" name="object 34"/>
            <p:cNvPicPr/>
            <p:nvPr/>
          </p:nvPicPr>
          <p:blipFill>
            <a:blip r:embed="rId11" cstate="print"/>
            <a:stretch>
              <a:fillRect/>
            </a:stretch>
          </p:blipFill>
          <p:spPr>
            <a:xfrm>
              <a:off x="6845808" y="1523998"/>
              <a:ext cx="64007" cy="106679"/>
            </a:xfrm>
            <a:prstGeom prst="rect">
              <a:avLst/>
            </a:prstGeom>
          </p:spPr>
        </p:pic>
        <p:sp>
          <p:nvSpPr>
            <p:cNvPr id="35" name="object 35"/>
            <p:cNvSpPr/>
            <p:nvPr/>
          </p:nvSpPr>
          <p:spPr>
            <a:xfrm>
              <a:off x="7004303" y="1554478"/>
              <a:ext cx="323215" cy="311150"/>
            </a:xfrm>
            <a:custGeom>
              <a:avLst/>
              <a:gdLst/>
              <a:ahLst/>
              <a:cxnLst/>
              <a:rect l="l" t="t" r="r" b="b"/>
              <a:pathLst>
                <a:path w="323215" h="311150">
                  <a:moveTo>
                    <a:pt x="0" y="6096"/>
                  </a:moveTo>
                  <a:lnTo>
                    <a:pt x="15526" y="6096"/>
                  </a:lnTo>
                  <a:lnTo>
                    <a:pt x="30480" y="6096"/>
                  </a:lnTo>
                  <a:lnTo>
                    <a:pt x="45434" y="6096"/>
                  </a:lnTo>
                  <a:lnTo>
                    <a:pt x="60960" y="6096"/>
                  </a:lnTo>
                  <a:lnTo>
                    <a:pt x="60960" y="19288"/>
                  </a:lnTo>
                  <a:lnTo>
                    <a:pt x="60960" y="31623"/>
                  </a:lnTo>
                  <a:lnTo>
                    <a:pt x="60960" y="43386"/>
                  </a:lnTo>
                  <a:lnTo>
                    <a:pt x="60960" y="54864"/>
                  </a:lnTo>
                  <a:lnTo>
                    <a:pt x="63770" y="40481"/>
                  </a:lnTo>
                  <a:lnTo>
                    <a:pt x="82296" y="3048"/>
                  </a:lnTo>
                  <a:lnTo>
                    <a:pt x="91439" y="0"/>
                  </a:lnTo>
                  <a:lnTo>
                    <a:pt x="97536" y="0"/>
                  </a:lnTo>
                  <a:lnTo>
                    <a:pt x="104870" y="1095"/>
                  </a:lnTo>
                  <a:lnTo>
                    <a:pt x="112776" y="4191"/>
                  </a:lnTo>
                  <a:lnTo>
                    <a:pt x="120682" y="9001"/>
                  </a:lnTo>
                  <a:lnTo>
                    <a:pt x="128015" y="15240"/>
                  </a:lnTo>
                  <a:lnTo>
                    <a:pt x="123444" y="35814"/>
                  </a:lnTo>
                  <a:lnTo>
                    <a:pt x="118872" y="56388"/>
                  </a:lnTo>
                  <a:lnTo>
                    <a:pt x="114300" y="76962"/>
                  </a:lnTo>
                  <a:lnTo>
                    <a:pt x="109727" y="97535"/>
                  </a:lnTo>
                  <a:lnTo>
                    <a:pt x="103632" y="91440"/>
                  </a:lnTo>
                  <a:lnTo>
                    <a:pt x="97536" y="88391"/>
                  </a:lnTo>
                  <a:lnTo>
                    <a:pt x="91439" y="88391"/>
                  </a:lnTo>
                  <a:lnTo>
                    <a:pt x="86868" y="89535"/>
                  </a:lnTo>
                  <a:lnTo>
                    <a:pt x="66294" y="145161"/>
                  </a:lnTo>
                  <a:lnTo>
                    <a:pt x="64008" y="204215"/>
                  </a:lnTo>
                  <a:lnTo>
                    <a:pt x="64008" y="229362"/>
                  </a:lnTo>
                  <a:lnTo>
                    <a:pt x="64008" y="254508"/>
                  </a:lnTo>
                  <a:lnTo>
                    <a:pt x="64008" y="279654"/>
                  </a:lnTo>
                  <a:lnTo>
                    <a:pt x="64008" y="304799"/>
                  </a:lnTo>
                  <a:lnTo>
                    <a:pt x="48006" y="304799"/>
                  </a:lnTo>
                  <a:lnTo>
                    <a:pt x="32004" y="304799"/>
                  </a:lnTo>
                  <a:lnTo>
                    <a:pt x="16002" y="304799"/>
                  </a:lnTo>
                  <a:lnTo>
                    <a:pt x="0" y="304799"/>
                  </a:lnTo>
                  <a:lnTo>
                    <a:pt x="0" y="255792"/>
                  </a:lnTo>
                  <a:lnTo>
                    <a:pt x="0" y="206361"/>
                  </a:lnTo>
                  <a:lnTo>
                    <a:pt x="0" y="156591"/>
                  </a:lnTo>
                  <a:lnTo>
                    <a:pt x="0" y="106567"/>
                  </a:lnTo>
                  <a:lnTo>
                    <a:pt x="0" y="56374"/>
                  </a:lnTo>
                  <a:lnTo>
                    <a:pt x="0" y="6096"/>
                  </a:lnTo>
                  <a:close/>
                </a:path>
                <a:path w="323215" h="311150">
                  <a:moveTo>
                    <a:pt x="137160" y="158496"/>
                  </a:moveTo>
                  <a:lnTo>
                    <a:pt x="143637" y="95250"/>
                  </a:lnTo>
                  <a:lnTo>
                    <a:pt x="161544" y="45720"/>
                  </a:lnTo>
                  <a:lnTo>
                    <a:pt x="192024" y="11430"/>
                  </a:lnTo>
                  <a:lnTo>
                    <a:pt x="231648" y="0"/>
                  </a:lnTo>
                  <a:lnTo>
                    <a:pt x="253365" y="3381"/>
                  </a:lnTo>
                  <a:lnTo>
                    <a:pt x="289941" y="29575"/>
                  </a:lnTo>
                  <a:lnTo>
                    <a:pt x="312800" y="74009"/>
                  </a:lnTo>
                  <a:lnTo>
                    <a:pt x="321944" y="126396"/>
                  </a:lnTo>
                  <a:lnTo>
                    <a:pt x="323087" y="155448"/>
                  </a:lnTo>
                  <a:lnTo>
                    <a:pt x="321849" y="188071"/>
                  </a:lnTo>
                  <a:lnTo>
                    <a:pt x="310229" y="244173"/>
                  </a:lnTo>
                  <a:lnTo>
                    <a:pt x="285654" y="287750"/>
                  </a:lnTo>
                  <a:lnTo>
                    <a:pt x="251555" y="308515"/>
                  </a:lnTo>
                  <a:lnTo>
                    <a:pt x="231648" y="310896"/>
                  </a:lnTo>
                  <a:lnTo>
                    <a:pt x="212217" y="308610"/>
                  </a:lnTo>
                  <a:lnTo>
                    <a:pt x="167639" y="274320"/>
                  </a:lnTo>
                  <a:lnTo>
                    <a:pt x="144399" y="223266"/>
                  </a:lnTo>
                  <a:lnTo>
                    <a:pt x="137160" y="158496"/>
                  </a:lnTo>
                  <a:close/>
                </a:path>
              </a:pathLst>
            </a:custGeom>
            <a:ln w="12191">
              <a:solidFill>
                <a:srgbClr val="EEEEEE"/>
              </a:solidFill>
            </a:ln>
          </p:spPr>
          <p:txBody>
            <a:bodyPr wrap="square" lIns="0" tIns="0" rIns="0" bIns="0" rtlCol="0"/>
            <a:lstStyle/>
            <a:p>
              <a:pPr algn="l" rtl="0"/>
              <a:endParaRPr sz="100"/>
            </a:p>
          </p:txBody>
        </p:sp>
        <p:pic>
          <p:nvPicPr>
            <p:cNvPr id="36" name="object 36"/>
            <p:cNvPicPr/>
            <p:nvPr/>
          </p:nvPicPr>
          <p:blipFill>
            <a:blip r:embed="rId12" cstate="print"/>
            <a:stretch>
              <a:fillRect/>
            </a:stretch>
          </p:blipFill>
          <p:spPr>
            <a:xfrm>
              <a:off x="7199375" y="1627630"/>
              <a:ext cx="73151" cy="167639"/>
            </a:xfrm>
            <a:prstGeom prst="rect">
              <a:avLst/>
            </a:prstGeom>
          </p:spPr>
        </p:pic>
        <p:sp>
          <p:nvSpPr>
            <p:cNvPr id="37" name="object 37"/>
            <p:cNvSpPr/>
            <p:nvPr/>
          </p:nvSpPr>
          <p:spPr>
            <a:xfrm>
              <a:off x="7348728" y="1447798"/>
              <a:ext cx="329565" cy="417830"/>
            </a:xfrm>
            <a:custGeom>
              <a:avLst/>
              <a:gdLst/>
              <a:ahLst/>
              <a:cxnLst/>
              <a:rect l="l" t="t" r="r" b="b"/>
              <a:pathLst>
                <a:path w="329565" h="417830">
                  <a:moveTo>
                    <a:pt x="85343" y="0"/>
                  </a:moveTo>
                  <a:lnTo>
                    <a:pt x="85343" y="27908"/>
                  </a:lnTo>
                  <a:lnTo>
                    <a:pt x="85343" y="56388"/>
                  </a:lnTo>
                  <a:lnTo>
                    <a:pt x="85343" y="84867"/>
                  </a:lnTo>
                  <a:lnTo>
                    <a:pt x="85343" y="112776"/>
                  </a:lnTo>
                  <a:lnTo>
                    <a:pt x="94011" y="112776"/>
                  </a:lnTo>
                  <a:lnTo>
                    <a:pt x="102107" y="112776"/>
                  </a:lnTo>
                  <a:lnTo>
                    <a:pt x="110203" y="112776"/>
                  </a:lnTo>
                  <a:lnTo>
                    <a:pt x="118871" y="112776"/>
                  </a:lnTo>
                  <a:lnTo>
                    <a:pt x="118871" y="133826"/>
                  </a:lnTo>
                  <a:lnTo>
                    <a:pt x="118871" y="155448"/>
                  </a:lnTo>
                  <a:lnTo>
                    <a:pt x="118871" y="177070"/>
                  </a:lnTo>
                  <a:lnTo>
                    <a:pt x="118871" y="198120"/>
                  </a:lnTo>
                  <a:lnTo>
                    <a:pt x="110203" y="198120"/>
                  </a:lnTo>
                  <a:lnTo>
                    <a:pt x="102107" y="198120"/>
                  </a:lnTo>
                  <a:lnTo>
                    <a:pt x="94011" y="198120"/>
                  </a:lnTo>
                  <a:lnTo>
                    <a:pt x="85343" y="198120"/>
                  </a:lnTo>
                  <a:lnTo>
                    <a:pt x="85343" y="223742"/>
                  </a:lnTo>
                  <a:lnTo>
                    <a:pt x="85343" y="249936"/>
                  </a:lnTo>
                  <a:lnTo>
                    <a:pt x="85343" y="276130"/>
                  </a:lnTo>
                  <a:lnTo>
                    <a:pt x="85343" y="301752"/>
                  </a:lnTo>
                  <a:lnTo>
                    <a:pt x="85391" y="311610"/>
                  </a:lnTo>
                  <a:lnTo>
                    <a:pt x="85724" y="318897"/>
                  </a:lnTo>
                  <a:lnTo>
                    <a:pt x="86629" y="324469"/>
                  </a:lnTo>
                  <a:lnTo>
                    <a:pt x="88391" y="329183"/>
                  </a:lnTo>
                  <a:lnTo>
                    <a:pt x="88391" y="335279"/>
                  </a:lnTo>
                  <a:lnTo>
                    <a:pt x="91439" y="338328"/>
                  </a:lnTo>
                  <a:lnTo>
                    <a:pt x="97535" y="338328"/>
                  </a:lnTo>
                  <a:lnTo>
                    <a:pt x="103631" y="338328"/>
                  </a:lnTo>
                  <a:lnTo>
                    <a:pt x="109727" y="335279"/>
                  </a:lnTo>
                  <a:lnTo>
                    <a:pt x="115823" y="329183"/>
                  </a:lnTo>
                  <a:lnTo>
                    <a:pt x="117633" y="349710"/>
                  </a:lnTo>
                  <a:lnTo>
                    <a:pt x="118871" y="369951"/>
                  </a:lnTo>
                  <a:lnTo>
                    <a:pt x="120110" y="389620"/>
                  </a:lnTo>
                  <a:lnTo>
                    <a:pt x="121919" y="408432"/>
                  </a:lnTo>
                  <a:lnTo>
                    <a:pt x="110537" y="412432"/>
                  </a:lnTo>
                  <a:lnTo>
                    <a:pt x="99440" y="415290"/>
                  </a:lnTo>
                  <a:lnTo>
                    <a:pt x="88915" y="417004"/>
                  </a:lnTo>
                  <a:lnTo>
                    <a:pt x="79247" y="417576"/>
                  </a:lnTo>
                  <a:lnTo>
                    <a:pt x="68437" y="417004"/>
                  </a:lnTo>
                  <a:lnTo>
                    <a:pt x="34289" y="393954"/>
                  </a:lnTo>
                  <a:lnTo>
                    <a:pt x="23240" y="345186"/>
                  </a:lnTo>
                  <a:lnTo>
                    <a:pt x="21335" y="301752"/>
                  </a:lnTo>
                  <a:lnTo>
                    <a:pt x="21335" y="276130"/>
                  </a:lnTo>
                  <a:lnTo>
                    <a:pt x="21335" y="249936"/>
                  </a:lnTo>
                  <a:lnTo>
                    <a:pt x="21335" y="223742"/>
                  </a:lnTo>
                  <a:lnTo>
                    <a:pt x="21335" y="198120"/>
                  </a:lnTo>
                  <a:lnTo>
                    <a:pt x="15239" y="198120"/>
                  </a:lnTo>
                  <a:lnTo>
                    <a:pt x="6095" y="198120"/>
                  </a:lnTo>
                  <a:lnTo>
                    <a:pt x="0" y="198120"/>
                  </a:lnTo>
                  <a:lnTo>
                    <a:pt x="0" y="177070"/>
                  </a:lnTo>
                  <a:lnTo>
                    <a:pt x="0" y="155448"/>
                  </a:lnTo>
                  <a:lnTo>
                    <a:pt x="0" y="133826"/>
                  </a:lnTo>
                  <a:lnTo>
                    <a:pt x="0" y="112776"/>
                  </a:lnTo>
                  <a:lnTo>
                    <a:pt x="6095" y="112776"/>
                  </a:lnTo>
                  <a:lnTo>
                    <a:pt x="15239" y="112776"/>
                  </a:lnTo>
                  <a:lnTo>
                    <a:pt x="21335" y="112776"/>
                  </a:lnTo>
                  <a:lnTo>
                    <a:pt x="21335" y="99060"/>
                  </a:lnTo>
                  <a:lnTo>
                    <a:pt x="21335" y="85344"/>
                  </a:lnTo>
                  <a:lnTo>
                    <a:pt x="21335" y="71628"/>
                  </a:lnTo>
                  <a:lnTo>
                    <a:pt x="21335" y="57911"/>
                  </a:lnTo>
                  <a:lnTo>
                    <a:pt x="37337" y="43719"/>
                  </a:lnTo>
                  <a:lnTo>
                    <a:pt x="53339" y="28955"/>
                  </a:lnTo>
                  <a:lnTo>
                    <a:pt x="69341" y="14192"/>
                  </a:lnTo>
                  <a:lnTo>
                    <a:pt x="85343" y="0"/>
                  </a:lnTo>
                  <a:close/>
                </a:path>
                <a:path w="329565" h="417830">
                  <a:moveTo>
                    <a:pt x="329183" y="292608"/>
                  </a:moveTo>
                  <a:lnTo>
                    <a:pt x="298942" y="292608"/>
                  </a:lnTo>
                  <a:lnTo>
                    <a:pt x="267842" y="292608"/>
                  </a:lnTo>
                  <a:lnTo>
                    <a:pt x="236172" y="292608"/>
                  </a:lnTo>
                  <a:lnTo>
                    <a:pt x="204215" y="292608"/>
                  </a:lnTo>
                  <a:lnTo>
                    <a:pt x="206072" y="305228"/>
                  </a:lnTo>
                  <a:lnTo>
                    <a:pt x="223265" y="345948"/>
                  </a:lnTo>
                  <a:lnTo>
                    <a:pt x="237743" y="350520"/>
                  </a:lnTo>
                  <a:lnTo>
                    <a:pt x="243839" y="350520"/>
                  </a:lnTo>
                  <a:lnTo>
                    <a:pt x="249935" y="347471"/>
                  </a:lnTo>
                  <a:lnTo>
                    <a:pt x="252983" y="344424"/>
                  </a:lnTo>
                  <a:lnTo>
                    <a:pt x="256031" y="338328"/>
                  </a:lnTo>
                  <a:lnTo>
                    <a:pt x="262127" y="332232"/>
                  </a:lnTo>
                  <a:lnTo>
                    <a:pt x="265175" y="323088"/>
                  </a:lnTo>
                  <a:lnTo>
                    <a:pt x="280701" y="327136"/>
                  </a:lnTo>
                  <a:lnTo>
                    <a:pt x="295655" y="330327"/>
                  </a:lnTo>
                  <a:lnTo>
                    <a:pt x="310610" y="332946"/>
                  </a:lnTo>
                  <a:lnTo>
                    <a:pt x="326135" y="335279"/>
                  </a:lnTo>
                  <a:lnTo>
                    <a:pt x="318753" y="356425"/>
                  </a:lnTo>
                  <a:lnTo>
                    <a:pt x="292607" y="399288"/>
                  </a:lnTo>
                  <a:lnTo>
                    <a:pt x="252316" y="416433"/>
                  </a:lnTo>
                  <a:lnTo>
                    <a:pt x="234695" y="417576"/>
                  </a:lnTo>
                  <a:lnTo>
                    <a:pt x="219741" y="416909"/>
                  </a:lnTo>
                  <a:lnTo>
                    <a:pt x="182879" y="402335"/>
                  </a:lnTo>
                  <a:lnTo>
                    <a:pt x="159305" y="364617"/>
                  </a:lnTo>
                  <a:lnTo>
                    <a:pt x="144017" y="308229"/>
                  </a:lnTo>
                  <a:lnTo>
                    <a:pt x="140207" y="262128"/>
                  </a:lnTo>
                  <a:lnTo>
                    <a:pt x="141874" y="229505"/>
                  </a:lnTo>
                  <a:lnTo>
                    <a:pt x="154352" y="173402"/>
                  </a:lnTo>
                  <a:lnTo>
                    <a:pt x="178974" y="131111"/>
                  </a:lnTo>
                  <a:lnTo>
                    <a:pt x="213454" y="109489"/>
                  </a:lnTo>
                  <a:lnTo>
                    <a:pt x="234695" y="106679"/>
                  </a:lnTo>
                  <a:lnTo>
                    <a:pt x="250126" y="107823"/>
                  </a:lnTo>
                  <a:lnTo>
                    <a:pt x="289559" y="124968"/>
                  </a:lnTo>
                  <a:lnTo>
                    <a:pt x="314419" y="165687"/>
                  </a:lnTo>
                  <a:lnTo>
                    <a:pt x="326897" y="224409"/>
                  </a:lnTo>
                  <a:lnTo>
                    <a:pt x="329183" y="277368"/>
                  </a:lnTo>
                  <a:lnTo>
                    <a:pt x="329183" y="283464"/>
                  </a:lnTo>
                  <a:lnTo>
                    <a:pt x="329183" y="286512"/>
                  </a:lnTo>
                  <a:lnTo>
                    <a:pt x="329183" y="292608"/>
                  </a:lnTo>
                  <a:close/>
                </a:path>
              </a:pathLst>
            </a:custGeom>
            <a:ln w="12191">
              <a:solidFill>
                <a:srgbClr val="EEEEEE"/>
              </a:solidFill>
            </a:ln>
          </p:spPr>
          <p:txBody>
            <a:bodyPr wrap="square" lIns="0" tIns="0" rIns="0" bIns="0" rtlCol="0"/>
            <a:lstStyle/>
            <a:p>
              <a:pPr algn="l" rtl="0"/>
              <a:endParaRPr sz="100"/>
            </a:p>
          </p:txBody>
        </p:sp>
        <p:pic>
          <p:nvPicPr>
            <p:cNvPr id="38" name="object 38"/>
            <p:cNvPicPr/>
            <p:nvPr/>
          </p:nvPicPr>
          <p:blipFill>
            <a:blip r:embed="rId13" cstate="print"/>
            <a:stretch>
              <a:fillRect/>
            </a:stretch>
          </p:blipFill>
          <p:spPr>
            <a:xfrm>
              <a:off x="7546847" y="1615438"/>
              <a:ext cx="73151" cy="76200"/>
            </a:xfrm>
            <a:prstGeom prst="rect">
              <a:avLst/>
            </a:prstGeom>
          </p:spPr>
        </p:pic>
        <p:sp>
          <p:nvSpPr>
            <p:cNvPr id="39" name="object 39"/>
            <p:cNvSpPr/>
            <p:nvPr/>
          </p:nvSpPr>
          <p:spPr>
            <a:xfrm>
              <a:off x="7708391" y="1447798"/>
              <a:ext cx="704215" cy="417830"/>
            </a:xfrm>
            <a:custGeom>
              <a:avLst/>
              <a:gdLst/>
              <a:ahLst/>
              <a:cxnLst/>
              <a:rect l="l" t="t" r="r" b="b"/>
              <a:pathLst>
                <a:path w="704215" h="417830">
                  <a:moveTo>
                    <a:pt x="0" y="0"/>
                  </a:moveTo>
                  <a:lnTo>
                    <a:pt x="16002" y="0"/>
                  </a:lnTo>
                  <a:lnTo>
                    <a:pt x="32004" y="0"/>
                  </a:lnTo>
                  <a:lnTo>
                    <a:pt x="48006" y="0"/>
                  </a:lnTo>
                  <a:lnTo>
                    <a:pt x="64008" y="0"/>
                  </a:lnTo>
                  <a:lnTo>
                    <a:pt x="64008" y="20097"/>
                  </a:lnTo>
                  <a:lnTo>
                    <a:pt x="64008" y="39624"/>
                  </a:lnTo>
                  <a:lnTo>
                    <a:pt x="64008" y="59150"/>
                  </a:lnTo>
                  <a:lnTo>
                    <a:pt x="64008" y="79247"/>
                  </a:lnTo>
                  <a:lnTo>
                    <a:pt x="48006" y="79247"/>
                  </a:lnTo>
                  <a:lnTo>
                    <a:pt x="32004" y="79247"/>
                  </a:lnTo>
                  <a:lnTo>
                    <a:pt x="16002" y="79247"/>
                  </a:lnTo>
                  <a:lnTo>
                    <a:pt x="0" y="79247"/>
                  </a:lnTo>
                  <a:lnTo>
                    <a:pt x="0" y="59150"/>
                  </a:lnTo>
                  <a:lnTo>
                    <a:pt x="0" y="39624"/>
                  </a:lnTo>
                  <a:lnTo>
                    <a:pt x="0" y="20097"/>
                  </a:lnTo>
                  <a:lnTo>
                    <a:pt x="0" y="0"/>
                  </a:lnTo>
                  <a:close/>
                </a:path>
                <a:path w="704215" h="417830">
                  <a:moveTo>
                    <a:pt x="0" y="112776"/>
                  </a:moveTo>
                  <a:lnTo>
                    <a:pt x="16002" y="112776"/>
                  </a:lnTo>
                  <a:lnTo>
                    <a:pt x="32004" y="112776"/>
                  </a:lnTo>
                  <a:lnTo>
                    <a:pt x="48006" y="112776"/>
                  </a:lnTo>
                  <a:lnTo>
                    <a:pt x="64008" y="112776"/>
                  </a:lnTo>
                  <a:lnTo>
                    <a:pt x="64008" y="163054"/>
                  </a:lnTo>
                  <a:lnTo>
                    <a:pt x="64008" y="411479"/>
                  </a:lnTo>
                  <a:lnTo>
                    <a:pt x="48006" y="411479"/>
                  </a:lnTo>
                  <a:lnTo>
                    <a:pt x="32004" y="411479"/>
                  </a:lnTo>
                  <a:lnTo>
                    <a:pt x="16002" y="411479"/>
                  </a:lnTo>
                  <a:lnTo>
                    <a:pt x="0" y="411479"/>
                  </a:lnTo>
                  <a:lnTo>
                    <a:pt x="0" y="362472"/>
                  </a:lnTo>
                  <a:lnTo>
                    <a:pt x="0" y="313041"/>
                  </a:lnTo>
                  <a:lnTo>
                    <a:pt x="0" y="263271"/>
                  </a:lnTo>
                  <a:lnTo>
                    <a:pt x="0" y="213247"/>
                  </a:lnTo>
                  <a:lnTo>
                    <a:pt x="0" y="163054"/>
                  </a:lnTo>
                  <a:lnTo>
                    <a:pt x="0" y="112776"/>
                  </a:lnTo>
                  <a:close/>
                </a:path>
                <a:path w="704215" h="417830">
                  <a:moveTo>
                    <a:pt x="103632" y="112776"/>
                  </a:moveTo>
                  <a:lnTo>
                    <a:pt x="117824" y="112776"/>
                  </a:lnTo>
                  <a:lnTo>
                    <a:pt x="132588" y="112776"/>
                  </a:lnTo>
                  <a:lnTo>
                    <a:pt x="147352" y="112776"/>
                  </a:lnTo>
                  <a:lnTo>
                    <a:pt x="161544" y="112776"/>
                  </a:lnTo>
                  <a:lnTo>
                    <a:pt x="161544" y="125968"/>
                  </a:lnTo>
                  <a:lnTo>
                    <a:pt x="161544" y="138303"/>
                  </a:lnTo>
                  <a:lnTo>
                    <a:pt x="161544" y="150066"/>
                  </a:lnTo>
                  <a:lnTo>
                    <a:pt x="161544" y="161544"/>
                  </a:lnTo>
                  <a:lnTo>
                    <a:pt x="168402" y="148447"/>
                  </a:lnTo>
                  <a:lnTo>
                    <a:pt x="195881" y="113109"/>
                  </a:lnTo>
                  <a:lnTo>
                    <a:pt x="219456" y="106679"/>
                  </a:lnTo>
                  <a:lnTo>
                    <a:pt x="232553" y="108394"/>
                  </a:lnTo>
                  <a:lnTo>
                    <a:pt x="262127" y="134112"/>
                  </a:lnTo>
                  <a:lnTo>
                    <a:pt x="273701" y="194548"/>
                  </a:lnTo>
                  <a:lnTo>
                    <a:pt x="274320" y="222503"/>
                  </a:lnTo>
                  <a:lnTo>
                    <a:pt x="274320" y="270033"/>
                  </a:lnTo>
                  <a:lnTo>
                    <a:pt x="274320" y="316992"/>
                  </a:lnTo>
                  <a:lnTo>
                    <a:pt x="274320" y="363950"/>
                  </a:lnTo>
                  <a:lnTo>
                    <a:pt x="274320" y="411479"/>
                  </a:lnTo>
                  <a:lnTo>
                    <a:pt x="260080" y="411479"/>
                  </a:lnTo>
                  <a:lnTo>
                    <a:pt x="244983" y="411479"/>
                  </a:lnTo>
                  <a:lnTo>
                    <a:pt x="229314" y="411479"/>
                  </a:lnTo>
                  <a:lnTo>
                    <a:pt x="213360" y="411479"/>
                  </a:lnTo>
                  <a:lnTo>
                    <a:pt x="213360" y="370332"/>
                  </a:lnTo>
                  <a:lnTo>
                    <a:pt x="213360" y="329184"/>
                  </a:lnTo>
                  <a:lnTo>
                    <a:pt x="213360" y="288036"/>
                  </a:lnTo>
                  <a:lnTo>
                    <a:pt x="213360" y="246888"/>
                  </a:lnTo>
                  <a:lnTo>
                    <a:pt x="212836" y="234267"/>
                  </a:lnTo>
                  <a:lnTo>
                    <a:pt x="198120" y="195071"/>
                  </a:lnTo>
                  <a:lnTo>
                    <a:pt x="192024" y="195071"/>
                  </a:lnTo>
                  <a:lnTo>
                    <a:pt x="185738" y="196215"/>
                  </a:lnTo>
                  <a:lnTo>
                    <a:pt x="180594" y="199644"/>
                  </a:lnTo>
                  <a:lnTo>
                    <a:pt x="176594" y="205359"/>
                  </a:lnTo>
                  <a:lnTo>
                    <a:pt x="173736" y="213359"/>
                  </a:lnTo>
                  <a:lnTo>
                    <a:pt x="169735" y="221932"/>
                  </a:lnTo>
                  <a:lnTo>
                    <a:pt x="166878" y="233934"/>
                  </a:lnTo>
                  <a:lnTo>
                    <a:pt x="165164" y="249364"/>
                  </a:lnTo>
                  <a:lnTo>
                    <a:pt x="164592" y="268224"/>
                  </a:lnTo>
                  <a:lnTo>
                    <a:pt x="164592" y="304752"/>
                  </a:lnTo>
                  <a:lnTo>
                    <a:pt x="164592" y="340995"/>
                  </a:lnTo>
                  <a:lnTo>
                    <a:pt x="164592" y="376666"/>
                  </a:lnTo>
                  <a:lnTo>
                    <a:pt x="164592" y="411479"/>
                  </a:lnTo>
                  <a:lnTo>
                    <a:pt x="150352" y="411479"/>
                  </a:lnTo>
                  <a:lnTo>
                    <a:pt x="135255" y="411479"/>
                  </a:lnTo>
                  <a:lnTo>
                    <a:pt x="119586" y="411479"/>
                  </a:lnTo>
                  <a:lnTo>
                    <a:pt x="103632" y="411479"/>
                  </a:lnTo>
                  <a:lnTo>
                    <a:pt x="103632" y="362472"/>
                  </a:lnTo>
                  <a:lnTo>
                    <a:pt x="103632" y="313041"/>
                  </a:lnTo>
                  <a:lnTo>
                    <a:pt x="103632" y="263271"/>
                  </a:lnTo>
                  <a:lnTo>
                    <a:pt x="103632" y="213247"/>
                  </a:lnTo>
                  <a:lnTo>
                    <a:pt x="103632" y="163054"/>
                  </a:lnTo>
                  <a:lnTo>
                    <a:pt x="103632" y="112776"/>
                  </a:lnTo>
                  <a:close/>
                </a:path>
                <a:path w="704215" h="417830">
                  <a:moveTo>
                    <a:pt x="420623" y="0"/>
                  </a:moveTo>
                  <a:lnTo>
                    <a:pt x="436150" y="0"/>
                  </a:lnTo>
                  <a:lnTo>
                    <a:pt x="451104" y="0"/>
                  </a:lnTo>
                  <a:lnTo>
                    <a:pt x="466058" y="0"/>
                  </a:lnTo>
                  <a:lnTo>
                    <a:pt x="481584" y="0"/>
                  </a:lnTo>
                  <a:lnTo>
                    <a:pt x="481584" y="51435"/>
                  </a:lnTo>
                  <a:lnTo>
                    <a:pt x="481584" y="411479"/>
                  </a:lnTo>
                  <a:lnTo>
                    <a:pt x="466058" y="411479"/>
                  </a:lnTo>
                  <a:lnTo>
                    <a:pt x="451104" y="411479"/>
                  </a:lnTo>
                  <a:lnTo>
                    <a:pt x="436150" y="411479"/>
                  </a:lnTo>
                  <a:lnTo>
                    <a:pt x="420623" y="411479"/>
                  </a:lnTo>
                  <a:lnTo>
                    <a:pt x="420623" y="360045"/>
                  </a:lnTo>
                  <a:lnTo>
                    <a:pt x="420623" y="51435"/>
                  </a:lnTo>
                  <a:lnTo>
                    <a:pt x="420623" y="0"/>
                  </a:lnTo>
                  <a:close/>
                </a:path>
                <a:path w="704215" h="417830">
                  <a:moveTo>
                    <a:pt x="704087" y="292608"/>
                  </a:moveTo>
                  <a:lnTo>
                    <a:pt x="672131" y="292608"/>
                  </a:lnTo>
                  <a:lnTo>
                    <a:pt x="640461" y="292608"/>
                  </a:lnTo>
                  <a:lnTo>
                    <a:pt x="609362" y="292608"/>
                  </a:lnTo>
                  <a:lnTo>
                    <a:pt x="579120" y="292608"/>
                  </a:lnTo>
                  <a:lnTo>
                    <a:pt x="579644" y="305228"/>
                  </a:lnTo>
                  <a:lnTo>
                    <a:pt x="596265" y="345948"/>
                  </a:lnTo>
                  <a:lnTo>
                    <a:pt x="609599" y="350520"/>
                  </a:lnTo>
                  <a:lnTo>
                    <a:pt x="615696" y="350520"/>
                  </a:lnTo>
                  <a:lnTo>
                    <a:pt x="621792" y="347471"/>
                  </a:lnTo>
                  <a:lnTo>
                    <a:pt x="627887" y="344424"/>
                  </a:lnTo>
                  <a:lnTo>
                    <a:pt x="630936" y="338328"/>
                  </a:lnTo>
                  <a:lnTo>
                    <a:pt x="633984" y="332232"/>
                  </a:lnTo>
                  <a:lnTo>
                    <a:pt x="637032" y="323088"/>
                  </a:lnTo>
                  <a:lnTo>
                    <a:pt x="653034" y="327136"/>
                  </a:lnTo>
                  <a:lnTo>
                    <a:pt x="669036" y="330327"/>
                  </a:lnTo>
                  <a:lnTo>
                    <a:pt x="685038" y="332946"/>
                  </a:lnTo>
                  <a:lnTo>
                    <a:pt x="701039" y="335279"/>
                  </a:lnTo>
                  <a:lnTo>
                    <a:pt x="692324" y="356425"/>
                  </a:lnTo>
                  <a:lnTo>
                    <a:pt x="664463" y="399288"/>
                  </a:lnTo>
                  <a:lnTo>
                    <a:pt x="626745" y="416433"/>
                  </a:lnTo>
                  <a:lnTo>
                    <a:pt x="609599" y="417576"/>
                  </a:lnTo>
                  <a:lnTo>
                    <a:pt x="592931" y="416909"/>
                  </a:lnTo>
                  <a:lnTo>
                    <a:pt x="548735" y="392049"/>
                  </a:lnTo>
                  <a:lnTo>
                    <a:pt x="527304" y="347471"/>
                  </a:lnTo>
                  <a:lnTo>
                    <a:pt x="517779" y="308229"/>
                  </a:lnTo>
                  <a:lnTo>
                    <a:pt x="515111" y="262128"/>
                  </a:lnTo>
                  <a:lnTo>
                    <a:pt x="516778" y="229505"/>
                  </a:lnTo>
                  <a:lnTo>
                    <a:pt x="529257" y="173402"/>
                  </a:lnTo>
                  <a:lnTo>
                    <a:pt x="552545" y="131111"/>
                  </a:lnTo>
                  <a:lnTo>
                    <a:pt x="586645" y="109489"/>
                  </a:lnTo>
                  <a:lnTo>
                    <a:pt x="606551" y="106679"/>
                  </a:lnTo>
                  <a:lnTo>
                    <a:pt x="623697" y="107823"/>
                  </a:lnTo>
                  <a:lnTo>
                    <a:pt x="661415" y="124968"/>
                  </a:lnTo>
                  <a:lnTo>
                    <a:pt x="686276" y="165687"/>
                  </a:lnTo>
                  <a:lnTo>
                    <a:pt x="700278" y="224409"/>
                  </a:lnTo>
                  <a:lnTo>
                    <a:pt x="704087" y="277368"/>
                  </a:lnTo>
                  <a:lnTo>
                    <a:pt x="704087" y="283464"/>
                  </a:lnTo>
                  <a:lnTo>
                    <a:pt x="704087" y="286512"/>
                  </a:lnTo>
                  <a:lnTo>
                    <a:pt x="704087" y="292608"/>
                  </a:lnTo>
                  <a:close/>
                </a:path>
              </a:pathLst>
            </a:custGeom>
            <a:ln w="12191">
              <a:solidFill>
                <a:srgbClr val="EEEEEE"/>
              </a:solidFill>
            </a:ln>
          </p:spPr>
          <p:txBody>
            <a:bodyPr wrap="square" lIns="0" tIns="0" rIns="0" bIns="0" rtlCol="0"/>
            <a:lstStyle/>
            <a:p>
              <a:pPr algn="l" rtl="0"/>
              <a:endParaRPr sz="100"/>
            </a:p>
          </p:txBody>
        </p:sp>
        <p:pic>
          <p:nvPicPr>
            <p:cNvPr id="40" name="object 40"/>
            <p:cNvPicPr/>
            <p:nvPr/>
          </p:nvPicPr>
          <p:blipFill>
            <a:blip r:embed="rId14" cstate="print"/>
            <a:stretch>
              <a:fillRect/>
            </a:stretch>
          </p:blipFill>
          <p:spPr>
            <a:xfrm>
              <a:off x="8281416" y="1615438"/>
              <a:ext cx="73151" cy="76200"/>
            </a:xfrm>
            <a:prstGeom prst="rect">
              <a:avLst/>
            </a:prstGeom>
          </p:spPr>
        </p:pic>
        <p:sp>
          <p:nvSpPr>
            <p:cNvPr id="41" name="object 41"/>
            <p:cNvSpPr/>
            <p:nvPr/>
          </p:nvSpPr>
          <p:spPr>
            <a:xfrm>
              <a:off x="8412479" y="1554478"/>
              <a:ext cx="384175" cy="311150"/>
            </a:xfrm>
            <a:custGeom>
              <a:avLst/>
              <a:gdLst/>
              <a:ahLst/>
              <a:cxnLst/>
              <a:rect l="l" t="t" r="r" b="b"/>
              <a:pathLst>
                <a:path w="384175" h="311150">
                  <a:moveTo>
                    <a:pt x="0" y="6096"/>
                  </a:moveTo>
                  <a:lnTo>
                    <a:pt x="16478" y="6096"/>
                  </a:lnTo>
                  <a:lnTo>
                    <a:pt x="33528" y="6096"/>
                  </a:lnTo>
                  <a:lnTo>
                    <a:pt x="50578" y="6096"/>
                  </a:lnTo>
                  <a:lnTo>
                    <a:pt x="67056" y="6096"/>
                  </a:lnTo>
                  <a:lnTo>
                    <a:pt x="74390" y="54054"/>
                  </a:lnTo>
                  <a:lnTo>
                    <a:pt x="82296" y="101727"/>
                  </a:lnTo>
                  <a:lnTo>
                    <a:pt x="90202" y="148828"/>
                  </a:lnTo>
                  <a:lnTo>
                    <a:pt x="97535" y="195072"/>
                  </a:lnTo>
                  <a:lnTo>
                    <a:pt x="106203" y="148828"/>
                  </a:lnTo>
                  <a:lnTo>
                    <a:pt x="114300" y="101727"/>
                  </a:lnTo>
                  <a:lnTo>
                    <a:pt x="122396" y="54054"/>
                  </a:lnTo>
                  <a:lnTo>
                    <a:pt x="131063" y="6096"/>
                  </a:lnTo>
                  <a:lnTo>
                    <a:pt x="147018" y="6096"/>
                  </a:lnTo>
                  <a:lnTo>
                    <a:pt x="162686" y="6096"/>
                  </a:lnTo>
                  <a:lnTo>
                    <a:pt x="177784" y="6096"/>
                  </a:lnTo>
                  <a:lnTo>
                    <a:pt x="192023" y="6096"/>
                  </a:lnTo>
                  <a:lnTo>
                    <a:pt x="181130" y="56374"/>
                  </a:lnTo>
                  <a:lnTo>
                    <a:pt x="169897" y="106567"/>
                  </a:lnTo>
                  <a:lnTo>
                    <a:pt x="158496" y="156591"/>
                  </a:lnTo>
                  <a:lnTo>
                    <a:pt x="147094" y="206361"/>
                  </a:lnTo>
                  <a:lnTo>
                    <a:pt x="135862" y="255792"/>
                  </a:lnTo>
                  <a:lnTo>
                    <a:pt x="124968" y="304799"/>
                  </a:lnTo>
                  <a:lnTo>
                    <a:pt x="111252" y="304799"/>
                  </a:lnTo>
                  <a:lnTo>
                    <a:pt x="97536" y="304799"/>
                  </a:lnTo>
                  <a:lnTo>
                    <a:pt x="83820" y="304799"/>
                  </a:lnTo>
                  <a:lnTo>
                    <a:pt x="70104" y="304799"/>
                  </a:lnTo>
                  <a:lnTo>
                    <a:pt x="58138" y="255792"/>
                  </a:lnTo>
                  <a:lnTo>
                    <a:pt x="46510" y="206361"/>
                  </a:lnTo>
                  <a:lnTo>
                    <a:pt x="35052" y="156591"/>
                  </a:lnTo>
                  <a:lnTo>
                    <a:pt x="23594" y="106567"/>
                  </a:lnTo>
                  <a:lnTo>
                    <a:pt x="11966" y="56374"/>
                  </a:lnTo>
                  <a:lnTo>
                    <a:pt x="0" y="6096"/>
                  </a:lnTo>
                  <a:close/>
                </a:path>
                <a:path w="384175" h="311150">
                  <a:moveTo>
                    <a:pt x="384048" y="185928"/>
                  </a:moveTo>
                  <a:lnTo>
                    <a:pt x="352520" y="185928"/>
                  </a:lnTo>
                  <a:lnTo>
                    <a:pt x="321564" y="185928"/>
                  </a:lnTo>
                  <a:lnTo>
                    <a:pt x="290608" y="185928"/>
                  </a:lnTo>
                  <a:lnTo>
                    <a:pt x="259080" y="185928"/>
                  </a:lnTo>
                  <a:lnTo>
                    <a:pt x="259652" y="198548"/>
                  </a:lnTo>
                  <a:lnTo>
                    <a:pt x="277749" y="239268"/>
                  </a:lnTo>
                  <a:lnTo>
                    <a:pt x="289560" y="243840"/>
                  </a:lnTo>
                  <a:lnTo>
                    <a:pt x="295656" y="243840"/>
                  </a:lnTo>
                  <a:lnTo>
                    <a:pt x="301751" y="240791"/>
                  </a:lnTo>
                  <a:lnTo>
                    <a:pt x="307848" y="237744"/>
                  </a:lnTo>
                  <a:lnTo>
                    <a:pt x="310896" y="231648"/>
                  </a:lnTo>
                  <a:lnTo>
                    <a:pt x="313944" y="225552"/>
                  </a:lnTo>
                  <a:lnTo>
                    <a:pt x="320039" y="216408"/>
                  </a:lnTo>
                  <a:lnTo>
                    <a:pt x="334280" y="220456"/>
                  </a:lnTo>
                  <a:lnTo>
                    <a:pt x="349377" y="223647"/>
                  </a:lnTo>
                  <a:lnTo>
                    <a:pt x="365045" y="226266"/>
                  </a:lnTo>
                  <a:lnTo>
                    <a:pt x="380999" y="228599"/>
                  </a:lnTo>
                  <a:lnTo>
                    <a:pt x="373618" y="249745"/>
                  </a:lnTo>
                  <a:lnTo>
                    <a:pt x="347472" y="292608"/>
                  </a:lnTo>
                  <a:lnTo>
                    <a:pt x="306753" y="309753"/>
                  </a:lnTo>
                  <a:lnTo>
                    <a:pt x="289560" y="310896"/>
                  </a:lnTo>
                  <a:lnTo>
                    <a:pt x="274177" y="310229"/>
                  </a:lnTo>
                  <a:lnTo>
                    <a:pt x="237744" y="295655"/>
                  </a:lnTo>
                  <a:lnTo>
                    <a:pt x="214169" y="257937"/>
                  </a:lnTo>
                  <a:lnTo>
                    <a:pt x="198882" y="201549"/>
                  </a:lnTo>
                  <a:lnTo>
                    <a:pt x="195072" y="155448"/>
                  </a:lnTo>
                  <a:lnTo>
                    <a:pt x="196739" y="122825"/>
                  </a:lnTo>
                  <a:lnTo>
                    <a:pt x="209217" y="66722"/>
                  </a:lnTo>
                  <a:lnTo>
                    <a:pt x="232505" y="24431"/>
                  </a:lnTo>
                  <a:lnTo>
                    <a:pt x="266605" y="2809"/>
                  </a:lnTo>
                  <a:lnTo>
                    <a:pt x="286511" y="0"/>
                  </a:lnTo>
                  <a:lnTo>
                    <a:pt x="303657" y="1143"/>
                  </a:lnTo>
                  <a:lnTo>
                    <a:pt x="341375" y="18288"/>
                  </a:lnTo>
                  <a:lnTo>
                    <a:pt x="367951" y="59007"/>
                  </a:lnTo>
                  <a:lnTo>
                    <a:pt x="378904" y="95678"/>
                  </a:lnTo>
                  <a:lnTo>
                    <a:pt x="383477" y="142637"/>
                  </a:lnTo>
                  <a:lnTo>
                    <a:pt x="384048" y="170688"/>
                  </a:lnTo>
                  <a:lnTo>
                    <a:pt x="384048" y="176784"/>
                  </a:lnTo>
                  <a:lnTo>
                    <a:pt x="384048" y="179832"/>
                  </a:lnTo>
                  <a:lnTo>
                    <a:pt x="384048" y="185928"/>
                  </a:lnTo>
                  <a:close/>
                </a:path>
              </a:pathLst>
            </a:custGeom>
            <a:ln w="12191">
              <a:solidFill>
                <a:srgbClr val="EEEEEE"/>
              </a:solidFill>
            </a:ln>
          </p:spPr>
          <p:txBody>
            <a:bodyPr wrap="square" lIns="0" tIns="0" rIns="0" bIns="0" rtlCol="0"/>
            <a:lstStyle/>
            <a:p>
              <a:pPr algn="l" rtl="0"/>
              <a:endParaRPr sz="100"/>
            </a:p>
          </p:txBody>
        </p:sp>
        <p:pic>
          <p:nvPicPr>
            <p:cNvPr id="42" name="object 42"/>
            <p:cNvPicPr/>
            <p:nvPr/>
          </p:nvPicPr>
          <p:blipFill>
            <a:blip r:embed="rId15" cstate="print"/>
            <a:stretch>
              <a:fillRect/>
            </a:stretch>
          </p:blipFill>
          <p:spPr>
            <a:xfrm>
              <a:off x="8665464" y="1615438"/>
              <a:ext cx="73151" cy="76200"/>
            </a:xfrm>
            <a:prstGeom prst="rect">
              <a:avLst/>
            </a:prstGeom>
          </p:spPr>
        </p:pic>
        <p:sp>
          <p:nvSpPr>
            <p:cNvPr id="43" name="object 43"/>
            <p:cNvSpPr/>
            <p:nvPr/>
          </p:nvSpPr>
          <p:spPr>
            <a:xfrm>
              <a:off x="8827008" y="1447798"/>
              <a:ext cx="64135" cy="411480"/>
            </a:xfrm>
            <a:custGeom>
              <a:avLst/>
              <a:gdLst/>
              <a:ahLst/>
              <a:cxnLst/>
              <a:rect l="l" t="t" r="r" b="b"/>
              <a:pathLst>
                <a:path w="64134" h="411480">
                  <a:moveTo>
                    <a:pt x="0" y="0"/>
                  </a:moveTo>
                  <a:lnTo>
                    <a:pt x="16001" y="0"/>
                  </a:lnTo>
                  <a:lnTo>
                    <a:pt x="32003" y="0"/>
                  </a:lnTo>
                  <a:lnTo>
                    <a:pt x="48005" y="0"/>
                  </a:lnTo>
                  <a:lnTo>
                    <a:pt x="64007" y="0"/>
                  </a:lnTo>
                  <a:lnTo>
                    <a:pt x="64007" y="51435"/>
                  </a:lnTo>
                  <a:lnTo>
                    <a:pt x="64007" y="411479"/>
                  </a:lnTo>
                  <a:lnTo>
                    <a:pt x="48005" y="411479"/>
                  </a:lnTo>
                  <a:lnTo>
                    <a:pt x="32003" y="411479"/>
                  </a:lnTo>
                  <a:lnTo>
                    <a:pt x="16001" y="411479"/>
                  </a:lnTo>
                  <a:lnTo>
                    <a:pt x="0" y="411479"/>
                  </a:lnTo>
                  <a:lnTo>
                    <a:pt x="0" y="360045"/>
                  </a:lnTo>
                  <a:lnTo>
                    <a:pt x="0" y="51435"/>
                  </a:lnTo>
                  <a:lnTo>
                    <a:pt x="0" y="0"/>
                  </a:lnTo>
                  <a:close/>
                </a:path>
              </a:pathLst>
            </a:custGeom>
            <a:ln w="12191">
              <a:solidFill>
                <a:srgbClr val="EEEEEE"/>
              </a:solidFill>
            </a:ln>
          </p:spPr>
          <p:txBody>
            <a:bodyPr wrap="square" lIns="0" tIns="0" rIns="0" bIns="0" rtlCol="0"/>
            <a:lstStyle/>
            <a:p>
              <a:pPr algn="l" rtl="0"/>
              <a:endParaRPr sz="10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381000" y="685483"/>
            <a:ext cx="8229600" cy="1143000"/>
          </a:xfrm>
        </p:spPr>
        <p:txBody>
          <a:bodyPr/>
          <a:p>
            <a:pPr algn="l"/>
            <a:r>
              <a:rPr sz="2800" b="1" spc="-5" dirty="0">
                <a:solidFill>
                  <a:schemeClr val="tx1"/>
                </a:solidFill>
                <a:latin typeface="Yu Gothic UI Semibold" panose="020B0700000000000000" charset="-128"/>
                <a:ea typeface="Yu Gothic UI Semibold" panose="020B0700000000000000" charset="-128"/>
                <a:cs typeface="Verdana" panose="020B0604030504040204"/>
                <a:sym typeface="+mn-ea"/>
              </a:rPr>
              <a:t>Missense</a:t>
            </a:r>
            <a:r>
              <a:rPr sz="2800" b="1" spc="20" dirty="0">
                <a:solidFill>
                  <a:schemeClr val="tx1"/>
                </a:solidFill>
                <a:latin typeface="Yu Gothic UI Semibold" panose="020B0700000000000000" charset="-128"/>
                <a:ea typeface="Yu Gothic UI Semibold" panose="020B0700000000000000" charset="-128"/>
                <a:cs typeface="Verdana" panose="020B0604030504040204"/>
                <a:sym typeface="+mn-ea"/>
              </a:rPr>
              <a:t> </a:t>
            </a:r>
            <a:r>
              <a:rPr sz="2800" b="1" spc="-5" dirty="0">
                <a:solidFill>
                  <a:schemeClr val="tx1"/>
                </a:solidFill>
                <a:latin typeface="Yu Gothic UI Semibold" panose="020B0700000000000000" charset="-128"/>
                <a:ea typeface="Yu Gothic UI Semibold" panose="020B0700000000000000" charset="-128"/>
                <a:cs typeface="Verdana" panose="020B0604030504040204"/>
                <a:sym typeface="+mn-ea"/>
              </a:rPr>
              <a:t>mutations</a:t>
            </a:r>
            <a:br>
              <a:rPr sz="2800" b="1">
                <a:solidFill>
                  <a:schemeClr val="tx1"/>
                </a:solidFill>
                <a:latin typeface="Yu Gothic UI Semibold" panose="020B0700000000000000" charset="-128"/>
                <a:ea typeface="Yu Gothic UI Semibold" panose="020B0700000000000000" charset="-128"/>
                <a:cs typeface="Verdana" panose="020B0604030504040204"/>
              </a:rPr>
            </a:br>
            <a:endParaRPr lang="en-US" sz="2800" b="1">
              <a:solidFill>
                <a:schemeClr val="tx1"/>
              </a:solidFill>
              <a:latin typeface="Yu Gothic UI Semibold" panose="020B0700000000000000" charset="-128"/>
              <a:ea typeface="Yu Gothic UI Semibold" panose="020B0700000000000000" charset="-128"/>
              <a:cs typeface="Verdana" panose="020B0604030504040204"/>
            </a:endParaRPr>
          </a:p>
        </p:txBody>
      </p:sp>
      <p:pic>
        <p:nvPicPr>
          <p:cNvPr id="5122" name="Picture 2"/>
          <p:cNvPicPr>
            <a:picLocks noChangeAspect="1" noChangeArrowheads="1"/>
          </p:cNvPicPr>
          <p:nvPr>
            <p:ph idx="1"/>
          </p:nvPr>
        </p:nvPicPr>
        <p:blipFill>
          <a:blip r:embed="rId1"/>
          <a:srcRect/>
          <a:stretch>
            <a:fillRect/>
          </a:stretch>
        </p:blipFill>
        <p:spPr bwMode="auto">
          <a:xfrm>
            <a:off x="525780" y="1815465"/>
            <a:ext cx="8376920" cy="47625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1794" y="930087"/>
            <a:ext cx="6614272" cy="1285875"/>
          </a:xfrm>
          <a:prstGeom prst="rect">
            <a:avLst/>
          </a:prstGeom>
        </p:spPr>
        <p:txBody>
          <a:bodyPr vert="horz" wrap="square" lIns="0" tIns="11205" rIns="0" bIns="0" rtlCol="0">
            <a:spAutoFit/>
          </a:bodyPr>
          <a:lstStyle/>
          <a:p>
            <a:pPr marL="12700" algn="l">
              <a:lnSpc>
                <a:spcPct val="100000"/>
              </a:lnSpc>
              <a:spcBef>
                <a:spcPts val="100"/>
              </a:spcBef>
            </a:pPr>
            <a:r>
              <a:rPr sz="2120" b="1" u="sng" spc="-5" dirty="0">
                <a:solidFill>
                  <a:schemeClr val="tx1"/>
                </a:solidFill>
                <a:uFill>
                  <a:solidFill>
                    <a:srgbClr val="4348AA"/>
                  </a:solidFill>
                </a:uFill>
                <a:latin typeface="Times New Roman" panose="02020603050405020304"/>
                <a:cs typeface="Times New Roman" panose="02020603050405020304"/>
              </a:rPr>
              <a:t>Nonsense</a:t>
            </a:r>
            <a:r>
              <a:rPr sz="2120" b="1" u="sng" spc="-50" dirty="0">
                <a:solidFill>
                  <a:schemeClr val="tx1"/>
                </a:solidFill>
                <a:uFill>
                  <a:solidFill>
                    <a:srgbClr val="4348AA"/>
                  </a:solidFill>
                </a:uFill>
                <a:latin typeface="Times New Roman" panose="02020603050405020304"/>
                <a:cs typeface="Times New Roman" panose="02020603050405020304"/>
              </a:rPr>
              <a:t> </a:t>
            </a:r>
            <a:r>
              <a:rPr sz="2120" b="1" u="sng" dirty="0">
                <a:solidFill>
                  <a:schemeClr val="tx1"/>
                </a:solidFill>
                <a:uFill>
                  <a:solidFill>
                    <a:srgbClr val="4348AA"/>
                  </a:solidFill>
                </a:uFill>
                <a:latin typeface="Times New Roman" panose="02020603050405020304"/>
                <a:cs typeface="Times New Roman" panose="02020603050405020304"/>
              </a:rPr>
              <a:t>mutation</a:t>
            </a:r>
            <a:endParaRPr sz="2120">
              <a:solidFill>
                <a:schemeClr val="tx1"/>
              </a:solidFill>
              <a:latin typeface="Times New Roman" panose="02020603050405020304"/>
              <a:cs typeface="Times New Roman" panose="02020603050405020304"/>
            </a:endParaRPr>
          </a:p>
          <a:p>
            <a:pPr algn="l">
              <a:lnSpc>
                <a:spcPct val="100000"/>
              </a:lnSpc>
              <a:spcBef>
                <a:spcPts val="45"/>
              </a:spcBef>
            </a:pPr>
            <a:endParaRPr sz="1895">
              <a:latin typeface="Times New Roman" panose="02020603050405020304"/>
              <a:cs typeface="Times New Roman" panose="02020603050405020304"/>
            </a:endParaRPr>
          </a:p>
          <a:p>
            <a:pPr marL="88265" marR="5080" algn="l">
              <a:lnSpc>
                <a:spcPct val="100000"/>
              </a:lnSpc>
            </a:pPr>
            <a:r>
              <a:rPr sz="2120" b="1" spc="-5" dirty="0">
                <a:latin typeface="Times New Roman" panose="02020603050405020304"/>
                <a:cs typeface="Times New Roman" panose="02020603050405020304"/>
              </a:rPr>
              <a:t>bp</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5" dirty="0">
                <a:latin typeface="Times New Roman" panose="02020603050405020304"/>
                <a:cs typeface="Times New Roman" panose="02020603050405020304"/>
              </a:rPr>
              <a:t> DNA</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results</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mRNA</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codon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to</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 </a:t>
            </a:r>
            <a:r>
              <a:rPr sz="2120" b="1" spc="-58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STOP</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codon,</a:t>
            </a:r>
            <a:r>
              <a:rPr sz="2120" b="1" spc="-5" dirty="0">
                <a:latin typeface="Times New Roman" panose="02020603050405020304"/>
                <a:cs typeface="Times New Roman" panose="02020603050405020304"/>
              </a:rPr>
              <a:t> so</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that</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translation is</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terminated.</a:t>
            </a:r>
            <a:endParaRPr sz="2120">
              <a:latin typeface="Times New Roman" panose="02020603050405020304"/>
              <a:cs typeface="Times New Roman" panose="02020603050405020304"/>
            </a:endParaRPr>
          </a:p>
        </p:txBody>
      </p:sp>
      <p:sp>
        <p:nvSpPr>
          <p:cNvPr id="3" name="object 3"/>
          <p:cNvSpPr txBox="1"/>
          <p:nvPr/>
        </p:nvSpPr>
        <p:spPr>
          <a:xfrm>
            <a:off x="4587687" y="2624417"/>
            <a:ext cx="605118" cy="335915"/>
          </a:xfrm>
          <a:prstGeom prst="rect">
            <a:avLst/>
          </a:prstGeom>
        </p:spPr>
        <p:txBody>
          <a:bodyPr vert="horz" wrap="square" lIns="0" tIns="11205" rIns="0" bIns="0" rtlCol="0">
            <a:spAutoFit/>
          </a:bodyPr>
          <a:lstStyle/>
          <a:p>
            <a:pPr marL="12700" algn="l">
              <a:lnSpc>
                <a:spcPct val="100000"/>
              </a:lnSpc>
              <a:spcBef>
                <a:spcPts val="100"/>
              </a:spcBef>
            </a:pPr>
            <a:r>
              <a:rPr sz="2120" b="1" spc="-10" dirty="0">
                <a:solidFill>
                  <a:srgbClr val="FF2800"/>
                </a:solidFill>
                <a:latin typeface="Times New Roman" panose="02020603050405020304"/>
                <a:cs typeface="Times New Roman" panose="02020603050405020304"/>
              </a:rPr>
              <a:t>A</a:t>
            </a:r>
            <a:r>
              <a:rPr sz="2120" b="1" spc="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sp>
        <p:nvSpPr>
          <p:cNvPr id="4" name="object 4"/>
          <p:cNvSpPr txBox="1"/>
          <p:nvPr/>
        </p:nvSpPr>
        <p:spPr>
          <a:xfrm>
            <a:off x="6284706" y="2637864"/>
            <a:ext cx="593351" cy="335915"/>
          </a:xfrm>
          <a:prstGeom prst="rect">
            <a:avLst/>
          </a:prstGeom>
        </p:spPr>
        <p:txBody>
          <a:bodyPr vert="horz" wrap="square" lIns="0" tIns="11205" rIns="0" bIns="0" rtlCol="0">
            <a:spAutoFit/>
          </a:bodyPr>
          <a:lstStyle/>
          <a:p>
            <a:pPr marL="12700" algn="l">
              <a:lnSpc>
                <a:spcPct val="100000"/>
              </a:lnSpc>
              <a:spcBef>
                <a:spcPts val="100"/>
              </a:spcBef>
            </a:pPr>
            <a:r>
              <a:rPr sz="2120" b="1" spc="5" dirty="0">
                <a:solidFill>
                  <a:srgbClr val="FF2800"/>
                </a:solidFill>
                <a:latin typeface="Times New Roman" panose="02020603050405020304"/>
                <a:cs typeface="Times New Roman" panose="02020603050405020304"/>
              </a:rPr>
              <a:t>T</a:t>
            </a:r>
            <a:r>
              <a:rPr sz="2120" b="1" spc="1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grpSp>
        <p:nvGrpSpPr>
          <p:cNvPr id="5" name="object 5"/>
          <p:cNvGrpSpPr/>
          <p:nvPr/>
        </p:nvGrpSpPr>
        <p:grpSpPr>
          <a:xfrm>
            <a:off x="5474298" y="2774127"/>
            <a:ext cx="605118" cy="132229"/>
            <a:chOff x="6051804" y="3144011"/>
            <a:chExt cx="685800" cy="149860"/>
          </a:xfrm>
        </p:grpSpPr>
        <p:sp>
          <p:nvSpPr>
            <p:cNvPr id="6" name="object 6"/>
            <p:cNvSpPr/>
            <p:nvPr/>
          </p:nvSpPr>
          <p:spPr>
            <a:xfrm>
              <a:off x="6051804" y="3217162"/>
              <a:ext cx="542925" cy="0"/>
            </a:xfrm>
            <a:custGeom>
              <a:avLst/>
              <a:gdLst/>
              <a:ahLst/>
              <a:cxnLst/>
              <a:rect l="l" t="t" r="r" b="b"/>
              <a:pathLst>
                <a:path w="542925">
                  <a:moveTo>
                    <a:pt x="0" y="0"/>
                  </a:moveTo>
                  <a:lnTo>
                    <a:pt x="542544" y="0"/>
                  </a:lnTo>
                </a:path>
              </a:pathLst>
            </a:custGeom>
            <a:ln w="27431">
              <a:solidFill>
                <a:srgbClr val="000000"/>
              </a:solidFill>
            </a:ln>
          </p:spPr>
          <p:txBody>
            <a:bodyPr wrap="square" lIns="0" tIns="0" rIns="0" bIns="0" rtlCol="0"/>
            <a:lstStyle/>
            <a:p>
              <a:pPr algn="l"/>
              <a:endParaRPr sz="100"/>
            </a:p>
          </p:txBody>
        </p:sp>
        <p:sp>
          <p:nvSpPr>
            <p:cNvPr id="7" name="object 7"/>
            <p:cNvSpPr/>
            <p:nvPr/>
          </p:nvSpPr>
          <p:spPr>
            <a:xfrm>
              <a:off x="6591300" y="3144011"/>
              <a:ext cx="146685" cy="149860"/>
            </a:xfrm>
            <a:custGeom>
              <a:avLst/>
              <a:gdLst/>
              <a:ahLst/>
              <a:cxnLst/>
              <a:rect l="l" t="t" r="r" b="b"/>
              <a:pathLst>
                <a:path w="146684" h="149860">
                  <a:moveTo>
                    <a:pt x="0" y="0"/>
                  </a:moveTo>
                  <a:lnTo>
                    <a:pt x="0" y="149352"/>
                  </a:lnTo>
                  <a:lnTo>
                    <a:pt x="146304" y="76200"/>
                  </a:lnTo>
                  <a:lnTo>
                    <a:pt x="0" y="0"/>
                  </a:lnTo>
                  <a:close/>
                </a:path>
              </a:pathLst>
            </a:custGeom>
            <a:solidFill>
              <a:srgbClr val="000000"/>
            </a:solidFill>
          </p:spPr>
          <p:txBody>
            <a:bodyPr wrap="square" lIns="0" tIns="0" rIns="0" bIns="0" rtlCol="0"/>
            <a:lstStyle/>
            <a:p>
              <a:pPr algn="l"/>
              <a:endParaRPr sz="100"/>
            </a:p>
          </p:txBody>
        </p:sp>
      </p:grpSp>
      <p:sp>
        <p:nvSpPr>
          <p:cNvPr id="8" name="object 8"/>
          <p:cNvSpPr txBox="1"/>
          <p:nvPr/>
        </p:nvSpPr>
        <p:spPr>
          <a:xfrm>
            <a:off x="1750358" y="2678205"/>
            <a:ext cx="605118" cy="335915"/>
          </a:xfrm>
          <a:prstGeom prst="rect">
            <a:avLst/>
          </a:prstGeom>
        </p:spPr>
        <p:txBody>
          <a:bodyPr vert="horz" wrap="square" lIns="0" tIns="11205" rIns="0" bIns="0" rtlCol="0">
            <a:spAutoFit/>
          </a:bodyPr>
          <a:lstStyle/>
          <a:p>
            <a:pPr marL="12700" algn="l">
              <a:lnSpc>
                <a:spcPct val="100000"/>
              </a:lnSpc>
              <a:spcBef>
                <a:spcPts val="100"/>
              </a:spcBef>
            </a:pPr>
            <a:r>
              <a:rPr sz="2120" b="1" spc="-5" dirty="0">
                <a:solidFill>
                  <a:srgbClr val="AC2FD6"/>
                </a:solidFill>
                <a:latin typeface="Times New Roman" panose="02020603050405020304"/>
                <a:cs typeface="Times New Roman" panose="02020603050405020304"/>
              </a:rPr>
              <a:t>DNA</a:t>
            </a:r>
            <a:endParaRPr sz="2120">
              <a:latin typeface="Times New Roman" panose="02020603050405020304"/>
              <a:cs typeface="Times New Roman" panose="02020603050405020304"/>
            </a:endParaRPr>
          </a:p>
        </p:txBody>
      </p:sp>
      <p:sp>
        <p:nvSpPr>
          <p:cNvPr id="9" name="object 9"/>
          <p:cNvSpPr txBox="1"/>
          <p:nvPr/>
        </p:nvSpPr>
        <p:spPr>
          <a:xfrm>
            <a:off x="1683123" y="3054722"/>
            <a:ext cx="874059" cy="1007745"/>
          </a:xfrm>
          <a:prstGeom prst="rect">
            <a:avLst/>
          </a:prstGeom>
        </p:spPr>
        <p:txBody>
          <a:bodyPr vert="horz" wrap="square" lIns="0" tIns="172570" rIns="0" bIns="0" rtlCol="0">
            <a:spAutoFit/>
          </a:bodyPr>
          <a:lstStyle/>
          <a:p>
            <a:pPr marL="48895" algn="l">
              <a:lnSpc>
                <a:spcPct val="100000"/>
              </a:lnSpc>
              <a:spcBef>
                <a:spcPts val="1540"/>
              </a:spcBef>
            </a:pPr>
            <a:r>
              <a:rPr sz="2120" b="1" spc="-5" dirty="0">
                <a:solidFill>
                  <a:srgbClr val="008F00"/>
                </a:solidFill>
                <a:latin typeface="Times New Roman" panose="02020603050405020304"/>
                <a:cs typeface="Times New Roman" panose="02020603050405020304"/>
              </a:rPr>
              <a:t>RNA</a:t>
            </a:r>
            <a:endParaRPr sz="2120">
              <a:latin typeface="Times New Roman" panose="02020603050405020304"/>
              <a:cs typeface="Times New Roman" panose="02020603050405020304"/>
            </a:endParaRPr>
          </a:p>
          <a:p>
            <a:pPr marL="12700" algn="l">
              <a:lnSpc>
                <a:spcPct val="100000"/>
              </a:lnSpc>
              <a:spcBef>
                <a:spcPts val="1440"/>
              </a:spcBef>
            </a:pPr>
            <a:r>
              <a:rPr sz="2120" b="1" dirty="0">
                <a:solidFill>
                  <a:srgbClr val="D77A00"/>
                </a:solidFill>
                <a:latin typeface="Times New Roman" panose="02020603050405020304"/>
                <a:cs typeface="Times New Roman" panose="02020603050405020304"/>
              </a:rPr>
              <a:t>Protein</a:t>
            </a:r>
            <a:endParaRPr sz="2120">
              <a:latin typeface="Times New Roman" panose="02020603050405020304"/>
              <a:cs typeface="Times New Roman" panose="02020603050405020304"/>
            </a:endParaRPr>
          </a:p>
        </p:txBody>
      </p:sp>
      <p:sp>
        <p:nvSpPr>
          <p:cNvPr id="10" name="object 10"/>
          <p:cNvSpPr txBox="1"/>
          <p:nvPr/>
        </p:nvSpPr>
        <p:spPr>
          <a:xfrm>
            <a:off x="4619960" y="3162299"/>
            <a:ext cx="605118" cy="335915"/>
          </a:xfrm>
          <a:prstGeom prst="rect">
            <a:avLst/>
          </a:prstGeom>
        </p:spPr>
        <p:txBody>
          <a:bodyPr vert="horz" wrap="square" lIns="0" tIns="11205" rIns="0" bIns="0" rtlCol="0">
            <a:spAutoFit/>
          </a:bodyPr>
          <a:lstStyle/>
          <a:p>
            <a:pPr marL="12700" algn="l">
              <a:lnSpc>
                <a:spcPct val="100000"/>
              </a:lnSpc>
              <a:spcBef>
                <a:spcPts val="100"/>
              </a:spcBef>
            </a:pPr>
            <a:r>
              <a:rPr sz="2120" b="1" spc="-10" dirty="0">
                <a:solidFill>
                  <a:srgbClr val="FF2800"/>
                </a:solidFill>
                <a:latin typeface="Times New Roman" panose="02020603050405020304"/>
                <a:cs typeface="Times New Roman" panose="02020603050405020304"/>
              </a:rPr>
              <a:t>A</a:t>
            </a:r>
            <a:r>
              <a:rPr sz="2120" b="1" spc="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sp>
        <p:nvSpPr>
          <p:cNvPr id="11" name="object 11"/>
          <p:cNvSpPr txBox="1"/>
          <p:nvPr/>
        </p:nvSpPr>
        <p:spPr>
          <a:xfrm>
            <a:off x="6316979" y="3175746"/>
            <a:ext cx="605118" cy="335915"/>
          </a:xfrm>
          <a:prstGeom prst="rect">
            <a:avLst/>
          </a:prstGeom>
        </p:spPr>
        <p:txBody>
          <a:bodyPr vert="horz" wrap="square" lIns="0" tIns="11205" rIns="0" bIns="0" rtlCol="0">
            <a:spAutoFit/>
          </a:bodyPr>
          <a:lstStyle/>
          <a:p>
            <a:pPr marL="12700" algn="l">
              <a:lnSpc>
                <a:spcPct val="100000"/>
              </a:lnSpc>
              <a:spcBef>
                <a:spcPts val="100"/>
              </a:spcBef>
            </a:pPr>
            <a:r>
              <a:rPr sz="2120" b="1" spc="-10" dirty="0">
                <a:solidFill>
                  <a:srgbClr val="FF2800"/>
                </a:solidFill>
                <a:latin typeface="Times New Roman" panose="02020603050405020304"/>
                <a:cs typeface="Times New Roman" panose="02020603050405020304"/>
              </a:rPr>
              <a:t>U</a:t>
            </a:r>
            <a:r>
              <a:rPr sz="2120" b="1" spc="5" dirty="0">
                <a:latin typeface="Times New Roman" panose="02020603050405020304"/>
                <a:cs typeface="Times New Roman" panose="02020603050405020304"/>
              </a:rPr>
              <a:t>A</a:t>
            </a:r>
            <a:r>
              <a:rPr sz="2120" b="1" dirty="0">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grpSp>
        <p:nvGrpSpPr>
          <p:cNvPr id="12" name="object 12"/>
          <p:cNvGrpSpPr/>
          <p:nvPr/>
        </p:nvGrpSpPr>
        <p:grpSpPr>
          <a:xfrm>
            <a:off x="5506571" y="3312010"/>
            <a:ext cx="605118" cy="132229"/>
            <a:chOff x="6088380" y="3753611"/>
            <a:chExt cx="685800" cy="149860"/>
          </a:xfrm>
        </p:grpSpPr>
        <p:sp>
          <p:nvSpPr>
            <p:cNvPr id="13" name="object 13"/>
            <p:cNvSpPr/>
            <p:nvPr/>
          </p:nvSpPr>
          <p:spPr>
            <a:xfrm>
              <a:off x="6088380" y="3826762"/>
              <a:ext cx="542925" cy="0"/>
            </a:xfrm>
            <a:custGeom>
              <a:avLst/>
              <a:gdLst/>
              <a:ahLst/>
              <a:cxnLst/>
              <a:rect l="l" t="t" r="r" b="b"/>
              <a:pathLst>
                <a:path w="542925">
                  <a:moveTo>
                    <a:pt x="0" y="0"/>
                  </a:moveTo>
                  <a:lnTo>
                    <a:pt x="542544" y="0"/>
                  </a:lnTo>
                </a:path>
              </a:pathLst>
            </a:custGeom>
            <a:ln w="27431">
              <a:solidFill>
                <a:srgbClr val="000000"/>
              </a:solidFill>
            </a:ln>
          </p:spPr>
          <p:txBody>
            <a:bodyPr wrap="square" lIns="0" tIns="0" rIns="0" bIns="0" rtlCol="0"/>
            <a:lstStyle/>
            <a:p>
              <a:pPr algn="l"/>
              <a:endParaRPr sz="100"/>
            </a:p>
          </p:txBody>
        </p:sp>
        <p:sp>
          <p:nvSpPr>
            <p:cNvPr id="14" name="object 14"/>
            <p:cNvSpPr/>
            <p:nvPr/>
          </p:nvSpPr>
          <p:spPr>
            <a:xfrm>
              <a:off x="6627876" y="3753611"/>
              <a:ext cx="146685" cy="149860"/>
            </a:xfrm>
            <a:custGeom>
              <a:avLst/>
              <a:gdLst/>
              <a:ahLst/>
              <a:cxnLst/>
              <a:rect l="l" t="t" r="r" b="b"/>
              <a:pathLst>
                <a:path w="146684" h="149860">
                  <a:moveTo>
                    <a:pt x="0" y="0"/>
                  </a:moveTo>
                  <a:lnTo>
                    <a:pt x="0" y="149352"/>
                  </a:lnTo>
                  <a:lnTo>
                    <a:pt x="146304" y="76200"/>
                  </a:lnTo>
                  <a:lnTo>
                    <a:pt x="0" y="0"/>
                  </a:lnTo>
                  <a:close/>
                </a:path>
              </a:pathLst>
            </a:custGeom>
            <a:solidFill>
              <a:srgbClr val="000000"/>
            </a:solidFill>
          </p:spPr>
          <p:txBody>
            <a:bodyPr wrap="square" lIns="0" tIns="0" rIns="0" bIns="0" rtlCol="0"/>
            <a:lstStyle/>
            <a:p>
              <a:pPr algn="l"/>
              <a:endParaRPr sz="100"/>
            </a:p>
          </p:txBody>
        </p:sp>
      </p:grpSp>
      <p:sp>
        <p:nvSpPr>
          <p:cNvPr id="15" name="object 15"/>
          <p:cNvSpPr txBox="1"/>
          <p:nvPr/>
        </p:nvSpPr>
        <p:spPr>
          <a:xfrm>
            <a:off x="4504765" y="3697941"/>
            <a:ext cx="680197" cy="335915"/>
          </a:xfrm>
          <a:prstGeom prst="rect">
            <a:avLst/>
          </a:prstGeom>
        </p:spPr>
        <p:txBody>
          <a:bodyPr vert="horz" wrap="square" lIns="0" tIns="11205" rIns="0" bIns="0" rtlCol="0">
            <a:spAutoFit/>
          </a:bodyPr>
          <a:lstStyle/>
          <a:p>
            <a:pPr marL="12700" algn="l">
              <a:lnSpc>
                <a:spcPct val="100000"/>
              </a:lnSpc>
              <a:spcBef>
                <a:spcPts val="100"/>
              </a:spcBef>
            </a:pPr>
            <a:r>
              <a:rPr sz="2120" b="1" dirty="0">
                <a:latin typeface="Times New Roman" panose="02020603050405020304"/>
                <a:cs typeface="Times New Roman" panose="02020603050405020304"/>
              </a:rPr>
              <a:t>lysine</a:t>
            </a:r>
            <a:endParaRPr sz="2120">
              <a:latin typeface="Times New Roman" panose="02020603050405020304"/>
              <a:cs typeface="Times New Roman" panose="02020603050405020304"/>
            </a:endParaRPr>
          </a:p>
        </p:txBody>
      </p:sp>
      <p:sp>
        <p:nvSpPr>
          <p:cNvPr id="16" name="object 16"/>
          <p:cNvSpPr txBox="1"/>
          <p:nvPr/>
        </p:nvSpPr>
        <p:spPr>
          <a:xfrm>
            <a:off x="6266329" y="3697941"/>
            <a:ext cx="725021" cy="335915"/>
          </a:xfrm>
          <a:prstGeom prst="rect">
            <a:avLst/>
          </a:prstGeom>
        </p:spPr>
        <p:txBody>
          <a:bodyPr vert="horz" wrap="square" lIns="0" tIns="11205" rIns="0" bIns="0" rtlCol="0">
            <a:spAutoFit/>
          </a:bodyPr>
          <a:lstStyle/>
          <a:p>
            <a:pPr marL="12700" algn="l">
              <a:lnSpc>
                <a:spcPct val="100000"/>
              </a:lnSpc>
              <a:spcBef>
                <a:spcPts val="100"/>
              </a:spcBef>
            </a:pPr>
            <a:r>
              <a:rPr sz="2120" b="1" spc="-5" dirty="0">
                <a:latin typeface="Times New Roman" panose="02020603050405020304"/>
                <a:cs typeface="Times New Roman" panose="02020603050405020304"/>
              </a:rPr>
              <a:t>STOP</a:t>
            </a:r>
            <a:endParaRPr sz="2120">
              <a:latin typeface="Times New Roman" panose="02020603050405020304"/>
              <a:cs typeface="Times New Roman" panose="02020603050405020304"/>
            </a:endParaRPr>
          </a:p>
        </p:txBody>
      </p:sp>
      <p:grpSp>
        <p:nvGrpSpPr>
          <p:cNvPr id="17" name="object 17"/>
          <p:cNvGrpSpPr/>
          <p:nvPr/>
        </p:nvGrpSpPr>
        <p:grpSpPr>
          <a:xfrm>
            <a:off x="5324140" y="3847651"/>
            <a:ext cx="607919" cy="132229"/>
            <a:chOff x="5366004" y="4378450"/>
            <a:chExt cx="688975" cy="149860"/>
          </a:xfrm>
        </p:grpSpPr>
        <p:sp>
          <p:nvSpPr>
            <p:cNvPr id="18" name="object 18"/>
            <p:cNvSpPr/>
            <p:nvPr/>
          </p:nvSpPr>
          <p:spPr>
            <a:xfrm>
              <a:off x="5366004" y="445160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a:endParaRPr sz="100"/>
            </a:p>
          </p:txBody>
        </p:sp>
        <p:sp>
          <p:nvSpPr>
            <p:cNvPr id="19" name="object 19"/>
            <p:cNvSpPr/>
            <p:nvPr/>
          </p:nvSpPr>
          <p:spPr>
            <a:xfrm>
              <a:off x="5905500" y="4378450"/>
              <a:ext cx="149860" cy="149860"/>
            </a:xfrm>
            <a:custGeom>
              <a:avLst/>
              <a:gdLst/>
              <a:ahLst/>
              <a:cxnLst/>
              <a:rect l="l" t="t" r="r" b="b"/>
              <a:pathLst>
                <a:path w="149860" h="149860">
                  <a:moveTo>
                    <a:pt x="0" y="0"/>
                  </a:moveTo>
                  <a:lnTo>
                    <a:pt x="0" y="149352"/>
                  </a:lnTo>
                  <a:lnTo>
                    <a:pt x="149351" y="73152"/>
                  </a:lnTo>
                  <a:lnTo>
                    <a:pt x="0" y="0"/>
                  </a:lnTo>
                  <a:close/>
                </a:path>
              </a:pathLst>
            </a:custGeom>
            <a:solidFill>
              <a:srgbClr val="000000"/>
            </a:solidFill>
          </p:spPr>
          <p:txBody>
            <a:bodyPr wrap="square" lIns="0" tIns="0" rIns="0" bIns="0" rtlCol="0"/>
            <a:lstStyle/>
            <a:p>
              <a:pPr algn="l"/>
              <a:endParaRPr sz="100"/>
            </a:p>
          </p:txBody>
        </p:sp>
      </p:grpSp>
      <p:sp>
        <p:nvSpPr>
          <p:cNvPr id="20" name="object 20"/>
          <p:cNvSpPr txBox="1"/>
          <p:nvPr/>
        </p:nvSpPr>
        <p:spPr>
          <a:xfrm>
            <a:off x="1815353" y="4840941"/>
            <a:ext cx="2644588" cy="335915"/>
          </a:xfrm>
          <a:prstGeom prst="rect">
            <a:avLst/>
          </a:prstGeom>
        </p:spPr>
        <p:txBody>
          <a:bodyPr vert="horz" wrap="square" lIns="0" tIns="11205" rIns="0" bIns="0" rtlCol="0">
            <a:spAutoFit/>
          </a:bodyPr>
          <a:lstStyle/>
          <a:p>
            <a:pPr marL="12700" algn="l">
              <a:lnSpc>
                <a:spcPct val="100000"/>
              </a:lnSpc>
              <a:spcBef>
                <a:spcPts val="100"/>
              </a:spcBef>
            </a:pPr>
            <a:r>
              <a:rPr sz="2120" b="1" dirty="0">
                <a:latin typeface="Times New Roman" panose="02020603050405020304"/>
                <a:cs typeface="Times New Roman" panose="02020603050405020304"/>
              </a:rPr>
              <a:t>Truncated</a:t>
            </a:r>
            <a:r>
              <a:rPr sz="2120" b="1" spc="-80"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polypeptide</a:t>
            </a:r>
            <a:endParaRPr sz="2120">
              <a:latin typeface="Times New Roman" panose="02020603050405020304"/>
              <a:cs typeface="Times New Roman" panose="02020603050405020304"/>
            </a:endParaRPr>
          </a:p>
        </p:txBody>
      </p:sp>
      <p:grpSp>
        <p:nvGrpSpPr>
          <p:cNvPr id="21" name="object 21"/>
          <p:cNvGrpSpPr/>
          <p:nvPr/>
        </p:nvGrpSpPr>
        <p:grpSpPr>
          <a:xfrm>
            <a:off x="804134" y="1678191"/>
            <a:ext cx="277346" cy="344581"/>
            <a:chOff x="758952" y="1901950"/>
            <a:chExt cx="314325" cy="390525"/>
          </a:xfrm>
        </p:grpSpPr>
        <p:sp>
          <p:nvSpPr>
            <p:cNvPr id="22" name="object 22"/>
            <p:cNvSpPr/>
            <p:nvPr/>
          </p:nvSpPr>
          <p:spPr>
            <a:xfrm>
              <a:off x="763524" y="1906522"/>
              <a:ext cx="304800" cy="381000"/>
            </a:xfrm>
            <a:custGeom>
              <a:avLst/>
              <a:gdLst/>
              <a:ahLst/>
              <a:cxnLst/>
              <a:rect l="l" t="t" r="r" b="b"/>
              <a:pathLst>
                <a:path w="304800" h="381000">
                  <a:moveTo>
                    <a:pt x="246887" y="380999"/>
                  </a:moveTo>
                  <a:lnTo>
                    <a:pt x="152399" y="292607"/>
                  </a:lnTo>
                  <a:lnTo>
                    <a:pt x="57912" y="380999"/>
                  </a:lnTo>
                  <a:lnTo>
                    <a:pt x="94487" y="237743"/>
                  </a:lnTo>
                  <a:lnTo>
                    <a:pt x="0" y="146303"/>
                  </a:lnTo>
                  <a:lnTo>
                    <a:pt x="115823" y="146303"/>
                  </a:lnTo>
                  <a:lnTo>
                    <a:pt x="152399" y="0"/>
                  </a:lnTo>
                  <a:lnTo>
                    <a:pt x="188976" y="146303"/>
                  </a:lnTo>
                  <a:lnTo>
                    <a:pt x="304799" y="146303"/>
                  </a:lnTo>
                  <a:lnTo>
                    <a:pt x="210311" y="237743"/>
                  </a:lnTo>
                  <a:lnTo>
                    <a:pt x="246887" y="380999"/>
                  </a:lnTo>
                  <a:close/>
                </a:path>
              </a:pathLst>
            </a:custGeom>
            <a:solidFill>
              <a:srgbClr val="FFAA41"/>
            </a:solidFill>
          </p:spPr>
          <p:txBody>
            <a:bodyPr wrap="square" lIns="0" tIns="0" rIns="0" bIns="0" rtlCol="0"/>
            <a:lstStyle/>
            <a:p>
              <a:pPr algn="l"/>
              <a:endParaRPr sz="100"/>
            </a:p>
          </p:txBody>
        </p:sp>
        <p:sp>
          <p:nvSpPr>
            <p:cNvPr id="23" name="object 23"/>
            <p:cNvSpPr/>
            <p:nvPr/>
          </p:nvSpPr>
          <p:spPr>
            <a:xfrm>
              <a:off x="763524" y="1906522"/>
              <a:ext cx="304800" cy="381000"/>
            </a:xfrm>
            <a:custGeom>
              <a:avLst/>
              <a:gdLst/>
              <a:ahLst/>
              <a:cxnLst/>
              <a:rect l="l" t="t" r="r" b="b"/>
              <a:pathLst>
                <a:path w="304800" h="381000">
                  <a:moveTo>
                    <a:pt x="152399" y="0"/>
                  </a:moveTo>
                  <a:lnTo>
                    <a:pt x="115823" y="146303"/>
                  </a:lnTo>
                  <a:lnTo>
                    <a:pt x="0" y="146303"/>
                  </a:lnTo>
                  <a:lnTo>
                    <a:pt x="94487" y="237743"/>
                  </a:lnTo>
                  <a:lnTo>
                    <a:pt x="57912" y="380999"/>
                  </a:lnTo>
                  <a:lnTo>
                    <a:pt x="152399" y="292607"/>
                  </a:lnTo>
                  <a:lnTo>
                    <a:pt x="246887" y="380999"/>
                  </a:lnTo>
                  <a:lnTo>
                    <a:pt x="210311" y="237743"/>
                  </a:lnTo>
                  <a:lnTo>
                    <a:pt x="304799" y="146303"/>
                  </a:lnTo>
                  <a:lnTo>
                    <a:pt x="188976" y="146303"/>
                  </a:lnTo>
                  <a:lnTo>
                    <a:pt x="152399" y="0"/>
                  </a:lnTo>
                  <a:close/>
                </a:path>
              </a:pathLst>
            </a:custGeom>
            <a:ln w="9143">
              <a:solidFill>
                <a:srgbClr val="000000"/>
              </a:solidFill>
            </a:ln>
          </p:spPr>
          <p:txBody>
            <a:bodyPr wrap="square" lIns="0" tIns="0" rIns="0" bIns="0" rtlCol="0"/>
            <a:lstStyle/>
            <a:p>
              <a:pPr algn="l"/>
              <a:endParaRPr sz="1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56883"/>
            <a:ext cx="8229600" cy="1143000"/>
          </a:xfrm>
        </p:spPr>
        <p:txBody>
          <a:bodyPr/>
          <a:p>
            <a:pPr algn="l"/>
            <a:r>
              <a:rPr sz="2400" spc="-5" dirty="0">
                <a:solidFill>
                  <a:schemeClr val="tx1"/>
                </a:solidFill>
                <a:latin typeface="Yu Gothic UI Semibold" panose="020B0700000000000000" charset="-128"/>
                <a:ea typeface="Yu Gothic UI Semibold" panose="020B0700000000000000" charset="-128"/>
                <a:cs typeface="Verdana" panose="020B0604030504040204"/>
                <a:sym typeface="+mn-ea"/>
              </a:rPr>
              <a:t>Nonsense</a:t>
            </a:r>
            <a:r>
              <a:rPr sz="2400" spc="-15" dirty="0">
                <a:solidFill>
                  <a:schemeClr val="tx1"/>
                </a:solidFill>
                <a:latin typeface="Yu Gothic UI Semibold" panose="020B0700000000000000" charset="-128"/>
                <a:ea typeface="Yu Gothic UI Semibold" panose="020B0700000000000000" charset="-128"/>
                <a:cs typeface="Verdana" panose="020B0604030504040204"/>
                <a:sym typeface="+mn-ea"/>
              </a:rPr>
              <a:t> </a:t>
            </a:r>
            <a:r>
              <a:rPr sz="2400" spc="-5" dirty="0">
                <a:solidFill>
                  <a:schemeClr val="tx1"/>
                </a:solidFill>
                <a:latin typeface="Yu Gothic UI Semibold" panose="020B0700000000000000" charset="-128"/>
                <a:ea typeface="Yu Gothic UI Semibold" panose="020B0700000000000000" charset="-128"/>
                <a:cs typeface="Verdana" panose="020B0604030504040204"/>
                <a:sym typeface="+mn-ea"/>
              </a:rPr>
              <a:t>mutations</a:t>
            </a:r>
            <a:r>
              <a:rPr lang="en-US" sz="2400" spc="-5" dirty="0">
                <a:solidFill>
                  <a:schemeClr val="tx1"/>
                </a:solidFill>
                <a:latin typeface="Yu Gothic UI Semibold" panose="020B0700000000000000" charset="-128"/>
                <a:ea typeface="Yu Gothic UI Semibold" panose="020B0700000000000000" charset="-128"/>
                <a:cs typeface="Verdana" panose="020B0604030504040204"/>
                <a:sym typeface="+mn-ea"/>
              </a:rPr>
              <a:t>:</a:t>
            </a:r>
            <a:br>
              <a:rPr sz="2400">
                <a:solidFill>
                  <a:schemeClr val="tx1"/>
                </a:solidFill>
                <a:latin typeface="Yu Gothic UI Semibold" panose="020B0700000000000000" charset="-128"/>
                <a:ea typeface="Yu Gothic UI Semibold" panose="020B0700000000000000" charset="-128"/>
                <a:cs typeface="Verdana" panose="020B0604030504040204"/>
                <a:sym typeface="+mn-ea"/>
              </a:rPr>
            </a:br>
            <a:endParaRPr lang="en-US" sz="2400">
              <a:solidFill>
                <a:schemeClr val="tx1"/>
              </a:solidFill>
              <a:latin typeface="Yu Gothic UI Semibold" panose="020B0700000000000000" charset="-128"/>
              <a:ea typeface="Yu Gothic UI Semibold" panose="020B0700000000000000" charset="-128"/>
              <a:cs typeface="Verdana" panose="020B0604030504040204"/>
              <a:sym typeface="+mn-ea"/>
            </a:endParaRPr>
          </a:p>
        </p:txBody>
      </p:sp>
      <p:pic>
        <p:nvPicPr>
          <p:cNvPr id="1026" name="Picture 2"/>
          <p:cNvPicPr>
            <a:picLocks noChangeAspect="1" noChangeArrowheads="1"/>
          </p:cNvPicPr>
          <p:nvPr>
            <p:ph idx="1"/>
          </p:nvPr>
        </p:nvPicPr>
        <p:blipFill>
          <a:blip r:embed="rId1"/>
          <a:srcRect/>
          <a:stretch>
            <a:fillRect/>
          </a:stretch>
        </p:blipFill>
        <p:spPr bwMode="auto">
          <a:xfrm>
            <a:off x="685800" y="1600200"/>
            <a:ext cx="7482205" cy="476694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4559" y="930087"/>
            <a:ext cx="7384116" cy="1285875"/>
          </a:xfrm>
          <a:prstGeom prst="rect">
            <a:avLst/>
          </a:prstGeom>
        </p:spPr>
        <p:txBody>
          <a:bodyPr vert="horz" wrap="square" lIns="0" tIns="11205" rIns="0" bIns="0" rtlCol="0">
            <a:spAutoFit/>
          </a:bodyPr>
          <a:lstStyle/>
          <a:p>
            <a:pPr marL="88265" algn="l" rtl="0">
              <a:lnSpc>
                <a:spcPct val="100000"/>
              </a:lnSpc>
              <a:spcBef>
                <a:spcPts val="100"/>
              </a:spcBef>
            </a:pPr>
            <a:r>
              <a:rPr sz="2120" b="1" u="sng" spc="-5" dirty="0">
                <a:solidFill>
                  <a:schemeClr val="tx1"/>
                </a:solidFill>
                <a:uFill>
                  <a:solidFill>
                    <a:srgbClr val="4348AA"/>
                  </a:solidFill>
                </a:uFill>
                <a:latin typeface="Times New Roman" panose="02020603050405020304"/>
                <a:cs typeface="Times New Roman" panose="02020603050405020304"/>
              </a:rPr>
              <a:t>Silent</a:t>
            </a:r>
            <a:r>
              <a:rPr sz="2120" b="1" u="sng" spc="-50" dirty="0">
                <a:solidFill>
                  <a:schemeClr val="tx1"/>
                </a:solidFill>
                <a:uFill>
                  <a:solidFill>
                    <a:srgbClr val="4348AA"/>
                  </a:solidFill>
                </a:uFill>
                <a:latin typeface="Times New Roman" panose="02020603050405020304"/>
                <a:cs typeface="Times New Roman" panose="02020603050405020304"/>
              </a:rPr>
              <a:t> </a:t>
            </a:r>
            <a:r>
              <a:rPr sz="2120" b="1" u="sng" dirty="0">
                <a:solidFill>
                  <a:schemeClr val="tx1"/>
                </a:solidFill>
                <a:uFill>
                  <a:solidFill>
                    <a:srgbClr val="4348AA"/>
                  </a:solidFill>
                </a:uFill>
                <a:latin typeface="Times New Roman" panose="02020603050405020304"/>
                <a:cs typeface="Times New Roman" panose="02020603050405020304"/>
              </a:rPr>
              <a:t>mutation</a:t>
            </a:r>
            <a:endParaRPr sz="2120">
              <a:solidFill>
                <a:schemeClr val="tx1"/>
              </a:solidFill>
              <a:latin typeface="Times New Roman" panose="02020603050405020304"/>
              <a:cs typeface="Times New Roman" panose="02020603050405020304"/>
            </a:endParaRPr>
          </a:p>
          <a:p>
            <a:pPr algn="l" rtl="0">
              <a:lnSpc>
                <a:spcPct val="100000"/>
              </a:lnSpc>
              <a:spcBef>
                <a:spcPts val="45"/>
              </a:spcBef>
            </a:pPr>
            <a:endParaRPr sz="1895">
              <a:latin typeface="Times New Roman" panose="02020603050405020304"/>
              <a:cs typeface="Times New Roman" panose="02020603050405020304"/>
            </a:endParaRPr>
          </a:p>
          <a:p>
            <a:pPr marL="12700" marR="5080" algn="l" rtl="0">
              <a:lnSpc>
                <a:spcPct val="100000"/>
              </a:lnSpc>
            </a:pPr>
            <a:r>
              <a:rPr sz="2120" b="1" spc="-5" dirty="0">
                <a:latin typeface="Times New Roman" panose="02020603050405020304"/>
                <a:cs typeface="Times New Roman" panose="02020603050405020304"/>
              </a:rPr>
              <a:t>bp</a:t>
            </a:r>
            <a:r>
              <a:rPr sz="2120" b="1" spc="-1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DNA</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results</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change</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in</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mRNA</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codon,</a:t>
            </a:r>
            <a:r>
              <a:rPr sz="2120" b="1" spc="-10"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so</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that</a:t>
            </a:r>
            <a:r>
              <a:rPr sz="2120" b="1" spc="-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the </a:t>
            </a:r>
            <a:r>
              <a:rPr sz="2120" b="1" spc="-585" dirty="0">
                <a:latin typeface="Times New Roman" panose="02020603050405020304"/>
                <a:cs typeface="Times New Roman" panose="02020603050405020304"/>
              </a:rPr>
              <a:t> </a:t>
            </a:r>
            <a:r>
              <a:rPr sz="2120" b="1" spc="-5" dirty="0">
                <a:latin typeface="Times New Roman" panose="02020603050405020304"/>
                <a:cs typeface="Times New Roman" panose="02020603050405020304"/>
              </a:rPr>
              <a:t>SAME</a:t>
            </a:r>
            <a:r>
              <a:rPr sz="2120" b="1" spc="-10"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aa is inserted.</a:t>
            </a:r>
            <a:endParaRPr sz="2120">
              <a:latin typeface="Times New Roman" panose="02020603050405020304"/>
              <a:cs typeface="Times New Roman" panose="02020603050405020304"/>
            </a:endParaRPr>
          </a:p>
        </p:txBody>
      </p:sp>
      <p:sp>
        <p:nvSpPr>
          <p:cNvPr id="3" name="object 3"/>
          <p:cNvSpPr txBox="1"/>
          <p:nvPr/>
        </p:nvSpPr>
        <p:spPr>
          <a:xfrm>
            <a:off x="4587687" y="2624417"/>
            <a:ext cx="603997" cy="335915"/>
          </a:xfrm>
          <a:prstGeom prst="rect">
            <a:avLst/>
          </a:prstGeom>
        </p:spPr>
        <p:txBody>
          <a:bodyPr vert="horz" wrap="square" lIns="0" tIns="11205" rIns="0" bIns="0" rtlCol="0">
            <a:spAutoFit/>
          </a:bodyPr>
          <a:lstStyle/>
          <a:p>
            <a:pPr marL="12700" algn="l" rtl="0">
              <a:lnSpc>
                <a:spcPct val="100000"/>
              </a:lnSpc>
              <a:spcBef>
                <a:spcPts val="100"/>
              </a:spcBef>
            </a:pPr>
            <a:r>
              <a:rPr sz="2120" b="1" spc="-5" dirty="0">
                <a:latin typeface="Times New Roman" panose="02020603050405020304"/>
                <a:cs typeface="Times New Roman" panose="02020603050405020304"/>
              </a:rPr>
              <a:t>A</a:t>
            </a:r>
            <a:r>
              <a:rPr sz="2120" b="1" spc="-10" dirty="0">
                <a:latin typeface="Times New Roman" panose="02020603050405020304"/>
                <a:cs typeface="Times New Roman" panose="02020603050405020304"/>
              </a:rPr>
              <a:t>A</a:t>
            </a:r>
            <a:r>
              <a:rPr sz="2120" b="1" dirty="0">
                <a:solidFill>
                  <a:srgbClr val="FF2800"/>
                </a:solidFill>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sp>
        <p:nvSpPr>
          <p:cNvPr id="4" name="object 4"/>
          <p:cNvSpPr txBox="1"/>
          <p:nvPr/>
        </p:nvSpPr>
        <p:spPr>
          <a:xfrm>
            <a:off x="6284706" y="2637864"/>
            <a:ext cx="619125" cy="335915"/>
          </a:xfrm>
          <a:prstGeom prst="rect">
            <a:avLst/>
          </a:prstGeom>
        </p:spPr>
        <p:txBody>
          <a:bodyPr vert="horz" wrap="square" lIns="0" tIns="11205" rIns="0" bIns="0" rtlCol="0">
            <a:spAutoFit/>
          </a:bodyPr>
          <a:lstStyle/>
          <a:p>
            <a:pPr marL="12700" algn="l" rtl="0">
              <a:lnSpc>
                <a:spcPct val="100000"/>
              </a:lnSpc>
              <a:spcBef>
                <a:spcPts val="100"/>
              </a:spcBef>
            </a:pPr>
            <a:r>
              <a:rPr sz="2120" b="1" spc="-5" dirty="0">
                <a:latin typeface="Times New Roman" panose="02020603050405020304"/>
                <a:cs typeface="Times New Roman" panose="02020603050405020304"/>
              </a:rPr>
              <a:t>A</a:t>
            </a:r>
            <a:r>
              <a:rPr sz="2120" b="1" spc="-10" dirty="0">
                <a:latin typeface="Times New Roman" panose="02020603050405020304"/>
                <a:cs typeface="Times New Roman" panose="02020603050405020304"/>
              </a:rPr>
              <a:t>A</a:t>
            </a:r>
            <a:r>
              <a:rPr sz="2120" b="1" dirty="0">
                <a:solidFill>
                  <a:srgbClr val="FF2800"/>
                </a:solidFill>
                <a:latin typeface="Times New Roman" panose="02020603050405020304"/>
                <a:cs typeface="Times New Roman" panose="02020603050405020304"/>
              </a:rPr>
              <a:t>G</a:t>
            </a:r>
            <a:endParaRPr sz="2120">
              <a:latin typeface="Times New Roman" panose="02020603050405020304"/>
              <a:cs typeface="Times New Roman" panose="02020603050405020304"/>
            </a:endParaRPr>
          </a:p>
        </p:txBody>
      </p:sp>
      <p:grpSp>
        <p:nvGrpSpPr>
          <p:cNvPr id="5" name="object 5"/>
          <p:cNvGrpSpPr/>
          <p:nvPr/>
        </p:nvGrpSpPr>
        <p:grpSpPr>
          <a:xfrm>
            <a:off x="5474298" y="2774127"/>
            <a:ext cx="605118" cy="132229"/>
            <a:chOff x="6051804" y="3144011"/>
            <a:chExt cx="685800" cy="149860"/>
          </a:xfrm>
        </p:grpSpPr>
        <p:sp>
          <p:nvSpPr>
            <p:cNvPr id="6" name="object 6"/>
            <p:cNvSpPr/>
            <p:nvPr/>
          </p:nvSpPr>
          <p:spPr>
            <a:xfrm>
              <a:off x="6051804" y="3217162"/>
              <a:ext cx="542925" cy="0"/>
            </a:xfrm>
            <a:custGeom>
              <a:avLst/>
              <a:gdLst/>
              <a:ahLst/>
              <a:cxnLst/>
              <a:rect l="l" t="t" r="r" b="b"/>
              <a:pathLst>
                <a:path w="542925">
                  <a:moveTo>
                    <a:pt x="0" y="0"/>
                  </a:moveTo>
                  <a:lnTo>
                    <a:pt x="542544" y="0"/>
                  </a:lnTo>
                </a:path>
              </a:pathLst>
            </a:custGeom>
            <a:ln w="27431">
              <a:solidFill>
                <a:srgbClr val="000000"/>
              </a:solidFill>
            </a:ln>
          </p:spPr>
          <p:txBody>
            <a:bodyPr wrap="square" lIns="0" tIns="0" rIns="0" bIns="0" rtlCol="0"/>
            <a:lstStyle/>
            <a:p>
              <a:pPr algn="l" rtl="0"/>
              <a:endParaRPr sz="100"/>
            </a:p>
          </p:txBody>
        </p:sp>
        <p:sp>
          <p:nvSpPr>
            <p:cNvPr id="7" name="object 7"/>
            <p:cNvSpPr/>
            <p:nvPr/>
          </p:nvSpPr>
          <p:spPr>
            <a:xfrm>
              <a:off x="6591300" y="3144011"/>
              <a:ext cx="146685" cy="149860"/>
            </a:xfrm>
            <a:custGeom>
              <a:avLst/>
              <a:gdLst/>
              <a:ahLst/>
              <a:cxnLst/>
              <a:rect l="l" t="t" r="r" b="b"/>
              <a:pathLst>
                <a:path w="146684" h="149860">
                  <a:moveTo>
                    <a:pt x="0" y="0"/>
                  </a:moveTo>
                  <a:lnTo>
                    <a:pt x="0" y="149352"/>
                  </a:lnTo>
                  <a:lnTo>
                    <a:pt x="146304" y="76200"/>
                  </a:lnTo>
                  <a:lnTo>
                    <a:pt x="0" y="0"/>
                  </a:lnTo>
                  <a:close/>
                </a:path>
              </a:pathLst>
            </a:custGeom>
            <a:solidFill>
              <a:srgbClr val="000000"/>
            </a:solidFill>
          </p:spPr>
          <p:txBody>
            <a:bodyPr wrap="square" lIns="0" tIns="0" rIns="0" bIns="0" rtlCol="0"/>
            <a:lstStyle/>
            <a:p>
              <a:pPr algn="l" rtl="0"/>
              <a:endParaRPr sz="100"/>
            </a:p>
          </p:txBody>
        </p:sp>
      </p:grpSp>
      <p:sp>
        <p:nvSpPr>
          <p:cNvPr id="8" name="object 8"/>
          <p:cNvSpPr txBox="1"/>
          <p:nvPr/>
        </p:nvSpPr>
        <p:spPr>
          <a:xfrm>
            <a:off x="1750358" y="2678205"/>
            <a:ext cx="605118" cy="335915"/>
          </a:xfrm>
          <a:prstGeom prst="rect">
            <a:avLst/>
          </a:prstGeom>
        </p:spPr>
        <p:txBody>
          <a:bodyPr vert="horz" wrap="square" lIns="0" tIns="11205" rIns="0" bIns="0" rtlCol="0">
            <a:spAutoFit/>
          </a:bodyPr>
          <a:lstStyle/>
          <a:p>
            <a:pPr marL="12700" algn="l" rtl="0">
              <a:lnSpc>
                <a:spcPct val="100000"/>
              </a:lnSpc>
              <a:spcBef>
                <a:spcPts val="100"/>
              </a:spcBef>
            </a:pPr>
            <a:r>
              <a:rPr sz="2120" b="1" spc="-5" dirty="0">
                <a:solidFill>
                  <a:srgbClr val="AC2FD6"/>
                </a:solidFill>
                <a:latin typeface="Times New Roman" panose="02020603050405020304"/>
                <a:cs typeface="Times New Roman" panose="02020603050405020304"/>
              </a:rPr>
              <a:t>DNA</a:t>
            </a:r>
            <a:endParaRPr sz="2120">
              <a:latin typeface="Times New Roman" panose="02020603050405020304"/>
              <a:cs typeface="Times New Roman" panose="02020603050405020304"/>
            </a:endParaRPr>
          </a:p>
        </p:txBody>
      </p:sp>
      <p:sp>
        <p:nvSpPr>
          <p:cNvPr id="9" name="object 9"/>
          <p:cNvSpPr txBox="1"/>
          <p:nvPr/>
        </p:nvSpPr>
        <p:spPr>
          <a:xfrm>
            <a:off x="1683123" y="3054722"/>
            <a:ext cx="874059" cy="1007745"/>
          </a:xfrm>
          <a:prstGeom prst="rect">
            <a:avLst/>
          </a:prstGeom>
        </p:spPr>
        <p:txBody>
          <a:bodyPr vert="horz" wrap="square" lIns="0" tIns="172570" rIns="0" bIns="0" rtlCol="0">
            <a:spAutoFit/>
          </a:bodyPr>
          <a:lstStyle/>
          <a:p>
            <a:pPr marL="48895" algn="l" rtl="0">
              <a:lnSpc>
                <a:spcPct val="100000"/>
              </a:lnSpc>
              <a:spcBef>
                <a:spcPts val="1540"/>
              </a:spcBef>
            </a:pPr>
            <a:r>
              <a:rPr sz="2120" b="1" spc="-5" dirty="0">
                <a:solidFill>
                  <a:srgbClr val="008F00"/>
                </a:solidFill>
                <a:latin typeface="Times New Roman" panose="02020603050405020304"/>
                <a:cs typeface="Times New Roman" panose="02020603050405020304"/>
              </a:rPr>
              <a:t>RNA</a:t>
            </a:r>
            <a:endParaRPr sz="2120">
              <a:latin typeface="Times New Roman" panose="02020603050405020304"/>
              <a:cs typeface="Times New Roman" panose="02020603050405020304"/>
            </a:endParaRPr>
          </a:p>
          <a:p>
            <a:pPr marL="12700" algn="l" rtl="0">
              <a:lnSpc>
                <a:spcPct val="100000"/>
              </a:lnSpc>
              <a:spcBef>
                <a:spcPts val="1440"/>
              </a:spcBef>
            </a:pPr>
            <a:r>
              <a:rPr sz="2120" b="1" dirty="0">
                <a:solidFill>
                  <a:srgbClr val="D77A00"/>
                </a:solidFill>
                <a:latin typeface="Times New Roman" panose="02020603050405020304"/>
                <a:cs typeface="Times New Roman" panose="02020603050405020304"/>
              </a:rPr>
              <a:t>Protein</a:t>
            </a:r>
            <a:endParaRPr sz="2120">
              <a:latin typeface="Times New Roman" panose="02020603050405020304"/>
              <a:cs typeface="Times New Roman" panose="02020603050405020304"/>
            </a:endParaRPr>
          </a:p>
        </p:txBody>
      </p:sp>
      <p:sp>
        <p:nvSpPr>
          <p:cNvPr id="10" name="object 10"/>
          <p:cNvSpPr txBox="1"/>
          <p:nvPr/>
        </p:nvSpPr>
        <p:spPr>
          <a:xfrm>
            <a:off x="4619960" y="3162299"/>
            <a:ext cx="603997" cy="335915"/>
          </a:xfrm>
          <a:prstGeom prst="rect">
            <a:avLst/>
          </a:prstGeom>
        </p:spPr>
        <p:txBody>
          <a:bodyPr vert="horz" wrap="square" lIns="0" tIns="11205" rIns="0" bIns="0" rtlCol="0">
            <a:spAutoFit/>
          </a:bodyPr>
          <a:lstStyle/>
          <a:p>
            <a:pPr marL="12700" algn="l" rtl="0">
              <a:lnSpc>
                <a:spcPct val="100000"/>
              </a:lnSpc>
              <a:spcBef>
                <a:spcPts val="100"/>
              </a:spcBef>
            </a:pPr>
            <a:r>
              <a:rPr sz="2120" b="1" spc="-5" dirty="0">
                <a:latin typeface="Times New Roman" panose="02020603050405020304"/>
                <a:cs typeface="Times New Roman" panose="02020603050405020304"/>
              </a:rPr>
              <a:t>A</a:t>
            </a:r>
            <a:r>
              <a:rPr sz="2120" b="1" spc="-10" dirty="0">
                <a:latin typeface="Times New Roman" panose="02020603050405020304"/>
                <a:cs typeface="Times New Roman" panose="02020603050405020304"/>
              </a:rPr>
              <a:t>A</a:t>
            </a:r>
            <a:r>
              <a:rPr sz="2120" b="1" dirty="0">
                <a:solidFill>
                  <a:srgbClr val="FF2800"/>
                </a:solidFill>
                <a:latin typeface="Times New Roman" panose="02020603050405020304"/>
                <a:cs typeface="Times New Roman" panose="02020603050405020304"/>
              </a:rPr>
              <a:t>A</a:t>
            </a:r>
            <a:endParaRPr sz="2120">
              <a:latin typeface="Times New Roman" panose="02020603050405020304"/>
              <a:cs typeface="Times New Roman" panose="02020603050405020304"/>
            </a:endParaRPr>
          </a:p>
        </p:txBody>
      </p:sp>
      <p:sp>
        <p:nvSpPr>
          <p:cNvPr id="11" name="object 11"/>
          <p:cNvSpPr txBox="1"/>
          <p:nvPr/>
        </p:nvSpPr>
        <p:spPr>
          <a:xfrm>
            <a:off x="6316979" y="3175746"/>
            <a:ext cx="619125" cy="335915"/>
          </a:xfrm>
          <a:prstGeom prst="rect">
            <a:avLst/>
          </a:prstGeom>
        </p:spPr>
        <p:txBody>
          <a:bodyPr vert="horz" wrap="square" lIns="0" tIns="11205" rIns="0" bIns="0" rtlCol="0">
            <a:spAutoFit/>
          </a:bodyPr>
          <a:lstStyle/>
          <a:p>
            <a:pPr marL="12700" algn="l" rtl="0">
              <a:lnSpc>
                <a:spcPct val="100000"/>
              </a:lnSpc>
              <a:spcBef>
                <a:spcPts val="100"/>
              </a:spcBef>
            </a:pPr>
            <a:r>
              <a:rPr sz="2120" b="1" spc="-5" dirty="0">
                <a:latin typeface="Times New Roman" panose="02020603050405020304"/>
                <a:cs typeface="Times New Roman" panose="02020603050405020304"/>
              </a:rPr>
              <a:t>A</a:t>
            </a:r>
            <a:r>
              <a:rPr sz="2120" b="1" spc="-10" dirty="0">
                <a:latin typeface="Times New Roman" panose="02020603050405020304"/>
                <a:cs typeface="Times New Roman" panose="02020603050405020304"/>
              </a:rPr>
              <a:t>A</a:t>
            </a:r>
            <a:r>
              <a:rPr sz="2120" b="1" dirty="0">
                <a:solidFill>
                  <a:srgbClr val="FF2800"/>
                </a:solidFill>
                <a:latin typeface="Times New Roman" panose="02020603050405020304"/>
                <a:cs typeface="Times New Roman" panose="02020603050405020304"/>
              </a:rPr>
              <a:t>G</a:t>
            </a:r>
            <a:endParaRPr sz="2120">
              <a:latin typeface="Times New Roman" panose="02020603050405020304"/>
              <a:cs typeface="Times New Roman" panose="02020603050405020304"/>
            </a:endParaRPr>
          </a:p>
        </p:txBody>
      </p:sp>
      <p:grpSp>
        <p:nvGrpSpPr>
          <p:cNvPr id="12" name="object 12"/>
          <p:cNvGrpSpPr/>
          <p:nvPr/>
        </p:nvGrpSpPr>
        <p:grpSpPr>
          <a:xfrm>
            <a:off x="5506571" y="3312010"/>
            <a:ext cx="605118" cy="132229"/>
            <a:chOff x="6088380" y="3753611"/>
            <a:chExt cx="685800" cy="149860"/>
          </a:xfrm>
        </p:grpSpPr>
        <p:sp>
          <p:nvSpPr>
            <p:cNvPr id="13" name="object 13"/>
            <p:cNvSpPr/>
            <p:nvPr/>
          </p:nvSpPr>
          <p:spPr>
            <a:xfrm>
              <a:off x="6088380" y="3826762"/>
              <a:ext cx="542925" cy="0"/>
            </a:xfrm>
            <a:custGeom>
              <a:avLst/>
              <a:gdLst/>
              <a:ahLst/>
              <a:cxnLst/>
              <a:rect l="l" t="t" r="r" b="b"/>
              <a:pathLst>
                <a:path w="542925">
                  <a:moveTo>
                    <a:pt x="0" y="0"/>
                  </a:moveTo>
                  <a:lnTo>
                    <a:pt x="542544" y="0"/>
                  </a:lnTo>
                </a:path>
              </a:pathLst>
            </a:custGeom>
            <a:ln w="27431">
              <a:solidFill>
                <a:srgbClr val="000000"/>
              </a:solidFill>
            </a:ln>
          </p:spPr>
          <p:txBody>
            <a:bodyPr wrap="square" lIns="0" tIns="0" rIns="0" bIns="0" rtlCol="0"/>
            <a:lstStyle/>
            <a:p>
              <a:pPr algn="l" rtl="0"/>
              <a:endParaRPr sz="100"/>
            </a:p>
          </p:txBody>
        </p:sp>
        <p:sp>
          <p:nvSpPr>
            <p:cNvPr id="14" name="object 14"/>
            <p:cNvSpPr/>
            <p:nvPr/>
          </p:nvSpPr>
          <p:spPr>
            <a:xfrm>
              <a:off x="6627876" y="3753611"/>
              <a:ext cx="146685" cy="149860"/>
            </a:xfrm>
            <a:custGeom>
              <a:avLst/>
              <a:gdLst/>
              <a:ahLst/>
              <a:cxnLst/>
              <a:rect l="l" t="t" r="r" b="b"/>
              <a:pathLst>
                <a:path w="146684" h="149860">
                  <a:moveTo>
                    <a:pt x="0" y="0"/>
                  </a:moveTo>
                  <a:lnTo>
                    <a:pt x="0" y="149352"/>
                  </a:lnTo>
                  <a:lnTo>
                    <a:pt x="146304" y="76200"/>
                  </a:lnTo>
                  <a:lnTo>
                    <a:pt x="0" y="0"/>
                  </a:lnTo>
                  <a:close/>
                </a:path>
              </a:pathLst>
            </a:custGeom>
            <a:solidFill>
              <a:srgbClr val="000000"/>
            </a:solidFill>
          </p:spPr>
          <p:txBody>
            <a:bodyPr wrap="square" lIns="0" tIns="0" rIns="0" bIns="0" rtlCol="0"/>
            <a:lstStyle/>
            <a:p>
              <a:pPr algn="l" rtl="0"/>
              <a:endParaRPr sz="100"/>
            </a:p>
          </p:txBody>
        </p:sp>
      </p:grpSp>
      <p:sp>
        <p:nvSpPr>
          <p:cNvPr id="15" name="object 15"/>
          <p:cNvSpPr txBox="1"/>
          <p:nvPr/>
        </p:nvSpPr>
        <p:spPr>
          <a:xfrm>
            <a:off x="4693024" y="3765176"/>
            <a:ext cx="680197"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latin typeface="Times New Roman" panose="02020603050405020304"/>
                <a:cs typeface="Times New Roman" panose="02020603050405020304"/>
              </a:rPr>
              <a:t>lysine</a:t>
            </a:r>
            <a:endParaRPr sz="2120">
              <a:latin typeface="Times New Roman" panose="02020603050405020304"/>
              <a:cs typeface="Times New Roman" panose="02020603050405020304"/>
            </a:endParaRPr>
          </a:p>
        </p:txBody>
      </p:sp>
      <p:sp>
        <p:nvSpPr>
          <p:cNvPr id="16" name="object 16"/>
          <p:cNvSpPr txBox="1"/>
          <p:nvPr/>
        </p:nvSpPr>
        <p:spPr>
          <a:xfrm>
            <a:off x="6454588" y="3765176"/>
            <a:ext cx="680197" cy="335915"/>
          </a:xfrm>
          <a:prstGeom prst="rect">
            <a:avLst/>
          </a:prstGeom>
        </p:spPr>
        <p:txBody>
          <a:bodyPr vert="horz" wrap="square" lIns="0" tIns="11205" rIns="0" bIns="0" rtlCol="0">
            <a:spAutoFit/>
          </a:bodyPr>
          <a:lstStyle/>
          <a:p>
            <a:pPr marL="12700" algn="l" rtl="0">
              <a:lnSpc>
                <a:spcPct val="100000"/>
              </a:lnSpc>
              <a:spcBef>
                <a:spcPts val="100"/>
              </a:spcBef>
            </a:pPr>
            <a:r>
              <a:rPr sz="2120" b="1" dirty="0">
                <a:latin typeface="Times New Roman" panose="02020603050405020304"/>
                <a:cs typeface="Times New Roman" panose="02020603050405020304"/>
              </a:rPr>
              <a:t>lysine</a:t>
            </a:r>
            <a:endParaRPr sz="2120">
              <a:latin typeface="Times New Roman" panose="02020603050405020304"/>
              <a:cs typeface="Times New Roman" panose="02020603050405020304"/>
            </a:endParaRPr>
          </a:p>
        </p:txBody>
      </p:sp>
      <p:grpSp>
        <p:nvGrpSpPr>
          <p:cNvPr id="17" name="object 17"/>
          <p:cNvGrpSpPr/>
          <p:nvPr/>
        </p:nvGrpSpPr>
        <p:grpSpPr>
          <a:xfrm>
            <a:off x="5512399" y="3914886"/>
            <a:ext cx="607919" cy="132229"/>
            <a:chOff x="5366004" y="4378450"/>
            <a:chExt cx="688975" cy="149860"/>
          </a:xfrm>
        </p:grpSpPr>
        <p:sp>
          <p:nvSpPr>
            <p:cNvPr id="18" name="object 18"/>
            <p:cNvSpPr/>
            <p:nvPr/>
          </p:nvSpPr>
          <p:spPr>
            <a:xfrm>
              <a:off x="5366004" y="4451602"/>
              <a:ext cx="542925" cy="0"/>
            </a:xfrm>
            <a:custGeom>
              <a:avLst/>
              <a:gdLst/>
              <a:ahLst/>
              <a:cxnLst/>
              <a:rect l="l" t="t" r="r" b="b"/>
              <a:pathLst>
                <a:path w="542925">
                  <a:moveTo>
                    <a:pt x="0" y="0"/>
                  </a:moveTo>
                  <a:lnTo>
                    <a:pt x="542543" y="0"/>
                  </a:lnTo>
                </a:path>
              </a:pathLst>
            </a:custGeom>
            <a:ln w="27431">
              <a:solidFill>
                <a:srgbClr val="000000"/>
              </a:solidFill>
            </a:ln>
          </p:spPr>
          <p:txBody>
            <a:bodyPr wrap="square" lIns="0" tIns="0" rIns="0" bIns="0" rtlCol="0"/>
            <a:lstStyle/>
            <a:p>
              <a:pPr algn="l" rtl="0"/>
              <a:endParaRPr sz="100"/>
            </a:p>
          </p:txBody>
        </p:sp>
        <p:sp>
          <p:nvSpPr>
            <p:cNvPr id="19" name="object 19"/>
            <p:cNvSpPr/>
            <p:nvPr/>
          </p:nvSpPr>
          <p:spPr>
            <a:xfrm>
              <a:off x="5905500" y="4378450"/>
              <a:ext cx="149860" cy="149860"/>
            </a:xfrm>
            <a:custGeom>
              <a:avLst/>
              <a:gdLst/>
              <a:ahLst/>
              <a:cxnLst/>
              <a:rect l="l" t="t" r="r" b="b"/>
              <a:pathLst>
                <a:path w="149860" h="149860">
                  <a:moveTo>
                    <a:pt x="0" y="0"/>
                  </a:moveTo>
                  <a:lnTo>
                    <a:pt x="0" y="149352"/>
                  </a:lnTo>
                  <a:lnTo>
                    <a:pt x="149351" y="73152"/>
                  </a:lnTo>
                  <a:lnTo>
                    <a:pt x="0" y="0"/>
                  </a:lnTo>
                  <a:close/>
                </a:path>
              </a:pathLst>
            </a:custGeom>
            <a:solidFill>
              <a:srgbClr val="000000"/>
            </a:solidFill>
          </p:spPr>
          <p:txBody>
            <a:bodyPr wrap="square" lIns="0" tIns="0" rIns="0" bIns="0" rtlCol="0"/>
            <a:lstStyle/>
            <a:p>
              <a:pPr algn="l" rtl="0"/>
              <a:endParaRPr sz="100"/>
            </a:p>
          </p:txBody>
        </p:sp>
      </p:grpSp>
      <p:sp>
        <p:nvSpPr>
          <p:cNvPr id="20" name="object 20"/>
          <p:cNvSpPr txBox="1"/>
          <p:nvPr/>
        </p:nvSpPr>
        <p:spPr>
          <a:xfrm>
            <a:off x="3697941" y="4773706"/>
            <a:ext cx="1112744" cy="335915"/>
          </a:xfrm>
          <a:prstGeom prst="rect">
            <a:avLst/>
          </a:prstGeom>
        </p:spPr>
        <p:txBody>
          <a:bodyPr vert="horz" wrap="square" lIns="0" tIns="11205" rIns="0" bIns="0" rtlCol="0">
            <a:spAutoFit/>
          </a:bodyPr>
          <a:lstStyle/>
          <a:p>
            <a:pPr marL="12700" algn="ctr" rtl="0">
              <a:lnSpc>
                <a:spcPct val="100000"/>
              </a:lnSpc>
              <a:spcBef>
                <a:spcPts val="100"/>
              </a:spcBef>
            </a:pPr>
            <a:r>
              <a:rPr sz="2120" b="1" spc="-5" dirty="0">
                <a:latin typeface="Times New Roman" panose="02020603050405020304"/>
                <a:cs typeface="Times New Roman" panose="02020603050405020304"/>
              </a:rPr>
              <a:t>No</a:t>
            </a:r>
            <a:r>
              <a:rPr sz="2120" b="1" spc="-85" dirty="0">
                <a:latin typeface="Times New Roman" panose="02020603050405020304"/>
                <a:cs typeface="Times New Roman" panose="02020603050405020304"/>
              </a:rPr>
              <a:t> </a:t>
            </a:r>
            <a:r>
              <a:rPr sz="2120" b="1" dirty="0">
                <a:latin typeface="Times New Roman" panose="02020603050405020304"/>
                <a:cs typeface="Times New Roman" panose="02020603050405020304"/>
              </a:rPr>
              <a:t>effect.</a:t>
            </a:r>
            <a:endParaRPr sz="2120">
              <a:latin typeface="Times New Roman" panose="02020603050405020304"/>
              <a:cs typeface="Times New Roman" panose="02020603050405020304"/>
            </a:endParaRPr>
          </a:p>
        </p:txBody>
      </p:sp>
      <p:grpSp>
        <p:nvGrpSpPr>
          <p:cNvPr id="21" name="object 21"/>
          <p:cNvGrpSpPr/>
          <p:nvPr/>
        </p:nvGrpSpPr>
        <p:grpSpPr>
          <a:xfrm>
            <a:off x="669664" y="1678191"/>
            <a:ext cx="277346" cy="344581"/>
            <a:chOff x="606552" y="1901950"/>
            <a:chExt cx="314325" cy="390525"/>
          </a:xfrm>
        </p:grpSpPr>
        <p:sp>
          <p:nvSpPr>
            <p:cNvPr id="22" name="object 22"/>
            <p:cNvSpPr/>
            <p:nvPr/>
          </p:nvSpPr>
          <p:spPr>
            <a:xfrm>
              <a:off x="611124" y="1906522"/>
              <a:ext cx="304800" cy="381000"/>
            </a:xfrm>
            <a:custGeom>
              <a:avLst/>
              <a:gdLst/>
              <a:ahLst/>
              <a:cxnLst/>
              <a:rect l="l" t="t" r="r" b="b"/>
              <a:pathLst>
                <a:path w="304800" h="381000">
                  <a:moveTo>
                    <a:pt x="246887" y="380999"/>
                  </a:moveTo>
                  <a:lnTo>
                    <a:pt x="152400" y="292607"/>
                  </a:lnTo>
                  <a:lnTo>
                    <a:pt x="57911" y="380999"/>
                  </a:lnTo>
                  <a:lnTo>
                    <a:pt x="94487" y="237743"/>
                  </a:lnTo>
                  <a:lnTo>
                    <a:pt x="0" y="146303"/>
                  </a:lnTo>
                  <a:lnTo>
                    <a:pt x="115823" y="146303"/>
                  </a:lnTo>
                  <a:lnTo>
                    <a:pt x="152400" y="0"/>
                  </a:lnTo>
                  <a:lnTo>
                    <a:pt x="188976" y="146303"/>
                  </a:lnTo>
                  <a:lnTo>
                    <a:pt x="304799" y="146303"/>
                  </a:lnTo>
                  <a:lnTo>
                    <a:pt x="210312" y="237743"/>
                  </a:lnTo>
                  <a:lnTo>
                    <a:pt x="246887" y="380999"/>
                  </a:lnTo>
                  <a:close/>
                </a:path>
              </a:pathLst>
            </a:custGeom>
            <a:solidFill>
              <a:srgbClr val="FFAA41"/>
            </a:solidFill>
          </p:spPr>
          <p:txBody>
            <a:bodyPr wrap="square" lIns="0" tIns="0" rIns="0" bIns="0" rtlCol="0"/>
            <a:lstStyle/>
            <a:p>
              <a:pPr algn="l" rtl="0"/>
              <a:endParaRPr sz="100"/>
            </a:p>
          </p:txBody>
        </p:sp>
        <p:sp>
          <p:nvSpPr>
            <p:cNvPr id="23" name="object 23"/>
            <p:cNvSpPr/>
            <p:nvPr/>
          </p:nvSpPr>
          <p:spPr>
            <a:xfrm>
              <a:off x="611124" y="1906522"/>
              <a:ext cx="304800" cy="381000"/>
            </a:xfrm>
            <a:custGeom>
              <a:avLst/>
              <a:gdLst/>
              <a:ahLst/>
              <a:cxnLst/>
              <a:rect l="l" t="t" r="r" b="b"/>
              <a:pathLst>
                <a:path w="304800" h="381000">
                  <a:moveTo>
                    <a:pt x="152400" y="0"/>
                  </a:moveTo>
                  <a:lnTo>
                    <a:pt x="115823" y="146303"/>
                  </a:lnTo>
                  <a:lnTo>
                    <a:pt x="0" y="146303"/>
                  </a:lnTo>
                  <a:lnTo>
                    <a:pt x="94487" y="237743"/>
                  </a:lnTo>
                  <a:lnTo>
                    <a:pt x="57911" y="380999"/>
                  </a:lnTo>
                  <a:lnTo>
                    <a:pt x="152400" y="292607"/>
                  </a:lnTo>
                  <a:lnTo>
                    <a:pt x="246887" y="380999"/>
                  </a:lnTo>
                  <a:lnTo>
                    <a:pt x="210312" y="237743"/>
                  </a:lnTo>
                  <a:lnTo>
                    <a:pt x="304799" y="146303"/>
                  </a:lnTo>
                  <a:lnTo>
                    <a:pt x="188976" y="146303"/>
                  </a:lnTo>
                  <a:lnTo>
                    <a:pt x="152400" y="0"/>
                  </a:lnTo>
                  <a:close/>
                </a:path>
              </a:pathLst>
            </a:custGeom>
            <a:ln w="9143">
              <a:solidFill>
                <a:srgbClr val="000000"/>
              </a:solidFill>
            </a:ln>
          </p:spPr>
          <p:txBody>
            <a:bodyPr wrap="square" lIns="0" tIns="0" rIns="0" bIns="0" rtlCol="0"/>
            <a:lstStyle/>
            <a:p>
              <a:pPr algn="l" rtl="0"/>
              <a:endParaRPr sz="1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l"/>
            <a:r>
              <a:rPr lang="en-US" sz="2400">
                <a:solidFill>
                  <a:schemeClr val="tx1"/>
                </a:solidFill>
                <a:latin typeface="Yu Gothic UI Semibold" panose="020B0700000000000000" charset="-128"/>
                <a:ea typeface="Yu Gothic UI Semibold" panose="020B0700000000000000" charset="-128"/>
              </a:rPr>
              <a:t>Frameshift Mutation:</a:t>
            </a:r>
            <a:endParaRPr lang="en-US" sz="2400">
              <a:solidFill>
                <a:schemeClr val="tx1"/>
              </a:solidFill>
              <a:latin typeface="Yu Gothic UI Semibold" panose="020B0700000000000000" charset="-128"/>
              <a:ea typeface="Yu Gothic UI Semibold" panose="020B0700000000000000" charset="-128"/>
            </a:endParaRPr>
          </a:p>
        </p:txBody>
      </p:sp>
      <p:pic>
        <p:nvPicPr>
          <p:cNvPr id="4098" name="Picture 2"/>
          <p:cNvPicPr>
            <a:picLocks noChangeAspect="1" noChangeArrowheads="1"/>
          </p:cNvPicPr>
          <p:nvPr>
            <p:ph idx="1"/>
          </p:nvPr>
        </p:nvPicPr>
        <p:blipFill>
          <a:blip r:embed="rId1"/>
          <a:srcRect/>
          <a:stretch>
            <a:fillRect/>
          </a:stretch>
        </p:blipFill>
        <p:spPr bwMode="auto">
          <a:xfrm>
            <a:off x="376555" y="1520825"/>
            <a:ext cx="8555355" cy="501269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l"/>
            <a:r>
              <a:rPr lang="en-US" sz="2800">
                <a:solidFill>
                  <a:schemeClr val="tx1"/>
                </a:solidFill>
                <a:latin typeface="Yu Gothic UI Semibold" panose="020B0700000000000000" charset="-128"/>
                <a:ea typeface="Yu Gothic UI Semibold" panose="020B0700000000000000" charset="-128"/>
              </a:rPr>
              <a:t>Deletion Mutation</a:t>
            </a:r>
            <a:endParaRPr lang="en-US" sz="2800">
              <a:solidFill>
                <a:schemeClr val="tx1"/>
              </a:solidFill>
              <a:latin typeface="Yu Gothic UI Semibold" panose="020B0700000000000000" charset="-128"/>
              <a:ea typeface="Yu Gothic UI Semibold" panose="020B0700000000000000" charset="-128"/>
            </a:endParaRPr>
          </a:p>
        </p:txBody>
      </p:sp>
      <p:pic>
        <p:nvPicPr>
          <p:cNvPr id="2050" name="Picture 2"/>
          <p:cNvPicPr>
            <a:picLocks noChangeAspect="1" noChangeArrowheads="1"/>
          </p:cNvPicPr>
          <p:nvPr>
            <p:ph idx="1"/>
          </p:nvPr>
        </p:nvPicPr>
        <p:blipFill>
          <a:blip r:embed="rId1"/>
          <a:srcRect/>
          <a:stretch>
            <a:fillRect/>
          </a:stretch>
        </p:blipFill>
        <p:spPr bwMode="auto">
          <a:xfrm>
            <a:off x="214630" y="1447800"/>
            <a:ext cx="8929370" cy="493204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l"/>
            <a:r>
              <a:rPr lang="en-US" sz="2800">
                <a:solidFill>
                  <a:schemeClr val="tx1"/>
                </a:solidFill>
                <a:latin typeface="Yu Gothic UI Semibold" panose="020B0700000000000000" charset="-128"/>
                <a:ea typeface="Yu Gothic UI Semibold" panose="020B0700000000000000" charset="-128"/>
              </a:rPr>
              <a:t>Insertion Mutation</a:t>
            </a:r>
            <a:endParaRPr lang="en-US" sz="2800">
              <a:solidFill>
                <a:schemeClr val="tx1"/>
              </a:solidFill>
              <a:latin typeface="Yu Gothic UI Semibold" panose="020B0700000000000000" charset="-128"/>
              <a:ea typeface="Yu Gothic UI Semibold" panose="020B0700000000000000" charset="-128"/>
            </a:endParaRPr>
          </a:p>
        </p:txBody>
      </p:sp>
      <p:pic>
        <p:nvPicPr>
          <p:cNvPr id="3074" name="Picture 2"/>
          <p:cNvPicPr>
            <a:picLocks noChangeAspect="1" noChangeArrowheads="1"/>
          </p:cNvPicPr>
          <p:nvPr>
            <p:ph idx="1"/>
          </p:nvPr>
        </p:nvPicPr>
        <p:blipFill>
          <a:blip r:embed="rId1"/>
          <a:srcRect/>
          <a:stretch>
            <a:fillRect/>
          </a:stretch>
        </p:blipFill>
        <p:spPr bwMode="auto">
          <a:xfrm>
            <a:off x="191135" y="1356995"/>
            <a:ext cx="8753475" cy="516001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12700" algn="l" rtl="0">
              <a:lnSpc>
                <a:spcPct val="100000"/>
              </a:lnSpc>
              <a:spcBef>
                <a:spcPts val="695"/>
              </a:spcBef>
            </a:pPr>
            <a:r>
              <a:rPr sz="2600" spc="-5" dirty="0">
                <a:solidFill>
                  <a:schemeClr val="tx1"/>
                </a:solidFill>
                <a:latin typeface="Verdana" panose="020B0604030504040204"/>
                <a:cs typeface="Verdana" panose="020B0604030504040204"/>
                <a:sym typeface="+mn-ea"/>
              </a:rPr>
              <a:t>Mutations</a:t>
            </a:r>
            <a:r>
              <a:rPr sz="2600" spc="-20"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may</a:t>
            </a:r>
            <a:r>
              <a:rPr sz="2600" spc="-25"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be:</a:t>
            </a:r>
            <a:endParaRPr sz="2600" dirty="0">
              <a:solidFill>
                <a:schemeClr val="tx1"/>
              </a:solidFill>
              <a:latin typeface="Verdana" panose="020B0604030504040204"/>
              <a:cs typeface="Verdana" panose="020B0604030504040204"/>
              <a:sym typeface="+mn-ea"/>
            </a:endParaRPr>
          </a:p>
          <a:p>
            <a:pPr marL="12700" algn="l" rtl="0">
              <a:lnSpc>
                <a:spcPct val="100000"/>
              </a:lnSpc>
              <a:spcBef>
                <a:spcPts val="695"/>
              </a:spcBef>
            </a:pPr>
            <a:endParaRPr sz="2600">
              <a:solidFill>
                <a:schemeClr val="tx1"/>
              </a:solidFill>
              <a:latin typeface="Verdana" panose="020B0604030504040204"/>
              <a:cs typeface="Verdana" panose="020B0604030504040204"/>
            </a:endParaRPr>
          </a:p>
          <a:p>
            <a:pPr marL="469265" marR="525145" indent="0" algn="l" rtl="0">
              <a:lnSpc>
                <a:spcPct val="100000"/>
              </a:lnSpc>
              <a:spcBef>
                <a:spcPts val="675"/>
              </a:spcBef>
              <a:buNone/>
            </a:pPr>
            <a:r>
              <a:rPr sz="2600" spc="5" dirty="0">
                <a:solidFill>
                  <a:schemeClr val="tx1"/>
                </a:solidFill>
                <a:latin typeface="Verdana" panose="020B0604030504040204"/>
                <a:cs typeface="Verdana" panose="020B0604030504040204"/>
                <a:sym typeface="+mn-ea"/>
              </a:rPr>
              <a:t>–</a:t>
            </a:r>
            <a:r>
              <a:rPr sz="2600" spc="-515" dirty="0">
                <a:solidFill>
                  <a:schemeClr val="tx1"/>
                </a:solidFill>
                <a:latin typeface="Verdana" panose="020B0604030504040204"/>
                <a:cs typeface="Verdana" panose="020B0604030504040204"/>
                <a:sym typeface="+mn-ea"/>
              </a:rPr>
              <a:t> </a:t>
            </a:r>
            <a:r>
              <a:rPr sz="2600" b="1" spc="-5" dirty="0">
                <a:solidFill>
                  <a:schemeClr val="tx1"/>
                </a:solidFill>
                <a:highlight>
                  <a:srgbClr val="FFFF00"/>
                </a:highlight>
                <a:latin typeface="Verdana" panose="020B0604030504040204"/>
                <a:cs typeface="Verdana" panose="020B0604030504040204"/>
                <a:sym typeface="+mn-ea"/>
              </a:rPr>
              <a:t>Spontaneous</a:t>
            </a:r>
            <a:r>
              <a:rPr lang="en-US" sz="2600" b="1" spc="-5" dirty="0">
                <a:solidFill>
                  <a:schemeClr val="tx1"/>
                </a:solidFill>
                <a:highlight>
                  <a:srgbClr val="FFFF00"/>
                </a:highlight>
                <a:latin typeface="Verdana" panose="020B0604030504040204"/>
                <a:cs typeface="Verdana" panose="020B0604030504040204"/>
                <a:sym typeface="+mn-ea"/>
              </a:rPr>
              <a:t>:</a:t>
            </a:r>
            <a:r>
              <a:rPr sz="2600" spc="15"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as</a:t>
            </a:r>
            <a:r>
              <a:rPr sz="2600" spc="-5"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a</a:t>
            </a:r>
            <a:r>
              <a:rPr sz="2600" spc="-5" dirty="0">
                <a:solidFill>
                  <a:schemeClr val="tx1"/>
                </a:solidFill>
                <a:latin typeface="Verdana" panose="020B0604030504040204"/>
                <a:cs typeface="Verdana" panose="020B0604030504040204"/>
                <a:sym typeface="+mn-ea"/>
              </a:rPr>
              <a:t> result</a:t>
            </a:r>
            <a:r>
              <a:rPr sz="2600" dirty="0">
                <a:solidFill>
                  <a:schemeClr val="tx1"/>
                </a:solidFill>
                <a:latin typeface="Verdana" panose="020B0604030504040204"/>
                <a:cs typeface="Verdana" panose="020B0604030504040204"/>
                <a:sym typeface="+mn-ea"/>
              </a:rPr>
              <a:t> of</a:t>
            </a:r>
            <a:r>
              <a:rPr sz="2600" spc="-5" dirty="0">
                <a:solidFill>
                  <a:schemeClr val="tx1"/>
                </a:solidFill>
                <a:latin typeface="Verdana" panose="020B0604030504040204"/>
                <a:cs typeface="Verdana" panose="020B0604030504040204"/>
                <a:sym typeface="+mn-ea"/>
              </a:rPr>
              <a:t> errors in </a:t>
            </a:r>
            <a:r>
              <a:rPr sz="2600" spc="-969" dirty="0">
                <a:solidFill>
                  <a:schemeClr val="tx1"/>
                </a:solidFill>
                <a:latin typeface="Verdana" panose="020B0604030504040204"/>
                <a:cs typeface="Verdana" panose="020B0604030504040204"/>
                <a:sym typeface="+mn-ea"/>
              </a:rPr>
              <a:t> </a:t>
            </a:r>
            <a:r>
              <a:rPr sz="2600" spc="-5" dirty="0">
                <a:solidFill>
                  <a:schemeClr val="tx1"/>
                </a:solidFill>
                <a:latin typeface="Verdana" panose="020B0604030504040204"/>
                <a:cs typeface="Verdana" panose="020B0604030504040204"/>
                <a:sym typeface="+mn-ea"/>
              </a:rPr>
              <a:t>DNA</a:t>
            </a:r>
            <a:r>
              <a:rPr sz="2600" spc="-15" dirty="0">
                <a:solidFill>
                  <a:schemeClr val="tx1"/>
                </a:solidFill>
                <a:latin typeface="Verdana" panose="020B0604030504040204"/>
                <a:cs typeface="Verdana" panose="020B0604030504040204"/>
                <a:sym typeface="+mn-ea"/>
              </a:rPr>
              <a:t> </a:t>
            </a:r>
            <a:r>
              <a:rPr sz="2600" spc="-5" dirty="0">
                <a:solidFill>
                  <a:schemeClr val="tx1"/>
                </a:solidFill>
                <a:latin typeface="Verdana" panose="020B0604030504040204"/>
                <a:cs typeface="Verdana" panose="020B0604030504040204"/>
                <a:sym typeface="+mn-ea"/>
              </a:rPr>
              <a:t>replication</a:t>
            </a:r>
            <a:r>
              <a:rPr sz="2600" spc="-10"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or</a:t>
            </a:r>
            <a:endParaRPr sz="2600" dirty="0">
              <a:solidFill>
                <a:schemeClr val="tx1"/>
              </a:solidFill>
              <a:latin typeface="Verdana" panose="020B0604030504040204"/>
              <a:cs typeface="Verdana" panose="020B0604030504040204"/>
              <a:sym typeface="+mn-ea"/>
            </a:endParaRPr>
          </a:p>
          <a:p>
            <a:pPr marL="469265" marR="525145" indent="0" algn="l" rtl="0">
              <a:lnSpc>
                <a:spcPct val="100000"/>
              </a:lnSpc>
              <a:spcBef>
                <a:spcPts val="675"/>
              </a:spcBef>
              <a:buNone/>
            </a:pPr>
            <a:endParaRPr sz="2600">
              <a:solidFill>
                <a:schemeClr val="tx1"/>
              </a:solidFill>
              <a:latin typeface="Verdana" panose="020B0604030504040204"/>
              <a:cs typeface="Verdana" panose="020B0604030504040204"/>
            </a:endParaRPr>
          </a:p>
          <a:p>
            <a:pPr marL="469265" marR="5080" indent="0" algn="l" rtl="0">
              <a:lnSpc>
                <a:spcPct val="100000"/>
              </a:lnSpc>
              <a:spcBef>
                <a:spcPts val="670"/>
              </a:spcBef>
              <a:buNone/>
            </a:pPr>
            <a:r>
              <a:rPr sz="2600" spc="5" dirty="0">
                <a:solidFill>
                  <a:schemeClr val="tx1"/>
                </a:solidFill>
                <a:latin typeface="Verdana" panose="020B0604030504040204"/>
                <a:cs typeface="Verdana" panose="020B0604030504040204"/>
                <a:sym typeface="+mn-ea"/>
              </a:rPr>
              <a:t>– </a:t>
            </a:r>
            <a:r>
              <a:rPr sz="2600" b="1" spc="-5" dirty="0">
                <a:solidFill>
                  <a:schemeClr val="tx1"/>
                </a:solidFill>
                <a:highlight>
                  <a:srgbClr val="FFFF00"/>
                </a:highlight>
                <a:latin typeface="Verdana" panose="020B0604030504040204"/>
                <a:cs typeface="Verdana" panose="020B0604030504040204"/>
                <a:sym typeface="+mn-ea"/>
              </a:rPr>
              <a:t>Induced</a:t>
            </a:r>
            <a:r>
              <a:rPr lang="en-US" sz="2600" b="1" spc="-5" dirty="0">
                <a:solidFill>
                  <a:schemeClr val="tx1"/>
                </a:solidFill>
                <a:highlight>
                  <a:srgbClr val="FFFF00"/>
                </a:highlight>
                <a:latin typeface="Verdana" panose="020B0604030504040204"/>
                <a:cs typeface="Verdana" panose="020B0604030504040204"/>
                <a:sym typeface="+mn-ea"/>
              </a:rPr>
              <a:t>:</a:t>
            </a:r>
            <a:r>
              <a:rPr sz="2600" spc="-5" dirty="0">
                <a:solidFill>
                  <a:schemeClr val="tx1"/>
                </a:solidFill>
                <a:latin typeface="Verdana" panose="020B0604030504040204"/>
                <a:cs typeface="Verdana" panose="020B0604030504040204"/>
                <a:sym typeface="+mn-ea"/>
              </a:rPr>
              <a:t> </a:t>
            </a:r>
            <a:r>
              <a:rPr sz="2600" dirty="0">
                <a:solidFill>
                  <a:schemeClr val="tx1"/>
                </a:solidFill>
                <a:latin typeface="Verdana" panose="020B0604030504040204"/>
                <a:cs typeface="Verdana" panose="020B0604030504040204"/>
                <a:sym typeface="+mn-ea"/>
              </a:rPr>
              <a:t>by </a:t>
            </a:r>
            <a:r>
              <a:rPr sz="2600" spc="-5" dirty="0">
                <a:solidFill>
                  <a:schemeClr val="tx1"/>
                </a:solidFill>
                <a:latin typeface="Verdana" panose="020B0604030504040204"/>
                <a:cs typeface="Verdana" panose="020B0604030504040204"/>
                <a:sym typeface="+mn-ea"/>
              </a:rPr>
              <a:t>exposure </a:t>
            </a:r>
            <a:r>
              <a:rPr sz="2600" dirty="0">
                <a:solidFill>
                  <a:schemeClr val="tx1"/>
                </a:solidFill>
                <a:latin typeface="Verdana" panose="020B0604030504040204"/>
                <a:cs typeface="Verdana" panose="020B0604030504040204"/>
                <a:sym typeface="+mn-ea"/>
              </a:rPr>
              <a:t>to </a:t>
            </a:r>
            <a:r>
              <a:rPr sz="2600" spc="-5" dirty="0">
                <a:solidFill>
                  <a:schemeClr val="tx1"/>
                </a:solidFill>
                <a:latin typeface="Verdana" panose="020B0604030504040204"/>
                <a:cs typeface="Verdana" panose="020B0604030504040204"/>
                <a:sym typeface="+mn-ea"/>
              </a:rPr>
              <a:t>radiation, </a:t>
            </a:r>
            <a:r>
              <a:rPr sz="2600" dirty="0">
                <a:solidFill>
                  <a:schemeClr val="tx1"/>
                </a:solidFill>
                <a:latin typeface="Verdana" panose="020B0604030504040204"/>
                <a:cs typeface="Verdana" panose="020B0604030504040204"/>
                <a:sym typeface="+mn-ea"/>
              </a:rPr>
              <a:t> </a:t>
            </a:r>
            <a:r>
              <a:rPr sz="2600" spc="-5" dirty="0">
                <a:solidFill>
                  <a:schemeClr val="tx1"/>
                </a:solidFill>
                <a:latin typeface="Verdana" panose="020B0604030504040204"/>
                <a:cs typeface="Verdana" panose="020B0604030504040204"/>
                <a:sym typeface="+mn-ea"/>
              </a:rPr>
              <a:t>chemicals, viruses,</a:t>
            </a:r>
            <a:r>
              <a:rPr sz="2600" dirty="0">
                <a:solidFill>
                  <a:schemeClr val="tx1"/>
                </a:solidFill>
                <a:latin typeface="Verdana" panose="020B0604030504040204"/>
                <a:cs typeface="Verdana" panose="020B0604030504040204"/>
                <a:sym typeface="+mn-ea"/>
              </a:rPr>
              <a:t> or</a:t>
            </a:r>
            <a:r>
              <a:rPr sz="2600" spc="-5" dirty="0">
                <a:solidFill>
                  <a:schemeClr val="tx1"/>
                </a:solidFill>
                <a:latin typeface="Verdana" panose="020B0604030504040204"/>
                <a:cs typeface="Verdana" panose="020B0604030504040204"/>
                <a:sym typeface="+mn-ea"/>
              </a:rPr>
              <a:t> other</a:t>
            </a:r>
            <a:r>
              <a:rPr sz="2600" dirty="0">
                <a:solidFill>
                  <a:schemeClr val="tx1"/>
                </a:solidFill>
                <a:latin typeface="Verdana" panose="020B0604030504040204"/>
                <a:cs typeface="Verdana" panose="020B0604030504040204"/>
                <a:sym typeface="+mn-ea"/>
              </a:rPr>
              <a:t> </a:t>
            </a:r>
            <a:r>
              <a:rPr sz="2600" spc="-5" dirty="0">
                <a:solidFill>
                  <a:schemeClr val="tx1"/>
                </a:solidFill>
                <a:latin typeface="Verdana" panose="020B0604030504040204"/>
                <a:cs typeface="Verdana" panose="020B0604030504040204"/>
                <a:sym typeface="+mn-ea"/>
              </a:rPr>
              <a:t>mutagenic </a:t>
            </a:r>
            <a:r>
              <a:rPr sz="2600" spc="-969" dirty="0">
                <a:solidFill>
                  <a:schemeClr val="tx1"/>
                </a:solidFill>
                <a:latin typeface="Verdana" panose="020B0604030504040204"/>
                <a:cs typeface="Verdana" panose="020B0604030504040204"/>
                <a:sym typeface="+mn-ea"/>
              </a:rPr>
              <a:t> </a:t>
            </a:r>
            <a:r>
              <a:rPr sz="2600" spc="-5" dirty="0">
                <a:solidFill>
                  <a:schemeClr val="tx1"/>
                </a:solidFill>
                <a:latin typeface="Verdana" panose="020B0604030504040204"/>
                <a:cs typeface="Verdana" panose="020B0604030504040204"/>
                <a:sym typeface="+mn-ea"/>
              </a:rPr>
              <a:t>agents</a:t>
            </a:r>
            <a:endParaRPr sz="2600">
              <a:solidFill>
                <a:schemeClr val="tx1"/>
              </a:solidFill>
              <a:latin typeface="Verdana" panose="020B0604030504040204"/>
              <a:cs typeface="Verdana" panose="020B0604030504040204"/>
            </a:endParaRPr>
          </a:p>
          <a:p>
            <a:endParaRPr lang="en-US" sz="2600">
              <a:solidFill>
                <a:schemeClr val="tx1"/>
              </a:solidFill>
              <a:latin typeface="Verdana" panose="020B0604030504040204"/>
              <a:cs typeface="Verdana" panose="020B060403050404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br>
              <a:rPr lang="en-US" b="1" dirty="0"/>
            </a:br>
            <a:r>
              <a:rPr lang="en-US" b="1" dirty="0"/>
              <a:t>The causes of mutations </a:t>
            </a:r>
            <a:br>
              <a:rPr lang="en-US" dirty="0"/>
            </a:br>
            <a:endParaRPr lang="en-US" dirty="0"/>
          </a:p>
        </p:txBody>
      </p:sp>
      <p:sp>
        <p:nvSpPr>
          <p:cNvPr id="3" name="Content Placeholder 2"/>
          <p:cNvSpPr>
            <a:spLocks noGrp="1"/>
          </p:cNvSpPr>
          <p:nvPr>
            <p:ph idx="1"/>
          </p:nvPr>
        </p:nvSpPr>
        <p:spPr>
          <a:xfrm>
            <a:off x="304800" y="1676400"/>
            <a:ext cx="8598535" cy="4526280"/>
          </a:xfrm>
        </p:spPr>
        <p:txBody>
          <a:bodyPr/>
          <a:lstStyle/>
          <a:p>
            <a:pPr>
              <a:defRPr/>
            </a:pPr>
            <a:r>
              <a:rPr lang="en-US" sz="2400" b="1" dirty="0">
                <a:solidFill>
                  <a:schemeClr val="tx1"/>
                </a:solidFill>
              </a:rPr>
              <a:t>Mutagenesis:</a:t>
            </a:r>
            <a:r>
              <a:rPr lang="en-US" sz="2400" dirty="0">
                <a:solidFill>
                  <a:schemeClr val="tx1"/>
                </a:solidFill>
              </a:rPr>
              <a:t> is the process by which mutations are induced. It may occur spontaneously, or as a result of exposure to mutagens. </a:t>
            </a:r>
            <a:endParaRPr lang="en-US" sz="2400" dirty="0">
              <a:solidFill>
                <a:schemeClr val="tx1"/>
              </a:solidFill>
            </a:endParaRPr>
          </a:p>
          <a:p>
            <a:pPr marL="0" indent="0">
              <a:buFont typeface="Corbel" panose="020B0503020204020204" pitchFamily="34" charset="0"/>
              <a:buNone/>
              <a:defRPr/>
            </a:pPr>
            <a:endParaRPr lang="en-US" sz="2400" b="1" dirty="0">
              <a:solidFill>
                <a:schemeClr val="tx1"/>
              </a:solidFill>
            </a:endParaRPr>
          </a:p>
          <a:p>
            <a:pPr marL="0" indent="0">
              <a:buFont typeface="Corbel" panose="020B0503020204020204" pitchFamily="34" charset="0"/>
              <a:buNone/>
              <a:defRPr/>
            </a:pPr>
            <a:r>
              <a:rPr lang="en-US" sz="2400" b="1" dirty="0">
                <a:solidFill>
                  <a:schemeClr val="tx1"/>
                </a:solidFill>
              </a:rPr>
              <a:t>1. DNA fails to copy accurately (Spontaneous mutations) </a:t>
            </a:r>
            <a:endParaRPr lang="en-US" sz="2400" b="1" dirty="0">
              <a:solidFill>
                <a:schemeClr val="tx1"/>
              </a:solidFill>
            </a:endParaRPr>
          </a:p>
          <a:p>
            <a:pPr marL="0" indent="0">
              <a:buFont typeface="Corbel" panose="020B0503020204020204" pitchFamily="34" charset="0"/>
              <a:buNone/>
              <a:defRPr/>
            </a:pPr>
            <a:endParaRPr lang="en-US" sz="2400" dirty="0">
              <a:solidFill>
                <a:schemeClr val="tx1"/>
              </a:solidFill>
            </a:endParaRPr>
          </a:p>
          <a:p>
            <a:pPr marL="0" indent="0">
              <a:buNone/>
              <a:defRPr/>
            </a:pPr>
            <a:r>
              <a:rPr lang="en-US" sz="2400" b="1" dirty="0">
                <a:solidFill>
                  <a:schemeClr val="tx1"/>
                </a:solidFill>
                <a:sym typeface="+mn-ea"/>
              </a:rPr>
              <a:t>2. External influences (Induced mutations) </a:t>
            </a:r>
            <a:endParaRPr lang="en-US" sz="2400" b="1" dirty="0">
              <a:solidFill>
                <a:schemeClr val="tx1"/>
              </a:solidFill>
            </a:endParaRPr>
          </a:p>
          <a:p>
            <a:pPr marL="0" indent="0">
              <a:buNone/>
              <a:defRPr/>
            </a:pPr>
            <a:endParaRPr lang="en-US" sz="2400" b="1"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br>
              <a:rPr lang="en-US" b="1" dirty="0"/>
            </a:br>
            <a:r>
              <a:rPr lang="en-US" b="1" dirty="0"/>
              <a:t>The causes of mutations </a:t>
            </a:r>
            <a:br>
              <a:rPr lang="en-US" dirty="0"/>
            </a:br>
            <a:endParaRPr lang="en-US" dirty="0"/>
          </a:p>
        </p:txBody>
      </p:sp>
      <p:sp>
        <p:nvSpPr>
          <p:cNvPr id="3" name="Content Placeholder 2"/>
          <p:cNvSpPr>
            <a:spLocks noGrp="1"/>
          </p:cNvSpPr>
          <p:nvPr>
            <p:ph idx="1"/>
          </p:nvPr>
        </p:nvSpPr>
        <p:spPr>
          <a:xfrm>
            <a:off x="415290" y="1828800"/>
            <a:ext cx="8409305" cy="4911090"/>
          </a:xfrm>
        </p:spPr>
        <p:txBody>
          <a:bodyPr>
            <a:normAutofit fontScale="77500" lnSpcReduction="20000"/>
          </a:bodyPr>
          <a:lstStyle/>
          <a:p>
            <a:pPr marL="34925" indent="0">
              <a:buNone/>
              <a:defRPr/>
            </a:pPr>
            <a:r>
              <a:rPr lang="en-US" sz="3615" b="1" dirty="0">
                <a:solidFill>
                  <a:schemeClr val="tx1"/>
                </a:solidFill>
              </a:rPr>
              <a:t>2. External influences (Induced mutations) </a:t>
            </a:r>
            <a:endParaRPr lang="en-US" sz="3615" b="1" dirty="0">
              <a:solidFill>
                <a:schemeClr val="tx1"/>
              </a:solidFill>
            </a:endParaRPr>
          </a:p>
          <a:p>
            <a:pPr>
              <a:defRPr/>
            </a:pPr>
            <a:endParaRPr lang="en-US" sz="3615" b="1" dirty="0">
              <a:solidFill>
                <a:schemeClr val="tx1"/>
              </a:solidFill>
            </a:endParaRPr>
          </a:p>
          <a:p>
            <a:pPr>
              <a:buFont typeface="Wingdings" panose="05000000000000000000" pitchFamily="2" charset="2"/>
              <a:buChar char="v"/>
              <a:defRPr/>
            </a:pPr>
            <a:r>
              <a:rPr lang="en-US" sz="3615" b="1" dirty="0">
                <a:solidFill>
                  <a:schemeClr val="tx1"/>
                </a:solidFill>
              </a:rPr>
              <a:t>Radiation (physical mutagen) </a:t>
            </a:r>
            <a:endParaRPr lang="en-US" sz="3615" b="1" dirty="0">
              <a:solidFill>
                <a:schemeClr val="tx1"/>
              </a:solidFill>
            </a:endParaRPr>
          </a:p>
          <a:p>
            <a:pPr marL="0" indent="0">
              <a:buFont typeface="Corbel" panose="020B0503020204020204" pitchFamily="34" charset="0"/>
              <a:buNone/>
              <a:defRPr/>
            </a:pPr>
            <a:r>
              <a:rPr lang="en-US" sz="2600" dirty="0">
                <a:solidFill>
                  <a:schemeClr val="tx1"/>
                </a:solidFill>
              </a:rPr>
              <a:t>- UV (from sunlight) </a:t>
            </a:r>
            <a:endParaRPr lang="en-US" sz="2600" dirty="0">
              <a:solidFill>
                <a:schemeClr val="tx1"/>
              </a:solidFill>
            </a:endParaRPr>
          </a:p>
          <a:p>
            <a:pPr marL="0" indent="0">
              <a:buFont typeface="Corbel" panose="020B0503020204020204" pitchFamily="34" charset="0"/>
              <a:buNone/>
              <a:defRPr/>
            </a:pPr>
            <a:r>
              <a:rPr lang="en-US" sz="2600" dirty="0">
                <a:solidFill>
                  <a:schemeClr val="tx1"/>
                </a:solidFill>
              </a:rPr>
              <a:t>- X-ray (medical uses) 	</a:t>
            </a:r>
            <a:endParaRPr lang="en-US" sz="2600" dirty="0">
              <a:solidFill>
                <a:schemeClr val="tx1"/>
              </a:solidFill>
            </a:endParaRPr>
          </a:p>
          <a:p>
            <a:pPr marL="0" indent="0">
              <a:buFont typeface="Corbel" panose="020B0503020204020204" pitchFamily="34" charset="0"/>
              <a:buNone/>
              <a:defRPr/>
            </a:pPr>
            <a:endParaRPr lang="en-US" sz="2600" dirty="0">
              <a:solidFill>
                <a:schemeClr val="tx1"/>
              </a:solidFill>
            </a:endParaRPr>
          </a:p>
          <a:p>
            <a:pPr>
              <a:buFont typeface="Wingdings" panose="05000000000000000000" pitchFamily="2" charset="2"/>
              <a:buChar char="v"/>
              <a:defRPr/>
            </a:pPr>
            <a:r>
              <a:rPr lang="en-US" sz="3615" b="1" dirty="0">
                <a:solidFill>
                  <a:schemeClr val="tx1"/>
                </a:solidFill>
              </a:rPr>
              <a:t>Chemicals (chemical mutagen)</a:t>
            </a:r>
            <a:endParaRPr lang="en-US" sz="3615" b="1" dirty="0">
              <a:solidFill>
                <a:schemeClr val="tx1"/>
              </a:solidFill>
            </a:endParaRPr>
          </a:p>
          <a:p>
            <a:pPr marL="0" indent="0">
              <a:lnSpc>
                <a:spcPct val="120000"/>
              </a:lnSpc>
              <a:buFont typeface="Corbel" panose="020B0503020204020204" pitchFamily="34" charset="0"/>
              <a:buNone/>
              <a:defRPr/>
            </a:pPr>
            <a:r>
              <a:rPr lang="en-US" sz="2600" dirty="0">
                <a:solidFill>
                  <a:schemeClr val="tx1"/>
                </a:solidFill>
              </a:rPr>
              <a:t>- Carcinogens (e.g. cigarette) </a:t>
            </a:r>
            <a:endParaRPr lang="en-US" sz="2600" dirty="0">
              <a:solidFill>
                <a:schemeClr val="tx1"/>
              </a:solidFill>
            </a:endParaRPr>
          </a:p>
          <a:p>
            <a:pPr marL="0" indent="0">
              <a:lnSpc>
                <a:spcPct val="120000"/>
              </a:lnSpc>
              <a:buFont typeface="Corbel" panose="020B0503020204020204" pitchFamily="34" charset="0"/>
              <a:buNone/>
              <a:defRPr/>
            </a:pPr>
            <a:r>
              <a:rPr lang="en-US" sz="2600" dirty="0">
                <a:solidFill>
                  <a:schemeClr val="tx1"/>
                </a:solidFill>
              </a:rPr>
              <a:t>- Cosmetics and cleaning products </a:t>
            </a:r>
            <a:endParaRPr lang="en-US" sz="2600" dirty="0">
              <a:solidFill>
                <a:schemeClr val="tx1"/>
              </a:solidFill>
            </a:endParaRPr>
          </a:p>
          <a:p>
            <a:pPr marL="0" indent="0">
              <a:lnSpc>
                <a:spcPct val="120000"/>
              </a:lnSpc>
              <a:buFont typeface="Corbel" panose="020B0503020204020204" pitchFamily="34" charset="0"/>
              <a:buNone/>
              <a:defRPr/>
            </a:pPr>
            <a:r>
              <a:rPr lang="en-US" sz="2600" dirty="0">
                <a:solidFill>
                  <a:schemeClr val="tx1"/>
                </a:solidFill>
              </a:rPr>
              <a:t>- Proceed foods and preservative </a:t>
            </a:r>
            <a:endParaRPr lang="en-US" sz="2600" dirty="0">
              <a:solidFill>
                <a:schemeClr val="tx1"/>
              </a:solidFill>
            </a:endParaRPr>
          </a:p>
          <a:p>
            <a:pPr marL="0" indent="0">
              <a:lnSpc>
                <a:spcPct val="120000"/>
              </a:lnSpc>
              <a:buFont typeface="Corbel" panose="020B0503020204020204" pitchFamily="34" charset="0"/>
              <a:buNone/>
              <a:defRPr/>
            </a:pPr>
            <a:r>
              <a:rPr lang="en-US" sz="2600" dirty="0">
                <a:solidFill>
                  <a:schemeClr val="tx1"/>
                </a:solidFill>
              </a:rPr>
              <a:t>- DNA</a:t>
            </a:r>
            <a:r>
              <a:rPr lang="en-US" sz="2600" b="1" dirty="0">
                <a:solidFill>
                  <a:schemeClr val="tx1"/>
                </a:solidFill>
              </a:rPr>
              <a:t> </a:t>
            </a:r>
            <a:r>
              <a:rPr lang="en-US" sz="2600" dirty="0">
                <a:solidFill>
                  <a:schemeClr val="tx1"/>
                </a:solidFill>
              </a:rPr>
              <a:t>intercalating agents (e.g. ethidium bromide, yellow and red </a:t>
            </a:r>
            <a:r>
              <a:rPr lang="en-US" sz="2600" dirty="0" err="1">
                <a:solidFill>
                  <a:schemeClr val="tx1"/>
                </a:solidFill>
              </a:rPr>
              <a:t>acridine</a:t>
            </a:r>
            <a:r>
              <a:rPr lang="en-US" sz="2600" dirty="0">
                <a:solidFill>
                  <a:schemeClr val="tx1"/>
                </a:solidFill>
              </a:rPr>
              <a:t> dyes)</a:t>
            </a:r>
            <a:r>
              <a:rPr lang="en-US" sz="2600" b="1" dirty="0">
                <a:solidFill>
                  <a:schemeClr val="tx1"/>
                </a:solidFill>
              </a:rPr>
              <a:t> </a:t>
            </a:r>
            <a:endParaRPr lang="en-US" sz="2600" b="1" dirty="0">
              <a:solidFill>
                <a:schemeClr val="tx1"/>
              </a:solidFill>
            </a:endParaRPr>
          </a:p>
          <a:p>
            <a:pPr marL="34925" indent="0">
              <a:buNone/>
              <a:defRPr/>
            </a:pPr>
            <a:r>
              <a:rPr lang="en-US" dirty="0">
                <a:solidFill>
                  <a:schemeClr val="tx1"/>
                </a:solidFill>
              </a:rPr>
              <a:t>	</a:t>
            </a:r>
            <a:endParaRPr lang="en-US" dirty="0">
              <a:solidFill>
                <a:schemeClr val="tx1"/>
              </a:solidFill>
            </a:endParaRPr>
          </a:p>
          <a:p>
            <a:pPr marL="0" indent="0">
              <a:buFont typeface="Corbel" panose="020B0503020204020204" pitchFamily="34" charset="0"/>
              <a:buNone/>
              <a:defRPr/>
            </a:pPr>
            <a:endParaRPr lang="en-US"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b="1" dirty="0"/>
            </a:br>
            <a:r>
              <a:rPr lang="en-US" b="1" dirty="0"/>
              <a:t>The causes of mutations </a:t>
            </a:r>
            <a:br>
              <a:rPr lang="en-US" dirty="0"/>
            </a:br>
            <a:endParaRPr lang="en-US" dirty="0"/>
          </a:p>
        </p:txBody>
      </p:sp>
      <p:sp>
        <p:nvSpPr>
          <p:cNvPr id="3" name="Content Placeholder 2"/>
          <p:cNvSpPr>
            <a:spLocks noGrp="1"/>
          </p:cNvSpPr>
          <p:nvPr>
            <p:ph idx="1"/>
          </p:nvPr>
        </p:nvSpPr>
        <p:spPr>
          <a:xfrm>
            <a:off x="457200" y="1993265"/>
            <a:ext cx="8229600" cy="4133215"/>
          </a:xfrm>
        </p:spPr>
        <p:txBody>
          <a:bodyPr/>
          <a:lstStyle/>
          <a:p>
            <a:pPr>
              <a:buFont typeface="Wingdings" panose="05000000000000000000" pitchFamily="2" charset="2"/>
              <a:buChar char="v"/>
              <a:defRPr/>
            </a:pPr>
            <a:r>
              <a:rPr lang="en-US" sz="2800" b="1" dirty="0">
                <a:solidFill>
                  <a:schemeClr val="tx1"/>
                </a:solidFill>
              </a:rPr>
              <a:t>Infectious agent ( biological mutagen)</a:t>
            </a:r>
            <a:endParaRPr lang="en-US" sz="2800" dirty="0">
              <a:solidFill>
                <a:schemeClr val="tx1"/>
              </a:solidFill>
            </a:endParaRPr>
          </a:p>
          <a:p>
            <a:pPr marL="0" indent="0">
              <a:buFont typeface="Corbel" panose="020B0503020204020204" pitchFamily="34" charset="0"/>
              <a:buNone/>
              <a:defRPr/>
            </a:pPr>
            <a:r>
              <a:rPr lang="en-US" sz="2400" dirty="0">
                <a:solidFill>
                  <a:schemeClr val="tx1"/>
                </a:solidFill>
              </a:rPr>
              <a:t>- Viruses (e.g., HPV) </a:t>
            </a:r>
            <a:endParaRPr lang="en-US" sz="2400" dirty="0">
              <a:solidFill>
                <a:schemeClr val="tx1"/>
              </a:solidFill>
            </a:endParaRPr>
          </a:p>
          <a:p>
            <a:pPr marL="0" indent="0">
              <a:buFont typeface="Corbel" panose="020B0503020204020204" pitchFamily="34" charset="0"/>
              <a:buNone/>
              <a:defRPr/>
            </a:pPr>
            <a:r>
              <a:rPr lang="en-US" sz="2400" dirty="0">
                <a:solidFill>
                  <a:schemeClr val="tx1"/>
                </a:solidFill>
              </a:rPr>
              <a:t>- Bacteria (e.g., </a:t>
            </a:r>
            <a:r>
              <a:rPr lang="en-US" sz="2400" i="1" dirty="0">
                <a:solidFill>
                  <a:schemeClr val="tx1"/>
                </a:solidFill>
              </a:rPr>
              <a:t>Helicobacter</a:t>
            </a:r>
            <a:r>
              <a:rPr lang="en-US" sz="2400" dirty="0">
                <a:solidFill>
                  <a:schemeClr val="tx1"/>
                </a:solidFill>
              </a:rPr>
              <a:t>)</a:t>
            </a:r>
            <a:endParaRPr lang="en-US" sz="24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762000"/>
            <a:ext cx="4735195" cy="564515"/>
          </a:xfrm>
          <a:prstGeom prst="rect">
            <a:avLst/>
          </a:prstGeom>
        </p:spPr>
        <p:txBody>
          <a:bodyPr vert="horz" wrap="square" lIns="0" tIns="11205" rIns="0" bIns="0" rtlCol="0">
            <a:spAutoFit/>
          </a:bodyPr>
          <a:lstStyle/>
          <a:p>
            <a:pPr marL="12700">
              <a:lnSpc>
                <a:spcPct val="100000"/>
              </a:lnSpc>
              <a:spcBef>
                <a:spcPts val="100"/>
              </a:spcBef>
            </a:pPr>
            <a:r>
              <a:rPr sz="3600" b="1" spc="-5" dirty="0"/>
              <a:t>Effect</a:t>
            </a:r>
            <a:r>
              <a:rPr sz="3600" b="1" spc="-50" dirty="0"/>
              <a:t> </a:t>
            </a:r>
            <a:r>
              <a:rPr sz="3600" b="1" dirty="0"/>
              <a:t>of</a:t>
            </a:r>
            <a:r>
              <a:rPr sz="3600" b="1" spc="-45" dirty="0"/>
              <a:t> </a:t>
            </a:r>
            <a:r>
              <a:rPr sz="3600" b="1" spc="-5" dirty="0"/>
              <a:t>Chemicals</a:t>
            </a:r>
            <a:endParaRPr sz="3600" b="1"/>
          </a:p>
        </p:txBody>
      </p:sp>
      <p:sp>
        <p:nvSpPr>
          <p:cNvPr id="3" name="object 3"/>
          <p:cNvSpPr txBox="1"/>
          <p:nvPr/>
        </p:nvSpPr>
        <p:spPr>
          <a:xfrm>
            <a:off x="533400" y="2057400"/>
            <a:ext cx="7994650" cy="3370580"/>
          </a:xfrm>
          <a:prstGeom prst="rect">
            <a:avLst/>
          </a:prstGeom>
        </p:spPr>
        <p:txBody>
          <a:bodyPr vert="horz" wrap="square" lIns="0" tIns="11766" rIns="0" bIns="0" rtlCol="0">
            <a:spAutoFit/>
          </a:bodyPr>
          <a:lstStyle/>
          <a:p>
            <a:pPr marL="356870" marR="106680" indent="-344805" algn="l" rtl="0">
              <a:lnSpc>
                <a:spcPct val="100000"/>
              </a:lnSpc>
              <a:spcBef>
                <a:spcPts val="105"/>
              </a:spcBef>
            </a:pPr>
            <a:r>
              <a:rPr sz="2470" b="1" spc="-5" dirty="0">
                <a:solidFill>
                  <a:schemeClr val="tx1"/>
                </a:solidFill>
                <a:latin typeface="Verdana" panose="020B0604030504040204"/>
                <a:cs typeface="Verdana" panose="020B0604030504040204"/>
              </a:rPr>
              <a:t>Chemicals </a:t>
            </a:r>
            <a:r>
              <a:rPr sz="2470" b="1" dirty="0">
                <a:solidFill>
                  <a:schemeClr val="tx1"/>
                </a:solidFill>
                <a:latin typeface="Verdana" panose="020B0604030504040204"/>
                <a:cs typeface="Verdana" panose="020B0604030504040204"/>
              </a:rPr>
              <a:t>can </a:t>
            </a:r>
            <a:r>
              <a:rPr sz="2470" b="1" spc="-5" dirty="0">
                <a:solidFill>
                  <a:schemeClr val="tx1"/>
                </a:solidFill>
                <a:latin typeface="Verdana" panose="020B0604030504040204"/>
                <a:cs typeface="Verdana" panose="020B0604030504040204"/>
              </a:rPr>
              <a:t>cause mutations </a:t>
            </a:r>
            <a:r>
              <a:rPr sz="2470" b="1" dirty="0">
                <a:solidFill>
                  <a:schemeClr val="tx1"/>
                </a:solidFill>
                <a:latin typeface="Verdana" panose="020B0604030504040204"/>
                <a:cs typeface="Verdana" panose="020B0604030504040204"/>
              </a:rPr>
              <a:t>in a </a:t>
            </a:r>
            <a:r>
              <a:rPr sz="2470" b="1" spc="-5" dirty="0">
                <a:solidFill>
                  <a:schemeClr val="tx1"/>
                </a:solidFill>
                <a:latin typeface="Verdana" panose="020B0604030504040204"/>
                <a:cs typeface="Verdana" panose="020B0604030504040204"/>
              </a:rPr>
              <a:t>number </a:t>
            </a:r>
            <a:r>
              <a:rPr sz="2470" b="1" spc="-969" dirty="0">
                <a:solidFill>
                  <a:schemeClr val="tx1"/>
                </a:solidFill>
                <a:latin typeface="Verdana" panose="020B0604030504040204"/>
                <a:cs typeface="Verdana" panose="020B0604030504040204"/>
              </a:rPr>
              <a:t> </a:t>
            </a:r>
            <a:r>
              <a:rPr sz="2470" b="1" dirty="0">
                <a:solidFill>
                  <a:schemeClr val="tx1"/>
                </a:solidFill>
                <a:latin typeface="Verdana" panose="020B0604030504040204"/>
                <a:cs typeface="Verdana" panose="020B0604030504040204"/>
              </a:rPr>
              <a:t>of</a:t>
            </a:r>
            <a:r>
              <a:rPr sz="2470" b="1" spc="-10" dirty="0">
                <a:solidFill>
                  <a:schemeClr val="tx1"/>
                </a:solidFill>
                <a:latin typeface="Verdana" panose="020B0604030504040204"/>
                <a:cs typeface="Verdana" panose="020B0604030504040204"/>
              </a:rPr>
              <a:t> </a:t>
            </a:r>
            <a:r>
              <a:rPr sz="2470" b="1" dirty="0">
                <a:solidFill>
                  <a:schemeClr val="tx1"/>
                </a:solidFill>
                <a:latin typeface="Verdana" panose="020B0604030504040204"/>
                <a:cs typeface="Verdana" panose="020B0604030504040204"/>
              </a:rPr>
              <a:t>ways</a:t>
            </a:r>
            <a:endParaRPr sz="2470" b="1">
              <a:solidFill>
                <a:schemeClr val="tx1"/>
              </a:solidFill>
              <a:latin typeface="Verdana" panose="020B0604030504040204"/>
              <a:cs typeface="Verdana" panose="020B0604030504040204"/>
            </a:endParaRPr>
          </a:p>
          <a:p>
            <a:pPr algn="l" rtl="0">
              <a:lnSpc>
                <a:spcPct val="100000"/>
              </a:lnSpc>
              <a:spcBef>
                <a:spcPts val="50"/>
              </a:spcBef>
            </a:pPr>
            <a:endParaRPr sz="3395">
              <a:solidFill>
                <a:schemeClr val="tx1"/>
              </a:solidFill>
              <a:latin typeface="Verdana" panose="020B0604030504040204"/>
              <a:cs typeface="Verdana" panose="020B0604030504040204"/>
            </a:endParaRPr>
          </a:p>
          <a:p>
            <a:pPr marL="12700" algn="l" rtl="0">
              <a:lnSpc>
                <a:spcPct val="100000"/>
              </a:lnSpc>
            </a:pPr>
            <a:r>
              <a:rPr sz="2470" dirty="0">
                <a:solidFill>
                  <a:schemeClr val="tx1"/>
                </a:solidFill>
                <a:latin typeface="Verdana" panose="020B0604030504040204"/>
                <a:cs typeface="Verdana" panose="020B0604030504040204"/>
              </a:rPr>
              <a:t>•</a:t>
            </a:r>
            <a:r>
              <a:rPr sz="2470" spc="19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Base analog</a:t>
            </a:r>
            <a:r>
              <a:rPr sz="2470" spc="2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a:t>
            </a:r>
            <a:r>
              <a:rPr sz="2470" spc="10" dirty="0">
                <a:solidFill>
                  <a:schemeClr val="tx1"/>
                </a:solidFill>
                <a:latin typeface="Verdana" panose="020B0604030504040204"/>
                <a:cs typeface="Verdana" panose="020B0604030504040204"/>
              </a:rPr>
              <a:t> </a:t>
            </a:r>
            <a:r>
              <a:rPr sz="2470" dirty="0">
                <a:solidFill>
                  <a:schemeClr val="tx1"/>
                </a:solidFill>
                <a:latin typeface="Verdana" panose="020B0604030504040204"/>
                <a:cs typeface="Verdana" panose="020B0604030504040204"/>
              </a:rPr>
              <a:t>may</a:t>
            </a:r>
            <a:r>
              <a:rPr sz="2470" spc="-5" dirty="0">
                <a:solidFill>
                  <a:schemeClr val="tx1"/>
                </a:solidFill>
                <a:latin typeface="Verdana" panose="020B0604030504040204"/>
                <a:cs typeface="Verdana" panose="020B0604030504040204"/>
              </a:rPr>
              <a:t> change pairing</a:t>
            </a:r>
            <a:endParaRPr sz="2470">
              <a:solidFill>
                <a:schemeClr val="tx1"/>
              </a:solidFill>
              <a:latin typeface="Verdana" panose="020B0604030504040204"/>
              <a:cs typeface="Verdana" panose="020B0604030504040204"/>
            </a:endParaRPr>
          </a:p>
          <a:p>
            <a:pPr marL="356870" marR="81280" indent="-344805" algn="l" rtl="0">
              <a:lnSpc>
                <a:spcPct val="100000"/>
              </a:lnSpc>
              <a:spcBef>
                <a:spcPts val="670"/>
              </a:spcBef>
            </a:pPr>
            <a:r>
              <a:rPr sz="2470" dirty="0">
                <a:solidFill>
                  <a:schemeClr val="tx1"/>
                </a:solidFill>
                <a:latin typeface="Verdana" panose="020B0604030504040204"/>
                <a:cs typeface="Verdana" panose="020B0604030504040204"/>
              </a:rPr>
              <a:t>•</a:t>
            </a:r>
            <a:r>
              <a:rPr sz="2470" spc="195"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Chemical</a:t>
            </a:r>
            <a:r>
              <a:rPr sz="247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modification</a:t>
            </a:r>
            <a:r>
              <a:rPr sz="2470" spc="3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a:t>
            </a:r>
            <a:r>
              <a:rPr sz="2470" spc="35"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mutagens change </a:t>
            </a:r>
            <a:r>
              <a:rPr sz="2470" spc="-969"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one</a:t>
            </a:r>
            <a:r>
              <a:rPr sz="2470" spc="-10" dirty="0">
                <a:solidFill>
                  <a:schemeClr val="tx1"/>
                </a:solidFill>
                <a:latin typeface="Verdana" panose="020B0604030504040204"/>
                <a:cs typeface="Verdana" panose="020B0604030504040204"/>
              </a:rPr>
              <a:t> </a:t>
            </a:r>
            <a:r>
              <a:rPr sz="2470" dirty="0">
                <a:solidFill>
                  <a:schemeClr val="tx1"/>
                </a:solidFill>
                <a:latin typeface="Verdana" panose="020B0604030504040204"/>
                <a:cs typeface="Verdana" panose="020B0604030504040204"/>
              </a:rPr>
              <a:t>base</a:t>
            </a:r>
            <a:r>
              <a:rPr sz="2470" spc="-5" dirty="0">
                <a:solidFill>
                  <a:schemeClr val="tx1"/>
                </a:solidFill>
                <a:latin typeface="Verdana" panose="020B0604030504040204"/>
                <a:cs typeface="Verdana" panose="020B0604030504040204"/>
              </a:rPr>
              <a:t> into another</a:t>
            </a:r>
            <a:endParaRPr sz="2470">
              <a:solidFill>
                <a:schemeClr val="tx1"/>
              </a:solidFill>
              <a:latin typeface="Verdana" panose="020B0604030504040204"/>
              <a:cs typeface="Verdana" panose="020B0604030504040204"/>
            </a:endParaRPr>
          </a:p>
          <a:p>
            <a:pPr marL="356870" marR="5080" indent="-344805" algn="l" rtl="0">
              <a:lnSpc>
                <a:spcPct val="100000"/>
              </a:lnSpc>
              <a:spcBef>
                <a:spcPts val="675"/>
              </a:spcBef>
            </a:pPr>
            <a:r>
              <a:rPr sz="2470" dirty="0">
                <a:solidFill>
                  <a:schemeClr val="tx1"/>
                </a:solidFill>
                <a:latin typeface="Verdana" panose="020B0604030504040204"/>
                <a:cs typeface="Verdana" panose="020B0604030504040204"/>
              </a:rPr>
              <a:t>•</a:t>
            </a:r>
            <a:r>
              <a:rPr sz="2470" spc="20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Intercalating</a:t>
            </a:r>
            <a:r>
              <a:rPr sz="247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agents</a:t>
            </a:r>
            <a:r>
              <a:rPr sz="2470" spc="-15"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a:t>
            </a:r>
            <a:r>
              <a:rPr sz="2470" spc="35"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alter</a:t>
            </a:r>
            <a:r>
              <a:rPr sz="247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the shape</a:t>
            </a:r>
            <a:r>
              <a:rPr sz="2470" dirty="0">
                <a:solidFill>
                  <a:schemeClr val="tx1"/>
                </a:solidFill>
                <a:latin typeface="Verdana" panose="020B0604030504040204"/>
                <a:cs typeface="Verdana" panose="020B0604030504040204"/>
              </a:rPr>
              <a:t> may </a:t>
            </a:r>
            <a:r>
              <a:rPr sz="2470" spc="-965"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cause</a:t>
            </a:r>
            <a:r>
              <a:rPr sz="2470" spc="-10" dirty="0">
                <a:solidFill>
                  <a:schemeClr val="tx1"/>
                </a:solidFill>
                <a:latin typeface="Verdana" panose="020B0604030504040204"/>
                <a:cs typeface="Verdana" panose="020B0604030504040204"/>
              </a:rPr>
              <a:t> </a:t>
            </a:r>
            <a:r>
              <a:rPr sz="2470" spc="-5" dirty="0">
                <a:solidFill>
                  <a:schemeClr val="tx1"/>
                </a:solidFill>
                <a:latin typeface="Verdana" panose="020B0604030504040204"/>
                <a:cs typeface="Verdana" panose="020B0604030504040204"/>
              </a:rPr>
              <a:t>deletion</a:t>
            </a:r>
            <a:r>
              <a:rPr sz="2470" spc="-10" dirty="0">
                <a:solidFill>
                  <a:schemeClr val="tx1"/>
                </a:solidFill>
                <a:latin typeface="Verdana" panose="020B0604030504040204"/>
                <a:cs typeface="Verdana" panose="020B0604030504040204"/>
              </a:rPr>
              <a:t> </a:t>
            </a:r>
            <a:r>
              <a:rPr sz="2470" dirty="0">
                <a:solidFill>
                  <a:schemeClr val="tx1"/>
                </a:solidFill>
                <a:latin typeface="Verdana" panose="020B0604030504040204"/>
                <a:cs typeface="Verdana" panose="020B0604030504040204"/>
              </a:rPr>
              <a:t>or</a:t>
            </a:r>
            <a:r>
              <a:rPr sz="2470" spc="-5" dirty="0">
                <a:solidFill>
                  <a:schemeClr val="tx1"/>
                </a:solidFill>
                <a:latin typeface="Verdana" panose="020B0604030504040204"/>
                <a:cs typeface="Verdana" panose="020B0604030504040204"/>
              </a:rPr>
              <a:t> addition</a:t>
            </a:r>
            <a:endParaRPr sz="2470" spc="-5" dirty="0">
              <a:solidFill>
                <a:schemeClr val="tx1"/>
              </a:solidFill>
              <a:latin typeface="Verdana" panose="020B0604030504040204"/>
              <a:cs typeface="Verdana" panose="020B060403050404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600" b="1" dirty="0">
                <a:sym typeface="+mn-ea"/>
              </a:rPr>
              <a:t>Radiation (physical mutagen) </a:t>
            </a:r>
            <a:endParaRPr lang="en-US" sz="3600"/>
          </a:p>
        </p:txBody>
      </p:sp>
      <p:sp>
        <p:nvSpPr>
          <p:cNvPr id="3" name="Content Placeholder 2"/>
          <p:cNvSpPr>
            <a:spLocks noGrp="1"/>
          </p:cNvSpPr>
          <p:nvPr>
            <p:ph idx="1"/>
          </p:nvPr>
        </p:nvSpPr>
        <p:spPr>
          <a:xfrm>
            <a:off x="457200" y="1600200"/>
            <a:ext cx="8229600" cy="4799330"/>
          </a:xfrm>
        </p:spPr>
        <p:txBody>
          <a:bodyPr/>
          <a:p>
            <a:pPr marL="0" indent="0">
              <a:buNone/>
              <a:defRPr/>
            </a:pPr>
            <a:r>
              <a:rPr lang="en-US" sz="2400" dirty="0">
                <a:solidFill>
                  <a:schemeClr val="tx1"/>
                </a:solidFill>
                <a:sym typeface="+mn-ea"/>
              </a:rPr>
              <a:t>•</a:t>
            </a:r>
            <a:r>
              <a:rPr lang="en-US" sz="2800" dirty="0">
                <a:solidFill>
                  <a:schemeClr val="tx1"/>
                </a:solidFill>
                <a:sym typeface="+mn-ea"/>
              </a:rPr>
              <a:t> </a:t>
            </a:r>
            <a:r>
              <a:rPr lang="en-US" sz="2800" b="1" dirty="0">
                <a:solidFill>
                  <a:schemeClr val="tx1"/>
                </a:solidFill>
                <a:sym typeface="+mn-ea"/>
              </a:rPr>
              <a:t>Ionizing radiations: </a:t>
            </a:r>
            <a:endParaRPr lang="en-US" sz="2400" b="1" dirty="0">
              <a:solidFill>
                <a:schemeClr val="tx1"/>
              </a:solidFill>
            </a:endParaRPr>
          </a:p>
          <a:p>
            <a:pPr marL="0" indent="0">
              <a:buFont typeface="Corbel" panose="020B0503020204020204" pitchFamily="34" charset="0"/>
              <a:buNone/>
              <a:defRPr/>
            </a:pPr>
            <a:r>
              <a:rPr lang="en-US" sz="2400" dirty="0">
                <a:solidFill>
                  <a:schemeClr val="tx1"/>
                </a:solidFill>
                <a:sym typeface="+mn-ea"/>
              </a:rPr>
              <a:t>(</a:t>
            </a:r>
            <a:r>
              <a:rPr lang="en-US" sz="2400" b="1" dirty="0">
                <a:solidFill>
                  <a:schemeClr val="tx1"/>
                </a:solidFill>
                <a:sym typeface="+mn-ea"/>
              </a:rPr>
              <a:t>Penetrative</a:t>
            </a:r>
            <a:r>
              <a:rPr lang="en-US" sz="2400" dirty="0">
                <a:solidFill>
                  <a:schemeClr val="tx1"/>
                </a:solidFill>
                <a:sym typeface="+mn-ea"/>
              </a:rPr>
              <a:t>/</a:t>
            </a:r>
            <a:r>
              <a:rPr lang="en-US" sz="2400" b="1" dirty="0">
                <a:solidFill>
                  <a:schemeClr val="tx1"/>
                </a:solidFill>
                <a:sym typeface="+mn-ea"/>
              </a:rPr>
              <a:t>very high energy</a:t>
            </a:r>
            <a:r>
              <a:rPr lang="en-US" sz="2400" dirty="0">
                <a:solidFill>
                  <a:schemeClr val="tx1"/>
                </a:solidFill>
                <a:sym typeface="+mn-ea"/>
              </a:rPr>
              <a:t>/</a:t>
            </a:r>
            <a:r>
              <a:rPr lang="en-US" sz="2400" b="1" dirty="0">
                <a:solidFill>
                  <a:schemeClr val="tx1"/>
                </a:solidFill>
                <a:sym typeface="+mn-ea"/>
              </a:rPr>
              <a:t>short wavelengths</a:t>
            </a:r>
            <a:r>
              <a:rPr lang="en-US" sz="2400" dirty="0">
                <a:solidFill>
                  <a:schemeClr val="tx1"/>
                </a:solidFill>
                <a:sym typeface="+mn-ea"/>
              </a:rPr>
              <a:t>):</a:t>
            </a:r>
            <a:endParaRPr lang="en-US" sz="2400" dirty="0">
              <a:solidFill>
                <a:schemeClr val="tx1"/>
              </a:solidFill>
              <a:sym typeface="+mn-ea"/>
            </a:endParaRPr>
          </a:p>
          <a:p>
            <a:pPr marL="457200" indent="-457200">
              <a:buFont typeface="Corbel" panose="020B0503020204020204" pitchFamily="34" charset="0"/>
              <a:buAutoNum type="arabicPeriod"/>
              <a:defRPr/>
            </a:pPr>
            <a:r>
              <a:rPr lang="en-US" sz="2400" dirty="0">
                <a:solidFill>
                  <a:schemeClr val="tx1"/>
                </a:solidFill>
                <a:sym typeface="+mn-ea"/>
              </a:rPr>
              <a:t>X-rays</a:t>
            </a:r>
            <a:endParaRPr lang="en-US" sz="2400" dirty="0">
              <a:solidFill>
                <a:schemeClr val="tx1"/>
              </a:solidFill>
            </a:endParaRPr>
          </a:p>
          <a:p>
            <a:pPr marL="457200" indent="-457200">
              <a:buFont typeface="+mj-lt"/>
              <a:buAutoNum type="arabicPeriod"/>
              <a:defRPr/>
            </a:pPr>
            <a:r>
              <a:rPr lang="en-US" sz="2400" dirty="0">
                <a:solidFill>
                  <a:schemeClr val="tx1"/>
                </a:solidFill>
                <a:sym typeface="+mn-ea"/>
              </a:rPr>
              <a:t>Gamma rays </a:t>
            </a:r>
            <a:endParaRPr lang="en-US" sz="2400" dirty="0">
              <a:solidFill>
                <a:schemeClr val="tx1"/>
              </a:solidFill>
            </a:endParaRPr>
          </a:p>
          <a:p>
            <a:pPr marL="457200" indent="-457200">
              <a:buFont typeface="+mj-lt"/>
              <a:buAutoNum type="arabicPeriod"/>
              <a:defRPr/>
            </a:pPr>
            <a:r>
              <a:rPr lang="en-US" sz="2400" dirty="0">
                <a:solidFill>
                  <a:schemeClr val="tx1"/>
                </a:solidFill>
                <a:sym typeface="+mn-ea"/>
              </a:rPr>
              <a:t>Alpha particles</a:t>
            </a:r>
            <a:endParaRPr lang="en-US" sz="2400" dirty="0">
              <a:solidFill>
                <a:schemeClr val="tx1"/>
              </a:solidFill>
              <a:sym typeface="+mn-ea"/>
            </a:endParaRPr>
          </a:p>
          <a:p>
            <a:pPr marL="457200" indent="-457200">
              <a:buFont typeface="+mj-lt"/>
              <a:buAutoNum type="arabicPeriod"/>
              <a:defRPr/>
            </a:pPr>
            <a:endParaRPr lang="en-US" sz="2400" dirty="0">
              <a:solidFill>
                <a:schemeClr val="tx1"/>
              </a:solidFill>
            </a:endParaRPr>
          </a:p>
          <a:p>
            <a:pPr>
              <a:defRPr/>
            </a:pPr>
            <a:r>
              <a:rPr lang="en-US" sz="2400" dirty="0">
                <a:solidFill>
                  <a:schemeClr val="tx1"/>
                </a:solidFill>
                <a:sym typeface="+mn-ea"/>
              </a:rPr>
              <a:t>They energize electrons, causing them to leave atoms and molecules, forming highly reactive ions. </a:t>
            </a:r>
            <a:endParaRPr lang="en-US" sz="2400" dirty="0">
              <a:solidFill>
                <a:schemeClr val="tx1"/>
              </a:solidFill>
            </a:endParaRPr>
          </a:p>
          <a:p>
            <a:pPr>
              <a:defRPr/>
            </a:pPr>
            <a:r>
              <a:rPr lang="en-US" sz="2400" b="1" dirty="0">
                <a:solidFill>
                  <a:schemeClr val="tx1"/>
                </a:solidFill>
                <a:sym typeface="+mn-ea"/>
              </a:rPr>
              <a:t>This can cause DNA molecules to break down and triggers mutations. </a:t>
            </a:r>
            <a:endParaRPr lang="en-US" sz="2400"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3600" b="1" dirty="0"/>
            </a:br>
            <a:r>
              <a:rPr lang="en-US" sz="3600" b="1" dirty="0"/>
              <a:t>Radiation (physical mutagen) </a:t>
            </a:r>
            <a:br>
              <a:rPr lang="en-US" sz="3600" dirty="0"/>
            </a:br>
            <a:endParaRPr lang="en-US" sz="3600" dirty="0"/>
          </a:p>
        </p:txBody>
      </p:sp>
      <p:sp>
        <p:nvSpPr>
          <p:cNvPr id="3" name="Content Placeholder 2"/>
          <p:cNvSpPr>
            <a:spLocks noGrp="1"/>
          </p:cNvSpPr>
          <p:nvPr>
            <p:ph idx="1"/>
          </p:nvPr>
        </p:nvSpPr>
        <p:spPr>
          <a:xfrm>
            <a:off x="278765" y="2057400"/>
            <a:ext cx="8865870" cy="4340225"/>
          </a:xfrm>
        </p:spPr>
        <p:txBody>
          <a:bodyPr/>
          <a:lstStyle/>
          <a:p>
            <a:pPr marL="0" marR="0" lvl="0" indent="0" algn="l" defTabSz="685800" rtl="0" eaLnBrk="0" fontAlgn="base" latinLnBrk="0" hangingPunct="0">
              <a:lnSpc>
                <a:spcPct val="90000"/>
              </a:lnSpc>
              <a:spcBef>
                <a:spcPts val="1000"/>
              </a:spcBef>
              <a:spcAft>
                <a:spcPct val="0"/>
              </a:spcAft>
              <a:buClr>
                <a:srgbClr val="A6B727"/>
              </a:buClr>
              <a:buSzPct val="80000"/>
              <a:buFont typeface="Corbel" panose="020B0503020204020204" pitchFamily="34" charset="0"/>
              <a:buNone/>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 </a:t>
            </a:r>
            <a:r>
              <a:rPr kumimoji="0" lang="en-US" sz="2400" b="1" i="0" u="none" strike="noStrike" kern="1200" cap="none" spc="0" normalizeH="0" baseline="0" noProof="0" dirty="0">
                <a:ln>
                  <a:noFill/>
                </a:ln>
                <a:solidFill>
                  <a:schemeClr val="tx1"/>
                </a:solidFill>
                <a:effectLst/>
                <a:uLnTx/>
                <a:uFillTx/>
                <a:latin typeface="Corbel" panose="020B0503020204020204"/>
                <a:ea typeface="+mn-ea"/>
                <a:cs typeface="+mn-cs"/>
              </a:rPr>
              <a:t>Nonionizing radiation:</a:t>
            </a:r>
            <a:endParaRPr kumimoji="0" lang="en-US" sz="2400" b="1" i="0" u="none" strike="noStrike" kern="1200" cap="none" spc="0" normalizeH="0" baseline="0" noProof="0" dirty="0">
              <a:ln>
                <a:noFill/>
              </a:ln>
              <a:solidFill>
                <a:schemeClr val="tx1"/>
              </a:solidFill>
              <a:effectLst/>
              <a:uLnTx/>
              <a:uFillTx/>
              <a:latin typeface="Corbel" panose="020B0503020204020204"/>
              <a:ea typeface="+mn-ea"/>
              <a:cs typeface="+mn-cs"/>
            </a:endParaRPr>
          </a:p>
          <a:p>
            <a:pPr marL="0" marR="0" lvl="0" indent="0" algn="l" defTabSz="685800" rtl="0" eaLnBrk="0" fontAlgn="base" latinLnBrk="0" hangingPunct="0">
              <a:lnSpc>
                <a:spcPct val="90000"/>
              </a:lnSpc>
              <a:spcBef>
                <a:spcPts val="1000"/>
              </a:spcBef>
              <a:spcAft>
                <a:spcPct val="0"/>
              </a:spcAft>
              <a:buClr>
                <a:srgbClr val="A6B727"/>
              </a:buClr>
              <a:buSzPct val="80000"/>
              <a:buFont typeface="Corbel" panose="020B0503020204020204" pitchFamily="34" charset="0"/>
              <a:buNone/>
              <a:defRPr/>
            </a:pPr>
            <a:r>
              <a:rPr kumimoji="0" lang="en-US" sz="2400" b="1" i="0" u="none" strike="noStrike" kern="1200" cap="none" spc="0" normalizeH="0" baseline="0" noProof="0" dirty="0">
                <a:ln>
                  <a:noFill/>
                </a:ln>
                <a:solidFill>
                  <a:schemeClr val="tx1"/>
                </a:solidFill>
                <a:effectLst/>
                <a:uLnTx/>
                <a:uFillTx/>
                <a:latin typeface="Corbel" panose="020B0503020204020204"/>
                <a:ea typeface="+mn-ea"/>
                <a:cs typeface="+mn-cs"/>
              </a:rPr>
              <a:t> (Not penetrative/lower energy/longer wavelength) </a:t>
            </a: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such as:</a:t>
            </a:r>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a:p>
            <a:pPr marL="0" marR="0" lvl="0" indent="0" algn="l" defTabSz="685800" rtl="0" eaLnBrk="0" fontAlgn="base" latinLnBrk="0" hangingPunct="0">
              <a:lnSpc>
                <a:spcPct val="90000"/>
              </a:lnSpc>
              <a:spcBef>
                <a:spcPts val="1000"/>
              </a:spcBef>
              <a:spcAft>
                <a:spcPct val="0"/>
              </a:spcAft>
              <a:buClr>
                <a:srgbClr val="A6B727"/>
              </a:buClr>
              <a:buSzPct val="80000"/>
              <a:buNone/>
              <a:defRPr/>
            </a:pPr>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a:p>
            <a:pPr marL="0" marR="0" lvl="0" indent="0" algn="l" defTabSz="685800" rtl="0" eaLnBrk="0" fontAlgn="base" latinLnBrk="0" hangingPunct="0">
              <a:lnSpc>
                <a:spcPct val="90000"/>
              </a:lnSpc>
              <a:spcBef>
                <a:spcPts val="1000"/>
              </a:spcBef>
              <a:spcAft>
                <a:spcPct val="0"/>
              </a:spcAft>
              <a:buClr>
                <a:srgbClr val="A6B727"/>
              </a:buClr>
              <a:buSzPct val="80000"/>
              <a:buNone/>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UV-light (wavelength above 260 nm).</a:t>
            </a:r>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a:p>
            <a:pPr marR="0" lvl="0" algn="l" defTabSz="685800" rtl="0" eaLnBrk="0" fontAlgn="base" latinLnBrk="0" hangingPunct="0">
              <a:lnSpc>
                <a:spcPct val="90000"/>
              </a:lnSpc>
              <a:spcBef>
                <a:spcPts val="1000"/>
              </a:spcBef>
              <a:spcAft>
                <a:spcPct val="0"/>
              </a:spcAft>
              <a:buClr>
                <a:srgbClr val="A6B727"/>
              </a:buClr>
              <a:buSzPct val="80000"/>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Causes the breaking of bonds between purines and Pyrimidines when two pyrimidine molecules of the same type (T or C) are adjacent to one another on a nucleoside.</a:t>
            </a:r>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a:p>
            <a:pPr marR="0" lvl="0" algn="l" defTabSz="685800" rtl="0" eaLnBrk="0" fontAlgn="base" latinLnBrk="0" hangingPunct="0">
              <a:lnSpc>
                <a:spcPct val="90000"/>
              </a:lnSpc>
              <a:spcBef>
                <a:spcPts val="1000"/>
              </a:spcBef>
              <a:spcAft>
                <a:spcPct val="0"/>
              </a:spcAft>
              <a:buClr>
                <a:srgbClr val="A6B727"/>
              </a:buClr>
              <a:buSzPct val="80000"/>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 These pyrimidine dimers distort the sugar phosphate backbone and prevent proper replication and transcription. </a:t>
            </a:r>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a:p>
            <a:endPar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Rectangle 13"/>
          <p:cNvSpPr>
            <a:spLocks noGrp="1" noRot="1" noChangeAspect="1" noMove="1" noResize="1" noEditPoints="1" noAdjustHandles="1" noChangeArrowheads="1" noChangeShapeType="1" noTextEdit="1"/>
          </p:cNvSpPr>
          <p:nvPr/>
        </p:nvSpPr>
        <p:spPr>
          <a:xfrm>
            <a:off x="173355" y="243840"/>
            <a:ext cx="879348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pic>
        <p:nvPicPr>
          <p:cNvPr id="6" name="Content Placeholder 5"/>
          <p:cNvPicPr>
            <a:picLocks noGrp="1" noChangeAspect="1"/>
          </p:cNvPicPr>
          <p:nvPr>
            <p:ph idx="1"/>
          </p:nvPr>
        </p:nvPicPr>
        <p:blipFill>
          <a:blip r:embed="rId1"/>
          <a:stretch>
            <a:fillRect/>
          </a:stretch>
        </p:blipFill>
        <p:spPr>
          <a:xfrm>
            <a:off x="414654" y="2165401"/>
            <a:ext cx="8310881" cy="253481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pic>
        <p:nvPicPr>
          <p:cNvPr id="4" name="object 2"/>
          <p:cNvPicPr>
            <a:picLocks noChangeAspect="1"/>
          </p:cNvPicPr>
          <p:nvPr>
            <p:ph idx="1"/>
          </p:nvPr>
        </p:nvPicPr>
        <p:blipFill>
          <a:blip r:embed="rId1" cstate="print"/>
          <a:stretch>
            <a:fillRect/>
          </a:stretch>
        </p:blipFill>
        <p:spPr>
          <a:xfrm>
            <a:off x="533400" y="1828800"/>
            <a:ext cx="8222615" cy="40760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r>
              <a:rPr lang="en-US" altLang="en-US" sz="3600"/>
              <a:t>Effect of UV light on bacterial survival </a:t>
            </a:r>
            <a:endParaRPr lang="en-US" altLang="en-US" sz="3600"/>
          </a:p>
        </p:txBody>
      </p:sp>
      <p:sp>
        <p:nvSpPr>
          <p:cNvPr id="46082" name="Content Placeholder 2"/>
          <p:cNvSpPr>
            <a:spLocks noGrp="1"/>
          </p:cNvSpPr>
          <p:nvPr>
            <p:ph idx="1"/>
          </p:nvPr>
        </p:nvSpPr>
        <p:spPr>
          <a:xfrm>
            <a:off x="252095" y="1749425"/>
            <a:ext cx="8888095" cy="4575175"/>
          </a:xfrm>
        </p:spPr>
        <p:txBody>
          <a:bodyPr/>
          <a:lstStyle/>
          <a:p>
            <a:r>
              <a:rPr lang="en-US" altLang="en-US" sz="2400" dirty="0">
                <a:solidFill>
                  <a:schemeClr val="tx1"/>
                </a:solidFill>
              </a:rPr>
              <a:t>Mutations occur naturally in bacteria at a rate (10</a:t>
            </a:r>
            <a:r>
              <a:rPr lang="en-US" altLang="en-US" sz="2400" baseline="30000" dirty="0">
                <a:solidFill>
                  <a:schemeClr val="tx1"/>
                </a:solidFill>
              </a:rPr>
              <a:t>-7</a:t>
            </a:r>
            <a:r>
              <a:rPr lang="en-US" altLang="en-US" sz="2400" dirty="0">
                <a:solidFill>
                  <a:schemeClr val="tx1"/>
                </a:solidFill>
              </a:rPr>
              <a:t>– 10</a:t>
            </a:r>
            <a:r>
              <a:rPr lang="en-US" altLang="en-US" sz="2400" baseline="30000" dirty="0">
                <a:solidFill>
                  <a:schemeClr val="tx1"/>
                </a:solidFill>
              </a:rPr>
              <a:t>-8</a:t>
            </a:r>
            <a:r>
              <a:rPr lang="en-US" altLang="en-US" sz="2400" dirty="0">
                <a:solidFill>
                  <a:schemeClr val="tx1"/>
                </a:solidFill>
              </a:rPr>
              <a:t> ) per base pair during one round of replication.</a:t>
            </a:r>
            <a:endParaRPr lang="en-US" altLang="en-US" sz="2400" dirty="0">
              <a:solidFill>
                <a:schemeClr val="tx1"/>
              </a:solidFill>
            </a:endParaRPr>
          </a:p>
          <a:p>
            <a:r>
              <a:rPr lang="en-US" altLang="en-US" sz="2400" dirty="0">
                <a:solidFill>
                  <a:schemeClr val="tx1"/>
                </a:solidFill>
              </a:rPr>
              <a:t>In the presence of a </a:t>
            </a:r>
            <a:r>
              <a:rPr lang="en-US" altLang="en-US" sz="2400" b="1" dirty="0">
                <a:solidFill>
                  <a:schemeClr val="tx1"/>
                </a:solidFill>
              </a:rPr>
              <a:t>mutagen</a:t>
            </a:r>
            <a:r>
              <a:rPr lang="en-US" altLang="en-US" sz="2400" dirty="0">
                <a:solidFill>
                  <a:schemeClr val="tx1"/>
                </a:solidFill>
              </a:rPr>
              <a:t>, however this rate can increase dramatically. </a:t>
            </a:r>
            <a:endParaRPr lang="en-US" altLang="en-US" sz="2400" dirty="0">
              <a:solidFill>
                <a:schemeClr val="tx1"/>
              </a:solidFill>
            </a:endParaRPr>
          </a:p>
          <a:p>
            <a:r>
              <a:rPr lang="en-US" altLang="en-US" sz="2400" dirty="0">
                <a:solidFill>
                  <a:schemeClr val="tx1"/>
                </a:solidFill>
              </a:rPr>
              <a:t>Ionizing radiation, such as x-rays or gamma radiation carries enough energy to remove electrons from molecules in a cell. When electrons are removed from molecules, ions called </a:t>
            </a:r>
            <a:r>
              <a:rPr lang="en-US" altLang="en-US" sz="2400" b="1" dirty="0">
                <a:solidFill>
                  <a:schemeClr val="tx1"/>
                </a:solidFill>
              </a:rPr>
              <a:t>free radicals </a:t>
            </a:r>
            <a:r>
              <a:rPr lang="en-US" altLang="en-US" sz="2400" dirty="0">
                <a:solidFill>
                  <a:schemeClr val="tx1"/>
                </a:solidFill>
              </a:rPr>
              <a:t>are formed. </a:t>
            </a:r>
            <a:endParaRPr lang="en-US" altLang="en-US" sz="2400" dirty="0">
              <a:solidFill>
                <a:schemeClr val="tx1"/>
              </a:solidFill>
            </a:endParaRPr>
          </a:p>
          <a:p>
            <a:r>
              <a:rPr lang="en-US" altLang="en-US" sz="2400" dirty="0">
                <a:solidFill>
                  <a:schemeClr val="tx1"/>
                </a:solidFill>
              </a:rPr>
              <a:t>Free radicals can damage most other molecules in a cell, such as DNA or RNA, by oxidizing them. </a:t>
            </a:r>
            <a:endParaRPr lang="en-US" altLang="en-US" sz="2400"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r>
              <a:rPr lang="en-US" altLang="en-US" sz="3600"/>
              <a:t>Effect of UV light on bacterial survival </a:t>
            </a:r>
            <a:endParaRPr lang="en-US" altLang="en-US" sz="3600"/>
          </a:p>
        </p:txBody>
      </p:sp>
      <p:sp>
        <p:nvSpPr>
          <p:cNvPr id="47106" name="Content Placeholder 2"/>
          <p:cNvSpPr>
            <a:spLocks noGrp="1"/>
          </p:cNvSpPr>
          <p:nvPr>
            <p:ph idx="1"/>
          </p:nvPr>
        </p:nvSpPr>
        <p:spPr>
          <a:xfrm>
            <a:off x="457200" y="1600200"/>
            <a:ext cx="8636635" cy="4890770"/>
          </a:xfrm>
        </p:spPr>
        <p:txBody>
          <a:bodyPr/>
          <a:lstStyle/>
          <a:p>
            <a:r>
              <a:rPr lang="en-US" altLang="en-US" sz="2400" dirty="0">
                <a:solidFill>
                  <a:schemeClr val="tx1"/>
                </a:solidFill>
              </a:rPr>
              <a:t>Non-ionizing radiation, such as ultraviolet (UV) light, exerts its mutagenic effect by exciting electrons in molecules. </a:t>
            </a:r>
            <a:endParaRPr lang="en-US" altLang="en-US" sz="2400" dirty="0">
              <a:solidFill>
                <a:schemeClr val="tx1"/>
              </a:solidFill>
            </a:endParaRPr>
          </a:p>
          <a:p>
            <a:pPr marL="0" indent="0">
              <a:buNone/>
            </a:pPr>
            <a:endParaRPr lang="en-US" altLang="en-US" sz="2400" dirty="0">
              <a:solidFill>
                <a:schemeClr val="tx1"/>
              </a:solidFill>
            </a:endParaRPr>
          </a:p>
          <a:p>
            <a:r>
              <a:rPr lang="en-US" altLang="en-US" sz="2400" dirty="0">
                <a:solidFill>
                  <a:schemeClr val="tx1"/>
                </a:solidFill>
              </a:rPr>
              <a:t>The excitation of electrons in DNA molecules often results in </a:t>
            </a:r>
            <a:r>
              <a:rPr lang="en-US" altLang="en-US" sz="2400" b="1" dirty="0">
                <a:solidFill>
                  <a:schemeClr val="tx1"/>
                </a:solidFill>
              </a:rPr>
              <a:t>pyrimidine dimer formation. </a:t>
            </a:r>
            <a:endParaRPr lang="en-US" altLang="en-US" sz="2400" b="1" dirty="0">
              <a:solidFill>
                <a:schemeClr val="tx1"/>
              </a:solidFill>
            </a:endParaRPr>
          </a:p>
          <a:p>
            <a:pPr marL="0" indent="0">
              <a:buNone/>
            </a:pPr>
            <a:endParaRPr lang="en-US" altLang="en-US" sz="2400" dirty="0">
              <a:solidFill>
                <a:schemeClr val="tx1"/>
              </a:solidFill>
            </a:endParaRPr>
          </a:p>
          <a:p>
            <a:r>
              <a:rPr lang="en-US" altLang="en-US" sz="2400" dirty="0">
                <a:solidFill>
                  <a:schemeClr val="tx1"/>
                </a:solidFill>
              </a:rPr>
              <a:t>These dimers often change the shape of the DNA in the cell and can cause problems during replication. </a:t>
            </a:r>
            <a:endParaRPr lang="en-US" altLang="en-US" sz="2400" dirty="0">
              <a:solidFill>
                <a:schemeClr val="tx1"/>
              </a:solidFill>
            </a:endParaRPr>
          </a:p>
          <a:p>
            <a:pPr marL="0" indent="0">
              <a:buNone/>
            </a:pPr>
            <a:endParaRPr lang="en-US" altLang="en-US" sz="2400" dirty="0">
              <a:solidFill>
                <a:schemeClr val="tx1"/>
              </a:solidFill>
            </a:endParaRPr>
          </a:p>
          <a:p>
            <a:r>
              <a:rPr lang="en-US" altLang="en-US" sz="2400" dirty="0">
                <a:solidFill>
                  <a:schemeClr val="tx1"/>
                </a:solidFill>
              </a:rPr>
              <a:t>The cell often tries to repair pyrimidine dimers before replication, </a:t>
            </a:r>
            <a:r>
              <a:rPr lang="en-US" altLang="en-US" sz="2400" b="1" dirty="0">
                <a:solidFill>
                  <a:schemeClr val="tx1"/>
                </a:solidFill>
              </a:rPr>
              <a:t>but the repair mechanism can also lead to mutations as well</a:t>
            </a:r>
            <a:r>
              <a:rPr lang="en-US" altLang="en-US" sz="2400" dirty="0">
                <a:solidFill>
                  <a:schemeClr val="tx1"/>
                </a:solidFill>
              </a:rPr>
              <a:t>.</a:t>
            </a:r>
            <a:endParaRPr lang="en-US" altLang="en-US" sz="2400" dirty="0">
              <a:solidFill>
                <a:schemeClr val="tx1"/>
              </a:solidFill>
            </a:endParaRPr>
          </a:p>
          <a:p>
            <a:endParaRPr lang="en-US" altLang="en-US" sz="2400" dirty="0">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altLang="en-US" sz="3600"/>
              <a:t>Effect of UV light on bacterial survival </a:t>
            </a:r>
            <a:endParaRPr lang="en-US" altLang="en-US" sz="3600"/>
          </a:p>
        </p:txBody>
      </p:sp>
      <p:sp>
        <p:nvSpPr>
          <p:cNvPr id="3" name="Content Placeholder 2"/>
          <p:cNvSpPr>
            <a:spLocks noGrp="1"/>
          </p:cNvSpPr>
          <p:nvPr>
            <p:ph idx="1"/>
          </p:nvPr>
        </p:nvSpPr>
        <p:spPr>
          <a:xfrm>
            <a:off x="223520" y="1600200"/>
            <a:ext cx="8463280" cy="4526280"/>
          </a:xfrm>
        </p:spPr>
        <p:txBody>
          <a:bodyPr>
            <a:noAutofit/>
          </a:bodyPr>
          <a:lstStyle/>
          <a:p>
            <a:pPr>
              <a:defRPr/>
            </a:pPr>
            <a:r>
              <a:rPr lang="en-US" sz="2400" dirty="0">
                <a:solidFill>
                  <a:schemeClr val="tx1"/>
                </a:solidFill>
              </a:rPr>
              <a:t>Most microorganisms have mechanisms which can repair damage to the DNA strands caused by UV light. Of these repair mechanisms are </a:t>
            </a:r>
            <a:r>
              <a:rPr lang="en-US" sz="2400" b="1" dirty="0">
                <a:solidFill>
                  <a:schemeClr val="tx1"/>
                </a:solidFill>
              </a:rPr>
              <a:t>photoreactivation, excision (dark) repair and post-replication recombination. </a:t>
            </a:r>
            <a:endParaRPr lang="en-US" sz="2400" b="1" dirty="0">
              <a:solidFill>
                <a:schemeClr val="tx1"/>
              </a:solidFill>
            </a:endParaRPr>
          </a:p>
          <a:p>
            <a:pPr marL="0" indent="0">
              <a:buNone/>
              <a:defRPr/>
            </a:pPr>
            <a:endParaRPr lang="en-US" sz="2400" dirty="0">
              <a:solidFill>
                <a:schemeClr val="tx1"/>
              </a:solidFill>
            </a:endParaRPr>
          </a:p>
          <a:p>
            <a:pPr>
              <a:defRPr/>
            </a:pPr>
            <a:r>
              <a:rPr lang="en-US" sz="2400" dirty="0">
                <a:solidFill>
                  <a:schemeClr val="tx1"/>
                </a:solidFill>
              </a:rPr>
              <a:t>Humans with </a:t>
            </a:r>
            <a:r>
              <a:rPr lang="en-US" sz="2400" u="sng" dirty="0">
                <a:solidFill>
                  <a:schemeClr val="tx1"/>
                </a:solidFill>
              </a:rPr>
              <a:t>xeroderma pigmentosum </a:t>
            </a:r>
            <a:r>
              <a:rPr lang="en-US" sz="2400" dirty="0">
                <a:solidFill>
                  <a:schemeClr val="tx1"/>
                </a:solidFill>
              </a:rPr>
              <a:t>are quite defective in thymine dimer repair, because of a mutation in the gene encoding the endonuclease enzyme, and thus are very prone to skin cancer. </a:t>
            </a:r>
            <a:endParaRPr lang="en-US" sz="2400"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r>
              <a:rPr lang="en-US" altLang="en-US" sz="3600"/>
              <a:t>Effect of UV light on bacterial survival </a:t>
            </a:r>
            <a:endParaRPr lang="en-US" altLang="en-US" sz="3600"/>
          </a:p>
        </p:txBody>
      </p:sp>
      <p:sp>
        <p:nvSpPr>
          <p:cNvPr id="49154" name="Content Placeholder 2"/>
          <p:cNvSpPr>
            <a:spLocks noGrp="1"/>
          </p:cNvSpPr>
          <p:nvPr>
            <p:ph idx="1"/>
          </p:nvPr>
        </p:nvSpPr>
        <p:spPr/>
        <p:txBody>
          <a:bodyPr/>
          <a:lstStyle/>
          <a:p>
            <a:r>
              <a:rPr lang="en-US" altLang="en-US" sz="2400" b="1" dirty="0">
                <a:solidFill>
                  <a:schemeClr val="tx1"/>
                </a:solidFill>
                <a:highlight>
                  <a:srgbClr val="FFFF00"/>
                </a:highlight>
              </a:rPr>
              <a:t>Photoreactivation</a:t>
            </a:r>
            <a:r>
              <a:rPr lang="en-US" altLang="en-US" sz="2400" b="1" dirty="0">
                <a:solidFill>
                  <a:schemeClr val="tx1"/>
                </a:solidFill>
              </a:rPr>
              <a:t> </a:t>
            </a:r>
            <a:r>
              <a:rPr lang="en-US" altLang="en-US" sz="2400" dirty="0">
                <a:solidFill>
                  <a:schemeClr val="tx1"/>
                </a:solidFill>
              </a:rPr>
              <a:t>is carried out by an enzyme called </a:t>
            </a:r>
            <a:r>
              <a:rPr lang="en-US" altLang="en-US" sz="2400" b="1" dirty="0">
                <a:solidFill>
                  <a:schemeClr val="tx1"/>
                </a:solidFill>
              </a:rPr>
              <a:t>photolyase</a:t>
            </a:r>
            <a:r>
              <a:rPr lang="en-US" altLang="en-US" sz="2400" dirty="0">
                <a:solidFill>
                  <a:schemeClr val="tx1"/>
                </a:solidFill>
              </a:rPr>
              <a:t> that binds to the dimers. In the presence of visible light, photolyase breaks the bond between the partners of the dimer and returns the damaged DNA strand to its original state.</a:t>
            </a:r>
            <a:endParaRPr lang="en-US" altLang="en-US" sz="2400" dirty="0">
              <a:solidFill>
                <a:schemeClr val="tx1"/>
              </a:solidFill>
            </a:endParaRPr>
          </a:p>
          <a:p>
            <a:pPr marL="34925" indent="0">
              <a:buNone/>
            </a:pPr>
            <a:endParaRPr lang="en-US" altLang="en-US" sz="2400" dirty="0">
              <a:solidFill>
                <a:schemeClr val="tx1"/>
              </a:solidFill>
            </a:endParaRPr>
          </a:p>
          <a:p>
            <a:r>
              <a:rPr lang="en-US" altLang="en-US" sz="2400" b="1" dirty="0">
                <a:solidFill>
                  <a:schemeClr val="tx1"/>
                </a:solidFill>
                <a:highlight>
                  <a:srgbClr val="FFFF00"/>
                </a:highlight>
              </a:rPr>
              <a:t>In dark repair (excision)</a:t>
            </a:r>
            <a:r>
              <a:rPr lang="en-US" altLang="en-US" sz="2400" dirty="0">
                <a:solidFill>
                  <a:schemeClr val="tx1"/>
                </a:solidFill>
              </a:rPr>
              <a:t> enzymes called </a:t>
            </a:r>
            <a:r>
              <a:rPr lang="en-US" altLang="en-US" sz="2400" b="1" dirty="0">
                <a:solidFill>
                  <a:schemeClr val="tx1"/>
                </a:solidFill>
              </a:rPr>
              <a:t>nucleases</a:t>
            </a:r>
            <a:r>
              <a:rPr lang="en-US" altLang="en-US" sz="2400" dirty="0">
                <a:solidFill>
                  <a:schemeClr val="tx1"/>
                </a:solidFill>
              </a:rPr>
              <a:t> hydrolyze the damaged portion of the DNA template so that other enzymes can re-synthesize the original DNA in that region, replacing the thymine dimers with two normal thymine molecules, thus restoring the DNA to its original state. </a:t>
            </a:r>
            <a:endParaRPr lang="en-US" altLang="en-US" sz="2400"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457200" y="456883"/>
            <a:ext cx="8229600" cy="1143000"/>
          </a:xfrm>
        </p:spPr>
        <p:txBody>
          <a:bodyPr/>
          <a:lstStyle/>
          <a:p>
            <a:r>
              <a:rPr lang="en-US" altLang="en-US" sz="4000" b="1"/>
              <a:t>Effect of UV light on bacterial survival </a:t>
            </a:r>
            <a:endParaRPr lang="en-US" altLang="en-US" sz="4000" b="1"/>
          </a:p>
        </p:txBody>
      </p:sp>
      <p:pic>
        <p:nvPicPr>
          <p:cNvPr id="50178" name="Content Placeholder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762000" y="1749425"/>
            <a:ext cx="3667760" cy="4980305"/>
          </a:xfrm>
          <a:effectLst>
            <a:outerShdw blurRad="63500" sx="102000" sy="102000" algn="ctr" rotWithShape="0">
              <a:prstClr val="black">
                <a:alpha val="40000"/>
              </a:prstClr>
            </a:outerShdw>
          </a:effectLst>
        </p:spPr>
      </p:pic>
      <p:pic>
        <p:nvPicPr>
          <p:cNvPr id="501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757045"/>
            <a:ext cx="3904615" cy="497332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80683"/>
            <a:ext cx="8229600" cy="1143000"/>
          </a:xfrm>
        </p:spPr>
        <p:txBody>
          <a:bodyPr/>
          <a:p>
            <a:r>
              <a:rPr lang="en-US" altLang="en-US" sz="3600" b="1" dirty="0">
                <a:sym typeface="+mn-ea"/>
              </a:rPr>
              <a:t>Procedure#1 (UV resistant and sensitive bacteria</a:t>
            </a:r>
            <a:r>
              <a:rPr lang="en-US" altLang="en-US" sz="3600" dirty="0">
                <a:sym typeface="+mn-ea"/>
              </a:rPr>
              <a:t>)</a:t>
            </a:r>
            <a:br>
              <a:rPr lang="en-US" altLang="en-US" sz="3600" dirty="0"/>
            </a:br>
            <a:endParaRPr lang="en-US" sz="3600"/>
          </a:p>
        </p:txBody>
      </p:sp>
      <p:sp>
        <p:nvSpPr>
          <p:cNvPr id="3" name="Content Placeholder 2"/>
          <p:cNvSpPr>
            <a:spLocks noGrp="1"/>
          </p:cNvSpPr>
          <p:nvPr>
            <p:ph idx="1"/>
          </p:nvPr>
        </p:nvSpPr>
        <p:spPr/>
        <p:txBody>
          <a:bodyPr/>
          <a:p>
            <a:pPr>
              <a:defRPr/>
            </a:pPr>
            <a:endParaRPr lang="en-US" sz="2400" dirty="0">
              <a:solidFill>
                <a:schemeClr val="tx1"/>
              </a:solidFill>
            </a:endParaRPr>
          </a:p>
          <a:p>
            <a:pPr>
              <a:defRPr/>
            </a:pPr>
            <a:r>
              <a:rPr lang="en-US" sz="2400" dirty="0">
                <a:solidFill>
                  <a:schemeClr val="tx1"/>
                </a:solidFill>
                <a:sym typeface="+mn-ea"/>
              </a:rPr>
              <a:t>You will be supplied with two strains of bacteria; one strain is UV resistant (</a:t>
            </a:r>
            <a:r>
              <a:rPr lang="en-US" sz="2400" i="1" dirty="0">
                <a:solidFill>
                  <a:schemeClr val="tx1"/>
                </a:solidFill>
                <a:sym typeface="+mn-ea"/>
              </a:rPr>
              <a:t>E. coli</a:t>
            </a:r>
            <a:r>
              <a:rPr lang="en-US" sz="2400" dirty="0">
                <a:solidFill>
                  <a:schemeClr val="tx1"/>
                </a:solidFill>
                <a:sym typeface="+mn-ea"/>
              </a:rPr>
              <a:t>) and the other is UV sensitive, or called UVR-- (</a:t>
            </a:r>
            <a:r>
              <a:rPr lang="en-US" sz="2400" i="1" dirty="0">
                <a:solidFill>
                  <a:schemeClr val="tx1"/>
                </a:solidFill>
                <a:sym typeface="+mn-ea"/>
              </a:rPr>
              <a:t>Salmonella </a:t>
            </a:r>
            <a:r>
              <a:rPr lang="en-US" sz="2400" i="1" dirty="0" err="1">
                <a:solidFill>
                  <a:schemeClr val="tx1"/>
                </a:solidFill>
                <a:sym typeface="+mn-ea"/>
              </a:rPr>
              <a:t>typhimurium</a:t>
            </a:r>
            <a:r>
              <a:rPr lang="en-US" sz="2400" dirty="0">
                <a:solidFill>
                  <a:schemeClr val="tx1"/>
                </a:solidFill>
                <a:sym typeface="+mn-ea"/>
              </a:rPr>
              <a:t>). </a:t>
            </a:r>
            <a:endParaRPr lang="en-US" sz="2400" dirty="0">
              <a:solidFill>
                <a:schemeClr val="tx1"/>
              </a:solidFill>
              <a:sym typeface="+mn-ea"/>
            </a:endParaRPr>
          </a:p>
          <a:p>
            <a:pPr marL="0" indent="0">
              <a:buNone/>
              <a:defRPr/>
            </a:pPr>
            <a:endParaRPr lang="en-US" sz="2400" dirty="0">
              <a:solidFill>
                <a:schemeClr val="tx1"/>
              </a:solidFill>
            </a:endParaRPr>
          </a:p>
          <a:p>
            <a:pPr marL="0" indent="0" algn="ctr">
              <a:buFont typeface="Corbel" panose="020B0503020204020204" pitchFamily="34" charset="0"/>
              <a:buNone/>
              <a:defRPr/>
            </a:pPr>
            <a:r>
              <a:rPr lang="en-US" sz="2400" dirty="0">
                <a:solidFill>
                  <a:schemeClr val="tx1"/>
                </a:solidFill>
                <a:sym typeface="+mn-ea"/>
              </a:rPr>
              <a:t>• Using a permanent marker, divide the agar plate into 4 quarters (One half will be exposed to UV light ,and the other half will be covered with the plate lid (control)</a:t>
            </a:r>
            <a:endParaRPr lang="en-US" sz="2400" dirty="0">
              <a:solidFill>
                <a:schemeClr val="tx1"/>
              </a:solidFill>
              <a:sym typeface="+mn-ea"/>
            </a:endParaRPr>
          </a:p>
          <a:p>
            <a:pPr marL="0" indent="0" algn="ctr">
              <a:buFont typeface="Corbel" panose="020B0503020204020204" pitchFamily="34" charset="0"/>
              <a:buNone/>
              <a:defRPr/>
            </a:pPr>
            <a:endParaRPr lang="en-US" sz="2400" dirty="0">
              <a:solidFill>
                <a:schemeClr val="tx1"/>
              </a:solidFill>
            </a:endParaRPr>
          </a:p>
          <a:p>
            <a:pPr marL="0" indent="0">
              <a:buFont typeface="Corbel" panose="020B0503020204020204" pitchFamily="34" charset="0"/>
              <a:buNone/>
              <a:defRPr/>
            </a:pPr>
            <a:r>
              <a:rPr lang="en-US" sz="2400" dirty="0">
                <a:solidFill>
                  <a:schemeClr val="tx1"/>
                </a:solidFill>
                <a:sym typeface="+mn-ea"/>
              </a:rPr>
              <a:t>• Using a sterile loop, streak a loop-full of </a:t>
            </a:r>
            <a:r>
              <a:rPr lang="en-US" sz="2400" i="1" dirty="0">
                <a:solidFill>
                  <a:schemeClr val="tx1"/>
                </a:solidFill>
                <a:sym typeface="+mn-ea"/>
              </a:rPr>
              <a:t>E. coli </a:t>
            </a:r>
            <a:r>
              <a:rPr lang="en-US" sz="2400" dirty="0">
                <a:solidFill>
                  <a:schemeClr val="tx1"/>
                </a:solidFill>
                <a:sym typeface="+mn-ea"/>
              </a:rPr>
              <a:t>broth on the (E) area, and a loop-full of </a:t>
            </a:r>
            <a:r>
              <a:rPr lang="en-US" sz="2400" i="1" dirty="0">
                <a:solidFill>
                  <a:schemeClr val="tx1"/>
                </a:solidFill>
                <a:sym typeface="+mn-ea"/>
              </a:rPr>
              <a:t>Salmonella </a:t>
            </a:r>
            <a:r>
              <a:rPr lang="en-US" sz="2400" dirty="0">
                <a:solidFill>
                  <a:schemeClr val="tx1"/>
                </a:solidFill>
                <a:sym typeface="+mn-ea"/>
              </a:rPr>
              <a:t>broth on the (S) area.</a:t>
            </a:r>
            <a:endParaRPr lang="en-US" sz="2400" b="1"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b="1" dirty="0"/>
              <a:t>Procedure (UV resistant and sensitive bacteria</a:t>
            </a:r>
            <a:r>
              <a:rPr lang="en-US" altLang="en-US" sz="4000" dirty="0"/>
              <a:t>)</a:t>
            </a:r>
            <a:endParaRPr lang="en-US" sz="4000" dirty="0"/>
          </a:p>
        </p:txBody>
      </p:sp>
      <p:sp>
        <p:nvSpPr>
          <p:cNvPr id="3" name="Content Placeholder 2"/>
          <p:cNvSpPr>
            <a:spLocks noGrp="1"/>
          </p:cNvSpPr>
          <p:nvPr>
            <p:ph idx="1"/>
          </p:nvPr>
        </p:nvSpPr>
        <p:spPr>
          <a:xfrm>
            <a:off x="457200" y="1981200"/>
            <a:ext cx="8229600" cy="4525963"/>
          </a:xfrm>
        </p:spPr>
        <p:txBody>
          <a:bodyPr/>
          <a:lstStyle/>
          <a:p>
            <a:pPr marL="457200" indent="-457200">
              <a:buFont typeface="Corbel" panose="020B0503020204020204" pitchFamily="34" charset="0"/>
              <a:buAutoNum type="arabicPeriod"/>
              <a:defRPr/>
            </a:pPr>
            <a:r>
              <a:rPr lang="en-US" sz="2400" dirty="0">
                <a:solidFill>
                  <a:schemeClr val="tx1"/>
                </a:solidFill>
              </a:rPr>
              <a:t>Turn off the room lighting.</a:t>
            </a:r>
            <a:endParaRPr lang="en-US" sz="2400" dirty="0">
              <a:solidFill>
                <a:schemeClr val="tx1"/>
              </a:solidFill>
            </a:endParaRPr>
          </a:p>
          <a:p>
            <a:pPr marL="457200" indent="-457200">
              <a:buFont typeface="Corbel" panose="020B0503020204020204" pitchFamily="34" charset="0"/>
              <a:buAutoNum type="arabicPeriod"/>
              <a:defRPr/>
            </a:pPr>
            <a:r>
              <a:rPr lang="en-US" sz="2400" dirty="0">
                <a:solidFill>
                  <a:schemeClr val="tx1"/>
                </a:solidFill>
              </a:rPr>
              <a:t>Cover one half with the plate lid and expose the other half to UV light for 30 seconds. </a:t>
            </a:r>
            <a:endParaRPr lang="en-US" sz="2400" dirty="0">
              <a:solidFill>
                <a:schemeClr val="tx1"/>
              </a:solidFill>
            </a:endParaRPr>
          </a:p>
          <a:p>
            <a:pPr marL="457200" indent="-457200">
              <a:buAutoNum type="arabicPeriod"/>
              <a:defRPr/>
            </a:pPr>
            <a:r>
              <a:rPr lang="en-US" sz="2400" dirty="0">
                <a:solidFill>
                  <a:schemeClr val="tx1"/>
                </a:solidFill>
              </a:rPr>
              <a:t>Place the plate inverted in the incubator at 37</a:t>
            </a:r>
            <a:r>
              <a:rPr lang="en-US" sz="2400" baseline="30000" dirty="0">
                <a:solidFill>
                  <a:schemeClr val="tx1"/>
                </a:solidFill>
              </a:rPr>
              <a:t>o </a:t>
            </a:r>
            <a:r>
              <a:rPr lang="en-US" sz="2400" dirty="0">
                <a:solidFill>
                  <a:schemeClr val="tx1"/>
                </a:solidFill>
              </a:rPr>
              <a:t>C for 24 hours. </a:t>
            </a:r>
            <a:endParaRPr lang="en-US" sz="2400" dirty="0">
              <a:solidFill>
                <a:schemeClr val="tx1"/>
              </a:solidFill>
            </a:endParaRPr>
          </a:p>
          <a:p>
            <a:pPr marL="457200" indent="-457200">
              <a:buFont typeface="Corbel" panose="020B0503020204020204" pitchFamily="34" charset="0"/>
              <a:buAutoNum type="arabicPeriod"/>
              <a:defRPr/>
            </a:pPr>
            <a:r>
              <a:rPr lang="en-US" sz="2400" dirty="0">
                <a:solidFill>
                  <a:schemeClr val="tx1"/>
                </a:solidFill>
              </a:rPr>
              <a:t>Then, you can decide which strain is sensitive and which is resistant. </a:t>
            </a:r>
            <a:endParaRPr lang="en-US" sz="2400" dirty="0">
              <a:solidFill>
                <a:schemeClr val="tx1"/>
              </a:solidFill>
            </a:endParaRPr>
          </a:p>
          <a:p>
            <a:pPr>
              <a:defRPr/>
            </a:pPr>
            <a:endParaRPr lang="en-US" sz="2400" dirty="0">
              <a:solidFill>
                <a:schemeClr val="tx1"/>
              </a:solidFill>
            </a:endParaRPr>
          </a:p>
          <a:p>
            <a:pPr marL="0" indent="0" algn="ctr">
              <a:buFont typeface="Corbel" panose="020B0503020204020204" pitchFamily="34" charset="0"/>
              <a:buNone/>
              <a:defRPr/>
            </a:pPr>
            <a:r>
              <a:rPr lang="en-US" sz="2400" b="1" dirty="0">
                <a:solidFill>
                  <a:schemeClr val="tx1"/>
                </a:solidFill>
              </a:rPr>
              <a:t>*** Don't forget to work under aseptic conditions</a:t>
            </a:r>
            <a:endParaRPr lang="en-US" sz="2400" b="1" dirty="0">
              <a:solidFill>
                <a:schemeClr val="tx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381000" y="152400"/>
            <a:ext cx="7600950" cy="1355725"/>
          </a:xfrm>
        </p:spPr>
        <p:txBody>
          <a:bodyPr/>
          <a:lstStyle/>
          <a:p>
            <a:r>
              <a:rPr lang="en-US" altLang="en-US" sz="3600" b="1" dirty="0"/>
              <a:t>Procedure #2 (Ames test)</a:t>
            </a:r>
            <a:endParaRPr lang="en-US" altLang="en-US" sz="3600" b="1" dirty="0"/>
          </a:p>
        </p:txBody>
      </p:sp>
      <p:sp>
        <p:nvSpPr>
          <p:cNvPr id="52226" name="Content Placeholder 2"/>
          <p:cNvSpPr>
            <a:spLocks noGrp="1"/>
          </p:cNvSpPr>
          <p:nvPr>
            <p:ph idx="1"/>
          </p:nvPr>
        </p:nvSpPr>
        <p:spPr>
          <a:xfrm>
            <a:off x="457200" y="1981200"/>
            <a:ext cx="8229600" cy="4525963"/>
          </a:xfrm>
        </p:spPr>
        <p:txBody>
          <a:bodyPr/>
          <a:lstStyle/>
          <a:p>
            <a:r>
              <a:rPr lang="en-US" altLang="en-US" sz="2400" dirty="0">
                <a:solidFill>
                  <a:schemeClr val="tx1"/>
                </a:solidFill>
              </a:rPr>
              <a:t>A bacterial strain is defined as an </a:t>
            </a:r>
            <a:r>
              <a:rPr lang="en-US" altLang="en-US" sz="2400" b="1" dirty="0">
                <a:solidFill>
                  <a:schemeClr val="tx1"/>
                </a:solidFill>
              </a:rPr>
              <a:t>auxotroph</a:t>
            </a:r>
            <a:r>
              <a:rPr lang="en-US" altLang="en-US" sz="2400" dirty="0">
                <a:solidFill>
                  <a:schemeClr val="tx1"/>
                </a:solidFill>
              </a:rPr>
              <a:t> if it is </a:t>
            </a:r>
            <a:r>
              <a:rPr lang="en-US" altLang="en-US" sz="2400" b="1" dirty="0">
                <a:solidFill>
                  <a:schemeClr val="tx1"/>
                </a:solidFill>
              </a:rPr>
              <a:t>unable</a:t>
            </a:r>
            <a:r>
              <a:rPr lang="en-US" altLang="en-US" sz="2400" dirty="0">
                <a:solidFill>
                  <a:schemeClr val="tx1"/>
                </a:solidFill>
              </a:rPr>
              <a:t> to produce a required nutrient and thus will not grow unless the nutrient is supplied in growth media.</a:t>
            </a:r>
            <a:endParaRPr lang="en-US" altLang="en-US" sz="2400" dirty="0">
              <a:solidFill>
                <a:schemeClr val="tx1"/>
              </a:solidFill>
            </a:endParaRPr>
          </a:p>
          <a:p>
            <a:endParaRPr lang="en-US" altLang="en-US" sz="2400" dirty="0">
              <a:solidFill>
                <a:schemeClr val="tx1"/>
              </a:solidFill>
            </a:endParaRPr>
          </a:p>
          <a:p>
            <a:r>
              <a:rPr lang="en-US" altLang="en-US" sz="2400" dirty="0">
                <a:solidFill>
                  <a:schemeClr val="tx1"/>
                </a:solidFill>
              </a:rPr>
              <a:t> Auxotroph are usually produced as a result of a mutation(s) that occurs in a </a:t>
            </a:r>
            <a:r>
              <a:rPr lang="en-US" altLang="en-US" sz="2400" b="1" dirty="0">
                <a:solidFill>
                  <a:schemeClr val="tx1"/>
                </a:solidFill>
              </a:rPr>
              <a:t>prototroph </a:t>
            </a:r>
            <a:r>
              <a:rPr lang="en-US" altLang="en-US" sz="2400" dirty="0">
                <a:solidFill>
                  <a:schemeClr val="tx1"/>
                </a:solidFill>
              </a:rPr>
              <a:t>(a bacterium that can synthesize the nutrient). </a:t>
            </a:r>
            <a:endParaRPr lang="en-US" altLang="en-US" sz="2400" dirty="0">
              <a:solidFill>
                <a:schemeClr val="tx1"/>
              </a:solidFill>
            </a:endParaRPr>
          </a:p>
          <a:p>
            <a:endParaRPr lang="en-US" altLang="en-US" sz="2400"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0510" y="445135"/>
            <a:ext cx="8475345" cy="6076315"/>
            <a:chOff x="914400" y="838199"/>
            <a:chExt cx="8129270" cy="6096001"/>
          </a:xfrm>
        </p:grpSpPr>
        <p:pic>
          <p:nvPicPr>
            <p:cNvPr id="3" name="object 3"/>
            <p:cNvPicPr/>
            <p:nvPr/>
          </p:nvPicPr>
          <p:blipFill>
            <a:blip r:embed="rId1" cstate="print"/>
            <a:stretch>
              <a:fillRect/>
            </a:stretch>
          </p:blipFill>
          <p:spPr>
            <a:xfrm>
              <a:off x="914400" y="838199"/>
              <a:ext cx="8129015" cy="609599"/>
            </a:xfrm>
            <a:prstGeom prst="rect">
              <a:avLst/>
            </a:prstGeom>
          </p:spPr>
        </p:pic>
        <p:sp>
          <p:nvSpPr>
            <p:cNvPr id="4" name="object 4"/>
            <p:cNvSpPr/>
            <p:nvPr/>
          </p:nvSpPr>
          <p:spPr>
            <a:xfrm>
              <a:off x="914400" y="1447799"/>
              <a:ext cx="8129270" cy="203200"/>
            </a:xfrm>
            <a:custGeom>
              <a:avLst/>
              <a:gdLst/>
              <a:ahLst/>
              <a:cxnLst/>
              <a:rect l="l" t="t" r="r" b="b"/>
              <a:pathLst>
                <a:path w="8129270" h="203200">
                  <a:moveTo>
                    <a:pt x="8129003" y="0"/>
                  </a:moveTo>
                  <a:lnTo>
                    <a:pt x="0" y="0"/>
                  </a:lnTo>
                  <a:lnTo>
                    <a:pt x="0" y="12700"/>
                  </a:lnTo>
                  <a:lnTo>
                    <a:pt x="0" y="25400"/>
                  </a:lnTo>
                  <a:lnTo>
                    <a:pt x="0" y="203200"/>
                  </a:lnTo>
                  <a:lnTo>
                    <a:pt x="8129003" y="203200"/>
                  </a:lnTo>
                  <a:lnTo>
                    <a:pt x="8129003" y="12700"/>
                  </a:lnTo>
                  <a:lnTo>
                    <a:pt x="8129003" y="0"/>
                  </a:lnTo>
                  <a:close/>
                </a:path>
              </a:pathLst>
            </a:custGeom>
            <a:solidFill>
              <a:srgbClr val="FEFEFE"/>
            </a:solidFill>
          </p:spPr>
          <p:txBody>
            <a:bodyPr wrap="square" lIns="0" tIns="0" rIns="0" bIns="0" rtlCol="0"/>
            <a:lstStyle/>
            <a:p>
              <a:endParaRPr sz="100"/>
            </a:p>
          </p:txBody>
        </p:sp>
        <p:pic>
          <p:nvPicPr>
            <p:cNvPr id="5" name="object 5"/>
            <p:cNvPicPr/>
            <p:nvPr/>
          </p:nvPicPr>
          <p:blipFill>
            <a:blip r:embed="rId2" cstate="print"/>
            <a:srcRect l="8514" r="12172" b="4618"/>
            <a:stretch>
              <a:fillRect/>
            </a:stretch>
          </p:blipFill>
          <p:spPr>
            <a:xfrm>
              <a:off x="2137580" y="1650916"/>
              <a:ext cx="5986188" cy="5187357"/>
            </a:xfrm>
            <a:prstGeom prst="rect">
              <a:avLst/>
            </a:prstGeom>
          </p:spPr>
        </p:pic>
        <p:sp>
          <p:nvSpPr>
            <p:cNvPr id="6" name="object 6"/>
            <p:cNvSpPr/>
            <p:nvPr/>
          </p:nvSpPr>
          <p:spPr>
            <a:xfrm>
              <a:off x="914400" y="6832600"/>
              <a:ext cx="8129270" cy="101600"/>
            </a:xfrm>
            <a:custGeom>
              <a:avLst/>
              <a:gdLst/>
              <a:ahLst/>
              <a:cxnLst/>
              <a:rect l="l" t="t" r="r" b="b"/>
              <a:pathLst>
                <a:path w="8129270" h="101600">
                  <a:moveTo>
                    <a:pt x="8129003" y="0"/>
                  </a:moveTo>
                  <a:lnTo>
                    <a:pt x="0" y="0"/>
                  </a:lnTo>
                  <a:lnTo>
                    <a:pt x="0" y="12700"/>
                  </a:lnTo>
                  <a:lnTo>
                    <a:pt x="0" y="25400"/>
                  </a:lnTo>
                  <a:lnTo>
                    <a:pt x="0" y="101600"/>
                  </a:lnTo>
                  <a:lnTo>
                    <a:pt x="8129003" y="101600"/>
                  </a:lnTo>
                  <a:lnTo>
                    <a:pt x="8129003" y="12700"/>
                  </a:lnTo>
                  <a:lnTo>
                    <a:pt x="8129003" y="0"/>
                  </a:lnTo>
                  <a:close/>
                </a:path>
              </a:pathLst>
            </a:custGeom>
            <a:solidFill>
              <a:srgbClr val="FEFEFE"/>
            </a:solidFill>
          </p:spPr>
          <p:txBody>
            <a:bodyPr wrap="square" lIns="0" tIns="0" rIns="0" bIns="0" rtlCol="0"/>
            <a:lstStyle/>
            <a:p>
              <a:endParaRPr sz="1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173355" y="243840"/>
            <a:ext cx="879348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p:cNvPicPr>
            <a:picLocks noGrp="1" noChangeAspect="1"/>
          </p:cNvPicPr>
          <p:nvPr>
            <p:ph idx="1"/>
          </p:nvPr>
        </p:nvPicPr>
        <p:blipFill>
          <a:blip r:embed="rId1"/>
          <a:stretch>
            <a:fillRect/>
          </a:stretch>
        </p:blipFill>
        <p:spPr>
          <a:xfrm>
            <a:off x="521208" y="565573"/>
            <a:ext cx="8097772" cy="573447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r>
              <a:rPr lang="en-US" altLang="en-US" sz="3600" b="1" dirty="0"/>
              <a:t>Procedure #2 (Ames test)</a:t>
            </a:r>
            <a:endParaRPr lang="en-US" altLang="en-US" sz="3600" b="1" dirty="0"/>
          </a:p>
        </p:txBody>
      </p:sp>
      <p:sp>
        <p:nvSpPr>
          <p:cNvPr id="53250" name="Content Placeholder 2"/>
          <p:cNvSpPr>
            <a:spLocks noGrp="1"/>
          </p:cNvSpPr>
          <p:nvPr>
            <p:ph idx="1"/>
          </p:nvPr>
        </p:nvSpPr>
        <p:spPr>
          <a:xfrm>
            <a:off x="267335" y="1600200"/>
            <a:ext cx="8683625" cy="4526280"/>
          </a:xfrm>
        </p:spPr>
        <p:txBody>
          <a:bodyPr/>
          <a:lstStyle/>
          <a:p>
            <a:r>
              <a:rPr lang="en-US" altLang="en-US" sz="2400" dirty="0">
                <a:solidFill>
                  <a:schemeClr val="tx1"/>
                </a:solidFill>
              </a:rPr>
              <a:t>Specific strains of bacteria </a:t>
            </a:r>
            <a:r>
              <a:rPr lang="en-US" altLang="en-US" sz="2400" i="1" dirty="0">
                <a:solidFill>
                  <a:schemeClr val="tx1"/>
                </a:solidFill>
              </a:rPr>
              <a:t>Salmonella typhimurium </a:t>
            </a:r>
            <a:r>
              <a:rPr lang="en-US" altLang="en-US" sz="2400" dirty="0">
                <a:solidFill>
                  <a:schemeClr val="tx1"/>
                </a:solidFill>
              </a:rPr>
              <a:t>are known as </a:t>
            </a:r>
            <a:r>
              <a:rPr lang="en-US" altLang="en-US" sz="2400" b="1" dirty="0">
                <a:solidFill>
                  <a:schemeClr val="tx1"/>
                </a:solidFill>
              </a:rPr>
              <a:t>auxotroph are used in this experiment</a:t>
            </a:r>
            <a:r>
              <a:rPr lang="en-US" altLang="en-US" sz="2400" dirty="0">
                <a:solidFill>
                  <a:schemeClr val="tx1"/>
                </a:solidFill>
              </a:rPr>
              <a:t>. (the test organism in this experiment cannot synthesize the amino acid histidine) and thus will not grow unless the nutrient (His) is supplied in growth media. </a:t>
            </a:r>
            <a:endParaRPr lang="en-US" altLang="en-US" sz="2400" dirty="0">
              <a:solidFill>
                <a:schemeClr val="tx1"/>
              </a:solidFill>
            </a:endParaRPr>
          </a:p>
          <a:p>
            <a:endParaRPr lang="en-US" altLang="en-US" sz="2400" dirty="0">
              <a:solidFill>
                <a:schemeClr val="tx1"/>
              </a:solidFill>
            </a:endParaRPr>
          </a:p>
          <a:p>
            <a:r>
              <a:rPr lang="en-US" altLang="en-US" sz="2400" dirty="0">
                <a:solidFill>
                  <a:schemeClr val="tx1"/>
                </a:solidFill>
              </a:rPr>
              <a:t>The mutant </a:t>
            </a:r>
            <a:r>
              <a:rPr lang="en-US" altLang="en-US" sz="2400" i="1" dirty="0">
                <a:solidFill>
                  <a:schemeClr val="tx1"/>
                </a:solidFill>
              </a:rPr>
              <a:t>S. typhimurium </a:t>
            </a:r>
            <a:r>
              <a:rPr lang="en-US" altLang="en-US" sz="2400" dirty="0">
                <a:solidFill>
                  <a:schemeClr val="tx1"/>
                </a:solidFill>
              </a:rPr>
              <a:t>strains TA1535 and TA1538 (and others) are histidine auxotroph (denoted </a:t>
            </a:r>
            <a:r>
              <a:rPr lang="en-US" altLang="en-US" sz="2400" b="1" dirty="0">
                <a:solidFill>
                  <a:schemeClr val="tx1"/>
                </a:solidFill>
              </a:rPr>
              <a:t>his-</a:t>
            </a:r>
            <a:r>
              <a:rPr lang="en-US" altLang="en-US" sz="2400" dirty="0">
                <a:solidFill>
                  <a:schemeClr val="tx1"/>
                </a:solidFill>
              </a:rPr>
              <a:t> in order to distinguish it from the original </a:t>
            </a:r>
            <a:r>
              <a:rPr lang="en-US" altLang="en-US" sz="2400" b="1" dirty="0">
                <a:solidFill>
                  <a:schemeClr val="tx1"/>
                </a:solidFill>
              </a:rPr>
              <a:t>his+</a:t>
            </a:r>
            <a:r>
              <a:rPr lang="en-US" altLang="en-US" sz="2400" dirty="0">
                <a:solidFill>
                  <a:schemeClr val="tx1"/>
                </a:solidFill>
              </a:rPr>
              <a:t> prototrophic strain they were derived from) due to a mutation in a gene encoding an enzyme required for histidine biosynthesis (pathway). </a:t>
            </a:r>
            <a:endParaRPr lang="en-US" altLang="en-US" sz="2400"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173355" y="243840"/>
            <a:ext cx="879348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pic>
        <p:nvPicPr>
          <p:cNvPr id="5" name="Content Placeholder 4" descr="Diagram&#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14654" y="1157707"/>
            <a:ext cx="8310881" cy="455020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b="1" dirty="0"/>
              <a:t>Procedure #2 (Ames test)</a:t>
            </a:r>
            <a:endParaRPr lang="en-US" sz="3600" dirty="0"/>
          </a:p>
        </p:txBody>
      </p:sp>
      <p:sp>
        <p:nvSpPr>
          <p:cNvPr id="5" name="Content Placeholder 4"/>
          <p:cNvSpPr>
            <a:spLocks noGrp="1"/>
          </p:cNvSpPr>
          <p:nvPr>
            <p:ph idx="1"/>
          </p:nvPr>
        </p:nvSpPr>
        <p:spPr/>
        <p:txBody>
          <a:bodyPr/>
          <a:lstStyle/>
          <a:p>
            <a:r>
              <a:rPr lang="en-US" sz="2400" b="0" i="0" dirty="0">
                <a:solidFill>
                  <a:srgbClr val="202122"/>
                </a:solidFill>
                <a:effectLst/>
                <a:latin typeface="Arial" panose="020B0604020202020204" pitchFamily="34" charset="0"/>
              </a:rPr>
              <a:t>The bacteria are spread on an </a:t>
            </a:r>
            <a:r>
              <a:rPr lang="en-US" sz="2400" b="0" i="0" u="none" strike="noStrike" dirty="0">
                <a:solidFill>
                  <a:srgbClr val="0645AD"/>
                </a:solidFill>
                <a:effectLst/>
                <a:latin typeface="Arial" panose="020B0604020202020204" pitchFamily="34" charset="0"/>
                <a:hlinkClick r:id="rId1" tooltip="Agar"/>
              </a:rPr>
              <a:t>agar</a:t>
            </a:r>
            <a:r>
              <a:rPr lang="en-US" sz="2400" b="0" i="0" dirty="0">
                <a:solidFill>
                  <a:srgbClr val="202122"/>
                </a:solidFill>
                <a:effectLst/>
                <a:latin typeface="Arial" panose="020B0604020202020204" pitchFamily="34" charset="0"/>
              </a:rPr>
              <a:t> plate with small amount of histidine. </a:t>
            </a:r>
            <a:endParaRPr lang="en-US" sz="2400" b="0" i="0" dirty="0">
              <a:solidFill>
                <a:srgbClr val="202122"/>
              </a:solidFill>
              <a:effectLst/>
              <a:latin typeface="Arial" panose="020B0604020202020204" pitchFamily="34" charset="0"/>
            </a:endParaRPr>
          </a:p>
          <a:p>
            <a:r>
              <a:rPr lang="en-US" sz="2400" b="0" i="0" dirty="0">
                <a:solidFill>
                  <a:srgbClr val="202122"/>
                </a:solidFill>
                <a:effectLst/>
                <a:latin typeface="Arial" panose="020B0604020202020204" pitchFamily="34" charset="0"/>
              </a:rPr>
              <a:t>This small amount of histidine in the growth medium allows the bacteria to grow for an initial time and have the opportunity to mutate (reversion). </a:t>
            </a:r>
            <a:endParaRPr lang="en-US" sz="2400" b="0" i="0" dirty="0">
              <a:solidFill>
                <a:srgbClr val="202122"/>
              </a:solidFill>
              <a:effectLst/>
              <a:latin typeface="Arial" panose="020B0604020202020204" pitchFamily="34" charset="0"/>
            </a:endParaRPr>
          </a:p>
          <a:p>
            <a:r>
              <a:rPr lang="en-US" sz="2400" b="0" i="0" dirty="0">
                <a:solidFill>
                  <a:srgbClr val="202122"/>
                </a:solidFill>
                <a:effectLst/>
                <a:latin typeface="Arial" panose="020B0604020202020204" pitchFamily="34" charset="0"/>
              </a:rPr>
              <a:t>When the histidine is depleted only bacteria that have mutated to gain the ability to produce its own histidine will survive. </a:t>
            </a:r>
            <a:endParaRPr lang="en-US" sz="2400" b="0" i="0" dirty="0">
              <a:solidFill>
                <a:srgbClr val="202122"/>
              </a:solidFill>
              <a:effectLst/>
              <a:latin typeface="Arial" panose="020B0604020202020204" pitchFamily="34" charset="0"/>
            </a:endParaRPr>
          </a:p>
          <a:p>
            <a:r>
              <a:rPr lang="en-US" sz="2400" b="0" i="0" dirty="0">
                <a:solidFill>
                  <a:srgbClr val="202122"/>
                </a:solidFill>
                <a:effectLst/>
                <a:latin typeface="Arial" panose="020B0604020202020204" pitchFamily="34" charset="0"/>
              </a:rPr>
              <a:t>The plate is incubated for 48 hours. </a:t>
            </a:r>
            <a:endParaRPr lang="en-US" sz="2400" b="0" i="0" dirty="0">
              <a:solidFill>
                <a:srgbClr val="202122"/>
              </a:solidFill>
              <a:effectLst/>
              <a:latin typeface="Arial" panose="020B0604020202020204" pitchFamily="34" charset="0"/>
            </a:endParaRPr>
          </a:p>
          <a:p>
            <a:r>
              <a:rPr lang="en-US" sz="2400" b="0" i="0" dirty="0">
                <a:solidFill>
                  <a:srgbClr val="202122"/>
                </a:solidFill>
                <a:effectLst/>
                <a:latin typeface="Arial" panose="020B0604020202020204" pitchFamily="34" charset="0"/>
              </a:rPr>
              <a:t>The mutagenicity of a substance is proportional to the number of colonies observed.</a:t>
            </a:r>
            <a:endParaRPr lang="en-US" sz="2400" dirty="0"/>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Comic Sans MS"/>
        <a:ea typeface=""/>
        <a:cs typeface=""/>
      </a:majorFont>
      <a:minorFont>
        <a:latin typeface="Arial Unicode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along_came_a_spider</Template>
  <TotalTime>0</TotalTime>
  <Words>8969</Words>
  <Application>WPS Presentation</Application>
  <PresentationFormat>On-screen Show (4:3)</PresentationFormat>
  <Paragraphs>336</Paragraphs>
  <Slides>44</Slides>
  <Notes>8</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44</vt:i4>
      </vt:variant>
    </vt:vector>
  </HeadingPairs>
  <TitlesOfParts>
    <vt:vector size="60" baseType="lpstr">
      <vt:lpstr>Arial</vt:lpstr>
      <vt:lpstr>SimSun</vt:lpstr>
      <vt:lpstr>Wingdings</vt:lpstr>
      <vt:lpstr>Comic Sans MS</vt:lpstr>
      <vt:lpstr>Arial Black</vt:lpstr>
      <vt:lpstr>Times New Roman</vt:lpstr>
      <vt:lpstr>Verdana</vt:lpstr>
      <vt:lpstr>Microsoft YaHei</vt:lpstr>
      <vt:lpstr>Arial Unicode MS</vt:lpstr>
      <vt:lpstr>Corbel</vt:lpstr>
      <vt:lpstr>Symbol</vt:lpstr>
      <vt:lpstr>Yu Gothic UI Semibold</vt:lpstr>
      <vt:lpstr>Corbel</vt:lpstr>
      <vt:lpstr>Tahoma</vt:lpstr>
      <vt:lpstr>Custom Design</vt:lpstr>
      <vt:lpstr>1_Default Design</vt:lpstr>
      <vt:lpstr>Experiment(7)  Mutations</vt:lpstr>
      <vt:lpstr>What Are Mutations?</vt:lpstr>
      <vt:lpstr>Normal protein</vt:lpstr>
      <vt:lpstr>Are Mutations Helpful or Harmful?</vt:lpstr>
      <vt:lpstr>      Types of Gene Mutations</vt:lpstr>
      <vt:lpstr>     1. Point Mutations</vt:lpstr>
      <vt:lpstr>PowerPoint 演示文稿</vt:lpstr>
      <vt:lpstr>2. Frameshift Mutations</vt:lpstr>
      <vt:lpstr>Amino Acid Sequence Changed</vt:lpstr>
      <vt:lpstr>PowerPoint 演示文稿</vt:lpstr>
      <vt:lpstr>PowerPoint 演示文稿</vt:lpstr>
      <vt:lpstr> Substitution mutations </vt:lpstr>
      <vt:lpstr>PowerPoint 演示文稿</vt:lpstr>
      <vt:lpstr>Deletion and insertion mutations </vt:lpstr>
      <vt:lpstr>PowerPoint 演示文稿</vt:lpstr>
      <vt:lpstr>Missense mutations </vt:lpstr>
      <vt:lpstr>PowerPoint 演示文稿</vt:lpstr>
      <vt:lpstr>Nonsense mutations: </vt:lpstr>
      <vt:lpstr>PowerPoint 演示文稿</vt:lpstr>
      <vt:lpstr>Frameshift Mutation:</vt:lpstr>
      <vt:lpstr>Deletion Mutation</vt:lpstr>
      <vt:lpstr>Insertion Mutation</vt:lpstr>
      <vt:lpstr>PowerPoint 演示文稿</vt:lpstr>
      <vt:lpstr> The causes of mutations  </vt:lpstr>
      <vt:lpstr> The causes of mutations  </vt:lpstr>
      <vt:lpstr> The causes of mutations  </vt:lpstr>
      <vt:lpstr>Effect of Chemicals</vt:lpstr>
      <vt:lpstr>Radiation (physical mutagen) </vt:lpstr>
      <vt:lpstr> Radiation (physical mutagen)  </vt:lpstr>
      <vt:lpstr>PowerPoint 演示文稿</vt:lpstr>
      <vt:lpstr>PowerPoint 演示文稿</vt:lpstr>
      <vt:lpstr>Effect of UV light on bacterial survival </vt:lpstr>
      <vt:lpstr>Effect of UV light on bacterial survival </vt:lpstr>
      <vt:lpstr>Effect of UV light on bacterial survival </vt:lpstr>
      <vt:lpstr>Effect of UV light on bacterial survival </vt:lpstr>
      <vt:lpstr>Effect of UV light on bacterial survival </vt:lpstr>
      <vt:lpstr>Procedure#1 (UV resistant and sensitive bacteria) </vt:lpstr>
      <vt:lpstr>Procedure (UV resistant and sensitive bacteria)</vt:lpstr>
      <vt:lpstr>Procedure #2 (Ames test)</vt:lpstr>
      <vt:lpstr>PowerPoint 演示文稿</vt:lpstr>
      <vt:lpstr>PowerPoint 演示文稿</vt:lpstr>
      <vt:lpstr>Procedure #2 (Ames test)</vt:lpstr>
      <vt:lpstr>PowerPoint 演示文稿</vt:lpstr>
      <vt:lpstr>Procedure #2 (Ames test)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Mutations</dc:title>
  <dc:creator>Cheryl Massengale</dc:creator>
  <cp:lastModifiedBy>Lenovo</cp:lastModifiedBy>
  <cp:revision>98</cp:revision>
  <cp:lastPrinted>2014-03-13T10:18:00Z</cp:lastPrinted>
  <dcterms:created xsi:type="dcterms:W3CDTF">2005-11-28T05:56:00Z</dcterms:created>
  <dcterms:modified xsi:type="dcterms:W3CDTF">2023-07-16T21:05:39Z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DF17232955E746ADADFE968F60903882</vt:lpwstr>
  </property>
  <property fmtid="{D5CDD505-2E9C-101B-9397-08002B2CF9AE}" pid="3" name="KSOProductBuildVer">
    <vt:lpwstr>1033-11.2.0.11537</vt:lpwstr>
  </property>
</Properties>
</file>