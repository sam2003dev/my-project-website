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81" r:id="rId2"/>
  </p:sldMasterIdLst>
  <p:notesMasterIdLst>
    <p:notesMasterId r:id="rId35"/>
  </p:notesMasterIdLst>
  <p:sldIdLst>
    <p:sldId id="342" r:id="rId3"/>
    <p:sldId id="257" r:id="rId4"/>
    <p:sldId id="283" r:id="rId5"/>
    <p:sldId id="258" r:id="rId6"/>
    <p:sldId id="269" r:id="rId7"/>
    <p:sldId id="270" r:id="rId8"/>
    <p:sldId id="274" r:id="rId9"/>
    <p:sldId id="271" r:id="rId10"/>
    <p:sldId id="275" r:id="rId11"/>
    <p:sldId id="281" r:id="rId12"/>
    <p:sldId id="278" r:id="rId13"/>
    <p:sldId id="265" r:id="rId14"/>
    <p:sldId id="261" r:id="rId15"/>
    <p:sldId id="276" r:id="rId16"/>
    <p:sldId id="279" r:id="rId17"/>
    <p:sldId id="282" r:id="rId18"/>
    <p:sldId id="267" r:id="rId19"/>
    <p:sldId id="266" r:id="rId20"/>
    <p:sldId id="263" r:id="rId21"/>
    <p:sldId id="284" r:id="rId22"/>
    <p:sldId id="264" r:id="rId23"/>
    <p:sldId id="310" r:id="rId24"/>
    <p:sldId id="313" r:id="rId25"/>
    <p:sldId id="311" r:id="rId26"/>
    <p:sldId id="312" r:id="rId27"/>
    <p:sldId id="307" r:id="rId28"/>
    <p:sldId id="308" r:id="rId29"/>
    <p:sldId id="314" r:id="rId30"/>
    <p:sldId id="315" r:id="rId31"/>
    <p:sldId id="316" r:id="rId32"/>
    <p:sldId id="268" r:id="rId33"/>
    <p:sldId id="26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259A0"/>
    <a:srgbClr val="FF0066"/>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48" d="100"/>
          <a:sy n="48" d="100"/>
        </p:scale>
        <p:origin x="909" y="3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wah Al Bataineh" userId="b400c1d921f65d71" providerId="LiveId" clId="{8CFFDAB6-61D3-454F-97F8-4621F0B7FC03}"/>
    <pc:docChg chg="undo custSel addSld delSld modSld modMainMaster">
      <pc:chgData name="Erwah Al Bataineh" userId="b400c1d921f65d71" providerId="LiveId" clId="{8CFFDAB6-61D3-454F-97F8-4621F0B7FC03}" dt="2022-11-11T21:32:50.975" v="326" actId="1076"/>
      <pc:docMkLst>
        <pc:docMk/>
      </pc:docMkLst>
      <pc:sldChg chg="addSp delSp modSp del mod">
        <pc:chgData name="Erwah Al Bataineh" userId="b400c1d921f65d71" providerId="LiveId" clId="{8CFFDAB6-61D3-454F-97F8-4621F0B7FC03}" dt="2022-11-11T18:00:52.658" v="112" actId="2696"/>
        <pc:sldMkLst>
          <pc:docMk/>
          <pc:sldMk cId="3224292697" sldId="256"/>
        </pc:sldMkLst>
        <pc:spChg chg="del mod">
          <ac:chgData name="Erwah Al Bataineh" userId="b400c1d921f65d71" providerId="LiveId" clId="{8CFFDAB6-61D3-454F-97F8-4621F0B7FC03}" dt="2022-11-11T17:59:57.825" v="104" actId="21"/>
          <ac:spMkLst>
            <pc:docMk/>
            <pc:sldMk cId="3224292697" sldId="256"/>
            <ac:spMk id="2" creationId="{74BF0678-4341-44BF-8579-6419D24FE333}"/>
          </ac:spMkLst>
        </pc:spChg>
        <pc:spChg chg="add mod">
          <ac:chgData name="Erwah Al Bataineh" userId="b400c1d921f65d71" providerId="LiveId" clId="{8CFFDAB6-61D3-454F-97F8-4621F0B7FC03}" dt="2022-11-11T17:59:57.825" v="104" actId="21"/>
          <ac:spMkLst>
            <pc:docMk/>
            <pc:sldMk cId="3224292697" sldId="256"/>
            <ac:spMk id="4" creationId="{B22639F3-E8C0-B7E5-5E6A-13288B197982}"/>
          </ac:spMkLst>
        </pc:spChg>
        <pc:picChg chg="del">
          <ac:chgData name="Erwah Al Bataineh" userId="b400c1d921f65d71" providerId="LiveId" clId="{8CFFDAB6-61D3-454F-97F8-4621F0B7FC03}" dt="2022-11-11T17:58:22.527" v="41" actId="478"/>
          <ac:picMkLst>
            <pc:docMk/>
            <pc:sldMk cId="3224292697" sldId="256"/>
            <ac:picMk id="6" creationId="{873D6FCE-5E4D-4D01-B620-B841DFBC1194}"/>
          </ac:picMkLst>
        </pc:picChg>
        <pc:picChg chg="del">
          <ac:chgData name="Erwah Al Bataineh" userId="b400c1d921f65d71" providerId="LiveId" clId="{8CFFDAB6-61D3-454F-97F8-4621F0B7FC03}" dt="2022-11-11T17:58:21.569" v="40" actId="478"/>
          <ac:picMkLst>
            <pc:docMk/>
            <pc:sldMk cId="3224292697" sldId="256"/>
            <ac:picMk id="8" creationId="{E5EA1145-8A31-4296-9089-A47E6B89AF6C}"/>
          </ac:picMkLst>
        </pc:picChg>
        <pc:picChg chg="del">
          <ac:chgData name="Erwah Al Bataineh" userId="b400c1d921f65d71" providerId="LiveId" clId="{8CFFDAB6-61D3-454F-97F8-4621F0B7FC03}" dt="2022-11-11T17:58:20.302" v="39" actId="478"/>
          <ac:picMkLst>
            <pc:docMk/>
            <pc:sldMk cId="3224292697" sldId="256"/>
            <ac:picMk id="10" creationId="{16340635-329D-43F3-BF8E-DF6A85A5B62C}"/>
          </ac:picMkLst>
        </pc:picChg>
      </pc:sldChg>
      <pc:sldChg chg="modTransition">
        <pc:chgData name="Erwah Al Bataineh" userId="b400c1d921f65d71" providerId="LiveId" clId="{8CFFDAB6-61D3-454F-97F8-4621F0B7FC03}" dt="2022-11-11T20:58:16.504" v="182"/>
        <pc:sldMkLst>
          <pc:docMk/>
          <pc:sldMk cId="968802893" sldId="257"/>
        </pc:sldMkLst>
      </pc:sldChg>
      <pc:sldChg chg="modSp mod modTransition modAnim">
        <pc:chgData name="Erwah Al Bataineh" userId="b400c1d921f65d71" providerId="LiveId" clId="{8CFFDAB6-61D3-454F-97F8-4621F0B7FC03}" dt="2022-11-11T21:00:40.140" v="194"/>
        <pc:sldMkLst>
          <pc:docMk/>
          <pc:sldMk cId="956560860" sldId="258"/>
        </pc:sldMkLst>
        <pc:spChg chg="mod">
          <ac:chgData name="Erwah Al Bataineh" userId="b400c1d921f65d71" providerId="LiveId" clId="{8CFFDAB6-61D3-454F-97F8-4621F0B7FC03}" dt="2022-11-11T21:00:34.872" v="193" actId="27636"/>
          <ac:spMkLst>
            <pc:docMk/>
            <pc:sldMk cId="956560860" sldId="258"/>
            <ac:spMk id="3" creationId="{A6185299-A685-40F9-A735-4DD3CE391198}"/>
          </ac:spMkLst>
        </pc:spChg>
      </pc:sldChg>
      <pc:sldChg chg="add">
        <pc:chgData name="Erwah Al Bataineh" userId="b400c1d921f65d71" providerId="LiveId" clId="{8CFFDAB6-61D3-454F-97F8-4621F0B7FC03}" dt="2022-11-08T09:22:33.591" v="0"/>
        <pc:sldMkLst>
          <pc:docMk/>
          <pc:sldMk cId="2081987314" sldId="262"/>
        </pc:sldMkLst>
      </pc:sldChg>
      <pc:sldChg chg="addSp modSp mod modAnim">
        <pc:chgData name="Erwah Al Bataineh" userId="b400c1d921f65d71" providerId="LiveId" clId="{8CFFDAB6-61D3-454F-97F8-4621F0B7FC03}" dt="2022-11-11T21:13:50.328" v="238"/>
        <pc:sldMkLst>
          <pc:docMk/>
          <pc:sldMk cId="1615031976" sldId="263"/>
        </pc:sldMkLst>
        <pc:spChg chg="add mod">
          <ac:chgData name="Erwah Al Bataineh" userId="b400c1d921f65d71" providerId="LiveId" clId="{8CFFDAB6-61D3-454F-97F8-4621F0B7FC03}" dt="2022-11-11T21:13:26.605" v="235" actId="1076"/>
          <ac:spMkLst>
            <pc:docMk/>
            <pc:sldMk cId="1615031976" sldId="263"/>
            <ac:spMk id="2" creationId="{E5026AE3-A162-CEF4-8503-FC9250E0A46E}"/>
          </ac:spMkLst>
        </pc:spChg>
        <pc:spChg chg="mod">
          <ac:chgData name="Erwah Al Bataineh" userId="b400c1d921f65d71" providerId="LiveId" clId="{8CFFDAB6-61D3-454F-97F8-4621F0B7FC03}" dt="2022-11-11T21:12:16.820" v="207" actId="1076"/>
          <ac:spMkLst>
            <pc:docMk/>
            <pc:sldMk cId="1615031976" sldId="263"/>
            <ac:spMk id="5" creationId="{DA39FA57-087A-48CB-80C9-10EE6944FEAC}"/>
          </ac:spMkLst>
        </pc:spChg>
      </pc:sldChg>
      <pc:sldChg chg="modSp add mod">
        <pc:chgData name="Erwah Al Bataineh" userId="b400c1d921f65d71" providerId="LiveId" clId="{8CFFDAB6-61D3-454F-97F8-4621F0B7FC03}" dt="2022-11-11T21:17:01.991" v="270" actId="13900"/>
        <pc:sldMkLst>
          <pc:docMk/>
          <pc:sldMk cId="1547657120" sldId="264"/>
        </pc:sldMkLst>
        <pc:spChg chg="mod">
          <ac:chgData name="Erwah Al Bataineh" userId="b400c1d921f65d71" providerId="LiveId" clId="{8CFFDAB6-61D3-454F-97F8-4621F0B7FC03}" dt="2022-11-11T21:16:42.253" v="269" actId="1076"/>
          <ac:spMkLst>
            <pc:docMk/>
            <pc:sldMk cId="1547657120" sldId="264"/>
            <ac:spMk id="2" creationId="{57B337FD-B23D-4A0B-B971-D181754A7F53}"/>
          </ac:spMkLst>
        </pc:spChg>
        <pc:spChg chg="mod">
          <ac:chgData name="Erwah Al Bataineh" userId="b400c1d921f65d71" providerId="LiveId" clId="{8CFFDAB6-61D3-454F-97F8-4621F0B7FC03}" dt="2022-11-11T21:17:01.991" v="270" actId="13900"/>
          <ac:spMkLst>
            <pc:docMk/>
            <pc:sldMk cId="1547657120" sldId="264"/>
            <ac:spMk id="6" creationId="{5A7392C1-295E-4F32-877A-C600A14BF95D}"/>
          </ac:spMkLst>
        </pc:spChg>
      </pc:sldChg>
      <pc:sldChg chg="add">
        <pc:chgData name="Erwah Al Bataineh" userId="b400c1d921f65d71" providerId="LiveId" clId="{8CFFDAB6-61D3-454F-97F8-4621F0B7FC03}" dt="2022-11-08T09:22:33.591" v="0"/>
        <pc:sldMkLst>
          <pc:docMk/>
          <pc:sldMk cId="4055556976" sldId="268"/>
        </pc:sldMkLst>
      </pc:sldChg>
      <pc:sldChg chg="modAnim">
        <pc:chgData name="Erwah Al Bataineh" userId="b400c1d921f65d71" providerId="LiveId" clId="{8CFFDAB6-61D3-454F-97F8-4621F0B7FC03}" dt="2022-11-11T21:00:08.105" v="189"/>
        <pc:sldMkLst>
          <pc:docMk/>
          <pc:sldMk cId="1082475968" sldId="269"/>
        </pc:sldMkLst>
      </pc:sldChg>
      <pc:sldChg chg="delSp modSp mod modTransition">
        <pc:chgData name="Erwah Al Bataineh" userId="b400c1d921f65d71" providerId="LiveId" clId="{8CFFDAB6-61D3-454F-97F8-4621F0B7FC03}" dt="2022-11-11T21:01:56.479" v="195"/>
        <pc:sldMkLst>
          <pc:docMk/>
          <pc:sldMk cId="1920441528" sldId="271"/>
        </pc:sldMkLst>
        <pc:spChg chg="mod">
          <ac:chgData name="Erwah Al Bataineh" userId="b400c1d921f65d71" providerId="LiveId" clId="{8CFFDAB6-61D3-454F-97F8-4621F0B7FC03}" dt="2022-11-11T18:06:08.366" v="176" actId="1076"/>
          <ac:spMkLst>
            <pc:docMk/>
            <pc:sldMk cId="1920441528" sldId="271"/>
            <ac:spMk id="12" creationId="{C402C4DC-430C-43C8-8082-BD22514F2CBB}"/>
          </ac:spMkLst>
        </pc:spChg>
        <pc:picChg chg="mod">
          <ac:chgData name="Erwah Al Bataineh" userId="b400c1d921f65d71" providerId="LiveId" clId="{8CFFDAB6-61D3-454F-97F8-4621F0B7FC03}" dt="2022-11-11T18:05:33.994" v="165" actId="14100"/>
          <ac:picMkLst>
            <pc:docMk/>
            <pc:sldMk cId="1920441528" sldId="271"/>
            <ac:picMk id="8" creationId="{7544F964-D78C-454F-8B9B-CEA4B20054B6}"/>
          </ac:picMkLst>
        </pc:picChg>
        <pc:picChg chg="del mod">
          <ac:chgData name="Erwah Al Bataineh" userId="b400c1d921f65d71" providerId="LiveId" clId="{8CFFDAB6-61D3-454F-97F8-4621F0B7FC03}" dt="2022-11-11T18:05:11.929" v="159" actId="478"/>
          <ac:picMkLst>
            <pc:docMk/>
            <pc:sldMk cId="1920441528" sldId="271"/>
            <ac:picMk id="11" creationId="{8FD4031F-3EFF-41ED-B4D4-691727754519}"/>
          </ac:picMkLst>
        </pc:picChg>
      </pc:sldChg>
      <pc:sldChg chg="modSp mod">
        <pc:chgData name="Erwah Al Bataineh" userId="b400c1d921f65d71" providerId="LiveId" clId="{8CFFDAB6-61D3-454F-97F8-4621F0B7FC03}" dt="2022-11-11T21:02:53.358" v="200" actId="20577"/>
        <pc:sldMkLst>
          <pc:docMk/>
          <pc:sldMk cId="1345966507" sldId="275"/>
        </pc:sldMkLst>
        <pc:spChg chg="mod">
          <ac:chgData name="Erwah Al Bataineh" userId="b400c1d921f65d71" providerId="LiveId" clId="{8CFFDAB6-61D3-454F-97F8-4621F0B7FC03}" dt="2022-11-11T21:02:53.358" v="200" actId="20577"/>
          <ac:spMkLst>
            <pc:docMk/>
            <pc:sldMk cId="1345966507" sldId="275"/>
            <ac:spMk id="4" creationId="{96100EED-EE4B-4444-857A-DEF9E4BD10D9}"/>
          </ac:spMkLst>
        </pc:spChg>
      </pc:sldChg>
      <pc:sldChg chg="modSp mod">
        <pc:chgData name="Erwah Al Bataineh" userId="b400c1d921f65d71" providerId="LiveId" clId="{8CFFDAB6-61D3-454F-97F8-4621F0B7FC03}" dt="2022-11-11T21:10:11.688" v="206" actId="207"/>
        <pc:sldMkLst>
          <pc:docMk/>
          <pc:sldMk cId="3903250945" sldId="282"/>
        </pc:sldMkLst>
        <pc:spChg chg="mod">
          <ac:chgData name="Erwah Al Bataineh" userId="b400c1d921f65d71" providerId="LiveId" clId="{8CFFDAB6-61D3-454F-97F8-4621F0B7FC03}" dt="2022-11-11T21:10:11.688" v="206" actId="207"/>
          <ac:spMkLst>
            <pc:docMk/>
            <pc:sldMk cId="3903250945" sldId="282"/>
            <ac:spMk id="3" creationId="{23BEB795-71DE-42C5-A0E0-4F9FDCC068AC}"/>
          </ac:spMkLst>
        </pc:spChg>
      </pc:sldChg>
      <pc:sldChg chg="modTransition">
        <pc:chgData name="Erwah Al Bataineh" userId="b400c1d921f65d71" providerId="LiveId" clId="{8CFFDAB6-61D3-454F-97F8-4621F0B7FC03}" dt="2022-11-11T20:58:04.958" v="181"/>
        <pc:sldMkLst>
          <pc:docMk/>
          <pc:sldMk cId="3091997397" sldId="283"/>
        </pc:sldMkLst>
      </pc:sldChg>
      <pc:sldChg chg="add">
        <pc:chgData name="Erwah Al Bataineh" userId="b400c1d921f65d71" providerId="LiveId" clId="{8CFFDAB6-61D3-454F-97F8-4621F0B7FC03}" dt="2022-11-08T09:22:33.591" v="0"/>
        <pc:sldMkLst>
          <pc:docMk/>
          <pc:sldMk cId="282650618" sldId="307"/>
        </pc:sldMkLst>
      </pc:sldChg>
      <pc:sldChg chg="modSp add mod">
        <pc:chgData name="Erwah Al Bataineh" userId="b400c1d921f65d71" providerId="LiveId" clId="{8CFFDAB6-61D3-454F-97F8-4621F0B7FC03}" dt="2022-11-11T21:24:26.501" v="315" actId="1076"/>
        <pc:sldMkLst>
          <pc:docMk/>
          <pc:sldMk cId="70269444" sldId="308"/>
        </pc:sldMkLst>
        <pc:spChg chg="mod">
          <ac:chgData name="Erwah Al Bataineh" userId="b400c1d921f65d71" providerId="LiveId" clId="{8CFFDAB6-61D3-454F-97F8-4621F0B7FC03}" dt="2022-11-11T21:24:21.273" v="314" actId="1076"/>
          <ac:spMkLst>
            <pc:docMk/>
            <pc:sldMk cId="70269444" sldId="308"/>
            <ac:spMk id="3" creationId="{1AEBF35F-77C3-49F1-B8CB-0155211DBE9F}"/>
          </ac:spMkLst>
        </pc:spChg>
        <pc:spChg chg="mod">
          <ac:chgData name="Erwah Al Bataineh" userId="b400c1d921f65d71" providerId="LiveId" clId="{8CFFDAB6-61D3-454F-97F8-4621F0B7FC03}" dt="2022-11-11T21:24:26.501" v="315" actId="1076"/>
          <ac:spMkLst>
            <pc:docMk/>
            <pc:sldMk cId="70269444" sldId="308"/>
            <ac:spMk id="11" creationId="{1B30EDFA-270A-4F88-BE95-A7B444A54223}"/>
          </ac:spMkLst>
        </pc:spChg>
      </pc:sldChg>
      <pc:sldChg chg="add del">
        <pc:chgData name="Erwah Al Bataineh" userId="b400c1d921f65d71" providerId="LiveId" clId="{8CFFDAB6-61D3-454F-97F8-4621F0B7FC03}" dt="2022-11-11T21:22:29.404" v="277" actId="2696"/>
        <pc:sldMkLst>
          <pc:docMk/>
          <pc:sldMk cId="1259007374" sldId="309"/>
        </pc:sldMkLst>
      </pc:sldChg>
      <pc:sldChg chg="add">
        <pc:chgData name="Erwah Al Bataineh" userId="b400c1d921f65d71" providerId="LiveId" clId="{8CFFDAB6-61D3-454F-97F8-4621F0B7FC03}" dt="2022-11-08T09:22:33.591" v="0"/>
        <pc:sldMkLst>
          <pc:docMk/>
          <pc:sldMk cId="1004656491" sldId="310"/>
        </pc:sldMkLst>
      </pc:sldChg>
      <pc:sldChg chg="modSp add mod">
        <pc:chgData name="Erwah Al Bataineh" userId="b400c1d921f65d71" providerId="LiveId" clId="{8CFFDAB6-61D3-454F-97F8-4621F0B7FC03}" dt="2022-11-11T21:18:56.627" v="274" actId="13900"/>
        <pc:sldMkLst>
          <pc:docMk/>
          <pc:sldMk cId="3865430719" sldId="311"/>
        </pc:sldMkLst>
        <pc:spChg chg="mod">
          <ac:chgData name="Erwah Al Bataineh" userId="b400c1d921f65d71" providerId="LiveId" clId="{8CFFDAB6-61D3-454F-97F8-4621F0B7FC03}" dt="2022-11-11T21:18:48.309" v="273" actId="1076"/>
          <ac:spMkLst>
            <pc:docMk/>
            <pc:sldMk cId="3865430719" sldId="311"/>
            <ac:spMk id="2" creationId="{4BE1967E-9541-4152-89F5-07BA2468BCB6}"/>
          </ac:spMkLst>
        </pc:spChg>
        <pc:spChg chg="mod">
          <ac:chgData name="Erwah Al Bataineh" userId="b400c1d921f65d71" providerId="LiveId" clId="{8CFFDAB6-61D3-454F-97F8-4621F0B7FC03}" dt="2022-11-11T21:18:56.627" v="274" actId="13900"/>
          <ac:spMkLst>
            <pc:docMk/>
            <pc:sldMk cId="3865430719" sldId="311"/>
            <ac:spMk id="3" creationId="{54EB5C3D-569D-41C5-9AE4-BBC96CF50232}"/>
          </ac:spMkLst>
        </pc:spChg>
      </pc:sldChg>
      <pc:sldChg chg="modSp add mod">
        <pc:chgData name="Erwah Al Bataineh" userId="b400c1d921f65d71" providerId="LiveId" clId="{8CFFDAB6-61D3-454F-97F8-4621F0B7FC03}" dt="2022-11-11T21:32:28.936" v="325" actId="1076"/>
        <pc:sldMkLst>
          <pc:docMk/>
          <pc:sldMk cId="3433055415" sldId="312"/>
        </pc:sldMkLst>
        <pc:spChg chg="mod">
          <ac:chgData name="Erwah Al Bataineh" userId="b400c1d921f65d71" providerId="LiveId" clId="{8CFFDAB6-61D3-454F-97F8-4621F0B7FC03}" dt="2022-11-11T21:32:28.936" v="325" actId="1076"/>
          <ac:spMkLst>
            <pc:docMk/>
            <pc:sldMk cId="3433055415" sldId="312"/>
            <ac:spMk id="2" creationId="{1B180B21-83D6-40DB-AF5B-8431FEA7021D}"/>
          </ac:spMkLst>
        </pc:spChg>
      </pc:sldChg>
      <pc:sldChg chg="add">
        <pc:chgData name="Erwah Al Bataineh" userId="b400c1d921f65d71" providerId="LiveId" clId="{8CFFDAB6-61D3-454F-97F8-4621F0B7FC03}" dt="2022-11-08T09:22:33.591" v="0"/>
        <pc:sldMkLst>
          <pc:docMk/>
          <pc:sldMk cId="2004830528" sldId="313"/>
        </pc:sldMkLst>
      </pc:sldChg>
      <pc:sldChg chg="add">
        <pc:chgData name="Erwah Al Bataineh" userId="b400c1d921f65d71" providerId="LiveId" clId="{8CFFDAB6-61D3-454F-97F8-4621F0B7FC03}" dt="2022-11-08T09:22:33.591" v="0"/>
        <pc:sldMkLst>
          <pc:docMk/>
          <pc:sldMk cId="3438407101" sldId="314"/>
        </pc:sldMkLst>
      </pc:sldChg>
      <pc:sldChg chg="modSp add mod">
        <pc:chgData name="Erwah Al Bataineh" userId="b400c1d921f65d71" providerId="LiveId" clId="{8CFFDAB6-61D3-454F-97F8-4621F0B7FC03}" dt="2022-11-11T21:32:50.975" v="326" actId="1076"/>
        <pc:sldMkLst>
          <pc:docMk/>
          <pc:sldMk cId="1598274931" sldId="315"/>
        </pc:sldMkLst>
        <pc:spChg chg="mod">
          <ac:chgData name="Erwah Al Bataineh" userId="b400c1d921f65d71" providerId="LiveId" clId="{8CFFDAB6-61D3-454F-97F8-4621F0B7FC03}" dt="2022-11-11T21:32:50.975" v="326" actId="1076"/>
          <ac:spMkLst>
            <pc:docMk/>
            <pc:sldMk cId="1598274931" sldId="315"/>
            <ac:spMk id="2" creationId="{B56D0214-343F-49ED-A093-1F50AA5695D8}"/>
          </ac:spMkLst>
        </pc:spChg>
      </pc:sldChg>
      <pc:sldChg chg="add modAnim">
        <pc:chgData name="Erwah Al Bataineh" userId="b400c1d921f65d71" providerId="LiveId" clId="{8CFFDAB6-61D3-454F-97F8-4621F0B7FC03}" dt="2022-11-11T21:27:05.817" v="317"/>
        <pc:sldMkLst>
          <pc:docMk/>
          <pc:sldMk cId="2494104354" sldId="316"/>
        </pc:sldMkLst>
      </pc:sldChg>
      <pc:sldChg chg="addSp delSp modSp del mod modTransition modAnim">
        <pc:chgData name="Erwah Al Bataineh" userId="b400c1d921f65d71" providerId="LiveId" clId="{8CFFDAB6-61D3-454F-97F8-4621F0B7FC03}" dt="2022-11-11T21:31:24.671" v="324" actId="20577"/>
        <pc:sldMkLst>
          <pc:docMk/>
          <pc:sldMk cId="0" sldId="342"/>
        </pc:sldMkLst>
        <pc:spChg chg="add mod">
          <ac:chgData name="Erwah Al Bataineh" userId="b400c1d921f65d71" providerId="LiveId" clId="{8CFFDAB6-61D3-454F-97F8-4621F0B7FC03}" dt="2022-11-11T21:31:24.671" v="324" actId="20577"/>
          <ac:spMkLst>
            <pc:docMk/>
            <pc:sldMk cId="0" sldId="342"/>
            <ac:spMk id="2" creationId="{BC175240-70C8-5893-274E-C198BCC3322A}"/>
          </ac:spMkLst>
        </pc:spChg>
        <pc:spChg chg="del">
          <ac:chgData name="Erwah Al Bataineh" userId="b400c1d921f65d71" providerId="LiveId" clId="{8CFFDAB6-61D3-454F-97F8-4621F0B7FC03}" dt="2022-11-11T18:00:10.248" v="107" actId="21"/>
          <ac:spMkLst>
            <pc:docMk/>
            <pc:sldMk cId="0" sldId="342"/>
            <ac:spMk id="6" creationId="{C002929B-7955-5411-ED6E-E7238BB8E24E}"/>
          </ac:spMkLst>
        </pc:spChg>
      </pc:sldChg>
      <pc:sldMasterChg chg="addSp modSldLayout">
        <pc:chgData name="Erwah Al Bataineh" userId="b400c1d921f65d71" providerId="LiveId" clId="{8CFFDAB6-61D3-454F-97F8-4621F0B7FC03}" dt="2022-11-11T20:56:55.427" v="177"/>
        <pc:sldMasterMkLst>
          <pc:docMk/>
          <pc:sldMasterMk cId="3768818488" sldId="2147483669"/>
        </pc:sldMasterMkLst>
        <pc:spChg chg="add">
          <ac:chgData name="Erwah Al Bataineh" userId="b400c1d921f65d71" providerId="LiveId" clId="{8CFFDAB6-61D3-454F-97F8-4621F0B7FC03}" dt="2022-11-11T20:56:55.427" v="177"/>
          <ac:spMkLst>
            <pc:docMk/>
            <pc:sldMasterMk cId="3768818488" sldId="2147483669"/>
            <ac:spMk id="7" creationId="{06E6142E-170F-8BB7-2A8C-18BF36C7B033}"/>
          </ac:spMkLst>
        </pc:spChg>
        <pc:cxnChg chg="add">
          <ac:chgData name="Erwah Al Bataineh" userId="b400c1d921f65d71" providerId="LiveId" clId="{8CFFDAB6-61D3-454F-97F8-4621F0B7FC03}" dt="2022-11-11T20:56:55.427" v="177"/>
          <ac:cxnSpMkLst>
            <pc:docMk/>
            <pc:sldMasterMk cId="3768818488" sldId="2147483669"/>
            <ac:cxnSpMk id="8" creationId="{955053E9-CE62-4CEA-0E71-7D7DD89567A2}"/>
          </ac:cxnSpMkLst>
        </pc:cxnChg>
        <pc:sldLayoutChg chg="addSp">
          <pc:chgData name="Erwah Al Bataineh" userId="b400c1d921f65d71" providerId="LiveId" clId="{8CFFDAB6-61D3-454F-97F8-4621F0B7FC03}" dt="2022-11-11T20:56:55.427" v="177"/>
          <pc:sldLayoutMkLst>
            <pc:docMk/>
            <pc:sldMasterMk cId="3768818488" sldId="2147483669"/>
            <pc:sldLayoutMk cId="232269237" sldId="2147483670"/>
          </pc:sldLayoutMkLst>
          <pc:spChg chg="add">
            <ac:chgData name="Erwah Al Bataineh" userId="b400c1d921f65d71" providerId="LiveId" clId="{8CFFDAB6-61D3-454F-97F8-4621F0B7FC03}" dt="2022-11-11T20:56:55.427" v="177"/>
            <ac:spMkLst>
              <pc:docMk/>
              <pc:sldMasterMk cId="3768818488" sldId="2147483669"/>
              <pc:sldLayoutMk cId="232269237" sldId="2147483670"/>
              <ac:spMk id="7" creationId="{FD760CD2-349F-31E5-A3F3-E7B28FC5DC5D}"/>
            </ac:spMkLst>
          </pc:spChg>
          <pc:picChg chg="add">
            <ac:chgData name="Erwah Al Bataineh" userId="b400c1d921f65d71" providerId="LiveId" clId="{8CFFDAB6-61D3-454F-97F8-4621F0B7FC03}" dt="2022-11-11T20:56:55.427" v="177"/>
            <ac:picMkLst>
              <pc:docMk/>
              <pc:sldMasterMk cId="3768818488" sldId="2147483669"/>
              <pc:sldLayoutMk cId="232269237" sldId="2147483670"/>
              <ac:picMk id="8" creationId="{12E5713B-DE34-49D7-FC15-EF375E12F9F6}"/>
            </ac:picMkLst>
          </pc:picChg>
        </pc:sldLayoutChg>
        <pc:sldLayoutChg chg="addSp">
          <pc:chgData name="Erwah Al Bataineh" userId="b400c1d921f65d71" providerId="LiveId" clId="{8CFFDAB6-61D3-454F-97F8-4621F0B7FC03}" dt="2022-11-11T20:56:55.427" v="177"/>
          <pc:sldLayoutMkLst>
            <pc:docMk/>
            <pc:sldMasterMk cId="3768818488" sldId="2147483669"/>
            <pc:sldLayoutMk cId="2016513625" sldId="2147483671"/>
          </pc:sldLayoutMkLst>
          <pc:picChg chg="add">
            <ac:chgData name="Erwah Al Bataineh" userId="b400c1d921f65d71" providerId="LiveId" clId="{8CFFDAB6-61D3-454F-97F8-4621F0B7FC03}" dt="2022-11-11T20:56:55.427" v="177"/>
            <ac:picMkLst>
              <pc:docMk/>
              <pc:sldMasterMk cId="3768818488" sldId="2147483669"/>
              <pc:sldLayoutMk cId="2016513625" sldId="2147483671"/>
              <ac:picMk id="7" creationId="{22734AF6-A561-1DDC-BF6A-3374894242B2}"/>
            </ac:picMkLst>
          </pc:picChg>
        </pc:sldLayoutChg>
        <pc:sldLayoutChg chg="addSp">
          <pc:chgData name="Erwah Al Bataineh" userId="b400c1d921f65d71" providerId="LiveId" clId="{8CFFDAB6-61D3-454F-97F8-4621F0B7FC03}" dt="2022-11-11T20:56:55.427" v="177"/>
          <pc:sldLayoutMkLst>
            <pc:docMk/>
            <pc:sldMasterMk cId="3768818488" sldId="2147483669"/>
            <pc:sldLayoutMk cId="4108818991" sldId="2147483675"/>
          </pc:sldLayoutMkLst>
          <pc:spChg chg="add">
            <ac:chgData name="Erwah Al Bataineh" userId="b400c1d921f65d71" providerId="LiveId" clId="{8CFFDAB6-61D3-454F-97F8-4621F0B7FC03}" dt="2022-11-11T20:56:55.427" v="177"/>
            <ac:spMkLst>
              <pc:docMk/>
              <pc:sldMasterMk cId="3768818488" sldId="2147483669"/>
              <pc:sldLayoutMk cId="4108818991" sldId="2147483675"/>
              <ac:spMk id="6" creationId="{70958A52-88DF-56C2-1FF0-3C13EEEC46D3}"/>
            </ac:spMkLst>
          </pc:spChg>
          <pc:cxnChg chg="add">
            <ac:chgData name="Erwah Al Bataineh" userId="b400c1d921f65d71" providerId="LiveId" clId="{8CFFDAB6-61D3-454F-97F8-4621F0B7FC03}" dt="2022-11-11T20:56:55.427" v="177"/>
            <ac:cxnSpMkLst>
              <pc:docMk/>
              <pc:sldMasterMk cId="3768818488" sldId="2147483669"/>
              <pc:sldLayoutMk cId="4108818991" sldId="2147483675"/>
              <ac:cxnSpMk id="7" creationId="{80683540-ACB0-C765-FB2E-558133388FB6}"/>
            </ac:cxnSpMkLst>
          </pc:cxnChg>
        </pc:sldLayoutChg>
      </pc:sldMasterChg>
      <pc:sldMasterChg chg="addSp modSldLayout">
        <pc:chgData name="Erwah Al Bataineh" userId="b400c1d921f65d71" providerId="LiveId" clId="{8CFFDAB6-61D3-454F-97F8-4621F0B7FC03}" dt="2022-11-11T20:56:57.987" v="178"/>
        <pc:sldMasterMkLst>
          <pc:docMk/>
          <pc:sldMasterMk cId="2192382748" sldId="2147483681"/>
        </pc:sldMasterMkLst>
        <pc:spChg chg="add">
          <ac:chgData name="Erwah Al Bataineh" userId="b400c1d921f65d71" providerId="LiveId" clId="{8CFFDAB6-61D3-454F-97F8-4621F0B7FC03}" dt="2022-11-11T20:56:57.987" v="178"/>
          <ac:spMkLst>
            <pc:docMk/>
            <pc:sldMasterMk cId="2192382748" sldId="2147483681"/>
            <ac:spMk id="7" creationId="{41FABB72-80D7-531F-966B-08DBB9BBC4F3}"/>
          </ac:spMkLst>
        </pc:spChg>
        <pc:cxnChg chg="add">
          <ac:chgData name="Erwah Al Bataineh" userId="b400c1d921f65d71" providerId="LiveId" clId="{8CFFDAB6-61D3-454F-97F8-4621F0B7FC03}" dt="2022-11-11T20:56:57.987" v="178"/>
          <ac:cxnSpMkLst>
            <pc:docMk/>
            <pc:sldMasterMk cId="2192382748" sldId="2147483681"/>
            <ac:cxnSpMk id="8" creationId="{2AB9CA61-3169-E12D-D326-EB048DE20EBB}"/>
          </ac:cxnSpMkLst>
        </pc:cxnChg>
        <pc:sldLayoutChg chg="addSp">
          <pc:chgData name="Erwah Al Bataineh" userId="b400c1d921f65d71" providerId="LiveId" clId="{8CFFDAB6-61D3-454F-97F8-4621F0B7FC03}" dt="2022-11-11T20:56:57.987" v="178"/>
          <pc:sldLayoutMkLst>
            <pc:docMk/>
            <pc:sldMasterMk cId="2192382748" sldId="2147483681"/>
            <pc:sldLayoutMk cId="754244551" sldId="2147483682"/>
          </pc:sldLayoutMkLst>
          <pc:spChg chg="add">
            <ac:chgData name="Erwah Al Bataineh" userId="b400c1d921f65d71" providerId="LiveId" clId="{8CFFDAB6-61D3-454F-97F8-4621F0B7FC03}" dt="2022-11-11T20:56:57.987" v="178"/>
            <ac:spMkLst>
              <pc:docMk/>
              <pc:sldMasterMk cId="2192382748" sldId="2147483681"/>
              <pc:sldLayoutMk cId="754244551" sldId="2147483682"/>
              <ac:spMk id="7" creationId="{60D1B25D-50FE-D306-FFA9-E1D273CDBCDB}"/>
            </ac:spMkLst>
          </pc:spChg>
          <pc:picChg chg="add">
            <ac:chgData name="Erwah Al Bataineh" userId="b400c1d921f65d71" providerId="LiveId" clId="{8CFFDAB6-61D3-454F-97F8-4621F0B7FC03}" dt="2022-11-11T20:56:57.987" v="178"/>
            <ac:picMkLst>
              <pc:docMk/>
              <pc:sldMasterMk cId="2192382748" sldId="2147483681"/>
              <pc:sldLayoutMk cId="754244551" sldId="2147483682"/>
              <ac:picMk id="8" creationId="{6C74D2EB-CAA3-F980-870C-17FDD2C1B94F}"/>
            </ac:picMkLst>
          </pc:picChg>
        </pc:sldLayoutChg>
        <pc:sldLayoutChg chg="addSp">
          <pc:chgData name="Erwah Al Bataineh" userId="b400c1d921f65d71" providerId="LiveId" clId="{8CFFDAB6-61D3-454F-97F8-4621F0B7FC03}" dt="2022-11-11T20:56:57.987" v="178"/>
          <pc:sldLayoutMkLst>
            <pc:docMk/>
            <pc:sldMasterMk cId="2192382748" sldId="2147483681"/>
            <pc:sldLayoutMk cId="3434532313" sldId="2147483683"/>
          </pc:sldLayoutMkLst>
          <pc:picChg chg="add">
            <ac:chgData name="Erwah Al Bataineh" userId="b400c1d921f65d71" providerId="LiveId" clId="{8CFFDAB6-61D3-454F-97F8-4621F0B7FC03}" dt="2022-11-11T20:56:57.987" v="178"/>
            <ac:picMkLst>
              <pc:docMk/>
              <pc:sldMasterMk cId="2192382748" sldId="2147483681"/>
              <pc:sldLayoutMk cId="3434532313" sldId="2147483683"/>
              <ac:picMk id="7" creationId="{A135422E-9171-0DB5-8457-B1ABB623521E}"/>
            </ac:picMkLst>
          </pc:picChg>
        </pc:sldLayoutChg>
        <pc:sldLayoutChg chg="addSp">
          <pc:chgData name="Erwah Al Bataineh" userId="b400c1d921f65d71" providerId="LiveId" clId="{8CFFDAB6-61D3-454F-97F8-4621F0B7FC03}" dt="2022-11-11T20:56:57.987" v="178"/>
          <pc:sldLayoutMkLst>
            <pc:docMk/>
            <pc:sldMasterMk cId="2192382748" sldId="2147483681"/>
            <pc:sldLayoutMk cId="2504961741" sldId="2147483687"/>
          </pc:sldLayoutMkLst>
          <pc:spChg chg="add">
            <ac:chgData name="Erwah Al Bataineh" userId="b400c1d921f65d71" providerId="LiveId" clId="{8CFFDAB6-61D3-454F-97F8-4621F0B7FC03}" dt="2022-11-11T20:56:57.987" v="178"/>
            <ac:spMkLst>
              <pc:docMk/>
              <pc:sldMasterMk cId="2192382748" sldId="2147483681"/>
              <pc:sldLayoutMk cId="2504961741" sldId="2147483687"/>
              <ac:spMk id="6" creationId="{4CEEF693-AFF5-CB90-EB5E-3B1705C75931}"/>
            </ac:spMkLst>
          </pc:spChg>
          <pc:cxnChg chg="add">
            <ac:chgData name="Erwah Al Bataineh" userId="b400c1d921f65d71" providerId="LiveId" clId="{8CFFDAB6-61D3-454F-97F8-4621F0B7FC03}" dt="2022-11-11T20:56:57.987" v="178"/>
            <ac:cxnSpMkLst>
              <pc:docMk/>
              <pc:sldMasterMk cId="2192382748" sldId="2147483681"/>
              <pc:sldLayoutMk cId="2504961741" sldId="2147483687"/>
              <ac:cxnSpMk id="7" creationId="{A4252EBA-209B-CD10-3462-A7EE87A16DA6}"/>
            </ac:cxnSpMkLst>
          </pc:cxnChg>
        </pc:sldLayoutChg>
      </pc:sldMasterChg>
    </pc:docChg>
  </pc:docChgLst>
  <pc:docChgLst>
    <pc:chgData name="Erwah Al Bataineh" userId="b400c1d921f65d71" providerId="LiveId" clId="{673C7809-045F-4A91-A9D8-B6E297D3FF1D}"/>
    <pc:docChg chg="modSld">
      <pc:chgData name="Erwah Al Bataineh" userId="b400c1d921f65d71" providerId="LiveId" clId="{673C7809-045F-4A91-A9D8-B6E297D3FF1D}" dt="2023-03-26T23:08:28.169" v="20" actId="113"/>
      <pc:docMkLst>
        <pc:docMk/>
      </pc:docMkLst>
      <pc:sldChg chg="modSp mod">
        <pc:chgData name="Erwah Al Bataineh" userId="b400c1d921f65d71" providerId="LiveId" clId="{673C7809-045F-4A91-A9D8-B6E297D3FF1D}" dt="2023-03-26T23:08:28.169" v="20" actId="113"/>
        <pc:sldMkLst>
          <pc:docMk/>
          <pc:sldMk cId="3903250945" sldId="282"/>
        </pc:sldMkLst>
        <pc:spChg chg="mod">
          <ac:chgData name="Erwah Al Bataineh" userId="b400c1d921f65d71" providerId="LiveId" clId="{673C7809-045F-4A91-A9D8-B6E297D3FF1D}" dt="2023-03-26T23:08:28.169" v="20" actId="113"/>
          <ac:spMkLst>
            <pc:docMk/>
            <pc:sldMk cId="3903250945" sldId="282"/>
            <ac:spMk id="3" creationId="{23BEB795-71DE-42C5-A0E0-4F9FDCC068AC}"/>
          </ac:spMkLst>
        </pc:spChg>
      </pc:sldChg>
      <pc:sldChg chg="modSp mod">
        <pc:chgData name="Erwah Al Bataineh" userId="b400c1d921f65d71" providerId="LiveId" clId="{673C7809-045F-4A91-A9D8-B6E297D3FF1D}" dt="2023-03-26T23:00:23.185" v="16" actId="20577"/>
        <pc:sldMkLst>
          <pc:docMk/>
          <pc:sldMk cId="0" sldId="342"/>
        </pc:sldMkLst>
        <pc:spChg chg="mod">
          <ac:chgData name="Erwah Al Bataineh" userId="b400c1d921f65d71" providerId="LiveId" clId="{673C7809-045F-4A91-A9D8-B6E297D3FF1D}" dt="2023-03-26T23:00:23.185" v="16" actId="20577"/>
          <ac:spMkLst>
            <pc:docMk/>
            <pc:sldMk cId="0" sldId="342"/>
            <ac:spMk id="2" creationId="{BC175240-70C8-5893-274E-C198BCC3322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3B01C0-E961-4BA3-9BB8-B6EBAD3F9D64}" type="datetimeFigureOut">
              <a:rPr lang="en-AE" smtClean="0"/>
              <a:t>27/03/2023</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8133B7-D7AF-4425-8A3A-6DC78E32E2D6}" type="slidenum">
              <a:rPr lang="en-AE" smtClean="0"/>
              <a:t>‹#›</a:t>
            </a:fld>
            <a:endParaRPr lang="en-AE"/>
          </a:p>
        </p:txBody>
      </p:sp>
    </p:spTree>
    <p:extLst>
      <p:ext uri="{BB962C8B-B14F-4D97-AF65-F5344CB8AC3E}">
        <p14:creationId xmlns:p14="http://schemas.microsoft.com/office/powerpoint/2010/main" val="21077378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8EEAA1-6D31-437E-B51D-E72B8F5576B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846387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ED2CA-4D65-45D5-8252-5FCE258CD2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A3EE3EC-53C2-4767-AE35-91A9C2E68A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F9DD803-4783-4D15-8004-A9F5556DBC15}"/>
              </a:ext>
            </a:extLst>
          </p:cNvPr>
          <p:cNvSpPr>
            <a:spLocks noGrp="1"/>
          </p:cNvSpPr>
          <p:nvPr>
            <p:ph type="dt" sz="half" idx="10"/>
          </p:nvPr>
        </p:nvSpPr>
        <p:spPr/>
        <p:txBody>
          <a:bodyPr/>
          <a:lstStyle/>
          <a:p>
            <a:fld id="{1A2E0544-F0D8-4B91-A6AB-575642A48F78}" type="datetimeFigureOut">
              <a:rPr lang="en-US" smtClean="0"/>
              <a:t>3/27/2023</a:t>
            </a:fld>
            <a:endParaRPr lang="en-US"/>
          </a:p>
        </p:txBody>
      </p:sp>
      <p:sp>
        <p:nvSpPr>
          <p:cNvPr id="5" name="Footer Placeholder 4">
            <a:extLst>
              <a:ext uri="{FF2B5EF4-FFF2-40B4-BE49-F238E27FC236}">
                <a16:creationId xmlns:a16="http://schemas.microsoft.com/office/drawing/2014/main" id="{8EA80BAB-AA6A-4363-9FA7-C50CEC55DE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7937DE-D214-4E21-A308-575B36E2CCA1}"/>
              </a:ext>
            </a:extLst>
          </p:cNvPr>
          <p:cNvSpPr>
            <a:spLocks noGrp="1"/>
          </p:cNvSpPr>
          <p:nvPr>
            <p:ph type="sldNum" sz="quarter" idx="12"/>
          </p:nvPr>
        </p:nvSpPr>
        <p:spPr/>
        <p:txBody>
          <a:bodyPr/>
          <a:lstStyle/>
          <a:p>
            <a:fld id="{1993C034-2F3B-4D59-8634-95B80CF73E93}" type="slidenum">
              <a:rPr lang="en-US" smtClean="0"/>
              <a:t>‹#›</a:t>
            </a:fld>
            <a:endParaRPr lang="en-US"/>
          </a:p>
        </p:txBody>
      </p:sp>
    </p:spTree>
    <p:extLst>
      <p:ext uri="{BB962C8B-B14F-4D97-AF65-F5344CB8AC3E}">
        <p14:creationId xmlns:p14="http://schemas.microsoft.com/office/powerpoint/2010/main" val="27920261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81906-8CF6-4D90-94D4-29FD0FB2C0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53A4ED-4F37-4D01-8B84-B923C2CB0E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5FD118-E18A-4131-B52F-D6D9DB80AF67}"/>
              </a:ext>
            </a:extLst>
          </p:cNvPr>
          <p:cNvSpPr>
            <a:spLocks noGrp="1"/>
          </p:cNvSpPr>
          <p:nvPr>
            <p:ph type="dt" sz="half" idx="10"/>
          </p:nvPr>
        </p:nvSpPr>
        <p:spPr/>
        <p:txBody>
          <a:bodyPr/>
          <a:lstStyle/>
          <a:p>
            <a:fld id="{1A2E0544-F0D8-4B91-A6AB-575642A48F78}" type="datetimeFigureOut">
              <a:rPr lang="en-US" smtClean="0"/>
              <a:t>3/27/2023</a:t>
            </a:fld>
            <a:endParaRPr lang="en-US"/>
          </a:p>
        </p:txBody>
      </p:sp>
      <p:sp>
        <p:nvSpPr>
          <p:cNvPr id="5" name="Footer Placeholder 4">
            <a:extLst>
              <a:ext uri="{FF2B5EF4-FFF2-40B4-BE49-F238E27FC236}">
                <a16:creationId xmlns:a16="http://schemas.microsoft.com/office/drawing/2014/main" id="{2043DDAF-1F16-4152-946F-79E8839FF3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1E16C8-8F2D-4696-9749-4C0A34F4AFA1}"/>
              </a:ext>
            </a:extLst>
          </p:cNvPr>
          <p:cNvSpPr>
            <a:spLocks noGrp="1"/>
          </p:cNvSpPr>
          <p:nvPr>
            <p:ph type="sldNum" sz="quarter" idx="12"/>
          </p:nvPr>
        </p:nvSpPr>
        <p:spPr/>
        <p:txBody>
          <a:bodyPr/>
          <a:lstStyle/>
          <a:p>
            <a:fld id="{1993C034-2F3B-4D59-8634-95B80CF73E93}" type="slidenum">
              <a:rPr lang="en-US" smtClean="0"/>
              <a:t>‹#›</a:t>
            </a:fld>
            <a:endParaRPr lang="en-US"/>
          </a:p>
        </p:txBody>
      </p:sp>
    </p:spTree>
    <p:extLst>
      <p:ext uri="{BB962C8B-B14F-4D97-AF65-F5344CB8AC3E}">
        <p14:creationId xmlns:p14="http://schemas.microsoft.com/office/powerpoint/2010/main" val="15542131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7E58B-4B7D-401F-BED1-483EF3FBD8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C40DCDB-E322-4072-84CD-16F5EC95278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02FCBE-8ED6-4736-A1BA-290A1A0AED05}"/>
              </a:ext>
            </a:extLst>
          </p:cNvPr>
          <p:cNvSpPr>
            <a:spLocks noGrp="1"/>
          </p:cNvSpPr>
          <p:nvPr>
            <p:ph type="dt" sz="half" idx="10"/>
          </p:nvPr>
        </p:nvSpPr>
        <p:spPr/>
        <p:txBody>
          <a:bodyPr/>
          <a:lstStyle/>
          <a:p>
            <a:fld id="{1A2E0544-F0D8-4B91-A6AB-575642A48F78}" type="datetimeFigureOut">
              <a:rPr lang="en-US" smtClean="0"/>
              <a:t>3/27/2023</a:t>
            </a:fld>
            <a:endParaRPr lang="en-US"/>
          </a:p>
        </p:txBody>
      </p:sp>
      <p:sp>
        <p:nvSpPr>
          <p:cNvPr id="5" name="Footer Placeholder 4">
            <a:extLst>
              <a:ext uri="{FF2B5EF4-FFF2-40B4-BE49-F238E27FC236}">
                <a16:creationId xmlns:a16="http://schemas.microsoft.com/office/drawing/2014/main" id="{6D23E66C-17A6-48A5-9D3C-C0F772227E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B7407B-9764-44C2-A78A-2889B9CF94E9}"/>
              </a:ext>
            </a:extLst>
          </p:cNvPr>
          <p:cNvSpPr>
            <a:spLocks noGrp="1"/>
          </p:cNvSpPr>
          <p:nvPr>
            <p:ph type="sldNum" sz="quarter" idx="12"/>
          </p:nvPr>
        </p:nvSpPr>
        <p:spPr/>
        <p:txBody>
          <a:bodyPr/>
          <a:lstStyle/>
          <a:p>
            <a:fld id="{1993C034-2F3B-4D59-8634-95B80CF73E93}" type="slidenum">
              <a:rPr lang="en-US" smtClean="0"/>
              <a:t>‹#›</a:t>
            </a:fld>
            <a:endParaRPr lang="en-US"/>
          </a:p>
        </p:txBody>
      </p:sp>
    </p:spTree>
    <p:extLst>
      <p:ext uri="{BB962C8B-B14F-4D97-AF65-F5344CB8AC3E}">
        <p14:creationId xmlns:p14="http://schemas.microsoft.com/office/powerpoint/2010/main" val="3144335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1FEBD-6FF5-4C8C-B208-B84CEABB36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B7CF3D-5E05-4F50-8F65-C155AAE4B8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E8D9C9-ACD8-4C67-96DB-2209D0AC02E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BF9A178-A3FB-44A7-8CB6-F513F0BAAB2F}"/>
              </a:ext>
            </a:extLst>
          </p:cNvPr>
          <p:cNvSpPr>
            <a:spLocks noGrp="1"/>
          </p:cNvSpPr>
          <p:nvPr>
            <p:ph type="dt" sz="half" idx="10"/>
          </p:nvPr>
        </p:nvSpPr>
        <p:spPr/>
        <p:txBody>
          <a:bodyPr/>
          <a:lstStyle/>
          <a:p>
            <a:fld id="{1A2E0544-F0D8-4B91-A6AB-575642A48F78}" type="datetimeFigureOut">
              <a:rPr lang="en-US" smtClean="0"/>
              <a:t>3/27/2023</a:t>
            </a:fld>
            <a:endParaRPr lang="en-US"/>
          </a:p>
        </p:txBody>
      </p:sp>
      <p:sp>
        <p:nvSpPr>
          <p:cNvPr id="6" name="Footer Placeholder 5">
            <a:extLst>
              <a:ext uri="{FF2B5EF4-FFF2-40B4-BE49-F238E27FC236}">
                <a16:creationId xmlns:a16="http://schemas.microsoft.com/office/drawing/2014/main" id="{D17E8ACF-C16A-4297-94AA-FD7BB6B921C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23F2A0-4098-4307-A1B1-6E1FA5E1A4FF}"/>
              </a:ext>
            </a:extLst>
          </p:cNvPr>
          <p:cNvSpPr>
            <a:spLocks noGrp="1"/>
          </p:cNvSpPr>
          <p:nvPr>
            <p:ph type="sldNum" sz="quarter" idx="12"/>
          </p:nvPr>
        </p:nvSpPr>
        <p:spPr/>
        <p:txBody>
          <a:bodyPr/>
          <a:lstStyle/>
          <a:p>
            <a:fld id="{1993C034-2F3B-4D59-8634-95B80CF73E93}" type="slidenum">
              <a:rPr lang="en-US" smtClean="0"/>
              <a:t>‹#›</a:t>
            </a:fld>
            <a:endParaRPr lang="en-US"/>
          </a:p>
        </p:txBody>
      </p:sp>
    </p:spTree>
    <p:extLst>
      <p:ext uri="{BB962C8B-B14F-4D97-AF65-F5344CB8AC3E}">
        <p14:creationId xmlns:p14="http://schemas.microsoft.com/office/powerpoint/2010/main" val="1149988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AFC33-1EA9-4939-B3E6-0F055343655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B92E79A-0BEA-4708-B088-30373655D5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97184C-68D0-42E8-BF92-142477A6482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D7F0C46-7D49-49BB-899D-4CA25CEE61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5F2E33-A4FB-4102-BE84-2CA8AE3B69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3D582A-1984-4370-98F9-CF94376769E8}"/>
              </a:ext>
            </a:extLst>
          </p:cNvPr>
          <p:cNvSpPr>
            <a:spLocks noGrp="1"/>
          </p:cNvSpPr>
          <p:nvPr>
            <p:ph type="dt" sz="half" idx="10"/>
          </p:nvPr>
        </p:nvSpPr>
        <p:spPr/>
        <p:txBody>
          <a:bodyPr/>
          <a:lstStyle/>
          <a:p>
            <a:fld id="{1A2E0544-F0D8-4B91-A6AB-575642A48F78}" type="datetimeFigureOut">
              <a:rPr lang="en-US" smtClean="0"/>
              <a:t>3/27/2023</a:t>
            </a:fld>
            <a:endParaRPr lang="en-US"/>
          </a:p>
        </p:txBody>
      </p:sp>
      <p:sp>
        <p:nvSpPr>
          <p:cNvPr id="8" name="Footer Placeholder 7">
            <a:extLst>
              <a:ext uri="{FF2B5EF4-FFF2-40B4-BE49-F238E27FC236}">
                <a16:creationId xmlns:a16="http://schemas.microsoft.com/office/drawing/2014/main" id="{F360CF82-E10B-4FA6-92E0-255DDD8A65F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E36233A-3E6A-45EC-A7A9-23B9BE50C666}"/>
              </a:ext>
            </a:extLst>
          </p:cNvPr>
          <p:cNvSpPr>
            <a:spLocks noGrp="1"/>
          </p:cNvSpPr>
          <p:nvPr>
            <p:ph type="sldNum" sz="quarter" idx="12"/>
          </p:nvPr>
        </p:nvSpPr>
        <p:spPr/>
        <p:txBody>
          <a:bodyPr/>
          <a:lstStyle/>
          <a:p>
            <a:fld id="{1993C034-2F3B-4D59-8634-95B80CF73E93}" type="slidenum">
              <a:rPr lang="en-US" smtClean="0"/>
              <a:t>‹#›</a:t>
            </a:fld>
            <a:endParaRPr lang="en-US"/>
          </a:p>
        </p:txBody>
      </p:sp>
    </p:spTree>
    <p:extLst>
      <p:ext uri="{BB962C8B-B14F-4D97-AF65-F5344CB8AC3E}">
        <p14:creationId xmlns:p14="http://schemas.microsoft.com/office/powerpoint/2010/main" val="698110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88D98-A92E-4376-B1BF-708EC7FFB16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724C78C-3A76-4D38-AD5E-6D8A8C0CF229}"/>
              </a:ext>
            </a:extLst>
          </p:cNvPr>
          <p:cNvSpPr>
            <a:spLocks noGrp="1"/>
          </p:cNvSpPr>
          <p:nvPr>
            <p:ph type="dt" sz="half" idx="10"/>
          </p:nvPr>
        </p:nvSpPr>
        <p:spPr/>
        <p:txBody>
          <a:bodyPr/>
          <a:lstStyle/>
          <a:p>
            <a:fld id="{1A2E0544-F0D8-4B91-A6AB-575642A48F78}" type="datetimeFigureOut">
              <a:rPr lang="en-US" smtClean="0"/>
              <a:t>3/27/2023</a:t>
            </a:fld>
            <a:endParaRPr lang="en-US"/>
          </a:p>
        </p:txBody>
      </p:sp>
      <p:sp>
        <p:nvSpPr>
          <p:cNvPr id="4" name="Footer Placeholder 3">
            <a:extLst>
              <a:ext uri="{FF2B5EF4-FFF2-40B4-BE49-F238E27FC236}">
                <a16:creationId xmlns:a16="http://schemas.microsoft.com/office/drawing/2014/main" id="{4F78A42C-BDFA-470F-8D28-CDDC9AF2049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392F038-F3DB-405B-BF63-FF392B2D16BC}"/>
              </a:ext>
            </a:extLst>
          </p:cNvPr>
          <p:cNvSpPr>
            <a:spLocks noGrp="1"/>
          </p:cNvSpPr>
          <p:nvPr>
            <p:ph type="sldNum" sz="quarter" idx="12"/>
          </p:nvPr>
        </p:nvSpPr>
        <p:spPr/>
        <p:txBody>
          <a:bodyPr/>
          <a:lstStyle/>
          <a:p>
            <a:fld id="{1993C034-2F3B-4D59-8634-95B80CF73E93}" type="slidenum">
              <a:rPr lang="en-US" smtClean="0"/>
              <a:t>‹#›</a:t>
            </a:fld>
            <a:endParaRPr lang="en-US"/>
          </a:p>
        </p:txBody>
      </p:sp>
    </p:spTree>
    <p:extLst>
      <p:ext uri="{BB962C8B-B14F-4D97-AF65-F5344CB8AC3E}">
        <p14:creationId xmlns:p14="http://schemas.microsoft.com/office/powerpoint/2010/main" val="28586349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0E70505-B466-4421-B18D-F8BFA1ADC4ED}"/>
              </a:ext>
            </a:extLst>
          </p:cNvPr>
          <p:cNvSpPr>
            <a:spLocks noGrp="1"/>
          </p:cNvSpPr>
          <p:nvPr>
            <p:ph type="dt" sz="half" idx="10"/>
          </p:nvPr>
        </p:nvSpPr>
        <p:spPr/>
        <p:txBody>
          <a:bodyPr/>
          <a:lstStyle/>
          <a:p>
            <a:fld id="{1A2E0544-F0D8-4B91-A6AB-575642A48F78}" type="datetimeFigureOut">
              <a:rPr lang="en-US" smtClean="0"/>
              <a:t>3/27/2023</a:t>
            </a:fld>
            <a:endParaRPr lang="en-US"/>
          </a:p>
        </p:txBody>
      </p:sp>
      <p:sp>
        <p:nvSpPr>
          <p:cNvPr id="3" name="Footer Placeholder 2">
            <a:extLst>
              <a:ext uri="{FF2B5EF4-FFF2-40B4-BE49-F238E27FC236}">
                <a16:creationId xmlns:a16="http://schemas.microsoft.com/office/drawing/2014/main" id="{96E4DB82-489B-4A9F-B329-DEC2227C4FD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93AA0A-A063-4C3D-8A3E-DC82D6EE7E13}"/>
              </a:ext>
            </a:extLst>
          </p:cNvPr>
          <p:cNvSpPr>
            <a:spLocks noGrp="1"/>
          </p:cNvSpPr>
          <p:nvPr>
            <p:ph type="sldNum" sz="quarter" idx="12"/>
          </p:nvPr>
        </p:nvSpPr>
        <p:spPr/>
        <p:txBody>
          <a:bodyPr/>
          <a:lstStyle/>
          <a:p>
            <a:fld id="{1993C034-2F3B-4D59-8634-95B80CF73E93}" type="slidenum">
              <a:rPr lang="en-US" smtClean="0"/>
              <a:t>‹#›</a:t>
            </a:fld>
            <a:endParaRPr lang="en-US"/>
          </a:p>
        </p:txBody>
      </p:sp>
    </p:spTree>
    <p:extLst>
      <p:ext uri="{BB962C8B-B14F-4D97-AF65-F5344CB8AC3E}">
        <p14:creationId xmlns:p14="http://schemas.microsoft.com/office/powerpoint/2010/main" val="9221446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58C7B-AE1F-4B64-8A0C-CEA6894A44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052CCB1-7313-4792-8B3D-472B1B89CC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144BEDC-C70D-4351-9665-D705C3DEC2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A73AA9-49B1-496F-9EAD-808C6A2C948E}"/>
              </a:ext>
            </a:extLst>
          </p:cNvPr>
          <p:cNvSpPr>
            <a:spLocks noGrp="1"/>
          </p:cNvSpPr>
          <p:nvPr>
            <p:ph type="dt" sz="half" idx="10"/>
          </p:nvPr>
        </p:nvSpPr>
        <p:spPr/>
        <p:txBody>
          <a:bodyPr/>
          <a:lstStyle/>
          <a:p>
            <a:fld id="{1A2E0544-F0D8-4B91-A6AB-575642A48F78}" type="datetimeFigureOut">
              <a:rPr lang="en-US" smtClean="0"/>
              <a:t>3/27/2023</a:t>
            </a:fld>
            <a:endParaRPr lang="en-US"/>
          </a:p>
        </p:txBody>
      </p:sp>
      <p:sp>
        <p:nvSpPr>
          <p:cNvPr id="6" name="Footer Placeholder 5">
            <a:extLst>
              <a:ext uri="{FF2B5EF4-FFF2-40B4-BE49-F238E27FC236}">
                <a16:creationId xmlns:a16="http://schemas.microsoft.com/office/drawing/2014/main" id="{B22501B9-05D1-4495-9B20-ABB7285043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C45384-F0AB-4738-A78C-ECDC994A5CDC}"/>
              </a:ext>
            </a:extLst>
          </p:cNvPr>
          <p:cNvSpPr>
            <a:spLocks noGrp="1"/>
          </p:cNvSpPr>
          <p:nvPr>
            <p:ph type="sldNum" sz="quarter" idx="12"/>
          </p:nvPr>
        </p:nvSpPr>
        <p:spPr/>
        <p:txBody>
          <a:bodyPr/>
          <a:lstStyle/>
          <a:p>
            <a:fld id="{1993C034-2F3B-4D59-8634-95B80CF73E93}" type="slidenum">
              <a:rPr lang="en-US" smtClean="0"/>
              <a:t>‹#›</a:t>
            </a:fld>
            <a:endParaRPr lang="en-US"/>
          </a:p>
        </p:txBody>
      </p:sp>
    </p:spTree>
    <p:extLst>
      <p:ext uri="{BB962C8B-B14F-4D97-AF65-F5344CB8AC3E}">
        <p14:creationId xmlns:p14="http://schemas.microsoft.com/office/powerpoint/2010/main" val="2177032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07BBA-E001-4827-92FB-E5FD84B071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9A556A-84B0-4F44-A907-90B87858B4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7D02A71-7462-49CA-B885-4600920585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33A954-9A86-48E8-8F30-11F30C776A6F}"/>
              </a:ext>
            </a:extLst>
          </p:cNvPr>
          <p:cNvSpPr>
            <a:spLocks noGrp="1"/>
          </p:cNvSpPr>
          <p:nvPr>
            <p:ph type="dt" sz="half" idx="10"/>
          </p:nvPr>
        </p:nvSpPr>
        <p:spPr/>
        <p:txBody>
          <a:bodyPr/>
          <a:lstStyle/>
          <a:p>
            <a:fld id="{1A2E0544-F0D8-4B91-A6AB-575642A48F78}" type="datetimeFigureOut">
              <a:rPr lang="en-US" smtClean="0"/>
              <a:t>3/27/2023</a:t>
            </a:fld>
            <a:endParaRPr lang="en-US"/>
          </a:p>
        </p:txBody>
      </p:sp>
      <p:sp>
        <p:nvSpPr>
          <p:cNvPr id="6" name="Footer Placeholder 5">
            <a:extLst>
              <a:ext uri="{FF2B5EF4-FFF2-40B4-BE49-F238E27FC236}">
                <a16:creationId xmlns:a16="http://schemas.microsoft.com/office/drawing/2014/main" id="{E7035998-A0A6-4E49-B997-4A431A99E4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C322EE-E827-4490-A453-21CC3114ED9E}"/>
              </a:ext>
            </a:extLst>
          </p:cNvPr>
          <p:cNvSpPr>
            <a:spLocks noGrp="1"/>
          </p:cNvSpPr>
          <p:nvPr>
            <p:ph type="sldNum" sz="quarter" idx="12"/>
          </p:nvPr>
        </p:nvSpPr>
        <p:spPr/>
        <p:txBody>
          <a:bodyPr/>
          <a:lstStyle/>
          <a:p>
            <a:fld id="{1993C034-2F3B-4D59-8634-95B80CF73E93}" type="slidenum">
              <a:rPr lang="en-US" smtClean="0"/>
              <a:t>‹#›</a:t>
            </a:fld>
            <a:endParaRPr lang="en-US"/>
          </a:p>
        </p:txBody>
      </p:sp>
    </p:spTree>
    <p:extLst>
      <p:ext uri="{BB962C8B-B14F-4D97-AF65-F5344CB8AC3E}">
        <p14:creationId xmlns:p14="http://schemas.microsoft.com/office/powerpoint/2010/main" val="14314027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BB1EB-C368-4DC3-A7F9-BCDEB2A15C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60E6921-A345-44B0-8B51-F8ADBC34AF4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001A50-219F-4E21-B55A-B7484E1A6314}"/>
              </a:ext>
            </a:extLst>
          </p:cNvPr>
          <p:cNvSpPr>
            <a:spLocks noGrp="1"/>
          </p:cNvSpPr>
          <p:nvPr>
            <p:ph type="dt" sz="half" idx="10"/>
          </p:nvPr>
        </p:nvSpPr>
        <p:spPr/>
        <p:txBody>
          <a:bodyPr/>
          <a:lstStyle/>
          <a:p>
            <a:fld id="{1A2E0544-F0D8-4B91-A6AB-575642A48F78}" type="datetimeFigureOut">
              <a:rPr lang="en-US" smtClean="0"/>
              <a:t>3/27/2023</a:t>
            </a:fld>
            <a:endParaRPr lang="en-US"/>
          </a:p>
        </p:txBody>
      </p:sp>
      <p:sp>
        <p:nvSpPr>
          <p:cNvPr id="5" name="Footer Placeholder 4">
            <a:extLst>
              <a:ext uri="{FF2B5EF4-FFF2-40B4-BE49-F238E27FC236}">
                <a16:creationId xmlns:a16="http://schemas.microsoft.com/office/drawing/2014/main" id="{AB7D7459-067D-4BEA-9109-90EDEF7ED9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8DFAC7-3A0C-48F6-8E82-CD86B22B8F49}"/>
              </a:ext>
            </a:extLst>
          </p:cNvPr>
          <p:cNvSpPr>
            <a:spLocks noGrp="1"/>
          </p:cNvSpPr>
          <p:nvPr>
            <p:ph type="sldNum" sz="quarter" idx="12"/>
          </p:nvPr>
        </p:nvSpPr>
        <p:spPr/>
        <p:txBody>
          <a:bodyPr/>
          <a:lstStyle/>
          <a:p>
            <a:fld id="{1993C034-2F3B-4D59-8634-95B80CF73E93}" type="slidenum">
              <a:rPr lang="en-US" smtClean="0"/>
              <a:t>‹#›</a:t>
            </a:fld>
            <a:endParaRPr lang="en-US"/>
          </a:p>
        </p:txBody>
      </p:sp>
    </p:spTree>
    <p:extLst>
      <p:ext uri="{BB962C8B-B14F-4D97-AF65-F5344CB8AC3E}">
        <p14:creationId xmlns:p14="http://schemas.microsoft.com/office/powerpoint/2010/main" val="1106435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BA2BB2-53EE-448B-BFF4-798F48C87EB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2ADF55B-8F6B-4996-BFD2-16FE30C9518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936FC1-FD57-4FDD-82B1-29ECEE8241B9}"/>
              </a:ext>
            </a:extLst>
          </p:cNvPr>
          <p:cNvSpPr>
            <a:spLocks noGrp="1"/>
          </p:cNvSpPr>
          <p:nvPr>
            <p:ph type="dt" sz="half" idx="10"/>
          </p:nvPr>
        </p:nvSpPr>
        <p:spPr/>
        <p:txBody>
          <a:bodyPr/>
          <a:lstStyle/>
          <a:p>
            <a:fld id="{1A2E0544-F0D8-4B91-A6AB-575642A48F78}" type="datetimeFigureOut">
              <a:rPr lang="en-US" smtClean="0"/>
              <a:t>3/27/2023</a:t>
            </a:fld>
            <a:endParaRPr lang="en-US"/>
          </a:p>
        </p:txBody>
      </p:sp>
      <p:sp>
        <p:nvSpPr>
          <p:cNvPr id="5" name="Footer Placeholder 4">
            <a:extLst>
              <a:ext uri="{FF2B5EF4-FFF2-40B4-BE49-F238E27FC236}">
                <a16:creationId xmlns:a16="http://schemas.microsoft.com/office/drawing/2014/main" id="{B0442C67-3DDA-43AB-A0CC-D69E2B6549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797AA1-4BDA-4E5B-8853-D5A80EF4F323}"/>
              </a:ext>
            </a:extLst>
          </p:cNvPr>
          <p:cNvSpPr>
            <a:spLocks noGrp="1"/>
          </p:cNvSpPr>
          <p:nvPr>
            <p:ph type="sldNum" sz="quarter" idx="12"/>
          </p:nvPr>
        </p:nvSpPr>
        <p:spPr/>
        <p:txBody>
          <a:bodyPr/>
          <a:lstStyle/>
          <a:p>
            <a:fld id="{1993C034-2F3B-4D59-8634-95B80CF73E93}" type="slidenum">
              <a:rPr lang="en-US" smtClean="0"/>
              <a:t>‹#›</a:t>
            </a:fld>
            <a:endParaRPr lang="en-US"/>
          </a:p>
        </p:txBody>
      </p:sp>
    </p:spTree>
    <p:extLst>
      <p:ext uri="{BB962C8B-B14F-4D97-AF65-F5344CB8AC3E}">
        <p14:creationId xmlns:p14="http://schemas.microsoft.com/office/powerpoint/2010/main" val="42636460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866B6ED-3FF7-489A-88DC-6E2195C02C5A}" type="datetimeFigureOut">
              <a:rPr lang="en-AE" smtClean="0"/>
              <a:t>27/03/2023</a:t>
            </a:fld>
            <a:endParaRPr lang="en-AE"/>
          </a:p>
        </p:txBody>
      </p:sp>
      <p:sp>
        <p:nvSpPr>
          <p:cNvPr id="5" name="Footer Placeholder 4"/>
          <p:cNvSpPr>
            <a:spLocks noGrp="1"/>
          </p:cNvSpPr>
          <p:nvPr>
            <p:ph type="ftr" sz="quarter" idx="11"/>
          </p:nvPr>
        </p:nvSpPr>
        <p:spPr/>
        <p:txBody>
          <a:bodyPr/>
          <a:lstStyle/>
          <a:p>
            <a:endParaRPr lang="en-AE"/>
          </a:p>
        </p:txBody>
      </p:sp>
      <p:sp>
        <p:nvSpPr>
          <p:cNvPr id="6" name="Slide Number Placeholder 5"/>
          <p:cNvSpPr>
            <a:spLocks noGrp="1"/>
          </p:cNvSpPr>
          <p:nvPr>
            <p:ph type="sldNum" sz="quarter" idx="12"/>
          </p:nvPr>
        </p:nvSpPr>
        <p:spPr/>
        <p:txBody>
          <a:bodyPr/>
          <a:lstStyle/>
          <a:p>
            <a:fld id="{A1B30CE2-9A9B-4D2C-991A-9F00CBC76627}" type="slidenum">
              <a:rPr lang="en-AE" smtClean="0"/>
              <a:t>‹#›</a:t>
            </a:fld>
            <a:endParaRPr lang="en-AE"/>
          </a:p>
        </p:txBody>
      </p:sp>
      <p:sp>
        <p:nvSpPr>
          <p:cNvPr id="7" name="Rectangle 6">
            <a:extLst>
              <a:ext uri="{FF2B5EF4-FFF2-40B4-BE49-F238E27FC236}">
                <a16:creationId xmlns:a16="http://schemas.microsoft.com/office/drawing/2014/main" id="{60D1B25D-50FE-D306-FFA9-E1D273CDBCDB}"/>
              </a:ext>
            </a:extLst>
          </p:cNvPr>
          <p:cNvSpPr/>
          <p:nvPr userDrawn="1"/>
        </p:nvSpPr>
        <p:spPr bwMode="blackWhite">
          <a:xfrm>
            <a:off x="254952" y="262787"/>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8" name="Picture 7">
            <a:extLst>
              <a:ext uri="{FF2B5EF4-FFF2-40B4-BE49-F238E27FC236}">
                <a16:creationId xmlns:a16="http://schemas.microsoft.com/office/drawing/2014/main" id="{6C74D2EB-CAA3-F980-870C-17FDD2C1B94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48" r="13926" b="71478"/>
          <a:stretch/>
        </p:blipFill>
        <p:spPr>
          <a:xfrm>
            <a:off x="342902" y="4546601"/>
            <a:ext cx="11715751" cy="2025650"/>
          </a:xfrm>
          <a:prstGeom prst="rect">
            <a:avLst/>
          </a:prstGeom>
        </p:spPr>
      </p:pic>
    </p:spTree>
    <p:extLst>
      <p:ext uri="{BB962C8B-B14F-4D97-AF65-F5344CB8AC3E}">
        <p14:creationId xmlns:p14="http://schemas.microsoft.com/office/powerpoint/2010/main" val="7542445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866B6ED-3FF7-489A-88DC-6E2195C02C5A}" type="datetimeFigureOut">
              <a:rPr lang="en-AE" smtClean="0"/>
              <a:t>27/03/2023</a:t>
            </a:fld>
            <a:endParaRPr lang="en-AE"/>
          </a:p>
        </p:txBody>
      </p:sp>
      <p:sp>
        <p:nvSpPr>
          <p:cNvPr id="5" name="Footer Placeholder 4"/>
          <p:cNvSpPr>
            <a:spLocks noGrp="1"/>
          </p:cNvSpPr>
          <p:nvPr>
            <p:ph type="ftr" sz="quarter" idx="11"/>
          </p:nvPr>
        </p:nvSpPr>
        <p:spPr/>
        <p:txBody>
          <a:bodyPr/>
          <a:lstStyle/>
          <a:p>
            <a:endParaRPr lang="en-AE"/>
          </a:p>
        </p:txBody>
      </p:sp>
      <p:sp>
        <p:nvSpPr>
          <p:cNvPr id="6" name="Slide Number Placeholder 5"/>
          <p:cNvSpPr>
            <a:spLocks noGrp="1"/>
          </p:cNvSpPr>
          <p:nvPr>
            <p:ph type="sldNum" sz="quarter" idx="12"/>
          </p:nvPr>
        </p:nvSpPr>
        <p:spPr/>
        <p:txBody>
          <a:bodyPr/>
          <a:lstStyle/>
          <a:p>
            <a:fld id="{A1B30CE2-9A9B-4D2C-991A-9F00CBC76627}" type="slidenum">
              <a:rPr lang="en-AE" smtClean="0"/>
              <a:t>‹#›</a:t>
            </a:fld>
            <a:endParaRPr lang="en-AE"/>
          </a:p>
        </p:txBody>
      </p:sp>
      <p:pic>
        <p:nvPicPr>
          <p:cNvPr id="7" name="Picture 6">
            <a:extLst>
              <a:ext uri="{FF2B5EF4-FFF2-40B4-BE49-F238E27FC236}">
                <a16:creationId xmlns:a16="http://schemas.microsoft.com/office/drawing/2014/main" id="{A135422E-9171-0DB5-8457-B1ABB623521E}"/>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Tree>
    <p:extLst>
      <p:ext uri="{BB962C8B-B14F-4D97-AF65-F5344CB8AC3E}">
        <p14:creationId xmlns:p14="http://schemas.microsoft.com/office/powerpoint/2010/main" val="34345323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44E560-77BF-4D1A-B6E7-CD55CE12B1B8}" type="datetimeFigureOut">
              <a:rPr lang="en-US" smtClean="0"/>
              <a:t>3/27/2023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59379A-16E2-4C4A-96D0-A52C442257E7}" type="slidenum">
              <a:rPr lang="en-US" smtClean="0"/>
              <a:t>‹#›</a:t>
            </a:fld>
            <a:endParaRPr lang="en-US"/>
          </a:p>
        </p:txBody>
      </p:sp>
    </p:spTree>
    <p:extLst>
      <p:ext uri="{BB962C8B-B14F-4D97-AF65-F5344CB8AC3E}">
        <p14:creationId xmlns:p14="http://schemas.microsoft.com/office/powerpoint/2010/main" val="42137406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744E560-77BF-4D1A-B6E7-CD55CE12B1B8}" type="datetimeFigureOut">
              <a:rPr lang="en-US" smtClean="0"/>
              <a:t>3/27/2023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59379A-16E2-4C4A-96D0-A52C442257E7}" type="slidenum">
              <a:rPr lang="en-US" smtClean="0"/>
              <a:t>‹#›</a:t>
            </a:fld>
            <a:endParaRPr lang="en-US"/>
          </a:p>
        </p:txBody>
      </p:sp>
    </p:spTree>
    <p:extLst>
      <p:ext uri="{BB962C8B-B14F-4D97-AF65-F5344CB8AC3E}">
        <p14:creationId xmlns:p14="http://schemas.microsoft.com/office/powerpoint/2010/main" val="40772273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744E560-77BF-4D1A-B6E7-CD55CE12B1B8}" type="datetimeFigureOut">
              <a:rPr lang="en-US" smtClean="0"/>
              <a:t>3/27/2023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59379A-16E2-4C4A-96D0-A52C442257E7}" type="slidenum">
              <a:rPr lang="en-US" smtClean="0"/>
              <a:t>‹#›</a:t>
            </a:fld>
            <a:endParaRPr lang="en-US"/>
          </a:p>
        </p:txBody>
      </p:sp>
    </p:spTree>
    <p:extLst>
      <p:ext uri="{BB962C8B-B14F-4D97-AF65-F5344CB8AC3E}">
        <p14:creationId xmlns:p14="http://schemas.microsoft.com/office/powerpoint/2010/main" val="41575476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866B6ED-3FF7-489A-88DC-6E2195C02C5A}" type="datetimeFigureOut">
              <a:rPr lang="en-AE" smtClean="0"/>
              <a:t>27/03/2023</a:t>
            </a:fld>
            <a:endParaRPr lang="en-AE"/>
          </a:p>
        </p:txBody>
      </p:sp>
      <p:sp>
        <p:nvSpPr>
          <p:cNvPr id="4" name="Footer Placeholder 3"/>
          <p:cNvSpPr>
            <a:spLocks noGrp="1"/>
          </p:cNvSpPr>
          <p:nvPr>
            <p:ph type="ftr" sz="quarter" idx="11"/>
          </p:nvPr>
        </p:nvSpPr>
        <p:spPr/>
        <p:txBody>
          <a:bodyPr/>
          <a:lstStyle/>
          <a:p>
            <a:endParaRPr lang="en-AE"/>
          </a:p>
        </p:txBody>
      </p:sp>
      <p:sp>
        <p:nvSpPr>
          <p:cNvPr id="5" name="Slide Number Placeholder 4"/>
          <p:cNvSpPr>
            <a:spLocks noGrp="1"/>
          </p:cNvSpPr>
          <p:nvPr>
            <p:ph type="sldNum" sz="quarter" idx="12"/>
          </p:nvPr>
        </p:nvSpPr>
        <p:spPr/>
        <p:txBody>
          <a:bodyPr/>
          <a:lstStyle/>
          <a:p>
            <a:fld id="{A1B30CE2-9A9B-4D2C-991A-9F00CBC76627}" type="slidenum">
              <a:rPr lang="en-AE" smtClean="0"/>
              <a:t>‹#›</a:t>
            </a:fld>
            <a:endParaRPr lang="en-AE"/>
          </a:p>
        </p:txBody>
      </p:sp>
      <p:sp>
        <p:nvSpPr>
          <p:cNvPr id="6" name="Rectangle 5">
            <a:extLst>
              <a:ext uri="{FF2B5EF4-FFF2-40B4-BE49-F238E27FC236}">
                <a16:creationId xmlns:a16="http://schemas.microsoft.com/office/drawing/2014/main" id="{4CEEF693-AFF5-CB90-EB5E-3B1705C75931}"/>
              </a:ext>
            </a:extLst>
          </p:cNvPr>
          <p:cNvSpPr/>
          <p:nvPr userDrawn="1"/>
        </p:nvSpPr>
        <p:spPr>
          <a:xfrm>
            <a:off x="256034" y="265177"/>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350" dirty="0"/>
          </a:p>
        </p:txBody>
      </p:sp>
      <p:cxnSp>
        <p:nvCxnSpPr>
          <p:cNvPr id="7" name="Straight Connector 6">
            <a:extLst>
              <a:ext uri="{FF2B5EF4-FFF2-40B4-BE49-F238E27FC236}">
                <a16:creationId xmlns:a16="http://schemas.microsoft.com/office/drawing/2014/main" id="{A4252EBA-209B-CD10-3462-A7EE87A16DA6}"/>
              </a:ext>
            </a:extLst>
          </p:cNvPr>
          <p:cNvCxnSpPr/>
          <p:nvPr userDrawn="1"/>
        </p:nvCxnSpPr>
        <p:spPr>
          <a:xfrm>
            <a:off x="604435"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49617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866B6ED-3FF7-489A-88DC-6E2195C02C5A}" type="datetimeFigureOut">
              <a:rPr lang="en-AE" smtClean="0"/>
              <a:t>27/03/2023</a:t>
            </a:fld>
            <a:endParaRPr lang="en-AE"/>
          </a:p>
        </p:txBody>
      </p:sp>
      <p:sp>
        <p:nvSpPr>
          <p:cNvPr id="3" name="Footer Placeholder 2"/>
          <p:cNvSpPr>
            <a:spLocks noGrp="1"/>
          </p:cNvSpPr>
          <p:nvPr>
            <p:ph type="ftr" sz="quarter" idx="11"/>
          </p:nvPr>
        </p:nvSpPr>
        <p:spPr/>
        <p:txBody>
          <a:bodyPr/>
          <a:lstStyle/>
          <a:p>
            <a:endParaRPr lang="en-AE"/>
          </a:p>
        </p:txBody>
      </p:sp>
      <p:sp>
        <p:nvSpPr>
          <p:cNvPr id="4" name="Slide Number Placeholder 3"/>
          <p:cNvSpPr>
            <a:spLocks noGrp="1"/>
          </p:cNvSpPr>
          <p:nvPr>
            <p:ph type="sldNum" sz="quarter" idx="12"/>
          </p:nvPr>
        </p:nvSpPr>
        <p:spPr/>
        <p:txBody>
          <a:bodyPr/>
          <a:lstStyle/>
          <a:p>
            <a:fld id="{A1B30CE2-9A9B-4D2C-991A-9F00CBC76627}" type="slidenum">
              <a:rPr lang="en-AE" smtClean="0"/>
              <a:t>‹#›</a:t>
            </a:fld>
            <a:endParaRPr lang="en-AE"/>
          </a:p>
        </p:txBody>
      </p:sp>
    </p:spTree>
    <p:extLst>
      <p:ext uri="{BB962C8B-B14F-4D97-AF65-F5344CB8AC3E}">
        <p14:creationId xmlns:p14="http://schemas.microsoft.com/office/powerpoint/2010/main" val="25742104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744E560-77BF-4D1A-B6E7-CD55CE12B1B8}" type="datetimeFigureOut">
              <a:rPr lang="en-US" smtClean="0"/>
              <a:t>3/27/2023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59379A-16E2-4C4A-96D0-A52C442257E7}" type="slidenum">
              <a:rPr lang="en-US" smtClean="0"/>
              <a:t>‹#›</a:t>
            </a:fld>
            <a:endParaRPr lang="en-US"/>
          </a:p>
        </p:txBody>
      </p:sp>
    </p:spTree>
    <p:extLst>
      <p:ext uri="{BB962C8B-B14F-4D97-AF65-F5344CB8AC3E}">
        <p14:creationId xmlns:p14="http://schemas.microsoft.com/office/powerpoint/2010/main" val="33874350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744E560-77BF-4D1A-B6E7-CD55CE12B1B8}" type="datetimeFigureOut">
              <a:rPr lang="en-US" smtClean="0"/>
              <a:t>3/27/2023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59379A-16E2-4C4A-96D0-A52C442257E7}" type="slidenum">
              <a:rPr lang="en-US" smtClean="0"/>
              <a:t>‹#›</a:t>
            </a:fld>
            <a:endParaRPr lang="en-US"/>
          </a:p>
        </p:txBody>
      </p:sp>
    </p:spTree>
    <p:extLst>
      <p:ext uri="{BB962C8B-B14F-4D97-AF65-F5344CB8AC3E}">
        <p14:creationId xmlns:p14="http://schemas.microsoft.com/office/powerpoint/2010/main" val="26483455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44E560-77BF-4D1A-B6E7-CD55CE12B1B8}" type="datetimeFigureOut">
              <a:rPr lang="en-US" smtClean="0"/>
              <a:t>3/27/2023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59379A-16E2-4C4A-96D0-A52C442257E7}" type="slidenum">
              <a:rPr lang="en-US" smtClean="0"/>
              <a:t>‹#›</a:t>
            </a:fld>
            <a:endParaRPr lang="en-US"/>
          </a:p>
        </p:txBody>
      </p:sp>
    </p:spTree>
    <p:extLst>
      <p:ext uri="{BB962C8B-B14F-4D97-AF65-F5344CB8AC3E}">
        <p14:creationId xmlns:p14="http://schemas.microsoft.com/office/powerpoint/2010/main" val="26100058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44E560-77BF-4D1A-B6E7-CD55CE12B1B8}" type="datetimeFigureOut">
              <a:rPr lang="en-US" smtClean="0"/>
              <a:t>3/27/2023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59379A-16E2-4C4A-96D0-A52C442257E7}" type="slidenum">
              <a:rPr lang="en-US" smtClean="0"/>
              <a:t>‹#›</a:t>
            </a:fld>
            <a:endParaRPr lang="en-US"/>
          </a:p>
        </p:txBody>
      </p:sp>
    </p:spTree>
    <p:extLst>
      <p:ext uri="{BB962C8B-B14F-4D97-AF65-F5344CB8AC3E}">
        <p14:creationId xmlns:p14="http://schemas.microsoft.com/office/powerpoint/2010/main" val="27467368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900"/>
              </a:spcAft>
              <a:buSzPct val="25000"/>
              <a:buFont typeface="Segoe UI" panose="020B0502040204020203" pitchFamily="34" charset="0"/>
              <a:buChar char=" "/>
              <a:defRPr sz="900"/>
            </a:lvl1pPr>
            <a:lvl2pPr marL="301229" indent="5954">
              <a:spcBef>
                <a:spcPts val="450"/>
              </a:spcBef>
              <a:spcAft>
                <a:spcPts val="900"/>
              </a:spcAft>
              <a:buFont typeface="Segoe UI" panose="020B0502040204020203" pitchFamily="34" charset="0"/>
              <a:buChar char=" "/>
              <a:defRPr sz="900"/>
            </a:lvl2pPr>
            <a:lvl3pPr marL="857250" indent="-171450">
              <a:buFont typeface="Segoe UI" panose="020B0502040204020203" pitchFamily="34" charset="0"/>
              <a:buChar char=" "/>
              <a:defRPr/>
            </a:lvl3pPr>
            <a:lvl4pPr marL="1200150" indent="-171450">
              <a:buFont typeface="Segoe UI" panose="020B0502040204020203" pitchFamily="34" charset="0"/>
              <a:buChar char=" "/>
              <a:defRPr/>
            </a:lvl4pPr>
            <a:lvl5pPr marL="1543050" indent="-171450">
              <a:buFont typeface="Segoe UI" panose="020B0502040204020203" pitchFamily="34" charset="0"/>
              <a:buChar char=" "/>
              <a:defRPr/>
            </a:lvl5pPr>
          </a:lstStyle>
          <a:p>
            <a:pPr lvl="0"/>
            <a:r>
              <a:rPr lang="en-US"/>
              <a:t>Edit Master text styles</a:t>
            </a:r>
          </a:p>
          <a:p>
            <a:pPr lvl="1"/>
            <a:r>
              <a:rPr lang="en-US"/>
              <a:t>Second level</a:t>
            </a:r>
          </a:p>
        </p:txBody>
      </p:sp>
      <p:sp>
        <p:nvSpPr>
          <p:cNvPr id="9" name="Title 8">
            <a:extLst>
              <a:ext uri="{FF2B5EF4-FFF2-40B4-BE49-F238E27FC236}">
                <a16:creationId xmlns:a16="http://schemas.microsoft.com/office/drawing/2014/main" id="{FB8AB91F-D739-4DD5-859B-B16B125BECF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508603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900"/>
              </a:spcAft>
              <a:buSzPct val="25000"/>
              <a:buFont typeface="Segoe UI" panose="020B0502040204020203" pitchFamily="34" charset="0"/>
              <a:buChar char=" "/>
              <a:defRPr sz="900"/>
            </a:lvl1pPr>
            <a:lvl2pPr marL="301229" indent="5954">
              <a:spcBef>
                <a:spcPts val="450"/>
              </a:spcBef>
              <a:spcAft>
                <a:spcPts val="900"/>
              </a:spcAft>
              <a:buFont typeface="Segoe UI" panose="020B0502040204020203" pitchFamily="34" charset="0"/>
              <a:buChar char=" "/>
              <a:defRPr sz="900"/>
            </a:lvl2pPr>
            <a:lvl3pPr marL="857250" indent="-171450">
              <a:buFont typeface="Segoe UI" panose="020B0502040204020203" pitchFamily="34" charset="0"/>
              <a:buChar char=" "/>
              <a:defRPr/>
            </a:lvl3pPr>
            <a:lvl4pPr marL="1200150" indent="-171450">
              <a:buFont typeface="Segoe UI" panose="020B0502040204020203" pitchFamily="34" charset="0"/>
              <a:buChar char=" "/>
              <a:defRPr/>
            </a:lvl4pPr>
            <a:lvl5pPr marL="1543050" indent="-171450">
              <a:buFont typeface="Segoe UI" panose="020B0502040204020203" pitchFamily="34" charset="0"/>
              <a:buChar char=" "/>
              <a:defRPr/>
            </a:lvl5pPr>
          </a:lstStyle>
          <a:p>
            <a:pPr lvl="0"/>
            <a:r>
              <a:rPr lang="en-US"/>
              <a:t>Edit Master text styles</a:t>
            </a:r>
          </a:p>
          <a:p>
            <a:pPr lvl="1"/>
            <a:r>
              <a:rPr lang="en-US"/>
              <a:t>Second level</a:t>
            </a:r>
          </a:p>
        </p:txBody>
      </p:sp>
      <p:sp>
        <p:nvSpPr>
          <p:cNvPr id="4" name="Title 3">
            <a:extLst>
              <a:ext uri="{FF2B5EF4-FFF2-40B4-BE49-F238E27FC236}">
                <a16:creationId xmlns:a16="http://schemas.microsoft.com/office/drawing/2014/main" id="{0E770BB0-A521-41C6-A0AE-BEE679D2AD1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2940057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F89203F-46EF-44A2-956A-7FF6AF93BE7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8" name="Content Placeholder 2">
            <a:extLst>
              <a:ext uri="{FF2B5EF4-FFF2-40B4-BE49-F238E27FC236}">
                <a16:creationId xmlns:a16="http://schemas.microsoft.com/office/drawing/2014/main" id="{D1D47175-944E-463B-ABBB-06669A473913}"/>
              </a:ext>
            </a:extLst>
          </p:cNvPr>
          <p:cNvSpPr>
            <a:spLocks noGrp="1"/>
          </p:cNvSpPr>
          <p:nvPr>
            <p:ph idx="1"/>
          </p:nvPr>
        </p:nvSpPr>
        <p:spPr>
          <a:xfrm>
            <a:off x="1090864" y="1507068"/>
            <a:ext cx="3192379" cy="4669896"/>
          </a:xfrm>
        </p:spPr>
        <p:txBody>
          <a:bodyPr anchor="ctr"/>
          <a:lstStyle>
            <a:lvl1pPr marL="0" indent="0" algn="l">
              <a:lnSpc>
                <a:spcPct val="150000"/>
              </a:lnSpc>
              <a:spcAft>
                <a:spcPts val="900"/>
              </a:spcAft>
              <a:buSzPct val="25000"/>
              <a:buFont typeface="Segoe UI" panose="020B0502040204020203" pitchFamily="34" charset="0"/>
              <a:buChar char=" "/>
              <a:defRPr sz="900"/>
            </a:lvl1pPr>
            <a:lvl2pPr marL="301229" indent="5954" algn="l">
              <a:spcBef>
                <a:spcPts val="450"/>
              </a:spcBef>
              <a:spcAft>
                <a:spcPts val="900"/>
              </a:spcAft>
              <a:buFont typeface="Segoe UI" panose="020B0502040204020203" pitchFamily="34" charset="0"/>
              <a:buChar char=" "/>
              <a:defRPr sz="900"/>
            </a:lvl2pPr>
            <a:lvl3pPr marL="857250" indent="-171450">
              <a:buFont typeface="Segoe UI" panose="020B0502040204020203" pitchFamily="34" charset="0"/>
              <a:buChar char=" "/>
              <a:defRPr/>
            </a:lvl3pPr>
            <a:lvl4pPr marL="1200150" indent="-171450">
              <a:buFont typeface="Segoe UI" panose="020B0502040204020203" pitchFamily="34" charset="0"/>
              <a:buChar char=" "/>
              <a:defRPr/>
            </a:lvl4pPr>
            <a:lvl5pPr marL="1543050" indent="-171450">
              <a:buFont typeface="Segoe UI" panose="020B0502040204020203" pitchFamily="34" charset="0"/>
              <a:buChar char=" "/>
              <a:defRPr/>
            </a:lvl5pPr>
          </a:lstStyle>
          <a:p>
            <a:pPr lvl="0"/>
            <a:r>
              <a:rPr lang="en-US"/>
              <a:t>Edit Master text styles</a:t>
            </a:r>
          </a:p>
          <a:p>
            <a:pPr lvl="1"/>
            <a:r>
              <a:rPr lang="en-US"/>
              <a:t>Second level</a:t>
            </a:r>
          </a:p>
        </p:txBody>
      </p:sp>
      <p:sp>
        <p:nvSpPr>
          <p:cNvPr id="9" name="Content Placeholder 2">
            <a:extLst>
              <a:ext uri="{FF2B5EF4-FFF2-40B4-BE49-F238E27FC236}">
                <a16:creationId xmlns:a16="http://schemas.microsoft.com/office/drawing/2014/main" id="{A40725B0-0DB7-41CE-9C4C-39E8D0F6325E}"/>
              </a:ext>
            </a:extLst>
          </p:cNvPr>
          <p:cNvSpPr>
            <a:spLocks noGrp="1"/>
          </p:cNvSpPr>
          <p:nvPr>
            <p:ph idx="13"/>
          </p:nvPr>
        </p:nvSpPr>
        <p:spPr>
          <a:xfrm>
            <a:off x="4395540" y="1507068"/>
            <a:ext cx="7143905" cy="4669896"/>
          </a:xfrm>
        </p:spPr>
        <p:txBody>
          <a:bodyPr anchor="ctr"/>
          <a:lstStyle>
            <a:lvl1pPr marL="0" indent="0">
              <a:spcAft>
                <a:spcPts val="900"/>
              </a:spcAft>
              <a:buSzPct val="25000"/>
              <a:buFont typeface="Segoe UI" panose="020B0502040204020203" pitchFamily="34" charset="0"/>
              <a:buChar char=" "/>
              <a:defRPr sz="900"/>
            </a:lvl1pPr>
            <a:lvl2pPr marL="301229" indent="5954">
              <a:spcBef>
                <a:spcPts val="450"/>
              </a:spcBef>
              <a:spcAft>
                <a:spcPts val="900"/>
              </a:spcAft>
              <a:buFont typeface="Segoe UI" panose="020B0502040204020203" pitchFamily="34" charset="0"/>
              <a:buChar char=" "/>
              <a:defRPr sz="900"/>
            </a:lvl2pPr>
            <a:lvl3pPr marL="857250" indent="-171450">
              <a:buFont typeface="Segoe UI" panose="020B0502040204020203" pitchFamily="34" charset="0"/>
              <a:buChar char=" "/>
              <a:defRPr/>
            </a:lvl3pPr>
            <a:lvl4pPr marL="1200150" indent="-171450">
              <a:buFont typeface="Segoe UI" panose="020B0502040204020203" pitchFamily="34" charset="0"/>
              <a:buChar char=" "/>
              <a:defRPr/>
            </a:lvl4pPr>
            <a:lvl5pPr marL="1543050" indent="-171450">
              <a:buFont typeface="Segoe UI" panose="020B0502040204020203" pitchFamily="34" charset="0"/>
              <a:buChar char=" "/>
              <a:defRPr/>
            </a:lvl5pPr>
          </a:lstStyle>
          <a:p>
            <a:pPr lvl="0"/>
            <a:r>
              <a:rPr lang="en-US"/>
              <a:t>Edit Master text styles</a:t>
            </a:r>
          </a:p>
          <a:p>
            <a:pPr lvl="1"/>
            <a:r>
              <a:rPr lang="en-US"/>
              <a:t>Second level</a:t>
            </a:r>
          </a:p>
        </p:txBody>
      </p:sp>
      <p:sp>
        <p:nvSpPr>
          <p:cNvPr id="11" name="Title 10">
            <a:extLst>
              <a:ext uri="{FF2B5EF4-FFF2-40B4-BE49-F238E27FC236}">
                <a16:creationId xmlns:a16="http://schemas.microsoft.com/office/drawing/2014/main" id="{F9E63483-559C-4A6F-B04F-D6C56A3CC09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5194560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9" name="Rectangle 8"/>
          <p:cNvSpPr/>
          <p:nvPr userDrawn="1"/>
        </p:nvSpPr>
        <p:spPr>
          <a:xfrm>
            <a:off x="254954" y="262787"/>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Rectangle 9"/>
          <p:cNvSpPr/>
          <p:nvPr userDrawn="1"/>
        </p:nvSpPr>
        <p:spPr bwMode="blackWhite">
          <a:xfrm>
            <a:off x="254952" y="262788"/>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p:cNvSpPr>
            <a:spLocks noGrp="1"/>
          </p:cNvSpPr>
          <p:nvPr>
            <p:ph type="title"/>
          </p:nvPr>
        </p:nvSpPr>
        <p:spPr>
          <a:xfrm>
            <a:off x="521208" y="1536192"/>
            <a:ext cx="6876288" cy="640080"/>
          </a:xfrm>
        </p:spPr>
        <p:txBody>
          <a:bodyPr>
            <a:normAutofit/>
          </a:bodyPr>
          <a:lstStyle>
            <a:lvl1pPr>
              <a:defRPr sz="27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1800" smtClean="0">
                <a:solidFill>
                  <a:schemeClr val="tx1">
                    <a:lumMod val="75000"/>
                    <a:lumOff val="25000"/>
                  </a:schemeClr>
                </a:solidFill>
                <a:latin typeface="+mj-lt"/>
              </a:defRPr>
            </a:lvl1pPr>
            <a:lvl2pPr>
              <a:defRPr lang="en-US" sz="900" dirty="0" smtClean="0">
                <a:solidFill>
                  <a:schemeClr val="tx1">
                    <a:lumMod val="75000"/>
                    <a:lumOff val="25000"/>
                  </a:schemeClr>
                </a:solidFill>
              </a:defRPr>
            </a:lvl2pPr>
            <a:lvl3pPr>
              <a:defRPr lang="en-US" sz="900" dirty="0" smtClean="0">
                <a:solidFill>
                  <a:schemeClr val="tx1">
                    <a:lumMod val="75000"/>
                    <a:lumOff val="25000"/>
                  </a:schemeClr>
                </a:solidFill>
              </a:defRPr>
            </a:lvl3pPr>
            <a:lvl4pPr>
              <a:defRPr lang="en-US" sz="900" dirty="0" smtClean="0">
                <a:solidFill>
                  <a:schemeClr val="tx1">
                    <a:lumMod val="75000"/>
                    <a:lumOff val="25000"/>
                  </a:schemeClr>
                </a:solidFill>
              </a:defRPr>
            </a:lvl4pPr>
            <a:lvl5pPr>
              <a:defRPr lang="en-US" sz="900" dirty="0">
                <a:solidFill>
                  <a:schemeClr val="tx1">
                    <a:lumMod val="75000"/>
                    <a:lumOff val="25000"/>
                  </a:schemeClr>
                </a:solidFill>
              </a:defRPr>
            </a:lvl5pPr>
          </a:lstStyle>
          <a:p>
            <a:pPr marL="0" lvl="0" indent="0">
              <a:lnSpc>
                <a:spcPct val="150000"/>
              </a:lnSpc>
              <a:spcBef>
                <a:spcPts val="750"/>
              </a:spcBef>
              <a:spcAft>
                <a:spcPts val="900"/>
              </a:spcAft>
              <a:buNone/>
            </a:pPr>
            <a:r>
              <a:rPr lang="en-US"/>
              <a:t>Edit Master text styles</a:t>
            </a:r>
          </a:p>
          <a:p>
            <a:pPr marL="0" lvl="1" indent="0">
              <a:lnSpc>
                <a:spcPct val="150000"/>
              </a:lnSpc>
              <a:spcBef>
                <a:spcPts val="750"/>
              </a:spcBef>
              <a:spcAft>
                <a:spcPts val="900"/>
              </a:spcAft>
              <a:buNone/>
            </a:pPr>
            <a:r>
              <a:rPr lang="en-US"/>
              <a:t>Second level</a:t>
            </a:r>
          </a:p>
          <a:p>
            <a:pPr marL="0" lvl="2" indent="0">
              <a:lnSpc>
                <a:spcPct val="150000"/>
              </a:lnSpc>
              <a:spcBef>
                <a:spcPts val="750"/>
              </a:spcBef>
              <a:spcAft>
                <a:spcPts val="900"/>
              </a:spcAft>
              <a:buNone/>
            </a:pPr>
            <a:r>
              <a:rPr lang="en-US"/>
              <a:t>Third level</a:t>
            </a:r>
          </a:p>
          <a:p>
            <a:pPr marL="0" lvl="3" indent="0">
              <a:lnSpc>
                <a:spcPct val="150000"/>
              </a:lnSpc>
              <a:spcBef>
                <a:spcPts val="750"/>
              </a:spcBef>
              <a:spcAft>
                <a:spcPts val="900"/>
              </a:spcAft>
              <a:buNone/>
            </a:pPr>
            <a:r>
              <a:rPr lang="en-US"/>
              <a:t>Fourth level</a:t>
            </a:r>
          </a:p>
          <a:p>
            <a:pPr marL="0" lvl="4" indent="0">
              <a:lnSpc>
                <a:spcPct val="150000"/>
              </a:lnSpc>
              <a:spcBef>
                <a:spcPts val="750"/>
              </a:spcBef>
              <a:spcAft>
                <a:spcPts val="900"/>
              </a:spcAft>
              <a:buNone/>
            </a:pPr>
            <a:r>
              <a:rPr lang="en-US"/>
              <a:t>Fifth level</a:t>
            </a:r>
            <a:endParaRPr lang="en-US" dirty="0"/>
          </a:p>
        </p:txBody>
      </p:sp>
    </p:spTree>
    <p:extLst>
      <p:ext uri="{BB962C8B-B14F-4D97-AF65-F5344CB8AC3E}">
        <p14:creationId xmlns:p14="http://schemas.microsoft.com/office/powerpoint/2010/main" val="187449007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9" name="Rectangle 8"/>
          <p:cNvSpPr/>
          <p:nvPr userDrawn="1"/>
        </p:nvSpPr>
        <p:spPr>
          <a:xfrm>
            <a:off x="256034" y="265177"/>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350" dirty="0"/>
          </a:p>
        </p:txBody>
      </p:sp>
      <p:cxnSp>
        <p:nvCxnSpPr>
          <p:cNvPr id="12" name="Straight Connector 11"/>
          <p:cNvCxnSpPr/>
          <p:nvPr userDrawn="1"/>
        </p:nvCxnSpPr>
        <p:spPr>
          <a:xfrm>
            <a:off x="604435"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0017C897-2775-4930-B0BE-BEB72453232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7242852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9" name="Rectangle 8"/>
          <p:cNvSpPr/>
          <p:nvPr userDrawn="1"/>
        </p:nvSpPr>
        <p:spPr>
          <a:xfrm>
            <a:off x="256034" y="265177"/>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350" dirty="0"/>
          </a:p>
        </p:txBody>
      </p:sp>
      <p:cxnSp>
        <p:nvCxnSpPr>
          <p:cNvPr id="12" name="Straight Connector 11"/>
          <p:cNvCxnSpPr/>
          <p:nvPr userDrawn="1"/>
        </p:nvCxnSpPr>
        <p:spPr>
          <a:xfrm>
            <a:off x="604435"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D258610D-0376-4D1E-8ED8-29382288BB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1783" t="-3"/>
          <a:stretch/>
        </p:blipFill>
        <p:spPr>
          <a:xfrm>
            <a:off x="269032" y="4801396"/>
            <a:ext cx="11653936" cy="1786228"/>
          </a:xfrm>
          <a:prstGeom prst="rect">
            <a:avLst/>
          </a:prstGeom>
        </p:spPr>
      </p:pic>
      <p:sp>
        <p:nvSpPr>
          <p:cNvPr id="3" name="Title 2">
            <a:extLst>
              <a:ext uri="{FF2B5EF4-FFF2-40B4-BE49-F238E27FC236}">
                <a16:creationId xmlns:a16="http://schemas.microsoft.com/office/drawing/2014/main" id="{21C16CD2-606C-441E-BBA3-51767980CC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5570941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EC660B-41B6-4D62-86CC-16AC92C3F3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D824CC-400E-408E-AFC8-F13E1607AE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4B40E8-3338-4718-862B-376F1AF9CB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2E0544-F0D8-4B91-A6AB-575642A48F78}" type="datetimeFigureOut">
              <a:rPr lang="en-US" smtClean="0"/>
              <a:t>3/27/2023</a:t>
            </a:fld>
            <a:endParaRPr lang="en-US"/>
          </a:p>
        </p:txBody>
      </p:sp>
      <p:sp>
        <p:nvSpPr>
          <p:cNvPr id="5" name="Footer Placeholder 4">
            <a:extLst>
              <a:ext uri="{FF2B5EF4-FFF2-40B4-BE49-F238E27FC236}">
                <a16:creationId xmlns:a16="http://schemas.microsoft.com/office/drawing/2014/main" id="{D12573DB-F346-4F3D-A3D6-0F7C5D97A3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8604BCB-1131-461F-844D-B8B89298A0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93C034-2F3B-4D59-8634-95B80CF73E93}" type="slidenum">
              <a:rPr lang="en-US" smtClean="0"/>
              <a:t>‹#›</a:t>
            </a:fld>
            <a:endParaRPr lang="en-US"/>
          </a:p>
        </p:txBody>
      </p:sp>
    </p:spTree>
    <p:extLst>
      <p:ext uri="{BB962C8B-B14F-4D97-AF65-F5344CB8AC3E}">
        <p14:creationId xmlns:p14="http://schemas.microsoft.com/office/powerpoint/2010/main" val="2720270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2E0544-F0D8-4B91-A6AB-575642A48F78}" type="datetimeFigureOut">
              <a:rPr lang="en-US" smtClean="0"/>
              <a:t>3/27/2023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93C034-2F3B-4D59-8634-95B80CF73E93}" type="slidenum">
              <a:rPr lang="en-US" smtClean="0"/>
              <a:t>‹#›</a:t>
            </a:fld>
            <a:endParaRPr lang="en-US"/>
          </a:p>
        </p:txBody>
      </p:sp>
      <p:sp>
        <p:nvSpPr>
          <p:cNvPr id="7" name="Rectangle 6">
            <a:extLst>
              <a:ext uri="{FF2B5EF4-FFF2-40B4-BE49-F238E27FC236}">
                <a16:creationId xmlns:a16="http://schemas.microsoft.com/office/drawing/2014/main" id="{41FABB72-80D7-531F-966B-08DBB9BBC4F3}"/>
              </a:ext>
            </a:extLst>
          </p:cNvPr>
          <p:cNvSpPr/>
          <p:nvPr userDrawn="1"/>
        </p:nvSpPr>
        <p:spPr>
          <a:xfrm>
            <a:off x="256034" y="265177"/>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350" dirty="0"/>
          </a:p>
        </p:txBody>
      </p:sp>
      <p:cxnSp>
        <p:nvCxnSpPr>
          <p:cNvPr id="8" name="Straight Connector 7">
            <a:extLst>
              <a:ext uri="{FF2B5EF4-FFF2-40B4-BE49-F238E27FC236}">
                <a16:creationId xmlns:a16="http://schemas.microsoft.com/office/drawing/2014/main" id="{2AB9CA61-3169-E12D-D326-EB048DE20EBB}"/>
              </a:ext>
            </a:extLst>
          </p:cNvPr>
          <p:cNvCxnSpPr/>
          <p:nvPr userDrawn="1"/>
        </p:nvCxnSpPr>
        <p:spPr>
          <a:xfrm>
            <a:off x="604435"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2382748"/>
      </p:ext>
    </p:extLst>
  </p:cSld>
  <p:clrMap bg1="dk1" tx1="lt1" bg2="dk2" tx2="lt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62" r:id="rId12"/>
    <p:sldLayoutId id="2147483663" r:id="rId13"/>
    <p:sldLayoutId id="2147483664" r:id="rId14"/>
    <p:sldLayoutId id="2147483665" r:id="rId15"/>
    <p:sldLayoutId id="2147483666" r:id="rId16"/>
    <p:sldLayoutId id="2147483667"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6000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85D83E1-8893-C38B-1E3B-19ACFB05AF60}"/>
              </a:ext>
            </a:extLst>
          </p:cNvPr>
          <p:cNvSpPr/>
          <p:nvPr/>
        </p:nvSpPr>
        <p:spPr>
          <a:xfrm>
            <a:off x="2711625" y="1017082"/>
            <a:ext cx="6947127" cy="6537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800" b="1" dirty="0">
                <a:solidFill>
                  <a:srgbClr val="FF0000"/>
                </a:solidFill>
                <a:highlight>
                  <a:srgbClr val="FFFF00"/>
                </a:highlight>
                <a:latin typeface="Segoe UI"/>
              </a:rPr>
              <a:t>BT233 – General Microbiology Laboratory</a:t>
            </a:r>
            <a:endParaRPr lang="en-AE" sz="2800" b="1" dirty="0">
              <a:solidFill>
                <a:srgbClr val="FF0000"/>
              </a:solidFill>
              <a:highlight>
                <a:srgbClr val="FFFF00"/>
              </a:highlight>
              <a:latin typeface="Segoe UI"/>
            </a:endParaRPr>
          </a:p>
        </p:txBody>
      </p:sp>
      <p:sp>
        <p:nvSpPr>
          <p:cNvPr id="2" name="Title 1">
            <a:extLst>
              <a:ext uri="{FF2B5EF4-FFF2-40B4-BE49-F238E27FC236}">
                <a16:creationId xmlns:a16="http://schemas.microsoft.com/office/drawing/2014/main" id="{BC175240-70C8-5893-274E-C198BCC3322A}"/>
              </a:ext>
            </a:extLst>
          </p:cNvPr>
          <p:cNvSpPr>
            <a:spLocks noGrp="1"/>
          </p:cNvSpPr>
          <p:nvPr>
            <p:ph type="ctrTitle"/>
          </p:nvPr>
        </p:nvSpPr>
        <p:spPr>
          <a:xfrm>
            <a:off x="845820" y="2299780"/>
            <a:ext cx="10298429" cy="2855150"/>
          </a:xfrm>
        </p:spPr>
        <p:txBody>
          <a:bodyPr anchor="t">
            <a:noAutofit/>
          </a:bodyPr>
          <a:lstStyle/>
          <a:p>
            <a:pPr algn="l"/>
            <a:r>
              <a:rPr lang="en-US" sz="4400" b="1" dirty="0">
                <a:latin typeface="Arial" panose="020B0604020202020204" pitchFamily="34" charset="0"/>
                <a:cs typeface="Arial" panose="020B0604020202020204" pitchFamily="34" charset="0"/>
              </a:rPr>
              <a:t>{</a:t>
            </a:r>
            <a:r>
              <a:rPr lang="en-US" sz="4400" b="1" dirty="0">
                <a:latin typeface="Calibri-Bold"/>
              </a:rPr>
              <a:t>Differential and Structural Staining</a:t>
            </a:r>
            <a:r>
              <a:rPr lang="en-US" sz="4400" b="1" dirty="0">
                <a:latin typeface="Arial" panose="020B0604020202020204" pitchFamily="34" charset="0"/>
                <a:cs typeface="Arial" panose="020B0604020202020204" pitchFamily="34" charset="0"/>
              </a:rPr>
              <a:t>}</a:t>
            </a:r>
            <a:br>
              <a:rPr lang="en-US" sz="4400" b="1" dirty="0">
                <a:latin typeface="Arial" panose="020B0604020202020204" pitchFamily="34" charset="0"/>
                <a:cs typeface="Arial" panose="020B0604020202020204" pitchFamily="34" charset="0"/>
              </a:rPr>
            </a:br>
            <a:br>
              <a:rPr lang="en-US" sz="4400" b="1" dirty="0">
                <a:latin typeface="Calibri-Bold"/>
              </a:rPr>
            </a:br>
            <a:r>
              <a:rPr lang="en-US" sz="4400" b="1" dirty="0">
                <a:latin typeface="Calibri-Bold"/>
              </a:rPr>
              <a:t>Acid-Fast , Endospore and Capsule Staining</a:t>
            </a:r>
            <a:br>
              <a:rPr lang="en-US" sz="4400" b="1" dirty="0">
                <a:latin typeface="Calibri-Bold"/>
              </a:rPr>
            </a:br>
            <a:br>
              <a:rPr lang="ar-JO" sz="4400" b="1" dirty="0">
                <a:latin typeface="Calibri-Bold"/>
              </a:rPr>
            </a:br>
            <a:r>
              <a:rPr lang="en-US" sz="4400" b="1" dirty="0">
                <a:latin typeface="Calibri-Bold"/>
              </a:rPr>
              <a:t>Week # 5</a:t>
            </a:r>
            <a:br>
              <a:rPr lang="en-US" sz="4400" dirty="0"/>
            </a:br>
            <a:endParaRPr lang="en-US" sz="4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rgbClr val="3F3F3F"/>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1D5696D-42FE-48B9-A09C-06C8909E4ED9}"/>
              </a:ext>
            </a:extLst>
          </p:cNvPr>
          <p:cNvSpPr>
            <a:spLocks noGrp="1"/>
          </p:cNvSpPr>
          <p:nvPr>
            <p:ph idx="1"/>
          </p:nvPr>
        </p:nvSpPr>
        <p:spPr>
          <a:xfrm>
            <a:off x="0" y="842963"/>
            <a:ext cx="4414838" cy="5210704"/>
          </a:xfrm>
        </p:spPr>
        <p:txBody>
          <a:bodyPr>
            <a:normAutofit/>
          </a:bodyPr>
          <a:lstStyle/>
          <a:p>
            <a:pPr>
              <a:lnSpc>
                <a:spcPct val="100000"/>
              </a:lnSpc>
            </a:pPr>
            <a:r>
              <a:rPr lang="en-US" sz="2400" b="1" dirty="0"/>
              <a:t>Differential staining: </a:t>
            </a:r>
            <a:r>
              <a:rPr lang="en-US" sz="2400" dirty="0"/>
              <a:t>is a staining technique that used to differentiate between different types of bacteria depending on certain cellular structures; mainly the cell wall.</a:t>
            </a:r>
          </a:p>
          <a:p>
            <a:pPr>
              <a:lnSpc>
                <a:spcPct val="100000"/>
              </a:lnSpc>
            </a:pPr>
            <a:endParaRPr lang="en-US" sz="2400" dirty="0"/>
          </a:p>
          <a:p>
            <a:pPr>
              <a:lnSpc>
                <a:spcPct val="100000"/>
              </a:lnSpc>
            </a:pPr>
            <a:endParaRPr lang="en-US" sz="2400" dirty="0"/>
          </a:p>
        </p:txBody>
      </p:sp>
      <p:pic>
        <p:nvPicPr>
          <p:cNvPr id="6" name="Picture 5">
            <a:extLst>
              <a:ext uri="{FF2B5EF4-FFF2-40B4-BE49-F238E27FC236}">
                <a16:creationId xmlns:a16="http://schemas.microsoft.com/office/drawing/2014/main" id="{B80F514B-0865-40AF-ABFA-80EE4888A5A1}"/>
              </a:ext>
            </a:extLst>
          </p:cNvPr>
          <p:cNvPicPr>
            <a:picLocks noChangeAspect="1"/>
          </p:cNvPicPr>
          <p:nvPr/>
        </p:nvPicPr>
        <p:blipFill rotWithShape="1">
          <a:blip r:embed="rId2"/>
          <a:srcRect l="615" r="2527" b="1493"/>
          <a:stretch/>
        </p:blipFill>
        <p:spPr>
          <a:xfrm>
            <a:off x="4654297" y="0"/>
            <a:ext cx="7537704" cy="5114924"/>
          </a:xfrm>
          <a:prstGeom prst="rect">
            <a:avLst/>
          </a:prstGeom>
        </p:spPr>
      </p:pic>
      <p:sp>
        <p:nvSpPr>
          <p:cNvPr id="7" name="Rectangle 6">
            <a:extLst>
              <a:ext uri="{FF2B5EF4-FFF2-40B4-BE49-F238E27FC236}">
                <a16:creationId xmlns:a16="http://schemas.microsoft.com/office/drawing/2014/main" id="{539E7871-F7AE-470E-B0A2-379EF29A4C3B}"/>
              </a:ext>
            </a:extLst>
          </p:cNvPr>
          <p:cNvSpPr/>
          <p:nvPr/>
        </p:nvSpPr>
        <p:spPr>
          <a:xfrm>
            <a:off x="4785788" y="5129212"/>
            <a:ext cx="2157412" cy="71437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Gram positive bacteria</a:t>
            </a:r>
          </a:p>
        </p:txBody>
      </p:sp>
      <p:sp>
        <p:nvSpPr>
          <p:cNvPr id="9" name="Rectangle 8">
            <a:extLst>
              <a:ext uri="{FF2B5EF4-FFF2-40B4-BE49-F238E27FC236}">
                <a16:creationId xmlns:a16="http://schemas.microsoft.com/office/drawing/2014/main" id="{855255CD-3B1B-42DD-A878-711FD7850B3A}"/>
              </a:ext>
            </a:extLst>
          </p:cNvPr>
          <p:cNvSpPr/>
          <p:nvPr/>
        </p:nvSpPr>
        <p:spPr>
          <a:xfrm>
            <a:off x="7074692" y="5114925"/>
            <a:ext cx="2157412" cy="71437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Gram negative bacteria</a:t>
            </a:r>
          </a:p>
        </p:txBody>
      </p:sp>
      <p:sp>
        <p:nvSpPr>
          <p:cNvPr id="10" name="Rectangle 9">
            <a:extLst>
              <a:ext uri="{FF2B5EF4-FFF2-40B4-BE49-F238E27FC236}">
                <a16:creationId xmlns:a16="http://schemas.microsoft.com/office/drawing/2014/main" id="{A9631493-D2C8-4A6B-A1A1-9EAD37F918BC}"/>
              </a:ext>
            </a:extLst>
          </p:cNvPr>
          <p:cNvSpPr/>
          <p:nvPr/>
        </p:nvSpPr>
        <p:spPr>
          <a:xfrm>
            <a:off x="9934575" y="5114924"/>
            <a:ext cx="2157412" cy="71437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Acid-Fast bacteria</a:t>
            </a:r>
          </a:p>
        </p:txBody>
      </p:sp>
    </p:spTree>
    <p:extLst>
      <p:ext uri="{BB962C8B-B14F-4D97-AF65-F5344CB8AC3E}">
        <p14:creationId xmlns:p14="http://schemas.microsoft.com/office/powerpoint/2010/main" val="9688028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61F48-859E-4530-94AC-23D6A8F0614A}"/>
              </a:ext>
            </a:extLst>
          </p:cNvPr>
          <p:cNvSpPr>
            <a:spLocks noGrp="1"/>
          </p:cNvSpPr>
          <p:nvPr>
            <p:ph type="title"/>
          </p:nvPr>
        </p:nvSpPr>
        <p:spPr>
          <a:xfrm>
            <a:off x="461962" y="293688"/>
            <a:ext cx="10515600" cy="1325563"/>
          </a:xfrm>
        </p:spPr>
        <p:txBody>
          <a:bodyPr/>
          <a:lstStyle/>
          <a:p>
            <a:r>
              <a:rPr lang="en-US" b="1" dirty="0"/>
              <a:t>Differential staining:</a:t>
            </a:r>
            <a:endParaRPr lang="en-US" dirty="0"/>
          </a:p>
        </p:txBody>
      </p:sp>
      <p:graphicFrame>
        <p:nvGraphicFramePr>
          <p:cNvPr id="4" name="Table 4">
            <a:extLst>
              <a:ext uri="{FF2B5EF4-FFF2-40B4-BE49-F238E27FC236}">
                <a16:creationId xmlns:a16="http://schemas.microsoft.com/office/drawing/2014/main" id="{5E3BA90F-96DB-433C-A6A3-48CF87E21DC8}"/>
              </a:ext>
            </a:extLst>
          </p:cNvPr>
          <p:cNvGraphicFramePr>
            <a:graphicFrameLocks noGrp="1"/>
          </p:cNvGraphicFramePr>
          <p:nvPr>
            <p:extLst>
              <p:ext uri="{D42A27DB-BD31-4B8C-83A1-F6EECF244321}">
                <p14:modId xmlns:p14="http://schemas.microsoft.com/office/powerpoint/2010/main" val="1750588299"/>
              </p:ext>
            </p:extLst>
          </p:nvPr>
        </p:nvGraphicFramePr>
        <p:xfrm>
          <a:off x="985838" y="1847851"/>
          <a:ext cx="10106024" cy="4844672"/>
        </p:xfrm>
        <a:graphic>
          <a:graphicData uri="http://schemas.openxmlformats.org/drawingml/2006/table">
            <a:tbl>
              <a:tblPr firstRow="1" bandRow="1">
                <a:tableStyleId>{9D7B26C5-4107-4FEC-AEDC-1716B250A1EF}</a:tableStyleId>
              </a:tblPr>
              <a:tblGrid>
                <a:gridCol w="5062609">
                  <a:extLst>
                    <a:ext uri="{9D8B030D-6E8A-4147-A177-3AD203B41FA5}">
                      <a16:colId xmlns:a16="http://schemas.microsoft.com/office/drawing/2014/main" val="3820510857"/>
                    </a:ext>
                  </a:extLst>
                </a:gridCol>
                <a:gridCol w="5043415">
                  <a:extLst>
                    <a:ext uri="{9D8B030D-6E8A-4147-A177-3AD203B41FA5}">
                      <a16:colId xmlns:a16="http://schemas.microsoft.com/office/drawing/2014/main" val="1710991650"/>
                    </a:ext>
                  </a:extLst>
                </a:gridCol>
              </a:tblGrid>
              <a:tr h="638432">
                <a:tc>
                  <a:txBody>
                    <a:bodyPr/>
                    <a:lstStyle/>
                    <a:p>
                      <a:pPr algn="ctr"/>
                      <a:r>
                        <a:rPr lang="en-US" sz="2000" dirty="0"/>
                        <a:t>Gram Staining</a:t>
                      </a:r>
                    </a:p>
                  </a:txBody>
                  <a:tcPr/>
                </a:tc>
                <a:tc>
                  <a:txBody>
                    <a:bodyPr/>
                    <a:lstStyle/>
                    <a:p>
                      <a:pPr algn="ctr"/>
                      <a:r>
                        <a:rPr lang="en-US" sz="2000" dirty="0"/>
                        <a:t>Acid-Fast Staining</a:t>
                      </a:r>
                    </a:p>
                  </a:txBody>
                  <a:tcPr/>
                </a:tc>
                <a:extLst>
                  <a:ext uri="{0D108BD9-81ED-4DB2-BD59-A6C34878D82A}">
                    <a16:rowId xmlns:a16="http://schemas.microsoft.com/office/drawing/2014/main" val="2103900800"/>
                  </a:ext>
                </a:extLst>
              </a:tr>
              <a:tr h="4085967">
                <a:tc>
                  <a:txBody>
                    <a:bodyPr/>
                    <a:lstStyle/>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Used to differentiate between Gram positive &amp; Gram negative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Gram positive bacteria appear in violet color</a:t>
                      </a:r>
                    </a:p>
                    <a:p>
                      <a:pPr marL="0" indent="0">
                        <a:buFont typeface="Arial" panose="020B0604020202020204" pitchFamily="34" charset="0"/>
                        <a:buNone/>
                      </a:pPr>
                      <a:endParaRPr lang="en-US" dirty="0"/>
                    </a:p>
                    <a:p>
                      <a:pPr marL="285750" indent="-285750">
                        <a:buFont typeface="Arial" panose="020B0604020202020204" pitchFamily="34" charset="0"/>
                        <a:buChar char="•"/>
                      </a:pPr>
                      <a:r>
                        <a:rPr lang="en-US" dirty="0"/>
                        <a:t> Gram negative bacteria appears in pink color</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Acid Fast bacteria can not be stained by Gram staining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Acid Fast bacteria appears colorless throughout the procedure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txBody>
                  <a:tcPr/>
                </a:tc>
                <a:tc>
                  <a:txBody>
                    <a:bodyPr/>
                    <a:lstStyle/>
                    <a:p>
                      <a:pPr marL="285750" indent="-285750">
                        <a:lnSpc>
                          <a:spcPct val="100000"/>
                        </a:lnSpc>
                        <a:buFont typeface="Arial" panose="020B0604020202020204" pitchFamily="34" charset="0"/>
                        <a:buChar char="•"/>
                      </a:pPr>
                      <a:endParaRPr lang="en-US" dirty="0"/>
                    </a:p>
                    <a:p>
                      <a:pPr marL="285750" indent="-285750">
                        <a:lnSpc>
                          <a:spcPct val="100000"/>
                        </a:lnSpc>
                        <a:buFont typeface="Arial" panose="020B0604020202020204" pitchFamily="34" charset="0"/>
                        <a:buChar char="•"/>
                      </a:pPr>
                      <a:r>
                        <a:rPr lang="en-US" dirty="0"/>
                        <a:t>Special technique used to stain the Acid Fast bacteria</a:t>
                      </a:r>
                    </a:p>
                    <a:p>
                      <a:pPr marL="285750" indent="-285750">
                        <a:lnSpc>
                          <a:spcPct val="100000"/>
                        </a:lnSpc>
                        <a:buFont typeface="Arial" panose="020B0604020202020204" pitchFamily="34" charset="0"/>
                        <a:buChar char="•"/>
                      </a:pPr>
                      <a:endParaRPr lang="en-US" dirty="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Uses STEAM (Heat)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285750" indent="-285750">
                        <a:lnSpc>
                          <a:spcPct val="100000"/>
                        </a:lnSpc>
                        <a:buFont typeface="Arial" panose="020B0604020202020204" pitchFamily="34" charset="0"/>
                        <a:buChar char="•"/>
                      </a:pPr>
                      <a:r>
                        <a:rPr lang="en-US" dirty="0"/>
                        <a:t>The Acid Fast bacteria contain a waxy-lipoidal material in their Cell wall (Mycolic Acid)</a:t>
                      </a:r>
                    </a:p>
                    <a:p>
                      <a:pPr marL="285750" indent="-285750">
                        <a:lnSpc>
                          <a:spcPct val="100000"/>
                        </a:lnSpc>
                        <a:buFont typeface="Arial" panose="020B0604020202020204" pitchFamily="34" charset="0"/>
                        <a:buChar char="•"/>
                      </a:pPr>
                      <a:endParaRPr lang="en-US" dirty="0"/>
                    </a:p>
                    <a:p>
                      <a:pPr marL="285750" indent="-285750">
                        <a:lnSpc>
                          <a:spcPct val="100000"/>
                        </a:lnSpc>
                        <a:buFont typeface="Arial" panose="020B0604020202020204" pitchFamily="34" charset="0"/>
                        <a:buChar char="•"/>
                      </a:pPr>
                      <a:r>
                        <a:rPr lang="en-US" dirty="0"/>
                        <a:t>Mycolic Acid is stain-proof</a:t>
                      </a:r>
                    </a:p>
                    <a:p>
                      <a:pPr marL="0" indent="0">
                        <a:lnSpc>
                          <a:spcPct val="100000"/>
                        </a:lnSpc>
                        <a:buFont typeface="Arial" panose="020B0604020202020204" pitchFamily="34" charset="0"/>
                        <a:buNone/>
                      </a:pPr>
                      <a:endParaRPr lang="en-US" dirty="0"/>
                    </a:p>
                    <a:p>
                      <a:pPr marL="285750" indent="-285750">
                        <a:lnSpc>
                          <a:spcPct val="100000"/>
                        </a:lnSpc>
                        <a:buFont typeface="Arial" panose="020B0604020202020204" pitchFamily="34" charset="0"/>
                        <a:buChar char="•"/>
                      </a:pPr>
                      <a:r>
                        <a:rPr lang="en-US" dirty="0"/>
                        <a:t>Acid Fast bacteria appears in pink color</a:t>
                      </a:r>
                    </a:p>
                    <a:p>
                      <a:pPr marL="285750" indent="-285750">
                        <a:lnSpc>
                          <a:spcPct val="100000"/>
                        </a:lnSpc>
                        <a:buFont typeface="Arial" panose="020B0604020202020204" pitchFamily="34" charset="0"/>
                        <a:buChar char="•"/>
                      </a:pPr>
                      <a:endParaRPr lang="en-US" dirty="0"/>
                    </a:p>
                    <a:p>
                      <a:pPr marL="285750" indent="-285750">
                        <a:lnSpc>
                          <a:spcPct val="100000"/>
                        </a:lnSpc>
                        <a:buFont typeface="Arial" panose="020B0604020202020204" pitchFamily="34" charset="0"/>
                        <a:buChar char="•"/>
                      </a:pPr>
                      <a:r>
                        <a:rPr lang="en-US" dirty="0"/>
                        <a:t>Nonacid Fast bacteria appears in blue color</a:t>
                      </a:r>
                    </a:p>
                  </a:txBody>
                  <a:tcPr/>
                </a:tc>
                <a:extLst>
                  <a:ext uri="{0D108BD9-81ED-4DB2-BD59-A6C34878D82A}">
                    <a16:rowId xmlns:a16="http://schemas.microsoft.com/office/drawing/2014/main" val="618919070"/>
                  </a:ext>
                </a:extLst>
              </a:tr>
            </a:tbl>
          </a:graphicData>
        </a:graphic>
      </p:graphicFrame>
    </p:spTree>
    <p:extLst>
      <p:ext uri="{BB962C8B-B14F-4D97-AF65-F5344CB8AC3E}">
        <p14:creationId xmlns:p14="http://schemas.microsoft.com/office/powerpoint/2010/main" val="3091997397"/>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185299-A685-40F9-A735-4DD3CE391198}"/>
              </a:ext>
            </a:extLst>
          </p:cNvPr>
          <p:cNvSpPr>
            <a:spLocks noGrp="1"/>
          </p:cNvSpPr>
          <p:nvPr>
            <p:ph idx="1"/>
          </p:nvPr>
        </p:nvSpPr>
        <p:spPr>
          <a:xfrm>
            <a:off x="700088" y="1400176"/>
            <a:ext cx="10425112" cy="4909184"/>
          </a:xfrm>
        </p:spPr>
        <p:txBody>
          <a:bodyPr>
            <a:normAutofit/>
          </a:bodyPr>
          <a:lstStyle/>
          <a:p>
            <a:r>
              <a:rPr lang="en-US" sz="2400" b="1" dirty="0"/>
              <a:t>Acid-Fast Staining Technique: </a:t>
            </a:r>
            <a:r>
              <a:rPr lang="en-US" sz="2400" dirty="0"/>
              <a:t>is a special staining technique, used to stain the Acid-Fast bacteria that can not be stained by other type of staining techniques</a:t>
            </a:r>
          </a:p>
          <a:p>
            <a:endParaRPr lang="en-US" sz="2400" dirty="0"/>
          </a:p>
          <a:p>
            <a:r>
              <a:rPr lang="en-US" sz="2400" dirty="0"/>
              <a:t> </a:t>
            </a:r>
            <a:r>
              <a:rPr lang="en-US" sz="2400" b="1" dirty="0"/>
              <a:t>Acid-Fast Staining Technique depends on</a:t>
            </a:r>
            <a:r>
              <a:rPr lang="en-US" sz="2400" dirty="0"/>
              <a:t>:</a:t>
            </a:r>
          </a:p>
          <a:p>
            <a:pPr marL="0" indent="0">
              <a:buNone/>
            </a:pPr>
            <a:r>
              <a:rPr lang="en-US" sz="2400" dirty="0"/>
              <a:t> It involves using of a stain with a chemical nature that can interact with the waxy layer in the cell wall of acid-fast bacteria (lipid-soluble stain which contains phenol, such as carbol-fuchsin)</a:t>
            </a:r>
          </a:p>
          <a:p>
            <a:pPr marL="0" indent="0">
              <a:buNone/>
            </a:pPr>
            <a:endParaRPr lang="en-US" sz="2400" dirty="0"/>
          </a:p>
          <a:p>
            <a:pPr marL="0" indent="0" algn="ctr">
              <a:buNone/>
            </a:pPr>
            <a:r>
              <a:rPr lang="en-US" sz="2400" b="1" dirty="0">
                <a:solidFill>
                  <a:srgbClr val="FF0000"/>
                </a:solidFill>
              </a:rPr>
              <a:t>Using of heat (Steam) to assist the penetration of the stain through the cell wall by softens the wax</a:t>
            </a:r>
          </a:p>
        </p:txBody>
      </p:sp>
    </p:spTree>
    <p:extLst>
      <p:ext uri="{BB962C8B-B14F-4D97-AF65-F5344CB8AC3E}">
        <p14:creationId xmlns:p14="http://schemas.microsoft.com/office/powerpoint/2010/main" val="956560860"/>
      </p:ext>
    </p:extLst>
  </p:cSld>
  <p:clrMapOvr>
    <a:masterClrMapping/>
  </p:clrMapOvr>
  <p:transition spd="slow">
    <p:push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CE149-CD4E-4F24-AB70-DB8C039E485A}"/>
              </a:ext>
            </a:extLst>
          </p:cNvPr>
          <p:cNvSpPr>
            <a:spLocks noGrp="1"/>
          </p:cNvSpPr>
          <p:nvPr>
            <p:ph type="title"/>
          </p:nvPr>
        </p:nvSpPr>
        <p:spPr/>
        <p:txBody>
          <a:bodyPr/>
          <a:lstStyle/>
          <a:p>
            <a:r>
              <a:rPr lang="en-US" b="1" dirty="0"/>
              <a:t>Acid-Fast Staining procedure:</a:t>
            </a:r>
          </a:p>
        </p:txBody>
      </p:sp>
      <p:sp>
        <p:nvSpPr>
          <p:cNvPr id="3" name="Content Placeholder 2">
            <a:extLst>
              <a:ext uri="{FF2B5EF4-FFF2-40B4-BE49-F238E27FC236}">
                <a16:creationId xmlns:a16="http://schemas.microsoft.com/office/drawing/2014/main" id="{48983C88-36C1-4AB3-9C00-FF467D2C8E4C}"/>
              </a:ext>
            </a:extLst>
          </p:cNvPr>
          <p:cNvSpPr>
            <a:spLocks noGrp="1"/>
          </p:cNvSpPr>
          <p:nvPr>
            <p:ph idx="1"/>
          </p:nvPr>
        </p:nvSpPr>
        <p:spPr>
          <a:xfrm>
            <a:off x="642937" y="1543051"/>
            <a:ext cx="11315701" cy="4514850"/>
          </a:xfrm>
        </p:spPr>
        <p:txBody>
          <a:bodyPr>
            <a:normAutofit/>
          </a:bodyPr>
          <a:lstStyle/>
          <a:p>
            <a:pPr marL="514350" indent="-514350">
              <a:buFont typeface="+mj-lt"/>
              <a:buAutoNum type="arabicPeriod"/>
            </a:pPr>
            <a:r>
              <a:rPr lang="en-US" sz="2400" dirty="0"/>
              <a:t>Prepare one smear containing a mixture of Bacillus (non-Acid-fast) and Mycobacterium (Acid-fast)</a:t>
            </a:r>
          </a:p>
          <a:p>
            <a:pPr marL="514350" indent="-514350">
              <a:buFont typeface="+mj-lt"/>
              <a:buAutoNum type="arabicPeriod"/>
            </a:pPr>
            <a:r>
              <a:rPr lang="en-US" sz="2400" dirty="0"/>
              <a:t>Load the slide with the primary stain (</a:t>
            </a:r>
            <a:r>
              <a:rPr lang="en-US" sz="2400" b="1" dirty="0">
                <a:solidFill>
                  <a:srgbClr val="FF0066"/>
                </a:solidFill>
              </a:rPr>
              <a:t>Carbolfuchsin</a:t>
            </a:r>
            <a:r>
              <a:rPr lang="en-US" sz="2400" dirty="0"/>
              <a:t>) and steam for 5 minutes</a:t>
            </a:r>
          </a:p>
          <a:p>
            <a:pPr marL="514350" indent="-514350">
              <a:buFont typeface="+mj-lt"/>
              <a:buAutoNum type="arabicPeriod"/>
            </a:pPr>
            <a:r>
              <a:rPr lang="en-US" sz="2400" dirty="0"/>
              <a:t>Discard excess stain and let the slide cool at room temperature for at least 5 minutes</a:t>
            </a:r>
          </a:p>
          <a:p>
            <a:pPr marL="514350" indent="-514350">
              <a:buFont typeface="+mj-lt"/>
              <a:buAutoNum type="arabicPeriod"/>
            </a:pPr>
            <a:r>
              <a:rPr lang="en-US" sz="2400" dirty="0"/>
              <a:t>Wash gently with decolorizing agent (</a:t>
            </a:r>
            <a:r>
              <a:rPr lang="en-US" sz="2400" b="1" dirty="0"/>
              <a:t>3% acid-alcohol</a:t>
            </a:r>
            <a:r>
              <a:rPr lang="en-US" sz="2400" dirty="0"/>
              <a:t>) </a:t>
            </a:r>
          </a:p>
          <a:p>
            <a:pPr marL="514350" indent="-514350">
              <a:buFont typeface="+mj-lt"/>
              <a:buAutoNum type="arabicPeriod"/>
            </a:pPr>
            <a:r>
              <a:rPr lang="en-US" sz="2400" dirty="0"/>
              <a:t>Immediately and gently wash with tap water</a:t>
            </a:r>
          </a:p>
          <a:p>
            <a:pPr marL="514350" indent="-514350">
              <a:buFont typeface="+mj-lt"/>
              <a:buAutoNum type="arabicPeriod"/>
            </a:pPr>
            <a:r>
              <a:rPr lang="en-US" sz="2400" dirty="0"/>
              <a:t>Load the slide with counterstain (</a:t>
            </a:r>
            <a:r>
              <a:rPr lang="en-US" sz="2400" b="1" dirty="0">
                <a:solidFill>
                  <a:srgbClr val="3259A0"/>
                </a:solidFill>
              </a:rPr>
              <a:t>Methylene blue</a:t>
            </a:r>
            <a:r>
              <a:rPr lang="en-US" sz="2400" dirty="0"/>
              <a:t>) and leave to stand for 2 minutes</a:t>
            </a:r>
          </a:p>
          <a:p>
            <a:pPr marL="514350" indent="-514350">
              <a:buFont typeface="+mj-lt"/>
              <a:buAutoNum type="arabicPeriod"/>
            </a:pPr>
            <a:r>
              <a:rPr lang="en-US" sz="2400" dirty="0"/>
              <a:t>Wash gently with tap water </a:t>
            </a:r>
          </a:p>
          <a:p>
            <a:pPr marL="514350" indent="-514350">
              <a:buFont typeface="+mj-lt"/>
              <a:buAutoNum type="arabicPeriod"/>
            </a:pPr>
            <a:r>
              <a:rPr lang="en-US" sz="2400" dirty="0"/>
              <a:t>Blot dry with filter paper</a:t>
            </a:r>
          </a:p>
        </p:txBody>
      </p:sp>
      <p:sp>
        <p:nvSpPr>
          <p:cNvPr id="4" name="Rectangle: Rounded Corners 3">
            <a:extLst>
              <a:ext uri="{FF2B5EF4-FFF2-40B4-BE49-F238E27FC236}">
                <a16:creationId xmlns:a16="http://schemas.microsoft.com/office/drawing/2014/main" id="{06F791BF-38DC-4AE1-9171-B94C4E7CDADF}"/>
              </a:ext>
            </a:extLst>
          </p:cNvPr>
          <p:cNvSpPr/>
          <p:nvPr/>
        </p:nvSpPr>
        <p:spPr>
          <a:xfrm>
            <a:off x="5000624" y="5043489"/>
            <a:ext cx="6729413" cy="132556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0066"/>
                </a:solidFill>
              </a:rPr>
              <a:t>Acid-fast</a:t>
            </a:r>
            <a:r>
              <a:rPr lang="en-US" sz="2400" b="1" dirty="0">
                <a:solidFill>
                  <a:schemeClr val="tx1"/>
                </a:solidFill>
              </a:rPr>
              <a:t> bacteria appear pink, while </a:t>
            </a:r>
            <a:r>
              <a:rPr lang="en-US" sz="2400" b="1" dirty="0">
                <a:solidFill>
                  <a:srgbClr val="3259A0"/>
                </a:solidFill>
              </a:rPr>
              <a:t>non-Acid-fast</a:t>
            </a:r>
            <a:r>
              <a:rPr lang="en-US" sz="2400" b="1" dirty="0">
                <a:solidFill>
                  <a:schemeClr val="tx1"/>
                </a:solidFill>
              </a:rPr>
              <a:t> bacteria appear blue</a:t>
            </a:r>
          </a:p>
          <a:p>
            <a:pPr algn="ctr"/>
            <a:endParaRPr lang="en-US" sz="2400" b="1" dirty="0">
              <a:solidFill>
                <a:schemeClr val="tx1"/>
              </a:solidFill>
            </a:endParaRPr>
          </a:p>
        </p:txBody>
      </p:sp>
    </p:spTree>
    <p:extLst>
      <p:ext uri="{BB962C8B-B14F-4D97-AF65-F5344CB8AC3E}">
        <p14:creationId xmlns:p14="http://schemas.microsoft.com/office/powerpoint/2010/main" val="1082475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picture containing drawing&#10;&#10;Description automatically generated">
            <a:extLst>
              <a:ext uri="{FF2B5EF4-FFF2-40B4-BE49-F238E27FC236}">
                <a16:creationId xmlns:a16="http://schemas.microsoft.com/office/drawing/2014/main" id="{A6CEC99F-6145-4F97-9EC6-8A8F350285FD}"/>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152" t="2044" r="1287" b="4378"/>
          <a:stretch/>
        </p:blipFill>
        <p:spPr>
          <a:xfrm>
            <a:off x="0" y="0"/>
            <a:ext cx="12192000" cy="4672013"/>
          </a:xfrm>
        </p:spPr>
      </p:pic>
      <p:pic>
        <p:nvPicPr>
          <p:cNvPr id="8" name="Content Placeholder 4">
            <a:extLst>
              <a:ext uri="{FF2B5EF4-FFF2-40B4-BE49-F238E27FC236}">
                <a16:creationId xmlns:a16="http://schemas.microsoft.com/office/drawing/2014/main" id="{1AA740C3-2523-4CA8-BD29-D47FD255278A}"/>
              </a:ext>
            </a:extLst>
          </p:cNvPr>
          <p:cNvPicPr>
            <a:picLocks noChangeAspect="1"/>
          </p:cNvPicPr>
          <p:nvPr/>
        </p:nvPicPr>
        <p:blipFill rotWithShape="1">
          <a:blip r:embed="rId3"/>
          <a:srcRect l="4575" t="27518" r="82325" b="52925"/>
          <a:stretch/>
        </p:blipFill>
        <p:spPr>
          <a:xfrm rot="16200000">
            <a:off x="1239557" y="4568079"/>
            <a:ext cx="2053254" cy="2615075"/>
          </a:xfrm>
          <a:prstGeom prst="rect">
            <a:avLst/>
          </a:prstGeom>
        </p:spPr>
      </p:pic>
      <p:pic>
        <p:nvPicPr>
          <p:cNvPr id="9" name="Content Placeholder 4">
            <a:extLst>
              <a:ext uri="{FF2B5EF4-FFF2-40B4-BE49-F238E27FC236}">
                <a16:creationId xmlns:a16="http://schemas.microsoft.com/office/drawing/2014/main" id="{06C4163E-CB37-420C-B868-C77362AE6C50}"/>
              </a:ext>
            </a:extLst>
          </p:cNvPr>
          <p:cNvPicPr>
            <a:picLocks noChangeAspect="1"/>
          </p:cNvPicPr>
          <p:nvPr/>
        </p:nvPicPr>
        <p:blipFill rotWithShape="1">
          <a:blip r:embed="rId3"/>
          <a:srcRect l="4040" t="62847" r="80943" b="18420"/>
          <a:stretch/>
        </p:blipFill>
        <p:spPr>
          <a:xfrm rot="16200000">
            <a:off x="5230715" y="4729266"/>
            <a:ext cx="2053254" cy="2204213"/>
          </a:xfrm>
          <a:prstGeom prst="rect">
            <a:avLst/>
          </a:prstGeom>
        </p:spPr>
      </p:pic>
      <p:pic>
        <p:nvPicPr>
          <p:cNvPr id="10" name="Picture 9">
            <a:extLst>
              <a:ext uri="{FF2B5EF4-FFF2-40B4-BE49-F238E27FC236}">
                <a16:creationId xmlns:a16="http://schemas.microsoft.com/office/drawing/2014/main" id="{4872FC77-39A1-4943-9548-DEC4A1E89701}"/>
              </a:ext>
            </a:extLst>
          </p:cNvPr>
          <p:cNvPicPr>
            <a:picLocks noChangeAspect="1"/>
          </p:cNvPicPr>
          <p:nvPr/>
        </p:nvPicPr>
        <p:blipFill rotWithShape="1">
          <a:blip r:embed="rId3"/>
          <a:srcRect t="80369" r="79413"/>
          <a:stretch/>
        </p:blipFill>
        <p:spPr>
          <a:xfrm>
            <a:off x="8402776" y="4972619"/>
            <a:ext cx="2830578" cy="1885381"/>
          </a:xfrm>
          <a:prstGeom prst="rect">
            <a:avLst/>
          </a:prstGeom>
        </p:spPr>
      </p:pic>
    </p:spTree>
    <p:extLst>
      <p:ext uri="{BB962C8B-B14F-4D97-AF65-F5344CB8AC3E}">
        <p14:creationId xmlns:p14="http://schemas.microsoft.com/office/powerpoint/2010/main" val="21692631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3AD11-DD4E-45D4-A41A-89A871E62002}"/>
              </a:ext>
            </a:extLst>
          </p:cNvPr>
          <p:cNvSpPr>
            <a:spLocks noGrp="1"/>
          </p:cNvSpPr>
          <p:nvPr>
            <p:ph type="title"/>
          </p:nvPr>
        </p:nvSpPr>
        <p:spPr/>
        <p:txBody>
          <a:bodyPr/>
          <a:lstStyle/>
          <a:p>
            <a:r>
              <a:rPr lang="en-US" b="1" dirty="0"/>
              <a:t>Acid-Fast Staining procedure:</a:t>
            </a:r>
            <a:endParaRPr lang="en-US" dirty="0"/>
          </a:p>
        </p:txBody>
      </p:sp>
      <p:graphicFrame>
        <p:nvGraphicFramePr>
          <p:cNvPr id="4" name="Table 4">
            <a:extLst>
              <a:ext uri="{FF2B5EF4-FFF2-40B4-BE49-F238E27FC236}">
                <a16:creationId xmlns:a16="http://schemas.microsoft.com/office/drawing/2014/main" id="{C950C711-A1F6-4F70-98A7-835CB5B4AAE6}"/>
              </a:ext>
            </a:extLst>
          </p:cNvPr>
          <p:cNvGraphicFramePr>
            <a:graphicFrameLocks noGrp="1"/>
          </p:cNvGraphicFramePr>
          <p:nvPr>
            <p:ph idx="1"/>
            <p:extLst>
              <p:ext uri="{D42A27DB-BD31-4B8C-83A1-F6EECF244321}">
                <p14:modId xmlns:p14="http://schemas.microsoft.com/office/powerpoint/2010/main" val="1531120496"/>
              </p:ext>
            </p:extLst>
          </p:nvPr>
        </p:nvGraphicFramePr>
        <p:xfrm>
          <a:off x="692942" y="1690688"/>
          <a:ext cx="10806115" cy="4302760"/>
        </p:xfrm>
        <a:graphic>
          <a:graphicData uri="http://schemas.openxmlformats.org/drawingml/2006/table">
            <a:tbl>
              <a:tblPr firstRow="1" bandRow="1">
                <a:tableStyleId>{9D7B26C5-4107-4FEC-AEDC-1716B250A1EF}</a:tableStyleId>
              </a:tblPr>
              <a:tblGrid>
                <a:gridCol w="2262190">
                  <a:extLst>
                    <a:ext uri="{9D8B030D-6E8A-4147-A177-3AD203B41FA5}">
                      <a16:colId xmlns:a16="http://schemas.microsoft.com/office/drawing/2014/main" val="935779461"/>
                    </a:ext>
                  </a:extLst>
                </a:gridCol>
                <a:gridCol w="4943475">
                  <a:extLst>
                    <a:ext uri="{9D8B030D-6E8A-4147-A177-3AD203B41FA5}">
                      <a16:colId xmlns:a16="http://schemas.microsoft.com/office/drawing/2014/main" val="2617598723"/>
                    </a:ext>
                  </a:extLst>
                </a:gridCol>
                <a:gridCol w="1888331">
                  <a:extLst>
                    <a:ext uri="{9D8B030D-6E8A-4147-A177-3AD203B41FA5}">
                      <a16:colId xmlns:a16="http://schemas.microsoft.com/office/drawing/2014/main" val="104852389"/>
                    </a:ext>
                  </a:extLst>
                </a:gridCol>
                <a:gridCol w="1712119">
                  <a:extLst>
                    <a:ext uri="{9D8B030D-6E8A-4147-A177-3AD203B41FA5}">
                      <a16:colId xmlns:a16="http://schemas.microsoft.com/office/drawing/2014/main" val="1462571844"/>
                    </a:ext>
                  </a:extLst>
                </a:gridCol>
              </a:tblGrid>
              <a:tr h="0">
                <a:tc>
                  <a:txBody>
                    <a:bodyPr/>
                    <a:lstStyle/>
                    <a:p>
                      <a:pPr algn="ctr"/>
                      <a:r>
                        <a:rPr lang="en-US" sz="1800" dirty="0"/>
                        <a:t>Step</a:t>
                      </a:r>
                    </a:p>
                  </a:txBody>
                  <a:tcPr/>
                </a:tc>
                <a:tc>
                  <a:txBody>
                    <a:bodyPr/>
                    <a:lstStyle/>
                    <a:p>
                      <a:pPr algn="ctr"/>
                      <a:r>
                        <a:rPr lang="en-US" sz="1800" dirty="0"/>
                        <a:t>Effect</a:t>
                      </a:r>
                    </a:p>
                  </a:txBody>
                  <a:tcPr/>
                </a:tc>
                <a:tc gridSpan="2">
                  <a:txBody>
                    <a:bodyPr/>
                    <a:lstStyle/>
                    <a:p>
                      <a:pPr algn="ctr"/>
                      <a:r>
                        <a:rPr lang="en-US" sz="1800" dirty="0"/>
                        <a:t>Cell Color</a:t>
                      </a:r>
                    </a:p>
                  </a:txBody>
                  <a:tcPr/>
                </a:tc>
                <a:tc hMerge="1">
                  <a:txBody>
                    <a:bodyPr/>
                    <a:lstStyle/>
                    <a:p>
                      <a:pPr algn="ctr"/>
                      <a:endParaRPr lang="en-US" dirty="0"/>
                    </a:p>
                  </a:txBody>
                  <a:tcPr/>
                </a:tc>
                <a:extLst>
                  <a:ext uri="{0D108BD9-81ED-4DB2-BD59-A6C34878D82A}">
                    <a16:rowId xmlns:a16="http://schemas.microsoft.com/office/drawing/2014/main" val="1628038961"/>
                  </a:ext>
                </a:extLst>
              </a:tr>
              <a:tr h="370840">
                <a:tc>
                  <a:txBody>
                    <a:bodyPr/>
                    <a:lstStyle/>
                    <a:p>
                      <a:pPr algn="ctr"/>
                      <a:endParaRPr lang="en-US" sz="1700" dirty="0"/>
                    </a:p>
                  </a:txBody>
                  <a:tcPr/>
                </a:tc>
                <a:tc>
                  <a:txBody>
                    <a:bodyPr/>
                    <a:lstStyle/>
                    <a:p>
                      <a:pPr algn="ctr"/>
                      <a:endParaRPr lang="en-US" sz="1700" dirty="0"/>
                    </a:p>
                  </a:txBody>
                  <a:tcPr/>
                </a:tc>
                <a:tc>
                  <a:txBody>
                    <a:bodyPr/>
                    <a:lstStyle/>
                    <a:p>
                      <a:pPr algn="ctr"/>
                      <a:r>
                        <a:rPr lang="en-US" sz="1700" b="1" dirty="0"/>
                        <a:t>Acid-Fast bacteria</a:t>
                      </a:r>
                    </a:p>
                  </a:txBody>
                  <a:tcPr/>
                </a:tc>
                <a:tc>
                  <a:txBody>
                    <a:bodyPr/>
                    <a:lstStyle/>
                    <a:p>
                      <a:pPr algn="ctr"/>
                      <a:r>
                        <a:rPr lang="en-US" sz="1700" b="1" dirty="0"/>
                        <a:t>Non Acid-Fast bacteria</a:t>
                      </a:r>
                    </a:p>
                  </a:txBody>
                  <a:tcPr/>
                </a:tc>
                <a:extLst>
                  <a:ext uri="{0D108BD9-81ED-4DB2-BD59-A6C34878D82A}">
                    <a16:rowId xmlns:a16="http://schemas.microsoft.com/office/drawing/2014/main" val="1814094620"/>
                  </a:ext>
                </a:extLst>
              </a:tr>
              <a:tr h="370840">
                <a:tc>
                  <a:txBody>
                    <a:bodyPr/>
                    <a:lstStyle/>
                    <a:p>
                      <a:pPr algn="ctr"/>
                      <a:r>
                        <a:rPr lang="en-US" sz="1700" dirty="0"/>
                        <a:t>Primary stain </a:t>
                      </a:r>
                    </a:p>
                    <a:p>
                      <a:pPr algn="ctr"/>
                      <a:r>
                        <a:rPr lang="en-US" sz="1700" dirty="0"/>
                        <a:t>(Carbol fuchsin)</a:t>
                      </a:r>
                    </a:p>
                  </a:txBody>
                  <a:tcPr/>
                </a:tc>
                <a:tc>
                  <a:txBody>
                    <a:bodyPr/>
                    <a:lstStyle/>
                    <a:p>
                      <a:pPr algn="ctr"/>
                      <a:r>
                        <a:rPr lang="en-US" sz="1700" dirty="0"/>
                        <a:t>Stain Both Acid-Fast bacteria (</a:t>
                      </a:r>
                      <a:r>
                        <a:rPr lang="en-US" sz="1700" i="1" dirty="0"/>
                        <a:t>Mycobacterium) &amp;</a:t>
                      </a:r>
                      <a:r>
                        <a:rPr lang="en-US" sz="1700" dirty="0"/>
                        <a:t> </a:t>
                      </a:r>
                      <a:r>
                        <a:rPr lang="en-US" sz="1700"/>
                        <a:t>Non Acid-Fast bacteria </a:t>
                      </a:r>
                      <a:r>
                        <a:rPr lang="en-US" sz="1700" dirty="0"/>
                        <a:t>(</a:t>
                      </a:r>
                      <a:r>
                        <a:rPr lang="en-US" sz="1700" i="1" dirty="0"/>
                        <a:t>Bacillus) with </a:t>
                      </a:r>
                      <a:r>
                        <a:rPr lang="en-US" sz="1700" dirty="0"/>
                        <a:t>pink color</a:t>
                      </a:r>
                    </a:p>
                  </a:txBody>
                  <a:tcPr/>
                </a:tc>
                <a:tc>
                  <a:txBody>
                    <a:bodyPr/>
                    <a:lstStyle/>
                    <a:p>
                      <a:pPr algn="ctr"/>
                      <a:r>
                        <a:rPr lang="en-US" sz="1700" dirty="0"/>
                        <a:t>Pink</a:t>
                      </a:r>
                    </a:p>
                  </a:txBody>
                  <a:tcPr/>
                </a:tc>
                <a:tc>
                  <a:txBody>
                    <a:bodyPr/>
                    <a:lstStyle/>
                    <a:p>
                      <a:pPr algn="ctr"/>
                      <a:r>
                        <a:rPr lang="en-US" sz="1700" dirty="0"/>
                        <a:t>Pink</a:t>
                      </a:r>
                    </a:p>
                  </a:txBody>
                  <a:tcPr/>
                </a:tc>
                <a:extLst>
                  <a:ext uri="{0D108BD9-81ED-4DB2-BD59-A6C34878D82A}">
                    <a16:rowId xmlns:a16="http://schemas.microsoft.com/office/drawing/2014/main" val="3079691588"/>
                  </a:ext>
                </a:extLst>
              </a:tr>
              <a:tr h="370840">
                <a:tc>
                  <a:txBody>
                    <a:bodyPr/>
                    <a:lstStyle/>
                    <a:p>
                      <a:pPr algn="ctr"/>
                      <a:r>
                        <a:rPr lang="en-US" sz="1700" dirty="0"/>
                        <a:t>Steaming</a:t>
                      </a:r>
                    </a:p>
                    <a:p>
                      <a:pPr algn="ctr"/>
                      <a:r>
                        <a:rPr lang="en-US" sz="1700" dirty="0"/>
                        <a:t>(Heat)</a:t>
                      </a:r>
                    </a:p>
                  </a:txBody>
                  <a:tcPr/>
                </a:tc>
                <a:tc>
                  <a:txBody>
                    <a:bodyPr/>
                    <a:lstStyle/>
                    <a:p>
                      <a:pPr marL="0" indent="0" algn="ctr">
                        <a:buFont typeface="Courier New" panose="02070309020205020404" pitchFamily="49" charset="0"/>
                        <a:buNone/>
                      </a:pPr>
                      <a:r>
                        <a:rPr lang="en-US" sz="1700" dirty="0"/>
                        <a:t>Convert (mycolic acid from the hard state into soft state</a:t>
                      </a:r>
                    </a:p>
                    <a:p>
                      <a:pPr marL="0" indent="0" algn="ctr">
                        <a:buFont typeface="Courier New" panose="02070309020205020404" pitchFamily="49" charset="0"/>
                        <a:buNone/>
                      </a:pPr>
                      <a:r>
                        <a:rPr lang="en-US" sz="1700" dirty="0"/>
                        <a:t>Assist the penetration of Carbol fuchsin into Acid-Fast bacteria</a:t>
                      </a:r>
                    </a:p>
                  </a:txBody>
                  <a:tcPr/>
                </a:tc>
                <a:tc>
                  <a:txBody>
                    <a:bodyPr/>
                    <a:lstStyle/>
                    <a:p>
                      <a:pPr marL="0" indent="0" algn="ctr">
                        <a:buFont typeface="Courier New" panose="02070309020205020404" pitchFamily="49" charset="0"/>
                        <a:buNone/>
                      </a:pPr>
                      <a:r>
                        <a:rPr lang="en-US" sz="1700" dirty="0"/>
                        <a:t>Pink</a:t>
                      </a:r>
                    </a:p>
                  </a:txBody>
                  <a:tcPr/>
                </a:tc>
                <a:tc>
                  <a:txBody>
                    <a:bodyPr/>
                    <a:lstStyle/>
                    <a:p>
                      <a:pPr marL="0" indent="0" algn="ctr">
                        <a:buFont typeface="Courier New" panose="02070309020205020404" pitchFamily="49" charset="0"/>
                        <a:buNone/>
                      </a:pPr>
                      <a:r>
                        <a:rPr lang="en-US" sz="1700" dirty="0"/>
                        <a:t>Pink</a:t>
                      </a:r>
                    </a:p>
                  </a:txBody>
                  <a:tcPr/>
                </a:tc>
                <a:extLst>
                  <a:ext uri="{0D108BD9-81ED-4DB2-BD59-A6C34878D82A}">
                    <a16:rowId xmlns:a16="http://schemas.microsoft.com/office/drawing/2014/main" val="104574401"/>
                  </a:ext>
                </a:extLst>
              </a:tr>
              <a:tr h="370840">
                <a:tc>
                  <a:txBody>
                    <a:bodyPr/>
                    <a:lstStyle/>
                    <a:p>
                      <a:pPr algn="ctr"/>
                      <a:r>
                        <a:rPr lang="en-US" sz="1700" dirty="0"/>
                        <a:t>Cooling</a:t>
                      </a:r>
                    </a:p>
                  </a:txBody>
                  <a:tcPr/>
                </a:tc>
                <a:tc>
                  <a:txBody>
                    <a:bodyPr/>
                    <a:lstStyle/>
                    <a:p>
                      <a:pPr algn="ctr"/>
                      <a:r>
                        <a:rPr lang="en-US" sz="1700" dirty="0"/>
                        <a:t>Convert the mycolic acid back into the hard state</a:t>
                      </a:r>
                    </a:p>
                  </a:txBody>
                  <a:tcPr/>
                </a:tc>
                <a:tc>
                  <a:txBody>
                    <a:bodyPr/>
                    <a:lstStyle/>
                    <a:p>
                      <a:pPr algn="ctr"/>
                      <a:r>
                        <a:rPr lang="en-US" sz="1700" dirty="0"/>
                        <a:t>Pink</a:t>
                      </a:r>
                    </a:p>
                  </a:txBody>
                  <a:tcPr/>
                </a:tc>
                <a:tc>
                  <a:txBody>
                    <a:bodyPr/>
                    <a:lstStyle/>
                    <a:p>
                      <a:pPr algn="ctr"/>
                      <a:r>
                        <a:rPr lang="en-US" sz="1700" dirty="0"/>
                        <a:t>Pink</a:t>
                      </a:r>
                    </a:p>
                  </a:txBody>
                  <a:tcPr/>
                </a:tc>
                <a:extLst>
                  <a:ext uri="{0D108BD9-81ED-4DB2-BD59-A6C34878D82A}">
                    <a16:rowId xmlns:a16="http://schemas.microsoft.com/office/drawing/2014/main" val="1033173936"/>
                  </a:ext>
                </a:extLst>
              </a:tr>
              <a:tr h="370840">
                <a:tc>
                  <a:txBody>
                    <a:bodyPr/>
                    <a:lstStyle/>
                    <a:p>
                      <a:pPr algn="ctr"/>
                      <a:r>
                        <a:rPr lang="en-US" sz="1700" dirty="0"/>
                        <a:t>Decolorizing agent </a:t>
                      </a:r>
                    </a:p>
                    <a:p>
                      <a:pPr algn="ctr"/>
                      <a:r>
                        <a:rPr lang="en-US" sz="1700" dirty="0"/>
                        <a:t>(3% acid alcohol)</a:t>
                      </a:r>
                    </a:p>
                  </a:txBody>
                  <a:tcPr/>
                </a:tc>
                <a:tc>
                  <a:txBody>
                    <a:bodyPr/>
                    <a:lstStyle/>
                    <a:p>
                      <a:pPr algn="ctr"/>
                      <a:r>
                        <a:rPr lang="en-US" sz="1700" dirty="0"/>
                        <a:t>Remove the primary stain (pink color) from Non Acid-Fast bacteria</a:t>
                      </a:r>
                    </a:p>
                  </a:txBody>
                  <a:tcPr/>
                </a:tc>
                <a:tc>
                  <a:txBody>
                    <a:bodyPr/>
                    <a:lstStyle/>
                    <a:p>
                      <a:pPr algn="ctr"/>
                      <a:r>
                        <a:rPr lang="en-US" sz="1700" dirty="0"/>
                        <a:t>Pink</a:t>
                      </a:r>
                    </a:p>
                  </a:txBody>
                  <a:tcPr/>
                </a:tc>
                <a:tc>
                  <a:txBody>
                    <a:bodyPr/>
                    <a:lstStyle/>
                    <a:p>
                      <a:pPr algn="ctr"/>
                      <a:r>
                        <a:rPr lang="en-US" sz="1700" dirty="0"/>
                        <a:t>Colorless</a:t>
                      </a:r>
                    </a:p>
                  </a:txBody>
                  <a:tcPr/>
                </a:tc>
                <a:extLst>
                  <a:ext uri="{0D108BD9-81ED-4DB2-BD59-A6C34878D82A}">
                    <a16:rowId xmlns:a16="http://schemas.microsoft.com/office/drawing/2014/main" val="4242450464"/>
                  </a:ext>
                </a:extLst>
              </a:tr>
              <a:tr h="370840">
                <a:tc>
                  <a:txBody>
                    <a:bodyPr/>
                    <a:lstStyle/>
                    <a:p>
                      <a:pPr algn="ctr"/>
                      <a:r>
                        <a:rPr lang="en-US" sz="1700" dirty="0"/>
                        <a:t>Counterstain (Methylene blue)</a:t>
                      </a:r>
                    </a:p>
                  </a:txBody>
                  <a:tcPr/>
                </a:tc>
                <a:tc>
                  <a:txBody>
                    <a:bodyPr/>
                    <a:lstStyle/>
                    <a:p>
                      <a:pPr algn="ctr"/>
                      <a:r>
                        <a:rPr lang="en-US" sz="1700" dirty="0"/>
                        <a:t>Stain the Non Acid-Fast with blue color</a:t>
                      </a:r>
                    </a:p>
                  </a:txBody>
                  <a:tcPr/>
                </a:tc>
                <a:tc>
                  <a:txBody>
                    <a:bodyPr/>
                    <a:lstStyle/>
                    <a:p>
                      <a:pPr algn="ctr"/>
                      <a:r>
                        <a:rPr lang="en-US" sz="1700" dirty="0"/>
                        <a:t>Pink</a:t>
                      </a:r>
                    </a:p>
                  </a:txBody>
                  <a:tcPr/>
                </a:tc>
                <a:tc>
                  <a:txBody>
                    <a:bodyPr/>
                    <a:lstStyle/>
                    <a:p>
                      <a:pPr algn="ctr"/>
                      <a:r>
                        <a:rPr lang="en-US" sz="1700" dirty="0"/>
                        <a:t>Blue</a:t>
                      </a:r>
                    </a:p>
                  </a:txBody>
                  <a:tcPr/>
                </a:tc>
                <a:extLst>
                  <a:ext uri="{0D108BD9-81ED-4DB2-BD59-A6C34878D82A}">
                    <a16:rowId xmlns:a16="http://schemas.microsoft.com/office/drawing/2014/main" val="396803634"/>
                  </a:ext>
                </a:extLst>
              </a:tr>
            </a:tbl>
          </a:graphicData>
        </a:graphic>
      </p:graphicFrame>
    </p:spTree>
    <p:extLst>
      <p:ext uri="{BB962C8B-B14F-4D97-AF65-F5344CB8AC3E}">
        <p14:creationId xmlns:p14="http://schemas.microsoft.com/office/powerpoint/2010/main" val="12096453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6D24BC9E-AC6A-42EE-AFD8-B290720B84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7">
            <a:extLst>
              <a:ext uri="{FF2B5EF4-FFF2-40B4-BE49-F238E27FC236}">
                <a16:creationId xmlns:a16="http://schemas.microsoft.com/office/drawing/2014/main" id="{0990C621-3B8B-4820-8328-D47EF7CE8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4107624"/>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Picture 7" descr="A picture containing whiteboard, text&#10;&#10;Description automatically generated">
            <a:extLst>
              <a:ext uri="{FF2B5EF4-FFF2-40B4-BE49-F238E27FC236}">
                <a16:creationId xmlns:a16="http://schemas.microsoft.com/office/drawing/2014/main" id="{7544F964-D78C-454F-8B9B-CEA4B20054B6}"/>
              </a:ext>
            </a:extLst>
          </p:cNvPr>
          <p:cNvPicPr>
            <a:picLocks noChangeAspect="1"/>
          </p:cNvPicPr>
          <p:nvPr/>
        </p:nvPicPr>
        <p:blipFill rotWithShape="1">
          <a:blip r:embed="rId2">
            <a:extLst>
              <a:ext uri="{28A0092B-C50C-407E-A947-70E740481C1C}">
                <a14:useLocalDpi xmlns:a14="http://schemas.microsoft.com/office/drawing/2010/main" val="0"/>
              </a:ext>
            </a:extLst>
          </a:blip>
          <a:srcRect l="14819" r="11293" b="2"/>
          <a:stretch/>
        </p:blipFill>
        <p:spPr>
          <a:xfrm>
            <a:off x="5463540" y="361910"/>
            <a:ext cx="5394959" cy="5142416"/>
          </a:xfrm>
          <a:prstGeom prst="rect">
            <a:avLst/>
          </a:prstGeom>
        </p:spPr>
      </p:pic>
      <p:sp>
        <p:nvSpPr>
          <p:cNvPr id="20" name="Rectangle 19">
            <a:extLst>
              <a:ext uri="{FF2B5EF4-FFF2-40B4-BE49-F238E27FC236}">
                <a16:creationId xmlns:a16="http://schemas.microsoft.com/office/drawing/2014/main" id="{C1A2385B-1D2A-4E17-84FA-6CB7F0AAE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480023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22" name="Rectangle 21">
            <a:extLst>
              <a:ext uri="{FF2B5EF4-FFF2-40B4-BE49-F238E27FC236}">
                <a16:creationId xmlns:a16="http://schemas.microsoft.com/office/drawing/2014/main" id="{5E791F2F-79DB-4CC0-9FA1-001E3E91E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5143137"/>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C402C4DC-430C-43C8-8082-BD22514F2CBB}"/>
              </a:ext>
            </a:extLst>
          </p:cNvPr>
          <p:cNvSpPr/>
          <p:nvPr/>
        </p:nvSpPr>
        <p:spPr>
          <a:xfrm>
            <a:off x="693546" y="1691181"/>
            <a:ext cx="4630864" cy="2573012"/>
          </a:xfrm>
          <a:prstGeom prst="rect">
            <a:avLst/>
          </a:prstGeom>
        </p:spPr>
        <p:txBody>
          <a:bodyPr wrap="square">
            <a:spAutoFit/>
          </a:bodyPr>
          <a:lstStyle/>
          <a:p>
            <a:pPr>
              <a:lnSpc>
                <a:spcPct val="90000"/>
              </a:lnSpc>
              <a:spcAft>
                <a:spcPts val="600"/>
              </a:spcAft>
            </a:pPr>
            <a:r>
              <a:rPr lang="en-US" sz="2400" b="1" dirty="0">
                <a:solidFill>
                  <a:srgbClr val="FF0000"/>
                </a:solidFill>
              </a:rPr>
              <a:t>Acid-Fast bacteria retain </a:t>
            </a:r>
            <a:r>
              <a:rPr lang="en-US" sz="2400" b="1" dirty="0" err="1">
                <a:solidFill>
                  <a:srgbClr val="FF0000"/>
                </a:solidFill>
              </a:rPr>
              <a:t>Carbol</a:t>
            </a:r>
            <a:r>
              <a:rPr lang="en-US" sz="2400" b="1" dirty="0">
                <a:solidFill>
                  <a:srgbClr val="FF0000"/>
                </a:solidFill>
              </a:rPr>
              <a:t>-fuchsin and appear in pink color, </a:t>
            </a:r>
          </a:p>
          <a:p>
            <a:pPr>
              <a:lnSpc>
                <a:spcPct val="90000"/>
              </a:lnSpc>
              <a:spcAft>
                <a:spcPts val="600"/>
              </a:spcAft>
            </a:pPr>
            <a:endParaRPr lang="en-US" sz="2400" b="1" dirty="0">
              <a:solidFill>
                <a:srgbClr val="FF0000"/>
              </a:solidFill>
            </a:endParaRPr>
          </a:p>
          <a:p>
            <a:pPr>
              <a:lnSpc>
                <a:spcPct val="90000"/>
              </a:lnSpc>
              <a:spcAft>
                <a:spcPts val="600"/>
              </a:spcAft>
            </a:pPr>
            <a:r>
              <a:rPr lang="en-US" sz="2400" b="1" dirty="0">
                <a:solidFill>
                  <a:srgbClr val="FF0000"/>
                </a:solidFill>
              </a:rPr>
              <a:t>Non Acid-Fast bacteria will have the Methylene blue and appear in blue color at the end of the procedure </a:t>
            </a:r>
          </a:p>
        </p:txBody>
      </p:sp>
    </p:spTree>
    <p:extLst>
      <p:ext uri="{BB962C8B-B14F-4D97-AF65-F5344CB8AC3E}">
        <p14:creationId xmlns:p14="http://schemas.microsoft.com/office/powerpoint/2010/main" val="192044152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6100EED-EE4B-4444-857A-DEF9E4BD10D9}"/>
              </a:ext>
            </a:extLst>
          </p:cNvPr>
          <p:cNvSpPr/>
          <p:nvPr/>
        </p:nvSpPr>
        <p:spPr>
          <a:xfrm>
            <a:off x="609600" y="1266825"/>
            <a:ext cx="5372100" cy="432435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Tx/>
              <a:buChar char="-"/>
            </a:pPr>
            <a:r>
              <a:rPr lang="en-US" dirty="0">
                <a:solidFill>
                  <a:schemeClr val="tx1"/>
                </a:solidFill>
              </a:rPr>
              <a:t>The smear must be </a:t>
            </a:r>
            <a:r>
              <a:rPr lang="en-US" b="1" dirty="0">
                <a:solidFill>
                  <a:schemeClr val="tx1"/>
                </a:solidFill>
              </a:rPr>
              <a:t>cooled</a:t>
            </a:r>
            <a:r>
              <a:rPr lang="en-US" dirty="0">
                <a:solidFill>
                  <a:schemeClr val="tx1"/>
                </a:solidFill>
              </a:rPr>
              <a:t> before decolorization, to allow the wax to harden</a:t>
            </a:r>
          </a:p>
          <a:p>
            <a:pPr marL="285750" indent="-285750">
              <a:buFontTx/>
              <a:buChar char="-"/>
            </a:pPr>
            <a:endParaRPr lang="en-US" b="1" dirty="0">
              <a:solidFill>
                <a:schemeClr val="tx1"/>
              </a:solidFill>
            </a:endParaRPr>
          </a:p>
          <a:p>
            <a:pPr marL="285750" indent="-285750">
              <a:buFontTx/>
              <a:buChar char="-"/>
            </a:pPr>
            <a:r>
              <a:rPr lang="en-US" dirty="0">
                <a:solidFill>
                  <a:schemeClr val="tx1"/>
                </a:solidFill>
              </a:rPr>
              <a:t>Decolorizing without proper cooling will let the stain to leave the Mycobacteria (the acid fast bacteria) and appear </a:t>
            </a:r>
            <a:r>
              <a:rPr lang="en-US" b="1" dirty="0">
                <a:solidFill>
                  <a:schemeClr val="tx1"/>
                </a:solidFill>
              </a:rPr>
              <a:t>colorless</a:t>
            </a:r>
            <a:r>
              <a:rPr lang="en-US" dirty="0">
                <a:solidFill>
                  <a:schemeClr val="tx1"/>
                </a:solidFill>
              </a:rPr>
              <a:t> at the end of the procedure, since Methylene blue, the counter stain, cannot enter these cells</a:t>
            </a:r>
          </a:p>
          <a:p>
            <a:pPr algn="ctr"/>
            <a:endParaRPr lang="en-US" dirty="0">
              <a:solidFill>
                <a:schemeClr val="tx1"/>
              </a:solidFill>
            </a:endParaRPr>
          </a:p>
        </p:txBody>
      </p:sp>
      <p:sp>
        <p:nvSpPr>
          <p:cNvPr id="6" name="Rectangle: Rounded Corners 5">
            <a:extLst>
              <a:ext uri="{FF2B5EF4-FFF2-40B4-BE49-F238E27FC236}">
                <a16:creationId xmlns:a16="http://schemas.microsoft.com/office/drawing/2014/main" id="{3FB49992-F2E0-4299-8DA8-774BDF9A4AC7}"/>
              </a:ext>
            </a:extLst>
          </p:cNvPr>
          <p:cNvSpPr/>
          <p:nvPr/>
        </p:nvSpPr>
        <p:spPr>
          <a:xfrm>
            <a:off x="6096000" y="1266825"/>
            <a:ext cx="5372100" cy="432435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t>
            </a:r>
            <a:r>
              <a:rPr lang="en-US" dirty="0">
                <a:solidFill>
                  <a:schemeClr val="tx1"/>
                </a:solidFill>
              </a:rPr>
              <a:t> </a:t>
            </a:r>
            <a:r>
              <a:rPr lang="en-US" b="1" dirty="0">
                <a:solidFill>
                  <a:schemeClr val="tx1"/>
                </a:solidFill>
              </a:rPr>
              <a:t>3% Acid Alcohol </a:t>
            </a:r>
            <a:r>
              <a:rPr lang="en-US" dirty="0">
                <a:solidFill>
                  <a:schemeClr val="tx1"/>
                </a:solidFill>
              </a:rPr>
              <a:t>= 3 units Acid + 97 units of Ethanol (absolute or 95%).</a:t>
            </a:r>
          </a:p>
          <a:p>
            <a:endParaRPr lang="en-US" dirty="0">
              <a:solidFill>
                <a:schemeClr val="tx1"/>
              </a:solidFill>
            </a:endParaRPr>
          </a:p>
          <a:p>
            <a:pPr marL="285750" indent="-285750">
              <a:buFontTx/>
              <a:buChar char="-"/>
            </a:pPr>
            <a:r>
              <a:rPr lang="en-US" b="1" dirty="0">
                <a:solidFill>
                  <a:schemeClr val="tx1"/>
                </a:solidFill>
              </a:rPr>
              <a:t>3% Acid-Alcohol is the best decolorizer to remove </a:t>
            </a:r>
            <a:r>
              <a:rPr lang="en-US" b="1" dirty="0" err="1">
                <a:solidFill>
                  <a:schemeClr val="tx1"/>
                </a:solidFill>
              </a:rPr>
              <a:t>Carbol</a:t>
            </a:r>
            <a:r>
              <a:rPr lang="en-US" b="1" dirty="0">
                <a:solidFill>
                  <a:schemeClr val="tx1"/>
                </a:solidFill>
              </a:rPr>
              <a:t>-fuchsin (it is strong enough to dissolve this stain).</a:t>
            </a:r>
          </a:p>
          <a:p>
            <a:pPr marL="285750" indent="-285750">
              <a:buFontTx/>
              <a:buChar char="-"/>
            </a:pPr>
            <a:endParaRPr lang="en-US" b="1" dirty="0">
              <a:solidFill>
                <a:schemeClr val="tx1"/>
              </a:solidFill>
            </a:endParaRPr>
          </a:p>
          <a:p>
            <a:r>
              <a:rPr lang="en-US" dirty="0">
                <a:solidFill>
                  <a:schemeClr val="tx1"/>
                </a:solidFill>
              </a:rPr>
              <a:t>- The affinity of the carbol fuchsin to the wax is higher than that to 3% Acid A </a:t>
            </a:r>
            <a:r>
              <a:rPr lang="en-US" dirty="0" err="1">
                <a:solidFill>
                  <a:schemeClr val="tx1"/>
                </a:solidFill>
              </a:rPr>
              <a:t>lcohol</a:t>
            </a:r>
            <a:r>
              <a:rPr lang="en-US" dirty="0">
                <a:solidFill>
                  <a:schemeClr val="tx1"/>
                </a:solidFill>
              </a:rPr>
              <a:t> ; SO, acid fast bacterial cells will retain the stain, while non acid fast cells will not.</a:t>
            </a:r>
          </a:p>
          <a:p>
            <a:pPr algn="ctr"/>
            <a:endParaRPr lang="en-US" dirty="0">
              <a:solidFill>
                <a:schemeClr val="tx1"/>
              </a:solidFill>
            </a:endParaRPr>
          </a:p>
        </p:txBody>
      </p:sp>
    </p:spTree>
    <p:extLst>
      <p:ext uri="{BB962C8B-B14F-4D97-AF65-F5344CB8AC3E}">
        <p14:creationId xmlns:p14="http://schemas.microsoft.com/office/powerpoint/2010/main" val="13459665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303477A-D801-4D80-9CF3-50BDD95CB818}"/>
              </a:ext>
            </a:extLst>
          </p:cNvPr>
          <p:cNvSpPr/>
          <p:nvPr/>
        </p:nvSpPr>
        <p:spPr>
          <a:xfrm>
            <a:off x="1243013" y="971550"/>
            <a:ext cx="9386887" cy="475773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What will happen if the cooling step is omitted during the staining technique?</a:t>
            </a:r>
          </a:p>
          <a:p>
            <a:pPr algn="ctr"/>
            <a:endParaRPr lang="en-US" dirty="0">
              <a:solidFill>
                <a:schemeClr val="tx1"/>
              </a:solidFill>
            </a:endParaRPr>
          </a:p>
          <a:p>
            <a:pPr marL="285750" indent="-285750">
              <a:buFontTx/>
              <a:buChar char="-"/>
            </a:pPr>
            <a:r>
              <a:rPr lang="en-US" sz="2000" dirty="0">
                <a:solidFill>
                  <a:schemeClr val="tx1"/>
                </a:solidFill>
              </a:rPr>
              <a:t>The Mycolic acid will remain in the soft state, and the decolorizer will remove the carbol fuchsin from the Acid-Fast bacteria</a:t>
            </a:r>
          </a:p>
          <a:p>
            <a:pPr marL="285750" indent="-285750">
              <a:buFontTx/>
              <a:buChar char="-"/>
            </a:pPr>
            <a:endParaRPr lang="en-US" sz="2000" dirty="0">
              <a:solidFill>
                <a:schemeClr val="tx1"/>
              </a:solidFill>
            </a:endParaRPr>
          </a:p>
          <a:p>
            <a:pPr marL="342900" indent="-342900">
              <a:buFontTx/>
              <a:buChar char="-"/>
            </a:pPr>
            <a:r>
              <a:rPr lang="en-US" sz="2000" dirty="0">
                <a:solidFill>
                  <a:schemeClr val="tx1"/>
                </a:solidFill>
              </a:rPr>
              <a:t>The decolorizer act as a </a:t>
            </a:r>
            <a:r>
              <a:rPr lang="en-US" sz="2000" b="1" dirty="0">
                <a:solidFill>
                  <a:schemeClr val="tx1"/>
                </a:solidFill>
              </a:rPr>
              <a:t>coolant</a:t>
            </a:r>
            <a:r>
              <a:rPr lang="en-US" sz="2000" dirty="0">
                <a:solidFill>
                  <a:schemeClr val="tx1"/>
                </a:solidFill>
              </a:rPr>
              <a:t>, that causes the mycolic acid to convert into the hard state, So the end result will be a </a:t>
            </a:r>
            <a:r>
              <a:rPr lang="en-US" sz="2000" b="1" dirty="0">
                <a:solidFill>
                  <a:schemeClr val="tx1"/>
                </a:solidFill>
              </a:rPr>
              <a:t>colorless Acid-Fast bacteria </a:t>
            </a:r>
            <a:r>
              <a:rPr lang="en-US" sz="2000" dirty="0">
                <a:solidFill>
                  <a:schemeClr val="tx1"/>
                </a:solidFill>
              </a:rPr>
              <a:t>and </a:t>
            </a:r>
            <a:r>
              <a:rPr lang="en-US" sz="2000" b="1" dirty="0">
                <a:solidFill>
                  <a:schemeClr val="tx1"/>
                </a:solidFill>
              </a:rPr>
              <a:t>blue Non Acid-Fast bacteria </a:t>
            </a:r>
          </a:p>
        </p:txBody>
      </p:sp>
    </p:spTree>
    <p:extLst>
      <p:ext uri="{BB962C8B-B14F-4D97-AF65-F5344CB8AC3E}">
        <p14:creationId xmlns:p14="http://schemas.microsoft.com/office/powerpoint/2010/main" val="11599320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3E17859-C5F0-476F-A082-A4CB8841DB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4375"/>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Content Placeholder 2">
            <a:extLst>
              <a:ext uri="{FF2B5EF4-FFF2-40B4-BE49-F238E27FC236}">
                <a16:creationId xmlns:a16="http://schemas.microsoft.com/office/drawing/2014/main" id="{46A2207C-0B63-41B7-BD25-2FDFD41B248D}"/>
              </a:ext>
            </a:extLst>
          </p:cNvPr>
          <p:cNvSpPr>
            <a:spLocks noGrp="1"/>
          </p:cNvSpPr>
          <p:nvPr>
            <p:ph idx="1"/>
          </p:nvPr>
        </p:nvSpPr>
        <p:spPr>
          <a:xfrm>
            <a:off x="150189" y="1674448"/>
            <a:ext cx="6081372" cy="4375308"/>
          </a:xfrm>
        </p:spPr>
        <p:txBody>
          <a:bodyPr>
            <a:normAutofit/>
          </a:bodyPr>
          <a:lstStyle/>
          <a:p>
            <a:pPr marL="342900" indent="-342900"/>
            <a:r>
              <a:rPr lang="en-US" sz="2400" b="1" dirty="0"/>
              <a:t>Spores:</a:t>
            </a:r>
            <a:r>
              <a:rPr lang="en-US" sz="2400" dirty="0"/>
              <a:t> are highly resistant, dormant structures (i.e. no metabolic activity) formed in response to adverse environmental conditions. They help in the survival of the organisms during adverse environmental conditions</a:t>
            </a:r>
          </a:p>
          <a:p>
            <a:pPr marL="0" indent="0">
              <a:buNone/>
            </a:pPr>
            <a:endParaRPr lang="en-US" sz="2400" dirty="0"/>
          </a:p>
          <a:p>
            <a:pPr marL="342900" indent="-342900"/>
            <a:r>
              <a:rPr lang="en-US" sz="2400" dirty="0"/>
              <a:t> They do not have a role in reproduction</a:t>
            </a:r>
          </a:p>
          <a:p>
            <a:pPr marL="0" indent="0">
              <a:buNone/>
            </a:pPr>
            <a:endParaRPr lang="en-US" sz="2400" dirty="0"/>
          </a:p>
          <a:p>
            <a:pPr marL="285750" indent="-285750"/>
            <a:r>
              <a:rPr lang="en-US" sz="2400" dirty="0"/>
              <a:t>It contains a copy of the bacterial genetic material.</a:t>
            </a:r>
          </a:p>
          <a:p>
            <a:endParaRPr lang="en-US" sz="2400" dirty="0"/>
          </a:p>
        </p:txBody>
      </p:sp>
      <p:sp>
        <p:nvSpPr>
          <p:cNvPr id="11" name="Arc 10">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980527" y="1929807"/>
            <a:ext cx="4556632" cy="455663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3" name="Oval 12">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00988" y="1969050"/>
            <a:ext cx="666675" cy="64859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6" name="Picture 5" descr="A picture containing drawing&#10;&#10;Description automatically generated">
            <a:extLst>
              <a:ext uri="{FF2B5EF4-FFF2-40B4-BE49-F238E27FC236}">
                <a16:creationId xmlns:a16="http://schemas.microsoft.com/office/drawing/2014/main" id="{30A3F112-5179-45FC-94D3-CDF7188799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1561" y="1"/>
            <a:ext cx="5810250" cy="6853624"/>
          </a:xfrm>
          <a:prstGeom prst="rect">
            <a:avLst/>
          </a:prstGeom>
        </p:spPr>
      </p:pic>
      <p:sp>
        <p:nvSpPr>
          <p:cNvPr id="7" name="Rectangle 6">
            <a:extLst>
              <a:ext uri="{FF2B5EF4-FFF2-40B4-BE49-F238E27FC236}">
                <a16:creationId xmlns:a16="http://schemas.microsoft.com/office/drawing/2014/main" id="{FED84960-2783-4DAA-8B65-0F97C48C7B2D}"/>
              </a:ext>
            </a:extLst>
          </p:cNvPr>
          <p:cNvSpPr/>
          <p:nvPr/>
        </p:nvSpPr>
        <p:spPr>
          <a:xfrm>
            <a:off x="317983" y="386305"/>
            <a:ext cx="5329237" cy="107918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a:solidFill>
                  <a:srgbClr val="000000"/>
                </a:solidFill>
                <a:latin typeface="Calibri-Bold"/>
              </a:rPr>
              <a:t>Endospore Staining</a:t>
            </a:r>
            <a:endParaRPr lang="en-US" sz="3200" dirty="0"/>
          </a:p>
        </p:txBody>
      </p:sp>
    </p:spTree>
    <p:extLst>
      <p:ext uri="{BB962C8B-B14F-4D97-AF65-F5344CB8AC3E}">
        <p14:creationId xmlns:p14="http://schemas.microsoft.com/office/powerpoint/2010/main" val="17082890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F24872-810F-454E-85CA-78AD35EDE833}"/>
              </a:ext>
            </a:extLst>
          </p:cNvPr>
          <p:cNvSpPr>
            <a:spLocks noGrp="1"/>
          </p:cNvSpPr>
          <p:nvPr>
            <p:ph idx="1"/>
          </p:nvPr>
        </p:nvSpPr>
        <p:spPr>
          <a:xfrm>
            <a:off x="690562" y="614363"/>
            <a:ext cx="10834688" cy="5929313"/>
          </a:xfrm>
        </p:spPr>
        <p:txBody>
          <a:bodyPr>
            <a:normAutofit fontScale="85000" lnSpcReduction="20000"/>
          </a:bodyPr>
          <a:lstStyle/>
          <a:p>
            <a:pPr>
              <a:lnSpc>
                <a:spcPct val="120000"/>
              </a:lnSpc>
            </a:pPr>
            <a:r>
              <a:rPr lang="en-US" sz="2400" dirty="0"/>
              <a:t>Some bacterial genera have the capacity to exist either as metabolically active </a:t>
            </a:r>
            <a:r>
              <a:rPr lang="en-US" sz="2400" b="1" dirty="0">
                <a:solidFill>
                  <a:srgbClr val="FF0000"/>
                </a:solidFill>
              </a:rPr>
              <a:t>vegetative cells </a:t>
            </a:r>
            <a:r>
              <a:rPr lang="en-US" sz="2400" dirty="0"/>
              <a:t>or as highly resistant, metabolically inactive cell types called </a:t>
            </a:r>
            <a:r>
              <a:rPr lang="en-US" sz="2400" b="1" dirty="0">
                <a:solidFill>
                  <a:srgbClr val="FF0000"/>
                </a:solidFill>
              </a:rPr>
              <a:t>spores</a:t>
            </a:r>
          </a:p>
          <a:p>
            <a:endParaRPr lang="en-US" sz="2400" b="1" dirty="0">
              <a:solidFill>
                <a:srgbClr val="FF0000"/>
              </a:solidFill>
            </a:endParaRPr>
          </a:p>
          <a:p>
            <a:pPr>
              <a:lnSpc>
                <a:spcPct val="120000"/>
              </a:lnSpc>
            </a:pPr>
            <a:r>
              <a:rPr lang="en-US" sz="2400" dirty="0"/>
              <a:t>When environmental conditions become unfavorable for continuing vegetative cellular activities, vegetative cells have the capacity to undergo </a:t>
            </a:r>
            <a:r>
              <a:rPr lang="en-US" sz="2400" b="1" dirty="0">
                <a:solidFill>
                  <a:srgbClr val="FF0000"/>
                </a:solidFill>
              </a:rPr>
              <a:t>sporogenesis</a:t>
            </a:r>
            <a:r>
              <a:rPr lang="en-US" sz="2400" dirty="0"/>
              <a:t> and produce </a:t>
            </a:r>
            <a:r>
              <a:rPr lang="en-US" sz="2400" b="1" i="1" dirty="0">
                <a:solidFill>
                  <a:srgbClr val="FF0000"/>
                </a:solidFill>
              </a:rPr>
              <a:t>endospores</a:t>
            </a:r>
            <a:r>
              <a:rPr lang="en-US" sz="2400" dirty="0"/>
              <a:t>, which are surrounded by impervious layers called </a:t>
            </a:r>
            <a:r>
              <a:rPr lang="en-US" sz="2400" b="1" dirty="0">
                <a:solidFill>
                  <a:srgbClr val="FF0000"/>
                </a:solidFill>
              </a:rPr>
              <a:t>spore coats</a:t>
            </a:r>
          </a:p>
          <a:p>
            <a:pPr>
              <a:lnSpc>
                <a:spcPct val="120000"/>
              </a:lnSpc>
            </a:pPr>
            <a:endParaRPr lang="en-US" sz="2400" b="1" dirty="0">
              <a:solidFill>
                <a:srgbClr val="FF0000"/>
              </a:solidFill>
            </a:endParaRPr>
          </a:p>
          <a:p>
            <a:pPr>
              <a:lnSpc>
                <a:spcPct val="120000"/>
              </a:lnSpc>
            </a:pPr>
            <a:r>
              <a:rPr lang="en-US" sz="2400" dirty="0"/>
              <a:t>As conditions continue to worsen, the endospore is released from the vegetative cell and becomes an independent cell called a </a:t>
            </a:r>
            <a:r>
              <a:rPr lang="en-US" sz="2400" b="1" dirty="0">
                <a:solidFill>
                  <a:srgbClr val="FF0000"/>
                </a:solidFill>
              </a:rPr>
              <a:t>free spore</a:t>
            </a:r>
          </a:p>
          <a:p>
            <a:endParaRPr lang="en-US" sz="2400" b="1" dirty="0">
              <a:solidFill>
                <a:srgbClr val="FF0000"/>
              </a:solidFill>
            </a:endParaRPr>
          </a:p>
          <a:p>
            <a:pPr>
              <a:lnSpc>
                <a:spcPct val="120000"/>
              </a:lnSpc>
            </a:pPr>
            <a:r>
              <a:rPr lang="en-US" sz="2400" dirty="0"/>
              <a:t>This is a natural process the organism performs to prevent annihilation &amp; to ensure bacterial survival, since these spores are resistant to the harsh environmental conditions (excessive heat, freezing, radiation, desiccation, and chemical agents)</a:t>
            </a:r>
          </a:p>
          <a:p>
            <a:endParaRPr lang="en-US" sz="2400" dirty="0">
              <a:solidFill>
                <a:srgbClr val="FF0000"/>
              </a:solidFill>
            </a:endParaRPr>
          </a:p>
          <a:p>
            <a:pPr>
              <a:lnSpc>
                <a:spcPct val="120000"/>
              </a:lnSpc>
            </a:pPr>
            <a:r>
              <a:rPr lang="en-US" sz="2400" dirty="0"/>
              <a:t>With the return of favorable environmental conditions, the free spore may revert to a metabolically active and less resistant vegetative cell through </a:t>
            </a:r>
            <a:r>
              <a:rPr lang="en-US" sz="2400" b="1" dirty="0">
                <a:solidFill>
                  <a:srgbClr val="FF0000"/>
                </a:solidFill>
              </a:rPr>
              <a:t>germination</a:t>
            </a:r>
          </a:p>
        </p:txBody>
      </p:sp>
    </p:spTree>
    <p:extLst>
      <p:ext uri="{BB962C8B-B14F-4D97-AF65-F5344CB8AC3E}">
        <p14:creationId xmlns:p14="http://schemas.microsoft.com/office/powerpoint/2010/main" val="42441178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AA8D2FC-CF63-4518-9B7F-BE833C9A69C0}"/>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8528740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rgbClr val="3F3F3F"/>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CFD1A7C2-0F85-48B8-B6BE-94641224ABFC}"/>
              </a:ext>
            </a:extLst>
          </p:cNvPr>
          <p:cNvSpPr>
            <a:spLocks noGrp="1"/>
          </p:cNvSpPr>
          <p:nvPr>
            <p:ph idx="1"/>
          </p:nvPr>
        </p:nvSpPr>
        <p:spPr>
          <a:xfrm>
            <a:off x="0" y="714374"/>
            <a:ext cx="4654295" cy="5767917"/>
          </a:xfrm>
        </p:spPr>
        <p:txBody>
          <a:bodyPr>
            <a:normAutofit lnSpcReduction="10000"/>
          </a:bodyPr>
          <a:lstStyle/>
          <a:p>
            <a:r>
              <a:rPr lang="en-US" sz="2000" dirty="0"/>
              <a:t>Bacteria can be classified either </a:t>
            </a:r>
            <a:r>
              <a:rPr lang="en-US" sz="2000" b="1" dirty="0"/>
              <a:t>Spore-Former</a:t>
            </a:r>
            <a:r>
              <a:rPr lang="en-US" sz="2000" dirty="0"/>
              <a:t> OR </a:t>
            </a:r>
            <a:r>
              <a:rPr lang="en-US" sz="2000" b="1" dirty="0"/>
              <a:t>Non-Spore-Former</a:t>
            </a:r>
          </a:p>
          <a:p>
            <a:endParaRPr lang="en-US" sz="2000" dirty="0"/>
          </a:p>
          <a:p>
            <a:r>
              <a:rPr lang="en-US" sz="2000" dirty="0"/>
              <a:t>Spore-Former bacteria can be classified either </a:t>
            </a:r>
            <a:r>
              <a:rPr lang="en-US" sz="2000" b="1" dirty="0"/>
              <a:t>Exospore-Former</a:t>
            </a:r>
            <a:r>
              <a:rPr lang="en-US" sz="2000" dirty="0"/>
              <a:t> (</a:t>
            </a:r>
            <a:r>
              <a:rPr lang="en-US" sz="2000" i="1" dirty="0"/>
              <a:t>Streptomyces</a:t>
            </a:r>
            <a:r>
              <a:rPr lang="en-US" sz="2000" dirty="0"/>
              <a:t>) OR </a:t>
            </a:r>
            <a:r>
              <a:rPr lang="en-US" sz="2000" b="1" dirty="0"/>
              <a:t>Endospore-Former</a:t>
            </a:r>
            <a:r>
              <a:rPr lang="en-US" sz="2000" dirty="0"/>
              <a:t> (</a:t>
            </a:r>
            <a:r>
              <a:rPr lang="en-US" sz="2000" i="1" dirty="0"/>
              <a:t>Bacillus</a:t>
            </a:r>
            <a:r>
              <a:rPr lang="en-US" sz="2000" dirty="0"/>
              <a:t>)</a:t>
            </a:r>
          </a:p>
          <a:p>
            <a:endParaRPr lang="en-US" sz="2000" dirty="0"/>
          </a:p>
          <a:p>
            <a:r>
              <a:rPr lang="en-US" sz="2000" dirty="0"/>
              <a:t>Endospore-Former bacteria can be classified based on:</a:t>
            </a:r>
          </a:p>
          <a:p>
            <a:pPr marL="0" indent="0" algn="l">
              <a:buNone/>
            </a:pPr>
            <a:r>
              <a:rPr lang="en-US" sz="2000" dirty="0"/>
              <a:t>         - </a:t>
            </a:r>
            <a:r>
              <a:rPr lang="en-US" sz="2000" b="1" dirty="0"/>
              <a:t>Position of Spore: </a:t>
            </a:r>
          </a:p>
          <a:p>
            <a:pPr marL="0" indent="0" algn="l">
              <a:buNone/>
            </a:pPr>
            <a:r>
              <a:rPr lang="en-US" sz="2000" dirty="0"/>
              <a:t>                        - Terminal</a:t>
            </a:r>
          </a:p>
          <a:p>
            <a:pPr marL="0" indent="0" algn="l">
              <a:buNone/>
            </a:pPr>
            <a:r>
              <a:rPr lang="en-US" sz="2000" dirty="0"/>
              <a:t>                        - Subterminal / Subcentral</a:t>
            </a:r>
          </a:p>
          <a:p>
            <a:pPr marL="0" indent="0" algn="l">
              <a:buNone/>
            </a:pPr>
            <a:r>
              <a:rPr lang="en-US" sz="2000" dirty="0"/>
              <a:t>                        - Central</a:t>
            </a:r>
          </a:p>
          <a:p>
            <a:pPr marL="0" indent="0">
              <a:buNone/>
            </a:pPr>
            <a:r>
              <a:rPr lang="en-US" sz="2000" dirty="0"/>
              <a:t>         - </a:t>
            </a:r>
            <a:r>
              <a:rPr lang="en-US" sz="2000" b="1" dirty="0"/>
              <a:t>Shape of Sporangium: </a:t>
            </a:r>
          </a:p>
          <a:p>
            <a:pPr marL="0" indent="0">
              <a:buNone/>
            </a:pPr>
            <a:r>
              <a:rPr lang="en-US" sz="2000" dirty="0"/>
              <a:t>                        - With swelling</a:t>
            </a:r>
          </a:p>
          <a:p>
            <a:pPr marL="0" indent="0">
              <a:buNone/>
            </a:pPr>
            <a:r>
              <a:rPr lang="en-US" sz="2000" dirty="0"/>
              <a:t>                        - Without swelling  </a:t>
            </a:r>
          </a:p>
        </p:txBody>
      </p:sp>
      <p:pic>
        <p:nvPicPr>
          <p:cNvPr id="4" name="Picture 3">
            <a:extLst>
              <a:ext uri="{FF2B5EF4-FFF2-40B4-BE49-F238E27FC236}">
                <a16:creationId xmlns:a16="http://schemas.microsoft.com/office/drawing/2014/main" id="{B0755C31-0B8D-4805-93F7-02630F271116}"/>
              </a:ext>
            </a:extLst>
          </p:cNvPr>
          <p:cNvPicPr>
            <a:picLocks noChangeAspect="1"/>
          </p:cNvPicPr>
          <p:nvPr/>
        </p:nvPicPr>
        <p:blipFill rotWithShape="1">
          <a:blip r:embed="rId2"/>
          <a:srcRect l="3254" t="1859" r="3294"/>
          <a:stretch/>
        </p:blipFill>
        <p:spPr>
          <a:xfrm>
            <a:off x="4654295" y="0"/>
            <a:ext cx="7537705" cy="6858000"/>
          </a:xfrm>
          <a:prstGeom prst="rect">
            <a:avLst/>
          </a:prstGeom>
        </p:spPr>
      </p:pic>
    </p:spTree>
    <p:extLst>
      <p:ext uri="{BB962C8B-B14F-4D97-AF65-F5344CB8AC3E}">
        <p14:creationId xmlns:p14="http://schemas.microsoft.com/office/powerpoint/2010/main" val="1345692557"/>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rgbClr val="3F3F3F"/>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0796E82-9525-461D-92D1-0998C73AF4F1}"/>
              </a:ext>
            </a:extLst>
          </p:cNvPr>
          <p:cNvSpPr>
            <a:spLocks noGrp="1"/>
          </p:cNvSpPr>
          <p:nvPr>
            <p:ph type="title"/>
          </p:nvPr>
        </p:nvSpPr>
        <p:spPr>
          <a:xfrm>
            <a:off x="161926" y="623392"/>
            <a:ext cx="4324350" cy="1607060"/>
          </a:xfrm>
          <a:noFill/>
          <a:ln w="19050">
            <a:solidFill>
              <a:schemeClr val="tx1"/>
            </a:solidFill>
          </a:ln>
        </p:spPr>
        <p:txBody>
          <a:bodyPr wrap="square" anchor="ctr">
            <a:normAutofit/>
          </a:bodyPr>
          <a:lstStyle/>
          <a:p>
            <a:pPr algn="ctr"/>
            <a:r>
              <a:rPr lang="en-US" sz="2800" b="1" dirty="0"/>
              <a:t>Endospore Staining</a:t>
            </a:r>
          </a:p>
        </p:txBody>
      </p:sp>
      <p:sp>
        <p:nvSpPr>
          <p:cNvPr id="3" name="Content Placeholder 2">
            <a:extLst>
              <a:ext uri="{FF2B5EF4-FFF2-40B4-BE49-F238E27FC236}">
                <a16:creationId xmlns:a16="http://schemas.microsoft.com/office/drawing/2014/main" id="{B52BC9E1-3C20-46A2-A247-437DF7EE9494}"/>
              </a:ext>
            </a:extLst>
          </p:cNvPr>
          <p:cNvSpPr>
            <a:spLocks noGrp="1"/>
          </p:cNvSpPr>
          <p:nvPr>
            <p:ph idx="1"/>
          </p:nvPr>
        </p:nvSpPr>
        <p:spPr>
          <a:xfrm>
            <a:off x="161925" y="2638044"/>
            <a:ext cx="4324350" cy="2305432"/>
          </a:xfrm>
        </p:spPr>
        <p:txBody>
          <a:bodyPr>
            <a:normAutofit/>
          </a:bodyPr>
          <a:lstStyle/>
          <a:p>
            <a:r>
              <a:rPr lang="en-US" sz="2000" dirty="0"/>
              <a:t>Endospore staining technique is used to check the presence and the position of the spore (central, terminal... </a:t>
            </a:r>
            <a:r>
              <a:rPr lang="en-US" sz="2000" dirty="0" err="1"/>
              <a:t>etc</a:t>
            </a:r>
            <a:r>
              <a:rPr lang="en-US" sz="2000" dirty="0"/>
              <a:t>); which is important to identify clinically important bacteria</a:t>
            </a:r>
          </a:p>
        </p:txBody>
      </p:sp>
      <p:pic>
        <p:nvPicPr>
          <p:cNvPr id="5" name="Picture 4" descr="A picture containing device&#10;&#10;Description automatically generated">
            <a:extLst>
              <a:ext uri="{FF2B5EF4-FFF2-40B4-BE49-F238E27FC236}">
                <a16:creationId xmlns:a16="http://schemas.microsoft.com/office/drawing/2014/main" id="{F9B4C33C-929F-4BAD-805E-2396C1525C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2038" y="500064"/>
            <a:ext cx="7158037" cy="5900736"/>
          </a:xfrm>
          <a:prstGeom prst="rect">
            <a:avLst/>
          </a:prstGeom>
        </p:spPr>
      </p:pic>
    </p:spTree>
    <p:extLst>
      <p:ext uri="{BB962C8B-B14F-4D97-AF65-F5344CB8AC3E}">
        <p14:creationId xmlns:p14="http://schemas.microsoft.com/office/powerpoint/2010/main" val="1667668328"/>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rgbClr val="3F3F3F"/>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37A88A1-9DFF-494B-A5A4-2021D29C98C1}"/>
              </a:ext>
            </a:extLst>
          </p:cNvPr>
          <p:cNvSpPr>
            <a:spLocks noGrp="1"/>
          </p:cNvSpPr>
          <p:nvPr>
            <p:ph type="title"/>
          </p:nvPr>
        </p:nvSpPr>
        <p:spPr>
          <a:xfrm>
            <a:off x="643468" y="623392"/>
            <a:ext cx="3363974" cy="1607060"/>
          </a:xfrm>
          <a:noFill/>
          <a:ln w="19050">
            <a:solidFill>
              <a:schemeClr val="tx1"/>
            </a:solidFill>
          </a:ln>
        </p:spPr>
        <p:txBody>
          <a:bodyPr wrap="square" anchor="ctr">
            <a:normAutofit/>
          </a:bodyPr>
          <a:lstStyle/>
          <a:p>
            <a:pPr algn="ctr"/>
            <a:r>
              <a:rPr lang="en-US" sz="2800" b="1" dirty="0"/>
              <a:t>Endospore Staining</a:t>
            </a:r>
            <a:endParaRPr lang="en-US" sz="2800" dirty="0"/>
          </a:p>
        </p:txBody>
      </p:sp>
      <p:sp>
        <p:nvSpPr>
          <p:cNvPr id="3" name="Content Placeholder 2">
            <a:extLst>
              <a:ext uri="{FF2B5EF4-FFF2-40B4-BE49-F238E27FC236}">
                <a16:creationId xmlns:a16="http://schemas.microsoft.com/office/drawing/2014/main" id="{23BEB795-71DE-42C5-A0E0-4F9FDCC068AC}"/>
              </a:ext>
            </a:extLst>
          </p:cNvPr>
          <p:cNvSpPr>
            <a:spLocks noGrp="1"/>
          </p:cNvSpPr>
          <p:nvPr>
            <p:ph idx="1"/>
          </p:nvPr>
        </p:nvSpPr>
        <p:spPr>
          <a:xfrm>
            <a:off x="91439" y="2517570"/>
            <a:ext cx="4562857" cy="4219957"/>
          </a:xfrm>
        </p:spPr>
        <p:txBody>
          <a:bodyPr>
            <a:normAutofit/>
          </a:bodyPr>
          <a:lstStyle/>
          <a:p>
            <a:pPr marL="457200" indent="-457200">
              <a:buFont typeface="+mj-lt"/>
              <a:buAutoNum type="arabicPeriod"/>
            </a:pPr>
            <a:r>
              <a:rPr lang="en-US" sz="1600" dirty="0"/>
              <a:t>Prepare a smear of </a:t>
            </a:r>
            <a:r>
              <a:rPr lang="en-US" sz="1600" i="1" dirty="0"/>
              <a:t>Bacillus</a:t>
            </a:r>
            <a:r>
              <a:rPr lang="en-US" sz="1600" dirty="0"/>
              <a:t> with Gentle spreading and without heat-fixing</a:t>
            </a:r>
          </a:p>
          <a:p>
            <a:pPr marL="457200" indent="-457200">
              <a:buFont typeface="+mj-lt"/>
              <a:buAutoNum type="arabicPeriod"/>
            </a:pPr>
            <a:r>
              <a:rPr lang="en-US" sz="1600" dirty="0"/>
              <a:t> Load the primary stain (</a:t>
            </a:r>
            <a:r>
              <a:rPr lang="en-US" sz="1600" b="1" dirty="0"/>
              <a:t>Malachite green</a:t>
            </a:r>
            <a:r>
              <a:rPr lang="en-US" sz="1600" dirty="0"/>
              <a:t>), </a:t>
            </a:r>
            <a:r>
              <a:rPr lang="en-US" sz="1600" b="1" dirty="0"/>
              <a:t>THEN</a:t>
            </a:r>
            <a:r>
              <a:rPr lang="en-US" sz="1600" dirty="0"/>
              <a:t>, </a:t>
            </a:r>
            <a:r>
              <a:rPr lang="en-US" sz="1600" b="1" dirty="0">
                <a:solidFill>
                  <a:srgbClr val="FF0000"/>
                </a:solidFill>
              </a:rPr>
              <a:t>steam for less than 5 seconds</a:t>
            </a:r>
            <a:r>
              <a:rPr lang="en-US" sz="1600" dirty="0"/>
              <a:t>.</a:t>
            </a:r>
          </a:p>
          <a:p>
            <a:pPr marL="457200" indent="-457200">
              <a:buFont typeface="+mj-lt"/>
              <a:buAutoNum type="arabicPeriod"/>
            </a:pPr>
            <a:r>
              <a:rPr lang="en-US" sz="1600" dirty="0"/>
              <a:t>Cool the smear at room temperature for at </a:t>
            </a:r>
            <a:r>
              <a:rPr lang="en-US" sz="1600" b="1" dirty="0">
                <a:solidFill>
                  <a:srgbClr val="FF0000"/>
                </a:solidFill>
              </a:rPr>
              <a:t>least 5 minutes</a:t>
            </a:r>
          </a:p>
          <a:p>
            <a:pPr marL="457200" indent="-457200">
              <a:buFont typeface="+mj-lt"/>
              <a:buAutoNum type="arabicPeriod"/>
            </a:pPr>
            <a:r>
              <a:rPr lang="en-US" sz="1600" dirty="0"/>
              <a:t>Decolorize by gently washing the slide with </a:t>
            </a:r>
            <a:r>
              <a:rPr lang="en-US" sz="1600" b="1" dirty="0"/>
              <a:t>tap water</a:t>
            </a:r>
            <a:endParaRPr lang="en-US" sz="1600" dirty="0"/>
          </a:p>
          <a:p>
            <a:pPr marL="457200" indent="-457200">
              <a:buFont typeface="+mj-lt"/>
              <a:buAutoNum type="arabicPeriod"/>
            </a:pPr>
            <a:r>
              <a:rPr lang="en-US" sz="1600" dirty="0"/>
              <a:t>Load the counterstain (</a:t>
            </a:r>
            <a:r>
              <a:rPr lang="en-US" sz="1600" b="1" dirty="0"/>
              <a:t>Safranin</a:t>
            </a:r>
            <a:r>
              <a:rPr lang="en-US" sz="1600" dirty="0"/>
              <a:t>), and leave to stand for 1 minute</a:t>
            </a:r>
          </a:p>
          <a:p>
            <a:pPr marL="457200" indent="-457200">
              <a:buFont typeface="+mj-lt"/>
              <a:buAutoNum type="arabicPeriod"/>
            </a:pPr>
            <a:r>
              <a:rPr lang="en-US" sz="1600" dirty="0"/>
              <a:t>Wash gently by tap water to remove excess stain</a:t>
            </a:r>
          </a:p>
          <a:p>
            <a:pPr marL="457200" indent="-457200">
              <a:buFont typeface="+mj-lt"/>
              <a:buAutoNum type="arabicPeriod"/>
            </a:pPr>
            <a:r>
              <a:rPr lang="en-US" sz="1600" dirty="0"/>
              <a:t>Blot dry and Microscopy. (You will see Pink Vegetative cell with green endospore inside them).</a:t>
            </a:r>
          </a:p>
          <a:p>
            <a:endParaRPr lang="en-US" sz="1600" dirty="0"/>
          </a:p>
        </p:txBody>
      </p:sp>
      <p:pic>
        <p:nvPicPr>
          <p:cNvPr id="4" name="Picture 3" descr="A screenshot of a cell phone&#10;&#10;Description automatically generated">
            <a:extLst>
              <a:ext uri="{FF2B5EF4-FFF2-40B4-BE49-F238E27FC236}">
                <a16:creationId xmlns:a16="http://schemas.microsoft.com/office/drawing/2014/main" id="{A79BD01B-34CE-42C7-8CBB-F0BBBF90DA36}"/>
              </a:ext>
            </a:extLst>
          </p:cNvPr>
          <p:cNvPicPr>
            <a:picLocks noChangeAspect="1"/>
          </p:cNvPicPr>
          <p:nvPr/>
        </p:nvPicPr>
        <p:blipFill rotWithShape="1">
          <a:blip r:embed="rId2">
            <a:extLst>
              <a:ext uri="{28A0092B-C50C-407E-A947-70E740481C1C}">
                <a14:useLocalDpi xmlns:a14="http://schemas.microsoft.com/office/drawing/2010/main" val="0"/>
              </a:ext>
            </a:extLst>
          </a:blip>
          <a:srcRect l="43261" t="15625" r="12963"/>
          <a:stretch/>
        </p:blipFill>
        <p:spPr>
          <a:xfrm>
            <a:off x="4800600" y="0"/>
            <a:ext cx="7391400" cy="6858000"/>
          </a:xfrm>
          <a:prstGeom prst="rect">
            <a:avLst/>
          </a:prstGeom>
        </p:spPr>
      </p:pic>
    </p:spTree>
    <p:extLst>
      <p:ext uri="{BB962C8B-B14F-4D97-AF65-F5344CB8AC3E}">
        <p14:creationId xmlns:p14="http://schemas.microsoft.com/office/powerpoint/2010/main" val="3903250945"/>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DD33B-4BE0-4235-B590-FC67E9410FF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04BB1C2-31C1-4470-A9B1-259E76B53D66}"/>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EEC52FBE-2ACE-4B5E-BDBF-9FD21AE21B0D}"/>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0554497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F3BE3-1892-4058-A738-F54BC91634CD}"/>
              </a:ext>
            </a:extLst>
          </p:cNvPr>
          <p:cNvSpPr>
            <a:spLocks noGrp="1"/>
          </p:cNvSpPr>
          <p:nvPr>
            <p:ph type="title"/>
          </p:nvPr>
        </p:nvSpPr>
        <p:spPr/>
        <p:txBody>
          <a:bodyPr/>
          <a:lstStyle/>
          <a:p>
            <a:r>
              <a:rPr lang="en-US" b="1" dirty="0"/>
              <a:t>Endospore Staining procedure</a:t>
            </a:r>
          </a:p>
        </p:txBody>
      </p:sp>
      <p:graphicFrame>
        <p:nvGraphicFramePr>
          <p:cNvPr id="5" name="Table 4">
            <a:extLst>
              <a:ext uri="{FF2B5EF4-FFF2-40B4-BE49-F238E27FC236}">
                <a16:creationId xmlns:a16="http://schemas.microsoft.com/office/drawing/2014/main" id="{416A563C-2DD7-43EF-8243-4D945E86F2F0}"/>
              </a:ext>
            </a:extLst>
          </p:cNvPr>
          <p:cNvGraphicFramePr>
            <a:graphicFrameLocks/>
          </p:cNvGraphicFramePr>
          <p:nvPr>
            <p:extLst>
              <p:ext uri="{D42A27DB-BD31-4B8C-83A1-F6EECF244321}">
                <p14:modId xmlns:p14="http://schemas.microsoft.com/office/powerpoint/2010/main" val="3171151796"/>
              </p:ext>
            </p:extLst>
          </p:nvPr>
        </p:nvGraphicFramePr>
        <p:xfrm>
          <a:off x="547685" y="1933575"/>
          <a:ext cx="10806115" cy="3962400"/>
        </p:xfrm>
        <a:graphic>
          <a:graphicData uri="http://schemas.openxmlformats.org/drawingml/2006/table">
            <a:tbl>
              <a:tblPr firstRow="1" bandRow="1">
                <a:tableStyleId>{9D7B26C5-4107-4FEC-AEDC-1716B250A1EF}</a:tableStyleId>
              </a:tblPr>
              <a:tblGrid>
                <a:gridCol w="2262190">
                  <a:extLst>
                    <a:ext uri="{9D8B030D-6E8A-4147-A177-3AD203B41FA5}">
                      <a16:colId xmlns:a16="http://schemas.microsoft.com/office/drawing/2014/main" val="935779461"/>
                    </a:ext>
                  </a:extLst>
                </a:gridCol>
                <a:gridCol w="4943475">
                  <a:extLst>
                    <a:ext uri="{9D8B030D-6E8A-4147-A177-3AD203B41FA5}">
                      <a16:colId xmlns:a16="http://schemas.microsoft.com/office/drawing/2014/main" val="2617598723"/>
                    </a:ext>
                  </a:extLst>
                </a:gridCol>
                <a:gridCol w="1888331">
                  <a:extLst>
                    <a:ext uri="{9D8B030D-6E8A-4147-A177-3AD203B41FA5}">
                      <a16:colId xmlns:a16="http://schemas.microsoft.com/office/drawing/2014/main" val="104852389"/>
                    </a:ext>
                  </a:extLst>
                </a:gridCol>
                <a:gridCol w="1712119">
                  <a:extLst>
                    <a:ext uri="{9D8B030D-6E8A-4147-A177-3AD203B41FA5}">
                      <a16:colId xmlns:a16="http://schemas.microsoft.com/office/drawing/2014/main" val="1462571844"/>
                    </a:ext>
                  </a:extLst>
                </a:gridCol>
              </a:tblGrid>
              <a:tr h="0">
                <a:tc>
                  <a:txBody>
                    <a:bodyPr/>
                    <a:lstStyle/>
                    <a:p>
                      <a:pPr algn="ctr"/>
                      <a:r>
                        <a:rPr lang="en-US" sz="1800" dirty="0"/>
                        <a:t>Step</a:t>
                      </a:r>
                    </a:p>
                  </a:txBody>
                  <a:tcPr/>
                </a:tc>
                <a:tc>
                  <a:txBody>
                    <a:bodyPr/>
                    <a:lstStyle/>
                    <a:p>
                      <a:pPr algn="ctr"/>
                      <a:r>
                        <a:rPr lang="en-US" sz="1800" dirty="0"/>
                        <a:t>Effect</a:t>
                      </a:r>
                    </a:p>
                  </a:txBody>
                  <a:tcPr/>
                </a:tc>
                <a:tc gridSpan="2">
                  <a:txBody>
                    <a:bodyPr/>
                    <a:lstStyle/>
                    <a:p>
                      <a:pPr algn="ctr"/>
                      <a:r>
                        <a:rPr lang="en-US" sz="1800" dirty="0"/>
                        <a:t>Cell Color</a:t>
                      </a:r>
                    </a:p>
                  </a:txBody>
                  <a:tcPr/>
                </a:tc>
                <a:tc hMerge="1">
                  <a:txBody>
                    <a:bodyPr/>
                    <a:lstStyle/>
                    <a:p>
                      <a:pPr algn="ctr"/>
                      <a:endParaRPr lang="en-US" dirty="0"/>
                    </a:p>
                  </a:txBody>
                  <a:tcPr/>
                </a:tc>
                <a:extLst>
                  <a:ext uri="{0D108BD9-81ED-4DB2-BD59-A6C34878D82A}">
                    <a16:rowId xmlns:a16="http://schemas.microsoft.com/office/drawing/2014/main" val="1628038961"/>
                  </a:ext>
                </a:extLst>
              </a:tr>
              <a:tr h="370840">
                <a:tc>
                  <a:txBody>
                    <a:bodyPr/>
                    <a:lstStyle/>
                    <a:p>
                      <a:pPr algn="ctr"/>
                      <a:endParaRPr lang="en-US" sz="1700" dirty="0"/>
                    </a:p>
                  </a:txBody>
                  <a:tcPr/>
                </a:tc>
                <a:tc>
                  <a:txBody>
                    <a:bodyPr/>
                    <a:lstStyle/>
                    <a:p>
                      <a:pPr algn="ctr"/>
                      <a:endParaRPr lang="en-US" sz="1700" dirty="0"/>
                    </a:p>
                  </a:txBody>
                  <a:tcPr/>
                </a:tc>
                <a:tc>
                  <a:txBody>
                    <a:bodyPr/>
                    <a:lstStyle/>
                    <a:p>
                      <a:pPr algn="ctr"/>
                      <a:r>
                        <a:rPr lang="en-US" sz="1700" b="1" dirty="0"/>
                        <a:t>Vegetative Cell</a:t>
                      </a:r>
                    </a:p>
                  </a:txBody>
                  <a:tcPr/>
                </a:tc>
                <a:tc>
                  <a:txBody>
                    <a:bodyPr/>
                    <a:lstStyle/>
                    <a:p>
                      <a:pPr algn="ctr"/>
                      <a:r>
                        <a:rPr lang="en-US" sz="1700" b="1" dirty="0"/>
                        <a:t>Endospore</a:t>
                      </a:r>
                    </a:p>
                  </a:txBody>
                  <a:tcPr/>
                </a:tc>
                <a:extLst>
                  <a:ext uri="{0D108BD9-81ED-4DB2-BD59-A6C34878D82A}">
                    <a16:rowId xmlns:a16="http://schemas.microsoft.com/office/drawing/2014/main" val="1814094620"/>
                  </a:ext>
                </a:extLst>
              </a:tr>
              <a:tr h="370840">
                <a:tc>
                  <a:txBody>
                    <a:bodyPr/>
                    <a:lstStyle/>
                    <a:p>
                      <a:pPr algn="ctr"/>
                      <a:r>
                        <a:rPr lang="en-US" sz="1700" dirty="0"/>
                        <a:t>Gently prepared Smear (Without heat fixation)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700" dirty="0"/>
                        <a:t>To prevent release the Endospores out of the vegetative cells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700" dirty="0"/>
                        <a:t>Colorless</a:t>
                      </a:r>
                    </a:p>
                    <a:p>
                      <a:pPr algn="ctr"/>
                      <a:endParaRPr lang="en-US" sz="17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700" dirty="0"/>
                        <a:t>Colorless</a:t>
                      </a:r>
                    </a:p>
                    <a:p>
                      <a:pPr algn="ctr"/>
                      <a:endParaRPr lang="en-US" sz="1700" dirty="0"/>
                    </a:p>
                  </a:txBody>
                  <a:tcPr/>
                </a:tc>
                <a:extLst>
                  <a:ext uri="{0D108BD9-81ED-4DB2-BD59-A6C34878D82A}">
                    <a16:rowId xmlns:a16="http://schemas.microsoft.com/office/drawing/2014/main" val="3645755166"/>
                  </a:ext>
                </a:extLst>
              </a:tr>
              <a:tr h="370840">
                <a:tc>
                  <a:txBody>
                    <a:bodyPr/>
                    <a:lstStyle/>
                    <a:p>
                      <a:pPr algn="ctr"/>
                      <a:r>
                        <a:rPr lang="en-US" sz="1700" dirty="0"/>
                        <a:t>Primary stain </a:t>
                      </a:r>
                    </a:p>
                    <a:p>
                      <a:pPr algn="ctr"/>
                      <a:r>
                        <a:rPr lang="en-US" sz="1700" dirty="0"/>
                        <a:t>(</a:t>
                      </a:r>
                      <a:r>
                        <a:rPr lang="en-US" sz="1800" b="0" dirty="0">
                          <a:solidFill>
                            <a:schemeClr val="tx1"/>
                          </a:solidFill>
                        </a:rPr>
                        <a:t>Malachite green</a:t>
                      </a:r>
                      <a:r>
                        <a:rPr lang="en-US" sz="1700"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700" dirty="0"/>
                        <a:t>Stain Both </a:t>
                      </a:r>
                      <a:r>
                        <a:rPr lang="en-US" sz="1700" b="0" dirty="0"/>
                        <a:t>Vegetative Cell and Endospores with green </a:t>
                      </a:r>
                      <a:r>
                        <a:rPr lang="en-US" sz="1700" dirty="0"/>
                        <a:t>color</a:t>
                      </a:r>
                    </a:p>
                  </a:txBody>
                  <a:tcPr/>
                </a:tc>
                <a:tc>
                  <a:txBody>
                    <a:bodyPr/>
                    <a:lstStyle/>
                    <a:p>
                      <a:pPr algn="ctr"/>
                      <a:r>
                        <a:rPr lang="en-US" sz="1700" dirty="0"/>
                        <a:t>Green</a:t>
                      </a:r>
                    </a:p>
                  </a:txBody>
                  <a:tcPr/>
                </a:tc>
                <a:tc>
                  <a:txBody>
                    <a:bodyPr/>
                    <a:lstStyle/>
                    <a:p>
                      <a:pPr algn="ctr"/>
                      <a:r>
                        <a:rPr lang="en-US" sz="1700"/>
                        <a:t>colorless</a:t>
                      </a:r>
                      <a:endParaRPr lang="en-US" sz="1700" dirty="0"/>
                    </a:p>
                  </a:txBody>
                  <a:tcPr/>
                </a:tc>
                <a:extLst>
                  <a:ext uri="{0D108BD9-81ED-4DB2-BD59-A6C34878D82A}">
                    <a16:rowId xmlns:a16="http://schemas.microsoft.com/office/drawing/2014/main" val="3079691588"/>
                  </a:ext>
                </a:extLst>
              </a:tr>
              <a:tr h="370840">
                <a:tc>
                  <a:txBody>
                    <a:bodyPr/>
                    <a:lstStyle/>
                    <a:p>
                      <a:pPr algn="ctr"/>
                      <a:r>
                        <a:rPr lang="en-US" sz="1700" dirty="0"/>
                        <a:t>Steaming</a:t>
                      </a:r>
                    </a:p>
                    <a:p>
                      <a:pPr algn="ctr"/>
                      <a:r>
                        <a:rPr lang="en-US" sz="1700" dirty="0"/>
                        <a:t>(Heat)</a:t>
                      </a:r>
                    </a:p>
                  </a:txBody>
                  <a:tcPr/>
                </a:tc>
                <a:tc>
                  <a:txBody>
                    <a:bodyPr/>
                    <a:lstStyle/>
                    <a:p>
                      <a:pPr marL="0" indent="0" algn="ctr">
                        <a:buFont typeface="Courier New" panose="02070309020205020404" pitchFamily="49" charset="0"/>
                        <a:buNone/>
                      </a:pPr>
                      <a:r>
                        <a:rPr lang="en-US" sz="1800" dirty="0"/>
                        <a:t>To open pores in the coat of the spore, because it is impervious</a:t>
                      </a:r>
                      <a:endParaRPr lang="en-US" sz="1700" dirty="0"/>
                    </a:p>
                  </a:txBody>
                  <a:tcPr/>
                </a:tc>
                <a:tc>
                  <a:txBody>
                    <a:bodyPr/>
                    <a:lstStyle/>
                    <a:p>
                      <a:pPr algn="ctr"/>
                      <a:r>
                        <a:rPr lang="en-US" sz="1700" dirty="0"/>
                        <a:t>Green</a:t>
                      </a:r>
                    </a:p>
                  </a:txBody>
                  <a:tcPr/>
                </a:tc>
                <a:tc>
                  <a:txBody>
                    <a:bodyPr/>
                    <a:lstStyle/>
                    <a:p>
                      <a:pPr algn="ctr"/>
                      <a:r>
                        <a:rPr lang="en-US" sz="1700" dirty="0"/>
                        <a:t>Green</a:t>
                      </a:r>
                    </a:p>
                  </a:txBody>
                  <a:tcPr/>
                </a:tc>
                <a:extLst>
                  <a:ext uri="{0D108BD9-81ED-4DB2-BD59-A6C34878D82A}">
                    <a16:rowId xmlns:a16="http://schemas.microsoft.com/office/drawing/2014/main" val="104574401"/>
                  </a:ext>
                </a:extLst>
              </a:tr>
              <a:tr h="370840">
                <a:tc>
                  <a:txBody>
                    <a:bodyPr/>
                    <a:lstStyle/>
                    <a:p>
                      <a:pPr algn="ctr"/>
                      <a:r>
                        <a:rPr lang="en-US" sz="1700" dirty="0"/>
                        <a:t>Cooling</a:t>
                      </a:r>
                    </a:p>
                  </a:txBody>
                  <a:tcPr/>
                </a:tc>
                <a:tc>
                  <a:txBody>
                    <a:bodyPr/>
                    <a:lstStyle/>
                    <a:p>
                      <a:pPr algn="ctr"/>
                      <a:r>
                        <a:rPr lang="en-US" sz="1600" dirty="0"/>
                        <a:t>To close pores in the coat of the spore</a:t>
                      </a:r>
                      <a:endParaRPr lang="en-US" sz="1700" dirty="0"/>
                    </a:p>
                  </a:txBody>
                  <a:tcPr/>
                </a:tc>
                <a:tc>
                  <a:txBody>
                    <a:bodyPr/>
                    <a:lstStyle/>
                    <a:p>
                      <a:pPr algn="ctr"/>
                      <a:r>
                        <a:rPr lang="en-US" sz="1700" dirty="0"/>
                        <a:t>Green</a:t>
                      </a:r>
                    </a:p>
                  </a:txBody>
                  <a:tcPr/>
                </a:tc>
                <a:tc>
                  <a:txBody>
                    <a:bodyPr/>
                    <a:lstStyle/>
                    <a:p>
                      <a:pPr algn="ctr"/>
                      <a:r>
                        <a:rPr lang="en-US" sz="1700" dirty="0"/>
                        <a:t>Green</a:t>
                      </a:r>
                    </a:p>
                  </a:txBody>
                  <a:tcPr/>
                </a:tc>
                <a:extLst>
                  <a:ext uri="{0D108BD9-81ED-4DB2-BD59-A6C34878D82A}">
                    <a16:rowId xmlns:a16="http://schemas.microsoft.com/office/drawing/2014/main" val="1033173936"/>
                  </a:ext>
                </a:extLst>
              </a:tr>
              <a:tr h="370840">
                <a:tc>
                  <a:txBody>
                    <a:bodyPr/>
                    <a:lstStyle/>
                    <a:p>
                      <a:pPr algn="ctr"/>
                      <a:r>
                        <a:rPr lang="en-US" sz="1700" dirty="0"/>
                        <a:t>Decolorizing agent </a:t>
                      </a:r>
                    </a:p>
                    <a:p>
                      <a:pPr algn="ctr"/>
                      <a:r>
                        <a:rPr lang="en-US" sz="1700" dirty="0"/>
                        <a:t>(Tap water)</a:t>
                      </a:r>
                    </a:p>
                  </a:txBody>
                  <a:tcPr/>
                </a:tc>
                <a:tc>
                  <a:txBody>
                    <a:bodyPr/>
                    <a:lstStyle/>
                    <a:p>
                      <a:pPr algn="ctr"/>
                      <a:r>
                        <a:rPr lang="en-US" sz="1700" dirty="0"/>
                        <a:t>Remove the primary stain (Green color) from Vegetative cells</a:t>
                      </a:r>
                    </a:p>
                  </a:txBody>
                  <a:tcPr/>
                </a:tc>
                <a:tc>
                  <a:txBody>
                    <a:bodyPr/>
                    <a:lstStyle/>
                    <a:p>
                      <a:pPr algn="ctr"/>
                      <a:r>
                        <a:rPr lang="en-US" sz="1700" dirty="0"/>
                        <a:t>Colorless</a:t>
                      </a:r>
                    </a:p>
                  </a:txBody>
                  <a:tcPr/>
                </a:tc>
                <a:tc>
                  <a:txBody>
                    <a:bodyPr/>
                    <a:lstStyle/>
                    <a:p>
                      <a:pPr algn="ctr"/>
                      <a:r>
                        <a:rPr lang="en-US" sz="1700" dirty="0"/>
                        <a:t>Green</a:t>
                      </a:r>
                    </a:p>
                  </a:txBody>
                  <a:tcPr/>
                </a:tc>
                <a:extLst>
                  <a:ext uri="{0D108BD9-81ED-4DB2-BD59-A6C34878D82A}">
                    <a16:rowId xmlns:a16="http://schemas.microsoft.com/office/drawing/2014/main" val="4242450464"/>
                  </a:ext>
                </a:extLst>
              </a:tr>
              <a:tr h="370840">
                <a:tc>
                  <a:txBody>
                    <a:bodyPr/>
                    <a:lstStyle/>
                    <a:p>
                      <a:pPr algn="ctr"/>
                      <a:r>
                        <a:rPr lang="en-US" sz="1700" dirty="0"/>
                        <a:t>Counterstain (Safranin)</a:t>
                      </a:r>
                    </a:p>
                  </a:txBody>
                  <a:tcPr/>
                </a:tc>
                <a:tc>
                  <a:txBody>
                    <a:bodyPr/>
                    <a:lstStyle/>
                    <a:p>
                      <a:pPr algn="ctr"/>
                      <a:r>
                        <a:rPr lang="en-US" sz="1700" dirty="0"/>
                        <a:t>Stain Vegetative cells with pink color</a:t>
                      </a:r>
                    </a:p>
                  </a:txBody>
                  <a:tcPr/>
                </a:tc>
                <a:tc>
                  <a:txBody>
                    <a:bodyPr/>
                    <a:lstStyle/>
                    <a:p>
                      <a:pPr algn="ctr"/>
                      <a:r>
                        <a:rPr lang="en-US" sz="1700" dirty="0"/>
                        <a:t>Pink</a:t>
                      </a:r>
                    </a:p>
                  </a:txBody>
                  <a:tcPr/>
                </a:tc>
                <a:tc>
                  <a:txBody>
                    <a:bodyPr/>
                    <a:lstStyle/>
                    <a:p>
                      <a:pPr algn="ctr"/>
                      <a:r>
                        <a:rPr lang="en-US" sz="1700" dirty="0"/>
                        <a:t>Green</a:t>
                      </a:r>
                    </a:p>
                  </a:txBody>
                  <a:tcPr/>
                </a:tc>
                <a:extLst>
                  <a:ext uri="{0D108BD9-81ED-4DB2-BD59-A6C34878D82A}">
                    <a16:rowId xmlns:a16="http://schemas.microsoft.com/office/drawing/2014/main" val="396803634"/>
                  </a:ext>
                </a:extLst>
              </a:tr>
            </a:tbl>
          </a:graphicData>
        </a:graphic>
      </p:graphicFrame>
    </p:spTree>
    <p:extLst>
      <p:ext uri="{BB962C8B-B14F-4D97-AF65-F5344CB8AC3E}">
        <p14:creationId xmlns:p14="http://schemas.microsoft.com/office/powerpoint/2010/main" val="29048362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DA39FA57-087A-48CB-80C9-10EE6944FEAC}"/>
              </a:ext>
            </a:extLst>
          </p:cNvPr>
          <p:cNvSpPr/>
          <p:nvPr/>
        </p:nvSpPr>
        <p:spPr>
          <a:xfrm>
            <a:off x="4777740" y="424161"/>
            <a:ext cx="5743575" cy="203329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The steaming step is the most critical step among the Endospore staining technique, where too much exposure to heat will cause the bacteria to release the endospore</a:t>
            </a:r>
          </a:p>
          <a:p>
            <a:endParaRPr lang="en-US" sz="2000" dirty="0">
              <a:solidFill>
                <a:schemeClr val="tx1"/>
              </a:solidFill>
            </a:endParaRPr>
          </a:p>
        </p:txBody>
      </p:sp>
      <p:sp>
        <p:nvSpPr>
          <p:cNvPr id="6" name="Rectangle: Rounded Corners 5">
            <a:extLst>
              <a:ext uri="{FF2B5EF4-FFF2-40B4-BE49-F238E27FC236}">
                <a16:creationId xmlns:a16="http://schemas.microsoft.com/office/drawing/2014/main" id="{FD1F763D-A71D-485D-865C-8D984F952DF4}"/>
              </a:ext>
            </a:extLst>
          </p:cNvPr>
          <p:cNvSpPr/>
          <p:nvPr/>
        </p:nvSpPr>
        <p:spPr>
          <a:xfrm>
            <a:off x="4929188" y="2743200"/>
            <a:ext cx="6915150" cy="3690639"/>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What will happen if the cooling step is omitted during the staining technique?</a:t>
            </a:r>
          </a:p>
          <a:p>
            <a:pPr algn="ctr"/>
            <a:endParaRPr lang="en-US" sz="2000" b="1" dirty="0">
              <a:solidFill>
                <a:schemeClr val="tx1"/>
              </a:solidFill>
            </a:endParaRPr>
          </a:p>
          <a:p>
            <a:r>
              <a:rPr lang="en-US" sz="2000" dirty="0">
                <a:solidFill>
                  <a:schemeClr val="tx1"/>
                </a:solidFill>
              </a:rPr>
              <a:t>- The tap water will wash the malachite green from both the bacteria and the endospore</a:t>
            </a:r>
          </a:p>
          <a:p>
            <a:pPr marL="342900" indent="-342900">
              <a:buFontTx/>
              <a:buChar char="-"/>
            </a:pPr>
            <a:endParaRPr lang="en-US" sz="2000" dirty="0">
              <a:solidFill>
                <a:schemeClr val="tx1"/>
              </a:solidFill>
            </a:endParaRPr>
          </a:p>
          <a:p>
            <a:r>
              <a:rPr lang="en-US" sz="2000" dirty="0">
                <a:solidFill>
                  <a:schemeClr val="tx1"/>
                </a:solidFill>
              </a:rPr>
              <a:t>- The water will also act as a coolant, and close the pores of the spores, and the end result will be a </a:t>
            </a:r>
            <a:r>
              <a:rPr lang="en-US" sz="2000" b="1" dirty="0">
                <a:solidFill>
                  <a:schemeClr val="tx1"/>
                </a:solidFill>
              </a:rPr>
              <a:t>colorless endospore </a:t>
            </a:r>
            <a:r>
              <a:rPr lang="en-US" sz="2000" dirty="0">
                <a:solidFill>
                  <a:schemeClr val="tx1"/>
                </a:solidFill>
              </a:rPr>
              <a:t>and </a:t>
            </a:r>
            <a:r>
              <a:rPr lang="en-US" sz="2000" b="1" dirty="0">
                <a:solidFill>
                  <a:schemeClr val="tx1"/>
                </a:solidFill>
              </a:rPr>
              <a:t>a pink bacteria</a:t>
            </a:r>
          </a:p>
        </p:txBody>
      </p:sp>
      <p:sp>
        <p:nvSpPr>
          <p:cNvPr id="7" name="Rectangle: Rounded Corners 6">
            <a:extLst>
              <a:ext uri="{FF2B5EF4-FFF2-40B4-BE49-F238E27FC236}">
                <a16:creationId xmlns:a16="http://schemas.microsoft.com/office/drawing/2014/main" id="{881BCCB9-1776-4024-BFF9-72E320742A83}"/>
              </a:ext>
            </a:extLst>
          </p:cNvPr>
          <p:cNvSpPr/>
          <p:nvPr/>
        </p:nvSpPr>
        <p:spPr>
          <a:xfrm>
            <a:off x="542925" y="2743200"/>
            <a:ext cx="4000500" cy="369064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Tap water is used as a decolorizing agent during Endospore staining: Because Both the water and the malachite green are polar </a:t>
            </a:r>
            <a:r>
              <a:rPr lang="en-US" sz="2000" b="1" dirty="0">
                <a:solidFill>
                  <a:schemeClr val="tx1"/>
                </a:solidFill>
              </a:rPr>
              <a:t>(like dissolves like)</a:t>
            </a:r>
          </a:p>
        </p:txBody>
      </p:sp>
      <p:sp>
        <p:nvSpPr>
          <p:cNvPr id="2" name="Rectangle: Rounded Corners 1">
            <a:extLst>
              <a:ext uri="{FF2B5EF4-FFF2-40B4-BE49-F238E27FC236}">
                <a16:creationId xmlns:a16="http://schemas.microsoft.com/office/drawing/2014/main" id="{E5026AE3-A162-CEF4-8503-FC9250E0A46E}"/>
              </a:ext>
            </a:extLst>
          </p:cNvPr>
          <p:cNvSpPr/>
          <p:nvPr/>
        </p:nvSpPr>
        <p:spPr>
          <a:xfrm>
            <a:off x="438150" y="469881"/>
            <a:ext cx="3785235" cy="194185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600" b="1" dirty="0">
                <a:solidFill>
                  <a:srgbClr val="FF0000"/>
                </a:solidFill>
              </a:rPr>
              <a:t>Important points</a:t>
            </a:r>
          </a:p>
          <a:p>
            <a:endParaRPr lang="en-US" sz="2000" dirty="0">
              <a:solidFill>
                <a:schemeClr val="tx1"/>
              </a:solidFill>
            </a:endParaRPr>
          </a:p>
        </p:txBody>
      </p:sp>
    </p:spTree>
    <p:extLst>
      <p:ext uri="{BB962C8B-B14F-4D97-AF65-F5344CB8AC3E}">
        <p14:creationId xmlns:p14="http://schemas.microsoft.com/office/powerpoint/2010/main" val="1615031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heel(1)">
                                      <p:cBhvr>
                                        <p:cTn id="12" dur="20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A picture containing text, whiteboard&#10;&#10;Description automatically generated">
            <a:extLst>
              <a:ext uri="{FF2B5EF4-FFF2-40B4-BE49-F238E27FC236}">
                <a16:creationId xmlns:a16="http://schemas.microsoft.com/office/drawing/2014/main" id="{4793027E-544B-40CD-A920-4595ABA9C148}"/>
              </a:ext>
            </a:extLst>
          </p:cNvPr>
          <p:cNvPicPr>
            <a:picLocks noChangeAspect="1"/>
          </p:cNvPicPr>
          <p:nvPr/>
        </p:nvPicPr>
        <p:blipFill rotWithShape="1">
          <a:blip r:embed="rId2">
            <a:extLst>
              <a:ext uri="{28A0092B-C50C-407E-A947-70E740481C1C}">
                <a14:useLocalDpi xmlns:a14="http://schemas.microsoft.com/office/drawing/2010/main" val="0"/>
              </a:ext>
            </a:extLst>
          </a:blip>
          <a:srcRect t="2305" r="-1" b="3432"/>
          <a:stretch/>
        </p:blipFill>
        <p:spPr>
          <a:xfrm>
            <a:off x="194882" y="1470210"/>
            <a:ext cx="5742432" cy="4078224"/>
          </a:xfrm>
          <a:prstGeom prst="rect">
            <a:avLst/>
          </a:prstGeom>
        </p:spPr>
      </p:pic>
      <p:pic>
        <p:nvPicPr>
          <p:cNvPr id="5" name="Content Placeholder 4" descr="A picture containing map&#10;&#10;Description automatically generated">
            <a:extLst>
              <a:ext uri="{FF2B5EF4-FFF2-40B4-BE49-F238E27FC236}">
                <a16:creationId xmlns:a16="http://schemas.microsoft.com/office/drawing/2014/main" id="{05ED3E36-CAAC-46C3-A6BB-E79DC14373FB}"/>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t="827" r="3" b="3"/>
          <a:stretch/>
        </p:blipFill>
        <p:spPr>
          <a:xfrm>
            <a:off x="6094476" y="1470210"/>
            <a:ext cx="5742432" cy="4078224"/>
          </a:xfrm>
          <a:prstGeom prst="rect">
            <a:avLst/>
          </a:prstGeom>
        </p:spPr>
      </p:pic>
    </p:spTree>
    <p:extLst>
      <p:ext uri="{BB962C8B-B14F-4D97-AF65-F5344CB8AC3E}">
        <p14:creationId xmlns:p14="http://schemas.microsoft.com/office/powerpoint/2010/main" val="29871489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337FD-B23D-4A0B-B971-D181754A7F53}"/>
              </a:ext>
            </a:extLst>
          </p:cNvPr>
          <p:cNvSpPr>
            <a:spLocks noGrp="1"/>
          </p:cNvSpPr>
          <p:nvPr>
            <p:ph type="title"/>
          </p:nvPr>
        </p:nvSpPr>
        <p:spPr>
          <a:xfrm>
            <a:off x="-685562" y="623375"/>
            <a:ext cx="7886700" cy="1271386"/>
          </a:xfrm>
        </p:spPr>
        <p:txBody>
          <a:bodyPr>
            <a:normAutofit fontScale="90000"/>
          </a:bodyPr>
          <a:lstStyle/>
          <a:p>
            <a:pPr algn="ctr"/>
            <a:br>
              <a:rPr lang="en-US" b="0" i="0" dirty="0">
                <a:solidFill>
                  <a:srgbClr val="202122"/>
                </a:solidFill>
                <a:effectLst/>
                <a:latin typeface="Arial" panose="020B0604020202020204" pitchFamily="34" charset="0"/>
              </a:rPr>
            </a:br>
            <a:r>
              <a:rPr lang="en-US" sz="3100" b="1" dirty="0">
                <a:solidFill>
                  <a:srgbClr val="FF0000"/>
                </a:solidFill>
                <a:latin typeface="Calibri-Bold"/>
              </a:rPr>
              <a:t>Capsule and Slimy layer</a:t>
            </a:r>
            <a:br>
              <a:rPr lang="en-US" sz="2700" dirty="0">
                <a:solidFill>
                  <a:srgbClr val="000000"/>
                </a:solidFill>
              </a:rPr>
            </a:br>
            <a:endParaRPr lang="en-US" dirty="0"/>
          </a:p>
        </p:txBody>
      </p:sp>
      <p:sp>
        <p:nvSpPr>
          <p:cNvPr id="6" name="Rectangle 5">
            <a:extLst>
              <a:ext uri="{FF2B5EF4-FFF2-40B4-BE49-F238E27FC236}">
                <a16:creationId xmlns:a16="http://schemas.microsoft.com/office/drawing/2014/main" id="{5A7392C1-295E-4F32-877A-C600A14BF95D}"/>
              </a:ext>
            </a:extLst>
          </p:cNvPr>
          <p:cNvSpPr/>
          <p:nvPr/>
        </p:nvSpPr>
        <p:spPr>
          <a:xfrm>
            <a:off x="1278696" y="2249092"/>
            <a:ext cx="8989255" cy="3539430"/>
          </a:xfrm>
          <a:prstGeom prst="rect">
            <a:avLst/>
          </a:prstGeom>
        </p:spPr>
        <p:txBody>
          <a:bodyPr wrap="square">
            <a:spAutoFit/>
          </a:bodyPr>
          <a:lstStyle/>
          <a:p>
            <a:pPr marL="214308" indent="-214308" algn="just">
              <a:buFont typeface="Arial" panose="020B0604020202020204" pitchFamily="34" charset="0"/>
              <a:buChar char="•"/>
            </a:pPr>
            <a:r>
              <a:rPr lang="en-US" sz="1600" b="1" dirty="0">
                <a:latin typeface="Arial" panose="020B0604020202020204" pitchFamily="34" charset="0"/>
              </a:rPr>
              <a:t>There are several types of bacteria that can produce certain polysaccharides and releasing them </a:t>
            </a:r>
            <a:r>
              <a:rPr lang="en-US" sz="1600" b="1" dirty="0">
                <a:solidFill>
                  <a:srgbClr val="202122"/>
                </a:solidFill>
                <a:latin typeface="Arial" panose="020B0604020202020204" pitchFamily="34" charset="0"/>
              </a:rPr>
              <a:t>just outside the bacterial cell wall</a:t>
            </a:r>
            <a:r>
              <a:rPr lang="en-US" sz="1600" b="1" dirty="0">
                <a:latin typeface="Arial" panose="020B0604020202020204" pitchFamily="34" charset="0"/>
              </a:rPr>
              <a:t> to form an outer layer (cover the outer part of the wall).</a:t>
            </a:r>
          </a:p>
          <a:p>
            <a:pPr marL="214308" indent="-214308" algn="just">
              <a:buFont typeface="Arial" panose="020B0604020202020204" pitchFamily="34" charset="0"/>
              <a:buChar char="•"/>
            </a:pPr>
            <a:endParaRPr lang="en-US" sz="1600" b="1" dirty="0">
              <a:latin typeface="Arial" panose="020B0604020202020204" pitchFamily="34" charset="0"/>
            </a:endParaRPr>
          </a:p>
          <a:p>
            <a:pPr algn="just"/>
            <a:endParaRPr lang="en-US" sz="1600" b="1" dirty="0">
              <a:latin typeface="Arial" panose="020B0604020202020204" pitchFamily="34" charset="0"/>
            </a:endParaRPr>
          </a:p>
          <a:p>
            <a:pPr marL="214308" indent="-214308" algn="just">
              <a:buFont typeface="Arial" panose="020B0604020202020204" pitchFamily="34" charset="0"/>
              <a:buChar char="•"/>
            </a:pPr>
            <a:r>
              <a:rPr lang="en-US" sz="1600" b="1" dirty="0">
                <a:solidFill>
                  <a:srgbClr val="202122"/>
                </a:solidFill>
                <a:latin typeface="Arial" panose="020B0604020202020204" pitchFamily="34" charset="0"/>
              </a:rPr>
              <a:t>A distinct, Regular, tightly attached to the cell wall, gelatinous glycocalyx is called a capsule, whereas an irregular, diffuse layer, and loosely attached to the bacterial cell wall is called a slime layer. </a:t>
            </a:r>
          </a:p>
          <a:p>
            <a:pPr marL="214308" indent="-214308" algn="just">
              <a:buFont typeface="Arial" panose="020B0604020202020204" pitchFamily="34" charset="0"/>
              <a:buChar char="•"/>
            </a:pPr>
            <a:endParaRPr lang="en-US" sz="1600" b="1" dirty="0">
              <a:solidFill>
                <a:srgbClr val="202122"/>
              </a:solidFill>
              <a:latin typeface="Arial" panose="020B0604020202020204" pitchFamily="34" charset="0"/>
            </a:endParaRPr>
          </a:p>
          <a:p>
            <a:pPr algn="just"/>
            <a:endParaRPr lang="en-US" sz="1600" b="1" dirty="0">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n-US" sz="1600" b="1" dirty="0">
                <a:latin typeface="Arial" panose="020B0604020202020204" pitchFamily="34" charset="0"/>
                <a:cs typeface="Arial" panose="020B0604020202020204" pitchFamily="34" charset="0"/>
              </a:rPr>
              <a:t>Cells that have a heavy capsule are generally virulent and capable of producing disease (pathogenic)</a:t>
            </a:r>
          </a:p>
          <a:p>
            <a:pPr algn="just"/>
            <a:endParaRPr lang="en-US" sz="1600" b="1" dirty="0">
              <a:latin typeface="Arial" panose="020B0604020202020204" pitchFamily="34" charset="0"/>
              <a:cs typeface="Arial" panose="020B0604020202020204" pitchFamily="34" charset="0"/>
            </a:endParaRPr>
          </a:p>
          <a:p>
            <a:pPr marL="214308" indent="-214308">
              <a:buFont typeface="Arial" panose="020B0604020202020204" pitchFamily="34" charset="0"/>
              <a:buChar char="•"/>
            </a:pPr>
            <a:endParaRPr lang="en-US" sz="1600" b="1" dirty="0"/>
          </a:p>
        </p:txBody>
      </p:sp>
    </p:spTree>
    <p:extLst>
      <p:ext uri="{BB962C8B-B14F-4D97-AF65-F5344CB8AC3E}">
        <p14:creationId xmlns:p14="http://schemas.microsoft.com/office/powerpoint/2010/main" val="15476571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A632B-24F3-490C-8A95-B950E254ACBB}"/>
              </a:ext>
            </a:extLst>
          </p:cNvPr>
          <p:cNvSpPr>
            <a:spLocks noGrp="1"/>
          </p:cNvSpPr>
          <p:nvPr>
            <p:ph type="title"/>
          </p:nvPr>
        </p:nvSpPr>
        <p:spPr>
          <a:xfrm>
            <a:off x="2152650" y="365127"/>
            <a:ext cx="7886700" cy="675883"/>
          </a:xfrm>
        </p:spPr>
        <p:txBody>
          <a:bodyPr>
            <a:normAutofit fontScale="90000"/>
          </a:bodyPr>
          <a:lstStyle/>
          <a:p>
            <a:pPr algn="ctr"/>
            <a:r>
              <a:rPr lang="en-US" sz="3200" b="1" dirty="0">
                <a:solidFill>
                  <a:srgbClr val="FF0000"/>
                </a:solidFill>
              </a:rPr>
              <a:t>You must differentiate between</a:t>
            </a:r>
            <a:r>
              <a:rPr lang="en-US" dirty="0"/>
              <a:t>:</a:t>
            </a:r>
          </a:p>
        </p:txBody>
      </p:sp>
      <p:pic>
        <p:nvPicPr>
          <p:cNvPr id="5" name="Content Placeholder 4" descr="Diagram&#10;&#10;Description automatically generated">
            <a:extLst>
              <a:ext uri="{FF2B5EF4-FFF2-40B4-BE49-F238E27FC236}">
                <a16:creationId xmlns:a16="http://schemas.microsoft.com/office/drawing/2014/main" id="{E3ED7968-AB67-4D02-AA53-174AF7B2661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22475" y="1041010"/>
            <a:ext cx="8904848" cy="5451864"/>
          </a:xfrm>
        </p:spPr>
      </p:pic>
    </p:spTree>
    <p:extLst>
      <p:ext uri="{BB962C8B-B14F-4D97-AF65-F5344CB8AC3E}">
        <p14:creationId xmlns:p14="http://schemas.microsoft.com/office/powerpoint/2010/main" val="10046564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85F43-2047-4EFE-99CD-2BEE0A565239}"/>
              </a:ext>
            </a:extLst>
          </p:cNvPr>
          <p:cNvSpPr>
            <a:spLocks noGrp="1"/>
          </p:cNvSpPr>
          <p:nvPr>
            <p:ph type="title"/>
          </p:nvPr>
        </p:nvSpPr>
        <p:spPr>
          <a:xfrm>
            <a:off x="2152650" y="365127"/>
            <a:ext cx="7886700" cy="493003"/>
          </a:xfrm>
        </p:spPr>
        <p:txBody>
          <a:bodyPr>
            <a:normAutofit fontScale="90000"/>
          </a:bodyPr>
          <a:lstStyle/>
          <a:p>
            <a:pPr algn="ctr"/>
            <a:r>
              <a:rPr lang="en-US" sz="3600" b="1" dirty="0">
                <a:solidFill>
                  <a:srgbClr val="FF0000"/>
                </a:solidFill>
              </a:rPr>
              <a:t>Capsule </a:t>
            </a:r>
          </a:p>
        </p:txBody>
      </p:sp>
      <p:pic>
        <p:nvPicPr>
          <p:cNvPr id="9" name="Picture 8" descr="Diagram&#10;&#10;Description automatically generated">
            <a:extLst>
              <a:ext uri="{FF2B5EF4-FFF2-40B4-BE49-F238E27FC236}">
                <a16:creationId xmlns:a16="http://schemas.microsoft.com/office/drawing/2014/main" id="{34B7382F-EAE0-4DBE-B659-363FD2A6E3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8640" y="1983543"/>
            <a:ext cx="4299360" cy="3756074"/>
          </a:xfrm>
          <a:prstGeom prst="rect">
            <a:avLst/>
          </a:prstGeom>
        </p:spPr>
      </p:pic>
      <p:pic>
        <p:nvPicPr>
          <p:cNvPr id="13" name="Picture 12" descr="Diagram&#10;&#10;Description automatically generated">
            <a:extLst>
              <a:ext uri="{FF2B5EF4-FFF2-40B4-BE49-F238E27FC236}">
                <a16:creationId xmlns:a16="http://schemas.microsoft.com/office/drawing/2014/main" id="{D6A44B65-5308-438C-A356-C0A8ED130D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0" y="1604350"/>
            <a:ext cx="4572000" cy="4888524"/>
          </a:xfrm>
          <a:prstGeom prst="rect">
            <a:avLst/>
          </a:prstGeom>
        </p:spPr>
      </p:pic>
    </p:spTree>
    <p:extLst>
      <p:ext uri="{BB962C8B-B14F-4D97-AF65-F5344CB8AC3E}">
        <p14:creationId xmlns:p14="http://schemas.microsoft.com/office/powerpoint/2010/main" val="20048305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1967E-9541-4152-89F5-07BA2468BCB6}"/>
              </a:ext>
            </a:extLst>
          </p:cNvPr>
          <p:cNvSpPr>
            <a:spLocks noGrp="1"/>
          </p:cNvSpPr>
          <p:nvPr>
            <p:ph type="title"/>
          </p:nvPr>
        </p:nvSpPr>
        <p:spPr>
          <a:xfrm>
            <a:off x="-1642110" y="399415"/>
            <a:ext cx="7886700" cy="704019"/>
          </a:xfrm>
        </p:spPr>
        <p:txBody>
          <a:bodyPr>
            <a:normAutofit/>
          </a:bodyPr>
          <a:lstStyle/>
          <a:p>
            <a:pPr algn="ctr"/>
            <a:r>
              <a:rPr lang="en-US" sz="3600" b="1" dirty="0">
                <a:solidFill>
                  <a:srgbClr val="FF0000"/>
                </a:solidFill>
              </a:rPr>
              <a:t>Capsule</a:t>
            </a:r>
          </a:p>
        </p:txBody>
      </p:sp>
      <p:sp>
        <p:nvSpPr>
          <p:cNvPr id="3" name="Content Placeholder 2">
            <a:extLst>
              <a:ext uri="{FF2B5EF4-FFF2-40B4-BE49-F238E27FC236}">
                <a16:creationId xmlns:a16="http://schemas.microsoft.com/office/drawing/2014/main" id="{54EB5C3D-569D-41C5-9AE4-BBC96CF50232}"/>
              </a:ext>
            </a:extLst>
          </p:cNvPr>
          <p:cNvSpPr>
            <a:spLocks noGrp="1"/>
          </p:cNvSpPr>
          <p:nvPr>
            <p:ph idx="1"/>
          </p:nvPr>
        </p:nvSpPr>
        <p:spPr>
          <a:xfrm>
            <a:off x="1417614" y="1252658"/>
            <a:ext cx="8567225" cy="5514536"/>
          </a:xfrm>
        </p:spPr>
        <p:txBody>
          <a:bodyPr>
            <a:normAutofit/>
          </a:bodyPr>
          <a:lstStyle/>
          <a:p>
            <a:pPr algn="just"/>
            <a:r>
              <a:rPr lang="en-US" sz="2400" b="1" dirty="0"/>
              <a:t>The capsule: is a polysaccharide film that extends beyond the cell envelope, It is a part of the bacterial cell's outer envelope.</a:t>
            </a:r>
          </a:p>
          <a:p>
            <a:pPr algn="just"/>
            <a:endParaRPr lang="en-US" sz="2400" b="1" dirty="0"/>
          </a:p>
          <a:p>
            <a:pPr algn="just"/>
            <a:r>
              <a:rPr lang="en-US" sz="2400" b="1" dirty="0"/>
              <a:t>It's a well-organized layer (regular) and tightly bound to cell wall that’s make it difficult to remove and can cause a variety of diseases.</a:t>
            </a:r>
          </a:p>
          <a:p>
            <a:pPr algn="just"/>
            <a:endParaRPr lang="en-US" sz="2400" b="1" dirty="0"/>
          </a:p>
          <a:p>
            <a:pPr algn="just"/>
            <a:r>
              <a:rPr lang="en-US" sz="2400" b="1" dirty="0"/>
              <a:t>Capsules are made of polysaccharides, some organisms, such as </a:t>
            </a:r>
            <a:r>
              <a:rPr lang="en-US" sz="2400" b="1" i="1" dirty="0"/>
              <a:t>Bacillus anthracis</a:t>
            </a:r>
            <a:r>
              <a:rPr lang="en-US" sz="2400" b="1" dirty="0"/>
              <a:t>, use other materials, such as poly-D-glutamic acid. </a:t>
            </a:r>
          </a:p>
          <a:p>
            <a:pPr algn="just"/>
            <a:r>
              <a:rPr lang="en-US" sz="2400" b="1" dirty="0"/>
              <a:t>Since most capsules are so tightly packed and uncharged, most standard stains cannot penetrate the capsule, making them difficult to stain.</a:t>
            </a:r>
          </a:p>
        </p:txBody>
      </p:sp>
    </p:spTree>
    <p:extLst>
      <p:ext uri="{BB962C8B-B14F-4D97-AF65-F5344CB8AC3E}">
        <p14:creationId xmlns:p14="http://schemas.microsoft.com/office/powerpoint/2010/main" val="38654307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80B21-83D6-40DB-AF5B-8431FEA7021D}"/>
              </a:ext>
            </a:extLst>
          </p:cNvPr>
          <p:cNvSpPr>
            <a:spLocks noGrp="1"/>
          </p:cNvSpPr>
          <p:nvPr>
            <p:ph type="title"/>
          </p:nvPr>
        </p:nvSpPr>
        <p:spPr>
          <a:xfrm>
            <a:off x="-426134" y="861525"/>
            <a:ext cx="7886700" cy="436732"/>
          </a:xfrm>
        </p:spPr>
        <p:txBody>
          <a:bodyPr>
            <a:normAutofit fontScale="90000"/>
          </a:bodyPr>
          <a:lstStyle/>
          <a:p>
            <a:pPr algn="ctr"/>
            <a:r>
              <a:rPr lang="en-US" sz="3600" b="1" dirty="0">
                <a:solidFill>
                  <a:srgbClr val="FF0000"/>
                </a:solidFill>
              </a:rPr>
              <a:t>Functions of capsule</a:t>
            </a:r>
          </a:p>
        </p:txBody>
      </p:sp>
      <p:sp>
        <p:nvSpPr>
          <p:cNvPr id="3" name="Content Placeholder 2">
            <a:extLst>
              <a:ext uri="{FF2B5EF4-FFF2-40B4-BE49-F238E27FC236}">
                <a16:creationId xmlns:a16="http://schemas.microsoft.com/office/drawing/2014/main" id="{2451B4A4-39FB-4255-9501-CD880C1EDE17}"/>
              </a:ext>
            </a:extLst>
          </p:cNvPr>
          <p:cNvSpPr>
            <a:spLocks noGrp="1"/>
          </p:cNvSpPr>
          <p:nvPr>
            <p:ph idx="1"/>
          </p:nvPr>
        </p:nvSpPr>
        <p:spPr>
          <a:xfrm>
            <a:off x="1622474" y="1659988"/>
            <a:ext cx="8862646" cy="4953707"/>
          </a:xfrm>
        </p:spPr>
        <p:txBody>
          <a:bodyPr/>
          <a:lstStyle/>
          <a:p>
            <a:r>
              <a:rPr lang="en-US" dirty="0"/>
              <a:t>Increases bacteria's capacity to cause disease (a virulence factor).</a:t>
            </a:r>
          </a:p>
          <a:p>
            <a:r>
              <a:rPr lang="en-US" dirty="0"/>
              <a:t>The capsule protects the bacterial cells from phagocytosis.</a:t>
            </a:r>
          </a:p>
          <a:p>
            <a:r>
              <a:rPr lang="en-US" dirty="0"/>
              <a:t>Water that presents in the capsules, prevents the bacteria from drying out.</a:t>
            </a:r>
          </a:p>
          <a:p>
            <a:r>
              <a:rPr lang="en-US" dirty="0"/>
              <a:t>The capsule protects the bacterial cells from Bacterial viruses and most hydrophobic toxic products, such as detergents.</a:t>
            </a:r>
          </a:p>
          <a:p>
            <a:r>
              <a:rPr lang="en-US" dirty="0"/>
              <a:t>Capsules also aid in the adhesion of cells to surfaces</a:t>
            </a:r>
          </a:p>
          <a:p>
            <a:endParaRPr lang="en-US" dirty="0"/>
          </a:p>
        </p:txBody>
      </p:sp>
    </p:spTree>
    <p:extLst>
      <p:ext uri="{BB962C8B-B14F-4D97-AF65-F5344CB8AC3E}">
        <p14:creationId xmlns:p14="http://schemas.microsoft.com/office/powerpoint/2010/main" val="34330554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8EA88-30BA-4B1C-BB28-78169E58FD44}"/>
              </a:ext>
            </a:extLst>
          </p:cNvPr>
          <p:cNvSpPr>
            <a:spLocks noGrp="1"/>
          </p:cNvSpPr>
          <p:nvPr>
            <p:ph type="title"/>
          </p:nvPr>
        </p:nvSpPr>
        <p:spPr>
          <a:xfrm>
            <a:off x="2152650" y="365127"/>
            <a:ext cx="7886700" cy="619612"/>
          </a:xfrm>
        </p:spPr>
        <p:txBody>
          <a:bodyPr>
            <a:normAutofit fontScale="90000"/>
          </a:bodyPr>
          <a:lstStyle/>
          <a:p>
            <a:pPr algn="ctr"/>
            <a:r>
              <a:rPr lang="en-US" b="1" dirty="0">
                <a:solidFill>
                  <a:srgbClr val="FF0000"/>
                </a:solidFill>
              </a:rPr>
              <a:t>Slimy layer</a:t>
            </a:r>
          </a:p>
        </p:txBody>
      </p:sp>
      <p:sp>
        <p:nvSpPr>
          <p:cNvPr id="3" name="Content Placeholder 2">
            <a:extLst>
              <a:ext uri="{FF2B5EF4-FFF2-40B4-BE49-F238E27FC236}">
                <a16:creationId xmlns:a16="http://schemas.microsoft.com/office/drawing/2014/main" id="{3432FF7F-820B-43C2-B9FB-A3A03ED4D6E8}"/>
              </a:ext>
            </a:extLst>
          </p:cNvPr>
          <p:cNvSpPr>
            <a:spLocks noGrp="1"/>
          </p:cNvSpPr>
          <p:nvPr>
            <p:ph idx="1"/>
          </p:nvPr>
        </p:nvSpPr>
        <p:spPr>
          <a:xfrm>
            <a:off x="1735015" y="1167619"/>
            <a:ext cx="8665699" cy="5472332"/>
          </a:xfrm>
        </p:spPr>
        <p:txBody>
          <a:bodyPr/>
          <a:lstStyle/>
          <a:p>
            <a:r>
              <a:rPr lang="en-US" b="1" dirty="0">
                <a:solidFill>
                  <a:srgbClr val="FF0000"/>
                </a:solidFill>
              </a:rPr>
              <a:t>A slimy layer </a:t>
            </a:r>
            <a:r>
              <a:rPr lang="en-US" sz="2000" b="1" dirty="0"/>
              <a:t>in bacteria is an easily removable (even by subculturing of bacteria), unorganized layer (Irregular layer) of extracellular material that surrounds bacteria cells. It consists mostly of </a:t>
            </a:r>
            <a:r>
              <a:rPr lang="en-US" sz="2000" b="1" dirty="0">
                <a:solidFill>
                  <a:srgbClr val="0070C0"/>
                </a:solidFill>
              </a:rPr>
              <a:t>glycoproteins</a:t>
            </a:r>
            <a:r>
              <a:rPr lang="en-US" sz="2000" b="1" dirty="0"/>
              <a:t>,  </a:t>
            </a:r>
            <a:r>
              <a:rPr lang="en-US" sz="2000" b="1" dirty="0">
                <a:solidFill>
                  <a:srgbClr val="0070C0"/>
                </a:solidFill>
              </a:rPr>
              <a:t>glycolipids</a:t>
            </a:r>
            <a:r>
              <a:rPr lang="en-US" sz="2000" b="1" dirty="0"/>
              <a:t>, and </a:t>
            </a:r>
            <a:r>
              <a:rPr lang="en-US" sz="2000" b="1" dirty="0">
                <a:solidFill>
                  <a:srgbClr val="0070C0"/>
                </a:solidFill>
              </a:rPr>
              <a:t>exopolysaccharides</a:t>
            </a:r>
            <a:r>
              <a:rPr lang="en-US" sz="2000" dirty="0"/>
              <a:t>.</a:t>
            </a:r>
          </a:p>
          <a:p>
            <a:endParaRPr lang="en-US" sz="2000" dirty="0"/>
          </a:p>
          <a:p>
            <a:endParaRPr lang="en-US" sz="2000" dirty="0"/>
          </a:p>
          <a:p>
            <a:pPr marL="0" indent="0">
              <a:buNone/>
            </a:pPr>
            <a:r>
              <a:rPr lang="en-US" dirty="0"/>
              <a:t>    </a:t>
            </a:r>
            <a:endParaRPr lang="en-US" b="1" dirty="0">
              <a:solidFill>
                <a:srgbClr val="FF0000"/>
              </a:solidFill>
            </a:endParaRPr>
          </a:p>
        </p:txBody>
      </p:sp>
      <p:pic>
        <p:nvPicPr>
          <p:cNvPr id="5" name="Picture 4">
            <a:extLst>
              <a:ext uri="{FF2B5EF4-FFF2-40B4-BE49-F238E27FC236}">
                <a16:creationId xmlns:a16="http://schemas.microsoft.com/office/drawing/2014/main" id="{3C228289-EDA7-4E26-93BC-25E0B2483A90}"/>
              </a:ext>
            </a:extLst>
          </p:cNvPr>
          <p:cNvPicPr>
            <a:picLocks noChangeAspect="1"/>
          </p:cNvPicPr>
          <p:nvPr/>
        </p:nvPicPr>
        <p:blipFill>
          <a:blip r:embed="rId2"/>
          <a:stretch>
            <a:fillRect/>
          </a:stretch>
        </p:blipFill>
        <p:spPr>
          <a:xfrm>
            <a:off x="2689964" y="2532185"/>
            <a:ext cx="6880756" cy="4107766"/>
          </a:xfrm>
          <a:prstGeom prst="rect">
            <a:avLst/>
          </a:prstGeom>
        </p:spPr>
      </p:pic>
    </p:spTree>
    <p:extLst>
      <p:ext uri="{BB962C8B-B14F-4D97-AF65-F5344CB8AC3E}">
        <p14:creationId xmlns:p14="http://schemas.microsoft.com/office/powerpoint/2010/main" val="2826506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EBF35F-77C3-49F1-B8CB-0155211DBE9F}"/>
              </a:ext>
            </a:extLst>
          </p:cNvPr>
          <p:cNvSpPr>
            <a:spLocks noGrp="1"/>
          </p:cNvSpPr>
          <p:nvPr>
            <p:ph idx="1"/>
          </p:nvPr>
        </p:nvSpPr>
        <p:spPr>
          <a:xfrm>
            <a:off x="996462" y="1311811"/>
            <a:ext cx="8932984" cy="5546189"/>
          </a:xfrm>
        </p:spPr>
        <p:txBody>
          <a:bodyPr>
            <a:noAutofit/>
          </a:bodyPr>
          <a:lstStyle/>
          <a:p>
            <a:pPr algn="just">
              <a:defRPr/>
            </a:pPr>
            <a:r>
              <a:rPr lang="en-US" sz="2400" b="1" dirty="0"/>
              <a:t>Protect the bacteria cells from environmental dangers such as antibiotics and desiccation.</a:t>
            </a:r>
          </a:p>
          <a:p>
            <a:pPr algn="just">
              <a:defRPr/>
            </a:pPr>
            <a:r>
              <a:rPr lang="en-US" sz="2400" b="1" dirty="0"/>
              <a:t>Allows bacteria to adhere to smooth surfaces such as prosthetic implants and catheters.</a:t>
            </a:r>
          </a:p>
          <a:p>
            <a:pPr algn="just">
              <a:defRPr/>
            </a:pPr>
            <a:r>
              <a:rPr lang="en-US" sz="2400" b="1" dirty="0"/>
              <a:t>Over produced in a time of famine the cell can rely on the slime layer as extra food storage to survive.</a:t>
            </a:r>
          </a:p>
          <a:p>
            <a:pPr algn="just">
              <a:defRPr/>
            </a:pPr>
            <a:r>
              <a:rPr lang="en-US" sz="2400" dirty="0"/>
              <a:t> </a:t>
            </a:r>
            <a:r>
              <a:rPr lang="en-US" sz="2400" b="1" dirty="0">
                <a:solidFill>
                  <a:prstClr val="black"/>
                </a:solidFill>
                <a:latin typeface="Calibri" panose="020F0502020204030204"/>
              </a:rPr>
              <a:t>Prevent unnecessary drying due to annual temperature and humidity shifts.</a:t>
            </a:r>
          </a:p>
          <a:p>
            <a:pPr algn="just">
              <a:defRPr/>
            </a:pPr>
            <a:r>
              <a:rPr lang="en-US" sz="2400" b="1" dirty="0">
                <a:solidFill>
                  <a:prstClr val="black"/>
                </a:solidFill>
                <a:latin typeface="Calibri" panose="020F0502020204030204"/>
              </a:rPr>
              <a:t> Permit bacterial colonies to survive chemical sterilization with chlorine, iodine, and other chemicals</a:t>
            </a:r>
          </a:p>
          <a:p>
            <a:pPr algn="just">
              <a:defRPr/>
            </a:pPr>
            <a:r>
              <a:rPr lang="en-US" sz="2400" b="1" dirty="0"/>
              <a:t>A protective response to attacks from the immune system by using their slime layers to absorb antibodies and prevent phagocytosis.</a:t>
            </a:r>
            <a:endParaRPr lang="en-US" sz="2400" dirty="0"/>
          </a:p>
        </p:txBody>
      </p:sp>
      <p:sp>
        <p:nvSpPr>
          <p:cNvPr id="11" name="TextBox 10">
            <a:extLst>
              <a:ext uri="{FF2B5EF4-FFF2-40B4-BE49-F238E27FC236}">
                <a16:creationId xmlns:a16="http://schemas.microsoft.com/office/drawing/2014/main" id="{1B30EDFA-270A-4F88-BE95-A7B444A54223}"/>
              </a:ext>
            </a:extLst>
          </p:cNvPr>
          <p:cNvSpPr txBox="1"/>
          <p:nvPr/>
        </p:nvSpPr>
        <p:spPr>
          <a:xfrm>
            <a:off x="-1020054" y="674299"/>
            <a:ext cx="7685356" cy="480131"/>
          </a:xfrm>
          <a:prstGeom prst="rect">
            <a:avLst/>
          </a:prstGeom>
          <a:noFill/>
        </p:spPr>
        <p:txBody>
          <a:bodyPr wrap="square">
            <a:spAutoFit/>
          </a:bodyPr>
          <a:lstStyle/>
          <a:p>
            <a:pPr algn="ctr">
              <a:lnSpc>
                <a:spcPct val="90000"/>
              </a:lnSpc>
              <a:spcBef>
                <a:spcPts val="1000"/>
              </a:spcBef>
              <a:defRPr/>
            </a:pPr>
            <a:r>
              <a:rPr lang="en-US" sz="2800" b="1" dirty="0">
                <a:solidFill>
                  <a:srgbClr val="FF0000"/>
                </a:solidFill>
                <a:latin typeface="Calibri" panose="020F0502020204030204"/>
              </a:rPr>
              <a:t>Slimy layer Functions: </a:t>
            </a:r>
          </a:p>
        </p:txBody>
      </p:sp>
    </p:spTree>
    <p:extLst>
      <p:ext uri="{BB962C8B-B14F-4D97-AF65-F5344CB8AC3E}">
        <p14:creationId xmlns:p14="http://schemas.microsoft.com/office/powerpoint/2010/main" val="702694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imeline&#10;&#10;Description automatically generated with medium confidence">
            <a:extLst>
              <a:ext uri="{FF2B5EF4-FFF2-40B4-BE49-F238E27FC236}">
                <a16:creationId xmlns:a16="http://schemas.microsoft.com/office/drawing/2014/main" id="{66CD9EE4-FF18-44A5-A312-51A3235FD5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2813" y="0"/>
            <a:ext cx="8693833" cy="6858000"/>
          </a:xfrm>
          <a:prstGeom prst="rect">
            <a:avLst/>
          </a:prstGeom>
        </p:spPr>
      </p:pic>
    </p:spTree>
    <p:extLst>
      <p:ext uri="{BB962C8B-B14F-4D97-AF65-F5344CB8AC3E}">
        <p14:creationId xmlns:p14="http://schemas.microsoft.com/office/powerpoint/2010/main" val="34384071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D0214-343F-49ED-A093-1F50AA5695D8}"/>
              </a:ext>
            </a:extLst>
          </p:cNvPr>
          <p:cNvSpPr>
            <a:spLocks noGrp="1"/>
          </p:cNvSpPr>
          <p:nvPr>
            <p:ph type="title"/>
          </p:nvPr>
        </p:nvSpPr>
        <p:spPr>
          <a:xfrm>
            <a:off x="-464820" y="502287"/>
            <a:ext cx="7886700" cy="619612"/>
          </a:xfrm>
        </p:spPr>
        <p:txBody>
          <a:bodyPr>
            <a:normAutofit fontScale="90000"/>
          </a:bodyPr>
          <a:lstStyle/>
          <a:p>
            <a:pPr algn="ctr"/>
            <a:r>
              <a:rPr lang="en-US" b="1" dirty="0">
                <a:solidFill>
                  <a:srgbClr val="FF0000"/>
                </a:solidFill>
              </a:rPr>
              <a:t>Capsule Staining:</a:t>
            </a:r>
            <a:br>
              <a:rPr lang="en-US" dirty="0"/>
            </a:br>
            <a:endParaRPr lang="en-US" dirty="0"/>
          </a:p>
        </p:txBody>
      </p:sp>
      <p:sp>
        <p:nvSpPr>
          <p:cNvPr id="3" name="Content Placeholder 2">
            <a:extLst>
              <a:ext uri="{FF2B5EF4-FFF2-40B4-BE49-F238E27FC236}">
                <a16:creationId xmlns:a16="http://schemas.microsoft.com/office/drawing/2014/main" id="{9ABD7BE0-2C23-44CB-ACF6-1EE09161B44F}"/>
              </a:ext>
            </a:extLst>
          </p:cNvPr>
          <p:cNvSpPr>
            <a:spLocks noGrp="1"/>
          </p:cNvSpPr>
          <p:nvPr>
            <p:ph idx="1"/>
          </p:nvPr>
        </p:nvSpPr>
        <p:spPr>
          <a:xfrm>
            <a:off x="1706881" y="984739"/>
            <a:ext cx="8764172" cy="5613009"/>
          </a:xfrm>
        </p:spPr>
        <p:txBody>
          <a:bodyPr>
            <a:normAutofit fontScale="92500" lnSpcReduction="20000"/>
          </a:bodyPr>
          <a:lstStyle/>
          <a:p>
            <a:pPr marL="0" indent="0">
              <a:lnSpc>
                <a:spcPct val="100000"/>
              </a:lnSpc>
              <a:spcBef>
                <a:spcPts val="0"/>
              </a:spcBef>
              <a:buNone/>
            </a:pPr>
            <a:r>
              <a:rPr lang="en-US" i="1" dirty="0">
                <a:solidFill>
                  <a:srgbClr val="7030A0"/>
                </a:solidFill>
                <a:latin typeface="Aharoni" panose="02010803020104030203" pitchFamily="2" charset="-79"/>
                <a:cs typeface="Aharoni" panose="02010803020104030203" pitchFamily="2" charset="-79"/>
              </a:rPr>
              <a:t>In Capsule staining you must consider the following</a:t>
            </a:r>
            <a:r>
              <a:rPr lang="en-US" dirty="0"/>
              <a:t>:</a:t>
            </a:r>
          </a:p>
          <a:p>
            <a:pPr marL="0" indent="0">
              <a:lnSpc>
                <a:spcPct val="100000"/>
              </a:lnSpc>
              <a:spcBef>
                <a:spcPts val="0"/>
              </a:spcBef>
              <a:buNone/>
            </a:pPr>
            <a:endParaRPr lang="en-US" dirty="0"/>
          </a:p>
          <a:p>
            <a:pPr>
              <a:lnSpc>
                <a:spcPct val="100000"/>
              </a:lnSpc>
              <a:spcBef>
                <a:spcPts val="0"/>
              </a:spcBef>
            </a:pPr>
            <a:r>
              <a:rPr lang="en-US" dirty="0"/>
              <a:t>Staining of bacterial cells or bacterial structure depends on attraction and repulsion between the charge of bacterial cells or  charge of bacterial structure and that</a:t>
            </a:r>
          </a:p>
          <a:p>
            <a:pPr marL="0" indent="0">
              <a:lnSpc>
                <a:spcPct val="100000"/>
              </a:lnSpc>
              <a:spcBef>
                <a:spcPts val="0"/>
              </a:spcBef>
              <a:buNone/>
            </a:pPr>
            <a:r>
              <a:rPr lang="en-US" dirty="0"/>
              <a:t>   of the stain.</a:t>
            </a:r>
          </a:p>
          <a:p>
            <a:pPr>
              <a:lnSpc>
                <a:spcPct val="100000"/>
              </a:lnSpc>
              <a:spcBef>
                <a:spcPts val="0"/>
              </a:spcBef>
            </a:pPr>
            <a:r>
              <a:rPr lang="en-US" dirty="0"/>
              <a:t>The Capsule and Slimy layer are uncharged. So, to stain it</a:t>
            </a:r>
          </a:p>
          <a:p>
            <a:pPr marL="0" indent="0">
              <a:lnSpc>
                <a:spcPct val="100000"/>
              </a:lnSpc>
              <a:spcBef>
                <a:spcPts val="0"/>
              </a:spcBef>
              <a:buNone/>
            </a:pPr>
            <a:r>
              <a:rPr lang="en-US" dirty="0"/>
              <a:t>   we will use both:</a:t>
            </a:r>
          </a:p>
          <a:p>
            <a:pPr marL="0" indent="0">
              <a:lnSpc>
                <a:spcPct val="100000"/>
              </a:lnSpc>
              <a:spcBef>
                <a:spcPts val="0"/>
              </a:spcBef>
              <a:buNone/>
            </a:pPr>
            <a:r>
              <a:rPr lang="en-US" dirty="0"/>
              <a:t>    A- </a:t>
            </a:r>
            <a:r>
              <a:rPr lang="en-US" dirty="0">
                <a:solidFill>
                  <a:srgbClr val="FF0000"/>
                </a:solidFill>
              </a:rPr>
              <a:t>Indirect simple staining</a:t>
            </a:r>
            <a:r>
              <a:rPr lang="en-US" dirty="0"/>
              <a:t>: to stain the background(e.g. </a:t>
            </a:r>
          </a:p>
          <a:p>
            <a:pPr marL="0" indent="0">
              <a:lnSpc>
                <a:spcPct val="100000"/>
              </a:lnSpc>
              <a:spcBef>
                <a:spcPts val="0"/>
              </a:spcBef>
              <a:buNone/>
            </a:pPr>
            <a:r>
              <a:rPr lang="en-US" dirty="0"/>
              <a:t>                                                    the use of </a:t>
            </a:r>
            <a:r>
              <a:rPr lang="en-US" dirty="0">
                <a:solidFill>
                  <a:srgbClr val="0070C0"/>
                </a:solidFill>
              </a:rPr>
              <a:t>Nigrosine</a:t>
            </a:r>
            <a:r>
              <a:rPr lang="en-US" dirty="0"/>
              <a:t>, </a:t>
            </a:r>
            <a:r>
              <a:rPr lang="en-US" dirty="0">
                <a:solidFill>
                  <a:srgbClr val="0070C0"/>
                </a:solidFill>
              </a:rPr>
              <a:t>India </a:t>
            </a:r>
          </a:p>
          <a:p>
            <a:pPr marL="0" indent="0">
              <a:lnSpc>
                <a:spcPct val="100000"/>
              </a:lnSpc>
              <a:spcBef>
                <a:spcPts val="0"/>
              </a:spcBef>
              <a:buNone/>
            </a:pPr>
            <a:r>
              <a:rPr lang="en-US" dirty="0">
                <a:solidFill>
                  <a:srgbClr val="0070C0"/>
                </a:solidFill>
              </a:rPr>
              <a:t>                                                    ink, or </a:t>
            </a:r>
            <a:r>
              <a:rPr lang="en-US" dirty="0" err="1">
                <a:solidFill>
                  <a:srgbClr val="0070C0"/>
                </a:solidFill>
              </a:rPr>
              <a:t>Pelikan</a:t>
            </a:r>
            <a:r>
              <a:rPr lang="en-US" dirty="0">
                <a:solidFill>
                  <a:srgbClr val="0070C0"/>
                </a:solidFill>
              </a:rPr>
              <a:t> 4001</a:t>
            </a:r>
            <a:r>
              <a:rPr lang="en-US" dirty="0"/>
              <a:t>)</a:t>
            </a:r>
          </a:p>
          <a:p>
            <a:pPr marL="0" indent="0">
              <a:lnSpc>
                <a:spcPct val="100000"/>
              </a:lnSpc>
              <a:spcBef>
                <a:spcPts val="0"/>
              </a:spcBef>
              <a:buNone/>
            </a:pPr>
            <a:r>
              <a:rPr lang="en-US" dirty="0"/>
              <a:t>    B- Direct simple staining: to stain the bacterial cells (e.g.</a:t>
            </a:r>
          </a:p>
          <a:p>
            <a:pPr marL="0" indent="0">
              <a:lnSpc>
                <a:spcPct val="100000"/>
              </a:lnSpc>
              <a:spcBef>
                <a:spcPts val="0"/>
              </a:spcBef>
              <a:buNone/>
            </a:pPr>
            <a:r>
              <a:rPr lang="en-US" dirty="0"/>
              <a:t>                                                  the use of any </a:t>
            </a:r>
            <a:r>
              <a:rPr lang="en-US" dirty="0">
                <a:solidFill>
                  <a:srgbClr val="0070C0"/>
                </a:solidFill>
              </a:rPr>
              <a:t>Basic dye</a:t>
            </a:r>
            <a:r>
              <a:rPr lang="en-US" dirty="0"/>
              <a:t>) </a:t>
            </a:r>
          </a:p>
          <a:p>
            <a:pPr marL="0" indent="0">
              <a:lnSpc>
                <a:spcPct val="100000"/>
              </a:lnSpc>
              <a:spcBef>
                <a:spcPts val="0"/>
              </a:spcBef>
              <a:buNone/>
            </a:pPr>
            <a:r>
              <a:rPr lang="en-US" dirty="0"/>
              <a:t>    C. The unstained area around the bacterial cells that laid</a:t>
            </a:r>
          </a:p>
          <a:p>
            <a:pPr marL="0" indent="0">
              <a:lnSpc>
                <a:spcPct val="100000"/>
              </a:lnSpc>
              <a:spcBef>
                <a:spcPts val="0"/>
              </a:spcBef>
              <a:buNone/>
            </a:pPr>
            <a:r>
              <a:rPr lang="en-US" dirty="0"/>
              <a:t>         between the stained cells and the stained background</a:t>
            </a:r>
          </a:p>
          <a:p>
            <a:pPr marL="0" indent="0">
              <a:lnSpc>
                <a:spcPct val="100000"/>
              </a:lnSpc>
              <a:spcBef>
                <a:spcPts val="0"/>
              </a:spcBef>
              <a:buNone/>
            </a:pPr>
            <a:r>
              <a:rPr lang="en-US" dirty="0"/>
              <a:t>         is the Capsule.</a:t>
            </a:r>
          </a:p>
        </p:txBody>
      </p:sp>
    </p:spTree>
    <p:extLst>
      <p:ext uri="{BB962C8B-B14F-4D97-AF65-F5344CB8AC3E}">
        <p14:creationId xmlns:p14="http://schemas.microsoft.com/office/powerpoint/2010/main" val="15982749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2073D-59F7-47F0-B079-39CBC6B367DA}"/>
              </a:ext>
            </a:extLst>
          </p:cNvPr>
          <p:cNvSpPr>
            <a:spLocks noGrp="1"/>
          </p:cNvSpPr>
          <p:nvPr>
            <p:ph type="title"/>
          </p:nvPr>
        </p:nvSpPr>
        <p:spPr>
          <a:xfrm>
            <a:off x="2152650" y="365127"/>
            <a:ext cx="7886700" cy="619612"/>
          </a:xfrm>
        </p:spPr>
        <p:txBody>
          <a:bodyPr>
            <a:normAutofit fontScale="90000"/>
          </a:bodyPr>
          <a:lstStyle/>
          <a:p>
            <a:pPr algn="ctr"/>
            <a:r>
              <a:rPr lang="en-US" sz="4000" b="1" dirty="0">
                <a:solidFill>
                  <a:srgbClr val="FF0000"/>
                </a:solidFill>
                <a:latin typeface="Calibri Light" panose="020F0302020204030204"/>
              </a:rPr>
              <a:t>Capsule Staining:</a:t>
            </a:r>
            <a:endParaRPr lang="en-US" dirty="0"/>
          </a:p>
        </p:txBody>
      </p:sp>
      <p:sp>
        <p:nvSpPr>
          <p:cNvPr id="3" name="Content Placeholder 2">
            <a:extLst>
              <a:ext uri="{FF2B5EF4-FFF2-40B4-BE49-F238E27FC236}">
                <a16:creationId xmlns:a16="http://schemas.microsoft.com/office/drawing/2014/main" id="{11755903-547F-432C-AEA2-9E8932E9CAC7}"/>
              </a:ext>
            </a:extLst>
          </p:cNvPr>
          <p:cNvSpPr>
            <a:spLocks noGrp="1"/>
          </p:cNvSpPr>
          <p:nvPr>
            <p:ph idx="1"/>
          </p:nvPr>
        </p:nvSpPr>
        <p:spPr>
          <a:xfrm>
            <a:off x="1777218" y="1153551"/>
            <a:ext cx="8581293" cy="5023412"/>
          </a:xfrm>
        </p:spPr>
        <p:txBody>
          <a:bodyPr/>
          <a:lstStyle/>
          <a:p>
            <a:r>
              <a:rPr lang="en-US" dirty="0"/>
              <a:t>Capsule and Slimy layer dissolve in water and by heat. So, these must be not applied to capsule preparation.</a:t>
            </a:r>
          </a:p>
          <a:p>
            <a:pPr marL="0" indent="0">
              <a:buNone/>
            </a:pPr>
            <a:r>
              <a:rPr lang="en-US" dirty="0"/>
              <a:t>   </a:t>
            </a:r>
          </a:p>
          <a:p>
            <a:pPr marL="0" indent="0">
              <a:lnSpc>
                <a:spcPct val="100000"/>
              </a:lnSpc>
              <a:spcBef>
                <a:spcPts val="0"/>
              </a:spcBef>
              <a:buNone/>
            </a:pPr>
            <a:r>
              <a:rPr lang="en-US" i="1" dirty="0">
                <a:solidFill>
                  <a:srgbClr val="00B050"/>
                </a:solidFill>
              </a:rPr>
              <a:t>     </a:t>
            </a:r>
            <a:r>
              <a:rPr lang="en-US" sz="2000" b="1" i="1" dirty="0">
                <a:solidFill>
                  <a:srgbClr val="00B050"/>
                </a:solidFill>
              </a:rPr>
              <a:t>If you want to wash the slide you use 40% CUSO4 this will wash the excess </a:t>
            </a:r>
          </a:p>
          <a:p>
            <a:pPr marL="0" indent="0">
              <a:lnSpc>
                <a:spcPct val="100000"/>
              </a:lnSpc>
              <a:spcBef>
                <a:spcPts val="0"/>
              </a:spcBef>
              <a:buNone/>
            </a:pPr>
            <a:r>
              <a:rPr lang="en-US" sz="2000" b="1" i="1" dirty="0">
                <a:solidFill>
                  <a:srgbClr val="00B050"/>
                </a:solidFill>
              </a:rPr>
              <a:t>       of the stain, make a waxy Layer over the smear to fix it and prevent </a:t>
            </a:r>
          </a:p>
          <a:p>
            <a:pPr marL="0" indent="0">
              <a:lnSpc>
                <a:spcPct val="100000"/>
              </a:lnSpc>
              <a:spcBef>
                <a:spcPts val="0"/>
              </a:spcBef>
              <a:buNone/>
            </a:pPr>
            <a:r>
              <a:rPr lang="en-US" sz="2000" b="1" i="1" dirty="0">
                <a:solidFill>
                  <a:srgbClr val="00B050"/>
                </a:solidFill>
              </a:rPr>
              <a:t>        washed out and give the capsule it’s shiny appearance.</a:t>
            </a:r>
          </a:p>
          <a:p>
            <a:pPr marL="0" indent="0">
              <a:lnSpc>
                <a:spcPct val="100000"/>
              </a:lnSpc>
              <a:spcBef>
                <a:spcPts val="0"/>
              </a:spcBef>
              <a:buNone/>
            </a:pPr>
            <a:endParaRPr lang="en-US" sz="2000" b="1" i="1" dirty="0">
              <a:solidFill>
                <a:srgbClr val="00B050"/>
              </a:solidFill>
            </a:endParaRPr>
          </a:p>
          <a:p>
            <a:pPr>
              <a:lnSpc>
                <a:spcPct val="100000"/>
              </a:lnSpc>
              <a:spcBef>
                <a:spcPts val="0"/>
              </a:spcBef>
            </a:pPr>
            <a:r>
              <a:rPr lang="en-US" sz="2000" b="1" dirty="0">
                <a:solidFill>
                  <a:srgbClr val="0070C0"/>
                </a:solidFill>
              </a:rPr>
              <a:t>If you want to stain the slimy layer, the bacteria must be taken  directly from the sample because the slimy layer is loosely attached to the bacterial cell wall  and washed out easily  even by subculture the bacteria or growing it on artificial media.</a:t>
            </a:r>
          </a:p>
        </p:txBody>
      </p:sp>
    </p:spTree>
    <p:extLst>
      <p:ext uri="{BB962C8B-B14F-4D97-AF65-F5344CB8AC3E}">
        <p14:creationId xmlns:p14="http://schemas.microsoft.com/office/powerpoint/2010/main" val="2494104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p:cTn id="7"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9"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10" dur="1000"/>
                                        <p:tgtEl>
                                          <p:spTgt spid="3">
                                            <p:txEl>
                                              <p:pRg st="2" end="2"/>
                                            </p:txEl>
                                          </p:spTgt>
                                        </p:tgtEl>
                                      </p:cBhvr>
                                    </p:animEffect>
                                  </p:childTnLst>
                                </p:cTn>
                              </p:par>
                              <p:par>
                                <p:cTn id="11" presetID="3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p:cTn id="13" dur="1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14" dur="1000" fill="hold"/>
                                        <p:tgtEl>
                                          <p:spTgt spid="3">
                                            <p:txEl>
                                              <p:pRg st="3" end="3"/>
                                            </p:txEl>
                                          </p:spTgt>
                                        </p:tgtEl>
                                        <p:attrNameLst>
                                          <p:attrName>ppt_h</p:attrName>
                                        </p:attrNameLst>
                                      </p:cBhvr>
                                      <p:tavLst>
                                        <p:tav tm="0">
                                          <p:val>
                                            <p:fltVal val="0"/>
                                          </p:val>
                                        </p:tav>
                                        <p:tav tm="100000">
                                          <p:val>
                                            <p:strVal val="#ppt_h"/>
                                          </p:val>
                                        </p:tav>
                                      </p:tavLst>
                                    </p:anim>
                                    <p:anim calcmode="lin" valueType="num">
                                      <p:cBhvr>
                                        <p:cTn id="15" dur="100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16" dur="1000"/>
                                        <p:tgtEl>
                                          <p:spTgt spid="3">
                                            <p:txEl>
                                              <p:pRg st="3" end="3"/>
                                            </p:txEl>
                                          </p:spTgt>
                                        </p:tgtEl>
                                      </p:cBhvr>
                                    </p:animEffect>
                                  </p:childTnLst>
                                </p:cTn>
                              </p:par>
                              <p:par>
                                <p:cTn id="17" presetID="3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p:cTn id="19" dur="1000" fill="hold"/>
                                        <p:tgtEl>
                                          <p:spTgt spid="3">
                                            <p:txEl>
                                              <p:pRg st="4" end="4"/>
                                            </p:txEl>
                                          </p:spTgt>
                                        </p:tgtEl>
                                        <p:attrNameLst>
                                          <p:attrName>ppt_w</p:attrName>
                                        </p:attrNameLst>
                                      </p:cBhvr>
                                      <p:tavLst>
                                        <p:tav tm="0">
                                          <p:val>
                                            <p:fltVal val="0"/>
                                          </p:val>
                                        </p:tav>
                                        <p:tav tm="100000">
                                          <p:val>
                                            <p:strVal val="#ppt_w"/>
                                          </p:val>
                                        </p:tav>
                                      </p:tavLst>
                                    </p:anim>
                                    <p:anim calcmode="lin" valueType="num">
                                      <p:cBhvr>
                                        <p:cTn id="20" dur="1000" fill="hold"/>
                                        <p:tgtEl>
                                          <p:spTgt spid="3">
                                            <p:txEl>
                                              <p:pRg st="4" end="4"/>
                                            </p:txEl>
                                          </p:spTgt>
                                        </p:tgtEl>
                                        <p:attrNameLst>
                                          <p:attrName>ppt_h</p:attrName>
                                        </p:attrNameLst>
                                      </p:cBhvr>
                                      <p:tavLst>
                                        <p:tav tm="0">
                                          <p:val>
                                            <p:fltVal val="0"/>
                                          </p:val>
                                        </p:tav>
                                        <p:tav tm="100000">
                                          <p:val>
                                            <p:strVal val="#ppt_h"/>
                                          </p:val>
                                        </p:tav>
                                      </p:tavLst>
                                    </p:anim>
                                    <p:anim calcmode="lin" valueType="num">
                                      <p:cBhvr>
                                        <p:cTn id="21" dur="1000" fill="hold"/>
                                        <p:tgtEl>
                                          <p:spTgt spid="3">
                                            <p:txEl>
                                              <p:pRg st="4" end="4"/>
                                            </p:txEl>
                                          </p:spTgt>
                                        </p:tgtEl>
                                        <p:attrNameLst>
                                          <p:attrName>style.rotation</p:attrName>
                                        </p:attrNameLst>
                                      </p:cBhvr>
                                      <p:tavLst>
                                        <p:tav tm="0">
                                          <p:val>
                                            <p:fltVal val="90"/>
                                          </p:val>
                                        </p:tav>
                                        <p:tav tm="100000">
                                          <p:val>
                                            <p:fltVal val="0"/>
                                          </p:val>
                                        </p:tav>
                                      </p:tavLst>
                                    </p:anim>
                                    <p:animEffect transition="in" filter="fade">
                                      <p:cBhvr>
                                        <p:cTn id="22" dur="1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5"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2000"/>
                                        <p:tgtEl>
                                          <p:spTgt spid="3">
                                            <p:txEl>
                                              <p:pRg st="6" end="6"/>
                                            </p:txEl>
                                          </p:spTgt>
                                        </p:tgtEl>
                                      </p:cBhvr>
                                    </p:animEffect>
                                    <p:anim calcmode="lin" valueType="num">
                                      <p:cBhvr>
                                        <p:cTn id="28" dur="2000" fill="hold"/>
                                        <p:tgtEl>
                                          <p:spTgt spid="3">
                                            <p:txEl>
                                              <p:pRg st="6" end="6"/>
                                            </p:txEl>
                                          </p:spTgt>
                                        </p:tgtEl>
                                        <p:attrNameLst>
                                          <p:attrName>ppt_w</p:attrName>
                                        </p:attrNameLst>
                                      </p:cBhvr>
                                      <p:tavLst>
                                        <p:tav tm="0" fmla="#ppt_w*sin(2.5*pi*$)">
                                          <p:val>
                                            <p:fltVal val="0"/>
                                          </p:val>
                                        </p:tav>
                                        <p:tav tm="100000">
                                          <p:val>
                                            <p:fltVal val="1"/>
                                          </p:val>
                                        </p:tav>
                                      </p:tavLst>
                                    </p:anim>
                                    <p:anim calcmode="lin" valueType="num">
                                      <p:cBhvr>
                                        <p:cTn id="29" dur="2000" fill="hold"/>
                                        <p:tgtEl>
                                          <p:spTgt spid="3">
                                            <p:txEl>
                                              <p:pRg st="6" end="6"/>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B07EA957-770C-426A-9522-E08A8CAFBD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3392" y="0"/>
            <a:ext cx="8945217" cy="6858000"/>
          </a:xfrm>
          <a:prstGeom prst="rect">
            <a:avLst/>
          </a:prstGeom>
        </p:spPr>
      </p:pic>
    </p:spTree>
    <p:extLst>
      <p:ext uri="{BB962C8B-B14F-4D97-AF65-F5344CB8AC3E}">
        <p14:creationId xmlns:p14="http://schemas.microsoft.com/office/powerpoint/2010/main" val="40555569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close up of a logo&#10;&#10;Description automatically generated">
            <a:extLst>
              <a:ext uri="{FF2B5EF4-FFF2-40B4-BE49-F238E27FC236}">
                <a16:creationId xmlns:a16="http://schemas.microsoft.com/office/drawing/2014/main" id="{53D78306-9D22-4EBC-819C-2E5916435A4F}"/>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9906" b="20753"/>
          <a:stretch/>
        </p:blipFill>
        <p:spPr>
          <a:xfrm>
            <a:off x="1524000" y="1294229"/>
            <a:ext cx="4311253" cy="3286382"/>
          </a:xfrm>
        </p:spPr>
      </p:pic>
      <p:pic>
        <p:nvPicPr>
          <p:cNvPr id="7" name="Picture 6" descr="A close up of a piece of paper&#10;&#10;Description automatically generated">
            <a:extLst>
              <a:ext uri="{FF2B5EF4-FFF2-40B4-BE49-F238E27FC236}">
                <a16:creationId xmlns:a16="http://schemas.microsoft.com/office/drawing/2014/main" id="{BA27FAFA-8644-4919-BBA4-DA73C2C91CFC}"/>
              </a:ext>
            </a:extLst>
          </p:cNvPr>
          <p:cNvPicPr>
            <a:picLocks noChangeAspect="1"/>
          </p:cNvPicPr>
          <p:nvPr/>
        </p:nvPicPr>
        <p:blipFill rotWithShape="1">
          <a:blip r:embed="rId3">
            <a:extLst>
              <a:ext uri="{28A0092B-C50C-407E-A947-70E740481C1C}">
                <a14:useLocalDpi xmlns:a14="http://schemas.microsoft.com/office/drawing/2010/main" val="0"/>
              </a:ext>
            </a:extLst>
          </a:blip>
          <a:srcRect l="1822" r="1694" b="13616"/>
          <a:stretch/>
        </p:blipFill>
        <p:spPr>
          <a:xfrm>
            <a:off x="5835254" y="675250"/>
            <a:ext cx="4785065" cy="3905362"/>
          </a:xfrm>
          <a:prstGeom prst="rect">
            <a:avLst/>
          </a:prstGeom>
        </p:spPr>
      </p:pic>
      <p:sp>
        <p:nvSpPr>
          <p:cNvPr id="2" name="Flowchart: Punched Tape 1">
            <a:extLst>
              <a:ext uri="{FF2B5EF4-FFF2-40B4-BE49-F238E27FC236}">
                <a16:creationId xmlns:a16="http://schemas.microsoft.com/office/drawing/2014/main" id="{5F8733CD-1F3B-4140-9A08-44539C72AFB8}"/>
              </a:ext>
            </a:extLst>
          </p:cNvPr>
          <p:cNvSpPr/>
          <p:nvPr/>
        </p:nvSpPr>
        <p:spPr>
          <a:xfrm>
            <a:off x="3845169" y="4659922"/>
            <a:ext cx="4311252" cy="1807698"/>
          </a:xfrm>
          <a:prstGeom prst="flowChartPunched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600" dirty="0"/>
              <a:t>THE END</a:t>
            </a:r>
          </a:p>
        </p:txBody>
      </p:sp>
    </p:spTree>
    <p:extLst>
      <p:ext uri="{BB962C8B-B14F-4D97-AF65-F5344CB8AC3E}">
        <p14:creationId xmlns:p14="http://schemas.microsoft.com/office/powerpoint/2010/main" val="20819873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TotalTime>
  <Words>1989</Words>
  <Application>Microsoft Office PowerPoint</Application>
  <PresentationFormat>Widescreen</PresentationFormat>
  <Paragraphs>231</Paragraphs>
  <Slides>32</Slides>
  <Notes>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32</vt:i4>
      </vt:variant>
    </vt:vector>
  </HeadingPairs>
  <TitlesOfParts>
    <vt:vector size="41" baseType="lpstr">
      <vt:lpstr>Aharoni</vt:lpstr>
      <vt:lpstr>Arial</vt:lpstr>
      <vt:lpstr>Calibri</vt:lpstr>
      <vt:lpstr>Calibri Light</vt:lpstr>
      <vt:lpstr>Calibri-Bold</vt:lpstr>
      <vt:lpstr>Courier New</vt:lpstr>
      <vt:lpstr>Segoe UI</vt:lpstr>
      <vt:lpstr>Office Theme</vt:lpstr>
      <vt:lpstr>1_Office Theme</vt:lpstr>
      <vt:lpstr>{Differential and Structural Staining}  Acid-Fast , Endospore and Capsule Staining  Week # 5 </vt:lpstr>
      <vt:lpstr>PowerPoint Presentation</vt:lpstr>
      <vt:lpstr>Differential staining:</vt:lpstr>
      <vt:lpstr>PowerPoint Presentation</vt:lpstr>
      <vt:lpstr>Acid-Fast Staining procedure:</vt:lpstr>
      <vt:lpstr>PowerPoint Presentation</vt:lpstr>
      <vt:lpstr>Acid-Fast Staining procedure: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Endospore Staining</vt:lpstr>
      <vt:lpstr>Endospore Staining</vt:lpstr>
      <vt:lpstr>PowerPoint Presentation</vt:lpstr>
      <vt:lpstr>Endospore Staining procedure</vt:lpstr>
      <vt:lpstr>PowerPoint Presentation</vt:lpstr>
      <vt:lpstr>PowerPoint Presentation</vt:lpstr>
      <vt:lpstr> Capsule and Slimy layer </vt:lpstr>
      <vt:lpstr>You must differentiate between:</vt:lpstr>
      <vt:lpstr>Capsule </vt:lpstr>
      <vt:lpstr>Capsule</vt:lpstr>
      <vt:lpstr>Functions of capsule</vt:lpstr>
      <vt:lpstr>Slimy layer</vt:lpstr>
      <vt:lpstr>PowerPoint Presentation</vt:lpstr>
      <vt:lpstr>PowerPoint Presentation</vt:lpstr>
      <vt:lpstr>Capsule Staining: </vt:lpstr>
      <vt:lpstr>Capsule Staining:</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Acid-Fast, Endospore &amp; Capsule Staining</dc:title>
  <dc:creator>Adan</dc:creator>
  <cp:lastModifiedBy>Erwah Al Bataineh</cp:lastModifiedBy>
  <cp:revision>6</cp:revision>
  <dcterms:created xsi:type="dcterms:W3CDTF">2020-03-12T18:51:10Z</dcterms:created>
  <dcterms:modified xsi:type="dcterms:W3CDTF">2023-03-26T23:08:28Z</dcterms:modified>
</cp:coreProperties>
</file>