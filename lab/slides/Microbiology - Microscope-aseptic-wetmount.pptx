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0"/>
  </p:notesMasterIdLst>
  <p:sldIdLst>
    <p:sldId id="341" r:id="rId2"/>
    <p:sldId id="291" r:id="rId3"/>
    <p:sldId id="299" r:id="rId4"/>
    <p:sldId id="296" r:id="rId5"/>
    <p:sldId id="292" r:id="rId6"/>
    <p:sldId id="294" r:id="rId7"/>
    <p:sldId id="297" r:id="rId8"/>
    <p:sldId id="295" r:id="rId9"/>
    <p:sldId id="298" r:id="rId10"/>
    <p:sldId id="300" r:id="rId11"/>
    <p:sldId id="301" r:id="rId12"/>
    <p:sldId id="262" r:id="rId13"/>
    <p:sldId id="302" r:id="rId14"/>
    <p:sldId id="338" r:id="rId15"/>
    <p:sldId id="339" r:id="rId16"/>
    <p:sldId id="305" r:id="rId17"/>
    <p:sldId id="304" r:id="rId18"/>
    <p:sldId id="323" r:id="rId19"/>
    <p:sldId id="332" r:id="rId20"/>
    <p:sldId id="327" r:id="rId21"/>
    <p:sldId id="328" r:id="rId22"/>
    <p:sldId id="329" r:id="rId23"/>
    <p:sldId id="330" r:id="rId24"/>
    <p:sldId id="331" r:id="rId25"/>
    <p:sldId id="333" r:id="rId26"/>
    <p:sldId id="335" r:id="rId27"/>
    <p:sldId id="336" r:id="rId28"/>
    <p:sldId id="337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C3D8C-3BE5-4A53-ADA0-43CD4FA11105}" v="9" dt="2023-03-10T11:48:23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1368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EEAA1-6D31-437E-B51D-E72B8F5576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38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191214" y="262787"/>
            <a:ext cx="8761576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333500"/>
            <a:ext cx="6858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128010"/>
            <a:ext cx="6858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1450" lvl="0" indent="-171450">
              <a:lnSpc>
                <a:spcPct val="150000"/>
              </a:lnSpc>
              <a:spcAft>
                <a:spcPts val="9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257176" y="4546601"/>
            <a:ext cx="8786813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48" y="1507068"/>
            <a:ext cx="2394284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96654" y="1507068"/>
            <a:ext cx="5357929" cy="4669896"/>
          </a:xfrm>
        </p:spPr>
        <p:txBody>
          <a:bodyPr anchor="ctr"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900"/>
            </a:lvl1pPr>
            <a:lvl2pPr marL="301229" indent="5954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9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1215" y="26278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191214" y="262787"/>
            <a:ext cx="8761576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06" y="1536192"/>
            <a:ext cx="5157216" cy="640080"/>
          </a:xfrm>
        </p:spPr>
        <p:txBody>
          <a:bodyPr>
            <a:norm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04622" y="2560320"/>
            <a:ext cx="7084314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01774" y="4801396"/>
            <a:ext cx="8740452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192025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326" y="448631"/>
            <a:ext cx="8237349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lang="en-US" sz="21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aboratory_equipment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en.wikipedia.org/wiki/File:Electron_Microscope.jpg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jpeg"/><Relationship Id="rId4" Type="http://schemas.openxmlformats.org/officeDocument/2006/relationships/hyperlink" Target="https://en.wikipedia.org/wiki/File:Cytokinesis-electron-micrograph.jp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en.wikipedia.org/wiki/File:Leaf_epidermis.jpg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v/s!AnFd9iHZwQC0oylV9P5O-qi8kkIg?e=36Jn65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v/s!AnFd9iHZwQC0oybQksalM-tFib3e?e=wHlXt0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copemaster.com/microscope-slides.html" TargetMode="External"/><Relationship Id="rId2" Type="http://schemas.openxmlformats.org/officeDocument/2006/relationships/hyperlink" Target="https://www.microscopemaster.com/objective-lenses.html" TargetMode="Externa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v/s!AnFd9iHZwQC0oyzAkh8EYwCjLqik?e=0TZvlp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v/s!AnFd9iHZwQC0oypcEBRDL1qowmrq?e=Xt3Un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v/s!AnFd9iHZwQC0o1EtrdkqjYa3MfwV?e=rTAfAS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1drv.ms/v/s!AnFd9iHZwQC0o1KabaCulLbz2vkL?e=O8yEH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D83E1-8893-C38B-1E3B-19ACFB05AF60}"/>
              </a:ext>
            </a:extLst>
          </p:cNvPr>
          <p:cNvSpPr/>
          <p:nvPr/>
        </p:nvSpPr>
        <p:spPr>
          <a:xfrm>
            <a:off x="1907704" y="857673"/>
            <a:ext cx="6947127" cy="65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BT233 – General Microbiology Laboratory</a:t>
            </a:r>
            <a:endParaRPr lang="en-AE" sz="28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577900-E26E-C1CB-3977-920F2114A124}"/>
              </a:ext>
            </a:extLst>
          </p:cNvPr>
          <p:cNvSpPr txBox="1">
            <a:spLocks/>
          </p:cNvSpPr>
          <p:nvPr/>
        </p:nvSpPr>
        <p:spPr>
          <a:xfrm>
            <a:off x="803366" y="1988822"/>
            <a:ext cx="3448595" cy="3726178"/>
          </a:xfrm>
          <a:prstGeom prst="rect">
            <a:avLst/>
          </a:prstGeom>
        </p:spPr>
        <p:txBody>
          <a:bodyPr vert="horz" lIns="91440" tIns="0" rIns="91440" bIns="0" rtlCol="0" anchor="t" anchorCtr="0">
            <a:noAutofit/>
          </a:bodyPr>
          <a:lstStyle>
            <a:lvl1pPr algn="l" defTabSz="685800" rtl="1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50" b="1" dirty="0">
                <a:latin typeface="&amp;quot"/>
              </a:rPr>
              <a:t>Microscopes and Preparation of Wet Mount Slide of Bacteria </a:t>
            </a:r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AC25396C-67AE-0570-6B0B-8F2ECCE32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19" y="2091689"/>
            <a:ext cx="4229101" cy="435483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6C9D96-BF00-5725-A443-40F6C279DADE}"/>
              </a:ext>
            </a:extLst>
          </p:cNvPr>
          <p:cNvSpPr txBox="1">
            <a:spLocks/>
          </p:cNvSpPr>
          <p:nvPr/>
        </p:nvSpPr>
        <p:spPr>
          <a:xfrm>
            <a:off x="132807" y="5865519"/>
            <a:ext cx="2221774" cy="653753"/>
          </a:xfrm>
          <a:prstGeom prst="rect">
            <a:avLst/>
          </a:prstGeom>
        </p:spPr>
        <p:txBody>
          <a:bodyPr vert="horz" lIns="91440" tIns="0" rIns="91440" bIns="0" rtlCol="0" anchor="t" anchorCtr="0">
            <a:noAutofit/>
          </a:bodyPr>
          <a:lstStyle>
            <a:lvl1pPr algn="l" defTabSz="685800" rtl="1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50" b="1" dirty="0">
                <a:solidFill>
                  <a:srgbClr val="002060"/>
                </a:solidFill>
                <a:latin typeface="&amp;quot"/>
              </a:rPr>
              <a:t>Week#2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636" y="398710"/>
            <a:ext cx="370066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The Microscopes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37" y="1563763"/>
            <a:ext cx="8498071" cy="4732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u="sng" dirty="0">
                <a:latin typeface="Arial" panose="020B0604020202020204" pitchFamily="34" charset="0"/>
              </a:rPr>
              <a:t>It is an </a:t>
            </a:r>
            <a:r>
              <a:rPr lang="en-US" sz="1600" b="1" u="sng" dirty="0">
                <a:latin typeface="Arial" panose="020B0604020202020204" pitchFamily="34" charset="0"/>
                <a:hlinkClick r:id="rId2" tooltip="Laboratory equip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instrument</a:t>
            </a:r>
            <a:r>
              <a:rPr lang="en-US" sz="1600" b="1" u="sng" dirty="0">
                <a:latin typeface="Arial" panose="020B0604020202020204" pitchFamily="34" charset="0"/>
              </a:rPr>
              <a:t> used to see objects or parts of the object that are too small to be  seen by the naked (unaided) eye.</a:t>
            </a:r>
          </a:p>
          <a:p>
            <a:endParaRPr lang="en-US" sz="1600" b="1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US" sz="1600" b="1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Concepts of the microscopes:</a:t>
            </a:r>
          </a:p>
          <a:p>
            <a:endParaRPr lang="en-US" sz="16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941785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 Magnification:  </a:t>
            </a:r>
            <a:r>
              <a:rPr lang="en-US" sz="1600" b="1" dirty="0">
                <a:latin typeface="Arial" panose="020B0604020202020204" pitchFamily="34" charset="0"/>
              </a:rPr>
              <a:t>It is the ratio of the size of the image to that of the object</a:t>
            </a: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                                         </a:t>
            </a:r>
          </a:p>
          <a:p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                         </a:t>
            </a:r>
          </a:p>
          <a:p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   </a:t>
            </a:r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</a:rPr>
              <a:t>Total magnification= Magnification of ocular lens X Magnification of objective lens </a:t>
            </a:r>
          </a:p>
          <a:p>
            <a:endParaRPr lang="en-US" sz="16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endParaRPr lang="en-US" sz="16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endParaRPr lang="en-US" sz="16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941785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 Contrast: </a:t>
            </a:r>
            <a:r>
              <a:rPr lang="en-US" sz="1600" b="1" dirty="0">
                <a:latin typeface="Arial" panose="020B0604020202020204" pitchFamily="34" charset="0"/>
              </a:rPr>
              <a:t>the ability see a particular details against its background.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  <a:p>
            <a:pPr marL="941785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  We can use  stain to increase it.  </a:t>
            </a:r>
          </a:p>
          <a:p>
            <a:pPr marL="941785"/>
            <a:endParaRPr lang="en-US" sz="1600" b="1" dirty="0">
              <a:latin typeface="Arial" panose="020B0604020202020204" pitchFamily="34" charset="0"/>
            </a:endParaRPr>
          </a:p>
          <a:p>
            <a:pPr marL="941785"/>
            <a:endParaRPr lang="en-US" sz="1600" b="1" dirty="0">
              <a:latin typeface="Arial" panose="020B0604020202020204" pitchFamily="34" charset="0"/>
            </a:endParaRPr>
          </a:p>
          <a:p>
            <a:pPr marL="1156097" indent="-214313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Resolution: </a:t>
            </a:r>
            <a:r>
              <a:rPr lang="en-US" sz="1600" b="1" dirty="0">
                <a:latin typeface="Arial" panose="020B0604020202020204" pitchFamily="34" charset="0"/>
              </a:rPr>
              <a:t>the ability of a microscope to show two closely lying points as two distinct  points. 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It increases with magnification.  </a:t>
            </a:r>
          </a:p>
          <a:p>
            <a:pPr marL="941785"/>
            <a:endParaRPr lang="en-US" sz="135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98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8019" y="1970079"/>
            <a:ext cx="8516202" cy="3624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45431" indent="-214313">
              <a:buFont typeface="Wingdings" panose="05000000000000000000" pitchFamily="2" charset="2"/>
              <a:buChar char="q"/>
            </a:pPr>
            <a:r>
              <a:rPr lang="en-US" sz="1350" b="1" dirty="0">
                <a:solidFill>
                  <a:srgbClr val="C00000"/>
                </a:solidFill>
                <a:latin typeface="Arial" panose="020B0604020202020204" pitchFamily="34" charset="0"/>
              </a:rPr>
              <a:t>Microscopic field: </a:t>
            </a:r>
            <a:r>
              <a:rPr lang="en-US" sz="1350" b="1" dirty="0">
                <a:latin typeface="Arial" panose="020B0604020202020204" pitchFamily="34" charset="0"/>
              </a:rPr>
              <a:t>the part of the specimen that can be seen under the microscope. </a:t>
            </a:r>
          </a:p>
          <a:p>
            <a:pPr marL="941785"/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                  It decreases with magnification.            </a:t>
            </a:r>
            <a:endParaRPr lang="ar-JO" sz="1350" dirty="0">
              <a:solidFill>
                <a:srgbClr val="FF0000"/>
              </a:solidFill>
            </a:endParaRPr>
          </a:p>
          <a:p>
            <a:endParaRPr lang="en-US" sz="135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</a:rPr>
              <a:t> M1  X DFV1 =  M2  X DFV2 </a:t>
            </a:r>
          </a:p>
          <a:p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           M1    : </a:t>
            </a:r>
            <a:r>
              <a:rPr lang="en-US" sz="135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Magnification of the first objective lens</a:t>
            </a:r>
          </a:p>
          <a:p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           DFV1: </a:t>
            </a:r>
            <a:r>
              <a:rPr lang="en-US" sz="135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Diameter of the field of view with first objective lens</a:t>
            </a:r>
          </a:p>
          <a:p>
            <a:endParaRPr lang="en-US" sz="135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           M2    : </a:t>
            </a:r>
            <a:r>
              <a:rPr lang="en-US" sz="135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Magnification of the second objective lens</a:t>
            </a:r>
          </a:p>
          <a:p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sz="1350" b="1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           DFV2: </a:t>
            </a:r>
            <a:r>
              <a:rPr lang="en-US" sz="135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Diameter of the field of view with second objective lens</a:t>
            </a:r>
          </a:p>
          <a:p>
            <a:pPr marL="214313" indent="-214313">
              <a:buFont typeface="Wingdings" panose="05000000000000000000" pitchFamily="2" charset="2"/>
              <a:buChar char="q"/>
            </a:pPr>
            <a:endParaRPr lang="en-US" sz="135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1545431" indent="-204788">
              <a:buFont typeface="Wingdings" panose="05000000000000000000" pitchFamily="2" charset="2"/>
              <a:buChar char="q"/>
            </a:pPr>
            <a:r>
              <a:rPr lang="en-US" sz="1350" b="1" dirty="0">
                <a:solidFill>
                  <a:srgbClr val="C00000"/>
                </a:solidFill>
                <a:latin typeface="Arial" panose="020B0604020202020204" pitchFamily="34" charset="0"/>
              </a:rPr>
              <a:t>Working distance: </a:t>
            </a:r>
            <a:r>
              <a:rPr lang="en-US" sz="1350" b="1" dirty="0">
                <a:latin typeface="Arial" panose="020B0604020202020204" pitchFamily="34" charset="0"/>
              </a:rPr>
              <a:t>the distance between the objective lens and the specimen. </a:t>
            </a:r>
          </a:p>
          <a:p>
            <a:r>
              <a:rPr lang="en-US" sz="1350" b="1" dirty="0">
                <a:solidFill>
                  <a:srgbClr val="C00000"/>
                </a:solidFill>
                <a:latin typeface="Arial" panose="020B0604020202020204" pitchFamily="34" charset="0"/>
              </a:rPr>
              <a:t>                                                                 </a:t>
            </a:r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</a:rPr>
              <a:t>It decreases with magnification. </a:t>
            </a:r>
          </a:p>
          <a:p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4" y="1809182"/>
            <a:ext cx="1531557" cy="3670130"/>
          </a:xfrm>
          <a:prstGeom prst="rect">
            <a:avLst/>
          </a:prstGeom>
        </p:spPr>
      </p:pic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994783" y="4790515"/>
            <a:ext cx="765779" cy="3043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27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5892" y="1746030"/>
            <a:ext cx="8587853" cy="4213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</a:rPr>
              <a:t>The microscopes may be:</a:t>
            </a:r>
          </a:p>
          <a:p>
            <a:endParaRPr lang="en-US" sz="135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Simple microscopes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: </a:t>
            </a:r>
            <a:r>
              <a:rPr lang="en-US" sz="2000" b="1" dirty="0">
                <a:solidFill>
                  <a:srgbClr val="222222"/>
                </a:solidFill>
                <a:latin typeface="Arial" panose="020B0604020202020204" pitchFamily="34" charset="0"/>
              </a:rPr>
              <a:t> is generally considered to be the first microscope. It  combined a convex lens with a holder for specimens and Magnify between 200 and 300 times.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Compound Microscopes: </a:t>
            </a:r>
            <a:r>
              <a:rPr lang="en-US" sz="2000" b="1" dirty="0">
                <a:latin typeface="Arial" panose="020B0604020202020204" pitchFamily="34" charset="0"/>
              </a:rPr>
              <a:t>Two lenses, the second lens magnifies the image of the first  and they may be binocular or monocular. These devices provide a magnification up to 1200 times, but the resolution is low. </a:t>
            </a:r>
          </a:p>
        </p:txBody>
      </p:sp>
    </p:spTree>
    <p:extLst>
      <p:ext uri="{BB962C8B-B14F-4D97-AF65-F5344CB8AC3E}">
        <p14:creationId xmlns:p14="http://schemas.microsoft.com/office/powerpoint/2010/main" val="37063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853" y="1585913"/>
            <a:ext cx="8348798" cy="4039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/>
              <a:t> </a:t>
            </a:r>
            <a:r>
              <a:rPr lang="en-US" sz="135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on what interacts with the sample to generate the image</a:t>
            </a:r>
            <a:endParaRPr lang="en-US" sz="135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Wingdings" panose="05000000000000000000" pitchFamily="2" charset="2"/>
              <a:buChar char="v"/>
            </a:pPr>
            <a:endParaRPr lang="en-US" sz="135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Wingdings" panose="05000000000000000000" pitchFamily="2" charset="2"/>
              <a:buChar char="v"/>
            </a:pPr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Optical  Microscopes</a:t>
            </a:r>
            <a:r>
              <a:rPr lang="en-US" sz="13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5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visible or invisible light to create image,</a:t>
            </a:r>
          </a:p>
          <a:p>
            <a:endParaRPr lang="en-US" sz="135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9079" indent="-132160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Compound Microscopes: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- The specimen is then magnified by a series of lenses, one near the slide (called the objective lens) and one 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near the top (called the eyepiece). 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- The light lit the specimen from underneath </a:t>
            </a:r>
            <a:r>
              <a:rPr lang="en-US" sz="135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016919"/>
            <a:r>
              <a:rPr lang="en-US" sz="135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</a:t>
            </a: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- Two-dimensional image 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- Magnify up to 2500 X   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- Low resolving power</a:t>
            </a:r>
          </a:p>
          <a:p>
            <a:pPr marL="2231231" indent="-214313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Stereo Microscopes :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- The specimen is usually lit from above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- Use with any opaque specimen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- Create three-dimensional images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- Low magnification ( 10X – 50X)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- Lower resolutions than compound microscopes</a:t>
            </a:r>
          </a:p>
          <a:p>
            <a:pPr marL="2016919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-109400" y="514643"/>
            <a:ext cx="87390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Types of Microscopes</a:t>
            </a:r>
            <a:endParaRPr lang="ar-JO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Image result for stereoscope microscope">
            <a:extLst>
              <a:ext uri="{FF2B5EF4-FFF2-40B4-BE49-F238E27FC236}">
                <a16:creationId xmlns:a16="http://schemas.microsoft.com/office/drawing/2014/main" id="{254E43CE-A932-87EB-2E6F-DF01A6989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51" y="4580770"/>
            <a:ext cx="2873829" cy="2311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04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1850" y="1461761"/>
            <a:ext cx="8070047" cy="5147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B3B3B"/>
                </a:solidFill>
                <a:latin typeface="&amp;quot"/>
                <a:ea typeface="Times New Roman" panose="02020603050405020304" pitchFamily="18" charset="0"/>
                <a:cs typeface="Times New Roman" panose="02020603050405020304" pitchFamily="18" charset="0"/>
              </a:rPr>
              <a:t>Fluorescence microscope: </a:t>
            </a:r>
          </a:p>
          <a:p>
            <a:r>
              <a:rPr lang="en-US" b="1" dirty="0">
                <a:solidFill>
                  <a:srgbClr val="3B3B3B"/>
                </a:solidFill>
                <a:latin typeface="&amp;quot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- use invisible light such as UV light, when UV light hit specimen </a:t>
            </a:r>
          </a:p>
          <a:p>
            <a:r>
              <a:rPr lang="en-US" b="1" dirty="0">
                <a:solidFill>
                  <a:srgbClr val="3B3B3B"/>
                </a:solidFill>
                <a:latin typeface="&amp;quot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stained with fluorescent dye it will emit visible light with increase </a:t>
            </a:r>
          </a:p>
          <a:p>
            <a:r>
              <a:rPr lang="en-US" b="1" dirty="0">
                <a:solidFill>
                  <a:srgbClr val="3B3B3B"/>
                </a:solidFill>
                <a:latin typeface="&amp;quot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in the resolution of the object.  </a:t>
            </a:r>
          </a:p>
          <a:p>
            <a:r>
              <a:rPr lang="en-US" b="1" dirty="0">
                <a:solidFill>
                  <a:srgbClr val="3B3B3B"/>
                </a:solidFill>
                <a:latin typeface="&amp;quot"/>
                <a:cs typeface="Times New Roman" panose="02020603050405020304" pitchFamily="18" charset="0"/>
              </a:rPr>
              <a:t>                              -  Allows observation of fluorescence images.</a:t>
            </a:r>
          </a:p>
          <a:p>
            <a:r>
              <a:rPr lang="en-US" b="1" dirty="0">
                <a:solidFill>
                  <a:srgbClr val="3B3B3B"/>
                </a:solidFill>
                <a:latin typeface="&amp;quot"/>
                <a:cs typeface="Times New Roman" panose="02020603050405020304" pitchFamily="18" charset="0"/>
              </a:rPr>
              <a:t>                              - It is possible to only observe specific areas by using different </a:t>
            </a:r>
          </a:p>
          <a:p>
            <a:r>
              <a:rPr lang="en-US" b="1" dirty="0">
                <a:solidFill>
                  <a:srgbClr val="3B3B3B"/>
                </a:solidFill>
                <a:latin typeface="&amp;quot"/>
                <a:cs typeface="Times New Roman" panose="02020603050405020304" pitchFamily="18" charset="0"/>
              </a:rPr>
              <a:t>                                 fluorescent labels. </a:t>
            </a:r>
          </a:p>
          <a:p>
            <a:endParaRPr lang="en-US" b="1" dirty="0">
              <a:solidFill>
                <a:srgbClr val="3B3B3B"/>
              </a:solidFill>
              <a:latin typeface="&amp;quot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  <a:latin typeface="&amp;quot"/>
                <a:cs typeface="Times New Roman" panose="02020603050405020304" pitchFamily="18" charset="0"/>
              </a:rPr>
              <a:t>Electron Microscope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&amp;quot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- Use a beam of electrons to form image. </a:t>
            </a:r>
          </a:p>
          <a:p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                                          - Use electromagnetic lenses instead of glass lenses</a:t>
            </a:r>
          </a:p>
          <a:p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                                          - Very high resolving power</a:t>
            </a:r>
          </a:p>
          <a:p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                                          - Two types:</a:t>
            </a:r>
          </a:p>
          <a:p>
            <a:pPr marL="2692004" indent="-214313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  <a:latin typeface="&amp;quot"/>
                <a:cs typeface="Times New Roman" panose="02020603050405020304" pitchFamily="18" charset="0"/>
              </a:rPr>
              <a:t>Transmission electron microscope (TEM):</a:t>
            </a:r>
          </a:p>
          <a:p>
            <a:pPr marL="2958704" indent="-71438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  Give ultrastructure of the cell        </a:t>
            </a:r>
          </a:p>
          <a:p>
            <a:pPr marL="3090863" indent="-194072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Give 2D image</a:t>
            </a:r>
          </a:p>
          <a:p>
            <a:pPr marL="3090863" indent="-194072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Total magnification (over  20 millions X)                                                                 </a:t>
            </a:r>
          </a:p>
          <a:p>
            <a:endParaRPr lang="en-US" sz="1350" b="1" dirty="0">
              <a:solidFill>
                <a:srgbClr val="3B3B3B"/>
              </a:solidFill>
              <a:latin typeface="&amp;quot"/>
              <a:cs typeface="Times New Roman" panose="02020603050405020304" pitchFamily="18" charset="0"/>
            </a:endParaRPr>
          </a:p>
          <a:p>
            <a:pPr marL="214313" indent="-214313">
              <a:buFont typeface="Wingdings" panose="05000000000000000000" pitchFamily="2" charset="2"/>
              <a:buChar char="v"/>
            </a:pPr>
            <a:endParaRPr lang="en-US" sz="1350" b="1" dirty="0">
              <a:solidFill>
                <a:srgbClr val="3B3B3B"/>
              </a:solidFill>
              <a:latin typeface="&amp;quot"/>
              <a:cs typeface="Times New Roman" panose="02020603050405020304" pitchFamily="18" charset="0"/>
            </a:endParaRPr>
          </a:p>
          <a:p>
            <a:endParaRPr lang="ar-JO" sz="1350" b="1" dirty="0"/>
          </a:p>
        </p:txBody>
      </p:sp>
    </p:spTree>
    <p:extLst>
      <p:ext uri="{BB962C8B-B14F-4D97-AF65-F5344CB8AC3E}">
        <p14:creationId xmlns:p14="http://schemas.microsoft.com/office/powerpoint/2010/main" val="50647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upload.wikimedia.org/wikipedia/commons/thumb/c/c5/Electron_Microscope.jpg/170px-Electron_Microscope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50" y="1957801"/>
            <a:ext cx="2855795" cy="3372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https://upload.wikimedia.org/wikipedia/commons/thumb/3/35/Cytokinesis-electron-micrograph.jpg/220px-Cytokinesis-electron-micrograph.jpg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893" y="1962718"/>
            <a:ext cx="3787253" cy="30333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4769893" y="5296526"/>
            <a:ext cx="3787253" cy="537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Transmission electron micrograph of a dividing cell undergoing cytokinesis</a:t>
            </a:r>
            <a:endParaRPr lang="en-US" sz="14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10271" y="5509629"/>
            <a:ext cx="550151" cy="29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TEM</a:t>
            </a:r>
            <a:endParaRPr lang="en-US" sz="135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484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131" y="1913973"/>
            <a:ext cx="8618562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2004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  <a:latin typeface="&amp;quot"/>
                <a:cs typeface="Times New Roman" panose="02020603050405020304" pitchFamily="18" charset="0"/>
              </a:rPr>
              <a:t>  Scanning electron microscope (SEM):</a:t>
            </a:r>
          </a:p>
          <a:p>
            <a:pPr marL="2958704" indent="-71438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  Give topography image for the surface of the cell        </a:t>
            </a:r>
          </a:p>
          <a:p>
            <a:pPr marL="3090863" indent="-194072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Give 3D image</a:t>
            </a:r>
          </a:p>
          <a:p>
            <a:pPr marL="3090863" indent="-194072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Total magnification (over  20,000X) </a:t>
            </a:r>
          </a:p>
          <a:p>
            <a:pPr defTabSz="134541">
              <a:tabLst>
                <a:tab pos="542925" algn="l"/>
              </a:tabLst>
            </a:pPr>
            <a:endParaRPr lang="en-US" b="1" dirty="0">
              <a:solidFill>
                <a:srgbClr val="FF0000"/>
              </a:solidFill>
              <a:latin typeface="&amp;quot"/>
              <a:cs typeface="Times New Roman" panose="02020603050405020304" pitchFamily="18" charset="0"/>
            </a:endParaRPr>
          </a:p>
          <a:p>
            <a:pPr indent="71438" defTabSz="134541">
              <a:tabLst>
                <a:tab pos="542925" algn="l"/>
              </a:tabLst>
            </a:pPr>
            <a:endParaRPr lang="en-US" sz="1350" b="1" dirty="0">
              <a:solidFill>
                <a:srgbClr val="00B0F0"/>
              </a:solidFill>
              <a:latin typeface="&amp;quot"/>
              <a:cs typeface="Times New Roman" panose="02020603050405020304" pitchFamily="18" charset="0"/>
            </a:endParaRPr>
          </a:p>
          <a:p>
            <a:pPr marL="52388">
              <a:tabLst>
                <a:tab pos="0" algn="l"/>
              </a:tabLst>
            </a:pPr>
            <a:r>
              <a:rPr lang="en-US" sz="13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&amp;quot"/>
                <a:cs typeface="Times New Roman" panose="02020603050405020304" pitchFamily="18" charset="0"/>
              </a:rPr>
              <a:t>     </a:t>
            </a:r>
          </a:p>
          <a:p>
            <a:pPr marL="52388">
              <a:tabLst>
                <a:tab pos="0" algn="l"/>
              </a:tabLst>
            </a:pPr>
            <a:r>
              <a:rPr lang="en-US" sz="135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&amp;quot"/>
                <a:cs typeface="Times New Roman" panose="02020603050405020304" pitchFamily="18" charset="0"/>
              </a:rPr>
              <a:t>                                                                                                             </a:t>
            </a:r>
          </a:p>
        </p:txBody>
      </p:sp>
      <p:pic>
        <p:nvPicPr>
          <p:cNvPr id="5" name="Picture 4" descr="https://upload.wikimedia.org/wikipedia/commons/thumb/7/7c/Leaf_epidermis.jpg/220px-Leaf_epidermis.jp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475" y="3333875"/>
            <a:ext cx="3879377" cy="28660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309833" y="5042091"/>
            <a:ext cx="33313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Leaf surface viewed by a scanning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electron microscope</a:t>
            </a:r>
            <a:endParaRPr lang="ar-J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068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9362" y="1535983"/>
            <a:ext cx="829101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8138">
              <a:tabLst>
                <a:tab pos="0" algn="l"/>
              </a:tabLst>
            </a:pPr>
            <a:endParaRPr lang="en-US" b="1" dirty="0">
              <a:solidFill>
                <a:srgbClr val="00B0F0"/>
              </a:solidFill>
              <a:latin typeface="&amp;quot"/>
              <a:cs typeface="Times New Roman" panose="02020603050405020304" pitchFamily="18" charset="0"/>
            </a:endParaRPr>
          </a:p>
          <a:p>
            <a:pPr marL="266700" indent="-214313"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&amp;quot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&amp;quot"/>
                <a:cs typeface="Times New Roman" panose="02020603050405020304" pitchFamily="18" charset="0"/>
              </a:rPr>
              <a:t>X-ray Microscope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&amp;quot"/>
                <a:cs typeface="Times New Roman" panose="02020603050405020304" pitchFamily="18" charset="0"/>
              </a:rPr>
              <a:t>:</a:t>
            </a:r>
          </a:p>
          <a:p>
            <a:pPr marL="52388">
              <a:tabLst>
                <a:tab pos="0" algn="l"/>
              </a:tabLst>
            </a:pPr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&amp;quot"/>
                <a:cs typeface="Times New Roman" panose="02020603050405020304" pitchFamily="18" charset="0"/>
              </a:rPr>
              <a:t>                                       </a:t>
            </a: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- Use a beam</a:t>
            </a:r>
            <a:r>
              <a:rPr lang="en-US" b="1" dirty="0">
                <a:solidFill>
                  <a:srgbClr val="FF0000"/>
                </a:solidFill>
                <a:latin typeface="&amp;quot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of X-rays to create image</a:t>
            </a:r>
          </a:p>
          <a:p>
            <a:pPr marL="52388">
              <a:tabLst>
                <a:tab pos="0" algn="l"/>
              </a:tabLst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                                       - Resolution higher than that in optical microscope</a:t>
            </a:r>
          </a:p>
          <a:p>
            <a:pPr marL="52388">
              <a:tabLst>
                <a:tab pos="0" algn="l"/>
              </a:tabLst>
            </a:pPr>
            <a:endParaRPr lang="en-US" b="1" dirty="0">
              <a:solidFill>
                <a:srgbClr val="00B0F0"/>
              </a:solidFill>
              <a:latin typeface="&amp;quot"/>
              <a:cs typeface="Times New Roman" panose="02020603050405020304" pitchFamily="18" charset="0"/>
            </a:endParaRPr>
          </a:p>
          <a:p>
            <a:pPr marL="309563" indent="-257175">
              <a:buFont typeface="Wingdings" panose="05000000000000000000" pitchFamily="2" charset="2"/>
              <a:buChar char="v"/>
              <a:tabLst>
                <a:tab pos="0" algn="l"/>
              </a:tabLst>
            </a:pPr>
            <a:r>
              <a:rPr lang="en-US" b="1" dirty="0">
                <a:solidFill>
                  <a:srgbClr val="FF0000"/>
                </a:solidFill>
                <a:latin typeface="&amp;quot"/>
                <a:cs typeface="Times New Roman" panose="02020603050405020304" pitchFamily="18" charset="0"/>
              </a:rPr>
              <a:t>Scanning Acoustic Microscope:</a:t>
            </a:r>
          </a:p>
          <a:p>
            <a:pPr marL="52388">
              <a:tabLst>
                <a:tab pos="0" algn="l"/>
              </a:tabLst>
            </a:pPr>
            <a:endParaRPr lang="en-US" b="1" dirty="0">
              <a:solidFill>
                <a:srgbClr val="FF0000"/>
              </a:solidFill>
              <a:latin typeface="&amp;quot"/>
              <a:cs typeface="Times New Roman" panose="02020603050405020304" pitchFamily="18" charset="0"/>
            </a:endParaRPr>
          </a:p>
          <a:p>
            <a:pPr marL="960835" indent="-285750">
              <a:buFontTx/>
              <a:buChar char="-"/>
              <a:tabLst>
                <a:tab pos="542925" algn="l"/>
              </a:tabLst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Employs sound waves to create image</a:t>
            </a:r>
          </a:p>
          <a:p>
            <a:pPr marL="960835" indent="-285750">
              <a:buFontTx/>
              <a:buChar char="-"/>
              <a:tabLst>
                <a:tab pos="542925" algn="l"/>
              </a:tabLst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They can use it to view a sample internally without staining it or causing it any damage</a:t>
            </a:r>
          </a:p>
          <a:p>
            <a:pPr marL="960835" indent="-285750">
              <a:buFontTx/>
              <a:buChar char="-"/>
              <a:tabLst>
                <a:tab pos="542925" algn="l"/>
              </a:tabLst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Relies on a beam to scan and penetrate the specimen while it is in water</a:t>
            </a:r>
          </a:p>
          <a:p>
            <a:pPr marL="960835" indent="-285750">
              <a:buFontTx/>
              <a:buChar char="-"/>
              <a:tabLst>
                <a:tab pos="542925" algn="l"/>
              </a:tabLst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It has the ability to pick up on sub-micron features, such as popcorn cracking</a:t>
            </a:r>
          </a:p>
          <a:p>
            <a:pPr marL="960835" indent="-285750">
              <a:buFontTx/>
              <a:buChar char="-"/>
              <a:tabLst>
                <a:tab pos="542925" algn="l"/>
              </a:tabLst>
            </a:pPr>
            <a:r>
              <a:rPr lang="en-US" b="1" dirty="0">
                <a:solidFill>
                  <a:srgbClr val="00B0F0"/>
                </a:solidFill>
                <a:latin typeface="&amp;quot"/>
                <a:cs typeface="Times New Roman" panose="02020603050405020304" pitchFamily="18" charset="0"/>
              </a:rPr>
              <a:t>Able to measure the depth of internal layers</a:t>
            </a:r>
          </a:p>
        </p:txBody>
      </p:sp>
    </p:spTree>
    <p:extLst>
      <p:ext uri="{BB962C8B-B14F-4D97-AF65-F5344CB8AC3E}">
        <p14:creationId xmlns:p14="http://schemas.microsoft.com/office/powerpoint/2010/main" val="146707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0140" y="597968"/>
            <a:ext cx="8331957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</a:rPr>
              <a:t>YOU MUST TAKE CARE ABOUT THE FOOLOWINGS WHILE  USING OF THE MICROSCOPE :</a:t>
            </a:r>
            <a:endParaRPr lang="ar-JO" sz="135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8254" y="1891068"/>
            <a:ext cx="849573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endParaRPr lang="ar-JO" sz="1350" dirty="0"/>
          </a:p>
        </p:txBody>
      </p:sp>
      <p:sp>
        <p:nvSpPr>
          <p:cNvPr id="7" name="Rectangle 6"/>
          <p:cNvSpPr/>
          <p:nvPr/>
        </p:nvSpPr>
        <p:spPr>
          <a:xfrm>
            <a:off x="358254" y="1527967"/>
            <a:ext cx="8331957" cy="4978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ALWAYS CARRY THE MICROSCOPE WITH TWO HANDS, ONE UNDER THE BASE, THE OTHER HOLD THE ARM, AND THE MICROSCOPE MUST BE UPRIGHT PARALLEL TO YOUR BODY.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https://1drv.ms/v/s!AnFd9iHZwQC0oylV9P5O-qi8kkIg?e=36Jn65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PUT THE MICROSCOPE GENTLY ON THE BENCH AND AWAY FROM THE EDGES.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DO NOT DRAG OR SHOVE THE MICROSCOPE ACROSS THE LAB BENCH.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 ON/OFF THE MICROSCOPE FROM THE MICROSCOPIC SWITCH, NOT FROM THE MAIN </a:t>
            </a:r>
          </a:p>
          <a:p>
            <a:pPr lvl="0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ELECTRIC SWITCH.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CLEAN THE MICROSCOPE BEFORE AND AFTER USE IT ONLY BY LENS PAPER.</a:t>
            </a:r>
          </a:p>
          <a:p>
            <a:pPr lvl="0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* The first for all optical parts of the microscope EXCEPT oil </a:t>
            </a:r>
          </a:p>
          <a:p>
            <a:pPr lvl="0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immersion lens, starting  from eyepiece, objectives, condenser,                      </a:t>
            </a:r>
          </a:p>
          <a:p>
            <a:pPr lvl="0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then light source.</a:t>
            </a:r>
          </a:p>
          <a:p>
            <a:pPr lvl="0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* The second for oil immersion lens only.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ar-JO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916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3774" y="1645187"/>
            <a:ext cx="85571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the end of using the microscope do the followings: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1606" indent="-214313">
              <a:buFont typeface="Wingdings" panose="05000000000000000000" pitchFamily="2" charset="2"/>
              <a:buChar char="ü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Clean the microscope</a:t>
            </a:r>
          </a:p>
          <a:p>
            <a:pPr marL="1421606" indent="-214313">
              <a:buFont typeface="Wingdings" panose="05000000000000000000" pitchFamily="2" charset="2"/>
              <a:buChar char="ü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1606" indent="-214313">
              <a:buFont typeface="Wingdings" panose="05000000000000000000" pitchFamily="2" charset="2"/>
              <a:buChar char="ü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Lower the stage to the lowest point</a:t>
            </a:r>
          </a:p>
          <a:p>
            <a:pPr marL="1421606" indent="-214313">
              <a:buFont typeface="Wingdings" panose="05000000000000000000" pitchFamily="2" charset="2"/>
              <a:buChar char="ü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1606" indent="-214313">
              <a:buFont typeface="Wingdings" panose="05000000000000000000" pitchFamily="2" charset="2"/>
              <a:buChar char="ü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Put the scanning objective lens (4X) at the position (over the condenser)</a:t>
            </a:r>
          </a:p>
          <a:p>
            <a:pPr marL="1421606" indent="-214313">
              <a:buFont typeface="Wingdings" panose="05000000000000000000" pitchFamily="2" charset="2"/>
              <a:buChar char="ü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1606" indent="-214313">
              <a:buFont typeface="Wingdings" panose="05000000000000000000" pitchFamily="2" charset="2"/>
              <a:buChar char="ü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Tie the electric wire around the arm in a tidy way.</a:t>
            </a:r>
          </a:p>
          <a:p>
            <a:pPr marL="1421606" indent="-214313">
              <a:buFont typeface="Wingdings" panose="05000000000000000000" pitchFamily="2" charset="2"/>
              <a:buChar char="ü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1606" indent="-214313">
              <a:buFont typeface="Wingdings" panose="05000000000000000000" pitchFamily="2" charset="2"/>
              <a:buChar char="ü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Return the microscope to the cabinet</a:t>
            </a:r>
          </a:p>
          <a:p>
            <a:pPr marL="1421606" indent="-214313">
              <a:buFont typeface="Wingdings" panose="05000000000000000000" pitchFamily="2" charset="2"/>
              <a:buChar char="ü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1606" indent="-214313">
              <a:buFont typeface="Wingdings" panose="05000000000000000000" pitchFamily="2" charset="2"/>
              <a:buChar char="ü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Put the microscope in the cabinet in such a way that the microscopic arm faced out.       </a:t>
            </a:r>
          </a:p>
        </p:txBody>
      </p:sp>
    </p:spTree>
    <p:extLst>
      <p:ext uri="{BB962C8B-B14F-4D97-AF65-F5344CB8AC3E}">
        <p14:creationId xmlns:p14="http://schemas.microsoft.com/office/powerpoint/2010/main" val="3748854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545" y="1223010"/>
            <a:ext cx="5670160" cy="563499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17270" y="569648"/>
            <a:ext cx="59610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Akhbar MT" pitchFamily="2" charset="-78"/>
              </a:rPr>
              <a:t>Parts of the Compound Microscope</a:t>
            </a:r>
            <a:endParaRPr lang="ar-JO" sz="2000" b="1" dirty="0">
              <a:solidFill>
                <a:srgbClr val="FF0000"/>
              </a:solidFill>
              <a:cs typeface="Akhbar MT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37D8F-DBFA-1846-D8F5-6D41F9CBDE9A}"/>
              </a:ext>
            </a:extLst>
          </p:cNvPr>
          <p:cNvSpPr txBox="1"/>
          <p:nvPr/>
        </p:nvSpPr>
        <p:spPr>
          <a:xfrm>
            <a:off x="285750" y="1642795"/>
            <a:ext cx="3143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https://1drv.ms/v/s!AnFd9iHZwQC0oybQksalM-tFib3e?e=wHlXt0</a:t>
            </a:r>
            <a:endParaRPr lang="en-CA" dirty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81544" y="498946"/>
            <a:ext cx="8618561" cy="46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900"/>
              </a:spcBef>
            </a:pPr>
            <a:r>
              <a:rPr lang="en-US" sz="2400" b="1" dirty="0">
                <a:solidFill>
                  <a:srgbClr val="FF0000"/>
                </a:solidFill>
                <a:latin typeface="Agency FB" panose="020B0503020202020204" pitchFamily="34" charset="0"/>
                <a:ea typeface="PMingLiU"/>
                <a:cs typeface="Arial" panose="020B0604020202020204" pitchFamily="34" charset="0"/>
              </a:rPr>
              <a:t>Parts of the compound microscope (Student Microscope):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96415" y="2622367"/>
            <a:ext cx="2984145" cy="1836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9440FC-A368-957E-C8BE-C59322E7F0DB}"/>
              </a:ext>
            </a:extLst>
          </p:cNvPr>
          <p:cNvSpPr/>
          <p:nvPr/>
        </p:nvSpPr>
        <p:spPr>
          <a:xfrm>
            <a:off x="451485" y="1144815"/>
            <a:ext cx="8241030" cy="6627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AE" sz="2000" dirty="0">
              <a:solidFill>
                <a:srgbClr val="FF0000"/>
              </a:solidFill>
              <a:latin typeface="Verdana" panose="020B060403050404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AE" sz="20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Eyepiece</a:t>
            </a:r>
            <a:r>
              <a:rPr lang="en-AE" sz="20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 The lens the student looks through to see the specimen. The eyepiece usually contains a 10X or 15X power lens.</a:t>
            </a:r>
            <a:endParaRPr lang="en-A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AE" sz="20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Body tube (Head): </a:t>
            </a:r>
            <a:r>
              <a:rPr lang="en-AE" sz="20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body tube connects the eyepiece to the objective lenses.</a:t>
            </a:r>
            <a:endParaRPr lang="en-A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AE" sz="20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Arm:</a:t>
            </a:r>
            <a:r>
              <a:rPr lang="en-AE" sz="20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 The arm connects the body tube to the base of the microscope used to carry the microscope.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AE" sz="20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Coarse adjustment: </a:t>
            </a:r>
            <a:r>
              <a:rPr lang="en-AE" sz="20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Brings the specimen into general focus.</a:t>
            </a:r>
            <a:endParaRPr lang="en-A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AE" sz="20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Fine adjustment: </a:t>
            </a:r>
            <a:r>
              <a:rPr lang="en-AE" sz="20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Fine tunes the focus and increases the detail of the specimen.</a:t>
            </a:r>
          </a:p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Nosepiece: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A rotating turret that houses the objective lenses. The viewer spins the nosepiece to select different objective lenses.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endParaRPr lang="en-A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97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81544" y="498946"/>
            <a:ext cx="8618561" cy="46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900"/>
              </a:spcBef>
            </a:pPr>
            <a:r>
              <a:rPr lang="en-US" sz="2400" b="1" dirty="0">
                <a:solidFill>
                  <a:srgbClr val="FF0000"/>
                </a:solidFill>
                <a:latin typeface="Agency FB" panose="020B0503020202020204" pitchFamily="34" charset="0"/>
                <a:ea typeface="PMingLiU"/>
                <a:cs typeface="Arial" panose="020B0604020202020204" pitchFamily="34" charset="0"/>
              </a:rPr>
              <a:t>Parts of the compound microscope (Student Microscope):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96415" y="2622367"/>
            <a:ext cx="2984145" cy="1836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9440FC-A368-957E-C8BE-C59322E7F0DB}"/>
              </a:ext>
            </a:extLst>
          </p:cNvPr>
          <p:cNvSpPr/>
          <p:nvPr/>
        </p:nvSpPr>
        <p:spPr>
          <a:xfrm>
            <a:off x="451485" y="1384845"/>
            <a:ext cx="8241030" cy="6447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AE" sz="2000" dirty="0">
              <a:solidFill>
                <a:srgbClr val="FF0000"/>
              </a:solidFill>
              <a:latin typeface="Verdana" panose="020B060403050404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Objective lenses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 One of the most important parts of a compound microscope, as they are the lenses closest to the specimen. 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standard microscope has four objective lenses that range in power from 4X to 100X.</a:t>
            </a:r>
          </a:p>
          <a:p>
            <a:endParaRPr lang="en-AE" b="1" dirty="0">
              <a:solidFill>
                <a:srgbClr val="FF0000"/>
              </a:solidFill>
              <a:latin typeface="Verdana" panose="020B060403050404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Specimen or </a:t>
            </a:r>
            <a:r>
              <a:rPr lang="en-AE" sz="1800" b="1" u="sng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 The specimen is the object being examined. Most specimens are mounted on slides, flat rectangles of thin glass.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Stage: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The flat platform where the slide is placed.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Stage clips: 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Metal clips that hold the slide in place.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Mechanical stage knobs: These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knobs move the stage left and right or up and down.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endParaRPr lang="en-A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970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81544" y="498946"/>
            <a:ext cx="8618561" cy="46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900"/>
              </a:spcBef>
            </a:pPr>
            <a:r>
              <a:rPr lang="en-US" sz="2400" b="1" dirty="0">
                <a:solidFill>
                  <a:srgbClr val="FF0000"/>
                </a:solidFill>
                <a:latin typeface="Agency FB" panose="020B0503020202020204" pitchFamily="34" charset="0"/>
                <a:ea typeface="PMingLiU"/>
                <a:cs typeface="Arial" panose="020B0604020202020204" pitchFamily="34" charset="0"/>
              </a:rPr>
              <a:t>Parts of the compound microscope (Student Microscope):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96415" y="2622367"/>
            <a:ext cx="2984145" cy="1836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  <a:p>
            <a:pPr algn="just">
              <a:lnSpc>
                <a:spcPct val="105000"/>
              </a:lnSpc>
              <a:spcBef>
                <a:spcPts val="900"/>
              </a:spcBef>
            </a:pPr>
            <a:endParaRPr lang="en-US" sz="1600" dirty="0">
              <a:solidFill>
                <a:srgbClr val="00B0F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9440FC-A368-957E-C8BE-C59322E7F0DB}"/>
              </a:ext>
            </a:extLst>
          </p:cNvPr>
          <p:cNvSpPr/>
          <p:nvPr/>
        </p:nvSpPr>
        <p:spPr>
          <a:xfrm>
            <a:off x="520065" y="1165860"/>
            <a:ext cx="7560945" cy="5535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AE" sz="2000" dirty="0">
              <a:solidFill>
                <a:srgbClr val="FF0000"/>
              </a:solidFill>
              <a:latin typeface="Verdana" panose="020B060403050404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Illumination: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The light source for a microscope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Iris diaphragm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 Adjusts the amount of light that reaches the specimen.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Condenser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 Gathers and focuses light from the illuminator onto the specimen being viewed.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AE" sz="1800" b="1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Base:</a:t>
            </a:r>
            <a:r>
              <a:rPr lang="en-AE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The base supports the microscope and it’s where illuminator is located.</a:t>
            </a: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</a:pPr>
            <a:endParaRPr lang="en-A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A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5000"/>
              </a:lnSpc>
              <a:spcBef>
                <a:spcPts val="900"/>
              </a:spcBef>
            </a:pP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PMingLiU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016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>
            <a:spLocks/>
          </p:cNvSpPr>
          <p:nvPr/>
        </p:nvSpPr>
        <p:spPr>
          <a:xfrm>
            <a:off x="330496" y="1959412"/>
            <a:ext cx="8237349" cy="2128275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100" b="1" dirty="0">
                <a:solidFill>
                  <a:srgbClr val="FF0000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 lenses:</a:t>
            </a:r>
          </a:p>
          <a:p>
            <a:pPr algn="ctr"/>
            <a:endParaRPr lang="en-US" sz="21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138113" rtl="0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Dry objective lenses: Scanning (4X), 10X, 40X</a:t>
            </a:r>
          </a:p>
          <a:p>
            <a:pPr marL="342900" indent="-138113" rtl="0">
              <a:buFont typeface="Arial" panose="020B0604020202020204" pitchFamily="34" charset="0"/>
              <a:buChar char="•"/>
            </a:pPr>
            <a:endParaRPr lang="en-US" sz="2100" b="1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138113" rtl="0"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Wet objective lens: may be one or two (100X) using oil.</a:t>
            </a:r>
          </a:p>
          <a:p>
            <a:pPr algn="ctr"/>
            <a:r>
              <a:rPr lang="en-US" sz="2100" b="1" dirty="0">
                <a:solidFill>
                  <a:srgbClr val="FF0000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2782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4245" y="1335458"/>
            <a:ext cx="8646767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50" b="1" dirty="0">
                <a:solidFill>
                  <a:srgbClr val="FF0000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Viewing of a specimen under Compound Microscope</a:t>
            </a:r>
            <a:endParaRPr lang="ar-JO" sz="135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4245" y="2033200"/>
            <a:ext cx="8741391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instructor should show the students practically How to focus the specimen under the Microscope.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sz="1400" dirty="0">
                <a:hlinkClick r:id="rId2"/>
              </a:rPr>
              <a:t>3. How to use compound microscope.mp4</a:t>
            </a:r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sz="13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focusing the specimen, you must take care about the following:</a:t>
            </a:r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sz="13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8860" indent="-214313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Fix the slide by stage clip</a:t>
            </a:r>
          </a:p>
          <a:p>
            <a:pPr marL="398860" indent="-214313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Put the light spot at the center of the specimen</a:t>
            </a:r>
          </a:p>
          <a:p>
            <a:pPr marL="398860" indent="-214313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Lower the stage to the lowest position</a:t>
            </a:r>
          </a:p>
          <a:p>
            <a:pPr marL="398860" indent="-214313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Start with the lowest light intensity</a:t>
            </a:r>
          </a:p>
          <a:p>
            <a:pPr marL="398860" indent="-214313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Start with scanning objective lens (4X)</a:t>
            </a:r>
          </a:p>
          <a:p>
            <a:pPr marL="398860" indent="-214313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After you see the image under certain lens move the slide by adobe knob to check if what you see</a:t>
            </a:r>
          </a:p>
          <a:p>
            <a:pPr marL="184547"/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    is the image of the specimen and to center the specimen</a:t>
            </a:r>
          </a:p>
          <a:p>
            <a:pPr marL="398860" indent="-214313">
              <a:buFont typeface="Arial" panose="020B0604020202020204" pitchFamily="34" charset="0"/>
              <a:buChar char="•"/>
            </a:pPr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 Don’t lower the stage from the starting point of focusing up to seeing the image under oil immersion    </a:t>
            </a:r>
            <a:endParaRPr lang="ar-JO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258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4129-9FAB-47E0-9DAD-2E1AE358F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7" y="1196394"/>
            <a:ext cx="8066560" cy="5494692"/>
          </a:xfrm>
        </p:spPr>
        <p:txBody>
          <a:bodyPr>
            <a:normAutofit fontScale="92500" lnSpcReduction="10000"/>
          </a:bodyPr>
          <a:lstStyle/>
          <a:p>
            <a:pPr algn="l" rtl="0"/>
            <a:endParaRPr lang="en-US" sz="2400" dirty="0"/>
          </a:p>
          <a:p>
            <a:pPr algn="l" rtl="0"/>
            <a:r>
              <a:rPr lang="en-US" sz="2400" dirty="0"/>
              <a:t>During working in microbiology labs, you must take care about the followings:</a:t>
            </a:r>
          </a:p>
          <a:p>
            <a:pPr marL="342900" indent="-342900" algn="l" rtl="0">
              <a:buFont typeface="Wingdings" panose="05000000000000000000" pitchFamily="2" charset="2"/>
              <a:buChar char="v"/>
            </a:pPr>
            <a:r>
              <a:rPr lang="en-US" sz="2400" dirty="0"/>
              <a:t>Yourself and your classmate without infections</a:t>
            </a:r>
          </a:p>
          <a:p>
            <a:pPr marL="342900" indent="-342900" algn="l" rtl="0">
              <a:buFont typeface="Wingdings" panose="05000000000000000000" pitchFamily="2" charset="2"/>
              <a:buChar char="v"/>
            </a:pPr>
            <a:r>
              <a:rPr lang="en-US" sz="2400" dirty="0"/>
              <a:t>Outdoor (environment) and the indoor air without pollutions</a:t>
            </a:r>
          </a:p>
          <a:p>
            <a:pPr marL="342900" indent="-342900" algn="l" rtl="0">
              <a:buFont typeface="Wingdings" panose="05000000000000000000" pitchFamily="2" charset="2"/>
              <a:buChar char="v"/>
            </a:pPr>
            <a:r>
              <a:rPr lang="en-US" sz="2400" dirty="0"/>
              <a:t>Your culture without contamination</a:t>
            </a:r>
          </a:p>
          <a:p>
            <a:pPr algn="l" rtl="0">
              <a:buNone/>
            </a:pPr>
            <a:r>
              <a:rPr lang="en-US" sz="2400" dirty="0"/>
              <a:t>       A- Pure media: A special nutrients where the bacteria </a:t>
            </a:r>
          </a:p>
          <a:p>
            <a:pPr algn="l" rtl="0">
              <a:buNone/>
            </a:pPr>
            <a:r>
              <a:rPr lang="en-US" sz="2400" dirty="0"/>
              <a:t>            grow, but without bacteria.</a:t>
            </a:r>
          </a:p>
          <a:p>
            <a:pPr algn="l" rtl="0">
              <a:buNone/>
            </a:pPr>
            <a:r>
              <a:rPr lang="en-US" sz="2400" dirty="0"/>
              <a:t>        B- Culture: Media with bacteria</a:t>
            </a:r>
          </a:p>
          <a:p>
            <a:pPr marL="342900" indent="-342900" algn="l" rtl="0">
              <a:buFont typeface="Wingdings" panose="05000000000000000000" pitchFamily="2" charset="2"/>
              <a:buChar char="v"/>
            </a:pPr>
            <a:r>
              <a:rPr lang="en-US" sz="2400" dirty="0"/>
              <a:t>The laboratory without any accident</a:t>
            </a:r>
          </a:p>
          <a:p>
            <a:pPr algn="l" rtl="0">
              <a:buNone/>
            </a:pPr>
            <a:endParaRPr lang="en-US" sz="2400" dirty="0"/>
          </a:p>
          <a:p>
            <a:pPr algn="l" rtl="0"/>
            <a:r>
              <a:rPr lang="en-US" sz="2400" dirty="0"/>
              <a:t>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90A27-F46E-4A6D-A6EE-DC4BDECA7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Aseptic Technique</a:t>
            </a:r>
          </a:p>
        </p:txBody>
      </p:sp>
    </p:spTree>
    <p:extLst>
      <p:ext uri="{BB962C8B-B14F-4D97-AF65-F5344CB8AC3E}">
        <p14:creationId xmlns:p14="http://schemas.microsoft.com/office/powerpoint/2010/main" val="1826949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612D99-EC2E-4B83-8181-FEF0C6811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4" y="1308789"/>
            <a:ext cx="8237348" cy="4572752"/>
          </a:xfrm>
        </p:spPr>
        <p:txBody>
          <a:bodyPr>
            <a:normAutofit/>
          </a:bodyPr>
          <a:lstStyle/>
          <a:p>
            <a:pPr algn="l" rtl="0">
              <a:buSzPct val="100000"/>
              <a:buNone/>
            </a:pPr>
            <a:r>
              <a:rPr lang="en-US" sz="2000" b="1" dirty="0"/>
              <a:t>Bacterial culture:</a:t>
            </a:r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833548B0-5C74-49CB-8984-F2B92AA5A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92" y="1716477"/>
            <a:ext cx="7908462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1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488DFF-8EF1-45C8-A07E-18E2906C0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000" b="1" dirty="0">
                <a:solidFill>
                  <a:srgbClr val="FF0000"/>
                </a:solidFill>
              </a:rPr>
              <a:t>After doing your work You must:</a:t>
            </a:r>
          </a:p>
          <a:p>
            <a:pPr marL="514350" indent="-514350" algn="l" rtl="0">
              <a:buSzPct val="100000"/>
              <a:buFont typeface="+mj-lt"/>
              <a:buAutoNum type="romanUcPeriod"/>
            </a:pPr>
            <a:r>
              <a:rPr lang="en-US" sz="2000" b="1" dirty="0"/>
              <a:t>Turn off the Bunsen Burner</a:t>
            </a:r>
          </a:p>
          <a:p>
            <a:pPr marL="514350" indent="-514350" algn="l" rtl="0">
              <a:buSzPct val="100000"/>
              <a:buFont typeface="+mj-lt"/>
              <a:buAutoNum type="romanUcPeriod"/>
            </a:pPr>
            <a:r>
              <a:rPr lang="en-US" sz="2000" b="1" dirty="0"/>
              <a:t>If you work with microscope clean and return it to the cabinet in a proper way</a:t>
            </a:r>
          </a:p>
          <a:p>
            <a:pPr marL="514350" indent="-514350" algn="l" rtl="0">
              <a:buSzPct val="100000"/>
              <a:buFont typeface="+mj-lt"/>
              <a:buAutoNum type="romanUcPeriod"/>
            </a:pPr>
            <a:r>
              <a:rPr lang="en-US" sz="2000" b="1" dirty="0"/>
              <a:t>Organize your workplace</a:t>
            </a:r>
          </a:p>
          <a:p>
            <a:pPr marL="514350" indent="-514350" algn="l" rtl="0">
              <a:buSzPct val="100000"/>
              <a:buFont typeface="+mj-lt"/>
              <a:buAutoNum type="romanUcPeriod"/>
            </a:pPr>
            <a:r>
              <a:rPr lang="en-US" sz="2000" b="1" dirty="0"/>
              <a:t>Sanitize your bench top by disinfectant or 75% alcohol to prevent infections for the others</a:t>
            </a:r>
          </a:p>
          <a:p>
            <a:pPr marL="514350" indent="-514350" algn="l" rtl="0">
              <a:buSzPct val="100000"/>
              <a:buFont typeface="+mj-lt"/>
              <a:buAutoNum type="romanUcPeriod"/>
            </a:pPr>
            <a:r>
              <a:rPr lang="en-US" sz="2000" b="1" dirty="0"/>
              <a:t>Wash your hand with liquid soap and tap water then sterilize them with antiseptic before leaving the lab.</a:t>
            </a:r>
          </a:p>
          <a:p>
            <a:pPr marL="514350" indent="-514350" algn="l" rtl="0">
              <a:buSzPct val="100000"/>
              <a:buFont typeface="+mj-lt"/>
              <a:buAutoNum type="romanUcPeriod"/>
            </a:pPr>
            <a:r>
              <a:rPr lang="en-US" sz="2000" b="1" dirty="0"/>
              <a:t>Wear off the lab coat outside the lab.</a:t>
            </a:r>
          </a:p>
          <a:p>
            <a:pPr marL="514350" indent="-514350" algn="l" rtl="0">
              <a:buSzPct val="100000"/>
              <a:buFont typeface="+mj-lt"/>
              <a:buAutoNum type="romanUcPeriod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80889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A14CB2-10F1-4F23-99E0-92892D27B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575182"/>
            <a:ext cx="8648824" cy="4572752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sz="2000" b="1" dirty="0"/>
              <a:t>To do Wet mount slide for bacteria we need:</a:t>
            </a:r>
          </a:p>
          <a:p>
            <a:pPr algn="l" rtl="0"/>
            <a:r>
              <a:rPr lang="en-US" sz="2000" b="1" dirty="0">
                <a:hlinkClick r:id="rId2"/>
              </a:rPr>
              <a:t>https://1drv.ms/v/s!AnFd9iHZwQC0oypcEBRDL1qowmrq?e=Xt3UnE</a:t>
            </a:r>
            <a:endParaRPr lang="en-US" sz="2000" b="1" dirty="0"/>
          </a:p>
          <a:p>
            <a:pPr algn="l" rtl="0"/>
            <a:endParaRPr lang="en-US" sz="2000" b="1" dirty="0"/>
          </a:p>
          <a:p>
            <a:pPr marL="514350" indent="-514350" algn="l" rtl="0">
              <a:buSzPct val="100000"/>
              <a:buFont typeface="+mj-lt"/>
              <a:buAutoNum type="romanUcPeriod"/>
            </a:pPr>
            <a:r>
              <a:rPr lang="en-US" sz="2000" b="1" dirty="0"/>
              <a:t>Sterile cleaned microscopic slide: we can clean the slide as the followings: 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         A. Wash the slide with liquid soap and tap water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         B. Rinse the slide with tap water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 b="1" dirty="0"/>
              <a:t>         C. Dip the slide in absolute alcohol for 15 minute to remove the       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 b="1" dirty="0"/>
              <a:t>              traces of soap and kill all types of the bacteria on the slide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000" b="1" dirty="0"/>
              <a:t>              (sterile)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          D. let the slide to dry near the Bunsen Burner</a:t>
            </a:r>
          </a:p>
          <a:p>
            <a:pPr marL="514350" indent="-514350" algn="l" rtl="0">
              <a:buSzPct val="100000"/>
              <a:buFont typeface="+mj-lt"/>
              <a:buAutoNum type="romanUcPeriod" startAt="2"/>
            </a:pPr>
            <a:r>
              <a:rPr lang="en-US" sz="2000" b="1" dirty="0"/>
              <a:t>Coverslip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0A8674-27A0-497F-AD65-5C001CB0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Wet mount Preparation of Bacteria</a:t>
            </a:r>
          </a:p>
        </p:txBody>
      </p:sp>
    </p:spTree>
    <p:extLst>
      <p:ext uri="{BB962C8B-B14F-4D97-AF65-F5344CB8AC3E}">
        <p14:creationId xmlns:p14="http://schemas.microsoft.com/office/powerpoint/2010/main" val="2890451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74FAE1-A104-4F4A-9A45-0B702FC1A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962930"/>
          </a:xfrm>
        </p:spPr>
        <p:txBody>
          <a:bodyPr>
            <a:normAutofit/>
          </a:bodyPr>
          <a:lstStyle/>
          <a:p>
            <a:pPr marL="514350" indent="-514350" algn="l" rtl="0">
              <a:buSzPct val="100000"/>
              <a:buFont typeface="+mj-lt"/>
              <a:buAutoNum type="romanUcPeriod" startAt="3"/>
            </a:pPr>
            <a:r>
              <a:rPr lang="en-US" sz="2000" b="1" dirty="0"/>
              <a:t>Sterile Distilled water: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            Sterile: free of Microorganisms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            Distilled water: free of chloride ions, suspended things, and                                 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                                      salt traces.</a:t>
            </a:r>
          </a:p>
          <a:p>
            <a:pPr algn="l" rtl="0">
              <a:buSzPct val="100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If you have a sample of water, How you can know if the sample is Tap water, Distilled water, or Deionized water?</a:t>
            </a:r>
          </a:p>
          <a:p>
            <a:pPr algn="l" rtl="0">
              <a:buSzPct val="100000"/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Take the water sample and add to it AgNO</a:t>
            </a:r>
            <a:r>
              <a:rPr lang="en-US" sz="2000" b="1" baseline="-25000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sz="1800" b="1" dirty="0">
                <a:solidFill>
                  <a:schemeClr val="bg2">
                    <a:lumMod val="10000"/>
                  </a:schemeClr>
                </a:solidFill>
              </a:rPr>
              <a:t> if the sample become milky suspension this means the sample contains Cl</a:t>
            </a:r>
            <a:r>
              <a:rPr lang="en-US" sz="3200" b="1" baseline="30000" dirty="0">
                <a:solidFill>
                  <a:schemeClr val="bg2">
                    <a:lumMod val="10000"/>
                  </a:schemeClr>
                </a:solidFill>
              </a:rPr>
              <a:t>-</a:t>
            </a:r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pPr algn="l" rtl="0">
              <a:buSzPct val="100000"/>
              <a:buNone/>
            </a:pPr>
            <a:endParaRPr lang="en-US" sz="2000" b="1" dirty="0">
              <a:solidFill>
                <a:schemeClr val="bg2">
                  <a:lumMod val="10000"/>
                </a:schemeClr>
              </a:solidFill>
            </a:endParaRPr>
          </a:p>
          <a:p>
            <a:pPr algn="l" rtl="0">
              <a:buSzPct val="100000"/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AgNO3                              AgCl    + NO</a:t>
            </a:r>
            <a:r>
              <a:rPr lang="en-US" sz="2000" b="1" baseline="-25000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sz="2000" b="1" baseline="30000" dirty="0">
                <a:solidFill>
                  <a:schemeClr val="bg2">
                    <a:lumMod val="10000"/>
                  </a:schemeClr>
                </a:solidFill>
              </a:rPr>
              <a:t>=</a:t>
            </a:r>
          </a:p>
          <a:p>
            <a:pPr algn="l" rtl="0">
              <a:buSzPct val="100000"/>
              <a:buNone/>
            </a:pPr>
            <a:r>
              <a:rPr lang="en-US" sz="2000" b="1" baseline="30000" dirty="0">
                <a:solidFill>
                  <a:schemeClr val="bg2">
                    <a:lumMod val="10000"/>
                  </a:schemeClr>
                </a:solidFill>
              </a:rPr>
              <a:t>                                                                       white ppt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A02F5-0CF4-4069-A09C-206FE364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25" y="290859"/>
            <a:ext cx="8242506" cy="78035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BAF4D7-8A23-434C-81BF-1B657879462C}"/>
              </a:ext>
            </a:extLst>
          </p:cNvPr>
          <p:cNvCxnSpPr/>
          <p:nvPr/>
        </p:nvCxnSpPr>
        <p:spPr>
          <a:xfrm>
            <a:off x="1640114" y="5979886"/>
            <a:ext cx="1741715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5A471F-0AE2-4BCD-892B-335A12B22CE7}"/>
              </a:ext>
            </a:extLst>
          </p:cNvPr>
          <p:cNvCxnSpPr/>
          <p:nvPr/>
        </p:nvCxnSpPr>
        <p:spPr>
          <a:xfrm>
            <a:off x="4165601" y="5849258"/>
            <a:ext cx="0" cy="294701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94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07C0EF-2521-4B92-A365-F0FC1D050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945" y="2726500"/>
            <a:ext cx="377371" cy="1428592"/>
          </a:xfrm>
          <a:prstGeom prst="rect">
            <a:avLst/>
          </a:prstGeom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CB9727CB-C0D9-4FBC-958F-8BA77641706C}"/>
              </a:ext>
            </a:extLst>
          </p:cNvPr>
          <p:cNvSpPr/>
          <p:nvPr/>
        </p:nvSpPr>
        <p:spPr>
          <a:xfrm>
            <a:off x="3483428" y="1142624"/>
            <a:ext cx="2177142" cy="1045028"/>
          </a:xfrm>
          <a:prstGeom prst="downArrowCallou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Water sample + AgNO</a:t>
            </a:r>
            <a:r>
              <a:rPr lang="en-US" baseline="-25000" dirty="0"/>
              <a:t>3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555FDDAB-60E4-45BF-9E8C-18183245E232}"/>
              </a:ext>
            </a:extLst>
          </p:cNvPr>
          <p:cNvSpPr/>
          <p:nvPr/>
        </p:nvSpPr>
        <p:spPr>
          <a:xfrm>
            <a:off x="1611085" y="2209423"/>
            <a:ext cx="5878283" cy="130629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0C1E30E-DE4F-45CC-AED9-10614EC64F04}"/>
              </a:ext>
            </a:extLst>
          </p:cNvPr>
          <p:cNvSpPr/>
          <p:nvPr/>
        </p:nvSpPr>
        <p:spPr>
          <a:xfrm>
            <a:off x="1465945" y="2209423"/>
            <a:ext cx="377371" cy="4934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8A296-F325-46E7-85D9-38AA17E5A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938" y="2702908"/>
            <a:ext cx="377372" cy="14521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444F7D-B1AB-4815-A346-FB076BBD7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084" y="2206162"/>
            <a:ext cx="414564" cy="5121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1B51A2-4508-4DE6-9FA6-EB563C3C66B3}"/>
              </a:ext>
            </a:extLst>
          </p:cNvPr>
          <p:cNvSpPr txBox="1"/>
          <p:nvPr/>
        </p:nvSpPr>
        <p:spPr>
          <a:xfrm>
            <a:off x="551543" y="4226232"/>
            <a:ext cx="2525486" cy="8523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Milky suspension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Conduct electric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Tap water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0FB9CE-ABB5-4ACB-AD05-198D47040873}"/>
              </a:ext>
            </a:extLst>
          </p:cNvPr>
          <p:cNvSpPr txBox="1"/>
          <p:nvPr/>
        </p:nvSpPr>
        <p:spPr>
          <a:xfrm>
            <a:off x="5425174" y="4178148"/>
            <a:ext cx="3718826" cy="67959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milky suspension either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Distilled </a:t>
            </a:r>
            <a:r>
              <a:rPr 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 </a:t>
            </a:r>
            <a:r>
              <a:rPr lang="en-US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Deionized water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28A4D7-7D58-4028-BB31-8ED96B8AB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570" y="4815569"/>
            <a:ext cx="414564" cy="5121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05AFAB-FE2E-4E2D-864A-B53CD5499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502" y="5327677"/>
            <a:ext cx="5895343" cy="1463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C5B200-B1E0-4D4A-8B52-FE5C06179A02}"/>
              </a:ext>
            </a:extLst>
          </p:cNvPr>
          <p:cNvSpPr txBox="1"/>
          <p:nvPr/>
        </p:nvSpPr>
        <p:spPr>
          <a:xfrm>
            <a:off x="6184362" y="5078569"/>
            <a:ext cx="2175245" cy="51210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Conduct electric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532535-2452-4C6F-81C8-94318AFC07D6}"/>
              </a:ext>
            </a:extLst>
          </p:cNvPr>
          <p:cNvSpPr txBox="1"/>
          <p:nvPr/>
        </p:nvSpPr>
        <p:spPr>
          <a:xfrm>
            <a:off x="2700933" y="5089734"/>
            <a:ext cx="2959637" cy="39542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Can’t conduct electric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70914E3-8EAD-4F8E-A1F5-02FDF2589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177" y="5327677"/>
            <a:ext cx="207282" cy="51210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D90B8E4-9903-4654-AFB0-D4D9EDDA0C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2888" y="5324893"/>
            <a:ext cx="207282" cy="51210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CA83DAD-E092-42AA-9CE5-76E8AC07DB50}"/>
              </a:ext>
            </a:extLst>
          </p:cNvPr>
          <p:cNvSpPr txBox="1"/>
          <p:nvPr/>
        </p:nvSpPr>
        <p:spPr>
          <a:xfrm>
            <a:off x="1814285" y="5837001"/>
            <a:ext cx="2279413" cy="6341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Deionized water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Free of 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923163-1C3C-401C-9DCB-A5C23CD44BB2}"/>
              </a:ext>
            </a:extLst>
          </p:cNvPr>
          <p:cNvSpPr txBox="1"/>
          <p:nvPr/>
        </p:nvSpPr>
        <p:spPr>
          <a:xfrm>
            <a:off x="6075134" y="5837000"/>
            <a:ext cx="3483430" cy="63413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ctr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Distilled water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Contains ions except  cl</a:t>
            </a:r>
            <a:r>
              <a:rPr lang="en-US" sz="2000" b="1" baseline="300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733810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277576-58CB-4499-B14F-1EF820E5F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10" y="2799964"/>
            <a:ext cx="8578133" cy="4572752"/>
          </a:xfrm>
        </p:spPr>
        <p:txBody>
          <a:bodyPr>
            <a:normAutofit/>
          </a:bodyPr>
          <a:lstStyle/>
          <a:p>
            <a:pPr marL="514350" indent="-514350" algn="l" rtl="0">
              <a:buSzPct val="100000"/>
              <a:buFont typeface="+mj-lt"/>
              <a:buAutoNum type="romanUcPeriod" startAt="4"/>
            </a:pPr>
            <a:r>
              <a:rPr lang="en-US" sz="2000" b="1" dirty="0"/>
              <a:t>Sterile inoculating loops: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we sterilize the loop in the hottest 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area of the flame (colorless region)</a:t>
            </a:r>
          </a:p>
          <a:p>
            <a:pPr algn="l" rtl="0">
              <a:buSzPct val="100000"/>
              <a:buNone/>
            </a:pPr>
            <a:r>
              <a:rPr lang="en-US" sz="2000" b="1" dirty="0"/>
              <a:t>and </a:t>
            </a:r>
            <a:r>
              <a:rPr lang="en-US" sz="2000" b="1" dirty="0">
                <a:solidFill>
                  <a:srgbClr val="FF0000"/>
                </a:solidFill>
              </a:rPr>
              <a:t>the loop must make an angle </a:t>
            </a:r>
          </a:p>
          <a:p>
            <a:pPr algn="l" rtl="0">
              <a:buSzPct val="100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with the flame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F2A88B16-74D9-40CC-AEB7-77E81ED25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42" y="1406769"/>
            <a:ext cx="3618186" cy="545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14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DC22423-5844-4D80-8F00-BE741306F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6364"/>
            <a:ext cx="9292590" cy="5878776"/>
          </a:xfr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32E0A8A5-A6B0-EBB8-3579-9E9244E21661}"/>
              </a:ext>
            </a:extLst>
          </p:cNvPr>
          <p:cNvSpPr txBox="1">
            <a:spLocks/>
          </p:cNvSpPr>
          <p:nvPr/>
        </p:nvSpPr>
        <p:spPr>
          <a:xfrm>
            <a:off x="2148841" y="3577590"/>
            <a:ext cx="4251960" cy="83438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25000" lnSpcReduction="20000"/>
          </a:bodyPr>
          <a:lstStyle>
            <a:lvl1pPr algn="l" defTabSz="6858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2400" b="1" dirty="0"/>
            </a:br>
            <a:r>
              <a:rPr lang="en-US" sz="4300" b="1" dirty="0"/>
              <a:t> </a:t>
            </a:r>
            <a:r>
              <a:rPr lang="en-US" sz="4300" b="1" dirty="0">
                <a:hlinkClick r:id="rId3"/>
              </a:rPr>
              <a:t>https://1drv.ms/v/s!AnFd9iHZwQC0o1EtrdkqjYa3MfwV?e=rTAfAS</a:t>
            </a:r>
            <a:br>
              <a:rPr lang="en-US" sz="4300" b="1" dirty="0"/>
            </a:br>
            <a:br>
              <a:rPr lang="en-US" sz="4300" b="1" dirty="0"/>
            </a:br>
            <a:br>
              <a:rPr lang="en-US" sz="2400" b="1" dirty="0"/>
            </a:br>
            <a:endParaRPr lang="en-US" sz="2400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558295-9CE6-C249-7D5A-FF1D2DE2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66" y="208601"/>
            <a:ext cx="5067363" cy="747763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Preparation of Wet-Mount Slide</a:t>
            </a:r>
            <a:endParaRPr lang="en-AE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376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64DFA7-A0FC-4FE7-874F-A20AF861D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" y="1196394"/>
            <a:ext cx="9108831" cy="4980569"/>
          </a:xfrm>
        </p:spPr>
        <p:txBody>
          <a:bodyPr/>
          <a:lstStyle/>
          <a:p>
            <a:pPr marL="171450" indent="-171450" algn="l" rtl="0">
              <a:buSzPct val="60000"/>
              <a:buFont typeface="Wingdings" panose="05000000000000000000" pitchFamily="2" charset="2"/>
              <a:buChar char="v"/>
            </a:pPr>
            <a:endParaRPr lang="en-US" dirty="0"/>
          </a:p>
          <a:p>
            <a:pPr marL="17145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anose="05000000000000000000" pitchFamily="2" charset="2"/>
              <a:buChar char="v"/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The microscopic field</a:t>
            </a:r>
            <a:r>
              <a:rPr lang="en-US" sz="2400" b="1" dirty="0"/>
              <a:t>: The part of the specimen that can be 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b="1" dirty="0"/>
              <a:t>               seen under the microscope at specific magnification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b="1" dirty="0"/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000" b="1" dirty="0"/>
              <a:t>                  </a:t>
            </a:r>
            <a:r>
              <a:rPr lang="en-US" sz="2000" b="1" dirty="0">
                <a:solidFill>
                  <a:srgbClr val="0070C0"/>
                </a:solidFill>
              </a:rPr>
              <a:t>The microscopic field decreases with magnification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000" b="1" dirty="0"/>
          </a:p>
          <a:p>
            <a:pPr marL="34290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0000"/>
                </a:solidFill>
              </a:rPr>
              <a:t>The working distance</a:t>
            </a:r>
            <a:r>
              <a:rPr lang="en-US" sz="2400" b="1" dirty="0"/>
              <a:t>: Is the distance between the objective  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b="1" dirty="0"/>
              <a:t>                                         lens at the position and the specimen.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b="1" dirty="0"/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000" b="1" dirty="0">
                <a:solidFill>
                  <a:srgbClr val="0070C0"/>
                </a:solidFill>
              </a:rPr>
              <a:t>                    The working distance decreases with magnification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b="1" dirty="0"/>
          </a:p>
          <a:p>
            <a:pPr marL="34290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anose="05000000000000000000" pitchFamily="2" charset="2"/>
              <a:buChar char="v"/>
            </a:pPr>
            <a:r>
              <a:rPr lang="en-US" sz="2400" b="1" dirty="0"/>
              <a:t>When the magnification increases the light intensity must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b="1" dirty="0"/>
              <a:t>    be increased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54E1F7-D3E9-4EF9-9402-0E469D4B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94787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031564-A43B-496F-A6F6-C084B8E5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5" y="1225023"/>
            <a:ext cx="8237348" cy="4572752"/>
          </a:xfrm>
        </p:spPr>
        <p:txBody>
          <a:bodyPr>
            <a:norm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image under low magnification is smaller and darker than that  under higher magnification.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Resolving power of the microscope increases with magnification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34290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anose="05000000000000000000" pitchFamily="2" charset="2"/>
              <a:buChar char="v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bacterial cells are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minute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(very small) and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colorless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, impossible to be seen by the naked eyes and hard to see under the microscope.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286CD-594A-4EBB-B147-EC759EE03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873" y="446521"/>
            <a:ext cx="2542252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61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687991-8604-4F7E-A590-0651F3211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26" y="1393194"/>
            <a:ext cx="8237348" cy="4930233"/>
          </a:xfrm>
        </p:spPr>
        <p:txBody>
          <a:bodyPr>
            <a:normAutofit/>
          </a:bodyPr>
          <a:lstStyle/>
          <a:p>
            <a:pPr marL="171450" indent="-171450" algn="l" rtl="0">
              <a:buSzPct val="60000"/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rtl="0">
              <a:buSzPct val="60000"/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Bacteria either: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I. 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 – motile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A. when the bacteria move in one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direction (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 movement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B. Vibrate at the same place   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(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Brownian movement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II. </a:t>
            </a:r>
            <a:r>
              <a:rPr lang="en-U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When the bacteria move in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directions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https://1drv.ms/v/s!AnFd9iHZwQC0o1KabaCulLbz2vkL?e=O8yEHE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8264D-33E5-4707-B782-8754BE7AD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216" y="534572"/>
            <a:ext cx="2548349" cy="70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69382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 (3).potx" id="{9E27ADA6-EA10-4822-B3C1-6E8D86D7E392}" vid="{8B3BFCA4-8458-4DFE-B504-FC98F0D59E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1993</Words>
  <Application>Microsoft Office PowerPoint</Application>
  <PresentationFormat>On-screen Show (4:3)</PresentationFormat>
  <Paragraphs>283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&amp;quot</vt:lpstr>
      <vt:lpstr>Agency FB</vt:lpstr>
      <vt:lpstr>Arial</vt:lpstr>
      <vt:lpstr>Calibri</vt:lpstr>
      <vt:lpstr>Courier New</vt:lpstr>
      <vt:lpstr>Georgia</vt:lpstr>
      <vt:lpstr>Segoe UI</vt:lpstr>
      <vt:lpstr>Segoe UI Light</vt:lpstr>
      <vt:lpstr>Times New Roman</vt:lpstr>
      <vt:lpstr>Verdana</vt:lpstr>
      <vt:lpstr>Wingdings</vt:lpstr>
      <vt:lpstr>Get Started with 3D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Aseptic Technique</vt:lpstr>
      <vt:lpstr>PowerPoint Presentation</vt:lpstr>
      <vt:lpstr>PowerPoint Presentation</vt:lpstr>
      <vt:lpstr>Wet mount Preparation of Bacteria</vt:lpstr>
      <vt:lpstr>PowerPoint Presentation</vt:lpstr>
      <vt:lpstr>PowerPoint Presentation</vt:lpstr>
      <vt:lpstr>PowerPoint Presentation</vt:lpstr>
      <vt:lpstr>Preparation of Wet-Mount Slide</vt:lpstr>
      <vt:lpstr>Conclusions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2020-10-23T23:28:52Z</dcterms:created>
  <dcterms:modified xsi:type="dcterms:W3CDTF">2023-03-10T11:51:09Z</dcterms:modified>
</cp:coreProperties>
</file>