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9" r:id="rId4"/>
    <p:sldId id="261" r:id="rId5"/>
    <p:sldId id="262" r:id="rId6"/>
    <p:sldId id="258" r:id="rId7"/>
    <p:sldId id="263" r:id="rId8"/>
    <p:sldId id="265" r:id="rId9"/>
    <p:sldId id="268" r:id="rId11"/>
    <p:sldId id="269" r:id="rId12"/>
    <p:sldId id="270" r:id="rId13"/>
    <p:sldId id="266" r:id="rId14"/>
    <p:sldId id="271" r:id="rId15"/>
    <p:sldId id="272" r:id="rId16"/>
    <p:sldId id="278" r:id="rId17"/>
    <p:sldId id="279" r:id="rId18"/>
    <p:sldId id="280" r:id="rId19"/>
    <p:sldId id="26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3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33E29E-93E4-429C-90EC-7994D09CA250}" type="doc">
      <dgm:prSet loTypeId="urn:microsoft.com/office/officeart/2005/8/layout/vList2#1" loCatId="list" qsTypeId="urn:microsoft.com/office/officeart/2005/8/quickstyle/simple1#1" qsCatId="simple" csTypeId="urn:microsoft.com/office/officeart/2005/8/colors/colorful5#1" csCatId="colorful" phldr="1"/>
      <dgm:spPr/>
      <dgm:t>
        <a:bodyPr/>
        <a:lstStyle/>
        <a:p>
          <a:endParaRPr lang="en-US"/>
        </a:p>
      </dgm:t>
    </dgm:pt>
    <dgm:pt modelId="{D1722647-45DC-44A6-8B54-37BB7DB964D4}">
      <dgm:prSet/>
      <dgm:spPr/>
      <dgm:t>
        <a:bodyPr/>
        <a:lstStyle/>
        <a:p>
          <a:r>
            <a:rPr lang="en-US"/>
            <a:t>Cell lysis</a:t>
          </a:r>
        </a:p>
      </dgm:t>
    </dgm:pt>
    <dgm:pt modelId="{427AC386-3951-41DB-8ABA-DAC054D5274E}" cxnId="{8B0F9CB0-C19A-4421-A0A9-17AF6A8BDBC9}" type="parTrans">
      <dgm:prSet/>
      <dgm:spPr/>
      <dgm:t>
        <a:bodyPr/>
        <a:lstStyle/>
        <a:p>
          <a:endParaRPr lang="en-US"/>
        </a:p>
      </dgm:t>
    </dgm:pt>
    <dgm:pt modelId="{AA8EFCBF-DDBB-4F89-9F53-69BD17EEF17B}" cxnId="{8B0F9CB0-C19A-4421-A0A9-17AF6A8BDBC9}" type="sibTrans">
      <dgm:prSet/>
      <dgm:spPr/>
      <dgm:t>
        <a:bodyPr/>
        <a:lstStyle/>
        <a:p>
          <a:endParaRPr lang="en-US"/>
        </a:p>
      </dgm:t>
    </dgm:pt>
    <dgm:pt modelId="{1AF7153A-D9AF-455D-8026-0C6374BD6F54}">
      <dgm:prSet/>
      <dgm:spPr/>
      <dgm:t>
        <a:bodyPr/>
        <a:lstStyle/>
        <a:p>
          <a:r>
            <a:rPr lang="en-US"/>
            <a:t>Remove of contaminants</a:t>
          </a:r>
        </a:p>
      </dgm:t>
    </dgm:pt>
    <dgm:pt modelId="{B0BD34A7-1087-48EA-A42C-382EA8DB2A79}" cxnId="{9E47B5F2-E5C1-4EBA-99BA-352EDD8626D1}" type="parTrans">
      <dgm:prSet/>
      <dgm:spPr/>
      <dgm:t>
        <a:bodyPr/>
        <a:lstStyle/>
        <a:p>
          <a:endParaRPr lang="en-US"/>
        </a:p>
      </dgm:t>
    </dgm:pt>
    <dgm:pt modelId="{D4F5FDAB-3279-4B23-8299-1F8C67FF07F9}" cxnId="{9E47B5F2-E5C1-4EBA-99BA-352EDD8626D1}" type="sibTrans">
      <dgm:prSet/>
      <dgm:spPr/>
      <dgm:t>
        <a:bodyPr/>
        <a:lstStyle/>
        <a:p>
          <a:endParaRPr lang="en-US"/>
        </a:p>
      </dgm:t>
    </dgm:pt>
    <dgm:pt modelId="{199CEA37-09B9-459B-BB7B-3CECAD033DBC}">
      <dgm:prSet/>
      <dgm:spPr/>
      <dgm:t>
        <a:bodyPr/>
        <a:lstStyle/>
        <a:p>
          <a:r>
            <a:rPr lang="en-US"/>
            <a:t>DNA precipitation</a:t>
          </a:r>
        </a:p>
      </dgm:t>
    </dgm:pt>
    <dgm:pt modelId="{E841FA4F-6E4C-45F6-826A-3EAACADFF62A}" cxnId="{8799C06F-A0F0-4992-9042-8AE357CCE518}" type="parTrans">
      <dgm:prSet/>
      <dgm:spPr/>
      <dgm:t>
        <a:bodyPr/>
        <a:lstStyle/>
        <a:p>
          <a:endParaRPr lang="en-US"/>
        </a:p>
      </dgm:t>
    </dgm:pt>
    <dgm:pt modelId="{0338DF48-F14E-483F-A0C6-5F1907466D2D}" cxnId="{8799C06F-A0F0-4992-9042-8AE357CCE518}" type="sibTrans">
      <dgm:prSet/>
      <dgm:spPr/>
      <dgm:t>
        <a:bodyPr/>
        <a:lstStyle/>
        <a:p>
          <a:endParaRPr lang="en-US"/>
        </a:p>
      </dgm:t>
    </dgm:pt>
    <dgm:pt modelId="{A65E3C83-D989-4FAF-96D8-6AEF554F4044}">
      <dgm:prSet/>
      <dgm:spPr/>
      <dgm:t>
        <a:bodyPr/>
        <a:lstStyle/>
        <a:p>
          <a:r>
            <a:rPr lang="en-US"/>
            <a:t>DNA washing</a:t>
          </a:r>
        </a:p>
      </dgm:t>
    </dgm:pt>
    <dgm:pt modelId="{EB38EA03-D7A3-49BD-AEA1-E0EC0DEFB5C6}" cxnId="{CDB59C0E-5B4F-4481-94CC-EA1EF1A8A080}" type="parTrans">
      <dgm:prSet/>
      <dgm:spPr/>
      <dgm:t>
        <a:bodyPr/>
        <a:lstStyle/>
        <a:p>
          <a:endParaRPr lang="en-US"/>
        </a:p>
      </dgm:t>
    </dgm:pt>
    <dgm:pt modelId="{7945F0A5-53F4-4B3D-BD0A-D8772FEC6E50}" cxnId="{CDB59C0E-5B4F-4481-94CC-EA1EF1A8A080}" type="sibTrans">
      <dgm:prSet/>
      <dgm:spPr/>
      <dgm:t>
        <a:bodyPr/>
        <a:lstStyle/>
        <a:p>
          <a:endParaRPr lang="en-US"/>
        </a:p>
      </dgm:t>
    </dgm:pt>
    <dgm:pt modelId="{AB4E5849-AD56-43C4-9C9C-400C8D0D37C0}">
      <dgm:prSet/>
      <dgm:spPr/>
      <dgm:t>
        <a:bodyPr/>
        <a:lstStyle/>
        <a:p>
          <a:r>
            <a:rPr lang="en-US" dirty="0"/>
            <a:t>DNA resuspension (</a:t>
          </a:r>
          <a:r>
            <a:rPr lang="en-US" altLang="ar-JO" b="0" dirty="0">
              <a:cs typeface="Arial" panose="020B0604020202020204" pitchFamily="34" charset="0"/>
            </a:rPr>
            <a:t>rehydration</a:t>
          </a:r>
          <a:r>
            <a:rPr lang="en-US" altLang="ar-JO" b="1" dirty="0">
              <a:cs typeface="Arial" panose="020B0604020202020204" pitchFamily="34" charset="0"/>
            </a:rPr>
            <a:t>)</a:t>
          </a:r>
          <a:endParaRPr lang="en-US" dirty="0"/>
        </a:p>
      </dgm:t>
    </dgm:pt>
    <dgm:pt modelId="{861D1C47-2AE6-4A63-A04D-6253210239B5}" cxnId="{4611D083-BA81-4838-A81A-7893A1EB49AB}" type="parTrans">
      <dgm:prSet/>
      <dgm:spPr/>
      <dgm:t>
        <a:bodyPr/>
        <a:lstStyle/>
        <a:p>
          <a:endParaRPr lang="en-US"/>
        </a:p>
      </dgm:t>
    </dgm:pt>
    <dgm:pt modelId="{93337DC5-590C-4863-9D65-9F13AEA6FD2F}" cxnId="{4611D083-BA81-4838-A81A-7893A1EB49AB}" type="sibTrans">
      <dgm:prSet/>
      <dgm:spPr/>
      <dgm:t>
        <a:bodyPr/>
        <a:lstStyle/>
        <a:p>
          <a:endParaRPr lang="en-US"/>
        </a:p>
      </dgm:t>
    </dgm:pt>
    <dgm:pt modelId="{6164015A-1553-0847-981B-731C96562E80}" type="pres">
      <dgm:prSet presAssocID="{9433E29E-93E4-429C-90EC-7994D09CA250}" presName="linear" presStyleCnt="0">
        <dgm:presLayoutVars>
          <dgm:animLvl val="lvl"/>
          <dgm:resizeHandles val="exact"/>
        </dgm:presLayoutVars>
      </dgm:prSet>
      <dgm:spPr/>
    </dgm:pt>
    <dgm:pt modelId="{66FF6D73-4C40-F942-B1BE-BDAEB976597E}" type="pres">
      <dgm:prSet presAssocID="{D1722647-45DC-44A6-8B54-37BB7DB964D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CF80E53-73DA-B543-9ED3-7A859B415A2B}" type="pres">
      <dgm:prSet presAssocID="{AA8EFCBF-DDBB-4F89-9F53-69BD17EEF17B}" presName="spacer" presStyleCnt="0"/>
      <dgm:spPr/>
    </dgm:pt>
    <dgm:pt modelId="{10CA6458-B773-3541-B29B-E563944BCC17}" type="pres">
      <dgm:prSet presAssocID="{1AF7153A-D9AF-455D-8026-0C6374BD6F5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4B960F7-9C3D-F34A-8F45-8A10F60530E1}" type="pres">
      <dgm:prSet presAssocID="{D4F5FDAB-3279-4B23-8299-1F8C67FF07F9}" presName="spacer" presStyleCnt="0"/>
      <dgm:spPr/>
    </dgm:pt>
    <dgm:pt modelId="{54D8A4B8-4993-4144-9996-ECF03351F099}" type="pres">
      <dgm:prSet presAssocID="{199CEA37-09B9-459B-BB7B-3CECAD033DB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21462B0-C09E-C44D-8885-252F8A9A2EBC}" type="pres">
      <dgm:prSet presAssocID="{0338DF48-F14E-483F-A0C6-5F1907466D2D}" presName="spacer" presStyleCnt="0"/>
      <dgm:spPr/>
    </dgm:pt>
    <dgm:pt modelId="{238E7160-1F84-234A-91EB-1BCC71D53548}" type="pres">
      <dgm:prSet presAssocID="{A65E3C83-D989-4FAF-96D8-6AEF554F404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59CA62E-B3A6-9549-A742-13F8E575E738}" type="pres">
      <dgm:prSet presAssocID="{7945F0A5-53F4-4B3D-BD0A-D8772FEC6E50}" presName="spacer" presStyleCnt="0"/>
      <dgm:spPr/>
    </dgm:pt>
    <dgm:pt modelId="{A53C0F41-7673-DC4A-BFF1-78FFA5B37CF4}" type="pres">
      <dgm:prSet presAssocID="{AB4E5849-AD56-43C4-9C9C-400C8D0D37C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DB59C0E-5B4F-4481-94CC-EA1EF1A8A080}" srcId="{9433E29E-93E4-429C-90EC-7994D09CA250}" destId="{A65E3C83-D989-4FAF-96D8-6AEF554F4044}" srcOrd="3" destOrd="0" parTransId="{EB38EA03-D7A3-49BD-AEA1-E0EC0DEFB5C6}" sibTransId="{7945F0A5-53F4-4B3D-BD0A-D8772FEC6E50}"/>
    <dgm:cxn modelId="{4C5A7516-C507-6B47-A60A-22636791E857}" type="presOf" srcId="{9433E29E-93E4-429C-90EC-7994D09CA250}" destId="{6164015A-1553-0847-981B-731C96562E80}" srcOrd="0" destOrd="0" presId="urn:microsoft.com/office/officeart/2005/8/layout/vList2#1"/>
    <dgm:cxn modelId="{70D0831A-4B97-AF42-8256-1D4799B7E523}" type="presOf" srcId="{A65E3C83-D989-4FAF-96D8-6AEF554F4044}" destId="{238E7160-1F84-234A-91EB-1BCC71D53548}" srcOrd="0" destOrd="0" presId="urn:microsoft.com/office/officeart/2005/8/layout/vList2#1"/>
    <dgm:cxn modelId="{8799C06F-A0F0-4992-9042-8AE357CCE518}" srcId="{9433E29E-93E4-429C-90EC-7994D09CA250}" destId="{199CEA37-09B9-459B-BB7B-3CECAD033DBC}" srcOrd="2" destOrd="0" parTransId="{E841FA4F-6E4C-45F6-826A-3EAACADFF62A}" sibTransId="{0338DF48-F14E-483F-A0C6-5F1907466D2D}"/>
    <dgm:cxn modelId="{EFAB0B73-E287-F545-8C74-DCC8C71CA6ED}" type="presOf" srcId="{AB4E5849-AD56-43C4-9C9C-400C8D0D37C0}" destId="{A53C0F41-7673-DC4A-BFF1-78FFA5B37CF4}" srcOrd="0" destOrd="0" presId="urn:microsoft.com/office/officeart/2005/8/layout/vList2#1"/>
    <dgm:cxn modelId="{4611D083-BA81-4838-A81A-7893A1EB49AB}" srcId="{9433E29E-93E4-429C-90EC-7994D09CA250}" destId="{AB4E5849-AD56-43C4-9C9C-400C8D0D37C0}" srcOrd="4" destOrd="0" parTransId="{861D1C47-2AE6-4A63-A04D-6253210239B5}" sibTransId="{93337DC5-590C-4863-9D65-9F13AEA6FD2F}"/>
    <dgm:cxn modelId="{8B0F9CB0-C19A-4421-A0A9-17AF6A8BDBC9}" srcId="{9433E29E-93E4-429C-90EC-7994D09CA250}" destId="{D1722647-45DC-44A6-8B54-37BB7DB964D4}" srcOrd="0" destOrd="0" parTransId="{427AC386-3951-41DB-8ABA-DAC054D5274E}" sibTransId="{AA8EFCBF-DDBB-4F89-9F53-69BD17EEF17B}"/>
    <dgm:cxn modelId="{663708BB-9AC2-F44D-AC1F-84D6BBA94B1D}" type="presOf" srcId="{D1722647-45DC-44A6-8B54-37BB7DB964D4}" destId="{66FF6D73-4C40-F942-B1BE-BDAEB976597E}" srcOrd="0" destOrd="0" presId="urn:microsoft.com/office/officeart/2005/8/layout/vList2#1"/>
    <dgm:cxn modelId="{78CAEADF-2048-0347-854A-B8F3E471C01C}" type="presOf" srcId="{1AF7153A-D9AF-455D-8026-0C6374BD6F54}" destId="{10CA6458-B773-3541-B29B-E563944BCC17}" srcOrd="0" destOrd="0" presId="urn:microsoft.com/office/officeart/2005/8/layout/vList2#1"/>
    <dgm:cxn modelId="{9E47B5F2-E5C1-4EBA-99BA-352EDD8626D1}" srcId="{9433E29E-93E4-429C-90EC-7994D09CA250}" destId="{1AF7153A-D9AF-455D-8026-0C6374BD6F54}" srcOrd="1" destOrd="0" parTransId="{B0BD34A7-1087-48EA-A42C-382EA8DB2A79}" sibTransId="{D4F5FDAB-3279-4B23-8299-1F8C67FF07F9}"/>
    <dgm:cxn modelId="{6CB78FFB-0CDC-3544-89B7-F318E0490154}" type="presOf" srcId="{199CEA37-09B9-459B-BB7B-3CECAD033DBC}" destId="{54D8A4B8-4993-4144-9996-ECF03351F099}" srcOrd="0" destOrd="0" presId="urn:microsoft.com/office/officeart/2005/8/layout/vList2#1"/>
    <dgm:cxn modelId="{3FC5DF9D-F73B-DF43-AC7A-EF79A866E9E7}" type="presParOf" srcId="{6164015A-1553-0847-981B-731C96562E80}" destId="{66FF6D73-4C40-F942-B1BE-BDAEB976597E}" srcOrd="0" destOrd="0" presId="urn:microsoft.com/office/officeart/2005/8/layout/vList2#1"/>
    <dgm:cxn modelId="{81A27BFF-80E8-924A-B2D3-97B44155ACF8}" type="presParOf" srcId="{6164015A-1553-0847-981B-731C96562E80}" destId="{4CF80E53-73DA-B543-9ED3-7A859B415A2B}" srcOrd="1" destOrd="0" presId="urn:microsoft.com/office/officeart/2005/8/layout/vList2#1"/>
    <dgm:cxn modelId="{CB12C3E6-F960-D14C-A3F8-D86E95FA4C84}" type="presParOf" srcId="{6164015A-1553-0847-981B-731C96562E80}" destId="{10CA6458-B773-3541-B29B-E563944BCC17}" srcOrd="2" destOrd="0" presId="urn:microsoft.com/office/officeart/2005/8/layout/vList2#1"/>
    <dgm:cxn modelId="{EA37BA9F-E492-6B4C-8804-7E8ECD03C70D}" type="presParOf" srcId="{6164015A-1553-0847-981B-731C96562E80}" destId="{E4B960F7-9C3D-F34A-8F45-8A10F60530E1}" srcOrd="3" destOrd="0" presId="urn:microsoft.com/office/officeart/2005/8/layout/vList2#1"/>
    <dgm:cxn modelId="{EB0950A3-8C1B-8646-A882-17F1016D842D}" type="presParOf" srcId="{6164015A-1553-0847-981B-731C96562E80}" destId="{54D8A4B8-4993-4144-9996-ECF03351F099}" srcOrd="4" destOrd="0" presId="urn:microsoft.com/office/officeart/2005/8/layout/vList2#1"/>
    <dgm:cxn modelId="{4970FDC8-28A7-E842-8F17-825AB8C42542}" type="presParOf" srcId="{6164015A-1553-0847-981B-731C96562E80}" destId="{A21462B0-C09E-C44D-8885-252F8A9A2EBC}" srcOrd="5" destOrd="0" presId="urn:microsoft.com/office/officeart/2005/8/layout/vList2#1"/>
    <dgm:cxn modelId="{5D519BFA-0771-4D44-90FD-5DA480FA521F}" type="presParOf" srcId="{6164015A-1553-0847-981B-731C96562E80}" destId="{238E7160-1F84-234A-91EB-1BCC71D53548}" srcOrd="6" destOrd="0" presId="urn:microsoft.com/office/officeart/2005/8/layout/vList2#1"/>
    <dgm:cxn modelId="{6A4265D4-368A-B644-A889-6DF55BAE9066}" type="presParOf" srcId="{6164015A-1553-0847-981B-731C96562E80}" destId="{D59CA62E-B3A6-9549-A742-13F8E575E738}" srcOrd="7" destOrd="0" presId="urn:microsoft.com/office/officeart/2005/8/layout/vList2#1"/>
    <dgm:cxn modelId="{A45A8BCA-C0C5-7C42-8AEF-0991B9D4CD3F}" type="presParOf" srcId="{6164015A-1553-0847-981B-731C96562E80}" destId="{A53C0F41-7673-DC4A-BFF1-78FFA5B37CF4}" srcOrd="8" destOrd="0" presId="urn:microsoft.com/office/officeart/2005/8/layout/vList2#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7178468" cy="6405613"/>
        <a:chOff x="0" y="0"/>
        <a:chExt cx="7178468" cy="6405613"/>
      </a:xfrm>
    </dsp:grpSpPr>
    <dsp:sp modelId="{66FF6D73-4C40-F942-B1BE-BDAEB976597E}">
      <dsp:nvSpPr>
        <dsp:cNvPr id="3" name="Rounded Rectangle 2"/>
        <dsp:cNvSpPr/>
      </dsp:nvSpPr>
      <dsp:spPr bwMode="white">
        <a:xfrm>
          <a:off x="0" y="422881"/>
          <a:ext cx="7178468" cy="101981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52400" tIns="152400" rIns="152400" bIns="152400" anchor="ctr"/>
        <a:lstStyle>
          <a:lvl1pPr algn="l">
            <a:defRPr sz="4000"/>
          </a:lvl1pPr>
          <a:lvl2pPr marL="285750" indent="-285750" algn="l">
            <a:defRPr sz="3100"/>
          </a:lvl2pPr>
          <a:lvl3pPr marL="571500" indent="-285750" algn="l">
            <a:defRPr sz="3100"/>
          </a:lvl3pPr>
          <a:lvl4pPr marL="857250" indent="-285750" algn="l">
            <a:defRPr sz="3100"/>
          </a:lvl4pPr>
          <a:lvl5pPr marL="1143000" indent="-285750" algn="l">
            <a:defRPr sz="3100"/>
          </a:lvl5pPr>
          <a:lvl6pPr marL="1428750" indent="-285750" algn="l">
            <a:defRPr sz="3100"/>
          </a:lvl6pPr>
          <a:lvl7pPr marL="1714500" indent="-285750" algn="l">
            <a:defRPr sz="3100"/>
          </a:lvl7pPr>
          <a:lvl8pPr marL="2000250" indent="-285750" algn="l">
            <a:defRPr sz="3100"/>
          </a:lvl8pPr>
          <a:lvl9pPr marL="2286000" indent="-285750" algn="l">
            <a:defRPr sz="3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Cell lysis</a:t>
          </a:r>
        </a:p>
      </dsp:txBody>
      <dsp:txXfrm>
        <a:off x="0" y="422881"/>
        <a:ext cx="7178468" cy="1019810"/>
      </dsp:txXfrm>
    </dsp:sp>
    <dsp:sp modelId="{10CA6458-B773-3541-B29B-E563944BCC17}">
      <dsp:nvSpPr>
        <dsp:cNvPr id="4" name="Rounded Rectangle 3"/>
        <dsp:cNvSpPr/>
      </dsp:nvSpPr>
      <dsp:spPr bwMode="white">
        <a:xfrm>
          <a:off x="0" y="1557892"/>
          <a:ext cx="7178468" cy="101981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5">
            <a:hueOff val="-1695000"/>
            <a:satOff val="-4313"/>
            <a:lumOff val="-294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52400" tIns="152400" rIns="152400" bIns="152400" anchor="ctr"/>
        <a:lstStyle>
          <a:lvl1pPr algn="l">
            <a:defRPr sz="4000"/>
          </a:lvl1pPr>
          <a:lvl2pPr marL="285750" indent="-285750" algn="l">
            <a:defRPr sz="3100"/>
          </a:lvl2pPr>
          <a:lvl3pPr marL="571500" indent="-285750" algn="l">
            <a:defRPr sz="3100"/>
          </a:lvl3pPr>
          <a:lvl4pPr marL="857250" indent="-285750" algn="l">
            <a:defRPr sz="3100"/>
          </a:lvl4pPr>
          <a:lvl5pPr marL="1143000" indent="-285750" algn="l">
            <a:defRPr sz="3100"/>
          </a:lvl5pPr>
          <a:lvl6pPr marL="1428750" indent="-285750" algn="l">
            <a:defRPr sz="3100"/>
          </a:lvl6pPr>
          <a:lvl7pPr marL="1714500" indent="-285750" algn="l">
            <a:defRPr sz="3100"/>
          </a:lvl7pPr>
          <a:lvl8pPr marL="2000250" indent="-285750" algn="l">
            <a:defRPr sz="3100"/>
          </a:lvl8pPr>
          <a:lvl9pPr marL="2286000" indent="-285750" algn="l">
            <a:defRPr sz="3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Remove of contaminants</a:t>
          </a:r>
        </a:p>
      </dsp:txBody>
      <dsp:txXfrm>
        <a:off x="0" y="1557892"/>
        <a:ext cx="7178468" cy="1019810"/>
      </dsp:txXfrm>
    </dsp:sp>
    <dsp:sp modelId="{54D8A4B8-4993-4144-9996-ECF03351F099}">
      <dsp:nvSpPr>
        <dsp:cNvPr id="5" name="Rounded Rectangle 4"/>
        <dsp:cNvSpPr/>
      </dsp:nvSpPr>
      <dsp:spPr bwMode="white">
        <a:xfrm>
          <a:off x="0" y="2692902"/>
          <a:ext cx="7178468" cy="101981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5">
            <a:hueOff val="-3390000"/>
            <a:satOff val="-8626"/>
            <a:lumOff val="-5881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52400" tIns="152400" rIns="152400" bIns="152400" anchor="ctr"/>
        <a:lstStyle>
          <a:lvl1pPr algn="l">
            <a:defRPr sz="4000"/>
          </a:lvl1pPr>
          <a:lvl2pPr marL="285750" indent="-285750" algn="l">
            <a:defRPr sz="3100"/>
          </a:lvl2pPr>
          <a:lvl3pPr marL="571500" indent="-285750" algn="l">
            <a:defRPr sz="3100"/>
          </a:lvl3pPr>
          <a:lvl4pPr marL="857250" indent="-285750" algn="l">
            <a:defRPr sz="3100"/>
          </a:lvl4pPr>
          <a:lvl5pPr marL="1143000" indent="-285750" algn="l">
            <a:defRPr sz="3100"/>
          </a:lvl5pPr>
          <a:lvl6pPr marL="1428750" indent="-285750" algn="l">
            <a:defRPr sz="3100"/>
          </a:lvl6pPr>
          <a:lvl7pPr marL="1714500" indent="-285750" algn="l">
            <a:defRPr sz="3100"/>
          </a:lvl7pPr>
          <a:lvl8pPr marL="2000250" indent="-285750" algn="l">
            <a:defRPr sz="3100"/>
          </a:lvl8pPr>
          <a:lvl9pPr marL="2286000" indent="-285750" algn="l">
            <a:defRPr sz="3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DNA precipitation</a:t>
          </a:r>
        </a:p>
      </dsp:txBody>
      <dsp:txXfrm>
        <a:off x="0" y="2692902"/>
        <a:ext cx="7178468" cy="1019810"/>
      </dsp:txXfrm>
    </dsp:sp>
    <dsp:sp modelId="{238E7160-1F84-234A-91EB-1BCC71D53548}">
      <dsp:nvSpPr>
        <dsp:cNvPr id="6" name="Rounded Rectangle 5"/>
        <dsp:cNvSpPr/>
      </dsp:nvSpPr>
      <dsp:spPr bwMode="white">
        <a:xfrm>
          <a:off x="0" y="3827912"/>
          <a:ext cx="7178468" cy="101981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5">
            <a:hueOff val="-5085000"/>
            <a:satOff val="-12940"/>
            <a:lumOff val="-8823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52400" tIns="152400" rIns="152400" bIns="152400" anchor="ctr"/>
        <a:lstStyle>
          <a:lvl1pPr algn="l">
            <a:defRPr sz="4000"/>
          </a:lvl1pPr>
          <a:lvl2pPr marL="285750" indent="-285750" algn="l">
            <a:defRPr sz="3100"/>
          </a:lvl2pPr>
          <a:lvl3pPr marL="571500" indent="-285750" algn="l">
            <a:defRPr sz="3100"/>
          </a:lvl3pPr>
          <a:lvl4pPr marL="857250" indent="-285750" algn="l">
            <a:defRPr sz="3100"/>
          </a:lvl4pPr>
          <a:lvl5pPr marL="1143000" indent="-285750" algn="l">
            <a:defRPr sz="3100"/>
          </a:lvl5pPr>
          <a:lvl6pPr marL="1428750" indent="-285750" algn="l">
            <a:defRPr sz="3100"/>
          </a:lvl6pPr>
          <a:lvl7pPr marL="1714500" indent="-285750" algn="l">
            <a:defRPr sz="3100"/>
          </a:lvl7pPr>
          <a:lvl8pPr marL="2000250" indent="-285750" algn="l">
            <a:defRPr sz="3100"/>
          </a:lvl8pPr>
          <a:lvl9pPr marL="2286000" indent="-285750" algn="l">
            <a:defRPr sz="3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DNA washing</a:t>
          </a:r>
        </a:p>
      </dsp:txBody>
      <dsp:txXfrm>
        <a:off x="0" y="3827912"/>
        <a:ext cx="7178468" cy="1019810"/>
      </dsp:txXfrm>
    </dsp:sp>
    <dsp:sp modelId="{A53C0F41-7673-DC4A-BFF1-78FFA5B37CF4}">
      <dsp:nvSpPr>
        <dsp:cNvPr id="7" name="Rounded Rectangle 6"/>
        <dsp:cNvSpPr/>
      </dsp:nvSpPr>
      <dsp:spPr bwMode="white">
        <a:xfrm>
          <a:off x="0" y="4962922"/>
          <a:ext cx="7178468" cy="101981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5">
            <a:hueOff val="-6780000"/>
            <a:satOff val="-17254"/>
            <a:lumOff val="-11764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52400" tIns="152400" rIns="152400" bIns="152400" anchor="ctr"/>
        <a:lstStyle>
          <a:lvl1pPr algn="l">
            <a:defRPr sz="4000"/>
          </a:lvl1pPr>
          <a:lvl2pPr marL="285750" indent="-285750" algn="l">
            <a:defRPr sz="3100"/>
          </a:lvl2pPr>
          <a:lvl3pPr marL="571500" indent="-285750" algn="l">
            <a:defRPr sz="3100"/>
          </a:lvl3pPr>
          <a:lvl4pPr marL="857250" indent="-285750" algn="l">
            <a:defRPr sz="3100"/>
          </a:lvl4pPr>
          <a:lvl5pPr marL="1143000" indent="-285750" algn="l">
            <a:defRPr sz="3100"/>
          </a:lvl5pPr>
          <a:lvl6pPr marL="1428750" indent="-285750" algn="l">
            <a:defRPr sz="3100"/>
          </a:lvl6pPr>
          <a:lvl7pPr marL="1714500" indent="-285750" algn="l">
            <a:defRPr sz="3100"/>
          </a:lvl7pPr>
          <a:lvl8pPr marL="2000250" indent="-285750" algn="l">
            <a:defRPr sz="3100"/>
          </a:lvl8pPr>
          <a:lvl9pPr marL="2286000" indent="-285750" algn="l">
            <a:defRPr sz="3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DNA resuspension (</a:t>
          </a:r>
          <a:r>
            <a:rPr lang="en-US" altLang="ar-JO" b="0" dirty="0">
              <a:cs typeface="Arial" panose="020B0604020202020204" pitchFamily="34" charset="0"/>
            </a:rPr>
            <a:t>rehydration</a:t>
          </a:r>
          <a:r>
            <a:rPr lang="en-US" altLang="ar-JO" b="1" dirty="0">
              <a:cs typeface="Arial" panose="020B0604020202020204" pitchFamily="34" charset="0"/>
            </a:rPr>
            <a:t>)</a:t>
          </a:r>
          <a:endParaRPr lang="en-US" dirty="0"/>
        </a:p>
      </dsp:txBody>
      <dsp:txXfrm>
        <a:off x="0" y="4962922"/>
        <a:ext cx="7178468" cy="1019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#1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1F663B-DB9B-46A8-92FD-414746AF77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0A9E0-87B8-49A0-9F99-4277A0E7E3B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ar-JO" altLang="ar-JO" dirty="0">
              <a:ea typeface="Arial" panose="020B0604020202020204" pitchFamily="34" charset="0"/>
            </a:endParaRPr>
          </a:p>
        </p:txBody>
      </p:sp>
      <p:sp>
        <p:nvSpPr>
          <p:cNvPr id="14340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ar-JO" dirty="0">
                <a:cs typeface="Arial" panose="020B0604020202020204" pitchFamily="34" charset="0"/>
              </a:rPr>
            </a:fld>
            <a:endParaRPr lang="en-US" altLang="ar-JO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ar-JO" altLang="ar-JO" dirty="0">
              <a:ea typeface="Arial" panose="020B0604020202020204" pitchFamily="34" charset="0"/>
            </a:endParaRPr>
          </a:p>
        </p:txBody>
      </p:sp>
      <p:sp>
        <p:nvSpPr>
          <p:cNvPr id="16388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ar-JO" dirty="0">
                <a:cs typeface="Arial" panose="020B0604020202020204" pitchFamily="34" charset="0"/>
              </a:rPr>
            </a:fld>
            <a:endParaRPr lang="en-US" altLang="ar-JO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ar-JO" altLang="ar-JO" dirty="0">
              <a:ea typeface="Arial" panose="020B0604020202020204" pitchFamily="34" charset="0"/>
            </a:endParaRPr>
          </a:p>
        </p:txBody>
      </p:sp>
      <p:sp>
        <p:nvSpPr>
          <p:cNvPr id="19460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ar-JO" dirty="0">
                <a:cs typeface="Arial" panose="020B0604020202020204" pitchFamily="34" charset="0"/>
              </a:rPr>
            </a:fld>
            <a:endParaRPr lang="en-US" altLang="ar-JO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ar-JO" dirty="0">
                <a:cs typeface="Arial" panose="020B0604020202020204" pitchFamily="34" charset="0"/>
              </a:rPr>
            </a:fld>
            <a:endParaRPr lang="en-US" altLang="ar-JO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07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1508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ar-JO" altLang="ar-JO" dirty="0">
              <a:ea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ar-JO" dirty="0">
                <a:cs typeface="Arial" panose="020B0604020202020204" pitchFamily="34" charset="0"/>
              </a:rPr>
            </a:fld>
            <a:endParaRPr lang="en-US" altLang="ar-JO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ar-JO" altLang="ar-JO" dirty="0">
              <a:ea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ar-JO" altLang="ar-JO" dirty="0">
              <a:ea typeface="Arial" panose="020B0604020202020204" pitchFamily="34" charset="0"/>
            </a:endParaRPr>
          </a:p>
        </p:txBody>
      </p:sp>
      <p:sp>
        <p:nvSpPr>
          <p:cNvPr id="25604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ar-JO" sz="1200" dirty="0">
                <a:latin typeface="Calibri" panose="020F0502020204030204" pitchFamily="34" charset="0"/>
              </a:rPr>
            </a:fld>
            <a:endParaRPr lang="en-US" altLang="ar-JO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ar-JO" dirty="0">
                <a:cs typeface="Arial" panose="020B0604020202020204" pitchFamily="34" charset="0"/>
              </a:rPr>
            </a:fld>
            <a:endParaRPr lang="en-US" altLang="ar-JO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7652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ar-JO" altLang="ar-JO" dirty="0">
              <a:ea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F87BC-DA51-4A28-B4FF-D4DA697B03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8257-924B-408F-834A-4B22B96CE6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F87BC-DA51-4A28-B4FF-D4DA697B03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8257-924B-408F-834A-4B22B96CE6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F87BC-DA51-4A28-B4FF-D4DA697B03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8257-924B-408F-834A-4B22B96CE6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F87BC-DA51-4A28-B4FF-D4DA697B039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8257-924B-408F-834A-4B22B96CE6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F87BC-DA51-4A28-B4FF-D4DA697B039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8257-924B-408F-834A-4B22B96CE6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F87BC-DA51-4A28-B4FF-D4DA697B039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8257-924B-408F-834A-4B22B96CE6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F87BC-DA51-4A28-B4FF-D4DA697B039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8257-924B-408F-834A-4B22B96CE6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F87BC-DA51-4A28-B4FF-D4DA697B039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8257-924B-408F-834A-4B22B96CE6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F87BC-DA51-4A28-B4FF-D4DA697B039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8257-924B-408F-834A-4B22B96CE6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F87BC-DA51-4A28-B4FF-D4DA697B03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8257-924B-408F-834A-4B22B96CE6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F87BC-DA51-4A28-B4FF-D4DA697B03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8257-924B-408F-834A-4B22B96CE6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EF87BC-DA51-4A28-B4FF-D4DA697B03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88257-924B-408F-834A-4B22B96CE69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.xml"/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5"/>
          <p:cNvSpPr>
            <a:spLocks noGrp="1"/>
          </p:cNvSpPr>
          <p:nvPr/>
        </p:nvSpPr>
        <p:spPr>
          <a:xfrm>
            <a:off x="3399416" y="3403283"/>
            <a:ext cx="6172200" cy="18573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b" anchorCtr="0" compatLnSpc="1">
            <a:no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DNA Isolation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Graphic 5" descr="DNA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70442" y="2261163"/>
            <a:ext cx="3750833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/>
        </p:nvSpPr>
        <p:spPr>
          <a:xfrm>
            <a:off x="1981835" y="1804035"/>
            <a:ext cx="7482840" cy="1344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570" dirty="0"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MOLECULAR GENETICS LABORATORY</a:t>
            </a:r>
            <a:br>
              <a:rPr lang="en-US" sz="4570" dirty="0">
                <a:solidFill>
                  <a:schemeClr val="tx1"/>
                </a:solidFill>
                <a:effectLst/>
                <a:latin typeface="Tahoma" panose="020B0604030504040204" pitchFamily="34" charset="0"/>
              </a:rPr>
            </a:br>
            <a:r>
              <a:rPr lang="en-US" sz="4570" dirty="0"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BT344</a:t>
            </a:r>
            <a:br>
              <a:rPr lang="en-US" sz="4570" dirty="0">
                <a:solidFill>
                  <a:schemeClr val="tx1"/>
                </a:solidFill>
                <a:effectLst/>
                <a:latin typeface="Tahoma" panose="020B0604030504040204" pitchFamily="34" charset="0"/>
              </a:rPr>
            </a:br>
            <a:r>
              <a:rPr lang="en-US" sz="4570"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Experiment (3)</a:t>
            </a:r>
            <a:endParaRPr lang="en-US" sz="4570" dirty="0"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pic>
        <p:nvPicPr>
          <p:cNvPr id="3" name="Picture 2" descr="A picture containing text, outdoor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885" y="166370"/>
            <a:ext cx="1856105" cy="13830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2"/>
          <p:cNvSpPr>
            <a:spLocks noGrp="1"/>
          </p:cNvSpPr>
          <p:nvPr>
            <p:ph idx="1"/>
          </p:nvPr>
        </p:nvSpPr>
        <p:spPr>
          <a:xfrm>
            <a:off x="815926" y="1901826"/>
            <a:ext cx="9667924" cy="4214813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AU" altLang="en-AU" dirty="0"/>
              <a:t>To explain and understand the basic principle of DNA isolation from Drosophila melanogaster</a:t>
            </a:r>
            <a:endParaRPr lang="en-AU" altLang="en-AU" dirty="0"/>
          </a:p>
          <a:p>
            <a:pPr marL="514350" indent="-514350">
              <a:buFont typeface="Calibri" panose="020F0502020204030204" pitchFamily="34" charset="0"/>
              <a:buAutoNum type="arabicPeriod"/>
            </a:pPr>
            <a:endParaRPr lang="en-AU" altLang="en-AU" dirty="0"/>
          </a:p>
          <a:p>
            <a:pPr marL="514350" indent="-514350">
              <a:buFont typeface="Calibri" panose="020F0502020204030204" pitchFamily="34" charset="0"/>
              <a:buAutoNum type="arabicPeriod"/>
            </a:pPr>
            <a:endParaRPr lang="en-AU" altLang="en-AU" dirty="0"/>
          </a:p>
          <a:p>
            <a:pPr marL="514350" indent="-514350">
              <a:buFont typeface="Calibri" panose="020F0502020204030204" pitchFamily="34" charset="0"/>
              <a:buAutoNum type="arabicPeriod"/>
            </a:pPr>
            <a:endParaRPr lang="en-US" altLang="ar-JO" dirty="0">
              <a:ea typeface="Arial" panose="020B0604020202020204" pitchFamily="34" charset="0"/>
            </a:endParaRPr>
          </a:p>
        </p:txBody>
      </p:sp>
      <p:sp>
        <p:nvSpPr>
          <p:cNvPr id="5123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/>
          <a:p>
            <a:pPr>
              <a:spcBef>
                <a:spcPct val="0"/>
              </a:spcBef>
            </a:pPr>
            <a:fld id="{9A0DB2DC-4C9A-4742-B13C-FB6460FD3503}" type="slidenum">
              <a:rPr lang="en-US" altLang="ar-JO" dirty="0">
                <a:solidFill>
                  <a:srgbClr val="898989"/>
                </a:solidFill>
                <a:cs typeface="Arial" panose="020B0604020202020204" pitchFamily="34" charset="0"/>
              </a:rPr>
            </a:fld>
            <a:endParaRPr lang="en-US" altLang="ar-JO" dirty="0">
              <a:solidFill>
                <a:srgbClr val="898989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4"/>
          <p:cNvSpPr>
            <a:spLocks noGrp="1"/>
          </p:cNvSpPr>
          <p:nvPr>
            <p:ph type="title"/>
          </p:nvPr>
        </p:nvSpPr>
        <p:spPr>
          <a:xfrm>
            <a:off x="1631951" y="409551"/>
            <a:ext cx="8178800" cy="1016024"/>
          </a:xfrm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US" sz="3600" b="1" dirty="0">
                <a:solidFill>
                  <a:schemeClr val="tx1"/>
                </a:solidFill>
              </a:rPr>
              <a:t>OBJECTIVE</a:t>
            </a:r>
            <a:endParaRPr lang="en-US" sz="3600" b="1" dirty="0">
              <a:solidFill>
                <a:schemeClr val="tx1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309813" y="1427163"/>
            <a:ext cx="7500938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34" descr="Bee with solid fil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9649" y="3680727"/>
            <a:ext cx="1933213" cy="1933213"/>
          </a:xfrm>
          <a:prstGeom prst="rect">
            <a:avLst/>
          </a:prstGeom>
        </p:spPr>
      </p:pic>
      <p:pic>
        <p:nvPicPr>
          <p:cNvPr id="3" name="Graphic 2" descr="DN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55" y="3680093"/>
            <a:ext cx="1750745" cy="1933214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sp>
        <p:nvSpPr>
          <p:cNvPr id="4" name="Arrow: Right 3"/>
          <p:cNvSpPr/>
          <p:nvPr/>
        </p:nvSpPr>
        <p:spPr>
          <a:xfrm>
            <a:off x="5155324" y="4536635"/>
            <a:ext cx="2561782" cy="40796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 advTm="3506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2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/>
          <a:p>
            <a:pPr>
              <a:spcBef>
                <a:spcPct val="0"/>
              </a:spcBef>
            </a:pPr>
            <a:fld id="{9A0DB2DC-4C9A-4742-B13C-FB6460FD3503}" type="slidenum">
              <a:rPr lang="en-US" altLang="ar-JO" dirty="0">
                <a:solidFill>
                  <a:srgbClr val="898989"/>
                </a:solidFill>
                <a:cs typeface="Arial" panose="020B0604020202020204" pitchFamily="34" charset="0"/>
              </a:rPr>
            </a:fld>
            <a:endParaRPr lang="en-US" altLang="ar-JO" dirty="0">
              <a:solidFill>
                <a:srgbClr val="898989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309813" y="928688"/>
            <a:ext cx="7500938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2" name="Picture 2" descr="http://www.rikenresearch.riken.jp/images/figures/hi_373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4063" y="1938339"/>
            <a:ext cx="3778250" cy="37861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Title 4"/>
          <p:cNvSpPr txBox="1"/>
          <p:nvPr/>
        </p:nvSpPr>
        <p:spPr>
          <a:xfrm>
            <a:off x="2343150" y="214313"/>
            <a:ext cx="7467600" cy="48895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DNA inside cells</a:t>
            </a:r>
            <a:endParaRPr lang="en-US" sz="40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174" name="TextBox 8"/>
          <p:cNvSpPr txBox="1"/>
          <p:nvPr/>
        </p:nvSpPr>
        <p:spPr>
          <a:xfrm>
            <a:off x="1881188" y="5929314"/>
            <a:ext cx="3929062" cy="27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ar-JO" sz="1200" dirty="0">
                <a:solidFill>
                  <a:schemeClr val="accent1"/>
                </a:solidFill>
                <a:cs typeface="Arial" panose="020B0604020202020204" pitchFamily="34" charset="0"/>
              </a:rPr>
              <a:t>www.rikenresearch.riken.jp/eng/frontline/5514</a:t>
            </a:r>
            <a:endParaRPr lang="en-US" altLang="ar-JO" sz="1200" dirty="0">
              <a:solidFill>
                <a:schemeClr val="accent1"/>
              </a:solidFill>
              <a:ea typeface="Arial" panose="020B0604020202020204" pitchFamily="34" charset="0"/>
            </a:endParaRPr>
          </a:p>
        </p:txBody>
      </p:sp>
      <p:pic>
        <p:nvPicPr>
          <p:cNvPr id="7175" name="Picture 3"/>
          <p:cNvPicPr>
            <a:picLocks noChangeAspect="1"/>
          </p:cNvPicPr>
          <p:nvPr/>
        </p:nvPicPr>
        <p:blipFill>
          <a:blip r:embed="rId2"/>
          <a:srcRect b="3082"/>
          <a:stretch>
            <a:fillRect/>
          </a:stretch>
        </p:blipFill>
        <p:spPr>
          <a:xfrm>
            <a:off x="6096001" y="2295525"/>
            <a:ext cx="4259263" cy="3143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6" name="TextBox 10"/>
          <p:cNvSpPr txBox="1"/>
          <p:nvPr/>
        </p:nvSpPr>
        <p:spPr>
          <a:xfrm>
            <a:off x="6738939" y="5938839"/>
            <a:ext cx="2928937" cy="27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ar-JO" sz="1200" dirty="0">
                <a:solidFill>
                  <a:schemeClr val="accent1"/>
                </a:solidFill>
                <a:cs typeface="Arial" panose="020B0604020202020204" pitchFamily="34" charset="0"/>
              </a:rPr>
              <a:t>Prescott M. (2002) Microbiology</a:t>
            </a:r>
            <a:endParaRPr lang="en-US" altLang="ar-JO" sz="1200" dirty="0">
              <a:solidFill>
                <a:schemeClr val="accent1"/>
              </a:solidFill>
              <a:ea typeface="Arial" panose="020B0604020202020204" pitchFamily="34" charset="0"/>
            </a:endParaRPr>
          </a:p>
        </p:txBody>
      </p:sp>
      <p:sp>
        <p:nvSpPr>
          <p:cNvPr id="12" name="Title 4"/>
          <p:cNvSpPr txBox="1"/>
          <p:nvPr/>
        </p:nvSpPr>
        <p:spPr>
          <a:xfrm>
            <a:off x="6738939" y="1214439"/>
            <a:ext cx="3038475" cy="417513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Prokaryotic cells </a:t>
            </a:r>
            <a:endParaRPr lang="en-US" sz="2400" b="1" dirty="0">
              <a:solidFill>
                <a:schemeClr val="accent6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Title 4"/>
          <p:cNvSpPr txBox="1"/>
          <p:nvPr/>
        </p:nvSpPr>
        <p:spPr>
          <a:xfrm>
            <a:off x="2414589" y="1225551"/>
            <a:ext cx="3038475" cy="417513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Eukaryotic cells </a:t>
            </a:r>
            <a:endParaRPr lang="en-US" sz="2400" b="1" dirty="0">
              <a:solidFill>
                <a:schemeClr val="accent6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slow" advTm="17733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1008" y="661182"/>
            <a:ext cx="10480431" cy="540199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buClr>
                <a:schemeClr val="accent1"/>
              </a:buClr>
              <a:buNone/>
            </a:pPr>
            <a:r>
              <a:rPr lang="en-US" altLang="ar-JO" sz="3600" b="1" dirty="0">
                <a:cs typeface="Arial" panose="020B0604020202020204" pitchFamily="34" charset="0"/>
              </a:rPr>
              <a:t>DNA isolation</a:t>
            </a:r>
            <a:endParaRPr lang="en-US" altLang="ar-JO" sz="3600" b="1" dirty="0">
              <a:cs typeface="Arial" panose="020B0604020202020204" pitchFamily="34" charset="0"/>
            </a:endParaRPr>
          </a:p>
          <a:p>
            <a:pPr marL="342900" lvl="0" indent="-342900" eaLnBrk="1" hangingPunct="1">
              <a:buClr>
                <a:schemeClr val="accent1"/>
              </a:buClr>
              <a:buFont typeface="Courier New" panose="02070309020205020404" pitchFamily="49" charset="0"/>
              <a:buChar char="o"/>
            </a:pPr>
            <a:endParaRPr lang="en-US" altLang="ar-JO" sz="2400" dirty="0">
              <a:cs typeface="Arial" panose="020B0604020202020204" pitchFamily="34" charset="0"/>
            </a:endParaRPr>
          </a:p>
          <a:p>
            <a:pPr marL="342900" lvl="0" indent="-342900" eaLnBrk="1" hangingPunct="1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altLang="ar-JO" sz="2400" b="1" dirty="0">
                <a:cs typeface="Arial" panose="020B0604020202020204" pitchFamily="34" charset="0"/>
              </a:rPr>
              <a:t>DNA isolation </a:t>
            </a:r>
            <a:r>
              <a:rPr lang="en-US" altLang="ar-JO" sz="2400" dirty="0">
                <a:cs typeface="Arial" panose="020B0604020202020204" pitchFamily="34" charset="0"/>
              </a:rPr>
              <a:t>is the extraction and purification of DNA (deoxyribonucleic acid)</a:t>
            </a:r>
            <a:endParaRPr lang="en-US" altLang="ar-JO" sz="2400" dirty="0">
              <a:cs typeface="Arial" panose="020B0604020202020204" pitchFamily="34" charset="0"/>
            </a:endParaRPr>
          </a:p>
          <a:p>
            <a:pPr marL="342900" lvl="0" indent="-342900" eaLnBrk="1" hangingPunct="1">
              <a:buClr>
                <a:schemeClr val="accent1"/>
              </a:buClr>
              <a:buFont typeface="Courier New" panose="02070309020205020404" pitchFamily="49" charset="0"/>
              <a:buChar char="o"/>
            </a:pPr>
            <a:endParaRPr lang="en-US" altLang="ar-JO" sz="2400" dirty="0">
              <a:cs typeface="Arial" panose="020B0604020202020204" pitchFamily="34" charset="0"/>
            </a:endParaRPr>
          </a:p>
          <a:p>
            <a:pPr marL="342900" lvl="0" indent="-342900" eaLnBrk="1" hangingPunct="1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altLang="ar-JO" sz="2400" dirty="0">
                <a:cs typeface="Arial" panose="020B0604020202020204" pitchFamily="34" charset="0"/>
              </a:rPr>
              <a:t>After DNA is extracted, it is used as a template in further molecular techniques such as…</a:t>
            </a:r>
            <a:endParaRPr lang="en-US" altLang="ar-JO" sz="2400" dirty="0">
              <a:cs typeface="Arial" panose="020B0604020202020204" pitchFamily="34" charset="0"/>
            </a:endParaRPr>
          </a:p>
          <a:p>
            <a:pPr marL="342900" lvl="0" indent="-342900" eaLnBrk="1" hangingPunct="1">
              <a:buClr>
                <a:schemeClr val="accent1"/>
              </a:buClr>
              <a:buFont typeface="Courier New" panose="02070309020205020404" pitchFamily="49" charset="0"/>
              <a:buChar char="o"/>
            </a:pPr>
            <a:endParaRPr lang="en-US" altLang="ar-JO" sz="800" dirty="0">
              <a:cs typeface="Arial" panose="020B0604020202020204" pitchFamily="34" charset="0"/>
            </a:endParaRPr>
          </a:p>
          <a:p>
            <a:pPr marL="800100" lvl="1" indent="-342900" eaLnBrk="1" hangingPunct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ar-JO" sz="1800" dirty="0">
                <a:cs typeface="Arial" panose="020B0604020202020204" pitchFamily="34" charset="0"/>
              </a:rPr>
              <a:t>PCR (polymerase chain reaction)</a:t>
            </a:r>
            <a:endParaRPr lang="en-US" altLang="ar-JO" sz="1800" dirty="0">
              <a:cs typeface="Arial" panose="020B0604020202020204" pitchFamily="34" charset="0"/>
            </a:endParaRPr>
          </a:p>
          <a:p>
            <a:pPr marL="800100" lvl="1" indent="-342900" eaLnBrk="1" hangingPunct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ar-JO" sz="1800" dirty="0">
                <a:cs typeface="Arial" panose="020B0604020202020204" pitchFamily="34" charset="0"/>
              </a:rPr>
              <a:t>RFLP (restriction fragment length polymorphism)</a:t>
            </a:r>
            <a:endParaRPr lang="en-US" altLang="ar-JO" sz="1800" dirty="0">
              <a:cs typeface="Arial" panose="020B0604020202020204" pitchFamily="34" charset="0"/>
            </a:endParaRPr>
          </a:p>
          <a:p>
            <a:pPr marL="800100" lvl="1" indent="-342900" eaLnBrk="1" hangingPunct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ar-JO" sz="1800" dirty="0">
                <a:cs typeface="Arial" panose="020B0604020202020204" pitchFamily="34" charset="0"/>
              </a:rPr>
              <a:t>Southern Blotting </a:t>
            </a:r>
            <a:endParaRPr lang="en-US" altLang="ar-JO" sz="1800" dirty="0">
              <a:cs typeface="Arial" panose="020B0604020202020204" pitchFamily="34" charset="0"/>
            </a:endParaRPr>
          </a:p>
          <a:p>
            <a:pPr marL="800100" lvl="1" indent="-342900" eaLnBrk="1" hangingPunct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ar-JO" sz="1800" dirty="0">
                <a:cs typeface="Arial" panose="020B0604020202020204" pitchFamily="34" charset="0"/>
              </a:rPr>
              <a:t>Ect ……. </a:t>
            </a:r>
            <a:endParaRPr lang="en-US" altLang="ar-JO" sz="1800" dirty="0">
              <a:cs typeface="Arial" panose="020B0604020202020204" pitchFamily="34" charset="0"/>
            </a:endParaRPr>
          </a:p>
          <a:p>
            <a:pPr marL="342900" lvl="0" indent="-342900" eaLnBrk="1" hangingPunct="1">
              <a:buFont typeface="Wingdings" panose="05000000000000000000" pitchFamily="2" charset="2"/>
              <a:buNone/>
            </a:pPr>
            <a:endParaRPr lang="en-US" altLang="ar-JO" sz="2400" dirty="0"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/>
          <p:cNvGrpSpPr>
            <a:grpSpLocks noGrp="1" noRot="1" noChangeAspect="1" noMove="1" noResize="1" noUngrp="1"/>
          </p:cNvGrpSpPr>
          <p:nvPr/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4" name="Color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/>
          <p:cNvGrpSpPr>
            <a:grpSpLocks noGrp="1" noRot="1" noChangeAspect="1" noMove="1" noResize="1" noUngrp="1"/>
          </p:cNvGrpSpPr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46" y="841248"/>
            <a:ext cx="4679407" cy="5340097"/>
          </a:xfrm>
        </p:spPr>
        <p:txBody>
          <a:bodyPr anchor="ctr"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Major steps in DNA isolation </a:t>
            </a:r>
            <a:endParaRPr lang="en-US" sz="48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4985886" y="231006"/>
          <a:ext cx="7178468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2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/>
          <a:p>
            <a:pPr>
              <a:spcBef>
                <a:spcPct val="0"/>
              </a:spcBef>
            </a:pPr>
            <a:fld id="{9A0DB2DC-4C9A-4742-B13C-FB6460FD3503}" type="slidenum">
              <a:rPr lang="en-US" altLang="ar-JO" dirty="0">
                <a:solidFill>
                  <a:srgbClr val="898989"/>
                </a:solidFill>
                <a:cs typeface="Arial" panose="020B0604020202020204" pitchFamily="34" charset="0"/>
              </a:rPr>
            </a:fld>
            <a:endParaRPr lang="en-US" altLang="ar-JO" dirty="0">
              <a:solidFill>
                <a:srgbClr val="898989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2309812" y="1063624"/>
            <a:ext cx="7500938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/>
          <p:cNvSpPr txBox="1"/>
          <p:nvPr/>
        </p:nvSpPr>
        <p:spPr>
          <a:xfrm>
            <a:off x="2185988" y="398806"/>
            <a:ext cx="7467600" cy="711198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To isolate DNA, You Must Remove …</a:t>
            </a:r>
            <a:endParaRPr lang="en-US" sz="3200" b="1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436098" y="1857375"/>
            <a:ext cx="5957521" cy="2857500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b="1" dirty="0"/>
              <a:t>Cell membrane</a:t>
            </a:r>
            <a:endParaRPr lang="en-US" sz="2800" b="1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1050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b="1" dirty="0"/>
              <a:t>Cell wall </a:t>
            </a:r>
            <a:endParaRPr lang="en-US" sz="2800" b="1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en-US" sz="2800" dirty="0"/>
              <a:t>    (plant, bacteria &amp; fungi)</a:t>
            </a:r>
            <a:endParaRPr lang="en-US" sz="2800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1050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b="1" dirty="0"/>
              <a:t>Cytoplasm</a:t>
            </a:r>
            <a:endParaRPr lang="en-US" sz="2800" b="1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1050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b="1" dirty="0"/>
              <a:t>Nuclear membrane </a:t>
            </a:r>
            <a:r>
              <a:rPr lang="en-US" sz="2800" dirty="0"/>
              <a:t>(animal &amp; plant)</a:t>
            </a:r>
            <a:endParaRPr lang="en-US" sz="2800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1050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b="1" dirty="0"/>
              <a:t>Proteins, polysaccharides &amp; lipids</a:t>
            </a:r>
            <a:endParaRPr lang="en-US" sz="2400" b="1" dirty="0"/>
          </a:p>
        </p:txBody>
      </p:sp>
      <p:pic>
        <p:nvPicPr>
          <p:cNvPr id="12294" name="Picture 5" descr="cell membran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1" y="1857375"/>
            <a:ext cx="3160713" cy="1295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5" name="TextBox 10"/>
          <p:cNvSpPr txBox="1"/>
          <p:nvPr/>
        </p:nvSpPr>
        <p:spPr>
          <a:xfrm>
            <a:off x="6596064" y="3252788"/>
            <a:ext cx="32861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ar-JO" sz="1200" dirty="0">
                <a:solidFill>
                  <a:schemeClr val="accent1"/>
                </a:solidFill>
                <a:cs typeface="Arial" panose="020B0604020202020204" pitchFamily="34" charset="0"/>
              </a:rPr>
              <a:t>http://gslc.genetics.utah.edu/units/activities/</a:t>
            </a:r>
            <a:endParaRPr lang="en-US" altLang="ar-JO" sz="1200" dirty="0">
              <a:solidFill>
                <a:schemeClr val="accent1"/>
              </a:solidFill>
              <a:cs typeface="Arial" panose="020B0604020202020204" pitchFamily="34" charset="0"/>
            </a:endParaRP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ar-JO" sz="1200" dirty="0">
                <a:solidFill>
                  <a:schemeClr val="accent1"/>
                </a:solidFill>
                <a:cs typeface="Arial" panose="020B0604020202020204" pitchFamily="34" charset="0"/>
              </a:rPr>
              <a:t>extraction</a:t>
            </a:r>
            <a:endParaRPr lang="en-US" altLang="ar-JO" sz="1200" dirty="0">
              <a:solidFill>
                <a:schemeClr val="accent1"/>
              </a:solidFill>
              <a:ea typeface="Arial" panose="020B0604020202020204" pitchFamily="34" charset="0"/>
            </a:endParaRPr>
          </a:p>
        </p:txBody>
      </p:sp>
      <p:pic>
        <p:nvPicPr>
          <p:cNvPr id="12296" name="Picture 5" descr="DNA and protei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938" y="4214813"/>
            <a:ext cx="2914650" cy="1466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7" name="TextBox 12"/>
          <p:cNvSpPr txBox="1"/>
          <p:nvPr/>
        </p:nvSpPr>
        <p:spPr>
          <a:xfrm>
            <a:off x="6596064" y="5786438"/>
            <a:ext cx="32861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ar-JO" sz="1200" dirty="0">
                <a:solidFill>
                  <a:schemeClr val="accent1"/>
                </a:solidFill>
                <a:cs typeface="Arial" panose="020B0604020202020204" pitchFamily="34" charset="0"/>
              </a:rPr>
              <a:t>http://gslc.genetics.utah.edu/units/activities/</a:t>
            </a:r>
            <a:endParaRPr lang="en-US" altLang="ar-JO" sz="1200" dirty="0">
              <a:solidFill>
                <a:schemeClr val="accent1"/>
              </a:solidFill>
              <a:cs typeface="Arial" panose="020B0604020202020204" pitchFamily="34" charset="0"/>
            </a:endParaRP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ar-JO" sz="1200" dirty="0">
                <a:solidFill>
                  <a:schemeClr val="accent1"/>
                </a:solidFill>
                <a:cs typeface="Arial" panose="020B0604020202020204" pitchFamily="34" charset="0"/>
              </a:rPr>
              <a:t>extraction</a:t>
            </a:r>
            <a:endParaRPr lang="en-US" altLang="ar-JO" sz="1200" dirty="0">
              <a:solidFill>
                <a:schemeClr val="accent1"/>
              </a:solidFill>
              <a:ea typeface="Arial" panose="020B0604020202020204" pitchFamily="34" charset="0"/>
            </a:endParaRPr>
          </a:p>
        </p:txBody>
      </p:sp>
    </p:spTree>
  </p:cSld>
  <p:clrMapOvr>
    <a:masterClrMapping/>
  </p:clrMapOvr>
  <p:transition spd="slow" advTm="20084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2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/>
          <a:p>
            <a:pPr>
              <a:spcBef>
                <a:spcPct val="0"/>
              </a:spcBef>
            </a:pPr>
            <a:fld id="{9A0DB2DC-4C9A-4742-B13C-FB6460FD3503}" type="slidenum">
              <a:rPr lang="en-US" altLang="ar-JO" dirty="0">
                <a:solidFill>
                  <a:srgbClr val="898989"/>
                </a:solidFill>
                <a:cs typeface="Arial" panose="020B0604020202020204" pitchFamily="34" charset="0"/>
              </a:rPr>
            </a:fld>
            <a:endParaRPr lang="en-US" altLang="ar-JO" dirty="0">
              <a:solidFill>
                <a:srgbClr val="898989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2309812" y="984958"/>
            <a:ext cx="7500938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/>
          <p:cNvSpPr txBox="1"/>
          <p:nvPr/>
        </p:nvSpPr>
        <p:spPr>
          <a:xfrm>
            <a:off x="2343150" y="214313"/>
            <a:ext cx="7467600" cy="48895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Types of Methods</a:t>
            </a:r>
            <a:endParaRPr lang="en-US" sz="3200" b="1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317" name="Text Box 4"/>
          <p:cNvSpPr txBox="1"/>
          <p:nvPr/>
        </p:nvSpPr>
        <p:spPr>
          <a:xfrm>
            <a:off x="1069145" y="1643064"/>
            <a:ext cx="6669918" cy="415448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71450" indent="-171450">
              <a:spcBef>
                <a:spcPct val="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altLang="ar-JO" sz="2800" b="1" dirty="0">
                <a:cs typeface="Arial" panose="020B0604020202020204" pitchFamily="34" charset="0"/>
              </a:rPr>
              <a:t>  Differential solubility</a:t>
            </a:r>
            <a:endParaRPr lang="en-US" altLang="ar-JO" sz="2800" b="1" dirty="0">
              <a:cs typeface="Arial" panose="020B0604020202020204" pitchFamily="34" charset="0"/>
            </a:endParaRPr>
          </a:p>
          <a:p>
            <a:pPr marL="171450" indent="-171450">
              <a:spcBef>
                <a:spcPct val="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</a:pPr>
            <a:endParaRPr lang="en-US" altLang="ar-JO" sz="1200" b="1" dirty="0">
              <a:cs typeface="Arial" panose="020B0604020202020204" pitchFamily="34" charset="0"/>
            </a:endParaRPr>
          </a:p>
          <a:p>
            <a:pPr marL="628650" lvl="1" indent="-171450"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ar-JO" b="1" dirty="0">
                <a:cs typeface="Arial" panose="020B0604020202020204" pitchFamily="34" charset="0"/>
              </a:rPr>
              <a:t> </a:t>
            </a:r>
            <a:r>
              <a:rPr lang="en-US" altLang="ar-JO" dirty="0">
                <a:cs typeface="Arial" panose="020B0604020202020204" pitchFamily="34" charset="0"/>
              </a:rPr>
              <a:t>Organic solvents</a:t>
            </a:r>
            <a:endParaRPr lang="en-US" altLang="ar-JO" dirty="0">
              <a:cs typeface="Arial" panose="020B0604020202020204" pitchFamily="34" charset="0"/>
            </a:endParaRPr>
          </a:p>
          <a:p>
            <a:pPr marL="628650" lvl="1" indent="-171450"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ar-JO" dirty="0">
                <a:cs typeface="Arial" panose="020B0604020202020204" pitchFamily="34" charset="0"/>
              </a:rPr>
              <a:t> Salting-out</a:t>
            </a:r>
            <a:endParaRPr lang="en-US" altLang="ar-JO" dirty="0">
              <a:cs typeface="Arial" panose="020B0604020202020204" pitchFamily="34" charset="0"/>
            </a:endParaRPr>
          </a:p>
          <a:p>
            <a:pPr marL="628650" lvl="1" indent="-171450"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ar-JO" dirty="0">
              <a:cs typeface="Arial" panose="020B0604020202020204" pitchFamily="34" charset="0"/>
            </a:endParaRPr>
          </a:p>
          <a:p>
            <a:pPr marL="628650" lvl="1" indent="-171450"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ar-JO" dirty="0">
              <a:cs typeface="Arial" panose="020B0604020202020204" pitchFamily="34" charset="0"/>
            </a:endParaRPr>
          </a:p>
          <a:p>
            <a:pPr marL="171450" indent="-171450">
              <a:spcBef>
                <a:spcPct val="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altLang="ar-JO" sz="2800" b="1" dirty="0">
                <a:cs typeface="Arial" panose="020B0604020202020204" pitchFamily="34" charset="0"/>
              </a:rPr>
              <a:t>  Adsorption methods</a:t>
            </a:r>
            <a:endParaRPr lang="en-US" altLang="ar-JO" sz="2800" b="1" dirty="0">
              <a:cs typeface="Arial" panose="020B0604020202020204" pitchFamily="34" charset="0"/>
            </a:endParaRPr>
          </a:p>
          <a:p>
            <a:pPr marL="171450" indent="-171450">
              <a:spcBef>
                <a:spcPct val="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</a:pPr>
            <a:endParaRPr lang="en-US" altLang="ar-JO" sz="2800" b="1" dirty="0">
              <a:cs typeface="Arial" panose="020B0604020202020204" pitchFamily="34" charset="0"/>
            </a:endParaRPr>
          </a:p>
          <a:p>
            <a:pPr marL="171450" indent="-171450">
              <a:spcBef>
                <a:spcPct val="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</a:pPr>
            <a:endParaRPr lang="en-US" altLang="ar-JO" sz="2800" b="1" dirty="0">
              <a:cs typeface="Arial" panose="020B0604020202020204" pitchFamily="34" charset="0"/>
            </a:endParaRPr>
          </a:p>
          <a:p>
            <a:pPr marL="171450" indent="-171450">
              <a:spcBef>
                <a:spcPct val="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altLang="ar-JO" sz="2800" b="1" dirty="0">
                <a:cs typeface="Arial" panose="020B0604020202020204" pitchFamily="34" charset="0"/>
              </a:rPr>
              <a:t>  Density gradient centrifugation</a:t>
            </a:r>
            <a:endParaRPr lang="en-US" altLang="ar-JO" sz="2800" b="1" dirty="0">
              <a:ea typeface="Arial" panose="020B0604020202020204" pitchFamily="34" charset="0"/>
            </a:endParaRPr>
          </a:p>
        </p:txBody>
      </p:sp>
      <p:pic>
        <p:nvPicPr>
          <p:cNvPr id="13318" name="Picture 2" descr="http://openwetware.org/images/thumb/b/b9/DNA_extraction_w_phenol_chloroform.jpg/200px-DNA_extraction_w_phenol_chloroform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1" y="1285875"/>
            <a:ext cx="1539875" cy="17859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9" name="TextBox 8"/>
          <p:cNvSpPr txBox="1"/>
          <p:nvPr/>
        </p:nvSpPr>
        <p:spPr>
          <a:xfrm>
            <a:off x="7810501" y="3071813"/>
            <a:ext cx="21431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ar-JO" sz="1200" dirty="0">
                <a:solidFill>
                  <a:schemeClr val="accent1"/>
                </a:solidFill>
                <a:cs typeface="Arial" panose="020B0604020202020204" pitchFamily="34" charset="0"/>
              </a:rPr>
              <a:t>openwetware.org/wiki/Phenol/chloroform_extraction</a:t>
            </a:r>
            <a:endParaRPr lang="en-US" altLang="ar-JO" sz="1200" dirty="0">
              <a:solidFill>
                <a:schemeClr val="accent1"/>
              </a:solidFill>
              <a:ea typeface="Arial" panose="020B0604020202020204" pitchFamily="34" charset="0"/>
            </a:endParaRPr>
          </a:p>
        </p:txBody>
      </p:sp>
      <p:pic>
        <p:nvPicPr>
          <p:cNvPr id="13320" name="Picture 5" descr="grdnt4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126" y="4214813"/>
            <a:ext cx="1285875" cy="19288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21" name="TextBox 11"/>
          <p:cNvSpPr txBox="1"/>
          <p:nvPr/>
        </p:nvSpPr>
        <p:spPr>
          <a:xfrm>
            <a:off x="8024813" y="6143626"/>
            <a:ext cx="164306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ar-JO" sz="1200" dirty="0">
                <a:solidFill>
                  <a:schemeClr val="accent1"/>
                </a:solidFill>
                <a:cs typeface="Arial" panose="020B0604020202020204" pitchFamily="34" charset="0"/>
              </a:rPr>
              <a:t>https://classshares.student.usp.ac.fj</a:t>
            </a:r>
            <a:endParaRPr lang="en-US" altLang="ar-JO" sz="1200" dirty="0">
              <a:solidFill>
                <a:schemeClr val="accent1"/>
              </a:solidFill>
              <a:ea typeface="Arial" panose="020B0604020202020204" pitchFamily="34" charset="0"/>
            </a:endParaRPr>
          </a:p>
        </p:txBody>
      </p:sp>
    </p:spTree>
  </p:cSld>
  <p:clrMapOvr>
    <a:masterClrMapping/>
  </p:clrMapOvr>
  <p:transition spd="slow" advTm="57013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Adsorption method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86000" y="2210594"/>
            <a:ext cx="7620000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1"/>
          <a:srcRect b="929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4124325" y="928688"/>
            <a:ext cx="7917620" cy="2166203"/>
          </a:xfrm>
          <a:prstGeom prst="round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sz="1400" b="1" dirty="0">
                <a:solidFill>
                  <a:schemeClr val="accent1"/>
                </a:solidFill>
              </a:rPr>
              <a:t>EDTA</a:t>
            </a:r>
            <a:r>
              <a:rPr lang="en-US" sz="1400" dirty="0"/>
              <a:t> binds up Mg++ ions, which is a necessary cofactor of </a:t>
            </a:r>
            <a:r>
              <a:rPr lang="en-US" sz="1400" dirty="0" err="1"/>
              <a:t>DNases</a:t>
            </a:r>
            <a:r>
              <a:rPr lang="en-US" sz="1400" dirty="0"/>
              <a:t>, which degrade the DNA. These ions interfere with the action of detergents. The EDTA binds to them(ions), sequestering them and preventing their interference. </a:t>
            </a:r>
            <a:endParaRPr lang="en-US" sz="1400" dirty="0"/>
          </a:p>
          <a:p>
            <a:pPr>
              <a:defRPr/>
            </a:pPr>
            <a:r>
              <a:rPr lang="en-US" sz="1400" dirty="0"/>
              <a:t>	</a:t>
            </a:r>
            <a:endParaRPr lang="en-US" sz="1400" dirty="0"/>
          </a:p>
          <a:p>
            <a:pPr>
              <a:defRPr/>
            </a:pPr>
            <a:r>
              <a:rPr lang="en-US" sz="1400" b="1" dirty="0">
                <a:solidFill>
                  <a:schemeClr val="accent1"/>
                </a:solidFill>
              </a:rPr>
              <a:t>TRIS</a:t>
            </a:r>
            <a:r>
              <a:rPr lang="en-US" sz="1400" dirty="0"/>
              <a:t> – to maintain the pH of the DNA</a:t>
            </a:r>
            <a:endParaRPr lang="en-US" sz="1400" dirty="0"/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ZA" sz="1400" b="1" dirty="0">
                <a:solidFill>
                  <a:schemeClr val="accent1"/>
                </a:solidFill>
              </a:rPr>
              <a:t>SDS</a:t>
            </a:r>
            <a:r>
              <a:rPr lang="en-ZA" sz="1400" dirty="0"/>
              <a:t> which disrupts the lipid layers, helps to dissolve membranes &amp; binds positive charges of chromosomal proteins (</a:t>
            </a:r>
            <a:r>
              <a:rPr lang="en-ZA" sz="1400" i="1" dirty="0"/>
              <a:t>histones</a:t>
            </a:r>
            <a:r>
              <a:rPr lang="en-ZA" sz="1400" dirty="0"/>
              <a:t>) to release the DNA into the solution.</a:t>
            </a:r>
            <a:endParaRPr lang="en-ZA" sz="1400" dirty="0"/>
          </a:p>
          <a:p>
            <a:pPr>
              <a:defRPr/>
            </a:pPr>
            <a:endParaRPr lang="en-US" sz="1400" dirty="0"/>
          </a:p>
        </p:txBody>
      </p:sp>
      <p:sp>
        <p:nvSpPr>
          <p:cNvPr id="15363" name="Slide Number Placeholder 2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/>
          <a:p>
            <a:pPr>
              <a:spcBef>
                <a:spcPct val="0"/>
              </a:spcBef>
            </a:pPr>
            <a:fld id="{9A0DB2DC-4C9A-4742-B13C-FB6460FD3503}" type="slidenum">
              <a:rPr lang="en-US" altLang="ar-JO" dirty="0">
                <a:solidFill>
                  <a:srgbClr val="898989"/>
                </a:solidFill>
                <a:cs typeface="Arial" panose="020B0604020202020204" pitchFamily="34" charset="0"/>
              </a:rPr>
            </a:fld>
            <a:endParaRPr lang="en-US" altLang="ar-JO" dirty="0">
              <a:solidFill>
                <a:srgbClr val="898989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2309813" y="928688"/>
            <a:ext cx="7500938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/>
          <p:cNvSpPr txBox="1"/>
          <p:nvPr/>
        </p:nvSpPr>
        <p:spPr>
          <a:xfrm>
            <a:off x="2343150" y="214313"/>
            <a:ext cx="7467600" cy="48895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3200" b="1" dirty="0">
                <a:solidFill>
                  <a:schemeClr val="accent1"/>
                </a:solidFill>
              </a:rPr>
              <a:t>Differential solubility / Organic solvents</a:t>
            </a:r>
            <a:endParaRPr lang="en-US" sz="3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381250" y="1357313"/>
            <a:ext cx="1785938" cy="12144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dirty="0"/>
              <a:t>Frozen fruit flies </a:t>
            </a:r>
            <a:endParaRPr lang="en-US" sz="1600" b="1" dirty="0"/>
          </a:p>
          <a:p>
            <a:pPr algn="ctr">
              <a:defRPr/>
            </a:pPr>
            <a:r>
              <a:rPr lang="en-US" sz="1600" b="1" dirty="0"/>
              <a:t>&amp; </a:t>
            </a:r>
            <a:endParaRPr lang="en-US" sz="1600" b="1" dirty="0"/>
          </a:p>
          <a:p>
            <a:pPr algn="ctr">
              <a:defRPr/>
            </a:pPr>
            <a:r>
              <a:rPr lang="en-US" sz="1600" b="1" dirty="0"/>
              <a:t>squishing buffer</a:t>
            </a:r>
            <a:endParaRPr lang="en-US" sz="1600" b="1" dirty="0"/>
          </a:p>
        </p:txBody>
      </p:sp>
      <p:sp>
        <p:nvSpPr>
          <p:cNvPr id="9" name="Rounded Rectangle 8"/>
          <p:cNvSpPr/>
          <p:nvPr/>
        </p:nvSpPr>
        <p:spPr>
          <a:xfrm>
            <a:off x="4095750" y="3214687"/>
            <a:ext cx="7917620" cy="1708151"/>
          </a:xfrm>
          <a:prstGeom prst="round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ZA" sz="1400" b="1" dirty="0" err="1">
                <a:solidFill>
                  <a:schemeClr val="accent1"/>
                </a:solidFill>
              </a:rPr>
              <a:t>NaCl</a:t>
            </a:r>
            <a:r>
              <a:rPr lang="en-ZA" sz="1400" dirty="0"/>
              <a:t> so that DNA is stabilised and remains as a double helix.</a:t>
            </a:r>
            <a:endParaRPr lang="en-ZA" sz="1400" dirty="0"/>
          </a:p>
          <a:p>
            <a:pPr>
              <a:defRPr/>
            </a:pPr>
            <a:r>
              <a:rPr lang="en-ZA" sz="1400" dirty="0"/>
              <a:t> </a:t>
            </a:r>
            <a:endParaRPr lang="en-ZA" sz="1400" dirty="0"/>
          </a:p>
          <a:p>
            <a:pPr>
              <a:defRPr/>
            </a:pPr>
            <a:r>
              <a:rPr lang="en-ZA" sz="1400" b="1" dirty="0">
                <a:solidFill>
                  <a:schemeClr val="accent1"/>
                </a:solidFill>
              </a:rPr>
              <a:t>SDS</a:t>
            </a:r>
            <a:r>
              <a:rPr lang="en-ZA" sz="1400" dirty="0"/>
              <a:t> which disrupts the lipid layers, helps to dissolve membranes &amp; binds positive charges of chromosomal proteins (</a:t>
            </a:r>
            <a:r>
              <a:rPr lang="en-ZA" sz="1400" i="1" dirty="0" err="1"/>
              <a:t>histones</a:t>
            </a:r>
            <a:r>
              <a:rPr lang="en-ZA" sz="1400" dirty="0"/>
              <a:t>) to release the DNA into the solution.</a:t>
            </a:r>
            <a:endParaRPr lang="en-ZA" sz="1400" dirty="0"/>
          </a:p>
          <a:p>
            <a:pPr>
              <a:defRPr/>
            </a:pPr>
            <a:endParaRPr lang="en-ZA" sz="1400" dirty="0"/>
          </a:p>
          <a:p>
            <a:pPr>
              <a:defRPr/>
            </a:pPr>
            <a:r>
              <a:rPr lang="en-ZA" sz="1400" b="1" i="1" dirty="0" err="1">
                <a:solidFill>
                  <a:schemeClr val="accent1"/>
                </a:solidFill>
              </a:rPr>
              <a:t>Proteinase</a:t>
            </a:r>
            <a:r>
              <a:rPr lang="en-ZA" sz="1400" b="1" i="1" dirty="0">
                <a:solidFill>
                  <a:schemeClr val="accent1"/>
                </a:solidFill>
              </a:rPr>
              <a:t> K</a:t>
            </a:r>
            <a:r>
              <a:rPr lang="en-ZA" sz="1400" dirty="0"/>
              <a:t> to digest the proteins, </a:t>
            </a:r>
            <a:r>
              <a:rPr lang="en-ZA" sz="1400" dirty="0" err="1"/>
              <a:t>deproteinization</a:t>
            </a:r>
            <a:r>
              <a:rPr lang="en-ZA" sz="1400" dirty="0"/>
              <a:t> of DNA and inactivation of </a:t>
            </a:r>
            <a:r>
              <a:rPr lang="en-ZA" sz="1400" dirty="0" err="1"/>
              <a:t>DNAse</a:t>
            </a:r>
            <a:r>
              <a:rPr lang="en-ZA" sz="1400" dirty="0"/>
              <a:t> </a:t>
            </a:r>
            <a:r>
              <a:rPr lang="en-ZA" sz="1400" b="1" dirty="0"/>
              <a:t>elevated temperature</a:t>
            </a:r>
            <a:r>
              <a:rPr lang="en-ZA" sz="1400" dirty="0"/>
              <a:t> (Also </a:t>
            </a:r>
            <a:r>
              <a:rPr lang="en-US" altLang="en-ZA" sz="1400" dirty="0"/>
              <a:t>65</a:t>
            </a:r>
            <a:r>
              <a:rPr lang="en-ZA" sz="1400" baseline="30000" dirty="0"/>
              <a:t>o</a:t>
            </a:r>
            <a:r>
              <a:rPr lang="en-ZA" sz="1400" dirty="0"/>
              <a:t>C to inhibit degradation by </a:t>
            </a:r>
            <a:r>
              <a:rPr lang="en-ZA" sz="1400" dirty="0" err="1"/>
              <a:t>DNAses</a:t>
            </a:r>
            <a:r>
              <a:rPr lang="en-ZA" sz="1400" dirty="0"/>
              <a:t>). </a:t>
            </a:r>
            <a:endParaRPr lang="en-GB" sz="1400" dirty="0"/>
          </a:p>
        </p:txBody>
      </p:sp>
      <p:sp>
        <p:nvSpPr>
          <p:cNvPr id="10" name="Rounded Rectangle 9">
            <a:hlinkClick r:id="" action="ppaction://noaction"/>
          </p:cNvPr>
          <p:cNvSpPr/>
          <p:nvPr/>
        </p:nvSpPr>
        <p:spPr>
          <a:xfrm>
            <a:off x="2381250" y="3214688"/>
            <a:ext cx="1785938" cy="14287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dirty="0"/>
              <a:t>Fruit flies Lysis with </a:t>
            </a:r>
            <a:endParaRPr lang="en-US" sz="1600" b="1" dirty="0"/>
          </a:p>
          <a:p>
            <a:pPr algn="ctr">
              <a:defRPr/>
            </a:pPr>
            <a:r>
              <a:rPr lang="en-US" sz="1600" b="1" dirty="0"/>
              <a:t>Detergent (SDS)</a:t>
            </a:r>
            <a:endParaRPr lang="en-US" sz="1600" b="1" dirty="0"/>
          </a:p>
          <a:p>
            <a:pPr algn="ctr">
              <a:defRPr/>
            </a:pPr>
            <a:r>
              <a:rPr lang="en-US" sz="1600" b="1" dirty="0" err="1"/>
              <a:t>Proteinase</a:t>
            </a:r>
            <a:r>
              <a:rPr lang="en-US" sz="1600" b="1" dirty="0"/>
              <a:t> k</a:t>
            </a:r>
            <a:endParaRPr lang="en-US" sz="1600" b="1" dirty="0"/>
          </a:p>
          <a:p>
            <a:pPr algn="ctr">
              <a:defRPr/>
            </a:pPr>
            <a:r>
              <a:rPr lang="en-US" sz="1600" b="1" dirty="0" err="1"/>
              <a:t>NaCl</a:t>
            </a:r>
            <a:endParaRPr lang="en-US" sz="1600" b="1" dirty="0"/>
          </a:p>
        </p:txBody>
      </p:sp>
      <p:sp>
        <p:nvSpPr>
          <p:cNvPr id="11" name="Rounded Rectangle 10"/>
          <p:cNvSpPr/>
          <p:nvPr/>
        </p:nvSpPr>
        <p:spPr>
          <a:xfrm>
            <a:off x="1952626" y="1714501"/>
            <a:ext cx="500063" cy="50006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A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1952626" y="3643314"/>
            <a:ext cx="500063" cy="50006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B</a:t>
            </a:r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4095750" y="5214938"/>
            <a:ext cx="7917620" cy="1214438"/>
          </a:xfrm>
          <a:prstGeom prst="round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ZA" sz="1400" b="1" dirty="0">
                <a:solidFill>
                  <a:schemeClr val="accent1"/>
                </a:solidFill>
              </a:rPr>
              <a:t>Phenol</a:t>
            </a:r>
            <a:r>
              <a:rPr lang="en-ZA" sz="1400" dirty="0"/>
              <a:t> removes proteins</a:t>
            </a:r>
            <a:endParaRPr lang="en-ZA" sz="1400" dirty="0"/>
          </a:p>
          <a:p>
            <a:pPr>
              <a:defRPr/>
            </a:pPr>
            <a:r>
              <a:rPr lang="en-ZA" sz="1400" dirty="0"/>
              <a:t> </a:t>
            </a:r>
            <a:endParaRPr lang="en-ZA" sz="1400" dirty="0"/>
          </a:p>
          <a:p>
            <a:pPr>
              <a:defRPr/>
            </a:pPr>
            <a:r>
              <a:rPr lang="en-ZA" sz="1400" b="1" dirty="0">
                <a:solidFill>
                  <a:schemeClr val="accent1"/>
                </a:solidFill>
              </a:rPr>
              <a:t>Chloroform &amp; </a:t>
            </a:r>
            <a:r>
              <a:rPr lang="en-ZA" sz="1400" b="1" dirty="0" err="1">
                <a:solidFill>
                  <a:schemeClr val="accent1"/>
                </a:solidFill>
              </a:rPr>
              <a:t>isoamyl</a:t>
            </a:r>
            <a:r>
              <a:rPr lang="en-ZA" sz="1400" b="1" dirty="0">
                <a:solidFill>
                  <a:schemeClr val="accent1"/>
                </a:solidFill>
              </a:rPr>
              <a:t> alcohol </a:t>
            </a:r>
            <a:r>
              <a:rPr lang="en-ZA" sz="1400" dirty="0"/>
              <a:t> remove phenol &amp; lipids &amp; carbohydrates</a:t>
            </a:r>
            <a:endParaRPr lang="en-ZA" sz="1400" dirty="0"/>
          </a:p>
        </p:txBody>
      </p:sp>
      <p:sp>
        <p:nvSpPr>
          <p:cNvPr id="14" name="Rounded Rectangle 13"/>
          <p:cNvSpPr/>
          <p:nvPr/>
        </p:nvSpPr>
        <p:spPr>
          <a:xfrm>
            <a:off x="2381250" y="5214938"/>
            <a:ext cx="1785938" cy="12144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dirty="0"/>
              <a:t>Organic solvent extraction</a:t>
            </a:r>
            <a:endParaRPr lang="en-US" sz="1600" b="1" dirty="0"/>
          </a:p>
          <a:p>
            <a:pPr algn="ctr">
              <a:defRPr/>
            </a:pPr>
            <a:r>
              <a:rPr lang="en-US" sz="1600" b="1" dirty="0"/>
              <a:t>(</a:t>
            </a:r>
            <a:r>
              <a:rPr lang="en-US" sz="1600" b="1" dirty="0" err="1"/>
              <a:t>phenol:chloroform:isoamyl</a:t>
            </a:r>
            <a:r>
              <a:rPr lang="en-US" sz="1600" b="1" dirty="0"/>
              <a:t> alcohol)</a:t>
            </a:r>
            <a:endParaRPr lang="en-US" sz="1600" b="1" dirty="0"/>
          </a:p>
        </p:txBody>
      </p:sp>
      <p:sp>
        <p:nvSpPr>
          <p:cNvPr id="15" name="Rounded Rectangle 14"/>
          <p:cNvSpPr/>
          <p:nvPr/>
        </p:nvSpPr>
        <p:spPr>
          <a:xfrm>
            <a:off x="1952626" y="5572126"/>
            <a:ext cx="500063" cy="50006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C</a:t>
            </a:r>
            <a:endParaRPr lang="en-US" dirty="0"/>
          </a:p>
        </p:txBody>
      </p:sp>
    </p:spTree>
  </p:cSld>
  <p:clrMapOvr>
    <a:masterClrMapping/>
  </p:clrMapOvr>
  <p:transition spd="slow" advTm="21959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2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/>
          <a:p>
            <a:pPr>
              <a:spcBef>
                <a:spcPct val="0"/>
              </a:spcBef>
            </a:pPr>
            <a:fld id="{9A0DB2DC-4C9A-4742-B13C-FB6460FD3503}" type="slidenum">
              <a:rPr lang="en-US" altLang="ar-JO" dirty="0">
                <a:solidFill>
                  <a:srgbClr val="898989"/>
                </a:solidFill>
                <a:cs typeface="Arial" panose="020B0604020202020204" pitchFamily="34" charset="0"/>
              </a:rPr>
            </a:fld>
            <a:endParaRPr lang="en-US" altLang="ar-JO" dirty="0">
              <a:solidFill>
                <a:srgbClr val="898989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095749" y="1428750"/>
            <a:ext cx="7847721" cy="1295618"/>
          </a:xfrm>
          <a:prstGeom prst="round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sz="1400" b="1" dirty="0">
                <a:solidFill>
                  <a:schemeClr val="accent1"/>
                </a:solidFill>
              </a:rPr>
              <a:t>Sodium Salt </a:t>
            </a:r>
            <a:r>
              <a:rPr lang="en-US" sz="1400" dirty="0"/>
              <a:t>– Na+ ions bind to DNA, decreasing its negative charge allowing DNA molecules to come closer together and spool. </a:t>
            </a:r>
            <a:r>
              <a:rPr lang="en-US" sz="1400" dirty="0" err="1"/>
              <a:t>NaCl</a:t>
            </a:r>
            <a:r>
              <a:rPr lang="en-US" sz="1400" dirty="0"/>
              <a:t> is to keep the DNA in its double helix form, otherwise it would denature and become "</a:t>
            </a:r>
            <a:r>
              <a:rPr lang="en-US" sz="1400" dirty="0" err="1"/>
              <a:t>ssDNA</a:t>
            </a:r>
            <a:r>
              <a:rPr lang="en-US" sz="1400" dirty="0"/>
              <a:t>”.</a:t>
            </a:r>
            <a:endParaRPr lang="en-US" sz="1400" dirty="0"/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b="1" dirty="0" err="1">
                <a:solidFill>
                  <a:schemeClr val="accent1"/>
                </a:solidFill>
              </a:rPr>
              <a:t>Alcoholol</a:t>
            </a:r>
            <a:r>
              <a:rPr lang="en-US" sz="1400" dirty="0">
                <a:solidFill>
                  <a:schemeClr val="accent1"/>
                </a:solidFill>
              </a:rPr>
              <a:t> </a:t>
            </a:r>
            <a:r>
              <a:rPr lang="en-US" sz="1400" dirty="0"/>
              <a:t>– precipitate DNA which is repelled by </a:t>
            </a:r>
            <a:r>
              <a:rPr lang="en-US" sz="1400" dirty="0" err="1"/>
              <a:t>nonpolar</a:t>
            </a:r>
            <a:r>
              <a:rPr lang="en-US" sz="1400" dirty="0"/>
              <a:t> solutions.</a:t>
            </a:r>
            <a:endParaRPr lang="en-US" sz="1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2309813" y="928688"/>
            <a:ext cx="7500938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4"/>
          <p:cNvSpPr txBox="1"/>
          <p:nvPr/>
        </p:nvSpPr>
        <p:spPr>
          <a:xfrm>
            <a:off x="2343150" y="214313"/>
            <a:ext cx="7467600" cy="48895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3200" b="1" dirty="0">
                <a:solidFill>
                  <a:schemeClr val="accent1"/>
                </a:solidFill>
              </a:rPr>
              <a:t>Differential solubility / Organic solvents</a:t>
            </a:r>
            <a:endParaRPr lang="en-US" sz="3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381250" y="1428750"/>
            <a:ext cx="1785938" cy="12144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dirty="0"/>
              <a:t>DNA precipitation by </a:t>
            </a:r>
            <a:r>
              <a:rPr lang="en-US" sz="1600" b="1" dirty="0" err="1"/>
              <a:t>isopropanol</a:t>
            </a:r>
            <a:r>
              <a:rPr lang="en-US" sz="1600" b="1" dirty="0"/>
              <a:t>/ethanol &amp; sodium salt</a:t>
            </a:r>
            <a:endParaRPr lang="en-US" sz="1600" b="1" dirty="0"/>
          </a:p>
        </p:txBody>
      </p:sp>
      <p:sp>
        <p:nvSpPr>
          <p:cNvPr id="9" name="Rounded Rectangle 8"/>
          <p:cNvSpPr/>
          <p:nvPr/>
        </p:nvSpPr>
        <p:spPr>
          <a:xfrm>
            <a:off x="4095750" y="3357564"/>
            <a:ext cx="5786438" cy="1000125"/>
          </a:xfrm>
          <a:prstGeom prst="round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sz="1400" b="1" dirty="0">
                <a:solidFill>
                  <a:schemeClr val="accent1"/>
                </a:solidFill>
              </a:rPr>
              <a:t>70% ethanol</a:t>
            </a:r>
            <a:r>
              <a:rPr lang="en-US" sz="1400" dirty="0">
                <a:solidFill>
                  <a:schemeClr val="accent1"/>
                </a:solidFill>
              </a:rPr>
              <a:t> - </a:t>
            </a:r>
            <a:r>
              <a:rPr lang="en-US" sz="1400" dirty="0"/>
              <a:t>Wash the DNA to remove  residual salts and other contaminants</a:t>
            </a:r>
            <a:r>
              <a:rPr lang="en-ZA" sz="1400" dirty="0"/>
              <a:t>. </a:t>
            </a:r>
            <a:endParaRPr lang="en-GB" sz="1400" dirty="0"/>
          </a:p>
        </p:txBody>
      </p:sp>
      <p:sp>
        <p:nvSpPr>
          <p:cNvPr id="10" name="Rounded Rectangle 9"/>
          <p:cNvSpPr/>
          <p:nvPr/>
        </p:nvSpPr>
        <p:spPr>
          <a:xfrm>
            <a:off x="2381250" y="3357564"/>
            <a:ext cx="1785938" cy="10001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dirty="0"/>
              <a:t>DNA washing by 70% ethanol</a:t>
            </a:r>
            <a:endParaRPr lang="en-US" sz="1600" b="1" dirty="0"/>
          </a:p>
        </p:txBody>
      </p:sp>
      <p:sp>
        <p:nvSpPr>
          <p:cNvPr id="11" name="Rounded Rectangle 10"/>
          <p:cNvSpPr/>
          <p:nvPr/>
        </p:nvSpPr>
        <p:spPr>
          <a:xfrm>
            <a:off x="1952626" y="1785939"/>
            <a:ext cx="500063" cy="50006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D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1952626" y="3571876"/>
            <a:ext cx="500063" cy="50006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E</a:t>
            </a:r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4095750" y="5072064"/>
            <a:ext cx="5786438" cy="1071563"/>
          </a:xfrm>
          <a:prstGeom prst="round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ZA" sz="1400" b="1" dirty="0">
                <a:solidFill>
                  <a:schemeClr val="accent1"/>
                </a:solidFill>
              </a:rPr>
              <a:t>Air drying</a:t>
            </a:r>
            <a:r>
              <a:rPr lang="en-ZA" sz="1400" dirty="0"/>
              <a:t> removes ethanol</a:t>
            </a:r>
            <a:endParaRPr lang="en-ZA" sz="1400" dirty="0"/>
          </a:p>
          <a:p>
            <a:pPr>
              <a:defRPr/>
            </a:pPr>
            <a:r>
              <a:rPr lang="en-ZA" sz="1400" dirty="0"/>
              <a:t> </a:t>
            </a:r>
            <a:endParaRPr lang="en-ZA" sz="1400" dirty="0"/>
          </a:p>
          <a:p>
            <a:pPr>
              <a:defRPr/>
            </a:pPr>
            <a:r>
              <a:rPr lang="en-ZA" sz="1400" b="1" dirty="0">
                <a:solidFill>
                  <a:schemeClr val="accent1"/>
                </a:solidFill>
              </a:rPr>
              <a:t>H</a:t>
            </a:r>
            <a:r>
              <a:rPr lang="en-ZA" sz="1400" b="1" baseline="-25000" dirty="0">
                <a:solidFill>
                  <a:schemeClr val="accent1"/>
                </a:solidFill>
              </a:rPr>
              <a:t>2</a:t>
            </a:r>
            <a:r>
              <a:rPr lang="en-ZA" sz="1400" b="1" dirty="0">
                <a:solidFill>
                  <a:schemeClr val="accent1"/>
                </a:solidFill>
              </a:rPr>
              <a:t>O or TE </a:t>
            </a:r>
            <a:r>
              <a:rPr lang="en-ZA" sz="1400" dirty="0"/>
              <a:t>dissolve DNA pellet</a:t>
            </a:r>
            <a:endParaRPr lang="en-ZA" sz="1400" dirty="0"/>
          </a:p>
        </p:txBody>
      </p:sp>
      <p:sp>
        <p:nvSpPr>
          <p:cNvPr id="14" name="Rounded Rectangle 13"/>
          <p:cNvSpPr/>
          <p:nvPr/>
        </p:nvSpPr>
        <p:spPr>
          <a:xfrm>
            <a:off x="2381250" y="5072064"/>
            <a:ext cx="1785938" cy="10715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dirty="0"/>
              <a:t>Air drying &amp; </a:t>
            </a:r>
            <a:r>
              <a:rPr lang="en-US" sz="1600" b="1" dirty="0" err="1"/>
              <a:t>resuspenstion</a:t>
            </a:r>
            <a:r>
              <a:rPr lang="en-US" sz="1600" b="1" dirty="0"/>
              <a:t> in sterile H</a:t>
            </a:r>
            <a:r>
              <a:rPr lang="en-US" sz="1600" b="1" baseline="-25000" dirty="0"/>
              <a:t>2</a:t>
            </a:r>
            <a:r>
              <a:rPr lang="en-US" sz="1600" b="1" dirty="0"/>
              <a:t>O or TE </a:t>
            </a:r>
            <a:endParaRPr lang="en-US" sz="1600" b="1" dirty="0"/>
          </a:p>
        </p:txBody>
      </p:sp>
      <p:sp>
        <p:nvSpPr>
          <p:cNvPr id="15" name="Rounded Rectangle 14"/>
          <p:cNvSpPr/>
          <p:nvPr/>
        </p:nvSpPr>
        <p:spPr>
          <a:xfrm>
            <a:off x="1952626" y="5357814"/>
            <a:ext cx="500063" cy="50006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F</a:t>
            </a:r>
            <a:endParaRPr lang="en-US" dirty="0"/>
          </a:p>
        </p:txBody>
      </p:sp>
    </p:spTree>
  </p:cSld>
  <p:clrMapOvr>
    <a:masterClrMapping/>
  </p:clrMapOvr>
  <p:transition spd="slow" advTm="645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37" name="Text Box 21"/>
          <p:cNvSpPr txBox="1"/>
          <p:nvPr/>
        </p:nvSpPr>
        <p:spPr>
          <a:xfrm>
            <a:off x="3738563" y="2635251"/>
            <a:ext cx="20066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ar-JO" sz="1400" dirty="0">
                <a:solidFill>
                  <a:srgbClr val="FF0000"/>
                </a:solidFill>
                <a:cs typeface="Arial" panose="020B0604020202020204" pitchFamily="34" charset="0"/>
              </a:rPr>
              <a:t>Add </a:t>
            </a:r>
            <a:r>
              <a:rPr sz="1400" dirty="0">
                <a:solidFill>
                  <a:srgbClr val="FF0000"/>
                </a:solidFill>
                <a:cs typeface="Arial" panose="020B0604020202020204" pitchFamily="34" charset="0"/>
              </a:rPr>
              <a:t>squishing</a:t>
            </a:r>
            <a:r>
              <a:rPr sz="1400" dirty="0"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FF0000"/>
                </a:solidFill>
                <a:cs typeface="Arial" panose="020B0604020202020204" pitchFamily="34" charset="0"/>
              </a:rPr>
              <a:t>buffer</a:t>
            </a:r>
            <a:r>
              <a:rPr sz="1400" dirty="0">
                <a:cs typeface="Arial" panose="020B0604020202020204" pitchFamily="34" charset="0"/>
              </a:rPr>
              <a:t> </a:t>
            </a:r>
            <a:r>
              <a:rPr lang="en-US" altLang="ar-JO" sz="1400" dirty="0">
                <a:solidFill>
                  <a:srgbClr val="FF0000"/>
                </a:solidFill>
                <a:cs typeface="Arial" panose="020B0604020202020204" pitchFamily="34" charset="0"/>
              </a:rPr>
              <a:t>&amp; </a:t>
            </a:r>
            <a:endParaRPr lang="en-US" altLang="ar-JO" sz="14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ar-JO" sz="1400" dirty="0">
                <a:solidFill>
                  <a:srgbClr val="FF0000"/>
                </a:solidFill>
                <a:cs typeface="Arial" panose="020B0604020202020204" pitchFamily="34" charset="0"/>
              </a:rPr>
              <a:t> Grinding  </a:t>
            </a:r>
            <a:endParaRPr lang="en-US" altLang="ar-JO" sz="1400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  <p:sp>
        <p:nvSpPr>
          <p:cNvPr id="86024" name="AutoShape 8"/>
          <p:cNvSpPr>
            <a:spLocks noChangeArrowheads="1"/>
          </p:cNvSpPr>
          <p:nvPr/>
        </p:nvSpPr>
        <p:spPr bwMode="auto">
          <a:xfrm rot="5400000">
            <a:off x="2547938" y="2684463"/>
            <a:ext cx="914400" cy="457200"/>
          </a:xfrm>
          <a:prstGeom prst="homePlate">
            <a:avLst>
              <a:gd name="adj" fmla="val 50000"/>
            </a:avLst>
          </a:prstGeom>
          <a:solidFill>
            <a:schemeClr val="accent6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484" name="Rectangle 9"/>
          <p:cNvSpPr/>
          <p:nvPr/>
        </p:nvSpPr>
        <p:spPr>
          <a:xfrm>
            <a:off x="2776538" y="2449513"/>
            <a:ext cx="457200" cy="2413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endParaRPr lang="ar-JO" altLang="ar-JO" sz="1800" dirty="0">
              <a:ea typeface="Arial" panose="020B0604020202020204" pitchFamily="34" charset="0"/>
            </a:endParaRPr>
          </a:p>
        </p:txBody>
      </p:sp>
      <p:sp>
        <p:nvSpPr>
          <p:cNvPr id="20485" name="Line 10"/>
          <p:cNvSpPr/>
          <p:nvPr/>
        </p:nvSpPr>
        <p:spPr>
          <a:xfrm flipV="1">
            <a:off x="2994025" y="3521075"/>
            <a:ext cx="0" cy="1752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oval" w="sm" len="sm"/>
          </a:ln>
        </p:spPr>
      </p:sp>
      <p:sp>
        <p:nvSpPr>
          <p:cNvPr id="20486" name="Text Box 11"/>
          <p:cNvSpPr txBox="1"/>
          <p:nvPr/>
        </p:nvSpPr>
        <p:spPr>
          <a:xfrm>
            <a:off x="2228850" y="5262564"/>
            <a:ext cx="1581150" cy="3079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sz="1400" dirty="0">
                <a:cs typeface="Arial" panose="020B0604020202020204" pitchFamily="34" charset="0"/>
              </a:rPr>
              <a:t>Frozen fruit flies</a:t>
            </a:r>
            <a:endParaRPr lang="en-US" altLang="ar-JO" sz="1400" dirty="0">
              <a:ea typeface="Arial" panose="020B0604020202020204" pitchFamily="34" charset="0"/>
            </a:endParaRPr>
          </a:p>
        </p:txBody>
      </p:sp>
      <p:sp>
        <p:nvSpPr>
          <p:cNvPr id="86033" name="AutoShape 17"/>
          <p:cNvSpPr/>
          <p:nvPr/>
        </p:nvSpPr>
        <p:spPr>
          <a:xfrm rot="5400000">
            <a:off x="5757863" y="2659063"/>
            <a:ext cx="914400" cy="457200"/>
          </a:xfrm>
          <a:prstGeom prst="homePlate">
            <a:avLst>
              <a:gd name="adj" fmla="val 50000"/>
            </a:avLst>
          </a:prstGeom>
          <a:blipFill rotWithShape="1">
            <a:blip r:embed="rId1"/>
          </a:blip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endParaRPr lang="ar-JO" altLang="ar-JO" sz="1800" dirty="0">
              <a:ea typeface="Arial" panose="020B0604020202020204" pitchFamily="34" charset="0"/>
            </a:endParaRPr>
          </a:p>
        </p:txBody>
      </p:sp>
      <p:sp>
        <p:nvSpPr>
          <p:cNvPr id="86034" name="Rectangle 18"/>
          <p:cNvSpPr/>
          <p:nvPr/>
        </p:nvSpPr>
        <p:spPr>
          <a:xfrm>
            <a:off x="5986463" y="2424113"/>
            <a:ext cx="457200" cy="3175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endParaRPr lang="ar-JO" altLang="ar-JO" sz="1800" dirty="0">
              <a:ea typeface="Arial" panose="020B0604020202020204" pitchFamily="34" charset="0"/>
            </a:endParaRPr>
          </a:p>
        </p:txBody>
      </p:sp>
      <p:sp>
        <p:nvSpPr>
          <p:cNvPr id="86036" name="Line 20"/>
          <p:cNvSpPr/>
          <p:nvPr/>
        </p:nvSpPr>
        <p:spPr>
          <a:xfrm>
            <a:off x="3614738" y="2887664"/>
            <a:ext cx="2000250" cy="158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6041" name="Line 25"/>
          <p:cNvSpPr/>
          <p:nvPr/>
        </p:nvSpPr>
        <p:spPr>
          <a:xfrm flipV="1">
            <a:off x="8705850" y="3481388"/>
            <a:ext cx="0" cy="17653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oval" w="sm" len="sm"/>
          </a:ln>
        </p:spPr>
      </p:sp>
      <p:sp>
        <p:nvSpPr>
          <p:cNvPr id="86042" name="Text Box 26"/>
          <p:cNvSpPr txBox="1"/>
          <p:nvPr/>
        </p:nvSpPr>
        <p:spPr>
          <a:xfrm>
            <a:off x="7772401" y="5241926"/>
            <a:ext cx="1857375" cy="5238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ar-JO" sz="1400" dirty="0">
                <a:cs typeface="Arial" panose="020B0604020202020204" pitchFamily="34" charset="0"/>
              </a:rPr>
              <a:t>Cells are lysed, DNA in solution</a:t>
            </a:r>
            <a:endParaRPr lang="en-US" altLang="ar-JO" sz="1400" dirty="0">
              <a:ea typeface="Arial" panose="020B0604020202020204" pitchFamily="34" charset="0"/>
            </a:endParaRPr>
          </a:p>
        </p:txBody>
      </p:sp>
      <p:sp>
        <p:nvSpPr>
          <p:cNvPr id="86044" name="Line 28"/>
          <p:cNvSpPr/>
          <p:nvPr/>
        </p:nvSpPr>
        <p:spPr>
          <a:xfrm>
            <a:off x="6694488" y="2901950"/>
            <a:ext cx="1547812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6045" name="Text Box 29"/>
          <p:cNvSpPr txBox="1"/>
          <p:nvPr/>
        </p:nvSpPr>
        <p:spPr>
          <a:xfrm>
            <a:off x="6629401" y="2641601"/>
            <a:ext cx="153987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ar-JO" sz="1400" dirty="0">
                <a:solidFill>
                  <a:srgbClr val="FF0000"/>
                </a:solidFill>
                <a:cs typeface="Arial" panose="020B0604020202020204" pitchFamily="34" charset="0"/>
              </a:rPr>
              <a:t>Add lysis buffer &amp; proteinase K</a:t>
            </a:r>
            <a:endParaRPr lang="en-US" altLang="ar-JO" sz="1400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  <p:grpSp>
        <p:nvGrpSpPr>
          <p:cNvPr id="2" name="Group 55"/>
          <p:cNvGrpSpPr/>
          <p:nvPr/>
        </p:nvGrpSpPr>
        <p:grpSpPr>
          <a:xfrm>
            <a:off x="8486775" y="2424113"/>
            <a:ext cx="457200" cy="920750"/>
            <a:chOff x="7500958" y="2445415"/>
            <a:chExt cx="457200" cy="920750"/>
          </a:xfrm>
        </p:grpSpPr>
        <p:sp>
          <p:nvSpPr>
            <p:cNvPr id="86047" name="AutoShape 31"/>
            <p:cNvSpPr>
              <a:spLocks noChangeArrowheads="1"/>
            </p:cNvSpPr>
            <p:nvPr/>
          </p:nvSpPr>
          <p:spPr bwMode="auto">
            <a:xfrm rot="5400000">
              <a:off x="7272358" y="2680365"/>
              <a:ext cx="914400" cy="457200"/>
            </a:xfrm>
            <a:prstGeom prst="homePlate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501" name="Rectangle 32"/>
            <p:cNvSpPr/>
            <p:nvPr/>
          </p:nvSpPr>
          <p:spPr>
            <a:xfrm>
              <a:off x="7500958" y="2445415"/>
              <a:ext cx="457200" cy="31748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endParaRPr lang="ar-JO" altLang="ar-JO" sz="1800" dirty="0">
                <a:ea typeface="Arial" panose="020B0604020202020204" pitchFamily="34" charset="0"/>
              </a:endParaRPr>
            </a:p>
          </p:txBody>
        </p:sp>
        <p:sp>
          <p:nvSpPr>
            <p:cNvPr id="48" name="Freeform 47"/>
            <p:cNvSpPr/>
            <p:nvPr/>
          </p:nvSpPr>
          <p:spPr>
            <a:xfrm rot="1249322">
              <a:off x="7554933" y="2762915"/>
              <a:ext cx="160337" cy="73025"/>
            </a:xfrm>
            <a:custGeom>
              <a:avLst/>
              <a:gdLst>
                <a:gd name="connsiteX0" fmla="*/ 0 w 159795"/>
                <a:gd name="connsiteY0" fmla="*/ 73819 h 73819"/>
                <a:gd name="connsiteX1" fmla="*/ 11906 w 159795"/>
                <a:gd name="connsiteY1" fmla="*/ 61913 h 73819"/>
                <a:gd name="connsiteX2" fmla="*/ 14287 w 159795"/>
                <a:gd name="connsiteY2" fmla="*/ 54769 h 73819"/>
                <a:gd name="connsiteX3" fmla="*/ 30956 w 159795"/>
                <a:gd name="connsiteY3" fmla="*/ 47625 h 73819"/>
                <a:gd name="connsiteX4" fmla="*/ 42862 w 159795"/>
                <a:gd name="connsiteY4" fmla="*/ 45244 h 73819"/>
                <a:gd name="connsiteX5" fmla="*/ 128587 w 159795"/>
                <a:gd name="connsiteY5" fmla="*/ 42863 h 73819"/>
                <a:gd name="connsiteX6" fmla="*/ 133350 w 159795"/>
                <a:gd name="connsiteY6" fmla="*/ 35719 h 73819"/>
                <a:gd name="connsiteX7" fmla="*/ 147637 w 159795"/>
                <a:gd name="connsiteY7" fmla="*/ 26194 h 73819"/>
                <a:gd name="connsiteX8" fmla="*/ 152400 w 159795"/>
                <a:gd name="connsiteY8" fmla="*/ 16669 h 73819"/>
                <a:gd name="connsiteX9" fmla="*/ 157162 w 159795"/>
                <a:gd name="connsiteY9" fmla="*/ 9525 h 73819"/>
                <a:gd name="connsiteX10" fmla="*/ 159544 w 159795"/>
                <a:gd name="connsiteY10" fmla="*/ 0 h 7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9795" h="73819">
                  <a:moveTo>
                    <a:pt x="0" y="73819"/>
                  </a:moveTo>
                  <a:cubicBezTo>
                    <a:pt x="7145" y="69057"/>
                    <a:pt x="7937" y="69851"/>
                    <a:pt x="11906" y="61913"/>
                  </a:cubicBezTo>
                  <a:cubicBezTo>
                    <a:pt x="13028" y="59668"/>
                    <a:pt x="12719" y="56729"/>
                    <a:pt x="14287" y="54769"/>
                  </a:cubicBezTo>
                  <a:cubicBezTo>
                    <a:pt x="18262" y="49801"/>
                    <a:pt x="25393" y="48861"/>
                    <a:pt x="30956" y="47625"/>
                  </a:cubicBezTo>
                  <a:cubicBezTo>
                    <a:pt x="34907" y="46747"/>
                    <a:pt x="38820" y="45441"/>
                    <a:pt x="42862" y="45244"/>
                  </a:cubicBezTo>
                  <a:cubicBezTo>
                    <a:pt x="71414" y="43851"/>
                    <a:pt x="100012" y="43657"/>
                    <a:pt x="128587" y="42863"/>
                  </a:cubicBezTo>
                  <a:cubicBezTo>
                    <a:pt x="130175" y="40482"/>
                    <a:pt x="131196" y="37604"/>
                    <a:pt x="133350" y="35719"/>
                  </a:cubicBezTo>
                  <a:cubicBezTo>
                    <a:pt x="137657" y="31950"/>
                    <a:pt x="147637" y="26194"/>
                    <a:pt x="147637" y="26194"/>
                  </a:cubicBezTo>
                  <a:cubicBezTo>
                    <a:pt x="149225" y="23019"/>
                    <a:pt x="150639" y="19751"/>
                    <a:pt x="152400" y="16669"/>
                  </a:cubicBezTo>
                  <a:cubicBezTo>
                    <a:pt x="153820" y="14184"/>
                    <a:pt x="155882" y="12085"/>
                    <a:pt x="157162" y="9525"/>
                  </a:cubicBezTo>
                  <a:cubicBezTo>
                    <a:pt x="159795" y="4259"/>
                    <a:pt x="159544" y="4060"/>
                    <a:pt x="159544" y="0"/>
                  </a:cubicBezTo>
                </a:path>
              </a:pathLst>
            </a:cu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 rot="2794319">
              <a:off x="7757339" y="2855784"/>
              <a:ext cx="160337" cy="73025"/>
            </a:xfrm>
            <a:custGeom>
              <a:avLst/>
              <a:gdLst>
                <a:gd name="connsiteX0" fmla="*/ 0 w 159795"/>
                <a:gd name="connsiteY0" fmla="*/ 73819 h 73819"/>
                <a:gd name="connsiteX1" fmla="*/ 11906 w 159795"/>
                <a:gd name="connsiteY1" fmla="*/ 61913 h 73819"/>
                <a:gd name="connsiteX2" fmla="*/ 14287 w 159795"/>
                <a:gd name="connsiteY2" fmla="*/ 54769 h 73819"/>
                <a:gd name="connsiteX3" fmla="*/ 30956 w 159795"/>
                <a:gd name="connsiteY3" fmla="*/ 47625 h 73819"/>
                <a:gd name="connsiteX4" fmla="*/ 42862 w 159795"/>
                <a:gd name="connsiteY4" fmla="*/ 45244 h 73819"/>
                <a:gd name="connsiteX5" fmla="*/ 128587 w 159795"/>
                <a:gd name="connsiteY5" fmla="*/ 42863 h 73819"/>
                <a:gd name="connsiteX6" fmla="*/ 133350 w 159795"/>
                <a:gd name="connsiteY6" fmla="*/ 35719 h 73819"/>
                <a:gd name="connsiteX7" fmla="*/ 147637 w 159795"/>
                <a:gd name="connsiteY7" fmla="*/ 26194 h 73819"/>
                <a:gd name="connsiteX8" fmla="*/ 152400 w 159795"/>
                <a:gd name="connsiteY8" fmla="*/ 16669 h 73819"/>
                <a:gd name="connsiteX9" fmla="*/ 157162 w 159795"/>
                <a:gd name="connsiteY9" fmla="*/ 9525 h 73819"/>
                <a:gd name="connsiteX10" fmla="*/ 159544 w 159795"/>
                <a:gd name="connsiteY10" fmla="*/ 0 h 7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9795" h="73819">
                  <a:moveTo>
                    <a:pt x="0" y="73819"/>
                  </a:moveTo>
                  <a:cubicBezTo>
                    <a:pt x="7145" y="69057"/>
                    <a:pt x="7937" y="69851"/>
                    <a:pt x="11906" y="61913"/>
                  </a:cubicBezTo>
                  <a:cubicBezTo>
                    <a:pt x="13028" y="59668"/>
                    <a:pt x="12719" y="56729"/>
                    <a:pt x="14287" y="54769"/>
                  </a:cubicBezTo>
                  <a:cubicBezTo>
                    <a:pt x="18262" y="49801"/>
                    <a:pt x="25393" y="48861"/>
                    <a:pt x="30956" y="47625"/>
                  </a:cubicBezTo>
                  <a:cubicBezTo>
                    <a:pt x="34907" y="46747"/>
                    <a:pt x="38820" y="45441"/>
                    <a:pt x="42862" y="45244"/>
                  </a:cubicBezTo>
                  <a:cubicBezTo>
                    <a:pt x="71414" y="43851"/>
                    <a:pt x="100012" y="43657"/>
                    <a:pt x="128587" y="42863"/>
                  </a:cubicBezTo>
                  <a:cubicBezTo>
                    <a:pt x="130175" y="40482"/>
                    <a:pt x="131196" y="37604"/>
                    <a:pt x="133350" y="35719"/>
                  </a:cubicBezTo>
                  <a:cubicBezTo>
                    <a:pt x="137657" y="31950"/>
                    <a:pt x="147637" y="26194"/>
                    <a:pt x="147637" y="26194"/>
                  </a:cubicBezTo>
                  <a:cubicBezTo>
                    <a:pt x="149225" y="23019"/>
                    <a:pt x="150639" y="19751"/>
                    <a:pt x="152400" y="16669"/>
                  </a:cubicBezTo>
                  <a:cubicBezTo>
                    <a:pt x="153820" y="14184"/>
                    <a:pt x="155882" y="12085"/>
                    <a:pt x="157162" y="9525"/>
                  </a:cubicBezTo>
                  <a:cubicBezTo>
                    <a:pt x="159795" y="4259"/>
                    <a:pt x="159544" y="4060"/>
                    <a:pt x="159544" y="0"/>
                  </a:cubicBezTo>
                </a:path>
              </a:pathLst>
            </a:cu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 rot="6861355">
              <a:off x="7786708" y="3048665"/>
              <a:ext cx="160337" cy="74613"/>
            </a:xfrm>
            <a:custGeom>
              <a:avLst/>
              <a:gdLst>
                <a:gd name="connsiteX0" fmla="*/ 0 w 159795"/>
                <a:gd name="connsiteY0" fmla="*/ 73819 h 73819"/>
                <a:gd name="connsiteX1" fmla="*/ 11906 w 159795"/>
                <a:gd name="connsiteY1" fmla="*/ 61913 h 73819"/>
                <a:gd name="connsiteX2" fmla="*/ 14287 w 159795"/>
                <a:gd name="connsiteY2" fmla="*/ 54769 h 73819"/>
                <a:gd name="connsiteX3" fmla="*/ 30956 w 159795"/>
                <a:gd name="connsiteY3" fmla="*/ 47625 h 73819"/>
                <a:gd name="connsiteX4" fmla="*/ 42862 w 159795"/>
                <a:gd name="connsiteY4" fmla="*/ 45244 h 73819"/>
                <a:gd name="connsiteX5" fmla="*/ 128587 w 159795"/>
                <a:gd name="connsiteY5" fmla="*/ 42863 h 73819"/>
                <a:gd name="connsiteX6" fmla="*/ 133350 w 159795"/>
                <a:gd name="connsiteY6" fmla="*/ 35719 h 73819"/>
                <a:gd name="connsiteX7" fmla="*/ 147637 w 159795"/>
                <a:gd name="connsiteY7" fmla="*/ 26194 h 73819"/>
                <a:gd name="connsiteX8" fmla="*/ 152400 w 159795"/>
                <a:gd name="connsiteY8" fmla="*/ 16669 h 73819"/>
                <a:gd name="connsiteX9" fmla="*/ 157162 w 159795"/>
                <a:gd name="connsiteY9" fmla="*/ 9525 h 73819"/>
                <a:gd name="connsiteX10" fmla="*/ 159544 w 159795"/>
                <a:gd name="connsiteY10" fmla="*/ 0 h 7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9795" h="73819">
                  <a:moveTo>
                    <a:pt x="0" y="73819"/>
                  </a:moveTo>
                  <a:cubicBezTo>
                    <a:pt x="7145" y="69057"/>
                    <a:pt x="7937" y="69851"/>
                    <a:pt x="11906" y="61913"/>
                  </a:cubicBezTo>
                  <a:cubicBezTo>
                    <a:pt x="13028" y="59668"/>
                    <a:pt x="12719" y="56729"/>
                    <a:pt x="14287" y="54769"/>
                  </a:cubicBezTo>
                  <a:cubicBezTo>
                    <a:pt x="18262" y="49801"/>
                    <a:pt x="25393" y="48861"/>
                    <a:pt x="30956" y="47625"/>
                  </a:cubicBezTo>
                  <a:cubicBezTo>
                    <a:pt x="34907" y="46747"/>
                    <a:pt x="38820" y="45441"/>
                    <a:pt x="42862" y="45244"/>
                  </a:cubicBezTo>
                  <a:cubicBezTo>
                    <a:pt x="71414" y="43851"/>
                    <a:pt x="100012" y="43657"/>
                    <a:pt x="128587" y="42863"/>
                  </a:cubicBezTo>
                  <a:cubicBezTo>
                    <a:pt x="130175" y="40482"/>
                    <a:pt x="131196" y="37604"/>
                    <a:pt x="133350" y="35719"/>
                  </a:cubicBezTo>
                  <a:cubicBezTo>
                    <a:pt x="137657" y="31950"/>
                    <a:pt x="147637" y="26194"/>
                    <a:pt x="147637" y="26194"/>
                  </a:cubicBezTo>
                  <a:cubicBezTo>
                    <a:pt x="149225" y="23019"/>
                    <a:pt x="150639" y="19751"/>
                    <a:pt x="152400" y="16669"/>
                  </a:cubicBezTo>
                  <a:cubicBezTo>
                    <a:pt x="153820" y="14184"/>
                    <a:pt x="155882" y="12085"/>
                    <a:pt x="157162" y="9525"/>
                  </a:cubicBezTo>
                  <a:cubicBezTo>
                    <a:pt x="159795" y="4259"/>
                    <a:pt x="159544" y="4060"/>
                    <a:pt x="159544" y="0"/>
                  </a:cubicBezTo>
                </a:path>
              </a:pathLst>
            </a:cu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7572395" y="2905790"/>
              <a:ext cx="160338" cy="73025"/>
            </a:xfrm>
            <a:custGeom>
              <a:avLst/>
              <a:gdLst>
                <a:gd name="connsiteX0" fmla="*/ 0 w 159795"/>
                <a:gd name="connsiteY0" fmla="*/ 73819 h 73819"/>
                <a:gd name="connsiteX1" fmla="*/ 11906 w 159795"/>
                <a:gd name="connsiteY1" fmla="*/ 61913 h 73819"/>
                <a:gd name="connsiteX2" fmla="*/ 14287 w 159795"/>
                <a:gd name="connsiteY2" fmla="*/ 54769 h 73819"/>
                <a:gd name="connsiteX3" fmla="*/ 30956 w 159795"/>
                <a:gd name="connsiteY3" fmla="*/ 47625 h 73819"/>
                <a:gd name="connsiteX4" fmla="*/ 42862 w 159795"/>
                <a:gd name="connsiteY4" fmla="*/ 45244 h 73819"/>
                <a:gd name="connsiteX5" fmla="*/ 128587 w 159795"/>
                <a:gd name="connsiteY5" fmla="*/ 42863 h 73819"/>
                <a:gd name="connsiteX6" fmla="*/ 133350 w 159795"/>
                <a:gd name="connsiteY6" fmla="*/ 35719 h 73819"/>
                <a:gd name="connsiteX7" fmla="*/ 147637 w 159795"/>
                <a:gd name="connsiteY7" fmla="*/ 26194 h 73819"/>
                <a:gd name="connsiteX8" fmla="*/ 152400 w 159795"/>
                <a:gd name="connsiteY8" fmla="*/ 16669 h 73819"/>
                <a:gd name="connsiteX9" fmla="*/ 157162 w 159795"/>
                <a:gd name="connsiteY9" fmla="*/ 9525 h 73819"/>
                <a:gd name="connsiteX10" fmla="*/ 159544 w 159795"/>
                <a:gd name="connsiteY10" fmla="*/ 0 h 7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9795" h="73819">
                  <a:moveTo>
                    <a:pt x="0" y="73819"/>
                  </a:moveTo>
                  <a:cubicBezTo>
                    <a:pt x="7145" y="69057"/>
                    <a:pt x="7937" y="69851"/>
                    <a:pt x="11906" y="61913"/>
                  </a:cubicBezTo>
                  <a:cubicBezTo>
                    <a:pt x="13028" y="59668"/>
                    <a:pt x="12719" y="56729"/>
                    <a:pt x="14287" y="54769"/>
                  </a:cubicBezTo>
                  <a:cubicBezTo>
                    <a:pt x="18262" y="49801"/>
                    <a:pt x="25393" y="48861"/>
                    <a:pt x="30956" y="47625"/>
                  </a:cubicBezTo>
                  <a:cubicBezTo>
                    <a:pt x="34907" y="46747"/>
                    <a:pt x="38820" y="45441"/>
                    <a:pt x="42862" y="45244"/>
                  </a:cubicBezTo>
                  <a:cubicBezTo>
                    <a:pt x="71414" y="43851"/>
                    <a:pt x="100012" y="43657"/>
                    <a:pt x="128587" y="42863"/>
                  </a:cubicBezTo>
                  <a:cubicBezTo>
                    <a:pt x="130175" y="40482"/>
                    <a:pt x="131196" y="37604"/>
                    <a:pt x="133350" y="35719"/>
                  </a:cubicBezTo>
                  <a:cubicBezTo>
                    <a:pt x="137657" y="31950"/>
                    <a:pt x="147637" y="26194"/>
                    <a:pt x="147637" y="26194"/>
                  </a:cubicBezTo>
                  <a:cubicBezTo>
                    <a:pt x="149225" y="23019"/>
                    <a:pt x="150639" y="19751"/>
                    <a:pt x="152400" y="16669"/>
                  </a:cubicBezTo>
                  <a:cubicBezTo>
                    <a:pt x="153820" y="14184"/>
                    <a:pt x="155882" y="12085"/>
                    <a:pt x="157162" y="9525"/>
                  </a:cubicBezTo>
                  <a:cubicBezTo>
                    <a:pt x="159795" y="4259"/>
                    <a:pt x="159544" y="4060"/>
                    <a:pt x="159544" y="0"/>
                  </a:cubicBezTo>
                </a:path>
              </a:pathLst>
            </a:cu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 rot="10274383">
              <a:off x="7572395" y="3048665"/>
              <a:ext cx="160338" cy="73025"/>
            </a:xfrm>
            <a:custGeom>
              <a:avLst/>
              <a:gdLst>
                <a:gd name="connsiteX0" fmla="*/ 0 w 159795"/>
                <a:gd name="connsiteY0" fmla="*/ 73819 h 73819"/>
                <a:gd name="connsiteX1" fmla="*/ 11906 w 159795"/>
                <a:gd name="connsiteY1" fmla="*/ 61913 h 73819"/>
                <a:gd name="connsiteX2" fmla="*/ 14287 w 159795"/>
                <a:gd name="connsiteY2" fmla="*/ 54769 h 73819"/>
                <a:gd name="connsiteX3" fmla="*/ 30956 w 159795"/>
                <a:gd name="connsiteY3" fmla="*/ 47625 h 73819"/>
                <a:gd name="connsiteX4" fmla="*/ 42862 w 159795"/>
                <a:gd name="connsiteY4" fmla="*/ 45244 h 73819"/>
                <a:gd name="connsiteX5" fmla="*/ 128587 w 159795"/>
                <a:gd name="connsiteY5" fmla="*/ 42863 h 73819"/>
                <a:gd name="connsiteX6" fmla="*/ 133350 w 159795"/>
                <a:gd name="connsiteY6" fmla="*/ 35719 h 73819"/>
                <a:gd name="connsiteX7" fmla="*/ 147637 w 159795"/>
                <a:gd name="connsiteY7" fmla="*/ 26194 h 73819"/>
                <a:gd name="connsiteX8" fmla="*/ 152400 w 159795"/>
                <a:gd name="connsiteY8" fmla="*/ 16669 h 73819"/>
                <a:gd name="connsiteX9" fmla="*/ 157162 w 159795"/>
                <a:gd name="connsiteY9" fmla="*/ 9525 h 73819"/>
                <a:gd name="connsiteX10" fmla="*/ 159544 w 159795"/>
                <a:gd name="connsiteY10" fmla="*/ 0 h 7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9795" h="73819">
                  <a:moveTo>
                    <a:pt x="0" y="73819"/>
                  </a:moveTo>
                  <a:cubicBezTo>
                    <a:pt x="7145" y="69057"/>
                    <a:pt x="7937" y="69851"/>
                    <a:pt x="11906" y="61913"/>
                  </a:cubicBezTo>
                  <a:cubicBezTo>
                    <a:pt x="13028" y="59668"/>
                    <a:pt x="12719" y="56729"/>
                    <a:pt x="14287" y="54769"/>
                  </a:cubicBezTo>
                  <a:cubicBezTo>
                    <a:pt x="18262" y="49801"/>
                    <a:pt x="25393" y="48861"/>
                    <a:pt x="30956" y="47625"/>
                  </a:cubicBezTo>
                  <a:cubicBezTo>
                    <a:pt x="34907" y="46747"/>
                    <a:pt x="38820" y="45441"/>
                    <a:pt x="42862" y="45244"/>
                  </a:cubicBezTo>
                  <a:cubicBezTo>
                    <a:pt x="71414" y="43851"/>
                    <a:pt x="100012" y="43657"/>
                    <a:pt x="128587" y="42863"/>
                  </a:cubicBezTo>
                  <a:cubicBezTo>
                    <a:pt x="130175" y="40482"/>
                    <a:pt x="131196" y="37604"/>
                    <a:pt x="133350" y="35719"/>
                  </a:cubicBezTo>
                  <a:cubicBezTo>
                    <a:pt x="137657" y="31950"/>
                    <a:pt x="147637" y="26194"/>
                    <a:pt x="147637" y="26194"/>
                  </a:cubicBezTo>
                  <a:cubicBezTo>
                    <a:pt x="149225" y="23019"/>
                    <a:pt x="150639" y="19751"/>
                    <a:pt x="152400" y="16669"/>
                  </a:cubicBezTo>
                  <a:cubicBezTo>
                    <a:pt x="153820" y="14184"/>
                    <a:pt x="155882" y="12085"/>
                    <a:pt x="157162" y="9525"/>
                  </a:cubicBezTo>
                  <a:cubicBezTo>
                    <a:pt x="159795" y="4259"/>
                    <a:pt x="159544" y="4060"/>
                    <a:pt x="159544" y="0"/>
                  </a:cubicBezTo>
                </a:path>
              </a:pathLst>
            </a:cu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3" name="Freeform 52"/>
            <p:cNvSpPr/>
            <p:nvPr/>
          </p:nvSpPr>
          <p:spPr>
            <a:xfrm rot="1249322">
              <a:off x="7651770" y="3145503"/>
              <a:ext cx="160338" cy="74612"/>
            </a:xfrm>
            <a:custGeom>
              <a:avLst/>
              <a:gdLst>
                <a:gd name="connsiteX0" fmla="*/ 0 w 159795"/>
                <a:gd name="connsiteY0" fmla="*/ 73819 h 73819"/>
                <a:gd name="connsiteX1" fmla="*/ 11906 w 159795"/>
                <a:gd name="connsiteY1" fmla="*/ 61913 h 73819"/>
                <a:gd name="connsiteX2" fmla="*/ 14287 w 159795"/>
                <a:gd name="connsiteY2" fmla="*/ 54769 h 73819"/>
                <a:gd name="connsiteX3" fmla="*/ 30956 w 159795"/>
                <a:gd name="connsiteY3" fmla="*/ 47625 h 73819"/>
                <a:gd name="connsiteX4" fmla="*/ 42862 w 159795"/>
                <a:gd name="connsiteY4" fmla="*/ 45244 h 73819"/>
                <a:gd name="connsiteX5" fmla="*/ 128587 w 159795"/>
                <a:gd name="connsiteY5" fmla="*/ 42863 h 73819"/>
                <a:gd name="connsiteX6" fmla="*/ 133350 w 159795"/>
                <a:gd name="connsiteY6" fmla="*/ 35719 h 73819"/>
                <a:gd name="connsiteX7" fmla="*/ 147637 w 159795"/>
                <a:gd name="connsiteY7" fmla="*/ 26194 h 73819"/>
                <a:gd name="connsiteX8" fmla="*/ 152400 w 159795"/>
                <a:gd name="connsiteY8" fmla="*/ 16669 h 73819"/>
                <a:gd name="connsiteX9" fmla="*/ 157162 w 159795"/>
                <a:gd name="connsiteY9" fmla="*/ 9525 h 73819"/>
                <a:gd name="connsiteX10" fmla="*/ 159544 w 159795"/>
                <a:gd name="connsiteY10" fmla="*/ 0 h 7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9795" h="73819">
                  <a:moveTo>
                    <a:pt x="0" y="73819"/>
                  </a:moveTo>
                  <a:cubicBezTo>
                    <a:pt x="7145" y="69057"/>
                    <a:pt x="7937" y="69851"/>
                    <a:pt x="11906" y="61913"/>
                  </a:cubicBezTo>
                  <a:cubicBezTo>
                    <a:pt x="13028" y="59668"/>
                    <a:pt x="12719" y="56729"/>
                    <a:pt x="14287" y="54769"/>
                  </a:cubicBezTo>
                  <a:cubicBezTo>
                    <a:pt x="18262" y="49801"/>
                    <a:pt x="25393" y="48861"/>
                    <a:pt x="30956" y="47625"/>
                  </a:cubicBezTo>
                  <a:cubicBezTo>
                    <a:pt x="34907" y="46747"/>
                    <a:pt x="38820" y="45441"/>
                    <a:pt x="42862" y="45244"/>
                  </a:cubicBezTo>
                  <a:cubicBezTo>
                    <a:pt x="71414" y="43851"/>
                    <a:pt x="100012" y="43657"/>
                    <a:pt x="128587" y="42863"/>
                  </a:cubicBezTo>
                  <a:cubicBezTo>
                    <a:pt x="130175" y="40482"/>
                    <a:pt x="131196" y="37604"/>
                    <a:pt x="133350" y="35719"/>
                  </a:cubicBezTo>
                  <a:cubicBezTo>
                    <a:pt x="137657" y="31950"/>
                    <a:pt x="147637" y="26194"/>
                    <a:pt x="147637" y="26194"/>
                  </a:cubicBezTo>
                  <a:cubicBezTo>
                    <a:pt x="149225" y="23019"/>
                    <a:pt x="150639" y="19751"/>
                    <a:pt x="152400" y="16669"/>
                  </a:cubicBezTo>
                  <a:cubicBezTo>
                    <a:pt x="153820" y="14184"/>
                    <a:pt x="155882" y="12085"/>
                    <a:pt x="157162" y="9525"/>
                  </a:cubicBezTo>
                  <a:cubicBezTo>
                    <a:pt x="159795" y="4259"/>
                    <a:pt x="159544" y="4060"/>
                    <a:pt x="159544" y="0"/>
                  </a:cubicBezTo>
                </a:path>
              </a:pathLst>
            </a:cu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cxnSp>
        <p:nvCxnSpPr>
          <p:cNvPr id="54" name="Straight Connector 53"/>
          <p:cNvCxnSpPr/>
          <p:nvPr/>
        </p:nvCxnSpPr>
        <p:spPr>
          <a:xfrm>
            <a:off x="2309813" y="928688"/>
            <a:ext cx="7500938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itle 4"/>
          <p:cNvSpPr txBox="1"/>
          <p:nvPr/>
        </p:nvSpPr>
        <p:spPr>
          <a:xfrm>
            <a:off x="2343150" y="214313"/>
            <a:ext cx="7467600" cy="48895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3200" b="1" dirty="0">
                <a:solidFill>
                  <a:schemeClr val="accent1"/>
                </a:solidFill>
              </a:rPr>
              <a:t>Differential solubility / Organic solvents</a:t>
            </a:r>
            <a:endParaRPr lang="en-US" sz="3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4567239" y="1625601"/>
            <a:ext cx="500063" cy="50006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A</a:t>
            </a:r>
            <a:endParaRPr lang="en-US" b="1" dirty="0"/>
          </a:p>
        </p:txBody>
      </p:sp>
      <p:sp>
        <p:nvSpPr>
          <p:cNvPr id="59" name="Rounded Rectangle 58"/>
          <p:cNvSpPr/>
          <p:nvPr/>
        </p:nvSpPr>
        <p:spPr>
          <a:xfrm>
            <a:off x="7058026" y="1622426"/>
            <a:ext cx="500063" cy="50006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B</a:t>
            </a:r>
            <a:endParaRPr lang="en-US" b="1" dirty="0"/>
          </a:p>
        </p:txBody>
      </p:sp>
      <p:pic>
        <p:nvPicPr>
          <p:cNvPr id="35" name="Graphic 34" descr="Bee with solid fil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313" y="2736850"/>
            <a:ext cx="554038" cy="554038"/>
          </a:xfrm>
          <a:prstGeom prst="rect">
            <a:avLst/>
          </a:prstGeom>
        </p:spPr>
      </p:pic>
      <p:pic>
        <p:nvPicPr>
          <p:cNvPr id="3" name="Picture 2" descr="Shape, arrow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143" y="1367330"/>
            <a:ext cx="2521264" cy="1050527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slow" advTm="30501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37" grpId="0"/>
      <p:bldP spid="86033" grpId="0" animBg="1"/>
      <p:bldP spid="86034" grpId="0" animBg="1"/>
      <p:bldP spid="86042" grpId="0" animBg="1"/>
      <p:bldP spid="86045" grpId="0"/>
      <p:bldP spid="58" grpId="0" animBg="1"/>
      <p:bldP spid="5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2975" y="1857376"/>
            <a:ext cx="1219200" cy="1984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1" name="Line 3"/>
          <p:cNvSpPr/>
          <p:nvPr/>
        </p:nvSpPr>
        <p:spPr>
          <a:xfrm rot="10800000" flipH="1" flipV="1">
            <a:off x="8029575" y="2238375"/>
            <a:ext cx="99060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oval" w="sm" len="sm"/>
          </a:ln>
        </p:spPr>
      </p:sp>
      <p:sp>
        <p:nvSpPr>
          <p:cNvPr id="22532" name="Line 4"/>
          <p:cNvSpPr/>
          <p:nvPr/>
        </p:nvSpPr>
        <p:spPr>
          <a:xfrm rot="-10800000" flipH="1">
            <a:off x="8029575" y="2924175"/>
            <a:ext cx="99060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oval" w="sm" len="sm"/>
          </a:ln>
        </p:spPr>
      </p:sp>
      <p:sp>
        <p:nvSpPr>
          <p:cNvPr id="22533" name="Line 5"/>
          <p:cNvSpPr/>
          <p:nvPr/>
        </p:nvSpPr>
        <p:spPr>
          <a:xfrm rot="10800000" flipH="1" flipV="1">
            <a:off x="7953375" y="3228975"/>
            <a:ext cx="106680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oval" w="sm" len="sm"/>
          </a:ln>
        </p:spPr>
      </p:sp>
      <p:sp>
        <p:nvSpPr>
          <p:cNvPr id="86022" name="Rectangle 6"/>
          <p:cNvSpPr/>
          <p:nvPr/>
        </p:nvSpPr>
        <p:spPr>
          <a:xfrm>
            <a:off x="6858000" y="762000"/>
            <a:ext cx="3429000" cy="4191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endParaRPr lang="ar-JO" altLang="ar-JO" sz="1800" dirty="0">
              <a:ea typeface="Arial" panose="020B0604020202020204" pitchFamily="34" charset="0"/>
            </a:endParaRPr>
          </a:p>
        </p:txBody>
      </p:sp>
      <p:sp>
        <p:nvSpPr>
          <p:cNvPr id="86026" name="Line 10"/>
          <p:cNvSpPr/>
          <p:nvPr/>
        </p:nvSpPr>
        <p:spPr>
          <a:xfrm flipV="1">
            <a:off x="2717800" y="3325813"/>
            <a:ext cx="0" cy="1752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oval" w="sm" len="sm"/>
          </a:ln>
        </p:spPr>
      </p:sp>
      <p:sp>
        <p:nvSpPr>
          <p:cNvPr id="86027" name="Text Box 11"/>
          <p:cNvSpPr txBox="1"/>
          <p:nvPr/>
        </p:nvSpPr>
        <p:spPr>
          <a:xfrm>
            <a:off x="1738314" y="5089526"/>
            <a:ext cx="2073275" cy="7397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ar-JO" sz="1400" dirty="0">
                <a:cs typeface="Arial" panose="020B0604020202020204" pitchFamily="34" charset="0"/>
              </a:rPr>
              <a:t>Crude lysate containing nucleic acids and other cell constituents</a:t>
            </a:r>
            <a:endParaRPr lang="en-US" altLang="ar-JO" sz="1400" dirty="0">
              <a:ea typeface="Arial" panose="020B0604020202020204" pitchFamily="34" charset="0"/>
            </a:endParaRPr>
          </a:p>
        </p:txBody>
      </p:sp>
      <p:sp>
        <p:nvSpPr>
          <p:cNvPr id="86028" name="Line 12"/>
          <p:cNvSpPr/>
          <p:nvPr/>
        </p:nvSpPr>
        <p:spPr>
          <a:xfrm>
            <a:off x="3109913" y="2728913"/>
            <a:ext cx="14478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6029" name="AutoShape 13"/>
          <p:cNvSpPr/>
          <p:nvPr/>
        </p:nvSpPr>
        <p:spPr>
          <a:xfrm rot="5400000">
            <a:off x="4557713" y="2484438"/>
            <a:ext cx="914400" cy="457200"/>
          </a:xfrm>
          <a:prstGeom prst="homePlate">
            <a:avLst>
              <a:gd name="adj" fmla="val 50000"/>
            </a:avLst>
          </a:prstGeom>
          <a:solidFill>
            <a:srgbClr val="99CC00">
              <a:alpha val="56862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endParaRPr lang="ar-JO" altLang="ar-JO" sz="1800" dirty="0">
              <a:ea typeface="Arial" panose="020B0604020202020204" pitchFamily="34" charset="0"/>
            </a:endParaRPr>
          </a:p>
        </p:txBody>
      </p:sp>
      <p:sp>
        <p:nvSpPr>
          <p:cNvPr id="86030" name="Rectangle 14"/>
          <p:cNvSpPr/>
          <p:nvPr/>
        </p:nvSpPr>
        <p:spPr>
          <a:xfrm>
            <a:off x="4786313" y="2249489"/>
            <a:ext cx="457200" cy="2508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endParaRPr lang="ar-JO" altLang="ar-JO" sz="1800" dirty="0">
              <a:ea typeface="Arial" panose="020B0604020202020204" pitchFamily="34" charset="0"/>
            </a:endParaRPr>
          </a:p>
        </p:txBody>
      </p:sp>
      <p:sp>
        <p:nvSpPr>
          <p:cNvPr id="86031" name="Text Box 15"/>
          <p:cNvSpPr txBox="1"/>
          <p:nvPr/>
        </p:nvSpPr>
        <p:spPr>
          <a:xfrm>
            <a:off x="3033714" y="2043114"/>
            <a:ext cx="1768475" cy="738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ar-JO" sz="1400" dirty="0">
                <a:solidFill>
                  <a:srgbClr val="FF0000"/>
                </a:solidFill>
                <a:cs typeface="Arial" panose="020B0604020202020204" pitchFamily="34" charset="0"/>
              </a:rPr>
              <a:t>Mix thoroughly with an equal volume of organic solvent</a:t>
            </a:r>
            <a:endParaRPr lang="en-US" altLang="ar-JO" sz="1400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  <p:sp>
        <p:nvSpPr>
          <p:cNvPr id="86032" name="Text Box 16"/>
          <p:cNvSpPr txBox="1"/>
          <p:nvPr/>
        </p:nvSpPr>
        <p:spPr>
          <a:xfrm>
            <a:off x="2957513" y="27289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ar-JO" sz="1200" i="1" dirty="0">
                <a:cs typeface="Arial" panose="020B0604020202020204" pitchFamily="34" charset="0"/>
              </a:rPr>
              <a:t>e.g.</a:t>
            </a:r>
            <a:r>
              <a:rPr lang="en-US" altLang="ar-JO" sz="1200" dirty="0">
                <a:cs typeface="Arial" panose="020B0604020202020204" pitchFamily="34" charset="0"/>
              </a:rPr>
              <a:t> phenol, chloroform, or phenol:chloroform</a:t>
            </a:r>
            <a:endParaRPr lang="en-US" altLang="ar-JO" sz="1200" dirty="0">
              <a:ea typeface="Arial" panose="020B0604020202020204" pitchFamily="34" charset="0"/>
            </a:endParaRPr>
          </a:p>
        </p:txBody>
      </p:sp>
      <p:sp>
        <p:nvSpPr>
          <p:cNvPr id="86033" name="AutoShape 17"/>
          <p:cNvSpPr/>
          <p:nvPr/>
        </p:nvSpPr>
        <p:spPr>
          <a:xfrm rot="5400000">
            <a:off x="6196013" y="2484438"/>
            <a:ext cx="914400" cy="457200"/>
          </a:xfrm>
          <a:prstGeom prst="homePlate">
            <a:avLst>
              <a:gd name="adj" fmla="val 50000"/>
            </a:avLst>
          </a:prstGeom>
          <a:solidFill>
            <a:srgbClr val="6699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endParaRPr lang="ar-JO" altLang="ar-JO" sz="1800" dirty="0">
              <a:ea typeface="Arial" panose="020B0604020202020204" pitchFamily="34" charset="0"/>
            </a:endParaRPr>
          </a:p>
        </p:txBody>
      </p:sp>
      <p:sp>
        <p:nvSpPr>
          <p:cNvPr id="86034" name="Rectangle 18"/>
          <p:cNvSpPr/>
          <p:nvPr/>
        </p:nvSpPr>
        <p:spPr>
          <a:xfrm>
            <a:off x="6424613" y="2249488"/>
            <a:ext cx="457200" cy="5715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endParaRPr lang="ar-JO" altLang="ar-JO" sz="1800" dirty="0">
              <a:ea typeface="Arial" panose="020B0604020202020204" pitchFamily="34" charset="0"/>
            </a:endParaRPr>
          </a:p>
        </p:txBody>
      </p:sp>
      <p:sp>
        <p:nvSpPr>
          <p:cNvPr id="86035" name="Rectangle 19"/>
          <p:cNvSpPr/>
          <p:nvPr/>
        </p:nvSpPr>
        <p:spPr>
          <a:xfrm>
            <a:off x="6424613" y="2390775"/>
            <a:ext cx="457200" cy="381000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endParaRPr lang="ar-JO" altLang="ar-JO" sz="1800" dirty="0">
              <a:ea typeface="Arial" panose="020B0604020202020204" pitchFamily="34" charset="0"/>
            </a:endParaRPr>
          </a:p>
        </p:txBody>
      </p:sp>
      <p:sp>
        <p:nvSpPr>
          <p:cNvPr id="86036" name="Line 20"/>
          <p:cNvSpPr/>
          <p:nvPr/>
        </p:nvSpPr>
        <p:spPr>
          <a:xfrm>
            <a:off x="5394325" y="2728913"/>
            <a:ext cx="9144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6037" name="Text Box 21"/>
          <p:cNvSpPr txBox="1"/>
          <p:nvPr/>
        </p:nvSpPr>
        <p:spPr>
          <a:xfrm>
            <a:off x="5335589" y="2457450"/>
            <a:ext cx="1158875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ar-JO" sz="1400" dirty="0">
                <a:solidFill>
                  <a:srgbClr val="FF0000"/>
                </a:solidFill>
                <a:cs typeface="Arial" panose="020B0604020202020204" pitchFamily="34" charset="0"/>
              </a:rPr>
              <a:t>Centrifuge</a:t>
            </a:r>
            <a:endParaRPr lang="en-US" altLang="ar-JO" sz="1400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  <p:sp>
        <p:nvSpPr>
          <p:cNvPr id="86038" name="Line 22"/>
          <p:cNvSpPr/>
          <p:nvPr/>
        </p:nvSpPr>
        <p:spPr>
          <a:xfrm>
            <a:off x="9553575" y="3209926"/>
            <a:ext cx="0" cy="658813"/>
          </a:xfrm>
          <a:prstGeom prst="line">
            <a:avLst/>
          </a:prstGeom>
          <a:ln w="2540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86039" name="Line 23"/>
          <p:cNvSpPr/>
          <p:nvPr/>
        </p:nvSpPr>
        <p:spPr>
          <a:xfrm flipH="1">
            <a:off x="5019676" y="3876675"/>
            <a:ext cx="4543425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86040" name="Line 24"/>
          <p:cNvSpPr/>
          <p:nvPr/>
        </p:nvSpPr>
        <p:spPr>
          <a:xfrm flipV="1">
            <a:off x="5010150" y="3262313"/>
            <a:ext cx="0" cy="609600"/>
          </a:xfrm>
          <a:prstGeom prst="line">
            <a:avLst/>
          </a:prstGeom>
          <a:ln w="25400" cap="flat" cmpd="sng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</p:sp>
      <p:sp>
        <p:nvSpPr>
          <p:cNvPr id="86041" name="Line 25"/>
          <p:cNvSpPr/>
          <p:nvPr/>
        </p:nvSpPr>
        <p:spPr>
          <a:xfrm flipV="1">
            <a:off x="6645275" y="3306763"/>
            <a:ext cx="0" cy="1828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oval" w="sm" len="sm"/>
          </a:ln>
        </p:spPr>
      </p:sp>
      <p:sp>
        <p:nvSpPr>
          <p:cNvPr id="86042" name="Text Box 26"/>
          <p:cNvSpPr txBox="1"/>
          <p:nvPr/>
        </p:nvSpPr>
        <p:spPr>
          <a:xfrm>
            <a:off x="4829175" y="5141914"/>
            <a:ext cx="3200400" cy="15906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ar-JO" sz="1400" dirty="0">
                <a:cs typeface="Arial" panose="020B0604020202020204" pitchFamily="34" charset="0"/>
              </a:rPr>
              <a:t>The </a:t>
            </a:r>
            <a:r>
              <a:rPr lang="en-US" altLang="ar-JO" sz="1400" b="1" dirty="0">
                <a:cs typeface="Arial" panose="020B0604020202020204" pitchFamily="34" charset="0"/>
              </a:rPr>
              <a:t>aqueous phase</a:t>
            </a:r>
            <a:r>
              <a:rPr lang="en-US" altLang="ar-JO" sz="1400" dirty="0">
                <a:cs typeface="Arial" panose="020B0604020202020204" pitchFamily="34" charset="0"/>
              </a:rPr>
              <a:t> contains water-soluble molecules, including nucleic acids. Proteins and lipids become trapped in the </a:t>
            </a:r>
            <a:r>
              <a:rPr lang="en-US" altLang="ar-JO" sz="1400" b="1" dirty="0">
                <a:cs typeface="Arial" panose="020B0604020202020204" pitchFamily="34" charset="0"/>
              </a:rPr>
              <a:t>organic phase</a:t>
            </a:r>
            <a:r>
              <a:rPr lang="en-US" altLang="ar-JO" sz="1400" dirty="0">
                <a:cs typeface="Arial" panose="020B0604020202020204" pitchFamily="34" charset="0"/>
              </a:rPr>
              <a:t>, and are thus separated away. Insoluble debris become trapped in the </a:t>
            </a:r>
            <a:r>
              <a:rPr lang="en-US" altLang="ar-JO" sz="1400" b="1" dirty="0">
                <a:cs typeface="Arial" panose="020B0604020202020204" pitchFamily="34" charset="0"/>
              </a:rPr>
              <a:t>interphase </a:t>
            </a:r>
            <a:r>
              <a:rPr lang="en-US" altLang="ar-JO" sz="1400" dirty="0">
                <a:cs typeface="Arial" panose="020B0604020202020204" pitchFamily="34" charset="0"/>
              </a:rPr>
              <a:t>between the two layers</a:t>
            </a:r>
            <a:endParaRPr lang="en-US" altLang="ar-JO" sz="1400" dirty="0">
              <a:ea typeface="Arial" panose="020B0604020202020204" pitchFamily="34" charset="0"/>
            </a:endParaRPr>
          </a:p>
        </p:txBody>
      </p:sp>
      <p:sp>
        <p:nvSpPr>
          <p:cNvPr id="86043" name="Text Box 27"/>
          <p:cNvSpPr txBox="1"/>
          <p:nvPr/>
        </p:nvSpPr>
        <p:spPr>
          <a:xfrm>
            <a:off x="5210175" y="3609975"/>
            <a:ext cx="4267200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ar-JO" sz="1400" dirty="0">
                <a:solidFill>
                  <a:srgbClr val="FF0000"/>
                </a:solidFill>
                <a:cs typeface="Arial" panose="020B0604020202020204" pitchFamily="34" charset="0"/>
              </a:rPr>
              <a:t>Perform additional extractions for increased purity</a:t>
            </a:r>
            <a:endParaRPr lang="en-US" altLang="ar-JO" sz="1400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  <p:sp>
        <p:nvSpPr>
          <p:cNvPr id="86044" name="Line 28"/>
          <p:cNvSpPr/>
          <p:nvPr/>
        </p:nvSpPr>
        <p:spPr>
          <a:xfrm>
            <a:off x="6956425" y="2727325"/>
            <a:ext cx="22860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6045" name="Text Box 29"/>
          <p:cNvSpPr txBox="1"/>
          <p:nvPr/>
        </p:nvSpPr>
        <p:spPr>
          <a:xfrm>
            <a:off x="7065963" y="2466975"/>
            <a:ext cx="2106612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ar-JO" sz="1400" dirty="0">
                <a:solidFill>
                  <a:srgbClr val="FF0000"/>
                </a:solidFill>
                <a:cs typeface="Arial" panose="020B0604020202020204" pitchFamily="34" charset="0"/>
              </a:rPr>
              <a:t>Collect aqueous phase</a:t>
            </a:r>
            <a:endParaRPr lang="en-US" altLang="ar-JO" sz="1400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  <p:grpSp>
        <p:nvGrpSpPr>
          <p:cNvPr id="2" name="Group 30"/>
          <p:cNvGrpSpPr/>
          <p:nvPr/>
        </p:nvGrpSpPr>
        <p:grpSpPr>
          <a:xfrm>
            <a:off x="9324975" y="2249488"/>
            <a:ext cx="457200" cy="920750"/>
            <a:chOff x="4704" y="1080"/>
            <a:chExt cx="288" cy="580"/>
          </a:xfrm>
        </p:grpSpPr>
        <p:sp>
          <p:nvSpPr>
            <p:cNvPr id="22574" name="AutoShape 31"/>
            <p:cNvSpPr/>
            <p:nvPr/>
          </p:nvSpPr>
          <p:spPr>
            <a:xfrm rot="5400000">
              <a:off x="4560" y="1228"/>
              <a:ext cx="576" cy="288"/>
            </a:xfrm>
            <a:prstGeom prst="homePlate">
              <a:avLst>
                <a:gd name="adj" fmla="val 50000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endParaRPr lang="ar-JO" altLang="ar-JO" sz="1800" dirty="0">
                <a:ea typeface="Arial" panose="020B0604020202020204" pitchFamily="34" charset="0"/>
              </a:endParaRPr>
            </a:p>
          </p:txBody>
        </p:sp>
        <p:sp>
          <p:nvSpPr>
            <p:cNvPr id="22575" name="Rectangle 32"/>
            <p:cNvSpPr/>
            <p:nvPr/>
          </p:nvSpPr>
          <p:spPr>
            <a:xfrm>
              <a:off x="4704" y="1080"/>
              <a:ext cx="288" cy="31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endParaRPr lang="ar-JO" altLang="ar-JO" sz="1800" dirty="0">
                <a:ea typeface="Arial" panose="020B0604020202020204" pitchFamily="34" charset="0"/>
              </a:endParaRPr>
            </a:p>
          </p:txBody>
        </p:sp>
      </p:grpSp>
      <p:sp>
        <p:nvSpPr>
          <p:cNvPr id="86051" name="Line 35"/>
          <p:cNvSpPr/>
          <p:nvPr/>
        </p:nvSpPr>
        <p:spPr>
          <a:xfrm flipH="1">
            <a:off x="6734175" y="2238375"/>
            <a:ext cx="6858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oval" w="sm" len="sm"/>
          </a:ln>
        </p:spPr>
      </p:sp>
      <p:sp>
        <p:nvSpPr>
          <p:cNvPr id="86052" name="Line 36"/>
          <p:cNvSpPr/>
          <p:nvPr/>
        </p:nvSpPr>
        <p:spPr>
          <a:xfrm flipH="1" flipV="1">
            <a:off x="6734175" y="2797175"/>
            <a:ext cx="685800" cy="203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oval" w="sm" len="sm"/>
          </a:ln>
        </p:spPr>
      </p:sp>
      <p:sp>
        <p:nvSpPr>
          <p:cNvPr id="86053" name="Line 37"/>
          <p:cNvSpPr/>
          <p:nvPr/>
        </p:nvSpPr>
        <p:spPr>
          <a:xfrm flipH="1" flipV="1">
            <a:off x="6734175" y="3000375"/>
            <a:ext cx="68580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oval" w="sm" len="sm"/>
          </a:ln>
        </p:spPr>
      </p:sp>
      <p:sp>
        <p:nvSpPr>
          <p:cNvPr id="86054" name="Text Box 38"/>
          <p:cNvSpPr txBox="1"/>
          <p:nvPr/>
        </p:nvSpPr>
        <p:spPr>
          <a:xfrm>
            <a:off x="7415213" y="3152775"/>
            <a:ext cx="609600" cy="228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ar-JO" sz="900" dirty="0">
                <a:cs typeface="Arial" panose="020B0604020202020204" pitchFamily="34" charset="0"/>
              </a:rPr>
              <a:t>Organic</a:t>
            </a:r>
            <a:endParaRPr lang="en-US" altLang="ar-JO" sz="900" dirty="0">
              <a:ea typeface="Arial" panose="020B0604020202020204" pitchFamily="34" charset="0"/>
            </a:endParaRPr>
          </a:p>
        </p:txBody>
      </p:sp>
      <p:sp>
        <p:nvSpPr>
          <p:cNvPr id="86055" name="Text Box 39"/>
          <p:cNvSpPr txBox="1"/>
          <p:nvPr/>
        </p:nvSpPr>
        <p:spPr>
          <a:xfrm>
            <a:off x="7402513" y="2085975"/>
            <a:ext cx="685800" cy="228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ar-JO" sz="900" dirty="0">
                <a:cs typeface="Arial" panose="020B0604020202020204" pitchFamily="34" charset="0"/>
              </a:rPr>
              <a:t>Aqueous</a:t>
            </a:r>
            <a:endParaRPr lang="en-US" altLang="ar-JO" sz="900" dirty="0">
              <a:ea typeface="Arial" panose="020B0604020202020204" pitchFamily="34" charset="0"/>
            </a:endParaRPr>
          </a:p>
        </p:txBody>
      </p:sp>
      <p:sp>
        <p:nvSpPr>
          <p:cNvPr id="86056" name="Text Box 40"/>
          <p:cNvSpPr txBox="1"/>
          <p:nvPr/>
        </p:nvSpPr>
        <p:spPr>
          <a:xfrm>
            <a:off x="7356475" y="2898775"/>
            <a:ext cx="825500" cy="228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ar-JO" sz="900" dirty="0">
                <a:cs typeface="Arial" panose="020B0604020202020204" pitchFamily="34" charset="0"/>
              </a:rPr>
              <a:t>Interphase</a:t>
            </a:r>
            <a:endParaRPr lang="en-US" altLang="ar-JO" sz="900" dirty="0">
              <a:ea typeface="Arial" panose="020B0604020202020204" pitchFamily="34" charset="0"/>
            </a:endParaRPr>
          </a:p>
        </p:txBody>
      </p:sp>
      <p:grpSp>
        <p:nvGrpSpPr>
          <p:cNvPr id="22562" name="Group 59"/>
          <p:cNvGrpSpPr/>
          <p:nvPr/>
        </p:nvGrpSpPr>
        <p:grpSpPr>
          <a:xfrm>
            <a:off x="2495550" y="2286000"/>
            <a:ext cx="457200" cy="920750"/>
            <a:chOff x="7500958" y="2445415"/>
            <a:chExt cx="457200" cy="920750"/>
          </a:xfrm>
        </p:grpSpPr>
        <p:sp>
          <p:nvSpPr>
            <p:cNvPr id="61" name="AutoShape 31"/>
            <p:cNvSpPr>
              <a:spLocks noChangeArrowheads="1"/>
            </p:cNvSpPr>
            <p:nvPr/>
          </p:nvSpPr>
          <p:spPr bwMode="auto">
            <a:xfrm rot="5400000">
              <a:off x="7272358" y="2680365"/>
              <a:ext cx="914400" cy="457200"/>
            </a:xfrm>
            <a:prstGeom prst="homePlate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567" name="Rectangle 32"/>
            <p:cNvSpPr/>
            <p:nvPr/>
          </p:nvSpPr>
          <p:spPr>
            <a:xfrm>
              <a:off x="7500958" y="2445415"/>
              <a:ext cx="457200" cy="31748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endParaRPr lang="ar-JO" altLang="ar-JO" sz="1800" dirty="0">
                <a:ea typeface="Arial" panose="020B0604020202020204" pitchFamily="34" charset="0"/>
              </a:endParaRPr>
            </a:p>
          </p:txBody>
        </p:sp>
        <p:sp>
          <p:nvSpPr>
            <p:cNvPr id="63" name="Freeform 62"/>
            <p:cNvSpPr/>
            <p:nvPr/>
          </p:nvSpPr>
          <p:spPr>
            <a:xfrm rot="1249322">
              <a:off x="7554933" y="2762915"/>
              <a:ext cx="160338" cy="73025"/>
            </a:xfrm>
            <a:custGeom>
              <a:avLst/>
              <a:gdLst>
                <a:gd name="connsiteX0" fmla="*/ 0 w 159795"/>
                <a:gd name="connsiteY0" fmla="*/ 73819 h 73819"/>
                <a:gd name="connsiteX1" fmla="*/ 11906 w 159795"/>
                <a:gd name="connsiteY1" fmla="*/ 61913 h 73819"/>
                <a:gd name="connsiteX2" fmla="*/ 14287 w 159795"/>
                <a:gd name="connsiteY2" fmla="*/ 54769 h 73819"/>
                <a:gd name="connsiteX3" fmla="*/ 30956 w 159795"/>
                <a:gd name="connsiteY3" fmla="*/ 47625 h 73819"/>
                <a:gd name="connsiteX4" fmla="*/ 42862 w 159795"/>
                <a:gd name="connsiteY4" fmla="*/ 45244 h 73819"/>
                <a:gd name="connsiteX5" fmla="*/ 128587 w 159795"/>
                <a:gd name="connsiteY5" fmla="*/ 42863 h 73819"/>
                <a:gd name="connsiteX6" fmla="*/ 133350 w 159795"/>
                <a:gd name="connsiteY6" fmla="*/ 35719 h 73819"/>
                <a:gd name="connsiteX7" fmla="*/ 147637 w 159795"/>
                <a:gd name="connsiteY7" fmla="*/ 26194 h 73819"/>
                <a:gd name="connsiteX8" fmla="*/ 152400 w 159795"/>
                <a:gd name="connsiteY8" fmla="*/ 16669 h 73819"/>
                <a:gd name="connsiteX9" fmla="*/ 157162 w 159795"/>
                <a:gd name="connsiteY9" fmla="*/ 9525 h 73819"/>
                <a:gd name="connsiteX10" fmla="*/ 159544 w 159795"/>
                <a:gd name="connsiteY10" fmla="*/ 0 h 7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9795" h="73819">
                  <a:moveTo>
                    <a:pt x="0" y="73819"/>
                  </a:moveTo>
                  <a:cubicBezTo>
                    <a:pt x="7145" y="69057"/>
                    <a:pt x="7937" y="69851"/>
                    <a:pt x="11906" y="61913"/>
                  </a:cubicBezTo>
                  <a:cubicBezTo>
                    <a:pt x="13028" y="59668"/>
                    <a:pt x="12719" y="56729"/>
                    <a:pt x="14287" y="54769"/>
                  </a:cubicBezTo>
                  <a:cubicBezTo>
                    <a:pt x="18262" y="49801"/>
                    <a:pt x="25393" y="48861"/>
                    <a:pt x="30956" y="47625"/>
                  </a:cubicBezTo>
                  <a:cubicBezTo>
                    <a:pt x="34907" y="46747"/>
                    <a:pt x="38820" y="45441"/>
                    <a:pt x="42862" y="45244"/>
                  </a:cubicBezTo>
                  <a:cubicBezTo>
                    <a:pt x="71414" y="43851"/>
                    <a:pt x="100012" y="43657"/>
                    <a:pt x="128587" y="42863"/>
                  </a:cubicBezTo>
                  <a:cubicBezTo>
                    <a:pt x="130175" y="40482"/>
                    <a:pt x="131196" y="37604"/>
                    <a:pt x="133350" y="35719"/>
                  </a:cubicBezTo>
                  <a:cubicBezTo>
                    <a:pt x="137657" y="31950"/>
                    <a:pt x="147637" y="26194"/>
                    <a:pt x="147637" y="26194"/>
                  </a:cubicBezTo>
                  <a:cubicBezTo>
                    <a:pt x="149225" y="23019"/>
                    <a:pt x="150639" y="19751"/>
                    <a:pt x="152400" y="16669"/>
                  </a:cubicBezTo>
                  <a:cubicBezTo>
                    <a:pt x="153820" y="14184"/>
                    <a:pt x="155882" y="12085"/>
                    <a:pt x="157162" y="9525"/>
                  </a:cubicBezTo>
                  <a:cubicBezTo>
                    <a:pt x="159795" y="4259"/>
                    <a:pt x="159544" y="4060"/>
                    <a:pt x="159544" y="0"/>
                  </a:cubicBezTo>
                </a:path>
              </a:pathLst>
            </a:cu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4" name="Freeform 63"/>
            <p:cNvSpPr/>
            <p:nvPr/>
          </p:nvSpPr>
          <p:spPr>
            <a:xfrm rot="2794319">
              <a:off x="7757340" y="2855784"/>
              <a:ext cx="160337" cy="73025"/>
            </a:xfrm>
            <a:custGeom>
              <a:avLst/>
              <a:gdLst>
                <a:gd name="connsiteX0" fmla="*/ 0 w 159795"/>
                <a:gd name="connsiteY0" fmla="*/ 73819 h 73819"/>
                <a:gd name="connsiteX1" fmla="*/ 11906 w 159795"/>
                <a:gd name="connsiteY1" fmla="*/ 61913 h 73819"/>
                <a:gd name="connsiteX2" fmla="*/ 14287 w 159795"/>
                <a:gd name="connsiteY2" fmla="*/ 54769 h 73819"/>
                <a:gd name="connsiteX3" fmla="*/ 30956 w 159795"/>
                <a:gd name="connsiteY3" fmla="*/ 47625 h 73819"/>
                <a:gd name="connsiteX4" fmla="*/ 42862 w 159795"/>
                <a:gd name="connsiteY4" fmla="*/ 45244 h 73819"/>
                <a:gd name="connsiteX5" fmla="*/ 128587 w 159795"/>
                <a:gd name="connsiteY5" fmla="*/ 42863 h 73819"/>
                <a:gd name="connsiteX6" fmla="*/ 133350 w 159795"/>
                <a:gd name="connsiteY6" fmla="*/ 35719 h 73819"/>
                <a:gd name="connsiteX7" fmla="*/ 147637 w 159795"/>
                <a:gd name="connsiteY7" fmla="*/ 26194 h 73819"/>
                <a:gd name="connsiteX8" fmla="*/ 152400 w 159795"/>
                <a:gd name="connsiteY8" fmla="*/ 16669 h 73819"/>
                <a:gd name="connsiteX9" fmla="*/ 157162 w 159795"/>
                <a:gd name="connsiteY9" fmla="*/ 9525 h 73819"/>
                <a:gd name="connsiteX10" fmla="*/ 159544 w 159795"/>
                <a:gd name="connsiteY10" fmla="*/ 0 h 7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9795" h="73819">
                  <a:moveTo>
                    <a:pt x="0" y="73819"/>
                  </a:moveTo>
                  <a:cubicBezTo>
                    <a:pt x="7145" y="69057"/>
                    <a:pt x="7937" y="69851"/>
                    <a:pt x="11906" y="61913"/>
                  </a:cubicBezTo>
                  <a:cubicBezTo>
                    <a:pt x="13028" y="59668"/>
                    <a:pt x="12719" y="56729"/>
                    <a:pt x="14287" y="54769"/>
                  </a:cubicBezTo>
                  <a:cubicBezTo>
                    <a:pt x="18262" y="49801"/>
                    <a:pt x="25393" y="48861"/>
                    <a:pt x="30956" y="47625"/>
                  </a:cubicBezTo>
                  <a:cubicBezTo>
                    <a:pt x="34907" y="46747"/>
                    <a:pt x="38820" y="45441"/>
                    <a:pt x="42862" y="45244"/>
                  </a:cubicBezTo>
                  <a:cubicBezTo>
                    <a:pt x="71414" y="43851"/>
                    <a:pt x="100012" y="43657"/>
                    <a:pt x="128587" y="42863"/>
                  </a:cubicBezTo>
                  <a:cubicBezTo>
                    <a:pt x="130175" y="40482"/>
                    <a:pt x="131196" y="37604"/>
                    <a:pt x="133350" y="35719"/>
                  </a:cubicBezTo>
                  <a:cubicBezTo>
                    <a:pt x="137657" y="31950"/>
                    <a:pt x="147637" y="26194"/>
                    <a:pt x="147637" y="26194"/>
                  </a:cubicBezTo>
                  <a:cubicBezTo>
                    <a:pt x="149225" y="23019"/>
                    <a:pt x="150639" y="19751"/>
                    <a:pt x="152400" y="16669"/>
                  </a:cubicBezTo>
                  <a:cubicBezTo>
                    <a:pt x="153820" y="14184"/>
                    <a:pt x="155882" y="12085"/>
                    <a:pt x="157162" y="9525"/>
                  </a:cubicBezTo>
                  <a:cubicBezTo>
                    <a:pt x="159795" y="4259"/>
                    <a:pt x="159544" y="4060"/>
                    <a:pt x="159544" y="0"/>
                  </a:cubicBezTo>
                </a:path>
              </a:pathLst>
            </a:cu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5" name="Freeform 64"/>
            <p:cNvSpPr/>
            <p:nvPr/>
          </p:nvSpPr>
          <p:spPr>
            <a:xfrm rot="6861355">
              <a:off x="7786709" y="3048666"/>
              <a:ext cx="160337" cy="74612"/>
            </a:xfrm>
            <a:custGeom>
              <a:avLst/>
              <a:gdLst>
                <a:gd name="connsiteX0" fmla="*/ 0 w 159795"/>
                <a:gd name="connsiteY0" fmla="*/ 73819 h 73819"/>
                <a:gd name="connsiteX1" fmla="*/ 11906 w 159795"/>
                <a:gd name="connsiteY1" fmla="*/ 61913 h 73819"/>
                <a:gd name="connsiteX2" fmla="*/ 14287 w 159795"/>
                <a:gd name="connsiteY2" fmla="*/ 54769 h 73819"/>
                <a:gd name="connsiteX3" fmla="*/ 30956 w 159795"/>
                <a:gd name="connsiteY3" fmla="*/ 47625 h 73819"/>
                <a:gd name="connsiteX4" fmla="*/ 42862 w 159795"/>
                <a:gd name="connsiteY4" fmla="*/ 45244 h 73819"/>
                <a:gd name="connsiteX5" fmla="*/ 128587 w 159795"/>
                <a:gd name="connsiteY5" fmla="*/ 42863 h 73819"/>
                <a:gd name="connsiteX6" fmla="*/ 133350 w 159795"/>
                <a:gd name="connsiteY6" fmla="*/ 35719 h 73819"/>
                <a:gd name="connsiteX7" fmla="*/ 147637 w 159795"/>
                <a:gd name="connsiteY7" fmla="*/ 26194 h 73819"/>
                <a:gd name="connsiteX8" fmla="*/ 152400 w 159795"/>
                <a:gd name="connsiteY8" fmla="*/ 16669 h 73819"/>
                <a:gd name="connsiteX9" fmla="*/ 157162 w 159795"/>
                <a:gd name="connsiteY9" fmla="*/ 9525 h 73819"/>
                <a:gd name="connsiteX10" fmla="*/ 159544 w 159795"/>
                <a:gd name="connsiteY10" fmla="*/ 0 h 7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9795" h="73819">
                  <a:moveTo>
                    <a:pt x="0" y="73819"/>
                  </a:moveTo>
                  <a:cubicBezTo>
                    <a:pt x="7145" y="69057"/>
                    <a:pt x="7937" y="69851"/>
                    <a:pt x="11906" y="61913"/>
                  </a:cubicBezTo>
                  <a:cubicBezTo>
                    <a:pt x="13028" y="59668"/>
                    <a:pt x="12719" y="56729"/>
                    <a:pt x="14287" y="54769"/>
                  </a:cubicBezTo>
                  <a:cubicBezTo>
                    <a:pt x="18262" y="49801"/>
                    <a:pt x="25393" y="48861"/>
                    <a:pt x="30956" y="47625"/>
                  </a:cubicBezTo>
                  <a:cubicBezTo>
                    <a:pt x="34907" y="46747"/>
                    <a:pt x="38820" y="45441"/>
                    <a:pt x="42862" y="45244"/>
                  </a:cubicBezTo>
                  <a:cubicBezTo>
                    <a:pt x="71414" y="43851"/>
                    <a:pt x="100012" y="43657"/>
                    <a:pt x="128587" y="42863"/>
                  </a:cubicBezTo>
                  <a:cubicBezTo>
                    <a:pt x="130175" y="40482"/>
                    <a:pt x="131196" y="37604"/>
                    <a:pt x="133350" y="35719"/>
                  </a:cubicBezTo>
                  <a:cubicBezTo>
                    <a:pt x="137657" y="31950"/>
                    <a:pt x="147637" y="26194"/>
                    <a:pt x="147637" y="26194"/>
                  </a:cubicBezTo>
                  <a:cubicBezTo>
                    <a:pt x="149225" y="23019"/>
                    <a:pt x="150639" y="19751"/>
                    <a:pt x="152400" y="16669"/>
                  </a:cubicBezTo>
                  <a:cubicBezTo>
                    <a:pt x="153820" y="14184"/>
                    <a:pt x="155882" y="12085"/>
                    <a:pt x="157162" y="9525"/>
                  </a:cubicBezTo>
                  <a:cubicBezTo>
                    <a:pt x="159795" y="4259"/>
                    <a:pt x="159544" y="4060"/>
                    <a:pt x="159544" y="0"/>
                  </a:cubicBezTo>
                </a:path>
              </a:pathLst>
            </a:cu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6" name="Freeform 65"/>
            <p:cNvSpPr/>
            <p:nvPr/>
          </p:nvSpPr>
          <p:spPr>
            <a:xfrm>
              <a:off x="7572396" y="2905790"/>
              <a:ext cx="160337" cy="73025"/>
            </a:xfrm>
            <a:custGeom>
              <a:avLst/>
              <a:gdLst>
                <a:gd name="connsiteX0" fmla="*/ 0 w 159795"/>
                <a:gd name="connsiteY0" fmla="*/ 73819 h 73819"/>
                <a:gd name="connsiteX1" fmla="*/ 11906 w 159795"/>
                <a:gd name="connsiteY1" fmla="*/ 61913 h 73819"/>
                <a:gd name="connsiteX2" fmla="*/ 14287 w 159795"/>
                <a:gd name="connsiteY2" fmla="*/ 54769 h 73819"/>
                <a:gd name="connsiteX3" fmla="*/ 30956 w 159795"/>
                <a:gd name="connsiteY3" fmla="*/ 47625 h 73819"/>
                <a:gd name="connsiteX4" fmla="*/ 42862 w 159795"/>
                <a:gd name="connsiteY4" fmla="*/ 45244 h 73819"/>
                <a:gd name="connsiteX5" fmla="*/ 128587 w 159795"/>
                <a:gd name="connsiteY5" fmla="*/ 42863 h 73819"/>
                <a:gd name="connsiteX6" fmla="*/ 133350 w 159795"/>
                <a:gd name="connsiteY6" fmla="*/ 35719 h 73819"/>
                <a:gd name="connsiteX7" fmla="*/ 147637 w 159795"/>
                <a:gd name="connsiteY7" fmla="*/ 26194 h 73819"/>
                <a:gd name="connsiteX8" fmla="*/ 152400 w 159795"/>
                <a:gd name="connsiteY8" fmla="*/ 16669 h 73819"/>
                <a:gd name="connsiteX9" fmla="*/ 157162 w 159795"/>
                <a:gd name="connsiteY9" fmla="*/ 9525 h 73819"/>
                <a:gd name="connsiteX10" fmla="*/ 159544 w 159795"/>
                <a:gd name="connsiteY10" fmla="*/ 0 h 7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9795" h="73819">
                  <a:moveTo>
                    <a:pt x="0" y="73819"/>
                  </a:moveTo>
                  <a:cubicBezTo>
                    <a:pt x="7145" y="69057"/>
                    <a:pt x="7937" y="69851"/>
                    <a:pt x="11906" y="61913"/>
                  </a:cubicBezTo>
                  <a:cubicBezTo>
                    <a:pt x="13028" y="59668"/>
                    <a:pt x="12719" y="56729"/>
                    <a:pt x="14287" y="54769"/>
                  </a:cubicBezTo>
                  <a:cubicBezTo>
                    <a:pt x="18262" y="49801"/>
                    <a:pt x="25393" y="48861"/>
                    <a:pt x="30956" y="47625"/>
                  </a:cubicBezTo>
                  <a:cubicBezTo>
                    <a:pt x="34907" y="46747"/>
                    <a:pt x="38820" y="45441"/>
                    <a:pt x="42862" y="45244"/>
                  </a:cubicBezTo>
                  <a:cubicBezTo>
                    <a:pt x="71414" y="43851"/>
                    <a:pt x="100012" y="43657"/>
                    <a:pt x="128587" y="42863"/>
                  </a:cubicBezTo>
                  <a:cubicBezTo>
                    <a:pt x="130175" y="40482"/>
                    <a:pt x="131196" y="37604"/>
                    <a:pt x="133350" y="35719"/>
                  </a:cubicBezTo>
                  <a:cubicBezTo>
                    <a:pt x="137657" y="31950"/>
                    <a:pt x="147637" y="26194"/>
                    <a:pt x="147637" y="26194"/>
                  </a:cubicBezTo>
                  <a:cubicBezTo>
                    <a:pt x="149225" y="23019"/>
                    <a:pt x="150639" y="19751"/>
                    <a:pt x="152400" y="16669"/>
                  </a:cubicBezTo>
                  <a:cubicBezTo>
                    <a:pt x="153820" y="14184"/>
                    <a:pt x="155882" y="12085"/>
                    <a:pt x="157162" y="9525"/>
                  </a:cubicBezTo>
                  <a:cubicBezTo>
                    <a:pt x="159795" y="4259"/>
                    <a:pt x="159544" y="4060"/>
                    <a:pt x="159544" y="0"/>
                  </a:cubicBezTo>
                </a:path>
              </a:pathLst>
            </a:cu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7" name="Freeform 66"/>
            <p:cNvSpPr/>
            <p:nvPr/>
          </p:nvSpPr>
          <p:spPr>
            <a:xfrm rot="10274383">
              <a:off x="7572396" y="3048665"/>
              <a:ext cx="160337" cy="73025"/>
            </a:xfrm>
            <a:custGeom>
              <a:avLst/>
              <a:gdLst>
                <a:gd name="connsiteX0" fmla="*/ 0 w 159795"/>
                <a:gd name="connsiteY0" fmla="*/ 73819 h 73819"/>
                <a:gd name="connsiteX1" fmla="*/ 11906 w 159795"/>
                <a:gd name="connsiteY1" fmla="*/ 61913 h 73819"/>
                <a:gd name="connsiteX2" fmla="*/ 14287 w 159795"/>
                <a:gd name="connsiteY2" fmla="*/ 54769 h 73819"/>
                <a:gd name="connsiteX3" fmla="*/ 30956 w 159795"/>
                <a:gd name="connsiteY3" fmla="*/ 47625 h 73819"/>
                <a:gd name="connsiteX4" fmla="*/ 42862 w 159795"/>
                <a:gd name="connsiteY4" fmla="*/ 45244 h 73819"/>
                <a:gd name="connsiteX5" fmla="*/ 128587 w 159795"/>
                <a:gd name="connsiteY5" fmla="*/ 42863 h 73819"/>
                <a:gd name="connsiteX6" fmla="*/ 133350 w 159795"/>
                <a:gd name="connsiteY6" fmla="*/ 35719 h 73819"/>
                <a:gd name="connsiteX7" fmla="*/ 147637 w 159795"/>
                <a:gd name="connsiteY7" fmla="*/ 26194 h 73819"/>
                <a:gd name="connsiteX8" fmla="*/ 152400 w 159795"/>
                <a:gd name="connsiteY8" fmla="*/ 16669 h 73819"/>
                <a:gd name="connsiteX9" fmla="*/ 157162 w 159795"/>
                <a:gd name="connsiteY9" fmla="*/ 9525 h 73819"/>
                <a:gd name="connsiteX10" fmla="*/ 159544 w 159795"/>
                <a:gd name="connsiteY10" fmla="*/ 0 h 7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9795" h="73819">
                  <a:moveTo>
                    <a:pt x="0" y="73819"/>
                  </a:moveTo>
                  <a:cubicBezTo>
                    <a:pt x="7145" y="69057"/>
                    <a:pt x="7937" y="69851"/>
                    <a:pt x="11906" y="61913"/>
                  </a:cubicBezTo>
                  <a:cubicBezTo>
                    <a:pt x="13028" y="59668"/>
                    <a:pt x="12719" y="56729"/>
                    <a:pt x="14287" y="54769"/>
                  </a:cubicBezTo>
                  <a:cubicBezTo>
                    <a:pt x="18262" y="49801"/>
                    <a:pt x="25393" y="48861"/>
                    <a:pt x="30956" y="47625"/>
                  </a:cubicBezTo>
                  <a:cubicBezTo>
                    <a:pt x="34907" y="46747"/>
                    <a:pt x="38820" y="45441"/>
                    <a:pt x="42862" y="45244"/>
                  </a:cubicBezTo>
                  <a:cubicBezTo>
                    <a:pt x="71414" y="43851"/>
                    <a:pt x="100012" y="43657"/>
                    <a:pt x="128587" y="42863"/>
                  </a:cubicBezTo>
                  <a:cubicBezTo>
                    <a:pt x="130175" y="40482"/>
                    <a:pt x="131196" y="37604"/>
                    <a:pt x="133350" y="35719"/>
                  </a:cubicBezTo>
                  <a:cubicBezTo>
                    <a:pt x="137657" y="31950"/>
                    <a:pt x="147637" y="26194"/>
                    <a:pt x="147637" y="26194"/>
                  </a:cubicBezTo>
                  <a:cubicBezTo>
                    <a:pt x="149225" y="23019"/>
                    <a:pt x="150639" y="19751"/>
                    <a:pt x="152400" y="16669"/>
                  </a:cubicBezTo>
                  <a:cubicBezTo>
                    <a:pt x="153820" y="14184"/>
                    <a:pt x="155882" y="12085"/>
                    <a:pt x="157162" y="9525"/>
                  </a:cubicBezTo>
                  <a:cubicBezTo>
                    <a:pt x="159795" y="4259"/>
                    <a:pt x="159544" y="4060"/>
                    <a:pt x="159544" y="0"/>
                  </a:cubicBezTo>
                </a:path>
              </a:pathLst>
            </a:cu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249322">
              <a:off x="7651771" y="3145503"/>
              <a:ext cx="160337" cy="74612"/>
            </a:xfrm>
            <a:custGeom>
              <a:avLst/>
              <a:gdLst>
                <a:gd name="connsiteX0" fmla="*/ 0 w 159795"/>
                <a:gd name="connsiteY0" fmla="*/ 73819 h 73819"/>
                <a:gd name="connsiteX1" fmla="*/ 11906 w 159795"/>
                <a:gd name="connsiteY1" fmla="*/ 61913 h 73819"/>
                <a:gd name="connsiteX2" fmla="*/ 14287 w 159795"/>
                <a:gd name="connsiteY2" fmla="*/ 54769 h 73819"/>
                <a:gd name="connsiteX3" fmla="*/ 30956 w 159795"/>
                <a:gd name="connsiteY3" fmla="*/ 47625 h 73819"/>
                <a:gd name="connsiteX4" fmla="*/ 42862 w 159795"/>
                <a:gd name="connsiteY4" fmla="*/ 45244 h 73819"/>
                <a:gd name="connsiteX5" fmla="*/ 128587 w 159795"/>
                <a:gd name="connsiteY5" fmla="*/ 42863 h 73819"/>
                <a:gd name="connsiteX6" fmla="*/ 133350 w 159795"/>
                <a:gd name="connsiteY6" fmla="*/ 35719 h 73819"/>
                <a:gd name="connsiteX7" fmla="*/ 147637 w 159795"/>
                <a:gd name="connsiteY7" fmla="*/ 26194 h 73819"/>
                <a:gd name="connsiteX8" fmla="*/ 152400 w 159795"/>
                <a:gd name="connsiteY8" fmla="*/ 16669 h 73819"/>
                <a:gd name="connsiteX9" fmla="*/ 157162 w 159795"/>
                <a:gd name="connsiteY9" fmla="*/ 9525 h 73819"/>
                <a:gd name="connsiteX10" fmla="*/ 159544 w 159795"/>
                <a:gd name="connsiteY10" fmla="*/ 0 h 7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9795" h="73819">
                  <a:moveTo>
                    <a:pt x="0" y="73819"/>
                  </a:moveTo>
                  <a:cubicBezTo>
                    <a:pt x="7145" y="69057"/>
                    <a:pt x="7937" y="69851"/>
                    <a:pt x="11906" y="61913"/>
                  </a:cubicBezTo>
                  <a:cubicBezTo>
                    <a:pt x="13028" y="59668"/>
                    <a:pt x="12719" y="56729"/>
                    <a:pt x="14287" y="54769"/>
                  </a:cubicBezTo>
                  <a:cubicBezTo>
                    <a:pt x="18262" y="49801"/>
                    <a:pt x="25393" y="48861"/>
                    <a:pt x="30956" y="47625"/>
                  </a:cubicBezTo>
                  <a:cubicBezTo>
                    <a:pt x="34907" y="46747"/>
                    <a:pt x="38820" y="45441"/>
                    <a:pt x="42862" y="45244"/>
                  </a:cubicBezTo>
                  <a:cubicBezTo>
                    <a:pt x="71414" y="43851"/>
                    <a:pt x="100012" y="43657"/>
                    <a:pt x="128587" y="42863"/>
                  </a:cubicBezTo>
                  <a:cubicBezTo>
                    <a:pt x="130175" y="40482"/>
                    <a:pt x="131196" y="37604"/>
                    <a:pt x="133350" y="35719"/>
                  </a:cubicBezTo>
                  <a:cubicBezTo>
                    <a:pt x="137657" y="31950"/>
                    <a:pt x="147637" y="26194"/>
                    <a:pt x="147637" y="26194"/>
                  </a:cubicBezTo>
                  <a:cubicBezTo>
                    <a:pt x="149225" y="23019"/>
                    <a:pt x="150639" y="19751"/>
                    <a:pt x="152400" y="16669"/>
                  </a:cubicBezTo>
                  <a:cubicBezTo>
                    <a:pt x="153820" y="14184"/>
                    <a:pt x="155882" y="12085"/>
                    <a:pt x="157162" y="9525"/>
                  </a:cubicBezTo>
                  <a:cubicBezTo>
                    <a:pt x="159795" y="4259"/>
                    <a:pt x="159544" y="4060"/>
                    <a:pt x="159544" y="0"/>
                  </a:cubicBezTo>
                </a:path>
              </a:pathLst>
            </a:cu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cxnSp>
        <p:nvCxnSpPr>
          <p:cNvPr id="69" name="Straight Connector 68"/>
          <p:cNvCxnSpPr/>
          <p:nvPr/>
        </p:nvCxnSpPr>
        <p:spPr>
          <a:xfrm>
            <a:off x="2309813" y="928688"/>
            <a:ext cx="7500938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itle 4"/>
          <p:cNvSpPr txBox="1"/>
          <p:nvPr/>
        </p:nvSpPr>
        <p:spPr>
          <a:xfrm>
            <a:off x="2343150" y="214313"/>
            <a:ext cx="7467600" cy="48895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3200" b="1" dirty="0">
                <a:solidFill>
                  <a:schemeClr val="accent1"/>
                </a:solidFill>
              </a:rPr>
              <a:t>Differential solubility / Organic solvents</a:t>
            </a:r>
            <a:endParaRPr lang="en-US" sz="3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3567114" y="1428751"/>
            <a:ext cx="500063" cy="50006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C</a:t>
            </a:r>
            <a:endParaRPr lang="en-US" b="1" dirty="0"/>
          </a:p>
        </p:txBody>
      </p:sp>
    </p:spTree>
    <p:custDataLst>
      <p:tags r:id="rId2"/>
    </p:custDataLst>
  </p:cSld>
  <p:clrMapOvr>
    <a:masterClrMapping/>
  </p:clrMapOvr>
  <p:transition spd="slow" advTm="22732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2" grpId="0" animBg="1"/>
      <p:bldP spid="86022" grpId="1" animBg="1"/>
      <p:bldP spid="86027" grpId="0" animBg="1"/>
      <p:bldP spid="86029" grpId="0" animBg="1"/>
      <p:bldP spid="86030" grpId="0" animBg="1"/>
      <p:bldP spid="86031" grpId="0"/>
      <p:bldP spid="86032" grpId="0"/>
      <p:bldP spid="86033" grpId="0" animBg="1"/>
      <p:bldP spid="86034" grpId="0" animBg="1"/>
      <p:bldP spid="86035" grpId="0" animBg="1"/>
      <p:bldP spid="86037" grpId="0"/>
      <p:bldP spid="86042" grpId="0" animBg="1"/>
      <p:bldP spid="86042" grpId="1" animBg="1"/>
      <p:bldP spid="86043" grpId="0"/>
      <p:bldP spid="86045" grpId="0"/>
      <p:bldP spid="86054" grpId="0"/>
      <p:bldP spid="86054" grpId="1"/>
      <p:bldP spid="86055" grpId="0"/>
      <p:bldP spid="86055" grpId="1"/>
      <p:bldP spid="86056" grpId="0"/>
      <p:bldP spid="86056" grpId="1"/>
      <p:bldP spid="7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2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/>
          <a:p>
            <a:pPr>
              <a:spcBef>
                <a:spcPct val="0"/>
              </a:spcBef>
            </a:pPr>
            <a:fld id="{9A0DB2DC-4C9A-4742-B13C-FB6460FD3503}" type="slidenum">
              <a:rPr lang="en-US" altLang="ar-JO" dirty="0">
                <a:solidFill>
                  <a:srgbClr val="898989"/>
                </a:solidFill>
                <a:cs typeface="Arial" panose="020B0604020202020204" pitchFamily="34" charset="0"/>
              </a:rPr>
            </a:fld>
            <a:endParaRPr lang="en-US" altLang="ar-JO" dirty="0">
              <a:solidFill>
                <a:srgbClr val="898989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579" name="Picture 3"/>
          <p:cNvPicPr>
            <a:picLocks noChangeAspect="1"/>
          </p:cNvPicPr>
          <p:nvPr/>
        </p:nvPicPr>
        <p:blipFill rotWithShape="1">
          <a:blip r:embed="rId1"/>
          <a:srcRect l="18298" t="4248" r="57875" b="12183"/>
          <a:stretch>
            <a:fillRect/>
          </a:stretch>
        </p:blipFill>
        <p:spPr>
          <a:xfrm>
            <a:off x="89234" y="637686"/>
            <a:ext cx="2668495" cy="558262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Picture 1" descr="Diagram&#10;&#10;Description automatically generated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829"/>
          <a:stretch>
            <a:fillRect/>
          </a:stretch>
        </p:blipFill>
        <p:spPr>
          <a:xfrm>
            <a:off x="7202658" y="450166"/>
            <a:ext cx="4693676" cy="5906184"/>
          </a:xfrm>
          <a:prstGeom prst="rect">
            <a:avLst/>
          </a:prstGeom>
        </p:spPr>
      </p:pic>
      <p:pic>
        <p:nvPicPr>
          <p:cNvPr id="3" name="Picture 2" descr="A picture containing text, device&#10;&#10;Description automatically generated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t="5997" r="23567" b="6612"/>
          <a:stretch>
            <a:fillRect/>
          </a:stretch>
        </p:blipFill>
        <p:spPr>
          <a:xfrm>
            <a:off x="2982350" y="557993"/>
            <a:ext cx="4220308" cy="5742012"/>
          </a:xfrm>
          <a:prstGeom prst="rect">
            <a:avLst/>
          </a:prstGeom>
        </p:spPr>
      </p:pic>
    </p:spTree>
  </p:cSld>
  <p:clrMapOvr>
    <a:masterClrMapping/>
  </p:clrMapOvr>
  <p:transition spd="slow" advTm="58218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Box 32"/>
          <p:cNvSpPr txBox="1"/>
          <p:nvPr/>
        </p:nvSpPr>
        <p:spPr>
          <a:xfrm>
            <a:off x="4481513" y="2643189"/>
            <a:ext cx="114300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ar-JO" sz="1400" dirty="0">
                <a:solidFill>
                  <a:srgbClr val="FF0000"/>
                </a:solidFill>
                <a:cs typeface="Arial" panose="020B0604020202020204" pitchFamily="34" charset="0"/>
              </a:rPr>
              <a:t>Centrifuge</a:t>
            </a:r>
            <a:endParaRPr lang="en-US" altLang="ar-JO" sz="1400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  <p:sp>
        <p:nvSpPr>
          <p:cNvPr id="143367" name="AutoShape 7"/>
          <p:cNvSpPr/>
          <p:nvPr/>
        </p:nvSpPr>
        <p:spPr>
          <a:xfrm rot="5400000">
            <a:off x="5348288" y="2687638"/>
            <a:ext cx="914400" cy="457200"/>
          </a:xfrm>
          <a:prstGeom prst="homePlate">
            <a:avLst>
              <a:gd name="adj" fmla="val 50000"/>
            </a:avLst>
          </a:pr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endParaRPr lang="ar-JO" altLang="ar-JO" sz="1800" dirty="0">
              <a:ea typeface="Arial" panose="020B0604020202020204" pitchFamily="34" charset="0"/>
            </a:endParaRPr>
          </a:p>
        </p:txBody>
      </p:sp>
      <p:sp>
        <p:nvSpPr>
          <p:cNvPr id="143368" name="Rectangle 8"/>
          <p:cNvSpPr/>
          <p:nvPr/>
        </p:nvSpPr>
        <p:spPr>
          <a:xfrm>
            <a:off x="5576888" y="2459038"/>
            <a:ext cx="457200" cy="1651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endParaRPr lang="ar-JO" altLang="ar-JO" sz="1800" dirty="0">
              <a:ea typeface="Arial" panose="020B0604020202020204" pitchFamily="34" charset="0"/>
            </a:endParaRPr>
          </a:p>
        </p:txBody>
      </p:sp>
      <p:sp>
        <p:nvSpPr>
          <p:cNvPr id="143369" name="AutoShape 9"/>
          <p:cNvSpPr/>
          <p:nvPr/>
        </p:nvSpPr>
        <p:spPr>
          <a:xfrm rot="10800000">
            <a:off x="5716588" y="3281364"/>
            <a:ext cx="182562" cy="92075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endParaRPr lang="ar-JO" altLang="ar-JO" sz="1800" dirty="0">
              <a:ea typeface="Arial" panose="020B0604020202020204" pitchFamily="34" charset="0"/>
            </a:endParaRPr>
          </a:p>
        </p:txBody>
      </p:sp>
      <p:sp>
        <p:nvSpPr>
          <p:cNvPr id="143370" name="AutoShape 10"/>
          <p:cNvSpPr/>
          <p:nvPr/>
        </p:nvSpPr>
        <p:spPr>
          <a:xfrm rot="5400000">
            <a:off x="6592888" y="2687638"/>
            <a:ext cx="914400" cy="457200"/>
          </a:xfrm>
          <a:prstGeom prst="homePlate">
            <a:avLst>
              <a:gd name="adj" fmla="val 50000"/>
            </a:avLst>
          </a:prstGeom>
          <a:solidFill>
            <a:srgbClr val="CCFFFF">
              <a:alpha val="38823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endParaRPr lang="ar-JO" altLang="ar-JO" sz="1800" dirty="0">
              <a:ea typeface="Arial" panose="020B0604020202020204" pitchFamily="34" charset="0"/>
            </a:endParaRPr>
          </a:p>
        </p:txBody>
      </p:sp>
      <p:sp>
        <p:nvSpPr>
          <p:cNvPr id="143371" name="Rectangle 11"/>
          <p:cNvSpPr/>
          <p:nvPr/>
        </p:nvSpPr>
        <p:spPr>
          <a:xfrm>
            <a:off x="6821488" y="2459038"/>
            <a:ext cx="457200" cy="1651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endParaRPr lang="ar-JO" altLang="ar-JO" sz="1800" dirty="0">
              <a:ea typeface="Arial" panose="020B0604020202020204" pitchFamily="34" charset="0"/>
            </a:endParaRPr>
          </a:p>
        </p:txBody>
      </p:sp>
      <p:sp>
        <p:nvSpPr>
          <p:cNvPr id="143372" name="AutoShape 12"/>
          <p:cNvSpPr/>
          <p:nvPr/>
        </p:nvSpPr>
        <p:spPr>
          <a:xfrm rot="-7800000">
            <a:off x="7038976" y="2968626"/>
            <a:ext cx="182563" cy="92075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endParaRPr lang="ar-JO" altLang="ar-JO" sz="1800" dirty="0">
              <a:ea typeface="Arial" panose="020B0604020202020204" pitchFamily="34" charset="0"/>
            </a:endParaRPr>
          </a:p>
        </p:txBody>
      </p:sp>
      <p:sp>
        <p:nvSpPr>
          <p:cNvPr id="143373" name="AutoShape 13"/>
          <p:cNvSpPr/>
          <p:nvPr/>
        </p:nvSpPr>
        <p:spPr>
          <a:xfrm rot="5400000">
            <a:off x="8189913" y="2687638"/>
            <a:ext cx="914400" cy="457200"/>
          </a:xfrm>
          <a:prstGeom prst="homePlate">
            <a:avLst>
              <a:gd name="adj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endParaRPr lang="ar-JO" altLang="ar-JO" sz="1800" dirty="0">
              <a:ea typeface="Arial" panose="020B0604020202020204" pitchFamily="34" charset="0"/>
            </a:endParaRPr>
          </a:p>
        </p:txBody>
      </p:sp>
      <p:sp>
        <p:nvSpPr>
          <p:cNvPr id="143374" name="AutoShape 14"/>
          <p:cNvSpPr/>
          <p:nvPr/>
        </p:nvSpPr>
        <p:spPr>
          <a:xfrm rot="10800000">
            <a:off x="8558213" y="3281364"/>
            <a:ext cx="182562" cy="92075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endParaRPr lang="ar-JO" altLang="ar-JO" sz="1800" dirty="0">
              <a:ea typeface="Arial" panose="020B0604020202020204" pitchFamily="34" charset="0"/>
            </a:endParaRPr>
          </a:p>
        </p:txBody>
      </p:sp>
      <p:sp>
        <p:nvSpPr>
          <p:cNvPr id="143375" name="Line 15"/>
          <p:cNvSpPr/>
          <p:nvPr/>
        </p:nvSpPr>
        <p:spPr>
          <a:xfrm rot="2700000">
            <a:off x="5426075" y="2638425"/>
            <a:ext cx="27463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sm" len="sm"/>
            <a:tailEnd type="oval" w="sm" len="sm"/>
          </a:ln>
        </p:spPr>
      </p:sp>
      <p:sp>
        <p:nvSpPr>
          <p:cNvPr id="143376" name="Text Box 16"/>
          <p:cNvSpPr txBox="1"/>
          <p:nvPr/>
        </p:nvSpPr>
        <p:spPr>
          <a:xfrm>
            <a:off x="4852988" y="2357438"/>
            <a:ext cx="990600" cy="228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ar-JO" sz="900" dirty="0">
                <a:cs typeface="Arial" panose="020B0604020202020204" pitchFamily="34" charset="0"/>
              </a:rPr>
              <a:t>Supernatant</a:t>
            </a:r>
            <a:endParaRPr lang="en-US" altLang="ar-JO" sz="900" dirty="0">
              <a:ea typeface="Arial" panose="020B0604020202020204" pitchFamily="34" charset="0"/>
            </a:endParaRPr>
          </a:p>
        </p:txBody>
      </p:sp>
      <p:sp>
        <p:nvSpPr>
          <p:cNvPr id="143377" name="Line 17"/>
          <p:cNvSpPr/>
          <p:nvPr/>
        </p:nvSpPr>
        <p:spPr>
          <a:xfrm>
            <a:off x="5530850" y="3309938"/>
            <a:ext cx="27463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oval" w="sm" len="sm"/>
          </a:ln>
        </p:spPr>
      </p:sp>
      <p:sp>
        <p:nvSpPr>
          <p:cNvPr id="143378" name="Text Box 18"/>
          <p:cNvSpPr txBox="1"/>
          <p:nvPr/>
        </p:nvSpPr>
        <p:spPr>
          <a:xfrm>
            <a:off x="5106988" y="3182938"/>
            <a:ext cx="469900" cy="2286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ar-JO" sz="900" dirty="0">
                <a:cs typeface="Arial" panose="020B0604020202020204" pitchFamily="34" charset="0"/>
              </a:rPr>
              <a:t>Pellet</a:t>
            </a:r>
            <a:endParaRPr lang="en-US" altLang="ar-JO" sz="900" dirty="0">
              <a:ea typeface="Arial" panose="020B0604020202020204" pitchFamily="34" charset="0"/>
            </a:endParaRPr>
          </a:p>
        </p:txBody>
      </p:sp>
      <p:sp>
        <p:nvSpPr>
          <p:cNvPr id="143379" name="Line 19"/>
          <p:cNvSpPr/>
          <p:nvPr/>
        </p:nvSpPr>
        <p:spPr>
          <a:xfrm rot="2700000">
            <a:off x="6657975" y="2646363"/>
            <a:ext cx="27463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sm" len="sm"/>
            <a:tailEnd type="oval" w="sm" len="sm"/>
          </a:ln>
        </p:spPr>
      </p:sp>
      <p:sp>
        <p:nvSpPr>
          <p:cNvPr id="143380" name="Text Box 20"/>
          <p:cNvSpPr txBox="1"/>
          <p:nvPr/>
        </p:nvSpPr>
        <p:spPr>
          <a:xfrm>
            <a:off x="6148388" y="2370138"/>
            <a:ext cx="990600" cy="228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ar-JO" sz="900" dirty="0">
                <a:cs typeface="Arial" panose="020B0604020202020204" pitchFamily="34" charset="0"/>
              </a:rPr>
              <a:t>70% EtOH</a:t>
            </a:r>
            <a:endParaRPr lang="en-US" altLang="ar-JO" sz="900" dirty="0">
              <a:ea typeface="Arial" panose="020B0604020202020204" pitchFamily="34" charset="0"/>
            </a:endParaRPr>
          </a:p>
        </p:txBody>
      </p:sp>
      <p:sp>
        <p:nvSpPr>
          <p:cNvPr id="143381" name="AutoShape 21"/>
          <p:cNvSpPr/>
          <p:nvPr/>
        </p:nvSpPr>
        <p:spPr>
          <a:xfrm rot="5400000">
            <a:off x="9339263" y="2687638"/>
            <a:ext cx="914400" cy="457200"/>
          </a:xfrm>
          <a:prstGeom prst="homePlate">
            <a:avLst>
              <a:gd name="adj" fmla="val 50000"/>
            </a:avLst>
          </a:prstGeom>
          <a:solidFill>
            <a:srgbClr val="CCE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endParaRPr lang="ar-JO" altLang="ar-JO" sz="1800" dirty="0">
              <a:ea typeface="Arial" panose="020B0604020202020204" pitchFamily="34" charset="0"/>
            </a:endParaRPr>
          </a:p>
        </p:txBody>
      </p:sp>
      <p:sp>
        <p:nvSpPr>
          <p:cNvPr id="143382" name="Rectangle 22"/>
          <p:cNvSpPr/>
          <p:nvPr/>
        </p:nvSpPr>
        <p:spPr>
          <a:xfrm>
            <a:off x="9567863" y="2459038"/>
            <a:ext cx="457200" cy="685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endParaRPr lang="ar-JO" altLang="ar-JO" sz="1800" dirty="0">
              <a:ea typeface="Arial" panose="020B0604020202020204" pitchFamily="34" charset="0"/>
            </a:endParaRPr>
          </a:p>
        </p:txBody>
      </p:sp>
      <p:sp>
        <p:nvSpPr>
          <p:cNvPr id="143383" name="Text Box 23"/>
          <p:cNvSpPr txBox="1"/>
          <p:nvPr/>
        </p:nvSpPr>
        <p:spPr>
          <a:xfrm>
            <a:off x="9124951" y="3360738"/>
            <a:ext cx="1400175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ar-JO" sz="1400" dirty="0">
                <a:cs typeface="Arial" panose="020B0604020202020204" pitchFamily="34" charset="0"/>
              </a:rPr>
              <a:t>Dissolve pellet (H</a:t>
            </a:r>
            <a:r>
              <a:rPr lang="en-US" altLang="ar-JO" sz="1400" baseline="-25000" dirty="0">
                <a:cs typeface="Arial" panose="020B0604020202020204" pitchFamily="34" charset="0"/>
              </a:rPr>
              <a:t>2</a:t>
            </a:r>
            <a:r>
              <a:rPr lang="en-US" altLang="ar-JO" sz="1400" dirty="0">
                <a:cs typeface="Arial" panose="020B0604020202020204" pitchFamily="34" charset="0"/>
              </a:rPr>
              <a:t>O, TE, etc.)</a:t>
            </a:r>
            <a:endParaRPr lang="en-US" altLang="ar-JO" sz="1400" dirty="0">
              <a:ea typeface="Arial" panose="020B0604020202020204" pitchFamily="34" charset="0"/>
            </a:endParaRPr>
          </a:p>
        </p:txBody>
      </p:sp>
      <p:pic>
        <p:nvPicPr>
          <p:cNvPr id="143384" name="Picture 24"/>
          <p:cNvPicPr>
            <a:picLocks noChangeAspect="1"/>
          </p:cNvPicPr>
          <p:nvPr/>
        </p:nvPicPr>
        <p:blipFill>
          <a:blip r:embed="rId1"/>
          <a:srcRect l="11998" t="7681" r="8159" b="15363"/>
          <a:stretch>
            <a:fillRect/>
          </a:stretch>
        </p:blipFill>
        <p:spPr>
          <a:xfrm>
            <a:off x="3190875" y="3927475"/>
            <a:ext cx="2197100" cy="2382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387" name="Text Box 27"/>
          <p:cNvSpPr txBox="1"/>
          <p:nvPr/>
        </p:nvSpPr>
        <p:spPr>
          <a:xfrm>
            <a:off x="3362325" y="3568700"/>
            <a:ext cx="857250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ar-JO" sz="1400" b="1" i="1" dirty="0">
                <a:cs typeface="Arial" panose="020B0604020202020204" pitchFamily="34" charset="0"/>
              </a:rPr>
              <a:t>Before</a:t>
            </a:r>
            <a:endParaRPr lang="en-US" altLang="ar-JO" sz="1400" b="1" i="1" dirty="0">
              <a:ea typeface="Arial" panose="020B0604020202020204" pitchFamily="34" charset="0"/>
            </a:endParaRPr>
          </a:p>
        </p:txBody>
      </p:sp>
      <p:sp>
        <p:nvSpPr>
          <p:cNvPr id="143390" name="Text Box 30"/>
          <p:cNvSpPr txBox="1"/>
          <p:nvPr/>
        </p:nvSpPr>
        <p:spPr>
          <a:xfrm>
            <a:off x="4289425" y="3549650"/>
            <a:ext cx="857250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ar-JO" sz="1400" b="1" i="1" dirty="0">
                <a:cs typeface="Arial" panose="020B0604020202020204" pitchFamily="34" charset="0"/>
              </a:rPr>
              <a:t>After</a:t>
            </a:r>
            <a:endParaRPr lang="en-US" altLang="ar-JO" sz="1400" b="1" i="1" dirty="0">
              <a:ea typeface="Arial" panose="020B0604020202020204" pitchFamily="34" charset="0"/>
            </a:endParaRPr>
          </a:p>
        </p:txBody>
      </p:sp>
      <p:sp>
        <p:nvSpPr>
          <p:cNvPr id="143393" name="Line 33"/>
          <p:cNvSpPr/>
          <p:nvPr/>
        </p:nvSpPr>
        <p:spPr>
          <a:xfrm>
            <a:off x="6143625" y="2898775"/>
            <a:ext cx="54768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3394" name="Text Box 34"/>
          <p:cNvSpPr txBox="1"/>
          <p:nvPr/>
        </p:nvSpPr>
        <p:spPr>
          <a:xfrm>
            <a:off x="6072189" y="2627313"/>
            <a:ext cx="1158875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ar-JO" sz="1400" dirty="0">
                <a:solidFill>
                  <a:srgbClr val="FF0000"/>
                </a:solidFill>
                <a:cs typeface="Arial" panose="020B0604020202020204" pitchFamily="34" charset="0"/>
              </a:rPr>
              <a:t>Wash</a:t>
            </a:r>
            <a:endParaRPr lang="en-US" altLang="ar-JO" sz="1400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  <p:sp>
        <p:nvSpPr>
          <p:cNvPr id="143395" name="Line 35"/>
          <p:cNvSpPr/>
          <p:nvPr/>
        </p:nvSpPr>
        <p:spPr>
          <a:xfrm>
            <a:off x="7394575" y="2898775"/>
            <a:ext cx="9144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3396" name="Text Box 36"/>
          <p:cNvSpPr txBox="1"/>
          <p:nvPr/>
        </p:nvSpPr>
        <p:spPr>
          <a:xfrm>
            <a:off x="7335839" y="2627313"/>
            <a:ext cx="1158875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ar-JO" sz="1400" dirty="0">
                <a:solidFill>
                  <a:srgbClr val="FF0000"/>
                </a:solidFill>
                <a:cs typeface="Arial" panose="020B0604020202020204" pitchFamily="34" charset="0"/>
              </a:rPr>
              <a:t>Centrifuge</a:t>
            </a:r>
            <a:endParaRPr lang="en-US" altLang="ar-JO" sz="1400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  <p:sp>
        <p:nvSpPr>
          <p:cNvPr id="143397" name="Line 37"/>
          <p:cNvSpPr/>
          <p:nvPr/>
        </p:nvSpPr>
        <p:spPr>
          <a:xfrm>
            <a:off x="8994776" y="2898775"/>
            <a:ext cx="360363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26652" name="Group 30"/>
          <p:cNvGrpSpPr/>
          <p:nvPr/>
        </p:nvGrpSpPr>
        <p:grpSpPr>
          <a:xfrm>
            <a:off x="2195513" y="2428875"/>
            <a:ext cx="457200" cy="920750"/>
            <a:chOff x="4704" y="1080"/>
            <a:chExt cx="288" cy="580"/>
          </a:xfrm>
        </p:grpSpPr>
        <p:sp>
          <p:nvSpPr>
            <p:cNvPr id="26667" name="AutoShape 31"/>
            <p:cNvSpPr/>
            <p:nvPr/>
          </p:nvSpPr>
          <p:spPr>
            <a:xfrm rot="5400000">
              <a:off x="4560" y="1228"/>
              <a:ext cx="576" cy="288"/>
            </a:xfrm>
            <a:prstGeom prst="homePlate">
              <a:avLst>
                <a:gd name="adj" fmla="val 50000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endParaRPr lang="ar-JO" altLang="ar-JO" sz="1800" dirty="0">
                <a:ea typeface="Arial" panose="020B0604020202020204" pitchFamily="34" charset="0"/>
              </a:endParaRPr>
            </a:p>
          </p:txBody>
        </p:sp>
        <p:sp>
          <p:nvSpPr>
            <p:cNvPr id="26668" name="Rectangle 32"/>
            <p:cNvSpPr/>
            <p:nvPr/>
          </p:nvSpPr>
          <p:spPr>
            <a:xfrm>
              <a:off x="4704" y="1080"/>
              <a:ext cx="288" cy="22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endParaRPr lang="ar-JO" altLang="ar-JO" sz="1800" dirty="0">
                <a:ea typeface="Arial" panose="020B0604020202020204" pitchFamily="34" charset="0"/>
              </a:endParaRPr>
            </a:p>
          </p:txBody>
        </p:sp>
      </p:grpSp>
      <p:sp>
        <p:nvSpPr>
          <p:cNvPr id="26653" name="Line 25"/>
          <p:cNvSpPr/>
          <p:nvPr/>
        </p:nvSpPr>
        <p:spPr>
          <a:xfrm flipV="1">
            <a:off x="2343150" y="3429000"/>
            <a:ext cx="0" cy="1828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oval" w="sm" len="sm"/>
          </a:ln>
        </p:spPr>
      </p:sp>
      <p:sp>
        <p:nvSpPr>
          <p:cNvPr id="26654" name="Text Box 26"/>
          <p:cNvSpPr txBox="1"/>
          <p:nvPr/>
        </p:nvSpPr>
        <p:spPr>
          <a:xfrm>
            <a:off x="1695450" y="5335589"/>
            <a:ext cx="1428750" cy="5238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ar-JO" sz="1400" dirty="0">
                <a:cs typeface="Arial" panose="020B0604020202020204" pitchFamily="34" charset="0"/>
              </a:rPr>
              <a:t>A</a:t>
            </a:r>
            <a:r>
              <a:rPr lang="en-US" altLang="ar-JO" sz="1400" b="1" dirty="0">
                <a:cs typeface="Arial" panose="020B0604020202020204" pitchFamily="34" charset="0"/>
              </a:rPr>
              <a:t>queous phase</a:t>
            </a:r>
            <a:r>
              <a:rPr lang="en-US" altLang="ar-JO" sz="1400" dirty="0">
                <a:cs typeface="Arial" panose="020B0604020202020204" pitchFamily="34" charset="0"/>
              </a:rPr>
              <a:t> containing DNA</a:t>
            </a:r>
            <a:endParaRPr lang="en-US" altLang="ar-JO" sz="1400" dirty="0">
              <a:ea typeface="Arial" panose="020B0604020202020204" pitchFamily="34" charset="0"/>
            </a:endParaRPr>
          </a:p>
        </p:txBody>
      </p:sp>
      <p:sp>
        <p:nvSpPr>
          <p:cNvPr id="47" name="Line 31"/>
          <p:cNvSpPr/>
          <p:nvPr/>
        </p:nvSpPr>
        <p:spPr>
          <a:xfrm>
            <a:off x="2825750" y="2914650"/>
            <a:ext cx="97155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8" name="Text Box 32"/>
          <p:cNvSpPr txBox="1"/>
          <p:nvPr/>
        </p:nvSpPr>
        <p:spPr>
          <a:xfrm>
            <a:off x="2767013" y="2643189"/>
            <a:ext cx="11430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ar-JO" sz="1400" dirty="0">
                <a:solidFill>
                  <a:srgbClr val="FF0000"/>
                </a:solidFill>
                <a:cs typeface="Arial" panose="020B0604020202020204" pitchFamily="34" charset="0"/>
              </a:rPr>
              <a:t>Add alcohol &amp; salt</a:t>
            </a:r>
            <a:endParaRPr lang="en-US" altLang="ar-JO" sz="1400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  <p:grpSp>
        <p:nvGrpSpPr>
          <p:cNvPr id="3" name="Group 30"/>
          <p:cNvGrpSpPr/>
          <p:nvPr/>
        </p:nvGrpSpPr>
        <p:grpSpPr>
          <a:xfrm>
            <a:off x="3910013" y="2428875"/>
            <a:ext cx="457200" cy="920750"/>
            <a:chOff x="4704" y="1080"/>
            <a:chExt cx="288" cy="580"/>
          </a:xfrm>
        </p:grpSpPr>
        <p:sp>
          <p:nvSpPr>
            <p:cNvPr id="26665" name="AutoShape 31"/>
            <p:cNvSpPr/>
            <p:nvPr/>
          </p:nvSpPr>
          <p:spPr>
            <a:xfrm rot="5400000">
              <a:off x="4560" y="1228"/>
              <a:ext cx="576" cy="288"/>
            </a:xfrm>
            <a:prstGeom prst="homePlate">
              <a:avLst>
                <a:gd name="adj" fmla="val 50000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endParaRPr lang="ar-JO" altLang="ar-JO" sz="1800" dirty="0">
                <a:ea typeface="Arial" panose="020B0604020202020204" pitchFamily="34" charset="0"/>
              </a:endParaRPr>
            </a:p>
          </p:txBody>
        </p:sp>
        <p:sp>
          <p:nvSpPr>
            <p:cNvPr id="26666" name="Rectangle 32"/>
            <p:cNvSpPr/>
            <p:nvPr/>
          </p:nvSpPr>
          <p:spPr>
            <a:xfrm>
              <a:off x="4704" y="1080"/>
              <a:ext cx="288" cy="22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endParaRPr lang="ar-JO" altLang="ar-JO" sz="1800" dirty="0">
                <a:ea typeface="Arial" panose="020B0604020202020204" pitchFamily="34" charset="0"/>
              </a:endParaRPr>
            </a:p>
          </p:txBody>
        </p:sp>
      </p:grpSp>
      <p:sp>
        <p:nvSpPr>
          <p:cNvPr id="52" name="Line 31"/>
          <p:cNvSpPr/>
          <p:nvPr/>
        </p:nvSpPr>
        <p:spPr>
          <a:xfrm>
            <a:off x="4540251" y="2914650"/>
            <a:ext cx="900113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4" name="Line 25"/>
          <p:cNvSpPr/>
          <p:nvPr/>
        </p:nvSpPr>
        <p:spPr>
          <a:xfrm flipV="1">
            <a:off x="4124325" y="3571876"/>
            <a:ext cx="0" cy="7921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oval" w="sm" len="sm"/>
          </a:ln>
        </p:spPr>
      </p:sp>
      <p:cxnSp>
        <p:nvCxnSpPr>
          <p:cNvPr id="56" name="Straight Connector 55"/>
          <p:cNvCxnSpPr/>
          <p:nvPr/>
        </p:nvCxnSpPr>
        <p:spPr>
          <a:xfrm>
            <a:off x="2309813" y="928688"/>
            <a:ext cx="7500938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itle 4"/>
          <p:cNvSpPr txBox="1"/>
          <p:nvPr/>
        </p:nvSpPr>
        <p:spPr>
          <a:xfrm>
            <a:off x="2343150" y="214313"/>
            <a:ext cx="7467600" cy="48895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3200" b="1" dirty="0">
                <a:solidFill>
                  <a:schemeClr val="accent1"/>
                </a:solidFill>
              </a:rPr>
              <a:t>Differential solubility / Organic solvents</a:t>
            </a:r>
            <a:endParaRPr lang="en-US" sz="3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3052764" y="1643064"/>
            <a:ext cx="500063" cy="50006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D</a:t>
            </a:r>
            <a:endParaRPr lang="en-US" b="1" dirty="0"/>
          </a:p>
        </p:txBody>
      </p:sp>
      <p:sp>
        <p:nvSpPr>
          <p:cNvPr id="59" name="Rounded Rectangle 58"/>
          <p:cNvSpPr/>
          <p:nvPr/>
        </p:nvSpPr>
        <p:spPr>
          <a:xfrm>
            <a:off x="6196014" y="1643064"/>
            <a:ext cx="500063" cy="50006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E</a:t>
            </a:r>
            <a:endParaRPr lang="en-US" b="1" dirty="0"/>
          </a:p>
        </p:txBody>
      </p:sp>
      <p:sp>
        <p:nvSpPr>
          <p:cNvPr id="60" name="Rounded Rectangle 59"/>
          <p:cNvSpPr/>
          <p:nvPr/>
        </p:nvSpPr>
        <p:spPr>
          <a:xfrm>
            <a:off x="8910639" y="1643064"/>
            <a:ext cx="500063" cy="50006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F</a:t>
            </a:r>
            <a:endParaRPr lang="en-US" b="1" dirty="0"/>
          </a:p>
        </p:txBody>
      </p:sp>
    </p:spTree>
    <p:custDataLst>
      <p:tags r:id="rId2"/>
    </p:custDataLst>
  </p:cSld>
  <p:clrMapOvr>
    <a:masterClrMapping/>
  </p:clrMapOvr>
  <p:transition spd="slow" advTm="25862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143367" grpId="0" animBg="1"/>
      <p:bldP spid="143368" grpId="0" animBg="1"/>
      <p:bldP spid="143369" grpId="0" animBg="1"/>
      <p:bldP spid="143370" grpId="0" animBg="1"/>
      <p:bldP spid="143371" grpId="0" animBg="1"/>
      <p:bldP spid="143372" grpId="0" animBg="1"/>
      <p:bldP spid="143373" grpId="0" animBg="1"/>
      <p:bldP spid="143374" grpId="0" animBg="1"/>
      <p:bldP spid="143376" grpId="0"/>
      <p:bldP spid="143378" grpId="0"/>
      <p:bldP spid="143380" grpId="0"/>
      <p:bldP spid="143381" grpId="0" animBg="1"/>
      <p:bldP spid="143382" grpId="0" animBg="1"/>
      <p:bldP spid="143383" grpId="0"/>
      <p:bldP spid="143387" grpId="0"/>
      <p:bldP spid="143390" grpId="0"/>
      <p:bldP spid="143394" grpId="0"/>
      <p:bldP spid="143396" grpId="0"/>
      <p:bldP spid="48" grpId="0"/>
      <p:bldP spid="48" grpId="1"/>
      <p:bldP spid="58" grpId="0" animBg="1"/>
      <p:bldP spid="59" grpId="0" animBg="1"/>
      <p:bldP spid="6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rcRect t="31232" b="42918"/>
          <a:stretch>
            <a:fillRect/>
          </a:stretch>
        </p:blipFill>
        <p:spPr>
          <a:xfrm>
            <a:off x="847090" y="853440"/>
            <a:ext cx="10954385" cy="5332730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rcRect t="57318" b="3310"/>
          <a:stretch>
            <a:fillRect/>
          </a:stretch>
        </p:blipFill>
        <p:spPr>
          <a:xfrm>
            <a:off x="203835" y="333375"/>
            <a:ext cx="11414125" cy="6405880"/>
          </a:xfr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IMING" val="|15.5|29|131.4"/>
</p:tagLst>
</file>

<file path=ppt/tags/tag2.xml><?xml version="1.0" encoding="utf-8"?>
<p:tagLst xmlns:p="http://schemas.openxmlformats.org/presentationml/2006/main">
  <p:tag name="TIMING" val="|17|89.9|88.3|22.2"/>
</p:tagLst>
</file>

<file path=ppt/tags/tag3.xml><?xml version="1.0" encoding="utf-8"?>
<p:tagLst xmlns:p="http://schemas.openxmlformats.org/presentationml/2006/main">
  <p:tag name="TIMING" val="|27.1|76.1|17.6|18.5|42.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3687</Words>
  <Application>WPS Presentation</Application>
  <PresentationFormat>Widescreen</PresentationFormat>
  <Paragraphs>217</Paragraphs>
  <Slides>17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Courier New</vt:lpstr>
      <vt:lpstr>Calibri Light</vt:lpstr>
      <vt:lpstr>Microsoft YaHei</vt:lpstr>
      <vt:lpstr>Arial Unicode MS</vt:lpstr>
      <vt:lpstr>Tahoma</vt:lpstr>
      <vt:lpstr>Office Theme</vt:lpstr>
      <vt:lpstr>PowerPoint 演示文稿</vt:lpstr>
      <vt:lpstr>OBJECTIVE</vt:lpstr>
      <vt:lpstr>PowerPoint 演示文稿</vt:lpstr>
      <vt:lpstr>PowerPoint 演示文稿</vt:lpstr>
      <vt:lpstr>Major steps in DNA isolation </vt:lpstr>
      <vt:lpstr>PowerPoint 演示文稿</vt:lpstr>
      <vt:lpstr>PowerPoint 演示文稿</vt:lpstr>
      <vt:lpstr>Adsorption method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Adan</dc:creator>
  <cp:lastModifiedBy>Lenovo</cp:lastModifiedBy>
  <cp:revision>24</cp:revision>
  <dcterms:created xsi:type="dcterms:W3CDTF">2022-12-16T18:58:00Z</dcterms:created>
  <dcterms:modified xsi:type="dcterms:W3CDTF">2023-07-16T21:08:40Z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2E02EBB9B0F640FCA138D0CAE7CFF452</vt:lpwstr>
  </property>
  <property fmtid="{D5CDD505-2E9C-101B-9397-08002B2CF9AE}" pid="3" name="KSOProductBuildVer">
    <vt:lpwstr>1033-11.2.0.11537</vt:lpwstr>
  </property>
</Properties>
</file>