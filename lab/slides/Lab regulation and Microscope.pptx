
<file path=[Content_Types].xml><?xml version="1.0" encoding="utf-8"?>
<Types xmlns="http://schemas.openxmlformats.org/package/2006/content-types">
  <Default Extension="png" ContentType="image/png"/>
  <Default Extension="jpeg" ContentType="image/jpeg"/>
  <Default Extension="glb" ContentType="model/gltf.binary"/>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5"/>
  </p:notesMasterIdLst>
  <p:sldIdLst>
    <p:sldId id="256" r:id="rId2"/>
    <p:sldId id="257" r:id="rId3"/>
    <p:sldId id="258" r:id="rId4"/>
    <p:sldId id="290" r:id="rId5"/>
    <p:sldId id="260" r:id="rId6"/>
    <p:sldId id="283" r:id="rId7"/>
    <p:sldId id="284" r:id="rId8"/>
    <p:sldId id="285" r:id="rId9"/>
    <p:sldId id="286" r:id="rId10"/>
    <p:sldId id="287" r:id="rId11"/>
    <p:sldId id="288" r:id="rId12"/>
    <p:sldId id="289" r:id="rId13"/>
    <p:sldId id="261" r:id="rId14"/>
    <p:sldId id="291" r:id="rId15"/>
    <p:sldId id="299" r:id="rId16"/>
    <p:sldId id="296" r:id="rId17"/>
    <p:sldId id="292" r:id="rId18"/>
    <p:sldId id="293" r:id="rId19"/>
    <p:sldId id="294" r:id="rId20"/>
    <p:sldId id="297" r:id="rId21"/>
    <p:sldId id="295" r:id="rId22"/>
    <p:sldId id="298" r:id="rId23"/>
    <p:sldId id="300" r:id="rId24"/>
    <p:sldId id="301" r:id="rId25"/>
    <p:sldId id="302" r:id="rId26"/>
    <p:sldId id="262" r:id="rId27"/>
    <p:sldId id="305" r:id="rId28"/>
    <p:sldId id="303" r:id="rId29"/>
    <p:sldId id="304" r:id="rId30"/>
    <p:sldId id="308" r:id="rId31"/>
    <p:sldId id="307" r:id="rId32"/>
    <p:sldId id="310" r:id="rId33"/>
    <p:sldId id="30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57"/>
          </p14:sldIdLst>
        </p14:section>
        <p14:section name="Using Remix 3D to Search for Models" id="{6844172C-9703-4DC7-908A-C23538616A3C}">
          <p14:sldIdLst>
            <p14:sldId id="258"/>
            <p14:sldId id="290"/>
          </p14:sldIdLst>
        </p14:section>
        <p14:section name="Insert a 3D Model from a File" id="{66737F24-1C36-4DF4-A00F-927A3F1468AC}">
          <p14:sldIdLst>
            <p14:sldId id="260"/>
            <p14:sldId id="283"/>
            <p14:sldId id="284"/>
            <p14:sldId id="285"/>
          </p14:sldIdLst>
        </p14:section>
        <p14:section name="Position and Rotate Your 3D Model" id="{A08F0015-E7F5-4E26-BBAF-AEE4F9A16AD2}">
          <p14:sldIdLst>
            <p14:sldId id="286"/>
            <p14:sldId id="287"/>
            <p14:sldId id="288"/>
            <p14:sldId id="289"/>
            <p14:sldId id="261"/>
            <p14:sldId id="291"/>
            <p14:sldId id="299"/>
            <p14:sldId id="296"/>
            <p14:sldId id="292"/>
            <p14:sldId id="293"/>
            <p14:sldId id="294"/>
            <p14:sldId id="297"/>
            <p14:sldId id="295"/>
            <p14:sldId id="298"/>
            <p14:sldId id="300"/>
            <p14:sldId id="301"/>
            <p14:sldId id="302"/>
            <p14:sldId id="262"/>
            <p14:sldId id="305"/>
            <p14:sldId id="303"/>
            <p14:sldId id="304"/>
            <p14:sldId id="308"/>
          </p14:sldIdLst>
        </p14:section>
        <p14:section name="Animate Your 3D Model" id="{B62868DA-F525-4AC5-9E3E-39ECA0154BBD}">
          <p14:sldIdLst>
            <p14:sldId id="307"/>
            <p14:sldId id="310"/>
            <p14:sldId id="309"/>
          </p14:sldIdLst>
        </p14:section>
        <p14:section name="Learn More" id="{62756D7E-964E-493A-83A1-13BC0B6B5E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7/11/2021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smtClean="0"/>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smtClean="0"/>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smtClean="0"/>
              <a:t>Edit Master text styles</a:t>
            </a:r>
          </a:p>
          <a:p>
            <a:pPr lvl="1"/>
            <a:r>
              <a:rPr lang="en-US" smtClean="0"/>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smtClean="0"/>
              <a:t>Edit Master text styles</a:t>
            </a:r>
          </a:p>
          <a:p>
            <a:pPr lvl="1"/>
            <a:r>
              <a:rPr lang="en-US" smtClean="0"/>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smtClean="0"/>
              <a:t>Edit Master text styles</a:t>
            </a:r>
          </a:p>
          <a:p>
            <a:pPr lvl="1"/>
            <a:r>
              <a:rPr lang="en-US" smtClean="0"/>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smtClean="0"/>
              <a:t>Edit Master text styles</a:t>
            </a:r>
          </a:p>
          <a:p>
            <a:pPr lvl="1"/>
            <a:r>
              <a:rPr lang="en-US" smtClean="0"/>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smtClean="0"/>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smtClean="0"/>
              <a:t>Edit Master text styles</a:t>
            </a:r>
          </a:p>
          <a:p>
            <a:pPr marL="0" lvl="1" indent="0">
              <a:lnSpc>
                <a:spcPct val="150000"/>
              </a:lnSpc>
              <a:spcBef>
                <a:spcPts val="1000"/>
              </a:spcBef>
              <a:spcAft>
                <a:spcPts val="1200"/>
              </a:spcAft>
              <a:buNone/>
            </a:pPr>
            <a:r>
              <a:rPr lang="en-US" smtClean="0"/>
              <a:t>Second level</a:t>
            </a:r>
          </a:p>
          <a:p>
            <a:pPr marL="0" lvl="2" indent="0">
              <a:lnSpc>
                <a:spcPct val="150000"/>
              </a:lnSpc>
              <a:spcBef>
                <a:spcPts val="1000"/>
              </a:spcBef>
              <a:spcAft>
                <a:spcPts val="1200"/>
              </a:spcAft>
              <a:buNone/>
            </a:pPr>
            <a:r>
              <a:rPr lang="en-US" smtClean="0"/>
              <a:t>Third level</a:t>
            </a:r>
          </a:p>
          <a:p>
            <a:pPr marL="0" lvl="3" indent="0">
              <a:lnSpc>
                <a:spcPct val="150000"/>
              </a:lnSpc>
              <a:spcBef>
                <a:spcPts val="1000"/>
              </a:spcBef>
              <a:spcAft>
                <a:spcPts val="1200"/>
              </a:spcAft>
              <a:buNone/>
            </a:pPr>
            <a:r>
              <a:rPr lang="en-US" smtClean="0"/>
              <a:t>Fourth level</a:t>
            </a:r>
          </a:p>
          <a:p>
            <a:pPr marL="0" lvl="4" indent="0">
              <a:lnSpc>
                <a:spcPct val="150000"/>
              </a:lnSpc>
              <a:spcBef>
                <a:spcPts val="1000"/>
              </a:spcBef>
              <a:spcAft>
                <a:spcPts val="1200"/>
              </a:spcAft>
              <a:buNone/>
            </a:pPr>
            <a:r>
              <a:rPr lang="en-US" smtClean="0"/>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smtClean="0"/>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7/11/2021</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1"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4.xml"/><Relationship Id="rId5" Type="http://schemas.openxmlformats.org/officeDocument/2006/relationships/image" Target="../media/image8.jp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7" Type="http://schemas.openxmlformats.org/officeDocument/2006/relationships/image" Target="../media/image13.jp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2.png"/><Relationship Id="rId4" Type="http://schemas.microsoft.com/office/2017/06/relationships/model3d" Target="../media/model3d1.glb"/></Relationships>
</file>

<file path=ppt/slides/_rels/slide14.xml.rels><?xml version="1.0" encoding="UTF-8" standalone="yes"?>
<Relationships xmlns="http://schemas.openxmlformats.org/package/2006/relationships"><Relationship Id="rId2" Type="http://schemas.openxmlformats.org/officeDocument/2006/relationships/hyperlink" Target="https://en.wikipedia.org/wiki/Laboratory_equipment" TargetMode="Externa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en.wikipedia.org/wiki/File:Electron_Microscope.jpg" TargetMode="External"/><Relationship Id="rId1" Type="http://schemas.openxmlformats.org/officeDocument/2006/relationships/slideLayout" Target="../slideLayouts/slideLayout8.xml"/><Relationship Id="rId5" Type="http://schemas.openxmlformats.org/officeDocument/2006/relationships/image" Target="../media/image17.jpeg"/><Relationship Id="rId4" Type="http://schemas.openxmlformats.org/officeDocument/2006/relationships/hyperlink" Target="https://en.wikipedia.org/wiki/File:Cytokinesis-electron-micrograph.jp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en.wikipedia.org/wiki/File:Leaf_epidermis.jpg" TargetMode="Externa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hyperlink" Target="https://www.google.jo/imgres?imgurl=http://www.csun.edu/scied/7-microscopy/microscopy-techniques/e_upsidedown.jpg&amp;imgrefurl=http://www.csun.edu/scied/7-microscopy/microscopy-techniques/microscopy_index.html&amp;docid=swwHR2CSO3ruoM&amp;tbnid=jPmlKZrW7QpfDM:&amp;vet=10ahUKEwiI8pLJ_qfgAhWLLlAKHYpyDWAQMwg8KAAwAA..i&amp;w=219&amp;h=221&amp;hl=en&amp;bih=831&amp;biw=1821&amp;q=letter%20e%20under%20microscope&amp;ved=0ahUKEwiI8pLJ_qfgAhWLLlAKHYpyDWAQMwg8KAAwAA&amp;iact=mrc&amp;uact=8" TargetMode="External"/><Relationship Id="rId7" Type="http://schemas.openxmlformats.org/officeDocument/2006/relationships/image" Target="../media/image27.png"/><Relationship Id="rId2" Type="http://schemas.openxmlformats.org/officeDocument/2006/relationships/image" Target="../media/image24.jpg"/><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https://www.google.jo/url?sa=i&amp;rct=j&amp;q=&amp;esrc=s&amp;source=images&amp;cd=&amp;ved=&amp;url=http://www.csun.edu/scied/7-microscopy/microscopy-techniques/microscopy_index.html&amp;psig=AOvVaw29Obds0ae6p7Zt457YEMqb&amp;ust=1549572778403185"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eg"/><Relationship Id="rId7" Type="http://schemas.openxmlformats.org/officeDocument/2006/relationships/image" Target="../media/image33.jpg"/><Relationship Id="rId2" Type="http://schemas.openxmlformats.org/officeDocument/2006/relationships/image" Target="../media/image28.jp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30.jpg"/><Relationship Id="rId9" Type="http://schemas.openxmlformats.org/officeDocument/2006/relationships/image" Target="../media/image3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a:xfrm>
            <a:off x="1497874" y="2377440"/>
            <a:ext cx="9383486" cy="1658983"/>
          </a:xfrm>
        </p:spPr>
        <p:txBody>
          <a:bodyPr/>
          <a:lstStyle/>
          <a:p>
            <a:pPr algn="ctr"/>
            <a:r>
              <a:rPr lang="en-US" sz="5400" b="1" dirty="0" smtClean="0">
                <a:latin typeface="&amp;quot"/>
              </a:rPr>
              <a:t>LABORATORY SAFETY</a:t>
            </a:r>
            <a:endParaRPr lang="en-US" sz="5400" b="1" dirty="0">
              <a:latin typeface="&amp;quot"/>
            </a:endParaRPr>
          </a:p>
        </p:txBody>
      </p:sp>
    </p:spTree>
    <p:extLst>
      <p:ext uri="{BB962C8B-B14F-4D97-AF65-F5344CB8AC3E}">
        <p14:creationId xmlns:p14="http://schemas.microsoft.com/office/powerpoint/2010/main" val="29975803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id" descr="grid plane">
            <a:extLst>
              <a:ext uri="{FF2B5EF4-FFF2-40B4-BE49-F238E27FC236}">
                <a16:creationId xmlns:a16="http://schemas.microsoft.com/office/drawing/2014/main" id="{71F5A0B2-7584-4034-8919-A5F2C482F46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7" r="-943" b="-1096"/>
          <a:stretch/>
        </p:blipFill>
        <p:spPr>
          <a:xfrm>
            <a:off x="5827143" y="2570364"/>
            <a:ext cx="5896604" cy="3030452"/>
          </a:xfrm>
          <a:prstGeom prst="rect">
            <a:avLst/>
          </a:prstGeom>
        </p:spPr>
      </p:pic>
      <p:sp>
        <p:nvSpPr>
          <p:cNvPr id="33" name="Title 1">
            <a:extLst>
              <a:ext uri="{FF2B5EF4-FFF2-40B4-BE49-F238E27FC236}">
                <a16:creationId xmlns:a16="http://schemas.microsoft.com/office/drawing/2014/main" id="{2A31795B-A93A-416C-8052-FAF4D9073E67}"/>
              </a:ext>
            </a:extLst>
          </p:cNvPr>
          <p:cNvSpPr txBox="1">
            <a:spLocks/>
          </p:cNvSpPr>
          <p:nvPr/>
        </p:nvSpPr>
        <p:spPr>
          <a:xfrm>
            <a:off x="335577" y="1509494"/>
            <a:ext cx="11495352" cy="4961643"/>
          </a:xfrm>
          <a:prstGeom prst="rect">
            <a:avLst/>
          </a:prstGeom>
        </p:spPr>
        <p:txBody>
          <a:bodyPr vert="horz" lIns="91440" tIns="45720" rIns="91440" bIns="45720" rtlCol="0" anchor="ctr" anchorCtr="0">
            <a:normAutofit fontScale="92500" lnSpcReduction="10000"/>
          </a:bodyPr>
          <a:lstStyle>
            <a:lvl1pPr algn="l" defTabSz="914400" rtl="1" eaLnBrk="1" latinLnBrk="0" hangingPunct="1">
              <a:lnSpc>
                <a:spcPct val="90000"/>
              </a:lnSpc>
              <a:spcBef>
                <a:spcPct val="0"/>
              </a:spcBef>
              <a:buNone/>
              <a:defRPr lang="en-US" sz="2800" kern="1200">
                <a:solidFill>
                  <a:schemeClr val="bg2">
                    <a:lumMod val="25000"/>
                  </a:schemeClr>
                </a:solidFill>
                <a:latin typeface="+mj-lt"/>
                <a:ea typeface="+mj-ea"/>
                <a:cs typeface="+mj-cs"/>
              </a:defRPr>
            </a:lvl1pPr>
          </a:lstStyle>
          <a:p>
            <a:pPr marL="457200" indent="-457200" rtl="0">
              <a:buFont typeface="Wingdings" panose="05000000000000000000" pitchFamily="2" charset="2"/>
              <a:buChar char="q"/>
            </a:pPr>
            <a:r>
              <a:rPr lang="en-US" b="1" dirty="0" smtClean="0"/>
              <a:t>During your working in the Lab you must take care about the followings:</a:t>
            </a:r>
          </a:p>
          <a:p>
            <a:pPr rtl="0"/>
            <a:endParaRPr lang="en-US" b="1" dirty="0" smtClean="0"/>
          </a:p>
          <a:p>
            <a:pPr marL="457200" indent="-457200" rtl="0">
              <a:buFont typeface="Arial" panose="020B0604020202020204" pitchFamily="34" charset="0"/>
              <a:buChar char="•"/>
            </a:pPr>
            <a:r>
              <a:rPr lang="en-US" b="1" dirty="0" smtClean="0">
                <a:solidFill>
                  <a:srgbClr val="FF0000"/>
                </a:solidFill>
              </a:rPr>
              <a:t>Yourself:</a:t>
            </a:r>
            <a:r>
              <a:rPr lang="en-US" b="1" dirty="0" smtClean="0"/>
              <a:t> </a:t>
            </a:r>
            <a:r>
              <a:rPr lang="en-US" b="1" dirty="0" smtClean="0">
                <a:solidFill>
                  <a:schemeClr val="tx1"/>
                </a:solidFill>
              </a:rPr>
              <a:t>keep your body out of any injuries or accidents and your Health </a:t>
            </a:r>
          </a:p>
          <a:p>
            <a:pPr rtl="0"/>
            <a:r>
              <a:rPr lang="en-US" b="1" dirty="0">
                <a:solidFill>
                  <a:schemeClr val="tx1"/>
                </a:solidFill>
              </a:rPr>
              <a:t> </a:t>
            </a:r>
            <a:r>
              <a:rPr lang="en-US" b="1" dirty="0" smtClean="0">
                <a:solidFill>
                  <a:schemeClr val="tx1"/>
                </a:solidFill>
              </a:rPr>
              <a:t>                 out of any bad effect.</a:t>
            </a:r>
          </a:p>
          <a:p>
            <a:pPr rtl="0"/>
            <a:r>
              <a:rPr lang="en-US" b="1" dirty="0" smtClean="0">
                <a:solidFill>
                  <a:schemeClr val="tx1"/>
                </a:solidFill>
              </a:rPr>
              <a:t> </a:t>
            </a:r>
          </a:p>
          <a:p>
            <a:pPr marL="457200" indent="-457200" rtl="0">
              <a:buFont typeface="Arial" panose="020B0604020202020204" pitchFamily="34" charset="0"/>
              <a:buChar char="•"/>
            </a:pPr>
            <a:r>
              <a:rPr lang="en-US" b="1" dirty="0">
                <a:solidFill>
                  <a:srgbClr val="FF0000"/>
                </a:solidFill>
              </a:rPr>
              <a:t>Your classmate</a:t>
            </a:r>
            <a:r>
              <a:rPr lang="en-US" b="1" dirty="0" smtClean="0">
                <a:solidFill>
                  <a:srgbClr val="FF0000"/>
                </a:solidFill>
              </a:rPr>
              <a:t>: </a:t>
            </a:r>
            <a:r>
              <a:rPr lang="en-US" b="1" dirty="0" smtClean="0">
                <a:solidFill>
                  <a:schemeClr val="tx1"/>
                </a:solidFill>
              </a:rPr>
              <a:t>you must watc</a:t>
            </a:r>
            <a:r>
              <a:rPr lang="en-US" b="1" dirty="0" smtClean="0"/>
              <a:t>h your safety </a:t>
            </a:r>
            <a:r>
              <a:rPr lang="en-US" b="1" dirty="0"/>
              <a:t>and the safety of others</a:t>
            </a:r>
            <a:endParaRPr lang="en-US" b="1" dirty="0" smtClean="0"/>
          </a:p>
          <a:p>
            <a:pPr rtl="0"/>
            <a:endParaRPr lang="en-US" b="1" dirty="0" smtClean="0"/>
          </a:p>
          <a:p>
            <a:pPr marL="457200" indent="-457200" rtl="0">
              <a:buFont typeface="Arial" panose="020B0604020202020204" pitchFamily="34" charset="0"/>
              <a:buChar char="•"/>
            </a:pPr>
            <a:r>
              <a:rPr lang="en-US" b="1" dirty="0" smtClean="0">
                <a:solidFill>
                  <a:srgbClr val="FF0000"/>
                </a:solidFill>
              </a:rPr>
              <a:t>The lab.: </a:t>
            </a:r>
            <a:r>
              <a:rPr lang="en-US" b="1" dirty="0" smtClean="0">
                <a:solidFill>
                  <a:schemeClr val="tx1"/>
                </a:solidFill>
              </a:rPr>
              <a:t>keep your working space cleaned and organized during and </a:t>
            </a:r>
          </a:p>
          <a:p>
            <a:pPr rtl="0"/>
            <a:r>
              <a:rPr lang="en-US" b="1" dirty="0">
                <a:solidFill>
                  <a:schemeClr val="tx1"/>
                </a:solidFill>
              </a:rPr>
              <a:t> </a:t>
            </a:r>
            <a:r>
              <a:rPr lang="en-US" b="1" dirty="0" smtClean="0">
                <a:solidFill>
                  <a:schemeClr val="tx1"/>
                </a:solidFill>
              </a:rPr>
              <a:t>                  after you complete your work, the lab. free of any accident, and </a:t>
            </a:r>
          </a:p>
          <a:p>
            <a:pPr rtl="0"/>
            <a:r>
              <a:rPr lang="en-US" b="1" dirty="0">
                <a:solidFill>
                  <a:schemeClr val="tx1"/>
                </a:solidFill>
              </a:rPr>
              <a:t> </a:t>
            </a:r>
            <a:r>
              <a:rPr lang="en-US" b="1" dirty="0" smtClean="0">
                <a:solidFill>
                  <a:schemeClr val="tx1"/>
                </a:solidFill>
              </a:rPr>
              <a:t>                  the lab. environment without any pollution.</a:t>
            </a:r>
            <a:r>
              <a:rPr lang="en-US" b="1" dirty="0" smtClean="0">
                <a:solidFill>
                  <a:srgbClr val="FF0000"/>
                </a:solidFill>
              </a:rPr>
              <a:t> </a:t>
            </a:r>
          </a:p>
          <a:p>
            <a:pPr rtl="0"/>
            <a:endParaRPr lang="en-US" b="1" dirty="0" smtClean="0"/>
          </a:p>
          <a:p>
            <a:pPr marL="457200" indent="-457200" rtl="0">
              <a:buFont typeface="Arial" panose="020B0604020202020204" pitchFamily="34" charset="0"/>
              <a:buChar char="•"/>
            </a:pPr>
            <a:r>
              <a:rPr lang="en-US" b="1" dirty="0" smtClean="0">
                <a:solidFill>
                  <a:srgbClr val="FF0000"/>
                </a:solidFill>
              </a:rPr>
              <a:t>Outdoor Environment: </a:t>
            </a:r>
            <a:r>
              <a:rPr lang="en-US" b="1" dirty="0" smtClean="0">
                <a:solidFill>
                  <a:schemeClr val="tx1"/>
                </a:solidFill>
              </a:rPr>
              <a:t>keep it free of any pollution.</a:t>
            </a:r>
          </a:p>
          <a:p>
            <a:pPr rtl="0"/>
            <a:endParaRPr lang="en-US" b="1" dirty="0" smtClean="0"/>
          </a:p>
          <a:p>
            <a:pPr marL="457200" indent="-457200" rtl="0">
              <a:buFont typeface="Arial" panose="020B0604020202020204" pitchFamily="34" charset="0"/>
              <a:buChar char="•"/>
            </a:pPr>
            <a:r>
              <a:rPr lang="en-US" b="1" dirty="0" smtClean="0">
                <a:solidFill>
                  <a:srgbClr val="FF0000"/>
                </a:solidFill>
              </a:rPr>
              <a:t>Your experiment: </a:t>
            </a:r>
            <a:r>
              <a:rPr lang="en-US" b="1" dirty="0" smtClean="0">
                <a:solidFill>
                  <a:schemeClr val="tx1"/>
                </a:solidFill>
              </a:rPr>
              <a:t>do your experiment carefully and don’t hesitate to ask </a:t>
            </a:r>
          </a:p>
          <a:p>
            <a:pPr rtl="0"/>
            <a:r>
              <a:rPr lang="en-US" b="1" dirty="0">
                <a:solidFill>
                  <a:schemeClr val="tx1"/>
                </a:solidFill>
              </a:rPr>
              <a:t> </a:t>
            </a:r>
            <a:r>
              <a:rPr lang="en-US" b="1" dirty="0" smtClean="0">
                <a:solidFill>
                  <a:schemeClr val="tx1"/>
                </a:solidFill>
              </a:rPr>
              <a:t>                                your instructor about anything you are not understand.</a:t>
            </a:r>
          </a:p>
          <a:p>
            <a:pPr rtl="0"/>
            <a:endParaRPr lang="en-US" b="1" dirty="0">
              <a:solidFill>
                <a:schemeClr val="tx1"/>
              </a:solidFill>
            </a:endParaRPr>
          </a:p>
        </p:txBody>
      </p:sp>
    </p:spTree>
    <p:extLst>
      <p:ext uri="{BB962C8B-B14F-4D97-AF65-F5344CB8AC3E}">
        <p14:creationId xmlns:p14="http://schemas.microsoft.com/office/powerpoint/2010/main" val="3855108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7273F9-59F9-4FB3-9D34-82C64C4F8667}"/>
              </a:ext>
            </a:extLst>
          </p:cNvPr>
          <p:cNvSpPr>
            <a:spLocks noGrp="1"/>
          </p:cNvSpPr>
          <p:nvPr>
            <p:ph type="title"/>
          </p:nvPr>
        </p:nvSpPr>
        <p:spPr>
          <a:xfrm>
            <a:off x="484858" y="1738600"/>
            <a:ext cx="6503771" cy="4009057"/>
          </a:xfrm>
        </p:spPr>
        <p:txBody>
          <a:bodyPr>
            <a:normAutofit fontScale="90000"/>
          </a:bodyPr>
          <a:lstStyle/>
          <a:p>
            <a:pPr rtl="0"/>
            <a:r>
              <a:rPr lang="en-US" sz="2400" b="1" dirty="0" smtClean="0">
                <a:solidFill>
                  <a:schemeClr val="tx1"/>
                </a:solidFill>
                <a:latin typeface="Arial" panose="020B0604020202020204" pitchFamily="34" charset="0"/>
                <a:cs typeface="Arial" panose="020B0604020202020204" pitchFamily="34" charset="0"/>
              </a:rPr>
              <a:t>* </a:t>
            </a:r>
            <a:r>
              <a:rPr lang="en-US" sz="2400" b="1" dirty="0">
                <a:solidFill>
                  <a:schemeClr val="tx1"/>
                </a:solidFill>
                <a:latin typeface="Arial" panose="020B0604020202020204" pitchFamily="34" charset="0"/>
                <a:cs typeface="Arial" panose="020B0604020202020204" pitchFamily="34" charset="0"/>
              </a:rPr>
              <a:t>For any science </a:t>
            </a:r>
            <a:r>
              <a:rPr lang="en-US" sz="2400" b="1" dirty="0" smtClean="0">
                <a:solidFill>
                  <a:schemeClr val="tx1"/>
                </a:solidFill>
                <a:latin typeface="Arial" panose="020B0604020202020204" pitchFamily="34" charset="0"/>
                <a:cs typeface="Arial" panose="020B0604020202020204" pitchFamily="34" charset="0"/>
              </a:rPr>
              <a:t>lab, dressing of the following   </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  clothes is one  of your best forms of </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  protection against </a:t>
            </a:r>
            <a:r>
              <a:rPr lang="en-US" sz="2400" b="1" dirty="0">
                <a:solidFill>
                  <a:schemeClr val="tx1"/>
                </a:solidFill>
                <a:latin typeface="Arial" panose="020B0604020202020204" pitchFamily="34" charset="0"/>
                <a:cs typeface="Arial" panose="020B0604020202020204" pitchFamily="34" charset="0"/>
              </a:rPr>
              <a:t>an </a:t>
            </a:r>
            <a:r>
              <a:rPr lang="en-US" sz="2400" b="1" dirty="0" smtClean="0">
                <a:solidFill>
                  <a:schemeClr val="tx1"/>
                </a:solidFill>
                <a:latin typeface="Arial" panose="020B0604020202020204" pitchFamily="34" charset="0"/>
                <a:cs typeface="Arial" panose="020B0604020202020204" pitchFamily="34" charset="0"/>
              </a:rPr>
              <a:t>accident:</a:t>
            </a:r>
            <a:br>
              <a:rPr lang="en-US" sz="2400" b="1" dirty="0" smtClean="0">
                <a:solidFill>
                  <a:schemeClr val="tx1"/>
                </a:solidFill>
                <a:latin typeface="Arial" panose="020B0604020202020204" pitchFamily="34" charset="0"/>
                <a:cs typeface="Arial" panose="020B0604020202020204" pitchFamily="34" charset="0"/>
              </a:rPr>
            </a:br>
            <a:r>
              <a:rPr lang="en-US" sz="2400" b="1" dirty="0" smtClean="0">
                <a:solidFill>
                  <a:schemeClr val="tx1"/>
                </a:solidFill>
                <a:latin typeface="Arial" panose="020B0604020202020204" pitchFamily="34" charset="0"/>
                <a:cs typeface="Arial" panose="020B0604020202020204" pitchFamily="34" charset="0"/>
              </a:rPr>
              <a:t/>
            </a:r>
            <a:br>
              <a:rPr lang="en-US" sz="2400" b="1" dirty="0" smtClean="0">
                <a:solidFill>
                  <a:schemeClr val="tx1"/>
                </a:solidFill>
                <a:latin typeface="Arial" panose="020B0604020202020204" pitchFamily="34" charset="0"/>
                <a:cs typeface="Arial" panose="020B0604020202020204" pitchFamily="34" charset="0"/>
              </a:rPr>
            </a:br>
            <a:r>
              <a:rPr lang="en-US" sz="2400" b="1" dirty="0" smtClean="0">
                <a:solidFill>
                  <a:schemeClr val="tx1"/>
                </a:solidFill>
                <a:latin typeface="Arial" panose="020B0604020202020204" pitchFamily="34" charset="0"/>
                <a:cs typeface="Arial" panose="020B0604020202020204" pitchFamily="34" charset="0"/>
              </a:rPr>
              <a:t>  A) Dress the lab. coat while you are in the </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      lab. and it must be closed.</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 </a:t>
            </a:r>
            <a:r>
              <a:rPr lang="en-US" sz="2400" b="1" dirty="0">
                <a:solidFill>
                  <a:schemeClr val="tx1"/>
                </a:solidFill>
                <a:latin typeface="Arial" panose="020B0604020202020204" pitchFamily="34" charset="0"/>
                <a:cs typeface="Arial" panose="020B0604020202020204" pitchFamily="34" charset="0"/>
              </a:rPr>
              <a:t>B) wear covered </a:t>
            </a:r>
            <a:r>
              <a:rPr lang="en-US" sz="2400" b="1" dirty="0" smtClean="0">
                <a:solidFill>
                  <a:schemeClr val="tx1"/>
                </a:solidFill>
                <a:latin typeface="Arial" panose="020B0604020202020204" pitchFamily="34" charset="0"/>
                <a:cs typeface="Arial" panose="020B0604020202020204" pitchFamily="34" charset="0"/>
              </a:rPr>
              <a:t>shoes, long pants, and tie </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      your hair backward up. So, </a:t>
            </a:r>
            <a:r>
              <a:rPr lang="en-US" sz="2400" b="1" dirty="0">
                <a:solidFill>
                  <a:schemeClr val="tx1"/>
                </a:solidFill>
                <a:latin typeface="Arial" panose="020B0604020202020204" pitchFamily="34" charset="0"/>
                <a:cs typeface="Arial" panose="020B0604020202020204" pitchFamily="34" charset="0"/>
              </a:rPr>
              <a:t>it can't fall into </a:t>
            </a:r>
            <a:r>
              <a:rPr lang="en-US" sz="2400" b="1" dirty="0" smtClean="0">
                <a:solidFill>
                  <a:schemeClr val="tx1"/>
                </a:solidFill>
                <a:latin typeface="Arial" panose="020B0604020202020204" pitchFamily="34" charset="0"/>
                <a:cs typeface="Arial" panose="020B0604020202020204" pitchFamily="34" charset="0"/>
              </a:rPr>
              <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      your experiment </a:t>
            </a:r>
            <a:r>
              <a:rPr lang="en-US" sz="2400" b="1" dirty="0">
                <a:solidFill>
                  <a:schemeClr val="tx1"/>
                </a:solidFill>
                <a:latin typeface="Arial" panose="020B0604020202020204" pitchFamily="34" charset="0"/>
                <a:cs typeface="Arial" panose="020B0604020202020204" pitchFamily="34" charset="0"/>
              </a:rPr>
              <a:t>or a flame</a:t>
            </a:r>
            <a:r>
              <a:rPr lang="en-US" sz="2400" b="1" dirty="0" smtClean="0">
                <a:solidFill>
                  <a:schemeClr val="tx1"/>
                </a:solidFill>
                <a:latin typeface="Arial" panose="020B0604020202020204" pitchFamily="34" charset="0"/>
                <a:cs typeface="Arial" panose="020B0604020202020204" pitchFamily="34" charset="0"/>
              </a:rPr>
              <a:t>.</a:t>
            </a:r>
            <a:br>
              <a:rPr lang="en-US" sz="2400" b="1" dirty="0" smtClean="0">
                <a:solidFill>
                  <a:schemeClr val="tx1"/>
                </a:solidFill>
                <a:latin typeface="Arial" panose="020B0604020202020204" pitchFamily="34" charset="0"/>
                <a:cs typeface="Arial" panose="020B0604020202020204" pitchFamily="34" charset="0"/>
              </a:rPr>
            </a:br>
            <a:r>
              <a:rPr lang="en-US" sz="2400" b="1" dirty="0">
                <a:solidFill>
                  <a:schemeClr val="tx1"/>
                </a:solidFill>
                <a:latin typeface="Arial" panose="020B0604020202020204" pitchFamily="34" charset="0"/>
                <a:cs typeface="Arial" panose="020B0604020202020204" pitchFamily="34" charset="0"/>
              </a:rPr>
              <a:t/>
            </a:r>
            <a:br>
              <a:rPr lang="en-US" sz="2400" b="1" dirty="0">
                <a:solidFill>
                  <a:schemeClr val="tx1"/>
                </a:solidFill>
                <a:latin typeface="Arial" panose="020B0604020202020204" pitchFamily="34" charset="0"/>
                <a:cs typeface="Arial" panose="020B0604020202020204" pitchFamily="34" charset="0"/>
              </a:rPr>
            </a:br>
            <a:r>
              <a:rPr lang="en-US" sz="2400" b="1" dirty="0" smtClean="0">
                <a:solidFill>
                  <a:schemeClr val="tx1"/>
                </a:solidFill>
                <a:latin typeface="Arial" panose="020B0604020202020204" pitchFamily="34" charset="0"/>
                <a:cs typeface="Arial" panose="020B0604020202020204" pitchFamily="34" charset="0"/>
              </a:rPr>
              <a:t>   C) Dressing of</a:t>
            </a:r>
            <a:r>
              <a:rPr lang="en-US" b="1" dirty="0" smtClean="0"/>
              <a:t> </a:t>
            </a:r>
            <a:r>
              <a:rPr lang="en-US" b="1" dirty="0" smtClean="0">
                <a:solidFill>
                  <a:schemeClr val="tx1"/>
                </a:solidFill>
                <a:latin typeface="Arial" panose="020B0604020202020204" pitchFamily="34" charset="0"/>
                <a:cs typeface="Arial" panose="020B0604020202020204" pitchFamily="34" charset="0"/>
              </a:rPr>
              <a:t>goggles, </a:t>
            </a:r>
            <a:r>
              <a:rPr lang="en-US" b="1" dirty="0">
                <a:solidFill>
                  <a:schemeClr val="tx1"/>
                </a:solidFill>
                <a:latin typeface="Arial" panose="020B0604020202020204" pitchFamily="34" charset="0"/>
                <a:cs typeface="Arial" panose="020B0604020202020204" pitchFamily="34" charset="0"/>
              </a:rPr>
              <a:t>You may also </a:t>
            </a:r>
            <a:r>
              <a:rPr lang="en-US" b="1" dirty="0" smtClean="0">
                <a:solidFill>
                  <a:schemeClr val="tx1"/>
                </a:solidFill>
                <a:latin typeface="Arial" panose="020B0604020202020204" pitchFamily="34" charset="0"/>
                <a:cs typeface="Arial" panose="020B0604020202020204" pitchFamily="34" charset="0"/>
              </a:rPr>
              <a:t/>
            </a:r>
            <a:br>
              <a:rPr lang="en-US" b="1" dirty="0" smtClean="0">
                <a:solidFill>
                  <a:schemeClr val="tx1"/>
                </a:solidFill>
                <a:latin typeface="Arial" panose="020B0604020202020204" pitchFamily="34" charset="0"/>
                <a:cs typeface="Arial" panose="020B0604020202020204" pitchFamily="34" charset="0"/>
              </a:rPr>
            </a:br>
            <a:r>
              <a:rPr lang="en-US" b="1" dirty="0">
                <a:solidFill>
                  <a:schemeClr val="tx1"/>
                </a:solidFill>
                <a:latin typeface="Arial" panose="020B0604020202020204" pitchFamily="34" charset="0"/>
                <a:cs typeface="Arial" panose="020B0604020202020204" pitchFamily="34" charset="0"/>
              </a:rPr>
              <a:t> </a:t>
            </a:r>
            <a:r>
              <a:rPr lang="en-US" b="1" dirty="0" smtClean="0">
                <a:solidFill>
                  <a:schemeClr val="tx1"/>
                </a:solidFill>
                <a:latin typeface="Arial" panose="020B0604020202020204" pitchFamily="34" charset="0"/>
                <a:cs typeface="Arial" panose="020B0604020202020204" pitchFamily="34" charset="0"/>
              </a:rPr>
              <a:t>      need gloves</a:t>
            </a:r>
            <a:r>
              <a:rPr lang="en-US" b="1" dirty="0">
                <a:solidFill>
                  <a:schemeClr val="tx1"/>
                </a:solidFill>
                <a:latin typeface="Arial" panose="020B0604020202020204" pitchFamily="34" charset="0"/>
                <a:cs typeface="Arial" panose="020B0604020202020204" pitchFamily="34" charset="0"/>
              </a:rPr>
              <a:t>, hearing protection, </a:t>
            </a:r>
            <a:r>
              <a:rPr lang="en-US" b="1" dirty="0" smtClean="0">
                <a:solidFill>
                  <a:schemeClr val="tx1"/>
                </a:solidFill>
                <a:latin typeface="Arial" panose="020B0604020202020204" pitchFamily="34" charset="0"/>
                <a:cs typeface="Arial" panose="020B0604020202020204" pitchFamily="34" charset="0"/>
              </a:rPr>
              <a:t/>
            </a:r>
            <a:br>
              <a:rPr lang="en-US" b="1" dirty="0" smtClean="0">
                <a:solidFill>
                  <a:schemeClr val="tx1"/>
                </a:solidFill>
                <a:latin typeface="Arial" panose="020B0604020202020204" pitchFamily="34" charset="0"/>
                <a:cs typeface="Arial" panose="020B0604020202020204" pitchFamily="34" charset="0"/>
              </a:rPr>
            </a:br>
            <a:r>
              <a:rPr lang="en-US" b="1" dirty="0">
                <a:solidFill>
                  <a:schemeClr val="tx1"/>
                </a:solidFill>
                <a:latin typeface="Arial" panose="020B0604020202020204" pitchFamily="34" charset="0"/>
                <a:cs typeface="Arial" panose="020B0604020202020204" pitchFamily="34" charset="0"/>
              </a:rPr>
              <a:t> </a:t>
            </a:r>
            <a:r>
              <a:rPr lang="en-US" b="1" dirty="0" smtClean="0">
                <a:solidFill>
                  <a:schemeClr val="tx1"/>
                </a:solidFill>
                <a:latin typeface="Arial" panose="020B0604020202020204" pitchFamily="34" charset="0"/>
                <a:cs typeface="Arial" panose="020B0604020202020204" pitchFamily="34" charset="0"/>
              </a:rPr>
              <a:t>      and </a:t>
            </a:r>
            <a:r>
              <a:rPr lang="en-US" b="1" dirty="0">
                <a:solidFill>
                  <a:schemeClr val="tx1"/>
                </a:solidFill>
                <a:latin typeface="Arial" panose="020B0604020202020204" pitchFamily="34" charset="0"/>
                <a:cs typeface="Arial" panose="020B0604020202020204" pitchFamily="34" charset="0"/>
              </a:rPr>
              <a:t>other </a:t>
            </a:r>
            <a:r>
              <a:rPr lang="en-US" b="1" dirty="0" smtClean="0">
                <a:solidFill>
                  <a:schemeClr val="tx1"/>
                </a:solidFill>
                <a:latin typeface="Arial" panose="020B0604020202020204" pitchFamily="34" charset="0"/>
                <a:cs typeface="Arial" panose="020B0604020202020204" pitchFamily="34" charset="0"/>
              </a:rPr>
              <a:t>items</a:t>
            </a:r>
            <a:r>
              <a:rPr lang="en-US" b="1" dirty="0">
                <a:solidFill>
                  <a:schemeClr val="tx1"/>
                </a:solidFill>
                <a:latin typeface="Arial" panose="020B0604020202020204" pitchFamily="34" charset="0"/>
                <a:cs typeface="Arial" panose="020B0604020202020204" pitchFamily="34" charset="0"/>
              </a:rPr>
              <a:t>, depending on the </a:t>
            </a:r>
            <a:r>
              <a:rPr lang="en-US" b="1" dirty="0" smtClean="0">
                <a:solidFill>
                  <a:schemeClr val="tx1"/>
                </a:solidFill>
                <a:latin typeface="Arial" panose="020B0604020202020204" pitchFamily="34" charset="0"/>
                <a:cs typeface="Arial" panose="020B0604020202020204" pitchFamily="34" charset="0"/>
              </a:rPr>
              <a:t/>
            </a:r>
            <a:br>
              <a:rPr lang="en-US" b="1" dirty="0" smtClean="0">
                <a:solidFill>
                  <a:schemeClr val="tx1"/>
                </a:solidFill>
                <a:latin typeface="Arial" panose="020B0604020202020204" pitchFamily="34" charset="0"/>
                <a:cs typeface="Arial" panose="020B0604020202020204" pitchFamily="34" charset="0"/>
              </a:rPr>
            </a:br>
            <a:r>
              <a:rPr lang="en-US" b="1" dirty="0">
                <a:solidFill>
                  <a:schemeClr val="tx1"/>
                </a:solidFill>
                <a:latin typeface="Arial" panose="020B0604020202020204" pitchFamily="34" charset="0"/>
                <a:cs typeface="Arial" panose="020B0604020202020204" pitchFamily="34" charset="0"/>
              </a:rPr>
              <a:t> </a:t>
            </a:r>
            <a:r>
              <a:rPr lang="en-US" b="1" dirty="0" smtClean="0">
                <a:solidFill>
                  <a:schemeClr val="tx1"/>
                </a:solidFill>
                <a:latin typeface="Arial" panose="020B0604020202020204" pitchFamily="34" charset="0"/>
                <a:cs typeface="Arial" panose="020B0604020202020204" pitchFamily="34" charset="0"/>
              </a:rPr>
              <a:t>      nature </a:t>
            </a:r>
            <a:r>
              <a:rPr lang="en-US" b="1" dirty="0">
                <a:solidFill>
                  <a:schemeClr val="tx1"/>
                </a:solidFill>
                <a:latin typeface="Arial" panose="020B0604020202020204" pitchFamily="34" charset="0"/>
                <a:cs typeface="Arial" panose="020B0604020202020204" pitchFamily="34" charset="0"/>
              </a:rPr>
              <a:t>of the </a:t>
            </a:r>
            <a:r>
              <a:rPr lang="en-US" b="1" dirty="0" smtClean="0">
                <a:solidFill>
                  <a:schemeClr val="tx1"/>
                </a:solidFill>
                <a:latin typeface="Arial" panose="020B0604020202020204" pitchFamily="34" charset="0"/>
                <a:cs typeface="Arial" panose="020B0604020202020204" pitchFamily="34" charset="0"/>
              </a:rPr>
              <a:t>experiment</a:t>
            </a:r>
            <a:r>
              <a:rPr lang="en-US" b="1" dirty="0">
                <a:solidFill>
                  <a:schemeClr val="tx1"/>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pic>
        <p:nvPicPr>
          <p:cNvPr id="2" name="Content Placeholder 1"/>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6871063" y="1303919"/>
            <a:ext cx="2625634" cy="2782259"/>
          </a:xfrm>
        </p:spPr>
      </p:pic>
      <p:sp>
        <p:nvSpPr>
          <p:cNvPr id="11" name="Content Placeholder 2"/>
          <p:cNvSpPr txBox="1">
            <a:spLocks/>
          </p:cNvSpPr>
          <p:nvPr/>
        </p:nvSpPr>
        <p:spPr>
          <a:xfrm>
            <a:off x="484858" y="2167511"/>
            <a:ext cx="5866705" cy="1055077"/>
          </a:xfrm>
          <a:prstGeom prst="rect">
            <a:avLst/>
          </a:prstGeom>
        </p:spPr>
        <p:txBody>
          <a:bodyPr vert="horz" lIns="91440" tIns="45720" rIns="91440" bIns="45720" rtlCol="0" anchor="ctr">
            <a:normAutofit/>
          </a:bodyPr>
          <a:lstStyle>
            <a:lvl1pPr marL="0" indent="0" algn="l" defTabSz="914400" rtl="1" eaLnBrk="1" latinLnBrk="0" hangingPunct="1">
              <a:lnSpc>
                <a:spcPct val="150000"/>
              </a:lnSpc>
              <a:spcBef>
                <a:spcPts val="1000"/>
              </a:spcBef>
              <a:spcAft>
                <a:spcPts val="1200"/>
              </a:spcAft>
              <a:buSzPct val="25000"/>
              <a:buFont typeface="Segoe UI" panose="020B0502040204020203" pitchFamily="34" charset="0"/>
              <a:buChar char=" "/>
              <a:defRPr sz="1200" kern="1200">
                <a:solidFill>
                  <a:schemeClr val="tx1"/>
                </a:solidFill>
                <a:latin typeface="+mn-lt"/>
                <a:ea typeface="+mn-ea"/>
                <a:cs typeface="+mn-cs"/>
              </a:defRPr>
            </a:lvl1pPr>
            <a:lvl2pPr marL="401638" indent="7938" algn="l" defTabSz="914400" rtl="1" eaLnBrk="1" latinLnBrk="0" hangingPunct="1">
              <a:lnSpc>
                <a:spcPct val="90000"/>
              </a:lnSpc>
              <a:spcBef>
                <a:spcPts val="600"/>
              </a:spcBef>
              <a:spcAft>
                <a:spcPts val="1200"/>
              </a:spcAft>
              <a:buFont typeface="Segoe UI" panose="020B0502040204020203" pitchFamily="34" charset="0"/>
              <a:buChar char=" "/>
              <a:defRPr sz="12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Segoe UI" panose="020B0502040204020203" pitchFamily="34" charset="0"/>
              <a:buChar char=" "/>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Segoe UI" panose="020B0502040204020203" pitchFamily="34" charset="0"/>
              <a:buNone/>
            </a:pPr>
            <a:endParaRPr lang="ar-JO" dirty="0"/>
          </a:p>
        </p:txBody>
      </p:sp>
      <p:sp>
        <p:nvSpPr>
          <p:cNvPr id="12" name="Content Placeholder 2"/>
          <p:cNvSpPr txBox="1">
            <a:spLocks/>
          </p:cNvSpPr>
          <p:nvPr/>
        </p:nvSpPr>
        <p:spPr>
          <a:xfrm>
            <a:off x="245707" y="3426569"/>
            <a:ext cx="6105856" cy="1055077"/>
          </a:xfrm>
          <a:prstGeom prst="rect">
            <a:avLst/>
          </a:prstGeom>
        </p:spPr>
        <p:txBody>
          <a:bodyPr vert="horz" lIns="91440" tIns="45720" rIns="91440" bIns="45720" rtlCol="0" anchor="ctr">
            <a:normAutofit/>
          </a:bodyPr>
          <a:lstStyle>
            <a:lvl1pPr marL="0" indent="0" algn="l" defTabSz="914400" rtl="1" eaLnBrk="1" latinLnBrk="0" hangingPunct="1">
              <a:lnSpc>
                <a:spcPct val="150000"/>
              </a:lnSpc>
              <a:spcBef>
                <a:spcPts val="1000"/>
              </a:spcBef>
              <a:spcAft>
                <a:spcPts val="1200"/>
              </a:spcAft>
              <a:buSzPct val="25000"/>
              <a:buFont typeface="Segoe UI" panose="020B0502040204020203" pitchFamily="34" charset="0"/>
              <a:buChar char=" "/>
              <a:defRPr sz="1200" kern="1200">
                <a:solidFill>
                  <a:schemeClr val="tx1"/>
                </a:solidFill>
                <a:latin typeface="+mn-lt"/>
                <a:ea typeface="+mn-ea"/>
                <a:cs typeface="+mn-cs"/>
              </a:defRPr>
            </a:lvl1pPr>
            <a:lvl2pPr marL="401638" indent="7938" algn="l" defTabSz="914400" rtl="1" eaLnBrk="1" latinLnBrk="0" hangingPunct="1">
              <a:lnSpc>
                <a:spcPct val="90000"/>
              </a:lnSpc>
              <a:spcBef>
                <a:spcPts val="600"/>
              </a:spcBef>
              <a:spcAft>
                <a:spcPts val="1200"/>
              </a:spcAft>
              <a:buFont typeface="Segoe UI" panose="020B0502040204020203" pitchFamily="34" charset="0"/>
              <a:buChar char=" "/>
              <a:defRPr sz="12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Segoe UI" panose="020B0502040204020203" pitchFamily="34" charset="0"/>
              <a:buChar char=" "/>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Segoe UI" panose="020B0502040204020203" pitchFamily="34" charset="0"/>
              <a:buNone/>
            </a:pPr>
            <a:endParaRPr lang="ar-JO" dirty="0"/>
          </a:p>
        </p:txBody>
      </p:sp>
      <p:pic>
        <p:nvPicPr>
          <p:cNvPr id="13" name="mntl-sc-block-image_2-0-11" descr="This scientist is wearing a lab coat and goggles and has her hair up."/>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871063" y="3954107"/>
            <a:ext cx="2625634" cy="2663934"/>
          </a:xfrm>
          <a:prstGeom prst="rect">
            <a:avLst/>
          </a:prstGeom>
          <a:noFill/>
          <a:ln>
            <a:noFill/>
          </a:ln>
        </p:spPr>
      </p:pic>
      <p:pic>
        <p:nvPicPr>
          <p:cNvPr id="10" name="Picture 9"/>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496696" y="1303919"/>
            <a:ext cx="2299063" cy="2650188"/>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96697" y="3984704"/>
            <a:ext cx="2299062" cy="2619591"/>
          </a:xfrm>
          <a:prstGeom prst="rect">
            <a:avLst/>
          </a:prstGeom>
        </p:spPr>
      </p:pic>
    </p:spTree>
    <p:extLst>
      <p:ext uri="{BB962C8B-B14F-4D97-AF65-F5344CB8AC3E}">
        <p14:creationId xmlns:p14="http://schemas.microsoft.com/office/powerpoint/2010/main" val="2251638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338" y="1773258"/>
            <a:ext cx="10620102" cy="3139321"/>
          </a:xfrm>
          <a:prstGeom prst="rect">
            <a:avLst/>
          </a:prstGeom>
        </p:spPr>
        <p:txBody>
          <a:bodyPr wrap="square">
            <a:spAutoFit/>
          </a:bodyPr>
          <a:lstStyle/>
          <a:p>
            <a:r>
              <a:rPr lang="en-US" b="1" dirty="0" smtClean="0">
                <a:solidFill>
                  <a:srgbClr val="FF0000"/>
                </a:solidFill>
              </a:rPr>
              <a:t>If </a:t>
            </a:r>
            <a:r>
              <a:rPr lang="en-US" b="1" dirty="0">
                <a:solidFill>
                  <a:srgbClr val="FF0000"/>
                </a:solidFill>
              </a:rPr>
              <a:t>you don't follow it</a:t>
            </a:r>
            <a:r>
              <a:rPr lang="en-US" b="1" dirty="0" smtClean="0">
                <a:solidFill>
                  <a:srgbClr val="FF0000"/>
                </a:solidFill>
              </a:rPr>
              <a:t>:</a:t>
            </a: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r>
              <a:rPr lang="en-US" dirty="0" smtClean="0"/>
              <a:t>* </a:t>
            </a:r>
            <a:r>
              <a:rPr lang="en-US" b="1" dirty="0" smtClean="0"/>
              <a:t>You </a:t>
            </a:r>
            <a:r>
              <a:rPr lang="en-US" b="1" dirty="0"/>
              <a:t>endanger yourself and others in the lab</a:t>
            </a:r>
            <a:r>
              <a:rPr lang="en-US" b="1" dirty="0" smtClean="0"/>
              <a:t>.</a:t>
            </a:r>
          </a:p>
          <a:p>
            <a:endParaRPr lang="en-US" b="1" dirty="0"/>
          </a:p>
          <a:p>
            <a:r>
              <a:rPr lang="en-US" b="1" dirty="0" smtClean="0"/>
              <a:t>* You </a:t>
            </a:r>
            <a:r>
              <a:rPr lang="en-US" b="1" dirty="0"/>
              <a:t>could easily ruin your experiment</a:t>
            </a:r>
            <a:r>
              <a:rPr lang="en-US" b="1" dirty="0" smtClean="0"/>
              <a:t>.</a:t>
            </a:r>
          </a:p>
          <a:p>
            <a:endParaRPr lang="en-US" b="1" dirty="0"/>
          </a:p>
          <a:p>
            <a:r>
              <a:rPr lang="en-US" b="1" dirty="0" smtClean="0"/>
              <a:t>* You </a:t>
            </a:r>
            <a:r>
              <a:rPr lang="en-US" b="1" dirty="0"/>
              <a:t>put the lab at risk of an accident, which could damage equipment as well as harm people</a:t>
            </a:r>
            <a:r>
              <a:rPr lang="en-US" b="1" dirty="0" smtClean="0"/>
              <a:t>.</a:t>
            </a:r>
          </a:p>
          <a:p>
            <a:endParaRPr lang="en-US" b="1" dirty="0"/>
          </a:p>
          <a:p>
            <a:r>
              <a:rPr lang="en-US" b="1" dirty="0" smtClean="0"/>
              <a:t>* You </a:t>
            </a:r>
            <a:r>
              <a:rPr lang="en-US" b="1" dirty="0"/>
              <a:t>could get suspended (student) or fired (researcher).</a:t>
            </a:r>
          </a:p>
        </p:txBody>
      </p:sp>
      <p:sp>
        <p:nvSpPr>
          <p:cNvPr id="3" name="Rectangle 2"/>
          <p:cNvSpPr/>
          <p:nvPr/>
        </p:nvSpPr>
        <p:spPr>
          <a:xfrm>
            <a:off x="2677887" y="566448"/>
            <a:ext cx="7885294" cy="369332"/>
          </a:xfrm>
          <a:prstGeom prst="rect">
            <a:avLst/>
          </a:prstGeom>
        </p:spPr>
        <p:txBody>
          <a:bodyPr wrap="square">
            <a:spAutoFit/>
          </a:bodyPr>
          <a:lstStyle/>
          <a:p>
            <a:r>
              <a:rPr lang="en-US" b="1" dirty="0">
                <a:solidFill>
                  <a:srgbClr val="FF0000"/>
                </a:solidFill>
              </a:rPr>
              <a:t>Why </a:t>
            </a:r>
            <a:r>
              <a:rPr lang="en-US" b="1" dirty="0" smtClean="0">
                <a:solidFill>
                  <a:srgbClr val="FF0000"/>
                </a:solidFill>
              </a:rPr>
              <a:t>following the Laboratory rules is the most important? </a:t>
            </a:r>
            <a:endParaRPr lang="ar-JO" b="1" dirty="0">
              <a:solidFill>
                <a:srgbClr val="FF0000"/>
              </a:solidFill>
            </a:endParaRPr>
          </a:p>
        </p:txBody>
      </p:sp>
    </p:spTree>
    <p:extLst>
      <p:ext uri="{BB962C8B-B14F-4D97-AF65-F5344CB8AC3E}">
        <p14:creationId xmlns:p14="http://schemas.microsoft.com/office/powerpoint/2010/main" val="32580271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747CAC-F3CB-4212-A786-9FB8FC4E1599}"/>
              </a:ext>
              <a:ext uri="{C183D7F6-B498-43B3-948B-1728B52AA6E4}">
                <adec:decorative xmlns:adec="http://schemas.microsoft.com/office/drawing/2017/decorative" xmlns="" val="1"/>
              </a:ext>
            </a:extLst>
          </p:cNvPr>
          <p:cNvSpPr/>
          <p:nvPr/>
        </p:nvSpPr>
        <p:spPr>
          <a:xfrm>
            <a:off x="5268629" y="2868230"/>
            <a:ext cx="6318174" cy="640080"/>
          </a:xfrm>
          <a:prstGeom prst="rect">
            <a:avLst/>
          </a:prstGeom>
          <a:gradFill flip="none" rotWithShape="1">
            <a:gsLst>
              <a:gs pos="0">
                <a:srgbClr val="F5F5F5">
                  <a:alpha val="0"/>
                </a:srgbClr>
              </a:gs>
              <a:gs pos="100000">
                <a:srgbClr val="F5F5F5"/>
              </a:gs>
              <a:gs pos="43000">
                <a:srgbClr val="F5F5F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DA5D818A-6772-4140-9BA1-3E5C4AC85004}"/>
              </a:ext>
              <a:ext uri="{C183D7F6-B498-43B3-948B-1728B52AA6E4}">
                <adec:decorative xmlns:adec="http://schemas.microsoft.com/office/drawing/2017/decorative" xmlns="" val="1"/>
              </a:ext>
            </a:extLst>
          </p:cNvPr>
          <p:cNvSpPr/>
          <p:nvPr/>
        </p:nvSpPr>
        <p:spPr>
          <a:xfrm rot="16200000">
            <a:off x="10017084" y="1839905"/>
            <a:ext cx="1866468" cy="894830"/>
          </a:xfrm>
          <a:prstGeom prst="rect">
            <a:avLst/>
          </a:prstGeom>
          <a:gradFill flip="none" rotWithShape="1">
            <a:gsLst>
              <a:gs pos="0">
                <a:srgbClr val="F5F5F5">
                  <a:alpha val="0"/>
                </a:srgbClr>
              </a:gs>
              <a:gs pos="100000">
                <a:srgbClr val="F5F5F5"/>
              </a:gs>
              <a:gs pos="58000">
                <a:srgbClr val="F5F5F5">
                  <a:alpha val="8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sp>
        <p:nvSpPr>
          <p:cNvPr id="17" name="Content Placeholder 2"/>
          <p:cNvSpPr txBox="1">
            <a:spLocks/>
          </p:cNvSpPr>
          <p:nvPr/>
        </p:nvSpPr>
        <p:spPr>
          <a:xfrm>
            <a:off x="604434" y="4188695"/>
            <a:ext cx="7561046" cy="1096194"/>
          </a:xfrm>
          <a:prstGeom prst="rect">
            <a:avLst/>
          </a:prstGeom>
        </p:spPr>
        <p:txBody>
          <a:bodyP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rtl="0">
              <a:lnSpc>
                <a:spcPct val="60000"/>
              </a:lnSpc>
              <a:buFont typeface="Arial" panose="020B0604020202020204" pitchFamily="34" charset="0"/>
              <a:buNone/>
            </a:pPr>
            <a:r>
              <a:rPr lang="en-US" sz="1800" b="1" dirty="0" smtClean="0">
                <a:latin typeface="Arial" panose="020B0604020202020204" pitchFamily="34" charset="0"/>
                <a:cs typeface="Arial" panose="020B0604020202020204" pitchFamily="34" charset="0"/>
              </a:rPr>
              <a:t> * Drinking, eating and chewing are prohibited in the lab. It may be</a:t>
            </a:r>
          </a:p>
          <a:p>
            <a:pPr algn="l" rtl="0">
              <a:lnSpc>
                <a:spcPct val="60000"/>
              </a:lnSpc>
              <a:buFont typeface="Arial" panose="020B0604020202020204" pitchFamily="34" charset="0"/>
              <a:buNone/>
            </a:pPr>
            <a:r>
              <a:rPr lang="en-US" sz="1800" b="1" dirty="0">
                <a:latin typeface="Arial" panose="020B0604020202020204" pitchFamily="34" charset="0"/>
                <a:cs typeface="Arial" panose="020B0604020202020204" pitchFamily="34" charset="0"/>
              </a:rPr>
              <a:t> </a:t>
            </a:r>
            <a:r>
              <a:rPr lang="en-US" sz="1800" b="1" dirty="0" smtClean="0">
                <a:latin typeface="Arial" panose="020B0604020202020204" pitchFamily="34" charset="0"/>
                <a:cs typeface="Arial" panose="020B0604020202020204" pitchFamily="34" charset="0"/>
              </a:rPr>
              <a:t>    poisonous for you. </a:t>
            </a:r>
            <a:endParaRPr lang="ar-JO" sz="1800" b="1" dirty="0">
              <a:latin typeface="Arial" panose="020B0604020202020204" pitchFamily="34" charset="0"/>
              <a:cs typeface="Arial" panose="020B0604020202020204" pitchFamily="34" charset="0"/>
            </a:endParaRPr>
          </a:p>
        </p:txBody>
      </p:sp>
      <p:pic>
        <p:nvPicPr>
          <p:cNvPr id="18" name="mntl-sc-block-image_2-0-15" descr="If he had chemical residue on his gloves, he could have transferred it to the appl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5480" y="3787054"/>
            <a:ext cx="3068943" cy="2539793"/>
          </a:xfrm>
          <a:prstGeom prst="rect">
            <a:avLst/>
          </a:prstGeom>
          <a:noFill/>
          <a:ln>
            <a:noFill/>
          </a:ln>
        </p:spPr>
      </p:pic>
      <p:sp>
        <p:nvSpPr>
          <p:cNvPr id="19" name="Rectangle 18"/>
          <p:cNvSpPr/>
          <p:nvPr/>
        </p:nvSpPr>
        <p:spPr>
          <a:xfrm>
            <a:off x="604434" y="1488080"/>
            <a:ext cx="5032854" cy="388696"/>
          </a:xfrm>
          <a:prstGeom prst="rect">
            <a:avLst/>
          </a:prstGeom>
        </p:spPr>
        <p:txBody>
          <a:bodyPr wrap="square">
            <a:spAutoFit/>
          </a:bodyPr>
          <a:lstStyle/>
          <a:p>
            <a:pPr>
              <a:lnSpc>
                <a:spcPct val="107000"/>
              </a:lnSpc>
              <a:spcAft>
                <a:spcPts val="800"/>
              </a:spcAft>
            </a:pPr>
            <a:r>
              <a:rPr lang="en-US" b="1" dirty="0" smtClean="0">
                <a:solidFill>
                  <a:srgbClr val="000000"/>
                </a:solidFill>
                <a:latin typeface="Times New Roman" panose="02020603050405020304" pitchFamily="18" charset="0"/>
                <a:ea typeface="Times New Roman" panose="02020603050405020304" pitchFamily="18" charset="0"/>
              </a:rPr>
              <a:t>* </a:t>
            </a:r>
            <a:r>
              <a:rPr lang="en-US" b="1" dirty="0" smtClean="0">
                <a:solidFill>
                  <a:srgbClr val="000000"/>
                </a:solidFill>
                <a:latin typeface="Arial" panose="020B0604020202020204" pitchFamily="34" charset="0"/>
                <a:ea typeface="Times New Roman" panose="02020603050405020304" pitchFamily="18" charset="0"/>
                <a:cs typeface="Arial" panose="020B0604020202020204" pitchFamily="34" charset="0"/>
              </a:rPr>
              <a:t>Know </a:t>
            </a:r>
            <a:r>
              <a:rPr lang="en-US" b="1" dirty="0">
                <a:solidFill>
                  <a:srgbClr val="000000"/>
                </a:solidFill>
                <a:latin typeface="Arial" panose="020B0604020202020204" pitchFamily="34" charset="0"/>
                <a:ea typeface="Times New Roman" panose="02020603050405020304" pitchFamily="18" charset="0"/>
                <a:cs typeface="Arial" panose="020B0604020202020204" pitchFamily="34" charset="0"/>
              </a:rPr>
              <a:t>the Location of Safety Equipment </a:t>
            </a:r>
            <a:endParaRPr lang="en-US" sz="1600" b="1" dirty="0">
              <a:solidFill>
                <a:srgbClr val="000000"/>
              </a:solidFill>
              <a:effectLst/>
              <a:latin typeface="Arial" panose="020B0604020202020204" pitchFamily="34" charset="0"/>
              <a:ea typeface="PMingLiU"/>
              <a:cs typeface="Arial" panose="020B0604020202020204" pitchFamily="34" charset="0"/>
            </a:endParaRPr>
          </a:p>
        </p:txBody>
      </p:sp>
      <p:pic>
        <p:nvPicPr>
          <p:cNvPr id="20" name="mntl-sc-block-image_2-0-7" descr="It's important to know what lab safety signs mean and how to use safety equipment."/>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165480" y="1319589"/>
            <a:ext cx="2872634" cy="2403325"/>
          </a:xfrm>
          <a:prstGeom prst="rect">
            <a:avLst/>
          </a:prstGeom>
          <a:noFill/>
          <a:ln>
            <a:noFill/>
          </a:ln>
        </p:spPr>
      </p:pic>
      <p:sp>
        <p:nvSpPr>
          <p:cNvPr id="5" name="Rectangle 4"/>
          <p:cNvSpPr/>
          <p:nvPr/>
        </p:nvSpPr>
        <p:spPr>
          <a:xfrm>
            <a:off x="4482996" y="546342"/>
            <a:ext cx="2492569" cy="461665"/>
          </a:xfrm>
          <a:prstGeom prst="rect">
            <a:avLst/>
          </a:prstGeom>
        </p:spPr>
        <p:txBody>
          <a:bodyPr wrap="square">
            <a:spAutoFit/>
          </a:bodyPr>
          <a:lstStyle/>
          <a:p>
            <a:pPr algn="ctr"/>
            <a:r>
              <a:rPr lang="en-US" sz="2400" b="1" dirty="0">
                <a:solidFill>
                  <a:srgbClr val="FF0000"/>
                </a:solidFill>
                <a:latin typeface="Arial" panose="020B0604020202020204" pitchFamily="34" charset="0"/>
                <a:cs typeface="Arial" panose="020B0604020202020204" pitchFamily="34" charset="0"/>
              </a:rPr>
              <a:t>General Rules</a:t>
            </a:r>
          </a:p>
        </p:txBody>
      </p:sp>
    </p:spTree>
    <p:extLst>
      <p:ext uri="{BB962C8B-B14F-4D97-AF65-F5344CB8AC3E}">
        <p14:creationId xmlns:p14="http://schemas.microsoft.com/office/powerpoint/2010/main" val="36656338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4434" y="1355412"/>
            <a:ext cx="10983132" cy="5355312"/>
          </a:xfrm>
          <a:prstGeom prst="rect">
            <a:avLst/>
          </a:prstGeom>
        </p:spPr>
        <p:txBody>
          <a:bodyPr wrap="square">
            <a:spAutoFit/>
          </a:bodyPr>
          <a:lstStyle/>
          <a:p>
            <a:r>
              <a:rPr lang="en-US" b="1" dirty="0" smtClean="0">
                <a:latin typeface="Arial" panose="020B0604020202020204" pitchFamily="34" charset="0"/>
                <a:cs typeface="Arial" panose="020B0604020202020204" pitchFamily="34" charset="0"/>
              </a:rPr>
              <a:t>* Work </a:t>
            </a:r>
            <a:r>
              <a:rPr lang="en-US" b="1" dirty="0">
                <a:latin typeface="Arial" panose="020B0604020202020204" pitchFamily="34" charset="0"/>
                <a:cs typeface="Arial" panose="020B0604020202020204" pitchFamily="34" charset="0"/>
              </a:rPr>
              <a:t>quietly — know what you are doing by reading the assigned experiment before you start to </a:t>
            </a:r>
            <a:endParaRPr lang="en-US" b="1" dirty="0" smtClean="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work.</a:t>
            </a:r>
          </a:p>
          <a:p>
            <a:endParaRPr lang="en-US" b="1" dirty="0" smtClean="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Keep </a:t>
            </a:r>
            <a:r>
              <a:rPr lang="en-US" b="1" dirty="0">
                <a:latin typeface="Arial" panose="020B0604020202020204" pitchFamily="34" charset="0"/>
                <a:cs typeface="Arial" panose="020B0604020202020204" pitchFamily="34" charset="0"/>
              </a:rPr>
              <a:t>solids out of the sink. </a:t>
            </a:r>
            <a:endParaRPr lang="en-US"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 </a:t>
            </a:r>
            <a:r>
              <a:rPr lang="en-US" b="1" dirty="0">
                <a:latin typeface="Arial" panose="020B0604020202020204" pitchFamily="34" charset="0"/>
                <a:cs typeface="Arial" panose="020B0604020202020204" pitchFamily="34" charset="0"/>
              </a:rPr>
              <a:t>not lean, hang over or sit on the laboratory tables</a:t>
            </a:r>
            <a:r>
              <a:rPr lang="en-US" b="1"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Know </a:t>
            </a:r>
            <a:r>
              <a:rPr lang="en-US" b="1" dirty="0">
                <a:latin typeface="Arial" panose="020B0604020202020204" pitchFamily="34" charset="0"/>
                <a:cs typeface="Arial" panose="020B0604020202020204" pitchFamily="34" charset="0"/>
              </a:rPr>
              <a:t>emergency phone numbers to use to call for help in case of an emergency. </a:t>
            </a:r>
            <a:endParaRPr lang="en-US"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 </a:t>
            </a:r>
            <a:r>
              <a:rPr lang="en-US" b="1" dirty="0">
                <a:latin typeface="Arial" panose="020B0604020202020204" pitchFamily="34" charset="0"/>
                <a:cs typeface="Arial" panose="020B0604020202020204" pitchFamily="34" charset="0"/>
              </a:rPr>
              <a:t>not lift any solutions, glassware or other types of apparatus above eye level</a:t>
            </a:r>
            <a:r>
              <a:rPr lang="en-US" b="1"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Follow </a:t>
            </a:r>
            <a:r>
              <a:rPr lang="en-US" b="1" dirty="0">
                <a:latin typeface="Arial" panose="020B0604020202020204" pitchFamily="34" charset="0"/>
                <a:cs typeface="Arial" panose="020B0604020202020204" pitchFamily="34" charset="0"/>
              </a:rPr>
              <a:t>all instructions given by your teacher</a:t>
            </a:r>
            <a:r>
              <a:rPr lang="en-US" b="1" dirty="0" smtClean="0">
                <a:latin typeface="Arial" panose="020B0604020202020204" pitchFamily="34" charset="0"/>
                <a:cs typeface="Arial" panose="020B0604020202020204" pitchFamily="34" charset="0"/>
              </a:rPr>
              <a:t>.</a:t>
            </a:r>
          </a:p>
          <a:p>
            <a:endParaRPr lang="en-US" b="1" dirty="0" smtClean="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 </a:t>
            </a:r>
            <a:r>
              <a:rPr lang="en-US" b="1" dirty="0">
                <a:latin typeface="Arial" panose="020B0604020202020204" pitchFamily="34" charset="0"/>
                <a:cs typeface="Arial" panose="020B0604020202020204" pitchFamily="34" charset="0"/>
              </a:rPr>
              <a:t>not work alone in the lab</a:t>
            </a:r>
            <a:r>
              <a:rPr lang="en-US" b="1"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Make </a:t>
            </a:r>
            <a:r>
              <a:rPr lang="en-US" b="1" dirty="0">
                <a:latin typeface="Arial" panose="020B0604020202020204" pitchFamily="34" charset="0"/>
                <a:cs typeface="Arial" panose="020B0604020202020204" pitchFamily="34" charset="0"/>
              </a:rPr>
              <a:t>sure you always follow the proper procedures for disposing lab waste</a:t>
            </a:r>
            <a:r>
              <a:rPr lang="en-US" b="1"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When </a:t>
            </a:r>
            <a:r>
              <a:rPr lang="en-US" b="1" dirty="0">
                <a:latin typeface="Arial" panose="020B0604020202020204" pitchFamily="34" charset="0"/>
                <a:cs typeface="Arial" panose="020B0604020202020204" pitchFamily="34" charset="0"/>
              </a:rPr>
              <a:t>handling any toxic or hazardous agent, always wear the appropriate gloves.</a:t>
            </a:r>
          </a:p>
          <a:p>
            <a:endParaRPr lang="ar-JO"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02137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4766" y="1404819"/>
            <a:ext cx="11403874" cy="3693319"/>
          </a:xfrm>
          <a:prstGeom prst="rect">
            <a:avLst/>
          </a:prstGeom>
        </p:spPr>
        <p:txBody>
          <a:bodyPr wrap="square">
            <a:spAutoFit/>
          </a:bodyPr>
          <a:lstStyle/>
          <a:p>
            <a:r>
              <a:rPr lang="en-US" b="1" dirty="0" smtClean="0"/>
              <a:t>* After </a:t>
            </a:r>
            <a:r>
              <a:rPr lang="en-US" b="1" dirty="0"/>
              <a:t>performing an experiment, you should always wash your hands with soap and water. </a:t>
            </a:r>
            <a:endParaRPr lang="en-US" b="1" dirty="0" smtClean="0"/>
          </a:p>
          <a:p>
            <a:endParaRPr lang="en-US" b="1" dirty="0"/>
          </a:p>
          <a:p>
            <a:r>
              <a:rPr lang="en-US" b="1" dirty="0" smtClean="0"/>
              <a:t>* When </a:t>
            </a:r>
            <a:r>
              <a:rPr lang="en-US" b="1" dirty="0"/>
              <a:t>using lab equipment and chemicals, be sure to keep your hands away from your body, mouth, </a:t>
            </a:r>
            <a:endParaRPr lang="en-US" b="1" dirty="0" smtClean="0"/>
          </a:p>
          <a:p>
            <a:r>
              <a:rPr lang="en-US" b="1" dirty="0"/>
              <a:t> </a:t>
            </a:r>
            <a:r>
              <a:rPr lang="en-US" b="1" dirty="0" smtClean="0"/>
              <a:t>    eyes</a:t>
            </a:r>
            <a:r>
              <a:rPr lang="en-US" b="1" dirty="0"/>
              <a:t>, and face</a:t>
            </a:r>
            <a:r>
              <a:rPr lang="en-US" b="1" dirty="0" smtClean="0"/>
              <a:t>.</a:t>
            </a:r>
          </a:p>
          <a:p>
            <a:endParaRPr lang="en-US" b="1" dirty="0"/>
          </a:p>
          <a:p>
            <a:r>
              <a:rPr lang="en-US" b="1" dirty="0" smtClean="0"/>
              <a:t>* Don't </a:t>
            </a:r>
            <a:r>
              <a:rPr lang="en-US" b="1" dirty="0"/>
              <a:t>perform your own experiments unless given </a:t>
            </a:r>
            <a:r>
              <a:rPr lang="en-US" b="1" dirty="0" smtClean="0"/>
              <a:t>permission</a:t>
            </a:r>
          </a:p>
          <a:p>
            <a:endParaRPr lang="en-US" b="1" dirty="0"/>
          </a:p>
          <a:p>
            <a:r>
              <a:rPr lang="en-US" b="1" dirty="0" smtClean="0"/>
              <a:t>* Immediately </a:t>
            </a:r>
            <a:r>
              <a:rPr lang="en-US" b="1" dirty="0"/>
              <a:t>report any accident or injury to your instructor or </a:t>
            </a:r>
            <a:r>
              <a:rPr lang="en-US" b="1" dirty="0" smtClean="0"/>
              <a:t>supervisor</a:t>
            </a:r>
          </a:p>
          <a:p>
            <a:endParaRPr lang="en-US" b="1" dirty="0"/>
          </a:p>
          <a:p>
            <a:r>
              <a:rPr lang="en-US" b="1" dirty="0" smtClean="0"/>
              <a:t>* Clean </a:t>
            </a:r>
            <a:r>
              <a:rPr lang="en-US" b="1" dirty="0"/>
              <a:t>up and decontaminate your workspace before and after </a:t>
            </a:r>
            <a:r>
              <a:rPr lang="en-US" b="1" dirty="0" smtClean="0"/>
              <a:t>the Lab. </a:t>
            </a:r>
          </a:p>
          <a:p>
            <a:endParaRPr lang="en-US" b="1" dirty="0"/>
          </a:p>
          <a:p>
            <a:r>
              <a:rPr lang="en-US" b="1" dirty="0"/>
              <a:t> </a:t>
            </a:r>
            <a:r>
              <a:rPr lang="en-US" b="1" dirty="0" smtClean="0"/>
              <a:t>* Learn </a:t>
            </a:r>
            <a:r>
              <a:rPr lang="en-US" b="1" dirty="0"/>
              <a:t>and follow the lab rules for proper disposal of hazardous materials and sharp objects like </a:t>
            </a:r>
            <a:endParaRPr lang="en-US" b="1" dirty="0" smtClean="0"/>
          </a:p>
          <a:p>
            <a:r>
              <a:rPr lang="en-US" b="1" dirty="0"/>
              <a:t> </a:t>
            </a:r>
            <a:r>
              <a:rPr lang="en-US" b="1" dirty="0" smtClean="0"/>
              <a:t>    needles</a:t>
            </a:r>
            <a:r>
              <a:rPr lang="en-US" b="1" dirty="0"/>
              <a:t>, scalpels, and broken glass.</a:t>
            </a:r>
          </a:p>
        </p:txBody>
      </p:sp>
    </p:spTree>
    <p:extLst>
      <p:ext uri="{BB962C8B-B14F-4D97-AF65-F5344CB8AC3E}">
        <p14:creationId xmlns:p14="http://schemas.microsoft.com/office/powerpoint/2010/main" val="35498206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51408" y="674083"/>
            <a:ext cx="2323712" cy="306622"/>
          </a:xfrm>
          <a:prstGeom prst="rect">
            <a:avLst/>
          </a:prstGeom>
        </p:spPr>
        <p:txBody>
          <a:bodyPr wrap="square">
            <a:spAutoFit/>
          </a:bodyPr>
          <a:lstStyle/>
          <a:p>
            <a:pPr algn="ctr">
              <a:lnSpc>
                <a:spcPts val="1500"/>
              </a:lnSpc>
              <a:spcBef>
                <a:spcPts val="1500"/>
              </a:spcBef>
              <a:spcAft>
                <a:spcPts val="1500"/>
              </a:spcAft>
            </a:pPr>
            <a:r>
              <a:rPr lang="en-US" sz="2400" b="1" dirty="0">
                <a:solidFill>
                  <a:srgbClr val="FF0000"/>
                </a:solidFill>
                <a:latin typeface="Roboto"/>
                <a:ea typeface="Times New Roman" panose="02020603050405020304" pitchFamily="18" charset="0"/>
                <a:cs typeface="Helvetica" panose="020B0604020202020204" pitchFamily="34" charset="0"/>
              </a:rPr>
              <a:t>Using of fire:</a:t>
            </a:r>
            <a:endParaRPr lang="en-US" sz="2400" b="1" dirty="0">
              <a:solidFill>
                <a:srgbClr val="FF0000"/>
              </a:solidFill>
              <a:latin typeface="Arial" panose="020B0604020202020204" pitchFamily="34" charset="0"/>
              <a:ea typeface="PMingLiU"/>
            </a:endParaRPr>
          </a:p>
        </p:txBody>
      </p:sp>
      <p:sp>
        <p:nvSpPr>
          <p:cNvPr id="4" name="Rectangle 3"/>
          <p:cNvSpPr/>
          <p:nvPr/>
        </p:nvSpPr>
        <p:spPr>
          <a:xfrm>
            <a:off x="431073" y="1433790"/>
            <a:ext cx="11155681" cy="3139321"/>
          </a:xfrm>
          <a:prstGeom prst="rect">
            <a:avLst/>
          </a:prstGeom>
        </p:spPr>
        <p:txBody>
          <a:bodyPr wrap="square">
            <a:spAutoFit/>
          </a:bodyPr>
          <a:lstStyle/>
          <a:p>
            <a:r>
              <a:rPr lang="en-US" b="1" dirty="0" smtClean="0"/>
              <a:t>* </a:t>
            </a:r>
            <a:r>
              <a:rPr lang="en-US" b="1" dirty="0" smtClean="0">
                <a:latin typeface="Arial" panose="020B0604020202020204" pitchFamily="34" charset="0"/>
                <a:cs typeface="Arial" panose="020B0604020202020204" pitchFamily="34" charset="0"/>
              </a:rPr>
              <a:t>Open </a:t>
            </a:r>
            <a:r>
              <a:rPr lang="en-US" b="1" dirty="0">
                <a:latin typeface="Arial" panose="020B0604020202020204" pitchFamily="34" charset="0"/>
                <a:cs typeface="Arial" panose="020B0604020202020204" pitchFamily="34" charset="0"/>
              </a:rPr>
              <a:t>flames should never be used in the laboratory unless you have </a:t>
            </a:r>
            <a:r>
              <a:rPr lang="en-US" b="1" dirty="0" smtClean="0">
                <a:latin typeface="Arial" panose="020B0604020202020204" pitchFamily="34" charset="0"/>
                <a:cs typeface="Arial" panose="020B0604020202020204" pitchFamily="34" charset="0"/>
              </a:rPr>
              <a:t>permission.</a:t>
            </a: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An </a:t>
            </a:r>
            <a:r>
              <a:rPr lang="en-US" b="1" dirty="0">
                <a:latin typeface="Arial" panose="020B0604020202020204" pitchFamily="34" charset="0"/>
                <a:cs typeface="Arial" panose="020B0604020202020204" pitchFamily="34" charset="0"/>
              </a:rPr>
              <a:t>area of 36" diameter must be kept clear at all times around all fire sprinkler </a:t>
            </a:r>
            <a:r>
              <a:rPr lang="en-US" b="1" dirty="0" smtClean="0">
                <a:latin typeface="Arial" panose="020B0604020202020204" pitchFamily="34" charset="0"/>
                <a:cs typeface="Arial" panose="020B0604020202020204" pitchFamily="34" charset="0"/>
              </a:rPr>
              <a:t>heads.</a:t>
            </a: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If </a:t>
            </a:r>
            <a:r>
              <a:rPr lang="en-US" b="1" dirty="0">
                <a:latin typeface="Arial" panose="020B0604020202020204" pitchFamily="34" charset="0"/>
                <a:cs typeface="Arial" panose="020B0604020202020204" pitchFamily="34" charset="0"/>
              </a:rPr>
              <a:t>there is a fire drill, be sure to turn off all electrical equipment and close all containers</a:t>
            </a:r>
            <a:r>
              <a:rPr lang="en-US" b="1" dirty="0" smtClean="0">
                <a:latin typeface="Arial" panose="020B0604020202020204" pitchFamily="34" charset="0"/>
                <a:cs typeface="Arial" panose="020B0604020202020204" pitchFamily="34" charset="0"/>
              </a:rPr>
              <a:t>.</a:t>
            </a: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Anyone </a:t>
            </a:r>
            <a:r>
              <a:rPr lang="en-US" b="1" dirty="0">
                <a:latin typeface="Arial" panose="020B0604020202020204" pitchFamily="34" charset="0"/>
                <a:cs typeface="Arial" panose="020B0604020202020204" pitchFamily="34" charset="0"/>
              </a:rPr>
              <a:t>wearing acrylic nails will not be allowed to work with matches, lighted splints, </a:t>
            </a:r>
            <a:r>
              <a:rPr lang="en-US" b="1" dirty="0" err="1">
                <a:latin typeface="Arial" panose="020B0604020202020204" pitchFamily="34" charset="0"/>
                <a:cs typeface="Arial" panose="020B0604020202020204" pitchFamily="34" charset="0"/>
              </a:rPr>
              <a:t>bunsen</a:t>
            </a:r>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a:t>
            </a:r>
          </a:p>
          <a:p>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Burners</a:t>
            </a:r>
            <a:r>
              <a:rPr lang="en-US" b="1" dirty="0">
                <a:latin typeface="Arial" panose="020B0604020202020204" pitchFamily="34" charset="0"/>
                <a:cs typeface="Arial" panose="020B0604020202020204" pitchFamily="34" charset="0"/>
              </a:rPr>
              <a:t>, etc</a:t>
            </a:r>
            <a:r>
              <a:rPr lang="en-US" b="1" dirty="0" smtClean="0">
                <a:latin typeface="Arial" panose="020B0604020202020204" pitchFamily="34" charset="0"/>
                <a:cs typeface="Arial" panose="020B0604020202020204" pitchFamily="34" charset="0"/>
              </a:rPr>
              <a:t>.</a:t>
            </a: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Don’t </a:t>
            </a:r>
            <a:r>
              <a:rPr lang="en-US" b="1" dirty="0">
                <a:latin typeface="Arial" panose="020B0604020202020204" pitchFamily="34" charset="0"/>
                <a:cs typeface="Arial" panose="020B0604020202020204" pitchFamily="34" charset="0"/>
              </a:rPr>
              <a:t>leave any heated materials unattended</a:t>
            </a:r>
          </a:p>
          <a:p>
            <a:endParaRPr lang="ar-JO" b="1" dirty="0"/>
          </a:p>
        </p:txBody>
      </p:sp>
    </p:spTree>
    <p:extLst>
      <p:ext uri="{BB962C8B-B14F-4D97-AF65-F5344CB8AC3E}">
        <p14:creationId xmlns:p14="http://schemas.microsoft.com/office/powerpoint/2010/main" val="11164815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251" y="461690"/>
            <a:ext cx="10983132" cy="747763"/>
          </a:xfrm>
        </p:spPr>
        <p:txBody>
          <a:bodyPr>
            <a:noAutofit/>
          </a:bodyPr>
          <a:lstStyle/>
          <a:p>
            <a:pPr algn="ctr">
              <a:lnSpc>
                <a:spcPct val="107000"/>
              </a:lnSpc>
              <a:spcAft>
                <a:spcPts val="0"/>
              </a:spcAft>
            </a:pPr>
            <a:r>
              <a:rPr lang="en-US" sz="2400" b="1" dirty="0">
                <a:solidFill>
                  <a:srgbClr val="FF0000"/>
                </a:solidFill>
                <a:latin typeface="inherit"/>
                <a:ea typeface="Times New Roman" panose="02020603050405020304" pitchFamily="18" charset="0"/>
                <a:cs typeface="Helvetica" panose="020B0604020202020204" pitchFamily="34" charset="0"/>
              </a:rPr>
              <a:t>Glassware:</a:t>
            </a:r>
            <a:r>
              <a:rPr lang="en-US" sz="2400" b="1" dirty="0">
                <a:solidFill>
                  <a:srgbClr val="FF0000"/>
                </a:solidFill>
                <a:effectLst>
                  <a:outerShdw blurRad="38100" dist="38100" dir="2700000" algn="tl">
                    <a:srgbClr val="000000">
                      <a:alpha val="43137"/>
                    </a:srgbClr>
                  </a:outerShdw>
                </a:effectLst>
                <a:latin typeface="Arial" panose="020B0604020202020204" pitchFamily="34" charset="0"/>
                <a:ea typeface="PMingLiU"/>
              </a:rPr>
              <a:t/>
            </a:r>
            <a:br>
              <a:rPr lang="en-US" sz="2400" b="1" dirty="0">
                <a:solidFill>
                  <a:srgbClr val="FF0000"/>
                </a:solidFill>
                <a:effectLst>
                  <a:outerShdw blurRad="38100" dist="38100" dir="2700000" algn="tl">
                    <a:srgbClr val="000000">
                      <a:alpha val="43137"/>
                    </a:srgbClr>
                  </a:outerShdw>
                </a:effectLst>
                <a:latin typeface="Arial" panose="020B0604020202020204" pitchFamily="34" charset="0"/>
                <a:ea typeface="PMingLiU"/>
              </a:rPr>
            </a:br>
            <a:endParaRPr lang="ar-JO" sz="2400" dirty="0">
              <a:solidFill>
                <a:srgbClr val="FF0000"/>
              </a:solidFill>
              <a:effectLst>
                <a:outerShdw blurRad="38100" dist="38100" dir="2700000" algn="tl">
                  <a:srgbClr val="000000">
                    <a:alpha val="43137"/>
                  </a:srgbClr>
                </a:outerShdw>
              </a:effectLst>
            </a:endParaRPr>
          </a:p>
        </p:txBody>
      </p:sp>
      <p:sp>
        <p:nvSpPr>
          <p:cNvPr id="4" name="Rectangle 3"/>
          <p:cNvSpPr/>
          <p:nvPr/>
        </p:nvSpPr>
        <p:spPr>
          <a:xfrm>
            <a:off x="421554" y="1459915"/>
            <a:ext cx="10433680" cy="2862322"/>
          </a:xfrm>
          <a:prstGeom prst="rect">
            <a:avLst/>
          </a:prstGeom>
        </p:spPr>
        <p:txBody>
          <a:bodyPr wrap="square">
            <a:spAutoFit/>
          </a:bodyPr>
          <a:lstStyle/>
          <a:p>
            <a:r>
              <a:rPr lang="en-US" b="1" dirty="0" smtClean="0">
                <a:latin typeface="Arial" panose="020B0604020202020204" pitchFamily="34" charset="0"/>
                <a:cs typeface="Arial" panose="020B0604020202020204" pitchFamily="34" charset="0"/>
              </a:rPr>
              <a:t>* Laboratory </a:t>
            </a:r>
            <a:r>
              <a:rPr lang="en-US" b="1" dirty="0">
                <a:latin typeface="Arial" panose="020B0604020202020204" pitchFamily="34" charset="0"/>
                <a:cs typeface="Arial" panose="020B0604020202020204" pitchFamily="34" charset="0"/>
              </a:rPr>
              <a:t>glassware should never be utilized as food or beverage containers</a:t>
            </a:r>
            <a:r>
              <a:rPr lang="en-US" b="1" dirty="0" smtClean="0">
                <a:latin typeface="Arial" panose="020B0604020202020204" pitchFamily="34" charset="0"/>
                <a:cs typeface="Arial" panose="020B0604020202020204" pitchFamily="34" charset="0"/>
              </a:rPr>
              <a:t>.</a:t>
            </a:r>
          </a:p>
          <a:p>
            <a:endParaRPr lang="en-US"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Correct </a:t>
            </a:r>
            <a:r>
              <a:rPr lang="en-US" b="1" dirty="0">
                <a:latin typeface="Arial" panose="020B0604020202020204" pitchFamily="34" charset="0"/>
                <a:cs typeface="Arial" panose="020B0604020202020204" pitchFamily="34" charset="0"/>
              </a:rPr>
              <a:t>eye protection should be worn in most experiments involving glassware</a:t>
            </a:r>
            <a:r>
              <a:rPr lang="en-US" b="1" dirty="0" smtClean="0">
                <a:latin typeface="Arial" panose="020B0604020202020204" pitchFamily="34" charset="0"/>
                <a:cs typeface="Arial" panose="020B0604020202020204" pitchFamily="34" charset="0"/>
              </a:rPr>
              <a:t>.</a:t>
            </a:r>
          </a:p>
          <a:p>
            <a:endParaRPr lang="en-US" b="1" dirty="0">
              <a:latin typeface="Arial" panose="020B0604020202020204" pitchFamily="34" charset="0"/>
              <a:cs typeface="Arial" panose="020B0604020202020204" pitchFamily="34" charset="0"/>
            </a:endParaRPr>
          </a:p>
          <a:p>
            <a:endParaRPr lang="en-US" b="1" dirty="0" smtClean="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Each </a:t>
            </a:r>
            <a:r>
              <a:rPr lang="en-US" b="1" dirty="0">
                <a:latin typeface="Arial" panose="020B0604020202020204" pitchFamily="34" charset="0"/>
                <a:cs typeface="Arial" panose="020B0604020202020204" pitchFamily="34" charset="0"/>
              </a:rPr>
              <a:t>time you use glassware, be sure to check it for chips and cracks. </a:t>
            </a:r>
            <a:endParaRPr lang="en-US" b="1" dirty="0" smtClean="0">
              <a:latin typeface="Arial" panose="020B0604020202020204" pitchFamily="34" charset="0"/>
              <a:cs typeface="Arial" panose="020B0604020202020204" pitchFamily="34" charset="0"/>
            </a:endParaRPr>
          </a:p>
          <a:p>
            <a:endParaRPr lang="en-US"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Broken </a:t>
            </a:r>
            <a:r>
              <a:rPr lang="en-US" b="1" dirty="0">
                <a:latin typeface="Arial" panose="020B0604020202020204" pitchFamily="34" charset="0"/>
                <a:cs typeface="Arial" panose="020B0604020202020204" pitchFamily="34" charset="0"/>
              </a:rPr>
              <a:t>and other waste glass should be discarded in a separate container</a:t>
            </a:r>
            <a:endParaRPr lang="ar-JO"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67907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03421" y="517576"/>
            <a:ext cx="2075756" cy="367216"/>
          </a:xfrm>
          <a:prstGeom prst="rect">
            <a:avLst/>
          </a:prstGeom>
        </p:spPr>
        <p:txBody>
          <a:bodyPr wrap="square">
            <a:spAutoFit/>
          </a:bodyPr>
          <a:lstStyle/>
          <a:p>
            <a:pPr algn="ctr">
              <a:lnSpc>
                <a:spcPct val="107000"/>
              </a:lnSpc>
              <a:spcAft>
                <a:spcPts val="0"/>
              </a:spcAft>
            </a:pPr>
            <a:r>
              <a:rPr lang="en-US" b="1" dirty="0">
                <a:solidFill>
                  <a:srgbClr val="FF0000"/>
                </a:solidFill>
                <a:latin typeface="inherit"/>
                <a:ea typeface="Times New Roman" panose="02020603050405020304" pitchFamily="18" charset="0"/>
                <a:cs typeface="Helvetica" panose="020B0604020202020204" pitchFamily="34" charset="0"/>
              </a:rPr>
              <a:t>Instruments:</a:t>
            </a:r>
            <a:endParaRPr lang="en-US" sz="2000" b="1" dirty="0">
              <a:solidFill>
                <a:srgbClr val="FF0000"/>
              </a:solidFill>
              <a:latin typeface="Arial" panose="020B0604020202020204" pitchFamily="34" charset="0"/>
              <a:ea typeface="PMingLiU"/>
            </a:endParaRPr>
          </a:p>
        </p:txBody>
      </p:sp>
      <p:sp>
        <p:nvSpPr>
          <p:cNvPr id="3" name="Rectangle 2"/>
          <p:cNvSpPr/>
          <p:nvPr/>
        </p:nvSpPr>
        <p:spPr>
          <a:xfrm>
            <a:off x="352696" y="2301128"/>
            <a:ext cx="11599817" cy="2308324"/>
          </a:xfrm>
          <a:prstGeom prst="rect">
            <a:avLst/>
          </a:prstGeom>
        </p:spPr>
        <p:txBody>
          <a:bodyPr wrap="square">
            <a:spAutoFit/>
          </a:bodyPr>
          <a:lstStyle/>
          <a:p>
            <a:r>
              <a:rPr lang="en-US" b="1" dirty="0" smtClean="0">
                <a:latin typeface="Arial" panose="020B0604020202020204" pitchFamily="34" charset="0"/>
                <a:cs typeface="Arial" panose="020B0604020202020204" pitchFamily="34" charset="0"/>
              </a:rPr>
              <a:t>* Never </a:t>
            </a:r>
            <a:r>
              <a:rPr lang="en-US" b="1" dirty="0">
                <a:latin typeface="Arial" panose="020B0604020202020204" pitchFamily="34" charset="0"/>
                <a:cs typeface="Arial" panose="020B0604020202020204" pitchFamily="34" charset="0"/>
              </a:rPr>
              <a:t>use lab equipment that you are not approved or trained by your supervisor to operate. </a:t>
            </a:r>
            <a:endParaRPr lang="en-US" b="1" dirty="0" smtClean="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Don't </a:t>
            </a:r>
            <a:r>
              <a:rPr lang="en-US" b="1" dirty="0">
                <a:latin typeface="Arial" panose="020B0604020202020204" pitchFamily="34" charset="0"/>
                <a:cs typeface="Arial" panose="020B0604020202020204" pitchFamily="34" charset="0"/>
              </a:rPr>
              <a:t>operate lab equipment without </a:t>
            </a:r>
            <a:r>
              <a:rPr lang="en-US" b="1" dirty="0" smtClean="0">
                <a:latin typeface="Arial" panose="020B0604020202020204" pitchFamily="34" charset="0"/>
                <a:cs typeface="Arial" panose="020B0604020202020204" pitchFamily="34" charset="0"/>
              </a:rPr>
              <a:t>permission</a:t>
            </a:r>
          </a:p>
          <a:p>
            <a:endParaRPr lang="en-US" b="1" dirty="0" smtClean="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Use </a:t>
            </a:r>
            <a:r>
              <a:rPr lang="en-US" b="1" dirty="0">
                <a:latin typeface="Arial" panose="020B0604020202020204" pitchFamily="34" charset="0"/>
                <a:cs typeface="Arial" panose="020B0604020202020204" pitchFamily="34" charset="0"/>
              </a:rPr>
              <a:t>lab refrigerators, freezers, ovens, and storage units only for their intended </a:t>
            </a:r>
            <a:r>
              <a:rPr lang="en-US" b="1" dirty="0" smtClean="0">
                <a:latin typeface="Arial" panose="020B0604020202020204" pitchFamily="34" charset="0"/>
                <a:cs typeface="Arial" panose="020B0604020202020204" pitchFamily="34" charset="0"/>
              </a:rPr>
              <a:t>purposes, but not </a:t>
            </a:r>
            <a:r>
              <a:rPr lang="en-US" b="1" dirty="0">
                <a:latin typeface="Arial" panose="020B0604020202020204" pitchFamily="34" charset="0"/>
                <a:cs typeface="Arial" panose="020B0604020202020204" pitchFamily="34" charset="0"/>
              </a:rPr>
              <a:t>use </a:t>
            </a:r>
            <a:endParaRPr lang="en-US" b="1" dirty="0" smtClean="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for </a:t>
            </a:r>
            <a:r>
              <a:rPr lang="en-US" b="1" dirty="0">
                <a:latin typeface="Arial" panose="020B0604020202020204" pitchFamily="34" charset="0"/>
                <a:cs typeface="Arial" panose="020B0604020202020204" pitchFamily="34" charset="0"/>
              </a:rPr>
              <a:t>your </a:t>
            </a:r>
            <a:r>
              <a:rPr lang="en-US" b="1" dirty="0" smtClean="0">
                <a:latin typeface="Arial" panose="020B0604020202020204" pitchFamily="34" charset="0"/>
                <a:cs typeface="Arial" panose="020B0604020202020204" pitchFamily="34" charset="0"/>
              </a:rPr>
              <a:t>personal </a:t>
            </a:r>
            <a:r>
              <a:rPr lang="en-US" b="1" dirty="0">
                <a:latin typeface="Arial" panose="020B0604020202020204" pitchFamily="34" charset="0"/>
                <a:cs typeface="Arial" panose="020B0604020202020204" pitchFamily="34" charset="0"/>
              </a:rPr>
              <a:t>food and drink or storage.</a:t>
            </a:r>
          </a:p>
        </p:txBody>
      </p:sp>
    </p:spTree>
    <p:extLst>
      <p:ext uri="{BB962C8B-B14F-4D97-AF65-F5344CB8AC3E}">
        <p14:creationId xmlns:p14="http://schemas.microsoft.com/office/powerpoint/2010/main" val="15154995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8834" y="566448"/>
            <a:ext cx="6078412" cy="461665"/>
          </a:xfrm>
          <a:prstGeom prst="rect">
            <a:avLst/>
          </a:prstGeom>
        </p:spPr>
        <p:txBody>
          <a:bodyPr wrap="square">
            <a:spAutoFit/>
          </a:bodyPr>
          <a:lstStyle/>
          <a:p>
            <a:pPr algn="ctr"/>
            <a:r>
              <a:rPr lang="en-US" sz="2400" b="1" dirty="0">
                <a:solidFill>
                  <a:srgbClr val="FF0000"/>
                </a:solidFill>
              </a:rPr>
              <a:t>Chemical Safety Rules</a:t>
            </a:r>
            <a:endParaRPr lang="ar-JO" sz="2400" b="1" dirty="0">
              <a:solidFill>
                <a:srgbClr val="FF0000"/>
              </a:solidFill>
            </a:endParaRPr>
          </a:p>
        </p:txBody>
      </p:sp>
      <p:pic>
        <p:nvPicPr>
          <p:cNvPr id="3" name="Picture 2" descr="Chemical lab safety rul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97697" y="1347378"/>
            <a:ext cx="2945811" cy="1487261"/>
          </a:xfrm>
          <a:prstGeom prst="rect">
            <a:avLst/>
          </a:prstGeom>
          <a:noFill/>
          <a:ln>
            <a:noFill/>
          </a:ln>
        </p:spPr>
      </p:pic>
      <p:sp>
        <p:nvSpPr>
          <p:cNvPr id="4" name="Rectangle 3"/>
          <p:cNvSpPr/>
          <p:nvPr/>
        </p:nvSpPr>
        <p:spPr>
          <a:xfrm>
            <a:off x="522514" y="1347378"/>
            <a:ext cx="8275183" cy="923330"/>
          </a:xfrm>
          <a:prstGeom prst="rect">
            <a:avLst/>
          </a:prstGeom>
        </p:spPr>
        <p:txBody>
          <a:bodyPr wrap="square">
            <a:spAutoFit/>
          </a:bodyPr>
          <a:lstStyle/>
          <a:p>
            <a:r>
              <a:rPr lang="en-US" b="1" dirty="0">
                <a:solidFill>
                  <a:srgbClr val="FF0000"/>
                </a:solidFill>
              </a:rPr>
              <a:t>The best way to remain safe when dealing with </a:t>
            </a:r>
            <a:r>
              <a:rPr lang="en-US" b="1" dirty="0" smtClean="0">
                <a:solidFill>
                  <a:srgbClr val="FF0000"/>
                </a:solidFill>
              </a:rPr>
              <a:t>chemicals </a:t>
            </a:r>
            <a:r>
              <a:rPr lang="en-US" b="1" dirty="0">
                <a:solidFill>
                  <a:srgbClr val="FF0000"/>
                </a:solidFill>
              </a:rPr>
              <a:t>is to assume that any chemical you handle is dangerous </a:t>
            </a:r>
            <a:r>
              <a:rPr lang="en-US" b="1" dirty="0" smtClean="0">
                <a:solidFill>
                  <a:srgbClr val="FF0000"/>
                </a:solidFill>
              </a:rPr>
              <a:t>and you must know how to </a:t>
            </a:r>
            <a:r>
              <a:rPr lang="en-US" b="1" dirty="0">
                <a:solidFill>
                  <a:srgbClr val="FF0000"/>
                </a:solidFill>
              </a:rPr>
              <a:t>handle it.</a:t>
            </a:r>
          </a:p>
        </p:txBody>
      </p:sp>
      <p:sp>
        <p:nvSpPr>
          <p:cNvPr id="5" name="Rectangle 4"/>
          <p:cNvSpPr/>
          <p:nvPr/>
        </p:nvSpPr>
        <p:spPr>
          <a:xfrm>
            <a:off x="703302" y="2834639"/>
            <a:ext cx="10489476" cy="3693319"/>
          </a:xfrm>
          <a:prstGeom prst="rect">
            <a:avLst/>
          </a:prstGeom>
        </p:spPr>
        <p:txBody>
          <a:bodyPr wrap="square">
            <a:spAutoFit/>
          </a:bodyPr>
          <a:lstStyle/>
          <a:p>
            <a:r>
              <a:rPr lang="en-US" b="1" dirty="0" smtClean="0">
                <a:latin typeface="Arial" panose="020B0604020202020204" pitchFamily="34" charset="0"/>
                <a:cs typeface="Arial" panose="020B0604020202020204" pitchFamily="34" charset="0"/>
              </a:rPr>
              <a:t>* Never </a:t>
            </a:r>
            <a:r>
              <a:rPr lang="en-US" b="1" dirty="0">
                <a:latin typeface="Arial" panose="020B0604020202020204" pitchFamily="34" charset="0"/>
                <a:cs typeface="Arial" panose="020B0604020202020204" pitchFamily="34" charset="0"/>
              </a:rPr>
              <a:t>lift any glassware, solutions, or other types of apparatus above eye level. </a:t>
            </a:r>
            <a:endParaRPr lang="en-US" b="1" dirty="0" smtClean="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In </a:t>
            </a:r>
            <a:r>
              <a:rPr lang="en-US" b="1" dirty="0">
                <a:latin typeface="Arial" panose="020B0604020202020204" pitchFamily="34" charset="0"/>
                <a:cs typeface="Arial" panose="020B0604020202020204" pitchFamily="34" charset="0"/>
              </a:rPr>
              <a:t>the event of a chemical splashing into your eye(s) or on your skin, immediately flush the </a:t>
            </a:r>
            <a:endParaRPr lang="en-US" b="1" dirty="0" smtClean="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affected </a:t>
            </a:r>
            <a:r>
              <a:rPr lang="en-US" b="1" dirty="0">
                <a:latin typeface="Arial" panose="020B0604020202020204" pitchFamily="34" charset="0"/>
                <a:cs typeface="Arial" panose="020B0604020202020204" pitchFamily="34" charset="0"/>
              </a:rPr>
              <a:t>area(s) with running water for at least 20 minutes and inform your lab instructor</a:t>
            </a:r>
            <a:r>
              <a:rPr lang="en-US" b="1" dirty="0" smtClean="0">
                <a:latin typeface="Arial" panose="020B0604020202020204" pitchFamily="34" charset="0"/>
                <a:cs typeface="Arial" panose="020B0604020202020204" pitchFamily="34" charset="0"/>
              </a:rPr>
              <a:t>.</a:t>
            </a:r>
          </a:p>
          <a:p>
            <a:endParaRPr lang="en-US" b="1" dirty="0" smtClean="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 </a:t>
            </a:r>
            <a:r>
              <a:rPr lang="en-US" b="1" dirty="0">
                <a:latin typeface="Arial" panose="020B0604020202020204" pitchFamily="34" charset="0"/>
                <a:cs typeface="Arial" panose="020B0604020202020204" pitchFamily="34" charset="0"/>
              </a:rPr>
              <a:t>not allow any solvent to come into contact with your skin. </a:t>
            </a:r>
            <a:endParaRPr lang="en-US" b="1" dirty="0" smtClean="0">
              <a:latin typeface="Arial" panose="020B0604020202020204" pitchFamily="34" charset="0"/>
              <a:cs typeface="Arial" panose="020B0604020202020204" pitchFamily="34" charset="0"/>
            </a:endParaRPr>
          </a:p>
          <a:p>
            <a:endParaRPr lang="en-US" b="1" dirty="0" smtClean="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Read </a:t>
            </a:r>
            <a:r>
              <a:rPr lang="en-US" b="1" dirty="0">
                <a:latin typeface="Arial" panose="020B0604020202020204" pitchFamily="34" charset="0"/>
                <a:cs typeface="Arial" panose="020B0604020202020204" pitchFamily="34" charset="0"/>
              </a:rPr>
              <a:t>carefully the label and the direction on the bottle before use it.</a:t>
            </a:r>
            <a:endParaRPr lang="en-US" b="1" dirty="0" smtClean="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Never </a:t>
            </a:r>
            <a:r>
              <a:rPr lang="en-US" b="1" dirty="0">
                <a:latin typeface="Arial" panose="020B0604020202020204" pitchFamily="34" charset="0"/>
                <a:cs typeface="Arial" panose="020B0604020202020204" pitchFamily="34" charset="0"/>
              </a:rPr>
              <a:t>take more chemicals from a bottle than you need for your work. </a:t>
            </a:r>
            <a:endParaRPr lang="en-US"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 </a:t>
            </a:r>
            <a:r>
              <a:rPr lang="en-US" b="1" dirty="0">
                <a:latin typeface="Arial" panose="020B0604020202020204" pitchFamily="34" charset="0"/>
                <a:cs typeface="Arial" panose="020B0604020202020204" pitchFamily="34" charset="0"/>
              </a:rPr>
              <a:t>not put unused chemicals back into their original container. </a:t>
            </a:r>
          </a:p>
          <a:p>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05402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074" y="1465106"/>
            <a:ext cx="11273246" cy="4247317"/>
          </a:xfrm>
          <a:prstGeom prst="rect">
            <a:avLst/>
          </a:prstGeom>
        </p:spPr>
        <p:txBody>
          <a:bodyPr wrap="square">
            <a:spAutoFit/>
          </a:bodyPr>
          <a:lstStyle/>
          <a:p>
            <a:r>
              <a:rPr lang="en-US" b="1" dirty="0" smtClean="0">
                <a:latin typeface="Arial" panose="020B0604020202020204" pitchFamily="34" charset="0"/>
                <a:cs typeface="Arial" panose="020B0604020202020204" pitchFamily="34" charset="0"/>
              </a:rPr>
              <a:t>* Chemicals </a:t>
            </a:r>
            <a:r>
              <a:rPr lang="en-US" b="1" dirty="0">
                <a:latin typeface="Arial" panose="020B0604020202020204" pitchFamily="34" charset="0"/>
                <a:cs typeface="Arial" panose="020B0604020202020204" pitchFamily="34" charset="0"/>
              </a:rPr>
              <a:t>should never be mixed in sink drains. </a:t>
            </a:r>
            <a:endParaRPr lang="en-US"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Flammable </a:t>
            </a:r>
            <a:r>
              <a:rPr lang="en-US" b="1" dirty="0">
                <a:latin typeface="Arial" panose="020B0604020202020204" pitchFamily="34" charset="0"/>
                <a:cs typeface="Arial" panose="020B0604020202020204" pitchFamily="34" charset="0"/>
              </a:rPr>
              <a:t>and volatile chemicals should only be used in a fume hood. </a:t>
            </a:r>
            <a:endParaRPr lang="en-US" b="1" dirty="0" smtClean="0">
              <a:latin typeface="Arial" panose="020B0604020202020204" pitchFamily="34" charset="0"/>
              <a:cs typeface="Arial" panose="020B0604020202020204" pitchFamily="34" charset="0"/>
            </a:endParaRPr>
          </a:p>
          <a:p>
            <a:endParaRPr lang="en-US" b="1" dirty="0" smtClean="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Ensure </a:t>
            </a:r>
            <a:r>
              <a:rPr lang="en-US" b="1" dirty="0">
                <a:latin typeface="Arial" panose="020B0604020202020204" pitchFamily="34" charset="0"/>
                <a:cs typeface="Arial" panose="020B0604020202020204" pitchFamily="34" charset="0"/>
              </a:rPr>
              <a:t>that all chemical waste is disposed of </a:t>
            </a:r>
            <a:r>
              <a:rPr lang="en-US" b="1" dirty="0" smtClean="0">
                <a:latin typeface="Arial" panose="020B0604020202020204" pitchFamily="34" charset="0"/>
                <a:cs typeface="Arial" panose="020B0604020202020204" pitchFamily="34" charset="0"/>
              </a:rPr>
              <a:t>properly</a:t>
            </a:r>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as indicated by your instructors.</a:t>
            </a:r>
          </a:p>
          <a:p>
            <a:endParaRPr lang="en-US" b="1" dirty="0" smtClean="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Don't </a:t>
            </a:r>
            <a:r>
              <a:rPr lang="en-US" b="1" dirty="0">
                <a:latin typeface="Arial" panose="020B0604020202020204" pitchFamily="34" charset="0"/>
                <a:cs typeface="Arial" panose="020B0604020202020204" pitchFamily="34" charset="0"/>
              </a:rPr>
              <a:t>use single pipette for more than one chemical</a:t>
            </a:r>
            <a:r>
              <a:rPr lang="en-US" b="1" dirty="0" smtClean="0">
                <a:latin typeface="Arial" panose="020B0604020202020204" pitchFamily="34" charset="0"/>
                <a:cs typeface="Arial" panose="020B0604020202020204" pitchFamily="34" charset="0"/>
              </a:rPr>
              <a:t>.</a:t>
            </a: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Don't </a:t>
            </a:r>
            <a:r>
              <a:rPr lang="en-US" b="1" dirty="0">
                <a:latin typeface="Arial" panose="020B0604020202020204" pitchFamily="34" charset="0"/>
                <a:cs typeface="Arial" panose="020B0604020202020204" pitchFamily="34" charset="0"/>
              </a:rPr>
              <a:t>use your mouth for pipetting </a:t>
            </a:r>
            <a:r>
              <a:rPr lang="en-US" b="1" dirty="0" smtClean="0">
                <a:latin typeface="Arial" panose="020B0604020202020204" pitchFamily="34" charset="0"/>
                <a:cs typeface="Arial" panose="020B0604020202020204" pitchFamily="34" charset="0"/>
              </a:rPr>
              <a:t>substances.</a:t>
            </a: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Don't </a:t>
            </a:r>
            <a:r>
              <a:rPr lang="en-US" b="1" dirty="0">
                <a:latin typeface="Arial" panose="020B0604020202020204" pitchFamily="34" charset="0"/>
                <a:cs typeface="Arial" panose="020B0604020202020204" pitchFamily="34" charset="0"/>
              </a:rPr>
              <a:t>taste or Sniff any chemicals or substances you are working </a:t>
            </a:r>
            <a:r>
              <a:rPr lang="en-US" b="1" dirty="0" smtClean="0">
                <a:latin typeface="Arial" panose="020B0604020202020204" pitchFamily="34" charset="0"/>
                <a:cs typeface="Arial" panose="020B0604020202020204" pitchFamily="34" charset="0"/>
              </a:rPr>
              <a:t>with.</a:t>
            </a:r>
          </a:p>
          <a:p>
            <a:endParaRPr lang="en-US" b="1" dirty="0">
              <a:latin typeface="Arial" panose="020B0604020202020204" pitchFamily="34" charset="0"/>
              <a:cs typeface="Arial" panose="020B0604020202020204" pitchFamily="34" charset="0"/>
            </a:endParaRPr>
          </a:p>
          <a:p>
            <a:r>
              <a:rPr lang="en-US" b="1" dirty="0" smtClean="0">
                <a:latin typeface="Arial" panose="020B0604020202020204" pitchFamily="34" charset="0"/>
                <a:cs typeface="Arial" panose="020B0604020202020204" pitchFamily="34" charset="0"/>
              </a:rPr>
              <a:t>* Don’t </a:t>
            </a:r>
            <a:r>
              <a:rPr lang="en-US" b="1" dirty="0">
                <a:latin typeface="Arial" panose="020B0604020202020204" pitchFamily="34" charset="0"/>
                <a:cs typeface="Arial" panose="020B0604020202020204" pitchFamily="34" charset="0"/>
              </a:rPr>
              <a:t>pour chemicals down the drain without </a:t>
            </a:r>
            <a:r>
              <a:rPr lang="en-US" b="1" dirty="0" smtClean="0">
                <a:latin typeface="Arial" panose="020B0604020202020204" pitchFamily="34" charset="0"/>
                <a:cs typeface="Arial" panose="020B0604020202020204" pitchFamily="34" charset="0"/>
              </a:rPr>
              <a:t>permission.</a:t>
            </a:r>
            <a:endParaRPr lang="en-US" b="1" dirty="0">
              <a:latin typeface="Arial" panose="020B0604020202020204" pitchFamily="34" charset="0"/>
              <a:cs typeface="Arial" panose="020B0604020202020204" pitchFamily="34" charset="0"/>
            </a:endParaRPr>
          </a:p>
          <a:p>
            <a:endParaRPr lang="en-US" dirty="0" smtClean="0"/>
          </a:p>
          <a:p>
            <a:endParaRPr lang="en-US" dirty="0"/>
          </a:p>
        </p:txBody>
      </p:sp>
    </p:spTree>
    <p:extLst>
      <p:ext uri="{BB962C8B-B14F-4D97-AF65-F5344CB8AC3E}">
        <p14:creationId xmlns:p14="http://schemas.microsoft.com/office/powerpoint/2010/main" val="4669288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EDDAA5-B6E5-49F3-A495-94B7927A69C0}"/>
              </a:ext>
              <a:ext uri="{C183D7F6-B498-43B3-948B-1728B52AA6E4}">
                <adec:decorative xmlns:adec="http://schemas.microsoft.com/office/drawing/2017/decorative" xmlns="" val="1"/>
              </a:ext>
            </a:extLst>
          </p:cNvPr>
          <p:cNvSpPr/>
          <p:nvPr/>
        </p:nvSpPr>
        <p:spPr>
          <a:xfrm rot="16200000">
            <a:off x="4035175" y="4807119"/>
            <a:ext cx="833933" cy="1943095"/>
          </a:xfrm>
          <a:prstGeom prst="rect">
            <a:avLst/>
          </a:prstGeom>
          <a:gradFill flip="none" rotWithShape="1">
            <a:gsLst>
              <a:gs pos="0">
                <a:srgbClr val="F5F5F5">
                  <a:alpha val="0"/>
                </a:srgbClr>
              </a:gs>
              <a:gs pos="100000">
                <a:srgbClr val="F5F5F5"/>
              </a:gs>
              <a:gs pos="43000">
                <a:srgbClr val="F5F5F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mc:AlternateContent xmlns:mc="http://schemas.openxmlformats.org/markup-compatibility/2006">
        <mc:Choice xmlns:am3d="http://schemas.microsoft.com/office/drawing/2017/model3d" xmlns="" Requires="am3d">
          <p:graphicFrame>
            <p:nvGraphicFramePr>
              <p:cNvPr id="37" name="3D Model 36" descr="3D image of a parrot">
                <a:extLst>
                  <a:ext uri="{FF2B5EF4-FFF2-40B4-BE49-F238E27FC236}">
                    <a16:creationId xmlns:a16="http://schemas.microsoft.com/office/drawing/2014/main" id="{4483D506-2C3F-4711-94B1-0CC3F8D8F3E9}"/>
                  </a:ext>
                </a:extLst>
              </p:cNvPr>
              <p:cNvGraphicFramePr>
                <a:graphicFrameLocks noChangeAspect="1"/>
              </p:cNvGraphicFramePr>
              <p:nvPr>
                <p:extLst>
                  <p:ext uri="{D42A27DB-BD31-4B8C-83A1-F6EECF244321}">
                    <p14:modId xmlns:p14="http://schemas.microsoft.com/office/powerpoint/2010/main" val="3254579348"/>
                  </p:ext>
                </p:extLst>
              </p:nvPr>
            </p:nvGraphicFramePr>
            <p:xfrm>
              <a:off x="8134006" y="1431342"/>
              <a:ext cx="1552272" cy="4866325"/>
            </p:xfrm>
            <a:graphic>
              <a:graphicData uri="http://schemas.microsoft.com/office/drawing/2017/model3d">
                <am3d:model3d r:embed="rId4">
                  <am3d:spPr>
                    <a:xfrm>
                      <a:off x="0" y="0"/>
                      <a:ext cx="1552272" cy="4866325"/>
                    </a:xfrm>
                    <a:prstGeom prst="rect">
                      <a:avLst/>
                    </a:prstGeom>
                  </am3d:spPr>
                  <am3d:camera>
                    <am3d:pos x="0" y="0" z="52563001"/>
                    <am3d:up dx="0" dy="36000000" dz="0"/>
                    <am3d:lookAt x="0" y="0" z="0"/>
                    <am3d:perspective fov="2700000"/>
                  </am3d:camera>
                  <am3d:trans>
                    <am3d:meterPerModelUnit n="12089550" d="1000000"/>
                    <am3d:preTrans dx="2779495" dy="-17991192" dz="-845298"/>
                    <am3d:scale>
                      <am3d:sx n="1000000" d="1000000"/>
                      <am3d:sy n="1000000" d="1000000"/>
                      <am3d:sz n="1000000" d="1000000"/>
                    </am3d:scale>
                    <am3d:rot ax="214005" ay="217895" az="13569"/>
                    <am3d:postTrans dx="0" dy="0" dz="0"/>
                  </am3d:trans>
                  <am3d:raster rName="Office3DRenderer" rVer="16.0.8326">
                    <am3d:blip r:embed="rId5"/>
                  </am3d:raster>
                  <am3d:objViewport viewportSz="54186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3D Model 36" descr="3D image of a parrot">
                <a:extLst>
                  <a:ext uri="{FF2B5EF4-FFF2-40B4-BE49-F238E27FC236}">
                    <a16:creationId xmlns:a16="http://schemas.microsoft.com/office/drawing/2014/main" id="{4483D506-2C3F-4711-94B1-0CC3F8D8F3E9}"/>
                  </a:ext>
                </a:extLst>
              </p:cNvPr>
              <p:cNvPicPr>
                <a:picLocks noGrp="1" noRot="1" noChangeAspect="1" noMove="1" noResize="1" noEditPoints="1" noAdjustHandles="1" noChangeArrowheads="1" noChangeShapeType="1" noCrop="1"/>
              </p:cNvPicPr>
              <p:nvPr/>
            </p:nvPicPr>
            <p:blipFill>
              <a:blip r:embed="rId6"/>
              <a:stretch>
                <a:fillRect/>
              </a:stretch>
            </p:blipFill>
            <p:spPr>
              <a:xfrm>
                <a:off x="8134006" y="1431342"/>
                <a:ext cx="1552272" cy="4866325"/>
              </a:xfrm>
              <a:prstGeom prst="rect">
                <a:avLst/>
              </a:prstGeom>
            </p:spPr>
          </p:pic>
        </mc:Fallback>
      </mc:AlternateContent>
      <p:pic>
        <p:nvPicPr>
          <p:cNvPr id="1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5486" y="1196391"/>
            <a:ext cx="5397137" cy="5374226"/>
          </a:xfrm>
          <a:prstGeom prst="rect">
            <a:avLst/>
          </a:prstGeom>
        </p:spPr>
      </p:pic>
      <p:sp>
        <p:nvSpPr>
          <p:cNvPr id="39" name="Rectangle 38"/>
          <p:cNvSpPr/>
          <p:nvPr/>
        </p:nvSpPr>
        <p:spPr>
          <a:xfrm>
            <a:off x="604435" y="3244334"/>
            <a:ext cx="4934216" cy="707886"/>
          </a:xfrm>
          <a:prstGeom prst="rect">
            <a:avLst/>
          </a:prstGeom>
        </p:spPr>
        <p:txBody>
          <a:bodyPr wrap="square">
            <a:spAutoFit/>
          </a:bodyPr>
          <a:lstStyle/>
          <a:p>
            <a:r>
              <a:rPr lang="en-US" sz="4000" b="1" dirty="0">
                <a:solidFill>
                  <a:srgbClr val="FF0000"/>
                </a:solidFill>
              </a:rPr>
              <a:t>The Microscopes</a:t>
            </a:r>
          </a:p>
        </p:txBody>
      </p:sp>
    </p:spTree>
    <p:extLst>
      <p:ext uri="{BB962C8B-B14F-4D97-AF65-F5344CB8AC3E}">
        <p14:creationId xmlns:p14="http://schemas.microsoft.com/office/powerpoint/2010/main" val="19695842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4835" y="409694"/>
            <a:ext cx="4934216" cy="707886"/>
          </a:xfrm>
          <a:prstGeom prst="rect">
            <a:avLst/>
          </a:prstGeom>
        </p:spPr>
        <p:txBody>
          <a:bodyPr wrap="square">
            <a:spAutoFit/>
          </a:bodyPr>
          <a:lstStyle/>
          <a:p>
            <a:r>
              <a:rPr lang="en-US" sz="4000" b="1" dirty="0">
                <a:solidFill>
                  <a:srgbClr val="FF0000"/>
                </a:solidFill>
              </a:rPr>
              <a:t>The Microscopes</a:t>
            </a:r>
          </a:p>
        </p:txBody>
      </p:sp>
      <p:sp>
        <p:nvSpPr>
          <p:cNvPr id="3" name="Rectangle 2"/>
          <p:cNvSpPr/>
          <p:nvPr/>
        </p:nvSpPr>
        <p:spPr>
          <a:xfrm>
            <a:off x="597381" y="1521134"/>
            <a:ext cx="11330761" cy="4247317"/>
          </a:xfrm>
          <a:prstGeom prst="rect">
            <a:avLst/>
          </a:prstGeom>
        </p:spPr>
        <p:txBody>
          <a:bodyPr wrap="square">
            <a:spAutoFit/>
          </a:bodyPr>
          <a:lstStyle/>
          <a:p>
            <a:r>
              <a:rPr lang="en-US" dirty="0" smtClean="0">
                <a:solidFill>
                  <a:srgbClr val="FF0000"/>
                </a:solidFill>
                <a:latin typeface="Arial" panose="020B0604020202020204" pitchFamily="34" charset="0"/>
              </a:rPr>
              <a:t>MICROSCOPE:</a:t>
            </a:r>
            <a:r>
              <a:rPr lang="en-US" dirty="0" smtClean="0">
                <a:solidFill>
                  <a:srgbClr val="222222"/>
                </a:solidFill>
                <a:latin typeface="Arial" panose="020B0604020202020204" pitchFamily="34" charset="0"/>
              </a:rPr>
              <a:t> </a:t>
            </a:r>
            <a:r>
              <a:rPr lang="en-US" b="1" dirty="0" smtClean="0">
                <a:solidFill>
                  <a:srgbClr val="222222"/>
                </a:solidFill>
                <a:latin typeface="Arial" panose="020B0604020202020204" pitchFamily="34" charset="0"/>
              </a:rPr>
              <a:t>is </a:t>
            </a:r>
            <a:r>
              <a:rPr lang="en-US" b="1" dirty="0">
                <a:solidFill>
                  <a:srgbClr val="222222"/>
                </a:solidFill>
                <a:latin typeface="Arial" panose="020B0604020202020204" pitchFamily="34" charset="0"/>
              </a:rPr>
              <a:t>an </a:t>
            </a:r>
            <a:r>
              <a:rPr lang="en-US" b="1" dirty="0">
                <a:solidFill>
                  <a:srgbClr val="0645AD"/>
                </a:solidFill>
                <a:latin typeface="Arial" panose="020B0604020202020204" pitchFamily="34" charset="0"/>
                <a:hlinkClick r:id="rId2" tooltip="Laboratory equipment"/>
              </a:rPr>
              <a:t>instrument</a:t>
            </a:r>
            <a:r>
              <a:rPr lang="en-US" b="1" dirty="0">
                <a:solidFill>
                  <a:srgbClr val="222222"/>
                </a:solidFill>
                <a:latin typeface="Arial" panose="020B0604020202020204" pitchFamily="34" charset="0"/>
              </a:rPr>
              <a:t> used to see </a:t>
            </a:r>
            <a:r>
              <a:rPr lang="en-US" b="1" dirty="0" smtClean="0">
                <a:solidFill>
                  <a:srgbClr val="222222"/>
                </a:solidFill>
                <a:latin typeface="Arial" panose="020B0604020202020204" pitchFamily="34" charset="0"/>
              </a:rPr>
              <a:t>objects or parts of the object that </a:t>
            </a:r>
            <a:r>
              <a:rPr lang="en-US" b="1" dirty="0">
                <a:solidFill>
                  <a:srgbClr val="222222"/>
                </a:solidFill>
                <a:latin typeface="Arial" panose="020B0604020202020204" pitchFamily="34" charset="0"/>
              </a:rPr>
              <a:t>are too small to be </a:t>
            </a:r>
            <a:endParaRPr lang="en-US" b="1" dirty="0" smtClean="0">
              <a:solidFill>
                <a:srgbClr val="222222"/>
              </a:solidFill>
              <a:latin typeface="Arial" panose="020B0604020202020204" pitchFamily="34" charset="0"/>
            </a:endParaRPr>
          </a:p>
          <a:p>
            <a:r>
              <a:rPr lang="en-US" b="1" dirty="0">
                <a:solidFill>
                  <a:srgbClr val="222222"/>
                </a:solidFill>
                <a:latin typeface="Arial" panose="020B0604020202020204" pitchFamily="34" charset="0"/>
              </a:rPr>
              <a:t> </a:t>
            </a:r>
            <a:r>
              <a:rPr lang="en-US" b="1" dirty="0" smtClean="0">
                <a:solidFill>
                  <a:srgbClr val="222222"/>
                </a:solidFill>
                <a:latin typeface="Arial" panose="020B0604020202020204" pitchFamily="34" charset="0"/>
              </a:rPr>
              <a:t>                          seen </a:t>
            </a:r>
            <a:r>
              <a:rPr lang="en-US" b="1" dirty="0">
                <a:solidFill>
                  <a:srgbClr val="222222"/>
                </a:solidFill>
                <a:latin typeface="Arial" panose="020B0604020202020204" pitchFamily="34" charset="0"/>
              </a:rPr>
              <a:t>by the naked </a:t>
            </a:r>
            <a:r>
              <a:rPr lang="en-US" b="1" dirty="0" smtClean="0">
                <a:solidFill>
                  <a:srgbClr val="222222"/>
                </a:solidFill>
                <a:latin typeface="Arial" panose="020B0604020202020204" pitchFamily="34" charset="0"/>
              </a:rPr>
              <a:t>(unaided) eye.</a:t>
            </a:r>
          </a:p>
          <a:p>
            <a:endParaRPr lang="en-US" b="1" dirty="0">
              <a:solidFill>
                <a:srgbClr val="222222"/>
              </a:solidFill>
              <a:latin typeface="Arial" panose="020B0604020202020204" pitchFamily="34" charset="0"/>
            </a:endParaRPr>
          </a:p>
          <a:p>
            <a:endParaRPr lang="en-US" b="1" dirty="0">
              <a:solidFill>
                <a:srgbClr val="222222"/>
              </a:solidFill>
              <a:latin typeface="Arial" panose="020B0604020202020204" pitchFamily="34" charset="0"/>
            </a:endParaRPr>
          </a:p>
          <a:p>
            <a:r>
              <a:rPr lang="en-US" b="1" dirty="0" smtClean="0">
                <a:solidFill>
                  <a:srgbClr val="C00000"/>
                </a:solidFill>
                <a:latin typeface="Arial" panose="020B0604020202020204" pitchFamily="34" charset="0"/>
              </a:rPr>
              <a:t>Concepts of the microscopes:</a:t>
            </a:r>
          </a:p>
          <a:p>
            <a:pPr marL="1255713">
              <a:buFont typeface="Wingdings" panose="05000000000000000000" pitchFamily="2" charset="2"/>
              <a:buChar char="q"/>
            </a:pPr>
            <a:r>
              <a:rPr lang="en-US" b="1" dirty="0">
                <a:solidFill>
                  <a:srgbClr val="C00000"/>
                </a:solidFill>
                <a:latin typeface="Arial" panose="020B0604020202020204" pitchFamily="34" charset="0"/>
              </a:rPr>
              <a:t> </a:t>
            </a:r>
            <a:r>
              <a:rPr lang="en-US" b="1" dirty="0" smtClean="0">
                <a:solidFill>
                  <a:srgbClr val="C00000"/>
                </a:solidFill>
                <a:latin typeface="Arial" panose="020B0604020202020204" pitchFamily="34" charset="0"/>
              </a:rPr>
              <a:t>Magnification</a:t>
            </a:r>
            <a:r>
              <a:rPr lang="en-US" b="1" dirty="0">
                <a:solidFill>
                  <a:srgbClr val="C00000"/>
                </a:solidFill>
                <a:latin typeface="Arial" panose="020B0604020202020204" pitchFamily="34" charset="0"/>
              </a:rPr>
              <a:t>:  </a:t>
            </a:r>
            <a:r>
              <a:rPr lang="en-US" b="1" dirty="0">
                <a:latin typeface="Arial" panose="020B0604020202020204" pitchFamily="34" charset="0"/>
              </a:rPr>
              <a:t>It is the ratio of the size of the image to that of the object</a:t>
            </a:r>
            <a:r>
              <a:rPr lang="en-US" b="1" dirty="0">
                <a:solidFill>
                  <a:srgbClr val="C00000"/>
                </a:solidFill>
                <a:latin typeface="Arial" panose="020B0604020202020204" pitchFamily="34" charset="0"/>
              </a:rPr>
              <a:t>                                         </a:t>
            </a:r>
            <a:endParaRPr lang="en-US" b="1" dirty="0" smtClean="0">
              <a:solidFill>
                <a:srgbClr val="C00000"/>
              </a:solidFill>
              <a:latin typeface="Arial" panose="020B0604020202020204" pitchFamily="34" charset="0"/>
            </a:endParaRPr>
          </a:p>
          <a:p>
            <a:r>
              <a:rPr lang="en-US" b="1" dirty="0" smtClean="0">
                <a:solidFill>
                  <a:srgbClr val="C00000"/>
                </a:solidFill>
                <a:latin typeface="Arial" panose="020B0604020202020204" pitchFamily="34" charset="0"/>
              </a:rPr>
              <a:t>                         </a:t>
            </a:r>
            <a:endParaRPr lang="en-US" b="1" dirty="0">
              <a:solidFill>
                <a:srgbClr val="C00000"/>
              </a:solidFill>
              <a:latin typeface="Arial" panose="020B0604020202020204" pitchFamily="34" charset="0"/>
            </a:endParaRPr>
          </a:p>
          <a:p>
            <a:r>
              <a:rPr lang="en-US" b="1" dirty="0" smtClean="0">
                <a:solidFill>
                  <a:srgbClr val="C00000"/>
                </a:solidFill>
                <a:latin typeface="Arial" panose="020B0604020202020204" pitchFamily="34" charset="0"/>
              </a:rPr>
              <a:t>                              </a:t>
            </a:r>
            <a:r>
              <a:rPr lang="en-US" b="1" dirty="0" smtClean="0">
                <a:solidFill>
                  <a:srgbClr val="0070C0"/>
                </a:solidFill>
                <a:latin typeface="Arial" panose="020B0604020202020204" pitchFamily="34" charset="0"/>
              </a:rPr>
              <a:t>Total magnification= Magnification of ocular lens X Magnification of objective lens </a:t>
            </a:r>
          </a:p>
          <a:p>
            <a:endParaRPr lang="en-US" b="1" dirty="0">
              <a:solidFill>
                <a:srgbClr val="C00000"/>
              </a:solidFill>
              <a:latin typeface="Arial" panose="020B0604020202020204" pitchFamily="34" charset="0"/>
            </a:endParaRPr>
          </a:p>
          <a:p>
            <a:pPr marL="1255713">
              <a:buFont typeface="Wingdings" panose="05000000000000000000" pitchFamily="2" charset="2"/>
              <a:buChar char="q"/>
            </a:pPr>
            <a:r>
              <a:rPr lang="en-US" b="1" dirty="0" smtClean="0">
                <a:solidFill>
                  <a:srgbClr val="C00000"/>
                </a:solidFill>
                <a:latin typeface="Arial" panose="020B0604020202020204" pitchFamily="34" charset="0"/>
              </a:rPr>
              <a:t> Contrast: </a:t>
            </a:r>
            <a:r>
              <a:rPr lang="en-US" b="1" dirty="0" smtClean="0">
                <a:latin typeface="Arial" panose="020B0604020202020204" pitchFamily="34" charset="0"/>
              </a:rPr>
              <a:t>the ability see a particular details against its background. </a:t>
            </a:r>
            <a:r>
              <a:rPr lang="en-US" b="1" dirty="0" smtClean="0">
                <a:solidFill>
                  <a:srgbClr val="FF0000"/>
                </a:solidFill>
                <a:latin typeface="Arial" panose="020B0604020202020204" pitchFamily="34" charset="0"/>
              </a:rPr>
              <a:t> We can use </a:t>
            </a:r>
          </a:p>
          <a:p>
            <a:pPr marL="1255713"/>
            <a:r>
              <a:rPr lang="en-US" b="1" dirty="0">
                <a:solidFill>
                  <a:srgbClr val="FF0000"/>
                </a:solidFill>
                <a:latin typeface="Arial" panose="020B0604020202020204" pitchFamily="34" charset="0"/>
              </a:rPr>
              <a:t> </a:t>
            </a:r>
            <a:r>
              <a:rPr lang="en-US" b="1" dirty="0" smtClean="0">
                <a:solidFill>
                  <a:srgbClr val="FF0000"/>
                </a:solidFill>
                <a:latin typeface="Arial" panose="020B0604020202020204" pitchFamily="34" charset="0"/>
              </a:rPr>
              <a:t>                        stain to increase it.  </a:t>
            </a:r>
          </a:p>
          <a:p>
            <a:pPr marL="1255713"/>
            <a:endParaRPr lang="en-US" b="1" dirty="0">
              <a:latin typeface="Arial" panose="020B0604020202020204" pitchFamily="34" charset="0"/>
            </a:endParaRPr>
          </a:p>
          <a:p>
            <a:pPr marL="1541463" indent="-285750">
              <a:buFont typeface="Wingdings" panose="05000000000000000000" pitchFamily="2" charset="2"/>
              <a:buChar char="q"/>
            </a:pPr>
            <a:r>
              <a:rPr lang="en-US" b="1" dirty="0">
                <a:solidFill>
                  <a:srgbClr val="C00000"/>
                </a:solidFill>
                <a:latin typeface="Arial" panose="020B0604020202020204" pitchFamily="34" charset="0"/>
              </a:rPr>
              <a:t>Resolution: </a:t>
            </a:r>
            <a:r>
              <a:rPr lang="en-US" b="1" dirty="0">
                <a:latin typeface="Arial" panose="020B0604020202020204" pitchFamily="34" charset="0"/>
              </a:rPr>
              <a:t>the ability of a microscope to show two closely lying points as two distinct </a:t>
            </a:r>
            <a:endParaRPr lang="en-US" b="1" dirty="0" smtClean="0">
              <a:latin typeface="Arial" panose="020B0604020202020204" pitchFamily="34" charset="0"/>
            </a:endParaRPr>
          </a:p>
          <a:p>
            <a:pPr marL="1255713"/>
            <a:r>
              <a:rPr lang="en-US" b="1" dirty="0">
                <a:latin typeface="Arial" panose="020B0604020202020204" pitchFamily="34" charset="0"/>
              </a:rPr>
              <a:t> </a:t>
            </a:r>
            <a:r>
              <a:rPr lang="en-US" b="1" dirty="0" smtClean="0">
                <a:latin typeface="Arial" panose="020B0604020202020204" pitchFamily="34" charset="0"/>
              </a:rPr>
              <a:t>                        points. </a:t>
            </a:r>
            <a:r>
              <a:rPr lang="en-US" b="1" dirty="0">
                <a:solidFill>
                  <a:srgbClr val="FF0000"/>
                </a:solidFill>
                <a:latin typeface="Arial" panose="020B0604020202020204" pitchFamily="34" charset="0"/>
              </a:rPr>
              <a:t>I</a:t>
            </a:r>
            <a:r>
              <a:rPr lang="en-US" b="1" dirty="0" smtClean="0">
                <a:solidFill>
                  <a:srgbClr val="FF0000"/>
                </a:solidFill>
                <a:latin typeface="Arial" panose="020B0604020202020204" pitchFamily="34" charset="0"/>
              </a:rPr>
              <a:t>t increases with magnification.  </a:t>
            </a:r>
          </a:p>
          <a:p>
            <a:pPr marL="1255713"/>
            <a:endParaRPr lang="en-US" b="1" dirty="0">
              <a:latin typeface="Arial" panose="020B0604020202020204" pitchFamily="34" charset="0"/>
            </a:endParaRPr>
          </a:p>
        </p:txBody>
      </p:sp>
    </p:spTree>
    <p:extLst>
      <p:ext uri="{BB962C8B-B14F-4D97-AF65-F5344CB8AC3E}">
        <p14:creationId xmlns:p14="http://schemas.microsoft.com/office/powerpoint/2010/main" val="24839853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4025" y="1483772"/>
            <a:ext cx="11354936" cy="5078313"/>
          </a:xfrm>
          <a:prstGeom prst="rect">
            <a:avLst/>
          </a:prstGeom>
        </p:spPr>
        <p:txBody>
          <a:bodyPr wrap="square">
            <a:spAutoFit/>
          </a:bodyPr>
          <a:lstStyle/>
          <a:p>
            <a:pPr marL="2060575" indent="-285750">
              <a:buFont typeface="Wingdings" panose="05000000000000000000" pitchFamily="2" charset="2"/>
              <a:buChar char="q"/>
            </a:pPr>
            <a:r>
              <a:rPr lang="en-US" b="1" dirty="0">
                <a:solidFill>
                  <a:srgbClr val="C00000"/>
                </a:solidFill>
                <a:latin typeface="Arial" panose="020B0604020202020204" pitchFamily="34" charset="0"/>
              </a:rPr>
              <a:t>Microscopic field: </a:t>
            </a:r>
            <a:r>
              <a:rPr lang="en-US" b="1" dirty="0">
                <a:latin typeface="Arial" panose="020B0604020202020204" pitchFamily="34" charset="0"/>
              </a:rPr>
              <a:t>the part of the specimen that can be seen under the microscope. </a:t>
            </a:r>
          </a:p>
          <a:p>
            <a:pPr marL="1255713"/>
            <a:r>
              <a:rPr lang="en-US" b="1" dirty="0">
                <a:solidFill>
                  <a:srgbClr val="FF0000"/>
                </a:solidFill>
                <a:latin typeface="Arial" panose="020B0604020202020204" pitchFamily="34" charset="0"/>
              </a:rPr>
              <a:t>                                </a:t>
            </a:r>
            <a:r>
              <a:rPr lang="en-US" b="1" dirty="0" smtClean="0">
                <a:solidFill>
                  <a:srgbClr val="FF0000"/>
                </a:solidFill>
                <a:latin typeface="Arial" panose="020B0604020202020204" pitchFamily="34" charset="0"/>
              </a:rPr>
              <a:t>             </a:t>
            </a:r>
            <a:r>
              <a:rPr lang="en-US" b="1" dirty="0">
                <a:solidFill>
                  <a:srgbClr val="FF0000"/>
                </a:solidFill>
                <a:latin typeface="Arial" panose="020B0604020202020204" pitchFamily="34" charset="0"/>
              </a:rPr>
              <a:t>It decreases with magnification.            </a:t>
            </a:r>
            <a:endParaRPr lang="ar-JO" dirty="0">
              <a:solidFill>
                <a:srgbClr val="FF0000"/>
              </a:solidFill>
            </a:endParaRPr>
          </a:p>
          <a:p>
            <a:endParaRPr lang="en-US" b="1" dirty="0" smtClean="0">
              <a:solidFill>
                <a:srgbClr val="C00000"/>
              </a:solidFill>
              <a:latin typeface="Arial" panose="020B0604020202020204" pitchFamily="34" charset="0"/>
            </a:endParaRPr>
          </a:p>
          <a:p>
            <a:pPr marL="285750" indent="-285750">
              <a:buFont typeface="Wingdings" panose="05000000000000000000" pitchFamily="2" charset="2"/>
              <a:buChar char="q"/>
            </a:pPr>
            <a:endParaRPr lang="en-US" b="1" dirty="0">
              <a:solidFill>
                <a:srgbClr val="C00000"/>
              </a:solidFill>
              <a:latin typeface="Arial" panose="020B0604020202020204" pitchFamily="34" charset="0"/>
            </a:endParaRPr>
          </a:p>
          <a:p>
            <a:pPr marL="2060575" indent="-273050">
              <a:buFont typeface="Wingdings" panose="05000000000000000000" pitchFamily="2" charset="2"/>
              <a:buChar char="q"/>
            </a:pPr>
            <a:r>
              <a:rPr lang="en-US" b="1" dirty="0" smtClean="0">
                <a:solidFill>
                  <a:srgbClr val="C00000"/>
                </a:solidFill>
                <a:latin typeface="Arial" panose="020B0604020202020204" pitchFamily="34" charset="0"/>
              </a:rPr>
              <a:t>Working distance: </a:t>
            </a:r>
            <a:r>
              <a:rPr lang="en-US" b="1" dirty="0" smtClean="0">
                <a:latin typeface="Arial" panose="020B0604020202020204" pitchFamily="34" charset="0"/>
              </a:rPr>
              <a:t>the distance between the objective lens and the specimen. </a:t>
            </a:r>
          </a:p>
          <a:p>
            <a:r>
              <a:rPr lang="en-US" b="1" dirty="0" smtClean="0">
                <a:solidFill>
                  <a:srgbClr val="C00000"/>
                </a:solidFill>
                <a:latin typeface="Arial" panose="020B0604020202020204" pitchFamily="34" charset="0"/>
              </a:rPr>
              <a:t>                                                                 </a:t>
            </a:r>
            <a:r>
              <a:rPr lang="en-US" b="1" dirty="0" smtClean="0">
                <a:solidFill>
                  <a:srgbClr val="FF0000"/>
                </a:solidFill>
                <a:latin typeface="Arial" panose="020B0604020202020204" pitchFamily="34" charset="0"/>
              </a:rPr>
              <a:t>It decreases with magnification. </a:t>
            </a:r>
          </a:p>
          <a:p>
            <a:endParaRPr lang="en-US" b="1" dirty="0">
              <a:solidFill>
                <a:srgbClr val="FF0000"/>
              </a:solidFill>
              <a:latin typeface="Arial" panose="020B0604020202020204" pitchFamily="34" charset="0"/>
            </a:endParaRPr>
          </a:p>
          <a:p>
            <a:r>
              <a:rPr lang="en-US" b="1" dirty="0" smtClean="0">
                <a:solidFill>
                  <a:srgbClr val="FF0000"/>
                </a:solidFill>
                <a:latin typeface="Arial" panose="020B0604020202020204" pitchFamily="34" charset="0"/>
              </a:rPr>
              <a:t>                                                         M1  X DFV1 = </a:t>
            </a:r>
            <a:r>
              <a:rPr lang="en-US" b="1" dirty="0">
                <a:solidFill>
                  <a:srgbClr val="FF0000"/>
                </a:solidFill>
                <a:latin typeface="Arial" panose="020B0604020202020204" pitchFamily="34" charset="0"/>
              </a:rPr>
              <a:t> M1  X DFV1 </a:t>
            </a:r>
            <a:endParaRPr lang="en-US" b="1" dirty="0" smtClean="0">
              <a:solidFill>
                <a:srgbClr val="FF0000"/>
              </a:solidFill>
              <a:latin typeface="Arial" panose="020B0604020202020204" pitchFamily="34" charset="0"/>
            </a:endParaRPr>
          </a:p>
          <a:p>
            <a:endParaRPr lang="en-US" b="1" dirty="0">
              <a:solidFill>
                <a:srgbClr val="FF0000"/>
              </a:solidFill>
              <a:latin typeface="Arial" panose="020B0604020202020204" pitchFamily="34" charset="0"/>
            </a:endParaRPr>
          </a:p>
          <a:p>
            <a:r>
              <a:rPr lang="en-US" b="1" dirty="0" smtClean="0">
                <a:solidFill>
                  <a:srgbClr val="FF0000"/>
                </a:solidFill>
                <a:latin typeface="Arial" panose="020B0604020202020204" pitchFamily="34" charset="0"/>
              </a:rPr>
              <a:t>                                      M1    : </a:t>
            </a:r>
            <a:r>
              <a:rPr lang="en-US" b="1" dirty="0" smtClean="0">
                <a:solidFill>
                  <a:schemeClr val="accent1">
                    <a:lumMod val="75000"/>
                  </a:schemeClr>
                </a:solidFill>
                <a:latin typeface="Arial" panose="020B0604020202020204" pitchFamily="34" charset="0"/>
              </a:rPr>
              <a:t>Magnification of the first objective lens</a:t>
            </a:r>
          </a:p>
          <a:p>
            <a:endParaRPr lang="en-US" b="1" dirty="0">
              <a:solidFill>
                <a:srgbClr val="FF0000"/>
              </a:solidFill>
              <a:latin typeface="Arial" panose="020B0604020202020204" pitchFamily="34" charset="0"/>
            </a:endParaRPr>
          </a:p>
          <a:p>
            <a:r>
              <a:rPr lang="en-US" b="1" dirty="0" smtClean="0">
                <a:solidFill>
                  <a:srgbClr val="FF0000"/>
                </a:solidFill>
                <a:latin typeface="Arial" panose="020B0604020202020204" pitchFamily="34" charset="0"/>
              </a:rPr>
              <a:t>                                      DFV1: </a:t>
            </a:r>
            <a:r>
              <a:rPr lang="en-US" b="1" dirty="0" smtClean="0">
                <a:solidFill>
                  <a:schemeClr val="accent1">
                    <a:lumMod val="75000"/>
                  </a:schemeClr>
                </a:solidFill>
                <a:latin typeface="Arial" panose="020B0604020202020204" pitchFamily="34" charset="0"/>
              </a:rPr>
              <a:t>Diameter of the field of view with </a:t>
            </a:r>
            <a:r>
              <a:rPr lang="en-US" b="1" dirty="0">
                <a:solidFill>
                  <a:schemeClr val="accent1">
                    <a:lumMod val="75000"/>
                  </a:schemeClr>
                </a:solidFill>
                <a:latin typeface="Arial" panose="020B0604020202020204" pitchFamily="34" charset="0"/>
              </a:rPr>
              <a:t>first objective lens</a:t>
            </a:r>
          </a:p>
          <a:p>
            <a:endParaRPr lang="en-US" b="1" dirty="0" smtClean="0">
              <a:solidFill>
                <a:schemeClr val="accent1">
                  <a:lumMod val="75000"/>
                </a:schemeClr>
              </a:solidFill>
              <a:latin typeface="Arial" panose="020B0604020202020204" pitchFamily="34" charset="0"/>
            </a:endParaRPr>
          </a:p>
          <a:p>
            <a:r>
              <a:rPr lang="en-US" b="1" dirty="0" smtClean="0">
                <a:solidFill>
                  <a:srgbClr val="FF0000"/>
                </a:solidFill>
                <a:latin typeface="Arial" panose="020B0604020202020204" pitchFamily="34" charset="0"/>
              </a:rPr>
              <a:t>                                      M1    </a:t>
            </a:r>
            <a:r>
              <a:rPr lang="en-US" b="1" dirty="0">
                <a:solidFill>
                  <a:srgbClr val="FF0000"/>
                </a:solidFill>
                <a:latin typeface="Arial" panose="020B0604020202020204" pitchFamily="34" charset="0"/>
              </a:rPr>
              <a:t>: </a:t>
            </a:r>
            <a:r>
              <a:rPr lang="en-US" b="1" dirty="0">
                <a:solidFill>
                  <a:schemeClr val="accent1">
                    <a:lumMod val="75000"/>
                  </a:schemeClr>
                </a:solidFill>
                <a:latin typeface="Arial" panose="020B0604020202020204" pitchFamily="34" charset="0"/>
              </a:rPr>
              <a:t>Magnification of the </a:t>
            </a:r>
            <a:r>
              <a:rPr lang="en-US" b="1" dirty="0" smtClean="0">
                <a:solidFill>
                  <a:schemeClr val="accent1">
                    <a:lumMod val="75000"/>
                  </a:schemeClr>
                </a:solidFill>
                <a:latin typeface="Arial" panose="020B0604020202020204" pitchFamily="34" charset="0"/>
              </a:rPr>
              <a:t>second </a:t>
            </a:r>
            <a:r>
              <a:rPr lang="en-US" b="1" dirty="0">
                <a:solidFill>
                  <a:schemeClr val="accent1">
                    <a:lumMod val="75000"/>
                  </a:schemeClr>
                </a:solidFill>
                <a:latin typeface="Arial" panose="020B0604020202020204" pitchFamily="34" charset="0"/>
              </a:rPr>
              <a:t>objective lens</a:t>
            </a:r>
          </a:p>
          <a:p>
            <a:endParaRPr lang="en-US" b="1" dirty="0">
              <a:solidFill>
                <a:srgbClr val="FF0000"/>
              </a:solidFill>
              <a:latin typeface="Arial" panose="020B0604020202020204" pitchFamily="34" charset="0"/>
            </a:endParaRPr>
          </a:p>
          <a:p>
            <a:r>
              <a:rPr lang="en-US" b="1" dirty="0">
                <a:solidFill>
                  <a:srgbClr val="FF0000"/>
                </a:solidFill>
                <a:latin typeface="Arial" panose="020B0604020202020204" pitchFamily="34" charset="0"/>
              </a:rPr>
              <a:t>                                      DFV1: </a:t>
            </a:r>
            <a:r>
              <a:rPr lang="en-US" b="1" dirty="0">
                <a:solidFill>
                  <a:schemeClr val="accent1">
                    <a:lumMod val="75000"/>
                  </a:schemeClr>
                </a:solidFill>
                <a:latin typeface="Arial" panose="020B0604020202020204" pitchFamily="34" charset="0"/>
              </a:rPr>
              <a:t>Diameter of the field of </a:t>
            </a:r>
            <a:r>
              <a:rPr lang="en-US" b="1" dirty="0" smtClean="0">
                <a:solidFill>
                  <a:schemeClr val="accent1">
                    <a:lumMod val="75000"/>
                  </a:schemeClr>
                </a:solidFill>
                <a:latin typeface="Arial" panose="020B0604020202020204" pitchFamily="34" charset="0"/>
              </a:rPr>
              <a:t>view with </a:t>
            </a:r>
            <a:r>
              <a:rPr lang="en-US" b="1" dirty="0">
                <a:solidFill>
                  <a:schemeClr val="accent1">
                    <a:lumMod val="75000"/>
                  </a:schemeClr>
                </a:solidFill>
                <a:latin typeface="Arial" panose="020B0604020202020204" pitchFamily="34" charset="0"/>
              </a:rPr>
              <a:t>second objective lens</a:t>
            </a:r>
          </a:p>
          <a:p>
            <a:endParaRPr lang="en-US" b="1" dirty="0">
              <a:solidFill>
                <a:srgbClr val="FF0000"/>
              </a:solidFill>
              <a:latin typeface="Arial" panose="020B0604020202020204" pitchFamily="34" charset="0"/>
            </a:endParaRPr>
          </a:p>
          <a:p>
            <a:endParaRPr lang="en-US" b="1" dirty="0" smtClean="0">
              <a:solidFill>
                <a:srgbClr val="FF0000"/>
              </a:solidFill>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305339" y="1269242"/>
            <a:ext cx="2042076" cy="4893507"/>
          </a:xfrm>
          <a:prstGeom prst="rect">
            <a:avLst/>
          </a:prstGeom>
        </p:spPr>
      </p:pic>
      <p:cxnSp>
        <p:nvCxnSpPr>
          <p:cNvPr id="6" name="Straight Arrow Connector 5"/>
          <p:cNvCxnSpPr/>
          <p:nvPr/>
        </p:nvCxnSpPr>
        <p:spPr>
          <a:xfrm flipH="1">
            <a:off x="1326377" y="2906973"/>
            <a:ext cx="1689778" cy="27432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9192709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3081" y="1794639"/>
            <a:ext cx="11450471" cy="3970318"/>
          </a:xfrm>
          <a:prstGeom prst="rect">
            <a:avLst/>
          </a:prstGeom>
        </p:spPr>
        <p:txBody>
          <a:bodyPr wrap="square">
            <a:spAutoFit/>
          </a:bodyPr>
          <a:lstStyle/>
          <a:p>
            <a:r>
              <a:rPr lang="en-US" b="1" dirty="0">
                <a:solidFill>
                  <a:srgbClr val="002060"/>
                </a:solidFill>
                <a:latin typeface="Arial" panose="020B0604020202020204" pitchFamily="34" charset="0"/>
              </a:rPr>
              <a:t>The microscopes may be</a:t>
            </a:r>
            <a:r>
              <a:rPr lang="en-US" b="1" dirty="0" smtClean="0">
                <a:solidFill>
                  <a:srgbClr val="002060"/>
                </a:solidFill>
                <a:latin typeface="Arial" panose="020B0604020202020204" pitchFamily="34" charset="0"/>
              </a:rPr>
              <a:t>:</a:t>
            </a:r>
          </a:p>
          <a:p>
            <a:endParaRPr lang="en-US" b="1" dirty="0">
              <a:solidFill>
                <a:srgbClr val="002060"/>
              </a:solidFill>
              <a:latin typeface="Arial" panose="020B0604020202020204" pitchFamily="34" charset="0"/>
            </a:endParaRPr>
          </a:p>
          <a:p>
            <a:endParaRPr lang="en-US" b="1" dirty="0">
              <a:solidFill>
                <a:srgbClr val="002060"/>
              </a:solidFill>
              <a:latin typeface="Arial" panose="020B0604020202020204" pitchFamily="34" charset="0"/>
            </a:endParaRPr>
          </a:p>
          <a:p>
            <a:endParaRPr lang="en-US" b="1" dirty="0">
              <a:solidFill>
                <a:srgbClr val="222222"/>
              </a:solidFill>
              <a:latin typeface="Arial" panose="020B0604020202020204" pitchFamily="34" charset="0"/>
            </a:endParaRPr>
          </a:p>
          <a:p>
            <a:r>
              <a:rPr lang="en-US" dirty="0">
                <a:solidFill>
                  <a:srgbClr val="222222"/>
                </a:solidFill>
                <a:latin typeface="Arial" panose="020B0604020202020204" pitchFamily="34" charset="0"/>
              </a:rPr>
              <a:t>                           * </a:t>
            </a:r>
            <a:r>
              <a:rPr lang="en-US" dirty="0">
                <a:solidFill>
                  <a:srgbClr val="FF0000"/>
                </a:solidFill>
                <a:latin typeface="Arial" panose="020B0604020202020204" pitchFamily="34" charset="0"/>
              </a:rPr>
              <a:t>Simple microscopes</a:t>
            </a:r>
            <a:r>
              <a:rPr lang="en-US" b="1" dirty="0">
                <a:solidFill>
                  <a:srgbClr val="FF0000"/>
                </a:solidFill>
                <a:latin typeface="Arial" panose="020B0604020202020204" pitchFamily="34" charset="0"/>
              </a:rPr>
              <a:t>: </a:t>
            </a:r>
            <a:r>
              <a:rPr lang="en-US" b="1" dirty="0">
                <a:solidFill>
                  <a:srgbClr val="222222"/>
                </a:solidFill>
                <a:latin typeface="Arial" panose="020B0604020202020204" pitchFamily="34" charset="0"/>
              </a:rPr>
              <a:t> is generally considered to be the first microscope. It </a:t>
            </a:r>
          </a:p>
          <a:p>
            <a:r>
              <a:rPr lang="en-US" b="1" dirty="0">
                <a:solidFill>
                  <a:srgbClr val="222222"/>
                </a:solidFill>
                <a:latin typeface="Arial" panose="020B0604020202020204" pitchFamily="34" charset="0"/>
              </a:rPr>
              <a:t>                                                                 combined a convex lens with a holder for specimens </a:t>
            </a:r>
          </a:p>
          <a:p>
            <a:r>
              <a:rPr lang="en-US" b="1" dirty="0">
                <a:solidFill>
                  <a:srgbClr val="222222"/>
                </a:solidFill>
                <a:latin typeface="Arial" panose="020B0604020202020204" pitchFamily="34" charset="0"/>
              </a:rPr>
              <a:t>                                                                 and Magnify between 200 and 300 times</a:t>
            </a:r>
            <a:r>
              <a:rPr lang="en-US" b="1" dirty="0" smtClean="0">
                <a:solidFill>
                  <a:srgbClr val="222222"/>
                </a:solidFill>
                <a:latin typeface="Arial" panose="020B0604020202020204" pitchFamily="34" charset="0"/>
              </a:rPr>
              <a:t>.</a:t>
            </a:r>
          </a:p>
          <a:p>
            <a:endParaRPr lang="en-US" b="1" dirty="0">
              <a:solidFill>
                <a:srgbClr val="222222"/>
              </a:solidFill>
              <a:latin typeface="Arial" panose="020B0604020202020204" pitchFamily="34" charset="0"/>
            </a:endParaRPr>
          </a:p>
          <a:p>
            <a:endParaRPr lang="en-US" b="1" dirty="0">
              <a:solidFill>
                <a:srgbClr val="222222"/>
              </a:solidFill>
              <a:latin typeface="Arial" panose="020B0604020202020204" pitchFamily="34" charset="0"/>
            </a:endParaRPr>
          </a:p>
          <a:p>
            <a:endParaRPr lang="en-US" b="1" dirty="0">
              <a:solidFill>
                <a:srgbClr val="222222"/>
              </a:solidFill>
              <a:latin typeface="Arial" panose="020B0604020202020204" pitchFamily="34" charset="0"/>
            </a:endParaRPr>
          </a:p>
          <a:p>
            <a:r>
              <a:rPr lang="en-US" dirty="0">
                <a:solidFill>
                  <a:srgbClr val="222222"/>
                </a:solidFill>
                <a:latin typeface="Arial" panose="020B0604020202020204" pitchFamily="34" charset="0"/>
              </a:rPr>
              <a:t>                          * </a:t>
            </a:r>
            <a:r>
              <a:rPr lang="en-US" dirty="0">
                <a:solidFill>
                  <a:srgbClr val="FF0000"/>
                </a:solidFill>
                <a:latin typeface="Arial" panose="020B0604020202020204" pitchFamily="34" charset="0"/>
              </a:rPr>
              <a:t>Compound Microscopes: </a:t>
            </a:r>
            <a:r>
              <a:rPr lang="en-US" dirty="0">
                <a:latin typeface="Arial" panose="020B0604020202020204" pitchFamily="34" charset="0"/>
              </a:rPr>
              <a:t>Two lenses, the second lens magnifies the image of the first. </a:t>
            </a:r>
          </a:p>
          <a:p>
            <a:r>
              <a:rPr lang="en-US" dirty="0">
                <a:latin typeface="Arial" panose="020B0604020202020204" pitchFamily="34" charset="0"/>
              </a:rPr>
              <a:t>                                                                    and they may be binocular or monocular. These devices </a:t>
            </a:r>
          </a:p>
          <a:p>
            <a:r>
              <a:rPr lang="en-US" dirty="0">
                <a:latin typeface="Arial" panose="020B0604020202020204" pitchFamily="34" charset="0"/>
              </a:rPr>
              <a:t>                                                                    provide a magnification up to 1200 times, but the resolution is </a:t>
            </a:r>
          </a:p>
          <a:p>
            <a:r>
              <a:rPr lang="en-US" dirty="0">
                <a:latin typeface="Arial" panose="020B0604020202020204" pitchFamily="34" charset="0"/>
              </a:rPr>
              <a:t>                                                                    low. </a:t>
            </a:r>
          </a:p>
        </p:txBody>
      </p:sp>
    </p:spTree>
    <p:extLst>
      <p:ext uri="{BB962C8B-B14F-4D97-AF65-F5344CB8AC3E}">
        <p14:creationId xmlns:p14="http://schemas.microsoft.com/office/powerpoint/2010/main" val="3706387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4469" y="1572288"/>
            <a:ext cx="11499669" cy="5355312"/>
          </a:xfrm>
          <a:prstGeom prst="rect">
            <a:avLst/>
          </a:prstGeom>
        </p:spPr>
        <p:txBody>
          <a:bodyPr wrap="square">
            <a:spAutoFit/>
          </a:bodyPr>
          <a:lstStyle/>
          <a:p>
            <a:r>
              <a:rPr lang="en-US" dirty="0" smtClean="0"/>
              <a:t> </a:t>
            </a:r>
            <a:r>
              <a:rPr lang="en-US" b="1" dirty="0" smtClean="0">
                <a:solidFill>
                  <a:srgbClr val="00B0F0"/>
                </a:solidFill>
                <a:latin typeface="Arial" panose="020B0604020202020204" pitchFamily="34" charset="0"/>
                <a:cs typeface="Arial" panose="020B0604020202020204" pitchFamily="34" charset="0"/>
              </a:rPr>
              <a:t>Based </a:t>
            </a:r>
            <a:r>
              <a:rPr lang="en-US" b="1" dirty="0">
                <a:solidFill>
                  <a:srgbClr val="00B0F0"/>
                </a:solidFill>
                <a:latin typeface="Arial" panose="020B0604020202020204" pitchFamily="34" charset="0"/>
                <a:cs typeface="Arial" panose="020B0604020202020204" pitchFamily="34" charset="0"/>
              </a:rPr>
              <a:t>on what interacts with the sample to generate the image</a:t>
            </a:r>
            <a:endParaRPr lang="en-US" b="1" dirty="0" smtClean="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endParaRPr lang="en-US"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smtClean="0">
                <a:solidFill>
                  <a:srgbClr val="FF0000"/>
                </a:solidFill>
                <a:latin typeface="Arial" panose="020B0604020202020204" pitchFamily="34" charset="0"/>
                <a:cs typeface="Arial" panose="020B0604020202020204" pitchFamily="34" charset="0"/>
              </a:rPr>
              <a:t>Optical  Microscopes</a:t>
            </a:r>
            <a:r>
              <a:rPr lang="en-US"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b="1" dirty="0" smtClean="0">
                <a:solidFill>
                  <a:srgbClr val="00B0F0"/>
                </a:solidFill>
                <a:latin typeface="Arial" panose="020B0604020202020204" pitchFamily="34" charset="0"/>
                <a:cs typeface="Arial" panose="020B0604020202020204" pitchFamily="34" charset="0"/>
              </a:rPr>
              <a:t>Use visible or invisible light to create image,</a:t>
            </a:r>
          </a:p>
          <a:p>
            <a:endParaRPr lang="en-US" b="1" dirty="0" smtClean="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65438" indent="-176213">
              <a:buFont typeface="Arial" panose="020B0604020202020204" pitchFamily="34" charset="0"/>
              <a:buChar char="•"/>
            </a:pPr>
            <a:r>
              <a:rPr lang="en-US" b="1" dirty="0" smtClean="0">
                <a:latin typeface="Arial" panose="020B0604020202020204" pitchFamily="34" charset="0"/>
                <a:cs typeface="Arial" panose="020B0604020202020204" pitchFamily="34" charset="0"/>
              </a:rPr>
              <a:t>Compound Microscopes:</a:t>
            </a: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 </a:t>
            </a:r>
            <a:r>
              <a:rPr lang="en-US" b="1" dirty="0">
                <a:latin typeface="Arial" panose="020B0604020202020204" pitchFamily="34" charset="0"/>
                <a:cs typeface="Arial" panose="020B0604020202020204" pitchFamily="34" charset="0"/>
              </a:rPr>
              <a:t>The specimen is then magnified by a series of lenses, </a:t>
            </a:r>
            <a:endParaRPr lang="en-US" b="1" dirty="0" smtClean="0">
              <a:latin typeface="Arial" panose="020B0604020202020204" pitchFamily="34" charset="0"/>
              <a:cs typeface="Arial" panose="020B0604020202020204" pitchFamily="34" charset="0"/>
            </a:endParaRP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one near </a:t>
            </a:r>
            <a:r>
              <a:rPr lang="en-US" b="1" dirty="0">
                <a:latin typeface="Arial" panose="020B0604020202020204" pitchFamily="34" charset="0"/>
                <a:cs typeface="Arial" panose="020B0604020202020204" pitchFamily="34" charset="0"/>
              </a:rPr>
              <a:t>the slide (called the objective lens) and one </a:t>
            </a:r>
            <a:endParaRPr lang="en-US" b="1" dirty="0" smtClean="0">
              <a:latin typeface="Arial" panose="020B0604020202020204" pitchFamily="34" charset="0"/>
              <a:cs typeface="Arial" panose="020B0604020202020204" pitchFamily="34" charset="0"/>
            </a:endParaRP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near </a:t>
            </a:r>
            <a:r>
              <a:rPr lang="en-US" b="1" dirty="0">
                <a:latin typeface="Arial" panose="020B0604020202020204" pitchFamily="34" charset="0"/>
                <a:cs typeface="Arial" panose="020B0604020202020204" pitchFamily="34" charset="0"/>
              </a:rPr>
              <a:t>the </a:t>
            </a:r>
            <a:r>
              <a:rPr lang="en-US" b="1" dirty="0" smtClean="0">
                <a:latin typeface="Arial" panose="020B0604020202020204" pitchFamily="34" charset="0"/>
                <a:cs typeface="Arial" panose="020B0604020202020204" pitchFamily="34" charset="0"/>
              </a:rPr>
              <a:t>top </a:t>
            </a:r>
            <a:r>
              <a:rPr lang="en-US" b="1" dirty="0">
                <a:latin typeface="Arial" panose="020B0604020202020204" pitchFamily="34" charset="0"/>
                <a:cs typeface="Arial" panose="020B0604020202020204" pitchFamily="34" charset="0"/>
              </a:rPr>
              <a:t>(called the eyepiece). </a:t>
            </a:r>
            <a:endParaRPr lang="en-US" b="1" dirty="0" smtClean="0">
              <a:latin typeface="Arial" panose="020B0604020202020204" pitchFamily="34" charset="0"/>
              <a:cs typeface="Arial" panose="020B0604020202020204" pitchFamily="34" charset="0"/>
            </a:endParaRP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 The light lit the specimen from underneath </a:t>
            </a:r>
            <a:r>
              <a:rPr lang="en-US" b="1" dirty="0" smtClean="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a:p>
            <a:pPr marL="2689225"/>
            <a:r>
              <a:rPr lang="en-US" b="1" dirty="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b="1" dirty="0" smtClean="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Two-dimensional </a:t>
            </a:r>
            <a:r>
              <a:rPr lang="en-US" b="1" dirty="0">
                <a:latin typeface="Arial" panose="020B0604020202020204" pitchFamily="34" charset="0"/>
                <a:cs typeface="Arial" panose="020B0604020202020204" pitchFamily="34" charset="0"/>
              </a:rPr>
              <a:t>image </a:t>
            </a:r>
            <a:endParaRPr lang="en-US" b="1" dirty="0" smtClean="0">
              <a:latin typeface="Arial" panose="020B0604020202020204" pitchFamily="34" charset="0"/>
              <a:cs typeface="Arial" panose="020B0604020202020204" pitchFamily="34" charset="0"/>
            </a:endParaRP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 Magnify up to 1200 X   </a:t>
            </a: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 Low resolving power</a:t>
            </a:r>
          </a:p>
          <a:p>
            <a:pPr marL="2974975"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Stereo Microscopes </a:t>
            </a:r>
            <a:r>
              <a:rPr lang="en-US" b="1" dirty="0" smtClean="0">
                <a:latin typeface="Arial" panose="020B0604020202020204" pitchFamily="34" charset="0"/>
                <a:cs typeface="Arial" panose="020B0604020202020204" pitchFamily="34" charset="0"/>
              </a:rPr>
              <a:t>:</a:t>
            </a:r>
          </a:p>
          <a:p>
            <a:pPr marL="2689225"/>
            <a:r>
              <a:rPr lang="en-US" b="1" dirty="0" smtClean="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The specimen is usually lit from </a:t>
            </a:r>
            <a:r>
              <a:rPr lang="en-US" b="1" dirty="0" smtClean="0">
                <a:latin typeface="Arial" panose="020B0604020202020204" pitchFamily="34" charset="0"/>
                <a:cs typeface="Arial" panose="020B0604020202020204" pitchFamily="34" charset="0"/>
              </a:rPr>
              <a:t>above</a:t>
            </a:r>
          </a:p>
          <a:p>
            <a:pPr marL="2689225"/>
            <a:r>
              <a:rPr lang="en-US" b="1" dirty="0">
                <a:latin typeface="Arial" panose="020B0604020202020204" pitchFamily="34" charset="0"/>
                <a:cs typeface="Arial" panose="020B0604020202020204" pitchFamily="34" charset="0"/>
              </a:rPr>
              <a:t>                                      - </a:t>
            </a:r>
            <a:r>
              <a:rPr lang="en-US" b="1" dirty="0" smtClean="0">
                <a:latin typeface="Arial" panose="020B0604020202020204" pitchFamily="34" charset="0"/>
                <a:cs typeface="Arial" panose="020B0604020202020204" pitchFamily="34" charset="0"/>
              </a:rPr>
              <a:t>Use </a:t>
            </a:r>
            <a:r>
              <a:rPr lang="en-US" b="1" dirty="0">
                <a:latin typeface="Arial" panose="020B0604020202020204" pitchFamily="34" charset="0"/>
                <a:cs typeface="Arial" panose="020B0604020202020204" pitchFamily="34" charset="0"/>
              </a:rPr>
              <a:t>with any opaque </a:t>
            </a:r>
            <a:r>
              <a:rPr lang="en-US" b="1" dirty="0" smtClean="0">
                <a:latin typeface="Arial" panose="020B0604020202020204" pitchFamily="34" charset="0"/>
                <a:cs typeface="Arial" panose="020B0604020202020204" pitchFamily="34" charset="0"/>
              </a:rPr>
              <a:t>specimen</a:t>
            </a:r>
          </a:p>
          <a:p>
            <a:pPr marL="2689225"/>
            <a:r>
              <a:rPr lang="en-US" b="1" dirty="0">
                <a:latin typeface="Arial" panose="020B0604020202020204" pitchFamily="34" charset="0"/>
                <a:cs typeface="Arial" panose="020B0604020202020204" pitchFamily="34" charset="0"/>
              </a:rPr>
              <a:t>                                      - </a:t>
            </a:r>
            <a:r>
              <a:rPr lang="en-US" b="1" dirty="0" smtClean="0">
                <a:latin typeface="Arial" panose="020B0604020202020204" pitchFamily="34" charset="0"/>
                <a:cs typeface="Arial" panose="020B0604020202020204" pitchFamily="34" charset="0"/>
              </a:rPr>
              <a:t>Create </a:t>
            </a:r>
            <a:r>
              <a:rPr lang="en-US" b="1" dirty="0">
                <a:latin typeface="Arial" panose="020B0604020202020204" pitchFamily="34" charset="0"/>
                <a:cs typeface="Arial" panose="020B0604020202020204" pitchFamily="34" charset="0"/>
              </a:rPr>
              <a:t>three-dimensional </a:t>
            </a:r>
            <a:r>
              <a:rPr lang="en-US" b="1" dirty="0" smtClean="0">
                <a:latin typeface="Arial" panose="020B0604020202020204" pitchFamily="34" charset="0"/>
                <a:cs typeface="Arial" panose="020B0604020202020204" pitchFamily="34" charset="0"/>
              </a:rPr>
              <a:t>images</a:t>
            </a: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Low </a:t>
            </a:r>
            <a:r>
              <a:rPr lang="en-US" b="1" dirty="0">
                <a:latin typeface="Arial" panose="020B0604020202020204" pitchFamily="34" charset="0"/>
                <a:cs typeface="Arial" panose="020B0604020202020204" pitchFamily="34" charset="0"/>
              </a:rPr>
              <a:t>magnification </a:t>
            </a:r>
            <a:r>
              <a:rPr lang="en-US" b="1" dirty="0" smtClean="0">
                <a:latin typeface="Arial" panose="020B0604020202020204" pitchFamily="34" charset="0"/>
                <a:cs typeface="Arial" panose="020B0604020202020204" pitchFamily="34" charset="0"/>
              </a:rPr>
              <a:t>( 10X – 50X)</a:t>
            </a: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 Lower resolutions </a:t>
            </a:r>
            <a:r>
              <a:rPr lang="en-US" b="1" dirty="0">
                <a:latin typeface="Arial" panose="020B0604020202020204" pitchFamily="34" charset="0"/>
                <a:cs typeface="Arial" panose="020B0604020202020204" pitchFamily="34" charset="0"/>
              </a:rPr>
              <a:t>than </a:t>
            </a:r>
            <a:r>
              <a:rPr lang="en-US" b="1" dirty="0" smtClean="0">
                <a:latin typeface="Arial" panose="020B0604020202020204" pitchFamily="34" charset="0"/>
                <a:cs typeface="Arial" panose="020B0604020202020204" pitchFamily="34" charset="0"/>
              </a:rPr>
              <a:t>compound microscopes</a:t>
            </a:r>
          </a:p>
          <a:p>
            <a:pPr marL="2689225"/>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a:t>
            </a:r>
          </a:p>
        </p:txBody>
      </p:sp>
      <p:sp>
        <p:nvSpPr>
          <p:cNvPr id="3" name="Rectangle 2"/>
          <p:cNvSpPr/>
          <p:nvPr/>
        </p:nvSpPr>
        <p:spPr>
          <a:xfrm>
            <a:off x="374469" y="823351"/>
            <a:ext cx="11652068" cy="369332"/>
          </a:xfrm>
          <a:prstGeom prst="rect">
            <a:avLst/>
          </a:prstGeom>
        </p:spPr>
        <p:txBody>
          <a:bodyPr wrap="square">
            <a:spAutoFit/>
          </a:bodyPr>
          <a:lstStyle/>
          <a:p>
            <a:pPr algn="ctr"/>
            <a:r>
              <a:rPr lang="en-US" b="1" dirty="0" smtClean="0">
                <a:solidFill>
                  <a:srgbClr val="FF0000"/>
                </a:solidFill>
              </a:rPr>
              <a:t>Types of Microscopes</a:t>
            </a:r>
            <a:endParaRPr lang="ar-JO" b="1" dirty="0">
              <a:solidFill>
                <a:srgbClr val="FF0000"/>
              </a:solidFill>
            </a:endParaRPr>
          </a:p>
        </p:txBody>
      </p:sp>
    </p:spTree>
    <p:extLst>
      <p:ext uri="{BB962C8B-B14F-4D97-AF65-F5344CB8AC3E}">
        <p14:creationId xmlns:p14="http://schemas.microsoft.com/office/powerpoint/2010/main" val="8560476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4024" y="1319999"/>
            <a:ext cx="7547212" cy="4801314"/>
          </a:xfrm>
          <a:prstGeom prst="rect">
            <a:avLst/>
          </a:prstGeom>
        </p:spPr>
        <p:txBody>
          <a:bodyPr wrap="square">
            <a:spAutoFit/>
          </a:bodyPr>
          <a:lstStyle/>
          <a:p>
            <a:pPr marL="285750" indent="-285750">
              <a:buFont typeface="Arial" panose="020B0604020202020204" pitchFamily="34" charset="0"/>
              <a:buChar char="•"/>
            </a:pPr>
            <a:r>
              <a:rPr lang="en-US" b="1" dirty="0"/>
              <a:t>Phase contrast </a:t>
            </a:r>
            <a:r>
              <a:rPr lang="en-US" b="1" dirty="0" smtClean="0"/>
              <a:t>microscope:</a:t>
            </a:r>
          </a:p>
          <a:p>
            <a:r>
              <a:rPr lang="en-US" b="1" dirty="0"/>
              <a:t> </a:t>
            </a:r>
            <a:r>
              <a:rPr lang="en-US" b="1" dirty="0" smtClean="0"/>
              <a:t>                                - Light object is seen in dark background</a:t>
            </a:r>
          </a:p>
          <a:p>
            <a:r>
              <a:rPr lang="en-US" b="1" dirty="0"/>
              <a:t> </a:t>
            </a:r>
            <a:r>
              <a:rPr lang="en-US" b="1" dirty="0" smtClean="0"/>
              <a:t>                                </a:t>
            </a:r>
            <a:r>
              <a:rPr lang="en-US" b="1" dirty="0"/>
              <a:t>- low magnifications (up to 100x</a:t>
            </a:r>
            <a:r>
              <a:rPr lang="en-US" b="1" dirty="0" smtClean="0"/>
              <a:t>)</a:t>
            </a:r>
          </a:p>
          <a:p>
            <a:r>
              <a:rPr lang="en-US" b="1" dirty="0"/>
              <a:t> </a:t>
            </a:r>
            <a:r>
              <a:rPr lang="en-US" b="1" dirty="0" smtClean="0"/>
              <a:t>                                </a:t>
            </a:r>
            <a:r>
              <a:rPr lang="en-US" b="1" dirty="0"/>
              <a:t>- </a:t>
            </a:r>
            <a:r>
              <a:rPr lang="en-US" b="1" dirty="0" smtClean="0"/>
              <a:t>Use to </a:t>
            </a:r>
            <a:r>
              <a:rPr lang="en-US" b="1" dirty="0"/>
              <a:t>view everything in a liquid sample, </a:t>
            </a:r>
            <a:endParaRPr lang="en-US" b="1" dirty="0" smtClean="0"/>
          </a:p>
          <a:p>
            <a:r>
              <a:rPr lang="en-US" b="1" dirty="0"/>
              <a:t> </a:t>
            </a:r>
            <a:r>
              <a:rPr lang="en-US" b="1" dirty="0" smtClean="0"/>
              <a:t>                                   debris and all</a:t>
            </a:r>
          </a:p>
          <a:p>
            <a:r>
              <a:rPr lang="en-US" b="1" dirty="0"/>
              <a:t> </a:t>
            </a:r>
            <a:r>
              <a:rPr lang="en-US" b="1" dirty="0" smtClean="0"/>
              <a:t>                                </a:t>
            </a:r>
            <a:r>
              <a:rPr lang="en-US" b="1" dirty="0"/>
              <a:t>- </a:t>
            </a:r>
            <a:r>
              <a:rPr lang="en-US" b="1" dirty="0" smtClean="0"/>
              <a:t>The </a:t>
            </a:r>
            <a:r>
              <a:rPr lang="en-US" b="1" dirty="0"/>
              <a:t>light lit the specimen from </a:t>
            </a:r>
            <a:r>
              <a:rPr lang="en-US" b="1" dirty="0" smtClean="0"/>
              <a:t>underneath,</a:t>
            </a:r>
          </a:p>
          <a:p>
            <a:r>
              <a:rPr lang="en-US" b="1" dirty="0"/>
              <a:t>                                     </a:t>
            </a:r>
            <a:r>
              <a:rPr lang="en-US" b="1" dirty="0" smtClean="0"/>
              <a:t>but a special condenser blocks </a:t>
            </a:r>
            <a:r>
              <a:rPr lang="en-US" b="1" dirty="0"/>
              <a:t>this </a:t>
            </a:r>
            <a:r>
              <a:rPr lang="en-US" b="1" dirty="0" smtClean="0"/>
              <a:t>light so    </a:t>
            </a:r>
          </a:p>
          <a:p>
            <a:r>
              <a:rPr lang="en-US" b="1" dirty="0"/>
              <a:t> </a:t>
            </a:r>
            <a:r>
              <a:rPr lang="en-US" b="1" dirty="0" smtClean="0"/>
              <a:t>                                    that </a:t>
            </a:r>
            <a:r>
              <a:rPr lang="en-US" b="1" dirty="0"/>
              <a:t>only oblique rays hit the object</a:t>
            </a:r>
            <a:r>
              <a:rPr lang="en-US" b="1" dirty="0" smtClean="0"/>
              <a:t>.</a:t>
            </a:r>
          </a:p>
          <a:p>
            <a:endParaRPr lang="en-US" b="1" dirty="0"/>
          </a:p>
          <a:p>
            <a:pPr marL="285750" indent="-285750">
              <a:buFont typeface="Arial" panose="020B0604020202020204" pitchFamily="34" charset="0"/>
              <a:buChar char="•"/>
            </a:pPr>
            <a:r>
              <a:rPr lang="en-US" b="1" dirty="0" smtClean="0"/>
              <a:t>Laser </a:t>
            </a:r>
            <a:r>
              <a:rPr lang="en-US" b="1" dirty="0"/>
              <a:t>scanning confocal microscope:</a:t>
            </a:r>
            <a:endParaRPr lang="en-US" b="1" dirty="0" smtClean="0"/>
          </a:p>
          <a:p>
            <a:r>
              <a:rPr lang="en-US" b="1" dirty="0"/>
              <a:t> </a:t>
            </a:r>
            <a:r>
              <a:rPr lang="en-US" b="1" dirty="0" smtClean="0"/>
              <a:t>                                 - </a:t>
            </a:r>
            <a:r>
              <a:rPr lang="en-US" b="1" dirty="0"/>
              <a:t>Laser beams emitted from the laser light </a:t>
            </a:r>
            <a:endParaRPr lang="en-US" b="1" dirty="0" smtClean="0"/>
          </a:p>
          <a:p>
            <a:r>
              <a:rPr lang="en-US" b="1" dirty="0"/>
              <a:t> </a:t>
            </a:r>
            <a:r>
              <a:rPr lang="en-US" b="1" dirty="0" smtClean="0"/>
              <a:t>                                    source </a:t>
            </a:r>
            <a:r>
              <a:rPr lang="en-US" b="1" dirty="0"/>
              <a:t>go through the objective lens to scan </a:t>
            </a:r>
            <a:endParaRPr lang="en-US" b="1" dirty="0" smtClean="0"/>
          </a:p>
          <a:p>
            <a:r>
              <a:rPr lang="en-US" b="1" dirty="0"/>
              <a:t> </a:t>
            </a:r>
            <a:r>
              <a:rPr lang="en-US" b="1" dirty="0" smtClean="0"/>
              <a:t>                                    a </a:t>
            </a:r>
            <a:r>
              <a:rPr lang="en-US" b="1" dirty="0"/>
              <a:t>sample. The fluorescence of the </a:t>
            </a:r>
            <a:r>
              <a:rPr lang="en-US" b="1" dirty="0" smtClean="0"/>
              <a:t>sample </a:t>
            </a:r>
          </a:p>
          <a:p>
            <a:r>
              <a:rPr lang="en-US" b="1" dirty="0"/>
              <a:t> </a:t>
            </a:r>
            <a:r>
              <a:rPr lang="en-US" b="1" dirty="0" smtClean="0"/>
              <a:t>                                    reflected from </a:t>
            </a:r>
            <a:r>
              <a:rPr lang="en-US" b="1" dirty="0"/>
              <a:t>the focal plane, and then </a:t>
            </a:r>
            <a:endParaRPr lang="en-US" b="1" dirty="0" smtClean="0"/>
          </a:p>
          <a:p>
            <a:r>
              <a:rPr lang="en-US" b="1" dirty="0"/>
              <a:t> </a:t>
            </a:r>
            <a:r>
              <a:rPr lang="en-US" b="1" dirty="0" smtClean="0"/>
              <a:t>                                    visualize </a:t>
            </a:r>
            <a:r>
              <a:rPr lang="en-US" b="1" dirty="0"/>
              <a:t>the resulting data with a </a:t>
            </a:r>
            <a:r>
              <a:rPr lang="en-US" b="1" dirty="0" smtClean="0"/>
              <a:t>computer</a:t>
            </a:r>
          </a:p>
          <a:p>
            <a:r>
              <a:rPr lang="en-US" b="1" dirty="0"/>
              <a:t> </a:t>
            </a:r>
            <a:r>
              <a:rPr lang="en-US" b="1" dirty="0" smtClean="0"/>
              <a:t>                                 - </a:t>
            </a:r>
            <a:r>
              <a:rPr lang="en-US" b="1" dirty="0"/>
              <a:t>high-resolution </a:t>
            </a:r>
            <a:r>
              <a:rPr lang="en-US" b="1" dirty="0" smtClean="0"/>
              <a:t>images</a:t>
            </a:r>
          </a:p>
          <a:p>
            <a:r>
              <a:rPr lang="en-US" b="1" dirty="0"/>
              <a:t> </a:t>
            </a:r>
            <a:r>
              <a:rPr lang="en-US" b="1" dirty="0" smtClean="0"/>
              <a:t>                                 - High contrast</a:t>
            </a:r>
            <a:endParaRPr lang="ar-JO"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1928" y="1201003"/>
            <a:ext cx="4201235" cy="3193576"/>
          </a:xfrm>
          <a:prstGeom prst="rect">
            <a:avLst/>
          </a:prstGeom>
        </p:spPr>
      </p:pic>
    </p:spTree>
    <p:extLst>
      <p:ext uri="{BB962C8B-B14F-4D97-AF65-F5344CB8AC3E}">
        <p14:creationId xmlns:p14="http://schemas.microsoft.com/office/powerpoint/2010/main" val="27427121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581" y="1333647"/>
            <a:ext cx="10760062" cy="5632311"/>
          </a:xfrm>
          <a:prstGeom prst="rect">
            <a:avLst/>
          </a:prstGeom>
        </p:spPr>
        <p:txBody>
          <a:bodyPr wrap="square">
            <a:spAutoFit/>
          </a:bodyPr>
          <a:lstStyle/>
          <a:p>
            <a:pPr marL="285750" indent="-285750">
              <a:buFont typeface="Arial" panose="020B0604020202020204" pitchFamily="34" charset="0"/>
              <a:buChar char="•"/>
            </a:pPr>
            <a:r>
              <a:rPr lang="en-US" b="1" dirty="0">
                <a:solidFill>
                  <a:srgbClr val="3B3B3B"/>
                </a:solidFill>
                <a:latin typeface="&amp;quot"/>
                <a:ea typeface="Times New Roman" panose="02020603050405020304" pitchFamily="18" charset="0"/>
                <a:cs typeface="Times New Roman" panose="02020603050405020304" pitchFamily="18" charset="0"/>
              </a:rPr>
              <a:t>Fluorescence </a:t>
            </a:r>
            <a:r>
              <a:rPr lang="en-US" b="1" dirty="0" smtClean="0">
                <a:solidFill>
                  <a:srgbClr val="3B3B3B"/>
                </a:solidFill>
                <a:latin typeface="&amp;quot"/>
                <a:ea typeface="Times New Roman" panose="02020603050405020304" pitchFamily="18" charset="0"/>
                <a:cs typeface="Times New Roman" panose="02020603050405020304" pitchFamily="18" charset="0"/>
              </a:rPr>
              <a:t>microscope: </a:t>
            </a:r>
          </a:p>
          <a:p>
            <a:r>
              <a:rPr lang="en-US" b="1" dirty="0">
                <a:solidFill>
                  <a:srgbClr val="3B3B3B"/>
                </a:solidFill>
                <a:latin typeface="&amp;quot"/>
                <a:ea typeface="Times New Roman" panose="02020603050405020304" pitchFamily="18" charset="0"/>
                <a:cs typeface="Times New Roman" panose="02020603050405020304" pitchFamily="18" charset="0"/>
              </a:rPr>
              <a:t> </a:t>
            </a:r>
            <a:r>
              <a:rPr lang="en-US" b="1" dirty="0" smtClean="0">
                <a:solidFill>
                  <a:srgbClr val="3B3B3B"/>
                </a:solidFill>
                <a:latin typeface="&amp;quot"/>
                <a:ea typeface="Times New Roman" panose="02020603050405020304" pitchFamily="18" charset="0"/>
                <a:cs typeface="Times New Roman" panose="02020603050405020304" pitchFamily="18" charset="0"/>
              </a:rPr>
              <a:t>                            - use invisible light such as UV light, when UV light hit specimen stained with </a:t>
            </a:r>
          </a:p>
          <a:p>
            <a:r>
              <a:rPr lang="en-US" b="1" dirty="0">
                <a:solidFill>
                  <a:srgbClr val="3B3B3B"/>
                </a:solidFill>
                <a:latin typeface="&amp;quot"/>
                <a:ea typeface="Times New Roman" panose="02020603050405020304" pitchFamily="18" charset="0"/>
                <a:cs typeface="Times New Roman" panose="02020603050405020304" pitchFamily="18" charset="0"/>
              </a:rPr>
              <a:t> </a:t>
            </a:r>
            <a:r>
              <a:rPr lang="en-US" b="1" dirty="0" smtClean="0">
                <a:solidFill>
                  <a:srgbClr val="3B3B3B"/>
                </a:solidFill>
                <a:latin typeface="&amp;quot"/>
                <a:ea typeface="Times New Roman" panose="02020603050405020304" pitchFamily="18" charset="0"/>
                <a:cs typeface="Times New Roman" panose="02020603050405020304" pitchFamily="18" charset="0"/>
              </a:rPr>
              <a:t>                               fluorescent dye it will emit visible light with increase in the resolution of the </a:t>
            </a:r>
          </a:p>
          <a:p>
            <a:r>
              <a:rPr lang="en-US" b="1" dirty="0">
                <a:solidFill>
                  <a:srgbClr val="3B3B3B"/>
                </a:solidFill>
                <a:latin typeface="&amp;quot"/>
                <a:ea typeface="Times New Roman" panose="02020603050405020304" pitchFamily="18" charset="0"/>
                <a:cs typeface="Times New Roman" panose="02020603050405020304" pitchFamily="18" charset="0"/>
              </a:rPr>
              <a:t> </a:t>
            </a:r>
            <a:r>
              <a:rPr lang="en-US" b="1" dirty="0" smtClean="0">
                <a:solidFill>
                  <a:srgbClr val="3B3B3B"/>
                </a:solidFill>
                <a:latin typeface="&amp;quot"/>
                <a:ea typeface="Times New Roman" panose="02020603050405020304" pitchFamily="18" charset="0"/>
                <a:cs typeface="Times New Roman" panose="02020603050405020304" pitchFamily="18" charset="0"/>
              </a:rPr>
              <a:t>                               object.  </a:t>
            </a:r>
          </a:p>
          <a:p>
            <a:r>
              <a:rPr lang="en-US" b="1" dirty="0">
                <a:solidFill>
                  <a:srgbClr val="3B3B3B"/>
                </a:solidFill>
                <a:latin typeface="&amp;quot"/>
                <a:cs typeface="Times New Roman" panose="02020603050405020304" pitchFamily="18" charset="0"/>
              </a:rPr>
              <a:t>                        </a:t>
            </a:r>
            <a:r>
              <a:rPr lang="en-US" b="1" dirty="0" smtClean="0">
                <a:solidFill>
                  <a:srgbClr val="3B3B3B"/>
                </a:solidFill>
                <a:latin typeface="&amp;quot"/>
                <a:cs typeface="Times New Roman" panose="02020603050405020304" pitchFamily="18" charset="0"/>
              </a:rPr>
              <a:t>      -  </a:t>
            </a:r>
            <a:r>
              <a:rPr lang="en-US" b="1" dirty="0">
                <a:solidFill>
                  <a:srgbClr val="3B3B3B"/>
                </a:solidFill>
                <a:latin typeface="&amp;quot"/>
                <a:cs typeface="Times New Roman" panose="02020603050405020304" pitchFamily="18" charset="0"/>
              </a:rPr>
              <a:t>Allows observation of fluorescence </a:t>
            </a:r>
            <a:r>
              <a:rPr lang="en-US" b="1" dirty="0" smtClean="0">
                <a:solidFill>
                  <a:srgbClr val="3B3B3B"/>
                </a:solidFill>
                <a:latin typeface="&amp;quot"/>
                <a:cs typeface="Times New Roman" panose="02020603050405020304" pitchFamily="18" charset="0"/>
              </a:rPr>
              <a:t>images.</a:t>
            </a:r>
          </a:p>
          <a:p>
            <a:r>
              <a:rPr lang="en-US" b="1" dirty="0">
                <a:solidFill>
                  <a:srgbClr val="3B3B3B"/>
                </a:solidFill>
                <a:latin typeface="&amp;quot"/>
                <a:cs typeface="Times New Roman" panose="02020603050405020304" pitchFamily="18" charset="0"/>
              </a:rPr>
              <a:t> </a:t>
            </a:r>
            <a:r>
              <a:rPr lang="en-US" b="1" dirty="0" smtClean="0">
                <a:solidFill>
                  <a:srgbClr val="3B3B3B"/>
                </a:solidFill>
                <a:latin typeface="&amp;quot"/>
                <a:cs typeface="Times New Roman" panose="02020603050405020304" pitchFamily="18" charset="0"/>
              </a:rPr>
              <a:t>                             - </a:t>
            </a:r>
            <a:r>
              <a:rPr lang="en-US" b="1" dirty="0">
                <a:solidFill>
                  <a:srgbClr val="3B3B3B"/>
                </a:solidFill>
                <a:latin typeface="&amp;quot"/>
                <a:cs typeface="Times New Roman" panose="02020603050405020304" pitchFamily="18" charset="0"/>
              </a:rPr>
              <a:t>It is possible to only observe specific areas by using different fluorescent </a:t>
            </a:r>
            <a:endParaRPr lang="en-US" b="1" dirty="0" smtClean="0">
              <a:solidFill>
                <a:srgbClr val="3B3B3B"/>
              </a:solidFill>
              <a:latin typeface="&amp;quot"/>
              <a:cs typeface="Times New Roman" panose="02020603050405020304" pitchFamily="18" charset="0"/>
            </a:endParaRPr>
          </a:p>
          <a:p>
            <a:r>
              <a:rPr lang="en-US" b="1" dirty="0">
                <a:solidFill>
                  <a:srgbClr val="3B3B3B"/>
                </a:solidFill>
                <a:latin typeface="&amp;quot"/>
                <a:cs typeface="Times New Roman" panose="02020603050405020304" pitchFamily="18" charset="0"/>
              </a:rPr>
              <a:t> </a:t>
            </a:r>
            <a:r>
              <a:rPr lang="en-US" b="1" dirty="0" smtClean="0">
                <a:solidFill>
                  <a:srgbClr val="3B3B3B"/>
                </a:solidFill>
                <a:latin typeface="&amp;quot"/>
                <a:cs typeface="Times New Roman" panose="02020603050405020304" pitchFamily="18" charset="0"/>
              </a:rPr>
              <a:t>                               labels</a:t>
            </a:r>
            <a:r>
              <a:rPr lang="en-US" b="1" dirty="0">
                <a:solidFill>
                  <a:srgbClr val="3B3B3B"/>
                </a:solidFill>
                <a:latin typeface="&amp;quot"/>
                <a:cs typeface="Times New Roman" panose="02020603050405020304" pitchFamily="18" charset="0"/>
              </a:rPr>
              <a:t>. </a:t>
            </a:r>
            <a:endParaRPr lang="en-US" b="1" dirty="0" smtClean="0">
              <a:solidFill>
                <a:srgbClr val="3B3B3B"/>
              </a:solidFill>
              <a:latin typeface="&amp;quot"/>
              <a:cs typeface="Times New Roman" panose="02020603050405020304" pitchFamily="18" charset="0"/>
            </a:endParaRPr>
          </a:p>
          <a:p>
            <a:endParaRPr lang="en-US" b="1" dirty="0">
              <a:solidFill>
                <a:srgbClr val="3B3B3B"/>
              </a:solidFill>
              <a:latin typeface="&amp;quot"/>
              <a:cs typeface="Times New Roman" panose="02020603050405020304" pitchFamily="18" charset="0"/>
            </a:endParaRPr>
          </a:p>
          <a:p>
            <a:endParaRPr lang="en-US" b="1" dirty="0" smtClean="0">
              <a:solidFill>
                <a:srgbClr val="3B3B3B"/>
              </a:solidFill>
              <a:latin typeface="&amp;quot"/>
              <a:cs typeface="Times New Roman" panose="02020603050405020304" pitchFamily="18" charset="0"/>
            </a:endParaRPr>
          </a:p>
          <a:p>
            <a:pPr marL="285750" indent="-285750">
              <a:buFont typeface="Wingdings" panose="05000000000000000000" pitchFamily="2" charset="2"/>
              <a:buChar char="v"/>
            </a:pPr>
            <a:r>
              <a:rPr lang="en-US" b="1" dirty="0" smtClean="0">
                <a:solidFill>
                  <a:srgbClr val="FF0000"/>
                </a:solidFill>
                <a:latin typeface="&amp;quot"/>
                <a:cs typeface="Times New Roman" panose="02020603050405020304" pitchFamily="18" charset="0"/>
              </a:rPr>
              <a:t>Electron Microscope</a:t>
            </a:r>
            <a:r>
              <a:rPr lang="en-US" b="1" dirty="0" smtClean="0">
                <a:solidFill>
                  <a:srgbClr val="FF0000"/>
                </a:solidFill>
                <a:effectLst>
                  <a:outerShdw blurRad="38100" dist="38100" dir="2700000" algn="tl">
                    <a:srgbClr val="000000">
                      <a:alpha val="43137"/>
                    </a:srgbClr>
                  </a:outerShdw>
                </a:effectLst>
                <a:latin typeface="&amp;quot"/>
                <a:cs typeface="Times New Roman" panose="02020603050405020304" pitchFamily="18" charset="0"/>
              </a:rPr>
              <a:t>: </a:t>
            </a:r>
            <a:r>
              <a:rPr lang="en-US" b="1" dirty="0" smtClean="0">
                <a:solidFill>
                  <a:srgbClr val="00B0F0"/>
                </a:solidFill>
                <a:latin typeface="&amp;quot"/>
                <a:cs typeface="Times New Roman" panose="02020603050405020304" pitchFamily="18" charset="0"/>
              </a:rPr>
              <a:t>- Use a beam of electrons to form image. </a:t>
            </a:r>
          </a:p>
          <a:p>
            <a:r>
              <a:rPr lang="en-US" b="1" dirty="0" smtClean="0">
                <a:solidFill>
                  <a:srgbClr val="00B0F0"/>
                </a:solidFill>
                <a:latin typeface="&amp;quot"/>
                <a:cs typeface="Times New Roman" panose="02020603050405020304" pitchFamily="18" charset="0"/>
              </a:rPr>
              <a:t>                                          - Use electromagnetic lenses instead of glass lenses</a:t>
            </a:r>
          </a:p>
          <a:p>
            <a:r>
              <a:rPr lang="en-US" b="1" dirty="0">
                <a:solidFill>
                  <a:srgbClr val="00B0F0"/>
                </a:solidFill>
                <a:latin typeface="&amp;quot"/>
                <a:cs typeface="Times New Roman" panose="02020603050405020304" pitchFamily="18" charset="0"/>
              </a:rPr>
              <a:t> </a:t>
            </a:r>
            <a:r>
              <a:rPr lang="en-US" b="1" dirty="0" smtClean="0">
                <a:solidFill>
                  <a:srgbClr val="00B0F0"/>
                </a:solidFill>
                <a:latin typeface="&amp;quot"/>
                <a:cs typeface="Times New Roman" panose="02020603050405020304" pitchFamily="18" charset="0"/>
              </a:rPr>
              <a:t>                                         - Very high resolving power</a:t>
            </a:r>
          </a:p>
          <a:p>
            <a:r>
              <a:rPr lang="en-US" b="1" dirty="0">
                <a:solidFill>
                  <a:srgbClr val="00B0F0"/>
                </a:solidFill>
                <a:latin typeface="&amp;quot"/>
                <a:cs typeface="Times New Roman" panose="02020603050405020304" pitchFamily="18" charset="0"/>
              </a:rPr>
              <a:t> </a:t>
            </a:r>
            <a:r>
              <a:rPr lang="en-US" b="1" dirty="0" smtClean="0">
                <a:solidFill>
                  <a:srgbClr val="00B0F0"/>
                </a:solidFill>
                <a:latin typeface="&amp;quot"/>
                <a:cs typeface="Times New Roman" panose="02020603050405020304" pitchFamily="18" charset="0"/>
              </a:rPr>
              <a:t>                                         - Two types:</a:t>
            </a:r>
          </a:p>
          <a:p>
            <a:pPr marL="3589338" indent="-285750">
              <a:buFont typeface="Wingdings" panose="05000000000000000000" pitchFamily="2" charset="2"/>
              <a:buChar char="Ø"/>
            </a:pPr>
            <a:r>
              <a:rPr lang="en-US" b="1" dirty="0" smtClean="0">
                <a:solidFill>
                  <a:srgbClr val="C00000"/>
                </a:solidFill>
                <a:latin typeface="&amp;quot"/>
                <a:cs typeface="Times New Roman" panose="02020603050405020304" pitchFamily="18" charset="0"/>
              </a:rPr>
              <a:t>Transmission electron microscope (TEM):</a:t>
            </a:r>
          </a:p>
          <a:p>
            <a:pPr marL="3944938" indent="-95250">
              <a:buFont typeface="Courier New" panose="02070309020205020404" pitchFamily="49" charset="0"/>
              <a:buChar char="o"/>
            </a:pPr>
            <a:r>
              <a:rPr lang="en-US" b="1" dirty="0" smtClean="0">
                <a:solidFill>
                  <a:srgbClr val="00B0F0"/>
                </a:solidFill>
                <a:latin typeface="&amp;quot"/>
                <a:cs typeface="Times New Roman" panose="02020603050405020304" pitchFamily="18" charset="0"/>
              </a:rPr>
              <a:t>  Give ultrastructure of the cell        </a:t>
            </a:r>
          </a:p>
          <a:p>
            <a:pPr marL="4121150" indent="-258763">
              <a:buFont typeface="Courier New" panose="02070309020205020404" pitchFamily="49" charset="0"/>
              <a:buChar char="o"/>
            </a:pPr>
            <a:r>
              <a:rPr lang="en-US" b="1" dirty="0" smtClean="0">
                <a:solidFill>
                  <a:srgbClr val="00B0F0"/>
                </a:solidFill>
                <a:latin typeface="&amp;quot"/>
                <a:cs typeface="Times New Roman" panose="02020603050405020304" pitchFamily="18" charset="0"/>
              </a:rPr>
              <a:t>Give 2D image</a:t>
            </a:r>
          </a:p>
          <a:p>
            <a:pPr marL="4121150" indent="-258763">
              <a:buFont typeface="Courier New" panose="02070309020205020404" pitchFamily="49" charset="0"/>
              <a:buChar char="o"/>
            </a:pPr>
            <a:r>
              <a:rPr lang="en-US" b="1" dirty="0" smtClean="0">
                <a:solidFill>
                  <a:srgbClr val="00B0F0"/>
                </a:solidFill>
                <a:latin typeface="&amp;quot"/>
                <a:cs typeface="Times New Roman" panose="02020603050405020304" pitchFamily="18" charset="0"/>
              </a:rPr>
              <a:t>Total magnification (over  20 millions X)                                                                 </a:t>
            </a:r>
          </a:p>
          <a:p>
            <a:endParaRPr lang="en-US" b="1" dirty="0">
              <a:solidFill>
                <a:srgbClr val="3B3B3B"/>
              </a:solidFill>
              <a:latin typeface="&amp;quot"/>
              <a:cs typeface="Times New Roman" panose="02020603050405020304" pitchFamily="18" charset="0"/>
            </a:endParaRPr>
          </a:p>
          <a:p>
            <a:pPr marL="285750" indent="-285750">
              <a:buFont typeface="Wingdings" panose="05000000000000000000" pitchFamily="2" charset="2"/>
              <a:buChar char="v"/>
            </a:pPr>
            <a:endParaRPr lang="en-US" b="1" dirty="0">
              <a:solidFill>
                <a:srgbClr val="3B3B3B"/>
              </a:solidFill>
              <a:latin typeface="&amp;quot"/>
              <a:cs typeface="Times New Roman" panose="02020603050405020304" pitchFamily="18" charset="0"/>
            </a:endParaRPr>
          </a:p>
          <a:p>
            <a:endParaRPr lang="ar-JO" b="1" dirty="0"/>
          </a:p>
        </p:txBody>
      </p:sp>
    </p:spTree>
    <p:extLst>
      <p:ext uri="{BB962C8B-B14F-4D97-AF65-F5344CB8AC3E}">
        <p14:creationId xmlns:p14="http://schemas.microsoft.com/office/powerpoint/2010/main" val="5064760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upload.wikimedia.org/wikipedia/commons/thumb/c/c5/Electron_Microscope.jpg/170px-Electron_Microscope.jp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009934" y="1467401"/>
            <a:ext cx="3807726" cy="4496672"/>
          </a:xfrm>
          <a:prstGeom prst="rect">
            <a:avLst/>
          </a:prstGeom>
          <a:noFill/>
          <a:ln>
            <a:noFill/>
          </a:ln>
        </p:spPr>
      </p:pic>
      <p:pic>
        <p:nvPicPr>
          <p:cNvPr id="3" name="Picture 2" descr="https://upload.wikimedia.org/wikipedia/commons/thumb/3/35/Cytokinesis-electron-micrograph.jpg/220px-Cytokinesis-electron-micrograph.jpg">
            <a:hlinkClick r:id="rId4"/>
          </p:cNvPr>
          <p:cNvPicPr/>
          <p:nvPr/>
        </p:nvPicPr>
        <p:blipFill>
          <a:blip r:embed="rId5">
            <a:extLst>
              <a:ext uri="{28A0092B-C50C-407E-A947-70E740481C1C}">
                <a14:useLocalDpi xmlns:a14="http://schemas.microsoft.com/office/drawing/2010/main" val="0"/>
              </a:ext>
            </a:extLst>
          </a:blip>
          <a:srcRect/>
          <a:stretch>
            <a:fillRect/>
          </a:stretch>
        </p:blipFill>
        <p:spPr bwMode="auto">
          <a:xfrm>
            <a:off x="6359858" y="1473958"/>
            <a:ext cx="5049670" cy="3316406"/>
          </a:xfrm>
          <a:prstGeom prst="rect">
            <a:avLst/>
          </a:prstGeom>
          <a:noFill/>
          <a:ln>
            <a:noFill/>
          </a:ln>
        </p:spPr>
      </p:pic>
      <p:sp>
        <p:nvSpPr>
          <p:cNvPr id="4" name="Rectangle 3"/>
          <p:cNvSpPr/>
          <p:nvPr/>
        </p:nvSpPr>
        <p:spPr>
          <a:xfrm>
            <a:off x="6359858" y="4790364"/>
            <a:ext cx="5049670" cy="553357"/>
          </a:xfrm>
          <a:prstGeom prst="rect">
            <a:avLst/>
          </a:prstGeom>
        </p:spPr>
        <p:txBody>
          <a:bodyPr wrap="square">
            <a:spAutoFit/>
          </a:bodyPr>
          <a:lstStyle/>
          <a:p>
            <a:pPr algn="ctr">
              <a:lnSpc>
                <a:spcPct val="107000"/>
              </a:lnSpc>
              <a:spcAft>
                <a:spcPts val="0"/>
              </a:spcAft>
            </a:pPr>
            <a:r>
              <a:rPr lang="en-US" sz="1400" dirty="0">
                <a:solidFill>
                  <a:srgbClr val="000000"/>
                </a:solidFill>
                <a:latin typeface="Times New Roman" panose="02020603050405020304" pitchFamily="18" charset="0"/>
                <a:ea typeface="Times New Roman" panose="02020603050405020304" pitchFamily="18" charset="0"/>
              </a:rPr>
              <a:t>Transmission electron micrograph of a dividing cell undergoing cytokinesis</a:t>
            </a:r>
            <a:endParaRPr lang="en-US" sz="1400" b="1" dirty="0">
              <a:solidFill>
                <a:srgbClr val="000000"/>
              </a:solidFill>
              <a:latin typeface="Arial" panose="020B0604020202020204" pitchFamily="34" charset="0"/>
              <a:ea typeface="Calibri" panose="020F0502020204030204" pitchFamily="34" charset="0"/>
            </a:endParaRPr>
          </a:p>
        </p:txBody>
      </p:sp>
      <p:sp>
        <p:nvSpPr>
          <p:cNvPr id="5" name="Rectangle 4"/>
          <p:cNvSpPr/>
          <p:nvPr/>
        </p:nvSpPr>
        <p:spPr>
          <a:xfrm>
            <a:off x="4967785" y="6203173"/>
            <a:ext cx="671979" cy="368434"/>
          </a:xfrm>
          <a:prstGeom prst="rect">
            <a:avLst/>
          </a:prstGeom>
        </p:spPr>
        <p:txBody>
          <a:bodyPr wrap="none">
            <a:spAutoFit/>
          </a:bodyPr>
          <a:lstStyle/>
          <a:p>
            <a:pPr>
              <a:lnSpc>
                <a:spcPct val="107000"/>
              </a:lnSpc>
              <a:spcAft>
                <a:spcPts val="0"/>
              </a:spcAft>
            </a:pPr>
            <a:r>
              <a:rPr lang="en-US" dirty="0" smtClean="0">
                <a:solidFill>
                  <a:srgbClr val="000000"/>
                </a:solidFill>
                <a:latin typeface="Times New Roman" panose="02020603050405020304" pitchFamily="18" charset="0"/>
                <a:ea typeface="Times New Roman" panose="02020603050405020304" pitchFamily="18" charset="0"/>
              </a:rPr>
              <a:t>TEM</a:t>
            </a:r>
            <a:endParaRPr lang="en-US" b="1"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31424842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841" y="1408964"/>
            <a:ext cx="11491416" cy="2308324"/>
          </a:xfrm>
          <a:prstGeom prst="rect">
            <a:avLst/>
          </a:prstGeom>
        </p:spPr>
        <p:txBody>
          <a:bodyPr wrap="square">
            <a:spAutoFit/>
          </a:bodyPr>
          <a:lstStyle/>
          <a:p>
            <a:pPr marL="3589338">
              <a:buFont typeface="Wingdings" panose="05000000000000000000" pitchFamily="2" charset="2"/>
              <a:buChar char="Ø"/>
            </a:pPr>
            <a:r>
              <a:rPr lang="en-US" b="1" dirty="0" smtClean="0">
                <a:solidFill>
                  <a:srgbClr val="C00000"/>
                </a:solidFill>
                <a:latin typeface="&amp;quot"/>
                <a:cs typeface="Times New Roman" panose="02020603050405020304" pitchFamily="18" charset="0"/>
              </a:rPr>
              <a:t>  Scanning </a:t>
            </a:r>
            <a:r>
              <a:rPr lang="en-US" b="1" dirty="0">
                <a:solidFill>
                  <a:srgbClr val="C00000"/>
                </a:solidFill>
                <a:latin typeface="&amp;quot"/>
                <a:cs typeface="Times New Roman" panose="02020603050405020304" pitchFamily="18" charset="0"/>
              </a:rPr>
              <a:t>electron microscope </a:t>
            </a:r>
            <a:r>
              <a:rPr lang="en-US" b="1" dirty="0" smtClean="0">
                <a:solidFill>
                  <a:srgbClr val="C00000"/>
                </a:solidFill>
                <a:latin typeface="&amp;quot"/>
                <a:cs typeface="Times New Roman" panose="02020603050405020304" pitchFamily="18" charset="0"/>
              </a:rPr>
              <a:t>(SEM</a:t>
            </a:r>
            <a:r>
              <a:rPr lang="en-US" b="1" dirty="0">
                <a:solidFill>
                  <a:srgbClr val="C00000"/>
                </a:solidFill>
                <a:latin typeface="&amp;quot"/>
                <a:cs typeface="Times New Roman" panose="02020603050405020304" pitchFamily="18" charset="0"/>
              </a:rPr>
              <a:t>):</a:t>
            </a:r>
          </a:p>
          <a:p>
            <a:pPr marL="3944938" indent="-95250">
              <a:buFont typeface="Courier New" panose="02070309020205020404" pitchFamily="49" charset="0"/>
              <a:buChar char="o"/>
            </a:pPr>
            <a:r>
              <a:rPr lang="en-US" b="1" dirty="0">
                <a:solidFill>
                  <a:srgbClr val="00B0F0"/>
                </a:solidFill>
                <a:latin typeface="&amp;quot"/>
                <a:cs typeface="Times New Roman" panose="02020603050405020304" pitchFamily="18" charset="0"/>
              </a:rPr>
              <a:t>  Give </a:t>
            </a:r>
            <a:r>
              <a:rPr lang="en-US" b="1" dirty="0" smtClean="0">
                <a:solidFill>
                  <a:srgbClr val="00B0F0"/>
                </a:solidFill>
                <a:latin typeface="&amp;quot"/>
                <a:cs typeface="Times New Roman" panose="02020603050405020304" pitchFamily="18" charset="0"/>
              </a:rPr>
              <a:t>topography image for the surface of </a:t>
            </a:r>
            <a:r>
              <a:rPr lang="en-US" b="1" dirty="0">
                <a:solidFill>
                  <a:srgbClr val="00B0F0"/>
                </a:solidFill>
                <a:latin typeface="&amp;quot"/>
                <a:cs typeface="Times New Roman" panose="02020603050405020304" pitchFamily="18" charset="0"/>
              </a:rPr>
              <a:t>the cell        </a:t>
            </a:r>
          </a:p>
          <a:p>
            <a:pPr marL="4121150" indent="-258763">
              <a:buFont typeface="Courier New" panose="02070309020205020404" pitchFamily="49" charset="0"/>
              <a:buChar char="o"/>
            </a:pPr>
            <a:r>
              <a:rPr lang="en-US" b="1" dirty="0">
                <a:solidFill>
                  <a:srgbClr val="00B0F0"/>
                </a:solidFill>
                <a:latin typeface="&amp;quot"/>
                <a:cs typeface="Times New Roman" panose="02020603050405020304" pitchFamily="18" charset="0"/>
              </a:rPr>
              <a:t>Give </a:t>
            </a:r>
            <a:r>
              <a:rPr lang="en-US" b="1" dirty="0" smtClean="0">
                <a:solidFill>
                  <a:srgbClr val="00B0F0"/>
                </a:solidFill>
                <a:latin typeface="&amp;quot"/>
                <a:cs typeface="Times New Roman" panose="02020603050405020304" pitchFamily="18" charset="0"/>
              </a:rPr>
              <a:t>3D </a:t>
            </a:r>
            <a:r>
              <a:rPr lang="en-US" b="1" dirty="0">
                <a:solidFill>
                  <a:srgbClr val="00B0F0"/>
                </a:solidFill>
                <a:latin typeface="&amp;quot"/>
                <a:cs typeface="Times New Roman" panose="02020603050405020304" pitchFamily="18" charset="0"/>
              </a:rPr>
              <a:t>image</a:t>
            </a:r>
          </a:p>
          <a:p>
            <a:pPr marL="4121150" indent="-258763">
              <a:buFont typeface="Courier New" panose="02070309020205020404" pitchFamily="49" charset="0"/>
              <a:buChar char="o"/>
            </a:pPr>
            <a:r>
              <a:rPr lang="en-US" b="1" dirty="0">
                <a:solidFill>
                  <a:srgbClr val="00B0F0"/>
                </a:solidFill>
                <a:latin typeface="&amp;quot"/>
                <a:cs typeface="Times New Roman" panose="02020603050405020304" pitchFamily="18" charset="0"/>
              </a:rPr>
              <a:t>Total magnification (over  </a:t>
            </a:r>
            <a:r>
              <a:rPr lang="en-US" b="1" dirty="0" smtClean="0">
                <a:solidFill>
                  <a:srgbClr val="00B0F0"/>
                </a:solidFill>
                <a:latin typeface="&amp;quot"/>
                <a:cs typeface="Times New Roman" panose="02020603050405020304" pitchFamily="18" charset="0"/>
              </a:rPr>
              <a:t>20,000X</a:t>
            </a:r>
            <a:r>
              <a:rPr lang="en-US" b="1" dirty="0">
                <a:solidFill>
                  <a:srgbClr val="00B0F0"/>
                </a:solidFill>
                <a:latin typeface="&amp;quot"/>
                <a:cs typeface="Times New Roman" panose="02020603050405020304" pitchFamily="18" charset="0"/>
              </a:rPr>
              <a:t>) </a:t>
            </a:r>
          </a:p>
          <a:p>
            <a:pPr defTabSz="179388">
              <a:tabLst>
                <a:tab pos="723900" algn="l"/>
              </a:tabLst>
            </a:pPr>
            <a:endParaRPr lang="en-US" b="1" dirty="0" smtClean="0">
              <a:solidFill>
                <a:srgbClr val="FF0000"/>
              </a:solidFill>
              <a:latin typeface="&amp;quot"/>
              <a:cs typeface="Times New Roman" panose="02020603050405020304" pitchFamily="18" charset="0"/>
            </a:endParaRPr>
          </a:p>
          <a:p>
            <a:pPr indent="95250" defTabSz="179388">
              <a:tabLst>
                <a:tab pos="723900" algn="l"/>
              </a:tabLst>
            </a:pPr>
            <a:endParaRPr lang="en-US" b="1" dirty="0">
              <a:solidFill>
                <a:srgbClr val="00B0F0"/>
              </a:solidFill>
              <a:latin typeface="&amp;quot"/>
              <a:cs typeface="Times New Roman" panose="02020603050405020304" pitchFamily="18" charset="0"/>
            </a:endParaRPr>
          </a:p>
          <a:p>
            <a:pPr marL="69850">
              <a:tabLst>
                <a:tab pos="0" algn="l"/>
              </a:tabLst>
            </a:pPr>
            <a:r>
              <a:rPr lang="en-US" b="1" dirty="0" smtClean="0">
                <a:solidFill>
                  <a:srgbClr val="FF0000"/>
                </a:solidFill>
                <a:effectLst>
                  <a:outerShdw blurRad="38100" dist="38100" dir="2700000" algn="tl">
                    <a:srgbClr val="000000">
                      <a:alpha val="43137"/>
                    </a:srgbClr>
                  </a:outerShdw>
                </a:effectLst>
                <a:latin typeface="&amp;quot"/>
                <a:cs typeface="Times New Roman" panose="02020603050405020304" pitchFamily="18" charset="0"/>
              </a:rPr>
              <a:t>     </a:t>
            </a:r>
          </a:p>
          <a:p>
            <a:pPr marL="69850">
              <a:tabLst>
                <a:tab pos="0" algn="l"/>
              </a:tabLst>
            </a:pPr>
            <a:r>
              <a:rPr lang="en-US" b="1" dirty="0">
                <a:solidFill>
                  <a:srgbClr val="FF0000"/>
                </a:solidFill>
                <a:effectLst>
                  <a:outerShdw blurRad="38100" dist="38100" dir="2700000" algn="tl">
                    <a:srgbClr val="000000">
                      <a:alpha val="43137"/>
                    </a:srgbClr>
                  </a:outerShdw>
                </a:effectLst>
                <a:latin typeface="&amp;quot"/>
                <a:cs typeface="Times New Roman" panose="02020603050405020304" pitchFamily="18" charset="0"/>
              </a:rPr>
              <a:t> </a:t>
            </a:r>
            <a:r>
              <a:rPr lang="en-US" b="1" dirty="0" smtClean="0">
                <a:solidFill>
                  <a:srgbClr val="FF0000"/>
                </a:solidFill>
                <a:effectLst>
                  <a:outerShdw blurRad="38100" dist="38100" dir="2700000" algn="tl">
                    <a:srgbClr val="000000">
                      <a:alpha val="43137"/>
                    </a:srgbClr>
                  </a:outerShdw>
                </a:effectLst>
                <a:latin typeface="&amp;quot"/>
                <a:cs typeface="Times New Roman" panose="02020603050405020304" pitchFamily="18" charset="0"/>
              </a:rPr>
              <a:t>                                                                                                            </a:t>
            </a:r>
            <a:endParaRPr lang="en-US" b="1" dirty="0">
              <a:solidFill>
                <a:srgbClr val="FF0000"/>
              </a:solidFill>
              <a:effectLst>
                <a:outerShdw blurRad="38100" dist="38100" dir="2700000" algn="tl">
                  <a:srgbClr val="000000">
                    <a:alpha val="43137"/>
                  </a:srgbClr>
                </a:outerShdw>
              </a:effectLst>
              <a:latin typeface="&amp;quot"/>
              <a:cs typeface="Times New Roman" panose="02020603050405020304" pitchFamily="18" charset="0"/>
            </a:endParaRPr>
          </a:p>
        </p:txBody>
      </p:sp>
      <p:pic>
        <p:nvPicPr>
          <p:cNvPr id="5" name="Picture 4" descr="https://upload.wikimedia.org/wikipedia/commons/thumb/7/7c/Leaf_epidermis.jpg/220px-Leaf_epidermis.jp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4653886" y="2825086"/>
            <a:ext cx="5172502" cy="3821373"/>
          </a:xfrm>
          <a:prstGeom prst="rect">
            <a:avLst/>
          </a:prstGeom>
          <a:noFill/>
          <a:ln>
            <a:noFill/>
          </a:ln>
        </p:spPr>
      </p:pic>
      <p:sp>
        <p:nvSpPr>
          <p:cNvPr id="6" name="Rectangle 5"/>
          <p:cNvSpPr/>
          <p:nvPr/>
        </p:nvSpPr>
        <p:spPr>
          <a:xfrm>
            <a:off x="771969" y="5579787"/>
            <a:ext cx="3724096" cy="646331"/>
          </a:xfrm>
          <a:prstGeom prst="rect">
            <a:avLst/>
          </a:prstGeom>
        </p:spPr>
        <p:txBody>
          <a:bodyPr wrap="none">
            <a:spAutoFit/>
          </a:bodyPr>
          <a:lstStyle/>
          <a:p>
            <a:pPr algn="ctr"/>
            <a:r>
              <a:rPr lang="en-US" dirty="0">
                <a:latin typeface="Arial" panose="020B0604020202020204" pitchFamily="34" charset="0"/>
                <a:ea typeface="Times New Roman" panose="02020603050405020304" pitchFamily="18" charset="0"/>
                <a:cs typeface="Arial" panose="020B0604020202020204" pitchFamily="34" charset="0"/>
              </a:rPr>
              <a:t>Leaf surface viewed by a </a:t>
            </a:r>
            <a:r>
              <a:rPr lang="en-US" dirty="0" smtClean="0">
                <a:latin typeface="Arial" panose="020B0604020202020204" pitchFamily="34" charset="0"/>
                <a:ea typeface="Times New Roman" panose="02020603050405020304" pitchFamily="18" charset="0"/>
                <a:cs typeface="Arial" panose="020B0604020202020204" pitchFamily="34" charset="0"/>
              </a:rPr>
              <a:t>scanning</a:t>
            </a:r>
          </a:p>
          <a:p>
            <a:pPr algn="ctr"/>
            <a:r>
              <a:rPr lang="en-US" dirty="0" smtClean="0">
                <a:latin typeface="Arial" panose="020B0604020202020204" pitchFamily="34" charset="0"/>
                <a:ea typeface="Times New Roman" panose="02020603050405020304" pitchFamily="18" charset="0"/>
                <a:cs typeface="Arial" panose="020B0604020202020204" pitchFamily="34" charset="0"/>
              </a:rPr>
              <a:t> </a:t>
            </a:r>
            <a:r>
              <a:rPr lang="en-US" dirty="0">
                <a:latin typeface="Arial" panose="020B0604020202020204" pitchFamily="34" charset="0"/>
                <a:ea typeface="Times New Roman" panose="02020603050405020304" pitchFamily="18" charset="0"/>
                <a:cs typeface="Arial" panose="020B0604020202020204" pitchFamily="34" charset="0"/>
              </a:rPr>
              <a:t>electron microscope</a:t>
            </a:r>
            <a:endParaRPr lang="ar-JO"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40686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7672" y="1997839"/>
            <a:ext cx="11054686" cy="2031325"/>
          </a:xfrm>
          <a:prstGeom prst="rect">
            <a:avLst/>
          </a:prstGeom>
        </p:spPr>
        <p:txBody>
          <a:bodyPr wrap="square">
            <a:spAutoFit/>
          </a:bodyPr>
          <a:lstStyle/>
          <a:p>
            <a:pPr marL="450850">
              <a:tabLst>
                <a:tab pos="0" algn="l"/>
              </a:tabLst>
            </a:pPr>
            <a:endParaRPr lang="en-US" b="1" dirty="0">
              <a:solidFill>
                <a:srgbClr val="00B0F0"/>
              </a:solidFill>
              <a:latin typeface="&amp;quot"/>
              <a:cs typeface="Times New Roman" panose="02020603050405020304" pitchFamily="18" charset="0"/>
            </a:endParaRPr>
          </a:p>
          <a:p>
            <a:pPr marL="355600" indent="-285750">
              <a:buFont typeface="Wingdings" panose="05000000000000000000" pitchFamily="2" charset="2"/>
              <a:buChar char="v"/>
              <a:tabLst>
                <a:tab pos="0" algn="l"/>
              </a:tabLst>
            </a:pPr>
            <a:r>
              <a:rPr lang="en-US" b="1" dirty="0">
                <a:solidFill>
                  <a:srgbClr val="FF0000"/>
                </a:solidFill>
                <a:effectLst>
                  <a:outerShdw blurRad="38100" dist="38100" dir="2700000" algn="tl">
                    <a:srgbClr val="000000">
                      <a:alpha val="43137"/>
                    </a:srgbClr>
                  </a:outerShdw>
                </a:effectLst>
                <a:latin typeface="&amp;quot"/>
                <a:cs typeface="Times New Roman" panose="02020603050405020304" pitchFamily="18" charset="0"/>
              </a:rPr>
              <a:t> </a:t>
            </a:r>
            <a:r>
              <a:rPr lang="en-US" b="1" dirty="0">
                <a:solidFill>
                  <a:srgbClr val="FF0000"/>
                </a:solidFill>
                <a:latin typeface="&amp;quot"/>
                <a:cs typeface="Times New Roman" panose="02020603050405020304" pitchFamily="18" charset="0"/>
              </a:rPr>
              <a:t>X-ray Microscope </a:t>
            </a:r>
            <a:r>
              <a:rPr lang="en-US" b="1" dirty="0">
                <a:solidFill>
                  <a:srgbClr val="FF0000"/>
                </a:solidFill>
                <a:effectLst>
                  <a:outerShdw blurRad="38100" dist="38100" dir="2700000" algn="tl">
                    <a:srgbClr val="000000">
                      <a:alpha val="43137"/>
                    </a:srgbClr>
                  </a:outerShdw>
                </a:effectLst>
                <a:latin typeface="&amp;quot"/>
                <a:cs typeface="Times New Roman" panose="02020603050405020304" pitchFamily="18" charset="0"/>
              </a:rPr>
              <a:t>:</a:t>
            </a:r>
          </a:p>
          <a:p>
            <a:pPr marL="69850">
              <a:tabLst>
                <a:tab pos="0" algn="l"/>
              </a:tabLst>
            </a:pPr>
            <a:r>
              <a:rPr lang="en-US" b="1" dirty="0">
                <a:solidFill>
                  <a:srgbClr val="00B0F0"/>
                </a:solidFill>
                <a:effectLst>
                  <a:outerShdw blurRad="38100" dist="38100" dir="2700000" algn="tl">
                    <a:srgbClr val="000000">
                      <a:alpha val="43137"/>
                    </a:srgbClr>
                  </a:outerShdw>
                </a:effectLst>
                <a:latin typeface="&amp;quot"/>
                <a:cs typeface="Times New Roman" panose="02020603050405020304" pitchFamily="18" charset="0"/>
              </a:rPr>
              <a:t>                                       </a:t>
            </a:r>
            <a:r>
              <a:rPr lang="en-US" b="1" dirty="0">
                <a:solidFill>
                  <a:srgbClr val="00B0F0"/>
                </a:solidFill>
                <a:latin typeface="&amp;quot"/>
                <a:cs typeface="Times New Roman" panose="02020603050405020304" pitchFamily="18" charset="0"/>
              </a:rPr>
              <a:t>- Use a beam</a:t>
            </a:r>
            <a:r>
              <a:rPr lang="en-US" b="1" dirty="0">
                <a:solidFill>
                  <a:srgbClr val="FF0000"/>
                </a:solidFill>
                <a:latin typeface="&amp;quot"/>
                <a:cs typeface="Times New Roman" panose="02020603050405020304" pitchFamily="18" charset="0"/>
              </a:rPr>
              <a:t> </a:t>
            </a:r>
            <a:r>
              <a:rPr lang="en-US" b="1" dirty="0">
                <a:solidFill>
                  <a:srgbClr val="00B0F0"/>
                </a:solidFill>
                <a:latin typeface="&amp;quot"/>
                <a:cs typeface="Times New Roman" panose="02020603050405020304" pitchFamily="18" charset="0"/>
              </a:rPr>
              <a:t>of X-rays to create image</a:t>
            </a:r>
          </a:p>
          <a:p>
            <a:pPr marL="69850">
              <a:tabLst>
                <a:tab pos="0" algn="l"/>
              </a:tabLst>
            </a:pPr>
            <a:r>
              <a:rPr lang="en-US" b="1" dirty="0">
                <a:solidFill>
                  <a:srgbClr val="00B0F0"/>
                </a:solidFill>
                <a:latin typeface="&amp;quot"/>
                <a:cs typeface="Times New Roman" panose="02020603050405020304" pitchFamily="18" charset="0"/>
              </a:rPr>
              <a:t>                                       - Resolution higher than that in optical microscope</a:t>
            </a:r>
          </a:p>
          <a:p>
            <a:pPr marL="69850">
              <a:tabLst>
                <a:tab pos="0" algn="l"/>
              </a:tabLst>
            </a:pPr>
            <a:endParaRPr lang="en-US" b="1" dirty="0">
              <a:solidFill>
                <a:srgbClr val="00B0F0"/>
              </a:solidFill>
              <a:latin typeface="&amp;quot"/>
              <a:cs typeface="Times New Roman" panose="02020603050405020304" pitchFamily="18" charset="0"/>
            </a:endParaRPr>
          </a:p>
          <a:p>
            <a:pPr marL="412750" indent="-342900">
              <a:buFont typeface="Wingdings" panose="05000000000000000000" pitchFamily="2" charset="2"/>
              <a:buChar char="v"/>
              <a:tabLst>
                <a:tab pos="0" algn="l"/>
              </a:tabLst>
            </a:pPr>
            <a:r>
              <a:rPr lang="en-US" b="1" dirty="0">
                <a:solidFill>
                  <a:srgbClr val="FF0000"/>
                </a:solidFill>
                <a:latin typeface="&amp;quot"/>
                <a:cs typeface="Times New Roman" panose="02020603050405020304" pitchFamily="18" charset="0"/>
              </a:rPr>
              <a:t>Scanning Acoustic Microscope:</a:t>
            </a:r>
          </a:p>
          <a:p>
            <a:pPr marL="900113" indent="1706563">
              <a:tabLst>
                <a:tab pos="723900" algn="l"/>
              </a:tabLst>
            </a:pPr>
            <a:r>
              <a:rPr lang="en-US" b="1" dirty="0">
                <a:solidFill>
                  <a:srgbClr val="00B0F0"/>
                </a:solidFill>
                <a:latin typeface="&amp;quot"/>
                <a:cs typeface="Times New Roman" panose="02020603050405020304" pitchFamily="18" charset="0"/>
              </a:rPr>
              <a:t>- Employs sound waves to create image</a:t>
            </a:r>
          </a:p>
        </p:txBody>
      </p:sp>
    </p:spTree>
    <p:extLst>
      <p:ext uri="{BB962C8B-B14F-4D97-AF65-F5344CB8AC3E}">
        <p14:creationId xmlns:p14="http://schemas.microsoft.com/office/powerpoint/2010/main" val="14670740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036" y="705851"/>
            <a:ext cx="11109276" cy="369332"/>
          </a:xfrm>
          <a:prstGeom prst="rect">
            <a:avLst/>
          </a:prstGeom>
        </p:spPr>
        <p:txBody>
          <a:bodyPr wrap="square">
            <a:spAutoFit/>
          </a:bodyPr>
          <a:lstStyle/>
          <a:p>
            <a:r>
              <a:rPr lang="en-US" b="1" dirty="0" smtClean="0">
                <a:solidFill>
                  <a:srgbClr val="FF0000"/>
                </a:solidFill>
                <a:latin typeface="Arial" panose="020B0604020202020204" pitchFamily="34" charset="0"/>
              </a:rPr>
              <a:t>DURING USING OF THE MICROSCOPE YOU MUST TAKE CARE ABOUT THE FOOLOWINGS:</a:t>
            </a:r>
            <a:endParaRPr lang="ar-JO" dirty="0">
              <a:solidFill>
                <a:srgbClr val="FF0000"/>
              </a:solidFill>
            </a:endParaRPr>
          </a:p>
        </p:txBody>
      </p:sp>
      <p:sp>
        <p:nvSpPr>
          <p:cNvPr id="5" name="Rectangle 4"/>
          <p:cNvSpPr/>
          <p:nvPr/>
        </p:nvSpPr>
        <p:spPr>
          <a:xfrm>
            <a:off x="477672" y="1378424"/>
            <a:ext cx="11327640" cy="369332"/>
          </a:xfrm>
          <a:prstGeom prst="rect">
            <a:avLst/>
          </a:prstGeom>
        </p:spPr>
        <p:txBody>
          <a:bodyPr wrap="square">
            <a:spAutoFit/>
          </a:bodyPr>
          <a:lstStyle/>
          <a:p>
            <a:pPr marL="285750" indent="-285750">
              <a:buFont typeface="Arial" panose="020B0604020202020204" pitchFamily="34" charset="0"/>
              <a:buChar char="•"/>
            </a:pPr>
            <a:endParaRPr lang="ar-JO" dirty="0"/>
          </a:p>
        </p:txBody>
      </p:sp>
      <p:sp>
        <p:nvSpPr>
          <p:cNvPr id="7" name="Rectangle 6"/>
          <p:cNvSpPr/>
          <p:nvPr/>
        </p:nvSpPr>
        <p:spPr>
          <a:xfrm>
            <a:off x="477672" y="1378424"/>
            <a:ext cx="11109276" cy="4524315"/>
          </a:xfrm>
          <a:prstGeom prst="rect">
            <a:avLst/>
          </a:prstGeom>
        </p:spPr>
        <p:txBody>
          <a:bodyPr wrap="square">
            <a:spAutoFit/>
          </a:bodyPr>
          <a:lstStyle/>
          <a:p>
            <a:pPr marL="285750"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ALWAYS </a:t>
            </a:r>
            <a:r>
              <a:rPr lang="en-US" b="1" dirty="0">
                <a:latin typeface="Arial" panose="020B0604020202020204" pitchFamily="34" charset="0"/>
                <a:cs typeface="Arial" panose="020B0604020202020204" pitchFamily="34" charset="0"/>
              </a:rPr>
              <a:t>CARRY THE MICROSCOPE </a:t>
            </a:r>
            <a:r>
              <a:rPr lang="en-US" b="1" dirty="0" smtClean="0">
                <a:latin typeface="Arial" panose="020B0604020202020204" pitchFamily="34" charset="0"/>
                <a:cs typeface="Arial" panose="020B0604020202020204" pitchFamily="34" charset="0"/>
              </a:rPr>
              <a:t>WITH </a:t>
            </a:r>
            <a:r>
              <a:rPr lang="en-US" b="1" dirty="0">
                <a:latin typeface="Arial" panose="020B0604020202020204" pitchFamily="34" charset="0"/>
                <a:cs typeface="Arial" panose="020B0604020202020204" pitchFamily="34" charset="0"/>
              </a:rPr>
              <a:t>TWO HANDS, ONE </a:t>
            </a:r>
            <a:r>
              <a:rPr lang="en-US" b="1" dirty="0" smtClean="0">
                <a:latin typeface="Arial" panose="020B0604020202020204" pitchFamily="34" charset="0"/>
                <a:cs typeface="Arial" panose="020B0604020202020204" pitchFamily="34" charset="0"/>
              </a:rPr>
              <a:t>UNDER THE </a:t>
            </a:r>
            <a:r>
              <a:rPr lang="en-US" b="1" dirty="0">
                <a:latin typeface="Arial" panose="020B0604020202020204" pitchFamily="34" charset="0"/>
                <a:cs typeface="Arial" panose="020B0604020202020204" pitchFamily="34" charset="0"/>
              </a:rPr>
              <a:t>BASE, THE OTHER </a:t>
            </a:r>
            <a:r>
              <a:rPr lang="en-US" b="1" dirty="0" smtClean="0">
                <a:latin typeface="Arial" panose="020B0604020202020204" pitchFamily="34" charset="0"/>
                <a:cs typeface="Arial" panose="020B0604020202020204" pitchFamily="34" charset="0"/>
              </a:rPr>
              <a:t>HOLD </a:t>
            </a:r>
            <a:r>
              <a:rPr lang="en-US" b="1" dirty="0">
                <a:latin typeface="Arial" panose="020B0604020202020204" pitchFamily="34" charset="0"/>
                <a:cs typeface="Arial" panose="020B0604020202020204" pitchFamily="34" charset="0"/>
              </a:rPr>
              <a:t>THE ARM, </a:t>
            </a:r>
            <a:r>
              <a:rPr lang="en-US" b="1" dirty="0" smtClean="0">
                <a:latin typeface="Arial" panose="020B0604020202020204" pitchFamily="34" charset="0"/>
                <a:cs typeface="Arial" panose="020B0604020202020204" pitchFamily="34" charset="0"/>
              </a:rPr>
              <a:t>AND </a:t>
            </a:r>
            <a:r>
              <a:rPr lang="en-US" b="1" dirty="0">
                <a:latin typeface="Arial" panose="020B0604020202020204" pitchFamily="34" charset="0"/>
                <a:cs typeface="Arial" panose="020B0604020202020204" pitchFamily="34" charset="0"/>
              </a:rPr>
              <a:t>THE MICROSCOPE</a:t>
            </a:r>
            <a:r>
              <a:rPr lang="en-US" b="1" dirty="0" smtClean="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MUST BE UPRIGHT PARALLEL TO YOUR </a:t>
            </a:r>
            <a:r>
              <a:rPr lang="en-US" b="1" dirty="0" smtClean="0">
                <a:latin typeface="Arial" panose="020B0604020202020204" pitchFamily="34" charset="0"/>
                <a:cs typeface="Arial" panose="020B0604020202020204" pitchFamily="34" charset="0"/>
              </a:rPr>
              <a:t>BODY.</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PUT THE MICROSCOPE GENTLY ON THE BENCH AND AWAY FROM THE EDGES.</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DO </a:t>
            </a:r>
            <a:r>
              <a:rPr lang="en-US" b="1" dirty="0">
                <a:latin typeface="Arial" panose="020B0604020202020204" pitchFamily="34" charset="0"/>
                <a:cs typeface="Arial" panose="020B0604020202020204" pitchFamily="34" charset="0"/>
              </a:rPr>
              <a:t>NOT DRAG OR SHOVE THE MICROSCOPE ACROSS THE LAB </a:t>
            </a:r>
            <a:r>
              <a:rPr lang="en-US" b="1" dirty="0" smtClean="0">
                <a:latin typeface="Arial" panose="020B0604020202020204" pitchFamily="34" charset="0"/>
                <a:cs typeface="Arial" panose="020B0604020202020204" pitchFamily="34" charset="0"/>
              </a:rPr>
              <a:t>BENCH.</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b="1" dirty="0">
                <a:latin typeface="Arial" panose="020B0604020202020204" pitchFamily="34" charset="0"/>
                <a:cs typeface="Arial" panose="020B0604020202020204" pitchFamily="34" charset="0"/>
              </a:rPr>
              <a:t>SWITCH ON/OFF THE MICROSCOPE FROM THE MICROSCOPIC SWITCH, NOT FROM THE MAIN </a:t>
            </a:r>
            <a:endParaRPr lang="en-US" b="1" dirty="0" smtClean="0">
              <a:latin typeface="Arial" panose="020B0604020202020204" pitchFamily="34" charset="0"/>
              <a:cs typeface="Arial" panose="020B0604020202020204" pitchFamily="34" charset="0"/>
            </a:endParaRPr>
          </a:p>
          <a:p>
            <a:pPr lvl="0"/>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ELECTIC </a:t>
            </a:r>
            <a:r>
              <a:rPr lang="en-US" b="1" dirty="0">
                <a:latin typeface="Arial" panose="020B0604020202020204" pitchFamily="34" charset="0"/>
                <a:cs typeface="Arial" panose="020B0604020202020204" pitchFamily="34" charset="0"/>
              </a:rPr>
              <a:t>SWITCH</a:t>
            </a:r>
            <a:r>
              <a:rPr lang="en-US" b="1" dirty="0" smtClean="0">
                <a:latin typeface="Arial" panose="020B0604020202020204" pitchFamily="34" charset="0"/>
                <a:cs typeface="Arial" panose="020B0604020202020204" pitchFamily="34" charset="0"/>
              </a:rPr>
              <a:t>.</a:t>
            </a:r>
          </a:p>
          <a:p>
            <a:pPr marL="285750" lvl="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CLEAN THE MICROSCOPE BEFORE AND AFTER USE IT ONLY BY LENS PAPER.</a:t>
            </a:r>
          </a:p>
          <a:p>
            <a:pPr lvl="0"/>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 The first for all optical parts of the microscope EXCEPT oil immersion lens, starting </a:t>
            </a:r>
          </a:p>
          <a:p>
            <a:pPr lvl="0"/>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from eyepiece, objectives, condenser, then light source.</a:t>
            </a:r>
          </a:p>
          <a:p>
            <a:pPr lvl="0"/>
            <a:endParaRPr lang="en-US" b="1" dirty="0" smtClean="0">
              <a:latin typeface="Arial" panose="020B0604020202020204" pitchFamily="34" charset="0"/>
              <a:cs typeface="Arial" panose="020B0604020202020204" pitchFamily="34" charset="0"/>
            </a:endParaRPr>
          </a:p>
          <a:p>
            <a:pPr lvl="0"/>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 The second for oil immersion lens only.</a:t>
            </a: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ar-JO"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89166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2138" y="1477303"/>
            <a:ext cx="11409528" cy="3693319"/>
          </a:xfrm>
          <a:prstGeom prst="rect">
            <a:avLst/>
          </a:prstGeom>
        </p:spPr>
        <p:txBody>
          <a:bodyPr wrap="square">
            <a:spAutoFit/>
          </a:bodyPr>
          <a:lstStyle/>
          <a:p>
            <a:pPr marL="285750" lvl="0" indent="-285750">
              <a:buFont typeface="Arial" panose="020B0604020202020204" pitchFamily="34" charset="0"/>
              <a:buChar char="•"/>
            </a:pPr>
            <a:r>
              <a:rPr lang="en-US" b="1" dirty="0" smtClean="0">
                <a:solidFill>
                  <a:srgbClr val="FF0000"/>
                </a:solidFill>
                <a:latin typeface="Arial" panose="020B0604020202020204" pitchFamily="34" charset="0"/>
                <a:cs typeface="Arial" panose="020B0604020202020204" pitchFamily="34" charset="0"/>
              </a:rPr>
              <a:t>At the end of using the microscope do the followings:</a:t>
            </a:r>
          </a:p>
          <a:p>
            <a:pPr marL="285750" lvl="0" indent="-285750">
              <a:buFont typeface="Arial" panose="020B0604020202020204" pitchFamily="34" charset="0"/>
              <a:buChar char="•"/>
            </a:pPr>
            <a:endParaRPr lang="en-US" b="1" dirty="0">
              <a:solidFill>
                <a:srgbClr val="FF0000"/>
              </a:solidFill>
              <a:latin typeface="Arial" panose="020B0604020202020204" pitchFamily="34" charset="0"/>
              <a:cs typeface="Arial" panose="020B0604020202020204" pitchFamily="34" charset="0"/>
            </a:endParaRPr>
          </a:p>
          <a:p>
            <a:pPr marL="1895475" lvl="0" indent="-285750">
              <a:buFont typeface="Wingdings" panose="05000000000000000000" pitchFamily="2" charset="2"/>
              <a:buChar char="ü"/>
            </a:pPr>
            <a:r>
              <a:rPr lang="en-US" b="1" dirty="0" smtClean="0">
                <a:latin typeface="Arial" panose="020B0604020202020204" pitchFamily="34" charset="0"/>
                <a:cs typeface="Arial" panose="020B0604020202020204" pitchFamily="34" charset="0"/>
              </a:rPr>
              <a:t>Clean the microscope</a:t>
            </a:r>
          </a:p>
          <a:p>
            <a:pPr marL="1895475" lvl="0" indent="-285750">
              <a:buFont typeface="Wingdings" panose="05000000000000000000" pitchFamily="2" charset="2"/>
              <a:buChar char="ü"/>
            </a:pPr>
            <a:endParaRPr lang="en-US" b="1" dirty="0">
              <a:latin typeface="Arial" panose="020B0604020202020204" pitchFamily="34" charset="0"/>
              <a:cs typeface="Arial" panose="020B0604020202020204" pitchFamily="34" charset="0"/>
            </a:endParaRPr>
          </a:p>
          <a:p>
            <a:pPr marL="1895475" lvl="0" indent="-285750">
              <a:buFont typeface="Wingdings" panose="05000000000000000000" pitchFamily="2" charset="2"/>
              <a:buChar char="ü"/>
            </a:pPr>
            <a:r>
              <a:rPr lang="en-US" b="1" dirty="0" smtClean="0">
                <a:latin typeface="Arial" panose="020B0604020202020204" pitchFamily="34" charset="0"/>
                <a:cs typeface="Arial" panose="020B0604020202020204" pitchFamily="34" charset="0"/>
              </a:rPr>
              <a:t>Lower the stage to the lowest point</a:t>
            </a:r>
          </a:p>
          <a:p>
            <a:pPr marL="1895475" lvl="0" indent="-285750">
              <a:buFont typeface="Wingdings" panose="05000000000000000000" pitchFamily="2" charset="2"/>
              <a:buChar char="ü"/>
            </a:pPr>
            <a:endParaRPr lang="en-US" b="1" dirty="0">
              <a:latin typeface="Arial" panose="020B0604020202020204" pitchFamily="34" charset="0"/>
              <a:cs typeface="Arial" panose="020B0604020202020204" pitchFamily="34" charset="0"/>
            </a:endParaRPr>
          </a:p>
          <a:p>
            <a:pPr marL="1895475" lvl="0" indent="-285750">
              <a:buFont typeface="Wingdings" panose="05000000000000000000" pitchFamily="2" charset="2"/>
              <a:buChar char="ü"/>
            </a:pPr>
            <a:r>
              <a:rPr lang="en-US" b="1" dirty="0" smtClean="0">
                <a:latin typeface="Arial" panose="020B0604020202020204" pitchFamily="34" charset="0"/>
                <a:cs typeface="Arial" panose="020B0604020202020204" pitchFamily="34" charset="0"/>
              </a:rPr>
              <a:t>Put the scanning objective lens (4X) at the position (over the condenser)</a:t>
            </a:r>
          </a:p>
          <a:p>
            <a:pPr marL="1895475" lvl="0" indent="-285750">
              <a:buFont typeface="Wingdings" panose="05000000000000000000" pitchFamily="2" charset="2"/>
              <a:buChar char="ü"/>
            </a:pPr>
            <a:endParaRPr lang="en-US" b="1" dirty="0">
              <a:latin typeface="Arial" panose="020B0604020202020204" pitchFamily="34" charset="0"/>
              <a:cs typeface="Arial" panose="020B0604020202020204" pitchFamily="34" charset="0"/>
            </a:endParaRPr>
          </a:p>
          <a:p>
            <a:pPr marL="1895475" lvl="0" indent="-285750">
              <a:buFont typeface="Wingdings" panose="05000000000000000000" pitchFamily="2" charset="2"/>
              <a:buChar char="ü"/>
            </a:pPr>
            <a:r>
              <a:rPr lang="en-US" b="1" dirty="0" smtClean="0">
                <a:latin typeface="Arial" panose="020B0604020202020204" pitchFamily="34" charset="0"/>
                <a:cs typeface="Arial" panose="020B0604020202020204" pitchFamily="34" charset="0"/>
              </a:rPr>
              <a:t>Tie the electric wire around the arm in a tidy way.</a:t>
            </a:r>
          </a:p>
          <a:p>
            <a:pPr marL="1895475" lvl="0" indent="-285750">
              <a:buFont typeface="Wingdings" panose="05000000000000000000" pitchFamily="2" charset="2"/>
              <a:buChar char="ü"/>
            </a:pPr>
            <a:endParaRPr lang="en-US" b="1" dirty="0">
              <a:latin typeface="Arial" panose="020B0604020202020204" pitchFamily="34" charset="0"/>
              <a:cs typeface="Arial" panose="020B0604020202020204" pitchFamily="34" charset="0"/>
            </a:endParaRPr>
          </a:p>
          <a:p>
            <a:pPr marL="1895475" lvl="0" indent="-285750">
              <a:buFont typeface="Wingdings" panose="05000000000000000000" pitchFamily="2" charset="2"/>
              <a:buChar char="ü"/>
            </a:pPr>
            <a:r>
              <a:rPr lang="en-US" b="1" dirty="0" smtClean="0">
                <a:latin typeface="Arial" panose="020B0604020202020204" pitchFamily="34" charset="0"/>
                <a:cs typeface="Arial" panose="020B0604020202020204" pitchFamily="34" charset="0"/>
              </a:rPr>
              <a:t>Return the microscope to the cabinet</a:t>
            </a:r>
          </a:p>
          <a:p>
            <a:pPr marL="1895475" lvl="0" indent="-285750">
              <a:buFont typeface="Wingdings" panose="05000000000000000000" pitchFamily="2" charset="2"/>
              <a:buChar char="ü"/>
            </a:pPr>
            <a:endParaRPr lang="en-US" b="1" dirty="0">
              <a:latin typeface="Arial" panose="020B0604020202020204" pitchFamily="34" charset="0"/>
              <a:cs typeface="Arial" panose="020B0604020202020204" pitchFamily="34" charset="0"/>
            </a:endParaRPr>
          </a:p>
          <a:p>
            <a:pPr marL="1895475" lvl="0" indent="-285750">
              <a:buFont typeface="Wingdings" panose="05000000000000000000" pitchFamily="2" charset="2"/>
              <a:buChar char="ü"/>
            </a:pPr>
            <a:r>
              <a:rPr lang="en-US" b="1" dirty="0" smtClean="0">
                <a:latin typeface="Arial" panose="020B0604020202020204" pitchFamily="34" charset="0"/>
                <a:cs typeface="Arial" panose="020B0604020202020204" pitchFamily="34" charset="0"/>
              </a:rPr>
              <a:t>Put the microscope in the cabinet in such a way that the microscopic arm faced out.       </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88540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9433" y="726222"/>
            <a:ext cx="11491415" cy="460704"/>
          </a:xfrm>
          <a:prstGeom prst="rect">
            <a:avLst/>
          </a:prstGeom>
        </p:spPr>
        <p:txBody>
          <a:bodyPr wrap="square">
            <a:spAutoFit/>
          </a:bodyPr>
          <a:lstStyle/>
          <a:p>
            <a:pPr algn="ctr">
              <a:lnSpc>
                <a:spcPct val="105000"/>
              </a:lnSpc>
              <a:spcBef>
                <a:spcPts val="1200"/>
              </a:spcBef>
            </a:pPr>
            <a:r>
              <a:rPr lang="en-US" sz="2400" b="1" dirty="0">
                <a:solidFill>
                  <a:srgbClr val="FF0000"/>
                </a:solidFill>
                <a:latin typeface="Agency FB" panose="020B0503020202020204" pitchFamily="34" charset="0"/>
                <a:ea typeface="PMingLiU"/>
                <a:cs typeface="Arial" panose="020B0604020202020204" pitchFamily="34" charset="0"/>
              </a:rPr>
              <a:t>Parts of the compound microscope (Student Microscope):</a:t>
            </a:r>
            <a:endParaRPr lang="en-US" sz="2400" dirty="0">
              <a:solidFill>
                <a:srgbClr val="FF0000"/>
              </a:solidFill>
              <a:latin typeface="Calibri" panose="020F0502020204030204" pitchFamily="34" charset="0"/>
              <a:ea typeface="PMingLiU"/>
              <a:cs typeface="Arial" panose="020B0604020202020204" pitchFamily="34" charset="0"/>
            </a:endParaRPr>
          </a:p>
        </p:txBody>
      </p:sp>
      <p:sp>
        <p:nvSpPr>
          <p:cNvPr id="5" name="Rectangle 4"/>
          <p:cNvSpPr/>
          <p:nvPr/>
        </p:nvSpPr>
        <p:spPr>
          <a:xfrm>
            <a:off x="932581" y="3237409"/>
            <a:ext cx="10326866" cy="808106"/>
          </a:xfrm>
          <a:prstGeom prst="rect">
            <a:avLst/>
          </a:prstGeom>
        </p:spPr>
        <p:txBody>
          <a:bodyPr wrap="none">
            <a:spAutoFit/>
          </a:bodyPr>
          <a:lstStyle/>
          <a:p>
            <a:pPr algn="just">
              <a:lnSpc>
                <a:spcPct val="105000"/>
              </a:lnSpc>
              <a:spcBef>
                <a:spcPts val="1200"/>
              </a:spcBef>
            </a:pPr>
            <a:r>
              <a:rPr lang="en-US" b="1" u="sng" dirty="0" smtClean="0">
                <a:solidFill>
                  <a:srgbClr val="00B0F0"/>
                </a:solidFill>
                <a:latin typeface="Agency FB" panose="020B0503020202020204" pitchFamily="34" charset="0"/>
                <a:ea typeface="PMingLiU"/>
                <a:cs typeface="Arial" panose="020B0604020202020204" pitchFamily="34" charset="0"/>
              </a:rPr>
              <a:t>THE INSTRUCTOR MUST SHOW THE PARTS OF THE COMPOUND MICROSCOPE PRACTICALLY TO THE STUDENTS </a:t>
            </a:r>
            <a:r>
              <a:rPr lang="en-US" b="1" u="sng" dirty="0">
                <a:solidFill>
                  <a:srgbClr val="00B0F0"/>
                </a:solidFill>
                <a:latin typeface="Agency FB" panose="020B0503020202020204" pitchFamily="34" charset="0"/>
                <a:ea typeface="PMingLiU"/>
                <a:cs typeface="Arial" panose="020B0604020202020204" pitchFamily="34" charset="0"/>
              </a:rPr>
              <a:t>WITH THEIR FUNCTION </a:t>
            </a:r>
            <a:endParaRPr lang="en-US" b="1" u="sng" dirty="0" smtClean="0">
              <a:solidFill>
                <a:srgbClr val="00B0F0"/>
              </a:solidFill>
              <a:latin typeface="Agency FB" panose="020B0503020202020204" pitchFamily="34" charset="0"/>
              <a:ea typeface="PMingLiU"/>
              <a:cs typeface="Arial" panose="020B0604020202020204" pitchFamily="34" charset="0"/>
            </a:endParaRPr>
          </a:p>
          <a:p>
            <a:pPr algn="ctr">
              <a:lnSpc>
                <a:spcPct val="105000"/>
              </a:lnSpc>
              <a:spcBef>
                <a:spcPts val="1200"/>
              </a:spcBef>
            </a:pPr>
            <a:r>
              <a:rPr lang="en-US" b="1" u="sng" dirty="0" smtClean="0">
                <a:solidFill>
                  <a:srgbClr val="00B0F0"/>
                </a:solidFill>
                <a:latin typeface="Agency FB" panose="020B0503020202020204" pitchFamily="34" charset="0"/>
                <a:ea typeface="PMingLiU"/>
                <a:cs typeface="Arial" panose="020B0604020202020204" pitchFamily="34" charset="0"/>
              </a:rPr>
              <a:t>AS </a:t>
            </a:r>
            <a:r>
              <a:rPr lang="en-US" sz="1600" b="1" u="sng" dirty="0" smtClean="0">
                <a:solidFill>
                  <a:srgbClr val="00B0F0"/>
                </a:solidFill>
                <a:effectLst/>
                <a:latin typeface="Agency FB" panose="020B0503020202020204" pitchFamily="34" charset="0"/>
                <a:ea typeface="PMingLiU"/>
                <a:cs typeface="Arial" panose="020B0604020202020204" pitchFamily="34" charset="0"/>
              </a:rPr>
              <a:t>IN THE FOLLOWING PICTURE</a:t>
            </a:r>
            <a:endParaRPr lang="en-US" sz="1600" dirty="0">
              <a:solidFill>
                <a:srgbClr val="00B0F0"/>
              </a:solidFill>
              <a:effectLst/>
              <a:latin typeface="Calibri" panose="020F0502020204030204" pitchFamily="34" charset="0"/>
              <a:ea typeface="PMingLiU"/>
              <a:cs typeface="Arial" panose="020B0604020202020204" pitchFamily="34" charset="0"/>
            </a:endParaRPr>
          </a:p>
        </p:txBody>
      </p:sp>
    </p:spTree>
    <p:extLst>
      <p:ext uri="{BB962C8B-B14F-4D97-AF65-F5344CB8AC3E}">
        <p14:creationId xmlns:p14="http://schemas.microsoft.com/office/powerpoint/2010/main" val="5628979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6296" y="1214651"/>
            <a:ext cx="6342600" cy="5431809"/>
          </a:xfrm>
          <a:prstGeom prst="rect">
            <a:avLst/>
          </a:prstGeom>
        </p:spPr>
      </p:pic>
      <p:sp>
        <p:nvSpPr>
          <p:cNvPr id="23" name="Rectangle 22"/>
          <p:cNvSpPr/>
          <p:nvPr/>
        </p:nvSpPr>
        <p:spPr>
          <a:xfrm>
            <a:off x="245660" y="637611"/>
            <a:ext cx="11529022" cy="369332"/>
          </a:xfrm>
          <a:prstGeom prst="rect">
            <a:avLst/>
          </a:prstGeom>
        </p:spPr>
        <p:txBody>
          <a:bodyPr wrap="square">
            <a:spAutoFit/>
          </a:bodyPr>
          <a:lstStyle/>
          <a:p>
            <a:pPr algn="ct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Parts of the Compound Microscope</a:t>
            </a:r>
            <a:endParaRPr lang="ar-JO" b="1" dirty="0">
              <a:solidFill>
                <a:srgbClr val="FF0000"/>
              </a:solidFill>
            </a:endParaRPr>
          </a:p>
        </p:txBody>
      </p:sp>
    </p:spTree>
    <p:extLst>
      <p:ext uri="{BB962C8B-B14F-4D97-AF65-F5344CB8AC3E}">
        <p14:creationId xmlns:p14="http://schemas.microsoft.com/office/powerpoint/2010/main" val="17647565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440661" y="1469548"/>
            <a:ext cx="10983132" cy="2806922"/>
          </a:xfrm>
          <a:prstGeom prst="rect">
            <a:avLst/>
          </a:prstGeom>
        </p:spPr>
        <p:txBody>
          <a:bodyPr wrap="square">
            <a:spAutoFit/>
          </a:bodyPr>
          <a:lstStyle>
            <a:lvl1pPr algn="l" defTabSz="914400" rtl="1" eaLnBrk="1" latinLnBrk="0" hangingPunct="1">
              <a:lnSpc>
                <a:spcPct val="90000"/>
              </a:lnSpc>
              <a:spcBef>
                <a:spcPct val="0"/>
              </a:spcBef>
              <a:buNone/>
              <a:defRPr lang="en-US" sz="2800" kern="1200">
                <a:solidFill>
                  <a:schemeClr val="bg2">
                    <a:lumMod val="25000"/>
                  </a:schemeClr>
                </a:solidFill>
                <a:latin typeface="+mj-lt"/>
                <a:ea typeface="+mj-ea"/>
                <a:cs typeface="+mj-cs"/>
              </a:defRPr>
            </a:lvl1pPr>
          </a:lstStyle>
          <a:p>
            <a:pPr algn="ct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Objective lenses:</a:t>
            </a:r>
          </a:p>
          <a:p>
            <a:pPr algn="ctr"/>
            <a:endParaRPr lang="en-US" b="1" dirty="0" smtClean="0">
              <a:solidFill>
                <a:srgbClr val="FF0000"/>
              </a:solidFill>
              <a:effectLst>
                <a:outerShdw blurRad="38100" dist="38100" dir="2700000" algn="tl">
                  <a:srgbClr val="000000">
                    <a:alpha val="43137"/>
                  </a:srgbClr>
                </a:outerShdw>
              </a:effectLst>
              <a:latin typeface="Georgia" panose="02040502050405020303" pitchFamily="18" charset="0"/>
              <a:ea typeface="Times New Roman" panose="02020603050405020304" pitchFamily="18" charset="0"/>
              <a:cs typeface="Times New Roman" panose="02020603050405020304" pitchFamily="18" charset="0"/>
            </a:endParaRPr>
          </a:p>
          <a:p>
            <a:pPr marL="457200" indent="-184150" rtl="0">
              <a:buFont typeface="Arial" panose="020B0604020202020204" pitchFamily="34" charset="0"/>
              <a:buChar char="•"/>
            </a:pPr>
            <a:r>
              <a:rPr lang="en-US" b="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Dry objective lenses: Scanning (4X), 10X, 40X</a:t>
            </a:r>
          </a:p>
          <a:p>
            <a:pPr marL="457200" indent="-184150" rtl="0">
              <a:buFont typeface="Arial" panose="020B0604020202020204" pitchFamily="34" charset="0"/>
              <a:buChar char="•"/>
            </a:pPr>
            <a:endParaRPr lang="en-US"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457200" indent="-184150" rtl="0">
              <a:buFont typeface="Arial" panose="020B0604020202020204" pitchFamily="34" charset="0"/>
              <a:buChar char="•"/>
            </a:pPr>
            <a:r>
              <a:rPr lang="en-US" b="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Wet objective lens: may be one or two (100X)</a:t>
            </a:r>
          </a:p>
          <a:p>
            <a:pPr algn="ctr"/>
            <a:r>
              <a:rPr lang="en-US" b="1" dirty="0" smtClean="0">
                <a:solidFill>
                  <a:srgbClr val="FF0000"/>
                </a:solidFill>
                <a:latin typeface="Georgia" panose="02040502050405020303" pitchFamily="18" charset="0"/>
                <a:cs typeface="Times New Roman" panose="02020603050405020304" pitchFamily="18" charset="0"/>
              </a:rPr>
              <a:t> </a:t>
            </a:r>
            <a:endParaRPr lang="en-US" b="1" dirty="0">
              <a:solidFill>
                <a:srgbClr val="FF0000"/>
              </a:solidFill>
              <a:latin typeface="Georgia" panose="02040502050405020303" pitchFamily="18" charset="0"/>
              <a:cs typeface="Times New Roman" panose="02020603050405020304" pitchFamily="18" charset="0"/>
            </a:endParaRPr>
          </a:p>
          <a:p>
            <a:pPr marL="457200" indent="-457200">
              <a:buFont typeface="Arial" panose="020B0604020202020204" pitchFamily="34" charset="0"/>
              <a:buChar char="•"/>
            </a:pPr>
            <a:endParaRPr lang="en-US"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727826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4434" y="582444"/>
            <a:ext cx="10983132" cy="480131"/>
          </a:xfrm>
          <a:prstGeom prst="rect">
            <a:avLst/>
          </a:prstGeom>
        </p:spPr>
        <p:txBody>
          <a:bodyPr wrap="square">
            <a:spAutoFit/>
          </a:bodyPr>
          <a:lstStyle/>
          <a:p>
            <a:pPr algn="ct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Parts of the Dissecting Microscope</a:t>
            </a:r>
            <a:endParaRPr lang="ar-JO" b="1" dirty="0">
              <a:solidFill>
                <a:srgbClr val="FF0000"/>
              </a:solidFill>
            </a:endParaRPr>
          </a:p>
        </p:txBody>
      </p:sp>
      <p:pic>
        <p:nvPicPr>
          <p:cNvPr id="5" name="Picture 4"/>
          <p:cNvPicPr>
            <a:picLocks noChangeAspect="1"/>
          </p:cNvPicPr>
          <p:nvPr/>
        </p:nvPicPr>
        <p:blipFill>
          <a:blip r:embed="rId2"/>
          <a:stretch>
            <a:fillRect/>
          </a:stretch>
        </p:blipFill>
        <p:spPr>
          <a:xfrm>
            <a:off x="3452443" y="1276763"/>
            <a:ext cx="5287113" cy="5287113"/>
          </a:xfrm>
          <a:prstGeom prst="rect">
            <a:avLst/>
          </a:prstGeom>
        </p:spPr>
      </p:pic>
    </p:spTree>
    <p:extLst>
      <p:ext uri="{BB962C8B-B14F-4D97-AF65-F5344CB8AC3E}">
        <p14:creationId xmlns:p14="http://schemas.microsoft.com/office/powerpoint/2010/main" val="38961651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660" y="637611"/>
            <a:ext cx="11529022" cy="369332"/>
          </a:xfrm>
          <a:prstGeom prst="rect">
            <a:avLst/>
          </a:prstGeom>
        </p:spPr>
        <p:txBody>
          <a:bodyPr wrap="square">
            <a:spAutoFit/>
          </a:bodyPr>
          <a:lstStyle/>
          <a:p>
            <a:pPr algn="ct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Viewing of a specimen under Compound Microscope</a:t>
            </a:r>
            <a:endParaRPr lang="ar-JO" b="1" dirty="0">
              <a:solidFill>
                <a:srgbClr val="FF0000"/>
              </a:solidFill>
            </a:endParaRPr>
          </a:p>
        </p:txBody>
      </p:sp>
      <p:sp>
        <p:nvSpPr>
          <p:cNvPr id="5" name="Rectangle 4"/>
          <p:cNvSpPr/>
          <p:nvPr/>
        </p:nvSpPr>
        <p:spPr>
          <a:xfrm>
            <a:off x="245660" y="1567933"/>
            <a:ext cx="11655188" cy="3693319"/>
          </a:xfrm>
          <a:prstGeom prst="rect">
            <a:avLst/>
          </a:prstGeom>
        </p:spPr>
        <p:txBody>
          <a:bodyPr wrap="square">
            <a:spAutoFit/>
          </a:bodyPr>
          <a:lstStyle/>
          <a:p>
            <a:pPr marL="285750" indent="-285750">
              <a:buFont typeface="Wingdings" panose="05000000000000000000" pitchFamily="2" charset="2"/>
              <a:buChar char="Ø"/>
            </a:pPr>
            <a:r>
              <a:rPr lang="en-US" b="1" dirty="0" smtClean="0">
                <a:solidFill>
                  <a:srgbClr val="FF0000"/>
                </a:solidFill>
                <a:latin typeface="Arial" panose="020B0604020202020204" pitchFamily="34" charset="0"/>
                <a:cs typeface="Arial" panose="020B0604020202020204" pitchFamily="34" charset="0"/>
              </a:rPr>
              <a:t>The instructor should show the students practically How to focus the specimen under the Microscope.</a:t>
            </a:r>
          </a:p>
          <a:p>
            <a:pPr marL="285750" indent="-285750">
              <a:buFont typeface="Wingdings" panose="05000000000000000000" pitchFamily="2" charset="2"/>
              <a:buChar char="Ø"/>
            </a:pPr>
            <a:endParaRPr lang="en-US" b="1" dirty="0">
              <a:solidFill>
                <a:srgbClr val="FF000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smtClean="0">
                <a:solidFill>
                  <a:srgbClr val="FF0000"/>
                </a:solidFill>
                <a:latin typeface="Arial" panose="020B0604020202020204" pitchFamily="34" charset="0"/>
                <a:cs typeface="Arial" panose="020B0604020202020204" pitchFamily="34" charset="0"/>
              </a:rPr>
              <a:t>During focusing the specimen you must take care about the following:</a:t>
            </a:r>
          </a:p>
          <a:p>
            <a:pPr marL="285750" indent="-285750">
              <a:buFont typeface="Wingdings" panose="05000000000000000000" pitchFamily="2" charset="2"/>
              <a:buChar char="Ø"/>
            </a:pPr>
            <a:endParaRPr lang="en-US" b="1" dirty="0">
              <a:solidFill>
                <a:srgbClr val="FF0000"/>
              </a:solidFill>
              <a:latin typeface="Arial" panose="020B0604020202020204" pitchFamily="34" charset="0"/>
              <a:cs typeface="Arial" panose="020B0604020202020204" pitchFamily="34" charset="0"/>
            </a:endParaRPr>
          </a:p>
          <a:p>
            <a:pPr marL="531813"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Fix the slide by stage clip</a:t>
            </a:r>
          </a:p>
          <a:p>
            <a:pPr marL="531813"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Put the light spot at the center of the specimen</a:t>
            </a:r>
          </a:p>
          <a:p>
            <a:pPr marL="531813"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Lower the stage to the lowest position</a:t>
            </a:r>
          </a:p>
          <a:p>
            <a:pPr marL="531813"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Start with the lowest light intensity</a:t>
            </a:r>
          </a:p>
          <a:p>
            <a:pPr marL="531813"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Start with scanning objective lens (4X)</a:t>
            </a:r>
          </a:p>
          <a:p>
            <a:pPr marL="531813"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After you see the image under certain lens move the slide by adobe knob to check if what you see</a:t>
            </a:r>
          </a:p>
          <a:p>
            <a:pPr marL="246063"/>
            <a:r>
              <a:rPr lang="en-US" b="1" dirty="0" smtClean="0">
                <a:latin typeface="Arial" panose="020B0604020202020204" pitchFamily="34" charset="0"/>
                <a:cs typeface="Arial" panose="020B0604020202020204" pitchFamily="34" charset="0"/>
              </a:rPr>
              <a:t>     is the image of the specimen and to center the specimen</a:t>
            </a:r>
            <a:endParaRPr lang="en-US" b="1" dirty="0">
              <a:latin typeface="Arial" panose="020B0604020202020204" pitchFamily="34" charset="0"/>
              <a:cs typeface="Arial" panose="020B0604020202020204" pitchFamily="34" charset="0"/>
            </a:endParaRPr>
          </a:p>
          <a:p>
            <a:pPr marL="531813" indent="-285750">
              <a:buFont typeface="Arial" panose="020B0604020202020204" pitchFamily="34" charset="0"/>
              <a:buChar char="•"/>
            </a:pPr>
            <a:r>
              <a:rPr lang="en-US" b="1" dirty="0" smtClean="0">
                <a:latin typeface="Arial" panose="020B0604020202020204" pitchFamily="34" charset="0"/>
                <a:cs typeface="Arial" panose="020B0604020202020204" pitchFamily="34" charset="0"/>
              </a:rPr>
              <a:t> Don’t lower the stage from the starting point of focusing up to seeing the image under oil immersion    </a:t>
            </a:r>
            <a:endParaRPr lang="ar-JO"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32582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784" y="2156347"/>
            <a:ext cx="4312693" cy="3291158"/>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5898" y="2265528"/>
            <a:ext cx="5663254" cy="3289111"/>
          </a:xfrm>
          <a:prstGeom prst="rect">
            <a:avLst/>
          </a:prstGeom>
        </p:spPr>
      </p:pic>
      <p:sp>
        <p:nvSpPr>
          <p:cNvPr id="5" name="Title 2"/>
          <p:cNvSpPr txBox="1">
            <a:spLocks/>
          </p:cNvSpPr>
          <p:nvPr/>
        </p:nvSpPr>
        <p:spPr>
          <a:xfrm>
            <a:off x="604434" y="582444"/>
            <a:ext cx="10983132" cy="480131"/>
          </a:xfrm>
          <a:prstGeom prst="rect">
            <a:avLst/>
          </a:prstGeom>
        </p:spPr>
        <p:txBody>
          <a:bodyPr wrap="square">
            <a:spAutoFit/>
          </a:bodyPr>
          <a:lstStyle>
            <a:lvl1pPr algn="l" defTabSz="914400" rtl="1" eaLnBrk="1" latinLnBrk="0" hangingPunct="1">
              <a:lnSpc>
                <a:spcPct val="90000"/>
              </a:lnSpc>
              <a:spcBef>
                <a:spcPct val="0"/>
              </a:spcBef>
              <a:buNone/>
              <a:defRPr lang="en-US" sz="2800" kern="1200">
                <a:solidFill>
                  <a:schemeClr val="bg2">
                    <a:lumMod val="25000"/>
                  </a:schemeClr>
                </a:solidFill>
                <a:latin typeface="+mj-lt"/>
                <a:ea typeface="+mj-ea"/>
                <a:cs typeface="+mj-cs"/>
              </a:defRPr>
            </a:lvl1pPr>
          </a:lstStyle>
          <a:p>
            <a:pPr algn="ctr"/>
            <a:r>
              <a:rPr lang="en-US" b="1" dirty="0" err="1"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Ameoba</a:t>
            </a:r>
            <a:endParaRPr lang="en-US" b="1" dirty="0">
              <a:solidFill>
                <a:srgbClr val="FF0000"/>
              </a:solidFill>
            </a:endParaRPr>
          </a:p>
        </p:txBody>
      </p:sp>
    </p:spTree>
    <p:extLst>
      <p:ext uri="{BB962C8B-B14F-4D97-AF65-F5344CB8AC3E}">
        <p14:creationId xmlns:p14="http://schemas.microsoft.com/office/powerpoint/2010/main" val="10470132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5660" y="637611"/>
            <a:ext cx="11529022" cy="369332"/>
          </a:xfrm>
          <a:prstGeom prst="rect">
            <a:avLst/>
          </a:prstGeom>
        </p:spPr>
        <p:txBody>
          <a:bodyPr wrap="square">
            <a:spAutoFit/>
          </a:bodyPr>
          <a:lstStyle/>
          <a:p>
            <a:pPr algn="ct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Preparation for a wet mount of letter “ e “</a:t>
            </a:r>
            <a:endParaRPr lang="ar-JO" b="1" dirty="0">
              <a:solidFill>
                <a:srgbClr val="FF0000"/>
              </a:solidFill>
            </a:endParaRPr>
          </a:p>
        </p:txBody>
      </p:sp>
      <p:pic>
        <p:nvPicPr>
          <p:cNvPr id="5" name="Picture 4"/>
          <p:cNvPicPr>
            <a:picLocks noChangeAspect="1"/>
          </p:cNvPicPr>
          <p:nvPr/>
        </p:nvPicPr>
        <p:blipFill>
          <a:blip r:embed="rId2"/>
          <a:stretch>
            <a:fillRect/>
          </a:stretch>
        </p:blipFill>
        <p:spPr>
          <a:xfrm>
            <a:off x="2583414" y="1130569"/>
            <a:ext cx="7084166" cy="5511262"/>
          </a:xfrm>
          <a:prstGeom prst="rect">
            <a:avLst/>
          </a:prstGeom>
        </p:spPr>
      </p:pic>
    </p:spTree>
    <p:extLst>
      <p:ext uri="{BB962C8B-B14F-4D97-AF65-F5344CB8AC3E}">
        <p14:creationId xmlns:p14="http://schemas.microsoft.com/office/powerpoint/2010/main" val="18054859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2866030" y="5003654"/>
            <a:ext cx="6523630" cy="369332"/>
          </a:xfrm>
          <a:prstGeom prst="rect">
            <a:avLst/>
          </a:prstGeom>
        </p:spPr>
        <p:txBody>
          <a:bodyPr wrap="square">
            <a:spAutoFit/>
          </a:bodyPr>
          <a:lstStyle/>
          <a:p>
            <a:r>
              <a:rPr lang="en-US" b="1" dirty="0" smtClean="0">
                <a:solidFill>
                  <a:srgbClr val="FF0000"/>
                </a:solidFill>
                <a:latin typeface="Arial" panose="020B0604020202020204" pitchFamily="34" charset="0"/>
                <a:ea typeface="Times New Roman" panose="02020603050405020304" pitchFamily="18" charset="0"/>
                <a:cs typeface="Arial" panose="020B0604020202020204" pitchFamily="34" charset="0"/>
              </a:rPr>
              <a:t>        40 X                             100 X                          400X</a:t>
            </a:r>
            <a:endParaRPr lang="ar-JO" b="1" dirty="0">
              <a:solidFill>
                <a:srgbClr val="FF0000"/>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432" y="3886412"/>
            <a:ext cx="647613" cy="480871"/>
          </a:xfrm>
          <a:prstGeom prst="rect">
            <a:avLst/>
          </a:prstGeom>
        </p:spPr>
      </p:pic>
      <p:sp>
        <p:nvSpPr>
          <p:cNvPr id="4" name="Right Arrow 3"/>
          <p:cNvSpPr/>
          <p:nvPr/>
        </p:nvSpPr>
        <p:spPr>
          <a:xfrm>
            <a:off x="1241946" y="3942602"/>
            <a:ext cx="627797" cy="3684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sp>
        <p:nvSpPr>
          <p:cNvPr id="5" name="AutoShape 3" descr="Image result for letter e under microscope">
            <a:hlinkClick r:id="rId3"/>
          </p:cNvPr>
          <p:cNvSpPr>
            <a:spLocks noChangeAspect="1" noChangeArrowheads="1"/>
          </p:cNvSpPr>
          <p:nvPr/>
        </p:nvSpPr>
        <p:spPr bwMode="auto">
          <a:xfrm>
            <a:off x="92075"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JO"/>
          </a:p>
        </p:txBody>
      </p:sp>
      <p:sp>
        <p:nvSpPr>
          <p:cNvPr id="6" name="AutoShape 5" descr="Image result for letter e under microscope">
            <a:hlinkClick r:id="rId3"/>
          </p:cNvPr>
          <p:cNvSpPr>
            <a:spLocks noChangeAspect="1" noChangeArrowheads="1"/>
          </p:cNvSpPr>
          <p:nvPr/>
        </p:nvSpPr>
        <p:spPr bwMode="auto">
          <a:xfrm>
            <a:off x="244475"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JO"/>
          </a:p>
        </p:txBody>
      </p:sp>
      <p:sp>
        <p:nvSpPr>
          <p:cNvPr id="7" name="AutoShape 7" descr="Image result for letter e under microscope">
            <a:hlinkClick r:id="rId4"/>
          </p:cNvPr>
          <p:cNvSpPr>
            <a:spLocks noChangeAspect="1" noChangeArrowheads="1"/>
          </p:cNvSpPr>
          <p:nvPr/>
        </p:nvSpPr>
        <p:spPr bwMode="auto">
          <a:xfrm>
            <a:off x="3910547" y="3138985"/>
            <a:ext cx="1577055" cy="159145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JO"/>
          </a:p>
        </p:txBody>
      </p:sp>
      <p:pic>
        <p:nvPicPr>
          <p:cNvPr id="11" name="Picture 10"/>
          <p:cNvPicPr>
            <a:picLocks noChangeAspect="1"/>
          </p:cNvPicPr>
          <p:nvPr/>
        </p:nvPicPr>
        <p:blipFill>
          <a:blip r:embed="rId5"/>
          <a:stretch>
            <a:fillRect/>
          </a:stretch>
        </p:blipFill>
        <p:spPr>
          <a:xfrm>
            <a:off x="5215631" y="3156433"/>
            <a:ext cx="1561781" cy="1596957"/>
          </a:xfrm>
          <a:prstGeom prst="rect">
            <a:avLst/>
          </a:prstGeom>
        </p:spPr>
      </p:pic>
      <p:pic>
        <p:nvPicPr>
          <p:cNvPr id="13" name="Picture 12"/>
          <p:cNvPicPr>
            <a:picLocks noChangeAspect="1"/>
          </p:cNvPicPr>
          <p:nvPr/>
        </p:nvPicPr>
        <p:blipFill>
          <a:blip r:embed="rId6"/>
          <a:stretch>
            <a:fillRect/>
          </a:stretch>
        </p:blipFill>
        <p:spPr>
          <a:xfrm>
            <a:off x="3013237" y="3135567"/>
            <a:ext cx="1639466" cy="1669005"/>
          </a:xfrm>
          <a:prstGeom prst="rect">
            <a:avLst/>
          </a:prstGeom>
        </p:spPr>
      </p:pic>
      <p:pic>
        <p:nvPicPr>
          <p:cNvPr id="14" name="Picture 13"/>
          <p:cNvPicPr>
            <a:picLocks noChangeAspect="1"/>
          </p:cNvPicPr>
          <p:nvPr/>
        </p:nvPicPr>
        <p:blipFill>
          <a:blip r:embed="rId7"/>
          <a:stretch>
            <a:fillRect/>
          </a:stretch>
        </p:blipFill>
        <p:spPr>
          <a:xfrm>
            <a:off x="7393747" y="3135567"/>
            <a:ext cx="1627424" cy="1594876"/>
          </a:xfrm>
          <a:prstGeom prst="rect">
            <a:avLst/>
          </a:prstGeom>
        </p:spPr>
      </p:pic>
      <p:sp>
        <p:nvSpPr>
          <p:cNvPr id="15" name="Rectangle 14"/>
          <p:cNvSpPr/>
          <p:nvPr/>
        </p:nvSpPr>
        <p:spPr>
          <a:xfrm>
            <a:off x="329754" y="4726655"/>
            <a:ext cx="2067148" cy="553998"/>
          </a:xfrm>
          <a:prstGeom prst="rect">
            <a:avLst/>
          </a:prstGeom>
        </p:spPr>
        <p:txBody>
          <a:bodyPr wrap="square">
            <a:spAutoFit/>
          </a:bodyPr>
          <a:lstStyle/>
          <a:p>
            <a:pPr algn="ctr"/>
            <a:r>
              <a:rPr lang="en-US" sz="1000"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Put letter </a:t>
            </a:r>
            <a:r>
              <a:rPr lang="en-US" sz="1000" b="1" dirty="0">
                <a:solidFill>
                  <a:srgbClr val="FF0000"/>
                </a:solidFill>
                <a:latin typeface="Georgia" panose="02040502050405020303" pitchFamily="18" charset="0"/>
                <a:ea typeface="Times New Roman" panose="02020603050405020304" pitchFamily="18" charset="0"/>
                <a:cs typeface="Times New Roman" panose="02020603050405020304" pitchFamily="18" charset="0"/>
              </a:rPr>
              <a:t>“ e </a:t>
            </a:r>
            <a:r>
              <a:rPr lang="en-US" sz="1000"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a:t>
            </a:r>
          </a:p>
          <a:p>
            <a:pPr algn="ctr"/>
            <a:r>
              <a:rPr lang="en-US" sz="1000" b="1" dirty="0" smtClean="0">
                <a:solidFill>
                  <a:srgbClr val="FF0000"/>
                </a:solidFill>
                <a:latin typeface="Georgia" panose="02040502050405020303" pitchFamily="18" charset="0"/>
                <a:cs typeface="Times New Roman" panose="02020603050405020304" pitchFamily="18" charset="0"/>
              </a:rPr>
              <a:t>Under the microscope in a readable way</a:t>
            </a:r>
            <a:endParaRPr lang="ar-JO" sz="1000" b="1" dirty="0">
              <a:solidFill>
                <a:srgbClr val="FF0000"/>
              </a:solidFill>
            </a:endParaRPr>
          </a:p>
        </p:txBody>
      </p:sp>
      <p:sp>
        <p:nvSpPr>
          <p:cNvPr id="16" name="Rectangle 15"/>
          <p:cNvSpPr/>
          <p:nvPr/>
        </p:nvSpPr>
        <p:spPr>
          <a:xfrm>
            <a:off x="1057045" y="1979231"/>
            <a:ext cx="8097118" cy="1200329"/>
          </a:xfrm>
          <a:prstGeom prst="rect">
            <a:avLst/>
          </a:prstGeom>
        </p:spPr>
        <p:txBody>
          <a:bodyPr wrap="square">
            <a:spAutoFit/>
          </a:bodyPr>
          <a:lstStyle/>
          <a:p>
            <a:r>
              <a:rPr lang="en-US" b="1" dirty="0" smtClean="0">
                <a:latin typeface="Georgia" panose="02040502050405020303" pitchFamily="18" charset="0"/>
                <a:ea typeface="Times New Roman" panose="02020603050405020304" pitchFamily="18" charset="0"/>
                <a:cs typeface="Times New Roman" panose="02020603050405020304" pitchFamily="18" charset="0"/>
              </a:rPr>
              <a:t>Take care about the following when you the letter “e”</a:t>
            </a:r>
          </a:p>
          <a:p>
            <a:pPr marL="285750" indent="-285750">
              <a:buFont typeface="Wingdings" panose="05000000000000000000" pitchFamily="2" charset="2"/>
              <a:buChar char="§"/>
            </a:pPr>
            <a:r>
              <a:rPr lang="en-US" b="1" dirty="0" smtClean="0">
                <a:latin typeface="Georgia" panose="02040502050405020303" pitchFamily="18" charset="0"/>
                <a:ea typeface="Times New Roman" panose="02020603050405020304" pitchFamily="18" charset="0"/>
                <a:cs typeface="Times New Roman" panose="02020603050405020304" pitchFamily="18" charset="0"/>
              </a:rPr>
              <a:t>Magnification</a:t>
            </a:r>
          </a:p>
          <a:p>
            <a:pPr marL="285750" indent="-285750">
              <a:buFont typeface="Wingdings" panose="05000000000000000000" pitchFamily="2" charset="2"/>
              <a:buChar char="§"/>
            </a:pPr>
            <a:r>
              <a:rPr lang="en-US" b="1" dirty="0" smtClean="0">
                <a:latin typeface="Georgia" panose="02040502050405020303" pitchFamily="18" charset="0"/>
                <a:ea typeface="Times New Roman" panose="02020603050405020304" pitchFamily="18" charset="0"/>
                <a:cs typeface="Times New Roman" panose="02020603050405020304" pitchFamily="18" charset="0"/>
              </a:rPr>
              <a:t>Inverted upside down  </a:t>
            </a:r>
          </a:p>
          <a:p>
            <a:pPr marL="285750" indent="-285750">
              <a:buFont typeface="Wingdings" panose="05000000000000000000" pitchFamily="2" charset="2"/>
              <a:buChar char="§"/>
            </a:pPr>
            <a:r>
              <a:rPr lang="en-US" b="1" dirty="0" smtClean="0">
                <a:latin typeface="Georgia" panose="02040502050405020303" pitchFamily="18" charset="0"/>
                <a:cs typeface="Times New Roman" panose="02020603050405020304" pitchFamily="18" charset="0"/>
              </a:rPr>
              <a:t>Resolving power</a:t>
            </a:r>
            <a:endParaRPr lang="ar-JO" b="1" dirty="0"/>
          </a:p>
        </p:txBody>
      </p:sp>
      <p:sp>
        <p:nvSpPr>
          <p:cNvPr id="17" name="Rectangle 16"/>
          <p:cNvSpPr/>
          <p:nvPr/>
        </p:nvSpPr>
        <p:spPr>
          <a:xfrm>
            <a:off x="439002" y="1567934"/>
            <a:ext cx="11419841" cy="369332"/>
          </a:xfrm>
          <a:prstGeom prst="rect">
            <a:avLst/>
          </a:prstGeom>
        </p:spPr>
        <p:txBody>
          <a:bodyPr wrap="square">
            <a:spAutoFit/>
          </a:bodyPr>
          <a:lstStyle/>
          <a:p>
            <a:pPr algn="ct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Preparation for a wet mount of letter “ e “</a:t>
            </a:r>
            <a:endParaRPr lang="ar-JO" b="1" dirty="0">
              <a:solidFill>
                <a:srgbClr val="FF0000"/>
              </a:solidFill>
            </a:endParaRPr>
          </a:p>
        </p:txBody>
      </p:sp>
    </p:spTree>
    <p:extLst>
      <p:ext uri="{BB962C8B-B14F-4D97-AF65-F5344CB8AC3E}">
        <p14:creationId xmlns:p14="http://schemas.microsoft.com/office/powerpoint/2010/main" val="23191151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8628"/>
            <a:ext cx="2758870" cy="3219450"/>
          </a:xfrm>
          <a:prstGeom prst="rect">
            <a:avLst/>
          </a:prstGeom>
        </p:spPr>
      </p:pic>
      <p:pic>
        <p:nvPicPr>
          <p:cNvPr id="6" name="Picture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758870" y="448627"/>
            <a:ext cx="2830770" cy="3219451"/>
          </a:xfrm>
          <a:prstGeom prst="rect">
            <a:avLst/>
          </a:prstGeom>
        </p:spPr>
      </p:pic>
      <p:pic>
        <p:nvPicPr>
          <p:cNvPr id="7" name="Picture 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589641" y="457200"/>
            <a:ext cx="3465870" cy="3210878"/>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55511" y="448627"/>
            <a:ext cx="2965347" cy="3219451"/>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55511" y="3668078"/>
            <a:ext cx="3136489" cy="3189922"/>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9639" y="3668078"/>
            <a:ext cx="3499515" cy="3189922"/>
          </a:xfrm>
          <a:prstGeom prst="rect">
            <a:avLst/>
          </a:prstGeom>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8868" y="3668078"/>
            <a:ext cx="2830769" cy="3189922"/>
          </a:xfrm>
          <a:prstGeom prst="rect">
            <a:avLst/>
          </a:prstGeom>
        </p:spPr>
      </p:pic>
      <p:pic>
        <p:nvPicPr>
          <p:cNvPr id="12" name="Picture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3511805"/>
            <a:ext cx="2725225" cy="3346195"/>
          </a:xfrm>
          <a:prstGeom prst="rect">
            <a:avLst/>
          </a:prstGeom>
        </p:spPr>
      </p:pic>
      <p:sp>
        <p:nvSpPr>
          <p:cNvPr id="13" name="Title 2"/>
          <p:cNvSpPr txBox="1">
            <a:spLocks/>
          </p:cNvSpPr>
          <p:nvPr/>
        </p:nvSpPr>
        <p:spPr>
          <a:xfrm>
            <a:off x="176981" y="81817"/>
            <a:ext cx="12015019" cy="480131"/>
          </a:xfrm>
          <a:prstGeom prst="rect">
            <a:avLst/>
          </a:prstGeom>
        </p:spPr>
        <p:txBody>
          <a:bodyPr wrap="square">
            <a:spAutoFit/>
          </a:bodyPr>
          <a:lstStyle>
            <a:lvl1pPr algn="l" defTabSz="914400" rtl="1" eaLnBrk="1" latinLnBrk="0" hangingPunct="1">
              <a:lnSpc>
                <a:spcPct val="90000"/>
              </a:lnSpc>
              <a:spcBef>
                <a:spcPct val="0"/>
              </a:spcBef>
              <a:buNone/>
              <a:defRPr lang="en-US" sz="2800" kern="1200">
                <a:solidFill>
                  <a:schemeClr val="bg2">
                    <a:lumMod val="25000"/>
                  </a:schemeClr>
                </a:solidFill>
                <a:latin typeface="+mj-lt"/>
                <a:ea typeface="+mj-ea"/>
                <a:cs typeface="+mj-cs"/>
              </a:defRPr>
            </a:lvl1pPr>
          </a:lstStyle>
          <a:p>
            <a:r>
              <a:rPr lang="en-US" sz="1800"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        Compound</a:t>
            </a: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             </a:t>
            </a:r>
            <a:r>
              <a:rPr lang="en-US" sz="1800"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Dissecting</a:t>
            </a: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                             </a:t>
            </a:r>
            <a:r>
              <a:rPr lang="en-US" sz="1800"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TEM </a:t>
            </a: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                         </a:t>
            </a:r>
            <a:r>
              <a:rPr lang="en-US" sz="1800"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SEM   </a:t>
            </a:r>
            <a:r>
              <a:rPr lang="en-US" b="1" dirty="0" smtClean="0">
                <a:solidFill>
                  <a:srgbClr val="FF0000"/>
                </a:solidFill>
                <a:latin typeface="Georgia" panose="02040502050405020303" pitchFamily="18" charset="0"/>
                <a:ea typeface="Times New Roman" panose="02020603050405020304" pitchFamily="18" charset="0"/>
                <a:cs typeface="Times New Roman" panose="02020603050405020304" pitchFamily="18" charset="0"/>
              </a:rPr>
              <a:t>           </a:t>
            </a:r>
            <a:endParaRPr lang="en-US" b="1" dirty="0">
              <a:solidFill>
                <a:srgbClr val="FF0000"/>
              </a:solidFill>
            </a:endParaRPr>
          </a:p>
        </p:txBody>
      </p:sp>
    </p:spTree>
    <p:extLst>
      <p:ext uri="{BB962C8B-B14F-4D97-AF65-F5344CB8AC3E}">
        <p14:creationId xmlns:p14="http://schemas.microsoft.com/office/powerpoint/2010/main" val="941062076"/>
      </p:ext>
    </p:extLst>
  </p:cSld>
  <p:clrMapOvr>
    <a:masterClrMapping/>
  </p:clrMapOvr>
  <p:timing>
    <p:tnLst>
      <p:par>
        <p:cTn id="1" dur="indefinite" restart="never" nodeType="tmRoot"/>
      </p:par>
    </p:tnLst>
  </p:timing>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 (3).potx" id="{9E27ADA6-EA10-4822-B3C1-6E8D86D7E392}" vid="{8B3BFCA4-8458-4DFE-B504-FC98F0D59E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Bring your presentations to life with 3D</Template>
  <TotalTime>0</TotalTime>
  <Words>2100</Words>
  <Application>Microsoft Office PowerPoint</Application>
  <PresentationFormat>Widescreen</PresentationFormat>
  <Paragraphs>305</Paragraphs>
  <Slides>33</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33</vt:i4>
      </vt:variant>
    </vt:vector>
  </HeadingPairs>
  <TitlesOfParts>
    <vt:vector size="48" baseType="lpstr">
      <vt:lpstr>&amp;quot</vt:lpstr>
      <vt:lpstr>Agency FB</vt:lpstr>
      <vt:lpstr>Arial</vt:lpstr>
      <vt:lpstr>Calibri</vt:lpstr>
      <vt:lpstr>Courier New</vt:lpstr>
      <vt:lpstr>Georgia</vt:lpstr>
      <vt:lpstr>Helvetica</vt:lpstr>
      <vt:lpstr>inherit</vt:lpstr>
      <vt:lpstr>PMingLiU</vt:lpstr>
      <vt:lpstr>Roboto</vt:lpstr>
      <vt:lpstr>Segoe UI</vt:lpstr>
      <vt:lpstr>Segoe UI Light</vt:lpstr>
      <vt:lpstr>Times New Roman</vt:lpstr>
      <vt:lpstr>Wingdings</vt:lpstr>
      <vt:lpstr>Get Started with 3D</vt:lpstr>
      <vt:lpstr>LABORATORY SAFETY</vt:lpstr>
      <vt:lpstr>PowerPoint Presentation</vt:lpstr>
      <vt:lpstr>* For any science lab, dressing of the following       clothes is one  of your best forms of     protection against an accident:    A) Dress the lab. coat while you are in the         lab. and it must be closed.     B) wear covered shoes, long pants, and tie         your hair backward up. So, it can't fall into         your experiment or a flame.     C) Dressing of goggles, You may also         need gloves, hearing protection,         and other items, depending on the         nature of the experiment.</vt:lpstr>
      <vt:lpstr>PowerPoint Presentation</vt:lpstr>
      <vt:lpstr>PowerPoint Presentation</vt:lpstr>
      <vt:lpstr>PowerPoint Presentation</vt:lpstr>
      <vt:lpstr>PowerPoint Presentation</vt:lpstr>
      <vt:lpstr>PowerPoint Presentation</vt:lpstr>
      <vt:lpstr>Glassware: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Parts of the Dissecting Microscope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2019-01-18T18:29:17Z</dcterms:created>
  <dcterms:modified xsi:type="dcterms:W3CDTF">2021-07-11T13:17:55Z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dduffy@microsoft.com</vt:lpwstr>
  </property>
  <property fmtid="{D5CDD505-2E9C-101B-9397-08002B2CF9AE}" pid="5" name="MSIP_Label_f42aa342-8706-4288-bd11-ebb85995028c_SetDate">
    <vt:lpwstr>2019-01-09T22:41:38.8954231Z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