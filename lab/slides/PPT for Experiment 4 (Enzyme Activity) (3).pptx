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9" r:id="rId1"/>
  </p:sldMasterIdLst>
  <p:notesMasterIdLst>
    <p:notesMasterId r:id="rId25"/>
  </p:notesMasterIdLst>
  <p:handoutMasterIdLst>
    <p:handoutMasterId r:id="rId26"/>
  </p:handoutMasterIdLst>
  <p:sldIdLst>
    <p:sldId id="425" r:id="rId2"/>
    <p:sldId id="539" r:id="rId3"/>
    <p:sldId id="542" r:id="rId4"/>
    <p:sldId id="544" r:id="rId5"/>
    <p:sldId id="559" r:id="rId6"/>
    <p:sldId id="558" r:id="rId7"/>
    <p:sldId id="545" r:id="rId8"/>
    <p:sldId id="546" r:id="rId9"/>
    <p:sldId id="547" r:id="rId10"/>
    <p:sldId id="548" r:id="rId11"/>
    <p:sldId id="549" r:id="rId12"/>
    <p:sldId id="551" r:id="rId13"/>
    <p:sldId id="561" r:id="rId14"/>
    <p:sldId id="550" r:id="rId15"/>
    <p:sldId id="562" r:id="rId16"/>
    <p:sldId id="563" r:id="rId17"/>
    <p:sldId id="552" r:id="rId18"/>
    <p:sldId id="564" r:id="rId19"/>
    <p:sldId id="553" r:id="rId20"/>
    <p:sldId id="554" r:id="rId21"/>
    <p:sldId id="555" r:id="rId22"/>
    <p:sldId id="556" r:id="rId23"/>
    <p:sldId id="557" r:id="rId24"/>
  </p:sldIdLst>
  <p:sldSz cx="9144000" cy="6858000" type="screen4x3"/>
  <p:notesSz cx="6858000" cy="8686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NS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7" autoAdjust="0"/>
    <p:restoredTop sz="94038" autoAdjust="0"/>
  </p:normalViewPr>
  <p:slideViewPr>
    <p:cSldViewPr>
      <p:cViewPr varScale="1">
        <p:scale>
          <a:sx n="65" d="100"/>
          <a:sy n="65" d="100"/>
        </p:scale>
        <p:origin x="162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>
            <a:extLst>
              <a:ext uri="{FF2B5EF4-FFF2-40B4-BE49-F238E27FC236}">
                <a16:creationId xmlns:a16="http://schemas.microsoft.com/office/drawing/2014/main" id="{7A53D1E0-60EA-A043-BC22-286B78A20D5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 altLang="en-US"/>
          </a:p>
        </p:txBody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45D108A2-940D-5945-8ABB-900F58D7D9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endParaRPr lang="en-US" altLang="en-US"/>
          </a:p>
        </p:txBody>
      </p:sp>
      <p:sp>
        <p:nvSpPr>
          <p:cNvPr id="312324" name="Rectangle 4">
            <a:extLst>
              <a:ext uri="{FF2B5EF4-FFF2-40B4-BE49-F238E27FC236}">
                <a16:creationId xmlns:a16="http://schemas.microsoft.com/office/drawing/2014/main" id="{B6CF69C0-F8DE-F040-86AD-C0C158ED40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250238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 altLang="en-US"/>
          </a:p>
        </p:txBody>
      </p:sp>
      <p:sp>
        <p:nvSpPr>
          <p:cNvPr id="312325" name="Rectangle 5">
            <a:extLst>
              <a:ext uri="{FF2B5EF4-FFF2-40B4-BE49-F238E27FC236}">
                <a16:creationId xmlns:a16="http://schemas.microsoft.com/office/drawing/2014/main" id="{D76F9B5D-D557-0F48-ACEE-A3EB8609778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250238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763C3B4-67B5-CA42-8807-AD26BDD1732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88C3A83-249C-B448-A568-4B7FEF2904A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6838BC2-1E56-9D46-BE59-32F707F3B15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1798FE11-237E-A34B-B038-B6468AFF4C5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650875"/>
            <a:ext cx="4343400" cy="3257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57657315-D41A-E442-A786-8E3F1515A3D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125913"/>
            <a:ext cx="5486400" cy="39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F2EDD228-1AC1-954C-8218-B293D054DB9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250238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AF87C1FB-880B-084A-9746-6BBF7740E1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250238"/>
            <a:ext cx="2971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fld id="{A34ECB6F-5D76-F549-A316-A8EBCFDDB61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20399D4-1631-4040-A706-C5D64524FE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C5C962-497E-C64F-9214-52CD8ED4D840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339970" name="Rectangle 2">
            <a:extLst>
              <a:ext uri="{FF2B5EF4-FFF2-40B4-BE49-F238E27FC236}">
                <a16:creationId xmlns:a16="http://schemas.microsoft.com/office/drawing/2014/main" id="{A4FCD0C7-49AD-564E-9D2C-4B39DDD47F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6FD3703B-6DEB-D041-BADA-C1D7901B30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ECB6F-5D76-F549-A316-A8EBCFDDB61F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8256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ECB6F-5D76-F549-A316-A8EBCFDDB61F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3014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ECB6F-5D76-F549-A316-A8EBCFDDB61F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7251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ECB6F-5D76-F549-A316-A8EBCFDDB61F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4624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ECB6F-5D76-F549-A316-A8EBCFDDB61F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2307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ECB6F-5D76-F549-A316-A8EBCFDDB61F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6326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730" name="Group 2">
            <a:extLst>
              <a:ext uri="{FF2B5EF4-FFF2-40B4-BE49-F238E27FC236}">
                <a16:creationId xmlns:a16="http://schemas.microsoft.com/office/drawing/2014/main" id="{78191BE6-F8C5-0D44-968E-E9D9DF651BE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1731" name="Rectangle 3">
              <a:extLst>
                <a:ext uri="{FF2B5EF4-FFF2-40B4-BE49-F238E27FC236}">
                  <a16:creationId xmlns:a16="http://schemas.microsoft.com/office/drawing/2014/main" id="{EF8C3435-2D5B-1D43-831E-F718ED343F92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201732" name="Rectangle 4">
              <a:extLst>
                <a:ext uri="{FF2B5EF4-FFF2-40B4-BE49-F238E27FC236}">
                  <a16:creationId xmlns:a16="http://schemas.microsoft.com/office/drawing/2014/main" id="{02FE1605-6C46-5B48-B007-262F5F50A7F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>
                <a:cs typeface="Arial" panose="020B0604020202020204" pitchFamily="34" charset="0"/>
              </a:endParaRPr>
            </a:p>
          </p:txBody>
        </p:sp>
        <p:grpSp>
          <p:nvGrpSpPr>
            <p:cNvPr id="201733" name="Group 5">
              <a:extLst>
                <a:ext uri="{FF2B5EF4-FFF2-40B4-BE49-F238E27FC236}">
                  <a16:creationId xmlns:a16="http://schemas.microsoft.com/office/drawing/2014/main" id="{5B5E4C65-7BFC-C84B-BFBC-1E79B4F63E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01734" name="Rectangle 6">
                <a:extLst>
                  <a:ext uri="{FF2B5EF4-FFF2-40B4-BE49-F238E27FC236}">
                    <a16:creationId xmlns:a16="http://schemas.microsoft.com/office/drawing/2014/main" id="{878A055F-5299-2941-881C-C1EFAC9544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35" name="Rectangle 7">
                <a:extLst>
                  <a:ext uri="{FF2B5EF4-FFF2-40B4-BE49-F238E27FC236}">
                    <a16:creationId xmlns:a16="http://schemas.microsoft.com/office/drawing/2014/main" id="{C88A23E6-FB9E-1141-8A62-989B124BA10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36" name="Rectangle 8">
                <a:extLst>
                  <a:ext uri="{FF2B5EF4-FFF2-40B4-BE49-F238E27FC236}">
                    <a16:creationId xmlns:a16="http://schemas.microsoft.com/office/drawing/2014/main" id="{B99C9928-0B26-8C47-A444-4EFFFFB4B7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37" name="Rectangle 9">
                <a:extLst>
                  <a:ext uri="{FF2B5EF4-FFF2-40B4-BE49-F238E27FC236}">
                    <a16:creationId xmlns:a16="http://schemas.microsoft.com/office/drawing/2014/main" id="{75A76123-04BC-9E4A-BD8C-E23AAAA7023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38" name="Rectangle 10">
                <a:extLst>
                  <a:ext uri="{FF2B5EF4-FFF2-40B4-BE49-F238E27FC236}">
                    <a16:creationId xmlns:a16="http://schemas.microsoft.com/office/drawing/2014/main" id="{94D95688-A439-F84E-813E-995DB49EA5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39" name="Rectangle 11">
                <a:extLst>
                  <a:ext uri="{FF2B5EF4-FFF2-40B4-BE49-F238E27FC236}">
                    <a16:creationId xmlns:a16="http://schemas.microsoft.com/office/drawing/2014/main" id="{6C19F2A9-D310-0642-BA32-3CB9CDE0B0B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40" name="Rectangle 12">
                <a:extLst>
                  <a:ext uri="{FF2B5EF4-FFF2-40B4-BE49-F238E27FC236}">
                    <a16:creationId xmlns:a16="http://schemas.microsoft.com/office/drawing/2014/main" id="{2F702AFF-03AB-5C48-97E9-48F11371D9A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41" name="Rectangle 13">
                <a:extLst>
                  <a:ext uri="{FF2B5EF4-FFF2-40B4-BE49-F238E27FC236}">
                    <a16:creationId xmlns:a16="http://schemas.microsoft.com/office/drawing/2014/main" id="{9BD1B939-411F-5B4A-A6A8-0D88CAD3F54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42" name="Rectangle 14">
                <a:extLst>
                  <a:ext uri="{FF2B5EF4-FFF2-40B4-BE49-F238E27FC236}">
                    <a16:creationId xmlns:a16="http://schemas.microsoft.com/office/drawing/2014/main" id="{307B0216-449C-6D46-A52F-DCF6C848BB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  <p:sp>
            <p:nvSpPr>
              <p:cNvPr id="201743" name="Rectangle 15">
                <a:extLst>
                  <a:ext uri="{FF2B5EF4-FFF2-40B4-BE49-F238E27FC236}">
                    <a16:creationId xmlns:a16="http://schemas.microsoft.com/office/drawing/2014/main" id="{6EFBC2B6-CAFA-DC44-AF6E-07A6D738B4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01744" name="Rectangle 16">
            <a:extLst>
              <a:ext uri="{FF2B5EF4-FFF2-40B4-BE49-F238E27FC236}">
                <a16:creationId xmlns:a16="http://schemas.microsoft.com/office/drawing/2014/main" id="{1A4C1F96-14B2-404F-81D4-FC9C03BE45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1745" name="Rectangle 17">
            <a:extLst>
              <a:ext uri="{FF2B5EF4-FFF2-40B4-BE49-F238E27FC236}">
                <a16:creationId xmlns:a16="http://schemas.microsoft.com/office/drawing/2014/main" id="{F22949FE-B435-0244-A527-8E4851BF51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3124200" cy="457200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201746" name="Rectangle 18">
            <a:extLst>
              <a:ext uri="{FF2B5EF4-FFF2-40B4-BE49-F238E27FC236}">
                <a16:creationId xmlns:a16="http://schemas.microsoft.com/office/drawing/2014/main" id="{189609D0-CC0A-4449-AAF9-68E122EEBB3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0" y="6400800"/>
            <a:ext cx="2133600" cy="457200"/>
          </a:xfrm>
        </p:spPr>
        <p:txBody>
          <a:bodyPr/>
          <a:lstStyle>
            <a:lvl1pPr algn="l">
              <a:defRPr sz="1200">
                <a:latin typeface="Arial Black" panose="020B0604020202020204" pitchFamily="34" charset="0"/>
              </a:defRPr>
            </a:lvl1pPr>
          </a:lstStyle>
          <a:p>
            <a:fld id="{6E025D3A-A67A-4349-817B-439EA90FAC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1747" name="Rectangle 19">
            <a:extLst>
              <a:ext uri="{FF2B5EF4-FFF2-40B4-BE49-F238E27FC236}">
                <a16:creationId xmlns:a16="http://schemas.microsoft.com/office/drawing/2014/main" id="{AADD46CB-C3F1-AC41-ABAC-0CFE6FEC53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01748" name="Rectangle 20">
            <a:extLst>
              <a:ext uri="{FF2B5EF4-FFF2-40B4-BE49-F238E27FC236}">
                <a16:creationId xmlns:a16="http://schemas.microsoft.com/office/drawing/2014/main" id="{FFF9D635-D06E-D942-853A-E0FB5D07E4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65AC-188C-D24E-86FA-08A612A6E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A77CF-A671-DD40-9D7C-E0506BA02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F83FC-2F1D-AD4B-B4B3-5BF0A3BCBD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BD3DF-2AC1-5645-8FBA-E6E86A1A0C3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80EAA-8AFF-B946-B0C6-825094A4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09D508-A623-D242-B490-3AD37F05B8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86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8FDD-649C-A948-AB51-8E69EBA4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716B7-3796-AC4C-B7C9-CAF6DAE62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C96BD-3D34-FE46-A7DE-B44BC0CE80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A7373-0C56-DC4E-B549-AE15B5F35DF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37DC3-7E21-1548-A01E-0C545E2A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AABD0D-ECB4-F04C-8C76-42C145F23A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521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0D18-01D0-204F-965D-626E7308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50E2F-13AC-5844-AA50-9DCA133BF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40386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BC11F-BE7B-EE41-80DD-8820A8E68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13D95-B55F-E445-8C0C-170072AB48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6A3226-9269-164E-8D1A-BE83FB684C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54420-C6E1-8E44-A3E6-ADACDE71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A6983-B095-EC4A-A979-F21BF6548D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388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BFCE-F726-1249-8BAD-32E6AC13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E4DC2-57C9-1F49-A6F0-07DA699C4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95AD4-ABE9-7E48-9F15-605BD681E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9F024B-5843-DF49-AE6F-1B2F49CF0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1564B2-58EA-3C46-B02A-E0204D8B4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2439AC3-5966-E348-9D66-62B30C23C9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2FA5F7A-6991-ED40-BBAF-D3D919FF794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56B1F-D0AA-6648-A00A-69506CD0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D21AA-C6B4-0C40-9749-0AAEE51565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206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9A44-E883-0F4E-BB8D-06A32C885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3E8EB-9835-9A47-B994-E9D9B75B7C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FF5DE-E3BD-1147-B0EC-095E11366C8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A3534-2D9D-2E4C-A32F-AAE878B4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7FB6F9-F573-D04C-A7C1-7771D40BB3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00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70ACDC-C5B6-3943-8F8B-FF4EE71CEC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D690A-5CBD-664F-80C6-294EC6AE7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B6FEF-82E4-2446-A954-99F2E111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41F22-0FF3-4D4B-AA68-B5E4434837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916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545B-0A9F-0B41-BE40-C026E489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13AF2-6F4A-234A-9AF5-E00644F0A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C97D2-AC27-674A-81DC-BC7A1B092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F685A-E93E-AD41-AC43-51E6D0B73E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4BB0AC-B99F-9A40-9F25-DAE6C16D8D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EE9A-2378-E34B-8508-EEEB23D2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C0317F-450A-0244-B16A-0B91EBB38F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11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E94F-37A3-F14D-B455-14B3AC591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AB954-5123-5B4F-AC21-D8235F2A9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DAFFC-B42E-204D-85E2-7427A6CB1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15EA6-A892-D24A-8948-11A1698FA3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4567E8-7880-314D-BBA6-4FF33BC2A4E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48C2A-C44C-1549-98EA-F8138A67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F65FA8-5669-2641-921C-2A808E9DE4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46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D6D3D-8EB7-E14B-BF30-EC8BA4E6A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D96A4-8E0F-8949-9ADD-B74041F9A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3F4D7-E672-E647-AA3B-86512EC01F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8ECB1-3748-A140-B334-5ECA1CBE5B5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98060-561B-8540-8608-AC1CB027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8F5E18-C5BE-0C42-817F-EB4A81F8C2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8260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C2BB7-AE99-1B4F-8568-59B36CA33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E123B-4A15-9147-9652-3602AAED1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E073E-0B7C-8F44-A894-46F77DA242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603D6-18E8-2349-9838-EEFA74791A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83DF0-130E-5746-B880-8130A293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B55A2A-06D9-4245-8E3F-047AC78433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72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8427-E1E6-D34B-90E9-594CD56B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61201-AABF-9046-85CA-5E0F7286E4A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52600"/>
            <a:ext cx="40386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14582-1EC8-8D49-BF14-4AFAD5484CA1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752600"/>
            <a:ext cx="4038600" cy="2095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95434B-1C6D-9C40-BEC2-0DEF607BB170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095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575A6-7D3F-6A4D-9FFD-5C40540EB9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248400"/>
            <a:ext cx="9144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A1499B-4EF8-5846-B4AC-0AD13E63796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0104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98A29F-67AE-3647-A7D6-0612D954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E1D26E8-247B-F14C-B1F1-E42ADF05D6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1347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9B21-92D1-E740-9962-B42E1296C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A7371-2781-DC4E-9BBF-0E2B52A9971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52600"/>
            <a:ext cx="40386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35727-E771-4C45-8379-9AEA65C63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2F15-688A-B64B-9FFF-7498E20390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248400"/>
            <a:ext cx="9144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638182-234F-8F45-B354-57EFD7489DD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0104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9F6C4-3C04-E542-BC35-31D47577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9A439A6-6321-F44F-982B-DBAE7645FD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6392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78A1C-55AA-BA49-9361-3E704FD96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9FB89-7208-654A-84D9-7045739BEEE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52600"/>
            <a:ext cx="8229600" cy="2095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C773D-3039-294D-88FD-19F141EE8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095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DF6FC-0E74-C24D-A1C0-8CF0A0BF1F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248400"/>
            <a:ext cx="9144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asd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47883C-B82B-0946-AEEF-003846FD13C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0104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7C1E0-6C24-B946-A001-4BF938A4A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B536E75-B0C9-B947-89FC-B0A535708F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617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19" name="Rectangle 15">
            <a:extLst>
              <a:ext uri="{FF2B5EF4-FFF2-40B4-BE49-F238E27FC236}">
                <a16:creationId xmlns:a16="http://schemas.microsoft.com/office/drawing/2014/main" id="{300FCB71-EEBD-6C4D-8747-021C23EA5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52600"/>
            <a:ext cx="82296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0706" name="Rectangle 2">
            <a:extLst>
              <a:ext uri="{FF2B5EF4-FFF2-40B4-BE49-F238E27FC236}">
                <a16:creationId xmlns:a16="http://schemas.microsoft.com/office/drawing/2014/main" id="{FA9FB4DB-6543-E74E-A03C-B339C57D71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248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600">
                <a:latin typeface="+mj-lt"/>
                <a:cs typeface="+mn-cs"/>
              </a:defRPr>
            </a:lvl1pPr>
          </a:lstStyle>
          <a:p>
            <a:r>
              <a:rPr lang="en-US" altLang="en-US"/>
              <a:t>asd</a:t>
            </a:r>
          </a:p>
        </p:txBody>
      </p:sp>
      <p:grpSp>
        <p:nvGrpSpPr>
          <p:cNvPr id="200708" name="Group 4">
            <a:extLst>
              <a:ext uri="{FF2B5EF4-FFF2-40B4-BE49-F238E27FC236}">
                <a16:creationId xmlns:a16="http://schemas.microsoft.com/office/drawing/2014/main" id="{1BE4C8D1-9FC6-AB48-B849-7C8DC9EF61B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0709" name="Rectangle 5">
              <a:extLst>
                <a:ext uri="{FF2B5EF4-FFF2-40B4-BE49-F238E27FC236}">
                  <a16:creationId xmlns:a16="http://schemas.microsoft.com/office/drawing/2014/main" id="{4C145B0A-434D-8940-A8BE-D4FCC4E92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200710" name="Rectangle 6">
              <a:extLst>
                <a:ext uri="{FF2B5EF4-FFF2-40B4-BE49-F238E27FC236}">
                  <a16:creationId xmlns:a16="http://schemas.microsoft.com/office/drawing/2014/main" id="{489BFFF0-68D8-5340-9218-C9A1F5A41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200711" name="Rectangle 7">
              <a:extLst>
                <a:ext uri="{FF2B5EF4-FFF2-40B4-BE49-F238E27FC236}">
                  <a16:creationId xmlns:a16="http://schemas.microsoft.com/office/drawing/2014/main" id="{887490DA-F78C-B54C-88D4-8E7AE4A7B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712" name="Rectangle 8">
              <a:extLst>
                <a:ext uri="{FF2B5EF4-FFF2-40B4-BE49-F238E27FC236}">
                  <a16:creationId xmlns:a16="http://schemas.microsoft.com/office/drawing/2014/main" id="{07FE667F-39A8-334D-A2E0-E65019B4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713" name="Rectangle 9">
              <a:extLst>
                <a:ext uri="{FF2B5EF4-FFF2-40B4-BE49-F238E27FC236}">
                  <a16:creationId xmlns:a16="http://schemas.microsoft.com/office/drawing/2014/main" id="{14037D7C-0077-B24A-95DE-8C8A1E7EE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714" name="Rectangle 10">
              <a:extLst>
                <a:ext uri="{FF2B5EF4-FFF2-40B4-BE49-F238E27FC236}">
                  <a16:creationId xmlns:a16="http://schemas.microsoft.com/office/drawing/2014/main" id="{35FCD7D0-DD7A-7344-BC43-8D2E0C80D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715" name="Rectangle 11">
              <a:extLst>
                <a:ext uri="{FF2B5EF4-FFF2-40B4-BE49-F238E27FC236}">
                  <a16:creationId xmlns:a16="http://schemas.microsoft.com/office/drawing/2014/main" id="{B045B75B-71F5-BF41-B9C9-544A6B92F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200716" name="Rectangle 12">
              <a:extLst>
                <a:ext uri="{FF2B5EF4-FFF2-40B4-BE49-F238E27FC236}">
                  <a16:creationId xmlns:a16="http://schemas.microsoft.com/office/drawing/2014/main" id="{821450E8-B02C-2F49-BC8A-B35A767FA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717" name="Rectangle 13">
              <a:extLst>
                <a:ext uri="{FF2B5EF4-FFF2-40B4-BE49-F238E27FC236}">
                  <a16:creationId xmlns:a16="http://schemas.microsoft.com/office/drawing/2014/main" id="{397E9DEC-465F-D04E-9D79-B1239C25D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1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0718" name="Rectangle 14">
            <a:extLst>
              <a:ext uri="{FF2B5EF4-FFF2-40B4-BE49-F238E27FC236}">
                <a16:creationId xmlns:a16="http://schemas.microsoft.com/office/drawing/2014/main" id="{47491C6C-ABEA-DA40-9BF1-F214FEC8B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0720" name="Rectangle 16">
            <a:extLst>
              <a:ext uri="{FF2B5EF4-FFF2-40B4-BE49-F238E27FC236}">
                <a16:creationId xmlns:a16="http://schemas.microsoft.com/office/drawing/2014/main" id="{7D4822EF-A1F7-D144-811F-9F20D22361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600">
                <a:latin typeface="+mj-lt"/>
                <a:cs typeface="+mn-cs"/>
              </a:defRPr>
            </a:lvl1pPr>
          </a:lstStyle>
          <a:p>
            <a:endParaRPr lang="en-US" altLang="en-US"/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8870BBE9-E935-544F-97F4-7BCFB6B03C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+mn-lt"/>
                <a:cs typeface="+mn-cs"/>
              </a:defRPr>
            </a:lvl1pPr>
          </a:lstStyle>
          <a:p>
            <a:fld id="{D5CAEEDA-B635-9D4A-AC77-02F3B7F03AB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bg2"/>
          </a:solidFill>
          <a:latin typeface="Garamond" panose="02020404030301010803" pitchFamily="18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16E1A692-CFB4-B344-8B51-55C7927BD3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19400" y="2622495"/>
            <a:ext cx="5029200" cy="1382580"/>
          </a:xfrm>
        </p:spPr>
        <p:txBody>
          <a:bodyPr/>
          <a:lstStyle/>
          <a:p>
            <a:pPr algn="ctr"/>
            <a:r>
              <a:rPr lang="en-US" altLang="en-US" sz="5400" b="1" dirty="0"/>
              <a:t>Enzyme Activity</a:t>
            </a:r>
          </a:p>
        </p:txBody>
      </p:sp>
      <p:sp>
        <p:nvSpPr>
          <p:cNvPr id="204805" name="Rectangle 5">
            <a:extLst>
              <a:ext uri="{FF2B5EF4-FFF2-40B4-BE49-F238E27FC236}">
                <a16:creationId xmlns:a16="http://schemas.microsoft.com/office/drawing/2014/main" id="{C70DB427-D43D-6D4D-831C-A3B95721C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3961" y="2162669"/>
            <a:ext cx="5029200" cy="690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defRPr sz="3400">
                <a:solidFill>
                  <a:schemeClr val="bg2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1pPr>
            <a:lvl2pPr marL="742950" indent="-285750" algn="ctr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defRPr sz="28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2pPr>
            <a:lvl3pPr marL="1143000" indent="-228600" algn="ctr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defRPr sz="24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3pPr>
            <a:lvl4pPr marL="1600200" indent="-228600" algn="ctr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4pPr>
            <a:lvl5pPr marL="2057400" indent="-228600" algn="ctr">
              <a:spcBef>
                <a:spcPct val="20000"/>
              </a:spcBef>
              <a:buClr>
                <a:schemeClr val="bg2"/>
              </a:buClr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5pPr>
            <a:lvl6pPr marL="25146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6pPr>
            <a:lvl7pPr marL="29718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7pPr>
            <a:lvl8pPr marL="34290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8pPr>
            <a:lvl9pPr marL="3886200" indent="-228600" algn="ctr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000">
                <a:solidFill>
                  <a:schemeClr val="tx1"/>
                </a:solidFill>
                <a:latin typeface="Gill Sans" panose="020B0502020104020203" pitchFamily="34" charset="-79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zh-CN" sz="4400" b="1" dirty="0">
                <a:solidFill>
                  <a:schemeClr val="accent2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Experiment 4</a:t>
            </a:r>
          </a:p>
        </p:txBody>
      </p:sp>
      <p:pic>
        <p:nvPicPr>
          <p:cNvPr id="1026" name="Picture 2" descr="Image result for collision theory enzymes active site">
            <a:extLst>
              <a:ext uri="{FF2B5EF4-FFF2-40B4-BE49-F238E27FC236}">
                <a16:creationId xmlns:a16="http://schemas.microsoft.com/office/drawing/2014/main" id="{D9D70048-D4DD-7D4C-9F4A-4E97D766F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0" t="5430" r="5744" b="9540"/>
          <a:stretch/>
        </p:blipFill>
        <p:spPr bwMode="auto">
          <a:xfrm>
            <a:off x="2617814" y="4235505"/>
            <a:ext cx="6528850" cy="262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ØµÙØ±Ø© Ø°Ø§Øª ØµÙØ©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29857" y="109553"/>
            <a:ext cx="3523535" cy="159329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AB38-1420-7247-A259-12CA8337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29095"/>
          </a:xfrm>
        </p:spPr>
        <p:txBody>
          <a:bodyPr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What is an enzyme?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67D8E-60FA-414A-9798-C435538BB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50" y="1529797"/>
            <a:ext cx="8639941" cy="4877435"/>
          </a:xfrm>
        </p:spPr>
        <p:txBody>
          <a:bodyPr/>
          <a:lstStyle/>
          <a:p>
            <a:r>
              <a:rPr lang="en-US" sz="2000" b="1" dirty="0" smtClean="0"/>
              <a:t>A biological </a:t>
            </a:r>
            <a:r>
              <a:rPr lang="en-US" sz="2000" b="1" dirty="0"/>
              <a:t>catalyst that speed up the rate of chemical reactions in living organisms by lowering the activation energy</a:t>
            </a:r>
            <a:r>
              <a:rPr lang="en-US" altLang="zh-TW" sz="2000" b="1" dirty="0"/>
              <a:t> </a:t>
            </a:r>
            <a:r>
              <a:rPr lang="en-US" altLang="zh-TW" sz="2000" b="1" u="sng" dirty="0"/>
              <a:t>without being changed or used up</a:t>
            </a:r>
            <a:r>
              <a:rPr lang="en-US" altLang="zh-TW" sz="2000" b="1" dirty="0" smtClean="0"/>
              <a:t>.</a:t>
            </a:r>
          </a:p>
          <a:p>
            <a:endParaRPr lang="en-US" altLang="zh-TW" sz="2000" b="1" dirty="0" smtClean="0"/>
          </a:p>
          <a:p>
            <a:r>
              <a:rPr lang="en-US" altLang="zh-TW" sz="2000" b="1" dirty="0"/>
              <a:t>Most of them are </a:t>
            </a:r>
            <a:r>
              <a:rPr lang="en-US" altLang="zh-TW" sz="2000" b="1" dirty="0" smtClean="0"/>
              <a:t>proteins with 3D (Globular) structure.</a:t>
            </a:r>
          </a:p>
          <a:p>
            <a:endParaRPr lang="en-US" altLang="zh-TW" sz="2000" b="1" dirty="0"/>
          </a:p>
          <a:p>
            <a:r>
              <a:rPr lang="en-US" altLang="zh-TW" sz="2000" b="1" dirty="0"/>
              <a:t>Enzymes are specific and speed only one type of reaction.</a:t>
            </a:r>
          </a:p>
          <a:p>
            <a:endParaRPr lang="en-US" altLang="zh-TW" sz="2000" b="1" dirty="0" smtClean="0"/>
          </a:p>
          <a:p>
            <a:r>
              <a:rPr lang="en-US" altLang="zh-TW" sz="2000" b="1" dirty="0"/>
              <a:t>Enzymes are often named by adding “-</a:t>
            </a:r>
            <a:r>
              <a:rPr lang="en-US" altLang="zh-TW" sz="2000" b="1" dirty="0" err="1"/>
              <a:t>ase</a:t>
            </a:r>
            <a:r>
              <a:rPr lang="en-US" altLang="zh-TW" sz="2000" b="1" dirty="0"/>
              <a:t>”</a:t>
            </a:r>
          </a:p>
          <a:p>
            <a:pPr marL="0" indent="0">
              <a:buNone/>
            </a:pPr>
            <a:r>
              <a:rPr lang="en-US" altLang="zh-TW" sz="2000" b="1" dirty="0" smtClean="0"/>
              <a:t>       Example</a:t>
            </a:r>
            <a:r>
              <a:rPr lang="en-US" altLang="zh-TW" sz="2000" b="1" dirty="0"/>
              <a:t>: </a:t>
            </a:r>
            <a:r>
              <a:rPr lang="en-US" altLang="zh-TW" sz="2000" b="1" dirty="0" smtClean="0"/>
              <a:t>Dehydrogenase: An enzyme </a:t>
            </a:r>
            <a:r>
              <a:rPr lang="en-US" altLang="zh-TW" sz="2000" b="1" dirty="0"/>
              <a:t>that remove hydrogen.</a:t>
            </a:r>
          </a:p>
          <a:p>
            <a:endParaRPr lang="en-US" altLang="zh-TW" sz="2000" b="1" dirty="0"/>
          </a:p>
          <a:p>
            <a:endParaRPr lang="en-US" altLang="zh-TW" sz="2000" b="1" dirty="0" smtClean="0"/>
          </a:p>
          <a:p>
            <a:pPr marL="0" indent="0">
              <a:buNone/>
            </a:pPr>
            <a:endParaRPr lang="en-US" altLang="zh-TW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F8E91-63C2-BD40-A699-474CAA25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 smtClean="0"/>
              <a:t>2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766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AB38-1420-7247-A259-12CA8337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29095"/>
          </a:xfrm>
        </p:spPr>
        <p:txBody>
          <a:bodyPr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How do enzymes catalyze reactions?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B3FC86-2F50-4C4E-96C1-884CCB3B785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366" y="2218363"/>
            <a:ext cx="4911278" cy="3482045"/>
          </a:xfrm>
        </p:spPr>
        <p:txBody>
          <a:bodyPr/>
          <a:lstStyle/>
          <a:p>
            <a:r>
              <a:rPr lang="en-US" sz="1800" dirty="0">
                <a:latin typeface="Arial Black" panose="020B0A04020102020204" pitchFamily="34" charset="0"/>
              </a:rPr>
              <a:t>By lowering the </a:t>
            </a:r>
            <a:r>
              <a:rPr lang="en-US" sz="1800" i="1" dirty="0">
                <a:latin typeface="Arial Black" panose="020B0A04020102020204" pitchFamily="34" charset="0"/>
              </a:rPr>
              <a:t>activation </a:t>
            </a:r>
            <a:r>
              <a:rPr lang="en-US" sz="1800" i="1" dirty="0" smtClean="0">
                <a:latin typeface="Arial Black" panose="020B0A04020102020204" pitchFamily="34" charset="0"/>
              </a:rPr>
              <a:t>energy</a:t>
            </a:r>
            <a:r>
              <a:rPr lang="en-US" sz="1800" i="1" dirty="0">
                <a:latin typeface="Arial Black" panose="020B0A04020102020204" pitchFamily="34" charset="0"/>
              </a:rPr>
              <a:t>* </a:t>
            </a:r>
            <a:r>
              <a:rPr lang="en-US" sz="1800" dirty="0">
                <a:latin typeface="Arial Black" panose="020B0A04020102020204" pitchFamily="34" charset="0"/>
              </a:rPr>
              <a:t>required to</a:t>
            </a:r>
            <a:r>
              <a:rPr lang="en-US" sz="1800" dirty="0" smtClean="0">
                <a:latin typeface="Arial Black" panose="020B0A04020102020204" pitchFamily="34" charset="0"/>
              </a:rPr>
              <a:t>:</a:t>
            </a:r>
          </a:p>
          <a:p>
            <a:pPr marL="0" indent="0">
              <a:buNone/>
            </a:pPr>
            <a:endParaRPr lang="en-US" sz="1800" dirty="0">
              <a:latin typeface="Arial Black" panose="020B0A04020102020204" pitchFamily="34" charset="0"/>
            </a:endParaRPr>
          </a:p>
          <a:p>
            <a:pPr lvl="1"/>
            <a:r>
              <a:rPr lang="en-US" sz="1800" dirty="0">
                <a:latin typeface="Arial Black" panose="020B0A04020102020204" pitchFamily="34" charset="0"/>
              </a:rPr>
              <a:t>Break bonds in </a:t>
            </a:r>
            <a:r>
              <a:rPr lang="en-US" sz="1800" dirty="0" smtClean="0">
                <a:latin typeface="Arial Black" panose="020B0A04020102020204" pitchFamily="34" charset="0"/>
              </a:rPr>
              <a:t>reactants</a:t>
            </a:r>
          </a:p>
          <a:p>
            <a:pPr marL="457200" lvl="1" indent="0">
              <a:buNone/>
            </a:pPr>
            <a:endParaRPr lang="en-US" sz="1800" dirty="0">
              <a:latin typeface="Arial Black" panose="020B0A04020102020204" pitchFamily="34" charset="0"/>
            </a:endParaRPr>
          </a:p>
          <a:p>
            <a:pPr lvl="1"/>
            <a:r>
              <a:rPr lang="en-US" sz="1800" dirty="0">
                <a:latin typeface="Arial Black" panose="020B0A04020102020204" pitchFamily="34" charset="0"/>
              </a:rPr>
              <a:t>Form new bonds in products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D4EADB5-EF34-8745-BEC4-C14FD2D5E8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17644" y="1828801"/>
            <a:ext cx="3800611" cy="387160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F8E91-63C2-BD40-A699-474CAA25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 smtClean="0"/>
              <a:t>3</a:t>
            </a:r>
            <a:endParaRPr lang="en-US" alt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8584F5E-FC3B-2040-B48E-4B5FEAF6751F}"/>
              </a:ext>
            </a:extLst>
          </p:cNvPr>
          <p:cNvSpPr txBox="1">
            <a:spLocks/>
          </p:cNvSpPr>
          <p:nvPr/>
        </p:nvSpPr>
        <p:spPr bwMode="auto">
          <a:xfrm>
            <a:off x="1766847" y="6373254"/>
            <a:ext cx="6918365" cy="450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i="1" dirty="0" smtClean="0">
                <a:latin typeface="Arial Black" panose="020B0A04020102020204" pitchFamily="34" charset="0"/>
              </a:rPr>
              <a:t>* the</a:t>
            </a:r>
            <a:r>
              <a:rPr lang="en-US" sz="1400" i="1" dirty="0" smtClean="0">
                <a:latin typeface="Arial Black" panose="020B0A04020102020204" pitchFamily="34" charset="0"/>
              </a:rPr>
              <a:t> </a:t>
            </a:r>
            <a:r>
              <a:rPr lang="en-US" sz="1400" i="1" dirty="0">
                <a:latin typeface="Arial Black" panose="020B0A04020102020204" pitchFamily="34" charset="0"/>
              </a:rPr>
              <a:t>least possible amount of energy required to start a reaction</a:t>
            </a:r>
          </a:p>
        </p:txBody>
      </p:sp>
    </p:spTree>
    <p:extLst>
      <p:ext uri="{BB962C8B-B14F-4D97-AF65-F5344CB8AC3E}">
        <p14:creationId xmlns:p14="http://schemas.microsoft.com/office/powerpoint/2010/main" val="137988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4238-3F06-9B4F-B08E-E4A6C0C5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05905"/>
          </a:xfrm>
        </p:spPr>
        <p:txBody>
          <a:bodyPr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How do enzymes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2EEA5-38EC-C044-B145-FB9251EAF2C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170884"/>
            <a:ext cx="8686800" cy="485364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000" dirty="0" smtClean="0">
                <a:latin typeface="Arial Black" panose="020B0A04020102020204" pitchFamily="34" charset="0"/>
              </a:rPr>
              <a:t>Enzyme binds </a:t>
            </a:r>
            <a:r>
              <a:rPr lang="en-US" sz="2000" dirty="0">
                <a:latin typeface="Arial Black" panose="020B0A04020102020204" pitchFamily="34" charset="0"/>
              </a:rPr>
              <a:t>to a  substrate (reactant) at its active site to form an </a:t>
            </a:r>
            <a:r>
              <a:rPr lang="en-US" sz="2000" u="sng" dirty="0">
                <a:latin typeface="Arial Black" panose="020B0A04020102020204" pitchFamily="34" charset="0"/>
              </a:rPr>
              <a:t>enzyme-substrate </a:t>
            </a:r>
            <a:r>
              <a:rPr lang="en-US" sz="2000" u="sng" dirty="0" smtClean="0">
                <a:latin typeface="Arial Black" panose="020B0A04020102020204" pitchFamily="34" charset="0"/>
              </a:rPr>
              <a:t>complex</a:t>
            </a:r>
            <a:r>
              <a:rPr lang="en-US" sz="2000" u="sng" dirty="0">
                <a:latin typeface="Arial Black" panose="020B0A04020102020204" pitchFamily="34" charset="0"/>
              </a:rPr>
              <a:t>, </a:t>
            </a:r>
            <a:r>
              <a:rPr lang="en-US" sz="2000" dirty="0">
                <a:latin typeface="Arial Black" panose="020B0A04020102020204" pitchFamily="34" charset="0"/>
              </a:rPr>
              <a:t>converting reactants to products without being </a:t>
            </a:r>
            <a:r>
              <a:rPr lang="en-US" sz="2000" dirty="0" smtClean="0">
                <a:latin typeface="Arial Black" panose="020B0A04020102020204" pitchFamily="34" charset="0"/>
              </a:rPr>
              <a:t>changed.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 smtClean="0">
              <a:latin typeface="Arial Black" panose="020B0A040201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Arial Black" panose="020B0A04020102020204" pitchFamily="34" charset="0"/>
              </a:rPr>
              <a:t>Enzymes take part </a:t>
            </a:r>
            <a:r>
              <a:rPr lang="en-US" sz="2000" dirty="0" smtClean="0">
                <a:latin typeface="Arial Black" panose="020B0A04020102020204" pitchFamily="34" charset="0"/>
              </a:rPr>
              <a:t>in the reaction, but </a:t>
            </a:r>
            <a:r>
              <a:rPr lang="en-US" sz="2000" dirty="0">
                <a:latin typeface="Arial Black" panose="020B0A04020102020204" pitchFamily="34" charset="0"/>
              </a:rPr>
              <a:t>not changed during the </a:t>
            </a:r>
            <a:r>
              <a:rPr lang="en-US" sz="2000" dirty="0" smtClean="0">
                <a:latin typeface="Arial Black" panose="020B0A04020102020204" pitchFamily="34" charset="0"/>
              </a:rPr>
              <a:t>reactions</a:t>
            </a:r>
            <a:r>
              <a:rPr lang="en-US" sz="2000" dirty="0" smtClean="0">
                <a:latin typeface="Arial Black" panose="020B0A04020102020204" pitchFamily="34" charset="0"/>
              </a:rPr>
              <a:t>, </a:t>
            </a:r>
            <a:r>
              <a:rPr lang="en-US" sz="2000" dirty="0" smtClean="0">
                <a:latin typeface="Arial Black" panose="020B0A04020102020204" pitchFamily="34" charset="0"/>
              </a:rPr>
              <a:t>meaning </a:t>
            </a:r>
            <a:r>
              <a:rPr lang="en-US" sz="2000" dirty="0">
                <a:latin typeface="Arial Black" panose="020B0A04020102020204" pitchFamily="34" charset="0"/>
              </a:rPr>
              <a:t>that they can be used </a:t>
            </a:r>
            <a:r>
              <a:rPr lang="en-US" sz="2000" dirty="0" smtClean="0">
                <a:latin typeface="Arial Black" panose="020B0A04020102020204" pitchFamily="34" charset="0"/>
              </a:rPr>
              <a:t>repeatedly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2000" dirty="0" smtClean="0">
              <a:latin typeface="Arial Black" panose="020B0A040201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000" dirty="0">
              <a:latin typeface="Arial Black" panose="020B0A040201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1800" u="sng" dirty="0">
              <a:latin typeface="Arial Black" panose="020B0A040201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337804-9411-0545-A85D-C192A67416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52125" y="3429000"/>
            <a:ext cx="7296950" cy="31958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2CC6A-2CC4-B049-9C74-7E5181C6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39A6-6321-F44F-982B-DBAE7645FDE3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778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44310"/>
          </a:xfrm>
        </p:spPr>
        <p:txBody>
          <a:bodyPr/>
          <a:lstStyle/>
          <a:p>
            <a:pPr algn="ctr"/>
            <a:r>
              <a:rPr lang="en-US" sz="2800" dirty="0" smtClean="0">
                <a:latin typeface="Arial Black" panose="020B0A04020102020204" pitchFamily="34" charset="0"/>
              </a:rPr>
              <a:t>Enzymes Vocabulary</a:t>
            </a:r>
            <a:endParaRPr lang="ar-JO" sz="2800" dirty="0">
              <a:latin typeface="Arial Black" panose="020B0A040201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39A6-6321-F44F-982B-DBAE7645FDE3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0" y="1316725"/>
            <a:ext cx="8756340" cy="27267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140" y="4258374"/>
            <a:ext cx="8765840" cy="207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800" b="1" i="1" dirty="0">
                <a:solidFill>
                  <a:srgbClr val="FF0000"/>
                </a:solidFill>
                <a:latin typeface="Rockwell Condensed" panose="02060603050405020104" pitchFamily="18" charset="0"/>
              </a:rPr>
              <a:t>Substrate</a:t>
            </a:r>
            <a:r>
              <a:rPr lang="en-US" sz="2800" b="1" i="1" dirty="0">
                <a:solidFill>
                  <a:srgbClr val="000000"/>
                </a:solidFill>
                <a:latin typeface="Rockwell Condensed" panose="02060603050405020104" pitchFamily="18" charset="0"/>
              </a:rPr>
              <a:t> – the substance that the enzyme acts upon. </a:t>
            </a:r>
            <a:endParaRPr lang="en-US" sz="2800" b="1" i="1" dirty="0" smtClean="0">
              <a:solidFill>
                <a:srgbClr val="000000"/>
              </a:solidFill>
              <a:latin typeface="Rockwell Condensed" panose="02060603050405020104" pitchFamily="18" charset="0"/>
            </a:endParaRPr>
          </a:p>
          <a:p>
            <a:pPr lvl="0"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sz="2800" b="1" i="1" dirty="0">
              <a:solidFill>
                <a:srgbClr val="000000"/>
              </a:solidFill>
              <a:latin typeface="Rockwell Condensed" panose="02060603050405020104" pitchFamily="18" charset="0"/>
            </a:endParaRPr>
          </a:p>
          <a:p>
            <a:pPr marL="342900" lvl="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800" b="1" i="1" dirty="0">
                <a:solidFill>
                  <a:srgbClr val="FF0000"/>
                </a:solidFill>
                <a:latin typeface="Rockwell Condensed" panose="02060603050405020104" pitchFamily="18" charset="0"/>
              </a:rPr>
              <a:t>Active site </a:t>
            </a:r>
            <a:r>
              <a:rPr lang="en-US" sz="2800" b="1" i="1" dirty="0">
                <a:solidFill>
                  <a:srgbClr val="000000"/>
                </a:solidFill>
                <a:latin typeface="Rockwell Condensed" panose="02060603050405020104" pitchFamily="18" charset="0"/>
              </a:rPr>
              <a:t>– the region of an enzyme where substrate        </a:t>
            </a:r>
          </a:p>
          <a:p>
            <a:pPr lvl="0"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lang="en-US" sz="2800" b="1" i="1" dirty="0">
                <a:solidFill>
                  <a:srgbClr val="000000"/>
                </a:solidFill>
                <a:latin typeface="Rockwell Condensed" panose="02060603050405020104" pitchFamily="18" charset="0"/>
              </a:rPr>
              <a:t>          molecules bind and undergo a chemical reaction.</a:t>
            </a:r>
            <a:endParaRPr lang="en-US" sz="2800" b="1" i="1" dirty="0">
              <a:solidFill>
                <a:srgbClr val="000000"/>
              </a:solidFill>
              <a:latin typeface="Rockwell Condensed" panose="020606030504050201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44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2235" y="740649"/>
            <a:ext cx="8794745" cy="5875965"/>
          </a:xfrm>
        </p:spPr>
        <p:txBody>
          <a:bodyPr/>
          <a:lstStyle/>
          <a:p>
            <a:r>
              <a:rPr lang="en-US" sz="2800" b="1" i="1" dirty="0" smtClean="0">
                <a:solidFill>
                  <a:srgbClr val="FF0000"/>
                </a:solidFill>
                <a:latin typeface="Rockwell Condensed" panose="02060603050405020104" pitchFamily="18" charset="0"/>
              </a:rPr>
              <a:t>Enzyme-substrate </a:t>
            </a:r>
            <a:r>
              <a:rPr lang="en-US" sz="2800" b="1" i="1" dirty="0">
                <a:solidFill>
                  <a:srgbClr val="FF0000"/>
                </a:solidFill>
                <a:latin typeface="Rockwell Condensed" panose="02060603050405020104" pitchFamily="18" charset="0"/>
              </a:rPr>
              <a:t>complex</a:t>
            </a:r>
            <a:r>
              <a:rPr lang="en-US" sz="2800" b="1" i="1" dirty="0" smtClean="0">
                <a:solidFill>
                  <a:srgbClr val="FF0000"/>
                </a:solidFill>
                <a:latin typeface="Rockwell Condensed" panose="020606030504050201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800" b="1" i="1" dirty="0">
                <a:solidFill>
                  <a:srgbClr val="FF0000"/>
                </a:solidFill>
                <a:latin typeface="Rockwell Condensed" panose="02060603050405020104" pitchFamily="18" charset="0"/>
              </a:rPr>
              <a:t> </a:t>
            </a:r>
            <a:r>
              <a:rPr lang="en-US" sz="2800" b="1" i="1" dirty="0" smtClean="0">
                <a:solidFill>
                  <a:srgbClr val="FF0000"/>
                </a:solidFill>
                <a:latin typeface="Rockwell Condensed" panose="02060603050405020104" pitchFamily="18" charset="0"/>
              </a:rPr>
              <a:t>   </a:t>
            </a:r>
            <a:r>
              <a:rPr lang="en-US" sz="2400" b="1" i="1" dirty="0" smtClean="0">
                <a:latin typeface="Rockwell Condensed" panose="02060603050405020104" pitchFamily="18" charset="0"/>
              </a:rPr>
              <a:t>It </a:t>
            </a:r>
            <a:r>
              <a:rPr lang="en-US" sz="2400" b="1" i="1" dirty="0">
                <a:latin typeface="Rockwell Condensed" panose="02060603050405020104" pitchFamily="18" charset="0"/>
              </a:rPr>
              <a:t>is the intermediate that </a:t>
            </a:r>
            <a:endParaRPr lang="en-US" sz="2400" b="1" i="1" dirty="0" smtClean="0">
              <a:latin typeface="Rockwell Condensed" panose="02060603050405020104" pitchFamily="18" charset="0"/>
            </a:endParaRPr>
          </a:p>
          <a:p>
            <a:pPr marL="0" indent="0">
              <a:buNone/>
            </a:pPr>
            <a:r>
              <a:rPr lang="en-US" sz="2400" b="1" i="1" dirty="0">
                <a:latin typeface="Rockwell Condensed" panose="02060603050405020104" pitchFamily="18" charset="0"/>
              </a:rPr>
              <a:t> </a:t>
            </a:r>
            <a:r>
              <a:rPr lang="en-US" sz="2400" b="1" i="1" dirty="0" smtClean="0">
                <a:latin typeface="Rockwell Condensed" panose="02060603050405020104" pitchFamily="18" charset="0"/>
              </a:rPr>
              <a:t>   is </a:t>
            </a:r>
            <a:r>
              <a:rPr lang="en-US" sz="2400" b="1" i="1" dirty="0">
                <a:latin typeface="Rockwell Condensed" panose="02060603050405020104" pitchFamily="18" charset="0"/>
              </a:rPr>
              <a:t>formed when a substrate </a:t>
            </a:r>
            <a:endParaRPr lang="en-US" sz="2400" b="1" i="1" dirty="0" smtClean="0">
              <a:latin typeface="Rockwell Condensed" panose="02060603050405020104" pitchFamily="18" charset="0"/>
            </a:endParaRPr>
          </a:p>
          <a:p>
            <a:pPr marL="0" indent="0">
              <a:buNone/>
            </a:pPr>
            <a:r>
              <a:rPr lang="en-US" sz="2400" b="1" i="1" dirty="0">
                <a:latin typeface="Rockwell Condensed" panose="02060603050405020104" pitchFamily="18" charset="0"/>
              </a:rPr>
              <a:t> </a:t>
            </a:r>
            <a:r>
              <a:rPr lang="en-US" sz="2400" b="1" i="1" dirty="0" smtClean="0">
                <a:latin typeface="Rockwell Condensed" panose="02060603050405020104" pitchFamily="18" charset="0"/>
              </a:rPr>
              <a:t>   binds </a:t>
            </a:r>
            <a:r>
              <a:rPr lang="en-US" sz="2400" b="1" i="1" dirty="0">
                <a:latin typeface="Rockwell Condensed" panose="02060603050405020104" pitchFamily="18" charset="0"/>
              </a:rPr>
              <a:t>to an enzyme at its </a:t>
            </a:r>
            <a:endParaRPr lang="en-US" sz="2400" b="1" i="1" dirty="0" smtClean="0">
              <a:latin typeface="Rockwell Condensed" panose="02060603050405020104" pitchFamily="18" charset="0"/>
            </a:endParaRPr>
          </a:p>
          <a:p>
            <a:pPr marL="0" indent="0">
              <a:buNone/>
            </a:pPr>
            <a:r>
              <a:rPr lang="en-US" sz="2400" b="1" i="1" dirty="0">
                <a:latin typeface="Rockwell Condensed" panose="02060603050405020104" pitchFamily="18" charset="0"/>
              </a:rPr>
              <a:t> </a:t>
            </a:r>
            <a:r>
              <a:rPr lang="en-US" sz="2400" b="1" i="1" dirty="0" smtClean="0">
                <a:latin typeface="Rockwell Condensed" panose="02060603050405020104" pitchFamily="18" charset="0"/>
              </a:rPr>
              <a:t>   active site</a:t>
            </a:r>
            <a:r>
              <a:rPr lang="en-US" sz="2400" b="1" i="1" dirty="0" smtClean="0">
                <a:latin typeface="Rockwell Condensed" panose="02060603050405020104" pitchFamily="18" charset="0"/>
              </a:rPr>
              <a:t>.</a:t>
            </a:r>
          </a:p>
          <a:p>
            <a:endParaRPr lang="en-US" b="1" i="1" dirty="0" smtClean="0">
              <a:solidFill>
                <a:srgbClr val="FF0000"/>
              </a:solidFill>
              <a:latin typeface="Rockwell Condensed" panose="02060603050405020104" pitchFamily="18" charset="0"/>
            </a:endParaRPr>
          </a:p>
          <a:p>
            <a:r>
              <a:rPr lang="en-US" b="1" i="1" dirty="0" smtClean="0">
                <a:solidFill>
                  <a:srgbClr val="FF0000"/>
                </a:solidFill>
                <a:latin typeface="Rockwell Condensed" panose="02060603050405020104" pitchFamily="18" charset="0"/>
              </a:rPr>
              <a:t>Products: </a:t>
            </a:r>
            <a:r>
              <a:rPr lang="en-US" sz="2400" b="1" i="1" dirty="0" smtClean="0">
                <a:latin typeface="Rockwell Condensed" panose="02060603050405020104" pitchFamily="18" charset="0"/>
              </a:rPr>
              <a:t>The end result of the reaction.</a:t>
            </a:r>
            <a:endParaRPr lang="en-US" sz="2400" b="1" i="1" dirty="0">
              <a:latin typeface="Rockwell Condensed" panose="02060603050405020104" pitchFamily="18" charset="0"/>
            </a:endParaRP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  <a:latin typeface="Rockwell Condensed" panose="02060603050405020104" pitchFamily="18" charset="0"/>
              </a:rPr>
              <a:t>     </a:t>
            </a:r>
            <a:endParaRPr lang="en-US" b="1" i="1" dirty="0">
              <a:latin typeface="Rockwell Condensed" panose="02060603050405020104" pitchFamily="18" charset="0"/>
            </a:endParaRPr>
          </a:p>
          <a:p>
            <a:endParaRPr lang="en-US" sz="2800" b="1" i="1" dirty="0">
              <a:solidFill>
                <a:srgbClr val="FF0000"/>
              </a:solidFill>
              <a:latin typeface="Rockwell Condensed" panose="02060603050405020104" pitchFamily="18" charset="0"/>
            </a:endParaRPr>
          </a:p>
          <a:p>
            <a:endParaRPr lang="en-US" sz="2800" b="1" i="1" dirty="0" smtClean="0">
              <a:latin typeface="Rockwell Condensed" panose="02060603050405020104" pitchFamily="18" charset="0"/>
            </a:endParaRPr>
          </a:p>
          <a:p>
            <a:endParaRPr lang="en-US" sz="2800" b="1" i="1" dirty="0">
              <a:latin typeface="Rockwell Condensed" panose="02060603050405020104" pitchFamily="18" charset="0"/>
            </a:endParaRPr>
          </a:p>
          <a:p>
            <a:endParaRPr lang="ar-J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39A6-6321-F44F-982B-DBAE7645FDE3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6" name="Content Placeholder 17">
            <a:extLst>
              <a:ext uri="{FF2B5EF4-FFF2-40B4-BE49-F238E27FC236}">
                <a16:creationId xmlns:a16="http://schemas.microsoft.com/office/drawing/2014/main" id="{337C9F36-F289-E84A-8200-994A002999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97067" y="625435"/>
            <a:ext cx="4229913" cy="2907984"/>
          </a:xfrm>
        </p:spPr>
      </p:pic>
    </p:spTree>
    <p:extLst>
      <p:ext uri="{BB962C8B-B14F-4D97-AF65-F5344CB8AC3E}">
        <p14:creationId xmlns:p14="http://schemas.microsoft.com/office/powerpoint/2010/main" val="366031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488F-4FFA-BA4F-813A-178A0218D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67500"/>
          </a:xfrm>
        </p:spPr>
        <p:txBody>
          <a:bodyPr/>
          <a:lstStyle/>
          <a:p>
            <a:pPr algn="ctr"/>
            <a:r>
              <a:rPr lang="en-US" sz="2400" dirty="0">
                <a:latin typeface="Arial Black" panose="020B0A04020102020204" pitchFamily="34" charset="0"/>
              </a:rPr>
              <a:t>What is meant by ”substrate-specific”?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976A1-FBC0-D44D-928F-C2A4988A8BF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09045" y="1752600"/>
            <a:ext cx="5299890" cy="35198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Enzymes are </a:t>
            </a:r>
            <a:r>
              <a:rPr lang="en-US" sz="1800" i="1" dirty="0">
                <a:latin typeface="Arial Black" panose="020B0A04020102020204" pitchFamily="34" charset="0"/>
              </a:rPr>
              <a:t>substrate-specific</a:t>
            </a:r>
            <a:r>
              <a:rPr lang="en-US" sz="1800" dirty="0">
                <a:latin typeface="Arial Black" panose="020B0A04020102020204" pitchFamily="34" charset="0"/>
              </a:rPr>
              <a:t>, meaning that they catalyze specific reactions </a:t>
            </a:r>
            <a:r>
              <a:rPr lang="en-US" sz="1800" dirty="0" smtClean="0">
                <a:latin typeface="Arial Black" panose="020B0A04020102020204" pitchFamily="34" charset="0"/>
              </a:rPr>
              <a:t>( it </a:t>
            </a:r>
            <a:r>
              <a:rPr lang="en-US" sz="1800" dirty="0">
                <a:latin typeface="Arial Black" panose="020B0A04020102020204" pitchFamily="34" charset="0"/>
              </a:rPr>
              <a:t>only fits with one </a:t>
            </a:r>
            <a:r>
              <a:rPr lang="en-US" sz="1800" dirty="0" smtClean="0">
                <a:latin typeface="Arial Black" panose="020B0A04020102020204" pitchFamily="34" charset="0"/>
              </a:rPr>
              <a:t>substrate) :</a:t>
            </a:r>
          </a:p>
          <a:p>
            <a:pPr marL="0" indent="0">
              <a:buNone/>
            </a:pPr>
            <a:endParaRPr lang="en-US" sz="1800" dirty="0">
              <a:latin typeface="Arial Black" panose="020B0A04020102020204" pitchFamily="34" charset="0"/>
            </a:endParaRPr>
          </a:p>
          <a:p>
            <a:pPr marL="442913" lvl="1" indent="-260350">
              <a:buFont typeface="Wingdings" panose="05000000000000000000" pitchFamily="2" charset="2"/>
              <a:buChar char="§"/>
            </a:pPr>
            <a:r>
              <a:rPr lang="en-US" sz="1600" u="sng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Proteases:</a:t>
            </a:r>
            <a:r>
              <a:rPr lang="en-US" sz="16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1600" dirty="0">
                <a:latin typeface="Arial Black" panose="020B0A04020102020204" pitchFamily="34" charset="0"/>
              </a:rPr>
              <a:t>break peptide bonds in </a:t>
            </a:r>
            <a:r>
              <a:rPr lang="en-US" sz="1600" dirty="0" smtClean="0">
                <a:latin typeface="Arial Black" panose="020B0A04020102020204" pitchFamily="34" charset="0"/>
              </a:rPr>
              <a:t>proteins.</a:t>
            </a:r>
          </a:p>
          <a:p>
            <a:pPr marL="442913" lvl="1" indent="-260350">
              <a:buFont typeface="Wingdings" panose="05000000000000000000" pitchFamily="2" charset="2"/>
              <a:buChar char="§"/>
            </a:pPr>
            <a:endParaRPr lang="en-US" sz="1600" dirty="0">
              <a:latin typeface="Arial Black" panose="020B0A04020102020204" pitchFamily="34" charset="0"/>
            </a:endParaRPr>
          </a:p>
          <a:p>
            <a:pPr marL="442913" lvl="1" indent="-260350">
              <a:buFont typeface="Wingdings" panose="05000000000000000000" pitchFamily="2" charset="2"/>
              <a:buChar char="§"/>
            </a:pPr>
            <a:r>
              <a:rPr lang="en-US" sz="16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Amylases:</a:t>
            </a:r>
            <a:r>
              <a:rPr lang="en-US" sz="1600" dirty="0" smtClean="0">
                <a:latin typeface="Arial Black" panose="020B0A04020102020204" pitchFamily="34" charset="0"/>
              </a:rPr>
              <a:t> </a:t>
            </a:r>
            <a:r>
              <a:rPr lang="en-US" sz="1600" dirty="0">
                <a:latin typeface="Arial Black" panose="020B0A04020102020204" pitchFamily="34" charset="0"/>
              </a:rPr>
              <a:t>catalyze the hydrolysis of starch </a:t>
            </a:r>
          </a:p>
          <a:p>
            <a:pPr marL="442913" lvl="1" indent="-260350">
              <a:buFont typeface="Wingdings" panose="05000000000000000000" pitchFamily="2" charset="2"/>
              <a:buChar char="§"/>
            </a:pPr>
            <a:endParaRPr lang="en-US" sz="1600" dirty="0" smtClean="0">
              <a:latin typeface="Arial Black" panose="020B0A04020102020204" pitchFamily="34" charset="0"/>
            </a:endParaRPr>
          </a:p>
          <a:p>
            <a:pPr marL="442913" lvl="1" indent="-260350">
              <a:buFont typeface="Wingdings" panose="05000000000000000000" pitchFamily="2" charset="2"/>
              <a:buChar char="§"/>
            </a:pPr>
            <a:r>
              <a:rPr lang="en-US" sz="16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Catalase:</a:t>
            </a:r>
            <a:r>
              <a:rPr lang="en-US" sz="1600" dirty="0" smtClean="0">
                <a:latin typeface="Arial Black" panose="020B0A04020102020204" pitchFamily="34" charset="0"/>
              </a:rPr>
              <a:t> breaks down  H</a:t>
            </a:r>
            <a:r>
              <a:rPr lang="en-US" sz="1200" dirty="0" smtClean="0">
                <a:latin typeface="Arial Black" panose="020B0A04020102020204" pitchFamily="34" charset="0"/>
              </a:rPr>
              <a:t>2</a:t>
            </a:r>
            <a:r>
              <a:rPr lang="en-US" sz="1600" dirty="0" smtClean="0">
                <a:latin typeface="Arial Black" panose="020B0A04020102020204" pitchFamily="34" charset="0"/>
              </a:rPr>
              <a:t>O</a:t>
            </a:r>
            <a:r>
              <a:rPr lang="en-US" sz="1200" dirty="0" smtClean="0">
                <a:latin typeface="Arial Black" panose="020B0A04020102020204" pitchFamily="34" charset="0"/>
              </a:rPr>
              <a:t>2</a:t>
            </a:r>
            <a:r>
              <a:rPr lang="en-US" sz="1600" dirty="0" smtClean="0">
                <a:latin typeface="Arial Black" panose="020B0A04020102020204" pitchFamily="34" charset="0"/>
              </a:rPr>
              <a:t> </a:t>
            </a:r>
          </a:p>
          <a:p>
            <a:pPr marL="442913" lvl="1" indent="-260350">
              <a:buFont typeface="Wingdings" panose="05000000000000000000" pitchFamily="2" charset="2"/>
              <a:buChar char="§"/>
            </a:pPr>
            <a:endParaRPr lang="en-US" sz="1600" dirty="0">
              <a:latin typeface="Arial Black" panose="020B0A04020102020204" pitchFamily="34" charset="0"/>
            </a:endParaRPr>
          </a:p>
          <a:p>
            <a:pPr marL="442913" lvl="1" indent="-260350">
              <a:buFont typeface="Wingdings" panose="05000000000000000000" pitchFamily="2" charset="2"/>
              <a:buChar char="§"/>
            </a:pPr>
            <a:endParaRPr lang="en-US" sz="16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5D76B8-3A00-814D-B0C6-B821F8C2C6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48075" y="1832645"/>
            <a:ext cx="3538725" cy="491969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7949-7ED4-9B42-BF80-9666752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9BA3502-7141-104F-A110-8805A7BF3FE6}"/>
              </a:ext>
            </a:extLst>
          </p:cNvPr>
          <p:cNvSpPr txBox="1">
            <a:spLocks/>
          </p:cNvSpPr>
          <p:nvPr/>
        </p:nvSpPr>
        <p:spPr bwMode="auto">
          <a:xfrm>
            <a:off x="309045" y="5974086"/>
            <a:ext cx="5036519" cy="69129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i="1" dirty="0">
                <a:latin typeface="+mj-lt"/>
              </a:rPr>
              <a:t>Hint: </a:t>
            </a:r>
            <a:r>
              <a:rPr lang="en-US" sz="2000" dirty="0">
                <a:latin typeface="+mj-lt"/>
              </a:rPr>
              <a:t>If a substance’s name ends in the suffix “-</a:t>
            </a:r>
            <a:r>
              <a:rPr lang="en-US" sz="2000" dirty="0" err="1">
                <a:latin typeface="+mj-lt"/>
              </a:rPr>
              <a:t>ase</a:t>
            </a:r>
            <a:r>
              <a:rPr lang="en-US" sz="2000" dirty="0">
                <a:latin typeface="+mj-lt"/>
              </a:rPr>
              <a:t>”, then it is an enzyme </a:t>
            </a:r>
          </a:p>
          <a:p>
            <a:pPr>
              <a:buFont typeface="Wingdings" pitchFamily="2" charset="2"/>
              <a:buChar char="v"/>
            </a:pPr>
            <a:endParaRPr lang="en-US" sz="20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2755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AB38-1420-7247-A259-12CA8337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339350" cy="1051550"/>
          </a:xfrm>
        </p:spPr>
        <p:txBody>
          <a:bodyPr/>
          <a:lstStyle/>
          <a:p>
            <a:pPr algn="ctr"/>
            <a:r>
              <a:rPr lang="en-US" sz="2000" dirty="0" smtClean="0">
                <a:latin typeface="Arial Black" panose="020B0A04020102020204" pitchFamily="34" charset="0"/>
              </a:rPr>
              <a:t>Variables </a:t>
            </a:r>
            <a:r>
              <a:rPr lang="en-US" sz="2000" dirty="0">
                <a:latin typeface="Arial Black" panose="020B0A04020102020204" pitchFamily="34" charset="0"/>
              </a:rPr>
              <a:t>affect </a:t>
            </a:r>
            <a:r>
              <a:rPr lang="en-US" sz="2000" dirty="0" smtClean="0">
                <a:latin typeface="Arial Black" panose="020B0A04020102020204" pitchFamily="34" charset="0"/>
              </a:rPr>
              <a:t>the enzymes’ activities (or the </a:t>
            </a:r>
            <a:r>
              <a:rPr lang="en-US" sz="2000" i="1" dirty="0">
                <a:latin typeface="Arial Black" panose="020B0A04020102020204" pitchFamily="34" charset="0"/>
              </a:rPr>
              <a:t>rate of </a:t>
            </a:r>
            <a:r>
              <a:rPr lang="en-US" sz="2000" i="1" dirty="0" smtClean="0">
                <a:latin typeface="Arial Black" panose="020B0A04020102020204" pitchFamily="34" charset="0"/>
              </a:rPr>
              <a:t>the </a:t>
            </a:r>
            <a:r>
              <a:rPr lang="en-US" sz="2000" dirty="0" smtClean="0">
                <a:latin typeface="Arial Black" panose="020B0A04020102020204" pitchFamily="34" charset="0"/>
              </a:rPr>
              <a:t>enzymatic </a:t>
            </a:r>
            <a:r>
              <a:rPr lang="en-US" sz="2000" i="1" dirty="0" smtClean="0">
                <a:latin typeface="Arial Black" panose="020B0A04020102020204" pitchFamily="34" charset="0"/>
              </a:rPr>
              <a:t>reaction)*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67D8E-60FA-414A-9798-C435538BB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678" y="1508750"/>
            <a:ext cx="7296950" cy="30129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 Black" panose="020B0A04020102020204" pitchFamily="34" charset="0"/>
              </a:rPr>
              <a:t>Enzyme concentration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 Black" panose="020B0A04020102020204" pitchFamily="34" charset="0"/>
              </a:rPr>
              <a:t>Substrate concentration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 Black" panose="020B0A04020102020204" pitchFamily="34" charset="0"/>
              </a:rPr>
              <a:t>Temperature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 Black" panose="020B0A04020102020204" pitchFamily="34" charset="0"/>
              </a:rPr>
              <a:t>pH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Arial Black" panose="020B0A04020102020204" pitchFamily="34" charset="0"/>
              </a:rPr>
              <a:t>Cofactors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Arial Black" panose="020B0A04020102020204" pitchFamily="34" charset="0"/>
              </a:rPr>
              <a:t>Salt concentration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Arial Black" panose="020B0A04020102020204" pitchFamily="34" charset="0"/>
              </a:rPr>
              <a:t>Pressure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Arial Black" panose="020B0A04020102020204" pitchFamily="34" charset="0"/>
              </a:rPr>
              <a:t>Surface area</a:t>
            </a:r>
            <a:endParaRPr lang="en-US" sz="2800" dirty="0" smtClean="0"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F8E91-63C2-BD40-A699-474CAA25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560137-391D-434D-8376-D62CE4CB95C0}"/>
              </a:ext>
            </a:extLst>
          </p:cNvPr>
          <p:cNvSpPr txBox="1">
            <a:spLocks/>
          </p:cNvSpPr>
          <p:nvPr/>
        </p:nvSpPr>
        <p:spPr bwMode="auto">
          <a:xfrm>
            <a:off x="270640" y="5810110"/>
            <a:ext cx="8756339" cy="7680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0000"/>
            </a:contourClr>
          </a:sp3d>
          <a:ex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i="1" dirty="0" smtClean="0">
                <a:latin typeface="+mj-lt"/>
              </a:rPr>
              <a:t>* the </a:t>
            </a:r>
            <a:r>
              <a:rPr lang="en-US" sz="1800" b="1" i="1" dirty="0">
                <a:latin typeface="+mj-lt"/>
              </a:rPr>
              <a:t>amount of substrate changed (or amount of product formed) in a given period of </a:t>
            </a:r>
            <a:r>
              <a:rPr lang="en-US" sz="1800" b="1" i="1" dirty="0" smtClean="0"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en-US" sz="1800" b="1" i="1" dirty="0" smtClean="0">
                <a:latin typeface="+mj-lt"/>
              </a:rPr>
              <a:t>     time</a:t>
            </a:r>
            <a:endParaRPr lang="en-US" sz="1800" b="1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756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AB38-1420-7247-A259-12CA8337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59525"/>
          </a:xfrm>
        </p:spPr>
        <p:txBody>
          <a:bodyPr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Enzyme concentration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B3FC86-2F50-4C4E-96C1-884CCB3B785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17020" y="1176088"/>
            <a:ext cx="9026980" cy="858662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[</a:t>
            </a:r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enzyme</a:t>
            </a:r>
            <a:r>
              <a:rPr lang="en-US" sz="2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]         rate of reaction </a:t>
            </a:r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(to a certain </a:t>
            </a:r>
            <a:r>
              <a:rPr lang="en-US" sz="2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extent) </a:t>
            </a:r>
          </a:p>
          <a:p>
            <a:pPr marL="0" indent="0" algn="ctr">
              <a:buNone/>
            </a:pP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More enzymes = more frequently collide with substrate</a:t>
            </a:r>
            <a:endParaRPr lang="en-US" sz="2000" dirty="0">
              <a:solidFill>
                <a:schemeClr val="accent1">
                  <a:lumMod val="50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F8E91-63C2-BD40-A699-474CAA25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441809-5985-3A45-8793-BCC7C58139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572000" y="2430470"/>
            <a:ext cx="4444982" cy="3812902"/>
          </a:xfr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75F223-A953-474E-9EF1-262985D6C068}"/>
              </a:ext>
            </a:extLst>
          </p:cNvPr>
          <p:cNvSpPr txBox="1"/>
          <p:nvPr/>
        </p:nvSpPr>
        <p:spPr>
          <a:xfrm>
            <a:off x="128513" y="2315759"/>
            <a:ext cx="42322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At the </a:t>
            </a:r>
            <a:r>
              <a:rPr lang="en-US" sz="2000" b="1" dirty="0">
                <a:latin typeface="Arial Black" panose="020B0A04020102020204" pitchFamily="34" charset="0"/>
              </a:rPr>
              <a:t>point of saturation</a:t>
            </a:r>
            <a:r>
              <a:rPr lang="en-US" sz="2000" dirty="0">
                <a:latin typeface="Arial Black" panose="020B0A04020102020204" pitchFamily="34" charset="0"/>
              </a:rPr>
              <a:t>, all substrates are bound</a:t>
            </a:r>
            <a:r>
              <a:rPr lang="en-US" sz="2000" dirty="0" smtClean="0">
                <a:latin typeface="Arial Black" panose="020B0A04020102020204" pitchFamily="34" charset="0"/>
              </a:rPr>
              <a:t>.</a:t>
            </a:r>
          </a:p>
          <a:p>
            <a:r>
              <a:rPr lang="en-US" sz="2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                </a:t>
            </a:r>
          </a:p>
          <a:p>
            <a:r>
              <a:rPr lang="en-US" sz="2000" dirty="0" smtClean="0">
                <a:latin typeface="Arial Black" panose="020B0A04020102020204" pitchFamily="34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This </a:t>
            </a:r>
            <a:r>
              <a:rPr lang="en-US" sz="2000" dirty="0">
                <a:solidFill>
                  <a:srgbClr val="FF0000"/>
                </a:solidFill>
                <a:latin typeface="Arial Black" panose="020B0A04020102020204" pitchFamily="34" charset="0"/>
              </a:rPr>
              <a:t>means </a:t>
            </a:r>
            <a:r>
              <a:rPr lang="en-US" sz="2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that: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rial Black" panose="020B0A04020102020204" pitchFamily="34" charset="0"/>
              </a:rPr>
              <a:t>A</a:t>
            </a:r>
            <a:r>
              <a:rPr lang="en-US" sz="2000" dirty="0" smtClean="0">
                <a:latin typeface="Arial Black" panose="020B0A04020102020204" pitchFamily="34" charset="0"/>
              </a:rPr>
              <a:t>dding </a:t>
            </a:r>
            <a:r>
              <a:rPr lang="en-US" sz="2000" dirty="0">
                <a:latin typeface="Arial Black" panose="020B0A04020102020204" pitchFamily="34" charset="0"/>
              </a:rPr>
              <a:t>more enzymes will </a:t>
            </a:r>
            <a:r>
              <a:rPr lang="en-US" sz="2000" u="sng" dirty="0">
                <a:latin typeface="Arial Black" panose="020B0A04020102020204" pitchFamily="34" charset="0"/>
              </a:rPr>
              <a:t>not</a:t>
            </a:r>
            <a:r>
              <a:rPr lang="en-US" sz="2000" dirty="0">
                <a:latin typeface="Arial Black" panose="020B0A04020102020204" pitchFamily="34" charset="0"/>
              </a:rPr>
              <a:t> increase the rate of reaction</a:t>
            </a:r>
            <a:r>
              <a:rPr lang="en-US" sz="2000" dirty="0" smtClean="0">
                <a:latin typeface="Arial Black" panose="020B0A040201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latin typeface="Arial Black" panose="020B0A040201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 Black" panose="020B0A04020102020204" pitchFamily="34" charset="0"/>
              </a:rPr>
              <a:t>The substrate becomes the limiting factor.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latin typeface="Arial Black" panose="020B0A040201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 Black" panose="020B0A04020102020204" pitchFamily="34" charset="0"/>
              </a:rPr>
              <a:t>Not all enzyme molecules</a:t>
            </a:r>
          </a:p>
          <a:p>
            <a:r>
              <a:rPr lang="en-US" sz="2000" dirty="0" smtClean="0">
                <a:latin typeface="Arial Black" panose="020B0A04020102020204" pitchFamily="34" charset="0"/>
              </a:rPr>
              <a:t>     can find substrate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 </a:t>
            </a:r>
            <a:r>
              <a:rPr lang="en-US" sz="2000" dirty="0" smtClean="0">
                <a:latin typeface="Arial Black" panose="020B0A04020102020204" pitchFamily="34" charset="0"/>
              </a:rPr>
              <a:t>    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5" name="Up Arrow 4"/>
          <p:cNvSpPr/>
          <p:nvPr/>
        </p:nvSpPr>
        <p:spPr bwMode="auto">
          <a:xfrm>
            <a:off x="207568" y="1175225"/>
            <a:ext cx="151606" cy="422455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JO" sz="2400" b="0" i="0" u="none" strike="noStrike" cap="none" normalizeH="0" baseline="0" smtClean="0">
              <a:ln>
                <a:solidFill>
                  <a:srgbClr val="FF0000"/>
                </a:solidFill>
              </a:ln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9" name="Up Arrow 8"/>
          <p:cNvSpPr/>
          <p:nvPr/>
        </p:nvSpPr>
        <p:spPr bwMode="auto">
          <a:xfrm>
            <a:off x="2610277" y="1175225"/>
            <a:ext cx="159085" cy="422455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JO" sz="2400" b="0" i="0" u="none" strike="noStrike" cap="none" normalizeH="0" baseline="0" smtClean="0">
              <a:ln>
                <a:solidFill>
                  <a:srgbClr val="FF0000"/>
                </a:solidFill>
              </a:ln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" name="Right Arrow 6"/>
          <p:cNvSpPr/>
          <p:nvPr/>
        </p:nvSpPr>
        <p:spPr bwMode="auto">
          <a:xfrm>
            <a:off x="2043326" y="1278088"/>
            <a:ext cx="539475" cy="319592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JO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44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AB38-1420-7247-A259-12CA8337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10" y="293926"/>
            <a:ext cx="8229600" cy="673903"/>
          </a:xfrm>
        </p:spPr>
        <p:txBody>
          <a:bodyPr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Substrate concentration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B3FC86-2F50-4C4E-96C1-884CCB3B785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97086" y="1006424"/>
            <a:ext cx="8950170" cy="1102672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[</a:t>
            </a:r>
            <a:r>
              <a:rPr lang="en-US" sz="2000" dirty="0">
                <a:solidFill>
                  <a:srgbClr val="FF0000"/>
                </a:solidFill>
                <a:latin typeface="Arial Black" panose="020B0A04020102020204" pitchFamily="34" charset="0"/>
              </a:rPr>
              <a:t>substrate] </a:t>
            </a:r>
            <a:r>
              <a:rPr lang="en-US" sz="2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=     rate of the reaction </a:t>
            </a:r>
            <a:r>
              <a:rPr lang="en-US" sz="2000" dirty="0">
                <a:solidFill>
                  <a:srgbClr val="FF0000"/>
                </a:solidFill>
                <a:latin typeface="Arial Black" panose="020B0A04020102020204" pitchFamily="34" charset="0"/>
              </a:rPr>
              <a:t>(to a certain extent) </a:t>
            </a:r>
          </a:p>
          <a:p>
            <a:pPr marL="0" lvl="0" indent="0" algn="ctr">
              <a:buClr>
                <a:srgbClr val="00007D"/>
              </a:buClr>
              <a:buNone/>
            </a:pPr>
            <a:r>
              <a:rPr lang="en-US" sz="2000" dirty="0">
                <a:solidFill>
                  <a:srgbClr val="9999FF">
                    <a:lumMod val="50000"/>
                  </a:srgbClr>
                </a:solidFill>
                <a:latin typeface="Arial Black" panose="020B0A04020102020204" pitchFamily="34" charset="0"/>
              </a:rPr>
              <a:t>More </a:t>
            </a:r>
            <a:r>
              <a:rPr lang="en-US" sz="2000" dirty="0" smtClean="0">
                <a:solidFill>
                  <a:srgbClr val="9999FF">
                    <a:lumMod val="50000"/>
                  </a:srgbClr>
                </a:solidFill>
                <a:latin typeface="Arial Black" panose="020B0A04020102020204" pitchFamily="34" charset="0"/>
              </a:rPr>
              <a:t>substrate </a:t>
            </a:r>
            <a:r>
              <a:rPr lang="en-US" sz="2000" dirty="0">
                <a:solidFill>
                  <a:srgbClr val="9999FF">
                    <a:lumMod val="50000"/>
                  </a:srgbClr>
                </a:solidFill>
                <a:latin typeface="Arial Black" panose="020B0A04020102020204" pitchFamily="34" charset="0"/>
              </a:rPr>
              <a:t>= more frequently collide with </a:t>
            </a:r>
            <a:r>
              <a:rPr lang="en-US" sz="2000" dirty="0" smtClean="0">
                <a:solidFill>
                  <a:srgbClr val="9999FF">
                    <a:lumMod val="50000"/>
                  </a:srgbClr>
                </a:solidFill>
                <a:latin typeface="Arial Black" panose="020B0A04020102020204" pitchFamily="34" charset="0"/>
              </a:rPr>
              <a:t>enzyme</a:t>
            </a:r>
            <a:endParaRPr lang="en-US" sz="2000" dirty="0">
              <a:solidFill>
                <a:srgbClr val="9999FF">
                  <a:lumMod val="50000"/>
                </a:srgbClr>
              </a:solidFill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endParaRPr lang="en-US" dirty="0">
              <a:effectLst/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F8E91-63C2-BD40-A699-474CAA25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6CFB6D-C1C9-0045-8FBC-D82F9D2DEA59}"/>
              </a:ext>
            </a:extLst>
          </p:cNvPr>
          <p:cNvSpPr txBox="1"/>
          <p:nvPr/>
        </p:nvSpPr>
        <p:spPr>
          <a:xfrm>
            <a:off x="35741" y="2235384"/>
            <a:ext cx="4441306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 Black" panose="020B0A04020102020204" pitchFamily="34" charset="0"/>
              </a:rPr>
              <a:t>At the </a:t>
            </a:r>
            <a:r>
              <a:rPr lang="en-US" sz="1800" b="1" dirty="0">
                <a:latin typeface="Arial Black" panose="020B0A04020102020204" pitchFamily="34" charset="0"/>
              </a:rPr>
              <a:t>point of saturation</a:t>
            </a:r>
            <a:r>
              <a:rPr lang="en-US" sz="1800" dirty="0">
                <a:latin typeface="Arial Black" panose="020B0A04020102020204" pitchFamily="34" charset="0"/>
              </a:rPr>
              <a:t>, all </a:t>
            </a:r>
            <a:r>
              <a:rPr lang="en-US" sz="1800" dirty="0" smtClean="0">
                <a:latin typeface="Arial Black" panose="020B0A04020102020204" pitchFamily="34" charset="0"/>
              </a:rPr>
              <a:t>substrate </a:t>
            </a:r>
            <a:r>
              <a:rPr lang="en-US" sz="1800" dirty="0">
                <a:latin typeface="Arial Black" panose="020B0A04020102020204" pitchFamily="34" charset="0"/>
              </a:rPr>
              <a:t>are </a:t>
            </a:r>
            <a:r>
              <a:rPr lang="en-US" sz="1800" dirty="0" smtClean="0">
                <a:latin typeface="Arial Black" panose="020B0A04020102020204" pitchFamily="34" charset="0"/>
              </a:rPr>
              <a:t>bound to enzymes. </a:t>
            </a:r>
            <a:endParaRPr lang="en-US" sz="1800" dirty="0">
              <a:latin typeface="Arial Black" panose="020B0A04020102020204" pitchFamily="34" charset="0"/>
            </a:endParaRPr>
          </a:p>
          <a:p>
            <a:pPr algn="ctr"/>
            <a:endParaRPr lang="en-US" dirty="0">
              <a:latin typeface="+mj-lt"/>
            </a:endParaRPr>
          </a:p>
          <a:p>
            <a:r>
              <a:rPr lang="en-US" sz="1800" dirty="0">
                <a:solidFill>
                  <a:srgbClr val="FF0000"/>
                </a:solidFill>
                <a:latin typeface="Arial Black" panose="020B0A04020102020204" pitchFamily="34" charset="0"/>
              </a:rPr>
              <a:t>This means </a:t>
            </a:r>
            <a:r>
              <a:rPr lang="en-US" sz="1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that:</a:t>
            </a:r>
          </a:p>
          <a:p>
            <a:endParaRPr lang="en-US" sz="1800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latin typeface="Arial Black" panose="020B0A04020102020204" pitchFamily="34" charset="0"/>
              </a:rPr>
              <a:t>Adding </a:t>
            </a:r>
            <a:r>
              <a:rPr lang="en-US" sz="1800" dirty="0">
                <a:latin typeface="Arial Black" panose="020B0A04020102020204" pitchFamily="34" charset="0"/>
              </a:rPr>
              <a:t>more substrate will </a:t>
            </a:r>
            <a:r>
              <a:rPr lang="en-US" sz="1800" u="sng" dirty="0">
                <a:latin typeface="Arial Black" panose="020B0A04020102020204" pitchFamily="34" charset="0"/>
              </a:rPr>
              <a:t>not</a:t>
            </a:r>
            <a:r>
              <a:rPr lang="en-US" sz="1800" dirty="0">
                <a:latin typeface="Arial Black" panose="020B0A04020102020204" pitchFamily="34" charset="0"/>
              </a:rPr>
              <a:t> increase the rate of reaction</a:t>
            </a:r>
            <a:r>
              <a:rPr lang="en-US" sz="1800" dirty="0" smtClean="0">
                <a:latin typeface="Arial Black" panose="020B0A040201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latin typeface="Arial Black" panose="020B0A0402010202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Arial Black" panose="020B0A04020102020204" pitchFamily="34" charset="0"/>
              </a:rPr>
              <a:t>The </a:t>
            </a: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enzyme becomes the </a:t>
            </a:r>
            <a:r>
              <a:rPr lang="en-US" sz="2000" dirty="0">
                <a:solidFill>
                  <a:srgbClr val="000000"/>
                </a:solidFill>
                <a:latin typeface="Arial Black" panose="020B0A04020102020204" pitchFamily="34" charset="0"/>
              </a:rPr>
              <a:t>limiting factor.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Arial Black" panose="020B0A04020102020204" pitchFamily="34" charset="0"/>
              </a:rPr>
              <a:t>Not all </a:t>
            </a: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substrate </a:t>
            </a:r>
            <a:r>
              <a:rPr lang="en-US" sz="2000" dirty="0">
                <a:solidFill>
                  <a:srgbClr val="000000"/>
                </a:solidFill>
                <a:latin typeface="Arial Black" panose="020B0A04020102020204" pitchFamily="34" charset="0"/>
              </a:rPr>
              <a:t>molecules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Arial Black" panose="020B0A04020102020204" pitchFamily="34" charset="0"/>
              </a:rPr>
              <a:t>     can find </a:t>
            </a: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enzyme to bind.</a:t>
            </a:r>
            <a:endParaRPr lang="en-US" sz="1800" dirty="0"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latin typeface="Arial Black" panose="020B0A040201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774" y="2130306"/>
            <a:ext cx="4793226" cy="4447905"/>
          </a:xfrm>
          <a:prstGeom prst="rect">
            <a:avLst/>
          </a:prstGeom>
        </p:spPr>
      </p:pic>
      <p:sp>
        <p:nvSpPr>
          <p:cNvPr id="11" name="Up Arrow 10"/>
          <p:cNvSpPr/>
          <p:nvPr/>
        </p:nvSpPr>
        <p:spPr bwMode="auto">
          <a:xfrm>
            <a:off x="2728560" y="985214"/>
            <a:ext cx="153620" cy="422455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JO" sz="2400" b="0" i="0" u="none" strike="noStrike" cap="none" normalizeH="0" baseline="0" smtClean="0">
              <a:ln>
                <a:solidFill>
                  <a:srgbClr val="FF0000"/>
                </a:solidFill>
              </a:ln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2" name="Up Arrow 11"/>
          <p:cNvSpPr/>
          <p:nvPr/>
        </p:nvSpPr>
        <p:spPr bwMode="auto">
          <a:xfrm>
            <a:off x="457200" y="1058963"/>
            <a:ext cx="153620" cy="422455"/>
          </a:xfrm>
          <a:prstGeom prst="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JO" sz="2400" b="0" i="0" u="none" strike="noStrike" cap="none" normalizeH="0" baseline="0" smtClean="0">
              <a:ln>
                <a:solidFill>
                  <a:srgbClr val="FF0000"/>
                </a:solidFill>
              </a:ln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43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AB38-1420-7247-A259-12CA8337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97930"/>
          </a:xfrm>
        </p:spPr>
        <p:txBody>
          <a:bodyPr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Temperature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F8E91-63C2-BD40-A699-474CAA25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00" y="1547155"/>
            <a:ext cx="7642595" cy="4957773"/>
          </a:xfrm>
        </p:spPr>
      </p:pic>
    </p:spTree>
    <p:extLst>
      <p:ext uri="{BB962C8B-B14F-4D97-AF65-F5344CB8AC3E}">
        <p14:creationId xmlns:p14="http://schemas.microsoft.com/office/powerpoint/2010/main" val="397692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488F-4FFA-BA4F-813A-178A0218D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475475"/>
          </a:xfrm>
        </p:spPr>
        <p:txBody>
          <a:bodyPr/>
          <a:lstStyle/>
          <a:p>
            <a:pPr algn="ctr"/>
            <a:r>
              <a:rPr lang="en-US" sz="2400" dirty="0" smtClean="0">
                <a:latin typeface="Arial Black" panose="020B0A04020102020204" pitchFamily="34" charset="0"/>
              </a:rPr>
              <a:t>Effects of temperature on enzyme activity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976A1-FBC0-D44D-928F-C2A4988A8BF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0175" y="1275994"/>
            <a:ext cx="8499995" cy="54174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u="sng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Optimum T</a:t>
            </a:r>
            <a:r>
              <a:rPr lang="en-US" sz="2000" u="sng" baseline="60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O</a:t>
            </a:r>
            <a:r>
              <a:rPr lang="en-US" sz="2000" u="sng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:  </a:t>
            </a:r>
          </a:p>
          <a:p>
            <a:pPr indent="100013"/>
            <a:r>
              <a:rPr lang="en-US" sz="2000" dirty="0" smtClean="0">
                <a:latin typeface="Arial Black" panose="020B0A04020102020204" pitchFamily="34" charset="0"/>
              </a:rPr>
              <a:t>Molecules accept their highest kinetic energy. </a:t>
            </a:r>
          </a:p>
          <a:p>
            <a:pPr indent="100013"/>
            <a:r>
              <a:rPr lang="en-US" sz="2000" dirty="0" smtClean="0">
                <a:latin typeface="Arial Black" panose="020B0A04020102020204" pitchFamily="34" charset="0"/>
              </a:rPr>
              <a:t>Then the greatest number of molecular collisions take </a:t>
            </a:r>
          </a:p>
          <a:p>
            <a:pPr indent="0">
              <a:buNone/>
            </a:pPr>
            <a:r>
              <a:rPr lang="en-US" sz="2000" dirty="0">
                <a:latin typeface="Arial Black" panose="020B0A04020102020204" pitchFamily="34" charset="0"/>
              </a:rPr>
              <a:t> </a:t>
            </a:r>
            <a:r>
              <a:rPr lang="en-US" sz="2000" dirty="0" smtClean="0">
                <a:latin typeface="Arial Black" panose="020B0A04020102020204" pitchFamily="34" charset="0"/>
              </a:rPr>
              <a:t>  place.</a:t>
            </a:r>
          </a:p>
          <a:p>
            <a:pPr indent="100013"/>
            <a:r>
              <a:rPr lang="en-US" sz="2000" dirty="0" smtClean="0">
                <a:latin typeface="Arial Black" panose="020B0A04020102020204" pitchFamily="34" charset="0"/>
              </a:rPr>
              <a:t>Shows the highest enzyme’s activity.</a:t>
            </a:r>
          </a:p>
          <a:p>
            <a:pPr indent="100013"/>
            <a:r>
              <a:rPr lang="en-US" sz="2000" dirty="0" smtClean="0">
                <a:latin typeface="Arial Black" panose="020B0A04020102020204" pitchFamily="34" charset="0"/>
              </a:rPr>
              <a:t> For Human enzymes the range of optimum temperature   </a:t>
            </a:r>
          </a:p>
          <a:p>
            <a:pPr indent="0">
              <a:buNone/>
            </a:pPr>
            <a:r>
              <a:rPr lang="en-US" sz="2000" dirty="0">
                <a:latin typeface="Arial Black" panose="020B0A04020102020204" pitchFamily="34" charset="0"/>
              </a:rPr>
              <a:t> </a:t>
            </a:r>
            <a:r>
              <a:rPr lang="en-US" sz="2000" dirty="0" smtClean="0">
                <a:latin typeface="Arial Black" panose="020B0A04020102020204" pitchFamily="34" charset="0"/>
              </a:rPr>
              <a:t>   is 35</a:t>
            </a:r>
            <a:r>
              <a:rPr lang="en-US" sz="2000" baseline="60000" dirty="0" smtClean="0">
                <a:latin typeface="Arial Black" panose="020B0A04020102020204" pitchFamily="34" charset="0"/>
              </a:rPr>
              <a:t>o</a:t>
            </a:r>
            <a:r>
              <a:rPr lang="en-US" sz="2000" dirty="0" smtClean="0">
                <a:latin typeface="Arial Black" panose="020B0A04020102020204" pitchFamily="34" charset="0"/>
              </a:rPr>
              <a:t> – 40</a:t>
            </a:r>
            <a:r>
              <a:rPr lang="en-US" sz="2000" baseline="60000" dirty="0" smtClean="0">
                <a:latin typeface="Arial Black" panose="020B0A04020102020204" pitchFamily="34" charset="0"/>
              </a:rPr>
              <a:t>o</a:t>
            </a:r>
            <a:r>
              <a:rPr lang="en-US" sz="2000" dirty="0" smtClean="0">
                <a:latin typeface="Arial Black" panose="020B0A04020102020204" pitchFamily="34" charset="0"/>
              </a:rPr>
              <a:t>C</a:t>
            </a:r>
          </a:p>
          <a:p>
            <a:pPr marL="0" indent="0">
              <a:buNone/>
            </a:pPr>
            <a:endParaRPr lang="en-US" sz="2000" dirty="0" smtClean="0"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u="sng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Heat: Increase beyond optimum</a:t>
            </a:r>
            <a:r>
              <a:rPr lang="en-US" sz="2000" u="sng" dirty="0">
                <a:solidFill>
                  <a:srgbClr val="FF0000"/>
                </a:solidFill>
                <a:latin typeface="Arial Black" panose="020B0A04020102020204" pitchFamily="34" charset="0"/>
              </a:rPr>
              <a:t> T</a:t>
            </a:r>
            <a:r>
              <a:rPr lang="en-US" sz="2000" u="sng" baseline="60000" dirty="0">
                <a:solidFill>
                  <a:srgbClr val="FF0000"/>
                </a:solidFill>
                <a:latin typeface="Arial Black" panose="020B0A04020102020204" pitchFamily="34" charset="0"/>
              </a:rPr>
              <a:t>O</a:t>
            </a:r>
            <a:r>
              <a:rPr lang="en-US" sz="2000" u="sng" dirty="0">
                <a:solidFill>
                  <a:srgbClr val="FF0000"/>
                </a:solidFill>
                <a:latin typeface="Arial Black" panose="020B0A04020102020204" pitchFamily="34" charset="0"/>
              </a:rPr>
              <a:t>:</a:t>
            </a:r>
            <a:r>
              <a:rPr lang="en-US" sz="2000" dirty="0" smtClean="0">
                <a:latin typeface="Arial Black" panose="020B0A04020102020204" pitchFamily="34" charset="0"/>
              </a:rPr>
              <a:t>    </a:t>
            </a:r>
            <a:endParaRPr lang="en-US" sz="2000" dirty="0" smtClean="0">
              <a:latin typeface="Arial Black" panose="020B0A04020102020204" pitchFamily="34" charset="0"/>
            </a:endParaRPr>
          </a:p>
          <a:p>
            <a:pPr indent="100013"/>
            <a:r>
              <a:rPr lang="en-US" sz="1800" dirty="0" smtClean="0">
                <a:latin typeface="Arial Black" panose="020B0A04020102020204" pitchFamily="34" charset="0"/>
              </a:rPr>
              <a:t>The extreme high temperature:</a:t>
            </a:r>
          </a:p>
          <a:p>
            <a:pPr marL="1273175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latin typeface="Arial Black" panose="020B0A04020102020204" pitchFamily="34" charset="0"/>
              </a:rPr>
              <a:t> Disrupts the weak bonds </a:t>
            </a:r>
            <a:r>
              <a:rPr lang="en-US" sz="1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( H  and Ionic bond ):</a:t>
            </a:r>
          </a:p>
          <a:p>
            <a:pPr marL="1430338" indent="93663">
              <a:buFont typeface="Courier New" panose="02070309020205020404" pitchFamily="49" charset="0"/>
              <a:buChar char="o"/>
              <a:tabLst>
                <a:tab pos="1076325" algn="l"/>
              </a:tabLst>
            </a:pPr>
            <a:r>
              <a:rPr lang="en-US" sz="1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in enzyme</a:t>
            </a:r>
          </a:p>
          <a:p>
            <a:pPr marL="1430338" indent="93663">
              <a:buFont typeface="Courier New" panose="02070309020205020404" pitchFamily="49" charset="0"/>
              <a:buChar char="o"/>
              <a:tabLst>
                <a:tab pos="1076325" algn="l"/>
              </a:tabLst>
            </a:pP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between enzyme and substrate                              </a:t>
            </a:r>
          </a:p>
          <a:p>
            <a:pPr marL="1330325" lvl="0">
              <a:buClr>
                <a:srgbClr val="00007D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Denature the enzymes = Lose the 3D shape </a:t>
            </a:r>
          </a:p>
          <a:p>
            <a:pPr marL="987425" lvl="0" indent="0">
              <a:buClr>
                <a:srgbClr val="00007D"/>
              </a:buClr>
              <a:buNone/>
            </a:pPr>
            <a:r>
              <a:rPr lang="en-US" sz="2000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   (3</a:t>
            </a:r>
            <a:r>
              <a:rPr lang="en-US" sz="2000" baseline="60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o</a:t>
            </a: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 structure)</a:t>
            </a:r>
            <a:endParaRPr lang="en-US" sz="20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628650" indent="-285750"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7949-7ED4-9B42-BF80-9666752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40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5855" y="663839"/>
            <a:ext cx="8531375" cy="5946868"/>
          </a:xfrm>
        </p:spPr>
        <p:txBody>
          <a:bodyPr/>
          <a:lstStyle/>
          <a:p>
            <a:pPr lvl="0">
              <a:buClr>
                <a:srgbClr val="00007D"/>
              </a:buClr>
              <a:buFont typeface="Wingdings" panose="05000000000000000000" pitchFamily="2" charset="2"/>
              <a:buChar char="v"/>
            </a:pPr>
            <a:r>
              <a:rPr lang="en-US" sz="2000" u="sng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Cold temperature: Decrease away from optimum </a:t>
            </a:r>
            <a:r>
              <a:rPr lang="en-US" sz="2000" u="sng" dirty="0">
                <a:solidFill>
                  <a:srgbClr val="FF0000"/>
                </a:solidFill>
                <a:latin typeface="Arial Black" panose="020B0A04020102020204" pitchFamily="34" charset="0"/>
              </a:rPr>
              <a:t>T</a:t>
            </a:r>
            <a:r>
              <a:rPr lang="en-US" sz="2000" u="sng" baseline="60000" dirty="0">
                <a:solidFill>
                  <a:srgbClr val="FF0000"/>
                </a:solidFill>
                <a:latin typeface="Arial Black" panose="020B0A04020102020204" pitchFamily="34" charset="0"/>
              </a:rPr>
              <a:t>O</a:t>
            </a:r>
            <a:r>
              <a:rPr lang="en-US" sz="2000" u="sng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:</a:t>
            </a:r>
          </a:p>
          <a:p>
            <a:pPr lvl="0">
              <a:buClr>
                <a:srgbClr val="00007D"/>
              </a:buClr>
              <a:buFont typeface="Wingdings" panose="05000000000000000000" pitchFamily="2" charset="2"/>
              <a:buChar char="v"/>
            </a:pPr>
            <a:endParaRPr lang="en-US" sz="2000" u="sng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lvl="0" indent="100013">
              <a:buClr>
                <a:srgbClr val="00007D"/>
              </a:buClr>
            </a:pP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Lower the kinetic energy of molecules</a:t>
            </a:r>
          </a:p>
          <a:p>
            <a:pPr lvl="0" indent="100013">
              <a:buClr>
                <a:srgbClr val="00007D"/>
              </a:buClr>
            </a:pPr>
            <a:endParaRPr lang="en-US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lvl="0" indent="100013">
              <a:buClr>
                <a:srgbClr val="00007D"/>
              </a:buClr>
            </a:pP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Molecules move slower</a:t>
            </a:r>
          </a:p>
          <a:p>
            <a:pPr lvl="0" indent="100013">
              <a:buClr>
                <a:srgbClr val="00007D"/>
              </a:buClr>
            </a:pPr>
            <a:endParaRPr lang="en-US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lvl="0" indent="100013">
              <a:buClr>
                <a:srgbClr val="00007D"/>
              </a:buClr>
            </a:pP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Decrease the collision between enzyme and substrate</a:t>
            </a:r>
          </a:p>
          <a:p>
            <a:pPr lvl="0" indent="100013">
              <a:buClr>
                <a:srgbClr val="00007D"/>
              </a:buClr>
            </a:pPr>
            <a:endParaRPr lang="en-US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lvl="0" indent="100013">
              <a:buClr>
                <a:srgbClr val="00007D"/>
              </a:buClr>
            </a:pP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At extreme low </a:t>
            </a:r>
            <a:r>
              <a:rPr lang="en-US" sz="2000" u="sng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</a:t>
            </a:r>
            <a:r>
              <a:rPr lang="en-US" sz="2000" u="sng" baseline="60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O </a:t>
            </a: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 the enzyme will be inactivated and this will </a:t>
            </a:r>
          </a:p>
          <a:p>
            <a:pPr lvl="0" indent="0">
              <a:buClr>
                <a:srgbClr val="00007D"/>
              </a:buClr>
              <a:buNone/>
            </a:pPr>
            <a:r>
              <a:rPr lang="en-US" sz="1800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 inhibit the reaction</a:t>
            </a:r>
          </a:p>
          <a:p>
            <a:pPr lvl="0" indent="0">
              <a:buClr>
                <a:srgbClr val="00007D"/>
              </a:buClr>
              <a:buNone/>
            </a:pPr>
            <a:endParaRPr lang="en-US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39A6-6321-F44F-982B-DBAE7645FDE3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30" y="4093263"/>
            <a:ext cx="5280369" cy="251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5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AB38-1420-7247-A259-12CA8337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13880"/>
          </a:xfrm>
        </p:spPr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sz="2800" dirty="0" smtClean="0">
                <a:latin typeface="Arial Black" panose="020B0A04020102020204" pitchFamily="34" charset="0"/>
              </a:rPr>
              <a:t>Effect of pH on enzyme’s activity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B3FC86-2F50-4C4E-96C1-884CCB3B785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0" y="1428281"/>
            <a:ext cx="5724150" cy="4957904"/>
          </a:xfrm>
        </p:spPr>
        <p:txBody>
          <a:bodyPr/>
          <a:lstStyle/>
          <a:p>
            <a:pPr marL="77788" indent="-77788">
              <a:buFont typeface="Wingdings" panose="05000000000000000000" pitchFamily="2" charset="2"/>
              <a:buChar char="v"/>
            </a:pPr>
            <a:r>
              <a:rPr lang="en-US" sz="1800" dirty="0" smtClean="0">
                <a:effectLst/>
                <a:latin typeface="Arial Black" panose="020B0A04020102020204" pitchFamily="34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 Black" panose="020B0A04020102020204" pitchFamily="34" charset="0"/>
              </a:rPr>
              <a:t>Optimum </a:t>
            </a:r>
            <a:r>
              <a:rPr lang="en-US" sz="1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pH</a:t>
            </a:r>
            <a:r>
              <a:rPr lang="en-US" sz="1800" dirty="0" smtClean="0">
                <a:latin typeface="Arial Black" panose="020B0A04020102020204" pitchFamily="34" charset="0"/>
              </a:rPr>
              <a:t>: </a:t>
            </a:r>
          </a:p>
          <a:p>
            <a:pPr marL="354013" indent="-106363">
              <a:buFont typeface="Wingdings" panose="05000000000000000000" pitchFamily="2" charset="2"/>
              <a:buChar char="q"/>
              <a:tabLst>
                <a:tab pos="176213" algn="l"/>
              </a:tabLst>
            </a:pPr>
            <a:r>
              <a:rPr lang="en-US" sz="1800" dirty="0" smtClean="0">
                <a:latin typeface="Arial Black" panose="020B0A04020102020204" pitchFamily="34" charset="0"/>
              </a:rPr>
              <a:t> It is the pH at which the enzyme is </a:t>
            </a:r>
          </a:p>
          <a:p>
            <a:pPr marL="265112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  most effective</a:t>
            </a:r>
          </a:p>
          <a:p>
            <a:pPr marL="265112" indent="0">
              <a:buNone/>
            </a:pPr>
            <a:endParaRPr lang="en-US" sz="1800" dirty="0">
              <a:latin typeface="Arial Black" panose="020B0A04020102020204" pitchFamily="34" charset="0"/>
            </a:endParaRPr>
          </a:p>
          <a:p>
            <a:pPr marL="550862" indent="-285750">
              <a:buFont typeface="Wingdings" panose="05000000000000000000" pitchFamily="2" charset="2"/>
              <a:buChar char="q"/>
            </a:pPr>
            <a:r>
              <a:rPr lang="en-US" sz="1800" dirty="0" smtClean="0">
                <a:latin typeface="Arial Black" panose="020B0A04020102020204" pitchFamily="34" charset="0"/>
              </a:rPr>
              <a:t>For most enzymes, it lies in the range from </a:t>
            </a:r>
            <a:r>
              <a:rPr lang="en-US" sz="1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pH 5</a:t>
            </a:r>
            <a:r>
              <a:rPr lang="en-US" sz="1800" dirty="0" smtClean="0">
                <a:latin typeface="Arial Black" panose="020B0A04020102020204" pitchFamily="34" charset="0"/>
              </a:rPr>
              <a:t> to </a:t>
            </a:r>
            <a:r>
              <a:rPr lang="en-US" sz="1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pH 9</a:t>
            </a:r>
          </a:p>
          <a:p>
            <a:pPr marL="550862" indent="-285750"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550862" indent="-285750">
              <a:buFont typeface="Wingdings" panose="05000000000000000000" pitchFamily="2" charset="2"/>
              <a:buChar char="q"/>
            </a:pPr>
            <a:r>
              <a:rPr lang="en-US" sz="1800" dirty="0" smtClean="0">
                <a:latin typeface="Arial Black" panose="020B0A04020102020204" pitchFamily="34" charset="0"/>
              </a:rPr>
              <a:t>It</a:t>
            </a:r>
            <a:r>
              <a:rPr lang="en-US" sz="1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depends on the </a:t>
            </a:r>
            <a:r>
              <a:rPr lang="en-US" sz="1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type of the enzyme</a:t>
            </a:r>
          </a:p>
          <a:p>
            <a:pPr marL="265112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   and </a:t>
            </a:r>
            <a:r>
              <a:rPr lang="en-US" sz="1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on where it is normally acts</a:t>
            </a:r>
          </a:p>
          <a:p>
            <a:pPr marL="265112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   ( Localized condition )</a:t>
            </a:r>
          </a:p>
          <a:p>
            <a:pPr marL="265112" indent="0">
              <a:buNone/>
            </a:pPr>
            <a:endParaRPr lang="en-US" sz="1800" dirty="0" smtClean="0">
              <a:latin typeface="Arial Black" panose="020B0A04020102020204" pitchFamily="34" charset="0"/>
            </a:endParaRPr>
          </a:p>
          <a:p>
            <a:pPr marL="265112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   e.g. Pepsin (stomach)         pH 2-3</a:t>
            </a:r>
          </a:p>
          <a:p>
            <a:pPr marL="265112" indent="0">
              <a:buNone/>
            </a:pPr>
            <a:endParaRPr lang="en-US" sz="1800" dirty="0" smtClean="0">
              <a:latin typeface="Arial Black" panose="020B0A04020102020204" pitchFamily="34" charset="0"/>
            </a:endParaRPr>
          </a:p>
          <a:p>
            <a:pPr marL="265112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          Trypsin (Intestine)         pH 8 </a:t>
            </a:r>
          </a:p>
          <a:p>
            <a:pPr marL="265112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   </a:t>
            </a:r>
          </a:p>
          <a:p>
            <a:pPr marL="550862" indent="-285750">
              <a:buFont typeface="Wingdings" panose="05000000000000000000" pitchFamily="2" charset="2"/>
              <a:buChar char="q"/>
            </a:pPr>
            <a:endParaRPr lang="en-US" sz="1800" dirty="0">
              <a:latin typeface="Arial Black" panose="020B0A04020102020204" pitchFamily="34" charset="0"/>
            </a:endParaRPr>
          </a:p>
          <a:p>
            <a:pPr marL="550862" indent="-285750">
              <a:buFont typeface="Wingdings" panose="05000000000000000000" pitchFamily="2" charset="2"/>
              <a:buChar char="q"/>
            </a:pP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1800" dirty="0" smtClean="0">
              <a:effectLst/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F8E91-63C2-BD40-A699-474CAA25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4B56EC2-725C-EB40-9638-FBAF29136C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3931" r="2499" b="3150"/>
          <a:stretch/>
        </p:blipFill>
        <p:spPr>
          <a:xfrm>
            <a:off x="5455315" y="1428280"/>
            <a:ext cx="3606349" cy="3121714"/>
          </a:xfrm>
          <a:ln>
            <a:solidFill>
              <a:schemeClr val="accent1"/>
            </a:solidFill>
          </a:ln>
        </p:spPr>
      </p:pic>
      <p:sp>
        <p:nvSpPr>
          <p:cNvPr id="3" name="Right Arrow 2"/>
          <p:cNvSpPr/>
          <p:nvPr/>
        </p:nvSpPr>
        <p:spPr bwMode="auto">
          <a:xfrm>
            <a:off x="3502312" y="5068409"/>
            <a:ext cx="422455" cy="202980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JO" sz="24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" name="Right Arrow 6"/>
          <p:cNvSpPr/>
          <p:nvPr/>
        </p:nvSpPr>
        <p:spPr bwMode="auto">
          <a:xfrm>
            <a:off x="3646324" y="5733300"/>
            <a:ext cx="422455" cy="202980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JO" sz="24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314" y="4549994"/>
            <a:ext cx="3980686" cy="210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6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45" y="2315255"/>
            <a:ext cx="6874495" cy="351789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39A6-6321-F44F-982B-DBAE7645FDE3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503545" y="971080"/>
            <a:ext cx="813938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7788" indent="-77788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A change in pH can</a:t>
            </a:r>
            <a:r>
              <a:rPr lang="en-US" dirty="0" smtClean="0">
                <a:latin typeface="Arial Black" panose="020B0A04020102020204" pitchFamily="34" charset="0"/>
              </a:rPr>
              <a:t>:</a:t>
            </a:r>
          </a:p>
          <a:p>
            <a:endParaRPr lang="en-US" dirty="0" smtClean="0">
              <a:latin typeface="Arial Black" panose="020B0A04020102020204" pitchFamily="34" charset="0"/>
            </a:endParaRPr>
          </a:p>
          <a:p>
            <a:pPr marL="342900" indent="100013">
              <a:buFont typeface="Wingdings" panose="05000000000000000000" pitchFamily="2" charset="2"/>
              <a:buChar char="q"/>
            </a:pPr>
            <a:r>
              <a:rPr lang="en-US" sz="1800" dirty="0" smtClean="0">
                <a:latin typeface="Arial Black" panose="020B0A04020102020204" pitchFamily="34" charset="0"/>
              </a:rPr>
              <a:t> Change the charges of Carboxyl group and Amino group of</a:t>
            </a:r>
          </a:p>
          <a:p>
            <a:pPr marL="342900"/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   the amino acids as in the following:</a:t>
            </a:r>
          </a:p>
          <a:p>
            <a:pPr marL="342900"/>
            <a:endParaRPr lang="en-US" sz="1800" dirty="0">
              <a:latin typeface="Arial Black" panose="020B0A04020102020204" pitchFamily="34" charset="0"/>
            </a:endParaRPr>
          </a:p>
          <a:p>
            <a:pPr marL="342900"/>
            <a:endParaRPr lang="en-US" sz="1800" dirty="0" smtClean="0">
              <a:latin typeface="Arial Black" panose="020B0A04020102020204" pitchFamily="34" charset="0"/>
            </a:endParaRPr>
          </a:p>
          <a:p>
            <a:pPr marL="342900"/>
            <a:endParaRPr lang="en-US" sz="1800" dirty="0" smtClean="0">
              <a:latin typeface="Arial Black" panose="020B0A04020102020204" pitchFamily="34" charset="0"/>
            </a:endParaRPr>
          </a:p>
          <a:p>
            <a:pPr marL="342900"/>
            <a:endParaRPr lang="en-US" sz="1800" dirty="0">
              <a:latin typeface="Arial Black" panose="020B0A04020102020204" pitchFamily="34" charset="0"/>
            </a:endParaRPr>
          </a:p>
          <a:p>
            <a:pPr marL="342900"/>
            <a:endParaRPr lang="en-US" sz="1800" dirty="0" smtClean="0">
              <a:latin typeface="Arial Black" panose="020B0A04020102020204" pitchFamily="34" charset="0"/>
            </a:endParaRPr>
          </a:p>
          <a:p>
            <a:pPr marL="342900"/>
            <a:endParaRPr lang="en-US" sz="1800" dirty="0">
              <a:latin typeface="Arial Black" panose="020B0A04020102020204" pitchFamily="34" charset="0"/>
            </a:endParaRPr>
          </a:p>
          <a:p>
            <a:pPr marL="342900"/>
            <a:endParaRPr lang="en-US" sz="1800" dirty="0" smtClean="0">
              <a:latin typeface="Arial Black" panose="020B0A04020102020204" pitchFamily="34" charset="0"/>
            </a:endParaRPr>
          </a:p>
          <a:p>
            <a:pPr marL="342900"/>
            <a:endParaRPr lang="en-US" sz="1800" dirty="0">
              <a:latin typeface="Arial Black" panose="020B0A04020102020204" pitchFamily="34" charset="0"/>
            </a:endParaRPr>
          </a:p>
          <a:p>
            <a:pPr marL="342900"/>
            <a:endParaRPr lang="en-US" sz="1800" dirty="0" smtClean="0">
              <a:latin typeface="Arial Black" panose="020B0A04020102020204" pitchFamily="34" charset="0"/>
            </a:endParaRPr>
          </a:p>
          <a:p>
            <a:pPr marL="342900"/>
            <a:endParaRPr lang="en-US" sz="1800" dirty="0">
              <a:latin typeface="Arial Black" panose="020B0A04020102020204" pitchFamily="34" charset="0"/>
            </a:endParaRPr>
          </a:p>
          <a:p>
            <a:pPr marL="342900"/>
            <a:endParaRPr lang="en-US" sz="1800" dirty="0" smtClean="0">
              <a:latin typeface="Arial Black" panose="020B0A04020102020204" pitchFamily="34" charset="0"/>
            </a:endParaRPr>
          </a:p>
          <a:p>
            <a:pPr marL="342900"/>
            <a:endParaRPr lang="en-US" sz="1800" dirty="0">
              <a:latin typeface="Arial Black" panose="020B0A04020102020204" pitchFamily="34" charset="0"/>
            </a:endParaRPr>
          </a:p>
          <a:p>
            <a:pPr marL="342900"/>
            <a:endParaRPr lang="en-US" sz="1800" dirty="0" smtClean="0">
              <a:latin typeface="Arial Black" panose="020B0A04020102020204" pitchFamily="34" charset="0"/>
            </a:endParaRPr>
          </a:p>
          <a:p>
            <a:pPr marL="342900"/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smtClean="0">
                <a:latin typeface="Arial Black" panose="020B0A04020102020204" pitchFamily="34" charset="0"/>
              </a:rPr>
              <a:t>          </a:t>
            </a:r>
            <a:endParaRPr lang="en-US" sz="1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45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2235" y="663840"/>
            <a:ext cx="8564315" cy="5432160"/>
          </a:xfrm>
        </p:spPr>
        <p:txBody>
          <a:bodyPr/>
          <a:lstStyle/>
          <a:p>
            <a:pPr marL="633413" indent="-77788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 Alter the ionization of the R groups of amino acid.</a:t>
            </a:r>
          </a:p>
          <a:p>
            <a:pPr marL="633413" indent="-77788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633413" indent="-77788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 Affect the hydrogen bond and covalent bond between </a:t>
            </a:r>
          </a:p>
          <a:p>
            <a:pPr marL="555625" indent="0">
              <a:buNone/>
            </a:pPr>
            <a:r>
              <a:rPr lang="en-US" sz="2000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   amino acid of the active site and the substrate.</a:t>
            </a:r>
          </a:p>
          <a:p>
            <a:pPr marL="555625" indent="0">
              <a:buNone/>
            </a:pPr>
            <a:endParaRPr lang="en-US" sz="20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898525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These changes can affect hydrogen bonding and attraction within the protein and between the protein and other molecules.</a:t>
            </a:r>
          </a:p>
          <a:p>
            <a:pPr marL="898525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898525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Extremely high or low pH affect the 2</a:t>
            </a:r>
            <a:r>
              <a:rPr lang="en-US" sz="2000" baseline="60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o</a:t>
            </a: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 and 3</a:t>
            </a:r>
            <a:r>
              <a:rPr lang="en-US" sz="2000" baseline="60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o</a:t>
            </a:r>
            <a:r>
              <a:rPr lang="en-US" sz="2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 structure of the enzyme, and results in a complete loss activity for most enzymes </a:t>
            </a:r>
            <a:r>
              <a:rPr lang="en-US" sz="20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(Denaturation of enzyme). </a:t>
            </a:r>
            <a:endParaRPr lang="ar-JO" sz="20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39A6-6321-F44F-982B-DBAE7645FDE3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235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488F-4FFA-BA4F-813A-178A0218D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25604"/>
          </a:xfrm>
        </p:spPr>
        <p:txBody>
          <a:bodyPr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Practical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976A1-FBC0-D44D-928F-C2A4988A8BF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262004" y="1282804"/>
            <a:ext cx="8764976" cy="47880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We will determine the optimal conditions for </a:t>
            </a:r>
            <a:r>
              <a:rPr lang="en-US" sz="1800" dirty="0" smtClean="0">
                <a:latin typeface="Arial Black" panose="020B0A04020102020204" pitchFamily="34" charset="0"/>
              </a:rPr>
              <a:t>the </a:t>
            </a:r>
            <a:r>
              <a:rPr lang="en-US" sz="1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Catalase</a:t>
            </a:r>
            <a:r>
              <a:rPr lang="en-US" sz="1800" dirty="0" smtClean="0">
                <a:latin typeface="Arial Black" panose="020B0A04020102020204" pitchFamily="34" charset="0"/>
              </a:rPr>
              <a:t> enzyme</a:t>
            </a:r>
            <a:r>
              <a:rPr lang="en-US" sz="1800" b="1" i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.</a:t>
            </a:r>
          </a:p>
          <a:p>
            <a:endParaRPr lang="en-US" sz="3000" b="1" dirty="0">
              <a:latin typeface="+mj-lt"/>
            </a:endParaRPr>
          </a:p>
          <a:p>
            <a:pPr marL="0" indent="0">
              <a:buNone/>
            </a:pPr>
            <a:endParaRPr lang="en-US" sz="3000" b="1" dirty="0"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000" b="1" u="sng" dirty="0">
                <a:solidFill>
                  <a:srgbClr val="FF0000"/>
                </a:solidFill>
                <a:latin typeface="+mj-lt"/>
              </a:rPr>
              <a:t>How?</a:t>
            </a:r>
            <a:r>
              <a:rPr lang="en-US" sz="3000" dirty="0">
                <a:latin typeface="+mj-lt"/>
              </a:rPr>
              <a:t> </a:t>
            </a:r>
            <a:r>
              <a:rPr lang="en-US" sz="1800" dirty="0">
                <a:latin typeface="Arial Black" panose="020B0A04020102020204" pitchFamily="34" charset="0"/>
              </a:rPr>
              <a:t>By carrying out 4 separate experiments involving </a:t>
            </a:r>
            <a:r>
              <a:rPr lang="en-US" sz="1800" i="1" dirty="0">
                <a:latin typeface="Arial Black" panose="020B0A04020102020204" pitchFamily="34" charset="0"/>
              </a:rPr>
              <a:t>enzyme concentration</a:t>
            </a:r>
            <a:r>
              <a:rPr lang="en-US" sz="1800" dirty="0">
                <a:latin typeface="Arial Black" panose="020B0A04020102020204" pitchFamily="34" charset="0"/>
              </a:rPr>
              <a:t>, </a:t>
            </a:r>
            <a:r>
              <a:rPr lang="en-US" sz="1800" i="1" dirty="0">
                <a:latin typeface="Arial Black" panose="020B0A04020102020204" pitchFamily="34" charset="0"/>
              </a:rPr>
              <a:t>substrate concentration</a:t>
            </a:r>
            <a:r>
              <a:rPr lang="en-US" sz="1800" dirty="0">
                <a:latin typeface="Arial Black" panose="020B0A04020102020204" pitchFamily="34" charset="0"/>
              </a:rPr>
              <a:t>, </a:t>
            </a:r>
            <a:r>
              <a:rPr lang="en-US" sz="1800" i="1" dirty="0">
                <a:latin typeface="Arial Black" panose="020B0A04020102020204" pitchFamily="34" charset="0"/>
              </a:rPr>
              <a:t>temperature</a:t>
            </a:r>
            <a:r>
              <a:rPr lang="en-US" sz="1800" dirty="0">
                <a:latin typeface="Arial Black" panose="020B0A04020102020204" pitchFamily="34" charset="0"/>
              </a:rPr>
              <a:t>, and </a:t>
            </a:r>
            <a:r>
              <a:rPr lang="en-US" sz="1800" i="1" dirty="0">
                <a:latin typeface="Arial Black" panose="020B0A04020102020204" pitchFamily="34" charset="0"/>
              </a:rPr>
              <a:t>pH</a:t>
            </a:r>
            <a:endParaRPr lang="en-US" sz="1800" i="1" u="sng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7949-7ED4-9B42-BF80-9666752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2668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21120"/>
          </a:xfrm>
        </p:spPr>
        <p:txBody>
          <a:bodyPr/>
          <a:lstStyle/>
          <a:p>
            <a:pPr lvl="0"/>
            <a:r>
              <a:rPr lang="en-US" sz="2800" u="sng" dirty="0">
                <a:solidFill>
                  <a:srgbClr val="000000"/>
                </a:solidFill>
                <a:latin typeface="Arial Black" panose="020B0A04020102020204" pitchFamily="34" charset="0"/>
              </a:rPr>
              <a:t>What is catalase?</a:t>
            </a:r>
            <a:br>
              <a:rPr lang="en-US" sz="2800" u="sng" dirty="0">
                <a:solidFill>
                  <a:srgbClr val="000000"/>
                </a:solidFill>
                <a:latin typeface="Arial Black" panose="020B0A04020102020204" pitchFamily="34" charset="0"/>
              </a:rPr>
            </a:br>
            <a:endParaRPr lang="ar-JO" sz="2800" dirty="0">
              <a:latin typeface="Arial Black" panose="020B0A040201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39A6-6321-F44F-982B-DBAE7645FDE3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457200" y="1393535"/>
            <a:ext cx="8229600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3000" u="sng" dirty="0">
              <a:solidFill>
                <a:srgbClr val="000000"/>
              </a:solidFill>
              <a:latin typeface="Garamond"/>
            </a:endParaRPr>
          </a:p>
          <a:p>
            <a:pPr lvl="1" indent="-457200">
              <a:buFont typeface="Wingdings" panose="05000000000000000000" pitchFamily="2" charset="2"/>
              <a:buChar char="v"/>
              <a:tabLst>
                <a:tab pos="265113" algn="l"/>
              </a:tabLst>
            </a:pPr>
            <a:r>
              <a:rPr lang="en-US" sz="1800" dirty="0">
                <a:solidFill>
                  <a:srgbClr val="000000"/>
                </a:solidFill>
                <a:latin typeface="Arial Black" panose="020B0A04020102020204" pitchFamily="34" charset="0"/>
              </a:rPr>
              <a:t>Produced in the liver to rapidly catalyze the decomposition of </a:t>
            </a:r>
            <a:r>
              <a:rPr lang="en-US" sz="1800" i="1" dirty="0">
                <a:solidFill>
                  <a:srgbClr val="000000"/>
                </a:solidFill>
                <a:latin typeface="Arial Black" panose="020B0A04020102020204" pitchFamily="34" charset="0"/>
              </a:rPr>
              <a:t>hydrogen peroxide </a:t>
            </a:r>
            <a:r>
              <a:rPr lang="en-US" sz="1800" dirty="0">
                <a:solidFill>
                  <a:srgbClr val="000000"/>
                </a:solidFill>
                <a:latin typeface="Arial Black" panose="020B0A04020102020204" pitchFamily="34" charset="0"/>
              </a:rPr>
              <a:t>(H</a:t>
            </a:r>
            <a:r>
              <a:rPr lang="en-US" sz="1800" baseline="-25000" dirty="0">
                <a:solidFill>
                  <a:srgbClr val="000000"/>
                </a:solidFill>
                <a:latin typeface="Arial Black" panose="020B0A04020102020204" pitchFamily="34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Arial Black" panose="020B0A04020102020204" pitchFamily="34" charset="0"/>
              </a:rPr>
              <a:t>O</a:t>
            </a:r>
            <a:r>
              <a:rPr lang="en-US" sz="1800" baseline="-25000" dirty="0">
                <a:solidFill>
                  <a:srgbClr val="000000"/>
                </a:solidFill>
                <a:latin typeface="Arial Black" panose="020B0A04020102020204" pitchFamily="34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Arial Black" panose="020B0A04020102020204" pitchFamily="34" charset="0"/>
              </a:rPr>
              <a:t>) into </a:t>
            </a:r>
            <a:r>
              <a:rPr lang="en-US" sz="1800" i="1" dirty="0">
                <a:solidFill>
                  <a:srgbClr val="000000"/>
                </a:solidFill>
                <a:latin typeface="Arial Black" panose="020B0A04020102020204" pitchFamily="34" charset="0"/>
              </a:rPr>
              <a:t>oxygen</a:t>
            </a:r>
            <a:r>
              <a:rPr lang="en-US" sz="1800" dirty="0">
                <a:solidFill>
                  <a:srgbClr val="000000"/>
                </a:solidFill>
                <a:latin typeface="Arial Black" panose="020B0A04020102020204" pitchFamily="34" charset="0"/>
              </a:rPr>
              <a:t> (O</a:t>
            </a:r>
            <a:r>
              <a:rPr lang="en-US" sz="1800" baseline="-25000" dirty="0">
                <a:solidFill>
                  <a:srgbClr val="000000"/>
                </a:solidFill>
                <a:latin typeface="Arial Black" panose="020B0A04020102020204" pitchFamily="34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Arial Black" panose="020B0A04020102020204" pitchFamily="34" charset="0"/>
              </a:rPr>
              <a:t>) and </a:t>
            </a:r>
            <a:r>
              <a:rPr lang="en-US" sz="1800" i="1" dirty="0">
                <a:solidFill>
                  <a:srgbClr val="000000"/>
                </a:solidFill>
                <a:latin typeface="Arial Black" panose="020B0A04020102020204" pitchFamily="34" charset="0"/>
              </a:rPr>
              <a:t>water</a:t>
            </a:r>
            <a:r>
              <a:rPr lang="en-US" sz="1800" dirty="0">
                <a:solidFill>
                  <a:srgbClr val="000000"/>
                </a:solidFill>
                <a:latin typeface="Arial Black" panose="020B0A04020102020204" pitchFamily="34" charset="0"/>
              </a:rPr>
              <a:t> (H</a:t>
            </a:r>
            <a:r>
              <a:rPr lang="en-US" sz="1800" baseline="-25000" dirty="0">
                <a:solidFill>
                  <a:srgbClr val="000000"/>
                </a:solidFill>
                <a:latin typeface="Arial Black" panose="020B0A04020102020204" pitchFamily="34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Arial Black" panose="020B0A04020102020204" pitchFamily="34" charset="0"/>
              </a:rPr>
              <a:t>O</a:t>
            </a: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)</a:t>
            </a:r>
          </a:p>
          <a:p>
            <a:pPr marL="0" lvl="1">
              <a:tabLst>
                <a:tab pos="265113" algn="l"/>
              </a:tabLst>
            </a:pPr>
            <a:endParaRPr lang="en-US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lvl="1">
              <a:tabLst>
                <a:tab pos="265113" algn="l"/>
              </a:tabLst>
            </a:pP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            2H</a:t>
            </a:r>
            <a:r>
              <a:rPr lang="en-US" sz="1800" baseline="-25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2</a:t>
            </a: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O</a:t>
            </a:r>
            <a:r>
              <a:rPr lang="en-US" sz="1800" baseline="-25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2</a:t>
            </a: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                          H</a:t>
            </a:r>
            <a:r>
              <a:rPr lang="en-US" sz="1800" baseline="-25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2</a:t>
            </a: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O  + O</a:t>
            </a:r>
            <a:r>
              <a:rPr lang="en-US" sz="1800" baseline="-250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2</a:t>
            </a:r>
          </a:p>
          <a:p>
            <a:pPr marL="0" lvl="1">
              <a:tabLst>
                <a:tab pos="265113" algn="l"/>
              </a:tabLst>
            </a:pPr>
            <a:endParaRPr lang="en-US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lvl="1" indent="-45720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rgbClr val="000000"/>
                </a:solidFill>
                <a:latin typeface="Arial Black" panose="020B0A04020102020204" pitchFamily="34" charset="0"/>
              </a:rPr>
              <a:t>In today’s lab, </a:t>
            </a:r>
            <a:r>
              <a:rPr lang="en-US" sz="1800" i="1" dirty="0">
                <a:solidFill>
                  <a:srgbClr val="000000"/>
                </a:solidFill>
                <a:latin typeface="Arial Black" panose="020B0A04020102020204" pitchFamily="34" charset="0"/>
              </a:rPr>
              <a:t>potatoes</a:t>
            </a:r>
            <a:r>
              <a:rPr lang="en-US" sz="1800" dirty="0">
                <a:solidFill>
                  <a:srgbClr val="000000"/>
                </a:solidFill>
                <a:latin typeface="Arial Black" panose="020B0A04020102020204" pitchFamily="34" charset="0"/>
              </a:rPr>
              <a:t> will be the source of </a:t>
            </a:r>
            <a:r>
              <a:rPr lang="en-US" sz="1800" dirty="0" smtClean="0">
                <a:solidFill>
                  <a:srgbClr val="000000"/>
                </a:solidFill>
                <a:latin typeface="Arial Black" panose="020B0A04020102020204" pitchFamily="34" charset="0"/>
              </a:rPr>
              <a:t>catalase</a:t>
            </a:r>
          </a:p>
          <a:p>
            <a:pPr lvl="1" indent="-457200">
              <a:buFont typeface="Wingdings" panose="05000000000000000000" pitchFamily="2" charset="2"/>
              <a:buChar char="v"/>
            </a:pPr>
            <a:endParaRPr lang="en-US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lvl="1"/>
            <a:endParaRPr lang="en-US" sz="1800" dirty="0" smtClean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lvl="1" indent="-457200">
              <a:buFont typeface="Wingdings" panose="05000000000000000000" pitchFamily="2" charset="2"/>
              <a:buChar char="v"/>
            </a:pPr>
            <a:endParaRPr lang="en-US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lvl="1" indent="-457200">
              <a:buFont typeface="Wingdings" panose="05000000000000000000" pitchFamily="2" charset="2"/>
              <a:buChar char="v"/>
            </a:pPr>
            <a:endParaRPr lang="en-US" sz="1800" dirty="0" smtClean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lvl="1" indent="-457200">
              <a:buFont typeface="Wingdings" panose="05000000000000000000" pitchFamily="2" charset="2"/>
              <a:buChar char="v"/>
            </a:pPr>
            <a:endParaRPr lang="en-US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lvl="1"/>
            <a:r>
              <a:rPr lang="en-US" sz="16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Liberation of O2 </a:t>
            </a:r>
          </a:p>
          <a:p>
            <a:pPr marL="0" lvl="1"/>
            <a:r>
              <a:rPr lang="en-US" sz="16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produces foam</a:t>
            </a:r>
            <a:endParaRPr lang="en-US" sz="18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lvl="1" indent="-457200">
              <a:buFont typeface="Wingdings" panose="05000000000000000000" pitchFamily="2" charset="2"/>
              <a:buChar char="v"/>
            </a:pPr>
            <a:endParaRPr lang="en-US" sz="1800" dirty="0" smtClean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lvl="1" indent="-457200">
              <a:buFont typeface="Wingdings" panose="05000000000000000000" pitchFamily="2" charset="2"/>
              <a:buChar char="v"/>
            </a:pPr>
            <a:endParaRPr lang="en-US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0" lvl="1"/>
            <a:endParaRPr lang="en-US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2382915" y="3160165"/>
            <a:ext cx="1574605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" name="Picture 2" descr="Image result for catalase h2o2 reaction">
            <a:extLst>
              <a:ext uri="{FF2B5EF4-FFF2-40B4-BE49-F238E27FC236}">
                <a16:creationId xmlns:a16="http://schemas.microsoft.com/office/drawing/2014/main" id="{25FC54FB-9163-9046-81CC-4C1CF1598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585" y="4025024"/>
            <a:ext cx="3500138" cy="263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48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488F-4FFA-BA4F-813A-178A0218D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728" y="419441"/>
            <a:ext cx="8571619" cy="705259"/>
          </a:xfrm>
        </p:spPr>
        <p:txBody>
          <a:bodyPr/>
          <a:lstStyle/>
          <a:p>
            <a:pPr algn="ctr"/>
            <a:r>
              <a:rPr lang="en-US" sz="1800" dirty="0">
                <a:latin typeface="Arial Black" panose="020B0A04020102020204" pitchFamily="34" charset="0"/>
              </a:rPr>
              <a:t>(1)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000" dirty="0">
                <a:latin typeface="Arial Black" panose="020B0A04020102020204" pitchFamily="34" charset="0"/>
              </a:rPr>
              <a:t>Catalase activity as a function of substrate concentration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7949-7ED4-9B42-BF80-9666752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19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21" y="1278320"/>
            <a:ext cx="8931326" cy="542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6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488F-4FFA-BA4F-813A-178A0218D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84" y="420489"/>
            <a:ext cx="8229600" cy="825604"/>
          </a:xfrm>
        </p:spPr>
        <p:txBody>
          <a:bodyPr/>
          <a:lstStyle/>
          <a:p>
            <a:pPr algn="ctr"/>
            <a:r>
              <a:rPr lang="en-US" sz="2000" dirty="0">
                <a:latin typeface="Arial Black" panose="020B0A04020102020204" pitchFamily="34" charset="0"/>
              </a:rPr>
              <a:t>(2)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000" dirty="0">
                <a:latin typeface="Arial Black" panose="020B0A04020102020204" pitchFamily="34" charset="0"/>
              </a:rPr>
              <a:t>Catalase activity as a function of enzyme concentration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7949-7ED4-9B42-BF80-9666752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20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" y="1246093"/>
            <a:ext cx="8924925" cy="504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15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488F-4FFA-BA4F-813A-178A0218D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25" y="457200"/>
            <a:ext cx="8717935" cy="825604"/>
          </a:xfrm>
        </p:spPr>
        <p:txBody>
          <a:bodyPr/>
          <a:lstStyle/>
          <a:p>
            <a:pPr algn="ctr"/>
            <a:r>
              <a:rPr lang="en-US" sz="2000" dirty="0">
                <a:latin typeface="Arial Black" panose="020B0A04020102020204" pitchFamily="34" charset="0"/>
              </a:rPr>
              <a:t>(3) </a:t>
            </a:r>
            <a:br>
              <a:rPr lang="en-US" sz="2000" dirty="0">
                <a:latin typeface="Arial Black" panose="020B0A04020102020204" pitchFamily="34" charset="0"/>
              </a:rPr>
            </a:br>
            <a:r>
              <a:rPr lang="en-US" sz="2000" dirty="0">
                <a:latin typeface="Arial Black" panose="020B0A04020102020204" pitchFamily="34" charset="0"/>
              </a:rPr>
              <a:t>Catalase activity as a function of temperature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7949-7ED4-9B42-BF80-9666752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3105"/>
            <a:ext cx="9143999" cy="549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0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488F-4FFA-BA4F-813A-178A0218D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16" y="630634"/>
            <a:ext cx="8503693" cy="45719"/>
          </a:xfrm>
        </p:spPr>
        <p:txBody>
          <a:bodyPr/>
          <a:lstStyle/>
          <a:p>
            <a:pPr algn="ctr"/>
            <a:r>
              <a:rPr lang="en-US" sz="3600" dirty="0"/>
              <a:t>(4)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Catalase </a:t>
            </a:r>
            <a:r>
              <a:rPr lang="en-US" sz="3600" dirty="0"/>
              <a:t>activity as a function of 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7949-7ED4-9B42-BF80-9666752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9D508-A623-D242-B490-3AD37F05B886}" type="slidenum">
              <a:rPr lang="en-US" altLang="en-US" smtClean="0"/>
              <a:pPr/>
              <a:t>22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25" y="1316724"/>
            <a:ext cx="8903084" cy="554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10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C39D8-1DC0-5046-889D-CDD95AB4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dirty="0"/>
              <a:t>Things to note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1E339-A83A-6A4A-B4E6-573686F5C33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2337934"/>
            <a:ext cx="4537255" cy="3683367"/>
          </a:xfrm>
        </p:spPr>
        <p:txBody>
          <a:bodyPr/>
          <a:lstStyle/>
          <a:p>
            <a:r>
              <a:rPr lang="en-US" sz="1800" dirty="0">
                <a:latin typeface="Arial Black" panose="020B0A04020102020204" pitchFamily="34" charset="0"/>
              </a:rPr>
              <a:t>Hydrogen peroxide is a toxic chemical which can burn </a:t>
            </a:r>
            <a:r>
              <a:rPr lang="en-US" sz="1800" dirty="0" smtClean="0">
                <a:latin typeface="Arial Black" panose="020B0A04020102020204" pitchFamily="34" charset="0"/>
              </a:rPr>
              <a:t>skin</a:t>
            </a:r>
          </a:p>
          <a:p>
            <a:pPr marL="0" indent="0">
              <a:buNone/>
            </a:pPr>
            <a:endParaRPr lang="en-US" sz="1800" dirty="0">
              <a:latin typeface="Arial Black" panose="020B0A04020102020204" pitchFamily="34" charset="0"/>
            </a:endParaRPr>
          </a:p>
          <a:p>
            <a:r>
              <a:rPr lang="en-US" sz="1800" dirty="0">
                <a:latin typeface="Arial Black" panose="020B0A04020102020204" pitchFamily="34" charset="0"/>
              </a:rPr>
              <a:t>Immediately rinse any spills </a:t>
            </a:r>
            <a:r>
              <a:rPr lang="en-US" sz="1800">
                <a:latin typeface="Arial Black" panose="020B0A04020102020204" pitchFamily="34" charset="0"/>
              </a:rPr>
              <a:t>with </a:t>
            </a:r>
            <a:r>
              <a:rPr lang="en-US" sz="1800" smtClean="0">
                <a:latin typeface="Arial Black" panose="020B0A04020102020204" pitchFamily="34" charset="0"/>
              </a:rPr>
              <a:t>water</a:t>
            </a:r>
          </a:p>
          <a:p>
            <a:pPr marL="0" indent="0">
              <a:buNone/>
            </a:pPr>
            <a:endParaRPr lang="en-US" sz="1800" dirty="0">
              <a:latin typeface="Arial Black" panose="020B0A04020102020204" pitchFamily="34" charset="0"/>
            </a:endParaRPr>
          </a:p>
          <a:p>
            <a:r>
              <a:rPr lang="en-US" sz="1800" dirty="0">
                <a:latin typeface="Arial Black" panose="020B0A04020102020204" pitchFamily="34" charset="0"/>
              </a:rPr>
              <a:t>Wash hands before leaving the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DBFF9-7552-894F-8299-C170444AC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439A6-6321-F44F-982B-DBAE7645FDE3}" type="slidenum">
              <a:rPr lang="en-US" altLang="en-US" smtClean="0"/>
              <a:pPr/>
              <a:t>23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0BB830-063D-F940-ACA1-7C6D9D7DDA3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06168" y="2736233"/>
            <a:ext cx="3608463" cy="288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1793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Garamond"/>
        <a:ea typeface=""/>
        <a:cs typeface="Arial"/>
      </a:majorFont>
      <a:minorFont>
        <a:latin typeface="Gill Sans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11928</TotalTime>
  <Words>945</Words>
  <Application>Microsoft Office PowerPoint</Application>
  <PresentationFormat>On-screen Show (4:3)</PresentationFormat>
  <Paragraphs>215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宋体</vt:lpstr>
      <vt:lpstr>Arial</vt:lpstr>
      <vt:lpstr>Arial Black</vt:lpstr>
      <vt:lpstr>Courier New</vt:lpstr>
      <vt:lpstr>等线</vt:lpstr>
      <vt:lpstr>Garamond</vt:lpstr>
      <vt:lpstr>Gill Sans</vt:lpstr>
      <vt:lpstr>Rockwell Condensed</vt:lpstr>
      <vt:lpstr>Times New Roman</vt:lpstr>
      <vt:lpstr>Wingdings</vt:lpstr>
      <vt:lpstr>Pixel</vt:lpstr>
      <vt:lpstr>Enzyme Activity</vt:lpstr>
      <vt:lpstr>What is an enzyme?</vt:lpstr>
      <vt:lpstr>How do enzymes catalyze reactions?</vt:lpstr>
      <vt:lpstr>How do enzymes work?</vt:lpstr>
      <vt:lpstr>Enzymes Vocabulary</vt:lpstr>
      <vt:lpstr>PowerPoint Presentation</vt:lpstr>
      <vt:lpstr>What is meant by ”substrate-specific”?</vt:lpstr>
      <vt:lpstr>Variables affect the enzymes’ activities (or the rate of the enzymatic reaction)*</vt:lpstr>
      <vt:lpstr>Enzyme concentration</vt:lpstr>
      <vt:lpstr>Substrate concentration</vt:lpstr>
      <vt:lpstr>Temperature</vt:lpstr>
      <vt:lpstr>Effects of temperature on enzyme activity</vt:lpstr>
      <vt:lpstr>PowerPoint Presentation</vt:lpstr>
      <vt:lpstr> Effect of pH on enzyme’s activity</vt:lpstr>
      <vt:lpstr>PowerPoint Presentation</vt:lpstr>
      <vt:lpstr>PowerPoint Presentation</vt:lpstr>
      <vt:lpstr>Practical</vt:lpstr>
      <vt:lpstr>What is catalase? </vt:lpstr>
      <vt:lpstr>(1)  Catalase activity as a function of substrate concentration</vt:lpstr>
      <vt:lpstr>(2)  Catalase activity as a function of enzyme concentration</vt:lpstr>
      <vt:lpstr>(3)  Catalase activity as a function of temperature</vt:lpstr>
      <vt:lpstr>(4)  Catalase activity as a function of pH</vt:lpstr>
      <vt:lpstr>Things to 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2345</cp:revision>
  <dcterms:created xsi:type="dcterms:W3CDTF">1601-01-01T00:00:00Z</dcterms:created>
  <dcterms:modified xsi:type="dcterms:W3CDTF">2019-02-23T15:52:23Z</dcterms:modified>
</cp:coreProperties>
</file>