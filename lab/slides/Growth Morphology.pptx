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342" r:id="rId3"/>
    <p:sldId id="257" r:id="rId4"/>
    <p:sldId id="258" r:id="rId5"/>
    <p:sldId id="259" r:id="rId6"/>
    <p:sldId id="260" r:id="rId7"/>
    <p:sldId id="261" r:id="rId8"/>
    <p:sldId id="278" r:id="rId9"/>
    <p:sldId id="266" r:id="rId10"/>
    <p:sldId id="263" r:id="rId11"/>
    <p:sldId id="279" r:id="rId12"/>
    <p:sldId id="267" r:id="rId13"/>
    <p:sldId id="264" r:id="rId14"/>
    <p:sldId id="268" r:id="rId15"/>
    <p:sldId id="269" r:id="rId16"/>
    <p:sldId id="270" r:id="rId17"/>
    <p:sldId id="271" r:id="rId18"/>
    <p:sldId id="272" r:id="rId19"/>
    <p:sldId id="265" r:id="rId20"/>
    <p:sldId id="277" r:id="rId21"/>
    <p:sldId id="276" r:id="rId22"/>
    <p:sldId id="273" r:id="rId23"/>
    <p:sldId id="275" r:id="rId24"/>
    <p:sldId id="274" r:id="rId25"/>
    <p:sldId id="280" r:id="rId26"/>
    <p:sldId id="28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DCFD-F937-41A8-9984-E1352A2233A4}" v="3" dt="2022-11-30T20:41:57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9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07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1687 3979 24575,'0'-5'0,"-1"1"0,1-1 0,0 0 0,-1 1 0,0-1 0,0 1 0,-1-1 0,1 1 0,-1-1 0,0 1 0,0 0 0,0 0 0,-1 0 0,-4-5 0,3 4 0,0 1 0,-1 0 0,0 0 0,0 0 0,0 1 0,0-1 0,0 1 0,-1 0 0,-10-3 0,-3 0 0,0 2 0,-1 0 0,0 1 0,0 0 0,-34 2 0,-451 5 0,482-4 0,-1-1 0,1-1 0,-41-8 0,61 9 0,0 0 0,1 0 0,-1 0 0,1 0 0,-1 0 0,1 0 0,-1 0 0,1-1 0,0 0 0,0 1 0,-4-5 0,5 5 0,0 0 0,0 0 0,1 0 0,-1-1 0,1 1 0,-1 0 0,1-1 0,-1 1 0,1 0 0,0-1 0,0 1 0,-1 0 0,1-1 0,0 1 0,0 0 0,1-1 0,-1 1 0,0-1 0,0 1 0,1 0 0,-1-1 0,0 1 0,1 0 0,1-3 0,4-7 0,0 0 0,1 0 0,1 1 0,12-14 0,6-8 0,11-18 0,-2-1 0,47-93 0,97-234 0,-178 377 0,4-10 0,-1 0 0,1 0 0,-2 0 0,3-12 0,-5 20 0,-1 0 0,0 1 0,0-1 0,0 0 0,0 0 0,0 1 0,0-1 0,0 0 0,-1 1 0,0-1 0,1 1 0,-1-1 0,0 0 0,0 1 0,0-1 0,-1 1 0,1 0 0,-1 0 0,1-1 0,-1 1 0,0 0 0,1 0 0,-4-2 0,0 0 0,-1 0 0,0 1 0,0-1 0,0 1 0,-1 0 0,1 1 0,-7-2 0,-52-10 0,44 10 0,-28-8 0,-100-38 0,128 43 0,1-2 0,1 0 0,0-2 0,0 0 0,-26-21 0,-42-24 0,77 51 0,-1 0 0,-1-1 0,1-1 0,1 0 0,-1 0 0,-15-15 0,24 19 0,0 1 0,-1-1 0,2 0 0,-1 1 0,0-1 0,1 0 0,-1 0 0,1 0 0,0 0 0,0 0 0,0 0 0,0 0 0,0-1 0,1 1 0,0 0 0,-1-1 0,1 1 0,0 0 0,1 0 0,-1-1 0,1 1 0,-1 0 0,1 0 0,0 0 0,0 0 0,0-1 0,4-4 0,1-4 0,1 1 0,0 0 0,1 0 0,0 1 0,1 0 0,0 1 0,12-10 0,78-56 0,-66 51 0,111-86 0,-119 89 0,-2-2 0,0 0 0,30-40 0,-49 58 0,0-1 0,-1 0 0,1 0 0,-1 0 0,4-9 0,-7 12 0,1 1 0,-1 0 0,1 0 0,-1 0 0,0 0 0,0 0 0,0-1 0,0 1 0,0 0 0,0 0 0,-1 0 0,1 0 0,-1-1 0,0 1 0,1 0 0,-1 0 0,0 0 0,0 0 0,0 0 0,-3-3 0,-1 0 0,0-1 0,0 1 0,-1 0 0,0 0 0,0 0 0,0 1 0,-10-5 0,-53-23 0,18 10 0,-317-167 0,177 101 0,4 0 0,177 83 0,0 1 0,1-1 0,-1 0 0,-10-9 0,18 12 0,0 1 0,0-1 0,0 0 0,1 0 0,-1 0 0,0 0 0,1 0 0,-1 0 0,1 0 0,0 0 0,0-1 0,0 1 0,0-1 0,0 1 0,0-1 0,1 1 0,-1-1 0,1 1 0,-1-1 0,1 1 0,0-1 0,0 0 0,1-2 0,2-5 0,0 0 0,0 0 0,1 0 0,1 1 0,-1-1 0,11-13 0,0-2 0,6-9 0,2 1 0,2 1 0,1 1 0,1 1 0,56-47 0,-19 28 0,-47 39 0,-2-1 0,0-1 0,0-1 0,15-16 0,-14 10 0,0-1 0,-2 0 0,0-1 0,-2-1 0,0 0 0,-1 0 0,7-25 0,-14 36 0,-1 0 0,0-1 0,-1 1 0,-1-1 0,1 1 0,-2-1 0,0 1 0,0-1 0,-1 0 0,0 1 0,-1-1 0,-1 1 0,1 0 0,-2-1 0,0 1 0,0 1 0,-7-13 0,-10-11 0,-2 1 0,-37-42 0,30 39 0,-31-48 0,40 56 32,0 0 0,-2 1 0,-47-41 0,42 42-530,2-1 1,-45-58-1,49 51-6328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10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14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47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4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49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49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49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50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24575,'6'-5'0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5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5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52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5:53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6:00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6:0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6:26:04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B01FE-CC98-4866-B552-622292CE0812}" type="datetimeFigureOut">
              <a:rPr lang="en-AE" smtClean="0"/>
              <a:t>25/04/2023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F626D-997C-4A2F-8A88-E513F14FCB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6115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8EEAA1-6D31-437E-B51D-E72B8F5576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63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1AC4-BD77-465C-A5F0-7A76D5BEA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D6FFB-5C19-4C1E-9CFC-DA897A386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FE9F1-FBA8-40C0-A877-2C4DC822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F48C6-018B-4E88-B6D0-06D5F6A1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76FF-9076-431F-9241-293AE464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6DFB-8CDB-49A8-B801-3BEDB6640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65B56-75A8-44BA-BB61-9EB8996D8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B465E-24E5-4121-8C77-3A8C9C37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FEAC7-C563-4BE2-939C-2777243C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0BF6-07ED-43A2-B901-8FB9112A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7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C5DF-A048-4C5F-B9AC-76D07D70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FA1F-2C20-494B-B3AE-0F18B1F7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50180-605F-4B63-BCC5-5FFF03EF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F2CF-5A49-403F-A84A-D08C89A3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A7035-D42A-4B97-8418-AFEFBBD9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81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CEA6-CB96-43E9-ADDF-A8080AE5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4EC2E-EA86-4B93-B5D1-58D18CB8E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1FF72-BC54-4667-B3E0-D74566EB9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643A-2693-4967-85F1-47751CA2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C323F-7910-4BF6-BC18-8FD100887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1E1C3-3EFC-4852-866C-0BD30EA4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3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8B97-D248-42FC-8B69-07F8328D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3388C-520F-43EF-99F1-9E54C713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F6A26-99E9-4150-BAA2-208933640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F346B-476B-40A4-B348-EBCBAA5D9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95591-391D-4C46-9AE8-E8F26CD2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424C4-9B68-4AA6-BF6A-A10E2893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54821-10BA-467B-8CFE-3F091062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EAB76-1F18-4964-AA2C-78A4325C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0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3FB5-0CE1-43D9-A7A3-34A7387F5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C4021-4C14-484E-A926-E048533E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9BCD1-48F2-4E23-96DD-CD71C5BC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69AD6-CB42-4358-AE9F-7998DAB4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4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7302E-DE0E-42F7-994C-086EDB3A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F625E-06FF-4410-968E-B729EAE6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6B9D2-D6B3-41F6-A904-0E27E43C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4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5BDD-CCD8-4B94-A687-B64B5DF3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B7CA-7CF0-413A-91DC-5FF64B0FD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D4C68-9F9C-4430-9A2D-DE2D43C1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1DF0E-725F-4EBF-B207-E9B6059D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BCD7C-8E51-4FF2-B5B7-376A133D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B847D-7918-4F39-8B5C-1DB8D694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2BB0-668F-4C49-88C6-4B95ED35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3CD17D-24CD-4663-AD6C-4EF661EE2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598EA-0493-4C2D-8AAB-F47D9EBB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CDF36-946F-4A19-B502-9660CE35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43363-25F9-4AC1-88A7-2FF9861B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89ABF-402D-402D-9A4E-F3AE4A4B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5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EBCA-6021-496F-ABE7-DDD33841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8E90B-16FB-42BB-ACA1-90118B6A8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85B9A-E32C-41A6-A441-94F80F15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07DFF-6E74-4E06-BE0E-14F09FDA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258EF-0FD7-4037-9971-0E388046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8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79D36-D0EA-4C3B-8C8C-69A240C03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3720C-C742-4F38-8CE8-7DD67AFF7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D7F85-7A00-49A3-860B-D313D810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B99D7-3B13-4ADF-8680-5A9220CB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BB94-6EEF-4DD8-900B-48730B57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45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2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20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7076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062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4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40" y="1507068"/>
            <a:ext cx="7143905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185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4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2" y="262788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81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4299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0579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61AB3-BB29-449D-BF3A-5159AE1E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DC6F6-A2CD-4ACD-9CBA-3BC90D78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0D442-D636-4B0D-B06E-ECD9BCBB4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A8519-9ABA-49B7-BD70-F46B7591BF5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5C50-6F22-4472-9915-5BBB7D495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C4A73-C4F4-4942-9F68-313B4BB66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0D2C0-BF19-4D0A-9723-7C802514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7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2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511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jo/url?sa=i&amp;url=https%3A%2F%2Fwww.fishersci.com%2Fshop%2Fproducts%2Fdecon-leloop-inoculating-loops-5%2Fp-65384&amp;psig=AOvVaw0WfIEx2ZO_zo22AOPz5SW4&amp;ust=1585513124836000&amp;source=images&amp;cd=vfe&amp;ved=0CAIQjRxqFwoTCND2n-3-vegCFQAAAAAdAAAAABAK" TargetMode="External"/><Relationship Id="rId7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5.jp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hyperlink" Target="https://www.google.jo/url?sa=i&amp;url=https%3A%2F%2Fwww.fishersci.com%2Fshop%2Fproducts%2Fdecon-leloop-inoculating-loops-5%2Fp-65384&amp;psig=AOvVaw0WfIEx2ZO_zo22AOPz5SW4&amp;ust=1585513124836000&amp;source=images&amp;cd=vfe&amp;ved=0CAIQjRxqFwoTCND2n-3-vegCFQAAAAAdAAAAABAK" TargetMode="External"/><Relationship Id="rId7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customXml" Target="../ink/ink3.xml"/><Relationship Id="rId5" Type="http://schemas.openxmlformats.org/officeDocument/2006/relationships/image" Target="../media/image4.jpg"/><Relationship Id="rId10" Type="http://schemas.openxmlformats.org/officeDocument/2006/relationships/image" Target="../media/image11.png"/><Relationship Id="rId4" Type="http://schemas.openxmlformats.org/officeDocument/2006/relationships/image" Target="../media/image7.jpeg"/><Relationship Id="rId9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customXml" Target="../ink/ink11.xml"/><Relationship Id="rId3" Type="http://schemas.openxmlformats.org/officeDocument/2006/relationships/image" Target="../media/image21.jpg"/><Relationship Id="rId7" Type="http://schemas.openxmlformats.org/officeDocument/2006/relationships/customXml" Target="../ink/ink6.xml"/><Relationship Id="rId12" Type="http://schemas.openxmlformats.org/officeDocument/2006/relationships/customXml" Target="../ink/ink10.xml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5" Type="http://schemas.openxmlformats.org/officeDocument/2006/relationships/customXml" Target="../ink/ink13.xml"/><Relationship Id="rId10" Type="http://schemas.openxmlformats.org/officeDocument/2006/relationships/customXml" Target="../ink/ink9.xml"/><Relationship Id="rId4" Type="http://schemas.openxmlformats.org/officeDocument/2006/relationships/customXml" Target="../ink/ink4.xml"/><Relationship Id="rId9" Type="http://schemas.openxmlformats.org/officeDocument/2006/relationships/customXml" Target="../ink/ink8.xml"/><Relationship Id="rId1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2.jpg"/><Relationship Id="rId7" Type="http://schemas.openxmlformats.org/officeDocument/2006/relationships/image" Target="../media/image7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jo/url?sa=i&amp;url=https%3A%2F%2Fwww.fishersci.com%2Fshop%2Fproducts%2Fdecon-leloop-inoculating-loops-5%2Fp-65384&amp;psig=AOvVaw0WfIEx2ZO_zo22AOPz5SW4&amp;ust=1585513124836000&amp;source=images&amp;cd=vfe&amp;ved=0CAIQjRxqFwoTCND2n-3-vegCFQAAAAAdAAAAABAK" TargetMode="External"/><Relationship Id="rId11" Type="http://schemas.openxmlformats.org/officeDocument/2006/relationships/customXml" Target="../ink/ink16.xml"/><Relationship Id="rId5" Type="http://schemas.openxmlformats.org/officeDocument/2006/relationships/image" Target="../media/image6.png"/><Relationship Id="rId10" Type="http://schemas.openxmlformats.org/officeDocument/2006/relationships/customXml" Target="../ink/ink15.xml"/><Relationship Id="rId4" Type="http://schemas.openxmlformats.org/officeDocument/2006/relationships/image" Target="../media/image8.jp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microsoft.com/office/2007/relationships/hdphoto" Target="../media/hdphoto1.wdp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D83E1-8893-C38B-1E3B-19ACFB05AF60}"/>
              </a:ext>
            </a:extLst>
          </p:cNvPr>
          <p:cNvSpPr/>
          <p:nvPr/>
        </p:nvSpPr>
        <p:spPr>
          <a:xfrm>
            <a:off x="2462485" y="982792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egoe UI"/>
              </a:rPr>
              <a:t>BT233 – General Microbiology Laboratory</a:t>
            </a:r>
            <a:endParaRPr lang="en-AE" sz="2800" b="1" dirty="0">
              <a:solidFill>
                <a:srgbClr val="FF0000"/>
              </a:solidFill>
              <a:highlight>
                <a:srgbClr val="FFFF00"/>
              </a:highlight>
              <a:latin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809F6-91E3-925A-3192-E514FDC0EAA0}"/>
              </a:ext>
            </a:extLst>
          </p:cNvPr>
          <p:cNvSpPr txBox="1">
            <a:spLocks/>
          </p:cNvSpPr>
          <p:nvPr/>
        </p:nvSpPr>
        <p:spPr>
          <a:xfrm>
            <a:off x="1581160" y="2503718"/>
            <a:ext cx="4614478" cy="15859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Growth Morphology</a:t>
            </a:r>
          </a:p>
        </p:txBody>
      </p:sp>
      <p:pic>
        <p:nvPicPr>
          <p:cNvPr id="4" name="Picture 3" descr="A picture containing bottle">
            <a:extLst>
              <a:ext uri="{FF2B5EF4-FFF2-40B4-BE49-F238E27FC236}">
                <a16:creationId xmlns:a16="http://schemas.microsoft.com/office/drawing/2014/main" id="{DD5EEE75-D645-3A14-FE62-B3CC9534ED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"/>
          <a:stretch/>
        </p:blipFill>
        <p:spPr>
          <a:xfrm>
            <a:off x="7400489" y="2125980"/>
            <a:ext cx="4058004" cy="4006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420D00-0A3D-412D-94A1-D3DEB01787F7}"/>
              </a:ext>
            </a:extLst>
          </p:cNvPr>
          <p:cNvSpPr/>
          <p:nvPr/>
        </p:nvSpPr>
        <p:spPr>
          <a:xfrm>
            <a:off x="662609" y="477078"/>
            <a:ext cx="4161183" cy="21518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bacteria from the source (Soil)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(Non-contaminated culture)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9906D6-FF4E-47E5-99A3-98CCBDBF57EA}"/>
              </a:ext>
            </a:extLst>
          </p:cNvPr>
          <p:cNvSpPr/>
          <p:nvPr/>
        </p:nvSpPr>
        <p:spPr>
          <a:xfrm>
            <a:off x="6626087" y="477078"/>
            <a:ext cx="2575063" cy="18553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Purification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(Pure culture)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D4CB36-5B1A-4023-B999-CD4C0CDE1F8A}"/>
              </a:ext>
            </a:extLst>
          </p:cNvPr>
          <p:cNvSpPr/>
          <p:nvPr/>
        </p:nvSpPr>
        <p:spPr>
          <a:xfrm>
            <a:off x="4346713" y="3404152"/>
            <a:ext cx="7368208" cy="31576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Microscopic Morphology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Macroscopic Morphology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- Colony Morphology: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(Size, surface topography, pigmentation and form)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 Morphology</a:t>
            </a:r>
          </a:p>
          <a:p>
            <a:pPr marL="285750" indent="-285750" algn="ctr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07E1DAC1-DDC4-408D-8A95-65F64C7F2395}"/>
              </a:ext>
            </a:extLst>
          </p:cNvPr>
          <p:cNvSpPr/>
          <p:nvPr/>
        </p:nvSpPr>
        <p:spPr>
          <a:xfrm>
            <a:off x="5082209" y="1404730"/>
            <a:ext cx="1285460" cy="410818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917CA3A5-A73D-4772-84B2-6DB98CB9721C}"/>
              </a:ext>
            </a:extLst>
          </p:cNvPr>
          <p:cNvSpPr/>
          <p:nvPr/>
        </p:nvSpPr>
        <p:spPr>
          <a:xfrm rot="5400000">
            <a:off x="7352471" y="2662858"/>
            <a:ext cx="945873" cy="410818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851F69D-DA46-4C8E-B756-6DDEB3EE8E33}"/>
              </a:ext>
            </a:extLst>
          </p:cNvPr>
          <p:cNvSpPr/>
          <p:nvPr/>
        </p:nvSpPr>
        <p:spPr>
          <a:xfrm>
            <a:off x="5801135" y="5942359"/>
            <a:ext cx="1320913" cy="340416"/>
          </a:xfrm>
          <a:prstGeom prst="rightArrow">
            <a:avLst>
              <a:gd name="adj1" fmla="val 2985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4417DF5-4630-46C0-9BF5-94B6F1166F4E}"/>
              </a:ext>
            </a:extLst>
          </p:cNvPr>
          <p:cNvSpPr/>
          <p:nvPr/>
        </p:nvSpPr>
        <p:spPr>
          <a:xfrm rot="10800000">
            <a:off x="10194897" y="5953789"/>
            <a:ext cx="1320912" cy="3404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7837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0B664-D7DD-4B3C-8654-F59BA8E53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63"/>
            <a:ext cx="11117580" cy="44051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The same type of bacteria can have different growth morphologies depending on the type of media it is grown on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growth morphologies of the same type of bacteria can be determined by cultivate it on different types of media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growth morphologies of different types of bacteria can be determined by cultivate them on the same type of media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7640EA-EA1F-4D02-A0F8-6F5C4CAE72BF}"/>
              </a:ext>
            </a:extLst>
          </p:cNvPr>
          <p:cNvSpPr txBox="1">
            <a:spLocks/>
          </p:cNvSpPr>
          <p:nvPr/>
        </p:nvSpPr>
        <p:spPr>
          <a:xfrm>
            <a:off x="678190" y="582931"/>
            <a:ext cx="5928350" cy="81153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FF0000"/>
                </a:solidFill>
              </a:rPr>
              <a:t>Growth</a:t>
            </a:r>
            <a:r>
              <a:rPr lang="en-US" sz="5400" b="1" dirty="0"/>
              <a:t> </a:t>
            </a:r>
            <a:r>
              <a:rPr lang="en-US" sz="5400" b="1" dirty="0">
                <a:solidFill>
                  <a:srgbClr val="FF0000"/>
                </a:solidFill>
              </a:rPr>
              <a:t>Morphology</a:t>
            </a:r>
          </a:p>
        </p:txBody>
      </p:sp>
    </p:spTree>
    <p:extLst>
      <p:ext uri="{BB962C8B-B14F-4D97-AF65-F5344CB8AC3E}">
        <p14:creationId xmlns:p14="http://schemas.microsoft.com/office/powerpoint/2010/main" val="86458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0686-A35B-4687-B019-003AFC5B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269" y="1253331"/>
            <a:ext cx="10515600" cy="342153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</a:rPr>
              <a:t>In this experiment</a:t>
            </a:r>
            <a:r>
              <a:rPr lang="en-US" dirty="0"/>
              <a:t>, We will study the </a:t>
            </a:r>
            <a:r>
              <a:rPr lang="en-US" b="1" dirty="0"/>
              <a:t>growth morphology </a:t>
            </a:r>
            <a:r>
              <a:rPr lang="en-US" dirty="0"/>
              <a:t>of the bacteria we purified in the previous lab using the following types of media: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1. </a:t>
            </a:r>
            <a:r>
              <a:rPr lang="en-US" b="1" dirty="0"/>
              <a:t>Nutrient broth</a:t>
            </a:r>
          </a:p>
          <a:p>
            <a:pPr marL="0" indent="0">
              <a:buNone/>
            </a:pPr>
            <a:r>
              <a:rPr lang="en-US" dirty="0"/>
              <a:t>           2. </a:t>
            </a:r>
            <a:r>
              <a:rPr lang="en-US" b="1" dirty="0"/>
              <a:t>Nutrient agar slant</a:t>
            </a:r>
          </a:p>
        </p:txBody>
      </p:sp>
    </p:spTree>
    <p:extLst>
      <p:ext uri="{BB962C8B-B14F-4D97-AF65-F5344CB8AC3E}">
        <p14:creationId xmlns:p14="http://schemas.microsoft.com/office/powerpoint/2010/main" val="344873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3557249-1B4E-43CD-B055-A6E1DFEBF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390373"/>
              </p:ext>
            </p:extLst>
          </p:nvPr>
        </p:nvGraphicFramePr>
        <p:xfrm>
          <a:off x="548640" y="165266"/>
          <a:ext cx="10401300" cy="38839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00325">
                  <a:extLst>
                    <a:ext uri="{9D8B030D-6E8A-4147-A177-3AD203B41FA5}">
                      <a16:colId xmlns:a16="http://schemas.microsoft.com/office/drawing/2014/main" val="2043008021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516914860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3140385653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1119812"/>
                    </a:ext>
                  </a:extLst>
                </a:gridCol>
              </a:tblGrid>
              <a:tr h="17246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of media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of the solidifying agent (Agar)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346332"/>
                  </a:ext>
                </a:extLst>
              </a:tr>
              <a:tr h="5133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Nutrient broth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313024"/>
                  </a:ext>
                </a:extLst>
              </a:tr>
              <a:tr h="7040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Nutrient agar slant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10565"/>
                  </a:ext>
                </a:extLst>
              </a:tr>
              <a:tr h="7040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Molten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Brain heart infusion agar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4668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8D96FC-6B06-4834-8B37-95F1896D09EE}"/>
              </a:ext>
            </a:extLst>
          </p:cNvPr>
          <p:cNvSpPr/>
          <p:nvPr/>
        </p:nvSpPr>
        <p:spPr>
          <a:xfrm>
            <a:off x="2116208" y="3920931"/>
            <a:ext cx="6513442" cy="27718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melting and solidifying points of agar: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Melting point = solidifying point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(42-43°C)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Higher than 43°C = agar is liquid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Lower than 42°C = agar is solid</a:t>
            </a:r>
          </a:p>
        </p:txBody>
      </p:sp>
    </p:spTree>
    <p:extLst>
      <p:ext uri="{BB962C8B-B14F-4D97-AF65-F5344CB8AC3E}">
        <p14:creationId xmlns:p14="http://schemas.microsoft.com/office/powerpoint/2010/main" val="82111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8492-AD1F-47C0-B4B0-71E22DA7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700278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Nutrient Broth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E28F-01BF-4758-8F07-C944D4EE0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748" y="731520"/>
            <a:ext cx="10515599" cy="515161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/>
              <a:t>(under aseptic conditions)</a:t>
            </a:r>
          </a:p>
          <a:p>
            <a:pPr marL="0" indent="0" algn="ctr">
              <a:buNone/>
            </a:pP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Flame the mouth of the nutrient broth vail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Take one loopful from your pure culture to the nutrient broth vail by using a sterile cooled inoculating loop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Gently shake the loop to disperse the bacteria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Reflame the mouth of the vail and close the lid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Shake it by vortex very well to get uniform distribution of bacteria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incubate it up right for 24 hours then take the results according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the bacteria grew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  <p:pic>
        <p:nvPicPr>
          <p:cNvPr id="4" name="Picture 3" descr="A close up of a glass&#10;&#10;Description automatically generated">
            <a:extLst>
              <a:ext uri="{FF2B5EF4-FFF2-40B4-BE49-F238E27FC236}">
                <a16:creationId xmlns:a16="http://schemas.microsoft.com/office/drawing/2014/main" id="{241785E6-411A-4A87-85DC-C755416DAC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9" t="22308" r="33852" b="24523"/>
          <a:stretch/>
        </p:blipFill>
        <p:spPr>
          <a:xfrm>
            <a:off x="10434891" y="159445"/>
            <a:ext cx="918908" cy="166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35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5027195-9314-4BFE-AB06-25FD933D31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7" t="29130" r="52762" b="3736"/>
          <a:stretch/>
        </p:blipFill>
        <p:spPr>
          <a:xfrm>
            <a:off x="514156" y="421389"/>
            <a:ext cx="2343571" cy="2147715"/>
          </a:xfrm>
          <a:prstGeom prst="rect">
            <a:avLst/>
          </a:prstGeom>
        </p:spPr>
      </p:pic>
      <p:pic>
        <p:nvPicPr>
          <p:cNvPr id="5" name="Picture 2" descr="Decon LeLoop Inoculating Loops :Life Sciences:Microbiology ...">
            <a:hlinkClick r:id="rId3"/>
            <a:extLst>
              <a:ext uri="{FF2B5EF4-FFF2-40B4-BE49-F238E27FC236}">
                <a16:creationId xmlns:a16="http://schemas.microsoft.com/office/drawing/2014/main" id="{41AFB2E4-E67F-45EF-A6EE-8D064A814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8658631">
            <a:off x="1489377" y="846484"/>
            <a:ext cx="2264883" cy="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glass&#10;&#10;Description automatically generated">
            <a:extLst>
              <a:ext uri="{FF2B5EF4-FFF2-40B4-BE49-F238E27FC236}">
                <a16:creationId xmlns:a16="http://schemas.microsoft.com/office/drawing/2014/main" id="{8CBB8E02-482B-4FAA-8545-3644E5750C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9" t="22308" r="33852" b="24523"/>
          <a:stretch/>
        </p:blipFill>
        <p:spPr>
          <a:xfrm>
            <a:off x="6354852" y="534591"/>
            <a:ext cx="1223890" cy="2219179"/>
          </a:xfrm>
          <a:prstGeom prst="rect">
            <a:avLst/>
          </a:prstGeom>
        </p:spPr>
      </p:pic>
      <p:pic>
        <p:nvPicPr>
          <p:cNvPr id="7" name="Picture 6" descr="A close up of a camera&#10;&#10;Description automatically generated">
            <a:extLst>
              <a:ext uri="{FF2B5EF4-FFF2-40B4-BE49-F238E27FC236}">
                <a16:creationId xmlns:a16="http://schemas.microsoft.com/office/drawing/2014/main" id="{2389E561-64AB-467C-A1C9-61493BCD321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8" t="11932" r="17430" b="7293"/>
          <a:stretch/>
        </p:blipFill>
        <p:spPr>
          <a:xfrm>
            <a:off x="9876673" y="1164882"/>
            <a:ext cx="1426354" cy="1728214"/>
          </a:xfrm>
          <a:prstGeom prst="rect">
            <a:avLst/>
          </a:prstGeom>
        </p:spPr>
      </p:pic>
      <p:pic>
        <p:nvPicPr>
          <p:cNvPr id="8" name="Picture 7" descr="A picture containing white, sitting, photo, black&#10;&#10;Description automatically generated">
            <a:extLst>
              <a:ext uri="{FF2B5EF4-FFF2-40B4-BE49-F238E27FC236}">
                <a16:creationId xmlns:a16="http://schemas.microsoft.com/office/drawing/2014/main" id="{28252DCD-4D2B-4DA2-A4C0-7D6319A623A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" t="2529" r="1590" b="2186"/>
          <a:stretch/>
        </p:blipFill>
        <p:spPr>
          <a:xfrm>
            <a:off x="5484765" y="4679033"/>
            <a:ext cx="1565544" cy="154597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2EE8BB-54E5-46A2-839F-C494FAA00C2E}"/>
              </a:ext>
            </a:extLst>
          </p:cNvPr>
          <p:cNvCxnSpPr>
            <a:cxnSpLocks/>
          </p:cNvCxnSpPr>
          <p:nvPr/>
        </p:nvCxnSpPr>
        <p:spPr>
          <a:xfrm>
            <a:off x="3497185" y="1742578"/>
            <a:ext cx="22406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308815-77A0-4461-A14D-EA9C99E1FAC6}"/>
              </a:ext>
            </a:extLst>
          </p:cNvPr>
          <p:cNvCxnSpPr>
            <a:cxnSpLocks/>
          </p:cNvCxnSpPr>
          <p:nvPr/>
        </p:nvCxnSpPr>
        <p:spPr>
          <a:xfrm>
            <a:off x="7797107" y="1664956"/>
            <a:ext cx="19069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0549543-8A78-41C2-9131-077FA071E507}"/>
              </a:ext>
            </a:extLst>
          </p:cNvPr>
          <p:cNvCxnSpPr/>
          <p:nvPr/>
        </p:nvCxnSpPr>
        <p:spPr>
          <a:xfrm rot="10800000" flipV="1">
            <a:off x="7468873" y="3179298"/>
            <a:ext cx="2730204" cy="21101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97244F-A3C7-451E-8071-6E49726EA3AC}"/>
              </a:ext>
            </a:extLst>
          </p:cNvPr>
          <p:cNvSpPr txBox="1"/>
          <p:nvPr/>
        </p:nvSpPr>
        <p:spPr>
          <a:xfrm>
            <a:off x="322115" y="2669100"/>
            <a:ext cx="2727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pure culture</a:t>
            </a:r>
            <a:endParaRPr lang="en-AE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 descr="Decon LeLoop Inoculating Loops :Life Sciences:Microbiology ...">
            <a:hlinkClick r:id="rId3"/>
            <a:extLst>
              <a:ext uri="{FF2B5EF4-FFF2-40B4-BE49-F238E27FC236}">
                <a16:creationId xmlns:a16="http://schemas.microsoft.com/office/drawing/2014/main" id="{60934508-2D81-450C-B32F-3152535B4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8059652">
            <a:off x="6214485" y="979518"/>
            <a:ext cx="2264883" cy="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close up of a glass&#10;&#10;Description automatically generated">
            <a:extLst>
              <a:ext uri="{FF2B5EF4-FFF2-40B4-BE49-F238E27FC236}">
                <a16:creationId xmlns:a16="http://schemas.microsoft.com/office/drawing/2014/main" id="{EF0C18A7-928C-4A1F-A3F1-B219058669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9" t="22308" r="33852" b="24523"/>
          <a:stretch/>
        </p:blipFill>
        <p:spPr>
          <a:xfrm>
            <a:off x="10263559" y="9037"/>
            <a:ext cx="749301" cy="1358646"/>
          </a:xfrm>
          <a:prstGeom prst="rect">
            <a:avLst/>
          </a:prstGeom>
        </p:spPr>
      </p:pic>
      <p:pic>
        <p:nvPicPr>
          <p:cNvPr id="17" name="Picture 16" descr="A close up of a glass&#10;&#10;Description automatically generated">
            <a:extLst>
              <a:ext uri="{FF2B5EF4-FFF2-40B4-BE49-F238E27FC236}">
                <a16:creationId xmlns:a16="http://schemas.microsoft.com/office/drawing/2014/main" id="{F9B201FD-AB54-4251-B0BC-EF704E99D4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9" t="22308" r="33852" b="24523"/>
          <a:stretch/>
        </p:blipFill>
        <p:spPr>
          <a:xfrm>
            <a:off x="7706167" y="3824067"/>
            <a:ext cx="749301" cy="13586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D9C375-A6DE-4D86-B06D-A84BA781BEDC}"/>
              </a:ext>
            </a:extLst>
          </p:cNvPr>
          <p:cNvSpPr txBox="1"/>
          <p:nvPr/>
        </p:nvSpPr>
        <p:spPr>
          <a:xfrm>
            <a:off x="2331720" y="5307095"/>
            <a:ext cx="3153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Incubate overnight</a:t>
            </a:r>
            <a:endParaRPr lang="en-AE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51857-EEEF-4248-9533-CEC8A0BB02AF}"/>
              </a:ext>
            </a:extLst>
          </p:cNvPr>
          <p:cNvSpPr txBox="1"/>
          <p:nvPr/>
        </p:nvSpPr>
        <p:spPr>
          <a:xfrm>
            <a:off x="3681060" y="1319006"/>
            <a:ext cx="188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Take a loopful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5B8B3-C5C2-464C-80C5-D3E70A72EC11}"/>
              </a:ext>
            </a:extLst>
          </p:cNvPr>
          <p:cNvSpPr txBox="1"/>
          <p:nvPr/>
        </p:nvSpPr>
        <p:spPr>
          <a:xfrm>
            <a:off x="3646770" y="1836658"/>
            <a:ext cx="211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Insert in the Broth media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F3B4D3-F235-4AD9-B511-CE98EABE8DE1}"/>
              </a:ext>
            </a:extLst>
          </p:cNvPr>
          <p:cNvSpPr txBox="1"/>
          <p:nvPr/>
        </p:nvSpPr>
        <p:spPr>
          <a:xfrm>
            <a:off x="8195734" y="1227710"/>
            <a:ext cx="165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Shaking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CF498-3BED-4BD2-B1EC-CA7BBDE4C19A}"/>
              </a:ext>
            </a:extLst>
          </p:cNvPr>
          <p:cNvSpPr txBox="1"/>
          <p:nvPr/>
        </p:nvSpPr>
        <p:spPr>
          <a:xfrm>
            <a:off x="8070003" y="1742578"/>
            <a:ext cx="146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Using vortex</a:t>
            </a:r>
            <a:endParaRPr lang="en-A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48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196679-8249-4C88-87D0-4225ADB9A15E}"/>
              </a:ext>
            </a:extLst>
          </p:cNvPr>
          <p:cNvSpPr/>
          <p:nvPr/>
        </p:nvSpPr>
        <p:spPr>
          <a:xfrm>
            <a:off x="628968" y="331305"/>
            <a:ext cx="2213113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Pellicle </a:t>
            </a:r>
          </a:p>
        </p:txBody>
      </p:sp>
      <p:pic>
        <p:nvPicPr>
          <p:cNvPr id="7" name="Picture 6" descr="A close up of a bottle&#10;&#10;Description automatically generated">
            <a:extLst>
              <a:ext uri="{FF2B5EF4-FFF2-40B4-BE49-F238E27FC236}">
                <a16:creationId xmlns:a16="http://schemas.microsoft.com/office/drawing/2014/main" id="{A0E7EFF8-82DE-43AF-9DC8-7DC9D060B6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" t="2572" r="62719" b="5829"/>
          <a:stretch/>
        </p:blipFill>
        <p:spPr>
          <a:xfrm>
            <a:off x="707970" y="1203043"/>
            <a:ext cx="2039816" cy="425685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D893C0-9A33-4C55-BCD5-446F2FF9FEE7}"/>
              </a:ext>
            </a:extLst>
          </p:cNvPr>
          <p:cNvSpPr/>
          <p:nvPr/>
        </p:nvSpPr>
        <p:spPr>
          <a:xfrm>
            <a:off x="3716469" y="331305"/>
            <a:ext cx="2213113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 Sediment </a:t>
            </a:r>
          </a:p>
          <a:p>
            <a:r>
              <a:rPr lang="en-US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B2E79A-A86A-4220-A56B-0A2DEC85D227}"/>
              </a:ext>
            </a:extLst>
          </p:cNvPr>
          <p:cNvSpPr/>
          <p:nvPr/>
        </p:nvSpPr>
        <p:spPr>
          <a:xfrm>
            <a:off x="6262420" y="331305"/>
            <a:ext cx="3067110" cy="609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 Uniform fine distribution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A37DF3-A163-478A-A8D7-589A3E1E777F}"/>
              </a:ext>
            </a:extLst>
          </p:cNvPr>
          <p:cNvSpPr/>
          <p:nvPr/>
        </p:nvSpPr>
        <p:spPr>
          <a:xfrm>
            <a:off x="9726586" y="331305"/>
            <a:ext cx="2213113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flocculent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2" name="Picture 11" descr="A picture containing table, monitor, bottle&#10;&#10;Description automatically generated">
            <a:extLst>
              <a:ext uri="{FF2B5EF4-FFF2-40B4-BE49-F238E27FC236}">
                <a16:creationId xmlns:a16="http://schemas.microsoft.com/office/drawing/2014/main" id="{7EE774C9-5394-4231-A810-F65993DC12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9" t="13720" r="51820" b="15362"/>
          <a:stretch/>
        </p:blipFill>
        <p:spPr>
          <a:xfrm>
            <a:off x="3816626" y="1203042"/>
            <a:ext cx="1775791" cy="4256853"/>
          </a:xfrm>
          <a:prstGeom prst="rect">
            <a:avLst/>
          </a:prstGeom>
        </p:spPr>
      </p:pic>
      <p:pic>
        <p:nvPicPr>
          <p:cNvPr id="14" name="Picture 13" descr="A picture containing table, monitor, bottle&#10;&#10;Description automatically generated">
            <a:extLst>
              <a:ext uri="{FF2B5EF4-FFF2-40B4-BE49-F238E27FC236}">
                <a16:creationId xmlns:a16="http://schemas.microsoft.com/office/drawing/2014/main" id="{968E4672-EA75-4D57-92AD-A7601D7F3B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45" t="15266" r="30580" b="18841"/>
          <a:stretch/>
        </p:blipFill>
        <p:spPr>
          <a:xfrm>
            <a:off x="6908079" y="1203041"/>
            <a:ext cx="1775791" cy="4256853"/>
          </a:xfrm>
          <a:prstGeom prst="rect">
            <a:avLst/>
          </a:prstGeom>
        </p:spPr>
      </p:pic>
      <p:pic>
        <p:nvPicPr>
          <p:cNvPr id="16" name="Picture 15" descr="A glass of water&#10;&#10;Description automatically generated">
            <a:extLst>
              <a:ext uri="{FF2B5EF4-FFF2-40B4-BE49-F238E27FC236}">
                <a16:creationId xmlns:a16="http://schemas.microsoft.com/office/drawing/2014/main" id="{17E6D8F5-F385-4CB5-AFC3-B31FA3227B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47" t="6570" r="39186" b="9372"/>
          <a:stretch/>
        </p:blipFill>
        <p:spPr>
          <a:xfrm>
            <a:off x="9726586" y="1203041"/>
            <a:ext cx="2190305" cy="4256853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4B4382-1D77-49DE-9958-ADF96A44E2F4}"/>
              </a:ext>
            </a:extLst>
          </p:cNvPr>
          <p:cNvSpPr/>
          <p:nvPr/>
        </p:nvSpPr>
        <p:spPr>
          <a:xfrm>
            <a:off x="244654" y="5526971"/>
            <a:ext cx="2597427" cy="1125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bacteria grow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On the surface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0AD5AB-2A24-4C44-B8B6-169C8C25E472}"/>
              </a:ext>
            </a:extLst>
          </p:cNvPr>
          <p:cNvSpPr/>
          <p:nvPr/>
        </p:nvSpPr>
        <p:spPr>
          <a:xfrm>
            <a:off x="3498573" y="5526971"/>
            <a:ext cx="2597427" cy="1125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 The bacteria grow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in the bottom of the media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71BE10-853E-4760-9911-750FA1DBD52E}"/>
              </a:ext>
            </a:extLst>
          </p:cNvPr>
          <p:cNvSpPr/>
          <p:nvPr/>
        </p:nvSpPr>
        <p:spPr>
          <a:xfrm>
            <a:off x="6592445" y="5507091"/>
            <a:ext cx="2597427" cy="11454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The bacteria grow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throughout the media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(Turbidity)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D9220A0-E065-41B3-9FEF-80B24441CF07}"/>
              </a:ext>
            </a:extLst>
          </p:cNvPr>
          <p:cNvSpPr/>
          <p:nvPr/>
        </p:nvSpPr>
        <p:spPr>
          <a:xfrm>
            <a:off x="9534428" y="5507092"/>
            <a:ext cx="2597427" cy="11454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Floating membranes dispersed throughout the media</a:t>
            </a:r>
          </a:p>
        </p:txBody>
      </p:sp>
    </p:spTree>
    <p:extLst>
      <p:ext uri="{BB962C8B-B14F-4D97-AF65-F5344CB8AC3E}">
        <p14:creationId xmlns:p14="http://schemas.microsoft.com/office/powerpoint/2010/main" val="3703335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BD62-C893-4620-B8F9-15A8BF84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62" y="684269"/>
            <a:ext cx="7144744" cy="10713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Nutrient Agar Slant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B709-98AC-467A-BE1C-80C3F87C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62" y="1375421"/>
            <a:ext cx="11317158" cy="479830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Flame the mouth of the agar slant tube before and after opening the lid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Take one loopful from your pure culture by using a sterile cooled loop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Place loopful at the bottom of the slant and gently drag it to the top to get a single-line inoculation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Reflame the mouth of the tube and close the lid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Incubate it for 24 hour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Take the results according to the following parameters: </a:t>
            </a:r>
          </a:p>
          <a:p>
            <a:pPr marL="0" indent="0">
              <a:buNone/>
            </a:pPr>
            <a:r>
              <a:rPr lang="en-US" sz="2200" b="1" dirty="0"/>
              <a:t>      </a:t>
            </a:r>
            <a:endParaRPr lang="en-US" sz="2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318D49-A2AF-4653-9D9A-17A3B4D07DA3}"/>
              </a:ext>
            </a:extLst>
          </p:cNvPr>
          <p:cNvSpPr/>
          <p:nvPr/>
        </p:nvSpPr>
        <p:spPr>
          <a:xfrm>
            <a:off x="1303849" y="5887671"/>
            <a:ext cx="8054008" cy="79204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Abundance of the growth, </a:t>
            </a:r>
            <a:r>
              <a:rPr lang="fr-FR" sz="2200" b="1" dirty="0">
                <a:solidFill>
                  <a:srgbClr val="FF0000"/>
                </a:solidFill>
              </a:rPr>
              <a:t>Pigmentation, </a:t>
            </a:r>
            <a:r>
              <a:rPr lang="en-US" sz="2200" b="1" dirty="0">
                <a:solidFill>
                  <a:srgbClr val="FF0000"/>
                </a:solidFill>
              </a:rPr>
              <a:t>optical characters, form </a:t>
            </a:r>
          </a:p>
          <a:p>
            <a:pPr algn="ctr"/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72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881E9F2-0293-494B-BDEF-398776094C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7" t="29130" r="52762" b="3736"/>
          <a:stretch/>
        </p:blipFill>
        <p:spPr>
          <a:xfrm>
            <a:off x="1175246" y="1115500"/>
            <a:ext cx="2343571" cy="214771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5742E50-7037-4785-8064-A897D2D1FD55}"/>
              </a:ext>
            </a:extLst>
          </p:cNvPr>
          <p:cNvCxnSpPr>
            <a:cxnSpLocks/>
          </p:cNvCxnSpPr>
          <p:nvPr/>
        </p:nvCxnSpPr>
        <p:spPr>
          <a:xfrm>
            <a:off x="4086372" y="2189358"/>
            <a:ext cx="30016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2" descr="Decon LeLoop Inoculating Loops :Life Sciences:Microbiology ...">
            <a:hlinkClick r:id="rId3"/>
            <a:extLst>
              <a:ext uri="{FF2B5EF4-FFF2-40B4-BE49-F238E27FC236}">
                <a16:creationId xmlns:a16="http://schemas.microsoft.com/office/drawing/2014/main" id="{6E4FE2E0-E811-405C-84F2-F7A45A6B5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9663944">
            <a:off x="2953930" y="1475183"/>
            <a:ext cx="2264883" cy="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icture containing bottle&#10;&#10;Description automatically generated">
            <a:extLst>
              <a:ext uri="{FF2B5EF4-FFF2-40B4-BE49-F238E27FC236}">
                <a16:creationId xmlns:a16="http://schemas.microsoft.com/office/drawing/2014/main" id="{4BB0DA72-FA57-4889-83A9-92D5D45D1A6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5" r="36842"/>
          <a:stretch/>
        </p:blipFill>
        <p:spPr>
          <a:xfrm>
            <a:off x="7879335" y="705629"/>
            <a:ext cx="942626" cy="372695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E2E7D8C2-1741-4DB9-B888-2D8159F02A31}"/>
              </a:ext>
            </a:extLst>
          </p:cNvPr>
          <p:cNvSpPr/>
          <p:nvPr/>
        </p:nvSpPr>
        <p:spPr>
          <a:xfrm>
            <a:off x="9145733" y="1717642"/>
            <a:ext cx="437321" cy="13733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1B56F299-774E-4AA1-8768-CDABF197CA88}"/>
              </a:ext>
            </a:extLst>
          </p:cNvPr>
          <p:cNvSpPr/>
          <p:nvPr/>
        </p:nvSpPr>
        <p:spPr>
          <a:xfrm>
            <a:off x="9145732" y="3311370"/>
            <a:ext cx="437321" cy="10402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A1AFC-7666-44BB-BA4B-CA677988DFF0}"/>
              </a:ext>
            </a:extLst>
          </p:cNvPr>
          <p:cNvSpPr/>
          <p:nvPr/>
        </p:nvSpPr>
        <p:spPr>
          <a:xfrm>
            <a:off x="9614652" y="2189358"/>
            <a:ext cx="792713" cy="429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Slant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2CB6A2-5430-480B-8401-52763026E0AA}"/>
              </a:ext>
            </a:extLst>
          </p:cNvPr>
          <p:cNvSpPr/>
          <p:nvPr/>
        </p:nvSpPr>
        <p:spPr>
          <a:xfrm>
            <a:off x="9583053" y="3492315"/>
            <a:ext cx="792713" cy="4298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Butt</a:t>
            </a:r>
          </a:p>
        </p:txBody>
      </p:sp>
      <p:pic>
        <p:nvPicPr>
          <p:cNvPr id="13" name="Picture 12" descr="A picture containing white, sitting, photo, black&#10;&#10;Description automatically generated">
            <a:extLst>
              <a:ext uri="{FF2B5EF4-FFF2-40B4-BE49-F238E27FC236}">
                <a16:creationId xmlns:a16="http://schemas.microsoft.com/office/drawing/2014/main" id="{46614A86-547D-4FA4-8F91-98D7409225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" t="2529" r="1590" b="2186"/>
          <a:stretch/>
        </p:blipFill>
        <p:spPr>
          <a:xfrm>
            <a:off x="4086372" y="5067255"/>
            <a:ext cx="1565544" cy="1545978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D0135A5-C40F-488E-AB26-F88A3B9A3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41874" y="4558005"/>
            <a:ext cx="2408774" cy="159436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2" descr="Decon LeLoop Inoculating Loops :Life Sciences:Microbiology ...">
            <a:hlinkClick r:id="rId3"/>
            <a:extLst>
              <a:ext uri="{FF2B5EF4-FFF2-40B4-BE49-F238E27FC236}">
                <a16:creationId xmlns:a16="http://schemas.microsoft.com/office/drawing/2014/main" id="{782F3378-F64F-47FA-B312-5F2A4C3B60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8443335">
            <a:off x="7869798" y="1692450"/>
            <a:ext cx="2264883" cy="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picture containing bottle&#10;&#10;Description automatically generated">
            <a:extLst>
              <a:ext uri="{FF2B5EF4-FFF2-40B4-BE49-F238E27FC236}">
                <a16:creationId xmlns:a16="http://schemas.microsoft.com/office/drawing/2014/main" id="{76236A93-D9CA-4DD2-B7F8-57940E7D04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5" r="36842"/>
          <a:stretch/>
        </p:blipFill>
        <p:spPr>
          <a:xfrm>
            <a:off x="6078103" y="3311371"/>
            <a:ext cx="713208" cy="28198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2AE18E-5154-4103-B459-750EFF16054E}"/>
              </a:ext>
            </a:extLst>
          </p:cNvPr>
          <p:cNvSpPr txBox="1"/>
          <p:nvPr/>
        </p:nvSpPr>
        <p:spPr>
          <a:xfrm>
            <a:off x="1011200" y="5464506"/>
            <a:ext cx="3289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Incubate overnight</a:t>
            </a:r>
            <a:endParaRPr lang="en-AE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F72B84-FEED-466E-BB06-735B1285DFD7}"/>
              </a:ext>
            </a:extLst>
          </p:cNvPr>
          <p:cNvSpPr txBox="1"/>
          <p:nvPr/>
        </p:nvSpPr>
        <p:spPr>
          <a:xfrm>
            <a:off x="1046292" y="3390610"/>
            <a:ext cx="2601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pure culture</a:t>
            </a:r>
            <a:endParaRPr lang="en-AE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4D175F-EA5B-4E19-A6F6-C516AB326300}"/>
                  </a:ext>
                </a:extLst>
              </p14:cNvPr>
              <p14:cNvContentPartPr/>
              <p14:nvPr/>
            </p14:nvContentPartPr>
            <p14:xfrm>
              <a:off x="7987770" y="1436490"/>
              <a:ext cx="607320" cy="143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4D175F-EA5B-4E19-A6F6-C516AB3263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8770" y="1427850"/>
                <a:ext cx="624960" cy="14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783E098-2B44-45D1-A99A-BD46EACF0B8C}"/>
                  </a:ext>
                </a:extLst>
              </p14:cNvPr>
              <p14:cNvContentPartPr/>
              <p14:nvPr/>
            </p14:nvContentPartPr>
            <p14:xfrm>
              <a:off x="10846890" y="481185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783E098-2B44-45D1-A99A-BD46EACF0B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38250" y="480285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E32E9D-54E7-4BA7-983D-8F7D3008C255}"/>
                  </a:ext>
                </a:extLst>
              </p14:cNvPr>
              <p14:cNvContentPartPr/>
              <p14:nvPr/>
            </p14:nvContentPartPr>
            <p14:xfrm>
              <a:off x="10172610" y="531441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E32E9D-54E7-4BA7-983D-8F7D3008C2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63610" y="530577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903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1BC04-8029-4F09-A61A-28AF6C54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0"/>
            <a:ext cx="10996189" cy="1325563"/>
          </a:xfrm>
        </p:spPr>
        <p:txBody>
          <a:bodyPr>
            <a:normAutofit/>
          </a:bodyPr>
          <a:lstStyle/>
          <a:p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The results of bacterial growth on nutrient agar slant are reported to the according following parameters: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A1F2D9-5384-4A00-95CD-D986181C6BAA}"/>
              </a:ext>
            </a:extLst>
          </p:cNvPr>
          <p:cNvSpPr/>
          <p:nvPr/>
        </p:nvSpPr>
        <p:spPr>
          <a:xfrm>
            <a:off x="912855" y="1325563"/>
            <a:ext cx="4116345" cy="19021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Abundance of growth:  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No growth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Small - slight growth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Medium - moderate growth</a:t>
            </a:r>
          </a:p>
          <a:p>
            <a:r>
              <a:rPr lang="en-US" sz="2000" dirty="0">
                <a:solidFill>
                  <a:schemeClr val="tx1"/>
                </a:solidFill>
              </a:rPr>
              <a:t>- Large - heavy growth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240B0D-7695-434E-A80B-1B83BF26C66E}"/>
              </a:ext>
            </a:extLst>
          </p:cNvPr>
          <p:cNvSpPr/>
          <p:nvPr/>
        </p:nvSpPr>
        <p:spPr>
          <a:xfrm>
            <a:off x="6995379" y="1325563"/>
            <a:ext cx="4283766" cy="13255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Pigmentation: </a:t>
            </a:r>
          </a:p>
          <a:p>
            <a:r>
              <a:rPr lang="it-IT" sz="2000" dirty="0">
                <a:solidFill>
                  <a:schemeClr val="tx1"/>
                </a:solidFill>
              </a:rPr>
              <a:t>- </a:t>
            </a:r>
            <a:r>
              <a:rPr lang="it-IT" sz="2000" b="1" dirty="0">
                <a:solidFill>
                  <a:schemeClr val="tx1"/>
                </a:solidFill>
              </a:rPr>
              <a:t>No pigment: </a:t>
            </a:r>
            <a:r>
              <a:rPr lang="it-IT" sz="2000" dirty="0">
                <a:solidFill>
                  <a:schemeClr val="tx1"/>
                </a:solidFill>
              </a:rPr>
              <a:t>pigment non-producer</a:t>
            </a:r>
            <a:endParaRPr lang="it-IT" sz="2000" b="1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- </a:t>
            </a:r>
            <a:r>
              <a:rPr lang="en-US" sz="2000" b="1" dirty="0">
                <a:solidFill>
                  <a:schemeClr val="tx1"/>
                </a:solidFill>
              </a:rPr>
              <a:t>Pigment: </a:t>
            </a:r>
            <a:r>
              <a:rPr lang="en-US" sz="2000" dirty="0">
                <a:solidFill>
                  <a:schemeClr val="tx1"/>
                </a:solidFill>
              </a:rPr>
              <a:t>pigment producer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F42969-E8CD-4E9B-A73D-DC223873112C}"/>
              </a:ext>
            </a:extLst>
          </p:cNvPr>
          <p:cNvSpPr/>
          <p:nvPr/>
        </p:nvSpPr>
        <p:spPr>
          <a:xfrm>
            <a:off x="755176" y="3630304"/>
            <a:ext cx="4283766" cy="24293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Optical characteristics:  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Compare your tube to one with pure media: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-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Transparent: </a:t>
            </a:r>
            <a:r>
              <a:rPr lang="en-US" sz="2000" dirty="0">
                <a:solidFill>
                  <a:schemeClr val="tx1"/>
                </a:solidFill>
              </a:rPr>
              <a:t>Transmit 100% of light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- Translucent: </a:t>
            </a:r>
            <a:r>
              <a:rPr lang="en-US" sz="2000" dirty="0">
                <a:solidFill>
                  <a:schemeClr val="tx1"/>
                </a:solidFill>
              </a:rPr>
              <a:t>Transmit &lt;100%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- opaque: </a:t>
            </a:r>
            <a:r>
              <a:rPr lang="en-US" sz="2000" dirty="0">
                <a:solidFill>
                  <a:schemeClr val="tx1"/>
                </a:solidFill>
              </a:rPr>
              <a:t>Transmit 0%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970C3A-C9E3-4C33-B1D5-2B3678137479}"/>
              </a:ext>
            </a:extLst>
          </p:cNvPr>
          <p:cNvSpPr/>
          <p:nvPr/>
        </p:nvSpPr>
        <p:spPr>
          <a:xfrm>
            <a:off x="6837700" y="2879677"/>
            <a:ext cx="4599124" cy="3657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Form:</a:t>
            </a:r>
          </a:p>
          <a:p>
            <a:r>
              <a:rPr lang="en-US" b="1" dirty="0">
                <a:solidFill>
                  <a:schemeClr val="tx1"/>
                </a:solidFill>
              </a:rPr>
              <a:t>- Filiform: </a:t>
            </a:r>
            <a:r>
              <a:rPr lang="en-US" dirty="0">
                <a:solidFill>
                  <a:schemeClr val="tx1"/>
                </a:solidFill>
              </a:rPr>
              <a:t>Uniform growth along the line of inoculation</a:t>
            </a:r>
          </a:p>
          <a:p>
            <a:r>
              <a:rPr lang="en-US" b="1" dirty="0">
                <a:solidFill>
                  <a:schemeClr val="tx1"/>
                </a:solidFill>
              </a:rPr>
              <a:t>- Echinulate: </a:t>
            </a:r>
            <a:r>
              <a:rPr lang="en-US" dirty="0">
                <a:solidFill>
                  <a:schemeClr val="tx1"/>
                </a:solidFill>
              </a:rPr>
              <a:t>Growth margins appear toothlike</a:t>
            </a:r>
          </a:p>
          <a:p>
            <a:r>
              <a:rPr lang="en-US" b="1" dirty="0">
                <a:solidFill>
                  <a:schemeClr val="tx1"/>
                </a:solidFill>
              </a:rPr>
              <a:t>- Beaded: </a:t>
            </a:r>
            <a:r>
              <a:rPr lang="en-US" dirty="0">
                <a:solidFill>
                  <a:schemeClr val="tx1"/>
                </a:solidFill>
              </a:rPr>
              <a:t>Separate colonies grow along the line of inoculation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- Effuse: </a:t>
            </a:r>
            <a:r>
              <a:rPr lang="en-US" dirty="0">
                <a:solidFill>
                  <a:schemeClr val="tx1"/>
                </a:solidFill>
              </a:rPr>
              <a:t>Separate colonies grow along the line of inoculation with slight growth in between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- Arborescent: </a:t>
            </a:r>
            <a:r>
              <a:rPr lang="en-US" dirty="0">
                <a:solidFill>
                  <a:schemeClr val="tx1"/>
                </a:solidFill>
              </a:rPr>
              <a:t>Branched, tree-like growth </a:t>
            </a:r>
          </a:p>
          <a:p>
            <a:r>
              <a:rPr lang="en-US" b="1" dirty="0">
                <a:solidFill>
                  <a:schemeClr val="tx1"/>
                </a:solidFill>
              </a:rPr>
              <a:t>- Rhizoid: </a:t>
            </a:r>
            <a:r>
              <a:rPr lang="en-US" dirty="0">
                <a:solidFill>
                  <a:schemeClr val="tx1"/>
                </a:solidFill>
              </a:rPr>
              <a:t>Rootlike appearance</a:t>
            </a: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5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hower curtain&#10;&#10;Description automatically generated">
            <a:extLst>
              <a:ext uri="{FF2B5EF4-FFF2-40B4-BE49-F238E27FC236}">
                <a16:creationId xmlns:a16="http://schemas.microsoft.com/office/drawing/2014/main" id="{BB9339EE-996E-40D4-B8B7-A87F4996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1" y="481258"/>
            <a:ext cx="1535699" cy="4853354"/>
          </a:xfrm>
          <a:prstGeom prst="rect">
            <a:avLst/>
          </a:prstGeom>
        </p:spPr>
      </p:pic>
      <p:pic>
        <p:nvPicPr>
          <p:cNvPr id="7" name="Picture 6" descr="A close up of a door&#10;&#10;Description automatically generated">
            <a:extLst>
              <a:ext uri="{FF2B5EF4-FFF2-40B4-BE49-F238E27FC236}">
                <a16:creationId xmlns:a16="http://schemas.microsoft.com/office/drawing/2014/main" id="{2DC69285-BE0C-464F-9C14-E5AD0963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18" y="518059"/>
            <a:ext cx="1535700" cy="48533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AB8753-D7AC-4158-9A4C-95C72D3049CC}"/>
              </a:ext>
            </a:extLst>
          </p:cNvPr>
          <p:cNvSpPr/>
          <p:nvPr/>
        </p:nvSpPr>
        <p:spPr>
          <a:xfrm>
            <a:off x="173831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Filiform</a:t>
            </a: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27D6D0-2443-4F15-8572-96F8E7989C08}"/>
              </a:ext>
            </a:extLst>
          </p:cNvPr>
          <p:cNvSpPr/>
          <p:nvPr/>
        </p:nvSpPr>
        <p:spPr>
          <a:xfrm>
            <a:off x="6446625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Effuse</a:t>
            </a: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C9239B-5E7B-4F8D-9665-3F0FE20ED6E7}"/>
              </a:ext>
            </a:extLst>
          </p:cNvPr>
          <p:cNvSpPr/>
          <p:nvPr/>
        </p:nvSpPr>
        <p:spPr>
          <a:xfrm>
            <a:off x="4598236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Beaded</a:t>
            </a: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BAF2F5-BDC8-4310-B8C8-3B92AA3D8724}"/>
              </a:ext>
            </a:extLst>
          </p:cNvPr>
          <p:cNvSpPr/>
          <p:nvPr/>
        </p:nvSpPr>
        <p:spPr>
          <a:xfrm>
            <a:off x="2333569" y="5803512"/>
            <a:ext cx="1352988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Echinulate</a:t>
            </a:r>
            <a:endParaRPr lang="en-US" sz="2000" dirty="0"/>
          </a:p>
        </p:txBody>
      </p:sp>
      <p:pic>
        <p:nvPicPr>
          <p:cNvPr id="13" name="Picture 12" descr="A picture containing food, bottle&#10;&#10;Description automatically generated">
            <a:extLst>
              <a:ext uri="{FF2B5EF4-FFF2-40B4-BE49-F238E27FC236}">
                <a16:creationId xmlns:a16="http://schemas.microsoft.com/office/drawing/2014/main" id="{B4C6647F-6D2B-4E2E-90B5-2354BC78B1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22" r="4993"/>
          <a:stretch/>
        </p:blipFill>
        <p:spPr>
          <a:xfrm>
            <a:off x="4372949" y="481258"/>
            <a:ext cx="1535699" cy="4853354"/>
          </a:xfrm>
          <a:prstGeom prst="rect">
            <a:avLst/>
          </a:prstGeom>
        </p:spPr>
      </p:pic>
      <p:pic>
        <p:nvPicPr>
          <p:cNvPr id="16" name="Picture 15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09B8684F-27EB-4EE9-A6E4-96B4BC7B80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r="84836" b="13093"/>
          <a:stretch/>
        </p:blipFill>
        <p:spPr>
          <a:xfrm>
            <a:off x="8426577" y="481258"/>
            <a:ext cx="1136013" cy="4853354"/>
          </a:xfrm>
          <a:prstGeom prst="rect">
            <a:avLst/>
          </a:prstGeom>
        </p:spPr>
      </p:pic>
      <p:pic>
        <p:nvPicPr>
          <p:cNvPr id="17" name="Picture 16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2481C4AE-4404-490A-B88D-EB531E0E68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17" t="28643" r="-38148" b="-4779"/>
          <a:stretch/>
        </p:blipFill>
        <p:spPr>
          <a:xfrm>
            <a:off x="13159409" y="3428999"/>
            <a:ext cx="503582" cy="2949147"/>
          </a:xfrm>
          <a:prstGeom prst="rect">
            <a:avLst/>
          </a:prstGeom>
        </p:spPr>
      </p:pic>
      <p:pic>
        <p:nvPicPr>
          <p:cNvPr id="19" name="Picture 18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AFD566F8-C18B-40A8-A55A-4F37C4884F9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31" t="10636" r="15982" b="13228"/>
          <a:stretch/>
        </p:blipFill>
        <p:spPr>
          <a:xfrm>
            <a:off x="10496672" y="518059"/>
            <a:ext cx="1136013" cy="485335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CDDABC-182D-425C-B739-15A483F7E54A}"/>
              </a:ext>
            </a:extLst>
          </p:cNvPr>
          <p:cNvSpPr/>
          <p:nvPr/>
        </p:nvSpPr>
        <p:spPr>
          <a:xfrm>
            <a:off x="8187779" y="5790260"/>
            <a:ext cx="1516315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arborescent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D36F4D-E7F9-44A5-B505-6AB2E461AB7E}"/>
              </a:ext>
            </a:extLst>
          </p:cNvPr>
          <p:cNvSpPr/>
          <p:nvPr/>
        </p:nvSpPr>
        <p:spPr>
          <a:xfrm>
            <a:off x="10663620" y="5790260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rhizoid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7309E95E-F6AB-489A-8845-D1062921B5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8" t="41248" r="37229" b="15749"/>
          <a:stretch/>
        </p:blipFill>
        <p:spPr>
          <a:xfrm>
            <a:off x="6546830" y="481258"/>
            <a:ext cx="1136013" cy="4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85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hower curtain&#10;&#10;Description automatically generated">
            <a:extLst>
              <a:ext uri="{FF2B5EF4-FFF2-40B4-BE49-F238E27FC236}">
                <a16:creationId xmlns:a16="http://schemas.microsoft.com/office/drawing/2014/main" id="{EF3F1816-14A9-4C6E-8451-54093E4D6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3" y="307044"/>
            <a:ext cx="1995777" cy="6307364"/>
          </a:xfrm>
          <a:prstGeom prst="rect">
            <a:avLst/>
          </a:prstGeom>
        </p:spPr>
      </p:pic>
      <p:pic>
        <p:nvPicPr>
          <p:cNvPr id="5" name="Picture 4" descr="A close up of a door&#10;&#10;Description automatically generated">
            <a:extLst>
              <a:ext uri="{FF2B5EF4-FFF2-40B4-BE49-F238E27FC236}">
                <a16:creationId xmlns:a16="http://schemas.microsoft.com/office/drawing/2014/main" id="{8F05A5F1-B5EB-4B44-9FE5-A51D0F886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949" y="307044"/>
            <a:ext cx="1995778" cy="63073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112643-30CB-4CE1-9D9B-DFB0C8379BBD}"/>
              </a:ext>
            </a:extLst>
          </p:cNvPr>
          <p:cNvSpPr/>
          <p:nvPr/>
        </p:nvSpPr>
        <p:spPr>
          <a:xfrm>
            <a:off x="160453" y="2034309"/>
            <a:ext cx="5935547" cy="2762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Filiform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Echinulate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differ from each other in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Filiform: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edges are smoothly undulate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Echinulate: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edges are sharp</a:t>
            </a:r>
          </a:p>
        </p:txBody>
      </p:sp>
    </p:spTree>
    <p:extLst>
      <p:ext uri="{BB962C8B-B14F-4D97-AF65-F5344CB8AC3E}">
        <p14:creationId xmlns:p14="http://schemas.microsoft.com/office/powerpoint/2010/main" val="103628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711298-6AB6-499A-B9FC-D42DA10A4267}"/>
              </a:ext>
            </a:extLst>
          </p:cNvPr>
          <p:cNvSpPr/>
          <p:nvPr/>
        </p:nvSpPr>
        <p:spPr>
          <a:xfrm>
            <a:off x="160452" y="2034309"/>
            <a:ext cx="8000567" cy="31870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arborescent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rhizoid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forms are differ from each other in the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 trunk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Arborescent: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middle trunk is thickest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Rhizoid: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lines are net-like and equal in thickness </a:t>
            </a:r>
          </a:p>
        </p:txBody>
      </p:sp>
      <p:pic>
        <p:nvPicPr>
          <p:cNvPr id="6" name="Picture 5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78D94BA0-CEDD-4014-8873-2CEB5BAB28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r="84836" b="13093"/>
          <a:stretch/>
        </p:blipFill>
        <p:spPr>
          <a:xfrm>
            <a:off x="8426577" y="481257"/>
            <a:ext cx="1136013" cy="5362951"/>
          </a:xfrm>
          <a:prstGeom prst="rect">
            <a:avLst/>
          </a:prstGeom>
        </p:spPr>
      </p:pic>
      <p:pic>
        <p:nvPicPr>
          <p:cNvPr id="7" name="Picture 6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8A9A6258-FC78-43A7-8A74-CC090BCBDB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31" t="10636" r="15982" b="13228"/>
          <a:stretch/>
        </p:blipFill>
        <p:spPr>
          <a:xfrm>
            <a:off x="10496672" y="518058"/>
            <a:ext cx="1136013" cy="532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97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3A1BA7-1C63-4073-866F-ED0B5C26A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976" t="6322" r="53780" b="27665"/>
          <a:stretch/>
        </p:blipFill>
        <p:spPr>
          <a:xfrm>
            <a:off x="8102991" y="437323"/>
            <a:ext cx="1253043" cy="4934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A77335-C138-42BC-9FF7-C84655B16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69" t="6532" r="38962" b="25274"/>
          <a:stretch/>
        </p:blipFill>
        <p:spPr>
          <a:xfrm>
            <a:off x="10213144" y="344557"/>
            <a:ext cx="1253042" cy="510208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DFB40-3C23-44CA-AD95-E106885F05BB}"/>
              </a:ext>
            </a:extLst>
          </p:cNvPr>
          <p:cNvSpPr/>
          <p:nvPr/>
        </p:nvSpPr>
        <p:spPr>
          <a:xfrm>
            <a:off x="8270908" y="5668828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Beaded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C4E9EF-4A12-48F1-81DB-BCFEE640EF39}"/>
              </a:ext>
            </a:extLst>
          </p:cNvPr>
          <p:cNvSpPr/>
          <p:nvPr/>
        </p:nvSpPr>
        <p:spPr>
          <a:xfrm>
            <a:off x="10213144" y="5657739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Effuse</a:t>
            </a:r>
            <a:endParaRPr lang="en-US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6CCC87-AE1F-48C6-B742-9FE8228B4263}"/>
              </a:ext>
            </a:extLst>
          </p:cNvPr>
          <p:cNvSpPr/>
          <p:nvPr/>
        </p:nvSpPr>
        <p:spPr>
          <a:xfrm>
            <a:off x="292975" y="810006"/>
            <a:ext cx="7592070" cy="52379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differentiate between beaded and effuse forms by:</a:t>
            </a:r>
          </a:p>
          <a:p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 a loopful in between the beads and carry out a simple stain</a:t>
            </a:r>
          </a:p>
          <a:p>
            <a:pPr marL="285750" indent="-285750">
              <a:buFontTx/>
              <a:buChar char="-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If there is no bacteria on the slide, it means that the colonies are completely separate – (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beaded)</a:t>
            </a:r>
          </a:p>
          <a:p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If there is bacteria on the slide, it means that the colonies are fused together by a transparent bacterial film – (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effuse)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52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268CC2-5FEA-42D4-88E7-F680CA032965}"/>
              </a:ext>
            </a:extLst>
          </p:cNvPr>
          <p:cNvSpPr/>
          <p:nvPr/>
        </p:nvSpPr>
        <p:spPr>
          <a:xfrm>
            <a:off x="384314" y="1464466"/>
            <a:ext cx="10548729" cy="30280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</a:rPr>
              <a:t>The bacterial growth can be controlled by: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            1. </a:t>
            </a:r>
            <a:r>
              <a:rPr lang="en-US" sz="2400" b="1" dirty="0">
                <a:solidFill>
                  <a:schemeClr val="tx1"/>
                </a:solidFill>
              </a:rPr>
              <a:t>Chemical factors: </a:t>
            </a:r>
            <a:r>
              <a:rPr lang="en-US" sz="2400" dirty="0">
                <a:solidFill>
                  <a:schemeClr val="tx1"/>
                </a:solidFill>
              </a:rPr>
              <a:t>Antiseptic, Antibiotic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            2. </a:t>
            </a:r>
            <a:r>
              <a:rPr lang="en-US" sz="2400" b="1" dirty="0">
                <a:solidFill>
                  <a:schemeClr val="tx1"/>
                </a:solidFill>
              </a:rPr>
              <a:t>Physical factors</a:t>
            </a:r>
            <a:r>
              <a:rPr lang="en-US" sz="2400" dirty="0">
                <a:solidFill>
                  <a:schemeClr val="tx1"/>
                </a:solidFill>
              </a:rPr>
              <a:t>: Temperature, pH, Osmotic pressure, </a:t>
            </a:r>
            <a:r>
              <a:rPr lang="en-US" sz="2400" b="1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 requirements</a:t>
            </a:r>
          </a:p>
        </p:txBody>
      </p:sp>
    </p:spTree>
    <p:extLst>
      <p:ext uri="{BB962C8B-B14F-4D97-AF65-F5344CB8AC3E}">
        <p14:creationId xmlns:p14="http://schemas.microsoft.com/office/powerpoint/2010/main" val="4173447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BC3F9E-B0B4-4AA2-A082-CA0EEFCD3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6" t="4463" r="1044" b="-227"/>
          <a:stretch/>
        </p:blipFill>
        <p:spPr>
          <a:xfrm>
            <a:off x="1648567" y="4020698"/>
            <a:ext cx="5393635" cy="272332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8662B9-37A2-4C8B-8F67-82D18F3495EE}"/>
              </a:ext>
            </a:extLst>
          </p:cNvPr>
          <p:cNvSpPr/>
          <p:nvPr/>
        </p:nvSpPr>
        <p:spPr>
          <a:xfrm>
            <a:off x="1007166" y="421931"/>
            <a:ext cx="10502844" cy="35167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4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0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used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our bodies in the mitochondria of our cells during the cellular respiration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60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final electron and proton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acceptor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electron transport system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Cytochrome is the final electron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</a:t>
            </a:r>
          </a:p>
          <a:p>
            <a:pPr marL="342900" indent="-342900">
              <a:buFontTx/>
              <a:buChar char="-"/>
            </a:pP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Superoxide dismutase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enzyme converts the 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radical to H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pt-BR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Catalase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enzyme converts H</a:t>
            </a:r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H</a:t>
            </a:r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+ 1/2O</a:t>
            </a:r>
            <a:r>
              <a:rPr 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DFCBF-52FC-4489-8EF9-07AFE26DB03D}"/>
              </a:ext>
            </a:extLst>
          </p:cNvPr>
          <p:cNvSpPr/>
          <p:nvPr/>
        </p:nvSpPr>
        <p:spPr>
          <a:xfrm>
            <a:off x="7042202" y="5210080"/>
            <a:ext cx="1726094" cy="344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Superoxide dismutase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7987D-4157-42B3-876D-498471DC9DDE}"/>
              </a:ext>
            </a:extLst>
          </p:cNvPr>
          <p:cNvSpPr/>
          <p:nvPr/>
        </p:nvSpPr>
        <p:spPr>
          <a:xfrm>
            <a:off x="7303602" y="6000750"/>
            <a:ext cx="937428" cy="2347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Catalase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428024-447F-40F3-A489-912799A7CABB}"/>
              </a:ext>
            </a:extLst>
          </p:cNvPr>
          <p:cNvSpPr/>
          <p:nvPr/>
        </p:nvSpPr>
        <p:spPr>
          <a:xfrm>
            <a:off x="7303602" y="6399463"/>
            <a:ext cx="785193" cy="344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 H2O</a:t>
            </a:r>
          </a:p>
        </p:txBody>
      </p:sp>
    </p:spTree>
    <p:extLst>
      <p:ext uri="{BB962C8B-B14F-4D97-AF65-F5344CB8AC3E}">
        <p14:creationId xmlns:p14="http://schemas.microsoft.com/office/powerpoint/2010/main" val="3606509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DCDD-FC3D-4643-9942-FA551C87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44758"/>
            <a:ext cx="5905500" cy="136405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Brain Heart Infusion Agar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EBFD7F-BD67-4DA8-ACAF-C8A2254BD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204" t="30178"/>
          <a:stretch/>
        </p:blipFill>
        <p:spPr>
          <a:xfrm>
            <a:off x="10392616" y="1772479"/>
            <a:ext cx="1295037" cy="3313042"/>
          </a:xfrm>
          <a:prstGeom prst="rect">
            <a:avLst/>
          </a:prstGeom>
        </p:spPr>
      </p:pic>
      <p:pic>
        <p:nvPicPr>
          <p:cNvPr id="6" name="Picture 5" descr="A picture containing indoor, bottle, food, filled&#10;&#10;Description automatically generated">
            <a:extLst>
              <a:ext uri="{FF2B5EF4-FFF2-40B4-BE49-F238E27FC236}">
                <a16:creationId xmlns:a16="http://schemas.microsoft.com/office/drawing/2014/main" id="{99401FEB-F399-47AF-AA7E-37BEB0565C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42" r="21527" b="5788"/>
          <a:stretch/>
        </p:blipFill>
        <p:spPr>
          <a:xfrm>
            <a:off x="9365929" y="1226784"/>
            <a:ext cx="928468" cy="423437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C0D09C-2DBC-4A1F-8FD0-9926AB223D21}"/>
              </a:ext>
            </a:extLst>
          </p:cNvPr>
          <p:cNvSpPr/>
          <p:nvPr/>
        </p:nvSpPr>
        <p:spPr>
          <a:xfrm>
            <a:off x="838200" y="2274645"/>
            <a:ext cx="8014252" cy="31672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Brain heart infusion</a:t>
            </a:r>
            <a:r>
              <a:rPr lang="en-US" sz="24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(BHI) 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growth medium, used to determine the oxygen requirement of different types of bacteria</a:t>
            </a:r>
          </a:p>
          <a:p>
            <a:endParaRPr lang="en-US" sz="24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sz="2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BHI </a:t>
            </a:r>
            <a:r>
              <a:rPr lang="en-US" sz="2400" dirty="0">
                <a:solidFill>
                  <a:schemeClr val="tx1"/>
                </a:solidFill>
              </a:rPr>
              <a:t>contains a reducing agent which absorbs O</a:t>
            </a:r>
            <a:r>
              <a:rPr lang="en-US" sz="2000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, causing O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lang="en-US" sz="2400" dirty="0">
                <a:solidFill>
                  <a:schemeClr val="tx1"/>
                </a:solidFill>
              </a:rPr>
              <a:t> concentration to decrease with depth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F16078-1343-4613-AA16-619BE80977CF}"/>
                  </a:ext>
                </a:extLst>
              </p14:cNvPr>
              <p14:cNvContentPartPr/>
              <p14:nvPr/>
            </p14:nvContentPartPr>
            <p14:xfrm>
              <a:off x="1393650" y="314325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F16078-1343-4613-AA16-619BE80977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5010" y="313425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F7C7BFC-3CF0-47D7-B017-0D21F852046B}"/>
              </a:ext>
            </a:extLst>
          </p:cNvPr>
          <p:cNvGrpSpPr/>
          <p:nvPr/>
        </p:nvGrpSpPr>
        <p:grpSpPr>
          <a:xfrm>
            <a:off x="2137050" y="3131730"/>
            <a:ext cx="360" cy="360"/>
            <a:chOff x="2137050" y="313173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4139D2-F427-41F8-AEC2-D20E5A30FFC5}"/>
                    </a:ext>
                  </a:extLst>
                </p14:cNvPr>
                <p14:cNvContentPartPr/>
                <p14:nvPr/>
              </p14:nvContentPartPr>
              <p14:xfrm>
                <a:off x="2137050" y="313173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4139D2-F427-41F8-AEC2-D20E5A30FF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28050" y="3123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3084CB-6D24-4E43-8529-39FC1362F575}"/>
                    </a:ext>
                  </a:extLst>
                </p14:cNvPr>
                <p14:cNvContentPartPr/>
                <p14:nvPr/>
              </p14:nvContentPartPr>
              <p14:xfrm>
                <a:off x="2137050" y="313173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3084CB-6D24-4E43-8529-39FC1362F5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28050" y="31230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B7B435-8F65-4EA5-BECB-B6E0AC000BD9}"/>
              </a:ext>
            </a:extLst>
          </p:cNvPr>
          <p:cNvGrpSpPr/>
          <p:nvPr/>
        </p:nvGrpSpPr>
        <p:grpSpPr>
          <a:xfrm>
            <a:off x="3577050" y="3257370"/>
            <a:ext cx="360" cy="360"/>
            <a:chOff x="3577050" y="325737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BB0465-EBBD-4747-8481-A7D089CF80E9}"/>
                    </a:ext>
                  </a:extLst>
                </p14:cNvPr>
                <p14:cNvContentPartPr/>
                <p14:nvPr/>
              </p14:nvContentPartPr>
              <p14:xfrm>
                <a:off x="3577050" y="3257370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BB0465-EBBD-4747-8481-A7D089CF80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8410" y="3248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26448B-40D7-4825-8F4D-97DB2B6ACE07}"/>
                    </a:ext>
                  </a:extLst>
                </p14:cNvPr>
                <p14:cNvContentPartPr/>
                <p14:nvPr/>
              </p14:nvContentPartPr>
              <p14:xfrm>
                <a:off x="3577050" y="3257370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26448B-40D7-4825-8F4D-97DB2B6ACE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68410" y="32483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539ECC-691A-43FC-BB18-FE0C476851DE}"/>
                  </a:ext>
                </a:extLst>
              </p14:cNvPr>
              <p14:cNvContentPartPr/>
              <p14:nvPr/>
            </p14:nvContentPartPr>
            <p14:xfrm>
              <a:off x="5508810" y="2317770"/>
              <a:ext cx="2160" cy="2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539ECC-691A-43FC-BB18-FE0C476851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99810" y="2309130"/>
                <a:ext cx="198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6A840B8-C77F-47AC-AEA2-29F8A8AAD8F0}"/>
              </a:ext>
            </a:extLst>
          </p:cNvPr>
          <p:cNvGrpSpPr/>
          <p:nvPr/>
        </p:nvGrpSpPr>
        <p:grpSpPr>
          <a:xfrm>
            <a:off x="5714370" y="925650"/>
            <a:ext cx="360" cy="360"/>
            <a:chOff x="5714370" y="92565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5B991F-A9FB-4FBF-AC97-99C5DFB0EBD7}"/>
                    </a:ext>
                  </a:extLst>
                </p14:cNvPr>
                <p14:cNvContentPartPr/>
                <p14:nvPr/>
              </p14:nvContentPartPr>
              <p14:xfrm>
                <a:off x="5714370" y="92565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5B991F-A9FB-4FBF-AC97-99C5DFB0EBD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5370" y="9170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5FBB1E6-D199-4B16-91A9-C8D1CBB4B96A}"/>
                    </a:ext>
                  </a:extLst>
                </p14:cNvPr>
                <p14:cNvContentPartPr/>
                <p14:nvPr/>
              </p14:nvContentPartPr>
              <p14:xfrm>
                <a:off x="5714370" y="92565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5FBB1E6-D199-4B16-91A9-C8D1CBB4B9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5370" y="9170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3AD352-D7F9-468A-A1EB-DE2DC6B9AA6D}"/>
              </a:ext>
            </a:extLst>
          </p:cNvPr>
          <p:cNvGrpSpPr/>
          <p:nvPr/>
        </p:nvGrpSpPr>
        <p:grpSpPr>
          <a:xfrm>
            <a:off x="9898290" y="3097170"/>
            <a:ext cx="360" cy="360"/>
            <a:chOff x="9898290" y="309717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8DD519-C6A5-42E6-83C9-6E59E82397DC}"/>
                    </a:ext>
                  </a:extLst>
                </p14:cNvPr>
                <p14:cNvContentPartPr/>
                <p14:nvPr/>
              </p14:nvContentPartPr>
              <p14:xfrm>
                <a:off x="9898290" y="309717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8DD519-C6A5-42E6-83C9-6E59E82397D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89290" y="30881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11A1259-06FB-49E4-A5E9-424CBF04A0CE}"/>
                    </a:ext>
                  </a:extLst>
                </p14:cNvPr>
                <p14:cNvContentPartPr/>
                <p14:nvPr/>
              </p14:nvContentPartPr>
              <p14:xfrm>
                <a:off x="9898290" y="309717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11A1259-06FB-49E4-A5E9-424CBF04A0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89290" y="30881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7953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icture containing indoor, bottle, food, filled&#10;&#10;Description automatically generated">
            <a:extLst>
              <a:ext uri="{FF2B5EF4-FFF2-40B4-BE49-F238E27FC236}">
                <a16:creationId xmlns:a16="http://schemas.microsoft.com/office/drawing/2014/main" id="{0C623C4B-2D45-4982-ACA4-C6A3FEA42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42" r="21527" b="5788"/>
          <a:stretch/>
        </p:blipFill>
        <p:spPr>
          <a:xfrm>
            <a:off x="3295504" y="440738"/>
            <a:ext cx="934455" cy="285574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C3EFED-48DB-433E-AF95-074BBD0F12F7}"/>
              </a:ext>
            </a:extLst>
          </p:cNvPr>
          <p:cNvSpPr/>
          <p:nvPr/>
        </p:nvSpPr>
        <p:spPr>
          <a:xfrm>
            <a:off x="408064" y="3429000"/>
            <a:ext cx="1519311" cy="5599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BHI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Kept at 60˚ C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E700DA-D9EC-47DA-9A7E-4E1D636C75B9}"/>
              </a:ext>
            </a:extLst>
          </p:cNvPr>
          <p:cNvSpPr/>
          <p:nvPr/>
        </p:nvSpPr>
        <p:spPr>
          <a:xfrm>
            <a:off x="2767935" y="3468756"/>
            <a:ext cx="2121511" cy="5599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Cool to about 45 ˚ C </a:t>
            </a:r>
          </a:p>
        </p:txBody>
      </p:sp>
      <p:pic>
        <p:nvPicPr>
          <p:cNvPr id="8" name="Picture 7" descr="A picture containing refrigerator&#10;&#10;Description automatically generated">
            <a:extLst>
              <a:ext uri="{FF2B5EF4-FFF2-40B4-BE49-F238E27FC236}">
                <a16:creationId xmlns:a16="http://schemas.microsoft.com/office/drawing/2014/main" id="{46D4BC23-6188-46C1-9B42-9F9AFE685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3" t="13665" b="1605"/>
          <a:stretch/>
        </p:blipFill>
        <p:spPr>
          <a:xfrm>
            <a:off x="140677" y="573259"/>
            <a:ext cx="2054087" cy="233564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FB4FD2-B9F4-43B1-94B1-98200E26F0A6}"/>
              </a:ext>
            </a:extLst>
          </p:cNvPr>
          <p:cNvSpPr/>
          <p:nvPr/>
        </p:nvSpPr>
        <p:spPr>
          <a:xfrm>
            <a:off x="5598090" y="3379318"/>
            <a:ext cx="2328272" cy="12986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Inoculate by loopful of your pure culture 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5FD4472-8FAF-4990-83C0-9BEBEF9D5F81}"/>
              </a:ext>
            </a:extLst>
          </p:cNvPr>
          <p:cNvSpPr/>
          <p:nvPr/>
        </p:nvSpPr>
        <p:spPr>
          <a:xfrm rot="16200000">
            <a:off x="2663624" y="1752664"/>
            <a:ext cx="208621" cy="93445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57C0F91-9247-4499-85BD-C4974446A573}"/>
              </a:ext>
            </a:extLst>
          </p:cNvPr>
          <p:cNvSpPr/>
          <p:nvPr/>
        </p:nvSpPr>
        <p:spPr>
          <a:xfrm rot="16200000">
            <a:off x="4759449" y="1620005"/>
            <a:ext cx="195318" cy="11172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EF034FF-AA0C-4DE7-BD65-C04F5F33FB69}"/>
              </a:ext>
            </a:extLst>
          </p:cNvPr>
          <p:cNvSpPr/>
          <p:nvPr/>
        </p:nvSpPr>
        <p:spPr>
          <a:xfrm rot="16200000" flipH="1">
            <a:off x="8736613" y="1355495"/>
            <a:ext cx="183872" cy="113651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A4BC2C-A764-413F-AB3D-77AD07D4F1BE}"/>
              </a:ext>
            </a:extLst>
          </p:cNvPr>
          <p:cNvSpPr/>
          <p:nvPr/>
        </p:nvSpPr>
        <p:spPr>
          <a:xfrm>
            <a:off x="9723051" y="4148807"/>
            <a:ext cx="2328272" cy="13815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Mix very </a:t>
            </a:r>
            <a:r>
              <a:rPr lang="en-US" dirty="0">
                <a:solidFill>
                  <a:schemeClr val="tx1"/>
                </a:solidFill>
              </a:rPr>
              <a:t>well by vortex to get a uniform distribution of bacteria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7F821D-5C56-4104-91C1-F5D6C24ED22F}"/>
              </a:ext>
            </a:extLst>
          </p:cNvPr>
          <p:cNvSpPr/>
          <p:nvPr/>
        </p:nvSpPr>
        <p:spPr>
          <a:xfrm>
            <a:off x="6585220" y="5050503"/>
            <a:ext cx="2784068" cy="14842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Cool it as fast as possible under tap water to fix the bacterial cell where it is </a:t>
            </a:r>
          </a:p>
        </p:txBody>
      </p:sp>
      <p:pic>
        <p:nvPicPr>
          <p:cNvPr id="22" name="Content Placeholder 3" descr="A picture containing indoor, bottle, food, filled&#10;&#10;Description automatically generated">
            <a:extLst>
              <a:ext uri="{FF2B5EF4-FFF2-40B4-BE49-F238E27FC236}">
                <a16:creationId xmlns:a16="http://schemas.microsoft.com/office/drawing/2014/main" id="{F7F2F098-F089-404F-9EB6-A5225BE134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42" r="21527" b="5788"/>
          <a:stretch/>
        </p:blipFill>
        <p:spPr>
          <a:xfrm>
            <a:off x="7127602" y="386999"/>
            <a:ext cx="934455" cy="2855741"/>
          </a:xfrm>
          <a:prstGeom prst="rect">
            <a:avLst/>
          </a:prstGeom>
        </p:spPr>
      </p:pic>
      <p:pic>
        <p:nvPicPr>
          <p:cNvPr id="24" name="Picture 23" descr="A close up of a camera&#10;&#10;Description automatically generated">
            <a:extLst>
              <a:ext uri="{FF2B5EF4-FFF2-40B4-BE49-F238E27FC236}">
                <a16:creationId xmlns:a16="http://schemas.microsoft.com/office/drawing/2014/main" id="{D1AEE24F-F33A-40C3-BB32-D846914D02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8" t="11932" r="17430" b="7293"/>
          <a:stretch/>
        </p:blipFill>
        <p:spPr>
          <a:xfrm>
            <a:off x="10027474" y="1923953"/>
            <a:ext cx="1811875" cy="2212465"/>
          </a:xfrm>
          <a:prstGeom prst="rect">
            <a:avLst/>
          </a:prstGeom>
        </p:spPr>
      </p:pic>
      <p:sp>
        <p:nvSpPr>
          <p:cNvPr id="25" name="Arrow: Left-Up 24">
            <a:extLst>
              <a:ext uri="{FF2B5EF4-FFF2-40B4-BE49-F238E27FC236}">
                <a16:creationId xmlns:a16="http://schemas.microsoft.com/office/drawing/2014/main" id="{8A476442-3400-4B68-A540-07B8FC2E1F30}"/>
              </a:ext>
            </a:extLst>
          </p:cNvPr>
          <p:cNvSpPr/>
          <p:nvPr/>
        </p:nvSpPr>
        <p:spPr>
          <a:xfrm>
            <a:off x="9851558" y="5542719"/>
            <a:ext cx="1426278" cy="932721"/>
          </a:xfrm>
          <a:prstGeom prst="leftUpArrow">
            <a:avLst>
              <a:gd name="adj1" fmla="val 4591"/>
              <a:gd name="adj2" fmla="val 10204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51FB6F7-38DA-45DF-8979-ADC055B655C5}"/>
              </a:ext>
            </a:extLst>
          </p:cNvPr>
          <p:cNvSpPr/>
          <p:nvPr/>
        </p:nvSpPr>
        <p:spPr>
          <a:xfrm rot="5400000">
            <a:off x="5429767" y="5418040"/>
            <a:ext cx="195318" cy="111729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2EFFA2-8CF4-4116-89A6-39ECADA1F46F}"/>
              </a:ext>
            </a:extLst>
          </p:cNvPr>
          <p:cNvSpPr/>
          <p:nvPr/>
        </p:nvSpPr>
        <p:spPr>
          <a:xfrm>
            <a:off x="140677" y="4989393"/>
            <a:ext cx="4390611" cy="14842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Incubate in the incubator at optimum temperature for </a:t>
            </a:r>
            <a:r>
              <a:rPr lang="en-US" b="1" dirty="0">
                <a:solidFill>
                  <a:schemeClr val="tx1"/>
                </a:solidFill>
              </a:rPr>
              <a:t>3 days </a:t>
            </a:r>
            <a:r>
              <a:rPr lang="en-US" dirty="0">
                <a:solidFill>
                  <a:schemeClr val="tx1"/>
                </a:solidFill>
              </a:rPr>
              <a:t>then take the result by observing </a:t>
            </a:r>
            <a:r>
              <a:rPr lang="en-US" b="1" dirty="0">
                <a:solidFill>
                  <a:schemeClr val="tx1"/>
                </a:solidFill>
              </a:rPr>
              <a:t>where the bacteria grow</a:t>
            </a:r>
          </a:p>
        </p:txBody>
      </p: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4797F27C-CE68-4D79-BE78-F45B934BD9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7" t="29130" r="52762" b="3736"/>
          <a:stretch/>
        </p:blipFill>
        <p:spPr>
          <a:xfrm>
            <a:off x="5510503" y="1522829"/>
            <a:ext cx="1153972" cy="1057533"/>
          </a:xfrm>
          <a:prstGeom prst="rect">
            <a:avLst/>
          </a:prstGeom>
        </p:spPr>
      </p:pic>
      <p:pic>
        <p:nvPicPr>
          <p:cNvPr id="27" name="Picture 2" descr="Decon LeLoop Inoculating Loops :Life Sciences:Microbiology ...">
            <a:hlinkClick r:id="rId6"/>
            <a:extLst>
              <a:ext uri="{FF2B5EF4-FFF2-40B4-BE49-F238E27FC236}">
                <a16:creationId xmlns:a16="http://schemas.microsoft.com/office/drawing/2014/main" id="{04128051-BF41-4863-AD87-D46B301792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4769246">
            <a:off x="4605661" y="974482"/>
            <a:ext cx="2264883" cy="3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Decon LeLoop Inoculating Loops :Life Sciences:Microbiology ...">
            <a:hlinkClick r:id="rId6"/>
            <a:extLst>
              <a:ext uri="{FF2B5EF4-FFF2-40B4-BE49-F238E27FC236}">
                <a16:creationId xmlns:a16="http://schemas.microsoft.com/office/drawing/2014/main" id="{28C61108-347F-44AE-B8B9-AA75846C15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2" t="33951" r="5995" b="54826"/>
          <a:stretch/>
        </p:blipFill>
        <p:spPr bwMode="auto">
          <a:xfrm rot="17064635">
            <a:off x="6777847" y="658415"/>
            <a:ext cx="2169359" cy="33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FF5D7A5-2AFD-468A-ABE7-9BBB977F9D6B}"/>
              </a:ext>
            </a:extLst>
          </p:cNvPr>
          <p:cNvSpPr txBox="1"/>
          <p:nvPr/>
        </p:nvSpPr>
        <p:spPr>
          <a:xfrm>
            <a:off x="5274515" y="2583531"/>
            <a:ext cx="2014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Your pure culture</a:t>
            </a:r>
            <a:endParaRPr lang="en-AE" dirty="0">
              <a:solidFill>
                <a:srgbClr val="FF0000"/>
              </a:solidFill>
            </a:endParaRPr>
          </a:p>
        </p:txBody>
      </p:sp>
      <p:pic>
        <p:nvPicPr>
          <p:cNvPr id="31" name="Content Placeholder 3" descr="A picture containing indoor, bottle, food, filled&#10;&#10;Description automatically generated">
            <a:extLst>
              <a:ext uri="{FF2B5EF4-FFF2-40B4-BE49-F238E27FC236}">
                <a16:creationId xmlns:a16="http://schemas.microsoft.com/office/drawing/2014/main" id="{BB3FED18-A6B8-43B3-A799-BDAF3EE3EF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42" r="21527" b="5788"/>
          <a:stretch/>
        </p:blipFill>
        <p:spPr>
          <a:xfrm>
            <a:off x="10623206" y="119686"/>
            <a:ext cx="620410" cy="189600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9833811-A8EC-4AA7-856C-9762198EB44B}"/>
              </a:ext>
            </a:extLst>
          </p:cNvPr>
          <p:cNvGrpSpPr/>
          <p:nvPr/>
        </p:nvGrpSpPr>
        <p:grpSpPr>
          <a:xfrm>
            <a:off x="3874050" y="1702710"/>
            <a:ext cx="360" cy="360"/>
            <a:chOff x="3874050" y="170271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E2D5D91-8B5C-4356-BBC3-1C7332E8C2E2}"/>
                    </a:ext>
                  </a:extLst>
                </p14:cNvPr>
                <p14:cNvContentPartPr/>
                <p14:nvPr/>
              </p14:nvContentPartPr>
              <p14:xfrm>
                <a:off x="3874050" y="1702710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E2D5D91-8B5C-4356-BBC3-1C7332E8C2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65410" y="1694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98B55A-46BA-43D8-8A04-3AA476A28B84}"/>
                    </a:ext>
                  </a:extLst>
                </p14:cNvPr>
                <p14:cNvContentPartPr/>
                <p14:nvPr/>
              </p14:nvContentPartPr>
              <p14:xfrm>
                <a:off x="3874050" y="170271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98B55A-46BA-43D8-8A04-3AA476A28B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65410" y="16940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FE7A93-411C-4FC6-8960-B9A7E4402B12}"/>
                  </a:ext>
                </a:extLst>
              </p14:cNvPr>
              <p14:cNvContentPartPr/>
              <p14:nvPr/>
            </p14:nvContentPartPr>
            <p14:xfrm>
              <a:off x="14641290" y="529155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FE7A93-411C-4FC6-8960-B9A7E4402B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632650" y="528291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6167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6C12-199F-4B81-BF89-DA80ACBE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400051"/>
            <a:ext cx="5298219" cy="120014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Brain Heart Infusion Agar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D7F6-CF94-4A04-9E64-011B7F7E1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1" y="1276984"/>
            <a:ext cx="11062252" cy="473420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Remove the molten brain-heart infusion tube from the water bath, and cool it to 45˚C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Flame the mouth of the brain-heart infusion tube before and after opening the lid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Using a sterile inoculating loop, transfer two loopfuls from your pure culture to the tube and gently shake the loop to disperse the bacteria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Reflame the mouth of the tube and close the lid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Vortex very well until bacteria is uniformly distributed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Immediately cool the tube under running water to solidify the media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Incubate for three days, and record the result depend </a:t>
            </a:r>
            <a:r>
              <a:rPr lang="en-US" sz="2200" b="1" dirty="0">
                <a:solidFill>
                  <a:srgbClr val="FF0000"/>
                </a:solidFill>
              </a:rPr>
              <a:t>where the bacteria grew</a:t>
            </a:r>
          </a:p>
        </p:txBody>
      </p:sp>
    </p:spTree>
    <p:extLst>
      <p:ext uri="{BB962C8B-B14F-4D97-AF65-F5344CB8AC3E}">
        <p14:creationId xmlns:p14="http://schemas.microsoft.com/office/powerpoint/2010/main" val="1439117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64B921-8C41-4949-86FB-B7799B1E9D09}"/>
              </a:ext>
            </a:extLst>
          </p:cNvPr>
          <p:cNvSpPr/>
          <p:nvPr/>
        </p:nvSpPr>
        <p:spPr>
          <a:xfrm>
            <a:off x="751493" y="384527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Aerobic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CDBB2-080E-4546-B354-1710CC3392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2" t="23349" r="50000"/>
          <a:stretch/>
        </p:blipFill>
        <p:spPr>
          <a:xfrm>
            <a:off x="7711014" y="1095300"/>
            <a:ext cx="970672" cy="373826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0962B-6244-4B75-86A0-366F288EC6B3}"/>
              </a:ext>
            </a:extLst>
          </p:cNvPr>
          <p:cNvSpPr/>
          <p:nvPr/>
        </p:nvSpPr>
        <p:spPr>
          <a:xfrm>
            <a:off x="2600304" y="404826"/>
            <a:ext cx="1783039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Microaerophilic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7B1DB3-673D-4630-8BA4-8EBB5B7E2ED9}"/>
              </a:ext>
            </a:extLst>
          </p:cNvPr>
          <p:cNvSpPr/>
          <p:nvPr/>
        </p:nvSpPr>
        <p:spPr>
          <a:xfrm>
            <a:off x="7069052" y="396161"/>
            <a:ext cx="1888004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Aerotolerant anaerobic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F54004-F04C-407C-BF73-731CB1AD5B96}"/>
              </a:ext>
            </a:extLst>
          </p:cNvPr>
          <p:cNvSpPr/>
          <p:nvPr/>
        </p:nvSpPr>
        <p:spPr>
          <a:xfrm>
            <a:off x="9904429" y="360459"/>
            <a:ext cx="1288599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Facultative</a:t>
            </a:r>
          </a:p>
          <a:p>
            <a:r>
              <a:rPr lang="en-US" b="1" dirty="0">
                <a:solidFill>
                  <a:schemeClr val="tx1"/>
                </a:solidFill>
              </a:rPr>
              <a:t>anaerobic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3" name="Picture 12" descr="A picture containing cup, table, glass, beverage&#10;&#10;Description automatically generated">
            <a:extLst>
              <a:ext uri="{FF2B5EF4-FFF2-40B4-BE49-F238E27FC236}">
                <a16:creationId xmlns:a16="http://schemas.microsoft.com/office/drawing/2014/main" id="{ED5F9F5E-70C6-457A-A628-077CA4A3D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04" y="1052122"/>
            <a:ext cx="1070515" cy="3824628"/>
          </a:xfrm>
          <a:prstGeom prst="rect">
            <a:avLst/>
          </a:prstGeom>
        </p:spPr>
      </p:pic>
      <p:pic>
        <p:nvPicPr>
          <p:cNvPr id="17" name="Picture 16" descr="A picture containing cup, table, drink, beverage&#10;&#10;Description automatically generated">
            <a:extLst>
              <a:ext uri="{FF2B5EF4-FFF2-40B4-BE49-F238E27FC236}">
                <a16:creationId xmlns:a16="http://schemas.microsoft.com/office/drawing/2014/main" id="{82F2B1DB-5201-4005-90F3-107F006B4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939" y="1079798"/>
            <a:ext cx="970672" cy="3738269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6A3B57-6CB5-4A44-9937-621E82DB9DA1}"/>
              </a:ext>
            </a:extLst>
          </p:cNvPr>
          <p:cNvSpPr/>
          <p:nvPr/>
        </p:nvSpPr>
        <p:spPr>
          <a:xfrm>
            <a:off x="424070" y="5074699"/>
            <a:ext cx="1563860" cy="14228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The growth is only at the surface of the media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E9A1C3C-6FED-4874-8912-2381BAA6239F}"/>
              </a:ext>
            </a:extLst>
          </p:cNvPr>
          <p:cNvSpPr/>
          <p:nvPr/>
        </p:nvSpPr>
        <p:spPr>
          <a:xfrm>
            <a:off x="2715037" y="5074699"/>
            <a:ext cx="1563860" cy="14228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dirty="0">
                <a:solidFill>
                  <a:schemeClr val="tx1"/>
                </a:solidFill>
              </a:rPr>
              <a:t>The growth is just below the surface of the media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CDB9B2-8F72-4E31-B1CC-3B81A82ED81C}"/>
              </a:ext>
            </a:extLst>
          </p:cNvPr>
          <p:cNvSpPr/>
          <p:nvPr/>
        </p:nvSpPr>
        <p:spPr>
          <a:xfrm>
            <a:off x="4986718" y="397588"/>
            <a:ext cx="1382305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Anaerobic</a:t>
            </a:r>
            <a:endParaRPr lang="en-US" sz="2000" dirty="0"/>
          </a:p>
        </p:txBody>
      </p:sp>
      <p:pic>
        <p:nvPicPr>
          <p:cNvPr id="22" name="Picture 21" descr="A picture containing beverage, table, sitting, food&#10;&#10;Description automatically generated">
            <a:extLst>
              <a:ext uri="{FF2B5EF4-FFF2-40B4-BE49-F238E27FC236}">
                <a16:creationId xmlns:a16="http://schemas.microsoft.com/office/drawing/2014/main" id="{E101ED27-63B7-4034-8AE5-FE46C3CA4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40" y="1193734"/>
            <a:ext cx="970672" cy="3510399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900964-D772-4F44-91F7-73D69852E97A}"/>
              </a:ext>
            </a:extLst>
          </p:cNvPr>
          <p:cNvSpPr/>
          <p:nvPr/>
        </p:nvSpPr>
        <p:spPr>
          <a:xfrm>
            <a:off x="7344160" y="5074699"/>
            <a:ext cx="1704379" cy="13368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Uniform growth from the top to the bottom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D947606-AF99-471A-8949-9247177C6C05}"/>
              </a:ext>
            </a:extLst>
          </p:cNvPr>
          <p:cNvSpPr/>
          <p:nvPr/>
        </p:nvSpPr>
        <p:spPr>
          <a:xfrm>
            <a:off x="4887992" y="5074699"/>
            <a:ext cx="1563860" cy="14228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dirty="0">
                <a:solidFill>
                  <a:schemeClr val="tx1"/>
                </a:solidFill>
              </a:rPr>
              <a:t>The growth is only at the bottom of the media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F81846-7BBB-4CD3-B059-BB9B636FF35A}"/>
              </a:ext>
            </a:extLst>
          </p:cNvPr>
          <p:cNvSpPr/>
          <p:nvPr/>
        </p:nvSpPr>
        <p:spPr>
          <a:xfrm>
            <a:off x="9672718" y="4876750"/>
            <a:ext cx="2095212" cy="16223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dirty="0">
                <a:solidFill>
                  <a:schemeClr val="tx1"/>
                </a:solidFill>
              </a:rPr>
              <a:t>Uneven distribution of the growth from top to bottom (more growth at the top)</a:t>
            </a:r>
          </a:p>
        </p:txBody>
      </p:sp>
      <p:pic>
        <p:nvPicPr>
          <p:cNvPr id="27" name="Picture 26" descr="A picture containing table, glass, sitting, water&#10;&#10;Description automatically generated">
            <a:extLst>
              <a:ext uri="{FF2B5EF4-FFF2-40B4-BE49-F238E27FC236}">
                <a16:creationId xmlns:a16="http://schemas.microsoft.com/office/drawing/2014/main" id="{CB1B8556-5B9F-4A8A-81CA-03E6B2DA19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702" b="3784"/>
          <a:stretch/>
        </p:blipFill>
        <p:spPr>
          <a:xfrm>
            <a:off x="5192535" y="1095249"/>
            <a:ext cx="970672" cy="365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5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able, cup, bottle&#10;&#10;Description automatically generated">
            <a:extLst>
              <a:ext uri="{FF2B5EF4-FFF2-40B4-BE49-F238E27FC236}">
                <a16:creationId xmlns:a16="http://schemas.microsoft.com/office/drawing/2014/main" id="{57D84055-115E-4CC1-AECA-EC8A59882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45" y="721404"/>
            <a:ext cx="11051409" cy="5415191"/>
          </a:xfrm>
        </p:spPr>
      </p:pic>
    </p:spTree>
    <p:extLst>
      <p:ext uri="{BB962C8B-B14F-4D97-AF65-F5344CB8AC3E}">
        <p14:creationId xmlns:p14="http://schemas.microsoft.com/office/powerpoint/2010/main" val="231476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136915D-1481-4C7D-AFB7-1C6F8C523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112114"/>
              </p:ext>
            </p:extLst>
          </p:nvPr>
        </p:nvGraphicFramePr>
        <p:xfrm>
          <a:off x="162838" y="820420"/>
          <a:ext cx="11190962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219">
                  <a:extLst>
                    <a:ext uri="{9D8B030D-6E8A-4147-A177-3AD203B41FA5}">
                      <a16:colId xmlns:a16="http://schemas.microsoft.com/office/drawing/2014/main" val="3496008292"/>
                    </a:ext>
                  </a:extLst>
                </a:gridCol>
                <a:gridCol w="2937057">
                  <a:extLst>
                    <a:ext uri="{9D8B030D-6E8A-4147-A177-3AD203B41FA5}">
                      <a16:colId xmlns:a16="http://schemas.microsoft.com/office/drawing/2014/main" val="3789440471"/>
                    </a:ext>
                  </a:extLst>
                </a:gridCol>
                <a:gridCol w="2828343">
                  <a:extLst>
                    <a:ext uri="{9D8B030D-6E8A-4147-A177-3AD203B41FA5}">
                      <a16:colId xmlns:a16="http://schemas.microsoft.com/office/drawing/2014/main" val="2585882319"/>
                    </a:ext>
                  </a:extLst>
                </a:gridCol>
                <a:gridCol w="2828343">
                  <a:extLst>
                    <a:ext uri="{9D8B030D-6E8A-4147-A177-3AD203B41FA5}">
                      <a16:colId xmlns:a16="http://schemas.microsoft.com/office/drawing/2014/main" val="1766415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 of bacteria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Bacterial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O2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Enzyme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407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Aerobic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growth is only at the surface of the media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bacteria require the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presence of oxygen to grow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Contain catalase and superoxide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dismutase.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2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Microaerophilic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growth is just below the surface of the media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bacteria that require limited amounts of oxygen for growth.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Contain catalase or superoxide dismutase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6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Aerotolerant anaerobic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Uniform growth from the top to the 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dirty="0"/>
                        <a:t>bacteria do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not use oxygen as a final electron acceptor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Contain manganese ions and catalase.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Facultative anaerobic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Uneven distribution of the growth from top to bottom (more growth at the top)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bacteria grow with and without oxygen, but they prefer oxygen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Contain catalase and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superoxide dismutase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16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Anaerobic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 growth is only at the bottom of the media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bacteria that require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absence of oxygen to grow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/>
                        <a:t>Do not contain catalase and superoxide dismutase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906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740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8AF5-0332-4214-8E5D-BCCDC5A81B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46760" y="1299845"/>
            <a:ext cx="10877550" cy="470090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After incubation overnight and reading your results,   keep your work to be used during the next lab </a:t>
            </a:r>
            <a:r>
              <a:rPr lang="en-US" b="1" dirty="0">
                <a:solidFill>
                  <a:srgbClr val="0070C0"/>
                </a:solidFill>
              </a:rPr>
              <a:t>as follows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Nutrient broth </a:t>
            </a:r>
            <a:r>
              <a:rPr lang="en-US" b="1" dirty="0">
                <a:solidFill>
                  <a:srgbClr val="FF0000"/>
                </a:solidFill>
              </a:rPr>
              <a:t>(Keep in the refrigerator)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Nutrient agar slant (Discard in the identified basket)</a:t>
            </a:r>
          </a:p>
          <a:p>
            <a:pPr marL="0" indent="0">
              <a:buNone/>
            </a:pPr>
            <a:r>
              <a:rPr lang="en-US" b="1" dirty="0"/>
              <a:t>3. Brain Heart Infusion Agar (Discard in the identified basket)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A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keep your pure culture in the refrigerator</a:t>
            </a:r>
          </a:p>
        </p:txBody>
      </p:sp>
    </p:spTree>
    <p:extLst>
      <p:ext uri="{BB962C8B-B14F-4D97-AF65-F5344CB8AC3E}">
        <p14:creationId xmlns:p14="http://schemas.microsoft.com/office/powerpoint/2010/main" val="1820063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2B9582-7C25-ABB5-90E9-90859CC8B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1911169"/>
              </p:ext>
            </p:extLst>
          </p:nvPr>
        </p:nvGraphicFramePr>
        <p:xfrm>
          <a:off x="548640" y="1773102"/>
          <a:ext cx="10401300" cy="402336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{7DF18680-E054-41AD-8BC1-D1AEF772440D}</a:tableStyleId>
              </a:tblPr>
              <a:tblGrid>
                <a:gridCol w="2600325">
                  <a:extLst>
                    <a:ext uri="{9D8B030D-6E8A-4147-A177-3AD203B41FA5}">
                      <a16:colId xmlns:a16="http://schemas.microsoft.com/office/drawing/2014/main" val="2043008021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516914860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3140385653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1119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of media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of the solidifying agent (Agar)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346332"/>
                  </a:ext>
                </a:extLst>
              </a:tr>
              <a:tr h="51339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 1%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Nutrient agar slant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313024"/>
                  </a:ext>
                </a:extLst>
              </a:tr>
              <a:tr h="7040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 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Nutrient broth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10565"/>
                  </a:ext>
                </a:extLst>
              </a:tr>
              <a:tr h="7040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Semisolid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Brain heart infusion agar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46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213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hower curtain&#10;&#10;Description automatically generated">
            <a:extLst>
              <a:ext uri="{FF2B5EF4-FFF2-40B4-BE49-F238E27FC236}">
                <a16:creationId xmlns:a16="http://schemas.microsoft.com/office/drawing/2014/main" id="{BB9339EE-996E-40D4-B8B7-A87F4996C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1" y="481258"/>
            <a:ext cx="1535699" cy="4853354"/>
          </a:xfrm>
          <a:prstGeom prst="rect">
            <a:avLst/>
          </a:prstGeom>
        </p:spPr>
      </p:pic>
      <p:pic>
        <p:nvPicPr>
          <p:cNvPr id="7" name="Picture 6" descr="A close up of a door&#10;&#10;Description automatically generated">
            <a:extLst>
              <a:ext uri="{FF2B5EF4-FFF2-40B4-BE49-F238E27FC236}">
                <a16:creationId xmlns:a16="http://schemas.microsoft.com/office/drawing/2014/main" id="{2DC69285-BE0C-464F-9C14-E5AD0963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218" y="518059"/>
            <a:ext cx="1535700" cy="48533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AB8753-D7AC-4158-9A4C-95C72D3049CC}"/>
              </a:ext>
            </a:extLst>
          </p:cNvPr>
          <p:cNvSpPr/>
          <p:nvPr/>
        </p:nvSpPr>
        <p:spPr>
          <a:xfrm>
            <a:off x="173831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27D6D0-2443-4F15-8572-96F8E7989C08}"/>
              </a:ext>
            </a:extLst>
          </p:cNvPr>
          <p:cNvSpPr/>
          <p:nvPr/>
        </p:nvSpPr>
        <p:spPr>
          <a:xfrm>
            <a:off x="6446625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C9239B-5E7B-4F8D-9665-3F0FE20ED6E7}"/>
              </a:ext>
            </a:extLst>
          </p:cNvPr>
          <p:cNvSpPr/>
          <p:nvPr/>
        </p:nvSpPr>
        <p:spPr>
          <a:xfrm>
            <a:off x="4598236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BAF2F5-BDC8-4310-B8C8-3B92AA3D8724}"/>
              </a:ext>
            </a:extLst>
          </p:cNvPr>
          <p:cNvSpPr/>
          <p:nvPr/>
        </p:nvSpPr>
        <p:spPr>
          <a:xfrm>
            <a:off x="2333569" y="5803512"/>
            <a:ext cx="1352988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pic>
        <p:nvPicPr>
          <p:cNvPr id="13" name="Picture 12" descr="A picture containing food, bottle&#10;&#10;Description automatically generated">
            <a:extLst>
              <a:ext uri="{FF2B5EF4-FFF2-40B4-BE49-F238E27FC236}">
                <a16:creationId xmlns:a16="http://schemas.microsoft.com/office/drawing/2014/main" id="{B4C6647F-6D2B-4E2E-90B5-2354BC78B19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22" r="4993"/>
          <a:stretch/>
        </p:blipFill>
        <p:spPr>
          <a:xfrm>
            <a:off x="4372949" y="481258"/>
            <a:ext cx="1535699" cy="4853354"/>
          </a:xfrm>
          <a:prstGeom prst="rect">
            <a:avLst/>
          </a:prstGeom>
        </p:spPr>
      </p:pic>
      <p:pic>
        <p:nvPicPr>
          <p:cNvPr id="16" name="Picture 15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09B8684F-27EB-4EE9-A6E4-96B4BC7B80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7" r="84836" b="13093"/>
          <a:stretch/>
        </p:blipFill>
        <p:spPr>
          <a:xfrm>
            <a:off x="8426577" y="481258"/>
            <a:ext cx="1136013" cy="4853354"/>
          </a:xfrm>
          <a:prstGeom prst="rect">
            <a:avLst/>
          </a:prstGeom>
        </p:spPr>
      </p:pic>
      <p:pic>
        <p:nvPicPr>
          <p:cNvPr id="17" name="Picture 16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2481C4AE-4404-490A-B88D-EB531E0E68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17" t="28643" r="-38148" b="-4779"/>
          <a:stretch/>
        </p:blipFill>
        <p:spPr>
          <a:xfrm>
            <a:off x="13159409" y="3428999"/>
            <a:ext cx="503582" cy="2949147"/>
          </a:xfrm>
          <a:prstGeom prst="rect">
            <a:avLst/>
          </a:prstGeom>
        </p:spPr>
      </p:pic>
      <p:pic>
        <p:nvPicPr>
          <p:cNvPr id="19" name="Picture 18" descr="A picture containing indoor, different, filled, various&#10;&#10;Description automatically generated">
            <a:extLst>
              <a:ext uri="{FF2B5EF4-FFF2-40B4-BE49-F238E27FC236}">
                <a16:creationId xmlns:a16="http://schemas.microsoft.com/office/drawing/2014/main" id="{AFD566F8-C18B-40A8-A55A-4F37C4884F9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31" t="10636" r="15982" b="13228"/>
          <a:stretch/>
        </p:blipFill>
        <p:spPr>
          <a:xfrm>
            <a:off x="10496672" y="518059"/>
            <a:ext cx="1136013" cy="485335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CDDABC-182D-425C-B739-15A483F7E54A}"/>
              </a:ext>
            </a:extLst>
          </p:cNvPr>
          <p:cNvSpPr/>
          <p:nvPr/>
        </p:nvSpPr>
        <p:spPr>
          <a:xfrm>
            <a:off x="8187779" y="5790260"/>
            <a:ext cx="1516315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D36F4D-E7F9-44A5-B505-6AB2E461AB7E}"/>
              </a:ext>
            </a:extLst>
          </p:cNvPr>
          <p:cNvSpPr/>
          <p:nvPr/>
        </p:nvSpPr>
        <p:spPr>
          <a:xfrm>
            <a:off x="10620041" y="5803512"/>
            <a:ext cx="1085126" cy="5686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7309E95E-F6AB-489A-8845-D1062921B5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8" t="41248" r="37229" b="15749"/>
          <a:stretch/>
        </p:blipFill>
        <p:spPr>
          <a:xfrm>
            <a:off x="6546830" y="481258"/>
            <a:ext cx="1136013" cy="4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1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3059</TotalTime>
  <Words>1380</Words>
  <Application>Microsoft Office PowerPoint</Application>
  <PresentationFormat>Widescreen</PresentationFormat>
  <Paragraphs>241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</vt:lpstr>
      <vt:lpstr>Calibri</vt:lpstr>
      <vt:lpstr>Calibri Light</vt:lpstr>
      <vt:lpstr>Segoe UI</vt:lpstr>
      <vt:lpstr>Segoe UI Light</vt:lpstr>
      <vt:lpstr>Office Theme</vt:lpstr>
      <vt:lpstr>Get Started with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Nutrient Broth </vt:lpstr>
      <vt:lpstr>PowerPoint Presentation</vt:lpstr>
      <vt:lpstr>PowerPoint Presentation</vt:lpstr>
      <vt:lpstr>Nutrient Agar Slant </vt:lpstr>
      <vt:lpstr>PowerPoint Presentation</vt:lpstr>
      <vt:lpstr> The results of bacterial growth on nutrient agar slant are reported to the according following parameters: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Brain Heart Infusion Agar </vt:lpstr>
      <vt:lpstr>PowerPoint Presentation</vt:lpstr>
      <vt:lpstr>Brain Heart Infusion Agar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Morphology</dc:title>
  <dc:creator>Adan</dc:creator>
  <cp:lastModifiedBy>Erwah Al Bataineh</cp:lastModifiedBy>
  <cp:revision>106</cp:revision>
  <dcterms:created xsi:type="dcterms:W3CDTF">2020-03-29T18:18:57Z</dcterms:created>
  <dcterms:modified xsi:type="dcterms:W3CDTF">2023-04-25T15:36:27Z</dcterms:modified>
</cp:coreProperties>
</file>