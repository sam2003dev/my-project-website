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06" r:id="rId4"/>
  </p:sldMasterIdLst>
  <p:notesMasterIdLst>
    <p:notesMasterId r:id="rId52"/>
  </p:notesMasterIdLst>
  <p:sldIdLst>
    <p:sldId id="267" r:id="rId5"/>
    <p:sldId id="288" r:id="rId6"/>
    <p:sldId id="269" r:id="rId7"/>
    <p:sldId id="274" r:id="rId8"/>
    <p:sldId id="275" r:id="rId9"/>
    <p:sldId id="277" r:id="rId10"/>
    <p:sldId id="289" r:id="rId11"/>
    <p:sldId id="284" r:id="rId12"/>
    <p:sldId id="285" r:id="rId13"/>
    <p:sldId id="282" r:id="rId14"/>
    <p:sldId id="283" r:id="rId15"/>
    <p:sldId id="270" r:id="rId16"/>
    <p:sldId id="293" r:id="rId17"/>
    <p:sldId id="294" r:id="rId18"/>
    <p:sldId id="295" r:id="rId19"/>
    <p:sldId id="296" r:id="rId20"/>
    <p:sldId id="297" r:id="rId21"/>
    <p:sldId id="298" r:id="rId22"/>
    <p:sldId id="299" r:id="rId23"/>
    <p:sldId id="303" r:id="rId24"/>
    <p:sldId id="300" r:id="rId25"/>
    <p:sldId id="302" r:id="rId26"/>
    <p:sldId id="304" r:id="rId27"/>
    <p:sldId id="305" r:id="rId28"/>
    <p:sldId id="306" r:id="rId29"/>
    <p:sldId id="307" r:id="rId30"/>
    <p:sldId id="308" r:id="rId31"/>
    <p:sldId id="309" r:id="rId32"/>
    <p:sldId id="292" r:id="rId33"/>
    <p:sldId id="290" r:id="rId34"/>
    <p:sldId id="311" r:id="rId35"/>
    <p:sldId id="312" r:id="rId36"/>
    <p:sldId id="313" r:id="rId37"/>
    <p:sldId id="314" r:id="rId38"/>
    <p:sldId id="316" r:id="rId39"/>
    <p:sldId id="317" r:id="rId40"/>
    <p:sldId id="318" r:id="rId41"/>
    <p:sldId id="319" r:id="rId42"/>
    <p:sldId id="320" r:id="rId43"/>
    <p:sldId id="321" r:id="rId44"/>
    <p:sldId id="322" r:id="rId45"/>
    <p:sldId id="326" r:id="rId46"/>
    <p:sldId id="327" r:id="rId47"/>
    <p:sldId id="324" r:id="rId48"/>
    <p:sldId id="328" r:id="rId49"/>
    <p:sldId id="325" r:id="rId50"/>
    <p:sldId id="315"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0C1F"/>
    <a:srgbClr val="903163"/>
    <a:srgbClr val="E1E1E1"/>
    <a:srgbClr val="AA2C71"/>
    <a:srgbClr val="A62C6F"/>
    <a:srgbClr val="F9E7F1"/>
    <a:srgbClr val="852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72" d="100"/>
          <a:sy n="72" d="100"/>
        </p:scale>
        <p:origin x="52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395F94-0189-4A23-9895-35FA752439AB}" type="datetimeFigureOut">
              <a:rPr lang="en-US" smtClean="0"/>
              <a:t>3/30/2019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E1C88-3939-4832-BAAB-091D6FA96EB5}" type="slidenum">
              <a:rPr lang="en-US" smtClean="0"/>
              <a:t>‹#›</a:t>
            </a:fld>
            <a:endParaRPr lang="en-US"/>
          </a:p>
        </p:txBody>
      </p:sp>
    </p:spTree>
    <p:extLst>
      <p:ext uri="{BB962C8B-B14F-4D97-AF65-F5344CB8AC3E}">
        <p14:creationId xmlns:p14="http://schemas.microsoft.com/office/powerpoint/2010/main" val="1310500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7D86AA0-B889-4FC0-8908-A1A591CF11C0}" type="datetime8">
              <a:rPr lang="en-US" smtClean="0"/>
              <a:pPr/>
              <a:t>3/30/2019 3:58 PM</a:t>
            </a:fld>
            <a:endParaRPr lang="en-US"/>
          </a:p>
        </p:txBody>
      </p:sp>
      <p:sp>
        <p:nvSpPr>
          <p:cNvPr id="5" name="Footer Placeholder 4"/>
          <p:cNvSpPr>
            <a:spLocks noGrp="1"/>
          </p:cNvSpPr>
          <p:nvPr>
            <p:ph type="ftr" sz="quarter" idx="11"/>
          </p:nvPr>
        </p:nvSpPr>
        <p:spPr/>
        <p:txBody>
          <a:bodyPr/>
          <a:lstStyle/>
          <a:p>
            <a:r>
              <a:rPr lang="en-ZA" smtClean="0"/>
              <a:t>ADD A FOOTER</a:t>
            </a:r>
            <a:endParaRPr lang="en-US" dirty="0"/>
          </a:p>
        </p:txBody>
      </p:sp>
      <p:sp>
        <p:nvSpPr>
          <p:cNvPr id="6" name="Slide Number Placeholder 5"/>
          <p:cNvSpPr>
            <a:spLocks noGrp="1"/>
          </p:cNvSpPr>
          <p:nvPr>
            <p:ph type="sldNum" sz="quarter" idx="12"/>
          </p:nvPr>
        </p:nvSpPr>
        <p:spPr/>
        <p:txBody>
          <a:bodyPr/>
          <a:lstStyle/>
          <a:p>
            <a:fld id="{C5C3056E-1632-4A65-A24F-3F10A1450A6E}"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5199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0D11B3-3F18-4FD1-BAEF-D15CC2EE16C2}" type="datetime8">
              <a:rPr lang="en-US" smtClean="0"/>
              <a:t>3/30/2019 3:58 PM</a:t>
            </a:fld>
            <a:endParaRPr lang="en-US"/>
          </a:p>
        </p:txBody>
      </p:sp>
      <p:sp>
        <p:nvSpPr>
          <p:cNvPr id="5" name="Footer Placeholder 4"/>
          <p:cNvSpPr>
            <a:spLocks noGrp="1"/>
          </p:cNvSpPr>
          <p:nvPr>
            <p:ph type="ftr" sz="quarter" idx="11"/>
          </p:nvPr>
        </p:nvSpPr>
        <p:spPr/>
        <p:txBody>
          <a:bodyPr/>
          <a:lstStyle/>
          <a:p>
            <a:r>
              <a:rPr lang="en-ZA" smtClean="0"/>
              <a:t>ADD A FOOTER</a:t>
            </a:r>
            <a:endParaRPr lang="en-US" dirty="0"/>
          </a:p>
        </p:txBody>
      </p:sp>
      <p:sp>
        <p:nvSpPr>
          <p:cNvPr id="6" name="Slide Number Placeholder 5"/>
          <p:cNvSpPr>
            <a:spLocks noGrp="1"/>
          </p:cNvSpPr>
          <p:nvPr>
            <p:ph type="sldNum" sz="quarter" idx="12"/>
          </p:nvPr>
        </p:nvSpPr>
        <p:spPr/>
        <p:txBody>
          <a:bodyPr/>
          <a:lstStyle/>
          <a:p>
            <a:fld id="{C5C3056E-1632-4A65-A24F-3F10A1450A6E}" type="slidenum">
              <a:rPr lang="en-US" smtClean="0"/>
              <a:t>‹#›</a:t>
            </a:fld>
            <a:endParaRPr lang="en-US"/>
          </a:p>
        </p:txBody>
      </p:sp>
      <p:sp>
        <p:nvSpPr>
          <p:cNvPr id="7" name="Rectangle 6">
            <a:extLst>
              <a:ext uri="{FF2B5EF4-FFF2-40B4-BE49-F238E27FC236}">
                <a16:creationId xmlns:a16="http://schemas.microsoft.com/office/drawing/2014/main" id="{33C994CB-2BC6-164B-80D4-304B4CB6D8C3}"/>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380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20C59B-4134-42ED-BEFA-FCBF7FC8D035}" type="datetime8">
              <a:rPr lang="en-US" smtClean="0"/>
              <a:pPr/>
              <a:t>3/30/2019 3:58 PM</a:t>
            </a:fld>
            <a:endParaRPr lang="en-US"/>
          </a:p>
        </p:txBody>
      </p:sp>
      <p:sp>
        <p:nvSpPr>
          <p:cNvPr id="5" name="Footer Placeholder 4"/>
          <p:cNvSpPr>
            <a:spLocks noGrp="1"/>
          </p:cNvSpPr>
          <p:nvPr>
            <p:ph type="ftr" sz="quarter" idx="11"/>
          </p:nvPr>
        </p:nvSpPr>
        <p:spPr/>
        <p:txBody>
          <a:bodyPr/>
          <a:lstStyle/>
          <a:p>
            <a:r>
              <a:rPr lang="en-ZA" smtClean="0"/>
              <a:t>ADD A FOOTER</a:t>
            </a:r>
            <a:endParaRPr lang="en-US" dirty="0"/>
          </a:p>
        </p:txBody>
      </p:sp>
      <p:sp>
        <p:nvSpPr>
          <p:cNvPr id="6" name="Slide Number Placeholder 5"/>
          <p:cNvSpPr>
            <a:spLocks noGrp="1"/>
          </p:cNvSpPr>
          <p:nvPr>
            <p:ph type="sldNum" sz="quarter" idx="12"/>
          </p:nvPr>
        </p:nvSpPr>
        <p:spPr/>
        <p:txBody>
          <a:bodyPr/>
          <a:lstStyle/>
          <a:p>
            <a:fld id="{C5C3056E-1632-4A65-A24F-3F10A1450A6E}"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03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F0AE2A5-5D3B-4ECC-9A5D-868F6C887DEE}" type="datetime8">
              <a:rPr lang="en-US" smtClean="0"/>
              <a:t>3/30/2019 3:58 PM</a:t>
            </a:fld>
            <a:endParaRPr lang="en-US"/>
          </a:p>
        </p:txBody>
      </p:sp>
      <p:sp>
        <p:nvSpPr>
          <p:cNvPr id="6" name="Footer Placeholder 5"/>
          <p:cNvSpPr>
            <a:spLocks noGrp="1"/>
          </p:cNvSpPr>
          <p:nvPr>
            <p:ph type="ftr" sz="quarter" idx="11"/>
          </p:nvPr>
        </p:nvSpPr>
        <p:spPr/>
        <p:txBody>
          <a:bodyPr/>
          <a:lstStyle/>
          <a:p>
            <a:r>
              <a:rPr lang="en-ZA" smtClean="0"/>
              <a:t>ADD A FOOTER</a:t>
            </a:r>
            <a:endParaRPr lang="en-US" dirty="0"/>
          </a:p>
        </p:txBody>
      </p:sp>
      <p:sp>
        <p:nvSpPr>
          <p:cNvPr id="7" name="Slide Number Placeholder 6"/>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266258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51DAFA-20BD-4111-8F90-24432E23573D}" type="datetime8">
              <a:rPr lang="en-US" smtClean="0"/>
              <a:pPr/>
              <a:t>3/30/2019 3:58 PM</a:t>
            </a:fld>
            <a:endParaRPr lang="en-US"/>
          </a:p>
        </p:txBody>
      </p:sp>
      <p:sp>
        <p:nvSpPr>
          <p:cNvPr id="8" name="Footer Placeholder 7"/>
          <p:cNvSpPr>
            <a:spLocks noGrp="1"/>
          </p:cNvSpPr>
          <p:nvPr>
            <p:ph type="ftr" sz="quarter" idx="11"/>
          </p:nvPr>
        </p:nvSpPr>
        <p:spPr/>
        <p:txBody>
          <a:bodyPr/>
          <a:lstStyle/>
          <a:p>
            <a:r>
              <a:rPr lang="en-ZA" smtClean="0"/>
              <a:t>ADD A FOOTER</a:t>
            </a:r>
            <a:endParaRPr lang="en-US" dirty="0"/>
          </a:p>
        </p:txBody>
      </p:sp>
      <p:sp>
        <p:nvSpPr>
          <p:cNvPr id="9" name="Slide Number Placeholder 8"/>
          <p:cNvSpPr>
            <a:spLocks noGrp="1"/>
          </p:cNvSpPr>
          <p:nvPr>
            <p:ph type="sldNum" sz="quarter" idx="12"/>
          </p:nvPr>
        </p:nvSpPr>
        <p:spPr/>
        <p:txBody>
          <a:bodyPr/>
          <a:lstStyle/>
          <a:p>
            <a:fld id="{C5C3056E-1632-4A65-A24F-3F10A1450A6E}" type="slidenum">
              <a:rPr lang="en-US" smtClean="0"/>
              <a:pPr/>
              <a:t>‹#›</a:t>
            </a:fld>
            <a:endParaRPr lang="en-US"/>
          </a:p>
        </p:txBody>
      </p:sp>
    </p:spTree>
    <p:extLst>
      <p:ext uri="{BB962C8B-B14F-4D97-AF65-F5344CB8AC3E}">
        <p14:creationId xmlns:p14="http://schemas.microsoft.com/office/powerpoint/2010/main" val="138288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57A1812-3FD3-44A5-B738-8F3425664C1B}" type="datetime8">
              <a:rPr lang="en-US" smtClean="0"/>
              <a:t>3/30/2019 3:58 PM</a:t>
            </a:fld>
            <a:endParaRPr lang="en-US"/>
          </a:p>
        </p:txBody>
      </p:sp>
      <p:sp>
        <p:nvSpPr>
          <p:cNvPr id="4" name="Footer Placeholder 3"/>
          <p:cNvSpPr>
            <a:spLocks noGrp="1"/>
          </p:cNvSpPr>
          <p:nvPr>
            <p:ph type="ftr" sz="quarter" idx="11"/>
          </p:nvPr>
        </p:nvSpPr>
        <p:spPr/>
        <p:txBody>
          <a:bodyPr/>
          <a:lstStyle/>
          <a:p>
            <a:r>
              <a:rPr lang="en-ZA" smtClean="0"/>
              <a:t>ADD A FOOTER</a:t>
            </a:r>
            <a:endParaRPr lang="en-US" dirty="0"/>
          </a:p>
        </p:txBody>
      </p:sp>
      <p:sp>
        <p:nvSpPr>
          <p:cNvPr id="5" name="Slide Number Placeholder 4"/>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2022981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E4BA81B-A36E-46D5-918F-749D311F4B4A}" type="datetime8">
              <a:rPr lang="en-US" smtClean="0"/>
              <a:t>3/30/2019 3:58 PM</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ZA" smtClean="0"/>
              <a:t>ADD A FOOTER</a:t>
            </a:r>
            <a:endParaRPr lang="en-US" dirty="0"/>
          </a:p>
        </p:txBody>
      </p:sp>
      <p:sp>
        <p:nvSpPr>
          <p:cNvPr id="9" name="Slide Number Placeholder 8"/>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25788985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99E538E-6783-48BF-9DAA-8D73DA1DF735}" type="datetime8">
              <a:rPr lang="en-US" smtClean="0"/>
              <a:pPr/>
              <a:t>3/30/2019 3:58 PM</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ZA" smtClean="0"/>
              <a:t>ADD A FOOTER</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C3056E-1632-4A65-A24F-3F10A1450A6E}" type="slidenum">
              <a:rPr lang="en-US" smtClean="0"/>
              <a:pPr/>
              <a:t>‹#›</a:t>
            </a:fld>
            <a:endParaRPr lang="en-US"/>
          </a:p>
        </p:txBody>
      </p:sp>
    </p:spTree>
    <p:extLst>
      <p:ext uri="{BB962C8B-B14F-4D97-AF65-F5344CB8AC3E}">
        <p14:creationId xmlns:p14="http://schemas.microsoft.com/office/powerpoint/2010/main" val="2766973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DE2CD03-0ACB-4458-BBFE-1F9AEE665C1A}" type="datetime8">
              <a:rPr lang="en-US" smtClean="0"/>
              <a:t>3/30/2019 3:58 PM</a:t>
            </a:fld>
            <a:endParaRPr lang="en-US"/>
          </a:p>
        </p:txBody>
      </p:sp>
      <p:sp>
        <p:nvSpPr>
          <p:cNvPr id="6" name="Footer Placeholder 5"/>
          <p:cNvSpPr>
            <a:spLocks noGrp="1"/>
          </p:cNvSpPr>
          <p:nvPr>
            <p:ph type="ftr" sz="quarter" idx="11"/>
          </p:nvPr>
        </p:nvSpPr>
        <p:spPr/>
        <p:txBody>
          <a:bodyPr/>
          <a:lstStyle/>
          <a:p>
            <a:r>
              <a:rPr lang="en-ZA" smtClean="0"/>
              <a:t>ADD A FOOTER</a:t>
            </a:r>
            <a:endParaRPr lang="en-US" dirty="0"/>
          </a:p>
        </p:txBody>
      </p:sp>
      <p:sp>
        <p:nvSpPr>
          <p:cNvPr id="7" name="Slide Number Placeholder 6"/>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308856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4BA81B-A36E-46D5-918F-749D311F4B4A}" type="datetime8">
              <a:rPr lang="en-US" smtClean="0"/>
              <a:t>3/30/2019 3:58 PM</a:t>
            </a:fld>
            <a:endParaRPr lang="en-US"/>
          </a:p>
        </p:txBody>
      </p:sp>
      <p:sp>
        <p:nvSpPr>
          <p:cNvPr id="5" name="Footer Placeholder 4"/>
          <p:cNvSpPr>
            <a:spLocks noGrp="1"/>
          </p:cNvSpPr>
          <p:nvPr>
            <p:ph type="ftr" sz="quarter" idx="11"/>
          </p:nvPr>
        </p:nvSpPr>
        <p:spPr/>
        <p:txBody>
          <a:bodyPr/>
          <a:lstStyle/>
          <a:p>
            <a:r>
              <a:rPr lang="en-ZA" smtClean="0"/>
              <a:t>ADD A FOOTER</a:t>
            </a:r>
            <a:endParaRPr lang="en-US" dirty="0"/>
          </a:p>
        </p:txBody>
      </p:sp>
      <p:sp>
        <p:nvSpPr>
          <p:cNvPr id="6" name="Slide Number Placeholder 5"/>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7454318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4BA81B-A36E-46D5-918F-749D311F4B4A}" type="datetime8">
              <a:rPr lang="en-US" smtClean="0"/>
              <a:t>3/30/2019 3:58 PM</a:t>
            </a:fld>
            <a:endParaRPr lang="en-US"/>
          </a:p>
        </p:txBody>
      </p:sp>
      <p:sp>
        <p:nvSpPr>
          <p:cNvPr id="5" name="Footer Placeholder 4"/>
          <p:cNvSpPr>
            <a:spLocks noGrp="1"/>
          </p:cNvSpPr>
          <p:nvPr>
            <p:ph type="ftr" sz="quarter" idx="11"/>
          </p:nvPr>
        </p:nvSpPr>
        <p:spPr/>
        <p:txBody>
          <a:bodyPr/>
          <a:lstStyle/>
          <a:p>
            <a:r>
              <a:rPr lang="en-ZA" smtClean="0"/>
              <a:t>ADD A FOOTER</a:t>
            </a:r>
            <a:endParaRPr lang="en-US" dirty="0"/>
          </a:p>
        </p:txBody>
      </p:sp>
      <p:sp>
        <p:nvSpPr>
          <p:cNvPr id="6" name="Slide Number Placeholder 5"/>
          <p:cNvSpPr>
            <a:spLocks noGrp="1"/>
          </p:cNvSpPr>
          <p:nvPr>
            <p:ph type="sldNum" sz="quarter" idx="12"/>
          </p:nvPr>
        </p:nvSpPr>
        <p:spPr/>
        <p:txBody>
          <a:bodyPr/>
          <a:lstStyle/>
          <a:p>
            <a:fld id="{C5C3056E-1632-4A65-A24F-3F10A1450A6E}" type="slidenum">
              <a:rPr lang="en-US" smtClean="0"/>
              <a:t>‹#›</a:t>
            </a:fld>
            <a:endParaRPr lang="en-US"/>
          </a:p>
        </p:txBody>
      </p:sp>
    </p:spTree>
    <p:extLst>
      <p:ext uri="{BB962C8B-B14F-4D97-AF65-F5344CB8AC3E}">
        <p14:creationId xmlns:p14="http://schemas.microsoft.com/office/powerpoint/2010/main" val="22515088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C994CB-2BC6-164B-80D4-304B4CB6D8C3}"/>
              </a:ext>
            </a:extLst>
          </p:cNvPr>
          <p:cNvSpPr>
            <a:spLocks noChangeAspect="1"/>
          </p:cNvSpPr>
          <p:nvPr userDrawn="1"/>
        </p:nvSpPr>
        <p:spPr bwMode="white">
          <a:xfrm>
            <a:off x="445982"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4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0D11B3-3F18-4FD1-BAEF-D15CC2EE16C2}" type="datetime8">
              <a:rPr lang="en-US" smtClean="0"/>
              <a:t>3/30/2019 3:58 PM</a:t>
            </a:fld>
            <a:endParaRPr lang="en-US"/>
          </a:p>
        </p:txBody>
      </p:sp>
      <p:sp>
        <p:nvSpPr>
          <p:cNvPr id="5" name="Footer Placeholder 4"/>
          <p:cNvSpPr>
            <a:spLocks noGrp="1"/>
          </p:cNvSpPr>
          <p:nvPr>
            <p:ph type="ftr" sz="quarter" idx="11"/>
          </p:nvPr>
        </p:nvSpPr>
        <p:spPr/>
        <p:txBody>
          <a:bodyPr/>
          <a:lstStyle/>
          <a:p>
            <a:r>
              <a:rPr lang="en-ZA" dirty="0"/>
              <a:t>ADD A FOOTER</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C5C3056E-1632-4A65-A24F-3F10A1450A6E}" type="slidenum">
              <a:rPr lang="en-US" smtClean="0"/>
              <a:t>‹#›</a:t>
            </a:fld>
            <a:endParaRPr lang="en-US"/>
          </a:p>
        </p:txBody>
      </p:sp>
      <p:sp>
        <p:nvSpPr>
          <p:cNvPr id="9" name="Title 1">
            <a:extLst>
              <a:ext uri="{FF2B5EF4-FFF2-40B4-BE49-F238E27FC236}">
                <a16:creationId xmlns:a16="http://schemas.microsoft.com/office/drawing/2014/main" id="{B5BE0FDB-DB48-E242-8A1F-5B06F79B404A}"/>
              </a:ext>
            </a:extLst>
          </p:cNvPr>
          <p:cNvSpPr>
            <a:spLocks noGrp="1"/>
          </p:cNvSpPr>
          <p:nvPr>
            <p:ph type="title"/>
          </p:nvPr>
        </p:nvSpPr>
        <p:spPr>
          <a:xfrm>
            <a:off x="581193" y="729658"/>
            <a:ext cx="11029616" cy="988332"/>
          </a:xfrm>
        </p:spPr>
        <p:txBody>
          <a:bodyPr anchor="ctr" anchorCtr="0">
            <a:normAutofit/>
          </a:bodyPr>
          <a:lstStyle>
            <a:lvl1pPr algn="ctr">
              <a:defRPr sz="4000"/>
            </a:lvl1pPr>
          </a:lstStyle>
          <a:p>
            <a:r>
              <a:rPr lang="en-US" smtClean="0"/>
              <a:t>Click to edit Master title style</a:t>
            </a:r>
            <a:endParaRPr lang="en-US" dirty="0"/>
          </a:p>
        </p:txBody>
      </p:sp>
    </p:spTree>
    <p:extLst>
      <p:ext uri="{BB962C8B-B14F-4D97-AF65-F5344CB8AC3E}">
        <p14:creationId xmlns:p14="http://schemas.microsoft.com/office/powerpoint/2010/main" val="2546653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Rectangle 6"/>
          <p:cNvSpPr>
            <a:spLocks noChangeAspect="1"/>
          </p:cNvSpPr>
          <p:nvPr/>
        </p:nvSpPr>
        <p:spPr bwMode="white">
          <a:xfrm>
            <a:off x="440683" y="606554"/>
            <a:ext cx="11300036" cy="1258827"/>
          </a:xfrm>
          <a:prstGeom prst="rect">
            <a:avLst/>
          </a:prstGeom>
          <a:gradFill flip="none" rotWithShape="1">
            <a:gsLst>
              <a:gs pos="100000">
                <a:schemeClr val="accent2"/>
              </a:gs>
              <a:gs pos="60000">
                <a:schemeClr val="accent1">
                  <a:lumMod val="95000"/>
                  <a:lumOff val="5000"/>
                </a:schemeClr>
              </a:gs>
              <a:gs pos="0">
                <a:schemeClr val="accent1">
                  <a:lumMod val="60000"/>
                </a:schemeClr>
              </a:gs>
            </a:gsLst>
            <a:path path="circle">
              <a:fillToRect l="50000" t="130000" r="50000" b="-3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Date Placeholder 2"/>
          <p:cNvSpPr>
            <a:spLocks noGrp="1"/>
          </p:cNvSpPr>
          <p:nvPr>
            <p:ph type="dt" sz="half" idx="10"/>
          </p:nvPr>
        </p:nvSpPr>
        <p:spPr/>
        <p:txBody>
          <a:bodyPr/>
          <a:lstStyle/>
          <a:p>
            <a:fld id="{357A1812-3FD3-44A5-B738-8F3425664C1B}" type="datetime8">
              <a:rPr lang="en-US" smtClean="0"/>
              <a:t>3/30/2019 3:58 PM</a:t>
            </a:fld>
            <a:endParaRPr lang="en-US"/>
          </a:p>
        </p:txBody>
      </p:sp>
      <p:sp>
        <p:nvSpPr>
          <p:cNvPr id="4" name="Footer Placeholder 3"/>
          <p:cNvSpPr>
            <a:spLocks noGrp="1"/>
          </p:cNvSpPr>
          <p:nvPr>
            <p:ph type="ftr" sz="quarter" idx="11"/>
          </p:nvPr>
        </p:nvSpPr>
        <p:spPr/>
        <p:txBody>
          <a:bodyPr/>
          <a:lstStyle/>
          <a:p>
            <a:r>
              <a:rPr lang="en-ZA" dirty="0"/>
              <a:t>ADD A FOOTER</a:t>
            </a:r>
            <a:endParaRPr lang="en-US" dirty="0"/>
          </a:p>
        </p:txBody>
      </p:sp>
      <p:sp>
        <p:nvSpPr>
          <p:cNvPr id="5" name="Slide Number Placeholder 4"/>
          <p:cNvSpPr>
            <a:spLocks noGrp="1"/>
          </p:cNvSpPr>
          <p:nvPr>
            <p:ph type="sldNum" sz="quarter" idx="12"/>
          </p:nvPr>
        </p:nvSpPr>
        <p:spPr/>
        <p:txBody>
          <a:bodyPr/>
          <a:lstStyle/>
          <a:p>
            <a:fld id="{C5C3056E-1632-4A65-A24F-3F10A1450A6E}" type="slidenum">
              <a:rPr lang="en-US" smtClean="0"/>
              <a:t>‹#›</a:t>
            </a:fld>
            <a:endParaRPr lang="en-US"/>
          </a:p>
        </p:txBody>
      </p:sp>
      <p:sp>
        <p:nvSpPr>
          <p:cNvPr id="9" name="Title 1">
            <a:extLst>
              <a:ext uri="{FF2B5EF4-FFF2-40B4-BE49-F238E27FC236}">
                <a16:creationId xmlns:a16="http://schemas.microsoft.com/office/drawing/2014/main" id="{5CEC16FA-81A4-6F41-9FCE-6262A4533E5C}"/>
              </a:ext>
            </a:extLst>
          </p:cNvPr>
          <p:cNvSpPr>
            <a:spLocks noGrp="1"/>
          </p:cNvSpPr>
          <p:nvPr>
            <p:ph type="title"/>
          </p:nvPr>
        </p:nvSpPr>
        <p:spPr>
          <a:xfrm>
            <a:off x="581193" y="729658"/>
            <a:ext cx="11029616" cy="988332"/>
          </a:xfrm>
        </p:spPr>
        <p:txBody>
          <a:bodyPr anchor="ctr" anchorCtr="0">
            <a:normAutofit/>
          </a:bodyPr>
          <a:lstStyle>
            <a:lvl1pPr algn="ctr">
              <a:defRPr sz="4000"/>
            </a:lvl1pPr>
          </a:lstStyle>
          <a:p>
            <a:r>
              <a:rPr lang="en-US" smtClean="0"/>
              <a:t>Click to edit Master title style</a:t>
            </a:r>
            <a:endParaRPr lang="en-US" dirty="0"/>
          </a:p>
        </p:txBody>
      </p:sp>
    </p:spTree>
    <p:extLst>
      <p:ext uri="{BB962C8B-B14F-4D97-AF65-F5344CB8AC3E}">
        <p14:creationId xmlns:p14="http://schemas.microsoft.com/office/powerpoint/2010/main" val="154544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E4BA81B-A36E-46D5-918F-749D311F4B4A}" type="datetime8">
              <a:rPr lang="en-US" smtClean="0"/>
              <a:t>3/30/2019 3:58 PM</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ZA" smtClean="0"/>
              <a:t>ADD A FOOTER</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5C3056E-1632-4A65-A24F-3F10A1450A6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93520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662" r:id="rId12"/>
    <p:sldLayoutId id="2147483666"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F626BF0-5F0E-4D61-B97D-E6ED486CD89E}"/>
              </a:ext>
            </a:extLst>
          </p:cNvPr>
          <p:cNvSpPr>
            <a:spLocks noGrp="1"/>
          </p:cNvSpPr>
          <p:nvPr>
            <p:ph type="ftr" sz="quarter" idx="11"/>
          </p:nvPr>
        </p:nvSpPr>
        <p:spPr>
          <a:xfrm>
            <a:off x="11139488" y="5956300"/>
            <a:ext cx="1052512" cy="365125"/>
          </a:xfrm>
        </p:spPr>
        <p:txBody>
          <a:bodyPr/>
          <a:lstStyle/>
          <a:p>
            <a:r>
              <a:rPr lang="en-US" dirty="0"/>
              <a:t>ADD A FOOTER</a:t>
            </a:r>
            <a:endParaRPr lang="ru-RU" dirty="0"/>
          </a:p>
        </p:txBody>
      </p:sp>
      <p:sp>
        <p:nvSpPr>
          <p:cNvPr id="3" name="Slide Number Placeholder 2">
            <a:extLst>
              <a:ext uri="{FF2B5EF4-FFF2-40B4-BE49-F238E27FC236}">
                <a16:creationId xmlns:a16="http://schemas.microsoft.com/office/drawing/2014/main" id="{4D492004-FF5A-486F-BD35-52AACB74C659}"/>
              </a:ext>
            </a:extLst>
          </p:cNvPr>
          <p:cNvSpPr>
            <a:spLocks noGrp="1"/>
          </p:cNvSpPr>
          <p:nvPr>
            <p:ph type="sldNum" sz="quarter" idx="12"/>
          </p:nvPr>
        </p:nvSpPr>
        <p:spPr>
          <a:xfrm>
            <a:off x="9347200" y="5956300"/>
            <a:ext cx="2844800" cy="365125"/>
          </a:xfrm>
        </p:spPr>
        <p:txBody>
          <a:bodyPr/>
          <a:lstStyle/>
          <a:p>
            <a:fld id="{D495E168-DA5E-4888-8D8A-92B118324C14}" type="slidenum">
              <a:rPr lang="ru-RU" smtClean="0"/>
              <a:pPr/>
              <a:t>1</a:t>
            </a:fld>
            <a:endParaRPr lang="ru-RU" dirty="0"/>
          </a:p>
        </p:txBody>
      </p:sp>
      <p:pic>
        <p:nvPicPr>
          <p:cNvPr id="9" name="Picture 8"/>
          <p:cNvPicPr>
            <a:picLocks noChangeAspect="1"/>
          </p:cNvPicPr>
          <p:nvPr/>
        </p:nvPicPr>
        <p:blipFill>
          <a:blip r:embed="rId2"/>
          <a:stretch>
            <a:fillRect/>
          </a:stretch>
        </p:blipFill>
        <p:spPr>
          <a:xfrm>
            <a:off x="-385590" y="-143219"/>
            <a:ext cx="12669397" cy="7160963"/>
          </a:xfrm>
          <a:prstGeom prst="rect">
            <a:avLst/>
          </a:prstGeom>
        </p:spPr>
      </p:pic>
      <p:sp>
        <p:nvSpPr>
          <p:cNvPr id="11" name="Title 1">
            <a:extLst>
              <a:ext uri="{FF2B5EF4-FFF2-40B4-BE49-F238E27FC236}">
                <a16:creationId xmlns:a16="http://schemas.microsoft.com/office/drawing/2014/main" id="{A6E9EA0F-FD88-464F-99D9-0E151D11E785}"/>
              </a:ext>
            </a:extLst>
          </p:cNvPr>
          <p:cNvSpPr txBox="1">
            <a:spLocks/>
          </p:cNvSpPr>
          <p:nvPr/>
        </p:nvSpPr>
        <p:spPr>
          <a:xfrm>
            <a:off x="526697" y="2647244"/>
            <a:ext cx="11243732" cy="1750010"/>
          </a:xfrm>
          <a:prstGeom prst="rect">
            <a:avLst/>
          </a:prstGeom>
        </p:spPr>
        <p:txBody>
          <a:bodyPr vert="horz" lIns="91440" tIns="45720" rIns="91440" bIns="45720" rtlCol="0" anchor="ctr" anchorCtr="0">
            <a:normAutofit/>
          </a:bodyPr>
          <a:lstStyle>
            <a:lvl1pPr algn="ctr" defTabSz="457200" rtl="0" eaLnBrk="1" latinLnBrk="0" hangingPunct="1">
              <a:spcBef>
                <a:spcPct val="0"/>
              </a:spcBef>
              <a:buNone/>
              <a:defRPr sz="40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6600" b="1" dirty="0" smtClean="0"/>
              <a:t>Plant tissues and organs</a:t>
            </a:r>
            <a:endParaRPr lang="en-US" sz="6600" b="1" dirty="0"/>
          </a:p>
        </p:txBody>
      </p:sp>
    </p:spTree>
    <p:extLst>
      <p:ext uri="{BB962C8B-B14F-4D97-AF65-F5344CB8AC3E}">
        <p14:creationId xmlns:p14="http://schemas.microsoft.com/office/powerpoint/2010/main" val="11041684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60155" cy="6359857"/>
          </a:xfrm>
          <a:prstGeom prst="rect">
            <a:avLst/>
          </a:prstGeom>
        </p:spPr>
      </p:pic>
    </p:spTree>
    <p:extLst>
      <p:ext uri="{BB962C8B-B14F-4D97-AF65-F5344CB8AC3E}">
        <p14:creationId xmlns:p14="http://schemas.microsoft.com/office/powerpoint/2010/main" val="33225400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65122"/>
            <a:ext cx="12192000" cy="6329342"/>
          </a:xfrm>
        </p:spPr>
      </p:pic>
    </p:spTree>
    <p:extLst>
      <p:ext uri="{BB962C8B-B14F-4D97-AF65-F5344CB8AC3E}">
        <p14:creationId xmlns:p14="http://schemas.microsoft.com/office/powerpoint/2010/main" val="23218890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0772" y="4811377"/>
            <a:ext cx="11424973" cy="706964"/>
          </a:xfrm>
        </p:spPr>
        <p:txBody>
          <a:bodyPr/>
          <a:lstStyle/>
          <a:p>
            <a:r>
              <a:rPr lang="en-US" sz="2000" b="1" i="1" dirty="0" smtClean="0">
                <a:solidFill>
                  <a:srgbClr val="FF0000"/>
                </a:solidFill>
                <a:latin typeface="Arial Black" panose="020B0A04020102020204" pitchFamily="34" charset="0"/>
              </a:rPr>
              <a:t>Tissue </a:t>
            </a:r>
            <a:r>
              <a:rPr lang="en-US" sz="2000" b="1" dirty="0" smtClean="0">
                <a:solidFill>
                  <a:schemeClr val="tx1"/>
                </a:solidFill>
                <a:latin typeface="Arial Black" panose="020B0A04020102020204" pitchFamily="34" charset="0"/>
              </a:rPr>
              <a:t>: a group of similar cells  that are co-ordinate to perform the same function</a:t>
            </a:r>
            <a:endParaRPr lang="en-US" sz="2000" b="1" dirty="0">
              <a:solidFill>
                <a:schemeClr val="tx1"/>
              </a:solidFill>
              <a:latin typeface="Arial Black" panose="020B0A04020102020204" pitchFamily="34" charset="0"/>
            </a:endParaRPr>
          </a:p>
        </p:txBody>
      </p:sp>
      <p:pic>
        <p:nvPicPr>
          <p:cNvPr id="3" name="Picture 2" descr="https://www.ontrack-media.net/science7/s7m2l4image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1362" y="2213722"/>
            <a:ext cx="10634383" cy="245942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bwMode="gray">
          <a:xfrm>
            <a:off x="1266940" y="1079653"/>
            <a:ext cx="9771961" cy="75337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smtClean="0">
                <a:solidFill>
                  <a:schemeClr val="tx1"/>
                </a:solidFill>
              </a:rPr>
              <a:t>Levels of organization in higher Plants and Animals</a:t>
            </a:r>
            <a:endParaRPr lang="en-US" b="1" dirty="0">
              <a:solidFill>
                <a:schemeClr val="tx1"/>
              </a:solidFill>
            </a:endParaRPr>
          </a:p>
        </p:txBody>
      </p:sp>
    </p:spTree>
    <p:extLst>
      <p:ext uri="{BB962C8B-B14F-4D97-AF65-F5344CB8AC3E}">
        <p14:creationId xmlns:p14="http://schemas.microsoft.com/office/powerpoint/2010/main" val="1098072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58352"/>
          </a:xfrm>
          <a:prstGeom prst="rect">
            <a:avLst/>
          </a:prstGeom>
        </p:spPr>
      </p:pic>
    </p:spTree>
    <p:extLst>
      <p:ext uri="{BB962C8B-B14F-4D97-AF65-F5344CB8AC3E}">
        <p14:creationId xmlns:p14="http://schemas.microsoft.com/office/powerpoint/2010/main" val="2682128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78766"/>
          </a:xfrm>
          <a:prstGeom prst="rect">
            <a:avLst/>
          </a:prstGeom>
        </p:spPr>
      </p:pic>
    </p:spTree>
    <p:extLst>
      <p:ext uri="{BB962C8B-B14F-4D97-AF65-F5344CB8AC3E}">
        <p14:creationId xmlns:p14="http://schemas.microsoft.com/office/powerpoint/2010/main" val="13581705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806"/>
            <a:ext cx="12192000" cy="6292108"/>
          </a:xfrm>
          <a:prstGeom prst="rect">
            <a:avLst/>
          </a:prstGeom>
        </p:spPr>
      </p:pic>
    </p:spTree>
    <p:extLst>
      <p:ext uri="{BB962C8B-B14F-4D97-AF65-F5344CB8AC3E}">
        <p14:creationId xmlns:p14="http://schemas.microsoft.com/office/powerpoint/2010/main" val="30546601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81" y="0"/>
            <a:ext cx="11723427" cy="6305266"/>
          </a:xfrm>
          <a:prstGeom prst="rect">
            <a:avLst/>
          </a:prstGeom>
        </p:spPr>
      </p:pic>
    </p:spTree>
    <p:extLst>
      <p:ext uri="{BB962C8B-B14F-4D97-AF65-F5344CB8AC3E}">
        <p14:creationId xmlns:p14="http://schemas.microsoft.com/office/powerpoint/2010/main" val="6140271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684" y="191069"/>
            <a:ext cx="10590662" cy="6155140"/>
          </a:xfrm>
          <a:prstGeom prst="rect">
            <a:avLst/>
          </a:prstGeom>
        </p:spPr>
      </p:pic>
    </p:spTree>
    <p:extLst>
      <p:ext uri="{BB962C8B-B14F-4D97-AF65-F5344CB8AC3E}">
        <p14:creationId xmlns:p14="http://schemas.microsoft.com/office/powerpoint/2010/main" val="1971817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104" y="1821975"/>
            <a:ext cx="10986447" cy="5165679"/>
          </a:xfrm>
        </p:spPr>
        <p:txBody>
          <a:bodyPr>
            <a:normAutofit fontScale="90000"/>
          </a:bodyPr>
          <a:lstStyle/>
          <a:p>
            <a:pPr indent="107950">
              <a:lnSpc>
                <a:spcPct val="100000"/>
              </a:lnSpc>
              <a:buFont typeface="Wingdings" panose="05000000000000000000" pitchFamily="2" charset="2"/>
              <a:buChar char="v"/>
            </a:pPr>
            <a:r>
              <a:rPr lang="en-US" sz="2000" b="1" dirty="0" smtClean="0">
                <a:solidFill>
                  <a:srgbClr val="FF0000"/>
                </a:solidFill>
                <a:latin typeface="Arial Black" panose="020B0A04020102020204" pitchFamily="34" charset="0"/>
              </a:rPr>
              <a:t>Roots: </a:t>
            </a:r>
            <a:r>
              <a:rPr lang="en-US" sz="1600" b="1" dirty="0" smtClean="0">
                <a:solidFill>
                  <a:schemeClr val="tx1"/>
                </a:solidFill>
                <a:latin typeface="Arial Black" panose="020B0A04020102020204" pitchFamily="34" charset="0"/>
              </a:rPr>
              <a:t>the </a:t>
            </a:r>
            <a:r>
              <a:rPr lang="en-US" sz="1600" b="1" dirty="0">
                <a:solidFill>
                  <a:schemeClr val="tx1"/>
                </a:solidFill>
                <a:latin typeface="Arial Black" panose="020B0A04020102020204" pitchFamily="34" charset="0"/>
              </a:rPr>
              <a:t>non-leaf, non-nodes bearing parts of the plant's body that typically lies below the surface of the </a:t>
            </a:r>
            <a:r>
              <a:rPr lang="en-US" sz="1600" b="1" dirty="0" smtClean="0">
                <a:solidFill>
                  <a:schemeClr val="tx1"/>
                </a:solidFill>
                <a:latin typeface="Arial Black" panose="020B0A04020102020204" pitchFamily="34" charset="0"/>
              </a:rPr>
              <a:t>soil,   </a:t>
            </a:r>
            <a:br>
              <a:rPr lang="en-US" sz="1600" b="1" dirty="0" smtClean="0">
                <a:solidFill>
                  <a:schemeClr val="tx1"/>
                </a:solidFill>
                <a:latin typeface="Arial Black" panose="020B0A04020102020204" pitchFamily="34" charset="0"/>
              </a:rPr>
            </a:br>
            <a:r>
              <a:rPr lang="en-US" sz="1600" b="1" dirty="0">
                <a:solidFill>
                  <a:schemeClr val="tx1"/>
                </a:solidFill>
                <a:latin typeface="Arial Black" panose="020B0A04020102020204" pitchFamily="34" charset="0"/>
              </a:rPr>
              <a:t> </a:t>
            </a:r>
            <a:r>
              <a:rPr lang="en-US" sz="1600" b="1" dirty="0" smtClean="0">
                <a:solidFill>
                  <a:schemeClr val="tx1"/>
                </a:solidFill>
                <a:latin typeface="Arial Black" panose="020B0A04020102020204" pitchFamily="34" charset="0"/>
              </a:rPr>
              <a:t>                   some </a:t>
            </a:r>
            <a:r>
              <a:rPr lang="en-US" sz="1600" b="1" dirty="0">
                <a:solidFill>
                  <a:schemeClr val="tx1"/>
                </a:solidFill>
                <a:latin typeface="Arial Black" panose="020B0A04020102020204" pitchFamily="34" charset="0"/>
              </a:rPr>
              <a:t>are </a:t>
            </a:r>
            <a:r>
              <a:rPr lang="en-US" sz="1600" b="1" dirty="0" smtClean="0">
                <a:solidFill>
                  <a:schemeClr val="tx1"/>
                </a:solidFill>
                <a:latin typeface="Arial Black" panose="020B0A04020102020204" pitchFamily="34" charset="0"/>
              </a:rPr>
              <a:t>aerial </a:t>
            </a:r>
            <a:r>
              <a:rPr lang="en-US" sz="1600" b="1" dirty="0">
                <a:solidFill>
                  <a:schemeClr val="tx1"/>
                </a:solidFill>
                <a:latin typeface="Arial Black" panose="020B0A04020102020204" pitchFamily="34" charset="0"/>
              </a:rPr>
              <a:t>or aerating (growing up above the ground or especially above water</a:t>
            </a:r>
            <a:r>
              <a:rPr lang="en-US" sz="1600" b="1" dirty="0" smtClean="0">
                <a:solidFill>
                  <a:schemeClr val="tx1"/>
                </a:solidFill>
                <a:latin typeface="Arial Black" panose="020B0A04020102020204" pitchFamily="34" charset="0"/>
              </a:rPr>
              <a:t>).</a:t>
            </a:r>
            <a:r>
              <a:rPr lang="en-US" sz="1600" b="1" dirty="0">
                <a:solidFill>
                  <a:schemeClr val="tx1"/>
                </a:solidFill>
                <a:latin typeface="Arial Black" panose="020B0A04020102020204" pitchFamily="34" charset="0"/>
              </a:rPr>
              <a:t/>
            </a:r>
            <a:br>
              <a:rPr lang="en-US" sz="1600" b="1" dirty="0">
                <a:solidFill>
                  <a:schemeClr val="tx1"/>
                </a:solidFill>
                <a:latin typeface="Arial Black" panose="020B0A04020102020204" pitchFamily="34" charset="0"/>
              </a:rPr>
            </a:br>
            <a:r>
              <a:rPr lang="en-US" sz="1600" b="1" dirty="0" smtClean="0">
                <a:solidFill>
                  <a:schemeClr val="tx1"/>
                </a:solidFill>
                <a:latin typeface="Arial Black" panose="020B0A04020102020204" pitchFamily="34" charset="0"/>
              </a:rPr>
              <a:t/>
            </a:r>
            <a:br>
              <a:rPr lang="en-US" sz="1600" b="1" dirty="0" smtClean="0">
                <a:solidFill>
                  <a:schemeClr val="tx1"/>
                </a:solidFill>
                <a:latin typeface="Arial Black" panose="020B0A04020102020204" pitchFamily="34" charset="0"/>
              </a:rPr>
            </a:br>
            <a:r>
              <a:rPr lang="en-US" sz="1600" b="1" dirty="0" smtClean="0">
                <a:solidFill>
                  <a:schemeClr val="tx1"/>
                </a:solidFill>
                <a:latin typeface="Arial Black" panose="020B0A04020102020204" pitchFamily="34" charset="0"/>
              </a:rPr>
              <a:t>     </a:t>
            </a:r>
            <a:r>
              <a:rPr lang="en-US" sz="2000" b="1" u="sng" dirty="0" smtClean="0">
                <a:solidFill>
                  <a:srgbClr val="FF0000"/>
                </a:solidFill>
                <a:latin typeface="Arial Black" panose="020B0A04020102020204" pitchFamily="34" charset="0"/>
              </a:rPr>
              <a:t>Functions:</a:t>
            </a:r>
            <a:r>
              <a:rPr lang="en-US" sz="1600" b="1" dirty="0" smtClean="0">
                <a:solidFill>
                  <a:schemeClr val="tx1"/>
                </a:solidFill>
                <a:latin typeface="Arial Black" panose="020B0A04020102020204" pitchFamily="34" charset="0"/>
              </a:rPr>
              <a:t/>
            </a:r>
            <a:br>
              <a:rPr lang="en-US" sz="1600" b="1" dirty="0" smtClean="0">
                <a:solidFill>
                  <a:schemeClr val="tx1"/>
                </a:solidFill>
                <a:latin typeface="Arial Black" panose="020B0A04020102020204" pitchFamily="34" charset="0"/>
              </a:rPr>
            </a:br>
            <a:r>
              <a:rPr lang="en-US" sz="1600" b="1" dirty="0">
                <a:solidFill>
                  <a:srgbClr val="00B0F0"/>
                </a:solidFill>
                <a:latin typeface="Arial Black" panose="020B0A04020102020204" pitchFamily="34" charset="0"/>
              </a:rPr>
              <a:t/>
            </a:r>
            <a:br>
              <a:rPr lang="en-US" sz="1600" b="1" dirty="0">
                <a:solidFill>
                  <a:srgbClr val="00B0F0"/>
                </a:solidFill>
                <a:latin typeface="Arial Black" panose="020B0A04020102020204" pitchFamily="34" charset="0"/>
              </a:rPr>
            </a:br>
            <a:r>
              <a:rPr lang="en-US" sz="1600" b="1" dirty="0" smtClean="0">
                <a:solidFill>
                  <a:srgbClr val="00B0F0"/>
                </a:solidFill>
                <a:latin typeface="Arial Black" panose="020B0A04020102020204" pitchFamily="34" charset="0"/>
              </a:rPr>
              <a:t>      </a:t>
            </a:r>
            <a:r>
              <a:rPr lang="en-US" sz="2000" b="1" dirty="0" smtClean="0">
                <a:solidFill>
                  <a:srgbClr val="00B0F0"/>
                </a:solidFill>
                <a:latin typeface="Arial Black" panose="020B0A04020102020204" pitchFamily="34" charset="0"/>
              </a:rPr>
              <a:t> * </a:t>
            </a:r>
            <a:r>
              <a:rPr lang="en-US" sz="1800" b="1" dirty="0" smtClean="0">
                <a:solidFill>
                  <a:srgbClr val="00B0F0"/>
                </a:solidFill>
                <a:latin typeface="Arial Black" panose="020B0A04020102020204" pitchFamily="34" charset="0"/>
              </a:rPr>
              <a:t>Absorption </a:t>
            </a:r>
            <a:r>
              <a:rPr lang="en-US" sz="1800" b="1" dirty="0">
                <a:solidFill>
                  <a:srgbClr val="00B0F0"/>
                </a:solidFill>
                <a:latin typeface="Arial Black" panose="020B0A04020102020204" pitchFamily="34" charset="0"/>
              </a:rPr>
              <a:t>of water and inorganic </a:t>
            </a:r>
            <a:r>
              <a:rPr lang="en-US" sz="1800" b="1" dirty="0" smtClean="0">
                <a:solidFill>
                  <a:srgbClr val="00B0F0"/>
                </a:solidFill>
                <a:latin typeface="Arial Black" panose="020B0A04020102020204" pitchFamily="34" charset="0"/>
              </a:rPr>
              <a:t>nutrients</a:t>
            </a:r>
            <a:br>
              <a:rPr lang="en-US" sz="1800" b="1" dirty="0" smtClean="0">
                <a:solidFill>
                  <a:srgbClr val="00B0F0"/>
                </a:solidFill>
                <a:latin typeface="Arial Black" panose="020B0A04020102020204" pitchFamily="34" charset="0"/>
              </a:rPr>
            </a:br>
            <a:r>
              <a:rPr lang="en-US" sz="1800" b="1" dirty="0">
                <a:solidFill>
                  <a:srgbClr val="00B0F0"/>
                </a:solidFill>
                <a:latin typeface="Arial Black" panose="020B0A04020102020204" pitchFamily="34" charset="0"/>
              </a:rPr>
              <a:t/>
            </a:r>
            <a:br>
              <a:rPr lang="en-US" sz="1800" b="1" dirty="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 Anchoring </a:t>
            </a:r>
            <a:r>
              <a:rPr lang="en-US" sz="1800" b="1" dirty="0">
                <a:solidFill>
                  <a:srgbClr val="00B0F0"/>
                </a:solidFill>
                <a:latin typeface="Arial Black" panose="020B0A04020102020204" pitchFamily="34" charset="0"/>
              </a:rPr>
              <a:t>of the plant body to the ground, and supporting </a:t>
            </a:r>
            <a:r>
              <a:rPr lang="en-US" sz="1800" b="1" dirty="0" smtClean="0">
                <a:solidFill>
                  <a:srgbClr val="00B0F0"/>
                </a:solidFill>
                <a:latin typeface="Arial Black" panose="020B0A04020102020204" pitchFamily="34" charset="0"/>
              </a:rPr>
              <a:t>it.</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 Storage </a:t>
            </a:r>
            <a:r>
              <a:rPr lang="en-US" sz="1800" b="1" dirty="0">
                <a:solidFill>
                  <a:srgbClr val="00B0F0"/>
                </a:solidFill>
                <a:latin typeface="Arial Black" panose="020B0A04020102020204" pitchFamily="34" charset="0"/>
              </a:rPr>
              <a:t>of food and nutrients</a:t>
            </a:r>
            <a:r>
              <a:rPr lang="en-US" sz="1800" b="1" dirty="0" smtClean="0">
                <a:solidFill>
                  <a:srgbClr val="00B0F0"/>
                </a:solidFill>
                <a:latin typeface="Arial Black" panose="020B0A04020102020204" pitchFamily="34" charset="0"/>
              </a:rPr>
              <a:t>.</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 Transport of water and nutrients</a:t>
            </a:r>
            <a:br>
              <a:rPr lang="en-US" sz="1800" b="1" dirty="0" smtClean="0">
                <a:solidFill>
                  <a:srgbClr val="00B0F0"/>
                </a:solidFill>
                <a:latin typeface="Arial Black" panose="020B0A04020102020204" pitchFamily="34" charset="0"/>
              </a:rPr>
            </a:br>
            <a:r>
              <a:rPr lang="en-US" sz="1800" b="1" dirty="0">
                <a:solidFill>
                  <a:srgbClr val="00B0F0"/>
                </a:solidFill>
                <a:latin typeface="Arial Black" panose="020B0A04020102020204" pitchFamily="34" charset="0"/>
              </a:rPr>
              <a:t/>
            </a:r>
            <a:br>
              <a:rPr lang="en-US" sz="1800" b="1" dirty="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 Vegetative </a:t>
            </a:r>
            <a:r>
              <a:rPr lang="en-US" sz="1800" b="1" dirty="0">
                <a:solidFill>
                  <a:srgbClr val="00B0F0"/>
                </a:solidFill>
                <a:latin typeface="Arial Black" panose="020B0A04020102020204" pitchFamily="34" charset="0"/>
              </a:rPr>
              <a:t>reproduction. </a:t>
            </a:r>
            <a:r>
              <a:rPr lang="en-US" sz="1800" b="1" dirty="0" smtClean="0">
                <a:solidFill>
                  <a:srgbClr val="00B0F0"/>
                </a:solidFill>
                <a:latin typeface="Arial Black" panose="020B0A04020102020204" pitchFamily="34" charset="0"/>
              </a:rPr>
              <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a:r>
            <a:br>
              <a:rPr lang="en-US" sz="1800" b="1" dirty="0" smtClean="0">
                <a:solidFill>
                  <a:srgbClr val="00B0F0"/>
                </a:solidFill>
                <a:latin typeface="Arial Black" panose="020B0A04020102020204" pitchFamily="34" charset="0"/>
              </a:rPr>
            </a:br>
            <a:r>
              <a:rPr lang="en-US" sz="1800" b="1" dirty="0" smtClean="0">
                <a:solidFill>
                  <a:srgbClr val="00B0F0"/>
                </a:solidFill>
                <a:latin typeface="Arial Black" panose="020B0A04020102020204" pitchFamily="34" charset="0"/>
              </a:rPr>
              <a:t>      * Produce </a:t>
            </a:r>
            <a:r>
              <a:rPr lang="en-US" sz="1800" b="1" dirty="0" err="1" smtClean="0">
                <a:solidFill>
                  <a:srgbClr val="00B0F0"/>
                </a:solidFill>
                <a:latin typeface="Arial Black" panose="020B0A04020102020204" pitchFamily="34" charset="0"/>
              </a:rPr>
              <a:t>cytokinin</a:t>
            </a:r>
            <a:r>
              <a:rPr lang="en-US" sz="1800" b="1" dirty="0" smtClean="0">
                <a:solidFill>
                  <a:srgbClr val="00B0F0"/>
                </a:solidFill>
                <a:latin typeface="Arial Black" panose="020B0A04020102020204" pitchFamily="34" charset="0"/>
              </a:rPr>
              <a:t> to control the rate of shoot growth</a:t>
            </a:r>
            <a:r>
              <a:rPr lang="en-US" sz="1800" b="1" dirty="0" smtClean="0">
                <a:solidFill>
                  <a:schemeClr val="tx1"/>
                </a:solidFill>
                <a:latin typeface="Arial Black" panose="020B0A04020102020204" pitchFamily="34" charset="0"/>
              </a:rPr>
              <a:t/>
            </a:r>
            <a:br>
              <a:rPr lang="en-US" sz="1800" b="1" dirty="0" smtClean="0">
                <a:solidFill>
                  <a:schemeClr val="tx1"/>
                </a:solidFill>
                <a:latin typeface="Arial Black" panose="020B0A04020102020204" pitchFamily="34" charset="0"/>
              </a:rPr>
            </a:br>
            <a:r>
              <a:rPr lang="en-US" sz="1800" b="1" dirty="0">
                <a:solidFill>
                  <a:schemeClr val="tx1"/>
                </a:solidFill>
                <a:latin typeface="Arial Black" panose="020B0A04020102020204" pitchFamily="34" charset="0"/>
              </a:rPr>
              <a:t/>
            </a:r>
            <a:br>
              <a:rPr lang="en-US" sz="1800" b="1" dirty="0">
                <a:solidFill>
                  <a:schemeClr val="tx1"/>
                </a:solidFill>
                <a:latin typeface="Arial Black" panose="020B0A04020102020204" pitchFamily="34" charset="0"/>
              </a:rPr>
            </a:br>
            <a:r>
              <a:rPr lang="en-US" sz="1800" b="1" dirty="0" smtClean="0">
                <a:latin typeface="Arial Black" panose="020B0A04020102020204" pitchFamily="34" charset="0"/>
              </a:rPr>
              <a:t/>
            </a:r>
            <a:br>
              <a:rPr lang="en-US" sz="1800" b="1" dirty="0" smtClean="0">
                <a:latin typeface="Arial Black" panose="020B0A04020102020204" pitchFamily="34" charset="0"/>
              </a:rPr>
            </a:br>
            <a:r>
              <a:rPr lang="en-US" sz="1800" b="1" dirty="0" smtClean="0">
                <a:latin typeface="Arial Black" panose="020B0A04020102020204" pitchFamily="34" charset="0"/>
              </a:rPr>
              <a:t>         </a:t>
            </a:r>
            <a:r>
              <a:rPr lang="en-US" sz="2000" b="1" dirty="0" smtClean="0">
                <a:latin typeface="Arial Black" panose="020B0A04020102020204" pitchFamily="34" charset="0"/>
              </a:rPr>
              <a:t/>
            </a:r>
            <a:br>
              <a:rPr lang="en-US" sz="2000" b="1" dirty="0" smtClean="0">
                <a:latin typeface="Arial Black" panose="020B0A04020102020204" pitchFamily="34" charset="0"/>
              </a:rPr>
            </a:br>
            <a:r>
              <a:rPr lang="en-US" sz="2000" b="1" dirty="0">
                <a:latin typeface="Arial Black" panose="020B0A04020102020204" pitchFamily="34" charset="0"/>
              </a:rPr>
              <a:t> </a:t>
            </a:r>
            <a:r>
              <a:rPr lang="en-US" sz="2000" b="1" dirty="0" smtClean="0">
                <a:latin typeface="Arial Black" panose="020B0A04020102020204" pitchFamily="34" charset="0"/>
              </a:rPr>
              <a:t>   </a:t>
            </a:r>
            <a:endParaRPr lang="en-US" sz="2000" b="1" dirty="0">
              <a:latin typeface="Arial Black" panose="020B0A04020102020204" pitchFamily="34" charset="0"/>
            </a:endParaRPr>
          </a:p>
        </p:txBody>
      </p:sp>
      <p:sp>
        <p:nvSpPr>
          <p:cNvPr id="3" name="Title 1"/>
          <p:cNvSpPr txBox="1">
            <a:spLocks/>
          </p:cNvSpPr>
          <p:nvPr/>
        </p:nvSpPr>
        <p:spPr>
          <a:xfrm>
            <a:off x="1249680" y="439003"/>
            <a:ext cx="10058400" cy="92577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2800" b="1" dirty="0" smtClean="0">
                <a:latin typeface="Arial Black" panose="020B0A04020102020204" pitchFamily="34" charset="0"/>
              </a:rPr>
              <a:t>Vegetative organs</a:t>
            </a:r>
            <a:endParaRPr lang="en-US" sz="2800" b="1" dirty="0">
              <a:latin typeface="Arial Black" panose="020B0A04020102020204" pitchFamily="34" charset="0"/>
            </a:endParaRPr>
          </a:p>
        </p:txBody>
      </p:sp>
    </p:spTree>
    <p:extLst>
      <p:ext uri="{BB962C8B-B14F-4D97-AF65-F5344CB8AC3E}">
        <p14:creationId xmlns:p14="http://schemas.microsoft.com/office/powerpoint/2010/main" val="4020027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576" y="982639"/>
            <a:ext cx="10058400" cy="518616"/>
          </a:xfrm>
        </p:spPr>
        <p:txBody>
          <a:bodyPr>
            <a:normAutofit/>
          </a:bodyPr>
          <a:lstStyle/>
          <a:p>
            <a:pPr algn="ctr"/>
            <a:r>
              <a:rPr lang="en-US" sz="2800" dirty="0" smtClean="0">
                <a:latin typeface="Arial Black" panose="020B0A04020102020204" pitchFamily="34" charset="0"/>
              </a:rPr>
              <a:t>Structure of the Root:</a:t>
            </a:r>
            <a:endParaRPr lang="en-US" sz="2800" dirty="0">
              <a:latin typeface="Arial Black" panose="020B0A040201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513" y="1787856"/>
            <a:ext cx="6559156" cy="4421875"/>
          </a:xfrm>
          <a:prstGeom prst="rect">
            <a:avLst/>
          </a:prstGeom>
        </p:spPr>
      </p:pic>
      <p:sp>
        <p:nvSpPr>
          <p:cNvPr id="4" name="Title 1"/>
          <p:cNvSpPr txBox="1">
            <a:spLocks/>
          </p:cNvSpPr>
          <p:nvPr/>
        </p:nvSpPr>
        <p:spPr>
          <a:xfrm>
            <a:off x="177421" y="1787855"/>
            <a:ext cx="5227092" cy="470847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285750" indent="-107950">
              <a:buFont typeface="Arial" panose="020B0604020202020204" pitchFamily="34" charset="0"/>
              <a:buChar char="•"/>
            </a:pPr>
            <a:endParaRPr lang="en-US" sz="1800" dirty="0" smtClean="0">
              <a:solidFill>
                <a:srgbClr val="FF0000"/>
              </a:solidFill>
              <a:latin typeface="Arial Black" panose="020B0A04020102020204" pitchFamily="34" charset="0"/>
            </a:endParaRPr>
          </a:p>
          <a:p>
            <a:pPr marL="463550" indent="-285750">
              <a:buFont typeface="Wingdings" panose="05000000000000000000" pitchFamily="2" charset="2"/>
              <a:buChar char="v"/>
            </a:pPr>
            <a:r>
              <a:rPr lang="en-US" sz="2000" dirty="0" smtClean="0">
                <a:solidFill>
                  <a:srgbClr val="0070C0"/>
                </a:solidFill>
                <a:latin typeface="Arial Black" panose="020B0A04020102020204" pitchFamily="34" charset="0"/>
              </a:rPr>
              <a:t>Longitudinal sections</a:t>
            </a:r>
          </a:p>
          <a:p>
            <a:pPr marL="177800"/>
            <a:endParaRPr lang="en-US" sz="1800" dirty="0">
              <a:solidFill>
                <a:srgbClr val="FF0000"/>
              </a:solidFill>
              <a:latin typeface="Arial Black" panose="020B0A04020102020204" pitchFamily="34" charset="0"/>
            </a:endParaRPr>
          </a:p>
          <a:p>
            <a:pPr marL="285750" indent="-107950">
              <a:buFont typeface="Arial" panose="020B0604020202020204" pitchFamily="34" charset="0"/>
              <a:buChar char="•"/>
            </a:pPr>
            <a:r>
              <a:rPr lang="en-US" sz="1800" dirty="0" smtClean="0">
                <a:solidFill>
                  <a:srgbClr val="FF0000"/>
                </a:solidFill>
                <a:latin typeface="Arial Black" panose="020B0A04020102020204" pitchFamily="34" charset="0"/>
              </a:rPr>
              <a:t>The </a:t>
            </a:r>
            <a:r>
              <a:rPr lang="en-US" sz="1800" dirty="0">
                <a:solidFill>
                  <a:srgbClr val="FF0000"/>
                </a:solidFill>
                <a:latin typeface="Arial Black" panose="020B0A04020102020204" pitchFamily="34" charset="0"/>
              </a:rPr>
              <a:t>root </a:t>
            </a:r>
            <a:r>
              <a:rPr lang="en-US" sz="1800" dirty="0" smtClean="0">
                <a:solidFill>
                  <a:srgbClr val="FF0000"/>
                </a:solidFill>
                <a:latin typeface="Arial Black" panose="020B0A04020102020204" pitchFamily="34" charset="0"/>
              </a:rPr>
              <a:t>cap:</a:t>
            </a:r>
          </a:p>
          <a:p>
            <a:pPr marL="177800"/>
            <a:endParaRPr lang="en-US" sz="1800" dirty="0" smtClean="0">
              <a:solidFill>
                <a:srgbClr val="FF0000"/>
              </a:solidFill>
              <a:latin typeface="Arial Black" panose="020B0A04020102020204" pitchFamily="34" charset="0"/>
            </a:endParaRPr>
          </a:p>
          <a:p>
            <a:pPr marL="463550" indent="-12700">
              <a:buFont typeface="Wingdings" panose="05000000000000000000" pitchFamily="2" charset="2"/>
              <a:buChar char="ü"/>
            </a:pPr>
            <a:r>
              <a:rPr lang="en-US" sz="1800" dirty="0">
                <a:latin typeface="Arial Black" panose="020B0A04020102020204" pitchFamily="34" charset="0"/>
              </a:rPr>
              <a:t> </a:t>
            </a:r>
            <a:r>
              <a:rPr lang="en-US" sz="1400" dirty="0" smtClean="0">
                <a:latin typeface="Arial Black" panose="020B0A04020102020204" pitchFamily="34" charset="0"/>
              </a:rPr>
              <a:t>Formed </a:t>
            </a:r>
            <a:r>
              <a:rPr lang="en-US" sz="1400" dirty="0">
                <a:latin typeface="Arial Black" panose="020B0A04020102020204" pitchFamily="34" charset="0"/>
              </a:rPr>
              <a:t>by the lower portion of the apical </a:t>
            </a:r>
            <a:endParaRPr lang="en-US" sz="1400" dirty="0" smtClean="0">
              <a:latin typeface="Arial Black" panose="020B0A04020102020204" pitchFamily="34" charset="0"/>
            </a:endParaRPr>
          </a:p>
          <a:p>
            <a:pPr marL="450850"/>
            <a:r>
              <a:rPr lang="en-US" sz="1400" dirty="0">
                <a:latin typeface="Arial Black" panose="020B0A04020102020204" pitchFamily="34" charset="0"/>
              </a:rPr>
              <a:t> </a:t>
            </a:r>
            <a:r>
              <a:rPr lang="en-US" sz="1400" dirty="0" smtClean="0">
                <a:latin typeface="Arial Black" panose="020B0A04020102020204" pitchFamily="34" charset="0"/>
              </a:rPr>
              <a:t>    meristem</a:t>
            </a:r>
          </a:p>
          <a:p>
            <a:pPr marL="450850"/>
            <a:endParaRPr lang="en-US" sz="1400" dirty="0" smtClean="0">
              <a:latin typeface="Arial Black" panose="020B0A04020102020204" pitchFamily="34" charset="0"/>
            </a:endParaRPr>
          </a:p>
          <a:p>
            <a:pPr marL="736600" indent="-285750">
              <a:buFont typeface="Wingdings" panose="05000000000000000000" pitchFamily="2" charset="2"/>
              <a:buChar char="ü"/>
            </a:pPr>
            <a:r>
              <a:rPr lang="en-US" sz="1400" dirty="0" smtClean="0">
                <a:latin typeface="Arial Black" panose="020B0A04020102020204" pitchFamily="34" charset="0"/>
              </a:rPr>
              <a:t>Direct </a:t>
            </a:r>
            <a:r>
              <a:rPr lang="en-US" sz="1400" dirty="0">
                <a:latin typeface="Arial Black" panose="020B0A04020102020204" pitchFamily="34" charset="0"/>
              </a:rPr>
              <a:t>the growing of the root downward by sense </a:t>
            </a:r>
            <a:r>
              <a:rPr lang="en-US" sz="1400" dirty="0" smtClean="0">
                <a:latin typeface="Arial Black" panose="020B0A04020102020204" pitchFamily="34" charset="0"/>
              </a:rPr>
              <a:t>to the </a:t>
            </a:r>
            <a:r>
              <a:rPr lang="en-US" sz="1400" dirty="0">
                <a:latin typeface="Arial Black" panose="020B0A04020102020204" pitchFamily="34" charset="0"/>
              </a:rPr>
              <a:t>gravity </a:t>
            </a:r>
            <a:endParaRPr lang="en-US" sz="1400" dirty="0" smtClean="0">
              <a:latin typeface="Arial Black" panose="020B0A04020102020204" pitchFamily="34" charset="0"/>
            </a:endParaRPr>
          </a:p>
          <a:p>
            <a:pPr marL="450850"/>
            <a:r>
              <a:rPr lang="en-US" sz="1400" dirty="0" smtClean="0">
                <a:latin typeface="Arial Black" panose="020B0A04020102020204" pitchFamily="34" charset="0"/>
              </a:rPr>
              <a:t> </a:t>
            </a:r>
          </a:p>
          <a:p>
            <a:pPr marL="736600" indent="-285750">
              <a:buFont typeface="Wingdings" panose="05000000000000000000" pitchFamily="2" charset="2"/>
              <a:buChar char="ü"/>
            </a:pPr>
            <a:r>
              <a:rPr lang="en-US" sz="1400" dirty="0" smtClean="0">
                <a:latin typeface="Arial Black" panose="020B0A04020102020204" pitchFamily="34" charset="0"/>
              </a:rPr>
              <a:t>Protect </a:t>
            </a:r>
            <a:r>
              <a:rPr lang="en-US" sz="1400" dirty="0">
                <a:latin typeface="Arial Black" panose="020B0A04020102020204" pitchFamily="34" charset="0"/>
              </a:rPr>
              <a:t>the meristematic </a:t>
            </a:r>
            <a:r>
              <a:rPr lang="en-US" sz="1400" dirty="0" smtClean="0">
                <a:latin typeface="Arial Black" panose="020B0A04020102020204" pitchFamily="34" charset="0"/>
              </a:rPr>
              <a:t>tissue</a:t>
            </a:r>
          </a:p>
          <a:p>
            <a:pPr marL="450850"/>
            <a:endParaRPr lang="en-US" sz="1400" dirty="0" smtClean="0">
              <a:latin typeface="Arial Black" panose="020B0A04020102020204" pitchFamily="34" charset="0"/>
            </a:endParaRPr>
          </a:p>
          <a:p>
            <a:pPr marL="736600" indent="-285750">
              <a:buFont typeface="Wingdings" panose="05000000000000000000" pitchFamily="2" charset="2"/>
              <a:buChar char="ü"/>
            </a:pPr>
            <a:r>
              <a:rPr lang="en-US" sz="1400" dirty="0" smtClean="0">
                <a:latin typeface="Arial Black" panose="020B0A04020102020204" pitchFamily="34" charset="0"/>
              </a:rPr>
              <a:t>Secrete </a:t>
            </a:r>
            <a:r>
              <a:rPr lang="en-US" sz="1400" dirty="0">
                <a:latin typeface="Arial Black" panose="020B0A04020102020204" pitchFamily="34" charset="0"/>
              </a:rPr>
              <a:t>a slimy mucous-like substance that lubricates the root </a:t>
            </a:r>
            <a:r>
              <a:rPr lang="en-US" sz="1400" dirty="0" smtClean="0">
                <a:latin typeface="Arial Black" panose="020B0A04020102020204" pitchFamily="34" charset="0"/>
              </a:rPr>
              <a:t>and make it’s </a:t>
            </a:r>
            <a:r>
              <a:rPr lang="en-US" sz="1400" dirty="0">
                <a:latin typeface="Arial Black" panose="020B0A04020102020204" pitchFamily="34" charset="0"/>
              </a:rPr>
              <a:t>movement between the soil </a:t>
            </a:r>
            <a:r>
              <a:rPr lang="en-US" sz="1400" dirty="0" smtClean="0">
                <a:latin typeface="Arial Black" panose="020B0A04020102020204" pitchFamily="34" charset="0"/>
              </a:rPr>
              <a:t>particles more easier</a:t>
            </a:r>
          </a:p>
          <a:p>
            <a:pPr marL="450850"/>
            <a:endParaRPr lang="en-US" sz="1400" dirty="0" smtClean="0">
              <a:solidFill>
                <a:srgbClr val="FF0000"/>
              </a:solidFill>
              <a:latin typeface="Arial Black" panose="020B0A04020102020204" pitchFamily="34" charset="0"/>
            </a:endParaRPr>
          </a:p>
          <a:p>
            <a:pPr marL="285750" indent="-107950">
              <a:buFont typeface="Arial" panose="020B0604020202020204" pitchFamily="34" charset="0"/>
              <a:buChar char="•"/>
            </a:pPr>
            <a:r>
              <a:rPr lang="en-US" sz="1800" dirty="0" smtClean="0">
                <a:solidFill>
                  <a:srgbClr val="FF0000"/>
                </a:solidFill>
                <a:latin typeface="Arial Black" panose="020B0A04020102020204" pitchFamily="34" charset="0"/>
              </a:rPr>
              <a:t>Apical</a:t>
            </a:r>
            <a:r>
              <a:rPr lang="en-US" sz="1400" dirty="0" smtClean="0">
                <a:solidFill>
                  <a:srgbClr val="FF0000"/>
                </a:solidFill>
                <a:latin typeface="Arial Black" panose="020B0A04020102020204" pitchFamily="34" charset="0"/>
              </a:rPr>
              <a:t> </a:t>
            </a:r>
            <a:r>
              <a:rPr lang="en-US" sz="1800" dirty="0" smtClean="0">
                <a:solidFill>
                  <a:srgbClr val="FF0000"/>
                </a:solidFill>
                <a:latin typeface="Arial Black" panose="020B0A04020102020204" pitchFamily="34" charset="0"/>
              </a:rPr>
              <a:t>meristematic:</a:t>
            </a:r>
          </a:p>
          <a:p>
            <a:pPr marL="177800"/>
            <a:endParaRPr lang="en-US" sz="1800" dirty="0" smtClean="0">
              <a:solidFill>
                <a:srgbClr val="FF0000"/>
              </a:solidFill>
              <a:latin typeface="Arial Black" panose="020B0A04020102020204" pitchFamily="34" charset="0"/>
            </a:endParaRPr>
          </a:p>
          <a:p>
            <a:pPr marL="177800"/>
            <a:r>
              <a:rPr lang="en-US" sz="1800" dirty="0">
                <a:solidFill>
                  <a:srgbClr val="FF0000"/>
                </a:solidFill>
                <a:latin typeface="Arial Black" panose="020B0A04020102020204" pitchFamily="34" charset="0"/>
              </a:rPr>
              <a:t>     </a:t>
            </a:r>
            <a:r>
              <a:rPr lang="en-US" sz="1400" dirty="0">
                <a:solidFill>
                  <a:schemeClr val="tx1"/>
                </a:solidFill>
                <a:latin typeface="Arial Black" panose="020B0A04020102020204" pitchFamily="34" charset="0"/>
              </a:rPr>
              <a:t>Compose of dividing cells that form the tissue of </a:t>
            </a:r>
            <a:endParaRPr lang="en-US" sz="1400" dirty="0" smtClean="0">
              <a:solidFill>
                <a:schemeClr val="tx1"/>
              </a:solidFill>
              <a:latin typeface="Arial Black" panose="020B0A04020102020204" pitchFamily="34" charset="0"/>
            </a:endParaRPr>
          </a:p>
          <a:p>
            <a:pPr marL="177800"/>
            <a:r>
              <a:rPr lang="en-US" sz="1400" dirty="0">
                <a:solidFill>
                  <a:schemeClr val="tx1"/>
                </a:solidFill>
                <a:latin typeface="Arial Black" panose="020B0A04020102020204" pitchFamily="34" charset="0"/>
              </a:rPr>
              <a:t> </a:t>
            </a:r>
            <a:r>
              <a:rPr lang="en-US" sz="1400" dirty="0" smtClean="0">
                <a:solidFill>
                  <a:schemeClr val="tx1"/>
                </a:solidFill>
                <a:latin typeface="Arial Black" panose="020B0A04020102020204" pitchFamily="34" charset="0"/>
              </a:rPr>
              <a:t>      other </a:t>
            </a:r>
            <a:r>
              <a:rPr lang="en-US" sz="1400" dirty="0">
                <a:solidFill>
                  <a:schemeClr val="tx1"/>
                </a:solidFill>
                <a:latin typeface="Arial Black" panose="020B0A04020102020204" pitchFamily="34" charset="0"/>
              </a:rPr>
              <a:t>root </a:t>
            </a:r>
            <a:r>
              <a:rPr lang="en-US" sz="1400" dirty="0" smtClean="0">
                <a:solidFill>
                  <a:schemeClr val="tx1"/>
                </a:solidFill>
                <a:latin typeface="Arial Black" panose="020B0A04020102020204" pitchFamily="34" charset="0"/>
              </a:rPr>
              <a:t>regions</a:t>
            </a:r>
          </a:p>
          <a:p>
            <a:endParaRPr lang="en-US" sz="1800" dirty="0" smtClean="0">
              <a:latin typeface="Arial Black" panose="020B0A04020102020204" pitchFamily="34" charset="0"/>
            </a:endParaRPr>
          </a:p>
          <a:p>
            <a:endParaRPr lang="en-US" sz="1800" dirty="0">
              <a:latin typeface="Arial Black" panose="020B0A04020102020204" pitchFamily="34" charset="0"/>
            </a:endParaRPr>
          </a:p>
        </p:txBody>
      </p:sp>
    </p:spTree>
    <p:extLst>
      <p:ext uri="{BB962C8B-B14F-4D97-AF65-F5344CB8AC3E}">
        <p14:creationId xmlns:p14="http://schemas.microsoft.com/office/powerpoint/2010/main" val="12784968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4024" y="1845733"/>
            <a:ext cx="5964072" cy="4828021"/>
          </a:xfrm>
        </p:spPr>
        <p:txBody>
          <a:bodyPr>
            <a:normAutofit/>
          </a:bodyPr>
          <a:lstStyle/>
          <a:p>
            <a:pPr>
              <a:buFont typeface="Arial" panose="020B0604020202020204" pitchFamily="34" charset="0"/>
              <a:buChar char="•"/>
            </a:pPr>
            <a:r>
              <a:rPr lang="en-US" sz="1800" b="1" dirty="0" smtClean="0">
                <a:solidFill>
                  <a:srgbClr val="FF0000"/>
                </a:solidFill>
                <a:latin typeface="Arial Black" panose="020B0A04020102020204" pitchFamily="34" charset="0"/>
              </a:rPr>
              <a:t> Region </a:t>
            </a:r>
            <a:r>
              <a:rPr lang="en-US" sz="1800" b="1" dirty="0">
                <a:solidFill>
                  <a:srgbClr val="FF0000"/>
                </a:solidFill>
                <a:latin typeface="Arial Black" panose="020B0A04020102020204" pitchFamily="34" charset="0"/>
              </a:rPr>
              <a:t>of elongation:</a:t>
            </a:r>
            <a:r>
              <a:rPr lang="en-US" sz="1800" dirty="0">
                <a:solidFill>
                  <a:srgbClr val="FF0000"/>
                </a:solidFill>
                <a:latin typeface="Arial Black" panose="020B0A04020102020204" pitchFamily="34" charset="0"/>
              </a:rPr>
              <a:t> </a:t>
            </a:r>
            <a:endParaRPr lang="en-US" sz="1800" dirty="0" smtClean="0">
              <a:solidFill>
                <a:srgbClr val="FF0000"/>
              </a:solidFill>
              <a:latin typeface="Arial Black" panose="020B0A04020102020204" pitchFamily="34" charset="0"/>
            </a:endParaRPr>
          </a:p>
          <a:p>
            <a:pPr marL="0" indent="0">
              <a:buNone/>
            </a:pPr>
            <a:endParaRPr lang="en-US" sz="800" dirty="0" smtClean="0">
              <a:solidFill>
                <a:srgbClr val="FF0000"/>
              </a:solidFill>
              <a:latin typeface="Arial Black" panose="020B0A04020102020204" pitchFamily="34" charset="0"/>
            </a:endParaRPr>
          </a:p>
          <a:p>
            <a:pPr marL="450850" indent="176213">
              <a:lnSpc>
                <a:spcPct val="100000"/>
              </a:lnSpc>
              <a:spcBef>
                <a:spcPts val="0"/>
              </a:spcBef>
              <a:spcAft>
                <a:spcPts val="0"/>
              </a:spcAft>
              <a:buFont typeface="Wingdings" panose="05000000000000000000" pitchFamily="2" charset="2"/>
              <a:buChar char="ü"/>
            </a:pPr>
            <a:r>
              <a:rPr lang="en-US" sz="1800" dirty="0" smtClean="0">
                <a:solidFill>
                  <a:srgbClr val="FF0000"/>
                </a:solidFill>
                <a:latin typeface="Arial Black" panose="020B0A04020102020204" pitchFamily="34" charset="0"/>
              </a:rPr>
              <a:t> </a:t>
            </a:r>
            <a:r>
              <a:rPr lang="en-US" sz="1400" dirty="0" smtClean="0">
                <a:solidFill>
                  <a:schemeClr val="tx1"/>
                </a:solidFill>
                <a:latin typeface="Arial Black" panose="020B0A04020102020204" pitchFamily="34" charset="0"/>
              </a:rPr>
              <a:t>Cells elongate rapidly and undergo the final round</a:t>
            </a:r>
          </a:p>
          <a:p>
            <a:pPr marL="450850" indent="0">
              <a:lnSpc>
                <a:spcPct val="100000"/>
              </a:lnSpc>
              <a:spcBef>
                <a:spcPts val="0"/>
              </a:spcBef>
              <a:spcAft>
                <a:spcPts val="0"/>
              </a:spcAft>
              <a:buNone/>
            </a:pPr>
            <a:r>
              <a:rPr lang="en-US" sz="1400" dirty="0">
                <a:solidFill>
                  <a:schemeClr val="tx1"/>
                </a:solidFill>
                <a:latin typeface="Arial Black" panose="020B0A04020102020204" pitchFamily="34" charset="0"/>
              </a:rPr>
              <a:t> </a:t>
            </a:r>
            <a:r>
              <a:rPr lang="en-US" sz="1400" dirty="0" smtClean="0">
                <a:solidFill>
                  <a:schemeClr val="tx1"/>
                </a:solidFill>
                <a:latin typeface="Arial Black" panose="020B0A04020102020204" pitchFamily="34" charset="0"/>
              </a:rPr>
              <a:t>   of cell division to for the endodermis </a:t>
            </a:r>
          </a:p>
          <a:p>
            <a:pPr marL="450850" indent="0">
              <a:lnSpc>
                <a:spcPct val="100000"/>
              </a:lnSpc>
              <a:spcBef>
                <a:spcPts val="0"/>
              </a:spcBef>
              <a:spcAft>
                <a:spcPts val="0"/>
              </a:spcAft>
              <a:buNone/>
            </a:pPr>
            <a:r>
              <a:rPr lang="en-US" sz="1400" dirty="0">
                <a:solidFill>
                  <a:schemeClr val="tx1"/>
                </a:solidFill>
                <a:latin typeface="Arial Black" panose="020B0A04020102020204" pitchFamily="34" charset="0"/>
              </a:rPr>
              <a:t> </a:t>
            </a:r>
            <a:endParaRPr lang="en-US" sz="1400" dirty="0" smtClean="0">
              <a:solidFill>
                <a:schemeClr val="tx1"/>
              </a:solidFill>
              <a:latin typeface="Arial Black" panose="020B0A04020102020204" pitchFamily="34" charset="0"/>
            </a:endParaRPr>
          </a:p>
          <a:p>
            <a:pPr marL="736600" indent="-285750">
              <a:lnSpc>
                <a:spcPct val="100000"/>
              </a:lnSpc>
              <a:spcBef>
                <a:spcPts val="0"/>
              </a:spcBef>
              <a:spcAft>
                <a:spcPts val="0"/>
              </a:spcAft>
              <a:buFont typeface="Wingdings" panose="05000000000000000000" pitchFamily="2" charset="2"/>
              <a:buChar char="ü"/>
            </a:pPr>
            <a:r>
              <a:rPr lang="en-US" sz="1400" dirty="0" smtClean="0">
                <a:solidFill>
                  <a:schemeClr val="tx1"/>
                </a:solidFill>
                <a:latin typeface="Arial Black" panose="020B0A04020102020204" pitchFamily="34" charset="0"/>
              </a:rPr>
              <a:t>Some cell thicken to form </a:t>
            </a:r>
            <a:r>
              <a:rPr lang="en-US" sz="1400" dirty="0" err="1" smtClean="0">
                <a:solidFill>
                  <a:schemeClr val="tx1"/>
                </a:solidFill>
                <a:latin typeface="Arial Black" panose="020B0A04020102020204" pitchFamily="34" charset="0"/>
              </a:rPr>
              <a:t>casparian</a:t>
            </a:r>
            <a:r>
              <a:rPr lang="en-US" sz="1400" dirty="0" smtClean="0">
                <a:solidFill>
                  <a:schemeClr val="tx1"/>
                </a:solidFill>
                <a:latin typeface="Arial Black" panose="020B0A04020102020204" pitchFamily="34" charset="0"/>
              </a:rPr>
              <a:t> strip</a:t>
            </a:r>
            <a:endParaRPr lang="en-US" sz="1400" dirty="0">
              <a:solidFill>
                <a:schemeClr val="tx1"/>
              </a:solidFill>
              <a:latin typeface="Arial Black" panose="020B0A04020102020204" pitchFamily="34" charset="0"/>
            </a:endParaRPr>
          </a:p>
          <a:p>
            <a:pPr marL="450850" indent="0">
              <a:lnSpc>
                <a:spcPct val="100000"/>
              </a:lnSpc>
              <a:spcBef>
                <a:spcPts val="0"/>
              </a:spcBef>
              <a:spcAft>
                <a:spcPts val="0"/>
              </a:spcAft>
              <a:buNone/>
            </a:pPr>
            <a:endParaRPr lang="en-US" sz="1400" dirty="0" smtClean="0">
              <a:solidFill>
                <a:schemeClr val="tx1"/>
              </a:solidFill>
              <a:latin typeface="Arial Black" panose="020B0A04020102020204" pitchFamily="34" charset="0"/>
            </a:endParaRPr>
          </a:p>
          <a:p>
            <a:pPr marL="450850" indent="0">
              <a:lnSpc>
                <a:spcPct val="100000"/>
              </a:lnSpc>
              <a:spcBef>
                <a:spcPts val="0"/>
              </a:spcBef>
              <a:spcAft>
                <a:spcPts val="0"/>
              </a:spcAft>
              <a:buNone/>
            </a:pPr>
            <a:endParaRPr lang="en-US" sz="1400" dirty="0">
              <a:solidFill>
                <a:schemeClr val="tx1"/>
              </a:solidFill>
              <a:latin typeface="Arial Black" panose="020B0A04020102020204" pitchFamily="34" charset="0"/>
            </a:endParaRPr>
          </a:p>
          <a:p>
            <a:pPr>
              <a:lnSpc>
                <a:spcPct val="100000"/>
              </a:lnSpc>
              <a:spcBef>
                <a:spcPts val="0"/>
              </a:spcBef>
              <a:spcAft>
                <a:spcPts val="0"/>
              </a:spcAft>
              <a:buFont typeface="Arial" panose="020B0604020202020204" pitchFamily="34" charset="0"/>
              <a:buChar char="•"/>
            </a:pPr>
            <a:r>
              <a:rPr lang="en-US" sz="1800" dirty="0">
                <a:solidFill>
                  <a:srgbClr val="FF0000"/>
                </a:solidFill>
                <a:latin typeface="Arial Black" panose="020B0A04020102020204" pitchFamily="34" charset="0"/>
              </a:rPr>
              <a:t> </a:t>
            </a:r>
            <a:r>
              <a:rPr lang="en-US" sz="1800" dirty="0" smtClean="0">
                <a:solidFill>
                  <a:srgbClr val="FF0000"/>
                </a:solidFill>
                <a:latin typeface="Arial Black" panose="020B0A04020102020204" pitchFamily="34" charset="0"/>
              </a:rPr>
              <a:t>Region </a:t>
            </a:r>
            <a:r>
              <a:rPr lang="en-US" sz="1800" dirty="0">
                <a:solidFill>
                  <a:srgbClr val="FF0000"/>
                </a:solidFill>
                <a:latin typeface="Arial Black" panose="020B0A04020102020204" pitchFamily="34" charset="0"/>
              </a:rPr>
              <a:t>of maturation (</a:t>
            </a:r>
            <a:r>
              <a:rPr lang="en-US" sz="1800" dirty="0" smtClean="0">
                <a:solidFill>
                  <a:srgbClr val="FF0000"/>
                </a:solidFill>
                <a:latin typeface="Arial Black" panose="020B0A04020102020204" pitchFamily="34" charset="0"/>
              </a:rPr>
              <a:t>differentiation):</a:t>
            </a:r>
          </a:p>
          <a:p>
            <a:pPr marL="0" indent="0">
              <a:lnSpc>
                <a:spcPct val="100000"/>
              </a:lnSpc>
              <a:spcBef>
                <a:spcPts val="0"/>
              </a:spcBef>
              <a:spcAft>
                <a:spcPts val="0"/>
              </a:spcAft>
              <a:buNone/>
            </a:pPr>
            <a:r>
              <a:rPr lang="en-US" sz="1800" dirty="0" smtClean="0">
                <a:solidFill>
                  <a:srgbClr val="FF0000"/>
                </a:solidFill>
                <a:latin typeface="Arial Black" panose="020B0A04020102020204" pitchFamily="34" charset="0"/>
              </a:rPr>
              <a:t>  </a:t>
            </a:r>
          </a:p>
          <a:p>
            <a:pPr marL="531813" indent="-90488">
              <a:lnSpc>
                <a:spcPct val="100000"/>
              </a:lnSpc>
              <a:spcBef>
                <a:spcPts val="0"/>
              </a:spcBef>
              <a:spcAft>
                <a:spcPts val="0"/>
              </a:spcAft>
              <a:buFont typeface="Wingdings" panose="05000000000000000000" pitchFamily="2" charset="2"/>
              <a:buChar char="ü"/>
            </a:pPr>
            <a:r>
              <a:rPr lang="en-US" sz="1400" dirty="0">
                <a:solidFill>
                  <a:srgbClr val="FF0000"/>
                </a:solidFill>
                <a:latin typeface="Arial Black" panose="020B0A04020102020204" pitchFamily="34" charset="0"/>
              </a:rPr>
              <a:t> </a:t>
            </a:r>
            <a:r>
              <a:rPr lang="en-US" sz="1400" dirty="0" smtClean="0">
                <a:solidFill>
                  <a:srgbClr val="2E0C1F"/>
                </a:solidFill>
                <a:latin typeface="Arial Black" panose="020B0A04020102020204" pitchFamily="34" charset="0"/>
              </a:rPr>
              <a:t>The cells </a:t>
            </a:r>
            <a:r>
              <a:rPr lang="en-US" sz="1400" dirty="0">
                <a:solidFill>
                  <a:srgbClr val="2E0C1F"/>
                </a:solidFill>
                <a:latin typeface="Arial Black" panose="020B0A04020102020204" pitchFamily="34" charset="0"/>
              </a:rPr>
              <a:t>mature and begin to change their </a:t>
            </a:r>
            <a:r>
              <a:rPr lang="en-US" sz="1400" dirty="0" smtClean="0">
                <a:solidFill>
                  <a:srgbClr val="2E0C1F"/>
                </a:solidFill>
                <a:latin typeface="Arial Black" panose="020B0A04020102020204" pitchFamily="34" charset="0"/>
              </a:rPr>
              <a:t>structure</a:t>
            </a:r>
          </a:p>
          <a:p>
            <a:pPr marL="441325" indent="0">
              <a:lnSpc>
                <a:spcPct val="100000"/>
              </a:lnSpc>
              <a:spcBef>
                <a:spcPts val="0"/>
              </a:spcBef>
              <a:spcAft>
                <a:spcPts val="0"/>
              </a:spcAft>
              <a:buNone/>
            </a:pPr>
            <a:r>
              <a:rPr lang="en-US" sz="1400" dirty="0">
                <a:solidFill>
                  <a:srgbClr val="2E0C1F"/>
                </a:solidFill>
                <a:latin typeface="Arial Black" panose="020B0A04020102020204" pitchFamily="34" charset="0"/>
              </a:rPr>
              <a:t> </a:t>
            </a:r>
            <a:r>
              <a:rPr lang="en-US" sz="1400" dirty="0" smtClean="0">
                <a:solidFill>
                  <a:srgbClr val="2E0C1F"/>
                </a:solidFill>
                <a:latin typeface="Arial Black" panose="020B0A04020102020204" pitchFamily="34" charset="0"/>
              </a:rPr>
              <a:t>    and their </a:t>
            </a:r>
            <a:r>
              <a:rPr lang="en-US" sz="1400" dirty="0">
                <a:solidFill>
                  <a:srgbClr val="2E0C1F"/>
                </a:solidFill>
                <a:latin typeface="Arial Black" panose="020B0A04020102020204" pitchFamily="34" charset="0"/>
              </a:rPr>
              <a:t>function </a:t>
            </a:r>
            <a:endParaRPr lang="en-US" sz="1400" dirty="0" smtClean="0">
              <a:solidFill>
                <a:srgbClr val="2E0C1F"/>
              </a:solidFill>
              <a:latin typeface="Arial Black" panose="020B0A04020102020204" pitchFamily="34" charset="0"/>
            </a:endParaRPr>
          </a:p>
          <a:p>
            <a:pPr marL="441325" indent="0">
              <a:lnSpc>
                <a:spcPct val="100000"/>
              </a:lnSpc>
              <a:spcBef>
                <a:spcPts val="0"/>
              </a:spcBef>
              <a:spcAft>
                <a:spcPts val="0"/>
              </a:spcAft>
              <a:buNone/>
            </a:pPr>
            <a:endParaRPr lang="en-US" sz="1400" dirty="0">
              <a:solidFill>
                <a:srgbClr val="2E0C1F"/>
              </a:solidFill>
              <a:latin typeface="Arial Black" panose="020B0A04020102020204" pitchFamily="34" charset="0"/>
            </a:endParaRPr>
          </a:p>
          <a:p>
            <a:pPr marL="727075" indent="-285750">
              <a:lnSpc>
                <a:spcPct val="100000"/>
              </a:lnSpc>
              <a:spcBef>
                <a:spcPts val="0"/>
              </a:spcBef>
              <a:spcAft>
                <a:spcPts val="0"/>
              </a:spcAft>
              <a:buFont typeface="Wingdings" panose="05000000000000000000" pitchFamily="2" charset="2"/>
              <a:buChar char="ü"/>
            </a:pPr>
            <a:r>
              <a:rPr lang="en-US" sz="1400" dirty="0" smtClean="0">
                <a:solidFill>
                  <a:srgbClr val="2E0C1F"/>
                </a:solidFill>
                <a:latin typeface="Arial Black" panose="020B0A04020102020204" pitchFamily="34" charset="0"/>
              </a:rPr>
              <a:t>Root hairs: </a:t>
            </a:r>
            <a:r>
              <a:rPr lang="en-US" sz="1400" dirty="0">
                <a:solidFill>
                  <a:srgbClr val="2E0C1F"/>
                </a:solidFill>
                <a:latin typeface="Arial Black" panose="020B0A04020102020204" pitchFamily="34" charset="0"/>
              </a:rPr>
              <a:t>L</a:t>
            </a:r>
            <a:r>
              <a:rPr lang="en-US" sz="1400" dirty="0" smtClean="0">
                <a:solidFill>
                  <a:srgbClr val="2E0C1F"/>
                </a:solidFill>
                <a:latin typeface="Arial Black" panose="020B0A04020102020204" pitchFamily="34" charset="0"/>
              </a:rPr>
              <a:t>ong extension of epidermal cells are first form. </a:t>
            </a:r>
            <a:r>
              <a:rPr lang="en-US" sz="1400" dirty="0">
                <a:solidFill>
                  <a:srgbClr val="2E0C1F"/>
                </a:solidFill>
                <a:latin typeface="Arial Black" panose="020B0A04020102020204" pitchFamily="34" charset="0"/>
              </a:rPr>
              <a:t>They increase the surface area for water </a:t>
            </a:r>
            <a:r>
              <a:rPr lang="en-US" sz="1400" dirty="0" smtClean="0">
                <a:solidFill>
                  <a:srgbClr val="2E0C1F"/>
                </a:solidFill>
                <a:latin typeface="Arial Black" panose="020B0A04020102020204" pitchFamily="34" charset="0"/>
              </a:rPr>
              <a:t>and minerals </a:t>
            </a:r>
            <a:r>
              <a:rPr lang="en-US" sz="1400" dirty="0">
                <a:solidFill>
                  <a:srgbClr val="2E0C1F"/>
                </a:solidFill>
                <a:latin typeface="Arial Black" panose="020B0A04020102020204" pitchFamily="34" charset="0"/>
              </a:rPr>
              <a:t>absorption by root                </a:t>
            </a:r>
          </a:p>
        </p:txBody>
      </p:sp>
      <p:pic>
        <p:nvPicPr>
          <p:cNvPr id="3" name="Picture 2"/>
          <p:cNvPicPr>
            <a:picLocks noChangeAspect="1"/>
          </p:cNvPicPr>
          <p:nvPr/>
        </p:nvPicPr>
        <p:blipFill>
          <a:blip r:embed="rId2"/>
          <a:stretch>
            <a:fillRect/>
          </a:stretch>
        </p:blipFill>
        <p:spPr>
          <a:xfrm>
            <a:off x="578642" y="325875"/>
            <a:ext cx="11034716" cy="936434"/>
          </a:xfrm>
          <a:prstGeom prst="rect">
            <a:avLst/>
          </a:prstGeom>
        </p:spPr>
      </p:pic>
      <p:pic>
        <p:nvPicPr>
          <p:cNvPr id="4" name="Picture 3"/>
          <p:cNvPicPr>
            <a:picLocks noChangeAspect="1"/>
          </p:cNvPicPr>
          <p:nvPr/>
        </p:nvPicPr>
        <p:blipFill>
          <a:blip r:embed="rId3"/>
          <a:stretch>
            <a:fillRect/>
          </a:stretch>
        </p:blipFill>
        <p:spPr>
          <a:xfrm>
            <a:off x="8147712" y="0"/>
            <a:ext cx="4044287" cy="6858000"/>
          </a:xfrm>
          <a:prstGeom prst="rect">
            <a:avLst/>
          </a:prstGeom>
        </p:spPr>
      </p:pic>
    </p:spTree>
    <p:extLst>
      <p:ext uri="{BB962C8B-B14F-4D97-AF65-F5344CB8AC3E}">
        <p14:creationId xmlns:p14="http://schemas.microsoft.com/office/powerpoint/2010/main" val="35576092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104" y="1821975"/>
            <a:ext cx="10986447" cy="5165679"/>
          </a:xfrm>
        </p:spPr>
        <p:txBody>
          <a:bodyPr>
            <a:normAutofit/>
          </a:bodyPr>
          <a:lstStyle/>
          <a:p>
            <a:pPr>
              <a:lnSpc>
                <a:spcPct val="100000"/>
              </a:lnSpc>
            </a:pPr>
            <a:r>
              <a:rPr lang="en-US" sz="1800" b="1" dirty="0" smtClean="0">
                <a:solidFill>
                  <a:schemeClr val="tx1"/>
                </a:solidFill>
                <a:latin typeface="Arial Black" panose="020B0A04020102020204" pitchFamily="34" charset="0"/>
              </a:rPr>
              <a:t/>
            </a:r>
            <a:br>
              <a:rPr lang="en-US" sz="1800" b="1" dirty="0" smtClean="0">
                <a:solidFill>
                  <a:schemeClr val="tx1"/>
                </a:solidFill>
                <a:latin typeface="Arial Black" panose="020B0A04020102020204" pitchFamily="34" charset="0"/>
              </a:rPr>
            </a:br>
            <a:r>
              <a:rPr lang="en-US" sz="1800" b="1" dirty="0">
                <a:solidFill>
                  <a:schemeClr val="tx1"/>
                </a:solidFill>
                <a:latin typeface="Arial Black" panose="020B0A04020102020204" pitchFamily="34" charset="0"/>
              </a:rPr>
              <a:t/>
            </a:r>
            <a:br>
              <a:rPr lang="en-US" sz="1800" b="1" dirty="0">
                <a:solidFill>
                  <a:schemeClr val="tx1"/>
                </a:solidFill>
                <a:latin typeface="Arial Black" panose="020B0A04020102020204" pitchFamily="34" charset="0"/>
              </a:rPr>
            </a:br>
            <a:r>
              <a:rPr lang="en-US" sz="1800" b="1" dirty="0" smtClean="0">
                <a:latin typeface="Arial Black" panose="020B0A04020102020204" pitchFamily="34" charset="0"/>
              </a:rPr>
              <a:t/>
            </a:r>
            <a:br>
              <a:rPr lang="en-US" sz="1800" b="1" dirty="0" smtClean="0">
                <a:latin typeface="Arial Black" panose="020B0A04020102020204" pitchFamily="34" charset="0"/>
              </a:rPr>
            </a:br>
            <a:r>
              <a:rPr lang="en-US" sz="1800" b="1" dirty="0" smtClean="0">
                <a:latin typeface="Arial Black" panose="020B0A04020102020204" pitchFamily="34" charset="0"/>
              </a:rPr>
              <a:t>         </a:t>
            </a:r>
            <a:r>
              <a:rPr lang="en-US" sz="2000" b="1" dirty="0" smtClean="0">
                <a:latin typeface="Arial Black" panose="020B0A04020102020204" pitchFamily="34" charset="0"/>
              </a:rPr>
              <a:t/>
            </a:r>
            <a:br>
              <a:rPr lang="en-US" sz="2000" b="1" dirty="0" smtClean="0">
                <a:latin typeface="Arial Black" panose="020B0A04020102020204" pitchFamily="34" charset="0"/>
              </a:rPr>
            </a:br>
            <a:r>
              <a:rPr lang="en-US" sz="2000" b="1" dirty="0">
                <a:latin typeface="Arial Black" panose="020B0A04020102020204" pitchFamily="34" charset="0"/>
              </a:rPr>
              <a:t> </a:t>
            </a:r>
            <a:r>
              <a:rPr lang="en-US" sz="2000" b="1" dirty="0" smtClean="0">
                <a:latin typeface="Arial Black" panose="020B0A04020102020204" pitchFamily="34" charset="0"/>
              </a:rPr>
              <a:t>   </a:t>
            </a:r>
            <a:endParaRPr lang="en-US" sz="2000" b="1" dirty="0">
              <a:latin typeface="Arial Black" panose="020B0A040201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104" y="0"/>
            <a:ext cx="10727142" cy="6387152"/>
          </a:xfrm>
          <a:prstGeom prst="rect">
            <a:avLst/>
          </a:prstGeom>
        </p:spPr>
      </p:pic>
    </p:spTree>
    <p:extLst>
      <p:ext uri="{BB962C8B-B14F-4D97-AF65-F5344CB8AC3E}">
        <p14:creationId xmlns:p14="http://schemas.microsoft.com/office/powerpoint/2010/main" val="18143520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87104"/>
            <a:ext cx="10058400" cy="627797"/>
          </a:xfrm>
        </p:spPr>
        <p:txBody>
          <a:bodyPr>
            <a:normAutofit/>
          </a:bodyPr>
          <a:lstStyle/>
          <a:p>
            <a:pPr algn="ctr"/>
            <a:r>
              <a:rPr lang="en-US" sz="2400" dirty="0" smtClean="0">
                <a:latin typeface="Arial Black" panose="020B0A04020102020204" pitchFamily="34" charset="0"/>
              </a:rPr>
              <a:t>Dicot Root</a:t>
            </a:r>
            <a:endParaRPr lang="ar-JO" sz="2400" dirty="0">
              <a:latin typeface="Arial Black" panose="020B0A04020102020204" pitchFamily="34" charset="0"/>
            </a:endParaRPr>
          </a:p>
        </p:txBody>
      </p:sp>
      <p:sp>
        <p:nvSpPr>
          <p:cNvPr id="3" name="Title 1"/>
          <p:cNvSpPr txBox="1">
            <a:spLocks/>
          </p:cNvSpPr>
          <p:nvPr/>
        </p:nvSpPr>
        <p:spPr>
          <a:xfrm>
            <a:off x="510426" y="2090382"/>
            <a:ext cx="11232107" cy="3218597"/>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342900" indent="-342900">
              <a:buFont typeface="Wingdings" panose="05000000000000000000" pitchFamily="2" charset="2"/>
              <a:buChar char="§"/>
            </a:pPr>
            <a:r>
              <a:rPr lang="en-US" sz="1800" dirty="0" smtClean="0">
                <a:solidFill>
                  <a:srgbClr val="FF0000"/>
                </a:solidFill>
                <a:latin typeface="Arial Black" panose="020B0A04020102020204" pitchFamily="34" charset="0"/>
              </a:rPr>
              <a:t>Epidermis</a:t>
            </a:r>
            <a:r>
              <a:rPr lang="en-US" sz="2000" dirty="0" smtClean="0">
                <a:solidFill>
                  <a:srgbClr val="FF0000"/>
                </a:solidFill>
                <a:latin typeface="Arial Black" panose="020B0A04020102020204" pitchFamily="34" charset="0"/>
              </a:rPr>
              <a:t>:</a:t>
            </a:r>
          </a:p>
          <a:p>
            <a:r>
              <a:rPr lang="en-US" sz="2000" dirty="0" smtClean="0">
                <a:latin typeface="Arial Black" panose="020B0A04020102020204" pitchFamily="34" charset="0"/>
              </a:rPr>
              <a:t> </a:t>
            </a:r>
            <a:endParaRPr lang="en-US" sz="1600" dirty="0" smtClean="0">
              <a:latin typeface="Arial Black" panose="020B0A04020102020204" pitchFamily="34" charset="0"/>
            </a:endParaRPr>
          </a:p>
          <a:p>
            <a:pPr marL="627063" indent="355600">
              <a:buFont typeface="Courier New" panose="02070309020205020404" pitchFamily="49" charset="0"/>
              <a:buChar char="o"/>
              <a:tabLst>
                <a:tab pos="804863" algn="l"/>
              </a:tabLst>
            </a:pPr>
            <a:r>
              <a:rPr lang="en-US" sz="1600" dirty="0" smtClean="0">
                <a:latin typeface="Arial Black" panose="020B0A04020102020204" pitchFamily="34" charset="0"/>
              </a:rPr>
              <a:t>A </a:t>
            </a:r>
            <a:r>
              <a:rPr lang="en-US" sz="1600" dirty="0">
                <a:latin typeface="Arial Black" panose="020B0A04020102020204" pitchFamily="34" charset="0"/>
              </a:rPr>
              <a:t>single layer of cells on the outside that protects the inner tissues   </a:t>
            </a:r>
            <a:endParaRPr lang="en-US" sz="1600" dirty="0" smtClean="0">
              <a:latin typeface="Arial Black" panose="020B0A04020102020204" pitchFamily="34" charset="0"/>
            </a:endParaRPr>
          </a:p>
          <a:p>
            <a:pPr marL="627063" indent="355600">
              <a:buFont typeface="Courier New" panose="02070309020205020404" pitchFamily="49" charset="0"/>
              <a:buChar char="o"/>
              <a:tabLst>
                <a:tab pos="804863" algn="l"/>
              </a:tabLst>
            </a:pPr>
            <a:endParaRPr lang="en-US" sz="1600" dirty="0">
              <a:latin typeface="Arial Black" panose="020B0A04020102020204" pitchFamily="34" charset="0"/>
            </a:endParaRPr>
          </a:p>
          <a:p>
            <a:pPr marL="627063" indent="355600">
              <a:buFont typeface="Courier New" panose="02070309020205020404" pitchFamily="49" charset="0"/>
              <a:buChar char="o"/>
              <a:tabLst>
                <a:tab pos="804863" algn="l"/>
              </a:tabLst>
            </a:pPr>
            <a:r>
              <a:rPr lang="en-US" sz="1600" dirty="0" smtClean="0">
                <a:latin typeface="Arial Black" panose="020B0A04020102020204" pitchFamily="34" charset="0"/>
              </a:rPr>
              <a:t>Has </a:t>
            </a:r>
            <a:r>
              <a:rPr lang="en-US" sz="1600" dirty="0">
                <a:latin typeface="Arial Black" panose="020B0A04020102020204" pitchFamily="34" charset="0"/>
              </a:rPr>
              <a:t>no waterproof cuticle  </a:t>
            </a:r>
            <a:endParaRPr lang="en-US" sz="1600" dirty="0" smtClean="0">
              <a:latin typeface="Arial Black" panose="020B0A04020102020204" pitchFamily="34" charset="0"/>
            </a:endParaRPr>
          </a:p>
          <a:p>
            <a:pPr marL="627063">
              <a:tabLst>
                <a:tab pos="804863" algn="l"/>
              </a:tabLst>
            </a:pPr>
            <a:r>
              <a:rPr lang="en-US" sz="1600" dirty="0" smtClean="0">
                <a:latin typeface="Arial Black" panose="020B0A04020102020204" pitchFamily="34" charset="0"/>
              </a:rPr>
              <a:t>     </a:t>
            </a:r>
          </a:p>
          <a:p>
            <a:pPr marL="627063" indent="355600">
              <a:buFont typeface="Courier New" panose="02070309020205020404" pitchFamily="49" charset="0"/>
              <a:buChar char="o"/>
              <a:tabLst>
                <a:tab pos="804863" algn="l"/>
              </a:tabLst>
            </a:pPr>
            <a:r>
              <a:rPr lang="en-US" sz="1600" dirty="0">
                <a:latin typeface="Arial Black" panose="020B0A04020102020204" pitchFamily="34" charset="0"/>
              </a:rPr>
              <a:t> Some of the epidermal cells of the root grow outward </a:t>
            </a:r>
            <a:r>
              <a:rPr lang="en-US" sz="1600" dirty="0" smtClean="0">
                <a:latin typeface="Arial Black" panose="020B0A04020102020204" pitchFamily="34" charset="0"/>
              </a:rPr>
              <a:t>to </a:t>
            </a:r>
            <a:r>
              <a:rPr lang="en-US" sz="1600" dirty="0">
                <a:latin typeface="Arial Black" panose="020B0A04020102020204" pitchFamily="34" charset="0"/>
              </a:rPr>
              <a:t>form root </a:t>
            </a:r>
            <a:r>
              <a:rPr lang="en-US" sz="1600" dirty="0" smtClean="0">
                <a:latin typeface="Arial Black" panose="020B0A04020102020204" pitchFamily="34" charset="0"/>
              </a:rPr>
              <a:t>hair</a:t>
            </a:r>
          </a:p>
          <a:p>
            <a:pPr marL="285750" indent="-285750">
              <a:buFont typeface="Wingdings" panose="05000000000000000000" pitchFamily="2" charset="2"/>
              <a:buChar char="§"/>
              <a:tabLst>
                <a:tab pos="804863" algn="l"/>
              </a:tabLst>
            </a:pPr>
            <a:endParaRPr lang="en-US" sz="1600" dirty="0" smtClean="0">
              <a:latin typeface="Arial Black" panose="020B0A04020102020204" pitchFamily="34" charset="0"/>
            </a:endParaRPr>
          </a:p>
          <a:p>
            <a:pPr marL="285750" indent="-285750">
              <a:buFont typeface="Wingdings" panose="05000000000000000000" pitchFamily="2" charset="2"/>
              <a:buChar char="§"/>
              <a:tabLst>
                <a:tab pos="804863" algn="l"/>
              </a:tabLst>
            </a:pPr>
            <a:r>
              <a:rPr lang="en-US" sz="1800" dirty="0" smtClean="0">
                <a:solidFill>
                  <a:srgbClr val="FF0000"/>
                </a:solidFill>
                <a:latin typeface="Arial Black" panose="020B0A04020102020204" pitchFamily="34" charset="0"/>
              </a:rPr>
              <a:t>Cortex:</a:t>
            </a:r>
          </a:p>
          <a:p>
            <a:pPr>
              <a:tabLst>
                <a:tab pos="804863" algn="l"/>
              </a:tabLst>
            </a:pPr>
            <a:r>
              <a:rPr lang="en-US" sz="1800" dirty="0">
                <a:solidFill>
                  <a:srgbClr val="FF0000"/>
                </a:solidFill>
                <a:latin typeface="Arial Black" panose="020B0A04020102020204" pitchFamily="34" charset="0"/>
              </a:rPr>
              <a:t> </a:t>
            </a:r>
            <a:r>
              <a:rPr lang="en-US" sz="1800" dirty="0" smtClean="0">
                <a:solidFill>
                  <a:srgbClr val="FF0000"/>
                </a:solidFill>
                <a:latin typeface="Arial Black" panose="020B0A04020102020204" pitchFamily="34" charset="0"/>
              </a:rPr>
              <a:t>  </a:t>
            </a:r>
            <a:endParaRPr lang="en-US" sz="1600" dirty="0" smtClean="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Consists </a:t>
            </a:r>
            <a:r>
              <a:rPr lang="en-US" sz="1600" dirty="0">
                <a:solidFill>
                  <a:schemeClr val="tx1"/>
                </a:solidFill>
                <a:latin typeface="Arial Black" panose="020B0A04020102020204" pitchFamily="34" charset="0"/>
              </a:rPr>
              <a:t>of parenchymal cells  </a:t>
            </a:r>
            <a:endParaRPr lang="en-US" sz="1600" dirty="0" smtClean="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endParaRPr lang="en-US" sz="1600" dirty="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r>
              <a:rPr lang="en-US" sz="1600" dirty="0" smtClean="0">
                <a:solidFill>
                  <a:schemeClr val="tx1"/>
                </a:solidFill>
                <a:latin typeface="Arial Black" panose="020B0A04020102020204" pitchFamily="34" charset="0"/>
              </a:rPr>
              <a:t> Store water </a:t>
            </a:r>
            <a:r>
              <a:rPr lang="en-US" sz="1600" dirty="0">
                <a:solidFill>
                  <a:schemeClr val="tx1"/>
                </a:solidFill>
                <a:latin typeface="Arial Black" panose="020B0A04020102020204" pitchFamily="34" charset="0"/>
              </a:rPr>
              <a:t>and food </a:t>
            </a:r>
            <a:endParaRPr lang="en-US" sz="1600" dirty="0" smtClean="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endParaRPr lang="en-US" sz="1600" dirty="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r>
              <a:rPr lang="en-US" sz="1600" dirty="0" smtClean="0">
                <a:solidFill>
                  <a:schemeClr val="tx1"/>
                </a:solidFill>
                <a:latin typeface="Arial Black" panose="020B0A04020102020204" pitchFamily="34" charset="0"/>
              </a:rPr>
              <a:t> Facilitate </a:t>
            </a:r>
            <a:r>
              <a:rPr lang="en-US" sz="1600" dirty="0">
                <a:solidFill>
                  <a:schemeClr val="tx1"/>
                </a:solidFill>
                <a:latin typeface="Arial Black" panose="020B0A04020102020204" pitchFamily="34" charset="0"/>
              </a:rPr>
              <a:t>the movement of water from the root hair </a:t>
            </a:r>
            <a:r>
              <a:rPr lang="en-US" sz="1600" dirty="0" smtClean="0">
                <a:solidFill>
                  <a:schemeClr val="tx1"/>
                </a:solidFill>
                <a:latin typeface="Arial Black" panose="020B0A04020102020204" pitchFamily="34" charset="0"/>
              </a:rPr>
              <a:t>on </a:t>
            </a:r>
            <a:r>
              <a:rPr lang="en-US" sz="1600" dirty="0">
                <a:solidFill>
                  <a:schemeClr val="tx1"/>
                </a:solidFill>
                <a:latin typeface="Arial Black" panose="020B0A04020102020204" pitchFamily="34" charset="0"/>
              </a:rPr>
              <a:t>the outside </a:t>
            </a:r>
            <a:r>
              <a:rPr lang="en-US" sz="1600" dirty="0" smtClean="0">
                <a:solidFill>
                  <a:schemeClr val="tx1"/>
                </a:solidFill>
                <a:latin typeface="Arial Black" panose="020B0A04020102020204" pitchFamily="34" charset="0"/>
              </a:rPr>
              <a:t>to </a:t>
            </a:r>
            <a:r>
              <a:rPr lang="en-US" sz="1600" dirty="0">
                <a:solidFill>
                  <a:schemeClr val="tx1"/>
                </a:solidFill>
                <a:latin typeface="Arial Black" panose="020B0A04020102020204" pitchFamily="34" charset="0"/>
              </a:rPr>
              <a:t>the xylem in the inside of </a:t>
            </a:r>
            <a:endParaRPr lang="en-US" sz="1600" dirty="0" smtClean="0">
              <a:solidFill>
                <a:schemeClr val="tx1"/>
              </a:solidFill>
              <a:latin typeface="Arial Black" panose="020B0A04020102020204" pitchFamily="34" charset="0"/>
            </a:endParaRPr>
          </a:p>
          <a:p>
            <a:pPr marL="627063">
              <a:tabLst>
                <a:tab pos="804863" algn="l"/>
              </a:tabLst>
            </a:pPr>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     the </a:t>
            </a:r>
            <a:r>
              <a:rPr lang="en-US" sz="1600" dirty="0">
                <a:solidFill>
                  <a:schemeClr val="tx1"/>
                </a:solidFill>
                <a:latin typeface="Arial Black" panose="020B0A04020102020204" pitchFamily="34" charset="0"/>
              </a:rPr>
              <a:t>plant             </a:t>
            </a:r>
            <a:endParaRPr lang="ar-JO" sz="1600"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5537687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097280" y="1146412"/>
            <a:ext cx="10058400" cy="590948"/>
          </a:xfrm>
        </p:spPr>
        <p:txBody>
          <a:bodyPr>
            <a:normAutofit/>
          </a:bodyPr>
          <a:lstStyle/>
          <a:p>
            <a:pPr algn="ctr"/>
            <a:r>
              <a:rPr lang="en-US" sz="2400" dirty="0" smtClean="0">
                <a:latin typeface="Arial Black" panose="020B0A04020102020204" pitchFamily="34" charset="0"/>
              </a:rPr>
              <a:t>Dicot Root</a:t>
            </a:r>
            <a:endParaRPr lang="ar-JO" sz="2400" dirty="0">
              <a:latin typeface="Arial Black" panose="020B0A04020102020204" pitchFamily="34" charset="0"/>
            </a:endParaRPr>
          </a:p>
        </p:txBody>
      </p:sp>
      <p:sp>
        <p:nvSpPr>
          <p:cNvPr id="4" name="Title 1"/>
          <p:cNvSpPr txBox="1">
            <a:spLocks/>
          </p:cNvSpPr>
          <p:nvPr/>
        </p:nvSpPr>
        <p:spPr>
          <a:xfrm>
            <a:off x="510426" y="2568052"/>
            <a:ext cx="11232107" cy="4515135"/>
          </a:xfrm>
          <a:prstGeom prst="rect">
            <a:avLst/>
          </a:prstGeom>
        </p:spPr>
        <p:txBody>
          <a:bodyPr vert="horz" lIns="91440" tIns="45720" rIns="91440" bIns="45720" rtlCol="0" anchor="b">
            <a:normAutofit fontScale="92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342900" indent="-342900">
              <a:buFont typeface="Wingdings" panose="05000000000000000000" pitchFamily="2" charset="2"/>
              <a:buChar char="§"/>
            </a:pPr>
            <a:r>
              <a:rPr lang="en-US" sz="1800" dirty="0" smtClean="0">
                <a:solidFill>
                  <a:srgbClr val="FF0000"/>
                </a:solidFill>
                <a:latin typeface="Arial Black" panose="020B0A04020102020204" pitchFamily="34" charset="0"/>
              </a:rPr>
              <a:t>Endodermis</a:t>
            </a:r>
            <a:r>
              <a:rPr lang="en-US" sz="2000" dirty="0" smtClean="0">
                <a:solidFill>
                  <a:srgbClr val="FF0000"/>
                </a:solidFill>
                <a:latin typeface="Arial Black" panose="020B0A04020102020204" pitchFamily="34" charset="0"/>
              </a:rPr>
              <a:t>:</a:t>
            </a:r>
          </a:p>
          <a:p>
            <a:pPr marL="627063" indent="381000">
              <a:buFont typeface="Courier New" panose="02070309020205020404" pitchFamily="49" charset="0"/>
              <a:buChar char="o"/>
              <a:tabLst>
                <a:tab pos="627063" algn="l"/>
              </a:tabLst>
            </a:pPr>
            <a:r>
              <a:rPr lang="en-US" sz="1600" dirty="0" smtClean="0">
                <a:latin typeface="Arial Black" panose="020B0A04020102020204" pitchFamily="34" charset="0"/>
              </a:rPr>
              <a:t>The </a:t>
            </a:r>
            <a:r>
              <a:rPr lang="en-US" sz="1600" dirty="0">
                <a:latin typeface="Arial Black" panose="020B0A04020102020204" pitchFamily="34" charset="0"/>
              </a:rPr>
              <a:t>innermost layer of the </a:t>
            </a:r>
            <a:r>
              <a:rPr lang="en-US" sz="1600" dirty="0" smtClean="0">
                <a:latin typeface="Arial Black" panose="020B0A04020102020204" pitchFamily="34" charset="0"/>
              </a:rPr>
              <a:t>cortex</a:t>
            </a:r>
          </a:p>
          <a:p>
            <a:pPr marL="627063">
              <a:tabLst>
                <a:tab pos="627063" algn="l"/>
              </a:tabLst>
            </a:pPr>
            <a:endParaRPr lang="en-US" sz="1600" dirty="0">
              <a:latin typeface="Arial Black" panose="020B0A04020102020204" pitchFamily="34" charset="0"/>
            </a:endParaRPr>
          </a:p>
          <a:p>
            <a:pPr marL="627063" indent="355600">
              <a:buFont typeface="Courier New" panose="02070309020205020404" pitchFamily="49" charset="0"/>
              <a:buChar char="o"/>
              <a:tabLst>
                <a:tab pos="804863" algn="l"/>
              </a:tabLst>
            </a:pPr>
            <a:r>
              <a:rPr lang="en-US" sz="1600" dirty="0">
                <a:latin typeface="Arial Black" panose="020B0A04020102020204" pitchFamily="34" charset="0"/>
              </a:rPr>
              <a:t> </a:t>
            </a:r>
            <a:r>
              <a:rPr lang="en-US" sz="1600" dirty="0" smtClean="0">
                <a:latin typeface="Arial Black" panose="020B0A04020102020204" pitchFamily="34" charset="0"/>
              </a:rPr>
              <a:t>Tightly-packed layer of </a:t>
            </a:r>
            <a:r>
              <a:rPr lang="en-US" sz="1600" dirty="0">
                <a:latin typeface="Arial Black" panose="020B0A04020102020204" pitchFamily="34" charset="0"/>
              </a:rPr>
              <a:t>modified parenchyma cells</a:t>
            </a:r>
            <a:endParaRPr lang="en-US" sz="1600" dirty="0" smtClean="0">
              <a:latin typeface="Arial Black" panose="020B0A04020102020204" pitchFamily="34" charset="0"/>
            </a:endParaRPr>
          </a:p>
          <a:p>
            <a:pPr marL="627063">
              <a:tabLst>
                <a:tab pos="804863" algn="l"/>
              </a:tabLst>
            </a:pPr>
            <a:r>
              <a:rPr lang="en-US" sz="1600" dirty="0" smtClean="0">
                <a:latin typeface="Arial Black" panose="020B0A04020102020204" pitchFamily="34" charset="0"/>
              </a:rPr>
              <a:t>     </a:t>
            </a:r>
          </a:p>
          <a:p>
            <a:pPr marL="627063" indent="355600">
              <a:lnSpc>
                <a:spcPct val="100000"/>
              </a:lnSpc>
              <a:buFont typeface="Courier New" panose="02070309020205020404" pitchFamily="49" charset="0"/>
              <a:buChar char="o"/>
              <a:tabLst>
                <a:tab pos="804863" algn="l"/>
              </a:tabLst>
            </a:pPr>
            <a:r>
              <a:rPr lang="en-US" sz="1600" dirty="0">
                <a:latin typeface="Arial Black" panose="020B0A04020102020204" pitchFamily="34" charset="0"/>
              </a:rPr>
              <a:t> The radial and transverse cell walls are thickened with a water-impermeable, waxy </a:t>
            </a:r>
            <a:r>
              <a:rPr lang="en-US" sz="1600" dirty="0" err="1">
                <a:latin typeface="Arial Black" panose="020B0A04020102020204" pitchFamily="34" charset="0"/>
              </a:rPr>
              <a:t>suberin</a:t>
            </a:r>
            <a:r>
              <a:rPr lang="en-US" sz="1600" dirty="0">
                <a:latin typeface="Arial Black" panose="020B0A04020102020204" pitchFamily="34" charset="0"/>
              </a:rPr>
              <a:t> </a:t>
            </a:r>
            <a:r>
              <a:rPr lang="en-US" sz="1600" dirty="0" smtClean="0">
                <a:latin typeface="Arial Black" panose="020B0A04020102020204" pitchFamily="34" charset="0"/>
              </a:rPr>
              <a:t> </a:t>
            </a:r>
          </a:p>
          <a:p>
            <a:pPr marL="627063">
              <a:lnSpc>
                <a:spcPct val="100000"/>
              </a:lnSpc>
              <a:tabLst>
                <a:tab pos="804863" algn="l"/>
              </a:tabLst>
            </a:pPr>
            <a:r>
              <a:rPr lang="en-US" sz="1600" dirty="0">
                <a:latin typeface="Arial Black" panose="020B0A04020102020204" pitchFamily="34" charset="0"/>
              </a:rPr>
              <a:t> </a:t>
            </a:r>
            <a:r>
              <a:rPr lang="en-US" sz="1600" dirty="0" smtClean="0">
                <a:latin typeface="Arial Black" panose="020B0A04020102020204" pitchFamily="34" charset="0"/>
              </a:rPr>
              <a:t>      layer ( </a:t>
            </a:r>
            <a:r>
              <a:rPr lang="en-US" sz="1600" dirty="0" err="1" smtClean="0">
                <a:solidFill>
                  <a:srgbClr val="FF0000"/>
                </a:solidFill>
                <a:latin typeface="Arial Black" panose="020B0A04020102020204" pitchFamily="34" charset="0"/>
              </a:rPr>
              <a:t>Casparian</a:t>
            </a:r>
            <a:r>
              <a:rPr lang="en-US" sz="1600" dirty="0" smtClean="0">
                <a:solidFill>
                  <a:srgbClr val="FF0000"/>
                </a:solidFill>
                <a:latin typeface="Arial Black" panose="020B0A04020102020204" pitchFamily="34" charset="0"/>
              </a:rPr>
              <a:t> strip </a:t>
            </a:r>
            <a:r>
              <a:rPr lang="en-US" sz="1600" dirty="0" smtClean="0">
                <a:latin typeface="Arial Black" panose="020B0A04020102020204" pitchFamily="34" charset="0"/>
              </a:rPr>
              <a:t>)</a:t>
            </a:r>
          </a:p>
          <a:p>
            <a:pPr marL="627063">
              <a:tabLst>
                <a:tab pos="804863" algn="l"/>
              </a:tabLst>
            </a:pPr>
            <a:endParaRPr lang="en-US" sz="1600" dirty="0" smtClean="0">
              <a:latin typeface="Arial Black" panose="020B0A04020102020204" pitchFamily="34" charset="0"/>
            </a:endParaRPr>
          </a:p>
          <a:p>
            <a:pPr marL="912813" indent="-285750">
              <a:buFont typeface="Courier New" panose="02070309020205020404" pitchFamily="49" charset="0"/>
              <a:buChar char="o"/>
              <a:tabLst>
                <a:tab pos="804863" algn="l"/>
              </a:tabLst>
            </a:pPr>
            <a:r>
              <a:rPr lang="en-US" sz="1600" dirty="0" smtClean="0">
                <a:latin typeface="Arial Black" panose="020B0A04020102020204" pitchFamily="34" charset="0"/>
              </a:rPr>
              <a:t>  Regulate </a:t>
            </a:r>
            <a:r>
              <a:rPr lang="en-US" sz="1600" dirty="0">
                <a:latin typeface="Arial Black" panose="020B0A04020102020204" pitchFamily="34" charset="0"/>
              </a:rPr>
              <a:t>the flow of water from the cortex into the stele</a:t>
            </a:r>
            <a:endParaRPr lang="en-US" sz="1600" dirty="0" smtClean="0">
              <a:latin typeface="Arial Black" panose="020B0A04020102020204" pitchFamily="34" charset="0"/>
            </a:endParaRPr>
          </a:p>
          <a:p>
            <a:pPr marL="285750" indent="-285750">
              <a:buFont typeface="Wingdings" panose="05000000000000000000" pitchFamily="2" charset="2"/>
              <a:buChar char="§"/>
              <a:tabLst>
                <a:tab pos="804863" algn="l"/>
              </a:tabLst>
            </a:pPr>
            <a:endParaRPr lang="en-US" sz="1600" dirty="0" smtClean="0">
              <a:latin typeface="Arial Black" panose="020B0A04020102020204" pitchFamily="34" charset="0"/>
            </a:endParaRPr>
          </a:p>
          <a:p>
            <a:pPr marL="285750" indent="-285750">
              <a:buFont typeface="Wingdings" panose="05000000000000000000" pitchFamily="2" charset="2"/>
              <a:buChar char="§"/>
              <a:tabLst>
                <a:tab pos="804863" algn="l"/>
              </a:tabLst>
            </a:pPr>
            <a:r>
              <a:rPr lang="en-US" sz="1800" dirty="0" smtClean="0">
                <a:solidFill>
                  <a:srgbClr val="FF0000"/>
                </a:solidFill>
                <a:latin typeface="Arial Black" panose="020B0A04020102020204" pitchFamily="34" charset="0"/>
              </a:rPr>
              <a:t>The Stele ( Vascular cylinder ):</a:t>
            </a:r>
          </a:p>
          <a:p>
            <a:pPr>
              <a:tabLst>
                <a:tab pos="804863" algn="l"/>
              </a:tabLst>
            </a:pPr>
            <a:r>
              <a:rPr lang="en-US" sz="1800" dirty="0">
                <a:solidFill>
                  <a:srgbClr val="FF0000"/>
                </a:solidFill>
                <a:latin typeface="Arial Black" panose="020B0A04020102020204" pitchFamily="34" charset="0"/>
              </a:rPr>
              <a:t> </a:t>
            </a:r>
            <a:r>
              <a:rPr lang="en-US" sz="1800" dirty="0" smtClean="0">
                <a:solidFill>
                  <a:srgbClr val="FF0000"/>
                </a:solidFill>
                <a:latin typeface="Arial Black" panose="020B0A04020102020204" pitchFamily="34" charset="0"/>
              </a:rPr>
              <a:t>  </a:t>
            </a:r>
            <a:endParaRPr lang="en-US" sz="1600" dirty="0" smtClean="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Responsible </a:t>
            </a:r>
            <a:r>
              <a:rPr lang="en-US" sz="1600" dirty="0">
                <a:solidFill>
                  <a:schemeClr val="tx1"/>
                </a:solidFill>
                <a:latin typeface="Arial Black" panose="020B0A04020102020204" pitchFamily="34" charset="0"/>
              </a:rPr>
              <a:t>for transporting water and minerals</a:t>
            </a:r>
            <a:endParaRPr lang="en-US" sz="1600" dirty="0" smtClean="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endParaRPr lang="en-US" sz="1600" dirty="0">
              <a:solidFill>
                <a:schemeClr val="tx1"/>
              </a:solidFill>
              <a:latin typeface="Arial Black" panose="020B0A04020102020204" pitchFamily="34" charset="0"/>
            </a:endParaRPr>
          </a:p>
          <a:p>
            <a:pPr marL="627063" indent="341313">
              <a:buFont typeface="Courier New" panose="02070309020205020404" pitchFamily="49" charset="0"/>
              <a:buChar char="o"/>
              <a:tabLst>
                <a:tab pos="804863" algn="l"/>
              </a:tabLst>
            </a:pPr>
            <a:r>
              <a:rPr lang="en-US" sz="1600" dirty="0" smtClean="0">
                <a:solidFill>
                  <a:schemeClr val="tx1"/>
                </a:solidFill>
                <a:latin typeface="Arial Black" panose="020B0A04020102020204" pitchFamily="34" charset="0"/>
              </a:rPr>
              <a:t> Consists of:</a:t>
            </a:r>
          </a:p>
          <a:p>
            <a:pPr marL="627063" indent="341313">
              <a:buFont typeface="Courier New" panose="02070309020205020404" pitchFamily="49" charset="0"/>
              <a:buChar char="o"/>
              <a:tabLst>
                <a:tab pos="804863" algn="l"/>
              </a:tabLst>
            </a:pPr>
            <a:endParaRPr lang="en-US" sz="1600" dirty="0">
              <a:solidFill>
                <a:schemeClr val="tx1"/>
              </a:solidFill>
              <a:latin typeface="Arial Black" panose="020B0A04020102020204" pitchFamily="34" charset="0"/>
            </a:endParaRPr>
          </a:p>
          <a:p>
            <a:pPr marL="912813" indent="165100">
              <a:lnSpc>
                <a:spcPct val="120000"/>
              </a:lnSpc>
              <a:buFont typeface="Wingdings" panose="05000000000000000000" pitchFamily="2" charset="2"/>
              <a:buChar char="Ø"/>
              <a:tabLst>
                <a:tab pos="804863" algn="l"/>
              </a:tabLst>
            </a:pPr>
            <a:r>
              <a:rPr lang="en-US" sz="1600" dirty="0">
                <a:solidFill>
                  <a:schemeClr val="tx1"/>
                </a:solidFill>
                <a:latin typeface="Arial Black" panose="020B0A04020102020204" pitchFamily="34" charset="0"/>
              </a:rPr>
              <a:t> </a:t>
            </a:r>
            <a:r>
              <a:rPr lang="en-US" sz="1600" dirty="0">
                <a:solidFill>
                  <a:srgbClr val="0070C0"/>
                </a:solidFill>
                <a:latin typeface="Arial Black" panose="020B0A04020102020204" pitchFamily="34" charset="0"/>
              </a:rPr>
              <a:t>The </a:t>
            </a:r>
            <a:r>
              <a:rPr lang="en-US" sz="1600" dirty="0" err="1">
                <a:solidFill>
                  <a:srgbClr val="0070C0"/>
                </a:solidFill>
                <a:latin typeface="Arial Black" panose="020B0A04020102020204" pitchFamily="34" charset="0"/>
              </a:rPr>
              <a:t>pericycle</a:t>
            </a:r>
            <a:r>
              <a:rPr lang="en-US" sz="1600" dirty="0">
                <a:solidFill>
                  <a:srgbClr val="0070C0"/>
                </a:solidFill>
                <a:latin typeface="Arial Black" panose="020B0A04020102020204" pitchFamily="34" charset="0"/>
              </a:rPr>
              <a:t> </a:t>
            </a:r>
            <a:r>
              <a:rPr lang="en-US" sz="1600" dirty="0" smtClean="0">
                <a:solidFill>
                  <a:schemeClr val="tx1"/>
                </a:solidFill>
                <a:latin typeface="Arial Black" panose="020B0A04020102020204" pitchFamily="34" charset="0"/>
              </a:rPr>
              <a:t>: the </a:t>
            </a:r>
            <a:r>
              <a:rPr lang="en-US" sz="1600" dirty="0">
                <a:solidFill>
                  <a:schemeClr val="tx1"/>
                </a:solidFill>
                <a:latin typeface="Arial Black" panose="020B0A04020102020204" pitchFamily="34" charset="0"/>
              </a:rPr>
              <a:t>outermost layer of the stele, and consists of one or more rows of thin-walled </a:t>
            </a:r>
            <a:endParaRPr lang="en-US" sz="1600" dirty="0" smtClean="0">
              <a:solidFill>
                <a:schemeClr val="tx1"/>
              </a:solidFill>
              <a:latin typeface="Arial Black" panose="020B0A04020102020204" pitchFamily="34" charset="0"/>
            </a:endParaRPr>
          </a:p>
          <a:p>
            <a:pPr marL="912813">
              <a:lnSpc>
                <a:spcPct val="120000"/>
              </a:lnSpc>
              <a:tabLst>
                <a:tab pos="804863" algn="l"/>
              </a:tabLst>
            </a:pPr>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                               parenchyma cells</a:t>
            </a:r>
          </a:p>
          <a:p>
            <a:pPr marL="912813">
              <a:lnSpc>
                <a:spcPct val="120000"/>
              </a:lnSpc>
              <a:tabLst>
                <a:tab pos="804863" algn="l"/>
              </a:tabLst>
            </a:pPr>
            <a:endParaRPr lang="en-US" sz="1600" dirty="0" smtClean="0">
              <a:solidFill>
                <a:schemeClr val="tx1"/>
              </a:solidFill>
              <a:latin typeface="Arial Black" panose="020B0A04020102020204" pitchFamily="34" charset="0"/>
            </a:endParaRPr>
          </a:p>
          <a:p>
            <a:pPr marL="1198563" indent="-285750">
              <a:lnSpc>
                <a:spcPct val="120000"/>
              </a:lnSpc>
              <a:buFont typeface="Wingdings" panose="05000000000000000000" pitchFamily="2" charset="2"/>
              <a:buChar char="Ø"/>
              <a:tabLst>
                <a:tab pos="804863" algn="l"/>
              </a:tabLst>
            </a:pPr>
            <a:r>
              <a:rPr lang="en-US" sz="1600" dirty="0">
                <a:solidFill>
                  <a:srgbClr val="0070C0"/>
                </a:solidFill>
                <a:latin typeface="Arial Black" panose="020B0A04020102020204" pitchFamily="34" charset="0"/>
              </a:rPr>
              <a:t>The Xylem </a:t>
            </a:r>
            <a:r>
              <a:rPr lang="en-US" sz="1600" dirty="0">
                <a:solidFill>
                  <a:schemeClr val="tx1"/>
                </a:solidFill>
                <a:latin typeface="Arial Black" panose="020B0A04020102020204" pitchFamily="34" charset="0"/>
              </a:rPr>
              <a:t>: in dicot root is arranged in an ( X arch ) </a:t>
            </a:r>
            <a:r>
              <a:rPr lang="en-US" sz="1600" dirty="0" smtClean="0">
                <a:solidFill>
                  <a:schemeClr val="tx1"/>
                </a:solidFill>
                <a:latin typeface="Arial Black" panose="020B0A04020102020204" pitchFamily="34" charset="0"/>
              </a:rPr>
              <a:t>shape</a:t>
            </a:r>
          </a:p>
          <a:p>
            <a:pPr marL="1198563" indent="-285750">
              <a:lnSpc>
                <a:spcPct val="120000"/>
              </a:lnSpc>
              <a:buFont typeface="Wingdings" panose="05000000000000000000" pitchFamily="2" charset="2"/>
              <a:buChar char="Ø"/>
              <a:tabLst>
                <a:tab pos="804863" algn="l"/>
              </a:tabLst>
            </a:pPr>
            <a:endParaRPr lang="en-US" sz="1600" dirty="0">
              <a:solidFill>
                <a:schemeClr val="tx1"/>
              </a:solidFill>
              <a:latin typeface="Arial Black" panose="020B0A04020102020204" pitchFamily="34" charset="0"/>
            </a:endParaRPr>
          </a:p>
          <a:p>
            <a:pPr marL="1198563" indent="-285750">
              <a:lnSpc>
                <a:spcPct val="120000"/>
              </a:lnSpc>
              <a:buFont typeface="Wingdings" panose="05000000000000000000" pitchFamily="2" charset="2"/>
              <a:buChar char="Ø"/>
              <a:tabLst>
                <a:tab pos="804863" algn="l"/>
              </a:tabLst>
            </a:pPr>
            <a:endParaRPr lang="en-US" sz="1600" dirty="0" smtClean="0">
              <a:solidFill>
                <a:schemeClr val="tx1"/>
              </a:solidFill>
              <a:latin typeface="Arial Black" panose="020B0A04020102020204" pitchFamily="34" charset="0"/>
            </a:endParaRPr>
          </a:p>
          <a:p>
            <a:pPr marL="1198563" indent="-285750">
              <a:lnSpc>
                <a:spcPct val="120000"/>
              </a:lnSpc>
              <a:buFont typeface="Wingdings" panose="05000000000000000000" pitchFamily="2" charset="2"/>
              <a:buChar char="Ø"/>
              <a:tabLst>
                <a:tab pos="804863" algn="l"/>
              </a:tabLst>
            </a:pPr>
            <a:endParaRPr lang="ar-JO" sz="1600"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446976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746" y="2074460"/>
            <a:ext cx="11008284" cy="1392071"/>
          </a:xfrm>
        </p:spPr>
        <p:txBody>
          <a:bodyPr>
            <a:normAutofit/>
          </a:bodyPr>
          <a:lstStyle/>
          <a:p>
            <a:pPr marL="685800" indent="-58738">
              <a:buFont typeface="Wingdings" panose="05000000000000000000" pitchFamily="2" charset="2"/>
              <a:buChar char="Ø"/>
            </a:pPr>
            <a:r>
              <a:rPr lang="en-US" sz="1600" dirty="0">
                <a:solidFill>
                  <a:srgbClr val="0070C0"/>
                </a:solidFill>
                <a:latin typeface="Arial Black" panose="020B0A04020102020204" pitchFamily="34" charset="0"/>
              </a:rPr>
              <a:t>T</a:t>
            </a:r>
            <a:r>
              <a:rPr lang="en-US" sz="1600" dirty="0" smtClean="0">
                <a:solidFill>
                  <a:srgbClr val="0070C0"/>
                </a:solidFill>
                <a:latin typeface="Arial Black" panose="020B0A04020102020204" pitchFamily="34" charset="0"/>
              </a:rPr>
              <a:t>he </a:t>
            </a:r>
            <a:r>
              <a:rPr lang="en-US" sz="1600" dirty="0">
                <a:solidFill>
                  <a:srgbClr val="0070C0"/>
                </a:solidFill>
                <a:latin typeface="Arial Black" panose="020B0A04020102020204" pitchFamily="34" charset="0"/>
              </a:rPr>
              <a:t>phloem </a:t>
            </a:r>
            <a:r>
              <a:rPr lang="en-US" sz="1600" dirty="0" smtClean="0">
                <a:solidFill>
                  <a:srgbClr val="0070C0"/>
                </a:solidFill>
                <a:latin typeface="Arial Black" panose="020B0A04020102020204" pitchFamily="34" charset="0"/>
              </a:rPr>
              <a:t>tissues</a:t>
            </a:r>
            <a:r>
              <a:rPr lang="en-US" sz="1600" dirty="0" smtClean="0">
                <a:latin typeface="Arial Black" panose="020B0A04020102020204" pitchFamily="34" charset="0"/>
              </a:rPr>
              <a:t>: </a:t>
            </a:r>
            <a:r>
              <a:rPr lang="en-US" sz="1600" dirty="0">
                <a:latin typeface="Arial Black" panose="020B0A04020102020204" pitchFamily="34" charset="0"/>
              </a:rPr>
              <a:t>lay between the arms </a:t>
            </a:r>
            <a:r>
              <a:rPr lang="en-US" sz="1600" dirty="0" smtClean="0">
                <a:latin typeface="Arial Black" panose="020B0A04020102020204" pitchFamily="34" charset="0"/>
              </a:rPr>
              <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smtClean="0">
                <a:latin typeface="Arial Black" panose="020B0A04020102020204" pitchFamily="34" charset="0"/>
              </a:rPr>
              <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endParaRPr lang="ar-JO" sz="1600" dirty="0">
              <a:latin typeface="Arial Black" panose="020B0A04020102020204" pitchFamily="34" charset="0"/>
            </a:endParaRPr>
          </a:p>
        </p:txBody>
      </p:sp>
      <p:sp>
        <p:nvSpPr>
          <p:cNvPr id="3" name="Title 1"/>
          <p:cNvSpPr txBox="1">
            <a:spLocks/>
          </p:cNvSpPr>
          <p:nvPr/>
        </p:nvSpPr>
        <p:spPr>
          <a:xfrm>
            <a:off x="1001745" y="3182202"/>
            <a:ext cx="11390421" cy="2085833"/>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685800" indent="-58738">
              <a:buFont typeface="Wingdings" panose="05000000000000000000" pitchFamily="2" charset="2"/>
              <a:buChar char="Ø"/>
            </a:pPr>
            <a:r>
              <a:rPr lang="en-US" sz="1600" dirty="0">
                <a:solidFill>
                  <a:srgbClr val="0070C0"/>
                </a:solidFill>
                <a:latin typeface="Arial Black" panose="020B0A04020102020204" pitchFamily="34" charset="0"/>
              </a:rPr>
              <a:t>The </a:t>
            </a:r>
            <a:r>
              <a:rPr lang="en-US" sz="1600" dirty="0" smtClean="0">
                <a:solidFill>
                  <a:srgbClr val="0070C0"/>
                </a:solidFill>
                <a:latin typeface="Arial Black" panose="020B0A04020102020204" pitchFamily="34" charset="0"/>
              </a:rPr>
              <a:t>cambium</a:t>
            </a:r>
            <a:r>
              <a:rPr lang="en-US" sz="1600" dirty="0" smtClean="0">
                <a:solidFill>
                  <a:schemeClr val="tx1"/>
                </a:solidFill>
                <a:latin typeface="Arial Black" panose="020B0A04020102020204" pitchFamily="34" charset="0"/>
              </a:rPr>
              <a:t>: </a:t>
            </a:r>
          </a:p>
          <a:p>
            <a:pPr marL="627062"/>
            <a:endParaRPr lang="en-US" sz="1600" dirty="0" smtClean="0">
              <a:solidFill>
                <a:schemeClr val="tx1"/>
              </a:solidFill>
              <a:latin typeface="Arial Black" panose="020B0A04020102020204" pitchFamily="34" charset="0"/>
            </a:endParaRPr>
          </a:p>
          <a:p>
            <a:pPr marL="627062"/>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                        - Separates </a:t>
            </a:r>
            <a:r>
              <a:rPr lang="en-US" sz="1600" dirty="0">
                <a:solidFill>
                  <a:schemeClr val="tx1"/>
                </a:solidFill>
                <a:latin typeface="Arial Black" panose="020B0A04020102020204" pitchFamily="34" charset="0"/>
              </a:rPr>
              <a:t>the xylem and phloem tissues from each other</a:t>
            </a:r>
            <a:r>
              <a:rPr lang="en-US" sz="1600" dirty="0" smtClean="0">
                <a:solidFill>
                  <a:schemeClr val="tx1"/>
                </a:solidFill>
                <a:latin typeface="Arial Black" panose="020B0A04020102020204" pitchFamily="34" charset="0"/>
              </a:rPr>
              <a:t>.</a:t>
            </a:r>
          </a:p>
          <a:p>
            <a:pPr marL="627062"/>
            <a:endParaRPr lang="en-US" sz="1600" dirty="0" smtClean="0">
              <a:solidFill>
                <a:schemeClr val="tx1"/>
              </a:solidFill>
              <a:latin typeface="Arial Black" panose="020B0A04020102020204" pitchFamily="34" charset="0"/>
            </a:endParaRPr>
          </a:p>
          <a:p>
            <a:pPr marL="627062"/>
            <a:r>
              <a:rPr lang="en-US" sz="1600" dirty="0" smtClean="0">
                <a:solidFill>
                  <a:schemeClr val="tx1"/>
                </a:solidFill>
                <a:latin typeface="Arial Black" panose="020B0A04020102020204" pitchFamily="34" charset="0"/>
              </a:rPr>
              <a:t>                         </a:t>
            </a:r>
            <a:r>
              <a:rPr lang="en-US" sz="1600" dirty="0">
                <a:solidFill>
                  <a:schemeClr val="tx1"/>
                </a:solidFill>
                <a:latin typeface="Arial Black" panose="020B0A04020102020204" pitchFamily="34" charset="0"/>
              </a:rPr>
              <a:t>- Functions in the formation of the secondary growth of xylem and phloem tissues.</a:t>
            </a:r>
            <a:br>
              <a:rPr lang="en-US" sz="1600" dirty="0">
                <a:solidFill>
                  <a:schemeClr val="tx1"/>
                </a:solidFill>
                <a:latin typeface="Arial Black" panose="020B0A04020102020204" pitchFamily="34" charset="0"/>
              </a:rPr>
            </a:br>
            <a:r>
              <a:rPr lang="en-US" sz="1600" dirty="0">
                <a:solidFill>
                  <a:schemeClr val="tx1"/>
                </a:solidFill>
                <a:latin typeface="Arial Black" panose="020B0A04020102020204" pitchFamily="34" charset="0"/>
              </a:rPr>
              <a:t/>
            </a:r>
            <a:br>
              <a:rPr lang="en-US" sz="1600" dirty="0">
                <a:solidFill>
                  <a:schemeClr val="tx1"/>
                </a:solidFill>
                <a:latin typeface="Arial Black" panose="020B0A04020102020204" pitchFamily="34" charset="0"/>
              </a:rPr>
            </a:br>
            <a:endParaRPr lang="en-US" sz="1600" dirty="0">
              <a:solidFill>
                <a:schemeClr val="tx1"/>
              </a:solidFill>
              <a:latin typeface="Arial Black" panose="020B0A04020102020204" pitchFamily="34" charset="0"/>
            </a:endParaRPr>
          </a:p>
          <a:p>
            <a:pPr marL="627062"/>
            <a:endParaRPr lang="en-US" sz="1600" dirty="0" smtClean="0">
              <a:solidFill>
                <a:schemeClr val="tx1"/>
              </a:solidFill>
              <a:latin typeface="Arial Black" panose="020B0A04020102020204" pitchFamily="34" charset="0"/>
            </a:endParaRPr>
          </a:p>
          <a:p>
            <a:pPr marL="627062"/>
            <a:endParaRPr lang="en-US" sz="1600" dirty="0">
              <a:solidFill>
                <a:schemeClr val="tx1"/>
              </a:solidFill>
              <a:latin typeface="Arial Black" panose="020B0A04020102020204" pitchFamily="34" charset="0"/>
            </a:endParaRPr>
          </a:p>
          <a:p>
            <a:pPr marL="912812" indent="-285750">
              <a:buFont typeface="Wingdings" panose="05000000000000000000" pitchFamily="2" charset="2"/>
              <a:buChar char="Ø"/>
            </a:pPr>
            <a:r>
              <a:rPr lang="en-US" sz="1600" dirty="0" smtClean="0">
                <a:latin typeface="Arial Black" panose="020B0A04020102020204" pitchFamily="34" charset="0"/>
              </a:rPr>
              <a:t>Some times Dicot roots contains </a:t>
            </a:r>
            <a:r>
              <a:rPr lang="en-US" sz="1600" dirty="0" smtClean="0">
                <a:solidFill>
                  <a:srgbClr val="0070C0"/>
                </a:solidFill>
                <a:latin typeface="Arial Black" panose="020B0A04020102020204" pitchFamily="34" charset="0"/>
              </a:rPr>
              <a:t>Pith</a:t>
            </a:r>
            <a:r>
              <a:rPr lang="en-US" sz="1600" dirty="0" smtClean="0">
                <a:latin typeface="Arial Black" panose="020B0A04020102020204" pitchFamily="34" charset="0"/>
              </a:rPr>
              <a:t> in the center of the stele, made up from Parenchyma</a:t>
            </a:r>
            <a:br>
              <a:rPr lang="en-US" sz="1600" dirty="0" smtClean="0">
                <a:latin typeface="Arial Black" panose="020B0A04020102020204" pitchFamily="34" charset="0"/>
              </a:rPr>
            </a:br>
            <a:r>
              <a:rPr lang="en-US" sz="1600" dirty="0" smtClean="0">
                <a:latin typeface="Arial Black" panose="020B0A04020102020204" pitchFamily="34" charset="0"/>
              </a:rPr>
              <a:t/>
            </a:r>
            <a:br>
              <a:rPr lang="en-US" sz="1600" dirty="0" smtClean="0">
                <a:latin typeface="Arial Black" panose="020B0A04020102020204" pitchFamily="34" charset="0"/>
              </a:rPr>
            </a:br>
            <a:endParaRPr lang="ar-JO" sz="1600" dirty="0">
              <a:latin typeface="Arial Black" panose="020B0A04020102020204" pitchFamily="34" charset="0"/>
            </a:endParaRPr>
          </a:p>
        </p:txBody>
      </p:sp>
    </p:spTree>
    <p:extLst>
      <p:ext uri="{BB962C8B-B14F-4D97-AF65-F5344CB8AC3E}">
        <p14:creationId xmlns:p14="http://schemas.microsoft.com/office/powerpoint/2010/main" val="25375438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3632" y="900753"/>
            <a:ext cx="10058400" cy="686482"/>
          </a:xfrm>
        </p:spPr>
        <p:txBody>
          <a:bodyPr>
            <a:normAutofit/>
          </a:bodyPr>
          <a:lstStyle/>
          <a:p>
            <a:pPr algn="ctr"/>
            <a:r>
              <a:rPr lang="en-US" sz="2400" b="1" dirty="0">
                <a:latin typeface="Arial Black" panose="020B0A04020102020204" pitchFamily="34" charset="0"/>
                <a:ea typeface="Times New Roman" panose="02020603050405020304" pitchFamily="18" charset="0"/>
                <a:cs typeface="Times New Roman" panose="02020603050405020304" pitchFamily="18" charset="0"/>
              </a:rPr>
              <a:t>Monocot Root </a:t>
            </a:r>
            <a:endParaRPr lang="ar-JO" sz="2400" dirty="0">
              <a:latin typeface="Arial Black" panose="020B0A04020102020204" pitchFamily="34" charset="0"/>
            </a:endParaRPr>
          </a:p>
        </p:txBody>
      </p:sp>
      <p:sp>
        <p:nvSpPr>
          <p:cNvPr id="3" name="Title 1"/>
          <p:cNvSpPr txBox="1">
            <a:spLocks/>
          </p:cNvSpPr>
          <p:nvPr/>
        </p:nvSpPr>
        <p:spPr>
          <a:xfrm>
            <a:off x="512701" y="1967551"/>
            <a:ext cx="11115192" cy="360073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342900" indent="-342900">
              <a:buFont typeface="Arial" panose="020B0604020202020204" pitchFamily="34" charset="0"/>
              <a:buChar char="•"/>
            </a:pP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Surrounded by epidermis</a:t>
            </a:r>
          </a:p>
          <a:p>
            <a:pPr marL="342900" indent="-342900">
              <a:buFont typeface="Arial" panose="020B0604020202020204" pitchFamily="34" charset="0"/>
              <a:buChar char="•"/>
            </a:pPr>
            <a:endParaRPr lang="en-US" sz="18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Ground layer </a:t>
            </a:r>
            <a:r>
              <a:rPr lang="en-US" sz="1800" b="1" dirty="0" smtClean="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differentiate into</a:t>
            </a: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 </a:t>
            </a:r>
            <a:r>
              <a:rPr lang="en-US" sz="1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Cortex</a:t>
            </a: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 </a:t>
            </a:r>
            <a:r>
              <a:rPr lang="en-US" sz="1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Endodermis</a:t>
            </a: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 </a:t>
            </a:r>
            <a:r>
              <a:rPr lang="en-US" sz="1800" b="1" dirty="0" err="1"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Pericycle</a:t>
            </a: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 and </a:t>
            </a:r>
            <a:r>
              <a:rPr lang="en-US" sz="1800" b="1" dirty="0" smtClean="0">
                <a:solidFill>
                  <a:srgbClr val="FF0000"/>
                </a:solidFill>
                <a:latin typeface="Arial Black" panose="020B0A04020102020204" pitchFamily="34" charset="0"/>
                <a:ea typeface="Times New Roman" panose="02020603050405020304" pitchFamily="18" charset="0"/>
                <a:cs typeface="Times New Roman" panose="02020603050405020304" pitchFamily="18" charset="0"/>
              </a:rPr>
              <a:t>Pith</a:t>
            </a:r>
          </a:p>
          <a:p>
            <a:pPr marL="342900" indent="-342900">
              <a:buFont typeface="Arial" panose="020B0604020202020204" pitchFamily="34" charset="0"/>
              <a:buChar char="•"/>
            </a:pPr>
            <a:endParaRPr lang="en-US" sz="1800" b="1" dirty="0">
              <a:solidFill>
                <a:srgbClr val="FF0000"/>
              </a:solidFill>
              <a:latin typeface="Arial Black" panose="020B0A0402010202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Vascular </a:t>
            </a:r>
            <a:r>
              <a:rPr lang="en-US" sz="18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bundle: </a:t>
            </a:r>
            <a:r>
              <a:rPr lang="en-US" sz="1600" b="1" dirty="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made </a:t>
            </a:r>
            <a:r>
              <a:rPr lang="en-US" sz="1600" b="1" dirty="0" smtClean="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up </a:t>
            </a:r>
            <a:r>
              <a:rPr lang="en-US" sz="1600" b="1" dirty="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from 8 or more alternate bundles of xylem and phloem arranged in an </a:t>
            </a:r>
            <a:endParaRPr lang="en-US" sz="1600" b="1" dirty="0" smtClean="0">
              <a:solidFill>
                <a:schemeClr val="tx1"/>
              </a:solidFill>
              <a:latin typeface="Arial Black" panose="020B0A04020102020204" pitchFamily="34" charset="0"/>
              <a:ea typeface="Times New Roman" panose="02020603050405020304" pitchFamily="18" charset="0"/>
              <a:cs typeface="Times New Roman" panose="02020603050405020304" pitchFamily="18" charset="0"/>
            </a:endParaRPr>
          </a:p>
          <a:p>
            <a:r>
              <a:rPr lang="en-US" sz="1600" b="1" dirty="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 </a:t>
            </a:r>
            <a:r>
              <a:rPr lang="en-US" sz="1600" b="1" dirty="0" smtClean="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                                     alternate axis</a:t>
            </a:r>
          </a:p>
          <a:p>
            <a:endParaRPr lang="en-US" sz="1600" b="1" dirty="0">
              <a:solidFill>
                <a:schemeClr val="tx1"/>
              </a:solidFill>
              <a:latin typeface="Arial Black" panose="020B0A040201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No</a:t>
            </a:r>
            <a:r>
              <a:rPr lang="en-US" sz="1600" b="1" dirty="0" smtClean="0">
                <a:solidFill>
                  <a:schemeClr val="tx1"/>
                </a:solidFill>
                <a:latin typeface="Arial Black" panose="020B0A04020102020204" pitchFamily="34" charset="0"/>
                <a:ea typeface="Times New Roman" panose="02020603050405020304" pitchFamily="18" charset="0"/>
                <a:cs typeface="Times New Roman" panose="02020603050405020304" pitchFamily="18" charset="0"/>
              </a:rPr>
              <a:t> </a:t>
            </a:r>
            <a:r>
              <a:rPr lang="en-US" sz="16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vascular </a:t>
            </a:r>
            <a:r>
              <a:rPr lang="en-US" sz="16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cambium</a:t>
            </a:r>
          </a:p>
          <a:p>
            <a:pPr marL="285750" indent="-285750">
              <a:buFont typeface="Arial" panose="020B0604020202020204" pitchFamily="34" charset="0"/>
              <a:buChar char="•"/>
            </a:pPr>
            <a:endParaRPr lang="en-US" sz="16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 </a:t>
            </a:r>
            <a:r>
              <a:rPr lang="en-US" sz="16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No </a:t>
            </a:r>
            <a:r>
              <a:rPr lang="en-US" sz="1600" b="1" dirty="0">
                <a:solidFill>
                  <a:srgbClr val="0070C0"/>
                </a:solidFill>
                <a:latin typeface="Arial Black" panose="020B0A04020102020204" pitchFamily="34" charset="0"/>
                <a:ea typeface="Times New Roman" panose="02020603050405020304" pitchFamily="18" charset="0"/>
                <a:cs typeface="Times New Roman" panose="02020603050405020304" pitchFamily="18" charset="0"/>
              </a:rPr>
              <a:t>secondary growth </a:t>
            </a:r>
            <a:endParaRPr lang="en-US" sz="16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endParaRPr>
          </a:p>
          <a:p>
            <a:endParaRPr lang="en-US" sz="1600" b="1" dirty="0" smtClean="0">
              <a:solidFill>
                <a:srgbClr val="0070C0"/>
              </a:solidFill>
              <a:latin typeface="Arial Black" panose="020B0A04020102020204" pitchFamily="34" charset="0"/>
              <a:ea typeface="Times New Roman" panose="02020603050405020304" pitchFamily="18" charset="0"/>
              <a:cs typeface="Times New Roman" panose="02020603050405020304" pitchFamily="18" charset="0"/>
            </a:endParaRPr>
          </a:p>
          <a:p>
            <a:endParaRPr lang="en-US" sz="2400" b="1" dirty="0">
              <a:solidFill>
                <a:srgbClr val="0070C0"/>
              </a:solidFill>
              <a:latin typeface="Arial Black" panose="020B0A04020102020204" pitchFamily="34" charset="0"/>
              <a:cs typeface="Times New Roman" panose="02020603050405020304" pitchFamily="18" charset="0"/>
            </a:endParaRPr>
          </a:p>
          <a:p>
            <a:pPr marL="342900" indent="-342900">
              <a:buFont typeface="Arial" panose="020B0604020202020204" pitchFamily="34" charset="0"/>
              <a:buChar char="•"/>
            </a:pPr>
            <a:endParaRPr lang="ar-JO" sz="2400"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16249729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55092"/>
            <a:ext cx="10058400" cy="559559"/>
          </a:xfrm>
        </p:spPr>
        <p:txBody>
          <a:bodyPr>
            <a:normAutofit/>
          </a:bodyPr>
          <a:lstStyle/>
          <a:p>
            <a:pPr algn="ctr"/>
            <a:r>
              <a:rPr lang="en-US" sz="2000" dirty="0">
                <a:latin typeface="Arial Black" panose="020B0A04020102020204" pitchFamily="34" charset="0"/>
              </a:rPr>
              <a:t>The differences between Dicot and Monocot Root </a:t>
            </a:r>
            <a:endParaRPr lang="ar-JO" sz="2000" dirty="0">
              <a:latin typeface="Arial Black" panose="020B0A040201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51678629"/>
              </p:ext>
            </p:extLst>
          </p:nvPr>
        </p:nvGraphicFramePr>
        <p:xfrm>
          <a:off x="518615" y="1378423"/>
          <a:ext cx="11436823" cy="4954138"/>
        </p:xfrm>
        <a:graphic>
          <a:graphicData uri="http://schemas.openxmlformats.org/drawingml/2006/table">
            <a:tbl>
              <a:tblPr firstRow="1" firstCol="1" bandRow="1">
                <a:tableStyleId>{5C22544A-7EE6-4342-B048-85BDC9FD1C3A}</a:tableStyleId>
              </a:tblPr>
              <a:tblGrid>
                <a:gridCol w="6094989">
                  <a:extLst>
                    <a:ext uri="{9D8B030D-6E8A-4147-A177-3AD203B41FA5}">
                      <a16:colId xmlns:a16="http://schemas.microsoft.com/office/drawing/2014/main" val="2775551991"/>
                    </a:ext>
                  </a:extLst>
                </a:gridCol>
                <a:gridCol w="5341834">
                  <a:extLst>
                    <a:ext uri="{9D8B030D-6E8A-4147-A177-3AD203B41FA5}">
                      <a16:colId xmlns:a16="http://schemas.microsoft.com/office/drawing/2014/main" val="1936836142"/>
                    </a:ext>
                  </a:extLst>
                </a:gridCol>
              </a:tblGrid>
              <a:tr h="337725">
                <a:tc>
                  <a:txBody>
                    <a:bodyPr/>
                    <a:lstStyle/>
                    <a:p>
                      <a:pPr algn="l" rtl="0">
                        <a:lnSpc>
                          <a:spcPct val="105000"/>
                        </a:lnSpc>
                        <a:spcAft>
                          <a:spcPts val="800"/>
                        </a:spcAft>
                      </a:pPr>
                      <a:r>
                        <a:rPr lang="en-US" sz="1600" dirty="0">
                          <a:effectLst/>
                          <a:latin typeface="Arial Black" panose="020B0A04020102020204" pitchFamily="34" charset="0"/>
                        </a:rPr>
                        <a:t>Monocot Root </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algn="l" rtl="0">
                        <a:lnSpc>
                          <a:spcPct val="105000"/>
                        </a:lnSpc>
                        <a:spcAft>
                          <a:spcPts val="800"/>
                        </a:spcAft>
                      </a:pPr>
                      <a:r>
                        <a:rPr lang="en-US" sz="1600">
                          <a:effectLst/>
                          <a:latin typeface="Arial Black" panose="020B0A04020102020204" pitchFamily="34" charset="0"/>
                        </a:rPr>
                        <a:t>Dicot Root</a:t>
                      </a:r>
                      <a:endParaRPr lang="en-US" sz="16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1113463"/>
                  </a:ext>
                </a:extLst>
              </a:tr>
              <a:tr h="888748">
                <a:tc>
                  <a:txBody>
                    <a:bodyPr/>
                    <a:lstStyle/>
                    <a:p>
                      <a:pPr marL="342900" lvl="0" indent="-342900" algn="l" rtl="0">
                        <a:lnSpc>
                          <a:spcPct val="105000"/>
                        </a:lnSpc>
                        <a:spcAft>
                          <a:spcPts val="800"/>
                        </a:spcAft>
                        <a:buFont typeface="Symbol" panose="05050102010706020507" pitchFamily="18" charset="2"/>
                        <a:buChar char=""/>
                      </a:pPr>
                      <a:r>
                        <a:rPr lang="en-US" sz="1600" dirty="0" err="1">
                          <a:effectLst/>
                          <a:latin typeface="Arial Black" panose="020B0A04020102020204" pitchFamily="34" charset="0"/>
                        </a:rPr>
                        <a:t>Pericycle</a:t>
                      </a:r>
                      <a:r>
                        <a:rPr lang="en-US" sz="1600" dirty="0">
                          <a:effectLst/>
                          <a:latin typeface="Arial Black" panose="020B0A04020102020204" pitchFamily="34" charset="0"/>
                        </a:rPr>
                        <a:t> produces only lateral roots.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dirty="0" err="1">
                          <a:effectLst/>
                          <a:latin typeface="Arial Black" panose="020B0A04020102020204" pitchFamily="34" charset="0"/>
                        </a:rPr>
                        <a:t>Pericycle</a:t>
                      </a:r>
                      <a:r>
                        <a:rPr lang="en-US" sz="1600" dirty="0">
                          <a:effectLst/>
                          <a:latin typeface="Arial Black" panose="020B0A04020102020204" pitchFamily="34" charset="0"/>
                        </a:rPr>
                        <a:t> give rise to lateral root, cork cambium, and part of vascular cambium.</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666285259"/>
                  </a:ext>
                </a:extLst>
              </a:tr>
              <a:tr h="888748">
                <a:tc>
                  <a:txBody>
                    <a:bodyPr/>
                    <a:lstStyle/>
                    <a:p>
                      <a:pPr marL="342900" lvl="0" indent="-342900" algn="l" rtl="0">
                        <a:lnSpc>
                          <a:spcPct val="105000"/>
                        </a:lnSpc>
                        <a:spcAft>
                          <a:spcPts val="800"/>
                        </a:spcAft>
                        <a:buFont typeface="Symbol" panose="05050102010706020507" pitchFamily="18" charset="2"/>
                        <a:buChar char=""/>
                      </a:pPr>
                      <a:r>
                        <a:rPr lang="en-US" sz="1600" dirty="0">
                          <a:effectLst/>
                          <a:latin typeface="Arial Black" panose="020B0A04020102020204" pitchFamily="34" charset="0"/>
                        </a:rPr>
                        <a:t>Number of xylem and phloem numerous (8 to many).</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a:effectLst/>
                          <a:latin typeface="Arial Black" panose="020B0A04020102020204" pitchFamily="34" charset="0"/>
                        </a:rPr>
                        <a:t>Number of xylem and phloem groups limited (2-6 or 8)</a:t>
                      </a:r>
                      <a:endParaRPr lang="en-US" sz="16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658659465"/>
                  </a:ext>
                </a:extLst>
              </a:tr>
              <a:tr h="888748">
                <a:tc>
                  <a:txBody>
                    <a:bodyPr/>
                    <a:lstStyle/>
                    <a:p>
                      <a:pPr marL="342900" lvl="0" indent="-342900" algn="l" rtl="0">
                        <a:lnSpc>
                          <a:spcPct val="105000"/>
                        </a:lnSpc>
                        <a:spcAft>
                          <a:spcPts val="800"/>
                        </a:spcAft>
                        <a:buFont typeface="Symbol" panose="05050102010706020507" pitchFamily="18" charset="2"/>
                        <a:buChar char=""/>
                      </a:pPr>
                      <a:r>
                        <a:rPr lang="en-US" sz="1600" dirty="0" err="1">
                          <a:effectLst/>
                          <a:latin typeface="Arial Black" panose="020B0A04020102020204" pitchFamily="34" charset="0"/>
                        </a:rPr>
                        <a:t>Xyelm</a:t>
                      </a:r>
                      <a:r>
                        <a:rPr lang="en-US" sz="1600" dirty="0">
                          <a:effectLst/>
                          <a:latin typeface="Arial Black" panose="020B0A04020102020204" pitchFamily="34" charset="0"/>
                        </a:rPr>
                        <a:t> vessels are oval or rounded.</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dirty="0">
                          <a:effectLst/>
                          <a:latin typeface="Arial Black" panose="020B0A04020102020204" pitchFamily="34" charset="0"/>
                        </a:rPr>
                        <a:t>Xylem vessels angular or polygonal in transverse section</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468978729"/>
                  </a:ext>
                </a:extLst>
              </a:tr>
              <a:tr h="540867">
                <a:tc>
                  <a:txBody>
                    <a:bodyPr/>
                    <a:lstStyle/>
                    <a:p>
                      <a:pPr marL="342900" lvl="0" indent="-342900" algn="l" rtl="0">
                        <a:lnSpc>
                          <a:spcPct val="105000"/>
                        </a:lnSpc>
                        <a:spcAft>
                          <a:spcPts val="800"/>
                        </a:spcAft>
                        <a:buFont typeface="Symbol" panose="05050102010706020507" pitchFamily="18" charset="2"/>
                        <a:buChar char=""/>
                      </a:pPr>
                      <a:r>
                        <a:rPr lang="en-US" sz="1600">
                          <a:effectLst/>
                          <a:latin typeface="Arial Black" panose="020B0A04020102020204" pitchFamily="34" charset="0"/>
                        </a:rPr>
                        <a:t>Pith is large and well developed.</a:t>
                      </a:r>
                      <a:endParaRPr lang="en-US" sz="16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dirty="0">
                          <a:effectLst/>
                          <a:latin typeface="Arial Black" panose="020B0A04020102020204" pitchFamily="34" charset="0"/>
                        </a:rPr>
                        <a:t>Pith is absent or very small.</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792053773"/>
                  </a:ext>
                </a:extLst>
              </a:tr>
              <a:tr h="520554">
                <a:tc>
                  <a:txBody>
                    <a:bodyPr/>
                    <a:lstStyle/>
                    <a:p>
                      <a:pPr marL="342900" lvl="0" indent="-342900" algn="l" rtl="0">
                        <a:lnSpc>
                          <a:spcPct val="105000"/>
                        </a:lnSpc>
                        <a:spcAft>
                          <a:spcPts val="800"/>
                        </a:spcAft>
                        <a:buFont typeface="Symbol" panose="05050102010706020507" pitchFamily="18" charset="2"/>
                        <a:buChar char=""/>
                      </a:pPr>
                      <a:r>
                        <a:rPr lang="en-US" sz="1600">
                          <a:effectLst/>
                          <a:latin typeface="Arial Black" panose="020B0A04020102020204" pitchFamily="34" charset="0"/>
                        </a:rPr>
                        <a:t>No secondary growth.</a:t>
                      </a:r>
                      <a:endParaRPr lang="en-US" sz="16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dirty="0">
                          <a:effectLst/>
                          <a:latin typeface="Arial Black" panose="020B0A04020102020204" pitchFamily="34" charset="0"/>
                        </a:rPr>
                        <a:t>There is secondary growth.</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1779686204"/>
                  </a:ext>
                </a:extLst>
              </a:tr>
              <a:tr h="888748">
                <a:tc>
                  <a:txBody>
                    <a:bodyPr/>
                    <a:lstStyle/>
                    <a:p>
                      <a:pPr marL="342900" lvl="0" indent="-342900" algn="l" rtl="0">
                        <a:lnSpc>
                          <a:spcPct val="105000"/>
                        </a:lnSpc>
                        <a:spcAft>
                          <a:spcPts val="800"/>
                        </a:spcAft>
                        <a:buFont typeface="Symbol" panose="05050102010706020507" pitchFamily="18" charset="2"/>
                        <a:buChar char=""/>
                      </a:pPr>
                      <a:r>
                        <a:rPr lang="en-US" sz="1600">
                          <a:effectLst/>
                          <a:latin typeface="Arial Black" panose="020B0A04020102020204" pitchFamily="34" charset="0"/>
                        </a:rPr>
                        <a:t>The conjunctive tissue is sclerenchymatous and doesn't produce vascular cambium.</a:t>
                      </a:r>
                      <a:endParaRPr lang="en-US" sz="16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800"/>
                        </a:spcAft>
                        <a:buFont typeface="Symbol" panose="05050102010706020507" pitchFamily="18" charset="2"/>
                        <a:buChar char=""/>
                      </a:pPr>
                      <a:r>
                        <a:rPr lang="en-US" sz="1600" dirty="0">
                          <a:effectLst/>
                          <a:latin typeface="Arial Black" panose="020B0A04020102020204" pitchFamily="34" charset="0"/>
                        </a:rPr>
                        <a:t>The conjunctive tissue is </a:t>
                      </a:r>
                      <a:r>
                        <a:rPr lang="en-US" sz="1600" dirty="0" err="1">
                          <a:effectLst/>
                          <a:latin typeface="Arial Black" panose="020B0A04020102020204" pitchFamily="34" charset="0"/>
                        </a:rPr>
                        <a:t>parenchymatous</a:t>
                      </a:r>
                      <a:r>
                        <a:rPr lang="en-US" sz="1600" dirty="0">
                          <a:effectLst/>
                          <a:latin typeface="Arial Black" panose="020B0A04020102020204" pitchFamily="34" charset="0"/>
                        </a:rPr>
                        <a:t> and  produces vascular cambium.</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853840240"/>
                  </a:ext>
                </a:extLst>
              </a:tr>
            </a:tbl>
          </a:graphicData>
        </a:graphic>
      </p:graphicFrame>
    </p:spTree>
    <p:extLst>
      <p:ext uri="{BB962C8B-B14F-4D97-AF65-F5344CB8AC3E}">
        <p14:creationId xmlns:p14="http://schemas.microsoft.com/office/powerpoint/2010/main" val="32196656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582" y="1050878"/>
            <a:ext cx="7206019" cy="686482"/>
          </a:xfrm>
        </p:spPr>
        <p:txBody>
          <a:bodyPr>
            <a:normAutofit/>
          </a:bodyPr>
          <a:lstStyle/>
          <a:p>
            <a:pPr algn="ctr"/>
            <a:r>
              <a:rPr lang="en-US" sz="2400" dirty="0" smtClean="0">
                <a:latin typeface="Arial Black" panose="020B0A04020102020204" pitchFamily="34" charset="0"/>
              </a:rPr>
              <a:t>Stem Anatomy</a:t>
            </a:r>
            <a:endParaRPr lang="ar-JO" sz="2400" dirty="0">
              <a:latin typeface="Arial Black" panose="020B0A040201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1" y="0"/>
            <a:ext cx="3962400" cy="6346208"/>
          </a:xfrm>
          <a:prstGeom prst="rect">
            <a:avLst/>
          </a:prstGeom>
        </p:spPr>
      </p:pic>
      <p:sp>
        <p:nvSpPr>
          <p:cNvPr id="4" name="Title 1"/>
          <p:cNvSpPr txBox="1">
            <a:spLocks/>
          </p:cNvSpPr>
          <p:nvPr/>
        </p:nvSpPr>
        <p:spPr>
          <a:xfrm>
            <a:off x="545911" y="1737359"/>
            <a:ext cx="7683690" cy="4608850"/>
          </a:xfrm>
          <a:prstGeom prst="rect">
            <a:avLst/>
          </a:prstGeom>
        </p:spPr>
        <p:txBody>
          <a:bodyPr vert="horz" lIns="91440" tIns="45720" rIns="91440" bIns="45720" rtlCol="0" anchor="b">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95250" indent="-69850">
              <a:buFont typeface="Wingdings" panose="05000000000000000000" pitchFamily="2" charset="2"/>
              <a:buChar char="v"/>
            </a:pPr>
            <a:r>
              <a:rPr lang="en-US" sz="1600" dirty="0" smtClean="0">
                <a:latin typeface="Arial Black" panose="020B0A04020102020204" pitchFamily="34" charset="0"/>
              </a:rPr>
              <a:t> </a:t>
            </a:r>
            <a:r>
              <a:rPr lang="en-US" sz="1600" dirty="0" smtClean="0">
                <a:solidFill>
                  <a:srgbClr val="0070C0"/>
                </a:solidFill>
                <a:latin typeface="Arial Black" panose="020B0A04020102020204" pitchFamily="34" charset="0"/>
              </a:rPr>
              <a:t>Stem </a:t>
            </a:r>
            <a:r>
              <a:rPr lang="en-US" sz="1600" dirty="0" smtClean="0">
                <a:latin typeface="Arial Black" panose="020B0A04020102020204" pitchFamily="34" charset="0"/>
              </a:rPr>
              <a:t>: </a:t>
            </a:r>
          </a:p>
          <a:p>
            <a:pPr marL="25400"/>
            <a:r>
              <a:rPr lang="en-US" sz="1600" dirty="0">
                <a:latin typeface="Arial Black" panose="020B0A04020102020204" pitchFamily="34" charset="0"/>
              </a:rPr>
              <a:t> </a:t>
            </a:r>
            <a:r>
              <a:rPr lang="en-US" sz="1600" dirty="0" smtClean="0">
                <a:latin typeface="Arial Black" panose="020B0A04020102020204" pitchFamily="34" charset="0"/>
              </a:rPr>
              <a:t>       </a:t>
            </a:r>
          </a:p>
          <a:p>
            <a:pPr marL="311150" indent="139700">
              <a:buFont typeface="Wingdings" panose="05000000000000000000" pitchFamily="2" charset="2"/>
              <a:buChar char="§"/>
            </a:pPr>
            <a:r>
              <a:rPr lang="en-US" sz="1600" dirty="0" smtClean="0">
                <a:latin typeface="Arial Black" panose="020B0A04020102020204" pitchFamily="34" charset="0"/>
              </a:rPr>
              <a:t> Develops </a:t>
            </a:r>
            <a:r>
              <a:rPr lang="en-US" sz="1600" dirty="0">
                <a:latin typeface="Arial Black" panose="020B0A04020102020204" pitchFamily="34" charset="0"/>
              </a:rPr>
              <a:t>from the </a:t>
            </a:r>
            <a:r>
              <a:rPr lang="en-US" sz="1600" dirty="0" err="1">
                <a:latin typeface="Arial Black" panose="020B0A04020102020204" pitchFamily="34" charset="0"/>
              </a:rPr>
              <a:t>plumule</a:t>
            </a:r>
            <a:r>
              <a:rPr lang="en-US" sz="1600" dirty="0">
                <a:latin typeface="Arial Black" panose="020B0A04020102020204" pitchFamily="34" charset="0"/>
              </a:rPr>
              <a:t> of the </a:t>
            </a:r>
            <a:r>
              <a:rPr lang="en-US" sz="1600" dirty="0" smtClean="0">
                <a:latin typeface="Arial Black" panose="020B0A04020102020204" pitchFamily="34" charset="0"/>
              </a:rPr>
              <a:t>embryo</a:t>
            </a:r>
          </a:p>
          <a:p>
            <a:pPr marL="311150" indent="139700">
              <a:buFont typeface="Wingdings" panose="05000000000000000000" pitchFamily="2" charset="2"/>
              <a:buChar char="§"/>
            </a:pPr>
            <a:endParaRPr lang="en-US" sz="1600" dirty="0">
              <a:latin typeface="Arial Black" panose="020B0A04020102020204" pitchFamily="34" charset="0"/>
            </a:endParaRPr>
          </a:p>
          <a:p>
            <a:pPr marL="311150" indent="139700">
              <a:buFont typeface="Wingdings" panose="05000000000000000000" pitchFamily="2" charset="2"/>
              <a:buChar char="§"/>
            </a:pPr>
            <a:r>
              <a:rPr lang="en-US" sz="1600" dirty="0">
                <a:latin typeface="Arial Black" panose="020B0A04020102020204" pitchFamily="34" charset="0"/>
              </a:rPr>
              <a:t> </a:t>
            </a:r>
            <a:r>
              <a:rPr lang="en-US" sz="1600" dirty="0" smtClean="0">
                <a:latin typeface="Arial Black" panose="020B0A04020102020204" pitchFamily="34" charset="0"/>
              </a:rPr>
              <a:t>The </a:t>
            </a:r>
            <a:r>
              <a:rPr lang="en-US" sz="1600" dirty="0">
                <a:latin typeface="Arial Black" panose="020B0A04020102020204" pitchFamily="34" charset="0"/>
              </a:rPr>
              <a:t>lateral branches develop from the </a:t>
            </a:r>
            <a:r>
              <a:rPr lang="en-US" sz="1600" dirty="0" smtClean="0">
                <a:latin typeface="Arial Black" panose="020B0A04020102020204" pitchFamily="34" charset="0"/>
              </a:rPr>
              <a:t>buds</a:t>
            </a:r>
          </a:p>
          <a:p>
            <a:pPr marL="311150" indent="139700">
              <a:buFont typeface="Wingdings" panose="05000000000000000000" pitchFamily="2" charset="2"/>
              <a:buChar char="§"/>
            </a:pPr>
            <a:endParaRPr lang="en-US" sz="1600" dirty="0">
              <a:latin typeface="Arial Black" panose="020B0A04020102020204" pitchFamily="34" charset="0"/>
            </a:endParaRPr>
          </a:p>
          <a:p>
            <a:pPr marL="311150" indent="139700">
              <a:buFont typeface="Wingdings" panose="05000000000000000000" pitchFamily="2" charset="2"/>
              <a:buChar char="§"/>
            </a:pPr>
            <a:r>
              <a:rPr lang="en-US" sz="1600" dirty="0" smtClean="0">
                <a:latin typeface="Arial Black" panose="020B0A04020102020204" pitchFamily="34" charset="0"/>
              </a:rPr>
              <a:t>  </a:t>
            </a:r>
            <a:r>
              <a:rPr lang="en-US" sz="1600" dirty="0">
                <a:latin typeface="Arial Black" panose="020B0A04020102020204" pitchFamily="34" charset="0"/>
              </a:rPr>
              <a:t>Usually grow above the soil surface and towards the light </a:t>
            </a:r>
            <a:endParaRPr lang="en-US" sz="1600" dirty="0" smtClean="0">
              <a:latin typeface="Arial Black" panose="020B0A04020102020204" pitchFamily="34" charset="0"/>
            </a:endParaRPr>
          </a:p>
          <a:p>
            <a:pPr marL="311150" indent="139700">
              <a:buFont typeface="Wingdings" panose="05000000000000000000" pitchFamily="2" charset="2"/>
              <a:buChar char="§"/>
            </a:pPr>
            <a:endParaRPr lang="en-US" sz="1600" dirty="0">
              <a:latin typeface="Arial Black" panose="020B0A04020102020204" pitchFamily="34" charset="0"/>
            </a:endParaRPr>
          </a:p>
          <a:p>
            <a:pPr marL="311150" indent="139700">
              <a:buFont typeface="Wingdings" panose="05000000000000000000" pitchFamily="2" charset="2"/>
              <a:buChar char="§"/>
            </a:pPr>
            <a:r>
              <a:rPr lang="en-US" sz="1600" dirty="0" smtClean="0">
                <a:latin typeface="Arial Black" panose="020B0A04020102020204" pitchFamily="34" charset="0"/>
              </a:rPr>
              <a:t>  </a:t>
            </a:r>
            <a:r>
              <a:rPr lang="en-US" sz="1600" dirty="0">
                <a:latin typeface="Arial Black" panose="020B0A04020102020204" pitchFamily="34" charset="0"/>
              </a:rPr>
              <a:t>Stem either herbaceous stems (</a:t>
            </a:r>
            <a:r>
              <a:rPr lang="en-US" sz="1600" dirty="0">
                <a:solidFill>
                  <a:srgbClr val="FF0000"/>
                </a:solidFill>
                <a:latin typeface="Arial Black" panose="020B0A04020102020204" pitchFamily="34" charset="0"/>
              </a:rPr>
              <a:t>leafy non-woody </a:t>
            </a:r>
            <a:r>
              <a:rPr lang="en-US" sz="1600" dirty="0" smtClean="0">
                <a:solidFill>
                  <a:srgbClr val="FF0000"/>
                </a:solidFill>
                <a:latin typeface="Arial Black" panose="020B0A04020102020204" pitchFamily="34" charset="0"/>
              </a:rPr>
              <a:t>structures</a:t>
            </a:r>
            <a:r>
              <a:rPr lang="en-US" sz="1600" dirty="0" smtClean="0">
                <a:latin typeface="Arial Black" panose="020B0A04020102020204" pitchFamily="34" charset="0"/>
              </a:rPr>
              <a:t>) or </a:t>
            </a:r>
          </a:p>
          <a:p>
            <a:pPr marL="311150"/>
            <a:r>
              <a:rPr lang="en-US" sz="1600" dirty="0">
                <a:latin typeface="Arial Black" panose="020B0A04020102020204" pitchFamily="34" charset="0"/>
              </a:rPr>
              <a:t>     </a:t>
            </a:r>
            <a:r>
              <a:rPr lang="en-US" sz="1600" dirty="0" smtClean="0">
                <a:latin typeface="Arial Black" panose="020B0A04020102020204" pitchFamily="34" charset="0"/>
              </a:rPr>
              <a:t>woody </a:t>
            </a:r>
            <a:r>
              <a:rPr lang="en-US" sz="1600" dirty="0">
                <a:latin typeface="Arial Black" panose="020B0A04020102020204" pitchFamily="34" charset="0"/>
              </a:rPr>
              <a:t>stems </a:t>
            </a:r>
            <a:endParaRPr lang="en-US" sz="1600" dirty="0" smtClean="0">
              <a:latin typeface="Arial Black" panose="020B0A04020102020204" pitchFamily="34" charset="0"/>
            </a:endParaRPr>
          </a:p>
          <a:p>
            <a:pPr marL="311150"/>
            <a:endParaRPr lang="en-US" sz="1600" dirty="0">
              <a:latin typeface="Arial Black" panose="020B0A04020102020204" pitchFamily="34" charset="0"/>
            </a:endParaRPr>
          </a:p>
          <a:p>
            <a:pPr marL="596900" indent="-285750">
              <a:buFont typeface="Wingdings" panose="05000000000000000000" pitchFamily="2" charset="2"/>
              <a:buChar char="§"/>
            </a:pPr>
            <a:r>
              <a:rPr lang="en-US" sz="1600" dirty="0" smtClean="0">
                <a:latin typeface="Arial Black" panose="020B0A04020102020204" pitchFamily="34" charset="0"/>
              </a:rPr>
              <a:t>The main functions of stems are:</a:t>
            </a:r>
          </a:p>
          <a:p>
            <a:pPr marL="596900" indent="-285750">
              <a:buFont typeface="Arial" panose="020B0604020202020204" pitchFamily="34" charset="0"/>
              <a:buChar char="•"/>
            </a:pPr>
            <a:endParaRPr lang="en-US" sz="1600" dirty="0">
              <a:latin typeface="Arial Black" panose="020B0A04020102020204" pitchFamily="34" charset="0"/>
            </a:endParaRPr>
          </a:p>
          <a:p>
            <a:pPr marL="596900" indent="207963">
              <a:buFont typeface="Wingdings" panose="05000000000000000000" pitchFamily="2" charset="2"/>
              <a:buChar char="ü"/>
            </a:pPr>
            <a:r>
              <a:rPr lang="en-US" sz="1400" dirty="0" smtClean="0">
                <a:solidFill>
                  <a:srgbClr val="FF0000"/>
                </a:solidFill>
                <a:latin typeface="Arial Black" panose="020B0A04020102020204" pitchFamily="34" charset="0"/>
              </a:rPr>
              <a:t>Support </a:t>
            </a:r>
            <a:r>
              <a:rPr lang="en-US" sz="1400" dirty="0">
                <a:solidFill>
                  <a:srgbClr val="FF0000"/>
                </a:solidFill>
                <a:latin typeface="Arial Black" panose="020B0A04020102020204" pitchFamily="34" charset="0"/>
              </a:rPr>
              <a:t>for the plant as it holds leaves, flowers and fruits </a:t>
            </a:r>
            <a:r>
              <a:rPr lang="en-US" sz="1400" dirty="0" smtClean="0">
                <a:solidFill>
                  <a:srgbClr val="FF0000"/>
                </a:solidFill>
                <a:latin typeface="Arial Black" panose="020B0A04020102020204" pitchFamily="34" charset="0"/>
              </a:rPr>
              <a:t>upright </a:t>
            </a:r>
            <a:r>
              <a:rPr lang="en-US" sz="1400" dirty="0">
                <a:solidFill>
                  <a:srgbClr val="FF0000"/>
                </a:solidFill>
                <a:latin typeface="Arial Black" panose="020B0A04020102020204" pitchFamily="34" charset="0"/>
              </a:rPr>
              <a:t>above </a:t>
            </a:r>
            <a:endParaRPr lang="en-US" sz="1400" dirty="0" smtClean="0">
              <a:solidFill>
                <a:srgbClr val="FF0000"/>
              </a:solidFill>
              <a:latin typeface="Arial Black" panose="020B0A04020102020204" pitchFamily="34" charset="0"/>
            </a:endParaRPr>
          </a:p>
          <a:p>
            <a:pPr marL="596900"/>
            <a:r>
              <a:rPr lang="en-US" sz="1400" dirty="0">
                <a:solidFill>
                  <a:srgbClr val="FF0000"/>
                </a:solidFill>
                <a:latin typeface="Arial Black" panose="020B0A04020102020204" pitchFamily="34" charset="0"/>
              </a:rPr>
              <a:t> </a:t>
            </a:r>
            <a:r>
              <a:rPr lang="en-US" sz="1400" dirty="0" smtClean="0">
                <a:solidFill>
                  <a:srgbClr val="FF0000"/>
                </a:solidFill>
                <a:latin typeface="Arial Black" panose="020B0A04020102020204" pitchFamily="34" charset="0"/>
              </a:rPr>
              <a:t>    the </a:t>
            </a:r>
            <a:r>
              <a:rPr lang="en-US" sz="1400" dirty="0">
                <a:solidFill>
                  <a:srgbClr val="FF0000"/>
                </a:solidFill>
                <a:latin typeface="Arial Black" panose="020B0A04020102020204" pitchFamily="34" charset="0"/>
              </a:rPr>
              <a:t>ground   </a:t>
            </a:r>
            <a:endParaRPr lang="en-US" sz="1400" dirty="0" smtClean="0">
              <a:solidFill>
                <a:srgbClr val="FF0000"/>
              </a:solidFill>
              <a:latin typeface="Arial Black" panose="020B0A04020102020204" pitchFamily="34" charset="0"/>
            </a:endParaRPr>
          </a:p>
          <a:p>
            <a:pPr marL="596900"/>
            <a:endParaRPr lang="en-US" sz="1400" dirty="0">
              <a:solidFill>
                <a:srgbClr val="FF0000"/>
              </a:solidFill>
              <a:latin typeface="Arial Black" panose="020B0A04020102020204" pitchFamily="34" charset="0"/>
            </a:endParaRPr>
          </a:p>
          <a:p>
            <a:pPr marL="882650" indent="-285750">
              <a:buFont typeface="Wingdings" panose="05000000000000000000" pitchFamily="2" charset="2"/>
              <a:buChar char="ü"/>
            </a:pPr>
            <a:r>
              <a:rPr lang="en-US" sz="1400" dirty="0" smtClean="0">
                <a:solidFill>
                  <a:srgbClr val="FF0000"/>
                </a:solidFill>
                <a:latin typeface="Arial Black" panose="020B0A04020102020204" pitchFamily="34" charset="0"/>
              </a:rPr>
              <a:t>Transport </a:t>
            </a:r>
            <a:r>
              <a:rPr lang="en-US" sz="1400" dirty="0">
                <a:solidFill>
                  <a:srgbClr val="FF0000"/>
                </a:solidFill>
                <a:latin typeface="Arial Black" panose="020B0A04020102020204" pitchFamily="34" charset="0"/>
              </a:rPr>
              <a:t>of fluids between roots and shoots in the xylem and phloem  </a:t>
            </a:r>
            <a:endParaRPr lang="en-US" sz="1400" dirty="0" smtClean="0">
              <a:solidFill>
                <a:srgbClr val="FF0000"/>
              </a:solidFill>
              <a:latin typeface="Arial Black" panose="020B0A04020102020204" pitchFamily="34" charset="0"/>
            </a:endParaRPr>
          </a:p>
          <a:p>
            <a:pPr marL="882650" indent="-285750">
              <a:buFont typeface="Wingdings" panose="05000000000000000000" pitchFamily="2" charset="2"/>
              <a:buChar char="ü"/>
            </a:pPr>
            <a:endParaRPr lang="en-US" sz="1400" dirty="0">
              <a:solidFill>
                <a:srgbClr val="FF0000"/>
              </a:solidFill>
              <a:latin typeface="Arial Black" panose="020B0A04020102020204" pitchFamily="34" charset="0"/>
            </a:endParaRPr>
          </a:p>
          <a:p>
            <a:pPr marL="882650" indent="-285750">
              <a:buFont typeface="Wingdings" panose="05000000000000000000" pitchFamily="2" charset="2"/>
              <a:buChar char="ü"/>
            </a:pPr>
            <a:r>
              <a:rPr lang="en-US" sz="1400" dirty="0">
                <a:solidFill>
                  <a:srgbClr val="FF0000"/>
                </a:solidFill>
                <a:latin typeface="Arial Black" panose="020B0A04020102020204" pitchFamily="34" charset="0"/>
              </a:rPr>
              <a:t> </a:t>
            </a:r>
            <a:r>
              <a:rPr lang="en-US" sz="1400" dirty="0" smtClean="0">
                <a:solidFill>
                  <a:srgbClr val="FF0000"/>
                </a:solidFill>
                <a:latin typeface="Arial Black" panose="020B0A04020102020204" pitchFamily="34" charset="0"/>
              </a:rPr>
              <a:t>Storage </a:t>
            </a:r>
            <a:r>
              <a:rPr lang="en-US" sz="1400" dirty="0">
                <a:solidFill>
                  <a:srgbClr val="FF0000"/>
                </a:solidFill>
                <a:latin typeface="Arial Black" panose="020B0A04020102020204" pitchFamily="34" charset="0"/>
              </a:rPr>
              <a:t>of nutrients </a:t>
            </a:r>
            <a:endParaRPr lang="en-US" sz="1400" dirty="0" smtClean="0">
              <a:solidFill>
                <a:srgbClr val="FF0000"/>
              </a:solidFill>
              <a:latin typeface="Arial Black" panose="020B0A04020102020204" pitchFamily="34" charset="0"/>
            </a:endParaRPr>
          </a:p>
          <a:p>
            <a:pPr marL="596900"/>
            <a:endParaRPr lang="en-US" sz="1400" dirty="0">
              <a:solidFill>
                <a:srgbClr val="FF0000"/>
              </a:solidFill>
              <a:latin typeface="Arial Black" panose="020B0A04020102020204" pitchFamily="34" charset="0"/>
            </a:endParaRPr>
          </a:p>
          <a:p>
            <a:pPr marL="882650" indent="-285750">
              <a:buFont typeface="Wingdings" panose="05000000000000000000" pitchFamily="2" charset="2"/>
              <a:buChar char="ü"/>
            </a:pPr>
            <a:r>
              <a:rPr lang="en-US" sz="1400" dirty="0" smtClean="0">
                <a:solidFill>
                  <a:srgbClr val="FF0000"/>
                </a:solidFill>
                <a:latin typeface="Arial Black" panose="020B0A04020102020204" pitchFamily="34" charset="0"/>
              </a:rPr>
              <a:t>Production </a:t>
            </a:r>
            <a:r>
              <a:rPr lang="en-US" sz="1400" dirty="0">
                <a:solidFill>
                  <a:srgbClr val="FF0000"/>
                </a:solidFill>
                <a:latin typeface="Arial Black" panose="020B0A04020102020204" pitchFamily="34" charset="0"/>
              </a:rPr>
              <a:t>of new living tissue: stems contain meristematic tissue that generates new tissue    </a:t>
            </a:r>
            <a:endParaRPr lang="en-US" sz="1400" dirty="0" smtClean="0">
              <a:solidFill>
                <a:srgbClr val="FF0000"/>
              </a:solidFill>
              <a:latin typeface="Arial Black" panose="020B0A04020102020204" pitchFamily="34" charset="0"/>
            </a:endParaRPr>
          </a:p>
          <a:p>
            <a:pPr marL="596900"/>
            <a:endParaRPr lang="en-US" sz="1400" dirty="0">
              <a:latin typeface="Arial Black" panose="020B0A04020102020204" pitchFamily="34" charset="0"/>
            </a:endParaRPr>
          </a:p>
          <a:p>
            <a:pPr marL="311150"/>
            <a:r>
              <a:rPr lang="en-US" sz="1600" dirty="0" smtClean="0">
                <a:latin typeface="Arial Black" panose="020B0A04020102020204" pitchFamily="34" charset="0"/>
              </a:rPr>
              <a:t> </a:t>
            </a:r>
            <a:endParaRPr lang="ar-JO" sz="1600" dirty="0">
              <a:latin typeface="Arial Black" panose="020B0A04020102020204" pitchFamily="34" charset="0"/>
            </a:endParaRPr>
          </a:p>
        </p:txBody>
      </p:sp>
    </p:spTree>
    <p:extLst>
      <p:ext uri="{BB962C8B-B14F-4D97-AF65-F5344CB8AC3E}">
        <p14:creationId xmlns:p14="http://schemas.microsoft.com/office/powerpoint/2010/main" val="200446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450" y="2579427"/>
            <a:ext cx="10058400" cy="1583140"/>
          </a:xfrm>
        </p:spPr>
        <p:txBody>
          <a:bodyPr>
            <a:normAutofit/>
          </a:bodyPr>
          <a:lstStyle/>
          <a:p>
            <a:pPr marL="285750" indent="-285750">
              <a:buFont typeface="Wingdings" panose="05000000000000000000" pitchFamily="2" charset="2"/>
              <a:buChar char="§"/>
            </a:pPr>
            <a:r>
              <a:rPr lang="en-US" sz="1600" dirty="0">
                <a:latin typeface="Arial Black" panose="020B0A04020102020204" pitchFamily="34" charset="0"/>
              </a:rPr>
              <a:t>Nodes and internodes are regions found on the </a:t>
            </a:r>
            <a:r>
              <a:rPr lang="en-US" sz="1600" dirty="0" smtClean="0">
                <a:latin typeface="Arial Black" panose="020B0A04020102020204" pitchFamily="34" charset="0"/>
              </a:rPr>
              <a:t>stem</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a:latin typeface="Arial Black" panose="020B0A04020102020204" pitchFamily="34" charset="0"/>
              </a:rPr>
              <a:t>  </a:t>
            </a:r>
            <a:r>
              <a:rPr lang="en-US" sz="1600" dirty="0">
                <a:solidFill>
                  <a:srgbClr val="0070C0"/>
                </a:solidFill>
                <a:latin typeface="Arial Black" panose="020B0A04020102020204" pitchFamily="34" charset="0"/>
              </a:rPr>
              <a:t>Nodes</a:t>
            </a:r>
            <a:r>
              <a:rPr lang="en-US" sz="1600" dirty="0">
                <a:latin typeface="Arial Black" panose="020B0A04020102020204" pitchFamily="34" charset="0"/>
              </a:rPr>
              <a:t>: are the regions from which leaves and lateral branches </a:t>
            </a:r>
            <a:r>
              <a:rPr lang="en-US" sz="1600" dirty="0" smtClean="0">
                <a:latin typeface="Arial Black" panose="020B0A04020102020204" pitchFamily="34" charset="0"/>
              </a:rPr>
              <a:t>develop</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smtClean="0">
                <a:latin typeface="Arial Black" panose="020B0A04020102020204" pitchFamily="34" charset="0"/>
              </a:rPr>
              <a:t>  </a:t>
            </a:r>
            <a:r>
              <a:rPr lang="en-US" sz="1600" dirty="0" smtClean="0">
                <a:solidFill>
                  <a:srgbClr val="0070C0"/>
                </a:solidFill>
                <a:latin typeface="Arial Black" panose="020B0A04020102020204" pitchFamily="34" charset="0"/>
              </a:rPr>
              <a:t>Internode </a:t>
            </a:r>
            <a:r>
              <a:rPr lang="en-US" sz="1600" dirty="0" smtClean="0">
                <a:latin typeface="Arial Black" panose="020B0A04020102020204" pitchFamily="34" charset="0"/>
              </a:rPr>
              <a:t>: is the region </a:t>
            </a:r>
            <a:r>
              <a:rPr lang="en-US" sz="1600" dirty="0">
                <a:latin typeface="Arial Black" panose="020B0A04020102020204" pitchFamily="34" charset="0"/>
              </a:rPr>
              <a:t>between nodes</a:t>
            </a:r>
            <a:r>
              <a:rPr lang="en-US" sz="1600" dirty="0" smtClean="0">
                <a:latin typeface="Arial Black" panose="020B0A04020102020204" pitchFamily="34" charset="0"/>
              </a:rPr>
              <a:t/>
            </a:r>
            <a:br>
              <a:rPr lang="en-US" sz="1600" dirty="0" smtClean="0">
                <a:latin typeface="Arial Black" panose="020B0A04020102020204" pitchFamily="34" charset="0"/>
              </a:rPr>
            </a:br>
            <a:endParaRPr lang="ar-JO" sz="1600" dirty="0">
              <a:latin typeface="Arial Black" panose="020B0A04020102020204" pitchFamily="34" charset="0"/>
            </a:endParaRPr>
          </a:p>
        </p:txBody>
      </p:sp>
    </p:spTree>
    <p:extLst>
      <p:ext uri="{BB962C8B-B14F-4D97-AF65-F5344CB8AC3E}">
        <p14:creationId xmlns:p14="http://schemas.microsoft.com/office/powerpoint/2010/main" val="394346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822" y="0"/>
            <a:ext cx="10031104" cy="6646460"/>
          </a:xfrm>
          <a:prstGeom prst="rect">
            <a:avLst/>
          </a:prstGeom>
        </p:spPr>
      </p:pic>
    </p:spTree>
    <p:extLst>
      <p:ext uri="{BB962C8B-B14F-4D97-AF65-F5344CB8AC3E}">
        <p14:creationId xmlns:p14="http://schemas.microsoft.com/office/powerpoint/2010/main" val="17295851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4F02018-F082-4C90-A557-DE53EBB79B44}"/>
              </a:ext>
            </a:extLst>
          </p:cNvPr>
          <p:cNvSpPr>
            <a:spLocks noGrp="1"/>
          </p:cNvSpPr>
          <p:nvPr>
            <p:ph type="title"/>
          </p:nvPr>
        </p:nvSpPr>
        <p:spPr>
          <a:xfrm>
            <a:off x="1097280" y="286603"/>
            <a:ext cx="10058400" cy="846161"/>
          </a:xfrm>
        </p:spPr>
        <p:txBody>
          <a:bodyPr>
            <a:normAutofit/>
          </a:bodyPr>
          <a:lstStyle/>
          <a:p>
            <a:pPr algn="ctr"/>
            <a:r>
              <a:rPr lang="en-US" sz="2400" dirty="0">
                <a:latin typeface="Arial Black" panose="020B0A04020102020204" pitchFamily="34" charset="0"/>
              </a:rPr>
              <a:t>Stem anatomy</a:t>
            </a:r>
          </a:p>
        </p:txBody>
      </p:sp>
      <p:sp>
        <p:nvSpPr>
          <p:cNvPr id="4" name="Rectangle 3"/>
          <p:cNvSpPr/>
          <p:nvPr/>
        </p:nvSpPr>
        <p:spPr>
          <a:xfrm>
            <a:off x="277506" y="1711743"/>
            <a:ext cx="11691582" cy="4247317"/>
          </a:xfrm>
          <a:prstGeom prst="rect">
            <a:avLst/>
          </a:prstGeom>
        </p:spPr>
        <p:txBody>
          <a:bodyPr wrap="square">
            <a:spAutoFit/>
          </a:bodyPr>
          <a:lstStyle/>
          <a:p>
            <a:pPr marL="285750" indent="-285750">
              <a:buFont typeface="Wingdings" panose="05000000000000000000" pitchFamily="2" charset="2"/>
              <a:buChar char="v"/>
            </a:pPr>
            <a:r>
              <a:rPr lang="en-US" dirty="0">
                <a:latin typeface="Arial Black" panose="020B0A04020102020204" pitchFamily="34" charset="0"/>
              </a:rPr>
              <a:t>Cross section of Dicot </a:t>
            </a:r>
            <a:r>
              <a:rPr lang="en-US" dirty="0" smtClean="0">
                <a:latin typeface="Arial Black" panose="020B0A04020102020204" pitchFamily="34" charset="0"/>
              </a:rPr>
              <a:t>stem</a:t>
            </a:r>
          </a:p>
          <a:p>
            <a:endParaRPr lang="en-US" dirty="0">
              <a:latin typeface="Arial Black" panose="020B0A04020102020204" pitchFamily="34" charset="0"/>
            </a:endParaRPr>
          </a:p>
          <a:p>
            <a:r>
              <a:rPr lang="en-US" b="1" dirty="0">
                <a:solidFill>
                  <a:srgbClr val="FF0000"/>
                </a:solidFill>
                <a:latin typeface="Arial Black" panose="020B0A04020102020204" pitchFamily="34" charset="0"/>
              </a:rPr>
              <a:t>1- Epidermis</a:t>
            </a:r>
            <a:r>
              <a:rPr lang="en-US" dirty="0">
                <a:latin typeface="Arial Black" panose="020B0A04020102020204" pitchFamily="34" charset="0"/>
              </a:rPr>
              <a:t>: </a:t>
            </a:r>
            <a:r>
              <a:rPr lang="en-US" sz="1600" dirty="0">
                <a:latin typeface="Arial Black" panose="020B0A04020102020204" pitchFamily="34" charset="0"/>
              </a:rPr>
              <a:t>single layer of living closely packed cells</a:t>
            </a:r>
            <a:r>
              <a:rPr lang="en-US" sz="1600" dirty="0" smtClean="0">
                <a:latin typeface="Arial Black" panose="020B0A04020102020204" pitchFamily="34" charset="0"/>
              </a:rPr>
              <a:t>.</a:t>
            </a:r>
          </a:p>
          <a:p>
            <a:endParaRPr lang="en-US" sz="1600" dirty="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 Lenticels </a:t>
            </a:r>
            <a:r>
              <a:rPr lang="en-US" sz="1600" dirty="0">
                <a:latin typeface="Arial Black" panose="020B0A04020102020204" pitchFamily="34" charset="0"/>
              </a:rPr>
              <a:t>&amp; guard </a:t>
            </a:r>
            <a:r>
              <a:rPr lang="en-US" sz="1600" dirty="0" smtClean="0">
                <a:latin typeface="Arial Black" panose="020B0A04020102020204" pitchFamily="34" charset="0"/>
              </a:rPr>
              <a:t>cells are present</a:t>
            </a:r>
          </a:p>
          <a:p>
            <a:endParaRPr lang="en-US" sz="1600" dirty="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 </a:t>
            </a:r>
            <a:r>
              <a:rPr lang="en-US" sz="1600" dirty="0">
                <a:latin typeface="Arial Black" panose="020B0A04020102020204" pitchFamily="34" charset="0"/>
              </a:rPr>
              <a:t>The walls are thickened and covered with a thin waterproof layer called the </a:t>
            </a:r>
            <a:r>
              <a:rPr lang="en-US" sz="1600" dirty="0" smtClean="0">
                <a:latin typeface="Arial Black" panose="020B0A04020102020204" pitchFamily="34" charset="0"/>
              </a:rPr>
              <a:t>cuticle</a:t>
            </a:r>
          </a:p>
          <a:p>
            <a:endParaRPr lang="en-US" sz="1600" dirty="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 In </a:t>
            </a:r>
            <a:r>
              <a:rPr lang="en-US" sz="1600" dirty="0">
                <a:latin typeface="Arial Black" panose="020B0A04020102020204" pitchFamily="34" charset="0"/>
              </a:rPr>
              <a:t>some cases, a </a:t>
            </a:r>
            <a:r>
              <a:rPr lang="en-US" sz="1600" dirty="0" err="1">
                <a:latin typeface="Arial Black" panose="020B0A04020102020204" pitchFamily="34" charset="0"/>
              </a:rPr>
              <a:t>uni</a:t>
            </a:r>
            <a:r>
              <a:rPr lang="en-US" sz="1600" dirty="0">
                <a:latin typeface="Arial Black" panose="020B0A04020102020204" pitchFamily="34" charset="0"/>
              </a:rPr>
              <a:t>- or multicellular hair like outgrowth </a:t>
            </a:r>
            <a:r>
              <a:rPr lang="en-US" sz="1600" dirty="0" smtClean="0">
                <a:latin typeface="Arial Black" panose="020B0A04020102020204" pitchFamily="34" charset="0"/>
              </a:rPr>
              <a:t>appears</a:t>
            </a:r>
          </a:p>
          <a:p>
            <a:endParaRPr lang="en-US" sz="1600" dirty="0">
              <a:latin typeface="Arial Black" panose="020B0A04020102020204" pitchFamily="34" charset="0"/>
            </a:endParaRPr>
          </a:p>
          <a:p>
            <a:r>
              <a:rPr lang="en-US" dirty="0">
                <a:latin typeface="Arial Black" panose="020B0A04020102020204" pitchFamily="34" charset="0"/>
              </a:rPr>
              <a:t>	</a:t>
            </a:r>
            <a:r>
              <a:rPr lang="en-US" dirty="0" smtClean="0">
                <a:latin typeface="Arial Black" panose="020B0A04020102020204" pitchFamily="34" charset="0"/>
              </a:rPr>
              <a:t>      - </a:t>
            </a:r>
            <a:r>
              <a:rPr lang="en-US" sz="1600" dirty="0">
                <a:solidFill>
                  <a:srgbClr val="0070C0"/>
                </a:solidFill>
                <a:latin typeface="Arial Black" panose="020B0A04020102020204" pitchFamily="34" charset="0"/>
              </a:rPr>
              <a:t>FUNCTION</a:t>
            </a:r>
            <a:r>
              <a:rPr lang="en-US" dirty="0">
                <a:latin typeface="Arial Black" panose="020B0A04020102020204" pitchFamily="34" charset="0"/>
              </a:rPr>
              <a:t>: </a:t>
            </a:r>
            <a:r>
              <a:rPr lang="en-US" sz="1600" dirty="0">
                <a:latin typeface="Arial Black" panose="020B0A04020102020204" pitchFamily="34" charset="0"/>
              </a:rPr>
              <a:t>protection, prevent </a:t>
            </a:r>
            <a:r>
              <a:rPr lang="en-US" sz="1600" dirty="0" smtClean="0">
                <a:latin typeface="Arial Black" panose="020B0A04020102020204" pitchFamily="34" charset="0"/>
              </a:rPr>
              <a:t>desiccation of inner tissues and water loss </a:t>
            </a:r>
          </a:p>
          <a:p>
            <a:r>
              <a:rPr lang="en-US" sz="1600" dirty="0">
                <a:latin typeface="Arial Black" panose="020B0A04020102020204" pitchFamily="34" charset="0"/>
              </a:rPr>
              <a:t> </a:t>
            </a:r>
            <a:r>
              <a:rPr lang="en-US" sz="1600" dirty="0" smtClean="0">
                <a:latin typeface="Arial Black" panose="020B0A04020102020204" pitchFamily="34" charset="0"/>
              </a:rPr>
              <a:t>                                  Lenticels : allow gaseous exchange</a:t>
            </a:r>
          </a:p>
          <a:p>
            <a:endParaRPr lang="en-US" dirty="0">
              <a:latin typeface="Arial Black" panose="020B0A04020102020204" pitchFamily="34" charset="0"/>
            </a:endParaRPr>
          </a:p>
          <a:p>
            <a:r>
              <a:rPr lang="en-US" dirty="0">
                <a:solidFill>
                  <a:srgbClr val="FF0000"/>
                </a:solidFill>
                <a:latin typeface="Arial Black" panose="020B0A04020102020204" pitchFamily="34" charset="0"/>
              </a:rPr>
              <a:t>2- Hypodermis</a:t>
            </a:r>
            <a:r>
              <a:rPr lang="en-US" dirty="0">
                <a:latin typeface="Arial Black" panose="020B0A04020102020204" pitchFamily="34" charset="0"/>
              </a:rPr>
              <a:t>: </a:t>
            </a:r>
            <a:r>
              <a:rPr lang="en-US" dirty="0" smtClean="0">
                <a:latin typeface="Arial Black" panose="020B0A04020102020204" pitchFamily="34" charset="0"/>
              </a:rPr>
              <a:t> </a:t>
            </a:r>
            <a:r>
              <a:rPr lang="en-US" sz="1600" dirty="0" smtClean="0">
                <a:latin typeface="Arial Black" panose="020B0A04020102020204" pitchFamily="34" charset="0"/>
              </a:rPr>
              <a:t>a few </a:t>
            </a:r>
            <a:r>
              <a:rPr lang="en-US" sz="1600" dirty="0">
                <a:latin typeface="Arial Black" panose="020B0A04020102020204" pitchFamily="34" charset="0"/>
              </a:rPr>
              <a:t>layers of </a:t>
            </a:r>
            <a:r>
              <a:rPr lang="en-US" sz="1600" dirty="0" smtClean="0">
                <a:latin typeface="Arial Black" panose="020B0A04020102020204" pitchFamily="34" charset="0"/>
              </a:rPr>
              <a:t>collenchyma cells that found </a:t>
            </a:r>
            <a:r>
              <a:rPr lang="en-US" sz="1600" dirty="0">
                <a:latin typeface="Arial Black" panose="020B0A04020102020204" pitchFamily="34" charset="0"/>
              </a:rPr>
              <a:t>beneath the epidermis</a:t>
            </a:r>
            <a:r>
              <a:rPr lang="en-US" sz="1600" dirty="0" smtClean="0">
                <a:latin typeface="Arial Black" panose="020B0A04020102020204" pitchFamily="34" charset="0"/>
              </a:rPr>
              <a:t>.</a:t>
            </a:r>
          </a:p>
          <a:p>
            <a:endParaRPr lang="en-US" sz="1600" dirty="0">
              <a:latin typeface="Arial Black" panose="020B0A04020102020204" pitchFamily="34" charset="0"/>
            </a:endParaRPr>
          </a:p>
          <a:p>
            <a:r>
              <a:rPr lang="en-US" dirty="0">
                <a:solidFill>
                  <a:srgbClr val="FF0000"/>
                </a:solidFill>
                <a:latin typeface="Arial Black" panose="020B0A04020102020204" pitchFamily="34" charset="0"/>
              </a:rPr>
              <a:t>3- Ground tissue</a:t>
            </a:r>
            <a:r>
              <a:rPr lang="en-US" dirty="0">
                <a:latin typeface="Arial Black" panose="020B0A04020102020204" pitchFamily="34" charset="0"/>
              </a:rPr>
              <a:t>: </a:t>
            </a:r>
            <a:r>
              <a:rPr lang="en-US" sz="1600" dirty="0">
                <a:latin typeface="Arial Black" panose="020B0A04020102020204" pitchFamily="34" charset="0"/>
              </a:rPr>
              <a:t>in dicots, differentiate into cortex, endodermis, </a:t>
            </a:r>
            <a:r>
              <a:rPr lang="en-US" sz="1600" dirty="0" err="1">
                <a:latin typeface="Arial Black" panose="020B0A04020102020204" pitchFamily="34" charset="0"/>
              </a:rPr>
              <a:t>pericycle</a:t>
            </a:r>
            <a:r>
              <a:rPr lang="en-US" sz="1600" dirty="0">
                <a:latin typeface="Arial Black" panose="020B0A04020102020204" pitchFamily="34" charset="0"/>
              </a:rPr>
              <a:t>, medullary rays &amp; </a:t>
            </a:r>
            <a:r>
              <a:rPr lang="en-US" sz="1600" dirty="0" smtClean="0">
                <a:latin typeface="Arial Black" panose="020B0A04020102020204" pitchFamily="34" charset="0"/>
              </a:rPr>
              <a:t>pith</a:t>
            </a:r>
            <a:endParaRPr lang="en-US" sz="1600" dirty="0">
              <a:latin typeface="Arial Black" panose="020B0A04020102020204" pitchFamily="34" charset="0"/>
            </a:endParaRPr>
          </a:p>
        </p:txBody>
      </p:sp>
    </p:spTree>
    <p:extLst>
      <p:ext uri="{BB962C8B-B14F-4D97-AF65-F5344CB8AC3E}">
        <p14:creationId xmlns:p14="http://schemas.microsoft.com/office/powerpoint/2010/main" val="1388975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JO"/>
          </a:p>
        </p:txBody>
      </p:sp>
      <p:sp>
        <p:nvSpPr>
          <p:cNvPr id="3" name="Rectangle 2"/>
          <p:cNvSpPr/>
          <p:nvPr/>
        </p:nvSpPr>
        <p:spPr>
          <a:xfrm>
            <a:off x="660551" y="2233389"/>
            <a:ext cx="11035580" cy="4031873"/>
          </a:xfrm>
          <a:prstGeom prst="rect">
            <a:avLst/>
          </a:prstGeom>
        </p:spPr>
        <p:txBody>
          <a:bodyPr wrap="square">
            <a:spAutoFit/>
          </a:bodyPr>
          <a:lstStyle/>
          <a:p>
            <a:r>
              <a:rPr lang="en-US" dirty="0">
                <a:solidFill>
                  <a:srgbClr val="FF0000"/>
                </a:solidFill>
                <a:latin typeface="Arial Black" panose="020B0A04020102020204" pitchFamily="34" charset="0"/>
              </a:rPr>
              <a:t>4- Vascular Cylinder /Stele</a:t>
            </a:r>
            <a:r>
              <a:rPr lang="en-US" dirty="0">
                <a:latin typeface="Arial Black" panose="020B0A04020102020204" pitchFamily="34" charset="0"/>
              </a:rPr>
              <a:t>: </a:t>
            </a:r>
            <a:endParaRPr lang="en-US" dirty="0" smtClean="0">
              <a:latin typeface="Arial Black" panose="020B0A04020102020204" pitchFamily="34" charset="0"/>
            </a:endParaRPr>
          </a:p>
          <a:p>
            <a:endParaRPr lang="en-US" dirty="0">
              <a:latin typeface="Arial Black" panose="020B0A04020102020204" pitchFamily="34" charset="0"/>
            </a:endParaRPr>
          </a:p>
          <a:p>
            <a:r>
              <a:rPr lang="en-US" dirty="0">
                <a:latin typeface="Arial Black" panose="020B0A04020102020204" pitchFamily="34" charset="0"/>
              </a:rPr>
              <a:t>	</a:t>
            </a:r>
            <a:r>
              <a:rPr lang="en-US" dirty="0" smtClean="0">
                <a:latin typeface="Arial Black" panose="020B0A04020102020204" pitchFamily="34" charset="0"/>
              </a:rPr>
              <a:t>- </a:t>
            </a:r>
            <a:r>
              <a:rPr lang="en-US" dirty="0" err="1" smtClean="0">
                <a:solidFill>
                  <a:srgbClr val="0070C0"/>
                </a:solidFill>
                <a:latin typeface="Arial Black" panose="020B0A04020102020204" pitchFamily="34" charset="0"/>
              </a:rPr>
              <a:t>Pericycle</a:t>
            </a:r>
            <a:r>
              <a:rPr lang="en-US" dirty="0">
                <a:latin typeface="Arial Black" panose="020B0A04020102020204" pitchFamily="34" charset="0"/>
              </a:rPr>
              <a:t>: </a:t>
            </a:r>
            <a:r>
              <a:rPr lang="en-US" sz="1600" dirty="0">
                <a:latin typeface="Arial Black" panose="020B0A04020102020204" pitchFamily="34" charset="0"/>
              </a:rPr>
              <a:t>made up of </a:t>
            </a:r>
            <a:r>
              <a:rPr lang="en-US" sz="1600" dirty="0" smtClean="0">
                <a:latin typeface="Arial Black" panose="020B0A04020102020204" pitchFamily="34" charset="0"/>
              </a:rPr>
              <a:t>lignified sclerenchyma </a:t>
            </a:r>
            <a:r>
              <a:rPr lang="en-US" sz="1600" dirty="0">
                <a:latin typeface="Arial Black" panose="020B0A04020102020204" pitchFamily="34" charset="0"/>
              </a:rPr>
              <a:t>cells </a:t>
            </a:r>
            <a:r>
              <a:rPr lang="en-US" sz="1600" dirty="0" smtClean="0">
                <a:latin typeface="Arial Black" panose="020B0A04020102020204" pitchFamily="34" charset="0"/>
              </a:rPr>
              <a:t>(dead </a:t>
            </a:r>
            <a:r>
              <a:rPr lang="en-US" sz="1600" dirty="0">
                <a:latin typeface="Arial Black" panose="020B0A04020102020204" pitchFamily="34" charset="0"/>
              </a:rPr>
              <a:t>fiber </a:t>
            </a:r>
            <a:r>
              <a:rPr lang="en-US" sz="1600" dirty="0" smtClean="0">
                <a:latin typeface="Arial Black" panose="020B0A04020102020204" pitchFamily="34" charset="0"/>
              </a:rPr>
              <a:t>cells). </a:t>
            </a:r>
            <a:r>
              <a:rPr lang="en-US" sz="1600" dirty="0">
                <a:latin typeface="Arial Black" panose="020B0A04020102020204" pitchFamily="34" charset="0"/>
              </a:rPr>
              <a:t>These cells have </a:t>
            </a:r>
            <a:endParaRPr lang="en-US" sz="1600" dirty="0" smtClean="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thick</a:t>
            </a:r>
            <a:r>
              <a:rPr lang="en-US" sz="1600" dirty="0">
                <a:latin typeface="Arial Black" panose="020B0A04020102020204" pitchFamily="34" charset="0"/>
              </a:rPr>
              <a:t>, woody walls and tapering ends. </a:t>
            </a:r>
            <a:endParaRPr lang="en-US" sz="1600" dirty="0" smtClean="0">
              <a:latin typeface="Arial Black" panose="020B0A04020102020204" pitchFamily="34" charset="0"/>
            </a:endParaRPr>
          </a:p>
          <a:p>
            <a:endParaRPr lang="en-US" sz="1600" dirty="0">
              <a:latin typeface="Arial Black" panose="020B0A04020102020204" pitchFamily="34" charset="0"/>
            </a:endParaRPr>
          </a:p>
          <a:p>
            <a:r>
              <a:rPr lang="en-US" sz="1600" dirty="0" smtClean="0">
                <a:latin typeface="Arial Black" panose="020B0A04020102020204" pitchFamily="34" charset="0"/>
              </a:rPr>
              <a:t>                            The </a:t>
            </a:r>
            <a:r>
              <a:rPr lang="en-US" sz="1600" dirty="0">
                <a:solidFill>
                  <a:srgbClr val="0070C0"/>
                </a:solidFill>
                <a:latin typeface="Arial Black" panose="020B0A04020102020204" pitchFamily="34" charset="0"/>
              </a:rPr>
              <a:t>function of </a:t>
            </a:r>
            <a:r>
              <a:rPr lang="en-US" sz="1600" dirty="0" err="1">
                <a:solidFill>
                  <a:srgbClr val="0070C0"/>
                </a:solidFill>
                <a:latin typeface="Arial Black" panose="020B0A04020102020204" pitchFamily="34" charset="0"/>
              </a:rPr>
              <a:t>Pericycle</a:t>
            </a:r>
            <a:r>
              <a:rPr lang="en-US" sz="1600" dirty="0">
                <a:solidFill>
                  <a:srgbClr val="0070C0"/>
                </a:solidFill>
                <a:latin typeface="Arial Black" panose="020B0A04020102020204" pitchFamily="34" charset="0"/>
              </a:rPr>
              <a:t> </a:t>
            </a:r>
            <a:r>
              <a:rPr lang="en-US" sz="1600" dirty="0">
                <a:latin typeface="Arial Black" panose="020B0A04020102020204" pitchFamily="34" charset="0"/>
              </a:rPr>
              <a:t>are: Strengthens for the stem and </a:t>
            </a:r>
            <a:r>
              <a:rPr lang="en-US" sz="1600" dirty="0" smtClean="0">
                <a:latin typeface="Arial Black" panose="020B0A04020102020204" pitchFamily="34" charset="0"/>
              </a:rPr>
              <a:t>protection </a:t>
            </a:r>
            <a:r>
              <a:rPr lang="en-US" sz="1600" dirty="0">
                <a:latin typeface="Arial Black" panose="020B0A04020102020204" pitchFamily="34" charset="0"/>
              </a:rPr>
              <a:t>for </a:t>
            </a:r>
            <a:r>
              <a:rPr lang="en-US" sz="1600" dirty="0" smtClean="0">
                <a:latin typeface="Arial Black" panose="020B0A04020102020204" pitchFamily="34" charset="0"/>
              </a:rPr>
              <a:t> </a:t>
            </a:r>
          </a:p>
          <a:p>
            <a:r>
              <a:rPr lang="en-US" sz="1600" dirty="0">
                <a:latin typeface="Arial Black" panose="020B0A04020102020204" pitchFamily="34" charset="0"/>
              </a:rPr>
              <a:t> </a:t>
            </a:r>
            <a:r>
              <a:rPr lang="en-US" sz="1600" dirty="0" smtClean="0">
                <a:latin typeface="Arial Black" panose="020B0A04020102020204" pitchFamily="34" charset="0"/>
              </a:rPr>
              <a:t>                            the </a:t>
            </a:r>
            <a:r>
              <a:rPr lang="en-US" dirty="0">
                <a:latin typeface="Arial Black" panose="020B0A04020102020204" pitchFamily="34" charset="0"/>
              </a:rPr>
              <a:t>vascular bundles. 	</a:t>
            </a:r>
            <a:endParaRPr lang="en-US" dirty="0" smtClean="0">
              <a:latin typeface="Arial Black" panose="020B0A04020102020204" pitchFamily="34" charset="0"/>
            </a:endParaRPr>
          </a:p>
          <a:p>
            <a:endParaRPr lang="en-US" dirty="0">
              <a:latin typeface="Arial Black" panose="020B0A04020102020204" pitchFamily="34" charset="0"/>
            </a:endParaRPr>
          </a:p>
          <a:p>
            <a:r>
              <a:rPr lang="en-US" dirty="0" smtClean="0">
                <a:latin typeface="Arial Black" panose="020B0A04020102020204" pitchFamily="34" charset="0"/>
              </a:rPr>
              <a:t>        - </a:t>
            </a:r>
            <a:r>
              <a:rPr lang="en-US" dirty="0" smtClean="0">
                <a:solidFill>
                  <a:srgbClr val="0070C0"/>
                </a:solidFill>
                <a:latin typeface="Arial Black" panose="020B0A04020102020204" pitchFamily="34" charset="0"/>
              </a:rPr>
              <a:t>Vascular </a:t>
            </a:r>
            <a:r>
              <a:rPr lang="en-US" dirty="0">
                <a:solidFill>
                  <a:srgbClr val="0070C0"/>
                </a:solidFill>
                <a:latin typeface="Arial Black" panose="020B0A04020102020204" pitchFamily="34" charset="0"/>
              </a:rPr>
              <a:t>bundle</a:t>
            </a:r>
            <a:r>
              <a:rPr lang="en-US" dirty="0">
                <a:latin typeface="Arial Black" panose="020B0A04020102020204" pitchFamily="34" charset="0"/>
              </a:rPr>
              <a:t>: </a:t>
            </a:r>
            <a:endParaRPr lang="en-US" dirty="0" smtClean="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 Situated </a:t>
            </a:r>
            <a:r>
              <a:rPr lang="en-US" sz="1600" dirty="0">
                <a:latin typeface="Arial Black" panose="020B0A04020102020204" pitchFamily="34" charset="0"/>
              </a:rPr>
              <a:t>in ring </a:t>
            </a:r>
            <a:r>
              <a:rPr lang="en-US" sz="1600" dirty="0" smtClean="0">
                <a:latin typeface="Arial Black" panose="020B0A04020102020204" pitchFamily="34" charset="0"/>
              </a:rPr>
              <a:t>around the pith and to the </a:t>
            </a:r>
            <a:r>
              <a:rPr lang="en-US" sz="1600" dirty="0">
                <a:latin typeface="Arial Black" panose="020B0A04020102020204" pitchFamily="34" charset="0"/>
              </a:rPr>
              <a:t>inside of the </a:t>
            </a:r>
            <a:r>
              <a:rPr lang="en-US" sz="1600" dirty="0" err="1">
                <a:latin typeface="Arial Black" panose="020B0A04020102020204" pitchFamily="34" charset="0"/>
              </a:rPr>
              <a:t>pericycle</a:t>
            </a:r>
            <a:r>
              <a:rPr lang="en-US" sz="1600" dirty="0">
                <a:latin typeface="Arial Black" panose="020B0A04020102020204" pitchFamily="34" charset="0"/>
              </a:rPr>
              <a:t>.</a:t>
            </a:r>
            <a:endParaRPr lang="en-US" sz="1600" dirty="0" smtClean="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a:t>
            </a:r>
            <a:endParaRPr lang="en-US" sz="1600" dirty="0">
              <a:latin typeface="Arial Black" panose="020B0A04020102020204" pitchFamily="34" charset="0"/>
            </a:endParaRPr>
          </a:p>
          <a:p>
            <a:r>
              <a:rPr lang="en-US" dirty="0">
                <a:latin typeface="Arial Black" panose="020B0A04020102020204" pitchFamily="34" charset="0"/>
              </a:rPr>
              <a:t>	</a:t>
            </a:r>
            <a:r>
              <a:rPr lang="en-US" dirty="0" smtClean="0">
                <a:latin typeface="Arial Black" panose="020B0A04020102020204" pitchFamily="34" charset="0"/>
              </a:rPr>
              <a:t>                 </a:t>
            </a:r>
            <a:r>
              <a:rPr lang="en-US" sz="1600" dirty="0" smtClean="0">
                <a:latin typeface="Arial Black" panose="020B0A04020102020204" pitchFamily="34" charset="0"/>
              </a:rPr>
              <a:t>- Mature vascular bundle consists three main </a:t>
            </a:r>
            <a:r>
              <a:rPr lang="en-US" sz="1600" dirty="0">
                <a:latin typeface="Arial Black" panose="020B0A04020102020204" pitchFamily="34" charset="0"/>
              </a:rPr>
              <a:t>tissues: xylem (inner), phloem </a:t>
            </a:r>
            <a:endParaRPr lang="en-US" sz="1600" dirty="0" smtClean="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a:t>
            </a:r>
            <a:r>
              <a:rPr lang="en-US" sz="1600" dirty="0">
                <a:latin typeface="Arial Black" panose="020B0A04020102020204" pitchFamily="34" charset="0"/>
              </a:rPr>
              <a:t>outer) and cambium (between them</a:t>
            </a:r>
            <a:r>
              <a:rPr lang="en-US" sz="1600" dirty="0" smtClean="0">
                <a:latin typeface="Arial Black" panose="020B0A04020102020204" pitchFamily="34" charset="0"/>
              </a:rPr>
              <a:t>).</a:t>
            </a:r>
          </a:p>
          <a:p>
            <a:endParaRPr lang="en-US" sz="1600" dirty="0">
              <a:latin typeface="Arial Black" panose="020B0A04020102020204" pitchFamily="34" charset="0"/>
            </a:endParaRPr>
          </a:p>
          <a:p>
            <a:r>
              <a:rPr lang="en-US" dirty="0" smtClean="0">
                <a:latin typeface="Arial Black" panose="020B0A04020102020204" pitchFamily="34" charset="0"/>
              </a:rPr>
              <a:t>      </a:t>
            </a:r>
            <a:r>
              <a:rPr lang="en-US" dirty="0">
                <a:latin typeface="Arial Black" panose="020B0A04020102020204" pitchFamily="34" charset="0"/>
              </a:rPr>
              <a:t>	</a:t>
            </a:r>
            <a:endParaRPr lang="en-US" dirty="0">
              <a:latin typeface="Arial Black" panose="020B0A04020102020204" pitchFamily="34" charset="0"/>
            </a:endParaRPr>
          </a:p>
        </p:txBody>
      </p:sp>
    </p:spTree>
    <p:extLst>
      <p:ext uri="{BB962C8B-B14F-4D97-AF65-F5344CB8AC3E}">
        <p14:creationId xmlns:p14="http://schemas.microsoft.com/office/powerpoint/2010/main" val="2211209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97280" y="2551837"/>
            <a:ext cx="10489668" cy="2923877"/>
          </a:xfrm>
          <a:prstGeom prst="rect">
            <a:avLst/>
          </a:prstGeom>
        </p:spPr>
        <p:txBody>
          <a:bodyPr wrap="square">
            <a:spAutoFit/>
          </a:bodyPr>
          <a:lstStyle/>
          <a:p>
            <a:pPr marL="285750" indent="-285750">
              <a:buFontTx/>
              <a:buChar char="-"/>
            </a:pPr>
            <a:r>
              <a:rPr lang="en-US" dirty="0" smtClean="0">
                <a:solidFill>
                  <a:srgbClr val="0070C0"/>
                </a:solidFill>
                <a:latin typeface="Arial Black" panose="020B0A04020102020204" pitchFamily="34" charset="0"/>
              </a:rPr>
              <a:t>Pith </a:t>
            </a:r>
            <a:r>
              <a:rPr lang="en-US" dirty="0">
                <a:solidFill>
                  <a:srgbClr val="0070C0"/>
                </a:solidFill>
                <a:latin typeface="Arial Black" panose="020B0A04020102020204" pitchFamily="34" charset="0"/>
              </a:rPr>
              <a:t>(medulla)</a:t>
            </a:r>
            <a:r>
              <a:rPr lang="en-US" dirty="0">
                <a:latin typeface="Arial Black" panose="020B0A04020102020204" pitchFamily="34" charset="0"/>
              </a:rPr>
              <a:t>: </a:t>
            </a:r>
            <a:r>
              <a:rPr lang="en-US" sz="1600" dirty="0">
                <a:latin typeface="Arial Black" panose="020B0A04020102020204" pitchFamily="34" charset="0"/>
              </a:rPr>
              <a:t>occupies the large central part, parenchyma with intercellular spaces</a:t>
            </a:r>
            <a:r>
              <a:rPr lang="en-US" sz="1600" dirty="0" smtClean="0">
                <a:latin typeface="Arial Black" panose="020B0A04020102020204" pitchFamily="34" charset="0"/>
              </a:rPr>
              <a:t>.</a:t>
            </a:r>
          </a:p>
          <a:p>
            <a:pPr marL="285750" indent="-285750">
              <a:buFontTx/>
              <a:buChar char="-"/>
            </a:pPr>
            <a:endParaRPr lang="en-US" sz="1600" dirty="0">
              <a:latin typeface="Arial Black" panose="020B0A04020102020204" pitchFamily="34" charset="0"/>
            </a:endParaRPr>
          </a:p>
          <a:p>
            <a:r>
              <a:rPr lang="en-US" sz="1600" dirty="0">
                <a:latin typeface="Arial Black" panose="020B0A04020102020204" pitchFamily="34" charset="0"/>
              </a:rPr>
              <a:t>          </a:t>
            </a:r>
            <a:r>
              <a:rPr lang="en-US" sz="1600" dirty="0" smtClean="0">
                <a:solidFill>
                  <a:srgbClr val="FF0000"/>
                </a:solidFill>
                <a:latin typeface="Arial Black" panose="020B0A04020102020204" pitchFamily="34" charset="0"/>
              </a:rPr>
              <a:t>Functions </a:t>
            </a:r>
            <a:r>
              <a:rPr lang="en-US" sz="1600" dirty="0">
                <a:solidFill>
                  <a:srgbClr val="FF0000"/>
                </a:solidFill>
                <a:latin typeface="Arial Black" panose="020B0A04020102020204" pitchFamily="34" charset="0"/>
              </a:rPr>
              <a:t>of the Pith or </a:t>
            </a:r>
            <a:r>
              <a:rPr lang="en-US" sz="1600" dirty="0" smtClean="0">
                <a:solidFill>
                  <a:srgbClr val="FF0000"/>
                </a:solidFill>
                <a:latin typeface="Arial Black" panose="020B0A04020102020204" pitchFamily="34" charset="0"/>
              </a:rPr>
              <a:t>Medulla:</a:t>
            </a:r>
          </a:p>
          <a:p>
            <a:pPr marL="900113" indent="-176213"/>
            <a:r>
              <a:rPr lang="en-US" sz="1600" dirty="0" smtClean="0">
                <a:latin typeface="Arial Black" panose="020B0A04020102020204" pitchFamily="34" charset="0"/>
              </a:rPr>
              <a:t>o</a:t>
            </a:r>
            <a:r>
              <a:rPr lang="en-US" sz="1600" dirty="0">
                <a:latin typeface="Arial Black" panose="020B0A04020102020204" pitchFamily="34" charset="0"/>
              </a:rPr>
              <a:t>	</a:t>
            </a:r>
            <a:r>
              <a:rPr lang="en-US" sz="1400" dirty="0">
                <a:latin typeface="Arial Black" panose="020B0A04020102020204" pitchFamily="34" charset="0"/>
              </a:rPr>
              <a:t>The cells of the pith store water and starch. </a:t>
            </a:r>
            <a:endParaRPr lang="en-US" sz="1400" dirty="0" smtClean="0">
              <a:latin typeface="Arial Black" panose="020B0A04020102020204" pitchFamily="34" charset="0"/>
            </a:endParaRPr>
          </a:p>
          <a:p>
            <a:pPr marL="900113" indent="-176213"/>
            <a:endParaRPr lang="en-US" sz="1400" dirty="0">
              <a:latin typeface="Arial Black" panose="020B0A04020102020204" pitchFamily="34" charset="0"/>
            </a:endParaRPr>
          </a:p>
          <a:p>
            <a:pPr marL="900113" indent="-176213"/>
            <a:r>
              <a:rPr lang="en-US" sz="1400" dirty="0">
                <a:latin typeface="Arial Black" panose="020B0A04020102020204" pitchFamily="34" charset="0"/>
              </a:rPr>
              <a:t>o	They allow for the exchange of gases through the intercellular air spaces. </a:t>
            </a:r>
            <a:endParaRPr lang="en-US" sz="1400" dirty="0" smtClean="0">
              <a:latin typeface="Arial Black" panose="020B0A04020102020204" pitchFamily="34" charset="0"/>
            </a:endParaRPr>
          </a:p>
          <a:p>
            <a:pPr marL="900113" indent="-176213"/>
            <a:endParaRPr lang="en-US" sz="1400" dirty="0">
              <a:latin typeface="Arial Black" panose="020B0A04020102020204" pitchFamily="34" charset="0"/>
            </a:endParaRPr>
          </a:p>
          <a:p>
            <a:pPr marL="900113" indent="-176213"/>
            <a:r>
              <a:rPr lang="en-US" sz="1400" dirty="0">
                <a:latin typeface="Arial Black" panose="020B0A04020102020204" pitchFamily="34" charset="0"/>
              </a:rPr>
              <a:t>o	The medullary rays transport substances from the xylem and phloem to the inner and outer parts of the stem. </a:t>
            </a:r>
          </a:p>
          <a:p>
            <a:endParaRPr lang="en-US" sz="1400" dirty="0" smtClean="0">
              <a:latin typeface="Arial Black" panose="020B0A04020102020204" pitchFamily="34" charset="0"/>
            </a:endParaRPr>
          </a:p>
          <a:p>
            <a:r>
              <a:rPr lang="en-US" sz="1600" dirty="0" smtClean="0">
                <a:solidFill>
                  <a:srgbClr val="FF0000"/>
                </a:solidFill>
                <a:latin typeface="Arial Black" panose="020B0A04020102020204" pitchFamily="34" charset="0"/>
              </a:rPr>
              <a:t>-  </a:t>
            </a:r>
            <a:r>
              <a:rPr lang="en-US" dirty="0" smtClean="0">
                <a:solidFill>
                  <a:srgbClr val="0070C0"/>
                </a:solidFill>
                <a:latin typeface="Arial Black" panose="020B0A04020102020204" pitchFamily="34" charset="0"/>
              </a:rPr>
              <a:t>Medullary rays</a:t>
            </a:r>
            <a:r>
              <a:rPr lang="en-US" dirty="0" smtClean="0">
                <a:solidFill>
                  <a:srgbClr val="FF0000"/>
                </a:solidFill>
                <a:latin typeface="Arial Black" panose="020B0A04020102020204" pitchFamily="34" charset="0"/>
              </a:rPr>
              <a:t>: </a:t>
            </a:r>
            <a:r>
              <a:rPr lang="en-US" sz="1600" b="1" dirty="0">
                <a:latin typeface="Arial Black" panose="020B0A04020102020204" pitchFamily="34" charset="0"/>
              </a:rPr>
              <a:t>are bands of parenchyma located between the vascular bundles &amp;</a:t>
            </a:r>
          </a:p>
          <a:p>
            <a:r>
              <a:rPr lang="en-US" sz="1600" b="1" dirty="0">
                <a:latin typeface="Arial Black" panose="020B0A04020102020204" pitchFamily="34" charset="0"/>
              </a:rPr>
              <a:t>	</a:t>
            </a:r>
            <a:r>
              <a:rPr lang="en-US" sz="1600" b="1" dirty="0" smtClean="0">
                <a:latin typeface="Arial Black" panose="020B0A04020102020204" pitchFamily="34" charset="0"/>
              </a:rPr>
              <a:t>                         </a:t>
            </a:r>
            <a:r>
              <a:rPr lang="en-US" sz="1600" b="1" dirty="0">
                <a:latin typeface="Arial Black" panose="020B0A04020102020204" pitchFamily="34" charset="0"/>
              </a:rPr>
              <a:t>continuous with cortex &amp; pith</a:t>
            </a:r>
            <a:endParaRPr lang="en-US" sz="1600" b="1" dirty="0">
              <a:latin typeface="Arial Black" panose="020B0A04020102020204" pitchFamily="34" charset="0"/>
            </a:endParaRPr>
          </a:p>
        </p:txBody>
      </p:sp>
    </p:spTree>
    <p:extLst>
      <p:ext uri="{BB962C8B-B14F-4D97-AF65-F5344CB8AC3E}">
        <p14:creationId xmlns:p14="http://schemas.microsoft.com/office/powerpoint/2010/main" val="483558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734" y="1774208"/>
            <a:ext cx="10912750" cy="4148919"/>
          </a:xfrm>
        </p:spPr>
        <p:txBody>
          <a:bodyPr>
            <a:normAutofit/>
          </a:bodyPr>
          <a:lstStyle/>
          <a:p>
            <a:pPr marL="285750" indent="-285750">
              <a:buFont typeface="Wingdings" panose="05000000000000000000" pitchFamily="2" charset="2"/>
              <a:buChar char="v"/>
            </a:pPr>
            <a:r>
              <a:rPr lang="en-US" sz="1800" dirty="0">
                <a:latin typeface="Arial Black" panose="020B0A04020102020204" pitchFamily="34" charset="0"/>
              </a:rPr>
              <a:t>Cross section of Dicot </a:t>
            </a:r>
            <a:r>
              <a:rPr lang="en-US" sz="1800" dirty="0" smtClean="0">
                <a:latin typeface="Arial Black" panose="020B0A04020102020204" pitchFamily="34" charset="0"/>
              </a:rPr>
              <a:t>stem :</a:t>
            </a:r>
            <a:br>
              <a:rPr lang="en-US" sz="1800" dirty="0" smtClean="0">
                <a:latin typeface="Arial Black" panose="020B0A04020102020204" pitchFamily="34" charset="0"/>
              </a:rPr>
            </a:br>
            <a:r>
              <a:rPr lang="en-US" sz="1800" dirty="0">
                <a:latin typeface="Arial Black" panose="020B0A04020102020204" pitchFamily="34" charset="0"/>
              </a:rPr>
              <a:t> </a:t>
            </a:r>
            <a:br>
              <a:rPr lang="en-US" sz="1800" dirty="0">
                <a:latin typeface="Arial Black" panose="020B0A04020102020204" pitchFamily="34" charset="0"/>
              </a:rPr>
            </a:br>
            <a:r>
              <a:rPr lang="en-US" sz="1800" dirty="0" smtClean="0">
                <a:latin typeface="Arial Black" panose="020B0A04020102020204" pitchFamily="34" charset="0"/>
              </a:rPr>
              <a:t>** </a:t>
            </a:r>
            <a:r>
              <a:rPr lang="en-US" sz="1800" dirty="0" smtClean="0">
                <a:solidFill>
                  <a:srgbClr val="0070C0"/>
                </a:solidFill>
                <a:latin typeface="Arial Black" panose="020B0A04020102020204" pitchFamily="34" charset="0"/>
              </a:rPr>
              <a:t>Epidermis</a:t>
            </a:r>
            <a:r>
              <a:rPr lang="en-US" sz="1800" dirty="0" smtClean="0">
                <a:latin typeface="Arial Black" panose="020B0A04020102020204" pitchFamily="34" charset="0"/>
              </a:rPr>
              <a:t> :</a:t>
            </a:r>
            <a:br>
              <a:rPr lang="en-US" sz="1800" dirty="0" smtClean="0">
                <a:latin typeface="Arial Black" panose="020B0A04020102020204" pitchFamily="34" charset="0"/>
              </a:rPr>
            </a:br>
            <a:r>
              <a:rPr lang="en-US" sz="1800" dirty="0">
                <a:latin typeface="Arial Black" panose="020B0A04020102020204" pitchFamily="34" charset="0"/>
              </a:rPr>
              <a:t/>
            </a:r>
            <a:br>
              <a:rPr lang="en-US" sz="1800" dirty="0">
                <a:latin typeface="Arial Black" panose="020B0A04020102020204" pitchFamily="34" charset="0"/>
              </a:rPr>
            </a:br>
            <a:r>
              <a:rPr lang="en-US" sz="1800" dirty="0" smtClean="0">
                <a:latin typeface="Arial Black" panose="020B0A04020102020204" pitchFamily="34" charset="0"/>
              </a:rPr>
              <a:t>              - </a:t>
            </a:r>
            <a:r>
              <a:rPr lang="en-US" sz="1600" dirty="0" smtClean="0">
                <a:latin typeface="Arial Black" panose="020B0A04020102020204" pitchFamily="34" charset="0"/>
              </a:rPr>
              <a:t>The </a:t>
            </a:r>
            <a:r>
              <a:rPr lang="en-US" sz="1600" dirty="0">
                <a:latin typeface="Arial Black" panose="020B0A04020102020204" pitchFamily="34" charset="0"/>
              </a:rPr>
              <a:t>walls are thickened and covered with a thin waterproof layer called the cuticle</a:t>
            </a:r>
            <a:br>
              <a:rPr lang="en-US" sz="1600" dirty="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a:latin typeface="Arial Black" panose="020B0A04020102020204" pitchFamily="34" charset="0"/>
              </a:rPr>
              <a:t>	      - In some cases, a </a:t>
            </a:r>
            <a:r>
              <a:rPr lang="en-US" sz="1600" dirty="0" err="1">
                <a:latin typeface="Arial Black" panose="020B0A04020102020204" pitchFamily="34" charset="0"/>
              </a:rPr>
              <a:t>uni</a:t>
            </a:r>
            <a:r>
              <a:rPr lang="en-US" sz="1600" dirty="0">
                <a:latin typeface="Arial Black" panose="020B0A04020102020204" pitchFamily="34" charset="0"/>
              </a:rPr>
              <a:t>- or multicellular hair like outgrowth </a:t>
            </a:r>
            <a:r>
              <a:rPr lang="en-US" sz="1600" dirty="0" smtClean="0">
                <a:latin typeface="Arial Black" panose="020B0A04020102020204" pitchFamily="34" charset="0"/>
              </a:rPr>
              <a:t>appears</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smtClean="0">
                <a:latin typeface="Arial Black" panose="020B0A04020102020204" pitchFamily="34" charset="0"/>
              </a:rPr>
              <a:t>** </a:t>
            </a:r>
            <a:r>
              <a:rPr lang="en-US" sz="1800" dirty="0" smtClean="0">
                <a:solidFill>
                  <a:srgbClr val="0070C0"/>
                </a:solidFill>
                <a:latin typeface="Arial Black" panose="020B0A04020102020204" pitchFamily="34" charset="0"/>
              </a:rPr>
              <a:t>Hypodermis</a:t>
            </a:r>
            <a:r>
              <a:rPr lang="en-US" sz="1600" dirty="0" smtClean="0">
                <a:latin typeface="Arial Black" panose="020B0A04020102020204" pitchFamily="34" charset="0"/>
              </a:rPr>
              <a:t> </a:t>
            </a:r>
            <a:r>
              <a:rPr lang="en-US" sz="1600" dirty="0">
                <a:latin typeface="Arial Black" panose="020B0A04020102020204" pitchFamily="34" charset="0"/>
              </a:rPr>
              <a:t>:</a:t>
            </a:r>
            <a:br>
              <a:rPr lang="en-US" sz="1600" dirty="0">
                <a:latin typeface="Arial Black" panose="020B0A04020102020204" pitchFamily="34" charset="0"/>
              </a:rPr>
            </a:br>
            <a:r>
              <a:rPr lang="en-US" sz="1600" dirty="0" smtClean="0">
                <a:latin typeface="Arial Black" panose="020B0A04020102020204" pitchFamily="34" charset="0"/>
              </a:rPr>
              <a:t>                </a:t>
            </a:r>
            <a:br>
              <a:rPr lang="en-US" sz="1600" dirty="0" smtClean="0">
                <a:latin typeface="Arial Black" panose="020B0A04020102020204" pitchFamily="34" charset="0"/>
              </a:rPr>
            </a:br>
            <a:r>
              <a:rPr lang="en-US" sz="1600" dirty="0">
                <a:latin typeface="Arial Black" panose="020B0A04020102020204" pitchFamily="34" charset="0"/>
              </a:rPr>
              <a:t>                  - </a:t>
            </a:r>
            <a:r>
              <a:rPr lang="en-US" sz="1600" dirty="0" smtClean="0">
                <a:latin typeface="Arial Black" panose="020B0A04020102020204" pitchFamily="34" charset="0"/>
              </a:rPr>
              <a:t>Made </a:t>
            </a:r>
            <a:r>
              <a:rPr lang="en-US" sz="1600" dirty="0">
                <a:latin typeface="Arial Black" panose="020B0A04020102020204" pitchFamily="34" charset="0"/>
              </a:rPr>
              <a:t>from compactly arranged sclerenchyma without intercellular </a:t>
            </a:r>
            <a:r>
              <a:rPr lang="en-US" sz="1600" dirty="0" smtClean="0">
                <a:latin typeface="Arial Black" panose="020B0A04020102020204" pitchFamily="34" charset="0"/>
              </a:rPr>
              <a:t>spaces</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600" dirty="0">
                <a:latin typeface="Arial Black" panose="020B0A04020102020204" pitchFamily="34" charset="0"/>
              </a:rPr>
              <a:t>                  - </a:t>
            </a:r>
            <a:r>
              <a:rPr lang="en-US" sz="1600" dirty="0" smtClean="0">
                <a:latin typeface="Arial Black" panose="020B0A04020102020204" pitchFamily="34" charset="0"/>
              </a:rPr>
              <a:t>Provides </a:t>
            </a:r>
            <a:r>
              <a:rPr lang="en-US" sz="1600" dirty="0">
                <a:latin typeface="Arial Black" panose="020B0A04020102020204" pitchFamily="34" charset="0"/>
              </a:rPr>
              <a:t>mechanical strength to the </a:t>
            </a:r>
            <a:r>
              <a:rPr lang="en-US" sz="1600" dirty="0" smtClean="0">
                <a:latin typeface="Arial Black" panose="020B0A04020102020204" pitchFamily="34" charset="0"/>
              </a:rPr>
              <a:t>plant</a:t>
            </a:r>
            <a:br>
              <a:rPr lang="en-US" sz="1600" dirty="0" smtClean="0">
                <a:latin typeface="Arial Black" panose="020B0A04020102020204" pitchFamily="34" charset="0"/>
              </a:rPr>
            </a:br>
            <a:r>
              <a:rPr lang="en-US" sz="1600" dirty="0">
                <a:latin typeface="Arial Black" panose="020B0A04020102020204" pitchFamily="34" charset="0"/>
              </a:rPr>
              <a:t/>
            </a:r>
            <a:br>
              <a:rPr lang="en-US" sz="1600" dirty="0">
                <a:latin typeface="Arial Black" panose="020B0A04020102020204" pitchFamily="34" charset="0"/>
              </a:rPr>
            </a:br>
            <a:r>
              <a:rPr lang="en-US" sz="1800" dirty="0" smtClean="0">
                <a:solidFill>
                  <a:srgbClr val="0070C0"/>
                </a:solidFill>
                <a:latin typeface="Arial Black" panose="020B0A04020102020204" pitchFamily="34" charset="0"/>
              </a:rPr>
              <a:t>                  </a:t>
            </a:r>
            <a:r>
              <a:rPr lang="en-US" sz="1800" dirty="0">
                <a:latin typeface="Arial Black" panose="020B0A04020102020204" pitchFamily="34" charset="0"/>
              </a:rPr>
              <a:t/>
            </a:r>
            <a:br>
              <a:rPr lang="en-US" sz="1800" dirty="0">
                <a:latin typeface="Arial Black" panose="020B0A04020102020204" pitchFamily="34" charset="0"/>
              </a:rPr>
            </a:br>
            <a:endParaRPr lang="ar-JO" sz="1800" dirty="0"/>
          </a:p>
        </p:txBody>
      </p:sp>
    </p:spTree>
    <p:extLst>
      <p:ext uri="{BB962C8B-B14F-4D97-AF65-F5344CB8AC3E}">
        <p14:creationId xmlns:p14="http://schemas.microsoft.com/office/powerpoint/2010/main" val="59351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6980" y="1737360"/>
            <a:ext cx="10672548" cy="3539430"/>
          </a:xfrm>
          <a:prstGeom prst="rect">
            <a:avLst/>
          </a:prstGeom>
        </p:spPr>
        <p:txBody>
          <a:bodyPr wrap="square">
            <a:spAutoFit/>
          </a:bodyPr>
          <a:lstStyle/>
          <a:p>
            <a:r>
              <a:rPr lang="en-US" sz="1600" dirty="0">
                <a:latin typeface="Arial Black" panose="020B0A04020102020204" pitchFamily="34" charset="0"/>
              </a:rPr>
              <a:t>** </a:t>
            </a:r>
            <a:r>
              <a:rPr lang="en-US" dirty="0">
                <a:solidFill>
                  <a:srgbClr val="0070C0"/>
                </a:solidFill>
                <a:latin typeface="Arial Black" panose="020B0A04020102020204" pitchFamily="34" charset="0"/>
              </a:rPr>
              <a:t>Ground Tissue </a:t>
            </a:r>
            <a:r>
              <a:rPr lang="en-US" dirty="0" smtClean="0">
                <a:solidFill>
                  <a:srgbClr val="0070C0"/>
                </a:solidFill>
                <a:latin typeface="Arial Black" panose="020B0A04020102020204" pitchFamily="34" charset="0"/>
              </a:rPr>
              <a:t>:</a:t>
            </a:r>
          </a:p>
          <a:p>
            <a:r>
              <a:rPr lang="en-US" dirty="0">
                <a:solidFill>
                  <a:srgbClr val="0070C0"/>
                </a:solidFill>
                <a:latin typeface="Arial Black" panose="020B0A04020102020204" pitchFamily="34" charset="0"/>
              </a:rPr>
              <a:t/>
            </a:r>
            <a:br>
              <a:rPr lang="en-US" dirty="0">
                <a:solidFill>
                  <a:srgbClr val="0070C0"/>
                </a:solidFill>
                <a:latin typeface="Arial Black" panose="020B0A04020102020204" pitchFamily="34" charset="0"/>
              </a:rPr>
            </a:br>
            <a:r>
              <a:rPr lang="en-US" dirty="0">
                <a:latin typeface="Arial Black" panose="020B0A04020102020204" pitchFamily="34" charset="0"/>
              </a:rPr>
              <a:t>                 - Made up from parenchyma </a:t>
            </a:r>
            <a:r>
              <a:rPr lang="en-US" dirty="0" smtClean="0">
                <a:latin typeface="Arial Black" panose="020B0A04020102020204" pitchFamily="34" charset="0"/>
              </a:rPr>
              <a:t>cells</a:t>
            </a:r>
          </a:p>
          <a:p>
            <a:endParaRPr lang="en-US" dirty="0">
              <a:solidFill>
                <a:srgbClr val="0070C0"/>
              </a:solidFill>
              <a:latin typeface="Arial Black" panose="020B0A04020102020204" pitchFamily="34" charset="0"/>
            </a:endParaRPr>
          </a:p>
          <a:p>
            <a:r>
              <a:rPr lang="en-US" dirty="0">
                <a:latin typeface="Arial Black" panose="020B0A04020102020204" pitchFamily="34" charset="0"/>
              </a:rPr>
              <a:t>                 - </a:t>
            </a:r>
            <a:r>
              <a:rPr lang="en-US" sz="1600" dirty="0" smtClean="0">
                <a:latin typeface="Arial Black" panose="020B0A04020102020204" pitchFamily="34" charset="0"/>
              </a:rPr>
              <a:t>Not </a:t>
            </a:r>
            <a:r>
              <a:rPr lang="en-US" sz="1600" dirty="0">
                <a:latin typeface="Arial Black" panose="020B0A04020102020204" pitchFamily="34" charset="0"/>
              </a:rPr>
              <a:t>differentiated into cortex, endodermis, </a:t>
            </a:r>
            <a:r>
              <a:rPr lang="en-US" sz="1600" dirty="0" err="1">
                <a:latin typeface="Arial Black" panose="020B0A04020102020204" pitchFamily="34" charset="0"/>
              </a:rPr>
              <a:t>pericycle</a:t>
            </a:r>
            <a:r>
              <a:rPr lang="en-US" sz="1600" dirty="0">
                <a:latin typeface="Arial Black" panose="020B0A04020102020204" pitchFamily="34" charset="0"/>
              </a:rPr>
              <a:t> and </a:t>
            </a:r>
            <a:r>
              <a:rPr lang="en-US" sz="1600" dirty="0" smtClean="0">
                <a:latin typeface="Arial Black" panose="020B0A04020102020204" pitchFamily="34" charset="0"/>
              </a:rPr>
              <a:t>pith</a:t>
            </a:r>
          </a:p>
          <a:p>
            <a:endParaRPr lang="en-US" sz="1600" dirty="0">
              <a:latin typeface="Arial Black" panose="020B0A04020102020204" pitchFamily="34" charset="0"/>
            </a:endParaRPr>
          </a:p>
          <a:p>
            <a:r>
              <a:rPr lang="en-US" sz="1600" dirty="0" smtClean="0">
                <a:latin typeface="Arial Black" panose="020B0A04020102020204" pitchFamily="34" charset="0"/>
              </a:rPr>
              <a:t>                   </a:t>
            </a:r>
            <a:r>
              <a:rPr lang="en-US" sz="1600" dirty="0">
                <a:latin typeface="Arial Black" panose="020B0A04020102020204" pitchFamily="34" charset="0"/>
              </a:rPr>
              <a:t>-  </a:t>
            </a:r>
            <a:r>
              <a:rPr lang="en-US" sz="1600" dirty="0" smtClean="0">
                <a:latin typeface="Arial Black" panose="020B0A04020102020204" pitchFamily="34" charset="0"/>
              </a:rPr>
              <a:t>Compactly </a:t>
            </a:r>
            <a:r>
              <a:rPr lang="en-US" sz="1600" dirty="0">
                <a:latin typeface="Arial Black" panose="020B0A04020102020204" pitchFamily="34" charset="0"/>
              </a:rPr>
              <a:t>arranged (toward center) or loosely arranged (toward peripheral</a:t>
            </a:r>
            <a:r>
              <a:rPr lang="en-US" sz="1600" dirty="0" smtClean="0">
                <a:latin typeface="Arial Black" panose="020B0A04020102020204" pitchFamily="34" charset="0"/>
              </a:rPr>
              <a:t>)</a:t>
            </a:r>
          </a:p>
          <a:p>
            <a:endParaRPr lang="en-US" sz="1600" dirty="0">
              <a:latin typeface="Arial Black" panose="020B0A04020102020204" pitchFamily="34" charset="0"/>
            </a:endParaRPr>
          </a:p>
          <a:p>
            <a:r>
              <a:rPr lang="en-US" sz="1600" dirty="0">
                <a:latin typeface="Arial Black" panose="020B0A04020102020204" pitchFamily="34" charset="0"/>
              </a:rPr>
              <a:t>                    -  </a:t>
            </a:r>
            <a:r>
              <a:rPr lang="en-US" sz="1600" dirty="0" smtClean="0">
                <a:latin typeface="Arial Black" panose="020B0A04020102020204" pitchFamily="34" charset="0"/>
              </a:rPr>
              <a:t>Vascular </a:t>
            </a:r>
            <a:r>
              <a:rPr lang="en-US" sz="1600" dirty="0">
                <a:latin typeface="Arial Black" panose="020B0A04020102020204" pitchFamily="34" charset="0"/>
              </a:rPr>
              <a:t>bundles are </a:t>
            </a:r>
            <a:r>
              <a:rPr lang="en-US" sz="1600" dirty="0" smtClean="0">
                <a:latin typeface="Arial Black" panose="020B0A04020102020204" pitchFamily="34" charset="0"/>
              </a:rPr>
              <a:t>randomly scattered in this tissue</a:t>
            </a:r>
          </a:p>
          <a:p>
            <a:endParaRPr lang="en-US" sz="1600" dirty="0">
              <a:solidFill>
                <a:srgbClr val="0070C0"/>
              </a:solidFill>
              <a:latin typeface="Arial Black" panose="020B0A04020102020204" pitchFamily="34" charset="0"/>
            </a:endParaRPr>
          </a:p>
          <a:p>
            <a:r>
              <a:rPr lang="en-US" sz="1600" dirty="0">
                <a:solidFill>
                  <a:srgbClr val="0070C0"/>
                </a:solidFill>
                <a:latin typeface="Arial Black" panose="020B0A04020102020204" pitchFamily="34" charset="0"/>
              </a:rPr>
              <a:t>                   -  </a:t>
            </a:r>
            <a:r>
              <a:rPr lang="en-US" sz="1600" dirty="0" smtClean="0">
                <a:solidFill>
                  <a:srgbClr val="0070C0"/>
                </a:solidFill>
                <a:latin typeface="Arial Black" panose="020B0A04020102020204" pitchFamily="34" charset="0"/>
              </a:rPr>
              <a:t>Functions:</a:t>
            </a:r>
            <a:r>
              <a:rPr lang="en-US" dirty="0" smtClean="0">
                <a:solidFill>
                  <a:srgbClr val="0070C0"/>
                </a:solidFill>
                <a:latin typeface="Arial Black" panose="020B0A04020102020204" pitchFamily="34" charset="0"/>
              </a:rPr>
              <a:t> </a:t>
            </a:r>
          </a:p>
          <a:p>
            <a:pPr marL="1609725">
              <a:buFont typeface="Wingdings" panose="05000000000000000000" pitchFamily="2" charset="2"/>
              <a:buChar char="ü"/>
            </a:pPr>
            <a:r>
              <a:rPr lang="en-US" dirty="0">
                <a:solidFill>
                  <a:srgbClr val="0070C0"/>
                </a:solidFill>
                <a:latin typeface="Arial Black" panose="020B0A04020102020204" pitchFamily="34" charset="0"/>
              </a:rPr>
              <a:t>  </a:t>
            </a:r>
            <a:r>
              <a:rPr lang="en-US" sz="1400" dirty="0" smtClean="0">
                <a:solidFill>
                  <a:srgbClr val="FF0000"/>
                </a:solidFill>
                <a:latin typeface="Arial Black" panose="020B0A04020102020204" pitchFamily="34" charset="0"/>
              </a:rPr>
              <a:t>Store </a:t>
            </a:r>
            <a:r>
              <a:rPr lang="en-US" sz="1400" dirty="0">
                <a:solidFill>
                  <a:srgbClr val="FF0000"/>
                </a:solidFill>
                <a:latin typeface="Arial Black" panose="020B0A04020102020204" pitchFamily="34" charset="0"/>
              </a:rPr>
              <a:t>synthesized organic food </a:t>
            </a:r>
            <a:endParaRPr lang="en-US" sz="1400" dirty="0" smtClean="0">
              <a:solidFill>
                <a:srgbClr val="FF0000"/>
              </a:solidFill>
              <a:latin typeface="Arial Black" panose="020B0A04020102020204" pitchFamily="34" charset="0"/>
            </a:endParaRPr>
          </a:p>
          <a:p>
            <a:pPr marL="1609725">
              <a:buFont typeface="Wingdings" panose="05000000000000000000" pitchFamily="2" charset="2"/>
              <a:buChar char="ü"/>
            </a:pPr>
            <a:r>
              <a:rPr lang="en-US" sz="1400" dirty="0" smtClean="0">
                <a:solidFill>
                  <a:srgbClr val="FF0000"/>
                </a:solidFill>
                <a:latin typeface="Arial Black" panose="020B0A04020102020204" pitchFamily="34" charset="0"/>
              </a:rPr>
              <a:t> </a:t>
            </a:r>
            <a:r>
              <a:rPr lang="en-US" dirty="0">
                <a:solidFill>
                  <a:srgbClr val="0070C0"/>
                </a:solidFill>
                <a:latin typeface="Arial Black" panose="020B0A04020102020204" pitchFamily="34" charset="0"/>
              </a:rPr>
              <a:t> </a:t>
            </a:r>
            <a:r>
              <a:rPr lang="en-US" sz="1400" dirty="0">
                <a:solidFill>
                  <a:srgbClr val="FF0000"/>
                </a:solidFill>
                <a:latin typeface="Arial Black" panose="020B0A04020102020204" pitchFamily="34" charset="0"/>
              </a:rPr>
              <a:t>Intercellular air spaces allow the exchange of gases                      </a:t>
            </a:r>
            <a:endParaRPr lang="ar-JO" sz="1400" dirty="0">
              <a:solidFill>
                <a:srgbClr val="FF0000"/>
              </a:solidFill>
            </a:endParaRPr>
          </a:p>
        </p:txBody>
      </p:sp>
    </p:spTree>
    <p:extLst>
      <p:ext uri="{BB962C8B-B14F-4D97-AF65-F5344CB8AC3E}">
        <p14:creationId xmlns:p14="http://schemas.microsoft.com/office/powerpoint/2010/main" val="4034986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JO"/>
          </a:p>
        </p:txBody>
      </p:sp>
      <p:sp>
        <p:nvSpPr>
          <p:cNvPr id="3" name="Rectangle 2"/>
          <p:cNvSpPr/>
          <p:nvPr/>
        </p:nvSpPr>
        <p:spPr>
          <a:xfrm>
            <a:off x="736980" y="1737360"/>
            <a:ext cx="10672548" cy="4278094"/>
          </a:xfrm>
          <a:prstGeom prst="rect">
            <a:avLst/>
          </a:prstGeom>
        </p:spPr>
        <p:txBody>
          <a:bodyPr wrap="square">
            <a:spAutoFit/>
          </a:bodyPr>
          <a:lstStyle/>
          <a:p>
            <a:r>
              <a:rPr lang="en-US" sz="1600" dirty="0">
                <a:latin typeface="Arial Black" panose="020B0A04020102020204" pitchFamily="34" charset="0"/>
              </a:rPr>
              <a:t>** </a:t>
            </a:r>
            <a:r>
              <a:rPr lang="en-US" dirty="0">
                <a:solidFill>
                  <a:srgbClr val="0070C0"/>
                </a:solidFill>
                <a:latin typeface="Arial Black" panose="020B0A04020102020204" pitchFamily="34" charset="0"/>
              </a:rPr>
              <a:t>•	Vascular bundles :</a:t>
            </a:r>
            <a:endParaRPr lang="en-US" dirty="0" smtClean="0">
              <a:solidFill>
                <a:srgbClr val="0070C0"/>
              </a:solidFill>
              <a:latin typeface="Arial Black" panose="020B0A04020102020204" pitchFamily="34" charset="0"/>
            </a:endParaRPr>
          </a:p>
          <a:p>
            <a:r>
              <a:rPr lang="en-US" dirty="0">
                <a:solidFill>
                  <a:srgbClr val="0070C0"/>
                </a:solidFill>
                <a:latin typeface="Arial Black" panose="020B0A04020102020204" pitchFamily="34" charset="0"/>
              </a:rPr>
              <a:t/>
            </a:r>
            <a:br>
              <a:rPr lang="en-US" dirty="0">
                <a:solidFill>
                  <a:srgbClr val="0070C0"/>
                </a:solidFill>
                <a:latin typeface="Arial Black" panose="020B0A04020102020204" pitchFamily="34" charset="0"/>
              </a:rPr>
            </a:br>
            <a:r>
              <a:rPr lang="en-US" dirty="0">
                <a:latin typeface="Arial Black" panose="020B0A04020102020204" pitchFamily="34" charset="0"/>
              </a:rPr>
              <a:t>                 - Vascular bundles are randomly scattered in this tissue</a:t>
            </a:r>
          </a:p>
          <a:p>
            <a:endParaRPr lang="en-US" dirty="0">
              <a:solidFill>
                <a:srgbClr val="0070C0"/>
              </a:solidFill>
              <a:latin typeface="Arial Black" panose="020B0A04020102020204" pitchFamily="34" charset="0"/>
            </a:endParaRPr>
          </a:p>
          <a:p>
            <a:r>
              <a:rPr lang="en-US" dirty="0">
                <a:latin typeface="Arial Black" panose="020B0A04020102020204" pitchFamily="34" charset="0"/>
              </a:rPr>
              <a:t>                 - </a:t>
            </a:r>
            <a:r>
              <a:rPr lang="en-US" sz="1600" dirty="0">
                <a:latin typeface="Arial Black" panose="020B0A04020102020204" pitchFamily="34" charset="0"/>
              </a:rPr>
              <a:t>It has two types: </a:t>
            </a:r>
            <a:endParaRPr lang="en-US" sz="1600" dirty="0" smtClean="0">
              <a:latin typeface="Arial Black" panose="020B0A04020102020204" pitchFamily="34" charset="0"/>
            </a:endParaRPr>
          </a:p>
          <a:p>
            <a:r>
              <a:rPr lang="en-US" sz="1600" dirty="0">
                <a:latin typeface="Arial Black" panose="020B0A04020102020204" pitchFamily="34" charset="0"/>
              </a:rPr>
              <a:t> </a:t>
            </a:r>
            <a:r>
              <a:rPr lang="en-US" sz="1600" dirty="0" smtClean="0">
                <a:latin typeface="Arial Black" panose="020B0A04020102020204" pitchFamily="34" charset="0"/>
              </a:rPr>
              <a:t>                           A) Larger </a:t>
            </a:r>
            <a:r>
              <a:rPr lang="en-US" sz="1600" dirty="0">
                <a:latin typeface="Arial Black" panose="020B0A04020102020204" pitchFamily="34" charset="0"/>
              </a:rPr>
              <a:t>and smaller lie towards the center (less in number</a:t>
            </a:r>
            <a:r>
              <a:rPr lang="en-US" sz="1600" dirty="0" smtClean="0">
                <a:latin typeface="Arial Black" panose="020B0A04020102020204" pitchFamily="34" charset="0"/>
              </a:rPr>
              <a:t>)</a:t>
            </a:r>
          </a:p>
          <a:p>
            <a:r>
              <a:rPr lang="en-US" sz="1600" dirty="0">
                <a:latin typeface="Arial Black" panose="020B0A04020102020204" pitchFamily="34" charset="0"/>
              </a:rPr>
              <a:t> </a:t>
            </a:r>
            <a:r>
              <a:rPr lang="en-US" sz="1600" dirty="0" smtClean="0">
                <a:latin typeface="Arial Black" panose="020B0A04020102020204" pitchFamily="34" charset="0"/>
              </a:rPr>
              <a:t>                           B) Smaller </a:t>
            </a:r>
            <a:r>
              <a:rPr lang="en-US" sz="1600" dirty="0">
                <a:latin typeface="Arial Black" panose="020B0A04020102020204" pitchFamily="34" charset="0"/>
              </a:rPr>
              <a:t>towards and periphery (more in number</a:t>
            </a:r>
            <a:r>
              <a:rPr lang="en-US" sz="1600" dirty="0" smtClean="0">
                <a:latin typeface="Arial Black" panose="020B0A04020102020204" pitchFamily="34" charset="0"/>
              </a:rPr>
              <a:t>)</a:t>
            </a:r>
          </a:p>
          <a:p>
            <a:endParaRPr lang="en-US" sz="1600" dirty="0">
              <a:latin typeface="Arial Black" panose="020B0A04020102020204" pitchFamily="34" charset="0"/>
            </a:endParaRPr>
          </a:p>
          <a:p>
            <a:r>
              <a:rPr lang="en-US" sz="1600" dirty="0" smtClean="0">
                <a:latin typeface="Arial Black" panose="020B0A04020102020204" pitchFamily="34" charset="0"/>
              </a:rPr>
              <a:t>                    </a:t>
            </a:r>
            <a:r>
              <a:rPr lang="en-US" sz="1600" dirty="0">
                <a:latin typeface="Arial Black" panose="020B0A04020102020204" pitchFamily="34" charset="0"/>
              </a:rPr>
              <a:t>-  </a:t>
            </a:r>
            <a:r>
              <a:rPr lang="en-US" sz="1600" dirty="0" smtClean="0">
                <a:latin typeface="Arial Black" panose="020B0A04020102020204" pitchFamily="34" charset="0"/>
              </a:rPr>
              <a:t>Contain </a:t>
            </a:r>
            <a:r>
              <a:rPr lang="en-US" sz="1600" dirty="0">
                <a:latin typeface="Arial Black" panose="020B0A04020102020204" pitchFamily="34" charset="0"/>
              </a:rPr>
              <a:t>no </a:t>
            </a:r>
            <a:r>
              <a:rPr lang="en-US" sz="1600" dirty="0" smtClean="0">
                <a:latin typeface="Arial Black" panose="020B0A04020102020204" pitchFamily="34" charset="0"/>
              </a:rPr>
              <a:t>cambium, So, no secondary growth </a:t>
            </a:r>
            <a:endParaRPr lang="en-US" sz="1600" dirty="0">
              <a:latin typeface="Arial Black" panose="020B0A04020102020204" pitchFamily="34" charset="0"/>
            </a:endParaRPr>
          </a:p>
          <a:p>
            <a:r>
              <a:rPr lang="en-US" sz="1600" dirty="0">
                <a:latin typeface="Arial Black" panose="020B0A04020102020204" pitchFamily="34" charset="0"/>
              </a:rPr>
              <a:t>                    </a:t>
            </a:r>
            <a:endParaRPr lang="en-US" sz="1600" dirty="0">
              <a:solidFill>
                <a:srgbClr val="0070C0"/>
              </a:solidFill>
              <a:latin typeface="Arial Black" panose="020B0A04020102020204" pitchFamily="34" charset="0"/>
            </a:endParaRPr>
          </a:p>
          <a:p>
            <a:r>
              <a:rPr lang="en-US" sz="1600" dirty="0">
                <a:solidFill>
                  <a:srgbClr val="0070C0"/>
                </a:solidFill>
                <a:latin typeface="Arial Black" panose="020B0A04020102020204" pitchFamily="34" charset="0"/>
              </a:rPr>
              <a:t>                   -  </a:t>
            </a:r>
            <a:r>
              <a:rPr lang="en-US" sz="1600" dirty="0" smtClean="0">
                <a:solidFill>
                  <a:srgbClr val="0070C0"/>
                </a:solidFill>
                <a:latin typeface="Arial Black" panose="020B0A04020102020204" pitchFamily="34" charset="0"/>
              </a:rPr>
              <a:t>Composed of:</a:t>
            </a:r>
            <a:r>
              <a:rPr lang="en-US" dirty="0" smtClean="0">
                <a:solidFill>
                  <a:srgbClr val="0070C0"/>
                </a:solidFill>
                <a:latin typeface="Arial Black" panose="020B0A04020102020204" pitchFamily="34" charset="0"/>
              </a:rPr>
              <a:t> </a:t>
            </a:r>
          </a:p>
          <a:p>
            <a:pPr marL="1609725">
              <a:buFont typeface="Wingdings" panose="05000000000000000000" pitchFamily="2" charset="2"/>
              <a:buChar char="ü"/>
            </a:pPr>
            <a:r>
              <a:rPr lang="en-US" sz="1400" dirty="0" smtClean="0">
                <a:solidFill>
                  <a:srgbClr val="FF0000"/>
                </a:solidFill>
                <a:latin typeface="Arial Black" panose="020B0A04020102020204" pitchFamily="34" charset="0"/>
              </a:rPr>
              <a:t>Sclerenchyma </a:t>
            </a:r>
            <a:r>
              <a:rPr lang="en-US" sz="1400" dirty="0">
                <a:solidFill>
                  <a:srgbClr val="FF0000"/>
                </a:solidFill>
                <a:latin typeface="Arial Black" panose="020B0A04020102020204" pitchFamily="34" charset="0"/>
              </a:rPr>
              <a:t>sheath: </a:t>
            </a:r>
            <a:endParaRPr lang="en-US" sz="1400" dirty="0" smtClean="0">
              <a:solidFill>
                <a:srgbClr val="FF0000"/>
              </a:solidFill>
              <a:latin typeface="Arial Black" panose="020B0A04020102020204" pitchFamily="34" charset="0"/>
            </a:endParaRPr>
          </a:p>
          <a:p>
            <a:pPr marL="1609725"/>
            <a:endParaRPr lang="en-US" sz="1400" dirty="0" smtClean="0">
              <a:solidFill>
                <a:srgbClr val="FF0000"/>
              </a:solidFill>
              <a:latin typeface="Arial Black" panose="020B0A04020102020204" pitchFamily="34" charset="0"/>
            </a:endParaRPr>
          </a:p>
          <a:p>
            <a:pPr marL="1609725"/>
            <a:r>
              <a:rPr lang="en-US" sz="1400" dirty="0" smtClean="0">
                <a:latin typeface="Arial Black" panose="020B0A04020102020204" pitchFamily="34" charset="0"/>
              </a:rPr>
              <a:t>       ** Thick-walled </a:t>
            </a:r>
            <a:r>
              <a:rPr lang="en-US" sz="1400" dirty="0">
                <a:latin typeface="Arial Black" panose="020B0A04020102020204" pitchFamily="34" charset="0"/>
              </a:rPr>
              <a:t>sclerenchyma fibers surround the vascular </a:t>
            </a:r>
            <a:r>
              <a:rPr lang="en-US" sz="1400" dirty="0" smtClean="0">
                <a:latin typeface="Arial Black" panose="020B0A04020102020204" pitchFamily="34" charset="0"/>
              </a:rPr>
              <a:t>bundle</a:t>
            </a:r>
          </a:p>
          <a:p>
            <a:pPr marL="1609725"/>
            <a:endParaRPr lang="en-US" sz="1400" dirty="0" smtClean="0">
              <a:latin typeface="Arial Black" panose="020B0A04020102020204" pitchFamily="34" charset="0"/>
            </a:endParaRPr>
          </a:p>
          <a:p>
            <a:pPr marL="1609725"/>
            <a:r>
              <a:rPr lang="en-US" sz="1400" dirty="0">
                <a:latin typeface="Arial Black" panose="020B0A04020102020204" pitchFamily="34" charset="0"/>
              </a:rPr>
              <a:t>       </a:t>
            </a:r>
            <a:r>
              <a:rPr lang="en-US" sz="1400" dirty="0" smtClean="0">
                <a:latin typeface="Arial Black" panose="020B0A04020102020204" pitchFamily="34" charset="0"/>
              </a:rPr>
              <a:t>**  Protect the </a:t>
            </a:r>
            <a:r>
              <a:rPr lang="en-US" sz="1400" dirty="0">
                <a:latin typeface="Arial Black" panose="020B0A04020102020204" pitchFamily="34" charset="0"/>
              </a:rPr>
              <a:t>vascular bundles and strengthen the stem.</a:t>
            </a:r>
            <a:endParaRPr lang="en-US" sz="1400" dirty="0" smtClean="0">
              <a:latin typeface="Arial Black" panose="020B0A04020102020204" pitchFamily="34" charset="0"/>
            </a:endParaRPr>
          </a:p>
          <a:p>
            <a:pPr marL="1609725">
              <a:buFont typeface="Wingdings" panose="05000000000000000000" pitchFamily="2" charset="2"/>
              <a:buChar char="ü"/>
            </a:pPr>
            <a:endParaRPr lang="ar-JO" sz="1400" dirty="0">
              <a:solidFill>
                <a:srgbClr val="FF0000"/>
              </a:solidFill>
            </a:endParaRPr>
          </a:p>
        </p:txBody>
      </p:sp>
    </p:spTree>
    <p:extLst>
      <p:ext uri="{BB962C8B-B14F-4D97-AF65-F5344CB8AC3E}">
        <p14:creationId xmlns:p14="http://schemas.microsoft.com/office/powerpoint/2010/main" val="18502427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8048" y="1904832"/>
            <a:ext cx="10713492" cy="2739211"/>
          </a:xfrm>
          <a:prstGeom prst="rect">
            <a:avLst/>
          </a:prstGeom>
        </p:spPr>
        <p:txBody>
          <a:bodyPr wrap="square">
            <a:spAutoFit/>
          </a:bodyPr>
          <a:lstStyle/>
          <a:p>
            <a:pPr marL="285750" indent="69850">
              <a:buFont typeface="Wingdings" panose="05000000000000000000" pitchFamily="2" charset="2"/>
              <a:buChar char="ü"/>
            </a:pPr>
            <a:r>
              <a:rPr lang="en-US" dirty="0">
                <a:solidFill>
                  <a:srgbClr val="FF0000"/>
                </a:solidFill>
                <a:latin typeface="Arial Black" panose="020B0A04020102020204" pitchFamily="34" charset="0"/>
              </a:rPr>
              <a:t> </a:t>
            </a:r>
            <a:r>
              <a:rPr lang="en-US" sz="1400" dirty="0" smtClean="0">
                <a:solidFill>
                  <a:srgbClr val="FF0000"/>
                </a:solidFill>
                <a:latin typeface="Arial Black" panose="020B0A04020102020204" pitchFamily="34" charset="0"/>
              </a:rPr>
              <a:t>Xylem :</a:t>
            </a:r>
          </a:p>
          <a:p>
            <a:pPr marL="285750"/>
            <a:endParaRPr lang="en-US" sz="1400" dirty="0">
              <a:solidFill>
                <a:srgbClr val="FF0000"/>
              </a:solidFill>
              <a:latin typeface="Arial Black" panose="020B0A04020102020204" pitchFamily="34" charset="0"/>
            </a:endParaRPr>
          </a:p>
          <a:p>
            <a:pPr marL="285750"/>
            <a:r>
              <a:rPr lang="en-US" sz="1400" dirty="0" smtClean="0">
                <a:latin typeface="Arial Black" panose="020B0A04020102020204" pitchFamily="34" charset="0"/>
              </a:rPr>
              <a:t>          </a:t>
            </a:r>
            <a:r>
              <a:rPr lang="en-US" sz="1400" dirty="0">
                <a:latin typeface="Arial Black" panose="020B0A04020102020204" pitchFamily="34" charset="0"/>
              </a:rPr>
              <a:t>** </a:t>
            </a:r>
            <a:r>
              <a:rPr lang="en-US" sz="1400" dirty="0" smtClean="0">
                <a:latin typeface="Arial Black" panose="020B0A04020102020204" pitchFamily="34" charset="0"/>
              </a:rPr>
              <a:t>Consists </a:t>
            </a:r>
            <a:r>
              <a:rPr lang="en-US" sz="1400" dirty="0">
                <a:latin typeface="Arial Black" panose="020B0A04020102020204" pitchFamily="34" charset="0"/>
              </a:rPr>
              <a:t>of vessels, tracheid, xylem parenchyma and limited xylem </a:t>
            </a:r>
            <a:r>
              <a:rPr lang="en-US" sz="1400" dirty="0" smtClean="0">
                <a:latin typeface="Arial Black" panose="020B0A04020102020204" pitchFamily="34" charset="0"/>
              </a:rPr>
              <a:t>fibers</a:t>
            </a:r>
          </a:p>
          <a:p>
            <a:pPr marL="285750"/>
            <a:endParaRPr lang="en-US" sz="1400" dirty="0">
              <a:latin typeface="Arial Black" panose="020B0A04020102020204" pitchFamily="34" charset="0"/>
            </a:endParaRPr>
          </a:p>
          <a:p>
            <a:pPr marL="285750"/>
            <a:r>
              <a:rPr lang="en-US" sz="1400" dirty="0" smtClean="0">
                <a:latin typeface="Arial Black" panose="020B0A04020102020204" pitchFamily="34" charset="0"/>
              </a:rPr>
              <a:t>          </a:t>
            </a:r>
            <a:r>
              <a:rPr lang="en-US" sz="1400" dirty="0">
                <a:latin typeface="Arial Black" panose="020B0A04020102020204" pitchFamily="34" charset="0"/>
              </a:rPr>
              <a:t>** A large water cavity is present in the inner side of the </a:t>
            </a:r>
            <a:r>
              <a:rPr lang="en-US" sz="1400" dirty="0" err="1" smtClean="0">
                <a:latin typeface="Arial Black" panose="020B0A04020102020204" pitchFamily="34" charset="0"/>
              </a:rPr>
              <a:t>protoxylem</a:t>
            </a:r>
            <a:r>
              <a:rPr lang="en-US" sz="1400" dirty="0" smtClean="0">
                <a:latin typeface="Arial Black" panose="020B0A04020102020204" pitchFamily="34" charset="0"/>
              </a:rPr>
              <a:t> that store water</a:t>
            </a:r>
          </a:p>
          <a:p>
            <a:pPr marL="285750"/>
            <a:endParaRPr lang="en-US" sz="1400" dirty="0">
              <a:latin typeface="Arial Black" panose="020B0A04020102020204" pitchFamily="34" charset="0"/>
            </a:endParaRPr>
          </a:p>
          <a:p>
            <a:pPr marL="571500" indent="-285750">
              <a:buFont typeface="Wingdings" panose="05000000000000000000" pitchFamily="2" charset="2"/>
              <a:buChar char="ü"/>
            </a:pPr>
            <a:r>
              <a:rPr lang="en-US" sz="1400" dirty="0" smtClean="0">
                <a:solidFill>
                  <a:srgbClr val="FF0000"/>
                </a:solidFill>
                <a:latin typeface="Arial Black" panose="020B0A04020102020204" pitchFamily="34" charset="0"/>
              </a:rPr>
              <a:t>Phloem:</a:t>
            </a:r>
          </a:p>
          <a:p>
            <a:pPr marL="285750"/>
            <a:endParaRPr lang="en-US" sz="1400" dirty="0">
              <a:solidFill>
                <a:srgbClr val="FF0000"/>
              </a:solidFill>
              <a:latin typeface="Arial Black" panose="020B0A04020102020204" pitchFamily="34" charset="0"/>
            </a:endParaRPr>
          </a:p>
          <a:p>
            <a:pPr marL="285750"/>
            <a:r>
              <a:rPr lang="en-US" sz="1400" dirty="0" smtClean="0">
                <a:latin typeface="Arial Black" panose="020B0A04020102020204" pitchFamily="34" charset="0"/>
              </a:rPr>
              <a:t>                </a:t>
            </a:r>
            <a:r>
              <a:rPr lang="en-US" sz="1400" dirty="0">
                <a:latin typeface="Arial Black" panose="020B0A04020102020204" pitchFamily="34" charset="0"/>
              </a:rPr>
              <a:t>** </a:t>
            </a:r>
            <a:r>
              <a:rPr lang="en-US" sz="1400" dirty="0" smtClean="0">
                <a:latin typeface="Arial Black" panose="020B0A04020102020204" pitchFamily="34" charset="0"/>
              </a:rPr>
              <a:t>Lies </a:t>
            </a:r>
            <a:r>
              <a:rPr lang="en-US" sz="1400" dirty="0">
                <a:latin typeface="Arial Black" panose="020B0A04020102020204" pitchFamily="34" charset="0"/>
              </a:rPr>
              <a:t>outside the xylem in the vascular </a:t>
            </a:r>
            <a:r>
              <a:rPr lang="en-US" sz="1400" dirty="0" smtClean="0">
                <a:latin typeface="Arial Black" panose="020B0A04020102020204" pitchFamily="34" charset="0"/>
              </a:rPr>
              <a:t>bundle</a:t>
            </a:r>
          </a:p>
          <a:p>
            <a:pPr marL="285750"/>
            <a:endParaRPr lang="en-US" sz="1400" dirty="0">
              <a:latin typeface="Arial Black" panose="020B0A04020102020204" pitchFamily="34" charset="0"/>
            </a:endParaRPr>
          </a:p>
          <a:p>
            <a:pPr marL="285750"/>
            <a:r>
              <a:rPr lang="en-US" sz="1400" dirty="0">
                <a:latin typeface="Arial Black" panose="020B0A04020102020204" pitchFamily="34" charset="0"/>
              </a:rPr>
              <a:t>                ** It consists of sieve tubes, companion cells and phloem fibers, but lacks phloem parenchyma</a:t>
            </a:r>
            <a:endParaRPr lang="en-US" sz="1400" dirty="0" smtClean="0">
              <a:latin typeface="Arial Black" panose="020B0A04020102020204" pitchFamily="34" charset="0"/>
            </a:endParaRPr>
          </a:p>
          <a:p>
            <a:pPr marL="285750"/>
            <a:r>
              <a:rPr lang="en-US" sz="1400" dirty="0" smtClean="0">
                <a:solidFill>
                  <a:srgbClr val="FF0000"/>
                </a:solidFill>
                <a:latin typeface="Arial Black" panose="020B0A04020102020204" pitchFamily="34" charset="0"/>
              </a:rPr>
              <a:t>         </a:t>
            </a:r>
            <a:endParaRPr lang="ar-JO" dirty="0"/>
          </a:p>
        </p:txBody>
      </p:sp>
    </p:spTree>
    <p:extLst>
      <p:ext uri="{BB962C8B-B14F-4D97-AF65-F5344CB8AC3E}">
        <p14:creationId xmlns:p14="http://schemas.microsoft.com/office/powerpoint/2010/main" val="712358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18866"/>
            <a:ext cx="10058400" cy="614149"/>
          </a:xfrm>
        </p:spPr>
        <p:txBody>
          <a:bodyPr>
            <a:normAutofit/>
          </a:bodyPr>
          <a:lstStyle/>
          <a:p>
            <a:pPr algn="ctr"/>
            <a:r>
              <a:rPr lang="en-US" sz="2400" dirty="0">
                <a:solidFill>
                  <a:schemeClr val="bg1"/>
                </a:solidFill>
                <a:latin typeface="Arial Black" panose="020B0A04020102020204" pitchFamily="34" charset="0"/>
              </a:rPr>
              <a:t>The differences between Dicot and Monocot stems </a:t>
            </a:r>
            <a:endParaRPr lang="ar-JO" sz="2400" dirty="0">
              <a:solidFill>
                <a:schemeClr val="bg1"/>
              </a:solidFill>
              <a:latin typeface="Arial Black" panose="020B0A040201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52757593"/>
              </p:ext>
            </p:extLst>
          </p:nvPr>
        </p:nvGraphicFramePr>
        <p:xfrm>
          <a:off x="450376" y="1842442"/>
          <a:ext cx="11286699" cy="4648241"/>
        </p:xfrm>
        <a:graphic>
          <a:graphicData uri="http://schemas.openxmlformats.org/drawingml/2006/table">
            <a:tbl>
              <a:tblPr firstRow="1" firstCol="1" bandRow="1">
                <a:tableStyleId>{5C22544A-7EE6-4342-B048-85BDC9FD1C3A}</a:tableStyleId>
              </a:tblPr>
              <a:tblGrid>
                <a:gridCol w="5731995">
                  <a:extLst>
                    <a:ext uri="{9D8B030D-6E8A-4147-A177-3AD203B41FA5}">
                      <a16:colId xmlns:a16="http://schemas.microsoft.com/office/drawing/2014/main" val="2264444698"/>
                    </a:ext>
                  </a:extLst>
                </a:gridCol>
                <a:gridCol w="5554704">
                  <a:extLst>
                    <a:ext uri="{9D8B030D-6E8A-4147-A177-3AD203B41FA5}">
                      <a16:colId xmlns:a16="http://schemas.microsoft.com/office/drawing/2014/main" val="4193225527"/>
                    </a:ext>
                  </a:extLst>
                </a:gridCol>
              </a:tblGrid>
              <a:tr h="210203">
                <a:tc>
                  <a:txBody>
                    <a:bodyPr/>
                    <a:lstStyle/>
                    <a:p>
                      <a:pPr algn="ctr" rtl="0">
                        <a:lnSpc>
                          <a:spcPct val="105000"/>
                        </a:lnSpc>
                        <a:spcAft>
                          <a:spcPts val="0"/>
                        </a:spcAft>
                      </a:pPr>
                      <a:r>
                        <a:rPr lang="en-US" sz="1400" dirty="0">
                          <a:effectLst/>
                          <a:latin typeface="Arial Black" panose="020B0A04020102020204" pitchFamily="34" charset="0"/>
                        </a:rPr>
                        <a:t>Monocot stem</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algn="ctr" rtl="0">
                        <a:lnSpc>
                          <a:spcPct val="105000"/>
                        </a:lnSpc>
                        <a:spcAft>
                          <a:spcPts val="0"/>
                        </a:spcAft>
                      </a:pPr>
                      <a:r>
                        <a:rPr lang="en-US" sz="1400">
                          <a:effectLst/>
                          <a:latin typeface="Arial Black" panose="020B0A04020102020204" pitchFamily="34" charset="0"/>
                        </a:rPr>
                        <a:t>Dicot stem</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435111138"/>
                  </a:ext>
                </a:extLst>
              </a:tr>
              <a:tr h="429351">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 Epidermal hairs absent</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Multicellular epidermal hairs may or may not be present</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244661038"/>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 Hypodermis is generally sclerenchyma</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Hypodermis is generally collenchyma</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914234502"/>
                  </a:ext>
                </a:extLst>
              </a:tr>
              <a:tr h="429351">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Concentric arrangement of tissues is absent</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The different tissues are arranged in concentric fashion</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81311231"/>
                  </a:ext>
                </a:extLst>
              </a:tr>
              <a:tr h="429351">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No differentiation except hypodermis</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Differentiated into hypodermis, cortex, endodermis, pericycle and pith</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792026450"/>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Solid or hollow</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Always solid</a:t>
                      </a:r>
                      <a:endParaRPr lang="en-US" sz="14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4230207122"/>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Vascular bundles are of different sizes</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Vascular bundles are of similar size</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442617537"/>
                  </a:ext>
                </a:extLst>
              </a:tr>
              <a:tr h="64002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Vascular bundles are Oval or rounded, numerous and scattered in the ground tissue</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Vascular bundles are  wedge shaped, definite and arranged in one or two rings </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779585158"/>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Bundle sheath Present</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Bundle sheath absent</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317200220"/>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Vascular bundle are closed</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Vascular bundles are open</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085087273"/>
                  </a:ext>
                </a:extLst>
              </a:tr>
              <a:tr h="423770">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The cavity in the vascular bundles is present</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No cavity in the vascular bundles</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963407474"/>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Phloem parenchyma absent</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Phloem parenchyma present</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506289168"/>
                  </a:ext>
                </a:extLst>
              </a:tr>
              <a:tr h="429351">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Secondary growth is generally absent</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Secondary growth occurs due to formation of lateral meristem</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429655584"/>
                  </a:ext>
                </a:extLst>
              </a:tr>
              <a:tr h="210203">
                <a:tc>
                  <a:txBody>
                    <a:bodyPr/>
                    <a:lstStyle/>
                    <a:p>
                      <a:pPr marL="342900" lvl="0" indent="-342900" algn="just" rtl="0">
                        <a:lnSpc>
                          <a:spcPct val="105000"/>
                        </a:lnSpc>
                        <a:spcAft>
                          <a:spcPts val="0"/>
                        </a:spcAft>
                        <a:buFont typeface="Symbol" panose="05050102010706020507" pitchFamily="18" charset="2"/>
                        <a:buChar char=""/>
                      </a:pPr>
                      <a:r>
                        <a:rPr lang="en-US" sz="1400">
                          <a:effectLst/>
                          <a:latin typeface="Arial Black" panose="020B0A04020102020204" pitchFamily="34" charset="0"/>
                        </a:rPr>
                        <a:t>No vascular cambium</a:t>
                      </a:r>
                      <a:endParaRPr lang="en-US" sz="14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just" rtl="0">
                        <a:lnSpc>
                          <a:spcPct val="105000"/>
                        </a:lnSpc>
                        <a:spcAft>
                          <a:spcPts val="0"/>
                        </a:spcAft>
                        <a:buFont typeface="Symbol" panose="05050102010706020507" pitchFamily="18" charset="2"/>
                        <a:buChar char=""/>
                      </a:pPr>
                      <a:r>
                        <a:rPr lang="en-US" sz="1400" dirty="0">
                          <a:effectLst/>
                          <a:latin typeface="Arial Black" panose="020B0A04020102020204" pitchFamily="34" charset="0"/>
                        </a:rPr>
                        <a:t>There is vascular cambium</a:t>
                      </a:r>
                      <a:endParaRPr lang="en-US" sz="14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921849874"/>
                  </a:ext>
                </a:extLst>
              </a:tr>
            </a:tbl>
          </a:graphicData>
        </a:graphic>
      </p:graphicFrame>
    </p:spTree>
    <p:extLst>
      <p:ext uri="{BB962C8B-B14F-4D97-AF65-F5344CB8AC3E}">
        <p14:creationId xmlns:p14="http://schemas.microsoft.com/office/powerpoint/2010/main" val="6283775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solidFill>
                  <a:schemeClr val="bg1"/>
                </a:solidFill>
                <a:latin typeface="Arial Black" panose="020B0A04020102020204" pitchFamily="34" charset="0"/>
              </a:rPr>
              <a:t>Woody Dicot stem</a:t>
            </a:r>
            <a:endParaRPr lang="ar-JO" sz="2800" dirty="0">
              <a:solidFill>
                <a:schemeClr val="bg1"/>
              </a:solidFill>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673" y="1737361"/>
            <a:ext cx="6114196" cy="4609300"/>
          </a:xfrm>
        </p:spPr>
      </p:pic>
      <p:pic>
        <p:nvPicPr>
          <p:cNvPr id="5" name="Picture 4"/>
          <p:cNvPicPr>
            <a:picLocks noChangeAspect="1"/>
          </p:cNvPicPr>
          <p:nvPr/>
        </p:nvPicPr>
        <p:blipFill>
          <a:blip r:embed="rId3"/>
          <a:stretch>
            <a:fillRect/>
          </a:stretch>
        </p:blipFill>
        <p:spPr>
          <a:xfrm>
            <a:off x="6591869" y="1737359"/>
            <a:ext cx="5183418" cy="4609301"/>
          </a:xfrm>
          <a:prstGeom prst="rect">
            <a:avLst/>
          </a:prstGeom>
        </p:spPr>
      </p:pic>
    </p:spTree>
    <p:extLst>
      <p:ext uri="{BB962C8B-B14F-4D97-AF65-F5344CB8AC3E}">
        <p14:creationId xmlns:p14="http://schemas.microsoft.com/office/powerpoint/2010/main" val="23655452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0" y="818866"/>
            <a:ext cx="10058400" cy="918494"/>
          </a:xfrm>
        </p:spPr>
        <p:txBody>
          <a:bodyPr>
            <a:normAutofit/>
          </a:bodyPr>
          <a:lstStyle/>
          <a:p>
            <a:pPr algn="ctr"/>
            <a:r>
              <a:rPr lang="en-US" sz="2800" dirty="0" smtClean="0">
                <a:solidFill>
                  <a:schemeClr val="tx1"/>
                </a:solidFill>
                <a:latin typeface="Arial Black" panose="020B0A04020102020204" pitchFamily="34" charset="0"/>
              </a:rPr>
              <a:t>Cross section of 3- years Woody Dicot stem</a:t>
            </a:r>
            <a:endParaRPr lang="ar-JO" sz="2800" dirty="0">
              <a:solidFill>
                <a:schemeClr val="tx1"/>
              </a:solidFill>
              <a:latin typeface="Arial Black" panose="020B0A04020102020204" pitchFamily="34" charset="0"/>
            </a:endParaRPr>
          </a:p>
        </p:txBody>
      </p:sp>
      <p:sp>
        <p:nvSpPr>
          <p:cNvPr id="5" name="Title 1"/>
          <p:cNvSpPr txBox="1">
            <a:spLocks/>
          </p:cNvSpPr>
          <p:nvPr/>
        </p:nvSpPr>
        <p:spPr>
          <a:xfrm>
            <a:off x="417166" y="1737357"/>
            <a:ext cx="11347204" cy="481356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1600" dirty="0" smtClean="0">
                <a:solidFill>
                  <a:schemeClr val="tx1"/>
                </a:solidFill>
                <a:latin typeface="Arial Black" panose="020B0A04020102020204" pitchFamily="34" charset="0"/>
              </a:rPr>
              <a:t>Cross section of 3- years Woody Dicot stems consist:</a:t>
            </a:r>
          </a:p>
          <a:p>
            <a:endParaRPr lang="en-US" sz="1600" dirty="0">
              <a:solidFill>
                <a:schemeClr val="tx1"/>
              </a:solidFill>
              <a:latin typeface="Arial Black" panose="020B0A04020102020204" pitchFamily="34" charset="0"/>
            </a:endParaRPr>
          </a:p>
          <a:p>
            <a:pPr marL="177800" indent="-177800">
              <a:buFont typeface="Wingdings" panose="05000000000000000000" pitchFamily="2" charset="2"/>
              <a:buChar char="Ø"/>
            </a:pPr>
            <a:r>
              <a:rPr lang="en-US" sz="1600" dirty="0">
                <a:solidFill>
                  <a:schemeClr val="tx1"/>
                </a:solidFill>
                <a:latin typeface="Arial Black" panose="020B0A04020102020204" pitchFamily="34" charset="0"/>
              </a:rPr>
              <a:t> </a:t>
            </a:r>
            <a:r>
              <a:rPr lang="en-US" sz="1600" dirty="0" smtClean="0">
                <a:solidFill>
                  <a:srgbClr val="002060"/>
                </a:solidFill>
                <a:latin typeface="Arial Black" panose="020B0A04020102020204" pitchFamily="34" charset="0"/>
              </a:rPr>
              <a:t>The </a:t>
            </a:r>
            <a:r>
              <a:rPr lang="en-US" sz="1600" dirty="0">
                <a:solidFill>
                  <a:srgbClr val="002060"/>
                </a:solidFill>
                <a:latin typeface="Arial Black" panose="020B0A04020102020204" pitchFamily="34" charset="0"/>
              </a:rPr>
              <a:t>bark </a:t>
            </a:r>
            <a:r>
              <a:rPr lang="en-US" sz="1600" dirty="0" smtClean="0">
                <a:solidFill>
                  <a:schemeClr val="tx1"/>
                </a:solidFill>
                <a:latin typeface="Arial Black" panose="020B0A04020102020204" pitchFamily="34" charset="0"/>
              </a:rPr>
              <a:t>: The outermost layers of the stems and roots of the woody plants, it consists:</a:t>
            </a:r>
          </a:p>
          <a:p>
            <a:endParaRPr lang="en-US" sz="1600" dirty="0" smtClean="0">
              <a:solidFill>
                <a:schemeClr val="tx1"/>
              </a:solidFill>
              <a:latin typeface="Arial Black" panose="020B0A04020102020204" pitchFamily="34" charset="0"/>
            </a:endParaRPr>
          </a:p>
          <a:p>
            <a:r>
              <a:rPr lang="en-US" sz="1600" dirty="0">
                <a:solidFill>
                  <a:schemeClr val="tx1"/>
                </a:solidFill>
                <a:latin typeface="Arial Black" panose="020B0A04020102020204" pitchFamily="34" charset="0"/>
              </a:rPr>
              <a:t> </a:t>
            </a:r>
            <a:endParaRPr lang="en-US" sz="1600" dirty="0" smtClean="0">
              <a:solidFill>
                <a:schemeClr val="tx1"/>
              </a:solidFill>
              <a:latin typeface="Arial Black" panose="020B0A04020102020204" pitchFamily="34" charset="0"/>
            </a:endParaRPr>
          </a:p>
          <a:p>
            <a:r>
              <a:rPr lang="en-US" sz="1600" dirty="0">
                <a:solidFill>
                  <a:schemeClr val="tx1"/>
                </a:solidFill>
                <a:latin typeface="Arial Black" panose="020B0A04020102020204" pitchFamily="34" charset="0"/>
              </a:rPr>
              <a:t> </a:t>
            </a:r>
            <a:r>
              <a:rPr lang="en-US" sz="1600" dirty="0" smtClean="0">
                <a:solidFill>
                  <a:schemeClr val="tx1"/>
                </a:solidFill>
                <a:latin typeface="Arial Black" panose="020B0A04020102020204" pitchFamily="34" charset="0"/>
              </a:rPr>
              <a:t>                      ** Primary and secondary phloem</a:t>
            </a:r>
          </a:p>
          <a:p>
            <a:endParaRPr lang="en-US" sz="1600" dirty="0">
              <a:solidFill>
                <a:schemeClr val="tx1"/>
              </a:solidFill>
              <a:latin typeface="Arial Black" panose="020B0A04020102020204" pitchFamily="34" charset="0"/>
            </a:endParaRPr>
          </a:p>
          <a:p>
            <a:r>
              <a:rPr lang="en-US" sz="1600" dirty="0" smtClean="0">
                <a:solidFill>
                  <a:schemeClr val="tx1"/>
                </a:solidFill>
                <a:latin typeface="Arial Black" panose="020B0A04020102020204" pitchFamily="34" charset="0"/>
              </a:rPr>
              <a:t>                       ** Cortex</a:t>
            </a:r>
          </a:p>
          <a:p>
            <a:endParaRPr lang="en-US" sz="1600" dirty="0">
              <a:solidFill>
                <a:schemeClr val="tx1"/>
              </a:solidFill>
              <a:latin typeface="Arial Black" panose="020B0A04020102020204" pitchFamily="34" charset="0"/>
            </a:endParaRPr>
          </a:p>
          <a:p>
            <a:r>
              <a:rPr lang="en-US" sz="1600" dirty="0" smtClean="0">
                <a:solidFill>
                  <a:schemeClr val="tx1"/>
                </a:solidFill>
                <a:latin typeface="Arial Black" panose="020B0A04020102020204" pitchFamily="34" charset="0"/>
              </a:rPr>
              <a:t>                       **  Periderm : Consists:</a:t>
            </a:r>
          </a:p>
          <a:p>
            <a:r>
              <a:rPr lang="en-US" sz="1600" dirty="0" smtClean="0">
                <a:solidFill>
                  <a:schemeClr val="tx1"/>
                </a:solidFill>
                <a:latin typeface="Arial Black" panose="020B0A04020102020204" pitchFamily="34" charset="0"/>
              </a:rPr>
              <a:t>                    </a:t>
            </a:r>
          </a:p>
          <a:p>
            <a:pPr marL="2416175" indent="190500">
              <a:buFont typeface="Wingdings" panose="05000000000000000000" pitchFamily="2" charset="2"/>
              <a:buChar char="§"/>
            </a:pPr>
            <a:r>
              <a:rPr lang="en-US" sz="1600" dirty="0" smtClean="0">
                <a:solidFill>
                  <a:srgbClr val="0070C0"/>
                </a:solidFill>
                <a:latin typeface="Arial Black" panose="020B0A04020102020204" pitchFamily="34" charset="0"/>
              </a:rPr>
              <a:t>Cork</a:t>
            </a:r>
            <a:r>
              <a:rPr lang="en-US" sz="1600" dirty="0" smtClean="0">
                <a:solidFill>
                  <a:schemeClr val="tx1"/>
                </a:solidFill>
                <a:latin typeface="Arial Black" panose="020B0A04020102020204" pitchFamily="34" charset="0"/>
              </a:rPr>
              <a:t> : </a:t>
            </a:r>
          </a:p>
          <a:p>
            <a:pPr marL="2416175"/>
            <a:r>
              <a:rPr lang="en-US" sz="1600" dirty="0" smtClean="0">
                <a:solidFill>
                  <a:schemeClr val="tx1"/>
                </a:solidFill>
                <a:latin typeface="Arial Black" panose="020B0A04020102020204" pitchFamily="34" charset="0"/>
              </a:rPr>
              <a:t>            - An external layer of secondary tissue that produce by Cork cambium   </a:t>
            </a:r>
          </a:p>
          <a:p>
            <a:pPr marL="2416175"/>
            <a:endParaRPr lang="en-US" sz="1600" dirty="0" smtClean="0">
              <a:solidFill>
                <a:schemeClr val="tx1"/>
              </a:solidFill>
              <a:latin typeface="Arial Black" panose="020B0A04020102020204" pitchFamily="34" charset="0"/>
            </a:endParaRPr>
          </a:p>
          <a:p>
            <a:pPr marL="2416175"/>
            <a:r>
              <a:rPr lang="en-US" sz="1600" dirty="0" smtClean="0">
                <a:solidFill>
                  <a:schemeClr val="tx1"/>
                </a:solidFill>
                <a:latin typeface="Arial Black" panose="020B0A04020102020204" pitchFamily="34" charset="0"/>
              </a:rPr>
              <a:t>            -  Cork cell walls contain </a:t>
            </a:r>
            <a:r>
              <a:rPr lang="en-US" sz="1600" dirty="0" err="1" smtClean="0">
                <a:solidFill>
                  <a:schemeClr val="tx1"/>
                </a:solidFill>
                <a:latin typeface="Arial Black" panose="020B0A04020102020204" pitchFamily="34" charset="0"/>
              </a:rPr>
              <a:t>suberin</a:t>
            </a:r>
            <a:r>
              <a:rPr lang="en-US" sz="1600" dirty="0" smtClean="0">
                <a:solidFill>
                  <a:schemeClr val="tx1"/>
                </a:solidFill>
                <a:latin typeface="Arial Black" panose="020B0A04020102020204" pitchFamily="34" charset="0"/>
              </a:rPr>
              <a:t> that:</a:t>
            </a:r>
          </a:p>
          <a:p>
            <a:pPr marL="2416175"/>
            <a:endParaRPr lang="en-US" sz="1600" dirty="0" smtClean="0">
              <a:solidFill>
                <a:schemeClr val="tx1"/>
              </a:solidFill>
              <a:latin typeface="Arial Black" panose="020B0A04020102020204" pitchFamily="34" charset="0"/>
            </a:endParaRPr>
          </a:p>
          <a:p>
            <a:pPr marL="2416175"/>
            <a:r>
              <a:rPr lang="en-US" sz="1600" dirty="0" smtClean="0">
                <a:solidFill>
                  <a:schemeClr val="tx1"/>
                </a:solidFill>
                <a:latin typeface="Arial Black" panose="020B0A04020102020204" pitchFamily="34" charset="0"/>
              </a:rPr>
              <a:t>                </a:t>
            </a:r>
            <a:r>
              <a:rPr lang="en-US" sz="1400" dirty="0" smtClean="0">
                <a:solidFill>
                  <a:srgbClr val="FF0000"/>
                </a:solidFill>
                <a:latin typeface="Arial Black" panose="020B0A04020102020204" pitchFamily="34" charset="0"/>
              </a:rPr>
              <a:t>1-  protects the stem against water loss</a:t>
            </a:r>
          </a:p>
          <a:p>
            <a:pPr marL="2416175"/>
            <a:endParaRPr lang="en-US" sz="1400" dirty="0" smtClean="0">
              <a:solidFill>
                <a:srgbClr val="FF0000"/>
              </a:solidFill>
              <a:latin typeface="Arial Black" panose="020B0A04020102020204" pitchFamily="34" charset="0"/>
            </a:endParaRPr>
          </a:p>
          <a:p>
            <a:pPr marL="2416175"/>
            <a:r>
              <a:rPr lang="en-US" sz="1400" dirty="0" smtClean="0">
                <a:solidFill>
                  <a:srgbClr val="FF0000"/>
                </a:solidFill>
                <a:latin typeface="Arial Black" panose="020B0A04020102020204" pitchFamily="34" charset="0"/>
              </a:rPr>
              <a:t>                   2-  prevents the invasion of insects into the stem  </a:t>
            </a:r>
          </a:p>
          <a:p>
            <a:pPr marL="2416175"/>
            <a:r>
              <a:rPr lang="en-US" sz="1400" dirty="0" smtClean="0">
                <a:solidFill>
                  <a:srgbClr val="FF0000"/>
                </a:solidFill>
                <a:latin typeface="Arial Black" panose="020B0A04020102020204" pitchFamily="34" charset="0"/>
              </a:rPr>
              <a:t> </a:t>
            </a:r>
          </a:p>
          <a:p>
            <a:pPr marL="2416175"/>
            <a:r>
              <a:rPr lang="en-US" sz="1400" dirty="0" smtClean="0">
                <a:solidFill>
                  <a:srgbClr val="FF0000"/>
                </a:solidFill>
                <a:latin typeface="Arial Black" panose="020B0A04020102020204" pitchFamily="34" charset="0"/>
              </a:rPr>
              <a:t>                   3-  prevents infections by bacteria and fungal spores                                   </a:t>
            </a:r>
          </a:p>
          <a:p>
            <a:r>
              <a:rPr lang="en-US" sz="1600" dirty="0" smtClean="0">
                <a:solidFill>
                  <a:schemeClr val="tx1"/>
                </a:solidFill>
                <a:latin typeface="Arial Black" panose="020B0A04020102020204" pitchFamily="34" charset="0"/>
              </a:rPr>
              <a:t>                                               </a:t>
            </a:r>
          </a:p>
          <a:p>
            <a:endParaRPr lang="ar-JO" sz="1600"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2059462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4107" y="1625798"/>
            <a:ext cx="11627893" cy="5232202"/>
          </a:xfrm>
          <a:prstGeom prst="rect">
            <a:avLst/>
          </a:prstGeom>
        </p:spPr>
        <p:txBody>
          <a:bodyPr wrap="square">
            <a:spAutoFit/>
          </a:bodyPr>
          <a:lstStyle/>
          <a:p>
            <a:r>
              <a:rPr lang="en-US" sz="1600" dirty="0">
                <a:latin typeface="Arial Black" panose="020B0A04020102020204" pitchFamily="34" charset="0"/>
              </a:rPr>
              <a:t>Periderm</a:t>
            </a:r>
            <a:r>
              <a:rPr lang="en-US" sz="2000" dirty="0">
                <a:latin typeface="Arial Black" panose="020B0A04020102020204" pitchFamily="34" charset="0"/>
              </a:rPr>
              <a:t> </a:t>
            </a:r>
            <a:r>
              <a:rPr lang="en-US" sz="2000" dirty="0" smtClean="0">
                <a:latin typeface="Arial Black" panose="020B0A04020102020204" pitchFamily="34" charset="0"/>
              </a:rPr>
              <a:t>:</a:t>
            </a:r>
            <a:endParaRPr lang="en-US" sz="2000" dirty="0">
              <a:latin typeface="Arial Black" panose="020B0A04020102020204" pitchFamily="34" charset="0"/>
            </a:endParaRPr>
          </a:p>
          <a:p>
            <a:r>
              <a:rPr lang="en-US" sz="2000" dirty="0">
                <a:latin typeface="Arial Black" panose="020B0A04020102020204" pitchFamily="34" charset="0"/>
              </a:rPr>
              <a:t>                    </a:t>
            </a:r>
            <a:r>
              <a:rPr lang="en-US" sz="2000" dirty="0" smtClean="0">
                <a:latin typeface="Arial Black" panose="020B0A04020102020204" pitchFamily="34" charset="0"/>
              </a:rPr>
              <a:t>    </a:t>
            </a:r>
            <a:r>
              <a:rPr lang="en-US" sz="2000" dirty="0">
                <a:latin typeface="Arial Black" panose="020B0A04020102020204" pitchFamily="34" charset="0"/>
              </a:rPr>
              <a:t>-  </a:t>
            </a:r>
            <a:r>
              <a:rPr lang="en-US" sz="1400" dirty="0">
                <a:solidFill>
                  <a:srgbClr val="0070C0"/>
                </a:solidFill>
                <a:latin typeface="Arial Black" panose="020B0A04020102020204" pitchFamily="34" charset="0"/>
              </a:rPr>
              <a:t>The cork cambium </a:t>
            </a:r>
            <a:r>
              <a:rPr lang="en-US" sz="1400" dirty="0" smtClean="0">
                <a:latin typeface="Arial Black" panose="020B0A04020102020204" pitchFamily="34" charset="0"/>
              </a:rPr>
              <a:t>: one </a:t>
            </a:r>
            <a:r>
              <a:rPr lang="en-US" sz="1400" dirty="0">
                <a:latin typeface="Arial Black" panose="020B0A04020102020204" pitchFamily="34" charset="0"/>
              </a:rPr>
              <a:t>cell layer </a:t>
            </a:r>
            <a:r>
              <a:rPr lang="en-US" sz="1400" dirty="0" smtClean="0">
                <a:latin typeface="Arial Black" panose="020B0A04020102020204" pitchFamily="34" charset="0"/>
              </a:rPr>
              <a:t>thick and </a:t>
            </a:r>
            <a:r>
              <a:rPr lang="en-US" sz="1400" dirty="0">
                <a:latin typeface="Arial Black" panose="020B0A04020102020204" pitchFamily="34" charset="0"/>
              </a:rPr>
              <a:t>it divides to the outside producing </a:t>
            </a:r>
            <a:r>
              <a:rPr lang="en-US" sz="1400" dirty="0" smtClean="0">
                <a:latin typeface="Arial Black" panose="020B0A04020102020204" pitchFamily="34" charset="0"/>
              </a:rPr>
              <a:t>cork</a:t>
            </a:r>
          </a:p>
          <a:p>
            <a:endParaRPr lang="en-US" sz="1400" dirty="0">
              <a:latin typeface="Arial Black" panose="020B0A04020102020204" pitchFamily="34" charset="0"/>
            </a:endParaRPr>
          </a:p>
          <a:p>
            <a:r>
              <a:rPr lang="en-US" sz="1400" dirty="0">
                <a:latin typeface="Arial Black" panose="020B0A04020102020204" pitchFamily="34" charset="0"/>
              </a:rPr>
              <a:t>                                   -  </a:t>
            </a:r>
            <a:r>
              <a:rPr lang="en-US" sz="1400" dirty="0" err="1" smtClean="0">
                <a:solidFill>
                  <a:srgbClr val="0070C0"/>
                </a:solidFill>
                <a:latin typeface="Arial Black" panose="020B0A04020102020204" pitchFamily="34" charset="0"/>
              </a:rPr>
              <a:t>Phelloderm</a:t>
            </a:r>
            <a:r>
              <a:rPr lang="en-US" sz="1400" dirty="0">
                <a:latin typeface="Arial Black" panose="020B0A04020102020204" pitchFamily="34" charset="0"/>
              </a:rPr>
              <a:t> : </a:t>
            </a:r>
            <a:endParaRPr lang="en-US" sz="1400" dirty="0" smtClean="0">
              <a:latin typeface="Arial Black" panose="020B0A04020102020204" pitchFamily="34" charset="0"/>
            </a:endParaRPr>
          </a:p>
          <a:p>
            <a:endParaRPr lang="en-US" sz="1400" dirty="0">
              <a:latin typeface="Arial Black" panose="020B0A04020102020204" pitchFamily="34" charset="0"/>
            </a:endParaRPr>
          </a:p>
          <a:p>
            <a:r>
              <a:rPr lang="en-US" sz="1400" dirty="0" smtClean="0">
                <a:latin typeface="Arial Black" panose="020B0A04020102020204" pitchFamily="34" charset="0"/>
              </a:rPr>
              <a:t>                                             - A </a:t>
            </a:r>
            <a:r>
              <a:rPr lang="en-US" sz="1400" dirty="0">
                <a:latin typeface="Arial Black" panose="020B0A04020102020204" pitchFamily="34" charset="0"/>
              </a:rPr>
              <a:t>layer </a:t>
            </a:r>
            <a:r>
              <a:rPr lang="en-US" sz="1400" dirty="0" smtClean="0">
                <a:latin typeface="Arial Black" panose="020B0A04020102020204" pitchFamily="34" charset="0"/>
              </a:rPr>
              <a:t>of </a:t>
            </a:r>
            <a:r>
              <a:rPr lang="en-US" sz="1400" dirty="0">
                <a:latin typeface="Arial Black" panose="020B0A04020102020204" pitchFamily="34" charset="0"/>
              </a:rPr>
              <a:t>cells formed by and interior to the cork </a:t>
            </a:r>
            <a:r>
              <a:rPr lang="en-US" sz="1400" dirty="0" smtClean="0">
                <a:latin typeface="Arial Black" panose="020B0A04020102020204" pitchFamily="34" charset="0"/>
              </a:rPr>
              <a:t>cambium</a:t>
            </a:r>
          </a:p>
          <a:p>
            <a:endParaRPr lang="en-US" sz="1400" dirty="0">
              <a:latin typeface="Arial Black" panose="020B0A04020102020204" pitchFamily="34" charset="0"/>
            </a:endParaRPr>
          </a:p>
          <a:p>
            <a:r>
              <a:rPr lang="en-US" sz="1400" dirty="0">
                <a:latin typeface="Arial Black" panose="020B0A04020102020204" pitchFamily="34" charset="0"/>
              </a:rPr>
              <a:t>                                             - </a:t>
            </a:r>
            <a:r>
              <a:rPr lang="en-US" sz="1400" dirty="0" smtClean="0">
                <a:latin typeface="Arial Black" panose="020B0A04020102020204" pitchFamily="34" charset="0"/>
              </a:rPr>
              <a:t> Not </a:t>
            </a:r>
            <a:r>
              <a:rPr lang="en-US" sz="1400" dirty="0">
                <a:latin typeface="Arial Black" panose="020B0A04020102020204" pitchFamily="34" charset="0"/>
              </a:rPr>
              <a:t>always present in all </a:t>
            </a:r>
            <a:r>
              <a:rPr lang="en-US" sz="1400" dirty="0" smtClean="0">
                <a:latin typeface="Arial Black" panose="020B0A04020102020204" pitchFamily="34" charset="0"/>
              </a:rPr>
              <a:t>barks</a:t>
            </a:r>
          </a:p>
          <a:p>
            <a:endParaRPr lang="en-US" sz="1400" dirty="0" smtClean="0">
              <a:latin typeface="Arial Black" panose="020B0A04020102020204" pitchFamily="34" charset="0"/>
            </a:endParaRPr>
          </a:p>
          <a:p>
            <a:endParaRPr lang="en-US" sz="1400" dirty="0">
              <a:latin typeface="Arial Black" panose="020B0A04020102020204" pitchFamily="34" charset="0"/>
            </a:endParaRPr>
          </a:p>
          <a:p>
            <a:pPr marL="285750" indent="-285750">
              <a:buFont typeface="Wingdings" panose="05000000000000000000" pitchFamily="2" charset="2"/>
              <a:buChar char="Ø"/>
            </a:pPr>
            <a:r>
              <a:rPr lang="en-US" sz="1600" dirty="0">
                <a:solidFill>
                  <a:srgbClr val="0070C0"/>
                </a:solidFill>
                <a:latin typeface="Arial Black" panose="020B0A04020102020204" pitchFamily="34" charset="0"/>
              </a:rPr>
              <a:t>Vascular cambium : </a:t>
            </a:r>
            <a:r>
              <a:rPr lang="en-US" sz="1400" dirty="0">
                <a:latin typeface="Arial Black" panose="020B0A04020102020204" pitchFamily="34" charset="0"/>
              </a:rPr>
              <a:t>lateral meristems. The vascular cambium continually adds new secondary xylem to the </a:t>
            </a:r>
            <a:r>
              <a:rPr lang="en-US" sz="1400" dirty="0" smtClean="0">
                <a:latin typeface="Arial Black" panose="020B0A04020102020204" pitchFamily="34" charset="0"/>
              </a:rPr>
              <a:t> </a:t>
            </a:r>
          </a:p>
          <a:p>
            <a:r>
              <a:rPr lang="en-US" sz="1400" dirty="0" smtClean="0">
                <a:latin typeface="Arial Black" panose="020B0A04020102020204" pitchFamily="34" charset="0"/>
              </a:rPr>
              <a:t>                                           outside </a:t>
            </a:r>
            <a:r>
              <a:rPr lang="en-US" sz="1400" dirty="0">
                <a:latin typeface="Arial Black" panose="020B0A04020102020204" pitchFamily="34" charset="0"/>
              </a:rPr>
              <a:t>of the existing xylem </a:t>
            </a:r>
            <a:r>
              <a:rPr lang="en-US" sz="1400" dirty="0" smtClean="0">
                <a:latin typeface="Arial Black" panose="020B0A04020102020204" pitchFamily="34" charset="0"/>
              </a:rPr>
              <a:t>and the </a:t>
            </a:r>
            <a:r>
              <a:rPr lang="en-US" sz="1400" dirty="0">
                <a:latin typeface="Arial Black" panose="020B0A04020102020204" pitchFamily="34" charset="0"/>
              </a:rPr>
              <a:t>new secondary phloem cells are added to the inner </a:t>
            </a:r>
            <a:endParaRPr lang="en-US" sz="1400" dirty="0" smtClean="0">
              <a:latin typeface="Arial Black" panose="020B0A04020102020204" pitchFamily="34" charset="0"/>
            </a:endParaRPr>
          </a:p>
          <a:p>
            <a:r>
              <a:rPr lang="en-US" sz="1400" dirty="0">
                <a:latin typeface="Arial Black" panose="020B0A04020102020204" pitchFamily="34" charset="0"/>
              </a:rPr>
              <a:t> </a:t>
            </a:r>
            <a:r>
              <a:rPr lang="en-US" sz="1400" dirty="0" smtClean="0">
                <a:latin typeface="Arial Black" panose="020B0A04020102020204" pitchFamily="34" charset="0"/>
              </a:rPr>
              <a:t>                                          part </a:t>
            </a:r>
            <a:r>
              <a:rPr lang="en-US" sz="1400" dirty="0">
                <a:latin typeface="Arial Black" panose="020B0A04020102020204" pitchFamily="34" charset="0"/>
              </a:rPr>
              <a:t>of the ring of </a:t>
            </a:r>
            <a:r>
              <a:rPr lang="en-US" sz="1400" dirty="0" smtClean="0">
                <a:latin typeface="Arial Black" panose="020B0A04020102020204" pitchFamily="34" charset="0"/>
              </a:rPr>
              <a:t>phloem.</a:t>
            </a:r>
          </a:p>
          <a:p>
            <a:endParaRPr lang="en-US" sz="1400" dirty="0">
              <a:latin typeface="Arial Black" panose="020B0A04020102020204" pitchFamily="34" charset="0"/>
            </a:endParaRPr>
          </a:p>
          <a:p>
            <a:endParaRPr lang="en-US" sz="1400" dirty="0" smtClean="0">
              <a:latin typeface="Arial Black" panose="020B0A04020102020204" pitchFamily="34" charset="0"/>
            </a:endParaRPr>
          </a:p>
          <a:p>
            <a:pPr marL="285750" indent="-285750">
              <a:buFont typeface="Wingdings" panose="05000000000000000000" pitchFamily="2" charset="2"/>
              <a:buChar char="Ø"/>
            </a:pPr>
            <a:r>
              <a:rPr lang="en-US" sz="1600" dirty="0" smtClean="0">
                <a:solidFill>
                  <a:srgbClr val="0070C0"/>
                </a:solidFill>
                <a:latin typeface="Arial Black" panose="020B0A04020102020204" pitchFamily="34" charset="0"/>
              </a:rPr>
              <a:t>Xylem: </a:t>
            </a:r>
            <a:r>
              <a:rPr lang="en-US" sz="1600" dirty="0" smtClean="0">
                <a:solidFill>
                  <a:srgbClr val="2E0C1F"/>
                </a:solidFill>
                <a:latin typeface="Arial Black" panose="020B0A04020102020204" pitchFamily="34" charset="0"/>
              </a:rPr>
              <a:t>- </a:t>
            </a:r>
            <a:r>
              <a:rPr lang="en-US" sz="1600" dirty="0" smtClean="0">
                <a:solidFill>
                  <a:srgbClr val="0070C0"/>
                </a:solidFill>
                <a:latin typeface="Arial Black" panose="020B0A04020102020204" pitchFamily="34" charset="0"/>
              </a:rPr>
              <a:t> </a:t>
            </a:r>
            <a:r>
              <a:rPr lang="en-US" sz="1400" dirty="0" smtClean="0">
                <a:solidFill>
                  <a:srgbClr val="2E0C1F"/>
                </a:solidFill>
                <a:latin typeface="Arial Black" panose="020B0A04020102020204" pitchFamily="34" charset="0"/>
              </a:rPr>
              <a:t>Cambium a </a:t>
            </a:r>
            <a:r>
              <a:rPr lang="en-US" sz="1400" dirty="0">
                <a:solidFill>
                  <a:srgbClr val="2E0C1F"/>
                </a:solidFill>
                <a:latin typeface="Arial Black" panose="020B0A04020102020204" pitchFamily="34" charset="0"/>
              </a:rPr>
              <a:t>layer of secondary xylem and a layer of secondary phloem</a:t>
            </a:r>
            <a:r>
              <a:rPr lang="en-US" sz="1600" dirty="0" smtClean="0">
                <a:solidFill>
                  <a:srgbClr val="0070C0"/>
                </a:solidFill>
                <a:latin typeface="Arial Black" panose="020B0A04020102020204" pitchFamily="34" charset="0"/>
              </a:rPr>
              <a:t> </a:t>
            </a:r>
          </a:p>
          <a:p>
            <a:endParaRPr lang="en-US" sz="1600" dirty="0">
              <a:solidFill>
                <a:srgbClr val="0070C0"/>
              </a:solidFill>
              <a:latin typeface="Arial Black" panose="020B0A04020102020204" pitchFamily="34" charset="0"/>
            </a:endParaRPr>
          </a:p>
          <a:p>
            <a:r>
              <a:rPr lang="en-US" sz="1600" dirty="0" smtClean="0">
                <a:solidFill>
                  <a:srgbClr val="2E0C1F"/>
                </a:solidFill>
                <a:latin typeface="Arial Black" panose="020B0A04020102020204" pitchFamily="34" charset="0"/>
              </a:rPr>
              <a:t>                 </a:t>
            </a:r>
            <a:r>
              <a:rPr lang="en-US" sz="1600" dirty="0">
                <a:solidFill>
                  <a:srgbClr val="2E0C1F"/>
                </a:solidFill>
                <a:latin typeface="Arial Black" panose="020B0A04020102020204" pitchFamily="34" charset="0"/>
              </a:rPr>
              <a:t>-  </a:t>
            </a:r>
            <a:r>
              <a:rPr lang="en-US" sz="1400" dirty="0">
                <a:solidFill>
                  <a:srgbClr val="2E0C1F"/>
                </a:solidFill>
                <a:latin typeface="Arial Black" panose="020B0A04020102020204" pitchFamily="34" charset="0"/>
              </a:rPr>
              <a:t>Xylem makes up the wood region and arrange in rings called annual ring</a:t>
            </a:r>
            <a:r>
              <a:rPr lang="en-US" sz="1400" dirty="0" smtClean="0">
                <a:solidFill>
                  <a:srgbClr val="2E0C1F"/>
                </a:solidFill>
                <a:latin typeface="Arial Black" panose="020B0A04020102020204" pitchFamily="34" charset="0"/>
              </a:rPr>
              <a:t> </a:t>
            </a:r>
          </a:p>
          <a:p>
            <a:endParaRPr lang="en-US" sz="1400" dirty="0">
              <a:solidFill>
                <a:srgbClr val="2E0C1F"/>
              </a:solidFill>
              <a:latin typeface="Arial Black" panose="020B0A04020102020204" pitchFamily="34" charset="0"/>
            </a:endParaRPr>
          </a:p>
          <a:p>
            <a:r>
              <a:rPr lang="en-US" sz="1400" dirty="0" smtClean="0">
                <a:solidFill>
                  <a:srgbClr val="2E0C1F"/>
                </a:solidFill>
                <a:latin typeface="Arial Black" panose="020B0A04020102020204" pitchFamily="34" charset="0"/>
              </a:rPr>
              <a:t>                    </a:t>
            </a:r>
            <a:r>
              <a:rPr lang="en-US" sz="1400" dirty="0">
                <a:solidFill>
                  <a:srgbClr val="2E0C1F"/>
                </a:solidFill>
                <a:latin typeface="Arial Black" panose="020B0A04020102020204" pitchFamily="34" charset="0"/>
              </a:rPr>
              <a:t>- </a:t>
            </a:r>
            <a:r>
              <a:rPr lang="en-US" sz="1400" dirty="0" smtClean="0">
                <a:solidFill>
                  <a:srgbClr val="2E0C1F"/>
                </a:solidFill>
                <a:latin typeface="Arial Black" panose="020B0A04020102020204" pitchFamily="34" charset="0"/>
              </a:rPr>
              <a:t>  Each annual </a:t>
            </a:r>
            <a:r>
              <a:rPr lang="en-US" sz="1400" dirty="0">
                <a:solidFill>
                  <a:srgbClr val="2E0C1F"/>
                </a:solidFill>
                <a:latin typeface="Arial Black" panose="020B0A04020102020204" pitchFamily="34" charset="0"/>
              </a:rPr>
              <a:t>ring </a:t>
            </a:r>
            <a:r>
              <a:rPr lang="en-US" sz="1400" dirty="0" smtClean="0">
                <a:solidFill>
                  <a:srgbClr val="2E0C1F"/>
                </a:solidFill>
                <a:latin typeface="Arial Black" panose="020B0A04020102020204" pitchFamily="34" charset="0"/>
              </a:rPr>
              <a:t>represents one year</a:t>
            </a:r>
            <a:endParaRPr lang="en-US" sz="1400" dirty="0">
              <a:solidFill>
                <a:srgbClr val="2E0C1F"/>
              </a:solidFill>
              <a:latin typeface="Arial Black" panose="020B0A04020102020204" pitchFamily="34" charset="0"/>
            </a:endParaRPr>
          </a:p>
          <a:p>
            <a:pPr marL="285750" indent="-285750">
              <a:buFont typeface="Wingdings" panose="05000000000000000000" pitchFamily="2" charset="2"/>
              <a:buChar char="Ø"/>
            </a:pPr>
            <a:endParaRPr lang="en-US" sz="1400" dirty="0">
              <a:latin typeface="Arial Black" panose="020B0A04020102020204" pitchFamily="34" charset="0"/>
            </a:endParaRPr>
          </a:p>
          <a:p>
            <a:pPr marL="2416175"/>
            <a:endParaRPr lang="en-US" sz="2000" dirty="0">
              <a:latin typeface="Arial Black" panose="020B0A04020102020204" pitchFamily="34" charset="0"/>
            </a:endParaRPr>
          </a:p>
        </p:txBody>
      </p:sp>
    </p:spTree>
    <p:extLst>
      <p:ext uri="{BB962C8B-B14F-4D97-AF65-F5344CB8AC3E}">
        <p14:creationId xmlns:p14="http://schemas.microsoft.com/office/powerpoint/2010/main" val="2713483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JO"/>
          </a:p>
        </p:txBody>
      </p:sp>
      <p:sp>
        <p:nvSpPr>
          <p:cNvPr id="3" name="Rectangle 2"/>
          <p:cNvSpPr/>
          <p:nvPr/>
        </p:nvSpPr>
        <p:spPr>
          <a:xfrm>
            <a:off x="662609" y="2213283"/>
            <a:ext cx="10986052" cy="2585323"/>
          </a:xfrm>
          <a:prstGeom prst="rect">
            <a:avLst/>
          </a:prstGeom>
        </p:spPr>
        <p:txBody>
          <a:bodyPr wrap="square">
            <a:spAutoFit/>
          </a:bodyPr>
          <a:lstStyle/>
          <a:p>
            <a:pPr marL="285750" indent="-285750">
              <a:buFont typeface="Wingdings" panose="05000000000000000000" pitchFamily="2" charset="2"/>
              <a:buChar char="Ø"/>
            </a:pPr>
            <a:r>
              <a:rPr lang="en-US" sz="1600" dirty="0">
                <a:solidFill>
                  <a:srgbClr val="0070C0"/>
                </a:solidFill>
                <a:latin typeface="Arial Black" panose="020B0A04020102020204" pitchFamily="34" charset="0"/>
              </a:rPr>
              <a:t>Xylem:</a:t>
            </a:r>
            <a:r>
              <a:rPr lang="en-US" sz="2000" dirty="0">
                <a:solidFill>
                  <a:srgbClr val="0070C0"/>
                </a:solidFill>
                <a:latin typeface="Arial Black" panose="020B0A04020102020204" pitchFamily="34" charset="0"/>
              </a:rPr>
              <a:t> </a:t>
            </a:r>
            <a:r>
              <a:rPr lang="en-US" sz="2000" dirty="0" smtClean="0">
                <a:solidFill>
                  <a:srgbClr val="0070C0"/>
                </a:solidFill>
                <a:latin typeface="Arial Black" panose="020B0A04020102020204" pitchFamily="34" charset="0"/>
              </a:rPr>
              <a:t> </a:t>
            </a:r>
            <a:endParaRPr lang="en-US" sz="1400" dirty="0">
              <a:solidFill>
                <a:srgbClr val="2E0C1F"/>
              </a:solidFill>
              <a:latin typeface="Arial Black" panose="020B0A04020102020204" pitchFamily="34" charset="0"/>
            </a:endParaRPr>
          </a:p>
          <a:p>
            <a:r>
              <a:rPr lang="en-US" sz="1400" dirty="0">
                <a:solidFill>
                  <a:srgbClr val="2E0C1F"/>
                </a:solidFill>
                <a:latin typeface="Arial Black" panose="020B0A04020102020204" pitchFamily="34" charset="0"/>
              </a:rPr>
              <a:t>                   </a:t>
            </a:r>
            <a:r>
              <a:rPr lang="en-US" sz="1400" dirty="0" smtClean="0">
                <a:solidFill>
                  <a:srgbClr val="2E0C1F"/>
                </a:solidFill>
                <a:latin typeface="Arial Black" panose="020B0A04020102020204" pitchFamily="34" charset="0"/>
              </a:rPr>
              <a:t>  -   </a:t>
            </a:r>
            <a:r>
              <a:rPr lang="en-US" sz="1400" dirty="0">
                <a:solidFill>
                  <a:srgbClr val="2E0C1F"/>
                </a:solidFill>
                <a:latin typeface="Arial Black" panose="020B0A04020102020204" pitchFamily="34" charset="0"/>
              </a:rPr>
              <a:t>Each annual ring contains two sub ring, the spring and summer </a:t>
            </a:r>
            <a:r>
              <a:rPr lang="en-US" sz="1400" dirty="0" smtClean="0">
                <a:solidFill>
                  <a:srgbClr val="2E0C1F"/>
                </a:solidFill>
                <a:latin typeface="Arial Black" panose="020B0A04020102020204" pitchFamily="34" charset="0"/>
              </a:rPr>
              <a:t>rings</a:t>
            </a:r>
          </a:p>
          <a:p>
            <a:endParaRPr lang="en-US" sz="1400" dirty="0">
              <a:solidFill>
                <a:srgbClr val="2E0C1F"/>
              </a:solidFill>
              <a:latin typeface="Arial Black" panose="020B0A04020102020204" pitchFamily="34" charset="0"/>
            </a:endParaRPr>
          </a:p>
          <a:p>
            <a:r>
              <a:rPr lang="en-US" sz="1400" dirty="0">
                <a:solidFill>
                  <a:srgbClr val="2E0C1F"/>
                </a:solidFill>
                <a:latin typeface="Arial Black" panose="020B0A04020102020204" pitchFamily="34" charset="0"/>
              </a:rPr>
              <a:t>                     - </a:t>
            </a:r>
            <a:r>
              <a:rPr lang="en-US" sz="1400" dirty="0" smtClean="0">
                <a:solidFill>
                  <a:srgbClr val="2E0C1F"/>
                </a:solidFill>
                <a:latin typeface="Arial Black" panose="020B0A04020102020204" pitchFamily="34" charset="0"/>
              </a:rPr>
              <a:t>  The </a:t>
            </a:r>
            <a:r>
              <a:rPr lang="en-US" sz="1400" dirty="0">
                <a:solidFill>
                  <a:srgbClr val="2E0C1F"/>
                </a:solidFill>
                <a:latin typeface="Arial Black" panose="020B0A04020102020204" pitchFamily="34" charset="0"/>
              </a:rPr>
              <a:t>xylem vessels made in the spring, when water is plentiful, have larger diameters than </a:t>
            </a:r>
            <a:endParaRPr lang="en-US" sz="1400" dirty="0" smtClean="0">
              <a:solidFill>
                <a:srgbClr val="2E0C1F"/>
              </a:solidFill>
              <a:latin typeface="Arial Black" panose="020B0A04020102020204" pitchFamily="34" charset="0"/>
            </a:endParaRPr>
          </a:p>
          <a:p>
            <a:r>
              <a:rPr lang="en-US" sz="1400" dirty="0">
                <a:solidFill>
                  <a:srgbClr val="2E0C1F"/>
                </a:solidFill>
                <a:latin typeface="Arial Black" panose="020B0A04020102020204" pitchFamily="34" charset="0"/>
              </a:rPr>
              <a:t> </a:t>
            </a:r>
            <a:r>
              <a:rPr lang="en-US" sz="1400" dirty="0" smtClean="0">
                <a:solidFill>
                  <a:srgbClr val="2E0C1F"/>
                </a:solidFill>
                <a:latin typeface="Arial Black" panose="020B0A04020102020204" pitchFamily="34" charset="0"/>
              </a:rPr>
              <a:t>                         those made summer</a:t>
            </a:r>
          </a:p>
          <a:p>
            <a:endParaRPr lang="en-US" sz="1400" dirty="0">
              <a:solidFill>
                <a:srgbClr val="2E0C1F"/>
              </a:solidFill>
              <a:latin typeface="Arial Black" panose="020B0A04020102020204" pitchFamily="34" charset="0"/>
            </a:endParaRPr>
          </a:p>
          <a:p>
            <a:pPr marL="285750" indent="-285750">
              <a:buFont typeface="Wingdings" panose="05000000000000000000" pitchFamily="2" charset="2"/>
              <a:buChar char="Ø"/>
            </a:pPr>
            <a:r>
              <a:rPr lang="en-US" sz="1600" dirty="0" smtClean="0">
                <a:solidFill>
                  <a:srgbClr val="0070C0"/>
                </a:solidFill>
                <a:latin typeface="Arial Black" panose="020B0A04020102020204" pitchFamily="34" charset="0"/>
              </a:rPr>
              <a:t>Pith </a:t>
            </a:r>
            <a:r>
              <a:rPr lang="en-US" sz="1400" dirty="0" smtClean="0">
                <a:solidFill>
                  <a:srgbClr val="0070C0"/>
                </a:solidFill>
                <a:latin typeface="Arial Black" panose="020B0A04020102020204" pitchFamily="34" charset="0"/>
              </a:rPr>
              <a:t>: </a:t>
            </a:r>
          </a:p>
          <a:p>
            <a:endParaRPr lang="en-US" sz="1400" dirty="0">
              <a:solidFill>
                <a:srgbClr val="0070C0"/>
              </a:solidFill>
              <a:latin typeface="Arial Black" panose="020B0A04020102020204" pitchFamily="34" charset="0"/>
            </a:endParaRPr>
          </a:p>
          <a:p>
            <a:r>
              <a:rPr lang="en-US" sz="1400" dirty="0">
                <a:latin typeface="Arial Black" panose="020B0A04020102020204" pitchFamily="34" charset="0"/>
              </a:rPr>
              <a:t>                     - </a:t>
            </a:r>
            <a:r>
              <a:rPr lang="en-US" sz="1400" dirty="0" smtClean="0">
                <a:latin typeface="Arial Black" panose="020B0A04020102020204" pitchFamily="34" charset="0"/>
              </a:rPr>
              <a:t>Young stems have pith that made </a:t>
            </a:r>
            <a:r>
              <a:rPr lang="en-US" sz="1400" dirty="0">
                <a:latin typeface="Arial Black" panose="020B0A04020102020204" pitchFamily="34" charset="0"/>
              </a:rPr>
              <a:t>of </a:t>
            </a:r>
            <a:r>
              <a:rPr lang="en-US" sz="1400" dirty="0" smtClean="0">
                <a:latin typeface="Arial Black" panose="020B0A04020102020204" pitchFamily="34" charset="0"/>
              </a:rPr>
              <a:t>parenchyma to stores food</a:t>
            </a:r>
          </a:p>
          <a:p>
            <a:endParaRPr lang="en-US" sz="1400" dirty="0">
              <a:latin typeface="Arial Black" panose="020B0A04020102020204" pitchFamily="34" charset="0"/>
            </a:endParaRPr>
          </a:p>
          <a:p>
            <a:r>
              <a:rPr lang="en-US" sz="1400" dirty="0" smtClean="0">
                <a:latin typeface="Arial Black" panose="020B0A04020102020204" pitchFamily="34" charset="0"/>
              </a:rPr>
              <a:t>                     - Old woody stem have no pith</a:t>
            </a:r>
            <a:endParaRPr lang="en-US" sz="1400" dirty="0">
              <a:latin typeface="Arial Black" panose="020B0A04020102020204" pitchFamily="34" charset="0"/>
            </a:endParaRPr>
          </a:p>
        </p:txBody>
      </p:sp>
    </p:spTree>
    <p:extLst>
      <p:ext uri="{BB962C8B-B14F-4D97-AF65-F5344CB8AC3E}">
        <p14:creationId xmlns:p14="http://schemas.microsoft.com/office/powerpoint/2010/main" val="760135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ell phone&#10;&#10;Description generated with very high confid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5" y="159026"/>
            <a:ext cx="11555412" cy="6162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80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noChangeArrowheads="1"/>
          </p:cNvSpPr>
          <p:nvPr>
            <p:ph type="title"/>
          </p:nvPr>
        </p:nvSpPr>
        <p:spPr>
          <a:xfrm>
            <a:off x="1097280" y="286603"/>
            <a:ext cx="10058400" cy="1404086"/>
          </a:xfrm>
        </p:spPr>
        <p:txBody>
          <a:bodyPr>
            <a:normAutofit/>
          </a:bodyPr>
          <a:lstStyle/>
          <a:p>
            <a:pPr algn="ctr"/>
            <a:r>
              <a:rPr lang="en-US" altLang="ar-JO" sz="2400" dirty="0" smtClean="0">
                <a:latin typeface="Arial Black" panose="020B0A04020102020204" pitchFamily="34" charset="0"/>
              </a:rPr>
              <a:t>Internal leaf structure</a:t>
            </a:r>
          </a:p>
        </p:txBody>
      </p:sp>
      <p:pic>
        <p:nvPicPr>
          <p:cNvPr id="81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2900" y="2483893"/>
            <a:ext cx="5516563" cy="3890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6" descr="A screenshot of a cell phone&#10;&#10;Description generated with very high confid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6" y="1855304"/>
            <a:ext cx="6174474" cy="451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79563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168D0B-2232-493A-8B20-024FA4B93AC4}"/>
              </a:ext>
            </a:extLst>
          </p:cNvPr>
          <p:cNvSpPr txBox="1"/>
          <p:nvPr/>
        </p:nvSpPr>
        <p:spPr>
          <a:xfrm>
            <a:off x="331098" y="1764195"/>
            <a:ext cx="11953875" cy="4616648"/>
          </a:xfrm>
          <a:prstGeom prst="rect">
            <a:avLst/>
          </a:prstGeom>
          <a:noFill/>
        </p:spPr>
        <p:txBody>
          <a:bodyPr>
            <a:spAutoFit/>
          </a:bodyPr>
          <a:lstStyle/>
          <a:p>
            <a:pPr marL="342900" indent="-342900">
              <a:buFont typeface="Wingdings" panose="05000000000000000000" pitchFamily="2" charset="2"/>
              <a:buChar char="q"/>
              <a:defRPr/>
            </a:pPr>
            <a:r>
              <a:rPr lang="en-US" b="1" i="1" dirty="0" smtClean="0">
                <a:solidFill>
                  <a:srgbClr val="FF0000"/>
                </a:solidFill>
                <a:latin typeface="Arial Black" panose="020B0A04020102020204" pitchFamily="34" charset="0"/>
              </a:rPr>
              <a:t>Epidermis</a:t>
            </a:r>
            <a:r>
              <a:rPr lang="en-US" sz="1600" b="1" i="1" dirty="0">
                <a:solidFill>
                  <a:srgbClr val="FF0000"/>
                </a:solidFill>
                <a:latin typeface="Arial Black" panose="020B0A04020102020204" pitchFamily="34" charset="0"/>
              </a:rPr>
              <a:t>:</a:t>
            </a:r>
            <a:r>
              <a:rPr lang="en-US" sz="1600" b="1" dirty="0">
                <a:latin typeface="Arial Black" panose="020B0A04020102020204" pitchFamily="34" charset="0"/>
              </a:rPr>
              <a:t> the outer layer of cells covering the </a:t>
            </a:r>
            <a:r>
              <a:rPr lang="en-US" sz="1600" b="1" dirty="0" smtClean="0">
                <a:latin typeface="Arial Black" panose="020B0A04020102020204" pitchFamily="34" charset="0"/>
              </a:rPr>
              <a:t>leaf</a:t>
            </a:r>
          </a:p>
          <a:p>
            <a:pPr>
              <a:defRPr/>
            </a:pPr>
            <a:endParaRPr lang="en-US" sz="1600" b="1" dirty="0" smtClean="0">
              <a:latin typeface="Arial Black" panose="020B0A04020102020204" pitchFamily="34" charset="0"/>
            </a:endParaRPr>
          </a:p>
          <a:p>
            <a:pPr>
              <a:defRPr/>
            </a:pPr>
            <a:r>
              <a:rPr lang="en-US" sz="1600" b="1" dirty="0">
                <a:latin typeface="Arial Black" panose="020B0A04020102020204" pitchFamily="34" charset="0"/>
              </a:rPr>
              <a:t> </a:t>
            </a:r>
            <a:r>
              <a:rPr lang="en-US" sz="1600" b="1" dirty="0" smtClean="0">
                <a:latin typeface="Arial Black" panose="020B0A04020102020204" pitchFamily="34" charset="0"/>
              </a:rPr>
              <a:t>                        ** </a:t>
            </a:r>
            <a:r>
              <a:rPr lang="en-US" sz="1600" b="1" dirty="0">
                <a:latin typeface="Arial Black" panose="020B0A04020102020204" pitchFamily="34" charset="0"/>
              </a:rPr>
              <a:t>It’s coated by </a:t>
            </a:r>
            <a:r>
              <a:rPr lang="en-US" sz="1600" b="1" i="1" dirty="0">
                <a:solidFill>
                  <a:schemeClr val="accent3">
                    <a:lumMod val="75000"/>
                  </a:schemeClr>
                </a:solidFill>
                <a:latin typeface="Arial Black" panose="020B0A04020102020204" pitchFamily="34" charset="0"/>
              </a:rPr>
              <a:t>waxy </a:t>
            </a:r>
            <a:r>
              <a:rPr lang="en-US" sz="1600" b="1" i="1" dirty="0">
                <a:solidFill>
                  <a:schemeClr val="accent3">
                    <a:lumMod val="75000"/>
                  </a:schemeClr>
                </a:solidFill>
                <a:latin typeface="Arial Black" panose="020B0A04020102020204" pitchFamily="34" charset="0"/>
              </a:rPr>
              <a:t>Cuticle </a:t>
            </a:r>
            <a:r>
              <a:rPr lang="en-US" sz="1600" b="1" dirty="0">
                <a:latin typeface="Arial Black" panose="020B0A04020102020204" pitchFamily="34" charset="0"/>
              </a:rPr>
              <a:t>which </a:t>
            </a:r>
            <a:r>
              <a:rPr lang="en-US" sz="1600" b="1" dirty="0" smtClean="0">
                <a:latin typeface="Arial Black" panose="020B0A04020102020204" pitchFamily="34" charset="0"/>
              </a:rPr>
              <a:t>is impermeable </a:t>
            </a:r>
            <a:r>
              <a:rPr lang="en-US" sz="1600" b="1" dirty="0">
                <a:latin typeface="Arial Black" panose="020B0A04020102020204" pitchFamily="34" charset="0"/>
              </a:rPr>
              <a:t>to liquid water and water vapor </a:t>
            </a:r>
            <a:endParaRPr lang="en-US" sz="1600" b="1" dirty="0">
              <a:latin typeface="Arial Black" panose="020B0A04020102020204" pitchFamily="34" charset="0"/>
            </a:endParaRPr>
          </a:p>
          <a:p>
            <a:pPr eaLnBrk="1" fontAlgn="auto" hangingPunct="1">
              <a:lnSpc>
                <a:spcPct val="200000"/>
              </a:lnSpc>
              <a:spcBef>
                <a:spcPts val="0"/>
              </a:spcBef>
              <a:spcAft>
                <a:spcPts val="0"/>
              </a:spcAft>
              <a:defRPr/>
            </a:pPr>
            <a:r>
              <a:rPr lang="en-US" sz="2000" b="1" dirty="0">
                <a:latin typeface="Arial Black" panose="020B0A04020102020204" pitchFamily="34" charset="0"/>
              </a:rPr>
              <a:t>	</a:t>
            </a:r>
            <a:r>
              <a:rPr lang="en-US" sz="2000" b="1" dirty="0" smtClean="0">
                <a:latin typeface="Arial Black" panose="020B0A04020102020204" pitchFamily="34" charset="0"/>
              </a:rPr>
              <a:t>               </a:t>
            </a:r>
            <a:r>
              <a:rPr lang="en-US" sz="1600" b="1" dirty="0" smtClean="0">
                <a:latin typeface="Arial Black" panose="020B0A04020102020204" pitchFamily="34" charset="0"/>
              </a:rPr>
              <a:t>**</a:t>
            </a:r>
            <a:r>
              <a:rPr lang="en-US" sz="1600" b="1" u="sng" dirty="0" smtClean="0">
                <a:solidFill>
                  <a:srgbClr val="FF0000"/>
                </a:solidFill>
                <a:latin typeface="Arial Black" panose="020B0A04020102020204" pitchFamily="34" charset="0"/>
              </a:rPr>
              <a:t>Functions</a:t>
            </a:r>
            <a:r>
              <a:rPr lang="en-US" sz="1600" b="1" dirty="0">
                <a:latin typeface="Arial Black" panose="020B0A04020102020204" pitchFamily="34" charset="0"/>
              </a:rPr>
              <a:t>: </a:t>
            </a:r>
            <a:endParaRPr lang="en-US" sz="1600" b="1" dirty="0" smtClean="0">
              <a:latin typeface="Arial Black" panose="020B0A04020102020204" pitchFamily="34" charset="0"/>
            </a:endParaRPr>
          </a:p>
          <a:p>
            <a:pPr eaLnBrk="1" fontAlgn="auto" hangingPunct="1">
              <a:lnSpc>
                <a:spcPct val="200000"/>
              </a:lnSpc>
              <a:spcBef>
                <a:spcPts val="0"/>
              </a:spcBef>
              <a:spcAft>
                <a:spcPts val="0"/>
              </a:spcAft>
              <a:defRPr/>
            </a:pPr>
            <a:r>
              <a:rPr lang="en-US" sz="2000" b="1" dirty="0">
                <a:latin typeface="Arial Black" panose="020B0A04020102020204" pitchFamily="34" charset="0"/>
              </a:rPr>
              <a:t> </a:t>
            </a:r>
            <a:r>
              <a:rPr lang="en-US" sz="2000" b="1" dirty="0" smtClean="0">
                <a:latin typeface="Arial Black" panose="020B0A04020102020204" pitchFamily="34" charset="0"/>
              </a:rPr>
              <a:t>                      </a:t>
            </a:r>
            <a:r>
              <a:rPr lang="en-US" sz="2000" b="1" dirty="0" smtClean="0">
                <a:solidFill>
                  <a:srgbClr val="FF0000"/>
                </a:solidFill>
                <a:latin typeface="Arial Black" panose="020B0A04020102020204" pitchFamily="34" charset="0"/>
              </a:rPr>
              <a:t>- </a:t>
            </a:r>
            <a:r>
              <a:rPr lang="en-US" sz="1600" b="1" dirty="0" smtClean="0">
                <a:solidFill>
                  <a:srgbClr val="FF0000"/>
                </a:solidFill>
                <a:latin typeface="Arial Black" panose="020B0A04020102020204" pitchFamily="34" charset="0"/>
              </a:rPr>
              <a:t>prevent desiccation.</a:t>
            </a:r>
          </a:p>
          <a:p>
            <a:pPr eaLnBrk="1" fontAlgn="auto" hangingPunct="1">
              <a:lnSpc>
                <a:spcPct val="200000"/>
              </a:lnSpc>
              <a:spcBef>
                <a:spcPts val="0"/>
              </a:spcBef>
              <a:spcAft>
                <a:spcPts val="0"/>
              </a:spcAft>
              <a:defRPr/>
            </a:pPr>
            <a:r>
              <a:rPr lang="en-US" sz="1600" b="1" dirty="0">
                <a:solidFill>
                  <a:srgbClr val="FF0000"/>
                </a:solidFill>
                <a:latin typeface="Arial Black" panose="020B0A04020102020204" pitchFamily="34" charset="0"/>
              </a:rPr>
              <a:t> </a:t>
            </a:r>
            <a:r>
              <a:rPr lang="en-US" sz="1600" b="1" dirty="0" smtClean="0">
                <a:solidFill>
                  <a:srgbClr val="FF0000"/>
                </a:solidFill>
                <a:latin typeface="Arial Black" panose="020B0A04020102020204" pitchFamily="34" charset="0"/>
              </a:rPr>
              <a:t>                            - regulates </a:t>
            </a:r>
            <a:r>
              <a:rPr lang="en-US" sz="1600" b="1" dirty="0">
                <a:solidFill>
                  <a:srgbClr val="FF0000"/>
                </a:solidFill>
                <a:latin typeface="Arial Black" panose="020B0A04020102020204" pitchFamily="34" charset="0"/>
              </a:rPr>
              <a:t>gas exchange, </a:t>
            </a:r>
            <a:endParaRPr lang="en-US" sz="1600" b="1" dirty="0" smtClean="0">
              <a:solidFill>
                <a:srgbClr val="FF0000"/>
              </a:solidFill>
              <a:latin typeface="Arial Black" panose="020B0A04020102020204" pitchFamily="34" charset="0"/>
            </a:endParaRPr>
          </a:p>
          <a:p>
            <a:pPr eaLnBrk="1" fontAlgn="auto" hangingPunct="1">
              <a:lnSpc>
                <a:spcPct val="200000"/>
              </a:lnSpc>
              <a:spcBef>
                <a:spcPts val="0"/>
              </a:spcBef>
              <a:spcAft>
                <a:spcPts val="0"/>
              </a:spcAft>
              <a:defRPr/>
            </a:pPr>
            <a:r>
              <a:rPr lang="en-US" sz="1600" b="1" dirty="0">
                <a:solidFill>
                  <a:srgbClr val="FF0000"/>
                </a:solidFill>
                <a:latin typeface="Arial Black" panose="020B0A04020102020204" pitchFamily="34" charset="0"/>
              </a:rPr>
              <a:t> </a:t>
            </a:r>
            <a:r>
              <a:rPr lang="en-US" sz="1600" b="1" dirty="0" smtClean="0">
                <a:solidFill>
                  <a:srgbClr val="FF0000"/>
                </a:solidFill>
                <a:latin typeface="Arial Black" panose="020B0A04020102020204" pitchFamily="34" charset="0"/>
              </a:rPr>
              <a:t>                            - secretion </a:t>
            </a:r>
            <a:r>
              <a:rPr lang="en-US" sz="1600" b="1" dirty="0">
                <a:solidFill>
                  <a:srgbClr val="FF0000"/>
                </a:solidFill>
                <a:latin typeface="Arial Black" panose="020B0A04020102020204" pitchFamily="34" charset="0"/>
              </a:rPr>
              <a:t>of </a:t>
            </a:r>
            <a:r>
              <a:rPr lang="en-US" sz="1600" b="1" dirty="0" smtClean="0">
                <a:solidFill>
                  <a:srgbClr val="FF0000"/>
                </a:solidFill>
                <a:latin typeface="Arial Black" panose="020B0A04020102020204" pitchFamily="34" charset="0"/>
              </a:rPr>
              <a:t>certain metabolites </a:t>
            </a:r>
          </a:p>
          <a:p>
            <a:pPr eaLnBrk="1" fontAlgn="auto" hangingPunct="1">
              <a:lnSpc>
                <a:spcPct val="200000"/>
              </a:lnSpc>
              <a:spcBef>
                <a:spcPts val="0"/>
              </a:spcBef>
              <a:spcAft>
                <a:spcPts val="0"/>
              </a:spcAft>
              <a:defRPr/>
            </a:pPr>
            <a:r>
              <a:rPr lang="en-US" sz="1600" b="1" dirty="0">
                <a:solidFill>
                  <a:srgbClr val="FF0000"/>
                </a:solidFill>
                <a:latin typeface="Arial Black" panose="020B0A04020102020204" pitchFamily="34" charset="0"/>
              </a:rPr>
              <a:t> </a:t>
            </a:r>
            <a:r>
              <a:rPr lang="en-US" sz="1600" b="1" dirty="0" smtClean="0">
                <a:solidFill>
                  <a:srgbClr val="FF0000"/>
                </a:solidFill>
                <a:latin typeface="Arial Black" panose="020B0A04020102020204" pitchFamily="34" charset="0"/>
              </a:rPr>
              <a:t>                             - water </a:t>
            </a:r>
            <a:r>
              <a:rPr lang="en-US" sz="1600" b="1" dirty="0">
                <a:solidFill>
                  <a:srgbClr val="FF0000"/>
                </a:solidFill>
                <a:latin typeface="Arial Black" panose="020B0A04020102020204" pitchFamily="34" charset="0"/>
              </a:rPr>
              <a:t>absorption (in some plant species</a:t>
            </a:r>
            <a:r>
              <a:rPr lang="en-US" sz="1600" b="1" dirty="0" smtClean="0">
                <a:solidFill>
                  <a:srgbClr val="FF0000"/>
                </a:solidFill>
                <a:latin typeface="Arial Black" panose="020B0A04020102020204" pitchFamily="34" charset="0"/>
              </a:rPr>
              <a:t>)</a:t>
            </a:r>
          </a:p>
          <a:p>
            <a:pPr>
              <a:lnSpc>
                <a:spcPct val="200000"/>
              </a:lnSpc>
              <a:defRPr/>
            </a:pPr>
            <a:r>
              <a:rPr lang="en-US" sz="1600" b="1" dirty="0">
                <a:solidFill>
                  <a:srgbClr val="FF0000"/>
                </a:solidFill>
                <a:latin typeface="Arial Black" panose="020B0A04020102020204" pitchFamily="34" charset="0"/>
              </a:rPr>
              <a:t>                              - protection against water loss by way of transpiration</a:t>
            </a:r>
            <a:endParaRPr lang="en-US" sz="1600" b="1" dirty="0">
              <a:solidFill>
                <a:srgbClr val="FF0000"/>
              </a:solidFill>
              <a:latin typeface="Arial Black" panose="020B0A04020102020204" pitchFamily="34" charset="0"/>
            </a:endParaRPr>
          </a:p>
          <a:p>
            <a:pPr eaLnBrk="1" fontAlgn="auto" hangingPunct="1">
              <a:lnSpc>
                <a:spcPct val="200000"/>
              </a:lnSpc>
              <a:spcBef>
                <a:spcPts val="0"/>
              </a:spcBef>
              <a:spcAft>
                <a:spcPts val="0"/>
              </a:spcAft>
              <a:defRPr/>
            </a:pPr>
            <a:r>
              <a:rPr lang="en-US" b="1" i="1" dirty="0">
                <a:latin typeface="Arial Black" panose="020B0A04020102020204" pitchFamily="34" charset="0"/>
              </a:rPr>
              <a:t>	</a:t>
            </a:r>
            <a:endParaRPr lang="en-US" b="1" dirty="0">
              <a:latin typeface="Arial Black" panose="020B0A04020102020204" pitchFamily="34" charset="0"/>
            </a:endParaRPr>
          </a:p>
        </p:txBody>
      </p:sp>
    </p:spTree>
    <p:extLst>
      <p:ext uri="{BB962C8B-B14F-4D97-AF65-F5344CB8AC3E}">
        <p14:creationId xmlns:p14="http://schemas.microsoft.com/office/powerpoint/2010/main" val="8693527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4549" y="1698929"/>
            <a:ext cx="11343861" cy="2985433"/>
          </a:xfrm>
          <a:prstGeom prst="rect">
            <a:avLst/>
          </a:prstGeom>
        </p:spPr>
        <p:txBody>
          <a:bodyPr wrap="square">
            <a:spAutoFit/>
          </a:bodyPr>
          <a:lstStyle/>
          <a:p>
            <a:pPr>
              <a:lnSpc>
                <a:spcPct val="200000"/>
              </a:lnSpc>
              <a:defRPr/>
            </a:pPr>
            <a:r>
              <a:rPr lang="en-US" b="1" dirty="0" smtClean="0">
                <a:solidFill>
                  <a:srgbClr val="FF0000"/>
                </a:solidFill>
                <a:latin typeface="Arial Black" panose="020B0A04020102020204" pitchFamily="34" charset="0"/>
              </a:rPr>
              <a:t>** Structure</a:t>
            </a:r>
            <a:r>
              <a:rPr lang="en-US" b="1" dirty="0">
                <a:solidFill>
                  <a:srgbClr val="FF0000"/>
                </a:solidFill>
                <a:latin typeface="Arial Black" panose="020B0A04020102020204" pitchFamily="34" charset="0"/>
              </a:rPr>
              <a:t>: </a:t>
            </a:r>
            <a:r>
              <a:rPr lang="en-US" b="1" dirty="0" smtClean="0">
                <a:solidFill>
                  <a:srgbClr val="0070C0"/>
                </a:solidFill>
                <a:latin typeface="Arial Black" panose="020B0A04020102020204" pitchFamily="34" charset="0"/>
              </a:rPr>
              <a:t>the epidermal layers includes the following differentiated </a:t>
            </a:r>
            <a:r>
              <a:rPr lang="en-US" b="1" dirty="0">
                <a:solidFill>
                  <a:srgbClr val="0070C0"/>
                </a:solidFill>
                <a:latin typeface="Arial Black" panose="020B0A04020102020204" pitchFamily="34" charset="0"/>
              </a:rPr>
              <a:t>cells</a:t>
            </a:r>
            <a:r>
              <a:rPr lang="en-US" b="1" dirty="0">
                <a:latin typeface="Arial Black" panose="020B0A04020102020204" pitchFamily="34" charset="0"/>
              </a:rPr>
              <a:t>; </a:t>
            </a:r>
          </a:p>
          <a:p>
            <a:pPr marL="742950" lvl="1" indent="-285750">
              <a:buFont typeface="Arial" panose="020B0604020202020204" pitchFamily="34" charset="0"/>
              <a:buChar char="•"/>
              <a:defRPr/>
            </a:pPr>
            <a:r>
              <a:rPr lang="en-US" sz="1600" b="1" dirty="0">
                <a:solidFill>
                  <a:schemeClr val="accent3">
                    <a:lumMod val="75000"/>
                  </a:schemeClr>
                </a:solidFill>
                <a:latin typeface="Arial Black" panose="020B0A04020102020204" pitchFamily="34" charset="0"/>
              </a:rPr>
              <a:t>Epidermal cells </a:t>
            </a:r>
            <a:r>
              <a:rPr lang="en-US" sz="1600" b="1" dirty="0">
                <a:latin typeface="Arial Black" panose="020B0A04020102020204" pitchFamily="34" charset="0"/>
              </a:rPr>
              <a:t>(the largest, most numerous &amp; least specialized). Epidermal cells are more elongated </a:t>
            </a:r>
            <a:r>
              <a:rPr lang="en-US" sz="1600" b="1" dirty="0" smtClean="0">
                <a:latin typeface="Arial Black" panose="020B0A04020102020204" pitchFamily="34" charset="0"/>
              </a:rPr>
              <a:t>in monocots </a:t>
            </a:r>
            <a:r>
              <a:rPr lang="en-US" sz="1600" b="1" dirty="0">
                <a:latin typeface="Arial Black" panose="020B0A04020102020204" pitchFamily="34" charset="0"/>
              </a:rPr>
              <a:t>than in dicots.</a:t>
            </a:r>
          </a:p>
          <a:p>
            <a:pPr marL="742950" lvl="1" indent="-285750">
              <a:lnSpc>
                <a:spcPct val="200000"/>
              </a:lnSpc>
              <a:buFont typeface="Arial" panose="020B0604020202020204" pitchFamily="34" charset="0"/>
              <a:buChar char="•"/>
              <a:defRPr/>
            </a:pPr>
            <a:r>
              <a:rPr lang="en-US" sz="1600" b="1" dirty="0">
                <a:solidFill>
                  <a:schemeClr val="accent3">
                    <a:lumMod val="75000"/>
                  </a:schemeClr>
                </a:solidFill>
                <a:latin typeface="Arial Black" panose="020B0A04020102020204" pitchFamily="34" charset="0"/>
              </a:rPr>
              <a:t>Hair cells </a:t>
            </a:r>
            <a:r>
              <a:rPr lang="en-US" sz="1600" b="1" dirty="0">
                <a:latin typeface="Arial Black" panose="020B0A04020102020204" pitchFamily="34" charset="0"/>
              </a:rPr>
              <a:t>(</a:t>
            </a:r>
            <a:r>
              <a:rPr lang="en-US" sz="1600" b="1" dirty="0" err="1">
                <a:latin typeface="Arial Black" panose="020B0A04020102020204" pitchFamily="34" charset="0"/>
              </a:rPr>
              <a:t>trichomes</a:t>
            </a:r>
            <a:r>
              <a:rPr lang="en-US" sz="1600" b="1" dirty="0" smtClean="0">
                <a:latin typeface="Arial Black" panose="020B0A04020102020204" pitchFamily="34" charset="0"/>
              </a:rPr>
              <a:t>) </a:t>
            </a:r>
            <a:endParaRPr lang="en-US" sz="1600" b="1" dirty="0">
              <a:latin typeface="Arial Black" panose="020B0A04020102020204" pitchFamily="34" charset="0"/>
            </a:endParaRPr>
          </a:p>
          <a:p>
            <a:pPr marL="742950" lvl="1" indent="-285750">
              <a:buFont typeface="Arial" panose="020B0604020202020204" pitchFamily="34" charset="0"/>
              <a:buChar char="•"/>
              <a:defRPr/>
            </a:pPr>
            <a:r>
              <a:rPr lang="en-US" sz="1600" b="1" dirty="0">
                <a:latin typeface="Arial Black" panose="020B0A04020102020204" pitchFamily="34" charset="0"/>
              </a:rPr>
              <a:t>Stomatal complex cells (</a:t>
            </a:r>
            <a:r>
              <a:rPr lang="en-US" sz="1600" b="1" dirty="0">
                <a:solidFill>
                  <a:schemeClr val="accent3">
                    <a:lumMod val="75000"/>
                  </a:schemeClr>
                </a:solidFill>
                <a:latin typeface="Arial Black" panose="020B0A04020102020204" pitchFamily="34" charset="0"/>
              </a:rPr>
              <a:t>guard cells </a:t>
            </a:r>
            <a:r>
              <a:rPr lang="en-US" sz="1600" b="1" dirty="0">
                <a:latin typeface="Arial Black" panose="020B0A04020102020204" pitchFamily="34" charset="0"/>
              </a:rPr>
              <a:t>(chloroplasts present), and </a:t>
            </a:r>
            <a:r>
              <a:rPr lang="en-US" sz="1600" b="1" dirty="0">
                <a:solidFill>
                  <a:schemeClr val="accent3">
                    <a:lumMod val="75000"/>
                  </a:schemeClr>
                </a:solidFill>
                <a:latin typeface="Arial Black" panose="020B0A04020102020204" pitchFamily="34" charset="0"/>
              </a:rPr>
              <a:t>subsidiary cells </a:t>
            </a:r>
            <a:r>
              <a:rPr lang="en-US" sz="1600" b="1" dirty="0">
                <a:latin typeface="Arial Black" panose="020B0A04020102020204" pitchFamily="34" charset="0"/>
              </a:rPr>
              <a:t>(lack))</a:t>
            </a:r>
          </a:p>
          <a:p>
            <a:pPr>
              <a:lnSpc>
                <a:spcPct val="200000"/>
              </a:lnSpc>
              <a:defRPr/>
            </a:pPr>
            <a:r>
              <a:rPr lang="en-US" b="1" dirty="0">
                <a:latin typeface="Arial Black" panose="020B0A04020102020204" pitchFamily="34" charset="0"/>
              </a:rPr>
              <a:t>		- </a:t>
            </a:r>
            <a:r>
              <a:rPr lang="en-US" sz="1600" b="1" dirty="0">
                <a:latin typeface="Arial Black" panose="020B0A04020102020204" pitchFamily="34" charset="0"/>
              </a:rPr>
              <a:t>Stomatal complex regulates the </a:t>
            </a:r>
            <a:r>
              <a:rPr lang="en-US" sz="1600" b="1" dirty="0" smtClean="0">
                <a:latin typeface="Arial Black" panose="020B0A04020102020204" pitchFamily="34" charset="0"/>
              </a:rPr>
              <a:t>opening and closing of stomata</a:t>
            </a:r>
            <a:r>
              <a:rPr lang="en-US" b="1" dirty="0" smtClean="0">
                <a:latin typeface="Arial Black" panose="020B0A04020102020204" pitchFamily="34" charset="0"/>
              </a:rPr>
              <a:t>.</a:t>
            </a:r>
            <a:endParaRPr lang="en-US" b="1" dirty="0">
              <a:latin typeface="Arial Black" panose="020B0A04020102020204" pitchFamily="34" charset="0"/>
            </a:endParaRPr>
          </a:p>
          <a:p>
            <a:pPr>
              <a:defRPr/>
            </a:pPr>
            <a:r>
              <a:rPr lang="en-US" b="1" dirty="0">
                <a:latin typeface="Arial Black" panose="020B0A04020102020204" pitchFamily="34" charset="0"/>
              </a:rPr>
              <a:t>		- </a:t>
            </a:r>
            <a:r>
              <a:rPr lang="en-US" sz="1600" b="1" dirty="0">
                <a:latin typeface="Arial Black" panose="020B0A04020102020204" pitchFamily="34" charset="0"/>
              </a:rPr>
              <a:t>Stomata are more numerous over the lower epidermis than the upper </a:t>
            </a:r>
            <a:r>
              <a:rPr lang="en-US" sz="1600" b="1" dirty="0" smtClean="0">
                <a:latin typeface="Arial Black" panose="020B0A04020102020204" pitchFamily="34" charset="0"/>
              </a:rPr>
              <a:t>epidermis and </a:t>
            </a:r>
          </a:p>
          <a:p>
            <a:pPr>
              <a:defRPr/>
            </a:pPr>
            <a:r>
              <a:rPr lang="en-US" sz="1600" b="1" dirty="0">
                <a:latin typeface="Arial Black" panose="020B0A04020102020204" pitchFamily="34" charset="0"/>
              </a:rPr>
              <a:t> </a:t>
            </a:r>
            <a:r>
              <a:rPr lang="en-US" sz="1600" b="1" dirty="0" smtClean="0">
                <a:latin typeface="Arial Black" panose="020B0A04020102020204" pitchFamily="34" charset="0"/>
              </a:rPr>
              <a:t>                 regulate the gases exchange</a:t>
            </a:r>
            <a:r>
              <a:rPr lang="en-US" b="1" dirty="0" smtClean="0">
                <a:latin typeface="Arial Black" panose="020B0A04020102020204" pitchFamily="34" charset="0"/>
              </a:rPr>
              <a:t>.</a:t>
            </a:r>
            <a:endParaRPr lang="en-US" b="1" dirty="0">
              <a:latin typeface="Arial Black" panose="020B0A04020102020204" pitchFamily="34" charset="0"/>
            </a:endParaRPr>
          </a:p>
        </p:txBody>
      </p:sp>
    </p:spTree>
    <p:extLst>
      <p:ext uri="{BB962C8B-B14F-4D97-AF65-F5344CB8AC3E}">
        <p14:creationId xmlns:p14="http://schemas.microsoft.com/office/powerpoint/2010/main" val="336079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2EC416-B5CB-4E92-BBDC-7AF90B272545}"/>
              </a:ext>
            </a:extLst>
          </p:cNvPr>
          <p:cNvSpPr txBox="1"/>
          <p:nvPr/>
        </p:nvSpPr>
        <p:spPr>
          <a:xfrm>
            <a:off x="119063" y="266700"/>
            <a:ext cx="11953875" cy="6986528"/>
          </a:xfrm>
          <a:prstGeom prst="rect">
            <a:avLst/>
          </a:prstGeom>
          <a:noFill/>
        </p:spPr>
        <p:txBody>
          <a:bodyPr>
            <a:spAutoFit/>
          </a:bodyPr>
          <a:lstStyle/>
          <a:p>
            <a:pPr marL="342900" indent="-342900">
              <a:lnSpc>
                <a:spcPct val="200000"/>
              </a:lnSpc>
              <a:buFont typeface="Wingdings" panose="05000000000000000000" pitchFamily="2" charset="2"/>
              <a:buChar char="q"/>
              <a:defRPr/>
            </a:pPr>
            <a:r>
              <a:rPr lang="en-US" sz="2000" b="1" dirty="0" smtClean="0">
                <a:latin typeface="Arial Black" panose="020B0A04020102020204" pitchFamily="34" charset="0"/>
              </a:rPr>
              <a:t> </a:t>
            </a:r>
            <a:r>
              <a:rPr lang="en-US" b="1" i="1" dirty="0">
                <a:solidFill>
                  <a:srgbClr val="FF0000"/>
                </a:solidFill>
                <a:latin typeface="Arial Black" panose="020B0A04020102020204" pitchFamily="34" charset="0"/>
              </a:rPr>
              <a:t>Mesophyll: </a:t>
            </a:r>
            <a:r>
              <a:rPr lang="en-US" sz="1600" b="1" dirty="0" smtClean="0">
                <a:latin typeface="Arial Black" panose="020B0A04020102020204" pitchFamily="34" charset="0"/>
              </a:rPr>
              <a:t>Form</a:t>
            </a:r>
            <a:r>
              <a:rPr lang="en-US" b="1" i="1" dirty="0" smtClean="0">
                <a:solidFill>
                  <a:srgbClr val="FF0000"/>
                </a:solidFill>
                <a:latin typeface="Arial Black" panose="020B0A04020102020204" pitchFamily="34" charset="0"/>
              </a:rPr>
              <a:t> </a:t>
            </a:r>
            <a:r>
              <a:rPr lang="en-US" sz="1600" b="1" dirty="0" smtClean="0">
                <a:latin typeface="Arial Black" panose="020B0A04020102020204" pitchFamily="34" charset="0"/>
              </a:rPr>
              <a:t>Most </a:t>
            </a:r>
            <a:r>
              <a:rPr lang="en-US" sz="1600" b="1" dirty="0">
                <a:latin typeface="Arial Black" panose="020B0A04020102020204" pitchFamily="34" charset="0"/>
              </a:rPr>
              <a:t>of the interior of the leaf between the upper and lower layers of epidermis </a:t>
            </a:r>
            <a:r>
              <a:rPr lang="en-US" sz="2000" b="1" dirty="0">
                <a:solidFill>
                  <a:srgbClr val="002060"/>
                </a:solidFill>
                <a:latin typeface="Arial Black" panose="020B0A04020102020204" pitchFamily="34" charset="0"/>
              </a:rPr>
              <a:t>	</a:t>
            </a:r>
            <a:r>
              <a:rPr lang="en-US" sz="1600" b="1" dirty="0" smtClean="0">
                <a:solidFill>
                  <a:srgbClr val="002060"/>
                </a:solidFill>
                <a:latin typeface="Arial Black" panose="020B0A04020102020204" pitchFamily="34" charset="0"/>
              </a:rPr>
              <a:t>In </a:t>
            </a:r>
            <a:r>
              <a:rPr lang="en-US" sz="1600" b="1" dirty="0">
                <a:solidFill>
                  <a:srgbClr val="002060"/>
                </a:solidFill>
                <a:latin typeface="Arial Black" panose="020B0A04020102020204" pitchFamily="34" charset="0"/>
              </a:rPr>
              <a:t>dicot leaves</a:t>
            </a:r>
            <a:r>
              <a:rPr lang="en-US" sz="1600" b="1" dirty="0">
                <a:latin typeface="Arial Black" panose="020B0A04020102020204" pitchFamily="34" charset="0"/>
              </a:rPr>
              <a:t>, the mesophyll is </a:t>
            </a:r>
            <a:r>
              <a:rPr lang="en-US" sz="1600" b="1" dirty="0" smtClean="0">
                <a:latin typeface="Arial Black" panose="020B0A04020102020204" pitchFamily="34" charset="0"/>
              </a:rPr>
              <a:t>divided into two </a:t>
            </a:r>
            <a:r>
              <a:rPr lang="en-US" sz="1600" b="1" dirty="0">
                <a:latin typeface="Arial Black" panose="020B0A04020102020204" pitchFamily="34" charset="0"/>
              </a:rPr>
              <a:t>layers</a:t>
            </a:r>
          </a:p>
          <a:p>
            <a:pPr marL="914400" lvl="1" indent="-457200" eaLnBrk="1" fontAlgn="auto" hangingPunct="1">
              <a:lnSpc>
                <a:spcPct val="200000"/>
              </a:lnSpc>
              <a:spcBef>
                <a:spcPts val="0"/>
              </a:spcBef>
              <a:spcAft>
                <a:spcPts val="0"/>
              </a:spcAft>
              <a:buFontTx/>
              <a:buAutoNum type="arabicParenR"/>
              <a:defRPr/>
            </a:pPr>
            <a:r>
              <a:rPr lang="en-US" sz="1600" b="1" dirty="0">
                <a:solidFill>
                  <a:srgbClr val="0070C0"/>
                </a:solidFill>
                <a:latin typeface="Arial Black" panose="020B0A04020102020204" pitchFamily="34" charset="0"/>
              </a:rPr>
              <a:t>Palisade layer</a:t>
            </a:r>
            <a:r>
              <a:rPr lang="en-US" sz="1600" b="1" dirty="0">
                <a:solidFill>
                  <a:schemeClr val="accent3">
                    <a:lumMod val="75000"/>
                  </a:schemeClr>
                </a:solidFill>
                <a:latin typeface="Arial Black" panose="020B0A04020102020204" pitchFamily="34" charset="0"/>
              </a:rPr>
              <a:t>: </a:t>
            </a:r>
            <a:endParaRPr lang="en-US" sz="1600" b="1" dirty="0" smtClean="0">
              <a:solidFill>
                <a:schemeClr val="accent3">
                  <a:lumMod val="75000"/>
                </a:schemeClr>
              </a:solidFill>
              <a:latin typeface="Arial Black" panose="020B0A04020102020204" pitchFamily="34" charset="0"/>
            </a:endParaRPr>
          </a:p>
          <a:p>
            <a:pPr lvl="1" eaLnBrk="1" fontAlgn="auto" hangingPunct="1">
              <a:spcBef>
                <a:spcPts val="0"/>
              </a:spcBef>
              <a:spcAft>
                <a:spcPts val="0"/>
              </a:spcAft>
              <a:defRPr/>
            </a:pPr>
            <a:r>
              <a:rPr lang="en-US" sz="1600" b="1" dirty="0" smtClean="0">
                <a:solidFill>
                  <a:schemeClr val="accent3">
                    <a:lumMod val="75000"/>
                  </a:schemeClr>
                </a:solidFill>
                <a:latin typeface="Arial Black" panose="020B0A04020102020204" pitchFamily="34" charset="0"/>
              </a:rPr>
              <a:t>                           ** directly beneath the upper epidermis</a:t>
            </a:r>
          </a:p>
          <a:p>
            <a:pPr lvl="1" eaLnBrk="1" fontAlgn="auto" hangingPunct="1">
              <a:spcBef>
                <a:spcPts val="0"/>
              </a:spcBef>
              <a:spcAft>
                <a:spcPts val="0"/>
              </a:spcAft>
              <a:defRPr/>
            </a:pPr>
            <a:r>
              <a:rPr lang="en-US" sz="1600" b="1" dirty="0">
                <a:solidFill>
                  <a:schemeClr val="accent3">
                    <a:lumMod val="75000"/>
                  </a:schemeClr>
                </a:solidFill>
                <a:latin typeface="Arial Black" panose="020B0A04020102020204" pitchFamily="34" charset="0"/>
              </a:rPr>
              <a:t> </a:t>
            </a:r>
            <a:r>
              <a:rPr lang="en-US" sz="1600" b="1" dirty="0" smtClean="0">
                <a:solidFill>
                  <a:schemeClr val="accent3">
                    <a:lumMod val="75000"/>
                  </a:schemeClr>
                </a:solidFill>
                <a:latin typeface="Arial Black" panose="020B0A04020102020204" pitchFamily="34" charset="0"/>
              </a:rPr>
              <a:t>                          ** </a:t>
            </a:r>
            <a:r>
              <a:rPr lang="en-US" sz="1600" b="1" dirty="0" smtClean="0">
                <a:latin typeface="Arial Black" panose="020B0A04020102020204" pitchFamily="34" charset="0"/>
              </a:rPr>
              <a:t>cylindrical cells, arranged in 1-5 rows, </a:t>
            </a:r>
          </a:p>
          <a:p>
            <a:pPr lvl="1" eaLnBrk="1" fontAlgn="auto" hangingPunct="1">
              <a:spcBef>
                <a:spcPts val="0"/>
              </a:spcBef>
              <a:spcAft>
                <a:spcPts val="0"/>
              </a:spcAft>
              <a:defRPr/>
            </a:pPr>
            <a:r>
              <a:rPr lang="en-US" sz="1600" b="1" dirty="0" smtClean="0">
                <a:latin typeface="Arial Black" panose="020B0A04020102020204" pitchFamily="34" charset="0"/>
              </a:rPr>
              <a:t>                           ** </a:t>
            </a:r>
            <a:r>
              <a:rPr lang="en-US" sz="1600" b="1" dirty="0" err="1" smtClean="0">
                <a:latin typeface="Arial Black" panose="020B0A04020102020204" pitchFamily="34" charset="0"/>
              </a:rPr>
              <a:t>Parechyma</a:t>
            </a:r>
            <a:r>
              <a:rPr lang="en-US" sz="1600" b="1" dirty="0" smtClean="0">
                <a:latin typeface="Arial Black" panose="020B0A04020102020204" pitchFamily="34" charset="0"/>
              </a:rPr>
              <a:t> cells that contain chloroplasts ( </a:t>
            </a:r>
            <a:r>
              <a:rPr lang="en-US" sz="1600" b="1" dirty="0" err="1" smtClean="0">
                <a:solidFill>
                  <a:srgbClr val="FF0000"/>
                </a:solidFill>
                <a:latin typeface="Arial Black" panose="020B0A04020102020204" pitchFamily="34" charset="0"/>
              </a:rPr>
              <a:t>Chlorenchyma</a:t>
            </a:r>
            <a:r>
              <a:rPr lang="en-US" sz="1600" b="1" dirty="0" smtClean="0">
                <a:latin typeface="Arial Black" panose="020B0A04020102020204" pitchFamily="34" charset="0"/>
              </a:rPr>
              <a:t> ) </a:t>
            </a:r>
          </a:p>
          <a:p>
            <a:pPr lvl="1" eaLnBrk="1" fontAlgn="auto" hangingPunct="1">
              <a:spcBef>
                <a:spcPts val="0"/>
              </a:spcBef>
              <a:spcAft>
                <a:spcPts val="0"/>
              </a:spcAft>
              <a:defRPr/>
            </a:pPr>
            <a:r>
              <a:rPr lang="en-US" sz="1600" b="1" dirty="0" smtClean="0">
                <a:latin typeface="Arial Black" panose="020B0A04020102020204" pitchFamily="34" charset="0"/>
              </a:rPr>
              <a:t>                                 </a:t>
            </a:r>
          </a:p>
          <a:p>
            <a:pPr marL="800100" lvl="1" indent="-342900" eaLnBrk="1" fontAlgn="auto" hangingPunct="1">
              <a:spcBef>
                <a:spcPts val="0"/>
              </a:spcBef>
              <a:spcAft>
                <a:spcPts val="0"/>
              </a:spcAft>
              <a:buAutoNum type="arabicParenR" startAt="2"/>
              <a:defRPr/>
            </a:pPr>
            <a:r>
              <a:rPr lang="en-US" sz="1600" b="1" dirty="0" smtClean="0">
                <a:solidFill>
                  <a:srgbClr val="0070C0"/>
                </a:solidFill>
                <a:latin typeface="Arial Black" panose="020B0A04020102020204" pitchFamily="34" charset="0"/>
              </a:rPr>
              <a:t>Spongy layer</a:t>
            </a:r>
            <a:r>
              <a:rPr lang="en-US" sz="1600" b="1" dirty="0" smtClean="0">
                <a:latin typeface="Arial Black" panose="020B0A04020102020204" pitchFamily="34" charset="0"/>
              </a:rPr>
              <a:t>: </a:t>
            </a:r>
          </a:p>
          <a:p>
            <a:pPr lvl="1" eaLnBrk="1" fontAlgn="auto" hangingPunct="1">
              <a:spcBef>
                <a:spcPts val="0"/>
              </a:spcBef>
              <a:spcAft>
                <a:spcPts val="0"/>
              </a:spcAft>
              <a:defRPr/>
            </a:pPr>
            <a:r>
              <a:rPr lang="en-US" sz="1600" b="1" dirty="0">
                <a:latin typeface="Arial Black" panose="020B0A04020102020204" pitchFamily="34" charset="0"/>
              </a:rPr>
              <a:t> </a:t>
            </a:r>
            <a:r>
              <a:rPr lang="en-US" sz="1600" b="1" dirty="0" smtClean="0">
                <a:latin typeface="Arial Black" panose="020B0A04020102020204" pitchFamily="34" charset="0"/>
              </a:rPr>
              <a:t>                           ** beneath palisade</a:t>
            </a:r>
          </a:p>
          <a:p>
            <a:pPr lvl="1" eaLnBrk="1" fontAlgn="auto" hangingPunct="1">
              <a:spcBef>
                <a:spcPts val="0"/>
              </a:spcBef>
              <a:spcAft>
                <a:spcPts val="0"/>
              </a:spcAft>
              <a:defRPr/>
            </a:pPr>
            <a:endParaRPr lang="en-US" sz="1600" b="1" dirty="0" smtClean="0">
              <a:latin typeface="Arial Black" panose="020B0A04020102020204" pitchFamily="34" charset="0"/>
            </a:endParaRPr>
          </a:p>
          <a:p>
            <a:pPr lvl="1">
              <a:defRPr/>
            </a:pPr>
            <a:r>
              <a:rPr lang="en-US" sz="1600" b="1" dirty="0">
                <a:latin typeface="Arial Black" panose="020B0A04020102020204" pitchFamily="34" charset="0"/>
              </a:rPr>
              <a:t> </a:t>
            </a:r>
            <a:r>
              <a:rPr lang="en-US" sz="1600" b="1" dirty="0" smtClean="0">
                <a:latin typeface="Arial Black" panose="020B0A04020102020204" pitchFamily="34" charset="0"/>
              </a:rPr>
              <a:t>                           ** the cells are </a:t>
            </a:r>
            <a:r>
              <a:rPr lang="en-US" sz="1600" b="1" u="sng" dirty="0" smtClean="0">
                <a:latin typeface="Arial Black" panose="020B0A04020102020204" pitchFamily="34" charset="0"/>
              </a:rPr>
              <a:t>NOT</a:t>
            </a:r>
            <a:r>
              <a:rPr lang="en-US" sz="1600" b="1" dirty="0" smtClean="0">
                <a:latin typeface="Arial Black" panose="020B0A04020102020204" pitchFamily="34" charset="0"/>
              </a:rPr>
              <a:t> tightly packed (there is intercellular </a:t>
            </a:r>
            <a:r>
              <a:rPr lang="en-US" sz="1600" b="1" dirty="0">
                <a:latin typeface="Arial Black" panose="020B0A04020102020204" pitchFamily="34" charset="0"/>
              </a:rPr>
              <a:t>air </a:t>
            </a:r>
            <a:r>
              <a:rPr lang="en-US" sz="1600" b="1" dirty="0" err="1">
                <a:latin typeface="Arial Black" panose="020B0A04020102020204" pitchFamily="34" charset="0"/>
              </a:rPr>
              <a:t>spacesfor</a:t>
            </a:r>
            <a:r>
              <a:rPr lang="en-US" sz="1600" b="1" dirty="0">
                <a:latin typeface="Arial Black" panose="020B0A04020102020204" pitchFamily="34" charset="0"/>
              </a:rPr>
              <a:t> oxygen and </a:t>
            </a:r>
            <a:endParaRPr lang="en-US" sz="1600" b="1" dirty="0" smtClean="0">
              <a:latin typeface="Arial Black" panose="020B0A04020102020204" pitchFamily="34" charset="0"/>
            </a:endParaRPr>
          </a:p>
          <a:p>
            <a:pPr lvl="1">
              <a:defRPr/>
            </a:pPr>
            <a:r>
              <a:rPr lang="en-US" sz="1600" b="1" dirty="0">
                <a:latin typeface="Arial Black" panose="020B0A04020102020204" pitchFamily="34" charset="0"/>
              </a:rPr>
              <a:t> </a:t>
            </a:r>
            <a:r>
              <a:rPr lang="en-US" sz="1600" b="1" dirty="0" smtClean="0">
                <a:latin typeface="Arial Black" panose="020B0A04020102020204" pitchFamily="34" charset="0"/>
              </a:rPr>
              <a:t>                                carbon </a:t>
            </a:r>
            <a:r>
              <a:rPr lang="en-US" sz="1600" b="1" dirty="0">
                <a:latin typeface="Arial Black" panose="020B0A04020102020204" pitchFamily="34" charset="0"/>
              </a:rPr>
              <a:t>dioxide to diffuse in and out of during respiration and photosynthesis</a:t>
            </a:r>
            <a:r>
              <a:rPr lang="en-US" sz="1600" b="1" dirty="0" smtClean="0">
                <a:latin typeface="Arial Black" panose="020B0A04020102020204" pitchFamily="34" charset="0"/>
              </a:rPr>
              <a:t>)</a:t>
            </a:r>
          </a:p>
          <a:p>
            <a:pPr lvl="1">
              <a:defRPr/>
            </a:pPr>
            <a:endParaRPr lang="en-US" sz="1600" b="1" dirty="0" smtClean="0">
              <a:latin typeface="Arial Black" panose="020B0A04020102020204" pitchFamily="34" charset="0"/>
            </a:endParaRPr>
          </a:p>
          <a:p>
            <a:pPr lvl="1" eaLnBrk="1" fontAlgn="auto" hangingPunct="1">
              <a:spcBef>
                <a:spcPts val="0"/>
              </a:spcBef>
              <a:spcAft>
                <a:spcPts val="0"/>
              </a:spcAft>
              <a:defRPr/>
            </a:pPr>
            <a:r>
              <a:rPr lang="en-US" sz="1600" b="1" dirty="0">
                <a:latin typeface="Arial Black" panose="020B0A04020102020204" pitchFamily="34" charset="0"/>
              </a:rPr>
              <a:t> </a:t>
            </a:r>
            <a:r>
              <a:rPr lang="en-US" sz="1600" b="1" dirty="0" smtClean="0">
                <a:latin typeface="Arial Black" panose="020B0A04020102020204" pitchFamily="34" charset="0"/>
              </a:rPr>
              <a:t>                           ** have fewer chloroplasts than the cells in the </a:t>
            </a:r>
            <a:r>
              <a:rPr lang="en-US" sz="1600" b="1" dirty="0" err="1" smtClean="0">
                <a:latin typeface="Arial Black" panose="020B0A04020102020204" pitchFamily="34" charset="0"/>
              </a:rPr>
              <a:t>palaside</a:t>
            </a:r>
            <a:r>
              <a:rPr lang="en-US" sz="1600" b="1" dirty="0" smtClean="0">
                <a:latin typeface="Arial Black" panose="020B0A04020102020204" pitchFamily="34" charset="0"/>
              </a:rPr>
              <a:t> layer</a:t>
            </a:r>
          </a:p>
          <a:p>
            <a:pPr lvl="1" eaLnBrk="1" fontAlgn="auto" hangingPunct="1">
              <a:spcBef>
                <a:spcPts val="0"/>
              </a:spcBef>
              <a:spcAft>
                <a:spcPts val="0"/>
              </a:spcAft>
              <a:defRPr/>
            </a:pPr>
            <a:endParaRPr lang="en-US" sz="1600" b="1" dirty="0" smtClean="0">
              <a:latin typeface="Arial Black" panose="020B0A04020102020204" pitchFamily="34" charset="0"/>
            </a:endParaRPr>
          </a:p>
          <a:p>
            <a:pPr marL="622300" indent="187325" eaLnBrk="1" fontAlgn="auto" hangingPunct="1">
              <a:spcBef>
                <a:spcPts val="0"/>
              </a:spcBef>
              <a:spcAft>
                <a:spcPts val="0"/>
              </a:spcAft>
              <a:tabLst>
                <a:tab pos="622300" algn="l"/>
              </a:tabLst>
              <a:defRPr/>
            </a:pPr>
            <a:r>
              <a:rPr lang="en-US" sz="1600" b="1" dirty="0">
                <a:latin typeface="Arial Black" panose="020B0A04020102020204" pitchFamily="34" charset="0"/>
              </a:rPr>
              <a:t>	</a:t>
            </a:r>
            <a:r>
              <a:rPr lang="en-US" sz="1600" b="1" dirty="0" smtClean="0">
                <a:latin typeface="Arial Black" panose="020B0A04020102020204" pitchFamily="34" charset="0"/>
              </a:rPr>
              <a:t>                      ** The </a:t>
            </a:r>
            <a:r>
              <a:rPr lang="en-US" sz="1600" b="1" dirty="0">
                <a:latin typeface="Arial Black" panose="020B0A04020102020204" pitchFamily="34" charset="0"/>
              </a:rPr>
              <a:t>pores of stomata opens into sub stomatal chambers, which </a:t>
            </a:r>
            <a:r>
              <a:rPr lang="en-US" sz="1600" b="1" dirty="0" smtClean="0">
                <a:latin typeface="Arial Black" panose="020B0A04020102020204" pitchFamily="34" charset="0"/>
              </a:rPr>
              <a:t>are connected </a:t>
            </a:r>
          </a:p>
          <a:p>
            <a:pPr marL="622300" indent="187325" eaLnBrk="1" fontAlgn="auto" hangingPunct="1">
              <a:spcBef>
                <a:spcPts val="0"/>
              </a:spcBef>
              <a:spcAft>
                <a:spcPts val="0"/>
              </a:spcAft>
              <a:tabLst>
                <a:tab pos="622300" algn="l"/>
              </a:tabLst>
              <a:defRPr/>
            </a:pPr>
            <a:r>
              <a:rPr lang="en-US" sz="1600" b="1" dirty="0">
                <a:latin typeface="Arial Black" panose="020B0A04020102020204" pitchFamily="34" charset="0"/>
              </a:rPr>
              <a:t> </a:t>
            </a:r>
            <a:r>
              <a:rPr lang="en-US" sz="1600" b="1" dirty="0" smtClean="0">
                <a:latin typeface="Arial Black" panose="020B0A04020102020204" pitchFamily="34" charset="0"/>
              </a:rPr>
              <a:t>                             to the air spaces</a:t>
            </a:r>
            <a:r>
              <a:rPr lang="en-US" sz="1600" b="1" dirty="0">
                <a:latin typeface="Arial Black" panose="020B0A04020102020204" pitchFamily="34" charset="0"/>
              </a:rPr>
              <a:t>, thus, CO2 and O2 can diffuse in &amp; out during </a:t>
            </a:r>
            <a:r>
              <a:rPr lang="en-US" sz="1600" b="1" dirty="0" smtClean="0">
                <a:latin typeface="Arial Black" panose="020B0A04020102020204" pitchFamily="34" charset="0"/>
              </a:rPr>
              <a:t>respiration </a:t>
            </a:r>
            <a:r>
              <a:rPr lang="en-US" sz="1600" b="1" dirty="0">
                <a:latin typeface="Arial Black" panose="020B0A04020102020204" pitchFamily="34" charset="0"/>
              </a:rPr>
              <a:t>&amp; </a:t>
            </a:r>
            <a:endParaRPr lang="en-US" sz="1600" b="1" dirty="0" smtClean="0">
              <a:latin typeface="Arial Black" panose="020B0A04020102020204" pitchFamily="34" charset="0"/>
            </a:endParaRPr>
          </a:p>
          <a:p>
            <a:pPr eaLnBrk="1" fontAlgn="auto" hangingPunct="1">
              <a:spcBef>
                <a:spcPts val="0"/>
              </a:spcBef>
              <a:spcAft>
                <a:spcPts val="0"/>
              </a:spcAft>
              <a:defRPr/>
            </a:pPr>
            <a:r>
              <a:rPr lang="en-US" sz="1600" b="1" dirty="0">
                <a:latin typeface="Arial Black" panose="020B0A04020102020204" pitchFamily="34" charset="0"/>
              </a:rPr>
              <a:t> </a:t>
            </a:r>
            <a:r>
              <a:rPr lang="en-US" sz="1600" b="1" dirty="0" smtClean="0">
                <a:latin typeface="Arial Black" panose="020B0A04020102020204" pitchFamily="34" charset="0"/>
              </a:rPr>
              <a:t>                                         photosynthesis</a:t>
            </a:r>
            <a:endParaRPr lang="en-US" sz="1600" b="1" dirty="0">
              <a:latin typeface="Arial Black" panose="020B0A04020102020204" pitchFamily="34" charset="0"/>
            </a:endParaRPr>
          </a:p>
          <a:p>
            <a:pPr eaLnBrk="1" fontAlgn="auto" hangingPunct="1">
              <a:lnSpc>
                <a:spcPct val="200000"/>
              </a:lnSpc>
              <a:spcBef>
                <a:spcPts val="0"/>
              </a:spcBef>
              <a:spcAft>
                <a:spcPts val="0"/>
              </a:spcAft>
              <a:defRPr/>
            </a:pPr>
            <a:r>
              <a:rPr lang="en-US" sz="2000" b="1" dirty="0">
                <a:latin typeface="Arial Black" panose="020B0A04020102020204" pitchFamily="34" charset="0"/>
              </a:rPr>
              <a:t>	</a:t>
            </a:r>
          </a:p>
          <a:p>
            <a:pPr eaLnBrk="1" fontAlgn="auto" hangingPunct="1">
              <a:lnSpc>
                <a:spcPct val="200000"/>
              </a:lnSpc>
              <a:spcBef>
                <a:spcPts val="0"/>
              </a:spcBef>
              <a:spcAft>
                <a:spcPts val="0"/>
              </a:spcAft>
              <a:defRPr/>
            </a:pPr>
            <a:r>
              <a:rPr lang="en-US" sz="2000" b="1" dirty="0">
                <a:latin typeface="Arial Black" panose="020B0A04020102020204" pitchFamily="34" charset="0"/>
              </a:rPr>
              <a:t>	</a:t>
            </a:r>
            <a:endParaRPr lang="en-US" b="1" dirty="0">
              <a:latin typeface="Arial Black" panose="020B0A04020102020204" pitchFamily="34" charset="0"/>
            </a:endParaRPr>
          </a:p>
        </p:txBody>
      </p:sp>
    </p:spTree>
    <p:extLst>
      <p:ext uri="{BB962C8B-B14F-4D97-AF65-F5344CB8AC3E}">
        <p14:creationId xmlns:p14="http://schemas.microsoft.com/office/powerpoint/2010/main" val="16670847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15618" y="1560137"/>
            <a:ext cx="11688418" cy="3724096"/>
          </a:xfrm>
          <a:prstGeom prst="rect">
            <a:avLst/>
          </a:prstGeom>
        </p:spPr>
        <p:txBody>
          <a:bodyPr wrap="square">
            <a:spAutoFit/>
          </a:bodyPr>
          <a:lstStyle/>
          <a:p>
            <a:pPr>
              <a:lnSpc>
                <a:spcPct val="200000"/>
              </a:lnSpc>
              <a:defRPr/>
            </a:pPr>
            <a:r>
              <a:rPr lang="en-US" b="1" dirty="0">
                <a:solidFill>
                  <a:srgbClr val="FF0000"/>
                </a:solidFill>
                <a:latin typeface="Arial Black" panose="020B0A04020102020204" pitchFamily="34" charset="0"/>
              </a:rPr>
              <a:t>3- </a:t>
            </a:r>
            <a:r>
              <a:rPr lang="en-US" b="1" i="1" dirty="0">
                <a:solidFill>
                  <a:srgbClr val="FF0000"/>
                </a:solidFill>
                <a:latin typeface="Arial Black" panose="020B0A04020102020204" pitchFamily="34" charset="0"/>
              </a:rPr>
              <a:t>Veins: </a:t>
            </a:r>
          </a:p>
          <a:p>
            <a:pPr>
              <a:lnSpc>
                <a:spcPct val="200000"/>
              </a:lnSpc>
              <a:defRPr/>
            </a:pPr>
            <a:r>
              <a:rPr lang="en-US" b="1" i="1" dirty="0">
                <a:solidFill>
                  <a:srgbClr val="FF0000"/>
                </a:solidFill>
                <a:latin typeface="Arial Black" panose="020B0A04020102020204" pitchFamily="34" charset="0"/>
              </a:rPr>
              <a:t>	</a:t>
            </a:r>
            <a:r>
              <a:rPr lang="en-US" b="1" dirty="0" smtClean="0">
                <a:latin typeface="Arial Black" panose="020B0A04020102020204" pitchFamily="34" charset="0"/>
              </a:rPr>
              <a:t>** </a:t>
            </a:r>
            <a:r>
              <a:rPr lang="en-US" sz="1600" b="1" dirty="0" smtClean="0">
                <a:latin typeface="Arial Black" panose="020B0A04020102020204" pitchFamily="34" charset="0"/>
              </a:rPr>
              <a:t>Made up of the vascular </a:t>
            </a:r>
            <a:r>
              <a:rPr lang="en-US" sz="1600" b="1" dirty="0">
                <a:latin typeface="Arial Black" panose="020B0A04020102020204" pitchFamily="34" charset="0"/>
              </a:rPr>
              <a:t>tissue (vascular bundle</a:t>
            </a:r>
            <a:r>
              <a:rPr lang="en-US" sz="1600" b="1" dirty="0" smtClean="0">
                <a:latin typeface="Arial Black" panose="020B0A04020102020204" pitchFamily="34" charset="0"/>
              </a:rPr>
              <a:t>) of the leaf, </a:t>
            </a:r>
            <a:r>
              <a:rPr lang="en-US" sz="1600" b="1" dirty="0">
                <a:latin typeface="Arial Black" panose="020B0A04020102020204" pitchFamily="34" charset="0"/>
              </a:rPr>
              <a:t>located in the spongy layer.</a:t>
            </a:r>
          </a:p>
          <a:p>
            <a:pPr>
              <a:defRPr/>
            </a:pPr>
            <a:r>
              <a:rPr lang="en-US" sz="1600" b="1" dirty="0">
                <a:solidFill>
                  <a:schemeClr val="accent3">
                    <a:lumMod val="75000"/>
                  </a:schemeClr>
                </a:solidFill>
                <a:latin typeface="Arial Black" panose="020B0A04020102020204" pitchFamily="34" charset="0"/>
              </a:rPr>
              <a:t>	</a:t>
            </a:r>
            <a:r>
              <a:rPr lang="en-US" sz="1600" b="1" dirty="0" smtClean="0">
                <a:latin typeface="Arial Black" panose="020B0A04020102020204" pitchFamily="34" charset="0"/>
              </a:rPr>
              <a:t>** Structure : </a:t>
            </a:r>
            <a:r>
              <a:rPr lang="en-US" sz="1600" b="1" dirty="0">
                <a:latin typeface="Arial Black" panose="020B0A04020102020204" pitchFamily="34" charset="0"/>
              </a:rPr>
              <a:t>Xylem, Phloem (in the core) &amp; a sheath of lignified cells surrounding the 			</a:t>
            </a:r>
            <a:endParaRPr lang="en-US" sz="1600" b="1" dirty="0" smtClean="0">
              <a:latin typeface="Arial Black" panose="020B0A04020102020204" pitchFamily="34" charset="0"/>
            </a:endParaRPr>
          </a:p>
          <a:p>
            <a:pPr>
              <a:defRPr/>
            </a:pPr>
            <a:r>
              <a:rPr lang="en-US" sz="1600" b="1" dirty="0">
                <a:latin typeface="Arial Black" panose="020B0A04020102020204" pitchFamily="34" charset="0"/>
              </a:rPr>
              <a:t> </a:t>
            </a:r>
            <a:r>
              <a:rPr lang="en-US" sz="1600" b="1" dirty="0" smtClean="0">
                <a:latin typeface="Arial Black" panose="020B0A04020102020204" pitchFamily="34" charset="0"/>
              </a:rPr>
              <a:t>                             vascular </a:t>
            </a:r>
            <a:r>
              <a:rPr lang="en-US" sz="1600" b="1" dirty="0">
                <a:latin typeface="Arial Black" panose="020B0A04020102020204" pitchFamily="34" charset="0"/>
              </a:rPr>
              <a:t>tissue.</a:t>
            </a:r>
          </a:p>
          <a:p>
            <a:pPr>
              <a:lnSpc>
                <a:spcPct val="200000"/>
              </a:lnSpc>
              <a:defRPr/>
            </a:pPr>
            <a:r>
              <a:rPr lang="en-US" sz="1600" b="1" dirty="0">
                <a:latin typeface="Arial Black" panose="020B0A04020102020204" pitchFamily="34" charset="0"/>
              </a:rPr>
              <a:t>		</a:t>
            </a:r>
            <a:r>
              <a:rPr lang="en-US" sz="1600" b="1" dirty="0" smtClean="0">
                <a:solidFill>
                  <a:srgbClr val="FF0000"/>
                </a:solidFill>
                <a:latin typeface="Arial Black" panose="020B0A04020102020204" pitchFamily="34" charset="0"/>
              </a:rPr>
              <a:t>- </a:t>
            </a:r>
            <a:r>
              <a:rPr lang="en-US" sz="1600" b="1" dirty="0">
                <a:solidFill>
                  <a:srgbClr val="FF0000"/>
                </a:solidFill>
                <a:latin typeface="Arial Black" panose="020B0A04020102020204" pitchFamily="34" charset="0"/>
              </a:rPr>
              <a:t>This sheath strengthen the rigidity of leaves</a:t>
            </a:r>
            <a:r>
              <a:rPr lang="en-US" sz="1600" b="1" dirty="0" smtClean="0">
                <a:solidFill>
                  <a:srgbClr val="FF0000"/>
                </a:solidFill>
                <a:latin typeface="Arial Black" panose="020B0A04020102020204" pitchFamily="34" charset="0"/>
              </a:rPr>
              <a:t>.</a:t>
            </a:r>
          </a:p>
          <a:p>
            <a:pPr>
              <a:lnSpc>
                <a:spcPct val="200000"/>
              </a:lnSpc>
              <a:defRPr/>
            </a:pPr>
            <a:endParaRPr lang="en-US" sz="1600" b="1" dirty="0">
              <a:solidFill>
                <a:srgbClr val="FF0000"/>
              </a:solidFill>
              <a:latin typeface="Arial Black" panose="020B0A04020102020204" pitchFamily="34" charset="0"/>
            </a:endParaRPr>
          </a:p>
          <a:p>
            <a:pPr>
              <a:defRPr/>
            </a:pPr>
            <a:r>
              <a:rPr lang="en-US" sz="1600" b="1" dirty="0">
                <a:latin typeface="Arial Black" panose="020B0A04020102020204" pitchFamily="34" charset="0"/>
              </a:rPr>
              <a:t> 	</a:t>
            </a:r>
            <a:r>
              <a:rPr lang="en-US" sz="1600" b="1" dirty="0" smtClean="0">
                <a:latin typeface="Arial Black" panose="020B0A04020102020204" pitchFamily="34" charset="0"/>
              </a:rPr>
              <a:t>** </a:t>
            </a:r>
            <a:r>
              <a:rPr lang="en-US" sz="1600" b="1" dirty="0">
                <a:latin typeface="Arial Black" panose="020B0A04020102020204" pitchFamily="34" charset="0"/>
              </a:rPr>
              <a:t>The pattern of the veins is called venation </a:t>
            </a:r>
            <a:endParaRPr lang="en-US" sz="1600" b="1" dirty="0" smtClean="0">
              <a:latin typeface="Arial Black" panose="020B0A04020102020204" pitchFamily="34" charset="0"/>
            </a:endParaRPr>
          </a:p>
          <a:p>
            <a:pPr>
              <a:defRPr/>
            </a:pPr>
            <a:r>
              <a:rPr lang="en-US" sz="1600" b="1" dirty="0">
                <a:latin typeface="Arial Black" panose="020B0A04020102020204" pitchFamily="34" charset="0"/>
              </a:rPr>
              <a:t> </a:t>
            </a:r>
            <a:r>
              <a:rPr lang="en-US" sz="1600" b="1" dirty="0" smtClean="0">
                <a:latin typeface="Arial Black" panose="020B0A04020102020204" pitchFamily="34" charset="0"/>
              </a:rPr>
              <a:t>         (</a:t>
            </a:r>
            <a:r>
              <a:rPr lang="en-US" sz="1600" b="1" dirty="0">
                <a:latin typeface="Arial Black" panose="020B0A04020102020204" pitchFamily="34" charset="0"/>
              </a:rPr>
              <a:t>parallel in monocots, reticulated in dicot)</a:t>
            </a:r>
          </a:p>
          <a:p>
            <a:pPr>
              <a:lnSpc>
                <a:spcPct val="200000"/>
              </a:lnSpc>
              <a:defRPr/>
            </a:pPr>
            <a:endParaRPr lang="en-US" b="1" dirty="0">
              <a:latin typeface="Arial Black" panose="020B0A04020102020204" pitchFamily="34" charset="0"/>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939" y="3010894"/>
            <a:ext cx="4620180" cy="3085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601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349" y="543340"/>
            <a:ext cx="11118574" cy="5746810"/>
          </a:xfrm>
          <a:prstGeom prst="rect">
            <a:avLst/>
          </a:prstGeom>
        </p:spPr>
      </p:pic>
    </p:spTree>
    <p:extLst>
      <p:ext uri="{BB962C8B-B14F-4D97-AF65-F5344CB8AC3E}">
        <p14:creationId xmlns:p14="http://schemas.microsoft.com/office/powerpoint/2010/main" val="29556435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2938" y="344558"/>
            <a:ext cx="10002741" cy="649356"/>
          </a:xfrm>
        </p:spPr>
        <p:txBody>
          <a:bodyPr>
            <a:normAutofit/>
          </a:bodyPr>
          <a:lstStyle/>
          <a:p>
            <a:pPr algn="ctr"/>
            <a:r>
              <a:rPr lang="en-US" sz="1800" dirty="0" smtClean="0">
                <a:latin typeface="Arial Black" panose="020B0A04020102020204" pitchFamily="34" charset="0"/>
              </a:rPr>
              <a:t>The </a:t>
            </a:r>
            <a:r>
              <a:rPr lang="en-US" sz="1800" dirty="0">
                <a:latin typeface="Arial Black" panose="020B0A04020102020204" pitchFamily="34" charset="0"/>
              </a:rPr>
              <a:t>main differences between Dicot and Monocot leaves</a:t>
            </a:r>
            <a:endParaRPr lang="ar-JO" sz="1800" dirty="0">
              <a:latin typeface="Arial Black" panose="020B0A040201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689510980"/>
              </p:ext>
            </p:extLst>
          </p:nvPr>
        </p:nvGraphicFramePr>
        <p:xfrm>
          <a:off x="238540" y="1126435"/>
          <a:ext cx="11423374" cy="5155094"/>
        </p:xfrm>
        <a:graphic>
          <a:graphicData uri="http://schemas.openxmlformats.org/drawingml/2006/table">
            <a:tbl>
              <a:tblPr firstRow="1" firstCol="1" bandRow="1">
                <a:tableStyleId>{5C22544A-7EE6-4342-B048-85BDC9FD1C3A}</a:tableStyleId>
              </a:tblPr>
              <a:tblGrid>
                <a:gridCol w="5708633">
                  <a:extLst>
                    <a:ext uri="{9D8B030D-6E8A-4147-A177-3AD203B41FA5}">
                      <a16:colId xmlns:a16="http://schemas.microsoft.com/office/drawing/2014/main" val="3575342872"/>
                    </a:ext>
                  </a:extLst>
                </a:gridCol>
                <a:gridCol w="5714741">
                  <a:extLst>
                    <a:ext uri="{9D8B030D-6E8A-4147-A177-3AD203B41FA5}">
                      <a16:colId xmlns:a16="http://schemas.microsoft.com/office/drawing/2014/main" val="828205099"/>
                    </a:ext>
                  </a:extLst>
                </a:gridCol>
              </a:tblGrid>
              <a:tr h="387754">
                <a:tc>
                  <a:txBody>
                    <a:bodyPr/>
                    <a:lstStyle/>
                    <a:p>
                      <a:pPr algn="ctr" rtl="1">
                        <a:lnSpc>
                          <a:spcPct val="105000"/>
                        </a:lnSpc>
                        <a:spcAft>
                          <a:spcPts val="800"/>
                        </a:spcAft>
                      </a:pPr>
                      <a:r>
                        <a:rPr lang="en-US" sz="1600" dirty="0">
                          <a:effectLst/>
                          <a:latin typeface="Arial Black" panose="020B0A04020102020204" pitchFamily="34" charset="0"/>
                        </a:rPr>
                        <a:t>Monocot leaf</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algn="ctr" rtl="1">
                        <a:lnSpc>
                          <a:spcPct val="105000"/>
                        </a:lnSpc>
                        <a:spcAft>
                          <a:spcPts val="800"/>
                        </a:spcAft>
                      </a:pPr>
                      <a:r>
                        <a:rPr lang="en-US" sz="1600">
                          <a:effectLst/>
                          <a:latin typeface="Arial Black" panose="020B0A04020102020204" pitchFamily="34" charset="0"/>
                        </a:rPr>
                        <a:t>Dicot leaf</a:t>
                      </a:r>
                      <a:endParaRPr lang="en-US" sz="16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809601093"/>
                  </a:ext>
                </a:extLst>
              </a:tr>
              <a:tr h="387754">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Symmetry: Isobilateral</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0"/>
                        </a:spcAft>
                        <a:buFont typeface="Symbol" panose="05050102010706020507" pitchFamily="18" charset="2"/>
                        <a:buChar char=""/>
                      </a:pPr>
                      <a:r>
                        <a:rPr lang="en-US" sz="1600">
                          <a:effectLst/>
                          <a:latin typeface="Arial Black" panose="020B0A04020102020204" pitchFamily="34" charset="0"/>
                        </a:rPr>
                        <a:t>Symmetry: Dorsoventral</a:t>
                      </a:r>
                      <a:endParaRPr lang="en-US" sz="16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466323557"/>
                  </a:ext>
                </a:extLst>
              </a:tr>
              <a:tr h="1195917">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Stomata distribution: </a:t>
                      </a:r>
                      <a:r>
                        <a:rPr lang="en-US" sz="1600" dirty="0" err="1">
                          <a:effectLst/>
                          <a:latin typeface="Arial Black" panose="020B0A04020102020204" pitchFamily="34" charset="0"/>
                        </a:rPr>
                        <a:t>Amphistomatic</a:t>
                      </a:r>
                      <a:r>
                        <a:rPr lang="en-US" sz="1600" dirty="0">
                          <a:effectLst/>
                          <a:latin typeface="Arial Black" panose="020B0A04020102020204" pitchFamily="34" charset="0"/>
                        </a:rPr>
                        <a:t> (stomata equally distributed on both the surfaces).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0"/>
                        </a:spcAft>
                        <a:buFont typeface="Symbol" panose="05050102010706020507" pitchFamily="18" charset="2"/>
                        <a:buChar char=""/>
                      </a:pPr>
                      <a:r>
                        <a:rPr lang="en-US" sz="1600">
                          <a:effectLst/>
                          <a:latin typeface="Arial Black" panose="020B0A04020102020204" pitchFamily="34" charset="0"/>
                        </a:rPr>
                        <a:t>Stomata distribution: Hypostomatic (stomata found mainly in the lower surface).</a:t>
                      </a:r>
                      <a:endParaRPr lang="en-US" sz="160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874294784"/>
                  </a:ext>
                </a:extLst>
              </a:tr>
              <a:tr h="791835">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Mesophyll: Only spongy parenchyma is present with small intercellular spaces.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Mesophyll made up of Palisade and spongy Parenchyma with large intercellular spaces.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4117259420"/>
                  </a:ext>
                </a:extLst>
              </a:tr>
              <a:tr h="2004080">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Bundle sheath: Made of parenchyma but just</a:t>
                      </a:r>
                    </a:p>
                    <a:p>
                      <a:pPr marL="13970" algn="l" rtl="0">
                        <a:lnSpc>
                          <a:spcPct val="105000"/>
                        </a:lnSpc>
                        <a:spcAft>
                          <a:spcPts val="800"/>
                        </a:spcAft>
                      </a:pPr>
                      <a:r>
                        <a:rPr lang="en-US" sz="1600" dirty="0">
                          <a:effectLst/>
                          <a:latin typeface="Arial Black" panose="020B0A04020102020204" pitchFamily="34" charset="0"/>
                        </a:rPr>
                        <a:t>above and below the vascular bundles are found </a:t>
                      </a:r>
                      <a:r>
                        <a:rPr lang="en-US" sz="1600" dirty="0" err="1">
                          <a:effectLst/>
                          <a:latin typeface="Arial Black" panose="020B0A04020102020204" pitchFamily="34" charset="0"/>
                        </a:rPr>
                        <a:t>sclerenchymatous</a:t>
                      </a:r>
                      <a:r>
                        <a:rPr lang="en-US" sz="1600" dirty="0">
                          <a:effectLst/>
                          <a:latin typeface="Arial Black" panose="020B0A04020102020204" pitchFamily="34" charset="0"/>
                        </a:rPr>
                        <a:t> cells( up to epidermis)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Bundle sheath: Made of parenchyma.  Just above and below the vascular bundles some found </a:t>
                      </a:r>
                      <a:r>
                        <a:rPr lang="en-US" sz="1600" dirty="0" err="1">
                          <a:effectLst/>
                          <a:latin typeface="Arial Black" panose="020B0A04020102020204" pitchFamily="34" charset="0"/>
                        </a:rPr>
                        <a:t>Parenchymatous</a:t>
                      </a:r>
                      <a:r>
                        <a:rPr lang="en-US" sz="1600" dirty="0">
                          <a:effectLst/>
                          <a:latin typeface="Arial Black" panose="020B0A04020102020204" pitchFamily="34" charset="0"/>
                        </a:rPr>
                        <a:t> and </a:t>
                      </a:r>
                      <a:r>
                        <a:rPr lang="en-US" sz="1600" dirty="0" err="1">
                          <a:effectLst/>
                          <a:latin typeface="Arial Black" panose="020B0A04020102020204" pitchFamily="34" charset="0"/>
                        </a:rPr>
                        <a:t>Cllenchymatous</a:t>
                      </a:r>
                      <a:r>
                        <a:rPr lang="en-US" sz="1600" dirty="0">
                          <a:effectLst/>
                          <a:latin typeface="Arial Black" panose="020B0A04020102020204" pitchFamily="34" charset="0"/>
                        </a:rPr>
                        <a:t> cells are present up to epidermis.</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2242199181"/>
                  </a:ext>
                </a:extLst>
              </a:tr>
              <a:tr h="387754">
                <a:tc>
                  <a:txBody>
                    <a:bodyPr/>
                    <a:lstStyle/>
                    <a:p>
                      <a:pPr marL="342900" lvl="0" indent="-342900" algn="l" rtl="0">
                        <a:lnSpc>
                          <a:spcPct val="105000"/>
                        </a:lnSpc>
                        <a:spcAft>
                          <a:spcPts val="0"/>
                        </a:spcAft>
                        <a:buFont typeface="Symbol" panose="05050102010706020507" pitchFamily="18" charset="2"/>
                        <a:buChar char=""/>
                      </a:pPr>
                      <a:r>
                        <a:rPr lang="en-US" sz="1600">
                          <a:effectLst/>
                          <a:latin typeface="Arial Black" panose="020B0A04020102020204" pitchFamily="34" charset="0"/>
                        </a:rPr>
                        <a:t>Veins are parallel arranged</a:t>
                      </a:r>
                      <a:endParaRPr lang="en-US" sz="1600">
                        <a:effectLst/>
                        <a:latin typeface="Arial Black" panose="020B0A04020102020204" pitchFamily="34" charset="0"/>
                        <a:ea typeface="PMingLiU"/>
                        <a:cs typeface="Arial" panose="020B0604020202020204" pitchFamily="34" charset="0"/>
                      </a:endParaRPr>
                    </a:p>
                  </a:txBody>
                  <a:tcPr marL="68580" marR="68580" marT="0" marB="0"/>
                </a:tc>
                <a:tc>
                  <a:txBody>
                    <a:bodyPr/>
                    <a:lstStyle/>
                    <a:p>
                      <a:pPr marL="342900" lvl="0" indent="-342900" algn="l" rtl="0">
                        <a:lnSpc>
                          <a:spcPct val="105000"/>
                        </a:lnSpc>
                        <a:spcAft>
                          <a:spcPts val="0"/>
                        </a:spcAft>
                        <a:buFont typeface="Symbol" panose="05050102010706020507" pitchFamily="18" charset="2"/>
                        <a:buChar char=""/>
                      </a:pPr>
                      <a:r>
                        <a:rPr lang="en-US" sz="1600" dirty="0">
                          <a:effectLst/>
                          <a:latin typeface="Arial Black" panose="020B0A04020102020204" pitchFamily="34" charset="0"/>
                        </a:rPr>
                        <a:t>Veins are irregularly ( Net ) scattered </a:t>
                      </a:r>
                      <a:endParaRPr lang="en-US" sz="1600" dirty="0">
                        <a:effectLst/>
                        <a:latin typeface="Arial Black" panose="020B0A04020102020204" pitchFamily="34" charset="0"/>
                        <a:ea typeface="PMingLiU"/>
                        <a:cs typeface="Arial" panose="020B0604020202020204" pitchFamily="34" charset="0"/>
                      </a:endParaRPr>
                    </a:p>
                  </a:txBody>
                  <a:tcPr marL="68580" marR="68580" marT="0" marB="0"/>
                </a:tc>
                <a:extLst>
                  <a:ext uri="{0D108BD9-81ED-4DB2-BD59-A6C34878D82A}">
                    <a16:rowId xmlns:a16="http://schemas.microsoft.com/office/drawing/2014/main" val="3025721203"/>
                  </a:ext>
                </a:extLst>
              </a:tr>
            </a:tbl>
          </a:graphicData>
        </a:graphic>
      </p:graphicFrame>
    </p:spTree>
    <p:extLst>
      <p:ext uri="{BB962C8B-B14F-4D97-AF65-F5344CB8AC3E}">
        <p14:creationId xmlns:p14="http://schemas.microsoft.com/office/powerpoint/2010/main" val="1334547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a:xfrm>
            <a:off x="1079500" y="644413"/>
            <a:ext cx="10058400" cy="972354"/>
          </a:xfrm>
        </p:spPr>
        <p:txBody>
          <a:bodyPr>
            <a:normAutofit/>
          </a:bodyPr>
          <a:lstStyle/>
          <a:p>
            <a:pPr algn="ctr"/>
            <a:r>
              <a:rPr lang="en-US" altLang="ar-JO" sz="2400" b="1" dirty="0" smtClean="0">
                <a:latin typeface="Arial Black" panose="020B0A04020102020204" pitchFamily="34" charset="0"/>
              </a:rPr>
              <a:t>Reproductive organs</a:t>
            </a:r>
          </a:p>
        </p:txBody>
      </p:sp>
      <p:sp>
        <p:nvSpPr>
          <p:cNvPr id="14339" name="TextBox 2"/>
          <p:cNvSpPr txBox="1">
            <a:spLocks noChangeArrowheads="1"/>
          </p:cNvSpPr>
          <p:nvPr/>
        </p:nvSpPr>
        <p:spPr bwMode="auto">
          <a:xfrm>
            <a:off x="595588" y="2347223"/>
            <a:ext cx="1123860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285750" indent="-285750" eaLnBrk="1" hangingPunct="1">
              <a:buFont typeface="Wingdings" panose="05000000000000000000" pitchFamily="2" charset="2"/>
              <a:buChar char="v"/>
            </a:pPr>
            <a:r>
              <a:rPr lang="en-US" altLang="ar-JO" b="1" dirty="0" smtClean="0">
                <a:latin typeface="Arial Black" panose="020B0A04020102020204" pitchFamily="34" charset="0"/>
              </a:rPr>
              <a:t>Plant </a:t>
            </a:r>
            <a:r>
              <a:rPr lang="en-US" altLang="ar-JO" b="1" dirty="0">
                <a:latin typeface="Arial Black" panose="020B0A04020102020204" pitchFamily="34" charset="0"/>
              </a:rPr>
              <a:t>reproductive organs are: 1) </a:t>
            </a:r>
            <a:r>
              <a:rPr lang="en-US" altLang="ar-JO" b="1" dirty="0">
                <a:solidFill>
                  <a:srgbClr val="FF0000"/>
                </a:solidFill>
                <a:latin typeface="Arial Black" panose="020B0A04020102020204" pitchFamily="34" charset="0"/>
              </a:rPr>
              <a:t>Flowers</a:t>
            </a:r>
            <a:r>
              <a:rPr lang="en-US" altLang="ar-JO" b="1" dirty="0">
                <a:latin typeface="Arial Black" panose="020B0A04020102020204" pitchFamily="34" charset="0"/>
              </a:rPr>
              <a:t>,     2) </a:t>
            </a:r>
            <a:r>
              <a:rPr lang="en-US" altLang="ar-JO" b="1" dirty="0">
                <a:solidFill>
                  <a:srgbClr val="FF0000"/>
                </a:solidFill>
                <a:latin typeface="Arial Black" panose="020B0A04020102020204" pitchFamily="34" charset="0"/>
              </a:rPr>
              <a:t>Fruits </a:t>
            </a:r>
            <a:r>
              <a:rPr lang="en-US" altLang="ar-JO" b="1" dirty="0">
                <a:latin typeface="Arial Black" panose="020B0A04020102020204" pitchFamily="34" charset="0"/>
              </a:rPr>
              <a:t>       3) </a:t>
            </a:r>
            <a:r>
              <a:rPr lang="en-US" altLang="ar-JO" b="1" dirty="0" smtClean="0">
                <a:solidFill>
                  <a:srgbClr val="FF0000"/>
                </a:solidFill>
                <a:latin typeface="Arial Black" panose="020B0A04020102020204" pitchFamily="34" charset="0"/>
              </a:rPr>
              <a:t>Seeds</a:t>
            </a:r>
          </a:p>
          <a:p>
            <a:pPr eaLnBrk="1" hangingPunct="1"/>
            <a:endParaRPr lang="en-US" altLang="ar-JO" b="1" dirty="0">
              <a:solidFill>
                <a:srgbClr val="FF0000"/>
              </a:solidFill>
              <a:latin typeface="Arial Black" panose="020B0A04020102020204" pitchFamily="34" charset="0"/>
            </a:endParaRPr>
          </a:p>
          <a:p>
            <a:pPr marL="285750" indent="-285750" eaLnBrk="1" hangingPunct="1">
              <a:buFont typeface="Wingdings" panose="05000000000000000000" pitchFamily="2" charset="2"/>
              <a:buChar char="v"/>
            </a:pPr>
            <a:r>
              <a:rPr lang="en-US" altLang="ar-JO" b="1" dirty="0">
                <a:latin typeface="Arial Black" panose="020B0A04020102020204" pitchFamily="34" charset="0"/>
              </a:rPr>
              <a:t> </a:t>
            </a:r>
            <a:r>
              <a:rPr lang="en-US" altLang="ar-JO" b="1" dirty="0" smtClean="0">
                <a:latin typeface="Arial Black" panose="020B0A04020102020204" pitchFamily="34" charset="0"/>
              </a:rPr>
              <a:t>Plant </a:t>
            </a:r>
            <a:r>
              <a:rPr lang="en-US" altLang="ar-JO" b="1" dirty="0">
                <a:latin typeface="Arial Black" panose="020B0A04020102020204" pitchFamily="34" charset="0"/>
              </a:rPr>
              <a:t>reproductive organs are responsible for the continuation of a given species, </a:t>
            </a:r>
            <a:r>
              <a:rPr lang="en-US" altLang="ar-JO" b="1" dirty="0" smtClean="0">
                <a:latin typeface="Arial Black" panose="020B0A04020102020204" pitchFamily="34" charset="0"/>
              </a:rPr>
              <a:t>by </a:t>
            </a:r>
          </a:p>
          <a:p>
            <a:pPr eaLnBrk="1" hangingPunct="1"/>
            <a:r>
              <a:rPr lang="en-US" altLang="ar-JO" b="1" dirty="0">
                <a:latin typeface="Arial Black" panose="020B0A04020102020204" pitchFamily="34" charset="0"/>
              </a:rPr>
              <a:t> </a:t>
            </a:r>
            <a:r>
              <a:rPr lang="en-US" altLang="ar-JO" b="1" dirty="0" smtClean="0">
                <a:latin typeface="Arial Black" panose="020B0A04020102020204" pitchFamily="34" charset="0"/>
              </a:rPr>
              <a:t>    propagation.</a:t>
            </a:r>
          </a:p>
          <a:p>
            <a:pPr eaLnBrk="1" hangingPunct="1"/>
            <a:endParaRPr lang="en-US" altLang="ar-JO" b="1" dirty="0">
              <a:latin typeface="Arial Black" panose="020B0A04020102020204" pitchFamily="34" charset="0"/>
            </a:endParaRPr>
          </a:p>
          <a:p>
            <a:pPr marL="285750" indent="-285750" eaLnBrk="1" hangingPunct="1">
              <a:buFont typeface="Wingdings" panose="05000000000000000000" pitchFamily="2" charset="2"/>
              <a:buChar char="v"/>
            </a:pPr>
            <a:r>
              <a:rPr lang="en-US" altLang="ar-JO" b="1" dirty="0" smtClean="0">
                <a:latin typeface="Arial Black" panose="020B0A04020102020204" pitchFamily="34" charset="0"/>
              </a:rPr>
              <a:t>The </a:t>
            </a:r>
            <a:r>
              <a:rPr lang="en-US" altLang="ar-JO" b="1" dirty="0">
                <a:latin typeface="Arial Black" panose="020B0A04020102020204" pitchFamily="34" charset="0"/>
              </a:rPr>
              <a:t>Flower is the reproductive unit in Angiosperms</a:t>
            </a:r>
            <a:r>
              <a:rPr lang="en-US" altLang="ar-JO" b="1" dirty="0" smtClean="0">
                <a:latin typeface="Arial Black" panose="020B0A04020102020204" pitchFamily="34" charset="0"/>
              </a:rPr>
              <a:t>.</a:t>
            </a:r>
          </a:p>
          <a:p>
            <a:pPr marL="285750" indent="-285750" eaLnBrk="1" hangingPunct="1">
              <a:buFont typeface="Arial" panose="020B0604020202020204" pitchFamily="34" charset="0"/>
              <a:buChar char="•"/>
            </a:pPr>
            <a:endParaRPr lang="en-US" altLang="ar-JO" b="1" dirty="0">
              <a:latin typeface="Arial Black" panose="020B0A04020102020204" pitchFamily="34" charset="0"/>
            </a:endParaRPr>
          </a:p>
          <a:p>
            <a:pPr marL="285750" indent="-285750" eaLnBrk="1" hangingPunct="1">
              <a:buFont typeface="Wingdings" panose="05000000000000000000" pitchFamily="2" charset="2"/>
              <a:buChar char="v"/>
            </a:pPr>
            <a:r>
              <a:rPr lang="en-US" altLang="ar-JO" b="1" dirty="0" smtClean="0">
                <a:latin typeface="Arial Black" panose="020B0A04020102020204" pitchFamily="34" charset="0"/>
              </a:rPr>
              <a:t>The </a:t>
            </a:r>
            <a:r>
              <a:rPr lang="en-US" altLang="ar-JO" b="1" dirty="0">
                <a:latin typeface="Arial Black" panose="020B0A04020102020204" pitchFamily="34" charset="0"/>
              </a:rPr>
              <a:t>flowers of different plants are varied according to shape, size color &amp; number </a:t>
            </a:r>
            <a:r>
              <a:rPr lang="en-US" altLang="ar-JO" b="1" dirty="0" smtClean="0">
                <a:latin typeface="Arial Black" panose="020B0A04020102020204" pitchFamily="34" charset="0"/>
              </a:rPr>
              <a:t>&amp; </a:t>
            </a:r>
          </a:p>
          <a:p>
            <a:pPr eaLnBrk="1" hangingPunct="1"/>
            <a:r>
              <a:rPr lang="en-US" altLang="ar-JO" b="1" dirty="0" smtClean="0">
                <a:latin typeface="Arial Black" panose="020B0A04020102020204" pitchFamily="34" charset="0"/>
              </a:rPr>
              <a:t>     arrangement </a:t>
            </a:r>
            <a:r>
              <a:rPr lang="en-US" altLang="ar-JO" b="1" dirty="0">
                <a:latin typeface="Arial Black" panose="020B0A04020102020204" pitchFamily="34" charset="0"/>
              </a:rPr>
              <a:t>of flower parts.</a:t>
            </a:r>
          </a:p>
        </p:txBody>
      </p:sp>
    </p:spTree>
    <p:extLst>
      <p:ext uri="{BB962C8B-B14F-4D97-AF65-F5344CB8AC3E}">
        <p14:creationId xmlns:p14="http://schemas.microsoft.com/office/powerpoint/2010/main" val="6798594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a:xfrm>
            <a:off x="851452" y="307182"/>
            <a:ext cx="10515600" cy="1325562"/>
          </a:xfrm>
        </p:spPr>
        <p:txBody>
          <a:bodyPr/>
          <a:lstStyle/>
          <a:p>
            <a:r>
              <a:rPr lang="en-US" altLang="ar-JO" dirty="0" smtClean="0">
                <a:latin typeface="Arial Black" panose="020B0A04020102020204" pitchFamily="34" charset="0"/>
              </a:rPr>
              <a:t>Floral parts</a:t>
            </a:r>
          </a:p>
        </p:txBody>
      </p:sp>
      <p:sp>
        <p:nvSpPr>
          <p:cNvPr id="15364" name="TextBox 3"/>
          <p:cNvSpPr txBox="1">
            <a:spLocks noChangeArrowheads="1"/>
          </p:cNvSpPr>
          <p:nvPr/>
        </p:nvSpPr>
        <p:spPr bwMode="auto">
          <a:xfrm>
            <a:off x="331303" y="969963"/>
            <a:ext cx="5857461"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200000"/>
              </a:lnSpc>
            </a:pPr>
            <a:endParaRPr lang="en-US" altLang="ar-JO" b="1" dirty="0" smtClean="0">
              <a:latin typeface="Arial Black" panose="020B0A04020102020204" pitchFamily="34" charset="0"/>
            </a:endParaRPr>
          </a:p>
          <a:p>
            <a:pPr eaLnBrk="1" hangingPunct="1">
              <a:lnSpc>
                <a:spcPct val="200000"/>
              </a:lnSpc>
            </a:pPr>
            <a:r>
              <a:rPr lang="en-US" altLang="ar-JO" b="1" dirty="0" smtClean="0">
                <a:latin typeface="Arial Black" panose="020B0A04020102020204" pitchFamily="34" charset="0"/>
              </a:rPr>
              <a:t>1</a:t>
            </a:r>
            <a:r>
              <a:rPr lang="en-US" altLang="ar-JO" b="1" dirty="0">
                <a:latin typeface="Arial Black" panose="020B0A04020102020204" pitchFamily="34" charset="0"/>
              </a:rPr>
              <a:t>) Vegetative, or accessory, part (</a:t>
            </a:r>
            <a:r>
              <a:rPr lang="en-US" altLang="ar-JO" b="1" dirty="0" err="1">
                <a:latin typeface="Arial Black" panose="020B0A04020102020204" pitchFamily="34" charset="0"/>
              </a:rPr>
              <a:t>Perianth</a:t>
            </a:r>
            <a:r>
              <a:rPr lang="en-US" altLang="ar-JO" b="1" dirty="0">
                <a:latin typeface="Arial Black" panose="020B0A04020102020204" pitchFamily="34" charset="0"/>
              </a:rPr>
              <a:t>)</a:t>
            </a:r>
            <a:endParaRPr lang="en-US" altLang="ar-JO" sz="1400" b="1" i="1" dirty="0">
              <a:latin typeface="Arial Black" panose="020B0A04020102020204" pitchFamily="34" charset="0"/>
            </a:endParaRPr>
          </a:p>
          <a:p>
            <a:pPr eaLnBrk="1" hangingPunct="1">
              <a:lnSpc>
                <a:spcPct val="200000"/>
              </a:lnSpc>
            </a:pPr>
            <a:r>
              <a:rPr lang="en-US" altLang="ar-JO" sz="1400" b="1" dirty="0">
                <a:latin typeface="Arial Black" panose="020B0A04020102020204" pitchFamily="34" charset="0"/>
              </a:rPr>
              <a:t>- </a:t>
            </a:r>
            <a:r>
              <a:rPr lang="en-US" altLang="ar-JO" sz="1400" b="1" dirty="0">
                <a:solidFill>
                  <a:srgbClr val="FF0000"/>
                </a:solidFill>
                <a:latin typeface="Arial Black" panose="020B0A04020102020204" pitchFamily="34" charset="0"/>
              </a:rPr>
              <a:t>Calyx</a:t>
            </a:r>
            <a:r>
              <a:rPr lang="en-US" altLang="ar-JO" sz="1400" b="1" dirty="0">
                <a:latin typeface="Arial Black" panose="020B0A04020102020204" pitchFamily="34" charset="0"/>
              </a:rPr>
              <a:t>: on the outermost whorl, consist of </a:t>
            </a:r>
            <a:r>
              <a:rPr lang="en-US" altLang="ar-JO" sz="1400" b="1" dirty="0">
                <a:solidFill>
                  <a:srgbClr val="FF0000"/>
                </a:solidFill>
                <a:latin typeface="Arial Black" panose="020B0A04020102020204" pitchFamily="34" charset="0"/>
              </a:rPr>
              <a:t>sepals</a:t>
            </a:r>
            <a:r>
              <a:rPr lang="en-US" altLang="ar-JO" sz="1400" b="1" dirty="0">
                <a:latin typeface="Arial Black" panose="020B0A04020102020204" pitchFamily="34" charset="0"/>
              </a:rPr>
              <a:t>. They may be absent or prominent &amp; petal-like</a:t>
            </a:r>
          </a:p>
          <a:p>
            <a:pPr eaLnBrk="1" hangingPunct="1">
              <a:lnSpc>
                <a:spcPct val="200000"/>
              </a:lnSpc>
            </a:pPr>
            <a:r>
              <a:rPr lang="en-US" altLang="ar-JO" sz="1400" b="1" dirty="0">
                <a:latin typeface="Arial Black" panose="020B0A04020102020204" pitchFamily="34" charset="0"/>
              </a:rPr>
              <a:t>- </a:t>
            </a:r>
            <a:r>
              <a:rPr lang="en-US" altLang="ar-JO" sz="1400" b="1" dirty="0">
                <a:solidFill>
                  <a:srgbClr val="FF0000"/>
                </a:solidFill>
                <a:latin typeface="Arial Black" panose="020B0A04020102020204" pitchFamily="34" charset="0"/>
              </a:rPr>
              <a:t>Corolla</a:t>
            </a:r>
            <a:r>
              <a:rPr lang="en-US" altLang="ar-JO" sz="1400" b="1" dirty="0">
                <a:latin typeface="Arial Black" panose="020B0A04020102020204" pitchFamily="34" charset="0"/>
              </a:rPr>
              <a:t>: the next whorl toward the apex, consist of </a:t>
            </a:r>
            <a:r>
              <a:rPr lang="en-US" altLang="ar-JO" sz="1400" b="1" dirty="0">
                <a:solidFill>
                  <a:srgbClr val="FF0000"/>
                </a:solidFill>
                <a:latin typeface="Arial Black" panose="020B0A04020102020204" pitchFamily="34" charset="0"/>
              </a:rPr>
              <a:t>petals</a:t>
            </a:r>
            <a:r>
              <a:rPr lang="en-US" altLang="ar-JO" sz="1400" b="1" dirty="0">
                <a:latin typeface="Arial Black" panose="020B0A04020102020204" pitchFamily="34" charset="0"/>
              </a:rPr>
              <a:t>, that are colored to attract animals (insects) that help in </a:t>
            </a:r>
            <a:r>
              <a:rPr lang="en-US" altLang="ar-JO" sz="1400" b="1" dirty="0">
                <a:solidFill>
                  <a:srgbClr val="FF0000"/>
                </a:solidFill>
                <a:latin typeface="Arial Black" panose="020B0A04020102020204" pitchFamily="34" charset="0"/>
              </a:rPr>
              <a:t>pollination</a:t>
            </a:r>
            <a:r>
              <a:rPr lang="en-US" altLang="ar-JO" sz="1400" b="1" dirty="0">
                <a:latin typeface="Arial Black" panose="020B0A04020102020204" pitchFamily="34" charset="0"/>
              </a:rPr>
              <a:t> process.</a:t>
            </a:r>
          </a:p>
          <a:p>
            <a:pPr eaLnBrk="1" hangingPunct="1">
              <a:lnSpc>
                <a:spcPct val="200000"/>
              </a:lnSpc>
            </a:pPr>
            <a:r>
              <a:rPr lang="en-US" altLang="ar-JO" b="1" dirty="0">
                <a:latin typeface="Arial Black" panose="020B0A04020102020204" pitchFamily="34" charset="0"/>
              </a:rPr>
              <a:t>2) Reproductive parts</a:t>
            </a:r>
            <a:endParaRPr lang="en-US" altLang="ar-JO" sz="1400" b="1" dirty="0">
              <a:latin typeface="Arial Black" panose="020B0A04020102020204" pitchFamily="34" charset="0"/>
            </a:endParaRPr>
          </a:p>
          <a:p>
            <a:pPr eaLnBrk="1" hangingPunct="1">
              <a:lnSpc>
                <a:spcPct val="200000"/>
              </a:lnSpc>
            </a:pPr>
            <a:r>
              <a:rPr lang="en-US" altLang="ar-JO" sz="1400" b="1" dirty="0">
                <a:latin typeface="Arial Black" panose="020B0A04020102020204" pitchFamily="34" charset="0"/>
              </a:rPr>
              <a:t>- </a:t>
            </a:r>
            <a:r>
              <a:rPr lang="en-US" altLang="ar-JO" sz="1400" b="1" dirty="0">
                <a:solidFill>
                  <a:srgbClr val="FF0000"/>
                </a:solidFill>
                <a:latin typeface="Arial Black" panose="020B0A04020102020204" pitchFamily="34" charset="0"/>
              </a:rPr>
              <a:t>Stamens</a:t>
            </a:r>
            <a:r>
              <a:rPr lang="en-US" altLang="ar-JO" sz="1400" b="1" dirty="0">
                <a:latin typeface="Arial Black" panose="020B0A04020102020204" pitchFamily="34" charset="0"/>
              </a:rPr>
              <a:t> (male part): each one consist of </a:t>
            </a:r>
            <a:r>
              <a:rPr lang="en-US" altLang="ar-JO" sz="1400" b="1" dirty="0">
                <a:solidFill>
                  <a:srgbClr val="FF0000"/>
                </a:solidFill>
                <a:latin typeface="Arial Black" panose="020B0A04020102020204" pitchFamily="34" charset="0"/>
              </a:rPr>
              <a:t>filament</a:t>
            </a:r>
            <a:r>
              <a:rPr lang="en-US" altLang="ar-JO" sz="1400" b="1" dirty="0">
                <a:latin typeface="Arial Black" panose="020B0A04020102020204" pitchFamily="34" charset="0"/>
              </a:rPr>
              <a:t> and </a:t>
            </a:r>
            <a:r>
              <a:rPr lang="en-US" altLang="ar-JO" sz="1400" b="1" dirty="0">
                <a:solidFill>
                  <a:srgbClr val="FF0000"/>
                </a:solidFill>
                <a:latin typeface="Arial Black" panose="020B0A04020102020204" pitchFamily="34" charset="0"/>
              </a:rPr>
              <a:t>anther</a:t>
            </a:r>
            <a:r>
              <a:rPr lang="en-US" altLang="ar-JO" sz="1400" b="1" dirty="0">
                <a:latin typeface="Arial Black" panose="020B0A04020102020204" pitchFamily="34" charset="0"/>
              </a:rPr>
              <a:t> (pollen is produced there</a:t>
            </a:r>
            <a:r>
              <a:rPr lang="en-US" altLang="ar-JO" sz="1400" b="1" dirty="0" smtClean="0">
                <a:latin typeface="Arial Black" panose="020B0A04020102020204" pitchFamily="34" charset="0"/>
              </a:rPr>
              <a:t>)</a:t>
            </a:r>
            <a:endParaRPr lang="en-US" altLang="ar-JO" sz="1400" b="1" dirty="0">
              <a:latin typeface="Arial Black" panose="020B0A040201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3355" y="0"/>
            <a:ext cx="6274013" cy="6427304"/>
          </a:xfrm>
          <a:prstGeom prst="rect">
            <a:avLst/>
          </a:prstGeom>
        </p:spPr>
      </p:pic>
    </p:spTree>
    <p:extLst>
      <p:ext uri="{BB962C8B-B14F-4D97-AF65-F5344CB8AC3E}">
        <p14:creationId xmlns:p14="http://schemas.microsoft.com/office/powerpoint/2010/main" val="34774146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8254" y="2266774"/>
            <a:ext cx="10376452" cy="2862322"/>
          </a:xfrm>
          <a:prstGeom prst="rect">
            <a:avLst/>
          </a:prstGeom>
        </p:spPr>
        <p:txBody>
          <a:bodyPr wrap="square">
            <a:spAutoFit/>
          </a:bodyPr>
          <a:lstStyle/>
          <a:p>
            <a:pPr>
              <a:lnSpc>
                <a:spcPct val="200000"/>
              </a:lnSpc>
            </a:pPr>
            <a:r>
              <a:rPr lang="en-US" altLang="ar-JO" b="1" dirty="0">
                <a:latin typeface="Arial Black" panose="020B0A04020102020204" pitchFamily="34" charset="0"/>
              </a:rPr>
              <a:t>- </a:t>
            </a:r>
            <a:r>
              <a:rPr lang="en-US" altLang="ar-JO" b="1" dirty="0">
                <a:solidFill>
                  <a:srgbClr val="FF0000"/>
                </a:solidFill>
                <a:latin typeface="Arial Black" panose="020B0A04020102020204" pitchFamily="34" charset="0"/>
              </a:rPr>
              <a:t>Pistil</a:t>
            </a:r>
            <a:r>
              <a:rPr lang="en-US" altLang="ar-JO" b="1" dirty="0">
                <a:latin typeface="Arial Black" panose="020B0A04020102020204" pitchFamily="34" charset="0"/>
              </a:rPr>
              <a:t> (female part): it consist of </a:t>
            </a:r>
            <a:r>
              <a:rPr lang="en-US" altLang="ar-JO" b="1" dirty="0">
                <a:solidFill>
                  <a:srgbClr val="FF0000"/>
                </a:solidFill>
                <a:latin typeface="Arial Black" panose="020B0A04020102020204" pitchFamily="34" charset="0"/>
              </a:rPr>
              <a:t>carpels</a:t>
            </a:r>
            <a:r>
              <a:rPr lang="en-US" altLang="ar-JO" b="1" dirty="0">
                <a:latin typeface="Arial Black" panose="020B0A04020102020204" pitchFamily="34" charset="0"/>
              </a:rPr>
              <a:t>, &amp; each carpel consist of: </a:t>
            </a:r>
            <a:r>
              <a:rPr lang="en-US" altLang="ar-JO" b="1" dirty="0">
                <a:solidFill>
                  <a:srgbClr val="FF0000"/>
                </a:solidFill>
                <a:latin typeface="Arial Black" panose="020B0A04020102020204" pitchFamily="34" charset="0"/>
              </a:rPr>
              <a:t>ovary</a:t>
            </a:r>
            <a:r>
              <a:rPr lang="en-US" altLang="ar-JO" b="1" dirty="0">
                <a:latin typeface="Arial Black" panose="020B0A04020102020204" pitchFamily="34" charset="0"/>
              </a:rPr>
              <a:t> (encloses the ovules or potential seeds), </a:t>
            </a:r>
            <a:r>
              <a:rPr lang="en-US" altLang="ar-JO" b="1" dirty="0">
                <a:solidFill>
                  <a:srgbClr val="FF0000"/>
                </a:solidFill>
                <a:latin typeface="Arial Black" panose="020B0A04020102020204" pitchFamily="34" charset="0"/>
              </a:rPr>
              <a:t>style</a:t>
            </a:r>
            <a:r>
              <a:rPr lang="en-US" altLang="ar-JO" b="1" dirty="0">
                <a:latin typeface="Arial Black" panose="020B0A04020102020204" pitchFamily="34" charset="0"/>
              </a:rPr>
              <a:t> (upright extension), &amp; </a:t>
            </a:r>
            <a:r>
              <a:rPr lang="en-US" altLang="ar-JO" b="1" dirty="0">
                <a:solidFill>
                  <a:srgbClr val="FF0000"/>
                </a:solidFill>
                <a:latin typeface="Arial Black" panose="020B0A04020102020204" pitchFamily="34" charset="0"/>
              </a:rPr>
              <a:t>stigma</a:t>
            </a:r>
            <a:r>
              <a:rPr lang="en-US" altLang="ar-JO" b="1" dirty="0">
                <a:latin typeface="Arial Black" panose="020B0A04020102020204" pitchFamily="34" charset="0"/>
              </a:rPr>
              <a:t> (pollen receptive surface).</a:t>
            </a:r>
          </a:p>
          <a:p>
            <a:pPr>
              <a:lnSpc>
                <a:spcPct val="200000"/>
              </a:lnSpc>
            </a:pPr>
            <a:r>
              <a:rPr lang="en-US" altLang="ar-JO" b="1" dirty="0">
                <a:latin typeface="Arial Black" panose="020B0A04020102020204" pitchFamily="34" charset="0"/>
              </a:rPr>
              <a:t>* A pistil may be simple (with a single carpel), compound (consist of several carpels joined together), or ovule bearing modified leaf.</a:t>
            </a:r>
            <a:endParaRPr lang="en-US" altLang="ar-JO" b="1" dirty="0">
              <a:latin typeface="Arial Black" panose="020B0A04020102020204" pitchFamily="34" charset="0"/>
            </a:endParaRPr>
          </a:p>
        </p:txBody>
      </p:sp>
    </p:spTree>
    <p:extLst>
      <p:ext uri="{BB962C8B-B14F-4D97-AF65-F5344CB8AC3E}">
        <p14:creationId xmlns:p14="http://schemas.microsoft.com/office/powerpoint/2010/main" val="38488060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p:txBody>
          <a:bodyPr/>
          <a:lstStyle/>
          <a:p>
            <a:endParaRPr lang="ar-JO" altLang="ar-JO" smtClean="0"/>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6049"/>
            <a:ext cx="12192000" cy="6188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81348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2A93B9-BE35-4E83-928E-9BC8422DE95E}"/>
              </a:ext>
            </a:extLst>
          </p:cNvPr>
          <p:cNvSpPr txBox="1"/>
          <p:nvPr/>
        </p:nvSpPr>
        <p:spPr>
          <a:xfrm>
            <a:off x="410059" y="1870213"/>
            <a:ext cx="11450637" cy="3170099"/>
          </a:xfrm>
          <a:prstGeom prst="rect">
            <a:avLst/>
          </a:prstGeom>
          <a:noFill/>
        </p:spPr>
        <p:txBody>
          <a:bodyPr wrap="square">
            <a:spAutoFit/>
          </a:bodyPr>
          <a:lstStyle/>
          <a:p>
            <a:pPr marL="342900" indent="-342900" eaLnBrk="1" fontAlgn="auto" hangingPunct="1">
              <a:spcBef>
                <a:spcPts val="0"/>
              </a:spcBef>
              <a:spcAft>
                <a:spcPts val="0"/>
              </a:spcAft>
              <a:buFont typeface="Arial" panose="020B0604020202020204" pitchFamily="34" charset="0"/>
              <a:buChar char="•"/>
              <a:defRPr/>
            </a:pPr>
            <a:r>
              <a:rPr lang="en-US" sz="2000" b="1" dirty="0">
                <a:latin typeface="Arial Black" panose="020B0A04020102020204" pitchFamily="34" charset="0"/>
              </a:rPr>
              <a:t>Plants with perfect flowers are said to be </a:t>
            </a:r>
            <a:r>
              <a:rPr lang="en-US" sz="2000" b="1" i="1" u="sng" dirty="0">
                <a:solidFill>
                  <a:srgbClr val="FF0000"/>
                </a:solidFill>
                <a:latin typeface="Arial Black" panose="020B0A04020102020204" pitchFamily="34" charset="0"/>
              </a:rPr>
              <a:t>monoecious</a:t>
            </a:r>
            <a:r>
              <a:rPr lang="en-US" sz="2000" b="1" dirty="0">
                <a:latin typeface="Arial Black" panose="020B0A04020102020204" pitchFamily="34" charset="0"/>
              </a:rPr>
              <a:t> plants </a:t>
            </a:r>
          </a:p>
          <a:p>
            <a:pPr eaLnBrk="1" fontAlgn="auto" hangingPunct="1">
              <a:spcBef>
                <a:spcPts val="0"/>
              </a:spcBef>
              <a:spcAft>
                <a:spcPts val="0"/>
              </a:spcAft>
              <a:defRPr/>
            </a:pPr>
            <a:r>
              <a:rPr lang="en-US" sz="2000" b="1" dirty="0">
                <a:latin typeface="Arial Black" panose="020B0A04020102020204" pitchFamily="34" charset="0"/>
              </a:rPr>
              <a:t>		- (both pistil &amp; stamen present in the flower</a:t>
            </a:r>
            <a:r>
              <a:rPr lang="en-US" sz="2000" b="1" dirty="0" smtClean="0">
                <a:latin typeface="Arial Black" panose="020B0A04020102020204" pitchFamily="34" charset="0"/>
              </a:rPr>
              <a:t>).</a:t>
            </a:r>
          </a:p>
          <a:p>
            <a:pPr eaLnBrk="1" fontAlgn="auto" hangingPunct="1">
              <a:spcBef>
                <a:spcPts val="0"/>
              </a:spcBef>
              <a:spcAft>
                <a:spcPts val="0"/>
              </a:spcAft>
              <a:defRPr/>
            </a:pPr>
            <a:endParaRPr lang="en-US" sz="2000" b="1" dirty="0">
              <a:latin typeface="Arial Black" panose="020B0A04020102020204" pitchFamily="34" charset="0"/>
            </a:endParaRPr>
          </a:p>
          <a:p>
            <a:pPr eaLnBrk="1" fontAlgn="auto" hangingPunct="1">
              <a:spcBef>
                <a:spcPts val="0"/>
              </a:spcBef>
              <a:spcAft>
                <a:spcPts val="0"/>
              </a:spcAft>
              <a:defRPr/>
            </a:pPr>
            <a:endParaRPr lang="en-US" sz="2000" b="1" dirty="0">
              <a:latin typeface="Arial Black" panose="020B0A04020102020204" pitchFamily="34" charset="0"/>
            </a:endParaRPr>
          </a:p>
          <a:p>
            <a:pPr marL="342900" indent="-342900" eaLnBrk="1" fontAlgn="auto" hangingPunct="1">
              <a:spcBef>
                <a:spcPts val="0"/>
              </a:spcBef>
              <a:spcAft>
                <a:spcPts val="0"/>
              </a:spcAft>
              <a:buFont typeface="Arial" panose="020B0604020202020204" pitchFamily="34" charset="0"/>
              <a:buChar char="•"/>
              <a:defRPr/>
            </a:pPr>
            <a:r>
              <a:rPr lang="en-US" sz="2000" b="1" dirty="0">
                <a:latin typeface="Arial Black" panose="020B0A04020102020204" pitchFamily="34" charset="0"/>
              </a:rPr>
              <a:t>Plants with imperfect flowers are said to be </a:t>
            </a:r>
            <a:r>
              <a:rPr lang="en-US" sz="2000" b="1" i="1" u="sng" dirty="0">
                <a:solidFill>
                  <a:srgbClr val="FF0000"/>
                </a:solidFill>
                <a:latin typeface="Arial Black" panose="020B0A04020102020204" pitchFamily="34" charset="0"/>
              </a:rPr>
              <a:t>dioecious</a:t>
            </a:r>
            <a:r>
              <a:rPr lang="en-US" sz="2000" b="1" dirty="0">
                <a:latin typeface="Arial Black" panose="020B0A04020102020204" pitchFamily="34" charset="0"/>
              </a:rPr>
              <a:t> plants </a:t>
            </a:r>
            <a:endParaRPr lang="en-US" sz="2000" b="1" dirty="0" smtClean="0">
              <a:latin typeface="Arial Black" panose="020B0A04020102020204" pitchFamily="34" charset="0"/>
            </a:endParaRPr>
          </a:p>
          <a:p>
            <a:pPr eaLnBrk="1" fontAlgn="auto" hangingPunct="1">
              <a:spcBef>
                <a:spcPts val="0"/>
              </a:spcBef>
              <a:spcAft>
                <a:spcPts val="0"/>
              </a:spcAft>
              <a:defRPr/>
            </a:pPr>
            <a:r>
              <a:rPr lang="en-US" sz="2000" b="1" dirty="0">
                <a:latin typeface="Arial Black" panose="020B0A04020102020204" pitchFamily="34" charset="0"/>
              </a:rPr>
              <a:t> </a:t>
            </a:r>
            <a:r>
              <a:rPr lang="en-US" sz="2000" b="1" dirty="0" smtClean="0">
                <a:latin typeface="Arial Black" panose="020B0A04020102020204" pitchFamily="34" charset="0"/>
              </a:rPr>
              <a:t>         </a:t>
            </a:r>
            <a:r>
              <a:rPr lang="en-US" sz="1600" b="1" dirty="0" smtClean="0">
                <a:latin typeface="Arial Black" panose="020B0A04020102020204" pitchFamily="34" charset="0"/>
              </a:rPr>
              <a:t>(</a:t>
            </a:r>
            <a:r>
              <a:rPr lang="en-US" sz="1600" b="1" dirty="0">
                <a:latin typeface="Arial Black" panose="020B0A04020102020204" pitchFamily="34" charset="0"/>
              </a:rPr>
              <a:t>its flowers has </a:t>
            </a:r>
            <a:r>
              <a:rPr lang="en-US" sz="1600" b="1" u="sng" dirty="0">
                <a:latin typeface="Arial Black" panose="020B0A04020102020204" pitchFamily="34" charset="0"/>
              </a:rPr>
              <a:t>either</a:t>
            </a:r>
            <a:r>
              <a:rPr lang="en-US" sz="1600" b="1" dirty="0">
                <a:latin typeface="Arial Black" panose="020B0A04020102020204" pitchFamily="34" charset="0"/>
              </a:rPr>
              <a:t> pistil or stamen).</a:t>
            </a:r>
            <a:endParaRPr lang="en-US" sz="2000" b="1" dirty="0">
              <a:latin typeface="Arial Black" panose="020B0A04020102020204" pitchFamily="34" charset="0"/>
            </a:endParaRPr>
          </a:p>
          <a:p>
            <a:pPr eaLnBrk="1" fontAlgn="auto" hangingPunct="1">
              <a:lnSpc>
                <a:spcPct val="200000"/>
              </a:lnSpc>
              <a:spcBef>
                <a:spcPts val="0"/>
              </a:spcBef>
              <a:spcAft>
                <a:spcPts val="0"/>
              </a:spcAft>
              <a:defRPr/>
            </a:pPr>
            <a:r>
              <a:rPr lang="en-US" sz="2000" b="1" dirty="0">
                <a:latin typeface="Arial Black" panose="020B0A04020102020204" pitchFamily="34" charset="0"/>
              </a:rPr>
              <a:t>		- A flower that lacks stamens is called </a:t>
            </a:r>
            <a:r>
              <a:rPr lang="en-US" sz="2000" b="1" i="1" dirty="0">
                <a:solidFill>
                  <a:srgbClr val="FF0000"/>
                </a:solidFill>
                <a:latin typeface="Arial Black" panose="020B0A04020102020204" pitchFamily="34" charset="0"/>
              </a:rPr>
              <a:t>pistillate or female</a:t>
            </a:r>
          </a:p>
          <a:p>
            <a:pPr eaLnBrk="1" fontAlgn="auto" hangingPunct="1">
              <a:lnSpc>
                <a:spcPct val="200000"/>
              </a:lnSpc>
              <a:spcBef>
                <a:spcPts val="0"/>
              </a:spcBef>
              <a:spcAft>
                <a:spcPts val="0"/>
              </a:spcAft>
              <a:defRPr/>
            </a:pPr>
            <a:r>
              <a:rPr lang="en-US" sz="2000" b="1" dirty="0">
                <a:latin typeface="Arial Black" panose="020B0A04020102020204" pitchFamily="34" charset="0"/>
              </a:rPr>
              <a:t>		- A flower that lacks pistils is called </a:t>
            </a:r>
            <a:r>
              <a:rPr lang="en-US" sz="2000" b="1" i="1" dirty="0">
                <a:solidFill>
                  <a:srgbClr val="FF0000"/>
                </a:solidFill>
                <a:latin typeface="Arial Black" panose="020B0A04020102020204" pitchFamily="34" charset="0"/>
              </a:rPr>
              <a:t>staminate or male</a:t>
            </a:r>
          </a:p>
        </p:txBody>
      </p:sp>
    </p:spTree>
    <p:extLst>
      <p:ext uri="{BB962C8B-B14F-4D97-AF65-F5344CB8AC3E}">
        <p14:creationId xmlns:p14="http://schemas.microsoft.com/office/powerpoint/2010/main" val="21515367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4887" y="2040834"/>
            <a:ext cx="10972799" cy="4200940"/>
          </a:xfrm>
        </p:spPr>
        <p:txBody>
          <a:bodyPr>
            <a:normAutofit/>
          </a:bodyPr>
          <a:lstStyle/>
          <a:p>
            <a:pPr>
              <a:lnSpc>
                <a:spcPct val="100000"/>
              </a:lnSpc>
              <a:spcBef>
                <a:spcPts val="0"/>
              </a:spcBef>
              <a:spcAft>
                <a:spcPts val="0"/>
              </a:spcAft>
            </a:pPr>
            <a:r>
              <a:rPr lang="en-US" b="1" dirty="0"/>
              <a:t>1- Study  available  model  of  Dicot Root,  Dicot Stem,  Monocot Stem,  Vascular bundle  ( Xylem ),  </a:t>
            </a:r>
            <a:r>
              <a:rPr lang="en-US" b="1" dirty="0" smtClean="0"/>
              <a:t>    </a:t>
            </a:r>
          </a:p>
          <a:p>
            <a:pPr>
              <a:lnSpc>
                <a:spcPct val="100000"/>
              </a:lnSpc>
              <a:spcBef>
                <a:spcPts val="0"/>
              </a:spcBef>
              <a:spcAft>
                <a:spcPts val="0"/>
              </a:spcAft>
            </a:pPr>
            <a:r>
              <a:rPr lang="en-US" b="1" dirty="0"/>
              <a:t> </a:t>
            </a:r>
            <a:r>
              <a:rPr lang="en-US" b="1" dirty="0" smtClean="0"/>
              <a:t>     Dicot leaf</a:t>
            </a:r>
            <a:r>
              <a:rPr lang="en-US" b="1" dirty="0"/>
              <a:t>,  </a:t>
            </a:r>
            <a:r>
              <a:rPr lang="en-US" b="1" dirty="0" smtClean="0"/>
              <a:t>and Flower</a:t>
            </a:r>
          </a:p>
          <a:p>
            <a:pPr>
              <a:lnSpc>
                <a:spcPct val="100000"/>
              </a:lnSpc>
              <a:spcBef>
                <a:spcPts val="0"/>
              </a:spcBef>
              <a:spcAft>
                <a:spcPts val="0"/>
              </a:spcAft>
            </a:pPr>
            <a:endParaRPr lang="en-US" dirty="0"/>
          </a:p>
          <a:p>
            <a:pPr>
              <a:lnSpc>
                <a:spcPct val="100000"/>
              </a:lnSpc>
              <a:spcBef>
                <a:spcPts val="0"/>
              </a:spcBef>
              <a:spcAft>
                <a:spcPts val="0"/>
              </a:spcAft>
            </a:pPr>
            <a:r>
              <a:rPr lang="en-US" b="1" dirty="0"/>
              <a:t>2- Study available prepared slide of Dicot and  Monocot Root,  Dicot  and   Monocot Stem,   Root hair,   </a:t>
            </a:r>
            <a:endParaRPr lang="en-US" b="1" dirty="0" smtClean="0"/>
          </a:p>
          <a:p>
            <a:pPr>
              <a:lnSpc>
                <a:spcPct val="100000"/>
              </a:lnSpc>
              <a:spcBef>
                <a:spcPts val="0"/>
              </a:spcBef>
              <a:spcAft>
                <a:spcPts val="0"/>
              </a:spcAft>
            </a:pPr>
            <a:r>
              <a:rPr lang="en-US" b="1" dirty="0"/>
              <a:t> </a:t>
            </a:r>
            <a:r>
              <a:rPr lang="en-US" b="1" dirty="0" smtClean="0"/>
              <a:t>    Old woody </a:t>
            </a:r>
            <a:r>
              <a:rPr lang="en-US" b="1" dirty="0"/>
              <a:t>Stem and Dicot Leaf</a:t>
            </a:r>
            <a:r>
              <a:rPr lang="en-US" b="1" dirty="0" smtClean="0"/>
              <a:t>.</a:t>
            </a:r>
          </a:p>
          <a:p>
            <a:pPr>
              <a:lnSpc>
                <a:spcPct val="100000"/>
              </a:lnSpc>
              <a:spcBef>
                <a:spcPts val="0"/>
              </a:spcBef>
              <a:spcAft>
                <a:spcPts val="0"/>
              </a:spcAft>
            </a:pPr>
            <a:endParaRPr lang="en-US" dirty="0"/>
          </a:p>
          <a:p>
            <a:pPr>
              <a:lnSpc>
                <a:spcPct val="110000"/>
              </a:lnSpc>
              <a:spcBef>
                <a:spcPts val="0"/>
              </a:spcBef>
              <a:spcAft>
                <a:spcPts val="0"/>
              </a:spcAft>
            </a:pPr>
            <a:r>
              <a:rPr lang="en-US" b="1" dirty="0"/>
              <a:t>3- Identify all parts you see in the models and prepared slides, and then identify the Plant tissue made  </a:t>
            </a:r>
            <a:endParaRPr lang="en-US" b="1" dirty="0" smtClean="0"/>
          </a:p>
          <a:p>
            <a:pPr>
              <a:lnSpc>
                <a:spcPct val="110000"/>
              </a:lnSpc>
              <a:spcBef>
                <a:spcPts val="0"/>
              </a:spcBef>
              <a:spcAft>
                <a:spcPts val="0"/>
              </a:spcAft>
            </a:pPr>
            <a:r>
              <a:rPr lang="en-US" b="1" dirty="0"/>
              <a:t> </a:t>
            </a:r>
            <a:r>
              <a:rPr lang="en-US" b="1" dirty="0" smtClean="0"/>
              <a:t>     up these </a:t>
            </a:r>
            <a:r>
              <a:rPr lang="en-US" b="1" dirty="0"/>
              <a:t>parts.</a:t>
            </a:r>
            <a:endParaRPr lang="en-US" dirty="0"/>
          </a:p>
          <a:p>
            <a:r>
              <a:rPr lang="en-US" b="1" dirty="0"/>
              <a:t>4- Study a fresh stem to determine all of its external parts.</a:t>
            </a:r>
            <a:endParaRPr lang="en-US" dirty="0"/>
          </a:p>
          <a:p>
            <a:r>
              <a:rPr lang="en-US" b="1" dirty="0"/>
              <a:t>5- Study compound and simple fresh leaves.</a:t>
            </a:r>
            <a:endParaRPr lang="en-US" dirty="0"/>
          </a:p>
          <a:p>
            <a:r>
              <a:rPr lang="en-US" b="1" dirty="0"/>
              <a:t>6- Study a fresh flower and determine all parts.</a:t>
            </a:r>
            <a:endParaRPr lang="en-US" dirty="0"/>
          </a:p>
          <a:p>
            <a:endParaRPr lang="ar-JO" dirty="0"/>
          </a:p>
        </p:txBody>
      </p:sp>
      <p:sp>
        <p:nvSpPr>
          <p:cNvPr id="5" name="Title 1"/>
          <p:cNvSpPr>
            <a:spLocks noGrp="1"/>
          </p:cNvSpPr>
          <p:nvPr>
            <p:ph type="title"/>
          </p:nvPr>
        </p:nvSpPr>
        <p:spPr>
          <a:xfrm>
            <a:off x="1086677" y="887896"/>
            <a:ext cx="10002741" cy="887895"/>
          </a:xfrm>
        </p:spPr>
        <p:txBody>
          <a:bodyPr>
            <a:noAutofit/>
          </a:bodyPr>
          <a:lstStyle/>
          <a:p>
            <a:pPr algn="ctr"/>
            <a:r>
              <a:rPr lang="en-US" sz="8000" dirty="0" smtClean="0">
                <a:solidFill>
                  <a:schemeClr val="bg1"/>
                </a:solidFill>
                <a:latin typeface="Blackadder ITC" panose="04020505051007020D02" pitchFamily="82" charset="0"/>
              </a:rPr>
              <a:t>The Practical part</a:t>
            </a:r>
            <a:endParaRPr lang="ar-JO" sz="8000" dirty="0">
              <a:solidFill>
                <a:schemeClr val="bg1"/>
              </a:solidFill>
              <a:latin typeface="Blackadder ITC" panose="04020505051007020D02" pitchFamily="82" charset="0"/>
            </a:endParaRPr>
          </a:p>
        </p:txBody>
      </p:sp>
    </p:spTree>
    <p:extLst>
      <p:ext uri="{BB962C8B-B14F-4D97-AF65-F5344CB8AC3E}">
        <p14:creationId xmlns:p14="http://schemas.microsoft.com/office/powerpoint/2010/main" val="129747379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658AF07-9E42-47AF-83DF-C9E8FADF7120}">
  <ds:schemaRefs>
    <ds:schemaRef ds:uri="http://schemas.microsoft.com/sharepoint/v3/contenttype/forms"/>
  </ds:schemaRefs>
</ds:datastoreItem>
</file>

<file path=customXml/itemProps2.xml><?xml version="1.0" encoding="utf-8"?>
<ds:datastoreItem xmlns:ds="http://schemas.openxmlformats.org/officeDocument/2006/customXml" ds:itemID="{653253B1-1887-43EF-BBA6-7E1941C427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C4EF74-2977-4065-95FE-55F8E4B639D4}">
  <ds:schemaRefs>
    <ds:schemaRef ds:uri="http://schemas.microsoft.com/office/2006/documentManagement/types"/>
    <ds:schemaRef ds:uri="6dc4bcd6-49db-4c07-9060-8acfc67cef9f"/>
    <ds:schemaRef ds:uri="http://schemas.microsoft.com/office/infopath/2007/PartnerControls"/>
    <ds:schemaRef ds:uri="http://purl.org/dc/terms/"/>
    <ds:schemaRef ds:uri="http://purl.org/dc/dcmitype/"/>
    <ds:schemaRef ds:uri="http://schemas.microsoft.com/sharepoint/v3"/>
    <ds:schemaRef ds:uri="http://schemas.openxmlformats.org/package/2006/metadata/core-properties"/>
    <ds:schemaRef ds:uri="http://purl.org/dc/elements/1.1/"/>
    <ds:schemaRef ds:uri="fb0879af-3eba-417a-a55a-ffe6dcd6ca77"/>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1866</Words>
  <Application>Microsoft Office PowerPoint</Application>
  <PresentationFormat>Widescreen</PresentationFormat>
  <Paragraphs>406</Paragraphs>
  <Slides>47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Arial Black</vt:lpstr>
      <vt:lpstr>Blackadder ITC</vt:lpstr>
      <vt:lpstr>Calibri</vt:lpstr>
      <vt:lpstr>Calibri Light</vt:lpstr>
      <vt:lpstr>Courier New</vt:lpstr>
      <vt:lpstr>PMingLiU</vt:lpstr>
      <vt:lpstr>Symbol</vt:lpstr>
      <vt:lpstr>Times New Roman</vt:lpstr>
      <vt:lpstr>Wingdings</vt:lpstr>
      <vt:lpstr>Retrospect</vt:lpstr>
      <vt:lpstr>PowerPoint Presentation</vt:lpstr>
      <vt:lpstr>PowerPoint Presentation</vt:lpstr>
      <vt:lpstr>PowerPoint Presentation</vt:lpstr>
      <vt:lpstr>Tissue : a group of similar cells  that are co-ordinate to perform the same function</vt:lpstr>
      <vt:lpstr>PowerPoint Presentation</vt:lpstr>
      <vt:lpstr>PowerPoint Presentation</vt:lpstr>
      <vt:lpstr>PowerPoint Presentation</vt:lpstr>
      <vt:lpstr>PowerPoint Presentation</vt:lpstr>
      <vt:lpstr>PowerPoint Presentation</vt:lpstr>
      <vt:lpstr>Roots: the non-leaf, non-nodes bearing parts of the plant's body that typically lies below the surface of the soil,                        some are aerial or aerating (growing up above the ground or especially above water).       Functions:         * Absorption of water and inorganic nutrients        * Anchoring of the plant body to the ground, and supporting it.        * Storage of food and nutrients.        * Transport of water and nutrients        * Vegetative reproduction.         * Produce cytokinin to control the rate of shoot growth                 </vt:lpstr>
      <vt:lpstr>Structure of the Root:</vt:lpstr>
      <vt:lpstr>PowerPoint Presentation</vt:lpstr>
      <vt:lpstr>                 </vt:lpstr>
      <vt:lpstr>Dicot Root</vt:lpstr>
      <vt:lpstr>Dicot Root</vt:lpstr>
      <vt:lpstr>The phloem tissues: lay between the arms     </vt:lpstr>
      <vt:lpstr>Monocot Root </vt:lpstr>
      <vt:lpstr>The differences between Dicot and Monocot Root </vt:lpstr>
      <vt:lpstr>Stem Anatomy</vt:lpstr>
      <vt:lpstr>Nodes and internodes are regions found on the stem    Nodes: are the regions from which leaves and lateral branches develop     Internode : is the region between nodes </vt:lpstr>
      <vt:lpstr>PowerPoint Presentation</vt:lpstr>
      <vt:lpstr>Stem anatomy</vt:lpstr>
      <vt:lpstr>PowerPoint Presentation</vt:lpstr>
      <vt:lpstr>PowerPoint Presentation</vt:lpstr>
      <vt:lpstr>Cross section of Dicot stem :   ** Epidermis :                - The walls are thickened and covered with a thin waterproof layer called the cuticle         - In some cases, a uni- or multicellular hair like outgrowth appears  ** Hypodermis :                                    - Made from compactly arranged sclerenchyma without intercellular spaces                    - Provides mechanical strength to the plant                     </vt:lpstr>
      <vt:lpstr>PowerPoint Presentation</vt:lpstr>
      <vt:lpstr>PowerPoint Presentation</vt:lpstr>
      <vt:lpstr>PowerPoint Presentation</vt:lpstr>
      <vt:lpstr>The differences between Dicot and Monocot stems </vt:lpstr>
      <vt:lpstr>Woody Dicot stem</vt:lpstr>
      <vt:lpstr>Cross section of 3- years Woody Dicot stem</vt:lpstr>
      <vt:lpstr>PowerPoint Presentation</vt:lpstr>
      <vt:lpstr>PowerPoint Presentation</vt:lpstr>
      <vt:lpstr>PowerPoint Presentation</vt:lpstr>
      <vt:lpstr>Internal leaf structure</vt:lpstr>
      <vt:lpstr>PowerPoint Presentation</vt:lpstr>
      <vt:lpstr>PowerPoint Presentation</vt:lpstr>
      <vt:lpstr>PowerPoint Presentation</vt:lpstr>
      <vt:lpstr>PowerPoint Presentation</vt:lpstr>
      <vt:lpstr>PowerPoint Presentation</vt:lpstr>
      <vt:lpstr>The main differences between Dicot and Monocot leaves</vt:lpstr>
      <vt:lpstr>Reproductive organs</vt:lpstr>
      <vt:lpstr>Floral parts</vt:lpstr>
      <vt:lpstr>PowerPoint Presentation</vt:lpstr>
      <vt:lpstr>PowerPoint Presentation</vt:lpstr>
      <vt:lpstr>PowerPoint Presentation</vt:lpstr>
      <vt:lpstr>The Practical part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2019-03-25T13:38:36Z</dcterms:created>
  <dcterms:modified xsi:type="dcterms:W3CDTF">2019-03-31T00:35:43Z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