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5"/>
  </p:notesMasterIdLst>
  <p:sldIdLst>
    <p:sldId id="340" r:id="rId3"/>
    <p:sldId id="259" r:id="rId4"/>
    <p:sldId id="258" r:id="rId5"/>
    <p:sldId id="257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73" r:id="rId14"/>
    <p:sldId id="272" r:id="rId15"/>
    <p:sldId id="266" r:id="rId16"/>
    <p:sldId id="274" r:id="rId17"/>
    <p:sldId id="275" r:id="rId18"/>
    <p:sldId id="276" r:id="rId19"/>
    <p:sldId id="277" r:id="rId20"/>
    <p:sldId id="278" r:id="rId21"/>
    <p:sldId id="267" r:id="rId22"/>
    <p:sldId id="279" r:id="rId23"/>
    <p:sldId id="280" r:id="rId24"/>
    <p:sldId id="281" r:id="rId25"/>
    <p:sldId id="268" r:id="rId26"/>
    <p:sldId id="282" r:id="rId27"/>
    <p:sldId id="283" r:id="rId28"/>
    <p:sldId id="284" r:id="rId29"/>
    <p:sldId id="285" r:id="rId30"/>
    <p:sldId id="269" r:id="rId31"/>
    <p:sldId id="289" r:id="rId32"/>
    <p:sldId id="290" r:id="rId33"/>
    <p:sldId id="291" r:id="rId34"/>
    <p:sldId id="292" r:id="rId35"/>
    <p:sldId id="293" r:id="rId36"/>
    <p:sldId id="270" r:id="rId37"/>
    <p:sldId id="294" r:id="rId38"/>
    <p:sldId id="295" r:id="rId39"/>
    <p:sldId id="296" r:id="rId40"/>
    <p:sldId id="301" r:id="rId41"/>
    <p:sldId id="322" r:id="rId42"/>
    <p:sldId id="308" r:id="rId43"/>
    <p:sldId id="305" r:id="rId44"/>
    <p:sldId id="306" r:id="rId45"/>
    <p:sldId id="307" r:id="rId46"/>
    <p:sldId id="309" r:id="rId47"/>
    <p:sldId id="310" r:id="rId48"/>
    <p:sldId id="311" r:id="rId49"/>
    <p:sldId id="312" r:id="rId50"/>
    <p:sldId id="313" r:id="rId51"/>
    <p:sldId id="317" r:id="rId52"/>
    <p:sldId id="316" r:id="rId53"/>
    <p:sldId id="319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3B3ED-B4CB-45C3-87BF-DF06208BBA63}" v="8" dt="2022-12-12T19:09:34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909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microsoft.com/office/2015/10/relationships/revisionInfo" Target="revisionInfo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wah Al Bataineh" userId="b400c1d921f65d71" providerId="LiveId" clId="{D1D3B3ED-B4CB-45C3-87BF-DF06208BBA63}"/>
    <pc:docChg chg="undo custSel delSld modSld">
      <pc:chgData name="Erwah Al Bataineh" userId="b400c1d921f65d71" providerId="LiveId" clId="{D1D3B3ED-B4CB-45C3-87BF-DF06208BBA63}" dt="2022-12-12T19:11:12.947" v="386" actId="207"/>
      <pc:docMkLst>
        <pc:docMk/>
      </pc:docMkLst>
      <pc:sldChg chg="addSp delSp modSp del mod">
        <pc:chgData name="Erwah Al Bataineh" userId="b400c1d921f65d71" providerId="LiveId" clId="{D1D3B3ED-B4CB-45C3-87BF-DF06208BBA63}" dt="2022-12-12T18:52:51.311" v="81" actId="2696"/>
        <pc:sldMkLst>
          <pc:docMk/>
          <pc:sldMk cId="2164791997" sldId="256"/>
        </pc:sldMkLst>
        <pc:spChg chg="del mod">
          <ac:chgData name="Erwah Al Bataineh" userId="b400c1d921f65d71" providerId="LiveId" clId="{D1D3B3ED-B4CB-45C3-87BF-DF06208BBA63}" dt="2022-12-12T18:50:19.003" v="54" actId="21"/>
          <ac:spMkLst>
            <pc:docMk/>
            <pc:sldMk cId="2164791997" sldId="256"/>
            <ac:spMk id="2" creationId="{DAF7238D-F35F-45F2-AE67-BABF17F4712B}"/>
          </ac:spMkLst>
        </pc:spChg>
        <pc:spChg chg="add mod">
          <ac:chgData name="Erwah Al Bataineh" userId="b400c1d921f65d71" providerId="LiveId" clId="{D1D3B3ED-B4CB-45C3-87BF-DF06208BBA63}" dt="2022-12-12T18:50:19.003" v="54" actId="21"/>
          <ac:spMkLst>
            <pc:docMk/>
            <pc:sldMk cId="2164791997" sldId="256"/>
            <ac:spMk id="4" creationId="{B3997EF7-07ED-6C90-CEEA-ECBD5CD8F893}"/>
          </ac:spMkLst>
        </pc:spChg>
        <pc:picChg chg="del">
          <ac:chgData name="Erwah Al Bataineh" userId="b400c1d921f65d71" providerId="LiveId" clId="{D1D3B3ED-B4CB-45C3-87BF-DF06208BBA63}" dt="2022-12-12T18:51:01.812" v="63" actId="21"/>
          <ac:picMkLst>
            <pc:docMk/>
            <pc:sldMk cId="2164791997" sldId="256"/>
            <ac:picMk id="5" creationId="{CBF265DF-44C9-4349-A985-A73072F3448E}"/>
          </ac:picMkLst>
        </pc:picChg>
      </pc:sldChg>
      <pc:sldChg chg="modSp mod">
        <pc:chgData name="Erwah Al Bataineh" userId="b400c1d921f65d71" providerId="LiveId" clId="{D1D3B3ED-B4CB-45C3-87BF-DF06208BBA63}" dt="2022-12-12T18:54:24.533" v="84" actId="13926"/>
        <pc:sldMkLst>
          <pc:docMk/>
          <pc:sldMk cId="994279915" sldId="290"/>
        </pc:sldMkLst>
        <pc:spChg chg="mod">
          <ac:chgData name="Erwah Al Bataineh" userId="b400c1d921f65d71" providerId="LiveId" clId="{D1D3B3ED-B4CB-45C3-87BF-DF06208BBA63}" dt="2022-12-12T18:54:24.533" v="84" actId="13926"/>
          <ac:spMkLst>
            <pc:docMk/>
            <pc:sldMk cId="994279915" sldId="290"/>
            <ac:spMk id="3" creationId="{10ED9DD7-4D08-4AC3-899F-878026468AD8}"/>
          </ac:spMkLst>
        </pc:spChg>
      </pc:sldChg>
      <pc:sldChg chg="addSp delSp modSp mod">
        <pc:chgData name="Erwah Al Bataineh" userId="b400c1d921f65d71" providerId="LiveId" clId="{D1D3B3ED-B4CB-45C3-87BF-DF06208BBA63}" dt="2022-12-12T19:10:29.977" v="384" actId="207"/>
        <pc:sldMkLst>
          <pc:docMk/>
          <pc:sldMk cId="3652739147" sldId="308"/>
        </pc:sldMkLst>
        <pc:spChg chg="add mod">
          <ac:chgData name="Erwah Al Bataineh" userId="b400c1d921f65d71" providerId="LiveId" clId="{D1D3B3ED-B4CB-45C3-87BF-DF06208BBA63}" dt="2022-12-12T19:10:29.977" v="384" actId="207"/>
          <ac:spMkLst>
            <pc:docMk/>
            <pc:sldMk cId="3652739147" sldId="308"/>
            <ac:spMk id="2" creationId="{47040130-343A-8607-D0A3-A50A5BF8ECD1}"/>
          </ac:spMkLst>
        </pc:spChg>
        <pc:picChg chg="del mod">
          <ac:chgData name="Erwah Al Bataineh" userId="b400c1d921f65d71" providerId="LiveId" clId="{D1D3B3ED-B4CB-45C3-87BF-DF06208BBA63}" dt="2022-12-12T19:09:15.878" v="322" actId="478"/>
          <ac:picMkLst>
            <pc:docMk/>
            <pc:sldMk cId="3652739147" sldId="308"/>
            <ac:picMk id="4" creationId="{0F70E663-27C3-4C72-8B3C-6B6498896E73}"/>
          </ac:picMkLst>
        </pc:picChg>
      </pc:sldChg>
      <pc:sldChg chg="addSp delSp modSp mod">
        <pc:chgData name="Erwah Al Bataineh" userId="b400c1d921f65d71" providerId="LiveId" clId="{D1D3B3ED-B4CB-45C3-87BF-DF06208BBA63}" dt="2022-12-12T19:08:46.354" v="320" actId="1076"/>
        <pc:sldMkLst>
          <pc:docMk/>
          <pc:sldMk cId="273144789" sldId="322"/>
        </pc:sldMkLst>
        <pc:spChg chg="add mod">
          <ac:chgData name="Erwah Al Bataineh" userId="b400c1d921f65d71" providerId="LiveId" clId="{D1D3B3ED-B4CB-45C3-87BF-DF06208BBA63}" dt="2022-12-12T19:02:30.318" v="282" actId="20577"/>
          <ac:spMkLst>
            <pc:docMk/>
            <pc:sldMk cId="273144789" sldId="322"/>
            <ac:spMk id="2" creationId="{DC421F6A-FC0D-D312-5097-37285019E609}"/>
          </ac:spMkLst>
        </pc:spChg>
        <pc:spChg chg="add mod">
          <ac:chgData name="Erwah Al Bataineh" userId="b400c1d921f65d71" providerId="LiveId" clId="{D1D3B3ED-B4CB-45C3-87BF-DF06208BBA63}" dt="2022-12-12T19:07:23.290" v="312" actId="1076"/>
          <ac:spMkLst>
            <pc:docMk/>
            <pc:sldMk cId="273144789" sldId="322"/>
            <ac:spMk id="3" creationId="{597315AA-A404-8B46-5641-BB68D0DD1D46}"/>
          </ac:spMkLst>
        </pc:spChg>
        <pc:spChg chg="add del mod">
          <ac:chgData name="Erwah Al Bataineh" userId="b400c1d921f65d71" providerId="LiveId" clId="{D1D3B3ED-B4CB-45C3-87BF-DF06208BBA63}" dt="2022-12-12T19:08:05.700" v="315" actId="478"/>
          <ac:spMkLst>
            <pc:docMk/>
            <pc:sldMk cId="273144789" sldId="322"/>
            <ac:spMk id="4" creationId="{AD79A640-D43E-7F31-1E03-1699B7DA40B1}"/>
          </ac:spMkLst>
        </pc:spChg>
        <pc:spChg chg="add del mod">
          <ac:chgData name="Erwah Al Bataineh" userId="b400c1d921f65d71" providerId="LiveId" clId="{D1D3B3ED-B4CB-45C3-87BF-DF06208BBA63}" dt="2022-12-12T19:06:33.893" v="306" actId="478"/>
          <ac:spMkLst>
            <pc:docMk/>
            <pc:sldMk cId="273144789" sldId="322"/>
            <ac:spMk id="5" creationId="{1A943570-76F6-4346-46D7-46667ABCF640}"/>
          </ac:spMkLst>
        </pc:spChg>
        <pc:spChg chg="del mod">
          <ac:chgData name="Erwah Al Bataineh" userId="b400c1d921f65d71" providerId="LiveId" clId="{D1D3B3ED-B4CB-45C3-87BF-DF06208BBA63}" dt="2022-12-12T18:55:20.868" v="87" actId="478"/>
          <ac:spMkLst>
            <pc:docMk/>
            <pc:sldMk cId="273144789" sldId="322"/>
            <ac:spMk id="7" creationId="{E6F8D458-7FEC-4D6F-BDB1-1CCC3FD3B68A}"/>
          </ac:spMkLst>
        </pc:spChg>
        <pc:spChg chg="add del mod">
          <ac:chgData name="Erwah Al Bataineh" userId="b400c1d921f65d71" providerId="LiveId" clId="{D1D3B3ED-B4CB-45C3-87BF-DF06208BBA63}" dt="2022-12-12T19:08:01.858" v="314" actId="478"/>
          <ac:spMkLst>
            <pc:docMk/>
            <pc:sldMk cId="273144789" sldId="322"/>
            <ac:spMk id="8" creationId="{A0A0E55E-8A12-45ED-892C-FB378283B229}"/>
          </ac:spMkLst>
        </pc:spChg>
        <pc:spChg chg="del">
          <ac:chgData name="Erwah Al Bataineh" userId="b400c1d921f65d71" providerId="LiveId" clId="{D1D3B3ED-B4CB-45C3-87BF-DF06208BBA63}" dt="2022-12-12T18:55:26.917" v="89" actId="478"/>
          <ac:spMkLst>
            <pc:docMk/>
            <pc:sldMk cId="273144789" sldId="322"/>
            <ac:spMk id="9" creationId="{BB1B474C-93AE-4D7E-B937-D44410A66B53}"/>
          </ac:spMkLst>
        </pc:spChg>
        <pc:spChg chg="add mod">
          <ac:chgData name="Erwah Al Bataineh" userId="b400c1d921f65d71" providerId="LiveId" clId="{D1D3B3ED-B4CB-45C3-87BF-DF06208BBA63}" dt="2022-12-12T19:08:46.354" v="320" actId="1076"/>
          <ac:spMkLst>
            <pc:docMk/>
            <pc:sldMk cId="273144789" sldId="322"/>
            <ac:spMk id="10" creationId="{BF2E5586-F5BC-E30E-EDAC-C034337179DB}"/>
          </ac:spMkLst>
        </pc:spChg>
        <pc:spChg chg="del">
          <ac:chgData name="Erwah Al Bataineh" userId="b400c1d921f65d71" providerId="LiveId" clId="{D1D3B3ED-B4CB-45C3-87BF-DF06208BBA63}" dt="2022-12-12T18:55:32.188" v="90" actId="478"/>
          <ac:spMkLst>
            <pc:docMk/>
            <pc:sldMk cId="273144789" sldId="322"/>
            <ac:spMk id="12" creationId="{563710FA-C76A-4F5D-81D7-336214A5765D}"/>
          </ac:spMkLst>
        </pc:spChg>
        <pc:spChg chg="del">
          <ac:chgData name="Erwah Al Bataineh" userId="b400c1d921f65d71" providerId="LiveId" clId="{D1D3B3ED-B4CB-45C3-87BF-DF06208BBA63}" dt="2022-12-12T18:55:59.998" v="100" actId="478"/>
          <ac:spMkLst>
            <pc:docMk/>
            <pc:sldMk cId="273144789" sldId="322"/>
            <ac:spMk id="13" creationId="{68A5C446-4318-4BA2-9C8A-AB08E0A8BF4E}"/>
          </ac:spMkLst>
        </pc:spChg>
        <pc:spChg chg="mod">
          <ac:chgData name="Erwah Al Bataineh" userId="b400c1d921f65d71" providerId="LiveId" clId="{D1D3B3ED-B4CB-45C3-87BF-DF06208BBA63}" dt="2022-12-12T18:58:26.368" v="128" actId="1076"/>
          <ac:spMkLst>
            <pc:docMk/>
            <pc:sldMk cId="273144789" sldId="322"/>
            <ac:spMk id="17" creationId="{E2A18FCC-5D42-40A2-BFCE-BEDAFC8BE356}"/>
          </ac:spMkLst>
        </pc:spChg>
        <pc:spChg chg="del mod">
          <ac:chgData name="Erwah Al Bataineh" userId="b400c1d921f65d71" providerId="LiveId" clId="{D1D3B3ED-B4CB-45C3-87BF-DF06208BBA63}" dt="2022-12-12T18:56:08.248" v="104" actId="478"/>
          <ac:spMkLst>
            <pc:docMk/>
            <pc:sldMk cId="273144789" sldId="322"/>
            <ac:spMk id="18" creationId="{4B439E19-A48F-4F64-B244-11D342DBD07F}"/>
          </ac:spMkLst>
        </pc:spChg>
        <pc:spChg chg="del mod">
          <ac:chgData name="Erwah Al Bataineh" userId="b400c1d921f65d71" providerId="LiveId" clId="{D1D3B3ED-B4CB-45C3-87BF-DF06208BBA63}" dt="2022-12-12T18:55:53.380" v="98" actId="478"/>
          <ac:spMkLst>
            <pc:docMk/>
            <pc:sldMk cId="273144789" sldId="322"/>
            <ac:spMk id="21" creationId="{87449E09-4E7A-4667-899A-EC36A3C2CB51}"/>
          </ac:spMkLst>
        </pc:spChg>
        <pc:spChg chg="mod">
          <ac:chgData name="Erwah Al Bataineh" userId="b400c1d921f65d71" providerId="LiveId" clId="{D1D3B3ED-B4CB-45C3-87BF-DF06208BBA63}" dt="2022-12-12T19:07:30.074" v="313" actId="1076"/>
          <ac:spMkLst>
            <pc:docMk/>
            <pc:sldMk cId="273144789" sldId="322"/>
            <ac:spMk id="22" creationId="{A1A8F143-8CAC-48FE-B82B-2EFAA3CA280D}"/>
          </ac:spMkLst>
        </pc:spChg>
        <pc:spChg chg="del">
          <ac:chgData name="Erwah Al Bataineh" userId="b400c1d921f65d71" providerId="LiveId" clId="{D1D3B3ED-B4CB-45C3-87BF-DF06208BBA63}" dt="2022-12-12T18:56:14.535" v="106" actId="478"/>
          <ac:spMkLst>
            <pc:docMk/>
            <pc:sldMk cId="273144789" sldId="322"/>
            <ac:spMk id="24" creationId="{0D81A330-9BCD-49D1-80AB-BDF72ED6F118}"/>
          </ac:spMkLst>
        </pc:spChg>
        <pc:spChg chg="del">
          <ac:chgData name="Erwah Al Bataineh" userId="b400c1d921f65d71" providerId="LiveId" clId="{D1D3B3ED-B4CB-45C3-87BF-DF06208BBA63}" dt="2022-12-12T18:56:03.358" v="101" actId="478"/>
          <ac:spMkLst>
            <pc:docMk/>
            <pc:sldMk cId="273144789" sldId="322"/>
            <ac:spMk id="25" creationId="{34273DCE-1ED5-45D3-A840-4EA3EDBA590A}"/>
          </ac:spMkLst>
        </pc:spChg>
        <pc:spChg chg="del">
          <ac:chgData name="Erwah Al Bataineh" userId="b400c1d921f65d71" providerId="LiveId" clId="{D1D3B3ED-B4CB-45C3-87BF-DF06208BBA63}" dt="2022-12-12T18:56:04.848" v="102" actId="478"/>
          <ac:spMkLst>
            <pc:docMk/>
            <pc:sldMk cId="273144789" sldId="322"/>
            <ac:spMk id="26" creationId="{C366C339-2660-4206-8566-77A2C9405D61}"/>
          </ac:spMkLst>
        </pc:spChg>
        <pc:spChg chg="mod">
          <ac:chgData name="Erwah Al Bataineh" userId="b400c1d921f65d71" providerId="LiveId" clId="{D1D3B3ED-B4CB-45C3-87BF-DF06208BBA63}" dt="2022-12-12T19:02:41.914" v="283" actId="255"/>
          <ac:spMkLst>
            <pc:docMk/>
            <pc:sldMk cId="273144789" sldId="322"/>
            <ac:spMk id="29" creationId="{97C1D674-9C73-44D3-9053-6D3A4D24A985}"/>
          </ac:spMkLst>
        </pc:spChg>
        <pc:spChg chg="mod">
          <ac:chgData name="Erwah Al Bataineh" userId="b400c1d921f65d71" providerId="LiveId" clId="{D1D3B3ED-B4CB-45C3-87BF-DF06208BBA63}" dt="2022-12-12T19:02:49.539" v="285" actId="255"/>
          <ac:spMkLst>
            <pc:docMk/>
            <pc:sldMk cId="273144789" sldId="322"/>
            <ac:spMk id="30" creationId="{1D133AAC-78C1-473F-9854-E29F2F42F19F}"/>
          </ac:spMkLst>
        </pc:spChg>
        <pc:spChg chg="mod">
          <ac:chgData name="Erwah Al Bataineh" userId="b400c1d921f65d71" providerId="LiveId" clId="{D1D3B3ED-B4CB-45C3-87BF-DF06208BBA63}" dt="2022-12-12T19:03:57.708" v="292" actId="688"/>
          <ac:spMkLst>
            <pc:docMk/>
            <pc:sldMk cId="273144789" sldId="322"/>
            <ac:spMk id="31" creationId="{E4826EAD-3C3E-4019-9DB7-9E20956F7753}"/>
          </ac:spMkLst>
        </pc:spChg>
        <pc:spChg chg="del mod">
          <ac:chgData name="Erwah Al Bataineh" userId="b400c1d921f65d71" providerId="LiveId" clId="{D1D3B3ED-B4CB-45C3-87BF-DF06208BBA63}" dt="2022-12-12T18:56:20.009" v="108" actId="478"/>
          <ac:spMkLst>
            <pc:docMk/>
            <pc:sldMk cId="273144789" sldId="322"/>
            <ac:spMk id="34" creationId="{04DB1976-58AD-4F6C-B992-5B7A10BA4B7A}"/>
          </ac:spMkLst>
        </pc:spChg>
        <pc:spChg chg="del">
          <ac:chgData name="Erwah Al Bataineh" userId="b400c1d921f65d71" providerId="LiveId" clId="{D1D3B3ED-B4CB-45C3-87BF-DF06208BBA63}" dt="2022-12-12T18:56:25.877" v="110" actId="478"/>
          <ac:spMkLst>
            <pc:docMk/>
            <pc:sldMk cId="273144789" sldId="322"/>
            <ac:spMk id="35" creationId="{0581226E-E427-4906-BB78-1773C2CE5442}"/>
          </ac:spMkLst>
        </pc:spChg>
        <pc:spChg chg="del">
          <ac:chgData name="Erwah Al Bataineh" userId="b400c1d921f65d71" providerId="LiveId" clId="{D1D3B3ED-B4CB-45C3-87BF-DF06208BBA63}" dt="2022-12-12T18:55:22.545" v="88" actId="478"/>
          <ac:spMkLst>
            <pc:docMk/>
            <pc:sldMk cId="273144789" sldId="322"/>
            <ac:spMk id="36" creationId="{D375E719-D91E-4020-A7EB-4C4DBCED7C75}"/>
          </ac:spMkLst>
        </pc:spChg>
        <pc:spChg chg="del">
          <ac:chgData name="Erwah Al Bataineh" userId="b400c1d921f65d71" providerId="LiveId" clId="{D1D3B3ED-B4CB-45C3-87BF-DF06208BBA63}" dt="2022-12-12T18:56:22.851" v="109" actId="478"/>
          <ac:spMkLst>
            <pc:docMk/>
            <pc:sldMk cId="273144789" sldId="322"/>
            <ac:spMk id="37" creationId="{35F731EC-7EC5-4FAC-9A21-3465C1B0E88C}"/>
          </ac:spMkLst>
        </pc:spChg>
        <pc:spChg chg="del">
          <ac:chgData name="Erwah Al Bataineh" userId="b400c1d921f65d71" providerId="LiveId" clId="{D1D3B3ED-B4CB-45C3-87BF-DF06208BBA63}" dt="2022-12-12T18:55:49.734" v="96" actId="478"/>
          <ac:spMkLst>
            <pc:docMk/>
            <pc:sldMk cId="273144789" sldId="322"/>
            <ac:spMk id="40" creationId="{68F054EE-50B1-4F56-8CD2-A051B98D9D82}"/>
          </ac:spMkLst>
        </pc:spChg>
        <pc:spChg chg="del mod">
          <ac:chgData name="Erwah Al Bataineh" userId="b400c1d921f65d71" providerId="LiveId" clId="{D1D3B3ED-B4CB-45C3-87BF-DF06208BBA63}" dt="2022-12-12T18:55:45.872" v="95" actId="478"/>
          <ac:spMkLst>
            <pc:docMk/>
            <pc:sldMk cId="273144789" sldId="322"/>
            <ac:spMk id="41" creationId="{4755E5EB-DDDF-41EE-8B80-CD7B216B04CA}"/>
          </ac:spMkLst>
        </pc:spChg>
        <pc:spChg chg="del">
          <ac:chgData name="Erwah Al Bataineh" userId="b400c1d921f65d71" providerId="LiveId" clId="{D1D3B3ED-B4CB-45C3-87BF-DF06208BBA63}" dt="2022-12-12T18:55:34.829" v="91" actId="478"/>
          <ac:spMkLst>
            <pc:docMk/>
            <pc:sldMk cId="273144789" sldId="322"/>
            <ac:spMk id="42" creationId="{95503484-3D51-44A8-B808-9051AE28FF96}"/>
          </ac:spMkLst>
        </pc:spChg>
        <pc:spChg chg="mod">
          <ac:chgData name="Erwah Al Bataineh" userId="b400c1d921f65d71" providerId="LiveId" clId="{D1D3B3ED-B4CB-45C3-87BF-DF06208BBA63}" dt="2022-12-12T19:03:48.158" v="291" actId="1076"/>
          <ac:spMkLst>
            <pc:docMk/>
            <pc:sldMk cId="273144789" sldId="322"/>
            <ac:spMk id="55" creationId="{0B07F4F9-41BB-4F80-A34E-20DBC568F8CC}"/>
          </ac:spMkLst>
        </pc:spChg>
        <pc:spChg chg="mod">
          <ac:chgData name="Erwah Al Bataineh" userId="b400c1d921f65d71" providerId="LiveId" clId="{D1D3B3ED-B4CB-45C3-87BF-DF06208BBA63}" dt="2022-12-12T19:03:06.273" v="287" actId="255"/>
          <ac:spMkLst>
            <pc:docMk/>
            <pc:sldMk cId="273144789" sldId="322"/>
            <ac:spMk id="57" creationId="{5D7EEAD8-391B-4412-B966-F7BA987EF737}"/>
          </ac:spMkLst>
        </pc:spChg>
        <pc:spChg chg="mod">
          <ac:chgData name="Erwah Al Bataineh" userId="b400c1d921f65d71" providerId="LiveId" clId="{D1D3B3ED-B4CB-45C3-87BF-DF06208BBA63}" dt="2022-12-12T19:02:54.870" v="286" actId="255"/>
          <ac:spMkLst>
            <pc:docMk/>
            <pc:sldMk cId="273144789" sldId="322"/>
            <ac:spMk id="58" creationId="{393F2E6E-0623-426E-BA9E-EEFB4B16BCE1}"/>
          </ac:spMkLst>
        </pc:spChg>
        <pc:picChg chg="del">
          <ac:chgData name="Erwah Al Bataineh" userId="b400c1d921f65d71" providerId="LiveId" clId="{D1D3B3ED-B4CB-45C3-87BF-DF06208BBA63}" dt="2022-12-12T18:55:13.417" v="85" actId="478"/>
          <ac:picMkLst>
            <pc:docMk/>
            <pc:sldMk cId="273144789" sldId="322"/>
            <ac:picMk id="6" creationId="{9E3317E3-8330-4A90-AB8B-75978511B73C}"/>
          </ac:picMkLst>
        </pc:picChg>
        <pc:picChg chg="del">
          <ac:chgData name="Erwah Al Bataineh" userId="b400c1d921f65d71" providerId="LiveId" clId="{D1D3B3ED-B4CB-45C3-87BF-DF06208BBA63}" dt="2022-12-12T18:55:55.626" v="99" actId="478"/>
          <ac:picMkLst>
            <pc:docMk/>
            <pc:sldMk cId="273144789" sldId="322"/>
            <ac:picMk id="11" creationId="{E7D5F98C-F068-4126-A405-E38FE6F1BFFD}"/>
          </ac:picMkLst>
        </pc:picChg>
        <pc:picChg chg="mod">
          <ac:chgData name="Erwah Al Bataineh" userId="b400c1d921f65d71" providerId="LiveId" clId="{D1D3B3ED-B4CB-45C3-87BF-DF06208BBA63}" dt="2022-12-12T18:57:57.181" v="124" actId="1076"/>
          <ac:picMkLst>
            <pc:docMk/>
            <pc:sldMk cId="273144789" sldId="322"/>
            <ac:picMk id="28" creationId="{94AA8BF0-41B3-4E55-A4DA-817849BF7469}"/>
          </ac:picMkLst>
        </pc:picChg>
        <pc:picChg chg="del">
          <ac:chgData name="Erwah Al Bataineh" userId="b400c1d921f65d71" providerId="LiveId" clId="{D1D3B3ED-B4CB-45C3-87BF-DF06208BBA63}" dt="2022-12-12T18:56:11.880" v="105" actId="478"/>
          <ac:picMkLst>
            <pc:docMk/>
            <pc:sldMk cId="273144789" sldId="322"/>
            <ac:picMk id="33" creationId="{5DAB4478-F841-4856-A16C-0D5C9AD17CB6}"/>
          </ac:picMkLst>
        </pc:picChg>
        <pc:picChg chg="del">
          <ac:chgData name="Erwah Al Bataineh" userId="b400c1d921f65d71" providerId="LiveId" clId="{D1D3B3ED-B4CB-45C3-87BF-DF06208BBA63}" dt="2022-12-12T18:55:40.279" v="93" actId="478"/>
          <ac:picMkLst>
            <pc:docMk/>
            <pc:sldMk cId="273144789" sldId="322"/>
            <ac:picMk id="39" creationId="{25C57E91-48DB-4FB8-99D2-05333A7419D3}"/>
          </ac:picMkLst>
        </pc:picChg>
        <pc:picChg chg="mod">
          <ac:chgData name="Erwah Al Bataineh" userId="b400c1d921f65d71" providerId="LiveId" clId="{D1D3B3ED-B4CB-45C3-87BF-DF06208BBA63}" dt="2022-12-12T19:06:22.111" v="304" actId="1076"/>
          <ac:picMkLst>
            <pc:docMk/>
            <pc:sldMk cId="273144789" sldId="322"/>
            <ac:picMk id="54" creationId="{074DAC84-1E9B-4B9C-9B9B-8BE5E152C495}"/>
          </ac:picMkLst>
        </pc:picChg>
      </pc:sldChg>
      <pc:sldChg chg="addSp delSp modSp mod">
        <pc:chgData name="Erwah Al Bataineh" userId="b400c1d921f65d71" providerId="LiveId" clId="{D1D3B3ED-B4CB-45C3-87BF-DF06208BBA63}" dt="2022-12-12T19:11:12.947" v="386" actId="207"/>
        <pc:sldMkLst>
          <pc:docMk/>
          <pc:sldMk cId="0" sldId="340"/>
        </pc:sldMkLst>
        <pc:spChg chg="add mod">
          <ac:chgData name="Erwah Al Bataineh" userId="b400c1d921f65d71" providerId="LiveId" clId="{D1D3B3ED-B4CB-45C3-87BF-DF06208BBA63}" dt="2022-12-12T19:11:12.947" v="386" actId="207"/>
          <ac:spMkLst>
            <pc:docMk/>
            <pc:sldMk cId="0" sldId="340"/>
            <ac:spMk id="2" creationId="{8D9A3B78-D941-3767-17D0-0ACDED6FD002}"/>
          </ac:spMkLst>
        </pc:spChg>
        <pc:spChg chg="del">
          <ac:chgData name="Erwah Al Bataineh" userId="b400c1d921f65d71" providerId="LiveId" clId="{D1D3B3ED-B4CB-45C3-87BF-DF06208BBA63}" dt="2022-12-12T18:50:27.768" v="56" actId="478"/>
          <ac:spMkLst>
            <pc:docMk/>
            <pc:sldMk cId="0" sldId="340"/>
            <ac:spMk id="7" creationId="{4D577900-E26E-C1CB-3977-920F2114A124}"/>
          </ac:spMkLst>
        </pc:spChg>
        <pc:picChg chg="add mod">
          <ac:chgData name="Erwah Al Bataineh" userId="b400c1d921f65d71" providerId="LiveId" clId="{D1D3B3ED-B4CB-45C3-87BF-DF06208BBA63}" dt="2022-12-12T18:51:40.230" v="72" actId="14100"/>
          <ac:picMkLst>
            <pc:docMk/>
            <pc:sldMk cId="0" sldId="340"/>
            <ac:picMk id="4" creationId="{34FD0F82-ACF8-61C5-2D27-DFD807A5CEFC}"/>
          </ac:picMkLst>
        </pc:picChg>
        <pc:picChg chg="del">
          <ac:chgData name="Erwah Al Bataineh" userId="b400c1d921f65d71" providerId="LiveId" clId="{D1D3B3ED-B4CB-45C3-87BF-DF06208BBA63}" dt="2022-12-12T18:50:56.796" v="62" actId="478"/>
          <ac:picMkLst>
            <pc:docMk/>
            <pc:sldMk cId="0" sldId="340"/>
            <ac:picMk id="2050" creationId="{AC25396C-67AE-0570-6B0B-8F2ECCE32E51}"/>
          </ac:picMkLst>
        </pc:picChg>
      </pc:sldChg>
    </pc:docChg>
  </pc:docChgLst>
  <pc:docChgLst>
    <pc:chgData name="erwah.albataineh@outlook.com" userId="b400c1d921f65d71" providerId="LiveId" clId="{A99AA794-A0FE-4ECA-A683-74B3D5C2CF8B}"/>
    <pc:docChg chg="delSld">
      <pc:chgData name="erwah.albataineh@outlook.com" userId="b400c1d921f65d71" providerId="LiveId" clId="{A99AA794-A0FE-4ECA-A683-74B3D5C2CF8B}" dt="2022-05-16T07:18:28.569" v="0" actId="2696"/>
      <pc:docMkLst>
        <pc:docMk/>
      </pc:docMkLst>
      <pc:sldChg chg="del">
        <pc:chgData name="erwah.albataineh@outlook.com" userId="b400c1d921f65d71" providerId="LiveId" clId="{A99AA794-A0FE-4ECA-A683-74B3D5C2CF8B}" dt="2022-05-16T07:18:28.569" v="0" actId="2696"/>
        <pc:sldMkLst>
          <pc:docMk/>
          <pc:sldMk cId="1338948037" sldId="3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5C5C0-3CD9-467B-895A-D226BA265657}" type="datetimeFigureOut">
              <a:rPr lang="en-AE" smtClean="0"/>
              <a:t>12/12/2022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2C9B0-B769-4C48-A733-D914AF760A3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1581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8EEAA1-6D31-437E-B51D-E72B8F5576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638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B1346-E098-4CA6-95CB-9F102EF68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AF431-5B5E-4FD1-B731-6F693C18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4C7E8-D1D1-4A6B-B5C5-86DFF594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F98D8-900F-42FB-B313-DAE61A82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6AD5A-7029-4653-9B61-3F679793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87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0B6F-BCF6-4FF0-AAE2-89C6EF504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8854-5852-452A-B87C-C1B6F0DBA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15C56-B31D-40D5-A1CD-5B617F93F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4A242-671F-490C-BF90-83CD71F9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13E5A-A86B-4024-A8C4-58C4F3745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34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5E47-9B6D-479B-A576-801595AB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CE347-A7AB-4E94-AA4F-289542DF2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C21D6-7489-4B1D-8630-E436F6B0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AE845-A937-4A22-A12C-97871A1D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3DC80-07E8-4D0E-96CD-3DFDDA316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3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EAC9-4EC5-4F6E-B77A-54D143B39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54DFA-B0B0-48D1-95AA-93D198537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35787-D24F-42D7-AF71-56BFB356B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A1AD3-3014-4F08-A0D6-508D2009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EC47F-D441-4D70-82BB-C4B66EDC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23665-D985-4CDD-9C9D-06952709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B0D3-3C41-4F16-A16A-CCA37A92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D7AA0-F0A4-4140-A350-492F78527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8C729-FAFE-45CD-838B-33D5602B6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9095B-EBE1-4FA6-9735-5E14E03324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B4D8C-A887-40B0-8321-D40CC686E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9CB90-D15D-4447-A9AA-51C94399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D2270-A705-4B28-9E73-CA846229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ED9B83-392F-483A-B1C6-E05C2FF7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03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10B3B-EC83-49CE-9F9A-5575FCFA7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A5C2E-7D95-469A-8E0A-5B9126764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A2545-0973-4005-ACE0-BDDCE9EC4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4721B-F0B1-4116-B722-63C1EB17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4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BE8D7-5E09-421C-9F96-7A3352BD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F2E3C-4E7B-4E51-B1B0-0112B85CA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1152D-F892-4CB3-AFB0-2FF1BA0B3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A8C3-CE08-4BE9-8ABC-A958AEBB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8D83-2404-4AEA-9CE9-0FBE6FEF7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FAE4D-36A7-459A-9543-87D61F7E7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FF363-4068-4ECA-99BC-65F4A9CE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4C4D3-2A36-4A98-A0E3-B6F337A6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88A98-F99D-4D86-9037-21FF4A73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31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4BE17-70BA-4880-8EB6-45CC3253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AB6B5-0BF2-4798-AB5A-54D320675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EBF8F-C6DC-497E-81B3-879F2C014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36B41-13E9-4BFA-AAA5-2D67C9A3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81441-4CAD-4F39-94B4-7E7BDE886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A63ED-D064-4E89-AAA1-ABC9E310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0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B347-9007-430A-963E-95DE1A3C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1CA05-F7B1-4EAA-9847-062BED5BA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3DEB1-4080-49D8-A379-99FAAEB99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BEE85-1D78-46B5-91D0-DBBF9BB8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1D9FF-FB50-403E-91AF-74419A3A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09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E2100-BD48-4BFC-B923-0797B4B15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6DE2D-EC25-41FF-84B0-F99BF37AC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581C6-5074-44C0-A356-293FFE0A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5420B-DD0D-43AE-A25C-B36C0840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4105C-9716-4BDD-8A29-DDF18FAF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58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2" y="262787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10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150000"/>
              </a:lnSpc>
              <a:spcAft>
                <a:spcPts val="9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902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32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3050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7709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4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40" y="1507068"/>
            <a:ext cx="7143905" cy="4669896"/>
          </a:xfrm>
        </p:spPr>
        <p:txBody>
          <a:bodyPr anchor="ctr"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248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4" y="26278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2" y="262788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345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5334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3085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20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A07FDC-B368-497E-88EF-407EECB1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AE8C2-9461-4128-9DD4-597DD08DA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6D90A-BFE9-4F3A-805E-6B592C877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D8330-933B-412B-B534-0B36C8B36382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A9E7F-AD97-425D-943C-8A1AD4C1E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7C687-4E04-419C-A3D9-328225ED4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7AFC9-7C08-4277-A5EA-0E07B5DEE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5" y="448632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56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lang="en-US" sz="21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hyperlink" Target="https://www.google.jo/url?sa=i&amp;url=https://www.fishersci.se/shop/products/nutrient-broth-bottled-1/12776929&amp;psig=AOvVaw0qd8oRM8-wD-lRlKRfSAnl&amp;ust=1587494273061000&amp;source=images&amp;cd=vfe&amp;ved=0CAIQjRxqFwoTCLiOw5bT9-gCFQAAAAAdAAAAABA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hyperlink" Target="https://www.google.jo/url?sa=i&amp;url=https://www.fishersci.se/shop/products/nutrient-broth-bottled-1/12776929&amp;psig=AOvVaw0qd8oRM8-wD-lRlKRfSAnl&amp;ust=1587494273061000&amp;source=images&amp;cd=vfe&amp;ved=0CAIQjRxqFwoTCLiOw5bT9-gCFQAAAAAdAAAAABAD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5D83E1-8893-C38B-1E3B-19ACFB05AF60}"/>
              </a:ext>
            </a:extLst>
          </p:cNvPr>
          <p:cNvSpPr/>
          <p:nvPr/>
        </p:nvSpPr>
        <p:spPr>
          <a:xfrm>
            <a:off x="3431705" y="857674"/>
            <a:ext cx="6947127" cy="653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Segoe UI"/>
              </a:rPr>
              <a:t>BT233 – General Microbiology Laboratory</a:t>
            </a:r>
            <a:endParaRPr lang="en-AE" sz="2800" b="1" dirty="0">
              <a:solidFill>
                <a:srgbClr val="FF0000"/>
              </a:solidFill>
              <a:highlight>
                <a:srgbClr val="FFFF00"/>
              </a:highlight>
              <a:latin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A3B78-D941-3767-17D0-0ACDED6FD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0701" y="2103120"/>
            <a:ext cx="4723791" cy="2937510"/>
          </a:xfrm>
        </p:spPr>
        <p:txBody>
          <a:bodyPr anchor="b">
            <a:no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Media</a:t>
            </a:r>
            <a:br>
              <a:rPr lang="en-US" sz="4000" b="1" dirty="0">
                <a:solidFill>
                  <a:schemeClr val="tx2"/>
                </a:solidFill>
              </a:rPr>
            </a:br>
            <a:r>
              <a:rPr lang="ar-JO" sz="4000" b="1" dirty="0">
                <a:solidFill>
                  <a:schemeClr val="tx2"/>
                </a:solidFill>
              </a:rPr>
              <a:t> </a:t>
            </a:r>
            <a:r>
              <a:rPr lang="en-US" sz="4000" b="1" dirty="0">
                <a:solidFill>
                  <a:srgbClr val="002060"/>
                </a:solidFill>
              </a:rPr>
              <a:t>as a part of the identification approach</a:t>
            </a:r>
          </a:p>
        </p:txBody>
      </p:sp>
      <p:pic>
        <p:nvPicPr>
          <p:cNvPr id="4" name="Picture 3" descr="A close up of a logo">
            <a:extLst>
              <a:ext uri="{FF2B5EF4-FFF2-40B4-BE49-F238E27FC236}">
                <a16:creationId xmlns:a16="http://schemas.microsoft.com/office/drawing/2014/main" id="{34FD0F82-ACF8-61C5-2D27-DFD807A5CE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6" r="14320"/>
          <a:stretch/>
        </p:blipFill>
        <p:spPr>
          <a:xfrm>
            <a:off x="300466" y="1940507"/>
            <a:ext cx="4088654" cy="4654602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10A56-DF28-4FAB-BD5E-D6B8DA345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148"/>
            <a:ext cx="10515600" cy="5275815"/>
          </a:xfrm>
        </p:spPr>
        <p:txBody>
          <a:bodyPr>
            <a:normAutofit/>
          </a:bodyPr>
          <a:lstStyle/>
          <a:p>
            <a:r>
              <a:rPr lang="en-US" sz="2400" dirty="0"/>
              <a:t>Bacteria –as the other living organisms- need energy, vitamins, minerals, proteins, co-factors, and growth factors in order to grow</a:t>
            </a:r>
          </a:p>
          <a:p>
            <a:endParaRPr lang="en-US" sz="2400" dirty="0"/>
          </a:p>
          <a:p>
            <a:r>
              <a:rPr lang="en-US" sz="2400" dirty="0"/>
              <a:t>All these substances </a:t>
            </a:r>
            <a:r>
              <a:rPr lang="en-US" sz="2400"/>
              <a:t>can be provided </a:t>
            </a:r>
            <a:r>
              <a:rPr lang="en-US" sz="2400" dirty="0"/>
              <a:t>to bacteria through </a:t>
            </a:r>
            <a:r>
              <a:rPr lang="en-US" sz="2400" b="1" dirty="0">
                <a:solidFill>
                  <a:srgbClr val="FF0000"/>
                </a:solidFill>
              </a:rPr>
              <a:t>media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6EAA23-70FD-41C3-A9AE-BBFE8C572D0B}"/>
              </a:ext>
            </a:extLst>
          </p:cNvPr>
          <p:cNvSpPr/>
          <p:nvPr/>
        </p:nvSpPr>
        <p:spPr>
          <a:xfrm>
            <a:off x="1524000" y="3101009"/>
            <a:ext cx="7779025" cy="272994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FF0000"/>
                </a:solidFill>
              </a:rPr>
              <a:t>Media</a:t>
            </a:r>
            <a:r>
              <a:rPr lang="en-US" sz="2400" dirty="0">
                <a:solidFill>
                  <a:schemeClr val="tx1"/>
                </a:solidFill>
              </a:rPr>
              <a:t>: the source of energy, vitamins, minerals, proteins, co-factors, water, and growth factors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“It is used to cultivate bacteria by supporting their growth” </a:t>
            </a:r>
          </a:p>
        </p:txBody>
      </p:sp>
    </p:spTree>
    <p:extLst>
      <p:ext uri="{BB962C8B-B14F-4D97-AF65-F5344CB8AC3E}">
        <p14:creationId xmlns:p14="http://schemas.microsoft.com/office/powerpoint/2010/main" val="1958544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91184-9CE8-44D8-AD0C-0E8131CE2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9113"/>
            <a:ext cx="10515600" cy="54878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en-US" b="1" dirty="0"/>
              <a:t>All types of media have main characteristics, these are: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1. Must be </a:t>
            </a:r>
            <a:r>
              <a:rPr lang="en-US" b="1" dirty="0">
                <a:solidFill>
                  <a:srgbClr val="FF0000"/>
                </a:solidFill>
              </a:rPr>
              <a:t>sterile</a:t>
            </a:r>
            <a:r>
              <a:rPr lang="en-US" i="1" dirty="0"/>
              <a:t> </a:t>
            </a:r>
            <a:r>
              <a:rPr lang="en-US" dirty="0"/>
              <a:t>prior the inoculation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2. Must provide bacteria with </a:t>
            </a:r>
            <a:r>
              <a:rPr lang="en-US" b="1" dirty="0">
                <a:solidFill>
                  <a:srgbClr val="FF0000"/>
                </a:solidFill>
              </a:rPr>
              <a:t>nutrients</a:t>
            </a:r>
            <a:r>
              <a:rPr lang="en-US" i="1" dirty="0"/>
              <a:t> </a:t>
            </a:r>
            <a:r>
              <a:rPr lang="en-US" dirty="0"/>
              <a:t>in the form of a carbon source, vitamins, growth factors, proteins, minerals, and water</a:t>
            </a:r>
          </a:p>
        </p:txBody>
      </p:sp>
    </p:spTree>
    <p:extLst>
      <p:ext uri="{BB962C8B-B14F-4D97-AF65-F5344CB8AC3E}">
        <p14:creationId xmlns:p14="http://schemas.microsoft.com/office/powerpoint/2010/main" val="289249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D4F71-6BE8-4F25-B871-2107C56CB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704" y="583096"/>
            <a:ext cx="10200861" cy="6016487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Media can be classified according to </a:t>
            </a:r>
            <a:r>
              <a:rPr lang="en-US" sz="2400" b="1" dirty="0"/>
              <a:t>the percentage of agar (solidifying agent) </a:t>
            </a:r>
            <a:r>
              <a:rPr lang="en-US" sz="2400" dirty="0"/>
              <a:t>into different </a:t>
            </a:r>
            <a:r>
              <a:rPr lang="en-US" sz="2400" b="1" dirty="0">
                <a:solidFill>
                  <a:srgbClr val="FF0000"/>
                </a:solidFill>
              </a:rPr>
              <a:t>status</a:t>
            </a:r>
            <a:r>
              <a:rPr lang="en-US" sz="2400" dirty="0"/>
              <a:t>: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Solid media: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   - </a:t>
            </a:r>
            <a:r>
              <a:rPr lang="en-US" sz="2400" dirty="0"/>
              <a:t>contains </a:t>
            </a:r>
            <a:r>
              <a:rPr lang="en-US" sz="2400" b="1" dirty="0"/>
              <a:t>≥ 1%</a:t>
            </a:r>
            <a:r>
              <a:rPr lang="en-US" sz="2400" dirty="0"/>
              <a:t> agar</a:t>
            </a:r>
          </a:p>
          <a:p>
            <a:pPr marL="0" indent="0">
              <a:buNone/>
            </a:pPr>
            <a:r>
              <a:rPr lang="en-US" sz="2400" dirty="0"/>
              <a:t>          - e.g.: Nutrient agar, MacConkey, Bismuth media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>
                <a:solidFill>
                  <a:srgbClr val="FF0000"/>
                </a:solidFill>
              </a:rPr>
              <a:t>Semisolid media: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   </a:t>
            </a:r>
            <a:r>
              <a:rPr lang="en-US" sz="2400" dirty="0"/>
              <a:t>- contains </a:t>
            </a:r>
            <a:r>
              <a:rPr lang="en-US" sz="2400" b="1" dirty="0"/>
              <a:t>≤ 1%</a:t>
            </a:r>
            <a:r>
              <a:rPr lang="en-US" sz="2400" dirty="0"/>
              <a:t> agar</a:t>
            </a:r>
          </a:p>
          <a:p>
            <a:pPr marL="0" indent="0">
              <a:buNone/>
            </a:pPr>
            <a:r>
              <a:rPr lang="en-US" sz="2400" dirty="0"/>
              <a:t>          - e.g.: sulfide indole motility (SIM)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>
                <a:solidFill>
                  <a:srgbClr val="FF0000"/>
                </a:solidFill>
              </a:rPr>
              <a:t>Liquid media (Broth):</a:t>
            </a:r>
          </a:p>
          <a:p>
            <a:pPr marL="0" indent="0">
              <a:buNone/>
            </a:pPr>
            <a:r>
              <a:rPr lang="en-US" sz="2400" b="1" dirty="0"/>
              <a:t>         - </a:t>
            </a:r>
            <a:r>
              <a:rPr lang="en-US" sz="2400" dirty="0"/>
              <a:t>contains </a:t>
            </a:r>
            <a:r>
              <a:rPr lang="en-US" sz="2400" b="1" dirty="0"/>
              <a:t>No</a:t>
            </a:r>
            <a:r>
              <a:rPr lang="en-US" sz="2400" dirty="0"/>
              <a:t> agar</a:t>
            </a:r>
          </a:p>
          <a:p>
            <a:pPr marL="0" indent="0">
              <a:buNone/>
            </a:pPr>
            <a:r>
              <a:rPr lang="en-US" sz="2400" dirty="0"/>
              <a:t>         - e.g.: Nutrient broth, Lactose broth, thioglycolate media</a:t>
            </a:r>
          </a:p>
        </p:txBody>
      </p:sp>
      <p:pic>
        <p:nvPicPr>
          <p:cNvPr id="4" name="Picture 3" descr="A picture containing cup, table, glass, indoor&#10;&#10;Description automatically generated">
            <a:extLst>
              <a:ext uri="{FF2B5EF4-FFF2-40B4-BE49-F238E27FC236}">
                <a16:creationId xmlns:a16="http://schemas.microsoft.com/office/drawing/2014/main" id="{07786ED0-C52F-4452-BF0F-5C2C0FDEC1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" r="15692" b="11622"/>
          <a:stretch/>
        </p:blipFill>
        <p:spPr>
          <a:xfrm>
            <a:off x="8862646" y="1189144"/>
            <a:ext cx="2712211" cy="1793206"/>
          </a:xfrm>
          <a:prstGeom prst="rect">
            <a:avLst/>
          </a:prstGeom>
        </p:spPr>
      </p:pic>
      <p:pic>
        <p:nvPicPr>
          <p:cNvPr id="5" name="Picture 4" descr="A picture containing bottle&#10;&#10;Description automatically generated">
            <a:extLst>
              <a:ext uri="{FF2B5EF4-FFF2-40B4-BE49-F238E27FC236}">
                <a16:creationId xmlns:a16="http://schemas.microsoft.com/office/drawing/2014/main" id="{A80A5689-4C7A-4EF9-8D69-A641709AFE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06" t="21164" r="17378" b="1880"/>
          <a:stretch/>
        </p:blipFill>
        <p:spPr>
          <a:xfrm>
            <a:off x="7741045" y="3165655"/>
            <a:ext cx="1051263" cy="1969477"/>
          </a:xfrm>
          <a:prstGeom prst="rect">
            <a:avLst/>
          </a:prstGeom>
        </p:spPr>
      </p:pic>
      <p:pic>
        <p:nvPicPr>
          <p:cNvPr id="6" name="Picture 4" descr="Thermo Scientific™ Nutrient Broth (Bottled) Products | Fisher ...">
            <a:hlinkClick r:id="rId4"/>
            <a:extLst>
              <a:ext uri="{FF2B5EF4-FFF2-40B4-BE49-F238E27FC236}">
                <a16:creationId xmlns:a16="http://schemas.microsoft.com/office/drawing/2014/main" id="{F27700EC-717D-45B0-A935-741473E8A2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45" t="48194" r="20085" b="8729"/>
          <a:stretch/>
        </p:blipFill>
        <p:spPr bwMode="auto">
          <a:xfrm>
            <a:off x="10276033" y="4558358"/>
            <a:ext cx="1051263" cy="224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09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51598-5D8F-44FD-B6AB-0AE143BF6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4911"/>
            <a:ext cx="10515600" cy="5572052"/>
          </a:xfrm>
        </p:spPr>
        <p:txBody>
          <a:bodyPr/>
          <a:lstStyle/>
          <a:p>
            <a:r>
              <a:rPr lang="en-US" dirty="0"/>
              <a:t>Media can be classified according to </a:t>
            </a:r>
            <a:r>
              <a:rPr lang="en-US" b="1" dirty="0"/>
              <a:t>shape </a:t>
            </a:r>
            <a:r>
              <a:rPr lang="en-US" dirty="0"/>
              <a:t>into different groups:</a:t>
            </a:r>
          </a:p>
          <a:p>
            <a:endParaRPr lang="en-US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EAF916-7227-434C-BDB8-4705F9E3B786}"/>
              </a:ext>
            </a:extLst>
          </p:cNvPr>
          <p:cNvSpPr/>
          <p:nvPr/>
        </p:nvSpPr>
        <p:spPr>
          <a:xfrm>
            <a:off x="1665697" y="1580067"/>
            <a:ext cx="8314006" cy="9378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Media takes the shape of the vessel that it is being poured into</a:t>
            </a:r>
          </a:p>
        </p:txBody>
      </p:sp>
      <p:pic>
        <p:nvPicPr>
          <p:cNvPr id="6" name="Picture 5" descr="A picture containing cup, table, glass, indoor&#10;&#10;Description automatically generated">
            <a:extLst>
              <a:ext uri="{FF2B5EF4-FFF2-40B4-BE49-F238E27FC236}">
                <a16:creationId xmlns:a16="http://schemas.microsoft.com/office/drawing/2014/main" id="{20312F04-A9F1-4497-BA7F-B37909D747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" r="15692" b="11622"/>
          <a:stretch/>
        </p:blipFill>
        <p:spPr>
          <a:xfrm>
            <a:off x="192666" y="2754175"/>
            <a:ext cx="2997846" cy="283484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021D90-A19D-435A-A3C7-752ED0854A0F}"/>
              </a:ext>
            </a:extLst>
          </p:cNvPr>
          <p:cNvSpPr/>
          <p:nvPr/>
        </p:nvSpPr>
        <p:spPr>
          <a:xfrm>
            <a:off x="409592" y="5863957"/>
            <a:ext cx="2174581" cy="626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Plate (solid)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FBEF6C-DD30-40BF-9332-CB4A06C86458}"/>
              </a:ext>
            </a:extLst>
          </p:cNvPr>
          <p:cNvSpPr/>
          <p:nvPr/>
        </p:nvSpPr>
        <p:spPr>
          <a:xfrm>
            <a:off x="3910657" y="5847109"/>
            <a:ext cx="1367362" cy="6640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Slant (solid)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CFC890-9E07-4E8D-AC8B-FD287CCC8F08}"/>
              </a:ext>
            </a:extLst>
          </p:cNvPr>
          <p:cNvSpPr/>
          <p:nvPr/>
        </p:nvSpPr>
        <p:spPr>
          <a:xfrm>
            <a:off x="6096000" y="5847109"/>
            <a:ext cx="1911575" cy="626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Stab (solid or semisolid)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96F47C-F565-4497-AB55-C4F5A7E81DBB}"/>
              </a:ext>
            </a:extLst>
          </p:cNvPr>
          <p:cNvSpPr/>
          <p:nvPr/>
        </p:nvSpPr>
        <p:spPr>
          <a:xfrm>
            <a:off x="9023915" y="5863957"/>
            <a:ext cx="1911575" cy="62601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Vial (liquid)</a:t>
            </a:r>
          </a:p>
        </p:txBody>
      </p:sp>
      <p:pic>
        <p:nvPicPr>
          <p:cNvPr id="12" name="Picture 11" descr="A picture containing bottle&#10;&#10;Description automatically generated">
            <a:extLst>
              <a:ext uri="{FF2B5EF4-FFF2-40B4-BE49-F238E27FC236}">
                <a16:creationId xmlns:a16="http://schemas.microsoft.com/office/drawing/2014/main" id="{77C77CD8-7453-4035-85DF-7D5D91F1BF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17" r="35795"/>
          <a:stretch/>
        </p:blipFill>
        <p:spPr>
          <a:xfrm>
            <a:off x="3964157" y="2692734"/>
            <a:ext cx="1367361" cy="2996402"/>
          </a:xfrm>
          <a:prstGeom prst="rect">
            <a:avLst/>
          </a:prstGeom>
        </p:spPr>
      </p:pic>
      <p:pic>
        <p:nvPicPr>
          <p:cNvPr id="16" name="Picture 15" descr="A picture containing bottle&#10;&#10;Description automatically generated">
            <a:extLst>
              <a:ext uri="{FF2B5EF4-FFF2-40B4-BE49-F238E27FC236}">
                <a16:creationId xmlns:a16="http://schemas.microsoft.com/office/drawing/2014/main" id="{172002CC-8A58-4772-8EE5-E436FBC4EB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06" r="17378" b="1880"/>
          <a:stretch/>
        </p:blipFill>
        <p:spPr>
          <a:xfrm>
            <a:off x="6337965" y="2659605"/>
            <a:ext cx="1176018" cy="2996402"/>
          </a:xfrm>
          <a:prstGeom prst="rect">
            <a:avLst/>
          </a:prstGeom>
        </p:spPr>
      </p:pic>
      <p:pic>
        <p:nvPicPr>
          <p:cNvPr id="1028" name="Picture 4" descr="Thermo Scientific™ Nutrient Broth (Bottled) Products | Fisher ...">
            <a:hlinkClick r:id="rId4"/>
            <a:extLst>
              <a:ext uri="{FF2B5EF4-FFF2-40B4-BE49-F238E27FC236}">
                <a16:creationId xmlns:a16="http://schemas.microsoft.com/office/drawing/2014/main" id="{5007672A-9098-4FC9-8F6B-61A7CCBE85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9" t="17044" r="17842" b="11770"/>
          <a:stretch/>
        </p:blipFill>
        <p:spPr bwMode="auto">
          <a:xfrm>
            <a:off x="8395675" y="2692734"/>
            <a:ext cx="3037504" cy="296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068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D1DC6-CA3E-4D6D-A4FC-BEFB0154D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133" y="541759"/>
            <a:ext cx="7982243" cy="5774482"/>
          </a:xfrm>
        </p:spPr>
        <p:txBody>
          <a:bodyPr/>
          <a:lstStyle/>
          <a:p>
            <a:r>
              <a:rPr lang="en-US" dirty="0"/>
              <a:t>Media can be classified according to </a:t>
            </a:r>
            <a:r>
              <a:rPr lang="en-US" b="1" dirty="0"/>
              <a:t>the composition </a:t>
            </a:r>
            <a:r>
              <a:rPr lang="en-US" dirty="0"/>
              <a:t>into different groups: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Simple (defined) media: </a:t>
            </a:r>
            <a:r>
              <a:rPr lang="en-US" dirty="0"/>
              <a:t>is </a:t>
            </a:r>
            <a:r>
              <a:rPr lang="en-US" b="1" dirty="0"/>
              <a:t>synthetic</a:t>
            </a:r>
            <a:r>
              <a:rPr lang="en-US" dirty="0"/>
              <a:t> and has defined components and ratio of components</a:t>
            </a:r>
          </a:p>
          <a:p>
            <a:endParaRPr lang="en-US" dirty="0"/>
          </a:p>
          <a:p>
            <a:r>
              <a:rPr lang="en-US" dirty="0"/>
              <a:t>This type media can be synthesized from its raw materials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Complex media:</a:t>
            </a:r>
            <a:r>
              <a:rPr lang="en-US" i="1" dirty="0"/>
              <a:t> </a:t>
            </a:r>
            <a:r>
              <a:rPr lang="en-US" dirty="0"/>
              <a:t>is </a:t>
            </a:r>
            <a:r>
              <a:rPr lang="en-US" b="1" dirty="0"/>
              <a:t>non-syntheti</a:t>
            </a:r>
            <a:r>
              <a:rPr lang="en-US" dirty="0"/>
              <a:t>c and undefined in either its components, ratio of components or both. </a:t>
            </a:r>
            <a:r>
              <a:rPr lang="en-US" i="1" dirty="0"/>
              <a:t>E.g.</a:t>
            </a:r>
            <a:r>
              <a:rPr lang="en-US" dirty="0"/>
              <a:t>: meat media, brain heart infusion agar</a:t>
            </a:r>
          </a:p>
          <a:p>
            <a:endParaRPr lang="en-US" dirty="0"/>
          </a:p>
        </p:txBody>
      </p:sp>
      <p:pic>
        <p:nvPicPr>
          <p:cNvPr id="4" name="Picture 3" descr="A picture containing box, plastic, open, sitting&#10;&#10;Description automatically generated">
            <a:extLst>
              <a:ext uri="{FF2B5EF4-FFF2-40B4-BE49-F238E27FC236}">
                <a16:creationId xmlns:a16="http://schemas.microsoft.com/office/drawing/2014/main" id="{D16FF82D-6FB4-4080-B920-EEC937F59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1" t="8270" r="27771" b="8485"/>
          <a:stretch/>
        </p:blipFill>
        <p:spPr>
          <a:xfrm>
            <a:off x="9156236" y="492369"/>
            <a:ext cx="2949332" cy="577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00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6A827-8838-411C-8B0E-1D77D27B9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5130"/>
            <a:ext cx="10515600" cy="5381833"/>
          </a:xfrm>
        </p:spPr>
        <p:txBody>
          <a:bodyPr/>
          <a:lstStyle/>
          <a:p>
            <a:r>
              <a:rPr lang="en-US"/>
              <a:t>The main components of Media X are:</a:t>
            </a:r>
          </a:p>
          <a:p>
            <a:pPr marL="0" indent="0">
              <a:buNone/>
            </a:pPr>
            <a:r>
              <a:rPr lang="en-US"/>
              <a:t>Lactose: 5.0 g</a:t>
            </a:r>
          </a:p>
          <a:p>
            <a:pPr marL="0" indent="0">
              <a:buNone/>
            </a:pPr>
            <a:r>
              <a:rPr lang="en-US"/>
              <a:t>Sucrose: 3.0 g</a:t>
            </a:r>
          </a:p>
          <a:p>
            <a:pPr marL="0" indent="0">
              <a:buNone/>
            </a:pPr>
            <a:r>
              <a:rPr lang="en-US"/>
              <a:t>Xylose: 2.5 g</a:t>
            </a:r>
          </a:p>
          <a:p>
            <a:pPr marL="0" indent="0">
              <a:buNone/>
            </a:pPr>
            <a:r>
              <a:rPr lang="en-US"/>
              <a:t>Peptone: 4.3 g</a:t>
            </a:r>
          </a:p>
          <a:p>
            <a:pPr marL="0" indent="0">
              <a:buNone/>
            </a:pPr>
            <a:r>
              <a:rPr lang="en-US"/>
              <a:t>Agar: 12 g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You can mix all of these components with 1L of water and synthesize the media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A6A3D3-D7F7-4A42-A506-1574C7F1FBFE}"/>
              </a:ext>
            </a:extLst>
          </p:cNvPr>
          <p:cNvSpPr/>
          <p:nvPr/>
        </p:nvSpPr>
        <p:spPr>
          <a:xfrm>
            <a:off x="5830957" y="1484243"/>
            <a:ext cx="4704521" cy="233238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FF0000"/>
                </a:solidFill>
              </a:rPr>
              <a:t>Simple (defined) media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14919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57A70-6A05-40F6-A02D-F86FED7BA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703" y="702365"/>
            <a:ext cx="10969487" cy="6056244"/>
          </a:xfrm>
        </p:spPr>
        <p:txBody>
          <a:bodyPr>
            <a:normAutofit/>
          </a:bodyPr>
          <a:lstStyle/>
          <a:p>
            <a:r>
              <a:rPr lang="en-US" sz="2400" dirty="0"/>
              <a:t>Media can be classified according to </a:t>
            </a:r>
            <a:r>
              <a:rPr lang="en-US" sz="2400" b="1" dirty="0"/>
              <a:t>the purpose </a:t>
            </a:r>
            <a:r>
              <a:rPr lang="en-US" sz="2400" dirty="0"/>
              <a:t>into different groups: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1. </a:t>
            </a:r>
            <a:r>
              <a:rPr lang="en-US" sz="2400" b="1" dirty="0">
                <a:solidFill>
                  <a:srgbClr val="FF0000"/>
                </a:solidFill>
              </a:rPr>
              <a:t>General media:</a:t>
            </a:r>
          </a:p>
          <a:p>
            <a:pPr>
              <a:buFontTx/>
              <a:buChar char="-"/>
            </a:pPr>
            <a:r>
              <a:rPr lang="en-US" sz="2400" dirty="0"/>
              <a:t>Purpose: allow the growth of all non-fastidious bacteria </a:t>
            </a:r>
          </a:p>
          <a:p>
            <a:pPr>
              <a:buFontTx/>
              <a:buChar char="-"/>
            </a:pPr>
            <a:r>
              <a:rPr lang="en-US" sz="2400" dirty="0"/>
              <a:t>e.g.: nutrient agar, nutrient broth, standard  plate count agar</a:t>
            </a:r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2. Enrichment media:</a:t>
            </a:r>
          </a:p>
          <a:p>
            <a:pPr marL="0" indent="0">
              <a:buNone/>
            </a:pPr>
            <a:r>
              <a:rPr lang="en-US" sz="2400" dirty="0"/>
              <a:t>- Purpose: allow the growth of all bacteria, including fastidious ones,  but only some types will grow more than the others</a:t>
            </a:r>
          </a:p>
          <a:p>
            <a:pPr>
              <a:buFontTx/>
              <a:buChar char="-"/>
            </a:pPr>
            <a:r>
              <a:rPr lang="en-US" sz="2400" dirty="0"/>
              <a:t>e.g.: Lactose broth allows </a:t>
            </a:r>
            <a:r>
              <a:rPr lang="en-US" sz="2400" i="1" dirty="0"/>
              <a:t>Salmonella typhi </a:t>
            </a:r>
            <a:r>
              <a:rPr lang="en-US" sz="2400" dirty="0"/>
              <a:t>to flourish </a:t>
            </a:r>
          </a:p>
          <a:p>
            <a:pPr>
              <a:buFontTx/>
              <a:buChar char="-"/>
            </a:pPr>
            <a:r>
              <a:rPr lang="en-US" sz="2400" i="1" dirty="0"/>
              <a:t>Salmonella typhi </a:t>
            </a:r>
            <a:r>
              <a:rPr lang="en-US" sz="2400" dirty="0"/>
              <a:t>is found on chicken skin, and if we inoculate the bacteria found on a chicken skin, </a:t>
            </a:r>
            <a:r>
              <a:rPr lang="en-US" sz="2400" i="1" dirty="0"/>
              <a:t>S. typhi </a:t>
            </a:r>
            <a:r>
              <a:rPr lang="en-US" sz="2400" dirty="0"/>
              <a:t>will grow the best</a:t>
            </a:r>
          </a:p>
        </p:txBody>
      </p:sp>
    </p:spTree>
    <p:extLst>
      <p:ext uri="{BB962C8B-B14F-4D97-AF65-F5344CB8AC3E}">
        <p14:creationId xmlns:p14="http://schemas.microsoft.com/office/powerpoint/2010/main" val="247905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12414-C1E2-4756-B135-7FF77EC23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574"/>
            <a:ext cx="10515600" cy="6228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3. Selective media:</a:t>
            </a:r>
          </a:p>
          <a:p>
            <a:pPr marL="0" indent="0">
              <a:buNone/>
            </a:pPr>
            <a:r>
              <a:rPr lang="en-US" sz="2400" dirty="0"/>
              <a:t>- Purpose: allow the growth of only one type of bacteria and suppress the growth of all others</a:t>
            </a:r>
          </a:p>
          <a:p>
            <a:pPr>
              <a:buFontTx/>
              <a:buChar char="-"/>
            </a:pPr>
            <a:r>
              <a:rPr lang="en-US" sz="2400" dirty="0"/>
              <a:t>e.g.: Pseudomonas F agar (selects for </a:t>
            </a:r>
            <a:r>
              <a:rPr lang="en-US" sz="2400" i="1" dirty="0"/>
              <a:t>Pseudomonas aeruginosa</a:t>
            </a:r>
            <a:r>
              <a:rPr lang="en-US" sz="2400" dirty="0"/>
              <a:t>), Chocolate agar (selects for </a:t>
            </a:r>
            <a:r>
              <a:rPr lang="en-US" sz="2400" i="1" dirty="0"/>
              <a:t>Neisseria</a:t>
            </a:r>
            <a:r>
              <a:rPr lang="en-US" sz="2400" dirty="0"/>
              <a:t>), Mannitol salt agar (selects for </a:t>
            </a:r>
            <a:r>
              <a:rPr lang="en-US" sz="2400" i="1" dirty="0"/>
              <a:t>Staphylococcus</a:t>
            </a:r>
            <a:r>
              <a:rPr lang="en-US" sz="2400" dirty="0"/>
              <a:t>), King B (selects for </a:t>
            </a:r>
            <a:r>
              <a:rPr lang="en-US" sz="2400" i="1" dirty="0"/>
              <a:t>Pseudomonas</a:t>
            </a:r>
            <a:r>
              <a:rPr lang="en-US" sz="2400" dirty="0"/>
              <a:t>)</a:t>
            </a:r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4.  Differential media:</a:t>
            </a:r>
          </a:p>
          <a:p>
            <a:pPr marL="0" indent="0">
              <a:buNone/>
            </a:pPr>
            <a:r>
              <a:rPr lang="en-US" sz="2400" dirty="0"/>
              <a:t>- Purpose: to distinguish which species possesses and which species lacks a particular biochemical/metabolic pathway ( differentiate types of bacteria according to the colors of the colonies or the color of the media)</a:t>
            </a:r>
          </a:p>
          <a:p>
            <a:pPr marL="0" indent="0">
              <a:buNone/>
            </a:pPr>
            <a:r>
              <a:rPr lang="en-US" sz="2400" dirty="0"/>
              <a:t>- e.g.: - </a:t>
            </a:r>
            <a:r>
              <a:rPr lang="en-US" sz="2400" dirty="0">
                <a:solidFill>
                  <a:srgbClr val="FF0000"/>
                </a:solidFill>
              </a:rPr>
              <a:t>General Differential media:</a:t>
            </a:r>
            <a:r>
              <a:rPr lang="en-US" sz="2400" dirty="0"/>
              <a:t> nutrient agar (differentiates between some </a:t>
            </a:r>
            <a:r>
              <a:rPr lang="en-US" sz="2400" i="1" dirty="0"/>
              <a:t>Pseudomonas </a:t>
            </a:r>
            <a:r>
              <a:rPr lang="en-US" sz="2400" dirty="0"/>
              <a:t>species and other types of bacteria)</a:t>
            </a:r>
          </a:p>
          <a:p>
            <a:pPr marL="0" indent="0">
              <a:buNone/>
            </a:pPr>
            <a:r>
              <a:rPr lang="en-US" sz="2400" dirty="0"/>
              <a:t>           - </a:t>
            </a:r>
            <a:r>
              <a:rPr lang="en-US" sz="2400" dirty="0">
                <a:solidFill>
                  <a:srgbClr val="FF0000"/>
                </a:solidFill>
              </a:rPr>
              <a:t>Selective differential media: </a:t>
            </a:r>
            <a:r>
              <a:rPr lang="en-US" sz="2400" dirty="0"/>
              <a:t>EMB, MacConkey</a:t>
            </a:r>
          </a:p>
          <a:p>
            <a:pPr marL="0" indent="0">
              <a:buNone/>
            </a:pPr>
            <a:r>
              <a:rPr lang="en-US" sz="2400" dirty="0"/>
              <a:t>           - </a:t>
            </a:r>
            <a:r>
              <a:rPr lang="en-US" sz="2400" dirty="0">
                <a:solidFill>
                  <a:srgbClr val="FF0000"/>
                </a:solidFill>
              </a:rPr>
              <a:t>Enriched differential media:</a:t>
            </a:r>
            <a:r>
              <a:rPr lang="en-US" sz="2400" dirty="0"/>
              <a:t> Blood agar</a:t>
            </a:r>
          </a:p>
        </p:txBody>
      </p:sp>
    </p:spTree>
    <p:extLst>
      <p:ext uri="{BB962C8B-B14F-4D97-AF65-F5344CB8AC3E}">
        <p14:creationId xmlns:p14="http://schemas.microsoft.com/office/powerpoint/2010/main" val="279664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B127F-519C-4D05-BC0D-28A691B6F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757" y="1126602"/>
            <a:ext cx="5006336" cy="419977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The types of media that will be discussed in this lab are: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AutoNum type="arabicPeriod"/>
            </a:pPr>
            <a:r>
              <a:rPr lang="en-US" sz="2400" dirty="0"/>
              <a:t>Nutrient agar</a:t>
            </a:r>
          </a:p>
          <a:p>
            <a:pPr marL="514350" indent="-514350">
              <a:buAutoNum type="arabicPeriod"/>
            </a:pPr>
            <a:r>
              <a:rPr lang="en-US" sz="2400" dirty="0"/>
              <a:t>Blood agar</a:t>
            </a:r>
          </a:p>
          <a:p>
            <a:pPr marL="0" indent="0">
              <a:buNone/>
            </a:pPr>
            <a:r>
              <a:rPr lang="en-US" sz="2400" dirty="0"/>
              <a:t>3.    MacConkey agar (MAC)</a:t>
            </a:r>
          </a:p>
          <a:p>
            <a:pPr marL="514350" indent="-514350">
              <a:buAutoNum type="arabicPeriod" startAt="4"/>
            </a:pPr>
            <a:r>
              <a:rPr lang="en-US" sz="2400" dirty="0"/>
              <a:t>Eosin Methylene Blue (EMB)</a:t>
            </a:r>
          </a:p>
          <a:p>
            <a:pPr marL="514350" indent="-514350">
              <a:buAutoNum type="arabicPeriod" startAt="4"/>
            </a:pPr>
            <a:r>
              <a:rPr lang="en-US" sz="2400" dirty="0"/>
              <a:t>Xylose Lysine Deoxycholate (XLD)</a:t>
            </a:r>
          </a:p>
          <a:p>
            <a:pPr marL="514350" indent="-514350">
              <a:buAutoNum type="arabicPeriod" startAt="4"/>
            </a:pPr>
            <a:r>
              <a:rPr lang="en-US" sz="2400" dirty="0"/>
              <a:t>Mannitol Salt Agar MSA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19218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FD9E5CBA-1ED7-4B69-8362-E66666AC99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6" r="14320"/>
          <a:stretch/>
        </p:blipFill>
        <p:spPr>
          <a:xfrm>
            <a:off x="6167846" y="10"/>
            <a:ext cx="602415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70374" y="0"/>
                </a:moveTo>
                <a:lnTo>
                  <a:pt x="6024154" y="0"/>
                </a:lnTo>
                <a:lnTo>
                  <a:pt x="6024154" y="6858000"/>
                </a:lnTo>
                <a:lnTo>
                  <a:pt x="3587167" y="6858000"/>
                </a:lnTo>
                <a:lnTo>
                  <a:pt x="3474220" y="6800152"/>
                </a:lnTo>
                <a:cubicBezTo>
                  <a:pt x="1404818" y="5675986"/>
                  <a:pt x="0" y="3483472"/>
                  <a:pt x="0" y="962844"/>
                </a:cubicBezTo>
                <a:cubicBezTo>
                  <a:pt x="0" y="733696"/>
                  <a:pt x="11610" y="507260"/>
                  <a:pt x="34274" y="28409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4892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8F33E-DC0B-457F-BC6F-41052100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23392"/>
            <a:ext cx="3363974" cy="1607060"/>
          </a:xfrm>
          <a:noFill/>
          <a:ln w="19050">
            <a:solidFill>
              <a:schemeClr val="tx1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b="1" dirty="0"/>
              <a:t>Nutrient agar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4BF305-0BDC-41D0-8A24-CE45245A9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703" y="2919737"/>
            <a:ext cx="3858194" cy="3415623"/>
          </a:xfrm>
        </p:spPr>
        <p:txBody>
          <a:bodyPr>
            <a:normAutofit/>
          </a:bodyPr>
          <a:lstStyle/>
          <a:p>
            <a:r>
              <a:rPr lang="en-US" sz="2400" b="1" dirty="0"/>
              <a:t>Type:</a:t>
            </a:r>
            <a:r>
              <a:rPr lang="en-US" sz="2400" dirty="0"/>
              <a:t> General differential media</a:t>
            </a:r>
          </a:p>
          <a:p>
            <a:endParaRPr lang="en-US" sz="2400" dirty="0"/>
          </a:p>
          <a:p>
            <a:r>
              <a:rPr lang="en-US" sz="2400" b="1" dirty="0"/>
              <a:t>Purpose: </a:t>
            </a:r>
            <a:r>
              <a:rPr lang="en-US" sz="2400" dirty="0"/>
              <a:t>to allow all non-fastidious bacteria to grow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Content Placeholder 4" descr="A picture containing indoor, white, food, small&#10;&#10;Description automatically generated">
            <a:extLst>
              <a:ext uri="{FF2B5EF4-FFF2-40B4-BE49-F238E27FC236}">
                <a16:creationId xmlns:a16="http://schemas.microsoft.com/office/drawing/2014/main" id="{9B117268-06D7-4879-A432-41514D0FC9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4" r="1" b="9133"/>
          <a:stretch/>
        </p:blipFill>
        <p:spPr>
          <a:xfrm>
            <a:off x="5297763" y="828026"/>
            <a:ext cx="6250769" cy="504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90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66E75-6D2A-48DC-8073-60A0825A4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63" y="1135649"/>
            <a:ext cx="7321062" cy="5434841"/>
          </a:xfrm>
        </p:spPr>
        <p:txBody>
          <a:bodyPr>
            <a:normAutofit/>
          </a:bodyPr>
          <a:lstStyle/>
          <a:p>
            <a:r>
              <a:rPr lang="en-US" sz="2400" dirty="0"/>
              <a:t>If bacterial colonies turn the media around it to green, then the bacteria is either </a:t>
            </a:r>
            <a:r>
              <a:rPr lang="en-US" sz="2400" b="1" i="1" dirty="0"/>
              <a:t>Pseudomonas </a:t>
            </a:r>
            <a:r>
              <a:rPr lang="en-US" sz="2400" b="1" i="1" dirty="0" err="1"/>
              <a:t>syringae</a:t>
            </a:r>
            <a:r>
              <a:rPr lang="en-US" sz="2400" b="1" i="1" dirty="0"/>
              <a:t> </a:t>
            </a:r>
            <a:r>
              <a:rPr lang="en-US" sz="2400" dirty="0"/>
              <a:t>or </a:t>
            </a:r>
            <a:r>
              <a:rPr lang="en-US" sz="2400" b="1" i="1" dirty="0"/>
              <a:t>Pseudomonas aeruginosa </a:t>
            </a:r>
            <a:r>
              <a:rPr lang="en-US" sz="2400" dirty="0"/>
              <a:t>and the pigment is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pyocyanin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To differentiate between them, we must consider the source:</a:t>
            </a:r>
          </a:p>
          <a:p>
            <a:pPr marL="0" indent="0">
              <a:buNone/>
            </a:pPr>
            <a:r>
              <a:rPr lang="en-US" sz="2400" dirty="0"/>
              <a:t>    - </a:t>
            </a:r>
            <a:r>
              <a:rPr lang="en-US" sz="2400" b="1" i="1" dirty="0"/>
              <a:t>P. aeruginosa</a:t>
            </a:r>
            <a:r>
              <a:rPr lang="en-US" sz="2400" i="1" dirty="0"/>
              <a:t>: </a:t>
            </a:r>
            <a:r>
              <a:rPr lang="en-US" sz="2400" dirty="0"/>
              <a:t> from clinical (human) samples  </a:t>
            </a:r>
          </a:p>
          <a:p>
            <a:pPr marL="0" indent="0">
              <a:buNone/>
            </a:pPr>
            <a:r>
              <a:rPr lang="en-US" sz="2400" dirty="0"/>
              <a:t>    - </a:t>
            </a:r>
            <a:r>
              <a:rPr lang="en-US" sz="2400" b="1" i="1" dirty="0"/>
              <a:t>P. </a:t>
            </a:r>
            <a:r>
              <a:rPr lang="en-US" sz="2400" b="1" i="1" dirty="0" err="1"/>
              <a:t>syringae</a:t>
            </a:r>
            <a:r>
              <a:rPr lang="en-US" sz="2400" i="1" dirty="0"/>
              <a:t>:</a:t>
            </a:r>
            <a:r>
              <a:rPr lang="en-US" sz="2400" dirty="0"/>
              <a:t> from plant samples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 descr="A picture containing food&#10;&#10;Description automatically generated">
            <a:extLst>
              <a:ext uri="{FF2B5EF4-FFF2-40B4-BE49-F238E27FC236}">
                <a16:creationId xmlns:a16="http://schemas.microsoft.com/office/drawing/2014/main" id="{8FA244A3-BCCA-4773-9899-135E3EF779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83" t="26952" r="21836" b="4598"/>
          <a:stretch/>
        </p:blipFill>
        <p:spPr>
          <a:xfrm>
            <a:off x="8018585" y="1308296"/>
            <a:ext cx="3740866" cy="364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83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1D9AA-6878-49FB-90C0-334B08B89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95395-A518-445F-AF95-C43185898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1309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If there is swarming (concentric circles) on the media, then the bacteria is a species of </a:t>
            </a:r>
            <a:r>
              <a:rPr lang="en-US" i="1" dirty="0"/>
              <a:t>Proteus.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If the bacteria is from a </a:t>
            </a:r>
            <a:r>
              <a:rPr lang="en-US" b="1" dirty="0"/>
              <a:t>clinical sample</a:t>
            </a:r>
            <a:r>
              <a:rPr lang="en-US" dirty="0"/>
              <a:t>, then it is </a:t>
            </a:r>
            <a:r>
              <a:rPr lang="en-US" i="1" dirty="0"/>
              <a:t>Proteus vulgaris.</a:t>
            </a:r>
            <a:endParaRPr lang="en-US" sz="1800" dirty="0"/>
          </a:p>
          <a:p>
            <a:endParaRPr lang="en-US" dirty="0"/>
          </a:p>
        </p:txBody>
      </p:sp>
      <p:pic>
        <p:nvPicPr>
          <p:cNvPr id="5" name="Picture 4" descr="A picture containing table, small, sitting, food&#10;&#10;Description automatically generated">
            <a:extLst>
              <a:ext uri="{FF2B5EF4-FFF2-40B4-BE49-F238E27FC236}">
                <a16:creationId xmlns:a16="http://schemas.microsoft.com/office/drawing/2014/main" id="{DC693EF3-63EE-4E51-B166-9576457284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" t="2254" r="43038" b="1451"/>
          <a:stretch/>
        </p:blipFill>
        <p:spPr>
          <a:xfrm>
            <a:off x="8145193" y="1027906"/>
            <a:ext cx="3854548" cy="389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23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7DEDD-08DC-4D7C-BCF9-9A4DE2B1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310305"/>
            <a:ext cx="3363974" cy="1308295"/>
          </a:xfr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Blood agar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D5F56C-E2A0-460A-B301-121D32AD00FE}"/>
              </a:ext>
            </a:extLst>
          </p:cNvPr>
          <p:cNvSpPr/>
          <p:nvPr/>
        </p:nvSpPr>
        <p:spPr>
          <a:xfrm>
            <a:off x="110227" y="2093640"/>
            <a:ext cx="4544069" cy="4600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Type: </a:t>
            </a:r>
            <a:r>
              <a:rPr lang="en-US" sz="2400" dirty="0"/>
              <a:t>Enriched differential media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Purpose: </a:t>
            </a:r>
            <a:r>
              <a:rPr lang="en-US" sz="2400" dirty="0"/>
              <a:t>to distinguish which species possesses and which species lacks a particular biochemical/metabolic pathway while also allowing fastidious bacteria to grow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(Differentiate the types of bacteria that have the ability to hemolyze blood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5" name="Content Placeholder 4" descr="A picture containing indoor, food, red, sitting&#10;&#10;Description automatically generated">
            <a:extLst>
              <a:ext uri="{FF2B5EF4-FFF2-40B4-BE49-F238E27FC236}">
                <a16:creationId xmlns:a16="http://schemas.microsoft.com/office/drawing/2014/main" id="{9E45F682-3E1B-4063-B131-2B0A0F923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0" t="5246" r="5493" b="8434"/>
          <a:stretch/>
        </p:blipFill>
        <p:spPr>
          <a:xfrm>
            <a:off x="5667375" y="643467"/>
            <a:ext cx="5511545" cy="54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86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68F45-2A8A-48A8-A3C1-CE3BB97FA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1634"/>
            <a:ext cx="10515600" cy="5554111"/>
          </a:xfrm>
        </p:spPr>
        <p:txBody>
          <a:bodyPr>
            <a:normAutofit/>
          </a:bodyPr>
          <a:lstStyle/>
          <a:p>
            <a:r>
              <a:rPr lang="en-US" dirty="0"/>
              <a:t>Blood agar consists of </a:t>
            </a:r>
            <a:r>
              <a:rPr lang="en-US" b="1" dirty="0"/>
              <a:t>nutrient agar and 7% blood</a:t>
            </a:r>
          </a:p>
          <a:p>
            <a:pPr marL="0" indent="0">
              <a:buNone/>
            </a:pPr>
            <a:r>
              <a:rPr lang="en-US" dirty="0"/>
              <a:t>       - If human pathogen, use human blood</a:t>
            </a:r>
          </a:p>
          <a:p>
            <a:pPr marL="0" indent="0">
              <a:buNone/>
            </a:pPr>
            <a:r>
              <a:rPr lang="en-US" dirty="0"/>
              <a:t>       - If animal pathogen, use sheep blood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blood agar is prepared by boiling nutrient agar then autoclaving it at 121°C and 15 psi for 15 minutes, then wait for the molten nutrient agar to cool to holding temperature (45°C) and add 7% blood</a:t>
            </a:r>
          </a:p>
          <a:p>
            <a:endParaRPr lang="en-US" dirty="0"/>
          </a:p>
          <a:p>
            <a:r>
              <a:rPr lang="en-US" dirty="0"/>
              <a:t>If we do not wait for the molten agar to cool and instead add the 7% blood at high temperatures, we will get </a:t>
            </a:r>
            <a:r>
              <a:rPr lang="en-US" b="1" dirty="0"/>
              <a:t>chocolate media </a:t>
            </a:r>
            <a:r>
              <a:rPr lang="en-US" dirty="0"/>
              <a:t>instead of blood agar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101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picture containing indoor, food, red, sitting&#10;&#10;Description automatically generated">
            <a:extLst>
              <a:ext uri="{FF2B5EF4-FFF2-40B4-BE49-F238E27FC236}">
                <a16:creationId xmlns:a16="http://schemas.microsoft.com/office/drawing/2014/main" id="{D7BCA500-B88F-4E0F-AE1F-1818E9C6D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0" t="5246" r="5493" b="8434"/>
          <a:stretch/>
        </p:blipFill>
        <p:spPr>
          <a:xfrm>
            <a:off x="731520" y="949287"/>
            <a:ext cx="4288187" cy="4209334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C7B248-B1DC-47AE-B2F8-AF671605D082}"/>
              </a:ext>
            </a:extLst>
          </p:cNvPr>
          <p:cNvSpPr/>
          <p:nvPr/>
        </p:nvSpPr>
        <p:spPr>
          <a:xfrm>
            <a:off x="759655" y="5486400"/>
            <a:ext cx="4121834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Blood media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6808A4-5538-4121-9B31-B69CC4D3F7E0}"/>
              </a:ext>
            </a:extLst>
          </p:cNvPr>
          <p:cNvSpPr/>
          <p:nvPr/>
        </p:nvSpPr>
        <p:spPr>
          <a:xfrm>
            <a:off x="6690003" y="5486400"/>
            <a:ext cx="4121834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Chocolate media</a:t>
            </a:r>
          </a:p>
        </p:txBody>
      </p:sp>
      <p:pic>
        <p:nvPicPr>
          <p:cNvPr id="8" name="Picture 7" descr="A close up of a bowl&#10;&#10;Description automatically generated">
            <a:extLst>
              <a:ext uri="{FF2B5EF4-FFF2-40B4-BE49-F238E27FC236}">
                <a16:creationId xmlns:a16="http://schemas.microsoft.com/office/drawing/2014/main" id="{048CD877-7E00-4DF9-902A-0AC5BB0AD7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4" t="6611" r="1976" b="10541"/>
          <a:stretch/>
        </p:blipFill>
        <p:spPr>
          <a:xfrm>
            <a:off x="6535864" y="949287"/>
            <a:ext cx="4430111" cy="420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87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34D6C-462C-4AD7-8689-7323EAD6F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504497"/>
            <a:ext cx="10880834" cy="6161346"/>
          </a:xfrm>
        </p:spPr>
        <p:txBody>
          <a:bodyPr>
            <a:normAutofit/>
          </a:bodyPr>
          <a:lstStyle/>
          <a:p>
            <a:r>
              <a:rPr lang="en-US" dirty="0"/>
              <a:t>If the bacteria causes the blood to disappear/turn yellowish, then </a:t>
            </a:r>
            <a:r>
              <a:rPr lang="en-US" b="1" i="1" dirty="0">
                <a:solidFill>
                  <a:srgbClr val="FF0000"/>
                </a:solidFill>
              </a:rPr>
              <a:t>β-hemolysis</a:t>
            </a:r>
            <a:r>
              <a:rPr lang="en-US" i="1" dirty="0"/>
              <a:t> </a:t>
            </a:r>
            <a:r>
              <a:rPr lang="en-US" dirty="0"/>
              <a:t>has occurred and the blood has been completely hemolyzed. </a:t>
            </a:r>
          </a:p>
          <a:p>
            <a:r>
              <a:rPr lang="en-US" dirty="0"/>
              <a:t>This means that the bacteria secretes the enzyme </a:t>
            </a:r>
            <a:r>
              <a:rPr lang="en-US" b="1" dirty="0"/>
              <a:t>hemolysin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i="1" dirty="0"/>
              <a:t>e.g.</a:t>
            </a:r>
            <a:r>
              <a:rPr lang="en-US" dirty="0"/>
              <a:t>: </a:t>
            </a:r>
            <a:r>
              <a:rPr lang="en-US" b="1" i="1" dirty="0"/>
              <a:t>Klebsiella</a:t>
            </a:r>
          </a:p>
          <a:p>
            <a:endParaRPr lang="en-US" dirty="0"/>
          </a:p>
          <a:p>
            <a:r>
              <a:rPr lang="en-US" dirty="0"/>
              <a:t> If the bacteria causes the blood to turn green, then </a:t>
            </a:r>
            <a:r>
              <a:rPr lang="en-US" b="1" i="1" dirty="0">
                <a:solidFill>
                  <a:srgbClr val="FF0000"/>
                </a:solidFill>
              </a:rPr>
              <a:t>α-hemolysis</a:t>
            </a:r>
            <a:r>
              <a:rPr lang="en-US" i="1" dirty="0"/>
              <a:t> </a:t>
            </a:r>
            <a:r>
              <a:rPr lang="en-US" dirty="0"/>
              <a:t>has occurred and the blood has been incompletely hemolyzed. </a:t>
            </a:r>
          </a:p>
          <a:p>
            <a:pPr marL="0" indent="0">
              <a:buNone/>
            </a:pPr>
            <a:r>
              <a:rPr lang="en-US" i="1" dirty="0"/>
              <a:t>   e.g.:</a:t>
            </a:r>
            <a:r>
              <a:rPr lang="en-US" dirty="0"/>
              <a:t> </a:t>
            </a:r>
            <a:r>
              <a:rPr lang="en-US" b="1" i="1" dirty="0"/>
              <a:t>E. coli</a:t>
            </a:r>
          </a:p>
          <a:p>
            <a:endParaRPr lang="en-US" dirty="0"/>
          </a:p>
          <a:p>
            <a:r>
              <a:rPr lang="en-US" dirty="0"/>
              <a:t>If the bacteria causes the blood to remain unchanged, then </a:t>
            </a:r>
            <a:r>
              <a:rPr lang="en-US" b="1" dirty="0">
                <a:solidFill>
                  <a:srgbClr val="FF0000"/>
                </a:solidFill>
              </a:rPr>
              <a:t>γ</a:t>
            </a:r>
            <a:r>
              <a:rPr lang="en-US" b="1" i="1" dirty="0">
                <a:solidFill>
                  <a:srgbClr val="FF0000"/>
                </a:solidFill>
              </a:rPr>
              <a:t>-hemolysis</a:t>
            </a:r>
            <a:r>
              <a:rPr lang="en-US" i="1" dirty="0"/>
              <a:t> </a:t>
            </a:r>
            <a:r>
              <a:rPr lang="en-US" dirty="0"/>
              <a:t>has occurred and the blood has not been hemolyzed at all</a:t>
            </a:r>
          </a:p>
          <a:p>
            <a:pPr marL="0" indent="0">
              <a:buNone/>
            </a:pPr>
            <a:r>
              <a:rPr lang="en-US" i="1" dirty="0"/>
              <a:t>   e.g.: </a:t>
            </a:r>
            <a:r>
              <a:rPr lang="en-US" b="1" i="1" dirty="0"/>
              <a:t>Staphylococcus epidermidis</a:t>
            </a:r>
          </a:p>
        </p:txBody>
      </p:sp>
    </p:spTree>
    <p:extLst>
      <p:ext uri="{BB962C8B-B14F-4D97-AF65-F5344CB8AC3E}">
        <p14:creationId xmlns:p14="http://schemas.microsoft.com/office/powerpoint/2010/main" val="1371161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567959E-4225-49AB-A318-02CD4ABBA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943742"/>
              </p:ext>
            </p:extLst>
          </p:nvPr>
        </p:nvGraphicFramePr>
        <p:xfrm>
          <a:off x="773724" y="492036"/>
          <a:ext cx="10142805" cy="267297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434671004"/>
                    </a:ext>
                  </a:extLst>
                </a:gridCol>
                <a:gridCol w="3530990">
                  <a:extLst>
                    <a:ext uri="{9D8B030D-6E8A-4147-A177-3AD203B41FA5}">
                      <a16:colId xmlns:a16="http://schemas.microsoft.com/office/drawing/2014/main" val="1948015280"/>
                    </a:ext>
                  </a:extLst>
                </a:gridCol>
                <a:gridCol w="2538446">
                  <a:extLst>
                    <a:ext uri="{9D8B030D-6E8A-4147-A177-3AD203B41FA5}">
                      <a16:colId xmlns:a16="http://schemas.microsoft.com/office/drawing/2014/main" val="2521687509"/>
                    </a:ext>
                  </a:extLst>
                </a:gridCol>
                <a:gridCol w="2061689">
                  <a:extLst>
                    <a:ext uri="{9D8B030D-6E8A-4147-A177-3AD203B41FA5}">
                      <a16:colId xmlns:a16="http://schemas.microsoft.com/office/drawing/2014/main" val="2359147075"/>
                    </a:ext>
                  </a:extLst>
                </a:gridCol>
              </a:tblGrid>
              <a:tr h="67502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Type of hemolysis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Changing in media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Blood hemolysis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759734"/>
                  </a:ext>
                </a:extLst>
              </a:tr>
              <a:tr h="71801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α-hemolysis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the blood to turn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incompletely hemolysis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E. coli </a:t>
                      </a:r>
                      <a:endParaRPr lang="en-US" b="1" i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85371"/>
                  </a:ext>
                </a:extLst>
              </a:tr>
              <a:tr h="60491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β-hemolysis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blood to disappear/turn yellowish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completely hemolysis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Klebsiella</a:t>
                      </a:r>
                      <a:endParaRPr lang="en-US" b="1" i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207583"/>
                  </a:ext>
                </a:extLst>
              </a:tr>
              <a:tr h="67502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γ-hemolysis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 hemolysis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/>
                        <a:t>Staphylococcus epidermidis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6943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B3FF19D-E705-48E8-A376-CC4593995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58" y="3301127"/>
            <a:ext cx="4816297" cy="355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85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plate, food, table, bowl&#10;&#10;Description automatically generated">
            <a:extLst>
              <a:ext uri="{FF2B5EF4-FFF2-40B4-BE49-F238E27FC236}">
                <a16:creationId xmlns:a16="http://schemas.microsoft.com/office/drawing/2014/main" id="{E9E88673-631A-4DD2-84F3-BB153FB35A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6" b="8016"/>
          <a:stretch/>
        </p:blipFill>
        <p:spPr>
          <a:xfrm>
            <a:off x="226566" y="548795"/>
            <a:ext cx="3915841" cy="41027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A25F20C-06D9-4EF2-AD43-112DFB4D0D4A}"/>
              </a:ext>
            </a:extLst>
          </p:cNvPr>
          <p:cNvSpPr/>
          <p:nvPr/>
        </p:nvSpPr>
        <p:spPr>
          <a:xfrm>
            <a:off x="22610" y="5110156"/>
            <a:ext cx="4121834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Klebsiella </a:t>
            </a:r>
            <a:r>
              <a:rPr lang="en-US" sz="2800" b="1" dirty="0">
                <a:solidFill>
                  <a:schemeClr val="tx1"/>
                </a:solidFill>
              </a:rPr>
              <a:t>on Blood media</a:t>
            </a:r>
          </a:p>
        </p:txBody>
      </p:sp>
      <p:pic>
        <p:nvPicPr>
          <p:cNvPr id="12" name="Picture 11" descr="A picture containing cricket, game, food, table&#10;&#10;Description automatically generated">
            <a:extLst>
              <a:ext uri="{FF2B5EF4-FFF2-40B4-BE49-F238E27FC236}">
                <a16:creationId xmlns:a16="http://schemas.microsoft.com/office/drawing/2014/main" id="{59075E59-2A81-4119-8DBF-76E85E5475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9" t="6164" r="5984" b="7716"/>
          <a:stretch/>
        </p:blipFill>
        <p:spPr>
          <a:xfrm>
            <a:off x="4487351" y="564133"/>
            <a:ext cx="3748313" cy="410271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8320CDE-8CC6-4378-BEC9-81B5A1D1FD8D}"/>
              </a:ext>
            </a:extLst>
          </p:cNvPr>
          <p:cNvSpPr/>
          <p:nvPr/>
        </p:nvSpPr>
        <p:spPr>
          <a:xfrm>
            <a:off x="4142407" y="5110156"/>
            <a:ext cx="3634931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E. coli  </a:t>
            </a:r>
            <a:r>
              <a:rPr lang="en-US" sz="2800" b="1" dirty="0">
                <a:solidFill>
                  <a:schemeClr val="tx1"/>
                </a:solidFill>
              </a:rPr>
              <a:t>on Blood media</a:t>
            </a:r>
          </a:p>
        </p:txBody>
      </p:sp>
      <p:pic>
        <p:nvPicPr>
          <p:cNvPr id="3" name="Picture 2" descr="A picture containing food&#10;&#10;Description automatically generated">
            <a:extLst>
              <a:ext uri="{FF2B5EF4-FFF2-40B4-BE49-F238E27FC236}">
                <a16:creationId xmlns:a16="http://schemas.microsoft.com/office/drawing/2014/main" id="{AD9CA070-B805-4926-ADEE-D401014D4A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" t="3957" r="3667" b="4760"/>
          <a:stretch/>
        </p:blipFill>
        <p:spPr>
          <a:xfrm>
            <a:off x="8580608" y="539005"/>
            <a:ext cx="3457114" cy="412784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730FD9-F3A1-435E-ACEE-E48A6E5E02A5}"/>
              </a:ext>
            </a:extLst>
          </p:cNvPr>
          <p:cNvSpPr/>
          <p:nvPr/>
        </p:nvSpPr>
        <p:spPr>
          <a:xfrm>
            <a:off x="8047558" y="5110155"/>
            <a:ext cx="4121831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S. epidermidis </a:t>
            </a:r>
            <a:r>
              <a:rPr lang="en-US" sz="2800" b="1" dirty="0">
                <a:solidFill>
                  <a:schemeClr val="tx1"/>
                </a:solidFill>
              </a:rPr>
              <a:t>on Blood media</a:t>
            </a:r>
          </a:p>
        </p:txBody>
      </p:sp>
    </p:spTree>
    <p:extLst>
      <p:ext uri="{BB962C8B-B14F-4D97-AF65-F5344CB8AC3E}">
        <p14:creationId xmlns:p14="http://schemas.microsoft.com/office/powerpoint/2010/main" val="1776223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3B95-9273-4627-9156-2218E7AA4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65" y="552228"/>
            <a:ext cx="638710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MacConkey agar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9729A-A526-4CC2-A8A4-F9E2EF74173A}"/>
              </a:ext>
            </a:extLst>
          </p:cNvPr>
          <p:cNvSpPr/>
          <p:nvPr/>
        </p:nvSpPr>
        <p:spPr>
          <a:xfrm>
            <a:off x="566578" y="1732633"/>
            <a:ext cx="6382657" cy="31816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Type:</a:t>
            </a:r>
            <a:r>
              <a:rPr lang="en-US" sz="2400" dirty="0"/>
              <a:t> Selective differential media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Purpose:</a:t>
            </a:r>
            <a:r>
              <a:rPr lang="en-US" sz="2400" dirty="0"/>
              <a:t> to selectively isolate G- bacteria and differentiate them based on </a:t>
            </a:r>
            <a:r>
              <a:rPr lang="en-US" sz="2400" b="1" dirty="0"/>
              <a:t>lactose fermentation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(Differentiate </a:t>
            </a:r>
            <a:r>
              <a:rPr lang="en-US" sz="2400" b="1" i="1" dirty="0"/>
              <a:t>Klebsiella</a:t>
            </a:r>
            <a:r>
              <a:rPr lang="en-US" sz="2400" b="1" dirty="0"/>
              <a:t> from other types of Gram –</a:t>
            </a:r>
            <a:r>
              <a:rPr lang="en-US" sz="2400" b="1" dirty="0" err="1"/>
              <a:t>ve</a:t>
            </a:r>
            <a:r>
              <a:rPr lang="en-US" sz="2400" b="1" dirty="0"/>
              <a:t> bacteria)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/>
              <a:t>Klebsiella </a:t>
            </a:r>
            <a:r>
              <a:rPr lang="en-US" sz="2400" b="1" dirty="0"/>
              <a:t>grow on MacConkey agar as: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    pink mucoid glistening colonies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445B8C-D724-4F73-AB77-3CCE4E822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20963"/>
            <a:ext cx="4657345" cy="6816065"/>
          </a:xfrm>
          <a:prstGeom prst="rect">
            <a:avLst/>
          </a:prstGeom>
          <a:solidFill>
            <a:schemeClr val="bg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picture containing toiletry, drawing&#10;&#10;Description automatically generated">
            <a:extLst>
              <a:ext uri="{FF2B5EF4-FFF2-40B4-BE49-F238E27FC236}">
                <a16:creationId xmlns:a16="http://schemas.microsoft.com/office/drawing/2014/main" id="{783149B1-A028-4258-B441-F297EE89A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6" t="3629" r="10342" b="19427"/>
          <a:stretch/>
        </p:blipFill>
        <p:spPr>
          <a:xfrm>
            <a:off x="8283895" y="216310"/>
            <a:ext cx="3341527" cy="303264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9905336-A7CD-4C75-9E77-C704674F4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73347" y="3429000"/>
            <a:ext cx="1597456" cy="0"/>
          </a:xfrm>
          <a:prstGeom prst="line">
            <a:avLst/>
          </a:prstGeom>
          <a:ln w="5080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table, cake, indoor, plate&#10;&#10;Description automatically generated">
            <a:extLst>
              <a:ext uri="{FF2B5EF4-FFF2-40B4-BE49-F238E27FC236}">
                <a16:creationId xmlns:a16="http://schemas.microsoft.com/office/drawing/2014/main" id="{1BEA1FAB-427F-4B60-B33C-55C47C9E1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895" y="3861816"/>
            <a:ext cx="3341527" cy="277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97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02750-651B-4DB1-BF92-B582048D9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26" y="964235"/>
            <a:ext cx="10515600" cy="6032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MacConkey agar </a:t>
            </a:r>
            <a:r>
              <a:rPr lang="en-US" dirty="0"/>
              <a:t>consists of the following components: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Bile salt: </a:t>
            </a:r>
            <a:r>
              <a:rPr lang="en-US" dirty="0"/>
              <a:t>inhibits G+ bacteria except Enterococcus and Staphylococcus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Crystal violet: </a:t>
            </a:r>
            <a:r>
              <a:rPr lang="en-US" dirty="0"/>
              <a:t>inhibits Enterococcus and Staphylococcus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Lactose:</a:t>
            </a:r>
            <a:r>
              <a:rPr lang="en-US" dirty="0"/>
              <a:t> carbon source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Peptone:</a:t>
            </a:r>
            <a:r>
              <a:rPr lang="en-US" dirty="0"/>
              <a:t> amino acid and protein source</a:t>
            </a:r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b="1" dirty="0"/>
              <a:t>Neutral red: </a:t>
            </a:r>
            <a:r>
              <a:rPr lang="en-US" dirty="0"/>
              <a:t>a pH indicator that is:</a:t>
            </a:r>
          </a:p>
          <a:p>
            <a:pPr marL="0" indent="0">
              <a:buNone/>
            </a:pPr>
            <a:r>
              <a:rPr lang="en-US" dirty="0"/>
              <a:t>                               </a:t>
            </a:r>
            <a:r>
              <a:rPr lang="en-US" b="1" dirty="0">
                <a:solidFill>
                  <a:srgbClr val="FF0066"/>
                </a:solidFill>
              </a:rPr>
              <a:t>pink</a:t>
            </a:r>
            <a:r>
              <a:rPr lang="en-US" dirty="0"/>
              <a:t> under </a:t>
            </a:r>
            <a:r>
              <a:rPr lang="en-US" b="1" dirty="0">
                <a:solidFill>
                  <a:srgbClr val="FF0066"/>
                </a:solidFill>
              </a:rPr>
              <a:t>acidic</a:t>
            </a:r>
            <a:r>
              <a:rPr lang="en-US" dirty="0"/>
              <a:t> conditions</a:t>
            </a:r>
          </a:p>
          <a:p>
            <a:pPr marL="0" indent="0">
              <a:buNone/>
            </a:pPr>
            <a:r>
              <a:rPr lang="en-US" dirty="0"/>
              <a:t>                              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 under </a:t>
            </a:r>
            <a:r>
              <a:rPr lang="en-US" b="1" dirty="0">
                <a:solidFill>
                  <a:srgbClr val="FF0000"/>
                </a:solidFill>
              </a:rPr>
              <a:t>neutral</a:t>
            </a:r>
            <a:r>
              <a:rPr lang="en-US" dirty="0"/>
              <a:t> conditions</a:t>
            </a:r>
          </a:p>
          <a:p>
            <a:pPr marL="0" indent="0">
              <a:buNone/>
            </a:pPr>
            <a:r>
              <a:rPr lang="en-US" dirty="0"/>
              <a:t>                               </a:t>
            </a:r>
            <a:r>
              <a:rPr lang="en-US" b="1" dirty="0">
                <a:solidFill>
                  <a:srgbClr val="FFC000"/>
                </a:solidFill>
              </a:rPr>
              <a:t>Yellow</a:t>
            </a:r>
            <a:r>
              <a:rPr lang="en-US" dirty="0"/>
              <a:t> under </a:t>
            </a:r>
            <a:r>
              <a:rPr lang="en-US" b="1" dirty="0">
                <a:solidFill>
                  <a:srgbClr val="FFC000"/>
                </a:solidFill>
              </a:rPr>
              <a:t>alkaline</a:t>
            </a:r>
            <a:r>
              <a:rPr lang="en-US" dirty="0"/>
              <a:t> conditions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939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12A64-B4E6-4C28-BCE9-BFF27307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12" y="1330518"/>
            <a:ext cx="6231088" cy="5840277"/>
          </a:xfrm>
        </p:spPr>
        <p:txBody>
          <a:bodyPr anchor="t">
            <a:noAutofit/>
          </a:bodyPr>
          <a:lstStyle/>
          <a:p>
            <a:r>
              <a:rPr lang="en-US" sz="2400" dirty="0"/>
              <a:t>If a bacteria can ferment lactose, it will produce acid metabolites. If a bacteria cannot ferment lactose, it might degrade the lactose to produce alkaline metabolites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If the bacteria is a </a:t>
            </a:r>
            <a:r>
              <a:rPr lang="en-US" sz="2400" b="1" dirty="0"/>
              <a:t>lactose fermenter</a:t>
            </a:r>
            <a:r>
              <a:rPr lang="en-US" sz="2400" dirty="0"/>
              <a:t>, then the media will turn </a:t>
            </a:r>
            <a:r>
              <a:rPr lang="en-US" sz="2400" b="1" dirty="0"/>
              <a:t>pink (A)</a:t>
            </a:r>
          </a:p>
          <a:p>
            <a:endParaRPr lang="en-US" sz="2400" dirty="0"/>
          </a:p>
          <a:p>
            <a:r>
              <a:rPr lang="en-US" sz="2400" dirty="0"/>
              <a:t> If the bacteria is a </a:t>
            </a:r>
            <a:r>
              <a:rPr lang="en-US" sz="2400" b="1" dirty="0"/>
              <a:t>non-lactose fermenter</a:t>
            </a:r>
            <a:r>
              <a:rPr lang="en-US" sz="2400" dirty="0"/>
              <a:t>, then the media will either remain red or turn </a:t>
            </a:r>
            <a:r>
              <a:rPr lang="en-US" sz="2400" b="1" dirty="0"/>
              <a:t>yellow (B)</a:t>
            </a:r>
          </a:p>
        </p:txBody>
      </p:sp>
      <p:sp>
        <p:nvSpPr>
          <p:cNvPr id="22" name="Freeform: Shape 9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food, table, plate&#10;&#10;Description automatically generated">
            <a:extLst>
              <a:ext uri="{FF2B5EF4-FFF2-40B4-BE49-F238E27FC236}">
                <a16:creationId xmlns:a16="http://schemas.microsoft.com/office/drawing/2014/main" id="{A721916B-D2F5-4F25-BE2E-772C9E87FC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6" b="-2"/>
          <a:stretch/>
        </p:blipFill>
        <p:spPr>
          <a:xfrm>
            <a:off x="6750141" y="-2"/>
            <a:ext cx="5441859" cy="5654940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55396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able, cake, indoor, plate&#10;&#10;Description automatically generated">
            <a:extLst>
              <a:ext uri="{FF2B5EF4-FFF2-40B4-BE49-F238E27FC236}">
                <a16:creationId xmlns:a16="http://schemas.microsoft.com/office/drawing/2014/main" id="{FB79CEB8-5590-4888-9A91-AEC08D5EC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18" y="537887"/>
            <a:ext cx="4360901" cy="444493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858990-B6E4-4AEC-9989-71D24E8EDE09}"/>
              </a:ext>
            </a:extLst>
          </p:cNvPr>
          <p:cNvSpPr/>
          <p:nvPr/>
        </p:nvSpPr>
        <p:spPr>
          <a:xfrm>
            <a:off x="163185" y="5279104"/>
            <a:ext cx="4938003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Klebsiella </a:t>
            </a:r>
            <a:r>
              <a:rPr lang="en-US" sz="2800" b="1" dirty="0">
                <a:solidFill>
                  <a:schemeClr val="tx1"/>
                </a:solidFill>
              </a:rPr>
              <a:t>on MacConkey media</a:t>
            </a:r>
          </a:p>
        </p:txBody>
      </p:sp>
      <p:pic>
        <p:nvPicPr>
          <p:cNvPr id="9" name="Picture 8" descr="A picture containing cup, food, table, photo&#10;&#10;Description automatically generated">
            <a:extLst>
              <a:ext uri="{FF2B5EF4-FFF2-40B4-BE49-F238E27FC236}">
                <a16:creationId xmlns:a16="http://schemas.microsoft.com/office/drawing/2014/main" id="{E11BBF34-817C-455D-9F2C-5014406C43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3"/>
          <a:stretch/>
        </p:blipFill>
        <p:spPr>
          <a:xfrm>
            <a:off x="6388150" y="473763"/>
            <a:ext cx="4697192" cy="45090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4A8B8B0-5F85-488C-90F9-33104C4CFF08}"/>
              </a:ext>
            </a:extLst>
          </p:cNvPr>
          <p:cNvSpPr/>
          <p:nvPr/>
        </p:nvSpPr>
        <p:spPr>
          <a:xfrm>
            <a:off x="6388150" y="5279103"/>
            <a:ext cx="4586068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 err="1">
                <a:solidFill>
                  <a:schemeClr val="tx1"/>
                </a:solidFill>
              </a:rPr>
              <a:t>S.typhi</a:t>
            </a:r>
            <a:r>
              <a:rPr lang="en-US" sz="2800" b="1" i="1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on MacConkey media</a:t>
            </a:r>
          </a:p>
        </p:txBody>
      </p:sp>
    </p:spTree>
    <p:extLst>
      <p:ext uri="{BB962C8B-B14F-4D97-AF65-F5344CB8AC3E}">
        <p14:creationId xmlns:p14="http://schemas.microsoft.com/office/powerpoint/2010/main" val="862314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DE4CF-CEF3-49E7-B5D1-CCCE23AE5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23392"/>
            <a:ext cx="3363974" cy="1607060"/>
          </a:xfr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Eosin Methylene Blue (EMB)</a:t>
            </a:r>
            <a:b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8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2751F3-900B-4C62-9A37-7234C06C8318}"/>
              </a:ext>
            </a:extLst>
          </p:cNvPr>
          <p:cNvSpPr/>
          <p:nvPr/>
        </p:nvSpPr>
        <p:spPr>
          <a:xfrm>
            <a:off x="182880" y="2638043"/>
            <a:ext cx="4471416" cy="3847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Type:</a:t>
            </a:r>
            <a:r>
              <a:rPr lang="en-US" sz="2400" dirty="0"/>
              <a:t> Selective differential media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Purpose:</a:t>
            </a:r>
            <a:r>
              <a:rPr lang="en-US" sz="2400" dirty="0"/>
              <a:t> to selectively isolate G -</a:t>
            </a:r>
            <a:r>
              <a:rPr lang="en-US" sz="2400" dirty="0" err="1"/>
              <a:t>ve</a:t>
            </a:r>
            <a:r>
              <a:rPr lang="en-US" sz="2400" dirty="0"/>
              <a:t> bacteria and differentiate between </a:t>
            </a:r>
            <a:r>
              <a:rPr lang="en-US" sz="2400" b="1" dirty="0"/>
              <a:t>coliform</a:t>
            </a:r>
            <a:r>
              <a:rPr lang="en-US" sz="2400" dirty="0"/>
              <a:t> bacteria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(Differentiate </a:t>
            </a:r>
            <a:r>
              <a:rPr lang="en-US" sz="2400" b="1" i="1" dirty="0"/>
              <a:t>E.coli</a:t>
            </a:r>
            <a:r>
              <a:rPr lang="en-US" sz="2400" dirty="0"/>
              <a:t> from other lactose fermenter bacteria)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5" name="Content Placeholder 4" descr="A picture containing cup, table, food, beverage&#10;&#10;Description automatically generated">
            <a:extLst>
              <a:ext uri="{FF2B5EF4-FFF2-40B4-BE49-F238E27FC236}">
                <a16:creationId xmlns:a16="http://schemas.microsoft.com/office/drawing/2014/main" id="{8939018B-19AF-4A7A-9184-06DBDE5CF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2" t="14341" r="22799" b="13289"/>
          <a:stretch/>
        </p:blipFill>
        <p:spPr>
          <a:xfrm>
            <a:off x="5297764" y="440771"/>
            <a:ext cx="6032902" cy="561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2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25E3-9CF8-4FD7-86E8-D2D07037C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EMB consists of the following components: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1. </a:t>
            </a:r>
            <a:r>
              <a:rPr lang="en-US" b="1" dirty="0"/>
              <a:t>Eosin and methylene blue: </a:t>
            </a:r>
            <a:r>
              <a:rPr lang="en-US" dirty="0"/>
              <a:t>inhibits G+ bacteria and react with acid from lactose fermentation to form a colored precipitate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2. </a:t>
            </a:r>
            <a:r>
              <a:rPr lang="en-US" b="1" dirty="0"/>
              <a:t>Lactose: </a:t>
            </a:r>
            <a:r>
              <a:rPr lang="en-US" dirty="0"/>
              <a:t>carbon source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174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F7D7D-A288-4F1D-9A8B-A37789A4B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74" y="422031"/>
            <a:ext cx="10954451" cy="6230560"/>
          </a:xfrm>
        </p:spPr>
        <p:txBody>
          <a:bodyPr>
            <a:normAutofit/>
          </a:bodyPr>
          <a:lstStyle/>
          <a:p>
            <a:r>
              <a:rPr lang="en-US" sz="2600" dirty="0"/>
              <a:t>The color of the precipitate depends on the amount of the precipitate, and the amount of the precipitate depends on the amount of acid produced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- If the amount of acid is 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</a:rPr>
              <a:t>high</a:t>
            </a:r>
            <a:r>
              <a:rPr lang="en-US" sz="2600" dirty="0"/>
              <a:t>: the color is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</a:rPr>
              <a:t>green</a:t>
            </a:r>
            <a:r>
              <a:rPr lang="en-US" sz="2600" dirty="0"/>
              <a:t> metallic sheen</a:t>
            </a:r>
          </a:p>
          <a:p>
            <a:pPr>
              <a:buFontTx/>
              <a:buChar char="-"/>
            </a:pPr>
            <a:r>
              <a:rPr lang="en-US" sz="2600" dirty="0"/>
              <a:t>If the amount of acid is </a:t>
            </a:r>
            <a:r>
              <a:rPr lang="en-US" sz="2600" b="1" dirty="0">
                <a:solidFill>
                  <a:srgbClr val="FF0066"/>
                </a:solidFill>
              </a:rPr>
              <a:t>low</a:t>
            </a:r>
            <a:r>
              <a:rPr lang="en-US" sz="2600" dirty="0"/>
              <a:t>: the color is </a:t>
            </a:r>
            <a:r>
              <a:rPr lang="en-US" sz="2600" b="1" dirty="0">
                <a:solidFill>
                  <a:srgbClr val="FF0066"/>
                </a:solidFill>
              </a:rPr>
              <a:t>pink</a:t>
            </a:r>
          </a:p>
          <a:p>
            <a:pPr>
              <a:buFontTx/>
              <a:buChar char="-"/>
            </a:pPr>
            <a:endParaRPr lang="en-US" sz="2600" b="1" dirty="0">
              <a:solidFill>
                <a:srgbClr val="FF0066"/>
              </a:solidFill>
            </a:endParaRPr>
          </a:p>
          <a:p>
            <a:pPr marL="0" indent="0">
              <a:buNone/>
            </a:pPr>
            <a:r>
              <a:rPr lang="en-US" sz="2600" dirty="0"/>
              <a:t>• If the colonies are colored on EMB, it means that the bacteria is </a:t>
            </a:r>
            <a:r>
              <a:rPr lang="en-US" sz="2600" b="1" dirty="0"/>
              <a:t>lactose fermenter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• If the colonies are colorless on EMB, it means that the bacteria is </a:t>
            </a:r>
            <a:r>
              <a:rPr lang="en-US" sz="2600" b="1" dirty="0"/>
              <a:t>non-lactose fermenter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1A394F-56FC-48A1-9A80-9ACB98D58F24}"/>
              </a:ext>
            </a:extLst>
          </p:cNvPr>
          <p:cNvSpPr/>
          <p:nvPr/>
        </p:nvSpPr>
        <p:spPr>
          <a:xfrm>
            <a:off x="3909391" y="5215059"/>
            <a:ext cx="6679096" cy="127154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Colored colonies                         lactose fermenter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Colorless colonies                      non-lactose fermenter                 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07B54CA-69A2-458D-9EBF-476CE8F81332}"/>
              </a:ext>
            </a:extLst>
          </p:cNvPr>
          <p:cNvSpPr/>
          <p:nvPr/>
        </p:nvSpPr>
        <p:spPr>
          <a:xfrm>
            <a:off x="6588573" y="5321658"/>
            <a:ext cx="927652" cy="17227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240D76-7163-4C1F-92C8-61570C937F47}"/>
              </a:ext>
            </a:extLst>
          </p:cNvPr>
          <p:cNvSpPr/>
          <p:nvPr/>
        </p:nvSpPr>
        <p:spPr>
          <a:xfrm>
            <a:off x="6568695" y="5904133"/>
            <a:ext cx="947530" cy="17227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816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7162F-1877-4E7E-9EDF-03469606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4392"/>
            <a:ext cx="10515600" cy="4351338"/>
          </a:xfrm>
        </p:spPr>
        <p:txBody>
          <a:bodyPr/>
          <a:lstStyle/>
          <a:p>
            <a:r>
              <a:rPr lang="en-US" dirty="0"/>
              <a:t>Small green metallic sheens on EMB are </a:t>
            </a:r>
            <a:r>
              <a:rPr lang="en-US" b="1" i="1" dirty="0">
                <a:solidFill>
                  <a:srgbClr val="FF0000"/>
                </a:solidFill>
              </a:rPr>
              <a:t>E. Coli</a:t>
            </a:r>
          </a:p>
          <a:p>
            <a:endParaRPr lang="en-US" i="1" dirty="0"/>
          </a:p>
          <a:p>
            <a:r>
              <a:rPr lang="en-US" dirty="0"/>
              <a:t>Pink/buff colored colonies are </a:t>
            </a:r>
            <a:r>
              <a:rPr lang="en-US" b="1" i="1" dirty="0">
                <a:solidFill>
                  <a:srgbClr val="FF0000"/>
                </a:solidFill>
              </a:rPr>
              <a:t>Enterobacter aerogenes</a:t>
            </a:r>
          </a:p>
          <a:p>
            <a:endParaRPr lang="en-US" i="1" dirty="0"/>
          </a:p>
          <a:p>
            <a:r>
              <a:rPr lang="en-US" dirty="0"/>
              <a:t>Colorless colonies could be </a:t>
            </a:r>
            <a:r>
              <a:rPr lang="en-US" b="1" i="1" dirty="0">
                <a:solidFill>
                  <a:srgbClr val="FF0000"/>
                </a:solidFill>
              </a:rPr>
              <a:t>Proteus, Salmonella, Shigella, Pseudomonas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253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able, food, sitting, bowl&#10;&#10;Description automatically generated">
            <a:extLst>
              <a:ext uri="{FF2B5EF4-FFF2-40B4-BE49-F238E27FC236}">
                <a16:creationId xmlns:a16="http://schemas.microsoft.com/office/drawing/2014/main" id="{6403EE9D-32B3-4612-99AE-1D4AD0613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" r="3566"/>
          <a:stretch/>
        </p:blipFill>
        <p:spPr>
          <a:xfrm>
            <a:off x="46892" y="212034"/>
            <a:ext cx="3737317" cy="479728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AE6DDF-ACBD-4850-8B55-78F6C250A5D4}"/>
              </a:ext>
            </a:extLst>
          </p:cNvPr>
          <p:cNvSpPr/>
          <p:nvPr/>
        </p:nvSpPr>
        <p:spPr>
          <a:xfrm>
            <a:off x="0" y="5480207"/>
            <a:ext cx="4121834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E.coli </a:t>
            </a:r>
            <a:r>
              <a:rPr lang="en-US" sz="2800" b="1" dirty="0">
                <a:solidFill>
                  <a:schemeClr val="tx1"/>
                </a:solidFill>
              </a:rPr>
              <a:t>on EMB media</a:t>
            </a:r>
          </a:p>
        </p:txBody>
      </p:sp>
      <p:pic>
        <p:nvPicPr>
          <p:cNvPr id="8" name="Picture 7" descr="A close up of a bowl of food&#10;&#10;Description automatically generated">
            <a:extLst>
              <a:ext uri="{FF2B5EF4-FFF2-40B4-BE49-F238E27FC236}">
                <a16:creationId xmlns:a16="http://schemas.microsoft.com/office/drawing/2014/main" id="{63DC8C73-5778-4C05-9C41-CDD295C12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924" y="212033"/>
            <a:ext cx="3737317" cy="47972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8A22E6-B83F-41D3-B8FE-4BBFFB53B9D1}"/>
              </a:ext>
            </a:extLst>
          </p:cNvPr>
          <p:cNvSpPr/>
          <p:nvPr/>
        </p:nvSpPr>
        <p:spPr>
          <a:xfrm>
            <a:off x="4121834" y="5592851"/>
            <a:ext cx="4121834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Enterobacter aerogenes </a:t>
            </a:r>
            <a:r>
              <a:rPr lang="en-US" sz="2800" b="1" dirty="0">
                <a:solidFill>
                  <a:schemeClr val="tx1"/>
                </a:solidFill>
              </a:rPr>
              <a:t>on EMB media</a:t>
            </a:r>
          </a:p>
        </p:txBody>
      </p:sp>
      <p:pic>
        <p:nvPicPr>
          <p:cNvPr id="11" name="Picture 10" descr="A close up of a bowl&#10;&#10;Description automatically generated">
            <a:extLst>
              <a:ext uri="{FF2B5EF4-FFF2-40B4-BE49-F238E27FC236}">
                <a16:creationId xmlns:a16="http://schemas.microsoft.com/office/drawing/2014/main" id="{A8668183-F047-494D-838A-0857230A7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397" y="212033"/>
            <a:ext cx="3737318" cy="47972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A91CC9F-F5B7-4638-9019-C2C49F15971A}"/>
              </a:ext>
            </a:extLst>
          </p:cNvPr>
          <p:cNvSpPr/>
          <p:nvPr/>
        </p:nvSpPr>
        <p:spPr>
          <a:xfrm>
            <a:off x="8187397" y="5480207"/>
            <a:ext cx="4004603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Salmonella aerogenes </a:t>
            </a:r>
            <a:r>
              <a:rPr lang="en-US" sz="2800" b="1" dirty="0">
                <a:solidFill>
                  <a:schemeClr val="tx1"/>
                </a:solidFill>
              </a:rPr>
              <a:t>on EMB media (Grey)</a:t>
            </a:r>
          </a:p>
        </p:txBody>
      </p:sp>
    </p:spTree>
    <p:extLst>
      <p:ext uri="{BB962C8B-B14F-4D97-AF65-F5344CB8AC3E}">
        <p14:creationId xmlns:p14="http://schemas.microsoft.com/office/powerpoint/2010/main" val="1788894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76D444-2756-434F-AE61-96D69830C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3E7E16-FD6E-4A32-BC43-56143D6DC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28" y="270856"/>
            <a:ext cx="5756341" cy="1777419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b="1" dirty="0"/>
              <a:t>Xylose Lysine Deoxycholate (</a:t>
            </a:r>
            <a:r>
              <a:rPr lang="en-US" sz="4000" b="1" dirty="0"/>
              <a:t>XLD)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AF695CE-A9B3-4108-A6F0-05696BF35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042" y="1789043"/>
            <a:ext cx="6215502" cy="4943061"/>
          </a:xfrm>
        </p:spPr>
        <p:txBody>
          <a:bodyPr anchor="t">
            <a:normAutofit/>
          </a:bodyPr>
          <a:lstStyle/>
          <a:p>
            <a:r>
              <a:rPr lang="en-US" b="1" dirty="0"/>
              <a:t>Type:</a:t>
            </a:r>
            <a:r>
              <a:rPr lang="en-US" dirty="0"/>
              <a:t> Selective differential media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Purpose:</a:t>
            </a:r>
            <a:r>
              <a:rPr lang="en-US" dirty="0"/>
              <a:t> to selectively isolate </a:t>
            </a:r>
            <a:r>
              <a:rPr lang="en-US" i="1" dirty="0"/>
              <a:t>Salmonella </a:t>
            </a:r>
            <a:r>
              <a:rPr lang="en-US" dirty="0"/>
              <a:t>and </a:t>
            </a:r>
            <a:r>
              <a:rPr lang="en-US" i="1" dirty="0"/>
              <a:t>Shigella </a:t>
            </a:r>
            <a:r>
              <a:rPr lang="en-US" dirty="0"/>
              <a:t>species from clinical samples and from food </a:t>
            </a:r>
          </a:p>
          <a:p>
            <a:endParaRPr lang="en-US" dirty="0"/>
          </a:p>
          <a:p>
            <a:r>
              <a:rPr lang="en-US" dirty="0"/>
              <a:t>differentiate between </a:t>
            </a:r>
            <a:r>
              <a:rPr lang="en-US" i="1" dirty="0"/>
              <a:t>Salmonella </a:t>
            </a:r>
            <a:r>
              <a:rPr lang="en-US" dirty="0"/>
              <a:t>and </a:t>
            </a:r>
            <a:r>
              <a:rPr lang="en-US" i="1" dirty="0"/>
              <a:t>Shigella </a:t>
            </a:r>
            <a:r>
              <a:rPr lang="en-US" dirty="0"/>
              <a:t>species </a:t>
            </a:r>
            <a:r>
              <a:rPr lang="en-US" b="1" dirty="0">
                <a:solidFill>
                  <a:srgbClr val="FF0000"/>
                </a:solidFill>
              </a:rPr>
              <a:t>based on xylose fermentation and L-lysine decarboxylation</a:t>
            </a:r>
            <a:endParaRPr lang="en-US" sz="2000" b="1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8F36E2-BBE5-43FE-822F-AD8CAE08C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8597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picture containing table, indoor, bowl, red&#10;&#10;Description automatically generated">
            <a:extLst>
              <a:ext uri="{FF2B5EF4-FFF2-40B4-BE49-F238E27FC236}">
                <a16:creationId xmlns:a16="http://schemas.microsoft.com/office/drawing/2014/main" id="{37E417AC-FBF5-4736-9442-66EB219D6F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6" r="20480" b="-2"/>
          <a:stretch/>
        </p:blipFill>
        <p:spPr>
          <a:xfrm>
            <a:off x="6749145" y="573678"/>
            <a:ext cx="5103206" cy="571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62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8F14-AA6C-4955-AF98-0E88404A2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7566"/>
            <a:ext cx="10515600" cy="646043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XLD consists of the following components: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/>
              <a:t>   - </a:t>
            </a:r>
            <a:r>
              <a:rPr lang="en-US" dirty="0"/>
              <a:t>Yeast extract: to support bacterial growth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- Xylose: 1st carbon source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- Sucrose: 2nd carbon source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dirty="0"/>
              <a:t>   - Lactose: 3rd </a:t>
            </a:r>
            <a:r>
              <a:rPr lang="fr-FR" dirty="0" err="1"/>
              <a:t>carbon</a:t>
            </a:r>
            <a:r>
              <a:rPr lang="fr-FR" dirty="0"/>
              <a:t> source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- L-lysine: 4th carbon source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- Sodium deoxycholate: inhibits G+ bacteria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- Sodium thiosulfate: sulfur source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- Ferric ammonium citrate: sulfate indicator that reacts with sulfur to form ferric sulfate (</a:t>
            </a:r>
            <a:r>
              <a:rPr lang="en-US" b="1" dirty="0"/>
              <a:t>black ppt</a:t>
            </a:r>
            <a:r>
              <a:rPr lang="en-US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- Phenol red: a pH indicator: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                           </a:t>
            </a:r>
            <a:r>
              <a:rPr lang="en-US" dirty="0">
                <a:solidFill>
                  <a:srgbClr val="FFC000"/>
                </a:solidFill>
              </a:rPr>
              <a:t>Yellow </a:t>
            </a:r>
            <a:r>
              <a:rPr lang="en-US" dirty="0"/>
              <a:t>under </a:t>
            </a:r>
            <a:r>
              <a:rPr lang="en-US" dirty="0">
                <a:solidFill>
                  <a:srgbClr val="FFC000"/>
                </a:solidFill>
              </a:rPr>
              <a:t>acidic</a:t>
            </a:r>
            <a:r>
              <a:rPr lang="en-US" dirty="0"/>
              <a:t> conditions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                          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under </a:t>
            </a:r>
            <a:r>
              <a:rPr lang="en-US" dirty="0">
                <a:solidFill>
                  <a:srgbClr val="FF0000"/>
                </a:solidFill>
              </a:rPr>
              <a:t>neutral</a:t>
            </a:r>
            <a:r>
              <a:rPr lang="en-US" dirty="0"/>
              <a:t> conditions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                           </a:t>
            </a:r>
            <a:r>
              <a:rPr lang="en-US" dirty="0">
                <a:solidFill>
                  <a:srgbClr val="FF0066"/>
                </a:solidFill>
              </a:rPr>
              <a:t>Pink</a:t>
            </a:r>
            <a:r>
              <a:rPr lang="en-US" dirty="0"/>
              <a:t> under </a:t>
            </a:r>
            <a:r>
              <a:rPr lang="en-US" dirty="0">
                <a:solidFill>
                  <a:srgbClr val="FF0066"/>
                </a:solidFill>
              </a:rPr>
              <a:t>alkaline</a:t>
            </a:r>
            <a:r>
              <a:rPr lang="en-US" dirty="0"/>
              <a:t> conditions</a:t>
            </a:r>
          </a:p>
        </p:txBody>
      </p:sp>
    </p:spTree>
    <p:extLst>
      <p:ext uri="{BB962C8B-B14F-4D97-AF65-F5344CB8AC3E}">
        <p14:creationId xmlns:p14="http://schemas.microsoft.com/office/powerpoint/2010/main" val="3894761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D9DD7-4D08-4AC3-899F-87802646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4644"/>
            <a:ext cx="10515600" cy="5448093"/>
          </a:xfrm>
        </p:spPr>
        <p:txBody>
          <a:bodyPr>
            <a:normAutofit/>
          </a:bodyPr>
          <a:lstStyle/>
          <a:p>
            <a:r>
              <a:rPr lang="en-US" sz="2600" b="1" dirty="0"/>
              <a:t>Xylose</a:t>
            </a:r>
            <a:r>
              <a:rPr lang="en-US" sz="2600" dirty="0"/>
              <a:t> is fermented by Salmonella but not Shigella </a:t>
            </a:r>
            <a:r>
              <a:rPr lang="en-US" sz="2600" i="1" dirty="0"/>
              <a:t>(phenol red turns from red (neutral) to yellow (acidic)), </a:t>
            </a:r>
            <a:r>
              <a:rPr lang="en-US" sz="2600" dirty="0"/>
              <a:t>so:</a:t>
            </a:r>
          </a:p>
          <a:p>
            <a:pPr marL="0" indent="0">
              <a:buNone/>
            </a:pPr>
            <a:r>
              <a:rPr lang="en-US" sz="2600" dirty="0"/>
              <a:t>                                 </a:t>
            </a:r>
            <a:r>
              <a:rPr lang="en-US" sz="2600" b="1" dirty="0">
                <a:solidFill>
                  <a:srgbClr val="FF0000"/>
                </a:solidFill>
              </a:rPr>
              <a:t>Shigella colonies will remain red </a:t>
            </a:r>
          </a:p>
          <a:p>
            <a:pPr marL="0" indent="0">
              <a:buNone/>
            </a:pPr>
            <a:r>
              <a:rPr lang="en-US" sz="2600" dirty="0"/>
              <a:t>                                 </a:t>
            </a:r>
            <a:r>
              <a:rPr lang="en-US" sz="2600" b="1" dirty="0">
                <a:solidFill>
                  <a:srgbClr val="FF0000"/>
                </a:solidFill>
              </a:rPr>
              <a:t>Salmonella colonies will turn </a:t>
            </a:r>
            <a:r>
              <a:rPr lang="en-US" sz="2600" b="1" dirty="0">
                <a:solidFill>
                  <a:srgbClr val="FF0000"/>
                </a:solidFill>
                <a:highlight>
                  <a:srgbClr val="FFFF00"/>
                </a:highlight>
              </a:rPr>
              <a:t>yellow</a:t>
            </a:r>
          </a:p>
          <a:p>
            <a:pPr marL="0" indent="0">
              <a:buNone/>
            </a:pPr>
            <a:endParaRPr lang="en-US" sz="2600" b="1" dirty="0">
              <a:solidFill>
                <a:srgbClr val="FFFF00"/>
              </a:solidFill>
            </a:endParaRPr>
          </a:p>
          <a:p>
            <a:r>
              <a:rPr lang="en-US" sz="2600" b="1" dirty="0"/>
              <a:t>L-lysine</a:t>
            </a:r>
            <a:r>
              <a:rPr lang="en-US" sz="2600" dirty="0"/>
              <a:t> differentiates Salmonella from pathogenic species:</a:t>
            </a:r>
          </a:p>
          <a:p>
            <a:pPr marL="0" indent="0">
              <a:buNone/>
            </a:pPr>
            <a:r>
              <a:rPr lang="en-US" sz="2600" dirty="0"/>
              <a:t>               - when xylose is depleted, Salmonella decarboxylates L-lysine and produces ammonia </a:t>
            </a:r>
            <a:r>
              <a:rPr lang="en-US" sz="2600" i="1" dirty="0"/>
              <a:t>(phenol red turns from yellow (acidic) to red (neutral)</a:t>
            </a:r>
          </a:p>
          <a:p>
            <a:pPr marL="0" indent="0">
              <a:buNone/>
            </a:pPr>
            <a:endParaRPr lang="en-US" sz="2600" i="1" dirty="0"/>
          </a:p>
          <a:p>
            <a:r>
              <a:rPr lang="en-US" sz="2600" i="1" dirty="0"/>
              <a:t> </a:t>
            </a:r>
            <a:r>
              <a:rPr lang="en-US" sz="2600" dirty="0"/>
              <a:t>This will mimic </a:t>
            </a:r>
            <a:r>
              <a:rPr lang="en-US" sz="2600" i="1" dirty="0"/>
              <a:t>Shigella</a:t>
            </a:r>
            <a:r>
              <a:rPr lang="en-US" sz="2600" dirty="0"/>
              <a:t> &gt;&gt; To prevent </a:t>
            </a:r>
            <a:r>
              <a:rPr lang="en-US" dirty="0"/>
              <a:t>similar reversion, the incubation time should not be too long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9942799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4DACC-1B7C-4423-B772-1BF1E32B5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5"/>
            <a:ext cx="10515600" cy="5005219"/>
          </a:xfrm>
        </p:spPr>
        <p:txBody>
          <a:bodyPr>
            <a:normAutofit/>
          </a:bodyPr>
          <a:lstStyle/>
          <a:p>
            <a:r>
              <a:rPr lang="en-US" sz="2600" dirty="0"/>
              <a:t>But if the bacterial culture was incubated too long, and the colonies appeared in red color, Salmonella can be distinguished from Shigella by: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i="1" dirty="0"/>
              <a:t>               - </a:t>
            </a:r>
            <a:r>
              <a:rPr lang="en-US" sz="2600" b="1" i="1" dirty="0"/>
              <a:t>Salmonella</a:t>
            </a:r>
            <a:r>
              <a:rPr lang="en-US" sz="2600" i="1" dirty="0"/>
              <a:t> </a:t>
            </a:r>
            <a:r>
              <a:rPr lang="en-US" sz="2600" dirty="0"/>
              <a:t>can metabolize thiosulfate to produce hydrogen sulfide (H2S), which reacts with ferric ammonium citrate to produce black ferric sulfate at the center of their colonies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              - </a:t>
            </a:r>
            <a:r>
              <a:rPr lang="en-US" sz="2600" b="1" i="1" dirty="0"/>
              <a:t>Shigella</a:t>
            </a:r>
            <a:r>
              <a:rPr lang="en-US" sz="2600" i="1" dirty="0"/>
              <a:t> </a:t>
            </a:r>
            <a:r>
              <a:rPr lang="en-US" sz="2600" dirty="0"/>
              <a:t>cannot metabolize thiosulfate, so they will not have any dark centers </a:t>
            </a:r>
          </a:p>
        </p:txBody>
      </p:sp>
    </p:spTree>
    <p:extLst>
      <p:ext uri="{BB962C8B-B14F-4D97-AF65-F5344CB8AC3E}">
        <p14:creationId xmlns:p14="http://schemas.microsoft.com/office/powerpoint/2010/main" val="1564949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light, glass&#10;&#10;Description automatically generated">
            <a:extLst>
              <a:ext uri="{FF2B5EF4-FFF2-40B4-BE49-F238E27FC236}">
                <a16:creationId xmlns:a16="http://schemas.microsoft.com/office/drawing/2014/main" id="{4A59373D-1EB3-4027-89F5-32D76EAF44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9" t="3566" r="14643" b="2316"/>
          <a:stretch/>
        </p:blipFill>
        <p:spPr>
          <a:xfrm>
            <a:off x="339751" y="457199"/>
            <a:ext cx="4876800" cy="45123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E4BD9B-A13B-4FC1-A58B-169E0DD61866}"/>
              </a:ext>
            </a:extLst>
          </p:cNvPr>
          <p:cNvSpPr/>
          <p:nvPr/>
        </p:nvSpPr>
        <p:spPr>
          <a:xfrm>
            <a:off x="339751" y="5359792"/>
            <a:ext cx="4045797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Salmonella </a:t>
            </a:r>
            <a:r>
              <a:rPr lang="en-US" sz="2800" b="1" dirty="0">
                <a:solidFill>
                  <a:schemeClr val="tx1"/>
                </a:solidFill>
              </a:rPr>
              <a:t>on XLD media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1BDA89-547D-4319-98CA-7A44658A4C69}"/>
              </a:ext>
            </a:extLst>
          </p:cNvPr>
          <p:cNvSpPr/>
          <p:nvPr/>
        </p:nvSpPr>
        <p:spPr>
          <a:xfrm>
            <a:off x="6972540" y="5359791"/>
            <a:ext cx="4045797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Shigella </a:t>
            </a:r>
            <a:r>
              <a:rPr lang="en-US" sz="2800" b="1" dirty="0">
                <a:solidFill>
                  <a:schemeClr val="tx1"/>
                </a:solidFill>
              </a:rPr>
              <a:t>on XLD media</a:t>
            </a:r>
          </a:p>
        </p:txBody>
      </p:sp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C02B7E2C-C457-4ED7-88BB-B35806295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694" y="457200"/>
            <a:ext cx="4876800" cy="451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46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320485-E28E-4BD8-BFBF-A92A84AC9894}"/>
              </a:ext>
            </a:extLst>
          </p:cNvPr>
          <p:cNvSpPr/>
          <p:nvPr/>
        </p:nvSpPr>
        <p:spPr>
          <a:xfrm>
            <a:off x="6815394" y="5357181"/>
            <a:ext cx="4616863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E. coli </a:t>
            </a:r>
            <a:r>
              <a:rPr lang="en-US" sz="2800" b="1" dirty="0">
                <a:solidFill>
                  <a:schemeClr val="tx1"/>
                </a:solidFill>
              </a:rPr>
              <a:t>on XLD media (yellow)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17514-59C0-43DE-8E18-5CE5DA29EED9}"/>
              </a:ext>
            </a:extLst>
          </p:cNvPr>
          <p:cNvSpPr/>
          <p:nvPr/>
        </p:nvSpPr>
        <p:spPr>
          <a:xfrm>
            <a:off x="152400" y="5357182"/>
            <a:ext cx="5943600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P. aeruginosa </a:t>
            </a:r>
            <a:r>
              <a:rPr lang="en-US" sz="2800" b="1" dirty="0">
                <a:solidFill>
                  <a:schemeClr val="tx1"/>
                </a:solidFill>
              </a:rPr>
              <a:t>on XLD (Pink flat rough)</a:t>
            </a:r>
          </a:p>
        </p:txBody>
      </p:sp>
      <p:pic>
        <p:nvPicPr>
          <p:cNvPr id="7" name="Picture 6" descr="A picture containing table, food, orange&#10;&#10;Description automatically generated">
            <a:extLst>
              <a:ext uri="{FF2B5EF4-FFF2-40B4-BE49-F238E27FC236}">
                <a16:creationId xmlns:a16="http://schemas.microsoft.com/office/drawing/2014/main" id="{2CA9CAA7-13E8-4D28-A08E-D6D5574F39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4318" r="2285" b="1032"/>
          <a:stretch/>
        </p:blipFill>
        <p:spPr>
          <a:xfrm>
            <a:off x="618566" y="459809"/>
            <a:ext cx="4208929" cy="4363982"/>
          </a:xfrm>
          <a:prstGeom prst="rect">
            <a:avLst/>
          </a:prstGeom>
        </p:spPr>
      </p:pic>
      <p:pic>
        <p:nvPicPr>
          <p:cNvPr id="11" name="Picture 10" descr="A picture containing food, table&#10;&#10;Description automatically generated">
            <a:extLst>
              <a:ext uri="{FF2B5EF4-FFF2-40B4-BE49-F238E27FC236}">
                <a16:creationId xmlns:a16="http://schemas.microsoft.com/office/drawing/2014/main" id="{4B9EB926-91FC-4D43-A261-2AC09970FE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2" t="3604" r="4927" b="3604"/>
          <a:stretch/>
        </p:blipFill>
        <p:spPr>
          <a:xfrm>
            <a:off x="6815394" y="486703"/>
            <a:ext cx="4412897" cy="433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57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76D444-2756-434F-AE61-96D69830C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2339D-5F13-4D08-A027-FE355CD0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32961"/>
            <a:ext cx="4887685" cy="177741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Mannitol salt agar (MSA)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8F9E2E63-6345-48BB-8C01-95984629A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27" y="2501153"/>
            <a:ext cx="5562343" cy="3957982"/>
          </a:xfrm>
        </p:spPr>
        <p:txBody>
          <a:bodyPr anchor="t">
            <a:normAutofit/>
          </a:bodyPr>
          <a:lstStyle/>
          <a:p>
            <a:r>
              <a:rPr lang="en-US" b="1" dirty="0"/>
              <a:t>Type: </a:t>
            </a:r>
            <a:r>
              <a:rPr lang="en-US" dirty="0"/>
              <a:t>Selective differential media</a:t>
            </a:r>
          </a:p>
          <a:p>
            <a:endParaRPr lang="en-US" dirty="0"/>
          </a:p>
          <a:p>
            <a:r>
              <a:rPr lang="en-US" b="1" dirty="0"/>
              <a:t>Purpose: </a:t>
            </a:r>
            <a:r>
              <a:rPr lang="en-US" dirty="0"/>
              <a:t>to select for </a:t>
            </a:r>
            <a:r>
              <a:rPr lang="en-US" b="1" dirty="0"/>
              <a:t>G +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dirty="0"/>
              <a:t>bacteria such as Staphylococcus and </a:t>
            </a:r>
            <a:r>
              <a:rPr lang="en-US" dirty="0" err="1"/>
              <a:t>Micrococcaceae</a:t>
            </a:r>
            <a:r>
              <a:rPr lang="en-US" dirty="0"/>
              <a:t> and differentiate them based on </a:t>
            </a:r>
            <a:r>
              <a:rPr lang="en-US" b="1" dirty="0"/>
              <a:t>mannitol fermentation</a:t>
            </a:r>
            <a:endParaRPr lang="en-US" sz="2000" b="1" dirty="0"/>
          </a:p>
        </p:txBody>
      </p: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CF8F36E2-BBE5-43FE-822F-AD8CAE08C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8597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picture containing table, bowl&#10;&#10;Description automatically generated">
            <a:extLst>
              <a:ext uri="{FF2B5EF4-FFF2-40B4-BE49-F238E27FC236}">
                <a16:creationId xmlns:a16="http://schemas.microsoft.com/office/drawing/2014/main" id="{EFB61AEB-D734-488D-BF53-37F4CA3952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9" r="19527" b="-2"/>
          <a:stretch/>
        </p:blipFill>
        <p:spPr>
          <a:xfrm>
            <a:off x="6749145" y="573678"/>
            <a:ext cx="5103206" cy="571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84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73D40-5A7B-4104-BE8F-C2E437566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1635"/>
            <a:ext cx="10515600" cy="519532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MSA</a:t>
            </a:r>
            <a:r>
              <a:rPr lang="en-US" dirty="0"/>
              <a:t> consists of the following components: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- 7.5% NaCl: high salt concentration allows only halophilic and </a:t>
            </a:r>
            <a:r>
              <a:rPr lang="en-US" b="1" dirty="0"/>
              <a:t>G +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dirty="0"/>
              <a:t>bacteria to grow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- Mannitol (alcohol of mannose): carbon source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- Phenol red: a pH indicator: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                           </a:t>
            </a:r>
            <a:r>
              <a:rPr lang="en-US" dirty="0">
                <a:solidFill>
                  <a:srgbClr val="FFC000"/>
                </a:solidFill>
              </a:rPr>
              <a:t>Yellow </a:t>
            </a:r>
            <a:r>
              <a:rPr lang="en-US" dirty="0"/>
              <a:t>under </a:t>
            </a:r>
            <a:r>
              <a:rPr lang="en-US" dirty="0">
                <a:solidFill>
                  <a:srgbClr val="FFC000"/>
                </a:solidFill>
              </a:rPr>
              <a:t>acidic</a:t>
            </a:r>
            <a:r>
              <a:rPr lang="en-US" dirty="0"/>
              <a:t> conditions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                          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under </a:t>
            </a:r>
            <a:r>
              <a:rPr lang="en-US" dirty="0">
                <a:solidFill>
                  <a:srgbClr val="FF0000"/>
                </a:solidFill>
              </a:rPr>
              <a:t>neutral</a:t>
            </a:r>
            <a:r>
              <a:rPr lang="en-US" dirty="0"/>
              <a:t> conditions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                           </a:t>
            </a:r>
            <a:r>
              <a:rPr lang="en-US" dirty="0">
                <a:solidFill>
                  <a:srgbClr val="FF0066"/>
                </a:solidFill>
              </a:rPr>
              <a:t>Pink</a:t>
            </a:r>
            <a:r>
              <a:rPr lang="en-US" dirty="0"/>
              <a:t> under </a:t>
            </a:r>
            <a:r>
              <a:rPr lang="en-US" dirty="0">
                <a:solidFill>
                  <a:srgbClr val="FF0066"/>
                </a:solidFill>
              </a:rPr>
              <a:t>alkaline</a:t>
            </a:r>
            <a:r>
              <a:rPr lang="en-US" dirty="0"/>
              <a:t> conditions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549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F15ED-C293-4752-A4B1-5F2E83E9A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918" y="645459"/>
            <a:ext cx="6414248" cy="5795682"/>
          </a:xfrm>
        </p:spPr>
        <p:txBody>
          <a:bodyPr>
            <a:normAutofit/>
          </a:bodyPr>
          <a:lstStyle/>
          <a:p>
            <a:r>
              <a:rPr lang="en-US" dirty="0"/>
              <a:t>If bacteria cannot grow on MSA, then it is </a:t>
            </a:r>
            <a:r>
              <a:rPr lang="en-US" b="1" dirty="0" err="1">
                <a:solidFill>
                  <a:srgbClr val="FF0000"/>
                </a:solidFill>
              </a:rPr>
              <a:t>nonhalophilic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If bacteria can grow and changes the media to yellow, then it is a </a:t>
            </a:r>
            <a:r>
              <a:rPr lang="en-US" b="1" dirty="0">
                <a:solidFill>
                  <a:srgbClr val="FF0000"/>
                </a:solidFill>
              </a:rPr>
              <a:t>halophilic mannitol fermenter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</a:t>
            </a:r>
            <a:r>
              <a:rPr lang="en-US" dirty="0" err="1"/>
              <a:t>e.g</a:t>
            </a:r>
            <a:r>
              <a:rPr lang="en-US" dirty="0"/>
              <a:t>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(</a:t>
            </a:r>
            <a:r>
              <a:rPr lang="en-US" i="1" dirty="0"/>
              <a:t>Staphylococcus aureus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If bacteria can grow but the media is unchanged, then it is a </a:t>
            </a:r>
            <a:r>
              <a:rPr lang="en-US" b="1" dirty="0">
                <a:solidFill>
                  <a:srgbClr val="FF0000"/>
                </a:solidFill>
              </a:rPr>
              <a:t>halophilic non-mannitol fermenter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e.g</a:t>
            </a:r>
            <a:r>
              <a:rPr lang="en-US" dirty="0"/>
              <a:t>: (</a:t>
            </a:r>
            <a:r>
              <a:rPr lang="en-US" i="1" dirty="0"/>
              <a:t>Staphylococcus epidermidis</a:t>
            </a:r>
            <a:r>
              <a:rPr lang="en-US" dirty="0"/>
              <a:t>)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3885879-D58D-445F-9C3E-BCE4D67493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7" b="5237"/>
          <a:stretch/>
        </p:blipFill>
        <p:spPr>
          <a:xfrm>
            <a:off x="6893044" y="960119"/>
            <a:ext cx="4985191" cy="521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890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D72C5A-C33C-4AFE-BF65-105368FA7B10}"/>
              </a:ext>
            </a:extLst>
          </p:cNvPr>
          <p:cNvSpPr/>
          <p:nvPr/>
        </p:nvSpPr>
        <p:spPr>
          <a:xfrm>
            <a:off x="322654" y="5607423"/>
            <a:ext cx="4962040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solidFill>
                  <a:schemeClr val="tx1"/>
                </a:solidFill>
              </a:rPr>
              <a:t>Staphylococcus aureus </a:t>
            </a:r>
            <a:r>
              <a:rPr lang="en-US" sz="2800" b="1" dirty="0">
                <a:solidFill>
                  <a:schemeClr val="tx1"/>
                </a:solidFill>
              </a:rPr>
              <a:t>on MSA</a:t>
            </a:r>
          </a:p>
        </p:txBody>
      </p:sp>
      <p:pic>
        <p:nvPicPr>
          <p:cNvPr id="9" name="Picture 8" descr="A picture containing indoor, table, food, cup&#10;&#10;Description automatically generated">
            <a:extLst>
              <a:ext uri="{FF2B5EF4-FFF2-40B4-BE49-F238E27FC236}">
                <a16:creationId xmlns:a16="http://schemas.microsoft.com/office/drawing/2014/main" id="{16948717-84CD-4CF3-91F5-B9A836BA3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54" y="310008"/>
            <a:ext cx="5284770" cy="51763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C2342F-503C-4AA6-B942-0304DD445D43}"/>
              </a:ext>
            </a:extLst>
          </p:cNvPr>
          <p:cNvSpPr/>
          <p:nvPr/>
        </p:nvSpPr>
        <p:spPr>
          <a:xfrm>
            <a:off x="6096000" y="5607422"/>
            <a:ext cx="5450618" cy="1041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>
                <a:solidFill>
                  <a:schemeClr val="tx1"/>
                </a:solidFill>
              </a:rPr>
              <a:t>Staphylococcus epidermidis </a:t>
            </a:r>
            <a:r>
              <a:rPr lang="en-US" sz="2800" b="1">
                <a:solidFill>
                  <a:schemeClr val="tx1"/>
                </a:solidFill>
              </a:rPr>
              <a:t>on MSA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2" name="Picture 11" descr="A picture containing toiletry, food&#10;&#10;Description automatically generated">
            <a:extLst>
              <a:ext uri="{FF2B5EF4-FFF2-40B4-BE49-F238E27FC236}">
                <a16:creationId xmlns:a16="http://schemas.microsoft.com/office/drawing/2014/main" id="{C4A20BE2-FEDC-49FB-9C45-393294F85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352" y="310008"/>
            <a:ext cx="5159265" cy="517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937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A228A-4477-430D-8514-5DCB7737C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675250"/>
            <a:ext cx="4907807" cy="5548570"/>
          </a:xfrm>
        </p:spPr>
        <p:txBody>
          <a:bodyPr>
            <a:normAutofit/>
          </a:bodyPr>
          <a:lstStyle/>
          <a:p>
            <a:r>
              <a:rPr lang="en-US" sz="2400" b="1" dirty="0"/>
              <a:t>Practical part:</a:t>
            </a:r>
          </a:p>
          <a:p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You will divide the agar plate into three parts by drawing the Mercedes sign on it. Then, you will inoculate different types of bacteria on each part by using a sterile inoculating loop</a:t>
            </a:r>
          </a:p>
        </p:txBody>
      </p:sp>
      <p:pic>
        <p:nvPicPr>
          <p:cNvPr id="8" name="Picture 7" descr="A picture containing bottle, indoor, cup, red&#10;&#10;Description automatically generated">
            <a:extLst>
              <a:ext uri="{FF2B5EF4-FFF2-40B4-BE49-F238E27FC236}">
                <a16:creationId xmlns:a16="http://schemas.microsoft.com/office/drawing/2014/main" id="{3999999E-5040-450C-8C00-8F8D3F70B5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" r="-2" b="7676"/>
          <a:stretch/>
        </p:blipFill>
        <p:spPr>
          <a:xfrm>
            <a:off x="5767754" y="10"/>
            <a:ext cx="6424246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33498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2A18FCC-5D42-40A2-BFCE-BEDAFC8BE356}"/>
              </a:ext>
            </a:extLst>
          </p:cNvPr>
          <p:cNvSpPr/>
          <p:nvPr/>
        </p:nvSpPr>
        <p:spPr>
          <a:xfrm>
            <a:off x="3231583" y="4463647"/>
            <a:ext cx="114980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MacConkey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A8F143-8CAC-48FE-B82B-2EFAA3CA280D}"/>
              </a:ext>
            </a:extLst>
          </p:cNvPr>
          <p:cNvSpPr/>
          <p:nvPr/>
        </p:nvSpPr>
        <p:spPr>
          <a:xfrm>
            <a:off x="8580946" y="4261054"/>
            <a:ext cx="57111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MSA</a:t>
            </a:r>
          </a:p>
        </p:txBody>
      </p:sp>
      <p:pic>
        <p:nvPicPr>
          <p:cNvPr id="28" name="Picture 27" descr="A picture containing circle&#10;&#10;Description automatically generated">
            <a:extLst>
              <a:ext uri="{FF2B5EF4-FFF2-40B4-BE49-F238E27FC236}">
                <a16:creationId xmlns:a16="http://schemas.microsoft.com/office/drawing/2014/main" id="{94AA8BF0-41B3-4E55-A4DA-817849BF74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80" b="31632"/>
          <a:stretch/>
        </p:blipFill>
        <p:spPr>
          <a:xfrm>
            <a:off x="2485493" y="1700176"/>
            <a:ext cx="2650471" cy="243371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97C1D674-9C73-44D3-9053-6D3A4D24A985}"/>
              </a:ext>
            </a:extLst>
          </p:cNvPr>
          <p:cNvSpPr/>
          <p:nvPr/>
        </p:nvSpPr>
        <p:spPr>
          <a:xfrm rot="19275207">
            <a:off x="2690506" y="2375611"/>
            <a:ext cx="104099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Klebsilla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133AAC-78C1-473F-9854-E29F2F42F19F}"/>
              </a:ext>
            </a:extLst>
          </p:cNvPr>
          <p:cNvSpPr/>
          <p:nvPr/>
        </p:nvSpPr>
        <p:spPr>
          <a:xfrm>
            <a:off x="3093982" y="3375140"/>
            <a:ext cx="133081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Salmonella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826EAD-3C3E-4019-9DB7-9E20956F7753}"/>
              </a:ext>
            </a:extLst>
          </p:cNvPr>
          <p:cNvSpPr/>
          <p:nvPr/>
        </p:nvSpPr>
        <p:spPr>
          <a:xfrm rot="1698606">
            <a:off x="4065270" y="2305673"/>
            <a:ext cx="77944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Staph</a:t>
            </a:r>
          </a:p>
        </p:txBody>
      </p:sp>
      <p:pic>
        <p:nvPicPr>
          <p:cNvPr id="54" name="Picture 53" descr="A picture containing indoor&#10;&#10;Description automatically generated">
            <a:extLst>
              <a:ext uri="{FF2B5EF4-FFF2-40B4-BE49-F238E27FC236}">
                <a16:creationId xmlns:a16="http://schemas.microsoft.com/office/drawing/2014/main" id="{074DAC84-1E9B-4B9C-9B9B-8BE5E152C4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2" t="5627" r="9654" b="1732"/>
          <a:stretch/>
        </p:blipFill>
        <p:spPr>
          <a:xfrm>
            <a:off x="7514001" y="1526620"/>
            <a:ext cx="2813540" cy="2591737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0B07F4F9-41BB-4F80-A34E-20DBC568F8CC}"/>
              </a:ext>
            </a:extLst>
          </p:cNvPr>
          <p:cNvSpPr/>
          <p:nvPr/>
        </p:nvSpPr>
        <p:spPr>
          <a:xfrm rot="1580840">
            <a:off x="9200367" y="2344666"/>
            <a:ext cx="77944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Staph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7EEAD8-391B-4412-B966-F7BA987EF737}"/>
              </a:ext>
            </a:extLst>
          </p:cNvPr>
          <p:cNvSpPr/>
          <p:nvPr/>
        </p:nvSpPr>
        <p:spPr>
          <a:xfrm>
            <a:off x="8255364" y="3389664"/>
            <a:ext cx="133081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Salmonella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3F2E6E-0623-426E-BA9E-EEFB4B16BCE1}"/>
              </a:ext>
            </a:extLst>
          </p:cNvPr>
          <p:cNvSpPr/>
          <p:nvPr/>
        </p:nvSpPr>
        <p:spPr>
          <a:xfrm rot="18827999">
            <a:off x="7984475" y="2283723"/>
            <a:ext cx="69711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E.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coli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421F6A-FC0D-D312-5097-37285019E609}"/>
              </a:ext>
            </a:extLst>
          </p:cNvPr>
          <p:cNvSpPr/>
          <p:nvPr/>
        </p:nvSpPr>
        <p:spPr>
          <a:xfrm>
            <a:off x="1378494" y="817389"/>
            <a:ext cx="409374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To isolate Gram negative Bacteria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7315AA-A404-8B46-5641-BB68D0DD1D46}"/>
              </a:ext>
            </a:extLst>
          </p:cNvPr>
          <p:cNvSpPr/>
          <p:nvPr/>
        </p:nvSpPr>
        <p:spPr>
          <a:xfrm>
            <a:off x="6505230" y="4784221"/>
            <a:ext cx="462534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To isolate Gram positive Bacteria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BF2E5586-F5BC-E30E-EDAC-C034337179DB}"/>
              </a:ext>
            </a:extLst>
          </p:cNvPr>
          <p:cNvSpPr/>
          <p:nvPr/>
        </p:nvSpPr>
        <p:spPr>
          <a:xfrm>
            <a:off x="5511794" y="469299"/>
            <a:ext cx="857204" cy="584073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3144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7040130-343A-8607-D0A3-A50A5BF8E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3440" y="2161150"/>
            <a:ext cx="6792000" cy="185078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0000"/>
                </a:solidFill>
              </a:rPr>
              <a:t>Expected Results for Different Media</a:t>
            </a:r>
          </a:p>
        </p:txBody>
      </p:sp>
    </p:spTree>
    <p:extLst>
      <p:ext uri="{BB962C8B-B14F-4D97-AF65-F5344CB8AC3E}">
        <p14:creationId xmlns:p14="http://schemas.microsoft.com/office/powerpoint/2010/main" val="36527391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3BA9-4006-44F5-B91F-3B8CA44A2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4020"/>
          </a:xfrm>
        </p:spPr>
        <p:txBody>
          <a:bodyPr/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Results Nutrient Agar</a:t>
            </a:r>
          </a:p>
        </p:txBody>
      </p:sp>
      <p:pic>
        <p:nvPicPr>
          <p:cNvPr id="5" name="Content Placeholder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54518F16-2378-4F04-925F-CF88BF7EC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44" y="928688"/>
            <a:ext cx="7588962" cy="5929312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472B08-D8FD-417A-93B4-4B1C523AB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06" y="928687"/>
            <a:ext cx="4356293" cy="431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32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circle&#10;&#10;Description automatically generated">
            <a:extLst>
              <a:ext uri="{FF2B5EF4-FFF2-40B4-BE49-F238E27FC236}">
                <a16:creationId xmlns:a16="http://schemas.microsoft.com/office/drawing/2014/main" id="{48CDEF0F-B8BE-4A99-9BFE-2F58555CE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29" y="0"/>
            <a:ext cx="11683999" cy="6858000"/>
          </a:xfrm>
        </p:spPr>
      </p:pic>
    </p:spTree>
    <p:extLst>
      <p:ext uri="{BB962C8B-B14F-4D97-AF65-F5344CB8AC3E}">
        <p14:creationId xmlns:p14="http://schemas.microsoft.com/office/powerpoint/2010/main" val="15219294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9482-7235-4FC4-A19F-5300280C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9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Results on MacConkey’s agar</a:t>
            </a:r>
          </a:p>
        </p:txBody>
      </p:sp>
      <p:pic>
        <p:nvPicPr>
          <p:cNvPr id="5" name="Content Placeholder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787A03D8-E1ED-4853-955A-ED0172211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43" y="1055078"/>
            <a:ext cx="11190513" cy="5802922"/>
          </a:xfrm>
        </p:spPr>
      </p:pic>
    </p:spTree>
    <p:extLst>
      <p:ext uri="{BB962C8B-B14F-4D97-AF65-F5344CB8AC3E}">
        <p14:creationId xmlns:p14="http://schemas.microsoft.com/office/powerpoint/2010/main" val="10547718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Website&#10;&#10;Description automatically generated with low confidence">
            <a:extLst>
              <a:ext uri="{FF2B5EF4-FFF2-40B4-BE49-F238E27FC236}">
                <a16:creationId xmlns:a16="http://schemas.microsoft.com/office/drawing/2014/main" id="{36E9453F-20A5-4A1E-9C50-872BDBEF0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9" y="1161142"/>
            <a:ext cx="11335657" cy="5696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621560-61F5-46E3-BA43-E6782D05E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44" y="88153"/>
            <a:ext cx="10516511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27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51A4C-198E-4263-A584-49B033BB9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855"/>
            <a:ext cx="10515600" cy="3878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The Results on EMB</a:t>
            </a:r>
          </a:p>
        </p:txBody>
      </p:sp>
      <p:pic>
        <p:nvPicPr>
          <p:cNvPr id="7" name="Content Placeholder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F881DDB8-A601-4F08-BA80-457B3806B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696688"/>
            <a:ext cx="10856685" cy="5852458"/>
          </a:xfrm>
        </p:spPr>
      </p:pic>
    </p:spTree>
    <p:extLst>
      <p:ext uri="{BB962C8B-B14F-4D97-AF65-F5344CB8AC3E}">
        <p14:creationId xmlns:p14="http://schemas.microsoft.com/office/powerpoint/2010/main" val="7146554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64E7F-C314-47DF-B2FE-673BA7BD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8087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The Results on XLD (Xylose lysin deoxycholate agar)</a:t>
            </a:r>
            <a:endParaRPr lang="en-US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B87235-31D1-4C06-83C4-D530906EB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098" y="483739"/>
            <a:ext cx="11139552" cy="5832655"/>
          </a:xfrm>
        </p:spPr>
      </p:pic>
    </p:spTree>
    <p:extLst>
      <p:ext uri="{BB962C8B-B14F-4D97-AF65-F5344CB8AC3E}">
        <p14:creationId xmlns:p14="http://schemas.microsoft.com/office/powerpoint/2010/main" val="18564791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A4760B80-5DBD-4B34-9332-32CF3F390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86" y="862615"/>
            <a:ext cx="11582400" cy="599538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6ABFE2-DFD3-471A-A808-B0D7ED580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89" y="143225"/>
            <a:ext cx="10516511" cy="7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465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BF72D5-341E-404C-A2D4-6B64BDE99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48" y="0"/>
            <a:ext cx="10522608" cy="725487"/>
          </a:xfrm>
          <a:prstGeom prst="rect">
            <a:avLst/>
          </a:prstGeom>
        </p:spPr>
      </p:pic>
      <p:pic>
        <p:nvPicPr>
          <p:cNvPr id="6" name="Content Placeholder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F5670953-F580-40B7-8AE7-62509B601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" y="725488"/>
            <a:ext cx="11640457" cy="6132512"/>
          </a:xfrm>
        </p:spPr>
      </p:pic>
    </p:spTree>
    <p:extLst>
      <p:ext uri="{BB962C8B-B14F-4D97-AF65-F5344CB8AC3E}">
        <p14:creationId xmlns:p14="http://schemas.microsoft.com/office/powerpoint/2010/main" val="39775276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D366-CF57-4BA3-A39B-D5C1549F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896"/>
            <a:ext cx="10515600" cy="650875"/>
          </a:xfrm>
        </p:spPr>
        <p:txBody>
          <a:bodyPr/>
          <a:lstStyle/>
          <a:p>
            <a:pPr algn="ctr"/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gerian" panose="04020705040A02060702" pitchFamily="82" charset="0"/>
                <a:ea typeface="+mj-ea"/>
                <a:cs typeface="+mj-cs"/>
              </a:rPr>
              <a:t>The Results on mannitol salt  agar</a:t>
            </a:r>
            <a:endParaRPr lang="en-US" dirty="0"/>
          </a:p>
        </p:txBody>
      </p:sp>
      <p:pic>
        <p:nvPicPr>
          <p:cNvPr id="5" name="Content Placeholder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FCDC46A3-550D-4B40-B86F-E2B7AD218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86" y="783770"/>
            <a:ext cx="11234057" cy="5941334"/>
          </a:xfrm>
        </p:spPr>
      </p:pic>
    </p:spTree>
    <p:extLst>
      <p:ext uri="{BB962C8B-B14F-4D97-AF65-F5344CB8AC3E}">
        <p14:creationId xmlns:p14="http://schemas.microsoft.com/office/powerpoint/2010/main" val="8975760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09ED-3868-42F3-95CE-948787D4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9952"/>
          </a:xfrm>
        </p:spPr>
        <p:txBody>
          <a:bodyPr/>
          <a:lstStyle/>
          <a:p>
            <a:pPr algn="ctr"/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gerian" panose="04020705040A02060702" pitchFamily="82" charset="0"/>
                <a:ea typeface="+mj-ea"/>
                <a:cs typeface="+mj-cs"/>
              </a:rPr>
              <a:t>The Results on Blood Agar  agar</a:t>
            </a:r>
            <a:endParaRPr lang="en-US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AE3577F-8E39-4676-B230-6ABA3E49B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508000"/>
            <a:ext cx="10515600" cy="6589486"/>
          </a:xfrm>
        </p:spPr>
      </p:pic>
    </p:spTree>
    <p:extLst>
      <p:ext uri="{BB962C8B-B14F-4D97-AF65-F5344CB8AC3E}">
        <p14:creationId xmlns:p14="http://schemas.microsoft.com/office/powerpoint/2010/main" val="24649603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A05EB-A1DD-437C-AF72-B7B95B715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05907"/>
            <a:ext cx="10515600" cy="10832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rgbClr val="FF0000"/>
                </a:solidFill>
                <a:latin typeface="Algerian" panose="04020705040A02060702" pitchFamily="82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271249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 (3).potx" id="{9E27ADA6-EA10-4822-B3C1-6E8D86D7E392}" vid="{8B3BFCA4-8458-4DFE-B504-FC98F0D59E1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2088</Words>
  <Application>Microsoft Office PowerPoint</Application>
  <PresentationFormat>Widescreen</PresentationFormat>
  <Paragraphs>265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Algerian</vt:lpstr>
      <vt:lpstr>Arial</vt:lpstr>
      <vt:lpstr>Calibri</vt:lpstr>
      <vt:lpstr>Calibri Light</vt:lpstr>
      <vt:lpstr>Segoe UI</vt:lpstr>
      <vt:lpstr>Segoe UI Light</vt:lpstr>
      <vt:lpstr>Office Theme</vt:lpstr>
      <vt:lpstr>Get Started with 3D</vt:lpstr>
      <vt:lpstr>Media  as a part of the identification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Nutrient agar </vt:lpstr>
      <vt:lpstr>PowerPoint Presentation</vt:lpstr>
      <vt:lpstr>PowerPoint Presentation</vt:lpstr>
      <vt:lpstr>Blood agar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MacConkey agar </vt:lpstr>
      <vt:lpstr>PowerPoint Presentation</vt:lpstr>
      <vt:lpstr>PowerPoint Presentation</vt:lpstr>
      <vt:lpstr>PowerPoint Presentation</vt:lpstr>
      <vt:lpstr>Eosin Methylene Blue (EMB) </vt:lpstr>
      <vt:lpstr>PowerPoint Presentation</vt:lpstr>
      <vt:lpstr>PowerPoint Presentation</vt:lpstr>
      <vt:lpstr>PowerPoint Presentation</vt:lpstr>
      <vt:lpstr>PowerPoint Presentation</vt:lpstr>
      <vt:lpstr>Xylose Lysine Deoxycholate (XLD)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Mannitol salt agar (MSA)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Nutrient Agar</vt:lpstr>
      <vt:lpstr>PowerPoint Presentation</vt:lpstr>
      <vt:lpstr>Results on MacConkey’s agar</vt:lpstr>
      <vt:lpstr>PowerPoint Presentation</vt:lpstr>
      <vt:lpstr>The Results on EMB</vt:lpstr>
      <vt:lpstr>The Results on XLD (Xylose lysin deoxycholate agar)</vt:lpstr>
      <vt:lpstr>PowerPoint Presentation</vt:lpstr>
      <vt:lpstr>PowerPoint Presentation</vt:lpstr>
      <vt:lpstr>The Results on mannitol salt  agar</vt:lpstr>
      <vt:lpstr>The Results on Blood Agar  agar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</dc:title>
  <dc:creator>Adan</dc:creator>
  <cp:lastModifiedBy>Erwah Al Bataineh</cp:lastModifiedBy>
  <cp:revision>157</cp:revision>
  <dcterms:created xsi:type="dcterms:W3CDTF">2020-04-20T22:42:36Z</dcterms:created>
  <dcterms:modified xsi:type="dcterms:W3CDTF">2022-12-12T19:11:19Z</dcterms:modified>
</cp:coreProperties>
</file>