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7" r:id="rId3"/>
    <p:sldId id="258" r:id="rId4"/>
    <p:sldId id="257" r:id="rId5"/>
    <p:sldId id="259" r:id="rId6"/>
    <p:sldId id="260" r:id="rId7"/>
    <p:sldId id="308" r:id="rId8"/>
    <p:sldId id="261" r:id="rId9"/>
    <p:sldId id="278" r:id="rId10"/>
    <p:sldId id="282" r:id="rId11"/>
    <p:sldId id="283" r:id="rId12"/>
    <p:sldId id="284" r:id="rId13"/>
    <p:sldId id="263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309" r:id="rId23"/>
    <p:sldId id="276" r:id="rId24"/>
    <p:sldId id="262" r:id="rId25"/>
    <p:sldId id="264" r:id="rId26"/>
    <p:sldId id="265" r:id="rId27"/>
    <p:sldId id="281" r:id="rId28"/>
    <p:sldId id="280" r:id="rId29"/>
    <p:sldId id="266" r:id="rId30"/>
    <p:sldId id="267" r:id="rId31"/>
    <p:sldId id="268" r:id="rId32"/>
    <p:sldId id="269" r:id="rId33"/>
    <p:sldId id="270" r:id="rId34"/>
    <p:sldId id="271" r:id="rId35"/>
    <p:sldId id="310" r:id="rId36"/>
    <p:sldId id="27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 varScale="1">
        <p:scale>
          <a:sx n="68" d="100"/>
          <a:sy n="68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4FE87-A43C-44D3-8346-286209987C6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77491-35CC-4B0C-BFC7-A80D17333E0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sv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jpeg"/><Relationship Id="rId1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jpe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svg"/><Relationship Id="rId3" Type="http://schemas.openxmlformats.org/officeDocument/2006/relationships/image" Target="../media/image38.png"/><Relationship Id="rId2" Type="http://schemas.openxmlformats.org/officeDocument/2006/relationships/image" Target="../media/image2.sv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270" y="2378075"/>
            <a:ext cx="10515600" cy="178244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1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MOLECULAR GENETICS LABORATORY</a:t>
            </a:r>
            <a:br>
              <a:rPr lang="en-US" sz="311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3110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BT344</a:t>
            </a:r>
            <a:br>
              <a:rPr lang="en-US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3110"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Experiment (1)</a:t>
            </a:r>
            <a:br>
              <a:rPr lang="en-US" sz="311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br>
              <a:rPr lang="en-US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r>
              <a:rPr lang="en-US" sz="5335" b="1" dirty="0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Mitosis in onion root tips</a:t>
            </a:r>
            <a:br>
              <a:rPr lang="en-US" b="1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  <a:effectLst/>
                <a:latin typeface="Tahoma" panose="020B0604030504040204" pitchFamily="34" charset="0"/>
              </a:rPr>
            </a:br>
            <a:endParaRPr lang="en-US" dirty="0"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pic>
        <p:nvPicPr>
          <p:cNvPr id="4" name="Picture 3" descr="A picture containing text, outdoor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755" y="0"/>
            <a:ext cx="1856105" cy="13830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565" y="4445000"/>
            <a:ext cx="2896870" cy="2304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Content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en-US" sz="2200" dirty="0"/>
              <a:t>Objectives</a:t>
            </a:r>
            <a:endParaRPr lang="en-US" sz="2200" dirty="0"/>
          </a:p>
          <a:p>
            <a:r>
              <a:rPr lang="en-US" sz="2200" dirty="0"/>
              <a:t>History of the cell</a:t>
            </a:r>
            <a:endParaRPr lang="en-US" sz="2200" dirty="0"/>
          </a:p>
          <a:p>
            <a:r>
              <a:rPr lang="en-US" sz="2200" dirty="0"/>
              <a:t>Cell theory principles</a:t>
            </a:r>
            <a:endParaRPr lang="en-US" sz="2200" dirty="0"/>
          </a:p>
          <a:p>
            <a:r>
              <a:rPr lang="en-US" sz="2200" dirty="0"/>
              <a:t>The cell cycle</a:t>
            </a:r>
            <a:endParaRPr lang="en-US" sz="2200" dirty="0"/>
          </a:p>
          <a:p>
            <a:r>
              <a:rPr lang="en-US" sz="2200" dirty="0"/>
              <a:t>Mitosis vs. Meiosis</a:t>
            </a:r>
            <a:endParaRPr lang="en-US" sz="2200" dirty="0"/>
          </a:p>
          <a:p>
            <a:r>
              <a:rPr lang="en-US" sz="2200" dirty="0"/>
              <a:t>Mitosis in onion root tips</a:t>
            </a:r>
            <a:endParaRPr lang="en-US" sz="2200" dirty="0"/>
          </a:p>
          <a:p>
            <a:r>
              <a:rPr lang="en-US" sz="2200" dirty="0"/>
              <a:t>Mitotic index (MI)</a:t>
            </a:r>
            <a:endParaRPr lang="en-US" sz="2200" dirty="0"/>
          </a:p>
        </p:txBody>
      </p:sp>
      <p:pic>
        <p:nvPicPr>
          <p:cNvPr id="5" name="Picture 4" descr="Microscopic view of cells"/>
          <p:cNvPicPr>
            <a:picLocks noChangeAspect="1"/>
          </p:cNvPicPr>
          <p:nvPr/>
        </p:nvPicPr>
        <p:blipFill rotWithShape="1">
          <a:blip r:embed="rId1"/>
          <a:srcRect l="33295" r="21585" b="-1"/>
          <a:stretch>
            <a:fillRect/>
          </a:stretch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E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n-US"/>
              <a:t>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000" dirty="0"/>
              <a:t>Understand mitosis and meiosis processes.</a:t>
            </a:r>
            <a:endParaRPr lang="en-US" sz="2000" dirty="0"/>
          </a:p>
          <a:p>
            <a:pPr marL="514350" indent="-514350">
              <a:buFont typeface="+mj-lt"/>
              <a:buAutoNum type="arabicParenR"/>
            </a:pPr>
            <a:r>
              <a:rPr lang="en-US" sz="2000" dirty="0"/>
              <a:t>Prepare onion root tip slides.</a:t>
            </a:r>
            <a:endParaRPr lang="en-US" sz="2000" dirty="0"/>
          </a:p>
          <a:p>
            <a:pPr marL="514350" indent="-514350">
              <a:buFont typeface="+mj-lt"/>
              <a:buAutoNum type="arabicParenR"/>
            </a:pPr>
            <a:r>
              <a:rPr lang="en-US" sz="2000" dirty="0"/>
              <a:t>Visualize the stages of mitosis in onion root tip </a:t>
            </a:r>
            <a:endParaRPr lang="en-US" sz="2000" dirty="0"/>
          </a:p>
          <a:p>
            <a:pPr marL="514350" indent="-514350">
              <a:buFont typeface="+mj-lt"/>
              <a:buAutoNum type="arabicParenR"/>
            </a:pPr>
            <a:r>
              <a:rPr lang="en-US" sz="2000" dirty="0"/>
              <a:t>Calculate the mitotic index (MI).</a:t>
            </a:r>
            <a:endParaRPr lang="en-US" sz="2000" dirty="0"/>
          </a:p>
        </p:txBody>
      </p:sp>
      <p:pic>
        <p:nvPicPr>
          <p:cNvPr id="13" name="Picture 4" descr="Cross-section of a plant stem under a microscope"/>
          <p:cNvPicPr>
            <a:picLocks noChangeAspect="1"/>
          </p:cNvPicPr>
          <p:nvPr/>
        </p:nvPicPr>
        <p:blipFill rotWithShape="1">
          <a:blip r:embed="rId1"/>
          <a:srcRect l="31700" r="23180" b="-1"/>
          <a:stretch>
            <a:fillRect/>
          </a:stretch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9" name="Straight Connector 1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9034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History of the cell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Robert Hooke </a:t>
            </a:r>
            <a:r>
              <a:rPr lang="en-US" dirty="0"/>
              <a:t>(1665) was the first scientist to use the term (cell).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Robert Brown</a:t>
            </a:r>
            <a:r>
              <a:rPr lang="en-US" dirty="0"/>
              <a:t> (1883) was the first scientist to use the term (nucleus).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Matthias Schleiden </a:t>
            </a:r>
            <a:r>
              <a:rPr lang="en-US" dirty="0"/>
              <a:t>(1839) discovered that all plants are made up of cells.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Theodor Schwann </a:t>
            </a:r>
            <a:r>
              <a:rPr lang="en-US" dirty="0"/>
              <a:t>(1838) discovered that all animals are made up of cells.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Rudolf Virchow </a:t>
            </a:r>
            <a:r>
              <a:rPr lang="en-US" dirty="0"/>
              <a:t>(1855) discovered that all cells come from pre-existing cells.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Cell theory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All cells come from pre-existing cell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organisms are made of one or more than one cells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Cell is the basic, structural and functional unit in organism</a:t>
            </a:r>
            <a:endParaRPr lang="en-US" dirty="0"/>
          </a:p>
          <a:p>
            <a:endParaRPr lang="en-US" dirty="0"/>
          </a:p>
        </p:txBody>
      </p:sp>
      <p:pic>
        <p:nvPicPr>
          <p:cNvPr id="5" name="Graphic 4" descr="Germ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0250" y="57070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The cell cycle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cell cycle is a series of events that takes place in a cell as it grows and divides.</a:t>
            </a:r>
            <a:endParaRPr lang="en-US"/>
          </a:p>
          <a:p>
            <a:r>
              <a:rPr lang="en-US" b="1"/>
              <a:t>A cell cycle composed of two periods (stages):</a:t>
            </a:r>
            <a:r>
              <a:rPr lang="en-US"/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        -</a:t>
            </a:r>
            <a:r>
              <a:rPr lang="en-US">
                <a:sym typeface="+mn-ea"/>
              </a:rPr>
              <a:t> Interphase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        - Mitosis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r>
              <a:rPr lang="en-US"/>
              <a:t>A cell spends most of its time in </a:t>
            </a:r>
            <a:r>
              <a:rPr lang="en-US" b="1"/>
              <a:t>interphase</a:t>
            </a:r>
            <a:r>
              <a:rPr lang="en-US"/>
              <a:t>,where it grows, replicates its chromosomes, and prepares for cell division. Then, the </a:t>
            </a:r>
            <a:r>
              <a:rPr lang="en-US">
                <a:sym typeface="+mn-ea"/>
              </a:rPr>
              <a:t>cell </a:t>
            </a:r>
            <a:r>
              <a:rPr lang="en-US"/>
              <a:t>undergoes </a:t>
            </a:r>
            <a:r>
              <a:rPr lang="en-US" b="1"/>
              <a:t>mitosis</a:t>
            </a:r>
            <a:r>
              <a:rPr lang="en-US"/>
              <a:t>, and completes its division.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1006"/>
            <a:ext cx="10515600" cy="1325563"/>
          </a:xfrm>
        </p:spPr>
        <p:txBody>
          <a:bodyPr/>
          <a:lstStyle/>
          <a:p>
            <a:r>
              <a:rPr lang="en-US" b="1" dirty="0"/>
              <a:t>The cell cycle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rcRect l="10668" r="10416"/>
          <a:stretch>
            <a:fillRect/>
          </a:stretch>
        </p:blipFill>
        <p:spPr>
          <a:xfrm>
            <a:off x="6728460" y="1612900"/>
            <a:ext cx="5462905" cy="5283200"/>
          </a:xfrm>
          <a:prstGeom prst="rect">
            <a:avLst/>
          </a:prstGeom>
        </p:spPr>
      </p:pic>
      <p:pic>
        <p:nvPicPr>
          <p:cNvPr id="5" name="image7.png" descr="The image of the cell cycle shows a circle divided into 4 pieces like a pie graph with a red arrow that goes clockwise. The arrow begins during the section that takes up 40% of pie graph labelled Cell Growth. Cell Growth phase contains G1 checkpoint or restriction. Arrow continues to section labelled DNA synthesis that takes up 35% of the pie graph. Arrow continues to small section labelled Growth that takes up 20% of pie graph. Growth phase contains G2 checkpoint. Arrow continues to small section that takes up 5% labelled my-totic phase. My-totic phase contains M checkpoint causing formation of two daughter cells.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824990"/>
            <a:ext cx="6728460" cy="4588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18944" y="334596"/>
            <a:ext cx="8393283" cy="6188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457200"/>
            <a:ext cx="9715500" cy="11430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The cell cycle </a:t>
            </a:r>
            <a:r>
              <a:rPr lang="en-US" altLang="ar-JO" sz="4000" b="1" dirty="0"/>
              <a:t>can be divided into several stages: </a:t>
            </a:r>
            <a:endParaRPr lang="en-US" altLang="ar-JO" sz="4000" b="1" dirty="0"/>
          </a:p>
        </p:txBody>
      </p:sp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3201670" y="1380441"/>
            <a:ext cx="7239000" cy="479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 sz="3600" b="1" dirty="0">
                <a:solidFill>
                  <a:schemeClr val="tx1"/>
                </a:solidFill>
                <a:latin typeface="+mn-lt"/>
              </a:rPr>
              <a:t>Interphase</a:t>
            </a:r>
            <a:endParaRPr lang="en-US" altLang="ar-JO" sz="3600" b="1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 sz="3600" dirty="0">
                <a:solidFill>
                  <a:schemeClr val="tx1"/>
                </a:solidFill>
                <a:latin typeface="+mn-lt"/>
              </a:rPr>
              <a:t>Prophase</a:t>
            </a:r>
            <a:endParaRPr lang="en-US" altLang="ar-JO" sz="3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 sz="3600" dirty="0">
                <a:solidFill>
                  <a:schemeClr val="tx1"/>
                </a:solidFill>
                <a:latin typeface="+mn-lt"/>
              </a:rPr>
              <a:t>Metaphase</a:t>
            </a:r>
            <a:endParaRPr lang="en-US" altLang="ar-JO" sz="3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 sz="3600" dirty="0">
                <a:solidFill>
                  <a:schemeClr val="tx1"/>
                </a:solidFill>
                <a:latin typeface="+mn-lt"/>
              </a:rPr>
              <a:t>Anaphase</a:t>
            </a:r>
            <a:endParaRPr lang="en-US" altLang="ar-JO" sz="3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 sz="3600" dirty="0">
                <a:solidFill>
                  <a:schemeClr val="tx1"/>
                </a:solidFill>
                <a:latin typeface="+mn-lt"/>
              </a:rPr>
              <a:t>Telophase  </a:t>
            </a:r>
            <a:endParaRPr lang="en-US" altLang="ar-JO" sz="3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ar-JO" sz="3600" dirty="0">
                <a:solidFill>
                  <a:schemeClr val="tx1"/>
                </a:solidFill>
                <a:latin typeface="+mn-lt"/>
              </a:rPr>
              <a:t>Cytokinesis</a:t>
            </a:r>
            <a:endParaRPr lang="en-US" altLang="ar-JO" sz="36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052734" y="40836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ar-JO" sz="4000" b="1" dirty="0"/>
              <a:t>Interphase</a:t>
            </a:r>
            <a:br>
              <a:rPr lang="en-US" altLang="ar-JO" b="1" dirty="0"/>
            </a:br>
            <a:r>
              <a:rPr lang="en-US" altLang="ar-JO" sz="3200" dirty="0">
                <a:highlight>
                  <a:srgbClr val="FFFF00"/>
                </a:highlight>
              </a:rPr>
              <a:t>The cell prepares for division</a:t>
            </a:r>
            <a:endParaRPr lang="en-US" altLang="ar-JO" sz="3200" dirty="0">
              <a:highlight>
                <a:srgbClr val="FFFF00"/>
              </a:highlight>
            </a:endParaRP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26415" y="3771265"/>
            <a:ext cx="6911340" cy="277368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ar-JO" b="1" dirty="0"/>
              <a:t>Interphase events in animal and Plant Cells:</a:t>
            </a:r>
            <a:endParaRPr lang="en-US" altLang="ar-JO" b="1" dirty="0"/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DNA replicated (copied)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New organelles synthesis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Cell increases in size (growth)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endParaRPr lang="en-US" altLang="ar-JO" dirty="0">
              <a:ea typeface="Arial" panose="020B0604020202020204" pitchFamily="34" charset="0"/>
            </a:endParaRPr>
          </a:p>
        </p:txBody>
      </p:sp>
      <p:pic>
        <p:nvPicPr>
          <p:cNvPr id="19459" name="Picture 11" descr="interpha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144" y="3399097"/>
            <a:ext cx="41783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98051" y="1782293"/>
            <a:ext cx="10301066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Interphase</a:t>
            </a:r>
            <a:r>
              <a:rPr lang="en-US" sz="2400" dirty="0"/>
              <a:t>: the longest stage and it accounts about 90% of the cycle.</a:t>
            </a:r>
            <a:endParaRPr lang="en-US" sz="2400" dirty="0"/>
          </a:p>
          <a:p>
            <a:r>
              <a:rPr lang="en-US" sz="2400" dirty="0"/>
              <a:t>1- </a:t>
            </a:r>
            <a:r>
              <a:rPr lang="en-US" sz="2400" b="1" dirty="0"/>
              <a:t>G1</a:t>
            </a:r>
            <a:r>
              <a:rPr lang="en-US" sz="2400" dirty="0"/>
              <a:t> phase "first gap"</a:t>
            </a:r>
            <a:endParaRPr lang="en-US" sz="2400" dirty="0"/>
          </a:p>
          <a:p>
            <a:r>
              <a:rPr lang="en-US" sz="2400" dirty="0"/>
              <a:t>2- </a:t>
            </a:r>
            <a:r>
              <a:rPr lang="en-US" sz="2400" b="1" dirty="0"/>
              <a:t>S</a:t>
            </a:r>
            <a:r>
              <a:rPr lang="en-US" sz="2400" dirty="0"/>
              <a:t> phase "synthesis"</a:t>
            </a:r>
            <a:endParaRPr lang="en-US" sz="2400" dirty="0"/>
          </a:p>
          <a:p>
            <a:r>
              <a:rPr lang="en-US" sz="2400" dirty="0"/>
              <a:t>3- </a:t>
            </a:r>
            <a:r>
              <a:rPr lang="en-US" sz="2400" b="1" dirty="0"/>
              <a:t>G2</a:t>
            </a:r>
            <a:r>
              <a:rPr lang="en-US" sz="2400" dirty="0"/>
              <a:t> phase "second gap"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5"/>
          <p:cNvSpPr>
            <a:spLocks noGrp="1" noChangeArrowheads="1"/>
          </p:cNvSpPr>
          <p:nvPr>
            <p:ph type="title"/>
          </p:nvPr>
        </p:nvSpPr>
        <p:spPr>
          <a:xfrm>
            <a:off x="1091418" y="350837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ar-JO" b="1" dirty="0"/>
              <a:t>Interphase</a:t>
            </a:r>
            <a:endParaRPr lang="en-US" altLang="ar-JO" b="1" dirty="0"/>
          </a:p>
        </p:txBody>
      </p:sp>
      <p:sp>
        <p:nvSpPr>
          <p:cNvPr id="20482" name="Text Box 8"/>
          <p:cNvSpPr txBox="1">
            <a:spLocks noChangeArrowheads="1"/>
          </p:cNvSpPr>
          <p:nvPr/>
        </p:nvSpPr>
        <p:spPr bwMode="auto">
          <a:xfrm>
            <a:off x="1191064" y="1905001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0483" name="Text Box 9"/>
          <p:cNvSpPr txBox="1">
            <a:spLocks noChangeArrowheads="1"/>
          </p:cNvSpPr>
          <p:nvPr/>
        </p:nvSpPr>
        <p:spPr bwMode="auto">
          <a:xfrm>
            <a:off x="1343464" y="2057401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0484" name="Text Box 10"/>
          <p:cNvSpPr txBox="1">
            <a:spLocks noChangeArrowheads="1"/>
          </p:cNvSpPr>
          <p:nvPr/>
        </p:nvSpPr>
        <p:spPr bwMode="auto">
          <a:xfrm>
            <a:off x="1800664" y="1828800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Animal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sp>
        <p:nvSpPr>
          <p:cNvPr id="20485" name="Text Box 11"/>
          <p:cNvSpPr txBox="1">
            <a:spLocks noChangeArrowheads="1"/>
          </p:cNvSpPr>
          <p:nvPr/>
        </p:nvSpPr>
        <p:spPr bwMode="auto">
          <a:xfrm>
            <a:off x="7810304" y="1752600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 dirty="0">
                <a:solidFill>
                  <a:schemeClr val="tx1"/>
                </a:solidFill>
              </a:rPr>
              <a:t>Plant Cell</a:t>
            </a:r>
            <a:endParaRPr lang="en-US" altLang="ar-JO" sz="3600" dirty="0">
              <a:solidFill>
                <a:schemeClr val="tx1"/>
              </a:solidFill>
            </a:endParaRPr>
          </a:p>
        </p:txBody>
      </p:sp>
      <p:pic>
        <p:nvPicPr>
          <p:cNvPr id="20486" name="Picture 12" descr="animal_interphase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9664" y="2681288"/>
            <a:ext cx="3429000" cy="3429000"/>
          </a:xfrm>
          <a:noFill/>
        </p:spPr>
      </p:pic>
      <p:pic>
        <p:nvPicPr>
          <p:cNvPr id="20487" name="Picture 13" descr="plant_interpha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64559" y="2644458"/>
            <a:ext cx="3429000" cy="3429000"/>
          </a:xfrm>
          <a:noFill/>
        </p:spPr>
      </p:pic>
      <p:sp>
        <p:nvSpPr>
          <p:cNvPr id="20488" name="Text Box 14"/>
          <p:cNvSpPr txBox="1">
            <a:spLocks noChangeArrowheads="1"/>
          </p:cNvSpPr>
          <p:nvPr/>
        </p:nvSpPr>
        <p:spPr bwMode="auto">
          <a:xfrm>
            <a:off x="962464" y="6324600"/>
            <a:ext cx="6934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1400" dirty="0">
                <a:solidFill>
                  <a:schemeClr val="tx1"/>
                </a:solidFill>
              </a:rPr>
              <a:t>Photographs from: http://www.bioweb.uncc.edu/biol1110/Stages.htm</a:t>
            </a:r>
            <a:endParaRPr lang="en-US" altLang="ar-JO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84860" y="636270"/>
            <a:ext cx="10410825" cy="185928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ar-JO" b="1" dirty="0"/>
              <a:t>Prophase</a:t>
            </a:r>
            <a:br>
              <a:rPr lang="en-US" altLang="ar-JO" dirty="0"/>
            </a:br>
            <a:r>
              <a:rPr lang="en-US" altLang="ar-JO" sz="3200" dirty="0"/>
              <a:t>The cell prepares for nuclear division</a:t>
            </a:r>
            <a:br>
              <a:rPr lang="en-US" altLang="ar-JO" sz="3200" dirty="0"/>
            </a:br>
            <a:r>
              <a:rPr lang="en-US" altLang="ar-JO" sz="3200" dirty="0"/>
              <a:t>(</a:t>
            </a:r>
            <a:r>
              <a:rPr lang="en-US" altLang="ar-JO" sz="3200" b="1" dirty="0">
                <a:solidFill>
                  <a:schemeClr val="tx1"/>
                </a:solidFill>
                <a:ea typeface="Arial" panose="020B0604020202020204" pitchFamily="34" charset="0"/>
                <a:sym typeface="+mn-ea"/>
              </a:rPr>
              <a:t>LONGEST </a:t>
            </a:r>
            <a:r>
              <a:rPr lang="en-US" altLang="ar-JO" sz="3200" dirty="0">
                <a:ea typeface="Arial" panose="020B0604020202020204" pitchFamily="34" charset="0"/>
                <a:sym typeface="+mn-ea"/>
              </a:rPr>
              <a:t>phase of mitosis</a:t>
            </a:r>
            <a:r>
              <a:rPr lang="en-US" altLang="ar-JO" sz="3200" dirty="0"/>
              <a:t>)</a:t>
            </a:r>
            <a:endParaRPr lang="en-US" altLang="ar-JO" sz="3200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4520" y="2844165"/>
            <a:ext cx="6682740" cy="3276600"/>
          </a:xfrm>
        </p:spPr>
        <p:txBody>
          <a:bodyPr/>
          <a:lstStyle/>
          <a:p>
            <a:pPr eaLnBrk="1" hangingPunct="1"/>
            <a:r>
              <a:rPr lang="en-US" altLang="ar-JO" b="1" dirty="0"/>
              <a:t>Prophase </a:t>
            </a:r>
            <a:r>
              <a:rPr lang="en-US" altLang="ar-JO" b="1" dirty="0">
                <a:sym typeface="+mn-ea"/>
              </a:rPr>
              <a:t>events in animal and Plant Cells:</a:t>
            </a:r>
            <a:endParaRPr lang="en-US" altLang="ar-JO" b="1" dirty="0">
              <a:sym typeface="+mn-ea"/>
            </a:endParaRPr>
          </a:p>
          <a:p>
            <a:pPr marL="0" indent="0" eaLnBrk="1" hangingPunct="1">
              <a:buNone/>
            </a:pPr>
            <a:endParaRPr lang="en-US" altLang="ar-JO" b="1" dirty="0"/>
          </a:p>
          <a:p>
            <a:pPr lvl="1" eaLnBrk="1" hangingPunct="1"/>
            <a:r>
              <a:rPr lang="en-US">
                <a:sym typeface="+mn-ea"/>
              </a:rPr>
              <a:t>The condensation of chromosomes</a:t>
            </a:r>
            <a:endParaRPr lang="en-US">
              <a:sym typeface="+mn-ea"/>
            </a:endParaRPr>
          </a:p>
          <a:p>
            <a:pPr lvl="1" eaLnBrk="1" hangingPunct="1"/>
            <a:r>
              <a:rPr lang="en-US">
                <a:sym typeface="+mn-ea"/>
              </a:rPr>
              <a:t>The movement of the centrosomes</a:t>
            </a:r>
            <a:endParaRPr lang="en-US">
              <a:sym typeface="+mn-ea"/>
            </a:endParaRPr>
          </a:p>
          <a:p>
            <a:pPr lvl="1" eaLnBrk="1" hangingPunct="1"/>
            <a:r>
              <a:rPr lang="en-US">
                <a:sym typeface="+mn-ea"/>
              </a:rPr>
              <a:t>The formation of the mitotic spindle</a:t>
            </a:r>
            <a:endParaRPr lang="en-US">
              <a:sym typeface="+mn-ea"/>
            </a:endParaRPr>
          </a:p>
          <a:p>
            <a:pPr lvl="1" eaLnBrk="1" hangingPunct="1"/>
            <a:r>
              <a:rPr lang="en-US">
                <a:sym typeface="+mn-ea"/>
              </a:rPr>
              <a:t>The disappearance of </a:t>
            </a:r>
            <a:r>
              <a:rPr lang="en-US" altLang="ar-JO" dirty="0">
                <a:ea typeface="Arial" panose="020B0604020202020204" pitchFamily="34" charset="0"/>
                <a:sym typeface="+mn-ea"/>
              </a:rPr>
              <a:t>Nuclear envelope</a:t>
            </a:r>
            <a:endParaRPr lang="en-US">
              <a:sym typeface="+mn-ea"/>
            </a:endParaRPr>
          </a:p>
          <a:p>
            <a:pPr marL="457200" lvl="1" indent="0" eaLnBrk="1" hangingPunct="1">
              <a:buNone/>
            </a:pPr>
            <a:r>
              <a:rPr lang="en-US" altLang="ar-JO" dirty="0">
                <a:ea typeface="Arial" panose="020B0604020202020204" pitchFamily="34" charset="0"/>
              </a:rPr>
              <a:t> </a:t>
            </a:r>
            <a:endParaRPr lang="en-US" altLang="ar-JO" dirty="0">
              <a:ea typeface="Arial" panose="020B0604020202020204" pitchFamily="34" charset="0"/>
            </a:endParaRPr>
          </a:p>
        </p:txBody>
      </p:sp>
      <p:pic>
        <p:nvPicPr>
          <p:cNvPr id="21507" name="Picture 5" descr="prophase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260" y="3023870"/>
            <a:ext cx="41719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651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ar-JO" sz="5400" b="1" dirty="0"/>
              <a:t>Prophase</a:t>
            </a:r>
            <a:endParaRPr lang="en-US" altLang="ar-JO" sz="5400" b="1" dirty="0"/>
          </a:p>
        </p:txBody>
      </p:sp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1295400" y="1581444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1447800" y="1733844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1905000" y="1505243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Animal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sp>
        <p:nvSpPr>
          <p:cNvPr id="22533" name="Text Box 6"/>
          <p:cNvSpPr txBox="1">
            <a:spLocks noChangeArrowheads="1"/>
          </p:cNvSpPr>
          <p:nvPr/>
        </p:nvSpPr>
        <p:spPr bwMode="auto">
          <a:xfrm>
            <a:off x="8001000" y="1354113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Plant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pic>
        <p:nvPicPr>
          <p:cNvPr id="22534" name="Picture 10" descr="animal_prophase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2343443"/>
            <a:ext cx="3429000" cy="3429000"/>
          </a:xfrm>
          <a:noFill/>
        </p:spPr>
      </p:pic>
      <p:pic>
        <p:nvPicPr>
          <p:cNvPr id="22535" name="Picture 14" descr="plant_propha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00950" y="2343150"/>
            <a:ext cx="3429000" cy="3428365"/>
          </a:xfrm>
          <a:noFill/>
        </p:spPr>
      </p:pic>
      <p:sp>
        <p:nvSpPr>
          <p:cNvPr id="22536" name="Text Box 15"/>
          <p:cNvSpPr txBox="1">
            <a:spLocks noChangeArrowheads="1"/>
          </p:cNvSpPr>
          <p:nvPr/>
        </p:nvSpPr>
        <p:spPr bwMode="auto">
          <a:xfrm>
            <a:off x="1066800" y="6001043"/>
            <a:ext cx="6934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1400">
                <a:solidFill>
                  <a:schemeClr val="tx1"/>
                </a:solidFill>
              </a:rPr>
              <a:t>Photographs from: http://www.bioweb.uncc.edu/biol1110/Stages.htm</a:t>
            </a:r>
            <a:endParaRPr lang="en-US" altLang="ar-JO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55" y="351623"/>
            <a:ext cx="10766474" cy="20113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ar-JO" sz="4000" b="1" dirty="0"/>
              <a:t>Metaphase</a:t>
            </a:r>
            <a:br>
              <a:rPr lang="en-US" altLang="ar-JO" sz="4000" b="1" dirty="0"/>
            </a:br>
            <a:r>
              <a:rPr lang="en-US" altLang="ar-JO" sz="3200" dirty="0"/>
              <a:t>The cell prepares chromosomes for division</a:t>
            </a:r>
            <a:br>
              <a:rPr lang="en-US" altLang="ar-JO" sz="3200" dirty="0"/>
            </a:br>
            <a:r>
              <a:rPr lang="en-US" altLang="ar-JO" sz="3200" dirty="0"/>
              <a:t>(</a:t>
            </a:r>
            <a:r>
              <a:rPr lang="en-US" altLang="ar-JO" sz="3200" b="1" dirty="0">
                <a:solidFill>
                  <a:schemeClr val="tx1"/>
                </a:solidFill>
                <a:ea typeface="Arial" panose="020B0604020202020204" pitchFamily="34" charset="0"/>
                <a:sym typeface="+mn-ea"/>
              </a:rPr>
              <a:t>SHORTEST </a:t>
            </a:r>
            <a:r>
              <a:rPr lang="en-US" altLang="ar-JO" sz="3200" dirty="0">
                <a:ea typeface="Arial" panose="020B0604020202020204" pitchFamily="34" charset="0"/>
                <a:sym typeface="+mn-ea"/>
              </a:rPr>
              <a:t>phase of mitosis)</a:t>
            </a:r>
            <a:endParaRPr lang="en-US" altLang="ar-JO" sz="3200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635" y="3187065"/>
            <a:ext cx="7454265" cy="3230880"/>
          </a:xfrm>
        </p:spPr>
        <p:txBody>
          <a:bodyPr/>
          <a:lstStyle/>
          <a:p>
            <a:pPr lvl="1" eaLnBrk="1" hangingPunct="1"/>
            <a:r>
              <a:rPr lang="en-US" altLang="ar-JO" sz="2800" b="1" dirty="0"/>
              <a:t>Metaphase </a:t>
            </a:r>
            <a:r>
              <a:rPr lang="en-US" altLang="ar-JO" sz="2800" b="1" dirty="0">
                <a:sym typeface="+mn-ea"/>
              </a:rPr>
              <a:t>events in animal and Plant Cells:</a:t>
            </a:r>
            <a:endParaRPr lang="en-US" altLang="ar-JO" sz="2800" b="1" dirty="0">
              <a:sym typeface="+mn-ea"/>
            </a:endParaRPr>
          </a:p>
          <a:p>
            <a:pPr marL="457200" lvl="1" indent="0" eaLnBrk="1" hangingPunct="1">
              <a:buNone/>
            </a:pPr>
            <a:endParaRPr lang="en-US" altLang="ar-JO" sz="2800" b="1" dirty="0">
              <a:sym typeface="+mn-ea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Chromosomes line up at the middle of the cell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Spindle fibers attach to chromosomes at the centromere</a:t>
            </a:r>
            <a:endParaRPr lang="en-US" altLang="ar-JO" dirty="0">
              <a:ea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ar-JO" dirty="0"/>
          </a:p>
        </p:txBody>
      </p:sp>
      <p:pic>
        <p:nvPicPr>
          <p:cNvPr id="23555" name="Picture 6" descr="metapha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630" y="3187065"/>
            <a:ext cx="4625340" cy="327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9435" y="176530"/>
            <a:ext cx="2052955" cy="255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935501" y="310441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ar-JO" sz="5400" b="1" dirty="0"/>
              <a:t>Metaphase</a:t>
            </a:r>
            <a:endParaRPr lang="en-US" altLang="ar-JO" sz="5400" b="1" dirty="0"/>
          </a:p>
        </p:txBody>
      </p:sp>
      <p:sp>
        <p:nvSpPr>
          <p:cNvPr id="24578" name="Text Box 3"/>
          <p:cNvSpPr txBox="1">
            <a:spLocks noChangeArrowheads="1"/>
          </p:cNvSpPr>
          <p:nvPr/>
        </p:nvSpPr>
        <p:spPr bwMode="auto">
          <a:xfrm>
            <a:off x="783101" y="184873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935501" y="2001130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4580" name="Text Box 5"/>
          <p:cNvSpPr txBox="1">
            <a:spLocks noChangeArrowheads="1"/>
          </p:cNvSpPr>
          <p:nvPr/>
        </p:nvSpPr>
        <p:spPr bwMode="auto">
          <a:xfrm>
            <a:off x="1392701" y="1772529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Animal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sp>
        <p:nvSpPr>
          <p:cNvPr id="24581" name="Text Box 6"/>
          <p:cNvSpPr txBox="1">
            <a:spLocks noChangeArrowheads="1"/>
          </p:cNvSpPr>
          <p:nvPr/>
        </p:nvSpPr>
        <p:spPr bwMode="auto">
          <a:xfrm>
            <a:off x="8104651" y="1574409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Plant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pic>
        <p:nvPicPr>
          <p:cNvPr id="24582" name="Picture 10" descr="animal_metaphase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7755" y="2610485"/>
            <a:ext cx="3429000" cy="3422650"/>
          </a:xfrm>
          <a:noFill/>
        </p:spPr>
      </p:pic>
      <p:pic>
        <p:nvPicPr>
          <p:cNvPr id="24583" name="Picture 12" descr="plant_metapha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47451" y="2610729"/>
            <a:ext cx="3429000" cy="3429000"/>
          </a:xfrm>
          <a:noFill/>
        </p:spPr>
      </p:pic>
      <p:sp>
        <p:nvSpPr>
          <p:cNvPr id="24584" name="Text Box 13"/>
          <p:cNvSpPr txBox="1">
            <a:spLocks noChangeArrowheads="1"/>
          </p:cNvSpPr>
          <p:nvPr/>
        </p:nvSpPr>
        <p:spPr bwMode="auto">
          <a:xfrm>
            <a:off x="554501" y="6268329"/>
            <a:ext cx="6934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1400">
                <a:solidFill>
                  <a:schemeClr val="tx1"/>
                </a:solidFill>
              </a:rPr>
              <a:t>Photographs from: http://www.bioweb.uncc.edu/biol1110/Stages.htm</a:t>
            </a:r>
            <a:endParaRPr lang="en-US" altLang="ar-JO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50184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ar-JO" sz="4000" b="1" dirty="0"/>
              <a:t>Anaphase</a:t>
            </a:r>
            <a:br>
              <a:rPr lang="en-US" altLang="ar-JO" sz="4000" dirty="0"/>
            </a:br>
            <a:r>
              <a:rPr lang="en-US" altLang="ar-JO" sz="3200" dirty="0"/>
              <a:t>C</a:t>
            </a:r>
            <a:r>
              <a:rPr lang="en-US" altLang="ar-JO" sz="3200" dirty="0"/>
              <a:t>hromosomes division</a:t>
            </a:r>
            <a:endParaRPr lang="en-US" altLang="ar-JO" sz="3200" dirty="0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1180" y="2851785"/>
            <a:ext cx="6877050" cy="3154680"/>
          </a:xfrm>
        </p:spPr>
        <p:txBody>
          <a:bodyPr/>
          <a:lstStyle/>
          <a:p>
            <a:pPr marL="0" lvl="1" eaLnBrk="1" hangingPunct="1"/>
            <a:r>
              <a:rPr lang="en-US" altLang="ar-JO" sz="2800" b="1" dirty="0"/>
              <a:t>Anaphase </a:t>
            </a:r>
            <a:r>
              <a:rPr lang="en-US" altLang="ar-JO" sz="2800" b="1" dirty="0">
                <a:sym typeface="+mn-ea"/>
              </a:rPr>
              <a:t>events in animal and Plant Cells:</a:t>
            </a:r>
            <a:endParaRPr lang="en-US" altLang="ar-JO" sz="2800" b="1" dirty="0">
              <a:sym typeface="+mn-ea"/>
            </a:endParaRPr>
          </a:p>
          <a:p>
            <a:pPr marL="0" lvl="1" indent="0" eaLnBrk="1" hangingPunct="1">
              <a:buNone/>
            </a:pPr>
            <a:endParaRPr lang="en-US" altLang="ar-JO" sz="2800" b="1" dirty="0">
              <a:sym typeface="+mn-ea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Spindle fibers pull chromosomes apart from each other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½ of each chromosome (called chromatid) moves to poles of cells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endParaRPr lang="en-US" altLang="ar-JO" dirty="0">
              <a:ea typeface="Arial" panose="020B0604020202020204" pitchFamily="34" charset="0"/>
            </a:endParaRPr>
          </a:p>
        </p:txBody>
      </p:sp>
      <p:pic>
        <p:nvPicPr>
          <p:cNvPr id="25603" name="Picture 5" descr="anaphas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260" y="2279529"/>
            <a:ext cx="4138246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994117" y="346733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ar-JO" sz="5400" b="1" dirty="0"/>
              <a:t>Anaphase</a:t>
            </a:r>
            <a:endParaRPr lang="en-US" altLang="ar-JO" sz="5400" b="1" dirty="0"/>
          </a:p>
        </p:txBody>
      </p:sp>
      <p:sp>
        <p:nvSpPr>
          <p:cNvPr id="26626" name="Text Box 3"/>
          <p:cNvSpPr txBox="1">
            <a:spLocks noChangeArrowheads="1"/>
          </p:cNvSpPr>
          <p:nvPr/>
        </p:nvSpPr>
        <p:spPr bwMode="auto">
          <a:xfrm>
            <a:off x="994117" y="1862798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6627" name="Text Box 4"/>
          <p:cNvSpPr txBox="1">
            <a:spLocks noChangeArrowheads="1"/>
          </p:cNvSpPr>
          <p:nvPr/>
        </p:nvSpPr>
        <p:spPr bwMode="auto">
          <a:xfrm>
            <a:off x="1146517" y="2015198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1603717" y="1786597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Animal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8346147" y="1740242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Plant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pic>
        <p:nvPicPr>
          <p:cNvPr id="26630" name="Picture 10" descr="animal_anaphase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2717" y="2700997"/>
            <a:ext cx="3429000" cy="3429000"/>
          </a:xfrm>
          <a:noFill/>
        </p:spPr>
      </p:pic>
      <p:pic>
        <p:nvPicPr>
          <p:cNvPr id="26631" name="Picture 12" descr="plant_anapha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8947" y="2700997"/>
            <a:ext cx="3429000" cy="3429000"/>
          </a:xfrm>
          <a:noFill/>
        </p:spPr>
      </p:pic>
      <p:sp>
        <p:nvSpPr>
          <p:cNvPr id="26632" name="Text Box 13"/>
          <p:cNvSpPr txBox="1">
            <a:spLocks noChangeArrowheads="1"/>
          </p:cNvSpPr>
          <p:nvPr/>
        </p:nvSpPr>
        <p:spPr bwMode="auto">
          <a:xfrm>
            <a:off x="765517" y="6282397"/>
            <a:ext cx="6934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1400">
                <a:solidFill>
                  <a:schemeClr val="tx1"/>
                </a:solidFill>
              </a:rPr>
              <a:t>Photographs from: http://www.bioweb.uncc.edu/biol1110/Stages.htm</a:t>
            </a:r>
            <a:endParaRPr lang="en-US" altLang="ar-JO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1136" y="656222"/>
            <a:ext cx="82296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ar-JO" sz="4000" b="1" dirty="0"/>
              <a:t>Telophase</a:t>
            </a:r>
            <a:br>
              <a:rPr lang="en-US" altLang="ar-JO" dirty="0"/>
            </a:br>
            <a:r>
              <a:rPr lang="en-US" altLang="ar-JO" sz="3200" dirty="0"/>
              <a:t>The cytoplasm division</a:t>
            </a:r>
            <a:endParaRPr lang="en-US" altLang="ar-JO" sz="3200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2401570"/>
            <a:ext cx="4786630" cy="3383280"/>
          </a:xfrm>
        </p:spPr>
        <p:txBody>
          <a:bodyPr/>
          <a:lstStyle/>
          <a:p>
            <a:pPr eaLnBrk="1" hangingPunct="1"/>
            <a:r>
              <a:rPr lang="en-US" altLang="ar-JO" b="1" dirty="0"/>
              <a:t>Animal Cell:</a:t>
            </a:r>
            <a:endParaRPr lang="en-US" altLang="ar-JO" b="1" dirty="0"/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  <a:sym typeface="+mn-ea"/>
              </a:rPr>
              <a:t>Uncoiling of DNA &amp; appearing as chromatin again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  <a:sym typeface="+mn-ea"/>
              </a:rPr>
              <a:t>Formation of new two nuclei</a:t>
            </a:r>
            <a:endParaRPr lang="en-US" altLang="ar-JO" dirty="0">
              <a:ea typeface="Arial" panose="020B0604020202020204" pitchFamily="34" charset="0"/>
              <a:sym typeface="+mn-ea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Cell membrane pinches in to form the two new daughter cells</a:t>
            </a:r>
            <a:endParaRPr lang="en-US" altLang="ar-JO" dirty="0">
              <a:ea typeface="Arial" panose="020B0604020202020204" pitchFamily="34" charset="0"/>
            </a:endParaRPr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414895" y="2401570"/>
            <a:ext cx="4671695" cy="362394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ar-JO" b="1" dirty="0"/>
              <a:t>Plant Cell:</a:t>
            </a:r>
            <a:endParaRPr lang="en-US" altLang="ar-JO" b="1" dirty="0"/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Uncoiling of DNA &amp; appearing as chromatin again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Formation of new two nuclei </a:t>
            </a:r>
            <a:endParaRPr lang="en-US" altLang="ar-JO" dirty="0">
              <a:ea typeface="Arial" panose="020B0604020202020204" pitchFamily="34" charset="0"/>
            </a:endParaRPr>
          </a:p>
          <a:p>
            <a:pPr lvl="1" eaLnBrk="1" hangingPunct="1"/>
            <a:r>
              <a:rPr lang="en-US" altLang="ar-JO" dirty="0">
                <a:ea typeface="Arial" panose="020B0604020202020204" pitchFamily="34" charset="0"/>
              </a:rPr>
              <a:t>Formation of new cell wall between two nuclei to form the two new daughter cells</a:t>
            </a:r>
            <a:endParaRPr lang="en-US" altLang="ar-JO" dirty="0">
              <a:ea typeface="Arial" panose="020B0604020202020204" pitchFamily="34" charset="0"/>
            </a:endParaRPr>
          </a:p>
        </p:txBody>
      </p:sp>
      <p:pic>
        <p:nvPicPr>
          <p:cNvPr id="27652" name="Picture 5" descr="telophase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470" y="2035175"/>
            <a:ext cx="2638425" cy="386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1186375" y="365126"/>
            <a:ext cx="1051560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ar-JO" sz="5400" b="1" dirty="0"/>
              <a:t>Telophase</a:t>
            </a:r>
            <a:endParaRPr lang="en-US" altLang="ar-JO" sz="5400" b="1" dirty="0"/>
          </a:p>
        </p:txBody>
      </p:sp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881575" y="1614489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8675" name="Text Box 4"/>
          <p:cNvSpPr txBox="1">
            <a:spLocks noChangeArrowheads="1"/>
          </p:cNvSpPr>
          <p:nvPr/>
        </p:nvSpPr>
        <p:spPr bwMode="auto">
          <a:xfrm>
            <a:off x="1033975" y="1766889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ar-JO" altLang="ar-JO" sz="1800">
              <a:solidFill>
                <a:schemeClr val="tx1"/>
              </a:solidFill>
            </a:endParaRPr>
          </a:p>
        </p:txBody>
      </p:sp>
      <p:sp>
        <p:nvSpPr>
          <p:cNvPr id="28676" name="Text Box 5"/>
          <p:cNvSpPr txBox="1">
            <a:spLocks noChangeArrowheads="1"/>
          </p:cNvSpPr>
          <p:nvPr/>
        </p:nvSpPr>
        <p:spPr bwMode="auto">
          <a:xfrm>
            <a:off x="1491175" y="1538288"/>
            <a:ext cx="281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Animal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sp>
        <p:nvSpPr>
          <p:cNvPr id="28677" name="Text Box 6"/>
          <p:cNvSpPr txBox="1">
            <a:spLocks noChangeArrowheads="1"/>
          </p:cNvSpPr>
          <p:nvPr/>
        </p:nvSpPr>
        <p:spPr bwMode="auto">
          <a:xfrm>
            <a:off x="8044375" y="1339533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3600">
                <a:solidFill>
                  <a:schemeClr val="tx1"/>
                </a:solidFill>
              </a:rPr>
              <a:t>Plant Cell</a:t>
            </a:r>
            <a:endParaRPr lang="en-US" altLang="ar-JO" sz="3600">
              <a:solidFill>
                <a:schemeClr val="tx1"/>
              </a:solidFill>
            </a:endParaRPr>
          </a:p>
        </p:txBody>
      </p:sp>
      <p:pic>
        <p:nvPicPr>
          <p:cNvPr id="28678" name="Picture 10" descr="animal_telophase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6375" y="2376488"/>
            <a:ext cx="3429000" cy="3429000"/>
          </a:xfrm>
          <a:noFill/>
        </p:spPr>
      </p:pic>
      <p:pic>
        <p:nvPicPr>
          <p:cNvPr id="28679" name="Picture 12" descr="plant_telopha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87175" y="2270443"/>
            <a:ext cx="3429000" cy="3429000"/>
          </a:xfrm>
          <a:noFill/>
        </p:spPr>
      </p:pic>
      <p:sp>
        <p:nvSpPr>
          <p:cNvPr id="28680" name="Text Box 13"/>
          <p:cNvSpPr txBox="1">
            <a:spLocks noChangeArrowheads="1"/>
          </p:cNvSpPr>
          <p:nvPr/>
        </p:nvSpPr>
        <p:spPr bwMode="auto">
          <a:xfrm>
            <a:off x="652975" y="6034088"/>
            <a:ext cx="6934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ar-JO" sz="1400">
                <a:solidFill>
                  <a:schemeClr val="tx1"/>
                </a:solidFill>
              </a:rPr>
              <a:t>Photographs from: http://www.bioweb.uncc.edu/biol1110/Stages.htm</a:t>
            </a:r>
            <a:endParaRPr lang="en-US" altLang="ar-JO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ar-JO" sz="4000" b="1" dirty="0"/>
              <a:t>Cytokinesis</a:t>
            </a:r>
            <a:endParaRPr lang="en-US" altLang="ar-JO" sz="4000" b="1" dirty="0"/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347345" y="1795780"/>
            <a:ext cx="7296785" cy="4351655"/>
          </a:xfrm>
        </p:spPr>
        <p:txBody>
          <a:bodyPr/>
          <a:lstStyle/>
          <a:p>
            <a:r>
              <a:rPr lang="en-US" altLang="ar-JO" sz="2400" dirty="0"/>
              <a:t> </a:t>
            </a:r>
            <a:r>
              <a:rPr lang="en-US" altLang="ar-JO" sz="2400" b="1" dirty="0">
                <a:sym typeface="+mn-ea"/>
              </a:rPr>
              <a:t>Cytokinesis: </a:t>
            </a:r>
            <a:r>
              <a:rPr lang="en-US" altLang="ar-JO" sz="2400" dirty="0"/>
              <a:t>is the physical process of cell division, which divides the cytoplasm of a parental cell into two daughter cells</a:t>
            </a:r>
            <a:endParaRPr lang="en-US" altLang="ar-JO" sz="2400" dirty="0"/>
          </a:p>
          <a:p>
            <a:r>
              <a:rPr lang="en-US" altLang="ar-JO" sz="2400" dirty="0"/>
              <a:t>Begins in </a:t>
            </a:r>
            <a:r>
              <a:rPr lang="en-US" altLang="ar-JO" sz="2400" b="1" dirty="0"/>
              <a:t>telophase</a:t>
            </a:r>
            <a:endParaRPr lang="en-US" altLang="ar-JO" sz="2400" dirty="0"/>
          </a:p>
          <a:p>
            <a:endParaRPr lang="en-US" altLang="ar-JO" sz="2400" dirty="0"/>
          </a:p>
          <a:p>
            <a:endParaRPr lang="en-US" altLang="ar-JO" sz="2400" dirty="0"/>
          </a:p>
          <a:p>
            <a:r>
              <a:rPr lang="en-US" altLang="ar-JO" sz="2400" b="1" dirty="0"/>
              <a:t>In animal cells:</a:t>
            </a:r>
            <a:r>
              <a:rPr lang="en-US" altLang="ar-JO" sz="2400" dirty="0"/>
              <a:t> Cleavage furrow</a:t>
            </a:r>
            <a:endParaRPr lang="en-US" altLang="ar-JO" sz="2400" dirty="0"/>
          </a:p>
          <a:p>
            <a:r>
              <a:rPr lang="en-US" altLang="ar-JO" sz="2400" b="1" dirty="0"/>
              <a:t>In plant cells:</a:t>
            </a:r>
            <a:r>
              <a:rPr lang="en-US" altLang="ar-JO" sz="2400" dirty="0"/>
              <a:t> Cell plate</a:t>
            </a:r>
            <a:endParaRPr lang="en-US" altLang="ar-JO" sz="2400" dirty="0"/>
          </a:p>
          <a:p>
            <a:endParaRPr lang="en-US" altLang="ar-JO" sz="2400" dirty="0"/>
          </a:p>
          <a:p>
            <a:endParaRPr lang="en-US" altLang="ar-JO" sz="2400" dirty="0"/>
          </a:p>
        </p:txBody>
      </p:sp>
      <p:pic>
        <p:nvPicPr>
          <p:cNvPr id="4" name="Picture 3" descr="Cytokinesi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545" y="1203325"/>
            <a:ext cx="3420110" cy="264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Plant_cytokinesi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9" b="8571"/>
          <a:stretch>
            <a:fillRect/>
          </a:stretch>
        </p:blipFill>
        <p:spPr bwMode="auto">
          <a:xfrm>
            <a:off x="8006080" y="4257675"/>
            <a:ext cx="3494405" cy="2379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z="3200" b="1"/>
              <a:t> The major differences between a plant cell cytokinesis and animal cell cytokinesis:</a:t>
            </a:r>
            <a:endParaRPr lang="en-US" sz="3200" b="1"/>
          </a:p>
        </p:txBody>
      </p:sp>
      <p:graphicFrame>
        <p:nvGraphicFramePr>
          <p:cNvPr id="4" name="Table 3"/>
          <p:cNvGraphicFramePr/>
          <p:nvPr/>
        </p:nvGraphicFramePr>
        <p:xfrm>
          <a:off x="494030" y="1932940"/>
          <a:ext cx="11203305" cy="470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410"/>
                <a:gridCol w="4081780"/>
                <a:gridCol w="4730115"/>
              </a:tblGrid>
              <a:tr h="522605">
                <a:tc>
                  <a:txBody>
                    <a:bodyPr/>
                    <a:p>
                      <a:pPr>
                        <a:buNone/>
                      </a:pPr>
                      <a:r>
                        <a:rPr lang="ar-JO" altLang="en-US"/>
                        <a:t>                                                                                                                                                                 ىىى</a:t>
                      </a:r>
                      <a:endParaRPr lang="ar-JO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Plant Cytokinesis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400"/>
                        <a:t>Animal Cytokinesis</a:t>
                      </a:r>
                      <a:endParaRPr lang="en-US" sz="2400"/>
                    </a:p>
                  </a:txBody>
                  <a:tcPr/>
                </a:tc>
              </a:tr>
              <a:tr h="10452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/>
                        <a:t>Mode of Division</a:t>
                      </a:r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cells are divided by the formation of a </a:t>
                      </a:r>
                      <a:r>
                        <a:rPr lang="en-US" b="1"/>
                        <a:t>cell plate</a:t>
                      </a:r>
                      <a:r>
                        <a:rPr lang="en-US"/>
                        <a:t> in the middle of the mother cell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cells are divided by the formation of a </a:t>
                      </a:r>
                      <a:r>
                        <a:rPr lang="en-US" b="1"/>
                        <a:t>cleavage furrow</a:t>
                      </a:r>
                      <a:r>
                        <a:rPr lang="en-US"/>
                        <a:t> on both the sides of the mother cell</a:t>
                      </a:r>
                      <a:endParaRPr lang="en-US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/>
                        <a:t>Direction of Division</a:t>
                      </a:r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division happens </a:t>
                      </a:r>
                      <a:r>
                        <a:rPr lang="en-US" b="1"/>
                        <a:t>centrifugally</a:t>
                      </a:r>
                      <a:r>
                        <a:rPr lang="en-US"/>
                        <a:t> ( from the centre to the periphery)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division happens </a:t>
                      </a:r>
                      <a:r>
                        <a:rPr lang="en-US" b="1"/>
                        <a:t>centripetally</a:t>
                      </a:r>
                      <a:r>
                        <a:rPr lang="en-US"/>
                        <a:t> (from the periphery to the centre)</a:t>
                      </a:r>
                      <a:endParaRPr lang="en-US"/>
                    </a:p>
                  </a:txBody>
                  <a:tcPr/>
                </a:tc>
              </a:tr>
              <a:tr h="1358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/>
                        <a:t>Cell Plate Formation</a:t>
                      </a:r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The vesicles from golgi apparatus carry cell wall material to the equator of the cell and form a cell plate that moves towards the periphery of the cell.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 such event takes place in the animal cell.</a:t>
                      </a:r>
                      <a:endParaRPr lang="en-US"/>
                    </a:p>
                  </a:txBody>
                  <a:tcPr/>
                </a:tc>
              </a:tr>
              <a:tr h="10452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 b="1"/>
                        <a:t>Cleavage Furrow</a:t>
                      </a:r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 such event </a:t>
                      </a:r>
                      <a:r>
                        <a:rPr lang="en-US" sz="1800">
                          <a:sym typeface="+mn-ea"/>
                        </a:rPr>
                        <a:t>takes place </a:t>
                      </a:r>
                      <a:r>
                        <a:rPr lang="en-US"/>
                        <a:t>in plant cells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 contractile ring is formed in the middle by the actin and myosin filaments that pull the cleavage furrow towards the centre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19" y="72162"/>
            <a:ext cx="10515600" cy="1325563"/>
          </a:xfrm>
        </p:spPr>
        <p:txBody>
          <a:bodyPr/>
          <a:lstStyle/>
          <a:p>
            <a:r>
              <a:rPr lang="en-US" b="1" dirty="0"/>
              <a:t>Mitosis vs. Meiosis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2405" y="1025525"/>
            <a:ext cx="11925300" cy="56203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475" y="19371"/>
            <a:ext cx="10515600" cy="1325563"/>
          </a:xfrm>
        </p:spPr>
        <p:txBody>
          <a:bodyPr/>
          <a:lstStyle/>
          <a:p>
            <a:r>
              <a:rPr lang="en-US" b="1" dirty="0"/>
              <a:t>Mitosis vs. Meiosis</a:t>
            </a:r>
            <a:endParaRPr lang="en-US" b="1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ph idx="1"/>
          </p:nvPr>
        </p:nvGraphicFramePr>
        <p:xfrm>
          <a:off x="328475" y="1226645"/>
          <a:ext cx="11482526" cy="54610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58772"/>
                <a:gridCol w="3697947"/>
                <a:gridCol w="5625807"/>
              </a:tblGrid>
              <a:tr h="357964">
                <a:tc>
                  <a:txBody>
                    <a:bodyPr/>
                    <a:lstStyle/>
                    <a:p>
                      <a:r>
                        <a:rPr lang="en-US"/>
                        <a:t>Property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Mitosis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Meiosis</a:t>
                      </a:r>
                      <a:endParaRPr lang="en-US" dirty="0"/>
                    </a:p>
                  </a:txBody>
                  <a:tcPr/>
                </a:tc>
              </a:tr>
              <a:tr h="626437">
                <a:tc>
                  <a:txBody>
                    <a:bodyPr/>
                    <a:lstStyle/>
                    <a:p>
                      <a:r>
                        <a:rPr lang="en-US" b="1"/>
                        <a:t>DNA replication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Occurs during interphase</a:t>
                      </a:r>
                      <a:endParaRPr lang="en-US"/>
                    </a:p>
                    <a:p>
                      <a:r>
                        <a:rPr lang="en-US"/>
                        <a:t>before mitosis begins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Occurs during interphase before meiosis I begins</a:t>
                      </a:r>
                      <a:endParaRPr lang="en-US" dirty="0"/>
                    </a:p>
                  </a:txBody>
                  <a:tcPr/>
                </a:tc>
              </a:tr>
              <a:tr h="894911">
                <a:tc>
                  <a:txBody>
                    <a:bodyPr/>
                    <a:lstStyle/>
                    <a:p>
                      <a:r>
                        <a:rPr lang="en-US" b="1"/>
                        <a:t>Number of divisions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One, including prophase,</a:t>
                      </a:r>
                      <a:endParaRPr lang="en-US"/>
                    </a:p>
                    <a:p>
                      <a:r>
                        <a:rPr lang="en-US"/>
                        <a:t>metaphase, anaphase,</a:t>
                      </a:r>
                      <a:endParaRPr lang="en-US"/>
                    </a:p>
                    <a:p>
                      <a:r>
                        <a:rPr lang="en-US"/>
                        <a:t>and telophase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Two, each including prophase, metaphase,</a:t>
                      </a:r>
                      <a:endParaRPr lang="en-US"/>
                    </a:p>
                    <a:p>
                      <a:r>
                        <a:rPr lang="en-US"/>
                        <a:t>anaphase, and telophase</a:t>
                      </a:r>
                      <a:endParaRPr lang="en-US" dirty="0"/>
                    </a:p>
                  </a:txBody>
                  <a:tcPr/>
                </a:tc>
              </a:tr>
              <a:tr h="894911">
                <a:tc>
                  <a:txBody>
                    <a:bodyPr/>
                    <a:lstStyle/>
                    <a:p>
                      <a:r>
                        <a:rPr lang="en-US" b="1"/>
                        <a:t>Synapsis of</a:t>
                      </a:r>
                      <a:endParaRPr lang="en-US" b="1"/>
                    </a:p>
                    <a:p>
                      <a:r>
                        <a:rPr lang="en-US" b="1"/>
                        <a:t>homologous</a:t>
                      </a:r>
                      <a:endParaRPr lang="en-US" b="1"/>
                    </a:p>
                    <a:p>
                      <a:r>
                        <a:rPr lang="en-US" b="1"/>
                        <a:t>chromosomes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Doesn’t occur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Occur during prophase I along with crossing over</a:t>
                      </a:r>
                      <a:endParaRPr lang="en-US" dirty="0"/>
                    </a:p>
                    <a:p>
                      <a:r>
                        <a:rPr lang="en-US" dirty="0"/>
                        <a:t>between non-sister chromatids</a:t>
                      </a:r>
                      <a:endParaRPr lang="en-US" dirty="0"/>
                    </a:p>
                  </a:txBody>
                  <a:tcPr/>
                </a:tc>
              </a:tr>
              <a:tr h="1163384">
                <a:tc>
                  <a:txBody>
                    <a:bodyPr/>
                    <a:lstStyle/>
                    <a:p>
                      <a:r>
                        <a:rPr lang="en-US" b="1"/>
                        <a:t>Number of daughter</a:t>
                      </a:r>
                      <a:endParaRPr lang="en-US" b="1"/>
                    </a:p>
                    <a:p>
                      <a:r>
                        <a:rPr lang="en-US" b="1"/>
                        <a:t>cells and genetic</a:t>
                      </a:r>
                      <a:endParaRPr lang="en-US" b="1"/>
                    </a:p>
                    <a:p>
                      <a:r>
                        <a:rPr lang="en-US" b="1"/>
                        <a:t>composition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Two, each diploid (2n) and genetically identical to the parent cell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Four, each haploid (n), containing half as many chromosomes as the parent cell; genetically different from the parent cell and from each other</a:t>
                      </a:r>
                      <a:endParaRPr lang="en-US" dirty="0"/>
                    </a:p>
                  </a:txBody>
                  <a:tcPr/>
                </a:tc>
              </a:tr>
              <a:tr h="1431857">
                <a:tc>
                  <a:txBody>
                    <a:bodyPr/>
                    <a:lstStyle/>
                    <a:p>
                      <a:r>
                        <a:rPr lang="en-US" b="1"/>
                        <a:t>Role in the animal</a:t>
                      </a:r>
                      <a:endParaRPr lang="en-US" b="1"/>
                    </a:p>
                    <a:p>
                      <a:r>
                        <a:rPr lang="en-US" b="1"/>
                        <a:t>body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multicellular adult</a:t>
                      </a:r>
                      <a:endParaRPr lang="en-US" dirty="0"/>
                    </a:p>
                    <a:p>
                      <a:r>
                        <a:rPr lang="en-US" dirty="0"/>
                        <a:t>to arise from zygote;</a:t>
                      </a:r>
                      <a:endParaRPr lang="en-US" dirty="0"/>
                    </a:p>
                    <a:p>
                      <a:r>
                        <a:rPr lang="en-US" dirty="0"/>
                        <a:t>produces cells for growth,</a:t>
                      </a:r>
                      <a:endParaRPr lang="en-US" dirty="0"/>
                    </a:p>
                    <a:p>
                      <a:r>
                        <a:rPr lang="en-US" dirty="0"/>
                        <a:t>repair, and in some species,</a:t>
                      </a:r>
                      <a:endParaRPr lang="en-US" dirty="0"/>
                    </a:p>
                    <a:p>
                      <a:r>
                        <a:rPr lang="en-US" dirty="0"/>
                        <a:t>asexual reproduction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Produce gametes; reduce number of chromosomes by</a:t>
                      </a:r>
                      <a:endParaRPr lang="en-US" dirty="0"/>
                    </a:p>
                    <a:p>
                      <a:r>
                        <a:rPr lang="en-US" dirty="0"/>
                        <a:t>half and introduces genetic variability among the gametes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Mitosis in onion root tips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645" y="1825625"/>
            <a:ext cx="7590790" cy="4351655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b="1" dirty="0"/>
              <a:t>Regions of onion root tips:</a:t>
            </a:r>
            <a:endParaRPr lang="en-US" b="1" dirty="0"/>
          </a:p>
          <a:p>
            <a:pPr marL="0" indent="0">
              <a:buFont typeface="Wingdings" panose="05000000000000000000" charset="0"/>
              <a:buNone/>
            </a:pPr>
            <a:endParaRPr lang="en-US" b="1" dirty="0"/>
          </a:p>
          <a:p>
            <a:pPr>
              <a:buNone/>
            </a:pPr>
            <a:r>
              <a:rPr lang="en-US" sz="2400" dirty="0"/>
              <a:t>1-</a:t>
            </a:r>
            <a:r>
              <a:rPr lang="en-US" dirty="0"/>
              <a:t> </a:t>
            </a:r>
            <a:r>
              <a:rPr lang="en-US" sz="2400" b="1" dirty="0"/>
              <a:t>Root cap</a:t>
            </a:r>
            <a:r>
              <a:rPr lang="en-US" sz="2400" dirty="0"/>
              <a:t>: cells that cover and protect the underlying growth region as the root pushes through the soil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2- </a:t>
            </a:r>
            <a:r>
              <a:rPr lang="en-US" sz="2400" b="1" dirty="0"/>
              <a:t>Region of cell division (meristem)</a:t>
            </a:r>
            <a:r>
              <a:rPr lang="en-US" sz="2400" dirty="0"/>
              <a:t>: cells are actively dividing but no increase in size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3- </a:t>
            </a:r>
            <a:r>
              <a:rPr lang="en-US" sz="2400" b="1" dirty="0"/>
              <a:t>Region of cell elongation</a:t>
            </a:r>
            <a:r>
              <a:rPr lang="en-US" sz="2400" dirty="0"/>
              <a:t>: cells increase in size but not in number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8" r="5814"/>
          <a:stretch>
            <a:fillRect/>
          </a:stretch>
        </p:blipFill>
        <p:spPr bwMode="auto">
          <a:xfrm>
            <a:off x="8181340" y="1667510"/>
            <a:ext cx="3895725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240" y="494665"/>
            <a:ext cx="3983355" cy="1106170"/>
          </a:xfrm>
        </p:spPr>
        <p:txBody>
          <a:bodyPr>
            <a:normAutofit/>
          </a:bodyPr>
          <a:lstStyle/>
          <a:p>
            <a:r>
              <a:rPr lang="en-US" sz="2800" b="1" dirty="0"/>
              <a:t>Mitosis in onion root tips: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555" y="1847215"/>
            <a:ext cx="5389245" cy="3636010"/>
          </a:xfrm>
        </p:spPr>
        <p:txBody>
          <a:bodyPr>
            <a:noAutofit/>
          </a:bodyPr>
          <a:lstStyle/>
          <a:p>
            <a:r>
              <a:rPr lang="en-US" sz="2400" b="1" dirty="0"/>
              <a:t>Why</a:t>
            </a:r>
            <a:r>
              <a:rPr lang="en-US" sz="2400" b="1" dirty="0"/>
              <a:t> do we use onion root tip to study mitosis?</a:t>
            </a:r>
            <a:endParaRPr lang="en-US" sz="2400" b="1" dirty="0"/>
          </a:p>
          <a:p>
            <a:pPr marL="514350" indent="-514350">
              <a:buFont typeface="+mj-lt"/>
              <a:buAutoNum type="arabicParenR"/>
            </a:pPr>
            <a:r>
              <a:rPr lang="en-US" sz="2400" dirty="0"/>
              <a:t>The roots are easy to grow in large numbers.</a:t>
            </a: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dirty="0"/>
              <a:t>The cells at the tip of roots are actively dividing (</a:t>
            </a:r>
            <a:r>
              <a:rPr lang="en-US" sz="2400" dirty="0" err="1"/>
              <a:t>meristamatic</a:t>
            </a:r>
            <a:r>
              <a:rPr lang="en-US" sz="2400" dirty="0"/>
              <a:t> cells).</a:t>
            </a: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dirty="0"/>
              <a:t>The chromosome can be easily stained (large and more visible). </a:t>
            </a: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en-US" sz="2400" dirty="0"/>
              <a:t>The tips can be easily squashed so that the chromosomes of individual cells can be observed.</a:t>
            </a:r>
            <a:endParaRPr lang="en-US" sz="2400" dirty="0"/>
          </a:p>
        </p:txBody>
      </p:sp>
      <p:pic>
        <p:nvPicPr>
          <p:cNvPr id="9" name="Picture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6" t="4928" r="8039" b="5849"/>
          <a:stretch>
            <a:fillRect/>
          </a:stretch>
        </p:blipFill>
        <p:spPr bwMode="auto">
          <a:xfrm>
            <a:off x="6767195" y="1847215"/>
            <a:ext cx="5059680" cy="43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bject 2"/>
          <p:cNvSpPr txBox="1"/>
          <p:nvPr/>
        </p:nvSpPr>
        <p:spPr>
          <a:xfrm>
            <a:off x="6591809" y="1219319"/>
            <a:ext cx="4803846" cy="381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Onion</a:t>
            </a:r>
            <a:r>
              <a:rPr lang="en-US" sz="2400" b="1" spc="-20" dirty="0"/>
              <a:t> root</a:t>
            </a:r>
            <a:r>
              <a:rPr lang="en-US" sz="2400" b="1" spc="-15" dirty="0"/>
              <a:t> </a:t>
            </a:r>
            <a:r>
              <a:rPr lang="en-US" sz="2400" b="1" dirty="0"/>
              <a:t>tip</a:t>
            </a:r>
            <a:r>
              <a:rPr lang="en-US" sz="2400" b="1" spc="-5" dirty="0"/>
              <a:t> </a:t>
            </a:r>
            <a:r>
              <a:rPr lang="en-US" sz="2400" b="1" spc="-15" dirty="0"/>
              <a:t>after</a:t>
            </a:r>
            <a:r>
              <a:rPr lang="en-US" sz="2400" b="1" spc="-30" dirty="0"/>
              <a:t> </a:t>
            </a:r>
            <a:r>
              <a:rPr lang="en-US" sz="2400" b="1" spc="-15" dirty="0"/>
              <a:t>Aceto-Orcein </a:t>
            </a:r>
            <a:r>
              <a:rPr lang="en-US" sz="2400" b="1" spc="-20" dirty="0"/>
              <a:t>stain</a:t>
            </a:r>
            <a:endParaRPr lang="en-US" sz="2400" b="1" spc="-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0069" y="553720"/>
            <a:ext cx="8130540" cy="6273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/>
              <a:t>Stages </a:t>
            </a:r>
            <a:r>
              <a:rPr sz="4000" b="1" spc="-5" dirty="0"/>
              <a:t>of </a:t>
            </a:r>
            <a:r>
              <a:rPr sz="4000" b="1" spc="-10" dirty="0"/>
              <a:t>Mitosis</a:t>
            </a:r>
            <a:r>
              <a:rPr sz="4000" b="1" spc="-5" dirty="0"/>
              <a:t> in</a:t>
            </a:r>
            <a:r>
              <a:rPr sz="4000" b="1" dirty="0"/>
              <a:t> </a:t>
            </a:r>
            <a:r>
              <a:rPr sz="4000" b="1" spc="-10" dirty="0"/>
              <a:t>Onion</a:t>
            </a:r>
            <a:r>
              <a:rPr sz="4000" b="1" spc="5" dirty="0"/>
              <a:t> </a:t>
            </a:r>
            <a:r>
              <a:rPr sz="4000" b="1" spc="-25" dirty="0"/>
              <a:t>Root</a:t>
            </a:r>
            <a:r>
              <a:rPr sz="4000" b="1" spc="-5" dirty="0"/>
              <a:t> tip</a:t>
            </a:r>
            <a:r>
              <a:rPr sz="4000" b="1" spc="-15" dirty="0"/>
              <a:t> </a:t>
            </a:r>
            <a:r>
              <a:rPr sz="4000" b="1" spc="-5" dirty="0"/>
              <a:t>cells</a:t>
            </a:r>
            <a:endParaRPr sz="4000" b="1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63675" y="1829435"/>
            <a:ext cx="9718675" cy="45694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12.jpe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797" y="1645860"/>
            <a:ext cx="4748598" cy="35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image13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221" y="1646495"/>
            <a:ext cx="4625657" cy="35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60525" y="920433"/>
            <a:ext cx="8576945" cy="89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7152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1520" algn="l"/>
              </a:tabLst>
            </a:pPr>
            <a:r>
              <a:rPr kumimoji="0" lang="en-US" altLang="ar-J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Calibri" panose="020F0502020204030204" charset="0"/>
              </a:rPr>
              <a:t>100x magnification</a:t>
            </a:r>
            <a:r>
              <a:rPr kumimoji="0" lang="en-US" altLang="ar-J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Calibri" panose="020F0502020204030204" charset="0"/>
              </a:rPr>
              <a:t>	                                     </a:t>
            </a:r>
            <a:r>
              <a:rPr kumimoji="0" lang="en-US" altLang="ar-JO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Calibri" panose="020F0502020204030204" charset="0"/>
              </a:rPr>
              <a:t>400x magnification</a:t>
            </a:r>
            <a:endParaRPr kumimoji="0" lang="en-US" altLang="ar-JO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71520" algn="l"/>
              </a:tabLst>
            </a:pPr>
            <a:endParaRPr kumimoji="0" lang="en-US" altLang="ar-JO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65211" y="3762502"/>
            <a:ext cx="1967056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ar-J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charset="0"/>
                <a:cs typeface="Calibri" panose="020F0502020204030204" charset="0"/>
              </a:rPr>
              <a:t>	</a:t>
            </a:r>
            <a:endParaRPr kumimoji="0" lang="en-US" altLang="ar-J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Mitotic index (MI)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982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mitotic index</a:t>
            </a:r>
            <a:r>
              <a:rPr lang="en-US" dirty="0"/>
              <a:t>: is a measure of the proliferation status of a cell population (i.e., the proportion of dividing cells). 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( The ratio between the number of cells in a population undergoing mitosis to the total number of cells in a population)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mitotic index may be </a:t>
            </a:r>
            <a:r>
              <a:rPr lang="en-US" b="1" dirty="0"/>
              <a:t>elevated</a:t>
            </a:r>
            <a:r>
              <a:rPr lang="en-US" dirty="0"/>
              <a:t> during processes that promote division, such as normal growth or cellular repair.</a:t>
            </a:r>
            <a:endParaRPr lang="en-US" dirty="0"/>
          </a:p>
          <a:p>
            <a:endParaRPr lang="en-US" dirty="0"/>
          </a:p>
          <a:p>
            <a:r>
              <a:rPr lang="en-US" dirty="0"/>
              <a:t>It also functions as an important </a:t>
            </a:r>
            <a:r>
              <a:rPr lang="en-US" b="1" dirty="0"/>
              <a:t>prognostic</a:t>
            </a:r>
            <a:r>
              <a:rPr lang="en-US" dirty="0"/>
              <a:t> </a:t>
            </a:r>
            <a:r>
              <a:rPr lang="en-US" b="1" dirty="0"/>
              <a:t>tool </a:t>
            </a:r>
            <a:r>
              <a:rPr lang="en-US" dirty="0"/>
              <a:t>for predicting the response of cancer cells to chemotherapy.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4495466"/>
            <a:ext cx="3611880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Identifying Mitotic Cells</a:t>
            </a:r>
            <a:endParaRPr lang="en-US" sz="320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l="4543" r="837" b="-2"/>
          <a:stretch>
            <a:fillRect/>
          </a:stretch>
        </p:blipFill>
        <p:spPr>
          <a:xfrm>
            <a:off x="805977" y="311290"/>
            <a:ext cx="10580046" cy="367602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7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08475" y="4531995"/>
            <a:ext cx="7393305" cy="15360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sym typeface="Wingdings" panose="05000000000000000000" pitchFamily="2" charset="2"/>
              </a:rPr>
              <a:t> </a:t>
            </a:r>
            <a:r>
              <a:rPr lang="en-US" sz="1600" dirty="0"/>
              <a:t>Cells undergoing mitosis will lack a clearly defined nucleus and possess visibly condensed chromosomes.</a:t>
            </a:r>
            <a:endParaRPr lang="en-US" sz="16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Prophase</a:t>
            </a:r>
            <a:r>
              <a:rPr lang="en-US" sz="1600" dirty="0"/>
              <a:t> – Chromosomes condensed but still confined to a nuclear region.</a:t>
            </a:r>
            <a:endParaRPr lang="en-US" sz="16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Metaphase</a:t>
            </a:r>
            <a:r>
              <a:rPr lang="en-US" sz="1600" dirty="0"/>
              <a:t> – Chromosomes aligned along the equator of the cell.</a:t>
            </a:r>
            <a:endParaRPr lang="en-US" sz="16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Anaphase</a:t>
            </a:r>
            <a:r>
              <a:rPr lang="en-US" sz="1600" dirty="0"/>
              <a:t> – Two distinct clusters of chromosomes apparent at poles of the cell.</a:t>
            </a:r>
            <a:endParaRPr lang="en-US" sz="16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Telophase</a:t>
            </a:r>
            <a:r>
              <a:rPr lang="en-US" sz="1600" dirty="0"/>
              <a:t> – Two nuclear regions present within a single cell (difficult to see as cytokinesis occurs concurrently).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Calculating the MI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3740" y="1449070"/>
            <a:ext cx="11306810" cy="50438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Calculating the MI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1660" y="1385570"/>
            <a:ext cx="11447780" cy="51073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Calculating the MI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Mitotic index (MI)</a:t>
            </a:r>
            <a:r>
              <a:rPr lang="en-US" dirty="0"/>
              <a:t>= Number of actively-dividing cells in field of view / total number of cells in field of view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Time of each stage</a:t>
            </a:r>
            <a:r>
              <a:rPr lang="en-US" dirty="0"/>
              <a:t> = (number of cells at each stage/ total number of cells counted)* cell cycle duration for the organism (in min)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</a:t>
            </a:r>
            <a:r>
              <a:rPr lang="en-US" b="1" dirty="0"/>
              <a:t> % of time</a:t>
            </a:r>
            <a:r>
              <a:rPr lang="en-US" dirty="0"/>
              <a:t> = time in each stage/ total time *100%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Procedure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Cut off (</a:t>
            </a:r>
            <a:r>
              <a:rPr lang="en-US" b="1" dirty="0"/>
              <a:t>2-3 cm</a:t>
            </a:r>
            <a:r>
              <a:rPr lang="en-US" dirty="0"/>
              <a:t>) of freshly grown roots.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Using a forceps, place one root on a clean glass slide.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Using a dropper, place one drop of </a:t>
            </a:r>
            <a:r>
              <a:rPr lang="en-US" b="1" dirty="0"/>
              <a:t>1M HCL </a:t>
            </a:r>
            <a:r>
              <a:rPr lang="en-US" dirty="0"/>
              <a:t>on the root tip followed by one drop of </a:t>
            </a:r>
            <a:r>
              <a:rPr lang="en-US" b="1" dirty="0"/>
              <a:t>lacto-aceto-orcein</a:t>
            </a:r>
            <a:r>
              <a:rPr lang="en-US" dirty="0"/>
              <a:t> stain.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Warm it slightly on </a:t>
            </a:r>
            <a:r>
              <a:rPr lang="en-US" b="1" dirty="0"/>
              <a:t>burner</a:t>
            </a:r>
            <a:r>
              <a:rPr lang="en-US" dirty="0"/>
              <a:t>. Care should be taken that the stain is </a:t>
            </a:r>
            <a:r>
              <a:rPr lang="en-US" b="1" dirty="0"/>
              <a:t>NOT</a:t>
            </a:r>
            <a:r>
              <a:rPr lang="en-US" dirty="0"/>
              <a:t> dried up.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Carefully, </a:t>
            </a:r>
            <a:r>
              <a:rPr lang="en-US" b="1" dirty="0"/>
              <a:t>blot</a:t>
            </a:r>
            <a:r>
              <a:rPr lang="en-US" dirty="0"/>
              <a:t> the excess stain using filter paper.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After that, put one drop of </a:t>
            </a:r>
            <a:r>
              <a:rPr lang="en-US" b="1" dirty="0"/>
              <a:t>water</a:t>
            </a:r>
            <a:r>
              <a:rPr lang="en-US" dirty="0"/>
              <a:t> on the root tip.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Place a cover slip on the root tip in a 45 degrees angle.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Squash the root tip </a:t>
            </a:r>
            <a:r>
              <a:rPr lang="en-US" b="1" dirty="0"/>
              <a:t>gently</a:t>
            </a:r>
            <a:r>
              <a:rPr lang="en-US" dirty="0"/>
              <a:t> using your </a:t>
            </a:r>
            <a:r>
              <a:rPr lang="en-US" b="1" dirty="0"/>
              <a:t>thumb</a:t>
            </a:r>
            <a:r>
              <a:rPr lang="en-US" dirty="0"/>
              <a:t>.</a:t>
            </a: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Examine</a:t>
            </a:r>
            <a:r>
              <a:rPr lang="en-US" dirty="0"/>
              <a:t> under compound microscope and observe different stages of the cell division.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5715" y="878205"/>
            <a:ext cx="10515600" cy="782320"/>
          </a:xfrm>
        </p:spPr>
        <p:txBody>
          <a:bodyPr>
            <a:normAutofit fontScale="90000"/>
          </a:bodyPr>
          <a:p>
            <a:r>
              <a:rPr lang="en-US" sz="3555" b="1" dirty="0">
                <a:sym typeface="+mn-ea"/>
              </a:rPr>
              <a:t>Onion</a:t>
            </a:r>
            <a:r>
              <a:rPr lang="en-US" sz="3555" b="1" spc="-20" dirty="0">
                <a:sym typeface="+mn-ea"/>
              </a:rPr>
              <a:t> root</a:t>
            </a:r>
            <a:r>
              <a:rPr lang="en-US" sz="3555" b="1" spc="-15" dirty="0">
                <a:sym typeface="+mn-ea"/>
              </a:rPr>
              <a:t> </a:t>
            </a:r>
            <a:r>
              <a:rPr lang="en-US" sz="3555" b="1" dirty="0">
                <a:sym typeface="+mn-ea"/>
              </a:rPr>
              <a:t>tip</a:t>
            </a:r>
            <a:r>
              <a:rPr lang="en-US" sz="3555" b="1" spc="-5" dirty="0">
                <a:sym typeface="+mn-ea"/>
              </a:rPr>
              <a:t> </a:t>
            </a:r>
            <a:r>
              <a:rPr lang="en-US" sz="3555" b="1" spc="-15" dirty="0">
                <a:sym typeface="+mn-ea"/>
              </a:rPr>
              <a:t>after</a:t>
            </a:r>
            <a:r>
              <a:rPr lang="en-US" sz="3555" b="1" spc="-30" dirty="0">
                <a:sym typeface="+mn-ea"/>
              </a:rPr>
              <a:t> </a:t>
            </a:r>
            <a:r>
              <a:rPr lang="en-US" sz="3555" b="1" spc="-15" dirty="0">
                <a:sym typeface="+mn-ea"/>
              </a:rPr>
              <a:t>Aceto-Orcein </a:t>
            </a:r>
            <a:r>
              <a:rPr lang="en-US" sz="3555" b="1" spc="-20" dirty="0">
                <a:sym typeface="+mn-ea"/>
              </a:rPr>
              <a:t>stain</a:t>
            </a:r>
            <a:br>
              <a:rPr lang="en-US" sz="3555" b="1" spc="-20" dirty="0"/>
            </a:br>
            <a:endParaRPr lang="en-US" sz="3555"/>
          </a:p>
        </p:txBody>
      </p:sp>
      <p:pic>
        <p:nvPicPr>
          <p:cNvPr id="100" name="Content Placeholder 99"/>
          <p:cNvPicPr/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0670" y="1660525"/>
            <a:ext cx="11616690" cy="5029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9720" y="2740660"/>
            <a:ext cx="4003040" cy="1529715"/>
          </a:xfrm>
        </p:spPr>
        <p:txBody>
          <a:bodyPr>
            <a:normAutofit/>
          </a:bodyPr>
          <a:lstStyle/>
          <a:p>
            <a:r>
              <a:rPr lang="en-US" sz="7200" dirty="0"/>
              <a:t>The END</a:t>
            </a:r>
            <a:endParaRPr lang="en-US" sz="7200" dirty="0"/>
          </a:p>
        </p:txBody>
      </p:sp>
      <p:pic>
        <p:nvPicPr>
          <p:cNvPr id="5" name="Graphic 4" descr="Onion with solid fill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0285" y="2740660"/>
            <a:ext cx="1290955" cy="1290955"/>
          </a:xfrm>
          <a:prstGeom prst="rect">
            <a:avLst/>
          </a:prstGeom>
        </p:spPr>
      </p:pic>
      <p:pic>
        <p:nvPicPr>
          <p:cNvPr id="8" name="Graphic 7" descr="Microscope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72045" y="2740660"/>
            <a:ext cx="1155700" cy="1155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8117</Words>
  <Application>WPS Presentation</Application>
  <PresentationFormat>Widescreen</PresentationFormat>
  <Paragraphs>320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SimSun</vt:lpstr>
      <vt:lpstr>Wingdings</vt:lpstr>
      <vt:lpstr>Tahoma</vt:lpstr>
      <vt:lpstr>Arial Black</vt:lpstr>
      <vt:lpstr>MS PGothic</vt:lpstr>
      <vt:lpstr>Calibri Light</vt:lpstr>
      <vt:lpstr>Microsoft YaHei</vt:lpstr>
      <vt:lpstr>Arial Unicode MS</vt:lpstr>
      <vt:lpstr>Calibri</vt:lpstr>
      <vt:lpstr>Wingdings</vt:lpstr>
      <vt:lpstr>Calibri</vt:lpstr>
      <vt:lpstr>Times New Roman</vt:lpstr>
      <vt:lpstr>Office Theme</vt:lpstr>
      <vt:lpstr>MOLECULAR GENETICS LABORATORY BT344  Experiment (1) Mitosis in onion root tips  </vt:lpstr>
      <vt:lpstr>Content </vt:lpstr>
      <vt:lpstr>Objectives </vt:lpstr>
      <vt:lpstr>History of the cell</vt:lpstr>
      <vt:lpstr>Cell theory principles</vt:lpstr>
      <vt:lpstr>The cell cycle</vt:lpstr>
      <vt:lpstr>The cell cycle</vt:lpstr>
      <vt:lpstr>PowerPoint 演示文稿</vt:lpstr>
      <vt:lpstr>The cell cycle can be divided into several stages: </vt:lpstr>
      <vt:lpstr>Interphase The cell prepares for division</vt:lpstr>
      <vt:lpstr>Interphase</vt:lpstr>
      <vt:lpstr>Prophase The cell prepares for nuclear division (LONGEST phase of mitosis)</vt:lpstr>
      <vt:lpstr>Prophase</vt:lpstr>
      <vt:lpstr>Metaphase The cell prepares chromosomes for division (SHORTEST phase of mitosis)</vt:lpstr>
      <vt:lpstr>Metaphase</vt:lpstr>
      <vt:lpstr>Anaphase Chromosomes division</vt:lpstr>
      <vt:lpstr>Anaphase</vt:lpstr>
      <vt:lpstr>Telophase The cytoplasm division</vt:lpstr>
      <vt:lpstr>Telophase</vt:lpstr>
      <vt:lpstr>Cytokinesis</vt:lpstr>
      <vt:lpstr> The major differences between a plant cell cytokinesis and animal cell cytokinesis:</vt:lpstr>
      <vt:lpstr>Mitosis vs. Meiosis</vt:lpstr>
      <vt:lpstr>Mitosis vs. Meiosis</vt:lpstr>
      <vt:lpstr>Mitosis in onion root tips</vt:lpstr>
      <vt:lpstr>Mitosis in onion root tips:</vt:lpstr>
      <vt:lpstr>Stages of Mitosis in Onion Root tip cells</vt:lpstr>
      <vt:lpstr>PowerPoint 演示文稿</vt:lpstr>
      <vt:lpstr>Mitotic index (MI)</vt:lpstr>
      <vt:lpstr>Identifying Mitotic Cells</vt:lpstr>
      <vt:lpstr>Calculating the MI</vt:lpstr>
      <vt:lpstr>Calculating the MI</vt:lpstr>
      <vt:lpstr>Calculating the MI</vt:lpstr>
      <vt:lpstr>Procedure</vt:lpstr>
      <vt:lpstr>Onion root tip after Aceto-Orcein stain 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GHADEER ALSOUKHNI</dc:creator>
  <cp:lastModifiedBy>Lenovo</cp:lastModifiedBy>
  <cp:revision>126</cp:revision>
  <dcterms:created xsi:type="dcterms:W3CDTF">2021-02-19T02:46:00Z</dcterms:created>
  <dcterms:modified xsi:type="dcterms:W3CDTF">2023-07-16T19:46:26Z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A5397D4479964AC18A6E71D8974B2FE4</vt:lpwstr>
  </property>
  <property fmtid="{D5CDD505-2E9C-101B-9397-08002B2CF9AE}" pid="3" name="KSOProductBuildVer">
    <vt:lpwstr>1033-11.2.0.11537</vt:lpwstr>
  </property>
</Properties>
</file>