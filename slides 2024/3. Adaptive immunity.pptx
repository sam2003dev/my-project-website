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6" r:id="rId2"/>
    <p:sldId id="257" r:id="rId3"/>
    <p:sldId id="258" r:id="rId4"/>
    <p:sldId id="260" r:id="rId5"/>
    <p:sldId id="280" r:id="rId6"/>
    <p:sldId id="262" r:id="rId7"/>
    <p:sldId id="263" r:id="rId8"/>
    <p:sldId id="277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81" r:id="rId20"/>
    <p:sldId id="282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7237A1-C6F6-4D60-9FEA-0577A78DE493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2E68F1-0623-4C49-8D19-E79D219E7B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645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6893DE9-C5A7-439D-ADAD-34A2C64DD63F}" type="slidenum">
              <a:rPr lang="ar-SA"/>
              <a:pPr/>
              <a:t>12</a:t>
            </a:fld>
            <a:endParaRPr 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solidFill>
            <a:srgbClr val="FFFFFF"/>
          </a:solidFill>
          <a:ln w="12699" cap="flat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FG23_01.JPG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Title: Lymphatic System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Notes: An overview of the arrangement of lymphatic vessels, lymph nodes, and lymphoid organs.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Keywords: lymphatic system, components, lymph nodes, cervical, axillary, pelvic, inguinal, lumbar, right lymphatic duct, thoracic lymphatic duct, mammary gland, spleen, gut-associated, cisterna chyli, thymus, lymphatics of lower limb</a:t>
            </a:r>
          </a:p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6930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F42B957-A369-4C47-910D-04FAD5814C5C}" type="slidenum">
              <a:rPr lang="ar-SA"/>
              <a:pPr/>
              <a:t>16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449152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en.wikipedia.org/wiki/Hematopoiesi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Cortex_(anatomy)" TargetMode="External"/><Relationship Id="rId2" Type="http://schemas.openxmlformats.org/officeDocument/2006/relationships/hyperlink" Target="http://en.wikipedia.org/wiki/Thymu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en.wikipedia.org/wiki/Thymocytes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Atrophy" TargetMode="External"/><Relationship Id="rId2" Type="http://schemas.openxmlformats.org/officeDocument/2006/relationships/hyperlink" Target="http://en.wikipedia.org/wiki/Central_toleranc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en.wikipedia.org/wiki/Lymphopoiesis" TargetMode="External"/><Relationship Id="rId4" Type="http://schemas.openxmlformats.org/officeDocument/2006/relationships/hyperlink" Target="http://en.wikipedia.org/wiki/Adipose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The lymphocytic Organs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r>
              <a:rPr lang="en-US" sz="2400" dirty="0"/>
              <a:t>Include organs in which lymphocytes proliferation, maturation and differentiation take place.</a:t>
            </a:r>
          </a:p>
          <a:p>
            <a:r>
              <a:rPr lang="en-US" sz="2400" dirty="0"/>
              <a:t>Divided into 2 categories:</a:t>
            </a:r>
          </a:p>
          <a:p>
            <a:pPr>
              <a:buFontTx/>
              <a:buNone/>
            </a:pPr>
            <a:r>
              <a:rPr lang="en-US" sz="2400" dirty="0"/>
              <a:t>	</a:t>
            </a:r>
            <a:r>
              <a:rPr lang="en-US" sz="2400" b="1" dirty="0">
                <a:solidFill>
                  <a:srgbClr val="FF0000"/>
                </a:solidFill>
              </a:rPr>
              <a:t>primary or central L.O.</a:t>
            </a:r>
            <a:r>
              <a:rPr lang="en-US" sz="2400" dirty="0"/>
              <a:t> in which the maturation of undifferentiated stem cells to lymphocytes (B and T) occurs (Diversity &amp; self-tolerance &amp; maturation).</a:t>
            </a:r>
          </a:p>
          <a:p>
            <a:pPr>
              <a:buFontTx/>
              <a:buNone/>
            </a:pPr>
            <a:r>
              <a:rPr lang="en-US" sz="2400" dirty="0"/>
              <a:t>	 include the thymus and  bone marrow. </a:t>
            </a:r>
          </a:p>
          <a:p>
            <a:pPr>
              <a:buFontTx/>
              <a:buNone/>
            </a:pPr>
            <a:r>
              <a:rPr lang="en-US" sz="2400" dirty="0"/>
              <a:t>	</a:t>
            </a:r>
            <a:r>
              <a:rPr lang="en-US" sz="2400" b="1" dirty="0">
                <a:solidFill>
                  <a:srgbClr val="FF0000"/>
                </a:solidFill>
              </a:rPr>
              <a:t> secondary or peripheral L.O</a:t>
            </a:r>
            <a:r>
              <a:rPr lang="en-US" sz="2400" dirty="0"/>
              <a:t>. Mature but naive B and T lymphocytes migrate through the blood stream and lymphatic system to the </a:t>
            </a:r>
            <a:r>
              <a:rPr lang="en-US" sz="2400" b="1" dirty="0">
                <a:solidFill>
                  <a:srgbClr val="FF0000"/>
                </a:solidFill>
              </a:rPr>
              <a:t>sec. L.O</a:t>
            </a:r>
            <a:r>
              <a:rPr lang="en-US" sz="2400" dirty="0"/>
              <a:t>. organs including lymph nodes,  spleen and others. Ag-driven Activation of naive lymphocytes occurs in secondary L.O.  (</a:t>
            </a:r>
            <a:r>
              <a:rPr lang="en-US" sz="2400" b="1" dirty="0"/>
              <a:t>IMMUNE RESPONSE)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82562"/>
          </a:xfrm>
        </p:spPr>
        <p:txBody>
          <a:bodyPr>
            <a:normAutofit fontScale="90000"/>
          </a:bodyPr>
          <a:lstStyle/>
          <a:p>
            <a:endParaRPr lang="ar-JO" dirty="0"/>
          </a:p>
        </p:txBody>
      </p:sp>
      <p:sp>
        <p:nvSpPr>
          <p:cNvPr id="39939" name="Content Placeholder 3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Bone marrow</a:t>
            </a:r>
          </a:p>
          <a:p>
            <a:pPr>
              <a:buFontTx/>
              <a:buNone/>
            </a:pPr>
            <a:r>
              <a:rPr lang="en-US" sz="2000" dirty="0"/>
              <a:t>Bone marrow is a highly cellular structure present within the hollow cavities of hard bone tissue. </a:t>
            </a:r>
          </a:p>
          <a:p>
            <a:pPr>
              <a:buFontTx/>
              <a:buNone/>
            </a:pPr>
            <a:r>
              <a:rPr lang="en-US" sz="2000" dirty="0"/>
              <a:t>Bone marrow  is of 2 types:</a:t>
            </a:r>
          </a:p>
          <a:p>
            <a:pPr>
              <a:buFontTx/>
              <a:buNone/>
            </a:pPr>
            <a:r>
              <a:rPr lang="en-US" sz="2000" dirty="0"/>
              <a:t> R</a:t>
            </a:r>
            <a:r>
              <a:rPr lang="en-US" sz="2000" b="1" dirty="0"/>
              <a:t>ed bone marrow </a:t>
            </a:r>
            <a:r>
              <a:rPr lang="en-US" sz="2000" dirty="0"/>
              <a:t>(</a:t>
            </a:r>
            <a:r>
              <a:rPr lang="en-US" sz="2000" b="1" dirty="0">
                <a:solidFill>
                  <a:srgbClr val="00B050"/>
                </a:solidFill>
              </a:rPr>
              <a:t>hematopoietic  stem cells  </a:t>
            </a:r>
            <a:r>
              <a:rPr lang="en-US" sz="2000" dirty="0"/>
              <a:t>produces blood cells) and</a:t>
            </a:r>
          </a:p>
          <a:p>
            <a:pPr>
              <a:buFontTx/>
              <a:buNone/>
            </a:pPr>
            <a:r>
              <a:rPr lang="en-US" sz="2000" dirty="0"/>
              <a:t> Y</a:t>
            </a:r>
            <a:r>
              <a:rPr lang="en-US" sz="2000" b="1" dirty="0"/>
              <a:t>ellow bone marrow </a:t>
            </a:r>
            <a:r>
              <a:rPr lang="en-US" sz="2000" dirty="0"/>
              <a:t>(fatty tissue). </a:t>
            </a:r>
          </a:p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r>
              <a:rPr lang="en-US" sz="2000" dirty="0"/>
              <a:t>The </a:t>
            </a:r>
            <a:r>
              <a:rPr lang="en-US" sz="2000" b="1" dirty="0" err="1"/>
              <a:t>Stroma</a:t>
            </a:r>
            <a:r>
              <a:rPr lang="en-US" sz="2000" dirty="0"/>
              <a:t> of the bone marrow is all tissue not directly involved in the primary function of </a:t>
            </a:r>
            <a:r>
              <a:rPr lang="en-US" sz="2000" dirty="0" err="1">
                <a:hlinkClick r:id="rId2" tooltip="Hematopoiesis"/>
              </a:rPr>
              <a:t>hematopoiesis</a:t>
            </a:r>
            <a:r>
              <a:rPr lang="en-US" sz="2000" dirty="0"/>
              <a:t>. </a:t>
            </a:r>
          </a:p>
          <a:p>
            <a:pPr>
              <a:buFontTx/>
              <a:buNone/>
            </a:pPr>
            <a:r>
              <a:rPr lang="en-US" sz="2000" b="1" dirty="0"/>
              <a:t>The bone marrow </a:t>
            </a:r>
            <a:r>
              <a:rPr lang="en-US" sz="2000" b="1" dirty="0" err="1"/>
              <a:t>stroma</a:t>
            </a:r>
            <a:r>
              <a:rPr lang="en-US" sz="2000" b="1" dirty="0"/>
              <a:t> contains </a:t>
            </a:r>
            <a:r>
              <a:rPr lang="en-US" sz="2000" b="1" dirty="0">
                <a:solidFill>
                  <a:srgbClr val="00B050"/>
                </a:solidFill>
              </a:rPr>
              <a:t>mesenchymal stem cells</a:t>
            </a:r>
            <a:r>
              <a:rPr lang="en-US" sz="2000" dirty="0"/>
              <a:t>. These cells are </a:t>
            </a:r>
            <a:r>
              <a:rPr lang="en-US" sz="2000" dirty="0" err="1"/>
              <a:t>multipotent</a:t>
            </a:r>
            <a:r>
              <a:rPr lang="en-US" sz="2000" dirty="0"/>
              <a:t> stem cells that can differentiate into a variety of cell types, including </a:t>
            </a:r>
            <a:r>
              <a:rPr lang="en-US" sz="2000" dirty="0" err="1"/>
              <a:t>osteoblasts</a:t>
            </a:r>
            <a:r>
              <a:rPr lang="en-US" sz="2000" dirty="0"/>
              <a:t>, </a:t>
            </a:r>
            <a:r>
              <a:rPr lang="en-US" sz="2000" dirty="0" err="1"/>
              <a:t>osteoclasts</a:t>
            </a:r>
            <a:r>
              <a:rPr lang="en-US" sz="2000" dirty="0"/>
              <a:t>, </a:t>
            </a:r>
            <a:r>
              <a:rPr lang="en-US" sz="2000" dirty="0" err="1"/>
              <a:t>chondrocytes</a:t>
            </a:r>
            <a:r>
              <a:rPr lang="en-US" sz="2000" dirty="0"/>
              <a:t>, </a:t>
            </a:r>
            <a:r>
              <a:rPr lang="en-US" sz="2000" dirty="0" err="1"/>
              <a:t>myocytes</a:t>
            </a:r>
            <a:r>
              <a:rPr lang="en-US" sz="2000" dirty="0"/>
              <a:t>, fibroblasts, macrophages, </a:t>
            </a:r>
            <a:r>
              <a:rPr lang="en-US" sz="2000" dirty="0" err="1"/>
              <a:t>adipocytes</a:t>
            </a:r>
            <a:r>
              <a:rPr lang="en-US" sz="2000" dirty="0"/>
              <a:t>, and endothelial cells.</a:t>
            </a:r>
          </a:p>
          <a:p>
            <a:pPr>
              <a:buFontTx/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0661" name="Picture 5" descr="Bone structur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990600"/>
            <a:ext cx="5715000" cy="478155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7086600" y="1371600"/>
            <a:ext cx="16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Red BM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97162" y="2841303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Bone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6362"/>
          </a:xfrm>
        </p:spPr>
        <p:txBody>
          <a:bodyPr>
            <a:normAutofit fontScale="90000"/>
          </a:bodyPr>
          <a:lstStyle/>
          <a:p>
            <a:endParaRPr lang="ar-JO" dirty="0"/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76200" y="381000"/>
            <a:ext cx="8991600" cy="61722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C00000"/>
                </a:solidFill>
              </a:rPr>
              <a:t>The thymus gland</a:t>
            </a:r>
          </a:p>
          <a:p>
            <a:pPr>
              <a:buFontTx/>
              <a:buNone/>
            </a:pPr>
            <a:r>
              <a:rPr lang="en-US" sz="2900" dirty="0"/>
              <a:t>The thymus is composed of two identical lobes and is located anatomically in front  of the heart</a:t>
            </a:r>
          </a:p>
          <a:p>
            <a:pPr marL="0" indent="0">
              <a:buNone/>
            </a:pPr>
            <a:r>
              <a:rPr lang="en-US" sz="2900" dirty="0"/>
              <a:t>the thymus can be divided into a central </a:t>
            </a:r>
            <a:r>
              <a:rPr lang="en-US" sz="2900" b="1" dirty="0">
                <a:hlinkClick r:id="rId2" tooltip="Thymus"/>
              </a:rPr>
              <a:t>medulla</a:t>
            </a:r>
            <a:r>
              <a:rPr lang="en-US" sz="2900" dirty="0"/>
              <a:t> and a peripheral </a:t>
            </a:r>
            <a:r>
              <a:rPr lang="en-US" sz="2900" b="1" dirty="0">
                <a:hlinkClick r:id="rId3" tooltip="Cortex (anatomy)"/>
              </a:rPr>
              <a:t>cortex</a:t>
            </a:r>
            <a:r>
              <a:rPr lang="en-US" sz="2900" dirty="0"/>
              <a:t> which is surrounded by an outer capsule</a:t>
            </a:r>
            <a:r>
              <a:rPr lang="en-US" sz="2400" dirty="0"/>
              <a:t>. </a:t>
            </a:r>
          </a:p>
          <a:p>
            <a:pPr marL="0" indent="0">
              <a:buNone/>
            </a:pPr>
            <a:r>
              <a:rPr lang="en-US" sz="3800" b="1" dirty="0">
                <a:solidFill>
                  <a:srgbClr val="FF0000"/>
                </a:solidFill>
              </a:rPr>
              <a:t>Cortical cells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</a:p>
          <a:p>
            <a:pPr>
              <a:buFontTx/>
              <a:buNone/>
            </a:pPr>
            <a:r>
              <a:rPr lang="en-US" sz="2400" dirty="0"/>
              <a:t>	</a:t>
            </a:r>
            <a:r>
              <a:rPr lang="en-US" dirty="0"/>
              <a:t>-Developing T-cells are referred to as </a:t>
            </a:r>
            <a:r>
              <a:rPr lang="en-US" b="1" dirty="0" err="1">
                <a:hlinkClick r:id="rId4" tooltip="Thymocytes"/>
              </a:rPr>
              <a:t>thymocytes</a:t>
            </a:r>
            <a:r>
              <a:rPr lang="en-US" dirty="0"/>
              <a:t> and are of hematopoietic origin (majority in the thymus)</a:t>
            </a:r>
          </a:p>
          <a:p>
            <a:pPr>
              <a:buFontTx/>
              <a:buNone/>
            </a:pPr>
            <a:r>
              <a:rPr lang="en-US" dirty="0"/>
              <a:t>	-</a:t>
            </a:r>
            <a:r>
              <a:rPr lang="en-US" b="1" dirty="0" err="1">
                <a:solidFill>
                  <a:srgbClr val="0070C0"/>
                </a:solidFill>
              </a:rPr>
              <a:t>thymic</a:t>
            </a:r>
            <a:r>
              <a:rPr lang="en-US" b="1" dirty="0">
                <a:solidFill>
                  <a:srgbClr val="0070C0"/>
                </a:solidFill>
              </a:rPr>
              <a:t> epithelial cells </a:t>
            </a:r>
            <a:r>
              <a:rPr lang="en-US" b="1" dirty="0"/>
              <a:t>and macrophages</a:t>
            </a:r>
          </a:p>
          <a:p>
            <a:pPr marL="457200" indent="-457200"/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Medullary cells</a:t>
            </a:r>
            <a:r>
              <a:rPr lang="en-US" b="1" dirty="0"/>
              <a:t>:</a:t>
            </a:r>
          </a:p>
          <a:p>
            <a:r>
              <a:rPr lang="en-US" sz="3100" b="1" dirty="0" err="1"/>
              <a:t>Thymic</a:t>
            </a:r>
            <a:r>
              <a:rPr lang="en-US" sz="3100" b="1" dirty="0"/>
              <a:t>  epithelial cells</a:t>
            </a:r>
            <a:r>
              <a:rPr lang="en-US" sz="3100" dirty="0"/>
              <a:t>,  </a:t>
            </a:r>
            <a:r>
              <a:rPr lang="en-US" sz="3100" b="1" dirty="0"/>
              <a:t>dendritic cells</a:t>
            </a:r>
            <a:r>
              <a:rPr lang="en-US" sz="3100" dirty="0"/>
              <a:t>, </a:t>
            </a:r>
            <a:r>
              <a:rPr lang="en-US" sz="3100" b="1" dirty="0"/>
              <a:t>Macrophages,</a:t>
            </a:r>
            <a:r>
              <a:rPr lang="en-US" sz="3100" dirty="0"/>
              <a:t> </a:t>
            </a:r>
            <a:r>
              <a:rPr lang="en-US" sz="3100" b="1" dirty="0"/>
              <a:t>Hassall's corpuscles </a:t>
            </a:r>
            <a:r>
              <a:rPr lang="en-US" sz="3100" dirty="0"/>
              <a:t>are structures found in the medulla of the human thymus, The function of Hassall's corpuscles is currently unclear.</a:t>
            </a:r>
          </a:p>
          <a:p>
            <a:r>
              <a:rPr lang="en-US" sz="3100" b="1" dirty="0">
                <a:solidFill>
                  <a:srgbClr val="00B050"/>
                </a:solidFill>
              </a:rPr>
              <a:t>Hassall’s corpuscles </a:t>
            </a:r>
            <a:r>
              <a:rPr lang="en-US" sz="3100" dirty="0"/>
              <a:t>(HCs) are composed of terminally differentiated medullary </a:t>
            </a:r>
            <a:r>
              <a:rPr lang="en-US" sz="3100" dirty="0" err="1"/>
              <a:t>thymic</a:t>
            </a:r>
            <a:r>
              <a:rPr lang="en-US" sz="3100" dirty="0"/>
              <a:t> epithelial cells that are developed under the control of </a:t>
            </a:r>
            <a:r>
              <a:rPr lang="en-US" sz="3100" dirty="0" err="1"/>
              <a:t>Aire</a:t>
            </a:r>
            <a:r>
              <a:rPr lang="en-US" sz="3100" dirty="0"/>
              <a:t> gene.</a:t>
            </a:r>
          </a:p>
          <a:p>
            <a:pPr>
              <a:buFontTx/>
              <a:buNone/>
            </a:pPr>
            <a:r>
              <a:rPr lang="en-US" sz="3100" dirty="0"/>
              <a:t>A New Zealand White mouse strain showing HC hyperplasia exhibited greater numbers and activation of </a:t>
            </a:r>
            <a:r>
              <a:rPr lang="en-US" sz="3100" dirty="0" err="1"/>
              <a:t>thymic</a:t>
            </a:r>
            <a:r>
              <a:rPr lang="en-US" sz="3100" dirty="0"/>
              <a:t> neutrophils and DCs than B6 mice, whereas </a:t>
            </a:r>
            <a:r>
              <a:rPr lang="en-US" sz="3100" dirty="0" err="1"/>
              <a:t>Aire</a:t>
            </a:r>
            <a:r>
              <a:rPr lang="en-US" sz="3100" dirty="0"/>
              <a:t>-deficient B6 mice with defective HC development and SP </a:t>
            </a:r>
            <a:r>
              <a:rPr lang="en-US" sz="3100" dirty="0" err="1"/>
              <a:t>thymocyte</a:t>
            </a:r>
            <a:r>
              <a:rPr lang="en-US" sz="3100" dirty="0"/>
              <a:t> maturation showed significantly compromised numbers and activation of these cells. </a:t>
            </a:r>
          </a:p>
          <a:p>
            <a:r>
              <a:rPr lang="en-US" sz="3100" dirty="0"/>
              <a:t>These results collectively suggested that HC  with cell-senescence features initiate a unique cell activation cascade including </a:t>
            </a:r>
            <a:r>
              <a:rPr lang="en-US" sz="3100" b="1" dirty="0"/>
              <a:t>neutrophils and  DCs </a:t>
            </a:r>
            <a:r>
              <a:rPr lang="en-US" sz="3100" dirty="0"/>
              <a:t>leading to the </a:t>
            </a:r>
            <a:r>
              <a:rPr lang="en-US" sz="3100" b="1" dirty="0"/>
              <a:t>constitutive IFNα expression required for SP T-cell maturation in the </a:t>
            </a:r>
            <a:r>
              <a:rPr lang="en-US" sz="3100" b="1" dirty="0" err="1"/>
              <a:t>thymic</a:t>
            </a:r>
            <a:r>
              <a:rPr lang="en-US" sz="3100" b="1" dirty="0"/>
              <a:t> medulla</a:t>
            </a:r>
            <a:r>
              <a:rPr lang="en-US" sz="3100" dirty="0"/>
              <a:t>.</a:t>
            </a:r>
          </a:p>
          <a:p>
            <a:pPr>
              <a:buFontTx/>
              <a:buNone/>
            </a:pPr>
            <a:endParaRPr lang="en-US" sz="2400" dirty="0"/>
          </a:p>
          <a:p>
            <a:pPr>
              <a:buFontTx/>
              <a:buNone/>
            </a:pPr>
            <a:endParaRPr lang="en-US" sz="2400" dirty="0"/>
          </a:p>
          <a:p>
            <a:pPr>
              <a:buFontTx/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63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/>
          </a:bodyPr>
          <a:lstStyle/>
          <a:p>
            <a:pPr lvl="0">
              <a:spcBef>
                <a:spcPts val="0"/>
              </a:spcBef>
            </a:pPr>
            <a:r>
              <a:rPr lang="en-US" sz="2400" dirty="0">
                <a:solidFill>
                  <a:prstClr val="black"/>
                </a:solidFill>
              </a:rPr>
              <a:t>The thymus provides an inductive environment for development of T-lymphocytes from hematopoietic progenitor cells. (</a:t>
            </a:r>
            <a:r>
              <a:rPr lang="en-US" sz="2400" b="1" dirty="0">
                <a:solidFill>
                  <a:srgbClr val="00B050"/>
                </a:solidFill>
              </a:rPr>
              <a:t>Diversity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dirty="0">
                <a:solidFill>
                  <a:prstClr val="black"/>
                </a:solidFill>
              </a:rPr>
              <a:t>and </a:t>
            </a:r>
            <a:r>
              <a:rPr lang="en-US" sz="2400" u="sng" dirty="0">
                <a:solidFill>
                  <a:prstClr val="black"/>
                </a:solidFill>
                <a:hlinkClick r:id="rId2" tooltip="Central tolerance"/>
              </a:rPr>
              <a:t>central tolerance</a:t>
            </a:r>
            <a:r>
              <a:rPr lang="en-US" sz="2400" dirty="0">
                <a:solidFill>
                  <a:prstClr val="black"/>
                </a:solidFill>
              </a:rPr>
              <a:t>).</a:t>
            </a:r>
          </a:p>
          <a:p>
            <a:pPr marL="0" lvl="0" indent="0">
              <a:spcBef>
                <a:spcPts val="0"/>
              </a:spcBef>
              <a:buNone/>
            </a:pPr>
            <a:endParaRPr lang="en-US" sz="1800" dirty="0">
              <a:solidFill>
                <a:prstClr val="black"/>
              </a:solidFill>
            </a:endParaRPr>
          </a:p>
          <a:p>
            <a:pPr marL="0" lvl="0" indent="0">
              <a:spcBef>
                <a:spcPts val="0"/>
              </a:spcBef>
              <a:buNone/>
            </a:pPr>
            <a:endParaRPr lang="en-US" sz="1800" dirty="0">
              <a:solidFill>
                <a:prstClr val="black"/>
              </a:solidFill>
            </a:endParaRPr>
          </a:p>
          <a:p>
            <a:pPr marL="0" lvl="0" indent="0">
              <a:spcBef>
                <a:spcPts val="0"/>
              </a:spcBef>
              <a:buFont typeface="Arial" charset="0"/>
              <a:buChar char="•"/>
            </a:pPr>
            <a:r>
              <a:rPr lang="en-US" sz="2400" dirty="0">
                <a:solidFill>
                  <a:prstClr val="black"/>
                </a:solidFill>
              </a:rPr>
              <a:t>During development, the size of the thymus increases from 15 to 25 g at puberty after that the thymus atrophies slowly throughout adulthood to reach 5 g at 70 years old.</a:t>
            </a:r>
          </a:p>
          <a:p>
            <a:pPr marL="0" lvl="0" indent="0">
              <a:spcBef>
                <a:spcPts val="0"/>
              </a:spcBef>
              <a:buNone/>
            </a:pPr>
            <a:endParaRPr lang="en-US" sz="2400" dirty="0">
              <a:solidFill>
                <a:prstClr val="black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sz="2400" dirty="0">
                <a:solidFill>
                  <a:prstClr val="black"/>
                </a:solidFill>
              </a:rPr>
              <a:t>By the early teens, the thymus begins to </a:t>
            </a:r>
            <a:r>
              <a:rPr lang="en-US" sz="2400" dirty="0">
                <a:solidFill>
                  <a:prstClr val="black"/>
                </a:solidFill>
                <a:hlinkClick r:id="rId3" tooltip="Atrophy"/>
              </a:rPr>
              <a:t>atrophy</a:t>
            </a:r>
            <a:r>
              <a:rPr lang="en-US" sz="2400" dirty="0">
                <a:solidFill>
                  <a:prstClr val="black"/>
                </a:solidFill>
              </a:rPr>
              <a:t> and </a:t>
            </a:r>
            <a:r>
              <a:rPr lang="en-US" sz="2400" dirty="0" err="1">
                <a:solidFill>
                  <a:prstClr val="black"/>
                </a:solidFill>
              </a:rPr>
              <a:t>thymic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stroma</a:t>
            </a:r>
            <a:r>
              <a:rPr lang="en-US" sz="2400" dirty="0">
                <a:solidFill>
                  <a:prstClr val="black"/>
                </a:solidFill>
              </a:rPr>
              <a:t> is replaced by </a:t>
            </a:r>
            <a:r>
              <a:rPr lang="en-US" sz="2400" dirty="0">
                <a:solidFill>
                  <a:prstClr val="black"/>
                </a:solidFill>
                <a:hlinkClick r:id="rId4" tooltip="Adipose"/>
              </a:rPr>
              <a:t>adipose</a:t>
            </a:r>
            <a:r>
              <a:rPr lang="en-US" sz="2400" dirty="0">
                <a:solidFill>
                  <a:prstClr val="black"/>
                </a:solidFill>
              </a:rPr>
              <a:t> (fat) tissue. Nevertheless, residual T </a:t>
            </a:r>
            <a:r>
              <a:rPr lang="en-US" sz="2400" dirty="0" err="1">
                <a:solidFill>
                  <a:prstClr val="black"/>
                </a:solidFill>
                <a:hlinkClick r:id="rId5" tooltip="Lymphopoiesis"/>
              </a:rPr>
              <a:t>lymphopoiesis</a:t>
            </a:r>
            <a:r>
              <a:rPr lang="en-US" sz="2400" dirty="0">
                <a:solidFill>
                  <a:prstClr val="black"/>
                </a:solidFill>
              </a:rPr>
              <a:t> continues throughout adult life. </a:t>
            </a:r>
          </a:p>
          <a:p>
            <a:pPr lvl="0">
              <a:spcBef>
                <a:spcPts val="0"/>
              </a:spcBef>
            </a:pPr>
            <a:endParaRPr lang="en-US" sz="2400" dirty="0">
              <a:solidFill>
                <a:prstClr val="black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sz="2400" b="1" dirty="0">
                <a:solidFill>
                  <a:prstClr val="black"/>
                </a:solidFill>
              </a:rPr>
              <a:t>Neonatal </a:t>
            </a:r>
            <a:r>
              <a:rPr lang="en-US" sz="2400" b="1" dirty="0" err="1">
                <a:solidFill>
                  <a:prstClr val="black"/>
                </a:solidFill>
              </a:rPr>
              <a:t>thymectomy</a:t>
            </a:r>
            <a:r>
              <a:rPr lang="en-US" sz="2400" b="1" dirty="0">
                <a:solidFill>
                  <a:prstClr val="black"/>
                </a:solidFill>
              </a:rPr>
              <a:t> </a:t>
            </a:r>
            <a:r>
              <a:rPr lang="en-US" sz="2400" dirty="0">
                <a:solidFill>
                  <a:prstClr val="black"/>
                </a:solidFill>
              </a:rPr>
              <a:t>of mice results in dramatic decrease in mature T cells but adult </a:t>
            </a:r>
            <a:r>
              <a:rPr lang="en-US" sz="2400" dirty="0" err="1">
                <a:solidFill>
                  <a:prstClr val="black"/>
                </a:solidFill>
              </a:rPr>
              <a:t>thymectomy</a:t>
            </a:r>
            <a:r>
              <a:rPr lang="en-US" sz="2400" dirty="0">
                <a:solidFill>
                  <a:prstClr val="black"/>
                </a:solidFill>
              </a:rPr>
              <a:t> has a little effect.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101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ar-JO"/>
          </a:p>
        </p:txBody>
      </p:sp>
      <p:pic>
        <p:nvPicPr>
          <p:cNvPr id="43011" name="Picture 4" descr="C:\My Data\HA3e\HA ImageBank Art\Chap23\FG23_16A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177925" y="1600200"/>
            <a:ext cx="6788150" cy="4525963"/>
          </a:xfr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JO"/>
          </a:p>
        </p:txBody>
      </p:sp>
      <p:pic>
        <p:nvPicPr>
          <p:cNvPr id="44036" name="Picture 2" descr="G:\ch02\c02f00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457200"/>
            <a:ext cx="78486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/>
          <p:cNvSpPr>
            <a:spLocks noGrp="1"/>
          </p:cNvSpPr>
          <p:nvPr>
            <p:ph type="title"/>
          </p:nvPr>
        </p:nvSpPr>
        <p:spPr>
          <a:xfrm>
            <a:off x="1371600" y="152400"/>
            <a:ext cx="6172200" cy="136922"/>
          </a:xfrm>
        </p:spPr>
        <p:txBody>
          <a:bodyPr>
            <a:noAutofit/>
          </a:bodyPr>
          <a:lstStyle/>
          <a:p>
            <a:r>
              <a:rPr lang="en-US" altLang="en-US" sz="2400" b="1" dirty="0" err="1">
                <a:solidFill>
                  <a:srgbClr val="7030A0"/>
                </a:solidFill>
                <a:cs typeface="Times New Roman" panose="02020603050405020304" pitchFamily="18" charset="0"/>
              </a:rPr>
              <a:t>Thymic</a:t>
            </a:r>
            <a:r>
              <a:rPr lang="en-US" altLang="en-US" sz="2400" b="1" dirty="0">
                <a:solidFill>
                  <a:srgbClr val="7030A0"/>
                </a:solidFill>
                <a:cs typeface="Times New Roman" panose="02020603050405020304" pitchFamily="18" charset="0"/>
              </a:rPr>
              <a:t> B cells</a:t>
            </a:r>
          </a:p>
        </p:txBody>
      </p:sp>
      <p:sp>
        <p:nvSpPr>
          <p:cNvPr id="99331" name="Content Placeholder 2"/>
          <p:cNvSpPr>
            <a:spLocks noGrp="1"/>
          </p:cNvSpPr>
          <p:nvPr>
            <p:ph idx="1"/>
          </p:nvPr>
        </p:nvSpPr>
        <p:spPr>
          <a:xfrm>
            <a:off x="0" y="533400"/>
            <a:ext cx="9144000" cy="6096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en-US" sz="2700" b="1" dirty="0">
                <a:solidFill>
                  <a:srgbClr val="FF0000"/>
                </a:solidFill>
                <a:cs typeface="Arial" panose="020B0604020202020204" pitchFamily="34" charset="0"/>
              </a:rPr>
              <a:t>TYPES</a:t>
            </a:r>
          </a:p>
          <a:p>
            <a:r>
              <a:rPr lang="en-US" altLang="en-US" sz="2700" dirty="0">
                <a:solidFill>
                  <a:srgbClr val="C00000"/>
                </a:solidFill>
                <a:cs typeface="Arial" panose="020B0604020202020204" pitchFamily="34" charset="0"/>
              </a:rPr>
              <a:t>R</a:t>
            </a:r>
            <a:r>
              <a:rPr lang="en-US" altLang="en-US" sz="2700" b="1" dirty="0">
                <a:solidFill>
                  <a:srgbClr val="C00000"/>
                </a:solidFill>
                <a:cs typeface="Arial" panose="020B0604020202020204" pitchFamily="34" charset="0"/>
              </a:rPr>
              <a:t>esident B cells </a:t>
            </a:r>
            <a:r>
              <a:rPr lang="en-US" altLang="en-US" sz="2700" dirty="0">
                <a:cs typeface="Arial" panose="020B0604020202020204" pitchFamily="34" charset="0"/>
              </a:rPr>
              <a:t>located in the </a:t>
            </a:r>
            <a:r>
              <a:rPr lang="en-US" altLang="en-US" sz="2700" dirty="0" err="1">
                <a:cs typeface="Arial" panose="020B0604020202020204" pitchFamily="34" charset="0"/>
              </a:rPr>
              <a:t>thymic</a:t>
            </a:r>
            <a:r>
              <a:rPr lang="en-US" altLang="en-US" sz="2700" dirty="0">
                <a:cs typeface="Arial" panose="020B0604020202020204" pitchFamily="34" charset="0"/>
              </a:rPr>
              <a:t> medulla that appear in early life during fetal development that contribute to </a:t>
            </a:r>
            <a:r>
              <a:rPr lang="en-US" altLang="en-US" sz="2700" b="1" dirty="0">
                <a:cs typeface="Arial" panose="020B0604020202020204" pitchFamily="34" charset="0"/>
              </a:rPr>
              <a:t>central tolerance </a:t>
            </a:r>
            <a:r>
              <a:rPr lang="en-US" altLang="en-US" sz="2700" dirty="0">
                <a:cs typeface="Arial" panose="020B0604020202020204" pitchFamily="34" charset="0"/>
              </a:rPr>
              <a:t>as specialized APCs.</a:t>
            </a:r>
          </a:p>
          <a:p>
            <a:pPr marL="0" indent="0">
              <a:buNone/>
            </a:pPr>
            <a:r>
              <a:rPr lang="en-US" altLang="en-US" sz="2700" b="1" dirty="0">
                <a:solidFill>
                  <a:srgbClr val="C00000"/>
                </a:solidFill>
                <a:cs typeface="Arial" panose="020B0604020202020204" pitchFamily="34" charset="0"/>
              </a:rPr>
              <a:t>Evidences: </a:t>
            </a:r>
            <a:r>
              <a:rPr lang="en-US" altLang="en-US" sz="2700" dirty="0">
                <a:cs typeface="Arial" panose="020B0604020202020204" pitchFamily="34" charset="0"/>
              </a:rPr>
              <a:t>In mice, B cells are detected as early as gestational day 18, suggesting that the BM is not essential for their development</a:t>
            </a:r>
          </a:p>
          <a:p>
            <a:r>
              <a:rPr lang="en-US" altLang="en-US" sz="2700" dirty="0">
                <a:cs typeface="Arial" panose="020B0604020202020204" pitchFamily="34" charset="0"/>
              </a:rPr>
              <a:t> </a:t>
            </a:r>
            <a:r>
              <a:rPr lang="en-US" altLang="en-US" sz="2700" b="1" dirty="0">
                <a:solidFill>
                  <a:srgbClr val="C00000"/>
                </a:solidFill>
                <a:cs typeface="Arial" panose="020B0604020202020204" pitchFamily="34" charset="0"/>
              </a:rPr>
              <a:t>perivascular B cells PVC </a:t>
            </a:r>
            <a:r>
              <a:rPr lang="en-US" altLang="en-US" sz="2700" dirty="0">
                <a:cs typeface="Arial" panose="020B0604020202020204" pitchFamily="34" charset="0"/>
              </a:rPr>
              <a:t>that migrate from the periphery which play a more conventional role in the </a:t>
            </a:r>
            <a:r>
              <a:rPr lang="en-US" altLang="en-US" sz="2700" b="1" dirty="0">
                <a:cs typeface="Arial" panose="020B0604020202020204" pitchFamily="34" charset="0"/>
              </a:rPr>
              <a:t>adaptive humoral response </a:t>
            </a:r>
            <a:r>
              <a:rPr lang="en-US" altLang="en-US" sz="2700" dirty="0">
                <a:cs typeface="Arial" panose="020B0604020202020204" pitchFamily="34" charset="0"/>
              </a:rPr>
              <a:t>both in health and disease.</a:t>
            </a:r>
          </a:p>
          <a:p>
            <a:pPr marL="0" indent="0">
              <a:buNone/>
            </a:pPr>
            <a:r>
              <a:rPr lang="en-US" altLang="en-US" sz="2700" b="1" dirty="0">
                <a:solidFill>
                  <a:srgbClr val="FF0000"/>
                </a:solidFill>
                <a:cs typeface="Arial" panose="020B0604020202020204" pitchFamily="34" charset="0"/>
              </a:rPr>
              <a:t>Migration of Circulating B Cells to the Thymus:</a:t>
            </a:r>
            <a:endParaRPr lang="en-US" altLang="en-US" sz="2700" dirty="0">
              <a:cs typeface="Arial" panose="020B0604020202020204" pitchFamily="34" charset="0"/>
            </a:endParaRPr>
          </a:p>
          <a:p>
            <a:r>
              <a:rPr lang="en-US" altLang="en-US" sz="2700" dirty="0">
                <a:cs typeface="Arial" panose="020B0604020202020204" pitchFamily="34" charset="0"/>
              </a:rPr>
              <a:t> the frequency of transferred splenic B cells migrating to the thymus was 5-10-fold lower than the spleen</a:t>
            </a:r>
          </a:p>
          <a:p>
            <a:pPr lvl="0"/>
            <a:endParaRPr lang="en-US" altLang="en-US" sz="2100" b="1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r>
              <a:rPr lang="en-US" altLang="en-US" sz="2700" dirty="0">
                <a:cs typeface="Arial" panose="020B0604020202020204" pitchFamily="34" charset="0"/>
              </a:rPr>
              <a:t>B cells in the human thymus, similar to mice, are found in a small proportion presenting a unique phenotypic characteristic compared to peripheral B cells. </a:t>
            </a:r>
            <a:r>
              <a:rPr lang="en-US" altLang="en-US" sz="2700" b="1" dirty="0" err="1">
                <a:solidFill>
                  <a:srgbClr val="0000CC"/>
                </a:solidFill>
                <a:cs typeface="Arial" panose="020B0604020202020204" pitchFamily="34" charset="0"/>
              </a:rPr>
              <a:t>Thymic</a:t>
            </a:r>
            <a:r>
              <a:rPr lang="en-US" altLang="en-US" sz="2700" b="1" dirty="0">
                <a:solidFill>
                  <a:srgbClr val="0000CC"/>
                </a:solidFill>
                <a:cs typeface="Arial" panose="020B0604020202020204" pitchFamily="34" charset="0"/>
              </a:rPr>
              <a:t> B cells express CD5 on their surface, while peripheral blood B cells are mostly CD5-</a:t>
            </a:r>
          </a:p>
          <a:p>
            <a:endParaRPr lang="en-US" altLang="en-US" sz="2700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1800" dirty="0">
                <a:cs typeface="Arial" panose="020B0604020202020204" pitchFamily="34" charset="0"/>
              </a:rPr>
              <a:t> </a:t>
            </a:r>
          </a:p>
          <a:p>
            <a:pPr algn="l" rtl="0"/>
            <a:endParaRPr lang="en-US" altLang="en-US" sz="18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555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Secondary L.O.</a:t>
            </a:r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major secondary L.O are:  </a:t>
            </a:r>
            <a:r>
              <a:rPr lang="en-US" sz="2400" b="1" dirty="0">
                <a:solidFill>
                  <a:srgbClr val="0000CC"/>
                </a:solidFill>
              </a:rPr>
              <a:t>the lymph nodes and the spleen. </a:t>
            </a:r>
          </a:p>
          <a:p>
            <a:r>
              <a:rPr lang="en-US" sz="2400" dirty="0"/>
              <a:t>The minor secondary L.O include </a:t>
            </a:r>
            <a:r>
              <a:rPr lang="en-US" sz="2400" b="1" dirty="0">
                <a:solidFill>
                  <a:srgbClr val="0000CC"/>
                </a:solidFill>
              </a:rPr>
              <a:t>tonsils, appendix, </a:t>
            </a:r>
            <a:r>
              <a:rPr lang="en-US" sz="2400" b="1" dirty="0" err="1">
                <a:solidFill>
                  <a:srgbClr val="0000CC"/>
                </a:solidFill>
              </a:rPr>
              <a:t>Peyer’s</a:t>
            </a:r>
            <a:r>
              <a:rPr lang="en-US" sz="2400" b="1" dirty="0">
                <a:solidFill>
                  <a:srgbClr val="0000CC"/>
                </a:solidFill>
              </a:rPr>
              <a:t> patches</a:t>
            </a:r>
            <a:r>
              <a:rPr lang="en-US" sz="2400" b="1" dirty="0"/>
              <a:t> (</a:t>
            </a:r>
            <a:r>
              <a:rPr lang="en-US" sz="2400" dirty="0"/>
              <a:t>clusters of lymphocytes distributed in the lining of the small intestine) and </a:t>
            </a:r>
            <a:r>
              <a:rPr lang="en-US" sz="2400" b="1" dirty="0">
                <a:solidFill>
                  <a:srgbClr val="0000CC"/>
                </a:solidFill>
              </a:rPr>
              <a:t>mucosa-associated lymphoid tissue (MALT)</a:t>
            </a:r>
            <a:r>
              <a:rPr lang="en-US" sz="2400" b="1" dirty="0"/>
              <a:t> </a:t>
            </a:r>
            <a:r>
              <a:rPr lang="en-US" sz="2400" dirty="0"/>
              <a:t>of respiratory, genitourinary tracts, conjunctiva and salivary glands. </a:t>
            </a:r>
          </a:p>
          <a:p>
            <a:r>
              <a:rPr lang="en-US" sz="2400" dirty="0"/>
              <a:t>The main functions of secondary L.O are: </a:t>
            </a:r>
            <a:r>
              <a:rPr lang="en-US" sz="2400" b="1" dirty="0">
                <a:solidFill>
                  <a:srgbClr val="0000CC"/>
                </a:solidFill>
              </a:rPr>
              <a:t>trapping and concentrating foreign substances and eliciting the immune response.</a:t>
            </a:r>
            <a:endParaRPr lang="en-US" b="1" dirty="0">
              <a:solidFill>
                <a:srgbClr val="0000CC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/>
              <a:t>Lymphatics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90000"/>
              </a:lnSpc>
            </a:pPr>
            <a:r>
              <a:rPr lang="en-US" sz="2400" b="1" dirty="0"/>
              <a:t>Originate as lymph capillaries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Capillaries unite to form larger vessels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Resemble veins in structure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Connect to lymph nodes at various intervals</a:t>
            </a:r>
          </a:p>
          <a:p>
            <a:pPr lvl="1">
              <a:lnSpc>
                <a:spcPct val="90000"/>
              </a:lnSpc>
            </a:pPr>
            <a:r>
              <a:rPr lang="en-US" sz="2400" dirty="0" err="1"/>
              <a:t>Lymphatics</a:t>
            </a:r>
            <a:r>
              <a:rPr lang="en-US" sz="2400" dirty="0"/>
              <a:t> ultimately deliver lymph into 2 main channels</a:t>
            </a:r>
          </a:p>
          <a:p>
            <a:pPr lvl="2">
              <a:lnSpc>
                <a:spcPct val="90000"/>
              </a:lnSpc>
            </a:pPr>
            <a:r>
              <a:rPr lang="en-US" sz="2000" b="1" dirty="0">
                <a:solidFill>
                  <a:srgbClr val="0000CC"/>
                </a:solidFill>
              </a:rPr>
              <a:t>Right lymphatic duct</a:t>
            </a:r>
          </a:p>
          <a:p>
            <a:pPr lvl="3">
              <a:lnSpc>
                <a:spcPct val="90000"/>
              </a:lnSpc>
            </a:pPr>
            <a:r>
              <a:rPr lang="en-US" dirty="0"/>
              <a:t>Drains right side of head &amp; neck, right arm, right thorax</a:t>
            </a:r>
          </a:p>
          <a:p>
            <a:pPr lvl="3">
              <a:lnSpc>
                <a:spcPct val="90000"/>
              </a:lnSpc>
            </a:pPr>
            <a:r>
              <a:rPr lang="en-US" dirty="0"/>
              <a:t>Empties into the </a:t>
            </a:r>
            <a:r>
              <a:rPr lang="en-US" b="1" dirty="0"/>
              <a:t>right </a:t>
            </a:r>
            <a:r>
              <a:rPr lang="en-US" b="1" dirty="0" err="1"/>
              <a:t>subclavian</a:t>
            </a:r>
            <a:r>
              <a:rPr lang="en-US" b="1" dirty="0"/>
              <a:t> vein</a:t>
            </a:r>
          </a:p>
          <a:p>
            <a:pPr lvl="2">
              <a:lnSpc>
                <a:spcPct val="90000"/>
              </a:lnSpc>
            </a:pPr>
            <a:r>
              <a:rPr lang="en-US" sz="2000" b="1" dirty="0">
                <a:solidFill>
                  <a:srgbClr val="0000CC"/>
                </a:solidFill>
              </a:rPr>
              <a:t>Thoracic duct</a:t>
            </a:r>
          </a:p>
          <a:p>
            <a:pPr lvl="3">
              <a:lnSpc>
                <a:spcPct val="90000"/>
              </a:lnSpc>
            </a:pPr>
            <a:r>
              <a:rPr lang="en-US" dirty="0"/>
              <a:t>Drains the rest of the body</a:t>
            </a:r>
          </a:p>
          <a:p>
            <a:pPr lvl="3">
              <a:lnSpc>
                <a:spcPct val="90000"/>
              </a:lnSpc>
            </a:pPr>
            <a:r>
              <a:rPr lang="en-US" dirty="0"/>
              <a:t>Empties into the </a:t>
            </a:r>
            <a:r>
              <a:rPr lang="en-US" b="1" dirty="0"/>
              <a:t>left </a:t>
            </a:r>
            <a:r>
              <a:rPr lang="en-US" b="1" dirty="0" err="1"/>
              <a:t>subclavian</a:t>
            </a:r>
            <a:r>
              <a:rPr lang="en-US" b="1" dirty="0"/>
              <a:t> vein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"/>
          </a:xfrm>
        </p:spPr>
        <p:txBody>
          <a:bodyPr>
            <a:normAutofit fontScale="90000"/>
          </a:bodyPr>
          <a:lstStyle/>
          <a:p>
            <a:endParaRPr lang="ar-JO" dirty="0"/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b="1" dirty="0">
                <a:solidFill>
                  <a:srgbClr val="C00000"/>
                </a:solidFill>
              </a:rPr>
              <a:t>Lymph nodes</a:t>
            </a:r>
          </a:p>
          <a:p>
            <a:r>
              <a:rPr lang="en-US" sz="2000" dirty="0"/>
              <a:t>Small ovoid structures (&lt;1cm in diameter) found in various regions o the body.</a:t>
            </a:r>
          </a:p>
          <a:p>
            <a:r>
              <a:rPr lang="en-US" sz="2000" b="1" dirty="0"/>
              <a:t>Composed  of a cortex, </a:t>
            </a:r>
            <a:r>
              <a:rPr lang="en-US" sz="2000" b="1" dirty="0" err="1"/>
              <a:t>paracortex</a:t>
            </a:r>
            <a:r>
              <a:rPr lang="en-US" sz="2000" b="1" dirty="0"/>
              <a:t>  and medulla</a:t>
            </a:r>
            <a:r>
              <a:rPr lang="en-US" sz="2000" dirty="0"/>
              <a:t>.  </a:t>
            </a:r>
          </a:p>
          <a:p>
            <a:r>
              <a:rPr lang="en-US" sz="2000" b="1" dirty="0"/>
              <a:t>The cortical region </a:t>
            </a:r>
            <a:r>
              <a:rPr lang="en-US" sz="2000" dirty="0"/>
              <a:t>contains primary lymphoid follicles (in the absence of infection). </a:t>
            </a:r>
          </a:p>
          <a:p>
            <a:pPr>
              <a:buFontTx/>
              <a:buNone/>
            </a:pPr>
            <a:r>
              <a:rPr lang="en-US" sz="2000" dirty="0"/>
              <a:t>	After Ag stimulation, these structures enlarge to form secondary lymphoid follicles with germinal centers containing dense population of </a:t>
            </a:r>
            <a:r>
              <a:rPr lang="en-US" sz="2000" b="1" dirty="0">
                <a:solidFill>
                  <a:srgbClr val="FF0000"/>
                </a:solidFill>
              </a:rPr>
              <a:t>B cells</a:t>
            </a:r>
            <a:r>
              <a:rPr lang="en-US" sz="2000" dirty="0"/>
              <a:t>. </a:t>
            </a:r>
          </a:p>
          <a:p>
            <a:pPr>
              <a:buFontTx/>
              <a:buNone/>
            </a:pPr>
            <a:r>
              <a:rPr lang="en-US" sz="2000" dirty="0"/>
              <a:t>	The Ag-specific B cells proliferating within the germinal centers and undergo affinity maturation to produce high affinity Abs. </a:t>
            </a:r>
          </a:p>
          <a:p>
            <a:pPr>
              <a:buFontTx/>
              <a:buNone/>
            </a:pPr>
            <a:r>
              <a:rPr lang="en-US" sz="2000" dirty="0"/>
              <a:t>	The remaining Ag-nonspecific B cells are pushed to the outside to form the mantle zone.</a:t>
            </a:r>
          </a:p>
          <a:p>
            <a:r>
              <a:rPr lang="en-US" sz="2000" b="1" dirty="0">
                <a:solidFill>
                  <a:srgbClr val="0000CC"/>
                </a:solidFill>
              </a:rPr>
              <a:t>The </a:t>
            </a:r>
            <a:r>
              <a:rPr lang="en-US" sz="2000" b="1" dirty="0" err="1">
                <a:solidFill>
                  <a:srgbClr val="0000CC"/>
                </a:solidFill>
              </a:rPr>
              <a:t>paracortical</a:t>
            </a:r>
            <a:r>
              <a:rPr lang="en-US" sz="2000" b="1" dirty="0">
                <a:solidFill>
                  <a:srgbClr val="0000CC"/>
                </a:solidFill>
              </a:rPr>
              <a:t> region </a:t>
            </a:r>
            <a:r>
              <a:rPr lang="en-US" sz="2000" dirty="0"/>
              <a:t>contains </a:t>
            </a:r>
            <a:r>
              <a:rPr lang="en-US" sz="2000" b="1" dirty="0">
                <a:solidFill>
                  <a:srgbClr val="FF0000"/>
                </a:solidFill>
              </a:rPr>
              <a:t>T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FF0000"/>
                </a:solidFill>
              </a:rPr>
              <a:t>cells</a:t>
            </a:r>
            <a:r>
              <a:rPr lang="en-US" sz="2000" dirty="0"/>
              <a:t> and </a:t>
            </a:r>
            <a:r>
              <a:rPr lang="en-US" sz="2000" b="1" dirty="0" err="1">
                <a:solidFill>
                  <a:srgbClr val="FF0000"/>
                </a:solidFill>
              </a:rPr>
              <a:t>dendritic</a:t>
            </a:r>
            <a:r>
              <a:rPr lang="en-US" sz="2000" dirty="0"/>
              <a:t> cells for Ag presentation resulting in T cell activation.</a:t>
            </a:r>
          </a:p>
          <a:p>
            <a:r>
              <a:rPr lang="en-US" sz="2000" dirty="0"/>
              <a:t>Blood lymphocytes enter the lymph nodes through </a:t>
            </a:r>
            <a:r>
              <a:rPr lang="en-US" sz="2000" b="1" dirty="0" err="1">
                <a:solidFill>
                  <a:srgbClr val="0000CC"/>
                </a:solidFill>
              </a:rPr>
              <a:t>postcapillary</a:t>
            </a:r>
            <a:r>
              <a:rPr lang="en-US" sz="2000" b="1" dirty="0">
                <a:solidFill>
                  <a:srgbClr val="0000CC"/>
                </a:solidFill>
              </a:rPr>
              <a:t> </a:t>
            </a:r>
            <a:r>
              <a:rPr lang="en-US" sz="2000" b="1" dirty="0" err="1">
                <a:solidFill>
                  <a:srgbClr val="0000CC"/>
                </a:solidFill>
              </a:rPr>
              <a:t>venules</a:t>
            </a:r>
            <a:r>
              <a:rPr lang="en-US" sz="2000" b="1" dirty="0">
                <a:solidFill>
                  <a:srgbClr val="0000CC"/>
                </a:solidFill>
              </a:rPr>
              <a:t> </a:t>
            </a:r>
            <a:r>
              <a:rPr lang="en-US" sz="2000" dirty="0"/>
              <a:t>and leave the </a:t>
            </a:r>
            <a:r>
              <a:rPr lang="en-US" sz="2000" b="1" dirty="0">
                <a:solidFill>
                  <a:srgbClr val="0000CC"/>
                </a:solidFill>
              </a:rPr>
              <a:t>L. nodes</a:t>
            </a:r>
            <a:r>
              <a:rPr lang="en-US" sz="2000" b="1" dirty="0"/>
              <a:t> </a:t>
            </a:r>
            <a:r>
              <a:rPr lang="en-US" sz="2000" dirty="0"/>
              <a:t>through </a:t>
            </a:r>
            <a:r>
              <a:rPr lang="en-US" sz="2000" b="1" dirty="0">
                <a:solidFill>
                  <a:srgbClr val="0000CC"/>
                </a:solidFill>
              </a:rPr>
              <a:t>efferent lymphatic vessels</a:t>
            </a:r>
            <a:r>
              <a:rPr lang="en-US" sz="2000" b="1" dirty="0"/>
              <a:t> </a:t>
            </a:r>
            <a:r>
              <a:rPr lang="en-US" sz="2000" dirty="0"/>
              <a:t>----to </a:t>
            </a:r>
            <a:r>
              <a:rPr lang="en-US" sz="2000" b="1" dirty="0">
                <a:solidFill>
                  <a:srgbClr val="0000CC"/>
                </a:solidFill>
              </a:rPr>
              <a:t>thoracic duct</a:t>
            </a:r>
            <a:r>
              <a:rPr lang="en-US" sz="2000" dirty="0">
                <a:solidFill>
                  <a:srgbClr val="0000CC"/>
                </a:solidFill>
              </a:rPr>
              <a:t>----</a:t>
            </a:r>
            <a:r>
              <a:rPr lang="en-US" sz="2000" b="1" dirty="0">
                <a:solidFill>
                  <a:srgbClr val="0000CC"/>
                </a:solidFill>
              </a:rPr>
              <a:t>vena cava</a:t>
            </a:r>
          </a:p>
          <a:p>
            <a:pPr>
              <a:buFontTx/>
              <a:buNone/>
            </a:pPr>
            <a:r>
              <a:rPr lang="en-US" sz="2000" dirty="0"/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990600"/>
          </a:xfrm>
          <a:noFill/>
        </p:spPr>
        <p:txBody>
          <a:bodyPr lIns="92075" tIns="46038" rIns="92075" bIns="46038"/>
          <a:lstStyle/>
          <a:p>
            <a:r>
              <a:rPr lang="en-US" sz="5400"/>
              <a:t>The Lymphatic System</a:t>
            </a:r>
            <a:r>
              <a:rPr lang="en-US" i="1"/>
              <a:t> 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2075" tIns="46038" rIns="92075" bIns="46038"/>
          <a:lstStyle/>
          <a:p>
            <a:endParaRPr lang="ar-JO"/>
          </a:p>
        </p:txBody>
      </p:sp>
      <p:pic>
        <p:nvPicPr>
          <p:cNvPr id="48132" name="Picture 12" descr="figure 1-0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1295400"/>
            <a:ext cx="8077200" cy="5062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JO"/>
          </a:p>
        </p:txBody>
      </p:sp>
      <p:pic>
        <p:nvPicPr>
          <p:cNvPr id="49155" name="Picture 4" descr="G:\ch02\c02f009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191000" y="1600200"/>
            <a:ext cx="4953000" cy="4267200"/>
          </a:xfrm>
          <a:noFill/>
        </p:spPr>
      </p:pic>
      <p:pic>
        <p:nvPicPr>
          <p:cNvPr id="49156" name="Picture 2" descr="lableled lymph node low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295400"/>
            <a:ext cx="417195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"/>
          </a:xfrm>
        </p:spPr>
        <p:txBody>
          <a:bodyPr>
            <a:normAutofit fontScale="90000"/>
          </a:bodyPr>
          <a:lstStyle/>
          <a:p>
            <a:endParaRPr lang="ar-JO" dirty="0"/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pPr>
              <a:buFontTx/>
              <a:buNone/>
            </a:pPr>
            <a:r>
              <a:rPr lang="en-US" b="1" dirty="0">
                <a:solidFill>
                  <a:srgbClr val="C00000"/>
                </a:solidFill>
              </a:rPr>
              <a:t>The spleen</a:t>
            </a:r>
          </a:p>
          <a:p>
            <a:r>
              <a:rPr lang="en-US" sz="2000" dirty="0"/>
              <a:t>Is the largest of the secondary Lymphoid organs. </a:t>
            </a:r>
          </a:p>
          <a:p>
            <a:r>
              <a:rPr lang="en-US" sz="2000" dirty="0"/>
              <a:t>Highly efficient in trapping and concentrating foreign substances carried in the blood.</a:t>
            </a:r>
          </a:p>
          <a:p>
            <a:r>
              <a:rPr lang="en-US" sz="2000" dirty="0"/>
              <a:t>The major organ of the body in which Abs are synthesized and released into circulation.</a:t>
            </a:r>
          </a:p>
          <a:p>
            <a:r>
              <a:rPr lang="en-US" sz="2000" dirty="0"/>
              <a:t>Composed of white pulp and red pulp.</a:t>
            </a:r>
          </a:p>
          <a:p>
            <a:pPr>
              <a:buNone/>
            </a:pPr>
            <a:r>
              <a:rPr lang="en-US" sz="2000" dirty="0"/>
              <a:t>	The white pulp contains the lymphoid cells</a:t>
            </a:r>
          </a:p>
          <a:p>
            <a:pPr>
              <a:buFontTx/>
              <a:buNone/>
            </a:pPr>
            <a:r>
              <a:rPr lang="en-US" sz="2400" b="1" dirty="0"/>
              <a:t>    </a:t>
            </a:r>
            <a:r>
              <a:rPr lang="en-US" sz="2400" b="1" dirty="0">
                <a:solidFill>
                  <a:srgbClr val="FF0000"/>
                </a:solidFill>
              </a:rPr>
              <a:t>B cells </a:t>
            </a:r>
            <a:r>
              <a:rPr lang="en-US" sz="2000" dirty="0"/>
              <a:t>are present mainly in germinal centers in the marginal zone</a:t>
            </a:r>
          </a:p>
          <a:p>
            <a:pPr>
              <a:buFontTx/>
              <a:buNone/>
            </a:pPr>
            <a:r>
              <a:rPr lang="en-US" sz="2000" dirty="0">
                <a:solidFill>
                  <a:srgbClr val="FF0000"/>
                </a:solidFill>
              </a:rPr>
              <a:t>	</a:t>
            </a:r>
            <a:r>
              <a:rPr lang="en-US" sz="2000" dirty="0"/>
              <a:t> The red pulp contains RBCs, macrophages, some lymphocytes and others</a:t>
            </a:r>
          </a:p>
          <a:p>
            <a:pPr>
              <a:buNone/>
            </a:pPr>
            <a:endParaRPr lang="en-US" sz="2000" dirty="0"/>
          </a:p>
          <a:p>
            <a:r>
              <a:rPr lang="en-US" sz="2000" dirty="0"/>
              <a:t>The area surrounding the small arterioles  are </a:t>
            </a:r>
            <a:r>
              <a:rPr lang="en-US" sz="2000" b="1" dirty="0">
                <a:solidFill>
                  <a:srgbClr val="FF0000"/>
                </a:solidFill>
              </a:rPr>
              <a:t>rich in T cells</a:t>
            </a:r>
            <a:r>
              <a:rPr lang="en-US" sz="2000" dirty="0"/>
              <a:t>. Approximately, 50% of spleen cells are B </a:t>
            </a:r>
            <a:r>
              <a:rPr lang="en-US" sz="2000" dirty="0" err="1"/>
              <a:t>lymocytes</a:t>
            </a:r>
            <a:r>
              <a:rPr lang="en-US" sz="2000" dirty="0"/>
              <a:t> and 30-40% are T lymphocytes.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JO"/>
          </a:p>
        </p:txBody>
      </p:sp>
      <p:pic>
        <p:nvPicPr>
          <p:cNvPr id="51203" name="Picture 2" descr="G:\ch02\c02f008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914400" y="1219200"/>
            <a:ext cx="6553200" cy="5105400"/>
          </a:xfr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ChangeArrowheads="1"/>
          </p:cNvSpPr>
          <p:nvPr/>
        </p:nvSpPr>
        <p:spPr bwMode="auto">
          <a:xfrm>
            <a:off x="0" y="2514600"/>
            <a:ext cx="2370138" cy="609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ar-JO"/>
          </a:p>
        </p:txBody>
      </p:sp>
      <p:sp>
        <p:nvSpPr>
          <p:cNvPr id="52227" name="Rectangle 3"/>
          <p:cNvSpPr>
            <a:spLocks noChangeArrowheads="1"/>
          </p:cNvSpPr>
          <p:nvPr/>
        </p:nvSpPr>
        <p:spPr bwMode="auto">
          <a:xfrm>
            <a:off x="1422400" y="5867400"/>
            <a:ext cx="1760538" cy="685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ar-JO"/>
          </a:p>
        </p:txBody>
      </p:sp>
      <p:sp>
        <p:nvSpPr>
          <p:cNvPr id="52228" name="Rectangle 4"/>
          <p:cNvSpPr>
            <a:spLocks noChangeArrowheads="1"/>
          </p:cNvSpPr>
          <p:nvPr/>
        </p:nvSpPr>
        <p:spPr bwMode="auto">
          <a:xfrm>
            <a:off x="1422400" y="6415088"/>
            <a:ext cx="1933575" cy="36988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Trabecular artery</a:t>
            </a:r>
          </a:p>
        </p:txBody>
      </p:sp>
      <p:sp>
        <p:nvSpPr>
          <p:cNvPr id="52229" name="Rectangle 5"/>
          <p:cNvSpPr>
            <a:spLocks noChangeArrowheads="1"/>
          </p:cNvSpPr>
          <p:nvPr/>
        </p:nvSpPr>
        <p:spPr bwMode="auto">
          <a:xfrm>
            <a:off x="4538663" y="5867400"/>
            <a:ext cx="1760537" cy="685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ar-JO"/>
          </a:p>
        </p:txBody>
      </p:sp>
      <p:sp>
        <p:nvSpPr>
          <p:cNvPr id="52230" name="Rectangle 6"/>
          <p:cNvSpPr>
            <a:spLocks noChangeArrowheads="1"/>
          </p:cNvSpPr>
          <p:nvPr/>
        </p:nvSpPr>
        <p:spPr bwMode="auto">
          <a:xfrm>
            <a:off x="4600575" y="6186488"/>
            <a:ext cx="1765300" cy="36988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Trabecular vein</a:t>
            </a:r>
          </a:p>
        </p:txBody>
      </p:sp>
      <p:sp>
        <p:nvSpPr>
          <p:cNvPr id="52231" name="Rectangle 7"/>
          <p:cNvSpPr>
            <a:spLocks noChangeArrowheads="1"/>
          </p:cNvSpPr>
          <p:nvPr/>
        </p:nvSpPr>
        <p:spPr bwMode="auto">
          <a:xfrm>
            <a:off x="5757863" y="4876800"/>
            <a:ext cx="1760537" cy="685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ar-JO"/>
          </a:p>
        </p:txBody>
      </p:sp>
      <p:sp>
        <p:nvSpPr>
          <p:cNvPr id="52232" name="Rectangle 8"/>
          <p:cNvSpPr>
            <a:spLocks noChangeArrowheads="1"/>
          </p:cNvSpPr>
          <p:nvPr/>
        </p:nvSpPr>
        <p:spPr bwMode="auto">
          <a:xfrm>
            <a:off x="5757863" y="4953000"/>
            <a:ext cx="1030287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Capsule</a:t>
            </a:r>
          </a:p>
        </p:txBody>
      </p:sp>
      <p:sp>
        <p:nvSpPr>
          <p:cNvPr id="52233" name="Rectangle 9"/>
          <p:cNvSpPr>
            <a:spLocks noChangeArrowheads="1"/>
          </p:cNvSpPr>
          <p:nvPr/>
        </p:nvSpPr>
        <p:spPr bwMode="auto">
          <a:xfrm>
            <a:off x="4441825" y="3886200"/>
            <a:ext cx="646113" cy="6461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Pulp</a:t>
            </a:r>
          </a:p>
          <a:p>
            <a:r>
              <a:rPr lang="en-US"/>
              <a:t>vein</a:t>
            </a:r>
          </a:p>
        </p:txBody>
      </p:sp>
      <p:pic>
        <p:nvPicPr>
          <p:cNvPr id="52234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00200" y="381000"/>
            <a:ext cx="5811838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235" name="Rectangle 11"/>
          <p:cNvSpPr>
            <a:spLocks noChangeArrowheads="1"/>
          </p:cNvSpPr>
          <p:nvPr/>
        </p:nvSpPr>
        <p:spPr bwMode="auto">
          <a:xfrm>
            <a:off x="68263" y="76200"/>
            <a:ext cx="2262187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b="1">
                <a:solidFill>
                  <a:srgbClr val="CC0000"/>
                </a:solidFill>
              </a:rPr>
              <a:t>Anatomy of </a:t>
            </a:r>
          </a:p>
          <a:p>
            <a:r>
              <a:rPr lang="en-US" sz="2800" b="1">
                <a:solidFill>
                  <a:srgbClr val="CC0000"/>
                </a:solidFill>
              </a:rPr>
              <a:t>the Spleen</a:t>
            </a:r>
          </a:p>
        </p:txBody>
      </p:sp>
      <p:pic>
        <p:nvPicPr>
          <p:cNvPr id="52236" name="Picture 12"/>
          <p:cNvPicPr>
            <a:picLocks noChangeAspect="1" noChangeArrowheads="1"/>
          </p:cNvPicPr>
          <p:nvPr/>
        </p:nvPicPr>
        <p:blipFill>
          <a:blip r:embed="rId4"/>
          <a:srcRect l="7576" r="42424"/>
          <a:stretch>
            <a:fillRect/>
          </a:stretch>
        </p:blipFill>
        <p:spPr bwMode="auto">
          <a:xfrm>
            <a:off x="6908800" y="3505200"/>
            <a:ext cx="22352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237" name="Text Box 13"/>
          <p:cNvSpPr txBox="1">
            <a:spLocks noChangeArrowheads="1"/>
          </p:cNvSpPr>
          <p:nvPr/>
        </p:nvSpPr>
        <p:spPr bwMode="auto">
          <a:xfrm>
            <a:off x="762000" y="2514600"/>
            <a:ext cx="2100263" cy="9159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PALS or T zone</a:t>
            </a:r>
          </a:p>
          <a:p>
            <a:r>
              <a:rPr lang="en-US"/>
              <a:t>(periarterial lymphoid sheath)</a:t>
            </a:r>
          </a:p>
        </p:txBody>
      </p:sp>
      <p:sp>
        <p:nvSpPr>
          <p:cNvPr id="52238" name="Rectangle 14"/>
          <p:cNvSpPr>
            <a:spLocks noChangeArrowheads="1"/>
          </p:cNvSpPr>
          <p:nvPr/>
        </p:nvSpPr>
        <p:spPr bwMode="auto">
          <a:xfrm>
            <a:off x="2506663" y="0"/>
            <a:ext cx="1055687" cy="6461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Follicle</a:t>
            </a:r>
          </a:p>
          <a:p>
            <a:pPr algn="ctr"/>
            <a:r>
              <a:rPr lang="en-US"/>
              <a:t>(B zone)</a:t>
            </a:r>
          </a:p>
        </p:txBody>
      </p:sp>
      <p:sp>
        <p:nvSpPr>
          <p:cNvPr id="52239" name="Rectangle 15"/>
          <p:cNvSpPr>
            <a:spLocks noChangeArrowheads="1"/>
          </p:cNvSpPr>
          <p:nvPr/>
        </p:nvSpPr>
        <p:spPr bwMode="auto">
          <a:xfrm>
            <a:off x="3454400" y="76200"/>
            <a:ext cx="1992313" cy="6461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Splenic (red pulp)</a:t>
            </a:r>
          </a:p>
          <a:p>
            <a:r>
              <a:rPr lang="en-US"/>
              <a:t>   cord</a:t>
            </a:r>
          </a:p>
        </p:txBody>
      </p:sp>
      <p:sp>
        <p:nvSpPr>
          <p:cNvPr id="52240" name="Rectangle 16"/>
          <p:cNvSpPr>
            <a:spLocks noChangeArrowheads="1"/>
          </p:cNvSpPr>
          <p:nvPr/>
        </p:nvSpPr>
        <p:spPr bwMode="auto">
          <a:xfrm>
            <a:off x="5029200" y="349250"/>
            <a:ext cx="1903413" cy="6461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Splenic (venous)</a:t>
            </a:r>
          </a:p>
          <a:p>
            <a:r>
              <a:rPr lang="en-US"/>
              <a:t>sinus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The fate of Ag</a:t>
            </a:r>
            <a:br>
              <a:rPr lang="en-US" b="1" dirty="0">
                <a:solidFill>
                  <a:srgbClr val="C00000"/>
                </a:solidFill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Three routes:</a:t>
            </a:r>
          </a:p>
          <a:p>
            <a:pPr marL="514350" indent="-514350">
              <a:buAutoNum type="arabicPeriod"/>
            </a:pPr>
            <a:r>
              <a:rPr lang="en-US" sz="2600" b="1" dirty="0">
                <a:solidFill>
                  <a:srgbClr val="FF0000"/>
                </a:solidFill>
              </a:rPr>
              <a:t>Through blood:  carried to spleen</a:t>
            </a:r>
          </a:p>
          <a:p>
            <a:pPr marL="514350" indent="-514350">
              <a:buNone/>
            </a:pPr>
            <a:r>
              <a:rPr lang="en-US" sz="2600" b="1" dirty="0">
                <a:solidFill>
                  <a:srgbClr val="FF0000"/>
                </a:solidFill>
              </a:rPr>
              <a:t>	interact with APC</a:t>
            </a:r>
          </a:p>
          <a:p>
            <a:pPr marL="514350" indent="-514350">
              <a:buNone/>
            </a:pPr>
            <a:r>
              <a:rPr lang="en-US" sz="2600" b="1" dirty="0">
                <a:solidFill>
                  <a:srgbClr val="00B050"/>
                </a:solidFill>
              </a:rPr>
              <a:t>2. From epidermal, dermal or subcutaneous tissue: the Ag either free or trapped by APC is migrated to lymphatic system draining lymph  nodes.</a:t>
            </a:r>
          </a:p>
          <a:p>
            <a:pPr marL="514350" indent="-514350">
              <a:buNone/>
            </a:pPr>
            <a:r>
              <a:rPr lang="en-US" sz="2600" b="1" dirty="0">
                <a:solidFill>
                  <a:srgbClr val="7030A0"/>
                </a:solidFill>
              </a:rPr>
              <a:t>3. Through gastro or respiratory tract  lodged in the MALT or BALT tissues, respectively. </a:t>
            </a:r>
          </a:p>
          <a:p>
            <a:pPr marL="514350" indent="-514350">
              <a:buNone/>
            </a:pPr>
            <a:r>
              <a:rPr lang="en-US" sz="2600" b="1" dirty="0">
                <a:solidFill>
                  <a:srgbClr val="7030A0"/>
                </a:solidFill>
              </a:rPr>
              <a:t>	interact with lymphocytes and </a:t>
            </a:r>
            <a:r>
              <a:rPr lang="en-US" sz="2600" b="1" dirty="0" err="1">
                <a:solidFill>
                  <a:srgbClr val="7030A0"/>
                </a:solidFill>
              </a:rPr>
              <a:t>mac</a:t>
            </a:r>
            <a:endParaRPr lang="en-US" sz="2600" b="1" dirty="0">
              <a:solidFill>
                <a:srgbClr val="7030A0"/>
              </a:solidFill>
            </a:endParaRPr>
          </a:p>
          <a:p>
            <a:pPr marL="514350" indent="-514350">
              <a:buNone/>
            </a:pPr>
            <a:r>
              <a:rPr lang="en-US" sz="2600" b="1" dirty="0">
                <a:solidFill>
                  <a:srgbClr val="7030A0"/>
                </a:solidFill>
              </a:rPr>
              <a:t>	</a:t>
            </a:r>
            <a:r>
              <a:rPr lang="en-US" sz="2600" b="1" dirty="0" err="1">
                <a:solidFill>
                  <a:srgbClr val="7030A0"/>
                </a:solidFill>
              </a:rPr>
              <a:t>Ab</a:t>
            </a:r>
            <a:r>
              <a:rPr lang="en-US" sz="2600" b="1" dirty="0">
                <a:solidFill>
                  <a:srgbClr val="7030A0"/>
                </a:solidFill>
              </a:rPr>
              <a:t> produced are deposited in the local tissue</a:t>
            </a:r>
            <a:r>
              <a:rPr lang="en-US" b="1" dirty="0">
                <a:solidFill>
                  <a:srgbClr val="7030A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1" descr="a2e6E9C.tmp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/>
          <p:cNvSpPr>
            <a:spLocks noGrp="1"/>
          </p:cNvSpPr>
          <p:nvPr>
            <p:ph type="title"/>
          </p:nvPr>
        </p:nvSpPr>
        <p:spPr>
          <a:xfrm>
            <a:off x="1485900" y="1063228"/>
            <a:ext cx="6172200" cy="136922"/>
          </a:xfrm>
        </p:spPr>
        <p:txBody>
          <a:bodyPr>
            <a:noAutofit/>
          </a:bodyPr>
          <a:lstStyle/>
          <a:p>
            <a:r>
              <a:rPr lang="en-US" altLang="en-US" sz="2400" b="1" dirty="0" err="1">
                <a:solidFill>
                  <a:srgbClr val="7030A0"/>
                </a:solidFill>
                <a:cs typeface="Times New Roman" panose="02020603050405020304" pitchFamily="18" charset="0"/>
              </a:rPr>
              <a:t>Thymic</a:t>
            </a:r>
            <a:r>
              <a:rPr lang="en-US" altLang="en-US" sz="2400" b="1" dirty="0">
                <a:solidFill>
                  <a:srgbClr val="7030A0"/>
                </a:solidFill>
                <a:cs typeface="Times New Roman" panose="02020603050405020304" pitchFamily="18" charset="0"/>
              </a:rPr>
              <a:t> B cells</a:t>
            </a:r>
          </a:p>
        </p:txBody>
      </p:sp>
      <p:sp>
        <p:nvSpPr>
          <p:cNvPr id="99331" name="Content Placeholder 2"/>
          <p:cNvSpPr>
            <a:spLocks noGrp="1"/>
          </p:cNvSpPr>
          <p:nvPr>
            <p:ph idx="1"/>
          </p:nvPr>
        </p:nvSpPr>
        <p:spPr>
          <a:xfrm>
            <a:off x="0" y="1257300"/>
            <a:ext cx="9144000" cy="53721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en-US" sz="2700" b="1" dirty="0">
                <a:solidFill>
                  <a:srgbClr val="FF0000"/>
                </a:solidFill>
                <a:cs typeface="Arial" panose="020B0604020202020204" pitchFamily="34" charset="0"/>
              </a:rPr>
              <a:t>TYPES</a:t>
            </a:r>
          </a:p>
          <a:p>
            <a:r>
              <a:rPr lang="en-US" altLang="en-US" sz="2700" dirty="0">
                <a:solidFill>
                  <a:srgbClr val="C00000"/>
                </a:solidFill>
                <a:cs typeface="Arial" panose="020B0604020202020204" pitchFamily="34" charset="0"/>
              </a:rPr>
              <a:t>R</a:t>
            </a:r>
            <a:r>
              <a:rPr lang="en-US" altLang="en-US" sz="2700" b="1" dirty="0">
                <a:solidFill>
                  <a:srgbClr val="C00000"/>
                </a:solidFill>
                <a:cs typeface="Arial" panose="020B0604020202020204" pitchFamily="34" charset="0"/>
              </a:rPr>
              <a:t>esident B cells </a:t>
            </a:r>
            <a:r>
              <a:rPr lang="en-US" altLang="en-US" sz="2700" dirty="0">
                <a:cs typeface="Arial" panose="020B0604020202020204" pitchFamily="34" charset="0"/>
              </a:rPr>
              <a:t>located in the </a:t>
            </a:r>
            <a:r>
              <a:rPr lang="en-US" altLang="en-US" sz="2700" dirty="0" err="1">
                <a:cs typeface="Arial" panose="020B0604020202020204" pitchFamily="34" charset="0"/>
              </a:rPr>
              <a:t>thymic</a:t>
            </a:r>
            <a:r>
              <a:rPr lang="en-US" altLang="en-US" sz="2700" dirty="0">
                <a:cs typeface="Arial" panose="020B0604020202020204" pitchFamily="34" charset="0"/>
              </a:rPr>
              <a:t> medulla that appear in early life during fetal development that contribute to </a:t>
            </a:r>
            <a:r>
              <a:rPr lang="en-US" altLang="en-US" sz="2700" b="1" dirty="0">
                <a:cs typeface="Arial" panose="020B0604020202020204" pitchFamily="34" charset="0"/>
              </a:rPr>
              <a:t>central tolerance </a:t>
            </a:r>
            <a:r>
              <a:rPr lang="en-US" altLang="en-US" sz="2700" dirty="0">
                <a:cs typeface="Arial" panose="020B0604020202020204" pitchFamily="34" charset="0"/>
              </a:rPr>
              <a:t>as specialized APCs.</a:t>
            </a:r>
          </a:p>
          <a:p>
            <a:pPr marL="0" indent="0">
              <a:buNone/>
            </a:pPr>
            <a:r>
              <a:rPr lang="en-US" altLang="en-US" sz="2700" dirty="0">
                <a:cs typeface="Arial" panose="020B0604020202020204" pitchFamily="34" charset="0"/>
              </a:rPr>
              <a:t> </a:t>
            </a:r>
            <a:r>
              <a:rPr lang="en-US" altLang="en-US" sz="2700" b="1" dirty="0">
                <a:solidFill>
                  <a:srgbClr val="C00000"/>
                </a:solidFill>
                <a:cs typeface="Arial" panose="020B0604020202020204" pitchFamily="34" charset="0"/>
              </a:rPr>
              <a:t>perivascular B cells PVC </a:t>
            </a:r>
            <a:r>
              <a:rPr lang="en-US" altLang="en-US" sz="2700" dirty="0">
                <a:cs typeface="Arial" panose="020B0604020202020204" pitchFamily="34" charset="0"/>
              </a:rPr>
              <a:t>that migrate from the periphery which play a more conventional role in the </a:t>
            </a:r>
            <a:r>
              <a:rPr lang="en-US" altLang="en-US" sz="2700" b="1" dirty="0">
                <a:cs typeface="Arial" panose="020B0604020202020204" pitchFamily="34" charset="0"/>
              </a:rPr>
              <a:t>adaptive humoral response </a:t>
            </a:r>
            <a:r>
              <a:rPr lang="en-US" altLang="en-US" sz="2700" dirty="0">
                <a:cs typeface="Arial" panose="020B0604020202020204" pitchFamily="34" charset="0"/>
              </a:rPr>
              <a:t>both in health and disease.</a:t>
            </a:r>
          </a:p>
          <a:p>
            <a:pPr marL="0" indent="0">
              <a:buNone/>
            </a:pPr>
            <a:r>
              <a:rPr lang="en-US" altLang="en-US" sz="2700" b="1" dirty="0">
                <a:solidFill>
                  <a:srgbClr val="C00000"/>
                </a:solidFill>
                <a:cs typeface="Arial" panose="020B0604020202020204" pitchFamily="34" charset="0"/>
              </a:rPr>
              <a:t>Evidences</a:t>
            </a:r>
          </a:p>
          <a:p>
            <a:pPr algn="l" rtl="0"/>
            <a:r>
              <a:rPr lang="en-US" altLang="en-US" sz="2700" dirty="0">
                <a:cs typeface="Arial" panose="020B0604020202020204" pitchFamily="34" charset="0"/>
              </a:rPr>
              <a:t>In mice, B cells are detected as early as gestational day 18, suggesting that the BM is not essential for their development</a:t>
            </a:r>
          </a:p>
          <a:p>
            <a:pPr marL="0" indent="0">
              <a:buNone/>
            </a:pPr>
            <a:endParaRPr lang="en-US" altLang="en-US" sz="2700" b="1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2700" b="1" dirty="0">
                <a:solidFill>
                  <a:srgbClr val="FF0000"/>
                </a:solidFill>
                <a:cs typeface="Arial" panose="020B0604020202020204" pitchFamily="34" charset="0"/>
              </a:rPr>
              <a:t>Migration of Circulating B Cells to the Thymus:</a:t>
            </a:r>
            <a:endParaRPr lang="en-US" altLang="en-US" sz="2700" dirty="0">
              <a:cs typeface="Arial" panose="020B0604020202020204" pitchFamily="34" charset="0"/>
            </a:endParaRPr>
          </a:p>
          <a:p>
            <a:r>
              <a:rPr lang="en-US" altLang="en-US" sz="2700" dirty="0">
                <a:cs typeface="Arial" panose="020B0604020202020204" pitchFamily="34" charset="0"/>
              </a:rPr>
              <a:t> the frequency of transferred splenic B cells migrating to the thymus was 5-10-fold lower than the spleen</a:t>
            </a:r>
          </a:p>
          <a:p>
            <a:pPr lvl="0"/>
            <a:endParaRPr lang="en-US" altLang="en-US" sz="2100" b="1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lvl="0"/>
            <a:r>
              <a:rPr lang="en-US" altLang="en-US" sz="2900" b="1" dirty="0">
                <a:solidFill>
                  <a:srgbClr val="FF0000"/>
                </a:solidFill>
                <a:cs typeface="Arial" panose="020B0604020202020204" pitchFamily="34" charset="0"/>
              </a:rPr>
              <a:t>Mouse </a:t>
            </a:r>
            <a:r>
              <a:rPr lang="en-US" altLang="en-US" sz="2900" dirty="0" err="1">
                <a:solidFill>
                  <a:prstClr val="black"/>
                </a:solidFill>
                <a:cs typeface="Arial" panose="020B0604020202020204" pitchFamily="34" charset="0"/>
              </a:rPr>
              <a:t>thymic</a:t>
            </a:r>
            <a:r>
              <a:rPr lang="en-US" altLang="en-US" sz="2900" dirty="0">
                <a:solidFill>
                  <a:prstClr val="black"/>
                </a:solidFill>
                <a:cs typeface="Arial" panose="020B0604020202020204" pitchFamily="34" charset="0"/>
              </a:rPr>
              <a:t> B cells have an </a:t>
            </a:r>
            <a:r>
              <a:rPr lang="en-US" altLang="en-US" sz="2900" b="1" dirty="0">
                <a:solidFill>
                  <a:prstClr val="black"/>
                </a:solidFill>
                <a:cs typeface="Arial" panose="020B0604020202020204" pitchFamily="34" charset="0"/>
              </a:rPr>
              <a:t>unusual phenotype </a:t>
            </a:r>
            <a:r>
              <a:rPr lang="en-US" altLang="en-US" sz="2900" dirty="0">
                <a:solidFill>
                  <a:prstClr val="black"/>
                </a:solidFill>
                <a:cs typeface="Arial" panose="020B0604020202020204" pitchFamily="34" charset="0"/>
              </a:rPr>
              <a:t>compared to circulating and secondary lymphoid organ B cells. </a:t>
            </a:r>
          </a:p>
          <a:p>
            <a:pPr lvl="0"/>
            <a:r>
              <a:rPr lang="en-US" altLang="en-US" sz="2900" dirty="0">
                <a:solidFill>
                  <a:prstClr val="black"/>
                </a:solidFill>
                <a:cs typeface="Arial" panose="020B0604020202020204" pitchFamily="34" charset="0"/>
              </a:rPr>
              <a:t>Initial analysis of </a:t>
            </a:r>
            <a:r>
              <a:rPr lang="en-US" altLang="en-US" sz="2900" dirty="0" err="1">
                <a:solidFill>
                  <a:prstClr val="black"/>
                </a:solidFill>
                <a:cs typeface="Arial" panose="020B0604020202020204" pitchFamily="34" charset="0"/>
              </a:rPr>
              <a:t>thymic</a:t>
            </a:r>
            <a:r>
              <a:rPr lang="en-US" altLang="en-US" sz="2900" dirty="0">
                <a:solidFill>
                  <a:prstClr val="black"/>
                </a:solidFill>
                <a:cs typeface="Arial" panose="020B0604020202020204" pitchFamily="34" charset="0"/>
              </a:rPr>
              <a:t> B cells in mice revealed a high expression of </a:t>
            </a:r>
            <a:r>
              <a:rPr lang="en-US" altLang="en-US" sz="2900" b="1" dirty="0">
                <a:solidFill>
                  <a:prstClr val="black"/>
                </a:solidFill>
                <a:cs typeface="Arial" panose="020B0604020202020204" pitchFamily="34" charset="0"/>
              </a:rPr>
              <a:t>CD5 and CD43</a:t>
            </a:r>
            <a:r>
              <a:rPr lang="en-US" altLang="en-US" sz="2900" dirty="0">
                <a:solidFill>
                  <a:prstClr val="black"/>
                </a:solidFill>
                <a:cs typeface="Arial" panose="020B0604020202020204" pitchFamily="34" charset="0"/>
              </a:rPr>
              <a:t>, which are hallmark surface markers of the B1-a lineage located predominantly in the peritoneum, suggesting that </a:t>
            </a:r>
            <a:r>
              <a:rPr lang="en-US" altLang="en-US" sz="2900" dirty="0" err="1">
                <a:solidFill>
                  <a:prstClr val="black"/>
                </a:solidFill>
                <a:cs typeface="Arial" panose="020B0604020202020204" pitchFamily="34" charset="0"/>
              </a:rPr>
              <a:t>thymic</a:t>
            </a:r>
            <a:r>
              <a:rPr lang="en-US" altLang="en-US" sz="2900" dirty="0">
                <a:solidFill>
                  <a:prstClr val="black"/>
                </a:solidFill>
                <a:cs typeface="Arial" panose="020B0604020202020204" pitchFamily="34" charset="0"/>
              </a:rPr>
              <a:t> B cells may arise from </a:t>
            </a:r>
            <a:r>
              <a:rPr lang="en-US" altLang="en-US" sz="2900" b="1" dirty="0">
                <a:solidFill>
                  <a:prstClr val="black"/>
                </a:solidFill>
                <a:cs typeface="Arial" panose="020B0604020202020204" pitchFamily="34" charset="0"/>
              </a:rPr>
              <a:t>fetal liver </a:t>
            </a:r>
            <a:r>
              <a:rPr lang="en-US" altLang="en-US" sz="2900" dirty="0">
                <a:solidFill>
                  <a:prstClr val="black"/>
                </a:solidFill>
                <a:cs typeface="Arial" panose="020B0604020202020204" pitchFamily="34" charset="0"/>
              </a:rPr>
              <a:t>progenitors. </a:t>
            </a:r>
          </a:p>
          <a:p>
            <a:pPr lvl="0"/>
            <a:r>
              <a:rPr lang="en-US" altLang="en-US" sz="2900" b="1" dirty="0">
                <a:solidFill>
                  <a:prstClr val="black"/>
                </a:solidFill>
                <a:cs typeface="Arial" panose="020B0604020202020204" pitchFamily="34" charset="0"/>
              </a:rPr>
              <a:t>Thus, it appears that </a:t>
            </a:r>
            <a:r>
              <a:rPr lang="en-US" altLang="en-US" sz="2900" b="1" dirty="0" err="1">
                <a:solidFill>
                  <a:prstClr val="black"/>
                </a:solidFill>
                <a:cs typeface="Arial" panose="020B0604020202020204" pitchFamily="34" charset="0"/>
              </a:rPr>
              <a:t>thymic</a:t>
            </a:r>
            <a:r>
              <a:rPr lang="en-US" altLang="en-US" sz="2900" b="1" dirty="0">
                <a:solidFill>
                  <a:prstClr val="black"/>
                </a:solidFill>
                <a:cs typeface="Arial" panose="020B0604020202020204" pitchFamily="34" charset="0"/>
              </a:rPr>
              <a:t> B cells and B1 cells are from different lineages and that bone marrow and fetal liver cells contribute to the development of </a:t>
            </a:r>
            <a:r>
              <a:rPr lang="en-US" altLang="en-US" sz="2900" b="1" dirty="0" err="1">
                <a:solidFill>
                  <a:prstClr val="black"/>
                </a:solidFill>
                <a:cs typeface="Arial" panose="020B0604020202020204" pitchFamily="34" charset="0"/>
              </a:rPr>
              <a:t>thymic</a:t>
            </a:r>
            <a:r>
              <a:rPr lang="en-US" altLang="en-US" sz="2900" b="1" dirty="0">
                <a:solidFill>
                  <a:prstClr val="black"/>
                </a:solidFill>
                <a:cs typeface="Arial" panose="020B0604020202020204" pitchFamily="34" charset="0"/>
              </a:rPr>
              <a:t> B cells.</a:t>
            </a:r>
          </a:p>
          <a:p>
            <a:endParaRPr lang="en-US" altLang="en-US" sz="2700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1800" dirty="0">
                <a:cs typeface="Arial" panose="020B0604020202020204" pitchFamily="34" charset="0"/>
              </a:rPr>
              <a:t> </a:t>
            </a:r>
          </a:p>
          <a:p>
            <a:pPr algn="l" rtl="0"/>
            <a:endParaRPr lang="en-US" altLang="en-US" sz="18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112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/>
          <p:cNvSpPr>
            <a:spLocks noGrp="1"/>
          </p:cNvSpPr>
          <p:nvPr>
            <p:ph type="title"/>
          </p:nvPr>
        </p:nvSpPr>
        <p:spPr>
          <a:xfrm>
            <a:off x="1485900" y="1063230"/>
            <a:ext cx="6172200" cy="34528"/>
          </a:xfrm>
        </p:spPr>
        <p:txBody>
          <a:bodyPr>
            <a:normAutofit fontScale="90000"/>
          </a:bodyPr>
          <a:lstStyle/>
          <a:p>
            <a:endParaRPr lang="en-US" altLang="en-US">
              <a:cs typeface="Times New Roman" panose="02020603050405020304" pitchFamily="18" charset="0"/>
            </a:endParaRPr>
          </a:p>
        </p:txBody>
      </p:sp>
      <p:sp>
        <p:nvSpPr>
          <p:cNvPr id="101379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9054193" cy="5562600"/>
          </a:xfrm>
        </p:spPr>
        <p:txBody>
          <a:bodyPr>
            <a:normAutofit fontScale="92500" lnSpcReduction="20000"/>
          </a:bodyPr>
          <a:lstStyle/>
          <a:p>
            <a:pPr algn="l" rtl="0"/>
            <a:endParaRPr lang="en-US" altLang="en-US" sz="2000" dirty="0">
              <a:cs typeface="Arial" panose="020B0604020202020204" pitchFamily="34" charset="0"/>
            </a:endParaRPr>
          </a:p>
          <a:p>
            <a:r>
              <a:rPr lang="en-US" altLang="en-US" sz="2600" dirty="0">
                <a:cs typeface="Arial" panose="020B0604020202020204" pitchFamily="34" charset="0"/>
              </a:rPr>
              <a:t>B cells in the </a:t>
            </a:r>
            <a:r>
              <a:rPr lang="en-US" altLang="en-US" sz="2600" b="1" dirty="0">
                <a:solidFill>
                  <a:srgbClr val="FF0000"/>
                </a:solidFill>
                <a:cs typeface="Arial" panose="020B0604020202020204" pitchFamily="34" charset="0"/>
              </a:rPr>
              <a:t>human</a:t>
            </a:r>
            <a:r>
              <a:rPr lang="en-US" altLang="en-US" sz="2600" dirty="0">
                <a:cs typeface="Arial" panose="020B0604020202020204" pitchFamily="34" charset="0"/>
              </a:rPr>
              <a:t> thymus, similar to mice, are found in a small proportion presenting a unique phenotypic characteristic compared to peripheral B cells. About 50% of </a:t>
            </a:r>
            <a:r>
              <a:rPr lang="en-US" altLang="en-US" sz="2600" dirty="0" err="1">
                <a:cs typeface="Arial" panose="020B0604020202020204" pitchFamily="34" charset="0"/>
              </a:rPr>
              <a:t>thymic</a:t>
            </a:r>
            <a:r>
              <a:rPr lang="en-US" altLang="en-US" sz="2600" dirty="0">
                <a:cs typeface="Arial" panose="020B0604020202020204" pitchFamily="34" charset="0"/>
              </a:rPr>
              <a:t> B cells </a:t>
            </a:r>
            <a:r>
              <a:rPr lang="en-US" altLang="en-US" sz="2600" b="1" dirty="0">
                <a:cs typeface="Arial" panose="020B0604020202020204" pitchFamily="34" charset="0"/>
              </a:rPr>
              <a:t>express CD5 on their surface, while peripheral blood B cells are mostly CD5-</a:t>
            </a:r>
          </a:p>
          <a:p>
            <a:endParaRPr lang="en-US" altLang="en-US" sz="2600" dirty="0">
              <a:cs typeface="Arial" panose="020B0604020202020204" pitchFamily="34" charset="0"/>
            </a:endParaRPr>
          </a:p>
          <a:p>
            <a:r>
              <a:rPr lang="en-US" altLang="en-US" sz="2600" dirty="0">
                <a:cs typeface="Arial" panose="020B0604020202020204" pitchFamily="34" charset="0"/>
              </a:rPr>
              <a:t>Several experimental models have demonstrated that </a:t>
            </a:r>
            <a:r>
              <a:rPr lang="en-US" altLang="en-US" sz="2600" dirty="0" err="1">
                <a:cs typeface="Arial" panose="020B0604020202020204" pitchFamily="34" charset="0"/>
              </a:rPr>
              <a:t>thymic</a:t>
            </a:r>
            <a:r>
              <a:rPr lang="en-US" altLang="en-US" sz="2600" dirty="0">
                <a:cs typeface="Arial" panose="020B0604020202020204" pitchFamily="34" charset="0"/>
              </a:rPr>
              <a:t> B cells play a non-redundant role in the </a:t>
            </a:r>
            <a:r>
              <a:rPr lang="en-US" altLang="en-US" sz="2600" b="1" dirty="0">
                <a:cs typeface="Arial" panose="020B0604020202020204" pitchFamily="34" charset="0"/>
              </a:rPr>
              <a:t>negative selection of self-reactive clones</a:t>
            </a:r>
          </a:p>
          <a:p>
            <a:endParaRPr lang="en-US" altLang="en-US" sz="2600" dirty="0">
              <a:cs typeface="Arial" panose="020B0604020202020204" pitchFamily="34" charset="0"/>
            </a:endParaRPr>
          </a:p>
          <a:p>
            <a:r>
              <a:rPr lang="en-US" altLang="en-US" sz="2600" dirty="0">
                <a:cs typeface="Arial" panose="020B0604020202020204" pitchFamily="34" charset="0"/>
              </a:rPr>
              <a:t>A distinct property of </a:t>
            </a:r>
            <a:r>
              <a:rPr lang="en-US" altLang="en-US" sz="2600" dirty="0" err="1">
                <a:cs typeface="Arial" panose="020B0604020202020204" pitchFamily="34" charset="0"/>
              </a:rPr>
              <a:t>thymic</a:t>
            </a:r>
            <a:r>
              <a:rPr lang="en-US" altLang="en-US" sz="2600" dirty="0">
                <a:cs typeface="Arial" panose="020B0604020202020204" pitchFamily="34" charset="0"/>
              </a:rPr>
              <a:t> B cells is that they are </a:t>
            </a:r>
            <a:r>
              <a:rPr lang="en-US" altLang="en-US" sz="2600" b="1" dirty="0">
                <a:cs typeface="Arial" panose="020B0604020202020204" pitchFamily="34" charset="0"/>
              </a:rPr>
              <a:t>the ﬁrst </a:t>
            </a:r>
            <a:r>
              <a:rPr lang="en-US" altLang="en-US" sz="2600" b="1" dirty="0" err="1">
                <a:cs typeface="Arial" panose="020B0604020202020204" pitchFamily="34" charset="0"/>
              </a:rPr>
              <a:t>Ab</a:t>
            </a:r>
            <a:r>
              <a:rPr lang="en-US" altLang="en-US" sz="2600" b="1" dirty="0">
                <a:cs typeface="Arial" panose="020B0604020202020204" pitchFamily="34" charset="0"/>
              </a:rPr>
              <a:t>-secreting cells (ASCs) that spontaneously secrete </a:t>
            </a:r>
            <a:r>
              <a:rPr lang="en-US" altLang="en-US" sz="2600" b="1" dirty="0" err="1">
                <a:cs typeface="Arial" panose="020B0604020202020204" pitchFamily="34" charset="0"/>
              </a:rPr>
              <a:t>IgG</a:t>
            </a:r>
            <a:r>
              <a:rPr lang="en-US" altLang="en-US" sz="2600" b="1" dirty="0">
                <a:cs typeface="Arial" panose="020B0604020202020204" pitchFamily="34" charset="0"/>
              </a:rPr>
              <a:t>, IgA and </a:t>
            </a:r>
            <a:r>
              <a:rPr lang="en-US" altLang="en-US" sz="2600" b="1" dirty="0" err="1">
                <a:cs typeface="Arial" panose="020B0604020202020204" pitchFamily="34" charset="0"/>
              </a:rPr>
              <a:t>IgE</a:t>
            </a:r>
            <a:r>
              <a:rPr lang="en-US" altLang="en-US" sz="2600" b="1" dirty="0">
                <a:cs typeface="Arial" panose="020B0604020202020204" pitchFamily="34" charset="0"/>
              </a:rPr>
              <a:t> </a:t>
            </a:r>
            <a:r>
              <a:rPr lang="en-US" altLang="en-US" sz="2600" dirty="0">
                <a:cs typeface="Arial" panose="020B0604020202020204" pitchFamily="34" charset="0"/>
              </a:rPr>
              <a:t>which appear early in the postnatal thymus, before to the appearance of ASCs in the spleen </a:t>
            </a:r>
          </a:p>
          <a:p>
            <a:endParaRPr lang="en-US" altLang="en-US" sz="2600" dirty="0">
              <a:cs typeface="Arial" panose="020B0604020202020204" pitchFamily="34" charset="0"/>
            </a:endParaRPr>
          </a:p>
          <a:p>
            <a:endParaRPr lang="en-US" altLang="en-US" sz="2600" b="1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1800" dirty="0">
                <a:cs typeface="Arial" panose="020B0604020202020204" pitchFamily="34" charset="0"/>
              </a:rPr>
              <a:t> </a:t>
            </a:r>
            <a:endParaRPr lang="en-US" altLang="en-US" sz="1800" b="1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921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1849</TotalTime>
  <Words>953</Words>
  <Application>Microsoft Office PowerPoint</Application>
  <PresentationFormat>On-screen Show (4:3)</PresentationFormat>
  <Paragraphs>138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The lymphocytic Organs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Thymic B cells</vt:lpstr>
      <vt:lpstr>Secondary L.O.</vt:lpstr>
      <vt:lpstr>Lymphatics</vt:lpstr>
      <vt:lpstr>PowerPoint Presentation</vt:lpstr>
      <vt:lpstr>The Lymphatic System </vt:lpstr>
      <vt:lpstr>PowerPoint Presentation</vt:lpstr>
      <vt:lpstr>PowerPoint Presentation</vt:lpstr>
      <vt:lpstr>PowerPoint Presentation</vt:lpstr>
      <vt:lpstr>PowerPoint Presentation</vt:lpstr>
      <vt:lpstr>The fate of Ag </vt:lpstr>
      <vt:lpstr>PowerPoint Presentation</vt:lpstr>
      <vt:lpstr>Thymic B cells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lymphocytic Organs</dc:title>
  <dc:creator>DELL</dc:creator>
  <cp:lastModifiedBy>HAMZEH AYED ELAMIN ABID</cp:lastModifiedBy>
  <cp:revision>198</cp:revision>
  <dcterms:created xsi:type="dcterms:W3CDTF">2006-08-16T00:00:00Z</dcterms:created>
  <dcterms:modified xsi:type="dcterms:W3CDTF">2024-08-01T10:59:07Z</dcterms:modified>
</cp:coreProperties>
</file>