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unknown"/>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7"/>
  </p:sldMasterIdLst>
  <p:notesMasterIdLst>
    <p:notesMasterId r:id="rId37"/>
  </p:notesMasterIdLst>
  <p:sldIdLst>
    <p:sldId id="256" r:id="rId18"/>
    <p:sldId id="259" r:id="rId19"/>
    <p:sldId id="266" r:id="rId20"/>
    <p:sldId id="260" r:id="rId21"/>
    <p:sldId id="261" r:id="rId22"/>
    <p:sldId id="280" r:id="rId23"/>
    <p:sldId id="262" r:id="rId24"/>
    <p:sldId id="263" r:id="rId25"/>
    <p:sldId id="264" r:id="rId26"/>
    <p:sldId id="279" r:id="rId27"/>
    <p:sldId id="265" r:id="rId28"/>
    <p:sldId id="270" r:id="rId29"/>
    <p:sldId id="273" r:id="rId30"/>
    <p:sldId id="274" r:id="rId31"/>
    <p:sldId id="276" r:id="rId32"/>
    <p:sldId id="275" r:id="rId33"/>
    <p:sldId id="277" r:id="rId34"/>
    <p:sldId id="278" r:id="rId35"/>
    <p:sldId id="28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3" d="100"/>
          <a:sy n="63" d="100"/>
        </p:scale>
        <p:origin x="-91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customXml" Target="../customXml/item13.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4.xml"/><Relationship Id="rId34" Type="http://schemas.openxmlformats.org/officeDocument/2006/relationships/slide" Target="slides/slide17.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slideMaster" Target="slideMasters/slideMaster1.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slide" Target="slides/slide3.xml"/><Relationship Id="rId29" Type="http://schemas.openxmlformats.org/officeDocument/2006/relationships/slide" Target="slides/slide12.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10" Type="http://schemas.openxmlformats.org/officeDocument/2006/relationships/customXml" Target="../customXml/item10.xml"/><Relationship Id="rId19" Type="http://schemas.openxmlformats.org/officeDocument/2006/relationships/slide" Target="slides/slide2.xml"/><Relationship Id="rId31"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61285-6147-45A3-966D-F47850F74259}" type="datetimeFigureOut">
              <a:rPr lang="en-US" smtClean="0"/>
              <a:t>2/20/2021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5C2EAC-9765-4A96-9C8B-F463D3733DFE}" type="slidenum">
              <a:rPr lang="en-US" smtClean="0"/>
              <a:t>‹#›</a:t>
            </a:fld>
            <a:endParaRPr lang="en-US"/>
          </a:p>
        </p:txBody>
      </p:sp>
    </p:spTree>
    <p:extLst>
      <p:ext uri="{BB962C8B-B14F-4D97-AF65-F5344CB8AC3E}">
        <p14:creationId xmlns:p14="http://schemas.microsoft.com/office/powerpoint/2010/main" val="2355497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95534D-EBF7-49D2-AF0F-0A26BFA443EC}" type="slidenum">
              <a:rPr lang="en-US" smtClean="0"/>
              <a:t>11</a:t>
            </a:fld>
            <a:endParaRPr lang="en-US"/>
          </a:p>
        </p:txBody>
      </p:sp>
    </p:spTree>
    <p:extLst>
      <p:ext uri="{BB962C8B-B14F-4D97-AF65-F5344CB8AC3E}">
        <p14:creationId xmlns:p14="http://schemas.microsoft.com/office/powerpoint/2010/main" val="2164873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B06E002-B922-43CC-8388-80EF7174BCF9}"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ECA09-5F56-46F1-942F-450B37A43BF9}" type="slidenum">
              <a:rPr lang="en-US" smtClean="0"/>
              <a:t>‹#›</a:t>
            </a:fld>
            <a:endParaRPr lang="en-US"/>
          </a:p>
        </p:txBody>
      </p:sp>
    </p:spTree>
    <p:extLst>
      <p:ext uri="{BB962C8B-B14F-4D97-AF65-F5344CB8AC3E}">
        <p14:creationId xmlns:p14="http://schemas.microsoft.com/office/powerpoint/2010/main" val="3550372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06E002-B922-43CC-8388-80EF7174BCF9}"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ECA09-5F56-46F1-942F-450B37A43BF9}" type="slidenum">
              <a:rPr lang="en-US" smtClean="0"/>
              <a:t>‹#›</a:t>
            </a:fld>
            <a:endParaRPr lang="en-US"/>
          </a:p>
        </p:txBody>
      </p:sp>
    </p:spTree>
    <p:extLst>
      <p:ext uri="{BB962C8B-B14F-4D97-AF65-F5344CB8AC3E}">
        <p14:creationId xmlns:p14="http://schemas.microsoft.com/office/powerpoint/2010/main" val="2345882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B06E002-B922-43CC-8388-80EF7174BCF9}"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ECA09-5F56-46F1-942F-450B37A43BF9}" type="slidenum">
              <a:rPr lang="en-US" smtClean="0"/>
              <a:t>‹#›</a:t>
            </a:fld>
            <a:endParaRPr lang="en-US"/>
          </a:p>
        </p:txBody>
      </p:sp>
    </p:spTree>
    <p:extLst>
      <p:ext uri="{BB962C8B-B14F-4D97-AF65-F5344CB8AC3E}">
        <p14:creationId xmlns:p14="http://schemas.microsoft.com/office/powerpoint/2010/main" val="598804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B06E002-B922-43CC-8388-80EF7174BCF9}"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DECA09-5F56-46F1-942F-450B37A43BF9}" type="slidenum">
              <a:rPr lang="en-US" smtClean="0"/>
              <a:t>‹#›</a:t>
            </a:fld>
            <a:endParaRPr lang="en-US"/>
          </a:p>
        </p:txBody>
      </p:sp>
    </p:spTree>
    <p:extLst>
      <p:ext uri="{BB962C8B-B14F-4D97-AF65-F5344CB8AC3E}">
        <p14:creationId xmlns:p14="http://schemas.microsoft.com/office/powerpoint/2010/main" val="3122805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B06E002-B922-43CC-8388-80EF7174BCF9}" type="datetimeFigureOut">
              <a:rPr lang="en-US" smtClean="0"/>
              <a:t>2/20/2021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DECA09-5F56-46F1-942F-450B37A43BF9}" type="slidenum">
              <a:rPr lang="en-US" smtClean="0"/>
              <a:t>‹#›</a:t>
            </a:fld>
            <a:endParaRPr lang="en-US"/>
          </a:p>
        </p:txBody>
      </p:sp>
    </p:spTree>
    <p:extLst>
      <p:ext uri="{BB962C8B-B14F-4D97-AF65-F5344CB8AC3E}">
        <p14:creationId xmlns:p14="http://schemas.microsoft.com/office/powerpoint/2010/main" val="1426500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B06E002-B922-43CC-8388-80EF7174BCF9}" type="datetimeFigureOut">
              <a:rPr lang="en-US" smtClean="0"/>
              <a:t>2/20/2021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DECA09-5F56-46F1-942F-450B37A43BF9}" type="slidenum">
              <a:rPr lang="en-US" smtClean="0"/>
              <a:t>‹#›</a:t>
            </a:fld>
            <a:endParaRPr lang="en-US"/>
          </a:p>
        </p:txBody>
      </p:sp>
    </p:spTree>
    <p:extLst>
      <p:ext uri="{BB962C8B-B14F-4D97-AF65-F5344CB8AC3E}">
        <p14:creationId xmlns:p14="http://schemas.microsoft.com/office/powerpoint/2010/main" val="3821606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06E002-B922-43CC-8388-80EF7174BCF9}" type="datetimeFigureOut">
              <a:rPr lang="en-US" smtClean="0"/>
              <a:t>2/20/2021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DECA09-5F56-46F1-942F-450B37A43BF9}" type="slidenum">
              <a:rPr lang="en-US" smtClean="0"/>
              <a:t>‹#›</a:t>
            </a:fld>
            <a:endParaRPr lang="en-US"/>
          </a:p>
        </p:txBody>
      </p:sp>
    </p:spTree>
    <p:extLst>
      <p:ext uri="{BB962C8B-B14F-4D97-AF65-F5344CB8AC3E}">
        <p14:creationId xmlns:p14="http://schemas.microsoft.com/office/powerpoint/2010/main" val="857650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06E002-B922-43CC-8388-80EF7174BCF9}"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DECA09-5F56-46F1-942F-450B37A43BF9}" type="slidenum">
              <a:rPr lang="en-US" smtClean="0"/>
              <a:t>‹#›</a:t>
            </a:fld>
            <a:endParaRPr lang="en-US"/>
          </a:p>
        </p:txBody>
      </p:sp>
    </p:spTree>
    <p:extLst>
      <p:ext uri="{BB962C8B-B14F-4D97-AF65-F5344CB8AC3E}">
        <p14:creationId xmlns:p14="http://schemas.microsoft.com/office/powerpoint/2010/main" val="1736274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06E002-B922-43CC-8388-80EF7174BCF9}"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DECA09-5F56-46F1-942F-450B37A43BF9}" type="slidenum">
              <a:rPr lang="en-US" smtClean="0"/>
              <a:t>‹#›</a:t>
            </a:fld>
            <a:endParaRPr lang="en-US"/>
          </a:p>
        </p:txBody>
      </p:sp>
    </p:spTree>
    <p:extLst>
      <p:ext uri="{BB962C8B-B14F-4D97-AF65-F5344CB8AC3E}">
        <p14:creationId xmlns:p14="http://schemas.microsoft.com/office/powerpoint/2010/main" val="3251906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06E002-B922-43CC-8388-80EF7174BCF9}"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ECA09-5F56-46F1-942F-450B37A43BF9}" type="slidenum">
              <a:rPr lang="en-US" smtClean="0"/>
              <a:t>‹#›</a:t>
            </a:fld>
            <a:endParaRPr lang="en-US"/>
          </a:p>
        </p:txBody>
      </p:sp>
    </p:spTree>
    <p:extLst>
      <p:ext uri="{BB962C8B-B14F-4D97-AF65-F5344CB8AC3E}">
        <p14:creationId xmlns:p14="http://schemas.microsoft.com/office/powerpoint/2010/main" val="2246569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06E002-B922-43CC-8388-80EF7174BCF9}"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ECA09-5F56-46F1-942F-450B37A43BF9}" type="slidenum">
              <a:rPr lang="en-US" smtClean="0"/>
              <a:t>‹#›</a:t>
            </a:fld>
            <a:endParaRPr lang="en-US"/>
          </a:p>
        </p:txBody>
      </p:sp>
    </p:spTree>
    <p:extLst>
      <p:ext uri="{BB962C8B-B14F-4D97-AF65-F5344CB8AC3E}">
        <p14:creationId xmlns:p14="http://schemas.microsoft.com/office/powerpoint/2010/main" val="27902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06E002-B922-43CC-8388-80EF7174BCF9}" type="datetimeFigureOut">
              <a:rPr lang="en-US" smtClean="0"/>
              <a:t>2/20/2021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DECA09-5F56-46F1-942F-450B37A43BF9}" type="slidenum">
              <a:rPr lang="en-US" smtClean="0"/>
              <a:t>‹#›</a:t>
            </a:fld>
            <a:endParaRPr lang="en-US"/>
          </a:p>
        </p:txBody>
      </p:sp>
    </p:spTree>
    <p:extLst>
      <p:ext uri="{BB962C8B-B14F-4D97-AF65-F5344CB8AC3E}">
        <p14:creationId xmlns:p14="http://schemas.microsoft.com/office/powerpoint/2010/main" val="3086879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customXml" Target="../../customXml/item9.xml"/><Relationship Id="rId6" Type="http://schemas.microsoft.com/office/2007/relationships/media" Target="../media/media1.mp4"/><Relationship Id="rId5" Type="http://schemas.openxmlformats.org/officeDocument/2006/relationships/tags" Target="../tags/tag2.xml"/><Relationship Id="rId4" Type="http://schemas.openxmlformats.org/officeDocument/2006/relationships/customXml" Target="../../customXml/item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customXml" Target="../../customXml/item6.xml"/><Relationship Id="rId6" Type="http://schemas.microsoft.com/office/2007/relationships/media" Target="../media/media1.mp4"/><Relationship Id="rId5" Type="http://schemas.openxmlformats.org/officeDocument/2006/relationships/tags" Target="../tags/tag4.xml"/><Relationship Id="rId4" Type="http://schemas.openxmlformats.org/officeDocument/2006/relationships/customXml" Target="../../customXml/item1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customXml" Target="../../customXml/item13.xml"/><Relationship Id="rId6" Type="http://schemas.microsoft.com/office/2007/relationships/media" Target="../media/media1.mp4"/><Relationship Id="rId5" Type="http://schemas.openxmlformats.org/officeDocument/2006/relationships/tags" Target="../tags/tag6.xml"/><Relationship Id="rId4" Type="http://schemas.openxmlformats.org/officeDocument/2006/relationships/customXml" Target="../../customXml/item16.xml"/></Relationships>
</file>

<file path=ppt/slides/_rels/slide8.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customXml" Target="../../customXml/item1.xml"/><Relationship Id="rId6" Type="http://schemas.microsoft.com/office/2007/relationships/media" Target="../media/media1.mp4"/><Relationship Id="rId5" Type="http://schemas.openxmlformats.org/officeDocument/2006/relationships/tags" Target="../tags/tag8.xml"/><Relationship Id="rId4" Type="http://schemas.openxmlformats.org/officeDocument/2006/relationships/customXml" Target="../../customXml/item8.xml"/><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customXml" Target="../../customXml/item3.xml"/><Relationship Id="rId6" Type="http://schemas.microsoft.com/office/2007/relationships/media" Target="../media/media1.mp4"/><Relationship Id="rId5" Type="http://schemas.openxmlformats.org/officeDocument/2006/relationships/tags" Target="../tags/tag10.xml"/><Relationship Id="rId4" Type="http://schemas.openxmlformats.org/officeDocument/2006/relationships/customXml" Target="../../customXml/item12.xml"/><Relationship Id="rId9"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cid:AF5718B8-DA4B-46C8-8A56-6E37C0D5F547" TargetMode="External"/><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customXml" Target="../../customXml/item10.xml"/><Relationship Id="rId6" Type="http://schemas.microsoft.com/office/2007/relationships/media" Target="../media/media1.mp4"/><Relationship Id="rId5" Type="http://schemas.openxmlformats.org/officeDocument/2006/relationships/tags" Target="../tags/tag12.xml"/><Relationship Id="rId10" Type="http://schemas.openxmlformats.org/officeDocument/2006/relationships/image" Target="../media/image1.png"/><Relationship Id="rId4" Type="http://schemas.openxmlformats.org/officeDocument/2006/relationships/customXml" Target="../../customXml/item2.xml"/><Relationship Id="rId9"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www.kdbio.com/products/cdm-hd-serum-substitut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lobenewswire.com/Tracker?data=7BW1ZJACt6lUNJbRLFZ9cWO1qoGIN9hZsEIgUE0VJhwz1KixuezhqBHOWVkrgk2kXeJ76ElbyVCiK5M9CSB7rpXCNojtwaFBusoq1TVxN99FGwSA8a6rvnzuqgwYTOzu2ss2I4qe1HG_agi66YhPwCHS8nIExz2moS2g1DePlpN-iAYDNmSse_MzN5bA7oB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0000"/>
                </a:solidFill>
              </a:rPr>
              <a:t>Production of </a:t>
            </a:r>
            <a:r>
              <a:rPr lang="en-US" b="1" dirty="0" err="1" smtClean="0">
                <a:solidFill>
                  <a:srgbClr val="FF0000"/>
                </a:solidFill>
              </a:rPr>
              <a:t>Mabs</a:t>
            </a:r>
            <a:endParaRPr lang="en-US" b="1" dirty="0">
              <a:solidFill>
                <a:srgbClr val="FF0000"/>
              </a:solidFill>
            </a:endParaRP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931327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88854"/>
          </a:xfrm>
        </p:spPr>
        <p:txBody>
          <a:bodyPr>
            <a:normAutofit fontScale="90000"/>
          </a:bodyPr>
          <a:lstStyle/>
          <a:p>
            <a:r>
              <a:rPr lang="en-US" b="1" dirty="0" smtClean="0">
                <a:solidFill>
                  <a:srgbClr val="FF0000"/>
                </a:solidFill>
              </a:rPr>
              <a:t>Propagation of selected positive clones</a:t>
            </a:r>
            <a:endParaRPr lang="en-US" b="1" dirty="0">
              <a:solidFill>
                <a:srgbClr val="FF0000"/>
              </a:solidFill>
            </a:endParaRPr>
          </a:p>
        </p:txBody>
      </p:sp>
      <p:sp>
        <p:nvSpPr>
          <p:cNvPr id="3" name="Content Placeholder 2"/>
          <p:cNvSpPr>
            <a:spLocks noGrp="1"/>
          </p:cNvSpPr>
          <p:nvPr>
            <p:ph idx="1"/>
          </p:nvPr>
        </p:nvSpPr>
        <p:spPr>
          <a:xfrm>
            <a:off x="838200" y="1106905"/>
            <a:ext cx="10515600" cy="5070058"/>
          </a:xfrm>
        </p:spPr>
        <p:txBody>
          <a:bodyPr>
            <a:normAutofit fontScale="70000" lnSpcReduction="20000"/>
          </a:bodyPr>
          <a:lstStyle/>
          <a:p>
            <a:pPr marL="0" indent="0">
              <a:buNone/>
            </a:pPr>
            <a:r>
              <a:rPr lang="en-US" sz="3600" b="1" dirty="0" smtClean="0"/>
              <a:t>Propagation in vivo or </a:t>
            </a:r>
            <a:r>
              <a:rPr lang="en-US" sz="3600" b="1" dirty="0" err="1" smtClean="0"/>
              <a:t>ascitic</a:t>
            </a:r>
            <a:r>
              <a:rPr lang="en-US" sz="3600" b="1" dirty="0" smtClean="0"/>
              <a:t> production</a:t>
            </a:r>
          </a:p>
          <a:p>
            <a:endParaRPr lang="en-US" sz="3100" b="1" dirty="0" smtClean="0"/>
          </a:p>
          <a:p>
            <a:r>
              <a:rPr lang="en-US" sz="3100" b="1" dirty="0" smtClean="0"/>
              <a:t>10</a:t>
            </a:r>
            <a:r>
              <a:rPr lang="en-US" sz="3100" b="1" baseline="30000" dirty="0" smtClean="0"/>
              <a:t>6</a:t>
            </a:r>
            <a:r>
              <a:rPr lang="en-US" sz="3100" b="1" dirty="0" smtClean="0"/>
              <a:t>-10</a:t>
            </a:r>
            <a:r>
              <a:rPr lang="en-US" sz="3100" b="1" baseline="30000" dirty="0" smtClean="0"/>
              <a:t>7</a:t>
            </a:r>
            <a:r>
              <a:rPr lang="en-US" sz="3100" b="1" dirty="0" smtClean="0"/>
              <a:t> </a:t>
            </a:r>
            <a:r>
              <a:rPr lang="en-US" sz="3100" b="1" dirty="0" err="1" smtClean="0"/>
              <a:t>hybridoma</a:t>
            </a:r>
            <a:r>
              <a:rPr lang="en-US" sz="3100" b="1" dirty="0" smtClean="0"/>
              <a:t> cells </a:t>
            </a:r>
          </a:p>
          <a:p>
            <a:r>
              <a:rPr lang="en-US" sz="3100" b="1" dirty="0" smtClean="0"/>
              <a:t>are injected IP </a:t>
            </a:r>
            <a:endParaRPr lang="en-US" sz="3100" dirty="0" smtClean="0"/>
          </a:p>
          <a:p>
            <a:r>
              <a:rPr lang="en-US" sz="3100" b="1" dirty="0" err="1" smtClean="0"/>
              <a:t>pristane</a:t>
            </a:r>
            <a:r>
              <a:rPr lang="en-US" sz="3100" b="1" dirty="0" smtClean="0"/>
              <a:t>-treated</a:t>
            </a:r>
            <a:r>
              <a:rPr lang="en-US" sz="3100" dirty="0" smtClean="0"/>
              <a:t> </a:t>
            </a:r>
          </a:p>
          <a:p>
            <a:r>
              <a:rPr lang="en-US" sz="3100" b="1" dirty="0" smtClean="0"/>
              <a:t>old mice </a:t>
            </a:r>
            <a:r>
              <a:rPr lang="en-US" sz="3100" dirty="0" smtClean="0"/>
              <a:t>(12-24 weeks)</a:t>
            </a:r>
          </a:p>
          <a:p>
            <a:r>
              <a:rPr lang="en-US" sz="3100" dirty="0" smtClean="0"/>
              <a:t> </a:t>
            </a:r>
            <a:r>
              <a:rPr lang="en-US" sz="3100" b="1" dirty="0" err="1" smtClean="0"/>
              <a:t>hybridoma</a:t>
            </a:r>
            <a:r>
              <a:rPr lang="en-US" sz="3100" dirty="0" smtClean="0"/>
              <a:t> are allowed to </a:t>
            </a:r>
            <a:r>
              <a:rPr lang="en-US" sz="3100" b="1" dirty="0" smtClean="0"/>
              <a:t>grow for 2 weeks</a:t>
            </a:r>
            <a:r>
              <a:rPr lang="en-US" sz="3100" dirty="0" smtClean="0"/>
              <a:t>.</a:t>
            </a:r>
          </a:p>
          <a:p>
            <a:r>
              <a:rPr lang="en-US" sz="3100" dirty="0" smtClean="0"/>
              <a:t> animals </a:t>
            </a:r>
            <a:r>
              <a:rPr lang="en-US" sz="3100" b="1" dirty="0" smtClean="0"/>
              <a:t>must be compatible </a:t>
            </a:r>
            <a:r>
              <a:rPr lang="en-US" sz="3100" dirty="0" smtClean="0"/>
              <a:t>with both parent cell lines (</a:t>
            </a:r>
            <a:r>
              <a:rPr lang="en-US" sz="3100" dirty="0" err="1" smtClean="0"/>
              <a:t>Balb</a:t>
            </a:r>
            <a:r>
              <a:rPr lang="en-US" sz="3100" dirty="0" smtClean="0"/>
              <a:t>/c).</a:t>
            </a:r>
          </a:p>
          <a:p>
            <a:endParaRPr lang="en-US" sz="3100" dirty="0" smtClean="0"/>
          </a:p>
          <a:p>
            <a:r>
              <a:rPr lang="en-US" sz="3100" dirty="0" smtClean="0"/>
              <a:t>10-60 </a:t>
            </a:r>
            <a:r>
              <a:rPr lang="en-US" sz="3100" dirty="0"/>
              <a:t>days before cell injection, </a:t>
            </a:r>
            <a:r>
              <a:rPr lang="en-US" sz="3100" dirty="0" err="1"/>
              <a:t>pristane</a:t>
            </a:r>
            <a:r>
              <a:rPr lang="en-US" sz="3100" dirty="0"/>
              <a:t> injected </a:t>
            </a:r>
            <a:r>
              <a:rPr lang="en-US" sz="3100" dirty="0" err="1"/>
              <a:t>i.p</a:t>
            </a:r>
            <a:r>
              <a:rPr lang="en-US" sz="3100" dirty="0"/>
              <a:t> into adult mice. Why?</a:t>
            </a:r>
          </a:p>
          <a:p>
            <a:pPr marL="0" indent="0">
              <a:buNone/>
            </a:pPr>
            <a:r>
              <a:rPr lang="en-US" sz="3100" dirty="0" err="1" smtClean="0"/>
              <a:t>Pristane</a:t>
            </a:r>
            <a:r>
              <a:rPr lang="en-US" sz="3100" dirty="0" smtClean="0"/>
              <a:t> is branched chain alkane which are known to induce myeloma when injected IP.</a:t>
            </a:r>
          </a:p>
          <a:p>
            <a:pPr marL="0" indent="0">
              <a:buNone/>
            </a:pPr>
            <a:r>
              <a:rPr lang="en-US" sz="3100" dirty="0" err="1" smtClean="0"/>
              <a:t>Pristane</a:t>
            </a:r>
            <a:r>
              <a:rPr lang="en-US" sz="3100" dirty="0" smtClean="0"/>
              <a:t> acts by severely depressing the normal immunological function of the animal.</a:t>
            </a:r>
          </a:p>
          <a:p>
            <a:pPr marL="0" indent="0">
              <a:buNone/>
            </a:pPr>
            <a:endParaRPr lang="en-US" sz="3100" dirty="0" smtClean="0"/>
          </a:p>
          <a:p>
            <a:pPr marL="0" indent="0">
              <a:buNone/>
            </a:pPr>
            <a:r>
              <a:rPr lang="en-US" dirty="0" smtClean="0"/>
              <a:t>	</a:t>
            </a:r>
            <a:endParaRPr lang="en-US" dirty="0"/>
          </a:p>
        </p:txBody>
      </p:sp>
      <p:pic>
        <p:nvPicPr>
          <p:cNvPr id="4"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624497" end="269765.4172"/>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9522360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Within </a:t>
            </a:r>
            <a:r>
              <a:rPr lang="en-US" dirty="0"/>
              <a:t>2 weeks of cell injection, </a:t>
            </a:r>
            <a:r>
              <a:rPr lang="en-US" dirty="0" err="1"/>
              <a:t>ascitic</a:t>
            </a:r>
            <a:r>
              <a:rPr lang="en-US" dirty="0"/>
              <a:t> fluid 2-5 ml containing 5-15 mg/ml of Mab accumulate in the peritoneum that can be withdrawn  with syringe. </a:t>
            </a:r>
          </a:p>
          <a:p>
            <a:r>
              <a:rPr lang="en-US" dirty="0"/>
              <a:t>Occasionally, solid tumors will develop instead of ascites. This can be overcome by incubating tumor cells in vitro for a few days and then and reinjecting them into pristine-treated animals.</a:t>
            </a:r>
          </a:p>
          <a:p>
            <a:r>
              <a:rPr lang="en-US" dirty="0"/>
              <a:t>Injecting larger number of cells will cause earlier induction of ascites but it will be more difficult to monitor progress. Sudden unexpected death may occur before </a:t>
            </a:r>
            <a:r>
              <a:rPr lang="en-US" dirty="0" err="1"/>
              <a:t>ascitic</a:t>
            </a:r>
            <a:r>
              <a:rPr lang="en-US" dirty="0"/>
              <a:t> fluid can be harvested .</a:t>
            </a:r>
          </a:p>
          <a:p>
            <a:endParaRPr lang="en-US" dirty="0"/>
          </a:p>
        </p:txBody>
      </p:sp>
    </p:spTree>
    <p:extLst>
      <p:ext uri="{BB962C8B-B14F-4D97-AF65-F5344CB8AC3E}">
        <p14:creationId xmlns:p14="http://schemas.microsoft.com/office/powerpoint/2010/main" val="200806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descr="Origin&#10;Second generation&#10; DNA technology or genetic engineering used&#10;to construct hybrids composed of human Abs&#10;regions w..."/>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7520" y="447040"/>
            <a:ext cx="8168640" cy="6217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5653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40728"/>
          </a:xfrm>
        </p:spPr>
        <p:txBody>
          <a:bodyPr>
            <a:normAutofit fontScale="90000"/>
          </a:bodyPr>
          <a:lstStyle/>
          <a:p>
            <a:r>
              <a:rPr lang="en-US" b="1" dirty="0" smtClean="0">
                <a:solidFill>
                  <a:srgbClr val="FF0000"/>
                </a:solidFill>
              </a:rPr>
              <a:t>Propagation in vitro</a:t>
            </a:r>
            <a:endParaRPr lang="en-US" b="1" dirty="0">
              <a:solidFill>
                <a:srgbClr val="FF0000"/>
              </a:solidFill>
            </a:endParaRPr>
          </a:p>
        </p:txBody>
      </p:sp>
      <p:sp>
        <p:nvSpPr>
          <p:cNvPr id="3" name="Content Placeholder 2"/>
          <p:cNvSpPr>
            <a:spLocks noGrp="1"/>
          </p:cNvSpPr>
          <p:nvPr>
            <p:ph idx="1"/>
          </p:nvPr>
        </p:nvSpPr>
        <p:spPr>
          <a:xfrm>
            <a:off x="838200" y="930442"/>
            <a:ext cx="10515600" cy="5246521"/>
          </a:xfrm>
        </p:spPr>
        <p:txBody>
          <a:bodyPr>
            <a:normAutofit fontScale="85000" lnSpcReduction="10000"/>
          </a:bodyPr>
          <a:lstStyle/>
          <a:p>
            <a:r>
              <a:rPr lang="en-US" b="1" dirty="0" smtClean="0"/>
              <a:t>On the lab scale</a:t>
            </a:r>
            <a:r>
              <a:rPr lang="en-US" dirty="0" smtClean="0"/>
              <a:t>, cells can be grown in stationary culture to produce 5-50 </a:t>
            </a:r>
            <a:r>
              <a:rPr lang="en-US" dirty="0" err="1" smtClean="0"/>
              <a:t>ug</a:t>
            </a:r>
            <a:r>
              <a:rPr lang="en-US" dirty="0" smtClean="0"/>
              <a:t>/ml</a:t>
            </a:r>
          </a:p>
          <a:p>
            <a:pPr marL="0" indent="0">
              <a:buNone/>
            </a:pPr>
            <a:r>
              <a:rPr lang="en-US" b="1" dirty="0" smtClean="0"/>
              <a:t>Medium scale</a:t>
            </a:r>
            <a:r>
              <a:rPr lang="en-US" dirty="0" smtClean="0"/>
              <a:t>: </a:t>
            </a:r>
            <a:r>
              <a:rPr lang="en-US" dirty="0" err="1" smtClean="0"/>
              <a:t>Mabs</a:t>
            </a:r>
            <a:r>
              <a:rPr lang="en-US" dirty="0" smtClean="0"/>
              <a:t> conc. Of 30 mg/L /day have been achieved in spinner flasks </a:t>
            </a:r>
          </a:p>
          <a:p>
            <a:pPr marL="0" indent="0">
              <a:buNone/>
            </a:pPr>
            <a:endParaRPr lang="en-US" dirty="0"/>
          </a:p>
          <a:p>
            <a:r>
              <a:rPr lang="en-US" sz="3000" b="1" dirty="0" smtClean="0"/>
              <a:t>Industrial large scale production by Hollow fiber bioreactor</a:t>
            </a:r>
          </a:p>
          <a:p>
            <a:pPr marL="0" indent="0">
              <a:buNone/>
            </a:pPr>
            <a:r>
              <a:rPr lang="en-US" dirty="0" smtClean="0"/>
              <a:t>--Mammalian cells have more complex nutritional needs and tolerate much lower densities than microbial cultures. </a:t>
            </a:r>
          </a:p>
          <a:p>
            <a:pPr marL="0" indent="0">
              <a:buNone/>
            </a:pPr>
            <a:r>
              <a:rPr lang="en-US" dirty="0" smtClean="0"/>
              <a:t>-An increasing popular method of producing high yield of Mab in vitro is to grow </a:t>
            </a:r>
            <a:r>
              <a:rPr lang="en-US" dirty="0" err="1" smtClean="0"/>
              <a:t>hybridoma</a:t>
            </a:r>
            <a:r>
              <a:rPr lang="en-US" dirty="0" smtClean="0"/>
              <a:t> cells within a hollow fiber reactor.</a:t>
            </a:r>
          </a:p>
          <a:p>
            <a:pPr marL="0" indent="0">
              <a:buNone/>
            </a:pPr>
            <a:r>
              <a:rPr lang="en-US" dirty="0" smtClean="0"/>
              <a:t>--The basic principle is that of perfusion of culture medium with necessary CO2 and temp control, through a disposable hollow fiber cartridge   which the cells are growing. </a:t>
            </a:r>
          </a:p>
          <a:p>
            <a:pPr marL="0" indent="0">
              <a:buNone/>
            </a:pPr>
            <a:r>
              <a:rPr lang="en-US" dirty="0" smtClean="0"/>
              <a:t>-The cartridge is made up of hundreds of hollow fibers of sufficient pore size to allow medium and essential nutrients to pass through the fibers  to the </a:t>
            </a:r>
            <a:r>
              <a:rPr lang="en-US" dirty="0" err="1" smtClean="0"/>
              <a:t>extracapillary</a:t>
            </a:r>
            <a:r>
              <a:rPr lang="en-US" dirty="0" smtClean="0"/>
              <a:t> space containing the growing cells. </a:t>
            </a:r>
          </a:p>
          <a:p>
            <a:pPr marL="0" indent="0">
              <a:buNone/>
            </a:pPr>
            <a:endParaRPr lang="en-US" dirty="0" smtClean="0"/>
          </a:p>
          <a:p>
            <a:endParaRPr lang="en-US" dirty="0"/>
          </a:p>
        </p:txBody>
      </p:sp>
      <p:pic>
        <p:nvPicPr>
          <p:cNvPr id="4"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812611" end="156006.4172"/>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42766984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Integra Biosciences™ Spinner Flasks Capacity: 250mL Cell Culture Flasks |  Fisher Scientific"/>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11680" y="1001363"/>
            <a:ext cx="7203440" cy="433263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225040" y="5334000"/>
            <a:ext cx="7528560" cy="523220"/>
          </a:xfrm>
          <a:prstGeom prst="rect">
            <a:avLst/>
          </a:prstGeom>
          <a:noFill/>
        </p:spPr>
        <p:txBody>
          <a:bodyPr wrap="square" rtlCol="0">
            <a:spAutoFit/>
          </a:bodyPr>
          <a:lstStyle/>
          <a:p>
            <a:r>
              <a:rPr lang="en-US" sz="2800" dirty="0" smtClean="0"/>
              <a:t>Spinner flasks need semi continuous feeding</a:t>
            </a:r>
            <a:endParaRPr lang="en-US" sz="2800" dirty="0"/>
          </a:p>
        </p:txBody>
      </p:sp>
    </p:spTree>
    <p:extLst>
      <p:ext uri="{BB962C8B-B14F-4D97-AF65-F5344CB8AC3E}">
        <p14:creationId xmlns:p14="http://schemas.microsoft.com/office/powerpoint/2010/main" val="1926084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023" y="154004"/>
            <a:ext cx="10362398" cy="1642745"/>
          </a:xfrm>
        </p:spPr>
        <p:txBody>
          <a:bodyPr/>
          <a:lstStyle/>
          <a:p>
            <a:endParaRPr lang="en-US" dirty="0"/>
          </a:p>
        </p:txBody>
      </p:sp>
      <p:sp>
        <p:nvSpPr>
          <p:cNvPr id="3" name="Content Placeholder 2"/>
          <p:cNvSpPr>
            <a:spLocks noGrp="1"/>
          </p:cNvSpPr>
          <p:nvPr>
            <p:ph idx="1"/>
          </p:nvPr>
        </p:nvSpPr>
        <p:spPr>
          <a:xfrm>
            <a:off x="934452" y="758952"/>
            <a:ext cx="10515600" cy="5389135"/>
          </a:xfrm>
        </p:spPr>
        <p:txBody>
          <a:bodyPr>
            <a:normAutofit/>
          </a:bodyPr>
          <a:lstStyle/>
          <a:p>
            <a:r>
              <a:rPr lang="en-US" dirty="0"/>
              <a:t>Secreted </a:t>
            </a:r>
            <a:r>
              <a:rPr lang="en-US" dirty="0" err="1"/>
              <a:t>Mabs</a:t>
            </a:r>
            <a:r>
              <a:rPr lang="en-US" dirty="0"/>
              <a:t> , which cannot pass through the fiber, are harvested periodically from the extra capillary compartment over the period of months. </a:t>
            </a:r>
          </a:p>
          <a:p>
            <a:r>
              <a:rPr lang="en-US" dirty="0" smtClean="0"/>
              <a:t>It </a:t>
            </a:r>
            <a:r>
              <a:rPr lang="en-US" dirty="0"/>
              <a:t>is essential that all cell propagation procedures that the fidelity of the specific Mab productions be monitored regularly. Due to the risk that non-producing revert cells may outgrow the specific </a:t>
            </a:r>
            <a:r>
              <a:rPr lang="en-US" dirty="0" smtClean="0"/>
              <a:t>Mab-producing </a:t>
            </a:r>
            <a:r>
              <a:rPr lang="en-US" dirty="0"/>
              <a:t>cells. This instability varies from cell clone to another. Such instability is not  too serious if fresh samples of the clones are available from storage and can be substituted. </a:t>
            </a:r>
          </a:p>
          <a:p>
            <a:pPr marL="0" indent="0">
              <a:buNone/>
            </a:pPr>
            <a:endParaRPr lang="en-US" dirty="0"/>
          </a:p>
          <a:p>
            <a:endParaRPr lang="en-US" dirty="0"/>
          </a:p>
        </p:txBody>
      </p:sp>
      <p:pic>
        <p:nvPicPr>
          <p:cNvPr id="4"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926370" end="82854.4172"/>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2247644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8" cstate="print">
            <a:extLst>
              <a:ext uri="{28A0092B-C50C-407E-A947-70E740481C1C}">
                <a14:useLocalDpi xmlns:a14="http://schemas.microsoft.com/office/drawing/2010/main" val="0"/>
              </a:ext>
            </a:extLst>
          </a:blip>
          <a:srcRect l="9617" t="30734" r="54197" b="8019"/>
          <a:stretch/>
        </p:blipFill>
        <p:spPr>
          <a:xfrm rot="5400000">
            <a:off x="2369502" y="-2364423"/>
            <a:ext cx="6614795" cy="11353802"/>
          </a:xfrm>
        </p:spPr>
      </p:pic>
      <p:pic>
        <p:nvPicPr>
          <p:cNvPr id="3"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999522" end="45530.4172"/>
                </p14:media>
              </p:ext>
            </p:extLst>
          </p:nvPr>
        </p:nvPicPr>
        <p:blipFill>
          <a:blip r:embed="rId9"/>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20477755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8"/>
          <a:stretch>
            <a:fillRect/>
          </a:stretch>
        </p:blipFill>
        <p:spPr>
          <a:xfrm>
            <a:off x="-250257" y="335911"/>
            <a:ext cx="11069052" cy="6362299"/>
          </a:xfrm>
          <a:prstGeom prst="rect">
            <a:avLst/>
          </a:prstGeom>
        </p:spPr>
      </p:pic>
      <p:sp>
        <p:nvSpPr>
          <p:cNvPr id="5" name="TextBox 4"/>
          <p:cNvSpPr txBox="1"/>
          <p:nvPr/>
        </p:nvSpPr>
        <p:spPr>
          <a:xfrm flipH="1">
            <a:off x="3368842" y="295438"/>
            <a:ext cx="4876400" cy="523220"/>
          </a:xfrm>
          <a:prstGeom prst="rect">
            <a:avLst/>
          </a:prstGeom>
          <a:noFill/>
        </p:spPr>
        <p:txBody>
          <a:bodyPr wrap="square" rtlCol="0">
            <a:spAutoFit/>
          </a:bodyPr>
          <a:lstStyle/>
          <a:p>
            <a:r>
              <a:rPr lang="en-US" sz="2800" b="1" dirty="0" smtClean="0">
                <a:solidFill>
                  <a:srgbClr val="FF0000"/>
                </a:solidFill>
              </a:rPr>
              <a:t>Hollow fiber bioreactor</a:t>
            </a:r>
            <a:endParaRPr lang="en-US" sz="2800" b="1" dirty="0">
              <a:solidFill>
                <a:srgbClr val="FF0000"/>
              </a:solidFill>
            </a:endParaRPr>
          </a:p>
        </p:txBody>
      </p:sp>
      <p:cxnSp>
        <p:nvCxnSpPr>
          <p:cNvPr id="7" name="Straight Arrow Connector 6"/>
          <p:cNvCxnSpPr/>
          <p:nvPr/>
        </p:nvCxnSpPr>
        <p:spPr>
          <a:xfrm>
            <a:off x="9066998" y="5005137"/>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6574055" y="5515276"/>
            <a:ext cx="1453414" cy="423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9307629" y="3782728"/>
            <a:ext cx="779647" cy="1819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081111" y="5553778"/>
            <a:ext cx="2406316" cy="646331"/>
          </a:xfrm>
          <a:prstGeom prst="rect">
            <a:avLst/>
          </a:prstGeom>
          <a:noFill/>
        </p:spPr>
        <p:txBody>
          <a:bodyPr wrap="square" rtlCol="0">
            <a:spAutoFit/>
          </a:bodyPr>
          <a:lstStyle/>
          <a:p>
            <a:r>
              <a:rPr lang="en-US" dirty="0" smtClean="0"/>
              <a:t>Cells in </a:t>
            </a:r>
            <a:r>
              <a:rPr lang="en-US" dirty="0" err="1" smtClean="0"/>
              <a:t>Extracapilliary</a:t>
            </a:r>
            <a:r>
              <a:rPr lang="en-US" dirty="0" smtClean="0"/>
              <a:t> space secreting Mab</a:t>
            </a:r>
            <a:endParaRPr lang="en-US" dirty="0"/>
          </a:p>
        </p:txBody>
      </p:sp>
      <p:sp>
        <p:nvSpPr>
          <p:cNvPr id="16" name="TextBox 15"/>
          <p:cNvSpPr txBox="1"/>
          <p:nvPr/>
        </p:nvSpPr>
        <p:spPr>
          <a:xfrm>
            <a:off x="9413506" y="3407343"/>
            <a:ext cx="1867301" cy="369332"/>
          </a:xfrm>
          <a:prstGeom prst="rect">
            <a:avLst/>
          </a:prstGeom>
          <a:noFill/>
        </p:spPr>
        <p:txBody>
          <a:bodyPr wrap="square" rtlCol="0">
            <a:spAutoFit/>
          </a:bodyPr>
          <a:lstStyle/>
          <a:p>
            <a:r>
              <a:rPr lang="en-US" dirty="0" smtClean="0"/>
              <a:t>Medium flow</a:t>
            </a:r>
            <a:endParaRPr lang="en-US" dirty="0"/>
          </a:p>
        </p:txBody>
      </p:sp>
      <p:sp>
        <p:nvSpPr>
          <p:cNvPr id="3" name="TextBox 2"/>
          <p:cNvSpPr txBox="1"/>
          <p:nvPr/>
        </p:nvSpPr>
        <p:spPr>
          <a:xfrm>
            <a:off x="2040556" y="1424539"/>
            <a:ext cx="1453414" cy="369332"/>
          </a:xfrm>
          <a:prstGeom prst="rect">
            <a:avLst/>
          </a:prstGeom>
          <a:noFill/>
        </p:spPr>
        <p:txBody>
          <a:bodyPr wrap="square" rtlCol="0">
            <a:spAutoFit/>
          </a:bodyPr>
          <a:lstStyle/>
          <a:p>
            <a:r>
              <a:rPr lang="en-US" dirty="0" smtClean="0"/>
              <a:t>Cell growth</a:t>
            </a:r>
            <a:endParaRPr lang="en-US" dirty="0"/>
          </a:p>
        </p:txBody>
      </p:sp>
      <p:sp>
        <p:nvSpPr>
          <p:cNvPr id="6" name="TextBox 5"/>
          <p:cNvSpPr txBox="1"/>
          <p:nvPr/>
        </p:nvSpPr>
        <p:spPr>
          <a:xfrm>
            <a:off x="7449954" y="519013"/>
            <a:ext cx="1963552" cy="369332"/>
          </a:xfrm>
          <a:prstGeom prst="rect">
            <a:avLst/>
          </a:prstGeom>
          <a:noFill/>
        </p:spPr>
        <p:txBody>
          <a:bodyPr wrap="square" rtlCol="0">
            <a:spAutoFit/>
          </a:bodyPr>
          <a:lstStyle/>
          <a:p>
            <a:r>
              <a:rPr lang="en-US" dirty="0" smtClean="0"/>
              <a:t>Harvested Mab</a:t>
            </a:r>
            <a:endParaRPr lang="en-US" dirty="0"/>
          </a:p>
        </p:txBody>
      </p:sp>
      <p:sp>
        <p:nvSpPr>
          <p:cNvPr id="8" name="TextBox 7"/>
          <p:cNvSpPr txBox="1"/>
          <p:nvPr/>
        </p:nvSpPr>
        <p:spPr>
          <a:xfrm>
            <a:off x="-163629" y="5688531"/>
            <a:ext cx="3003082" cy="646331"/>
          </a:xfrm>
          <a:prstGeom prst="rect">
            <a:avLst/>
          </a:prstGeom>
          <a:noFill/>
        </p:spPr>
        <p:txBody>
          <a:bodyPr wrap="square" rtlCol="0">
            <a:spAutoFit/>
          </a:bodyPr>
          <a:lstStyle/>
          <a:p>
            <a:r>
              <a:rPr lang="en-US" dirty="0" smtClean="0"/>
              <a:t>Recycled gassed warm media pumped continuously </a:t>
            </a:r>
            <a:endParaRPr lang="en-US" dirty="0"/>
          </a:p>
        </p:txBody>
      </p:sp>
      <p:cxnSp>
        <p:nvCxnSpPr>
          <p:cNvPr id="19" name="Straight Arrow Connector 18"/>
          <p:cNvCxnSpPr/>
          <p:nvPr/>
        </p:nvCxnSpPr>
        <p:spPr>
          <a:xfrm flipH="1" flipV="1">
            <a:off x="1145406" y="4860758"/>
            <a:ext cx="115503" cy="74114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004109" y="1578543"/>
            <a:ext cx="2829828" cy="646331"/>
          </a:xfrm>
          <a:prstGeom prst="rect">
            <a:avLst/>
          </a:prstGeom>
          <a:noFill/>
        </p:spPr>
        <p:txBody>
          <a:bodyPr wrap="square" rtlCol="0">
            <a:spAutoFit/>
          </a:bodyPr>
          <a:lstStyle/>
          <a:p>
            <a:r>
              <a:rPr lang="en-US" dirty="0" smtClean="0"/>
              <a:t>Fine  hollow fibers contained in cylinder </a:t>
            </a:r>
            <a:endParaRPr lang="en-US" dirty="0"/>
          </a:p>
        </p:txBody>
      </p:sp>
      <p:cxnSp>
        <p:nvCxnSpPr>
          <p:cNvPr id="22" name="Straight Arrow Connector 21"/>
          <p:cNvCxnSpPr/>
          <p:nvPr/>
        </p:nvCxnSpPr>
        <p:spPr>
          <a:xfrm>
            <a:off x="5592278" y="2224874"/>
            <a:ext cx="981777" cy="239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4004109" y="2221500"/>
            <a:ext cx="404262" cy="934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1036846" end="19184.4172"/>
                </p14:media>
              </p:ext>
            </p:extLst>
          </p:nvPr>
        </p:nvPicPr>
        <p:blipFill>
          <a:blip r:embed="rId9"/>
          <a:stretch>
            <a:fillRect/>
          </a:stretch>
        </p:blipFill>
        <p:spPr>
          <a:xfrm>
            <a:off x="11861800" y="101600"/>
            <a:ext cx="228600" cy="228600"/>
          </a:xfrm>
          <a:prstGeom prst="rect">
            <a:avLst/>
          </a:prstGeom>
        </p:spPr>
      </p:pic>
      <p:cxnSp>
        <p:nvCxnSpPr>
          <p:cNvPr id="12" name="Straight Arrow Connector 11"/>
          <p:cNvCxnSpPr/>
          <p:nvPr/>
        </p:nvCxnSpPr>
        <p:spPr>
          <a:xfrm flipV="1">
            <a:off x="8625840" y="818658"/>
            <a:ext cx="71120" cy="461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346960" y="1793871"/>
            <a:ext cx="40640" cy="6701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ustDataLst>
      <p:custData r:id="rId1"/>
      <p:tags r:id="rId2"/>
    </p:custDataLst>
    <p:extLst>
      <p:ext uri="{BB962C8B-B14F-4D97-AF65-F5344CB8AC3E}">
        <p14:creationId xmlns:p14="http://schemas.microsoft.com/office/powerpoint/2010/main" val="394117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9"/>
                                        </p:tgtEl>
                                      </p:cBhvr>
                                    </p:cmd>
                                  </p:childTnLst>
                                </p:cTn>
                              </p:par>
                            </p:childTnLst>
                          </p:cTn>
                        </p:par>
                      </p:childTnLst>
                    </p:cTn>
                  </p:par>
                </p:childTnLst>
              </p:cTn>
              <p:nextCondLst>
                <p:cond evt="onClick" delay="0">
                  <p:tgtEl>
                    <p:spTgt spid="9"/>
                  </p:tgtEl>
                </p:cond>
              </p:nextCondLst>
            </p:seq>
            <p:video>
              <p:cMediaNode vol="80000">
                <p:cTn id="7" fill="hold" display="0">
                  <p:stCondLst>
                    <p:cond delay="indefinite"/>
                  </p:stCondLst>
                </p:cTn>
                <p:tgtEl>
                  <p:spTgt spid="9"/>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id-AF5718B8-DA4B-46C8-8A56-6E37C0D5F547" descr="Image.jpeg"/>
          <p:cNvPicPr>
            <a:picLocks noGrp="1"/>
          </p:cNvPicPr>
          <p:nvPr>
            <p:ph idx="1"/>
          </p:nvPr>
        </p:nvPicPr>
        <p:blipFill rotWithShape="1">
          <a:blip r:embed="rId2" r:link="rId3" cstate="print">
            <a:extLst>
              <a:ext uri="{28A0092B-C50C-407E-A947-70E740481C1C}">
                <a14:useLocalDpi xmlns:a14="http://schemas.microsoft.com/office/drawing/2010/main" val="0"/>
              </a:ext>
            </a:extLst>
          </a:blip>
          <a:srcRect l="-560" t="17811" b="34222"/>
          <a:stretch/>
        </p:blipFill>
        <p:spPr bwMode="auto">
          <a:xfrm>
            <a:off x="-132080" y="0"/>
            <a:ext cx="11968480" cy="6604000"/>
          </a:xfrm>
          <a:prstGeom prst="rect">
            <a:avLst/>
          </a:prstGeom>
          <a:noFill/>
          <a:ln>
            <a:noFill/>
          </a:ln>
        </p:spPr>
      </p:pic>
    </p:spTree>
    <p:extLst>
      <p:ext uri="{BB962C8B-B14F-4D97-AF65-F5344CB8AC3E}">
        <p14:creationId xmlns:p14="http://schemas.microsoft.com/office/powerpoint/2010/main" val="24504291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9"/>
          <a:stretch>
            <a:fillRect/>
          </a:stretch>
        </p:blipFill>
        <p:spPr>
          <a:xfrm>
            <a:off x="838200" y="365126"/>
            <a:ext cx="10644739" cy="6247430"/>
          </a:xfrm>
          <a:prstGeom prst="rect">
            <a:avLst/>
          </a:prstGeom>
        </p:spPr>
      </p:pic>
      <p:sp>
        <p:nvSpPr>
          <p:cNvPr id="3" name="Right Arrow 2"/>
          <p:cNvSpPr/>
          <p:nvPr/>
        </p:nvSpPr>
        <p:spPr>
          <a:xfrm>
            <a:off x="3927107" y="5390147"/>
            <a:ext cx="471638" cy="2791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own Arrow 3"/>
          <p:cNvSpPr/>
          <p:nvPr/>
        </p:nvSpPr>
        <p:spPr>
          <a:xfrm>
            <a:off x="5226518" y="4649002"/>
            <a:ext cx="433137" cy="3561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tmpD454">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1063192" end="16.4172"/>
                </p14:media>
              </p:ext>
            </p:extLst>
          </p:nvPr>
        </p:nvPicPr>
        <p:blipFill>
          <a:blip r:embed="rId10"/>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19096779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0555"/>
          </a:xfrm>
        </p:spPr>
        <p:txBody>
          <a:bodyPr>
            <a:normAutofit/>
          </a:bodyPr>
          <a:lstStyle/>
          <a:p>
            <a:r>
              <a:rPr lang="en-US" sz="3200" b="1" dirty="0" smtClean="0">
                <a:solidFill>
                  <a:srgbClr val="FF0000"/>
                </a:solidFill>
              </a:rPr>
              <a:t>Criteria of Hollow fiber Bioreactor</a:t>
            </a:r>
            <a:endParaRPr lang="en-US" sz="3200" b="1" dirty="0">
              <a:solidFill>
                <a:srgbClr val="FF0000"/>
              </a:solidFill>
            </a:endParaRPr>
          </a:p>
        </p:txBody>
      </p:sp>
      <p:sp>
        <p:nvSpPr>
          <p:cNvPr id="3" name="Content Placeholder 2"/>
          <p:cNvSpPr>
            <a:spLocks noGrp="1"/>
          </p:cNvSpPr>
          <p:nvPr>
            <p:ph idx="1"/>
          </p:nvPr>
        </p:nvSpPr>
        <p:spPr>
          <a:xfrm>
            <a:off x="838200" y="1076960"/>
            <a:ext cx="10515600" cy="5100003"/>
          </a:xfrm>
        </p:spPr>
        <p:txBody>
          <a:bodyPr>
            <a:normAutofit fontScale="70000" lnSpcReduction="20000"/>
          </a:bodyPr>
          <a:lstStyle/>
          <a:p>
            <a:pPr marL="0" indent="0">
              <a:buNone/>
            </a:pPr>
            <a:endParaRPr lang="en-US" b="1" dirty="0" smtClean="0"/>
          </a:p>
          <a:p>
            <a:pPr marL="0" indent="0">
              <a:buNone/>
            </a:pPr>
            <a:r>
              <a:rPr lang="en-US" b="1" dirty="0" smtClean="0">
                <a:solidFill>
                  <a:srgbClr val="00B050"/>
                </a:solidFill>
              </a:rPr>
              <a:t>1. Monoclonal </a:t>
            </a:r>
            <a:r>
              <a:rPr lang="en-US" b="1" dirty="0">
                <a:solidFill>
                  <a:srgbClr val="00B050"/>
                </a:solidFill>
              </a:rPr>
              <a:t>antibody production in the range 50 mg up to Grams</a:t>
            </a:r>
          </a:p>
          <a:p>
            <a:pPr marL="0" indent="0">
              <a:buNone/>
            </a:pPr>
            <a:r>
              <a:rPr lang="en-US" dirty="0"/>
              <a:t>A hollow </a:t>
            </a:r>
            <a:r>
              <a:rPr lang="en-US" dirty="0" smtClean="0"/>
              <a:t>fiber </a:t>
            </a:r>
            <a:r>
              <a:rPr lang="en-US" dirty="0"/>
              <a:t>bioreactor enables large amounts of </a:t>
            </a:r>
            <a:r>
              <a:rPr lang="en-US" dirty="0" err="1" smtClean="0"/>
              <a:t>Mabs</a:t>
            </a:r>
            <a:r>
              <a:rPr lang="en-US" dirty="0" smtClean="0"/>
              <a:t> </a:t>
            </a:r>
            <a:r>
              <a:rPr lang="en-US" dirty="0"/>
              <a:t>to be harvested periodically at high concentrations from cells maintained in continuous high-density culture. The FiberCell System, comprising </a:t>
            </a:r>
            <a:r>
              <a:rPr lang="en-US" dirty="0" smtClean="0"/>
              <a:t>a pump </a:t>
            </a:r>
            <a:r>
              <a:rPr lang="en-US" dirty="0"/>
              <a:t>and cartridges, fits on the shelf of a standard CO2 incubator and within only a few weeks can generate from 50 mg to grams of monoclonal antibody, the amount depending on the time period, clone and cartridge type used. </a:t>
            </a:r>
            <a:endParaRPr lang="en-US" dirty="0" smtClean="0"/>
          </a:p>
          <a:p>
            <a:pPr marL="0" indent="0">
              <a:buNone/>
            </a:pPr>
            <a:r>
              <a:rPr lang="en-US" b="1" dirty="0" smtClean="0">
                <a:solidFill>
                  <a:srgbClr val="00B050"/>
                </a:solidFill>
              </a:rPr>
              <a:t>2. Practical </a:t>
            </a:r>
            <a:r>
              <a:rPr lang="en-US" b="1" dirty="0">
                <a:solidFill>
                  <a:srgbClr val="00B050"/>
                </a:solidFill>
              </a:rPr>
              <a:t>method avoids passaging cells</a:t>
            </a:r>
          </a:p>
          <a:p>
            <a:pPr marL="0" indent="0">
              <a:buNone/>
            </a:pPr>
            <a:r>
              <a:rPr lang="en-US" dirty="0"/>
              <a:t>A standard 20 ml </a:t>
            </a:r>
            <a:r>
              <a:rPr lang="en-US" dirty="0" smtClean="0"/>
              <a:t> Fiber Cell </a:t>
            </a:r>
            <a:r>
              <a:rPr lang="en-US" dirty="0"/>
              <a:t>bioreactor can continuously maintain &gt;= </a:t>
            </a:r>
            <a:r>
              <a:rPr lang="en-US" b="1" dirty="0" smtClean="0"/>
              <a:t>10</a:t>
            </a:r>
            <a:r>
              <a:rPr lang="en-US" sz="3400" b="1" baseline="30000" dirty="0" smtClean="0"/>
              <a:t>9</a:t>
            </a:r>
            <a:r>
              <a:rPr lang="en-US" b="1" dirty="0"/>
              <a:t> cells</a:t>
            </a:r>
            <a:r>
              <a:rPr lang="en-US" dirty="0"/>
              <a:t> at high density over long periods in a standard incubator. The media bottle and cartridge module are in a closed loop that can be readily unclipped from the pump for maintenance in the laminar flow cabinet. Cell mass is controlled during harvesting which means that passaging cells is not required</a:t>
            </a:r>
            <a:r>
              <a:rPr lang="en-US" dirty="0" smtClean="0"/>
              <a:t>.</a:t>
            </a:r>
          </a:p>
          <a:p>
            <a:pPr marL="0" indent="0">
              <a:buNone/>
            </a:pPr>
            <a:endParaRPr lang="en-US" dirty="0"/>
          </a:p>
          <a:p>
            <a:pPr marL="0" indent="0">
              <a:buNone/>
            </a:pPr>
            <a:r>
              <a:rPr lang="en-US" b="1" dirty="0">
                <a:solidFill>
                  <a:srgbClr val="00B050"/>
                </a:solidFill>
              </a:rPr>
              <a:t>3. High titer</a:t>
            </a:r>
          </a:p>
          <a:p>
            <a:pPr marL="0" indent="0">
              <a:buNone/>
            </a:pPr>
            <a:r>
              <a:rPr lang="en-US" dirty="0"/>
              <a:t>High-titer antibodies can be harvested periodically from a FiberCell system using syringes. The FiberCell offers greater oxygenation capacity  for even higher levels of production; up to 300mg per week has been reported</a:t>
            </a:r>
            <a:br>
              <a:rPr lang="en-US" dirty="0"/>
            </a:br>
            <a:endParaRPr lang="en-US" dirty="0"/>
          </a:p>
        </p:txBody>
      </p:sp>
    </p:spTree>
    <p:extLst>
      <p:ext uri="{BB962C8B-B14F-4D97-AF65-F5344CB8AC3E}">
        <p14:creationId xmlns:p14="http://schemas.microsoft.com/office/powerpoint/2010/main" val="3532409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568960"/>
            <a:ext cx="10515600" cy="5608003"/>
          </a:xfrm>
        </p:spPr>
        <p:txBody>
          <a:bodyPr>
            <a:normAutofit fontScale="92500" lnSpcReduction="10000"/>
          </a:bodyPr>
          <a:lstStyle/>
          <a:p>
            <a:pPr marL="0" indent="0">
              <a:buNone/>
            </a:pPr>
            <a:r>
              <a:rPr lang="en-US" b="1" dirty="0" smtClean="0"/>
              <a:t>4</a:t>
            </a:r>
            <a:r>
              <a:rPr lang="en-US" b="1" dirty="0" smtClean="0">
                <a:solidFill>
                  <a:srgbClr val="00B050"/>
                </a:solidFill>
              </a:rPr>
              <a:t>. Elimination </a:t>
            </a:r>
            <a:r>
              <a:rPr lang="en-US" b="1" dirty="0">
                <a:solidFill>
                  <a:srgbClr val="00B050"/>
                </a:solidFill>
              </a:rPr>
              <a:t>of inhibitory TGF-beta from </a:t>
            </a:r>
            <a:r>
              <a:rPr lang="en-US" b="1" dirty="0" err="1">
                <a:solidFill>
                  <a:srgbClr val="00B050"/>
                </a:solidFill>
              </a:rPr>
              <a:t>hybridomas</a:t>
            </a:r>
            <a:endParaRPr lang="en-US" b="1" dirty="0">
              <a:solidFill>
                <a:srgbClr val="00B050"/>
              </a:solidFill>
            </a:endParaRPr>
          </a:p>
          <a:p>
            <a:pPr marL="0" indent="0">
              <a:buNone/>
            </a:pPr>
            <a:r>
              <a:rPr lang="en-US" b="1" dirty="0">
                <a:solidFill>
                  <a:srgbClr val="00B050"/>
                </a:solidFill>
              </a:rPr>
              <a:t>Preventing </a:t>
            </a:r>
            <a:r>
              <a:rPr lang="en-US" b="1" dirty="0" err="1">
                <a:solidFill>
                  <a:srgbClr val="00B050"/>
                </a:solidFill>
              </a:rPr>
              <a:t>hybridomas</a:t>
            </a:r>
            <a:r>
              <a:rPr lang="en-US" b="1" dirty="0">
                <a:solidFill>
                  <a:srgbClr val="00B050"/>
                </a:solidFill>
              </a:rPr>
              <a:t> from inhibiting their own productivity</a:t>
            </a:r>
          </a:p>
          <a:p>
            <a:pPr marL="0" indent="0">
              <a:buNone/>
            </a:pPr>
            <a:r>
              <a:rPr lang="en-US" dirty="0"/>
              <a:t>It is often overlooked that </a:t>
            </a:r>
            <a:r>
              <a:rPr lang="en-US" dirty="0" err="1"/>
              <a:t>hybridomas</a:t>
            </a:r>
            <a:r>
              <a:rPr lang="en-US" dirty="0"/>
              <a:t> inhibit their own growth due to the secretion of TGF-Beta which </a:t>
            </a:r>
            <a:r>
              <a:rPr lang="en-US" dirty="0" smtClean="0"/>
              <a:t>originates </a:t>
            </a:r>
            <a:r>
              <a:rPr lang="en-US" dirty="0"/>
              <a:t>from the myeloma cell component. TGF-Beta has a molecular weight of 27 </a:t>
            </a:r>
            <a:r>
              <a:rPr lang="en-US" dirty="0" err="1"/>
              <a:t>kd</a:t>
            </a:r>
            <a:r>
              <a:rPr lang="en-US" dirty="0"/>
              <a:t> and therefore is small enough to diffuse across the </a:t>
            </a:r>
            <a:r>
              <a:rPr lang="en-US" dirty="0" err="1"/>
              <a:t>fibres</a:t>
            </a:r>
            <a:r>
              <a:rPr lang="en-US" dirty="0"/>
              <a:t> of a hollow </a:t>
            </a:r>
            <a:r>
              <a:rPr lang="en-US" dirty="0" err="1"/>
              <a:t>fibre</a:t>
            </a:r>
            <a:r>
              <a:rPr lang="en-US" dirty="0"/>
              <a:t> bioreactor, away from the cells to be diluted in the recirculating media which is </a:t>
            </a:r>
            <a:r>
              <a:rPr lang="en-US" dirty="0" smtClean="0"/>
              <a:t>periodically </a:t>
            </a:r>
            <a:r>
              <a:rPr lang="en-US" dirty="0"/>
              <a:t>replaced with fresh media. </a:t>
            </a:r>
            <a:endParaRPr lang="en-US" dirty="0" smtClean="0"/>
          </a:p>
          <a:p>
            <a:pPr marL="0" indent="0">
              <a:buNone/>
            </a:pPr>
            <a:r>
              <a:rPr lang="en-US" b="1" dirty="0" smtClean="0">
                <a:solidFill>
                  <a:srgbClr val="00B050"/>
                </a:solidFill>
              </a:rPr>
              <a:t>5. Antibody </a:t>
            </a:r>
            <a:r>
              <a:rPr lang="en-US" b="1" dirty="0">
                <a:solidFill>
                  <a:srgbClr val="00B050"/>
                </a:solidFill>
              </a:rPr>
              <a:t>avidity</a:t>
            </a:r>
          </a:p>
          <a:p>
            <a:pPr marL="0" indent="0">
              <a:buNone/>
            </a:pPr>
            <a:r>
              <a:rPr lang="en-US" dirty="0"/>
              <a:t>A hollow </a:t>
            </a:r>
            <a:r>
              <a:rPr lang="en-US" dirty="0" err="1"/>
              <a:t>fibre</a:t>
            </a:r>
            <a:r>
              <a:rPr lang="en-US" dirty="0"/>
              <a:t> bioreactor offers a way to grow cells continuously at densities approaching in-vivo density with very constant pH and continuous elimination of waste metabolites. It’s a reasonable assumption that this mode of culture </a:t>
            </a:r>
            <a:r>
              <a:rPr lang="en-US" dirty="0" err="1"/>
              <a:t>favours</a:t>
            </a:r>
            <a:r>
              <a:rPr lang="en-US" dirty="0"/>
              <a:t> natural enzymatic processing steps leading to native-like post-translational modifications such as glycosylation that can be critical for high antibody avidity.</a:t>
            </a:r>
          </a:p>
          <a:p>
            <a:endParaRPr lang="en-US" dirty="0"/>
          </a:p>
        </p:txBody>
      </p:sp>
    </p:spTree>
    <p:extLst>
      <p:ext uri="{BB962C8B-B14F-4D97-AF65-F5344CB8AC3E}">
        <p14:creationId xmlns:p14="http://schemas.microsoft.com/office/powerpoint/2010/main" val="9870414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endParaRPr lang="en-US"/>
          </a:p>
        </p:txBody>
      </p:sp>
      <p:sp>
        <p:nvSpPr>
          <p:cNvPr id="5" name="Subtitle 4"/>
          <p:cNvSpPr>
            <a:spLocks noGrp="1"/>
          </p:cNvSpPr>
          <p:nvPr>
            <p:ph type="subTitle" idx="1"/>
          </p:nvPr>
        </p:nvSpPr>
        <p:spPr/>
        <p:txBody>
          <a:bodyPr/>
          <a:lstStyle/>
          <a:p>
            <a:endParaRPr lang="en-US"/>
          </a:p>
        </p:txBody>
      </p:sp>
      <p:pic>
        <p:nvPicPr>
          <p:cNvPr id="2050" name="Picture 2" descr="https://www.kdbio.com/wp-content/uploads/2016/08/teh-poza-9.png"/>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1635760" y="1988296"/>
            <a:ext cx="6715125" cy="390366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38200" y="692199"/>
            <a:ext cx="10347960" cy="1138773"/>
          </a:xfrm>
          <a:prstGeom prst="rect">
            <a:avLst/>
          </a:prstGeom>
        </p:spPr>
        <p:txBody>
          <a:bodyPr wrap="square">
            <a:spAutoFit/>
          </a:bodyPr>
          <a:lstStyle/>
          <a:p>
            <a:r>
              <a:rPr lang="en-US" sz="2800" b="1" dirty="0" smtClean="0">
                <a:solidFill>
                  <a:srgbClr val="00B050"/>
                </a:solidFill>
                <a:latin typeface="PT Sans"/>
              </a:rPr>
              <a:t>6. Small size</a:t>
            </a:r>
          </a:p>
          <a:p>
            <a:r>
              <a:rPr lang="en-US" sz="2000" dirty="0" smtClean="0">
                <a:solidFill>
                  <a:srgbClr val="000000"/>
                </a:solidFill>
                <a:latin typeface="PT Sans"/>
              </a:rPr>
              <a:t>Larger </a:t>
            </a:r>
            <a:r>
              <a:rPr lang="en-US" sz="2000" dirty="0">
                <a:solidFill>
                  <a:srgbClr val="000000"/>
                </a:solidFill>
                <a:latin typeface="PT Sans"/>
              </a:rPr>
              <a:t>incubators can house up to 6 or </a:t>
            </a:r>
            <a:r>
              <a:rPr lang="en-US" sz="2000" dirty="0" smtClean="0">
                <a:solidFill>
                  <a:srgbClr val="000000"/>
                </a:solidFill>
                <a:latin typeface="PT Sans"/>
              </a:rPr>
              <a:t>more pumps </a:t>
            </a:r>
            <a:r>
              <a:rPr lang="en-US" sz="2000" dirty="0">
                <a:solidFill>
                  <a:srgbClr val="000000"/>
                </a:solidFill>
                <a:latin typeface="PT Sans"/>
              </a:rPr>
              <a:t>operating simultaneously with higher </a:t>
            </a:r>
            <a:r>
              <a:rPr lang="en-US" sz="2000" dirty="0" smtClean="0">
                <a:solidFill>
                  <a:srgbClr val="000000"/>
                </a:solidFill>
                <a:latin typeface="PT Sans"/>
              </a:rPr>
              <a:t>capacity </a:t>
            </a:r>
            <a:r>
              <a:rPr lang="en-US" sz="2000" dirty="0">
                <a:solidFill>
                  <a:srgbClr val="000000"/>
                </a:solidFill>
                <a:latin typeface="PT Sans"/>
              </a:rPr>
              <a:t>cartridge types to generate as </a:t>
            </a:r>
            <a:r>
              <a:rPr lang="en-US" sz="2000" dirty="0" smtClean="0">
                <a:solidFill>
                  <a:srgbClr val="000000"/>
                </a:solidFill>
                <a:latin typeface="PT Sans"/>
              </a:rPr>
              <a:t>much  </a:t>
            </a:r>
            <a:r>
              <a:rPr lang="en-US" sz="2000" dirty="0">
                <a:solidFill>
                  <a:srgbClr val="000000"/>
                </a:solidFill>
                <a:latin typeface="PT Sans"/>
              </a:rPr>
              <a:t>as 2 grams per week of a </a:t>
            </a:r>
            <a:r>
              <a:rPr lang="en-US" sz="2000" dirty="0" smtClean="0">
                <a:solidFill>
                  <a:srgbClr val="000000"/>
                </a:solidFill>
                <a:latin typeface="PT Sans"/>
              </a:rPr>
              <a:t>Mab.</a:t>
            </a:r>
            <a:endParaRPr lang="en-US" sz="2000" dirty="0"/>
          </a:p>
        </p:txBody>
      </p:sp>
    </p:spTree>
    <p:extLst>
      <p:ext uri="{BB962C8B-B14F-4D97-AF65-F5344CB8AC3E}">
        <p14:creationId xmlns:p14="http://schemas.microsoft.com/office/powerpoint/2010/main" val="20956778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solidFill>
                  <a:srgbClr val="00B050"/>
                </a:solidFill>
              </a:rPr>
              <a:t>7. Purity </a:t>
            </a:r>
            <a:r>
              <a:rPr lang="en-US" b="1" dirty="0">
                <a:solidFill>
                  <a:srgbClr val="00B050"/>
                </a:solidFill>
              </a:rPr>
              <a:t>mAb free of serum</a:t>
            </a:r>
          </a:p>
          <a:p>
            <a:pPr marL="0" indent="0">
              <a:buNone/>
            </a:pPr>
            <a:endParaRPr lang="en-US" dirty="0" smtClean="0"/>
          </a:p>
          <a:p>
            <a:pPr marL="0" indent="0">
              <a:buNone/>
            </a:pPr>
            <a:r>
              <a:rPr lang="en-US" dirty="0" smtClean="0"/>
              <a:t>FiberCell </a:t>
            </a:r>
            <a:r>
              <a:rPr lang="en-US" dirty="0"/>
              <a:t>recommends exploiting the high cell density conditions offered by this bioreactor to eliminate serum or expensive specialty media by switching to DMEM/10% </a:t>
            </a:r>
            <a:r>
              <a:rPr lang="en-US" dirty="0">
                <a:hlinkClick r:id="rId2"/>
              </a:rPr>
              <a:t>CDM-HD</a:t>
            </a:r>
            <a:r>
              <a:rPr lang="en-US" dirty="0"/>
              <a:t> (CDM-HD Chemically-Defined Serum Replacement for High Density culture is a powder consisting only of low molecular weight, non-animal derived components).</a:t>
            </a:r>
          </a:p>
        </p:txBody>
      </p:sp>
    </p:spTree>
    <p:extLst>
      <p:ext uri="{BB962C8B-B14F-4D97-AF65-F5344CB8AC3E}">
        <p14:creationId xmlns:p14="http://schemas.microsoft.com/office/powerpoint/2010/main" val="31652521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719"/>
          </a:xfrm>
        </p:spPr>
        <p:txBody>
          <a:bodyPr>
            <a:normAutofit fontScale="90000"/>
          </a:bodyPr>
          <a:lstStyle/>
          <a:p>
            <a:endParaRPr lang="en-US" dirty="0"/>
          </a:p>
        </p:txBody>
      </p:sp>
      <p:pic>
        <p:nvPicPr>
          <p:cNvPr id="3074" name="Picture 2" descr="https://www.kdbio.com/wp-content/uploads/2016/08/bio1-poza5-300x247.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36080" y="822960"/>
            <a:ext cx="5222240" cy="535303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97840" y="1836341"/>
            <a:ext cx="6096000" cy="4062651"/>
          </a:xfrm>
          <a:prstGeom prst="rect">
            <a:avLst/>
          </a:prstGeom>
        </p:spPr>
        <p:txBody>
          <a:bodyPr>
            <a:spAutoFit/>
          </a:bodyPr>
          <a:lstStyle/>
          <a:p>
            <a:r>
              <a:rPr lang="en-US" sz="2400" b="1" dirty="0" smtClean="0">
                <a:solidFill>
                  <a:srgbClr val="FF0000"/>
                </a:solidFill>
                <a:latin typeface="PT Sans"/>
              </a:rPr>
              <a:t>Purity</a:t>
            </a:r>
          </a:p>
          <a:p>
            <a:endParaRPr lang="en-US" dirty="0" smtClean="0">
              <a:solidFill>
                <a:srgbClr val="000000"/>
              </a:solidFill>
              <a:latin typeface="PT Sans"/>
            </a:endParaRPr>
          </a:p>
          <a:p>
            <a:r>
              <a:rPr lang="en-US" dirty="0" smtClean="0">
                <a:solidFill>
                  <a:srgbClr val="000000"/>
                </a:solidFill>
                <a:latin typeface="PT Sans"/>
              </a:rPr>
              <a:t>Lane 1: purified Mab </a:t>
            </a:r>
            <a:r>
              <a:rPr lang="en-US" dirty="0">
                <a:solidFill>
                  <a:srgbClr val="000000"/>
                </a:solidFill>
                <a:latin typeface="PT Sans"/>
              </a:rPr>
              <a:t>(3 </a:t>
            </a:r>
            <a:r>
              <a:rPr lang="en-US" dirty="0" err="1">
                <a:solidFill>
                  <a:srgbClr val="000000"/>
                </a:solidFill>
                <a:latin typeface="PT Sans"/>
              </a:rPr>
              <a:t>ug</a:t>
            </a:r>
            <a:r>
              <a:rPr lang="en-US" dirty="0">
                <a:solidFill>
                  <a:srgbClr val="000000"/>
                </a:solidFill>
                <a:latin typeface="PT Sans"/>
              </a:rPr>
              <a:t>)</a:t>
            </a:r>
          </a:p>
          <a:p>
            <a:r>
              <a:rPr lang="en-US" dirty="0">
                <a:solidFill>
                  <a:srgbClr val="000000"/>
                </a:solidFill>
                <a:latin typeface="PT Sans"/>
              </a:rPr>
              <a:t>Lanes 2, 3 and 4:</a:t>
            </a:r>
            <a:br>
              <a:rPr lang="en-US" dirty="0">
                <a:solidFill>
                  <a:srgbClr val="000000"/>
                </a:solidFill>
                <a:latin typeface="PT Sans"/>
              </a:rPr>
            </a:br>
            <a:r>
              <a:rPr lang="en-US" dirty="0">
                <a:solidFill>
                  <a:srgbClr val="000000"/>
                </a:solidFill>
                <a:latin typeface="PT Sans"/>
              </a:rPr>
              <a:t>unpurified harvests from the cartridge on day 7, 9 and 12 (2µl)</a:t>
            </a:r>
          </a:p>
          <a:p>
            <a:r>
              <a:rPr lang="en-US" dirty="0">
                <a:solidFill>
                  <a:srgbClr val="000000"/>
                </a:solidFill>
                <a:latin typeface="PT Sans"/>
              </a:rPr>
              <a:t>Lane 5: 10X conc. supernatant from a T-flask using DMEM and 10% CDM-HD (FiberCell) (2µl).</a:t>
            </a:r>
          </a:p>
          <a:p>
            <a:r>
              <a:rPr lang="en-US" dirty="0">
                <a:solidFill>
                  <a:srgbClr val="000000"/>
                </a:solidFill>
                <a:latin typeface="PT Sans"/>
              </a:rPr>
              <a:t>Lane 6: T flask using DMEM and 10% serum (2µl)</a:t>
            </a:r>
          </a:p>
          <a:p>
            <a:r>
              <a:rPr lang="en-US" dirty="0">
                <a:solidFill>
                  <a:srgbClr val="000000"/>
                </a:solidFill>
                <a:latin typeface="PT Sans"/>
              </a:rPr>
              <a:t>Both SDS-PAGE gel and gel filtration analysis showed that the antibody from the hollow fiber bioreactor (HFB) was very clean and properly folded.</a:t>
            </a:r>
          </a:p>
          <a:p>
            <a:r>
              <a:rPr lang="en-US" dirty="0">
                <a:solidFill>
                  <a:srgbClr val="000000"/>
                </a:solidFill>
                <a:latin typeface="PT Sans"/>
              </a:rPr>
              <a:t>Concentration of supernatant from HFB:</a:t>
            </a:r>
            <a:br>
              <a:rPr lang="en-US" dirty="0">
                <a:solidFill>
                  <a:srgbClr val="000000"/>
                </a:solidFill>
                <a:latin typeface="PT Sans"/>
              </a:rPr>
            </a:br>
            <a:r>
              <a:rPr lang="en-US" dirty="0" err="1">
                <a:solidFill>
                  <a:srgbClr val="000000"/>
                </a:solidFill>
                <a:latin typeface="PT Sans"/>
              </a:rPr>
              <a:t>Approx</a:t>
            </a:r>
            <a:r>
              <a:rPr lang="en-US" dirty="0">
                <a:solidFill>
                  <a:srgbClr val="000000"/>
                </a:solidFill>
                <a:latin typeface="PT Sans"/>
              </a:rPr>
              <a:t> 2.5 mg/ml.</a:t>
            </a:r>
            <a:endParaRPr lang="en-US" b="0" i="0" dirty="0">
              <a:solidFill>
                <a:srgbClr val="000000"/>
              </a:solidFill>
              <a:effectLst/>
              <a:latin typeface="PT Sans"/>
            </a:endParaRPr>
          </a:p>
        </p:txBody>
      </p:sp>
    </p:spTree>
    <p:extLst>
      <p:ext uri="{BB962C8B-B14F-4D97-AF65-F5344CB8AC3E}">
        <p14:creationId xmlns:p14="http://schemas.microsoft.com/office/powerpoint/2010/main" val="26964246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Mab and COVID-19</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Pharmaceutical </a:t>
            </a:r>
            <a:r>
              <a:rPr lang="en-US" dirty="0"/>
              <a:t>companies are investigating </a:t>
            </a:r>
            <a:r>
              <a:rPr lang="en-US" dirty="0" err="1" smtClean="0"/>
              <a:t>Mabs</a:t>
            </a:r>
            <a:r>
              <a:rPr lang="en-US" dirty="0" smtClean="0"/>
              <a:t> </a:t>
            </a:r>
            <a:r>
              <a:rPr lang="en-US" dirty="0"/>
              <a:t>as a treatment for COVID-19. </a:t>
            </a:r>
            <a:r>
              <a:rPr lang="en-US" dirty="0" err="1" smtClean="0"/>
              <a:t>Mabs</a:t>
            </a:r>
            <a:r>
              <a:rPr lang="en-US" dirty="0" smtClean="0"/>
              <a:t> </a:t>
            </a:r>
            <a:r>
              <a:rPr lang="en-US" dirty="0"/>
              <a:t>mimic the natural antibodies produced by the body in response to infection and are currently used in the treatment of some cancers. </a:t>
            </a:r>
            <a:endParaRPr lang="en-US" dirty="0" smtClean="0"/>
          </a:p>
          <a:p>
            <a:r>
              <a:rPr lang="en-US" b="1" dirty="0" smtClean="0"/>
              <a:t>AstraZeneca</a:t>
            </a:r>
            <a:r>
              <a:rPr lang="en-US" dirty="0" smtClean="0"/>
              <a:t> </a:t>
            </a:r>
            <a:r>
              <a:rPr lang="en-US" dirty="0"/>
              <a:t>has begun an early-stage trial of its antibody based therapeutic </a:t>
            </a:r>
            <a:r>
              <a:rPr lang="en-US" dirty="0" smtClean="0"/>
              <a:t> </a:t>
            </a:r>
            <a:r>
              <a:rPr lang="en-US" dirty="0"/>
              <a:t>for the prevention and treatment of COVID-19. The trial will test if </a:t>
            </a:r>
            <a:r>
              <a:rPr lang="en-US" dirty="0" smtClean="0"/>
              <a:t>it is </a:t>
            </a:r>
            <a:r>
              <a:rPr lang="en-US" dirty="0"/>
              <a:t>safe and tolerable by up to 48 healthy participants in the UK. </a:t>
            </a:r>
            <a:r>
              <a:rPr lang="en-US" b="1" dirty="0" smtClean="0"/>
              <a:t>Regeneron </a:t>
            </a:r>
            <a:r>
              <a:rPr lang="en-US" b="1" dirty="0"/>
              <a:t>and Roche </a:t>
            </a:r>
            <a:r>
              <a:rPr lang="en-US" dirty="0"/>
              <a:t>are also collaborating on clinical trials of their monoclonal antibody treatment (REGN-COV2). REGN-COV2 is currently being studied in two phase 2 trials for the treatment of COVID-19 and a phase 3 trial for the prevention of COVID-19 among household contacts of those infected. </a:t>
            </a:r>
          </a:p>
        </p:txBody>
      </p:sp>
    </p:spTree>
    <p:extLst>
      <p:ext uri="{BB962C8B-B14F-4D97-AF65-F5344CB8AC3E}">
        <p14:creationId xmlns:p14="http://schemas.microsoft.com/office/powerpoint/2010/main" val="3405415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Mab as a business</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May </a:t>
            </a:r>
            <a:r>
              <a:rPr lang="en-US" dirty="0"/>
              <a:t>11, 2020 (GLOBE NEWSWIRE) -- The global </a:t>
            </a:r>
            <a:r>
              <a:rPr lang="en-US" b="1" u="sng" dirty="0" err="1" smtClean="0">
                <a:hlinkClick r:id="rId2" tooltip="monoclonal antibodies therapy market"/>
              </a:rPr>
              <a:t>Mabs</a:t>
            </a:r>
            <a:r>
              <a:rPr lang="en-US" b="1" u="sng" dirty="0" smtClean="0">
                <a:hlinkClick r:id="rId2" tooltip="monoclonal antibodies therapy market"/>
              </a:rPr>
              <a:t> </a:t>
            </a:r>
            <a:r>
              <a:rPr lang="en-US" b="1" u="sng" dirty="0">
                <a:hlinkClick r:id="rId2" tooltip="monoclonal antibodies therapy market"/>
              </a:rPr>
              <a:t>therapy market</a:t>
            </a:r>
            <a:r>
              <a:rPr lang="en-US" dirty="0"/>
              <a:t> size is projected to reach USD </a:t>
            </a:r>
            <a:r>
              <a:rPr lang="en-US" dirty="0" smtClean="0"/>
              <a:t>350 </a:t>
            </a:r>
            <a:r>
              <a:rPr lang="en-US" dirty="0"/>
              <a:t>billion by the end of 2027. The increasing prevalence of severe diseases such as cancer will create several opportunities for the companies operating in the market. </a:t>
            </a:r>
            <a:endParaRPr lang="en-US" dirty="0" smtClean="0"/>
          </a:p>
          <a:p>
            <a:r>
              <a:rPr lang="en-US" dirty="0" smtClean="0"/>
              <a:t>According </a:t>
            </a:r>
            <a:r>
              <a:rPr lang="en-US" dirty="0"/>
              <a:t>to a report published by Fortune business Insights, titled “Monoclonal Antibody Therapy Market Size, Share &amp; Industry Analysis, </a:t>
            </a:r>
            <a:r>
              <a:rPr lang="en-US" dirty="0" smtClean="0"/>
              <a:t>the </a:t>
            </a:r>
            <a:r>
              <a:rPr lang="en-US" dirty="0"/>
              <a:t>market was worth USD </a:t>
            </a:r>
            <a:r>
              <a:rPr lang="en-US" dirty="0" smtClean="0"/>
              <a:t>123 </a:t>
            </a:r>
            <a:r>
              <a:rPr lang="en-US" dirty="0"/>
              <a:t>billion in 2019 and will exhibit </a:t>
            </a:r>
            <a:r>
              <a:rPr lang="en-US" dirty="0" smtClean="0"/>
              <a:t>an increase of </a:t>
            </a:r>
            <a:r>
              <a:rPr lang="en-US" dirty="0"/>
              <a:t>14.0% during the forecast period, 2020-2027.</a:t>
            </a:r>
          </a:p>
        </p:txBody>
      </p:sp>
    </p:spTree>
    <p:extLst>
      <p:ext uri="{BB962C8B-B14F-4D97-AF65-F5344CB8AC3E}">
        <p14:creationId xmlns:p14="http://schemas.microsoft.com/office/powerpoint/2010/main" val="31400278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0553367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THENA.CUSTOMXMLID" val="{D09FC293-2848-4A53-8C1B-AF80AC8545A4}"/>
  <p:tag name="ATHENA.CUSTOMXMLCONTENT" val="&lt;?xml version=&quot;1.0&quot;?&gt;&lt;athena xmlns=&quot;http://schemas.microsoft.com/edu/athena&quot; version=&quot;0.1.3517.0&quot;&gt;&lt;timings duration=&quot;188114&quot;/&gt;&lt;/athena&gt;"/>
</p:tagLst>
</file>

<file path=ppt/tags/tag2.xml><?xml version="1.0" encoding="utf-8"?>
<p:tagLst xmlns:a="http://schemas.openxmlformats.org/drawingml/2006/main" xmlns:r="http://schemas.openxmlformats.org/officeDocument/2006/relationships" xmlns:p="http://schemas.openxmlformats.org/presentationml/2006/main">
  <p:tag name="ATHENA.CUSTOMXMLID" val="{D90BF023-B71C-466C-B15A-22C77F21880C}"/>
  <p:tag name="ATHENA.CUSTOMXMLCONTENT" val="&lt;?xml version=&quot;1.0&quot;?&gt;&lt;athena xmlns=&quot;http://schemas.microsoft.com/edu/athena&quot; version=&quot;0.1.3517.0&quot;&gt;&lt;media streamable=&quot;true&quot; recordStart=&quot;624497&quot; recordEnd=&quot;812611&quot; recordLength=&quot;1082376&quot; audioOnly=&quot;true&quot; start=&quot;624497&quot; end=&quot;812611&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3.xml><?xml version="1.0" encoding="utf-8"?>
<p:tagLst xmlns:a="http://schemas.openxmlformats.org/drawingml/2006/main" xmlns:r="http://schemas.openxmlformats.org/officeDocument/2006/relationships" xmlns:p="http://schemas.openxmlformats.org/presentationml/2006/main">
  <p:tag name="ATHENA.CUSTOMXMLID" val="{29D6B0E7-AF3E-4DE2-ACA2-DCA4637F4660}"/>
  <p:tag name="ATHENA.CUSTOMXMLCONTENT" val="&lt;?xml version=&quot;1.0&quot;?&gt;&lt;athena xmlns=&quot;http://schemas.microsoft.com/edu/athena&quot; version=&quot;0.1.3517.0&quot;&gt;&lt;timings duration=&quot;113759&quot;/&gt;&lt;/athena&gt;"/>
</p:tagLst>
</file>

<file path=ppt/tags/tag4.xml><?xml version="1.0" encoding="utf-8"?>
<p:tagLst xmlns:a="http://schemas.openxmlformats.org/drawingml/2006/main" xmlns:r="http://schemas.openxmlformats.org/officeDocument/2006/relationships" xmlns:p="http://schemas.openxmlformats.org/presentationml/2006/main">
  <p:tag name="ATHENA.CUSTOMXMLID" val="{0DA3AD91-D14E-4A28-A4D6-B59EE505A2E9}"/>
  <p:tag name="ATHENA.CUSTOMXMLCONTENT" val="&lt;?xml version=&quot;1.0&quot;?&gt;&lt;athena xmlns=&quot;http://schemas.microsoft.com/edu/athena&quot; version=&quot;0.1.3517.0&quot;&gt;&lt;media streamable=&quot;true&quot; recordStart=&quot;812611&quot; recordEnd=&quot;926370&quot; recordLength=&quot;1082376&quot; audioOnly=&quot;true&quot; start=&quot;812611&quot; end=&quot;926370&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5.xml><?xml version="1.0" encoding="utf-8"?>
<p:tagLst xmlns:a="http://schemas.openxmlformats.org/drawingml/2006/main" xmlns:r="http://schemas.openxmlformats.org/officeDocument/2006/relationships" xmlns:p="http://schemas.openxmlformats.org/presentationml/2006/main">
  <p:tag name="ATHENA.CUSTOMXMLID" val="{BF0EF412-2B8F-4C12-870E-FEFABE8EF81C}"/>
  <p:tag name="ATHENA.CUSTOMXMLCONTENT" val="&lt;?xml version=&quot;1.0&quot;?&gt;&lt;athena xmlns=&quot;http://schemas.microsoft.com/edu/athena&quot; version=&quot;0.1.3517.0&quot;&gt;&lt;timings duration=&quot;73152&quot;/&gt;&lt;/athena&gt;"/>
</p:tagLst>
</file>

<file path=ppt/tags/tag6.xml><?xml version="1.0" encoding="utf-8"?>
<p:tagLst xmlns:a="http://schemas.openxmlformats.org/drawingml/2006/main" xmlns:r="http://schemas.openxmlformats.org/officeDocument/2006/relationships" xmlns:p="http://schemas.openxmlformats.org/presentationml/2006/main">
  <p:tag name="ATHENA.CUSTOMXMLID" val="{7CD9EB5B-1E73-4122-A329-57518B844E63}"/>
  <p:tag name="ATHENA.CUSTOMXMLCONTENT" val="&lt;?xml version=&quot;1.0&quot;?&gt;&lt;athena xmlns=&quot;http://schemas.microsoft.com/edu/athena&quot; version=&quot;0.1.3517.0&quot;&gt;&lt;media streamable=&quot;true&quot; recordStart=&quot;926370&quot; recordEnd=&quot;999522&quot; recordLength=&quot;1082376&quot; audioOnly=&quot;true&quot; start=&quot;926370&quot; end=&quot;999522&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7.xml><?xml version="1.0" encoding="utf-8"?>
<p:tagLst xmlns:a="http://schemas.openxmlformats.org/drawingml/2006/main" xmlns:r="http://schemas.openxmlformats.org/officeDocument/2006/relationships" xmlns:p="http://schemas.openxmlformats.org/presentationml/2006/main">
  <p:tag name="ATHENA.CUSTOMXMLID" val="{ECF75A96-3C27-40FC-9A50-FEB5F615C386}"/>
  <p:tag name="ATHENA.CUSTOMXMLCONTENT" val="&lt;?xml version=&quot;1.0&quot;?&gt;&lt;athena xmlns=&quot;http://schemas.microsoft.com/edu/athena&quot; version=&quot;0.1.3517.0&quot;&gt;&lt;timings duration=&quot;37324&quot;/&gt;&lt;/athena&gt;"/>
</p:tagLst>
</file>

<file path=ppt/tags/tag8.xml><?xml version="1.0" encoding="utf-8"?>
<p:tagLst xmlns:a="http://schemas.openxmlformats.org/drawingml/2006/main" xmlns:r="http://schemas.openxmlformats.org/officeDocument/2006/relationships" xmlns:p="http://schemas.openxmlformats.org/presentationml/2006/main">
  <p:tag name="ATHENA.CUSTOMXMLID" val="{7F9386FB-BF6B-4BAD-A421-5E9FDEDD9646}"/>
  <p:tag name="ATHENA.CUSTOMXMLCONTENT" val="&lt;?xml version=&quot;1.0&quot;?&gt;&lt;athena xmlns=&quot;http://schemas.microsoft.com/edu/athena&quot; version=&quot;0.1.3517.0&quot;&gt;&lt;media streamable=&quot;true&quot; recordStart=&quot;999522&quot; recordEnd=&quot;1036846&quot; recordLength=&quot;1082376&quot; audioOnly=&quot;true&quot; start=&quot;999522&quot; end=&quot;1036846&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9.xml><?xml version="1.0" encoding="utf-8"?>
<p:tagLst xmlns:a="http://schemas.openxmlformats.org/drawingml/2006/main" xmlns:r="http://schemas.openxmlformats.org/officeDocument/2006/relationships" xmlns:p="http://schemas.openxmlformats.org/presentationml/2006/main">
  <p:tag name="ATHENA.CUSTOMXMLID" val="{7929E754-3796-4019-A1CF-96A1ED18E166}"/>
  <p:tag name="ATHENA.CUSTOMXMLCONTENT" val="&lt;?xml version=&quot;1.0&quot;?&gt;&lt;athena xmlns=&quot;http://schemas.microsoft.com/edu/athena&quot; version=&quot;0.1.3517.0&quot;&gt;&lt;timings duration=&quot;26346&quot;/&gt;&lt;/athena&gt;"/>
</p:tagLst>
</file>

<file path=ppt/tags/tag10.xml><?xml version="1.0" encoding="utf-8"?>
<p:tagLst xmlns:a="http://schemas.openxmlformats.org/drawingml/2006/main" xmlns:r="http://schemas.openxmlformats.org/officeDocument/2006/relationships" xmlns:p="http://schemas.openxmlformats.org/presentationml/2006/main">
  <p:tag name="ATHENA.CUSTOMXMLID" val="{FD87E77D-975B-4873-A1FA-5193D3C460EB}"/>
  <p:tag name="ATHENA.CUSTOMXMLCONTENT" val="&lt;?xml version=&quot;1.0&quot;?&gt;&lt;athena xmlns=&quot;http://schemas.microsoft.com/edu/athena&quot; version=&quot;0.1.3517.0&quot;&gt;&lt;media streamable=&quot;true&quot; recordStart=&quot;1036846&quot; recordEnd=&quot;1063192&quot; recordLength=&quot;1082376&quot; audioOnly=&quot;true&quot; start=&quot;1036846&quot; end=&quot;1063192&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11.xml><?xml version="1.0" encoding="utf-8"?>
<p:tagLst xmlns:a="http://schemas.openxmlformats.org/drawingml/2006/main" xmlns:r="http://schemas.openxmlformats.org/officeDocument/2006/relationships" xmlns:p="http://schemas.openxmlformats.org/presentationml/2006/main">
  <p:tag name="ATHENA.CUSTOMXMLID" val="{CF33F40E-BBD0-4607-AA10-F56ECD41B9FD}"/>
  <p:tag name="ATHENA.CUSTOMXMLCONTENT" val="&lt;?xml version=&quot;1.0&quot;?&gt;&lt;athena xmlns=&quot;http://schemas.microsoft.com/edu/athena&quot; version=&quot;0.1.3517.0&quot;&gt;&lt;timings duration=&quot;19168&quot;/&gt;&lt;/athena&gt;"/>
</p:tagLst>
</file>

<file path=ppt/tags/tag12.xml><?xml version="1.0" encoding="utf-8"?>
<p:tagLst xmlns:a="http://schemas.openxmlformats.org/drawingml/2006/main" xmlns:r="http://schemas.openxmlformats.org/officeDocument/2006/relationships" xmlns:p="http://schemas.openxmlformats.org/presentationml/2006/main">
  <p:tag name="ATHENA.CUSTOMXMLID" val="{68958D45-5506-47BF-A8EE-4973E84ED708}"/>
  <p:tag name="ATHENA.CUSTOMXMLCONTENT" val="&lt;?xml version=&quot;1.0&quot;?&gt;&lt;athena xmlns=&quot;http://schemas.microsoft.com/edu/athena&quot; version=&quot;0.1.3517.0&quot;&gt;&lt;media streamable=&quot;true&quot; recordStart=&quot;1063192&quot; recordEnd=&quot;1082360&quot; recordLength=&quot;1082376&quot; audioOnly=&quot;true&quot; start=&quot;1063192&quot; end=&quot;1082360&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item1.xml><?xml version="1.0" encoding="utf-8"?>
<athena xmlns="http://schemas.microsoft.com/edu/athena" version="0.1.3517.0">
  <timings duration="37324"/>
</athena>
</file>

<file path=customXml/item2.xml><?xml version="1.0" encoding="utf-8"?>
<athena xmlns="http://schemas.microsoft.com/edu/athena" version="0.1.3517.0">
  <media streamable="true" recordStart="1063192" recordEnd="1082360" recordLength="1082376" audioOnly="true" start="1063192" end="1082360" audioFormat="{00001610-0000-0010-8000-00AA00389B71}" audioRate="44100" muted="false" volume="0.8" fadeIn="0" fadeOut="0" videoFormat="{34363248-0000-0010-8000-00AA00389B71}" videoRate="15" videoWidth="256" videoHeight="256"/>
</athena>
</file>

<file path=customXml/item3.xml><?xml version="1.0" encoding="utf-8"?>
<athena xmlns="http://schemas.microsoft.com/edu/athena" version="0.1.3517.0">
  <timings duration="26346"/>
</athena>
</file>

<file path=customXml/item4.xml><?xml version="1.0" encoding="utf-8"?>
<athena xmlns="http://schemas.microsoft.com/edu/athena" version="0.1.3517.0">
  <timings duration="119243"/>
</athena>
</file>

<file path=customXml/item5.xml><?xml version="1.0" encoding="utf-8"?>
<athena xmlns="http://schemas.microsoft.com/edu/athena" version="0.1.3517.0">
  <media streamable="true" recordStart="624497" recordEnd="812611" recordLength="1082376" audioOnly="true" start="624497" end="812611" audioFormat="{00001610-0000-0010-8000-00AA00389B71}" audioRate="44100" muted="false" volume="0.8" fadeIn="0" fadeOut="0" videoFormat="{34363248-0000-0010-8000-00AA00389B71}" videoRate="15" videoWidth="256" videoHeight="256"/>
</athena>
</file>

<file path=customXml/item6.xml><?xml version="1.0" encoding="utf-8"?>
<athena xmlns="http://schemas.microsoft.com/edu/athena" version="0.1.3517.0">
  <timings duration="113759"/>
</athena>
</file>

<file path=customXml/item7.xml><?xml version="1.0" encoding="utf-8"?>
<athena xmlns="http://schemas.microsoft.com/edu/athena" version="0.1.3517.0">
  <timings duration="43460"/>
</athena>
</file>

<file path=customXml/item8.xml><?xml version="1.0" encoding="utf-8"?>
<athena xmlns="http://schemas.microsoft.com/edu/athena" version="0.1.3517.0">
  <media streamable="true" recordStart="999522" recordEnd="1036846" recordLength="1082376" audioOnly="true" start="999522" end="1036846" audioFormat="{00001610-0000-0010-8000-00AA00389B71}" audioRate="44100" muted="false" volume="0.8" fadeIn="0" fadeOut="0" videoFormat="{34363248-0000-0010-8000-00AA00389B71}" videoRate="15" videoWidth="256" videoHeight="256"/>
</athena>
</file>

<file path=customXml/item9.xml><?xml version="1.0" encoding="utf-8"?>
<athena xmlns="http://schemas.microsoft.com/edu/athena" version="0.1.3517.0">
  <timings duration="188114"/>
</athena>
</file>

<file path=customXml/item10.xml><?xml version="1.0" encoding="utf-8"?>
<athena xmlns="http://schemas.microsoft.com/edu/athena" version="0.1.3517.0">
  <timings duration="19168"/>
</athena>
</file>

<file path=customXml/item11.xml><?xml version="1.0" encoding="utf-8"?>
<athena xmlns="http://schemas.microsoft.com/edu/athena" version="0.1.3517.0">
  <media streamable="true" recordStart="812611" recordEnd="926370" recordLength="1082376" audioOnly="true" start="812611" end="926370" audioFormat="{00001610-0000-0010-8000-00AA00389B71}" audioRate="44100" muted="false" volume="0.8" fadeIn="0" fadeOut="0" videoFormat="{34363248-0000-0010-8000-00AA00389B71}" videoRate="15" videoWidth="256" videoHeight="256"/>
</athena>
</file>

<file path=customXml/item12.xml><?xml version="1.0" encoding="utf-8"?>
<athena xmlns="http://schemas.microsoft.com/edu/athena" version="0.1.3517.0">
  <media streamable="true" recordStart="1036846" recordEnd="1063192" recordLength="1082376" audioOnly="true" start="1036846" end="1063192" audioFormat="{00001610-0000-0010-8000-00AA00389B71}" audioRate="44100" muted="false" volume="0.8" fadeIn="0" fadeOut="0" videoFormat="{34363248-0000-0010-8000-00AA00389B71}" videoRate="15" videoWidth="256" videoHeight="256"/>
</athena>
</file>

<file path=customXml/item13.xml><?xml version="1.0" encoding="utf-8"?>
<athena xmlns="http://schemas.microsoft.com/edu/athena" version="0.1.3517.0">
  <timings duration="73152"/>
</athena>
</file>

<file path=customXml/item14.xml><?xml version="1.0" encoding="utf-8"?>
<athena xmlns="http://schemas.microsoft.com/edu/athena" version="0.1.3517.0">
  <media streamable="true" recordStart="505254" recordEnd="624497" recordLength="1082376" audioOnly="true" start="505254" end="624497" audioFormat="{00001610-0000-0010-8000-00AA00389B71}" audioRate="44100" muted="false" volume="0.8" fadeIn="0" fadeOut="0" videoFormat="{34363248-0000-0010-8000-00AA00389B71}" videoRate="15" videoWidth="256" videoHeight="256"/>
</athena>
</file>

<file path=customXml/item15.xml><?xml version="1.0" encoding="utf-8"?>
<athena xmlns="http://schemas.microsoft.com/edu/athena" version="0.1.3517.0">
  <media streamable="true" recordStart="461794" recordEnd="505254" recordLength="1082376" audioOnly="true" start="461794" end="505254" audioFormat="{00001610-0000-0010-8000-00AA00389B71}" audioRate="44100" muted="false" volume="0.8" fadeIn="0" fadeOut="0" videoFormat="{34363248-0000-0010-8000-00AA00389B71}" videoRate="15" videoWidth="256" videoHeight="256"/>
</athena>
</file>

<file path=customXml/item16.xml><?xml version="1.0" encoding="utf-8"?>
<athena xmlns="http://schemas.microsoft.com/edu/athena" version="0.1.3517.0">
  <media streamable="true" recordStart="926370" recordEnd="999522" recordLength="1082376" audioOnly="true" start="926370" end="999522" audioFormat="{00001610-0000-0010-8000-00AA00389B71}" audioRate="44100" muted="false" volume="0.8" fadeIn="0" fadeOut="0" videoFormat="{34363248-0000-0010-8000-00AA00389B71}" videoRate="15" videoWidth="256" videoHeight="256"/>
</athena>
</file>

<file path=customXml/itemProps1.xml><?xml version="1.0" encoding="utf-8"?>
<ds:datastoreItem xmlns:ds="http://schemas.openxmlformats.org/officeDocument/2006/customXml" ds:itemID="{8DB27E27-8E52-4076-857F-414D00E4941C}">
  <ds:schemaRefs>
    <ds:schemaRef ds:uri="http://schemas.microsoft.com/edu/athena"/>
  </ds:schemaRefs>
</ds:datastoreItem>
</file>

<file path=customXml/itemProps2.xml><?xml version="1.0" encoding="utf-8"?>
<ds:datastoreItem xmlns:ds="http://schemas.openxmlformats.org/officeDocument/2006/customXml" ds:itemID="{4EC63FFD-FEDA-42E0-B5AD-79354F7A515A}">
  <ds:schemaRefs>
    <ds:schemaRef ds:uri="http://schemas.microsoft.com/edu/athena"/>
  </ds:schemaRefs>
</ds:datastoreItem>
</file>

<file path=customXml/itemProps3.xml><?xml version="1.0" encoding="utf-8"?>
<ds:datastoreItem xmlns:ds="http://schemas.openxmlformats.org/officeDocument/2006/customXml" ds:itemID="{C6742D58-D001-440D-8111-9B9B449108A1}">
  <ds:schemaRefs>
    <ds:schemaRef ds:uri="http://schemas.microsoft.com/edu/athena"/>
  </ds:schemaRefs>
</ds:datastoreItem>
</file>

<file path=customXml/itemProps4.xml><?xml version="1.0" encoding="utf-8"?>
<ds:datastoreItem xmlns:ds="http://schemas.openxmlformats.org/officeDocument/2006/customXml" ds:itemID="{659A91ED-C6DF-421F-BCF4-87E5FFB29466}">
  <ds:schemaRefs>
    <ds:schemaRef ds:uri="http://schemas.microsoft.com/edu/athena"/>
  </ds:schemaRefs>
</ds:datastoreItem>
</file>

<file path=customXml/itemProps5.xml><?xml version="1.0" encoding="utf-8"?>
<ds:datastoreItem xmlns:ds="http://schemas.openxmlformats.org/officeDocument/2006/customXml" ds:itemID="{A3244A03-628A-4D4F-B7E5-CDEC3EB96C9C}">
  <ds:schemaRefs>
    <ds:schemaRef ds:uri="http://schemas.microsoft.com/edu/athena"/>
  </ds:schemaRefs>
</ds:datastoreItem>
</file>

<file path=customXml/itemProps6.xml><?xml version="1.0" encoding="utf-8"?>
<ds:datastoreItem xmlns:ds="http://schemas.openxmlformats.org/officeDocument/2006/customXml" ds:itemID="{4F67FEE1-DC2A-4F45-A943-3C20E0979C11}">
  <ds:schemaRefs>
    <ds:schemaRef ds:uri="http://schemas.microsoft.com/edu/athena"/>
  </ds:schemaRefs>
</ds:datastoreItem>
</file>

<file path=customXml/itemProps7.xml><?xml version="1.0" encoding="utf-8"?>
<ds:datastoreItem xmlns:ds="http://schemas.openxmlformats.org/officeDocument/2006/customXml" ds:itemID="{92316A1D-6A64-487A-B6D1-237CEDD4043C}">
  <ds:schemaRefs>
    <ds:schemaRef ds:uri="http://schemas.microsoft.com/edu/athena"/>
  </ds:schemaRefs>
</ds:datastoreItem>
</file>

<file path=customXml/itemProps8.xml><?xml version="1.0" encoding="utf-8"?>
<ds:datastoreItem xmlns:ds="http://schemas.openxmlformats.org/officeDocument/2006/customXml" ds:itemID="{1113C159-1C62-4015-B59D-049DBC3CF043}">
  <ds:schemaRefs>
    <ds:schemaRef ds:uri="http://schemas.microsoft.com/edu/athena"/>
  </ds:schemaRefs>
</ds:datastoreItem>
</file>

<file path=customXml/itemProps9.xml><?xml version="1.0" encoding="utf-8"?>
<ds:datastoreItem xmlns:ds="http://schemas.openxmlformats.org/officeDocument/2006/customXml" ds:itemID="{66072A78-ECFB-499E-9250-FA712ED3D484}">
  <ds:schemaRefs>
    <ds:schemaRef ds:uri="http://schemas.microsoft.com/edu/athena"/>
  </ds:schemaRefs>
</ds:datastoreItem>
</file>

<file path=customXml/itemProps10.xml><?xml version="1.0" encoding="utf-8"?>
<ds:datastoreItem xmlns:ds="http://schemas.openxmlformats.org/officeDocument/2006/customXml" ds:itemID="{978F1875-2958-48A8-9013-2C66BDBBC722}">
  <ds:schemaRefs>
    <ds:schemaRef ds:uri="http://schemas.microsoft.com/edu/athena"/>
  </ds:schemaRefs>
</ds:datastoreItem>
</file>

<file path=customXml/itemProps11.xml><?xml version="1.0" encoding="utf-8"?>
<ds:datastoreItem xmlns:ds="http://schemas.openxmlformats.org/officeDocument/2006/customXml" ds:itemID="{99F5479A-8C8B-4974-B476-964F817BCA64}">
  <ds:schemaRefs>
    <ds:schemaRef ds:uri="http://schemas.microsoft.com/edu/athena"/>
  </ds:schemaRefs>
</ds:datastoreItem>
</file>

<file path=customXml/itemProps12.xml><?xml version="1.0" encoding="utf-8"?>
<ds:datastoreItem xmlns:ds="http://schemas.openxmlformats.org/officeDocument/2006/customXml" ds:itemID="{354E5159-4869-447E-B65D-15E7298479E3}">
  <ds:schemaRefs>
    <ds:schemaRef ds:uri="http://schemas.microsoft.com/edu/athena"/>
  </ds:schemaRefs>
</ds:datastoreItem>
</file>

<file path=customXml/itemProps13.xml><?xml version="1.0" encoding="utf-8"?>
<ds:datastoreItem xmlns:ds="http://schemas.openxmlformats.org/officeDocument/2006/customXml" ds:itemID="{35D6EA1C-F614-4A6E-A129-F698CAA46A18}">
  <ds:schemaRefs>
    <ds:schemaRef ds:uri="http://schemas.microsoft.com/edu/athena"/>
  </ds:schemaRefs>
</ds:datastoreItem>
</file>

<file path=customXml/itemProps14.xml><?xml version="1.0" encoding="utf-8"?>
<ds:datastoreItem xmlns:ds="http://schemas.openxmlformats.org/officeDocument/2006/customXml" ds:itemID="{1956D059-151E-4B24-BF9B-9EE8E681B2C9}">
  <ds:schemaRefs>
    <ds:schemaRef ds:uri="http://schemas.microsoft.com/edu/athena"/>
  </ds:schemaRefs>
</ds:datastoreItem>
</file>

<file path=customXml/itemProps15.xml><?xml version="1.0" encoding="utf-8"?>
<ds:datastoreItem xmlns:ds="http://schemas.openxmlformats.org/officeDocument/2006/customXml" ds:itemID="{D66533E5-551B-4365-9008-6DB0EF8F0DDE}">
  <ds:schemaRefs>
    <ds:schemaRef ds:uri="http://schemas.microsoft.com/edu/athena"/>
  </ds:schemaRefs>
</ds:datastoreItem>
</file>

<file path=customXml/itemProps16.xml><?xml version="1.0" encoding="utf-8"?>
<ds:datastoreItem xmlns:ds="http://schemas.openxmlformats.org/officeDocument/2006/customXml" ds:itemID="{85F88AC3-58AB-4FF8-9DD9-E96C8C81FB7A}">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otalTime>141</TotalTime>
  <Words>937</Words>
  <Application>Microsoft Office PowerPoint</Application>
  <PresentationFormat>مخصص</PresentationFormat>
  <Paragraphs>72</Paragraphs>
  <Slides>19</Slides>
  <Notes>1</Notes>
  <HiddenSlides>0</HiddenSlides>
  <MMClips>6</MMClips>
  <ScaleCrop>false</ScaleCrop>
  <HeadingPairs>
    <vt:vector size="4" baseType="variant">
      <vt:variant>
        <vt:lpstr>نسق</vt:lpstr>
      </vt:variant>
      <vt:variant>
        <vt:i4>1</vt:i4>
      </vt:variant>
      <vt:variant>
        <vt:lpstr>عناوين الشرائح</vt:lpstr>
      </vt:variant>
      <vt:variant>
        <vt:i4>19</vt:i4>
      </vt:variant>
    </vt:vector>
  </HeadingPairs>
  <TitlesOfParts>
    <vt:vector size="20" baseType="lpstr">
      <vt:lpstr>Office Theme</vt:lpstr>
      <vt:lpstr>Production of Mabs</vt:lpstr>
      <vt:lpstr>Propagation of selected positive clones</vt:lpstr>
      <vt:lpstr>عرض تقديمي في PowerPoint</vt:lpstr>
      <vt:lpstr>عرض تقديمي في PowerPoint</vt:lpstr>
      <vt:lpstr>Propagation in vitro</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Criteria of Hollow fiber Bioreactor</vt:lpstr>
      <vt:lpstr>عرض تقديمي في PowerPoint</vt:lpstr>
      <vt:lpstr>عرض تقديمي في PowerPoint</vt:lpstr>
      <vt:lpstr>عرض تقديمي في PowerPoint</vt:lpstr>
      <vt:lpstr>عرض تقديمي في PowerPoint</vt:lpstr>
      <vt:lpstr>Mab and COVID-19</vt:lpstr>
      <vt:lpstr>Mab as a business </vt:lpstr>
      <vt:lpstr>عرض تقديمي في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user</cp:lastModifiedBy>
  <cp:revision>21</cp:revision>
  <dcterms:created xsi:type="dcterms:W3CDTF">2020-12-04T06:20:26Z</dcterms:created>
  <dcterms:modified xsi:type="dcterms:W3CDTF">2021-02-20T08:55:46Z</dcterms:modified>
</cp:coreProperties>
</file>