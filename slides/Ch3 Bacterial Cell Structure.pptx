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256" r:id="rId2"/>
    <p:sldId id="257" r:id="rId3"/>
    <p:sldId id="357" r:id="rId4"/>
    <p:sldId id="259" r:id="rId5"/>
    <p:sldId id="260" r:id="rId6"/>
    <p:sldId id="261" r:id="rId7"/>
    <p:sldId id="262" r:id="rId8"/>
    <p:sldId id="365" r:id="rId9"/>
    <p:sldId id="265" r:id="rId10"/>
    <p:sldId id="366" r:id="rId11"/>
    <p:sldId id="269" r:id="rId12"/>
    <p:sldId id="270" r:id="rId13"/>
    <p:sldId id="361" r:id="rId14"/>
    <p:sldId id="367" r:id="rId15"/>
    <p:sldId id="275" r:id="rId16"/>
    <p:sldId id="276" r:id="rId17"/>
    <p:sldId id="278" r:id="rId18"/>
    <p:sldId id="280" r:id="rId19"/>
    <p:sldId id="281" r:id="rId20"/>
    <p:sldId id="362" r:id="rId21"/>
    <p:sldId id="368" r:id="rId22"/>
    <p:sldId id="284" r:id="rId23"/>
    <p:sldId id="285" r:id="rId24"/>
    <p:sldId id="286" r:id="rId25"/>
    <p:sldId id="287" r:id="rId26"/>
    <p:sldId id="288" r:id="rId27"/>
    <p:sldId id="289" r:id="rId28"/>
    <p:sldId id="290" r:id="rId29"/>
    <p:sldId id="292" r:id="rId30"/>
    <p:sldId id="293" r:id="rId31"/>
    <p:sldId id="294" r:id="rId32"/>
    <p:sldId id="296" r:id="rId33"/>
    <p:sldId id="297" r:id="rId34"/>
    <p:sldId id="299" r:id="rId35"/>
    <p:sldId id="300" r:id="rId36"/>
    <p:sldId id="358" r:id="rId37"/>
    <p:sldId id="302" r:id="rId38"/>
    <p:sldId id="303" r:id="rId39"/>
    <p:sldId id="304" r:id="rId40"/>
    <p:sldId id="359" r:id="rId41"/>
    <p:sldId id="306" r:id="rId42"/>
    <p:sldId id="307" r:id="rId43"/>
    <p:sldId id="308" r:id="rId44"/>
    <p:sldId id="309" r:id="rId45"/>
    <p:sldId id="310" r:id="rId46"/>
    <p:sldId id="311" r:id="rId47"/>
    <p:sldId id="313" r:id="rId48"/>
    <p:sldId id="314" r:id="rId49"/>
    <p:sldId id="363" r:id="rId50"/>
    <p:sldId id="316" r:id="rId51"/>
    <p:sldId id="317" r:id="rId52"/>
    <p:sldId id="369" r:id="rId53"/>
    <p:sldId id="319" r:id="rId54"/>
    <p:sldId id="320" r:id="rId55"/>
    <p:sldId id="370" r:id="rId56"/>
    <p:sldId id="371" r:id="rId57"/>
    <p:sldId id="324" r:id="rId58"/>
    <p:sldId id="325" r:id="rId59"/>
    <p:sldId id="326" r:id="rId60"/>
    <p:sldId id="327" r:id="rId61"/>
    <p:sldId id="329" r:id="rId62"/>
    <p:sldId id="330" r:id="rId63"/>
    <p:sldId id="364" r:id="rId64"/>
    <p:sldId id="332" r:id="rId65"/>
    <p:sldId id="333" r:id="rId66"/>
    <p:sldId id="336" r:id="rId67"/>
    <p:sldId id="337" r:id="rId68"/>
    <p:sldId id="338" r:id="rId69"/>
    <p:sldId id="340" r:id="rId70"/>
    <p:sldId id="341" r:id="rId71"/>
    <p:sldId id="356" r:id="rId72"/>
    <p:sldId id="360" r:id="rId73"/>
    <p:sldId id="343" r:id="rId74"/>
    <p:sldId id="346" r:id="rId75"/>
    <p:sldId id="347" r:id="rId76"/>
    <p:sldId id="348" r:id="rId77"/>
    <p:sldId id="349" r:id="rId78"/>
    <p:sldId id="351" r:id="rId79"/>
    <p:sldId id="352" r:id="rId80"/>
    <p:sldId id="353" r:id="rId81"/>
    <p:sldId id="355" r:id="rId82"/>
  </p:sldIdLst>
  <p:sldSz cx="9144000" cy="6858000" type="screen4x3"/>
  <p:notesSz cx="6858000" cy="9144000"/>
  <p:custDataLst>
    <p:tags r:id="rId8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4" d="100"/>
          <a:sy n="74" d="100"/>
        </p:scale>
        <p:origin x="126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10/25/2017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01BA58-2951-486B-9DEE-A8699590E1A5}" type="slidenum">
              <a:rPr lang="en-US" smtClean="0"/>
              <a:pPr/>
              <a:t>15</a:t>
            </a:fld>
            <a:endParaRPr lang="en-US"/>
          </a:p>
        </p:txBody>
      </p:sp>
    </p:spTree>
    <p:extLst>
      <p:ext uri="{BB962C8B-B14F-4D97-AF65-F5344CB8AC3E}">
        <p14:creationId xmlns:p14="http://schemas.microsoft.com/office/powerpoint/2010/main" val="2609560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15454F-ECDB-4842-AF71-F9E8195E2EAE}" type="datetime1">
              <a:rPr lang="en-US" smtClean="0"/>
              <a:pPr/>
              <a:t>10/25/2017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60599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D5D7F-3933-4309-8034-0F93355438F7}" type="datetime1">
              <a:rPr lang="en-US" smtClean="0"/>
              <a:pPr/>
              <a:t>10/25/2017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916599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10/25/2017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718658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8CB9A4-23AA-4DC3-A257-AD75712A2865}" type="datetime1">
              <a:rPr lang="en-US" smtClean="0"/>
              <a:pPr/>
              <a:t>10/25/2017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706615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9D155C-674B-4796-BBC2-FCD13546F93B}" type="datetime1">
              <a:rPr lang="en-US" smtClean="0"/>
              <a:pPr/>
              <a:t>10/25/2017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636480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0BCA5-5AC7-4B00-85A8-8E2615460E4F}" type="datetime1">
              <a:rPr lang="en-US" smtClean="0"/>
              <a:pPr/>
              <a:t>10/25/2017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52422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10/25/2017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82126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10/25/2017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700611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10/25/2017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91081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03F265-EC92-4E3A-8B2F-17EA75E99940}" type="datetime1">
              <a:rPr lang="en-US" smtClean="0"/>
              <a:pPr/>
              <a:t>10/25/2017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714338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10B38-9655-43E1-BBFD-8C7DABE26029}" type="datetime1">
              <a:rPr lang="en-US" smtClean="0"/>
              <a:pPr/>
              <a:t>10/25/2017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20545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10/25/2017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smtClean="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4024587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dirty="0" smtClean="0"/>
              <a:t>Chapter 3 – Bacterial Cell Structure</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pic>
        <p:nvPicPr>
          <p:cNvPr id="7" name="Picture 2" descr="X:\Graphics\Powerpoint\MH_DCM\MH_DCM-TEXTEDIT PROJECTS\WILLEY_10e\Incoming\Wille10e17tlm_nm3.jpg"/>
          <p:cNvPicPr>
            <a:picLocks noGrp="1" noChangeAspect="1" noChangeArrowheads="1"/>
          </p:cNvPicPr>
          <p:nvPr>
            <p:ph idx="1"/>
          </p:nvPr>
        </p:nvPicPr>
        <p:blipFill>
          <a:blip r:embed="rId2" cstate="print"/>
          <a:srcRect/>
          <a:stretch>
            <a:fillRect/>
          </a:stretch>
        </p:blipFill>
        <p:spPr bwMode="auto">
          <a:xfrm>
            <a:off x="1981396" y="821829"/>
            <a:ext cx="4876603" cy="5924387"/>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3.1 Use of the term “prokaryote” is controversial</a:t>
            </a:r>
            <a:endParaRPr lang="en-US" dirty="0"/>
          </a:p>
        </p:txBody>
      </p:sp>
      <p:sp>
        <p:nvSpPr>
          <p:cNvPr id="3" name="Content Placeholder 2"/>
          <p:cNvSpPr>
            <a:spLocks noGrp="1"/>
          </p:cNvSpPr>
          <p:nvPr>
            <p:ph idx="1"/>
          </p:nvPr>
        </p:nvSpPr>
        <p:spPr>
          <a:xfrm>
            <a:off x="457200" y="1874837"/>
            <a:ext cx="8229600" cy="4525963"/>
          </a:xfrm>
        </p:spPr>
        <p:txBody>
          <a:bodyPr>
            <a:normAutofit/>
          </a:bodyPr>
          <a:lstStyle/>
          <a:p>
            <a:pPr marL="514350" indent="-514350">
              <a:buFont typeface="+mj-lt"/>
              <a:buAutoNum type="arabicPeriod"/>
            </a:pPr>
            <a:r>
              <a:rPr lang="en-US" dirty="0"/>
              <a:t>List the characteristics originally used to describe prokaryotic </a:t>
            </a:r>
            <a:r>
              <a:rPr lang="en-US" dirty="0" smtClean="0"/>
              <a:t>cells</a:t>
            </a:r>
          </a:p>
          <a:p>
            <a:pPr marL="514350" indent="-514350">
              <a:buFont typeface="+mj-lt"/>
              <a:buAutoNum type="arabicPeriod"/>
            </a:pPr>
            <a:endParaRPr lang="en-US" dirty="0"/>
          </a:p>
          <a:p>
            <a:pPr marL="514350" indent="-514350">
              <a:buFont typeface="+mj-lt"/>
              <a:buAutoNum type="arabicPeriod"/>
            </a:pPr>
            <a:r>
              <a:rPr lang="en-US" dirty="0"/>
              <a:t>Form an opinion on the “prokaryote” controversy using current evidence about bacterial </a:t>
            </a:r>
            <a:r>
              <a:rPr lang="en-US" dirty="0" smtClean="0"/>
              <a:t>cells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2235597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3.2 Bacteria are diverse but share some common </a:t>
            </a:r>
            <a:r>
              <a:rPr lang="en-US" dirty="0" smtClean="0"/>
              <a:t>features</a:t>
            </a:r>
            <a:endParaRPr lang="en-US" dirty="0"/>
          </a:p>
        </p:txBody>
      </p:sp>
      <p:sp>
        <p:nvSpPr>
          <p:cNvPr id="3" name="Content Placeholder 2"/>
          <p:cNvSpPr>
            <a:spLocks noGrp="1"/>
          </p:cNvSpPr>
          <p:nvPr>
            <p:ph idx="1"/>
          </p:nvPr>
        </p:nvSpPr>
        <p:spPr>
          <a:xfrm>
            <a:off x="457200" y="1951037"/>
            <a:ext cx="8229600" cy="4525963"/>
          </a:xfrm>
        </p:spPr>
        <p:txBody>
          <a:bodyPr>
            <a:normAutofit/>
          </a:bodyPr>
          <a:lstStyle/>
          <a:p>
            <a:pPr marL="514350" indent="-514350">
              <a:buFont typeface="+mj-lt"/>
              <a:buAutoNum type="arabicPeriod"/>
            </a:pPr>
            <a:r>
              <a:rPr lang="en-US" dirty="0"/>
              <a:t>Distinguish a typical bacterial cell from a typical plant or animal cell in terms of cell shapes and arrangements, size, and cell </a:t>
            </a:r>
            <a:r>
              <a:rPr lang="en-US" dirty="0" smtClean="0"/>
              <a:t>structures</a:t>
            </a:r>
          </a:p>
          <a:p>
            <a:pPr marL="514350" indent="-514350">
              <a:buFont typeface="+mj-lt"/>
              <a:buAutoNum type="arabicPeriod"/>
            </a:pPr>
            <a:endParaRPr lang="en-US" dirty="0"/>
          </a:p>
          <a:p>
            <a:pPr marL="514350" indent="-514350">
              <a:buFont typeface="+mj-lt"/>
              <a:buAutoNum type="arabicPeriod"/>
            </a:pPr>
            <a:r>
              <a:rPr lang="en-US" dirty="0"/>
              <a:t>Discuss the factors that determine the size and shape of a bacterial cell</a:t>
            </a:r>
            <a:r>
              <a:rPr lang="en-US" dirty="0" smtClean="0"/>
              <a:t>.</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1509468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Bacterial and Archaea Structure and Function</a:t>
            </a:r>
          </a:p>
        </p:txBody>
      </p:sp>
      <p:sp>
        <p:nvSpPr>
          <p:cNvPr id="3" name="Content Placeholder 2"/>
          <p:cNvSpPr>
            <a:spLocks noGrp="1"/>
          </p:cNvSpPr>
          <p:nvPr>
            <p:ph idx="1"/>
          </p:nvPr>
        </p:nvSpPr>
        <p:spPr>
          <a:xfrm>
            <a:off x="457200" y="1874837"/>
            <a:ext cx="8229600" cy="4525963"/>
          </a:xfrm>
        </p:spPr>
        <p:txBody>
          <a:bodyPr/>
          <a:lstStyle/>
          <a:p>
            <a:r>
              <a:rPr lang="en-US" dirty="0"/>
              <a:t>Prokaryotes differ from eukaryotes in size and </a:t>
            </a:r>
            <a:r>
              <a:rPr lang="en-US" dirty="0" smtClean="0"/>
              <a:t>simplicity</a:t>
            </a:r>
          </a:p>
          <a:p>
            <a:endParaRPr lang="en-US" dirty="0"/>
          </a:p>
          <a:p>
            <a:pPr lvl="1"/>
            <a:r>
              <a:rPr lang="en-US" dirty="0"/>
              <a:t>most lack internal membrane systems</a:t>
            </a:r>
          </a:p>
          <a:p>
            <a:pPr lvl="1"/>
            <a:r>
              <a:rPr lang="en-US" dirty="0"/>
              <a:t>term prokaryotes is becoming blurred</a:t>
            </a:r>
          </a:p>
          <a:p>
            <a:pPr lvl="1"/>
            <a:r>
              <a:rPr lang="en-US" dirty="0"/>
              <a:t>this text will use </a:t>
            </a:r>
            <a:r>
              <a:rPr lang="en-US" i="1" dirty="0"/>
              <a:t>Bacteria</a:t>
            </a:r>
            <a:r>
              <a:rPr lang="en-US" dirty="0"/>
              <a:t> and </a:t>
            </a:r>
            <a:r>
              <a:rPr lang="en-US" i="1" dirty="0"/>
              <a:t>Archaea</a:t>
            </a:r>
          </a:p>
          <a:p>
            <a:pPr lvl="1"/>
            <a:r>
              <a:rPr lang="en-US" dirty="0"/>
              <a:t>this chapter will cover </a:t>
            </a:r>
            <a:r>
              <a:rPr lang="en-US" i="1" dirty="0"/>
              <a:t>Bacteria</a:t>
            </a:r>
            <a:r>
              <a:rPr lang="en-US" dirty="0"/>
              <a:t> and their structures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304944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Size, Shape, and Arrangement</a:t>
            </a:r>
          </a:p>
        </p:txBody>
      </p:sp>
      <p:sp>
        <p:nvSpPr>
          <p:cNvPr id="3" name="Content Placeholder 2"/>
          <p:cNvSpPr>
            <a:spLocks noGrp="1"/>
          </p:cNvSpPr>
          <p:nvPr>
            <p:ph idx="1"/>
          </p:nvPr>
        </p:nvSpPr>
        <p:spPr>
          <a:xfrm>
            <a:off x="457200" y="1752600"/>
            <a:ext cx="8229600" cy="4525963"/>
          </a:xfrm>
        </p:spPr>
        <p:txBody>
          <a:bodyPr>
            <a:normAutofit lnSpcReduction="10000"/>
          </a:bodyPr>
          <a:lstStyle/>
          <a:p>
            <a:r>
              <a:rPr lang="en-US" dirty="0"/>
              <a:t>Shape </a:t>
            </a:r>
          </a:p>
          <a:p>
            <a:pPr lvl="1"/>
            <a:r>
              <a:rPr lang="en-US" dirty="0"/>
              <a:t>cocci and rods most common</a:t>
            </a:r>
          </a:p>
          <a:p>
            <a:pPr lvl="1"/>
            <a:r>
              <a:rPr lang="en-US" dirty="0"/>
              <a:t>various </a:t>
            </a:r>
            <a:r>
              <a:rPr lang="en-US" dirty="0" smtClean="0"/>
              <a:t>others</a:t>
            </a:r>
          </a:p>
          <a:p>
            <a:pPr marL="457200" lvl="1" indent="0">
              <a:buNone/>
            </a:pPr>
            <a:endParaRPr lang="en-US" dirty="0"/>
          </a:p>
          <a:p>
            <a:r>
              <a:rPr lang="en-US" dirty="0"/>
              <a:t>Arrangement</a:t>
            </a:r>
          </a:p>
          <a:p>
            <a:pPr lvl="1"/>
            <a:r>
              <a:rPr lang="en-US" dirty="0"/>
              <a:t>determined by plane of division</a:t>
            </a:r>
          </a:p>
          <a:p>
            <a:pPr lvl="1"/>
            <a:r>
              <a:rPr lang="en-US" dirty="0"/>
              <a:t>determined by separation or </a:t>
            </a:r>
            <a:r>
              <a:rPr lang="en-US" dirty="0" smtClean="0"/>
              <a:t>not</a:t>
            </a:r>
          </a:p>
          <a:p>
            <a:pPr marL="457200" lvl="1" indent="0">
              <a:buNone/>
            </a:pPr>
            <a:endParaRPr lang="en-US" dirty="0"/>
          </a:p>
          <a:p>
            <a:r>
              <a:rPr lang="en-US" dirty="0"/>
              <a:t>Size - varies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spTree>
    <p:extLst>
      <p:ext uri="{BB962C8B-B14F-4D97-AF65-F5344CB8AC3E}">
        <p14:creationId xmlns:p14="http://schemas.microsoft.com/office/powerpoint/2010/main" val="304944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smtClean="0"/>
              <a:t>Cocci Shape </a:t>
            </a:r>
            <a:r>
              <a:rPr lang="en-US" dirty="0"/>
              <a:t>and </a:t>
            </a:r>
            <a:r>
              <a:rPr lang="en-US" dirty="0" smtClean="0"/>
              <a:t>Arrangement</a:t>
            </a:r>
            <a:endParaRPr lang="en-US" dirty="0"/>
          </a:p>
        </p:txBody>
      </p:sp>
      <p:sp>
        <p:nvSpPr>
          <p:cNvPr id="7" name="Content Placeholder 6"/>
          <p:cNvSpPr>
            <a:spLocks noGrp="1"/>
          </p:cNvSpPr>
          <p:nvPr>
            <p:ph sz="half" idx="2"/>
          </p:nvPr>
        </p:nvSpPr>
        <p:spPr>
          <a:xfrm>
            <a:off x="152400" y="4038600"/>
            <a:ext cx="8763000" cy="2743200"/>
          </a:xfrm>
        </p:spPr>
        <p:txBody>
          <a:bodyPr>
            <a:normAutofit fontScale="92500" lnSpcReduction="10000"/>
          </a:bodyPr>
          <a:lstStyle/>
          <a:p>
            <a:r>
              <a:rPr lang="en-US" dirty="0" smtClean="0"/>
              <a:t>Cocci (s., coccus) – spheres</a:t>
            </a:r>
          </a:p>
          <a:p>
            <a:endParaRPr lang="en-US" dirty="0" smtClean="0"/>
          </a:p>
          <a:p>
            <a:pPr lvl="1"/>
            <a:r>
              <a:rPr lang="en-US" dirty="0" smtClean="0"/>
              <a:t>diplococci (s., diplococcus) – pairs</a:t>
            </a:r>
          </a:p>
          <a:p>
            <a:pPr lvl="1"/>
            <a:r>
              <a:rPr lang="en-US" dirty="0" smtClean="0"/>
              <a:t>streptococci – chains</a:t>
            </a:r>
          </a:p>
          <a:p>
            <a:pPr lvl="1"/>
            <a:r>
              <a:rPr lang="en-US" dirty="0" smtClean="0"/>
              <a:t>staphylococci – grape-like clusters</a:t>
            </a:r>
          </a:p>
          <a:p>
            <a:pPr lvl="1"/>
            <a:r>
              <a:rPr lang="en-US" dirty="0" smtClean="0"/>
              <a:t>tetrads – 4 cocci in a square</a:t>
            </a:r>
          </a:p>
          <a:p>
            <a:pPr lvl="1"/>
            <a:r>
              <a:rPr lang="en-US" dirty="0" err="1" smtClean="0"/>
              <a:t>sarcinae</a:t>
            </a:r>
            <a:r>
              <a:rPr lang="en-US" dirty="0" smtClean="0"/>
              <a:t> – cubic configuration of 8 cocci</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pic>
        <p:nvPicPr>
          <p:cNvPr id="8" name="Picture 2" descr="(Left) Streptococcus agalactiae, the cause of Group B streptococcal infections; color-enhanced scanning electron micrograph (×4,800 magnification). Streptococci are spheres in chains, like a string of pearls.&#10;(Center) Staphylococcus aureus; color-enhanced scanning electron micrograph.  Staphylococci are spheres in clusters, like grapes.&#10;(Right) Bacillus megaterium, Gram stain (×1,00 magnification).  The purple rods are in chains, end-to-end." title="Figure 3.1 Cocci and Rods Are the Most Common Bacterial Shapes."/>
          <p:cNvPicPr>
            <a:picLocks noGrp="1" noChangeAspect="1" noChangeArrowheads="1"/>
          </p:cNvPicPr>
          <p:nvPr>
            <p:ph sz="half" idx="1"/>
          </p:nvPr>
        </p:nvPicPr>
        <p:blipFill>
          <a:blip r:embed="rId2" cstate="print"/>
          <a:stretch>
            <a:fillRect/>
          </a:stretch>
        </p:blipFill>
        <p:spPr bwMode="auto">
          <a:xfrm>
            <a:off x="195779" y="914400"/>
            <a:ext cx="8795821" cy="2841595"/>
          </a:xfrm>
          <a:prstGeom prst="rect">
            <a:avLst/>
          </a:prstGeom>
          <a:noFill/>
        </p:spPr>
      </p:pic>
    </p:spTree>
    <p:extLst>
      <p:ext uri="{BB962C8B-B14F-4D97-AF65-F5344CB8AC3E}">
        <p14:creationId xmlns:p14="http://schemas.microsoft.com/office/powerpoint/2010/main" val="3049440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Other Shapes </a:t>
            </a:r>
            <a:r>
              <a:rPr lang="en-US" dirty="0"/>
              <a:t>and </a:t>
            </a:r>
            <a:r>
              <a:rPr lang="en-US" dirty="0" smtClean="0"/>
              <a:t>Arrangements</a:t>
            </a:r>
            <a:endParaRPr lang="en-US" dirty="0"/>
          </a:p>
        </p:txBody>
      </p:sp>
      <p:sp>
        <p:nvSpPr>
          <p:cNvPr id="6" name="Content Placeholder 5"/>
          <p:cNvSpPr>
            <a:spLocks noGrp="1"/>
          </p:cNvSpPr>
          <p:nvPr>
            <p:ph sz="half" idx="2"/>
          </p:nvPr>
        </p:nvSpPr>
        <p:spPr>
          <a:xfrm>
            <a:off x="5029200" y="1371600"/>
            <a:ext cx="4114800" cy="5257800"/>
          </a:xfrm>
        </p:spPr>
        <p:txBody>
          <a:bodyPr>
            <a:normAutofit fontScale="77500" lnSpcReduction="20000"/>
          </a:bodyPr>
          <a:lstStyle/>
          <a:p>
            <a:r>
              <a:rPr lang="en-US" dirty="0"/>
              <a:t>Bacilli (s., bacillus) – rods</a:t>
            </a:r>
          </a:p>
          <a:p>
            <a:pPr lvl="1"/>
            <a:r>
              <a:rPr lang="en-US" dirty="0" smtClean="0"/>
              <a:t>coccobacilli – very short rods</a:t>
            </a:r>
          </a:p>
          <a:p>
            <a:pPr lvl="1"/>
            <a:endParaRPr lang="en-US" dirty="0" smtClean="0"/>
          </a:p>
          <a:p>
            <a:r>
              <a:rPr lang="en-US" dirty="0"/>
              <a:t>Vibrios – resemble rods, comma shaped</a:t>
            </a:r>
          </a:p>
          <a:p>
            <a:endParaRPr lang="en-US" dirty="0"/>
          </a:p>
          <a:p>
            <a:r>
              <a:rPr lang="en-US" dirty="0" err="1"/>
              <a:t>Spirilla</a:t>
            </a:r>
            <a:r>
              <a:rPr lang="en-US" dirty="0"/>
              <a:t> (s., spirillum) – rigid helices</a:t>
            </a:r>
          </a:p>
          <a:p>
            <a:endParaRPr lang="en-US" dirty="0"/>
          </a:p>
          <a:p>
            <a:r>
              <a:rPr lang="en-US" dirty="0"/>
              <a:t>Spirochetes – flexible helices</a:t>
            </a:r>
          </a:p>
          <a:p>
            <a:endParaRPr lang="en-US" dirty="0"/>
          </a:p>
          <a:p>
            <a:r>
              <a:rPr lang="en-US" dirty="0"/>
              <a:t>Mycelium – network of long, multinucleate filaments</a:t>
            </a:r>
          </a:p>
          <a:p>
            <a:endParaRPr lang="en-US" dirty="0"/>
          </a:p>
          <a:p>
            <a:r>
              <a:rPr lang="en-US" dirty="0"/>
              <a:t>Pleomorphic – organisms that are variable in shape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pic>
        <p:nvPicPr>
          <p:cNvPr id="8" name="Picture 2" descr="(a) Scanning electron micrograph (SEM) of Vibrio vulnificus comma-shaped vibrios (x13,184). (b) SEM showing the spiral shape of Campylobacter jejuni. (c) Leptospira interrogans, the spirochete that causes the waterborne disease leptospirosis. (d) SEM of Caulobacter crescentus, a stalked bacterium. (e) SEM of Streptomyces sp., a filamentous bacterium. (f) Fruiting body of the myxobacterium Chondromyces crocatus.  The fruiting body is composed of thousands of cells." title="Figure 3.2 Other Cell Shapes and Aggregations."/>
          <p:cNvPicPr>
            <a:picLocks noGrp="1" noChangeAspect="1" noChangeArrowheads="1"/>
          </p:cNvPicPr>
          <p:nvPr>
            <p:ph sz="half" idx="1"/>
          </p:nvPr>
        </p:nvPicPr>
        <p:blipFill>
          <a:blip r:embed="rId2" cstate="print"/>
          <a:stretch>
            <a:fillRect/>
          </a:stretch>
        </p:blipFill>
        <p:spPr bwMode="auto">
          <a:xfrm>
            <a:off x="25032" y="1371600"/>
            <a:ext cx="5023201" cy="5105400"/>
          </a:xfrm>
          <a:prstGeom prst="rect">
            <a:avLst/>
          </a:prstGeom>
          <a:noFill/>
        </p:spPr>
      </p:pic>
    </p:spTree>
    <p:extLst>
      <p:ext uri="{BB962C8B-B14F-4D97-AF65-F5344CB8AC3E}">
        <p14:creationId xmlns:p14="http://schemas.microsoft.com/office/powerpoint/2010/main" val="304944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0" y="914400"/>
            <a:ext cx="3886200" cy="3352800"/>
          </a:xfrm>
        </p:spPr>
        <p:txBody>
          <a:bodyPr>
            <a:normAutofit fontScale="90000"/>
          </a:bodyPr>
          <a:lstStyle/>
          <a:p>
            <a:pPr marL="342900" lvl="0" indent="-342900">
              <a:spcBef>
                <a:spcPct val="20000"/>
              </a:spcBef>
            </a:pPr>
            <a:r>
              <a:rPr lang="en-US" dirty="0" smtClean="0"/>
              <a:t>Size</a:t>
            </a:r>
            <a:br>
              <a:rPr lang="en-US" dirty="0" smtClean="0"/>
            </a:br>
            <a:r>
              <a:rPr lang="en-US" sz="2800" dirty="0">
                <a:solidFill>
                  <a:prstClr val="black"/>
                </a:solidFill>
                <a:ea typeface="+mn-ea"/>
                <a:cs typeface="+mn-cs"/>
              </a:rPr>
              <a:t>Smallest – 0.3 </a:t>
            </a:r>
            <a:r>
              <a:rPr lang="el-GR" sz="2800" dirty="0">
                <a:solidFill>
                  <a:prstClr val="black"/>
                </a:solidFill>
                <a:ea typeface="+mn-ea"/>
                <a:cs typeface="Times New Roman" pitchFamily="18" charset="0"/>
              </a:rPr>
              <a:t>μ</a:t>
            </a:r>
            <a:r>
              <a:rPr lang="en-US" sz="2800" dirty="0">
                <a:solidFill>
                  <a:prstClr val="black"/>
                </a:solidFill>
                <a:ea typeface="+mn-ea"/>
                <a:cs typeface="Times New Roman" pitchFamily="18" charset="0"/>
              </a:rPr>
              <a:t>m</a:t>
            </a:r>
            <a:r>
              <a:rPr lang="en-US" sz="2800" dirty="0">
                <a:solidFill>
                  <a:prstClr val="black"/>
                </a:solidFill>
                <a:ea typeface="+mn-ea"/>
                <a:cs typeface="+mn-cs"/>
              </a:rPr>
              <a:t> (</a:t>
            </a:r>
            <a:r>
              <a:rPr lang="en-US" sz="2800" i="1" dirty="0">
                <a:solidFill>
                  <a:prstClr val="black"/>
                </a:solidFill>
                <a:ea typeface="+mn-ea"/>
                <a:cs typeface="+mn-cs"/>
              </a:rPr>
              <a:t>Mycoplasma</a:t>
            </a:r>
            <a:r>
              <a:rPr lang="en-US" sz="2800" dirty="0">
                <a:solidFill>
                  <a:prstClr val="black"/>
                </a:solidFill>
                <a:ea typeface="+mn-ea"/>
                <a:cs typeface="+mn-cs"/>
              </a:rPr>
              <a:t>)</a:t>
            </a:r>
            <a:br>
              <a:rPr lang="en-US" sz="2800" dirty="0">
                <a:solidFill>
                  <a:prstClr val="black"/>
                </a:solidFill>
                <a:ea typeface="+mn-ea"/>
                <a:cs typeface="+mn-cs"/>
              </a:rPr>
            </a:br>
            <a:r>
              <a:rPr lang="en-US" sz="2800" dirty="0">
                <a:solidFill>
                  <a:prstClr val="black"/>
                </a:solidFill>
                <a:ea typeface="+mn-ea"/>
                <a:cs typeface="+mn-cs"/>
              </a:rPr>
              <a:t/>
            </a:r>
            <a:br>
              <a:rPr lang="en-US" sz="2800" dirty="0">
                <a:solidFill>
                  <a:prstClr val="black"/>
                </a:solidFill>
                <a:ea typeface="+mn-ea"/>
                <a:cs typeface="+mn-cs"/>
              </a:rPr>
            </a:br>
            <a:r>
              <a:rPr lang="en-US" sz="2800" dirty="0">
                <a:solidFill>
                  <a:prstClr val="black"/>
                </a:solidFill>
                <a:ea typeface="+mn-ea"/>
                <a:cs typeface="+mn-cs"/>
              </a:rPr>
              <a:t>Average rod – 1.1 - 1.5 x 2 – 6 </a:t>
            </a:r>
            <a:r>
              <a:rPr lang="el-GR" sz="2800" dirty="0">
                <a:solidFill>
                  <a:prstClr val="black"/>
                </a:solidFill>
                <a:ea typeface="+mn-ea"/>
                <a:cs typeface="Times New Roman" pitchFamily="18" charset="0"/>
              </a:rPr>
              <a:t>μ</a:t>
            </a:r>
            <a:r>
              <a:rPr lang="en-US" sz="2800" dirty="0">
                <a:solidFill>
                  <a:prstClr val="black"/>
                </a:solidFill>
                <a:ea typeface="+mn-ea"/>
                <a:cs typeface="Times New Roman" pitchFamily="18" charset="0"/>
              </a:rPr>
              <a:t>m   (</a:t>
            </a:r>
            <a:r>
              <a:rPr lang="en-US" sz="2800" i="1" dirty="0">
                <a:solidFill>
                  <a:prstClr val="black"/>
                </a:solidFill>
                <a:ea typeface="+mn-ea"/>
                <a:cs typeface="Times New Roman" pitchFamily="18" charset="0"/>
              </a:rPr>
              <a:t>E. coli</a:t>
            </a:r>
            <a:r>
              <a:rPr lang="en-US" sz="2800" dirty="0">
                <a:solidFill>
                  <a:prstClr val="black"/>
                </a:solidFill>
                <a:ea typeface="+mn-ea"/>
                <a:cs typeface="Times New Roman" pitchFamily="18" charset="0"/>
              </a:rPr>
              <a:t>)</a:t>
            </a:r>
            <a:br>
              <a:rPr lang="en-US" sz="2800" dirty="0">
                <a:solidFill>
                  <a:prstClr val="black"/>
                </a:solidFill>
                <a:ea typeface="+mn-ea"/>
                <a:cs typeface="Times New Roman" pitchFamily="18" charset="0"/>
              </a:rPr>
            </a:br>
            <a:r>
              <a:rPr lang="en-US" sz="2800" dirty="0">
                <a:solidFill>
                  <a:prstClr val="black"/>
                </a:solidFill>
                <a:ea typeface="+mn-ea"/>
                <a:cs typeface="Times New Roman" pitchFamily="18" charset="0"/>
              </a:rPr>
              <a:t/>
            </a:r>
            <a:br>
              <a:rPr lang="en-US" sz="2800" dirty="0">
                <a:solidFill>
                  <a:prstClr val="black"/>
                </a:solidFill>
                <a:ea typeface="+mn-ea"/>
                <a:cs typeface="Times New Roman" pitchFamily="18" charset="0"/>
              </a:rPr>
            </a:br>
            <a:r>
              <a:rPr lang="en-US" sz="2800" dirty="0">
                <a:solidFill>
                  <a:prstClr val="black"/>
                </a:solidFill>
                <a:ea typeface="+mn-ea"/>
                <a:cs typeface="Times New Roman" pitchFamily="18" charset="0"/>
              </a:rPr>
              <a:t>Very large – 600 x 80 </a:t>
            </a:r>
            <a:r>
              <a:rPr lang="el-GR" sz="2800" dirty="0">
                <a:solidFill>
                  <a:prstClr val="black"/>
                </a:solidFill>
                <a:ea typeface="+mn-ea"/>
                <a:cs typeface="Times New Roman" pitchFamily="18" charset="0"/>
              </a:rPr>
              <a:t>μ</a:t>
            </a:r>
            <a:r>
              <a:rPr lang="en-US" sz="2800" dirty="0">
                <a:solidFill>
                  <a:prstClr val="black"/>
                </a:solidFill>
                <a:ea typeface="+mn-ea"/>
                <a:cs typeface="Times New Roman" pitchFamily="18" charset="0"/>
              </a:rPr>
              <a:t>m </a:t>
            </a:r>
            <a:r>
              <a:rPr lang="en-US" sz="2800" i="1" dirty="0" err="1">
                <a:solidFill>
                  <a:prstClr val="black"/>
                </a:solidFill>
                <a:ea typeface="+mn-ea"/>
                <a:cs typeface="Times New Roman" pitchFamily="18" charset="0"/>
              </a:rPr>
              <a:t>Epulopiscium</a:t>
            </a:r>
            <a:r>
              <a:rPr lang="en-US" sz="2800" i="1" dirty="0">
                <a:solidFill>
                  <a:prstClr val="black"/>
                </a:solidFill>
                <a:ea typeface="+mn-ea"/>
                <a:cs typeface="Times New Roman" pitchFamily="18" charset="0"/>
              </a:rPr>
              <a:t> </a:t>
            </a:r>
            <a:r>
              <a:rPr lang="en-US" sz="2800" i="1" dirty="0" err="1">
                <a:solidFill>
                  <a:prstClr val="black"/>
                </a:solidFill>
                <a:ea typeface="+mn-ea"/>
                <a:cs typeface="Times New Roman" pitchFamily="18" charset="0"/>
              </a:rPr>
              <a:t>fishelsoni</a:t>
            </a:r>
            <a:r>
              <a:rPr lang="en-US" sz="2800" i="1" dirty="0">
                <a:solidFill>
                  <a:prstClr val="black"/>
                </a:solidFill>
                <a:ea typeface="+mn-ea"/>
                <a:cs typeface="Times New Roman" pitchFamily="18" charset="0"/>
              </a:rPr>
              <a:t> </a:t>
            </a:r>
            <a:br>
              <a:rPr lang="en-US" sz="2800" i="1" dirty="0">
                <a:solidFill>
                  <a:prstClr val="black"/>
                </a:solidFill>
                <a:ea typeface="+mn-ea"/>
                <a:cs typeface="Times New Roman" pitchFamily="18" charset="0"/>
              </a:rPr>
            </a:br>
            <a:r>
              <a:rPr lang="en-US" dirty="0" smtClean="0"/>
              <a:t/>
            </a:r>
            <a:br>
              <a:rPr lang="en-US" dirty="0" smtClean="0"/>
            </a:br>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8</a:t>
            </a:fld>
            <a:endParaRPr lang="en-US"/>
          </a:p>
        </p:txBody>
      </p:sp>
      <p:pic>
        <p:nvPicPr>
          <p:cNvPr id="7" name="Picture 7" descr="This figure illustrates the sizes of some common bacteria compared to red blood cells and viruses.  Red blood cells are approximately 7,000 nm in diameter.  E. coli are 1,300 x 4,000 nm (rod-shaped).  Streptococcus are 800-1,000 nm in diameter.  Poxvirus is 230 x 320 nm.  Influenza virus is 85 nm in diameter.  T2 E. coli bacteriophage is 65 x 95 nm. Tobacco mosaic virus is 15 x 300 nm.  Amd Poliomyelitis virus is 27 nm in diameter.&#10;Recall that 1,000 nm = 1 μm. Thus E. coli is 1.3 × 4 μm." title="Figure 3.3 Sizes of Bacteria Relative to a Red Blood Cell and Viruses."/>
          <p:cNvPicPr>
            <a:picLocks noGrp="1" noChangeAspect="1" noChangeArrowheads="1"/>
          </p:cNvPicPr>
          <p:nvPr>
            <p:ph sz="half" idx="1"/>
          </p:nvPr>
        </p:nvPicPr>
        <p:blipFill>
          <a:blip r:embed="rId2" cstate="print"/>
          <a:stretch>
            <a:fillRect/>
          </a:stretch>
        </p:blipFill>
        <p:spPr bwMode="auto">
          <a:xfrm>
            <a:off x="97357" y="914399"/>
            <a:ext cx="5312843" cy="53937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his photograph shows Epulopiscium fishelsoni dwarfing the paramecia, which are protozoa.  E. fishelsoni cells are about 0.53 nm long." title="Figure 3.4 A Giant Bacterium."/>
          <p:cNvPicPr>
            <a:picLocks noGrp="1" noChangeAspect="1" noChangeArrowheads="1"/>
          </p:cNvPicPr>
          <p:nvPr>
            <p:ph sz="half" idx="2"/>
          </p:nvPr>
        </p:nvPicPr>
        <p:blipFill>
          <a:blip r:embed="rId3" cstate="print"/>
          <a:srcRect/>
          <a:stretch>
            <a:fillRect/>
          </a:stretch>
        </p:blipFill>
        <p:spPr bwMode="auto">
          <a:xfrm>
            <a:off x="5329876" y="4114800"/>
            <a:ext cx="3690980" cy="2667000"/>
          </a:xfrm>
          <a:prstGeom prst="rect">
            <a:avLst/>
          </a:prstGeom>
          <a:noFill/>
        </p:spPr>
      </p:pic>
    </p:spTree>
    <p:extLst>
      <p:ext uri="{BB962C8B-B14F-4D97-AF65-F5344CB8AC3E}">
        <p14:creationId xmlns:p14="http://schemas.microsoft.com/office/powerpoint/2010/main" val="2508420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a:t>Size – Shape Relationship</a:t>
            </a:r>
          </a:p>
        </p:txBody>
      </p:sp>
      <p:sp>
        <p:nvSpPr>
          <p:cNvPr id="6" name="Content Placeholder 5"/>
          <p:cNvSpPr>
            <a:spLocks noGrp="1"/>
          </p:cNvSpPr>
          <p:nvPr>
            <p:ph sz="half" idx="1"/>
          </p:nvPr>
        </p:nvSpPr>
        <p:spPr>
          <a:xfrm>
            <a:off x="152400" y="838200"/>
            <a:ext cx="8839200" cy="1676400"/>
          </a:xfrm>
        </p:spPr>
        <p:txBody>
          <a:bodyPr>
            <a:normAutofit/>
          </a:bodyPr>
          <a:lstStyle/>
          <a:p>
            <a:pPr>
              <a:lnSpc>
                <a:spcPct val="110000"/>
              </a:lnSpc>
            </a:pPr>
            <a:r>
              <a:rPr lang="en-US" dirty="0" smtClean="0"/>
              <a:t>Important for nutrient uptake</a:t>
            </a:r>
          </a:p>
          <a:p>
            <a:pPr>
              <a:lnSpc>
                <a:spcPct val="110000"/>
              </a:lnSpc>
            </a:pPr>
            <a:r>
              <a:rPr lang="en-US" dirty="0" smtClean="0"/>
              <a:t>Surface to volume ratio (S/V)</a:t>
            </a:r>
          </a:p>
          <a:p>
            <a:pPr>
              <a:lnSpc>
                <a:spcPct val="110000"/>
              </a:lnSpc>
            </a:pPr>
            <a:r>
              <a:rPr lang="en-US" dirty="0" smtClean="0"/>
              <a:t>Small size may be protective mechanism from predation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pic>
        <p:nvPicPr>
          <p:cNvPr id="8" name="Content Placeholder 7" descr="Surface area is calculated by the formula 4πr2. Volume is calculated by the formula 4/3πr3. Shape also affects the S/V ratio; rods with the same diameter as a coccus have a greater S/V ratio.&#10;This figure illustrates two examples. 1) r = 1 mm, surface area = 12.6 mm^2, and volume = 4.2 mm^3.  The surface to volume ratio is 3 (12.6 divided by 4.2).  2) r = 2 mm, surface area = 50.3 mm^2, and volume = 33.5 mm^3.  The surface to volume ratio is 1.5 (50.3 divided by 33.5)." title="Figure 3.5 The Surface-to-Volume Ratio is an Important Determinant of Cell Size."/>
          <p:cNvPicPr>
            <a:picLocks noGrp="1" noChangeAspect="1" noChangeArrowheads="1"/>
          </p:cNvPicPr>
          <p:nvPr>
            <p:ph sz="half" idx="2"/>
          </p:nvPr>
        </p:nvPicPr>
        <p:blipFill>
          <a:blip r:embed="rId2" cstate="print"/>
          <a:stretch>
            <a:fillRect/>
          </a:stretch>
        </p:blipFill>
        <p:spPr bwMode="auto">
          <a:xfrm>
            <a:off x="1319258" y="2590800"/>
            <a:ext cx="6346742"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440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This figure is a cutaway view of a typical rod-shaped bacterium, showing major structural features.  Fimbriae, fine, hairlike bristles extend from the cell surface in all directions and help in adhesion to other cells and surfaces.  On one end is a tail-like appendage called a flagellum, whose movement pushes the cell forward and provides motility.&#10;From the outside of the cell moving in there is a capsule layer, a cell wall, and a plasma membrane.  (These will each be covered in detail later in the PowerPoint.)" title="Figure 3.6 Structure of a Bacterial Cell."/>
          <p:cNvPicPr>
            <a:picLocks noGrp="1" noChangeAspect="1" noChangeArrowheads="1"/>
          </p:cNvPicPr>
          <p:nvPr>
            <p:ph sz="half" idx="2"/>
          </p:nvPr>
        </p:nvPicPr>
        <p:blipFill>
          <a:blip r:embed="rId2" cstate="print"/>
          <a:stretch>
            <a:fillRect/>
          </a:stretch>
        </p:blipFill>
        <p:spPr bwMode="auto">
          <a:xfrm>
            <a:off x="4630358" y="152400"/>
            <a:ext cx="4515702" cy="345095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228600"/>
            <a:ext cx="5029200" cy="3276600"/>
          </a:xfrm>
        </p:spPr>
        <p:txBody>
          <a:bodyPr>
            <a:noAutofit/>
          </a:bodyPr>
          <a:lstStyle/>
          <a:p>
            <a:pPr lvl="0">
              <a:lnSpc>
                <a:spcPct val="90000"/>
              </a:lnSpc>
              <a:spcBef>
                <a:spcPct val="20000"/>
              </a:spcBef>
            </a:pPr>
            <a:r>
              <a:rPr lang="en-US" sz="3600" dirty="0" smtClean="0"/>
              <a:t>Bacterial Cell Organization – Common Features</a:t>
            </a:r>
            <a:br>
              <a:rPr lang="en-US" sz="3600" dirty="0" smtClean="0"/>
            </a:br>
            <a:r>
              <a:rPr lang="en-US" sz="3600" dirty="0" smtClean="0"/>
              <a:t/>
            </a:r>
            <a:br>
              <a:rPr lang="en-US" sz="3600" dirty="0" smtClean="0"/>
            </a:br>
            <a:r>
              <a:rPr lang="en-US" sz="3600" dirty="0" smtClean="0"/>
              <a:t>-</a:t>
            </a:r>
            <a:r>
              <a:rPr lang="en-US" sz="3000" dirty="0" smtClean="0">
                <a:solidFill>
                  <a:prstClr val="black"/>
                </a:solidFill>
                <a:ea typeface="+mn-ea"/>
                <a:cs typeface="+mn-cs"/>
              </a:rPr>
              <a:t>Cell </a:t>
            </a:r>
            <a:r>
              <a:rPr lang="en-US" sz="3000" dirty="0">
                <a:solidFill>
                  <a:prstClr val="black"/>
                </a:solidFill>
                <a:ea typeface="+mn-ea"/>
                <a:cs typeface="+mn-cs"/>
              </a:rPr>
              <a:t>envelope – 3 layers</a:t>
            </a:r>
            <a:br>
              <a:rPr lang="en-US" sz="3000" dirty="0">
                <a:solidFill>
                  <a:prstClr val="black"/>
                </a:solidFill>
                <a:ea typeface="+mn-ea"/>
                <a:cs typeface="+mn-cs"/>
              </a:rPr>
            </a:br>
            <a:r>
              <a:rPr lang="en-US" sz="3000" dirty="0" smtClean="0">
                <a:solidFill>
                  <a:prstClr val="black"/>
                </a:solidFill>
                <a:ea typeface="+mn-ea"/>
                <a:cs typeface="+mn-cs"/>
              </a:rPr>
              <a:t>-Cytoplasm</a:t>
            </a:r>
            <a:r>
              <a:rPr lang="en-US" sz="3000" dirty="0">
                <a:solidFill>
                  <a:prstClr val="black"/>
                </a:solidFill>
                <a:ea typeface="+mn-ea"/>
                <a:cs typeface="+mn-cs"/>
              </a:rPr>
              <a:t/>
            </a:r>
            <a:br>
              <a:rPr lang="en-US" sz="3000" dirty="0">
                <a:solidFill>
                  <a:prstClr val="black"/>
                </a:solidFill>
                <a:ea typeface="+mn-ea"/>
                <a:cs typeface="+mn-cs"/>
              </a:rPr>
            </a:br>
            <a:r>
              <a:rPr lang="en-US" sz="3000" dirty="0" smtClean="0">
                <a:solidFill>
                  <a:prstClr val="black"/>
                </a:solidFill>
                <a:ea typeface="+mn-ea"/>
                <a:cs typeface="+mn-cs"/>
              </a:rPr>
              <a:t>-External </a:t>
            </a:r>
            <a:r>
              <a:rPr lang="en-US" sz="3000" dirty="0">
                <a:solidFill>
                  <a:prstClr val="black"/>
                </a:solidFill>
                <a:ea typeface="+mn-ea"/>
                <a:cs typeface="+mn-cs"/>
              </a:rPr>
              <a:t>structures</a:t>
            </a:r>
            <a:r>
              <a:rPr lang="en-US" sz="3200" dirty="0">
                <a:solidFill>
                  <a:prstClr val="black"/>
                </a:solidFill>
                <a:ea typeface="+mn-ea"/>
                <a:cs typeface="+mn-cs"/>
              </a:rPr>
              <a:t/>
            </a:r>
            <a:br>
              <a:rPr lang="en-US" sz="3200" dirty="0">
                <a:solidFill>
                  <a:prstClr val="black"/>
                </a:solidFill>
                <a:ea typeface="+mn-ea"/>
                <a:cs typeface="+mn-cs"/>
              </a:rPr>
            </a:br>
            <a:endParaRPr lang="en-US" sz="3200"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10</a:t>
            </a:fld>
            <a:endParaRPr lang="en-US"/>
          </a:p>
        </p:txBody>
      </p:sp>
      <p:pic>
        <p:nvPicPr>
          <p:cNvPr id="7" name="Picture 7" descr="Plasma membrane - Selectively permeable barrier, mechanical boundary of cell, nutrient and waste transport, location of many metabolic processes (respiration, photosynthesis), detection of environmental cues for chemotaxis&#10;Gas vacuole - An inclusion that provides buoyancy for floating in aquatic environments&#10;Ribosomes - Protein synthesis&#10;Inclusions - Storage of carbon, phosphate, and other substances&#10;Nucleoid - Localization of genetic material (DNA)&#10;Periplasmic space - In typical Gram-negative bacteria, contains hydrolytic enzymes and binding proteins for nutrient processing and uptake; in typical Gram-positive bacteria, may be smaller or absent&#10;Cell wall - Protection from osmotic stress, helps maintain cell shape&#10;Capsules and slime layers - Resistance to phagocytosis, adherence to surfaces&#10;Fimbriae and pili - Attachment to surfaces, bacterial conjugation and transformation, twitching and gliding motility&#10;Flagella - Swimming and swarming motility&#10;Endospore - Survival under harsh environmental conditions" title="Table 3.1 Common Bacterial Structures and Their Functions"/>
          <p:cNvPicPr>
            <a:picLocks noGrp="1" noChangeAspect="1" noChangeArrowheads="1"/>
          </p:cNvPicPr>
          <p:nvPr>
            <p:ph sz="half" idx="1"/>
          </p:nvPr>
        </p:nvPicPr>
        <p:blipFill>
          <a:blip r:embed="rId3" cstate="print"/>
          <a:stretch>
            <a:fillRect/>
          </a:stretch>
        </p:blipFill>
        <p:spPr bwMode="auto">
          <a:xfrm>
            <a:off x="32523" y="3657600"/>
            <a:ext cx="5662344"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421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3.3 Bacterial </a:t>
            </a:r>
            <a:r>
              <a:rPr lang="en-US" dirty="0" smtClean="0"/>
              <a:t>plasma </a:t>
            </a:r>
            <a:r>
              <a:rPr lang="en-US" dirty="0"/>
              <a:t>m</a:t>
            </a:r>
            <a:r>
              <a:rPr lang="en-US" dirty="0" smtClean="0"/>
              <a:t>embranes control what enters and leaves the cell</a:t>
            </a:r>
            <a:endParaRPr lang="en-US" dirty="0"/>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pPr marL="514350" indent="-514350">
              <a:buFont typeface="+mj-lt"/>
              <a:buAutoNum type="arabicPeriod"/>
            </a:pPr>
            <a:r>
              <a:rPr lang="en-US" dirty="0"/>
              <a:t>Describe the fluid mosaic model of membrane structure and identify the types of lipids typically found in bacterial membranes</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Distinguish </a:t>
            </a:r>
            <a:r>
              <a:rPr lang="en-US" dirty="0" err="1"/>
              <a:t>macroelements</a:t>
            </a:r>
            <a:r>
              <a:rPr lang="en-US" dirty="0"/>
              <a:t> (macronutrients) from micronutrients (trace elements) and provide examples of each</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Provide examples of growth factors needed by some microorganisms</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Compare and contrast passive diffusion, facilitated diffusion, active transport, and group translocation, and provide examples of each</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Discuss the difficulty of iron uptake and describe how bacteria overcome this difficulty.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spTree>
    <p:extLst>
      <p:ext uri="{BB962C8B-B14F-4D97-AF65-F5344CB8AC3E}">
        <p14:creationId xmlns:p14="http://schemas.microsoft.com/office/powerpoint/2010/main" val="2162895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Bacterial Cell Envelope</a:t>
            </a:r>
          </a:p>
        </p:txBody>
      </p:sp>
      <p:sp>
        <p:nvSpPr>
          <p:cNvPr id="3" name="Content Placeholder 2"/>
          <p:cNvSpPr>
            <a:spLocks noGrp="1"/>
          </p:cNvSpPr>
          <p:nvPr>
            <p:ph idx="1"/>
          </p:nvPr>
        </p:nvSpPr>
        <p:spPr/>
        <p:txBody>
          <a:bodyPr/>
          <a:lstStyle/>
          <a:p>
            <a:pPr marL="0" lvl="2"/>
            <a:r>
              <a:rPr lang="en-US" sz="2800" dirty="0"/>
              <a:t>Plasma </a:t>
            </a:r>
            <a:r>
              <a:rPr lang="en-US" sz="2800" dirty="0" smtClean="0"/>
              <a:t>membrane</a:t>
            </a:r>
          </a:p>
          <a:p>
            <a:pPr marL="0" lvl="2" indent="0">
              <a:buNone/>
            </a:pPr>
            <a:endParaRPr lang="en-US" sz="2800" dirty="0"/>
          </a:p>
          <a:p>
            <a:pPr marL="0" lvl="2"/>
            <a:r>
              <a:rPr lang="en-US" sz="2800" dirty="0"/>
              <a:t>Cell </a:t>
            </a:r>
            <a:r>
              <a:rPr lang="en-US" sz="2800" dirty="0" smtClean="0"/>
              <a:t>wall</a:t>
            </a:r>
          </a:p>
          <a:p>
            <a:pPr marL="0" lvl="2" indent="0">
              <a:buNone/>
            </a:pPr>
            <a:endParaRPr lang="en-US" sz="2800" dirty="0"/>
          </a:p>
          <a:p>
            <a:pPr marL="0" lvl="2"/>
            <a:r>
              <a:rPr lang="en-US" sz="2800" dirty="0"/>
              <a:t>Layers outside the cell wall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279021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638"/>
            <a:ext cx="8229600" cy="868362"/>
          </a:xfrm>
        </p:spPr>
        <p:txBody>
          <a:bodyPr>
            <a:normAutofit fontScale="90000"/>
          </a:bodyPr>
          <a:lstStyle/>
          <a:p>
            <a:r>
              <a:rPr lang="en-US" dirty="0" smtClean="0"/>
              <a:t>Plasma Membrane Functions</a:t>
            </a:r>
            <a:br>
              <a:rPr lang="en-US" dirty="0" smtClean="0"/>
            </a:br>
            <a:endParaRPr lang="en-US" dirty="0"/>
          </a:p>
        </p:txBody>
      </p:sp>
      <p:sp>
        <p:nvSpPr>
          <p:cNvPr id="8" name="Content Placeholder 7"/>
          <p:cNvSpPr>
            <a:spLocks noGrp="1"/>
          </p:cNvSpPr>
          <p:nvPr>
            <p:ph idx="1"/>
          </p:nvPr>
        </p:nvSpPr>
        <p:spPr>
          <a:xfrm>
            <a:off x="457200" y="1066800"/>
            <a:ext cx="8229600" cy="5638800"/>
          </a:xfrm>
        </p:spPr>
        <p:txBody>
          <a:bodyPr>
            <a:normAutofit lnSpcReduction="10000"/>
          </a:bodyPr>
          <a:lstStyle/>
          <a:p>
            <a:r>
              <a:rPr lang="en-US" dirty="0" smtClean="0"/>
              <a:t>Encompasses the cytoplasm; absolute requirement for all living organisms </a:t>
            </a:r>
          </a:p>
          <a:p>
            <a:endParaRPr lang="en-US" dirty="0" smtClean="0"/>
          </a:p>
          <a:p>
            <a:r>
              <a:rPr lang="en-US" dirty="0" smtClean="0"/>
              <a:t>Selectively permeable barrier</a:t>
            </a:r>
          </a:p>
          <a:p>
            <a:endParaRPr lang="en-US" dirty="0" smtClean="0"/>
          </a:p>
          <a:p>
            <a:r>
              <a:rPr lang="en-US" dirty="0" smtClean="0"/>
              <a:t>Interacts with external environment</a:t>
            </a:r>
          </a:p>
          <a:p>
            <a:endParaRPr lang="en-US" dirty="0" smtClean="0"/>
          </a:p>
          <a:p>
            <a:pPr lvl="1"/>
            <a:r>
              <a:rPr lang="en-US" dirty="0" smtClean="0"/>
              <a:t>receptors for detection of and response to chemicals in surroundings</a:t>
            </a:r>
          </a:p>
          <a:p>
            <a:pPr lvl="1"/>
            <a:r>
              <a:rPr lang="en-US" dirty="0" smtClean="0"/>
              <a:t>transport systems</a:t>
            </a:r>
          </a:p>
          <a:p>
            <a:pPr lvl="1"/>
            <a:r>
              <a:rPr lang="en-US" dirty="0" smtClean="0"/>
              <a:t>metabolic processes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spTree>
    <p:extLst>
      <p:ext uri="{BB962C8B-B14F-4D97-AF65-F5344CB8AC3E}">
        <p14:creationId xmlns:p14="http://schemas.microsoft.com/office/powerpoint/2010/main" val="4077697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Fluid Mosaic Model of Membrane Structure</a:t>
            </a:r>
            <a:endParaRPr lang="en-US" dirty="0"/>
          </a:p>
        </p:txBody>
      </p:sp>
      <p:sp>
        <p:nvSpPr>
          <p:cNvPr id="3" name="Content Placeholder 2"/>
          <p:cNvSpPr>
            <a:spLocks noGrp="1"/>
          </p:cNvSpPr>
          <p:nvPr>
            <p:ph sz="half" idx="1"/>
          </p:nvPr>
        </p:nvSpPr>
        <p:spPr>
          <a:xfrm>
            <a:off x="0" y="1524000"/>
            <a:ext cx="4572000" cy="5334000"/>
          </a:xfrm>
        </p:spPr>
        <p:txBody>
          <a:bodyPr>
            <a:normAutofit fontScale="92500" lnSpcReduction="20000"/>
          </a:bodyPr>
          <a:lstStyle/>
          <a:p>
            <a:r>
              <a:rPr lang="en-US" dirty="0" smtClean="0">
                <a:solidFill>
                  <a:srgbClr val="000000"/>
                </a:solidFill>
              </a:rPr>
              <a:t>Lipid bilayers with floating proteins</a:t>
            </a:r>
          </a:p>
          <a:p>
            <a:pPr lvl="1"/>
            <a:r>
              <a:rPr lang="en-US" dirty="0" smtClean="0">
                <a:solidFill>
                  <a:srgbClr val="000000"/>
                </a:solidFill>
              </a:rPr>
              <a:t>amphipathic lipids </a:t>
            </a:r>
          </a:p>
          <a:p>
            <a:pPr lvl="2"/>
            <a:r>
              <a:rPr lang="en-US" sz="2400" dirty="0" smtClean="0">
                <a:solidFill>
                  <a:srgbClr val="000000"/>
                </a:solidFill>
              </a:rPr>
              <a:t>polar ends (hydrophilic – interact with water) </a:t>
            </a:r>
          </a:p>
          <a:p>
            <a:pPr lvl="2"/>
            <a:r>
              <a:rPr lang="en-US" sz="2400" dirty="0" smtClean="0">
                <a:solidFill>
                  <a:srgbClr val="000000"/>
                </a:solidFill>
              </a:rPr>
              <a:t>non-polar tails (hydrophobic – insoluble in water)</a:t>
            </a:r>
          </a:p>
          <a:p>
            <a:pPr lvl="2"/>
            <a:endParaRPr lang="en-US" sz="2400" dirty="0" smtClean="0">
              <a:solidFill>
                <a:srgbClr val="000000"/>
              </a:solidFill>
            </a:endParaRPr>
          </a:p>
          <a:p>
            <a:pPr lvl="1"/>
            <a:r>
              <a:rPr lang="en-US" dirty="0" smtClean="0">
                <a:solidFill>
                  <a:srgbClr val="000000"/>
                </a:solidFill>
              </a:rPr>
              <a:t>membrane proteins</a:t>
            </a:r>
          </a:p>
          <a:p>
            <a:pPr lvl="2">
              <a:lnSpc>
                <a:spcPct val="90000"/>
              </a:lnSpc>
            </a:pPr>
            <a:r>
              <a:rPr lang="en-US" dirty="0" smtClean="0">
                <a:solidFill>
                  <a:srgbClr val="000000"/>
                </a:solidFill>
              </a:rPr>
              <a:t>peripheral </a:t>
            </a:r>
          </a:p>
          <a:p>
            <a:pPr lvl="3">
              <a:lnSpc>
                <a:spcPct val="90000"/>
              </a:lnSpc>
            </a:pPr>
            <a:r>
              <a:rPr lang="en-US" sz="1700" dirty="0" smtClean="0">
                <a:solidFill>
                  <a:srgbClr val="000000"/>
                </a:solidFill>
              </a:rPr>
              <a:t>loosely connected to </a:t>
            </a:r>
          </a:p>
          <a:p>
            <a:pPr marL="1371600" lvl="3" indent="0">
              <a:lnSpc>
                <a:spcPct val="90000"/>
              </a:lnSpc>
              <a:buNone/>
            </a:pPr>
            <a:r>
              <a:rPr lang="en-US" sz="1700" dirty="0" smtClean="0">
                <a:solidFill>
                  <a:srgbClr val="000000"/>
                </a:solidFill>
              </a:rPr>
              <a:t>   membrane</a:t>
            </a:r>
          </a:p>
          <a:p>
            <a:pPr lvl="3">
              <a:lnSpc>
                <a:spcPct val="90000"/>
              </a:lnSpc>
            </a:pPr>
            <a:r>
              <a:rPr lang="en-US" sz="1700" dirty="0" smtClean="0">
                <a:solidFill>
                  <a:srgbClr val="000000"/>
                </a:solidFill>
              </a:rPr>
              <a:t>easily removed</a:t>
            </a:r>
          </a:p>
          <a:p>
            <a:pPr lvl="3">
              <a:lnSpc>
                <a:spcPct val="90000"/>
              </a:lnSpc>
            </a:pPr>
            <a:endParaRPr lang="en-US" dirty="0" smtClean="0">
              <a:solidFill>
                <a:srgbClr val="000000"/>
              </a:solidFill>
            </a:endParaRPr>
          </a:p>
          <a:p>
            <a:pPr lvl="2">
              <a:lnSpc>
                <a:spcPct val="90000"/>
              </a:lnSpc>
            </a:pPr>
            <a:r>
              <a:rPr lang="en-US" dirty="0" smtClean="0">
                <a:solidFill>
                  <a:srgbClr val="000000"/>
                </a:solidFill>
              </a:rPr>
              <a:t>integral </a:t>
            </a:r>
          </a:p>
          <a:p>
            <a:pPr lvl="3">
              <a:lnSpc>
                <a:spcPct val="90000"/>
              </a:lnSpc>
            </a:pPr>
            <a:r>
              <a:rPr lang="en-US" sz="1700" dirty="0" smtClean="0">
                <a:solidFill>
                  <a:srgbClr val="000000"/>
                </a:solidFill>
              </a:rPr>
              <a:t>amphipathic – </a:t>
            </a:r>
          </a:p>
          <a:p>
            <a:pPr marL="1371600" lvl="3" indent="0">
              <a:lnSpc>
                <a:spcPct val="90000"/>
              </a:lnSpc>
              <a:buNone/>
            </a:pPr>
            <a:r>
              <a:rPr lang="en-US" sz="1700" dirty="0" smtClean="0">
                <a:solidFill>
                  <a:srgbClr val="000000"/>
                </a:solidFill>
              </a:rPr>
              <a:t>   embedded within </a:t>
            </a:r>
          </a:p>
          <a:p>
            <a:pPr marL="1371600" lvl="3" indent="0">
              <a:lnSpc>
                <a:spcPct val="90000"/>
              </a:lnSpc>
              <a:buNone/>
            </a:pPr>
            <a:r>
              <a:rPr lang="en-US" sz="1700" dirty="0" smtClean="0">
                <a:solidFill>
                  <a:srgbClr val="000000"/>
                </a:solidFill>
              </a:rPr>
              <a:t>   membrane</a:t>
            </a:r>
          </a:p>
          <a:p>
            <a:pPr lvl="3">
              <a:lnSpc>
                <a:spcPct val="90000"/>
              </a:lnSpc>
            </a:pPr>
            <a:r>
              <a:rPr lang="en-US" sz="1700" dirty="0" smtClean="0">
                <a:solidFill>
                  <a:srgbClr val="000000"/>
                </a:solidFill>
              </a:rPr>
              <a:t>carry out important functions</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14</a:t>
            </a:fld>
            <a:endParaRPr lang="en-US"/>
          </a:p>
        </p:txBody>
      </p:sp>
      <p:pic>
        <p:nvPicPr>
          <p:cNvPr id="1026" name="Picture 2" descr="(Left) This diagram shows the integral membrane proteins floating in a lipid bilayer. Peripheral membrane proteins (shown inside the cell, adjacent to the integral proteins) are associated loosely with the inner membrane surface. Small spheres represent the hydrophilic ends of membrane phospholipids, and wiggly tails are the hydrophobic fatty acid chains. Other membrane lipids such as hopanoids (similar in structure and function to sterols found in eukaryotic membranes) may be present in the lipid bilayer.  (Right) Chemical structure of phosphatidylethanolamine, a phospholipid often found in bacterial membranes, showing the polar and hydrophylic end and the long, nonpolar, hydrophobic fatty acid chains." title="Figures 3.7 and 3.8 The Fluid Mosaic Model of Bacterial Membrane Structure (left) and the Structure of a Phospholipid (right)."/>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509821" y="2438400"/>
            <a:ext cx="4606703" cy="2536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931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Bacterial Lipids</a:t>
            </a:r>
          </a:p>
        </p:txBody>
      </p:sp>
      <p:sp>
        <p:nvSpPr>
          <p:cNvPr id="6" name="Content Placeholder 5"/>
          <p:cNvSpPr>
            <a:spLocks noGrp="1"/>
          </p:cNvSpPr>
          <p:nvPr>
            <p:ph sz="half" idx="1"/>
          </p:nvPr>
        </p:nvSpPr>
        <p:spPr>
          <a:xfrm>
            <a:off x="152400" y="1371600"/>
            <a:ext cx="4343400" cy="5334000"/>
          </a:xfrm>
        </p:spPr>
        <p:txBody>
          <a:bodyPr>
            <a:normAutofit/>
          </a:bodyPr>
          <a:lstStyle/>
          <a:p>
            <a:pPr>
              <a:lnSpc>
                <a:spcPct val="90000"/>
              </a:lnSpc>
            </a:pPr>
            <a:r>
              <a:rPr lang="en-US" dirty="0" smtClean="0">
                <a:solidFill>
                  <a:srgbClr val="000000"/>
                </a:solidFill>
              </a:rPr>
              <a:t>Saturation levels of membrane lipids reflect environmental conditions such as temperature</a:t>
            </a:r>
          </a:p>
          <a:p>
            <a:pPr>
              <a:lnSpc>
                <a:spcPct val="90000"/>
              </a:lnSpc>
            </a:pPr>
            <a:endParaRPr lang="en-US" dirty="0" smtClean="0">
              <a:solidFill>
                <a:srgbClr val="000000"/>
              </a:solidFill>
            </a:endParaRPr>
          </a:p>
          <a:p>
            <a:pPr>
              <a:lnSpc>
                <a:spcPct val="90000"/>
              </a:lnSpc>
            </a:pPr>
            <a:r>
              <a:rPr lang="en-US" dirty="0" smtClean="0">
                <a:solidFill>
                  <a:srgbClr val="000000"/>
                </a:solidFill>
              </a:rPr>
              <a:t>Bacterial membranes lack sterols but do contain sterol-like molecules, </a:t>
            </a:r>
            <a:r>
              <a:rPr lang="en-US" dirty="0" err="1" smtClean="0">
                <a:solidFill>
                  <a:srgbClr val="000000"/>
                </a:solidFill>
              </a:rPr>
              <a:t>hopanoids</a:t>
            </a:r>
            <a:endParaRPr lang="en-US" dirty="0" smtClean="0">
              <a:solidFill>
                <a:srgbClr val="000000"/>
              </a:solidFill>
            </a:endParaRPr>
          </a:p>
          <a:p>
            <a:pPr>
              <a:lnSpc>
                <a:spcPct val="90000"/>
              </a:lnSpc>
            </a:pPr>
            <a:endParaRPr lang="en-US" dirty="0" smtClean="0">
              <a:solidFill>
                <a:srgbClr val="000000"/>
              </a:solidFill>
            </a:endParaRPr>
          </a:p>
          <a:p>
            <a:pPr lvl="1">
              <a:lnSpc>
                <a:spcPct val="90000"/>
              </a:lnSpc>
            </a:pPr>
            <a:r>
              <a:rPr lang="en-US" dirty="0" smtClean="0">
                <a:solidFill>
                  <a:srgbClr val="000000"/>
                </a:solidFill>
              </a:rPr>
              <a:t>stabilize membrane</a:t>
            </a:r>
          </a:p>
          <a:p>
            <a:pPr lvl="1">
              <a:lnSpc>
                <a:spcPct val="90000"/>
              </a:lnSpc>
            </a:pPr>
            <a:r>
              <a:rPr lang="en-US" dirty="0" smtClean="0">
                <a:solidFill>
                  <a:srgbClr val="000000"/>
                </a:solidFill>
              </a:rPr>
              <a:t>found in petroleum</a:t>
            </a:r>
            <a:endParaRPr lang="en-US" dirty="0" smtClean="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pic>
        <p:nvPicPr>
          <p:cNvPr id="8" name="Content Placeholder 7" descr="(Top) Cholesterol (steroid, four rings) is found in the membranes of eukaryotes.&#10;(Bottom) Bacteriohopanetetrol (hopanoid, a natural pentacyclic compound (containing five rings)) is found in many bacterial membranes." title="Figure 3.9 Membrane Steroids and Hopanoids."/>
          <p:cNvPicPr>
            <a:picLocks noGrp="1" noChangeAspect="1" noChangeArrowheads="1"/>
          </p:cNvPicPr>
          <p:nvPr>
            <p:ph sz="half" idx="2"/>
          </p:nvPr>
        </p:nvPicPr>
        <p:blipFill>
          <a:blip r:embed="rId3" cstate="print"/>
          <a:stretch>
            <a:fillRect/>
          </a:stretch>
        </p:blipFill>
        <p:spPr bwMode="auto">
          <a:xfrm>
            <a:off x="4419600" y="1676399"/>
            <a:ext cx="4724399" cy="436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21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1143000"/>
          </a:xfrm>
        </p:spPr>
        <p:txBody>
          <a:bodyPr>
            <a:normAutofit fontScale="90000"/>
          </a:bodyPr>
          <a:lstStyle/>
          <a:p>
            <a:r>
              <a:rPr lang="en-US" dirty="0"/>
              <a:t>Uptake of Nutrients </a:t>
            </a:r>
            <a:r>
              <a:rPr lang="en-US" dirty="0" smtClean="0"/>
              <a:t>–Through </a:t>
            </a:r>
            <a:r>
              <a:rPr lang="en-US" dirty="0"/>
              <a:t>the Barrier</a:t>
            </a:r>
          </a:p>
        </p:txBody>
      </p:sp>
      <p:sp>
        <p:nvSpPr>
          <p:cNvPr id="3" name="Content Placeholder 2"/>
          <p:cNvSpPr>
            <a:spLocks noGrp="1"/>
          </p:cNvSpPr>
          <p:nvPr>
            <p:ph idx="1"/>
          </p:nvPr>
        </p:nvSpPr>
        <p:spPr>
          <a:xfrm>
            <a:off x="457200" y="1524000"/>
            <a:ext cx="8229600" cy="5181600"/>
          </a:xfrm>
        </p:spPr>
        <p:txBody>
          <a:bodyPr>
            <a:normAutofit fontScale="85000" lnSpcReduction="20000"/>
          </a:bodyPr>
          <a:lstStyle/>
          <a:p>
            <a:pPr>
              <a:lnSpc>
                <a:spcPct val="90000"/>
              </a:lnSpc>
            </a:pPr>
            <a:r>
              <a:rPr lang="en-US" dirty="0" err="1"/>
              <a:t>Macroelements</a:t>
            </a:r>
            <a:r>
              <a:rPr lang="en-US" dirty="0"/>
              <a:t> (macronutrients</a:t>
            </a:r>
            <a:r>
              <a:rPr lang="en-US" dirty="0" smtClean="0"/>
              <a:t>)</a:t>
            </a:r>
            <a:br>
              <a:rPr lang="en-US" dirty="0" smtClean="0"/>
            </a:br>
            <a:endParaRPr lang="en-US" dirty="0"/>
          </a:p>
          <a:p>
            <a:pPr lvl="1">
              <a:lnSpc>
                <a:spcPct val="90000"/>
              </a:lnSpc>
            </a:pPr>
            <a:r>
              <a:rPr lang="en-US" dirty="0"/>
              <a:t>C, O, H, N, S, P </a:t>
            </a:r>
          </a:p>
          <a:p>
            <a:pPr lvl="2">
              <a:lnSpc>
                <a:spcPct val="90000"/>
              </a:lnSpc>
            </a:pPr>
            <a:r>
              <a:rPr lang="en-US" sz="2000" dirty="0"/>
              <a:t>found in organic molecules </a:t>
            </a:r>
            <a:r>
              <a:rPr lang="en-US" sz="2000" dirty="0" smtClean="0"/>
              <a:t>(proteins</a:t>
            </a:r>
            <a:r>
              <a:rPr lang="en-US" sz="2000" dirty="0"/>
              <a:t>, lipids, carbohydrates, and nucleic </a:t>
            </a:r>
            <a:r>
              <a:rPr lang="en-US" sz="2000" dirty="0" smtClean="0"/>
              <a:t>acids) </a:t>
            </a:r>
            <a:endParaRPr lang="en-US" sz="2000" dirty="0"/>
          </a:p>
          <a:p>
            <a:pPr lvl="1">
              <a:lnSpc>
                <a:spcPct val="90000"/>
              </a:lnSpc>
            </a:pPr>
            <a:r>
              <a:rPr lang="en-US" dirty="0"/>
              <a:t>K, Ca, Mg, and Fe</a:t>
            </a:r>
          </a:p>
          <a:p>
            <a:pPr lvl="2">
              <a:lnSpc>
                <a:spcPct val="90000"/>
              </a:lnSpc>
            </a:pPr>
            <a:r>
              <a:rPr lang="en-US" sz="2000" dirty="0"/>
              <a:t>c</a:t>
            </a:r>
            <a:r>
              <a:rPr lang="en-US" sz="2000" dirty="0" smtClean="0"/>
              <a:t>ations; serve </a:t>
            </a:r>
            <a:r>
              <a:rPr lang="en-US" sz="2000" dirty="0"/>
              <a:t>in variety of roles including </a:t>
            </a:r>
            <a:r>
              <a:rPr lang="en-US" sz="2000" dirty="0" smtClean="0"/>
              <a:t>assisting enzymes and </a:t>
            </a:r>
            <a:r>
              <a:rPr lang="en-US" sz="2000" dirty="0"/>
              <a:t>biosynthesis</a:t>
            </a:r>
          </a:p>
          <a:p>
            <a:pPr lvl="1">
              <a:lnSpc>
                <a:spcPct val="90000"/>
              </a:lnSpc>
            </a:pPr>
            <a:r>
              <a:rPr lang="en-US" dirty="0"/>
              <a:t>required in relatively large </a:t>
            </a:r>
            <a:r>
              <a:rPr lang="en-US" dirty="0" smtClean="0"/>
              <a:t>amounts</a:t>
            </a:r>
          </a:p>
          <a:p>
            <a:pPr lvl="1">
              <a:lnSpc>
                <a:spcPct val="90000"/>
              </a:lnSpc>
            </a:pPr>
            <a:endParaRPr lang="en-US" dirty="0" smtClean="0"/>
          </a:p>
          <a:p>
            <a:r>
              <a:rPr lang="en-US" dirty="0"/>
              <a:t>Micronutrients (trace elements</a:t>
            </a:r>
            <a:r>
              <a:rPr lang="en-US" dirty="0" smtClean="0"/>
              <a:t>)</a:t>
            </a:r>
            <a:br>
              <a:rPr lang="en-US" dirty="0" smtClean="0"/>
            </a:br>
            <a:endParaRPr lang="en-US" dirty="0"/>
          </a:p>
          <a:p>
            <a:pPr lvl="1"/>
            <a:r>
              <a:rPr lang="en-US" dirty="0" err="1"/>
              <a:t>Mn</a:t>
            </a:r>
            <a:r>
              <a:rPr lang="en-US" dirty="0"/>
              <a:t>, Zn, Co, Mo, Ni, and </a:t>
            </a:r>
            <a:r>
              <a:rPr lang="en-US" dirty="0" smtClean="0"/>
              <a:t>Cu; required </a:t>
            </a:r>
            <a:r>
              <a:rPr lang="en-US" dirty="0"/>
              <a:t>in trace amounts</a:t>
            </a:r>
          </a:p>
          <a:p>
            <a:pPr lvl="1"/>
            <a:r>
              <a:rPr lang="en-US" dirty="0"/>
              <a:t>often supplied in </a:t>
            </a:r>
            <a:r>
              <a:rPr lang="en-US" dirty="0" smtClean="0"/>
              <a:t>water/media components; ubiquitous</a:t>
            </a:r>
            <a:endParaRPr lang="en-US" dirty="0"/>
          </a:p>
          <a:p>
            <a:pPr lvl="1"/>
            <a:r>
              <a:rPr lang="en-US" dirty="0" smtClean="0"/>
              <a:t>Work to assist </a:t>
            </a:r>
            <a:r>
              <a:rPr lang="en-US" dirty="0"/>
              <a:t>enzymes (</a:t>
            </a:r>
            <a:r>
              <a:rPr lang="en-US" dirty="0" smtClean="0"/>
              <a:t>cofactors)</a:t>
            </a:r>
          </a:p>
          <a:p>
            <a:pPr lvl="1"/>
            <a:endParaRPr lang="en-US" dirty="0"/>
          </a:p>
          <a:p>
            <a:r>
              <a:rPr lang="en-US" dirty="0"/>
              <a:t>Some unique substances may be required</a:t>
            </a:r>
          </a:p>
          <a:p>
            <a:pPr lvl="1">
              <a:lnSpc>
                <a:spcPct val="90000"/>
              </a:lnSpc>
            </a:pPr>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279021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normAutofit fontScale="90000"/>
          </a:bodyPr>
          <a:lstStyle/>
          <a:p>
            <a:r>
              <a:rPr lang="en-US" dirty="0" smtClean="0"/>
              <a:t>Growth Factors – Through </a:t>
            </a:r>
            <a:r>
              <a:rPr lang="en-US" dirty="0"/>
              <a:t>the Barrier</a:t>
            </a:r>
          </a:p>
        </p:txBody>
      </p:sp>
      <p:sp>
        <p:nvSpPr>
          <p:cNvPr id="3" name="Content Placeholder 2"/>
          <p:cNvSpPr>
            <a:spLocks noGrp="1"/>
          </p:cNvSpPr>
          <p:nvPr>
            <p:ph idx="1"/>
          </p:nvPr>
        </p:nvSpPr>
        <p:spPr>
          <a:xfrm>
            <a:off x="457200" y="990600"/>
            <a:ext cx="8229600" cy="5867400"/>
          </a:xfrm>
        </p:spPr>
        <p:txBody>
          <a:bodyPr>
            <a:normAutofit fontScale="85000" lnSpcReduction="20000"/>
          </a:bodyPr>
          <a:lstStyle/>
          <a:p>
            <a:r>
              <a:rPr lang="en-US" sz="2800" dirty="0"/>
              <a:t>Growth </a:t>
            </a:r>
            <a:r>
              <a:rPr lang="en-US" sz="2800" dirty="0" smtClean="0"/>
              <a:t>factors</a:t>
            </a:r>
          </a:p>
          <a:p>
            <a:endParaRPr lang="en-US" dirty="0"/>
          </a:p>
          <a:p>
            <a:pPr lvl="1"/>
            <a:r>
              <a:rPr lang="en-US" sz="2600" dirty="0"/>
              <a:t>organic </a:t>
            </a:r>
            <a:r>
              <a:rPr lang="en-US" sz="2600" dirty="0" smtClean="0"/>
              <a:t>compounds</a:t>
            </a:r>
          </a:p>
          <a:p>
            <a:pPr lvl="1"/>
            <a:endParaRPr lang="en-US" sz="2600" dirty="0"/>
          </a:p>
          <a:p>
            <a:pPr lvl="1"/>
            <a:r>
              <a:rPr lang="en-US" sz="2600" dirty="0"/>
              <a:t>essential cell components (or their precursors) that the cell cannot </a:t>
            </a:r>
            <a:r>
              <a:rPr lang="en-US" sz="2600" dirty="0" smtClean="0"/>
              <a:t>synthesize</a:t>
            </a:r>
          </a:p>
          <a:p>
            <a:pPr lvl="1"/>
            <a:endParaRPr lang="en-US" sz="2600" dirty="0"/>
          </a:p>
          <a:p>
            <a:pPr lvl="1"/>
            <a:r>
              <a:rPr lang="en-US" sz="2600" dirty="0"/>
              <a:t>must be supplied by environment if cell is to survive and </a:t>
            </a:r>
            <a:r>
              <a:rPr lang="en-US" sz="2600" dirty="0" smtClean="0"/>
              <a:t>reproduce</a:t>
            </a:r>
          </a:p>
          <a:p>
            <a:pPr lvl="1"/>
            <a:endParaRPr lang="en-US" sz="2600" dirty="0" smtClean="0"/>
          </a:p>
          <a:p>
            <a:pPr lvl="1"/>
            <a:r>
              <a:rPr lang="en-US" sz="2600" dirty="0" smtClean="0"/>
              <a:t>classes include:</a:t>
            </a:r>
          </a:p>
          <a:p>
            <a:pPr lvl="1"/>
            <a:endParaRPr lang="en-US" dirty="0" smtClean="0"/>
          </a:p>
          <a:p>
            <a:pPr lvl="2">
              <a:lnSpc>
                <a:spcPct val="90000"/>
              </a:lnSpc>
            </a:pPr>
            <a:r>
              <a:rPr lang="en-US" dirty="0"/>
              <a:t>amino acids</a:t>
            </a:r>
          </a:p>
          <a:p>
            <a:pPr lvl="3">
              <a:lnSpc>
                <a:spcPct val="90000"/>
              </a:lnSpc>
            </a:pPr>
            <a:r>
              <a:rPr lang="en-US" dirty="0"/>
              <a:t>needed for protein synthesis</a:t>
            </a:r>
          </a:p>
          <a:p>
            <a:pPr lvl="2">
              <a:lnSpc>
                <a:spcPct val="90000"/>
              </a:lnSpc>
            </a:pPr>
            <a:r>
              <a:rPr lang="en-US" dirty="0"/>
              <a:t>purines and pyrimidines</a:t>
            </a:r>
          </a:p>
          <a:p>
            <a:pPr lvl="3">
              <a:lnSpc>
                <a:spcPct val="90000"/>
              </a:lnSpc>
            </a:pPr>
            <a:r>
              <a:rPr lang="en-US" dirty="0"/>
              <a:t>needed for nucleic acid synthesis</a:t>
            </a:r>
          </a:p>
          <a:p>
            <a:pPr lvl="2">
              <a:lnSpc>
                <a:spcPct val="90000"/>
              </a:lnSpc>
            </a:pPr>
            <a:r>
              <a:rPr lang="en-US" dirty="0"/>
              <a:t>vitamins</a:t>
            </a:r>
          </a:p>
          <a:p>
            <a:pPr lvl="3">
              <a:lnSpc>
                <a:spcPct val="90000"/>
              </a:lnSpc>
            </a:pPr>
            <a:r>
              <a:rPr lang="en-US" dirty="0"/>
              <a:t>function as enzyme cofactors</a:t>
            </a:r>
          </a:p>
          <a:p>
            <a:pPr lvl="2">
              <a:lnSpc>
                <a:spcPct val="90000"/>
              </a:lnSpc>
            </a:pPr>
            <a:r>
              <a:rPr lang="en-US" dirty="0" err="1"/>
              <a:t>heme</a:t>
            </a:r>
            <a:endParaRPr lang="en-US" dirty="0"/>
          </a:p>
          <a:p>
            <a:pPr lvl="2"/>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279021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 for Uptake </a:t>
            </a:r>
            <a:r>
              <a:rPr lang="en-US" dirty="0"/>
              <a:t>of Nutrients</a:t>
            </a:r>
          </a:p>
        </p:txBody>
      </p:sp>
      <p:sp>
        <p:nvSpPr>
          <p:cNvPr id="3" name="Content Placeholder 2"/>
          <p:cNvSpPr>
            <a:spLocks noGrp="1"/>
          </p:cNvSpPr>
          <p:nvPr>
            <p:ph idx="1"/>
          </p:nvPr>
        </p:nvSpPr>
        <p:spPr/>
        <p:txBody>
          <a:bodyPr>
            <a:normAutofit lnSpcReduction="10000"/>
          </a:bodyPr>
          <a:lstStyle/>
          <a:p>
            <a:pPr>
              <a:lnSpc>
                <a:spcPct val="80000"/>
              </a:lnSpc>
            </a:pPr>
            <a:r>
              <a:rPr lang="en-US" dirty="0"/>
              <a:t>Microbes can only take in dissolved particles across a selectively permeable </a:t>
            </a:r>
            <a:r>
              <a:rPr lang="en-US" dirty="0" smtClean="0"/>
              <a:t>membrane</a:t>
            </a:r>
          </a:p>
          <a:p>
            <a:pPr marL="0" indent="0">
              <a:lnSpc>
                <a:spcPct val="80000"/>
              </a:lnSpc>
              <a:buNone/>
            </a:pPr>
            <a:endParaRPr lang="en-US" dirty="0"/>
          </a:p>
          <a:p>
            <a:pPr>
              <a:lnSpc>
                <a:spcPct val="80000"/>
              </a:lnSpc>
            </a:pPr>
            <a:r>
              <a:rPr lang="en-US" dirty="0"/>
              <a:t>Some nutrients enter by passive </a:t>
            </a:r>
            <a:r>
              <a:rPr lang="en-US" dirty="0" smtClean="0"/>
              <a:t>diffusion</a:t>
            </a:r>
          </a:p>
          <a:p>
            <a:pPr marL="0" indent="0">
              <a:lnSpc>
                <a:spcPct val="80000"/>
              </a:lnSpc>
              <a:buNone/>
            </a:pPr>
            <a:endParaRPr lang="en-US" dirty="0"/>
          </a:p>
          <a:p>
            <a:pPr>
              <a:lnSpc>
                <a:spcPct val="80000"/>
              </a:lnSpc>
            </a:pPr>
            <a:r>
              <a:rPr lang="en-US" dirty="0"/>
              <a:t>Microorganisms use transport </a:t>
            </a:r>
            <a:r>
              <a:rPr lang="en-US" dirty="0" smtClean="0"/>
              <a:t>mechanisms</a:t>
            </a:r>
          </a:p>
          <a:p>
            <a:pPr>
              <a:lnSpc>
                <a:spcPct val="80000"/>
              </a:lnSpc>
            </a:pPr>
            <a:endParaRPr lang="en-US" dirty="0"/>
          </a:p>
          <a:p>
            <a:pPr lvl="1">
              <a:lnSpc>
                <a:spcPct val="80000"/>
              </a:lnSpc>
            </a:pPr>
            <a:r>
              <a:rPr lang="en-US" dirty="0"/>
              <a:t>facilitated </a:t>
            </a:r>
            <a:r>
              <a:rPr lang="en-US" dirty="0" smtClean="0"/>
              <a:t>diffusion</a:t>
            </a:r>
            <a:endParaRPr lang="en-US" dirty="0"/>
          </a:p>
          <a:p>
            <a:pPr lvl="1">
              <a:lnSpc>
                <a:spcPct val="80000"/>
              </a:lnSpc>
            </a:pPr>
            <a:r>
              <a:rPr lang="en-US" dirty="0"/>
              <a:t>active </a:t>
            </a:r>
            <a:r>
              <a:rPr lang="en-US" dirty="0" smtClean="0"/>
              <a:t>transport</a:t>
            </a:r>
            <a:endParaRPr lang="en-US" dirty="0"/>
          </a:p>
          <a:p>
            <a:pPr lvl="1">
              <a:lnSpc>
                <a:spcPct val="80000"/>
              </a:lnSpc>
            </a:pPr>
            <a:r>
              <a:rPr lang="en-US" dirty="0"/>
              <a:t>group </a:t>
            </a:r>
            <a:r>
              <a:rPr lang="en-US" dirty="0" smtClean="0"/>
              <a:t>translocation</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spTree>
    <p:extLst>
      <p:ext uri="{BB962C8B-B14F-4D97-AF65-F5344CB8AC3E}">
        <p14:creationId xmlns:p14="http://schemas.microsoft.com/office/powerpoint/2010/main" val="279021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Passive Diffusion</a:t>
            </a:r>
          </a:p>
        </p:txBody>
      </p:sp>
      <p:sp>
        <p:nvSpPr>
          <p:cNvPr id="3" name="Content Placeholder 2"/>
          <p:cNvSpPr>
            <a:spLocks noGrp="1"/>
          </p:cNvSpPr>
          <p:nvPr>
            <p:ph idx="1"/>
          </p:nvPr>
        </p:nvSpPr>
        <p:spPr/>
        <p:txBody>
          <a:bodyPr>
            <a:normAutofit/>
          </a:bodyPr>
          <a:lstStyle/>
          <a:p>
            <a:r>
              <a:rPr lang="en-US" dirty="0"/>
              <a:t>Molecules move from region of higher concentration to one of lower concentration between the cell’s interior and the </a:t>
            </a:r>
            <a:r>
              <a:rPr lang="en-US" dirty="0" smtClean="0"/>
              <a:t>exterior</a:t>
            </a:r>
          </a:p>
          <a:p>
            <a:endParaRPr lang="en-US" dirty="0"/>
          </a:p>
          <a:p>
            <a:r>
              <a:rPr lang="en-US" dirty="0"/>
              <a:t>H</a:t>
            </a:r>
            <a:r>
              <a:rPr lang="en-US" baseline="-25000" dirty="0"/>
              <a:t>2</a:t>
            </a:r>
            <a:r>
              <a:rPr lang="en-US" dirty="0"/>
              <a:t>O, O</a:t>
            </a:r>
            <a:r>
              <a:rPr lang="en-US" baseline="-25000" dirty="0"/>
              <a:t>2</a:t>
            </a:r>
            <a:r>
              <a:rPr lang="en-US" dirty="0"/>
              <a:t>, and CO</a:t>
            </a:r>
            <a:r>
              <a:rPr lang="en-US" baseline="-25000" dirty="0"/>
              <a:t>2</a:t>
            </a:r>
            <a:r>
              <a:rPr lang="en-US" dirty="0"/>
              <a:t> often move across membranes this way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279021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Facilitated Diffusion</a:t>
            </a:r>
            <a:br>
              <a:rPr lang="en-US" dirty="0" smtClean="0"/>
            </a:br>
            <a:endParaRPr lang="en-US" dirty="0"/>
          </a:p>
        </p:txBody>
      </p:sp>
      <p:sp>
        <p:nvSpPr>
          <p:cNvPr id="8" name="Content Placeholder 7"/>
          <p:cNvSpPr>
            <a:spLocks noGrp="1"/>
          </p:cNvSpPr>
          <p:nvPr>
            <p:ph idx="1"/>
          </p:nvPr>
        </p:nvSpPr>
        <p:spPr>
          <a:xfrm>
            <a:off x="457200" y="1371600"/>
            <a:ext cx="8229600" cy="5029200"/>
          </a:xfrm>
        </p:spPr>
        <p:txBody>
          <a:bodyPr/>
          <a:lstStyle/>
          <a:p>
            <a:r>
              <a:rPr lang="en-US" dirty="0" smtClean="0"/>
              <a:t>Similar to passive diffusion</a:t>
            </a:r>
          </a:p>
          <a:p>
            <a:endParaRPr lang="en-US" dirty="0" smtClean="0"/>
          </a:p>
          <a:p>
            <a:pPr lvl="1"/>
            <a:r>
              <a:rPr lang="en-US" dirty="0" smtClean="0"/>
              <a:t>movement of molecules </a:t>
            </a:r>
            <a:r>
              <a:rPr lang="en-US" u="sng" dirty="0" smtClean="0"/>
              <a:t>is not</a:t>
            </a:r>
            <a:r>
              <a:rPr lang="en-US" dirty="0" smtClean="0"/>
              <a:t> energy dependent</a:t>
            </a:r>
          </a:p>
          <a:p>
            <a:pPr lvl="1"/>
            <a:r>
              <a:rPr lang="en-US" dirty="0" smtClean="0"/>
              <a:t>direction of movement is from high concentration to low concentration</a:t>
            </a:r>
          </a:p>
          <a:p>
            <a:pPr lvl="1"/>
            <a:r>
              <a:rPr lang="en-US" dirty="0" smtClean="0"/>
              <a:t>size of concentration gradient impacts rate of uptake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2276294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4343400" cy="1143000"/>
          </a:xfrm>
        </p:spPr>
        <p:txBody>
          <a:bodyPr>
            <a:normAutofit fontScale="90000"/>
          </a:bodyPr>
          <a:lstStyle/>
          <a:p>
            <a:r>
              <a:rPr lang="en-US" dirty="0" smtClean="0"/>
              <a:t>Facilitated vs. Passive Diffusion</a:t>
            </a:r>
            <a:endParaRPr lang="en-US" dirty="0"/>
          </a:p>
        </p:txBody>
      </p:sp>
      <p:sp>
        <p:nvSpPr>
          <p:cNvPr id="3" name="Content Placeholder 2"/>
          <p:cNvSpPr>
            <a:spLocks noGrp="1"/>
          </p:cNvSpPr>
          <p:nvPr>
            <p:ph sz="half" idx="1"/>
          </p:nvPr>
        </p:nvSpPr>
        <p:spPr>
          <a:xfrm>
            <a:off x="76200" y="1371600"/>
            <a:ext cx="4648200" cy="5410200"/>
          </a:xfrm>
        </p:spPr>
        <p:txBody>
          <a:bodyPr>
            <a:normAutofit fontScale="92500"/>
          </a:bodyPr>
          <a:lstStyle/>
          <a:p>
            <a:pPr>
              <a:lnSpc>
                <a:spcPct val="90000"/>
              </a:lnSpc>
            </a:pPr>
            <a:r>
              <a:rPr lang="en-US" dirty="0"/>
              <a:t>Differs from passive diffusion</a:t>
            </a:r>
          </a:p>
          <a:p>
            <a:pPr marL="0" indent="0">
              <a:lnSpc>
                <a:spcPct val="90000"/>
              </a:lnSpc>
              <a:buNone/>
            </a:pPr>
            <a:endParaRPr lang="en-US" dirty="0"/>
          </a:p>
          <a:p>
            <a:pPr lvl="1">
              <a:lnSpc>
                <a:spcPct val="90000"/>
              </a:lnSpc>
            </a:pPr>
            <a:r>
              <a:rPr lang="en-US" dirty="0" smtClean="0"/>
              <a:t>uses membrane bound carrier molecules (permeases)</a:t>
            </a:r>
          </a:p>
          <a:p>
            <a:pPr lvl="1">
              <a:lnSpc>
                <a:spcPct val="90000"/>
              </a:lnSpc>
            </a:pPr>
            <a:r>
              <a:rPr lang="en-US" dirty="0" smtClean="0"/>
              <a:t>smaller concentration gradient is required for significant uptake of molecules</a:t>
            </a:r>
          </a:p>
          <a:p>
            <a:pPr lvl="1">
              <a:lnSpc>
                <a:spcPct val="90000"/>
              </a:lnSpc>
            </a:pPr>
            <a:r>
              <a:rPr lang="en-US" dirty="0" smtClean="0"/>
              <a:t>effectively transports glycerol, sugars, and amino acids</a:t>
            </a:r>
          </a:p>
          <a:p>
            <a:pPr marL="457200" lvl="1" indent="0">
              <a:lnSpc>
                <a:spcPct val="90000"/>
              </a:lnSpc>
              <a:buNone/>
            </a:pPr>
            <a:endParaRPr lang="en-US" dirty="0" smtClean="0"/>
          </a:p>
          <a:p>
            <a:pPr>
              <a:lnSpc>
                <a:spcPct val="90000"/>
              </a:lnSpc>
            </a:pPr>
            <a:r>
              <a:rPr lang="en-US" dirty="0"/>
              <a:t>More prominent in eukaryotic cells than in bacteria or archaea</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21</a:t>
            </a:fld>
            <a:endParaRPr lang="en-US"/>
          </a:p>
        </p:txBody>
      </p:sp>
      <p:pic>
        <p:nvPicPr>
          <p:cNvPr id="2050" name="Picture 2" descr="(Top) The rate of diffusion depends on the size of the solute's concentration gradient (the ratio of the extracellular concentration to the intracellular concentration).  The higher the concentration gradient, the higher the rate of transport, forming a straight line,&#10;The example of facilitated diffusion shown on this slide involves a carrier protein that can be saturated, exhibiting a plateau in the rate of transport. Sometimes facilitated diffusion is mediated by a channel. Channels often do not exhibit a saturation effect.&#10;&#10;(Bottom) Considerable work has been done on the mechanism of carrier-mediated facilitated diffusion.  After the solute molecule binds to the outside, the carrier is thought to change conformation and release the molecule on the cell interior, as shown in this illustration.  The carrier subsequently changes back to its original shape and is ready to pick up another molecule." title="Figures 3.10 and 3.11 Passive and Facilitated Diffusion (top) and a Model of Facilitated Diffusion (bottom)."/>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751198" y="152400"/>
            <a:ext cx="4272710" cy="6590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4109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Transport</a:t>
            </a:r>
          </a:p>
        </p:txBody>
      </p:sp>
      <p:sp>
        <p:nvSpPr>
          <p:cNvPr id="3" name="Content Placeholder 2"/>
          <p:cNvSpPr>
            <a:spLocks noGrp="1"/>
          </p:cNvSpPr>
          <p:nvPr>
            <p:ph idx="1"/>
          </p:nvPr>
        </p:nvSpPr>
        <p:spPr/>
        <p:txBody>
          <a:bodyPr>
            <a:normAutofit fontScale="92500" lnSpcReduction="20000"/>
          </a:bodyPr>
          <a:lstStyle/>
          <a:p>
            <a:r>
              <a:rPr lang="en-US" dirty="0" smtClean="0"/>
              <a:t>Energy-dependent </a:t>
            </a:r>
            <a:r>
              <a:rPr lang="en-US" dirty="0"/>
              <a:t>process</a:t>
            </a:r>
          </a:p>
          <a:p>
            <a:pPr lvl="1"/>
            <a:r>
              <a:rPr lang="en-US" dirty="0"/>
              <a:t>ATP or proton motive force </a:t>
            </a:r>
            <a:r>
              <a:rPr lang="en-US" dirty="0" smtClean="0"/>
              <a:t>used</a:t>
            </a:r>
          </a:p>
          <a:p>
            <a:pPr marL="457200" lvl="1" indent="0">
              <a:buNone/>
            </a:pPr>
            <a:endParaRPr lang="en-US" dirty="0"/>
          </a:p>
          <a:p>
            <a:r>
              <a:rPr lang="en-US" dirty="0" smtClean="0"/>
              <a:t>Move </a:t>
            </a:r>
            <a:r>
              <a:rPr lang="en-US" dirty="0"/>
              <a:t>molecules against the </a:t>
            </a:r>
            <a:r>
              <a:rPr lang="en-US" dirty="0" smtClean="0"/>
              <a:t>gradient</a:t>
            </a:r>
          </a:p>
          <a:p>
            <a:pPr marL="0" indent="0">
              <a:buNone/>
            </a:pPr>
            <a:endParaRPr lang="en-US" dirty="0"/>
          </a:p>
          <a:p>
            <a:r>
              <a:rPr lang="en-US" dirty="0" smtClean="0"/>
              <a:t>Concentrates </a:t>
            </a:r>
            <a:r>
              <a:rPr lang="en-US" dirty="0"/>
              <a:t>molecules inside </a:t>
            </a:r>
            <a:r>
              <a:rPr lang="en-US" dirty="0" smtClean="0"/>
              <a:t>cell</a:t>
            </a:r>
          </a:p>
          <a:p>
            <a:pPr marL="0" indent="0">
              <a:buNone/>
            </a:pPr>
            <a:endParaRPr lang="en-US" dirty="0"/>
          </a:p>
          <a:p>
            <a:r>
              <a:rPr lang="en-US" dirty="0" smtClean="0"/>
              <a:t>Involves </a:t>
            </a:r>
            <a:r>
              <a:rPr lang="en-US" dirty="0"/>
              <a:t>carrier proteins (permeases)</a:t>
            </a:r>
          </a:p>
          <a:p>
            <a:pPr lvl="1"/>
            <a:r>
              <a:rPr lang="en-US" dirty="0"/>
              <a:t>carrier saturation effect is observed at high solute concentrations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spTree>
    <p:extLst>
      <p:ext uri="{BB962C8B-B14F-4D97-AF65-F5344CB8AC3E}">
        <p14:creationId xmlns:p14="http://schemas.microsoft.com/office/powerpoint/2010/main" val="61519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ABC Transporters</a:t>
            </a:r>
          </a:p>
        </p:txBody>
      </p:sp>
      <p:sp>
        <p:nvSpPr>
          <p:cNvPr id="6" name="Content Placeholder 5"/>
          <p:cNvSpPr>
            <a:spLocks noGrp="1"/>
          </p:cNvSpPr>
          <p:nvPr>
            <p:ph sz="half" idx="1"/>
          </p:nvPr>
        </p:nvSpPr>
        <p:spPr>
          <a:xfrm>
            <a:off x="0" y="1447800"/>
            <a:ext cx="4953000" cy="5334000"/>
          </a:xfrm>
        </p:spPr>
        <p:txBody>
          <a:bodyPr>
            <a:normAutofit fontScale="77500" lnSpcReduction="20000"/>
          </a:bodyPr>
          <a:lstStyle/>
          <a:p>
            <a:r>
              <a:rPr lang="en-US" dirty="0" smtClean="0"/>
              <a:t>Primary active transporters use ATP</a:t>
            </a:r>
          </a:p>
          <a:p>
            <a:endParaRPr lang="en-US" dirty="0" smtClean="0"/>
          </a:p>
          <a:p>
            <a:r>
              <a:rPr lang="en-US" dirty="0" smtClean="0"/>
              <a:t>ATP-binding cassette (ABC) transporters</a:t>
            </a:r>
          </a:p>
          <a:p>
            <a:endParaRPr lang="en-US" dirty="0" smtClean="0"/>
          </a:p>
          <a:p>
            <a:r>
              <a:rPr lang="en-US" dirty="0" smtClean="0"/>
              <a:t>Observed in </a:t>
            </a:r>
            <a:r>
              <a:rPr lang="en-US" i="1" dirty="0" smtClean="0"/>
              <a:t>Bacteria, </a:t>
            </a:r>
            <a:br>
              <a:rPr lang="en-US" i="1" dirty="0" smtClean="0"/>
            </a:br>
            <a:r>
              <a:rPr lang="en-US" i="1" dirty="0" smtClean="0"/>
              <a:t>Archaea</a:t>
            </a:r>
            <a:r>
              <a:rPr lang="en-US" dirty="0" smtClean="0"/>
              <a:t>, and eukaryotes</a:t>
            </a:r>
          </a:p>
          <a:p>
            <a:endParaRPr lang="en-US" dirty="0" smtClean="0"/>
          </a:p>
          <a:p>
            <a:r>
              <a:rPr lang="en-US" dirty="0" smtClean="0"/>
              <a:t>Consist of </a:t>
            </a:r>
          </a:p>
          <a:p>
            <a:pPr lvl="1"/>
            <a:r>
              <a:rPr lang="en-US" dirty="0" smtClean="0"/>
              <a:t>2 hydrophobic mem-</a:t>
            </a:r>
          </a:p>
          <a:p>
            <a:pPr marL="457200" lvl="1" indent="0">
              <a:buNone/>
            </a:pPr>
            <a:r>
              <a:rPr lang="en-US" dirty="0" smtClean="0"/>
              <a:t>   brane spanning </a:t>
            </a:r>
          </a:p>
          <a:p>
            <a:pPr marL="457200" lvl="1" indent="0">
              <a:buNone/>
            </a:pPr>
            <a:r>
              <a:rPr lang="en-US" dirty="0" smtClean="0"/>
              <a:t>   domains</a:t>
            </a:r>
          </a:p>
          <a:p>
            <a:pPr lvl="1"/>
            <a:r>
              <a:rPr lang="en-US" dirty="0" smtClean="0"/>
              <a:t>2 cytoplasmic </a:t>
            </a:r>
            <a:r>
              <a:rPr lang="en-US" dirty="0" err="1" smtClean="0"/>
              <a:t>assoc</a:t>
            </a:r>
            <a:r>
              <a:rPr lang="en-US" dirty="0" smtClean="0"/>
              <a:t>-</a:t>
            </a:r>
          </a:p>
          <a:p>
            <a:pPr marL="457200" lvl="1" indent="0">
              <a:buNone/>
            </a:pPr>
            <a:r>
              <a:rPr lang="en-US" dirty="0" smtClean="0"/>
              <a:t>   </a:t>
            </a:r>
            <a:r>
              <a:rPr lang="en-US" dirty="0" err="1" smtClean="0"/>
              <a:t>iated</a:t>
            </a:r>
            <a:r>
              <a:rPr lang="en-US" dirty="0" smtClean="0"/>
              <a:t> ATP-binding </a:t>
            </a:r>
          </a:p>
          <a:p>
            <a:pPr marL="457200" lvl="1" indent="0">
              <a:buNone/>
            </a:pPr>
            <a:r>
              <a:rPr lang="en-US" dirty="0" smtClean="0"/>
              <a:t>   domains</a:t>
            </a:r>
          </a:p>
          <a:p>
            <a:pPr lvl="1"/>
            <a:r>
              <a:rPr lang="en-US" dirty="0" smtClean="0"/>
              <a:t>substrate binding </a:t>
            </a:r>
          </a:p>
          <a:p>
            <a:pPr marL="457200" lvl="1" indent="0">
              <a:buNone/>
            </a:pPr>
            <a:r>
              <a:rPr lang="en-US" dirty="0" smtClean="0"/>
              <a:t>   domains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pic>
        <p:nvPicPr>
          <p:cNvPr id="8" name="Picture 6" descr="Most ABC transporters consist of two hydrophobic membrane-spanning domains associated on their cytoplasmic surfaces with two ATP-binding domains. The membrane-spanning domains form a pore in the membrane, and the ATP-binding domains bind and hydrolyze ATP to drive uptake. &#10;ABC transporters employ substrate-binding proteins. The substrate-binding proteins bind the molecule to be transported and then interact with the transporter proteins to move the molecule into the cell. E. coli transports a variety of sugars and amino acids by this mechanism.&#10;Steps: (1) After binding solute, the solute-binding protein approaches the ABC transporter.  (2) The solute-binding protein attaches to the ABC transporter and releases solute into the pore.  Energy released by hydrolysis of ATP drives movement of the solute across the membrane." title="Figure 3.13 ABC Transporter Function."/>
          <p:cNvPicPr>
            <a:picLocks noGrp="1" noChangeAspect="1" noChangeArrowheads="1"/>
          </p:cNvPicPr>
          <p:nvPr>
            <p:ph sz="half" idx="2"/>
          </p:nvPr>
        </p:nvPicPr>
        <p:blipFill>
          <a:blip r:embed="rId2" cstate="print"/>
          <a:stretch>
            <a:fillRect/>
          </a:stretch>
        </p:blipFill>
        <p:spPr bwMode="auto">
          <a:xfrm>
            <a:off x="4740857" y="1600200"/>
            <a:ext cx="4403143" cy="3476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198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dirty="0"/>
              <a:t>Secondary Active Transport</a:t>
            </a:r>
          </a:p>
        </p:txBody>
      </p:sp>
      <p:sp>
        <p:nvSpPr>
          <p:cNvPr id="6" name="Content Placeholder 5"/>
          <p:cNvSpPr>
            <a:spLocks noGrp="1"/>
          </p:cNvSpPr>
          <p:nvPr>
            <p:ph sz="half" idx="1"/>
          </p:nvPr>
        </p:nvSpPr>
        <p:spPr>
          <a:xfrm>
            <a:off x="152400" y="914400"/>
            <a:ext cx="8839200" cy="2743200"/>
          </a:xfrm>
        </p:spPr>
        <p:txBody>
          <a:bodyPr>
            <a:normAutofit/>
          </a:bodyPr>
          <a:lstStyle/>
          <a:p>
            <a:pPr>
              <a:lnSpc>
                <a:spcPct val="90000"/>
              </a:lnSpc>
            </a:pPr>
            <a:r>
              <a:rPr lang="en-US" dirty="0" smtClean="0"/>
              <a:t>Major facilitator superfamily (MFS)</a:t>
            </a:r>
          </a:p>
          <a:p>
            <a:pPr>
              <a:lnSpc>
                <a:spcPct val="90000"/>
              </a:lnSpc>
            </a:pPr>
            <a:endParaRPr lang="en-US" dirty="0" smtClean="0"/>
          </a:p>
          <a:p>
            <a:pPr>
              <a:lnSpc>
                <a:spcPct val="90000"/>
              </a:lnSpc>
            </a:pPr>
            <a:r>
              <a:rPr lang="en-US" dirty="0" smtClean="0"/>
              <a:t>Use ion gradients to cotransport substances</a:t>
            </a:r>
          </a:p>
          <a:p>
            <a:pPr lvl="1">
              <a:lnSpc>
                <a:spcPct val="90000"/>
              </a:lnSpc>
            </a:pPr>
            <a:r>
              <a:rPr lang="en-US" dirty="0" smtClean="0"/>
              <a:t>protons</a:t>
            </a:r>
          </a:p>
          <a:p>
            <a:pPr lvl="1">
              <a:lnSpc>
                <a:spcPct val="90000"/>
              </a:lnSpc>
            </a:pPr>
            <a:r>
              <a:rPr lang="en-US" dirty="0" smtClean="0"/>
              <a:t>symport – two substances both move in the same direction</a:t>
            </a:r>
          </a:p>
          <a:p>
            <a:pPr lvl="1">
              <a:lnSpc>
                <a:spcPct val="90000"/>
              </a:lnSpc>
            </a:pPr>
            <a:r>
              <a:rPr lang="en-US" dirty="0" err="1" smtClean="0"/>
              <a:t>antiport</a:t>
            </a:r>
            <a:r>
              <a:rPr lang="en-US" dirty="0" smtClean="0"/>
              <a:t> – two substances move in opposite directions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pic>
        <p:nvPicPr>
          <p:cNvPr id="8" name="Picture 2" descr="Uniporters move a single substance into the cell. Cotransporters simultaneously move two substances across the membrane. When both substances move in the same direction, the carrier is a symporter. When the two substances move in opposite directions, the carrier is an antiporter." title="Figure 3.12 Carrier Proteins Can Be Uniporters or Cotransporters."/>
          <p:cNvPicPr>
            <a:picLocks noGrp="1" noChangeAspect="1" noChangeArrowheads="1"/>
          </p:cNvPicPr>
          <p:nvPr>
            <p:ph sz="half" idx="2"/>
          </p:nvPr>
        </p:nvPicPr>
        <p:blipFill>
          <a:blip r:embed="rId2" cstate="print"/>
          <a:stretch>
            <a:fillRect/>
          </a:stretch>
        </p:blipFill>
        <p:spPr bwMode="auto">
          <a:xfrm>
            <a:off x="1306284" y="3678980"/>
            <a:ext cx="6161316" cy="3102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19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US" dirty="0"/>
              <a:t>Group </a:t>
            </a:r>
            <a:r>
              <a:rPr lang="en-US" dirty="0" smtClean="0"/>
              <a:t>Translocation</a:t>
            </a:r>
            <a:endParaRPr lang="en-US" dirty="0">
              <a:latin typeface="Mickey's Merry Christmas" pitchFamily="2" charset="0"/>
            </a:endParaRPr>
          </a:p>
        </p:txBody>
      </p:sp>
      <p:sp>
        <p:nvSpPr>
          <p:cNvPr id="6" name="Content Placeholder 5"/>
          <p:cNvSpPr>
            <a:spLocks noGrp="1"/>
          </p:cNvSpPr>
          <p:nvPr>
            <p:ph sz="half" idx="1"/>
          </p:nvPr>
        </p:nvSpPr>
        <p:spPr>
          <a:xfrm>
            <a:off x="304800" y="1066800"/>
            <a:ext cx="8686800" cy="2362200"/>
          </a:xfrm>
        </p:spPr>
        <p:txBody>
          <a:bodyPr>
            <a:normAutofit lnSpcReduction="10000"/>
          </a:bodyPr>
          <a:lstStyle/>
          <a:p>
            <a:pPr>
              <a:lnSpc>
                <a:spcPct val="90000"/>
              </a:lnSpc>
            </a:pPr>
            <a:r>
              <a:rPr lang="en-US" dirty="0" smtClean="0"/>
              <a:t>Energy dependent transport that chemically modifies molecule as it is brought into cell</a:t>
            </a:r>
          </a:p>
          <a:p>
            <a:pPr>
              <a:lnSpc>
                <a:spcPct val="90000"/>
              </a:lnSpc>
            </a:pPr>
            <a:endParaRPr lang="en-US" dirty="0" smtClean="0"/>
          </a:p>
          <a:p>
            <a:pPr>
              <a:lnSpc>
                <a:spcPct val="90000"/>
              </a:lnSpc>
            </a:pPr>
            <a:r>
              <a:rPr lang="en-US" dirty="0" smtClean="0"/>
              <a:t>Best known translocation system is phosphoenolpyruvate: sugar phosphotransferase system (PTS)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pic>
        <p:nvPicPr>
          <p:cNvPr id="8" name="Content Placeholder 7" descr="Two examples of the phosphoenolpyruvate: sugar phosphotransferase system (PTS) are illustrated showing the key components involved in the system: phosphoenolpyruvate (PEP), enzyme I (EI), the low molecular weight heat-stable protein (HPr), and enzyme II (EII). &#10;The PTS transports a variety of sugars from the periplasm to the cytoplasm while phosphorylating them, using PEP as the phosphate donor.  In the upper example, mannitol is converted to mannitol-1-P as it is transported.  In the lower example, glucose is converted to glucose-6-P as it is transported.  EIIA is attached to EIIB in the mannitol transport system and is separate from EIIB in the glucose system." title="Figure 3.14 Group Translocation: Bacterial PTS Transport."/>
          <p:cNvPicPr>
            <a:picLocks noGrp="1" noChangeAspect="1" noChangeArrowheads="1"/>
          </p:cNvPicPr>
          <p:nvPr>
            <p:ph sz="half" idx="2"/>
          </p:nvPr>
        </p:nvPicPr>
        <p:blipFill>
          <a:blip r:embed="rId2" cstate="print"/>
          <a:stretch>
            <a:fillRect/>
          </a:stretch>
        </p:blipFill>
        <p:spPr bwMode="auto">
          <a:xfrm>
            <a:off x="2133600" y="3111285"/>
            <a:ext cx="4552572" cy="3746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198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US" dirty="0"/>
              <a:t>Iron Uptake</a:t>
            </a:r>
          </a:p>
        </p:txBody>
      </p:sp>
      <p:sp>
        <p:nvSpPr>
          <p:cNvPr id="6" name="Content Placeholder 5"/>
          <p:cNvSpPr>
            <a:spLocks noGrp="1"/>
          </p:cNvSpPr>
          <p:nvPr>
            <p:ph sz="half" idx="1"/>
          </p:nvPr>
        </p:nvSpPr>
        <p:spPr>
          <a:xfrm>
            <a:off x="152400" y="990600"/>
            <a:ext cx="8915400" cy="2209800"/>
          </a:xfrm>
        </p:spPr>
        <p:txBody>
          <a:bodyPr>
            <a:normAutofit fontScale="92500" lnSpcReduction="10000"/>
          </a:bodyPr>
          <a:lstStyle/>
          <a:p>
            <a:pPr>
              <a:lnSpc>
                <a:spcPct val="80000"/>
              </a:lnSpc>
            </a:pPr>
            <a:r>
              <a:rPr lang="en-US" sz="2400" dirty="0" smtClean="0"/>
              <a:t>Microorganisms require iron</a:t>
            </a:r>
          </a:p>
          <a:p>
            <a:pPr lvl="1">
              <a:lnSpc>
                <a:spcPct val="80000"/>
              </a:lnSpc>
            </a:pPr>
            <a:r>
              <a:rPr lang="en-US" sz="2200" dirty="0" smtClean="0"/>
              <a:t>ferric iron is very insoluble so uptake is difficult</a:t>
            </a:r>
          </a:p>
          <a:p>
            <a:pPr lvl="1">
              <a:lnSpc>
                <a:spcPct val="80000"/>
              </a:lnSpc>
            </a:pPr>
            <a:endParaRPr lang="en-US" sz="2200" dirty="0" smtClean="0"/>
          </a:p>
          <a:p>
            <a:pPr>
              <a:lnSpc>
                <a:spcPct val="80000"/>
              </a:lnSpc>
            </a:pPr>
            <a:r>
              <a:rPr lang="en-US" sz="2400" dirty="0" smtClean="0"/>
              <a:t>Microorganisms secrete </a:t>
            </a:r>
            <a:r>
              <a:rPr lang="en-US" sz="2400" dirty="0" err="1" smtClean="0"/>
              <a:t>siderophores</a:t>
            </a:r>
            <a:r>
              <a:rPr lang="en-US" sz="2400" dirty="0" smtClean="0"/>
              <a:t> to aid uptake</a:t>
            </a:r>
          </a:p>
          <a:p>
            <a:pPr lvl="1">
              <a:lnSpc>
                <a:spcPct val="80000"/>
              </a:lnSpc>
            </a:pPr>
            <a:r>
              <a:rPr lang="en-US" sz="2200" dirty="0" err="1" smtClean="0"/>
              <a:t>siderophore</a:t>
            </a:r>
            <a:r>
              <a:rPr lang="en-US" sz="2200" dirty="0" smtClean="0"/>
              <a:t> complexes with ferric ion</a:t>
            </a:r>
          </a:p>
          <a:p>
            <a:pPr lvl="1">
              <a:lnSpc>
                <a:spcPct val="80000"/>
              </a:lnSpc>
            </a:pPr>
            <a:endParaRPr lang="en-US" sz="2200" dirty="0" smtClean="0"/>
          </a:p>
          <a:p>
            <a:pPr>
              <a:lnSpc>
                <a:spcPct val="80000"/>
              </a:lnSpc>
            </a:pPr>
            <a:r>
              <a:rPr lang="en-US" sz="2400" dirty="0" smtClean="0"/>
              <a:t>Complex is then transported into cell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pic>
        <p:nvPicPr>
          <p:cNvPr id="8" name="Picture 2" descr="Ball-and-stick model of enterobactin complexed with ferric iron (Fe3+).&#10;Siderophores are low molecular weight organic molecules that bind ferric iron and supply it to the cell." title="Figure 3.15 Enterobactin: A Siderophore Produced by E. coli."/>
          <p:cNvPicPr>
            <a:picLocks noGrp="1" noChangeAspect="1" noChangeArrowheads="1"/>
          </p:cNvPicPr>
          <p:nvPr>
            <p:ph sz="half" idx="2"/>
          </p:nvPr>
        </p:nvPicPr>
        <p:blipFill>
          <a:blip r:embed="rId2" cstate="print"/>
          <a:stretch>
            <a:fillRect/>
          </a:stretch>
        </p:blipFill>
        <p:spPr bwMode="auto">
          <a:xfrm>
            <a:off x="2068113" y="3124200"/>
            <a:ext cx="5273426" cy="3688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198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3.4 There are two main types of </a:t>
            </a:r>
            <a:br>
              <a:rPr lang="en-US" dirty="0" smtClean="0"/>
            </a:br>
            <a:r>
              <a:rPr lang="en-US" dirty="0" smtClean="0"/>
              <a:t>bacterial cell walls</a:t>
            </a:r>
            <a:endParaRPr lang="en-US" dirty="0"/>
          </a:p>
        </p:txBody>
      </p:sp>
      <p:sp>
        <p:nvSpPr>
          <p:cNvPr id="3" name="Content Placeholder 2"/>
          <p:cNvSpPr>
            <a:spLocks noGrp="1"/>
          </p:cNvSpPr>
          <p:nvPr>
            <p:ph idx="1"/>
          </p:nvPr>
        </p:nvSpPr>
        <p:spPr>
          <a:xfrm>
            <a:off x="457200" y="1951037"/>
            <a:ext cx="8229600" cy="4525963"/>
          </a:xfrm>
        </p:spPr>
        <p:txBody>
          <a:bodyPr/>
          <a:lstStyle/>
          <a:p>
            <a:pPr marL="514350" indent="-514350">
              <a:buFont typeface="+mj-lt"/>
              <a:buAutoNum type="arabicPeriod"/>
            </a:pPr>
            <a:r>
              <a:rPr lang="en-US" dirty="0"/>
              <a:t>Describe peptidoglycan structure</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Compare and contrast the cell walls of typical Gram-positive and Gram-negative bacteria</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Relate bacterial cell wall structure to the Gram-staining reaction.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dirty="0"/>
          </a:p>
        </p:txBody>
      </p:sp>
    </p:spTree>
    <p:extLst>
      <p:ext uri="{BB962C8B-B14F-4D97-AF65-F5344CB8AC3E}">
        <p14:creationId xmlns:p14="http://schemas.microsoft.com/office/powerpoint/2010/main" val="615198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Bacterial Cell Wall</a:t>
            </a:r>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r>
              <a:rPr lang="en-US" dirty="0" smtClean="0"/>
              <a:t>Cell wall functions</a:t>
            </a:r>
          </a:p>
          <a:p>
            <a:endParaRPr lang="en-US" dirty="0" smtClean="0"/>
          </a:p>
          <a:p>
            <a:pPr lvl="1"/>
            <a:r>
              <a:rPr lang="en-US" dirty="0" smtClean="0"/>
              <a:t>maintains </a:t>
            </a:r>
            <a:r>
              <a:rPr lang="en-US" dirty="0"/>
              <a:t>shape of the bacterium</a:t>
            </a:r>
          </a:p>
          <a:p>
            <a:pPr lvl="2"/>
            <a:r>
              <a:rPr lang="en-US" dirty="0"/>
              <a:t>almost all bacteria have one</a:t>
            </a:r>
          </a:p>
          <a:p>
            <a:pPr lvl="1"/>
            <a:r>
              <a:rPr lang="en-US" dirty="0" smtClean="0"/>
              <a:t>helps </a:t>
            </a:r>
            <a:r>
              <a:rPr lang="en-US" dirty="0"/>
              <a:t>protect cell from osmotic </a:t>
            </a:r>
            <a:r>
              <a:rPr lang="en-US" dirty="0" smtClean="0"/>
              <a:t>lysis and toxic </a:t>
            </a:r>
            <a:r>
              <a:rPr lang="en-US" dirty="0"/>
              <a:t>materials</a:t>
            </a:r>
          </a:p>
          <a:p>
            <a:pPr lvl="1"/>
            <a:r>
              <a:rPr lang="en-US" dirty="0" smtClean="0"/>
              <a:t>may </a:t>
            </a:r>
            <a:r>
              <a:rPr lang="en-US" dirty="0"/>
              <a:t>contribute to </a:t>
            </a:r>
            <a:r>
              <a:rPr lang="en-US" dirty="0" smtClean="0"/>
              <a:t>pathogenicity</a:t>
            </a:r>
          </a:p>
          <a:p>
            <a:pPr marL="457200" lvl="1" indent="0">
              <a:buNone/>
            </a:pPr>
            <a:endParaRPr lang="en-US" dirty="0"/>
          </a:p>
          <a:p>
            <a:r>
              <a:rPr lang="en-US" dirty="0" smtClean="0"/>
              <a:t>Peptidoglycan </a:t>
            </a:r>
            <a:r>
              <a:rPr lang="en-US" dirty="0"/>
              <a:t>(</a:t>
            </a:r>
            <a:r>
              <a:rPr lang="en-US" dirty="0" err="1"/>
              <a:t>murein</a:t>
            </a:r>
            <a:r>
              <a:rPr lang="en-US" dirty="0" smtClean="0"/>
              <a:t>)</a:t>
            </a:r>
          </a:p>
          <a:p>
            <a:endParaRPr lang="en-US" dirty="0"/>
          </a:p>
          <a:p>
            <a:pPr lvl="1"/>
            <a:r>
              <a:rPr lang="en-US" dirty="0"/>
              <a:t>rigid structure </a:t>
            </a:r>
            <a:r>
              <a:rPr lang="en-US" dirty="0" smtClean="0"/>
              <a:t>lying just </a:t>
            </a:r>
            <a:r>
              <a:rPr lang="en-US" dirty="0"/>
              <a:t>outside the cell plasma membrane</a:t>
            </a:r>
          </a:p>
          <a:p>
            <a:pPr lvl="1"/>
            <a:r>
              <a:rPr lang="en-US" dirty="0"/>
              <a:t>two types based on Gram stain</a:t>
            </a:r>
          </a:p>
          <a:p>
            <a:pPr lvl="2"/>
            <a:r>
              <a:rPr lang="en-US" dirty="0"/>
              <a:t>Gram-positive: stain purple; thick peptidoglycan</a:t>
            </a:r>
          </a:p>
          <a:p>
            <a:pPr lvl="2"/>
            <a:r>
              <a:rPr lang="en-US" dirty="0"/>
              <a:t>Gram-negative: stain pink or red; thin peptidoglycan and outer membrane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dirty="0"/>
          </a:p>
        </p:txBody>
      </p:sp>
    </p:spTree>
    <p:extLst>
      <p:ext uri="{BB962C8B-B14F-4D97-AF65-F5344CB8AC3E}">
        <p14:creationId xmlns:p14="http://schemas.microsoft.com/office/powerpoint/2010/main" val="615198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4572000" cy="1143000"/>
          </a:xfrm>
        </p:spPr>
        <p:txBody>
          <a:bodyPr>
            <a:normAutofit fontScale="90000"/>
          </a:bodyPr>
          <a:lstStyle/>
          <a:p>
            <a:r>
              <a:rPr lang="en-US" dirty="0"/>
              <a:t>Peptidoglycan Structure </a:t>
            </a:r>
          </a:p>
        </p:txBody>
      </p:sp>
      <p:sp>
        <p:nvSpPr>
          <p:cNvPr id="6" name="Content Placeholder 5"/>
          <p:cNvSpPr>
            <a:spLocks noGrp="1"/>
          </p:cNvSpPr>
          <p:nvPr>
            <p:ph sz="half" idx="1"/>
          </p:nvPr>
        </p:nvSpPr>
        <p:spPr>
          <a:xfrm>
            <a:off x="152400" y="1524000"/>
            <a:ext cx="4419600" cy="5181600"/>
          </a:xfrm>
        </p:spPr>
        <p:txBody>
          <a:bodyPr>
            <a:normAutofit/>
          </a:bodyPr>
          <a:lstStyle/>
          <a:p>
            <a:r>
              <a:rPr lang="en-US" dirty="0" err="1" smtClean="0"/>
              <a:t>Meshlike</a:t>
            </a:r>
            <a:r>
              <a:rPr lang="en-US" dirty="0" smtClean="0"/>
              <a:t> polymer of identical subunits forming long strands</a:t>
            </a:r>
          </a:p>
          <a:p>
            <a:endParaRPr lang="en-US" dirty="0" smtClean="0"/>
          </a:p>
          <a:p>
            <a:pPr lvl="1"/>
            <a:r>
              <a:rPr lang="en-US" dirty="0" smtClean="0"/>
              <a:t>two alternating sugars</a:t>
            </a:r>
          </a:p>
          <a:p>
            <a:pPr lvl="2"/>
            <a:r>
              <a:rPr lang="en-US" sz="2400" i="1" dirty="0" smtClean="0"/>
              <a:t>N</a:t>
            </a:r>
            <a:r>
              <a:rPr lang="en-US" sz="2400" dirty="0" smtClean="0"/>
              <a:t>-</a:t>
            </a:r>
            <a:r>
              <a:rPr lang="en-US" sz="2400" dirty="0" err="1" smtClean="0"/>
              <a:t>acetylglucosamine</a:t>
            </a:r>
            <a:r>
              <a:rPr lang="en-US" sz="2400" dirty="0" smtClean="0"/>
              <a:t> (NAG) </a:t>
            </a:r>
          </a:p>
          <a:p>
            <a:pPr lvl="2"/>
            <a:r>
              <a:rPr lang="en-US" sz="2400" i="1" dirty="0" smtClean="0"/>
              <a:t>N</a:t>
            </a:r>
            <a:r>
              <a:rPr lang="en-US" sz="2400" dirty="0" smtClean="0"/>
              <a:t>- </a:t>
            </a:r>
            <a:r>
              <a:rPr lang="en-US" sz="2400" dirty="0" err="1" smtClean="0"/>
              <a:t>acetylmuramic</a:t>
            </a:r>
            <a:r>
              <a:rPr lang="en-US" sz="2400" dirty="0" smtClean="0"/>
              <a:t> acid</a:t>
            </a:r>
          </a:p>
          <a:p>
            <a:pPr lvl="2"/>
            <a:endParaRPr lang="en-US" sz="2400" dirty="0" smtClean="0"/>
          </a:p>
          <a:p>
            <a:pPr lvl="1"/>
            <a:r>
              <a:rPr lang="en-US" dirty="0" smtClean="0"/>
              <a:t>alternating D- and L- amino acids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8" name="Picture 8" descr="This figure shows the peptidoglycan subunit of E. coli, many other typical Gram-negative bacteria, and many typical Gram-positive bacteria before it has been inserted into the existing peptidoglycan polymer. It contains two alternating sugars: N-acetylglucosamine (NAG) and N-acetylmuramic acid (NAM). The pentapeptide side chain is composed of alternating d- and l-amino acids; it terminates with two d-alanines." title="Figure 3.17 Peptidoglycan Subunit Composition."/>
          <p:cNvPicPr>
            <a:picLocks noGrp="1" noChangeAspect="1" noChangeArrowheads="1"/>
          </p:cNvPicPr>
          <p:nvPr>
            <p:ph sz="half" idx="2"/>
          </p:nvPr>
        </p:nvPicPr>
        <p:blipFill>
          <a:blip r:embed="rId2" cstate="print"/>
          <a:stretch>
            <a:fillRect/>
          </a:stretch>
        </p:blipFill>
        <p:spPr bwMode="auto">
          <a:xfrm>
            <a:off x="4776618" y="304800"/>
            <a:ext cx="4129874" cy="6282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198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800600" y="76200"/>
            <a:ext cx="4191000" cy="1143000"/>
          </a:xfrm>
        </p:spPr>
        <p:txBody>
          <a:bodyPr>
            <a:normAutofit fontScale="90000"/>
          </a:bodyPr>
          <a:lstStyle/>
          <a:p>
            <a:r>
              <a:rPr lang="en-US" dirty="0"/>
              <a:t>Strands Are Crosslinked</a:t>
            </a:r>
          </a:p>
        </p:txBody>
      </p:sp>
      <p:sp>
        <p:nvSpPr>
          <p:cNvPr id="7" name="Content Placeholder 6"/>
          <p:cNvSpPr>
            <a:spLocks noGrp="1"/>
          </p:cNvSpPr>
          <p:nvPr>
            <p:ph sz="half" idx="2"/>
          </p:nvPr>
        </p:nvSpPr>
        <p:spPr>
          <a:xfrm>
            <a:off x="4648200" y="1524000"/>
            <a:ext cx="4495800" cy="5181600"/>
          </a:xfrm>
        </p:spPr>
        <p:txBody>
          <a:bodyPr>
            <a:normAutofit/>
          </a:bodyPr>
          <a:lstStyle/>
          <a:p>
            <a:pPr>
              <a:lnSpc>
                <a:spcPct val="90000"/>
              </a:lnSpc>
            </a:pPr>
            <a:r>
              <a:rPr lang="en-US" dirty="0" smtClean="0"/>
              <a:t>Peptidoglycan strands have a helical shape</a:t>
            </a:r>
          </a:p>
          <a:p>
            <a:pPr marL="0" indent="0">
              <a:lnSpc>
                <a:spcPct val="90000"/>
              </a:lnSpc>
              <a:buNone/>
            </a:pPr>
            <a:endParaRPr lang="en-US" dirty="0" smtClean="0"/>
          </a:p>
          <a:p>
            <a:pPr>
              <a:lnSpc>
                <a:spcPct val="90000"/>
              </a:lnSpc>
            </a:pPr>
            <a:r>
              <a:rPr lang="en-US" dirty="0" smtClean="0"/>
              <a:t>Peptidoglycan chains are crosslinked by peptides for strength</a:t>
            </a:r>
          </a:p>
          <a:p>
            <a:pPr>
              <a:lnSpc>
                <a:spcPct val="90000"/>
              </a:lnSpc>
            </a:pPr>
            <a:endParaRPr lang="en-US" dirty="0" smtClean="0"/>
          </a:p>
          <a:p>
            <a:pPr lvl="1">
              <a:lnSpc>
                <a:spcPct val="90000"/>
              </a:lnSpc>
            </a:pPr>
            <a:r>
              <a:rPr lang="en-US" dirty="0" err="1" smtClean="0"/>
              <a:t>interbridges</a:t>
            </a:r>
            <a:r>
              <a:rPr lang="en-US" dirty="0" smtClean="0"/>
              <a:t> may form</a:t>
            </a:r>
          </a:p>
          <a:p>
            <a:pPr lvl="1">
              <a:lnSpc>
                <a:spcPct val="90000"/>
              </a:lnSpc>
            </a:pPr>
            <a:r>
              <a:rPr lang="en-US" dirty="0" smtClean="0"/>
              <a:t>peptidoglycan sacs – interconnected networks</a:t>
            </a:r>
          </a:p>
          <a:p>
            <a:pPr lvl="1">
              <a:lnSpc>
                <a:spcPct val="90000"/>
              </a:lnSpc>
            </a:pPr>
            <a:r>
              <a:rPr lang="en-US" dirty="0" smtClean="0"/>
              <a:t>various structures occur</a:t>
            </a:r>
          </a:p>
          <a:p>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30</a:t>
            </a:fld>
            <a:endParaRPr lang="en-US" dirty="0"/>
          </a:p>
        </p:txBody>
      </p:sp>
      <p:pic>
        <p:nvPicPr>
          <p:cNvPr id="8" name="Content Placeholder 7" descr="(Top) E. coli peptidoglycan with direct cross-linking between the strands, typical of many Gram-negative bacteria. (Bottom) Staphylococcus aureus peptidoglycan with a five glycine interbridge between the two strands." title="Figure 3.19 Peptidoglycan Cross-Links."/>
          <p:cNvPicPr>
            <a:picLocks noGrp="1" noChangeAspect="1" noChangeArrowheads="1"/>
          </p:cNvPicPr>
          <p:nvPr>
            <p:ph sz="half" idx="1"/>
          </p:nvPr>
        </p:nvPicPr>
        <p:blipFill>
          <a:blip r:embed="rId2" cstate="print"/>
          <a:stretch>
            <a:fillRect/>
          </a:stretch>
        </p:blipFill>
        <p:spPr bwMode="auto">
          <a:xfrm>
            <a:off x="76200" y="838200"/>
            <a:ext cx="4611348" cy="5717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716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Gram-Positive Cell Walls</a:t>
            </a:r>
          </a:p>
        </p:txBody>
      </p:sp>
      <p:sp>
        <p:nvSpPr>
          <p:cNvPr id="7" name="Content Placeholder 6"/>
          <p:cNvSpPr>
            <a:spLocks noGrp="1"/>
          </p:cNvSpPr>
          <p:nvPr>
            <p:ph sz="half" idx="2"/>
          </p:nvPr>
        </p:nvSpPr>
        <p:spPr>
          <a:xfrm>
            <a:off x="4648200" y="1219200"/>
            <a:ext cx="4495800" cy="5486400"/>
          </a:xfrm>
        </p:spPr>
        <p:txBody>
          <a:bodyPr>
            <a:normAutofit fontScale="92500"/>
          </a:bodyPr>
          <a:lstStyle/>
          <a:p>
            <a:r>
              <a:rPr lang="en-US" dirty="0"/>
              <a:t>Composed primarily of peptidoglycan</a:t>
            </a:r>
          </a:p>
          <a:p>
            <a:endParaRPr lang="en-US" dirty="0"/>
          </a:p>
          <a:p>
            <a:r>
              <a:rPr lang="en-US" dirty="0"/>
              <a:t>May also contain teichoic acids (negatively charged)</a:t>
            </a:r>
          </a:p>
          <a:p>
            <a:pPr lvl="1"/>
            <a:r>
              <a:rPr lang="en-US" dirty="0" smtClean="0"/>
              <a:t>help maintain cell envelope</a:t>
            </a:r>
          </a:p>
          <a:p>
            <a:pPr lvl="1"/>
            <a:r>
              <a:rPr lang="en-US" dirty="0" smtClean="0"/>
              <a:t>protect from environmental substances</a:t>
            </a:r>
          </a:p>
          <a:p>
            <a:pPr lvl="1"/>
            <a:r>
              <a:rPr lang="en-US" dirty="0" smtClean="0"/>
              <a:t>may bind to host cells</a:t>
            </a:r>
          </a:p>
          <a:p>
            <a:pPr lvl="1"/>
            <a:endParaRPr lang="en-US" dirty="0" smtClean="0"/>
          </a:p>
          <a:p>
            <a:r>
              <a:rPr lang="en-US" dirty="0"/>
              <a:t>Some Gram-positive bacteria have layer of proteins on surface of peptidoglycan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pic>
        <p:nvPicPr>
          <p:cNvPr id="8" name="Picture 2" descr="Photo and drawing of gram-positive cell walls which contain a thick peptidoglycan layer.  Inside the cell wall is the plasma membrane." title="Figure 3.16 (top) Cell Envelope of Typical Gram-Positive Bacteria."/>
          <p:cNvPicPr>
            <a:picLocks noGrp="1" noChangeAspect="1" noChangeArrowheads="1"/>
          </p:cNvPicPr>
          <p:nvPr>
            <p:ph sz="half" idx="1"/>
          </p:nvPr>
        </p:nvPicPr>
        <p:blipFill>
          <a:blip r:embed="rId2" cstate="print"/>
          <a:stretch>
            <a:fillRect/>
          </a:stretch>
        </p:blipFill>
        <p:spPr bwMode="auto">
          <a:xfrm>
            <a:off x="114545" y="1752600"/>
            <a:ext cx="4565079" cy="3784684"/>
          </a:xfrm>
          <a:prstGeom prst="rect">
            <a:avLst/>
          </a:prstGeom>
          <a:noFill/>
        </p:spPr>
      </p:pic>
    </p:spTree>
    <p:extLst>
      <p:ext uri="{BB962C8B-B14F-4D97-AF65-F5344CB8AC3E}">
        <p14:creationId xmlns:p14="http://schemas.microsoft.com/office/powerpoint/2010/main" val="3351580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Periplasmic Space of Gram + Bacteria</a:t>
            </a:r>
          </a:p>
        </p:txBody>
      </p:sp>
      <p:sp>
        <p:nvSpPr>
          <p:cNvPr id="5" name="Content Placeholder 4"/>
          <p:cNvSpPr>
            <a:spLocks noGrp="1"/>
          </p:cNvSpPr>
          <p:nvPr>
            <p:ph sz="half" idx="1"/>
          </p:nvPr>
        </p:nvSpPr>
        <p:spPr>
          <a:xfrm>
            <a:off x="0" y="1447800"/>
            <a:ext cx="3886200" cy="5334000"/>
          </a:xfrm>
        </p:spPr>
        <p:txBody>
          <a:bodyPr>
            <a:normAutofit lnSpcReduction="10000"/>
          </a:bodyPr>
          <a:lstStyle/>
          <a:p>
            <a:r>
              <a:rPr lang="en-US" dirty="0" smtClean="0"/>
              <a:t>Between plasma membrane and cell wall</a:t>
            </a:r>
          </a:p>
          <a:p>
            <a:pPr marL="0" indent="0">
              <a:buNone/>
            </a:pPr>
            <a:endParaRPr lang="en-US" dirty="0" smtClean="0"/>
          </a:p>
          <a:p>
            <a:r>
              <a:rPr lang="en-US" dirty="0" smtClean="0"/>
              <a:t>Periplasm has relatively few proteins</a:t>
            </a:r>
          </a:p>
          <a:p>
            <a:pPr marL="0" indent="0">
              <a:buNone/>
            </a:pPr>
            <a:r>
              <a:rPr lang="en-US" dirty="0" smtClean="0"/>
              <a:t> </a:t>
            </a:r>
          </a:p>
          <a:p>
            <a:r>
              <a:rPr lang="en-US" dirty="0" err="1" smtClean="0"/>
              <a:t>Exoenzymes</a:t>
            </a:r>
            <a:r>
              <a:rPr lang="en-US" dirty="0" smtClean="0"/>
              <a:t> secreted by Gram-positive bacteria</a:t>
            </a:r>
          </a:p>
          <a:p>
            <a:pPr lvl="1"/>
            <a:r>
              <a:rPr lang="en-US" dirty="0" smtClean="0"/>
              <a:t>aid in degradation of large nutrients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pic>
        <p:nvPicPr>
          <p:cNvPr id="8" name="Content Placeholder 7" descr="This figure illustrates the cross-linking of peptidoglycan and how techoic and lipotechoic acids exist in the cell wall.  The outer membrane lies outside the thin peptidoglycan layer." title="Figure 3.22 Typical Gram-Positive Cell Wall."/>
          <p:cNvPicPr>
            <a:picLocks noGrp="1" noChangeAspect="1" noChangeArrowheads="1"/>
          </p:cNvPicPr>
          <p:nvPr>
            <p:ph sz="half" idx="2"/>
          </p:nvPr>
        </p:nvPicPr>
        <p:blipFill>
          <a:blip r:embed="rId2" cstate="print"/>
          <a:stretch>
            <a:fillRect/>
          </a:stretch>
        </p:blipFill>
        <p:spPr bwMode="auto">
          <a:xfrm>
            <a:off x="3665983" y="1455351"/>
            <a:ext cx="5455950" cy="4183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893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US" dirty="0"/>
              <a:t>Gram-Negative Cell </a:t>
            </a:r>
            <a:r>
              <a:rPr lang="en-US" dirty="0" smtClean="0"/>
              <a:t>Wall Basic Structure</a:t>
            </a:r>
            <a:endParaRPr lang="en-US" dirty="0"/>
          </a:p>
        </p:txBody>
      </p:sp>
      <p:sp>
        <p:nvSpPr>
          <p:cNvPr id="6" name="Content Placeholder 5"/>
          <p:cNvSpPr>
            <a:spLocks noGrp="1"/>
          </p:cNvSpPr>
          <p:nvPr>
            <p:ph sz="half" idx="1"/>
          </p:nvPr>
        </p:nvSpPr>
        <p:spPr>
          <a:xfrm>
            <a:off x="152400" y="1219200"/>
            <a:ext cx="4114800" cy="5410200"/>
          </a:xfrm>
        </p:spPr>
        <p:txBody>
          <a:bodyPr>
            <a:normAutofit lnSpcReduction="10000"/>
          </a:bodyPr>
          <a:lstStyle/>
          <a:p>
            <a:pPr>
              <a:lnSpc>
                <a:spcPct val="90000"/>
              </a:lnSpc>
            </a:pPr>
            <a:r>
              <a:rPr lang="en-US" dirty="0" smtClean="0"/>
              <a:t>More complex than Gram-positive</a:t>
            </a:r>
          </a:p>
          <a:p>
            <a:pPr marL="0" indent="0">
              <a:lnSpc>
                <a:spcPct val="90000"/>
              </a:lnSpc>
              <a:buNone/>
            </a:pPr>
            <a:endParaRPr lang="en-US" dirty="0" smtClean="0"/>
          </a:p>
          <a:p>
            <a:pPr>
              <a:lnSpc>
                <a:spcPct val="90000"/>
              </a:lnSpc>
            </a:pPr>
            <a:r>
              <a:rPr lang="en-US" dirty="0" smtClean="0"/>
              <a:t>Consist of a thin layer of peptidoglycan surrounded by an outer membrane</a:t>
            </a:r>
          </a:p>
          <a:p>
            <a:pPr marL="0" indent="0">
              <a:lnSpc>
                <a:spcPct val="90000"/>
              </a:lnSpc>
              <a:buNone/>
            </a:pPr>
            <a:endParaRPr lang="en-US" dirty="0" smtClean="0"/>
          </a:p>
          <a:p>
            <a:pPr>
              <a:lnSpc>
                <a:spcPct val="90000"/>
              </a:lnSpc>
            </a:pPr>
            <a:r>
              <a:rPr lang="en-US" dirty="0" smtClean="0"/>
              <a:t>Outer membrane composed of lipids, lipoproteins, and lipopolysaccharide (LPS)</a:t>
            </a:r>
          </a:p>
          <a:p>
            <a:pPr marL="0" indent="0">
              <a:lnSpc>
                <a:spcPct val="90000"/>
              </a:lnSpc>
              <a:buNone/>
            </a:pPr>
            <a:endParaRPr lang="en-US" dirty="0" smtClean="0"/>
          </a:p>
          <a:p>
            <a:pPr>
              <a:lnSpc>
                <a:spcPct val="90000"/>
              </a:lnSpc>
            </a:pPr>
            <a:r>
              <a:rPr lang="en-US" dirty="0" smtClean="0"/>
              <a:t>No teichoic acids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pic>
        <p:nvPicPr>
          <p:cNvPr id="8" name="Picture 2" descr="Photo and drawing of gram-negative cell walls which contain a thin peptidoglycan layer in between the plasma membrane and the outer membrane.  The cell wall contains both the outer membrane and the peptidoglycan layer." title="Figure 3.16 (bottom) Cell Envelope of Typical Gram-Negative Bacteria."/>
          <p:cNvPicPr>
            <a:picLocks noGrp="1" noChangeAspect="1" noChangeArrowheads="1"/>
          </p:cNvPicPr>
          <p:nvPr>
            <p:ph sz="half" idx="2"/>
          </p:nvPr>
        </p:nvPicPr>
        <p:blipFill>
          <a:blip r:embed="rId2" cstate="print"/>
          <a:stretch>
            <a:fillRect/>
          </a:stretch>
        </p:blipFill>
        <p:spPr bwMode="auto">
          <a:xfrm>
            <a:off x="4267200" y="1676400"/>
            <a:ext cx="4876800" cy="4119416"/>
          </a:xfrm>
          <a:prstGeom prst="rect">
            <a:avLst/>
          </a:prstGeom>
          <a:noFill/>
        </p:spPr>
      </p:pic>
    </p:spTree>
    <p:extLst>
      <p:ext uri="{BB962C8B-B14F-4D97-AF65-F5344CB8AC3E}">
        <p14:creationId xmlns:p14="http://schemas.microsoft.com/office/powerpoint/2010/main" val="1742186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a:t>Gram-Negative Cell Walls</a:t>
            </a:r>
          </a:p>
        </p:txBody>
      </p:sp>
      <p:sp>
        <p:nvSpPr>
          <p:cNvPr id="6" name="Content Placeholder 5"/>
          <p:cNvSpPr>
            <a:spLocks noGrp="1"/>
          </p:cNvSpPr>
          <p:nvPr>
            <p:ph sz="half" idx="1"/>
          </p:nvPr>
        </p:nvSpPr>
        <p:spPr>
          <a:xfrm>
            <a:off x="76200" y="838200"/>
            <a:ext cx="5029200" cy="5867400"/>
          </a:xfrm>
        </p:spPr>
        <p:txBody>
          <a:bodyPr>
            <a:normAutofit fontScale="70000" lnSpcReduction="20000"/>
          </a:bodyPr>
          <a:lstStyle/>
          <a:p>
            <a:r>
              <a:rPr lang="en-US" dirty="0" smtClean="0"/>
              <a:t>Outer membrane (OM) outside thin peptidoglycan layer</a:t>
            </a:r>
          </a:p>
          <a:p>
            <a:endParaRPr lang="en-US" dirty="0" smtClean="0"/>
          </a:p>
          <a:p>
            <a:r>
              <a:rPr lang="en-US" dirty="0" smtClean="0"/>
              <a:t>Braun’s lipoproteins connect OM to peptidoglycan</a:t>
            </a:r>
          </a:p>
          <a:p>
            <a:endParaRPr lang="en-US" dirty="0" smtClean="0"/>
          </a:p>
          <a:p>
            <a:r>
              <a:rPr lang="en-US" dirty="0" smtClean="0"/>
              <a:t>Other adhesion sites reported</a:t>
            </a:r>
          </a:p>
          <a:p>
            <a:endParaRPr lang="en-US" dirty="0" smtClean="0"/>
          </a:p>
          <a:p>
            <a:r>
              <a:rPr lang="en-US" dirty="0" smtClean="0"/>
              <a:t>Peptidoglycan is ~5-10% of cell wall weight</a:t>
            </a:r>
          </a:p>
          <a:p>
            <a:endParaRPr lang="en-US" dirty="0" smtClean="0"/>
          </a:p>
          <a:p>
            <a:r>
              <a:rPr lang="en-US" dirty="0" smtClean="0"/>
              <a:t>Periplasmic space </a:t>
            </a:r>
            <a:br>
              <a:rPr lang="en-US" dirty="0" smtClean="0"/>
            </a:br>
            <a:r>
              <a:rPr lang="en-US" dirty="0" smtClean="0"/>
              <a:t>differs from that in </a:t>
            </a:r>
            <a:br>
              <a:rPr lang="en-US" dirty="0" smtClean="0"/>
            </a:br>
            <a:r>
              <a:rPr lang="en-US" dirty="0" smtClean="0"/>
              <a:t>Gram-positive cells</a:t>
            </a:r>
          </a:p>
          <a:p>
            <a:pPr lvl="1"/>
            <a:r>
              <a:rPr lang="en-US" dirty="0" smtClean="0"/>
              <a:t>may constitute </a:t>
            </a:r>
          </a:p>
          <a:p>
            <a:pPr marL="457200" lvl="1" indent="0">
              <a:buNone/>
            </a:pPr>
            <a:r>
              <a:rPr lang="en-US" dirty="0" smtClean="0"/>
              <a:t>   20–40% of cell </a:t>
            </a:r>
          </a:p>
          <a:p>
            <a:pPr marL="457200" lvl="1" indent="0">
              <a:buNone/>
            </a:pPr>
            <a:r>
              <a:rPr lang="en-US" dirty="0" smtClean="0"/>
              <a:t>   volume</a:t>
            </a:r>
          </a:p>
          <a:p>
            <a:pPr lvl="1"/>
            <a:r>
              <a:rPr lang="en-US" dirty="0" smtClean="0"/>
              <a:t>many enzymes </a:t>
            </a:r>
          </a:p>
          <a:p>
            <a:pPr marL="457200" lvl="1" indent="0">
              <a:buNone/>
            </a:pPr>
            <a:r>
              <a:rPr lang="en-US" dirty="0" smtClean="0"/>
              <a:t>   present in periplasm</a:t>
            </a:r>
          </a:p>
          <a:p>
            <a:pPr lvl="2"/>
            <a:r>
              <a:rPr lang="en-US" dirty="0" smtClean="0"/>
              <a:t>hydrolytic enzymes, </a:t>
            </a:r>
          </a:p>
          <a:p>
            <a:pPr marL="914400" lvl="2" indent="0">
              <a:buNone/>
            </a:pPr>
            <a:r>
              <a:rPr lang="en-US" dirty="0" smtClean="0"/>
              <a:t>   transport proteins </a:t>
            </a:r>
          </a:p>
          <a:p>
            <a:pPr marL="914400" lvl="2" indent="0">
              <a:buNone/>
            </a:pPr>
            <a:r>
              <a:rPr lang="en-US" dirty="0" smtClean="0"/>
              <a:t>   and other proteins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8" name="Content Placeholder 7" descr="Gram-negative bacteria are bounded by two membranes, the plasma membrane and the outer membrane of the cell wall, separated by periplasmic space and peptidoglycan." title="Figure 3.24 Typical Gram-Negative Cell Wall."/>
          <p:cNvPicPr>
            <a:picLocks noGrp="1" noChangeAspect="1" noChangeArrowheads="1"/>
          </p:cNvPicPr>
          <p:nvPr>
            <p:ph sz="half" idx="2"/>
          </p:nvPr>
        </p:nvPicPr>
        <p:blipFill>
          <a:blip r:embed="rId2" cstate="print"/>
          <a:stretch>
            <a:fillRect/>
          </a:stretch>
        </p:blipFill>
        <p:spPr bwMode="auto">
          <a:xfrm>
            <a:off x="3436300" y="3429000"/>
            <a:ext cx="5500742"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normAutofit/>
          </a:bodyPr>
          <a:lstStyle/>
          <a:p>
            <a:r>
              <a:rPr lang="en-US" dirty="0" smtClean="0"/>
              <a:t>LPS - Lipopolysaccharide</a:t>
            </a:r>
            <a:endParaRPr lang="en-US" dirty="0"/>
          </a:p>
        </p:txBody>
      </p:sp>
      <p:sp>
        <p:nvSpPr>
          <p:cNvPr id="7" name="Content Placeholder 6"/>
          <p:cNvSpPr>
            <a:spLocks noGrp="1"/>
          </p:cNvSpPr>
          <p:nvPr>
            <p:ph sz="half" idx="2"/>
          </p:nvPr>
        </p:nvSpPr>
        <p:spPr>
          <a:xfrm>
            <a:off x="4648200" y="914400"/>
            <a:ext cx="4343400" cy="5791200"/>
          </a:xfrm>
        </p:spPr>
        <p:txBody>
          <a:bodyPr>
            <a:normAutofit/>
          </a:bodyPr>
          <a:lstStyle/>
          <a:p>
            <a:r>
              <a:rPr lang="en-US" dirty="0" smtClean="0"/>
              <a:t>Consists of three parts</a:t>
            </a:r>
          </a:p>
          <a:p>
            <a:pPr lvl="1"/>
            <a:r>
              <a:rPr lang="en-US" dirty="0" smtClean="0"/>
              <a:t>lipid A</a:t>
            </a:r>
          </a:p>
          <a:p>
            <a:pPr lvl="1"/>
            <a:r>
              <a:rPr lang="en-US" dirty="0" smtClean="0"/>
              <a:t>core polysaccharide</a:t>
            </a:r>
          </a:p>
          <a:p>
            <a:pPr lvl="1"/>
            <a:r>
              <a:rPr lang="en-US" dirty="0" smtClean="0"/>
              <a:t>O side chain (O antigen)</a:t>
            </a:r>
          </a:p>
          <a:p>
            <a:pPr marL="457200" lvl="1" indent="0">
              <a:buNone/>
            </a:pPr>
            <a:endParaRPr lang="en-US" dirty="0" smtClean="0"/>
          </a:p>
          <a:p>
            <a:r>
              <a:rPr lang="en-US" dirty="0" smtClean="0"/>
              <a:t>Lipid A embedded in OM</a:t>
            </a:r>
          </a:p>
          <a:p>
            <a:pPr marL="0" indent="0">
              <a:buNone/>
            </a:pPr>
            <a:endParaRPr lang="en-US" dirty="0" smtClean="0"/>
          </a:p>
          <a:p>
            <a:r>
              <a:rPr lang="en-US" dirty="0" smtClean="0"/>
              <a:t>Core polysaccharide, O side chain extend out from the cell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pic>
        <p:nvPicPr>
          <p:cNvPr id="8" name="Content Placeholder 7" descr="A simplified diagram of liopolysaccharide.  Lipid A is buried in the outer membrane. " title="Figure 3.25 Lipopolysaccharide Structure (left)."/>
          <p:cNvPicPr>
            <a:picLocks noGrp="1" noChangeAspect="1" noChangeArrowheads="1"/>
          </p:cNvPicPr>
          <p:nvPr>
            <p:ph sz="half" idx="1"/>
          </p:nvPr>
        </p:nvPicPr>
        <p:blipFill>
          <a:blip r:embed="rId2" cstate="print"/>
          <a:stretch>
            <a:fillRect/>
          </a:stretch>
        </p:blipFill>
        <p:spPr bwMode="auto">
          <a:xfrm>
            <a:off x="364287" y="889040"/>
            <a:ext cx="3750513" cy="5937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smtClean="0"/>
              <a:t>Importance of LPS</a:t>
            </a:r>
            <a:endParaRPr lang="en-US" dirty="0"/>
          </a:p>
        </p:txBody>
      </p:sp>
      <p:sp>
        <p:nvSpPr>
          <p:cNvPr id="7" name="Content Placeholder 6"/>
          <p:cNvSpPr>
            <a:spLocks noGrp="1"/>
          </p:cNvSpPr>
          <p:nvPr>
            <p:ph sz="half" idx="2"/>
          </p:nvPr>
        </p:nvSpPr>
        <p:spPr>
          <a:xfrm>
            <a:off x="4876800" y="990600"/>
            <a:ext cx="4267200" cy="5486400"/>
          </a:xfrm>
        </p:spPr>
        <p:txBody>
          <a:bodyPr>
            <a:normAutofit fontScale="85000" lnSpcReduction="10000"/>
          </a:bodyPr>
          <a:lstStyle/>
          <a:p>
            <a:r>
              <a:rPr lang="en-US" dirty="0" smtClean="0"/>
              <a:t>Contributes to negative charge on cell surface</a:t>
            </a:r>
          </a:p>
          <a:p>
            <a:pPr marL="0" indent="0">
              <a:buNone/>
            </a:pPr>
            <a:endParaRPr lang="en-US" dirty="0" smtClean="0"/>
          </a:p>
          <a:p>
            <a:r>
              <a:rPr lang="en-US" dirty="0" smtClean="0"/>
              <a:t>Helps stabilize OM structure</a:t>
            </a:r>
          </a:p>
          <a:p>
            <a:pPr marL="0" indent="0">
              <a:buNone/>
            </a:pPr>
            <a:r>
              <a:rPr lang="en-US" dirty="0" smtClean="0"/>
              <a:t> </a:t>
            </a:r>
          </a:p>
          <a:p>
            <a:r>
              <a:rPr lang="en-US" dirty="0" smtClean="0"/>
              <a:t>Attachment to surfaces and biofilm formation</a:t>
            </a:r>
          </a:p>
          <a:p>
            <a:pPr marL="0" indent="0">
              <a:buNone/>
            </a:pPr>
            <a:endParaRPr lang="en-US" dirty="0" smtClean="0"/>
          </a:p>
          <a:p>
            <a:r>
              <a:rPr lang="en-US" dirty="0" smtClean="0"/>
              <a:t>Creates a permeability barrier</a:t>
            </a:r>
          </a:p>
          <a:p>
            <a:pPr marL="0" indent="0">
              <a:buNone/>
            </a:pPr>
            <a:endParaRPr lang="en-US" dirty="0" smtClean="0"/>
          </a:p>
          <a:p>
            <a:r>
              <a:rPr lang="en-US" dirty="0" smtClean="0"/>
              <a:t>Host defense protection (O antigen)</a:t>
            </a:r>
          </a:p>
          <a:p>
            <a:pPr marL="0" indent="0">
              <a:buNone/>
            </a:pPr>
            <a:endParaRPr lang="en-US" dirty="0" smtClean="0"/>
          </a:p>
          <a:p>
            <a:r>
              <a:rPr lang="en-US" dirty="0" smtClean="0"/>
              <a:t>Acts as an endotoxin (lipid A)</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pic>
        <p:nvPicPr>
          <p:cNvPr id="8" name="Content Placeholder 7" descr="Molecular model of a lipopolysaccharide. The lipid A and core polysaccharide are straight; the O side chain is bent at an angle in this model." title="Figure 3.25 Lipopolysaccharide Structure (right)."/>
          <p:cNvPicPr>
            <a:picLocks noGrp="1" noChangeAspect="1" noChangeArrowheads="1"/>
          </p:cNvPicPr>
          <p:nvPr>
            <p:ph sz="half" idx="1"/>
          </p:nvPr>
        </p:nvPicPr>
        <p:blipFill>
          <a:blip r:embed="rId2" cstate="print"/>
          <a:stretch>
            <a:fillRect/>
          </a:stretch>
        </p:blipFill>
        <p:spPr bwMode="auto">
          <a:xfrm>
            <a:off x="94722" y="1600200"/>
            <a:ext cx="4703926" cy="3867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718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Gram-Negative Outer Membrane Permeability</a:t>
            </a:r>
          </a:p>
        </p:txBody>
      </p:sp>
      <p:sp>
        <p:nvSpPr>
          <p:cNvPr id="6" name="Content Placeholder 5"/>
          <p:cNvSpPr>
            <a:spLocks noGrp="1"/>
          </p:cNvSpPr>
          <p:nvPr>
            <p:ph sz="half" idx="1"/>
          </p:nvPr>
        </p:nvSpPr>
        <p:spPr>
          <a:xfrm>
            <a:off x="76200" y="1371600"/>
            <a:ext cx="8839200" cy="1905000"/>
          </a:xfrm>
        </p:spPr>
        <p:txBody>
          <a:bodyPr>
            <a:normAutofit fontScale="92500" lnSpcReduction="20000"/>
          </a:bodyPr>
          <a:lstStyle/>
          <a:p>
            <a:r>
              <a:rPr lang="en-US" dirty="0" smtClean="0"/>
              <a:t>More permeable than plasma membrane due to presence of </a:t>
            </a:r>
            <a:r>
              <a:rPr lang="en-US" dirty="0" err="1" smtClean="0"/>
              <a:t>porin</a:t>
            </a:r>
            <a:r>
              <a:rPr lang="en-US" dirty="0" smtClean="0"/>
              <a:t> proteins and transporter proteins</a:t>
            </a:r>
          </a:p>
          <a:p>
            <a:endParaRPr lang="en-US" dirty="0" smtClean="0"/>
          </a:p>
          <a:p>
            <a:pPr lvl="1"/>
            <a:r>
              <a:rPr lang="en-US" dirty="0" err="1" smtClean="0"/>
              <a:t>porin</a:t>
            </a:r>
            <a:r>
              <a:rPr lang="en-US" dirty="0" smtClean="0"/>
              <a:t> proteins form channels to let small molecules (600–700 </a:t>
            </a:r>
            <a:r>
              <a:rPr lang="en-US" dirty="0" err="1" smtClean="0"/>
              <a:t>daltons</a:t>
            </a:r>
            <a:r>
              <a:rPr lang="en-US" dirty="0" smtClean="0"/>
              <a:t>) pass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pic>
        <p:nvPicPr>
          <p:cNvPr id="8" name="Picture 8" descr="Two views of the OmpF porin of E. coli. (Left) Structure of a trimeric porin observed when looking down at the outer surface of the outer membrane (i.e., top view). The center of each porin monomer is a water-filled channel. Each OmpF monomer can be divided into three loops: one loop forms the channel, another interacts with other porin proteins to help form the trimer, and the third loop narrows the channel.  (Right) Side view of a porin monomer showing the β-barrel structure characteristic of porin proteins." title="Figure 3.26 Porin Proteins."/>
          <p:cNvPicPr>
            <a:picLocks noGrp="1" noChangeAspect="1" noChangeArrowheads="1"/>
          </p:cNvPicPr>
          <p:nvPr>
            <p:ph sz="half" idx="2"/>
          </p:nvPr>
        </p:nvPicPr>
        <p:blipFill>
          <a:blip r:embed="rId2" cstate="print"/>
          <a:stretch>
            <a:fillRect/>
          </a:stretch>
        </p:blipFill>
        <p:spPr bwMode="auto">
          <a:xfrm>
            <a:off x="1524000" y="3200401"/>
            <a:ext cx="6482442"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Mechanism of Gram Stain Reaction</a:t>
            </a:r>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a:lnSpc>
                <a:spcPct val="90000"/>
              </a:lnSpc>
            </a:pPr>
            <a:r>
              <a:rPr lang="en-US" dirty="0"/>
              <a:t>Gram stain reaction due to nature of cell </a:t>
            </a:r>
            <a:r>
              <a:rPr lang="en-US" dirty="0" smtClean="0"/>
              <a:t>wall</a:t>
            </a:r>
          </a:p>
          <a:p>
            <a:pPr marL="0" indent="0">
              <a:lnSpc>
                <a:spcPct val="90000"/>
              </a:lnSpc>
              <a:buNone/>
            </a:pPr>
            <a:endParaRPr lang="en-US" dirty="0"/>
          </a:p>
          <a:p>
            <a:pPr>
              <a:lnSpc>
                <a:spcPct val="90000"/>
              </a:lnSpc>
            </a:pPr>
            <a:r>
              <a:rPr lang="en-US" dirty="0" smtClean="0"/>
              <a:t>Shrinkage </a:t>
            </a:r>
            <a:r>
              <a:rPr lang="en-US" dirty="0"/>
              <a:t>of the pores of peptidoglycan layer of Gram-positive cells</a:t>
            </a:r>
          </a:p>
          <a:p>
            <a:pPr lvl="1">
              <a:lnSpc>
                <a:spcPct val="90000"/>
              </a:lnSpc>
            </a:pPr>
            <a:r>
              <a:rPr lang="en-US" dirty="0"/>
              <a:t>constriction prevents loss of crystal violet during </a:t>
            </a:r>
            <a:r>
              <a:rPr lang="en-US" dirty="0" err="1"/>
              <a:t>decolorization</a:t>
            </a:r>
            <a:r>
              <a:rPr lang="en-US" dirty="0"/>
              <a:t> </a:t>
            </a:r>
            <a:r>
              <a:rPr lang="en-US" dirty="0" smtClean="0"/>
              <a:t>step</a:t>
            </a:r>
          </a:p>
          <a:p>
            <a:pPr marL="457200" lvl="1" indent="0">
              <a:lnSpc>
                <a:spcPct val="90000"/>
              </a:lnSpc>
              <a:buNone/>
            </a:pPr>
            <a:endParaRPr lang="en-US" dirty="0"/>
          </a:p>
          <a:p>
            <a:pPr>
              <a:lnSpc>
                <a:spcPct val="90000"/>
              </a:lnSpc>
            </a:pPr>
            <a:r>
              <a:rPr lang="en-US" dirty="0" smtClean="0"/>
              <a:t>Thinner </a:t>
            </a:r>
            <a:r>
              <a:rPr lang="en-US" dirty="0"/>
              <a:t>peptidoglycan layer and larger pores of Gram-negative bacteria does not prevent loss of crystal </a:t>
            </a:r>
            <a:r>
              <a:rPr lang="en-US" dirty="0" smtClean="0"/>
              <a:t>violet</a:t>
            </a:r>
          </a:p>
          <a:p>
            <a:pPr lvl="1">
              <a:lnSpc>
                <a:spcPct val="90000"/>
              </a:lnSpc>
            </a:pPr>
            <a:r>
              <a:rPr lang="en-US" dirty="0" smtClean="0"/>
              <a:t>alcohol may also remove/extract some lipids from outer layer of Gram-negative cell wall, making crystal violet dye removal easier</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1742186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Osmotic Protection</a:t>
            </a:r>
          </a:p>
        </p:txBody>
      </p:sp>
      <p:sp>
        <p:nvSpPr>
          <p:cNvPr id="3" name="Content Placeholder 2"/>
          <p:cNvSpPr>
            <a:spLocks noGrp="1"/>
          </p:cNvSpPr>
          <p:nvPr>
            <p:ph idx="1"/>
          </p:nvPr>
        </p:nvSpPr>
        <p:spPr/>
        <p:txBody>
          <a:bodyPr>
            <a:normAutofit fontScale="92500"/>
          </a:bodyPr>
          <a:lstStyle/>
          <a:p>
            <a:pPr>
              <a:lnSpc>
                <a:spcPct val="90000"/>
              </a:lnSpc>
            </a:pPr>
            <a:r>
              <a:rPr lang="en-US" dirty="0"/>
              <a:t>Hypotonic environments </a:t>
            </a:r>
          </a:p>
          <a:p>
            <a:pPr lvl="1">
              <a:lnSpc>
                <a:spcPct val="90000"/>
              </a:lnSpc>
            </a:pPr>
            <a:r>
              <a:rPr lang="en-US" dirty="0"/>
              <a:t>solute concentration outside </a:t>
            </a:r>
            <a:r>
              <a:rPr lang="en-US" dirty="0" smtClean="0"/>
              <a:t>cell less </a:t>
            </a:r>
            <a:r>
              <a:rPr lang="en-US" dirty="0"/>
              <a:t>than inside </a:t>
            </a:r>
            <a:r>
              <a:rPr lang="en-US" dirty="0" smtClean="0"/>
              <a:t>cell</a:t>
            </a:r>
            <a:endParaRPr lang="en-US" dirty="0"/>
          </a:p>
          <a:p>
            <a:pPr lvl="1">
              <a:lnSpc>
                <a:spcPct val="90000"/>
              </a:lnSpc>
            </a:pPr>
            <a:r>
              <a:rPr lang="en-US" dirty="0"/>
              <a:t>water moves into cell and cell swells</a:t>
            </a:r>
          </a:p>
          <a:p>
            <a:pPr lvl="1">
              <a:lnSpc>
                <a:spcPct val="90000"/>
              </a:lnSpc>
            </a:pPr>
            <a:r>
              <a:rPr lang="en-US" dirty="0"/>
              <a:t>cell wall protects from </a:t>
            </a:r>
            <a:r>
              <a:rPr lang="en-US" dirty="0" smtClean="0"/>
              <a:t>lysis</a:t>
            </a:r>
          </a:p>
          <a:p>
            <a:pPr marL="457200" lvl="1" indent="0">
              <a:lnSpc>
                <a:spcPct val="90000"/>
              </a:lnSpc>
              <a:buNone/>
            </a:pPr>
            <a:endParaRPr lang="en-US" dirty="0"/>
          </a:p>
          <a:p>
            <a:pPr>
              <a:lnSpc>
                <a:spcPct val="90000"/>
              </a:lnSpc>
            </a:pPr>
            <a:r>
              <a:rPr lang="en-US" dirty="0"/>
              <a:t>Hypertonic environments</a:t>
            </a:r>
          </a:p>
          <a:p>
            <a:pPr lvl="1">
              <a:lnSpc>
                <a:spcPct val="90000"/>
              </a:lnSpc>
            </a:pPr>
            <a:r>
              <a:rPr lang="en-US" dirty="0"/>
              <a:t>solute concentration outside </a:t>
            </a:r>
            <a:r>
              <a:rPr lang="en-US" dirty="0" smtClean="0"/>
              <a:t>cell </a:t>
            </a:r>
            <a:r>
              <a:rPr lang="en-US" dirty="0"/>
              <a:t>is greater than inside</a:t>
            </a:r>
          </a:p>
          <a:p>
            <a:pPr lvl="1">
              <a:lnSpc>
                <a:spcPct val="90000"/>
              </a:lnSpc>
            </a:pPr>
            <a:r>
              <a:rPr lang="en-US" dirty="0"/>
              <a:t>water leaves </a:t>
            </a:r>
            <a:r>
              <a:rPr lang="en-US" dirty="0" smtClean="0"/>
              <a:t>cell</a:t>
            </a:r>
            <a:endParaRPr lang="en-US" dirty="0"/>
          </a:p>
          <a:p>
            <a:pPr lvl="1">
              <a:lnSpc>
                <a:spcPct val="90000"/>
              </a:lnSpc>
            </a:pPr>
            <a:r>
              <a:rPr lang="en-US" dirty="0"/>
              <a:t>plasmolysis </a:t>
            </a:r>
            <a:r>
              <a:rPr lang="en-US" dirty="0" smtClean="0"/>
              <a:t>occurs</a:t>
            </a:r>
          </a:p>
          <a:p>
            <a:pPr>
              <a:lnSpc>
                <a:spcPct val="9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17421868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Evidence for protection of cell </a:t>
            </a:r>
            <a:r>
              <a:rPr lang="en-US" dirty="0" smtClean="0"/>
              <a:t>wall</a:t>
            </a:r>
            <a:endParaRPr lang="en-US" dirty="0"/>
          </a:p>
        </p:txBody>
      </p:sp>
      <p:sp>
        <p:nvSpPr>
          <p:cNvPr id="5" name="Content Placeholder 4"/>
          <p:cNvSpPr>
            <a:spLocks noGrp="1"/>
          </p:cNvSpPr>
          <p:nvPr>
            <p:ph sz="half" idx="1"/>
          </p:nvPr>
        </p:nvSpPr>
        <p:spPr>
          <a:xfrm>
            <a:off x="152400" y="1600201"/>
            <a:ext cx="8839200" cy="2438400"/>
          </a:xfrm>
        </p:spPr>
        <p:txBody>
          <a:bodyPr>
            <a:normAutofit fontScale="92500" lnSpcReduction="20000"/>
          </a:bodyPr>
          <a:lstStyle/>
          <a:p>
            <a:r>
              <a:rPr lang="en-US" dirty="0" smtClean="0"/>
              <a:t>Lysozyme</a:t>
            </a:r>
            <a:r>
              <a:rPr lang="en-US" dirty="0" smtClean="0">
                <a:solidFill>
                  <a:schemeClr val="tx2"/>
                </a:solidFill>
              </a:rPr>
              <a:t> </a:t>
            </a:r>
            <a:r>
              <a:rPr lang="en-US" dirty="0" smtClean="0"/>
              <a:t>breaks bond between NAG and NAM</a:t>
            </a:r>
          </a:p>
          <a:p>
            <a:pPr marL="0" indent="0">
              <a:buNone/>
            </a:pPr>
            <a:endParaRPr lang="en-US" dirty="0" smtClean="0"/>
          </a:p>
          <a:p>
            <a:r>
              <a:rPr lang="en-US" dirty="0" smtClean="0"/>
              <a:t>Penicillin</a:t>
            </a:r>
            <a:r>
              <a:rPr lang="en-US" dirty="0" smtClean="0">
                <a:solidFill>
                  <a:schemeClr val="tx2"/>
                </a:solidFill>
              </a:rPr>
              <a:t> </a:t>
            </a:r>
            <a:r>
              <a:rPr lang="en-US" dirty="0" smtClean="0"/>
              <a:t>inhibits peptidoglycan synthesis</a:t>
            </a:r>
          </a:p>
          <a:p>
            <a:pPr marL="0" indent="0">
              <a:buNone/>
            </a:pPr>
            <a:endParaRPr lang="en-US" dirty="0" smtClean="0"/>
          </a:p>
          <a:p>
            <a:r>
              <a:rPr lang="en-US" dirty="0" smtClean="0"/>
              <a:t>If cells are treated with either of the above, they lyse in a hypotonic solution</a:t>
            </a:r>
            <a:endParaRPr lang="en-US" dirty="0" smtClean="0">
              <a:solidFill>
                <a:schemeClr val="tx2"/>
              </a:solidFill>
            </a:endParaRP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pic>
        <p:nvPicPr>
          <p:cNvPr id="8" name="Picture 8" descr="Treatment of a typical Gram-positive bacterium with penicillin results in the complete loss of the cell wall, and the cell becomes a protoplast.  Because it lacks a cell wall it is osmotically sensitive.  &#10;If the cell is treated with penicillin in an isotonic medium, it can survive and grow normally, but when it is transferred to a hypotonic medium it takes in too much water, swells, and lyses." title="Figure 3.27 Protoplast Formation and Lysis."/>
          <p:cNvPicPr>
            <a:picLocks noGrp="1" noChangeAspect="1" noChangeArrowheads="1"/>
          </p:cNvPicPr>
          <p:nvPr>
            <p:ph sz="half" idx="2"/>
          </p:nvPr>
        </p:nvPicPr>
        <p:blipFill>
          <a:blip r:embed="rId2" cstate="print"/>
          <a:stretch>
            <a:fillRect/>
          </a:stretch>
        </p:blipFill>
        <p:spPr bwMode="auto">
          <a:xfrm>
            <a:off x="80285" y="4572000"/>
            <a:ext cx="9051358" cy="1788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510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Cells that Lose a Cell Wall May Survive in Isotonic Environments</a:t>
            </a:r>
          </a:p>
        </p:txBody>
      </p:sp>
      <p:sp>
        <p:nvSpPr>
          <p:cNvPr id="3" name="Content Placeholder 2"/>
          <p:cNvSpPr>
            <a:spLocks noGrp="1"/>
          </p:cNvSpPr>
          <p:nvPr>
            <p:ph idx="1"/>
          </p:nvPr>
        </p:nvSpPr>
        <p:spPr/>
        <p:txBody>
          <a:bodyPr/>
          <a:lstStyle/>
          <a:p>
            <a:r>
              <a:rPr lang="en-US" dirty="0"/>
              <a:t>Protoplasts </a:t>
            </a:r>
            <a:endParaRPr lang="en-US" dirty="0" smtClean="0"/>
          </a:p>
          <a:p>
            <a:pPr marL="0" indent="0">
              <a:buNone/>
            </a:pPr>
            <a:endParaRPr lang="en-US" dirty="0"/>
          </a:p>
          <a:p>
            <a:r>
              <a:rPr lang="en-US" dirty="0" err="1" smtClean="0"/>
              <a:t>Spheroplasts</a:t>
            </a:r>
            <a:endParaRPr lang="en-US" dirty="0" smtClean="0"/>
          </a:p>
          <a:p>
            <a:pPr marL="0" indent="0">
              <a:buNone/>
            </a:pPr>
            <a:endParaRPr lang="en-US" dirty="0"/>
          </a:p>
          <a:p>
            <a:r>
              <a:rPr lang="en-US" i="1" dirty="0"/>
              <a:t>Mycoplasma</a:t>
            </a:r>
            <a:r>
              <a:rPr lang="en-US" dirty="0"/>
              <a:t> </a:t>
            </a:r>
          </a:p>
          <a:p>
            <a:pPr lvl="1"/>
            <a:r>
              <a:rPr lang="en-US" dirty="0"/>
              <a:t>does not produce a cell wall</a:t>
            </a:r>
          </a:p>
          <a:p>
            <a:pPr lvl="1"/>
            <a:r>
              <a:rPr lang="en-US" dirty="0"/>
              <a:t>plasma membrane more resistant to osmotic pressure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spTree>
    <p:extLst>
      <p:ext uri="{BB962C8B-B14F-4D97-AF65-F5344CB8AC3E}">
        <p14:creationId xmlns:p14="http://schemas.microsoft.com/office/powerpoint/2010/main" val="1742186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3.5 </a:t>
            </a:r>
            <a:r>
              <a:rPr lang="en-US" dirty="0" smtClean="0"/>
              <a:t>The Cell </a:t>
            </a:r>
            <a:r>
              <a:rPr lang="en-US" dirty="0"/>
              <a:t>Envelope </a:t>
            </a:r>
            <a:r>
              <a:rPr lang="en-US" dirty="0" smtClean="0"/>
              <a:t>Often Includes Layers </a:t>
            </a:r>
            <a:r>
              <a:rPr lang="en-US" dirty="0"/>
              <a:t>Outside the Cell Wall</a:t>
            </a:r>
          </a:p>
        </p:txBody>
      </p:sp>
      <p:sp>
        <p:nvSpPr>
          <p:cNvPr id="3" name="Content Placeholder 2"/>
          <p:cNvSpPr>
            <a:spLocks noGrp="1"/>
          </p:cNvSpPr>
          <p:nvPr>
            <p:ph idx="1"/>
          </p:nvPr>
        </p:nvSpPr>
        <p:spPr>
          <a:xfrm>
            <a:off x="457200" y="1828800"/>
            <a:ext cx="8229600" cy="4525963"/>
          </a:xfrm>
        </p:spPr>
        <p:txBody>
          <a:bodyPr/>
          <a:lstStyle/>
          <a:p>
            <a:pPr marL="514350" indent="-514350">
              <a:buFont typeface="+mj-lt"/>
              <a:buAutoNum type="arabicPeriod"/>
            </a:pPr>
            <a:r>
              <a:rPr lang="en-US" dirty="0"/>
              <a:t>Compile a list of </a:t>
            </a:r>
            <a:r>
              <a:rPr lang="en-US" dirty="0" smtClean="0"/>
              <a:t>the </a:t>
            </a:r>
            <a:r>
              <a:rPr lang="en-US" dirty="0"/>
              <a:t>structures found in all the layers of bacterial cell envelopes, noting the functions and the major component molecules of each.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spTree>
    <p:extLst>
      <p:ext uri="{BB962C8B-B14F-4D97-AF65-F5344CB8AC3E}">
        <p14:creationId xmlns:p14="http://schemas.microsoft.com/office/powerpoint/2010/main" val="1742186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Components Outside of the Cell Wall</a:t>
            </a:r>
          </a:p>
        </p:txBody>
      </p:sp>
      <p:sp>
        <p:nvSpPr>
          <p:cNvPr id="3" name="Content Placeholder 2"/>
          <p:cNvSpPr>
            <a:spLocks noGrp="1"/>
          </p:cNvSpPr>
          <p:nvPr>
            <p:ph idx="1"/>
          </p:nvPr>
        </p:nvSpPr>
        <p:spPr/>
        <p:txBody>
          <a:bodyPr/>
          <a:lstStyle/>
          <a:p>
            <a:r>
              <a:rPr lang="en-US" dirty="0"/>
              <a:t>Outermost layer in the cell </a:t>
            </a:r>
            <a:r>
              <a:rPr lang="en-US" dirty="0" smtClean="0"/>
              <a:t>envelope</a:t>
            </a:r>
          </a:p>
          <a:p>
            <a:pPr marL="0" indent="0">
              <a:buNone/>
            </a:pPr>
            <a:endParaRPr lang="en-US" dirty="0"/>
          </a:p>
          <a:p>
            <a:r>
              <a:rPr lang="en-US" dirty="0" err="1"/>
              <a:t>Glycocalyx</a:t>
            </a:r>
            <a:endParaRPr lang="en-US" dirty="0"/>
          </a:p>
          <a:p>
            <a:pPr lvl="1"/>
            <a:r>
              <a:rPr lang="en-US" dirty="0"/>
              <a:t>capsules and slime layers</a:t>
            </a:r>
          </a:p>
          <a:p>
            <a:pPr lvl="1"/>
            <a:r>
              <a:rPr lang="en-US" dirty="0"/>
              <a:t>S </a:t>
            </a:r>
            <a:r>
              <a:rPr lang="en-US" dirty="0" smtClean="0"/>
              <a:t>layers</a:t>
            </a:r>
          </a:p>
          <a:p>
            <a:pPr marL="457200" lvl="1" indent="0">
              <a:buNone/>
            </a:pPr>
            <a:endParaRPr lang="en-US" dirty="0"/>
          </a:p>
          <a:p>
            <a:r>
              <a:rPr lang="en-US" dirty="0"/>
              <a:t>Aid in attachment to solid surfaces</a:t>
            </a:r>
          </a:p>
          <a:p>
            <a:pPr lvl="1"/>
            <a:r>
              <a:rPr lang="en-US" dirty="0"/>
              <a:t>e.g</a:t>
            </a:r>
            <a:r>
              <a:rPr lang="en-US" dirty="0" smtClean="0"/>
              <a:t>. </a:t>
            </a:r>
            <a:r>
              <a:rPr lang="en-US" dirty="0"/>
              <a:t>biofilms in plants and animals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spTree>
    <p:extLst>
      <p:ext uri="{BB962C8B-B14F-4D97-AF65-F5344CB8AC3E}">
        <p14:creationId xmlns:p14="http://schemas.microsoft.com/office/powerpoint/2010/main" val="1742186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smtClean="0"/>
              <a:t>Components Outside of Cell Wall - Capsules</a:t>
            </a:r>
            <a:endParaRPr lang="en-US" dirty="0"/>
          </a:p>
        </p:txBody>
      </p:sp>
      <p:sp>
        <p:nvSpPr>
          <p:cNvPr id="5" name="Content Placeholder 4"/>
          <p:cNvSpPr>
            <a:spLocks noGrp="1"/>
          </p:cNvSpPr>
          <p:nvPr>
            <p:ph sz="half" idx="1"/>
          </p:nvPr>
        </p:nvSpPr>
        <p:spPr>
          <a:xfrm>
            <a:off x="0" y="1600200"/>
            <a:ext cx="4648200" cy="5105400"/>
          </a:xfrm>
        </p:spPr>
        <p:txBody>
          <a:bodyPr>
            <a:normAutofit lnSpcReduction="10000"/>
          </a:bodyPr>
          <a:lstStyle/>
          <a:p>
            <a:pPr>
              <a:lnSpc>
                <a:spcPct val="90000"/>
              </a:lnSpc>
            </a:pPr>
            <a:r>
              <a:rPr lang="en-US" dirty="0" smtClean="0"/>
              <a:t>Usually composed of polysaccharides</a:t>
            </a:r>
          </a:p>
          <a:p>
            <a:pPr marL="0" indent="0">
              <a:lnSpc>
                <a:spcPct val="90000"/>
              </a:lnSpc>
              <a:buNone/>
            </a:pPr>
            <a:endParaRPr lang="en-US" dirty="0" smtClean="0"/>
          </a:p>
          <a:p>
            <a:pPr>
              <a:lnSpc>
                <a:spcPct val="90000"/>
              </a:lnSpc>
            </a:pPr>
            <a:r>
              <a:rPr lang="en-US" dirty="0" smtClean="0"/>
              <a:t>Well organized and not easily removed from cell</a:t>
            </a:r>
          </a:p>
          <a:p>
            <a:pPr marL="0" indent="0">
              <a:lnSpc>
                <a:spcPct val="90000"/>
              </a:lnSpc>
              <a:buNone/>
            </a:pPr>
            <a:endParaRPr lang="en-US" dirty="0" smtClean="0"/>
          </a:p>
          <a:p>
            <a:pPr>
              <a:lnSpc>
                <a:spcPct val="90000"/>
              </a:lnSpc>
            </a:pPr>
            <a:r>
              <a:rPr lang="en-US" dirty="0" smtClean="0"/>
              <a:t>Visible in light microscope</a:t>
            </a:r>
          </a:p>
          <a:p>
            <a:pPr marL="0" indent="0">
              <a:lnSpc>
                <a:spcPct val="90000"/>
              </a:lnSpc>
              <a:buNone/>
            </a:pPr>
            <a:endParaRPr lang="en-US" dirty="0" smtClean="0"/>
          </a:p>
          <a:p>
            <a:pPr>
              <a:lnSpc>
                <a:spcPct val="90000"/>
              </a:lnSpc>
            </a:pPr>
            <a:r>
              <a:rPr lang="en-US" dirty="0" smtClean="0"/>
              <a:t>Protective advantages</a:t>
            </a:r>
          </a:p>
          <a:p>
            <a:pPr lvl="1">
              <a:lnSpc>
                <a:spcPct val="90000"/>
              </a:lnSpc>
            </a:pPr>
            <a:r>
              <a:rPr lang="en-US" dirty="0" smtClean="0"/>
              <a:t>resistant to phagocytosis</a:t>
            </a:r>
          </a:p>
          <a:p>
            <a:pPr lvl="1">
              <a:lnSpc>
                <a:spcPct val="90000"/>
              </a:lnSpc>
            </a:pPr>
            <a:r>
              <a:rPr lang="en-US" dirty="0" smtClean="0"/>
              <a:t>protect from desiccation</a:t>
            </a:r>
          </a:p>
          <a:p>
            <a:pPr lvl="1">
              <a:lnSpc>
                <a:spcPct val="90000"/>
              </a:lnSpc>
            </a:pPr>
            <a:r>
              <a:rPr lang="en-US" dirty="0" smtClean="0"/>
              <a:t>exclude viruses and detergents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44</a:t>
            </a:fld>
            <a:endParaRPr lang="en-US"/>
          </a:p>
        </p:txBody>
      </p:sp>
      <p:pic>
        <p:nvPicPr>
          <p:cNvPr id="8" name="Picture 2" descr="Photo of Klebsiella pneumoniae with its capsule stained for observation in the light microscope (×1,000 magnification).&#10;Capsules are layers outside the cell wall that are well organized and not easily washed off.  They are most often composed of polysaccharides, but some are constructed of other materials." title="Figure 3.28 Bacterial Capsules."/>
          <p:cNvPicPr>
            <a:picLocks noGrp="1" noChangeAspect="1" noChangeArrowheads="1"/>
          </p:cNvPicPr>
          <p:nvPr>
            <p:ph sz="half" idx="2"/>
          </p:nvPr>
        </p:nvPicPr>
        <p:blipFill>
          <a:blip r:embed="rId2" cstate="print"/>
          <a:srcRect/>
          <a:stretch>
            <a:fillRect/>
          </a:stretch>
        </p:blipFill>
        <p:spPr bwMode="auto">
          <a:xfrm>
            <a:off x="4648200" y="1725391"/>
            <a:ext cx="4419600" cy="4945636"/>
          </a:xfrm>
          <a:prstGeom prst="rect">
            <a:avLst/>
          </a:prstGeom>
          <a:noFill/>
        </p:spPr>
      </p:pic>
    </p:spTree>
    <p:extLst>
      <p:ext uri="{BB962C8B-B14F-4D97-AF65-F5344CB8AC3E}">
        <p14:creationId xmlns:p14="http://schemas.microsoft.com/office/powerpoint/2010/main" val="17421868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Outside of Cell Wall - Slime </a:t>
            </a:r>
            <a:r>
              <a:rPr lang="en-US" dirty="0"/>
              <a:t>Layers</a:t>
            </a:r>
          </a:p>
        </p:txBody>
      </p:sp>
      <p:sp>
        <p:nvSpPr>
          <p:cNvPr id="3" name="Content Placeholder 2"/>
          <p:cNvSpPr>
            <a:spLocks noGrp="1"/>
          </p:cNvSpPr>
          <p:nvPr>
            <p:ph idx="1"/>
          </p:nvPr>
        </p:nvSpPr>
        <p:spPr>
          <a:xfrm>
            <a:off x="457200" y="1874837"/>
            <a:ext cx="8229600" cy="4525963"/>
          </a:xfrm>
        </p:spPr>
        <p:txBody>
          <a:bodyPr/>
          <a:lstStyle/>
          <a:p>
            <a:pPr>
              <a:lnSpc>
                <a:spcPct val="120000"/>
              </a:lnSpc>
            </a:pPr>
            <a:r>
              <a:rPr lang="en-US" dirty="0" smtClean="0"/>
              <a:t>Similar </a:t>
            </a:r>
            <a:r>
              <a:rPr lang="en-US" dirty="0"/>
              <a:t>to capsules except diffuse, unorganized and easily </a:t>
            </a:r>
            <a:r>
              <a:rPr lang="en-US" dirty="0" smtClean="0"/>
              <a:t>removed</a:t>
            </a:r>
          </a:p>
          <a:p>
            <a:pPr marL="0" indent="0">
              <a:lnSpc>
                <a:spcPct val="120000"/>
              </a:lnSpc>
              <a:buNone/>
            </a:pPr>
            <a:endParaRPr lang="en-US" dirty="0"/>
          </a:p>
          <a:p>
            <a:pPr>
              <a:lnSpc>
                <a:spcPct val="120000"/>
              </a:lnSpc>
            </a:pPr>
            <a:r>
              <a:rPr lang="en-US" dirty="0"/>
              <a:t>S</a:t>
            </a:r>
            <a:r>
              <a:rPr lang="en-US" dirty="0" smtClean="0"/>
              <a:t>lime </a:t>
            </a:r>
            <a:r>
              <a:rPr lang="en-US" dirty="0"/>
              <a:t>may aid in motility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45</a:t>
            </a:fld>
            <a:endParaRPr lang="en-US"/>
          </a:p>
        </p:txBody>
      </p:sp>
    </p:spTree>
    <p:extLst>
      <p:ext uri="{BB962C8B-B14F-4D97-AF65-F5344CB8AC3E}">
        <p14:creationId xmlns:p14="http://schemas.microsoft.com/office/powerpoint/2010/main" val="17421868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1143000"/>
          </a:xfrm>
        </p:spPr>
        <p:txBody>
          <a:bodyPr>
            <a:normAutofit fontScale="90000"/>
          </a:bodyPr>
          <a:lstStyle/>
          <a:p>
            <a:r>
              <a:rPr lang="en-US" dirty="0" smtClean="0"/>
              <a:t>Components Outside of Cell Wall - S </a:t>
            </a:r>
            <a:r>
              <a:rPr lang="en-US" dirty="0"/>
              <a:t>Layers</a:t>
            </a:r>
          </a:p>
        </p:txBody>
      </p:sp>
      <p:sp>
        <p:nvSpPr>
          <p:cNvPr id="7" name="Content Placeholder 6"/>
          <p:cNvSpPr>
            <a:spLocks noGrp="1"/>
          </p:cNvSpPr>
          <p:nvPr>
            <p:ph sz="half" idx="1"/>
          </p:nvPr>
        </p:nvSpPr>
        <p:spPr>
          <a:xfrm>
            <a:off x="152400" y="1600200"/>
            <a:ext cx="4800600" cy="5181600"/>
          </a:xfrm>
        </p:spPr>
        <p:txBody>
          <a:bodyPr>
            <a:normAutofit fontScale="77500" lnSpcReduction="20000"/>
          </a:bodyPr>
          <a:lstStyle/>
          <a:p>
            <a:pPr>
              <a:lnSpc>
                <a:spcPct val="110000"/>
              </a:lnSpc>
            </a:pPr>
            <a:r>
              <a:rPr lang="en-US" dirty="0" smtClean="0"/>
              <a:t>Regularly structured self-assembling layers of protein or glycoprotein</a:t>
            </a:r>
          </a:p>
          <a:p>
            <a:pPr lvl="1">
              <a:lnSpc>
                <a:spcPct val="110000"/>
              </a:lnSpc>
            </a:pPr>
            <a:r>
              <a:rPr lang="en-US" dirty="0" smtClean="0"/>
              <a:t>in Gram-negative bacteria S layer adheres to outer membrane</a:t>
            </a:r>
          </a:p>
          <a:p>
            <a:pPr lvl="1">
              <a:lnSpc>
                <a:spcPct val="110000"/>
              </a:lnSpc>
            </a:pPr>
            <a:r>
              <a:rPr lang="en-US" dirty="0" smtClean="0"/>
              <a:t>in Gram-positive bacteria, associated with peptidoglycan</a:t>
            </a:r>
          </a:p>
          <a:p>
            <a:pPr lvl="1">
              <a:lnSpc>
                <a:spcPct val="90000"/>
              </a:lnSpc>
            </a:pPr>
            <a:endParaRPr lang="en-US" dirty="0" smtClean="0"/>
          </a:p>
          <a:p>
            <a:pPr>
              <a:lnSpc>
                <a:spcPct val="90000"/>
              </a:lnSpc>
            </a:pPr>
            <a:r>
              <a:rPr lang="en-US" dirty="0" smtClean="0"/>
              <a:t>S Layer functions</a:t>
            </a:r>
          </a:p>
          <a:p>
            <a:pPr lvl="1">
              <a:lnSpc>
                <a:spcPct val="90000"/>
              </a:lnSpc>
            </a:pPr>
            <a:r>
              <a:rPr lang="en-US" dirty="0" smtClean="0"/>
              <a:t>protect from ion and pH fluctuations, osmotic stress, enzymes, and predation</a:t>
            </a:r>
          </a:p>
          <a:p>
            <a:pPr lvl="1">
              <a:lnSpc>
                <a:spcPct val="90000"/>
              </a:lnSpc>
            </a:pPr>
            <a:r>
              <a:rPr lang="en-US" dirty="0" smtClean="0"/>
              <a:t>maintains shape and rigidity</a:t>
            </a:r>
          </a:p>
          <a:p>
            <a:pPr lvl="1">
              <a:lnSpc>
                <a:spcPct val="90000"/>
              </a:lnSpc>
            </a:pPr>
            <a:r>
              <a:rPr lang="en-US" dirty="0" smtClean="0"/>
              <a:t>promotes adhesion to surfaces</a:t>
            </a:r>
          </a:p>
          <a:p>
            <a:pPr lvl="1">
              <a:lnSpc>
                <a:spcPct val="90000"/>
              </a:lnSpc>
            </a:pPr>
            <a:r>
              <a:rPr lang="en-US" dirty="0" smtClean="0"/>
              <a:t>protects from host defenses</a:t>
            </a:r>
          </a:p>
          <a:p>
            <a:pPr lvl="1">
              <a:lnSpc>
                <a:spcPct val="90000"/>
              </a:lnSpc>
            </a:pPr>
            <a:r>
              <a:rPr lang="en-US" dirty="0" smtClean="0"/>
              <a:t>potential use in nanotechnology</a:t>
            </a:r>
          </a:p>
          <a:p>
            <a:pPr lvl="1">
              <a:lnSpc>
                <a:spcPct val="90000"/>
              </a:lnSpc>
            </a:pPr>
            <a:endParaRPr lang="en-US" dirty="0" smtClean="0"/>
          </a:p>
          <a:p>
            <a:pPr lvl="2">
              <a:lnSpc>
                <a:spcPct val="90000"/>
              </a:lnSpc>
            </a:pPr>
            <a:r>
              <a:rPr lang="en-US" dirty="0" smtClean="0"/>
              <a:t>S layer spontaneously associates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46</a:t>
            </a:fld>
            <a:endParaRPr lang="en-US"/>
          </a:p>
        </p:txBody>
      </p:sp>
      <p:pic>
        <p:nvPicPr>
          <p:cNvPr id="9" name="Picture 7" descr="An electron micrograph of the S-layer of the bacterium Deinococcus radiodurans after shadowing.  &#10;The S-layer has a pattern something like floor tiles and is composed of protein or glycoprotein." title="Figure 3.29 The S-Layer."/>
          <p:cNvPicPr>
            <a:picLocks noGrp="1" noChangeAspect="1" noChangeArrowheads="1"/>
          </p:cNvPicPr>
          <p:nvPr>
            <p:ph sz="half" idx="2"/>
          </p:nvPr>
        </p:nvPicPr>
        <p:blipFill>
          <a:blip r:embed="rId2" cstate="print"/>
          <a:stretch>
            <a:fillRect/>
          </a:stretch>
        </p:blipFill>
        <p:spPr bwMode="auto">
          <a:xfrm>
            <a:off x="5105400" y="1981200"/>
            <a:ext cx="4038600" cy="3755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8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3.6 </a:t>
            </a:r>
            <a:r>
              <a:rPr lang="en-US" dirty="0" smtClean="0"/>
              <a:t>The Bacterial Cytoplasm Is More Complex Than Once Thought</a:t>
            </a:r>
            <a:endParaRPr lang="en-US" dirty="0"/>
          </a:p>
        </p:txBody>
      </p:sp>
      <p:sp>
        <p:nvSpPr>
          <p:cNvPr id="3" name="Content Placeholder 2"/>
          <p:cNvSpPr>
            <a:spLocks noGrp="1"/>
          </p:cNvSpPr>
          <p:nvPr>
            <p:ph idx="1"/>
          </p:nvPr>
        </p:nvSpPr>
        <p:spPr>
          <a:xfrm>
            <a:off x="457200" y="1951037"/>
            <a:ext cx="8229600" cy="4525963"/>
          </a:xfrm>
        </p:spPr>
        <p:txBody>
          <a:bodyPr/>
          <a:lstStyle/>
          <a:p>
            <a:pPr marL="514350" indent="-514350">
              <a:buFont typeface="+mj-lt"/>
              <a:buAutoNum type="arabicPeriod"/>
            </a:pPr>
            <a:r>
              <a:rPr lang="en-US" dirty="0"/>
              <a:t>Create a table or concept map that identifies the components of the bacterial cytoplasm and describes their structure, molecular makeup, and functions.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47</a:t>
            </a:fld>
            <a:endParaRPr lang="en-US"/>
          </a:p>
        </p:txBody>
      </p:sp>
    </p:spTree>
    <p:extLst>
      <p:ext uri="{BB962C8B-B14F-4D97-AF65-F5344CB8AC3E}">
        <p14:creationId xmlns:p14="http://schemas.microsoft.com/office/powerpoint/2010/main" val="1742186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Bacterial Cytoplasmic Structures</a:t>
            </a:r>
          </a:p>
        </p:txBody>
      </p:sp>
      <p:sp>
        <p:nvSpPr>
          <p:cNvPr id="3" name="Content Placeholder 2"/>
          <p:cNvSpPr>
            <a:spLocks noGrp="1"/>
          </p:cNvSpPr>
          <p:nvPr>
            <p:ph idx="1"/>
          </p:nvPr>
        </p:nvSpPr>
        <p:spPr>
          <a:xfrm>
            <a:off x="457200" y="1798637"/>
            <a:ext cx="8229600" cy="4525963"/>
          </a:xfrm>
        </p:spPr>
        <p:txBody>
          <a:bodyPr>
            <a:normAutofit fontScale="92500" lnSpcReduction="20000"/>
          </a:bodyPr>
          <a:lstStyle/>
          <a:p>
            <a:r>
              <a:rPr lang="en-US" dirty="0" smtClean="0"/>
              <a:t>Cytoskeleton</a:t>
            </a:r>
          </a:p>
          <a:p>
            <a:endParaRPr lang="en-US" dirty="0"/>
          </a:p>
          <a:p>
            <a:r>
              <a:rPr lang="en-US" dirty="0"/>
              <a:t>Intracytoplasmic </a:t>
            </a:r>
            <a:r>
              <a:rPr lang="en-US" dirty="0" smtClean="0"/>
              <a:t>membranes</a:t>
            </a:r>
          </a:p>
          <a:p>
            <a:endParaRPr lang="en-US" dirty="0"/>
          </a:p>
          <a:p>
            <a:r>
              <a:rPr lang="en-US" dirty="0" smtClean="0"/>
              <a:t>Inclusions</a:t>
            </a:r>
          </a:p>
          <a:p>
            <a:endParaRPr lang="en-US" dirty="0"/>
          </a:p>
          <a:p>
            <a:r>
              <a:rPr lang="en-US" dirty="0" smtClean="0"/>
              <a:t>Ribosomes</a:t>
            </a:r>
          </a:p>
          <a:p>
            <a:endParaRPr lang="en-US" dirty="0"/>
          </a:p>
          <a:p>
            <a:r>
              <a:rPr lang="en-US" dirty="0"/>
              <a:t>Nucleoid and plasmids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48</a:t>
            </a:fld>
            <a:endParaRPr lang="en-US"/>
          </a:p>
        </p:txBody>
      </p:sp>
    </p:spTree>
    <p:extLst>
      <p:ext uri="{BB962C8B-B14F-4D97-AF65-F5344CB8AC3E}">
        <p14:creationId xmlns:p14="http://schemas.microsoft.com/office/powerpoint/2010/main" val="1742186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Protoplast and Cytoplasm</a:t>
            </a:r>
            <a:br>
              <a:rPr lang="en-US" dirty="0" smtClean="0"/>
            </a:br>
            <a:endParaRPr lang="en-US" dirty="0"/>
          </a:p>
        </p:txBody>
      </p:sp>
      <p:sp>
        <p:nvSpPr>
          <p:cNvPr id="8" name="Content Placeholder 7"/>
          <p:cNvSpPr>
            <a:spLocks noGrp="1"/>
          </p:cNvSpPr>
          <p:nvPr>
            <p:ph idx="1"/>
          </p:nvPr>
        </p:nvSpPr>
        <p:spPr>
          <a:xfrm>
            <a:off x="457200" y="1447800"/>
            <a:ext cx="8229600" cy="4953000"/>
          </a:xfrm>
        </p:spPr>
        <p:txBody>
          <a:bodyPr/>
          <a:lstStyle/>
          <a:p>
            <a:r>
              <a:rPr lang="en-US" dirty="0" smtClean="0"/>
              <a:t>Protoplast is plasma membrane and everything within</a:t>
            </a:r>
          </a:p>
          <a:p>
            <a:endParaRPr lang="en-US" dirty="0" smtClean="0"/>
          </a:p>
          <a:p>
            <a:r>
              <a:rPr lang="en-US" dirty="0" smtClean="0"/>
              <a:t>Cytoplasm - material bounded by the plasmid membrane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49</a:t>
            </a:fld>
            <a:endParaRPr lang="en-US"/>
          </a:p>
        </p:txBody>
      </p:sp>
    </p:spTree>
    <p:extLst>
      <p:ext uri="{BB962C8B-B14F-4D97-AF65-F5344CB8AC3E}">
        <p14:creationId xmlns:p14="http://schemas.microsoft.com/office/powerpoint/2010/main" val="8944049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The </a:t>
            </a:r>
            <a:r>
              <a:rPr lang="en-US" dirty="0" smtClean="0"/>
              <a:t>Bacterial Cytoskeleton</a:t>
            </a:r>
            <a:endParaRPr lang="en-US" dirty="0"/>
          </a:p>
        </p:txBody>
      </p:sp>
      <p:sp>
        <p:nvSpPr>
          <p:cNvPr id="6" name="Content Placeholder 5"/>
          <p:cNvSpPr>
            <a:spLocks noGrp="1"/>
          </p:cNvSpPr>
          <p:nvPr>
            <p:ph sz="half" idx="1"/>
          </p:nvPr>
        </p:nvSpPr>
        <p:spPr>
          <a:xfrm>
            <a:off x="228600" y="1143000"/>
            <a:ext cx="8686800" cy="2286000"/>
          </a:xfrm>
        </p:spPr>
        <p:txBody>
          <a:bodyPr>
            <a:normAutofit/>
          </a:bodyPr>
          <a:lstStyle/>
          <a:p>
            <a:r>
              <a:rPr lang="en-US" dirty="0" smtClean="0"/>
              <a:t>Homologs of all 3 eukaryotic cytoskeletal elements have been identified in bacteria</a:t>
            </a:r>
          </a:p>
          <a:p>
            <a:r>
              <a:rPr lang="en-US" dirty="0" smtClean="0"/>
              <a:t>Functions are similar as in eukaryotes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50</a:t>
            </a:fld>
            <a:endParaRPr lang="en-US"/>
          </a:p>
        </p:txBody>
      </p:sp>
      <p:pic>
        <p:nvPicPr>
          <p:cNvPr id="8" name="Content Placeholder 7" descr="Heading: Tubulin Homologues&#10;Type: FtsZ, Function: Cell division, Comments: Widely observed in bacteria and archaea&#10;Type: BtubA/BtubB, Function: Unknown, Comments: Observed only in Prosthecobacter spp.; thought to be encoded by eukaryotic tubulin genes obtained by horizontal gene transfer&#10;Type: TubZ, Function: Possibly plasmid segregation, Comments: Encoded by large plasmids observed in members of the genus Bacillus&#10;Heading: Actin Homologues&#10;Type: MamK, Function: Positioning magnetosomes, Comments: Observed in magnetotactic species&#10;Type: MreB/Mbl, Function: Helps determine cell shape, may be involved in chromosome segregation, localizes proteins, Comments: Most rod-shaped bacteria&#10;Type: ParM, Function: Plasmid segregation, Comments: Plasmid encoded&#10;Heading: Intermediate Filament Homologues&#10;Type: CreS (crescentin), Function: Induces curvature in curved rods, Comments: Caulobacter crescentus&#10;Heading: Unique Bacterial Cytoskeletal Proteins&#10;Type: MinD, Function: Prevents polymerization of FtsZ at cell poles, Comments: Many rod-shaped bacteria&#10;Type: ParA, Function: Segregates chromosomes and plasmids, Comments: Observed in many species, including Vibrio cholerae, C. crescentus, and Thermus thermophiles" title="Table 3.2 Bacterial Cytoskeletal Proteins"/>
          <p:cNvPicPr>
            <a:picLocks noGrp="1" noChangeAspect="1" noChangeArrowheads="1"/>
          </p:cNvPicPr>
          <p:nvPr>
            <p:ph sz="half" idx="2"/>
          </p:nvPr>
        </p:nvPicPr>
        <p:blipFill>
          <a:blip r:embed="rId2" cstate="print"/>
          <a:stretch>
            <a:fillRect/>
          </a:stretch>
        </p:blipFill>
        <p:spPr bwMode="auto">
          <a:xfrm>
            <a:off x="1447801" y="2687718"/>
            <a:ext cx="6572312" cy="4083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Best Studied </a:t>
            </a:r>
            <a:r>
              <a:rPr lang="en-US" dirty="0" smtClean="0"/>
              <a:t>Examples of Bacterial Cytoskeleton Molecules</a:t>
            </a:r>
            <a:endParaRPr lang="en-US" dirty="0"/>
          </a:p>
        </p:txBody>
      </p:sp>
      <p:sp>
        <p:nvSpPr>
          <p:cNvPr id="5" name="Content Placeholder 4"/>
          <p:cNvSpPr>
            <a:spLocks noGrp="1"/>
          </p:cNvSpPr>
          <p:nvPr>
            <p:ph sz="half" idx="1"/>
          </p:nvPr>
        </p:nvSpPr>
        <p:spPr>
          <a:xfrm>
            <a:off x="228600" y="1371600"/>
            <a:ext cx="4343400" cy="5334000"/>
          </a:xfrm>
        </p:spPr>
        <p:txBody>
          <a:bodyPr>
            <a:normAutofit/>
          </a:bodyPr>
          <a:lstStyle/>
          <a:p>
            <a:r>
              <a:rPr lang="en-US" dirty="0" err="1" smtClean="0"/>
              <a:t>FtsZ</a:t>
            </a:r>
            <a:r>
              <a:rPr lang="en-US" dirty="0" smtClean="0"/>
              <a:t> – many bacteria</a:t>
            </a:r>
          </a:p>
          <a:p>
            <a:pPr lvl="1"/>
            <a:r>
              <a:rPr lang="en-US" dirty="0" smtClean="0"/>
              <a:t>forms ring during septum formation in cell division</a:t>
            </a:r>
          </a:p>
          <a:p>
            <a:pPr marL="457200" lvl="1" indent="0">
              <a:buNone/>
            </a:pPr>
            <a:endParaRPr lang="en-US" sz="2800" dirty="0" smtClean="0"/>
          </a:p>
          <a:p>
            <a:r>
              <a:rPr lang="en-US" dirty="0" err="1" smtClean="0"/>
              <a:t>MreB</a:t>
            </a:r>
            <a:r>
              <a:rPr lang="en-US" dirty="0" smtClean="0"/>
              <a:t> – many rods</a:t>
            </a:r>
          </a:p>
          <a:p>
            <a:pPr lvl="1"/>
            <a:r>
              <a:rPr lang="en-US" dirty="0" smtClean="0"/>
              <a:t>maintains shape by </a:t>
            </a:r>
          </a:p>
          <a:p>
            <a:pPr marL="457200" lvl="1" indent="0">
              <a:buNone/>
            </a:pPr>
            <a:r>
              <a:rPr lang="en-US" dirty="0" smtClean="0"/>
              <a:t>positioning peptidoglycan </a:t>
            </a:r>
          </a:p>
          <a:p>
            <a:pPr marL="457200" lvl="1" indent="0">
              <a:buNone/>
            </a:pPr>
            <a:r>
              <a:rPr lang="en-US" dirty="0" smtClean="0"/>
              <a:t>synthesis machinery</a:t>
            </a:r>
          </a:p>
          <a:p>
            <a:pPr marL="457200" lvl="1" indent="0">
              <a:buNone/>
            </a:pPr>
            <a:endParaRPr lang="en-US" dirty="0" smtClean="0"/>
          </a:p>
          <a:p>
            <a:r>
              <a:rPr lang="en-US" dirty="0" err="1" smtClean="0"/>
              <a:t>CreS</a:t>
            </a:r>
            <a:r>
              <a:rPr lang="en-US" dirty="0" smtClean="0"/>
              <a:t> – rare, maintains </a:t>
            </a:r>
          </a:p>
          <a:p>
            <a:pPr marL="0" indent="0">
              <a:buNone/>
            </a:pPr>
            <a:r>
              <a:rPr lang="en-US" dirty="0" smtClean="0"/>
              <a:t>	curve shape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51</a:t>
            </a:fld>
            <a:endParaRPr lang="en-US"/>
          </a:p>
        </p:txBody>
      </p:sp>
      <p:pic>
        <p:nvPicPr>
          <p:cNvPr id="8" name="Picture 2" descr="The best studied bacterial cytoskeletal proteins are FtsZ, MreB, and CreS.  Here they are shown in photos of cells viewed by fluorescence microscopy.  (Top) FtsZ-green fluorescent (GFP) fusion protein in a chain of Bacillus subtilis cells arranged end-to-end.  (Center) The MreB-like GFP cytoskeletal protein of B. subtilis. With this method, Mbl seems to form helices. (Bottom) CreS (also known as crescentin) of Caulobacter crescentus appears red along the inner curve of the cell. The DNA in the cells, along the outer curve of the cell, was stained blue with DAPI." title="Figure 3.30 The Bacterial Cytoskeleton."/>
          <p:cNvPicPr>
            <a:picLocks noGrp="1" noChangeAspect="1" noChangeArrowheads="1"/>
          </p:cNvPicPr>
          <p:nvPr>
            <p:ph sz="half" idx="2"/>
          </p:nvPr>
        </p:nvPicPr>
        <p:blipFill>
          <a:blip r:embed="rId2" cstate="print"/>
          <a:srcRect/>
          <a:stretch>
            <a:fillRect/>
          </a:stretch>
        </p:blipFill>
        <p:spPr bwMode="auto">
          <a:xfrm>
            <a:off x="4800600" y="1371600"/>
            <a:ext cx="3451950" cy="5426211"/>
          </a:xfrm>
          <a:prstGeom prst="rect">
            <a:avLst/>
          </a:prstGeom>
          <a:noFill/>
        </p:spPr>
      </p:pic>
    </p:spTree>
    <p:extLst>
      <p:ext uri="{BB962C8B-B14F-4D97-AF65-F5344CB8AC3E}">
        <p14:creationId xmlns:p14="http://schemas.microsoft.com/office/powerpoint/2010/main" val="1742186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dirty="0" smtClean="0"/>
              <a:t>Intracytoplasmic Membranes</a:t>
            </a:r>
            <a:endParaRPr lang="en-US" dirty="0"/>
          </a:p>
        </p:txBody>
      </p:sp>
      <p:sp>
        <p:nvSpPr>
          <p:cNvPr id="4" name="Content Placeholder 3"/>
          <p:cNvSpPr>
            <a:spLocks noGrp="1"/>
          </p:cNvSpPr>
          <p:nvPr>
            <p:ph sz="half" idx="2"/>
          </p:nvPr>
        </p:nvSpPr>
        <p:spPr>
          <a:xfrm>
            <a:off x="152400" y="4572000"/>
            <a:ext cx="8839200" cy="2133600"/>
          </a:xfrm>
        </p:spPr>
        <p:txBody>
          <a:bodyPr>
            <a:normAutofit fontScale="85000" lnSpcReduction="20000"/>
          </a:bodyPr>
          <a:lstStyle/>
          <a:p>
            <a:r>
              <a:rPr lang="en-US" dirty="0"/>
              <a:t>Plasma membrane </a:t>
            </a:r>
            <a:r>
              <a:rPr lang="en-US" dirty="0" err="1"/>
              <a:t>infoldings</a:t>
            </a:r>
            <a:endParaRPr lang="en-US" dirty="0"/>
          </a:p>
          <a:p>
            <a:pPr lvl="1"/>
            <a:r>
              <a:rPr lang="en-US" dirty="0" smtClean="0"/>
              <a:t>observed in many photosynthetic bacteria </a:t>
            </a:r>
          </a:p>
          <a:p>
            <a:pPr lvl="1"/>
            <a:r>
              <a:rPr lang="en-US" dirty="0" smtClean="0"/>
              <a:t>observed in many bacteria with high respiratory activity</a:t>
            </a:r>
          </a:p>
          <a:p>
            <a:pPr lvl="1"/>
            <a:endParaRPr lang="en-US" dirty="0" smtClean="0"/>
          </a:p>
          <a:p>
            <a:r>
              <a:rPr lang="en-US" dirty="0" err="1"/>
              <a:t>Anammoxosome</a:t>
            </a:r>
            <a:r>
              <a:rPr lang="en-US" dirty="0"/>
              <a:t> in </a:t>
            </a:r>
            <a:r>
              <a:rPr lang="en-US" i="1" dirty="0" err="1"/>
              <a:t>Planctomycetes</a:t>
            </a:r>
            <a:r>
              <a:rPr lang="en-US" i="1" dirty="0"/>
              <a:t> </a:t>
            </a:r>
          </a:p>
          <a:p>
            <a:pPr lvl="1"/>
            <a:r>
              <a:rPr lang="en-US" dirty="0" smtClean="0"/>
              <a:t>organelle – site of anaerobic ammonia oxidation</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52</a:t>
            </a:fld>
            <a:endParaRPr lang="en-US"/>
          </a:p>
        </p:txBody>
      </p:sp>
      <p:pic>
        <p:nvPicPr>
          <p:cNvPr id="3074" name="Picture 2" descr="(Left) The nitrifying bacterium Nitrocystis oceanus has parallel membranes traversing the whole cell.  The fibrillar structure of the nucleoid identified.  (Right) Chemical structure of ladderane lipids which are defined by the presence of two or more fused cyclobutane rings.  They pack together verytightly and this characteristic is thought to be important to anammoxosome function.  Ladderane lipids are unique to planctomycetes." title="Figures 3.31 and 3.32 Internal Bacterial Membranes (left) and Ladderane Lipids Are Found in Anammoxosome Membranes (right)."/>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6408" y="762000"/>
            <a:ext cx="8911392" cy="3615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0378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Inclusions</a:t>
            </a:r>
          </a:p>
        </p:txBody>
      </p:sp>
      <p:sp>
        <p:nvSpPr>
          <p:cNvPr id="3" name="Content Placeholder 2"/>
          <p:cNvSpPr>
            <a:spLocks noGrp="1"/>
          </p:cNvSpPr>
          <p:nvPr>
            <p:ph idx="1"/>
          </p:nvPr>
        </p:nvSpPr>
        <p:spPr/>
        <p:txBody>
          <a:bodyPr/>
          <a:lstStyle/>
          <a:p>
            <a:r>
              <a:rPr lang="en-US" dirty="0"/>
              <a:t>Granules of organic or inorganic material that are stockpiled by the cell for future </a:t>
            </a:r>
            <a:r>
              <a:rPr lang="en-US" dirty="0" smtClean="0"/>
              <a:t>use</a:t>
            </a:r>
          </a:p>
          <a:p>
            <a:pPr marL="0" indent="0">
              <a:buNone/>
            </a:pPr>
            <a:endParaRPr lang="en-US" dirty="0"/>
          </a:p>
          <a:p>
            <a:r>
              <a:rPr lang="en-US" dirty="0"/>
              <a:t>Some are enclosed by a single-layered membrane</a:t>
            </a:r>
          </a:p>
          <a:p>
            <a:pPr lvl="1"/>
            <a:r>
              <a:rPr lang="en-US" dirty="0"/>
              <a:t>membranes vary in composition</a:t>
            </a:r>
          </a:p>
          <a:p>
            <a:pPr lvl="1"/>
            <a:r>
              <a:rPr lang="en-US" dirty="0"/>
              <a:t>some made of proteins; others contain lipids     </a:t>
            </a:r>
          </a:p>
          <a:p>
            <a:pPr lvl="1"/>
            <a:r>
              <a:rPr lang="en-US" dirty="0"/>
              <a:t>may be referred to as </a:t>
            </a:r>
            <a:r>
              <a:rPr lang="en-US" i="1" dirty="0" err="1"/>
              <a:t>microcompartments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53</a:t>
            </a:fld>
            <a:endParaRPr lang="en-US"/>
          </a:p>
        </p:txBody>
      </p:sp>
    </p:spTree>
    <p:extLst>
      <p:ext uri="{BB962C8B-B14F-4D97-AF65-F5344CB8AC3E}">
        <p14:creationId xmlns:p14="http://schemas.microsoft.com/office/powerpoint/2010/main" val="17421868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0" y="76200"/>
            <a:ext cx="5181600" cy="868362"/>
          </a:xfrm>
        </p:spPr>
        <p:txBody>
          <a:bodyPr/>
          <a:lstStyle/>
          <a:p>
            <a:r>
              <a:rPr lang="en-US" dirty="0"/>
              <a:t>Storage Inclusions</a:t>
            </a:r>
          </a:p>
        </p:txBody>
      </p:sp>
      <p:sp>
        <p:nvSpPr>
          <p:cNvPr id="6" name="Content Placeholder 5"/>
          <p:cNvSpPr>
            <a:spLocks noGrp="1"/>
          </p:cNvSpPr>
          <p:nvPr>
            <p:ph sz="half" idx="1"/>
          </p:nvPr>
        </p:nvSpPr>
        <p:spPr>
          <a:xfrm>
            <a:off x="4114800" y="1066800"/>
            <a:ext cx="4810897" cy="5638800"/>
          </a:xfrm>
        </p:spPr>
        <p:txBody>
          <a:bodyPr>
            <a:normAutofit fontScale="92500" lnSpcReduction="20000"/>
          </a:bodyPr>
          <a:lstStyle/>
          <a:p>
            <a:r>
              <a:rPr lang="en-US" dirty="0" smtClean="0"/>
              <a:t>Storage of nutrients, metabolic end products, energy, building blocks</a:t>
            </a:r>
          </a:p>
          <a:p>
            <a:endParaRPr lang="en-US" dirty="0" smtClean="0"/>
          </a:p>
          <a:p>
            <a:r>
              <a:rPr lang="en-US" dirty="0" smtClean="0"/>
              <a:t>Glycogen storage</a:t>
            </a:r>
          </a:p>
          <a:p>
            <a:endParaRPr lang="en-US" dirty="0" smtClean="0"/>
          </a:p>
          <a:p>
            <a:r>
              <a:rPr lang="en-US" dirty="0" smtClean="0"/>
              <a:t>Carbon storage 	</a:t>
            </a:r>
          </a:p>
          <a:p>
            <a:pPr lvl="1"/>
            <a:r>
              <a:rPr lang="en-US" dirty="0" smtClean="0"/>
              <a:t>poly-</a:t>
            </a:r>
            <a:r>
              <a:rPr lang="en-US" dirty="0" smtClean="0">
                <a:cs typeface="Times New Roman" pitchFamily="18" charset="0"/>
              </a:rPr>
              <a:t>β-</a:t>
            </a:r>
            <a:r>
              <a:rPr lang="en-US" dirty="0" err="1" smtClean="0">
                <a:cs typeface="Times New Roman" pitchFamily="18" charset="0"/>
              </a:rPr>
              <a:t>hydroxybutyrate</a:t>
            </a:r>
            <a:r>
              <a:rPr lang="en-US" dirty="0" smtClean="0">
                <a:cs typeface="Times New Roman" pitchFamily="18" charset="0"/>
              </a:rPr>
              <a:t> (PHB)</a:t>
            </a:r>
          </a:p>
          <a:p>
            <a:pPr marL="457200" lvl="1" indent="0">
              <a:buNone/>
            </a:pPr>
            <a:r>
              <a:rPr lang="en-US" dirty="0" smtClean="0">
                <a:cs typeface="Times New Roman" pitchFamily="18" charset="0"/>
              </a:rPr>
              <a:t> </a:t>
            </a:r>
          </a:p>
          <a:p>
            <a:r>
              <a:rPr lang="en-US" dirty="0" smtClean="0"/>
              <a:t>Phosphate - Polyphosphate (</a:t>
            </a:r>
            <a:r>
              <a:rPr lang="en-US" dirty="0" err="1" smtClean="0"/>
              <a:t>Volutin</a:t>
            </a:r>
            <a:r>
              <a:rPr lang="en-US" dirty="0" smtClean="0"/>
              <a:t>)</a:t>
            </a:r>
          </a:p>
          <a:p>
            <a:endParaRPr lang="en-US" dirty="0" smtClean="0"/>
          </a:p>
          <a:p>
            <a:r>
              <a:rPr lang="en-US" dirty="0" smtClean="0"/>
              <a:t>Amino acids - </a:t>
            </a:r>
            <a:r>
              <a:rPr lang="en-US" dirty="0" err="1" smtClean="0"/>
              <a:t>cyanophycin</a:t>
            </a:r>
            <a:r>
              <a:rPr lang="en-US" dirty="0" smtClean="0"/>
              <a:t> granules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54</a:t>
            </a:fld>
            <a:endParaRPr lang="en-US"/>
          </a:p>
        </p:txBody>
      </p:sp>
      <p:pic>
        <p:nvPicPr>
          <p:cNvPr id="4098" name="Picture 2" descr="(Top) PHB is a polymer of β-hydroxybutyrate molecules joined by ester bonds between the carboxyl and hydroxyl groups of adjacent molecules. PHB inclusions are around 0.2 to 0.7 μm in diameter. They are seen as empty holes by electron microscopy because PHB is hydrophobic and is dissolved by the solvents used to prepare specimens. &#10;This figure illustrates the structure of a PHB granule. PHB is enclosed by a shell composed of several different proteins, including the PHB-synthesizing enzyme and the PHB-degrading enzyme. Phospholipids are also found in the shell. Note that these phospholipids do not form a phospholipid bilayer.&#10;(Bottom) Chromatium vinosum, a purple sulfur bacterium, with intracellular sulfur globules, bright-field microscopy (×2,000 magnification)." title="Figures 3.33 and 3.34 PHB Inclusions in Bacteria (top) and Sulfur Globules (bottom)."/>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35450" y="48464"/>
            <a:ext cx="3069750" cy="67159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218687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Microcompartments</a:t>
            </a:r>
            <a:endParaRPr lang="en-US" dirty="0"/>
          </a:p>
        </p:txBody>
      </p:sp>
      <p:sp>
        <p:nvSpPr>
          <p:cNvPr id="3" name="Content Placeholder 2"/>
          <p:cNvSpPr>
            <a:spLocks noGrp="1"/>
          </p:cNvSpPr>
          <p:nvPr>
            <p:ph sz="half" idx="1"/>
          </p:nvPr>
        </p:nvSpPr>
        <p:spPr/>
        <p:txBody>
          <a:bodyPr/>
          <a:lstStyle/>
          <a:p>
            <a:r>
              <a:rPr lang="en-US" dirty="0" smtClean="0"/>
              <a:t>Not bound by membranes but compartments for specific functions</a:t>
            </a:r>
          </a:p>
          <a:p>
            <a:endParaRPr lang="en-US" dirty="0" smtClean="0"/>
          </a:p>
          <a:p>
            <a:r>
              <a:rPr lang="en-US" dirty="0" err="1" smtClean="0"/>
              <a:t>Carboxysomes</a:t>
            </a:r>
            <a:r>
              <a:rPr lang="en-US" dirty="0" smtClean="0"/>
              <a:t> - CO</a:t>
            </a:r>
            <a:r>
              <a:rPr lang="en-US" baseline="-25000" dirty="0" smtClean="0"/>
              <a:t>2</a:t>
            </a:r>
            <a:r>
              <a:rPr lang="en-US" dirty="0" smtClean="0"/>
              <a:t> fixing bacteria</a:t>
            </a:r>
          </a:p>
          <a:p>
            <a:pPr lvl="1"/>
            <a:r>
              <a:rPr lang="en-US" dirty="0" smtClean="0"/>
              <a:t>contain the enzyme Rubisco for CO</a:t>
            </a:r>
            <a:r>
              <a:rPr lang="en-US" baseline="-25000" dirty="0" smtClean="0"/>
              <a:t>2</a:t>
            </a:r>
            <a:r>
              <a:rPr lang="en-US" dirty="0" smtClean="0"/>
              <a:t> fixation</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55</a:t>
            </a:fld>
            <a:endParaRPr lang="en-US"/>
          </a:p>
        </p:txBody>
      </p:sp>
      <p:pic>
        <p:nvPicPr>
          <p:cNvPr id="6" name="Picture 2" descr="Circular carboxysomes in the bacterium Halothiobacillus neapolitanus. This is one image of a tilt series taken for electron cryotomography. Each carboxysome is approximately 100 nm in diameter." title="Figure 3.35 Carboxysomes."/>
          <p:cNvPicPr>
            <a:picLocks noGrp="1" noChangeAspect="1" noChangeArrowheads="1"/>
          </p:cNvPicPr>
          <p:nvPr>
            <p:ph sz="half" idx="2"/>
          </p:nvPr>
        </p:nvPicPr>
        <p:blipFill>
          <a:blip r:embed="rId2" cstate="print"/>
          <a:srcRect/>
          <a:stretch>
            <a:fillRect/>
          </a:stretch>
        </p:blipFill>
        <p:spPr bwMode="auto">
          <a:xfrm>
            <a:off x="4648200" y="1752599"/>
            <a:ext cx="4256011" cy="4016011"/>
          </a:xfrm>
          <a:prstGeom prst="rect">
            <a:avLst/>
          </a:prstGeom>
          <a:noFill/>
        </p:spPr>
      </p:pic>
    </p:spTree>
    <p:extLst>
      <p:ext uri="{BB962C8B-B14F-4D97-AF65-F5344CB8AC3E}">
        <p14:creationId xmlns:p14="http://schemas.microsoft.com/office/powerpoint/2010/main" val="35184174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Gas Vacuoles</a:t>
            </a:r>
            <a:br>
              <a:rPr lang="en-US" dirty="0" smtClean="0"/>
            </a:br>
            <a:endParaRPr lang="en-US" dirty="0"/>
          </a:p>
        </p:txBody>
      </p:sp>
      <p:sp>
        <p:nvSpPr>
          <p:cNvPr id="4" name="Content Placeholder 3"/>
          <p:cNvSpPr>
            <a:spLocks noGrp="1"/>
          </p:cNvSpPr>
          <p:nvPr>
            <p:ph sz="half" idx="2"/>
          </p:nvPr>
        </p:nvSpPr>
        <p:spPr>
          <a:xfrm>
            <a:off x="4953000" y="1828800"/>
            <a:ext cx="4038600" cy="4953000"/>
          </a:xfrm>
        </p:spPr>
        <p:txBody>
          <a:bodyPr/>
          <a:lstStyle/>
          <a:p>
            <a:pPr>
              <a:lnSpc>
                <a:spcPct val="90000"/>
              </a:lnSpc>
            </a:pPr>
            <a:r>
              <a:rPr lang="en-US" dirty="0" smtClean="0"/>
              <a:t>Found in aquatic, photosynthetic bacteria and archaea</a:t>
            </a:r>
          </a:p>
          <a:p>
            <a:pPr>
              <a:lnSpc>
                <a:spcPct val="90000"/>
              </a:lnSpc>
            </a:pPr>
            <a:endParaRPr lang="en-US" dirty="0" smtClean="0"/>
          </a:p>
          <a:p>
            <a:pPr>
              <a:lnSpc>
                <a:spcPct val="90000"/>
              </a:lnSpc>
            </a:pPr>
            <a:r>
              <a:rPr lang="en-US" dirty="0" smtClean="0"/>
              <a:t>Provide buoyancy in gas vesicles</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56</a:t>
            </a:fld>
            <a:endParaRPr lang="en-US"/>
          </a:p>
        </p:txBody>
      </p:sp>
      <p:pic>
        <p:nvPicPr>
          <p:cNvPr id="6" name="Picture 3" descr="A freeze-fracture preparation of Anabaena flosaquae (×89,000 magnification) showing gas vesicles and gas vacuoles. Clusters of the cylindrical vesicles form gas vacuoles." title="Figure 3.36 Gas Vacuoles Are Clusters of Gas Vesicles."/>
          <p:cNvPicPr>
            <a:picLocks noGrp="1" noChangeAspect="1" noChangeArrowheads="1"/>
          </p:cNvPicPr>
          <p:nvPr>
            <p:ph sz="half" idx="1"/>
          </p:nvPr>
        </p:nvPicPr>
        <p:blipFill>
          <a:blip r:embed="rId2" cstate="print"/>
          <a:srcRect/>
          <a:stretch>
            <a:fillRect/>
          </a:stretch>
        </p:blipFill>
        <p:spPr bwMode="auto">
          <a:xfrm>
            <a:off x="76200" y="1828800"/>
            <a:ext cx="4798046" cy="3962400"/>
          </a:xfrm>
          <a:prstGeom prst="rect">
            <a:avLst/>
          </a:prstGeom>
          <a:noFill/>
        </p:spPr>
      </p:pic>
    </p:spTree>
    <p:extLst>
      <p:ext uri="{BB962C8B-B14F-4D97-AF65-F5344CB8AC3E}">
        <p14:creationId xmlns:p14="http://schemas.microsoft.com/office/powerpoint/2010/main" val="42648381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err="1" smtClean="0"/>
              <a:t>Magnetosomes</a:t>
            </a:r>
            <a:endParaRPr lang="en-US" dirty="0"/>
          </a:p>
        </p:txBody>
      </p:sp>
      <p:sp>
        <p:nvSpPr>
          <p:cNvPr id="7" name="Content Placeholder 6"/>
          <p:cNvSpPr>
            <a:spLocks noGrp="1"/>
          </p:cNvSpPr>
          <p:nvPr>
            <p:ph sz="half" idx="2"/>
          </p:nvPr>
        </p:nvSpPr>
        <p:spPr>
          <a:xfrm>
            <a:off x="4648200" y="1371600"/>
            <a:ext cx="4343400" cy="5181600"/>
          </a:xfrm>
        </p:spPr>
        <p:txBody>
          <a:bodyPr>
            <a:normAutofit/>
          </a:bodyPr>
          <a:lstStyle/>
          <a:p>
            <a:pPr>
              <a:lnSpc>
                <a:spcPct val="90000"/>
              </a:lnSpc>
            </a:pPr>
            <a:r>
              <a:rPr lang="en-US" dirty="0" smtClean="0"/>
              <a:t>Found in aquatic bacteria</a:t>
            </a:r>
          </a:p>
          <a:p>
            <a:pPr marL="0" indent="0">
              <a:lnSpc>
                <a:spcPct val="90000"/>
              </a:lnSpc>
              <a:buNone/>
            </a:pPr>
            <a:endParaRPr lang="en-US" dirty="0" smtClean="0"/>
          </a:p>
          <a:p>
            <a:pPr>
              <a:lnSpc>
                <a:spcPct val="90000"/>
              </a:lnSpc>
            </a:pPr>
            <a:r>
              <a:rPr lang="en-US" dirty="0" smtClean="0"/>
              <a:t>Magnetite particles for orientation in Earth’s magnetic field</a:t>
            </a:r>
          </a:p>
          <a:p>
            <a:pPr marL="0" indent="0">
              <a:lnSpc>
                <a:spcPct val="90000"/>
              </a:lnSpc>
              <a:buNone/>
            </a:pPr>
            <a:endParaRPr lang="en-US" dirty="0" smtClean="0"/>
          </a:p>
          <a:p>
            <a:pPr>
              <a:lnSpc>
                <a:spcPct val="90000"/>
              </a:lnSpc>
            </a:pPr>
            <a:r>
              <a:rPr lang="en-US" dirty="0" smtClean="0"/>
              <a:t>Cytoskeletal protein </a:t>
            </a:r>
            <a:r>
              <a:rPr lang="en-US" dirty="0" err="1" smtClean="0"/>
              <a:t>MamK</a:t>
            </a:r>
            <a:r>
              <a:rPr lang="en-US" dirty="0" smtClean="0"/>
              <a:t> </a:t>
            </a:r>
          </a:p>
          <a:p>
            <a:pPr lvl="1">
              <a:lnSpc>
                <a:spcPct val="90000"/>
              </a:lnSpc>
            </a:pPr>
            <a:r>
              <a:rPr lang="en-US" sz="2600" dirty="0" smtClean="0"/>
              <a:t>helps form </a:t>
            </a:r>
            <a:r>
              <a:rPr lang="en-US" sz="2600" dirty="0" err="1" smtClean="0"/>
              <a:t>magnetosome</a:t>
            </a:r>
            <a:r>
              <a:rPr lang="en-US" sz="2600" dirty="0" smtClean="0"/>
              <a:t> chain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57</a:t>
            </a:fld>
            <a:endParaRPr lang="en-US"/>
          </a:p>
        </p:txBody>
      </p:sp>
      <p:pic>
        <p:nvPicPr>
          <p:cNvPr id="8" name="Picture 8" descr="(Top) Transmission electron micrograph of the magnetotactic bacterium Magnetospirillum magnetotacticum (×123,000 magnification) with periplasmic space, outer membrane, plasma membrane identified. &#10;(Bottom) An electron cryotomography three-dimensional reconstruction of the magnetosomes of M. magneticum with the plasma membrane and cytoskeletal filament identified." title="Figure 3.37 Magnetosomes."/>
          <p:cNvPicPr>
            <a:picLocks noGrp="1" noChangeAspect="1" noChangeArrowheads="1"/>
          </p:cNvPicPr>
          <p:nvPr>
            <p:ph sz="half" idx="1"/>
          </p:nvPr>
        </p:nvPicPr>
        <p:blipFill>
          <a:blip r:embed="rId2" cstate="print"/>
          <a:stretch>
            <a:fillRect/>
          </a:stretch>
        </p:blipFill>
        <p:spPr bwMode="auto">
          <a:xfrm>
            <a:off x="381000" y="1295400"/>
            <a:ext cx="3738955" cy="5398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697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t>Ribosomes</a:t>
            </a:r>
            <a:endParaRPr lang="en-US" dirty="0"/>
          </a:p>
        </p:txBody>
      </p:sp>
      <p:sp>
        <p:nvSpPr>
          <p:cNvPr id="7" name="Content Placeholder 6"/>
          <p:cNvSpPr>
            <a:spLocks noGrp="1"/>
          </p:cNvSpPr>
          <p:nvPr>
            <p:ph sz="half" idx="2"/>
          </p:nvPr>
        </p:nvSpPr>
        <p:spPr>
          <a:xfrm>
            <a:off x="152400" y="4419600"/>
            <a:ext cx="8763000" cy="2337768"/>
          </a:xfrm>
        </p:spPr>
        <p:txBody>
          <a:bodyPr>
            <a:normAutofit fontScale="92500" lnSpcReduction="20000"/>
          </a:bodyPr>
          <a:lstStyle/>
          <a:p>
            <a:pPr>
              <a:lnSpc>
                <a:spcPct val="80000"/>
              </a:lnSpc>
            </a:pPr>
            <a:r>
              <a:rPr lang="en-US" dirty="0"/>
              <a:t>Complex protein/RNA structures </a:t>
            </a:r>
          </a:p>
          <a:p>
            <a:pPr lvl="1">
              <a:lnSpc>
                <a:spcPct val="80000"/>
              </a:lnSpc>
            </a:pPr>
            <a:r>
              <a:rPr lang="en-US" dirty="0" smtClean="0"/>
              <a:t>sites of protein synthesis</a:t>
            </a:r>
          </a:p>
          <a:p>
            <a:pPr lvl="1">
              <a:lnSpc>
                <a:spcPct val="80000"/>
              </a:lnSpc>
            </a:pPr>
            <a:r>
              <a:rPr lang="en-US" dirty="0" smtClean="0"/>
              <a:t>bacterial and archaea ribosome = 70S </a:t>
            </a:r>
          </a:p>
          <a:p>
            <a:pPr lvl="1">
              <a:lnSpc>
                <a:spcPct val="80000"/>
              </a:lnSpc>
            </a:pPr>
            <a:r>
              <a:rPr lang="en-US" dirty="0" smtClean="0"/>
              <a:t>eukaryotic (80S) </a:t>
            </a:r>
            <a:r>
              <a:rPr lang="en-US" dirty="0" smtClean="0">
                <a:sym typeface="Symbol" pitchFamily="18" charset="2"/>
              </a:rPr>
              <a:t>S = </a:t>
            </a:r>
            <a:r>
              <a:rPr lang="en-US" dirty="0" err="1" smtClean="0">
                <a:sym typeface="Symbol" pitchFamily="18" charset="2"/>
              </a:rPr>
              <a:t>Svedburg</a:t>
            </a:r>
            <a:r>
              <a:rPr lang="en-US" dirty="0" smtClean="0">
                <a:sym typeface="Symbol" pitchFamily="18" charset="2"/>
              </a:rPr>
              <a:t> unit</a:t>
            </a:r>
          </a:p>
          <a:p>
            <a:pPr lvl="1">
              <a:lnSpc>
                <a:spcPct val="80000"/>
              </a:lnSpc>
            </a:pPr>
            <a:endParaRPr lang="en-US" dirty="0" smtClean="0">
              <a:sym typeface="Symbol" pitchFamily="18" charset="2"/>
            </a:endParaRPr>
          </a:p>
          <a:p>
            <a:pPr>
              <a:lnSpc>
                <a:spcPct val="80000"/>
              </a:lnSpc>
            </a:pPr>
            <a:r>
              <a:rPr lang="en-US" dirty="0">
                <a:sym typeface="Symbol" pitchFamily="18" charset="2"/>
              </a:rPr>
              <a:t>Bacterial ribosomal RNA </a:t>
            </a:r>
          </a:p>
          <a:p>
            <a:pPr lvl="1">
              <a:lnSpc>
                <a:spcPct val="80000"/>
              </a:lnSpc>
            </a:pPr>
            <a:r>
              <a:rPr lang="en-US" dirty="0" smtClean="0">
                <a:sym typeface="Symbol" pitchFamily="18" charset="2"/>
              </a:rPr>
              <a:t>16S small subunit</a:t>
            </a:r>
          </a:p>
          <a:p>
            <a:pPr lvl="1">
              <a:lnSpc>
                <a:spcPct val="80000"/>
              </a:lnSpc>
            </a:pPr>
            <a:r>
              <a:rPr lang="en-US" dirty="0" smtClean="0">
                <a:sym typeface="Symbol" pitchFamily="18" charset="2"/>
              </a:rPr>
              <a:t>23S and 5S in large subunit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58</a:t>
            </a:fld>
            <a:endParaRPr lang="en-US"/>
          </a:p>
        </p:txBody>
      </p:sp>
      <p:pic>
        <p:nvPicPr>
          <p:cNvPr id="8" name="Picture 8" descr="(Left) Schematic representation of the two subunits (30S and 50S) and the complete 70S ribosome of E. coli. (Right) Molecular structure of the 70S ribosome of Thermus thermophilus. The 50S subunit includes 23S rRNA and 5S rRNA, while 16S rRNA is found in the 30S subunit. A molecule of tRNA is shown in the A site. To generate this ribbon diagram, crystals of purified bacterial ribosomes were prepared and exposed to X rays, and the resulting diffraction pattern analyzed." title="Figure 3.38 Bacterial Ribosomes."/>
          <p:cNvPicPr>
            <a:picLocks noGrp="1" noChangeAspect="1" noChangeArrowheads="1"/>
          </p:cNvPicPr>
          <p:nvPr>
            <p:ph sz="half" idx="1"/>
          </p:nvPr>
        </p:nvPicPr>
        <p:blipFill>
          <a:blip r:embed="rId2" cstate="print"/>
          <a:stretch>
            <a:fillRect/>
          </a:stretch>
        </p:blipFill>
        <p:spPr bwMode="auto">
          <a:xfrm>
            <a:off x="1142434" y="762000"/>
            <a:ext cx="6783498" cy="3389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6972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0" y="76200"/>
            <a:ext cx="4038600" cy="1143000"/>
          </a:xfrm>
        </p:spPr>
        <p:txBody>
          <a:bodyPr/>
          <a:lstStyle/>
          <a:p>
            <a:r>
              <a:rPr lang="en-US" dirty="0" smtClean="0"/>
              <a:t>The Nucleoid</a:t>
            </a:r>
            <a:endParaRPr lang="en-US" dirty="0"/>
          </a:p>
        </p:txBody>
      </p:sp>
      <p:sp>
        <p:nvSpPr>
          <p:cNvPr id="7" name="Content Placeholder 6"/>
          <p:cNvSpPr>
            <a:spLocks noGrp="1"/>
          </p:cNvSpPr>
          <p:nvPr>
            <p:ph sz="half" idx="2"/>
          </p:nvPr>
        </p:nvSpPr>
        <p:spPr>
          <a:xfrm>
            <a:off x="4800600" y="1219200"/>
            <a:ext cx="4267200" cy="5486400"/>
          </a:xfrm>
        </p:spPr>
        <p:txBody>
          <a:bodyPr>
            <a:normAutofit fontScale="92500" lnSpcReduction="10000"/>
          </a:bodyPr>
          <a:lstStyle/>
          <a:p>
            <a:r>
              <a:rPr lang="en-US" dirty="0" smtClean="0"/>
              <a:t>Usually not membrane bound (few exceptions)</a:t>
            </a:r>
          </a:p>
          <a:p>
            <a:pPr marL="0" indent="0">
              <a:buNone/>
            </a:pPr>
            <a:endParaRPr lang="en-US" dirty="0" smtClean="0"/>
          </a:p>
          <a:p>
            <a:r>
              <a:rPr lang="en-US" dirty="0" smtClean="0"/>
              <a:t>Location of chromosome and associated proteins</a:t>
            </a:r>
          </a:p>
          <a:p>
            <a:pPr marL="0" indent="0">
              <a:buNone/>
            </a:pPr>
            <a:endParaRPr lang="en-US" dirty="0" smtClean="0"/>
          </a:p>
          <a:p>
            <a:r>
              <a:rPr lang="en-US" dirty="0" smtClean="0"/>
              <a:t>Usually 1 closed circular, double-stranded DNA molecule </a:t>
            </a:r>
          </a:p>
          <a:p>
            <a:pPr marL="0" indent="0">
              <a:buNone/>
            </a:pPr>
            <a:endParaRPr lang="en-US" dirty="0" smtClean="0"/>
          </a:p>
          <a:p>
            <a:r>
              <a:rPr lang="en-US" dirty="0" smtClean="0"/>
              <a:t>Supercoiling and nucleoid proteins (different from histones) aid in folding</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59</a:t>
            </a:fld>
            <a:endParaRPr lang="en-US"/>
          </a:p>
        </p:txBody>
      </p:sp>
      <p:pic>
        <p:nvPicPr>
          <p:cNvPr id="8" name="Picture 9" descr="Bacterial chromosomes are located in the nucleoid, an area in the cytoplasm. (Top) A color-enhanced transmission electron micrograph of a thin section of a dividing E. coli cell. The red areas in the center are the nucleoids present in the two daughter cells. (Bottom) Chromosome released from a gently lysed E. coli cell.  The volume of expanding DNA fibers illustrates how tightly packaged the DNA must be inside the cell." title="Figure 3.39 E. coli Nucleoids and Chromosomes."/>
          <p:cNvPicPr>
            <a:picLocks noGrp="1" noChangeAspect="1" noChangeArrowheads="1"/>
          </p:cNvPicPr>
          <p:nvPr>
            <p:ph sz="half" idx="1"/>
          </p:nvPr>
        </p:nvPicPr>
        <p:blipFill>
          <a:blip r:embed="rId2" cstate="print"/>
          <a:stretch>
            <a:fillRect/>
          </a:stretch>
        </p:blipFill>
        <p:spPr bwMode="auto">
          <a:xfrm>
            <a:off x="367419" y="228600"/>
            <a:ext cx="4222959" cy="6514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6972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smtClean="0"/>
              <a:t>Plasmids</a:t>
            </a:r>
            <a:endParaRPr lang="en-US" dirty="0"/>
          </a:p>
        </p:txBody>
      </p:sp>
      <p:sp>
        <p:nvSpPr>
          <p:cNvPr id="7" name="Content Placeholder 6"/>
          <p:cNvSpPr>
            <a:spLocks noGrp="1"/>
          </p:cNvSpPr>
          <p:nvPr>
            <p:ph sz="half" idx="1"/>
          </p:nvPr>
        </p:nvSpPr>
        <p:spPr>
          <a:xfrm>
            <a:off x="228600" y="914400"/>
            <a:ext cx="8839200" cy="2514601"/>
          </a:xfrm>
        </p:spPr>
        <p:txBody>
          <a:bodyPr>
            <a:normAutofit fontScale="77500" lnSpcReduction="20000"/>
          </a:bodyPr>
          <a:lstStyle/>
          <a:p>
            <a:pPr>
              <a:lnSpc>
                <a:spcPct val="90000"/>
              </a:lnSpc>
            </a:pPr>
            <a:r>
              <a:rPr lang="en-US" dirty="0" smtClean="0"/>
              <a:t>Extrachromosomal DNA </a:t>
            </a:r>
          </a:p>
          <a:p>
            <a:pPr lvl="1">
              <a:lnSpc>
                <a:spcPct val="90000"/>
              </a:lnSpc>
            </a:pPr>
            <a:r>
              <a:rPr lang="en-US" dirty="0" smtClean="0"/>
              <a:t>found in bacteria, archaea, some fungi</a:t>
            </a:r>
          </a:p>
          <a:p>
            <a:pPr lvl="1">
              <a:lnSpc>
                <a:spcPct val="90000"/>
              </a:lnSpc>
            </a:pPr>
            <a:r>
              <a:rPr lang="en-US" dirty="0" smtClean="0"/>
              <a:t>usually small, closed circular DNA molecules</a:t>
            </a:r>
          </a:p>
          <a:p>
            <a:pPr lvl="1">
              <a:lnSpc>
                <a:spcPct val="90000"/>
              </a:lnSpc>
            </a:pPr>
            <a:endParaRPr lang="en-US" dirty="0" smtClean="0"/>
          </a:p>
          <a:p>
            <a:pPr>
              <a:lnSpc>
                <a:spcPct val="90000"/>
              </a:lnSpc>
            </a:pPr>
            <a:r>
              <a:rPr lang="en-US" dirty="0" smtClean="0"/>
              <a:t>Exist and replicate independently of chromosome</a:t>
            </a:r>
          </a:p>
          <a:p>
            <a:pPr lvl="1">
              <a:lnSpc>
                <a:spcPct val="90000"/>
              </a:lnSpc>
            </a:pPr>
            <a:r>
              <a:rPr lang="en-US" dirty="0" err="1" smtClean="0"/>
              <a:t>episomes</a:t>
            </a:r>
            <a:r>
              <a:rPr lang="en-US" dirty="0" smtClean="0"/>
              <a:t> – may integrate into chromosome</a:t>
            </a:r>
          </a:p>
          <a:p>
            <a:pPr lvl="1">
              <a:lnSpc>
                <a:spcPct val="90000"/>
              </a:lnSpc>
            </a:pPr>
            <a:r>
              <a:rPr lang="en-US" dirty="0" smtClean="0"/>
              <a:t>inherited during cell division</a:t>
            </a:r>
          </a:p>
          <a:p>
            <a:pPr lvl="1">
              <a:lnSpc>
                <a:spcPct val="90000"/>
              </a:lnSpc>
            </a:pPr>
            <a:endParaRPr lang="en-US" dirty="0" smtClean="0"/>
          </a:p>
          <a:p>
            <a:pPr>
              <a:lnSpc>
                <a:spcPct val="90000"/>
              </a:lnSpc>
            </a:pPr>
            <a:r>
              <a:rPr lang="en-US" dirty="0" smtClean="0"/>
              <a:t>Classification via mode of existence, spread, and function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60</a:t>
            </a:fld>
            <a:endParaRPr lang="en-US"/>
          </a:p>
        </p:txBody>
      </p:sp>
      <p:pic>
        <p:nvPicPr>
          <p:cNvPr id="9" name="Content Placeholder 8" descr="Type:  Conjugative Plasmids2, Function: Transfer of DNA from one cell to another, Example: F factor, Size: 95–100 kbp, Hosts: E. coli, Salmonella, Citrobacter Phenotypic Features: Sex pilus, conjugation &#10;Type: R Plasmids, Function: Carry antibiotic-resistance genes, Example: RP4, Size: 54 kbp, Hosts: Pseudomonas and many other Gram-negative bacteria, Phenotypic Features: Sex pilus, conjugation, resistance to Ampicillin, Kanamycin, Nneomycin, Tetracycline&#10;Type: Col Plasmids, Function: Produce bacteriocins, substances that destroy closely related species, Example: ColE1, Size: 9 kbp, Hosts: E. coli, Phenotypic Features: Colicin E1 production&#10;Type: Virulence Plasmids, Function: Carry virulence genes, Example: Ti, Size: 200 kbp, Hosts: Agrobacterium tumefaciens, Phenotypic Features: Tumor induction in plants&#10;Type: Metabolic Plasmids, Function: Carry genes for enzymes, Example: CAM, Size: 230 kbp, Hosts: Pseudomonas Phenotypic, Features: Camphor degradation" title="Table 3.3 Major Types of Bacterial Plasmids"/>
          <p:cNvPicPr>
            <a:picLocks noGrp="1" noChangeAspect="1" noChangeArrowheads="1"/>
          </p:cNvPicPr>
          <p:nvPr>
            <p:ph sz="half" idx="2"/>
          </p:nvPr>
        </p:nvPicPr>
        <p:blipFill>
          <a:blip r:embed="rId2" cstate="print"/>
          <a:stretch>
            <a:fillRect/>
          </a:stretch>
        </p:blipFill>
        <p:spPr bwMode="auto">
          <a:xfrm>
            <a:off x="990600" y="3466898"/>
            <a:ext cx="7381637" cy="3323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6972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763000" cy="1401762"/>
          </a:xfrm>
        </p:spPr>
        <p:txBody>
          <a:bodyPr>
            <a:normAutofit/>
          </a:bodyPr>
          <a:lstStyle/>
          <a:p>
            <a:r>
              <a:rPr lang="en-US" sz="3600" dirty="0"/>
              <a:t>3.7 </a:t>
            </a:r>
            <a:r>
              <a:rPr lang="en-US" sz="3600" dirty="0" smtClean="0"/>
              <a:t>Many Bacteria Have External Structures Used For Attachment and Motility</a:t>
            </a:r>
            <a:endParaRPr lang="en-US" sz="3600" dirty="0"/>
          </a:p>
        </p:txBody>
      </p:sp>
      <p:sp>
        <p:nvSpPr>
          <p:cNvPr id="3" name="Content Placeholder 2"/>
          <p:cNvSpPr>
            <a:spLocks noGrp="1"/>
          </p:cNvSpPr>
          <p:nvPr>
            <p:ph idx="1"/>
          </p:nvPr>
        </p:nvSpPr>
        <p:spPr>
          <a:xfrm>
            <a:off x="457200" y="2362200"/>
            <a:ext cx="8229600" cy="4191000"/>
          </a:xfrm>
        </p:spPr>
        <p:txBody>
          <a:bodyPr/>
          <a:lstStyle/>
          <a:p>
            <a:pPr marL="514350" indent="-514350">
              <a:buFont typeface="+mj-lt"/>
              <a:buAutoNum type="arabicPeriod"/>
            </a:pPr>
            <a:r>
              <a:rPr lang="en-US" dirty="0"/>
              <a:t>Distinguish pili (fimbriae) and flagella</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Illustrate the various patterns of flagella distribution.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61</a:t>
            </a:fld>
            <a:endParaRPr lang="en-US"/>
          </a:p>
        </p:txBody>
      </p:sp>
    </p:spTree>
    <p:extLst>
      <p:ext uri="{BB962C8B-B14F-4D97-AF65-F5344CB8AC3E}">
        <p14:creationId xmlns:p14="http://schemas.microsoft.com/office/powerpoint/2010/main" val="4028750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Structures</a:t>
            </a:r>
          </a:p>
        </p:txBody>
      </p:sp>
      <p:sp>
        <p:nvSpPr>
          <p:cNvPr id="3" name="Content Placeholder 2"/>
          <p:cNvSpPr>
            <a:spLocks noGrp="1"/>
          </p:cNvSpPr>
          <p:nvPr>
            <p:ph idx="1"/>
          </p:nvPr>
        </p:nvSpPr>
        <p:spPr/>
        <p:txBody>
          <a:bodyPr>
            <a:normAutofit/>
          </a:bodyPr>
          <a:lstStyle/>
          <a:p>
            <a:pPr>
              <a:lnSpc>
                <a:spcPct val="90000"/>
              </a:lnSpc>
            </a:pPr>
            <a:r>
              <a:rPr lang="en-US" dirty="0"/>
              <a:t>Extend beyond the cell envelope in </a:t>
            </a:r>
            <a:r>
              <a:rPr lang="en-US" dirty="0" smtClean="0"/>
              <a:t>bacteria</a:t>
            </a:r>
          </a:p>
          <a:p>
            <a:pPr>
              <a:lnSpc>
                <a:spcPct val="90000"/>
              </a:lnSpc>
            </a:pPr>
            <a:endParaRPr lang="en-US" dirty="0"/>
          </a:p>
          <a:p>
            <a:pPr>
              <a:lnSpc>
                <a:spcPct val="90000"/>
              </a:lnSpc>
            </a:pPr>
            <a:r>
              <a:rPr lang="en-US" dirty="0"/>
              <a:t>Function in protection, attachment to surfaces, horizontal gene transfer, cell movement </a:t>
            </a:r>
          </a:p>
          <a:p>
            <a:pPr lvl="1">
              <a:lnSpc>
                <a:spcPct val="90000"/>
              </a:lnSpc>
            </a:pPr>
            <a:r>
              <a:rPr lang="en-US" sz="2200" dirty="0"/>
              <a:t>pili and fimbriae</a:t>
            </a:r>
          </a:p>
          <a:p>
            <a:pPr lvl="1">
              <a:lnSpc>
                <a:spcPct val="90000"/>
              </a:lnSpc>
            </a:pPr>
            <a:r>
              <a:rPr lang="en-US" sz="2200" dirty="0"/>
              <a:t>flagella</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62</a:t>
            </a:fld>
            <a:endParaRPr lang="en-US"/>
          </a:p>
        </p:txBody>
      </p:sp>
    </p:spTree>
    <p:extLst>
      <p:ext uri="{BB962C8B-B14F-4D97-AF65-F5344CB8AC3E}">
        <p14:creationId xmlns:p14="http://schemas.microsoft.com/office/powerpoint/2010/main" val="42288497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5300"/>
            <a:ext cx="3581400" cy="1143000"/>
          </a:xfrm>
        </p:spPr>
        <p:txBody>
          <a:bodyPr>
            <a:normAutofit fontScale="90000"/>
          </a:bodyPr>
          <a:lstStyle/>
          <a:p>
            <a:r>
              <a:rPr lang="en-US" dirty="0" smtClean="0"/>
              <a:t>Pili and Fimbriae</a:t>
            </a:r>
            <a:br>
              <a:rPr lang="en-US" dirty="0" smtClean="0"/>
            </a:br>
            <a:endParaRPr lang="en-US" dirty="0"/>
          </a:p>
        </p:txBody>
      </p:sp>
      <p:sp>
        <p:nvSpPr>
          <p:cNvPr id="8" name="Content Placeholder 7"/>
          <p:cNvSpPr>
            <a:spLocks noGrp="1"/>
          </p:cNvSpPr>
          <p:nvPr>
            <p:ph sz="half" idx="2"/>
          </p:nvPr>
        </p:nvSpPr>
        <p:spPr>
          <a:xfrm>
            <a:off x="4572000" y="457201"/>
            <a:ext cx="4495800" cy="6324600"/>
          </a:xfrm>
        </p:spPr>
        <p:txBody>
          <a:bodyPr>
            <a:normAutofit/>
          </a:bodyPr>
          <a:lstStyle/>
          <a:p>
            <a:pPr>
              <a:lnSpc>
                <a:spcPct val="90000"/>
              </a:lnSpc>
            </a:pPr>
            <a:r>
              <a:rPr lang="en-US" dirty="0" smtClean="0"/>
              <a:t>Fimbriae (s., fimbria); pili </a:t>
            </a:r>
            <a:br>
              <a:rPr lang="en-US" dirty="0" smtClean="0"/>
            </a:br>
            <a:r>
              <a:rPr lang="en-US" dirty="0" smtClean="0"/>
              <a:t>(s., pilus)</a:t>
            </a:r>
          </a:p>
          <a:p>
            <a:pPr lvl="1">
              <a:lnSpc>
                <a:spcPct val="90000"/>
              </a:lnSpc>
            </a:pPr>
            <a:r>
              <a:rPr lang="en-US" sz="2200" dirty="0" smtClean="0"/>
              <a:t>short, thin, </a:t>
            </a:r>
            <a:r>
              <a:rPr lang="en-US" sz="2200" dirty="0" err="1" smtClean="0"/>
              <a:t>hairlike</a:t>
            </a:r>
            <a:r>
              <a:rPr lang="en-US" sz="2200" dirty="0" smtClean="0"/>
              <a:t>, protein appendages (up to 1,000/cell)</a:t>
            </a:r>
          </a:p>
          <a:p>
            <a:pPr lvl="1">
              <a:lnSpc>
                <a:spcPct val="90000"/>
              </a:lnSpc>
            </a:pPr>
            <a:r>
              <a:rPr lang="en-US" sz="2200" dirty="0" smtClean="0"/>
              <a:t>can mediate attachment to surfaces, motility, DNA uptake</a:t>
            </a:r>
            <a:br>
              <a:rPr lang="en-US" sz="2200" dirty="0" smtClean="0"/>
            </a:br>
            <a:endParaRPr lang="en-US" sz="2200" dirty="0" smtClean="0"/>
          </a:p>
          <a:p>
            <a:pPr>
              <a:lnSpc>
                <a:spcPct val="90000"/>
              </a:lnSpc>
            </a:pPr>
            <a:r>
              <a:rPr lang="en-US" dirty="0" smtClean="0"/>
              <a:t>Sex pili (s., pilus)</a:t>
            </a:r>
          </a:p>
          <a:p>
            <a:pPr lvl="1">
              <a:lnSpc>
                <a:spcPct val="90000"/>
              </a:lnSpc>
            </a:pPr>
            <a:r>
              <a:rPr lang="en-US" sz="2200" dirty="0" smtClean="0"/>
              <a:t>longer, thicker, less numerous </a:t>
            </a:r>
            <a:br>
              <a:rPr lang="en-US" sz="2200" dirty="0" smtClean="0"/>
            </a:br>
            <a:r>
              <a:rPr lang="en-US" sz="2200" dirty="0" smtClean="0"/>
              <a:t>(1-10/cell)</a:t>
            </a:r>
          </a:p>
          <a:p>
            <a:pPr lvl="1">
              <a:lnSpc>
                <a:spcPct val="90000"/>
              </a:lnSpc>
            </a:pPr>
            <a:r>
              <a:rPr lang="en-US" sz="2200" dirty="0" smtClean="0"/>
              <a:t>genes for formation on plasmids</a:t>
            </a:r>
          </a:p>
          <a:p>
            <a:pPr lvl="1">
              <a:lnSpc>
                <a:spcPct val="90000"/>
              </a:lnSpc>
            </a:pPr>
            <a:r>
              <a:rPr lang="en-US" sz="2200" dirty="0" smtClean="0"/>
              <a:t>required for conjugation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63</a:t>
            </a:fld>
            <a:endParaRPr lang="en-US"/>
          </a:p>
        </p:txBody>
      </p:sp>
      <p:pic>
        <p:nvPicPr>
          <p:cNvPr id="9" name="Picture 7" descr="The long flagella and numerous shorter fimbriae are evident in this SEM of the bacterium Proteus vulgaris." title="Figure 3.40 Flagella and Fimbriae."/>
          <p:cNvPicPr>
            <a:picLocks noGrp="1" noChangeAspect="1" noChangeArrowheads="1"/>
          </p:cNvPicPr>
          <p:nvPr>
            <p:ph sz="half" idx="1"/>
          </p:nvPr>
        </p:nvPicPr>
        <p:blipFill>
          <a:blip r:embed="rId2" cstate="print"/>
          <a:stretch>
            <a:fillRect/>
          </a:stretch>
        </p:blipFill>
        <p:spPr bwMode="auto">
          <a:xfrm>
            <a:off x="155221" y="1828800"/>
            <a:ext cx="4454173"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6764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2514600" cy="1143000"/>
          </a:xfrm>
        </p:spPr>
        <p:txBody>
          <a:bodyPr/>
          <a:lstStyle/>
          <a:p>
            <a:r>
              <a:rPr lang="en-US" dirty="0" smtClean="0"/>
              <a:t>Flagella</a:t>
            </a:r>
            <a:endParaRPr lang="en-US" dirty="0"/>
          </a:p>
        </p:txBody>
      </p:sp>
      <p:sp>
        <p:nvSpPr>
          <p:cNvPr id="7" name="Content Placeholder 6"/>
          <p:cNvSpPr>
            <a:spLocks noGrp="1"/>
          </p:cNvSpPr>
          <p:nvPr>
            <p:ph sz="half" idx="2"/>
          </p:nvPr>
        </p:nvSpPr>
        <p:spPr>
          <a:xfrm>
            <a:off x="228600" y="2484437"/>
            <a:ext cx="8589963" cy="4373563"/>
          </a:xfrm>
        </p:spPr>
        <p:txBody>
          <a:bodyPr>
            <a:normAutofit fontScale="77500" lnSpcReduction="20000"/>
          </a:bodyPr>
          <a:lstStyle/>
          <a:p>
            <a:r>
              <a:rPr lang="en-US" dirty="0" smtClean="0"/>
              <a:t>Threadlike, locomotor appendages extending outward from plasma membrane and cell wall</a:t>
            </a:r>
          </a:p>
          <a:p>
            <a:endParaRPr lang="en-US" dirty="0" smtClean="0"/>
          </a:p>
          <a:p>
            <a:r>
              <a:rPr lang="en-US" dirty="0" smtClean="0"/>
              <a:t>Functions</a:t>
            </a:r>
          </a:p>
          <a:p>
            <a:pPr lvl="1"/>
            <a:r>
              <a:rPr lang="en-US" dirty="0" smtClean="0"/>
              <a:t>motility and swarming behavior</a:t>
            </a:r>
          </a:p>
          <a:p>
            <a:pPr lvl="1"/>
            <a:r>
              <a:rPr lang="en-US" dirty="0" smtClean="0"/>
              <a:t>attachment to surfaces</a:t>
            </a:r>
          </a:p>
          <a:p>
            <a:pPr lvl="1"/>
            <a:r>
              <a:rPr lang="en-US" dirty="0" smtClean="0"/>
              <a:t>may be virulence factors</a:t>
            </a:r>
          </a:p>
          <a:p>
            <a:pPr lvl="1"/>
            <a:endParaRPr lang="en-US" dirty="0" smtClean="0"/>
          </a:p>
          <a:p>
            <a:r>
              <a:rPr lang="en-US" dirty="0" smtClean="0"/>
              <a:t>Patterns of flagellation</a:t>
            </a:r>
          </a:p>
          <a:p>
            <a:pPr lvl="1"/>
            <a:r>
              <a:rPr lang="en-US" dirty="0" err="1" smtClean="0"/>
              <a:t>monotrichous</a:t>
            </a:r>
            <a:r>
              <a:rPr lang="en-US" dirty="0" smtClean="0"/>
              <a:t> – one flagellum</a:t>
            </a:r>
          </a:p>
          <a:p>
            <a:pPr lvl="1"/>
            <a:r>
              <a:rPr lang="en-US" dirty="0" smtClean="0"/>
              <a:t>polar flagellum – flagellum at end of cell</a:t>
            </a:r>
          </a:p>
          <a:p>
            <a:pPr lvl="1"/>
            <a:r>
              <a:rPr lang="en-US" dirty="0" err="1" smtClean="0"/>
              <a:t>amphitrichous</a:t>
            </a:r>
            <a:r>
              <a:rPr lang="en-US" dirty="0" smtClean="0"/>
              <a:t> – one flagellum at each end of cell</a:t>
            </a:r>
          </a:p>
          <a:p>
            <a:pPr lvl="1"/>
            <a:r>
              <a:rPr lang="en-US" dirty="0" err="1" smtClean="0"/>
              <a:t>lophotrichous</a:t>
            </a:r>
            <a:r>
              <a:rPr lang="en-US" dirty="0" smtClean="0"/>
              <a:t> – cluster of flagella at one or both ends</a:t>
            </a:r>
          </a:p>
          <a:p>
            <a:pPr lvl="1"/>
            <a:r>
              <a:rPr lang="en-US" dirty="0" err="1" smtClean="0"/>
              <a:t>peritrichous</a:t>
            </a:r>
            <a:r>
              <a:rPr lang="en-US" dirty="0" smtClean="0"/>
              <a:t> – spread over entire surface of cell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64</a:t>
            </a:fld>
            <a:endParaRPr lang="en-US"/>
          </a:p>
        </p:txBody>
      </p:sp>
      <p:pic>
        <p:nvPicPr>
          <p:cNvPr id="9" name="Picture 2" descr="Examples of various patterns of flagellation as seen in the light microscope. (Left) Monotrichous polar flagellation of Vibrio cholerae (one flagellum at the end of the cell). (Middle) Lophotrichous flagellation of Spirillum volutans (a cluster of flagella at one end). (Right) Peritrichous flagellation of Proteus vulgaris (flagella spread over entire surface of cell)." title="Figure 3.41 Flagellar Distribution."/>
          <p:cNvPicPr>
            <a:picLocks noGrp="1" noChangeAspect="1" noChangeArrowheads="1"/>
          </p:cNvPicPr>
          <p:nvPr>
            <p:ph sz="half" idx="1"/>
          </p:nvPr>
        </p:nvPicPr>
        <p:blipFill>
          <a:blip r:embed="rId2" cstate="print"/>
          <a:srcRect/>
          <a:stretch>
            <a:fillRect/>
          </a:stretch>
        </p:blipFill>
        <p:spPr bwMode="auto">
          <a:xfrm>
            <a:off x="2303378" y="152400"/>
            <a:ext cx="6840622" cy="2232340"/>
          </a:xfrm>
          <a:prstGeom prst="rect">
            <a:avLst/>
          </a:prstGeom>
          <a:noFill/>
        </p:spPr>
      </p:pic>
    </p:spTree>
    <p:extLst>
      <p:ext uri="{BB962C8B-B14F-4D97-AF65-F5344CB8AC3E}">
        <p14:creationId xmlns:p14="http://schemas.microsoft.com/office/powerpoint/2010/main" val="42288497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dirty="0" smtClean="0"/>
              <a:t>Bacterial Flagella</a:t>
            </a:r>
            <a:endParaRPr lang="en-US" dirty="0"/>
          </a:p>
        </p:txBody>
      </p:sp>
      <p:sp>
        <p:nvSpPr>
          <p:cNvPr id="7" name="Content Placeholder 6"/>
          <p:cNvSpPr>
            <a:spLocks noGrp="1"/>
          </p:cNvSpPr>
          <p:nvPr>
            <p:ph sz="half" idx="1"/>
          </p:nvPr>
        </p:nvSpPr>
        <p:spPr>
          <a:xfrm>
            <a:off x="228600" y="1066800"/>
            <a:ext cx="8763000" cy="2362200"/>
          </a:xfrm>
        </p:spPr>
        <p:txBody>
          <a:bodyPr>
            <a:normAutofit fontScale="77500" lnSpcReduction="20000"/>
          </a:bodyPr>
          <a:lstStyle/>
          <a:p>
            <a:r>
              <a:rPr lang="en-US" dirty="0" smtClean="0"/>
              <a:t>Thin, rigid protein structures that cannot be observed with bright-field microscope unless specially stained</a:t>
            </a:r>
          </a:p>
          <a:p>
            <a:endParaRPr lang="en-US" dirty="0" smtClean="0"/>
          </a:p>
          <a:p>
            <a:r>
              <a:rPr lang="en-US" dirty="0" smtClean="0"/>
              <a:t>Ultrastructure composed of three parts</a:t>
            </a:r>
          </a:p>
          <a:p>
            <a:pPr lvl="1">
              <a:lnSpc>
                <a:spcPct val="90000"/>
              </a:lnSpc>
            </a:pPr>
            <a:r>
              <a:rPr lang="en-US" dirty="0" smtClean="0"/>
              <a:t>filament extends from cell surface to the tip</a:t>
            </a:r>
          </a:p>
          <a:p>
            <a:pPr lvl="2">
              <a:lnSpc>
                <a:spcPct val="90000"/>
              </a:lnSpc>
            </a:pPr>
            <a:r>
              <a:rPr lang="en-US" dirty="0" smtClean="0"/>
              <a:t>hollow, rigid cylinder of </a:t>
            </a:r>
            <a:r>
              <a:rPr lang="en-US" dirty="0" err="1" smtClean="0"/>
              <a:t>flagellin</a:t>
            </a:r>
            <a:r>
              <a:rPr lang="en-US" dirty="0" smtClean="0"/>
              <a:t> protein</a:t>
            </a:r>
          </a:p>
          <a:p>
            <a:pPr lvl="1">
              <a:lnSpc>
                <a:spcPct val="90000"/>
              </a:lnSpc>
            </a:pPr>
            <a:r>
              <a:rPr lang="en-US" dirty="0" smtClean="0"/>
              <a:t>hook links filament to basal body</a:t>
            </a:r>
          </a:p>
          <a:p>
            <a:pPr lvl="1">
              <a:lnSpc>
                <a:spcPct val="90000"/>
              </a:lnSpc>
            </a:pPr>
            <a:r>
              <a:rPr lang="en-US" dirty="0" smtClean="0"/>
              <a:t>basal body is series of rings that drive flagellar motor</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65</a:t>
            </a:fld>
            <a:endParaRPr lang="en-US"/>
          </a:p>
        </p:txBody>
      </p:sp>
      <p:pic>
        <p:nvPicPr>
          <p:cNvPr id="9" name="Picture 9" descr="Flagellar basal bodies and hooks in (left) typical Gram-negative and (right) typical Gram-positive bacteria.&#10;In the Gram-negative example (left) the L ring of the basal body is in the outer membrane of the cell and the P ring is in the peptidoglycan layer.  The Gram-positive example (right) lacks the L ring and the P ring.  In both examples, the basal body starts in the plasma membrane and extends out through the cell wall with the hook, and finally the filament of the flagellum." title="Figure 3.42 The Ultrastructure of Bacterial Flagella."/>
          <p:cNvPicPr>
            <a:picLocks noGrp="1" noChangeAspect="1" noChangeArrowheads="1"/>
          </p:cNvPicPr>
          <p:nvPr>
            <p:ph sz="half" idx="2"/>
          </p:nvPr>
        </p:nvPicPr>
        <p:blipFill>
          <a:blip r:embed="rId2" cstate="print"/>
          <a:stretch>
            <a:fillRect/>
          </a:stretch>
        </p:blipFill>
        <p:spPr bwMode="auto">
          <a:xfrm>
            <a:off x="1714718" y="3483965"/>
            <a:ext cx="5576942" cy="3297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849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Flagellar Synthesis</a:t>
            </a:r>
            <a:endParaRPr lang="en-US" dirty="0"/>
          </a:p>
        </p:txBody>
      </p:sp>
      <p:sp>
        <p:nvSpPr>
          <p:cNvPr id="6" name="Content Placeholder 5"/>
          <p:cNvSpPr>
            <a:spLocks noGrp="1"/>
          </p:cNvSpPr>
          <p:nvPr>
            <p:ph sz="half" idx="1"/>
          </p:nvPr>
        </p:nvSpPr>
        <p:spPr>
          <a:xfrm>
            <a:off x="228600" y="1066800"/>
            <a:ext cx="8839200" cy="2438400"/>
          </a:xfrm>
        </p:spPr>
        <p:txBody>
          <a:bodyPr>
            <a:normAutofit fontScale="85000" lnSpcReduction="20000"/>
          </a:bodyPr>
          <a:lstStyle/>
          <a:p>
            <a:r>
              <a:rPr lang="en-US" dirty="0" smtClean="0"/>
              <a:t>Complex process involving many genes/gene products</a:t>
            </a:r>
          </a:p>
          <a:p>
            <a:endParaRPr lang="en-US" dirty="0" smtClean="0"/>
          </a:p>
          <a:p>
            <a:r>
              <a:rPr lang="en-US" dirty="0" smtClean="0"/>
              <a:t>New </a:t>
            </a:r>
            <a:r>
              <a:rPr lang="en-US" dirty="0" err="1" smtClean="0"/>
              <a:t>flagellin</a:t>
            </a:r>
            <a:r>
              <a:rPr lang="en-US" dirty="0" smtClean="0"/>
              <a:t> molecules transported through the hollow filament using Type III-like secretion system</a:t>
            </a:r>
          </a:p>
          <a:p>
            <a:endParaRPr lang="en-US" dirty="0" smtClean="0"/>
          </a:p>
          <a:p>
            <a:r>
              <a:rPr lang="en-US" dirty="0" smtClean="0"/>
              <a:t>Filament subunits self-assemble with help of filament cap at tip, not base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66</a:t>
            </a:fld>
            <a:endParaRPr lang="en-US"/>
          </a:p>
        </p:txBody>
      </p:sp>
      <p:pic>
        <p:nvPicPr>
          <p:cNvPr id="8" name="Content Placeholder 7" descr="Flagellin subunits travel through the flagellar core and attach to the growing tip.  Their attachment is directed by the filament cap protein.  Thus the filament grows at its tip, as illustrated in this figure, rather than at the base." title="Figure 3.43 Flagellar Filaments Grow at the Tip."/>
          <p:cNvPicPr>
            <a:picLocks noGrp="1" noChangeAspect="1" noChangeArrowheads="1"/>
          </p:cNvPicPr>
          <p:nvPr>
            <p:ph sz="half" idx="2"/>
          </p:nvPr>
        </p:nvPicPr>
        <p:blipFill>
          <a:blip r:embed="rId2" cstate="print"/>
          <a:stretch>
            <a:fillRect/>
          </a:stretch>
        </p:blipFill>
        <p:spPr bwMode="auto">
          <a:xfrm>
            <a:off x="2057399" y="3276600"/>
            <a:ext cx="5867767" cy="3422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8497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3.8 Bacterial </a:t>
            </a:r>
            <a:r>
              <a:rPr lang="en-US" dirty="0" smtClean="0"/>
              <a:t>Move in Response to Environmental Conditions</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Compare and contrast flagellar swimming motility, spirochete flagellar motility, and twitching and gliding motility</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State the source of energy that powers flagellar motility</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Explain why bacterial chemotaxis is referred to as a “biased random walk.”</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67</a:t>
            </a:fld>
            <a:endParaRPr lang="en-US"/>
          </a:p>
        </p:txBody>
      </p:sp>
    </p:spTree>
    <p:extLst>
      <p:ext uri="{BB962C8B-B14F-4D97-AF65-F5344CB8AC3E}">
        <p14:creationId xmlns:p14="http://schemas.microsoft.com/office/powerpoint/2010/main" val="42288497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Motility</a:t>
            </a:r>
          </a:p>
        </p:txBody>
      </p:sp>
      <p:sp>
        <p:nvSpPr>
          <p:cNvPr id="3" name="Content Placeholder 2"/>
          <p:cNvSpPr>
            <a:spLocks noGrp="1"/>
          </p:cNvSpPr>
          <p:nvPr>
            <p:ph idx="1"/>
          </p:nvPr>
        </p:nvSpPr>
        <p:spPr>
          <a:xfrm>
            <a:off x="457200" y="990600"/>
            <a:ext cx="8229600" cy="5715000"/>
          </a:xfrm>
        </p:spPr>
        <p:txBody>
          <a:bodyPr>
            <a:normAutofit fontScale="70000" lnSpcReduction="20000"/>
          </a:bodyPr>
          <a:lstStyle/>
          <a:p>
            <a:r>
              <a:rPr lang="en-US" dirty="0"/>
              <a:t>Flagellar </a:t>
            </a:r>
            <a:r>
              <a:rPr lang="en-US" dirty="0" smtClean="0"/>
              <a:t>movement</a:t>
            </a:r>
          </a:p>
          <a:p>
            <a:endParaRPr lang="en-US" dirty="0" smtClean="0"/>
          </a:p>
          <a:p>
            <a:r>
              <a:rPr lang="en-US" dirty="0" smtClean="0"/>
              <a:t>Swarming</a:t>
            </a:r>
          </a:p>
          <a:p>
            <a:endParaRPr lang="en-US" dirty="0"/>
          </a:p>
          <a:p>
            <a:r>
              <a:rPr lang="en-US" dirty="0"/>
              <a:t>Spirochete </a:t>
            </a:r>
            <a:r>
              <a:rPr lang="en-US" dirty="0" smtClean="0"/>
              <a:t>motility</a:t>
            </a:r>
          </a:p>
          <a:p>
            <a:endParaRPr lang="en-US" dirty="0"/>
          </a:p>
          <a:p>
            <a:r>
              <a:rPr lang="en-US" dirty="0"/>
              <a:t>Twitching </a:t>
            </a:r>
            <a:r>
              <a:rPr lang="en-US" dirty="0" smtClean="0"/>
              <a:t>motility</a:t>
            </a:r>
          </a:p>
          <a:p>
            <a:endParaRPr lang="en-US" dirty="0"/>
          </a:p>
          <a:p>
            <a:r>
              <a:rPr lang="en-US" dirty="0"/>
              <a:t>Gliding </a:t>
            </a:r>
            <a:r>
              <a:rPr lang="en-US" dirty="0" smtClean="0"/>
              <a:t>motility</a:t>
            </a:r>
          </a:p>
          <a:p>
            <a:endParaRPr lang="en-US" dirty="0" smtClean="0"/>
          </a:p>
          <a:p>
            <a:pPr>
              <a:lnSpc>
                <a:spcPct val="90000"/>
              </a:lnSpc>
            </a:pPr>
            <a:r>
              <a:rPr lang="en-US" i="1" dirty="0"/>
              <a:t>Bacteria</a:t>
            </a:r>
            <a:r>
              <a:rPr lang="en-US" dirty="0"/>
              <a:t> and </a:t>
            </a:r>
            <a:r>
              <a:rPr lang="en-US" i="1" dirty="0"/>
              <a:t>Archaea</a:t>
            </a:r>
            <a:r>
              <a:rPr lang="en-US" dirty="0"/>
              <a:t> have directed </a:t>
            </a:r>
            <a:r>
              <a:rPr lang="en-US" dirty="0" smtClean="0"/>
              <a:t>movement</a:t>
            </a:r>
          </a:p>
          <a:p>
            <a:pPr>
              <a:lnSpc>
                <a:spcPct val="90000"/>
              </a:lnSpc>
            </a:pPr>
            <a:endParaRPr lang="en-US" dirty="0"/>
          </a:p>
          <a:p>
            <a:pPr>
              <a:lnSpc>
                <a:spcPct val="90000"/>
              </a:lnSpc>
            </a:pPr>
            <a:r>
              <a:rPr lang="en-US" dirty="0"/>
              <a:t>Chemotaxis</a:t>
            </a:r>
          </a:p>
          <a:p>
            <a:pPr lvl="1">
              <a:lnSpc>
                <a:spcPct val="90000"/>
              </a:lnSpc>
            </a:pPr>
            <a:r>
              <a:rPr lang="en-US" dirty="0"/>
              <a:t>move toward chemical attractants such as nutrients, away from harmful </a:t>
            </a:r>
            <a:r>
              <a:rPr lang="en-US" dirty="0" smtClean="0"/>
              <a:t>substances</a:t>
            </a:r>
          </a:p>
          <a:p>
            <a:pPr lvl="1">
              <a:lnSpc>
                <a:spcPct val="90000"/>
              </a:lnSpc>
            </a:pPr>
            <a:endParaRPr lang="en-US" dirty="0"/>
          </a:p>
          <a:p>
            <a:pPr>
              <a:lnSpc>
                <a:spcPct val="90000"/>
              </a:lnSpc>
            </a:pPr>
            <a:r>
              <a:rPr lang="en-US" dirty="0"/>
              <a:t>Move in response to temperature, light, oxygen, osmotic pressure, and </a:t>
            </a:r>
            <a:r>
              <a:rPr lang="en-US" dirty="0" smtClean="0"/>
              <a:t>gravity</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68</a:t>
            </a:fld>
            <a:endParaRPr lang="en-US"/>
          </a:p>
        </p:txBody>
      </p:sp>
    </p:spTree>
    <p:extLst>
      <p:ext uri="{BB962C8B-B14F-4D97-AF65-F5344CB8AC3E}">
        <p14:creationId xmlns:p14="http://schemas.microsoft.com/office/powerpoint/2010/main" val="42288497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p>
            <a:r>
              <a:rPr lang="en-US" dirty="0"/>
              <a:t>Bacterial Flagellar Movement</a:t>
            </a:r>
          </a:p>
        </p:txBody>
      </p:sp>
      <p:sp>
        <p:nvSpPr>
          <p:cNvPr id="6" name="Content Placeholder 5"/>
          <p:cNvSpPr>
            <a:spLocks noGrp="1"/>
          </p:cNvSpPr>
          <p:nvPr>
            <p:ph sz="half" idx="1"/>
          </p:nvPr>
        </p:nvSpPr>
        <p:spPr>
          <a:xfrm>
            <a:off x="152400" y="1219200"/>
            <a:ext cx="4343400" cy="5410200"/>
          </a:xfrm>
        </p:spPr>
        <p:txBody>
          <a:bodyPr>
            <a:normAutofit/>
          </a:bodyPr>
          <a:lstStyle/>
          <a:p>
            <a:r>
              <a:rPr lang="en-US" dirty="0" smtClean="0"/>
              <a:t>Flagellum rotates like a propeller</a:t>
            </a:r>
          </a:p>
          <a:p>
            <a:endParaRPr lang="en-US" dirty="0" smtClean="0"/>
          </a:p>
          <a:p>
            <a:pPr lvl="1"/>
            <a:r>
              <a:rPr lang="en-US" dirty="0" smtClean="0"/>
              <a:t>very rapid rotation up to </a:t>
            </a:r>
          </a:p>
          <a:p>
            <a:pPr lvl="1">
              <a:buNone/>
            </a:pPr>
            <a:r>
              <a:rPr lang="en-US" dirty="0" smtClean="0"/>
              <a:t>	1100 revolutions/sec</a:t>
            </a:r>
          </a:p>
          <a:p>
            <a:pPr lvl="1"/>
            <a:r>
              <a:rPr lang="en-US" dirty="0" smtClean="0"/>
              <a:t>in general, counterclockwise (CCW) rotation causes forward motion (run)</a:t>
            </a:r>
          </a:p>
          <a:p>
            <a:pPr lvl="1"/>
            <a:r>
              <a:rPr lang="en-US" dirty="0" smtClean="0"/>
              <a:t>in general, clockwise rotation (CW) disrupts run causing cell to stop and tumble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69</a:t>
            </a:fld>
            <a:endParaRPr lang="en-US"/>
          </a:p>
        </p:txBody>
      </p:sp>
      <p:pic>
        <p:nvPicPr>
          <p:cNvPr id="8" name="Picture 9" descr="The relationship of flagellar rotation to bacterial movement. The top two examples illustrate the motion of monotrichous, polar bacteria.  Counterclockwise rotation results in a forward run while clockwise rotation results in a tumble.  The bottom two examples illustrate the movements of peritrichous organisms.  To move forward in a run, the flagella rotate counterclockwise.  As they do so, the flagella bend at their hooks to form a rotating bundle that propels the cell forward. Clockwise rotation of the flagella disrupts the bundle and the cell tumbles." title="Figure 3.44 The Direction of Flagellar Rotation Often Determines the Way a Bacterium Moves."/>
          <p:cNvPicPr>
            <a:picLocks noGrp="1" noChangeAspect="1" noChangeArrowheads="1"/>
          </p:cNvPicPr>
          <p:nvPr>
            <p:ph sz="half" idx="2"/>
          </p:nvPr>
        </p:nvPicPr>
        <p:blipFill>
          <a:blip r:embed="rId2" cstate="print"/>
          <a:stretch>
            <a:fillRect/>
          </a:stretch>
        </p:blipFill>
        <p:spPr bwMode="auto">
          <a:xfrm>
            <a:off x="4724400" y="942176"/>
            <a:ext cx="3581400" cy="5857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8497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dirty="0"/>
              <a:t>Mechanism of Flagellar Movement</a:t>
            </a:r>
          </a:p>
        </p:txBody>
      </p:sp>
      <p:sp>
        <p:nvSpPr>
          <p:cNvPr id="7" name="Content Placeholder 6"/>
          <p:cNvSpPr>
            <a:spLocks noGrp="1"/>
          </p:cNvSpPr>
          <p:nvPr>
            <p:ph sz="half" idx="2"/>
          </p:nvPr>
        </p:nvSpPr>
        <p:spPr>
          <a:xfrm>
            <a:off x="4495800" y="914400"/>
            <a:ext cx="4495800" cy="5867400"/>
          </a:xfrm>
        </p:spPr>
        <p:txBody>
          <a:bodyPr>
            <a:normAutofit fontScale="92500" lnSpcReduction="10000"/>
          </a:bodyPr>
          <a:lstStyle/>
          <a:p>
            <a:pPr>
              <a:lnSpc>
                <a:spcPct val="90000"/>
              </a:lnSpc>
            </a:pPr>
            <a:r>
              <a:rPr lang="en-US" dirty="0"/>
              <a:t>Flagellum is 2 part motor producing torque</a:t>
            </a:r>
          </a:p>
          <a:p>
            <a:pPr>
              <a:lnSpc>
                <a:spcPct val="90000"/>
              </a:lnSpc>
            </a:pPr>
            <a:endParaRPr lang="en-US" dirty="0"/>
          </a:p>
          <a:p>
            <a:pPr>
              <a:lnSpc>
                <a:spcPct val="90000"/>
              </a:lnSpc>
            </a:pPr>
            <a:r>
              <a:rPr lang="en-US" dirty="0"/>
              <a:t>Rotor</a:t>
            </a:r>
          </a:p>
          <a:p>
            <a:pPr lvl="1">
              <a:lnSpc>
                <a:spcPct val="90000"/>
              </a:lnSpc>
            </a:pPr>
            <a:r>
              <a:rPr lang="en-US" dirty="0" smtClean="0"/>
              <a:t>C (</a:t>
            </a:r>
            <a:r>
              <a:rPr lang="en-US" dirty="0" err="1" smtClean="0"/>
              <a:t>FliG</a:t>
            </a:r>
            <a:r>
              <a:rPr lang="en-US" dirty="0" smtClean="0"/>
              <a:t> protein) ring and MS ring turn and interact with stator</a:t>
            </a:r>
          </a:p>
          <a:p>
            <a:pPr lvl="1">
              <a:lnSpc>
                <a:spcPct val="90000"/>
              </a:lnSpc>
            </a:pPr>
            <a:endParaRPr lang="en-US" dirty="0" smtClean="0"/>
          </a:p>
          <a:p>
            <a:pPr>
              <a:lnSpc>
                <a:spcPct val="90000"/>
              </a:lnSpc>
            </a:pPr>
            <a:r>
              <a:rPr lang="en-US" dirty="0"/>
              <a:t>Stator - Mot A and Mot B proteins</a:t>
            </a:r>
          </a:p>
          <a:p>
            <a:pPr lvl="1">
              <a:lnSpc>
                <a:spcPct val="90000"/>
              </a:lnSpc>
            </a:pPr>
            <a:r>
              <a:rPr lang="en-US" dirty="0" smtClean="0"/>
              <a:t>form channel through plasma membrane </a:t>
            </a:r>
          </a:p>
          <a:p>
            <a:pPr lvl="1">
              <a:lnSpc>
                <a:spcPct val="90000"/>
              </a:lnSpc>
            </a:pPr>
            <a:r>
              <a:rPr lang="en-US" dirty="0" smtClean="0"/>
              <a:t>protons move through Mot A and Mot B channels using energy of proton motive force  </a:t>
            </a:r>
          </a:p>
          <a:p>
            <a:pPr lvl="1">
              <a:lnSpc>
                <a:spcPct val="90000"/>
              </a:lnSpc>
            </a:pPr>
            <a:r>
              <a:rPr lang="en-US" dirty="0" smtClean="0"/>
              <a:t>torque powers rotation of the basal body and filament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70</a:t>
            </a:fld>
            <a:endParaRPr lang="en-US"/>
          </a:p>
        </p:txBody>
      </p:sp>
      <p:pic>
        <p:nvPicPr>
          <p:cNvPr id="8" name="Picture 8" descr="Diagram of a flagellum in a Gram-negative cell wall with the filament, hook, L ring, P ring, rod, and five of the many flagellar proteins labeled.  Proteins MotA and MotB create a channel through which protons can flow from the periplasmic space through the plasma membrane.  This flow of protons causes the flagellum to rotate." title="Figure 3.45 Mechanism of Flagellar Movement."/>
          <p:cNvPicPr>
            <a:picLocks noGrp="1" noChangeAspect="1" noChangeArrowheads="1"/>
          </p:cNvPicPr>
          <p:nvPr>
            <p:ph sz="half" idx="1"/>
          </p:nvPr>
        </p:nvPicPr>
        <p:blipFill>
          <a:blip r:embed="rId2" cstate="print"/>
          <a:stretch>
            <a:fillRect/>
          </a:stretch>
        </p:blipFill>
        <p:spPr bwMode="auto">
          <a:xfrm>
            <a:off x="460332" y="990600"/>
            <a:ext cx="3742594" cy="573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8497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Swarming</a:t>
            </a:r>
            <a:endParaRPr lang="en-US" dirty="0"/>
          </a:p>
        </p:txBody>
      </p:sp>
      <p:sp>
        <p:nvSpPr>
          <p:cNvPr id="8" name="Content Placeholder 7"/>
          <p:cNvSpPr>
            <a:spLocks noGrp="1"/>
          </p:cNvSpPr>
          <p:nvPr>
            <p:ph sz="half" idx="2"/>
          </p:nvPr>
        </p:nvSpPr>
        <p:spPr>
          <a:xfrm>
            <a:off x="4648200" y="1295400"/>
            <a:ext cx="4267200" cy="5334000"/>
          </a:xfrm>
        </p:spPr>
        <p:txBody>
          <a:bodyPr>
            <a:normAutofit/>
          </a:bodyPr>
          <a:lstStyle/>
          <a:p>
            <a:r>
              <a:rPr lang="en-US" dirty="0" smtClean="0"/>
              <a:t>Occurs on moist surfaces as a type of group behavior by bacteria</a:t>
            </a:r>
          </a:p>
          <a:p>
            <a:pPr marL="0" indent="0">
              <a:buNone/>
            </a:pPr>
            <a:endParaRPr lang="en-US" dirty="0" smtClean="0"/>
          </a:p>
          <a:p>
            <a:r>
              <a:rPr lang="en-US" dirty="0" smtClean="0"/>
              <a:t>Most </a:t>
            </a:r>
            <a:r>
              <a:rPr lang="en-US" dirty="0" err="1" smtClean="0"/>
              <a:t>swarmers</a:t>
            </a:r>
            <a:r>
              <a:rPr lang="en-US" dirty="0" smtClean="0"/>
              <a:t> have </a:t>
            </a:r>
            <a:r>
              <a:rPr lang="en-US" dirty="0" err="1" smtClean="0"/>
              <a:t>peritrichous</a:t>
            </a:r>
            <a:r>
              <a:rPr lang="en-US" dirty="0" smtClean="0"/>
              <a:t> flagella</a:t>
            </a:r>
          </a:p>
          <a:p>
            <a:pPr marL="0" indent="0">
              <a:buNone/>
            </a:pPr>
            <a:endParaRPr lang="en-US" dirty="0" smtClean="0"/>
          </a:p>
          <a:p>
            <a:r>
              <a:rPr lang="en-US" dirty="0" smtClean="0"/>
              <a:t>Production of molecules that aid movement is typical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71</a:t>
            </a:fld>
            <a:endParaRPr lang="en-US"/>
          </a:p>
        </p:txBody>
      </p:sp>
      <p:pic>
        <p:nvPicPr>
          <p:cNvPr id="10" name="Picture 2" descr="Photo of swarming bacteria on solid growth media in a Petri dish.  These bacterial cells swarmed out from the center of the plate and produced a branching pattern called dendrites." title="Figure 3.46 Swarming Bacteria Often Produce Distinctive Patterns on a Solid Growth Medium."/>
          <p:cNvPicPr>
            <a:picLocks noGrp="1" noChangeAspect="1" noChangeArrowheads="1"/>
          </p:cNvPicPr>
          <p:nvPr>
            <p:ph sz="half" idx="1"/>
          </p:nvPr>
        </p:nvPicPr>
        <p:blipFill>
          <a:blip r:embed="rId2" cstate="print"/>
          <a:srcRect/>
          <a:stretch>
            <a:fillRect/>
          </a:stretch>
        </p:blipFill>
        <p:spPr bwMode="auto">
          <a:xfrm>
            <a:off x="167747" y="1447800"/>
            <a:ext cx="4443001" cy="4648199"/>
          </a:xfrm>
          <a:prstGeom prst="rect">
            <a:avLst/>
          </a:prstGeom>
          <a:noFill/>
        </p:spPr>
      </p:pic>
    </p:spTree>
    <p:extLst>
      <p:ext uri="{BB962C8B-B14F-4D97-AF65-F5344CB8AC3E}">
        <p14:creationId xmlns:p14="http://schemas.microsoft.com/office/powerpoint/2010/main" val="273267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normAutofit/>
          </a:bodyPr>
          <a:lstStyle/>
          <a:p>
            <a:r>
              <a:rPr lang="en-US" dirty="0"/>
              <a:t>Spirochete </a:t>
            </a:r>
            <a:r>
              <a:rPr lang="en-US" dirty="0" smtClean="0"/>
              <a:t>Motility</a:t>
            </a:r>
            <a:endParaRPr lang="en-US" dirty="0"/>
          </a:p>
        </p:txBody>
      </p:sp>
      <p:sp>
        <p:nvSpPr>
          <p:cNvPr id="5" name="Content Placeholder 4"/>
          <p:cNvSpPr>
            <a:spLocks noGrp="1"/>
          </p:cNvSpPr>
          <p:nvPr>
            <p:ph sz="half" idx="1"/>
          </p:nvPr>
        </p:nvSpPr>
        <p:spPr>
          <a:xfrm>
            <a:off x="76200" y="1219200"/>
            <a:ext cx="4343400" cy="5257800"/>
          </a:xfrm>
        </p:spPr>
        <p:txBody>
          <a:bodyPr>
            <a:normAutofit/>
          </a:bodyPr>
          <a:lstStyle/>
          <a:p>
            <a:r>
              <a:rPr lang="en-US" dirty="0" smtClean="0"/>
              <a:t>Multiple flagella form axial fibril which winds around the cell</a:t>
            </a:r>
          </a:p>
          <a:p>
            <a:pPr marL="0" indent="0">
              <a:buNone/>
            </a:pPr>
            <a:endParaRPr lang="en-US" dirty="0" smtClean="0"/>
          </a:p>
          <a:p>
            <a:r>
              <a:rPr lang="en-US" dirty="0" smtClean="0"/>
              <a:t>Flagella remain in periplasmic space inside outer sheath</a:t>
            </a:r>
          </a:p>
          <a:p>
            <a:pPr marL="0" indent="0">
              <a:buNone/>
            </a:pPr>
            <a:endParaRPr lang="en-US" dirty="0" smtClean="0"/>
          </a:p>
          <a:p>
            <a:r>
              <a:rPr lang="en-US" dirty="0" smtClean="0"/>
              <a:t>Corkscrew shape exhibits flexing and spinning movements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72</a:t>
            </a:fld>
            <a:endParaRPr lang="en-US"/>
          </a:p>
        </p:txBody>
      </p:sp>
      <p:pic>
        <p:nvPicPr>
          <p:cNvPr id="8" name="Picture 8" descr="(Top) Numerous flagella arise from each end of the spirochete. These intertwine and wind around the cell, usually overlapping in the middle. (Bottom) Electron cryotomographic surface view of the spirochete Treponema denticola showing three flagella arising from the tip of the cell." title="Figure 3.47 Spirochete Flagella."/>
          <p:cNvPicPr>
            <a:picLocks noGrp="1" noChangeAspect="1" noChangeArrowheads="1"/>
          </p:cNvPicPr>
          <p:nvPr>
            <p:ph sz="half" idx="2"/>
          </p:nvPr>
        </p:nvPicPr>
        <p:blipFill>
          <a:blip r:embed="rId2" cstate="print"/>
          <a:stretch>
            <a:fillRect/>
          </a:stretch>
        </p:blipFill>
        <p:spPr bwMode="auto">
          <a:xfrm>
            <a:off x="4303404" y="1752600"/>
            <a:ext cx="4751622" cy="420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1858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Twitching and Gliding Motility</a:t>
            </a:r>
          </a:p>
        </p:txBody>
      </p:sp>
      <p:sp>
        <p:nvSpPr>
          <p:cNvPr id="3" name="Content Placeholder 2"/>
          <p:cNvSpPr>
            <a:spLocks noGrp="1"/>
          </p:cNvSpPr>
          <p:nvPr>
            <p:ph idx="1"/>
          </p:nvPr>
        </p:nvSpPr>
        <p:spPr/>
        <p:txBody>
          <a:bodyPr/>
          <a:lstStyle/>
          <a:p>
            <a:pPr>
              <a:lnSpc>
                <a:spcPct val="90000"/>
              </a:lnSpc>
            </a:pPr>
            <a:r>
              <a:rPr lang="en-US" dirty="0"/>
              <a:t>May involve Type IV pili and </a:t>
            </a:r>
            <a:r>
              <a:rPr lang="en-US" dirty="0" smtClean="0"/>
              <a:t>slime</a:t>
            </a:r>
          </a:p>
          <a:p>
            <a:pPr marL="0" indent="0">
              <a:lnSpc>
                <a:spcPct val="90000"/>
              </a:lnSpc>
              <a:buNone/>
            </a:pPr>
            <a:endParaRPr lang="en-US" dirty="0"/>
          </a:p>
          <a:p>
            <a:pPr>
              <a:lnSpc>
                <a:spcPct val="90000"/>
              </a:lnSpc>
            </a:pPr>
            <a:r>
              <a:rPr lang="en-US" dirty="0"/>
              <a:t>Twitching</a:t>
            </a:r>
          </a:p>
          <a:p>
            <a:pPr lvl="1">
              <a:lnSpc>
                <a:spcPct val="90000"/>
              </a:lnSpc>
            </a:pPr>
            <a:r>
              <a:rPr lang="en-US" dirty="0"/>
              <a:t>pili at ends of cell </a:t>
            </a:r>
          </a:p>
          <a:p>
            <a:pPr lvl="1">
              <a:lnSpc>
                <a:spcPct val="90000"/>
              </a:lnSpc>
            </a:pPr>
            <a:r>
              <a:rPr lang="en-US" dirty="0"/>
              <a:t>short, intermittent, jerky motions</a:t>
            </a:r>
          </a:p>
          <a:p>
            <a:pPr lvl="1">
              <a:lnSpc>
                <a:spcPct val="90000"/>
              </a:lnSpc>
            </a:pPr>
            <a:r>
              <a:rPr lang="en-US" dirty="0"/>
              <a:t>cells are in contact with each other and </a:t>
            </a:r>
            <a:r>
              <a:rPr lang="en-US" dirty="0" smtClean="0"/>
              <a:t>surface</a:t>
            </a:r>
          </a:p>
          <a:p>
            <a:pPr marL="457200" lvl="1" indent="0">
              <a:lnSpc>
                <a:spcPct val="90000"/>
              </a:lnSpc>
              <a:buNone/>
            </a:pPr>
            <a:endParaRPr lang="en-US" dirty="0"/>
          </a:p>
          <a:p>
            <a:pPr>
              <a:lnSpc>
                <a:spcPct val="90000"/>
              </a:lnSpc>
            </a:pPr>
            <a:r>
              <a:rPr lang="en-US" dirty="0"/>
              <a:t>Gliding</a:t>
            </a:r>
          </a:p>
          <a:p>
            <a:pPr lvl="1">
              <a:lnSpc>
                <a:spcPct val="90000"/>
              </a:lnSpc>
            </a:pPr>
            <a:r>
              <a:rPr lang="en-US" dirty="0"/>
              <a:t>smooth movements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73</a:t>
            </a:fld>
            <a:endParaRPr lang="en-US"/>
          </a:p>
        </p:txBody>
      </p:sp>
    </p:spTree>
    <p:extLst>
      <p:ext uri="{BB962C8B-B14F-4D97-AF65-F5344CB8AC3E}">
        <p14:creationId xmlns:p14="http://schemas.microsoft.com/office/powerpoint/2010/main" val="4228849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a:lstStyle/>
          <a:p>
            <a:r>
              <a:rPr lang="en-US" dirty="0" smtClean="0"/>
              <a:t>Chemotaxis</a:t>
            </a:r>
            <a:endParaRPr lang="en-US" dirty="0"/>
          </a:p>
        </p:txBody>
      </p:sp>
      <p:sp>
        <p:nvSpPr>
          <p:cNvPr id="7" name="Content Placeholder 6"/>
          <p:cNvSpPr>
            <a:spLocks noGrp="1"/>
          </p:cNvSpPr>
          <p:nvPr>
            <p:ph sz="half" idx="2"/>
          </p:nvPr>
        </p:nvSpPr>
        <p:spPr>
          <a:xfrm>
            <a:off x="152400" y="3429000"/>
            <a:ext cx="8839200" cy="3352800"/>
          </a:xfrm>
        </p:spPr>
        <p:txBody>
          <a:bodyPr>
            <a:normAutofit fontScale="77500" lnSpcReduction="20000"/>
          </a:bodyPr>
          <a:lstStyle/>
          <a:p>
            <a:r>
              <a:rPr lang="en-US" dirty="0" smtClean="0"/>
              <a:t>Movement toward a chemical attractant or away from a chemical repellent</a:t>
            </a:r>
          </a:p>
          <a:p>
            <a:endParaRPr lang="en-US" dirty="0" smtClean="0"/>
          </a:p>
          <a:p>
            <a:r>
              <a:rPr lang="en-US" dirty="0" smtClean="0"/>
              <a:t>Changing concentrations of chemical attractants and chemical repellents bind chemoreceptors of </a:t>
            </a:r>
            <a:r>
              <a:rPr lang="en-US" dirty="0" err="1" smtClean="0"/>
              <a:t>chemosensing</a:t>
            </a:r>
            <a:r>
              <a:rPr lang="en-US" dirty="0" smtClean="0"/>
              <a:t> system  </a:t>
            </a:r>
          </a:p>
          <a:p>
            <a:endParaRPr lang="en-US" dirty="0" smtClean="0"/>
          </a:p>
          <a:p>
            <a:r>
              <a:rPr lang="en-US" dirty="0" smtClean="0"/>
              <a:t>In presence of attractant/repellant, tumbling frequency is reduced; runs toward/away from compound are longer</a:t>
            </a:r>
          </a:p>
          <a:p>
            <a:endParaRPr lang="en-US" dirty="0" smtClean="0"/>
          </a:p>
          <a:p>
            <a:r>
              <a:rPr lang="en-US" dirty="0" smtClean="0"/>
              <a:t>Behavior of bacterium altered by temporal concentration of chemical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74</a:t>
            </a:fld>
            <a:endParaRPr lang="en-US"/>
          </a:p>
        </p:txBody>
      </p:sp>
      <p:pic>
        <p:nvPicPr>
          <p:cNvPr id="8" name="Picture 2" descr="(Left) Random movement of a bacterium in the absence of a concentration gradient. Tumbling frequency is fairly constant. (Right) Movement in an attractant gradient. Tumbling frequency is reduced when the bacterium is moving up the gradient. Therefore runs in the direction of increasing attractant are longer." title="Figure 3.48 Tumbles and Runs Are Used to Direct the Movement of Many Bacteria Toward a Chemical Attractant."/>
          <p:cNvPicPr>
            <a:picLocks noGrp="1" noChangeAspect="1" noChangeArrowheads="1"/>
          </p:cNvPicPr>
          <p:nvPr>
            <p:ph sz="half" idx="1"/>
          </p:nvPr>
        </p:nvPicPr>
        <p:blipFill>
          <a:blip r:embed="rId2" cstate="print"/>
          <a:stretch>
            <a:fillRect/>
          </a:stretch>
        </p:blipFill>
        <p:spPr bwMode="auto">
          <a:xfrm>
            <a:off x="152400" y="1066800"/>
            <a:ext cx="8848006" cy="2209800"/>
          </a:xfrm>
          <a:prstGeom prst="rect">
            <a:avLst/>
          </a:prstGeom>
          <a:noFill/>
        </p:spPr>
      </p:pic>
    </p:spTree>
    <p:extLst>
      <p:ext uri="{BB962C8B-B14F-4D97-AF65-F5344CB8AC3E}">
        <p14:creationId xmlns:p14="http://schemas.microsoft.com/office/powerpoint/2010/main" val="28238242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3.9 Bacterial Endospores Are a Survival Strategy</a:t>
            </a:r>
            <a:endParaRPr lang="en-US" dirty="0"/>
          </a:p>
        </p:txBody>
      </p:sp>
      <p:sp>
        <p:nvSpPr>
          <p:cNvPr id="3" name="Content Placeholder 2"/>
          <p:cNvSpPr>
            <a:spLocks noGrp="1"/>
          </p:cNvSpPr>
          <p:nvPr>
            <p:ph idx="1"/>
          </p:nvPr>
        </p:nvSpPr>
        <p:spPr>
          <a:xfrm>
            <a:off x="457200" y="1722437"/>
            <a:ext cx="8229600" cy="5135563"/>
          </a:xfrm>
        </p:spPr>
        <p:txBody>
          <a:bodyPr>
            <a:normAutofit fontScale="77500" lnSpcReduction="20000"/>
          </a:bodyPr>
          <a:lstStyle/>
          <a:p>
            <a:pPr marL="514350" indent="-514350">
              <a:buFont typeface="+mj-lt"/>
              <a:buAutoNum type="arabicPeriod"/>
            </a:pPr>
            <a:r>
              <a:rPr lang="en-US" dirty="0"/>
              <a:t>Describe the structure of the bacterial endospore</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Explain why the bacterial endospores are of particular concern to the food industry and why endospore-forming bacteria are important model organisms</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Describe in general terms the process of sporulation</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Describe those properties of endospores that are thought to contribute to its resistance to environmental stresses</a:t>
            </a:r>
            <a:r>
              <a:rPr lang="en-US" dirty="0" smtClean="0"/>
              <a:t>.</a:t>
            </a:r>
          </a:p>
          <a:p>
            <a:pPr marL="514350" indent="-514350">
              <a:buFont typeface="+mj-lt"/>
              <a:buAutoNum type="arabicPeriod"/>
            </a:pPr>
            <a:endParaRPr lang="en-US" dirty="0"/>
          </a:p>
          <a:p>
            <a:pPr marL="514350" indent="-514350">
              <a:buFont typeface="+mj-lt"/>
              <a:buAutoNum type="arabicPeriod"/>
            </a:pPr>
            <a:r>
              <a:rPr lang="en-US" dirty="0"/>
              <a:t>Describe the three stages that transform an endospore into an active vegetative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75</a:t>
            </a:fld>
            <a:endParaRPr lang="en-US"/>
          </a:p>
        </p:txBody>
      </p:sp>
    </p:spTree>
    <p:extLst>
      <p:ext uri="{BB962C8B-B14F-4D97-AF65-F5344CB8AC3E}">
        <p14:creationId xmlns:p14="http://schemas.microsoft.com/office/powerpoint/2010/main" val="3607080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The Bacterial Endospore</a:t>
            </a:r>
          </a:p>
        </p:txBody>
      </p:sp>
      <p:sp>
        <p:nvSpPr>
          <p:cNvPr id="6" name="Content Placeholder 5"/>
          <p:cNvSpPr>
            <a:spLocks noGrp="1"/>
          </p:cNvSpPr>
          <p:nvPr>
            <p:ph sz="half" idx="1"/>
          </p:nvPr>
        </p:nvSpPr>
        <p:spPr>
          <a:xfrm>
            <a:off x="76200" y="1371600"/>
            <a:ext cx="4724400" cy="5410200"/>
          </a:xfrm>
        </p:spPr>
        <p:txBody>
          <a:bodyPr>
            <a:normAutofit fontScale="85000" lnSpcReduction="10000"/>
          </a:bodyPr>
          <a:lstStyle/>
          <a:p>
            <a:pPr>
              <a:lnSpc>
                <a:spcPct val="90000"/>
              </a:lnSpc>
            </a:pPr>
            <a:r>
              <a:rPr lang="en-US" dirty="0" smtClean="0"/>
              <a:t>Complex, dormant structure formed by some bacteria </a:t>
            </a:r>
            <a:br>
              <a:rPr lang="en-US" dirty="0" smtClean="0"/>
            </a:br>
            <a:endParaRPr lang="en-US" dirty="0" smtClean="0"/>
          </a:p>
          <a:p>
            <a:pPr>
              <a:lnSpc>
                <a:spcPct val="90000"/>
              </a:lnSpc>
            </a:pPr>
            <a:r>
              <a:rPr lang="en-US" dirty="0" smtClean="0"/>
              <a:t>Various locations within the cell</a:t>
            </a:r>
            <a:br>
              <a:rPr lang="en-US" dirty="0" smtClean="0"/>
            </a:br>
            <a:endParaRPr lang="en-US" dirty="0" smtClean="0"/>
          </a:p>
          <a:p>
            <a:pPr>
              <a:lnSpc>
                <a:spcPct val="90000"/>
              </a:lnSpc>
            </a:pPr>
            <a:r>
              <a:rPr lang="en-US" dirty="0" smtClean="0"/>
              <a:t>Resistant to numerous environmental conditions (including heat, radiation, chemicals, desiccation) due to</a:t>
            </a:r>
          </a:p>
          <a:p>
            <a:pPr lvl="1"/>
            <a:r>
              <a:rPr lang="en-US" dirty="0" smtClean="0"/>
              <a:t>calcium (complexed </a:t>
            </a:r>
            <a:br>
              <a:rPr lang="en-US" dirty="0" smtClean="0"/>
            </a:br>
            <a:r>
              <a:rPr lang="en-US" dirty="0" smtClean="0"/>
              <a:t>with </a:t>
            </a:r>
            <a:r>
              <a:rPr lang="en-US" dirty="0" err="1" smtClean="0"/>
              <a:t>dipicolinic</a:t>
            </a:r>
            <a:r>
              <a:rPr lang="en-US" dirty="0" smtClean="0"/>
              <a:t> acid)</a:t>
            </a:r>
          </a:p>
          <a:p>
            <a:pPr lvl="1"/>
            <a:r>
              <a:rPr lang="en-US" dirty="0" smtClean="0"/>
              <a:t>small, acid-soluble, </a:t>
            </a:r>
            <a:br>
              <a:rPr lang="en-US" dirty="0" smtClean="0"/>
            </a:br>
            <a:r>
              <a:rPr lang="en-US" dirty="0" smtClean="0"/>
              <a:t>DNA-binding proteins </a:t>
            </a:r>
            <a:br>
              <a:rPr lang="en-US" dirty="0" smtClean="0"/>
            </a:br>
            <a:r>
              <a:rPr lang="en-US" dirty="0" smtClean="0"/>
              <a:t>(SASPs)</a:t>
            </a:r>
          </a:p>
          <a:p>
            <a:pPr lvl="1"/>
            <a:r>
              <a:rPr lang="en-US" dirty="0" smtClean="0"/>
              <a:t>dehydrated core</a:t>
            </a:r>
          </a:p>
          <a:p>
            <a:pPr lvl="1"/>
            <a:r>
              <a:rPr lang="en-US" dirty="0" smtClean="0"/>
              <a:t>spore coat and </a:t>
            </a:r>
            <a:br>
              <a:rPr lang="en-US" dirty="0" smtClean="0"/>
            </a:br>
            <a:r>
              <a:rPr lang="en-US" dirty="0" err="1" smtClean="0"/>
              <a:t>exosporium</a:t>
            </a:r>
            <a:r>
              <a:rPr lang="en-US" dirty="0" smtClean="0"/>
              <a:t> protect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76</a:t>
            </a:fld>
            <a:endParaRPr lang="en-US"/>
          </a:p>
        </p:txBody>
      </p:sp>
      <p:pic>
        <p:nvPicPr>
          <p:cNvPr id="8" name="Content Placeholder 7" descr="The mature endospore is located in a characteristic location in the mother cell (referred to as the sporangium), depending on the species of bacteria. Endospores may be centrally located, close to one end (subterminal), or terminal. Sometimes an endospore is so large that it swells the sporangium." title="Figure 3.50 Examples of Endospore Location and Size."/>
          <p:cNvPicPr>
            <a:picLocks noGrp="1" noChangeAspect="1" noChangeArrowheads="1"/>
          </p:cNvPicPr>
          <p:nvPr>
            <p:ph sz="half" idx="2"/>
          </p:nvPr>
        </p:nvPicPr>
        <p:blipFill>
          <a:blip r:embed="rId2" cstate="print"/>
          <a:stretch>
            <a:fillRect/>
          </a:stretch>
        </p:blipFill>
        <p:spPr bwMode="auto">
          <a:xfrm>
            <a:off x="4480114" y="1676400"/>
            <a:ext cx="4663886" cy="3050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080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smtClean="0"/>
              <a:t>Endospore Structure</a:t>
            </a:r>
            <a:endParaRPr lang="en-US" dirty="0"/>
          </a:p>
        </p:txBody>
      </p:sp>
      <p:sp>
        <p:nvSpPr>
          <p:cNvPr id="7" name="Content Placeholder 6"/>
          <p:cNvSpPr>
            <a:spLocks noGrp="1"/>
          </p:cNvSpPr>
          <p:nvPr>
            <p:ph sz="half" idx="2"/>
          </p:nvPr>
        </p:nvSpPr>
        <p:spPr>
          <a:xfrm>
            <a:off x="152400" y="4038600"/>
            <a:ext cx="8915400" cy="2697163"/>
          </a:xfrm>
        </p:spPr>
        <p:txBody>
          <a:bodyPr>
            <a:normAutofit fontScale="92500" lnSpcReduction="20000"/>
          </a:bodyPr>
          <a:lstStyle/>
          <a:p>
            <a:r>
              <a:rPr lang="en-US" dirty="0" smtClean="0"/>
              <a:t>Spore surrounded by thin covering called </a:t>
            </a:r>
            <a:r>
              <a:rPr lang="en-US" dirty="0" err="1" smtClean="0"/>
              <a:t>exosporium</a:t>
            </a:r>
            <a:r>
              <a:rPr lang="en-US" dirty="0" smtClean="0"/>
              <a:t/>
            </a:r>
            <a:br>
              <a:rPr lang="en-US" dirty="0" smtClean="0"/>
            </a:br>
            <a:endParaRPr lang="en-US" dirty="0" smtClean="0"/>
          </a:p>
          <a:p>
            <a:r>
              <a:rPr lang="en-US" dirty="0" smtClean="0"/>
              <a:t>Thick layers of protein form the spore coat</a:t>
            </a:r>
            <a:br>
              <a:rPr lang="en-US" dirty="0" smtClean="0"/>
            </a:br>
            <a:endParaRPr lang="en-US" dirty="0" smtClean="0"/>
          </a:p>
          <a:p>
            <a:r>
              <a:rPr lang="en-US" dirty="0" smtClean="0"/>
              <a:t>Cortex, beneath the coat, thick peptidoglycan</a:t>
            </a:r>
            <a:br>
              <a:rPr lang="en-US" dirty="0" smtClean="0"/>
            </a:br>
            <a:endParaRPr lang="en-US" dirty="0" smtClean="0"/>
          </a:p>
          <a:p>
            <a:r>
              <a:rPr lang="en-US" dirty="0" smtClean="0"/>
              <a:t>Core has nucleoid and ribosomes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77</a:t>
            </a:fld>
            <a:endParaRPr lang="en-US"/>
          </a:p>
        </p:txBody>
      </p:sp>
      <p:pic>
        <p:nvPicPr>
          <p:cNvPr id="8" name="Picture 2" descr="(Left) A schematic showing the various layers of an endospore. From the outside in they are exosporium, coat, outer membrane, cortex, germ cell wall, inner membrane, and core. (Right) A colorized cross section of a Bacillus subtilis cell undergoing sporulation. The oval in the center is an endospore that is almost mature; when it reaches maturity, the mother cell will lyse to release it." title="Figure 3.49 Bacterial Endospores."/>
          <p:cNvPicPr>
            <a:picLocks noGrp="1" noChangeAspect="1" noChangeArrowheads="1"/>
          </p:cNvPicPr>
          <p:nvPr>
            <p:ph sz="half" idx="1"/>
          </p:nvPr>
        </p:nvPicPr>
        <p:blipFill>
          <a:blip r:embed="rId2" cstate="print"/>
          <a:stretch>
            <a:fillRect/>
          </a:stretch>
        </p:blipFill>
        <p:spPr bwMode="auto">
          <a:xfrm>
            <a:off x="304800" y="992902"/>
            <a:ext cx="8526307" cy="2893298"/>
          </a:xfrm>
          <a:prstGeom prst="rect">
            <a:avLst/>
          </a:prstGeom>
          <a:noFill/>
        </p:spPr>
      </p:pic>
    </p:spTree>
    <p:extLst>
      <p:ext uri="{BB962C8B-B14F-4D97-AF65-F5344CB8AC3E}">
        <p14:creationId xmlns:p14="http://schemas.microsoft.com/office/powerpoint/2010/main" val="3607080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Sporulation</a:t>
            </a:r>
          </a:p>
        </p:txBody>
      </p:sp>
      <p:sp>
        <p:nvSpPr>
          <p:cNvPr id="3" name="Content Placeholder 2"/>
          <p:cNvSpPr>
            <a:spLocks noGrp="1"/>
          </p:cNvSpPr>
          <p:nvPr>
            <p:ph idx="1"/>
          </p:nvPr>
        </p:nvSpPr>
        <p:spPr/>
        <p:txBody>
          <a:bodyPr>
            <a:normAutofit fontScale="92500" lnSpcReduction="10000"/>
          </a:bodyPr>
          <a:lstStyle/>
          <a:p>
            <a:pPr>
              <a:lnSpc>
                <a:spcPct val="110000"/>
              </a:lnSpc>
            </a:pPr>
            <a:r>
              <a:rPr lang="en-US" dirty="0"/>
              <a:t>Process of endospore </a:t>
            </a:r>
            <a:r>
              <a:rPr lang="en-US" dirty="0" smtClean="0"/>
              <a:t>formation</a:t>
            </a:r>
          </a:p>
          <a:p>
            <a:pPr marL="0" indent="0">
              <a:lnSpc>
                <a:spcPct val="110000"/>
              </a:lnSpc>
              <a:buNone/>
            </a:pPr>
            <a:endParaRPr lang="en-US" dirty="0"/>
          </a:p>
          <a:p>
            <a:pPr>
              <a:lnSpc>
                <a:spcPct val="110000"/>
              </a:lnSpc>
            </a:pPr>
            <a:r>
              <a:rPr lang="en-US" dirty="0"/>
              <a:t>Occurs in a hours (up to 10 hours</a:t>
            </a:r>
            <a:r>
              <a:rPr lang="en-US" dirty="0" smtClean="0"/>
              <a:t>)</a:t>
            </a:r>
          </a:p>
          <a:p>
            <a:pPr marL="0" indent="0">
              <a:lnSpc>
                <a:spcPct val="110000"/>
              </a:lnSpc>
              <a:buNone/>
            </a:pPr>
            <a:endParaRPr lang="en-US" dirty="0"/>
          </a:p>
          <a:p>
            <a:pPr>
              <a:lnSpc>
                <a:spcPct val="110000"/>
              </a:lnSpc>
            </a:pPr>
            <a:r>
              <a:rPr lang="en-US" dirty="0"/>
              <a:t>Normally commences when growth ceases because of lack of </a:t>
            </a:r>
            <a:r>
              <a:rPr lang="en-US" dirty="0" smtClean="0"/>
              <a:t>nutrients</a:t>
            </a:r>
          </a:p>
          <a:p>
            <a:pPr marL="0" indent="0">
              <a:lnSpc>
                <a:spcPct val="110000"/>
              </a:lnSpc>
              <a:buNone/>
            </a:pPr>
            <a:endParaRPr lang="en-US" dirty="0"/>
          </a:p>
          <a:p>
            <a:pPr>
              <a:lnSpc>
                <a:spcPct val="110000"/>
              </a:lnSpc>
            </a:pPr>
            <a:r>
              <a:rPr lang="en-US" dirty="0"/>
              <a:t>Complex multistage process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78</a:t>
            </a:fld>
            <a:endParaRPr lang="en-US"/>
          </a:p>
        </p:txBody>
      </p:sp>
    </p:spTree>
    <p:extLst>
      <p:ext uri="{BB962C8B-B14F-4D97-AF65-F5344CB8AC3E}">
        <p14:creationId xmlns:p14="http://schemas.microsoft.com/office/powerpoint/2010/main" val="3607080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dirty="0" smtClean="0"/>
              <a:t>Sporulation Cycle</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79</a:t>
            </a:fld>
            <a:endParaRPr lang="en-US"/>
          </a:p>
        </p:txBody>
      </p:sp>
      <p:pic>
        <p:nvPicPr>
          <p:cNvPr id="6" name="Picture 10" descr="Cell division is at the top of the cycle. I. Axial filament formation.  II. Septum formation and forespore development.  III. Engulfment of forespore.  IV. Cortex formation.  V. Coat synthesis.  VI. Completion of coat synthesis, increase in refractility and heat resistance.  VII. Lysis of sporangium, spore liberation." title="Figure 3.51 Endospore Formation."/>
          <p:cNvPicPr>
            <a:picLocks noGrp="1" noChangeAspect="1" noChangeArrowheads="1"/>
          </p:cNvPicPr>
          <p:nvPr>
            <p:ph idx="1"/>
          </p:nvPr>
        </p:nvPicPr>
        <p:blipFill>
          <a:blip r:embed="rId2" cstate="print"/>
          <a:stretch>
            <a:fillRect/>
          </a:stretch>
        </p:blipFill>
        <p:spPr bwMode="auto">
          <a:xfrm>
            <a:off x="1066800" y="762000"/>
            <a:ext cx="7086270" cy="6072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6046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Formation of Vegetative Cell</a:t>
            </a:r>
          </a:p>
        </p:txBody>
      </p:sp>
      <p:sp>
        <p:nvSpPr>
          <p:cNvPr id="3" name="Content Placeholder 2"/>
          <p:cNvSpPr>
            <a:spLocks noGrp="1"/>
          </p:cNvSpPr>
          <p:nvPr>
            <p:ph idx="1"/>
          </p:nvPr>
        </p:nvSpPr>
        <p:spPr/>
        <p:txBody>
          <a:bodyPr>
            <a:normAutofit fontScale="92500" lnSpcReduction="10000"/>
          </a:bodyPr>
          <a:lstStyle/>
          <a:p>
            <a:pPr>
              <a:lnSpc>
                <a:spcPct val="90000"/>
              </a:lnSpc>
            </a:pPr>
            <a:r>
              <a:rPr lang="en-US" dirty="0"/>
              <a:t>Activation</a:t>
            </a:r>
          </a:p>
          <a:p>
            <a:pPr lvl="1">
              <a:lnSpc>
                <a:spcPct val="90000"/>
              </a:lnSpc>
            </a:pPr>
            <a:r>
              <a:rPr lang="en-US" dirty="0"/>
              <a:t>prepares spores for germination</a:t>
            </a:r>
          </a:p>
          <a:p>
            <a:pPr lvl="1">
              <a:lnSpc>
                <a:spcPct val="90000"/>
              </a:lnSpc>
            </a:pPr>
            <a:r>
              <a:rPr lang="en-US" dirty="0"/>
              <a:t>often results from treatments like </a:t>
            </a:r>
            <a:r>
              <a:rPr lang="en-US" dirty="0" smtClean="0"/>
              <a:t>heating</a:t>
            </a:r>
          </a:p>
          <a:p>
            <a:pPr marL="457200" lvl="1" indent="0">
              <a:lnSpc>
                <a:spcPct val="90000"/>
              </a:lnSpc>
              <a:buNone/>
            </a:pPr>
            <a:endParaRPr lang="en-US" dirty="0"/>
          </a:p>
          <a:p>
            <a:pPr>
              <a:lnSpc>
                <a:spcPct val="90000"/>
              </a:lnSpc>
            </a:pPr>
            <a:r>
              <a:rPr lang="en-US" dirty="0"/>
              <a:t>Germination</a:t>
            </a:r>
          </a:p>
          <a:p>
            <a:pPr lvl="1">
              <a:lnSpc>
                <a:spcPct val="90000"/>
              </a:lnSpc>
            </a:pPr>
            <a:r>
              <a:rPr lang="en-US" dirty="0"/>
              <a:t>environmental nutrients are detected</a:t>
            </a:r>
          </a:p>
          <a:p>
            <a:pPr lvl="1">
              <a:lnSpc>
                <a:spcPct val="90000"/>
              </a:lnSpc>
            </a:pPr>
            <a:r>
              <a:rPr lang="en-US" dirty="0"/>
              <a:t>spore swelling and rupture of absorption of spore coat</a:t>
            </a:r>
          </a:p>
          <a:p>
            <a:pPr lvl="1">
              <a:lnSpc>
                <a:spcPct val="90000"/>
              </a:lnSpc>
            </a:pPr>
            <a:r>
              <a:rPr lang="en-US" dirty="0"/>
              <a:t>increased metabolic </a:t>
            </a:r>
            <a:r>
              <a:rPr lang="en-US" dirty="0" smtClean="0"/>
              <a:t>activity</a:t>
            </a:r>
          </a:p>
          <a:p>
            <a:pPr marL="457200" lvl="1" indent="0">
              <a:lnSpc>
                <a:spcPct val="90000"/>
              </a:lnSpc>
              <a:buNone/>
            </a:pPr>
            <a:endParaRPr lang="en-US" dirty="0"/>
          </a:p>
          <a:p>
            <a:pPr>
              <a:lnSpc>
                <a:spcPct val="90000"/>
              </a:lnSpc>
            </a:pPr>
            <a:r>
              <a:rPr lang="en-US" dirty="0"/>
              <a:t>Outgrowth - emergence of vegetative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80</a:t>
            </a:fld>
            <a:endParaRPr lang="en-US"/>
          </a:p>
        </p:txBody>
      </p:sp>
    </p:spTree>
    <p:extLst>
      <p:ext uri="{BB962C8B-B14F-4D97-AF65-F5344CB8AC3E}">
        <p14:creationId xmlns:p14="http://schemas.microsoft.com/office/powerpoint/2010/main" val="23856148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Take-Home Message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Bacteria can have many different structures, but there are some fundamental items that are present in virtually all of them</a:t>
            </a:r>
            <a:br>
              <a:rPr lang="en-US" dirty="0" smtClean="0"/>
            </a:br>
            <a:endParaRPr lang="en-US" dirty="0" smtClean="0"/>
          </a:p>
          <a:p>
            <a:r>
              <a:rPr lang="en-US" dirty="0" smtClean="0"/>
              <a:t>As you continue on to examine the other two domains of life, be thinking about what is similar and what is different between them</a:t>
            </a:r>
            <a:br>
              <a:rPr lang="en-US" dirty="0" smtClean="0"/>
            </a:br>
            <a:endParaRPr lang="en-US" dirty="0" smtClean="0"/>
          </a:p>
          <a:p>
            <a:r>
              <a:rPr lang="en-US" dirty="0" smtClean="0"/>
              <a:t>Structure always determines function – so be thinking about how different cellular structures (bacterial in this case) give the cells particular functions for their particular environments or needs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81</a:t>
            </a:fld>
            <a:endParaRPr lang="en-US"/>
          </a:p>
        </p:txBody>
      </p:sp>
    </p:spTree>
    <p:extLst>
      <p:ext uri="{BB962C8B-B14F-4D97-AF65-F5344CB8AC3E}">
        <p14:creationId xmlns:p14="http://schemas.microsoft.com/office/powerpoint/2010/main" val="17750631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11125&quot;&gt;&lt;/object&gt;&lt;object type=&quot;2&quot; unique_id=&quot;11126&quot;&gt;&lt;object type=&quot;3&quot; unique_id=&quot;11127&quot;&gt;&lt;property id=&quot;20148&quot; value=&quot;5&quot;/&gt;&lt;property id=&quot;20300&quot; value=&quot;Slide 1 - &amp;quot;Chapter 3 – Bacterial Cell Structure&amp;quot;&quot;/&gt;&lt;property id=&quot;20307&quot; value=&quot;256&quot;/&gt;&lt;/object&gt;&lt;object type=&quot;3&quot; unique_id=&quot;11128&quot;&gt;&lt;property id=&quot;20148&quot; value=&quot;5&quot;/&gt;&lt;property id=&quot;20300&quot; value=&quot;Slide 2 - &amp;quot;3.1 Use of the term “prokaryote” is controversial&amp;quot;&quot;/&gt;&lt;property id=&quot;20307&quot; value=&quot;257&quot;/&gt;&lt;/object&gt;&lt;object type=&quot;3&quot; unique_id=&quot;11129&quot;&gt;&lt;property id=&quot;20148&quot; value=&quot;5&quot;/&gt;&lt;property id=&quot;20300&quot; value=&quot;Slide 3 - &amp;quot;3.2 Bacteria are diverse but share some common features&amp;quot;&quot;/&gt;&lt;property id=&quot;20307&quot; value=&quot;357&quot;/&gt;&lt;/object&gt;&lt;object type=&quot;3&quot; unique_id=&quot;11130&quot;&gt;&lt;property id=&quot;20148&quot; value=&quot;5&quot;/&gt;&lt;property id=&quot;20300&quot; value=&quot;Slide 4 - &amp;quot;Bacterial and Archaea Structure and Function&amp;quot;&quot;/&gt;&lt;property id=&quot;20307&quot; value=&quot;259&quot;/&gt;&lt;/object&gt;&lt;object type=&quot;3&quot; unique_id=&quot;11131&quot;&gt;&lt;property id=&quot;20148&quot; value=&quot;5&quot;/&gt;&lt;property id=&quot;20300&quot; value=&quot;Slide 5 - &amp;quot;Size, Shape, and Arrangement&amp;quot;&quot;/&gt;&lt;property id=&quot;20307&quot; value=&quot;260&quot;/&gt;&lt;/object&gt;&lt;object type=&quot;3&quot; unique_id=&quot;11132&quot;&gt;&lt;property id=&quot;20148&quot; value=&quot;5&quot;/&gt;&lt;property id=&quot;20300&quot; value=&quot;Slide 6 - &amp;quot;Cocci Shape and Arrangement&amp;quot;&quot;/&gt;&lt;property id=&quot;20307&quot; value=&quot;261&quot;/&gt;&lt;/object&gt;&lt;object type=&quot;3&quot; unique_id=&quot;11133&quot;&gt;&lt;property id=&quot;20148&quot; value=&quot;5&quot;/&gt;&lt;property id=&quot;20300&quot; value=&quot;Slide 7 - &amp;quot;Other Shapes and Arrangements&amp;quot;&quot;/&gt;&lt;property id=&quot;20307&quot; value=&quot;262&quot;/&gt;&lt;/object&gt;&lt;object type=&quot;3&quot; unique_id=&quot;11134&quot;&gt;&lt;property id=&quot;20148&quot; value=&quot;5&quot;/&gt;&lt;property id=&quot;20300&quot; value=&quot;Slide 8 - &amp;quot;Size&amp;quot;&quot;/&gt;&lt;property id=&quot;20307&quot; value=&quot;264&quot;/&gt;&lt;/object&gt;&lt;object type=&quot;3&quot; unique_id=&quot;11135&quot;&gt;&lt;property id=&quot;20148&quot; value=&quot;5&quot;/&gt;&lt;property id=&quot;20300&quot; value=&quot;Slide 9 - &amp;quot;Size – Shape Relationship&amp;quot;&quot;/&gt;&lt;property id=&quot;20307&quot; value=&quot;265&quot;/&gt;&lt;/object&gt;&lt;object type=&quot;3&quot; unique_id=&quot;11136&quot;&gt;&lt;property id=&quot;20148&quot; value=&quot;5&quot;/&gt;&lt;property id=&quot;20300&quot; value=&quot;Slide 10 - &amp;quot;Bacterial Cell Organization – &amp;#x0D;&amp;#x0A;Common Features&amp;quot;&quot;/&gt;&lt;property id=&quot;20307&quot; value=&quot;266&quot;/&gt;&lt;/object&gt;&lt;object type=&quot;3&quot; unique_id=&quot;11137&quot;&gt;&lt;property id=&quot;20148&quot; value=&quot;5&quot;/&gt;&lt;property id=&quot;20300&quot; value=&quot;Slide 11 - &amp;quot;3.3 Bacterial plasma membranes control what enters and leaves the cell&amp;quot;&quot;/&gt;&lt;property id=&quot;20307&quot; value=&quot;269&quot;/&gt;&lt;/object&gt;&lt;object type=&quot;3&quot; unique_id=&quot;11138&quot;&gt;&lt;property id=&quot;20148&quot; value=&quot;5&quot;/&gt;&lt;property id=&quot;20300&quot; value=&quot;Slide 12 - &amp;quot;Bacterial Cell Envelope&amp;quot;&quot;/&gt;&lt;property id=&quot;20307&quot; value=&quot;270&quot;/&gt;&lt;/object&gt;&lt;object type=&quot;3&quot; unique_id=&quot;11139&quot;&gt;&lt;property id=&quot;20148&quot; value=&quot;5&quot;/&gt;&lt;property id=&quot;20300&quot; value=&quot;Slide 13&quot;/&gt;&lt;property id=&quot;20307&quot; value=&quot;361&quot;/&gt;&lt;/object&gt;&lt;object type=&quot;3&quot; unique_id=&quot;11140&quot;&gt;&lt;property id=&quot;20148&quot; value=&quot;5&quot;/&gt;&lt;property id=&quot;20300&quot; value=&quot;Slide 14 - &amp;quot;Fluid Mosaic Model of Membrane Structure&amp;quot;&quot;/&gt;&lt;property id=&quot;20307&quot; value=&quot;273&quot;/&gt;&lt;/object&gt;&lt;object type=&quot;3&quot; unique_id=&quot;11141&quot;&gt;&lt;property id=&quot;20148&quot; value=&quot;5&quot;/&gt;&lt;property id=&quot;20300&quot; value=&quot;Slide 15 - &amp;quot;Bacterial Lipids&amp;quot;&quot;/&gt;&lt;property id=&quot;20307&quot; value=&quot;275&quot;/&gt;&lt;/object&gt;&lt;object type=&quot;3&quot; unique_id=&quot;11142&quot;&gt;&lt;property id=&quot;20148&quot; value=&quot;5&quot;/&gt;&lt;property id=&quot;20300&quot; value=&quot;Slide 16 - &amp;quot;Uptake of Nutrients –Through the Barrier&amp;quot;&quot;/&gt;&lt;property id=&quot;20307&quot; value=&quot;276&quot;/&gt;&lt;/object&gt;&lt;object type=&quot;3&quot; unique_id=&quot;11143&quot;&gt;&lt;property id=&quot;20148&quot; value=&quot;5&quot;/&gt;&lt;property id=&quot;20300&quot; value=&quot;Slide 17 - &amp;quot;Growth Factors – Through the Barrier&amp;quot;&quot;/&gt;&lt;property id=&quot;20307&quot; value=&quot;278&quot;/&gt;&lt;/object&gt;&lt;object type=&quot;3&quot; unique_id=&quot;11144&quot;&gt;&lt;property id=&quot;20148&quot; value=&quot;5&quot;/&gt;&lt;property id=&quot;20300&quot; value=&quot;Slide 18 - &amp;quot;Methods for Uptake of Nutrients&amp;quot;&quot;/&gt;&lt;property id=&quot;20307&quot; value=&quot;280&quot;/&gt;&lt;/object&gt;&lt;object type=&quot;3&quot; unique_id=&quot;11145&quot;&gt;&lt;property id=&quot;20148&quot; value=&quot;5&quot;/&gt;&lt;property id=&quot;20300&quot; value=&quot;Slide 19 - &amp;quot;Passive Diffusion&amp;quot;&quot;/&gt;&lt;property id=&quot;20307&quot; value=&quot;281&quot;/&gt;&lt;/object&gt;&lt;object type=&quot;3&quot; unique_id=&quot;11146&quot;&gt;&lt;property id=&quot;20148&quot; value=&quot;5&quot;/&gt;&lt;property id=&quot;20300&quot; value=&quot;Slide 20&quot;/&gt;&lt;property id=&quot;20307&quot; value=&quot;362&quot;/&gt;&lt;/object&gt;&lt;object type=&quot;3&quot; unique_id=&quot;11147&quot;&gt;&lt;property id=&quot;20148&quot; value=&quot;5&quot;/&gt;&lt;property id=&quot;20300&quot; value=&quot;Slide 21 - &amp;quot;Facilitated vs. Passive Diffusion&amp;quot;&quot;/&gt;&lt;property id=&quot;20307&quot; value=&quot;283&quot;/&gt;&lt;/object&gt;&lt;object type=&quot;3&quot; unique_id=&quot;11148&quot;&gt;&lt;property id=&quot;20148&quot; value=&quot;5&quot;/&gt;&lt;property id=&quot;20300&quot; value=&quot;Slide 22 - &amp;quot;Active Transport&amp;quot;&quot;/&gt;&lt;property id=&quot;20307&quot; value=&quot;284&quot;/&gt;&lt;/object&gt;&lt;object type=&quot;3&quot; unique_id=&quot;11149&quot;&gt;&lt;property id=&quot;20148&quot; value=&quot;5&quot;/&gt;&lt;property id=&quot;20300&quot; value=&quot;Slide 23 - &amp;quot;ABC Transporters&amp;quot;&quot;/&gt;&lt;property id=&quot;20307&quot; value=&quot;285&quot;/&gt;&lt;/object&gt;&lt;object type=&quot;3&quot; unique_id=&quot;11150&quot;&gt;&lt;property id=&quot;20148&quot; value=&quot;5&quot;/&gt;&lt;property id=&quot;20300&quot; value=&quot;Slide 24 - &amp;quot;Secondary Active Transport&amp;quot;&quot;/&gt;&lt;property id=&quot;20307&quot; value=&quot;286&quot;/&gt;&lt;/object&gt;&lt;object type=&quot;3&quot; unique_id=&quot;11151&quot;&gt;&lt;property id=&quot;20148&quot; value=&quot;5&quot;/&gt;&lt;property id=&quot;20300&quot; value=&quot;Slide 25 - &amp;quot;Group Translocation&amp;quot;&quot;/&gt;&lt;property id=&quot;20307&quot; value=&quot;287&quot;/&gt;&lt;/object&gt;&lt;object type=&quot;3&quot; unique_id=&quot;11152&quot;&gt;&lt;property id=&quot;20148&quot; value=&quot;5&quot;/&gt;&lt;property id=&quot;20300&quot; value=&quot;Slide 26 - &amp;quot;Iron Uptake&amp;quot;&quot;/&gt;&lt;property id=&quot;20307&quot; value=&quot;288&quot;/&gt;&lt;/object&gt;&lt;object type=&quot;3&quot; unique_id=&quot;11153&quot;&gt;&lt;property id=&quot;20148&quot; value=&quot;5&quot;/&gt;&lt;property id=&quot;20300&quot; value=&quot;Slide 27 - &amp;quot;3.4 There are two main types of &amp;#x0D;&amp;#x0A;bacterial cell walls&amp;quot;&quot;/&gt;&lt;property id=&quot;20307&quot; value=&quot;289&quot;/&gt;&lt;/object&gt;&lt;object type=&quot;3&quot; unique_id=&quot;11154&quot;&gt;&lt;property id=&quot;20148&quot; value=&quot;5&quot;/&gt;&lt;property id=&quot;20300&quot; value=&quot;Slide 28 - &amp;quot;Bacterial Cell Wall&amp;quot;&quot;/&gt;&lt;property id=&quot;20307&quot; value=&quot;290&quot;/&gt;&lt;/object&gt;&lt;object type=&quot;3&quot; unique_id=&quot;11155&quot;&gt;&lt;property id=&quot;20148&quot; value=&quot;5&quot;/&gt;&lt;property id=&quot;20300&quot; value=&quot;Slide 29 - &amp;quot;Peptidoglycan Structure &amp;quot;&quot;/&gt;&lt;property id=&quot;20307&quot; value=&quot;292&quot;/&gt;&lt;/object&gt;&lt;object type=&quot;3&quot; unique_id=&quot;11156&quot;&gt;&lt;property id=&quot;20148&quot; value=&quot;5&quot;/&gt;&lt;property id=&quot;20300&quot; value=&quot;Slide 30 - &amp;quot;Strands Are Crosslinked&amp;quot;&quot;/&gt;&lt;property id=&quot;20307&quot; value=&quot;293&quot;/&gt;&lt;/object&gt;&lt;object type=&quot;3&quot; unique_id=&quot;11157&quot;&gt;&lt;property id=&quot;20148&quot; value=&quot;5&quot;/&gt;&lt;property id=&quot;20300&quot; value=&quot;Slide 31 - &amp;quot;Gram-Positive Cell Walls&amp;quot;&quot;/&gt;&lt;property id=&quot;20307&quot; value=&quot;294&quot;/&gt;&lt;/object&gt;&lt;object type=&quot;3&quot; unique_id=&quot;11158&quot;&gt;&lt;property id=&quot;20148&quot; value=&quot;5&quot;/&gt;&lt;property id=&quot;20300&quot; value=&quot;Slide 32 - &amp;quot;Periplasmic Space of Gram + Bacteria&amp;quot;&quot;/&gt;&lt;property id=&quot;20307&quot; value=&quot;296&quot;/&gt;&lt;/object&gt;&lt;object type=&quot;3&quot; unique_id=&quot;11159&quot;&gt;&lt;property id=&quot;20148&quot; value=&quot;5&quot;/&gt;&lt;property id=&quot;20300&quot; value=&quot;Slide 33 - &amp;quot;Gram-Negative Cell Wall Basic Structure&amp;quot;&quot;/&gt;&lt;property id=&quot;20307&quot; value=&quot;297&quot;/&gt;&lt;/object&gt;&lt;object type=&quot;3&quot; unique_id=&quot;11160&quot;&gt;&lt;property id=&quot;20148&quot; value=&quot;5&quot;/&gt;&lt;property id=&quot;20300&quot; value=&quot;Slide 34 - &amp;quot;Gram-Negative Cell Walls&amp;quot;&quot;/&gt;&lt;property id=&quot;20307&quot; value=&quot;299&quot;/&gt;&lt;/object&gt;&lt;object type=&quot;3&quot; unique_id=&quot;11161&quot;&gt;&lt;property id=&quot;20148&quot; value=&quot;5&quot;/&gt;&lt;property id=&quot;20300&quot; value=&quot;Slide 35 - &amp;quot;LPS - Lipopolysaccharide&amp;quot;&quot;/&gt;&lt;property id=&quot;20307&quot; value=&quot;300&quot;/&gt;&lt;/object&gt;&lt;object type=&quot;3&quot; unique_id=&quot;11162&quot;&gt;&lt;property id=&quot;20148&quot; value=&quot;5&quot;/&gt;&lt;property id=&quot;20300&quot; value=&quot;Slide 36 - &amp;quot;Importance of LPS&amp;quot;&quot;/&gt;&lt;property id=&quot;20307&quot; value=&quot;358&quot;/&gt;&lt;/object&gt;&lt;object type=&quot;3&quot; unique_id=&quot;11163&quot;&gt;&lt;property id=&quot;20148&quot; value=&quot;5&quot;/&gt;&lt;property id=&quot;20300&quot; value=&quot;Slide 37 - &amp;quot;Gram-Negative Outer Membrane Permeability&amp;quot;&quot;/&gt;&lt;property id=&quot;20307&quot; value=&quot;302&quot;/&gt;&lt;/object&gt;&lt;object type=&quot;3&quot; unique_id=&quot;11164&quot;&gt;&lt;property id=&quot;20148&quot; value=&quot;5&quot;/&gt;&lt;property id=&quot;20300&quot; value=&quot;Slide 38 - &amp;quot;Mechanism of Gram Stain Reaction&amp;quot;&quot;/&gt;&lt;property id=&quot;20307&quot; value=&quot;303&quot;/&gt;&lt;/object&gt;&lt;object type=&quot;3&quot; unique_id=&quot;11165&quot;&gt;&lt;property id=&quot;20148&quot; value=&quot;5&quot;/&gt;&lt;property id=&quot;20300&quot; value=&quot;Slide 39 - &amp;quot;Osmotic Protection&amp;quot;&quot;/&gt;&lt;property id=&quot;20307&quot; value=&quot;304&quot;/&gt;&lt;/object&gt;&lt;object type=&quot;3&quot; unique_id=&quot;11166&quot;&gt;&lt;property id=&quot;20148&quot; value=&quot;5&quot;/&gt;&lt;property id=&quot;20300&quot; value=&quot;Slide 40 - &amp;quot;Evidence for protection of cell wall&amp;quot;&quot;/&gt;&lt;property id=&quot;20307&quot; value=&quot;359&quot;/&gt;&lt;/object&gt;&lt;object type=&quot;3&quot; unique_id=&quot;11167&quot;&gt;&lt;property id=&quot;20148&quot; value=&quot;5&quot;/&gt;&lt;property id=&quot;20300&quot; value=&quot;Slide 41 - &amp;quot;Cells that Lose a Cell Wall May Survive in Isotonic Environments&amp;quot;&quot;/&gt;&lt;property id=&quot;20307&quot; value=&quot;306&quot;/&gt;&lt;/object&gt;&lt;object type=&quot;3&quot; unique_id=&quot;11168&quot;&gt;&lt;property id=&quot;20148&quot; value=&quot;5&quot;/&gt;&lt;property id=&quot;20300&quot; value=&quot;Slide 42 - &amp;quot;3.5 The Cell Envelope Often Includes Layers Outside the Cell Wall&amp;quot;&quot;/&gt;&lt;property id=&quot;20307&quot; value=&quot;307&quot;/&gt;&lt;/object&gt;&lt;object type=&quot;3&quot; unique_id=&quot;11169&quot;&gt;&lt;property id=&quot;20148&quot; value=&quot;5&quot;/&gt;&lt;property id=&quot;20300&quot; value=&quot;Slide 43 - &amp;quot;Components Outside of the Cell Wall&amp;quot;&quot;/&gt;&lt;property id=&quot;20307&quot; value=&quot;308&quot;/&gt;&lt;/object&gt;&lt;object type=&quot;3&quot; unique_id=&quot;11170&quot;&gt;&lt;property id=&quot;20148&quot; value=&quot;5&quot;/&gt;&lt;property id=&quot;20300&quot; value=&quot;Slide 44 - &amp;quot;Components Outside of Cell Wall - Capsules&amp;quot;&quot;/&gt;&lt;property id=&quot;20307&quot; value=&quot;309&quot;/&gt;&lt;/object&gt;&lt;object type=&quot;3&quot; unique_id=&quot;11171&quot;&gt;&lt;property id=&quot;20148&quot; value=&quot;5&quot;/&gt;&lt;property id=&quot;20300&quot; value=&quot;Slide 45 - &amp;quot;Components Outside of Cell Wall - Slime Layers&amp;quot;&quot;/&gt;&lt;property id=&quot;20307&quot; value=&quot;310&quot;/&gt;&lt;/object&gt;&lt;object type=&quot;3&quot; unique_id=&quot;11172&quot;&gt;&lt;property id=&quot;20148&quot; value=&quot;5&quot;/&gt;&lt;property id=&quot;20300&quot; value=&quot;Slide 46 - &amp;quot;Components Outside of Cell Wall - S Layers&amp;quot;&quot;/&gt;&lt;property id=&quot;20307&quot; value=&quot;311&quot;/&gt;&lt;/object&gt;&lt;object type=&quot;3&quot; unique_id=&quot;11173&quot;&gt;&lt;property id=&quot;20148&quot; value=&quot;5&quot;/&gt;&lt;property id=&quot;20300&quot; value=&quot;Slide 47 - &amp;quot;3.6 The Bacterial Cytoplasm Is More Complex Than Once Thought&amp;quot;&quot;/&gt;&lt;property id=&quot;20307&quot; value=&quot;313&quot;/&gt;&lt;/object&gt;&lt;object type=&quot;3&quot; unique_id=&quot;11174&quot;&gt;&lt;property id=&quot;20148&quot; value=&quot;5&quot;/&gt;&lt;property id=&quot;20300&quot; value=&quot;Slide 48 - &amp;quot;Bacterial Cytoplasmic Structures&amp;quot;&quot;/&gt;&lt;property id=&quot;20307&quot; value=&quot;314&quot;/&gt;&lt;/object&gt;&lt;object type=&quot;3&quot; unique_id=&quot;11175&quot;&gt;&lt;property id=&quot;20148&quot; value=&quot;5&quot;/&gt;&lt;property id=&quot;20300&quot; value=&quot;Slide 49&quot;/&gt;&lt;property id=&quot;20307&quot; value=&quot;363&quot;/&gt;&lt;/object&gt;&lt;object type=&quot;3&quot; unique_id=&quot;11176&quot;&gt;&lt;property id=&quot;20148&quot; value=&quot;5&quot;/&gt;&lt;property id=&quot;20300&quot; value=&quot;Slide 50 - &amp;quot;The Bacterial Cytoskeleton&amp;quot;&quot;/&gt;&lt;property id=&quot;20307&quot; value=&quot;316&quot;/&gt;&lt;/object&gt;&lt;object type=&quot;3&quot; unique_id=&quot;11177&quot;&gt;&lt;property id=&quot;20148&quot; value=&quot;5&quot;/&gt;&lt;property id=&quot;20300&quot; value=&quot;Slide 51 - &amp;quot;Best Studied Examples of Bacterial Cytoskeleton Molecules&amp;quot;&quot;/&gt;&lt;property id=&quot;20307&quot; value=&quot;317&quot;/&gt;&lt;/object&gt;&lt;object type=&quot;3&quot; unique_id=&quot;11178&quot;&gt;&lt;property id=&quot;20148&quot; value=&quot;5&quot;/&gt;&lt;property id=&quot;20300&quot; value=&quot;Slide 52 - &amp;quot;Intracytoplasmic Membranes&amp;quot;&quot;/&gt;&lt;property id=&quot;20307&quot; value=&quot;318&quot;/&gt;&lt;/object&gt;&lt;object type=&quot;3&quot; unique_id=&quot;11179&quot;&gt;&lt;property id=&quot;20148&quot; value=&quot;5&quot;/&gt;&lt;property id=&quot;20300&quot; value=&quot;Slide 53 - &amp;quot;Inclusions&amp;quot;&quot;/&gt;&lt;property id=&quot;20307&quot; value=&quot;319&quot;/&gt;&lt;/object&gt;&lt;object type=&quot;3&quot; unique_id=&quot;11180&quot;&gt;&lt;property id=&quot;20148&quot; value=&quot;5&quot;/&gt;&lt;property id=&quot;20300&quot; value=&quot;Slide 54 - &amp;quot;Storage Inclusions&amp;quot;&quot;/&gt;&lt;property id=&quot;20307&quot; value=&quot;320&quot;/&gt;&lt;/object&gt;&lt;object type=&quot;3&quot; unique_id=&quot;11181&quot;&gt;&lt;property id=&quot;20148&quot; value=&quot;5&quot;/&gt;&lt;property id=&quot;20300&quot; value=&quot;Slide 55 - &amp;quot;Microcompartments&amp;quot;&quot;/&gt;&lt;property id=&quot;20307&quot; value=&quot;322&quot;/&gt;&lt;/object&gt;&lt;object type=&quot;3&quot; unique_id=&quot;11182&quot;&gt;&lt;property id=&quot;20148&quot; value=&quot;5&quot;/&gt;&lt;property id=&quot;20300&quot; value=&quot;Slide 56 - &amp;quot;Magnetosomes&amp;quot;&quot;/&gt;&lt;property id=&quot;20307&quot; value=&quot;324&quot;/&gt;&lt;/object&gt;&lt;object type=&quot;3&quot; unique_id=&quot;11183&quot;&gt;&lt;property id=&quot;20148&quot; value=&quot;5&quot;/&gt;&lt;property id=&quot;20300&quot; value=&quot;Slide 57 - &amp;quot;Ribosomes&amp;quot;&quot;/&gt;&lt;property id=&quot;20307&quot; value=&quot;325&quot;/&gt;&lt;/object&gt;&lt;object type=&quot;3&quot; unique_id=&quot;11184&quot;&gt;&lt;property id=&quot;20148&quot; value=&quot;5&quot;/&gt;&lt;property id=&quot;20300&quot; value=&quot;Slide 58 - &amp;quot;The Nucleoid&amp;quot;&quot;/&gt;&lt;property id=&quot;20307&quot; value=&quot;326&quot;/&gt;&lt;/object&gt;&lt;object type=&quot;3&quot; unique_id=&quot;11185&quot;&gt;&lt;property id=&quot;20148&quot; value=&quot;5&quot;/&gt;&lt;property id=&quot;20300&quot; value=&quot;Slide 59 - &amp;quot;Plasmids&amp;quot;&quot;/&gt;&lt;property id=&quot;20307&quot; value=&quot;327&quot;/&gt;&lt;/object&gt;&lt;object type=&quot;3&quot; unique_id=&quot;11186&quot;&gt;&lt;property id=&quot;20148&quot; value=&quot;5&quot;/&gt;&lt;property id=&quot;20300&quot; value=&quot;Slide 60 - &amp;quot;3.7 Many Bacteria Have External Structures Used For Attachment and Motility&amp;quot;&quot;/&gt;&lt;property id=&quot;20307&quot; value=&quot;329&quot;/&gt;&lt;/object&gt;&lt;object type=&quot;3&quot; unique_id=&quot;11187&quot;&gt;&lt;property id=&quot;20148&quot; value=&quot;5&quot;/&gt;&lt;property id=&quot;20300&quot; value=&quot;Slide 61 - &amp;quot;External Structures&amp;quot;&quot;/&gt;&lt;property id=&quot;20307&quot; value=&quot;330&quot;/&gt;&lt;/object&gt;&lt;object type=&quot;3&quot; unique_id=&quot;11188&quot;&gt;&lt;property id=&quot;20148&quot; value=&quot;5&quot;/&gt;&lt;property id=&quot;20300&quot; value=&quot;Slide 62&quot;/&gt;&lt;property id=&quot;20307&quot; value=&quot;364&quot;/&gt;&lt;/object&gt;&lt;object type=&quot;3&quot; unique_id=&quot;11189&quot;&gt;&lt;property id=&quot;20148&quot; value=&quot;5&quot;/&gt;&lt;property id=&quot;20300&quot; value=&quot;Slide 63 - &amp;quot;Flagella&amp;quot;&quot;/&gt;&lt;property id=&quot;20307&quot; value=&quot;332&quot;/&gt;&lt;/object&gt;&lt;object type=&quot;3&quot; unique_id=&quot;11190&quot;&gt;&lt;property id=&quot;20148&quot; value=&quot;5&quot;/&gt;&lt;property id=&quot;20300&quot; value=&quot;Slide 64 - &amp;quot;Bacterial Flagella&amp;quot;&quot;/&gt;&lt;property id=&quot;20307&quot; value=&quot;333&quot;/&gt;&lt;/object&gt;&lt;object type=&quot;3&quot; unique_id=&quot;11191&quot;&gt;&lt;property id=&quot;20148&quot; value=&quot;5&quot;/&gt;&lt;property id=&quot;20300&quot; value=&quot;Slide 65 - &amp;quot;Flagellar Synthesis&amp;quot;&quot;/&gt;&lt;property id=&quot;20307&quot; value=&quot;336&quot;/&gt;&lt;/object&gt;&lt;object type=&quot;3&quot; unique_id=&quot;11192&quot;&gt;&lt;property id=&quot;20148&quot; value=&quot;5&quot;/&gt;&lt;property id=&quot;20300&quot; value=&quot;Slide 66 - &amp;quot;3.8 Bacterial Move in Response to Environmental Conditions&amp;quot;&quot;/&gt;&lt;property id=&quot;20307&quot; value=&quot;337&quot;/&gt;&lt;/object&gt;&lt;object type=&quot;3&quot; unique_id=&quot;11193&quot;&gt;&lt;property id=&quot;20148&quot; value=&quot;5&quot;/&gt;&lt;property id=&quot;20300&quot; value=&quot;Slide 67 - &amp;quot;Motility&amp;quot;&quot;/&gt;&lt;property id=&quot;20307&quot; value=&quot;338&quot;/&gt;&lt;/object&gt;&lt;object type=&quot;3&quot; unique_id=&quot;11194&quot;&gt;&lt;property id=&quot;20148&quot; value=&quot;5&quot;/&gt;&lt;property id=&quot;20300&quot; value=&quot;Slide 68 - &amp;quot;Bacterial Flagellar Movement&amp;quot;&quot;/&gt;&lt;property id=&quot;20307&quot; value=&quot;340&quot;/&gt;&lt;/object&gt;&lt;object type=&quot;3&quot; unique_id=&quot;11195&quot;&gt;&lt;property id=&quot;20148&quot; value=&quot;5&quot;/&gt;&lt;property id=&quot;20300&quot; value=&quot;Slide 69 - &amp;quot;Mechanism of Flagellar Movement&amp;quot;&quot;/&gt;&lt;property id=&quot;20307&quot; value=&quot;341&quot;/&gt;&lt;/object&gt;&lt;object type=&quot;3&quot; unique_id=&quot;11196&quot;&gt;&lt;property id=&quot;20148&quot; value=&quot;5&quot;/&gt;&lt;property id=&quot;20300&quot; value=&quot;Slide 70 - &amp;quot;Swarming&amp;quot;&quot;/&gt;&lt;property id=&quot;20307&quot; value=&quot;356&quot;/&gt;&lt;/object&gt;&lt;object type=&quot;3&quot; unique_id=&quot;11197&quot;&gt;&lt;property id=&quot;20148&quot; value=&quot;5&quot;/&gt;&lt;property id=&quot;20300&quot; value=&quot;Slide 71 - &amp;quot;Spirochete Motility&amp;quot;&quot;/&gt;&lt;property id=&quot;20307&quot; value=&quot;360&quot;/&gt;&lt;/object&gt;&lt;object type=&quot;3&quot; unique_id=&quot;11198&quot;&gt;&lt;property id=&quot;20148&quot; value=&quot;5&quot;/&gt;&lt;property id=&quot;20300&quot; value=&quot;Slide 72 - &amp;quot;Twitching and Gliding Motility&amp;quot;&quot;/&gt;&lt;property id=&quot;20307&quot; value=&quot;343&quot;/&gt;&lt;/object&gt;&lt;object type=&quot;3&quot; unique_id=&quot;11199&quot;&gt;&lt;property id=&quot;20148&quot; value=&quot;5&quot;/&gt;&lt;property id=&quot;20300&quot; value=&quot;Slide 73 - &amp;quot;Chemotaxis&amp;quot;&quot;/&gt;&lt;property id=&quot;20307&quot; value=&quot;346&quot;/&gt;&lt;/object&gt;&lt;object type=&quot;3&quot; unique_id=&quot;11200&quot;&gt;&lt;property id=&quot;20148&quot; value=&quot;5&quot;/&gt;&lt;property id=&quot;20300&quot; value=&quot;Slide 74 - &amp;quot;3.9 Bacterial Endospores Are a Survival Strategy&amp;quot;&quot;/&gt;&lt;property id=&quot;20307&quot; value=&quot;347&quot;/&gt;&lt;/object&gt;&lt;object type=&quot;3&quot; unique_id=&quot;11201&quot;&gt;&lt;property id=&quot;20148&quot; value=&quot;5&quot;/&gt;&lt;property id=&quot;20300&quot; value=&quot;Slide 75 - &amp;quot;The Bacterial Endospore&amp;quot;&quot;/&gt;&lt;property id=&quot;20307&quot; value=&quot;348&quot;/&gt;&lt;/object&gt;&lt;object type=&quot;3&quot; unique_id=&quot;11202&quot;&gt;&lt;property id=&quot;20148&quot; value=&quot;5&quot;/&gt;&lt;property id=&quot;20300&quot; value=&quot;Slide 76 - &amp;quot;Endospore Structure&amp;quot;&quot;/&gt;&lt;property id=&quot;20307&quot; value=&quot;349&quot;/&gt;&lt;/object&gt;&lt;object type=&quot;3&quot; unique_id=&quot;11203&quot;&gt;&lt;property id=&quot;20148&quot; value=&quot;5&quot;/&gt;&lt;property id=&quot;20300&quot; value=&quot;Slide 77 - &amp;quot;Sporulation&amp;quot;&quot;/&gt;&lt;property id=&quot;20307&quot; value=&quot;351&quot;/&gt;&lt;/object&gt;&lt;object type=&quot;3&quot; unique_id=&quot;11204&quot;&gt;&lt;property id=&quot;20148&quot; value=&quot;5&quot;/&gt;&lt;property id=&quot;20300&quot; value=&quot;Slide 78 - &amp;quot;Sporulation Cycle&amp;quot;&quot;/&gt;&lt;property id=&quot;20307&quot; value=&quot;352&quot;/&gt;&lt;/object&gt;&lt;object type=&quot;3&quot; unique_id=&quot;11205&quot;&gt;&lt;property id=&quot;20148&quot; value=&quot;5&quot;/&gt;&lt;property id=&quot;20300&quot; value=&quot;Slide 79 - &amp;quot;Formation of Vegetative Cell&amp;quot;&quot;/&gt;&lt;property id=&quot;20307&quot; value=&quot;353&quot;/&gt;&lt;/object&gt;&lt;object type=&quot;3&quot; unique_id=&quot;11206&quot;&gt;&lt;property id=&quot;20148&quot; value=&quot;5&quot;/&gt;&lt;property id=&quot;20300&quot; value=&quot;Slide 80 - &amp;quot;Take-Home Message&amp;quot;&quot;/&gt;&lt;property id=&quot;20307&quot; value=&quot;355&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547</TotalTime>
  <Words>2792</Words>
  <Application>Microsoft Office PowerPoint</Application>
  <PresentationFormat>On-screen Show (4:3)</PresentationFormat>
  <Paragraphs>725</Paragraphs>
  <Slides>81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Calibri</vt:lpstr>
      <vt:lpstr>Mickey's Merry Christmas</vt:lpstr>
      <vt:lpstr>Symbol</vt:lpstr>
      <vt:lpstr>Times New Roman</vt:lpstr>
      <vt:lpstr>ヒラギノ角ゴ Pro W3</vt:lpstr>
      <vt:lpstr>Office Theme</vt:lpstr>
      <vt:lpstr>Chapter 3 – Bacterial Cell Structure</vt:lpstr>
      <vt:lpstr>3.1 Use of the term “prokaryote” is controversial</vt:lpstr>
      <vt:lpstr>3.2 Bacteria are diverse but share some common features</vt:lpstr>
      <vt:lpstr>Bacterial and Archaea Structure and Function</vt:lpstr>
      <vt:lpstr>Size, Shape, and Arrangement</vt:lpstr>
      <vt:lpstr>Cocci Shape and Arrangement</vt:lpstr>
      <vt:lpstr>Other Shapes and Arrangements</vt:lpstr>
      <vt:lpstr>Size Smallest – 0.3 μm (Mycoplasma)  Average rod – 1.1 - 1.5 x 2 – 6 μm   (E. coli)  Very large – 600 x 80 μm Epulopiscium fishelsoni   </vt:lpstr>
      <vt:lpstr>Size – Shape Relationship</vt:lpstr>
      <vt:lpstr>Bacterial Cell Organization – Common Features  -Cell envelope – 3 layers -Cytoplasm -External structures </vt:lpstr>
      <vt:lpstr>3.3 Bacterial plasma membranes control what enters and leaves the cell</vt:lpstr>
      <vt:lpstr>Bacterial Cell Envelope</vt:lpstr>
      <vt:lpstr>Plasma Membrane Functions </vt:lpstr>
      <vt:lpstr>Fluid Mosaic Model of Membrane Structure</vt:lpstr>
      <vt:lpstr>Bacterial Lipids</vt:lpstr>
      <vt:lpstr>Uptake of Nutrients –Through the Barrier</vt:lpstr>
      <vt:lpstr>Growth Factors – Through the Barrier</vt:lpstr>
      <vt:lpstr>Methods for Uptake of Nutrients</vt:lpstr>
      <vt:lpstr>Passive Diffusion</vt:lpstr>
      <vt:lpstr>Facilitated Diffusion </vt:lpstr>
      <vt:lpstr>Facilitated vs. Passive Diffusion</vt:lpstr>
      <vt:lpstr>Active Transport</vt:lpstr>
      <vt:lpstr>ABC Transporters</vt:lpstr>
      <vt:lpstr>Secondary Active Transport</vt:lpstr>
      <vt:lpstr>Group Translocation</vt:lpstr>
      <vt:lpstr>Iron Uptake</vt:lpstr>
      <vt:lpstr>3.4 There are two main types of  bacterial cell walls</vt:lpstr>
      <vt:lpstr>Bacterial Cell Wall</vt:lpstr>
      <vt:lpstr>Peptidoglycan Structure </vt:lpstr>
      <vt:lpstr>Strands Are Crosslinked</vt:lpstr>
      <vt:lpstr>Gram-Positive Cell Walls</vt:lpstr>
      <vt:lpstr>Periplasmic Space of Gram + Bacteria</vt:lpstr>
      <vt:lpstr>Gram-Negative Cell Wall Basic Structure</vt:lpstr>
      <vt:lpstr>Gram-Negative Cell Walls</vt:lpstr>
      <vt:lpstr>LPS - Lipopolysaccharide</vt:lpstr>
      <vt:lpstr>Importance of LPS</vt:lpstr>
      <vt:lpstr>Gram-Negative Outer Membrane Permeability</vt:lpstr>
      <vt:lpstr>Mechanism of Gram Stain Reaction</vt:lpstr>
      <vt:lpstr>Osmotic Protection</vt:lpstr>
      <vt:lpstr>Evidence for protection of cell wall</vt:lpstr>
      <vt:lpstr>Cells that Lose a Cell Wall May Survive in Isotonic Environments</vt:lpstr>
      <vt:lpstr>3.5 The Cell Envelope Often Includes Layers Outside the Cell Wall</vt:lpstr>
      <vt:lpstr>Components Outside of the Cell Wall</vt:lpstr>
      <vt:lpstr>Components Outside of Cell Wall - Capsules</vt:lpstr>
      <vt:lpstr>Components Outside of Cell Wall - Slime Layers</vt:lpstr>
      <vt:lpstr>Components Outside of Cell Wall - S Layers</vt:lpstr>
      <vt:lpstr>3.6 The Bacterial Cytoplasm Is More Complex Than Once Thought</vt:lpstr>
      <vt:lpstr>Bacterial Cytoplasmic Structures</vt:lpstr>
      <vt:lpstr>Protoplast and Cytoplasm </vt:lpstr>
      <vt:lpstr>The Bacterial Cytoskeleton</vt:lpstr>
      <vt:lpstr>Best Studied Examples of Bacterial Cytoskeleton Molecules</vt:lpstr>
      <vt:lpstr>Intracytoplasmic Membranes</vt:lpstr>
      <vt:lpstr>Inclusions</vt:lpstr>
      <vt:lpstr>Storage Inclusions</vt:lpstr>
      <vt:lpstr>Microcompartments</vt:lpstr>
      <vt:lpstr> Gas Vacuoles </vt:lpstr>
      <vt:lpstr>Magnetosomes</vt:lpstr>
      <vt:lpstr>Ribosomes</vt:lpstr>
      <vt:lpstr>The Nucleoid</vt:lpstr>
      <vt:lpstr>Plasmids</vt:lpstr>
      <vt:lpstr>3.7 Many Bacteria Have External Structures Used For Attachment and Motility</vt:lpstr>
      <vt:lpstr>External Structures</vt:lpstr>
      <vt:lpstr>Pili and Fimbriae </vt:lpstr>
      <vt:lpstr>Flagella</vt:lpstr>
      <vt:lpstr>Bacterial Flagella</vt:lpstr>
      <vt:lpstr>Flagellar Synthesis</vt:lpstr>
      <vt:lpstr>3.8 Bacterial Move in Response to Environmental Conditions</vt:lpstr>
      <vt:lpstr>Motility</vt:lpstr>
      <vt:lpstr>Bacterial Flagellar Movement</vt:lpstr>
      <vt:lpstr>Mechanism of Flagellar Movement</vt:lpstr>
      <vt:lpstr>Swarming</vt:lpstr>
      <vt:lpstr>Spirochete Motility</vt:lpstr>
      <vt:lpstr>Twitching and Gliding Motility</vt:lpstr>
      <vt:lpstr>Chemotaxis</vt:lpstr>
      <vt:lpstr>3.9 Bacterial Endospores Are a Survival Strategy</vt:lpstr>
      <vt:lpstr>The Bacterial Endospore</vt:lpstr>
      <vt:lpstr>Endospore Structure</vt:lpstr>
      <vt:lpstr>Sporulation</vt:lpstr>
      <vt:lpstr>Sporulation Cycle</vt:lpstr>
      <vt:lpstr>Formation of Vegetative Cell</vt:lpstr>
      <vt:lpstr>Take-Home Message</vt:lpstr>
    </vt:vector>
  </TitlesOfParts>
  <Company>University of Central Arkansas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74</cp:revision>
  <dcterms:created xsi:type="dcterms:W3CDTF">2016-01-04T02:13:32Z</dcterms:created>
  <dcterms:modified xsi:type="dcterms:W3CDTF">2017-10-25T07:43:12Z</dcterms:modified>
</cp:coreProperties>
</file>