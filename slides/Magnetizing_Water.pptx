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notesMasterIdLst>
    <p:notesMasterId r:id="rId25"/>
  </p:notesMasterIdLst>
  <p:handoutMasterIdLst>
    <p:handoutMasterId r:id="rId26"/>
  </p:handoutMasterIdLst>
  <p:sldIdLst>
    <p:sldId id="256" r:id="rId2"/>
    <p:sldId id="265" r:id="rId3"/>
    <p:sldId id="264" r:id="rId4"/>
    <p:sldId id="271" r:id="rId5"/>
    <p:sldId id="272" r:id="rId6"/>
    <p:sldId id="270" r:id="rId7"/>
    <p:sldId id="268" r:id="rId8"/>
    <p:sldId id="263" r:id="rId9"/>
    <p:sldId id="267" r:id="rId10"/>
    <p:sldId id="273" r:id="rId11"/>
    <p:sldId id="266" r:id="rId12"/>
    <p:sldId id="258" r:id="rId13"/>
    <p:sldId id="259" r:id="rId14"/>
    <p:sldId id="260" r:id="rId15"/>
    <p:sldId id="261" r:id="rId16"/>
    <p:sldId id="262" r:id="rId17"/>
    <p:sldId id="279" r:id="rId18"/>
    <p:sldId id="274" r:id="rId19"/>
    <p:sldId id="278" r:id="rId20"/>
    <p:sldId id="269" r:id="rId21"/>
    <p:sldId id="275" r:id="rId22"/>
    <p:sldId id="276" r:id="rId23"/>
    <p:sldId id="277" r:id="rId2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ferSingleView="1">
    <p:restoredLeft sz="15610" autoAdjust="0"/>
    <p:restoredTop sz="94728" autoAdjust="0"/>
  </p:normalViewPr>
  <p:slideViewPr>
    <p:cSldViewPr>
      <p:cViewPr>
        <p:scale>
          <a:sx n="82" d="100"/>
          <a:sy n="82" d="100"/>
        </p:scale>
        <p:origin x="-62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4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pPr>
              <a:defRPr/>
            </a:pPr>
            <a:endParaRPr lang="en-US" altLang="en-US"/>
          </a:p>
        </p:txBody>
      </p:sp>
      <p:sp>
        <p:nvSpPr>
          <p:cNvPr id="7680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pPr>
              <a:defRPr/>
            </a:pPr>
            <a:endParaRPr lang="en-US" altLang="en-US"/>
          </a:p>
        </p:txBody>
      </p:sp>
      <p:sp>
        <p:nvSpPr>
          <p:cNvPr id="7680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pPr>
              <a:defRPr/>
            </a:pPr>
            <a:endParaRPr lang="en-US" altLang="en-US"/>
          </a:p>
        </p:txBody>
      </p:sp>
      <p:sp>
        <p:nvSpPr>
          <p:cNvPr id="7680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itchFamily="34" charset="0"/>
              </a:defRPr>
            </a:lvl1pPr>
          </a:lstStyle>
          <a:p>
            <a:pPr>
              <a:defRPr/>
            </a:pPr>
            <a:fld id="{22E2DD82-8E75-4577-9BB7-E3F14C536853}" type="slidenum">
              <a:rPr lang="en-US" altLang="en-US"/>
              <a:pPr>
                <a:defRPr/>
              </a:pPr>
              <a:t>‹#›</a:t>
            </a:fld>
            <a:endParaRPr lang="en-US" altLang="en-US"/>
          </a:p>
        </p:txBody>
      </p:sp>
    </p:spTree>
    <p:extLst>
      <p:ext uri="{BB962C8B-B14F-4D97-AF65-F5344CB8AC3E}">
        <p14:creationId xmlns:p14="http://schemas.microsoft.com/office/powerpoint/2010/main" val="26986753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pPr>
              <a:defRPr/>
            </a:pPr>
            <a:endParaRPr lang="en-US" altLang="en-US"/>
          </a:p>
        </p:txBody>
      </p:sp>
      <p:sp>
        <p:nvSpPr>
          <p:cNvPr id="7065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pPr>
              <a:defRPr/>
            </a:pPr>
            <a:endParaRPr lang="en-US" altLang="en-US"/>
          </a:p>
        </p:txBody>
      </p:sp>
      <p:sp>
        <p:nvSpPr>
          <p:cNvPr id="245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066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7066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pPr>
              <a:defRPr/>
            </a:pPr>
            <a:endParaRPr lang="en-US" altLang="en-US"/>
          </a:p>
        </p:txBody>
      </p:sp>
      <p:sp>
        <p:nvSpPr>
          <p:cNvPr id="7066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itchFamily="34" charset="0"/>
              </a:defRPr>
            </a:lvl1pPr>
          </a:lstStyle>
          <a:p>
            <a:pPr>
              <a:defRPr/>
            </a:pPr>
            <a:fld id="{1D838B90-F93B-4944-AC35-E301CDBF656D}" type="slidenum">
              <a:rPr lang="en-US" altLang="en-US"/>
              <a:pPr>
                <a:defRPr/>
              </a:pPr>
              <a:t>‹#›</a:t>
            </a:fld>
            <a:endParaRPr lang="en-US" altLang="en-US"/>
          </a:p>
        </p:txBody>
      </p:sp>
    </p:spTree>
    <p:extLst>
      <p:ext uri="{BB962C8B-B14F-4D97-AF65-F5344CB8AC3E}">
        <p14:creationId xmlns:p14="http://schemas.microsoft.com/office/powerpoint/2010/main" val="32834669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4"/>
          <p:cNvSpPr>
            <a:spLocks/>
          </p:cNvSpPr>
          <p:nvPr/>
        </p:nvSpPr>
        <p:spPr bwMode="auto">
          <a:xfrm>
            <a:off x="285750" y="2803525"/>
            <a:ext cx="1588" cy="3035300"/>
          </a:xfrm>
          <a:custGeom>
            <a:avLst/>
            <a:gdLst>
              <a:gd name="T0" fmla="*/ 0 w 1588"/>
              <a:gd name="T1" fmla="*/ 0 h 1912"/>
              <a:gd name="T2" fmla="*/ 0 w 1588"/>
              <a:gd name="T3" fmla="*/ 2147483647 h 1912"/>
              <a:gd name="T4" fmla="*/ 0 w 1588"/>
              <a:gd name="T5" fmla="*/ 2147483647 h 1912"/>
              <a:gd name="T6" fmla="*/ 0 w 1588"/>
              <a:gd name="T7" fmla="*/ 2147483647 h 1912"/>
              <a:gd name="T8" fmla="*/ 0 w 1588"/>
              <a:gd name="T9" fmla="*/ 2147483647 h 1912"/>
              <a:gd name="T10" fmla="*/ 0 w 1588"/>
              <a:gd name="T11" fmla="*/ 2147483647 h 1912"/>
              <a:gd name="T12" fmla="*/ 0 w 1588"/>
              <a:gd name="T13" fmla="*/ 0 h 1912"/>
              <a:gd name="T14" fmla="*/ 0 w 1588"/>
              <a:gd name="T15" fmla="*/ 0 h 19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88" h="1912">
                <a:moveTo>
                  <a:pt x="0" y="0"/>
                </a:moveTo>
                <a:lnTo>
                  <a:pt x="0" y="6"/>
                </a:lnTo>
                <a:lnTo>
                  <a:pt x="0" y="60"/>
                </a:lnTo>
                <a:lnTo>
                  <a:pt x="0" y="1912"/>
                </a:lnTo>
                <a:lnTo>
                  <a:pt x="0" y="0"/>
                </a:lnTo>
                <a:close/>
              </a:path>
            </a:pathLst>
          </a:custGeom>
          <a:solidFill>
            <a:srgbClr val="6BBA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90" name="Rectangle 2"/>
          <p:cNvSpPr>
            <a:spLocks noGrp="1" noChangeArrowheads="1"/>
          </p:cNvSpPr>
          <p:nvPr>
            <p:ph type="ctrTitle" sz="quarter"/>
          </p:nvPr>
        </p:nvSpPr>
        <p:spPr>
          <a:xfrm>
            <a:off x="685800" y="1997075"/>
            <a:ext cx="7772400" cy="1431925"/>
          </a:xfrm>
        </p:spPr>
        <p:txBody>
          <a:bodyPr anchor="b" anchorCtr="1"/>
          <a:lstStyle>
            <a:lvl1pPr algn="ctr">
              <a:defRPr/>
            </a:lvl1pPr>
          </a:lstStyle>
          <a:p>
            <a:pPr lvl="0"/>
            <a:r>
              <a:rPr lang="en-US" altLang="en-US" noProof="0" smtClean="0"/>
              <a:t>Click to edit Master title style</a:t>
            </a:r>
          </a:p>
        </p:txBody>
      </p:sp>
      <p:sp>
        <p:nvSpPr>
          <p:cNvPr id="63491" name="Rectangle 3"/>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a:r>
              <a:rPr lang="en-US" altLang="en-US" noProof="0" smtClean="0"/>
              <a:t>Click to edit Master subtitle style</a:t>
            </a:r>
          </a:p>
        </p:txBody>
      </p:sp>
      <p:sp>
        <p:nvSpPr>
          <p:cNvPr id="5" name="Rectangle 5"/>
          <p:cNvSpPr>
            <a:spLocks noGrp="1" noChangeArrowheads="1"/>
          </p:cNvSpPr>
          <p:nvPr>
            <p:ph type="ftr" sz="quarter" idx="10"/>
          </p:nvPr>
        </p:nvSpPr>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p:txBody>
          <a:bodyPr/>
          <a:lstStyle>
            <a:lvl1pPr>
              <a:defRPr/>
            </a:lvl1pPr>
          </a:lstStyle>
          <a:p>
            <a:pPr>
              <a:defRPr/>
            </a:pPr>
            <a:fld id="{3E22A447-B600-4A95-89F4-4246AFDC46AB}" type="slidenum">
              <a:rPr lang="en-US" altLang="en-US"/>
              <a:pPr>
                <a:defRPr/>
              </a:pPr>
              <a:t>‹#›</a:t>
            </a:fld>
            <a:endParaRPr lang="en-US" altLang="en-US"/>
          </a:p>
        </p:txBody>
      </p:sp>
      <p:sp>
        <p:nvSpPr>
          <p:cNvPr id="7" name="Rectangle 7"/>
          <p:cNvSpPr>
            <a:spLocks noGrp="1" noChangeArrowheads="1"/>
          </p:cNvSpPr>
          <p:nvPr>
            <p:ph type="dt" sz="quarter" idx="12"/>
          </p:nvPr>
        </p:nvSpPr>
        <p:spPr/>
        <p:txBody>
          <a:bodyPr/>
          <a:lstStyle>
            <a:lvl1pPr>
              <a:defRPr/>
            </a:lvl1pPr>
          </a:lstStyle>
          <a:p>
            <a:pPr>
              <a:defRPr/>
            </a:pPr>
            <a:endParaRPr lang="en-US" altLang="en-US"/>
          </a:p>
        </p:txBody>
      </p:sp>
    </p:spTree>
    <p:extLst>
      <p:ext uri="{BB962C8B-B14F-4D97-AF65-F5344CB8AC3E}">
        <p14:creationId xmlns:p14="http://schemas.microsoft.com/office/powerpoint/2010/main" val="2022471140"/>
      </p:ext>
    </p:extLst>
  </p:cSld>
  <p:clrMapOvr>
    <a:masterClrMapping/>
  </p:clrMapOvr>
  <p:transition spd="med">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6EA5B6B0-627D-418B-8A98-7CA8482129D8}" type="slidenum">
              <a:rPr lang="en-US" altLang="en-US"/>
              <a:pPr>
                <a:defRPr/>
              </a:pPr>
              <a:t>‹#›</a:t>
            </a:fld>
            <a:endParaRPr lang="en-US" altLang="en-US"/>
          </a:p>
        </p:txBody>
      </p:sp>
    </p:spTree>
    <p:extLst>
      <p:ext uri="{BB962C8B-B14F-4D97-AF65-F5344CB8AC3E}">
        <p14:creationId xmlns:p14="http://schemas.microsoft.com/office/powerpoint/2010/main" val="374999522"/>
      </p:ext>
    </p:extLst>
  </p:cSld>
  <p:clrMapOvr>
    <a:masterClrMapping/>
  </p:clrMapOvr>
  <p:transition spd="med">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919FF04A-D8D6-41BC-BDF4-BEBA59AE5FE6}" type="slidenum">
              <a:rPr lang="en-US" altLang="en-US"/>
              <a:pPr>
                <a:defRPr/>
              </a:pPr>
              <a:t>‹#›</a:t>
            </a:fld>
            <a:endParaRPr lang="en-US" altLang="en-US"/>
          </a:p>
        </p:txBody>
      </p:sp>
    </p:spTree>
    <p:extLst>
      <p:ext uri="{BB962C8B-B14F-4D97-AF65-F5344CB8AC3E}">
        <p14:creationId xmlns:p14="http://schemas.microsoft.com/office/powerpoint/2010/main" val="1978993004"/>
      </p:ext>
    </p:extLst>
  </p:cSld>
  <p:clrMapOvr>
    <a:masterClrMapping/>
  </p:clrMapOvr>
  <p:transition spd="med">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050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050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87C63086-57D8-45B2-ABE6-FE196C631AAF}" type="slidenum">
              <a:rPr lang="en-US" altLang="en-US"/>
              <a:pPr>
                <a:defRPr/>
              </a:pPr>
              <a:t>‹#›</a:t>
            </a:fld>
            <a:endParaRPr lang="en-US" altLang="en-US"/>
          </a:p>
        </p:txBody>
      </p:sp>
    </p:spTree>
    <p:extLst>
      <p:ext uri="{BB962C8B-B14F-4D97-AF65-F5344CB8AC3E}">
        <p14:creationId xmlns:p14="http://schemas.microsoft.com/office/powerpoint/2010/main" val="2132342972"/>
      </p:ext>
    </p:extLst>
  </p:cSld>
  <p:clrMapOvr>
    <a:masterClrMapping/>
  </p:clrMapOvr>
  <p:transition spd="med">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11C3CFC0-D31B-40A4-811D-104C49F81258}" type="slidenum">
              <a:rPr lang="en-US" altLang="en-US"/>
              <a:pPr>
                <a:defRPr/>
              </a:pPr>
              <a:t>‹#›</a:t>
            </a:fld>
            <a:endParaRPr lang="en-US" altLang="en-US"/>
          </a:p>
        </p:txBody>
      </p:sp>
    </p:spTree>
    <p:extLst>
      <p:ext uri="{BB962C8B-B14F-4D97-AF65-F5344CB8AC3E}">
        <p14:creationId xmlns:p14="http://schemas.microsoft.com/office/powerpoint/2010/main" val="1327683796"/>
      </p:ext>
    </p:extLst>
  </p:cSld>
  <p:clrMapOvr>
    <a:masterClrMapping/>
  </p:clrMapOvr>
  <p:transition spd="med">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7F835108-B56A-49FA-B868-D8A22F5E415F}" type="slidenum">
              <a:rPr lang="en-US" altLang="en-US"/>
              <a:pPr>
                <a:defRPr/>
              </a:pPr>
              <a:t>‹#›</a:t>
            </a:fld>
            <a:endParaRPr lang="en-US" altLang="en-US"/>
          </a:p>
        </p:txBody>
      </p:sp>
    </p:spTree>
    <p:extLst>
      <p:ext uri="{BB962C8B-B14F-4D97-AF65-F5344CB8AC3E}">
        <p14:creationId xmlns:p14="http://schemas.microsoft.com/office/powerpoint/2010/main" val="3943566384"/>
      </p:ext>
    </p:extLst>
  </p:cSld>
  <p:clrMapOvr>
    <a:masterClrMapping/>
  </p:clrMapOvr>
  <p:transition spd="med">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003A6BC6-84A9-4232-A437-2C3B4492F33E}" type="slidenum">
              <a:rPr lang="en-US" altLang="en-US"/>
              <a:pPr>
                <a:defRPr/>
              </a:pPr>
              <a:t>‹#›</a:t>
            </a:fld>
            <a:endParaRPr lang="en-US" altLang="en-US"/>
          </a:p>
        </p:txBody>
      </p:sp>
    </p:spTree>
    <p:extLst>
      <p:ext uri="{BB962C8B-B14F-4D97-AF65-F5344CB8AC3E}">
        <p14:creationId xmlns:p14="http://schemas.microsoft.com/office/powerpoint/2010/main" val="1710760744"/>
      </p:ext>
    </p:extLst>
  </p:cSld>
  <p:clrMapOvr>
    <a:masterClrMapping/>
  </p:clrMapOvr>
  <p:transition spd="med">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A56A971A-22F5-4E77-9F07-763C69D92D4C}" type="slidenum">
              <a:rPr lang="en-US" altLang="en-US"/>
              <a:pPr>
                <a:defRPr/>
              </a:pPr>
              <a:t>‹#›</a:t>
            </a:fld>
            <a:endParaRPr lang="en-US" altLang="en-US"/>
          </a:p>
        </p:txBody>
      </p:sp>
    </p:spTree>
    <p:extLst>
      <p:ext uri="{BB962C8B-B14F-4D97-AF65-F5344CB8AC3E}">
        <p14:creationId xmlns:p14="http://schemas.microsoft.com/office/powerpoint/2010/main" val="603872680"/>
      </p:ext>
    </p:extLst>
  </p:cSld>
  <p:clrMapOvr>
    <a:masterClrMapping/>
  </p:clrMapOvr>
  <p:transition spd="med">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BABA3B82-39CE-4FF6-9E28-25A1B6600F76}" type="slidenum">
              <a:rPr lang="en-US" altLang="en-US"/>
              <a:pPr>
                <a:defRPr/>
              </a:pPr>
              <a:t>‹#›</a:t>
            </a:fld>
            <a:endParaRPr lang="en-US" altLang="en-US"/>
          </a:p>
        </p:txBody>
      </p:sp>
    </p:spTree>
    <p:extLst>
      <p:ext uri="{BB962C8B-B14F-4D97-AF65-F5344CB8AC3E}">
        <p14:creationId xmlns:p14="http://schemas.microsoft.com/office/powerpoint/2010/main" val="4063830598"/>
      </p:ext>
    </p:extLst>
  </p:cSld>
  <p:clrMapOvr>
    <a:masterClrMapping/>
  </p:clrMapOvr>
  <p:transition spd="med">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A4CFE034-45A6-497E-9257-603F23893C1E}" type="slidenum">
              <a:rPr lang="en-US" altLang="en-US"/>
              <a:pPr>
                <a:defRPr/>
              </a:pPr>
              <a:t>‹#›</a:t>
            </a:fld>
            <a:endParaRPr lang="en-US" altLang="en-US"/>
          </a:p>
        </p:txBody>
      </p:sp>
    </p:spTree>
    <p:extLst>
      <p:ext uri="{BB962C8B-B14F-4D97-AF65-F5344CB8AC3E}">
        <p14:creationId xmlns:p14="http://schemas.microsoft.com/office/powerpoint/2010/main" val="2450279151"/>
      </p:ext>
    </p:extLst>
  </p:cSld>
  <p:clrMapOvr>
    <a:masterClrMapping/>
  </p:clrMapOvr>
  <p:transition spd="med">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92100"/>
            <a:ext cx="2057400" cy="5727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92100"/>
            <a:ext cx="6019800" cy="5727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D3BEA190-CC70-4868-899F-280EB72E6992}" type="slidenum">
              <a:rPr lang="en-US" altLang="en-US"/>
              <a:pPr>
                <a:defRPr/>
              </a:pPr>
              <a:t>‹#›</a:t>
            </a:fld>
            <a:endParaRPr lang="en-US" altLang="en-US"/>
          </a:p>
        </p:txBody>
      </p:sp>
    </p:spTree>
    <p:extLst>
      <p:ext uri="{BB962C8B-B14F-4D97-AF65-F5344CB8AC3E}">
        <p14:creationId xmlns:p14="http://schemas.microsoft.com/office/powerpoint/2010/main" val="457203340"/>
      </p:ext>
    </p:extLst>
  </p:cSld>
  <p:clrMapOvr>
    <a:masterClrMapping/>
  </p:clrMapOvr>
  <p:transition spd="med">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bwMode="auto">
          <a:xfrm>
            <a:off x="457200" y="292100"/>
            <a:ext cx="8229600"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62467" name="Rectangle 3"/>
          <p:cNvSpPr>
            <a:spLocks noGrp="1" noChangeArrowheads="1"/>
          </p:cNvSpPr>
          <p:nvPr>
            <p:ph type="body" idx="1"/>
          </p:nvPr>
        </p:nvSpPr>
        <p:spPr bwMode="auto">
          <a:xfrm>
            <a:off x="457200" y="1905000"/>
            <a:ext cx="82296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246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a:effectLst>
                  <a:outerShdw blurRad="38100" dist="38100" dir="2700000" algn="tl">
                    <a:srgbClr val="000000"/>
                  </a:outerShdw>
                </a:effectLst>
                <a:latin typeface="Arial" pitchFamily="34" charset="0"/>
              </a:defRPr>
            </a:lvl1pPr>
          </a:lstStyle>
          <a:p>
            <a:pPr>
              <a:defRPr/>
            </a:pPr>
            <a:endParaRPr lang="en-US" altLang="en-US"/>
          </a:p>
        </p:txBody>
      </p:sp>
      <p:sp>
        <p:nvSpPr>
          <p:cNvPr id="6246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a:effectLst>
                  <a:outerShdw blurRad="38100" dist="38100" dir="2700000" algn="tl">
                    <a:srgbClr val="000000"/>
                  </a:outerShdw>
                </a:effectLst>
                <a:latin typeface="Arial" pitchFamily="34" charset="0"/>
              </a:defRPr>
            </a:lvl1pPr>
          </a:lstStyle>
          <a:p>
            <a:pPr>
              <a:defRPr/>
            </a:pPr>
            <a:endParaRPr lang="en-US" altLang="en-US"/>
          </a:p>
        </p:txBody>
      </p:sp>
      <p:sp>
        <p:nvSpPr>
          <p:cNvPr id="6247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a:effectLst>
                  <a:outerShdw blurRad="38100" dist="38100" dir="2700000" algn="tl">
                    <a:srgbClr val="000000"/>
                  </a:outerShdw>
                </a:effectLst>
                <a:latin typeface="Arial" pitchFamily="34" charset="0"/>
              </a:defRPr>
            </a:lvl1pPr>
          </a:lstStyle>
          <a:p>
            <a:pPr>
              <a:defRPr/>
            </a:pPr>
            <a:fld id="{F23A6931-CA2A-4BDD-A693-811ADE90BEEE}" type="slidenum">
              <a:rPr lang="en-US" altLang="en-US"/>
              <a:pPr>
                <a:defRPr/>
              </a:pPr>
              <a:t>‹#›</a:t>
            </a:fld>
            <a:endParaRPr lang="en-US" altLang="en-US"/>
          </a:p>
        </p:txBody>
      </p:sp>
    </p:spTree>
  </p:cSld>
  <p:clrMap bg1="dk2" tx1="lt1" bg2="dk1" tx2="lt2" accent1="accent1" accent2="accent2" accent3="accent3" accent4="accent4" accent5="accent5" accent6="accent6" hlink="hlink" folHlink="folHlink"/>
  <p:sldLayoutIdLst>
    <p:sldLayoutId id="2147483764"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transition spd="med">
    <p:dissolve/>
  </p:transition>
  <p:txStyles>
    <p:titleStyle>
      <a:lvl1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2pPr>
      <a:lvl3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3pPr>
      <a:lvl4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4pPr>
      <a:lvl5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5pPr>
      <a:lvl6pPr marL="4572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6pPr>
      <a:lvl7pPr marL="9144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7pPr>
      <a:lvl8pPr marL="13716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8pPr>
      <a:lvl9pPr marL="18288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hlink"/>
        </a:buClr>
        <a:buSzPct val="120000"/>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Font typeface="Tahoma" pitchFamily="34" charset="0"/>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120000"/>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Font typeface="Tahoma" pitchFamily="34" charset="0"/>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hyperlink" Target="https://www.youtube.com/watch?v=rObJQWy8xa8"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gmxinternational.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defRPr/>
            </a:pPr>
            <a:r>
              <a:rPr lang="en-US" altLang="en-US" sz="5400" b="1" smtClean="0"/>
              <a:t>Magnetizing Water</a:t>
            </a:r>
          </a:p>
        </p:txBody>
      </p:sp>
      <p:sp>
        <p:nvSpPr>
          <p:cNvPr id="2051" name="Rectangle 3"/>
          <p:cNvSpPr>
            <a:spLocks noGrp="1" noChangeArrowheads="1"/>
          </p:cNvSpPr>
          <p:nvPr>
            <p:ph type="subTitle" idx="1"/>
          </p:nvPr>
        </p:nvSpPr>
        <p:spPr/>
        <p:txBody>
          <a:bodyPr/>
          <a:lstStyle/>
          <a:p>
            <a:pPr eaLnBrk="1" hangingPunct="1">
              <a:defRPr/>
            </a:pPr>
            <a:r>
              <a:rPr lang="en-US" altLang="en-US" dirty="0" smtClean="0"/>
              <a:t>GMX International</a:t>
            </a:r>
          </a:p>
        </p:txBody>
      </p:sp>
      <p:sp>
        <p:nvSpPr>
          <p:cNvPr id="2" name="TextBox 1"/>
          <p:cNvSpPr txBox="1"/>
          <p:nvPr/>
        </p:nvSpPr>
        <p:spPr>
          <a:xfrm>
            <a:off x="1447800" y="5257800"/>
            <a:ext cx="6484424" cy="369332"/>
          </a:xfrm>
          <a:prstGeom prst="rect">
            <a:avLst/>
          </a:prstGeom>
          <a:noFill/>
        </p:spPr>
        <p:txBody>
          <a:bodyPr wrap="square" rtlCol="0">
            <a:spAutoFit/>
          </a:bodyPr>
          <a:lstStyle/>
          <a:p>
            <a:r>
              <a:rPr lang="en-US" b="1" dirty="0">
                <a:solidFill>
                  <a:srgbClr val="FF0000"/>
                </a:solidFill>
              </a:rPr>
              <a:t>https://www.youtube.com/watch?v=LZj4pSZj8Q4</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7" presetClass="entr" presetSubtype="4" fill="hold" grpId="0" nodeType="with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0" fill="hold"/>
                                        <p:tgtEl>
                                          <p:spTgt spid="2050"/>
                                        </p:tgtEl>
                                        <p:attrNameLst>
                                          <p:attrName>ppt_x</p:attrName>
                                        </p:attrNameLst>
                                      </p:cBhvr>
                                      <p:tavLst>
                                        <p:tav tm="0">
                                          <p:val>
                                            <p:strVal val="#ppt_x"/>
                                          </p:val>
                                        </p:tav>
                                        <p:tav tm="100000">
                                          <p:val>
                                            <p:strVal val="#ppt_x"/>
                                          </p:val>
                                        </p:tav>
                                      </p:tavLst>
                                    </p:anim>
                                    <p:anim calcmode="lin" valueType="num">
                                      <p:cBhvr additive="base">
                                        <p:cTn id="8" dur="5000" fill="hold"/>
                                        <p:tgtEl>
                                          <p:spTgt spid="2050"/>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0"/>
                            </p:stCondLst>
                            <p:childTnLst>
                              <p:par>
                                <p:cTn id="10" presetID="2" presetClass="entr" presetSubtype="4" fill="hold" grpId="0" nodeType="afterEffect">
                                  <p:stCondLst>
                                    <p:cond delay="0"/>
                                  </p:stCondLst>
                                  <p:childTnLst>
                                    <p:set>
                                      <p:cBhvr>
                                        <p:cTn id="11" dur="1" fill="hold">
                                          <p:stCondLst>
                                            <p:cond delay="0"/>
                                          </p:stCondLst>
                                        </p:cTn>
                                        <p:tgtEl>
                                          <p:spTgt spid="2051">
                                            <p:txEl>
                                              <p:pRg st="0" end="0"/>
                                            </p:txEl>
                                          </p:spTgt>
                                        </p:tgtEl>
                                        <p:attrNameLst>
                                          <p:attrName>style.visibility</p:attrName>
                                        </p:attrNameLst>
                                      </p:cBhvr>
                                      <p:to>
                                        <p:strVal val="visible"/>
                                      </p:to>
                                    </p:set>
                                    <p:anim calcmode="lin" valueType="num">
                                      <p:cBhvr additive="base">
                                        <p:cTn id="12" dur="500" fill="hold"/>
                                        <p:tgtEl>
                                          <p:spTgt spid="205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05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2051"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26"/>
          <p:cNvSpPr>
            <a:spLocks noGrp="1" noChangeArrowheads="1"/>
          </p:cNvSpPr>
          <p:nvPr>
            <p:ph type="title"/>
          </p:nvPr>
        </p:nvSpPr>
        <p:spPr/>
        <p:txBody>
          <a:bodyPr/>
          <a:lstStyle/>
          <a:p>
            <a:pPr algn="ctr" eaLnBrk="1" hangingPunct="1">
              <a:defRPr/>
            </a:pPr>
            <a:r>
              <a:rPr lang="en-US" altLang="en-US" sz="4000" smtClean="0"/>
              <a:t>The Problem:</a:t>
            </a:r>
            <a:br>
              <a:rPr lang="en-US" altLang="en-US" sz="4000" smtClean="0"/>
            </a:br>
            <a:r>
              <a:rPr lang="en-US" altLang="en-US" sz="4000" smtClean="0"/>
              <a:t>Scale and Calcium Build up</a:t>
            </a:r>
          </a:p>
        </p:txBody>
      </p:sp>
      <p:sp>
        <p:nvSpPr>
          <p:cNvPr id="4099" name="AutoShape 1029" descr="gmxpipe1"/>
          <p:cNvSpPr>
            <a:spLocks noChangeAspect="1" noChangeArrowheads="1"/>
          </p:cNvSpPr>
          <p:nvPr/>
        </p:nvSpPr>
        <p:spPr bwMode="auto">
          <a:xfrm>
            <a:off x="3857625" y="2819400"/>
            <a:ext cx="14287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120000"/>
              <a:buChar char="•"/>
              <a:defRPr sz="3200">
                <a:solidFill>
                  <a:schemeClr val="tx1"/>
                </a:solidFill>
                <a:latin typeface="Tahoma" pitchFamily="34" charset="0"/>
              </a:defRPr>
            </a:lvl1pPr>
            <a:lvl2pPr marL="742950" indent="-285750">
              <a:spcBef>
                <a:spcPct val="20000"/>
              </a:spcBef>
              <a:buFont typeface="Tahoma" pitchFamily="34" charset="0"/>
              <a:buChar char="–"/>
              <a:defRPr sz="2800">
                <a:solidFill>
                  <a:schemeClr val="tx1"/>
                </a:solidFill>
                <a:latin typeface="Tahoma" pitchFamily="34" charset="0"/>
              </a:defRPr>
            </a:lvl2pPr>
            <a:lvl3pPr marL="1143000" indent="-228600">
              <a:spcBef>
                <a:spcPct val="20000"/>
              </a:spcBef>
              <a:buClr>
                <a:schemeClr val="hlink"/>
              </a:buClr>
              <a:buSzPct val="120000"/>
              <a:buChar char="•"/>
              <a:defRPr sz="2400">
                <a:solidFill>
                  <a:schemeClr val="tx1"/>
                </a:solidFill>
                <a:latin typeface="Tahoma" pitchFamily="34" charset="0"/>
              </a:defRPr>
            </a:lvl3pPr>
            <a:lvl4pPr marL="1600200" indent="-228600">
              <a:spcBef>
                <a:spcPct val="20000"/>
              </a:spcBef>
              <a:buFont typeface="Tahoma" pitchFamily="34" charset="0"/>
              <a:buChar char="–"/>
              <a:defRPr sz="2000">
                <a:solidFill>
                  <a:schemeClr val="tx1"/>
                </a:solidFill>
                <a:latin typeface="Tahoma" pitchFamily="34" charset="0"/>
              </a:defRPr>
            </a:lvl4pPr>
            <a:lvl5pPr marL="2057400" indent="-228600">
              <a:spcBef>
                <a:spcPct val="20000"/>
              </a:spcBef>
              <a:buClr>
                <a:schemeClr val="hlink"/>
              </a:buClr>
              <a:buSzPct val="80000"/>
              <a:buFont typeface="Wingdings" pitchFamily="2" charset="2"/>
              <a:buChar char="v"/>
              <a:defRPr sz="20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9pPr>
          </a:lstStyle>
          <a:p>
            <a:pPr>
              <a:spcBef>
                <a:spcPct val="0"/>
              </a:spcBef>
              <a:buClrTx/>
              <a:buSzTx/>
              <a:buFontTx/>
              <a:buNone/>
            </a:pPr>
            <a:endParaRPr lang="en-US" altLang="en-US" sz="1800"/>
          </a:p>
        </p:txBody>
      </p:sp>
      <p:sp>
        <p:nvSpPr>
          <p:cNvPr id="4100" name="AutoShape 1031" descr="gmxpipe1"/>
          <p:cNvSpPr>
            <a:spLocks noChangeAspect="1" noChangeArrowheads="1"/>
          </p:cNvSpPr>
          <p:nvPr/>
        </p:nvSpPr>
        <p:spPr bwMode="auto">
          <a:xfrm>
            <a:off x="3857625" y="2819400"/>
            <a:ext cx="14287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120000"/>
              <a:buChar char="•"/>
              <a:defRPr sz="3200">
                <a:solidFill>
                  <a:schemeClr val="tx1"/>
                </a:solidFill>
                <a:latin typeface="Tahoma" pitchFamily="34" charset="0"/>
              </a:defRPr>
            </a:lvl1pPr>
            <a:lvl2pPr marL="742950" indent="-285750">
              <a:spcBef>
                <a:spcPct val="20000"/>
              </a:spcBef>
              <a:buFont typeface="Tahoma" pitchFamily="34" charset="0"/>
              <a:buChar char="–"/>
              <a:defRPr sz="2800">
                <a:solidFill>
                  <a:schemeClr val="tx1"/>
                </a:solidFill>
                <a:latin typeface="Tahoma" pitchFamily="34" charset="0"/>
              </a:defRPr>
            </a:lvl2pPr>
            <a:lvl3pPr marL="1143000" indent="-228600">
              <a:spcBef>
                <a:spcPct val="20000"/>
              </a:spcBef>
              <a:buClr>
                <a:schemeClr val="hlink"/>
              </a:buClr>
              <a:buSzPct val="120000"/>
              <a:buChar char="•"/>
              <a:defRPr sz="2400">
                <a:solidFill>
                  <a:schemeClr val="tx1"/>
                </a:solidFill>
                <a:latin typeface="Tahoma" pitchFamily="34" charset="0"/>
              </a:defRPr>
            </a:lvl3pPr>
            <a:lvl4pPr marL="1600200" indent="-228600">
              <a:spcBef>
                <a:spcPct val="20000"/>
              </a:spcBef>
              <a:buFont typeface="Tahoma" pitchFamily="34" charset="0"/>
              <a:buChar char="–"/>
              <a:defRPr sz="2000">
                <a:solidFill>
                  <a:schemeClr val="tx1"/>
                </a:solidFill>
                <a:latin typeface="Tahoma" pitchFamily="34" charset="0"/>
              </a:defRPr>
            </a:lvl4pPr>
            <a:lvl5pPr marL="2057400" indent="-228600">
              <a:spcBef>
                <a:spcPct val="20000"/>
              </a:spcBef>
              <a:buClr>
                <a:schemeClr val="hlink"/>
              </a:buClr>
              <a:buSzPct val="80000"/>
              <a:buFont typeface="Wingdings" pitchFamily="2" charset="2"/>
              <a:buChar char="v"/>
              <a:defRPr sz="20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9pPr>
          </a:lstStyle>
          <a:p>
            <a:pPr>
              <a:spcBef>
                <a:spcPct val="0"/>
              </a:spcBef>
              <a:buClrTx/>
              <a:buSzTx/>
              <a:buFontTx/>
              <a:buNone/>
            </a:pPr>
            <a:endParaRPr lang="en-US" altLang="en-US" sz="1800"/>
          </a:p>
        </p:txBody>
      </p:sp>
      <p:sp>
        <p:nvSpPr>
          <p:cNvPr id="4101" name="AutoShape 1033" descr="gmxpipe1"/>
          <p:cNvSpPr>
            <a:spLocks noChangeAspect="1" noChangeArrowheads="1"/>
          </p:cNvSpPr>
          <p:nvPr/>
        </p:nvSpPr>
        <p:spPr bwMode="auto">
          <a:xfrm>
            <a:off x="3857625" y="2819400"/>
            <a:ext cx="14287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120000"/>
              <a:buChar char="•"/>
              <a:defRPr sz="3200">
                <a:solidFill>
                  <a:schemeClr val="tx1"/>
                </a:solidFill>
                <a:latin typeface="Tahoma" pitchFamily="34" charset="0"/>
              </a:defRPr>
            </a:lvl1pPr>
            <a:lvl2pPr marL="742950" indent="-285750">
              <a:spcBef>
                <a:spcPct val="20000"/>
              </a:spcBef>
              <a:buFont typeface="Tahoma" pitchFamily="34" charset="0"/>
              <a:buChar char="–"/>
              <a:defRPr sz="2800">
                <a:solidFill>
                  <a:schemeClr val="tx1"/>
                </a:solidFill>
                <a:latin typeface="Tahoma" pitchFamily="34" charset="0"/>
              </a:defRPr>
            </a:lvl2pPr>
            <a:lvl3pPr marL="1143000" indent="-228600">
              <a:spcBef>
                <a:spcPct val="20000"/>
              </a:spcBef>
              <a:buClr>
                <a:schemeClr val="hlink"/>
              </a:buClr>
              <a:buSzPct val="120000"/>
              <a:buChar char="•"/>
              <a:defRPr sz="2400">
                <a:solidFill>
                  <a:schemeClr val="tx1"/>
                </a:solidFill>
                <a:latin typeface="Tahoma" pitchFamily="34" charset="0"/>
              </a:defRPr>
            </a:lvl3pPr>
            <a:lvl4pPr marL="1600200" indent="-228600">
              <a:spcBef>
                <a:spcPct val="20000"/>
              </a:spcBef>
              <a:buFont typeface="Tahoma" pitchFamily="34" charset="0"/>
              <a:buChar char="–"/>
              <a:defRPr sz="2000">
                <a:solidFill>
                  <a:schemeClr val="tx1"/>
                </a:solidFill>
                <a:latin typeface="Tahoma" pitchFamily="34" charset="0"/>
              </a:defRPr>
            </a:lvl4pPr>
            <a:lvl5pPr marL="2057400" indent="-228600">
              <a:spcBef>
                <a:spcPct val="20000"/>
              </a:spcBef>
              <a:buClr>
                <a:schemeClr val="hlink"/>
              </a:buClr>
              <a:buSzPct val="80000"/>
              <a:buFont typeface="Wingdings" pitchFamily="2" charset="2"/>
              <a:buChar char="v"/>
              <a:defRPr sz="20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9pPr>
          </a:lstStyle>
          <a:p>
            <a:pPr>
              <a:spcBef>
                <a:spcPct val="0"/>
              </a:spcBef>
              <a:buClrTx/>
              <a:buSzTx/>
              <a:buFontTx/>
              <a:buNone/>
            </a:pPr>
            <a:endParaRPr lang="en-US" altLang="en-US" sz="1800"/>
          </a:p>
        </p:txBody>
      </p:sp>
      <p:sp>
        <p:nvSpPr>
          <p:cNvPr id="4102" name="AutoShape 1035" descr="gmxpipe1"/>
          <p:cNvSpPr>
            <a:spLocks noChangeAspect="1" noChangeArrowheads="1"/>
          </p:cNvSpPr>
          <p:nvPr/>
        </p:nvSpPr>
        <p:spPr bwMode="auto">
          <a:xfrm>
            <a:off x="3857625" y="2819400"/>
            <a:ext cx="14287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120000"/>
              <a:buChar char="•"/>
              <a:defRPr sz="3200">
                <a:solidFill>
                  <a:schemeClr val="tx1"/>
                </a:solidFill>
                <a:latin typeface="Tahoma" pitchFamily="34" charset="0"/>
              </a:defRPr>
            </a:lvl1pPr>
            <a:lvl2pPr marL="742950" indent="-285750">
              <a:spcBef>
                <a:spcPct val="20000"/>
              </a:spcBef>
              <a:buFont typeface="Tahoma" pitchFamily="34" charset="0"/>
              <a:buChar char="–"/>
              <a:defRPr sz="2800">
                <a:solidFill>
                  <a:schemeClr val="tx1"/>
                </a:solidFill>
                <a:latin typeface="Tahoma" pitchFamily="34" charset="0"/>
              </a:defRPr>
            </a:lvl2pPr>
            <a:lvl3pPr marL="1143000" indent="-228600">
              <a:spcBef>
                <a:spcPct val="20000"/>
              </a:spcBef>
              <a:buClr>
                <a:schemeClr val="hlink"/>
              </a:buClr>
              <a:buSzPct val="120000"/>
              <a:buChar char="•"/>
              <a:defRPr sz="2400">
                <a:solidFill>
                  <a:schemeClr val="tx1"/>
                </a:solidFill>
                <a:latin typeface="Tahoma" pitchFamily="34" charset="0"/>
              </a:defRPr>
            </a:lvl3pPr>
            <a:lvl4pPr marL="1600200" indent="-228600">
              <a:spcBef>
                <a:spcPct val="20000"/>
              </a:spcBef>
              <a:buFont typeface="Tahoma" pitchFamily="34" charset="0"/>
              <a:buChar char="–"/>
              <a:defRPr sz="2000">
                <a:solidFill>
                  <a:schemeClr val="tx1"/>
                </a:solidFill>
                <a:latin typeface="Tahoma" pitchFamily="34" charset="0"/>
              </a:defRPr>
            </a:lvl4pPr>
            <a:lvl5pPr marL="2057400" indent="-228600">
              <a:spcBef>
                <a:spcPct val="20000"/>
              </a:spcBef>
              <a:buClr>
                <a:schemeClr val="hlink"/>
              </a:buClr>
              <a:buSzPct val="80000"/>
              <a:buFont typeface="Wingdings" pitchFamily="2" charset="2"/>
              <a:buChar char="v"/>
              <a:defRPr sz="20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9pPr>
          </a:lstStyle>
          <a:p>
            <a:pPr>
              <a:spcBef>
                <a:spcPct val="0"/>
              </a:spcBef>
              <a:buClrTx/>
              <a:buSzTx/>
              <a:buFontTx/>
              <a:buNone/>
            </a:pPr>
            <a:endParaRPr lang="en-US" altLang="en-US" sz="1800"/>
          </a:p>
        </p:txBody>
      </p:sp>
      <p:sp>
        <p:nvSpPr>
          <p:cNvPr id="4103" name="AutoShape 1037" descr="gmxpipe1"/>
          <p:cNvSpPr>
            <a:spLocks noChangeAspect="1" noChangeArrowheads="1"/>
          </p:cNvSpPr>
          <p:nvPr/>
        </p:nvSpPr>
        <p:spPr bwMode="auto">
          <a:xfrm>
            <a:off x="3857625" y="2819400"/>
            <a:ext cx="14287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120000"/>
              <a:buChar char="•"/>
              <a:defRPr sz="3200">
                <a:solidFill>
                  <a:schemeClr val="tx1"/>
                </a:solidFill>
                <a:latin typeface="Tahoma" pitchFamily="34" charset="0"/>
              </a:defRPr>
            </a:lvl1pPr>
            <a:lvl2pPr marL="742950" indent="-285750">
              <a:spcBef>
                <a:spcPct val="20000"/>
              </a:spcBef>
              <a:buFont typeface="Tahoma" pitchFamily="34" charset="0"/>
              <a:buChar char="–"/>
              <a:defRPr sz="2800">
                <a:solidFill>
                  <a:schemeClr val="tx1"/>
                </a:solidFill>
                <a:latin typeface="Tahoma" pitchFamily="34" charset="0"/>
              </a:defRPr>
            </a:lvl2pPr>
            <a:lvl3pPr marL="1143000" indent="-228600">
              <a:spcBef>
                <a:spcPct val="20000"/>
              </a:spcBef>
              <a:buClr>
                <a:schemeClr val="hlink"/>
              </a:buClr>
              <a:buSzPct val="120000"/>
              <a:buChar char="•"/>
              <a:defRPr sz="2400">
                <a:solidFill>
                  <a:schemeClr val="tx1"/>
                </a:solidFill>
                <a:latin typeface="Tahoma" pitchFamily="34" charset="0"/>
              </a:defRPr>
            </a:lvl3pPr>
            <a:lvl4pPr marL="1600200" indent="-228600">
              <a:spcBef>
                <a:spcPct val="20000"/>
              </a:spcBef>
              <a:buFont typeface="Tahoma" pitchFamily="34" charset="0"/>
              <a:buChar char="–"/>
              <a:defRPr sz="2000">
                <a:solidFill>
                  <a:schemeClr val="tx1"/>
                </a:solidFill>
                <a:latin typeface="Tahoma" pitchFamily="34" charset="0"/>
              </a:defRPr>
            </a:lvl4pPr>
            <a:lvl5pPr marL="2057400" indent="-228600">
              <a:spcBef>
                <a:spcPct val="20000"/>
              </a:spcBef>
              <a:buClr>
                <a:schemeClr val="hlink"/>
              </a:buClr>
              <a:buSzPct val="80000"/>
              <a:buFont typeface="Wingdings" pitchFamily="2" charset="2"/>
              <a:buChar char="v"/>
              <a:defRPr sz="20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9pPr>
          </a:lstStyle>
          <a:p>
            <a:pPr>
              <a:spcBef>
                <a:spcPct val="0"/>
              </a:spcBef>
              <a:buClrTx/>
              <a:buSzTx/>
              <a:buFontTx/>
              <a:buNone/>
            </a:pPr>
            <a:endParaRPr lang="en-US" altLang="en-US" sz="1800"/>
          </a:p>
        </p:txBody>
      </p:sp>
      <p:sp>
        <p:nvSpPr>
          <p:cNvPr id="4104" name="AutoShape 1039" descr="gmxpipe1"/>
          <p:cNvSpPr>
            <a:spLocks noChangeAspect="1" noChangeArrowheads="1"/>
          </p:cNvSpPr>
          <p:nvPr/>
        </p:nvSpPr>
        <p:spPr bwMode="auto">
          <a:xfrm>
            <a:off x="3857625" y="2819400"/>
            <a:ext cx="14287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120000"/>
              <a:buChar char="•"/>
              <a:defRPr sz="3200">
                <a:solidFill>
                  <a:schemeClr val="tx1"/>
                </a:solidFill>
                <a:latin typeface="Tahoma" pitchFamily="34" charset="0"/>
              </a:defRPr>
            </a:lvl1pPr>
            <a:lvl2pPr marL="742950" indent="-285750">
              <a:spcBef>
                <a:spcPct val="20000"/>
              </a:spcBef>
              <a:buFont typeface="Tahoma" pitchFamily="34" charset="0"/>
              <a:buChar char="–"/>
              <a:defRPr sz="2800">
                <a:solidFill>
                  <a:schemeClr val="tx1"/>
                </a:solidFill>
                <a:latin typeface="Tahoma" pitchFamily="34" charset="0"/>
              </a:defRPr>
            </a:lvl2pPr>
            <a:lvl3pPr marL="1143000" indent="-228600">
              <a:spcBef>
                <a:spcPct val="20000"/>
              </a:spcBef>
              <a:buClr>
                <a:schemeClr val="hlink"/>
              </a:buClr>
              <a:buSzPct val="120000"/>
              <a:buChar char="•"/>
              <a:defRPr sz="2400">
                <a:solidFill>
                  <a:schemeClr val="tx1"/>
                </a:solidFill>
                <a:latin typeface="Tahoma" pitchFamily="34" charset="0"/>
              </a:defRPr>
            </a:lvl3pPr>
            <a:lvl4pPr marL="1600200" indent="-228600">
              <a:spcBef>
                <a:spcPct val="20000"/>
              </a:spcBef>
              <a:buFont typeface="Tahoma" pitchFamily="34" charset="0"/>
              <a:buChar char="–"/>
              <a:defRPr sz="2000">
                <a:solidFill>
                  <a:schemeClr val="tx1"/>
                </a:solidFill>
                <a:latin typeface="Tahoma" pitchFamily="34" charset="0"/>
              </a:defRPr>
            </a:lvl4pPr>
            <a:lvl5pPr marL="2057400" indent="-228600">
              <a:spcBef>
                <a:spcPct val="20000"/>
              </a:spcBef>
              <a:buClr>
                <a:schemeClr val="hlink"/>
              </a:buClr>
              <a:buSzPct val="80000"/>
              <a:buFont typeface="Wingdings" pitchFamily="2" charset="2"/>
              <a:buChar char="v"/>
              <a:defRPr sz="20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9pPr>
          </a:lstStyle>
          <a:p>
            <a:pPr>
              <a:spcBef>
                <a:spcPct val="0"/>
              </a:spcBef>
              <a:buClrTx/>
              <a:buSzTx/>
              <a:buFontTx/>
              <a:buNone/>
            </a:pPr>
            <a:endParaRPr lang="en-US" altLang="en-US" sz="1800"/>
          </a:p>
        </p:txBody>
      </p:sp>
      <p:sp>
        <p:nvSpPr>
          <p:cNvPr id="4105" name="AutoShape 1041" descr="Water Pipes Showing Scale build up"/>
          <p:cNvSpPr>
            <a:spLocks noChangeAspect="1" noChangeArrowheads="1"/>
          </p:cNvSpPr>
          <p:nvPr/>
        </p:nvSpPr>
        <p:spPr bwMode="auto">
          <a:xfrm>
            <a:off x="3857625" y="2628900"/>
            <a:ext cx="142875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120000"/>
              <a:buChar char="•"/>
              <a:defRPr sz="3200">
                <a:solidFill>
                  <a:schemeClr val="tx1"/>
                </a:solidFill>
                <a:latin typeface="Tahoma" pitchFamily="34" charset="0"/>
              </a:defRPr>
            </a:lvl1pPr>
            <a:lvl2pPr marL="742950" indent="-285750">
              <a:spcBef>
                <a:spcPct val="20000"/>
              </a:spcBef>
              <a:buFont typeface="Tahoma" pitchFamily="34" charset="0"/>
              <a:buChar char="–"/>
              <a:defRPr sz="2800">
                <a:solidFill>
                  <a:schemeClr val="tx1"/>
                </a:solidFill>
                <a:latin typeface="Tahoma" pitchFamily="34" charset="0"/>
              </a:defRPr>
            </a:lvl2pPr>
            <a:lvl3pPr marL="1143000" indent="-228600">
              <a:spcBef>
                <a:spcPct val="20000"/>
              </a:spcBef>
              <a:buClr>
                <a:schemeClr val="hlink"/>
              </a:buClr>
              <a:buSzPct val="120000"/>
              <a:buChar char="•"/>
              <a:defRPr sz="2400">
                <a:solidFill>
                  <a:schemeClr val="tx1"/>
                </a:solidFill>
                <a:latin typeface="Tahoma" pitchFamily="34" charset="0"/>
              </a:defRPr>
            </a:lvl3pPr>
            <a:lvl4pPr marL="1600200" indent="-228600">
              <a:spcBef>
                <a:spcPct val="20000"/>
              </a:spcBef>
              <a:buFont typeface="Tahoma" pitchFamily="34" charset="0"/>
              <a:buChar char="–"/>
              <a:defRPr sz="2000">
                <a:solidFill>
                  <a:schemeClr val="tx1"/>
                </a:solidFill>
                <a:latin typeface="Tahoma" pitchFamily="34" charset="0"/>
              </a:defRPr>
            </a:lvl4pPr>
            <a:lvl5pPr marL="2057400" indent="-228600">
              <a:spcBef>
                <a:spcPct val="20000"/>
              </a:spcBef>
              <a:buClr>
                <a:schemeClr val="hlink"/>
              </a:buClr>
              <a:buSzPct val="80000"/>
              <a:buFont typeface="Wingdings" pitchFamily="2" charset="2"/>
              <a:buChar char="v"/>
              <a:defRPr sz="20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9pPr>
          </a:lstStyle>
          <a:p>
            <a:pPr>
              <a:spcBef>
                <a:spcPct val="0"/>
              </a:spcBef>
              <a:buClrTx/>
              <a:buSzTx/>
              <a:buFontTx/>
              <a:buNone/>
            </a:pPr>
            <a:endParaRPr lang="en-US" altLang="en-US" sz="1800"/>
          </a:p>
        </p:txBody>
      </p:sp>
      <p:sp>
        <p:nvSpPr>
          <p:cNvPr id="4106" name="AutoShape 1043" descr="Water Pipes Showing Scale build up"/>
          <p:cNvSpPr>
            <a:spLocks noChangeAspect="1" noChangeArrowheads="1"/>
          </p:cNvSpPr>
          <p:nvPr/>
        </p:nvSpPr>
        <p:spPr bwMode="auto">
          <a:xfrm>
            <a:off x="3857625" y="2628900"/>
            <a:ext cx="142875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120000"/>
              <a:buChar char="•"/>
              <a:defRPr sz="3200">
                <a:solidFill>
                  <a:schemeClr val="tx1"/>
                </a:solidFill>
                <a:latin typeface="Tahoma" pitchFamily="34" charset="0"/>
              </a:defRPr>
            </a:lvl1pPr>
            <a:lvl2pPr marL="742950" indent="-285750">
              <a:spcBef>
                <a:spcPct val="20000"/>
              </a:spcBef>
              <a:buFont typeface="Tahoma" pitchFamily="34" charset="0"/>
              <a:buChar char="–"/>
              <a:defRPr sz="2800">
                <a:solidFill>
                  <a:schemeClr val="tx1"/>
                </a:solidFill>
                <a:latin typeface="Tahoma" pitchFamily="34" charset="0"/>
              </a:defRPr>
            </a:lvl2pPr>
            <a:lvl3pPr marL="1143000" indent="-228600">
              <a:spcBef>
                <a:spcPct val="20000"/>
              </a:spcBef>
              <a:buClr>
                <a:schemeClr val="hlink"/>
              </a:buClr>
              <a:buSzPct val="120000"/>
              <a:buChar char="•"/>
              <a:defRPr sz="2400">
                <a:solidFill>
                  <a:schemeClr val="tx1"/>
                </a:solidFill>
                <a:latin typeface="Tahoma" pitchFamily="34" charset="0"/>
              </a:defRPr>
            </a:lvl3pPr>
            <a:lvl4pPr marL="1600200" indent="-228600">
              <a:spcBef>
                <a:spcPct val="20000"/>
              </a:spcBef>
              <a:buFont typeface="Tahoma" pitchFamily="34" charset="0"/>
              <a:buChar char="–"/>
              <a:defRPr sz="2000">
                <a:solidFill>
                  <a:schemeClr val="tx1"/>
                </a:solidFill>
                <a:latin typeface="Tahoma" pitchFamily="34" charset="0"/>
              </a:defRPr>
            </a:lvl4pPr>
            <a:lvl5pPr marL="2057400" indent="-228600">
              <a:spcBef>
                <a:spcPct val="20000"/>
              </a:spcBef>
              <a:buClr>
                <a:schemeClr val="hlink"/>
              </a:buClr>
              <a:buSzPct val="80000"/>
              <a:buFont typeface="Wingdings" pitchFamily="2" charset="2"/>
              <a:buChar char="v"/>
              <a:defRPr sz="20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9pPr>
          </a:lstStyle>
          <a:p>
            <a:pPr>
              <a:spcBef>
                <a:spcPct val="0"/>
              </a:spcBef>
              <a:buClrTx/>
              <a:buSzTx/>
              <a:buFontTx/>
              <a:buNone/>
            </a:pPr>
            <a:endParaRPr lang="en-US" altLang="en-US" sz="1800"/>
          </a:p>
        </p:txBody>
      </p:sp>
      <p:pic>
        <p:nvPicPr>
          <p:cNvPr id="74773" name="Picture 1045" descr="Water Pipes Showing Scale build u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133600"/>
            <a:ext cx="3878263" cy="4343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afterEffect">
                                  <p:stCondLst>
                                    <p:cond delay="0"/>
                                  </p:stCondLst>
                                  <p:iterate type="lt">
                                    <p:tmPct val="5000"/>
                                  </p:iterate>
                                  <p:childTnLst>
                                    <p:set>
                                      <p:cBhvr>
                                        <p:cTn id="6" dur="1" fill="hold">
                                          <p:stCondLst>
                                            <p:cond delay="0"/>
                                          </p:stCondLst>
                                        </p:cTn>
                                        <p:tgtEl>
                                          <p:spTgt spid="74773"/>
                                        </p:tgtEl>
                                        <p:attrNameLst>
                                          <p:attrName>style.visibility</p:attrName>
                                        </p:attrNameLst>
                                      </p:cBhvr>
                                      <p:to>
                                        <p:strVal val="visible"/>
                                      </p:to>
                                    </p:set>
                                    <p:anim calcmode="lin" valueType="num">
                                      <p:cBhvr>
                                        <p:cTn id="7" dur="1000" fill="hold"/>
                                        <p:tgtEl>
                                          <p:spTgt spid="74773"/>
                                        </p:tgtEl>
                                        <p:attrNameLst>
                                          <p:attrName>ppt_w</p:attrName>
                                        </p:attrNameLst>
                                      </p:cBhvr>
                                      <p:tavLst>
                                        <p:tav tm="0">
                                          <p:val>
                                            <p:fltVal val="0"/>
                                          </p:val>
                                        </p:tav>
                                        <p:tav tm="100000">
                                          <p:val>
                                            <p:strVal val="#ppt_w"/>
                                          </p:val>
                                        </p:tav>
                                      </p:tavLst>
                                    </p:anim>
                                    <p:anim calcmode="lin" valueType="num">
                                      <p:cBhvr>
                                        <p:cTn id="8" dur="1000" fill="hold"/>
                                        <p:tgtEl>
                                          <p:spTgt spid="74773"/>
                                        </p:tgtEl>
                                        <p:attrNameLst>
                                          <p:attrName>ppt_h</p:attrName>
                                        </p:attrNameLst>
                                      </p:cBhvr>
                                      <p:tavLst>
                                        <p:tav tm="0">
                                          <p:val>
                                            <p:fltVal val="0"/>
                                          </p:val>
                                        </p:tav>
                                        <p:tav tm="100000">
                                          <p:val>
                                            <p:strVal val="#ppt_h"/>
                                          </p:val>
                                        </p:tav>
                                      </p:tavLst>
                                    </p:anim>
                                    <p:anim calcmode="lin" valueType="num">
                                      <p:cBhvr>
                                        <p:cTn id="9" dur="1000" fill="hold"/>
                                        <p:tgtEl>
                                          <p:spTgt spid="74773"/>
                                        </p:tgtEl>
                                        <p:attrNameLst>
                                          <p:attrName>style.rotation</p:attrName>
                                        </p:attrNameLst>
                                      </p:cBhvr>
                                      <p:tavLst>
                                        <p:tav tm="0">
                                          <p:val>
                                            <p:fltVal val="90"/>
                                          </p:val>
                                        </p:tav>
                                        <p:tav tm="100000">
                                          <p:val>
                                            <p:fltVal val="0"/>
                                          </p:val>
                                        </p:tav>
                                      </p:tavLst>
                                    </p:anim>
                                    <p:animEffect transition="in" filter="fade">
                                      <p:cBhvr>
                                        <p:cTn id="10" dur="1000"/>
                                        <p:tgtEl>
                                          <p:spTgt spid="74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defRPr/>
            </a:pPr>
            <a:r>
              <a:rPr lang="en-US" altLang="en-US" smtClean="0"/>
              <a:t>Problems from Scale Build up</a:t>
            </a:r>
          </a:p>
        </p:txBody>
      </p:sp>
      <p:sp>
        <p:nvSpPr>
          <p:cNvPr id="73731" name="Rectangle 3"/>
          <p:cNvSpPr>
            <a:spLocks noGrp="1" noChangeArrowheads="1"/>
          </p:cNvSpPr>
          <p:nvPr>
            <p:ph type="body" idx="1"/>
          </p:nvPr>
        </p:nvSpPr>
        <p:spPr>
          <a:xfrm>
            <a:off x="457200" y="1600200"/>
            <a:ext cx="8458200" cy="4876800"/>
          </a:xfrm>
        </p:spPr>
        <p:txBody>
          <a:bodyPr/>
          <a:lstStyle/>
          <a:p>
            <a:pPr eaLnBrk="1" hangingPunct="1">
              <a:lnSpc>
                <a:spcPct val="80000"/>
              </a:lnSpc>
              <a:buFontTx/>
              <a:buNone/>
              <a:defRPr/>
            </a:pPr>
            <a:r>
              <a:rPr lang="en-US" altLang="en-US" sz="2400" b="1" smtClean="0"/>
              <a:t>Scale build-up from hard water can cause the following problems:</a:t>
            </a:r>
          </a:p>
          <a:p>
            <a:pPr eaLnBrk="1" hangingPunct="1">
              <a:lnSpc>
                <a:spcPct val="80000"/>
              </a:lnSpc>
              <a:buFontTx/>
              <a:buNone/>
              <a:defRPr/>
            </a:pPr>
            <a:endParaRPr lang="en-US" altLang="en-US" sz="2400" b="1" smtClean="0"/>
          </a:p>
          <a:p>
            <a:pPr lvl="1" eaLnBrk="1" hangingPunct="1">
              <a:lnSpc>
                <a:spcPct val="80000"/>
              </a:lnSpc>
              <a:buFont typeface="Wingdings" pitchFamily="2" charset="2"/>
              <a:buChar char="§"/>
              <a:defRPr/>
            </a:pPr>
            <a:r>
              <a:rPr lang="en-US" altLang="en-US" sz="2400" smtClean="0"/>
              <a:t>Clogged water pipes &amp; reduced water pressure </a:t>
            </a:r>
          </a:p>
          <a:p>
            <a:pPr lvl="1" eaLnBrk="1" hangingPunct="1">
              <a:lnSpc>
                <a:spcPct val="80000"/>
              </a:lnSpc>
              <a:buFont typeface="Wingdings" pitchFamily="2" charset="2"/>
              <a:buChar char="§"/>
              <a:defRPr/>
            </a:pPr>
            <a:endParaRPr lang="en-US" altLang="en-US" sz="1600" smtClean="0"/>
          </a:p>
          <a:p>
            <a:pPr lvl="1" eaLnBrk="1" hangingPunct="1">
              <a:lnSpc>
                <a:spcPct val="80000"/>
              </a:lnSpc>
              <a:buFont typeface="Wingdings" pitchFamily="2" charset="2"/>
              <a:buChar char="§"/>
              <a:defRPr/>
            </a:pPr>
            <a:r>
              <a:rPr lang="en-US" altLang="en-US" sz="2400" smtClean="0"/>
              <a:t>“Frozen</a:t>
            </a:r>
            <a:r>
              <a:rPr lang="en-US" altLang="en-US" sz="2400" i="1" smtClean="0"/>
              <a:t>"</a:t>
            </a:r>
            <a:r>
              <a:rPr lang="en-US" altLang="en-US" sz="2400" smtClean="0"/>
              <a:t> valves on faucets </a:t>
            </a:r>
          </a:p>
          <a:p>
            <a:pPr lvl="1" eaLnBrk="1" hangingPunct="1">
              <a:lnSpc>
                <a:spcPct val="80000"/>
              </a:lnSpc>
              <a:buFont typeface="Wingdings" pitchFamily="2" charset="2"/>
              <a:buChar char="§"/>
              <a:defRPr/>
            </a:pPr>
            <a:endParaRPr lang="en-US" altLang="en-US" sz="1600" smtClean="0"/>
          </a:p>
          <a:p>
            <a:pPr lvl="1" eaLnBrk="1" hangingPunct="1">
              <a:lnSpc>
                <a:spcPct val="80000"/>
              </a:lnSpc>
              <a:buFont typeface="Wingdings" pitchFamily="2" charset="2"/>
              <a:buChar char="§"/>
              <a:defRPr/>
            </a:pPr>
            <a:r>
              <a:rPr lang="en-US" altLang="en-US" sz="2400" smtClean="0"/>
              <a:t>Poor lathering of soaps, detergents, and shampoos</a:t>
            </a:r>
          </a:p>
          <a:p>
            <a:pPr lvl="1" eaLnBrk="1" hangingPunct="1">
              <a:lnSpc>
                <a:spcPct val="80000"/>
              </a:lnSpc>
              <a:buFont typeface="Wingdings" pitchFamily="2" charset="2"/>
              <a:buChar char="§"/>
              <a:defRPr/>
            </a:pPr>
            <a:endParaRPr lang="en-US" altLang="en-US" sz="1600" smtClean="0"/>
          </a:p>
          <a:p>
            <a:pPr lvl="1" eaLnBrk="1" hangingPunct="1">
              <a:lnSpc>
                <a:spcPct val="80000"/>
              </a:lnSpc>
              <a:buFont typeface="Wingdings" pitchFamily="2" charset="2"/>
              <a:buChar char="§"/>
              <a:defRPr/>
            </a:pPr>
            <a:r>
              <a:rPr lang="en-US" altLang="en-US" sz="2400" smtClean="0"/>
              <a:t>Hard-to-remove film on shower tiles and doors </a:t>
            </a:r>
          </a:p>
          <a:p>
            <a:pPr lvl="1" eaLnBrk="1" hangingPunct="1">
              <a:lnSpc>
                <a:spcPct val="80000"/>
              </a:lnSpc>
              <a:buFont typeface="Wingdings" pitchFamily="2" charset="2"/>
              <a:buChar char="§"/>
              <a:defRPr/>
            </a:pPr>
            <a:endParaRPr lang="en-US" altLang="en-US" sz="1600" smtClean="0"/>
          </a:p>
          <a:p>
            <a:pPr lvl="1" eaLnBrk="1" hangingPunct="1">
              <a:lnSpc>
                <a:spcPct val="80000"/>
              </a:lnSpc>
              <a:buFont typeface="Wingdings" pitchFamily="2" charset="2"/>
              <a:buChar char="§"/>
              <a:defRPr/>
            </a:pPr>
            <a:r>
              <a:rPr lang="en-US" altLang="en-US" sz="2400" smtClean="0"/>
              <a:t>Spots and milky clouds on glassware and silverware</a:t>
            </a:r>
            <a:r>
              <a:rPr lang="en-US" altLang="en-US" sz="1600" smtClean="0"/>
              <a:t> </a:t>
            </a:r>
          </a:p>
          <a:p>
            <a:pPr lvl="1" eaLnBrk="1" hangingPunct="1">
              <a:lnSpc>
                <a:spcPct val="80000"/>
              </a:lnSpc>
              <a:buFont typeface="Wingdings" pitchFamily="2" charset="2"/>
              <a:buChar char="§"/>
              <a:defRPr/>
            </a:pPr>
            <a:endParaRPr lang="en-US" altLang="en-US" sz="1600" smtClean="0"/>
          </a:p>
          <a:p>
            <a:pPr lvl="1" eaLnBrk="1" hangingPunct="1">
              <a:lnSpc>
                <a:spcPct val="80000"/>
              </a:lnSpc>
              <a:buFont typeface="Wingdings" pitchFamily="2" charset="2"/>
              <a:buChar char="§"/>
              <a:defRPr/>
            </a:pPr>
            <a:r>
              <a:rPr lang="en-US" altLang="en-US" sz="2400" smtClean="0"/>
              <a:t>Performance decrease in appliances that use water</a:t>
            </a:r>
          </a:p>
          <a:p>
            <a:pPr eaLnBrk="1" hangingPunct="1">
              <a:lnSpc>
                <a:spcPct val="80000"/>
              </a:lnSpc>
              <a:buSzTx/>
              <a:buFont typeface="Wingdings" pitchFamily="2" charset="2"/>
              <a:buChar char="§"/>
              <a:defRPr/>
            </a:pPr>
            <a:endParaRPr lang="en-US" altLang="en-US" sz="2400" smtClean="0"/>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fill="hold" grpId="0" nodeType="afterEffect">
                                  <p:stCondLst>
                                    <p:cond delay="0"/>
                                  </p:stCondLst>
                                  <p:childTnLst>
                                    <p:animRot by="21600000">
                                      <p:cBhvr>
                                        <p:cTn id="6" dur="2000" fill="hold"/>
                                        <p:tgtEl>
                                          <p:spTgt spid="7373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defRPr/>
            </a:pPr>
            <a:r>
              <a:rPr lang="en-US" altLang="en-US" smtClean="0"/>
              <a:t>Film on your glasses?</a:t>
            </a:r>
          </a:p>
        </p:txBody>
      </p:sp>
      <p:sp>
        <p:nvSpPr>
          <p:cNvPr id="82947" name="Rectangle 3"/>
          <p:cNvSpPr>
            <a:spLocks noGrp="1" noChangeArrowheads="1"/>
          </p:cNvSpPr>
          <p:nvPr>
            <p:ph type="body" idx="1"/>
          </p:nvPr>
        </p:nvSpPr>
        <p:spPr>
          <a:xfrm>
            <a:off x="3810000" y="2133600"/>
            <a:ext cx="4876800" cy="3657600"/>
          </a:xfrm>
        </p:spPr>
        <p:txBody>
          <a:bodyPr/>
          <a:lstStyle/>
          <a:p>
            <a:pPr eaLnBrk="1" hangingPunct="1">
              <a:defRPr/>
            </a:pPr>
            <a:r>
              <a:rPr lang="en-US" altLang="en-US" sz="2800" smtClean="0"/>
              <a:t>Scale build up on your glasses &amp; silverware, (as well as inside coffee makers and household pipes) can be reduced by installing GMX water conditioners.</a:t>
            </a:r>
          </a:p>
          <a:p>
            <a:pPr eaLnBrk="1" hangingPunct="1">
              <a:defRPr/>
            </a:pPr>
            <a:endParaRPr lang="en-US" altLang="en-US" sz="2800" smtClean="0"/>
          </a:p>
        </p:txBody>
      </p:sp>
      <p:pic>
        <p:nvPicPr>
          <p:cNvPr id="6148" name="Picture 5" descr="GMX = Sparkling Clean Dish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257425"/>
            <a:ext cx="2366963" cy="30765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26"/>
          <p:cNvSpPr>
            <a:spLocks noGrp="1" noChangeArrowheads="1"/>
          </p:cNvSpPr>
          <p:nvPr>
            <p:ph type="title"/>
          </p:nvPr>
        </p:nvSpPr>
        <p:spPr/>
        <p:txBody>
          <a:bodyPr/>
          <a:lstStyle/>
          <a:p>
            <a:pPr eaLnBrk="1" hangingPunct="1">
              <a:defRPr/>
            </a:pPr>
            <a:r>
              <a:rPr lang="en-US" altLang="en-US" smtClean="0"/>
              <a:t>Want Nicer Hair and Skin?</a:t>
            </a:r>
          </a:p>
        </p:txBody>
      </p:sp>
      <p:sp>
        <p:nvSpPr>
          <p:cNvPr id="83971" name="Rectangle 1027"/>
          <p:cNvSpPr>
            <a:spLocks noGrp="1" noChangeArrowheads="1"/>
          </p:cNvSpPr>
          <p:nvPr>
            <p:ph type="body" idx="1"/>
          </p:nvPr>
        </p:nvSpPr>
        <p:spPr>
          <a:xfrm>
            <a:off x="3276600" y="1905000"/>
            <a:ext cx="5410200" cy="4648200"/>
          </a:xfrm>
        </p:spPr>
        <p:txBody>
          <a:bodyPr/>
          <a:lstStyle/>
          <a:p>
            <a:pPr eaLnBrk="1" hangingPunct="1">
              <a:lnSpc>
                <a:spcPct val="90000"/>
              </a:lnSpc>
              <a:defRPr/>
            </a:pPr>
            <a:r>
              <a:rPr lang="en-US" altLang="en-US" sz="2800" smtClean="0"/>
              <a:t>Softer skin is reported after installing a magnetic water treatment system</a:t>
            </a:r>
          </a:p>
          <a:p>
            <a:pPr eaLnBrk="1" hangingPunct="1">
              <a:lnSpc>
                <a:spcPct val="90000"/>
              </a:lnSpc>
              <a:defRPr/>
            </a:pPr>
            <a:endParaRPr lang="en-US" altLang="en-US" sz="2800" smtClean="0"/>
          </a:p>
          <a:p>
            <a:pPr eaLnBrk="1" hangingPunct="1">
              <a:lnSpc>
                <a:spcPct val="90000"/>
              </a:lnSpc>
              <a:defRPr/>
            </a:pPr>
            <a:r>
              <a:rPr lang="en-US" altLang="en-US" sz="2800" smtClean="0"/>
              <a:t>Use smaller quantities of soaps and shampoos and produce a better lather</a:t>
            </a:r>
          </a:p>
          <a:p>
            <a:pPr eaLnBrk="1" hangingPunct="1">
              <a:lnSpc>
                <a:spcPct val="90000"/>
              </a:lnSpc>
              <a:defRPr/>
            </a:pPr>
            <a:endParaRPr lang="en-US" altLang="en-US" sz="2800" smtClean="0"/>
          </a:p>
          <a:p>
            <a:pPr eaLnBrk="1" hangingPunct="1">
              <a:lnSpc>
                <a:spcPct val="90000"/>
              </a:lnSpc>
              <a:defRPr/>
            </a:pPr>
            <a:r>
              <a:rPr lang="en-US" altLang="en-US" sz="2800" smtClean="0"/>
              <a:t>Using less soap and shampoo rinses cleaner &amp; is better for your skin &amp; hair</a:t>
            </a:r>
          </a:p>
        </p:txBody>
      </p:sp>
      <p:pic>
        <p:nvPicPr>
          <p:cNvPr id="7172" name="Picture 1029" descr="HAIR-WAS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133600"/>
            <a:ext cx="2725034" cy="22891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p:cNvSpPr>
            <a:spLocks noGrp="1" noChangeArrowheads="1"/>
          </p:cNvSpPr>
          <p:nvPr>
            <p:ph type="title"/>
          </p:nvPr>
        </p:nvSpPr>
        <p:spPr/>
        <p:txBody>
          <a:bodyPr/>
          <a:lstStyle/>
          <a:p>
            <a:pPr eaLnBrk="1" hangingPunct="1">
              <a:defRPr/>
            </a:pPr>
            <a:r>
              <a:rPr lang="en-US" altLang="en-US" smtClean="0"/>
              <a:t>Tired of Buying Pool Chemicals?</a:t>
            </a:r>
          </a:p>
        </p:txBody>
      </p:sp>
      <p:sp>
        <p:nvSpPr>
          <p:cNvPr id="81923" name="Rectangle 1027"/>
          <p:cNvSpPr>
            <a:spLocks noGrp="1" noChangeArrowheads="1"/>
          </p:cNvSpPr>
          <p:nvPr>
            <p:ph type="body" idx="1"/>
          </p:nvPr>
        </p:nvSpPr>
        <p:spPr>
          <a:xfrm>
            <a:off x="1066800" y="3276600"/>
            <a:ext cx="7315200" cy="3581400"/>
          </a:xfrm>
        </p:spPr>
        <p:txBody>
          <a:bodyPr/>
          <a:lstStyle/>
          <a:p>
            <a:pPr eaLnBrk="1" hangingPunct="1">
              <a:lnSpc>
                <a:spcPct val="90000"/>
              </a:lnSpc>
              <a:defRPr/>
            </a:pPr>
            <a:r>
              <a:rPr lang="en-US" altLang="en-US" sz="2800" smtClean="0"/>
              <a:t>Magnetic Water Conditioners reduce the need for pool chemicals up to 75%.</a:t>
            </a:r>
          </a:p>
          <a:p>
            <a:pPr eaLnBrk="1" hangingPunct="1">
              <a:lnSpc>
                <a:spcPct val="90000"/>
              </a:lnSpc>
              <a:defRPr/>
            </a:pPr>
            <a:endParaRPr lang="en-US" altLang="en-US" sz="2800" smtClean="0"/>
          </a:p>
          <a:p>
            <a:pPr eaLnBrk="1" hangingPunct="1">
              <a:lnSpc>
                <a:spcPct val="90000"/>
              </a:lnSpc>
              <a:defRPr/>
            </a:pPr>
            <a:r>
              <a:rPr lang="en-US" altLang="en-US" sz="2800" smtClean="0"/>
              <a:t>“We used to spend almost $100 per month on chemicals for our pool, since installing the magnets, our chemical bill averages $17 per month,” says a pool and spa owner in New Mexico.</a:t>
            </a:r>
          </a:p>
        </p:txBody>
      </p:sp>
      <p:pic>
        <p:nvPicPr>
          <p:cNvPr id="8196" name="Picture 1029" descr="clear-blue-swimming-po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524000"/>
            <a:ext cx="2343150" cy="15430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026"/>
          <p:cNvSpPr>
            <a:spLocks noGrp="1" noChangeArrowheads="1"/>
          </p:cNvSpPr>
          <p:nvPr>
            <p:ph type="title"/>
          </p:nvPr>
        </p:nvSpPr>
        <p:spPr/>
        <p:txBody>
          <a:bodyPr/>
          <a:lstStyle/>
          <a:p>
            <a:pPr eaLnBrk="1" hangingPunct="1">
              <a:defRPr/>
            </a:pPr>
            <a:r>
              <a:rPr lang="en-US" altLang="en-US" smtClean="0"/>
              <a:t>Water Heating</a:t>
            </a:r>
          </a:p>
        </p:txBody>
      </p:sp>
      <p:sp>
        <p:nvSpPr>
          <p:cNvPr id="79875" name="Rectangle 1027"/>
          <p:cNvSpPr>
            <a:spLocks noGrp="1" noChangeArrowheads="1"/>
          </p:cNvSpPr>
          <p:nvPr>
            <p:ph type="body" idx="1"/>
          </p:nvPr>
        </p:nvSpPr>
        <p:spPr>
          <a:xfrm>
            <a:off x="609600" y="1828800"/>
            <a:ext cx="5562600" cy="5181600"/>
          </a:xfrm>
        </p:spPr>
        <p:txBody>
          <a:bodyPr/>
          <a:lstStyle/>
          <a:p>
            <a:pPr eaLnBrk="1" hangingPunct="1">
              <a:defRPr/>
            </a:pPr>
            <a:r>
              <a:rPr lang="en-US" altLang="en-US" sz="2400" smtClean="0"/>
              <a:t>According to the U.S. Bureau of Standards, a 1/4-inch layer of scale results in a whopping 40 percent increase in energy costs. By making these appliances more efficient, you save energy dollars.</a:t>
            </a:r>
          </a:p>
          <a:p>
            <a:pPr eaLnBrk="1" hangingPunct="1">
              <a:defRPr/>
            </a:pPr>
            <a:endParaRPr lang="en-US" altLang="en-US" sz="2400" smtClean="0"/>
          </a:p>
          <a:p>
            <a:pPr eaLnBrk="1" hangingPunct="1">
              <a:defRPr/>
            </a:pPr>
            <a:r>
              <a:rPr lang="en-US" altLang="en-US" sz="2400" smtClean="0"/>
              <a:t>GMX conditioners reduce the scale build-ups that can drastically effect the efficiency of water heaters.</a:t>
            </a:r>
            <a:endParaRPr lang="en-US" altLang="en-US" sz="2800" smtClean="0"/>
          </a:p>
        </p:txBody>
      </p:sp>
      <p:pic>
        <p:nvPicPr>
          <p:cNvPr id="9220" name="Picture 1029" descr="water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81000"/>
            <a:ext cx="2559050" cy="6096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defRPr/>
            </a:pPr>
            <a:r>
              <a:rPr lang="en-US" altLang="en-US" b="1" smtClean="0"/>
              <a:t>Costs of Scale Build Up</a:t>
            </a:r>
          </a:p>
        </p:txBody>
      </p:sp>
      <p:sp>
        <p:nvSpPr>
          <p:cNvPr id="72707" name="Rectangle 3"/>
          <p:cNvSpPr>
            <a:spLocks noGrp="1" noChangeArrowheads="1"/>
          </p:cNvSpPr>
          <p:nvPr>
            <p:ph type="body" idx="1"/>
          </p:nvPr>
        </p:nvSpPr>
        <p:spPr>
          <a:xfrm>
            <a:off x="533400" y="1600200"/>
            <a:ext cx="8077200" cy="4724400"/>
          </a:xfrm>
        </p:spPr>
        <p:txBody>
          <a:bodyPr/>
          <a:lstStyle/>
          <a:p>
            <a:pPr eaLnBrk="1" hangingPunct="1">
              <a:lnSpc>
                <a:spcPct val="90000"/>
              </a:lnSpc>
              <a:defRPr/>
            </a:pPr>
            <a:r>
              <a:rPr lang="en-US" altLang="en-US" sz="2800" smtClean="0"/>
              <a:t>The estimated energy cost for running a 40-gallon electric hot water heater is $450 each year. </a:t>
            </a:r>
          </a:p>
          <a:p>
            <a:pPr eaLnBrk="1" hangingPunct="1">
              <a:lnSpc>
                <a:spcPct val="80000"/>
              </a:lnSpc>
              <a:buFontTx/>
              <a:buNone/>
              <a:defRPr/>
            </a:pPr>
            <a:endParaRPr lang="en-US" altLang="en-US" sz="2800" smtClean="0"/>
          </a:p>
          <a:p>
            <a:pPr eaLnBrk="1" hangingPunct="1">
              <a:lnSpc>
                <a:spcPct val="90000"/>
              </a:lnSpc>
              <a:defRPr/>
            </a:pPr>
            <a:r>
              <a:rPr lang="en-US" altLang="en-US" sz="2800" smtClean="0"/>
              <a:t>A scale build up of just 3/8" gobbles up 55 percent more energy, according to the U.S. Bureau of Standards. </a:t>
            </a:r>
          </a:p>
          <a:p>
            <a:pPr eaLnBrk="1" hangingPunct="1">
              <a:lnSpc>
                <a:spcPct val="80000"/>
              </a:lnSpc>
              <a:buFontTx/>
              <a:buNone/>
              <a:defRPr/>
            </a:pPr>
            <a:endParaRPr lang="en-US" altLang="en-US" sz="2800" smtClean="0"/>
          </a:p>
          <a:p>
            <a:pPr eaLnBrk="1" hangingPunct="1">
              <a:lnSpc>
                <a:spcPct val="90000"/>
              </a:lnSpc>
              <a:defRPr/>
            </a:pPr>
            <a:r>
              <a:rPr lang="en-US" altLang="en-US" sz="2800" smtClean="0"/>
              <a:t>That's an additional $247 more each year to produce the same amount of hot water, for a total of $697.</a:t>
            </a:r>
          </a:p>
        </p:txBody>
      </p:sp>
    </p:spTree>
  </p:cSld>
  <p:clrMapOvr>
    <a:masterClrMapping/>
  </p:clrMapOvr>
  <p:transition spd="med">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26"/>
          <p:cNvSpPr>
            <a:spLocks noGrp="1" noChangeArrowheads="1"/>
          </p:cNvSpPr>
          <p:nvPr>
            <p:ph type="title"/>
          </p:nvPr>
        </p:nvSpPr>
        <p:spPr/>
        <p:txBody>
          <a:bodyPr/>
          <a:lstStyle/>
          <a:p>
            <a:pPr eaLnBrk="1" hangingPunct="1">
              <a:defRPr/>
            </a:pPr>
            <a:r>
              <a:rPr lang="en-US" altLang="en-US" b="1" u="sng" smtClean="0"/>
              <a:t>No Ongoing Costs</a:t>
            </a:r>
            <a:r>
              <a:rPr lang="en-US" altLang="en-US" smtClean="0"/>
              <a:t> </a:t>
            </a:r>
          </a:p>
        </p:txBody>
      </p:sp>
      <p:sp>
        <p:nvSpPr>
          <p:cNvPr id="78851" name="Rectangle 1027"/>
          <p:cNvSpPr>
            <a:spLocks noGrp="1" noChangeArrowheads="1"/>
          </p:cNvSpPr>
          <p:nvPr>
            <p:ph type="body" idx="1"/>
          </p:nvPr>
        </p:nvSpPr>
        <p:spPr>
          <a:xfrm>
            <a:off x="762000" y="1905000"/>
            <a:ext cx="7924800" cy="4114800"/>
          </a:xfrm>
        </p:spPr>
        <p:txBody>
          <a:bodyPr/>
          <a:lstStyle/>
          <a:p>
            <a:pPr eaLnBrk="1" hangingPunct="1">
              <a:lnSpc>
                <a:spcPct val="90000"/>
              </a:lnSpc>
              <a:defRPr/>
            </a:pPr>
            <a:r>
              <a:rPr lang="en-US" altLang="en-US" sz="2400" smtClean="0"/>
              <a:t>Water softeners consume over 800 pounds of salt each year. GMX conditioners use no salt. </a:t>
            </a:r>
          </a:p>
          <a:p>
            <a:pPr eaLnBrk="1" hangingPunct="1">
              <a:lnSpc>
                <a:spcPct val="90000"/>
              </a:lnSpc>
              <a:buFontTx/>
              <a:buNone/>
              <a:defRPr/>
            </a:pPr>
            <a:endParaRPr lang="en-US" altLang="en-US" sz="2400" smtClean="0"/>
          </a:p>
          <a:p>
            <a:pPr eaLnBrk="1" hangingPunct="1">
              <a:lnSpc>
                <a:spcPct val="90000"/>
              </a:lnSpc>
              <a:defRPr/>
            </a:pPr>
            <a:r>
              <a:rPr lang="en-US" altLang="en-US" sz="2400" smtClean="0"/>
              <a:t>Water softeners also require significant amounts of electricity, as well as extra water for backwashing (up to 10,000 gallons a year.) GMX conditioners use no electricity. </a:t>
            </a:r>
          </a:p>
          <a:p>
            <a:pPr eaLnBrk="1" hangingPunct="1">
              <a:lnSpc>
                <a:spcPct val="90000"/>
              </a:lnSpc>
              <a:buFontTx/>
              <a:buNone/>
              <a:defRPr/>
            </a:pPr>
            <a:endParaRPr lang="en-US" altLang="en-US" sz="2400" smtClean="0"/>
          </a:p>
          <a:p>
            <a:pPr eaLnBrk="1" hangingPunct="1">
              <a:lnSpc>
                <a:spcPct val="90000"/>
              </a:lnSpc>
              <a:defRPr/>
            </a:pPr>
            <a:r>
              <a:rPr lang="en-US" altLang="en-US" sz="2400" smtClean="0"/>
              <a:t>With GMX conditioners you can save money by reducing the amount of soaps and detergents you use for clothing, dishes and bathing including shampoos. </a:t>
            </a:r>
            <a:endParaRPr lang="en-US" altLang="en-US" sz="2800" smtClean="0"/>
          </a:p>
        </p:txBody>
      </p:sp>
    </p:spTree>
  </p:cSld>
  <p:clrMapOvr>
    <a:masterClrMapping/>
  </p:clrMapOvr>
  <p:transition spd="med">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defRPr/>
            </a:pPr>
            <a:r>
              <a:rPr lang="en-US" altLang="en-US" smtClean="0"/>
              <a:t>The Solution:</a:t>
            </a:r>
          </a:p>
        </p:txBody>
      </p:sp>
      <p:sp>
        <p:nvSpPr>
          <p:cNvPr id="12291" name="Text Box 4"/>
          <p:cNvSpPr txBox="1">
            <a:spLocks noChangeArrowheads="1"/>
          </p:cNvSpPr>
          <p:nvPr/>
        </p:nvSpPr>
        <p:spPr bwMode="auto">
          <a:xfrm>
            <a:off x="6702425" y="2514600"/>
            <a:ext cx="460375"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hlink"/>
              </a:buClr>
              <a:buSzPct val="120000"/>
              <a:buChar char="•"/>
              <a:defRPr sz="3200">
                <a:solidFill>
                  <a:schemeClr val="tx1"/>
                </a:solidFill>
                <a:latin typeface="Tahoma" pitchFamily="34" charset="0"/>
              </a:defRPr>
            </a:lvl1pPr>
            <a:lvl2pPr marL="742950" indent="-285750">
              <a:spcBef>
                <a:spcPct val="20000"/>
              </a:spcBef>
              <a:buFont typeface="Tahoma" pitchFamily="34" charset="0"/>
              <a:buChar char="–"/>
              <a:defRPr sz="2800">
                <a:solidFill>
                  <a:schemeClr val="tx1"/>
                </a:solidFill>
                <a:latin typeface="Tahoma" pitchFamily="34" charset="0"/>
              </a:defRPr>
            </a:lvl2pPr>
            <a:lvl3pPr marL="1143000" indent="-228600">
              <a:spcBef>
                <a:spcPct val="20000"/>
              </a:spcBef>
              <a:buClr>
                <a:schemeClr val="hlink"/>
              </a:buClr>
              <a:buSzPct val="120000"/>
              <a:buChar char="•"/>
              <a:defRPr sz="2400">
                <a:solidFill>
                  <a:schemeClr val="tx1"/>
                </a:solidFill>
                <a:latin typeface="Tahoma" pitchFamily="34" charset="0"/>
              </a:defRPr>
            </a:lvl3pPr>
            <a:lvl4pPr marL="1600200" indent="-228600">
              <a:spcBef>
                <a:spcPct val="20000"/>
              </a:spcBef>
              <a:buFont typeface="Tahoma" pitchFamily="34" charset="0"/>
              <a:buChar char="–"/>
              <a:defRPr sz="2000">
                <a:solidFill>
                  <a:schemeClr val="tx1"/>
                </a:solidFill>
                <a:latin typeface="Tahoma" pitchFamily="34" charset="0"/>
              </a:defRPr>
            </a:lvl4pPr>
            <a:lvl5pPr marL="2057400" indent="-228600">
              <a:spcBef>
                <a:spcPct val="20000"/>
              </a:spcBef>
              <a:buClr>
                <a:schemeClr val="hlink"/>
              </a:buClr>
              <a:buSzPct val="80000"/>
              <a:buFont typeface="Wingdings" pitchFamily="2" charset="2"/>
              <a:buChar char="v"/>
              <a:defRPr sz="20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9pPr>
          </a:lstStyle>
          <a:p>
            <a:pPr>
              <a:spcBef>
                <a:spcPct val="50000"/>
              </a:spcBef>
              <a:buClrTx/>
              <a:buSzTx/>
              <a:buFontTx/>
              <a:buNone/>
            </a:pPr>
            <a:endParaRPr lang="en-US" altLang="en-US" sz="1800"/>
          </a:p>
        </p:txBody>
      </p:sp>
      <p:sp>
        <p:nvSpPr>
          <p:cNvPr id="84997" name="Text Box 5"/>
          <p:cNvSpPr txBox="1">
            <a:spLocks noChangeArrowheads="1"/>
          </p:cNvSpPr>
          <p:nvPr/>
        </p:nvSpPr>
        <p:spPr bwMode="auto">
          <a:xfrm>
            <a:off x="457200" y="2438400"/>
            <a:ext cx="82296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120000"/>
              <a:buChar char="•"/>
              <a:defRPr sz="3200">
                <a:solidFill>
                  <a:schemeClr val="tx1"/>
                </a:solidFill>
                <a:latin typeface="Tahoma" pitchFamily="34" charset="0"/>
              </a:defRPr>
            </a:lvl1pPr>
            <a:lvl2pPr marL="742950" indent="-285750">
              <a:spcBef>
                <a:spcPct val="20000"/>
              </a:spcBef>
              <a:buFont typeface="Tahoma" pitchFamily="34" charset="0"/>
              <a:buChar char="–"/>
              <a:defRPr sz="2800">
                <a:solidFill>
                  <a:schemeClr val="tx1"/>
                </a:solidFill>
                <a:latin typeface="Tahoma" pitchFamily="34" charset="0"/>
              </a:defRPr>
            </a:lvl2pPr>
            <a:lvl3pPr marL="1143000" indent="-228600">
              <a:spcBef>
                <a:spcPct val="20000"/>
              </a:spcBef>
              <a:buClr>
                <a:schemeClr val="hlink"/>
              </a:buClr>
              <a:buSzPct val="120000"/>
              <a:buChar char="•"/>
              <a:defRPr sz="2400">
                <a:solidFill>
                  <a:schemeClr val="tx1"/>
                </a:solidFill>
                <a:latin typeface="Tahoma" pitchFamily="34" charset="0"/>
              </a:defRPr>
            </a:lvl3pPr>
            <a:lvl4pPr marL="1600200" indent="-228600">
              <a:spcBef>
                <a:spcPct val="20000"/>
              </a:spcBef>
              <a:buFont typeface="Tahoma" pitchFamily="34" charset="0"/>
              <a:buChar char="–"/>
              <a:defRPr sz="2000">
                <a:solidFill>
                  <a:schemeClr val="tx1"/>
                </a:solidFill>
                <a:latin typeface="Tahoma" pitchFamily="34" charset="0"/>
              </a:defRPr>
            </a:lvl4pPr>
            <a:lvl5pPr marL="2057400" indent="-228600">
              <a:spcBef>
                <a:spcPct val="20000"/>
              </a:spcBef>
              <a:buClr>
                <a:schemeClr val="hlink"/>
              </a:buClr>
              <a:buSzPct val="80000"/>
              <a:buFont typeface="Wingdings" pitchFamily="2" charset="2"/>
              <a:buChar char="v"/>
              <a:defRPr sz="20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80000"/>
              <a:buFont typeface="Wingdings" pitchFamily="2" charset="2"/>
              <a:buChar char="v"/>
              <a:defRPr sz="2000">
                <a:solidFill>
                  <a:schemeClr val="tx1"/>
                </a:solidFill>
                <a:latin typeface="Tahoma" pitchFamily="34" charset="0"/>
              </a:defRPr>
            </a:lvl9pPr>
          </a:lstStyle>
          <a:p>
            <a:pPr>
              <a:spcBef>
                <a:spcPct val="50000"/>
              </a:spcBef>
              <a:buClrTx/>
              <a:buSzTx/>
              <a:buFontTx/>
              <a:buNone/>
            </a:pPr>
            <a:r>
              <a:rPr lang="en-US" altLang="en-US" sz="8000" b="1">
                <a:solidFill>
                  <a:schemeClr val="hlink"/>
                </a:solidFill>
                <a:latin typeface="Speed Demon" pitchFamily="2" charset="0"/>
              </a:rPr>
              <a:t>GMX Magnetics!</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0" presetClass="entr" presetSubtype="0" fill="hold" grpId="0" nodeType="afterEffect">
                                  <p:stCondLst>
                                    <p:cond delay="0"/>
                                  </p:stCondLst>
                                  <p:iterate type="lt">
                                    <p:tmPct val="10000"/>
                                  </p:iterate>
                                  <p:childTnLst>
                                    <p:set>
                                      <p:cBhvr>
                                        <p:cTn id="6" dur="1" fill="hold">
                                          <p:stCondLst>
                                            <p:cond delay="0"/>
                                          </p:stCondLst>
                                        </p:cTn>
                                        <p:tgtEl>
                                          <p:spTgt spid="84997"/>
                                        </p:tgtEl>
                                        <p:attrNameLst>
                                          <p:attrName>style.visibility</p:attrName>
                                        </p:attrNameLst>
                                      </p:cBhvr>
                                      <p:to>
                                        <p:strVal val="visible"/>
                                      </p:to>
                                    </p:set>
                                    <p:animEffect transition="in" filter="fade">
                                      <p:cBhvr>
                                        <p:cTn id="7" dur="1000"/>
                                        <p:tgtEl>
                                          <p:spTgt spid="84997"/>
                                        </p:tgtEl>
                                      </p:cBhvr>
                                    </p:animEffect>
                                    <p:anim calcmode="lin" valueType="num">
                                      <p:cBhvr>
                                        <p:cTn id="8" dur="1000" fill="hold"/>
                                        <p:tgtEl>
                                          <p:spTgt spid="84997"/>
                                        </p:tgtEl>
                                        <p:attrNameLst>
                                          <p:attrName>ppt_x</p:attrName>
                                        </p:attrNameLst>
                                      </p:cBhvr>
                                      <p:tavLst>
                                        <p:tav tm="0">
                                          <p:val>
                                            <p:strVal val="#ppt_x-.1"/>
                                          </p:val>
                                        </p:tav>
                                        <p:tav tm="100000">
                                          <p:val>
                                            <p:strVal val="#ppt_x"/>
                                          </p:val>
                                        </p:tav>
                                      </p:tavLst>
                                    </p:anim>
                                    <p:anim calcmode="lin" valueType="num">
                                      <p:cBhvr>
                                        <p:cTn id="9" dur="1000" fill="hold"/>
                                        <p:tgtEl>
                                          <p:spTgt spid="849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26"/>
          <p:cNvSpPr>
            <a:spLocks noGrp="1" noChangeArrowheads="1"/>
          </p:cNvSpPr>
          <p:nvPr>
            <p:ph type="title"/>
          </p:nvPr>
        </p:nvSpPr>
        <p:spPr/>
        <p:txBody>
          <a:bodyPr/>
          <a:lstStyle/>
          <a:p>
            <a:pPr eaLnBrk="1" hangingPunct="1">
              <a:defRPr/>
            </a:pPr>
            <a:r>
              <a:rPr lang="en-US" altLang="en-US" smtClean="0"/>
              <a:t>Magnetically Treated Water</a:t>
            </a:r>
          </a:p>
        </p:txBody>
      </p:sp>
      <p:sp>
        <p:nvSpPr>
          <p:cNvPr id="75779" name="Rectangle 1027"/>
          <p:cNvSpPr>
            <a:spLocks noGrp="1" noChangeArrowheads="1"/>
          </p:cNvSpPr>
          <p:nvPr>
            <p:ph type="body" idx="1"/>
          </p:nvPr>
        </p:nvSpPr>
        <p:spPr>
          <a:xfrm>
            <a:off x="4038600" y="2057400"/>
            <a:ext cx="4648200" cy="4038600"/>
          </a:xfrm>
        </p:spPr>
        <p:txBody>
          <a:bodyPr/>
          <a:lstStyle/>
          <a:p>
            <a:pPr eaLnBrk="1" hangingPunct="1">
              <a:lnSpc>
                <a:spcPct val="80000"/>
              </a:lnSpc>
              <a:defRPr/>
            </a:pPr>
            <a:r>
              <a:rPr lang="en-US" altLang="en-US" sz="2200" smtClean="0"/>
              <a:t>Typical scale and calcium build-up caused by untreated water has almost closed this pipe.</a:t>
            </a:r>
          </a:p>
          <a:p>
            <a:pPr eaLnBrk="1" hangingPunct="1">
              <a:lnSpc>
                <a:spcPct val="80000"/>
              </a:lnSpc>
              <a:buFontTx/>
              <a:buNone/>
              <a:defRPr/>
            </a:pPr>
            <a:endParaRPr lang="en-US" altLang="en-US" sz="2200" smtClean="0"/>
          </a:p>
          <a:p>
            <a:pPr eaLnBrk="1" hangingPunct="1">
              <a:lnSpc>
                <a:spcPct val="80000"/>
              </a:lnSpc>
              <a:defRPr/>
            </a:pPr>
            <a:r>
              <a:rPr lang="en-US" altLang="en-US" sz="2200" smtClean="0"/>
              <a:t>This photo shows the effect of magnetically treated water on the same section of pipe a short time after the installation.</a:t>
            </a:r>
          </a:p>
          <a:p>
            <a:pPr eaLnBrk="1" hangingPunct="1">
              <a:lnSpc>
                <a:spcPct val="80000"/>
              </a:lnSpc>
              <a:buFontTx/>
              <a:buNone/>
              <a:defRPr/>
            </a:pPr>
            <a:endParaRPr lang="en-US" altLang="en-US" sz="2200" smtClean="0"/>
          </a:p>
          <a:p>
            <a:pPr eaLnBrk="1" hangingPunct="1">
              <a:lnSpc>
                <a:spcPct val="80000"/>
              </a:lnSpc>
              <a:defRPr/>
            </a:pPr>
            <a:r>
              <a:rPr lang="en-US" altLang="en-US" sz="2200" smtClean="0"/>
              <a:t>After continual treatment, most scale is removed and will be prevented as long as the system is in operation.</a:t>
            </a:r>
          </a:p>
          <a:p>
            <a:pPr eaLnBrk="1" hangingPunct="1">
              <a:lnSpc>
                <a:spcPct val="80000"/>
              </a:lnSpc>
              <a:defRPr/>
            </a:pPr>
            <a:endParaRPr lang="en-US" altLang="en-US" sz="2200" smtClean="0"/>
          </a:p>
          <a:p>
            <a:pPr eaLnBrk="1" hangingPunct="1">
              <a:lnSpc>
                <a:spcPct val="80000"/>
              </a:lnSpc>
              <a:defRPr/>
            </a:pPr>
            <a:endParaRPr lang="en-US" altLang="en-US" sz="2400" smtClean="0"/>
          </a:p>
        </p:txBody>
      </p:sp>
      <p:pic>
        <p:nvPicPr>
          <p:cNvPr id="75781" name="Picture 1029" descr="gmxpip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05000"/>
            <a:ext cx="1428750" cy="1219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75783" name="Picture 1031" descr="gmxpip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276600"/>
            <a:ext cx="1428750" cy="1219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75785" name="Picture 1033" descr="gmxpipe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4724400"/>
            <a:ext cx="1428750" cy="1219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afterEffect">
                                  <p:stCondLst>
                                    <p:cond delay="1000"/>
                                  </p:stCondLst>
                                  <p:iterate type="lt">
                                    <p:tmPct val="5000"/>
                                  </p:iterate>
                                  <p:childTnLst>
                                    <p:set>
                                      <p:cBhvr>
                                        <p:cTn id="6" dur="1" fill="hold">
                                          <p:stCondLst>
                                            <p:cond delay="0"/>
                                          </p:stCondLst>
                                        </p:cTn>
                                        <p:tgtEl>
                                          <p:spTgt spid="75781"/>
                                        </p:tgtEl>
                                        <p:attrNameLst>
                                          <p:attrName>style.visibility</p:attrName>
                                        </p:attrNameLst>
                                      </p:cBhvr>
                                      <p:to>
                                        <p:strVal val="visible"/>
                                      </p:to>
                                    </p:set>
                                    <p:anim calcmode="lin" valueType="num">
                                      <p:cBhvr>
                                        <p:cTn id="7" dur="1000" fill="hold"/>
                                        <p:tgtEl>
                                          <p:spTgt spid="75781"/>
                                        </p:tgtEl>
                                        <p:attrNameLst>
                                          <p:attrName>ppt_w</p:attrName>
                                        </p:attrNameLst>
                                      </p:cBhvr>
                                      <p:tavLst>
                                        <p:tav tm="0">
                                          <p:val>
                                            <p:fltVal val="0"/>
                                          </p:val>
                                        </p:tav>
                                        <p:tav tm="100000">
                                          <p:val>
                                            <p:strVal val="#ppt_w"/>
                                          </p:val>
                                        </p:tav>
                                      </p:tavLst>
                                    </p:anim>
                                    <p:anim calcmode="lin" valueType="num">
                                      <p:cBhvr>
                                        <p:cTn id="8" dur="1000" fill="hold"/>
                                        <p:tgtEl>
                                          <p:spTgt spid="75781"/>
                                        </p:tgtEl>
                                        <p:attrNameLst>
                                          <p:attrName>ppt_h</p:attrName>
                                        </p:attrNameLst>
                                      </p:cBhvr>
                                      <p:tavLst>
                                        <p:tav tm="0">
                                          <p:val>
                                            <p:fltVal val="0"/>
                                          </p:val>
                                        </p:tav>
                                        <p:tav tm="100000">
                                          <p:val>
                                            <p:strVal val="#ppt_h"/>
                                          </p:val>
                                        </p:tav>
                                      </p:tavLst>
                                    </p:anim>
                                    <p:anim calcmode="lin" valueType="num">
                                      <p:cBhvr>
                                        <p:cTn id="9" dur="1000" fill="hold"/>
                                        <p:tgtEl>
                                          <p:spTgt spid="75781"/>
                                        </p:tgtEl>
                                        <p:attrNameLst>
                                          <p:attrName>style.rotation</p:attrName>
                                        </p:attrNameLst>
                                      </p:cBhvr>
                                      <p:tavLst>
                                        <p:tav tm="0">
                                          <p:val>
                                            <p:fltVal val="90"/>
                                          </p:val>
                                        </p:tav>
                                        <p:tav tm="100000">
                                          <p:val>
                                            <p:fltVal val="0"/>
                                          </p:val>
                                        </p:tav>
                                      </p:tavLst>
                                    </p:anim>
                                    <p:animEffect transition="in" filter="fade">
                                      <p:cBhvr>
                                        <p:cTn id="10" dur="1000"/>
                                        <p:tgtEl>
                                          <p:spTgt spid="75781"/>
                                        </p:tgtEl>
                                      </p:cBhvr>
                                    </p:animEffect>
                                  </p:childTnLst>
                                </p:cTn>
                              </p:par>
                            </p:childTnLst>
                          </p:cTn>
                        </p:par>
                        <p:par>
                          <p:cTn id="11" fill="hold" nodeType="afterGroup">
                            <p:stCondLst>
                              <p:cond delay="2000"/>
                            </p:stCondLst>
                            <p:childTnLst>
                              <p:par>
                                <p:cTn id="12" presetID="31" presetClass="entr" presetSubtype="0" fill="hold" nodeType="afterEffect">
                                  <p:stCondLst>
                                    <p:cond delay="1000"/>
                                  </p:stCondLst>
                                  <p:iterate type="lt">
                                    <p:tmPct val="5000"/>
                                  </p:iterate>
                                  <p:childTnLst>
                                    <p:set>
                                      <p:cBhvr>
                                        <p:cTn id="13" dur="1" fill="hold">
                                          <p:stCondLst>
                                            <p:cond delay="0"/>
                                          </p:stCondLst>
                                        </p:cTn>
                                        <p:tgtEl>
                                          <p:spTgt spid="75783"/>
                                        </p:tgtEl>
                                        <p:attrNameLst>
                                          <p:attrName>style.visibility</p:attrName>
                                        </p:attrNameLst>
                                      </p:cBhvr>
                                      <p:to>
                                        <p:strVal val="visible"/>
                                      </p:to>
                                    </p:set>
                                    <p:anim calcmode="lin" valueType="num">
                                      <p:cBhvr>
                                        <p:cTn id="14" dur="1000" fill="hold"/>
                                        <p:tgtEl>
                                          <p:spTgt spid="75783"/>
                                        </p:tgtEl>
                                        <p:attrNameLst>
                                          <p:attrName>ppt_w</p:attrName>
                                        </p:attrNameLst>
                                      </p:cBhvr>
                                      <p:tavLst>
                                        <p:tav tm="0">
                                          <p:val>
                                            <p:fltVal val="0"/>
                                          </p:val>
                                        </p:tav>
                                        <p:tav tm="100000">
                                          <p:val>
                                            <p:strVal val="#ppt_w"/>
                                          </p:val>
                                        </p:tav>
                                      </p:tavLst>
                                    </p:anim>
                                    <p:anim calcmode="lin" valueType="num">
                                      <p:cBhvr>
                                        <p:cTn id="15" dur="1000" fill="hold"/>
                                        <p:tgtEl>
                                          <p:spTgt spid="75783"/>
                                        </p:tgtEl>
                                        <p:attrNameLst>
                                          <p:attrName>ppt_h</p:attrName>
                                        </p:attrNameLst>
                                      </p:cBhvr>
                                      <p:tavLst>
                                        <p:tav tm="0">
                                          <p:val>
                                            <p:fltVal val="0"/>
                                          </p:val>
                                        </p:tav>
                                        <p:tav tm="100000">
                                          <p:val>
                                            <p:strVal val="#ppt_h"/>
                                          </p:val>
                                        </p:tav>
                                      </p:tavLst>
                                    </p:anim>
                                    <p:anim calcmode="lin" valueType="num">
                                      <p:cBhvr>
                                        <p:cTn id="16" dur="1000" fill="hold"/>
                                        <p:tgtEl>
                                          <p:spTgt spid="75783"/>
                                        </p:tgtEl>
                                        <p:attrNameLst>
                                          <p:attrName>style.rotation</p:attrName>
                                        </p:attrNameLst>
                                      </p:cBhvr>
                                      <p:tavLst>
                                        <p:tav tm="0">
                                          <p:val>
                                            <p:fltVal val="90"/>
                                          </p:val>
                                        </p:tav>
                                        <p:tav tm="100000">
                                          <p:val>
                                            <p:fltVal val="0"/>
                                          </p:val>
                                        </p:tav>
                                      </p:tavLst>
                                    </p:anim>
                                    <p:animEffect transition="in" filter="fade">
                                      <p:cBhvr>
                                        <p:cTn id="17" dur="1000"/>
                                        <p:tgtEl>
                                          <p:spTgt spid="75783"/>
                                        </p:tgtEl>
                                      </p:cBhvr>
                                    </p:animEffect>
                                  </p:childTnLst>
                                </p:cTn>
                              </p:par>
                            </p:childTnLst>
                          </p:cTn>
                        </p:par>
                        <p:par>
                          <p:cTn id="18" fill="hold" nodeType="afterGroup">
                            <p:stCondLst>
                              <p:cond delay="4000"/>
                            </p:stCondLst>
                            <p:childTnLst>
                              <p:par>
                                <p:cTn id="19" presetID="31" presetClass="entr" presetSubtype="0" fill="hold" nodeType="afterEffect">
                                  <p:stCondLst>
                                    <p:cond delay="0"/>
                                  </p:stCondLst>
                                  <p:iterate type="lt">
                                    <p:tmPct val="5000"/>
                                  </p:iterate>
                                  <p:childTnLst>
                                    <p:set>
                                      <p:cBhvr>
                                        <p:cTn id="20" dur="1" fill="hold">
                                          <p:stCondLst>
                                            <p:cond delay="0"/>
                                          </p:stCondLst>
                                        </p:cTn>
                                        <p:tgtEl>
                                          <p:spTgt spid="75785"/>
                                        </p:tgtEl>
                                        <p:attrNameLst>
                                          <p:attrName>style.visibility</p:attrName>
                                        </p:attrNameLst>
                                      </p:cBhvr>
                                      <p:to>
                                        <p:strVal val="visible"/>
                                      </p:to>
                                    </p:set>
                                    <p:anim calcmode="lin" valueType="num">
                                      <p:cBhvr>
                                        <p:cTn id="21" dur="1000" fill="hold"/>
                                        <p:tgtEl>
                                          <p:spTgt spid="75785"/>
                                        </p:tgtEl>
                                        <p:attrNameLst>
                                          <p:attrName>ppt_w</p:attrName>
                                        </p:attrNameLst>
                                      </p:cBhvr>
                                      <p:tavLst>
                                        <p:tav tm="0">
                                          <p:val>
                                            <p:fltVal val="0"/>
                                          </p:val>
                                        </p:tav>
                                        <p:tav tm="100000">
                                          <p:val>
                                            <p:strVal val="#ppt_w"/>
                                          </p:val>
                                        </p:tav>
                                      </p:tavLst>
                                    </p:anim>
                                    <p:anim calcmode="lin" valueType="num">
                                      <p:cBhvr>
                                        <p:cTn id="22" dur="1000" fill="hold"/>
                                        <p:tgtEl>
                                          <p:spTgt spid="75785"/>
                                        </p:tgtEl>
                                        <p:attrNameLst>
                                          <p:attrName>ppt_h</p:attrName>
                                        </p:attrNameLst>
                                      </p:cBhvr>
                                      <p:tavLst>
                                        <p:tav tm="0">
                                          <p:val>
                                            <p:fltVal val="0"/>
                                          </p:val>
                                        </p:tav>
                                        <p:tav tm="100000">
                                          <p:val>
                                            <p:strVal val="#ppt_h"/>
                                          </p:val>
                                        </p:tav>
                                      </p:tavLst>
                                    </p:anim>
                                    <p:anim calcmode="lin" valueType="num">
                                      <p:cBhvr>
                                        <p:cTn id="23" dur="1000" fill="hold"/>
                                        <p:tgtEl>
                                          <p:spTgt spid="75785"/>
                                        </p:tgtEl>
                                        <p:attrNameLst>
                                          <p:attrName>style.rotation</p:attrName>
                                        </p:attrNameLst>
                                      </p:cBhvr>
                                      <p:tavLst>
                                        <p:tav tm="0">
                                          <p:val>
                                            <p:fltVal val="90"/>
                                          </p:val>
                                        </p:tav>
                                        <p:tav tm="100000">
                                          <p:val>
                                            <p:fltVal val="0"/>
                                          </p:val>
                                        </p:tav>
                                      </p:tavLst>
                                    </p:anim>
                                    <p:animEffect transition="in" filter="fade">
                                      <p:cBhvr>
                                        <p:cTn id="24" dur="1000"/>
                                        <p:tgtEl>
                                          <p:spTgt spid="75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defRPr/>
            </a:pPr>
            <a:r>
              <a:rPr lang="en-US" altLang="en-US" sz="2800" b="1" smtClean="0"/>
              <a:t>Here are just some of the ways in which GMX conditioners are being used:</a:t>
            </a:r>
          </a:p>
        </p:txBody>
      </p:sp>
      <p:sp>
        <p:nvSpPr>
          <p:cNvPr id="66563" name="Rectangle 3"/>
          <p:cNvSpPr>
            <a:spLocks noGrp="1" noChangeArrowheads="1"/>
          </p:cNvSpPr>
          <p:nvPr>
            <p:ph type="body" idx="1"/>
          </p:nvPr>
        </p:nvSpPr>
        <p:spPr>
          <a:xfrm>
            <a:off x="685800" y="1905000"/>
            <a:ext cx="3657600" cy="4648200"/>
          </a:xfrm>
        </p:spPr>
        <p:txBody>
          <a:bodyPr/>
          <a:lstStyle/>
          <a:p>
            <a:pPr eaLnBrk="1" hangingPunct="1">
              <a:lnSpc>
                <a:spcPct val="80000"/>
              </a:lnSpc>
              <a:defRPr/>
            </a:pPr>
            <a:endParaRPr lang="en-US" altLang="en-US" sz="2000" smtClean="0"/>
          </a:p>
          <a:p>
            <a:pPr eaLnBrk="1" hangingPunct="1">
              <a:lnSpc>
                <a:spcPct val="80000"/>
              </a:lnSpc>
              <a:defRPr/>
            </a:pPr>
            <a:r>
              <a:rPr lang="en-US" altLang="en-US" sz="2000" smtClean="0"/>
              <a:t>Plumbing systems </a:t>
            </a:r>
          </a:p>
          <a:p>
            <a:pPr eaLnBrk="1" hangingPunct="1">
              <a:lnSpc>
                <a:spcPct val="80000"/>
              </a:lnSpc>
              <a:buFontTx/>
              <a:buNone/>
              <a:defRPr/>
            </a:pPr>
            <a:endParaRPr lang="en-US" altLang="en-US" sz="2000" smtClean="0"/>
          </a:p>
          <a:p>
            <a:pPr eaLnBrk="1" hangingPunct="1">
              <a:lnSpc>
                <a:spcPct val="80000"/>
              </a:lnSpc>
              <a:defRPr/>
            </a:pPr>
            <a:r>
              <a:rPr lang="en-US" altLang="en-US" sz="2000" smtClean="0"/>
              <a:t>Pools, spas, and fountains </a:t>
            </a:r>
          </a:p>
          <a:p>
            <a:pPr eaLnBrk="1" hangingPunct="1">
              <a:lnSpc>
                <a:spcPct val="80000"/>
              </a:lnSpc>
              <a:buFontTx/>
              <a:buNone/>
              <a:defRPr/>
            </a:pPr>
            <a:endParaRPr lang="en-US" altLang="en-US" sz="2000" smtClean="0"/>
          </a:p>
          <a:p>
            <a:pPr eaLnBrk="1" hangingPunct="1">
              <a:lnSpc>
                <a:spcPct val="80000"/>
              </a:lnSpc>
              <a:defRPr/>
            </a:pPr>
            <a:r>
              <a:rPr lang="en-US" altLang="en-US" sz="2000" smtClean="0"/>
              <a:t>Evaporative (swamp) coolers </a:t>
            </a:r>
          </a:p>
          <a:p>
            <a:pPr eaLnBrk="1" hangingPunct="1">
              <a:lnSpc>
                <a:spcPct val="80000"/>
              </a:lnSpc>
              <a:buFontTx/>
              <a:buNone/>
              <a:defRPr/>
            </a:pPr>
            <a:endParaRPr lang="en-US" altLang="en-US" sz="2000" smtClean="0"/>
          </a:p>
          <a:p>
            <a:pPr eaLnBrk="1" hangingPunct="1">
              <a:lnSpc>
                <a:spcPct val="80000"/>
              </a:lnSpc>
              <a:defRPr/>
            </a:pPr>
            <a:r>
              <a:rPr lang="en-US" altLang="en-US" sz="2000" smtClean="0"/>
              <a:t>Water-cooled equipment </a:t>
            </a:r>
          </a:p>
          <a:p>
            <a:pPr eaLnBrk="1" hangingPunct="1">
              <a:lnSpc>
                <a:spcPct val="80000"/>
              </a:lnSpc>
              <a:buFontTx/>
              <a:buNone/>
              <a:defRPr/>
            </a:pPr>
            <a:endParaRPr lang="en-US" altLang="en-US" sz="2000" smtClean="0"/>
          </a:p>
          <a:p>
            <a:pPr eaLnBrk="1" hangingPunct="1">
              <a:lnSpc>
                <a:spcPct val="80000"/>
              </a:lnSpc>
              <a:defRPr/>
            </a:pPr>
            <a:r>
              <a:rPr lang="en-US" altLang="en-US" sz="2000" smtClean="0"/>
              <a:t>Irrigation systems </a:t>
            </a:r>
          </a:p>
          <a:p>
            <a:pPr eaLnBrk="1" hangingPunct="1">
              <a:lnSpc>
                <a:spcPct val="80000"/>
              </a:lnSpc>
              <a:buFontTx/>
              <a:buNone/>
              <a:defRPr/>
            </a:pPr>
            <a:endParaRPr lang="en-US" altLang="en-US" sz="2000" smtClean="0"/>
          </a:p>
          <a:p>
            <a:pPr eaLnBrk="1" hangingPunct="1">
              <a:lnSpc>
                <a:spcPct val="80000"/>
              </a:lnSpc>
              <a:defRPr/>
            </a:pPr>
            <a:r>
              <a:rPr lang="en-US" altLang="en-US" sz="2000" smtClean="0"/>
              <a:t>R.V. water systems </a:t>
            </a:r>
          </a:p>
          <a:p>
            <a:pPr eaLnBrk="1" hangingPunct="1">
              <a:lnSpc>
                <a:spcPct val="80000"/>
              </a:lnSpc>
              <a:buFontTx/>
              <a:buNone/>
              <a:defRPr/>
            </a:pPr>
            <a:endParaRPr lang="en-US" altLang="en-US" sz="2000" smtClean="0"/>
          </a:p>
          <a:p>
            <a:pPr eaLnBrk="1" hangingPunct="1">
              <a:lnSpc>
                <a:spcPct val="80000"/>
              </a:lnSpc>
              <a:defRPr/>
            </a:pPr>
            <a:endParaRPr lang="en-US" altLang="en-US" sz="2000" smtClean="0"/>
          </a:p>
        </p:txBody>
      </p:sp>
      <p:sp>
        <p:nvSpPr>
          <p:cNvPr id="66564" name="Rectangle 4"/>
          <p:cNvSpPr>
            <a:spLocks noChangeArrowheads="1"/>
          </p:cNvSpPr>
          <p:nvPr/>
        </p:nvSpPr>
        <p:spPr bwMode="auto">
          <a:xfrm>
            <a:off x="4648200" y="1905000"/>
            <a:ext cx="38862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20000"/>
              <a:buChar char="•"/>
              <a:defRPr sz="3200">
                <a:solidFill>
                  <a:schemeClr val="tx1"/>
                </a:solidFill>
                <a:effectLst>
                  <a:outerShdw blurRad="38100" dist="38100" dir="2700000" algn="tl">
                    <a:srgbClr val="000000"/>
                  </a:outerShdw>
                </a:effectLst>
                <a:latin typeface="Tahoma" pitchFamily="34" charset="0"/>
              </a:defRPr>
            </a:lvl1pPr>
            <a:lvl2pPr marL="742950" indent="-285750">
              <a:spcBef>
                <a:spcPct val="20000"/>
              </a:spcBef>
              <a:buFont typeface="Tahoma" pitchFamily="34" charset="0"/>
              <a:buChar char="–"/>
              <a:defRPr sz="2800">
                <a:solidFill>
                  <a:schemeClr val="tx1"/>
                </a:solidFill>
                <a:effectLst>
                  <a:outerShdw blurRad="38100" dist="38100" dir="2700000" algn="tl">
                    <a:srgbClr val="000000"/>
                  </a:outerShdw>
                </a:effectLst>
                <a:latin typeface="Tahoma" pitchFamily="34" charset="0"/>
              </a:defRPr>
            </a:lvl2pPr>
            <a:lvl3pPr marL="1143000" indent="-228600">
              <a:spcBef>
                <a:spcPct val="20000"/>
              </a:spcBef>
              <a:buClr>
                <a:schemeClr val="hlink"/>
              </a:buClr>
              <a:buSzPct val="120000"/>
              <a:buChar char="•"/>
              <a:defRPr sz="2400">
                <a:solidFill>
                  <a:schemeClr val="tx1"/>
                </a:solidFill>
                <a:effectLst>
                  <a:outerShdw blurRad="38100" dist="38100" dir="2700000" algn="tl">
                    <a:srgbClr val="000000"/>
                  </a:outerShdw>
                </a:effectLst>
                <a:latin typeface="Tahoma" pitchFamily="34" charset="0"/>
              </a:defRPr>
            </a:lvl3pPr>
            <a:lvl4pPr marL="1600200" indent="-228600">
              <a:spcBef>
                <a:spcPct val="20000"/>
              </a:spcBef>
              <a:buFont typeface="Tahoma" pitchFamily="34" charset="0"/>
              <a:buChar char="–"/>
              <a:defRPr sz="2000">
                <a:solidFill>
                  <a:schemeClr val="tx1"/>
                </a:solidFill>
                <a:effectLst>
                  <a:outerShdw blurRad="38100" dist="38100" dir="2700000" algn="tl">
                    <a:srgbClr val="000000"/>
                  </a:outerShdw>
                </a:effectLst>
                <a:latin typeface="Tahoma" pitchFamily="34" charset="0"/>
              </a:defRPr>
            </a:lvl4pPr>
            <a:lvl5pPr marL="2057400" indent="-228600">
              <a:spcBef>
                <a:spcPct val="20000"/>
              </a:spcBef>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Tahoma" pitchFamily="34" charset="0"/>
              </a:defRPr>
            </a:lvl5pPr>
            <a:lvl6pPr marL="2514600" indent="-22860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Tahoma" pitchFamily="34" charset="0"/>
              </a:defRPr>
            </a:lvl6pPr>
            <a:lvl7pPr marL="2971800" indent="-22860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Tahoma" pitchFamily="34" charset="0"/>
              </a:defRPr>
            </a:lvl7pPr>
            <a:lvl8pPr marL="3429000" indent="-22860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Tahoma" pitchFamily="34" charset="0"/>
              </a:defRPr>
            </a:lvl8pPr>
            <a:lvl9pPr marL="3886200" indent="-22860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Tahoma" pitchFamily="34" charset="0"/>
              </a:defRPr>
            </a:lvl9pPr>
          </a:lstStyle>
          <a:p>
            <a:pPr eaLnBrk="1" hangingPunct="1">
              <a:lnSpc>
                <a:spcPct val="80000"/>
              </a:lnSpc>
              <a:defRPr/>
            </a:pPr>
            <a:endParaRPr lang="en-US" altLang="en-US" sz="1400" smtClean="0"/>
          </a:p>
          <a:p>
            <a:pPr eaLnBrk="1" hangingPunct="1">
              <a:lnSpc>
                <a:spcPct val="80000"/>
              </a:lnSpc>
              <a:defRPr/>
            </a:pPr>
            <a:r>
              <a:rPr lang="en-US" altLang="en-US" sz="2000" smtClean="0"/>
              <a:t>Car and truck fuel systems</a:t>
            </a:r>
          </a:p>
          <a:p>
            <a:pPr eaLnBrk="1" hangingPunct="1">
              <a:lnSpc>
                <a:spcPct val="80000"/>
              </a:lnSpc>
              <a:buFontTx/>
              <a:buNone/>
              <a:defRPr/>
            </a:pPr>
            <a:r>
              <a:rPr lang="en-US" altLang="en-US" sz="2000" smtClean="0"/>
              <a:t> </a:t>
            </a:r>
          </a:p>
          <a:p>
            <a:pPr eaLnBrk="1" hangingPunct="1">
              <a:lnSpc>
                <a:spcPct val="80000"/>
              </a:lnSpc>
              <a:defRPr/>
            </a:pPr>
            <a:r>
              <a:rPr lang="en-US" altLang="en-US" sz="2000" smtClean="0"/>
              <a:t>Car and truck cooling systems </a:t>
            </a:r>
          </a:p>
          <a:p>
            <a:pPr eaLnBrk="1" hangingPunct="1">
              <a:lnSpc>
                <a:spcPct val="80000"/>
              </a:lnSpc>
              <a:buFontTx/>
              <a:buNone/>
              <a:defRPr/>
            </a:pPr>
            <a:endParaRPr lang="en-US" altLang="en-US" sz="2000" smtClean="0"/>
          </a:p>
          <a:p>
            <a:pPr eaLnBrk="1" hangingPunct="1">
              <a:lnSpc>
                <a:spcPct val="80000"/>
              </a:lnSpc>
              <a:defRPr/>
            </a:pPr>
            <a:r>
              <a:rPr lang="en-US" altLang="en-US" sz="2000" smtClean="0"/>
              <a:t>Coffee machines </a:t>
            </a:r>
          </a:p>
          <a:p>
            <a:pPr eaLnBrk="1" hangingPunct="1">
              <a:lnSpc>
                <a:spcPct val="80000"/>
              </a:lnSpc>
              <a:buFontTx/>
              <a:buNone/>
              <a:defRPr/>
            </a:pPr>
            <a:endParaRPr lang="en-US" altLang="en-US" sz="2000" smtClean="0"/>
          </a:p>
          <a:p>
            <a:pPr eaLnBrk="1" hangingPunct="1">
              <a:lnSpc>
                <a:spcPct val="80000"/>
              </a:lnSpc>
              <a:defRPr/>
            </a:pPr>
            <a:r>
              <a:rPr lang="en-US" altLang="en-US" sz="2000" smtClean="0"/>
              <a:t>Laundry machines </a:t>
            </a:r>
          </a:p>
          <a:p>
            <a:pPr eaLnBrk="1" hangingPunct="1">
              <a:lnSpc>
                <a:spcPct val="80000"/>
              </a:lnSpc>
              <a:buFontTx/>
              <a:buNone/>
              <a:defRPr/>
            </a:pPr>
            <a:endParaRPr lang="en-US" altLang="en-US" sz="2000" smtClean="0"/>
          </a:p>
          <a:p>
            <a:pPr eaLnBrk="1" hangingPunct="1">
              <a:lnSpc>
                <a:spcPct val="80000"/>
              </a:lnSpc>
              <a:defRPr/>
            </a:pPr>
            <a:r>
              <a:rPr lang="en-US" altLang="en-US" sz="2000" smtClean="0"/>
              <a:t>Commercial dishwashers</a:t>
            </a:r>
          </a:p>
          <a:p>
            <a:pPr eaLnBrk="1" hangingPunct="1">
              <a:lnSpc>
                <a:spcPct val="80000"/>
              </a:lnSpc>
              <a:defRPr/>
            </a:pPr>
            <a:endParaRPr lang="en-US" altLang="en-US" sz="2000" smtClean="0"/>
          </a:p>
          <a:p>
            <a:pPr eaLnBrk="1" hangingPunct="1">
              <a:lnSpc>
                <a:spcPct val="80000"/>
              </a:lnSpc>
              <a:defRPr/>
            </a:pPr>
            <a:r>
              <a:rPr lang="en-US" altLang="en-US" sz="2000" smtClean="0"/>
              <a:t>Car washes </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6563">
                                            <p:txEl>
                                              <p:pRg st="1" end="1"/>
                                            </p:txEl>
                                          </p:spTgt>
                                        </p:tgtEl>
                                        <p:attrNameLst>
                                          <p:attrName>style.visibility</p:attrName>
                                        </p:attrNameLst>
                                      </p:cBhvr>
                                      <p:to>
                                        <p:strVal val="visible"/>
                                      </p:to>
                                    </p:set>
                                    <p:animEffect transition="in" filter="slide(fromBottom)">
                                      <p:cBhvr>
                                        <p:cTn id="7" dur="500"/>
                                        <p:tgtEl>
                                          <p:spTgt spid="66563">
                                            <p:txEl>
                                              <p:pRg st="1" end="1"/>
                                            </p:txEl>
                                          </p:spTgt>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66563">
                                            <p:txEl>
                                              <p:pRg st="3" end="3"/>
                                            </p:txEl>
                                          </p:spTgt>
                                        </p:tgtEl>
                                        <p:attrNameLst>
                                          <p:attrName>style.visibility</p:attrName>
                                        </p:attrNameLst>
                                      </p:cBhvr>
                                      <p:to>
                                        <p:strVal val="visible"/>
                                      </p:to>
                                    </p:set>
                                    <p:animEffect transition="in" filter="slide(fromBottom)">
                                      <p:cBhvr>
                                        <p:cTn id="11" dur="500"/>
                                        <p:tgtEl>
                                          <p:spTgt spid="66563">
                                            <p:txEl>
                                              <p:pRg st="3" end="3"/>
                                            </p:txEl>
                                          </p:spTgt>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66563">
                                            <p:txEl>
                                              <p:pRg st="5" end="5"/>
                                            </p:txEl>
                                          </p:spTgt>
                                        </p:tgtEl>
                                        <p:attrNameLst>
                                          <p:attrName>style.visibility</p:attrName>
                                        </p:attrNameLst>
                                      </p:cBhvr>
                                      <p:to>
                                        <p:strVal val="visible"/>
                                      </p:to>
                                    </p:set>
                                    <p:animEffect transition="in" filter="slide(fromBottom)">
                                      <p:cBhvr>
                                        <p:cTn id="15" dur="500"/>
                                        <p:tgtEl>
                                          <p:spTgt spid="66563">
                                            <p:txEl>
                                              <p:pRg st="5" end="5"/>
                                            </p:txEl>
                                          </p:spTgt>
                                        </p:tgtEl>
                                      </p:cBhvr>
                                    </p:animEffect>
                                  </p:childTnLst>
                                </p:cTn>
                              </p:par>
                            </p:childTnLst>
                          </p:cTn>
                        </p:par>
                        <p:par>
                          <p:cTn id="16" fill="hold" nodeType="afterGroup">
                            <p:stCondLst>
                              <p:cond delay="1500"/>
                            </p:stCondLst>
                            <p:childTnLst>
                              <p:par>
                                <p:cTn id="17" presetID="12" presetClass="entr" presetSubtype="4" fill="hold" grpId="0" nodeType="afterEffect">
                                  <p:stCondLst>
                                    <p:cond delay="0"/>
                                  </p:stCondLst>
                                  <p:childTnLst>
                                    <p:set>
                                      <p:cBhvr>
                                        <p:cTn id="18" dur="1" fill="hold">
                                          <p:stCondLst>
                                            <p:cond delay="0"/>
                                          </p:stCondLst>
                                        </p:cTn>
                                        <p:tgtEl>
                                          <p:spTgt spid="66563">
                                            <p:txEl>
                                              <p:pRg st="7" end="7"/>
                                            </p:txEl>
                                          </p:spTgt>
                                        </p:tgtEl>
                                        <p:attrNameLst>
                                          <p:attrName>style.visibility</p:attrName>
                                        </p:attrNameLst>
                                      </p:cBhvr>
                                      <p:to>
                                        <p:strVal val="visible"/>
                                      </p:to>
                                    </p:set>
                                    <p:animEffect transition="in" filter="slide(fromBottom)">
                                      <p:cBhvr>
                                        <p:cTn id="19" dur="500"/>
                                        <p:tgtEl>
                                          <p:spTgt spid="66563">
                                            <p:txEl>
                                              <p:pRg st="7" end="7"/>
                                            </p:txEl>
                                          </p:spTgt>
                                        </p:tgtEl>
                                      </p:cBhvr>
                                    </p:animEffect>
                                  </p:childTnLst>
                                </p:cTn>
                              </p:par>
                            </p:childTnLst>
                          </p:cTn>
                        </p:par>
                        <p:par>
                          <p:cTn id="20" fill="hold" nodeType="afterGroup">
                            <p:stCondLst>
                              <p:cond delay="2000"/>
                            </p:stCondLst>
                            <p:childTnLst>
                              <p:par>
                                <p:cTn id="21" presetID="12" presetClass="entr" presetSubtype="4" fill="hold" grpId="0" nodeType="afterEffect">
                                  <p:stCondLst>
                                    <p:cond delay="0"/>
                                  </p:stCondLst>
                                  <p:childTnLst>
                                    <p:set>
                                      <p:cBhvr>
                                        <p:cTn id="22" dur="1" fill="hold">
                                          <p:stCondLst>
                                            <p:cond delay="0"/>
                                          </p:stCondLst>
                                        </p:cTn>
                                        <p:tgtEl>
                                          <p:spTgt spid="66563">
                                            <p:txEl>
                                              <p:pRg st="9" end="9"/>
                                            </p:txEl>
                                          </p:spTgt>
                                        </p:tgtEl>
                                        <p:attrNameLst>
                                          <p:attrName>style.visibility</p:attrName>
                                        </p:attrNameLst>
                                      </p:cBhvr>
                                      <p:to>
                                        <p:strVal val="visible"/>
                                      </p:to>
                                    </p:set>
                                    <p:animEffect transition="in" filter="slide(fromBottom)">
                                      <p:cBhvr>
                                        <p:cTn id="23" dur="500"/>
                                        <p:tgtEl>
                                          <p:spTgt spid="66563">
                                            <p:txEl>
                                              <p:pRg st="9" end="9"/>
                                            </p:txEl>
                                          </p:spTgt>
                                        </p:tgtEl>
                                      </p:cBhvr>
                                    </p:animEffect>
                                  </p:childTnLst>
                                </p:cTn>
                              </p:par>
                            </p:childTnLst>
                          </p:cTn>
                        </p:par>
                        <p:par>
                          <p:cTn id="24" fill="hold" nodeType="afterGroup">
                            <p:stCondLst>
                              <p:cond delay="2500"/>
                            </p:stCondLst>
                            <p:childTnLst>
                              <p:par>
                                <p:cTn id="25" presetID="12" presetClass="entr" presetSubtype="4" fill="hold" grpId="0" nodeType="afterEffect">
                                  <p:stCondLst>
                                    <p:cond delay="0"/>
                                  </p:stCondLst>
                                  <p:childTnLst>
                                    <p:set>
                                      <p:cBhvr>
                                        <p:cTn id="26" dur="1" fill="hold">
                                          <p:stCondLst>
                                            <p:cond delay="0"/>
                                          </p:stCondLst>
                                        </p:cTn>
                                        <p:tgtEl>
                                          <p:spTgt spid="66563">
                                            <p:txEl>
                                              <p:pRg st="11" end="11"/>
                                            </p:txEl>
                                          </p:spTgt>
                                        </p:tgtEl>
                                        <p:attrNameLst>
                                          <p:attrName>style.visibility</p:attrName>
                                        </p:attrNameLst>
                                      </p:cBhvr>
                                      <p:to>
                                        <p:strVal val="visible"/>
                                      </p:to>
                                    </p:set>
                                    <p:animEffect transition="in" filter="slide(fromBottom)">
                                      <p:cBhvr>
                                        <p:cTn id="27" dur="500"/>
                                        <p:tgtEl>
                                          <p:spTgt spid="66563">
                                            <p:txEl>
                                              <p:pRg st="11" end="11"/>
                                            </p:txEl>
                                          </p:spTgt>
                                        </p:tgtEl>
                                      </p:cBhvr>
                                    </p:animEffect>
                                  </p:childTnLst>
                                </p:cTn>
                              </p:par>
                            </p:childTnLst>
                          </p:cTn>
                        </p:par>
                        <p:par>
                          <p:cTn id="28" fill="hold" nodeType="afterGroup">
                            <p:stCondLst>
                              <p:cond delay="3000"/>
                            </p:stCondLst>
                            <p:childTnLst>
                              <p:par>
                                <p:cTn id="29" presetID="12" presetClass="entr" presetSubtype="4" fill="hold" nodeType="afterEffect">
                                  <p:stCondLst>
                                    <p:cond delay="0"/>
                                  </p:stCondLst>
                                  <p:childTnLst>
                                    <p:set>
                                      <p:cBhvr>
                                        <p:cTn id="30" dur="1" fill="hold">
                                          <p:stCondLst>
                                            <p:cond delay="0"/>
                                          </p:stCondLst>
                                        </p:cTn>
                                        <p:tgtEl>
                                          <p:spTgt spid="66564">
                                            <p:txEl>
                                              <p:pRg st="1" end="1"/>
                                            </p:txEl>
                                          </p:spTgt>
                                        </p:tgtEl>
                                        <p:attrNameLst>
                                          <p:attrName>style.visibility</p:attrName>
                                        </p:attrNameLst>
                                      </p:cBhvr>
                                      <p:to>
                                        <p:strVal val="visible"/>
                                      </p:to>
                                    </p:set>
                                    <p:animEffect transition="in" filter="slide(fromBottom)">
                                      <p:cBhvr>
                                        <p:cTn id="31" dur="500"/>
                                        <p:tgtEl>
                                          <p:spTgt spid="66564">
                                            <p:txEl>
                                              <p:pRg st="1" end="1"/>
                                            </p:txEl>
                                          </p:spTgt>
                                        </p:tgtEl>
                                      </p:cBhvr>
                                    </p:animEffect>
                                  </p:childTnLst>
                                </p:cTn>
                              </p:par>
                              <p:par>
                                <p:cTn id="32" presetID="12" presetClass="entr" presetSubtype="4" fill="hold" nodeType="withEffect">
                                  <p:stCondLst>
                                    <p:cond delay="0"/>
                                  </p:stCondLst>
                                  <p:childTnLst>
                                    <p:set>
                                      <p:cBhvr>
                                        <p:cTn id="33" dur="1" fill="hold">
                                          <p:stCondLst>
                                            <p:cond delay="0"/>
                                          </p:stCondLst>
                                        </p:cTn>
                                        <p:tgtEl>
                                          <p:spTgt spid="66564">
                                            <p:txEl>
                                              <p:pRg st="2" end="2"/>
                                            </p:txEl>
                                          </p:spTgt>
                                        </p:tgtEl>
                                        <p:attrNameLst>
                                          <p:attrName>style.visibility</p:attrName>
                                        </p:attrNameLst>
                                      </p:cBhvr>
                                      <p:to>
                                        <p:strVal val="visible"/>
                                      </p:to>
                                    </p:set>
                                    <p:animEffect transition="in" filter="slide(fromBottom)">
                                      <p:cBhvr>
                                        <p:cTn id="34" dur="500"/>
                                        <p:tgtEl>
                                          <p:spTgt spid="66564">
                                            <p:txEl>
                                              <p:pRg st="2" end="2"/>
                                            </p:txEl>
                                          </p:spTgt>
                                        </p:tgtEl>
                                      </p:cBhvr>
                                    </p:animEffect>
                                  </p:childTnLst>
                                </p:cTn>
                              </p:par>
                            </p:childTnLst>
                          </p:cTn>
                        </p:par>
                        <p:par>
                          <p:cTn id="35" fill="hold" nodeType="afterGroup">
                            <p:stCondLst>
                              <p:cond delay="3500"/>
                            </p:stCondLst>
                            <p:childTnLst>
                              <p:par>
                                <p:cTn id="36" presetID="12" presetClass="entr" presetSubtype="4" fill="hold" nodeType="afterEffect">
                                  <p:stCondLst>
                                    <p:cond delay="0"/>
                                  </p:stCondLst>
                                  <p:childTnLst>
                                    <p:set>
                                      <p:cBhvr>
                                        <p:cTn id="37" dur="1" fill="hold">
                                          <p:stCondLst>
                                            <p:cond delay="0"/>
                                          </p:stCondLst>
                                        </p:cTn>
                                        <p:tgtEl>
                                          <p:spTgt spid="66564">
                                            <p:txEl>
                                              <p:pRg st="3" end="3"/>
                                            </p:txEl>
                                          </p:spTgt>
                                        </p:tgtEl>
                                        <p:attrNameLst>
                                          <p:attrName>style.visibility</p:attrName>
                                        </p:attrNameLst>
                                      </p:cBhvr>
                                      <p:to>
                                        <p:strVal val="visible"/>
                                      </p:to>
                                    </p:set>
                                    <p:animEffect transition="in" filter="slide(fromBottom)">
                                      <p:cBhvr>
                                        <p:cTn id="38" dur="500"/>
                                        <p:tgtEl>
                                          <p:spTgt spid="66564">
                                            <p:txEl>
                                              <p:pRg st="3" end="3"/>
                                            </p:txEl>
                                          </p:spTgt>
                                        </p:tgtEl>
                                      </p:cBhvr>
                                    </p:animEffect>
                                  </p:childTnLst>
                                </p:cTn>
                              </p:par>
                            </p:childTnLst>
                          </p:cTn>
                        </p:par>
                        <p:par>
                          <p:cTn id="39" fill="hold" nodeType="afterGroup">
                            <p:stCondLst>
                              <p:cond delay="4000"/>
                            </p:stCondLst>
                            <p:childTnLst>
                              <p:par>
                                <p:cTn id="40" presetID="12" presetClass="entr" presetSubtype="4" fill="hold" nodeType="afterEffect">
                                  <p:stCondLst>
                                    <p:cond delay="0"/>
                                  </p:stCondLst>
                                  <p:childTnLst>
                                    <p:set>
                                      <p:cBhvr>
                                        <p:cTn id="41" dur="1" fill="hold">
                                          <p:stCondLst>
                                            <p:cond delay="0"/>
                                          </p:stCondLst>
                                        </p:cTn>
                                        <p:tgtEl>
                                          <p:spTgt spid="66564">
                                            <p:txEl>
                                              <p:pRg st="5" end="5"/>
                                            </p:txEl>
                                          </p:spTgt>
                                        </p:tgtEl>
                                        <p:attrNameLst>
                                          <p:attrName>style.visibility</p:attrName>
                                        </p:attrNameLst>
                                      </p:cBhvr>
                                      <p:to>
                                        <p:strVal val="visible"/>
                                      </p:to>
                                    </p:set>
                                    <p:animEffect transition="in" filter="slide(fromBottom)">
                                      <p:cBhvr>
                                        <p:cTn id="42" dur="500"/>
                                        <p:tgtEl>
                                          <p:spTgt spid="66564">
                                            <p:txEl>
                                              <p:pRg st="5" end="5"/>
                                            </p:txEl>
                                          </p:spTgt>
                                        </p:tgtEl>
                                      </p:cBhvr>
                                    </p:animEffect>
                                  </p:childTnLst>
                                </p:cTn>
                              </p:par>
                            </p:childTnLst>
                          </p:cTn>
                        </p:par>
                        <p:par>
                          <p:cTn id="43" fill="hold" nodeType="afterGroup">
                            <p:stCondLst>
                              <p:cond delay="4500"/>
                            </p:stCondLst>
                            <p:childTnLst>
                              <p:par>
                                <p:cTn id="44" presetID="12" presetClass="entr" presetSubtype="4" fill="hold" nodeType="afterEffect">
                                  <p:stCondLst>
                                    <p:cond delay="0"/>
                                  </p:stCondLst>
                                  <p:childTnLst>
                                    <p:set>
                                      <p:cBhvr>
                                        <p:cTn id="45" dur="1" fill="hold">
                                          <p:stCondLst>
                                            <p:cond delay="0"/>
                                          </p:stCondLst>
                                        </p:cTn>
                                        <p:tgtEl>
                                          <p:spTgt spid="66564">
                                            <p:txEl>
                                              <p:charRg st="80" end="91"/>
                                            </p:txEl>
                                          </p:spTgt>
                                        </p:tgtEl>
                                        <p:attrNameLst>
                                          <p:attrName>style.visibility</p:attrName>
                                        </p:attrNameLst>
                                      </p:cBhvr>
                                      <p:to>
                                        <p:strVal val="visible"/>
                                      </p:to>
                                    </p:set>
                                    <p:animEffect transition="in" filter="slide(fromBottom)">
                                      <p:cBhvr>
                                        <p:cTn id="46" dur="500"/>
                                        <p:tgtEl>
                                          <p:spTgt spid="66564">
                                            <p:txEl>
                                              <p:charRg st="80" end="91"/>
                                            </p:txEl>
                                          </p:spTgt>
                                        </p:tgtEl>
                                      </p:cBhvr>
                                    </p:animEffect>
                                  </p:childTnLst>
                                </p:cTn>
                              </p:par>
                            </p:childTnLst>
                          </p:cTn>
                        </p:par>
                        <p:par>
                          <p:cTn id="47" fill="hold" nodeType="afterGroup">
                            <p:stCondLst>
                              <p:cond delay="5000"/>
                            </p:stCondLst>
                            <p:childTnLst>
                              <p:par>
                                <p:cTn id="48" presetID="12" presetClass="entr" presetSubtype="4" fill="hold" nodeType="afterEffect">
                                  <p:stCondLst>
                                    <p:cond delay="0"/>
                                  </p:stCondLst>
                                  <p:childTnLst>
                                    <p:set>
                                      <p:cBhvr>
                                        <p:cTn id="49" dur="1" fill="hold">
                                          <p:stCondLst>
                                            <p:cond delay="0"/>
                                          </p:stCondLst>
                                        </p:cTn>
                                        <p:tgtEl>
                                          <p:spTgt spid="66564">
                                            <p:txEl>
                                              <p:charRg st="92" end="115"/>
                                            </p:txEl>
                                          </p:spTgt>
                                        </p:tgtEl>
                                        <p:attrNameLst>
                                          <p:attrName>style.visibility</p:attrName>
                                        </p:attrNameLst>
                                      </p:cBhvr>
                                      <p:to>
                                        <p:strVal val="visible"/>
                                      </p:to>
                                    </p:set>
                                    <p:animEffect transition="in" filter="slide(fromBottom)">
                                      <p:cBhvr>
                                        <p:cTn id="50" dur="500"/>
                                        <p:tgtEl>
                                          <p:spTgt spid="66564">
                                            <p:txEl>
                                              <p:charRg st="92" end="115"/>
                                            </p:txEl>
                                          </p:spTgt>
                                        </p:tgtEl>
                                      </p:cBhvr>
                                    </p:animEffect>
                                  </p:childTnLst>
                                </p:cTn>
                              </p:par>
                            </p:childTnLst>
                          </p:cTn>
                        </p:par>
                        <p:par>
                          <p:cTn id="51" fill="hold" nodeType="afterGroup">
                            <p:stCondLst>
                              <p:cond delay="5500"/>
                            </p:stCondLst>
                            <p:childTnLst>
                              <p:par>
                                <p:cTn id="52" presetID="12" presetClass="entr" presetSubtype="4" fill="hold" nodeType="afterEffect">
                                  <p:stCondLst>
                                    <p:cond delay="0"/>
                                  </p:stCondLst>
                                  <p:childTnLst>
                                    <p:set>
                                      <p:cBhvr>
                                        <p:cTn id="53" dur="1" fill="hold">
                                          <p:stCondLst>
                                            <p:cond delay="0"/>
                                          </p:stCondLst>
                                        </p:cTn>
                                        <p:tgtEl>
                                          <p:spTgt spid="66564">
                                            <p:txEl>
                                              <p:charRg st="116" end="128"/>
                                            </p:txEl>
                                          </p:spTgt>
                                        </p:tgtEl>
                                        <p:attrNameLst>
                                          <p:attrName>style.visibility</p:attrName>
                                        </p:attrNameLst>
                                      </p:cBhvr>
                                      <p:to>
                                        <p:strVal val="visible"/>
                                      </p:to>
                                    </p:set>
                                    <p:animEffect transition="in" filter="slide(fromBottom)">
                                      <p:cBhvr>
                                        <p:cTn id="54" dur="500"/>
                                        <p:tgtEl>
                                          <p:spTgt spid="66564">
                                            <p:txEl>
                                              <p:charRg st="116" end="1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defRPr/>
            </a:pPr>
            <a:r>
              <a:rPr lang="en-US" altLang="en-US" b="1" smtClean="0"/>
              <a:t>Model 400 GMX</a:t>
            </a:r>
          </a:p>
        </p:txBody>
      </p:sp>
      <p:sp>
        <p:nvSpPr>
          <p:cNvPr id="67587" name="Rectangle 3"/>
          <p:cNvSpPr>
            <a:spLocks noGrp="1" noChangeArrowheads="1"/>
          </p:cNvSpPr>
          <p:nvPr>
            <p:ph type="body" idx="1"/>
          </p:nvPr>
        </p:nvSpPr>
        <p:spPr>
          <a:xfrm>
            <a:off x="4572000" y="2057400"/>
            <a:ext cx="4114800" cy="4114800"/>
          </a:xfrm>
        </p:spPr>
        <p:txBody>
          <a:bodyPr/>
          <a:lstStyle/>
          <a:p>
            <a:pPr eaLnBrk="1" hangingPunct="1">
              <a:lnSpc>
                <a:spcPct val="80000"/>
              </a:lnSpc>
              <a:buFontTx/>
              <a:buNone/>
              <a:defRPr/>
            </a:pPr>
            <a:r>
              <a:rPr lang="en-US" altLang="en-US" sz="2000" b="1" smtClean="0"/>
              <a:t>Model 400 GMX </a:t>
            </a:r>
          </a:p>
          <a:p>
            <a:pPr eaLnBrk="1" hangingPunct="1">
              <a:lnSpc>
                <a:spcPct val="90000"/>
              </a:lnSpc>
              <a:buFontTx/>
              <a:buNone/>
              <a:defRPr/>
            </a:pPr>
            <a:r>
              <a:rPr lang="en-US" altLang="en-US" sz="2000" b="1" smtClean="0"/>
              <a:t>Magnetic Fluid Conditioner</a:t>
            </a:r>
            <a:r>
              <a:rPr lang="en-US" altLang="en-US" sz="2000" smtClean="0"/>
              <a:t/>
            </a:r>
            <a:br>
              <a:rPr lang="en-US" altLang="en-US" sz="2000" smtClean="0"/>
            </a:br>
            <a:r>
              <a:rPr lang="en-US" altLang="en-US" sz="2000" i="1" smtClean="0"/>
              <a:t>For 1/4" to 1/2" Tubing or Pipe.</a:t>
            </a:r>
            <a:endParaRPr lang="en-US" altLang="en-US" sz="2000" smtClean="0"/>
          </a:p>
          <a:p>
            <a:pPr eaLnBrk="1" hangingPunct="1">
              <a:lnSpc>
                <a:spcPct val="80000"/>
              </a:lnSpc>
              <a:buFontTx/>
              <a:buNone/>
              <a:defRPr/>
            </a:pPr>
            <a:endParaRPr lang="en-US" altLang="en-US" sz="2000" smtClean="0"/>
          </a:p>
          <a:p>
            <a:pPr eaLnBrk="1" hangingPunct="1">
              <a:lnSpc>
                <a:spcPct val="80000"/>
              </a:lnSpc>
              <a:buFontTx/>
              <a:buNone/>
              <a:defRPr/>
            </a:pPr>
            <a:r>
              <a:rPr lang="en-US" altLang="en-US" sz="2000" smtClean="0"/>
              <a:t> </a:t>
            </a:r>
          </a:p>
          <a:p>
            <a:pPr eaLnBrk="1" hangingPunct="1">
              <a:lnSpc>
                <a:spcPct val="80000"/>
              </a:lnSpc>
              <a:buFontTx/>
              <a:buNone/>
              <a:defRPr/>
            </a:pPr>
            <a:r>
              <a:rPr lang="en-US" altLang="en-US" sz="2000" b="1" i="1" u="sng" smtClean="0"/>
              <a:t>Primary Applications</a:t>
            </a:r>
            <a:r>
              <a:rPr lang="en-US" altLang="en-US" sz="2000" b="1" i="1" smtClean="0"/>
              <a:t>:</a:t>
            </a:r>
            <a:endParaRPr lang="en-US" altLang="en-US" sz="2000" i="1" smtClean="0"/>
          </a:p>
          <a:p>
            <a:pPr eaLnBrk="1" hangingPunct="1">
              <a:lnSpc>
                <a:spcPct val="90000"/>
              </a:lnSpc>
              <a:defRPr/>
            </a:pPr>
            <a:r>
              <a:rPr lang="en-US" altLang="en-US" sz="2000" i="1" smtClean="0"/>
              <a:t>Residential and commercial applications wherever hard water is present (swamp coolers, commercial ice machines, fountains, printing equipment, commercial dishwashers).</a:t>
            </a:r>
          </a:p>
        </p:txBody>
      </p:sp>
      <p:pic>
        <p:nvPicPr>
          <p:cNvPr id="15364" name="Picture 6" descr="&#10;gmx400.jpg                                                     00014C48silver                         B75E07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057400"/>
            <a:ext cx="3200400" cy="17827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defRPr/>
            </a:pPr>
            <a:r>
              <a:rPr lang="en-US" altLang="en-US" sz="4000" b="1" smtClean="0"/>
              <a:t/>
            </a:r>
            <a:br>
              <a:rPr lang="en-US" altLang="en-US" sz="4000" b="1" smtClean="0"/>
            </a:br>
            <a:r>
              <a:rPr lang="en-US" altLang="en-US" sz="4000" b="1" smtClean="0"/>
              <a:t>Model 800 GMX </a:t>
            </a:r>
            <a:br>
              <a:rPr lang="en-US" altLang="en-US" sz="4000" b="1" smtClean="0"/>
            </a:br>
            <a:endParaRPr lang="en-US" altLang="en-US" sz="4000" smtClean="0"/>
          </a:p>
        </p:txBody>
      </p:sp>
      <p:sp>
        <p:nvSpPr>
          <p:cNvPr id="68611" name="Rectangle 3"/>
          <p:cNvSpPr>
            <a:spLocks noGrp="1" noChangeArrowheads="1"/>
          </p:cNvSpPr>
          <p:nvPr>
            <p:ph type="body" idx="1"/>
          </p:nvPr>
        </p:nvSpPr>
        <p:spPr>
          <a:xfrm>
            <a:off x="3886200" y="1981200"/>
            <a:ext cx="4800600" cy="4648200"/>
          </a:xfrm>
        </p:spPr>
        <p:txBody>
          <a:bodyPr/>
          <a:lstStyle/>
          <a:p>
            <a:pPr eaLnBrk="1" hangingPunct="1">
              <a:lnSpc>
                <a:spcPct val="80000"/>
              </a:lnSpc>
              <a:buFontTx/>
              <a:buNone/>
              <a:defRPr/>
            </a:pPr>
            <a:r>
              <a:rPr lang="en-US" altLang="en-US" sz="1800" b="1" smtClean="0"/>
              <a:t>Model 800 </a:t>
            </a:r>
          </a:p>
          <a:p>
            <a:pPr eaLnBrk="1" hangingPunct="1">
              <a:lnSpc>
                <a:spcPct val="120000"/>
              </a:lnSpc>
              <a:buFontTx/>
              <a:buNone/>
              <a:defRPr/>
            </a:pPr>
            <a:r>
              <a:rPr lang="en-US" altLang="en-US" sz="1800" b="1" smtClean="0"/>
              <a:t>Magnetic Fluid Conditioner</a:t>
            </a:r>
            <a:r>
              <a:rPr lang="en-US" altLang="en-US" sz="1800" smtClean="0"/>
              <a:t/>
            </a:r>
            <a:br>
              <a:rPr lang="en-US" altLang="en-US" sz="1800" smtClean="0"/>
            </a:br>
            <a:r>
              <a:rPr lang="en-US" altLang="en-US" sz="1800" i="1" smtClean="0"/>
              <a:t>For 1/2" to 1" Tubing or Pipe.</a:t>
            </a:r>
          </a:p>
          <a:p>
            <a:pPr eaLnBrk="1" hangingPunct="1">
              <a:lnSpc>
                <a:spcPct val="80000"/>
              </a:lnSpc>
              <a:defRPr/>
            </a:pPr>
            <a:endParaRPr lang="en-US" altLang="en-US" sz="1800" b="1" i="1" u="sng" smtClean="0"/>
          </a:p>
          <a:p>
            <a:pPr eaLnBrk="1" hangingPunct="1">
              <a:lnSpc>
                <a:spcPct val="80000"/>
              </a:lnSpc>
              <a:buFontTx/>
              <a:buNone/>
              <a:defRPr/>
            </a:pPr>
            <a:r>
              <a:rPr lang="en-US" altLang="en-US" sz="1800" b="1" i="1" u="sng" smtClean="0"/>
              <a:t>Primary Applications</a:t>
            </a:r>
            <a:r>
              <a:rPr lang="en-US" altLang="en-US" sz="1800" b="1" i="1" smtClean="0"/>
              <a:t>:</a:t>
            </a:r>
            <a:endParaRPr lang="en-US" altLang="en-US" sz="1800" i="1" smtClean="0"/>
          </a:p>
          <a:p>
            <a:pPr eaLnBrk="1" hangingPunct="1">
              <a:lnSpc>
                <a:spcPct val="80000"/>
              </a:lnSpc>
              <a:defRPr/>
            </a:pPr>
            <a:endParaRPr lang="en-US" altLang="en-US" sz="1800" i="1" smtClean="0"/>
          </a:p>
          <a:p>
            <a:pPr eaLnBrk="1" hangingPunct="1">
              <a:lnSpc>
                <a:spcPct val="80000"/>
              </a:lnSpc>
              <a:defRPr/>
            </a:pPr>
            <a:r>
              <a:rPr lang="en-US" altLang="en-US" sz="1800" i="1" smtClean="0"/>
              <a:t>Residential, commercial, and light industrial applications wherever hard water is present (plumbing systems, water heaters, commercial ice machines, fountains, laundries, printing equipment, commercial dishwashers).</a:t>
            </a:r>
          </a:p>
          <a:p>
            <a:pPr eaLnBrk="1" hangingPunct="1">
              <a:lnSpc>
                <a:spcPct val="80000"/>
              </a:lnSpc>
              <a:defRPr/>
            </a:pPr>
            <a:endParaRPr lang="en-US" altLang="en-US" sz="1800" i="1" smtClean="0"/>
          </a:p>
          <a:p>
            <a:pPr eaLnBrk="1" hangingPunct="1">
              <a:lnSpc>
                <a:spcPct val="80000"/>
              </a:lnSpc>
              <a:defRPr/>
            </a:pPr>
            <a:r>
              <a:rPr lang="en-US" altLang="en-US" sz="1800" i="1" smtClean="0"/>
              <a:t>Other applications: car and truck cooling systems and irrigation systems.</a:t>
            </a:r>
          </a:p>
        </p:txBody>
      </p:sp>
      <p:pic>
        <p:nvPicPr>
          <p:cNvPr id="16388" name="Picture 6" descr="&#10;gmx800.jpg                                                     00014C48silver                         B75E07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05000"/>
            <a:ext cx="3200400" cy="2057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381000" y="444500"/>
            <a:ext cx="8229600" cy="1384300"/>
          </a:xfrm>
        </p:spPr>
        <p:txBody>
          <a:bodyPr/>
          <a:lstStyle/>
          <a:p>
            <a:pPr eaLnBrk="1" hangingPunct="1">
              <a:defRPr/>
            </a:pPr>
            <a:r>
              <a:rPr lang="en-US" altLang="en-US" b="1" smtClean="0"/>
              <a:t>Model 848</a:t>
            </a:r>
            <a:r>
              <a:rPr lang="en-US" altLang="en-US" smtClean="0"/>
              <a:t> </a:t>
            </a:r>
          </a:p>
        </p:txBody>
      </p:sp>
      <p:sp>
        <p:nvSpPr>
          <p:cNvPr id="69635" name="Rectangle 3"/>
          <p:cNvSpPr>
            <a:spLocks noGrp="1" noChangeArrowheads="1"/>
          </p:cNvSpPr>
          <p:nvPr>
            <p:ph type="body" idx="1"/>
          </p:nvPr>
        </p:nvSpPr>
        <p:spPr>
          <a:xfrm>
            <a:off x="3962400" y="1524000"/>
            <a:ext cx="4724400" cy="4953000"/>
          </a:xfrm>
        </p:spPr>
        <p:txBody>
          <a:bodyPr/>
          <a:lstStyle/>
          <a:p>
            <a:pPr eaLnBrk="1" hangingPunct="1">
              <a:lnSpc>
                <a:spcPct val="80000"/>
              </a:lnSpc>
              <a:buFontTx/>
              <a:buNone/>
              <a:defRPr/>
            </a:pPr>
            <a:r>
              <a:rPr lang="en-US" altLang="en-US" sz="2400" b="1" smtClean="0"/>
              <a:t>Model 848</a:t>
            </a:r>
          </a:p>
          <a:p>
            <a:pPr eaLnBrk="1" hangingPunct="1">
              <a:lnSpc>
                <a:spcPct val="80000"/>
              </a:lnSpc>
              <a:buFontTx/>
              <a:buNone/>
              <a:defRPr/>
            </a:pPr>
            <a:r>
              <a:rPr lang="en-US" altLang="en-US" sz="2000" i="1" smtClean="0"/>
              <a:t>For 1 1/4" to 2" Tubing or Pipe.</a:t>
            </a:r>
            <a:r>
              <a:rPr lang="en-US" altLang="en-US" sz="2400" b="1" smtClean="0"/>
              <a:t> </a:t>
            </a:r>
          </a:p>
          <a:p>
            <a:pPr eaLnBrk="1" hangingPunct="1">
              <a:lnSpc>
                <a:spcPct val="80000"/>
              </a:lnSpc>
              <a:buFontTx/>
              <a:buNone/>
              <a:defRPr/>
            </a:pPr>
            <a:endParaRPr lang="en-US" altLang="en-US" sz="2400" b="1" smtClean="0"/>
          </a:p>
          <a:p>
            <a:pPr eaLnBrk="1" hangingPunct="1">
              <a:lnSpc>
                <a:spcPct val="80000"/>
              </a:lnSpc>
              <a:buFontTx/>
              <a:buNone/>
              <a:defRPr/>
            </a:pPr>
            <a:r>
              <a:rPr lang="en-US" altLang="en-US" sz="2400" b="1" i="1" u="sng" smtClean="0"/>
              <a:t>Primary Applications:</a:t>
            </a:r>
            <a:endParaRPr lang="en-US" altLang="en-US" sz="2400" i="1" u="sng" smtClean="0"/>
          </a:p>
          <a:p>
            <a:pPr eaLnBrk="1" hangingPunct="1">
              <a:lnSpc>
                <a:spcPct val="80000"/>
              </a:lnSpc>
              <a:defRPr/>
            </a:pPr>
            <a:r>
              <a:rPr lang="en-US" altLang="en-US" sz="2400" i="1" smtClean="0"/>
              <a:t>Residential, commercial and industrial applications wherever hard water is present (plumbing systems, appliances, pools, and spas).</a:t>
            </a:r>
          </a:p>
          <a:p>
            <a:pPr eaLnBrk="1" hangingPunct="1">
              <a:lnSpc>
                <a:spcPct val="80000"/>
              </a:lnSpc>
              <a:buFontTx/>
              <a:buNone/>
              <a:defRPr/>
            </a:pPr>
            <a:endParaRPr lang="en-US" altLang="en-US" sz="2400" i="1" smtClean="0"/>
          </a:p>
          <a:p>
            <a:pPr eaLnBrk="1" hangingPunct="1">
              <a:lnSpc>
                <a:spcPct val="80000"/>
              </a:lnSpc>
              <a:defRPr/>
            </a:pPr>
            <a:r>
              <a:rPr lang="en-US" altLang="en-US" sz="2400" i="1" smtClean="0"/>
              <a:t>Other applications: systems for apartment, condominiums, water-cooled equipment, laundries, car washes, and irrigation systems.</a:t>
            </a:r>
          </a:p>
        </p:txBody>
      </p:sp>
      <p:pic>
        <p:nvPicPr>
          <p:cNvPr id="17412" name="Picture 7" descr="&#10;gmx848.jpg                                                     00014C48silver                         B75E07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828800"/>
            <a:ext cx="3200400" cy="22399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defRPr/>
            </a:pPr>
            <a:r>
              <a:rPr lang="en-US" altLang="en-US" b="1" smtClean="0"/>
              <a:t>Model 8000</a:t>
            </a:r>
          </a:p>
        </p:txBody>
      </p:sp>
      <p:sp>
        <p:nvSpPr>
          <p:cNvPr id="71683" name="Rectangle 3"/>
          <p:cNvSpPr>
            <a:spLocks noGrp="1" noChangeArrowheads="1"/>
          </p:cNvSpPr>
          <p:nvPr>
            <p:ph type="body" idx="1"/>
          </p:nvPr>
        </p:nvSpPr>
        <p:spPr>
          <a:xfrm>
            <a:off x="838200" y="1905000"/>
            <a:ext cx="4191000" cy="4114800"/>
          </a:xfrm>
        </p:spPr>
        <p:txBody>
          <a:bodyPr/>
          <a:lstStyle/>
          <a:p>
            <a:pPr eaLnBrk="1" hangingPunct="1">
              <a:lnSpc>
                <a:spcPct val="90000"/>
              </a:lnSpc>
              <a:buFontTx/>
              <a:buNone/>
              <a:defRPr/>
            </a:pPr>
            <a:r>
              <a:rPr lang="en-US" altLang="en-US" sz="2400" b="1" smtClean="0"/>
              <a:t>Model 8000 </a:t>
            </a:r>
          </a:p>
          <a:p>
            <a:pPr eaLnBrk="1" hangingPunct="1">
              <a:lnSpc>
                <a:spcPct val="90000"/>
              </a:lnSpc>
              <a:buFontTx/>
              <a:buNone/>
              <a:defRPr/>
            </a:pPr>
            <a:r>
              <a:rPr lang="en-US" altLang="en-US" sz="2400" b="1" smtClean="0"/>
              <a:t>Magnetic Fluid Conditioner</a:t>
            </a:r>
            <a:r>
              <a:rPr lang="en-US" altLang="en-US" sz="2400" smtClean="0"/>
              <a:t/>
            </a:r>
            <a:br>
              <a:rPr lang="en-US" altLang="en-US" sz="2400" smtClean="0"/>
            </a:br>
            <a:r>
              <a:rPr lang="en-US" altLang="en-US" sz="2400" i="1" smtClean="0"/>
              <a:t>For 2" to 8" Tubing or Pipe.</a:t>
            </a:r>
          </a:p>
          <a:p>
            <a:pPr eaLnBrk="1" hangingPunct="1">
              <a:lnSpc>
                <a:spcPct val="90000"/>
              </a:lnSpc>
              <a:buFontTx/>
              <a:buNone/>
              <a:defRPr/>
            </a:pPr>
            <a:endParaRPr lang="en-US" altLang="en-US" sz="2400" b="1" i="1" u="sng" smtClean="0"/>
          </a:p>
          <a:p>
            <a:pPr eaLnBrk="1" hangingPunct="1">
              <a:lnSpc>
                <a:spcPct val="90000"/>
              </a:lnSpc>
              <a:buFontTx/>
              <a:buNone/>
              <a:defRPr/>
            </a:pPr>
            <a:r>
              <a:rPr lang="en-US" altLang="en-US" sz="2400" b="1" i="1" u="sng" smtClean="0"/>
              <a:t>Primary Applications</a:t>
            </a:r>
            <a:r>
              <a:rPr lang="en-US" altLang="en-US" sz="2400" b="1" i="1" smtClean="0"/>
              <a:t>:</a:t>
            </a:r>
            <a:endParaRPr lang="en-US" altLang="en-US" sz="2400" i="1" smtClean="0"/>
          </a:p>
          <a:p>
            <a:pPr eaLnBrk="1" hangingPunct="1">
              <a:lnSpc>
                <a:spcPct val="90000"/>
              </a:lnSpc>
              <a:defRPr/>
            </a:pPr>
            <a:r>
              <a:rPr lang="en-US" altLang="en-US" sz="2400" i="1" smtClean="0"/>
              <a:t>Residential, Commercial, Industrial,and agricultural applications wherever hard water is present.</a:t>
            </a:r>
          </a:p>
        </p:txBody>
      </p:sp>
      <p:pic>
        <p:nvPicPr>
          <p:cNvPr id="18436" name="Picture 11" descr="&#10;gmx8000.2.jpg                                                  00014C48silver                         B75E07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2738" y="914400"/>
            <a:ext cx="2303462" cy="3200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C:\Users\Hp\Desktop\images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533400"/>
            <a:ext cx="2719387" cy="39118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8915" name="Picture 3" descr="C:\Users\Hp\Desktop\imag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755507"/>
            <a:ext cx="3200400" cy="19514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8916" name="Picture 4" descr="C:\Users\Hp\Desktop\magnetic-water-softener-500x50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533400"/>
            <a:ext cx="3931534" cy="39315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1771806"/>
      </p:ext>
    </p:extLst>
  </p:cSld>
  <p:clrMapOvr>
    <a:masterClrMapping/>
  </p:clrMapOvr>
  <p:transition spd="med">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en-US" altLang="en-US" smtClean="0"/>
              <a:t>Plants &amp; Irrigation</a:t>
            </a:r>
          </a:p>
        </p:txBody>
      </p:sp>
      <p:sp>
        <p:nvSpPr>
          <p:cNvPr id="86019" name="Rectangle 3"/>
          <p:cNvSpPr>
            <a:spLocks noGrp="1" noChangeArrowheads="1"/>
          </p:cNvSpPr>
          <p:nvPr>
            <p:ph type="body" idx="1"/>
          </p:nvPr>
        </p:nvSpPr>
        <p:spPr>
          <a:xfrm>
            <a:off x="762000" y="1600200"/>
            <a:ext cx="8001000" cy="4876800"/>
          </a:xfrm>
        </p:spPr>
        <p:txBody>
          <a:bodyPr/>
          <a:lstStyle/>
          <a:p>
            <a:pPr eaLnBrk="1" hangingPunct="1">
              <a:lnSpc>
                <a:spcPct val="80000"/>
              </a:lnSpc>
              <a:defRPr/>
            </a:pPr>
            <a:r>
              <a:rPr lang="en-US" altLang="en-US" sz="2800" dirty="0" smtClean="0"/>
              <a:t>Surface tension plays a key role in the effective irrigation of plants.</a:t>
            </a:r>
          </a:p>
          <a:p>
            <a:pPr eaLnBrk="1" hangingPunct="1">
              <a:lnSpc>
                <a:spcPct val="80000"/>
              </a:lnSpc>
              <a:buFontTx/>
              <a:buNone/>
              <a:defRPr/>
            </a:pPr>
            <a:endParaRPr lang="en-US" altLang="en-US" sz="1800" dirty="0" smtClean="0"/>
          </a:p>
          <a:p>
            <a:pPr eaLnBrk="1" hangingPunct="1">
              <a:lnSpc>
                <a:spcPct val="80000"/>
              </a:lnSpc>
              <a:defRPr/>
            </a:pPr>
            <a:r>
              <a:rPr lang="en-US" altLang="en-US" sz="2800" dirty="0" smtClean="0"/>
              <a:t>Magnets reduce the surface tension of fluids.</a:t>
            </a:r>
          </a:p>
          <a:p>
            <a:pPr eaLnBrk="1" hangingPunct="1">
              <a:lnSpc>
                <a:spcPct val="80000"/>
              </a:lnSpc>
              <a:buFontTx/>
              <a:buNone/>
              <a:defRPr/>
            </a:pPr>
            <a:endParaRPr lang="en-US" altLang="en-US" sz="1800" dirty="0" smtClean="0"/>
          </a:p>
          <a:p>
            <a:pPr eaLnBrk="1" hangingPunct="1">
              <a:lnSpc>
                <a:spcPct val="80000"/>
              </a:lnSpc>
              <a:defRPr/>
            </a:pPr>
            <a:r>
              <a:rPr lang="en-US" altLang="en-US" sz="2800" dirty="0" smtClean="0"/>
              <a:t>Water with low surface tension, enables plants to quickly receive nutrients and re-hydrate. </a:t>
            </a:r>
          </a:p>
          <a:p>
            <a:pPr eaLnBrk="1" hangingPunct="1">
              <a:lnSpc>
                <a:spcPct val="80000"/>
              </a:lnSpc>
              <a:buFontTx/>
              <a:buNone/>
              <a:defRPr/>
            </a:pPr>
            <a:endParaRPr lang="en-US" altLang="en-US" sz="1800" dirty="0" smtClean="0"/>
          </a:p>
          <a:p>
            <a:pPr eaLnBrk="1" hangingPunct="1">
              <a:lnSpc>
                <a:spcPct val="80000"/>
              </a:lnSpc>
              <a:defRPr/>
            </a:pPr>
            <a:r>
              <a:rPr lang="en-US" altLang="en-US" sz="2800" dirty="0" smtClean="0"/>
              <a:t>The benefits:</a:t>
            </a:r>
          </a:p>
          <a:p>
            <a:pPr lvl="1" eaLnBrk="1" hangingPunct="1">
              <a:lnSpc>
                <a:spcPct val="80000"/>
              </a:lnSpc>
              <a:defRPr/>
            </a:pPr>
            <a:r>
              <a:rPr lang="en-US" altLang="en-US" sz="2400" dirty="0" smtClean="0"/>
              <a:t>A savings of water</a:t>
            </a:r>
          </a:p>
          <a:p>
            <a:pPr lvl="1" eaLnBrk="1" hangingPunct="1">
              <a:lnSpc>
                <a:spcPct val="80000"/>
              </a:lnSpc>
              <a:defRPr/>
            </a:pPr>
            <a:r>
              <a:rPr lang="en-US" altLang="en-US" sz="2400" dirty="0" smtClean="0"/>
              <a:t>Healthier more productive plants</a:t>
            </a:r>
          </a:p>
          <a:p>
            <a:pPr lvl="1" eaLnBrk="1" hangingPunct="1">
              <a:lnSpc>
                <a:spcPct val="80000"/>
              </a:lnSpc>
              <a:defRPr/>
            </a:pPr>
            <a:r>
              <a:rPr lang="en-US" altLang="en-US" sz="2400" dirty="0" smtClean="0"/>
              <a:t>Reduction of scale build up on irrigation equipment</a:t>
            </a:r>
          </a:p>
          <a:p>
            <a:pPr lvl="1" eaLnBrk="1" hangingPunct="1">
              <a:lnSpc>
                <a:spcPct val="80000"/>
              </a:lnSpc>
              <a:defRPr/>
            </a:pPr>
            <a:r>
              <a:rPr lang="en-US" altLang="en-US" sz="2400" dirty="0" smtClean="0"/>
              <a:t>Cost saving from the above items</a:t>
            </a:r>
          </a:p>
        </p:txBody>
      </p:sp>
    </p:spTree>
  </p:cSld>
  <p:clrMapOvr>
    <a:masterClrMapping/>
  </p:clrMapOvr>
  <p:transition spd="med">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C:\Users\Hp\Desktop\downloa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990600"/>
            <a:ext cx="3810000" cy="37930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7891" name="Picture 3" descr="C:\Users\Hp\Desktop\download (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092" y="1828800"/>
            <a:ext cx="4411148" cy="24312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981200" y="5421868"/>
            <a:ext cx="7086282" cy="646331"/>
          </a:xfrm>
          <a:prstGeom prst="rect">
            <a:avLst/>
          </a:prstGeom>
          <a:noFill/>
        </p:spPr>
        <p:txBody>
          <a:bodyPr wrap="square" rtlCol="0">
            <a:spAutoFit/>
          </a:bodyPr>
          <a:lstStyle/>
          <a:p>
            <a:r>
              <a:rPr lang="en-US" b="1" dirty="0">
                <a:hlinkClick r:id="rId4"/>
              </a:rPr>
              <a:t>https://</a:t>
            </a:r>
            <a:r>
              <a:rPr lang="en-US" b="1" dirty="0" smtClean="0">
                <a:hlinkClick r:id="rId4"/>
              </a:rPr>
              <a:t>www.youtube.com/watch?v=rObJQWy8xa8</a:t>
            </a:r>
            <a:endParaRPr lang="en-US" b="1" dirty="0" smtClean="0"/>
          </a:p>
          <a:p>
            <a:r>
              <a:rPr lang="en-US" b="1" dirty="0"/>
              <a:t>https://www.youtube.com/watch?v=pVPo1GylfG8</a:t>
            </a:r>
            <a:endParaRPr lang="en-US" b="1" dirty="0"/>
          </a:p>
        </p:txBody>
      </p:sp>
      <p:sp>
        <p:nvSpPr>
          <p:cNvPr id="3" name="TextBox 2"/>
          <p:cNvSpPr txBox="1"/>
          <p:nvPr/>
        </p:nvSpPr>
        <p:spPr>
          <a:xfrm>
            <a:off x="1981200" y="5983240"/>
            <a:ext cx="6316153" cy="369332"/>
          </a:xfrm>
          <a:prstGeom prst="rect">
            <a:avLst/>
          </a:prstGeom>
          <a:noFill/>
        </p:spPr>
        <p:txBody>
          <a:bodyPr wrap="none" rtlCol="0">
            <a:spAutoFit/>
          </a:bodyPr>
          <a:lstStyle/>
          <a:p>
            <a:r>
              <a:rPr lang="en-US" b="1" dirty="0"/>
              <a:t>https://www.youtube.com/watch?v=DO34hjCdV9M</a:t>
            </a:r>
            <a:endParaRPr lang="en-US" b="1" dirty="0"/>
          </a:p>
        </p:txBody>
      </p:sp>
    </p:spTree>
    <p:extLst>
      <p:ext uri="{BB962C8B-B14F-4D97-AF65-F5344CB8AC3E}">
        <p14:creationId xmlns:p14="http://schemas.microsoft.com/office/powerpoint/2010/main" val="2030853362"/>
      </p:ext>
    </p:extLst>
  </p:cSld>
  <p:clrMapOvr>
    <a:masterClrMapping/>
  </p:clrMapOvr>
  <p:transition spd="med">
    <p:dissolv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457200" y="292100"/>
            <a:ext cx="8229600" cy="1079500"/>
          </a:xfrm>
        </p:spPr>
        <p:txBody>
          <a:bodyPr/>
          <a:lstStyle/>
          <a:p>
            <a:pPr eaLnBrk="1" hangingPunct="1">
              <a:defRPr/>
            </a:pPr>
            <a:r>
              <a:rPr lang="en-US" altLang="en-US" sz="3200" b="1" smtClean="0"/>
              <a:t>INDUSTRIAL/COMMERCIAL RESULTS</a:t>
            </a:r>
          </a:p>
        </p:txBody>
      </p:sp>
      <p:sp>
        <p:nvSpPr>
          <p:cNvPr id="80899" name="Rectangle 3"/>
          <p:cNvSpPr>
            <a:spLocks noGrp="1" noChangeArrowheads="1"/>
          </p:cNvSpPr>
          <p:nvPr>
            <p:ph type="body" idx="1"/>
          </p:nvPr>
        </p:nvSpPr>
        <p:spPr>
          <a:xfrm>
            <a:off x="381000" y="1371600"/>
            <a:ext cx="8382000" cy="5029200"/>
          </a:xfrm>
        </p:spPr>
        <p:txBody>
          <a:bodyPr/>
          <a:lstStyle/>
          <a:p>
            <a:pPr eaLnBrk="1" hangingPunct="1">
              <a:lnSpc>
                <a:spcPct val="90000"/>
              </a:lnSpc>
              <a:defRPr/>
            </a:pPr>
            <a:r>
              <a:rPr lang="en-US" altLang="en-US" sz="2000" b="1" u="sng" dirty="0" smtClean="0"/>
              <a:t>Alaska Pipeline</a:t>
            </a:r>
            <a:r>
              <a:rPr lang="en-US" altLang="en-US" sz="2000" b="1" dirty="0" smtClean="0"/>
              <a:t>:</a:t>
            </a:r>
            <a:r>
              <a:rPr lang="en-US" altLang="en-US" sz="2000" dirty="0" smtClean="0"/>
              <a:t> The Alaska Pipeline has 40,000 five pound Magnets attached to it. Oil Companies use magnets to prevent wax and sludge build-ups in pipes.*</a:t>
            </a:r>
          </a:p>
          <a:p>
            <a:pPr eaLnBrk="1" hangingPunct="1">
              <a:lnSpc>
                <a:spcPct val="90000"/>
              </a:lnSpc>
              <a:buFontTx/>
              <a:buNone/>
              <a:defRPr/>
            </a:pPr>
            <a:endParaRPr lang="en-US" altLang="en-US" sz="2000" dirty="0" smtClean="0"/>
          </a:p>
          <a:p>
            <a:pPr eaLnBrk="1" hangingPunct="1">
              <a:lnSpc>
                <a:spcPct val="90000"/>
              </a:lnSpc>
              <a:defRPr/>
            </a:pPr>
            <a:r>
              <a:rPr lang="en-US" altLang="en-US" sz="2000" b="1" u="sng" dirty="0" smtClean="0"/>
              <a:t>California Wineries</a:t>
            </a:r>
            <a:r>
              <a:rPr lang="en-US" altLang="en-US" sz="2000" b="1" dirty="0" smtClean="0"/>
              <a:t>:</a:t>
            </a:r>
            <a:r>
              <a:rPr lang="en-US" altLang="en-US" sz="2000" dirty="0" smtClean="0"/>
              <a:t> Over 90% of the large Wineries in California are using Magnetic Systems in tasting rooms, winery and grape fields.* </a:t>
            </a:r>
          </a:p>
          <a:p>
            <a:pPr eaLnBrk="1" hangingPunct="1">
              <a:lnSpc>
                <a:spcPct val="90000"/>
              </a:lnSpc>
              <a:buFontTx/>
              <a:buNone/>
              <a:defRPr/>
            </a:pPr>
            <a:endParaRPr lang="en-US" altLang="en-US" sz="2000" dirty="0" smtClean="0"/>
          </a:p>
          <a:p>
            <a:pPr eaLnBrk="1" hangingPunct="1">
              <a:lnSpc>
                <a:spcPct val="90000"/>
              </a:lnSpc>
              <a:defRPr/>
            </a:pPr>
            <a:r>
              <a:rPr lang="en-US" altLang="en-US" sz="2000" b="1" u="sng" dirty="0" smtClean="0"/>
              <a:t>U.S. Dept. of Coast Guard, Engineer's Digest</a:t>
            </a:r>
            <a:r>
              <a:rPr lang="en-US" altLang="en-US" sz="2000" b="1" dirty="0" smtClean="0"/>
              <a:t>: </a:t>
            </a:r>
            <a:r>
              <a:rPr lang="en-US" altLang="en-US" sz="2000" dirty="0" smtClean="0">
                <a:latin typeface="Times-Roman" charset="0"/>
              </a:rPr>
              <a:t>Scale deposit had restricted the plumbing to a point where only 40% of the needed flow rate was available. After the Magnetic System had cleared the tubes, the oil consumption in a 2 week period dropped to 40, from 60 gallons, providing an approximate 30% savings in fuel, which will pay for the System in a short period of time and prolong the life of the boiler and heat exchanger. This equipment has been maintenance free and has continued to provide energy savings and improved equipment life.</a:t>
            </a:r>
            <a:r>
              <a:rPr lang="en-US" altLang="en-US" sz="2000" dirty="0" smtClean="0"/>
              <a:t>*</a:t>
            </a:r>
          </a:p>
          <a:p>
            <a:pPr eaLnBrk="1" hangingPunct="1">
              <a:lnSpc>
                <a:spcPct val="90000"/>
              </a:lnSpc>
              <a:buFontTx/>
              <a:buNone/>
              <a:defRPr/>
            </a:pPr>
            <a:r>
              <a:rPr lang="en-US" altLang="en-US" sz="1200" b="1" dirty="0" smtClean="0"/>
              <a:t>										</a:t>
            </a:r>
            <a:r>
              <a:rPr lang="en-US" altLang="en-US" sz="800" b="1" dirty="0" smtClean="0"/>
              <a:t>*source:  </a:t>
            </a:r>
            <a:r>
              <a:rPr lang="en-US" altLang="en-US" sz="800" dirty="0" smtClean="0"/>
              <a:t>http://www.safe2use.com/safe-products/agua-soft/articles/industrial-uses.htm</a:t>
            </a:r>
          </a:p>
        </p:txBody>
      </p:sp>
    </p:spTree>
  </p:cSld>
  <p:clrMapOvr>
    <a:masterClrMapping/>
  </p:clrMapOvr>
  <p:transition spd="med">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457200" y="444500"/>
            <a:ext cx="8229600" cy="1384300"/>
          </a:xfrm>
        </p:spPr>
        <p:txBody>
          <a:bodyPr/>
          <a:lstStyle/>
          <a:p>
            <a:pPr eaLnBrk="1" hangingPunct="1">
              <a:defRPr/>
            </a:pPr>
            <a:r>
              <a:rPr lang="en-US" altLang="en-US" smtClean="0"/>
              <a:t>Time to give it a try?</a:t>
            </a:r>
          </a:p>
        </p:txBody>
      </p:sp>
      <p:sp>
        <p:nvSpPr>
          <p:cNvPr id="87043" name="Rectangle 3"/>
          <p:cNvSpPr>
            <a:spLocks noGrp="1" noChangeArrowheads="1"/>
          </p:cNvSpPr>
          <p:nvPr>
            <p:ph type="body" idx="1"/>
          </p:nvPr>
        </p:nvSpPr>
        <p:spPr>
          <a:xfrm>
            <a:off x="1295400" y="1905000"/>
            <a:ext cx="7391400" cy="4648200"/>
          </a:xfrm>
        </p:spPr>
        <p:txBody>
          <a:bodyPr/>
          <a:lstStyle/>
          <a:p>
            <a:pPr eaLnBrk="1" hangingPunct="1">
              <a:defRPr/>
            </a:pPr>
            <a:r>
              <a:rPr lang="en-US" altLang="en-US" sz="2800" smtClean="0"/>
              <a:t>GMX magnets are sized to fit your pipes</a:t>
            </a:r>
          </a:p>
          <a:p>
            <a:pPr eaLnBrk="1" hangingPunct="1">
              <a:buFontTx/>
              <a:buNone/>
              <a:defRPr/>
            </a:pPr>
            <a:endParaRPr lang="en-US" altLang="en-US" sz="2800" smtClean="0"/>
          </a:p>
          <a:p>
            <a:pPr eaLnBrk="1" hangingPunct="1">
              <a:defRPr/>
            </a:pPr>
            <a:r>
              <a:rPr lang="en-US" altLang="en-US" sz="2800" smtClean="0"/>
              <a:t>Affordable and maintenance free</a:t>
            </a:r>
          </a:p>
          <a:p>
            <a:pPr eaLnBrk="1" hangingPunct="1">
              <a:defRPr/>
            </a:pPr>
            <a:endParaRPr lang="en-US" altLang="en-US" sz="2800" smtClean="0"/>
          </a:p>
          <a:p>
            <a:pPr eaLnBrk="1" hangingPunct="1">
              <a:defRPr/>
            </a:pPr>
            <a:r>
              <a:rPr lang="en-US" altLang="en-US" sz="2800" smtClean="0"/>
              <a:t>No risk - 90 day Satisfaction Guarantee</a:t>
            </a:r>
          </a:p>
          <a:p>
            <a:pPr eaLnBrk="1" hangingPunct="1">
              <a:defRPr/>
            </a:pPr>
            <a:endParaRPr lang="en-US" altLang="en-US" sz="2800" smtClean="0"/>
          </a:p>
          <a:p>
            <a:pPr eaLnBrk="1" hangingPunct="1">
              <a:defRPr/>
            </a:pPr>
            <a:r>
              <a:rPr lang="en-US" altLang="en-US" sz="2800" smtClean="0"/>
              <a:t>Lifetime Manufacturer’s Warranty</a:t>
            </a:r>
          </a:p>
          <a:p>
            <a:pPr eaLnBrk="1" hangingPunct="1">
              <a:defRPr/>
            </a:pPr>
            <a:endParaRPr lang="en-US" altLang="en-US" sz="2800" smtClean="0"/>
          </a:p>
        </p:txBody>
      </p:sp>
    </p:spTree>
  </p:cSld>
  <p:clrMapOvr>
    <a:masterClrMapping/>
  </p:clrMapOvr>
  <p:transition spd="med">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defRPr/>
            </a:pPr>
            <a:r>
              <a:rPr lang="en-US" altLang="en-US" smtClean="0"/>
              <a:t>Contact GMX International</a:t>
            </a:r>
          </a:p>
        </p:txBody>
      </p:sp>
      <p:sp>
        <p:nvSpPr>
          <p:cNvPr id="88067" name="Rectangle 3"/>
          <p:cNvSpPr>
            <a:spLocks noGrp="1" noChangeArrowheads="1"/>
          </p:cNvSpPr>
          <p:nvPr>
            <p:ph type="body" idx="1"/>
          </p:nvPr>
        </p:nvSpPr>
        <p:spPr>
          <a:xfrm>
            <a:off x="1447800" y="1981200"/>
            <a:ext cx="6781800" cy="4114800"/>
          </a:xfrm>
        </p:spPr>
        <p:txBody>
          <a:bodyPr/>
          <a:lstStyle/>
          <a:p>
            <a:pPr eaLnBrk="1" hangingPunct="1">
              <a:defRPr/>
            </a:pPr>
            <a:r>
              <a:rPr lang="en-US" altLang="en-US" smtClean="0">
                <a:latin typeface="ArialMT" charset="0"/>
              </a:rPr>
              <a:t>Toll Free: 800-373-4469</a:t>
            </a:r>
            <a:r>
              <a:rPr lang="en-US" altLang="en-US" smtClean="0">
                <a:solidFill>
                  <a:srgbClr val="000F44"/>
                </a:solidFill>
                <a:latin typeface="ArialMT" charset="0"/>
              </a:rPr>
              <a:t> </a:t>
            </a:r>
            <a:endParaRPr lang="en-US" altLang="en-US" smtClean="0">
              <a:latin typeface="ArialMT" charset="0"/>
              <a:hlinkClick r:id="rId2"/>
            </a:endParaRPr>
          </a:p>
          <a:p>
            <a:pPr eaLnBrk="1" hangingPunct="1">
              <a:lnSpc>
                <a:spcPct val="130000"/>
              </a:lnSpc>
              <a:defRPr/>
            </a:pPr>
            <a:r>
              <a:rPr lang="en-US" altLang="en-US" smtClean="0">
                <a:latin typeface="ArialMT" charset="0"/>
                <a:hlinkClick r:id="rId2"/>
              </a:rPr>
              <a:t>gmxinternational.com</a:t>
            </a:r>
            <a:endParaRPr lang="en-US" altLang="en-US" smtClean="0">
              <a:latin typeface="ArialMT" charset="0"/>
            </a:endParaRPr>
          </a:p>
          <a:p>
            <a:pPr eaLnBrk="1" hangingPunct="1">
              <a:lnSpc>
                <a:spcPct val="130000"/>
              </a:lnSpc>
              <a:defRPr/>
            </a:pPr>
            <a:r>
              <a:rPr lang="en-US" altLang="en-US" smtClean="0">
                <a:latin typeface="ArialMT" charset="0"/>
              </a:rPr>
              <a:t>Or your local GMX distributor</a:t>
            </a:r>
          </a:p>
        </p:txBody>
      </p:sp>
    </p:spTree>
  </p:cSld>
  <p:clrMapOvr>
    <a:masterClrMapping/>
  </p:clrMapOvr>
  <p:transition spd="med">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3" descr="C:\Users\Hp\Desktop\BT421 Dr. Rami\20170729_212439.jpg"/>
          <p:cNvPicPr>
            <a:picLocks noChangeAspect="1" noChangeArrowheads="1"/>
          </p:cNvPicPr>
          <p:nvPr/>
        </p:nvPicPr>
        <p:blipFill>
          <a:blip r:embed="rId2"/>
          <a:srcRect/>
          <a:stretch>
            <a:fillRect/>
          </a:stretch>
        </p:blipFill>
        <p:spPr bwMode="auto">
          <a:xfrm>
            <a:off x="1828800" y="2286000"/>
            <a:ext cx="4960938" cy="27908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dissolve/>
  </p:transition>
  <p:timing>
    <p:tnLst>
      <p:par>
        <p:cTn id="1" dur="indefinite" restart="never" nodeType="tmRoot"/>
      </p:par>
    </p:tnLst>
  </p:timing>
</p:sld>
</file>

<file path=ppt/theme/theme1.xml><?xml version="1.0" encoding="utf-8"?>
<a:theme xmlns:a="http://schemas.openxmlformats.org/drawingml/2006/main" name="Ocean">
  <a:themeElements>
    <a:clrScheme name="Ocean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fontScheme name="Ocea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Ocean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Ocean 2">
        <a:dk1>
          <a:srgbClr val="000066"/>
        </a:dk1>
        <a:lt1>
          <a:srgbClr val="FFFFFF"/>
        </a:lt1>
        <a:dk2>
          <a:srgbClr val="5D93FF"/>
        </a:dk2>
        <a:lt2>
          <a:srgbClr val="FFFFFF"/>
        </a:lt2>
        <a:accent1>
          <a:srgbClr val="6666FF"/>
        </a:accent1>
        <a:accent2>
          <a:srgbClr val="9999FF"/>
        </a:accent2>
        <a:accent3>
          <a:srgbClr val="B6C8FF"/>
        </a:accent3>
        <a:accent4>
          <a:srgbClr val="DADADA"/>
        </a:accent4>
        <a:accent5>
          <a:srgbClr val="B8B8FF"/>
        </a:accent5>
        <a:accent6>
          <a:srgbClr val="8A8AE7"/>
        </a:accent6>
        <a:hlink>
          <a:srgbClr val="FF3300"/>
        </a:hlink>
        <a:folHlink>
          <a:srgbClr val="FF9900"/>
        </a:folHlink>
      </a:clrScheme>
      <a:clrMap bg1="dk2" tx1="lt1" bg2="dk1" tx2="lt2" accent1="accent1" accent2="accent2" accent3="accent3" accent4="accent4" accent5="accent5" accent6="accent6" hlink="hlink" folHlink="folHlink"/>
    </a:extraClrScheme>
    <a:extraClrScheme>
      <a:clrScheme name="Ocean 3">
        <a:dk1>
          <a:srgbClr val="000000"/>
        </a:dk1>
        <a:lt1>
          <a:srgbClr val="FFFFFF"/>
        </a:lt1>
        <a:dk2>
          <a:srgbClr val="572E88"/>
        </a:dk2>
        <a:lt2>
          <a:srgbClr val="FFFFFF"/>
        </a:lt2>
        <a:accent1>
          <a:srgbClr val="FF6600"/>
        </a:accent1>
        <a:accent2>
          <a:srgbClr val="FFCC00"/>
        </a:accent2>
        <a:accent3>
          <a:srgbClr val="B4ADC3"/>
        </a:accent3>
        <a:accent4>
          <a:srgbClr val="DADADA"/>
        </a:accent4>
        <a:accent5>
          <a:srgbClr val="FFB8AA"/>
        </a:accent5>
        <a:accent6>
          <a:srgbClr val="E7B900"/>
        </a:accent6>
        <a:hlink>
          <a:srgbClr val="33CCCC"/>
        </a:hlink>
        <a:folHlink>
          <a:srgbClr val="36CC64"/>
        </a:folHlink>
      </a:clrScheme>
      <a:clrMap bg1="dk2" tx1="lt1" bg2="dk1" tx2="lt2" accent1="accent1" accent2="accent2" accent3="accent3" accent4="accent4" accent5="accent5" accent6="accent6" hlink="hlink" folHlink="folHlink"/>
    </a:extraClrScheme>
    <a:extraClrScheme>
      <a:clrScheme name="Ocean 4">
        <a:dk1>
          <a:srgbClr val="003366"/>
        </a:dk1>
        <a:lt1>
          <a:srgbClr val="FFFFFF"/>
        </a:lt1>
        <a:dk2>
          <a:srgbClr val="666699"/>
        </a:dk2>
        <a:lt2>
          <a:srgbClr val="FFFFFF"/>
        </a:lt2>
        <a:accent1>
          <a:srgbClr val="9966FF"/>
        </a:accent1>
        <a:accent2>
          <a:srgbClr val="00CC66"/>
        </a:accent2>
        <a:accent3>
          <a:srgbClr val="B8B8CA"/>
        </a:accent3>
        <a:accent4>
          <a:srgbClr val="DADADA"/>
        </a:accent4>
        <a:accent5>
          <a:srgbClr val="CAB8FF"/>
        </a:accent5>
        <a:accent6>
          <a:srgbClr val="00B95C"/>
        </a:accent6>
        <a:hlink>
          <a:srgbClr val="65C8FF"/>
        </a:hlink>
        <a:folHlink>
          <a:srgbClr val="FFCC99"/>
        </a:folHlink>
      </a:clrScheme>
      <a:clrMap bg1="dk2" tx1="lt1" bg2="dk1" tx2="lt2" accent1="accent1" accent2="accent2" accent3="accent3" accent4="accent4" accent5="accent5" accent6="accent6" hlink="hlink" folHlink="folHlink"/>
    </a:extraClrScheme>
    <a:extraClrScheme>
      <a:clrScheme name="Ocean 5">
        <a:dk1>
          <a:srgbClr val="000000"/>
        </a:dk1>
        <a:lt1>
          <a:srgbClr val="FFFFFF"/>
        </a:lt1>
        <a:dk2>
          <a:srgbClr val="336600"/>
        </a:dk2>
        <a:lt2>
          <a:srgbClr val="FFFFFF"/>
        </a:lt2>
        <a:accent1>
          <a:srgbClr val="B7C533"/>
        </a:accent1>
        <a:accent2>
          <a:srgbClr val="CCCCFF"/>
        </a:accent2>
        <a:accent3>
          <a:srgbClr val="ADB8AA"/>
        </a:accent3>
        <a:accent4>
          <a:srgbClr val="DADADA"/>
        </a:accent4>
        <a:accent5>
          <a:srgbClr val="D8DFAD"/>
        </a:accent5>
        <a:accent6>
          <a:srgbClr val="B9B9E7"/>
        </a:accent6>
        <a:hlink>
          <a:srgbClr val="FFFFCC"/>
        </a:hlink>
        <a:folHlink>
          <a:srgbClr val="FF9900"/>
        </a:folHlink>
      </a:clrScheme>
      <a:clrMap bg1="dk2" tx1="lt1" bg2="dk1" tx2="lt2" accent1="accent1" accent2="accent2" accent3="accent3" accent4="accent4" accent5="accent5" accent6="accent6" hlink="hlink" folHlink="folHlink"/>
    </a:extraClrScheme>
    <a:extraClrScheme>
      <a:clrScheme name="Ocean 6">
        <a:dk1>
          <a:srgbClr val="000000"/>
        </a:dk1>
        <a:lt1>
          <a:srgbClr val="FFFFFF"/>
        </a:lt1>
        <a:dk2>
          <a:srgbClr val="006B80"/>
        </a:dk2>
        <a:lt2>
          <a:srgbClr val="C1CB75"/>
        </a:lt2>
        <a:accent1>
          <a:srgbClr val="6F8406"/>
        </a:accent1>
        <a:accent2>
          <a:srgbClr val="D9E288"/>
        </a:accent2>
        <a:accent3>
          <a:srgbClr val="AABAC0"/>
        </a:accent3>
        <a:accent4>
          <a:srgbClr val="DADADA"/>
        </a:accent4>
        <a:accent5>
          <a:srgbClr val="BBC2AA"/>
        </a:accent5>
        <a:accent6>
          <a:srgbClr val="C4CD7B"/>
        </a:accent6>
        <a:hlink>
          <a:srgbClr val="00CC00"/>
        </a:hlink>
        <a:folHlink>
          <a:srgbClr val="C0FF73"/>
        </a:folHlink>
      </a:clrScheme>
      <a:clrMap bg1="dk2" tx1="lt1" bg2="dk1" tx2="lt2" accent1="accent1" accent2="accent2" accent3="accent3" accent4="accent4" accent5="accent5" accent6="accent6" hlink="hlink" folHlink="folHlink"/>
    </a:extraClrScheme>
    <a:extraClrScheme>
      <a:clrScheme name="Ocean 7">
        <a:dk1>
          <a:srgbClr val="5F5F5F"/>
        </a:dk1>
        <a:lt1>
          <a:srgbClr val="FFFFFF"/>
        </a:lt1>
        <a:dk2>
          <a:srgbClr val="FF6600"/>
        </a:dk2>
        <a:lt2>
          <a:srgbClr val="FFFFFF"/>
        </a:lt2>
        <a:accent1>
          <a:srgbClr val="CC6600"/>
        </a:accent1>
        <a:accent2>
          <a:srgbClr val="FF6600"/>
        </a:accent2>
        <a:accent3>
          <a:srgbClr val="FFB8AA"/>
        </a:accent3>
        <a:accent4>
          <a:srgbClr val="DADADA"/>
        </a:accent4>
        <a:accent5>
          <a:srgbClr val="E2B8AA"/>
        </a:accent5>
        <a:accent6>
          <a:srgbClr val="E75C00"/>
        </a:accent6>
        <a:hlink>
          <a:srgbClr val="FFFF99"/>
        </a:hlink>
        <a:folHlink>
          <a:srgbClr val="FFCC99"/>
        </a:folHlink>
      </a:clrScheme>
      <a:clrMap bg1="dk2" tx1="lt1" bg2="dk1" tx2="lt2" accent1="accent1" accent2="accent2" accent3="accent3" accent4="accent4" accent5="accent5" accent6="accent6" hlink="hlink" folHlink="folHlink"/>
    </a:extraClrScheme>
    <a:extraClrScheme>
      <a:clrScheme name="Ocean 8">
        <a:dk1>
          <a:srgbClr val="000000"/>
        </a:dk1>
        <a:lt1>
          <a:srgbClr val="FFFFFF"/>
        </a:lt1>
        <a:dk2>
          <a:srgbClr val="FFBA2F"/>
        </a:dk2>
        <a:lt2>
          <a:srgbClr val="A50021"/>
        </a:lt2>
        <a:accent1>
          <a:srgbClr val="FF6600"/>
        </a:accent1>
        <a:accent2>
          <a:srgbClr val="CC6600"/>
        </a:accent2>
        <a:accent3>
          <a:srgbClr val="FFD9AD"/>
        </a:accent3>
        <a:accent4>
          <a:srgbClr val="DADADA"/>
        </a:accent4>
        <a:accent5>
          <a:srgbClr val="FFB8AA"/>
        </a:accent5>
        <a:accent6>
          <a:srgbClr val="B95C00"/>
        </a:accent6>
        <a:hlink>
          <a:srgbClr val="6633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Ocean</Template>
  <TotalTime>11192</TotalTime>
  <Words>719</Words>
  <Application>Microsoft Office PowerPoint</Application>
  <PresentationFormat>On-screen Show (4:3)</PresentationFormat>
  <Paragraphs>143</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Ocean</vt:lpstr>
      <vt:lpstr>Magnetizing Water</vt:lpstr>
      <vt:lpstr>The Problem: Scale and Calcium Build up</vt:lpstr>
      <vt:lpstr>Problems from Scale Build up</vt:lpstr>
      <vt:lpstr>Film on your glasses?</vt:lpstr>
      <vt:lpstr>Want Nicer Hair and Skin?</vt:lpstr>
      <vt:lpstr>Tired of Buying Pool Chemicals?</vt:lpstr>
      <vt:lpstr>Water Heating</vt:lpstr>
      <vt:lpstr>Costs of Scale Build Up</vt:lpstr>
      <vt:lpstr>No Ongoing Costs </vt:lpstr>
      <vt:lpstr>The Solution:</vt:lpstr>
      <vt:lpstr>Magnetically Treated Water</vt:lpstr>
      <vt:lpstr>Here are just some of the ways in which GMX conditioners are being used:</vt:lpstr>
      <vt:lpstr>Model 400 GMX</vt:lpstr>
      <vt:lpstr> Model 800 GMX  </vt:lpstr>
      <vt:lpstr>Model 848 </vt:lpstr>
      <vt:lpstr>Model 8000</vt:lpstr>
      <vt:lpstr>PowerPoint Presentation</vt:lpstr>
      <vt:lpstr>Plants &amp; Irrigation</vt:lpstr>
      <vt:lpstr>PowerPoint Presentation</vt:lpstr>
      <vt:lpstr>INDUSTRIAL/COMMERCIAL RESULTS</vt:lpstr>
      <vt:lpstr>Time to give it a try?</vt:lpstr>
      <vt:lpstr>Contact GMX International</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Magnetizing Water</dc:title>
  <dc:creator>Jo Masterson</dc:creator>
  <cp:lastModifiedBy>Hp</cp:lastModifiedBy>
  <cp:revision>64</cp:revision>
  <dcterms:created xsi:type="dcterms:W3CDTF">2004-04-13T20:30:16Z</dcterms:created>
  <dcterms:modified xsi:type="dcterms:W3CDTF">2021-05-24T18:16:34Z</dcterms:modified>
</cp:coreProperties>
</file>