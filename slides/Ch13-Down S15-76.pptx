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72" r:id="rId5"/>
    <p:sldId id="270" r:id="rId6"/>
    <p:sldId id="271" r:id="rId7"/>
    <p:sldId id="265" r:id="rId8"/>
    <p:sldId id="269" r:id="rId9"/>
    <p:sldId id="266" r:id="rId10"/>
    <p:sldId id="267" r:id="rId11"/>
    <p:sldId id="273" r:id="rId12"/>
    <p:sldId id="274" r:id="rId13"/>
    <p:sldId id="275" r:id="rId14"/>
    <p:sldId id="276" r:id="rId15"/>
    <p:sldId id="277"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765" autoAdjust="0"/>
    <p:restoredTop sz="94660"/>
  </p:normalViewPr>
  <p:slideViewPr>
    <p:cSldViewPr>
      <p:cViewPr varScale="1">
        <p:scale>
          <a:sx n="88" d="100"/>
          <a:sy n="88" d="100"/>
        </p:scale>
        <p:origin x="1483" y="62"/>
      </p:cViewPr>
      <p:guideLst>
        <p:guide orient="horz" pos="2160"/>
        <p:guide pos="2880"/>
      </p:guideLst>
    </p:cSldViewPr>
  </p:slideViewPr>
  <p:notesTextViewPr>
    <p:cViewPr>
      <p:scale>
        <a:sx n="1" d="1"/>
        <a:sy n="1" d="1"/>
      </p:scale>
      <p:origin x="0" y="0"/>
    </p:cViewPr>
  </p:notesTextViewPr>
  <p:sorterViewPr>
    <p:cViewPr>
      <p:scale>
        <a:sx n="120" d="100"/>
        <a:sy n="12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3551DDE-B868-49EE-8A6F-C45DB46E00A7}" type="datetimeFigureOut">
              <a:rPr lang="en-US" smtClean="0"/>
              <a:t>3/8/2023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4F7FE6-3B0C-4C47-8C6F-E3E78C1E8BCB}" type="slidenum">
              <a:rPr lang="en-US" smtClean="0"/>
              <a:t>‹#›</a:t>
            </a:fld>
            <a:endParaRPr lang="en-US"/>
          </a:p>
        </p:txBody>
      </p:sp>
    </p:spTree>
    <p:extLst>
      <p:ext uri="{BB962C8B-B14F-4D97-AF65-F5344CB8AC3E}">
        <p14:creationId xmlns:p14="http://schemas.microsoft.com/office/powerpoint/2010/main" val="1709016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2C06F41-984E-49E2-906C-442C5B13E76B}" type="datetime1">
              <a:rPr lang="en-US" smtClean="0"/>
              <a:t>3/8/2023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0365B4-539E-4AC3-A98D-177938A6246E}" type="slidenum">
              <a:rPr lang="en-US" smtClean="0"/>
              <a:t>‹#›</a:t>
            </a:fld>
            <a:endParaRPr lang="en-US"/>
          </a:p>
        </p:txBody>
      </p:sp>
    </p:spTree>
    <p:extLst>
      <p:ext uri="{BB962C8B-B14F-4D97-AF65-F5344CB8AC3E}">
        <p14:creationId xmlns:p14="http://schemas.microsoft.com/office/powerpoint/2010/main" val="1650699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927E61C-699E-4D1D-AE09-7D6AFB6FED92}" type="datetime1">
              <a:rPr lang="en-US" smtClean="0"/>
              <a:t>3/8/2023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0365B4-539E-4AC3-A98D-177938A6246E}" type="slidenum">
              <a:rPr lang="en-US" smtClean="0"/>
              <a:t>‹#›</a:t>
            </a:fld>
            <a:endParaRPr lang="en-US"/>
          </a:p>
        </p:txBody>
      </p:sp>
    </p:spTree>
    <p:extLst>
      <p:ext uri="{BB962C8B-B14F-4D97-AF65-F5344CB8AC3E}">
        <p14:creationId xmlns:p14="http://schemas.microsoft.com/office/powerpoint/2010/main" val="4133422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2A79147-7372-4455-A4D0-544E15AE7C88}" type="datetime1">
              <a:rPr lang="en-US" smtClean="0"/>
              <a:t>3/8/2023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0365B4-539E-4AC3-A98D-177938A6246E}" type="slidenum">
              <a:rPr lang="en-US" smtClean="0"/>
              <a:t>‹#›</a:t>
            </a:fld>
            <a:endParaRPr lang="en-US"/>
          </a:p>
        </p:txBody>
      </p:sp>
    </p:spTree>
    <p:extLst>
      <p:ext uri="{BB962C8B-B14F-4D97-AF65-F5344CB8AC3E}">
        <p14:creationId xmlns:p14="http://schemas.microsoft.com/office/powerpoint/2010/main" val="27633503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D5AF9E1-14B0-4151-88F1-59CB138DB6B8}" type="datetime1">
              <a:rPr lang="en-US" smtClean="0"/>
              <a:t>3/8/2023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0365B4-539E-4AC3-A98D-177938A6246E}" type="slidenum">
              <a:rPr lang="en-US" smtClean="0"/>
              <a:t>‹#›</a:t>
            </a:fld>
            <a:endParaRPr lang="en-US"/>
          </a:p>
        </p:txBody>
      </p:sp>
    </p:spTree>
    <p:extLst>
      <p:ext uri="{BB962C8B-B14F-4D97-AF65-F5344CB8AC3E}">
        <p14:creationId xmlns:p14="http://schemas.microsoft.com/office/powerpoint/2010/main" val="122370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C198717-FA03-4C45-8101-7C2085D42FFE}" type="datetime1">
              <a:rPr lang="en-US" smtClean="0"/>
              <a:t>3/8/2023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E0365B4-539E-4AC3-A98D-177938A6246E}" type="slidenum">
              <a:rPr lang="en-US" smtClean="0"/>
              <a:t>‹#›</a:t>
            </a:fld>
            <a:endParaRPr lang="en-US"/>
          </a:p>
        </p:txBody>
      </p:sp>
    </p:spTree>
    <p:extLst>
      <p:ext uri="{BB962C8B-B14F-4D97-AF65-F5344CB8AC3E}">
        <p14:creationId xmlns:p14="http://schemas.microsoft.com/office/powerpoint/2010/main" val="39657024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8A090F7-5F72-4C5D-BFE0-AD7B3D38947A}" type="datetime1">
              <a:rPr lang="en-US" smtClean="0"/>
              <a:t>3/8/2023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E0365B4-539E-4AC3-A98D-177938A6246E}" type="slidenum">
              <a:rPr lang="en-US" smtClean="0"/>
              <a:t>‹#›</a:t>
            </a:fld>
            <a:endParaRPr lang="en-US"/>
          </a:p>
        </p:txBody>
      </p:sp>
    </p:spTree>
    <p:extLst>
      <p:ext uri="{BB962C8B-B14F-4D97-AF65-F5344CB8AC3E}">
        <p14:creationId xmlns:p14="http://schemas.microsoft.com/office/powerpoint/2010/main" val="3645125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B3E123-671F-47FA-992B-30CB5BEC3696}" type="datetime1">
              <a:rPr lang="en-US" smtClean="0"/>
              <a:t>3/8/2023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E0365B4-539E-4AC3-A98D-177938A6246E}" type="slidenum">
              <a:rPr lang="en-US" smtClean="0"/>
              <a:t>‹#›</a:t>
            </a:fld>
            <a:endParaRPr lang="en-US"/>
          </a:p>
        </p:txBody>
      </p:sp>
    </p:spTree>
    <p:extLst>
      <p:ext uri="{BB962C8B-B14F-4D97-AF65-F5344CB8AC3E}">
        <p14:creationId xmlns:p14="http://schemas.microsoft.com/office/powerpoint/2010/main" val="3837561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AA396F4-9DF2-4FA6-A471-67AD9BCC86AF}" type="datetime1">
              <a:rPr lang="en-US" smtClean="0"/>
              <a:t>3/8/2023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0365B4-539E-4AC3-A98D-177938A6246E}" type="slidenum">
              <a:rPr lang="en-US" smtClean="0"/>
              <a:t>‹#›</a:t>
            </a:fld>
            <a:endParaRPr lang="en-US"/>
          </a:p>
        </p:txBody>
      </p:sp>
    </p:spTree>
    <p:extLst>
      <p:ext uri="{BB962C8B-B14F-4D97-AF65-F5344CB8AC3E}">
        <p14:creationId xmlns:p14="http://schemas.microsoft.com/office/powerpoint/2010/main" val="2436190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2670732-B1EB-44DB-80DC-58F31060316A}" type="datetime1">
              <a:rPr lang="en-US" smtClean="0"/>
              <a:t>3/8/2023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0365B4-539E-4AC3-A98D-177938A6246E}" type="slidenum">
              <a:rPr lang="en-US" smtClean="0"/>
              <a:t>‹#›</a:t>
            </a:fld>
            <a:endParaRPr lang="en-US"/>
          </a:p>
        </p:txBody>
      </p:sp>
    </p:spTree>
    <p:extLst>
      <p:ext uri="{BB962C8B-B14F-4D97-AF65-F5344CB8AC3E}">
        <p14:creationId xmlns:p14="http://schemas.microsoft.com/office/powerpoint/2010/main" val="3302067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E39A079-D4C8-420D-96C4-ABD665AB2BAC}" type="datetime1">
              <a:rPr lang="en-US" smtClean="0"/>
              <a:t>3/8/2023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0365B4-539E-4AC3-A98D-177938A6246E}" type="slidenum">
              <a:rPr lang="en-US" smtClean="0"/>
              <a:t>‹#›</a:t>
            </a:fld>
            <a:endParaRPr lang="en-US"/>
          </a:p>
        </p:txBody>
      </p:sp>
    </p:spTree>
    <p:extLst>
      <p:ext uri="{BB962C8B-B14F-4D97-AF65-F5344CB8AC3E}">
        <p14:creationId xmlns:p14="http://schemas.microsoft.com/office/powerpoint/2010/main" val="1325021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4A2ACC1-02A1-4B94-8538-C9F3E8D31CDA}" type="datetime1">
              <a:rPr lang="en-US" smtClean="0"/>
              <a:t>3/8/2023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0365B4-539E-4AC3-A98D-177938A6246E}" type="slidenum">
              <a:rPr lang="en-US" smtClean="0"/>
              <a:t>‹#›</a:t>
            </a:fld>
            <a:endParaRPr lang="en-US"/>
          </a:p>
        </p:txBody>
      </p:sp>
    </p:spTree>
    <p:extLst>
      <p:ext uri="{BB962C8B-B14F-4D97-AF65-F5344CB8AC3E}">
        <p14:creationId xmlns:p14="http://schemas.microsoft.com/office/powerpoint/2010/main" val="2033379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11B509-D956-40DF-805B-77EE5A7D4688}" type="datetime1">
              <a:rPr lang="en-US" smtClean="0"/>
              <a:t>3/8/2023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0365B4-539E-4AC3-A98D-177938A6246E}" type="slidenum">
              <a:rPr lang="en-US" smtClean="0"/>
              <a:t>‹#›</a:t>
            </a:fld>
            <a:endParaRPr lang="en-US"/>
          </a:p>
        </p:txBody>
      </p:sp>
    </p:spTree>
    <p:extLst>
      <p:ext uri="{BB962C8B-B14F-4D97-AF65-F5344CB8AC3E}">
        <p14:creationId xmlns:p14="http://schemas.microsoft.com/office/powerpoint/2010/main" val="40296056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590800"/>
            <a:ext cx="8216537" cy="1143000"/>
          </a:xfrm>
        </p:spPr>
        <p:txBody>
          <a:bodyPr>
            <a:noAutofit/>
          </a:bodyPr>
          <a:lstStyle/>
          <a:p>
            <a:r>
              <a:rPr lang="en-US" b="1" dirty="0" smtClean="0"/>
              <a:t>Down syndrome, other full aneuploidies, and polyploidy</a:t>
            </a:r>
            <a:endParaRPr lang="en-US" b="1" dirty="0"/>
          </a:p>
        </p:txBody>
      </p:sp>
      <p:sp>
        <p:nvSpPr>
          <p:cNvPr id="4" name="Slide Number Placeholder 3"/>
          <p:cNvSpPr>
            <a:spLocks noGrp="1"/>
          </p:cNvSpPr>
          <p:nvPr>
            <p:ph type="sldNum" sz="quarter" idx="12"/>
          </p:nvPr>
        </p:nvSpPr>
        <p:spPr/>
        <p:txBody>
          <a:bodyPr/>
          <a:lstStyle/>
          <a:p>
            <a:fld id="{FA72A093-DB52-46D7-ACEE-B7BCB9F7EEDF}" type="slidenum">
              <a:rPr lang="en-US" smtClean="0">
                <a:solidFill>
                  <a:prstClr val="black">
                    <a:tint val="75000"/>
                  </a:prstClr>
                </a:solidFill>
              </a:rPr>
              <a:pPr/>
              <a:t>1</a:t>
            </a:fld>
            <a:endParaRPr lang="en-US" dirty="0">
              <a:solidFill>
                <a:prstClr val="black">
                  <a:tint val="75000"/>
                </a:prstClr>
              </a:solidFill>
            </a:endParaRPr>
          </a:p>
        </p:txBody>
      </p:sp>
    </p:spTree>
    <p:extLst>
      <p:ext uri="{BB962C8B-B14F-4D97-AF65-F5344CB8AC3E}">
        <p14:creationId xmlns:p14="http://schemas.microsoft.com/office/powerpoint/2010/main" val="193846740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304800"/>
            <a:ext cx="8763000" cy="5693866"/>
          </a:xfrm>
          <a:prstGeom prst="rect">
            <a:avLst/>
          </a:prstGeom>
          <a:noFill/>
        </p:spPr>
        <p:txBody>
          <a:bodyPr wrap="square" rtlCol="0">
            <a:spAutoFit/>
          </a:bodyPr>
          <a:lstStyle/>
          <a:p>
            <a:r>
              <a:rPr lang="en-US" sz="2800" dirty="0" smtClean="0">
                <a:solidFill>
                  <a:srgbClr val="0070C0"/>
                </a:solidFill>
              </a:rPr>
              <a:t>Full aneuploidy </a:t>
            </a:r>
            <a:r>
              <a:rPr lang="en-US" sz="2800" dirty="0" smtClean="0"/>
              <a:t>is presumed in the great majority to be the result of </a:t>
            </a:r>
            <a:r>
              <a:rPr lang="en-US" sz="2800" dirty="0" smtClean="0">
                <a:solidFill>
                  <a:srgbClr val="0070C0"/>
                </a:solidFill>
              </a:rPr>
              <a:t>meiotic nondisjunction</a:t>
            </a:r>
          </a:p>
          <a:p>
            <a:endParaRPr lang="en-US" sz="2800" dirty="0"/>
          </a:p>
          <a:p>
            <a:r>
              <a:rPr lang="en-US" sz="2800" dirty="0" smtClean="0"/>
              <a:t>Meiotic nondisjunction can happen at any parental age, but it is more </a:t>
            </a:r>
            <a:r>
              <a:rPr lang="en-US" sz="2800" dirty="0" smtClean="0">
                <a:solidFill>
                  <a:srgbClr val="0070C0"/>
                </a:solidFill>
              </a:rPr>
              <a:t>frequent in older mothers</a:t>
            </a:r>
          </a:p>
          <a:p>
            <a:endParaRPr lang="en-US" sz="2800" dirty="0"/>
          </a:p>
          <a:p>
            <a:r>
              <a:rPr lang="en-US" sz="2800" dirty="0" smtClean="0"/>
              <a:t>Abnormality may arise in </a:t>
            </a:r>
            <a:r>
              <a:rPr lang="en-US" sz="2800" dirty="0" err="1" smtClean="0">
                <a:solidFill>
                  <a:srgbClr val="0070C0"/>
                </a:solidFill>
              </a:rPr>
              <a:t>premeiotic</a:t>
            </a:r>
            <a:r>
              <a:rPr lang="en-US" sz="2800" dirty="0" smtClean="0">
                <a:solidFill>
                  <a:srgbClr val="0070C0"/>
                </a:solidFill>
              </a:rPr>
              <a:t> gametocyte </a:t>
            </a:r>
            <a:r>
              <a:rPr lang="en-US" sz="2800" dirty="0" smtClean="0"/>
              <a:t>, with the parent having a “wedge” of gonad that carries the abnormality (</a:t>
            </a:r>
            <a:r>
              <a:rPr lang="en-US" sz="2800" dirty="0" smtClean="0">
                <a:solidFill>
                  <a:srgbClr val="0070C0"/>
                </a:solidFill>
              </a:rPr>
              <a:t>gonadal mosaicism</a:t>
            </a:r>
            <a:r>
              <a:rPr lang="en-US" sz="2800" dirty="0" smtClean="0"/>
              <a:t>)</a:t>
            </a:r>
          </a:p>
          <a:p>
            <a:endParaRPr lang="en-US" sz="2800" dirty="0"/>
          </a:p>
          <a:p>
            <a:r>
              <a:rPr lang="en-US" sz="2800" dirty="0" smtClean="0"/>
              <a:t>Full aneuploidy may be due to early </a:t>
            </a:r>
            <a:r>
              <a:rPr lang="en-US" sz="2800" dirty="0" smtClean="0">
                <a:solidFill>
                  <a:srgbClr val="0070C0"/>
                </a:solidFill>
              </a:rPr>
              <a:t>mitotic nondisjunction </a:t>
            </a:r>
            <a:r>
              <a:rPr lang="en-US" sz="2800" dirty="0" smtClean="0"/>
              <a:t>in an initially 46,N conception with loss, or restriction to extra-embryonic tissue, of the normal cell line</a:t>
            </a:r>
          </a:p>
        </p:txBody>
      </p:sp>
      <p:sp>
        <p:nvSpPr>
          <p:cNvPr id="3" name="Slide Number Placeholder 2"/>
          <p:cNvSpPr>
            <a:spLocks noGrp="1"/>
          </p:cNvSpPr>
          <p:nvPr>
            <p:ph type="sldNum" sz="quarter" idx="12"/>
          </p:nvPr>
        </p:nvSpPr>
        <p:spPr/>
        <p:txBody>
          <a:bodyPr/>
          <a:lstStyle/>
          <a:p>
            <a:fld id="{EE0365B4-539E-4AC3-A98D-177938A6246E}" type="slidenum">
              <a:rPr lang="en-US" smtClean="0"/>
              <a:t>2</a:t>
            </a:fld>
            <a:endParaRPr lang="en-US"/>
          </a:p>
        </p:txBody>
      </p:sp>
    </p:spTree>
    <p:extLst>
      <p:ext uri="{BB962C8B-B14F-4D97-AF65-F5344CB8AC3E}">
        <p14:creationId xmlns:p14="http://schemas.microsoft.com/office/powerpoint/2010/main" val="25634656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161480"/>
            <a:ext cx="8763000" cy="6555641"/>
          </a:xfrm>
          <a:prstGeom prst="rect">
            <a:avLst/>
          </a:prstGeom>
          <a:noFill/>
        </p:spPr>
        <p:txBody>
          <a:bodyPr wrap="square" rtlCol="0">
            <a:spAutoFit/>
          </a:bodyPr>
          <a:lstStyle/>
          <a:p>
            <a:r>
              <a:rPr lang="en-US" sz="2800" b="1" dirty="0" smtClean="0"/>
              <a:t>Down syndrome</a:t>
            </a:r>
          </a:p>
          <a:p>
            <a:endParaRPr lang="en-US" sz="2800" dirty="0"/>
          </a:p>
          <a:p>
            <a:r>
              <a:rPr lang="en-US" sz="2800" dirty="0" smtClean="0"/>
              <a:t>The first medical condition shown to result from a chromosome abnormality, in 1959</a:t>
            </a:r>
          </a:p>
          <a:p>
            <a:endParaRPr lang="en-US" sz="2800" dirty="0"/>
          </a:p>
          <a:p>
            <a:r>
              <a:rPr lang="en-US" sz="2800" dirty="0" smtClean="0"/>
              <a:t>The most common single known cause of intellectual disability, has the highest incidence at birth of any chromosome abnormality</a:t>
            </a:r>
          </a:p>
          <a:p>
            <a:endParaRPr lang="en-US" sz="2800" dirty="0"/>
          </a:p>
          <a:p>
            <a:r>
              <a:rPr lang="en-US" sz="2800" dirty="0" smtClean="0"/>
              <a:t>The phenotype is a “</a:t>
            </a:r>
            <a:r>
              <a:rPr lang="en-US" sz="2800" dirty="0">
                <a:solidFill>
                  <a:srgbClr val="0070C0"/>
                </a:solidFill>
              </a:rPr>
              <a:t>contiguous gene </a:t>
            </a:r>
            <a:r>
              <a:rPr lang="en-US" sz="2800" dirty="0" smtClean="0">
                <a:solidFill>
                  <a:srgbClr val="0070C0"/>
                </a:solidFill>
              </a:rPr>
              <a:t>syndrome</a:t>
            </a:r>
            <a:r>
              <a:rPr lang="en-US" sz="2800" dirty="0" smtClean="0"/>
              <a:t>” caused by an additional dose of a complete set of genes of chromosome 21</a:t>
            </a:r>
          </a:p>
          <a:p>
            <a:endParaRPr lang="en-US" sz="2800" dirty="0"/>
          </a:p>
          <a:p>
            <a:r>
              <a:rPr lang="en-US" sz="2800" dirty="0" smtClean="0"/>
              <a:t>Only 225 protein coding genes, a factor in the survivability of the trisomic state</a:t>
            </a:r>
            <a:endParaRPr lang="en-US" sz="2800" dirty="0"/>
          </a:p>
        </p:txBody>
      </p:sp>
      <p:sp>
        <p:nvSpPr>
          <p:cNvPr id="3" name="Slide Number Placeholder 2"/>
          <p:cNvSpPr>
            <a:spLocks noGrp="1"/>
          </p:cNvSpPr>
          <p:nvPr>
            <p:ph type="sldNum" sz="quarter" idx="12"/>
          </p:nvPr>
        </p:nvSpPr>
        <p:spPr/>
        <p:txBody>
          <a:bodyPr/>
          <a:lstStyle/>
          <a:p>
            <a:fld id="{EE0365B4-539E-4AC3-A98D-177938A6246E}" type="slidenum">
              <a:rPr lang="en-US" smtClean="0"/>
              <a:t>3</a:t>
            </a:fld>
            <a:endParaRPr lang="en-US"/>
          </a:p>
        </p:txBody>
      </p:sp>
    </p:spTree>
    <p:extLst>
      <p:ext uri="{BB962C8B-B14F-4D97-AF65-F5344CB8AC3E}">
        <p14:creationId xmlns:p14="http://schemas.microsoft.com/office/powerpoint/2010/main" val="30587219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0365B4-539E-4AC3-A98D-177938A6246E}" type="slidenum">
              <a:rPr lang="en-US" smtClean="0"/>
              <a:t>4</a:t>
            </a:fld>
            <a:endParaRPr lang="en-US"/>
          </a:p>
        </p:txBody>
      </p:sp>
      <p:pic>
        <p:nvPicPr>
          <p:cNvPr id="3" name="image120.jpeg"/>
          <p:cNvPicPr>
            <a:picLocks noChangeAspect="1"/>
          </p:cNvPicPr>
          <p:nvPr/>
        </p:nvPicPr>
        <p:blipFill>
          <a:blip r:embed="rId2" cstate="print"/>
          <a:stretch>
            <a:fillRect/>
          </a:stretch>
        </p:blipFill>
        <p:spPr>
          <a:xfrm>
            <a:off x="152400" y="95384"/>
            <a:ext cx="3866198" cy="5764721"/>
          </a:xfrm>
          <a:prstGeom prst="rect">
            <a:avLst/>
          </a:prstGeom>
        </p:spPr>
      </p:pic>
      <p:sp>
        <p:nvSpPr>
          <p:cNvPr id="4" name="TextBox 3"/>
          <p:cNvSpPr txBox="1"/>
          <p:nvPr/>
        </p:nvSpPr>
        <p:spPr>
          <a:xfrm>
            <a:off x="4800600" y="175134"/>
            <a:ext cx="4190999" cy="5262979"/>
          </a:xfrm>
          <a:prstGeom prst="rect">
            <a:avLst/>
          </a:prstGeom>
          <a:noFill/>
        </p:spPr>
        <p:txBody>
          <a:bodyPr wrap="square" rtlCol="0">
            <a:spAutoFit/>
          </a:bodyPr>
          <a:lstStyle/>
          <a:p>
            <a:r>
              <a:rPr lang="en-US" sz="2400" dirty="0" smtClean="0"/>
              <a:t>Attempts has been made to define a </a:t>
            </a:r>
            <a:r>
              <a:rPr lang="en-US" sz="2400" dirty="0" smtClean="0">
                <a:solidFill>
                  <a:srgbClr val="0070C0"/>
                </a:solidFill>
              </a:rPr>
              <a:t>DS critical region </a:t>
            </a:r>
            <a:r>
              <a:rPr lang="en-US" sz="2400" dirty="0" smtClean="0"/>
              <a:t>DSCR with some success</a:t>
            </a:r>
          </a:p>
          <a:p>
            <a:endParaRPr lang="en-US" sz="2400" dirty="0"/>
          </a:p>
          <a:p>
            <a:r>
              <a:rPr lang="en-US" sz="2400" dirty="0" smtClean="0"/>
              <a:t>On the other hand, an </a:t>
            </a:r>
            <a:r>
              <a:rPr lang="en-US" sz="2400" i="1" dirty="0" smtClean="0">
                <a:solidFill>
                  <a:srgbClr val="0070C0"/>
                </a:solidFill>
              </a:rPr>
              <a:t>amplified developmental instability </a:t>
            </a:r>
            <a:r>
              <a:rPr lang="en-US" sz="2400" dirty="0" smtClean="0"/>
              <a:t>hypothesis was suggested in which excess of chromosome 21 encoded gene products perturbs the functioning of the products of many loci, from all chromosomes, in all manner of developmental and physiological pathways </a:t>
            </a:r>
            <a:endParaRPr lang="en-US" sz="2400" dirty="0"/>
          </a:p>
        </p:txBody>
      </p:sp>
      <p:sp>
        <p:nvSpPr>
          <p:cNvPr id="5" name="Rectangle 4"/>
          <p:cNvSpPr/>
          <p:nvPr/>
        </p:nvSpPr>
        <p:spPr>
          <a:xfrm>
            <a:off x="37010" y="5876021"/>
            <a:ext cx="8954589" cy="923330"/>
          </a:xfrm>
          <a:prstGeom prst="rect">
            <a:avLst/>
          </a:prstGeom>
        </p:spPr>
        <p:txBody>
          <a:bodyPr wrap="square">
            <a:spAutoFit/>
          </a:bodyPr>
          <a:lstStyle/>
          <a:p>
            <a:pPr marL="101600">
              <a:lnSpc>
                <a:spcPct val="100000"/>
              </a:lnSpc>
              <a:spcBef>
                <a:spcPts val="1345"/>
              </a:spcBef>
              <a:spcAft>
                <a:spcPts val="0"/>
              </a:spcAft>
            </a:pPr>
            <a:r>
              <a:rPr lang="en-US" dirty="0">
                <a:latin typeface="Times New Roman" panose="02020603050405020304" pitchFamily="18" charset="0"/>
                <a:ea typeface="Times New Roman" panose="02020603050405020304" pitchFamily="18" charset="0"/>
              </a:rPr>
              <a:t>FIGURE 13–1 Phenotypic (trisomic) map of chromosome 21. Thick lines represent regions that must be trisomic to produce the particular trait. Thin-line regions </a:t>
            </a:r>
            <a:r>
              <a:rPr lang="en-US" dirty="0" smtClean="0">
                <a:latin typeface="Times New Roman" panose="02020603050405020304" pitchFamily="18" charset="0"/>
                <a:ea typeface="Times New Roman" panose="02020603050405020304" pitchFamily="18" charset="0"/>
              </a:rPr>
              <a:t>may</a:t>
            </a:r>
            <a:r>
              <a:rPr lang="en-US" sz="1400" dirty="0" smtClean="0">
                <a:latin typeface="Times New Roman" panose="02020603050405020304" pitchFamily="18" charset="0"/>
                <a:ea typeface="Times New Roman" panose="02020603050405020304" pitchFamily="18" charset="0"/>
              </a:rPr>
              <a:t> </a:t>
            </a:r>
            <a:r>
              <a:rPr lang="en-US" dirty="0" smtClean="0">
                <a:latin typeface="Times New Roman" panose="02020603050405020304" pitchFamily="18" charset="0"/>
                <a:ea typeface="Times New Roman" panose="02020603050405020304" pitchFamily="18" charset="0"/>
              </a:rPr>
              <a:t>also </a:t>
            </a:r>
            <a:r>
              <a:rPr lang="en-US" dirty="0">
                <a:latin typeface="Times New Roman" panose="02020603050405020304" pitchFamily="18" charset="0"/>
                <a:ea typeface="Times New Roman" panose="02020603050405020304" pitchFamily="18" charset="0"/>
              </a:rPr>
              <a:t>contribute to that trait; the contribution of dotted-line regions is less clear. M, mild; P, profound.</a:t>
            </a:r>
            <a:endParaRPr lang="en-US"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290077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0365B4-539E-4AC3-A98D-177938A6246E}" type="slidenum">
              <a:rPr lang="en-US" smtClean="0"/>
              <a:t>5</a:t>
            </a:fld>
            <a:endParaRPr lang="en-US"/>
          </a:p>
        </p:txBody>
      </p:sp>
      <p:pic>
        <p:nvPicPr>
          <p:cNvPr id="3" name="image121.jpeg"/>
          <p:cNvPicPr/>
          <p:nvPr/>
        </p:nvPicPr>
        <p:blipFill>
          <a:blip r:embed="rId2" cstate="print"/>
          <a:stretch>
            <a:fillRect/>
          </a:stretch>
        </p:blipFill>
        <p:spPr>
          <a:xfrm>
            <a:off x="1781492" y="595378"/>
            <a:ext cx="5276215" cy="3771900"/>
          </a:xfrm>
          <a:prstGeom prst="rect">
            <a:avLst/>
          </a:prstGeom>
        </p:spPr>
      </p:pic>
      <p:sp>
        <p:nvSpPr>
          <p:cNvPr id="4" name="Rectangle 3"/>
          <p:cNvSpPr/>
          <p:nvPr/>
        </p:nvSpPr>
        <p:spPr>
          <a:xfrm>
            <a:off x="1447800" y="5177148"/>
            <a:ext cx="6400800" cy="369332"/>
          </a:xfrm>
          <a:prstGeom prst="rect">
            <a:avLst/>
          </a:prstGeom>
        </p:spPr>
        <p:txBody>
          <a:bodyPr wrap="square">
            <a:spAutoFit/>
          </a:bodyPr>
          <a:lstStyle/>
          <a:p>
            <a:pPr marL="101600" algn="just">
              <a:spcBef>
                <a:spcPts val="1280"/>
              </a:spcBef>
              <a:spcAft>
                <a:spcPts val="0"/>
              </a:spcAft>
            </a:pPr>
            <a:r>
              <a:rPr lang="en-US" dirty="0">
                <a:latin typeface="Times New Roman" panose="02020603050405020304" pitchFamily="18" charset="0"/>
                <a:ea typeface="Times New Roman" panose="02020603050405020304" pitchFamily="18" charset="0"/>
              </a:rPr>
              <a:t>FIGURE 13–2 Karyotype of a child with standard trisomy 21.</a:t>
            </a:r>
            <a:endParaRPr lang="en-US"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2447631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0365B4-539E-4AC3-A98D-177938A6246E}" type="slidenum">
              <a:rPr lang="en-US" smtClean="0"/>
              <a:t>6</a:t>
            </a:fld>
            <a:endParaRPr lang="en-US"/>
          </a:p>
        </p:txBody>
      </p:sp>
      <p:pic>
        <p:nvPicPr>
          <p:cNvPr id="3" name="image122.jpeg"/>
          <p:cNvPicPr/>
          <p:nvPr/>
        </p:nvPicPr>
        <p:blipFill>
          <a:blip r:embed="rId2" cstate="print"/>
          <a:stretch>
            <a:fillRect/>
          </a:stretch>
        </p:blipFill>
        <p:spPr>
          <a:xfrm>
            <a:off x="2057400" y="428897"/>
            <a:ext cx="4761865" cy="4762500"/>
          </a:xfrm>
          <a:prstGeom prst="rect">
            <a:avLst/>
          </a:prstGeom>
        </p:spPr>
      </p:pic>
      <p:sp>
        <p:nvSpPr>
          <p:cNvPr id="4" name="Rectangle 3"/>
          <p:cNvSpPr/>
          <p:nvPr/>
        </p:nvSpPr>
        <p:spPr>
          <a:xfrm>
            <a:off x="1676400" y="5603359"/>
            <a:ext cx="6781800" cy="369332"/>
          </a:xfrm>
          <a:prstGeom prst="rect">
            <a:avLst/>
          </a:prstGeom>
        </p:spPr>
        <p:txBody>
          <a:bodyPr wrap="square">
            <a:spAutoFit/>
          </a:bodyPr>
          <a:lstStyle/>
          <a:p>
            <a:pPr marL="101600" algn="just">
              <a:spcBef>
                <a:spcPts val="445"/>
              </a:spcBef>
              <a:spcAft>
                <a:spcPts val="0"/>
              </a:spcAft>
            </a:pPr>
            <a:r>
              <a:rPr lang="en-US" dirty="0">
                <a:latin typeface="Times New Roman" panose="02020603050405020304" pitchFamily="18" charset="0"/>
                <a:ea typeface="Times New Roman" panose="02020603050405020304" pitchFamily="18" charset="0"/>
              </a:rPr>
              <a:t>FIGURE 13–3 Origins of trisomy 21 (percentages rounded).</a:t>
            </a:r>
            <a:endParaRPr lang="en-US"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154117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304800"/>
            <a:ext cx="8534400" cy="5262979"/>
          </a:xfrm>
          <a:prstGeom prst="rect">
            <a:avLst/>
          </a:prstGeom>
          <a:noFill/>
        </p:spPr>
        <p:txBody>
          <a:bodyPr wrap="square" rtlCol="0">
            <a:spAutoFit/>
          </a:bodyPr>
          <a:lstStyle/>
          <a:p>
            <a:r>
              <a:rPr lang="en-US" sz="2400" dirty="0" smtClean="0"/>
              <a:t>Meiotic I errors are associated with reduced or actual absence of recombination</a:t>
            </a:r>
          </a:p>
          <a:p>
            <a:endParaRPr lang="en-US" sz="2400" dirty="0"/>
          </a:p>
          <a:p>
            <a:r>
              <a:rPr lang="en-US" sz="2400" dirty="0" smtClean="0"/>
              <a:t>Standard trisomy DS are typically sporadic with rare recurrence</a:t>
            </a:r>
          </a:p>
          <a:p>
            <a:endParaRPr lang="en-US" sz="2400" dirty="0"/>
          </a:p>
          <a:p>
            <a:r>
              <a:rPr lang="en-US" sz="2400" dirty="0" smtClean="0"/>
              <a:t>Exceptions include:</a:t>
            </a:r>
          </a:p>
          <a:p>
            <a:r>
              <a:rPr lang="en-US" sz="2400" dirty="0"/>
              <a:t>	</a:t>
            </a:r>
            <a:r>
              <a:rPr lang="en-US" sz="2400" dirty="0" smtClean="0"/>
              <a:t>Parental </a:t>
            </a:r>
            <a:r>
              <a:rPr lang="en-US" sz="2400" dirty="0"/>
              <a:t>predisposition to nondisjunction</a:t>
            </a:r>
          </a:p>
          <a:p>
            <a:r>
              <a:rPr lang="en-US" sz="2400" dirty="0" smtClean="0"/>
              <a:t>	Gonadal </a:t>
            </a:r>
            <a:r>
              <a:rPr lang="en-US" sz="2400" dirty="0"/>
              <a:t>mosaicism</a:t>
            </a:r>
          </a:p>
          <a:p>
            <a:r>
              <a:rPr lang="en-US" sz="2400" dirty="0"/>
              <a:t>	</a:t>
            </a:r>
            <a:r>
              <a:rPr lang="en-US" sz="2400" dirty="0" smtClean="0"/>
              <a:t>Chance</a:t>
            </a:r>
          </a:p>
          <a:p>
            <a:endParaRPr lang="en-US" sz="2400" dirty="0"/>
          </a:p>
          <a:p>
            <a:r>
              <a:rPr lang="en-US" sz="2400" dirty="0" smtClean="0"/>
              <a:t>Mosaic Down syndrome accounts for about 2% of individuals with clinically diagnosed DS</a:t>
            </a:r>
          </a:p>
          <a:p>
            <a:endParaRPr lang="en-US" sz="2400" dirty="0"/>
          </a:p>
          <a:p>
            <a:r>
              <a:rPr lang="en-US" sz="2400" dirty="0" smtClean="0"/>
              <a:t>Robertsonian translocation, De novo 3%, familial 1%</a:t>
            </a:r>
            <a:endParaRPr lang="en-US" sz="2400" dirty="0"/>
          </a:p>
        </p:txBody>
      </p:sp>
      <p:sp>
        <p:nvSpPr>
          <p:cNvPr id="3" name="Slide Number Placeholder 2"/>
          <p:cNvSpPr>
            <a:spLocks noGrp="1"/>
          </p:cNvSpPr>
          <p:nvPr>
            <p:ph type="sldNum" sz="quarter" idx="12"/>
          </p:nvPr>
        </p:nvSpPr>
        <p:spPr/>
        <p:txBody>
          <a:bodyPr/>
          <a:lstStyle/>
          <a:p>
            <a:fld id="{EE0365B4-539E-4AC3-A98D-177938A6246E}" type="slidenum">
              <a:rPr lang="en-US" smtClean="0"/>
              <a:t>7</a:t>
            </a:fld>
            <a:endParaRPr lang="en-US"/>
          </a:p>
        </p:txBody>
      </p:sp>
    </p:spTree>
    <p:extLst>
      <p:ext uri="{BB962C8B-B14F-4D97-AF65-F5344CB8AC3E}">
        <p14:creationId xmlns:p14="http://schemas.microsoft.com/office/powerpoint/2010/main" val="227365755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0365B4-539E-4AC3-A98D-177938A6246E}" type="slidenum">
              <a:rPr lang="en-US" smtClean="0"/>
              <a:t>8</a:t>
            </a:fld>
            <a:endParaRPr lang="en-US"/>
          </a:p>
        </p:txBody>
      </p:sp>
      <p:pic>
        <p:nvPicPr>
          <p:cNvPr id="4" name="image123.jpeg"/>
          <p:cNvPicPr/>
          <p:nvPr/>
        </p:nvPicPr>
        <p:blipFill>
          <a:blip r:embed="rId2" cstate="print"/>
          <a:stretch>
            <a:fillRect/>
          </a:stretch>
        </p:blipFill>
        <p:spPr>
          <a:xfrm>
            <a:off x="152400" y="228600"/>
            <a:ext cx="3771265" cy="1981200"/>
          </a:xfrm>
          <a:prstGeom prst="rect">
            <a:avLst/>
          </a:prstGeom>
        </p:spPr>
      </p:pic>
      <p:sp>
        <p:nvSpPr>
          <p:cNvPr id="5" name="Rectangle 4"/>
          <p:cNvSpPr/>
          <p:nvPr/>
        </p:nvSpPr>
        <p:spPr>
          <a:xfrm>
            <a:off x="0" y="2438400"/>
            <a:ext cx="4343400" cy="923330"/>
          </a:xfrm>
          <a:prstGeom prst="rect">
            <a:avLst/>
          </a:prstGeom>
        </p:spPr>
        <p:txBody>
          <a:bodyPr wrap="square">
            <a:spAutoFit/>
          </a:bodyPr>
          <a:lstStyle/>
          <a:p>
            <a:pPr marL="101600" marR="290830">
              <a:lnSpc>
                <a:spcPct val="100000"/>
              </a:lnSpc>
              <a:spcBef>
                <a:spcPts val="1285"/>
              </a:spcBef>
              <a:spcAft>
                <a:spcPts val="0"/>
              </a:spcAft>
            </a:pPr>
            <a:r>
              <a:rPr lang="en-US" dirty="0">
                <a:latin typeface="Times New Roman" panose="02020603050405020304" pitchFamily="18" charset="0"/>
                <a:ea typeface="Times New Roman" panose="02020603050405020304" pitchFamily="18" charset="0"/>
              </a:rPr>
              <a:t>FIGURE 13–4 Possible synapsis of three no. 21 chromosomes: (</a:t>
            </a:r>
            <a:r>
              <a:rPr lang="en-US" i="1" dirty="0">
                <a:latin typeface="Times New Roman" panose="02020603050405020304" pitchFamily="18" charset="0"/>
                <a:ea typeface="Times New Roman" panose="02020603050405020304" pitchFamily="18" charset="0"/>
              </a:rPr>
              <a:t>a</a:t>
            </a:r>
            <a:r>
              <a:rPr lang="en-US" dirty="0">
                <a:latin typeface="Times New Roman" panose="02020603050405020304" pitchFamily="18" charset="0"/>
                <a:ea typeface="Times New Roman" panose="02020603050405020304" pitchFamily="18" charset="0"/>
              </a:rPr>
              <a:t>) as a </a:t>
            </a:r>
            <a:r>
              <a:rPr lang="en-US" dirty="0">
                <a:solidFill>
                  <a:srgbClr val="FF0000"/>
                </a:solidFill>
                <a:latin typeface="Times New Roman" panose="02020603050405020304" pitchFamily="18" charset="0"/>
                <a:ea typeface="Times New Roman" panose="02020603050405020304" pitchFamily="18" charset="0"/>
              </a:rPr>
              <a:t>trivalent </a:t>
            </a:r>
            <a:r>
              <a:rPr lang="en-US" dirty="0">
                <a:latin typeface="Times New Roman" panose="02020603050405020304" pitchFamily="18" charset="0"/>
                <a:ea typeface="Times New Roman" panose="02020603050405020304" pitchFamily="18" charset="0"/>
              </a:rPr>
              <a:t>and (</a:t>
            </a:r>
            <a:r>
              <a:rPr lang="en-US" i="1" dirty="0">
                <a:latin typeface="Times New Roman" panose="02020603050405020304" pitchFamily="18" charset="0"/>
                <a:ea typeface="Times New Roman" panose="02020603050405020304" pitchFamily="18" charset="0"/>
              </a:rPr>
              <a:t>b</a:t>
            </a:r>
            <a:r>
              <a:rPr lang="en-US" dirty="0">
                <a:latin typeface="Times New Roman" panose="02020603050405020304" pitchFamily="18" charset="0"/>
                <a:ea typeface="Times New Roman" panose="02020603050405020304" pitchFamily="18" charset="0"/>
              </a:rPr>
              <a:t>) as a </a:t>
            </a:r>
            <a:r>
              <a:rPr lang="en-US" dirty="0">
                <a:solidFill>
                  <a:srgbClr val="FF0000"/>
                </a:solidFill>
                <a:latin typeface="Times New Roman" panose="02020603050405020304" pitchFamily="18" charset="0"/>
                <a:ea typeface="Times New Roman" panose="02020603050405020304" pitchFamily="18" charset="0"/>
              </a:rPr>
              <a:t>bivalent </a:t>
            </a:r>
            <a:r>
              <a:rPr lang="en-US" dirty="0">
                <a:latin typeface="Times New Roman" panose="02020603050405020304" pitchFamily="18" charset="0"/>
                <a:ea typeface="Times New Roman" panose="02020603050405020304" pitchFamily="18" charset="0"/>
              </a:rPr>
              <a:t>and</a:t>
            </a:r>
            <a:r>
              <a:rPr lang="en-US" dirty="0">
                <a:solidFill>
                  <a:srgbClr val="FF0000"/>
                </a:solidFill>
                <a:latin typeface="Times New Roman" panose="02020603050405020304" pitchFamily="18" charset="0"/>
                <a:ea typeface="Times New Roman" panose="02020603050405020304" pitchFamily="18" charset="0"/>
              </a:rPr>
              <a:t> </a:t>
            </a:r>
            <a:r>
              <a:rPr lang="en-US" dirty="0">
                <a:latin typeface="Times New Roman" panose="02020603050405020304" pitchFamily="18" charset="0"/>
                <a:ea typeface="Times New Roman" panose="02020603050405020304" pitchFamily="18" charset="0"/>
              </a:rPr>
              <a:t>a</a:t>
            </a:r>
            <a:r>
              <a:rPr lang="en-US" dirty="0">
                <a:solidFill>
                  <a:srgbClr val="FF0000"/>
                </a:solidFill>
                <a:latin typeface="Times New Roman" panose="02020603050405020304" pitchFamily="18" charset="0"/>
                <a:ea typeface="Times New Roman" panose="02020603050405020304" pitchFamily="18" charset="0"/>
              </a:rPr>
              <a:t> univalent</a:t>
            </a:r>
            <a:r>
              <a:rPr lang="en-US" dirty="0">
                <a:latin typeface="Times New Roman" panose="02020603050405020304" pitchFamily="18" charset="0"/>
                <a:ea typeface="Times New Roman" panose="02020603050405020304" pitchFamily="18" charset="0"/>
              </a:rPr>
              <a:t>.</a:t>
            </a:r>
            <a:endParaRPr lang="en-US" sz="1400" dirty="0">
              <a:effectLst/>
              <a:latin typeface="Times New Roman" panose="02020603050405020304" pitchFamily="18" charset="0"/>
              <a:ea typeface="Times New Roman" panose="02020603050405020304" pitchFamily="18" charset="0"/>
            </a:endParaRPr>
          </a:p>
        </p:txBody>
      </p:sp>
      <p:sp>
        <p:nvSpPr>
          <p:cNvPr id="6" name="TextBox 5"/>
          <p:cNvSpPr txBox="1"/>
          <p:nvPr/>
        </p:nvSpPr>
        <p:spPr>
          <a:xfrm>
            <a:off x="4800600" y="228600"/>
            <a:ext cx="4191000" cy="5632311"/>
          </a:xfrm>
          <a:prstGeom prst="rect">
            <a:avLst/>
          </a:prstGeom>
          <a:noFill/>
        </p:spPr>
        <p:txBody>
          <a:bodyPr wrap="square" rtlCol="0">
            <a:spAutoFit/>
          </a:bodyPr>
          <a:lstStyle/>
          <a:p>
            <a:r>
              <a:rPr lang="en-US" sz="2400" b="1" dirty="0" smtClean="0"/>
              <a:t>Parent with Down syndrome</a:t>
            </a:r>
          </a:p>
          <a:p>
            <a:endParaRPr lang="en-US" sz="2400" dirty="0"/>
          </a:p>
          <a:p>
            <a:r>
              <a:rPr lang="en-US" sz="2400" b="1" dirty="0" smtClean="0"/>
              <a:t>Maternal trisomy 21</a:t>
            </a:r>
          </a:p>
          <a:p>
            <a:r>
              <a:rPr lang="en-US" sz="2400" dirty="0"/>
              <a:t>46,N and 47,+21 conceptions occur with equal frequency, but loss of pregnancy is greater with the trisomic </a:t>
            </a:r>
            <a:r>
              <a:rPr lang="en-US" sz="2400" dirty="0" smtClean="0"/>
              <a:t>fetuses</a:t>
            </a:r>
          </a:p>
          <a:p>
            <a:endParaRPr lang="en-US" sz="2400" dirty="0"/>
          </a:p>
          <a:p>
            <a:r>
              <a:rPr lang="en-US" sz="2400" b="1" dirty="0" smtClean="0"/>
              <a:t>Paternal trisomy 21</a:t>
            </a:r>
          </a:p>
          <a:p>
            <a:r>
              <a:rPr lang="en-US" sz="2400" dirty="0" smtClean="0"/>
              <a:t>Spermatogenesis is reduced but not necessarily fail, few examples of fatherhood in DS males have been documented</a:t>
            </a:r>
          </a:p>
          <a:p>
            <a:endParaRPr lang="en-US" sz="2400" dirty="0"/>
          </a:p>
          <a:p>
            <a:r>
              <a:rPr lang="en-US" sz="2400" b="1" dirty="0" smtClean="0"/>
              <a:t>Parental trisomy 21 mosaicism</a:t>
            </a:r>
            <a:endParaRPr lang="en-US" sz="2400" b="1" dirty="0"/>
          </a:p>
        </p:txBody>
      </p:sp>
    </p:spTree>
    <p:extLst>
      <p:ext uri="{BB962C8B-B14F-4D97-AF65-F5344CB8AC3E}">
        <p14:creationId xmlns:p14="http://schemas.microsoft.com/office/powerpoint/2010/main" val="4009389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0365B4-539E-4AC3-A98D-177938A6246E}" type="slidenum">
              <a:rPr lang="en-US" smtClean="0"/>
              <a:t>9</a:t>
            </a:fld>
            <a:endParaRPr lang="en-US"/>
          </a:p>
        </p:txBody>
      </p:sp>
      <p:sp>
        <p:nvSpPr>
          <p:cNvPr id="3" name="TextBox 2"/>
          <p:cNvSpPr txBox="1"/>
          <p:nvPr/>
        </p:nvSpPr>
        <p:spPr>
          <a:xfrm>
            <a:off x="304800" y="304800"/>
            <a:ext cx="8610600" cy="2677656"/>
          </a:xfrm>
          <a:prstGeom prst="rect">
            <a:avLst/>
          </a:prstGeom>
          <a:noFill/>
        </p:spPr>
        <p:txBody>
          <a:bodyPr wrap="square" rtlCol="0">
            <a:spAutoFit/>
          </a:bodyPr>
          <a:lstStyle/>
          <a:p>
            <a:r>
              <a:rPr lang="en-US" sz="2400" b="1" dirty="0" smtClean="0"/>
              <a:t>Trisomy 13</a:t>
            </a:r>
            <a:r>
              <a:rPr lang="en-US" sz="2400" dirty="0" smtClean="0"/>
              <a:t>, </a:t>
            </a:r>
            <a:r>
              <a:rPr lang="en-US" sz="2400" dirty="0" err="1" smtClean="0"/>
              <a:t>Patau</a:t>
            </a:r>
            <a:r>
              <a:rPr lang="en-US" sz="2400" dirty="0" smtClean="0"/>
              <a:t> syndrome, 1 in 12,000</a:t>
            </a:r>
          </a:p>
          <a:p>
            <a:r>
              <a:rPr lang="en-US" sz="2400" b="1" dirty="0" smtClean="0"/>
              <a:t>Trisomy 18</a:t>
            </a:r>
            <a:r>
              <a:rPr lang="en-US" sz="2400" dirty="0" smtClean="0"/>
              <a:t>, Edwards syndrome, 1 in 6,000</a:t>
            </a:r>
          </a:p>
          <a:p>
            <a:endParaRPr lang="en-US" sz="2400" dirty="0"/>
          </a:p>
          <a:p>
            <a:r>
              <a:rPr lang="en-US" sz="2400" dirty="0" smtClean="0"/>
              <a:t>Both show maternal age effect and in both maternal meiosis is the cause in ~90% of cases</a:t>
            </a:r>
          </a:p>
          <a:p>
            <a:endParaRPr lang="en-US" sz="2400" dirty="0"/>
          </a:p>
          <a:p>
            <a:r>
              <a:rPr lang="en-US" sz="2400" dirty="0" smtClean="0"/>
              <a:t>Recurrence is very rare in trisomy 18 and not recorded in trisomy 13</a:t>
            </a:r>
            <a:endParaRPr lang="en-US" sz="2400" dirty="0"/>
          </a:p>
        </p:txBody>
      </p:sp>
    </p:spTree>
    <p:extLst>
      <p:ext uri="{BB962C8B-B14F-4D97-AF65-F5344CB8AC3E}">
        <p14:creationId xmlns:p14="http://schemas.microsoft.com/office/powerpoint/2010/main" val="94961677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0365B4-539E-4AC3-A98D-177938A6246E}" type="slidenum">
              <a:rPr lang="en-US" smtClean="0"/>
              <a:t>10</a:t>
            </a:fld>
            <a:endParaRPr lang="en-US"/>
          </a:p>
        </p:txBody>
      </p:sp>
      <p:sp>
        <p:nvSpPr>
          <p:cNvPr id="3" name="TextBox 2"/>
          <p:cNvSpPr txBox="1"/>
          <p:nvPr/>
        </p:nvSpPr>
        <p:spPr>
          <a:xfrm>
            <a:off x="304800" y="117693"/>
            <a:ext cx="8534400" cy="6432530"/>
          </a:xfrm>
          <a:prstGeom prst="rect">
            <a:avLst/>
          </a:prstGeom>
          <a:noFill/>
        </p:spPr>
        <p:txBody>
          <a:bodyPr wrap="square" rtlCol="0">
            <a:spAutoFit/>
          </a:bodyPr>
          <a:lstStyle/>
          <a:p>
            <a:r>
              <a:rPr lang="en-US" sz="2400" b="1" dirty="0" smtClean="0"/>
              <a:t>Sex chromosome aneuploidy</a:t>
            </a:r>
          </a:p>
          <a:p>
            <a:endParaRPr lang="en-US" sz="2000" dirty="0"/>
          </a:p>
          <a:p>
            <a:r>
              <a:rPr lang="en-US" sz="2400" dirty="0" smtClean="0"/>
              <a:t>XXY, XXX, XYY have similar frequency 1:1000 of the appropriate sex</a:t>
            </a:r>
          </a:p>
          <a:p>
            <a:endParaRPr lang="en-US" sz="2000" dirty="0" smtClean="0"/>
          </a:p>
          <a:p>
            <a:r>
              <a:rPr lang="en-US" sz="2400" dirty="0" smtClean="0"/>
              <a:t>Majority of XXX is due to maternal meiotic errors</a:t>
            </a:r>
          </a:p>
          <a:p>
            <a:r>
              <a:rPr lang="en-US" sz="2400" dirty="0" smtClean="0"/>
              <a:t>Almost half of XXY is due to maternal meiotic errors</a:t>
            </a:r>
          </a:p>
          <a:p>
            <a:r>
              <a:rPr lang="en-US" sz="2400" dirty="0" smtClean="0"/>
              <a:t>None of XYY is due to maternal errors (paternal MII)</a:t>
            </a:r>
          </a:p>
          <a:p>
            <a:endParaRPr lang="en-US" sz="2000" dirty="0"/>
          </a:p>
          <a:p>
            <a:r>
              <a:rPr lang="en-US" sz="2400" dirty="0" smtClean="0"/>
              <a:t>All may have </a:t>
            </a:r>
            <a:r>
              <a:rPr lang="en-US" sz="2400" dirty="0" err="1" smtClean="0"/>
              <a:t>postzygotic</a:t>
            </a:r>
            <a:r>
              <a:rPr lang="en-US" sz="2400" dirty="0" smtClean="0"/>
              <a:t> mitotic generation, which may present as mosaicism</a:t>
            </a:r>
            <a:endParaRPr lang="ar-JO" sz="2400" dirty="0" smtClean="0"/>
          </a:p>
          <a:p>
            <a:endParaRPr lang="ar-JO" sz="2400" dirty="0"/>
          </a:p>
          <a:p>
            <a:r>
              <a:rPr lang="en-US" sz="2400" b="1" dirty="0"/>
              <a:t>Turner syndrome</a:t>
            </a:r>
          </a:p>
          <a:p>
            <a:endParaRPr lang="en-US" sz="2000" dirty="0"/>
          </a:p>
          <a:p>
            <a:r>
              <a:rPr lang="en-US" sz="2400" dirty="0"/>
              <a:t>In ~75% of Turner it is the paternal X chromosome that is absent</a:t>
            </a:r>
          </a:p>
          <a:p>
            <a:endParaRPr lang="en-US" sz="2000" dirty="0"/>
          </a:p>
          <a:p>
            <a:r>
              <a:rPr lang="en-US" sz="2400" dirty="0"/>
              <a:t>Recurrence is nearly absent</a:t>
            </a:r>
          </a:p>
          <a:p>
            <a:endParaRPr lang="en-US" sz="2000" dirty="0"/>
          </a:p>
          <a:p>
            <a:r>
              <a:rPr lang="en-US" sz="2400" dirty="0"/>
              <a:t>Could happen </a:t>
            </a:r>
            <a:r>
              <a:rPr lang="en-US" sz="2400" dirty="0" err="1" smtClean="0"/>
              <a:t>postzygotically</a:t>
            </a:r>
            <a:endParaRPr lang="en-US" sz="2400" dirty="0"/>
          </a:p>
        </p:txBody>
      </p:sp>
    </p:spTree>
    <p:extLst>
      <p:ext uri="{BB962C8B-B14F-4D97-AF65-F5344CB8AC3E}">
        <p14:creationId xmlns:p14="http://schemas.microsoft.com/office/powerpoint/2010/main" val="195989456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0365B4-539E-4AC3-A98D-177938A6246E}" type="slidenum">
              <a:rPr lang="en-US" smtClean="0"/>
              <a:t>11</a:t>
            </a:fld>
            <a:endParaRPr lang="en-US"/>
          </a:p>
        </p:txBody>
      </p:sp>
      <p:pic>
        <p:nvPicPr>
          <p:cNvPr id="3" name="image124.jpeg"/>
          <p:cNvPicPr/>
          <p:nvPr/>
        </p:nvPicPr>
        <p:blipFill>
          <a:blip r:embed="rId2" cstate="print"/>
          <a:stretch>
            <a:fillRect/>
          </a:stretch>
        </p:blipFill>
        <p:spPr>
          <a:xfrm>
            <a:off x="1524000" y="381000"/>
            <a:ext cx="5295265" cy="3695700"/>
          </a:xfrm>
          <a:prstGeom prst="rect">
            <a:avLst/>
          </a:prstGeom>
        </p:spPr>
      </p:pic>
      <p:sp>
        <p:nvSpPr>
          <p:cNvPr id="4" name="Rectangle 3"/>
          <p:cNvSpPr/>
          <p:nvPr/>
        </p:nvSpPr>
        <p:spPr>
          <a:xfrm>
            <a:off x="1352232" y="4524026"/>
            <a:ext cx="7021286" cy="461665"/>
          </a:xfrm>
          <a:prstGeom prst="rect">
            <a:avLst/>
          </a:prstGeom>
        </p:spPr>
        <p:txBody>
          <a:bodyPr wrap="square">
            <a:spAutoFit/>
          </a:bodyPr>
          <a:lstStyle/>
          <a:p>
            <a:r>
              <a:rPr lang="en-US" sz="2400" dirty="0">
                <a:latin typeface="Times New Roman" panose="02020603050405020304" pitchFamily="18" charset="0"/>
                <a:ea typeface="Times New Roman" panose="02020603050405020304" pitchFamily="18" charset="0"/>
              </a:rPr>
              <a:t>FIGURE 13–5 Karyotype of a 69,XXY triploid fetus </a:t>
            </a:r>
            <a:endParaRPr lang="en-US" sz="2400" dirty="0"/>
          </a:p>
        </p:txBody>
      </p:sp>
      <p:sp>
        <p:nvSpPr>
          <p:cNvPr id="5" name="TextBox 4"/>
          <p:cNvSpPr txBox="1"/>
          <p:nvPr/>
        </p:nvSpPr>
        <p:spPr>
          <a:xfrm>
            <a:off x="2514600" y="5449536"/>
            <a:ext cx="4953000" cy="523220"/>
          </a:xfrm>
          <a:prstGeom prst="rect">
            <a:avLst/>
          </a:prstGeom>
          <a:noFill/>
        </p:spPr>
        <p:txBody>
          <a:bodyPr wrap="square" rtlCol="0">
            <a:spAutoFit/>
          </a:bodyPr>
          <a:lstStyle/>
          <a:p>
            <a:r>
              <a:rPr lang="en-US" sz="2800" b="1" dirty="0" smtClean="0"/>
              <a:t>Polyploidy – triploidy </a:t>
            </a:r>
            <a:endParaRPr lang="en-US" sz="2800" b="1" dirty="0"/>
          </a:p>
        </p:txBody>
      </p:sp>
    </p:spTree>
    <p:extLst>
      <p:ext uri="{BB962C8B-B14F-4D97-AF65-F5344CB8AC3E}">
        <p14:creationId xmlns:p14="http://schemas.microsoft.com/office/powerpoint/2010/main" val="328829958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0365B4-539E-4AC3-A98D-177938A6246E}" type="slidenum">
              <a:rPr lang="en-US" smtClean="0"/>
              <a:t>12</a:t>
            </a:fld>
            <a:endParaRPr lang="en-US"/>
          </a:p>
        </p:txBody>
      </p:sp>
      <p:pic>
        <p:nvPicPr>
          <p:cNvPr id="3" name="image125.jpeg"/>
          <p:cNvPicPr/>
          <p:nvPr/>
        </p:nvPicPr>
        <p:blipFill>
          <a:blip r:embed="rId2" cstate="print"/>
          <a:stretch>
            <a:fillRect/>
          </a:stretch>
        </p:blipFill>
        <p:spPr>
          <a:xfrm>
            <a:off x="1828800" y="227605"/>
            <a:ext cx="5257165" cy="3086100"/>
          </a:xfrm>
          <a:prstGeom prst="rect">
            <a:avLst/>
          </a:prstGeom>
        </p:spPr>
      </p:pic>
      <p:sp>
        <p:nvSpPr>
          <p:cNvPr id="4" name="TextBox 3"/>
          <p:cNvSpPr txBox="1"/>
          <p:nvPr/>
        </p:nvSpPr>
        <p:spPr>
          <a:xfrm>
            <a:off x="132806" y="5100210"/>
            <a:ext cx="8991600" cy="1569660"/>
          </a:xfrm>
          <a:prstGeom prst="rect">
            <a:avLst/>
          </a:prstGeom>
          <a:noFill/>
        </p:spPr>
        <p:txBody>
          <a:bodyPr wrap="square" rtlCol="0">
            <a:spAutoFit/>
          </a:bodyPr>
          <a:lstStyle/>
          <a:p>
            <a:r>
              <a:rPr lang="en-US" sz="2400" b="1" dirty="0" smtClean="0"/>
              <a:t>Triploidy</a:t>
            </a:r>
            <a:r>
              <a:rPr lang="en-US" sz="2400" dirty="0" smtClean="0"/>
              <a:t> occurs in 1% of recognized conceptions, 10% of recognized miscarriages, 99.99% are lost</a:t>
            </a:r>
          </a:p>
          <a:p>
            <a:endParaRPr lang="en-US" sz="2400" dirty="0"/>
          </a:p>
          <a:p>
            <a:r>
              <a:rPr lang="en-US" sz="2400" b="1" dirty="0" smtClean="0"/>
              <a:t>Tetraploidy</a:t>
            </a:r>
            <a:r>
              <a:rPr lang="en-US" sz="2400" dirty="0" smtClean="0"/>
              <a:t>, mostly resulting from reduplication of diploid set in zygote</a:t>
            </a:r>
            <a:endParaRPr lang="en-US" sz="2400" dirty="0"/>
          </a:p>
        </p:txBody>
      </p:sp>
      <p:sp>
        <p:nvSpPr>
          <p:cNvPr id="5" name="Rectangle 4"/>
          <p:cNvSpPr/>
          <p:nvPr/>
        </p:nvSpPr>
        <p:spPr>
          <a:xfrm>
            <a:off x="228600" y="3699126"/>
            <a:ext cx="8839200" cy="1015663"/>
          </a:xfrm>
          <a:prstGeom prst="rect">
            <a:avLst/>
          </a:prstGeom>
        </p:spPr>
        <p:txBody>
          <a:bodyPr wrap="square">
            <a:spAutoFit/>
          </a:bodyPr>
          <a:lstStyle/>
          <a:p>
            <a:pPr marL="101600" marR="142240" algn="just">
              <a:lnSpc>
                <a:spcPct val="100000"/>
              </a:lnSpc>
              <a:spcBef>
                <a:spcPts val="445"/>
              </a:spcBef>
              <a:spcAft>
                <a:spcPts val="0"/>
              </a:spcAft>
            </a:pPr>
            <a:r>
              <a:rPr lang="en-US" sz="2000" dirty="0">
                <a:latin typeface="Times New Roman" panose="02020603050405020304" pitchFamily="18" charset="0"/>
                <a:ea typeface="Times New Roman" panose="02020603050405020304" pitchFamily="18" charset="0"/>
              </a:rPr>
              <a:t>FIGURE 13–6 The three major routes whereby </a:t>
            </a:r>
            <a:r>
              <a:rPr lang="en-US" sz="2000" dirty="0" err="1">
                <a:latin typeface="Times New Roman" panose="02020603050405020304" pitchFamily="18" charset="0"/>
                <a:ea typeface="Times New Roman" panose="02020603050405020304" pitchFamily="18" charset="0"/>
              </a:rPr>
              <a:t>triploidy</a:t>
            </a:r>
            <a:r>
              <a:rPr lang="en-US" sz="2000" dirty="0">
                <a:latin typeface="Times New Roman" panose="02020603050405020304" pitchFamily="18" charset="0"/>
                <a:ea typeface="Times New Roman" panose="02020603050405020304" pitchFamily="18" charset="0"/>
              </a:rPr>
              <a:t> may arise. A complete failure of a meiotic division produces a diploid egg (</a:t>
            </a:r>
            <a:r>
              <a:rPr lang="en-US" sz="2000" i="1" dirty="0">
                <a:latin typeface="Times New Roman" panose="02020603050405020304" pitchFamily="18" charset="0"/>
                <a:ea typeface="Times New Roman" panose="02020603050405020304" pitchFamily="18" charset="0"/>
              </a:rPr>
              <a:t>left</a:t>
            </a:r>
            <a:r>
              <a:rPr lang="en-US" sz="2000" dirty="0">
                <a:latin typeface="Times New Roman" panose="02020603050405020304" pitchFamily="18" charset="0"/>
                <a:ea typeface="Times New Roman" panose="02020603050405020304" pitchFamily="18" charset="0"/>
              </a:rPr>
              <a:t>) or sperm (</a:t>
            </a:r>
            <a:r>
              <a:rPr lang="en-US" sz="2000" i="1" dirty="0">
                <a:latin typeface="Times New Roman" panose="02020603050405020304" pitchFamily="18" charset="0"/>
                <a:ea typeface="Times New Roman" panose="02020603050405020304" pitchFamily="18" charset="0"/>
              </a:rPr>
              <a:t>middle</a:t>
            </a:r>
            <a:r>
              <a:rPr lang="en-US" sz="2000" dirty="0">
                <a:latin typeface="Times New Roman" panose="02020603050405020304" pitchFamily="18" charset="0"/>
                <a:ea typeface="Times New Roman" panose="02020603050405020304" pitchFamily="18" charset="0"/>
              </a:rPr>
              <a:t>). Simultaneous fertilization by two sperm is </a:t>
            </a:r>
            <a:r>
              <a:rPr lang="en-US" sz="2000" dirty="0" err="1">
                <a:latin typeface="Times New Roman" panose="02020603050405020304" pitchFamily="18" charset="0"/>
                <a:ea typeface="Times New Roman" panose="02020603050405020304" pitchFamily="18" charset="0"/>
              </a:rPr>
              <a:t>dispermy</a:t>
            </a:r>
            <a:r>
              <a:rPr lang="en-US" sz="2000" dirty="0">
                <a:latin typeface="Times New Roman" panose="02020603050405020304" pitchFamily="18" charset="0"/>
                <a:ea typeface="Times New Roman" panose="02020603050405020304" pitchFamily="18" charset="0"/>
              </a:rPr>
              <a:t> (</a:t>
            </a:r>
            <a:r>
              <a:rPr lang="en-US" sz="2000" i="1" dirty="0">
                <a:latin typeface="Times New Roman" panose="02020603050405020304" pitchFamily="18" charset="0"/>
                <a:ea typeface="Times New Roman" panose="02020603050405020304" pitchFamily="18" charset="0"/>
              </a:rPr>
              <a:t>right</a:t>
            </a:r>
            <a:r>
              <a:rPr lang="en-US" sz="2000" dirty="0">
                <a:latin typeface="Times New Roman" panose="02020603050405020304" pitchFamily="18" charset="0"/>
                <a:ea typeface="Times New Roman" panose="02020603050405020304" pitchFamily="18" charset="0"/>
              </a:rPr>
              <a:t>).</a:t>
            </a:r>
            <a:endParaRPr lang="en-US"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1784987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0365B4-539E-4AC3-A98D-177938A6246E}" type="slidenum">
              <a:rPr lang="en-US" smtClean="0"/>
              <a:t>13</a:t>
            </a:fld>
            <a:endParaRPr lang="en-US"/>
          </a:p>
        </p:txBody>
      </p:sp>
      <p:sp>
        <p:nvSpPr>
          <p:cNvPr id="3" name="TextBox 2"/>
          <p:cNvSpPr txBox="1"/>
          <p:nvPr/>
        </p:nvSpPr>
        <p:spPr>
          <a:xfrm>
            <a:off x="152400" y="228600"/>
            <a:ext cx="8839200" cy="5078313"/>
          </a:xfrm>
          <a:prstGeom prst="rect">
            <a:avLst/>
          </a:prstGeom>
          <a:noFill/>
        </p:spPr>
        <p:txBody>
          <a:bodyPr wrap="square" rtlCol="0">
            <a:spAutoFit/>
          </a:bodyPr>
          <a:lstStyle/>
          <a:p>
            <a:r>
              <a:rPr lang="en-US" sz="2400" b="1" dirty="0" smtClean="0"/>
              <a:t>Influence of parental age in predisposing to aneuploidy</a:t>
            </a:r>
          </a:p>
          <a:p>
            <a:endParaRPr lang="en-US" sz="2400" dirty="0"/>
          </a:p>
          <a:p>
            <a:r>
              <a:rPr lang="en-US" sz="2400" dirty="0" smtClean="0"/>
              <a:t>Maternal age association of Down syndrome was known long before its chromosomal basis. In 1909 a scientist wrote:</a:t>
            </a:r>
          </a:p>
          <a:p>
            <a:endParaRPr lang="en-US" sz="2400" dirty="0"/>
          </a:p>
          <a:p>
            <a:r>
              <a:rPr lang="en-US" sz="2000" dirty="0" smtClean="0"/>
              <a:t>“with </a:t>
            </a:r>
            <a:r>
              <a:rPr lang="en-US" sz="2000" dirty="0"/>
              <a:t>regard to </a:t>
            </a:r>
            <a:r>
              <a:rPr lang="en-US" sz="2000" dirty="0" smtClean="0"/>
              <a:t>parentage… the </a:t>
            </a:r>
            <a:r>
              <a:rPr lang="en-US" sz="2000" dirty="0"/>
              <a:t>outstanding point is the </a:t>
            </a:r>
            <a:r>
              <a:rPr lang="en-US" sz="2000" dirty="0">
                <a:solidFill>
                  <a:srgbClr val="FF0000"/>
                </a:solidFill>
              </a:rPr>
              <a:t>advanced age of the mother</a:t>
            </a:r>
            <a:r>
              <a:rPr lang="en-US" sz="2000" dirty="0"/>
              <a:t> at the birth of the </a:t>
            </a:r>
            <a:r>
              <a:rPr lang="en-US" sz="2000" dirty="0" smtClean="0"/>
              <a:t>child… The </a:t>
            </a:r>
            <a:r>
              <a:rPr lang="en-US" sz="2000" dirty="0"/>
              <a:t>next point that strikes one is the </a:t>
            </a:r>
            <a:r>
              <a:rPr lang="en-US" sz="2000" dirty="0" smtClean="0"/>
              <a:t>large proportion </a:t>
            </a:r>
            <a:r>
              <a:rPr lang="en-US" sz="2000" dirty="0"/>
              <a:t>of Mongol children that are lastborn, often of a long </a:t>
            </a:r>
            <a:r>
              <a:rPr lang="en-US" sz="2000" dirty="0" smtClean="0"/>
              <a:t>family”</a:t>
            </a:r>
            <a:endParaRPr lang="en-US" sz="2000" dirty="0"/>
          </a:p>
          <a:p>
            <a:endParaRPr lang="en-US" sz="2400" dirty="0" smtClean="0"/>
          </a:p>
          <a:p>
            <a:r>
              <a:rPr lang="en-US" sz="2400" dirty="0" smtClean="0"/>
              <a:t>In a 1996 study, showed oocyte’s meiotic apparatus deterioration with age</a:t>
            </a:r>
          </a:p>
          <a:p>
            <a:endParaRPr lang="en-US" sz="2400" dirty="0"/>
          </a:p>
          <a:p>
            <a:r>
              <a:rPr lang="en-US" sz="2400" dirty="0" smtClean="0"/>
              <a:t>However, there is still a lack of understanding of the basic mechanism of the well-established links to maternal age</a:t>
            </a:r>
            <a:endParaRPr lang="en-US" sz="2400" dirty="0"/>
          </a:p>
        </p:txBody>
      </p:sp>
    </p:spTree>
    <p:extLst>
      <p:ext uri="{BB962C8B-B14F-4D97-AF65-F5344CB8AC3E}">
        <p14:creationId xmlns:p14="http://schemas.microsoft.com/office/powerpoint/2010/main" val="355334241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0365B4-539E-4AC3-A98D-177938A6246E}" type="slidenum">
              <a:rPr lang="en-US" smtClean="0"/>
              <a:t>14</a:t>
            </a:fld>
            <a:endParaRPr lang="en-US"/>
          </a:p>
        </p:txBody>
      </p:sp>
      <p:sp>
        <p:nvSpPr>
          <p:cNvPr id="3" name="TextBox 2"/>
          <p:cNvSpPr txBox="1"/>
          <p:nvPr/>
        </p:nvSpPr>
        <p:spPr>
          <a:xfrm>
            <a:off x="228600" y="228600"/>
            <a:ext cx="8763000" cy="954107"/>
          </a:xfrm>
          <a:prstGeom prst="rect">
            <a:avLst/>
          </a:prstGeom>
          <a:noFill/>
        </p:spPr>
        <p:txBody>
          <a:bodyPr wrap="square" rtlCol="0">
            <a:spAutoFit/>
          </a:bodyPr>
          <a:lstStyle/>
          <a:p>
            <a:r>
              <a:rPr lang="en-US" sz="2800" dirty="0" smtClean="0"/>
              <a:t>Fathers </a:t>
            </a:r>
            <a:r>
              <a:rPr lang="en-US" sz="2800" dirty="0"/>
              <a:t>of DS children are older than average, but simply because couples are usually of similar ages</a:t>
            </a:r>
          </a:p>
        </p:txBody>
      </p:sp>
      <p:pic>
        <p:nvPicPr>
          <p:cNvPr id="4" name="image126.jpeg"/>
          <p:cNvPicPr/>
          <p:nvPr/>
        </p:nvPicPr>
        <p:blipFill>
          <a:blip r:embed="rId2" cstate="print"/>
          <a:stretch>
            <a:fillRect/>
          </a:stretch>
        </p:blipFill>
        <p:spPr>
          <a:xfrm>
            <a:off x="2186305" y="1766888"/>
            <a:ext cx="4771390" cy="3324225"/>
          </a:xfrm>
          <a:prstGeom prst="rect">
            <a:avLst/>
          </a:prstGeom>
        </p:spPr>
      </p:pic>
      <p:sp>
        <p:nvSpPr>
          <p:cNvPr id="5" name="Rectangle 4"/>
          <p:cNvSpPr/>
          <p:nvPr/>
        </p:nvSpPr>
        <p:spPr>
          <a:xfrm>
            <a:off x="381000" y="5433020"/>
            <a:ext cx="8610600" cy="1015663"/>
          </a:xfrm>
          <a:prstGeom prst="rect">
            <a:avLst/>
          </a:prstGeom>
        </p:spPr>
        <p:txBody>
          <a:bodyPr wrap="square">
            <a:spAutoFit/>
          </a:bodyPr>
          <a:lstStyle/>
          <a:p>
            <a:r>
              <a:rPr lang="en-US" sz="2000" dirty="0">
                <a:latin typeface="Times New Roman" panose="02020603050405020304" pitchFamily="18" charset="0"/>
                <a:ea typeface="Times New Roman" panose="02020603050405020304" pitchFamily="18" charset="0"/>
              </a:rPr>
              <a:t>FIGURE 13–7 Parental ages compared to risk to have a child with Down syndrome. Note that </a:t>
            </a:r>
            <a:r>
              <a:rPr lang="en-US" sz="2000" i="1" dirty="0">
                <a:solidFill>
                  <a:srgbClr val="FF0000"/>
                </a:solidFill>
                <a:latin typeface="Times New Roman" panose="02020603050405020304" pitchFamily="18" charset="0"/>
                <a:ea typeface="Times New Roman" panose="02020603050405020304" pitchFamily="18" charset="0"/>
              </a:rPr>
              <a:t>younger </a:t>
            </a:r>
            <a:r>
              <a:rPr lang="en-US" sz="2000" dirty="0">
                <a:solidFill>
                  <a:srgbClr val="FF0000"/>
                </a:solidFill>
                <a:latin typeface="Times New Roman" panose="02020603050405020304" pitchFamily="18" charset="0"/>
                <a:ea typeface="Times New Roman" panose="02020603050405020304" pitchFamily="18" charset="0"/>
              </a:rPr>
              <a:t>paternal age is a slight risk factor</a:t>
            </a:r>
            <a:r>
              <a:rPr lang="en-US" sz="2000" dirty="0">
                <a:latin typeface="Times New Roman" panose="02020603050405020304" pitchFamily="18" charset="0"/>
                <a:ea typeface="Times New Roman" panose="02020603050405020304" pitchFamily="18" charset="0"/>
              </a:rPr>
              <a:t>, against the well- known and marked older maternal age</a:t>
            </a:r>
            <a:r>
              <a:rPr lang="en-US" sz="2000" spc="-40" dirty="0">
                <a:latin typeface="Times New Roman" panose="02020603050405020304" pitchFamily="18" charset="0"/>
                <a:ea typeface="Times New Roman" panose="02020603050405020304" pitchFamily="18" charset="0"/>
              </a:rPr>
              <a:t> </a:t>
            </a:r>
            <a:r>
              <a:rPr lang="en-US" sz="2000" dirty="0">
                <a:latin typeface="Times New Roman" panose="02020603050405020304" pitchFamily="18" charset="0"/>
                <a:ea typeface="Times New Roman" panose="02020603050405020304" pitchFamily="18" charset="0"/>
              </a:rPr>
              <a:t>effect.</a:t>
            </a:r>
            <a:endParaRPr lang="en-US" sz="2000" dirty="0"/>
          </a:p>
        </p:txBody>
      </p:sp>
    </p:spTree>
    <p:extLst>
      <p:ext uri="{BB962C8B-B14F-4D97-AF65-F5344CB8AC3E}">
        <p14:creationId xmlns:p14="http://schemas.microsoft.com/office/powerpoint/2010/main" val="26269698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E0365B4-539E-4AC3-A98D-177938A6246E}" type="slidenum">
              <a:rPr lang="en-US" smtClean="0"/>
              <a:t>15</a:t>
            </a:fld>
            <a:endParaRPr lang="en-US"/>
          </a:p>
        </p:txBody>
      </p:sp>
      <p:sp>
        <p:nvSpPr>
          <p:cNvPr id="3" name="TextBox 2"/>
          <p:cNvSpPr txBox="1"/>
          <p:nvPr/>
        </p:nvSpPr>
        <p:spPr>
          <a:xfrm>
            <a:off x="228600" y="76200"/>
            <a:ext cx="8839200" cy="2677656"/>
          </a:xfrm>
          <a:prstGeom prst="rect">
            <a:avLst/>
          </a:prstGeom>
          <a:noFill/>
        </p:spPr>
        <p:txBody>
          <a:bodyPr wrap="square" rtlCol="0">
            <a:spAutoFit/>
          </a:bodyPr>
          <a:lstStyle/>
          <a:p>
            <a:r>
              <a:rPr lang="en-US" sz="2400" dirty="0" smtClean="0"/>
              <a:t>Prevalence </a:t>
            </a:r>
            <a:r>
              <a:rPr lang="en-US" sz="2400" dirty="0"/>
              <a:t>of chromosome abnormality is greater at the time of prenatal diagnosis than at </a:t>
            </a:r>
            <a:r>
              <a:rPr lang="en-US" sz="2400" dirty="0" smtClean="0"/>
              <a:t>term</a:t>
            </a:r>
          </a:p>
          <a:p>
            <a:endParaRPr lang="en-US" sz="2400" dirty="0"/>
          </a:p>
          <a:p>
            <a:r>
              <a:rPr lang="en-US" sz="2400" dirty="0"/>
              <a:t>For trisomy 21, it is estimated that about </a:t>
            </a:r>
            <a:r>
              <a:rPr lang="en-US" sz="2400" dirty="0">
                <a:solidFill>
                  <a:srgbClr val="FF0000"/>
                </a:solidFill>
              </a:rPr>
              <a:t>one-third </a:t>
            </a:r>
            <a:r>
              <a:rPr lang="en-US" sz="2400" dirty="0"/>
              <a:t>of all pregnancies existing at the time of CVS spontaneously abort between then and term, and </a:t>
            </a:r>
            <a:r>
              <a:rPr lang="en-US" sz="2400" dirty="0">
                <a:solidFill>
                  <a:srgbClr val="FF0000"/>
                </a:solidFill>
              </a:rPr>
              <a:t>one-quarter</a:t>
            </a:r>
            <a:r>
              <a:rPr lang="en-US" sz="2400" dirty="0"/>
              <a:t> abort during the period from amniocentesis to term</a:t>
            </a:r>
          </a:p>
        </p:txBody>
      </p:sp>
      <p:pic>
        <p:nvPicPr>
          <p:cNvPr id="4" name="image127.jpeg"/>
          <p:cNvPicPr/>
          <p:nvPr/>
        </p:nvPicPr>
        <p:blipFill>
          <a:blip r:embed="rId2" cstate="print"/>
          <a:stretch>
            <a:fillRect/>
          </a:stretch>
        </p:blipFill>
        <p:spPr>
          <a:xfrm>
            <a:off x="228600" y="3270567"/>
            <a:ext cx="5450205" cy="3268345"/>
          </a:xfrm>
          <a:prstGeom prst="rect">
            <a:avLst/>
          </a:prstGeom>
        </p:spPr>
      </p:pic>
      <p:sp>
        <p:nvSpPr>
          <p:cNvPr id="5" name="Rectangle 4"/>
          <p:cNvSpPr/>
          <p:nvPr/>
        </p:nvSpPr>
        <p:spPr>
          <a:xfrm>
            <a:off x="6324600" y="2897547"/>
            <a:ext cx="2743200" cy="3477875"/>
          </a:xfrm>
          <a:prstGeom prst="rect">
            <a:avLst/>
          </a:prstGeom>
        </p:spPr>
        <p:txBody>
          <a:bodyPr wrap="square">
            <a:spAutoFit/>
          </a:bodyPr>
          <a:lstStyle/>
          <a:p>
            <a:pPr marL="101600" marR="139065">
              <a:lnSpc>
                <a:spcPct val="100000"/>
              </a:lnSpc>
              <a:spcBef>
                <a:spcPts val="440"/>
              </a:spcBef>
              <a:spcAft>
                <a:spcPts val="0"/>
              </a:spcAft>
            </a:pPr>
            <a:r>
              <a:rPr lang="en-US" sz="2000" dirty="0">
                <a:latin typeface="Times New Roman" panose="02020603050405020304" pitchFamily="18" charset="0"/>
                <a:ea typeface="Times New Roman" panose="02020603050405020304" pitchFamily="18" charset="0"/>
              </a:rPr>
              <a:t>FIGURE 13–8 Prevalence of Down syndrome for maternal ages 36–43 years, at three “windows of observation”: the time at which CVS is done (~</a:t>
            </a:r>
            <a:r>
              <a:rPr lang="en-US" sz="2000" dirty="0" smtClean="0">
                <a:latin typeface="Times New Roman" panose="02020603050405020304" pitchFamily="18" charset="0"/>
                <a:ea typeface="Times New Roman" panose="02020603050405020304" pitchFamily="18" charset="0"/>
              </a:rPr>
              <a:t>10 weeks</a:t>
            </a:r>
            <a:r>
              <a:rPr lang="en-US" sz="2000" dirty="0">
                <a:latin typeface="Times New Roman" panose="02020603050405020304" pitchFamily="18" charset="0"/>
                <a:ea typeface="Times New Roman" panose="02020603050405020304" pitchFamily="18" charset="0"/>
              </a:rPr>
              <a:t>), amniocentesis (15–17 weeks), and at live birth.</a:t>
            </a:r>
            <a:endParaRPr lang="en-US"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5074371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806</TotalTime>
  <Words>883</Words>
  <Application>Microsoft Office PowerPoint</Application>
  <PresentationFormat>On-screen Show (4:3)</PresentationFormat>
  <Paragraphs>104</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Down syndrome, other full aneuploidies, and polyploidy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Down syndrome, other full aneuploidies, and polyploidy</dc:title>
  <dc:creator>alkhateeb</dc:creator>
  <cp:lastModifiedBy>JUST</cp:lastModifiedBy>
  <cp:revision>59</cp:revision>
  <dcterms:created xsi:type="dcterms:W3CDTF">2012-04-29T08:36:05Z</dcterms:created>
  <dcterms:modified xsi:type="dcterms:W3CDTF">2023-03-08T19:24:40Z</dcterms:modified>
</cp:coreProperties>
</file>