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 id="279" r:id="rId23"/>
    <p:sldId id="281" r:id="rId24"/>
    <p:sldId id="282" r:id="rId25"/>
    <p:sldId id="284" r:id="rId26"/>
    <p:sldId id="285" r:id="rId27"/>
    <p:sldId id="286" r:id="rId28"/>
    <p:sldId id="288" r:id="rId29"/>
    <p:sldId id="289" r:id="rId30"/>
  </p:sldIdLst>
  <p:sldSz cx="9144000" cy="6858000" type="screen4x3"/>
  <p:notesSz cx="6858000" cy="91440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A8E355-64D1-B474-A879-7B80E67EFB0F}" v="23" dt="2023-02-23T11:03:41.8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74" d="100"/>
          <a:sy n="74" d="100"/>
        </p:scale>
        <p:origin x="1266" y="72"/>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30D3CB-AB8E-4924-A7A6-B3213A3455FA}" type="datetimeFigureOut">
              <a:rPr lang="en-US" smtClean="0"/>
              <a:pPr/>
              <a:t>2/23/2023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01BA58-2951-486B-9DEE-A8699590E1A5}" type="slidenum">
              <a:rPr lang="en-US" smtClean="0"/>
              <a:pPr/>
              <a:t>‹#›</a:t>
            </a:fld>
            <a:endParaRPr lang="en-US"/>
          </a:p>
        </p:txBody>
      </p:sp>
    </p:spTree>
    <p:extLst>
      <p:ext uri="{BB962C8B-B14F-4D97-AF65-F5344CB8AC3E}">
        <p14:creationId xmlns:p14="http://schemas.microsoft.com/office/powerpoint/2010/main" val="3956374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defRPr sz="3600">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815454F-ECDB-4842-AF71-F9E8195E2EAE}"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457822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0CD5D7F-3933-4309-8034-0F93355438F7}"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57884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C6B14C-AE06-4A23-89A1-5EF01B1A418B}"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223001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D8CB9A4-23AA-4DC3-A257-AD75712A2865}"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350947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89D155C-674B-4796-BBC2-FCD13546F93B}" type="datetime1">
              <a:rPr lang="en-US" smtClean="0"/>
              <a:pPr/>
              <a:t>2/23/2023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585470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F70BCA5-5AC7-4B00-85A8-8E2615460E4F}" type="datetime1">
              <a:rPr lang="en-US" smtClean="0"/>
              <a:pPr/>
              <a:t>2/23/2023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035365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3D31C3-CEED-4AB3-8385-FB58CACF14B7}" type="datetime1">
              <a:rPr lang="en-US" smtClean="0"/>
              <a:pPr/>
              <a:t>2/23/2023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64564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1A879B-5B0D-4A04-96A8-F9A63EEDE15E}"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328268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78211E-FE34-4C0A-B5A1-267E9B129D2C}"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186978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03F265-EC92-4E3A-8B2F-17EA75E99940}"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019088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510B38-9655-43E1-BBFD-8C7DABE26029}"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319958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AFF1A8-D92E-4DC4-8F80-25205ADBC8C6}" type="datetime1">
              <a:rPr lang="en-US" smtClean="0"/>
              <a:pPr/>
              <a:t>2/23/2023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1A82D2-719A-4A87-BECB-D74482819C19}" type="slidenum">
              <a:rPr lang="en-US" smtClean="0"/>
              <a:pPr/>
              <a:t>‹#›</a:t>
            </a:fld>
            <a:endParaRPr lang="en-US"/>
          </a:p>
        </p:txBody>
      </p:sp>
      <p:sp>
        <p:nvSpPr>
          <p:cNvPr id="7" name="Rectangle 5"/>
          <p:cNvSpPr>
            <a:spLocks noChangeArrowheads="1"/>
          </p:cNvSpPr>
          <p:nvPr userDrawn="1"/>
        </p:nvSpPr>
        <p:spPr bwMode="auto">
          <a:xfrm>
            <a:off x="0" y="6642100"/>
            <a:ext cx="9144000" cy="215444"/>
          </a:xfrm>
          <a:prstGeom prst="rect">
            <a:avLst/>
          </a:prstGeom>
          <a:noFill/>
          <a:ln w="9525">
            <a:noFill/>
            <a:miter lim="800000"/>
            <a:headEnd/>
            <a:tailEnd/>
          </a:ln>
        </p:spPr>
        <p:txBody>
          <a:bodyPr>
            <a:spAutoFit/>
          </a:bodyPr>
          <a:lstStyle/>
          <a:p>
            <a:pPr algn="ctr"/>
            <a:r>
              <a:rPr lang="en-US" sz="800" b="0" dirty="0">
                <a:ea typeface="ヒラギノ角ゴ Pro W3"/>
                <a:cs typeface="ヒラギノ角ゴ Pro W3"/>
              </a:rPr>
              <a:t>Copyright (c) 2017 McGraw-Hill Education. All rights reserved. No reproduction or distribution without the prior written consent of McGraw-Hill Education.</a:t>
            </a:r>
          </a:p>
        </p:txBody>
      </p:sp>
    </p:spTree>
    <p:extLst>
      <p:ext uri="{BB962C8B-B14F-4D97-AF65-F5344CB8AC3E}">
        <p14:creationId xmlns:p14="http://schemas.microsoft.com/office/powerpoint/2010/main" val="376157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3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2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22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B1A82D2-719A-4A87-BECB-D74482819C19}" type="slidenum">
              <a:rPr lang="en-US" smtClean="0"/>
              <a:pPr/>
              <a:t>1</a:t>
            </a:fld>
            <a:endParaRPr lang="en-US"/>
          </a:p>
        </p:txBody>
      </p:sp>
      <p:sp>
        <p:nvSpPr>
          <p:cNvPr id="2" name="Title 1"/>
          <p:cNvSpPr>
            <a:spLocks noGrp="1"/>
          </p:cNvSpPr>
          <p:nvPr>
            <p:ph type="ctrTitle"/>
          </p:nvPr>
        </p:nvSpPr>
        <p:spPr>
          <a:xfrm>
            <a:off x="685800" y="0"/>
            <a:ext cx="7772400" cy="1470025"/>
          </a:xfrm>
        </p:spPr>
        <p:txBody>
          <a:bodyPr/>
          <a:lstStyle/>
          <a:p>
            <a:r>
              <a:rPr lang="en-US" dirty="0"/>
              <a:t>Chapter 19 – Microbial Taxonomy and the Evolution of Diversity</a:t>
            </a:r>
          </a:p>
        </p:txBody>
      </p:sp>
      <p:pic>
        <p:nvPicPr>
          <p:cNvPr id="6" name="Picture 2" descr="X:\Graphics\Powerpoint\MH_DCM\MH_DCM-TEXTEDIT PROJECTS\WILLEY_10e\Incoming\Wille10e17tlm_nm3.jpg"/>
          <p:cNvPicPr>
            <a:picLocks noChangeAspect="1" noChangeArrowheads="1"/>
          </p:cNvPicPr>
          <p:nvPr/>
        </p:nvPicPr>
        <p:blipFill>
          <a:blip r:embed="rId2" cstate="print"/>
          <a:srcRect/>
          <a:stretch>
            <a:fillRect/>
          </a:stretch>
        </p:blipFill>
        <p:spPr bwMode="auto">
          <a:xfrm>
            <a:off x="2502128" y="1371600"/>
            <a:ext cx="4139744" cy="5029200"/>
          </a:xfrm>
          <a:prstGeom prst="rect">
            <a:avLst/>
          </a:prstGeom>
          <a:noFill/>
        </p:spPr>
      </p:pic>
    </p:spTree>
    <p:extLst>
      <p:ext uri="{BB962C8B-B14F-4D97-AF65-F5344CB8AC3E}">
        <p14:creationId xmlns:p14="http://schemas.microsoft.com/office/powerpoint/2010/main" val="1490809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19.1 Microbial Taxonomy is Based on the Evolution of Multiple Traits</a:t>
            </a:r>
          </a:p>
        </p:txBody>
      </p:sp>
      <p:sp>
        <p:nvSpPr>
          <p:cNvPr id="3" name="Content Placeholder 2"/>
          <p:cNvSpPr>
            <a:spLocks noGrp="1"/>
          </p:cNvSpPr>
          <p:nvPr>
            <p:ph idx="1"/>
          </p:nvPr>
        </p:nvSpPr>
        <p:spPr/>
        <p:txBody>
          <a:bodyPr/>
          <a:lstStyle/>
          <a:p>
            <a:pPr marL="514350" indent="-514350">
              <a:buFont typeface="+mj-lt"/>
              <a:buAutoNum type="arabicPeriod"/>
            </a:pPr>
            <a:r>
              <a:rPr lang="en-US" dirty="0"/>
              <a:t>Explain the utility of taxonomy and systematics</a:t>
            </a:r>
            <a:br>
              <a:rPr lang="en-US" dirty="0"/>
            </a:br>
            <a:endParaRPr lang="en-US" dirty="0"/>
          </a:p>
          <a:p>
            <a:pPr marL="514350" indent="-514350">
              <a:buFont typeface="+mj-lt"/>
              <a:buAutoNum type="arabicPeriod"/>
            </a:pPr>
            <a:r>
              <a:rPr lang="en-US" dirty="0"/>
              <a:t>Draw a concept map illustrating the differences between </a:t>
            </a:r>
            <a:r>
              <a:rPr lang="en-US" dirty="0" err="1"/>
              <a:t>phenetic</a:t>
            </a:r>
            <a:r>
              <a:rPr lang="en-US" dirty="0"/>
              <a:t>, phylogenetic, and genotypic classification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a:t>
            </a:fld>
            <a:endParaRPr lang="en-US"/>
          </a:p>
        </p:txBody>
      </p:sp>
    </p:spTree>
    <p:extLst>
      <p:ext uri="{BB962C8B-B14F-4D97-AF65-F5344CB8AC3E}">
        <p14:creationId xmlns:p14="http://schemas.microsoft.com/office/powerpoint/2010/main" val="2527339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Introduction to </a:t>
            </a:r>
            <a:br>
              <a:rPr lang="en-US" dirty="0"/>
            </a:br>
            <a:r>
              <a:rPr lang="en-US" dirty="0"/>
              <a:t>Microbial Taxonomy</a:t>
            </a:r>
          </a:p>
        </p:txBody>
      </p:sp>
      <p:sp>
        <p:nvSpPr>
          <p:cNvPr id="3" name="Content Placeholder 2"/>
          <p:cNvSpPr>
            <a:spLocks noGrp="1"/>
          </p:cNvSpPr>
          <p:nvPr>
            <p:ph idx="1"/>
          </p:nvPr>
        </p:nvSpPr>
        <p:spPr/>
        <p:txBody>
          <a:bodyPr/>
          <a:lstStyle/>
          <a:p>
            <a:r>
              <a:rPr lang="en-US" dirty="0"/>
              <a:t>Taxonomy</a:t>
            </a:r>
            <a:br>
              <a:rPr lang="en-US" dirty="0"/>
            </a:br>
            <a:endParaRPr lang="en-US" dirty="0"/>
          </a:p>
          <a:p>
            <a:pPr lvl="1"/>
            <a:r>
              <a:rPr lang="en-US" dirty="0"/>
              <a:t>science of biological classification</a:t>
            </a:r>
            <a:br>
              <a:rPr lang="en-US" dirty="0"/>
            </a:br>
            <a:endParaRPr lang="en-US" dirty="0"/>
          </a:p>
          <a:p>
            <a:pPr lvl="1"/>
            <a:r>
              <a:rPr lang="en-US" dirty="0"/>
              <a:t>consists of three separate but interrelated parts</a:t>
            </a:r>
          </a:p>
          <a:p>
            <a:pPr lvl="2"/>
            <a:r>
              <a:rPr lang="en-US" sz="2400" dirty="0"/>
              <a:t>classification – arrangement of organisms into groups (taxa; s., taxon)</a:t>
            </a:r>
          </a:p>
          <a:p>
            <a:pPr lvl="2"/>
            <a:r>
              <a:rPr lang="en-US" sz="2400" dirty="0"/>
              <a:t>nomenclature – assignment of names to taxa</a:t>
            </a:r>
          </a:p>
          <a:p>
            <a:pPr lvl="2"/>
            <a:r>
              <a:rPr lang="en-US" sz="2400" dirty="0"/>
              <a:t>identification – determination of taxon to which an isolate belongs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a:t>
            </a:fld>
            <a:endParaRPr lang="en-US"/>
          </a:p>
        </p:txBody>
      </p:sp>
    </p:spTree>
    <p:extLst>
      <p:ext uri="{BB962C8B-B14F-4D97-AF65-F5344CB8AC3E}">
        <p14:creationId xmlns:p14="http://schemas.microsoft.com/office/powerpoint/2010/main" val="3061060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Classification</a:t>
            </a:r>
          </a:p>
        </p:txBody>
      </p:sp>
      <p:sp>
        <p:nvSpPr>
          <p:cNvPr id="3" name="Content Placeholder 2"/>
          <p:cNvSpPr>
            <a:spLocks noGrp="1"/>
          </p:cNvSpPr>
          <p:nvPr>
            <p:ph sz="half" idx="1"/>
          </p:nvPr>
        </p:nvSpPr>
        <p:spPr>
          <a:xfrm>
            <a:off x="228600" y="1600200"/>
            <a:ext cx="4876800" cy="5105400"/>
          </a:xfrm>
        </p:spPr>
        <p:txBody>
          <a:bodyPr>
            <a:normAutofit fontScale="92500" lnSpcReduction="20000"/>
          </a:bodyPr>
          <a:lstStyle/>
          <a:p>
            <a:pPr>
              <a:lnSpc>
                <a:spcPct val="110000"/>
              </a:lnSpc>
              <a:spcBef>
                <a:spcPts val="600"/>
              </a:spcBef>
            </a:pPr>
            <a:r>
              <a:rPr lang="en-US" dirty="0"/>
              <a:t>Arranges organisms into groups whose members share many characteristics</a:t>
            </a:r>
          </a:p>
          <a:p>
            <a:pPr lvl="2">
              <a:lnSpc>
                <a:spcPct val="110000"/>
              </a:lnSpc>
              <a:spcBef>
                <a:spcPts val="600"/>
              </a:spcBef>
            </a:pPr>
            <a:r>
              <a:rPr lang="en-US" sz="2600" dirty="0"/>
              <a:t>first such classification in 18</a:t>
            </a:r>
            <a:r>
              <a:rPr lang="en-US" sz="2600" baseline="30000" dirty="0"/>
              <a:t>th</a:t>
            </a:r>
            <a:r>
              <a:rPr lang="en-US" sz="2600" dirty="0"/>
              <a:t> century developed by Linnaeus</a:t>
            </a:r>
          </a:p>
          <a:p>
            <a:pPr lvl="3">
              <a:lnSpc>
                <a:spcPct val="110000"/>
              </a:lnSpc>
              <a:spcBef>
                <a:spcPts val="600"/>
              </a:spcBef>
            </a:pPr>
            <a:r>
              <a:rPr lang="en-US" sz="2400" dirty="0"/>
              <a:t>based on anatomical characteristics</a:t>
            </a:r>
            <a:br>
              <a:rPr lang="en-US" sz="2400" dirty="0"/>
            </a:br>
            <a:endParaRPr lang="en-US" sz="2400" dirty="0"/>
          </a:p>
          <a:p>
            <a:pPr>
              <a:lnSpc>
                <a:spcPct val="110000"/>
              </a:lnSpc>
              <a:spcBef>
                <a:spcPts val="600"/>
              </a:spcBef>
            </a:pPr>
            <a:r>
              <a:rPr lang="en-US" dirty="0"/>
              <a:t>This approach to classification does not necessarily provide information on evolutionary relatedness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a:t>
            </a:fld>
            <a:endParaRPr lang="en-US"/>
          </a:p>
        </p:txBody>
      </p:sp>
      <p:pic>
        <p:nvPicPr>
          <p:cNvPr id="1026" name="Picture 2" descr="This is the sketch of Carl Linnaeus from page 445 in the textbook (no figure number or description)." title="Carl Linnaeus"/>
          <p:cNvPicPr>
            <a:picLocks noChangeAspect="1" noChangeArrowheads="1"/>
          </p:cNvPicPr>
          <p:nvPr/>
        </p:nvPicPr>
        <p:blipFill>
          <a:blip r:embed="rId2" cstate="print"/>
          <a:srcRect/>
          <a:stretch>
            <a:fillRect/>
          </a:stretch>
        </p:blipFill>
        <p:spPr bwMode="auto">
          <a:xfrm>
            <a:off x="5105400" y="1295400"/>
            <a:ext cx="3829050" cy="4730750"/>
          </a:xfrm>
          <a:prstGeom prst="rect">
            <a:avLst/>
          </a:prstGeom>
          <a:noFill/>
        </p:spPr>
      </p:pic>
    </p:spTree>
    <p:extLst>
      <p:ext uri="{BB962C8B-B14F-4D97-AF65-F5344CB8AC3E}">
        <p14:creationId xmlns:p14="http://schemas.microsoft.com/office/powerpoint/2010/main" val="3061060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err="1"/>
              <a:t>Polyphasic</a:t>
            </a:r>
            <a:r>
              <a:rPr lang="en-US" dirty="0"/>
              <a:t> Taxonomy</a:t>
            </a:r>
          </a:p>
        </p:txBody>
      </p:sp>
      <p:sp>
        <p:nvSpPr>
          <p:cNvPr id="3" name="Content Placeholder 2"/>
          <p:cNvSpPr>
            <a:spLocks noGrp="1"/>
          </p:cNvSpPr>
          <p:nvPr>
            <p:ph sz="half" idx="1"/>
          </p:nvPr>
        </p:nvSpPr>
        <p:spPr>
          <a:xfrm>
            <a:off x="152400" y="1219201"/>
            <a:ext cx="8839200" cy="1905000"/>
          </a:xfrm>
        </p:spPr>
        <p:txBody>
          <a:bodyPr>
            <a:normAutofit fontScale="92500" lnSpcReduction="20000"/>
          </a:bodyPr>
          <a:lstStyle/>
          <a:p>
            <a:r>
              <a:rPr lang="en-US" dirty="0"/>
              <a:t>Used to determine the genus and species of a newly discovered prokaryote</a:t>
            </a:r>
            <a:br>
              <a:rPr lang="en-US" dirty="0"/>
            </a:br>
            <a:endParaRPr lang="en-US" dirty="0"/>
          </a:p>
          <a:p>
            <a:r>
              <a:rPr lang="en-US" dirty="0"/>
              <a:t>Incorporates information from genetic, phenotypic, and phylogenetic analysis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a:t>
            </a:fld>
            <a:endParaRPr lang="en-US"/>
          </a:p>
        </p:txBody>
      </p:sp>
      <p:pic>
        <p:nvPicPr>
          <p:cNvPr id="1026" name="Picture 2" descr="Header Row: Classification System; Basis of Classification; Traits; Microbial Example&#10;Phenetic; Phenotype; Morphology, Physiology; Clostridium spp. (anaerobic, endospore-forming, Gram-positive rod) compared to Bacillus spp. (aerobic, endospore-forming, Gram-positive rod)&#10;Genotypic; Genes and genomes; DNA:DNA hybridization, Average nucleotide identity; E. coli strain K12 compared to E. coli O157:H7, E. coli compared to Salmonella enterica&#10;Phylogenetic; Evolution; rRNA genes, Conserved protein-coding gene; Archaea compared to Bacteria" title="Table 19.1 Components of Polyphasic Taxonomy"/>
          <p:cNvPicPr>
            <a:picLocks noChangeAspect="1" noChangeArrowheads="1"/>
          </p:cNvPicPr>
          <p:nvPr/>
        </p:nvPicPr>
        <p:blipFill>
          <a:blip r:embed="rId2" cstate="print"/>
          <a:stretch>
            <a:fillRect/>
          </a:stretch>
        </p:blipFill>
        <p:spPr bwMode="auto">
          <a:xfrm>
            <a:off x="662781" y="3689077"/>
            <a:ext cx="7818438" cy="2305037"/>
          </a:xfrm>
          <a:prstGeom prst="rect">
            <a:avLst/>
          </a:prstGeom>
          <a:noFill/>
        </p:spPr>
      </p:pic>
    </p:spTree>
    <p:extLst>
      <p:ext uri="{BB962C8B-B14F-4D97-AF65-F5344CB8AC3E}">
        <p14:creationId xmlns:p14="http://schemas.microsoft.com/office/powerpoint/2010/main" val="3061060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Phenetic</a:t>
            </a:r>
            <a:r>
              <a:rPr lang="en-US" dirty="0"/>
              <a:t> Classification</a:t>
            </a:r>
          </a:p>
        </p:txBody>
      </p:sp>
      <p:sp>
        <p:nvSpPr>
          <p:cNvPr id="3" name="Content Placeholder 2"/>
          <p:cNvSpPr>
            <a:spLocks noGrp="1"/>
          </p:cNvSpPr>
          <p:nvPr>
            <p:ph idx="1"/>
          </p:nvPr>
        </p:nvSpPr>
        <p:spPr>
          <a:xfrm>
            <a:off x="381000" y="1600200"/>
            <a:ext cx="8458200" cy="4525963"/>
          </a:xfrm>
        </p:spPr>
        <p:txBody>
          <a:bodyPr/>
          <a:lstStyle/>
          <a:p>
            <a:pPr>
              <a:lnSpc>
                <a:spcPct val="90000"/>
              </a:lnSpc>
            </a:pPr>
            <a:r>
              <a:rPr lang="en-US" dirty="0"/>
              <a:t>Groups organisms together based on mutual similarity of phenotypes</a:t>
            </a:r>
            <a:br>
              <a:rPr lang="en-US" dirty="0"/>
            </a:br>
            <a:endParaRPr lang="en-US" dirty="0"/>
          </a:p>
          <a:p>
            <a:pPr>
              <a:lnSpc>
                <a:spcPct val="90000"/>
              </a:lnSpc>
            </a:pPr>
            <a:r>
              <a:rPr lang="en-US" dirty="0"/>
              <a:t>Can reveal evolutionary relationships, but not dependent on phylogenetic analysis</a:t>
            </a:r>
          </a:p>
          <a:p>
            <a:pPr lvl="1">
              <a:lnSpc>
                <a:spcPct val="90000"/>
              </a:lnSpc>
            </a:pPr>
            <a:r>
              <a:rPr lang="en-US" dirty="0"/>
              <a:t>i.e., doesn’t weigh characters</a:t>
            </a:r>
            <a:br>
              <a:rPr lang="en-US" dirty="0"/>
            </a:br>
            <a:endParaRPr lang="en-US" dirty="0"/>
          </a:p>
          <a:p>
            <a:pPr>
              <a:lnSpc>
                <a:spcPct val="90000"/>
              </a:lnSpc>
            </a:pPr>
            <a:r>
              <a:rPr lang="en-US" dirty="0"/>
              <a:t>Best systems compare as many attributes as possible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a:t>
            </a:fld>
            <a:endParaRPr lang="en-US"/>
          </a:p>
        </p:txBody>
      </p:sp>
    </p:spTree>
    <p:extLst>
      <p:ext uri="{BB962C8B-B14F-4D97-AF65-F5344CB8AC3E}">
        <p14:creationId xmlns:p14="http://schemas.microsoft.com/office/powerpoint/2010/main" val="3061060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Genotypic Classification</a:t>
            </a:r>
          </a:p>
        </p:txBody>
      </p:sp>
      <p:sp>
        <p:nvSpPr>
          <p:cNvPr id="3" name="Content Placeholder 2"/>
          <p:cNvSpPr>
            <a:spLocks noGrp="1"/>
          </p:cNvSpPr>
          <p:nvPr>
            <p:ph idx="1"/>
          </p:nvPr>
        </p:nvSpPr>
        <p:spPr/>
        <p:txBody>
          <a:bodyPr/>
          <a:lstStyle/>
          <a:p>
            <a:r>
              <a:rPr lang="en-US" dirty="0"/>
              <a:t>Comparison of genetic similarity between organisms</a:t>
            </a:r>
            <a:br>
              <a:rPr lang="en-US" dirty="0"/>
            </a:br>
            <a:endParaRPr lang="en-US" dirty="0"/>
          </a:p>
          <a:p>
            <a:pPr lvl="1"/>
            <a:r>
              <a:rPr lang="en-US" dirty="0"/>
              <a:t>individual genes or whole genomes can be compared</a:t>
            </a:r>
            <a:br>
              <a:rPr lang="en-US" dirty="0"/>
            </a:br>
            <a:endParaRPr lang="en-US" dirty="0"/>
          </a:p>
          <a:p>
            <a:pPr lvl="1"/>
            <a:r>
              <a:rPr lang="en-US" dirty="0"/>
              <a:t>70% homologous belong to the same species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a:t>
            </a:fld>
            <a:endParaRPr lang="en-US"/>
          </a:p>
        </p:txBody>
      </p:sp>
    </p:spTree>
    <p:extLst>
      <p:ext uri="{BB962C8B-B14F-4D97-AF65-F5344CB8AC3E}">
        <p14:creationId xmlns:p14="http://schemas.microsoft.com/office/powerpoint/2010/main" val="3061060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Phylogenetic Classification</a:t>
            </a:r>
          </a:p>
        </p:txBody>
      </p:sp>
      <p:sp>
        <p:nvSpPr>
          <p:cNvPr id="3" name="Content Placeholder 2"/>
          <p:cNvSpPr>
            <a:spLocks noGrp="1"/>
          </p:cNvSpPr>
          <p:nvPr>
            <p:ph idx="1"/>
          </p:nvPr>
        </p:nvSpPr>
        <p:spPr>
          <a:xfrm>
            <a:off x="457200" y="1600200"/>
            <a:ext cx="8229600" cy="4876800"/>
          </a:xfrm>
        </p:spPr>
        <p:txBody>
          <a:bodyPr/>
          <a:lstStyle/>
          <a:p>
            <a:r>
              <a:rPr lang="en-US" dirty="0"/>
              <a:t>Also called phyletic classification systems</a:t>
            </a:r>
            <a:br>
              <a:rPr lang="en-US" dirty="0"/>
            </a:br>
            <a:endParaRPr lang="en-US" dirty="0"/>
          </a:p>
          <a:p>
            <a:r>
              <a:rPr lang="en-US" dirty="0"/>
              <a:t>Phylogeny</a:t>
            </a:r>
          </a:p>
          <a:p>
            <a:pPr lvl="1"/>
            <a:r>
              <a:rPr lang="en-US" dirty="0"/>
              <a:t>evolutionary development of a species</a:t>
            </a:r>
            <a:br>
              <a:rPr lang="en-US" dirty="0"/>
            </a:br>
            <a:endParaRPr lang="en-US" dirty="0"/>
          </a:p>
          <a:p>
            <a:r>
              <a:rPr lang="en-US" dirty="0"/>
              <a:t>Usually based on direct comparison of genetic material and gene products</a:t>
            </a:r>
          </a:p>
          <a:p>
            <a:pPr lvl="1"/>
            <a:r>
              <a:rPr lang="en-US" dirty="0" err="1"/>
              <a:t>Woese</a:t>
            </a:r>
            <a:r>
              <a:rPr lang="en-US" dirty="0"/>
              <a:t> and Fox proposed using small subunit (SSU) </a:t>
            </a:r>
            <a:r>
              <a:rPr lang="en-US" dirty="0" err="1"/>
              <a:t>rRNA</a:t>
            </a:r>
            <a:r>
              <a:rPr lang="en-US" dirty="0"/>
              <a:t> nucleotide sequences to assess evolutionary relatedness of organisms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8</a:t>
            </a:fld>
            <a:endParaRPr lang="en-US"/>
          </a:p>
        </p:txBody>
      </p:sp>
    </p:spTree>
    <p:extLst>
      <p:ext uri="{BB962C8B-B14F-4D97-AF65-F5344CB8AC3E}">
        <p14:creationId xmlns:p14="http://schemas.microsoft.com/office/powerpoint/2010/main" val="3061060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19.2 Taxonomic Ranks Provide an Organizational Framework</a:t>
            </a:r>
          </a:p>
        </p:txBody>
      </p:sp>
      <p:sp>
        <p:nvSpPr>
          <p:cNvPr id="3" name="Content Placeholder 2"/>
          <p:cNvSpPr>
            <a:spLocks noGrp="1"/>
          </p:cNvSpPr>
          <p:nvPr>
            <p:ph idx="1"/>
          </p:nvPr>
        </p:nvSpPr>
        <p:spPr/>
        <p:txBody>
          <a:bodyPr/>
          <a:lstStyle/>
          <a:p>
            <a:pPr marL="514350" indent="-514350">
              <a:buFont typeface="+mj-lt"/>
              <a:buAutoNum type="arabicPeriod"/>
            </a:pPr>
            <a:r>
              <a:rPr lang="en-US" dirty="0"/>
              <a:t>Outline the general scheme of taxonomic hierarchy</a:t>
            </a:r>
            <a:br>
              <a:rPr lang="en-US" dirty="0"/>
            </a:br>
            <a:endParaRPr lang="en-US" dirty="0"/>
          </a:p>
          <a:p>
            <a:pPr marL="514350" indent="-514350">
              <a:buFont typeface="+mj-lt"/>
              <a:buAutoNum type="arabicPeriod"/>
            </a:pPr>
            <a:r>
              <a:rPr lang="en-US" dirty="0"/>
              <a:t>Explain how the binomial system of Linnaeus is used in microbial taxonomy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9</a:t>
            </a:fld>
            <a:endParaRPr lang="en-US"/>
          </a:p>
        </p:txBody>
      </p:sp>
    </p:spTree>
    <p:extLst>
      <p:ext uri="{BB962C8B-B14F-4D97-AF65-F5344CB8AC3E}">
        <p14:creationId xmlns:p14="http://schemas.microsoft.com/office/powerpoint/2010/main" val="3061060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Taxonomic Ranks</a:t>
            </a:r>
          </a:p>
        </p:txBody>
      </p:sp>
      <p:sp>
        <p:nvSpPr>
          <p:cNvPr id="3" name="Content Placeholder 2"/>
          <p:cNvSpPr>
            <a:spLocks noGrp="1"/>
          </p:cNvSpPr>
          <p:nvPr>
            <p:ph idx="1"/>
          </p:nvPr>
        </p:nvSpPr>
        <p:spPr>
          <a:xfrm>
            <a:off x="457200" y="1600200"/>
            <a:ext cx="8229600" cy="4876800"/>
          </a:xfrm>
        </p:spPr>
        <p:txBody>
          <a:bodyPr>
            <a:normAutofit/>
          </a:bodyPr>
          <a:lstStyle/>
          <a:p>
            <a:r>
              <a:rPr lang="en-US" dirty="0"/>
              <a:t>Microbes are placed in hierarchical taxonomic levels with each level or rank sharing a common set of specific features</a:t>
            </a:r>
            <a:br>
              <a:rPr lang="en-US" dirty="0"/>
            </a:br>
            <a:endParaRPr lang="en-US" dirty="0"/>
          </a:p>
          <a:p>
            <a:r>
              <a:rPr lang="en-US" dirty="0"/>
              <a:t>Highest rank is domain</a:t>
            </a:r>
          </a:p>
          <a:p>
            <a:pPr lvl="1"/>
            <a:r>
              <a:rPr lang="en-US" i="1" dirty="0"/>
              <a:t>Bacteria</a:t>
            </a:r>
            <a:r>
              <a:rPr lang="en-US" dirty="0"/>
              <a:t> and </a:t>
            </a:r>
            <a:r>
              <a:rPr lang="en-US" i="1" dirty="0"/>
              <a:t>Archaea</a:t>
            </a:r>
            <a:r>
              <a:rPr lang="en-US" dirty="0"/>
              <a:t> – microbes only</a:t>
            </a:r>
          </a:p>
          <a:p>
            <a:pPr lvl="1"/>
            <a:r>
              <a:rPr lang="en-US" i="1" dirty="0"/>
              <a:t>Eukarya</a:t>
            </a:r>
            <a:r>
              <a:rPr lang="en-US" dirty="0"/>
              <a:t> – microbes and </a:t>
            </a:r>
            <a:r>
              <a:rPr lang="en-US" dirty="0" err="1"/>
              <a:t>macroorganisms</a:t>
            </a:r>
            <a:br>
              <a:rPr lang="en-US" dirty="0"/>
            </a:br>
            <a:endParaRPr lang="en-US" dirty="0"/>
          </a:p>
          <a:p>
            <a:r>
              <a:rPr lang="en-US" dirty="0"/>
              <a:t>Within domain</a:t>
            </a:r>
          </a:p>
          <a:p>
            <a:pPr lvl="1"/>
            <a:r>
              <a:rPr lang="en-US" dirty="0"/>
              <a:t>phylum, class, order, family, genus, species epithet, some microbes have subspecies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10</a:t>
            </a:fld>
            <a:endParaRPr lang="en-US"/>
          </a:p>
        </p:txBody>
      </p:sp>
    </p:spTree>
    <p:extLst>
      <p:ext uri="{BB962C8B-B14F-4D97-AF65-F5344CB8AC3E}">
        <p14:creationId xmlns:p14="http://schemas.microsoft.com/office/powerpoint/2010/main" val="3061060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err="1"/>
              <a:t>Heirarchical</a:t>
            </a:r>
            <a:r>
              <a:rPr lang="en-US" dirty="0"/>
              <a:t> Arrangement in Taxonomy</a:t>
            </a:r>
          </a:p>
        </p:txBody>
      </p:sp>
      <p:sp>
        <p:nvSpPr>
          <p:cNvPr id="3" name="Slide Number Placeholder 2"/>
          <p:cNvSpPr>
            <a:spLocks noGrp="1"/>
          </p:cNvSpPr>
          <p:nvPr>
            <p:ph type="sldNum" sz="quarter" idx="12"/>
          </p:nvPr>
        </p:nvSpPr>
        <p:spPr/>
        <p:txBody>
          <a:bodyPr/>
          <a:lstStyle/>
          <a:p>
            <a:fld id="{3B1A82D2-719A-4A87-BECB-D74482819C19}" type="slidenum">
              <a:rPr lang="en-US" smtClean="0"/>
              <a:pPr/>
              <a:t>11</a:t>
            </a:fld>
            <a:endParaRPr lang="en-US"/>
          </a:p>
        </p:txBody>
      </p:sp>
      <p:pic>
        <p:nvPicPr>
          <p:cNvPr id="2050" name="Picture 2" descr="In this example, members of the genus Shigella are placed within higher taxonomic ranks.  Not all classification possibilities are given for each rank to simplify the diagram.&#10;One example: Species Shigella flexneri, Genus Shigella, Family Enterobacteriaceae, Order Enterobacteriales, Class γ-Proteobacteria, Phylum Proteobacteria, Domain Bacteria.  Note that -ales denotes order and -ceae indicates family." title="Figure 19.1 Hierarchical Arrangement in Taxonomy."/>
          <p:cNvPicPr>
            <a:picLocks noChangeAspect="1" noChangeArrowheads="1"/>
          </p:cNvPicPr>
          <p:nvPr/>
        </p:nvPicPr>
        <p:blipFill>
          <a:blip r:embed="rId2" cstate="print"/>
          <a:srcRect/>
          <a:stretch>
            <a:fillRect/>
          </a:stretch>
        </p:blipFill>
        <p:spPr bwMode="auto">
          <a:xfrm>
            <a:off x="563562" y="1905000"/>
            <a:ext cx="8016875" cy="3678238"/>
          </a:xfrm>
          <a:prstGeom prst="rect">
            <a:avLst/>
          </a:prstGeom>
          <a:noFill/>
        </p:spPr>
      </p:pic>
    </p:spTree>
    <p:extLst>
      <p:ext uri="{BB962C8B-B14F-4D97-AF65-F5344CB8AC3E}">
        <p14:creationId xmlns:p14="http://schemas.microsoft.com/office/powerpoint/2010/main" val="986555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Species</a:t>
            </a:r>
          </a:p>
        </p:txBody>
      </p:sp>
      <p:sp>
        <p:nvSpPr>
          <p:cNvPr id="3" name="Content Placeholder 2"/>
          <p:cNvSpPr>
            <a:spLocks noGrp="1"/>
          </p:cNvSpPr>
          <p:nvPr>
            <p:ph idx="1"/>
          </p:nvPr>
        </p:nvSpPr>
        <p:spPr/>
        <p:txBody>
          <a:bodyPr/>
          <a:lstStyle/>
          <a:p>
            <a:pPr>
              <a:lnSpc>
                <a:spcPct val="90000"/>
              </a:lnSpc>
            </a:pPr>
            <a:r>
              <a:rPr lang="en-US" dirty="0"/>
              <a:t>Definition</a:t>
            </a:r>
            <a:br>
              <a:rPr lang="en-US" dirty="0"/>
            </a:br>
            <a:endParaRPr lang="en-US" dirty="0"/>
          </a:p>
          <a:p>
            <a:pPr lvl="1">
              <a:lnSpc>
                <a:spcPct val="90000"/>
              </a:lnSpc>
            </a:pPr>
            <a:r>
              <a:rPr lang="en-US" dirty="0"/>
              <a:t>collection of strains that share many stable properties and differ significantly from other groups of strains</a:t>
            </a:r>
            <a:br>
              <a:rPr lang="en-US" dirty="0"/>
            </a:br>
            <a:endParaRPr lang="en-US" dirty="0"/>
          </a:p>
          <a:p>
            <a:pPr>
              <a:lnSpc>
                <a:spcPct val="90000"/>
              </a:lnSpc>
            </a:pPr>
            <a:r>
              <a:rPr lang="en-US" dirty="0"/>
              <a:t>Also suggested as a definition of species</a:t>
            </a:r>
            <a:br>
              <a:rPr lang="en-US" dirty="0"/>
            </a:br>
            <a:endParaRPr lang="en-US" dirty="0"/>
          </a:p>
          <a:p>
            <a:pPr lvl="1">
              <a:lnSpc>
                <a:spcPct val="90000"/>
              </a:lnSpc>
            </a:pPr>
            <a:r>
              <a:rPr lang="en-US" dirty="0"/>
              <a:t>collection of organisms that share the same sequences in their core housekeeping genes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12</a:t>
            </a:fld>
            <a:endParaRPr lang="en-US"/>
          </a:p>
        </p:txBody>
      </p:sp>
    </p:spTree>
    <p:extLst>
      <p:ext uri="{BB962C8B-B14F-4D97-AF65-F5344CB8AC3E}">
        <p14:creationId xmlns:p14="http://schemas.microsoft.com/office/powerpoint/2010/main" val="1566922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Strains</a:t>
            </a:r>
          </a:p>
        </p:txBody>
      </p:sp>
      <p:sp>
        <p:nvSpPr>
          <p:cNvPr id="3" name="Content Placeholder 2"/>
          <p:cNvSpPr>
            <a:spLocks noGrp="1"/>
          </p:cNvSpPr>
          <p:nvPr>
            <p:ph idx="1"/>
          </p:nvPr>
        </p:nvSpPr>
        <p:spPr/>
        <p:txBody>
          <a:bodyPr/>
          <a:lstStyle/>
          <a:p>
            <a:pPr>
              <a:lnSpc>
                <a:spcPct val="90000"/>
              </a:lnSpc>
            </a:pPr>
            <a:r>
              <a:rPr lang="en-US" dirty="0"/>
              <a:t>Descended from a single, pure microbial culture</a:t>
            </a:r>
            <a:br>
              <a:rPr lang="en-US" dirty="0"/>
            </a:br>
            <a:endParaRPr lang="en-US" dirty="0"/>
          </a:p>
          <a:p>
            <a:pPr>
              <a:lnSpc>
                <a:spcPct val="90000"/>
              </a:lnSpc>
            </a:pPr>
            <a:r>
              <a:rPr lang="en-US" dirty="0"/>
              <a:t> Vary from each other in many ways</a:t>
            </a:r>
            <a:br>
              <a:rPr lang="en-US" dirty="0"/>
            </a:br>
            <a:endParaRPr lang="en-US" dirty="0"/>
          </a:p>
          <a:p>
            <a:pPr lvl="1">
              <a:lnSpc>
                <a:spcPct val="90000"/>
              </a:lnSpc>
            </a:pPr>
            <a:r>
              <a:rPr lang="en-US" dirty="0" err="1"/>
              <a:t>biovars</a:t>
            </a:r>
            <a:r>
              <a:rPr lang="en-US" dirty="0"/>
              <a:t> – differ biochemically and physiologically</a:t>
            </a:r>
            <a:br>
              <a:rPr lang="en-US" dirty="0"/>
            </a:br>
            <a:endParaRPr lang="en-US" dirty="0"/>
          </a:p>
          <a:p>
            <a:pPr lvl="1">
              <a:lnSpc>
                <a:spcPct val="90000"/>
              </a:lnSpc>
            </a:pPr>
            <a:r>
              <a:rPr lang="en-US" dirty="0" err="1"/>
              <a:t>morphovars</a:t>
            </a:r>
            <a:r>
              <a:rPr lang="en-US" dirty="0"/>
              <a:t> – differ morphologically</a:t>
            </a:r>
            <a:br>
              <a:rPr lang="en-US" dirty="0"/>
            </a:br>
            <a:endParaRPr lang="en-US" dirty="0"/>
          </a:p>
          <a:p>
            <a:pPr lvl="1">
              <a:lnSpc>
                <a:spcPct val="90000"/>
              </a:lnSpc>
            </a:pPr>
            <a:r>
              <a:rPr lang="en-US" dirty="0" err="1"/>
              <a:t>serovars</a:t>
            </a:r>
            <a:r>
              <a:rPr lang="en-US" dirty="0"/>
              <a:t> – differ in antigenic properties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13</a:t>
            </a:fld>
            <a:endParaRPr lang="en-US"/>
          </a:p>
        </p:txBody>
      </p:sp>
    </p:spTree>
    <p:extLst>
      <p:ext uri="{BB962C8B-B14F-4D97-AF65-F5344CB8AC3E}">
        <p14:creationId xmlns:p14="http://schemas.microsoft.com/office/powerpoint/2010/main" val="2892819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Strain</a:t>
            </a:r>
          </a:p>
        </p:txBody>
      </p:sp>
      <p:sp>
        <p:nvSpPr>
          <p:cNvPr id="3" name="Content Placeholder 2"/>
          <p:cNvSpPr>
            <a:spLocks noGrp="1"/>
          </p:cNvSpPr>
          <p:nvPr>
            <p:ph idx="1"/>
          </p:nvPr>
        </p:nvSpPr>
        <p:spPr/>
        <p:txBody>
          <a:bodyPr/>
          <a:lstStyle/>
          <a:p>
            <a:r>
              <a:rPr lang="en-US" dirty="0"/>
              <a:t>Usually one of first strains of a species studied</a:t>
            </a:r>
            <a:br>
              <a:rPr lang="en-US" dirty="0"/>
            </a:br>
            <a:endParaRPr lang="en-US" dirty="0"/>
          </a:p>
          <a:p>
            <a:r>
              <a:rPr lang="en-US" dirty="0"/>
              <a:t>Often most fully characterized</a:t>
            </a:r>
            <a:br>
              <a:rPr lang="en-US" dirty="0"/>
            </a:br>
            <a:endParaRPr lang="en-US" dirty="0"/>
          </a:p>
          <a:p>
            <a:r>
              <a:rPr lang="en-US" dirty="0"/>
              <a:t>Not necessarily most representative member of species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14</a:t>
            </a:fld>
            <a:endParaRPr lang="en-US"/>
          </a:p>
        </p:txBody>
      </p:sp>
    </p:spTree>
    <p:extLst>
      <p:ext uri="{BB962C8B-B14F-4D97-AF65-F5344CB8AC3E}">
        <p14:creationId xmlns:p14="http://schemas.microsoft.com/office/powerpoint/2010/main" val="2892819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a:t>
            </a:r>
          </a:p>
        </p:txBody>
      </p:sp>
      <p:sp>
        <p:nvSpPr>
          <p:cNvPr id="3" name="Content Placeholder 2"/>
          <p:cNvSpPr>
            <a:spLocks noGrp="1"/>
          </p:cNvSpPr>
          <p:nvPr>
            <p:ph idx="1"/>
          </p:nvPr>
        </p:nvSpPr>
        <p:spPr/>
        <p:txBody>
          <a:bodyPr/>
          <a:lstStyle/>
          <a:p>
            <a:r>
              <a:rPr lang="en-US" dirty="0"/>
              <a:t>Well-defined group of one or more strains</a:t>
            </a:r>
            <a:br>
              <a:rPr lang="en-US" dirty="0"/>
            </a:br>
            <a:endParaRPr lang="en-US" dirty="0"/>
          </a:p>
          <a:p>
            <a:r>
              <a:rPr lang="en-US" dirty="0"/>
              <a:t>Clearly separate from other genera </a:t>
            </a:r>
            <a:br>
              <a:rPr lang="en-US" dirty="0"/>
            </a:br>
            <a:endParaRPr lang="en-US" dirty="0"/>
          </a:p>
          <a:p>
            <a:r>
              <a:rPr lang="en-US" dirty="0"/>
              <a:t>Often disagreement among taxonomists about the assignment of a specific species to a genus </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15</a:t>
            </a:fld>
            <a:endParaRPr lang="en-US"/>
          </a:p>
        </p:txBody>
      </p:sp>
    </p:spTree>
    <p:extLst>
      <p:ext uri="{BB962C8B-B14F-4D97-AF65-F5344CB8AC3E}">
        <p14:creationId xmlns:p14="http://schemas.microsoft.com/office/powerpoint/2010/main" val="2892819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Binomial System of Nomenclature</a:t>
            </a:r>
          </a:p>
        </p:txBody>
      </p:sp>
      <p:sp>
        <p:nvSpPr>
          <p:cNvPr id="3" name="Content Placeholder 2"/>
          <p:cNvSpPr>
            <a:spLocks noGrp="1"/>
          </p:cNvSpPr>
          <p:nvPr>
            <p:ph idx="1"/>
          </p:nvPr>
        </p:nvSpPr>
        <p:spPr>
          <a:xfrm>
            <a:off x="228600" y="1600200"/>
            <a:ext cx="8686800" cy="4876800"/>
          </a:xfrm>
        </p:spPr>
        <p:txBody>
          <a:bodyPr>
            <a:normAutofit lnSpcReduction="10000"/>
          </a:bodyPr>
          <a:lstStyle/>
          <a:p>
            <a:r>
              <a:rPr lang="en-US" sz="2800" dirty="0"/>
              <a:t>Devised by Carl von </a:t>
            </a:r>
            <a:r>
              <a:rPr lang="en-US" sz="2800" dirty="0" err="1"/>
              <a:t>Linn</a:t>
            </a:r>
            <a:r>
              <a:rPr lang="en-US" sz="2800" dirty="0" err="1">
                <a:cs typeface="Times New Roman" pitchFamily="18" charset="0"/>
              </a:rPr>
              <a:t>é</a:t>
            </a:r>
            <a:r>
              <a:rPr lang="en-US" sz="2800" dirty="0">
                <a:cs typeface="Times New Roman" pitchFamily="18" charset="0"/>
              </a:rPr>
              <a:t> (Carolus Linnaeus)</a:t>
            </a:r>
            <a:br>
              <a:rPr lang="en-US" sz="2800" dirty="0">
                <a:cs typeface="Times New Roman" pitchFamily="18" charset="0"/>
              </a:rPr>
            </a:br>
            <a:endParaRPr lang="en-US" sz="2800" dirty="0">
              <a:cs typeface="Times New Roman" pitchFamily="18" charset="0"/>
            </a:endParaRPr>
          </a:p>
          <a:p>
            <a:r>
              <a:rPr lang="en-US" sz="2800" dirty="0">
                <a:cs typeface="Times New Roman" pitchFamily="18" charset="0"/>
              </a:rPr>
              <a:t>Each organism has two names</a:t>
            </a:r>
          </a:p>
          <a:p>
            <a:pPr lvl="1"/>
            <a:r>
              <a:rPr lang="en-US" dirty="0"/>
              <a:t>genus name – italicized and capitalized (e.g., </a:t>
            </a:r>
            <a:r>
              <a:rPr lang="en-US" i="1" dirty="0"/>
              <a:t>Escherichia</a:t>
            </a:r>
            <a:r>
              <a:rPr lang="en-US" dirty="0"/>
              <a:t>)</a:t>
            </a:r>
          </a:p>
          <a:p>
            <a:pPr lvl="1"/>
            <a:r>
              <a:rPr lang="en-US" dirty="0"/>
              <a:t>species epithet – italicized but not capitalized (e.g., </a:t>
            </a:r>
            <a:r>
              <a:rPr lang="en-US" i="1" dirty="0"/>
              <a:t>coli</a:t>
            </a:r>
            <a:r>
              <a:rPr lang="en-US" dirty="0"/>
              <a:t>)</a:t>
            </a:r>
            <a:br>
              <a:rPr lang="en-US" dirty="0"/>
            </a:br>
            <a:endParaRPr lang="en-US" dirty="0"/>
          </a:p>
          <a:p>
            <a:r>
              <a:rPr lang="en-US" sz="2800" dirty="0"/>
              <a:t>Can be abbreviated after first use (e.g., </a:t>
            </a:r>
            <a:r>
              <a:rPr lang="en-US" sz="2800" i="1" dirty="0"/>
              <a:t>E. coli)</a:t>
            </a:r>
            <a:br>
              <a:rPr lang="en-US" sz="2800" i="1" dirty="0"/>
            </a:br>
            <a:endParaRPr lang="en-US" sz="2800" i="1" dirty="0"/>
          </a:p>
          <a:p>
            <a:r>
              <a:rPr lang="en-US" sz="2800" dirty="0"/>
              <a:t>A new species cannot be recognized until it has been published in the </a:t>
            </a:r>
            <a:r>
              <a:rPr lang="en-US" sz="2800" i="1" dirty="0"/>
              <a:t>International Journal of Systematic and Evolutionary Microbiology</a:t>
            </a:r>
            <a:endParaRPr lang="en-US" sz="2800"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16</a:t>
            </a:fld>
            <a:endParaRPr lang="en-US"/>
          </a:p>
        </p:txBody>
      </p:sp>
    </p:spTree>
    <p:extLst>
      <p:ext uri="{BB962C8B-B14F-4D97-AF65-F5344CB8AC3E}">
        <p14:creationId xmlns:p14="http://schemas.microsoft.com/office/powerpoint/2010/main" val="2892819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1020762"/>
          </a:xfrm>
        </p:spPr>
        <p:txBody>
          <a:bodyPr>
            <a:normAutofit fontScale="90000"/>
          </a:bodyPr>
          <a:lstStyle/>
          <a:p>
            <a:r>
              <a:rPr lang="en-US" dirty="0"/>
              <a:t>19.3 Microbial Taxonomy and Phylogeny Are Largely Based on Molecular Characterization</a:t>
            </a:r>
          </a:p>
        </p:txBody>
      </p:sp>
      <p:sp>
        <p:nvSpPr>
          <p:cNvPr id="3" name="Content Placeholder 2"/>
          <p:cNvSpPr>
            <a:spLocks noGrp="1"/>
          </p:cNvSpPr>
          <p:nvPr>
            <p:ph idx="1"/>
          </p:nvPr>
        </p:nvSpPr>
        <p:spPr>
          <a:xfrm>
            <a:off x="457200" y="1600200"/>
            <a:ext cx="8229600" cy="5029200"/>
          </a:xfrm>
        </p:spPr>
        <p:txBody>
          <a:bodyPr>
            <a:normAutofit fontScale="92500" lnSpcReduction="20000"/>
          </a:bodyPr>
          <a:lstStyle/>
          <a:p>
            <a:pPr marL="514350" indent="-514350">
              <a:buFont typeface="+mj-lt"/>
              <a:buAutoNum type="arabicPeriod"/>
            </a:pPr>
            <a:r>
              <a:rPr lang="en-US" dirty="0"/>
              <a:t>Construct a concept map describing the approaches commonly used to determine taxonomic classification</a:t>
            </a:r>
            <a:br>
              <a:rPr lang="en-US" dirty="0"/>
            </a:br>
            <a:endParaRPr lang="en-US" dirty="0"/>
          </a:p>
          <a:p>
            <a:pPr marL="514350" indent="-514350">
              <a:buFont typeface="+mj-lt"/>
              <a:buAutoNum type="arabicPeriod"/>
            </a:pPr>
            <a:r>
              <a:rPr lang="en-US" dirty="0"/>
              <a:t>Assess the impact molecular methods have had on the field of microbial taxonomy and phylogeny</a:t>
            </a:r>
            <a:br>
              <a:rPr lang="en-US" dirty="0"/>
            </a:br>
            <a:endParaRPr lang="en-US" dirty="0"/>
          </a:p>
          <a:p>
            <a:pPr marL="514350" indent="-514350">
              <a:buFont typeface="+mj-lt"/>
              <a:buAutoNum type="arabicPeriod"/>
            </a:pPr>
            <a:r>
              <a:rPr lang="en-US" dirty="0"/>
              <a:t>Compare and contrast nucleotide sequencing and non-sequencing based molecular approaches used in microbial taxonomy and phylogeny</a:t>
            </a:r>
            <a:br>
              <a:rPr lang="en-US" dirty="0"/>
            </a:br>
            <a:endParaRPr lang="en-US" dirty="0"/>
          </a:p>
          <a:p>
            <a:pPr marL="514350" indent="-514350">
              <a:buFont typeface="+mj-lt"/>
              <a:buAutoNum type="arabicPeriod"/>
            </a:pPr>
            <a:r>
              <a:rPr lang="en-US" dirty="0"/>
              <a:t>Select an appropriate technique to identify a microbial genus, species, and strain</a:t>
            </a:r>
            <a:br>
              <a:rPr lang="en-US" dirty="0"/>
            </a:br>
            <a:endParaRPr lang="en-US" dirty="0"/>
          </a:p>
          <a:p>
            <a:pPr marL="514350" indent="-514350">
              <a:buFont typeface="+mj-lt"/>
              <a:buAutoNum type="arabicPeriod"/>
            </a:pPr>
            <a:r>
              <a:rPr lang="en-US" dirty="0"/>
              <a:t>Predict the basic biological as well as public health implications of microbial taxonomic identification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17</a:t>
            </a:fld>
            <a:endParaRPr lang="en-US"/>
          </a:p>
        </p:txBody>
      </p:sp>
    </p:spTree>
    <p:extLst>
      <p:ext uri="{BB962C8B-B14F-4D97-AF65-F5344CB8AC3E}">
        <p14:creationId xmlns:p14="http://schemas.microsoft.com/office/powerpoint/2010/main" val="2892819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686800" cy="1143000"/>
          </a:xfrm>
        </p:spPr>
        <p:txBody>
          <a:bodyPr>
            <a:normAutofit fontScale="90000"/>
          </a:bodyPr>
          <a:lstStyle/>
          <a:p>
            <a:r>
              <a:rPr lang="en-US" dirty="0"/>
              <a:t>Techniques for Determining Microbial Taxonomy and Phylogeny</a:t>
            </a:r>
          </a:p>
        </p:txBody>
      </p:sp>
      <p:sp>
        <p:nvSpPr>
          <p:cNvPr id="3" name="Content Placeholder 2"/>
          <p:cNvSpPr>
            <a:spLocks noGrp="1"/>
          </p:cNvSpPr>
          <p:nvPr>
            <p:ph sz="half" idx="1"/>
          </p:nvPr>
        </p:nvSpPr>
        <p:spPr>
          <a:xfrm>
            <a:off x="457200" y="1600200"/>
            <a:ext cx="2971800" cy="4525963"/>
          </a:xfrm>
        </p:spPr>
        <p:txBody>
          <a:bodyPr/>
          <a:lstStyle/>
          <a:p>
            <a:pPr>
              <a:spcBef>
                <a:spcPts val="600"/>
              </a:spcBef>
            </a:pPr>
            <a:r>
              <a:rPr lang="en-US" sz="2800" dirty="0"/>
              <a:t>Classical characteristics</a:t>
            </a:r>
            <a:br>
              <a:rPr lang="en-US" sz="2800" dirty="0"/>
            </a:br>
            <a:endParaRPr lang="en-US" sz="2800" dirty="0"/>
          </a:p>
          <a:p>
            <a:pPr lvl="1">
              <a:spcBef>
                <a:spcPts val="600"/>
              </a:spcBef>
            </a:pPr>
            <a:r>
              <a:rPr lang="en-US" dirty="0"/>
              <a:t>morphological</a:t>
            </a:r>
          </a:p>
          <a:p>
            <a:pPr lvl="1">
              <a:spcBef>
                <a:spcPts val="600"/>
              </a:spcBef>
            </a:pPr>
            <a:r>
              <a:rPr lang="en-US" dirty="0"/>
              <a:t>physiological</a:t>
            </a:r>
          </a:p>
          <a:p>
            <a:pPr lvl="1">
              <a:spcBef>
                <a:spcPts val="600"/>
              </a:spcBef>
            </a:pPr>
            <a:r>
              <a:rPr lang="en-US" dirty="0"/>
              <a:t>biochemical</a:t>
            </a:r>
          </a:p>
          <a:p>
            <a:pPr lvl="1">
              <a:spcBef>
                <a:spcPts val="600"/>
              </a:spcBef>
            </a:pPr>
            <a:r>
              <a:rPr lang="en-US" dirty="0"/>
              <a:t>ecological</a:t>
            </a:r>
          </a:p>
          <a:p>
            <a:pPr lvl="1">
              <a:spcBef>
                <a:spcPts val="600"/>
              </a:spcBef>
            </a:pPr>
            <a:r>
              <a:rPr lang="en-US" dirty="0"/>
              <a:t>genetic </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18</a:t>
            </a:fld>
            <a:endParaRPr lang="en-US"/>
          </a:p>
        </p:txBody>
      </p:sp>
      <p:pic>
        <p:nvPicPr>
          <p:cNvPr id="3074" name="Picture 2" descr="Header: Feature; Microbial Groups&#10;Cell shape; All major groups&#10;Cell size; All major groups&#10;Colonial morphology; All major groups&#10;Ultrastructural characteristics; All major groups&#10;Staining behavior; Bacteria, some fungi&#10;Cilia and flagella; All major groups&#10;Mechanism of motility; Gliding bacteria, spirochetes, protists&#10;Endospore shape and location; Some Gram-positive bacteria&#10;Spore morphology and location; Bacteria, protists, fungi&#10;Cellular inclusions; All major groups&#10;Colony color; All major groups" title="Table 19.2 Some Morphological Features Used in Classification and Identification"/>
          <p:cNvPicPr>
            <a:picLocks noChangeAspect="1" noChangeArrowheads="1"/>
          </p:cNvPicPr>
          <p:nvPr/>
        </p:nvPicPr>
        <p:blipFill>
          <a:blip r:embed="rId2" cstate="print"/>
          <a:stretch>
            <a:fillRect/>
          </a:stretch>
        </p:blipFill>
        <p:spPr bwMode="auto">
          <a:xfrm>
            <a:off x="3657599" y="1333500"/>
            <a:ext cx="4526341" cy="5219700"/>
          </a:xfrm>
          <a:prstGeom prst="rect">
            <a:avLst/>
          </a:prstGeom>
          <a:noFill/>
        </p:spPr>
      </p:pic>
    </p:spTree>
    <p:extLst>
      <p:ext uri="{BB962C8B-B14F-4D97-AF65-F5344CB8AC3E}">
        <p14:creationId xmlns:p14="http://schemas.microsoft.com/office/powerpoint/2010/main" val="2892819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arbon and nitrogen sources&#10;Cell wall constituents&#10;Energy sources&#10;Fermentation products&#10;General nutritional type&#10;Growth temperature optimum and range&#10;Motility&#10;Osmotic tolerance&#10;Oxygen relationships&#10;pH optimum and growth range&#10;Photosynthetic pigments&#10;Salt requirements and tolerance&#10;Secondary metabolites formed&#10;Storage inclusions" title="Table 19.3 Some Physiological and Metabolic Characteristics Used in Classification and Identification"/>
          <p:cNvPicPr>
            <a:picLocks noChangeAspect="1" noChangeArrowheads="1"/>
          </p:cNvPicPr>
          <p:nvPr/>
        </p:nvPicPr>
        <p:blipFill>
          <a:blip r:embed="rId2" cstate="print"/>
          <a:stretch>
            <a:fillRect/>
          </a:stretch>
        </p:blipFill>
        <p:spPr bwMode="auto">
          <a:xfrm>
            <a:off x="304800" y="609600"/>
            <a:ext cx="4061866" cy="5257800"/>
          </a:xfrm>
          <a:prstGeom prst="rect">
            <a:avLst/>
          </a:prstGeom>
          <a:noFill/>
        </p:spPr>
      </p:pic>
      <p:sp>
        <p:nvSpPr>
          <p:cNvPr id="5" name="Title 4"/>
          <p:cNvSpPr>
            <a:spLocks noGrp="1"/>
          </p:cNvSpPr>
          <p:nvPr>
            <p:ph type="title"/>
          </p:nvPr>
        </p:nvSpPr>
        <p:spPr>
          <a:xfrm>
            <a:off x="4343400" y="274638"/>
            <a:ext cx="4724400" cy="2544762"/>
          </a:xfrm>
        </p:spPr>
        <p:txBody>
          <a:bodyPr>
            <a:normAutofit fontScale="90000"/>
          </a:bodyPr>
          <a:lstStyle/>
          <a:p>
            <a:r>
              <a:rPr lang="en-US" dirty="0"/>
              <a:t>Physiological and Metabolic Characteristics for Identification and Classification</a:t>
            </a:r>
          </a:p>
        </p:txBody>
      </p:sp>
      <p:sp>
        <p:nvSpPr>
          <p:cNvPr id="3" name="Slide Number Placeholder 2"/>
          <p:cNvSpPr>
            <a:spLocks noGrp="1"/>
          </p:cNvSpPr>
          <p:nvPr>
            <p:ph type="sldNum" sz="quarter" idx="12"/>
          </p:nvPr>
        </p:nvSpPr>
        <p:spPr/>
        <p:txBody>
          <a:bodyPr/>
          <a:lstStyle/>
          <a:p>
            <a:fld id="{3B1A82D2-719A-4A87-BECB-D74482819C19}" type="slidenum">
              <a:rPr lang="en-US" smtClean="0"/>
              <a:pPr/>
              <a:t>19</a:t>
            </a:fld>
            <a:endParaRPr lang="en-US"/>
          </a:p>
        </p:txBody>
      </p:sp>
    </p:spTree>
    <p:extLst>
      <p:ext uri="{BB962C8B-B14F-4D97-AF65-F5344CB8AC3E}">
        <p14:creationId xmlns:p14="http://schemas.microsoft.com/office/powerpoint/2010/main" val="1962554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Ecological Characteristics</a:t>
            </a:r>
          </a:p>
        </p:txBody>
      </p:sp>
      <p:sp>
        <p:nvSpPr>
          <p:cNvPr id="3" name="Content Placeholder 2"/>
          <p:cNvSpPr>
            <a:spLocks noGrp="1"/>
          </p:cNvSpPr>
          <p:nvPr>
            <p:ph idx="1"/>
          </p:nvPr>
        </p:nvSpPr>
        <p:spPr/>
        <p:txBody>
          <a:bodyPr/>
          <a:lstStyle/>
          <a:p>
            <a:r>
              <a:rPr lang="en-US" dirty="0"/>
              <a:t>Life-cycle patterns</a:t>
            </a:r>
            <a:br>
              <a:rPr lang="en-US" dirty="0"/>
            </a:br>
            <a:endParaRPr lang="en-US" dirty="0"/>
          </a:p>
          <a:p>
            <a:r>
              <a:rPr lang="en-US" dirty="0"/>
              <a:t>Symbiotic relationships</a:t>
            </a:r>
            <a:br>
              <a:rPr lang="en-US" dirty="0"/>
            </a:br>
            <a:endParaRPr lang="en-US" dirty="0"/>
          </a:p>
          <a:p>
            <a:r>
              <a:rPr lang="en-US" dirty="0"/>
              <a:t>Ability to cause disease</a:t>
            </a:r>
            <a:br>
              <a:rPr lang="en-US" dirty="0"/>
            </a:br>
            <a:endParaRPr lang="en-US" dirty="0"/>
          </a:p>
          <a:p>
            <a:r>
              <a:rPr lang="en-US" dirty="0"/>
              <a:t>Habitat preferences</a:t>
            </a:r>
            <a:br>
              <a:rPr lang="en-US" dirty="0"/>
            </a:br>
            <a:endParaRPr lang="en-US" dirty="0"/>
          </a:p>
          <a:p>
            <a:r>
              <a:rPr lang="en-US" dirty="0"/>
              <a:t>Growth requirements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20</a:t>
            </a:fld>
            <a:endParaRPr lang="en-US"/>
          </a:p>
        </p:txBody>
      </p:sp>
    </p:spTree>
    <p:extLst>
      <p:ext uri="{BB962C8B-B14F-4D97-AF65-F5344CB8AC3E}">
        <p14:creationId xmlns:p14="http://schemas.microsoft.com/office/powerpoint/2010/main" val="3433484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Molecular Approaches</a:t>
            </a:r>
          </a:p>
        </p:txBody>
      </p:sp>
      <p:sp>
        <p:nvSpPr>
          <p:cNvPr id="3" name="Content Placeholder 2"/>
          <p:cNvSpPr>
            <a:spLocks noGrp="1"/>
          </p:cNvSpPr>
          <p:nvPr>
            <p:ph idx="1"/>
          </p:nvPr>
        </p:nvSpPr>
        <p:spPr>
          <a:xfrm>
            <a:off x="228600" y="1371600"/>
            <a:ext cx="8763000" cy="5181600"/>
          </a:xfrm>
        </p:spPr>
        <p:txBody>
          <a:bodyPr>
            <a:normAutofit fontScale="92500" lnSpcReduction="10000"/>
          </a:bodyPr>
          <a:lstStyle/>
          <a:p>
            <a:r>
              <a:rPr lang="en-US" dirty="0"/>
              <a:t>Extremely important because almost no fossil record was left by microbes</a:t>
            </a:r>
            <a:br>
              <a:rPr lang="en-US" dirty="0"/>
            </a:br>
            <a:endParaRPr lang="en-US" dirty="0"/>
          </a:p>
          <a:p>
            <a:r>
              <a:rPr lang="en-US" dirty="0"/>
              <a:t>Allows for the collection of a large and accurate data set from many organisms</a:t>
            </a:r>
            <a:br>
              <a:rPr lang="en-US" dirty="0"/>
            </a:br>
            <a:endParaRPr lang="en-US" dirty="0"/>
          </a:p>
          <a:p>
            <a:r>
              <a:rPr lang="en-US" dirty="0"/>
              <a:t>Phylogenetic inferences based on these provide the best analysis of microbial evolution currently available</a:t>
            </a:r>
            <a:br>
              <a:rPr lang="en-US" dirty="0"/>
            </a:br>
            <a:endParaRPr lang="en-US" dirty="0"/>
          </a:p>
          <a:p>
            <a:r>
              <a:rPr lang="en-US" dirty="0"/>
              <a:t>Molecular characteristics for identification and classification</a:t>
            </a:r>
          </a:p>
          <a:p>
            <a:pPr lvl="1"/>
            <a:r>
              <a:rPr lang="en-US" dirty="0"/>
              <a:t>nucleic acid base composition</a:t>
            </a:r>
          </a:p>
          <a:p>
            <a:pPr lvl="1"/>
            <a:r>
              <a:rPr lang="en-US" dirty="0"/>
              <a:t>nucleic acid hybridization</a:t>
            </a:r>
          </a:p>
          <a:p>
            <a:pPr lvl="1"/>
            <a:r>
              <a:rPr lang="en-US" dirty="0"/>
              <a:t>nucleic acid sequencing</a:t>
            </a:r>
          </a:p>
          <a:p>
            <a:pPr lvl="1"/>
            <a:r>
              <a:rPr lang="en-US" dirty="0"/>
              <a:t>genomic fingerprinting</a:t>
            </a:r>
          </a:p>
          <a:p>
            <a:pPr lvl="1"/>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21</a:t>
            </a:fld>
            <a:endParaRPr lang="en-US"/>
          </a:p>
        </p:txBody>
      </p:sp>
    </p:spTree>
    <p:extLst>
      <p:ext uri="{BB962C8B-B14F-4D97-AF65-F5344CB8AC3E}">
        <p14:creationId xmlns:p14="http://schemas.microsoft.com/office/powerpoint/2010/main" val="4244265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Nucleic Acid Base Composition</a:t>
            </a:r>
          </a:p>
        </p:txBody>
      </p:sp>
      <p:sp>
        <p:nvSpPr>
          <p:cNvPr id="3" name="Content Placeholder 2"/>
          <p:cNvSpPr>
            <a:spLocks noGrp="1"/>
          </p:cNvSpPr>
          <p:nvPr>
            <p:ph sz="half" idx="1"/>
          </p:nvPr>
        </p:nvSpPr>
        <p:spPr>
          <a:xfrm>
            <a:off x="152400" y="1600200"/>
            <a:ext cx="4038600" cy="4525963"/>
          </a:xfrm>
        </p:spPr>
        <p:txBody>
          <a:bodyPr/>
          <a:lstStyle/>
          <a:p>
            <a:r>
              <a:rPr lang="en-US" dirty="0"/>
              <a:t>G + C content</a:t>
            </a:r>
          </a:p>
          <a:p>
            <a:pPr lvl="1"/>
            <a:r>
              <a:rPr lang="en-US" dirty="0" err="1"/>
              <a:t>Mol</a:t>
            </a:r>
            <a:r>
              <a:rPr lang="en-US" dirty="0"/>
              <a:t>% G + C = (G + C/G + C + A + T)100</a:t>
            </a:r>
            <a:br>
              <a:rPr lang="en-US" dirty="0"/>
            </a:br>
            <a:endParaRPr lang="en-US" dirty="0"/>
          </a:p>
          <a:p>
            <a:pPr lvl="1"/>
            <a:r>
              <a:rPr lang="en-US" dirty="0"/>
              <a:t>usually determined from melting temperature (T</a:t>
            </a:r>
            <a:r>
              <a:rPr lang="en-US" i="1" baseline="-25000" dirty="0"/>
              <a:t>m</a:t>
            </a:r>
            <a:r>
              <a:rPr lang="en-US" dirty="0"/>
              <a:t>)</a:t>
            </a:r>
            <a:br>
              <a:rPr lang="en-US" dirty="0"/>
            </a:br>
            <a:endParaRPr lang="en-US" dirty="0"/>
          </a:p>
          <a:p>
            <a:pPr lvl="1"/>
            <a:r>
              <a:rPr lang="en-US" dirty="0"/>
              <a:t>variation within a genus usually </a:t>
            </a:r>
            <a:r>
              <a:rPr lang="en-US" dirty="0">
                <a:cs typeface="Times New Roman" pitchFamily="18" charset="0"/>
              </a:rPr>
              <a:t>&lt;10%</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22</a:t>
            </a:fld>
            <a:endParaRPr lang="en-US"/>
          </a:p>
        </p:txBody>
      </p:sp>
      <p:pic>
        <p:nvPicPr>
          <p:cNvPr id="5122" name="Picture 2" descr="This chart shows a sigmoidal curve where the x-axis is temperature from 70 to 100 degrees Celsius and T subscript m is 85 degrees Celsius.  The y-axis shows relative absorbance at 260 nanometers from 1.0 to 1.5.&#10;&#10;DNA melting can be easily followed spectrophotometrically because the absorbance of DNA at 260 nm increases during strand separation.  When a DNA sample is slowly heated, the absorbance increases as hydrogen bonds are broken and reaches a plateau when all the DNA has become single-stranded.  The midpoint of the rising curve gives the melting temperature (T subscript m), a direct measure of the G + C content." title="Figure 19.2 A DNA Melting Curve."/>
          <p:cNvPicPr>
            <a:picLocks noChangeAspect="1" noChangeArrowheads="1"/>
          </p:cNvPicPr>
          <p:nvPr/>
        </p:nvPicPr>
        <p:blipFill>
          <a:blip r:embed="rId2" cstate="print"/>
          <a:srcRect/>
          <a:stretch>
            <a:fillRect/>
          </a:stretch>
        </p:blipFill>
        <p:spPr bwMode="auto">
          <a:xfrm>
            <a:off x="4114800" y="1638300"/>
            <a:ext cx="4539856" cy="3581400"/>
          </a:xfrm>
          <a:prstGeom prst="rect">
            <a:avLst/>
          </a:prstGeom>
          <a:noFill/>
        </p:spPr>
      </p:pic>
    </p:spTree>
    <p:extLst>
      <p:ext uri="{BB962C8B-B14F-4D97-AF65-F5344CB8AC3E}">
        <p14:creationId xmlns:p14="http://schemas.microsoft.com/office/powerpoint/2010/main" val="2192393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Nucleic Acid Hybridization</a:t>
            </a:r>
          </a:p>
        </p:txBody>
      </p:sp>
      <p:sp>
        <p:nvSpPr>
          <p:cNvPr id="3" name="Content Placeholder 2"/>
          <p:cNvSpPr>
            <a:spLocks noGrp="1"/>
          </p:cNvSpPr>
          <p:nvPr>
            <p:ph idx="1"/>
          </p:nvPr>
        </p:nvSpPr>
        <p:spPr/>
        <p:txBody>
          <a:bodyPr/>
          <a:lstStyle/>
          <a:p>
            <a:pPr>
              <a:lnSpc>
                <a:spcPct val="90000"/>
              </a:lnSpc>
            </a:pPr>
            <a:r>
              <a:rPr lang="en-US" dirty="0"/>
              <a:t>DNA-DNA hybridization</a:t>
            </a:r>
          </a:p>
          <a:p>
            <a:pPr lvl="1">
              <a:lnSpc>
                <a:spcPct val="90000"/>
              </a:lnSpc>
            </a:pPr>
            <a:r>
              <a:rPr lang="en-US" dirty="0"/>
              <a:t>measure of sequence homology</a:t>
            </a:r>
            <a:br>
              <a:rPr lang="en-US" dirty="0"/>
            </a:br>
            <a:endParaRPr lang="en-US" dirty="0"/>
          </a:p>
          <a:p>
            <a:pPr>
              <a:lnSpc>
                <a:spcPct val="90000"/>
              </a:lnSpc>
            </a:pPr>
            <a:r>
              <a:rPr lang="en-US" dirty="0"/>
              <a:t>Common procedure</a:t>
            </a:r>
          </a:p>
          <a:p>
            <a:pPr lvl="1">
              <a:lnSpc>
                <a:spcPct val="90000"/>
              </a:lnSpc>
            </a:pPr>
            <a:r>
              <a:rPr lang="en-US" dirty="0"/>
              <a:t>bind nonradioactive DNA to nitrocellulose filter</a:t>
            </a:r>
          </a:p>
          <a:p>
            <a:pPr lvl="1">
              <a:lnSpc>
                <a:spcPct val="90000"/>
              </a:lnSpc>
            </a:pPr>
            <a:r>
              <a:rPr lang="en-US" dirty="0"/>
              <a:t>incubate filter with radioactive single-stranded DNA</a:t>
            </a:r>
          </a:p>
          <a:p>
            <a:pPr lvl="1">
              <a:lnSpc>
                <a:spcPct val="90000"/>
              </a:lnSpc>
            </a:pPr>
            <a:r>
              <a:rPr lang="en-US" dirty="0"/>
              <a:t>measure amount of radioactive DNA attached to filter</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23</a:t>
            </a:fld>
            <a:endParaRPr lang="en-US"/>
          </a:p>
        </p:txBody>
      </p:sp>
    </p:spTree>
    <p:extLst>
      <p:ext uri="{BB962C8B-B14F-4D97-AF65-F5344CB8AC3E}">
        <p14:creationId xmlns:p14="http://schemas.microsoft.com/office/powerpoint/2010/main" val="19283514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Nucleic Acid Sequencing</a:t>
            </a:r>
          </a:p>
        </p:txBody>
      </p:sp>
      <p:sp>
        <p:nvSpPr>
          <p:cNvPr id="3" name="Content Placeholder 2"/>
          <p:cNvSpPr>
            <a:spLocks noGrp="1"/>
          </p:cNvSpPr>
          <p:nvPr>
            <p:ph idx="1"/>
          </p:nvPr>
        </p:nvSpPr>
        <p:spPr>
          <a:xfrm>
            <a:off x="457200" y="1219200"/>
            <a:ext cx="8229600" cy="5486400"/>
          </a:xfrm>
        </p:spPr>
        <p:txBody>
          <a:bodyPr>
            <a:normAutofit fontScale="92500" lnSpcReduction="20000"/>
          </a:bodyPr>
          <a:lstStyle/>
          <a:p>
            <a:pPr>
              <a:lnSpc>
                <a:spcPct val="110000"/>
              </a:lnSpc>
              <a:spcBef>
                <a:spcPts val="600"/>
              </a:spcBef>
            </a:pPr>
            <a:r>
              <a:rPr lang="en-US" dirty="0"/>
              <a:t>Small subunit </a:t>
            </a:r>
            <a:r>
              <a:rPr lang="en-US" dirty="0" err="1"/>
              <a:t>rRNAs</a:t>
            </a:r>
            <a:r>
              <a:rPr lang="en-US" dirty="0"/>
              <a:t> (SSU </a:t>
            </a:r>
            <a:r>
              <a:rPr lang="en-US" dirty="0" err="1"/>
              <a:t>rRNAs</a:t>
            </a:r>
            <a:r>
              <a:rPr lang="en-US" dirty="0"/>
              <a:t>)</a:t>
            </a:r>
          </a:p>
          <a:p>
            <a:pPr lvl="1">
              <a:lnSpc>
                <a:spcPct val="110000"/>
              </a:lnSpc>
              <a:spcBef>
                <a:spcPts val="600"/>
              </a:spcBef>
            </a:pPr>
            <a:r>
              <a:rPr lang="en-US" dirty="0"/>
              <a:t>sequences of 16S and 18S </a:t>
            </a:r>
            <a:r>
              <a:rPr lang="en-US" dirty="0" err="1"/>
              <a:t>rRNA</a:t>
            </a:r>
            <a:r>
              <a:rPr lang="en-US" dirty="0"/>
              <a:t> most powerful and direct method for inferring microbial phylogenies and making taxonomic assignments at genus level</a:t>
            </a:r>
            <a:br>
              <a:rPr lang="en-US" dirty="0"/>
            </a:br>
            <a:endParaRPr lang="en-US" dirty="0"/>
          </a:p>
          <a:p>
            <a:pPr>
              <a:lnSpc>
                <a:spcPct val="110000"/>
              </a:lnSpc>
              <a:spcBef>
                <a:spcPts val="600"/>
              </a:spcBef>
            </a:pPr>
            <a:r>
              <a:rPr lang="en-US" dirty="0"/>
              <a:t>Comparative Analysis of 16S </a:t>
            </a:r>
            <a:r>
              <a:rPr lang="en-US" dirty="0" err="1"/>
              <a:t>rRNA</a:t>
            </a:r>
            <a:r>
              <a:rPr lang="en-US" dirty="0"/>
              <a:t> Sequences</a:t>
            </a:r>
          </a:p>
          <a:p>
            <a:pPr lvl="1">
              <a:lnSpc>
                <a:spcPct val="110000"/>
              </a:lnSpc>
              <a:spcBef>
                <a:spcPts val="600"/>
              </a:spcBef>
            </a:pPr>
            <a:r>
              <a:rPr lang="en-US" dirty="0"/>
              <a:t>oligonucleotide signature sequences found</a:t>
            </a:r>
          </a:p>
          <a:p>
            <a:pPr lvl="2">
              <a:lnSpc>
                <a:spcPct val="110000"/>
              </a:lnSpc>
              <a:spcBef>
                <a:spcPts val="600"/>
              </a:spcBef>
            </a:pPr>
            <a:r>
              <a:rPr lang="en-US" dirty="0"/>
              <a:t>short conserved sequences specific for a phylogenetically defined group of organisms</a:t>
            </a:r>
          </a:p>
          <a:p>
            <a:pPr lvl="1">
              <a:lnSpc>
                <a:spcPct val="110000"/>
              </a:lnSpc>
              <a:spcBef>
                <a:spcPts val="600"/>
              </a:spcBef>
            </a:pPr>
            <a:r>
              <a:rPr lang="en-US" dirty="0"/>
              <a:t>either complete or, more often, specific </a:t>
            </a:r>
            <a:r>
              <a:rPr lang="en-US" dirty="0" err="1"/>
              <a:t>rRNA</a:t>
            </a:r>
            <a:r>
              <a:rPr lang="en-US" dirty="0"/>
              <a:t> fragments can be compared</a:t>
            </a:r>
          </a:p>
          <a:p>
            <a:pPr lvl="1">
              <a:lnSpc>
                <a:spcPct val="110000"/>
              </a:lnSpc>
              <a:spcBef>
                <a:spcPts val="600"/>
              </a:spcBef>
            </a:pPr>
            <a:r>
              <a:rPr lang="en-US" dirty="0"/>
              <a:t>when comparing </a:t>
            </a:r>
            <a:r>
              <a:rPr lang="en-US" dirty="0" err="1"/>
              <a:t>rRNA</a:t>
            </a:r>
            <a:r>
              <a:rPr lang="en-US" dirty="0"/>
              <a:t> sequences between 2 organisms, their relatedness is represented by percent sequence homology</a:t>
            </a:r>
          </a:p>
          <a:p>
            <a:pPr lvl="2">
              <a:lnSpc>
                <a:spcPct val="110000"/>
              </a:lnSpc>
              <a:spcBef>
                <a:spcPts val="600"/>
              </a:spcBef>
            </a:pPr>
            <a:r>
              <a:rPr lang="en-US" dirty="0"/>
              <a:t>70% is cutoff value for species definition</a:t>
            </a:r>
          </a:p>
          <a:p>
            <a:pPr lvl="1"/>
            <a:endParaRPr lang="en-US" dirty="0"/>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24</a:t>
            </a:fld>
            <a:endParaRPr lang="en-US"/>
          </a:p>
        </p:txBody>
      </p:sp>
    </p:spTree>
    <p:extLst>
      <p:ext uri="{BB962C8B-B14F-4D97-AF65-F5344CB8AC3E}">
        <p14:creationId xmlns:p14="http://schemas.microsoft.com/office/powerpoint/2010/main" val="21089318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6200" y="274638"/>
            <a:ext cx="2438400" cy="2392362"/>
          </a:xfrm>
        </p:spPr>
        <p:txBody>
          <a:bodyPr>
            <a:normAutofit/>
          </a:bodyPr>
          <a:lstStyle/>
          <a:p>
            <a:r>
              <a:rPr lang="en-US" dirty="0"/>
              <a:t>Small Ribosomal Subunit RNA</a:t>
            </a:r>
          </a:p>
        </p:txBody>
      </p:sp>
      <p:sp>
        <p:nvSpPr>
          <p:cNvPr id="3" name="Slide Number Placeholder 2"/>
          <p:cNvSpPr>
            <a:spLocks noGrp="1"/>
          </p:cNvSpPr>
          <p:nvPr>
            <p:ph type="sldNum" sz="quarter" idx="12"/>
          </p:nvPr>
        </p:nvSpPr>
        <p:spPr/>
        <p:txBody>
          <a:bodyPr/>
          <a:lstStyle/>
          <a:p>
            <a:fld id="{3B1A82D2-719A-4A87-BECB-D74482819C19}" type="slidenum">
              <a:rPr lang="en-US" smtClean="0"/>
              <a:pPr/>
              <a:t>25</a:t>
            </a:fld>
            <a:endParaRPr lang="en-US"/>
          </a:p>
        </p:txBody>
      </p:sp>
      <p:pic>
        <p:nvPicPr>
          <p:cNvPr id="6146" name="Picture 2" descr="Illustration of representative examples of rRNA secondary structures from the three domains: Bacteria (Escherichia coli), Archaea (Methanococcus vannielii), and Eukarya (Saccharomyces cerevisiae).&#10;The rRNAs from small ribosomal subunits have become the molecules of choice for inferring microbial phylogenies and making taxonomic assignments at the genus level.  The small subunit rRNAs are almost ideal for studies of microbial evolution, relatedness, and genus identification for several important reasons.  First, they play the same role in all organisms.  In addition, because ribosomes are absolutely necessary for survival and ribosomes cannot function without the small subunit rRNAs, the genes encoding these rRNAs cannot tolerate large mutations.  Thus these genes change very slowly with time.  Finally, rRNA genes do not appear to be subject to horizontal gene transfer, an important factor in comparing sequences for phylogenetic purposes." title="Figure 19.3 Small Ribosomal Subunit RNA."/>
          <p:cNvPicPr>
            <a:picLocks noChangeAspect="1" noChangeArrowheads="1"/>
          </p:cNvPicPr>
          <p:nvPr/>
        </p:nvPicPr>
        <p:blipFill>
          <a:blip r:embed="rId2" cstate="print"/>
          <a:srcRect/>
          <a:stretch>
            <a:fillRect/>
          </a:stretch>
        </p:blipFill>
        <p:spPr bwMode="auto">
          <a:xfrm>
            <a:off x="2971800" y="541337"/>
            <a:ext cx="5492750" cy="5775325"/>
          </a:xfrm>
          <a:prstGeom prst="rect">
            <a:avLst/>
          </a:prstGeom>
          <a:noFill/>
        </p:spPr>
      </p:pic>
    </p:spTree>
    <p:extLst>
      <p:ext uri="{BB962C8B-B14F-4D97-AF65-F5344CB8AC3E}">
        <p14:creationId xmlns:p14="http://schemas.microsoft.com/office/powerpoint/2010/main" val="2166070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Genomic Fingerprinting</a:t>
            </a:r>
          </a:p>
        </p:txBody>
      </p:sp>
      <p:sp>
        <p:nvSpPr>
          <p:cNvPr id="3" name="Content Placeholder 2"/>
          <p:cNvSpPr>
            <a:spLocks noGrp="1"/>
          </p:cNvSpPr>
          <p:nvPr>
            <p:ph idx="1"/>
          </p:nvPr>
        </p:nvSpPr>
        <p:spPr>
          <a:xfrm>
            <a:off x="457200" y="1600200"/>
            <a:ext cx="8229600" cy="4724400"/>
          </a:xfrm>
        </p:spPr>
        <p:txBody>
          <a:bodyPr/>
          <a:lstStyle/>
          <a:p>
            <a:pPr>
              <a:lnSpc>
                <a:spcPct val="90000"/>
              </a:lnSpc>
            </a:pPr>
            <a:r>
              <a:rPr lang="en-US" dirty="0"/>
              <a:t>Used for microbial classification and determination of phylogenetic relationships</a:t>
            </a:r>
            <a:br>
              <a:rPr lang="en-US" dirty="0"/>
            </a:br>
            <a:endParaRPr lang="en-US" dirty="0"/>
          </a:p>
          <a:p>
            <a:pPr>
              <a:lnSpc>
                <a:spcPct val="90000"/>
              </a:lnSpc>
            </a:pPr>
            <a:r>
              <a:rPr lang="en-US" dirty="0"/>
              <a:t>Requires analysis of genes that evolve more quickly than </a:t>
            </a:r>
            <a:r>
              <a:rPr lang="en-US" dirty="0" err="1"/>
              <a:t>rRNA</a:t>
            </a:r>
            <a:r>
              <a:rPr lang="en-US" dirty="0"/>
              <a:t> encoding genes</a:t>
            </a:r>
          </a:p>
          <a:p>
            <a:pPr lvl="1">
              <a:lnSpc>
                <a:spcPct val="90000"/>
              </a:lnSpc>
            </a:pPr>
            <a:r>
              <a:rPr lang="en-US" dirty="0" err="1"/>
              <a:t>multilocus</a:t>
            </a:r>
            <a:r>
              <a:rPr lang="en-US" dirty="0"/>
              <a:t> sequence analysis (MSLA)</a:t>
            </a:r>
          </a:p>
          <a:p>
            <a:pPr lvl="2">
              <a:lnSpc>
                <a:spcPct val="90000"/>
              </a:lnSpc>
            </a:pPr>
            <a:r>
              <a:rPr lang="en-US" sz="2400" dirty="0"/>
              <a:t>the sequencing and comparison of 5 to 7 housekeeping genes is done to prevent misleading results from analysis of one gene </a:t>
            </a:r>
          </a:p>
          <a:p>
            <a:pPr lvl="1">
              <a:lnSpc>
                <a:spcPct val="90000"/>
              </a:lnSpc>
            </a:pPr>
            <a:r>
              <a:rPr lang="en-US" dirty="0" err="1"/>
              <a:t>multilocus</a:t>
            </a:r>
            <a:r>
              <a:rPr lang="en-US" dirty="0"/>
              <a:t> sequence typing (MLST) </a:t>
            </a:r>
          </a:p>
          <a:p>
            <a:pPr lvl="2">
              <a:lnSpc>
                <a:spcPct val="90000"/>
              </a:lnSpc>
            </a:pPr>
            <a:r>
              <a:rPr lang="en-US" sz="2400" dirty="0"/>
              <a:t>discriminates among strains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26</a:t>
            </a:fld>
            <a:endParaRPr lang="en-US"/>
          </a:p>
        </p:txBody>
      </p:sp>
    </p:spTree>
    <p:extLst>
      <p:ext uri="{BB962C8B-B14F-4D97-AF65-F5344CB8AC3E}">
        <p14:creationId xmlns:p14="http://schemas.microsoft.com/office/powerpoint/2010/main" val="449097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839200" cy="1143000"/>
          </a:xfrm>
        </p:spPr>
        <p:txBody>
          <a:bodyPr>
            <a:normAutofit fontScale="90000"/>
          </a:bodyPr>
          <a:lstStyle/>
          <a:p>
            <a:r>
              <a:rPr lang="en-US" dirty="0"/>
              <a:t>Restriction Fragment Length Polymorphism (RFLP)</a:t>
            </a:r>
          </a:p>
        </p:txBody>
      </p:sp>
      <p:sp>
        <p:nvSpPr>
          <p:cNvPr id="3" name="Content Placeholder 2"/>
          <p:cNvSpPr>
            <a:spLocks noGrp="1"/>
          </p:cNvSpPr>
          <p:nvPr>
            <p:ph sz="half" idx="1"/>
          </p:nvPr>
        </p:nvSpPr>
        <p:spPr>
          <a:xfrm>
            <a:off x="76200" y="1219201"/>
            <a:ext cx="8991600" cy="2362200"/>
          </a:xfrm>
        </p:spPr>
        <p:txBody>
          <a:bodyPr>
            <a:normAutofit lnSpcReduction="10000"/>
          </a:bodyPr>
          <a:lstStyle/>
          <a:p>
            <a:pPr>
              <a:spcBef>
                <a:spcPts val="0"/>
              </a:spcBef>
            </a:pPr>
            <a:r>
              <a:rPr lang="en-US" dirty="0"/>
              <a:t>Uses restriction enzymes to recognize specific nucleotide sequences</a:t>
            </a:r>
          </a:p>
          <a:p>
            <a:pPr lvl="1">
              <a:spcBef>
                <a:spcPts val="0"/>
              </a:spcBef>
            </a:pPr>
            <a:r>
              <a:rPr lang="en-US" dirty="0"/>
              <a:t>cleavage patterns are compared</a:t>
            </a:r>
            <a:br>
              <a:rPr lang="en-US" dirty="0"/>
            </a:br>
            <a:endParaRPr lang="en-US" dirty="0"/>
          </a:p>
          <a:p>
            <a:pPr>
              <a:spcBef>
                <a:spcPts val="0"/>
              </a:spcBef>
            </a:pPr>
            <a:r>
              <a:rPr lang="en-US" dirty="0" err="1"/>
              <a:t>Ribotyping</a:t>
            </a:r>
            <a:r>
              <a:rPr lang="en-US" dirty="0"/>
              <a:t> </a:t>
            </a:r>
          </a:p>
          <a:p>
            <a:pPr lvl="1">
              <a:spcBef>
                <a:spcPts val="0"/>
              </a:spcBef>
            </a:pPr>
            <a:r>
              <a:rPr lang="en-US" dirty="0"/>
              <a:t>similarity between </a:t>
            </a:r>
            <a:r>
              <a:rPr lang="en-US" dirty="0" err="1"/>
              <a:t>rRNA</a:t>
            </a:r>
            <a:r>
              <a:rPr lang="en-US" dirty="0"/>
              <a:t> genes determined by RFLP</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27</a:t>
            </a:fld>
            <a:endParaRPr lang="en-US"/>
          </a:p>
        </p:txBody>
      </p:sp>
      <p:pic>
        <p:nvPicPr>
          <p:cNvPr id="7170" name="Picture 2" descr="1. DNA amplified from different microbial isolates are digested with the same endonuclease (e.g., Sau3A).&#10;2. Digested DNA is separated and visualized by gel electrophoresis.&#10;&#10;As shown in this figure, the resulting band pattern, referred to as genomic fingerprinting, can be used to identify microorganisms in much the same way that fingerprints can be used to identify people." title="Figure 19.4 Examination of Small Subunit rRNA Genes from Three Different Microbial Isolates Using Restriction Fragment Length Polymorphism Analysis."/>
          <p:cNvPicPr>
            <a:picLocks noChangeAspect="1" noChangeArrowheads="1"/>
          </p:cNvPicPr>
          <p:nvPr/>
        </p:nvPicPr>
        <p:blipFill>
          <a:blip r:embed="rId2" cstate="print"/>
          <a:srcRect/>
          <a:stretch>
            <a:fillRect/>
          </a:stretch>
        </p:blipFill>
        <p:spPr bwMode="auto">
          <a:xfrm>
            <a:off x="1753400" y="3427485"/>
            <a:ext cx="5619550" cy="3229990"/>
          </a:xfrm>
          <a:prstGeom prst="rect">
            <a:avLst/>
          </a:prstGeom>
          <a:noFill/>
        </p:spPr>
      </p:pic>
    </p:spTree>
    <p:extLst>
      <p:ext uri="{BB962C8B-B14F-4D97-AF65-F5344CB8AC3E}">
        <p14:creationId xmlns:p14="http://schemas.microsoft.com/office/powerpoint/2010/main" val="11503225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Nucleotide Polymorphism (SNP)</a:t>
            </a:r>
          </a:p>
        </p:txBody>
      </p:sp>
      <p:sp>
        <p:nvSpPr>
          <p:cNvPr id="3" name="Content Placeholder 2"/>
          <p:cNvSpPr>
            <a:spLocks noGrp="1"/>
          </p:cNvSpPr>
          <p:nvPr>
            <p:ph idx="1"/>
          </p:nvPr>
        </p:nvSpPr>
        <p:spPr/>
        <p:txBody>
          <a:bodyPr/>
          <a:lstStyle/>
          <a:p>
            <a:pPr>
              <a:lnSpc>
                <a:spcPct val="90000"/>
              </a:lnSpc>
            </a:pPr>
            <a:r>
              <a:rPr lang="en-US" dirty="0"/>
              <a:t>Looks at single nucleotide changes, or polymorphisms, in specific genes</a:t>
            </a:r>
            <a:br>
              <a:rPr lang="en-US" dirty="0"/>
            </a:br>
            <a:endParaRPr lang="en-US" dirty="0"/>
          </a:p>
          <a:p>
            <a:pPr>
              <a:lnSpc>
                <a:spcPct val="90000"/>
              </a:lnSpc>
            </a:pPr>
            <a:r>
              <a:rPr lang="en-US" dirty="0"/>
              <a:t>16S </a:t>
            </a:r>
            <a:r>
              <a:rPr lang="en-US" dirty="0" err="1"/>
              <a:t>rRNA</a:t>
            </a:r>
            <a:r>
              <a:rPr lang="en-US" dirty="0"/>
              <a:t> focuses on one specific gene</a:t>
            </a:r>
            <a:br>
              <a:rPr lang="en-US" dirty="0"/>
            </a:br>
            <a:endParaRPr lang="en-US" dirty="0"/>
          </a:p>
          <a:p>
            <a:pPr>
              <a:lnSpc>
                <a:spcPct val="90000"/>
              </a:lnSpc>
            </a:pPr>
            <a:r>
              <a:rPr lang="en-US" dirty="0"/>
              <a:t>Regions targeted because they are normally conserved, so single changes in a base pair reveal evolutionary change</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28</a:t>
            </a:fld>
            <a:endParaRPr lang="en-US"/>
          </a:p>
        </p:txBody>
      </p:sp>
    </p:spTree>
    <p:extLst>
      <p:ext uri="{BB962C8B-B14F-4D97-AF65-F5344CB8AC3E}">
        <p14:creationId xmlns:p14="http://schemas.microsoft.com/office/powerpoint/2010/main" val="2578208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52400"/>
            <a:ext cx="8229600" cy="1143000"/>
          </a:xfrm>
        </p:spPr>
        <p:txBody>
          <a:bodyPr>
            <a:normAutofit fontScale="90000"/>
          </a:bodyPr>
          <a:lstStyle/>
          <a:p>
            <a:r>
              <a:rPr lang="en-US" dirty="0"/>
              <a:t>Comparison of Resolution/Coverage of Genotyping Approaches</a:t>
            </a:r>
          </a:p>
        </p:txBody>
      </p:sp>
      <p:sp>
        <p:nvSpPr>
          <p:cNvPr id="3" name="Slide Number Placeholder 2"/>
          <p:cNvSpPr>
            <a:spLocks noGrp="1"/>
          </p:cNvSpPr>
          <p:nvPr>
            <p:ph type="sldNum" sz="quarter" idx="12"/>
          </p:nvPr>
        </p:nvSpPr>
        <p:spPr/>
        <p:txBody>
          <a:bodyPr/>
          <a:lstStyle/>
          <a:p>
            <a:fld id="{3B1A82D2-719A-4A87-BECB-D74482819C19}" type="slidenum">
              <a:rPr lang="en-US" smtClean="0"/>
              <a:pPr/>
              <a:t>29</a:t>
            </a:fld>
            <a:endParaRPr lang="en-US"/>
          </a:p>
        </p:txBody>
      </p:sp>
      <p:pic>
        <p:nvPicPr>
          <p:cNvPr id="8194" name="Picture 2" descr="As shown in this figure, 16S rRNA analysis focuses on one specific gene, where multilocus sequence analysis (MLSA) and multilocus sequence typing (MLST) sample multiple housekeeping genes throughout the genome.  Single nucleotide polymorphisms (SNP, pronounces “snip”) analysis compares more, but shorter, nucleotide sequences that span the entire genome." title="Figure 19.5 Genome Coverage of Genetic Taxonomic Approaches."/>
          <p:cNvPicPr>
            <a:picLocks noChangeAspect="1" noChangeArrowheads="1"/>
          </p:cNvPicPr>
          <p:nvPr/>
        </p:nvPicPr>
        <p:blipFill>
          <a:blip r:embed="rId2" cstate="print"/>
          <a:srcRect/>
          <a:stretch>
            <a:fillRect/>
          </a:stretch>
        </p:blipFill>
        <p:spPr bwMode="auto">
          <a:xfrm>
            <a:off x="381000" y="1600200"/>
            <a:ext cx="3797300" cy="4095750"/>
          </a:xfrm>
          <a:prstGeom prst="rect">
            <a:avLst/>
          </a:prstGeom>
          <a:noFill/>
        </p:spPr>
      </p:pic>
      <p:pic>
        <p:nvPicPr>
          <p:cNvPr id="8195" name="Picture 3" descr="Bar chart showing that genome sequencing can be used to identify family, genus, species, subspecies, and strain, 16S rDNA sequencing can be used to identify family and genus, either Mol% G+C or DNA-DNA hybridization can be used to identify genus, species, and subspecies, and either multilocus sequence typing, SNP analysis, or genomic fingerprinting can be used to identify species, subspecies, and strain." title="Figure 19.6 Relative Taxonomic Resolution of Various Molecular Techniques."/>
          <p:cNvPicPr>
            <a:picLocks noChangeAspect="1" noChangeArrowheads="1"/>
          </p:cNvPicPr>
          <p:nvPr/>
        </p:nvPicPr>
        <p:blipFill>
          <a:blip r:embed="rId3" cstate="print"/>
          <a:srcRect/>
          <a:stretch>
            <a:fillRect/>
          </a:stretch>
        </p:blipFill>
        <p:spPr bwMode="auto">
          <a:xfrm>
            <a:off x="4343400" y="1928336"/>
            <a:ext cx="4492625" cy="3001327"/>
          </a:xfrm>
          <a:prstGeom prst="rect">
            <a:avLst/>
          </a:prstGeom>
          <a:noFill/>
        </p:spPr>
      </p:pic>
    </p:spTree>
    <p:extLst>
      <p:ext uri="{BB962C8B-B14F-4D97-AF65-F5344CB8AC3E}">
        <p14:creationId xmlns:p14="http://schemas.microsoft.com/office/powerpoint/2010/main" val="9915108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6.0&quot;&gt;&lt;object type=&quot;1&quot; unique_id=&quot;10001&quot;&gt;&lt;object type=&quot;8&quot; unique_id=&quot;11846&quot;&gt;&lt;/object&gt;&lt;object type=&quot;2&quot; unique_id=&quot;11847&quot;&gt;&lt;object type=&quot;3&quot; unique_id=&quot;11848&quot;&gt;&lt;property id=&quot;20148&quot; value=&quot;5&quot;/&gt;&lt;property id=&quot;20300&quot; value=&quot;Slide 1 - &amp;quot;Chapter 19 – Microbial Taxonomy and the Evolution of Diversity&amp;quot;&quot;/&gt;&lt;property id=&quot;20307&quot; value=&quot;256&quot;/&gt;&lt;/object&gt;&lt;object type=&quot;3&quot; unique_id=&quot;11849&quot;&gt;&lt;property id=&quot;20148&quot; value=&quot;5&quot;/&gt;&lt;property id=&quot;20300&quot; value=&quot;Slide 2 - &amp;quot;19.1 Microbial Taxonomy is Based on the Evolution of Multiple Traits&amp;quot;&quot;/&gt;&lt;property id=&quot;20307&quot; value=&quot;257&quot;/&gt;&lt;/object&gt;&lt;object type=&quot;3&quot; unique_id=&quot;11850&quot;&gt;&lt;property id=&quot;20148&quot; value=&quot;5&quot;/&gt;&lt;property id=&quot;20300&quot; value=&quot;Slide 3 - &amp;quot;Introduction to &amp;#x0D;&amp;#x0A;Microbial Taxonomy&amp;quot;&quot;/&gt;&lt;property id=&quot;20307&quot; value=&quot;258&quot;/&gt;&lt;/object&gt;&lt;object type=&quot;3&quot; unique_id=&quot;11851&quot;&gt;&lt;property id=&quot;20148&quot; value=&quot;5&quot;/&gt;&lt;property id=&quot;20300&quot; value=&quot;Slide 4 - &amp;quot;Natural Classification&amp;quot;&quot;/&gt;&lt;property id=&quot;20307&quot; value=&quot;259&quot;/&gt;&lt;/object&gt;&lt;object type=&quot;3&quot; unique_id=&quot;11852&quot;&gt;&lt;property id=&quot;20148&quot; value=&quot;5&quot;/&gt;&lt;property id=&quot;20300&quot; value=&quot;Slide 5 - &amp;quot;Polyphasic Taxonomy&amp;quot;&quot;/&gt;&lt;property id=&quot;20307&quot; value=&quot;260&quot;/&gt;&lt;/object&gt;&lt;object type=&quot;3&quot; unique_id=&quot;11853&quot;&gt;&lt;property id=&quot;20148&quot; value=&quot;5&quot;/&gt;&lt;property id=&quot;20300&quot; value=&quot;Slide 6 - &amp;quot;Phenetic Classification&amp;quot;&quot;/&gt;&lt;property id=&quot;20307&quot; value=&quot;261&quot;/&gt;&lt;/object&gt;&lt;object type=&quot;3&quot; unique_id=&quot;11854&quot;&gt;&lt;property id=&quot;20148&quot; value=&quot;5&quot;/&gt;&lt;property id=&quot;20300&quot; value=&quot;Slide 7 - &amp;quot;Genotypic Classification&amp;quot;&quot;/&gt;&lt;property id=&quot;20307&quot; value=&quot;263&quot;/&gt;&lt;/object&gt;&lt;object type=&quot;3&quot; unique_id=&quot;11855&quot;&gt;&lt;property id=&quot;20148&quot; value=&quot;5&quot;/&gt;&lt;property id=&quot;20300&quot; value=&quot;Slide 8 - &amp;quot;Phylogenetic Classification&amp;quot;&quot;/&gt;&lt;property id=&quot;20307&quot; value=&quot;262&quot;/&gt;&lt;/object&gt;&lt;object type=&quot;3&quot; unique_id=&quot;11856&quot;&gt;&lt;property id=&quot;20148&quot; value=&quot;5&quot;/&gt;&lt;property id=&quot;20300&quot; value=&quot;Slide 9 - &amp;quot;19.2 Taxonomic Ranks Provide an Organizational Framework&amp;quot;&quot;/&gt;&lt;property id=&quot;20307&quot; value=&quot;264&quot;/&gt;&lt;/object&gt;&lt;object type=&quot;3&quot; unique_id=&quot;11857&quot;&gt;&lt;property id=&quot;20148&quot; value=&quot;5&quot;/&gt;&lt;property id=&quot;20300&quot; value=&quot;Slide 10 - &amp;quot;Taxonomic Ranks&amp;quot;&quot;/&gt;&lt;property id=&quot;20307&quot; value=&quot;265&quot;/&gt;&lt;/object&gt;&lt;object type=&quot;3&quot; unique_id=&quot;11858&quot;&gt;&lt;property id=&quot;20148&quot; value=&quot;5&quot;/&gt;&lt;property id=&quot;20300&quot; value=&quot;Slide 11 - &amp;quot;Heirarchical Arrangement in Taxonomy&amp;quot;&quot;/&gt;&lt;property id=&quot;20307&quot; value=&quot;266&quot;/&gt;&lt;/object&gt;&lt;object type=&quot;3&quot; unique_id=&quot;11859&quot;&gt;&lt;property id=&quot;20148&quot; value=&quot;5&quot;/&gt;&lt;property id=&quot;20300&quot; value=&quot;Slide 12 - &amp;quot;Species&amp;quot;&quot;/&gt;&lt;property id=&quot;20307&quot; value=&quot;267&quot;/&gt;&lt;/object&gt;&lt;object type=&quot;3&quot; unique_id=&quot;11860&quot;&gt;&lt;property id=&quot;20148&quot; value=&quot;5&quot;/&gt;&lt;property id=&quot;20300&quot; value=&quot;Slide 13 - &amp;quot;Strains&amp;quot;&quot;/&gt;&lt;property id=&quot;20307&quot; value=&quot;268&quot;/&gt;&lt;/object&gt;&lt;object type=&quot;3&quot; unique_id=&quot;11861&quot;&gt;&lt;property id=&quot;20148&quot; value=&quot;5&quot;/&gt;&lt;property id=&quot;20300&quot; value=&quot;Slide 14 - &amp;quot;Type Strain&amp;quot;&quot;/&gt;&lt;property id=&quot;20307&quot; value=&quot;269&quot;/&gt;&lt;/object&gt;&lt;object type=&quot;3&quot; unique_id=&quot;11862&quot;&gt;&lt;property id=&quot;20148&quot; value=&quot;5&quot;/&gt;&lt;property id=&quot;20300&quot; value=&quot;Slide 15 - &amp;quot;Genus&amp;quot;&quot;/&gt;&lt;property id=&quot;20307&quot; value=&quot;270&quot;/&gt;&lt;/object&gt;&lt;object type=&quot;3&quot; unique_id=&quot;11863&quot;&gt;&lt;property id=&quot;20148&quot; value=&quot;5&quot;/&gt;&lt;property id=&quot;20300&quot; value=&quot;Slide 16 - &amp;quot;Binomial System of Nomenclature&amp;quot;&quot;/&gt;&lt;property id=&quot;20307&quot; value=&quot;271&quot;/&gt;&lt;/object&gt;&lt;object type=&quot;3&quot; unique_id=&quot;11864&quot;&gt;&lt;property id=&quot;20148&quot; value=&quot;5&quot;/&gt;&lt;property id=&quot;20300&quot; value=&quot;Slide 17 - &amp;quot;19.3 Microbial Taxonomy and Phylogeny Are Largely Based on Molecular Characterization&amp;quot;&quot;/&gt;&lt;property id=&quot;20307&quot; value=&quot;272&quot;/&gt;&lt;/object&gt;&lt;object type=&quot;3&quot; unique_id=&quot;11865&quot;&gt;&lt;property id=&quot;20148&quot; value=&quot;5&quot;/&gt;&lt;property id=&quot;20300&quot; value=&quot;Slide 18 - &amp;quot;Techniques for Determining Microbial Taxonomy and Phylogeny&amp;quot;&quot;/&gt;&lt;property id=&quot;20307&quot; value=&quot;273&quot;/&gt;&lt;/object&gt;&lt;object type=&quot;3&quot; unique_id=&quot;11866&quot;&gt;&lt;property id=&quot;20148&quot; value=&quot;5&quot;/&gt;&lt;property id=&quot;20300&quot; value=&quot;Slide 19 - &amp;quot;Physiological and Metabolic Characteristics for Identification and Classification&amp;quot;&quot;/&gt;&lt;property id=&quot;20307&quot; value=&quot;275&quot;/&gt;&lt;/object&gt;&lt;object type=&quot;3&quot; unique_id=&quot;11867&quot;&gt;&lt;property id=&quot;20148&quot; value=&quot;5&quot;/&gt;&lt;property id=&quot;20300&quot; value=&quot;Slide 20 - &amp;quot;Ecological Characteristics&amp;quot;&quot;/&gt;&lt;property id=&quot;20307&quot; value=&quot;276&quot;/&gt;&lt;/object&gt;&lt;object type=&quot;3&quot; unique_id=&quot;11868&quot;&gt;&lt;property id=&quot;20148&quot; value=&quot;5&quot;/&gt;&lt;property id=&quot;20300&quot; value=&quot;Slide 21 - &amp;quot;Molecular Approaches&amp;quot;&quot;/&gt;&lt;property id=&quot;20307&quot; value=&quot;277&quot;/&gt;&lt;/object&gt;&lt;object type=&quot;3&quot; unique_id=&quot;11869&quot;&gt;&lt;property id=&quot;20148&quot; value=&quot;5&quot;/&gt;&lt;property id=&quot;20300&quot; value=&quot;Slide 22 - &amp;quot;Nucleic Acid Base Composition&amp;quot;&quot;/&gt;&lt;property id=&quot;20307&quot; value=&quot;279&quot;/&gt;&lt;/object&gt;&lt;object type=&quot;3&quot; unique_id=&quot;11870&quot;&gt;&lt;property id=&quot;20148&quot; value=&quot;5&quot;/&gt;&lt;property id=&quot;20300&quot; value=&quot;Slide 23 - &amp;quot;Nucleic Acid Hybridization&amp;quot;&quot;/&gt;&lt;property id=&quot;20307&quot; value=&quot;281&quot;/&gt;&lt;/object&gt;&lt;object type=&quot;3&quot; unique_id=&quot;11871&quot;&gt;&lt;property id=&quot;20148&quot; value=&quot;5&quot;/&gt;&lt;property id=&quot;20300&quot; value=&quot;Slide 24 - &amp;quot;Nucleic Acid Sequencing&amp;quot;&quot;/&gt;&lt;property id=&quot;20307&quot; value=&quot;282&quot;/&gt;&lt;/object&gt;&lt;object type=&quot;3&quot; unique_id=&quot;11872&quot;&gt;&lt;property id=&quot;20148&quot; value=&quot;5&quot;/&gt;&lt;property id=&quot;20300&quot; value=&quot;Slide 25 - &amp;quot;Small Ribosomal Subunit RNA&amp;quot;&quot;/&gt;&lt;property id=&quot;20307&quot; value=&quot;284&quot;/&gt;&lt;/object&gt;&lt;object type=&quot;3&quot; unique_id=&quot;11873&quot;&gt;&lt;property id=&quot;20148&quot; value=&quot;5&quot;/&gt;&lt;property id=&quot;20300&quot; value=&quot;Slide 26 - &amp;quot;Genomic Fingerprinting&amp;quot;&quot;/&gt;&lt;property id=&quot;20307&quot; value=&quot;285&quot;/&gt;&lt;/object&gt;&lt;object type=&quot;3&quot; unique_id=&quot;11874&quot;&gt;&lt;property id=&quot;20148&quot; value=&quot;5&quot;/&gt;&lt;property id=&quot;20300&quot; value=&quot;Slide 27 - &amp;quot;Restriction Fragment Length Polymorphism (RFLP)&amp;quot;&quot;/&gt;&lt;property id=&quot;20307&quot; value=&quot;286&quot;/&gt;&lt;/object&gt;&lt;object type=&quot;3&quot; unique_id=&quot;11875&quot;&gt;&lt;property id=&quot;20148&quot; value=&quot;5&quot;/&gt;&lt;property id=&quot;20300&quot; value=&quot;Slide 28 - &amp;quot;Single Nucleotide Polymorphism (SNP)&amp;quot;&quot;/&gt;&lt;property id=&quot;20307&quot; value=&quot;288&quot;/&gt;&lt;/object&gt;&lt;object type=&quot;3&quot; unique_id=&quot;11876&quot;&gt;&lt;property id=&quot;20148&quot; value=&quot;5&quot;/&gt;&lt;property id=&quot;20300&quot; value=&quot;Slide 29 - &amp;quot;Comparison of Resolution/Coverage of Genotyping Approaches&amp;quot;&quot;/&gt;&lt;property id=&quot;20307&quot; value=&quot;289&quot;/&gt;&lt;/object&gt;&lt;object type=&quot;3&quot; unique_id=&quot;11877&quot;&gt;&lt;property id=&quot;20148&quot; value=&quot;5&quot;/&gt;&lt;property id=&quot;20300&quot; value=&quot;Slide 30 - &amp;quot;19.4 Phylogenetic Trees Illustrate Evolutionary Relationships&amp;quot;&quot;/&gt;&lt;property id=&quot;20307&quot; value=&quot;290&quot;/&gt;&lt;/object&gt;&lt;object type=&quot;3&quot; unique_id=&quot;11878&quot;&gt;&lt;property id=&quot;20148&quot; value=&quot;5&quot;/&gt;&lt;property id=&quot;20300&quot; value=&quot;Slide 31 - &amp;quot;Phylogenetic Trees&amp;quot;&quot;/&gt;&lt;property id=&quot;20307&quot; value=&quot;291&quot;/&gt;&lt;/object&gt;&lt;object type=&quot;3&quot; unique_id=&quot;11879&quot;&gt;&lt;property id=&quot;20148&quot; value=&quot;5&quot;/&gt;&lt;property id=&quot;20300&quot; value=&quot;Slide 32 - &amp;quot;Constructing a Phylogenetic Tree Using a Distance Method&amp;quot;&quot;/&gt;&lt;property id=&quot;20307&quot; value=&quot;292&quot;/&gt;&lt;/object&gt;&lt;object type=&quot;3&quot; unique_id=&quot;11880&quot;&gt;&lt;property id=&quot;20148&quot; value=&quot;5&quot;/&gt;&lt;property id=&quot;20300&quot; value=&quot;Slide 33 - &amp;quot;Creating Phylogenetic Trees from Molecular Data&amp;quot;&quot;/&gt;&lt;property id=&quot;20307&quot; value=&quot;293&quot;/&gt;&lt;/object&gt;&lt;object type=&quot;3&quot; unique_id=&quot;11881&quot;&gt;&lt;property id=&quot;20148&quot; value=&quot;5&quot;/&gt;&lt;property id=&quot;20300&quot; value=&quot;Slide 34 - &amp;quot;Phylogenetic Tree Topologies&amp;quot;&quot;/&gt;&lt;property id=&quot;20307&quot; value=&quot;294&quot;/&gt;&lt;/object&gt;&lt;object type=&quot;3&quot; unique_id=&quot;11882&quot;&gt;&lt;property id=&quot;20148&quot; value=&quot;5&quot;/&gt;&lt;property id=&quot;20300&quot; value=&quot;Slide 35 - &amp;quot;Phylogenetic Trees and Horizontal Gene Transfer (HGT)&amp;quot;&quot;/&gt;&lt;property id=&quot;20307&quot; value=&quot;295&quot;/&gt;&lt;/object&gt;&lt;object type=&quot;3&quot; unique_id=&quot;11883&quot;&gt;&lt;property id=&quot;20148&quot; value=&quot;5&quot;/&gt;&lt;property id=&quot;20300&quot; value=&quot;Slide 36 - &amp;quot;Core and Pan-Genomes&amp;quot;&quot;/&gt;&lt;property id=&quot;20307&quot; value=&quot;296&quot;/&gt;&lt;/object&gt;&lt;object type=&quot;3&quot; unique_id=&quot;11884&quot;&gt;&lt;property id=&quot;20148&quot; value=&quot;5&quot;/&gt;&lt;property id=&quot;20300&quot; value=&quot;Slide 37 - &amp;quot;19.5 Evolutionary Processes and the Concept of a Microbial Species Inspire Debate&amp;quot;&quot;/&gt;&lt;property id=&quot;20307&quot; value=&quot;297&quot;/&gt;&lt;/object&gt;&lt;object type=&quot;3&quot; unique_id=&quot;11885&quot;&gt;&lt;property id=&quot;20148&quot; value=&quot;5&quot;/&gt;&lt;property id=&quot;20300&quot; value=&quot;Slide 38 - &amp;quot;Evolution of the &amp;#x0D;&amp;#x0A;Three  Domains of Life&amp;quot;&quot;/&gt;&lt;property id=&quot;20307&quot; value=&quot;298&quot;/&gt;&lt;/object&gt;&lt;object type=&quot;3&quot; unique_id=&quot;11886&quot;&gt;&lt;property id=&quot;20148&quot; value=&quot;5&quot;/&gt;&lt;property id=&quot;20300&quot; value=&quot;Slide 39 - &amp;quot;Comparison of the Three Domains&amp;quot;&quot;/&gt;&lt;property id=&quot;20307&quot; value=&quot;299&quot;/&gt;&lt;/object&gt;&lt;object type=&quot;3&quot; unique_id=&quot;11887&quot;&gt;&lt;property id=&quot;20148&quot; value=&quot;5&quot;/&gt;&lt;property id=&quot;20300&quot; value=&quot;Slide 40 - &amp;quot;Steps in Endosymbiotic Hypothesis&amp;quot;&quot;/&gt;&lt;property id=&quot;20307&quot; value=&quot;300&quot;/&gt;&lt;/object&gt;&lt;object type=&quot;3&quot; unique_id=&quot;11888&quot;&gt;&lt;property id=&quot;20148&quot; value=&quot;5&quot;/&gt;&lt;property id=&quot;20300&quot; value=&quot;Slide 41 - &amp;quot;Mitochondria and Chloroplasts&amp;quot;&quot;/&gt;&lt;property id=&quot;20307&quot; value=&quot;301&quot;/&gt;&lt;/object&gt;&lt;object type=&quot;3&quot; unique_id=&quot;11889&quot;&gt;&lt;property id=&quot;20148&quot; value=&quot;5&quot;/&gt;&lt;property id=&quot;20300&quot; value=&quot;Slide 42 - &amp;quot;Hydrogenosomes&amp;quot;&quot;/&gt;&lt;property id=&quot;20307&quot; value=&quot;302&quot;/&gt;&lt;/object&gt;&lt;object type=&quot;3&quot; unique_id=&quot;11890&quot;&gt;&lt;property id=&quot;20148&quot; value=&quot;5&quot;/&gt;&lt;property id=&quot;20300&quot; value=&quot;Slide 43 - &amp;quot;The Concept and Definition &amp;#x0D;&amp;#x0A;of a Microbial Species&amp;quot;&quot;/&gt;&lt;property id=&quot;20307&quot; value=&quot;303&quot;/&gt;&lt;/object&gt;&lt;object type=&quot;3&quot; unique_id=&quot;11891&quot;&gt;&lt;property id=&quot;20148&quot; value=&quot;5&quot;/&gt;&lt;property id=&quot;20300&quot; value=&quot;Slide 44 - &amp;quot;Microbial Evolutionary Processes&amp;quot;&quot;/&gt;&lt;property id=&quot;20307&quot; value=&quot;304&quot;/&gt;&lt;/object&gt;&lt;object type=&quot;3&quot; unique_id=&quot;11892&quot;&gt;&lt;property id=&quot;20148&quot; value=&quot;5&quot;/&gt;&lt;property id=&quot;20300&quot; value=&quot;Slide 45 - &amp;quot;Anagenesis Model &amp;#x0D;&amp;#x0A;of  Microbial Diversity&amp;quot;&quot;/&gt;&lt;property id=&quot;20307&quot; value=&quot;305&quot;/&gt;&lt;/object&gt;&lt;object type=&quot;3&quot; unique_id=&quot;11893&quot;&gt;&lt;property id=&quot;20148&quot; value=&quot;5&quot;/&gt;&lt;property id=&quot;20300&quot; value=&quot;Slide 46 - &amp;quot;Ecotype Model for &amp;#x0D;&amp;#x0A;Microbial Diversity&amp;quot;&quot;/&gt;&lt;property id=&quot;20307&quot; value=&quot;306&quot;/&gt;&lt;/object&gt;&lt;object type=&quot;3&quot; unique_id=&quot;11894&quot;&gt;&lt;property id=&quot;20148&quot; value=&quot;5&quot;/&gt;&lt;property id=&quot;20300&quot; value=&quot;Slide 47 - &amp;quot;Horizontal Gene Transfer (HGT) Model for Microbial Diversity&amp;quot;&quot;/&gt;&lt;property id=&quot;20307&quot; value=&quot;307&quot;/&gt;&lt;/object&gt;&lt;object type=&quot;3&quot; unique_id=&quot;11895&quot;&gt;&lt;property id=&quot;20148&quot; value=&quot;5&quot;/&gt;&lt;property id=&quot;20300&quot; value=&quot;Slide 48 - &amp;quot;19.6 Bergey’s Manual of Systematic Bacteriology&amp;quot;&quot;/&gt;&lt;property id=&quot;20307&quot; value=&quot;308&quot;/&gt;&lt;/object&gt;&lt;object type=&quot;3&quot; unique_id=&quot;11896&quot;&gt;&lt;property id=&quot;20148&quot; value=&quot;5&quot;/&gt;&lt;property id=&quot;20300&quot; value=&quot;Slide 49 - &amp;quot;Bergey’s Manual of Systematic Bacteriology&amp;quot;&quot;/&gt;&lt;property id=&quot;20307&quot; value=&quot;309&quot;/&gt;&lt;/object&gt;&lt;object type=&quot;3&quot; unique_id=&quot;11897&quot;&gt;&lt;property id=&quot;20148&quot; value=&quot;5&quot;/&gt;&lt;property id=&quot;20300&quot; value=&quot;Slide 50 - &amp;quot;Groups Covered by Bergey’s Manual&amp;quot;&quot;/&gt;&lt;property id=&quot;20307&quot; value=&quot;310&quot;/&gt;&lt;/object&gt;&lt;object type=&quot;3&quot; unique_id=&quot;11898&quot;&gt;&lt;property id=&quot;20148&quot; value=&quot;5&quot;/&gt;&lt;property id=&quot;20300&quot; value=&quot;Slide 51 - &amp;quot;Groups Covered by Bergey’s Manual&amp;quot;&quot;/&gt;&lt;property id=&quot;20307&quot; value=&quot;312&quot;/&gt;&lt;/object&gt;&lt;object type=&quot;3&quot; unique_id=&quot;11899&quot;&gt;&lt;property id=&quot;20148&quot; value=&quot;5&quot;/&gt;&lt;property id=&quot;20300&quot; value=&quot;Slide 52 - &amp;quot;Take Home Message&amp;quot;&quot;/&gt;&lt;property id=&quot;20307&quot; value=&quot;311&quot;/&gt;&lt;/object&gt;&lt;/object&gt;&lt;/object&gt;&lt;/database&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571</TotalTime>
  <Words>724</Words>
  <Application>Microsoft Office PowerPoint</Application>
  <PresentationFormat>On-screen Show (4:3)</PresentationFormat>
  <Paragraphs>293</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Chapter 19 – Microbial Taxonomy and the Evolution of Diversity</vt:lpstr>
      <vt:lpstr>19.1 Microbial Taxonomy is Based on the Evolution of Multiple Traits</vt:lpstr>
      <vt:lpstr>Introduction to  Microbial Taxonomy</vt:lpstr>
      <vt:lpstr>Natural Classification</vt:lpstr>
      <vt:lpstr>Polyphasic Taxonomy</vt:lpstr>
      <vt:lpstr>Phenetic Classification</vt:lpstr>
      <vt:lpstr>Genotypic Classification</vt:lpstr>
      <vt:lpstr>Phylogenetic Classification</vt:lpstr>
      <vt:lpstr>19.2 Taxonomic Ranks Provide an Organizational Framework</vt:lpstr>
      <vt:lpstr>Taxonomic Ranks</vt:lpstr>
      <vt:lpstr>Heirarchical Arrangement in Taxonomy</vt:lpstr>
      <vt:lpstr>Species</vt:lpstr>
      <vt:lpstr>Strains</vt:lpstr>
      <vt:lpstr>Type Strain</vt:lpstr>
      <vt:lpstr>Genus</vt:lpstr>
      <vt:lpstr>Binomial System of Nomenclature</vt:lpstr>
      <vt:lpstr>19.3 Microbial Taxonomy and Phylogeny Are Largely Based on Molecular Characterization</vt:lpstr>
      <vt:lpstr>Techniques for Determining Microbial Taxonomy and Phylogeny</vt:lpstr>
      <vt:lpstr>Physiological and Metabolic Characteristics for Identification and Classification</vt:lpstr>
      <vt:lpstr>Ecological Characteristics</vt:lpstr>
      <vt:lpstr>Molecular Approaches</vt:lpstr>
      <vt:lpstr>Nucleic Acid Base Composition</vt:lpstr>
      <vt:lpstr>Nucleic Acid Hybridization</vt:lpstr>
      <vt:lpstr>Nucleic Acid Sequencing</vt:lpstr>
      <vt:lpstr>Small Ribosomal Subunit RNA</vt:lpstr>
      <vt:lpstr>Genomic Fingerprinting</vt:lpstr>
      <vt:lpstr>Restriction Fragment Length Polymorphism (RFLP)</vt:lpstr>
      <vt:lpstr>Single Nucleotide Polymorphism (SNP)</vt:lpstr>
      <vt:lpstr>Comparison of Resolution/Coverage of Genotyping Approaches</vt:lpstr>
    </vt:vector>
  </TitlesOfParts>
  <Company>University of Central Arkansas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dc:creator>
  <cp:lastModifiedBy>just</cp:lastModifiedBy>
  <cp:revision>48</cp:revision>
  <dcterms:created xsi:type="dcterms:W3CDTF">2016-01-04T02:13:32Z</dcterms:created>
  <dcterms:modified xsi:type="dcterms:W3CDTF">2023-02-23T11:03:54Z</dcterms:modified>
</cp:coreProperties>
</file>