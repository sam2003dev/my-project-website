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6" r:id="rId1"/>
  </p:sldMasterIdLst>
  <p:notesMasterIdLst>
    <p:notesMasterId r:id="rId54"/>
  </p:notesMasterIdLst>
  <p:sldIdLst>
    <p:sldId id="256" r:id="rId2"/>
    <p:sldId id="262" r:id="rId3"/>
    <p:sldId id="267" r:id="rId4"/>
    <p:sldId id="272" r:id="rId5"/>
    <p:sldId id="269" r:id="rId6"/>
    <p:sldId id="270" r:id="rId7"/>
    <p:sldId id="279" r:id="rId8"/>
    <p:sldId id="280" r:id="rId9"/>
    <p:sldId id="265" r:id="rId10"/>
    <p:sldId id="271" r:id="rId11"/>
    <p:sldId id="273" r:id="rId12"/>
    <p:sldId id="274" r:id="rId13"/>
    <p:sldId id="275" r:id="rId14"/>
    <p:sldId id="276" r:id="rId15"/>
    <p:sldId id="334" r:id="rId16"/>
    <p:sldId id="284" r:id="rId17"/>
    <p:sldId id="319" r:id="rId18"/>
    <p:sldId id="285" r:id="rId19"/>
    <p:sldId id="287" r:id="rId20"/>
    <p:sldId id="294" r:id="rId21"/>
    <p:sldId id="295" r:id="rId22"/>
    <p:sldId id="335" r:id="rId23"/>
    <p:sldId id="297" r:id="rId24"/>
    <p:sldId id="298" r:id="rId25"/>
    <p:sldId id="300" r:id="rId26"/>
    <p:sldId id="326" r:id="rId27"/>
    <p:sldId id="336" r:id="rId28"/>
    <p:sldId id="327" r:id="rId29"/>
    <p:sldId id="304" r:id="rId30"/>
    <p:sldId id="337" r:id="rId31"/>
    <p:sldId id="324" r:id="rId32"/>
    <p:sldId id="323" r:id="rId33"/>
    <p:sldId id="320" r:id="rId34"/>
    <p:sldId id="328" r:id="rId35"/>
    <p:sldId id="338" r:id="rId36"/>
    <p:sldId id="321" r:id="rId37"/>
    <p:sldId id="322" r:id="rId38"/>
    <p:sldId id="305" r:id="rId39"/>
    <p:sldId id="329" r:id="rId40"/>
    <p:sldId id="307" r:id="rId41"/>
    <p:sldId id="339" r:id="rId42"/>
    <p:sldId id="310" r:id="rId43"/>
    <p:sldId id="312" r:id="rId44"/>
    <p:sldId id="314" r:id="rId45"/>
    <p:sldId id="316" r:id="rId46"/>
    <p:sldId id="317" r:id="rId47"/>
    <p:sldId id="340" r:id="rId48"/>
    <p:sldId id="342" r:id="rId49"/>
    <p:sldId id="341" r:id="rId50"/>
    <p:sldId id="333" r:id="rId51"/>
    <p:sldId id="343" r:id="rId52"/>
    <p:sldId id="332" r:id="rId53"/>
  </p:sldIdLst>
  <p:sldSz cx="9144000" cy="6858000" type="screen4x3"/>
  <p:notesSz cx="6858000" cy="9144000"/>
  <p:defaultTextStyle>
    <a:defPPr>
      <a:defRPr lang="en-GB"/>
    </a:defPPr>
    <a:lvl1pPr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452"/>
    <p:restoredTop sz="92919" autoAdjust="0"/>
  </p:normalViewPr>
  <p:slideViewPr>
    <p:cSldViewPr>
      <p:cViewPr varScale="1">
        <p:scale>
          <a:sx n="150" d="100"/>
          <a:sy n="150" d="100"/>
        </p:scale>
        <p:origin x="1576" y="168"/>
      </p:cViewPr>
      <p:guideLst>
        <p:guide orient="horz" pos="2160"/>
        <p:guide pos="2880"/>
      </p:guideLst>
    </p:cSldViewPr>
  </p:slideViewPr>
  <p:notesTextViewPr>
    <p:cViewPr>
      <p:scale>
        <a:sx n="100" d="100"/>
        <a:sy n="100" d="100"/>
      </p:scale>
      <p:origin x="0" y="0"/>
    </p:cViewPr>
  </p:notesTextViewPr>
  <p:sorterViewPr>
    <p:cViewPr varScale="1">
      <p:scale>
        <a:sx n="1" d="1"/>
        <a:sy n="1" d="1"/>
      </p:scale>
      <p:origin x="0" y="-2796"/>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presProps" Target="pres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ableStyles" Target="tableStyles.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viewProps" Target="view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theme" Target="theme/theme1.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a:extLst>
              <a:ext uri="{FF2B5EF4-FFF2-40B4-BE49-F238E27FC236}">
                <a16:creationId xmlns:a16="http://schemas.microsoft.com/office/drawing/2014/main" id="{48F65403-82A4-12C4-28CC-8FD666A75163}"/>
              </a:ext>
            </a:extLst>
          </p:cNvPr>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60419" name="Rectangle 3">
            <a:extLst>
              <a:ext uri="{FF2B5EF4-FFF2-40B4-BE49-F238E27FC236}">
                <a16:creationId xmlns:a16="http://schemas.microsoft.com/office/drawing/2014/main" id="{7274B8C5-BE4F-8BFB-621E-42E3952C8B0F}"/>
              </a:ext>
            </a:extLst>
          </p:cNvPr>
          <p:cNvSpPr>
            <a:spLocks noGrp="1" noChangeArrowheads="1"/>
          </p:cNvSpPr>
          <p:nvPr>
            <p:ph type="dt" idx="1"/>
          </p:nvPr>
        </p:nvSpPr>
        <p:spPr bwMode="auto">
          <a:xfrm>
            <a:off x="3884613"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Arial" charset="0"/>
                <a:cs typeface="Arial" charset="0"/>
              </a:defRPr>
            </a:lvl1pPr>
          </a:lstStyle>
          <a:p>
            <a:pPr>
              <a:defRPr/>
            </a:pPr>
            <a:endParaRPr lang="en-GB"/>
          </a:p>
        </p:txBody>
      </p:sp>
      <p:sp>
        <p:nvSpPr>
          <p:cNvPr id="6148" name="Rectangle 4">
            <a:extLst>
              <a:ext uri="{FF2B5EF4-FFF2-40B4-BE49-F238E27FC236}">
                <a16:creationId xmlns:a16="http://schemas.microsoft.com/office/drawing/2014/main" id="{9FB82CB8-F415-EF9A-DE66-EEB58324CBDB}"/>
              </a:ext>
            </a:extLst>
          </p:cNvPr>
          <p:cNvSpPr>
            <a:spLocks noRot="1" noChangeArrowheads="1" noTextEdit="1"/>
          </p:cNvSpPr>
          <p:nvPr>
            <p:ph type="sldImg" idx="2"/>
          </p:nvPr>
        </p:nvSpPr>
        <p:spPr bwMode="auto">
          <a:xfrm>
            <a:off x="1143000" y="685800"/>
            <a:ext cx="4572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60421" name="Rectangle 5">
            <a:extLst>
              <a:ext uri="{FF2B5EF4-FFF2-40B4-BE49-F238E27FC236}">
                <a16:creationId xmlns:a16="http://schemas.microsoft.com/office/drawing/2014/main" id="{4658F639-2707-6656-F35D-82A038936FB6}"/>
              </a:ext>
            </a:extLst>
          </p:cNvPr>
          <p:cNvSpPr>
            <a:spLocks noGrp="1" noChangeArrowheads="1"/>
          </p:cNvSpPr>
          <p:nvPr>
            <p:ph type="body" sz="quarter" idx="3"/>
          </p:nvPr>
        </p:nvSpPr>
        <p:spPr bwMode="auto">
          <a:xfrm>
            <a:off x="685800" y="4343400"/>
            <a:ext cx="54864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60422" name="Rectangle 6">
            <a:extLst>
              <a:ext uri="{FF2B5EF4-FFF2-40B4-BE49-F238E27FC236}">
                <a16:creationId xmlns:a16="http://schemas.microsoft.com/office/drawing/2014/main" id="{5B3CE132-D9A1-EFC0-C15D-7A599C5E7C20}"/>
              </a:ext>
            </a:extLst>
          </p:cNvPr>
          <p:cNvSpPr>
            <a:spLocks noGrp="1" noChangeArrowheads="1"/>
          </p:cNvSpPr>
          <p:nvPr>
            <p:ph type="ftr" sz="quarter" idx="4"/>
          </p:nvPr>
        </p:nvSpPr>
        <p:spPr bwMode="auto">
          <a:xfrm>
            <a:off x="0"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Arial" charset="0"/>
                <a:cs typeface="Arial" charset="0"/>
              </a:defRPr>
            </a:lvl1pPr>
          </a:lstStyle>
          <a:p>
            <a:pPr>
              <a:defRPr/>
            </a:pPr>
            <a:endParaRPr lang="en-GB"/>
          </a:p>
        </p:txBody>
      </p:sp>
      <p:sp>
        <p:nvSpPr>
          <p:cNvPr id="60423" name="Rectangle 7">
            <a:extLst>
              <a:ext uri="{FF2B5EF4-FFF2-40B4-BE49-F238E27FC236}">
                <a16:creationId xmlns:a16="http://schemas.microsoft.com/office/drawing/2014/main" id="{95CE5B8E-BFF5-6CF8-AD10-629F2859DCBE}"/>
              </a:ext>
            </a:extLst>
          </p:cNvPr>
          <p:cNvSpPr>
            <a:spLocks noGrp="1" noChangeArrowheads="1"/>
          </p:cNvSpPr>
          <p:nvPr>
            <p:ph type="sldNum" sz="quarter" idx="5"/>
          </p:nvPr>
        </p:nvSpPr>
        <p:spPr bwMode="auto">
          <a:xfrm>
            <a:off x="3884613" y="8685213"/>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FC497000-5994-DE40-9240-E784D47544F0}" type="slidenum">
              <a:rPr lang="en-GB" altLang="en-US"/>
              <a:pPr/>
              <a:t>‹#›</a:t>
            </a:fld>
            <a:endParaRPr lang="en-GB"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charset="0"/>
        <a:ea typeface="+mn-ea"/>
        <a:cs typeface="Arial" charset="0"/>
      </a:defRPr>
    </a:lvl1pPr>
    <a:lvl2pPr marL="457200" algn="l" rtl="0" eaLnBrk="0" fontAlgn="base" hangingPunct="0">
      <a:spcBef>
        <a:spcPct val="30000"/>
      </a:spcBef>
      <a:spcAft>
        <a:spcPct val="0"/>
      </a:spcAft>
      <a:defRPr sz="1200" kern="1200">
        <a:solidFill>
          <a:schemeClr val="tx1"/>
        </a:solidFill>
        <a:latin typeface="Arial" charset="0"/>
        <a:ea typeface="+mn-ea"/>
        <a:cs typeface="Arial" charset="0"/>
      </a:defRPr>
    </a:lvl2pPr>
    <a:lvl3pPr marL="914400" algn="l" rtl="0" eaLnBrk="0" fontAlgn="base" hangingPunct="0">
      <a:spcBef>
        <a:spcPct val="30000"/>
      </a:spcBef>
      <a:spcAft>
        <a:spcPct val="0"/>
      </a:spcAft>
      <a:defRPr sz="1200" kern="1200">
        <a:solidFill>
          <a:schemeClr val="tx1"/>
        </a:solidFill>
        <a:latin typeface="Arial" charset="0"/>
        <a:ea typeface="+mn-ea"/>
        <a:cs typeface="Arial" charset="0"/>
      </a:defRPr>
    </a:lvl3pPr>
    <a:lvl4pPr marL="1371600" algn="l" rtl="0" eaLnBrk="0" fontAlgn="base" hangingPunct="0">
      <a:spcBef>
        <a:spcPct val="30000"/>
      </a:spcBef>
      <a:spcAft>
        <a:spcPct val="0"/>
      </a:spcAft>
      <a:defRPr sz="1200" kern="1200">
        <a:solidFill>
          <a:schemeClr val="tx1"/>
        </a:solidFill>
        <a:latin typeface="Arial" charset="0"/>
        <a:ea typeface="+mn-ea"/>
        <a:cs typeface="Arial" charset="0"/>
      </a:defRPr>
    </a:lvl4pPr>
    <a:lvl5pPr marL="1828800" algn="l" rtl="0" eaLnBrk="0" fontAlgn="base" hangingPunct="0">
      <a:spcBef>
        <a:spcPct val="30000"/>
      </a:spcBef>
      <a:spcAft>
        <a:spcPct val="0"/>
      </a:spcAft>
      <a:defRPr sz="1200" kern="1200">
        <a:solidFill>
          <a:schemeClr val="tx1"/>
        </a:solidFill>
        <a:latin typeface="Arial" charset="0"/>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7">
            <a:extLst>
              <a:ext uri="{FF2B5EF4-FFF2-40B4-BE49-F238E27FC236}">
                <a16:creationId xmlns:a16="http://schemas.microsoft.com/office/drawing/2014/main" id="{87AEC7AB-741C-143E-5A03-55409EBB01B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5AE3C06-F5A0-CA4C-B4B6-ADFD125B7066}" type="slidenum">
              <a:rPr lang="en-GB" altLang="en-US"/>
              <a:pPr>
                <a:spcBef>
                  <a:spcPct val="0"/>
                </a:spcBef>
              </a:pPr>
              <a:t>1</a:t>
            </a:fld>
            <a:endParaRPr lang="en-GB" altLang="en-US"/>
          </a:p>
        </p:txBody>
      </p:sp>
      <p:sp>
        <p:nvSpPr>
          <p:cNvPr id="8195" name="Rectangle 2">
            <a:extLst>
              <a:ext uri="{FF2B5EF4-FFF2-40B4-BE49-F238E27FC236}">
                <a16:creationId xmlns:a16="http://schemas.microsoft.com/office/drawing/2014/main" id="{DF2944CD-2BC3-AD43-121B-C4B0EE78EBA8}"/>
              </a:ext>
            </a:extLst>
          </p:cNvPr>
          <p:cNvSpPr>
            <a:spLocks noRot="1" noChangeArrowheads="1" noTextEdit="1"/>
          </p:cNvSpPr>
          <p:nvPr>
            <p:ph type="sldImg"/>
          </p:nvPr>
        </p:nvSpPr>
        <p:spPr>
          <a:ln/>
        </p:spPr>
      </p:sp>
      <p:sp>
        <p:nvSpPr>
          <p:cNvPr id="8196" name="Rectangle 3">
            <a:extLst>
              <a:ext uri="{FF2B5EF4-FFF2-40B4-BE49-F238E27FC236}">
                <a16:creationId xmlns:a16="http://schemas.microsoft.com/office/drawing/2014/main" id="{0B2985B6-C9CF-7E8A-0E83-5F6136D19BA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7">
            <a:extLst>
              <a:ext uri="{FF2B5EF4-FFF2-40B4-BE49-F238E27FC236}">
                <a16:creationId xmlns:a16="http://schemas.microsoft.com/office/drawing/2014/main" id="{FEBAC82A-45D8-D2ED-8095-700CBB7099D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238DD78-068A-DC42-92FC-25BF9185AB11}" type="slidenum">
              <a:rPr lang="en-GB" altLang="en-US"/>
              <a:pPr>
                <a:spcBef>
                  <a:spcPct val="0"/>
                </a:spcBef>
              </a:pPr>
              <a:t>2</a:t>
            </a:fld>
            <a:endParaRPr lang="en-GB" altLang="en-US"/>
          </a:p>
        </p:txBody>
      </p:sp>
      <p:sp>
        <p:nvSpPr>
          <p:cNvPr id="10243" name="Rectangle 2">
            <a:extLst>
              <a:ext uri="{FF2B5EF4-FFF2-40B4-BE49-F238E27FC236}">
                <a16:creationId xmlns:a16="http://schemas.microsoft.com/office/drawing/2014/main" id="{1B3B511D-1A3E-90B6-8306-6641EF51787E}"/>
              </a:ext>
            </a:extLst>
          </p:cNvPr>
          <p:cNvSpPr>
            <a:spLocks noRot="1" noChangeArrowheads="1" noTextEdit="1"/>
          </p:cNvSpPr>
          <p:nvPr>
            <p:ph type="sldImg"/>
          </p:nvPr>
        </p:nvSpPr>
        <p:spPr>
          <a:ln/>
        </p:spPr>
      </p:sp>
      <p:sp>
        <p:nvSpPr>
          <p:cNvPr id="10244" name="Rectangle 3">
            <a:extLst>
              <a:ext uri="{FF2B5EF4-FFF2-40B4-BE49-F238E27FC236}">
                <a16:creationId xmlns:a16="http://schemas.microsoft.com/office/drawing/2014/main" id="{9247870C-7FA6-2478-364F-91278E42C3B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7">
            <a:extLst>
              <a:ext uri="{FF2B5EF4-FFF2-40B4-BE49-F238E27FC236}">
                <a16:creationId xmlns:a16="http://schemas.microsoft.com/office/drawing/2014/main" id="{8D59B171-549F-C534-301F-CAA531C9360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22EFED9-045E-D34E-B60E-8D07E131F227}" type="slidenum">
              <a:rPr lang="en-GB" altLang="en-US"/>
              <a:pPr>
                <a:spcBef>
                  <a:spcPct val="0"/>
                </a:spcBef>
              </a:pPr>
              <a:t>3</a:t>
            </a:fld>
            <a:endParaRPr lang="en-GB" altLang="en-US"/>
          </a:p>
        </p:txBody>
      </p:sp>
      <p:sp>
        <p:nvSpPr>
          <p:cNvPr id="12291" name="Rectangle 2">
            <a:extLst>
              <a:ext uri="{FF2B5EF4-FFF2-40B4-BE49-F238E27FC236}">
                <a16:creationId xmlns:a16="http://schemas.microsoft.com/office/drawing/2014/main" id="{A8C99712-D730-707B-820D-F5A9F589408B}"/>
              </a:ext>
            </a:extLst>
          </p:cNvPr>
          <p:cNvSpPr>
            <a:spLocks noRot="1" noChangeArrowheads="1" noTextEdit="1"/>
          </p:cNvSpPr>
          <p:nvPr>
            <p:ph type="sldImg"/>
          </p:nvPr>
        </p:nvSpPr>
        <p:spPr>
          <a:ln/>
        </p:spPr>
      </p:sp>
      <p:sp>
        <p:nvSpPr>
          <p:cNvPr id="12292" name="Rectangle 3">
            <a:extLst>
              <a:ext uri="{FF2B5EF4-FFF2-40B4-BE49-F238E27FC236}">
                <a16:creationId xmlns:a16="http://schemas.microsoft.com/office/drawing/2014/main" id="{07BD537E-660B-3D39-C07B-F120A50ECC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7">
            <a:extLst>
              <a:ext uri="{FF2B5EF4-FFF2-40B4-BE49-F238E27FC236}">
                <a16:creationId xmlns:a16="http://schemas.microsoft.com/office/drawing/2014/main" id="{367B9EA7-2220-73D1-1915-36CA829E5DF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D23E88E-480C-314F-AC15-C181CB642BF8}" type="slidenum">
              <a:rPr lang="en-GB" altLang="en-US"/>
              <a:pPr>
                <a:spcBef>
                  <a:spcPct val="0"/>
                </a:spcBef>
              </a:pPr>
              <a:t>4</a:t>
            </a:fld>
            <a:endParaRPr lang="en-GB" altLang="en-US"/>
          </a:p>
        </p:txBody>
      </p:sp>
      <p:sp>
        <p:nvSpPr>
          <p:cNvPr id="14339" name="Rectangle 2">
            <a:extLst>
              <a:ext uri="{FF2B5EF4-FFF2-40B4-BE49-F238E27FC236}">
                <a16:creationId xmlns:a16="http://schemas.microsoft.com/office/drawing/2014/main" id="{49EA535D-846E-F918-D849-DC2D143246F2}"/>
              </a:ext>
            </a:extLst>
          </p:cNvPr>
          <p:cNvSpPr>
            <a:spLocks noRot="1" noChangeArrowheads="1" noTextEdit="1"/>
          </p:cNvSpPr>
          <p:nvPr>
            <p:ph type="sldImg"/>
          </p:nvPr>
        </p:nvSpPr>
        <p:spPr>
          <a:ln/>
        </p:spPr>
      </p:sp>
      <p:sp>
        <p:nvSpPr>
          <p:cNvPr id="14340" name="Rectangle 3">
            <a:extLst>
              <a:ext uri="{FF2B5EF4-FFF2-40B4-BE49-F238E27FC236}">
                <a16:creationId xmlns:a16="http://schemas.microsoft.com/office/drawing/2014/main" id="{A8AEA3BE-C515-D2B3-967B-DCD543D7B1E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Where mutations could take place?</a:t>
            </a:r>
          </a:p>
          <a:p>
            <a:pPr eaLnBrk="1" hangingPunct="1"/>
            <a:r>
              <a:rPr lang="en-US" altLang="en-US">
                <a:latin typeface="Arial" panose="020B0604020202020204" pitchFamily="34" charset="0"/>
                <a:cs typeface="Arial" panose="020B0604020202020204" pitchFamily="34" charset="0"/>
              </a:rPr>
              <a:t>It could be on any gene and in this case it will affect cells that transcribe this gene, and depending on where about is this mutation in the gene it would affect it, some mutations will result in abnormal non-functioning proteins other will be silent, if the mutation takes place in non coding DNA it might not affect particular gene but it might block replication or block transcription and then cause death to the cell</a:t>
            </a:r>
            <a:endParaRPr lang="en-GB" altLang="en-US">
              <a:latin typeface="Arial" panose="020B0604020202020204" pitchFamily="34" charset="0"/>
              <a:cs typeface="Arial" panose="020B0604020202020204" pitchFamily="34" charset="0"/>
            </a:endParaRPr>
          </a:p>
          <a:p>
            <a:pPr eaLnBrk="1" hangingPunct="1"/>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7">
            <a:extLst>
              <a:ext uri="{FF2B5EF4-FFF2-40B4-BE49-F238E27FC236}">
                <a16:creationId xmlns:a16="http://schemas.microsoft.com/office/drawing/2014/main" id="{1E152952-1073-807A-E418-6CC71CC714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D59C8F2-C2AA-F541-9758-7180F77D6A00}" type="slidenum">
              <a:rPr lang="en-GB" altLang="en-US"/>
              <a:pPr>
                <a:spcBef>
                  <a:spcPct val="0"/>
                </a:spcBef>
              </a:pPr>
              <a:t>5</a:t>
            </a:fld>
            <a:endParaRPr lang="en-GB" altLang="en-US"/>
          </a:p>
        </p:txBody>
      </p:sp>
      <p:sp>
        <p:nvSpPr>
          <p:cNvPr id="16387" name="Rectangle 2">
            <a:extLst>
              <a:ext uri="{FF2B5EF4-FFF2-40B4-BE49-F238E27FC236}">
                <a16:creationId xmlns:a16="http://schemas.microsoft.com/office/drawing/2014/main" id="{380EB787-C356-447F-2F55-BD0AEDE400AE}"/>
              </a:ext>
            </a:extLst>
          </p:cNvPr>
          <p:cNvSpPr>
            <a:spLocks noRot="1" noChangeArrowheads="1" noTextEdit="1"/>
          </p:cNvSpPr>
          <p:nvPr>
            <p:ph type="sldImg"/>
          </p:nvPr>
        </p:nvSpPr>
        <p:spPr>
          <a:ln/>
        </p:spPr>
      </p:sp>
      <p:sp>
        <p:nvSpPr>
          <p:cNvPr id="16388" name="Rectangle 3">
            <a:extLst>
              <a:ext uri="{FF2B5EF4-FFF2-40B4-BE49-F238E27FC236}">
                <a16:creationId xmlns:a16="http://schemas.microsoft.com/office/drawing/2014/main" id="{6872DC0D-5169-3028-F8A7-316740F860F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Rate of new mutations arise spontaneously is 10</a:t>
            </a:r>
            <a:r>
              <a:rPr lang="en-US" altLang="en-US" baseline="30000">
                <a:latin typeface="Arial" panose="020B0604020202020204" pitchFamily="34" charset="0"/>
                <a:cs typeface="Arial" panose="020B0604020202020204" pitchFamily="34" charset="0"/>
              </a:rPr>
              <a:t>-6</a:t>
            </a:r>
            <a:r>
              <a:rPr lang="en-US" altLang="en-US">
                <a:latin typeface="Arial" panose="020B0604020202020204" pitchFamily="34" charset="0"/>
                <a:cs typeface="Arial" panose="020B0604020202020204" pitchFamily="34" charset="0"/>
              </a:rPr>
              <a:t> – 10</a:t>
            </a:r>
            <a:r>
              <a:rPr lang="en-US" altLang="en-US" baseline="30000">
                <a:latin typeface="Arial" panose="020B0604020202020204" pitchFamily="34" charset="0"/>
                <a:cs typeface="Arial" panose="020B0604020202020204" pitchFamily="34" charset="0"/>
              </a:rPr>
              <a:t>-11</a:t>
            </a:r>
            <a:r>
              <a:rPr lang="en-US" altLang="en-US">
                <a:latin typeface="Arial" panose="020B0604020202020204" pitchFamily="34" charset="0"/>
                <a:cs typeface="Arial" panose="020B0604020202020204" pitchFamily="34" charset="0"/>
              </a:rPr>
              <a:t> per round of replication</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7">
            <a:extLst>
              <a:ext uri="{FF2B5EF4-FFF2-40B4-BE49-F238E27FC236}">
                <a16:creationId xmlns:a16="http://schemas.microsoft.com/office/drawing/2014/main" id="{55477497-EA12-1524-C9AD-3D6E539181DB}"/>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A01943A-9F79-F046-AF43-F47504878C6D}" type="slidenum">
              <a:rPr lang="en-GB" altLang="en-US"/>
              <a:pPr>
                <a:spcBef>
                  <a:spcPct val="0"/>
                </a:spcBef>
              </a:pPr>
              <a:t>6</a:t>
            </a:fld>
            <a:endParaRPr lang="en-GB" altLang="en-US"/>
          </a:p>
        </p:txBody>
      </p:sp>
      <p:sp>
        <p:nvSpPr>
          <p:cNvPr id="18435" name="Rectangle 2">
            <a:extLst>
              <a:ext uri="{FF2B5EF4-FFF2-40B4-BE49-F238E27FC236}">
                <a16:creationId xmlns:a16="http://schemas.microsoft.com/office/drawing/2014/main" id="{69F3C8EF-7BC0-406E-FF43-96B6CE8374B4}"/>
              </a:ext>
            </a:extLst>
          </p:cNvPr>
          <p:cNvSpPr>
            <a:spLocks noRot="1" noChangeArrowheads="1" noTextEdit="1"/>
          </p:cNvSpPr>
          <p:nvPr>
            <p:ph type="sldImg"/>
          </p:nvPr>
        </p:nvSpPr>
        <p:spPr>
          <a:ln/>
        </p:spPr>
      </p:sp>
      <p:sp>
        <p:nvSpPr>
          <p:cNvPr id="18436" name="Rectangle 3">
            <a:extLst>
              <a:ext uri="{FF2B5EF4-FFF2-40B4-BE49-F238E27FC236}">
                <a16:creationId xmlns:a16="http://schemas.microsoft.com/office/drawing/2014/main" id="{B7FA6B65-9B50-17FB-4CE5-07B87C49997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7">
            <a:extLst>
              <a:ext uri="{FF2B5EF4-FFF2-40B4-BE49-F238E27FC236}">
                <a16:creationId xmlns:a16="http://schemas.microsoft.com/office/drawing/2014/main" id="{85D1EB91-770C-77A0-5739-FDD5907F53C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830C44D-8A73-024E-89A6-2A47240E79CA}" type="slidenum">
              <a:rPr lang="en-GB" altLang="en-US"/>
              <a:pPr>
                <a:spcBef>
                  <a:spcPct val="0"/>
                </a:spcBef>
              </a:pPr>
              <a:t>7</a:t>
            </a:fld>
            <a:endParaRPr lang="en-GB" altLang="en-US"/>
          </a:p>
        </p:txBody>
      </p:sp>
      <p:sp>
        <p:nvSpPr>
          <p:cNvPr id="20483" name="Rectangle 2">
            <a:extLst>
              <a:ext uri="{FF2B5EF4-FFF2-40B4-BE49-F238E27FC236}">
                <a16:creationId xmlns:a16="http://schemas.microsoft.com/office/drawing/2014/main" id="{D7F8802A-5F32-FEB9-60C2-1F189BB8141B}"/>
              </a:ext>
            </a:extLst>
          </p:cNvPr>
          <p:cNvSpPr>
            <a:spLocks noRot="1" noChangeArrowheads="1" noTextEdit="1"/>
          </p:cNvSpPr>
          <p:nvPr>
            <p:ph type="sldImg"/>
          </p:nvPr>
        </p:nvSpPr>
        <p:spPr>
          <a:ln/>
        </p:spPr>
      </p:sp>
      <p:sp>
        <p:nvSpPr>
          <p:cNvPr id="20484" name="Rectangle 3">
            <a:extLst>
              <a:ext uri="{FF2B5EF4-FFF2-40B4-BE49-F238E27FC236}">
                <a16:creationId xmlns:a16="http://schemas.microsoft.com/office/drawing/2014/main" id="{70C59CB3-0D2F-1779-B356-BD93894B6AC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7">
            <a:extLst>
              <a:ext uri="{FF2B5EF4-FFF2-40B4-BE49-F238E27FC236}">
                <a16:creationId xmlns:a16="http://schemas.microsoft.com/office/drawing/2014/main" id="{CA7C9157-324C-42B7-D7D6-B0373C0E1EE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81D6F4B-EB42-9F45-8B8D-7EBE4BB58EC9}" type="slidenum">
              <a:rPr lang="en-GB" altLang="en-US"/>
              <a:pPr>
                <a:spcBef>
                  <a:spcPct val="0"/>
                </a:spcBef>
              </a:pPr>
              <a:t>8</a:t>
            </a:fld>
            <a:endParaRPr lang="en-GB" altLang="en-US"/>
          </a:p>
        </p:txBody>
      </p:sp>
      <p:sp>
        <p:nvSpPr>
          <p:cNvPr id="22531" name="Rectangle 2">
            <a:extLst>
              <a:ext uri="{FF2B5EF4-FFF2-40B4-BE49-F238E27FC236}">
                <a16:creationId xmlns:a16="http://schemas.microsoft.com/office/drawing/2014/main" id="{53A2A579-5F90-1263-2B54-417EB5A29D1C}"/>
              </a:ext>
            </a:extLst>
          </p:cNvPr>
          <p:cNvSpPr>
            <a:spLocks noRot="1" noChangeArrowheads="1" noTextEdit="1"/>
          </p:cNvSpPr>
          <p:nvPr>
            <p:ph type="sldImg"/>
          </p:nvPr>
        </p:nvSpPr>
        <p:spPr>
          <a:ln/>
        </p:spPr>
      </p:sp>
      <p:sp>
        <p:nvSpPr>
          <p:cNvPr id="22532" name="Rectangle 3">
            <a:extLst>
              <a:ext uri="{FF2B5EF4-FFF2-40B4-BE49-F238E27FC236}">
                <a16:creationId xmlns:a16="http://schemas.microsoft.com/office/drawing/2014/main" id="{C7CEA055-D915-1BF8-51D0-411B232E574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7">
            <a:extLst>
              <a:ext uri="{FF2B5EF4-FFF2-40B4-BE49-F238E27FC236}">
                <a16:creationId xmlns:a16="http://schemas.microsoft.com/office/drawing/2014/main" id="{BE63FD7E-EA3D-2562-5B63-9697B81B366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670078B-A5A5-0A4B-864E-D6927BEC8C29}" type="slidenum">
              <a:rPr lang="en-GB" altLang="en-US"/>
              <a:pPr>
                <a:spcBef>
                  <a:spcPct val="0"/>
                </a:spcBef>
              </a:pPr>
              <a:t>9</a:t>
            </a:fld>
            <a:endParaRPr lang="en-GB" altLang="en-US"/>
          </a:p>
        </p:txBody>
      </p:sp>
      <p:sp>
        <p:nvSpPr>
          <p:cNvPr id="24579" name="Rectangle 2">
            <a:extLst>
              <a:ext uri="{FF2B5EF4-FFF2-40B4-BE49-F238E27FC236}">
                <a16:creationId xmlns:a16="http://schemas.microsoft.com/office/drawing/2014/main" id="{70E14DA3-5EF8-64DB-6653-6603BDA72976}"/>
              </a:ext>
            </a:extLst>
          </p:cNvPr>
          <p:cNvSpPr>
            <a:spLocks noRot="1" noChangeArrowheads="1" noTextEdit="1"/>
          </p:cNvSpPr>
          <p:nvPr>
            <p:ph type="sldImg"/>
          </p:nvPr>
        </p:nvSpPr>
        <p:spPr>
          <a:ln/>
        </p:spPr>
      </p:sp>
      <p:sp>
        <p:nvSpPr>
          <p:cNvPr id="24580" name="Rectangle 3">
            <a:extLst>
              <a:ext uri="{FF2B5EF4-FFF2-40B4-BE49-F238E27FC236}">
                <a16:creationId xmlns:a16="http://schemas.microsoft.com/office/drawing/2014/main" id="{A3653B32-417D-637B-2A52-3E5959BF0E7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Proofreading activity improves the fidelity of DNA replication by a factor of 100</a:t>
            </a:r>
          </a:p>
          <a:p>
            <a:pPr eaLnBrk="1" hangingPunct="1"/>
            <a:r>
              <a:rPr lang="en-US" altLang="en-US">
                <a:latin typeface="Arial" panose="020B0604020202020204" pitchFamily="34" charset="0"/>
                <a:cs typeface="Arial" panose="020B0604020202020204" pitchFamily="34" charset="0"/>
              </a:rPr>
              <a:t>Three different nucleotides can be misincorporated opposite each of the four kinds of nucleotides in the template strand e.g T, G, C opposite to a T in the template for a total of 12 possible mismatches (T:T, T:G, T:C</a:t>
            </a:r>
          </a:p>
          <a:p>
            <a:pPr eaLnBrk="1" hangingPunct="1"/>
            <a:r>
              <a:rPr lang="en-US" altLang="en-US">
                <a:latin typeface="Arial" panose="020B0604020202020204" pitchFamily="34" charset="0"/>
                <a:cs typeface="Arial" panose="020B0604020202020204" pitchFamily="34" charset="0"/>
              </a:rPr>
              <a:t> </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7">
            <a:extLst>
              <a:ext uri="{FF2B5EF4-FFF2-40B4-BE49-F238E27FC236}">
                <a16:creationId xmlns:a16="http://schemas.microsoft.com/office/drawing/2014/main" id="{BADB6DA3-C0E5-366F-1453-435C873EC9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FCA8ECF-4E7F-0D4C-908C-E92C9C8FA7AE}" type="slidenum">
              <a:rPr lang="en-GB" altLang="en-US"/>
              <a:pPr>
                <a:spcBef>
                  <a:spcPct val="0"/>
                </a:spcBef>
              </a:pPr>
              <a:t>10</a:t>
            </a:fld>
            <a:endParaRPr lang="en-GB" altLang="en-US"/>
          </a:p>
        </p:txBody>
      </p:sp>
      <p:sp>
        <p:nvSpPr>
          <p:cNvPr id="26627" name="Rectangle 2">
            <a:extLst>
              <a:ext uri="{FF2B5EF4-FFF2-40B4-BE49-F238E27FC236}">
                <a16:creationId xmlns:a16="http://schemas.microsoft.com/office/drawing/2014/main" id="{4AF8F413-2989-44D1-7FCA-1C1B0DA32946}"/>
              </a:ext>
            </a:extLst>
          </p:cNvPr>
          <p:cNvSpPr>
            <a:spLocks noRot="1" noChangeArrowheads="1" noTextEdit="1"/>
          </p:cNvSpPr>
          <p:nvPr>
            <p:ph type="sldImg"/>
          </p:nvPr>
        </p:nvSpPr>
        <p:spPr>
          <a:ln/>
        </p:spPr>
      </p:sp>
      <p:sp>
        <p:nvSpPr>
          <p:cNvPr id="26628" name="Rectangle 3">
            <a:extLst>
              <a:ext uri="{FF2B5EF4-FFF2-40B4-BE49-F238E27FC236}">
                <a16:creationId xmlns:a16="http://schemas.microsoft.com/office/drawing/2014/main" id="{98C34BCF-C360-50F8-9DF3-A36BB1A2ABF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7">
            <a:extLst>
              <a:ext uri="{FF2B5EF4-FFF2-40B4-BE49-F238E27FC236}">
                <a16:creationId xmlns:a16="http://schemas.microsoft.com/office/drawing/2014/main" id="{901206EB-2E13-8C3A-A869-231A4B844CE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A12663E-9AF5-0D45-BABD-BE480065626E}" type="slidenum">
              <a:rPr lang="en-GB" altLang="en-US"/>
              <a:pPr>
                <a:spcBef>
                  <a:spcPct val="0"/>
                </a:spcBef>
              </a:pPr>
              <a:t>11</a:t>
            </a:fld>
            <a:endParaRPr lang="en-GB" altLang="en-US"/>
          </a:p>
        </p:txBody>
      </p:sp>
      <p:sp>
        <p:nvSpPr>
          <p:cNvPr id="28675" name="Rectangle 2">
            <a:extLst>
              <a:ext uri="{FF2B5EF4-FFF2-40B4-BE49-F238E27FC236}">
                <a16:creationId xmlns:a16="http://schemas.microsoft.com/office/drawing/2014/main" id="{E389FDA5-6F57-FC48-5725-4C98CB8495EE}"/>
              </a:ext>
            </a:extLst>
          </p:cNvPr>
          <p:cNvSpPr>
            <a:spLocks noRot="1" noChangeArrowheads="1" noTextEdit="1"/>
          </p:cNvSpPr>
          <p:nvPr>
            <p:ph type="sldImg"/>
          </p:nvPr>
        </p:nvSpPr>
        <p:spPr>
          <a:ln/>
        </p:spPr>
      </p:sp>
      <p:sp>
        <p:nvSpPr>
          <p:cNvPr id="28676" name="Rectangle 3">
            <a:extLst>
              <a:ext uri="{FF2B5EF4-FFF2-40B4-BE49-F238E27FC236}">
                <a16:creationId xmlns:a16="http://schemas.microsoft.com/office/drawing/2014/main" id="{71476B1D-417A-4FAA-417B-54548DE1DE0E}"/>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7">
            <a:extLst>
              <a:ext uri="{FF2B5EF4-FFF2-40B4-BE49-F238E27FC236}">
                <a16:creationId xmlns:a16="http://schemas.microsoft.com/office/drawing/2014/main" id="{7E181A31-73A2-4AA1-A7F4-D94D4F75757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E5F41F2-44CD-F34F-8E77-0FE5216DE87D}" type="slidenum">
              <a:rPr lang="en-GB" altLang="en-US"/>
              <a:pPr>
                <a:spcBef>
                  <a:spcPct val="0"/>
                </a:spcBef>
              </a:pPr>
              <a:t>12</a:t>
            </a:fld>
            <a:endParaRPr lang="en-GB" altLang="en-US"/>
          </a:p>
        </p:txBody>
      </p:sp>
      <p:sp>
        <p:nvSpPr>
          <p:cNvPr id="30723" name="Rectangle 2">
            <a:extLst>
              <a:ext uri="{FF2B5EF4-FFF2-40B4-BE49-F238E27FC236}">
                <a16:creationId xmlns:a16="http://schemas.microsoft.com/office/drawing/2014/main" id="{930745C1-6C2C-668D-0382-47B5F8EEF494}"/>
              </a:ext>
            </a:extLst>
          </p:cNvPr>
          <p:cNvSpPr>
            <a:spLocks noRot="1" noChangeArrowheads="1" noTextEdit="1"/>
          </p:cNvSpPr>
          <p:nvPr>
            <p:ph type="sldImg"/>
          </p:nvPr>
        </p:nvSpPr>
        <p:spPr>
          <a:ln/>
        </p:spPr>
      </p:sp>
      <p:sp>
        <p:nvSpPr>
          <p:cNvPr id="30724" name="Rectangle 3">
            <a:extLst>
              <a:ext uri="{FF2B5EF4-FFF2-40B4-BE49-F238E27FC236}">
                <a16:creationId xmlns:a16="http://schemas.microsoft.com/office/drawing/2014/main" id="{1E29AF66-E289-EDA7-B810-96D27EAD4A5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7">
            <a:extLst>
              <a:ext uri="{FF2B5EF4-FFF2-40B4-BE49-F238E27FC236}">
                <a16:creationId xmlns:a16="http://schemas.microsoft.com/office/drawing/2014/main" id="{41234737-3626-AFB3-A2EB-C685CD2BC9B1}"/>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D75CD45-923D-C24C-AC45-A0E82609D643}" type="slidenum">
              <a:rPr lang="en-GB" altLang="en-US"/>
              <a:pPr>
                <a:spcBef>
                  <a:spcPct val="0"/>
                </a:spcBef>
              </a:pPr>
              <a:t>13</a:t>
            </a:fld>
            <a:endParaRPr lang="en-GB" altLang="en-US"/>
          </a:p>
        </p:txBody>
      </p:sp>
      <p:sp>
        <p:nvSpPr>
          <p:cNvPr id="32771" name="Rectangle 2">
            <a:extLst>
              <a:ext uri="{FF2B5EF4-FFF2-40B4-BE49-F238E27FC236}">
                <a16:creationId xmlns:a16="http://schemas.microsoft.com/office/drawing/2014/main" id="{1DEB7D7D-D3ED-3BCC-4A3B-04176312168A}"/>
              </a:ext>
            </a:extLst>
          </p:cNvPr>
          <p:cNvSpPr>
            <a:spLocks noRot="1" noChangeArrowheads="1" noTextEdit="1"/>
          </p:cNvSpPr>
          <p:nvPr>
            <p:ph type="sldImg"/>
          </p:nvPr>
        </p:nvSpPr>
        <p:spPr>
          <a:ln/>
        </p:spPr>
      </p:sp>
      <p:sp>
        <p:nvSpPr>
          <p:cNvPr id="32772" name="Rectangle 3">
            <a:extLst>
              <a:ext uri="{FF2B5EF4-FFF2-40B4-BE49-F238E27FC236}">
                <a16:creationId xmlns:a16="http://schemas.microsoft.com/office/drawing/2014/main" id="{04287B2D-A8B2-1183-BB6C-BB14AB7A04E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Endonuclease activity of Mut H becomes active only when it become in contact with Mut L and Mut S</a:t>
            </a:r>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Rectangle 7">
            <a:extLst>
              <a:ext uri="{FF2B5EF4-FFF2-40B4-BE49-F238E27FC236}">
                <a16:creationId xmlns:a16="http://schemas.microsoft.com/office/drawing/2014/main" id="{42602FD9-6DB8-594F-FC5D-797818EE22A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F9FBC29-E121-9443-86F0-886CD869D5D1}" type="slidenum">
              <a:rPr lang="en-GB" altLang="en-US"/>
              <a:pPr>
                <a:spcBef>
                  <a:spcPct val="0"/>
                </a:spcBef>
              </a:pPr>
              <a:t>14</a:t>
            </a:fld>
            <a:endParaRPr lang="en-GB" altLang="en-US"/>
          </a:p>
        </p:txBody>
      </p:sp>
      <p:sp>
        <p:nvSpPr>
          <p:cNvPr id="34819" name="Rectangle 2">
            <a:extLst>
              <a:ext uri="{FF2B5EF4-FFF2-40B4-BE49-F238E27FC236}">
                <a16:creationId xmlns:a16="http://schemas.microsoft.com/office/drawing/2014/main" id="{F7F7346B-3BFE-E1AC-C4E3-4DFE59C4BC3A}"/>
              </a:ext>
            </a:extLst>
          </p:cNvPr>
          <p:cNvSpPr>
            <a:spLocks noRot="1" noChangeArrowheads="1" noTextEdit="1"/>
          </p:cNvSpPr>
          <p:nvPr>
            <p:ph type="sldImg"/>
          </p:nvPr>
        </p:nvSpPr>
        <p:spPr>
          <a:ln/>
        </p:spPr>
      </p:sp>
      <p:sp>
        <p:nvSpPr>
          <p:cNvPr id="34820" name="Rectangle 3">
            <a:extLst>
              <a:ext uri="{FF2B5EF4-FFF2-40B4-BE49-F238E27FC236}">
                <a16:creationId xmlns:a16="http://schemas.microsoft.com/office/drawing/2014/main" id="{210A1058-7868-F0BB-D555-A44A25AF273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Some mutS are specific for SNPs other for microsatellite slippage, </a:t>
            </a:r>
          </a:p>
          <a:p>
            <a:pPr eaLnBrk="1" hangingPunct="1"/>
            <a:r>
              <a:rPr lang="en-US" altLang="en-US">
                <a:latin typeface="Arial" panose="020B0604020202020204" pitchFamily="34" charset="0"/>
                <a:cs typeface="Arial" panose="020B0604020202020204" pitchFamily="34" charset="0"/>
              </a:rPr>
              <a:t>Abnormal MSH gene cause heriditary non-polyposis colorectal cancer</a:t>
            </a:r>
            <a:endParaRPr lang="en-GB" altLang="en-US">
              <a:latin typeface="Arial" panose="020B0604020202020204" pitchFamily="34" charset="0"/>
              <a:cs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7">
            <a:extLst>
              <a:ext uri="{FF2B5EF4-FFF2-40B4-BE49-F238E27FC236}">
                <a16:creationId xmlns:a16="http://schemas.microsoft.com/office/drawing/2014/main" id="{5480FE44-F170-37C9-9F37-C4A9B725EC2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23AE207-8938-AC48-9136-3D6A8839BB50}" type="slidenum">
              <a:rPr lang="en-GB" altLang="en-US"/>
              <a:pPr>
                <a:spcBef>
                  <a:spcPct val="0"/>
                </a:spcBef>
              </a:pPr>
              <a:t>16</a:t>
            </a:fld>
            <a:endParaRPr lang="en-GB" altLang="en-US"/>
          </a:p>
        </p:txBody>
      </p:sp>
      <p:sp>
        <p:nvSpPr>
          <p:cNvPr id="37891" name="Rectangle 2">
            <a:extLst>
              <a:ext uri="{FF2B5EF4-FFF2-40B4-BE49-F238E27FC236}">
                <a16:creationId xmlns:a16="http://schemas.microsoft.com/office/drawing/2014/main" id="{A4A11B67-3822-D562-8DEC-3B9405318F50}"/>
              </a:ext>
            </a:extLst>
          </p:cNvPr>
          <p:cNvSpPr>
            <a:spLocks noRot="1" noChangeArrowheads="1" noTextEdit="1"/>
          </p:cNvSpPr>
          <p:nvPr>
            <p:ph type="sldImg"/>
          </p:nvPr>
        </p:nvSpPr>
        <p:spPr>
          <a:ln/>
        </p:spPr>
      </p:sp>
      <p:sp>
        <p:nvSpPr>
          <p:cNvPr id="37892" name="Rectangle 3">
            <a:extLst>
              <a:ext uri="{FF2B5EF4-FFF2-40B4-BE49-F238E27FC236}">
                <a16:creationId xmlns:a16="http://schemas.microsoft.com/office/drawing/2014/main" id="{FA0A14C5-973E-A884-6990-0CEBDEC8A7A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8" name="Slide Image Placeholder 1">
            <a:extLst>
              <a:ext uri="{FF2B5EF4-FFF2-40B4-BE49-F238E27FC236}">
                <a16:creationId xmlns:a16="http://schemas.microsoft.com/office/drawing/2014/main" id="{BB452CFF-DADD-F32C-6B81-1E997F20013E}"/>
              </a:ext>
            </a:extLst>
          </p:cNvPr>
          <p:cNvSpPr>
            <a:spLocks noGrp="1" noRot="1" noChangeAspect="1" noTextEdit="1"/>
          </p:cNvSpPr>
          <p:nvPr>
            <p:ph type="sldImg"/>
          </p:nvPr>
        </p:nvSpPr>
        <p:spPr>
          <a:ln/>
        </p:spPr>
      </p:sp>
      <p:sp>
        <p:nvSpPr>
          <p:cNvPr id="39939" name="Notes Placeholder 2">
            <a:extLst>
              <a:ext uri="{FF2B5EF4-FFF2-40B4-BE49-F238E27FC236}">
                <a16:creationId xmlns:a16="http://schemas.microsoft.com/office/drawing/2014/main" id="{00E59E27-8A1E-9654-9391-A7CB0F515FBB}"/>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
        <p:nvSpPr>
          <p:cNvPr id="39940" name="Slide Number Placeholder 3">
            <a:extLst>
              <a:ext uri="{FF2B5EF4-FFF2-40B4-BE49-F238E27FC236}">
                <a16:creationId xmlns:a16="http://schemas.microsoft.com/office/drawing/2014/main" id="{F41C8C94-2B41-AA66-7226-4916284F22F0}"/>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5DE0CC5-F2E0-E341-B241-98D4A2D202E0}" type="slidenum">
              <a:rPr lang="en-GB" altLang="en-US"/>
              <a:pPr>
                <a:spcBef>
                  <a:spcPct val="0"/>
                </a:spcBef>
              </a:pPr>
              <a:t>17</a:t>
            </a:fld>
            <a:endParaRPr lang="en-GB"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7">
            <a:extLst>
              <a:ext uri="{FF2B5EF4-FFF2-40B4-BE49-F238E27FC236}">
                <a16:creationId xmlns:a16="http://schemas.microsoft.com/office/drawing/2014/main" id="{0ADEEB7A-CDE5-10C6-328A-6AC520DB3EC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3F571F9-C1A1-3540-A39D-C9D96A78798A}" type="slidenum">
              <a:rPr lang="en-GB" altLang="en-US"/>
              <a:pPr>
                <a:spcBef>
                  <a:spcPct val="0"/>
                </a:spcBef>
              </a:pPr>
              <a:t>18</a:t>
            </a:fld>
            <a:endParaRPr lang="en-GB" altLang="en-US"/>
          </a:p>
        </p:txBody>
      </p:sp>
      <p:sp>
        <p:nvSpPr>
          <p:cNvPr id="41987" name="Rectangle 2">
            <a:extLst>
              <a:ext uri="{FF2B5EF4-FFF2-40B4-BE49-F238E27FC236}">
                <a16:creationId xmlns:a16="http://schemas.microsoft.com/office/drawing/2014/main" id="{A22E0AC5-467A-3769-D5C4-DE95AC5A40E2}"/>
              </a:ext>
            </a:extLst>
          </p:cNvPr>
          <p:cNvSpPr>
            <a:spLocks noRot="1" noChangeArrowheads="1" noTextEdit="1"/>
          </p:cNvSpPr>
          <p:nvPr>
            <p:ph type="sldImg"/>
          </p:nvPr>
        </p:nvSpPr>
        <p:spPr>
          <a:ln/>
        </p:spPr>
      </p:sp>
      <p:sp>
        <p:nvSpPr>
          <p:cNvPr id="41988" name="Rectangle 3">
            <a:extLst>
              <a:ext uri="{FF2B5EF4-FFF2-40B4-BE49-F238E27FC236}">
                <a16:creationId xmlns:a16="http://schemas.microsoft.com/office/drawing/2014/main" id="{D6C955D5-1FA3-73FF-A5B9-5ACE9548CF2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7">
            <a:extLst>
              <a:ext uri="{FF2B5EF4-FFF2-40B4-BE49-F238E27FC236}">
                <a16:creationId xmlns:a16="http://schemas.microsoft.com/office/drawing/2014/main" id="{3A79155A-BFF4-C126-A15A-76C4B7BD48D9}"/>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2D3403E-80CA-784A-9E09-36708B223A03}" type="slidenum">
              <a:rPr lang="en-GB" altLang="en-US"/>
              <a:pPr>
                <a:spcBef>
                  <a:spcPct val="0"/>
                </a:spcBef>
              </a:pPr>
              <a:t>19</a:t>
            </a:fld>
            <a:endParaRPr lang="en-GB" altLang="en-US"/>
          </a:p>
        </p:txBody>
      </p:sp>
      <p:sp>
        <p:nvSpPr>
          <p:cNvPr id="44035" name="Rectangle 2">
            <a:extLst>
              <a:ext uri="{FF2B5EF4-FFF2-40B4-BE49-F238E27FC236}">
                <a16:creationId xmlns:a16="http://schemas.microsoft.com/office/drawing/2014/main" id="{B054096A-8D72-782F-D7BE-ED8ABCED27AA}"/>
              </a:ext>
            </a:extLst>
          </p:cNvPr>
          <p:cNvSpPr>
            <a:spLocks noRot="1" noChangeArrowheads="1" noTextEdit="1"/>
          </p:cNvSpPr>
          <p:nvPr>
            <p:ph type="sldImg"/>
          </p:nvPr>
        </p:nvSpPr>
        <p:spPr>
          <a:ln/>
        </p:spPr>
      </p:sp>
      <p:sp>
        <p:nvSpPr>
          <p:cNvPr id="44036" name="Rectangle 3">
            <a:extLst>
              <a:ext uri="{FF2B5EF4-FFF2-40B4-BE49-F238E27FC236}">
                <a16:creationId xmlns:a16="http://schemas.microsoft.com/office/drawing/2014/main" id="{52D9A56A-4A92-0D54-9E18-A3016266C72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7">
            <a:extLst>
              <a:ext uri="{FF2B5EF4-FFF2-40B4-BE49-F238E27FC236}">
                <a16:creationId xmlns:a16="http://schemas.microsoft.com/office/drawing/2014/main" id="{45898A92-A2A5-C0E2-DF94-3792250132F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76FC484-1F1C-EE4A-999B-07AA400F602E}" type="slidenum">
              <a:rPr lang="en-GB" altLang="en-US"/>
              <a:pPr>
                <a:spcBef>
                  <a:spcPct val="0"/>
                </a:spcBef>
              </a:pPr>
              <a:t>20</a:t>
            </a:fld>
            <a:endParaRPr lang="en-GB" altLang="en-US"/>
          </a:p>
        </p:txBody>
      </p:sp>
      <p:sp>
        <p:nvSpPr>
          <p:cNvPr id="46083" name="Rectangle 2">
            <a:extLst>
              <a:ext uri="{FF2B5EF4-FFF2-40B4-BE49-F238E27FC236}">
                <a16:creationId xmlns:a16="http://schemas.microsoft.com/office/drawing/2014/main" id="{5CAB8E8B-E0AB-08C6-993E-168F53741652}"/>
              </a:ext>
            </a:extLst>
          </p:cNvPr>
          <p:cNvSpPr>
            <a:spLocks noRot="1" noChangeArrowheads="1" noTextEdit="1"/>
          </p:cNvSpPr>
          <p:nvPr>
            <p:ph type="sldImg"/>
          </p:nvPr>
        </p:nvSpPr>
        <p:spPr>
          <a:ln/>
        </p:spPr>
      </p:sp>
      <p:sp>
        <p:nvSpPr>
          <p:cNvPr id="46084" name="Rectangle 3">
            <a:extLst>
              <a:ext uri="{FF2B5EF4-FFF2-40B4-BE49-F238E27FC236}">
                <a16:creationId xmlns:a16="http://schemas.microsoft.com/office/drawing/2014/main" id="{5E0FF1F7-8517-F473-E5F6-64EB5E973F1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Rectangle 7">
            <a:extLst>
              <a:ext uri="{FF2B5EF4-FFF2-40B4-BE49-F238E27FC236}">
                <a16:creationId xmlns:a16="http://schemas.microsoft.com/office/drawing/2014/main" id="{0080AEB8-79A8-9654-C3F7-0B2B95AD84AE}"/>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1690E7B-E80B-0D46-8A8C-216F8A8A97D3}" type="slidenum">
              <a:rPr lang="en-GB" altLang="en-US"/>
              <a:pPr>
                <a:spcBef>
                  <a:spcPct val="0"/>
                </a:spcBef>
              </a:pPr>
              <a:t>21</a:t>
            </a:fld>
            <a:endParaRPr lang="en-GB" altLang="en-US"/>
          </a:p>
        </p:txBody>
      </p:sp>
      <p:sp>
        <p:nvSpPr>
          <p:cNvPr id="48131" name="Rectangle 2">
            <a:extLst>
              <a:ext uri="{FF2B5EF4-FFF2-40B4-BE49-F238E27FC236}">
                <a16:creationId xmlns:a16="http://schemas.microsoft.com/office/drawing/2014/main" id="{CBF13949-9D69-02E4-BF60-064CF0284760}"/>
              </a:ext>
            </a:extLst>
          </p:cNvPr>
          <p:cNvSpPr>
            <a:spLocks noRot="1" noChangeArrowheads="1" noTextEdit="1"/>
          </p:cNvSpPr>
          <p:nvPr>
            <p:ph type="sldImg"/>
          </p:nvPr>
        </p:nvSpPr>
        <p:spPr>
          <a:ln/>
        </p:spPr>
      </p:sp>
      <p:sp>
        <p:nvSpPr>
          <p:cNvPr id="48132" name="Rectangle 3">
            <a:extLst>
              <a:ext uri="{FF2B5EF4-FFF2-40B4-BE49-F238E27FC236}">
                <a16:creationId xmlns:a16="http://schemas.microsoft.com/office/drawing/2014/main" id="{01228A2A-81A8-AE5B-8E6B-14EF67C4D9C7}"/>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8" name="Slide Image Placeholder 1">
            <a:extLst>
              <a:ext uri="{FF2B5EF4-FFF2-40B4-BE49-F238E27FC236}">
                <a16:creationId xmlns:a16="http://schemas.microsoft.com/office/drawing/2014/main" id="{22A0D8C0-E32F-0219-8C30-59536A40CF55}"/>
              </a:ext>
            </a:extLst>
          </p:cNvPr>
          <p:cNvSpPr>
            <a:spLocks noGrp="1" noRot="1" noChangeAspect="1" noTextEdit="1"/>
          </p:cNvSpPr>
          <p:nvPr>
            <p:ph type="sldImg"/>
          </p:nvPr>
        </p:nvSpPr>
        <p:spPr>
          <a:ln/>
        </p:spPr>
      </p:sp>
      <p:sp>
        <p:nvSpPr>
          <p:cNvPr id="50179" name="Notes Placeholder 2">
            <a:extLst>
              <a:ext uri="{FF2B5EF4-FFF2-40B4-BE49-F238E27FC236}">
                <a16:creationId xmlns:a16="http://schemas.microsoft.com/office/drawing/2014/main" id="{27E36DA5-5B18-51FB-B74F-9ED6CE8D63F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50180" name="Slide Number Placeholder 3">
            <a:extLst>
              <a:ext uri="{FF2B5EF4-FFF2-40B4-BE49-F238E27FC236}">
                <a16:creationId xmlns:a16="http://schemas.microsoft.com/office/drawing/2014/main" id="{56DE50A8-95C4-CBD4-5FB6-BAB96830FC2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66FAB6B-D358-604E-8589-3D3BBD7F0A1E}" type="slidenum">
              <a:rPr lang="en-GB" altLang="en-US"/>
              <a:pPr>
                <a:spcBef>
                  <a:spcPct val="0"/>
                </a:spcBef>
              </a:pPr>
              <a:t>22</a:t>
            </a:fld>
            <a:endParaRPr lang="en-GB" alt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7">
            <a:extLst>
              <a:ext uri="{FF2B5EF4-FFF2-40B4-BE49-F238E27FC236}">
                <a16:creationId xmlns:a16="http://schemas.microsoft.com/office/drawing/2014/main" id="{29CF01DE-AE87-9B92-58BA-2963E6082E8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CD5F2099-6E8E-504E-BBD0-59EEAC081E3F}" type="slidenum">
              <a:rPr lang="en-GB" altLang="en-US"/>
              <a:pPr>
                <a:spcBef>
                  <a:spcPct val="0"/>
                </a:spcBef>
              </a:pPr>
              <a:t>23</a:t>
            </a:fld>
            <a:endParaRPr lang="en-GB" altLang="en-US"/>
          </a:p>
        </p:txBody>
      </p:sp>
      <p:sp>
        <p:nvSpPr>
          <p:cNvPr id="52227" name="Rectangle 2">
            <a:extLst>
              <a:ext uri="{FF2B5EF4-FFF2-40B4-BE49-F238E27FC236}">
                <a16:creationId xmlns:a16="http://schemas.microsoft.com/office/drawing/2014/main" id="{FAFE41F3-1778-E32E-675A-80E952ADF3B1}"/>
              </a:ext>
            </a:extLst>
          </p:cNvPr>
          <p:cNvSpPr>
            <a:spLocks noRot="1" noChangeArrowheads="1" noTextEdit="1"/>
          </p:cNvSpPr>
          <p:nvPr>
            <p:ph type="sldImg"/>
          </p:nvPr>
        </p:nvSpPr>
        <p:spPr>
          <a:ln/>
        </p:spPr>
      </p:sp>
      <p:sp>
        <p:nvSpPr>
          <p:cNvPr id="52228" name="Rectangle 3">
            <a:extLst>
              <a:ext uri="{FF2B5EF4-FFF2-40B4-BE49-F238E27FC236}">
                <a16:creationId xmlns:a16="http://schemas.microsoft.com/office/drawing/2014/main" id="{49FDB98D-678C-2AAE-8D51-4E719ECF7B19}"/>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7">
            <a:extLst>
              <a:ext uri="{FF2B5EF4-FFF2-40B4-BE49-F238E27FC236}">
                <a16:creationId xmlns:a16="http://schemas.microsoft.com/office/drawing/2014/main" id="{E0ECB980-935E-5E57-AB5A-223513078A2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48EF3B72-125B-4B44-BDC0-DDA9708F0778}" type="slidenum">
              <a:rPr lang="en-GB" altLang="en-US"/>
              <a:pPr>
                <a:spcBef>
                  <a:spcPct val="0"/>
                </a:spcBef>
              </a:pPr>
              <a:t>24</a:t>
            </a:fld>
            <a:endParaRPr lang="en-GB" altLang="en-US"/>
          </a:p>
        </p:txBody>
      </p:sp>
      <p:sp>
        <p:nvSpPr>
          <p:cNvPr id="54275" name="Rectangle 2">
            <a:extLst>
              <a:ext uri="{FF2B5EF4-FFF2-40B4-BE49-F238E27FC236}">
                <a16:creationId xmlns:a16="http://schemas.microsoft.com/office/drawing/2014/main" id="{0195FFD7-ED8D-3A13-6894-AEE0DCE09BCE}"/>
              </a:ext>
            </a:extLst>
          </p:cNvPr>
          <p:cNvSpPr>
            <a:spLocks noRot="1" noChangeArrowheads="1" noTextEdit="1"/>
          </p:cNvSpPr>
          <p:nvPr>
            <p:ph type="sldImg"/>
          </p:nvPr>
        </p:nvSpPr>
        <p:spPr>
          <a:ln/>
        </p:spPr>
      </p:sp>
      <p:sp>
        <p:nvSpPr>
          <p:cNvPr id="54276" name="Rectangle 3">
            <a:extLst>
              <a:ext uri="{FF2B5EF4-FFF2-40B4-BE49-F238E27FC236}">
                <a16:creationId xmlns:a16="http://schemas.microsoft.com/office/drawing/2014/main" id="{E3533F1C-6F71-CE3B-4BEB-826EFFD8066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7">
            <a:extLst>
              <a:ext uri="{FF2B5EF4-FFF2-40B4-BE49-F238E27FC236}">
                <a16:creationId xmlns:a16="http://schemas.microsoft.com/office/drawing/2014/main" id="{6AD42B0E-892F-CA1F-B4C5-9037A28DCF1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A99457D-9DCB-8B4E-9484-9F1BD21CC62C}" type="slidenum">
              <a:rPr lang="en-GB" altLang="en-US"/>
              <a:pPr>
                <a:spcBef>
                  <a:spcPct val="0"/>
                </a:spcBef>
              </a:pPr>
              <a:t>25</a:t>
            </a:fld>
            <a:endParaRPr lang="en-GB" altLang="en-US"/>
          </a:p>
        </p:txBody>
      </p:sp>
      <p:sp>
        <p:nvSpPr>
          <p:cNvPr id="56323" name="Rectangle 2">
            <a:extLst>
              <a:ext uri="{FF2B5EF4-FFF2-40B4-BE49-F238E27FC236}">
                <a16:creationId xmlns:a16="http://schemas.microsoft.com/office/drawing/2014/main" id="{D2C336AB-51AF-F980-CC09-FB0D13F68DF7}"/>
              </a:ext>
            </a:extLst>
          </p:cNvPr>
          <p:cNvSpPr>
            <a:spLocks noRot="1" noChangeArrowheads="1" noTextEdit="1"/>
          </p:cNvSpPr>
          <p:nvPr>
            <p:ph type="sldImg"/>
          </p:nvPr>
        </p:nvSpPr>
        <p:spPr>
          <a:ln/>
        </p:spPr>
      </p:sp>
      <p:sp>
        <p:nvSpPr>
          <p:cNvPr id="56324" name="Rectangle 3">
            <a:extLst>
              <a:ext uri="{FF2B5EF4-FFF2-40B4-BE49-F238E27FC236}">
                <a16:creationId xmlns:a16="http://schemas.microsoft.com/office/drawing/2014/main" id="{D04A18F1-6449-2C88-9CF7-0F8FAE02E4D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7">
            <a:extLst>
              <a:ext uri="{FF2B5EF4-FFF2-40B4-BE49-F238E27FC236}">
                <a16:creationId xmlns:a16="http://schemas.microsoft.com/office/drawing/2014/main" id="{BBD8C7FD-CF8B-287A-1127-D1C1A07D9D3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1F5AF50-7737-8E4B-8FF7-69200916DF3B}" type="slidenum">
              <a:rPr lang="en-GB" altLang="en-US"/>
              <a:pPr>
                <a:spcBef>
                  <a:spcPct val="0"/>
                </a:spcBef>
              </a:pPr>
              <a:t>26</a:t>
            </a:fld>
            <a:endParaRPr lang="en-GB" altLang="en-US"/>
          </a:p>
        </p:txBody>
      </p:sp>
      <p:sp>
        <p:nvSpPr>
          <p:cNvPr id="58371" name="Rectangle 2">
            <a:extLst>
              <a:ext uri="{FF2B5EF4-FFF2-40B4-BE49-F238E27FC236}">
                <a16:creationId xmlns:a16="http://schemas.microsoft.com/office/drawing/2014/main" id="{9FA5621E-1051-89B4-8050-81676C907CAC}"/>
              </a:ext>
            </a:extLst>
          </p:cNvPr>
          <p:cNvSpPr>
            <a:spLocks noRot="1" noChangeArrowheads="1" noTextEdit="1"/>
          </p:cNvSpPr>
          <p:nvPr>
            <p:ph type="sldImg"/>
          </p:nvPr>
        </p:nvSpPr>
        <p:spPr>
          <a:ln/>
        </p:spPr>
      </p:sp>
      <p:sp>
        <p:nvSpPr>
          <p:cNvPr id="58372" name="Rectangle 3">
            <a:extLst>
              <a:ext uri="{FF2B5EF4-FFF2-40B4-BE49-F238E27FC236}">
                <a16:creationId xmlns:a16="http://schemas.microsoft.com/office/drawing/2014/main" id="{EFD28105-593C-96C8-9DAF-D41A56100C3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7">
            <a:extLst>
              <a:ext uri="{FF2B5EF4-FFF2-40B4-BE49-F238E27FC236}">
                <a16:creationId xmlns:a16="http://schemas.microsoft.com/office/drawing/2014/main" id="{EB7D408E-42DE-DA97-39F2-B585F8E157A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822E9DB3-B069-4244-BBE4-719D070623DC}" type="slidenum">
              <a:rPr lang="en-GB" altLang="en-US"/>
              <a:pPr>
                <a:spcBef>
                  <a:spcPct val="0"/>
                </a:spcBef>
              </a:pPr>
              <a:t>28</a:t>
            </a:fld>
            <a:endParaRPr lang="en-GB" altLang="en-US"/>
          </a:p>
        </p:txBody>
      </p:sp>
      <p:sp>
        <p:nvSpPr>
          <p:cNvPr id="61443" name="Rectangle 2">
            <a:extLst>
              <a:ext uri="{FF2B5EF4-FFF2-40B4-BE49-F238E27FC236}">
                <a16:creationId xmlns:a16="http://schemas.microsoft.com/office/drawing/2014/main" id="{121F5FEF-954A-800B-4D63-D0C25502F09B}"/>
              </a:ext>
            </a:extLst>
          </p:cNvPr>
          <p:cNvSpPr>
            <a:spLocks noRot="1" noChangeArrowheads="1" noTextEdit="1"/>
          </p:cNvSpPr>
          <p:nvPr>
            <p:ph type="sldImg"/>
          </p:nvPr>
        </p:nvSpPr>
        <p:spPr>
          <a:ln/>
        </p:spPr>
      </p:sp>
      <p:sp>
        <p:nvSpPr>
          <p:cNvPr id="61444" name="Rectangle 3">
            <a:extLst>
              <a:ext uri="{FF2B5EF4-FFF2-40B4-BE49-F238E27FC236}">
                <a16:creationId xmlns:a16="http://schemas.microsoft.com/office/drawing/2014/main" id="{4024AA64-E184-110B-A692-8AD7943F163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Rectangle 7">
            <a:extLst>
              <a:ext uri="{FF2B5EF4-FFF2-40B4-BE49-F238E27FC236}">
                <a16:creationId xmlns:a16="http://schemas.microsoft.com/office/drawing/2014/main" id="{7007C72C-56D6-75CD-55E7-166B43D0B546}"/>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9002D6C5-F21A-CB4F-BFE4-9E76BAAEFC41}" type="slidenum">
              <a:rPr lang="en-GB" altLang="en-US"/>
              <a:pPr>
                <a:spcBef>
                  <a:spcPct val="0"/>
                </a:spcBef>
              </a:pPr>
              <a:t>29</a:t>
            </a:fld>
            <a:endParaRPr lang="en-GB" altLang="en-US"/>
          </a:p>
        </p:txBody>
      </p:sp>
      <p:sp>
        <p:nvSpPr>
          <p:cNvPr id="63491" name="Rectangle 2">
            <a:extLst>
              <a:ext uri="{FF2B5EF4-FFF2-40B4-BE49-F238E27FC236}">
                <a16:creationId xmlns:a16="http://schemas.microsoft.com/office/drawing/2014/main" id="{01E07C0E-C2F2-288B-F840-807E506ED93A}"/>
              </a:ext>
            </a:extLst>
          </p:cNvPr>
          <p:cNvSpPr>
            <a:spLocks noRot="1" noChangeArrowheads="1" noTextEdit="1"/>
          </p:cNvSpPr>
          <p:nvPr>
            <p:ph type="sldImg"/>
          </p:nvPr>
        </p:nvSpPr>
        <p:spPr>
          <a:ln/>
        </p:spPr>
      </p:sp>
      <p:sp>
        <p:nvSpPr>
          <p:cNvPr id="63492" name="Rectangle 3">
            <a:extLst>
              <a:ext uri="{FF2B5EF4-FFF2-40B4-BE49-F238E27FC236}">
                <a16:creationId xmlns:a16="http://schemas.microsoft.com/office/drawing/2014/main" id="{7C93BC32-9377-1EBF-2211-FF67AB4AE65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7">
            <a:extLst>
              <a:ext uri="{FF2B5EF4-FFF2-40B4-BE49-F238E27FC236}">
                <a16:creationId xmlns:a16="http://schemas.microsoft.com/office/drawing/2014/main" id="{94B02DD6-3778-A84E-7BAC-4E34BAF345E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FF8793B7-86A9-AE4A-8716-16D92BBCF4CD}" type="slidenum">
              <a:rPr lang="en-GB" altLang="en-US"/>
              <a:pPr>
                <a:spcBef>
                  <a:spcPct val="0"/>
                </a:spcBef>
              </a:pPr>
              <a:t>31</a:t>
            </a:fld>
            <a:endParaRPr lang="en-GB" altLang="en-US"/>
          </a:p>
        </p:txBody>
      </p:sp>
      <p:sp>
        <p:nvSpPr>
          <p:cNvPr id="66563" name="Rectangle 2">
            <a:extLst>
              <a:ext uri="{FF2B5EF4-FFF2-40B4-BE49-F238E27FC236}">
                <a16:creationId xmlns:a16="http://schemas.microsoft.com/office/drawing/2014/main" id="{F3BF3256-6408-DF84-78BC-2B29684F5031}"/>
              </a:ext>
            </a:extLst>
          </p:cNvPr>
          <p:cNvSpPr>
            <a:spLocks noRot="1" noChangeArrowheads="1" noTextEdit="1"/>
          </p:cNvSpPr>
          <p:nvPr>
            <p:ph type="sldImg"/>
          </p:nvPr>
        </p:nvSpPr>
        <p:spPr>
          <a:ln/>
        </p:spPr>
      </p:sp>
      <p:sp>
        <p:nvSpPr>
          <p:cNvPr id="66564" name="Rectangle 3">
            <a:extLst>
              <a:ext uri="{FF2B5EF4-FFF2-40B4-BE49-F238E27FC236}">
                <a16:creationId xmlns:a16="http://schemas.microsoft.com/office/drawing/2014/main" id="{C9A2A452-FFE9-4AD5-5E20-8CE353BCAF54}"/>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Rectangle 7">
            <a:extLst>
              <a:ext uri="{FF2B5EF4-FFF2-40B4-BE49-F238E27FC236}">
                <a16:creationId xmlns:a16="http://schemas.microsoft.com/office/drawing/2014/main" id="{7D288CAB-886A-FE2C-35E3-300AB45151DA}"/>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16E5DC5F-C280-1443-8855-351AD03EB1EF}" type="slidenum">
              <a:rPr lang="en-GB" altLang="en-US"/>
              <a:pPr>
                <a:spcBef>
                  <a:spcPct val="0"/>
                </a:spcBef>
              </a:pPr>
              <a:t>32</a:t>
            </a:fld>
            <a:endParaRPr lang="en-GB" altLang="en-US"/>
          </a:p>
        </p:txBody>
      </p:sp>
      <p:sp>
        <p:nvSpPr>
          <p:cNvPr id="68611" name="Rectangle 2">
            <a:extLst>
              <a:ext uri="{FF2B5EF4-FFF2-40B4-BE49-F238E27FC236}">
                <a16:creationId xmlns:a16="http://schemas.microsoft.com/office/drawing/2014/main" id="{0C46BBD2-D3F6-46A4-D140-8A26917A0F16}"/>
              </a:ext>
            </a:extLst>
          </p:cNvPr>
          <p:cNvSpPr>
            <a:spLocks noRot="1" noChangeArrowheads="1" noTextEdit="1"/>
          </p:cNvSpPr>
          <p:nvPr>
            <p:ph type="sldImg"/>
          </p:nvPr>
        </p:nvSpPr>
        <p:spPr>
          <a:ln/>
        </p:spPr>
      </p:sp>
      <p:sp>
        <p:nvSpPr>
          <p:cNvPr id="68612" name="Rectangle 3">
            <a:extLst>
              <a:ext uri="{FF2B5EF4-FFF2-40B4-BE49-F238E27FC236}">
                <a16:creationId xmlns:a16="http://schemas.microsoft.com/office/drawing/2014/main" id="{0A4CDC59-A9DA-A8EA-3EE6-FA4E6D8A1F40}"/>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Rectangle 7">
            <a:extLst>
              <a:ext uri="{FF2B5EF4-FFF2-40B4-BE49-F238E27FC236}">
                <a16:creationId xmlns:a16="http://schemas.microsoft.com/office/drawing/2014/main" id="{E457620E-90E0-EEEF-228D-E74E3DE03970}"/>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ED0C3A3-4446-7C4C-92AF-EA8DD2AB8540}" type="slidenum">
              <a:rPr lang="en-GB" altLang="en-US"/>
              <a:pPr>
                <a:spcBef>
                  <a:spcPct val="0"/>
                </a:spcBef>
              </a:pPr>
              <a:t>33</a:t>
            </a:fld>
            <a:endParaRPr lang="en-GB" altLang="en-US"/>
          </a:p>
        </p:txBody>
      </p:sp>
      <p:sp>
        <p:nvSpPr>
          <p:cNvPr id="70659" name="Rectangle 2">
            <a:extLst>
              <a:ext uri="{FF2B5EF4-FFF2-40B4-BE49-F238E27FC236}">
                <a16:creationId xmlns:a16="http://schemas.microsoft.com/office/drawing/2014/main" id="{57D0BA09-58C0-8E68-791F-8862DD8C314B}"/>
              </a:ext>
            </a:extLst>
          </p:cNvPr>
          <p:cNvSpPr>
            <a:spLocks noRot="1" noChangeArrowheads="1" noTextEdit="1"/>
          </p:cNvSpPr>
          <p:nvPr>
            <p:ph type="sldImg"/>
          </p:nvPr>
        </p:nvSpPr>
        <p:spPr>
          <a:ln/>
        </p:spPr>
      </p:sp>
      <p:sp>
        <p:nvSpPr>
          <p:cNvPr id="70660" name="Rectangle 3">
            <a:extLst>
              <a:ext uri="{FF2B5EF4-FFF2-40B4-BE49-F238E27FC236}">
                <a16:creationId xmlns:a16="http://schemas.microsoft.com/office/drawing/2014/main" id="{1EE6516C-67A7-09E8-E825-54837CDDE848}"/>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Slide Image Placeholder 1">
            <a:extLst>
              <a:ext uri="{FF2B5EF4-FFF2-40B4-BE49-F238E27FC236}">
                <a16:creationId xmlns:a16="http://schemas.microsoft.com/office/drawing/2014/main" id="{53114D46-CAD3-79A6-3AB6-D122E4F6B71B}"/>
              </a:ext>
            </a:extLst>
          </p:cNvPr>
          <p:cNvSpPr>
            <a:spLocks noGrp="1" noRot="1" noChangeAspect="1" noTextEdit="1"/>
          </p:cNvSpPr>
          <p:nvPr>
            <p:ph type="sldImg"/>
          </p:nvPr>
        </p:nvSpPr>
        <p:spPr>
          <a:ln/>
        </p:spPr>
      </p:sp>
      <p:sp>
        <p:nvSpPr>
          <p:cNvPr id="72707" name="Notes Placeholder 2">
            <a:extLst>
              <a:ext uri="{FF2B5EF4-FFF2-40B4-BE49-F238E27FC236}">
                <a16:creationId xmlns:a16="http://schemas.microsoft.com/office/drawing/2014/main" id="{C386452D-23DD-5B0D-09AE-767572CABB9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72708" name="Slide Number Placeholder 3">
            <a:extLst>
              <a:ext uri="{FF2B5EF4-FFF2-40B4-BE49-F238E27FC236}">
                <a16:creationId xmlns:a16="http://schemas.microsoft.com/office/drawing/2014/main" id="{14B230F0-B0A2-0655-5AC7-750DFCDD62AC}"/>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7D05144-45D0-6B4A-A450-6332D647887D}" type="slidenum">
              <a:rPr lang="en-GB" altLang="en-US"/>
              <a:pPr>
                <a:spcBef>
                  <a:spcPct val="0"/>
                </a:spcBef>
              </a:pPr>
              <a:t>34</a:t>
            </a:fld>
            <a:endParaRPr lang="en-GB" alt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Rectangle 7">
            <a:extLst>
              <a:ext uri="{FF2B5EF4-FFF2-40B4-BE49-F238E27FC236}">
                <a16:creationId xmlns:a16="http://schemas.microsoft.com/office/drawing/2014/main" id="{49F40983-CFF0-ED07-1AD8-7E316367BFB2}"/>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0BB138AE-4395-1D4F-8860-B03BC6EC6C73}" type="slidenum">
              <a:rPr lang="en-GB" altLang="en-US"/>
              <a:pPr>
                <a:spcBef>
                  <a:spcPct val="0"/>
                </a:spcBef>
              </a:pPr>
              <a:t>36</a:t>
            </a:fld>
            <a:endParaRPr lang="en-GB" altLang="en-US"/>
          </a:p>
        </p:txBody>
      </p:sp>
      <p:sp>
        <p:nvSpPr>
          <p:cNvPr id="75779" name="Rectangle 2">
            <a:extLst>
              <a:ext uri="{FF2B5EF4-FFF2-40B4-BE49-F238E27FC236}">
                <a16:creationId xmlns:a16="http://schemas.microsoft.com/office/drawing/2014/main" id="{FD343D6C-0DE1-288C-793E-56601554C5BE}"/>
              </a:ext>
            </a:extLst>
          </p:cNvPr>
          <p:cNvSpPr>
            <a:spLocks noRot="1" noChangeArrowheads="1" noTextEdit="1"/>
          </p:cNvSpPr>
          <p:nvPr>
            <p:ph type="sldImg"/>
          </p:nvPr>
        </p:nvSpPr>
        <p:spPr>
          <a:ln/>
        </p:spPr>
      </p:sp>
      <p:sp>
        <p:nvSpPr>
          <p:cNvPr id="75780" name="Rectangle 3">
            <a:extLst>
              <a:ext uri="{FF2B5EF4-FFF2-40B4-BE49-F238E27FC236}">
                <a16:creationId xmlns:a16="http://schemas.microsoft.com/office/drawing/2014/main" id="{FAE6E2D9-C077-39A4-9A1B-44A4C8E38085}"/>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Rectangle 7">
            <a:extLst>
              <a:ext uri="{FF2B5EF4-FFF2-40B4-BE49-F238E27FC236}">
                <a16:creationId xmlns:a16="http://schemas.microsoft.com/office/drawing/2014/main" id="{E5A13189-21D2-31CB-789F-F46406A119B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A8FA42D2-2050-6342-9DD3-E3E12FB64A61}" type="slidenum">
              <a:rPr lang="en-GB" altLang="en-US"/>
              <a:pPr>
                <a:spcBef>
                  <a:spcPct val="0"/>
                </a:spcBef>
              </a:pPr>
              <a:t>37</a:t>
            </a:fld>
            <a:endParaRPr lang="en-GB" altLang="en-US"/>
          </a:p>
        </p:txBody>
      </p:sp>
      <p:sp>
        <p:nvSpPr>
          <p:cNvPr id="77827" name="Rectangle 2">
            <a:extLst>
              <a:ext uri="{FF2B5EF4-FFF2-40B4-BE49-F238E27FC236}">
                <a16:creationId xmlns:a16="http://schemas.microsoft.com/office/drawing/2014/main" id="{381CAE53-29C6-AC10-B0DE-EB866315EF3B}"/>
              </a:ext>
            </a:extLst>
          </p:cNvPr>
          <p:cNvSpPr>
            <a:spLocks noRot="1" noChangeArrowheads="1" noTextEdit="1"/>
          </p:cNvSpPr>
          <p:nvPr>
            <p:ph type="sldImg"/>
          </p:nvPr>
        </p:nvSpPr>
        <p:spPr>
          <a:ln/>
        </p:spPr>
      </p:sp>
      <p:sp>
        <p:nvSpPr>
          <p:cNvPr id="77828" name="Rectangle 3">
            <a:extLst>
              <a:ext uri="{FF2B5EF4-FFF2-40B4-BE49-F238E27FC236}">
                <a16:creationId xmlns:a16="http://schemas.microsoft.com/office/drawing/2014/main" id="{D85EFE5A-FB28-E1A2-57D6-9B624F572286}"/>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Rectangle 7">
            <a:extLst>
              <a:ext uri="{FF2B5EF4-FFF2-40B4-BE49-F238E27FC236}">
                <a16:creationId xmlns:a16="http://schemas.microsoft.com/office/drawing/2014/main" id="{D1ADAFB2-FED7-2F0A-3B50-BA885473C913}"/>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96AD6DA-3D84-0C4F-9EF5-0130B9159EC1}" type="slidenum">
              <a:rPr lang="en-GB" altLang="en-US"/>
              <a:pPr>
                <a:spcBef>
                  <a:spcPct val="0"/>
                </a:spcBef>
              </a:pPr>
              <a:t>38</a:t>
            </a:fld>
            <a:endParaRPr lang="en-GB" altLang="en-US"/>
          </a:p>
        </p:txBody>
      </p:sp>
      <p:sp>
        <p:nvSpPr>
          <p:cNvPr id="79875" name="Rectangle 2">
            <a:extLst>
              <a:ext uri="{FF2B5EF4-FFF2-40B4-BE49-F238E27FC236}">
                <a16:creationId xmlns:a16="http://schemas.microsoft.com/office/drawing/2014/main" id="{1835129B-EDBF-CD1C-C1E9-BA66196892D2}"/>
              </a:ext>
            </a:extLst>
          </p:cNvPr>
          <p:cNvSpPr>
            <a:spLocks noRot="1" noChangeArrowheads="1" noTextEdit="1"/>
          </p:cNvSpPr>
          <p:nvPr>
            <p:ph type="sldImg"/>
          </p:nvPr>
        </p:nvSpPr>
        <p:spPr>
          <a:ln/>
        </p:spPr>
      </p:sp>
      <p:sp>
        <p:nvSpPr>
          <p:cNvPr id="79876" name="Rectangle 3">
            <a:extLst>
              <a:ext uri="{FF2B5EF4-FFF2-40B4-BE49-F238E27FC236}">
                <a16:creationId xmlns:a16="http://schemas.microsoft.com/office/drawing/2014/main" id="{78AB0C5D-FDD1-C31D-B4CA-644F155F792A}"/>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cs typeface="Arial" panose="020B0604020202020204" pitchFamily="34" charset="0"/>
              </a:rPr>
              <a:t>8 nucleotides away on the 5’ side</a:t>
            </a:r>
          </a:p>
          <a:p>
            <a:pPr eaLnBrk="1" hangingPunct="1"/>
            <a:r>
              <a:rPr lang="en-US" altLang="en-US">
                <a:latin typeface="Arial" panose="020B0604020202020204" pitchFamily="34" charset="0"/>
                <a:cs typeface="Arial" panose="020B0604020202020204" pitchFamily="34" charset="0"/>
              </a:rPr>
              <a:t>4-5 nucleotides away on the 3’ side </a:t>
            </a:r>
          </a:p>
          <a:p>
            <a:pPr eaLnBrk="1" hangingPunct="1"/>
            <a:r>
              <a:rPr lang="en-US" altLang="en-US">
                <a:latin typeface="Arial" panose="020B0604020202020204" pitchFamily="34" charset="0"/>
                <a:cs typeface="Arial" panose="020B0604020202020204" pitchFamily="34" charset="0"/>
              </a:rPr>
              <a:t>12-13 nucleotide long</a:t>
            </a:r>
          </a:p>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a:extLst>
              <a:ext uri="{FF2B5EF4-FFF2-40B4-BE49-F238E27FC236}">
                <a16:creationId xmlns:a16="http://schemas.microsoft.com/office/drawing/2014/main" id="{BE152150-EF75-1718-C698-799875F2013E}"/>
              </a:ext>
            </a:extLst>
          </p:cNvPr>
          <p:cNvSpPr>
            <a:spLocks noGrp="1" noRot="1" noChangeAspect="1" noTextEdit="1"/>
          </p:cNvSpPr>
          <p:nvPr>
            <p:ph type="sldImg"/>
          </p:nvPr>
        </p:nvSpPr>
        <p:spPr>
          <a:ln/>
        </p:spPr>
      </p:sp>
      <p:sp>
        <p:nvSpPr>
          <p:cNvPr id="81923" name="Notes Placeholder 2">
            <a:extLst>
              <a:ext uri="{FF2B5EF4-FFF2-40B4-BE49-F238E27FC236}">
                <a16:creationId xmlns:a16="http://schemas.microsoft.com/office/drawing/2014/main" id="{900B5075-553A-F475-F659-F6B0E242E1D2}"/>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81924" name="Slide Number Placeholder 3">
            <a:extLst>
              <a:ext uri="{FF2B5EF4-FFF2-40B4-BE49-F238E27FC236}">
                <a16:creationId xmlns:a16="http://schemas.microsoft.com/office/drawing/2014/main" id="{FEC9E597-892F-E489-03A4-048280462456}"/>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8A5AD48-5F2E-0B4D-8D2A-59BC06D13B20}" type="slidenum">
              <a:rPr lang="en-GB" altLang="en-US"/>
              <a:pPr>
                <a:spcBef>
                  <a:spcPct val="0"/>
                </a:spcBef>
              </a:pPr>
              <a:t>39</a:t>
            </a:fld>
            <a:endParaRPr lang="en-GB" alt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Rectangle 7">
            <a:extLst>
              <a:ext uri="{FF2B5EF4-FFF2-40B4-BE49-F238E27FC236}">
                <a16:creationId xmlns:a16="http://schemas.microsoft.com/office/drawing/2014/main" id="{9568A357-8625-3D6A-9024-8F82B303D818}"/>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D31DB83C-308D-1245-8B37-68DEDBE36615}" type="slidenum">
              <a:rPr lang="en-GB" altLang="en-US"/>
              <a:pPr>
                <a:spcBef>
                  <a:spcPct val="0"/>
                </a:spcBef>
              </a:pPr>
              <a:t>40</a:t>
            </a:fld>
            <a:endParaRPr lang="en-GB" altLang="en-US"/>
          </a:p>
        </p:txBody>
      </p:sp>
      <p:sp>
        <p:nvSpPr>
          <p:cNvPr id="83971" name="Rectangle 2">
            <a:extLst>
              <a:ext uri="{FF2B5EF4-FFF2-40B4-BE49-F238E27FC236}">
                <a16:creationId xmlns:a16="http://schemas.microsoft.com/office/drawing/2014/main" id="{800B490A-5D92-3BAB-7721-48E695A46DDE}"/>
              </a:ext>
            </a:extLst>
          </p:cNvPr>
          <p:cNvSpPr>
            <a:spLocks noRot="1" noChangeArrowheads="1" noTextEdit="1"/>
          </p:cNvSpPr>
          <p:nvPr>
            <p:ph type="sldImg"/>
          </p:nvPr>
        </p:nvSpPr>
        <p:spPr>
          <a:ln/>
        </p:spPr>
      </p:sp>
      <p:sp>
        <p:nvSpPr>
          <p:cNvPr id="83972" name="Rectangle 3">
            <a:extLst>
              <a:ext uri="{FF2B5EF4-FFF2-40B4-BE49-F238E27FC236}">
                <a16:creationId xmlns:a16="http://schemas.microsoft.com/office/drawing/2014/main" id="{300E1843-4863-97B7-E89F-1D2C123DE3C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7">
            <a:extLst>
              <a:ext uri="{FF2B5EF4-FFF2-40B4-BE49-F238E27FC236}">
                <a16:creationId xmlns:a16="http://schemas.microsoft.com/office/drawing/2014/main" id="{A0985CEF-08B8-B9CB-8EB4-F1058B241257}"/>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BA740B1C-2067-BE47-A1D0-1DF7BC88A9FE}" type="slidenum">
              <a:rPr lang="en-GB" altLang="en-US"/>
              <a:pPr>
                <a:spcBef>
                  <a:spcPct val="0"/>
                </a:spcBef>
              </a:pPr>
              <a:t>42</a:t>
            </a:fld>
            <a:endParaRPr lang="en-GB" altLang="en-US"/>
          </a:p>
        </p:txBody>
      </p:sp>
      <p:sp>
        <p:nvSpPr>
          <p:cNvPr id="87043" name="Rectangle 2">
            <a:extLst>
              <a:ext uri="{FF2B5EF4-FFF2-40B4-BE49-F238E27FC236}">
                <a16:creationId xmlns:a16="http://schemas.microsoft.com/office/drawing/2014/main" id="{F884F7A2-4030-1284-ECA4-75C15195DC3B}"/>
              </a:ext>
            </a:extLst>
          </p:cNvPr>
          <p:cNvSpPr>
            <a:spLocks noRot="1" noChangeArrowheads="1" noTextEdit="1"/>
          </p:cNvSpPr>
          <p:nvPr>
            <p:ph type="sldImg"/>
          </p:nvPr>
        </p:nvSpPr>
        <p:spPr>
          <a:ln/>
        </p:spPr>
      </p:sp>
      <p:sp>
        <p:nvSpPr>
          <p:cNvPr id="87044" name="Rectangle 3">
            <a:extLst>
              <a:ext uri="{FF2B5EF4-FFF2-40B4-BE49-F238E27FC236}">
                <a16:creationId xmlns:a16="http://schemas.microsoft.com/office/drawing/2014/main" id="{BBC7F339-3068-CD06-D501-5DA351F7E5C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Rectangle 7">
            <a:extLst>
              <a:ext uri="{FF2B5EF4-FFF2-40B4-BE49-F238E27FC236}">
                <a16:creationId xmlns:a16="http://schemas.microsoft.com/office/drawing/2014/main" id="{B8D01DC7-907D-1297-B74A-4E978374F565}"/>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360E82B7-F048-F046-9871-47938622EA99}" type="slidenum">
              <a:rPr lang="en-GB" altLang="en-US"/>
              <a:pPr>
                <a:spcBef>
                  <a:spcPct val="0"/>
                </a:spcBef>
              </a:pPr>
              <a:t>43</a:t>
            </a:fld>
            <a:endParaRPr lang="en-GB" altLang="en-US"/>
          </a:p>
        </p:txBody>
      </p:sp>
      <p:sp>
        <p:nvSpPr>
          <p:cNvPr id="89091" name="Rectangle 2">
            <a:extLst>
              <a:ext uri="{FF2B5EF4-FFF2-40B4-BE49-F238E27FC236}">
                <a16:creationId xmlns:a16="http://schemas.microsoft.com/office/drawing/2014/main" id="{27D3065D-18A7-E298-B531-71263FFA07F6}"/>
              </a:ext>
            </a:extLst>
          </p:cNvPr>
          <p:cNvSpPr>
            <a:spLocks noRot="1" noChangeArrowheads="1" noTextEdit="1"/>
          </p:cNvSpPr>
          <p:nvPr>
            <p:ph type="sldImg"/>
          </p:nvPr>
        </p:nvSpPr>
        <p:spPr>
          <a:ln/>
        </p:spPr>
      </p:sp>
      <p:sp>
        <p:nvSpPr>
          <p:cNvPr id="89092" name="Rectangle 3">
            <a:extLst>
              <a:ext uri="{FF2B5EF4-FFF2-40B4-BE49-F238E27FC236}">
                <a16:creationId xmlns:a16="http://schemas.microsoft.com/office/drawing/2014/main" id="{57C09AF9-5021-C759-AA40-99608D48AF4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Rectangle 7">
            <a:extLst>
              <a:ext uri="{FF2B5EF4-FFF2-40B4-BE49-F238E27FC236}">
                <a16:creationId xmlns:a16="http://schemas.microsoft.com/office/drawing/2014/main" id="{3748E914-40FC-05E8-91B3-225DA978FD44}"/>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6BAC7905-44B7-4348-A25F-825B837D4A61}" type="slidenum">
              <a:rPr lang="en-GB" altLang="en-US"/>
              <a:pPr>
                <a:spcBef>
                  <a:spcPct val="0"/>
                </a:spcBef>
              </a:pPr>
              <a:t>44</a:t>
            </a:fld>
            <a:endParaRPr lang="en-GB" altLang="en-US"/>
          </a:p>
        </p:txBody>
      </p:sp>
      <p:sp>
        <p:nvSpPr>
          <p:cNvPr id="91139" name="Rectangle 2">
            <a:extLst>
              <a:ext uri="{FF2B5EF4-FFF2-40B4-BE49-F238E27FC236}">
                <a16:creationId xmlns:a16="http://schemas.microsoft.com/office/drawing/2014/main" id="{C8597A03-961A-D947-13E5-4F6B3565CC5B}"/>
              </a:ext>
            </a:extLst>
          </p:cNvPr>
          <p:cNvSpPr>
            <a:spLocks noRot="1" noChangeArrowheads="1" noTextEdit="1"/>
          </p:cNvSpPr>
          <p:nvPr>
            <p:ph type="sldImg"/>
          </p:nvPr>
        </p:nvSpPr>
        <p:spPr>
          <a:ln/>
        </p:spPr>
      </p:sp>
      <p:sp>
        <p:nvSpPr>
          <p:cNvPr id="91140" name="Rectangle 3">
            <a:extLst>
              <a:ext uri="{FF2B5EF4-FFF2-40B4-BE49-F238E27FC236}">
                <a16:creationId xmlns:a16="http://schemas.microsoft.com/office/drawing/2014/main" id="{BB8FB62E-DC91-BB9D-EAD3-3F0D299D1B23}"/>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Rectangle 7">
            <a:extLst>
              <a:ext uri="{FF2B5EF4-FFF2-40B4-BE49-F238E27FC236}">
                <a16:creationId xmlns:a16="http://schemas.microsoft.com/office/drawing/2014/main" id="{B10A3A3F-4845-C04D-E544-1EDA183BBF3F}"/>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74E625A5-1F6F-3549-8C52-216A628A4B1B}" type="slidenum">
              <a:rPr lang="en-GB" altLang="en-US"/>
              <a:pPr>
                <a:spcBef>
                  <a:spcPct val="0"/>
                </a:spcBef>
              </a:pPr>
              <a:t>45</a:t>
            </a:fld>
            <a:endParaRPr lang="en-GB" altLang="en-US"/>
          </a:p>
        </p:txBody>
      </p:sp>
      <p:sp>
        <p:nvSpPr>
          <p:cNvPr id="93187" name="Rectangle 2">
            <a:extLst>
              <a:ext uri="{FF2B5EF4-FFF2-40B4-BE49-F238E27FC236}">
                <a16:creationId xmlns:a16="http://schemas.microsoft.com/office/drawing/2014/main" id="{1A1F66C4-1134-92B0-FD17-B9D5FEC33760}"/>
              </a:ext>
            </a:extLst>
          </p:cNvPr>
          <p:cNvSpPr>
            <a:spLocks noRot="1" noChangeArrowheads="1" noTextEdit="1"/>
          </p:cNvSpPr>
          <p:nvPr>
            <p:ph type="sldImg"/>
          </p:nvPr>
        </p:nvSpPr>
        <p:spPr>
          <a:ln/>
        </p:spPr>
      </p:sp>
      <p:sp>
        <p:nvSpPr>
          <p:cNvPr id="93188" name="Rectangle 3">
            <a:extLst>
              <a:ext uri="{FF2B5EF4-FFF2-40B4-BE49-F238E27FC236}">
                <a16:creationId xmlns:a16="http://schemas.microsoft.com/office/drawing/2014/main" id="{C16589A3-61EC-EE15-759C-DA1F9C834CAD}"/>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4" name="Rectangle 7">
            <a:extLst>
              <a:ext uri="{FF2B5EF4-FFF2-40B4-BE49-F238E27FC236}">
                <a16:creationId xmlns:a16="http://schemas.microsoft.com/office/drawing/2014/main" id="{F857A299-B5FA-9F29-C435-B01B70E65DAC}"/>
              </a:ext>
            </a:extLst>
          </p:cNvPr>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20156155-1B75-AC44-AACA-3C399AF0660F}" type="slidenum">
              <a:rPr lang="en-GB" altLang="en-US"/>
              <a:pPr>
                <a:spcBef>
                  <a:spcPct val="0"/>
                </a:spcBef>
              </a:pPr>
              <a:t>46</a:t>
            </a:fld>
            <a:endParaRPr lang="en-GB" altLang="en-US"/>
          </a:p>
        </p:txBody>
      </p:sp>
      <p:sp>
        <p:nvSpPr>
          <p:cNvPr id="95235" name="Rectangle 2">
            <a:extLst>
              <a:ext uri="{FF2B5EF4-FFF2-40B4-BE49-F238E27FC236}">
                <a16:creationId xmlns:a16="http://schemas.microsoft.com/office/drawing/2014/main" id="{56115CA7-E5E0-F351-D919-281F566D722B}"/>
              </a:ext>
            </a:extLst>
          </p:cNvPr>
          <p:cNvSpPr>
            <a:spLocks noRot="1" noChangeArrowheads="1" noTextEdit="1"/>
          </p:cNvSpPr>
          <p:nvPr>
            <p:ph type="sldImg"/>
          </p:nvPr>
        </p:nvSpPr>
        <p:spPr>
          <a:ln/>
        </p:spPr>
      </p:sp>
      <p:sp>
        <p:nvSpPr>
          <p:cNvPr id="95236" name="Rectangle 3">
            <a:extLst>
              <a:ext uri="{FF2B5EF4-FFF2-40B4-BE49-F238E27FC236}">
                <a16:creationId xmlns:a16="http://schemas.microsoft.com/office/drawing/2014/main" id="{20E5D1F5-6608-26B4-030D-66470974D8D2}"/>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cs typeface="Arial" panose="020B0604020202020204" pitchFamily="34" charset="0"/>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6" name="Rectangle 7">
            <a:extLst>
              <a:ext uri="{FF2B5EF4-FFF2-40B4-BE49-F238E27FC236}">
                <a16:creationId xmlns:a16="http://schemas.microsoft.com/office/drawing/2014/main" id="{B913FC9D-3A03-C0DA-E79F-BAA50B221C8B}"/>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9F898FFA-1CF8-BD4B-8390-F6309FC85AE9}" type="slidenum">
              <a:rPr lang="en-US" altLang="en-US">
                <a:latin typeface="Times" charset="0"/>
                <a:ea typeface="ＭＳ Ｐゴシック" panose="020B0600070205080204" pitchFamily="34" charset="-128"/>
              </a:rPr>
              <a:pPr algn="r" eaLnBrk="1" hangingPunct="1">
                <a:spcBef>
                  <a:spcPct val="0"/>
                </a:spcBef>
              </a:pPr>
              <a:t>48</a:t>
            </a:fld>
            <a:endParaRPr lang="en-US" altLang="en-US">
              <a:latin typeface="Times" charset="0"/>
              <a:ea typeface="ＭＳ Ｐゴシック" panose="020B0600070205080204" pitchFamily="34" charset="-128"/>
            </a:endParaRPr>
          </a:p>
        </p:txBody>
      </p:sp>
      <p:sp>
        <p:nvSpPr>
          <p:cNvPr id="98307" name="Rectangle 2">
            <a:extLst>
              <a:ext uri="{FF2B5EF4-FFF2-40B4-BE49-F238E27FC236}">
                <a16:creationId xmlns:a16="http://schemas.microsoft.com/office/drawing/2014/main" id="{BBE5DFF9-CF98-ECB6-97D3-BE2963F542A7}"/>
              </a:ext>
            </a:extLst>
          </p:cNvPr>
          <p:cNvSpPr>
            <a:spLocks noChangeArrowheads="1" noTextEdit="1"/>
          </p:cNvSpPr>
          <p:nvPr>
            <p:ph type="sldImg"/>
          </p:nvPr>
        </p:nvSpPr>
        <p:spPr>
          <a:ln/>
        </p:spPr>
      </p:sp>
      <p:sp>
        <p:nvSpPr>
          <p:cNvPr id="98308" name="Rectangle 3">
            <a:extLst>
              <a:ext uri="{FF2B5EF4-FFF2-40B4-BE49-F238E27FC236}">
                <a16:creationId xmlns:a16="http://schemas.microsoft.com/office/drawing/2014/main" id="{032B61E2-0176-84CA-6F8B-390311D7E22C}"/>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Box 10-6</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Slide Image Placeholder 1">
            <a:extLst>
              <a:ext uri="{FF2B5EF4-FFF2-40B4-BE49-F238E27FC236}">
                <a16:creationId xmlns:a16="http://schemas.microsoft.com/office/drawing/2014/main" id="{48655FB1-3531-3E40-F1C0-EBA33B613B20}"/>
              </a:ext>
            </a:extLst>
          </p:cNvPr>
          <p:cNvSpPr>
            <a:spLocks noGrp="1" noRot="1" noChangeAspect="1" noTextEdit="1"/>
          </p:cNvSpPr>
          <p:nvPr>
            <p:ph type="sldImg"/>
          </p:nvPr>
        </p:nvSpPr>
        <p:spPr>
          <a:ln/>
        </p:spPr>
      </p:sp>
      <p:sp>
        <p:nvSpPr>
          <p:cNvPr id="101379" name="Notes Placeholder 2">
            <a:extLst>
              <a:ext uri="{FF2B5EF4-FFF2-40B4-BE49-F238E27FC236}">
                <a16:creationId xmlns:a16="http://schemas.microsoft.com/office/drawing/2014/main" id="{303806D0-181E-516E-ECBA-EA6C578CC97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1380" name="Slide Number Placeholder 3">
            <a:extLst>
              <a:ext uri="{FF2B5EF4-FFF2-40B4-BE49-F238E27FC236}">
                <a16:creationId xmlns:a16="http://schemas.microsoft.com/office/drawing/2014/main" id="{670B58AF-52BA-6C48-C29B-7B124B55E2E1}"/>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E559D705-840A-5741-92FE-7B172F2D8DE5}" type="slidenum">
              <a:rPr lang="en-GB" altLang="en-US"/>
              <a:pPr>
                <a:spcBef>
                  <a:spcPct val="0"/>
                </a:spcBef>
              </a:pPr>
              <a:t>50</a:t>
            </a:fld>
            <a:endParaRPr lang="en-GB"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Rectangle 7">
            <a:extLst>
              <a:ext uri="{FF2B5EF4-FFF2-40B4-BE49-F238E27FC236}">
                <a16:creationId xmlns:a16="http://schemas.microsoft.com/office/drawing/2014/main" id="{B5AD314A-BFCD-0551-7671-E985734EE1ED}"/>
              </a:ext>
            </a:extLst>
          </p:cNvPr>
          <p:cNvSpPr txBox="1">
            <a:spLocks noGrp="1" noChangeArrowheads="1"/>
          </p:cNvSpPr>
          <p:nvPr/>
        </p:nvSpPr>
        <p:spPr bwMode="auto">
          <a:xfrm>
            <a:off x="3886200" y="8686800"/>
            <a:ext cx="2971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5400">
                <a:solidFill>
                  <a:srgbClr val="000000"/>
                </a:solidFill>
                <a:miter lim="800000"/>
                <a:headEnd/>
                <a:tailEnd/>
              </a14:hiddenLine>
            </a:ext>
          </a:extLst>
        </p:spPr>
        <p:txBody>
          <a:bodyPr anchor="b"/>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lgn="r" eaLnBrk="1" hangingPunct="1">
              <a:spcBef>
                <a:spcPct val="0"/>
              </a:spcBef>
            </a:pPr>
            <a:fld id="{CA83DC76-4013-2342-88D7-D929E79CBAEF}" type="slidenum">
              <a:rPr lang="en-US" altLang="en-US">
                <a:latin typeface="Times" charset="0"/>
                <a:ea typeface="ＭＳ Ｐゴシック" panose="020B0600070205080204" pitchFamily="34" charset="-128"/>
              </a:rPr>
              <a:pPr algn="r" eaLnBrk="1" hangingPunct="1">
                <a:spcBef>
                  <a:spcPct val="0"/>
                </a:spcBef>
              </a:pPr>
              <a:t>51</a:t>
            </a:fld>
            <a:endParaRPr lang="en-US" altLang="en-US">
              <a:latin typeface="Times" charset="0"/>
              <a:ea typeface="ＭＳ Ｐゴシック" panose="020B0600070205080204" pitchFamily="34" charset="-128"/>
            </a:endParaRPr>
          </a:p>
        </p:txBody>
      </p:sp>
      <p:sp>
        <p:nvSpPr>
          <p:cNvPr id="103427" name="Rectangle 2">
            <a:extLst>
              <a:ext uri="{FF2B5EF4-FFF2-40B4-BE49-F238E27FC236}">
                <a16:creationId xmlns:a16="http://schemas.microsoft.com/office/drawing/2014/main" id="{C5476300-431E-9FDC-8DEE-E58B835ABBFD}"/>
              </a:ext>
            </a:extLst>
          </p:cNvPr>
          <p:cNvSpPr>
            <a:spLocks noChangeArrowheads="1" noTextEdit="1"/>
          </p:cNvSpPr>
          <p:nvPr>
            <p:ph type="sldImg"/>
          </p:nvPr>
        </p:nvSpPr>
        <p:spPr>
          <a:ln/>
        </p:spPr>
      </p:sp>
      <p:sp>
        <p:nvSpPr>
          <p:cNvPr id="103428" name="Rectangle 3">
            <a:extLst>
              <a:ext uri="{FF2B5EF4-FFF2-40B4-BE49-F238E27FC236}">
                <a16:creationId xmlns:a16="http://schemas.microsoft.com/office/drawing/2014/main" id="{052B0854-28F4-3283-A333-2798E97A6A1F}"/>
              </a:ext>
            </a:extLst>
          </p:cNvPr>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US" altLang="en-US">
                <a:latin typeface="Times New Roman" panose="02020603050405020304" pitchFamily="18" charset="0"/>
                <a:cs typeface="Arial" panose="020B0604020202020204" pitchFamily="34" charset="0"/>
              </a:rPr>
              <a:t>Figure 10-23</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Slide Image Placeholder 1">
            <a:extLst>
              <a:ext uri="{FF2B5EF4-FFF2-40B4-BE49-F238E27FC236}">
                <a16:creationId xmlns:a16="http://schemas.microsoft.com/office/drawing/2014/main" id="{906A2271-BC04-3C41-142D-711C0E7C1350}"/>
              </a:ext>
            </a:extLst>
          </p:cNvPr>
          <p:cNvSpPr>
            <a:spLocks noGrp="1" noRot="1" noChangeAspect="1" noTextEdit="1"/>
          </p:cNvSpPr>
          <p:nvPr>
            <p:ph type="sldImg"/>
          </p:nvPr>
        </p:nvSpPr>
        <p:spPr>
          <a:ln/>
        </p:spPr>
      </p:sp>
      <p:sp>
        <p:nvSpPr>
          <p:cNvPr id="105475" name="Notes Placeholder 2">
            <a:extLst>
              <a:ext uri="{FF2B5EF4-FFF2-40B4-BE49-F238E27FC236}">
                <a16:creationId xmlns:a16="http://schemas.microsoft.com/office/drawing/2014/main" id="{BD9070AB-4024-D379-5A98-F5DD2AE7FBAC}"/>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latin typeface="Arial" panose="020B0604020202020204" pitchFamily="34" charset="0"/>
              <a:cs typeface="Arial" panose="020B0604020202020204" pitchFamily="34" charset="0"/>
            </a:endParaRPr>
          </a:p>
        </p:txBody>
      </p:sp>
      <p:sp>
        <p:nvSpPr>
          <p:cNvPr id="105476" name="Slide Number Placeholder 3">
            <a:extLst>
              <a:ext uri="{FF2B5EF4-FFF2-40B4-BE49-F238E27FC236}">
                <a16:creationId xmlns:a16="http://schemas.microsoft.com/office/drawing/2014/main" id="{20288AD4-D716-CCF7-7CD4-B84E2C574B6B}"/>
              </a:ext>
            </a:extLst>
          </p:cNvPr>
          <p:cNvSpPr>
            <a:spLocks noGrp="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Arial" panose="020B0604020202020204" pitchFamily="34" charset="0"/>
                <a:cs typeface="Arial" panose="020B0604020202020204" pitchFamily="34" charset="0"/>
              </a:defRPr>
            </a:lvl1pPr>
            <a:lvl2pPr marL="742950" indent="-285750">
              <a:spcBef>
                <a:spcPct val="30000"/>
              </a:spcBef>
              <a:defRPr sz="1200">
                <a:solidFill>
                  <a:schemeClr val="tx1"/>
                </a:solidFill>
                <a:latin typeface="Arial" panose="020B0604020202020204" pitchFamily="34" charset="0"/>
                <a:cs typeface="Arial" panose="020B0604020202020204" pitchFamily="34" charset="0"/>
              </a:defRPr>
            </a:lvl2pPr>
            <a:lvl3pPr marL="1143000" indent="-228600">
              <a:spcBef>
                <a:spcPct val="30000"/>
              </a:spcBef>
              <a:defRPr sz="1200">
                <a:solidFill>
                  <a:schemeClr val="tx1"/>
                </a:solidFill>
                <a:latin typeface="Arial" panose="020B0604020202020204" pitchFamily="34" charset="0"/>
                <a:cs typeface="Arial" panose="020B0604020202020204" pitchFamily="34" charset="0"/>
              </a:defRPr>
            </a:lvl3pPr>
            <a:lvl4pPr marL="1600200" indent="-228600">
              <a:spcBef>
                <a:spcPct val="30000"/>
              </a:spcBef>
              <a:defRPr sz="1200">
                <a:solidFill>
                  <a:schemeClr val="tx1"/>
                </a:solidFill>
                <a:latin typeface="Arial" panose="020B0604020202020204" pitchFamily="34" charset="0"/>
                <a:cs typeface="Arial" panose="020B0604020202020204" pitchFamily="34" charset="0"/>
              </a:defRPr>
            </a:lvl4pPr>
            <a:lvl5pPr marL="2057400" indent="-228600">
              <a:spcBef>
                <a:spcPct val="30000"/>
              </a:spcBef>
              <a:defRPr sz="12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30000"/>
              </a:spcBef>
              <a:spcAft>
                <a:spcPct val="0"/>
              </a:spcAft>
              <a:defRPr sz="1200">
                <a:solidFill>
                  <a:schemeClr val="tx1"/>
                </a:solidFill>
                <a:latin typeface="Arial" panose="020B0604020202020204" pitchFamily="34" charset="0"/>
                <a:cs typeface="Arial" panose="020B0604020202020204" pitchFamily="34" charset="0"/>
              </a:defRPr>
            </a:lvl9pPr>
          </a:lstStyle>
          <a:p>
            <a:pPr>
              <a:spcBef>
                <a:spcPct val="0"/>
              </a:spcBef>
            </a:pPr>
            <a:fld id="{5EC74400-7080-5741-BD4A-A27A754638EB}" type="slidenum">
              <a:rPr lang="en-GB" altLang="en-US"/>
              <a:pPr>
                <a:spcBef>
                  <a:spcPct val="0"/>
                </a:spcBef>
              </a:pPr>
              <a:t>52</a:t>
            </a:fld>
            <a:endParaRPr lang="en-GB"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A458F81F-899E-845B-828F-65D541C40EB7}"/>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51A05478-8E1C-3F7C-0AAF-89815109FF7E}"/>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DB5B5786-C476-D40C-57E5-8778F1DAE7B2}"/>
              </a:ext>
            </a:extLst>
          </p:cNvPr>
          <p:cNvSpPr>
            <a:spLocks noGrp="1"/>
          </p:cNvSpPr>
          <p:nvPr>
            <p:ph type="sldNum" sz="quarter" idx="12"/>
          </p:nvPr>
        </p:nvSpPr>
        <p:spPr/>
        <p:txBody>
          <a:bodyPr/>
          <a:lstStyle>
            <a:lvl1pPr>
              <a:defRPr/>
            </a:lvl1pPr>
          </a:lstStyle>
          <a:p>
            <a:fld id="{76BF0AA6-DF5B-DE4A-BD58-059AC532A8BF}" type="slidenum">
              <a:rPr lang="en-GB" altLang="en-US"/>
              <a:pPr/>
              <a:t>‹#›</a:t>
            </a:fld>
            <a:endParaRPr lang="en-GB" altLang="en-US"/>
          </a:p>
        </p:txBody>
      </p:sp>
    </p:spTree>
    <p:extLst>
      <p:ext uri="{BB962C8B-B14F-4D97-AF65-F5344CB8AC3E}">
        <p14:creationId xmlns:p14="http://schemas.microsoft.com/office/powerpoint/2010/main" val="1314473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43C2F5D-08A0-0FDB-B109-CF4FD0EEA639}"/>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15B48B61-24AD-F319-3BAA-8D688BA0EAFC}"/>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522555CF-2561-194E-D817-7384718ED166}"/>
              </a:ext>
            </a:extLst>
          </p:cNvPr>
          <p:cNvSpPr>
            <a:spLocks noGrp="1"/>
          </p:cNvSpPr>
          <p:nvPr>
            <p:ph type="sldNum" sz="quarter" idx="12"/>
          </p:nvPr>
        </p:nvSpPr>
        <p:spPr/>
        <p:txBody>
          <a:bodyPr/>
          <a:lstStyle>
            <a:lvl1pPr>
              <a:defRPr/>
            </a:lvl1pPr>
          </a:lstStyle>
          <a:p>
            <a:fld id="{89F16604-B6DE-D643-AD97-5C3283808DE2}" type="slidenum">
              <a:rPr lang="en-GB" altLang="en-US"/>
              <a:pPr/>
              <a:t>‹#›</a:t>
            </a:fld>
            <a:endParaRPr lang="en-GB" altLang="en-US"/>
          </a:p>
        </p:txBody>
      </p:sp>
    </p:spTree>
    <p:extLst>
      <p:ext uri="{BB962C8B-B14F-4D97-AF65-F5344CB8AC3E}">
        <p14:creationId xmlns:p14="http://schemas.microsoft.com/office/powerpoint/2010/main" val="23691292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63DEE205-B821-2A24-951A-8A4450970AB4}"/>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E73A5DD0-3030-3A40-1828-7BCD06B718B6}"/>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2A49F8B5-3E3D-308F-16F2-BD2887FC18D9}"/>
              </a:ext>
            </a:extLst>
          </p:cNvPr>
          <p:cNvSpPr>
            <a:spLocks noGrp="1"/>
          </p:cNvSpPr>
          <p:nvPr>
            <p:ph type="sldNum" sz="quarter" idx="12"/>
          </p:nvPr>
        </p:nvSpPr>
        <p:spPr/>
        <p:txBody>
          <a:bodyPr/>
          <a:lstStyle>
            <a:lvl1pPr>
              <a:defRPr/>
            </a:lvl1pPr>
          </a:lstStyle>
          <a:p>
            <a:fld id="{407B8985-02D6-7448-BB2C-88933CDABC89}" type="slidenum">
              <a:rPr lang="en-GB" altLang="en-US"/>
              <a:pPr/>
              <a:t>‹#›</a:t>
            </a:fld>
            <a:endParaRPr lang="en-GB" altLang="en-US"/>
          </a:p>
        </p:txBody>
      </p:sp>
    </p:spTree>
    <p:extLst>
      <p:ext uri="{BB962C8B-B14F-4D97-AF65-F5344CB8AC3E}">
        <p14:creationId xmlns:p14="http://schemas.microsoft.com/office/powerpoint/2010/main" val="400403229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3C237EA-43BC-05E0-D8A0-D2B495400E09}"/>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3D31A09F-5A3A-37E9-876F-413AE2238D2C}"/>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EB4454F2-B199-006A-5DC0-CA8E31CD5FA0}"/>
              </a:ext>
            </a:extLst>
          </p:cNvPr>
          <p:cNvSpPr>
            <a:spLocks noGrp="1"/>
          </p:cNvSpPr>
          <p:nvPr>
            <p:ph type="sldNum" sz="quarter" idx="12"/>
          </p:nvPr>
        </p:nvSpPr>
        <p:spPr/>
        <p:txBody>
          <a:bodyPr/>
          <a:lstStyle>
            <a:lvl1pPr>
              <a:defRPr/>
            </a:lvl1pPr>
          </a:lstStyle>
          <a:p>
            <a:fld id="{911A9CE4-A1EC-4540-9023-58154FB4586D}" type="slidenum">
              <a:rPr lang="en-GB" altLang="en-US"/>
              <a:pPr/>
              <a:t>‹#›</a:t>
            </a:fld>
            <a:endParaRPr lang="en-GB" altLang="en-US"/>
          </a:p>
        </p:txBody>
      </p:sp>
    </p:spTree>
    <p:extLst>
      <p:ext uri="{BB962C8B-B14F-4D97-AF65-F5344CB8AC3E}">
        <p14:creationId xmlns:p14="http://schemas.microsoft.com/office/powerpoint/2010/main" val="21479029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DC7A00F7-5F93-D7ED-215B-0D7A56C31DCA}"/>
              </a:ext>
            </a:extLst>
          </p:cNvPr>
          <p:cNvSpPr>
            <a:spLocks noGrp="1"/>
          </p:cNvSpPr>
          <p:nvPr>
            <p:ph type="dt" sz="half" idx="10"/>
          </p:nvPr>
        </p:nvSpPr>
        <p:spPr/>
        <p:txBody>
          <a:bodyPr/>
          <a:lstStyle>
            <a:lvl1pPr>
              <a:defRPr/>
            </a:lvl1pPr>
          </a:lstStyle>
          <a:p>
            <a:pPr>
              <a:defRPr/>
            </a:pPr>
            <a:endParaRPr lang="en-GB"/>
          </a:p>
        </p:txBody>
      </p:sp>
      <p:sp>
        <p:nvSpPr>
          <p:cNvPr id="8" name="Footer Placeholder 4">
            <a:extLst>
              <a:ext uri="{FF2B5EF4-FFF2-40B4-BE49-F238E27FC236}">
                <a16:creationId xmlns:a16="http://schemas.microsoft.com/office/drawing/2014/main" id="{66B763C7-5EC2-A961-9D45-B887A185F35E}"/>
              </a:ext>
            </a:extLst>
          </p:cNvPr>
          <p:cNvSpPr>
            <a:spLocks noGrp="1"/>
          </p:cNvSpPr>
          <p:nvPr>
            <p:ph type="ftr" sz="quarter" idx="11"/>
          </p:nvPr>
        </p:nvSpPr>
        <p:spPr/>
        <p:txBody>
          <a:bodyPr/>
          <a:lstStyle>
            <a:lvl1pPr>
              <a:defRPr/>
            </a:lvl1pPr>
          </a:lstStyle>
          <a:p>
            <a:pPr>
              <a:defRPr/>
            </a:pPr>
            <a:endParaRPr lang="en-GB"/>
          </a:p>
        </p:txBody>
      </p:sp>
      <p:sp>
        <p:nvSpPr>
          <p:cNvPr id="9" name="Slide Number Placeholder 5">
            <a:extLst>
              <a:ext uri="{FF2B5EF4-FFF2-40B4-BE49-F238E27FC236}">
                <a16:creationId xmlns:a16="http://schemas.microsoft.com/office/drawing/2014/main" id="{BC9DC0FE-5406-F7D3-98C7-2B0CC80FB831}"/>
              </a:ext>
            </a:extLst>
          </p:cNvPr>
          <p:cNvSpPr>
            <a:spLocks noGrp="1"/>
          </p:cNvSpPr>
          <p:nvPr>
            <p:ph type="sldNum" sz="quarter" idx="12"/>
          </p:nvPr>
        </p:nvSpPr>
        <p:spPr/>
        <p:txBody>
          <a:bodyPr/>
          <a:lstStyle>
            <a:lvl1pPr>
              <a:defRPr/>
            </a:lvl1pPr>
          </a:lstStyle>
          <a:p>
            <a:fld id="{1B8CC5A4-464F-CC45-B93D-7E93BE273C52}" type="slidenum">
              <a:rPr lang="en-GB" altLang="en-US"/>
              <a:pPr/>
              <a:t>‹#›</a:t>
            </a:fld>
            <a:endParaRPr lang="en-GB" altLang="en-US"/>
          </a:p>
        </p:txBody>
      </p:sp>
    </p:spTree>
    <p:extLst>
      <p:ext uri="{BB962C8B-B14F-4D97-AF65-F5344CB8AC3E}">
        <p14:creationId xmlns:p14="http://schemas.microsoft.com/office/powerpoint/2010/main" val="21073246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875695A1-F538-8414-A092-BB091370286B}"/>
              </a:ext>
            </a:extLst>
          </p:cNvPr>
          <p:cNvSpPr>
            <a:spLocks noGrp="1"/>
          </p:cNvSpPr>
          <p:nvPr>
            <p:ph type="dt" sz="half" idx="10"/>
          </p:nvPr>
        </p:nvSpPr>
        <p:spPr/>
        <p:txBody>
          <a:bodyPr/>
          <a:lstStyle>
            <a:lvl1pPr>
              <a:defRPr/>
            </a:lvl1pPr>
          </a:lstStyle>
          <a:p>
            <a:pPr>
              <a:defRPr/>
            </a:pPr>
            <a:endParaRPr lang="en-GB"/>
          </a:p>
        </p:txBody>
      </p:sp>
      <p:sp>
        <p:nvSpPr>
          <p:cNvPr id="4" name="Footer Placeholder 4">
            <a:extLst>
              <a:ext uri="{FF2B5EF4-FFF2-40B4-BE49-F238E27FC236}">
                <a16:creationId xmlns:a16="http://schemas.microsoft.com/office/drawing/2014/main" id="{D0CA56E8-9158-B7F9-F025-9480766D84B2}"/>
              </a:ext>
            </a:extLst>
          </p:cNvPr>
          <p:cNvSpPr>
            <a:spLocks noGrp="1"/>
          </p:cNvSpPr>
          <p:nvPr>
            <p:ph type="ftr" sz="quarter" idx="11"/>
          </p:nvPr>
        </p:nvSpPr>
        <p:spPr/>
        <p:txBody>
          <a:bodyPr/>
          <a:lstStyle>
            <a:lvl1pPr>
              <a:defRPr/>
            </a:lvl1pPr>
          </a:lstStyle>
          <a:p>
            <a:pPr>
              <a:defRPr/>
            </a:pPr>
            <a:endParaRPr lang="en-GB"/>
          </a:p>
        </p:txBody>
      </p:sp>
      <p:sp>
        <p:nvSpPr>
          <p:cNvPr id="5" name="Slide Number Placeholder 5">
            <a:extLst>
              <a:ext uri="{FF2B5EF4-FFF2-40B4-BE49-F238E27FC236}">
                <a16:creationId xmlns:a16="http://schemas.microsoft.com/office/drawing/2014/main" id="{D255D59D-47A6-81F2-DCD9-5E0A13A6D605}"/>
              </a:ext>
            </a:extLst>
          </p:cNvPr>
          <p:cNvSpPr>
            <a:spLocks noGrp="1"/>
          </p:cNvSpPr>
          <p:nvPr>
            <p:ph type="sldNum" sz="quarter" idx="12"/>
          </p:nvPr>
        </p:nvSpPr>
        <p:spPr/>
        <p:txBody>
          <a:bodyPr/>
          <a:lstStyle>
            <a:lvl1pPr>
              <a:defRPr/>
            </a:lvl1pPr>
          </a:lstStyle>
          <a:p>
            <a:fld id="{1F12536E-0DF7-8F45-8E77-90A31C96D545}" type="slidenum">
              <a:rPr lang="en-GB" altLang="en-US"/>
              <a:pPr/>
              <a:t>‹#›</a:t>
            </a:fld>
            <a:endParaRPr lang="en-GB" altLang="en-US"/>
          </a:p>
        </p:txBody>
      </p:sp>
    </p:spTree>
    <p:extLst>
      <p:ext uri="{BB962C8B-B14F-4D97-AF65-F5344CB8AC3E}">
        <p14:creationId xmlns:p14="http://schemas.microsoft.com/office/powerpoint/2010/main" val="3945296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6385BC86-9C52-9D67-5D9A-3FDE12E1A409}"/>
              </a:ext>
            </a:extLst>
          </p:cNvPr>
          <p:cNvSpPr>
            <a:spLocks noGrp="1"/>
          </p:cNvSpPr>
          <p:nvPr>
            <p:ph type="dt" sz="half" idx="10"/>
          </p:nvPr>
        </p:nvSpPr>
        <p:spPr/>
        <p:txBody>
          <a:bodyPr/>
          <a:lstStyle>
            <a:lvl1pPr>
              <a:defRPr/>
            </a:lvl1pPr>
          </a:lstStyle>
          <a:p>
            <a:pPr>
              <a:defRPr/>
            </a:pPr>
            <a:endParaRPr lang="en-GB"/>
          </a:p>
        </p:txBody>
      </p:sp>
      <p:sp>
        <p:nvSpPr>
          <p:cNvPr id="3" name="Footer Placeholder 4">
            <a:extLst>
              <a:ext uri="{FF2B5EF4-FFF2-40B4-BE49-F238E27FC236}">
                <a16:creationId xmlns:a16="http://schemas.microsoft.com/office/drawing/2014/main" id="{B7C91F6C-2065-D3C9-476C-9A0A8FE258D1}"/>
              </a:ext>
            </a:extLst>
          </p:cNvPr>
          <p:cNvSpPr>
            <a:spLocks noGrp="1"/>
          </p:cNvSpPr>
          <p:nvPr>
            <p:ph type="ftr" sz="quarter" idx="11"/>
          </p:nvPr>
        </p:nvSpPr>
        <p:spPr/>
        <p:txBody>
          <a:bodyPr/>
          <a:lstStyle>
            <a:lvl1pPr>
              <a:defRPr/>
            </a:lvl1pPr>
          </a:lstStyle>
          <a:p>
            <a:pPr>
              <a:defRPr/>
            </a:pPr>
            <a:endParaRPr lang="en-GB"/>
          </a:p>
        </p:txBody>
      </p:sp>
      <p:sp>
        <p:nvSpPr>
          <p:cNvPr id="4" name="Slide Number Placeholder 5">
            <a:extLst>
              <a:ext uri="{FF2B5EF4-FFF2-40B4-BE49-F238E27FC236}">
                <a16:creationId xmlns:a16="http://schemas.microsoft.com/office/drawing/2014/main" id="{E8A936B4-DF28-550F-F427-15EEFAB5492B}"/>
              </a:ext>
            </a:extLst>
          </p:cNvPr>
          <p:cNvSpPr>
            <a:spLocks noGrp="1"/>
          </p:cNvSpPr>
          <p:nvPr>
            <p:ph type="sldNum" sz="quarter" idx="12"/>
          </p:nvPr>
        </p:nvSpPr>
        <p:spPr/>
        <p:txBody>
          <a:bodyPr/>
          <a:lstStyle>
            <a:lvl1pPr>
              <a:defRPr/>
            </a:lvl1pPr>
          </a:lstStyle>
          <a:p>
            <a:fld id="{1D3D8DC3-5D19-1142-B49C-ED5CD1D7440C}" type="slidenum">
              <a:rPr lang="en-GB" altLang="en-US"/>
              <a:pPr/>
              <a:t>‹#›</a:t>
            </a:fld>
            <a:endParaRPr lang="en-GB" altLang="en-US"/>
          </a:p>
        </p:txBody>
      </p:sp>
    </p:spTree>
    <p:extLst>
      <p:ext uri="{BB962C8B-B14F-4D97-AF65-F5344CB8AC3E}">
        <p14:creationId xmlns:p14="http://schemas.microsoft.com/office/powerpoint/2010/main" val="2644846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77D6F1C9-B155-DAB6-2777-8E881B42CB31}"/>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35DAE4AD-107A-6120-3371-AF978A41F97C}"/>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A8C4B4EC-CB8C-21F4-508B-DCC158964250}"/>
              </a:ext>
            </a:extLst>
          </p:cNvPr>
          <p:cNvSpPr>
            <a:spLocks noGrp="1"/>
          </p:cNvSpPr>
          <p:nvPr>
            <p:ph type="sldNum" sz="quarter" idx="12"/>
          </p:nvPr>
        </p:nvSpPr>
        <p:spPr/>
        <p:txBody>
          <a:bodyPr/>
          <a:lstStyle>
            <a:lvl1pPr>
              <a:defRPr/>
            </a:lvl1pPr>
          </a:lstStyle>
          <a:p>
            <a:fld id="{3EF1079C-6099-BE4C-B9AE-32954FFF9991}" type="slidenum">
              <a:rPr lang="en-GB" altLang="en-US"/>
              <a:pPr/>
              <a:t>‹#›</a:t>
            </a:fld>
            <a:endParaRPr lang="en-GB" altLang="en-US"/>
          </a:p>
        </p:txBody>
      </p:sp>
    </p:spTree>
    <p:extLst>
      <p:ext uri="{BB962C8B-B14F-4D97-AF65-F5344CB8AC3E}">
        <p14:creationId xmlns:p14="http://schemas.microsoft.com/office/powerpoint/2010/main" val="24377811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C3E9101-725E-F630-E7F5-F0DD35665F17}"/>
              </a:ext>
            </a:extLst>
          </p:cNvPr>
          <p:cNvSpPr>
            <a:spLocks noGrp="1"/>
          </p:cNvSpPr>
          <p:nvPr>
            <p:ph type="dt" sz="half" idx="10"/>
          </p:nvPr>
        </p:nvSpPr>
        <p:spPr/>
        <p:txBody>
          <a:bodyPr/>
          <a:lstStyle>
            <a:lvl1pPr>
              <a:defRPr/>
            </a:lvl1pPr>
          </a:lstStyle>
          <a:p>
            <a:pPr>
              <a:defRPr/>
            </a:pPr>
            <a:endParaRPr lang="en-GB"/>
          </a:p>
        </p:txBody>
      </p:sp>
      <p:sp>
        <p:nvSpPr>
          <p:cNvPr id="6" name="Footer Placeholder 4">
            <a:extLst>
              <a:ext uri="{FF2B5EF4-FFF2-40B4-BE49-F238E27FC236}">
                <a16:creationId xmlns:a16="http://schemas.microsoft.com/office/drawing/2014/main" id="{F66E09B7-C57E-FB2C-0DFB-2E2E5B1C8962}"/>
              </a:ext>
            </a:extLst>
          </p:cNvPr>
          <p:cNvSpPr>
            <a:spLocks noGrp="1"/>
          </p:cNvSpPr>
          <p:nvPr>
            <p:ph type="ftr" sz="quarter" idx="11"/>
          </p:nvPr>
        </p:nvSpPr>
        <p:spPr/>
        <p:txBody>
          <a:bodyPr/>
          <a:lstStyle>
            <a:lvl1pPr>
              <a:defRPr/>
            </a:lvl1pPr>
          </a:lstStyle>
          <a:p>
            <a:pPr>
              <a:defRPr/>
            </a:pPr>
            <a:endParaRPr lang="en-GB"/>
          </a:p>
        </p:txBody>
      </p:sp>
      <p:sp>
        <p:nvSpPr>
          <p:cNvPr id="7" name="Slide Number Placeholder 5">
            <a:extLst>
              <a:ext uri="{FF2B5EF4-FFF2-40B4-BE49-F238E27FC236}">
                <a16:creationId xmlns:a16="http://schemas.microsoft.com/office/drawing/2014/main" id="{24240922-ED98-869A-7C7E-939F4743E162}"/>
              </a:ext>
            </a:extLst>
          </p:cNvPr>
          <p:cNvSpPr>
            <a:spLocks noGrp="1"/>
          </p:cNvSpPr>
          <p:nvPr>
            <p:ph type="sldNum" sz="quarter" idx="12"/>
          </p:nvPr>
        </p:nvSpPr>
        <p:spPr/>
        <p:txBody>
          <a:bodyPr/>
          <a:lstStyle>
            <a:lvl1pPr>
              <a:defRPr/>
            </a:lvl1pPr>
          </a:lstStyle>
          <a:p>
            <a:fld id="{3467501C-0E35-8245-888B-6B1A2B354716}" type="slidenum">
              <a:rPr lang="en-GB" altLang="en-US"/>
              <a:pPr/>
              <a:t>‹#›</a:t>
            </a:fld>
            <a:endParaRPr lang="en-GB" altLang="en-US"/>
          </a:p>
        </p:txBody>
      </p:sp>
    </p:spTree>
    <p:extLst>
      <p:ext uri="{BB962C8B-B14F-4D97-AF65-F5344CB8AC3E}">
        <p14:creationId xmlns:p14="http://schemas.microsoft.com/office/powerpoint/2010/main" val="2191486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879062B-9AEE-286D-99C6-DE5F936905EB}"/>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D544721E-4A47-729C-B495-7FABF1FEF6EC}"/>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1219D700-20C9-0DE8-E4E4-B3644632023D}"/>
              </a:ext>
            </a:extLst>
          </p:cNvPr>
          <p:cNvSpPr>
            <a:spLocks noGrp="1"/>
          </p:cNvSpPr>
          <p:nvPr>
            <p:ph type="sldNum" sz="quarter" idx="12"/>
          </p:nvPr>
        </p:nvSpPr>
        <p:spPr/>
        <p:txBody>
          <a:bodyPr/>
          <a:lstStyle>
            <a:lvl1pPr>
              <a:defRPr/>
            </a:lvl1pPr>
          </a:lstStyle>
          <a:p>
            <a:fld id="{3F386109-72FF-8F4D-B827-45518F933EF6}" type="slidenum">
              <a:rPr lang="en-GB" altLang="en-US"/>
              <a:pPr/>
              <a:t>‹#›</a:t>
            </a:fld>
            <a:endParaRPr lang="en-GB" altLang="en-US"/>
          </a:p>
        </p:txBody>
      </p:sp>
    </p:spTree>
    <p:extLst>
      <p:ext uri="{BB962C8B-B14F-4D97-AF65-F5344CB8AC3E}">
        <p14:creationId xmlns:p14="http://schemas.microsoft.com/office/powerpoint/2010/main" val="251510741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DFBEAC1-5042-8E1C-C30B-998ACE002791}"/>
              </a:ext>
            </a:extLst>
          </p:cNvPr>
          <p:cNvSpPr>
            <a:spLocks noGrp="1"/>
          </p:cNvSpPr>
          <p:nvPr>
            <p:ph type="dt" sz="half" idx="10"/>
          </p:nvPr>
        </p:nvSpPr>
        <p:spPr/>
        <p:txBody>
          <a:bodyPr/>
          <a:lstStyle>
            <a:lvl1pPr>
              <a:defRPr/>
            </a:lvl1pPr>
          </a:lstStyle>
          <a:p>
            <a:pPr>
              <a:defRPr/>
            </a:pPr>
            <a:endParaRPr lang="en-GB"/>
          </a:p>
        </p:txBody>
      </p:sp>
      <p:sp>
        <p:nvSpPr>
          <p:cNvPr id="5" name="Footer Placeholder 4">
            <a:extLst>
              <a:ext uri="{FF2B5EF4-FFF2-40B4-BE49-F238E27FC236}">
                <a16:creationId xmlns:a16="http://schemas.microsoft.com/office/drawing/2014/main" id="{2C70B496-78F9-3762-4DC0-0D96B92FC25D}"/>
              </a:ext>
            </a:extLst>
          </p:cNvPr>
          <p:cNvSpPr>
            <a:spLocks noGrp="1"/>
          </p:cNvSpPr>
          <p:nvPr>
            <p:ph type="ftr" sz="quarter" idx="11"/>
          </p:nvPr>
        </p:nvSpPr>
        <p:spPr/>
        <p:txBody>
          <a:bodyPr/>
          <a:lstStyle>
            <a:lvl1pPr>
              <a:defRPr/>
            </a:lvl1pPr>
          </a:lstStyle>
          <a:p>
            <a:pPr>
              <a:defRPr/>
            </a:pPr>
            <a:endParaRPr lang="en-GB"/>
          </a:p>
        </p:txBody>
      </p:sp>
      <p:sp>
        <p:nvSpPr>
          <p:cNvPr id="6" name="Slide Number Placeholder 5">
            <a:extLst>
              <a:ext uri="{FF2B5EF4-FFF2-40B4-BE49-F238E27FC236}">
                <a16:creationId xmlns:a16="http://schemas.microsoft.com/office/drawing/2014/main" id="{C94F46CE-E40B-7906-235C-7918D053E30A}"/>
              </a:ext>
            </a:extLst>
          </p:cNvPr>
          <p:cNvSpPr>
            <a:spLocks noGrp="1"/>
          </p:cNvSpPr>
          <p:nvPr>
            <p:ph type="sldNum" sz="quarter" idx="12"/>
          </p:nvPr>
        </p:nvSpPr>
        <p:spPr/>
        <p:txBody>
          <a:bodyPr/>
          <a:lstStyle>
            <a:lvl1pPr>
              <a:defRPr/>
            </a:lvl1pPr>
          </a:lstStyle>
          <a:p>
            <a:fld id="{BF56F69A-2AE8-AD44-8996-ACD859C727F8}" type="slidenum">
              <a:rPr lang="en-GB" altLang="en-US"/>
              <a:pPr/>
              <a:t>‹#›</a:t>
            </a:fld>
            <a:endParaRPr lang="en-GB" altLang="en-US"/>
          </a:p>
        </p:txBody>
      </p:sp>
    </p:spTree>
    <p:extLst>
      <p:ext uri="{BB962C8B-B14F-4D97-AF65-F5344CB8AC3E}">
        <p14:creationId xmlns:p14="http://schemas.microsoft.com/office/powerpoint/2010/main" val="298487413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verTx">
  <p:cSld name="Title and Content over Tex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1B4E2D0-6F27-914E-4402-C1B938D224F9}"/>
              </a:ext>
            </a:extLst>
          </p:cNvPr>
          <p:cNvSpPr>
            <a:spLocks noGrp="1"/>
          </p:cNvSpPr>
          <p:nvPr>
            <p:ph type="dt" sz="half" idx="10"/>
          </p:nvPr>
        </p:nvSpPr>
        <p:spPr>
          <a:xfrm>
            <a:off x="457200" y="6243638"/>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1E4054F9-4AFC-25FF-E2B0-2783A7E94EB6}"/>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610E24C5-23A8-18E0-1B2D-8E2A6B81004C}"/>
              </a:ext>
            </a:extLst>
          </p:cNvPr>
          <p:cNvSpPr>
            <a:spLocks noGrp="1"/>
          </p:cNvSpPr>
          <p:nvPr>
            <p:ph type="sldNum" sz="quarter" idx="12"/>
          </p:nvPr>
        </p:nvSpPr>
        <p:spPr>
          <a:xfrm>
            <a:off x="6553200" y="6243638"/>
            <a:ext cx="2133600" cy="457200"/>
          </a:xfrm>
        </p:spPr>
        <p:txBody>
          <a:bodyPr/>
          <a:lstStyle>
            <a:lvl1pPr>
              <a:defRPr/>
            </a:lvl1pPr>
          </a:lstStyle>
          <a:p>
            <a:fld id="{A9AF0713-FF40-C14D-BABA-1BFC33C52ACC}" type="slidenum">
              <a:rPr lang="en-GB" altLang="en-US"/>
              <a:pPr/>
              <a:t>‹#›</a:t>
            </a:fld>
            <a:endParaRPr lang="en-GB" altLang="en-US"/>
          </a:p>
        </p:txBody>
      </p:sp>
    </p:spTree>
    <p:extLst>
      <p:ext uri="{BB962C8B-B14F-4D97-AF65-F5344CB8AC3E}">
        <p14:creationId xmlns:p14="http://schemas.microsoft.com/office/powerpoint/2010/main" val="68647117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307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D58D7C13-E406-0306-CCA4-555F95EF5B1A}"/>
              </a:ext>
            </a:extLst>
          </p:cNvPr>
          <p:cNvSpPr>
            <a:spLocks noGrp="1"/>
          </p:cNvSpPr>
          <p:nvPr>
            <p:ph type="dt" sz="half" idx="10"/>
          </p:nvPr>
        </p:nvSpPr>
        <p:spPr>
          <a:xfrm>
            <a:off x="457200" y="6243638"/>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24F0C524-DF7D-9D31-C5CE-2504282DE7EB}"/>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3D2AE640-CF45-D4CB-E3AC-1A4BAF0DADB7}"/>
              </a:ext>
            </a:extLst>
          </p:cNvPr>
          <p:cNvSpPr>
            <a:spLocks noGrp="1"/>
          </p:cNvSpPr>
          <p:nvPr>
            <p:ph type="sldNum" sz="quarter" idx="12"/>
          </p:nvPr>
        </p:nvSpPr>
        <p:spPr>
          <a:xfrm>
            <a:off x="6553200" y="6243638"/>
            <a:ext cx="2133600" cy="457200"/>
          </a:xfrm>
        </p:spPr>
        <p:txBody>
          <a:bodyPr/>
          <a:lstStyle>
            <a:lvl1pPr>
              <a:defRPr/>
            </a:lvl1pPr>
          </a:lstStyle>
          <a:p>
            <a:fld id="{4BEF8341-6DEC-A24F-9564-5381F5A1B7B1}" type="slidenum">
              <a:rPr lang="en-GB" altLang="en-US"/>
              <a:pPr/>
              <a:t>‹#›</a:t>
            </a:fld>
            <a:endParaRPr lang="en-GB" altLang="en-US"/>
          </a:p>
        </p:txBody>
      </p:sp>
    </p:spTree>
    <p:extLst>
      <p:ext uri="{BB962C8B-B14F-4D97-AF65-F5344CB8AC3E}">
        <p14:creationId xmlns:p14="http://schemas.microsoft.com/office/powerpoint/2010/main" val="229071043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xOverObj">
  <p:cSld name="Title and Text over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7813"/>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8229600" cy="21891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57200" y="3941763"/>
            <a:ext cx="8229600" cy="21891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67860A74-1F64-ECFE-29B6-0B47E5D935A1}"/>
              </a:ext>
            </a:extLst>
          </p:cNvPr>
          <p:cNvSpPr>
            <a:spLocks noGrp="1"/>
          </p:cNvSpPr>
          <p:nvPr>
            <p:ph type="dt" sz="half" idx="10"/>
          </p:nvPr>
        </p:nvSpPr>
        <p:spPr>
          <a:xfrm>
            <a:off x="457200" y="6243638"/>
            <a:ext cx="2133600" cy="457200"/>
          </a:xfrm>
        </p:spPr>
        <p:txBody>
          <a:bodyPr/>
          <a:lstStyle>
            <a:lvl1pPr>
              <a:defRPr/>
            </a:lvl1pPr>
          </a:lstStyle>
          <a:p>
            <a:pPr>
              <a:defRPr/>
            </a:pPr>
            <a:endParaRPr lang="en-GB"/>
          </a:p>
        </p:txBody>
      </p:sp>
      <p:sp>
        <p:nvSpPr>
          <p:cNvPr id="6" name="Footer Placeholder 5">
            <a:extLst>
              <a:ext uri="{FF2B5EF4-FFF2-40B4-BE49-F238E27FC236}">
                <a16:creationId xmlns:a16="http://schemas.microsoft.com/office/drawing/2014/main" id="{8566A959-C1E0-DD38-638F-8BB2E5AE9DDB}"/>
              </a:ext>
            </a:extLst>
          </p:cNvPr>
          <p:cNvSpPr>
            <a:spLocks noGrp="1"/>
          </p:cNvSpPr>
          <p:nvPr>
            <p:ph type="ftr" sz="quarter" idx="11"/>
          </p:nvPr>
        </p:nvSpPr>
        <p:spPr>
          <a:xfrm>
            <a:off x="3124200" y="6248400"/>
            <a:ext cx="2895600" cy="457200"/>
          </a:xfrm>
        </p:spPr>
        <p:txBody>
          <a:bodyPr/>
          <a:lstStyle>
            <a:lvl1pPr>
              <a:defRPr/>
            </a:lvl1pPr>
          </a:lstStyle>
          <a:p>
            <a:pPr>
              <a:defRPr/>
            </a:pPr>
            <a:endParaRPr lang="en-GB"/>
          </a:p>
        </p:txBody>
      </p:sp>
      <p:sp>
        <p:nvSpPr>
          <p:cNvPr id="7" name="Slide Number Placeholder 6">
            <a:extLst>
              <a:ext uri="{FF2B5EF4-FFF2-40B4-BE49-F238E27FC236}">
                <a16:creationId xmlns:a16="http://schemas.microsoft.com/office/drawing/2014/main" id="{B1BF60C0-9AA8-C5C5-3648-2CF0507180CE}"/>
              </a:ext>
            </a:extLst>
          </p:cNvPr>
          <p:cNvSpPr>
            <a:spLocks noGrp="1"/>
          </p:cNvSpPr>
          <p:nvPr>
            <p:ph type="sldNum" sz="quarter" idx="12"/>
          </p:nvPr>
        </p:nvSpPr>
        <p:spPr>
          <a:xfrm>
            <a:off x="6553200" y="6243638"/>
            <a:ext cx="2133600" cy="457200"/>
          </a:xfrm>
        </p:spPr>
        <p:txBody>
          <a:bodyPr/>
          <a:lstStyle>
            <a:lvl1pPr>
              <a:defRPr/>
            </a:lvl1pPr>
          </a:lstStyle>
          <a:p>
            <a:fld id="{9D1F9638-EB68-B042-956F-934A7A028C80}" type="slidenum">
              <a:rPr lang="en-GB" altLang="en-US"/>
              <a:pPr/>
              <a:t>‹#›</a:t>
            </a:fld>
            <a:endParaRPr lang="en-GB" altLang="en-US"/>
          </a:p>
        </p:txBody>
      </p:sp>
    </p:spTree>
    <p:extLst>
      <p:ext uri="{BB962C8B-B14F-4D97-AF65-F5344CB8AC3E}">
        <p14:creationId xmlns:p14="http://schemas.microsoft.com/office/powerpoint/2010/main" val="22525525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Date Placeholder 2">
            <a:extLst>
              <a:ext uri="{FF2B5EF4-FFF2-40B4-BE49-F238E27FC236}">
                <a16:creationId xmlns:a16="http://schemas.microsoft.com/office/drawing/2014/main" id="{C83E8F34-AC3E-49C4-939E-D558B70A1A79}"/>
              </a:ext>
            </a:extLst>
          </p:cNvPr>
          <p:cNvSpPr>
            <a:spLocks noGrp="1"/>
          </p:cNvSpPr>
          <p:nvPr>
            <p:ph type="dt" sz="half" idx="10"/>
          </p:nvPr>
        </p:nvSpPr>
        <p:spPr>
          <a:xfrm>
            <a:off x="457200" y="6245225"/>
            <a:ext cx="2133600" cy="476250"/>
          </a:xfrm>
        </p:spPr>
        <p:txBody>
          <a:bodyPr/>
          <a:lstStyle>
            <a:lvl1pPr>
              <a:defRPr/>
            </a:lvl1pPr>
          </a:lstStyle>
          <a:p>
            <a:pPr>
              <a:defRPr/>
            </a:pPr>
            <a:endParaRPr lang="en-US" altLang="zh-TW"/>
          </a:p>
        </p:txBody>
      </p:sp>
      <p:sp>
        <p:nvSpPr>
          <p:cNvPr id="4" name="Footer Placeholder 3">
            <a:extLst>
              <a:ext uri="{FF2B5EF4-FFF2-40B4-BE49-F238E27FC236}">
                <a16:creationId xmlns:a16="http://schemas.microsoft.com/office/drawing/2014/main" id="{A098714F-D8F0-2EA5-0AC1-52BA47F16C8A}"/>
              </a:ext>
            </a:extLst>
          </p:cNvPr>
          <p:cNvSpPr>
            <a:spLocks noGrp="1"/>
          </p:cNvSpPr>
          <p:nvPr>
            <p:ph type="ftr" sz="quarter" idx="11"/>
          </p:nvPr>
        </p:nvSpPr>
        <p:spPr>
          <a:xfrm>
            <a:off x="3124200" y="6245225"/>
            <a:ext cx="2895600" cy="476250"/>
          </a:xfrm>
        </p:spPr>
        <p:txBody>
          <a:bodyPr/>
          <a:lstStyle>
            <a:lvl1pPr>
              <a:defRPr/>
            </a:lvl1pPr>
          </a:lstStyle>
          <a:p>
            <a:pPr>
              <a:defRPr/>
            </a:pPr>
            <a:endParaRPr lang="en-US" altLang="zh-TW"/>
          </a:p>
        </p:txBody>
      </p:sp>
      <p:sp>
        <p:nvSpPr>
          <p:cNvPr id="5" name="Slide Number Placeholder 4">
            <a:extLst>
              <a:ext uri="{FF2B5EF4-FFF2-40B4-BE49-F238E27FC236}">
                <a16:creationId xmlns:a16="http://schemas.microsoft.com/office/drawing/2014/main" id="{F2A28D3F-3073-88B7-8441-5B8EF55633D5}"/>
              </a:ext>
            </a:extLst>
          </p:cNvPr>
          <p:cNvSpPr>
            <a:spLocks noGrp="1"/>
          </p:cNvSpPr>
          <p:nvPr>
            <p:ph type="sldNum" sz="quarter" idx="12"/>
          </p:nvPr>
        </p:nvSpPr>
        <p:spPr>
          <a:xfrm>
            <a:off x="6553200" y="6245225"/>
            <a:ext cx="2133600" cy="476250"/>
          </a:xfrm>
        </p:spPr>
        <p:txBody>
          <a:bodyPr/>
          <a:lstStyle>
            <a:lvl1pPr>
              <a:defRPr/>
            </a:lvl1pPr>
          </a:lstStyle>
          <a:p>
            <a:fld id="{517916CE-007E-BD4D-8BFB-5B97740B5CD7}" type="slidenum">
              <a:rPr lang="en-US" altLang="zh-TW"/>
              <a:pPr/>
              <a:t>‹#›</a:t>
            </a:fld>
            <a:endParaRPr lang="en-US" altLang="zh-TW"/>
          </a:p>
        </p:txBody>
      </p:sp>
    </p:spTree>
    <p:extLst>
      <p:ext uri="{BB962C8B-B14F-4D97-AF65-F5344CB8AC3E}">
        <p14:creationId xmlns:p14="http://schemas.microsoft.com/office/powerpoint/2010/main" val="3124089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57301678-B41C-74DD-54BF-A3A33283466B}"/>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7" name="Text Placeholder 2">
            <a:extLst>
              <a:ext uri="{FF2B5EF4-FFF2-40B4-BE49-F238E27FC236}">
                <a16:creationId xmlns:a16="http://schemas.microsoft.com/office/drawing/2014/main" id="{D9B81B5C-6924-3946-824B-6678C53BFB86}"/>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E1834955-7482-2B88-DDDF-D793F9F53738}"/>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hangingPunct="1">
              <a:defRPr sz="1200">
                <a:solidFill>
                  <a:schemeClr val="tx1">
                    <a:tint val="75000"/>
                  </a:schemeClr>
                </a:solidFill>
                <a:latin typeface="Arial" charset="0"/>
                <a:cs typeface="Arial" charset="0"/>
              </a:defRPr>
            </a:lvl1pPr>
          </a:lstStyle>
          <a:p>
            <a:pPr>
              <a:defRPr/>
            </a:pPr>
            <a:endParaRPr lang="en-GB"/>
          </a:p>
        </p:txBody>
      </p:sp>
      <p:sp>
        <p:nvSpPr>
          <p:cNvPr id="5" name="Footer Placeholder 4">
            <a:extLst>
              <a:ext uri="{FF2B5EF4-FFF2-40B4-BE49-F238E27FC236}">
                <a16:creationId xmlns:a16="http://schemas.microsoft.com/office/drawing/2014/main" id="{6FDD09ED-32CA-8387-F11C-49A13BE5A3A2}"/>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hangingPunct="1">
              <a:defRPr sz="1200">
                <a:solidFill>
                  <a:schemeClr val="tx1">
                    <a:tint val="75000"/>
                  </a:schemeClr>
                </a:solidFill>
                <a:latin typeface="Arial" charset="0"/>
                <a:cs typeface="Arial" charset="0"/>
              </a:defRPr>
            </a:lvl1pPr>
          </a:lstStyle>
          <a:p>
            <a:pPr>
              <a:defRPr/>
            </a:pPr>
            <a:endParaRPr lang="en-GB"/>
          </a:p>
        </p:txBody>
      </p:sp>
      <p:sp>
        <p:nvSpPr>
          <p:cNvPr id="6" name="Slide Number Placeholder 5">
            <a:extLst>
              <a:ext uri="{FF2B5EF4-FFF2-40B4-BE49-F238E27FC236}">
                <a16:creationId xmlns:a16="http://schemas.microsoft.com/office/drawing/2014/main" id="{6549F86F-A47D-D383-F33B-34C54DA7AD9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fld id="{5F82F1BF-30C3-A740-BA0A-1F1921EACBE1}" type="slidenum">
              <a:rPr lang="en-GB" altLang="en-US"/>
              <a:pPr/>
              <a:t>‹#›</a:t>
            </a:fld>
            <a:endParaRPr lang="en-GB" altLang="en-US"/>
          </a:p>
        </p:txBody>
      </p:sp>
    </p:spTree>
  </p:cSld>
  <p:clrMap bg1="lt1" tx1="dk1" bg2="lt2" tx2="dk2" accent1="accent1" accent2="accent2" accent3="accent3" accent4="accent4" accent5="accent5" accent6="accent6" hlink="hlink" folHlink="folHlink"/>
  <p:sldLayoutIdLst>
    <p:sldLayoutId id="2147484111" r:id="rId1"/>
    <p:sldLayoutId id="2147484112" r:id="rId2"/>
    <p:sldLayoutId id="2147484113" r:id="rId3"/>
    <p:sldLayoutId id="2147484114" r:id="rId4"/>
    <p:sldLayoutId id="2147484115" r:id="rId5"/>
    <p:sldLayoutId id="2147484116" r:id="rId6"/>
    <p:sldLayoutId id="2147484117" r:id="rId7"/>
    <p:sldLayoutId id="2147484118" r:id="rId8"/>
    <p:sldLayoutId id="2147484119" r:id="rId9"/>
    <p:sldLayoutId id="2147484120" r:id="rId10"/>
    <p:sldLayoutId id="2147484121" r:id="rId11"/>
    <p:sldLayoutId id="2147484122" r:id="rId12"/>
    <p:sldLayoutId id="2147484123" r:id="rId13"/>
    <p:sldLayoutId id="2147484124" r:id="rId14"/>
    <p:sldLayoutId id="2147484125" r:id="rId15"/>
  </p:sldLayoutIdLst>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defRPr>
      </a:lvl2pPr>
      <a:lvl3pPr algn="ctr" rtl="0" eaLnBrk="0" fontAlgn="base" hangingPunct="0">
        <a:spcBef>
          <a:spcPct val="0"/>
        </a:spcBef>
        <a:spcAft>
          <a:spcPct val="0"/>
        </a:spcAft>
        <a:defRPr sz="4400">
          <a:solidFill>
            <a:schemeClr val="tx1"/>
          </a:solidFill>
          <a:latin typeface="Calibri" pitchFamily="34" charset="0"/>
        </a:defRPr>
      </a:lvl3pPr>
      <a:lvl4pPr algn="ctr" rtl="0" eaLnBrk="0" fontAlgn="base" hangingPunct="0">
        <a:spcBef>
          <a:spcPct val="0"/>
        </a:spcBef>
        <a:spcAft>
          <a:spcPct val="0"/>
        </a:spcAft>
        <a:defRPr sz="4400">
          <a:solidFill>
            <a:schemeClr val="tx1"/>
          </a:solidFill>
          <a:latin typeface="Calibri" pitchFamily="34" charset="0"/>
        </a:defRPr>
      </a:lvl4pPr>
      <a:lvl5pPr algn="ctr" rtl="0" eaLnBrk="0" fontAlgn="base" hangingPunct="0">
        <a:spcBef>
          <a:spcPct val="0"/>
        </a:spcBef>
        <a:spcAft>
          <a:spcPct val="0"/>
        </a:spcAft>
        <a:defRPr sz="4400">
          <a:solidFill>
            <a:schemeClr val="tx1"/>
          </a:solidFill>
          <a:latin typeface="Calibri" pitchFamily="34" charset="0"/>
        </a:defRPr>
      </a:lvl5pPr>
      <a:lvl6pPr marL="457200" algn="ctr" rtl="0" fontAlgn="base">
        <a:spcBef>
          <a:spcPct val="0"/>
        </a:spcBef>
        <a:spcAft>
          <a:spcPct val="0"/>
        </a:spcAft>
        <a:defRPr sz="4400">
          <a:solidFill>
            <a:schemeClr val="tx1"/>
          </a:solidFill>
          <a:latin typeface="Calibri" pitchFamily="34" charset="0"/>
        </a:defRPr>
      </a:lvl6pPr>
      <a:lvl7pPr marL="914400" algn="ctr" rtl="0" fontAlgn="base">
        <a:spcBef>
          <a:spcPct val="0"/>
        </a:spcBef>
        <a:spcAft>
          <a:spcPct val="0"/>
        </a:spcAft>
        <a:defRPr sz="4400">
          <a:solidFill>
            <a:schemeClr val="tx1"/>
          </a:solidFill>
          <a:latin typeface="Calibri" pitchFamily="34" charset="0"/>
        </a:defRPr>
      </a:lvl7pPr>
      <a:lvl8pPr marL="1371600" algn="ctr" rtl="0" fontAlgn="base">
        <a:spcBef>
          <a:spcPct val="0"/>
        </a:spcBef>
        <a:spcAft>
          <a:spcPct val="0"/>
        </a:spcAft>
        <a:defRPr sz="4400">
          <a:solidFill>
            <a:schemeClr val="tx1"/>
          </a:solidFill>
          <a:latin typeface="Calibri" pitchFamily="34" charset="0"/>
        </a:defRPr>
      </a:lvl8pPr>
      <a:lvl9pPr marL="1828800" algn="ctr" rtl="0" fontAlgn="base">
        <a:spcBef>
          <a:spcPct val="0"/>
        </a:spcBef>
        <a:spcAft>
          <a:spcPct val="0"/>
        </a:spcAft>
        <a:defRPr sz="4400">
          <a:solidFill>
            <a:schemeClr val="tx1"/>
          </a:solidFill>
          <a:latin typeface="Calibri"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8.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0.xml"/><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8.xml"/><Relationship Id="rId1" Type="http://schemas.openxmlformats.org/officeDocument/2006/relationships/slideLayout" Target="../slideLayouts/slideLayout14.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9.xml"/><Relationship Id="rId1" Type="http://schemas.openxmlformats.org/officeDocument/2006/relationships/slideLayout" Target="../slideLayouts/slideLayout14.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3" Type="http://schemas.openxmlformats.org/officeDocument/2006/relationships/image" Target="../media/image25.jpeg"/><Relationship Id="rId2" Type="http://schemas.openxmlformats.org/officeDocument/2006/relationships/notesSlide" Target="../notesSlides/notesSlide34.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26.jpe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1.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15.xml"/></Relationships>
</file>

<file path=ppt/slides/_rels/slide48.xml.rels><?xml version="1.0" encoding="UTF-8" standalone="yes"?>
<Relationships xmlns="http://schemas.openxmlformats.org/package/2006/relationships"><Relationship Id="rId3" Type="http://schemas.openxmlformats.org/officeDocument/2006/relationships/image" Target="../media/image29.jpeg"/><Relationship Id="rId2" Type="http://schemas.openxmlformats.org/officeDocument/2006/relationships/notesSlide" Target="../notesSlides/notesSlide42.xml"/><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44.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A4BF331A-E569-078E-7F98-0A5C1A3FC801}"/>
              </a:ext>
            </a:extLst>
          </p:cNvPr>
          <p:cNvSpPr>
            <a:spLocks noGrp="1" noChangeArrowheads="1"/>
          </p:cNvSpPr>
          <p:nvPr>
            <p:ph type="ctrTitle"/>
          </p:nvPr>
        </p:nvSpPr>
        <p:spPr>
          <a:xfrm>
            <a:off x="611188" y="476250"/>
            <a:ext cx="7772400" cy="1470025"/>
          </a:xfrm>
        </p:spPr>
        <p:txBody>
          <a:bodyPr/>
          <a:lstStyle/>
          <a:p>
            <a:pPr eaLnBrk="1" hangingPunct="1"/>
            <a:r>
              <a:rPr lang="en-GB" altLang="en-US" b="1">
                <a:solidFill>
                  <a:srgbClr val="0000FF"/>
                </a:solidFill>
              </a:rPr>
              <a:t>The Mutability &amp; Repair of DNA</a:t>
            </a:r>
          </a:p>
        </p:txBody>
      </p:sp>
      <p:sp>
        <p:nvSpPr>
          <p:cNvPr id="7171" name="Rectangle 3">
            <a:extLst>
              <a:ext uri="{FF2B5EF4-FFF2-40B4-BE49-F238E27FC236}">
                <a16:creationId xmlns:a16="http://schemas.microsoft.com/office/drawing/2014/main" id="{387988EF-976A-754F-A71F-7DE7B6FA7854}"/>
              </a:ext>
            </a:extLst>
          </p:cNvPr>
          <p:cNvSpPr>
            <a:spLocks noGrp="1" noChangeArrowheads="1"/>
          </p:cNvSpPr>
          <p:nvPr>
            <p:ph type="subTitle" idx="1"/>
          </p:nvPr>
        </p:nvSpPr>
        <p:spPr>
          <a:xfrm>
            <a:off x="588963" y="2781300"/>
            <a:ext cx="3816350" cy="1198563"/>
          </a:xfrm>
        </p:spPr>
        <p:txBody>
          <a:bodyPr/>
          <a:lstStyle/>
          <a:p>
            <a:pPr algn="l" eaLnBrk="1" hangingPunct="1"/>
            <a:r>
              <a:rPr lang="en-GB" altLang="en-US" b="1">
                <a:solidFill>
                  <a:srgbClr val="C00000"/>
                </a:solidFill>
              </a:rPr>
              <a:t>BT 451</a:t>
            </a:r>
          </a:p>
          <a:p>
            <a:pPr algn="l" eaLnBrk="1" hangingPunct="1"/>
            <a:r>
              <a:rPr lang="en-GB" altLang="en-US" b="1">
                <a:solidFill>
                  <a:srgbClr val="C00000"/>
                </a:solidFill>
              </a:rPr>
              <a:t>Chapter 10</a:t>
            </a:r>
          </a:p>
        </p:txBody>
      </p:sp>
      <p:pic>
        <p:nvPicPr>
          <p:cNvPr id="7172" name="Picture 11" descr="10_00Figure-L">
            <a:extLst>
              <a:ext uri="{FF2B5EF4-FFF2-40B4-BE49-F238E27FC236}">
                <a16:creationId xmlns:a16="http://schemas.microsoft.com/office/drawing/2014/main" id="{A4FE49EF-A111-8C37-0F2E-16CF08861D5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6497"/>
          <a:stretch>
            <a:fillRect/>
          </a:stretch>
        </p:blipFill>
        <p:spPr bwMode="auto">
          <a:xfrm>
            <a:off x="4716463" y="2276475"/>
            <a:ext cx="3816350" cy="377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a:extLst>
              <a:ext uri="{FF2B5EF4-FFF2-40B4-BE49-F238E27FC236}">
                <a16:creationId xmlns:a16="http://schemas.microsoft.com/office/drawing/2014/main" id="{3D16654B-FE69-0883-FD8F-73AB14087E51}"/>
              </a:ext>
            </a:extLst>
          </p:cNvPr>
          <p:cNvSpPr>
            <a:spLocks noGrp="1" noChangeArrowheads="1"/>
          </p:cNvSpPr>
          <p:nvPr>
            <p:ph type="title"/>
          </p:nvPr>
        </p:nvSpPr>
        <p:spPr/>
        <p:txBody>
          <a:bodyPr/>
          <a:lstStyle/>
          <a:p>
            <a:pPr eaLnBrk="1" hangingPunct="1"/>
            <a:r>
              <a:rPr lang="en-GB" altLang="en-US" b="1">
                <a:solidFill>
                  <a:srgbClr val="0000FF"/>
                </a:solidFill>
              </a:rPr>
              <a:t>Introduction</a:t>
            </a:r>
          </a:p>
        </p:txBody>
      </p:sp>
      <p:sp>
        <p:nvSpPr>
          <p:cNvPr id="9219" name="Rectangle 3">
            <a:extLst>
              <a:ext uri="{FF2B5EF4-FFF2-40B4-BE49-F238E27FC236}">
                <a16:creationId xmlns:a16="http://schemas.microsoft.com/office/drawing/2014/main" id="{F5447FB8-0A7A-0C5E-E887-6A9887FEBB71}"/>
              </a:ext>
            </a:extLst>
          </p:cNvPr>
          <p:cNvSpPr>
            <a:spLocks noGrp="1" noChangeArrowheads="1"/>
          </p:cNvSpPr>
          <p:nvPr>
            <p:ph idx="1"/>
          </p:nvPr>
        </p:nvSpPr>
        <p:spPr/>
        <p:txBody>
          <a:bodyPr/>
          <a:lstStyle/>
          <a:p>
            <a:pPr eaLnBrk="1" hangingPunct="1">
              <a:lnSpc>
                <a:spcPct val="120000"/>
              </a:lnSpc>
            </a:pPr>
            <a:r>
              <a:rPr lang="en-GB" altLang="en-US" sz="2800" b="1"/>
              <a:t>High level of accuracy in DNA synthesis (1 mistake in 10</a:t>
            </a:r>
            <a:r>
              <a:rPr lang="en-GB" altLang="en-US" sz="2800" b="1" baseline="30000"/>
              <a:t>10</a:t>
            </a:r>
            <a:r>
              <a:rPr lang="en-GB" altLang="en-US" sz="2800" b="1"/>
              <a:t>)</a:t>
            </a:r>
          </a:p>
          <a:p>
            <a:pPr eaLnBrk="1" hangingPunct="1">
              <a:lnSpc>
                <a:spcPct val="120000"/>
              </a:lnSpc>
            </a:pPr>
            <a:r>
              <a:rPr lang="en-GB" altLang="en-US" sz="2800" b="1"/>
              <a:t>Base-pair geometry &amp; complementarity prevent mistakes to occur in 10</a:t>
            </a:r>
            <a:r>
              <a:rPr lang="en-GB" altLang="en-US" sz="2800" b="1" baseline="30000"/>
              <a:t>5</a:t>
            </a:r>
            <a:r>
              <a:rPr lang="en-GB" altLang="en-US" sz="2800" b="1"/>
              <a:t> times.</a:t>
            </a:r>
          </a:p>
          <a:p>
            <a:pPr eaLnBrk="1" hangingPunct="1">
              <a:lnSpc>
                <a:spcPct val="120000"/>
              </a:lnSpc>
              <a:buFont typeface="Wingdings" pitchFamily="2" charset="2"/>
              <a:buNone/>
            </a:pPr>
            <a:endParaRPr lang="en-GB" altLang="en-US" sz="2800" b="1"/>
          </a:p>
          <a:p>
            <a:pPr algn="ctr" eaLnBrk="1" hangingPunct="1">
              <a:lnSpc>
                <a:spcPct val="120000"/>
              </a:lnSpc>
              <a:buFont typeface="Wingdings" pitchFamily="2" charset="2"/>
              <a:buNone/>
            </a:pPr>
            <a:r>
              <a:rPr lang="en-GB" altLang="en-US" sz="2800" b="1">
                <a:solidFill>
                  <a:srgbClr val="0000FF"/>
                </a:solidFill>
              </a:rPr>
              <a:t>How mistakes are prevented in order to reach the high level of accuracy?</a:t>
            </a:r>
          </a:p>
          <a:p>
            <a:pPr eaLnBrk="1" hangingPunct="1"/>
            <a:endParaRPr lang="en-GB" altLang="en-US" sz="2800" b="1">
              <a:solidFill>
                <a:srgbClr val="FFFF00"/>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3AC35EC7-EF83-5D18-D6AD-821FA061C3F0}"/>
              </a:ext>
            </a:extLst>
          </p:cNvPr>
          <p:cNvSpPr>
            <a:spLocks noGrp="1" noChangeArrowheads="1"/>
          </p:cNvSpPr>
          <p:nvPr>
            <p:ph type="title"/>
          </p:nvPr>
        </p:nvSpPr>
        <p:spPr>
          <a:xfrm>
            <a:off x="468313" y="0"/>
            <a:ext cx="8229600" cy="1143000"/>
          </a:xfrm>
        </p:spPr>
        <p:txBody>
          <a:bodyPr/>
          <a:lstStyle/>
          <a:p>
            <a:pPr eaLnBrk="1" hangingPunct="1"/>
            <a:r>
              <a:rPr lang="en-US" altLang="en-US" b="1">
                <a:solidFill>
                  <a:srgbClr val="0000FF"/>
                </a:solidFill>
              </a:rPr>
              <a:t>Topics</a:t>
            </a:r>
          </a:p>
        </p:txBody>
      </p:sp>
      <p:sp>
        <p:nvSpPr>
          <p:cNvPr id="11267" name="Rectangle 3">
            <a:extLst>
              <a:ext uri="{FF2B5EF4-FFF2-40B4-BE49-F238E27FC236}">
                <a16:creationId xmlns:a16="http://schemas.microsoft.com/office/drawing/2014/main" id="{61052F9B-622B-8D93-C91E-6C23BA7265BD}"/>
              </a:ext>
            </a:extLst>
          </p:cNvPr>
          <p:cNvSpPr>
            <a:spLocks noGrp="1" noChangeArrowheads="1"/>
          </p:cNvSpPr>
          <p:nvPr>
            <p:ph idx="1"/>
          </p:nvPr>
        </p:nvSpPr>
        <p:spPr>
          <a:xfrm>
            <a:off x="611188" y="908050"/>
            <a:ext cx="8424862" cy="5689600"/>
          </a:xfrm>
        </p:spPr>
        <p:txBody>
          <a:bodyPr/>
          <a:lstStyle/>
          <a:p>
            <a:pPr marL="609600" indent="-609600" eaLnBrk="1" hangingPunct="1">
              <a:lnSpc>
                <a:spcPct val="80000"/>
              </a:lnSpc>
            </a:pPr>
            <a:r>
              <a:rPr lang="en-US" altLang="en-US" sz="2800" b="1">
                <a:solidFill>
                  <a:srgbClr val="FF0000"/>
                </a:solidFill>
              </a:rPr>
              <a:t>Types of DNA errors</a:t>
            </a:r>
          </a:p>
          <a:p>
            <a:pPr marL="990600" lvl="1" indent="-533400" eaLnBrk="1" hangingPunct="1">
              <a:lnSpc>
                <a:spcPct val="80000"/>
              </a:lnSpc>
            </a:pPr>
            <a:r>
              <a:rPr lang="en-US" altLang="en-US"/>
              <a:t>SNP</a:t>
            </a:r>
          </a:p>
          <a:p>
            <a:pPr marL="990600" lvl="1" indent="-533400" eaLnBrk="1" hangingPunct="1">
              <a:lnSpc>
                <a:spcPct val="80000"/>
              </a:lnSpc>
            </a:pPr>
            <a:r>
              <a:rPr lang="en-US" altLang="en-US"/>
              <a:t>Microsatellite</a:t>
            </a:r>
          </a:p>
          <a:p>
            <a:pPr marL="990600" lvl="1" indent="-533400" eaLnBrk="1" hangingPunct="1">
              <a:lnSpc>
                <a:spcPct val="80000"/>
              </a:lnSpc>
            </a:pPr>
            <a:r>
              <a:rPr lang="en-US" altLang="en-US"/>
              <a:t>Transposition</a:t>
            </a:r>
          </a:p>
          <a:p>
            <a:pPr marL="990600" lvl="1" indent="-533400" eaLnBrk="1" hangingPunct="1">
              <a:lnSpc>
                <a:spcPct val="80000"/>
              </a:lnSpc>
            </a:pPr>
            <a:r>
              <a:rPr lang="en-US" altLang="en-US"/>
              <a:t>Double strand break </a:t>
            </a:r>
          </a:p>
          <a:p>
            <a:pPr marL="609600" indent="-609600" eaLnBrk="1" hangingPunct="1">
              <a:lnSpc>
                <a:spcPct val="80000"/>
              </a:lnSpc>
            </a:pPr>
            <a:r>
              <a:rPr lang="en-US" altLang="en-US" sz="2800" b="1">
                <a:solidFill>
                  <a:srgbClr val="FF0000"/>
                </a:solidFill>
              </a:rPr>
              <a:t>Sources of errors</a:t>
            </a:r>
          </a:p>
          <a:p>
            <a:pPr marL="990600" lvl="1" indent="-533400" eaLnBrk="1" hangingPunct="1">
              <a:lnSpc>
                <a:spcPct val="80000"/>
              </a:lnSpc>
              <a:buFontTx/>
              <a:buAutoNum type="arabicPeriod"/>
            </a:pPr>
            <a:r>
              <a:rPr lang="en-US" altLang="en-US"/>
              <a:t>Inaccuracy of DNA replication</a:t>
            </a:r>
          </a:p>
          <a:p>
            <a:pPr marL="990600" lvl="1" indent="-533400" eaLnBrk="1" hangingPunct="1">
              <a:lnSpc>
                <a:spcPct val="80000"/>
              </a:lnSpc>
              <a:buFontTx/>
              <a:buAutoNum type="arabicPeriod"/>
            </a:pPr>
            <a:r>
              <a:rPr lang="en-US" altLang="en-US"/>
              <a:t>Chemical/radiation damage of DNA</a:t>
            </a:r>
          </a:p>
          <a:p>
            <a:pPr marL="990600" lvl="1" indent="-533400" eaLnBrk="1" hangingPunct="1">
              <a:lnSpc>
                <a:spcPct val="80000"/>
              </a:lnSpc>
              <a:buFontTx/>
              <a:buAutoNum type="arabicPeriod"/>
            </a:pPr>
            <a:r>
              <a:rPr lang="en-US" altLang="en-US"/>
              <a:t>Insertion of DNA element (transposons)</a:t>
            </a:r>
          </a:p>
          <a:p>
            <a:pPr marL="990600" lvl="1" indent="-533400" eaLnBrk="1" hangingPunct="1">
              <a:lnSpc>
                <a:spcPct val="80000"/>
              </a:lnSpc>
              <a:buFontTx/>
              <a:buAutoNum type="arabicPeriod"/>
            </a:pPr>
            <a:r>
              <a:rPr lang="en-US" altLang="en-US"/>
              <a:t>Spontaneous damage</a:t>
            </a:r>
          </a:p>
          <a:p>
            <a:pPr marL="609600" indent="-609600" eaLnBrk="1" hangingPunct="1">
              <a:lnSpc>
                <a:spcPct val="80000"/>
              </a:lnSpc>
            </a:pPr>
            <a:r>
              <a:rPr lang="en-US" altLang="en-US" sz="2800" b="1">
                <a:solidFill>
                  <a:srgbClr val="FF0000"/>
                </a:solidFill>
              </a:rPr>
              <a:t>Repair of DNA damage</a:t>
            </a:r>
          </a:p>
          <a:p>
            <a:pPr marL="990600" lvl="1" indent="-533400" eaLnBrk="1" hangingPunct="1">
              <a:lnSpc>
                <a:spcPct val="80000"/>
              </a:lnSpc>
            </a:pPr>
            <a:r>
              <a:rPr lang="en-US" altLang="en-US"/>
              <a:t>How DNA is repaired </a:t>
            </a:r>
            <a:r>
              <a:rPr lang="en-US" altLang="en-US" u="sng"/>
              <a:t>quickly???</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4" name="Picture 4" descr="img032">
            <a:extLst>
              <a:ext uri="{FF2B5EF4-FFF2-40B4-BE49-F238E27FC236}">
                <a16:creationId xmlns:a16="http://schemas.microsoft.com/office/drawing/2014/main" id="{B30D28BB-9355-DB01-038D-DB26C716D2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947" t="10638" b="2878"/>
          <a:stretch>
            <a:fillRect/>
          </a:stretch>
        </p:blipFill>
        <p:spPr bwMode="auto">
          <a:xfrm>
            <a:off x="3314700" y="115888"/>
            <a:ext cx="5616575" cy="3168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5" name="Rectangle 8">
            <a:extLst>
              <a:ext uri="{FF2B5EF4-FFF2-40B4-BE49-F238E27FC236}">
                <a16:creationId xmlns:a16="http://schemas.microsoft.com/office/drawing/2014/main" id="{0713C4E4-4804-C728-D1EE-DC56B9F819C1}"/>
              </a:ext>
            </a:extLst>
          </p:cNvPr>
          <p:cNvSpPr>
            <a:spLocks noGrp="1" noChangeArrowheads="1"/>
          </p:cNvSpPr>
          <p:nvPr>
            <p:ph type="title"/>
          </p:nvPr>
        </p:nvSpPr>
        <p:spPr>
          <a:xfrm>
            <a:off x="457200" y="277813"/>
            <a:ext cx="2962275" cy="1143000"/>
          </a:xfrm>
        </p:spPr>
        <p:txBody>
          <a:bodyPr/>
          <a:lstStyle/>
          <a:p>
            <a:pPr eaLnBrk="1" hangingPunct="1"/>
            <a:r>
              <a:rPr lang="en-US" altLang="en-US" b="1" u="sng">
                <a:solidFill>
                  <a:srgbClr val="0000FF"/>
                </a:solidFill>
              </a:rPr>
              <a:t>Mutation</a:t>
            </a:r>
            <a:endParaRPr lang="en-GB" altLang="en-US" b="1" u="sng">
              <a:solidFill>
                <a:srgbClr val="0000FF"/>
              </a:solidFill>
            </a:endParaRPr>
          </a:p>
        </p:txBody>
      </p:sp>
      <p:sp>
        <p:nvSpPr>
          <p:cNvPr id="13316" name="Rectangle 10">
            <a:extLst>
              <a:ext uri="{FF2B5EF4-FFF2-40B4-BE49-F238E27FC236}">
                <a16:creationId xmlns:a16="http://schemas.microsoft.com/office/drawing/2014/main" id="{5478AD66-A54A-92F3-DB50-0D5EBBCA124D}"/>
              </a:ext>
            </a:extLst>
          </p:cNvPr>
          <p:cNvSpPr>
            <a:spLocks noGrp="1" noChangeArrowheads="1"/>
          </p:cNvSpPr>
          <p:nvPr>
            <p:ph type="body" sz="half" idx="2"/>
          </p:nvPr>
        </p:nvSpPr>
        <p:spPr>
          <a:xfrm>
            <a:off x="179388" y="3429000"/>
            <a:ext cx="8785225" cy="3024188"/>
          </a:xfrm>
        </p:spPr>
        <p:txBody>
          <a:bodyPr/>
          <a:lstStyle/>
          <a:p>
            <a:pPr eaLnBrk="1" hangingPunct="1"/>
            <a:r>
              <a:rPr lang="en-US" altLang="en-US" sz="2800" b="1"/>
              <a:t>A mismatch will be a mutation in the second round of replication</a:t>
            </a:r>
          </a:p>
          <a:p>
            <a:pPr eaLnBrk="1" hangingPunct="1"/>
            <a:endParaRPr lang="en-US" altLang="en-US" sz="2800" b="1"/>
          </a:p>
          <a:p>
            <a:pPr eaLnBrk="1" hangingPunct="1"/>
            <a:r>
              <a:rPr lang="en-US" altLang="en-US" sz="2800" b="1"/>
              <a:t>Mutation could be in coding or non-coding DNA</a:t>
            </a:r>
          </a:p>
          <a:p>
            <a:pPr eaLnBrk="1" hangingPunct="1"/>
            <a:endParaRPr lang="en-US" altLang="en-US" sz="14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Rectangle 2">
            <a:extLst>
              <a:ext uri="{FF2B5EF4-FFF2-40B4-BE49-F238E27FC236}">
                <a16:creationId xmlns:a16="http://schemas.microsoft.com/office/drawing/2014/main" id="{2DE6402B-C2A5-85F0-85EE-8B980AC49713}"/>
              </a:ext>
            </a:extLst>
          </p:cNvPr>
          <p:cNvSpPr>
            <a:spLocks noGrp="1" noChangeArrowheads="1"/>
          </p:cNvSpPr>
          <p:nvPr>
            <p:ph type="title"/>
          </p:nvPr>
        </p:nvSpPr>
        <p:spPr/>
        <p:txBody>
          <a:bodyPr>
            <a:normAutofit fontScale="90000"/>
          </a:bodyPr>
          <a:lstStyle/>
          <a:p>
            <a:pPr eaLnBrk="1" hangingPunct="1">
              <a:defRPr/>
            </a:pPr>
            <a:r>
              <a:rPr lang="en-GB" sz="3600" b="1">
                <a:solidFill>
                  <a:schemeClr val="hlink"/>
                </a:solidFill>
              </a:rPr>
              <a:t>Types of DNA errors</a:t>
            </a:r>
            <a:br>
              <a:rPr lang="en-GB" sz="3600" b="1">
                <a:solidFill>
                  <a:schemeClr val="hlink"/>
                </a:solidFill>
              </a:rPr>
            </a:br>
            <a:r>
              <a:rPr lang="en-GB" sz="3600" b="1">
                <a:solidFill>
                  <a:schemeClr val="hlink"/>
                </a:solidFill>
              </a:rPr>
              <a:t> </a:t>
            </a:r>
            <a:r>
              <a:rPr lang="en-GB" sz="2500" b="1">
                <a:solidFill>
                  <a:schemeClr val="hlink"/>
                </a:solidFill>
              </a:rPr>
              <a:t>(Nature of Mutations)</a:t>
            </a:r>
          </a:p>
        </p:txBody>
      </p:sp>
      <p:sp>
        <p:nvSpPr>
          <p:cNvPr id="15363" name="Rectangle 3">
            <a:extLst>
              <a:ext uri="{FF2B5EF4-FFF2-40B4-BE49-F238E27FC236}">
                <a16:creationId xmlns:a16="http://schemas.microsoft.com/office/drawing/2014/main" id="{D50A54F4-3A8E-13B9-229F-5CB13C549CCC}"/>
              </a:ext>
            </a:extLst>
          </p:cNvPr>
          <p:cNvSpPr>
            <a:spLocks noGrp="1" noChangeArrowheads="1"/>
          </p:cNvSpPr>
          <p:nvPr>
            <p:ph idx="1"/>
          </p:nvPr>
        </p:nvSpPr>
        <p:spPr>
          <a:xfrm>
            <a:off x="457200" y="1600200"/>
            <a:ext cx="4691063" cy="4525963"/>
          </a:xfrm>
        </p:spPr>
        <p:txBody>
          <a:bodyPr/>
          <a:lstStyle/>
          <a:p>
            <a:pPr marL="609600" indent="-609600" eaLnBrk="1" hangingPunct="1">
              <a:lnSpc>
                <a:spcPct val="140000"/>
              </a:lnSpc>
              <a:buFont typeface="Wingdings" pitchFamily="2" charset="2"/>
              <a:buAutoNum type="arabicPeriod"/>
            </a:pPr>
            <a:r>
              <a:rPr lang="en-GB" altLang="en-US" b="1">
                <a:solidFill>
                  <a:srgbClr val="FF0000"/>
                </a:solidFill>
              </a:rPr>
              <a:t>Point Mutation (SNP)</a:t>
            </a:r>
          </a:p>
          <a:p>
            <a:pPr marL="609600" indent="-609600" eaLnBrk="1" hangingPunct="1">
              <a:lnSpc>
                <a:spcPct val="140000"/>
              </a:lnSpc>
            </a:pPr>
            <a:r>
              <a:rPr lang="en-GB" altLang="en-US"/>
              <a:t>Transition</a:t>
            </a:r>
          </a:p>
          <a:p>
            <a:pPr marL="609600" indent="-609600" eaLnBrk="1" hangingPunct="1">
              <a:lnSpc>
                <a:spcPct val="140000"/>
              </a:lnSpc>
            </a:pPr>
            <a:r>
              <a:rPr lang="en-GB" altLang="en-US">
                <a:sym typeface="Symbol" pitchFamily="2" charset="2"/>
              </a:rPr>
              <a:t>Transversion</a:t>
            </a:r>
          </a:p>
          <a:p>
            <a:pPr marL="609600" indent="-609600" eaLnBrk="1" hangingPunct="1">
              <a:lnSpc>
                <a:spcPct val="140000"/>
              </a:lnSpc>
            </a:pPr>
            <a:r>
              <a:rPr lang="en-GB" altLang="en-US">
                <a:sym typeface="Symbol" pitchFamily="2" charset="2"/>
              </a:rPr>
              <a:t>Insertion</a:t>
            </a:r>
          </a:p>
          <a:p>
            <a:pPr marL="609600" indent="-609600" eaLnBrk="1" hangingPunct="1">
              <a:lnSpc>
                <a:spcPct val="140000"/>
              </a:lnSpc>
            </a:pPr>
            <a:r>
              <a:rPr lang="en-GB" altLang="en-US">
                <a:sym typeface="Symbol" pitchFamily="2" charset="2"/>
              </a:rPr>
              <a:t>Deletion</a:t>
            </a:r>
          </a:p>
        </p:txBody>
      </p:sp>
      <p:pic>
        <p:nvPicPr>
          <p:cNvPr id="15364" name="Picture 4">
            <a:extLst>
              <a:ext uri="{FF2B5EF4-FFF2-40B4-BE49-F238E27FC236}">
                <a16:creationId xmlns:a16="http://schemas.microsoft.com/office/drawing/2014/main" id="{D867083F-EBDA-CCC6-6F89-36302CDFB03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17169" b="2991"/>
          <a:stretch>
            <a:fillRect/>
          </a:stretch>
        </p:blipFill>
        <p:spPr bwMode="auto">
          <a:xfrm>
            <a:off x="6372225" y="1412875"/>
            <a:ext cx="1990725" cy="2520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365" name="Picture 5">
            <a:extLst>
              <a:ext uri="{FF2B5EF4-FFF2-40B4-BE49-F238E27FC236}">
                <a16:creationId xmlns:a16="http://schemas.microsoft.com/office/drawing/2014/main" id="{FF960719-A49C-7E4E-B75A-F596ADAED3C9}"/>
              </a:ext>
            </a:extLst>
          </p:cNvPr>
          <p:cNvPicPr>
            <a:picLocks noChangeAspect="1" noChangeArrowheads="1"/>
          </p:cNvPicPr>
          <p:nvPr/>
        </p:nvPicPr>
        <p:blipFill>
          <a:blip r:embed="rId4">
            <a:extLst>
              <a:ext uri="{28A0092B-C50C-407E-A947-70E740481C1C}">
                <a14:useLocalDpi xmlns:a14="http://schemas.microsoft.com/office/drawing/2010/main" val="0"/>
              </a:ext>
            </a:extLst>
          </a:blip>
          <a:srcRect t="17169" b="2991"/>
          <a:stretch>
            <a:fillRect/>
          </a:stretch>
        </p:blipFill>
        <p:spPr bwMode="auto">
          <a:xfrm>
            <a:off x="5867400" y="4197350"/>
            <a:ext cx="3025775" cy="20081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3F526BEC-0F4E-B57E-D68C-27658CDDFA2A}"/>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GB" sz="4000" b="1" dirty="0">
                <a:solidFill>
                  <a:srgbClr val="0000FF"/>
                </a:solidFill>
              </a:rPr>
              <a:t>Types of DNA errors</a:t>
            </a:r>
            <a:br>
              <a:rPr lang="en-GB" sz="4000" b="1" dirty="0">
                <a:solidFill>
                  <a:srgbClr val="0000FF"/>
                </a:solidFill>
              </a:rPr>
            </a:br>
            <a:r>
              <a:rPr lang="en-GB" sz="4000" dirty="0">
                <a:solidFill>
                  <a:srgbClr val="0000FF"/>
                </a:solidFill>
              </a:rPr>
              <a:t> </a:t>
            </a:r>
            <a:r>
              <a:rPr lang="en-GB" sz="2800" b="1" dirty="0">
                <a:solidFill>
                  <a:srgbClr val="0000FF"/>
                </a:solidFill>
              </a:rPr>
              <a:t>(Nature of Mutations)</a:t>
            </a:r>
          </a:p>
        </p:txBody>
      </p:sp>
      <p:sp>
        <p:nvSpPr>
          <p:cNvPr id="17411" name="Rectangle 3">
            <a:extLst>
              <a:ext uri="{FF2B5EF4-FFF2-40B4-BE49-F238E27FC236}">
                <a16:creationId xmlns:a16="http://schemas.microsoft.com/office/drawing/2014/main" id="{12F96FDA-BAB1-F1E9-2C4A-058D6AE93B20}"/>
              </a:ext>
            </a:extLst>
          </p:cNvPr>
          <p:cNvSpPr>
            <a:spLocks noGrp="1" noChangeArrowheads="1"/>
          </p:cNvSpPr>
          <p:nvPr>
            <p:ph idx="1"/>
          </p:nvPr>
        </p:nvSpPr>
        <p:spPr>
          <a:xfrm>
            <a:off x="250825" y="1600200"/>
            <a:ext cx="8642350" cy="4530725"/>
          </a:xfrm>
        </p:spPr>
        <p:txBody>
          <a:bodyPr/>
          <a:lstStyle/>
          <a:p>
            <a:pPr marL="609600" indent="-609600" eaLnBrk="1" hangingPunct="1">
              <a:lnSpc>
                <a:spcPct val="90000"/>
              </a:lnSpc>
              <a:buFont typeface="Wingdings" pitchFamily="2" charset="2"/>
              <a:buAutoNum type="arabicPeriod" startAt="2"/>
            </a:pPr>
            <a:r>
              <a:rPr lang="en-GB" altLang="en-US" b="1">
                <a:solidFill>
                  <a:srgbClr val="FF0000"/>
                </a:solidFill>
                <a:sym typeface="Symbol" pitchFamily="2" charset="2"/>
              </a:rPr>
              <a:t>DNA microsatellites</a:t>
            </a:r>
          </a:p>
          <a:p>
            <a:pPr marL="609600" indent="-609600" eaLnBrk="1" hangingPunct="1">
              <a:lnSpc>
                <a:spcPct val="90000"/>
              </a:lnSpc>
              <a:buFont typeface="Wingdings" pitchFamily="2" charset="2"/>
              <a:buNone/>
            </a:pPr>
            <a:r>
              <a:rPr lang="en-GB" altLang="en-US">
                <a:sym typeface="Symbol" pitchFamily="2" charset="2"/>
              </a:rPr>
              <a:t>	Mutation-prone- sequences </a:t>
            </a:r>
          </a:p>
          <a:p>
            <a:pPr marL="609600" indent="-609600" eaLnBrk="1" hangingPunct="1">
              <a:lnSpc>
                <a:spcPct val="90000"/>
              </a:lnSpc>
            </a:pPr>
            <a:r>
              <a:rPr lang="en-GB" altLang="en-US" u="sng">
                <a:sym typeface="Symbol" pitchFamily="2" charset="2"/>
              </a:rPr>
              <a:t>Insertion/deletion</a:t>
            </a:r>
            <a:r>
              <a:rPr lang="en-GB" altLang="en-US">
                <a:sym typeface="Symbol" pitchFamily="2" charset="2"/>
              </a:rPr>
              <a:t> of Di, tri, tetranucleotide sequence (</a:t>
            </a:r>
            <a:r>
              <a:rPr lang="en-GB" altLang="en-US">
                <a:solidFill>
                  <a:srgbClr val="0000FF"/>
                </a:solidFill>
                <a:sym typeface="Symbol" pitchFamily="2" charset="2"/>
              </a:rPr>
              <a:t>CA</a:t>
            </a:r>
            <a:r>
              <a:rPr lang="en-GB" altLang="en-US">
                <a:solidFill>
                  <a:srgbClr val="FF9900"/>
                </a:solidFill>
                <a:sym typeface="Symbol" pitchFamily="2" charset="2"/>
              </a:rPr>
              <a:t>CA</a:t>
            </a:r>
            <a:r>
              <a:rPr lang="en-GB" altLang="en-US">
                <a:solidFill>
                  <a:srgbClr val="00FF00"/>
                </a:solidFill>
                <a:sym typeface="Symbol" pitchFamily="2" charset="2"/>
              </a:rPr>
              <a:t>CA</a:t>
            </a:r>
            <a:r>
              <a:rPr lang="en-GB" altLang="en-US">
                <a:sym typeface="Symbol" pitchFamily="2" charset="2"/>
              </a:rPr>
              <a:t>, </a:t>
            </a:r>
            <a:r>
              <a:rPr lang="en-GB" altLang="en-US">
                <a:solidFill>
                  <a:srgbClr val="0000FF"/>
                </a:solidFill>
                <a:sym typeface="Symbol" pitchFamily="2" charset="2"/>
              </a:rPr>
              <a:t>CGG</a:t>
            </a:r>
            <a:r>
              <a:rPr lang="en-GB" altLang="en-US">
                <a:solidFill>
                  <a:srgbClr val="FF9900"/>
                </a:solidFill>
                <a:sym typeface="Symbol" pitchFamily="2" charset="2"/>
              </a:rPr>
              <a:t>CGG</a:t>
            </a:r>
            <a:r>
              <a:rPr lang="en-GB" altLang="en-US">
                <a:solidFill>
                  <a:srgbClr val="00FF00"/>
                </a:solidFill>
                <a:sym typeface="Symbol" pitchFamily="2" charset="2"/>
              </a:rPr>
              <a:t>CGG</a:t>
            </a:r>
            <a:r>
              <a:rPr lang="en-GB" altLang="en-US">
                <a:solidFill>
                  <a:srgbClr val="0000FF"/>
                </a:solidFill>
                <a:sym typeface="Symbol" pitchFamily="2" charset="2"/>
              </a:rPr>
              <a:t>CGG</a:t>
            </a:r>
            <a:r>
              <a:rPr lang="en-GB" altLang="en-US">
                <a:sym typeface="Symbol" pitchFamily="2" charset="2"/>
              </a:rPr>
              <a:t>)</a:t>
            </a:r>
          </a:p>
          <a:p>
            <a:pPr marL="609600" indent="-609600" eaLnBrk="1" hangingPunct="1">
              <a:lnSpc>
                <a:spcPct val="90000"/>
              </a:lnSpc>
            </a:pPr>
            <a:endParaRPr lang="en-GB" altLang="en-US">
              <a:sym typeface="Symbol" pitchFamily="2" charset="2"/>
            </a:endParaRPr>
          </a:p>
          <a:p>
            <a:pPr marL="609600" indent="-609600" eaLnBrk="1" hangingPunct="1">
              <a:lnSpc>
                <a:spcPct val="90000"/>
              </a:lnSpc>
            </a:pPr>
            <a:r>
              <a:rPr lang="en-GB" altLang="en-US">
                <a:sym typeface="Symbol" pitchFamily="2" charset="2"/>
              </a:rPr>
              <a:t>Hot spot areas for mutation</a:t>
            </a:r>
          </a:p>
          <a:p>
            <a:pPr marL="609600" indent="-609600" eaLnBrk="1" hangingPunct="1">
              <a:lnSpc>
                <a:spcPct val="90000"/>
              </a:lnSpc>
            </a:pPr>
            <a:endParaRPr lang="en-GB" altLang="en-US">
              <a:sym typeface="Symbol" pitchFamily="2" charset="2"/>
            </a:endParaRPr>
          </a:p>
          <a:p>
            <a:pPr marL="609600" indent="-609600" eaLnBrk="1" hangingPunct="1">
              <a:lnSpc>
                <a:spcPct val="90000"/>
              </a:lnSpc>
            </a:pPr>
            <a:r>
              <a:rPr lang="en-GB" altLang="en-US">
                <a:sym typeface="Symbol" pitchFamily="2" charset="2"/>
              </a:rPr>
              <a:t>Used as physical genetic markers for mapping genetic diseases</a:t>
            </a:r>
            <a:endParaRPr lang="en-GB" altLang="en-US">
              <a:solidFill>
                <a:srgbClr val="FFFF00"/>
              </a:solidFill>
              <a:sym typeface="Symbol" pitchFamily="2" charset="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923FC224-A5B1-5B64-8049-9F1D0FE905D9}"/>
              </a:ext>
            </a:extLst>
          </p:cNvPr>
          <p:cNvSpPr>
            <a:spLocks noGrp="1" noChangeArrowheads="1"/>
          </p:cNvSpPr>
          <p:nvPr>
            <p:ph type="title"/>
          </p:nvPr>
        </p:nvSpPr>
        <p:spPr/>
        <p:txBody>
          <a:bodyPr rtlCol="0">
            <a:normAutofit fontScale="90000"/>
          </a:bodyPr>
          <a:lstStyle/>
          <a:p>
            <a:pPr eaLnBrk="1" fontAlgn="auto" hangingPunct="1">
              <a:spcAft>
                <a:spcPts val="0"/>
              </a:spcAft>
              <a:defRPr/>
            </a:pPr>
            <a:r>
              <a:rPr lang="en-GB" b="1" dirty="0">
                <a:solidFill>
                  <a:srgbClr val="0000FF"/>
                </a:solidFill>
              </a:rPr>
              <a:t>Types of DNA errors</a:t>
            </a:r>
            <a:br>
              <a:rPr lang="en-GB" b="1" dirty="0">
                <a:solidFill>
                  <a:srgbClr val="0000FF"/>
                </a:solidFill>
              </a:rPr>
            </a:br>
            <a:r>
              <a:rPr lang="en-GB" dirty="0">
                <a:solidFill>
                  <a:srgbClr val="0000FF"/>
                </a:solidFill>
              </a:rPr>
              <a:t> </a:t>
            </a:r>
            <a:r>
              <a:rPr lang="en-GB" sz="3200" dirty="0">
                <a:solidFill>
                  <a:srgbClr val="0000FF"/>
                </a:solidFill>
              </a:rPr>
              <a:t>(Nature of Mutations)</a:t>
            </a:r>
          </a:p>
        </p:txBody>
      </p:sp>
      <p:sp>
        <p:nvSpPr>
          <p:cNvPr id="19459" name="Rectangle 3">
            <a:extLst>
              <a:ext uri="{FF2B5EF4-FFF2-40B4-BE49-F238E27FC236}">
                <a16:creationId xmlns:a16="http://schemas.microsoft.com/office/drawing/2014/main" id="{3568CFB7-8B13-5BEC-9B45-69F2B133A88F}"/>
              </a:ext>
            </a:extLst>
          </p:cNvPr>
          <p:cNvSpPr>
            <a:spLocks noGrp="1" noChangeArrowheads="1"/>
          </p:cNvSpPr>
          <p:nvPr>
            <p:ph type="body" sz="half" idx="1"/>
          </p:nvPr>
        </p:nvSpPr>
        <p:spPr>
          <a:xfrm>
            <a:off x="395288" y="2060575"/>
            <a:ext cx="8280400" cy="1008063"/>
          </a:xfrm>
        </p:spPr>
        <p:txBody>
          <a:bodyPr/>
          <a:lstStyle/>
          <a:p>
            <a:pPr marL="609600" indent="-609600" eaLnBrk="1" hangingPunct="1">
              <a:buFont typeface="Wingdings" pitchFamily="2" charset="2"/>
              <a:buAutoNum type="arabicPeriod" startAt="3"/>
            </a:pPr>
            <a:r>
              <a:rPr lang="en-GB" altLang="en-US" sz="2800" b="1">
                <a:solidFill>
                  <a:srgbClr val="FF0000"/>
                </a:solidFill>
                <a:sym typeface="Symbol" pitchFamily="2" charset="2"/>
              </a:rPr>
              <a:t>Transposition</a:t>
            </a:r>
          </a:p>
          <a:p>
            <a:pPr marL="609600" indent="-609600" eaLnBrk="1" hangingPunct="1">
              <a:buClr>
                <a:srgbClr val="FFFF00"/>
              </a:buClr>
              <a:buFont typeface="Wingdings" pitchFamily="2" charset="2"/>
              <a:buAutoNum type="arabicPeriod" startAt="3"/>
            </a:pPr>
            <a:endParaRPr lang="en-GB" altLang="en-US" sz="2800">
              <a:sym typeface="Symbol" pitchFamily="2" charset="2"/>
            </a:endParaRPr>
          </a:p>
        </p:txBody>
      </p:sp>
      <p:pic>
        <p:nvPicPr>
          <p:cNvPr id="19460" name="Picture 4" descr="f17-12b_three_mechanism_c">
            <a:extLst>
              <a:ext uri="{FF2B5EF4-FFF2-40B4-BE49-F238E27FC236}">
                <a16:creationId xmlns:a16="http://schemas.microsoft.com/office/drawing/2014/main" id="{3E54A572-34DC-6F52-3C2C-8A4FA183F75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t="9027" b="18489"/>
          <a:stretch>
            <a:fillRect/>
          </a:stretch>
        </p:blipFill>
        <p:spPr bwMode="auto">
          <a:xfrm>
            <a:off x="1258888" y="2682875"/>
            <a:ext cx="6696075" cy="3638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a:extLst>
              <a:ext uri="{FF2B5EF4-FFF2-40B4-BE49-F238E27FC236}">
                <a16:creationId xmlns:a16="http://schemas.microsoft.com/office/drawing/2014/main" id="{1D5D0B52-4F1D-900B-B2FF-DB5525C2F306}"/>
              </a:ext>
            </a:extLst>
          </p:cNvPr>
          <p:cNvSpPr>
            <a:spLocks noGrp="1" noChangeArrowheads="1"/>
          </p:cNvSpPr>
          <p:nvPr>
            <p:ph type="title"/>
          </p:nvPr>
        </p:nvSpPr>
        <p:spPr>
          <a:xfrm>
            <a:off x="457200" y="0"/>
            <a:ext cx="8229600" cy="1420813"/>
          </a:xfrm>
        </p:spPr>
        <p:txBody>
          <a:bodyPr/>
          <a:lstStyle/>
          <a:p>
            <a:pPr marL="762000" indent="-762000" eaLnBrk="1" hangingPunct="1"/>
            <a:r>
              <a:rPr lang="en-GB" altLang="en-US" sz="4000" b="1">
                <a:solidFill>
                  <a:srgbClr val="0000FF"/>
                </a:solidFill>
              </a:rPr>
              <a:t>Types of DNA errors</a:t>
            </a:r>
            <a:br>
              <a:rPr lang="en-GB" altLang="en-US" sz="4000" b="1">
                <a:solidFill>
                  <a:srgbClr val="0000FF"/>
                </a:solidFill>
              </a:rPr>
            </a:br>
            <a:r>
              <a:rPr lang="en-GB" altLang="en-US" sz="4000" b="1">
                <a:solidFill>
                  <a:srgbClr val="0000FF"/>
                </a:solidFill>
              </a:rPr>
              <a:t> </a:t>
            </a:r>
            <a:r>
              <a:rPr lang="en-GB" altLang="en-US" sz="2800" b="1">
                <a:solidFill>
                  <a:srgbClr val="0000FF"/>
                </a:solidFill>
              </a:rPr>
              <a:t>(Nature of Mutations)</a:t>
            </a:r>
            <a:endParaRPr lang="en-GB" altLang="en-US" sz="4000" b="1">
              <a:solidFill>
                <a:srgbClr val="0000FF"/>
              </a:solidFill>
              <a:sym typeface="Symbol" pitchFamily="2" charset="2"/>
            </a:endParaRPr>
          </a:p>
        </p:txBody>
      </p:sp>
      <p:sp>
        <p:nvSpPr>
          <p:cNvPr id="21507" name="Rectangle 3">
            <a:extLst>
              <a:ext uri="{FF2B5EF4-FFF2-40B4-BE49-F238E27FC236}">
                <a16:creationId xmlns:a16="http://schemas.microsoft.com/office/drawing/2014/main" id="{02664C33-E460-995F-7D0F-B8E0C549B425}"/>
              </a:ext>
            </a:extLst>
          </p:cNvPr>
          <p:cNvSpPr>
            <a:spLocks noGrp="1" noChangeArrowheads="1"/>
          </p:cNvSpPr>
          <p:nvPr>
            <p:ph type="body" sz="half" idx="2"/>
          </p:nvPr>
        </p:nvSpPr>
        <p:spPr>
          <a:xfrm>
            <a:off x="539750" y="4437063"/>
            <a:ext cx="8229600" cy="2189162"/>
          </a:xfrm>
        </p:spPr>
        <p:txBody>
          <a:bodyPr/>
          <a:lstStyle/>
          <a:p>
            <a:pPr marL="609600" indent="-609600" eaLnBrk="1" hangingPunct="1">
              <a:lnSpc>
                <a:spcPct val="90000"/>
              </a:lnSpc>
              <a:buClr>
                <a:srgbClr val="FFFF00"/>
              </a:buClr>
              <a:buFont typeface="Wingdings" pitchFamily="2" charset="2"/>
              <a:buAutoNum type="arabicPeriod" startAt="4"/>
            </a:pPr>
            <a:endParaRPr lang="en-GB" altLang="en-US" sz="2400">
              <a:sym typeface="Symbol" pitchFamily="2" charset="2"/>
            </a:endParaRPr>
          </a:p>
          <a:p>
            <a:pPr marL="609600" indent="-609600" eaLnBrk="1" hangingPunct="1">
              <a:lnSpc>
                <a:spcPct val="90000"/>
              </a:lnSpc>
              <a:buClr>
                <a:srgbClr val="FFFF00"/>
              </a:buClr>
            </a:pPr>
            <a:r>
              <a:rPr lang="en-US" altLang="en-US" sz="2400"/>
              <a:t>Mainly caused by environmental factors</a:t>
            </a:r>
          </a:p>
          <a:p>
            <a:pPr marL="609600" indent="-609600" eaLnBrk="1" hangingPunct="1">
              <a:lnSpc>
                <a:spcPct val="90000"/>
              </a:lnSpc>
              <a:buClr>
                <a:srgbClr val="FFFF00"/>
              </a:buClr>
            </a:pPr>
            <a:endParaRPr lang="en-US" altLang="en-US" sz="1200"/>
          </a:p>
          <a:p>
            <a:pPr marL="609600" indent="-609600" eaLnBrk="1" hangingPunct="1">
              <a:lnSpc>
                <a:spcPct val="90000"/>
              </a:lnSpc>
            </a:pPr>
            <a:r>
              <a:rPr lang="en-GB" altLang="en-US" sz="2400"/>
              <a:t>Both strands of the DNA are broken</a:t>
            </a:r>
          </a:p>
          <a:p>
            <a:pPr marL="609600" indent="-609600" eaLnBrk="1" hangingPunct="1">
              <a:lnSpc>
                <a:spcPct val="90000"/>
              </a:lnSpc>
            </a:pPr>
            <a:endParaRPr lang="en-GB" altLang="en-US" sz="1400"/>
          </a:p>
          <a:p>
            <a:pPr marL="609600" indent="-609600" eaLnBrk="1" hangingPunct="1">
              <a:lnSpc>
                <a:spcPct val="90000"/>
              </a:lnSpc>
            </a:pPr>
            <a:r>
              <a:rPr lang="en-US" altLang="en-US" sz="2400"/>
              <a:t>If not repaired can lead to serious consequences</a:t>
            </a:r>
            <a:endParaRPr lang="en-GB" altLang="en-US" sz="2400">
              <a:sym typeface="Symbol" pitchFamily="2" charset="2"/>
            </a:endParaRPr>
          </a:p>
        </p:txBody>
      </p:sp>
      <p:pic>
        <p:nvPicPr>
          <p:cNvPr id="21508" name="Picture 5" descr="img053">
            <a:extLst>
              <a:ext uri="{FF2B5EF4-FFF2-40B4-BE49-F238E27FC236}">
                <a16:creationId xmlns:a16="http://schemas.microsoft.com/office/drawing/2014/main" id="{BDFB834D-DD56-CA0C-E565-85F9E824DD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84253"/>
          <a:stretch>
            <a:fillRect/>
          </a:stretch>
        </p:blipFill>
        <p:spPr bwMode="auto">
          <a:xfrm>
            <a:off x="1258888" y="2205038"/>
            <a:ext cx="5688012" cy="222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9" name="TextBox 6">
            <a:extLst>
              <a:ext uri="{FF2B5EF4-FFF2-40B4-BE49-F238E27FC236}">
                <a16:creationId xmlns:a16="http://schemas.microsoft.com/office/drawing/2014/main" id="{DA67AE99-E4A1-F595-A79E-6B633054DDBB}"/>
              </a:ext>
            </a:extLst>
          </p:cNvPr>
          <p:cNvSpPr txBox="1">
            <a:spLocks noChangeArrowheads="1"/>
          </p:cNvSpPr>
          <p:nvPr/>
        </p:nvSpPr>
        <p:spPr bwMode="auto">
          <a:xfrm>
            <a:off x="900113" y="1557338"/>
            <a:ext cx="40814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GB" altLang="en-US" sz="2800" b="1">
                <a:solidFill>
                  <a:srgbClr val="FF0000"/>
                </a:solidFill>
                <a:latin typeface="Arial" panose="020B0604020202020204" pitchFamily="34" charset="0"/>
              </a:rPr>
              <a:t>4- </a:t>
            </a:r>
            <a:r>
              <a:rPr lang="en-GB" altLang="en-US" sz="2800" b="1">
                <a:solidFill>
                  <a:srgbClr val="FF0000"/>
                </a:solidFill>
                <a:latin typeface="Arial" panose="020B0604020202020204" pitchFamily="34" charset="0"/>
                <a:sym typeface="Symbol" pitchFamily="2" charset="2"/>
              </a:rPr>
              <a:t>Double strand break</a:t>
            </a:r>
            <a:endParaRPr lang="en-US" altLang="en-US" sz="2800" b="1">
              <a:solidFill>
                <a:srgbClr val="FF0000"/>
              </a:solidFill>
              <a:latin typeface="Arial" panose="020B06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4">
            <a:extLst>
              <a:ext uri="{FF2B5EF4-FFF2-40B4-BE49-F238E27FC236}">
                <a16:creationId xmlns:a16="http://schemas.microsoft.com/office/drawing/2014/main" id="{31C947C3-8F45-0FB9-AAB9-FF79984E6420}"/>
              </a:ext>
            </a:extLst>
          </p:cNvPr>
          <p:cNvSpPr>
            <a:spLocks noGrp="1" noChangeArrowheads="1"/>
          </p:cNvSpPr>
          <p:nvPr>
            <p:ph type="title"/>
          </p:nvPr>
        </p:nvSpPr>
        <p:spPr>
          <a:xfrm>
            <a:off x="457200" y="277813"/>
            <a:ext cx="8002588" cy="774700"/>
          </a:xfrm>
        </p:spPr>
        <p:txBody>
          <a:bodyPr/>
          <a:lstStyle/>
          <a:p>
            <a:pPr algn="l" eaLnBrk="1" hangingPunct="1"/>
            <a:r>
              <a:rPr lang="en-US" altLang="en-US" sz="3200" b="1">
                <a:solidFill>
                  <a:srgbClr val="0000FF"/>
                </a:solidFill>
              </a:rPr>
              <a:t>Some replication errors escape proofreading</a:t>
            </a:r>
          </a:p>
        </p:txBody>
      </p:sp>
      <p:sp>
        <p:nvSpPr>
          <p:cNvPr id="23555" name="Rectangle 5">
            <a:extLst>
              <a:ext uri="{FF2B5EF4-FFF2-40B4-BE49-F238E27FC236}">
                <a16:creationId xmlns:a16="http://schemas.microsoft.com/office/drawing/2014/main" id="{DDDEE265-8BB7-9D26-9C15-9F656563C3EB}"/>
              </a:ext>
            </a:extLst>
          </p:cNvPr>
          <p:cNvSpPr>
            <a:spLocks noGrp="1" noChangeArrowheads="1"/>
          </p:cNvSpPr>
          <p:nvPr>
            <p:ph type="body" sz="half" idx="1"/>
          </p:nvPr>
        </p:nvSpPr>
        <p:spPr>
          <a:xfrm>
            <a:off x="468313" y="1125538"/>
            <a:ext cx="6697662" cy="1971675"/>
          </a:xfrm>
        </p:spPr>
        <p:txBody>
          <a:bodyPr/>
          <a:lstStyle/>
          <a:p>
            <a:pPr marL="533400" indent="-533400" eaLnBrk="1" hangingPunct="1">
              <a:buFont typeface="Wingdings" pitchFamily="2" charset="2"/>
              <a:buAutoNum type="arabicPeriod"/>
            </a:pPr>
            <a:r>
              <a:rPr lang="en-US" altLang="en-US" sz="2800"/>
              <a:t>Inability of DNA polymerase to add new bp next to wrong one</a:t>
            </a:r>
          </a:p>
          <a:p>
            <a:pPr marL="533400" indent="-533400" eaLnBrk="1" hangingPunct="1">
              <a:buFont typeface="Wingdings" pitchFamily="2" charset="2"/>
              <a:buAutoNum type="arabicPeriod"/>
            </a:pPr>
            <a:endParaRPr lang="en-US" altLang="en-US" sz="1400"/>
          </a:p>
          <a:p>
            <a:pPr marL="533400" indent="-533400" eaLnBrk="1" hangingPunct="1">
              <a:buFont typeface="Wingdings" pitchFamily="2" charset="2"/>
              <a:buAutoNum type="arabicPeriod"/>
            </a:pPr>
            <a:r>
              <a:rPr lang="en-US" altLang="en-US" sz="2800"/>
              <a:t>Activation of exonuclease</a:t>
            </a:r>
          </a:p>
          <a:p>
            <a:pPr marL="533400" indent="-533400" eaLnBrk="1" hangingPunct="1">
              <a:buFont typeface="Wingdings" pitchFamily="2" charset="2"/>
              <a:buNone/>
            </a:pPr>
            <a:endParaRPr lang="en-US" altLang="en-US" sz="1400"/>
          </a:p>
        </p:txBody>
      </p:sp>
      <p:pic>
        <p:nvPicPr>
          <p:cNvPr id="23556" name="Picture 6" descr="09_Figure02">
            <a:extLst>
              <a:ext uri="{FF2B5EF4-FFF2-40B4-BE49-F238E27FC236}">
                <a16:creationId xmlns:a16="http://schemas.microsoft.com/office/drawing/2014/main" id="{AAE0A6AA-35C0-18A7-3114-2339FB520CD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450" y="3008313"/>
            <a:ext cx="6842125" cy="3829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a:extLst>
              <a:ext uri="{FF2B5EF4-FFF2-40B4-BE49-F238E27FC236}">
                <a16:creationId xmlns:a16="http://schemas.microsoft.com/office/drawing/2014/main" id="{C09E935B-1EC7-9C88-6D90-DD0098A27C35}"/>
              </a:ext>
            </a:extLst>
          </p:cNvPr>
          <p:cNvSpPr>
            <a:spLocks noGrp="1" noChangeArrowheads="1"/>
          </p:cNvSpPr>
          <p:nvPr>
            <p:ph type="title"/>
          </p:nvPr>
        </p:nvSpPr>
        <p:spPr>
          <a:xfrm>
            <a:off x="468313" y="476250"/>
            <a:ext cx="8229600" cy="1143000"/>
          </a:xfrm>
        </p:spPr>
        <p:txBody>
          <a:bodyPr/>
          <a:lstStyle/>
          <a:p>
            <a:pPr eaLnBrk="1" hangingPunct="1"/>
            <a:r>
              <a:rPr lang="en-GB" altLang="en-US" sz="4000" b="1">
                <a:solidFill>
                  <a:srgbClr val="0000FF"/>
                </a:solidFill>
              </a:rPr>
              <a:t>Mismatch Repair System </a:t>
            </a:r>
            <a:r>
              <a:rPr lang="en-GB" altLang="en-US" sz="4000">
                <a:solidFill>
                  <a:srgbClr val="0000FF"/>
                </a:solidFill>
              </a:rPr>
              <a:t>removes errors that escape proofreading</a:t>
            </a:r>
          </a:p>
        </p:txBody>
      </p:sp>
      <p:sp>
        <p:nvSpPr>
          <p:cNvPr id="25603" name="Rectangle 3">
            <a:extLst>
              <a:ext uri="{FF2B5EF4-FFF2-40B4-BE49-F238E27FC236}">
                <a16:creationId xmlns:a16="http://schemas.microsoft.com/office/drawing/2014/main" id="{8C1C3C53-F56F-C9E1-94C2-B155B2859688}"/>
              </a:ext>
            </a:extLst>
          </p:cNvPr>
          <p:cNvSpPr>
            <a:spLocks noGrp="1" noChangeArrowheads="1"/>
          </p:cNvSpPr>
          <p:nvPr>
            <p:ph idx="1"/>
          </p:nvPr>
        </p:nvSpPr>
        <p:spPr>
          <a:xfrm>
            <a:off x="468313" y="1989138"/>
            <a:ext cx="8229600" cy="4525962"/>
          </a:xfrm>
        </p:spPr>
        <p:txBody>
          <a:bodyPr/>
          <a:lstStyle/>
          <a:p>
            <a:pPr eaLnBrk="1" hangingPunct="1"/>
            <a:r>
              <a:rPr lang="en-GB" altLang="en-US" b="1"/>
              <a:t>MRS Challenge</a:t>
            </a:r>
          </a:p>
          <a:p>
            <a:pPr lvl="1" eaLnBrk="1" hangingPunct="1"/>
            <a:r>
              <a:rPr lang="en-GB" altLang="en-US"/>
              <a:t>Scan the genome to detect errors</a:t>
            </a:r>
          </a:p>
          <a:p>
            <a:pPr lvl="1" eaLnBrk="1" hangingPunct="1"/>
            <a:r>
              <a:rPr lang="en-GB" altLang="en-US"/>
              <a:t>Fix these errors </a:t>
            </a:r>
            <a:r>
              <a:rPr lang="en-GB" altLang="en-US">
                <a:solidFill>
                  <a:schemeClr val="hlink"/>
                </a:solidFill>
              </a:rPr>
              <a:t>accurately</a:t>
            </a:r>
            <a:r>
              <a:rPr lang="en-GB" altLang="en-US"/>
              <a:t> before the second round of cell division</a:t>
            </a:r>
          </a:p>
          <a:p>
            <a:pPr lvl="1" eaLnBrk="1" hangingPunct="1"/>
            <a:endParaRPr lang="en-GB" altLang="en-US"/>
          </a:p>
          <a:p>
            <a:pPr eaLnBrk="1" hangingPunct="1"/>
            <a:r>
              <a:rPr lang="en-GB" altLang="en-US"/>
              <a:t>MRS in </a:t>
            </a:r>
            <a:r>
              <a:rPr lang="en-GB" altLang="en-US" i="1"/>
              <a:t>E.coli : </a:t>
            </a:r>
            <a:r>
              <a:rPr lang="en-GB" altLang="en-US"/>
              <a:t>mismatch repair protein is </a:t>
            </a:r>
            <a:r>
              <a:rPr lang="en-GB" altLang="en-US" b="1">
                <a:solidFill>
                  <a:srgbClr val="FF0000"/>
                </a:solidFill>
              </a:rPr>
              <a:t>MutS</a:t>
            </a:r>
            <a:r>
              <a:rPr lang="en-GB" altLang="en-US">
                <a:solidFill>
                  <a:srgbClr val="FF0000"/>
                </a:solidFill>
              </a:rPr>
              <a:t> </a:t>
            </a:r>
            <a:r>
              <a:rPr lang="en-GB" altLang="en-US"/>
              <a:t>, a dimer that recognizes the mismatch from the distortion of the DNA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7650" name="Picture 10">
            <a:extLst>
              <a:ext uri="{FF2B5EF4-FFF2-40B4-BE49-F238E27FC236}">
                <a16:creationId xmlns:a16="http://schemas.microsoft.com/office/drawing/2014/main" id="{1839645E-311A-40C7-E1D2-C225163BE9D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991"/>
          <a:stretch>
            <a:fillRect/>
          </a:stretch>
        </p:blipFill>
        <p:spPr bwMode="auto">
          <a:xfrm>
            <a:off x="2854325" y="0"/>
            <a:ext cx="3214688"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651" name="AutoShape 5">
            <a:extLst>
              <a:ext uri="{FF2B5EF4-FFF2-40B4-BE49-F238E27FC236}">
                <a16:creationId xmlns:a16="http://schemas.microsoft.com/office/drawing/2014/main" id="{568EDCB6-8BBF-B7E4-C56A-B8E871285E6F}"/>
              </a:ext>
            </a:extLst>
          </p:cNvPr>
          <p:cNvSpPr>
            <a:spLocks noChangeArrowheads="1"/>
          </p:cNvSpPr>
          <p:nvPr/>
        </p:nvSpPr>
        <p:spPr bwMode="auto">
          <a:xfrm>
            <a:off x="6084888" y="0"/>
            <a:ext cx="3059112" cy="792163"/>
          </a:xfrm>
          <a:prstGeom prst="wedgeRectCallout">
            <a:avLst>
              <a:gd name="adj1" fmla="val -120782"/>
              <a:gd name="adj2" fmla="val 5713"/>
            </a:avLst>
          </a:prstGeom>
          <a:solidFill>
            <a:srgbClr val="6518FE"/>
          </a:solidFill>
          <a:ln w="9525">
            <a:solidFill>
              <a:schemeClr val="tx1"/>
            </a:solidFill>
            <a:miter lim="800000"/>
            <a:headEnd/>
            <a:tailEnd/>
          </a:ln>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AutoNum type="arabicPeriod"/>
            </a:pPr>
            <a:r>
              <a:rPr lang="en-US" altLang="en-US" sz="2000" b="1">
                <a:solidFill>
                  <a:srgbClr val="00FF00"/>
                </a:solidFill>
                <a:latin typeface="Arial" panose="020B0604020202020204" pitchFamily="34" charset="0"/>
              </a:rPr>
              <a:t>MutS</a:t>
            </a:r>
            <a:r>
              <a:rPr lang="en-US" altLang="en-US" sz="1800" b="1">
                <a:solidFill>
                  <a:srgbClr val="00FF00"/>
                </a:solidFill>
                <a:latin typeface="Arial" panose="020B0604020202020204" pitchFamily="34" charset="0"/>
              </a:rPr>
              <a:t> </a:t>
            </a:r>
            <a:r>
              <a:rPr lang="en-US" altLang="en-US" sz="1800" b="1">
                <a:solidFill>
                  <a:srgbClr val="FFFF00"/>
                </a:solidFill>
                <a:latin typeface="Arial" panose="020B0604020202020204" pitchFamily="34" charset="0"/>
              </a:rPr>
              <a:t>Scan DNA</a:t>
            </a:r>
          </a:p>
          <a:p>
            <a:pPr eaLnBrk="1" hangingPunct="1">
              <a:spcBef>
                <a:spcPct val="0"/>
              </a:spcBef>
              <a:buFontTx/>
              <a:buAutoNum type="arabicPeriod"/>
            </a:pPr>
            <a:r>
              <a:rPr lang="en-US" altLang="en-US" sz="1800" b="1">
                <a:solidFill>
                  <a:srgbClr val="FFFF00"/>
                </a:solidFill>
                <a:latin typeface="Arial" panose="020B0604020202020204" pitchFamily="34" charset="0"/>
              </a:rPr>
              <a:t>Recognize mismatch</a:t>
            </a:r>
          </a:p>
        </p:txBody>
      </p:sp>
      <p:sp>
        <p:nvSpPr>
          <p:cNvPr id="27652" name="AutoShape 6">
            <a:extLst>
              <a:ext uri="{FF2B5EF4-FFF2-40B4-BE49-F238E27FC236}">
                <a16:creationId xmlns:a16="http://schemas.microsoft.com/office/drawing/2014/main" id="{51846F08-3EA8-0640-61B5-715BEE3C72A3}"/>
              </a:ext>
            </a:extLst>
          </p:cNvPr>
          <p:cNvSpPr>
            <a:spLocks noChangeArrowheads="1"/>
          </p:cNvSpPr>
          <p:nvPr/>
        </p:nvSpPr>
        <p:spPr bwMode="auto">
          <a:xfrm>
            <a:off x="323850" y="3933825"/>
            <a:ext cx="2087563" cy="431800"/>
          </a:xfrm>
          <a:prstGeom prst="wedgeRectCallout">
            <a:avLst>
              <a:gd name="adj1" fmla="val 95931"/>
              <a:gd name="adj2" fmla="val 7352"/>
            </a:avLst>
          </a:prstGeom>
          <a:solidFill>
            <a:schemeClr val="accent1"/>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a:solidFill>
                  <a:srgbClr val="FFFF00"/>
                </a:solidFill>
                <a:latin typeface="Arial" panose="020B0604020202020204" pitchFamily="34" charset="0"/>
              </a:rPr>
              <a:t>Activate </a:t>
            </a:r>
            <a:r>
              <a:rPr lang="en-US" altLang="en-US" sz="2000" b="1">
                <a:solidFill>
                  <a:srgbClr val="00FF00"/>
                </a:solidFill>
                <a:latin typeface="Arial" panose="020B0604020202020204" pitchFamily="34" charset="0"/>
              </a:rPr>
              <a:t>MutH</a:t>
            </a:r>
          </a:p>
        </p:txBody>
      </p:sp>
      <p:sp>
        <p:nvSpPr>
          <p:cNvPr id="27653" name="AutoShape 7">
            <a:extLst>
              <a:ext uri="{FF2B5EF4-FFF2-40B4-BE49-F238E27FC236}">
                <a16:creationId xmlns:a16="http://schemas.microsoft.com/office/drawing/2014/main" id="{6AB5CC77-1A0A-E472-0737-1D9D9B882050}"/>
              </a:ext>
            </a:extLst>
          </p:cNvPr>
          <p:cNvSpPr>
            <a:spLocks noChangeArrowheads="1"/>
          </p:cNvSpPr>
          <p:nvPr/>
        </p:nvSpPr>
        <p:spPr bwMode="auto">
          <a:xfrm>
            <a:off x="179388" y="6021388"/>
            <a:ext cx="2520950" cy="647700"/>
          </a:xfrm>
          <a:prstGeom prst="wedgeRectCallout">
            <a:avLst>
              <a:gd name="adj1" fmla="val 72292"/>
              <a:gd name="adj2" fmla="val -151227"/>
            </a:avLst>
          </a:prstGeom>
          <a:solidFill>
            <a:schemeClr val="accent1"/>
          </a:solidFill>
          <a:ln w="9525">
            <a:solidFill>
              <a:schemeClr val="accent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a:solidFill>
                  <a:srgbClr val="FFFF00"/>
                </a:solidFill>
                <a:latin typeface="Arial" panose="020B0604020202020204" pitchFamily="34" charset="0"/>
              </a:rPr>
              <a:t>Enzyme create an incision</a:t>
            </a:r>
          </a:p>
        </p:txBody>
      </p:sp>
      <p:sp>
        <p:nvSpPr>
          <p:cNvPr id="27654" name="AutoShape 8">
            <a:extLst>
              <a:ext uri="{FF2B5EF4-FFF2-40B4-BE49-F238E27FC236}">
                <a16:creationId xmlns:a16="http://schemas.microsoft.com/office/drawing/2014/main" id="{3F51B1CD-D542-CF40-986B-7C2B5F719366}"/>
              </a:ext>
            </a:extLst>
          </p:cNvPr>
          <p:cNvSpPr>
            <a:spLocks noChangeArrowheads="1"/>
          </p:cNvSpPr>
          <p:nvPr/>
        </p:nvSpPr>
        <p:spPr bwMode="auto">
          <a:xfrm>
            <a:off x="6156325" y="4581525"/>
            <a:ext cx="2519363" cy="647700"/>
          </a:xfrm>
          <a:prstGeom prst="wedgeRectCallout">
            <a:avLst>
              <a:gd name="adj1" fmla="val -94741"/>
              <a:gd name="adj2" fmla="val 105148"/>
            </a:avLst>
          </a:prstGeom>
          <a:solidFill>
            <a:schemeClr val="accent1"/>
          </a:solidFill>
          <a:ln w="9525">
            <a:solidFill>
              <a:schemeClr val="tx1"/>
            </a:solidFill>
            <a:miter lim="800000"/>
            <a:headEnd/>
            <a:tailEnd/>
          </a:ln>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AutoNum type="arabicPeriod"/>
            </a:pPr>
            <a:r>
              <a:rPr lang="en-US" altLang="en-US" sz="2000" b="1">
                <a:solidFill>
                  <a:srgbClr val="FFFF00"/>
                </a:solidFill>
                <a:latin typeface="Arial" panose="020B0604020202020204" pitchFamily="34" charset="0"/>
              </a:rPr>
              <a:t>Helicase (</a:t>
            </a:r>
            <a:r>
              <a:rPr lang="en-US" altLang="en-US" sz="2000" b="1">
                <a:solidFill>
                  <a:srgbClr val="00FF00"/>
                </a:solidFill>
                <a:latin typeface="Arial" panose="020B0604020202020204" pitchFamily="34" charset="0"/>
              </a:rPr>
              <a:t>UvrD</a:t>
            </a:r>
            <a:r>
              <a:rPr lang="en-US" altLang="en-US" sz="2000" b="1">
                <a:solidFill>
                  <a:srgbClr val="FFFF00"/>
                </a:solidFill>
                <a:latin typeface="Arial" panose="020B0604020202020204" pitchFamily="34" charset="0"/>
              </a:rPr>
              <a:t>)</a:t>
            </a:r>
          </a:p>
          <a:p>
            <a:pPr eaLnBrk="1" hangingPunct="1">
              <a:spcBef>
                <a:spcPct val="0"/>
              </a:spcBef>
              <a:buFontTx/>
              <a:buAutoNum type="arabicPeriod"/>
            </a:pPr>
            <a:r>
              <a:rPr lang="en-US" altLang="en-US" sz="2000" b="1">
                <a:solidFill>
                  <a:srgbClr val="FFFF00"/>
                </a:solidFill>
                <a:latin typeface="Arial" panose="020B0604020202020204" pitchFamily="34" charset="0"/>
              </a:rPr>
              <a:t>exonucleases</a:t>
            </a:r>
          </a:p>
        </p:txBody>
      </p:sp>
      <p:sp>
        <p:nvSpPr>
          <p:cNvPr id="27655" name="AutoShape 9">
            <a:extLst>
              <a:ext uri="{FF2B5EF4-FFF2-40B4-BE49-F238E27FC236}">
                <a16:creationId xmlns:a16="http://schemas.microsoft.com/office/drawing/2014/main" id="{9AEA458A-C777-38DC-E1CF-638BDFB235D5}"/>
              </a:ext>
            </a:extLst>
          </p:cNvPr>
          <p:cNvSpPr>
            <a:spLocks noChangeArrowheads="1"/>
          </p:cNvSpPr>
          <p:nvPr/>
        </p:nvSpPr>
        <p:spPr bwMode="auto">
          <a:xfrm>
            <a:off x="6372225" y="6094413"/>
            <a:ext cx="2520950" cy="647700"/>
          </a:xfrm>
          <a:prstGeom prst="wedgeRectCallout">
            <a:avLst>
              <a:gd name="adj1" fmla="val -118324"/>
              <a:gd name="adj2" fmla="val 27940"/>
            </a:avLst>
          </a:prstGeom>
          <a:solidFill>
            <a:schemeClr val="accent1"/>
          </a:solidFill>
          <a:ln w="9525">
            <a:solidFill>
              <a:schemeClr val="tx1"/>
            </a:solidFill>
            <a:miter lim="800000"/>
            <a:headEnd/>
            <a:tailEnd/>
          </a:ln>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AutoNum type="arabicPeriod"/>
            </a:pPr>
            <a:r>
              <a:rPr lang="en-US" altLang="en-US" sz="2000" b="1">
                <a:solidFill>
                  <a:srgbClr val="FFFF00"/>
                </a:solidFill>
                <a:latin typeface="Arial" panose="020B0604020202020204" pitchFamily="34" charset="0"/>
              </a:rPr>
              <a:t>Polymerase III</a:t>
            </a:r>
          </a:p>
          <a:p>
            <a:pPr eaLnBrk="1" hangingPunct="1">
              <a:spcBef>
                <a:spcPct val="0"/>
              </a:spcBef>
              <a:buFontTx/>
              <a:buAutoNum type="arabicPeriod"/>
            </a:pPr>
            <a:r>
              <a:rPr lang="en-US" altLang="en-US" sz="2000" b="1">
                <a:solidFill>
                  <a:srgbClr val="FFFF00"/>
                </a:solidFill>
                <a:latin typeface="Arial" panose="020B0604020202020204" pitchFamily="34" charset="0"/>
              </a:rPr>
              <a:t>Ligase</a:t>
            </a:r>
          </a:p>
        </p:txBody>
      </p:sp>
      <p:sp>
        <p:nvSpPr>
          <p:cNvPr id="27656" name="AutoShape 6">
            <a:extLst>
              <a:ext uri="{FF2B5EF4-FFF2-40B4-BE49-F238E27FC236}">
                <a16:creationId xmlns:a16="http://schemas.microsoft.com/office/drawing/2014/main" id="{E2B9B38F-BF76-C6EB-F839-868DDCF62F4B}"/>
              </a:ext>
            </a:extLst>
          </p:cNvPr>
          <p:cNvSpPr>
            <a:spLocks noChangeArrowheads="1"/>
          </p:cNvSpPr>
          <p:nvPr/>
        </p:nvSpPr>
        <p:spPr bwMode="auto">
          <a:xfrm>
            <a:off x="468313" y="3357563"/>
            <a:ext cx="1871662" cy="358775"/>
          </a:xfrm>
          <a:prstGeom prst="wedgeRectCallout">
            <a:avLst>
              <a:gd name="adj1" fmla="val 97329"/>
              <a:gd name="adj2" fmla="val 98671"/>
            </a:avLst>
          </a:prstGeom>
          <a:solidFill>
            <a:schemeClr val="accent1"/>
          </a:solidFill>
          <a:ln w="9525">
            <a:solidFill>
              <a:schemeClr val="tx1"/>
            </a:solidFill>
            <a:miter lim="800000"/>
            <a:headEnd/>
            <a:tailEnd/>
          </a:ln>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a:solidFill>
                  <a:srgbClr val="FFFF00"/>
                </a:solidFill>
                <a:latin typeface="Arial" panose="020B0604020202020204" pitchFamily="34" charset="0"/>
              </a:rPr>
              <a:t>Recruit </a:t>
            </a:r>
            <a:r>
              <a:rPr lang="en-US" altLang="en-US" sz="2000" b="1">
                <a:solidFill>
                  <a:srgbClr val="00FF00"/>
                </a:solidFill>
                <a:latin typeface="Arial" panose="020B0604020202020204" pitchFamily="34" charset="0"/>
              </a:rPr>
              <a:t>MutL</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Rectangle 2">
            <a:extLst>
              <a:ext uri="{FF2B5EF4-FFF2-40B4-BE49-F238E27FC236}">
                <a16:creationId xmlns:a16="http://schemas.microsoft.com/office/drawing/2014/main" id="{D70914F3-1233-6899-FAC4-A99F992BEAC4}"/>
              </a:ext>
            </a:extLst>
          </p:cNvPr>
          <p:cNvSpPr>
            <a:spLocks noGrp="1" noChangeArrowheads="1"/>
          </p:cNvSpPr>
          <p:nvPr>
            <p:ph type="title"/>
          </p:nvPr>
        </p:nvSpPr>
        <p:spPr>
          <a:xfrm>
            <a:off x="457200" y="274638"/>
            <a:ext cx="8229600" cy="1143000"/>
          </a:xfrm>
        </p:spPr>
        <p:txBody>
          <a:bodyPr/>
          <a:lstStyle/>
          <a:p>
            <a:pPr eaLnBrk="1" hangingPunct="1"/>
            <a:r>
              <a:rPr lang="en-US" altLang="en-US" sz="2900" b="1">
                <a:solidFill>
                  <a:schemeClr val="hlink"/>
                </a:solidFill>
              </a:rPr>
              <a:t>How can MRS recognize which nucleotide is the mismatched one?</a:t>
            </a:r>
            <a:r>
              <a:rPr lang="en-US" altLang="en-US" sz="3600"/>
              <a:t> </a:t>
            </a:r>
          </a:p>
        </p:txBody>
      </p:sp>
      <p:sp>
        <p:nvSpPr>
          <p:cNvPr id="17411" name="Rectangle 6">
            <a:extLst>
              <a:ext uri="{FF2B5EF4-FFF2-40B4-BE49-F238E27FC236}">
                <a16:creationId xmlns:a16="http://schemas.microsoft.com/office/drawing/2014/main" id="{1DF8D13E-077E-DB49-EA62-CBE7BCCA6115}"/>
              </a:ext>
            </a:extLst>
          </p:cNvPr>
          <p:cNvSpPr>
            <a:spLocks noGrp="1"/>
          </p:cNvSpPr>
          <p:nvPr>
            <p:ph type="body" idx="4294967295"/>
          </p:nvPr>
        </p:nvSpPr>
        <p:spPr>
          <a:xfrm>
            <a:off x="457200" y="1600200"/>
            <a:ext cx="4330700" cy="4997450"/>
          </a:xfrm>
        </p:spPr>
        <p:txBody>
          <a:bodyPr/>
          <a:lstStyle/>
          <a:p>
            <a:pPr eaLnBrk="1" hangingPunct="1">
              <a:lnSpc>
                <a:spcPct val="80000"/>
              </a:lnSpc>
              <a:buFont typeface="Arial" charset="0"/>
              <a:buChar char="•"/>
              <a:defRPr/>
            </a:pPr>
            <a:r>
              <a:rPr lang="en-US" sz="2400" i="1" dirty="0" err="1"/>
              <a:t>E.coli</a:t>
            </a:r>
            <a:r>
              <a:rPr lang="en-US" sz="2400" dirty="0"/>
              <a:t> tags the parental strand by transient </a:t>
            </a:r>
            <a:r>
              <a:rPr lang="en-US" sz="2400" dirty="0" err="1"/>
              <a:t>hemimethylation</a:t>
            </a:r>
            <a:endParaRPr lang="en-US" sz="2400" dirty="0"/>
          </a:p>
          <a:p>
            <a:pPr eaLnBrk="1" hangingPunct="1">
              <a:lnSpc>
                <a:spcPct val="80000"/>
              </a:lnSpc>
              <a:buFont typeface="Arial" charset="0"/>
              <a:buChar char="•"/>
              <a:defRPr/>
            </a:pPr>
            <a:r>
              <a:rPr lang="en-US" sz="2400" b="1" dirty="0">
                <a:solidFill>
                  <a:schemeClr val="hlink"/>
                </a:solidFill>
              </a:rPr>
              <a:t>Dam </a:t>
            </a:r>
            <a:r>
              <a:rPr lang="en-US" sz="2400" b="1" dirty="0" err="1">
                <a:solidFill>
                  <a:schemeClr val="hlink"/>
                </a:solidFill>
              </a:rPr>
              <a:t>methylase</a:t>
            </a:r>
            <a:r>
              <a:rPr lang="en-US" sz="2400" dirty="0"/>
              <a:t>: methylate </a:t>
            </a:r>
            <a:r>
              <a:rPr lang="en-US" sz="2400" b="1" dirty="0">
                <a:solidFill>
                  <a:schemeClr val="hlink"/>
                </a:solidFill>
              </a:rPr>
              <a:t>A </a:t>
            </a:r>
            <a:r>
              <a:rPr lang="en-US" sz="2400" dirty="0"/>
              <a:t>residues on both strands of the sequence </a:t>
            </a:r>
            <a:r>
              <a:rPr lang="en-US" sz="2400" dirty="0">
                <a:solidFill>
                  <a:schemeClr val="hlink"/>
                </a:solidFill>
              </a:rPr>
              <a:t>5’GATC3’</a:t>
            </a:r>
          </a:p>
          <a:p>
            <a:pPr marL="0" indent="0" eaLnBrk="1" hangingPunct="1">
              <a:lnSpc>
                <a:spcPct val="80000"/>
              </a:lnSpc>
              <a:buFont typeface="Arial" charset="0"/>
              <a:buNone/>
              <a:defRPr/>
            </a:pPr>
            <a:endParaRPr lang="en-US" sz="2400" dirty="0">
              <a:solidFill>
                <a:schemeClr val="hlink"/>
              </a:solidFill>
            </a:endParaRPr>
          </a:p>
          <a:p>
            <a:pPr eaLnBrk="1" hangingPunct="1">
              <a:lnSpc>
                <a:spcPct val="80000"/>
              </a:lnSpc>
              <a:buFont typeface="Arial" charset="0"/>
              <a:buChar char="•"/>
              <a:defRPr/>
            </a:pPr>
            <a:r>
              <a:rPr lang="en-US" sz="2400" dirty="0"/>
              <a:t>This sequence is widely distributed along the entire genome and all of these sites are methylated by the Dam </a:t>
            </a:r>
            <a:r>
              <a:rPr lang="en-US" sz="2400" dirty="0" err="1"/>
              <a:t>methylase</a:t>
            </a:r>
            <a:endParaRPr lang="en-US" sz="2400" dirty="0"/>
          </a:p>
          <a:p>
            <a:pPr marL="0" indent="0" eaLnBrk="1" hangingPunct="1">
              <a:lnSpc>
                <a:spcPct val="80000"/>
              </a:lnSpc>
              <a:buFont typeface="Arial" charset="0"/>
              <a:buNone/>
              <a:defRPr/>
            </a:pPr>
            <a:endParaRPr lang="en-US" sz="2400" dirty="0"/>
          </a:p>
          <a:p>
            <a:pPr eaLnBrk="1" hangingPunct="1">
              <a:lnSpc>
                <a:spcPct val="80000"/>
              </a:lnSpc>
              <a:buFont typeface="Arial" charset="0"/>
              <a:buChar char="•"/>
              <a:defRPr/>
            </a:pPr>
            <a:r>
              <a:rPr lang="en-US" sz="2400" dirty="0" err="1"/>
              <a:t>MutH</a:t>
            </a:r>
            <a:r>
              <a:rPr lang="en-US" sz="2400" dirty="0"/>
              <a:t> binds to </a:t>
            </a:r>
            <a:r>
              <a:rPr lang="en-US" sz="2400" dirty="0" err="1"/>
              <a:t>nonmethylated</a:t>
            </a:r>
            <a:r>
              <a:rPr lang="en-US" sz="2400" dirty="0"/>
              <a:t> sites but become activated when binds to </a:t>
            </a:r>
            <a:r>
              <a:rPr lang="en-US" sz="2400" dirty="0" err="1"/>
              <a:t>MutS</a:t>
            </a:r>
            <a:r>
              <a:rPr lang="en-US" sz="2400" dirty="0"/>
              <a:t> and </a:t>
            </a:r>
            <a:r>
              <a:rPr lang="en-US" sz="2400" dirty="0" err="1"/>
              <a:t>MutL</a:t>
            </a:r>
            <a:endParaRPr lang="en-US" sz="2400" dirty="0"/>
          </a:p>
        </p:txBody>
      </p:sp>
      <p:pic>
        <p:nvPicPr>
          <p:cNvPr id="29700" name="Picture 4" descr="img034">
            <a:extLst>
              <a:ext uri="{FF2B5EF4-FFF2-40B4-BE49-F238E27FC236}">
                <a16:creationId xmlns:a16="http://schemas.microsoft.com/office/drawing/2014/main" id="{B67FBE28-8AD6-0413-D381-BFFD875EABE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t="4855"/>
          <a:stretch>
            <a:fillRect/>
          </a:stretch>
        </p:blipFill>
        <p:spPr>
          <a:xfrm>
            <a:off x="4929188" y="1268413"/>
            <a:ext cx="4214812" cy="5589587"/>
          </a:xfrm>
          <a:noFill/>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1746" name="Picture 4" descr="img035">
            <a:extLst>
              <a:ext uri="{FF2B5EF4-FFF2-40B4-BE49-F238E27FC236}">
                <a16:creationId xmlns:a16="http://schemas.microsoft.com/office/drawing/2014/main" id="{AD3058A2-818A-0BF7-91C1-3C58E116506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9388" y="1768475"/>
            <a:ext cx="8893175" cy="4695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1747" name="Line 5">
            <a:extLst>
              <a:ext uri="{FF2B5EF4-FFF2-40B4-BE49-F238E27FC236}">
                <a16:creationId xmlns:a16="http://schemas.microsoft.com/office/drawing/2014/main" id="{9963FAF9-F092-78FA-53E3-A1185DEA79DF}"/>
              </a:ext>
            </a:extLst>
          </p:cNvPr>
          <p:cNvSpPr>
            <a:spLocks noChangeShapeType="1"/>
          </p:cNvSpPr>
          <p:nvPr/>
        </p:nvSpPr>
        <p:spPr bwMode="auto">
          <a:xfrm>
            <a:off x="1438275" y="3033713"/>
            <a:ext cx="4318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48" name="Line 6">
            <a:extLst>
              <a:ext uri="{FF2B5EF4-FFF2-40B4-BE49-F238E27FC236}">
                <a16:creationId xmlns:a16="http://schemas.microsoft.com/office/drawing/2014/main" id="{8298A17A-8317-EB91-03D2-4ADED1912DBC}"/>
              </a:ext>
            </a:extLst>
          </p:cNvPr>
          <p:cNvSpPr>
            <a:spLocks noChangeShapeType="1"/>
          </p:cNvSpPr>
          <p:nvPr/>
        </p:nvSpPr>
        <p:spPr bwMode="auto">
          <a:xfrm>
            <a:off x="6877050" y="2960688"/>
            <a:ext cx="431800" cy="0"/>
          </a:xfrm>
          <a:prstGeom prst="line">
            <a:avLst/>
          </a:prstGeom>
          <a:noFill/>
          <a:ln w="28575">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31749" name="Rectangle 6">
            <a:extLst>
              <a:ext uri="{FF2B5EF4-FFF2-40B4-BE49-F238E27FC236}">
                <a16:creationId xmlns:a16="http://schemas.microsoft.com/office/drawing/2014/main" id="{AFB39DE6-08E6-2C43-9CA1-49839E55BB02}"/>
              </a:ext>
            </a:extLst>
          </p:cNvPr>
          <p:cNvSpPr>
            <a:spLocks noGrp="1"/>
          </p:cNvSpPr>
          <p:nvPr>
            <p:ph type="title" idx="4294967295"/>
          </p:nvPr>
        </p:nvSpPr>
        <p:spPr/>
        <p:txBody>
          <a:bodyPr/>
          <a:lstStyle/>
          <a:p>
            <a:pPr eaLnBrk="1" hangingPunct="1"/>
            <a:r>
              <a:rPr lang="en-US" altLang="en-US" sz="3200" b="1">
                <a:solidFill>
                  <a:schemeClr val="hlink"/>
                </a:solidFill>
              </a:rPr>
              <a:t>Directionality in mismatch repair: Exonuclease removal of mismatched DNA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a:extLst>
              <a:ext uri="{FF2B5EF4-FFF2-40B4-BE49-F238E27FC236}">
                <a16:creationId xmlns:a16="http://schemas.microsoft.com/office/drawing/2014/main" id="{5D823733-121C-2FBA-36C8-E8793172F939}"/>
              </a:ext>
            </a:extLst>
          </p:cNvPr>
          <p:cNvSpPr>
            <a:spLocks noGrp="1" noChangeArrowheads="1"/>
          </p:cNvSpPr>
          <p:nvPr>
            <p:ph type="title"/>
          </p:nvPr>
        </p:nvSpPr>
        <p:spPr>
          <a:xfrm>
            <a:off x="468313" y="0"/>
            <a:ext cx="8229600" cy="908050"/>
          </a:xfrm>
        </p:spPr>
        <p:txBody>
          <a:bodyPr/>
          <a:lstStyle/>
          <a:p>
            <a:pPr eaLnBrk="1" hangingPunct="1"/>
            <a:r>
              <a:rPr lang="en-US" altLang="en-US" b="1">
                <a:solidFill>
                  <a:srgbClr val="0000FF"/>
                </a:solidFill>
              </a:rPr>
              <a:t>Eukaryotic MRS</a:t>
            </a:r>
          </a:p>
        </p:txBody>
      </p:sp>
      <p:sp>
        <p:nvSpPr>
          <p:cNvPr id="33795" name="Rectangle 3">
            <a:extLst>
              <a:ext uri="{FF2B5EF4-FFF2-40B4-BE49-F238E27FC236}">
                <a16:creationId xmlns:a16="http://schemas.microsoft.com/office/drawing/2014/main" id="{AF0E529E-C070-2307-3808-335E8DC6807F}"/>
              </a:ext>
            </a:extLst>
          </p:cNvPr>
          <p:cNvSpPr>
            <a:spLocks noGrp="1" noChangeArrowheads="1"/>
          </p:cNvSpPr>
          <p:nvPr>
            <p:ph idx="1"/>
          </p:nvPr>
        </p:nvSpPr>
        <p:spPr>
          <a:xfrm>
            <a:off x="179388" y="881063"/>
            <a:ext cx="8445500" cy="5976937"/>
          </a:xfrm>
        </p:spPr>
        <p:txBody>
          <a:bodyPr/>
          <a:lstStyle/>
          <a:p>
            <a:pPr marL="609600" indent="-609600" eaLnBrk="1" hangingPunct="1"/>
            <a:r>
              <a:rPr lang="en-US" altLang="en-US" sz="2600">
                <a:solidFill>
                  <a:srgbClr val="0000FF"/>
                </a:solidFill>
              </a:rPr>
              <a:t>MutS </a:t>
            </a:r>
            <a:r>
              <a:rPr lang="en-US" altLang="en-US" sz="2600"/>
              <a:t>&amp; </a:t>
            </a:r>
            <a:r>
              <a:rPr lang="en-US" altLang="en-US" sz="2600">
                <a:solidFill>
                  <a:srgbClr val="C00000"/>
                </a:solidFill>
              </a:rPr>
              <a:t>MutL </a:t>
            </a:r>
            <a:r>
              <a:rPr lang="en-US" altLang="en-US" sz="2600"/>
              <a:t>homologs are used (</a:t>
            </a:r>
            <a:r>
              <a:rPr lang="en-US" altLang="en-US" sz="2600">
                <a:solidFill>
                  <a:srgbClr val="0000FF"/>
                </a:solidFill>
              </a:rPr>
              <a:t>MSH</a:t>
            </a:r>
            <a:r>
              <a:rPr lang="en-US" altLang="en-US" sz="2600"/>
              <a:t>, </a:t>
            </a:r>
            <a:r>
              <a:rPr lang="en-US" altLang="en-US" sz="2600">
                <a:solidFill>
                  <a:srgbClr val="C00000"/>
                </a:solidFill>
              </a:rPr>
              <a:t>MLH and PMS</a:t>
            </a:r>
            <a:r>
              <a:rPr lang="en-US" altLang="en-US" sz="2600"/>
              <a:t>)</a:t>
            </a:r>
          </a:p>
          <a:p>
            <a:pPr marL="609600" indent="-609600" eaLnBrk="1" hangingPunct="1"/>
            <a:r>
              <a:rPr lang="en-US" altLang="en-US" sz="2600"/>
              <a:t>Multiple MutS like proteins with different specificities</a:t>
            </a:r>
          </a:p>
          <a:p>
            <a:pPr marL="609600" indent="-609600" eaLnBrk="1" hangingPunct="1"/>
            <a:r>
              <a:rPr lang="en-US" altLang="en-US" sz="2600"/>
              <a:t>They lack the MutH and hemimethylation trick used by </a:t>
            </a:r>
            <a:r>
              <a:rPr lang="en-US" altLang="en-US" sz="2600" i="1"/>
              <a:t>E.coli</a:t>
            </a:r>
          </a:p>
          <a:p>
            <a:pPr marL="609600" indent="-609600" eaLnBrk="1" hangingPunct="1"/>
            <a:r>
              <a:rPr lang="en-US" altLang="en-US" sz="2600">
                <a:solidFill>
                  <a:schemeClr val="hlink"/>
                </a:solidFill>
              </a:rPr>
              <a:t>Lagging strand synthesis</a:t>
            </a:r>
            <a:r>
              <a:rPr lang="en-US" altLang="en-US" sz="2600"/>
              <a:t>: prior to the ligation step, the Okazaki fragment is separated from previously synthesized DNA </a:t>
            </a:r>
            <a:r>
              <a:rPr lang="en-US" altLang="en-US" sz="2600">
                <a:solidFill>
                  <a:schemeClr val="hlink"/>
                </a:solidFill>
              </a:rPr>
              <a:t>by a nick</a:t>
            </a:r>
            <a:r>
              <a:rPr lang="en-US" altLang="en-US" sz="2600"/>
              <a:t>, which can be thought of as being equivalent to the nick generated by the MutH on the newly synthesized strand</a:t>
            </a:r>
          </a:p>
          <a:p>
            <a:pPr marL="609600" indent="-609600" eaLnBrk="1" hangingPunct="1"/>
            <a:r>
              <a:rPr lang="en-US" altLang="en-US" sz="2600"/>
              <a:t>Human homolog of MutS (</a:t>
            </a:r>
            <a:r>
              <a:rPr lang="en-US" altLang="en-US" sz="2600">
                <a:solidFill>
                  <a:schemeClr val="hlink"/>
                </a:solidFill>
              </a:rPr>
              <a:t>MSH</a:t>
            </a:r>
            <a:r>
              <a:rPr lang="en-US" altLang="en-US" sz="2600"/>
              <a:t>) interact with the </a:t>
            </a:r>
            <a:r>
              <a:rPr lang="en-US" altLang="en-US" sz="2600">
                <a:solidFill>
                  <a:schemeClr val="hlink"/>
                </a:solidFill>
              </a:rPr>
              <a:t>sliding clamp component</a:t>
            </a:r>
            <a:r>
              <a:rPr lang="en-US" altLang="en-US" sz="2600"/>
              <a:t> of the replisome  and would be </a:t>
            </a:r>
            <a:r>
              <a:rPr lang="en-US" altLang="en-US" sz="2600">
                <a:solidFill>
                  <a:schemeClr val="hlink"/>
                </a:solidFill>
              </a:rPr>
              <a:t>recruited to the site of discontinuous</a:t>
            </a:r>
            <a:r>
              <a:rPr lang="en-US" altLang="en-US" sz="2600"/>
              <a:t> DNA synthesis on the </a:t>
            </a:r>
            <a:r>
              <a:rPr lang="en-US" altLang="en-US" sz="2600">
                <a:solidFill>
                  <a:schemeClr val="hlink"/>
                </a:solidFill>
              </a:rPr>
              <a:t>lagging strand</a:t>
            </a:r>
            <a:r>
              <a:rPr lang="en-US" altLang="en-US" sz="2600"/>
              <a:t>. This interaction could </a:t>
            </a:r>
            <a:r>
              <a:rPr lang="en-US" altLang="en-US" sz="2600">
                <a:solidFill>
                  <a:schemeClr val="hlink"/>
                </a:solidFill>
              </a:rPr>
              <a:t>recruit mismatch repair system</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2" name="Text Box 4">
            <a:extLst>
              <a:ext uri="{FF2B5EF4-FFF2-40B4-BE49-F238E27FC236}">
                <a16:creationId xmlns:a16="http://schemas.microsoft.com/office/drawing/2014/main" id="{DA167D59-C7F0-E058-30CF-739CE5A8110A}"/>
              </a:ext>
            </a:extLst>
          </p:cNvPr>
          <p:cNvSpPr txBox="1">
            <a:spLocks noChangeArrowheads="1"/>
          </p:cNvSpPr>
          <p:nvPr/>
        </p:nvSpPr>
        <p:spPr bwMode="auto">
          <a:xfrm>
            <a:off x="900113" y="333375"/>
            <a:ext cx="7108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a:solidFill>
                  <a:srgbClr val="0000FF"/>
                </a:solidFill>
                <a:latin typeface="Arial" panose="020B0604020202020204" pitchFamily="34" charset="0"/>
              </a:rPr>
              <a:t>Mismatch repair system in Eukaryotics</a:t>
            </a:r>
          </a:p>
        </p:txBody>
      </p:sp>
      <p:sp>
        <p:nvSpPr>
          <p:cNvPr id="35843" name="Text Box 5">
            <a:extLst>
              <a:ext uri="{FF2B5EF4-FFF2-40B4-BE49-F238E27FC236}">
                <a16:creationId xmlns:a16="http://schemas.microsoft.com/office/drawing/2014/main" id="{D2B8C3F8-B9D5-BE8F-3317-BE40484FA0A9}"/>
              </a:ext>
            </a:extLst>
          </p:cNvPr>
          <p:cNvSpPr txBox="1">
            <a:spLocks noChangeArrowheads="1"/>
          </p:cNvSpPr>
          <p:nvPr/>
        </p:nvSpPr>
        <p:spPr bwMode="auto">
          <a:xfrm>
            <a:off x="3348038" y="1700213"/>
            <a:ext cx="124460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a:latin typeface="Arial" panose="020B0604020202020204" pitchFamily="34" charset="0"/>
              </a:rPr>
              <a:t>MutS </a:t>
            </a:r>
          </a:p>
        </p:txBody>
      </p:sp>
      <p:sp>
        <p:nvSpPr>
          <p:cNvPr id="35844" name="Text Box 6">
            <a:extLst>
              <a:ext uri="{FF2B5EF4-FFF2-40B4-BE49-F238E27FC236}">
                <a16:creationId xmlns:a16="http://schemas.microsoft.com/office/drawing/2014/main" id="{3570E9BE-06AB-8EC5-87DD-F4859AA3BE08}"/>
              </a:ext>
            </a:extLst>
          </p:cNvPr>
          <p:cNvSpPr txBox="1">
            <a:spLocks noChangeArrowheads="1"/>
          </p:cNvSpPr>
          <p:nvPr/>
        </p:nvSpPr>
        <p:spPr bwMode="auto">
          <a:xfrm>
            <a:off x="5651500" y="1700213"/>
            <a:ext cx="1085850" cy="579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a:latin typeface="Arial" panose="020B0604020202020204" pitchFamily="34" charset="0"/>
              </a:rPr>
              <a:t>MutL</a:t>
            </a:r>
          </a:p>
        </p:txBody>
      </p:sp>
      <p:sp>
        <p:nvSpPr>
          <p:cNvPr id="35845" name="Text Box 7">
            <a:extLst>
              <a:ext uri="{FF2B5EF4-FFF2-40B4-BE49-F238E27FC236}">
                <a16:creationId xmlns:a16="http://schemas.microsoft.com/office/drawing/2014/main" id="{BFC21183-7375-FAB8-055C-27DA6B4FF59B}"/>
              </a:ext>
            </a:extLst>
          </p:cNvPr>
          <p:cNvSpPr txBox="1">
            <a:spLocks noChangeArrowheads="1"/>
          </p:cNvSpPr>
          <p:nvPr/>
        </p:nvSpPr>
        <p:spPr bwMode="auto">
          <a:xfrm>
            <a:off x="592138" y="1768475"/>
            <a:ext cx="124142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800" b="1" i="1">
                <a:latin typeface="Arial" panose="020B0604020202020204" pitchFamily="34" charset="0"/>
              </a:rPr>
              <a:t>E. coli</a:t>
            </a:r>
          </a:p>
        </p:txBody>
      </p:sp>
      <p:sp>
        <p:nvSpPr>
          <p:cNvPr id="35846" name="Text Box 8">
            <a:extLst>
              <a:ext uri="{FF2B5EF4-FFF2-40B4-BE49-F238E27FC236}">
                <a16:creationId xmlns:a16="http://schemas.microsoft.com/office/drawing/2014/main" id="{37B9D714-811E-818F-6A53-22E1E4734C6E}"/>
              </a:ext>
            </a:extLst>
          </p:cNvPr>
          <p:cNvSpPr txBox="1">
            <a:spLocks noChangeArrowheads="1"/>
          </p:cNvSpPr>
          <p:nvPr/>
        </p:nvSpPr>
        <p:spPr bwMode="auto">
          <a:xfrm>
            <a:off x="3348038" y="3213100"/>
            <a:ext cx="2354262" cy="944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a:latin typeface="Arial" panose="020B0604020202020204" pitchFamily="34" charset="0"/>
              </a:rPr>
              <a:t>MSH</a:t>
            </a:r>
          </a:p>
          <a:p>
            <a:pPr eaLnBrk="1" hangingPunct="1">
              <a:spcBef>
                <a:spcPct val="0"/>
              </a:spcBef>
              <a:buFontTx/>
              <a:buNone/>
            </a:pPr>
            <a:r>
              <a:rPr lang="en-US" altLang="zh-TW" sz="2400">
                <a:latin typeface="Arial" panose="020B0604020202020204" pitchFamily="34" charset="0"/>
              </a:rPr>
              <a:t>(MutS homolog)</a:t>
            </a:r>
          </a:p>
        </p:txBody>
      </p:sp>
      <p:sp>
        <p:nvSpPr>
          <p:cNvPr id="35847" name="Text Box 9">
            <a:extLst>
              <a:ext uri="{FF2B5EF4-FFF2-40B4-BE49-F238E27FC236}">
                <a16:creationId xmlns:a16="http://schemas.microsoft.com/office/drawing/2014/main" id="{A5040761-0BC0-19E0-1073-E67DD63B3F0C}"/>
              </a:ext>
            </a:extLst>
          </p:cNvPr>
          <p:cNvSpPr txBox="1">
            <a:spLocks noChangeArrowheads="1"/>
          </p:cNvSpPr>
          <p:nvPr/>
        </p:nvSpPr>
        <p:spPr bwMode="auto">
          <a:xfrm>
            <a:off x="468313" y="3324225"/>
            <a:ext cx="22240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800" b="1">
                <a:latin typeface="Arial" panose="020B0604020202020204" pitchFamily="34" charset="0"/>
              </a:rPr>
              <a:t>Eukaryotics</a:t>
            </a:r>
          </a:p>
        </p:txBody>
      </p:sp>
      <p:sp>
        <p:nvSpPr>
          <p:cNvPr id="35848" name="Text Box 10">
            <a:extLst>
              <a:ext uri="{FF2B5EF4-FFF2-40B4-BE49-F238E27FC236}">
                <a16:creationId xmlns:a16="http://schemas.microsoft.com/office/drawing/2014/main" id="{4F9E79A1-73FA-C5E7-BB56-22A8C39E28EA}"/>
              </a:ext>
            </a:extLst>
          </p:cNvPr>
          <p:cNvSpPr txBox="1">
            <a:spLocks noChangeArrowheads="1"/>
          </p:cNvSpPr>
          <p:nvPr/>
        </p:nvSpPr>
        <p:spPr bwMode="auto">
          <a:xfrm>
            <a:off x="5724525" y="3213100"/>
            <a:ext cx="2508250" cy="106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a:latin typeface="Arial" panose="020B0604020202020204" pitchFamily="34" charset="0"/>
              </a:rPr>
              <a:t>MLH or PMS</a:t>
            </a:r>
          </a:p>
          <a:p>
            <a:pPr eaLnBrk="1" hangingPunct="1">
              <a:spcBef>
                <a:spcPct val="0"/>
              </a:spcBef>
              <a:buFontTx/>
              <a:buNone/>
            </a:pPr>
            <a:endParaRPr lang="en-US" altLang="zh-TW">
              <a:latin typeface="Arial" panose="020B0604020202020204" pitchFamily="34" charset="0"/>
            </a:endParaRPr>
          </a:p>
        </p:txBody>
      </p:sp>
      <p:sp>
        <p:nvSpPr>
          <p:cNvPr id="35849" name="Text Box 11">
            <a:extLst>
              <a:ext uri="{FF2B5EF4-FFF2-40B4-BE49-F238E27FC236}">
                <a16:creationId xmlns:a16="http://schemas.microsoft.com/office/drawing/2014/main" id="{6F064901-BE0B-FA04-C2AC-FAE2C67F5237}"/>
              </a:ext>
            </a:extLst>
          </p:cNvPr>
          <p:cNvSpPr txBox="1">
            <a:spLocks noChangeArrowheads="1"/>
          </p:cNvSpPr>
          <p:nvPr/>
        </p:nvSpPr>
        <p:spPr bwMode="auto">
          <a:xfrm>
            <a:off x="395288" y="4724400"/>
            <a:ext cx="8362950" cy="954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800">
                <a:latin typeface="Arial" panose="020B0604020202020204" pitchFamily="34" charset="0"/>
              </a:rPr>
              <a:t>Hereditary nonpolyposis colorectal cancer</a:t>
            </a:r>
          </a:p>
          <a:p>
            <a:pPr eaLnBrk="1" hangingPunct="1">
              <a:spcBef>
                <a:spcPct val="0"/>
              </a:spcBef>
              <a:buFontTx/>
              <a:buNone/>
            </a:pPr>
            <a:r>
              <a:rPr lang="en-US" altLang="zh-TW" sz="2800">
                <a:latin typeface="Arial" panose="020B0604020202020204" pitchFamily="34" charset="0"/>
              </a:rPr>
              <a:t>(mutations in human homologes of </a:t>
            </a:r>
            <a:r>
              <a:rPr lang="en-US" altLang="zh-TW" sz="2800" b="1">
                <a:solidFill>
                  <a:srgbClr val="FF0000"/>
                </a:solidFill>
                <a:latin typeface="Arial" panose="020B0604020202020204" pitchFamily="34" charset="0"/>
              </a:rPr>
              <a:t>Muts</a:t>
            </a:r>
            <a:r>
              <a:rPr lang="en-US" altLang="zh-TW" sz="2800">
                <a:solidFill>
                  <a:srgbClr val="FF0000"/>
                </a:solidFill>
                <a:latin typeface="Arial" panose="020B0604020202020204" pitchFamily="34" charset="0"/>
              </a:rPr>
              <a:t> </a:t>
            </a:r>
            <a:r>
              <a:rPr lang="en-US" altLang="zh-TW" sz="2800">
                <a:latin typeface="Arial" panose="020B0604020202020204" pitchFamily="34" charset="0"/>
              </a:rPr>
              <a:t>and </a:t>
            </a:r>
            <a:r>
              <a:rPr lang="en-US" altLang="zh-TW" sz="2800" b="1">
                <a:solidFill>
                  <a:srgbClr val="FF0000"/>
                </a:solidFill>
                <a:latin typeface="Arial" panose="020B0604020202020204" pitchFamily="34" charset="0"/>
              </a:rPr>
              <a:t>MutL</a:t>
            </a:r>
            <a:r>
              <a:rPr lang="en-US" altLang="zh-TW" sz="2800">
                <a:latin typeface="Arial" panose="020B0604020202020204" pitchFamily="34" charset="0"/>
              </a:rPr>
              <a:t>)</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a:extLst>
              <a:ext uri="{FF2B5EF4-FFF2-40B4-BE49-F238E27FC236}">
                <a16:creationId xmlns:a16="http://schemas.microsoft.com/office/drawing/2014/main" id="{414E0813-DDCF-6FFD-580D-CA2F087C459B}"/>
              </a:ext>
            </a:extLst>
          </p:cNvPr>
          <p:cNvSpPr>
            <a:spLocks noGrp="1" noChangeArrowheads="1"/>
          </p:cNvSpPr>
          <p:nvPr>
            <p:ph type="title"/>
          </p:nvPr>
        </p:nvSpPr>
        <p:spPr/>
        <p:txBody>
          <a:bodyPr/>
          <a:lstStyle/>
          <a:p>
            <a:pPr eaLnBrk="1" hangingPunct="1"/>
            <a:r>
              <a:rPr lang="en-US" altLang="en-US" b="1">
                <a:solidFill>
                  <a:srgbClr val="0000FF"/>
                </a:solidFill>
              </a:rPr>
              <a:t>Sources of errors</a:t>
            </a:r>
          </a:p>
        </p:txBody>
      </p:sp>
      <p:sp>
        <p:nvSpPr>
          <p:cNvPr id="36867" name="Rectangle 3">
            <a:extLst>
              <a:ext uri="{FF2B5EF4-FFF2-40B4-BE49-F238E27FC236}">
                <a16:creationId xmlns:a16="http://schemas.microsoft.com/office/drawing/2014/main" id="{F49EA3C3-865B-BBE4-325F-AD0EF3ABDDA4}"/>
              </a:ext>
            </a:extLst>
          </p:cNvPr>
          <p:cNvSpPr>
            <a:spLocks noGrp="1" noChangeArrowheads="1"/>
          </p:cNvSpPr>
          <p:nvPr>
            <p:ph idx="1"/>
          </p:nvPr>
        </p:nvSpPr>
        <p:spPr>
          <a:xfrm>
            <a:off x="457200" y="1600200"/>
            <a:ext cx="8507413" cy="4530725"/>
          </a:xfrm>
        </p:spPr>
        <p:txBody>
          <a:bodyPr/>
          <a:lstStyle/>
          <a:p>
            <a:pPr marL="609600" indent="-609600" eaLnBrk="1" hangingPunct="1">
              <a:buFont typeface="Wingdings" pitchFamily="2" charset="2"/>
              <a:buAutoNum type="arabicPeriod"/>
            </a:pPr>
            <a:r>
              <a:rPr lang="en-US" altLang="en-US" b="1"/>
              <a:t>Spontaneous damage</a:t>
            </a:r>
          </a:p>
          <a:p>
            <a:pPr marL="990600" lvl="1" indent="-533400" eaLnBrk="1" hangingPunct="1"/>
            <a:endParaRPr lang="en-US" altLang="en-US" b="1"/>
          </a:p>
          <a:p>
            <a:pPr marL="609600" indent="-609600" eaLnBrk="1" hangingPunct="1">
              <a:buFont typeface="Wingdings" pitchFamily="2" charset="2"/>
              <a:buAutoNum type="arabicPeriod"/>
            </a:pPr>
            <a:r>
              <a:rPr lang="en-US" altLang="en-US" b="1"/>
              <a:t>Environmental factors</a:t>
            </a:r>
          </a:p>
          <a:p>
            <a:pPr marL="990600" lvl="1" indent="-533400" eaLnBrk="1" hangingPunct="1"/>
            <a:endParaRPr lang="en-US" altLang="en-US" b="1"/>
          </a:p>
          <a:p>
            <a:pPr marL="609600" indent="-609600" eaLnBrk="1" hangingPunct="1">
              <a:buFont typeface="Wingdings" pitchFamily="2" charset="2"/>
              <a:buAutoNum type="arabicPeriod"/>
            </a:pPr>
            <a:r>
              <a:rPr lang="en-US" altLang="en-US" b="1"/>
              <a:t>Inaccuracy of DNA replication</a:t>
            </a:r>
          </a:p>
          <a:p>
            <a:pPr marL="990600" lvl="1" indent="-533400" eaLnBrk="1" hangingPunct="1"/>
            <a:endParaRPr lang="en-US" altLang="en-US" b="1"/>
          </a:p>
          <a:p>
            <a:pPr marL="609600" indent="-609600" eaLnBrk="1" hangingPunct="1">
              <a:buFont typeface="Wingdings" pitchFamily="2" charset="2"/>
              <a:buAutoNum type="arabicPeriod"/>
            </a:pPr>
            <a:r>
              <a:rPr lang="en-US" altLang="en-US" b="1"/>
              <a:t>Insertion of DNA element (transposons)</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a:extLst>
              <a:ext uri="{FF2B5EF4-FFF2-40B4-BE49-F238E27FC236}">
                <a16:creationId xmlns:a16="http://schemas.microsoft.com/office/drawing/2014/main" id="{82B00BA5-5E8B-92B4-88CA-D1B95B4DF4DA}"/>
              </a:ext>
            </a:extLst>
          </p:cNvPr>
          <p:cNvSpPr>
            <a:spLocks noGrp="1" noChangeArrowheads="1"/>
          </p:cNvSpPr>
          <p:nvPr>
            <p:ph type="title"/>
          </p:nvPr>
        </p:nvSpPr>
        <p:spPr>
          <a:xfrm>
            <a:off x="468313" y="0"/>
            <a:ext cx="8229600" cy="706438"/>
          </a:xfrm>
        </p:spPr>
        <p:txBody>
          <a:bodyPr/>
          <a:lstStyle/>
          <a:p>
            <a:pPr eaLnBrk="1" hangingPunct="1"/>
            <a:r>
              <a:rPr lang="en-GB" altLang="en-US" b="1">
                <a:solidFill>
                  <a:srgbClr val="0000FF"/>
                </a:solidFill>
              </a:rPr>
              <a:t>Ames test for mutagens</a:t>
            </a:r>
          </a:p>
        </p:txBody>
      </p:sp>
      <p:pic>
        <p:nvPicPr>
          <p:cNvPr id="38915" name="Picture 4">
            <a:extLst>
              <a:ext uri="{FF2B5EF4-FFF2-40B4-BE49-F238E27FC236}">
                <a16:creationId xmlns:a16="http://schemas.microsoft.com/office/drawing/2014/main" id="{90659548-0E60-544C-0DB2-DF1FB23B28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365"/>
          <a:stretch>
            <a:fillRect/>
          </a:stretch>
        </p:blipFill>
        <p:spPr bwMode="auto">
          <a:xfrm>
            <a:off x="2268538" y="620713"/>
            <a:ext cx="5103812" cy="6237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a:extLst>
              <a:ext uri="{FF2B5EF4-FFF2-40B4-BE49-F238E27FC236}">
                <a16:creationId xmlns:a16="http://schemas.microsoft.com/office/drawing/2014/main" id="{2DCF50F6-68CB-9DFA-887C-938086489340}"/>
              </a:ext>
            </a:extLst>
          </p:cNvPr>
          <p:cNvSpPr>
            <a:spLocks noGrp="1" noChangeArrowheads="1"/>
          </p:cNvSpPr>
          <p:nvPr>
            <p:ph type="title"/>
          </p:nvPr>
        </p:nvSpPr>
        <p:spPr/>
        <p:txBody>
          <a:bodyPr/>
          <a:lstStyle/>
          <a:p>
            <a:pPr eaLnBrk="1" hangingPunct="1"/>
            <a:r>
              <a:rPr lang="en-US" altLang="en-US" sz="3600">
                <a:solidFill>
                  <a:srgbClr val="C00000"/>
                </a:solidFill>
              </a:rPr>
              <a:t>1. Spontaneous Damage</a:t>
            </a:r>
            <a:br>
              <a:rPr lang="en-US" altLang="en-US" sz="3200">
                <a:solidFill>
                  <a:srgbClr val="C00000"/>
                </a:solidFill>
              </a:rPr>
            </a:br>
            <a:r>
              <a:rPr lang="en-US" altLang="en-US" sz="3200">
                <a:solidFill>
                  <a:srgbClr val="C00000"/>
                </a:solidFill>
              </a:rPr>
              <a:t>A- damage caused by water (</a:t>
            </a:r>
            <a:r>
              <a:rPr lang="en-US" altLang="en-US" sz="3200" u="sng">
                <a:solidFill>
                  <a:srgbClr val="C00000"/>
                </a:solidFill>
              </a:rPr>
              <a:t>hydrolysis</a:t>
            </a:r>
            <a:r>
              <a:rPr lang="en-US" altLang="en-US" sz="3200">
                <a:solidFill>
                  <a:srgbClr val="C00000"/>
                </a:solidFill>
              </a:rPr>
              <a:t>)</a:t>
            </a:r>
          </a:p>
        </p:txBody>
      </p:sp>
      <p:pic>
        <p:nvPicPr>
          <p:cNvPr id="40963" name="Picture 14" descr="img037">
            <a:extLst>
              <a:ext uri="{FF2B5EF4-FFF2-40B4-BE49-F238E27FC236}">
                <a16:creationId xmlns:a16="http://schemas.microsoft.com/office/drawing/2014/main" id="{AC2AE41A-BC72-551F-D3B8-C6F204D4E0B4}"/>
              </a:ext>
            </a:extLst>
          </p:cNvPr>
          <p:cNvPicPr>
            <a:picLocks noGrp="1" noChangeAspect="1" noChangeArrowheads="1"/>
          </p:cNvPicPr>
          <p:nvPr>
            <p:ph sz="half" idx="1"/>
          </p:nvPr>
        </p:nvPicPr>
        <p:blipFill>
          <a:blip r:embed="rId3">
            <a:lum contrast="26000"/>
            <a:extLst>
              <a:ext uri="{28A0092B-C50C-407E-A947-70E740481C1C}">
                <a14:useLocalDpi xmlns:a14="http://schemas.microsoft.com/office/drawing/2010/main" val="0"/>
              </a:ext>
            </a:extLst>
          </a:blip>
          <a:srcRect l="4990" t="6699" r="7123" b="65681"/>
          <a:stretch>
            <a:fillRect/>
          </a:stretch>
        </p:blipFill>
        <p:spPr>
          <a:xfrm>
            <a:off x="4572000" y="1454150"/>
            <a:ext cx="4033838" cy="2220913"/>
          </a:xfrm>
        </p:spPr>
      </p:pic>
      <p:pic>
        <p:nvPicPr>
          <p:cNvPr id="40964" name="Picture 15" descr="img037">
            <a:extLst>
              <a:ext uri="{FF2B5EF4-FFF2-40B4-BE49-F238E27FC236}">
                <a16:creationId xmlns:a16="http://schemas.microsoft.com/office/drawing/2014/main" id="{4436B9ED-77DC-495B-2589-0E4316FB9D27}"/>
              </a:ext>
            </a:extLst>
          </p:cNvPr>
          <p:cNvPicPr>
            <a:picLocks noChangeAspect="1" noChangeArrowheads="1"/>
          </p:cNvPicPr>
          <p:nvPr/>
        </p:nvPicPr>
        <p:blipFill>
          <a:blip r:embed="rId3">
            <a:lum contrast="26000"/>
            <a:extLst>
              <a:ext uri="{28A0092B-C50C-407E-A947-70E740481C1C}">
                <a14:useLocalDpi xmlns:a14="http://schemas.microsoft.com/office/drawing/2010/main" val="0"/>
              </a:ext>
            </a:extLst>
          </a:blip>
          <a:srcRect l="3473" t="71611" r="8333" b="2010"/>
          <a:stretch>
            <a:fillRect/>
          </a:stretch>
        </p:blipFill>
        <p:spPr bwMode="auto">
          <a:xfrm>
            <a:off x="4510088" y="4476750"/>
            <a:ext cx="4176712" cy="2187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0965" name="TextBox 7">
            <a:extLst>
              <a:ext uri="{FF2B5EF4-FFF2-40B4-BE49-F238E27FC236}">
                <a16:creationId xmlns:a16="http://schemas.microsoft.com/office/drawing/2014/main" id="{AB37A700-1EA1-DBA4-DAA8-7EF5B81BF0A6}"/>
              </a:ext>
            </a:extLst>
          </p:cNvPr>
          <p:cNvSpPr txBox="1">
            <a:spLocks noChangeArrowheads="1"/>
          </p:cNvSpPr>
          <p:nvPr/>
        </p:nvSpPr>
        <p:spPr bwMode="auto">
          <a:xfrm>
            <a:off x="250825" y="5157788"/>
            <a:ext cx="3529013"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rgbClr val="0000FF"/>
                </a:solidFill>
                <a:latin typeface="Arial" panose="020B0604020202020204" pitchFamily="34" charset="0"/>
              </a:rPr>
              <a:t>Methylated</a:t>
            </a:r>
            <a:r>
              <a:rPr lang="en-US" altLang="en-US" sz="2000">
                <a:latin typeface="Arial" panose="020B0604020202020204" pitchFamily="34" charset="0"/>
              </a:rPr>
              <a:t> C are hotspots for spontaneous mutations in vertebrate DNA</a:t>
            </a:r>
          </a:p>
        </p:txBody>
      </p:sp>
      <p:sp>
        <p:nvSpPr>
          <p:cNvPr id="40966" name="TextBox 8">
            <a:extLst>
              <a:ext uri="{FF2B5EF4-FFF2-40B4-BE49-F238E27FC236}">
                <a16:creationId xmlns:a16="http://schemas.microsoft.com/office/drawing/2014/main" id="{BF152E5F-6F00-A620-E5AF-B6ED259741EC}"/>
              </a:ext>
            </a:extLst>
          </p:cNvPr>
          <p:cNvSpPr txBox="1">
            <a:spLocks noChangeArrowheads="1"/>
          </p:cNvSpPr>
          <p:nvPr/>
        </p:nvSpPr>
        <p:spPr bwMode="auto">
          <a:xfrm>
            <a:off x="395288" y="4292600"/>
            <a:ext cx="73025" cy="369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40967" name="TextBox 9">
            <a:extLst>
              <a:ext uri="{FF2B5EF4-FFF2-40B4-BE49-F238E27FC236}">
                <a16:creationId xmlns:a16="http://schemas.microsoft.com/office/drawing/2014/main" id="{AF7FAD99-FCA1-78A5-99BD-226490F73316}"/>
              </a:ext>
            </a:extLst>
          </p:cNvPr>
          <p:cNvSpPr txBox="1">
            <a:spLocks noChangeArrowheads="1"/>
          </p:cNvSpPr>
          <p:nvPr/>
        </p:nvSpPr>
        <p:spPr bwMode="auto">
          <a:xfrm>
            <a:off x="271463" y="3887788"/>
            <a:ext cx="5111750"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rgbClr val="0000FF"/>
                </a:solidFill>
                <a:latin typeface="Arial" panose="020B0604020202020204" pitchFamily="34" charset="0"/>
              </a:rPr>
              <a:t>Deamination</a:t>
            </a:r>
            <a:r>
              <a:rPr lang="en-US" altLang="en-US" sz="2000">
                <a:solidFill>
                  <a:srgbClr val="0000FF"/>
                </a:solidFill>
                <a:latin typeface="Arial" panose="020B0604020202020204" pitchFamily="34" charset="0"/>
              </a:rPr>
              <a:t> </a:t>
            </a:r>
            <a:r>
              <a:rPr lang="en-US" altLang="en-US" sz="2000">
                <a:latin typeface="Arial" panose="020B0604020202020204" pitchFamily="34" charset="0"/>
              </a:rPr>
              <a:t>of G  → xanthine can H-bond</a:t>
            </a:r>
          </a:p>
          <a:p>
            <a:pPr eaLnBrk="1" hangingPunct="1">
              <a:spcBef>
                <a:spcPct val="0"/>
              </a:spcBef>
              <a:buFontTx/>
              <a:buNone/>
            </a:pPr>
            <a:r>
              <a:rPr lang="en-US" altLang="en-US" sz="2000">
                <a:latin typeface="Arial" panose="020B0604020202020204" pitchFamily="34" charset="0"/>
              </a:rPr>
              <a:t>to C (two H-bonds)</a:t>
            </a:r>
          </a:p>
        </p:txBody>
      </p:sp>
      <p:sp>
        <p:nvSpPr>
          <p:cNvPr id="40968" name="TextBox 10">
            <a:extLst>
              <a:ext uri="{FF2B5EF4-FFF2-40B4-BE49-F238E27FC236}">
                <a16:creationId xmlns:a16="http://schemas.microsoft.com/office/drawing/2014/main" id="{0B288904-46DC-FB7E-6525-1273F406C53C}"/>
              </a:ext>
            </a:extLst>
          </p:cNvPr>
          <p:cNvSpPr txBox="1">
            <a:spLocks noChangeArrowheads="1"/>
          </p:cNvSpPr>
          <p:nvPr/>
        </p:nvSpPr>
        <p:spPr bwMode="auto">
          <a:xfrm>
            <a:off x="323850" y="2997200"/>
            <a:ext cx="4032250" cy="677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b="1">
                <a:solidFill>
                  <a:srgbClr val="0000FF"/>
                </a:solidFill>
                <a:latin typeface="Arial" panose="020B0604020202020204" pitchFamily="34" charset="0"/>
              </a:rPr>
              <a:t>Deamination</a:t>
            </a:r>
            <a:r>
              <a:rPr lang="en-US" altLang="en-US" sz="1800">
                <a:solidFill>
                  <a:srgbClr val="0000FF"/>
                </a:solidFill>
                <a:latin typeface="Arial" panose="020B0604020202020204" pitchFamily="34" charset="0"/>
              </a:rPr>
              <a:t> </a:t>
            </a:r>
            <a:r>
              <a:rPr lang="en-US" altLang="en-US" sz="1800">
                <a:latin typeface="Arial" panose="020B0604020202020204" pitchFamily="34" charset="0"/>
              </a:rPr>
              <a:t>of A  → </a:t>
            </a:r>
            <a:r>
              <a:rPr lang="en-US" altLang="en-US" sz="2000">
                <a:latin typeface="Arial" panose="020B0604020202020204" pitchFamily="34" charset="0"/>
              </a:rPr>
              <a:t>hypoxanthine</a:t>
            </a:r>
            <a:r>
              <a:rPr lang="en-US" altLang="en-US" sz="1800">
                <a:latin typeface="Arial" panose="020B0604020202020204" pitchFamily="34" charset="0"/>
              </a:rPr>
              <a:t> </a:t>
            </a:r>
          </a:p>
          <a:p>
            <a:pPr eaLnBrk="1" hangingPunct="1">
              <a:spcBef>
                <a:spcPct val="0"/>
              </a:spcBef>
              <a:buFontTx/>
              <a:buNone/>
            </a:pPr>
            <a:r>
              <a:rPr lang="en-US" altLang="en-US" sz="1800">
                <a:latin typeface="Arial" panose="020B0604020202020204" pitchFamily="34" charset="0"/>
              </a:rPr>
              <a:t>can H-bond to C</a:t>
            </a:r>
          </a:p>
        </p:txBody>
      </p:sp>
      <p:sp>
        <p:nvSpPr>
          <p:cNvPr id="40969" name="TextBox 11">
            <a:extLst>
              <a:ext uri="{FF2B5EF4-FFF2-40B4-BE49-F238E27FC236}">
                <a16:creationId xmlns:a16="http://schemas.microsoft.com/office/drawing/2014/main" id="{066B58DE-B4F3-B568-61DF-1A4B89B3DAE1}"/>
              </a:ext>
            </a:extLst>
          </p:cNvPr>
          <p:cNvSpPr txBox="1">
            <a:spLocks noChangeArrowheads="1"/>
          </p:cNvSpPr>
          <p:nvPr/>
        </p:nvSpPr>
        <p:spPr bwMode="auto">
          <a:xfrm>
            <a:off x="395288" y="2060575"/>
            <a:ext cx="2736850" cy="400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000" b="1">
                <a:solidFill>
                  <a:srgbClr val="0000FF"/>
                </a:solidFill>
                <a:latin typeface="Arial" panose="020B0604020202020204" pitchFamily="34" charset="0"/>
              </a:rPr>
              <a:t>Deamination</a:t>
            </a:r>
            <a:r>
              <a:rPr lang="en-US" altLang="en-US" sz="1800">
                <a:solidFill>
                  <a:srgbClr val="0000FF"/>
                </a:solidFill>
                <a:latin typeface="Arial" panose="020B0604020202020204" pitchFamily="34" charset="0"/>
              </a:rPr>
              <a:t> </a:t>
            </a:r>
            <a:r>
              <a:rPr lang="en-US" altLang="en-US" sz="1800">
                <a:latin typeface="Arial" panose="020B0604020202020204" pitchFamily="34" charset="0"/>
              </a:rPr>
              <a:t>of C → U</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10" name="Rectangle 3">
            <a:extLst>
              <a:ext uri="{FF2B5EF4-FFF2-40B4-BE49-F238E27FC236}">
                <a16:creationId xmlns:a16="http://schemas.microsoft.com/office/drawing/2014/main" id="{169A2A87-4A50-925C-3282-1745B8D969BC}"/>
              </a:ext>
            </a:extLst>
          </p:cNvPr>
          <p:cNvSpPr>
            <a:spLocks noGrp="1" noChangeArrowheads="1"/>
          </p:cNvSpPr>
          <p:nvPr>
            <p:ph type="body" sz="half" idx="1"/>
          </p:nvPr>
        </p:nvSpPr>
        <p:spPr>
          <a:xfrm>
            <a:off x="468313" y="1557338"/>
            <a:ext cx="8305800" cy="4297362"/>
          </a:xfrm>
        </p:spPr>
        <p:txBody>
          <a:bodyPr/>
          <a:lstStyle/>
          <a:p>
            <a:pPr marL="609600" indent="-609600" eaLnBrk="1" hangingPunct="1">
              <a:buFont typeface="Wingdings" pitchFamily="2" charset="2"/>
              <a:buAutoNum type="arabicPeriod" startAt="2"/>
            </a:pPr>
            <a:r>
              <a:rPr lang="en-US" altLang="en-US" sz="2800" b="1">
                <a:solidFill>
                  <a:srgbClr val="0000FF"/>
                </a:solidFill>
              </a:rPr>
              <a:t>Depurination</a:t>
            </a:r>
          </a:p>
          <a:p>
            <a:pPr marL="609600" indent="-609600" eaLnBrk="1" hangingPunct="1">
              <a:buFont typeface="Wingdings" pitchFamily="2" charset="2"/>
              <a:buNone/>
            </a:pPr>
            <a:r>
              <a:rPr lang="en-US" altLang="en-US" sz="2800"/>
              <a:t>Hydrolysis of N-glycosyl linkage → abasic site (apurinic) </a:t>
            </a:r>
          </a:p>
          <a:p>
            <a:pPr marL="609600" indent="-609600" eaLnBrk="1" hangingPunct="1">
              <a:buFont typeface="Wingdings" pitchFamily="2" charset="2"/>
              <a:buNone/>
            </a:pPr>
            <a:endParaRPr lang="en-US" altLang="en-US" sz="2800"/>
          </a:p>
        </p:txBody>
      </p:sp>
      <p:pic>
        <p:nvPicPr>
          <p:cNvPr id="43011" name="Picture 4" descr="img037">
            <a:extLst>
              <a:ext uri="{FF2B5EF4-FFF2-40B4-BE49-F238E27FC236}">
                <a16:creationId xmlns:a16="http://schemas.microsoft.com/office/drawing/2014/main" id="{BAFF8C83-727D-A3C7-7741-F276801495D7}"/>
              </a:ext>
            </a:extLst>
          </p:cNvPr>
          <p:cNvPicPr>
            <a:picLocks noGrp="1" noChangeAspect="1" noChangeArrowheads="1"/>
          </p:cNvPicPr>
          <p:nvPr>
            <p:ph sz="half" idx="2"/>
          </p:nvPr>
        </p:nvPicPr>
        <p:blipFill>
          <a:blip r:embed="rId3">
            <a:lum contrast="14000"/>
            <a:extLst>
              <a:ext uri="{28A0092B-C50C-407E-A947-70E740481C1C}">
                <a14:useLocalDpi xmlns:a14="http://schemas.microsoft.com/office/drawing/2010/main" val="0"/>
              </a:ext>
            </a:extLst>
          </a:blip>
          <a:srcRect t="34035" b="31180"/>
          <a:stretch>
            <a:fillRect/>
          </a:stretch>
        </p:blipFill>
        <p:spPr>
          <a:xfrm>
            <a:off x="1989138" y="2852738"/>
            <a:ext cx="5264150" cy="3128962"/>
          </a:xfrm>
          <a:noFill/>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Rectangle 2">
            <a:extLst>
              <a:ext uri="{FF2B5EF4-FFF2-40B4-BE49-F238E27FC236}">
                <a16:creationId xmlns:a16="http://schemas.microsoft.com/office/drawing/2014/main" id="{0C8D4D61-6F05-A5CC-3C66-962DD3C101EE}"/>
              </a:ext>
            </a:extLst>
          </p:cNvPr>
          <p:cNvSpPr>
            <a:spLocks noGrp="1" noChangeArrowheads="1"/>
          </p:cNvSpPr>
          <p:nvPr>
            <p:ph type="title"/>
          </p:nvPr>
        </p:nvSpPr>
        <p:spPr>
          <a:xfrm>
            <a:off x="179388" y="277813"/>
            <a:ext cx="8507412" cy="1143000"/>
          </a:xfrm>
        </p:spPr>
        <p:txBody>
          <a:bodyPr/>
          <a:lstStyle/>
          <a:p>
            <a:pPr eaLnBrk="1" hangingPunct="1"/>
            <a:r>
              <a:rPr lang="en-US" altLang="en-US" sz="3200" b="1">
                <a:solidFill>
                  <a:srgbClr val="0000FF"/>
                </a:solidFill>
              </a:rPr>
              <a:t>2. Damage caused by environmental factors</a:t>
            </a:r>
          </a:p>
        </p:txBody>
      </p:sp>
      <p:sp>
        <p:nvSpPr>
          <p:cNvPr id="45059" name="Rectangle 3">
            <a:extLst>
              <a:ext uri="{FF2B5EF4-FFF2-40B4-BE49-F238E27FC236}">
                <a16:creationId xmlns:a16="http://schemas.microsoft.com/office/drawing/2014/main" id="{6A82464A-AE2F-161E-CFCD-B7AB99CBAD1E}"/>
              </a:ext>
            </a:extLst>
          </p:cNvPr>
          <p:cNvSpPr>
            <a:spLocks noGrp="1" noChangeArrowheads="1"/>
          </p:cNvSpPr>
          <p:nvPr>
            <p:ph idx="1"/>
          </p:nvPr>
        </p:nvSpPr>
        <p:spPr>
          <a:xfrm>
            <a:off x="228600" y="1600200"/>
            <a:ext cx="8686800" cy="4953000"/>
          </a:xfrm>
        </p:spPr>
        <p:txBody>
          <a:bodyPr/>
          <a:lstStyle/>
          <a:p>
            <a:pPr marL="609600" indent="-609600" eaLnBrk="1" hangingPunct="1">
              <a:buFont typeface="Wingdings" pitchFamily="2" charset="2"/>
              <a:buAutoNum type="alphaLcPeriod"/>
            </a:pPr>
            <a:r>
              <a:rPr lang="en-US" altLang="en-US" b="1"/>
              <a:t>Alkylation</a:t>
            </a:r>
          </a:p>
          <a:p>
            <a:pPr marL="990600" lvl="1" indent="-533400" eaLnBrk="1" hangingPunct="1"/>
            <a:endParaRPr lang="en-US" altLang="en-US" b="1"/>
          </a:p>
          <a:p>
            <a:pPr marL="609600" indent="-609600" eaLnBrk="1" hangingPunct="1">
              <a:buFont typeface="Wingdings" pitchFamily="2" charset="2"/>
              <a:buAutoNum type="alphaLcPeriod"/>
            </a:pPr>
            <a:r>
              <a:rPr lang="en-US" altLang="en-US" b="1"/>
              <a:t>Oxidation</a:t>
            </a:r>
          </a:p>
          <a:p>
            <a:pPr marL="990600" lvl="1" indent="-533400" eaLnBrk="1" hangingPunct="1"/>
            <a:endParaRPr lang="en-US" altLang="en-US" b="1"/>
          </a:p>
          <a:p>
            <a:pPr marL="609600" indent="-609600" eaLnBrk="1" hangingPunct="1">
              <a:buFont typeface="Wingdings" pitchFamily="2" charset="2"/>
              <a:buAutoNum type="alphaLcPeriod"/>
            </a:pPr>
            <a:r>
              <a:rPr lang="en-US" altLang="en-US" b="1"/>
              <a:t>Radiation</a:t>
            </a:r>
          </a:p>
          <a:p>
            <a:pPr marL="990600" lvl="1" indent="-533400" eaLnBrk="1" hangingPunct="1"/>
            <a:r>
              <a:rPr lang="en-US" altLang="en-US" b="1">
                <a:solidFill>
                  <a:srgbClr val="FF0000"/>
                </a:solidFill>
              </a:rPr>
              <a:t>UV light</a:t>
            </a:r>
          </a:p>
          <a:p>
            <a:pPr marL="990600" lvl="1" indent="-533400" eaLnBrk="1" hangingPunct="1"/>
            <a:r>
              <a:rPr lang="en-US" altLang="en-US" b="1">
                <a:solidFill>
                  <a:srgbClr val="FF0000"/>
                </a:solidFill>
              </a:rPr>
              <a:t>Gamma ray</a:t>
            </a:r>
          </a:p>
          <a:p>
            <a:pPr marL="990600" lvl="1" indent="-533400" eaLnBrk="1" hangingPunct="1"/>
            <a:r>
              <a:rPr lang="en-US" altLang="en-US" b="1">
                <a:solidFill>
                  <a:srgbClr val="FF0000"/>
                </a:solidFill>
              </a:rPr>
              <a:t>X ray</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a:extLst>
              <a:ext uri="{FF2B5EF4-FFF2-40B4-BE49-F238E27FC236}">
                <a16:creationId xmlns:a16="http://schemas.microsoft.com/office/drawing/2014/main" id="{7AD4925A-0F14-65D2-79DF-25067B86B2EA}"/>
              </a:ext>
            </a:extLst>
          </p:cNvPr>
          <p:cNvSpPr>
            <a:spLocks noGrp="1" noChangeArrowheads="1"/>
          </p:cNvSpPr>
          <p:nvPr>
            <p:ph type="title"/>
          </p:nvPr>
        </p:nvSpPr>
        <p:spPr/>
        <p:txBody>
          <a:bodyPr/>
          <a:lstStyle/>
          <a:p>
            <a:pPr eaLnBrk="1" hangingPunct="1"/>
            <a:r>
              <a:rPr lang="en-US" altLang="en-US" sz="3600" b="1">
                <a:solidFill>
                  <a:srgbClr val="C00000"/>
                </a:solidFill>
              </a:rPr>
              <a:t>2. </a:t>
            </a:r>
            <a:r>
              <a:rPr lang="en-US" altLang="en-US" sz="3200" b="1">
                <a:solidFill>
                  <a:srgbClr val="C00000"/>
                </a:solidFill>
              </a:rPr>
              <a:t>Damage caused by environmental factors</a:t>
            </a:r>
            <a:br>
              <a:rPr lang="en-US" altLang="en-US" sz="3200" b="1">
                <a:solidFill>
                  <a:srgbClr val="C00000"/>
                </a:solidFill>
              </a:rPr>
            </a:br>
            <a:r>
              <a:rPr lang="en-US" altLang="en-US" sz="3200" b="1">
                <a:solidFill>
                  <a:srgbClr val="C00000"/>
                </a:solidFill>
              </a:rPr>
              <a:t> A- Alkylation</a:t>
            </a:r>
          </a:p>
        </p:txBody>
      </p:sp>
      <p:sp>
        <p:nvSpPr>
          <p:cNvPr id="47107" name="Rectangle 3">
            <a:extLst>
              <a:ext uri="{FF2B5EF4-FFF2-40B4-BE49-F238E27FC236}">
                <a16:creationId xmlns:a16="http://schemas.microsoft.com/office/drawing/2014/main" id="{E6279178-E1DA-0033-99F0-241114A2B89A}"/>
              </a:ext>
            </a:extLst>
          </p:cNvPr>
          <p:cNvSpPr>
            <a:spLocks noGrp="1" noChangeArrowheads="1"/>
          </p:cNvSpPr>
          <p:nvPr>
            <p:ph type="body" sz="half" idx="1"/>
          </p:nvPr>
        </p:nvSpPr>
        <p:spPr>
          <a:xfrm>
            <a:off x="457200" y="1600200"/>
            <a:ext cx="8229600" cy="2765425"/>
          </a:xfrm>
        </p:spPr>
        <p:txBody>
          <a:bodyPr/>
          <a:lstStyle/>
          <a:p>
            <a:pPr marL="609600" indent="-609600" eaLnBrk="1" hangingPunct="1"/>
            <a:r>
              <a:rPr lang="en-US" altLang="en-US" sz="2800" b="1">
                <a:solidFill>
                  <a:srgbClr val="FF0000"/>
                </a:solidFill>
              </a:rPr>
              <a:t>Methyl/Ethyl group </a:t>
            </a:r>
            <a:r>
              <a:rPr lang="en-US" altLang="en-US" sz="2800"/>
              <a:t>added to base or DNA backbone</a:t>
            </a:r>
          </a:p>
          <a:p>
            <a:pPr marL="609600" indent="-609600" eaLnBrk="1" hangingPunct="1"/>
            <a:r>
              <a:rPr lang="en-US" altLang="en-US" sz="2800"/>
              <a:t>Nitrosamines and N-methyl-N</a:t>
            </a:r>
            <a:r>
              <a:rPr lang="en-US" altLang="en-US" sz="2800" baseline="30000"/>
              <a:t>1</a:t>
            </a:r>
            <a:r>
              <a:rPr lang="en-US" altLang="en-US" sz="2800"/>
              <a:t>-nitrosoguanidine</a:t>
            </a:r>
          </a:p>
          <a:p>
            <a:pPr marL="609600" indent="-609600" eaLnBrk="1" hangingPunct="1"/>
            <a:endParaRPr lang="en-US" altLang="en-US" sz="1600"/>
          </a:p>
          <a:p>
            <a:pPr marL="609600" indent="-609600" eaLnBrk="1" hangingPunct="1"/>
            <a:r>
              <a:rPr lang="en-US" altLang="en-US" sz="2800"/>
              <a:t>O atom of guanine </a:t>
            </a:r>
            <a:r>
              <a:rPr lang="en-US" altLang="en-US" sz="1800"/>
              <a:t>C6</a:t>
            </a:r>
            <a:r>
              <a:rPr lang="en-US" altLang="en-US" sz="2800"/>
              <a:t> → O</a:t>
            </a:r>
            <a:r>
              <a:rPr lang="en-US" altLang="en-US" sz="2800" baseline="30000"/>
              <a:t>6</a:t>
            </a:r>
            <a:r>
              <a:rPr lang="en-US" altLang="en-US" sz="2800"/>
              <a:t>-methylguanine           </a:t>
            </a:r>
            <a:r>
              <a:rPr lang="en-US" altLang="en-US"/>
              <a:t>T</a:t>
            </a:r>
          </a:p>
          <a:p>
            <a:pPr marL="609600" indent="-609600" eaLnBrk="1" hangingPunct="1"/>
            <a:endParaRPr lang="en-US" altLang="en-US" sz="1600"/>
          </a:p>
          <a:p>
            <a:pPr marL="609600" indent="-609600" eaLnBrk="1" hangingPunct="1"/>
            <a:endParaRPr lang="en-US" altLang="en-US" sz="2400"/>
          </a:p>
        </p:txBody>
      </p:sp>
      <p:grpSp>
        <p:nvGrpSpPr>
          <p:cNvPr id="47108" name="Group 4">
            <a:extLst>
              <a:ext uri="{FF2B5EF4-FFF2-40B4-BE49-F238E27FC236}">
                <a16:creationId xmlns:a16="http://schemas.microsoft.com/office/drawing/2014/main" id="{E4D29FFF-CF01-13E7-1902-9857AFE80650}"/>
              </a:ext>
            </a:extLst>
          </p:cNvPr>
          <p:cNvGrpSpPr>
            <a:grpSpLocks/>
          </p:cNvGrpSpPr>
          <p:nvPr/>
        </p:nvGrpSpPr>
        <p:grpSpPr bwMode="auto">
          <a:xfrm flipH="1" flipV="1">
            <a:off x="7596188" y="3573463"/>
            <a:ext cx="473075" cy="207962"/>
            <a:chOff x="2928" y="1488"/>
            <a:chExt cx="202" cy="96"/>
          </a:xfrm>
        </p:grpSpPr>
        <p:sp>
          <p:nvSpPr>
            <p:cNvPr id="47110" name="Line 5">
              <a:extLst>
                <a:ext uri="{FF2B5EF4-FFF2-40B4-BE49-F238E27FC236}">
                  <a16:creationId xmlns:a16="http://schemas.microsoft.com/office/drawing/2014/main" id="{6D5513D6-C44B-D736-3710-7222C388102B}"/>
                </a:ext>
              </a:extLst>
            </p:cNvPr>
            <p:cNvSpPr>
              <a:spLocks noChangeShapeType="1"/>
            </p:cNvSpPr>
            <p:nvPr/>
          </p:nvSpPr>
          <p:spPr bwMode="auto">
            <a:xfrm>
              <a:off x="2928" y="1488"/>
              <a:ext cx="20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47111" name="Line 6">
              <a:extLst>
                <a:ext uri="{FF2B5EF4-FFF2-40B4-BE49-F238E27FC236}">
                  <a16:creationId xmlns:a16="http://schemas.microsoft.com/office/drawing/2014/main" id="{83D2EF77-7495-E2E0-B9CE-F6326F13D060}"/>
                </a:ext>
              </a:extLst>
            </p:cNvPr>
            <p:cNvSpPr>
              <a:spLocks noChangeShapeType="1"/>
            </p:cNvSpPr>
            <p:nvPr/>
          </p:nvSpPr>
          <p:spPr bwMode="auto">
            <a:xfrm>
              <a:off x="2928" y="1584"/>
              <a:ext cx="20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pic>
        <p:nvPicPr>
          <p:cNvPr id="47109" name="Picture 7" descr="H:\Amjad Courses\BT451\Molecular Biology of the Gene images\watson_mm_jpg_chap009\chap009\09_Figure08.jpg">
            <a:extLst>
              <a:ext uri="{FF2B5EF4-FFF2-40B4-BE49-F238E27FC236}">
                <a16:creationId xmlns:a16="http://schemas.microsoft.com/office/drawing/2014/main" id="{F7E07FE4-FB12-AE1D-30F2-6014148CE2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79650" y="4076700"/>
            <a:ext cx="4567238" cy="278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Text Box 4">
            <a:extLst>
              <a:ext uri="{FF2B5EF4-FFF2-40B4-BE49-F238E27FC236}">
                <a16:creationId xmlns:a16="http://schemas.microsoft.com/office/drawing/2014/main" id="{7B1FA355-9FB5-C4AF-F369-564D8F8F5E3C}"/>
              </a:ext>
            </a:extLst>
          </p:cNvPr>
          <p:cNvSpPr txBox="1">
            <a:spLocks noChangeArrowheads="1"/>
          </p:cNvSpPr>
          <p:nvPr/>
        </p:nvSpPr>
        <p:spPr bwMode="auto">
          <a:xfrm>
            <a:off x="1365250" y="450850"/>
            <a:ext cx="6518275"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800" b="1">
                <a:solidFill>
                  <a:srgbClr val="C00000"/>
                </a:solidFill>
                <a:latin typeface="Arial" panose="020B0604020202020204" pitchFamily="34" charset="0"/>
              </a:rPr>
              <a:t>Damaged by alkylation and oxidation</a:t>
            </a:r>
          </a:p>
        </p:txBody>
      </p:sp>
      <p:pic>
        <p:nvPicPr>
          <p:cNvPr id="49155" name="Picture 5" descr="fg09-11">
            <a:extLst>
              <a:ext uri="{FF2B5EF4-FFF2-40B4-BE49-F238E27FC236}">
                <a16:creationId xmlns:a16="http://schemas.microsoft.com/office/drawing/2014/main" id="{47FFB13C-3F89-D086-9827-34F037180BD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11638"/>
          <a:stretch>
            <a:fillRect/>
          </a:stretch>
        </p:blipFill>
        <p:spPr bwMode="auto">
          <a:xfrm>
            <a:off x="1835150" y="1125538"/>
            <a:ext cx="5472113" cy="333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9156" name="Text Box 8">
            <a:extLst>
              <a:ext uri="{FF2B5EF4-FFF2-40B4-BE49-F238E27FC236}">
                <a16:creationId xmlns:a16="http://schemas.microsoft.com/office/drawing/2014/main" id="{44B13AB0-39E9-80B3-60CB-801DEFBBF7C2}"/>
              </a:ext>
            </a:extLst>
          </p:cNvPr>
          <p:cNvSpPr txBox="1">
            <a:spLocks noChangeArrowheads="1"/>
          </p:cNvSpPr>
          <p:nvPr/>
        </p:nvSpPr>
        <p:spPr bwMode="auto">
          <a:xfrm>
            <a:off x="104775" y="4581525"/>
            <a:ext cx="8788400"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400" b="1">
                <a:solidFill>
                  <a:srgbClr val="C00000"/>
                </a:solidFill>
                <a:latin typeface="Arial" panose="020B0604020202020204" pitchFamily="34" charset="0"/>
              </a:rPr>
              <a:t>Alkylation</a:t>
            </a:r>
            <a:r>
              <a:rPr lang="en-US" altLang="zh-TW" sz="2400">
                <a:latin typeface="Arial" panose="020B0604020202020204" pitchFamily="34" charset="0"/>
              </a:rPr>
              <a:t> at the oxygen of carbon atom 6 of G : O</a:t>
            </a:r>
            <a:r>
              <a:rPr lang="en-US" altLang="zh-TW" sz="2400" baseline="30000">
                <a:latin typeface="Arial" panose="020B0604020202020204" pitchFamily="34" charset="0"/>
              </a:rPr>
              <a:t>6</a:t>
            </a:r>
            <a:r>
              <a:rPr lang="en-US" altLang="zh-TW" sz="2400">
                <a:latin typeface="Arial" panose="020B0604020202020204" pitchFamily="34" charset="0"/>
              </a:rPr>
              <a:t>-metylguanine, often mispairs with T.  </a:t>
            </a:r>
          </a:p>
        </p:txBody>
      </p:sp>
      <p:sp>
        <p:nvSpPr>
          <p:cNvPr id="49157" name="Text Box 9">
            <a:extLst>
              <a:ext uri="{FF2B5EF4-FFF2-40B4-BE49-F238E27FC236}">
                <a16:creationId xmlns:a16="http://schemas.microsoft.com/office/drawing/2014/main" id="{6DB885C3-BB35-D558-8C5F-B385784C1D03}"/>
              </a:ext>
            </a:extLst>
          </p:cNvPr>
          <p:cNvSpPr txBox="1">
            <a:spLocks noChangeArrowheads="1"/>
          </p:cNvSpPr>
          <p:nvPr/>
        </p:nvSpPr>
        <p:spPr bwMode="auto">
          <a:xfrm>
            <a:off x="104775" y="5516563"/>
            <a:ext cx="8734425" cy="1201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400" b="1">
                <a:solidFill>
                  <a:srgbClr val="C00000"/>
                </a:solidFill>
                <a:latin typeface="Arial" panose="020B0604020202020204" pitchFamily="34" charset="0"/>
              </a:rPr>
              <a:t>Oxidation</a:t>
            </a:r>
            <a:r>
              <a:rPr lang="en-US" altLang="zh-TW" sz="2400">
                <a:latin typeface="Arial" panose="020B0604020202020204" pitchFamily="34" charset="0"/>
              </a:rPr>
              <a:t> of G generates oxoG, it can mispair with A and C. a G:C to T:A transversion is one of the most common mutation in </a:t>
            </a:r>
            <a:r>
              <a:rPr lang="en-US" altLang="zh-TW" sz="2400" u="sng">
                <a:latin typeface="Arial" panose="020B0604020202020204" pitchFamily="34" charset="0"/>
              </a:rPr>
              <a:t>human cancers</a:t>
            </a:r>
            <a:r>
              <a:rPr lang="en-US" altLang="zh-TW" sz="2400">
                <a:latin typeface="Arial" panose="020B0604020202020204" pitchFamily="34" charset="0"/>
              </a:rPr>
              <a:t>.</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2">
            <a:extLst>
              <a:ext uri="{FF2B5EF4-FFF2-40B4-BE49-F238E27FC236}">
                <a16:creationId xmlns:a16="http://schemas.microsoft.com/office/drawing/2014/main" id="{1E7DE40C-C5EC-F0F5-E5D1-216E0DBB533D}"/>
              </a:ext>
            </a:extLst>
          </p:cNvPr>
          <p:cNvSpPr>
            <a:spLocks noGrp="1" noChangeArrowheads="1"/>
          </p:cNvSpPr>
          <p:nvPr>
            <p:ph type="title"/>
          </p:nvPr>
        </p:nvSpPr>
        <p:spPr>
          <a:xfrm>
            <a:off x="0" y="274638"/>
            <a:ext cx="9144000" cy="1143000"/>
          </a:xfrm>
        </p:spPr>
        <p:txBody>
          <a:bodyPr/>
          <a:lstStyle/>
          <a:p>
            <a:pPr eaLnBrk="1" hangingPunct="1"/>
            <a:r>
              <a:rPr lang="en-US" altLang="en-US" sz="3600">
                <a:solidFill>
                  <a:srgbClr val="C00000"/>
                </a:solidFill>
              </a:rPr>
              <a:t>2. </a:t>
            </a:r>
            <a:r>
              <a:rPr lang="en-US" altLang="en-US" sz="3200" b="1">
                <a:solidFill>
                  <a:srgbClr val="C00000"/>
                </a:solidFill>
              </a:rPr>
              <a:t>Damage caused by environmental factors</a:t>
            </a:r>
            <a:br>
              <a:rPr lang="en-US" altLang="en-US" sz="3200" b="1">
                <a:solidFill>
                  <a:srgbClr val="C00000"/>
                </a:solidFill>
              </a:rPr>
            </a:br>
            <a:r>
              <a:rPr lang="en-US" altLang="en-US" sz="3200" b="1">
                <a:solidFill>
                  <a:srgbClr val="C00000"/>
                </a:solidFill>
              </a:rPr>
              <a:t> B- Oxidation</a:t>
            </a:r>
          </a:p>
        </p:txBody>
      </p:sp>
      <p:sp>
        <p:nvSpPr>
          <p:cNvPr id="51203" name="Rectangle 3">
            <a:extLst>
              <a:ext uri="{FF2B5EF4-FFF2-40B4-BE49-F238E27FC236}">
                <a16:creationId xmlns:a16="http://schemas.microsoft.com/office/drawing/2014/main" id="{DBCD0120-04C1-93D0-63ED-F5F1264F575F}"/>
              </a:ext>
            </a:extLst>
          </p:cNvPr>
          <p:cNvSpPr>
            <a:spLocks noGrp="1" noChangeArrowheads="1"/>
          </p:cNvSpPr>
          <p:nvPr>
            <p:ph idx="1"/>
          </p:nvPr>
        </p:nvSpPr>
        <p:spPr>
          <a:xfrm>
            <a:off x="228600" y="1600200"/>
            <a:ext cx="8686800" cy="4953000"/>
          </a:xfrm>
        </p:spPr>
        <p:txBody>
          <a:bodyPr/>
          <a:lstStyle/>
          <a:p>
            <a:pPr marL="609600" indent="-609600" eaLnBrk="1" hangingPunct="1"/>
            <a:r>
              <a:rPr lang="en-US" altLang="en-US"/>
              <a:t>Ionizing radiation or chemicals producing free radicals</a:t>
            </a:r>
          </a:p>
          <a:p>
            <a:pPr marL="609600" indent="-609600" eaLnBrk="1" hangingPunct="1"/>
            <a:endParaRPr lang="en-US" altLang="en-US" sz="1200"/>
          </a:p>
          <a:p>
            <a:pPr marL="609600" indent="-609600" eaLnBrk="1" hangingPunct="1"/>
            <a:r>
              <a:rPr lang="en-US" altLang="en-US"/>
              <a:t>Caused by oxidizing agents (O</a:t>
            </a:r>
            <a:r>
              <a:rPr lang="en-US" altLang="en-US" baseline="-25000"/>
              <a:t>2</a:t>
            </a:r>
            <a:r>
              <a:rPr lang="en-US" altLang="en-US" baseline="30000"/>
              <a:t>–</a:t>
            </a:r>
            <a:r>
              <a:rPr lang="en-US" altLang="en-US"/>
              <a:t>, H</a:t>
            </a:r>
            <a:r>
              <a:rPr lang="en-US" altLang="en-US" baseline="-25000"/>
              <a:t>2</a:t>
            </a:r>
            <a:r>
              <a:rPr lang="en-US" altLang="en-US"/>
              <a:t>O</a:t>
            </a:r>
            <a:r>
              <a:rPr lang="en-US" altLang="en-US" baseline="-25000"/>
              <a:t>2</a:t>
            </a:r>
            <a:r>
              <a:rPr lang="en-US" altLang="en-US"/>
              <a:t>, OH</a:t>
            </a:r>
            <a:r>
              <a:rPr lang="en-US" altLang="en-US" sz="2400"/>
              <a:t>•</a:t>
            </a:r>
            <a:r>
              <a:rPr lang="en-US" altLang="en-US"/>
              <a:t>) </a:t>
            </a:r>
          </a:p>
          <a:p>
            <a:pPr marL="609600" indent="-609600" eaLnBrk="1" hangingPunct="1"/>
            <a:endParaRPr lang="en-US" altLang="en-US" sz="1200"/>
          </a:p>
          <a:p>
            <a:pPr marL="609600" indent="-609600" eaLnBrk="1" hangingPunct="1"/>
            <a:r>
              <a:rPr lang="en-US" altLang="en-US"/>
              <a:t>Oxidation of guanine → oxoG            A </a:t>
            </a:r>
          </a:p>
          <a:p>
            <a:pPr marL="609600" indent="-609600" eaLnBrk="1" hangingPunct="1"/>
            <a:endParaRPr lang="en-US" altLang="en-US"/>
          </a:p>
          <a:p>
            <a:pPr marL="609600" indent="-609600" eaLnBrk="1" hangingPunct="1"/>
            <a:endParaRPr lang="en-US" altLang="en-US"/>
          </a:p>
          <a:p>
            <a:pPr marL="609600" indent="-609600" eaLnBrk="1" hangingPunct="1"/>
            <a:r>
              <a:rPr lang="en-US" altLang="en-US"/>
              <a:t>This transversion is very common in cancer</a:t>
            </a:r>
          </a:p>
        </p:txBody>
      </p:sp>
      <p:grpSp>
        <p:nvGrpSpPr>
          <p:cNvPr id="51204" name="Group 4">
            <a:extLst>
              <a:ext uri="{FF2B5EF4-FFF2-40B4-BE49-F238E27FC236}">
                <a16:creationId xmlns:a16="http://schemas.microsoft.com/office/drawing/2014/main" id="{34D5F95C-4944-1E56-E279-90F695E52A8C}"/>
              </a:ext>
            </a:extLst>
          </p:cNvPr>
          <p:cNvGrpSpPr>
            <a:grpSpLocks/>
          </p:cNvGrpSpPr>
          <p:nvPr/>
        </p:nvGrpSpPr>
        <p:grpSpPr bwMode="auto">
          <a:xfrm>
            <a:off x="6372225" y="3933825"/>
            <a:ext cx="320675" cy="152400"/>
            <a:chOff x="2928" y="1488"/>
            <a:chExt cx="202" cy="96"/>
          </a:xfrm>
        </p:grpSpPr>
        <p:sp>
          <p:nvSpPr>
            <p:cNvPr id="51210" name="Line 5">
              <a:extLst>
                <a:ext uri="{FF2B5EF4-FFF2-40B4-BE49-F238E27FC236}">
                  <a16:creationId xmlns:a16="http://schemas.microsoft.com/office/drawing/2014/main" id="{44273359-245E-B88E-0257-5B9624C6EA9B}"/>
                </a:ext>
              </a:extLst>
            </p:cNvPr>
            <p:cNvSpPr>
              <a:spLocks noChangeShapeType="1"/>
            </p:cNvSpPr>
            <p:nvPr/>
          </p:nvSpPr>
          <p:spPr bwMode="auto">
            <a:xfrm>
              <a:off x="2928" y="1488"/>
              <a:ext cx="20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11" name="Line 6">
              <a:extLst>
                <a:ext uri="{FF2B5EF4-FFF2-40B4-BE49-F238E27FC236}">
                  <a16:creationId xmlns:a16="http://schemas.microsoft.com/office/drawing/2014/main" id="{50D2350A-484B-A3CB-9333-0B47A11FA38B}"/>
                </a:ext>
              </a:extLst>
            </p:cNvPr>
            <p:cNvSpPr>
              <a:spLocks noChangeShapeType="1"/>
            </p:cNvSpPr>
            <p:nvPr/>
          </p:nvSpPr>
          <p:spPr bwMode="auto">
            <a:xfrm>
              <a:off x="2928" y="1584"/>
              <a:ext cx="20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grpSp>
        <p:nvGrpSpPr>
          <p:cNvPr id="51205" name="Group 7">
            <a:extLst>
              <a:ext uri="{FF2B5EF4-FFF2-40B4-BE49-F238E27FC236}">
                <a16:creationId xmlns:a16="http://schemas.microsoft.com/office/drawing/2014/main" id="{8CE2A1E5-8132-8EB4-70E4-F5085FAF53A8}"/>
              </a:ext>
            </a:extLst>
          </p:cNvPr>
          <p:cNvGrpSpPr>
            <a:grpSpLocks/>
          </p:cNvGrpSpPr>
          <p:nvPr/>
        </p:nvGrpSpPr>
        <p:grpSpPr bwMode="auto">
          <a:xfrm rot="3677643">
            <a:off x="6219825" y="4229101"/>
            <a:ext cx="320675" cy="304800"/>
            <a:chOff x="3504" y="1776"/>
            <a:chExt cx="202" cy="192"/>
          </a:xfrm>
        </p:grpSpPr>
        <p:sp>
          <p:nvSpPr>
            <p:cNvPr id="51207" name="Line 8">
              <a:extLst>
                <a:ext uri="{FF2B5EF4-FFF2-40B4-BE49-F238E27FC236}">
                  <a16:creationId xmlns:a16="http://schemas.microsoft.com/office/drawing/2014/main" id="{1E9AC427-7C57-DDF0-E471-21776239F51A}"/>
                </a:ext>
              </a:extLst>
            </p:cNvPr>
            <p:cNvSpPr>
              <a:spLocks noChangeShapeType="1"/>
            </p:cNvSpPr>
            <p:nvPr/>
          </p:nvSpPr>
          <p:spPr bwMode="auto">
            <a:xfrm>
              <a:off x="3504" y="1776"/>
              <a:ext cx="20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08" name="Line 9">
              <a:extLst>
                <a:ext uri="{FF2B5EF4-FFF2-40B4-BE49-F238E27FC236}">
                  <a16:creationId xmlns:a16="http://schemas.microsoft.com/office/drawing/2014/main" id="{1F415233-4296-C51B-6961-E7003F191A57}"/>
                </a:ext>
              </a:extLst>
            </p:cNvPr>
            <p:cNvSpPr>
              <a:spLocks noChangeShapeType="1"/>
            </p:cNvSpPr>
            <p:nvPr/>
          </p:nvSpPr>
          <p:spPr bwMode="auto">
            <a:xfrm>
              <a:off x="3504" y="1872"/>
              <a:ext cx="20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51209" name="Line 10">
              <a:extLst>
                <a:ext uri="{FF2B5EF4-FFF2-40B4-BE49-F238E27FC236}">
                  <a16:creationId xmlns:a16="http://schemas.microsoft.com/office/drawing/2014/main" id="{712CD31F-5021-6E01-3251-D6871509E1C4}"/>
                </a:ext>
              </a:extLst>
            </p:cNvPr>
            <p:cNvSpPr>
              <a:spLocks noChangeShapeType="1"/>
            </p:cNvSpPr>
            <p:nvPr/>
          </p:nvSpPr>
          <p:spPr bwMode="auto">
            <a:xfrm>
              <a:off x="3504" y="1968"/>
              <a:ext cx="202"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51206" name="Text Box 11">
            <a:extLst>
              <a:ext uri="{FF2B5EF4-FFF2-40B4-BE49-F238E27FC236}">
                <a16:creationId xmlns:a16="http://schemas.microsoft.com/office/drawing/2014/main" id="{BF278C0B-03AE-EED2-E9F1-91262753492B}"/>
              </a:ext>
            </a:extLst>
          </p:cNvPr>
          <p:cNvSpPr txBox="1">
            <a:spLocks noChangeArrowheads="1"/>
          </p:cNvSpPr>
          <p:nvPr/>
        </p:nvSpPr>
        <p:spPr bwMode="auto">
          <a:xfrm>
            <a:off x="6372225" y="4508500"/>
            <a:ext cx="50482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a:latin typeface="Arial" panose="020B0604020202020204" pitchFamily="34" charset="0"/>
              </a:rPr>
              <a:t>C</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a:extLst>
              <a:ext uri="{FF2B5EF4-FFF2-40B4-BE49-F238E27FC236}">
                <a16:creationId xmlns:a16="http://schemas.microsoft.com/office/drawing/2014/main" id="{CE304656-8CDE-DC6E-A66F-CC8D1A5846A0}"/>
              </a:ext>
            </a:extLst>
          </p:cNvPr>
          <p:cNvSpPr>
            <a:spLocks noGrp="1" noChangeArrowheads="1"/>
          </p:cNvSpPr>
          <p:nvPr>
            <p:ph type="title"/>
          </p:nvPr>
        </p:nvSpPr>
        <p:spPr>
          <a:xfrm>
            <a:off x="228600" y="274638"/>
            <a:ext cx="8763000" cy="1143000"/>
          </a:xfrm>
        </p:spPr>
        <p:txBody>
          <a:bodyPr/>
          <a:lstStyle/>
          <a:p>
            <a:pPr eaLnBrk="1" hangingPunct="1"/>
            <a:r>
              <a:rPr lang="en-US" altLang="en-US" sz="3200" b="1">
                <a:solidFill>
                  <a:srgbClr val="C00000"/>
                </a:solidFill>
              </a:rPr>
              <a:t>2. Damage caused by environmental factors</a:t>
            </a:r>
            <a:br>
              <a:rPr lang="en-US" altLang="en-US" sz="3200" b="1">
                <a:solidFill>
                  <a:srgbClr val="C00000"/>
                </a:solidFill>
              </a:rPr>
            </a:br>
            <a:r>
              <a:rPr lang="en-US" altLang="en-US" sz="3200" b="1">
                <a:solidFill>
                  <a:srgbClr val="C00000"/>
                </a:solidFill>
              </a:rPr>
              <a:t> C- UV radiation</a:t>
            </a:r>
          </a:p>
        </p:txBody>
      </p:sp>
      <p:sp>
        <p:nvSpPr>
          <p:cNvPr id="53251" name="Rectangle 3">
            <a:extLst>
              <a:ext uri="{FF2B5EF4-FFF2-40B4-BE49-F238E27FC236}">
                <a16:creationId xmlns:a16="http://schemas.microsoft.com/office/drawing/2014/main" id="{71254101-C449-8D46-14C3-8A4FD4CDDB12}"/>
              </a:ext>
            </a:extLst>
          </p:cNvPr>
          <p:cNvSpPr>
            <a:spLocks noGrp="1" noChangeArrowheads="1"/>
          </p:cNvSpPr>
          <p:nvPr>
            <p:ph type="body" sz="half" idx="1"/>
          </p:nvPr>
        </p:nvSpPr>
        <p:spPr>
          <a:xfrm>
            <a:off x="457200" y="1600200"/>
            <a:ext cx="7786688" cy="1468438"/>
          </a:xfrm>
        </p:spPr>
        <p:txBody>
          <a:bodyPr/>
          <a:lstStyle/>
          <a:p>
            <a:pPr marL="609600" indent="-609600" eaLnBrk="1" hangingPunct="1"/>
            <a:r>
              <a:rPr lang="en-US" altLang="en-US" sz="2800"/>
              <a:t>Two adjacent pyrimidines (T/C) join together</a:t>
            </a:r>
          </a:p>
          <a:p>
            <a:pPr marL="609600" indent="-609600" eaLnBrk="1" hangingPunct="1"/>
            <a:r>
              <a:rPr lang="en-US" altLang="en-US" sz="2800"/>
              <a:t>Photochemical fusion cause DNA polymerase to stop</a:t>
            </a:r>
          </a:p>
        </p:txBody>
      </p:sp>
      <p:pic>
        <p:nvPicPr>
          <p:cNvPr id="53252" name="Picture 4" descr="img040">
            <a:extLst>
              <a:ext uri="{FF2B5EF4-FFF2-40B4-BE49-F238E27FC236}">
                <a16:creationId xmlns:a16="http://schemas.microsoft.com/office/drawing/2014/main" id="{1F9A8574-E50E-44B9-036A-BEECD0B1A4C5}"/>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051050" y="2843213"/>
            <a:ext cx="5976938" cy="4014787"/>
          </a:xfrm>
          <a:noFill/>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Rectangle 2">
            <a:extLst>
              <a:ext uri="{FF2B5EF4-FFF2-40B4-BE49-F238E27FC236}">
                <a16:creationId xmlns:a16="http://schemas.microsoft.com/office/drawing/2014/main" id="{252B8D2E-7414-0CE8-1274-40A88787822A}"/>
              </a:ext>
            </a:extLst>
          </p:cNvPr>
          <p:cNvSpPr>
            <a:spLocks noGrp="1" noChangeArrowheads="1"/>
          </p:cNvSpPr>
          <p:nvPr>
            <p:ph type="title"/>
          </p:nvPr>
        </p:nvSpPr>
        <p:spPr>
          <a:xfrm>
            <a:off x="0" y="274638"/>
            <a:ext cx="9144000" cy="1143000"/>
          </a:xfrm>
        </p:spPr>
        <p:txBody>
          <a:bodyPr/>
          <a:lstStyle/>
          <a:p>
            <a:pPr eaLnBrk="1" hangingPunct="1"/>
            <a:r>
              <a:rPr lang="en-US" altLang="en-US" sz="3600" b="1">
                <a:solidFill>
                  <a:srgbClr val="C00000"/>
                </a:solidFill>
              </a:rPr>
              <a:t>2. </a:t>
            </a:r>
            <a:r>
              <a:rPr lang="en-US" altLang="en-US" sz="3200" b="1">
                <a:solidFill>
                  <a:srgbClr val="C00000"/>
                </a:solidFill>
              </a:rPr>
              <a:t>Damage caused by environmental factors</a:t>
            </a:r>
            <a:br>
              <a:rPr lang="en-US" altLang="en-US" sz="3200" b="1">
                <a:solidFill>
                  <a:srgbClr val="C00000"/>
                </a:solidFill>
              </a:rPr>
            </a:br>
            <a:r>
              <a:rPr lang="en-US" altLang="en-US" sz="3200" b="1">
                <a:solidFill>
                  <a:srgbClr val="C00000"/>
                </a:solidFill>
              </a:rPr>
              <a:t> D- gamma &amp; X-ray radiation</a:t>
            </a:r>
          </a:p>
        </p:txBody>
      </p:sp>
      <p:sp>
        <p:nvSpPr>
          <p:cNvPr id="55299" name="Rectangle 3">
            <a:extLst>
              <a:ext uri="{FF2B5EF4-FFF2-40B4-BE49-F238E27FC236}">
                <a16:creationId xmlns:a16="http://schemas.microsoft.com/office/drawing/2014/main" id="{BE1CA85C-3495-97F4-2ABC-37590D28C908}"/>
              </a:ext>
            </a:extLst>
          </p:cNvPr>
          <p:cNvSpPr>
            <a:spLocks noGrp="1" noChangeArrowheads="1"/>
          </p:cNvSpPr>
          <p:nvPr>
            <p:ph idx="1"/>
          </p:nvPr>
        </p:nvSpPr>
        <p:spPr>
          <a:xfrm>
            <a:off x="468313" y="1700213"/>
            <a:ext cx="8531225" cy="4752975"/>
          </a:xfrm>
        </p:spPr>
        <p:txBody>
          <a:bodyPr/>
          <a:lstStyle/>
          <a:p>
            <a:pPr marL="609600" indent="-609600" eaLnBrk="1" hangingPunct="1">
              <a:lnSpc>
                <a:spcPct val="90000"/>
              </a:lnSpc>
            </a:pPr>
            <a:r>
              <a:rPr lang="en-US" altLang="en-US" sz="2400"/>
              <a:t>Gamma radiation used for gamma camera &amp; gamma knife</a:t>
            </a:r>
          </a:p>
          <a:p>
            <a:pPr marL="609600" indent="-609600" eaLnBrk="1" hangingPunct="1">
              <a:lnSpc>
                <a:spcPct val="90000"/>
              </a:lnSpc>
            </a:pPr>
            <a:endParaRPr lang="en-US" altLang="en-US" sz="1800"/>
          </a:p>
          <a:p>
            <a:pPr marL="609600" indent="-609600" eaLnBrk="1" hangingPunct="1">
              <a:lnSpc>
                <a:spcPct val="90000"/>
              </a:lnSpc>
            </a:pPr>
            <a:r>
              <a:rPr lang="en-US" altLang="en-US" sz="2400"/>
              <a:t>X ray used to radiograph bone to detect fractures /deformity</a:t>
            </a:r>
          </a:p>
          <a:p>
            <a:pPr marL="609600" indent="-609600" eaLnBrk="1" hangingPunct="1">
              <a:lnSpc>
                <a:spcPct val="90000"/>
              </a:lnSpc>
            </a:pPr>
            <a:endParaRPr lang="en-US" altLang="en-US" sz="1800"/>
          </a:p>
          <a:p>
            <a:pPr marL="609600" indent="-609600" eaLnBrk="1" hangingPunct="1">
              <a:lnSpc>
                <a:spcPct val="90000"/>
              </a:lnSpc>
            </a:pPr>
            <a:r>
              <a:rPr lang="en-US" altLang="en-US" sz="2400"/>
              <a:t>Cause double strand break by ionizing DNA backbone</a:t>
            </a:r>
          </a:p>
          <a:p>
            <a:pPr marL="609600" indent="-609600" eaLnBrk="1" hangingPunct="1">
              <a:lnSpc>
                <a:spcPct val="90000"/>
              </a:lnSpc>
              <a:buFont typeface="Wingdings" pitchFamily="2" charset="2"/>
              <a:buNone/>
            </a:pPr>
            <a:r>
              <a:rPr lang="en-US" altLang="en-US" sz="2400"/>
              <a:t> </a:t>
            </a:r>
          </a:p>
          <a:p>
            <a:pPr marL="609600" indent="-609600" eaLnBrk="1" hangingPunct="1">
              <a:lnSpc>
                <a:spcPct val="90000"/>
              </a:lnSpc>
            </a:pPr>
            <a:r>
              <a:rPr lang="en-US" altLang="en-US" sz="2400"/>
              <a:t>Also it forms free radicals</a:t>
            </a:r>
          </a:p>
          <a:p>
            <a:pPr marL="990600" lvl="1" indent="-533400" eaLnBrk="1" hangingPunct="1">
              <a:lnSpc>
                <a:spcPct val="90000"/>
              </a:lnSpc>
            </a:pPr>
            <a:endParaRPr lang="en-US" altLang="en-US" sz="1800"/>
          </a:p>
          <a:p>
            <a:pPr marL="609600" indent="-609600" eaLnBrk="1" hangingPunct="1">
              <a:lnSpc>
                <a:spcPct val="90000"/>
              </a:lnSpc>
            </a:pPr>
            <a:r>
              <a:rPr lang="en-US" altLang="en-US" sz="2400"/>
              <a:t>Cell can’t divide when chromosomes are broken → apoptosis</a:t>
            </a:r>
          </a:p>
          <a:p>
            <a:pPr marL="609600" indent="-609600" eaLnBrk="1" hangingPunct="1">
              <a:lnSpc>
                <a:spcPct val="90000"/>
              </a:lnSpc>
            </a:pPr>
            <a:endParaRPr lang="en-US" altLang="en-US" sz="1800"/>
          </a:p>
          <a:p>
            <a:pPr marL="609600" indent="-609600" eaLnBrk="1" hangingPunct="1">
              <a:lnSpc>
                <a:spcPct val="90000"/>
              </a:lnSpc>
            </a:pPr>
            <a:r>
              <a:rPr lang="en-US" altLang="en-US" sz="2400"/>
              <a:t>Used for chemo/radio therapy</a:t>
            </a:r>
          </a:p>
          <a:p>
            <a:pPr marL="609600" indent="-609600" eaLnBrk="1" hangingPunct="1">
              <a:lnSpc>
                <a:spcPct val="90000"/>
              </a:lnSpc>
            </a:pPr>
            <a:r>
              <a:rPr lang="en-US" altLang="en-US" sz="2400" b="1">
                <a:solidFill>
                  <a:srgbClr val="0000FF"/>
                </a:solidFill>
              </a:rPr>
              <a:t>Clastogenic</a:t>
            </a:r>
            <a:r>
              <a:rPr lang="en-US" altLang="en-US" sz="2400"/>
              <a:t>: ionizing radiation and agents like bleomycin that cause DNA to break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a:extLst>
              <a:ext uri="{FF2B5EF4-FFF2-40B4-BE49-F238E27FC236}">
                <a16:creationId xmlns:a16="http://schemas.microsoft.com/office/drawing/2014/main" id="{8B80C09F-E925-3C9F-5C64-339ED4254158}"/>
              </a:ext>
            </a:extLst>
          </p:cNvPr>
          <p:cNvSpPr>
            <a:spLocks noGrp="1" noChangeArrowheads="1"/>
          </p:cNvSpPr>
          <p:nvPr>
            <p:ph type="title"/>
          </p:nvPr>
        </p:nvSpPr>
        <p:spPr/>
        <p:txBody>
          <a:bodyPr/>
          <a:lstStyle/>
          <a:p>
            <a:pPr eaLnBrk="1" hangingPunct="1"/>
            <a:r>
              <a:rPr lang="en-US" altLang="en-US" sz="3600" b="1">
                <a:solidFill>
                  <a:srgbClr val="C00000"/>
                </a:solidFill>
              </a:rPr>
              <a:t>Damage caused by base analogs</a:t>
            </a:r>
          </a:p>
        </p:txBody>
      </p:sp>
      <p:pic>
        <p:nvPicPr>
          <p:cNvPr id="57347" name="Picture 4" descr="img041">
            <a:extLst>
              <a:ext uri="{FF2B5EF4-FFF2-40B4-BE49-F238E27FC236}">
                <a16:creationId xmlns:a16="http://schemas.microsoft.com/office/drawing/2014/main" id="{667A028A-9CE4-D39C-E20D-BE6BA824CE93}"/>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222375" y="1557338"/>
            <a:ext cx="6734175" cy="3095625"/>
          </a:xfrm>
          <a:noFill/>
        </p:spPr>
      </p:pic>
      <p:sp>
        <p:nvSpPr>
          <p:cNvPr id="57348" name="Rectangle 3">
            <a:extLst>
              <a:ext uri="{FF2B5EF4-FFF2-40B4-BE49-F238E27FC236}">
                <a16:creationId xmlns:a16="http://schemas.microsoft.com/office/drawing/2014/main" id="{BB78BD0D-B495-5FD0-C939-232D7607405A}"/>
              </a:ext>
            </a:extLst>
          </p:cNvPr>
          <p:cNvSpPr>
            <a:spLocks noGrp="1" noChangeArrowheads="1"/>
          </p:cNvSpPr>
          <p:nvPr>
            <p:ph type="body" sz="half" idx="2"/>
          </p:nvPr>
        </p:nvSpPr>
        <p:spPr>
          <a:xfrm>
            <a:off x="457200" y="4868863"/>
            <a:ext cx="8229600" cy="1531937"/>
          </a:xfrm>
        </p:spPr>
        <p:txBody>
          <a:bodyPr/>
          <a:lstStyle/>
          <a:p>
            <a:pPr eaLnBrk="1" hangingPunct="1"/>
            <a:r>
              <a:rPr lang="en-US" altLang="en-US" sz="2800"/>
              <a:t>Structurally similar to the base that can be taken by the cell and incorporated with DNA</a:t>
            </a:r>
          </a:p>
          <a:p>
            <a:pPr eaLnBrk="1" hangingPunct="1"/>
            <a:endParaRPr lang="en-US" altLang="en-US" sz="2800"/>
          </a:p>
        </p:txBody>
      </p:sp>
      <p:sp>
        <p:nvSpPr>
          <p:cNvPr id="57349" name="TextBox 4">
            <a:extLst>
              <a:ext uri="{FF2B5EF4-FFF2-40B4-BE49-F238E27FC236}">
                <a16:creationId xmlns:a16="http://schemas.microsoft.com/office/drawing/2014/main" id="{B5873D70-B6E6-212C-E463-1AFC0A4D08F6}"/>
              </a:ext>
            </a:extLst>
          </p:cNvPr>
          <p:cNvSpPr txBox="1">
            <a:spLocks noChangeArrowheads="1"/>
          </p:cNvSpPr>
          <p:nvPr/>
        </p:nvSpPr>
        <p:spPr bwMode="auto">
          <a:xfrm>
            <a:off x="2771775" y="1700213"/>
            <a:ext cx="1447800" cy="46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400" b="1">
                <a:latin typeface="Arial" panose="020B0604020202020204" pitchFamily="34" charset="0"/>
              </a:rPr>
              <a:t>T analog</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Text Box 4">
            <a:extLst>
              <a:ext uri="{FF2B5EF4-FFF2-40B4-BE49-F238E27FC236}">
                <a16:creationId xmlns:a16="http://schemas.microsoft.com/office/drawing/2014/main" id="{24588A3D-8F15-A6D6-A072-628CFFCD89C7}"/>
              </a:ext>
            </a:extLst>
          </p:cNvPr>
          <p:cNvSpPr txBox="1">
            <a:spLocks noChangeArrowheads="1"/>
          </p:cNvSpPr>
          <p:nvPr/>
        </p:nvSpPr>
        <p:spPr bwMode="auto">
          <a:xfrm>
            <a:off x="323850" y="476250"/>
            <a:ext cx="6218238" cy="461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400" b="1">
                <a:solidFill>
                  <a:srgbClr val="C00000"/>
                </a:solidFill>
                <a:latin typeface="Arial" panose="020B0604020202020204" pitchFamily="34" charset="0"/>
              </a:rPr>
              <a:t>Mutations caused by intercalating agents</a:t>
            </a:r>
          </a:p>
        </p:txBody>
      </p:sp>
      <p:sp>
        <p:nvSpPr>
          <p:cNvPr id="59395" name="Text Box 5">
            <a:extLst>
              <a:ext uri="{FF2B5EF4-FFF2-40B4-BE49-F238E27FC236}">
                <a16:creationId xmlns:a16="http://schemas.microsoft.com/office/drawing/2014/main" id="{93FCB54D-1406-59BA-84E2-A1BBEE5D58AE}"/>
              </a:ext>
            </a:extLst>
          </p:cNvPr>
          <p:cNvSpPr txBox="1">
            <a:spLocks noChangeArrowheads="1"/>
          </p:cNvSpPr>
          <p:nvPr/>
        </p:nvSpPr>
        <p:spPr bwMode="auto">
          <a:xfrm>
            <a:off x="2700338" y="1196975"/>
            <a:ext cx="3294062" cy="519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800">
                <a:latin typeface="Arial" panose="020B0604020202020204" pitchFamily="34" charset="0"/>
              </a:rPr>
              <a:t>Intercalating agents</a:t>
            </a:r>
          </a:p>
        </p:txBody>
      </p:sp>
      <p:pic>
        <p:nvPicPr>
          <p:cNvPr id="59396" name="Picture 6" descr="fg09-14">
            <a:extLst>
              <a:ext uri="{FF2B5EF4-FFF2-40B4-BE49-F238E27FC236}">
                <a16:creationId xmlns:a16="http://schemas.microsoft.com/office/drawing/2014/main" id="{0847B18E-8893-57C9-D2B4-4A0178B030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b="8589"/>
          <a:stretch>
            <a:fillRect/>
          </a:stretch>
        </p:blipFill>
        <p:spPr bwMode="auto">
          <a:xfrm>
            <a:off x="1476375" y="1773238"/>
            <a:ext cx="7200900" cy="4392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9397" name="Text Box 7">
            <a:extLst>
              <a:ext uri="{FF2B5EF4-FFF2-40B4-BE49-F238E27FC236}">
                <a16:creationId xmlns:a16="http://schemas.microsoft.com/office/drawing/2014/main" id="{434EA809-98E7-9942-808F-016A2028A422}"/>
              </a:ext>
            </a:extLst>
          </p:cNvPr>
          <p:cNvSpPr txBox="1">
            <a:spLocks noChangeArrowheads="1"/>
          </p:cNvSpPr>
          <p:nvPr/>
        </p:nvSpPr>
        <p:spPr bwMode="auto">
          <a:xfrm>
            <a:off x="1116013" y="2563813"/>
            <a:ext cx="20494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400">
                <a:solidFill>
                  <a:srgbClr val="FF0000"/>
                </a:solidFill>
                <a:latin typeface="Arial" panose="020B0604020202020204" pitchFamily="34" charset="0"/>
              </a:rPr>
              <a:t>flat molecules</a:t>
            </a:r>
          </a:p>
        </p:txBody>
      </p:sp>
      <p:sp>
        <p:nvSpPr>
          <p:cNvPr id="59398" name="Text Box 8">
            <a:extLst>
              <a:ext uri="{FF2B5EF4-FFF2-40B4-BE49-F238E27FC236}">
                <a16:creationId xmlns:a16="http://schemas.microsoft.com/office/drawing/2014/main" id="{51423082-4A96-FC75-D187-A07FD7A51B38}"/>
              </a:ext>
            </a:extLst>
          </p:cNvPr>
          <p:cNvSpPr txBox="1">
            <a:spLocks noChangeArrowheads="1"/>
          </p:cNvSpPr>
          <p:nvPr/>
        </p:nvSpPr>
        <p:spPr bwMode="auto">
          <a:xfrm>
            <a:off x="539750" y="6165850"/>
            <a:ext cx="7615238"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400">
                <a:latin typeface="Arial" panose="020B0604020202020204" pitchFamily="34" charset="0"/>
              </a:rPr>
              <a:t>Causing addition or deletion of bases during replication</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a:extLst>
              <a:ext uri="{FF2B5EF4-FFF2-40B4-BE49-F238E27FC236}">
                <a16:creationId xmlns:a16="http://schemas.microsoft.com/office/drawing/2014/main" id="{C9E24E10-EB6A-4F06-9386-00951EF4B7D9}"/>
              </a:ext>
            </a:extLst>
          </p:cNvPr>
          <p:cNvSpPr>
            <a:spLocks noGrp="1" noChangeArrowheads="1"/>
          </p:cNvSpPr>
          <p:nvPr>
            <p:ph type="title"/>
          </p:nvPr>
        </p:nvSpPr>
        <p:spPr>
          <a:xfrm>
            <a:off x="0" y="274638"/>
            <a:ext cx="9144000" cy="1143000"/>
          </a:xfrm>
        </p:spPr>
        <p:txBody>
          <a:bodyPr rtlCol="0">
            <a:normAutofit fontScale="90000"/>
          </a:bodyPr>
          <a:lstStyle/>
          <a:p>
            <a:pPr eaLnBrk="1" fontAlgn="auto" hangingPunct="1">
              <a:spcAft>
                <a:spcPts val="0"/>
              </a:spcAft>
              <a:defRPr/>
            </a:pPr>
            <a:r>
              <a:rPr lang="en-US" sz="4000" b="1" dirty="0">
                <a:solidFill>
                  <a:srgbClr val="0000FF"/>
                </a:solidFill>
              </a:rPr>
              <a:t>Spontaneous Damage</a:t>
            </a:r>
            <a:br>
              <a:rPr lang="en-US" sz="3600" b="1" dirty="0">
                <a:solidFill>
                  <a:srgbClr val="0000FF"/>
                </a:solidFill>
              </a:rPr>
            </a:br>
            <a:r>
              <a:rPr lang="en-US" sz="3600" b="1" dirty="0">
                <a:solidFill>
                  <a:srgbClr val="0000FF"/>
                </a:solidFill>
              </a:rPr>
              <a:t>damage caused by intercalating agents</a:t>
            </a:r>
          </a:p>
        </p:txBody>
      </p:sp>
      <p:sp>
        <p:nvSpPr>
          <p:cNvPr id="60419" name="Rectangle 3">
            <a:extLst>
              <a:ext uri="{FF2B5EF4-FFF2-40B4-BE49-F238E27FC236}">
                <a16:creationId xmlns:a16="http://schemas.microsoft.com/office/drawing/2014/main" id="{E51200AA-7A19-E7C8-D992-4B106AAA07AD}"/>
              </a:ext>
            </a:extLst>
          </p:cNvPr>
          <p:cNvSpPr>
            <a:spLocks noGrp="1" noChangeArrowheads="1"/>
          </p:cNvSpPr>
          <p:nvPr>
            <p:ph idx="1"/>
          </p:nvPr>
        </p:nvSpPr>
        <p:spPr/>
        <p:txBody>
          <a:bodyPr/>
          <a:lstStyle/>
          <a:p>
            <a:pPr eaLnBrk="1" hangingPunct="1"/>
            <a:r>
              <a:rPr lang="en-US" altLang="en-US" sz="2400"/>
              <a:t>Flat molecules of polycyclic rings bind to DNA</a:t>
            </a:r>
          </a:p>
          <a:p>
            <a:pPr eaLnBrk="1" hangingPunct="1"/>
            <a:r>
              <a:rPr lang="en-US" altLang="en-US" sz="2400"/>
              <a:t>Proflavin, acridine and ethidium</a:t>
            </a:r>
          </a:p>
          <a:p>
            <a:pPr eaLnBrk="1" hangingPunct="1"/>
            <a:r>
              <a:rPr lang="en-US" altLang="en-US" sz="2400"/>
              <a:t>Cause insertion/deletion of one or a few bp</a:t>
            </a:r>
          </a:p>
          <a:p>
            <a:pPr eaLnBrk="1" hangingPunct="1"/>
            <a:r>
              <a:rPr lang="en-US" altLang="en-US" sz="2400"/>
              <a:t>How? Skipping or addition of new bp.</a:t>
            </a:r>
          </a:p>
          <a:p>
            <a:pPr eaLnBrk="1" hangingPunct="1"/>
            <a:r>
              <a:rPr lang="en-US" altLang="en-US" sz="2400"/>
              <a:t>In case of insertions , by </a:t>
            </a:r>
            <a:r>
              <a:rPr lang="en-US" altLang="en-US" sz="2400">
                <a:solidFill>
                  <a:srgbClr val="0000FF"/>
                </a:solidFill>
              </a:rPr>
              <a:t>slipping between the bases </a:t>
            </a:r>
            <a:r>
              <a:rPr lang="en-US" altLang="en-US" sz="2400"/>
              <a:t>in the template strand, these mutagens cause </a:t>
            </a:r>
            <a:r>
              <a:rPr lang="en-US" altLang="en-US" sz="2400">
                <a:solidFill>
                  <a:srgbClr val="0000FF"/>
                </a:solidFill>
              </a:rPr>
              <a:t>DNA polymerase to insert an extra base opposite the intercalated molecule</a:t>
            </a:r>
          </a:p>
          <a:p>
            <a:pPr eaLnBrk="1" hangingPunct="1"/>
            <a:r>
              <a:rPr lang="en-US" altLang="en-US" sz="2400"/>
              <a:t>In case of deletion, the </a:t>
            </a:r>
            <a:r>
              <a:rPr lang="en-US" altLang="en-US" sz="2400">
                <a:solidFill>
                  <a:srgbClr val="0000FF"/>
                </a:solidFill>
              </a:rPr>
              <a:t>distortion to the template </a:t>
            </a:r>
            <a:r>
              <a:rPr lang="en-US" altLang="en-US" sz="2400"/>
              <a:t>caused by the presence of an intercalated molecule might </a:t>
            </a:r>
            <a:r>
              <a:rPr lang="en-US" altLang="en-US" sz="2400">
                <a:solidFill>
                  <a:srgbClr val="0000FF"/>
                </a:solidFill>
              </a:rPr>
              <a:t>cause the polymerase to skip a nucleotide</a:t>
            </a:r>
          </a:p>
          <a:p>
            <a:pPr eaLnBrk="1" hangingPunct="1"/>
            <a:r>
              <a:rPr lang="en-US" altLang="en-US" sz="2400"/>
              <a:t>Serious consequence on translation of mRNA</a:t>
            </a:r>
          </a:p>
          <a:p>
            <a:pPr eaLnBrk="1" hangingPunct="1"/>
            <a:endParaRPr lang="en-US" alt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Rectangle 2">
            <a:extLst>
              <a:ext uri="{FF2B5EF4-FFF2-40B4-BE49-F238E27FC236}">
                <a16:creationId xmlns:a16="http://schemas.microsoft.com/office/drawing/2014/main" id="{BCC325A5-B902-A110-3500-627529F3E06A}"/>
              </a:ext>
            </a:extLst>
          </p:cNvPr>
          <p:cNvSpPr>
            <a:spLocks noGrp="1" noChangeArrowheads="1"/>
          </p:cNvSpPr>
          <p:nvPr>
            <p:ph type="title"/>
          </p:nvPr>
        </p:nvSpPr>
        <p:spPr>
          <a:xfrm>
            <a:off x="468313" y="0"/>
            <a:ext cx="8229600" cy="981075"/>
          </a:xfrm>
        </p:spPr>
        <p:txBody>
          <a:bodyPr/>
          <a:lstStyle/>
          <a:p>
            <a:pPr eaLnBrk="1" hangingPunct="1"/>
            <a:r>
              <a:rPr lang="en-US" altLang="en-US" b="1">
                <a:solidFill>
                  <a:srgbClr val="0000FF"/>
                </a:solidFill>
              </a:rPr>
              <a:t>DNA Repair</a:t>
            </a:r>
            <a:endParaRPr lang="en-GB" altLang="en-US" b="1">
              <a:solidFill>
                <a:srgbClr val="0000FF"/>
              </a:solidFill>
            </a:endParaRPr>
          </a:p>
        </p:txBody>
      </p:sp>
      <p:sp>
        <p:nvSpPr>
          <p:cNvPr id="62467" name="Rectangle 3">
            <a:extLst>
              <a:ext uri="{FF2B5EF4-FFF2-40B4-BE49-F238E27FC236}">
                <a16:creationId xmlns:a16="http://schemas.microsoft.com/office/drawing/2014/main" id="{97948B02-EBA3-8435-D8B8-B4FF82D8C041}"/>
              </a:ext>
            </a:extLst>
          </p:cNvPr>
          <p:cNvSpPr>
            <a:spLocks noGrp="1" noChangeArrowheads="1"/>
          </p:cNvSpPr>
          <p:nvPr>
            <p:ph idx="1"/>
          </p:nvPr>
        </p:nvSpPr>
        <p:spPr>
          <a:xfrm>
            <a:off x="406400" y="981075"/>
            <a:ext cx="8229600" cy="1944688"/>
          </a:xfrm>
        </p:spPr>
        <p:txBody>
          <a:bodyPr/>
          <a:lstStyle/>
          <a:p>
            <a:pPr eaLnBrk="1" hangingPunct="1"/>
            <a:r>
              <a:rPr lang="en-US" altLang="en-US" sz="2800" b="1"/>
              <a:t>G1 &amp; G2 </a:t>
            </a:r>
            <a:r>
              <a:rPr lang="en-US" altLang="en-US" sz="2800"/>
              <a:t>are check points before replication and division</a:t>
            </a:r>
          </a:p>
          <a:p>
            <a:pPr eaLnBrk="1" hangingPunct="1"/>
            <a:r>
              <a:rPr lang="en-US" altLang="en-US" sz="2800"/>
              <a:t>Cell aim to repair any damage to pass to M phase</a:t>
            </a:r>
          </a:p>
          <a:p>
            <a:pPr eaLnBrk="1" hangingPunct="1"/>
            <a:r>
              <a:rPr lang="en-US" altLang="en-US" sz="2800"/>
              <a:t>In all previous methods template DNA was available </a:t>
            </a:r>
          </a:p>
        </p:txBody>
      </p:sp>
      <p:pic>
        <p:nvPicPr>
          <p:cNvPr id="62468" name="Picture 3" descr="10_01Table-L">
            <a:extLst>
              <a:ext uri="{FF2B5EF4-FFF2-40B4-BE49-F238E27FC236}">
                <a16:creationId xmlns:a16="http://schemas.microsoft.com/office/drawing/2014/main" id="{50E9CB45-3D59-45BA-6111-92F8C8949FF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761"/>
          <a:stretch>
            <a:fillRect/>
          </a:stretch>
        </p:blipFill>
        <p:spPr bwMode="auto">
          <a:xfrm>
            <a:off x="479425" y="3068638"/>
            <a:ext cx="8137525" cy="3384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5">
            <a:extLst>
              <a:ext uri="{FF2B5EF4-FFF2-40B4-BE49-F238E27FC236}">
                <a16:creationId xmlns:a16="http://schemas.microsoft.com/office/drawing/2014/main" id="{AACB939B-E7F5-0F60-8354-397361FC353A}"/>
              </a:ext>
            </a:extLst>
          </p:cNvPr>
          <p:cNvSpPr txBox="1">
            <a:spLocks noChangeArrowheads="1"/>
          </p:cNvSpPr>
          <p:nvPr/>
        </p:nvSpPr>
        <p:spPr bwMode="auto">
          <a:xfrm>
            <a:off x="468313" y="908050"/>
            <a:ext cx="8080375" cy="579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a:solidFill>
                  <a:srgbClr val="0000FF"/>
                </a:solidFill>
                <a:latin typeface="Arial" panose="020B0604020202020204" pitchFamily="34" charset="0"/>
              </a:rPr>
              <a:t>Repair of DNA Damage: DNA repair system</a:t>
            </a:r>
          </a:p>
        </p:txBody>
      </p:sp>
      <p:sp>
        <p:nvSpPr>
          <p:cNvPr id="64515" name="Text Box 6">
            <a:extLst>
              <a:ext uri="{FF2B5EF4-FFF2-40B4-BE49-F238E27FC236}">
                <a16:creationId xmlns:a16="http://schemas.microsoft.com/office/drawing/2014/main" id="{EEB83CFE-3647-365D-97E3-F70F06FE1E27}"/>
              </a:ext>
            </a:extLst>
          </p:cNvPr>
          <p:cNvSpPr txBox="1">
            <a:spLocks noChangeArrowheads="1"/>
          </p:cNvSpPr>
          <p:nvPr/>
        </p:nvSpPr>
        <p:spPr bwMode="auto">
          <a:xfrm>
            <a:off x="395288" y="2205038"/>
            <a:ext cx="8516937" cy="35385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zh-TW" sz="2800" b="1">
                <a:solidFill>
                  <a:srgbClr val="C00000"/>
                </a:solidFill>
                <a:latin typeface="Arial" panose="020B0604020202020204" pitchFamily="34" charset="0"/>
              </a:rPr>
              <a:t>Excision repair systems</a:t>
            </a:r>
            <a:r>
              <a:rPr lang="en-US" altLang="zh-TW" sz="2800">
                <a:latin typeface="Arial" panose="020B0604020202020204" pitchFamily="34" charset="0"/>
              </a:rPr>
              <a:t>: the damaged nucleotide is not repaired but removed from the DNA, the other undamaged strand serves as a template for reincorporation of the correct nt by DNA polymerase</a:t>
            </a:r>
          </a:p>
          <a:p>
            <a:pPr eaLnBrk="1" hangingPunct="1">
              <a:spcBef>
                <a:spcPct val="0"/>
              </a:spcBef>
              <a:buFontTx/>
              <a:buNone/>
            </a:pPr>
            <a:endParaRPr lang="en-US" altLang="zh-TW" sz="2800">
              <a:latin typeface="Arial" panose="020B0604020202020204" pitchFamily="34" charset="0"/>
            </a:endParaRPr>
          </a:p>
          <a:p>
            <a:pPr eaLnBrk="1" hangingPunct="1">
              <a:spcBef>
                <a:spcPct val="0"/>
              </a:spcBef>
            </a:pPr>
            <a:r>
              <a:rPr lang="en-US" altLang="zh-TW" sz="2800" b="1">
                <a:solidFill>
                  <a:srgbClr val="C00000"/>
                </a:solidFill>
                <a:latin typeface="Arial" panose="020B0604020202020204" pitchFamily="34" charset="0"/>
              </a:rPr>
              <a:t>Recombination repair</a:t>
            </a:r>
            <a:r>
              <a:rPr lang="en-US" altLang="zh-TW" sz="2800">
                <a:latin typeface="Arial" panose="020B0604020202020204" pitchFamily="34" charset="0"/>
              </a:rPr>
              <a:t>: both strands are damaged. Sequence information is retrieved from a second undamaged copy of the chromosome.</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8" name="Rectangle 2">
            <a:extLst>
              <a:ext uri="{FF2B5EF4-FFF2-40B4-BE49-F238E27FC236}">
                <a16:creationId xmlns:a16="http://schemas.microsoft.com/office/drawing/2014/main" id="{853DE060-8B29-5E0D-EC67-7A2C3849285E}"/>
              </a:ext>
            </a:extLst>
          </p:cNvPr>
          <p:cNvSpPr>
            <a:spLocks noGrp="1" noChangeArrowheads="1"/>
          </p:cNvSpPr>
          <p:nvPr>
            <p:ph type="title"/>
          </p:nvPr>
        </p:nvSpPr>
        <p:spPr>
          <a:xfrm>
            <a:off x="468313" y="260350"/>
            <a:ext cx="8229600" cy="1143000"/>
          </a:xfrm>
        </p:spPr>
        <p:txBody>
          <a:bodyPr/>
          <a:lstStyle/>
          <a:p>
            <a:pPr eaLnBrk="1" hangingPunct="1"/>
            <a:r>
              <a:rPr lang="en-US" altLang="en-US" sz="4000" b="1">
                <a:solidFill>
                  <a:schemeClr val="hlink"/>
                </a:solidFill>
              </a:rPr>
              <a:t>1- Direct reversal of DNA damage</a:t>
            </a:r>
            <a:endParaRPr lang="en-US" altLang="en-US" sz="3600" b="1">
              <a:solidFill>
                <a:schemeClr val="hlink"/>
              </a:solidFill>
            </a:endParaRPr>
          </a:p>
        </p:txBody>
      </p:sp>
      <p:sp>
        <p:nvSpPr>
          <p:cNvPr id="65539" name="Rectangle 3">
            <a:extLst>
              <a:ext uri="{FF2B5EF4-FFF2-40B4-BE49-F238E27FC236}">
                <a16:creationId xmlns:a16="http://schemas.microsoft.com/office/drawing/2014/main" id="{0197A36E-7C16-4440-F8A0-1BF63D241B10}"/>
              </a:ext>
            </a:extLst>
          </p:cNvPr>
          <p:cNvSpPr>
            <a:spLocks noGrp="1" noChangeArrowheads="1"/>
          </p:cNvSpPr>
          <p:nvPr>
            <p:ph type="body" sz="half" idx="1"/>
          </p:nvPr>
        </p:nvSpPr>
        <p:spPr>
          <a:xfrm>
            <a:off x="228600" y="1600200"/>
            <a:ext cx="8915400" cy="1524000"/>
          </a:xfrm>
        </p:spPr>
        <p:txBody>
          <a:bodyPr/>
          <a:lstStyle/>
          <a:p>
            <a:pPr marL="609600" indent="-609600" eaLnBrk="1" hangingPunct="1"/>
            <a:r>
              <a:rPr lang="en-US" altLang="en-US" sz="2800"/>
              <a:t>Repair of damage caused by UV radiation</a:t>
            </a:r>
            <a:r>
              <a:rPr lang="en-US" altLang="en-US" sz="2800">
                <a:solidFill>
                  <a:srgbClr val="FFFF00"/>
                </a:solidFill>
              </a:rPr>
              <a:t> </a:t>
            </a:r>
            <a:r>
              <a:rPr lang="en-US" altLang="en-US" sz="2800" b="1">
                <a:solidFill>
                  <a:srgbClr val="C00000"/>
                </a:solidFill>
              </a:rPr>
              <a:t>photoreactivation</a:t>
            </a:r>
          </a:p>
          <a:p>
            <a:pPr marL="609600" indent="-609600" eaLnBrk="1" hangingPunct="1">
              <a:buFont typeface="Wingdings" pitchFamily="2" charset="2"/>
              <a:buNone/>
            </a:pPr>
            <a:endParaRPr lang="en-US" altLang="en-US" sz="2800">
              <a:solidFill>
                <a:schemeClr val="hlink"/>
              </a:solidFill>
            </a:endParaRPr>
          </a:p>
        </p:txBody>
      </p:sp>
      <p:pic>
        <p:nvPicPr>
          <p:cNvPr id="65540" name="Picture 4" descr="img042">
            <a:extLst>
              <a:ext uri="{FF2B5EF4-FFF2-40B4-BE49-F238E27FC236}">
                <a16:creationId xmlns:a16="http://schemas.microsoft.com/office/drawing/2014/main" id="{7EFABA47-05FD-3B2F-DD22-F66DD5706474}"/>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201613" y="2997200"/>
            <a:ext cx="8763000" cy="2405063"/>
          </a:xfrm>
          <a:noFill/>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6" name="Rectangle 2">
            <a:extLst>
              <a:ext uri="{FF2B5EF4-FFF2-40B4-BE49-F238E27FC236}">
                <a16:creationId xmlns:a16="http://schemas.microsoft.com/office/drawing/2014/main" id="{F8903E2A-7F05-5000-A232-47B49DC75AA1}"/>
              </a:ext>
            </a:extLst>
          </p:cNvPr>
          <p:cNvSpPr>
            <a:spLocks noGrp="1" noChangeArrowheads="1"/>
          </p:cNvSpPr>
          <p:nvPr>
            <p:ph type="title"/>
          </p:nvPr>
        </p:nvSpPr>
        <p:spPr/>
        <p:txBody>
          <a:bodyPr/>
          <a:lstStyle/>
          <a:p>
            <a:pPr eaLnBrk="1" hangingPunct="1"/>
            <a:r>
              <a:rPr lang="en-US" altLang="en-US" sz="4000" b="1">
                <a:solidFill>
                  <a:schemeClr val="hlink"/>
                </a:solidFill>
              </a:rPr>
              <a:t>1- Direct reversal of DNA damage</a:t>
            </a:r>
            <a:endParaRPr lang="en-US" altLang="en-US" sz="3600" b="1">
              <a:solidFill>
                <a:schemeClr val="hlink"/>
              </a:solidFill>
            </a:endParaRPr>
          </a:p>
        </p:txBody>
      </p:sp>
      <p:sp>
        <p:nvSpPr>
          <p:cNvPr id="67587" name="Rectangle 3">
            <a:extLst>
              <a:ext uri="{FF2B5EF4-FFF2-40B4-BE49-F238E27FC236}">
                <a16:creationId xmlns:a16="http://schemas.microsoft.com/office/drawing/2014/main" id="{8C24FCA4-969D-6FF5-1FB3-B4F09377B1D7}"/>
              </a:ext>
            </a:extLst>
          </p:cNvPr>
          <p:cNvSpPr>
            <a:spLocks noGrp="1" noChangeArrowheads="1"/>
          </p:cNvSpPr>
          <p:nvPr>
            <p:ph type="body" sz="half" idx="1"/>
          </p:nvPr>
        </p:nvSpPr>
        <p:spPr/>
        <p:txBody>
          <a:bodyPr/>
          <a:lstStyle/>
          <a:p>
            <a:pPr marL="609600" indent="-609600" eaLnBrk="1" hangingPunct="1"/>
            <a:r>
              <a:rPr lang="en-US" altLang="en-US" sz="2800"/>
              <a:t>O</a:t>
            </a:r>
            <a:r>
              <a:rPr lang="en-US" altLang="en-US" sz="2800" baseline="30000"/>
              <a:t>6</a:t>
            </a:r>
            <a:r>
              <a:rPr lang="en-US" altLang="en-US" sz="2800"/>
              <a:t>-methylguanine is repaired directly by </a:t>
            </a:r>
            <a:r>
              <a:rPr lang="en-US" altLang="en-US" sz="2800">
                <a:solidFill>
                  <a:srgbClr val="C00000"/>
                </a:solidFill>
              </a:rPr>
              <a:t>methyl transferase.</a:t>
            </a:r>
            <a:endParaRPr lang="en-US" altLang="en-US" sz="2400">
              <a:solidFill>
                <a:srgbClr val="C00000"/>
              </a:solidFill>
            </a:endParaRPr>
          </a:p>
        </p:txBody>
      </p:sp>
      <p:pic>
        <p:nvPicPr>
          <p:cNvPr id="67588" name="Picture 8">
            <a:extLst>
              <a:ext uri="{FF2B5EF4-FFF2-40B4-BE49-F238E27FC236}">
                <a16:creationId xmlns:a16="http://schemas.microsoft.com/office/drawing/2014/main" id="{BC08BDEA-169C-FADE-F596-D24A8986421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3947"/>
          <a:stretch>
            <a:fillRect/>
          </a:stretch>
        </p:blipFill>
        <p:spPr bwMode="auto">
          <a:xfrm>
            <a:off x="250825" y="2997200"/>
            <a:ext cx="8743950" cy="3240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Rectangle 2">
            <a:extLst>
              <a:ext uri="{FF2B5EF4-FFF2-40B4-BE49-F238E27FC236}">
                <a16:creationId xmlns:a16="http://schemas.microsoft.com/office/drawing/2014/main" id="{BFFBCC50-FFDE-F007-C855-9DAFC156EF8E}"/>
              </a:ext>
            </a:extLst>
          </p:cNvPr>
          <p:cNvSpPr>
            <a:spLocks noGrp="1" noChangeArrowheads="1"/>
          </p:cNvSpPr>
          <p:nvPr>
            <p:ph type="title"/>
          </p:nvPr>
        </p:nvSpPr>
        <p:spPr/>
        <p:txBody>
          <a:bodyPr>
            <a:normAutofit fontScale="90000"/>
          </a:bodyPr>
          <a:lstStyle/>
          <a:p>
            <a:pPr eaLnBrk="1" hangingPunct="1">
              <a:defRPr/>
            </a:pPr>
            <a:r>
              <a:rPr lang="en-US" sz="3600" b="1" dirty="0">
                <a:solidFill>
                  <a:schemeClr val="hlink"/>
                </a:solidFill>
              </a:rPr>
              <a:t>2- Repair of hydrolysis damage</a:t>
            </a:r>
            <a:br>
              <a:rPr lang="en-US" sz="3600" b="1" dirty="0">
                <a:solidFill>
                  <a:schemeClr val="hlink"/>
                </a:solidFill>
              </a:rPr>
            </a:br>
            <a:r>
              <a:rPr lang="en-US" sz="3600" b="1" dirty="0">
                <a:solidFill>
                  <a:srgbClr val="C00000"/>
                </a:solidFill>
              </a:rPr>
              <a:t>base excision repair system</a:t>
            </a:r>
          </a:p>
        </p:txBody>
      </p:sp>
      <p:sp>
        <p:nvSpPr>
          <p:cNvPr id="69635" name="Rectangle 3">
            <a:extLst>
              <a:ext uri="{FF2B5EF4-FFF2-40B4-BE49-F238E27FC236}">
                <a16:creationId xmlns:a16="http://schemas.microsoft.com/office/drawing/2014/main" id="{577AA6BD-D8E3-B8D5-EAB0-A401E0039EA9}"/>
              </a:ext>
            </a:extLst>
          </p:cNvPr>
          <p:cNvSpPr>
            <a:spLocks noGrp="1" noChangeArrowheads="1"/>
          </p:cNvSpPr>
          <p:nvPr>
            <p:ph idx="1"/>
          </p:nvPr>
        </p:nvSpPr>
        <p:spPr>
          <a:xfrm>
            <a:off x="457200" y="1600200"/>
            <a:ext cx="8458200" cy="4708525"/>
          </a:xfrm>
        </p:spPr>
        <p:txBody>
          <a:bodyPr/>
          <a:lstStyle/>
          <a:p>
            <a:pPr eaLnBrk="1" hangingPunct="1">
              <a:lnSpc>
                <a:spcPct val="145000"/>
              </a:lnSpc>
            </a:pPr>
            <a:r>
              <a:rPr lang="en-US" altLang="en-US" b="1">
                <a:solidFill>
                  <a:srgbClr val="C00000"/>
                </a:solidFill>
              </a:rPr>
              <a:t>Glycosylase</a:t>
            </a:r>
            <a:r>
              <a:rPr lang="en-US" altLang="en-US">
                <a:solidFill>
                  <a:srgbClr val="C00000"/>
                </a:solidFill>
              </a:rPr>
              <a:t> </a:t>
            </a:r>
            <a:r>
              <a:rPr lang="en-US" altLang="en-US"/>
              <a:t>enzyme</a:t>
            </a:r>
          </a:p>
          <a:p>
            <a:pPr lvl="1" eaLnBrk="1" hangingPunct="1">
              <a:lnSpc>
                <a:spcPct val="145000"/>
              </a:lnSpc>
            </a:pPr>
            <a:r>
              <a:rPr lang="en-US" altLang="en-US"/>
              <a:t>Recognize damaged base</a:t>
            </a:r>
          </a:p>
          <a:p>
            <a:pPr lvl="1" eaLnBrk="1" hangingPunct="1">
              <a:lnSpc>
                <a:spcPct val="145000"/>
              </a:lnSpc>
            </a:pPr>
            <a:r>
              <a:rPr lang="en-US" altLang="en-US"/>
              <a:t>hydrolyze glycosidic bond</a:t>
            </a:r>
          </a:p>
          <a:p>
            <a:pPr lvl="1" eaLnBrk="1" hangingPunct="1">
              <a:lnSpc>
                <a:spcPct val="145000"/>
              </a:lnSpc>
            </a:pPr>
            <a:r>
              <a:rPr lang="en-US" altLang="en-US"/>
              <a:t>Repair is completed by Pol &amp; ligase</a:t>
            </a:r>
          </a:p>
          <a:p>
            <a:pPr lvl="1" eaLnBrk="1" hangingPunct="1">
              <a:lnSpc>
                <a:spcPct val="145000"/>
              </a:lnSpc>
            </a:pPr>
            <a:r>
              <a:rPr lang="en-US" altLang="en-US"/>
              <a:t>Different specificities (</a:t>
            </a:r>
            <a:r>
              <a:rPr lang="en-US" altLang="en-US" b="1">
                <a:solidFill>
                  <a:srgbClr val="FF0000"/>
                </a:solidFill>
              </a:rPr>
              <a:t>11</a:t>
            </a:r>
            <a:r>
              <a:rPr lang="en-US" altLang="en-US">
                <a:solidFill>
                  <a:srgbClr val="FF0000"/>
                </a:solidFill>
              </a:rPr>
              <a:t> </a:t>
            </a:r>
            <a:r>
              <a:rPr lang="en-US" altLang="en-US"/>
              <a:t>different ones in human)</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889367B3-D91E-00DF-28B7-E336C9D50369}"/>
              </a:ext>
            </a:extLst>
          </p:cNvPr>
          <p:cNvSpPr>
            <a:spLocks noGrp="1"/>
          </p:cNvSpPr>
          <p:nvPr>
            <p:ph type="title"/>
          </p:nvPr>
        </p:nvSpPr>
        <p:spPr>
          <a:xfrm>
            <a:off x="457200" y="274638"/>
            <a:ext cx="8229600" cy="1138237"/>
          </a:xfrm>
        </p:spPr>
        <p:txBody>
          <a:bodyPr/>
          <a:lstStyle/>
          <a:p>
            <a:r>
              <a:rPr lang="en-US" altLang="en-US" sz="4000" b="1">
                <a:solidFill>
                  <a:srgbClr val="C00000"/>
                </a:solidFill>
              </a:rPr>
              <a:t>Base excision pathway: </a:t>
            </a:r>
            <a:br>
              <a:rPr lang="en-US" altLang="en-US" sz="4000" b="1">
                <a:solidFill>
                  <a:srgbClr val="C00000"/>
                </a:solidFill>
              </a:rPr>
            </a:br>
            <a:r>
              <a:rPr lang="en-US" altLang="en-US" sz="4000" b="1">
                <a:solidFill>
                  <a:srgbClr val="C00000"/>
                </a:solidFill>
              </a:rPr>
              <a:t>The uracil glycosylase reaction</a:t>
            </a:r>
          </a:p>
        </p:txBody>
      </p:sp>
      <p:grpSp>
        <p:nvGrpSpPr>
          <p:cNvPr id="2" name="Group 4">
            <a:extLst>
              <a:ext uri="{FF2B5EF4-FFF2-40B4-BE49-F238E27FC236}">
                <a16:creationId xmlns:a16="http://schemas.microsoft.com/office/drawing/2014/main" id="{6BFD77AE-1370-4058-FC75-1D1299987840}"/>
              </a:ext>
            </a:extLst>
          </p:cNvPr>
          <p:cNvGrpSpPr>
            <a:grpSpLocks/>
          </p:cNvGrpSpPr>
          <p:nvPr/>
        </p:nvGrpSpPr>
        <p:grpSpPr bwMode="auto">
          <a:xfrm>
            <a:off x="179388" y="1916113"/>
            <a:ext cx="8964612" cy="4033837"/>
            <a:chOff x="204" y="1298"/>
            <a:chExt cx="5384" cy="2359"/>
          </a:xfrm>
        </p:grpSpPr>
        <p:pic>
          <p:nvPicPr>
            <p:cNvPr id="71684" name="Picture 5">
              <a:extLst>
                <a:ext uri="{FF2B5EF4-FFF2-40B4-BE49-F238E27FC236}">
                  <a16:creationId xmlns:a16="http://schemas.microsoft.com/office/drawing/2014/main" id="{6FB67095-74F6-DB8C-1BDF-2F465551DC0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5032"/>
            <a:stretch>
              <a:fillRect/>
            </a:stretch>
          </p:blipFill>
          <p:spPr bwMode="auto">
            <a:xfrm>
              <a:off x="204" y="1298"/>
              <a:ext cx="5384" cy="2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5" name="Rectangle 6">
              <a:extLst>
                <a:ext uri="{FF2B5EF4-FFF2-40B4-BE49-F238E27FC236}">
                  <a16:creationId xmlns:a16="http://schemas.microsoft.com/office/drawing/2014/main" id="{9F3227EE-1C1B-DAB3-D587-0E1E668AC184}"/>
                </a:ext>
              </a:extLst>
            </p:cNvPr>
            <p:cNvSpPr>
              <a:spLocks noChangeArrowheads="1"/>
            </p:cNvSpPr>
            <p:nvPr/>
          </p:nvSpPr>
          <p:spPr bwMode="auto">
            <a:xfrm>
              <a:off x="1565" y="2568"/>
              <a:ext cx="499" cy="272"/>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71686" name="Rectangle 7">
              <a:extLst>
                <a:ext uri="{FF2B5EF4-FFF2-40B4-BE49-F238E27FC236}">
                  <a16:creationId xmlns:a16="http://schemas.microsoft.com/office/drawing/2014/main" id="{B779186E-F946-9010-D9F0-A8F449BF6B18}"/>
                </a:ext>
              </a:extLst>
            </p:cNvPr>
            <p:cNvSpPr>
              <a:spLocks noChangeArrowheads="1"/>
            </p:cNvSpPr>
            <p:nvPr/>
          </p:nvSpPr>
          <p:spPr bwMode="auto">
            <a:xfrm>
              <a:off x="4830" y="2568"/>
              <a:ext cx="726" cy="318"/>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sp>
          <p:nvSpPr>
            <p:cNvPr id="71687" name="Rectangle 8">
              <a:extLst>
                <a:ext uri="{FF2B5EF4-FFF2-40B4-BE49-F238E27FC236}">
                  <a16:creationId xmlns:a16="http://schemas.microsoft.com/office/drawing/2014/main" id="{C4A34611-63E2-C9CF-919B-08429E6EF1D5}"/>
                </a:ext>
              </a:extLst>
            </p:cNvPr>
            <p:cNvSpPr>
              <a:spLocks noChangeArrowheads="1"/>
            </p:cNvSpPr>
            <p:nvPr/>
          </p:nvSpPr>
          <p:spPr bwMode="auto">
            <a:xfrm>
              <a:off x="4649" y="2205"/>
              <a:ext cx="907" cy="272"/>
            </a:xfrm>
            <a:prstGeom prst="rect">
              <a:avLst/>
            </a:prstGeom>
            <a:noFill/>
            <a:ln w="3175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endParaRPr lang="en-US" altLang="en-US" sz="1800">
                <a:latin typeface="Arial" panose="020B0604020202020204" pitchFamily="34" charset="0"/>
              </a:endParaRP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730" name="Picture 4" descr="fg09-17">
            <a:extLst>
              <a:ext uri="{FF2B5EF4-FFF2-40B4-BE49-F238E27FC236}">
                <a16:creationId xmlns:a16="http://schemas.microsoft.com/office/drawing/2014/main" id="{6F523EB5-3C87-36C5-7DE9-412EDD7EBFF4}"/>
              </a:ext>
            </a:extLst>
          </p:cNvPr>
          <p:cNvPicPr>
            <a:picLocks noChangeAspect="1" noChangeArrowheads="1"/>
          </p:cNvPicPr>
          <p:nvPr/>
        </p:nvPicPr>
        <p:blipFill>
          <a:blip r:embed="rId2">
            <a:lum bright="-6000" contrast="6000"/>
            <a:extLst>
              <a:ext uri="{28A0092B-C50C-407E-A947-70E740481C1C}">
                <a14:useLocalDpi xmlns:a14="http://schemas.microsoft.com/office/drawing/2010/main" val="0"/>
              </a:ext>
            </a:extLst>
          </a:blip>
          <a:srcRect b="21140"/>
          <a:stretch>
            <a:fillRect/>
          </a:stretch>
        </p:blipFill>
        <p:spPr bwMode="auto">
          <a:xfrm>
            <a:off x="250825" y="2133600"/>
            <a:ext cx="8642350" cy="4175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1" name="Text Box 5">
            <a:extLst>
              <a:ext uri="{FF2B5EF4-FFF2-40B4-BE49-F238E27FC236}">
                <a16:creationId xmlns:a16="http://schemas.microsoft.com/office/drawing/2014/main" id="{70BBCA09-954A-219A-8047-EA1DCB0ABF47}"/>
              </a:ext>
            </a:extLst>
          </p:cNvPr>
          <p:cNvSpPr txBox="1">
            <a:spLocks noChangeArrowheads="1"/>
          </p:cNvSpPr>
          <p:nvPr/>
        </p:nvSpPr>
        <p:spPr bwMode="auto">
          <a:xfrm>
            <a:off x="2124075" y="333375"/>
            <a:ext cx="4673600" cy="646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3600" b="1">
                <a:solidFill>
                  <a:srgbClr val="0000FF"/>
                </a:solidFill>
                <a:latin typeface="Arial" panose="020B0604020202020204" pitchFamily="34" charset="0"/>
              </a:rPr>
              <a:t>Base excision repair</a:t>
            </a:r>
          </a:p>
        </p:txBody>
      </p:sp>
      <p:sp>
        <p:nvSpPr>
          <p:cNvPr id="73732" name="Text Box 6">
            <a:extLst>
              <a:ext uri="{FF2B5EF4-FFF2-40B4-BE49-F238E27FC236}">
                <a16:creationId xmlns:a16="http://schemas.microsoft.com/office/drawing/2014/main" id="{5F4F72A0-5588-1C20-7EE0-7AFC5434FD9E}"/>
              </a:ext>
            </a:extLst>
          </p:cNvPr>
          <p:cNvSpPr txBox="1">
            <a:spLocks noChangeArrowheads="1"/>
          </p:cNvSpPr>
          <p:nvPr/>
        </p:nvSpPr>
        <p:spPr bwMode="auto">
          <a:xfrm>
            <a:off x="47625" y="1052513"/>
            <a:ext cx="9096375" cy="1006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2000">
                <a:latin typeface="Arial" panose="020B0604020202020204" pitchFamily="34" charset="0"/>
              </a:rPr>
              <a:t>DNA glycosylases are lesion-specific and cells have multiple DNA glycosylases</a:t>
            </a:r>
          </a:p>
          <a:p>
            <a:pPr eaLnBrk="1" hangingPunct="1">
              <a:spcBef>
                <a:spcPct val="0"/>
              </a:spcBef>
              <a:buFontTx/>
              <a:buNone/>
            </a:pPr>
            <a:r>
              <a:rPr lang="en-US" altLang="zh-TW" sz="2000">
                <a:latin typeface="Arial" panose="020B0604020202020204" pitchFamily="34" charset="0"/>
              </a:rPr>
              <a:t> 1. Uracil glycosylase </a:t>
            </a:r>
          </a:p>
          <a:p>
            <a:pPr eaLnBrk="1" hangingPunct="1">
              <a:spcBef>
                <a:spcPct val="0"/>
              </a:spcBef>
              <a:buFontTx/>
              <a:buNone/>
            </a:pPr>
            <a:r>
              <a:rPr lang="en-US" altLang="zh-TW" sz="2000">
                <a:latin typeface="Arial" panose="020B0604020202020204" pitchFamily="34" charset="0"/>
              </a:rPr>
              <a:t> 2. Another specific glycosylase is responsible for removing oxoG</a:t>
            </a:r>
          </a:p>
        </p:txBody>
      </p:sp>
      <p:sp>
        <p:nvSpPr>
          <p:cNvPr id="40965" name="Text Box 7">
            <a:extLst>
              <a:ext uri="{FF2B5EF4-FFF2-40B4-BE49-F238E27FC236}">
                <a16:creationId xmlns:a16="http://schemas.microsoft.com/office/drawing/2014/main" id="{A64B3469-D397-8CF3-55A3-098E003054A9}"/>
              </a:ext>
            </a:extLst>
          </p:cNvPr>
          <p:cNvSpPr txBox="1">
            <a:spLocks noChangeArrowheads="1"/>
          </p:cNvSpPr>
          <p:nvPr/>
        </p:nvSpPr>
        <p:spPr bwMode="auto">
          <a:xfrm>
            <a:off x="2233613" y="6092825"/>
            <a:ext cx="4564062" cy="523875"/>
          </a:xfrm>
          <a:prstGeom prst="rect">
            <a:avLst/>
          </a:prstGeom>
          <a:solidFill>
            <a:schemeClr val="accent6">
              <a:lumMod val="40000"/>
              <a:lumOff val="60000"/>
            </a:schemeClr>
          </a:solidFill>
          <a:ln>
            <a:noFill/>
          </a:ln>
        </p:spPr>
        <p:txBody>
          <a:bodyPr wrap="none">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zh-TW" sz="2800" b="1" dirty="0"/>
              <a:t>AP</a:t>
            </a:r>
            <a:r>
              <a:rPr lang="en-US" altLang="zh-TW" sz="2800" dirty="0"/>
              <a:t>: </a:t>
            </a:r>
            <a:r>
              <a:rPr lang="en-US" altLang="zh-TW" sz="2800" dirty="0" err="1"/>
              <a:t>apurinic</a:t>
            </a:r>
            <a:r>
              <a:rPr lang="en-US" altLang="zh-TW" sz="2800" dirty="0"/>
              <a:t> or </a:t>
            </a:r>
            <a:r>
              <a:rPr lang="en-US" altLang="zh-TW" sz="2800" dirty="0" err="1"/>
              <a:t>apyrimidinic</a:t>
            </a:r>
            <a:endParaRPr lang="en-US" altLang="zh-TW" sz="2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8" name="Rectangle 2">
            <a:extLst>
              <a:ext uri="{FF2B5EF4-FFF2-40B4-BE49-F238E27FC236}">
                <a16:creationId xmlns:a16="http://schemas.microsoft.com/office/drawing/2014/main" id="{4A273B3D-6447-CA9F-4D3B-F2C082E7372F}"/>
              </a:ext>
            </a:extLst>
          </p:cNvPr>
          <p:cNvSpPr>
            <a:spLocks noGrp="1" noChangeArrowheads="1"/>
          </p:cNvSpPr>
          <p:nvPr>
            <p:ph type="title"/>
          </p:nvPr>
        </p:nvSpPr>
        <p:spPr/>
        <p:txBody>
          <a:bodyPr>
            <a:normAutofit fontScale="90000"/>
          </a:bodyPr>
          <a:lstStyle/>
          <a:p>
            <a:pPr eaLnBrk="1" hangingPunct="1">
              <a:defRPr/>
            </a:pPr>
            <a:r>
              <a:rPr lang="en-US" sz="3600" b="1">
                <a:solidFill>
                  <a:schemeClr val="hlink"/>
                </a:solidFill>
              </a:rPr>
              <a:t>How can Glycosylase complex recognize abnormal base?</a:t>
            </a:r>
          </a:p>
        </p:txBody>
      </p:sp>
      <p:pic>
        <p:nvPicPr>
          <p:cNvPr id="74755" name="Picture 3" descr="img045">
            <a:extLst>
              <a:ext uri="{FF2B5EF4-FFF2-40B4-BE49-F238E27FC236}">
                <a16:creationId xmlns:a16="http://schemas.microsoft.com/office/drawing/2014/main" id="{1E334046-7F88-32C7-6D07-A1BE64F782C3}"/>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03350" y="1985963"/>
            <a:ext cx="4624388" cy="4876800"/>
          </a:xfrm>
          <a:noFill/>
        </p:spPr>
      </p:pic>
      <p:sp>
        <p:nvSpPr>
          <p:cNvPr id="74756" name="AutoShape 4">
            <a:extLst>
              <a:ext uri="{FF2B5EF4-FFF2-40B4-BE49-F238E27FC236}">
                <a16:creationId xmlns:a16="http://schemas.microsoft.com/office/drawing/2014/main" id="{C90B0922-606E-90F7-C057-8E735FC39204}"/>
              </a:ext>
            </a:extLst>
          </p:cNvPr>
          <p:cNvSpPr>
            <a:spLocks noChangeArrowheads="1"/>
          </p:cNvSpPr>
          <p:nvPr/>
        </p:nvSpPr>
        <p:spPr bwMode="auto">
          <a:xfrm>
            <a:off x="6221413" y="3514725"/>
            <a:ext cx="2743200" cy="1066800"/>
          </a:xfrm>
          <a:prstGeom prst="wedgeRectCallout">
            <a:avLst>
              <a:gd name="adj1" fmla="val -133681"/>
              <a:gd name="adj2" fmla="val 27380"/>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50000"/>
              </a:spcBef>
              <a:buFontTx/>
              <a:buNone/>
            </a:pPr>
            <a:r>
              <a:rPr lang="en-US" altLang="en-US" sz="2400">
                <a:latin typeface="Arial" panose="020B0604020202020204" pitchFamily="34" charset="0"/>
              </a:rPr>
              <a:t>Damaged base is flipped out</a:t>
            </a:r>
          </a:p>
          <a:p>
            <a:pPr algn="ctr">
              <a:spcBef>
                <a:spcPct val="0"/>
              </a:spcBef>
              <a:buFontTx/>
              <a:buNone/>
            </a:pPr>
            <a:endParaRPr lang="en-US" altLang="en-US" sz="2400">
              <a:latin typeface="Arial" panose="020B0604020202020204" pitchFamily="34" charset="0"/>
            </a:endParaRPr>
          </a:p>
        </p:txBody>
      </p:sp>
      <p:sp>
        <p:nvSpPr>
          <p:cNvPr id="74757" name="TextBox 4">
            <a:extLst>
              <a:ext uri="{FF2B5EF4-FFF2-40B4-BE49-F238E27FC236}">
                <a16:creationId xmlns:a16="http://schemas.microsoft.com/office/drawing/2014/main" id="{F6E97A00-47C3-462D-39BB-AC69D220A613}"/>
              </a:ext>
            </a:extLst>
          </p:cNvPr>
          <p:cNvSpPr txBox="1">
            <a:spLocks noChangeArrowheads="1"/>
          </p:cNvSpPr>
          <p:nvPr/>
        </p:nvSpPr>
        <p:spPr bwMode="auto">
          <a:xfrm>
            <a:off x="317500" y="1341438"/>
            <a:ext cx="8366125" cy="6461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1800">
                <a:latin typeface="Arial" panose="020B0604020202020204" pitchFamily="34" charset="0"/>
              </a:rPr>
              <a:t>Evidence indicates that these enzymes </a:t>
            </a:r>
            <a:r>
              <a:rPr lang="en-US" altLang="en-US" sz="1800" b="1">
                <a:solidFill>
                  <a:srgbClr val="C00000"/>
                </a:solidFill>
                <a:latin typeface="Arial" panose="020B0604020202020204" pitchFamily="34" charset="0"/>
              </a:rPr>
              <a:t>Diffuse</a:t>
            </a:r>
            <a:r>
              <a:rPr lang="en-US" altLang="en-US" sz="1800">
                <a:solidFill>
                  <a:srgbClr val="C00000"/>
                </a:solidFill>
                <a:latin typeface="Arial" panose="020B0604020202020204" pitchFamily="34" charset="0"/>
              </a:rPr>
              <a:t> </a:t>
            </a:r>
            <a:r>
              <a:rPr lang="en-US" altLang="en-US" sz="1800">
                <a:latin typeface="Arial" panose="020B0604020202020204" pitchFamily="34" charset="0"/>
              </a:rPr>
              <a:t>laterally along the minor groove </a:t>
            </a:r>
          </a:p>
          <a:p>
            <a:pPr eaLnBrk="1" hangingPunct="1">
              <a:spcBef>
                <a:spcPct val="0"/>
              </a:spcBef>
              <a:buFontTx/>
              <a:buNone/>
            </a:pPr>
            <a:r>
              <a:rPr lang="en-US" altLang="en-US" sz="1800">
                <a:latin typeface="Arial" panose="020B0604020202020204" pitchFamily="34" charset="0"/>
              </a:rPr>
              <a:t>of DNA until a specific lesion is detected </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a:extLst>
              <a:ext uri="{FF2B5EF4-FFF2-40B4-BE49-F238E27FC236}">
                <a16:creationId xmlns:a16="http://schemas.microsoft.com/office/drawing/2014/main" id="{5211D1CF-A7AB-3AA3-7F33-4C6B5A3A7679}"/>
              </a:ext>
            </a:extLst>
          </p:cNvPr>
          <p:cNvSpPr>
            <a:spLocks noGrp="1" noChangeArrowheads="1"/>
          </p:cNvSpPr>
          <p:nvPr>
            <p:ph type="title"/>
          </p:nvPr>
        </p:nvSpPr>
        <p:spPr>
          <a:xfrm>
            <a:off x="468313" y="115888"/>
            <a:ext cx="8229600" cy="1152525"/>
          </a:xfrm>
        </p:spPr>
        <p:txBody>
          <a:bodyPr/>
          <a:lstStyle/>
          <a:p>
            <a:pPr eaLnBrk="1" hangingPunct="1"/>
            <a:r>
              <a:rPr lang="en-US" altLang="en-US" b="1">
                <a:solidFill>
                  <a:srgbClr val="0000FF"/>
                </a:solidFill>
              </a:rPr>
              <a:t>Fail-safe glycosylase</a:t>
            </a:r>
            <a:br>
              <a:rPr lang="en-US" altLang="en-US" b="1">
                <a:solidFill>
                  <a:srgbClr val="0000FF"/>
                </a:solidFill>
              </a:rPr>
            </a:br>
            <a:r>
              <a:rPr lang="en-US" altLang="en-US" sz="3200" b="1">
                <a:solidFill>
                  <a:srgbClr val="0000FF"/>
                </a:solidFill>
              </a:rPr>
              <a:t>oxoG: A reapir</a:t>
            </a:r>
          </a:p>
        </p:txBody>
      </p:sp>
      <p:pic>
        <p:nvPicPr>
          <p:cNvPr id="76803" name="Picture 4" descr="img047">
            <a:extLst>
              <a:ext uri="{FF2B5EF4-FFF2-40B4-BE49-F238E27FC236}">
                <a16:creationId xmlns:a16="http://schemas.microsoft.com/office/drawing/2014/main" id="{E9523A5F-9CAE-99B0-B699-99DE92C77CDA}"/>
              </a:ext>
            </a:extLst>
          </p:cNvPr>
          <p:cNvPicPr>
            <a:picLocks noGrp="1" noChangeAspect="1" noChangeArrowheads="1"/>
          </p:cNvPicPr>
          <p:nvPr>
            <p:ph sz="half" idx="1"/>
          </p:nvPr>
        </p:nvPicPr>
        <p:blipFill>
          <a:blip r:embed="rId3">
            <a:extLst>
              <a:ext uri="{28A0092B-C50C-407E-A947-70E740481C1C}">
                <a14:useLocalDpi xmlns:a14="http://schemas.microsoft.com/office/drawing/2010/main" val="0"/>
              </a:ext>
            </a:extLst>
          </a:blip>
          <a:srcRect/>
          <a:stretch>
            <a:fillRect/>
          </a:stretch>
        </p:blipFill>
        <p:spPr>
          <a:xfrm>
            <a:off x="119063" y="1365250"/>
            <a:ext cx="8929687" cy="3479800"/>
          </a:xfrm>
          <a:noFill/>
        </p:spPr>
      </p:pic>
      <p:sp>
        <p:nvSpPr>
          <p:cNvPr id="76804" name="Rectangle 3">
            <a:extLst>
              <a:ext uri="{FF2B5EF4-FFF2-40B4-BE49-F238E27FC236}">
                <a16:creationId xmlns:a16="http://schemas.microsoft.com/office/drawing/2014/main" id="{20A40958-F26E-C50D-C747-71D40794F255}"/>
              </a:ext>
            </a:extLst>
          </p:cNvPr>
          <p:cNvSpPr>
            <a:spLocks noGrp="1" noChangeArrowheads="1"/>
          </p:cNvSpPr>
          <p:nvPr>
            <p:ph type="body" sz="half" idx="2"/>
          </p:nvPr>
        </p:nvSpPr>
        <p:spPr>
          <a:xfrm>
            <a:off x="468313" y="4941888"/>
            <a:ext cx="8355012" cy="1655762"/>
          </a:xfrm>
        </p:spPr>
        <p:txBody>
          <a:bodyPr/>
          <a:lstStyle/>
          <a:p>
            <a:pPr eaLnBrk="1" hangingPunct="1"/>
            <a:r>
              <a:rPr lang="en-US" altLang="en-US" sz="2400"/>
              <a:t>Works in case glycosylase did not recognize the error before replication</a:t>
            </a:r>
          </a:p>
          <a:p>
            <a:pPr eaLnBrk="1" hangingPunct="1"/>
            <a:r>
              <a:rPr lang="en-US" altLang="en-US" sz="2400" b="1">
                <a:solidFill>
                  <a:srgbClr val="C00000"/>
                </a:solidFill>
              </a:rPr>
              <a:t>Fail-safe system </a:t>
            </a:r>
            <a:r>
              <a:rPr lang="en-US" altLang="en-US" sz="2400"/>
              <a:t>that removes T opposite a G (arise from deamination of 5-mehylcytosine</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Rectangle 2">
            <a:extLst>
              <a:ext uri="{FF2B5EF4-FFF2-40B4-BE49-F238E27FC236}">
                <a16:creationId xmlns:a16="http://schemas.microsoft.com/office/drawing/2014/main" id="{C6DDC771-D5D3-D91C-498D-648D0BD3C89F}"/>
              </a:ext>
            </a:extLst>
          </p:cNvPr>
          <p:cNvSpPr>
            <a:spLocks noGrp="1" noChangeArrowheads="1"/>
          </p:cNvSpPr>
          <p:nvPr>
            <p:ph type="title"/>
          </p:nvPr>
        </p:nvSpPr>
        <p:spPr>
          <a:xfrm>
            <a:off x="323850" y="277813"/>
            <a:ext cx="5543550" cy="1143000"/>
          </a:xfrm>
        </p:spPr>
        <p:txBody>
          <a:bodyPr/>
          <a:lstStyle/>
          <a:p>
            <a:pPr algn="l" eaLnBrk="1" hangingPunct="1"/>
            <a:r>
              <a:rPr lang="en-US" altLang="en-US" sz="2800" b="1">
                <a:solidFill>
                  <a:srgbClr val="0000FF"/>
                </a:solidFill>
              </a:rPr>
              <a:t>3- Nucleotide excision repair (NER) </a:t>
            </a:r>
            <a:r>
              <a:rPr lang="en-US" altLang="en-US" sz="2800" b="1">
                <a:solidFill>
                  <a:srgbClr val="C00000"/>
                </a:solidFill>
              </a:rPr>
              <a:t>cleaves damaged DNA on either side of the lesion</a:t>
            </a:r>
          </a:p>
        </p:txBody>
      </p:sp>
      <p:sp>
        <p:nvSpPr>
          <p:cNvPr id="44035" name="Rectangle 3">
            <a:extLst>
              <a:ext uri="{FF2B5EF4-FFF2-40B4-BE49-F238E27FC236}">
                <a16:creationId xmlns:a16="http://schemas.microsoft.com/office/drawing/2014/main" id="{DC4AC0DE-A587-F656-E018-0EFADBD6615F}"/>
              </a:ext>
            </a:extLst>
          </p:cNvPr>
          <p:cNvSpPr>
            <a:spLocks noGrp="1" noChangeArrowheads="1"/>
          </p:cNvSpPr>
          <p:nvPr>
            <p:ph type="body" sz="half" idx="1"/>
          </p:nvPr>
        </p:nvSpPr>
        <p:spPr>
          <a:xfrm>
            <a:off x="179388" y="1773238"/>
            <a:ext cx="5832475" cy="4319587"/>
          </a:xfrm>
        </p:spPr>
        <p:txBody>
          <a:bodyPr/>
          <a:lstStyle/>
          <a:p>
            <a:pPr eaLnBrk="1" hangingPunct="1">
              <a:buFont typeface="Arial" charset="0"/>
              <a:buChar char="•"/>
              <a:defRPr/>
            </a:pPr>
            <a:r>
              <a:rPr lang="en-US" sz="2600" dirty="0"/>
              <a:t>Recognize DNA distortion (T dimers or bulky adduct on a base) </a:t>
            </a:r>
          </a:p>
          <a:p>
            <a:pPr eaLnBrk="1" hangingPunct="1">
              <a:buFont typeface="Arial" charset="0"/>
              <a:buChar char="•"/>
              <a:defRPr/>
            </a:pPr>
            <a:r>
              <a:rPr lang="en-US" sz="2600" dirty="0"/>
              <a:t>Short single-stranded segment is removed</a:t>
            </a:r>
          </a:p>
          <a:p>
            <a:pPr eaLnBrk="1" hangingPunct="1">
              <a:buFont typeface="Arial" charset="0"/>
              <a:buChar char="•"/>
              <a:defRPr/>
            </a:pPr>
            <a:r>
              <a:rPr lang="en-US" sz="2600" dirty="0"/>
              <a:t>4 proteins involved in </a:t>
            </a:r>
            <a:r>
              <a:rPr lang="en-US" sz="2600" i="1" dirty="0" err="1"/>
              <a:t>E.coli</a:t>
            </a:r>
            <a:r>
              <a:rPr lang="en-US" sz="2600" i="1" dirty="0"/>
              <a:t>:</a:t>
            </a:r>
          </a:p>
          <a:p>
            <a:pPr marL="0" indent="0" eaLnBrk="1" hangingPunct="1">
              <a:buFont typeface="Arial" charset="0"/>
              <a:buNone/>
              <a:defRPr/>
            </a:pPr>
            <a:r>
              <a:rPr lang="en-US" sz="2600" b="1" dirty="0">
                <a:solidFill>
                  <a:srgbClr val="C00000"/>
                </a:solidFill>
              </a:rPr>
              <a:t>     </a:t>
            </a:r>
            <a:r>
              <a:rPr lang="en-US" sz="2600" b="1" dirty="0" err="1">
                <a:solidFill>
                  <a:srgbClr val="C00000"/>
                </a:solidFill>
              </a:rPr>
              <a:t>UvrA</a:t>
            </a:r>
            <a:endParaRPr lang="en-US" sz="2600" b="1" dirty="0">
              <a:solidFill>
                <a:srgbClr val="C00000"/>
              </a:solidFill>
            </a:endParaRPr>
          </a:p>
          <a:p>
            <a:pPr marL="0" indent="0" eaLnBrk="1" hangingPunct="1">
              <a:buFont typeface="Arial" charset="0"/>
              <a:buNone/>
              <a:defRPr/>
            </a:pPr>
            <a:r>
              <a:rPr lang="en-US" sz="2600" b="1" dirty="0">
                <a:solidFill>
                  <a:srgbClr val="C00000"/>
                </a:solidFill>
              </a:rPr>
              <a:t>     </a:t>
            </a:r>
            <a:r>
              <a:rPr lang="en-US" sz="2600" b="1" dirty="0" err="1">
                <a:solidFill>
                  <a:srgbClr val="C00000"/>
                </a:solidFill>
              </a:rPr>
              <a:t>UvrB</a:t>
            </a:r>
            <a:r>
              <a:rPr lang="en-US" sz="2600" b="1" dirty="0">
                <a:solidFill>
                  <a:srgbClr val="C00000"/>
                </a:solidFill>
              </a:rPr>
              <a:t> </a:t>
            </a:r>
          </a:p>
          <a:p>
            <a:pPr marL="0" indent="0" eaLnBrk="1" hangingPunct="1">
              <a:buFont typeface="Arial" charset="0"/>
              <a:buNone/>
              <a:defRPr/>
            </a:pPr>
            <a:r>
              <a:rPr lang="en-US" sz="2600" b="1" dirty="0">
                <a:solidFill>
                  <a:srgbClr val="C00000"/>
                </a:solidFill>
              </a:rPr>
              <a:t>     </a:t>
            </a:r>
            <a:r>
              <a:rPr lang="en-US" sz="2600" b="1" dirty="0" err="1">
                <a:solidFill>
                  <a:srgbClr val="C00000"/>
                </a:solidFill>
              </a:rPr>
              <a:t>UvrC</a:t>
            </a:r>
            <a:endParaRPr lang="en-US" sz="2600" b="1" dirty="0">
              <a:solidFill>
                <a:srgbClr val="C00000"/>
              </a:solidFill>
            </a:endParaRPr>
          </a:p>
          <a:p>
            <a:pPr marL="0" indent="0" eaLnBrk="1" hangingPunct="1">
              <a:buFont typeface="Arial" charset="0"/>
              <a:buNone/>
              <a:defRPr/>
            </a:pPr>
            <a:r>
              <a:rPr lang="en-US" sz="2600" b="1" dirty="0">
                <a:solidFill>
                  <a:srgbClr val="C00000"/>
                </a:solidFill>
              </a:rPr>
              <a:t>     </a:t>
            </a:r>
            <a:r>
              <a:rPr lang="en-US" sz="2600" b="1" dirty="0" err="1">
                <a:solidFill>
                  <a:srgbClr val="C00000"/>
                </a:solidFill>
              </a:rPr>
              <a:t>UvrD</a:t>
            </a:r>
            <a:endParaRPr lang="en-US" sz="2600" b="1" dirty="0">
              <a:solidFill>
                <a:srgbClr val="C00000"/>
              </a:solidFill>
            </a:endParaRPr>
          </a:p>
          <a:p>
            <a:pPr marL="0" indent="0" eaLnBrk="1" hangingPunct="1">
              <a:buFont typeface="Arial" charset="0"/>
              <a:buNone/>
              <a:defRPr/>
            </a:pPr>
            <a:endParaRPr lang="en-US" sz="2600" i="1" dirty="0"/>
          </a:p>
        </p:txBody>
      </p:sp>
      <p:pic>
        <p:nvPicPr>
          <p:cNvPr id="78852" name="Picture 6">
            <a:extLst>
              <a:ext uri="{FF2B5EF4-FFF2-40B4-BE49-F238E27FC236}">
                <a16:creationId xmlns:a16="http://schemas.microsoft.com/office/drawing/2014/main" id="{997C56F5-399F-222A-96AF-279F6887A4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754"/>
          <a:stretch>
            <a:fillRect/>
          </a:stretch>
        </p:blipFill>
        <p:spPr bwMode="auto">
          <a:xfrm>
            <a:off x="5930900" y="0"/>
            <a:ext cx="3213100" cy="685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Placeholder 2">
            <a:extLst>
              <a:ext uri="{FF2B5EF4-FFF2-40B4-BE49-F238E27FC236}">
                <a16:creationId xmlns:a16="http://schemas.microsoft.com/office/drawing/2014/main" id="{5A190AF8-BC92-4B3E-B01E-A45025C32B61}"/>
              </a:ext>
            </a:extLst>
          </p:cNvPr>
          <p:cNvSpPr>
            <a:spLocks noGrp="1"/>
          </p:cNvSpPr>
          <p:nvPr>
            <p:ph type="body" sz="half" idx="1"/>
          </p:nvPr>
        </p:nvSpPr>
        <p:spPr>
          <a:xfrm>
            <a:off x="395288" y="549275"/>
            <a:ext cx="8424862" cy="5803900"/>
          </a:xfrm>
        </p:spPr>
        <p:txBody>
          <a:bodyPr/>
          <a:lstStyle/>
          <a:p>
            <a:pPr eaLnBrk="1" hangingPunct="1"/>
            <a:r>
              <a:rPr lang="en-US" altLang="en-US"/>
              <a:t>The principle of </a:t>
            </a:r>
            <a:r>
              <a:rPr lang="en-US" altLang="en-US" b="1">
                <a:solidFill>
                  <a:srgbClr val="C00000"/>
                </a:solidFill>
              </a:rPr>
              <a:t>NER in higher cells </a:t>
            </a:r>
            <a:r>
              <a:rPr lang="en-US" altLang="en-US"/>
              <a:t>is much the same as that in </a:t>
            </a:r>
            <a:r>
              <a:rPr lang="en-US" altLang="en-US" i="1"/>
              <a:t>E.coli</a:t>
            </a:r>
            <a:r>
              <a:rPr lang="en-US" altLang="en-US"/>
              <a:t> but more complicated </a:t>
            </a:r>
          </a:p>
          <a:p>
            <a:pPr eaLnBrk="1" hangingPunct="1"/>
            <a:r>
              <a:rPr lang="en-US" altLang="en-US" b="1">
                <a:solidFill>
                  <a:srgbClr val="0000FF"/>
                </a:solidFill>
              </a:rPr>
              <a:t>XPC</a:t>
            </a:r>
            <a:r>
              <a:rPr lang="en-US" altLang="en-US"/>
              <a:t> (detect distortion of DNA like UvrA)</a:t>
            </a:r>
          </a:p>
          <a:p>
            <a:pPr eaLnBrk="1" hangingPunct="1"/>
            <a:r>
              <a:rPr lang="en-US" altLang="en-US"/>
              <a:t>Formation of bubble involves the helicase activities of proteins </a:t>
            </a:r>
            <a:r>
              <a:rPr lang="en-US" altLang="en-US" b="1">
                <a:solidFill>
                  <a:srgbClr val="0000FF"/>
                </a:solidFill>
              </a:rPr>
              <a:t>XPA and XPD </a:t>
            </a:r>
            <a:r>
              <a:rPr lang="en-US" altLang="en-US"/>
              <a:t>(equivalent of UvrB in </a:t>
            </a:r>
            <a:r>
              <a:rPr lang="en-US" altLang="en-US" i="1"/>
              <a:t>E.coli</a:t>
            </a:r>
            <a:r>
              <a:rPr lang="en-US" altLang="en-US"/>
              <a:t>) and the SSB protein </a:t>
            </a:r>
            <a:r>
              <a:rPr lang="en-US" altLang="en-US" b="1">
                <a:solidFill>
                  <a:srgbClr val="0000FF"/>
                </a:solidFill>
              </a:rPr>
              <a:t>RPA</a:t>
            </a:r>
            <a:r>
              <a:rPr lang="en-US" altLang="en-US"/>
              <a:t>.</a:t>
            </a:r>
          </a:p>
          <a:p>
            <a:pPr eaLnBrk="1" hangingPunct="1"/>
            <a:r>
              <a:rPr lang="en-US" altLang="en-US"/>
              <a:t>The bubble creates cleavage sites on the 5’ side of the lesion for a nuclease </a:t>
            </a:r>
            <a:r>
              <a:rPr lang="en-US" altLang="en-US" b="1">
                <a:solidFill>
                  <a:srgbClr val="0000FF"/>
                </a:solidFill>
              </a:rPr>
              <a:t>ERCC1-XPF</a:t>
            </a:r>
            <a:r>
              <a:rPr lang="en-US" altLang="en-US"/>
              <a:t> on the 3’ side for the nuclease </a:t>
            </a:r>
            <a:r>
              <a:rPr lang="en-US" altLang="en-US" b="1">
                <a:solidFill>
                  <a:srgbClr val="0000FF"/>
                </a:solidFill>
              </a:rPr>
              <a:t>XPG</a:t>
            </a:r>
            <a:r>
              <a:rPr lang="en-US" altLang="en-US">
                <a:solidFill>
                  <a:srgbClr val="0000FF"/>
                </a:solidFill>
              </a:rPr>
              <a:t> </a:t>
            </a:r>
            <a:r>
              <a:rPr lang="en-US" altLang="en-US"/>
              <a:t> (like  UvrC)</a:t>
            </a:r>
          </a:p>
          <a:p>
            <a:r>
              <a:rPr lang="en-US" altLang="en-US"/>
              <a:t>Resulting ssDNA segment is 24-32 nucleotide long.</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a:extLst>
              <a:ext uri="{FF2B5EF4-FFF2-40B4-BE49-F238E27FC236}">
                <a16:creationId xmlns:a16="http://schemas.microsoft.com/office/drawing/2014/main" id="{D7E32F96-DEBB-A071-B284-A70260C4BA11}"/>
              </a:ext>
            </a:extLst>
          </p:cNvPr>
          <p:cNvSpPr>
            <a:spLocks noGrp="1" noChangeArrowheads="1"/>
          </p:cNvSpPr>
          <p:nvPr>
            <p:ph type="title"/>
          </p:nvPr>
        </p:nvSpPr>
        <p:spPr/>
        <p:txBody>
          <a:bodyPr/>
          <a:lstStyle/>
          <a:p>
            <a:pPr eaLnBrk="1" hangingPunct="1"/>
            <a:r>
              <a:rPr lang="en-US" altLang="en-US">
                <a:solidFill>
                  <a:srgbClr val="0000FF"/>
                </a:solidFill>
              </a:rPr>
              <a:t>Nucleotide excision repair enzyme</a:t>
            </a:r>
          </a:p>
        </p:txBody>
      </p:sp>
      <p:sp>
        <p:nvSpPr>
          <p:cNvPr id="82947" name="Rectangle 3">
            <a:extLst>
              <a:ext uri="{FF2B5EF4-FFF2-40B4-BE49-F238E27FC236}">
                <a16:creationId xmlns:a16="http://schemas.microsoft.com/office/drawing/2014/main" id="{59643F62-AB2C-259C-7849-95CFCB91BA37}"/>
              </a:ext>
            </a:extLst>
          </p:cNvPr>
          <p:cNvSpPr>
            <a:spLocks noGrp="1" noChangeArrowheads="1"/>
          </p:cNvSpPr>
          <p:nvPr>
            <p:ph idx="1"/>
          </p:nvPr>
        </p:nvSpPr>
        <p:spPr/>
        <p:txBody>
          <a:bodyPr/>
          <a:lstStyle/>
          <a:p>
            <a:pPr eaLnBrk="1" hangingPunct="1"/>
            <a:r>
              <a:rPr lang="en-US" altLang="en-US"/>
              <a:t>UVR proteins recognize broad variety of changes including dimmers caused by UV</a:t>
            </a:r>
          </a:p>
          <a:p>
            <a:pPr eaLnBrk="1" hangingPunct="1"/>
            <a:endParaRPr lang="en-US" altLang="en-US"/>
          </a:p>
          <a:p>
            <a:pPr eaLnBrk="1" hangingPunct="1"/>
            <a:r>
              <a:rPr lang="en-US" altLang="en-US"/>
              <a:t>Mutants to UVR proteins are sensitive to UV light</a:t>
            </a:r>
          </a:p>
          <a:p>
            <a:pPr eaLnBrk="1" hangingPunct="1"/>
            <a:endParaRPr lang="en-US" altLang="en-US"/>
          </a:p>
          <a:p>
            <a:pPr eaLnBrk="1" hangingPunct="1"/>
            <a:r>
              <a:rPr lang="en-US" altLang="en-US" b="1">
                <a:solidFill>
                  <a:srgbClr val="0000FF"/>
                </a:solidFill>
              </a:rPr>
              <a:t>Xeroderma pigmentosum </a:t>
            </a:r>
            <a:r>
              <a:rPr lang="en-US" altLang="en-US"/>
              <a:t>(</a:t>
            </a:r>
            <a:r>
              <a:rPr lang="en-US" altLang="en-US" b="1">
                <a:solidFill>
                  <a:srgbClr val="FF0000"/>
                </a:solidFill>
              </a:rPr>
              <a:t>7</a:t>
            </a:r>
            <a:r>
              <a:rPr lang="en-US" altLang="en-US" b="1"/>
              <a:t> </a:t>
            </a:r>
            <a:r>
              <a:rPr lang="en-US" altLang="en-US" b="1">
                <a:solidFill>
                  <a:srgbClr val="FF0000"/>
                </a:solidFill>
              </a:rPr>
              <a:t>XP genes</a:t>
            </a:r>
            <a:r>
              <a:rPr lang="en-US" altLang="en-US"/>
              <a:t>)</a:t>
            </a:r>
          </a:p>
          <a:p>
            <a:pPr lvl="1" eaLnBrk="1" hangingPunct="1"/>
            <a:endParaRPr lang="en-US" alt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4">
            <a:extLst>
              <a:ext uri="{FF2B5EF4-FFF2-40B4-BE49-F238E27FC236}">
                <a16:creationId xmlns:a16="http://schemas.microsoft.com/office/drawing/2014/main" id="{55DCBCB0-A360-F17F-1912-2E43A1FE17D1}"/>
              </a:ext>
            </a:extLst>
          </p:cNvPr>
          <p:cNvSpPr txBox="1">
            <a:spLocks noChangeArrowheads="1"/>
          </p:cNvSpPr>
          <p:nvPr/>
        </p:nvSpPr>
        <p:spPr bwMode="auto">
          <a:xfrm>
            <a:off x="1547813" y="476250"/>
            <a:ext cx="5467350"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b="1">
                <a:solidFill>
                  <a:srgbClr val="0000FF"/>
                </a:solidFill>
                <a:latin typeface="Arial" panose="020B0604020202020204" pitchFamily="34" charset="0"/>
              </a:rPr>
              <a:t>Nucleotide Excision Repair</a:t>
            </a:r>
          </a:p>
        </p:txBody>
      </p:sp>
      <p:sp>
        <p:nvSpPr>
          <p:cNvPr id="84995" name="Text Box 5">
            <a:extLst>
              <a:ext uri="{FF2B5EF4-FFF2-40B4-BE49-F238E27FC236}">
                <a16:creationId xmlns:a16="http://schemas.microsoft.com/office/drawing/2014/main" id="{95B36970-D0C8-10F3-8BD2-EE9499BD826C}"/>
              </a:ext>
            </a:extLst>
          </p:cNvPr>
          <p:cNvSpPr txBox="1">
            <a:spLocks noChangeArrowheads="1"/>
          </p:cNvSpPr>
          <p:nvPr/>
        </p:nvSpPr>
        <p:spPr bwMode="auto">
          <a:xfrm>
            <a:off x="663575" y="1479550"/>
            <a:ext cx="8085138"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pPr>
            <a:r>
              <a:rPr lang="en-US" altLang="zh-TW" sz="2000">
                <a:latin typeface="Arial" panose="020B0604020202020204" pitchFamily="34" charset="0"/>
              </a:rPr>
              <a:t>The principles of nucleotide excision repair in higher cells is much the same as in E. coli but us moer complicated, involving 25 or more polypeptides.</a:t>
            </a:r>
          </a:p>
          <a:p>
            <a:pPr eaLnBrk="1" hangingPunct="1">
              <a:spcBef>
                <a:spcPct val="0"/>
              </a:spcBef>
            </a:pPr>
            <a:endParaRPr lang="en-US" altLang="zh-TW" sz="2000">
              <a:latin typeface="Arial" panose="020B0604020202020204" pitchFamily="34" charset="0"/>
            </a:endParaRPr>
          </a:p>
          <a:p>
            <a:pPr eaLnBrk="1" hangingPunct="1">
              <a:spcBef>
                <a:spcPct val="0"/>
              </a:spcBef>
            </a:pPr>
            <a:r>
              <a:rPr lang="en-US" altLang="zh-TW" sz="2000">
                <a:latin typeface="Arial" panose="020B0604020202020204" pitchFamily="34" charset="0"/>
              </a:rPr>
              <a:t>The UVR proteins are needed to mend damage from UV light; Mutants of uvr genes are sensitive to UV light, and lack the capacity to remove T-T or T-C adducts.</a:t>
            </a:r>
          </a:p>
        </p:txBody>
      </p:sp>
      <p:sp>
        <p:nvSpPr>
          <p:cNvPr id="47108" name="Text Box 6">
            <a:extLst>
              <a:ext uri="{FF2B5EF4-FFF2-40B4-BE49-F238E27FC236}">
                <a16:creationId xmlns:a16="http://schemas.microsoft.com/office/drawing/2014/main" id="{8BFCCF0A-16D7-1172-8341-E775F4DEFA5A}"/>
              </a:ext>
            </a:extLst>
          </p:cNvPr>
          <p:cNvSpPr txBox="1">
            <a:spLocks noChangeArrowheads="1"/>
          </p:cNvSpPr>
          <p:nvPr/>
        </p:nvSpPr>
        <p:spPr bwMode="auto">
          <a:xfrm>
            <a:off x="428625" y="4221163"/>
            <a:ext cx="8320088" cy="1631950"/>
          </a:xfrm>
          <a:prstGeom prst="rect">
            <a:avLst/>
          </a:prstGeom>
          <a:solidFill>
            <a:schemeClr val="accent6">
              <a:lumMod val="40000"/>
              <a:lumOff val="60000"/>
            </a:schemeClr>
          </a:solidFill>
          <a:ln>
            <a:noFill/>
          </a:ln>
        </p:spPr>
        <p:txBody>
          <a:bodyPr>
            <a:spAutoFit/>
          </a:bodyPr>
          <a:lstStyle>
            <a:lvl1pPr eaLnBrk="0" hangingPunct="0">
              <a:defRPr>
                <a:solidFill>
                  <a:schemeClr val="tx1"/>
                </a:solidFill>
                <a:latin typeface="Arial" charset="0"/>
                <a:cs typeface="Arial" charset="0"/>
              </a:defRPr>
            </a:lvl1pPr>
            <a:lvl2pPr marL="742950" indent="-285750" eaLnBrk="0" hangingPunct="0">
              <a:defRPr>
                <a:solidFill>
                  <a:schemeClr val="tx1"/>
                </a:solidFill>
                <a:latin typeface="Arial" charset="0"/>
                <a:cs typeface="Arial" charset="0"/>
              </a:defRPr>
            </a:lvl2pPr>
            <a:lvl3pPr marL="1143000" indent="-228600" eaLnBrk="0" hangingPunct="0">
              <a:defRPr>
                <a:solidFill>
                  <a:schemeClr val="tx1"/>
                </a:solidFill>
                <a:latin typeface="Arial" charset="0"/>
                <a:cs typeface="Arial" charset="0"/>
              </a:defRPr>
            </a:lvl3pPr>
            <a:lvl4pPr marL="1600200" indent="-228600" eaLnBrk="0" hangingPunct="0">
              <a:defRPr>
                <a:solidFill>
                  <a:schemeClr val="tx1"/>
                </a:solidFill>
                <a:latin typeface="Arial" charset="0"/>
                <a:cs typeface="Arial" charset="0"/>
              </a:defRPr>
            </a:lvl4pPr>
            <a:lvl5pPr marL="2057400" indent="-228600" eaLnBrk="0" hangingPunct="0">
              <a:defRPr>
                <a:solidFill>
                  <a:schemeClr val="tx1"/>
                </a:solidFill>
                <a:latin typeface="Arial" charset="0"/>
                <a:cs typeface="Arial" charset="0"/>
              </a:defRPr>
            </a:lvl5pPr>
            <a:lvl6pPr marL="2514600" indent="-228600" eaLnBrk="0" fontAlgn="base" hangingPunct="0">
              <a:spcBef>
                <a:spcPct val="0"/>
              </a:spcBef>
              <a:spcAft>
                <a:spcPct val="0"/>
              </a:spcAft>
              <a:defRPr>
                <a:solidFill>
                  <a:schemeClr val="tx1"/>
                </a:solidFill>
                <a:latin typeface="Arial" charset="0"/>
                <a:cs typeface="Arial" charset="0"/>
              </a:defRPr>
            </a:lvl6pPr>
            <a:lvl7pPr marL="2971800" indent="-228600" eaLnBrk="0" fontAlgn="base" hangingPunct="0">
              <a:spcBef>
                <a:spcPct val="0"/>
              </a:spcBef>
              <a:spcAft>
                <a:spcPct val="0"/>
              </a:spcAft>
              <a:defRPr>
                <a:solidFill>
                  <a:schemeClr val="tx1"/>
                </a:solidFill>
                <a:latin typeface="Arial" charset="0"/>
                <a:cs typeface="Arial" charset="0"/>
              </a:defRPr>
            </a:lvl7pPr>
            <a:lvl8pPr marL="3429000" indent="-228600" eaLnBrk="0" fontAlgn="base" hangingPunct="0">
              <a:spcBef>
                <a:spcPct val="0"/>
              </a:spcBef>
              <a:spcAft>
                <a:spcPct val="0"/>
              </a:spcAft>
              <a:defRPr>
                <a:solidFill>
                  <a:schemeClr val="tx1"/>
                </a:solidFill>
                <a:latin typeface="Arial" charset="0"/>
                <a:cs typeface="Arial" charset="0"/>
              </a:defRPr>
            </a:lvl8pPr>
            <a:lvl9pPr marL="3886200" indent="-228600" eaLnBrk="0" fontAlgn="base" hangingPunct="0">
              <a:spcBef>
                <a:spcPct val="0"/>
              </a:spcBef>
              <a:spcAft>
                <a:spcPct val="0"/>
              </a:spcAft>
              <a:defRPr>
                <a:solidFill>
                  <a:schemeClr val="tx1"/>
                </a:solidFill>
                <a:latin typeface="Arial" charset="0"/>
                <a:cs typeface="Arial" charset="0"/>
              </a:defRPr>
            </a:lvl9pPr>
          </a:lstStyle>
          <a:p>
            <a:pPr eaLnBrk="1" hangingPunct="1">
              <a:defRPr/>
            </a:pPr>
            <a:r>
              <a:rPr lang="en-US" altLang="zh-TW" sz="2000" dirty="0"/>
              <a:t>In </a:t>
            </a:r>
            <a:r>
              <a:rPr lang="en-US" altLang="zh-TW" sz="2000" b="1" dirty="0"/>
              <a:t>human</a:t>
            </a:r>
            <a:r>
              <a:rPr lang="en-US" altLang="zh-TW" sz="2000" dirty="0"/>
              <a:t>, </a:t>
            </a:r>
            <a:r>
              <a:rPr lang="en-US" altLang="zh-TW" sz="2000" b="1" u="sng" dirty="0" err="1">
                <a:solidFill>
                  <a:srgbClr val="C00000"/>
                </a:solidFill>
              </a:rPr>
              <a:t>xeroderma</a:t>
            </a:r>
            <a:r>
              <a:rPr lang="en-US" altLang="zh-TW" sz="2000" b="1" u="sng" dirty="0">
                <a:solidFill>
                  <a:srgbClr val="C00000"/>
                </a:solidFill>
              </a:rPr>
              <a:t> </a:t>
            </a:r>
            <a:r>
              <a:rPr lang="en-US" altLang="zh-TW" sz="2000" b="1" u="sng" dirty="0" err="1">
                <a:solidFill>
                  <a:srgbClr val="C00000"/>
                </a:solidFill>
              </a:rPr>
              <a:t>pigmentosum</a:t>
            </a:r>
            <a:r>
              <a:rPr lang="en-US" altLang="zh-TW" sz="2000" b="1" dirty="0">
                <a:solidFill>
                  <a:srgbClr val="C00000"/>
                </a:solidFill>
              </a:rPr>
              <a:t> </a:t>
            </a:r>
            <a:r>
              <a:rPr lang="en-US" altLang="zh-TW" sz="2000" dirty="0"/>
              <a:t>patients have mutations in seven genes (XP genes). </a:t>
            </a:r>
          </a:p>
          <a:p>
            <a:pPr eaLnBrk="1" hangingPunct="1">
              <a:defRPr/>
            </a:pPr>
            <a:endParaRPr lang="en-US" altLang="zh-TW" sz="2000" dirty="0"/>
          </a:p>
          <a:p>
            <a:pPr eaLnBrk="1" hangingPunct="1">
              <a:defRPr/>
            </a:pPr>
            <a:r>
              <a:rPr lang="en-US" altLang="zh-TW" sz="2000" dirty="0"/>
              <a:t>These </a:t>
            </a:r>
            <a:r>
              <a:rPr lang="en-US" altLang="zh-TW" sz="2000" b="1" dirty="0"/>
              <a:t>XP</a:t>
            </a:r>
            <a:r>
              <a:rPr lang="en-US" altLang="zh-TW" sz="2000" dirty="0"/>
              <a:t> proteins are corresponding to proteins involved in</a:t>
            </a:r>
          </a:p>
          <a:p>
            <a:pPr eaLnBrk="1" hangingPunct="1">
              <a:defRPr/>
            </a:pPr>
            <a:r>
              <a:rPr lang="en-US" altLang="zh-TW" sz="2000" dirty="0"/>
              <a:t>nucleotide excision repair.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8" name="Rectangle 2">
            <a:extLst>
              <a:ext uri="{FF2B5EF4-FFF2-40B4-BE49-F238E27FC236}">
                <a16:creationId xmlns:a16="http://schemas.microsoft.com/office/drawing/2014/main" id="{ACA790B3-1543-CE67-3983-FD2005A0BBF5}"/>
              </a:ext>
            </a:extLst>
          </p:cNvPr>
          <p:cNvSpPr>
            <a:spLocks noGrp="1" noChangeArrowheads="1"/>
          </p:cNvSpPr>
          <p:nvPr>
            <p:ph type="title"/>
          </p:nvPr>
        </p:nvSpPr>
        <p:spPr>
          <a:xfrm>
            <a:off x="468313" y="0"/>
            <a:ext cx="8229600" cy="998538"/>
          </a:xfrm>
        </p:spPr>
        <p:txBody>
          <a:bodyPr/>
          <a:lstStyle/>
          <a:p>
            <a:pPr eaLnBrk="1" hangingPunct="1"/>
            <a:r>
              <a:rPr lang="en-US" altLang="en-US" b="1">
                <a:solidFill>
                  <a:srgbClr val="0000FF"/>
                </a:solidFill>
              </a:rPr>
              <a:t>4- Transcription- coupled repair</a:t>
            </a:r>
          </a:p>
        </p:txBody>
      </p:sp>
      <p:sp>
        <p:nvSpPr>
          <p:cNvPr id="86019" name="Rectangle 3">
            <a:extLst>
              <a:ext uri="{FF2B5EF4-FFF2-40B4-BE49-F238E27FC236}">
                <a16:creationId xmlns:a16="http://schemas.microsoft.com/office/drawing/2014/main" id="{F568BCC0-C567-C2FA-4A1F-D86704E51F25}"/>
              </a:ext>
            </a:extLst>
          </p:cNvPr>
          <p:cNvSpPr>
            <a:spLocks noGrp="1" noChangeArrowheads="1"/>
          </p:cNvSpPr>
          <p:nvPr>
            <p:ph type="body" sz="half" idx="1"/>
          </p:nvPr>
        </p:nvSpPr>
        <p:spPr>
          <a:xfrm>
            <a:off x="179388" y="1196975"/>
            <a:ext cx="4248150" cy="4679950"/>
          </a:xfrm>
        </p:spPr>
        <p:txBody>
          <a:bodyPr/>
          <a:lstStyle/>
          <a:p>
            <a:pPr eaLnBrk="1" hangingPunct="1"/>
            <a:r>
              <a:rPr lang="en-US" altLang="en-US" sz="2800"/>
              <a:t>RNA polymerase serve as </a:t>
            </a:r>
            <a:r>
              <a:rPr lang="en-US" altLang="en-US" sz="2800">
                <a:solidFill>
                  <a:srgbClr val="0000FF"/>
                </a:solidFill>
              </a:rPr>
              <a:t>damage sensing protein</a:t>
            </a:r>
          </a:p>
          <a:p>
            <a:pPr eaLnBrk="1" hangingPunct="1"/>
            <a:endParaRPr lang="en-US" altLang="en-US" sz="2800">
              <a:solidFill>
                <a:srgbClr val="C00000"/>
              </a:solidFill>
            </a:endParaRPr>
          </a:p>
          <a:p>
            <a:pPr eaLnBrk="1" hangingPunct="1"/>
            <a:r>
              <a:rPr lang="en-US" altLang="en-US" sz="2800">
                <a:solidFill>
                  <a:srgbClr val="C00000"/>
                </a:solidFill>
              </a:rPr>
              <a:t>Stop RNA polymerase and call nucleotide excision repair proteins</a:t>
            </a:r>
          </a:p>
          <a:p>
            <a:pPr eaLnBrk="1" hangingPunct="1"/>
            <a:endParaRPr lang="en-US" altLang="en-US" sz="2800"/>
          </a:p>
          <a:p>
            <a:pPr eaLnBrk="1" hangingPunct="1"/>
            <a:r>
              <a:rPr lang="en-US" altLang="en-US" sz="2800"/>
              <a:t>Has the advantage of </a:t>
            </a:r>
            <a:r>
              <a:rPr lang="en-US" altLang="en-US" sz="2800">
                <a:solidFill>
                  <a:schemeClr val="hlink"/>
                </a:solidFill>
              </a:rPr>
              <a:t>focusing on genes being transcribed</a:t>
            </a:r>
          </a:p>
        </p:txBody>
      </p:sp>
      <p:pic>
        <p:nvPicPr>
          <p:cNvPr id="86020" name="Picture 4" descr="10_17Figure-L">
            <a:extLst>
              <a:ext uri="{FF2B5EF4-FFF2-40B4-BE49-F238E27FC236}">
                <a16:creationId xmlns:a16="http://schemas.microsoft.com/office/drawing/2014/main" id="{07352C02-7718-84B0-0DA7-F84AEFD1F15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83"/>
          <a:stretch>
            <a:fillRect/>
          </a:stretch>
        </p:blipFill>
        <p:spPr bwMode="auto">
          <a:xfrm>
            <a:off x="4643438" y="908050"/>
            <a:ext cx="4176712" cy="5761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8" name="Rectangle 2">
            <a:extLst>
              <a:ext uri="{FF2B5EF4-FFF2-40B4-BE49-F238E27FC236}">
                <a16:creationId xmlns:a16="http://schemas.microsoft.com/office/drawing/2014/main" id="{7D7D1D2B-86A8-E79F-C062-DD03E6BBEDCF}"/>
              </a:ext>
            </a:extLst>
          </p:cNvPr>
          <p:cNvSpPr>
            <a:spLocks noGrp="1" noChangeArrowheads="1"/>
          </p:cNvSpPr>
          <p:nvPr>
            <p:ph type="title"/>
          </p:nvPr>
        </p:nvSpPr>
        <p:spPr>
          <a:xfrm>
            <a:off x="0" y="476250"/>
            <a:ext cx="8243888" cy="944563"/>
          </a:xfrm>
        </p:spPr>
        <p:txBody>
          <a:bodyPr rtlCol="0">
            <a:normAutofit fontScale="90000"/>
          </a:bodyPr>
          <a:lstStyle/>
          <a:p>
            <a:pPr eaLnBrk="1" fontAlgn="auto" hangingPunct="1">
              <a:spcAft>
                <a:spcPts val="0"/>
              </a:spcAft>
              <a:defRPr/>
            </a:pPr>
            <a:r>
              <a:rPr lang="en-US" sz="3600" b="1" dirty="0">
                <a:solidFill>
                  <a:srgbClr val="0000FF"/>
                </a:solidFill>
              </a:rPr>
              <a:t>Transcription - coupled repair in </a:t>
            </a:r>
            <a:r>
              <a:rPr lang="en-US" sz="3600" b="1" dirty="0">
                <a:solidFill>
                  <a:srgbClr val="C00000"/>
                </a:solidFill>
              </a:rPr>
              <a:t>Eukaryotes</a:t>
            </a:r>
          </a:p>
        </p:txBody>
      </p:sp>
      <p:sp>
        <p:nvSpPr>
          <p:cNvPr id="88067" name="Rectangle 3">
            <a:extLst>
              <a:ext uri="{FF2B5EF4-FFF2-40B4-BE49-F238E27FC236}">
                <a16:creationId xmlns:a16="http://schemas.microsoft.com/office/drawing/2014/main" id="{3C1AEC99-4411-8E43-69D3-4ABAC3B286AB}"/>
              </a:ext>
            </a:extLst>
          </p:cNvPr>
          <p:cNvSpPr>
            <a:spLocks noGrp="1" noChangeArrowheads="1"/>
          </p:cNvSpPr>
          <p:nvPr>
            <p:ph type="body" sz="half" idx="1"/>
          </p:nvPr>
        </p:nvSpPr>
        <p:spPr>
          <a:xfrm>
            <a:off x="611188" y="1773238"/>
            <a:ext cx="7850187" cy="4392612"/>
          </a:xfrm>
        </p:spPr>
        <p:txBody>
          <a:bodyPr/>
          <a:lstStyle/>
          <a:p>
            <a:pPr eaLnBrk="1" hangingPunct="1"/>
            <a:r>
              <a:rPr lang="en-US" altLang="en-US" b="1"/>
              <a:t>TFIIH</a:t>
            </a:r>
          </a:p>
          <a:p>
            <a:pPr lvl="1" eaLnBrk="1" hangingPunct="1"/>
            <a:r>
              <a:rPr lang="en-US" altLang="en-US"/>
              <a:t>Includes XPA &amp; XPD subunits</a:t>
            </a:r>
          </a:p>
          <a:p>
            <a:pPr lvl="1" eaLnBrk="1" hangingPunct="1"/>
            <a:endParaRPr lang="en-US" altLang="en-US"/>
          </a:p>
          <a:p>
            <a:pPr lvl="1" eaLnBrk="1" hangingPunct="1"/>
            <a:r>
              <a:rPr lang="en-US" altLang="en-US"/>
              <a:t>Unwind DNA template during transcription </a:t>
            </a:r>
          </a:p>
          <a:p>
            <a:pPr lvl="1" eaLnBrk="1" hangingPunct="1"/>
            <a:endParaRPr lang="en-US" altLang="en-US"/>
          </a:p>
          <a:p>
            <a:pPr lvl="1" eaLnBrk="1" hangingPunct="1"/>
            <a:r>
              <a:rPr lang="en-US" altLang="en-US"/>
              <a:t>Melt the DNA around the lesion during nucleotide excision repair/ transcription coupled repair </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4" name="Rectangle 2">
            <a:extLst>
              <a:ext uri="{FF2B5EF4-FFF2-40B4-BE49-F238E27FC236}">
                <a16:creationId xmlns:a16="http://schemas.microsoft.com/office/drawing/2014/main" id="{E120B820-BA8B-4129-26DB-205558352373}"/>
              </a:ext>
            </a:extLst>
          </p:cNvPr>
          <p:cNvSpPr>
            <a:spLocks noGrp="1" noChangeArrowheads="1"/>
          </p:cNvSpPr>
          <p:nvPr>
            <p:ph type="title"/>
          </p:nvPr>
        </p:nvSpPr>
        <p:spPr>
          <a:xfrm>
            <a:off x="20638" y="188913"/>
            <a:ext cx="4391025" cy="1285875"/>
          </a:xfrm>
        </p:spPr>
        <p:txBody>
          <a:bodyPr/>
          <a:lstStyle/>
          <a:p>
            <a:pPr algn="l" eaLnBrk="1" hangingPunct="1"/>
            <a:r>
              <a:rPr lang="en-US" altLang="en-US" sz="2400" b="1">
                <a:solidFill>
                  <a:srgbClr val="0000FF"/>
                </a:solidFill>
              </a:rPr>
              <a:t>5- Double strand break (DSB) repair .</a:t>
            </a:r>
            <a:br>
              <a:rPr lang="en-US" altLang="en-US" sz="2400" b="1">
                <a:solidFill>
                  <a:srgbClr val="0000FF"/>
                </a:solidFill>
              </a:rPr>
            </a:br>
            <a:r>
              <a:rPr lang="en-US" altLang="en-US" sz="2400" b="1">
                <a:solidFill>
                  <a:srgbClr val="C00000"/>
                </a:solidFill>
              </a:rPr>
              <a:t>Recombinational repair</a:t>
            </a:r>
          </a:p>
        </p:txBody>
      </p:sp>
      <p:sp>
        <p:nvSpPr>
          <p:cNvPr id="90115" name="Rectangle 3">
            <a:extLst>
              <a:ext uri="{FF2B5EF4-FFF2-40B4-BE49-F238E27FC236}">
                <a16:creationId xmlns:a16="http://schemas.microsoft.com/office/drawing/2014/main" id="{6C8D02DA-2EF3-47CD-359B-F76692B87F6C}"/>
              </a:ext>
            </a:extLst>
          </p:cNvPr>
          <p:cNvSpPr>
            <a:spLocks noGrp="1" noChangeArrowheads="1"/>
          </p:cNvSpPr>
          <p:nvPr>
            <p:ph type="body" sz="half" idx="1"/>
          </p:nvPr>
        </p:nvSpPr>
        <p:spPr>
          <a:xfrm>
            <a:off x="179388" y="1628775"/>
            <a:ext cx="4105275" cy="4530725"/>
          </a:xfrm>
        </p:spPr>
        <p:txBody>
          <a:bodyPr/>
          <a:lstStyle/>
          <a:p>
            <a:pPr eaLnBrk="1" hangingPunct="1"/>
            <a:r>
              <a:rPr lang="en-US" altLang="en-US" sz="2800"/>
              <a:t>Both strands are broken (no template)</a:t>
            </a:r>
          </a:p>
          <a:p>
            <a:pPr eaLnBrk="1" hangingPunct="1"/>
            <a:r>
              <a:rPr lang="en-US" altLang="en-US" sz="2800"/>
              <a:t>Sister chromosome is a template</a:t>
            </a:r>
          </a:p>
          <a:p>
            <a:pPr eaLnBrk="1" hangingPunct="1"/>
            <a:r>
              <a:rPr lang="en-US" altLang="en-US" sz="2800"/>
              <a:t>Helps repair errors in DNA replication</a:t>
            </a:r>
          </a:p>
          <a:p>
            <a:pPr eaLnBrk="1" hangingPunct="1"/>
            <a:endParaRPr lang="en-US" altLang="en-US" sz="2800"/>
          </a:p>
          <a:p>
            <a:pPr eaLnBrk="1" hangingPunct="1"/>
            <a:endParaRPr lang="en-US" altLang="en-US" sz="1400"/>
          </a:p>
          <a:p>
            <a:pPr eaLnBrk="1" hangingPunct="1">
              <a:buFont typeface="Wingdings" pitchFamily="2" charset="2"/>
              <a:buNone/>
            </a:pPr>
            <a:endParaRPr lang="en-US" altLang="en-US" sz="2800"/>
          </a:p>
        </p:txBody>
      </p:sp>
      <p:pic>
        <p:nvPicPr>
          <p:cNvPr id="90116" name="Picture 5" descr="img053">
            <a:extLst>
              <a:ext uri="{FF2B5EF4-FFF2-40B4-BE49-F238E27FC236}">
                <a16:creationId xmlns:a16="http://schemas.microsoft.com/office/drawing/2014/main" id="{2988255C-F856-D1CC-6B15-88E30274AB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368800" y="188913"/>
            <a:ext cx="4775200" cy="6669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a:extLst>
              <a:ext uri="{FF2B5EF4-FFF2-40B4-BE49-F238E27FC236}">
                <a16:creationId xmlns:a16="http://schemas.microsoft.com/office/drawing/2014/main" id="{D414FFA5-3586-1FAD-7A9F-9397684E9833}"/>
              </a:ext>
            </a:extLst>
          </p:cNvPr>
          <p:cNvSpPr>
            <a:spLocks noGrp="1" noChangeArrowheads="1"/>
          </p:cNvSpPr>
          <p:nvPr>
            <p:ph type="title"/>
          </p:nvPr>
        </p:nvSpPr>
        <p:spPr>
          <a:xfrm>
            <a:off x="395288" y="0"/>
            <a:ext cx="8229600" cy="1143000"/>
          </a:xfrm>
        </p:spPr>
        <p:txBody>
          <a:bodyPr rtlCol="0">
            <a:normAutofit fontScale="90000"/>
          </a:bodyPr>
          <a:lstStyle/>
          <a:p>
            <a:pPr algn="l" eaLnBrk="1" fontAlgn="auto" hangingPunct="1">
              <a:spcAft>
                <a:spcPts val="0"/>
              </a:spcAft>
              <a:defRPr/>
            </a:pPr>
            <a:r>
              <a:rPr lang="en-US" sz="3600" b="1" dirty="0">
                <a:solidFill>
                  <a:srgbClr val="0000FF"/>
                </a:solidFill>
              </a:rPr>
              <a:t>What happens if the break took place before replication </a:t>
            </a:r>
            <a:r>
              <a:rPr lang="en-US" sz="3200" b="1" dirty="0">
                <a:solidFill>
                  <a:srgbClr val="0000FF"/>
                </a:solidFill>
              </a:rPr>
              <a:t>(</a:t>
            </a:r>
            <a:r>
              <a:rPr lang="en-US" sz="3200" b="1" dirty="0">
                <a:solidFill>
                  <a:srgbClr val="C00000"/>
                </a:solidFill>
              </a:rPr>
              <a:t>no sister chromosome</a:t>
            </a:r>
            <a:r>
              <a:rPr lang="en-US" sz="3200" b="1" dirty="0">
                <a:solidFill>
                  <a:srgbClr val="0000FF"/>
                </a:solidFill>
              </a:rPr>
              <a:t>)?</a:t>
            </a:r>
          </a:p>
        </p:txBody>
      </p:sp>
      <p:sp>
        <p:nvSpPr>
          <p:cNvPr id="92163" name="Rectangle 3">
            <a:extLst>
              <a:ext uri="{FF2B5EF4-FFF2-40B4-BE49-F238E27FC236}">
                <a16:creationId xmlns:a16="http://schemas.microsoft.com/office/drawing/2014/main" id="{CCA4BFD0-65C8-5DE4-88CF-2BD99C63932F}"/>
              </a:ext>
            </a:extLst>
          </p:cNvPr>
          <p:cNvSpPr>
            <a:spLocks noGrp="1" noChangeArrowheads="1"/>
          </p:cNvSpPr>
          <p:nvPr>
            <p:ph type="body" sz="half" idx="1"/>
          </p:nvPr>
        </p:nvSpPr>
        <p:spPr>
          <a:xfrm>
            <a:off x="0" y="1135063"/>
            <a:ext cx="5508625" cy="5534025"/>
          </a:xfrm>
        </p:spPr>
        <p:txBody>
          <a:bodyPr/>
          <a:lstStyle/>
          <a:p>
            <a:pPr eaLnBrk="1" hangingPunct="1">
              <a:lnSpc>
                <a:spcPct val="80000"/>
              </a:lnSpc>
            </a:pPr>
            <a:r>
              <a:rPr lang="en-US" altLang="en-US" sz="2000"/>
              <a:t>Fail safe </a:t>
            </a:r>
            <a:r>
              <a:rPr lang="en-US" altLang="en-US" sz="2000" b="1">
                <a:solidFill>
                  <a:srgbClr val="C00000"/>
                </a:solidFill>
              </a:rPr>
              <a:t>method nonhomologous end joining (NHEJ), a backup system in yeast</a:t>
            </a:r>
          </a:p>
          <a:p>
            <a:pPr eaLnBrk="1" hangingPunct="1">
              <a:lnSpc>
                <a:spcPct val="80000"/>
              </a:lnSpc>
            </a:pPr>
            <a:r>
              <a:rPr lang="en-US" altLang="en-US" sz="2000"/>
              <a:t>Two broken DNA ends joined together.</a:t>
            </a:r>
          </a:p>
          <a:p>
            <a:pPr eaLnBrk="1" hangingPunct="1">
              <a:lnSpc>
                <a:spcPct val="80000"/>
              </a:lnSpc>
            </a:pPr>
            <a:endParaRPr lang="en-US" altLang="en-US" sz="2000"/>
          </a:p>
          <a:p>
            <a:pPr eaLnBrk="1" hangingPunct="1">
              <a:lnSpc>
                <a:spcPct val="80000"/>
              </a:lnSpc>
            </a:pPr>
            <a:r>
              <a:rPr lang="en-US" altLang="en-US" sz="2000"/>
              <a:t>Because the sequence information is lost from the broken ends, the original sequence is not restored (its mutagenic but less hazardous to the cells than unrepaired broken ends) </a:t>
            </a:r>
          </a:p>
          <a:p>
            <a:pPr eaLnBrk="1" hangingPunct="1">
              <a:lnSpc>
                <a:spcPct val="80000"/>
              </a:lnSpc>
            </a:pPr>
            <a:endParaRPr lang="en-US" altLang="en-US" sz="2000"/>
          </a:p>
          <a:p>
            <a:pPr eaLnBrk="1" hangingPunct="1">
              <a:lnSpc>
                <a:spcPct val="80000"/>
              </a:lnSpc>
            </a:pPr>
            <a:r>
              <a:rPr lang="en-US" altLang="en-US" sz="2300" b="1"/>
              <a:t>7 components found in mammalian cells:</a:t>
            </a:r>
          </a:p>
          <a:p>
            <a:pPr eaLnBrk="1" hangingPunct="1">
              <a:lnSpc>
                <a:spcPct val="80000"/>
              </a:lnSpc>
            </a:pPr>
            <a:r>
              <a:rPr lang="en-US" altLang="en-US" sz="2300" b="1" u="sng">
                <a:solidFill>
                  <a:srgbClr val="0000FF"/>
                </a:solidFill>
              </a:rPr>
              <a:t>Ku70, Ku80</a:t>
            </a:r>
            <a:r>
              <a:rPr lang="en-US" altLang="en-US" sz="2300" b="1"/>
              <a:t>, </a:t>
            </a:r>
            <a:r>
              <a:rPr lang="en-US" altLang="en-US" sz="2300" b="1">
                <a:solidFill>
                  <a:srgbClr val="0000FF"/>
                </a:solidFill>
              </a:rPr>
              <a:t>DNA-PKcs, Artemis, XRCC4, Cernunnos-XLF, and DNA ligae IV</a:t>
            </a:r>
          </a:p>
          <a:p>
            <a:pPr eaLnBrk="1" hangingPunct="1">
              <a:lnSpc>
                <a:spcPct val="80000"/>
              </a:lnSpc>
            </a:pPr>
            <a:endParaRPr lang="en-US" altLang="en-US" sz="2300" b="1"/>
          </a:p>
          <a:p>
            <a:pPr eaLnBrk="1" hangingPunct="1">
              <a:lnSpc>
                <a:spcPct val="80000"/>
              </a:lnSpc>
            </a:pPr>
            <a:r>
              <a:rPr lang="en-US" altLang="en-US" sz="2000"/>
              <a:t>Ubiquitous in eukaryotic cells, les frequent in bacteria  </a:t>
            </a:r>
          </a:p>
          <a:p>
            <a:pPr eaLnBrk="1" hangingPunct="1">
              <a:lnSpc>
                <a:spcPct val="80000"/>
              </a:lnSpc>
            </a:pPr>
            <a:r>
              <a:rPr lang="en-US" altLang="en-US" sz="2000"/>
              <a:t>Not efficient method except in spores of </a:t>
            </a:r>
            <a:r>
              <a:rPr lang="en-US" altLang="en-US" sz="2000" i="1"/>
              <a:t>B. subtilis  </a:t>
            </a:r>
            <a:r>
              <a:rPr lang="en-US" altLang="en-US" sz="2000"/>
              <a:t>(has a two-protein NHEJ system that repairs DNA breaks when the spore germinates)</a:t>
            </a:r>
          </a:p>
          <a:p>
            <a:pPr eaLnBrk="1" hangingPunct="1">
              <a:lnSpc>
                <a:spcPct val="80000"/>
              </a:lnSpc>
            </a:pPr>
            <a:endParaRPr lang="en-US" altLang="en-US" sz="2000"/>
          </a:p>
        </p:txBody>
      </p:sp>
      <p:pic>
        <p:nvPicPr>
          <p:cNvPr id="92164" name="Picture 4" descr="10_18Figure-L">
            <a:extLst>
              <a:ext uri="{FF2B5EF4-FFF2-40B4-BE49-F238E27FC236}">
                <a16:creationId xmlns:a16="http://schemas.microsoft.com/office/drawing/2014/main" id="{A1B23DE4-C573-885E-D225-576F81A54FE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83"/>
          <a:stretch>
            <a:fillRect/>
          </a:stretch>
        </p:blipFill>
        <p:spPr bwMode="auto">
          <a:xfrm>
            <a:off x="5508625" y="1123950"/>
            <a:ext cx="3557588" cy="5535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10" name="Rectangle 2">
            <a:extLst>
              <a:ext uri="{FF2B5EF4-FFF2-40B4-BE49-F238E27FC236}">
                <a16:creationId xmlns:a16="http://schemas.microsoft.com/office/drawing/2014/main" id="{1FDC98CA-83CB-3440-96A9-814495740855}"/>
              </a:ext>
            </a:extLst>
          </p:cNvPr>
          <p:cNvSpPr>
            <a:spLocks noGrp="1" noChangeArrowheads="1"/>
          </p:cNvSpPr>
          <p:nvPr>
            <p:ph type="title"/>
          </p:nvPr>
        </p:nvSpPr>
        <p:spPr>
          <a:xfrm>
            <a:off x="468313" y="0"/>
            <a:ext cx="8229600" cy="908050"/>
          </a:xfrm>
        </p:spPr>
        <p:txBody>
          <a:bodyPr/>
          <a:lstStyle/>
          <a:p>
            <a:pPr eaLnBrk="1" hangingPunct="1"/>
            <a:r>
              <a:rPr lang="en-US" altLang="en-US" b="1">
                <a:solidFill>
                  <a:srgbClr val="0000FF"/>
                </a:solidFill>
              </a:rPr>
              <a:t>6- Translesional DNA synthesis</a:t>
            </a:r>
          </a:p>
        </p:txBody>
      </p:sp>
      <p:sp>
        <p:nvSpPr>
          <p:cNvPr id="94211" name="Content Placeholder 1">
            <a:extLst>
              <a:ext uri="{FF2B5EF4-FFF2-40B4-BE49-F238E27FC236}">
                <a16:creationId xmlns:a16="http://schemas.microsoft.com/office/drawing/2014/main" id="{261EC86F-CC6C-F4DB-D6F8-C78A93403F59}"/>
              </a:ext>
            </a:extLst>
          </p:cNvPr>
          <p:cNvSpPr>
            <a:spLocks noGrp="1"/>
          </p:cNvSpPr>
          <p:nvPr>
            <p:ph idx="1"/>
          </p:nvPr>
        </p:nvSpPr>
        <p:spPr>
          <a:xfrm>
            <a:off x="250825" y="908050"/>
            <a:ext cx="8569325" cy="5834063"/>
          </a:xfrm>
        </p:spPr>
        <p:txBody>
          <a:bodyPr/>
          <a:lstStyle/>
          <a:p>
            <a:r>
              <a:rPr lang="en-US" altLang="en-US" sz="2400"/>
              <a:t>Translesion synthesis is catalyzed by a specialized class of DNA polymerases that synthesize DNA directly across the site of the damage.</a:t>
            </a:r>
          </a:p>
          <a:p>
            <a:r>
              <a:rPr lang="en-US" altLang="en-US" sz="2400"/>
              <a:t>In </a:t>
            </a:r>
            <a:r>
              <a:rPr lang="en-US" altLang="en-US" sz="2400" i="1"/>
              <a:t>E. coli</a:t>
            </a:r>
            <a:r>
              <a:rPr lang="en-US" altLang="en-US" sz="2400"/>
              <a:t>, </a:t>
            </a:r>
            <a:r>
              <a:rPr lang="en-US" altLang="en-US" sz="2400" b="1">
                <a:solidFill>
                  <a:srgbClr val="C00000"/>
                </a:solidFill>
              </a:rPr>
              <a:t>DNA Pol IV </a:t>
            </a:r>
            <a:r>
              <a:rPr lang="en-US" altLang="en-US" sz="2400"/>
              <a:t>(</a:t>
            </a:r>
            <a:r>
              <a:rPr lang="en-US" altLang="en-US" sz="2400" b="1"/>
              <a:t>DinB</a:t>
            </a:r>
            <a:r>
              <a:rPr lang="en-US" altLang="en-US" sz="2400"/>
              <a:t>) or </a:t>
            </a:r>
            <a:r>
              <a:rPr lang="en-US" altLang="en-US" sz="2400" b="1">
                <a:solidFill>
                  <a:srgbClr val="C00000"/>
                </a:solidFill>
              </a:rPr>
              <a:t>DNA Pol V </a:t>
            </a:r>
            <a:r>
              <a:rPr lang="en-US" altLang="en-US" sz="2400"/>
              <a:t>(</a:t>
            </a:r>
            <a:r>
              <a:rPr lang="en-US" altLang="en-US" sz="2400" b="1"/>
              <a:t>a complex of the proteins UmuC and</a:t>
            </a:r>
            <a:r>
              <a:rPr lang="en-US" altLang="en-US" sz="2400"/>
              <a:t> </a:t>
            </a:r>
            <a:r>
              <a:rPr lang="en-US" altLang="en-US" sz="2400" b="1"/>
              <a:t>UmuD</a:t>
            </a:r>
            <a:r>
              <a:rPr lang="en-US" altLang="en-US" sz="2400"/>
              <a:t>`) performs translesion synthesis. </a:t>
            </a:r>
          </a:p>
          <a:p>
            <a:r>
              <a:rPr lang="en-US" altLang="en-US" sz="2400" b="1"/>
              <a:t>DinB</a:t>
            </a:r>
            <a:r>
              <a:rPr lang="en-US" altLang="en-US" sz="2400"/>
              <a:t> and </a:t>
            </a:r>
            <a:r>
              <a:rPr lang="en-US" altLang="en-US" sz="2400" b="1"/>
              <a:t>UmuC</a:t>
            </a:r>
            <a:r>
              <a:rPr lang="en-US" altLang="en-US" sz="2400"/>
              <a:t> are members of a distinct family of DNA polymerases found in many organisms known as the </a:t>
            </a:r>
            <a:r>
              <a:rPr lang="en-US" altLang="en-US" sz="2400" b="1">
                <a:solidFill>
                  <a:srgbClr val="C00000"/>
                </a:solidFill>
              </a:rPr>
              <a:t>Y family of DNA polymerases </a:t>
            </a:r>
          </a:p>
          <a:p>
            <a:r>
              <a:rPr lang="en-US" altLang="en-US" sz="2400"/>
              <a:t>There are </a:t>
            </a:r>
            <a:r>
              <a:rPr lang="en-US" altLang="en-US" sz="2400" b="1"/>
              <a:t>five translesion polymerases </a:t>
            </a:r>
            <a:r>
              <a:rPr lang="en-US" altLang="en-US" sz="2400"/>
              <a:t>known in </a:t>
            </a:r>
            <a:r>
              <a:rPr lang="en-US" altLang="en-US" sz="2400" b="1"/>
              <a:t>humans</a:t>
            </a:r>
            <a:r>
              <a:rPr lang="en-US" altLang="en-US" sz="2400"/>
              <a:t>, </a:t>
            </a:r>
            <a:r>
              <a:rPr lang="en-US" altLang="en-US" sz="2400" b="1"/>
              <a:t>four of which belong to the Y family.</a:t>
            </a:r>
          </a:p>
          <a:p>
            <a:r>
              <a:rPr lang="en-US" altLang="en-US" sz="2000" b="1">
                <a:solidFill>
                  <a:srgbClr val="C00000"/>
                </a:solidFill>
              </a:rPr>
              <a:t>Y-Family DNA polymerases: </a:t>
            </a:r>
            <a:r>
              <a:rPr lang="en-US" altLang="en-US" sz="2000">
                <a:solidFill>
                  <a:srgbClr val="C00000"/>
                </a:solidFill>
              </a:rPr>
              <a:t>specialize in translesion synthesis, bypassing damaged bases that would otherwise block the normal progression of replication forks. Y-Family polymerases are also characterized by a low catalytic efficiency, a low processivity, and a low fidelity on normal DNA. </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6258" name="Picture 4" descr="fg09-22">
            <a:extLst>
              <a:ext uri="{FF2B5EF4-FFF2-40B4-BE49-F238E27FC236}">
                <a16:creationId xmlns:a16="http://schemas.microsoft.com/office/drawing/2014/main" id="{5117BFE9-D863-5AC5-0DF3-FE587D782565}"/>
              </a:ext>
            </a:extLst>
          </p:cNvPr>
          <p:cNvPicPr>
            <a:picLocks noChangeAspect="1" noChangeArrowheads="1"/>
          </p:cNvPicPr>
          <p:nvPr>
            <p:ph/>
          </p:nvPr>
        </p:nvPicPr>
        <p:blipFill>
          <a:blip r:embed="rId2">
            <a:lum bright="-6000" contrast="6000"/>
            <a:extLst>
              <a:ext uri="{28A0092B-C50C-407E-A947-70E740481C1C}">
                <a14:useLocalDpi xmlns:a14="http://schemas.microsoft.com/office/drawing/2010/main" val="0"/>
              </a:ext>
            </a:extLst>
          </a:blip>
          <a:srcRect b="1573"/>
          <a:stretch>
            <a:fillRect/>
          </a:stretch>
        </p:blipFill>
        <p:spPr>
          <a:xfrm>
            <a:off x="755650" y="874713"/>
            <a:ext cx="5529263" cy="5759450"/>
          </a:xfrm>
          <a:noFill/>
        </p:spPr>
      </p:pic>
      <p:sp>
        <p:nvSpPr>
          <p:cNvPr id="53251" name="Text Box 6">
            <a:extLst>
              <a:ext uri="{FF2B5EF4-FFF2-40B4-BE49-F238E27FC236}">
                <a16:creationId xmlns:a16="http://schemas.microsoft.com/office/drawing/2014/main" id="{88C150C2-56BA-6469-E8B7-7CDF91D98F3A}"/>
              </a:ext>
            </a:extLst>
          </p:cNvPr>
          <p:cNvSpPr txBox="1">
            <a:spLocks noChangeArrowheads="1"/>
          </p:cNvSpPr>
          <p:nvPr/>
        </p:nvSpPr>
        <p:spPr bwMode="auto">
          <a:xfrm>
            <a:off x="428625" y="0"/>
            <a:ext cx="8064500" cy="701675"/>
          </a:xfrm>
          <a:prstGeom prst="rect">
            <a:avLst/>
          </a:prstGeom>
          <a:solidFill>
            <a:schemeClr val="accent3">
              <a:lumMod val="20000"/>
              <a:lumOff val="80000"/>
            </a:schemeClr>
          </a:solidFill>
          <a:ln>
            <a:noFill/>
          </a:ln>
        </p:spPr>
        <p:txBody>
          <a:bodyPr>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zh-TW" sz="2000" b="1" dirty="0" err="1">
                <a:solidFill>
                  <a:srgbClr val="0000FF"/>
                </a:solidFill>
              </a:rPr>
              <a:t>Translesion</a:t>
            </a:r>
            <a:r>
              <a:rPr lang="en-US" altLang="zh-TW" sz="2000" b="1" dirty="0">
                <a:solidFill>
                  <a:srgbClr val="0000FF"/>
                </a:solidFill>
              </a:rPr>
              <a:t> DNA synthesis</a:t>
            </a:r>
            <a:r>
              <a:rPr lang="en-US" altLang="zh-TW" sz="2000" dirty="0"/>
              <a:t>: although are template dependent, the synthesis in a manner that is independent of base pairing.</a:t>
            </a:r>
          </a:p>
        </p:txBody>
      </p:sp>
      <p:sp>
        <p:nvSpPr>
          <p:cNvPr id="53252" name="Text Box 7">
            <a:extLst>
              <a:ext uri="{FF2B5EF4-FFF2-40B4-BE49-F238E27FC236}">
                <a16:creationId xmlns:a16="http://schemas.microsoft.com/office/drawing/2014/main" id="{232169BA-E8DC-AD86-4440-843ED8929968}"/>
              </a:ext>
            </a:extLst>
          </p:cNvPr>
          <p:cNvSpPr txBox="1">
            <a:spLocks noChangeArrowheads="1"/>
          </p:cNvSpPr>
          <p:nvPr/>
        </p:nvSpPr>
        <p:spPr bwMode="auto">
          <a:xfrm>
            <a:off x="3579813" y="996950"/>
            <a:ext cx="5086350" cy="366713"/>
          </a:xfrm>
          <a:prstGeom prst="rect">
            <a:avLst/>
          </a:prstGeom>
          <a:solidFill>
            <a:schemeClr val="accent6">
              <a:lumMod val="20000"/>
              <a:lumOff val="80000"/>
            </a:schemeClr>
          </a:solidFill>
          <a:ln>
            <a:noFill/>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zh-TW"/>
              <a:t>obstacles to progression of the DNA polymerase</a:t>
            </a:r>
          </a:p>
        </p:txBody>
      </p:sp>
      <p:sp>
        <p:nvSpPr>
          <p:cNvPr id="53253" name="Text Box 8">
            <a:extLst>
              <a:ext uri="{FF2B5EF4-FFF2-40B4-BE49-F238E27FC236}">
                <a16:creationId xmlns:a16="http://schemas.microsoft.com/office/drawing/2014/main" id="{9B79E654-3908-C153-979B-C369AE513067}"/>
              </a:ext>
            </a:extLst>
          </p:cNvPr>
          <p:cNvSpPr txBox="1">
            <a:spLocks noChangeArrowheads="1"/>
          </p:cNvSpPr>
          <p:nvPr/>
        </p:nvSpPr>
        <p:spPr bwMode="auto">
          <a:xfrm>
            <a:off x="4984750" y="2368550"/>
            <a:ext cx="3651250" cy="366713"/>
          </a:xfrm>
          <a:prstGeom prst="rect">
            <a:avLst/>
          </a:prstGeom>
          <a:solidFill>
            <a:schemeClr val="accent6">
              <a:lumMod val="20000"/>
              <a:lumOff val="80000"/>
            </a:schemeClr>
          </a:solidFill>
          <a:ln>
            <a:noFill/>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zh-TW" dirty="0"/>
              <a:t>Complex of proteins </a:t>
            </a:r>
            <a:r>
              <a:rPr lang="en-US" altLang="zh-TW" dirty="0" err="1"/>
              <a:t>UmuC</a:t>
            </a:r>
            <a:r>
              <a:rPr lang="en-US" altLang="zh-TW" dirty="0"/>
              <a:t> and D’</a:t>
            </a:r>
          </a:p>
        </p:txBody>
      </p:sp>
      <p:sp>
        <p:nvSpPr>
          <p:cNvPr id="53254" name="Text Box 9">
            <a:extLst>
              <a:ext uri="{FF2B5EF4-FFF2-40B4-BE49-F238E27FC236}">
                <a16:creationId xmlns:a16="http://schemas.microsoft.com/office/drawing/2014/main" id="{BB37E27A-9B48-C826-8DF2-C6B470CF64E6}"/>
              </a:ext>
            </a:extLst>
          </p:cNvPr>
          <p:cNvSpPr txBox="1">
            <a:spLocks noChangeArrowheads="1"/>
          </p:cNvSpPr>
          <p:nvPr/>
        </p:nvSpPr>
        <p:spPr bwMode="auto">
          <a:xfrm>
            <a:off x="5797550" y="3141663"/>
            <a:ext cx="3206750" cy="366712"/>
          </a:xfrm>
          <a:prstGeom prst="rect">
            <a:avLst/>
          </a:prstGeom>
          <a:solidFill>
            <a:schemeClr val="accent6">
              <a:lumMod val="20000"/>
              <a:lumOff val="80000"/>
            </a:schemeClr>
          </a:solidFill>
          <a:ln>
            <a:noFill/>
          </a:ln>
        </p:spPr>
        <p:txBody>
          <a:bodyPr wrap="none">
            <a:spAutoFit/>
          </a:bodyPr>
          <a:lstStyle>
            <a:lvl1pPr eaLnBrk="0" hangingPunct="0">
              <a:defRPr>
                <a:solidFill>
                  <a:schemeClr val="tx1"/>
                </a:solidFill>
                <a:latin typeface="Arial" panose="020B0604020202020204" pitchFamily="34" charset="0"/>
                <a:cs typeface="Arial" panose="020B0604020202020204" pitchFamily="34" charset="0"/>
              </a:defRPr>
            </a:lvl1pPr>
            <a:lvl2pPr marL="742950" indent="-285750" eaLnBrk="0" hangingPunct="0">
              <a:defRPr>
                <a:solidFill>
                  <a:schemeClr val="tx1"/>
                </a:solidFill>
                <a:latin typeface="Arial" panose="020B0604020202020204" pitchFamily="34" charset="0"/>
                <a:cs typeface="Arial" panose="020B0604020202020204" pitchFamily="34" charset="0"/>
              </a:defRPr>
            </a:lvl2pPr>
            <a:lvl3pPr marL="1143000" indent="-228600" eaLnBrk="0" hangingPunct="0">
              <a:defRPr>
                <a:solidFill>
                  <a:schemeClr val="tx1"/>
                </a:solidFill>
                <a:latin typeface="Arial" panose="020B0604020202020204" pitchFamily="34" charset="0"/>
                <a:cs typeface="Arial" panose="020B0604020202020204" pitchFamily="34" charset="0"/>
              </a:defRPr>
            </a:lvl3pPr>
            <a:lvl4pPr marL="1600200" indent="-228600" eaLnBrk="0" hangingPunct="0">
              <a:defRPr>
                <a:solidFill>
                  <a:schemeClr val="tx1"/>
                </a:solidFill>
                <a:latin typeface="Arial" panose="020B0604020202020204" pitchFamily="34" charset="0"/>
                <a:cs typeface="Arial" panose="020B0604020202020204" pitchFamily="34" charset="0"/>
              </a:defRPr>
            </a:lvl4pPr>
            <a:lvl5pPr marL="2057400" indent="-228600" eaLnBrk="0" hangingPunct="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eaLnBrk="1" hangingPunct="1">
              <a:defRPr/>
            </a:pPr>
            <a:r>
              <a:rPr lang="en-US" altLang="zh-TW"/>
              <a:t>(Y-family of DNA polymerase)</a:t>
            </a:r>
          </a:p>
        </p:txBody>
      </p:sp>
      <p:sp>
        <p:nvSpPr>
          <p:cNvPr id="96263" name="Text Box 10">
            <a:extLst>
              <a:ext uri="{FF2B5EF4-FFF2-40B4-BE49-F238E27FC236}">
                <a16:creationId xmlns:a16="http://schemas.microsoft.com/office/drawing/2014/main" id="{AEF3133D-4015-6FC3-FB9A-1AB6F4E0BD3A}"/>
              </a:ext>
            </a:extLst>
          </p:cNvPr>
          <p:cNvSpPr txBox="1">
            <a:spLocks noChangeArrowheads="1"/>
          </p:cNvSpPr>
          <p:nvPr/>
        </p:nvSpPr>
        <p:spPr bwMode="auto">
          <a:xfrm>
            <a:off x="2916238" y="1484313"/>
            <a:ext cx="13271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zh-TW" sz="1800">
                <a:latin typeface="Arial" panose="020B0604020202020204" pitchFamily="34" charset="0"/>
              </a:rPr>
              <a:t>(or AP site)</a:t>
            </a:r>
          </a:p>
        </p:txBody>
      </p:sp>
      <p:sp>
        <p:nvSpPr>
          <p:cNvPr id="96264" name="Line 11">
            <a:extLst>
              <a:ext uri="{FF2B5EF4-FFF2-40B4-BE49-F238E27FC236}">
                <a16:creationId xmlns:a16="http://schemas.microsoft.com/office/drawing/2014/main" id="{7002E045-DA69-4408-3D57-A740B2CAC11E}"/>
              </a:ext>
            </a:extLst>
          </p:cNvPr>
          <p:cNvSpPr>
            <a:spLocks noChangeShapeType="1"/>
          </p:cNvSpPr>
          <p:nvPr/>
        </p:nvSpPr>
        <p:spPr bwMode="auto">
          <a:xfrm>
            <a:off x="7524750" y="2781300"/>
            <a:ext cx="0" cy="360363"/>
          </a:xfrm>
          <a:prstGeom prst="line">
            <a:avLst/>
          </a:prstGeom>
          <a:noFill/>
          <a:ln w="9525">
            <a:solidFill>
              <a:schemeClr val="tx1"/>
            </a:solidFill>
            <a:round/>
            <a:headEnd/>
            <a:tailEnd type="triangle" w="med" len="med"/>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3">
            <a:extLst>
              <a:ext uri="{FF2B5EF4-FFF2-40B4-BE49-F238E27FC236}">
                <a16:creationId xmlns:a16="http://schemas.microsoft.com/office/drawing/2014/main" id="{2FCFBB86-7F1B-D3B7-7109-264BEDC68C56}"/>
              </a:ext>
            </a:extLst>
          </p:cNvPr>
          <p:cNvSpPr>
            <a:spLocks noChangeArrowheads="1"/>
          </p:cNvSpPr>
          <p:nvPr>
            <p:ph type="ctrTitle" idx="4294967295"/>
          </p:nvPr>
        </p:nvSpPr>
        <p:spPr>
          <a:xfrm>
            <a:off x="20638" y="0"/>
            <a:ext cx="6016625" cy="304800"/>
          </a:xfrm>
          <a:extLst>
            <a:ext uri="{91240B29-F687-4F45-9708-019B960494DF}">
              <a14:hiddenLine xmlns:a14="http://schemas.microsoft.com/office/drawing/2010/main" w="3175">
                <a:solidFill>
                  <a:srgbClr val="000000"/>
                </a:solidFill>
                <a:miter lim="800000"/>
                <a:headEnd/>
                <a:tailEnd/>
              </a14:hiddenLine>
            </a:ext>
          </a:extLst>
        </p:spPr>
        <p:txBody>
          <a:bodyPr/>
          <a:lstStyle/>
          <a:p>
            <a:pPr algn="l" eaLnBrk="1" hangingPunct="1"/>
            <a:r>
              <a:rPr lang="en-US" altLang="en-US" sz="1200">
                <a:latin typeface="Arial" panose="020B0604020202020204" pitchFamily="34" charset="0"/>
              </a:rPr>
              <a:t>Box 10-6</a:t>
            </a:r>
          </a:p>
        </p:txBody>
      </p:sp>
      <p:pic>
        <p:nvPicPr>
          <p:cNvPr id="97283" name="Picture 3" descr="10_06Box01-L">
            <a:extLst>
              <a:ext uri="{FF2B5EF4-FFF2-40B4-BE49-F238E27FC236}">
                <a16:creationId xmlns:a16="http://schemas.microsoft.com/office/drawing/2014/main" id="{DFAD2C26-EC2C-A851-DB81-54E5C99D828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483"/>
          <a:stretch>
            <a:fillRect/>
          </a:stretch>
        </p:blipFill>
        <p:spPr bwMode="auto">
          <a:xfrm>
            <a:off x="1606550" y="333375"/>
            <a:ext cx="7267575" cy="6421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4A79CFC7-1C39-359E-5C53-A7DA9EAEEA90}"/>
              </a:ext>
            </a:extLst>
          </p:cNvPr>
          <p:cNvSpPr/>
          <p:nvPr/>
        </p:nvSpPr>
        <p:spPr>
          <a:xfrm>
            <a:off x="25400" y="476250"/>
            <a:ext cx="3163888" cy="369888"/>
          </a:xfrm>
          <a:prstGeom prst="rect">
            <a:avLst/>
          </a:prstGeom>
          <a:solidFill>
            <a:schemeClr val="accent6">
              <a:lumMod val="20000"/>
              <a:lumOff val="80000"/>
            </a:schemeClr>
          </a:solidFill>
        </p:spPr>
        <p:txBody>
          <a:bodyPr wrap="none">
            <a:spAutoFit/>
          </a:bodyPr>
          <a:lstStyle/>
          <a:p>
            <a:pPr eaLnBrk="1" hangingPunct="1">
              <a:defRPr/>
            </a:pPr>
            <a:r>
              <a:rPr lang="en-US" b="1" dirty="0">
                <a:solidFill>
                  <a:srgbClr val="C00000"/>
                </a:solidFill>
                <a:latin typeface="Arial" charset="0"/>
                <a:cs typeface="Arial" charset="0"/>
              </a:rPr>
              <a:t>Y-Family DNA polymerases</a:t>
            </a:r>
            <a:endParaRPr lang="en-US" dirty="0">
              <a:latin typeface="Arial" charset="0"/>
              <a:cs typeface="Arial" charset="0"/>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Content Placeholder 2">
            <a:extLst>
              <a:ext uri="{FF2B5EF4-FFF2-40B4-BE49-F238E27FC236}">
                <a16:creationId xmlns:a16="http://schemas.microsoft.com/office/drawing/2014/main" id="{EDE0513D-2939-73C7-425A-AB70FEEEDE73}"/>
              </a:ext>
            </a:extLst>
          </p:cNvPr>
          <p:cNvSpPr>
            <a:spLocks noGrp="1"/>
          </p:cNvSpPr>
          <p:nvPr>
            <p:ph idx="1"/>
          </p:nvPr>
        </p:nvSpPr>
        <p:spPr>
          <a:xfrm>
            <a:off x="107950" y="188913"/>
            <a:ext cx="8785225" cy="6669087"/>
          </a:xfrm>
        </p:spPr>
        <p:txBody>
          <a:bodyPr/>
          <a:lstStyle/>
          <a:p>
            <a:r>
              <a:rPr lang="en-US" altLang="en-US" sz="2400"/>
              <a:t>In E. coli, the </a:t>
            </a:r>
            <a:r>
              <a:rPr lang="en-US" altLang="en-US" sz="2400" b="1">
                <a:solidFill>
                  <a:srgbClr val="C00000"/>
                </a:solidFill>
              </a:rPr>
              <a:t>translesion</a:t>
            </a:r>
            <a:r>
              <a:rPr lang="en-US" altLang="en-US" sz="2400">
                <a:solidFill>
                  <a:srgbClr val="C00000"/>
                </a:solidFill>
              </a:rPr>
              <a:t> </a:t>
            </a:r>
            <a:r>
              <a:rPr lang="en-US" altLang="en-US" sz="2400"/>
              <a:t>polymerases are not present under normal circumstances.</a:t>
            </a:r>
          </a:p>
          <a:p>
            <a:r>
              <a:rPr lang="en-US" altLang="en-US" sz="2400"/>
              <a:t>Rather, their synthesis is induced only in response to DNA damage. </a:t>
            </a:r>
          </a:p>
          <a:p>
            <a:r>
              <a:rPr lang="en-US" altLang="en-US" sz="2400"/>
              <a:t>Thus, the genes encoding the translesion polymerases are expressed as part of a pathway known as the </a:t>
            </a:r>
            <a:r>
              <a:rPr lang="en-US" altLang="en-US" sz="2400" b="1">
                <a:solidFill>
                  <a:srgbClr val="C00000"/>
                </a:solidFill>
              </a:rPr>
              <a:t>SOS response</a:t>
            </a:r>
            <a:r>
              <a:rPr lang="en-US" altLang="en-US" sz="2400"/>
              <a:t>. </a:t>
            </a:r>
          </a:p>
          <a:p>
            <a:r>
              <a:rPr lang="en-US" altLang="en-US" sz="2400"/>
              <a:t>Damage leads to the proteolytic destruction of a transcriptional repressor (the </a:t>
            </a:r>
            <a:r>
              <a:rPr lang="en-US" altLang="en-US" sz="2400" b="1">
                <a:solidFill>
                  <a:srgbClr val="C00000"/>
                </a:solidFill>
              </a:rPr>
              <a:t>LexA repressor</a:t>
            </a:r>
            <a:r>
              <a:rPr lang="en-US" altLang="en-US" sz="2400"/>
              <a:t>) that controls expression of genes involved in the </a:t>
            </a:r>
            <a:r>
              <a:rPr lang="en-US" altLang="en-US" sz="2400" b="1"/>
              <a:t>SOS response, including those for </a:t>
            </a:r>
            <a:r>
              <a:rPr lang="en-US" altLang="en-US" sz="2400" b="1">
                <a:solidFill>
                  <a:srgbClr val="C00000"/>
                </a:solidFill>
              </a:rPr>
              <a:t>DinB</a:t>
            </a:r>
            <a:r>
              <a:rPr lang="en-US" altLang="en-US" sz="2400" b="1"/>
              <a:t>, </a:t>
            </a:r>
            <a:r>
              <a:rPr lang="en-US" altLang="en-US" sz="2400" b="1">
                <a:solidFill>
                  <a:srgbClr val="C00000"/>
                </a:solidFill>
              </a:rPr>
              <a:t>UmuC</a:t>
            </a:r>
            <a:r>
              <a:rPr lang="en-US" altLang="en-US" sz="2400" b="1"/>
              <a:t>, and </a:t>
            </a:r>
            <a:r>
              <a:rPr lang="en-US" altLang="en-US" sz="2400" b="1">
                <a:solidFill>
                  <a:srgbClr val="C00000"/>
                </a:solidFill>
              </a:rPr>
              <a:t>UmuD</a:t>
            </a:r>
            <a:r>
              <a:rPr lang="en-US" altLang="en-US" sz="2400" b="1"/>
              <a:t>, the inactive precursor for UmuD`. </a:t>
            </a:r>
          </a:p>
          <a:p>
            <a:r>
              <a:rPr lang="en-US" altLang="en-US" sz="2400"/>
              <a:t>Interestingly, the same pathway is also responsible for the proteolytic conversion of </a:t>
            </a:r>
            <a:r>
              <a:rPr lang="en-US" altLang="en-US" sz="2400" u="sng"/>
              <a:t>UmuD to UmuD`. </a:t>
            </a:r>
          </a:p>
          <a:p>
            <a:r>
              <a:rPr lang="en-US" altLang="en-US" sz="2400"/>
              <a:t>Cleavage of both </a:t>
            </a:r>
            <a:r>
              <a:rPr lang="en-US" altLang="en-US" sz="2400" b="1">
                <a:solidFill>
                  <a:srgbClr val="C00000"/>
                </a:solidFill>
              </a:rPr>
              <a:t>LexA and UmuD </a:t>
            </a:r>
            <a:r>
              <a:rPr lang="en-US" altLang="en-US" sz="2400"/>
              <a:t>is stimulated by a protein called </a:t>
            </a:r>
            <a:r>
              <a:rPr lang="en-US" altLang="en-US" sz="2400" b="1">
                <a:solidFill>
                  <a:srgbClr val="C00000"/>
                </a:solidFill>
              </a:rPr>
              <a:t>RecA</a:t>
            </a:r>
            <a:r>
              <a:rPr lang="en-US" altLang="en-US" sz="2400"/>
              <a:t>, which is activated by single-stranded DNA resulting from DNA damage. </a:t>
            </a:r>
          </a:p>
          <a:p>
            <a:r>
              <a:rPr lang="en-US" altLang="en-US" sz="2800">
                <a:solidFill>
                  <a:srgbClr val="0000FF"/>
                </a:solidFill>
              </a:rPr>
              <a:t>RecA is a dual-function protein that is also involved in DNA recombination</a:t>
            </a:r>
            <a:r>
              <a:rPr lang="en-US" altLang="en-US" sz="2800"/>
              <a:t>.</a:t>
            </a:r>
          </a:p>
          <a:p>
            <a:endParaRPr lang="en-US" altLang="en-US" sz="2400"/>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54" name="Rectangle 2">
            <a:extLst>
              <a:ext uri="{FF2B5EF4-FFF2-40B4-BE49-F238E27FC236}">
                <a16:creationId xmlns:a16="http://schemas.microsoft.com/office/drawing/2014/main" id="{5E8A4669-F263-8CD1-208C-0B7BB5BA4EED}"/>
              </a:ext>
            </a:extLst>
          </p:cNvPr>
          <p:cNvSpPr>
            <a:spLocks noGrp="1"/>
          </p:cNvSpPr>
          <p:nvPr>
            <p:ph type="title"/>
          </p:nvPr>
        </p:nvSpPr>
        <p:spPr/>
        <p:txBody>
          <a:bodyPr/>
          <a:lstStyle/>
          <a:p>
            <a:r>
              <a:rPr lang="en-US" altLang="en-US" sz="2600" b="1">
                <a:solidFill>
                  <a:srgbClr val="C00000"/>
                </a:solidFill>
              </a:rPr>
              <a:t>How a translesion polymerase gains access to the stalled replication machinery at the site of DNA damage?</a:t>
            </a:r>
          </a:p>
        </p:txBody>
      </p:sp>
      <p:sp>
        <p:nvSpPr>
          <p:cNvPr id="100355" name="Rectangle 3">
            <a:extLst>
              <a:ext uri="{FF2B5EF4-FFF2-40B4-BE49-F238E27FC236}">
                <a16:creationId xmlns:a16="http://schemas.microsoft.com/office/drawing/2014/main" id="{C9C463D7-279A-0A12-3751-317DBEF2E8D8}"/>
              </a:ext>
            </a:extLst>
          </p:cNvPr>
          <p:cNvSpPr>
            <a:spLocks noGrp="1"/>
          </p:cNvSpPr>
          <p:nvPr>
            <p:ph type="body" idx="1"/>
          </p:nvPr>
        </p:nvSpPr>
        <p:spPr/>
        <p:txBody>
          <a:bodyPr/>
          <a:lstStyle/>
          <a:p>
            <a:r>
              <a:rPr lang="en-US" altLang="en-US" sz="2800"/>
              <a:t>In mammalian cells, </a:t>
            </a:r>
            <a:r>
              <a:rPr lang="en-US" altLang="en-US" sz="2800">
                <a:solidFill>
                  <a:schemeClr val="hlink"/>
                </a:solidFill>
              </a:rPr>
              <a:t>entry into the translesion repair pathway is triggered by chemical modification</a:t>
            </a:r>
            <a:r>
              <a:rPr lang="en-US" altLang="en-US" sz="2800"/>
              <a:t> of the sliding clamp (attachment of </a:t>
            </a:r>
            <a:r>
              <a:rPr lang="en-US" altLang="en-US" sz="2800" b="1">
                <a:solidFill>
                  <a:srgbClr val="C00000"/>
                </a:solidFill>
              </a:rPr>
              <a:t>ubiquitin</a:t>
            </a:r>
            <a:r>
              <a:rPr lang="en-US" altLang="en-US" sz="2800"/>
              <a:t>).</a:t>
            </a:r>
          </a:p>
          <a:p>
            <a:r>
              <a:rPr lang="en-US" altLang="en-US" sz="2800"/>
              <a:t> Once </a:t>
            </a:r>
            <a:r>
              <a:rPr lang="en-US" altLang="en-US" sz="2800">
                <a:solidFill>
                  <a:schemeClr val="hlink"/>
                </a:solidFill>
              </a:rPr>
              <a:t>ubiquitinated, the sliding clamp recruits  translesion polymerase through ubiquitin</a:t>
            </a:r>
            <a:r>
              <a:rPr lang="en-US" altLang="en-US" sz="2800"/>
              <a:t>.</a:t>
            </a:r>
          </a:p>
          <a:p>
            <a:r>
              <a:rPr lang="en-US" altLang="en-US" sz="2800"/>
              <a:t>The translesion polymerase somehow </a:t>
            </a:r>
            <a:r>
              <a:rPr lang="en-US" altLang="en-US" sz="2800">
                <a:solidFill>
                  <a:schemeClr val="hlink"/>
                </a:solidFill>
              </a:rPr>
              <a:t>displaces the replicative polymerase from the 3’ end of the growing strand and extends it across the site of damage.</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3">
            <a:extLst>
              <a:ext uri="{FF2B5EF4-FFF2-40B4-BE49-F238E27FC236}">
                <a16:creationId xmlns:a16="http://schemas.microsoft.com/office/drawing/2014/main" id="{52AA4984-975A-BDF8-5D12-E5A34BB1D07E}"/>
              </a:ext>
            </a:extLst>
          </p:cNvPr>
          <p:cNvSpPr>
            <a:spLocks noGrp="1" noChangeArrowheads="1"/>
          </p:cNvSpPr>
          <p:nvPr>
            <p:ph type="ctrTitle" idx="4294967295"/>
          </p:nvPr>
        </p:nvSpPr>
        <p:spPr>
          <a:xfrm>
            <a:off x="0" y="115888"/>
            <a:ext cx="8980488" cy="720725"/>
          </a:xfrm>
          <a:solidFill>
            <a:schemeClr val="accent6">
              <a:lumMod val="20000"/>
              <a:lumOff val="80000"/>
            </a:schemeClr>
          </a:solidFill>
        </p:spPr>
        <p:txBody>
          <a:bodyPr/>
          <a:lstStyle/>
          <a:p>
            <a:pPr algn="l">
              <a:defRPr/>
            </a:pPr>
            <a:br>
              <a:rPr lang="en-US" sz="1800" dirty="0"/>
            </a:br>
            <a:r>
              <a:rPr lang="en-US" sz="2000" b="1" dirty="0">
                <a:solidFill>
                  <a:srgbClr val="C00000"/>
                </a:solidFill>
                <a:latin typeface="Arial" pitchFamily="34" charset="0"/>
                <a:cs typeface="Arial" pitchFamily="34" charset="0"/>
              </a:rPr>
              <a:t>Alternative models for </a:t>
            </a:r>
            <a:r>
              <a:rPr lang="en-US" sz="2000" b="1" dirty="0" err="1">
                <a:solidFill>
                  <a:srgbClr val="C00000"/>
                </a:solidFill>
                <a:latin typeface="Arial" pitchFamily="34" charset="0"/>
                <a:cs typeface="Arial" pitchFamily="34" charset="0"/>
              </a:rPr>
              <a:t>translesion</a:t>
            </a:r>
            <a:r>
              <a:rPr lang="en-US" sz="2000" b="1" dirty="0">
                <a:solidFill>
                  <a:srgbClr val="C00000"/>
                </a:solidFill>
                <a:latin typeface="Arial" pitchFamily="34" charset="0"/>
                <a:cs typeface="Arial" pitchFamily="34" charset="0"/>
              </a:rPr>
              <a:t> synthesis: </a:t>
            </a:r>
            <a:br>
              <a:rPr lang="en-US" sz="2000" dirty="0">
                <a:latin typeface="Arial" pitchFamily="34" charset="0"/>
                <a:cs typeface="Arial" pitchFamily="34" charset="0"/>
              </a:rPr>
            </a:br>
            <a:r>
              <a:rPr lang="en-US" sz="2000" b="1" dirty="0">
                <a:latin typeface="Arial" pitchFamily="34" charset="0"/>
                <a:cs typeface="Arial" pitchFamily="34" charset="0"/>
              </a:rPr>
              <a:t>a- </a:t>
            </a:r>
            <a:r>
              <a:rPr lang="en-US" sz="2000" b="1" dirty="0">
                <a:solidFill>
                  <a:srgbClr val="231F20"/>
                </a:solidFill>
                <a:latin typeface="Arial" pitchFamily="34" charset="0"/>
                <a:cs typeface="Arial" pitchFamily="34" charset="0"/>
              </a:rPr>
              <a:t>The polymerase-switching model	</a:t>
            </a:r>
            <a:r>
              <a:rPr lang="en-US" sz="2000" b="1" dirty="0">
                <a:latin typeface="Arial" pitchFamily="34" charset="0"/>
                <a:cs typeface="Arial" pitchFamily="34" charset="0"/>
              </a:rPr>
              <a:t>b- The gap-filling model</a:t>
            </a:r>
            <a:br>
              <a:rPr lang="en-US" sz="1600" dirty="0">
                <a:solidFill>
                  <a:srgbClr val="000000"/>
                </a:solidFill>
                <a:latin typeface="AdvOTa88ee647"/>
              </a:rPr>
            </a:br>
            <a:br>
              <a:rPr lang="en-US" sz="1200" dirty="0"/>
            </a:br>
            <a:endParaRPr lang="en-US" sz="1200" dirty="0">
              <a:latin typeface="Arial" charset="0"/>
            </a:endParaRPr>
          </a:p>
        </p:txBody>
      </p:sp>
      <p:pic>
        <p:nvPicPr>
          <p:cNvPr id="102403" name="Picture 4" descr="10_23Figure-L">
            <a:extLst>
              <a:ext uri="{FF2B5EF4-FFF2-40B4-BE49-F238E27FC236}">
                <a16:creationId xmlns:a16="http://schemas.microsoft.com/office/drawing/2014/main" id="{790BB557-FBBE-470D-A6EE-DC8258CD9DF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b="2859"/>
          <a:stretch>
            <a:fillRect/>
          </a:stretch>
        </p:blipFill>
        <p:spPr bwMode="auto">
          <a:xfrm>
            <a:off x="160338" y="942975"/>
            <a:ext cx="8820150" cy="578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50" name="Title 1">
            <a:extLst>
              <a:ext uri="{FF2B5EF4-FFF2-40B4-BE49-F238E27FC236}">
                <a16:creationId xmlns:a16="http://schemas.microsoft.com/office/drawing/2014/main" id="{436DAADC-B851-7E9D-CFEE-15A8B66ACAA7}"/>
              </a:ext>
            </a:extLst>
          </p:cNvPr>
          <p:cNvSpPr>
            <a:spLocks noGrp="1"/>
          </p:cNvSpPr>
          <p:nvPr>
            <p:ph type="title"/>
          </p:nvPr>
        </p:nvSpPr>
        <p:spPr>
          <a:xfrm>
            <a:off x="539750" y="2276475"/>
            <a:ext cx="8229600" cy="1143000"/>
          </a:xfrm>
        </p:spPr>
        <p:txBody>
          <a:bodyPr/>
          <a:lstStyle/>
          <a:p>
            <a:r>
              <a:rPr lang="en-US" altLang="en-US" b="1">
                <a:solidFill>
                  <a:srgbClr val="0000FF"/>
                </a:solidFill>
              </a:rPr>
              <a:t>END</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9693</TotalTime>
  <Words>2479</Words>
  <Application>Microsoft Macintosh PowerPoint</Application>
  <PresentationFormat>On-screen Show (4:3)</PresentationFormat>
  <Paragraphs>340</Paragraphs>
  <Slides>52</Slides>
  <Notes>45</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52</vt:i4>
      </vt:variant>
    </vt:vector>
  </HeadingPairs>
  <TitlesOfParts>
    <vt:vector size="62" baseType="lpstr">
      <vt:lpstr>Arial</vt:lpstr>
      <vt:lpstr>Calibri</vt:lpstr>
      <vt:lpstr>PMingLiU</vt:lpstr>
      <vt:lpstr>Wingdings</vt:lpstr>
      <vt:lpstr>Symbol</vt:lpstr>
      <vt:lpstr>AdvOTa88ee647</vt:lpstr>
      <vt:lpstr>Times</vt:lpstr>
      <vt:lpstr>ＭＳ Ｐゴシック</vt:lpstr>
      <vt:lpstr>Times New Roman</vt:lpstr>
      <vt:lpstr>Office Theme</vt:lpstr>
      <vt:lpstr>The Mutability &amp; Repair of DNA</vt:lpstr>
      <vt:lpstr>Introduction</vt:lpstr>
      <vt:lpstr>Topics</vt:lpstr>
      <vt:lpstr>Mutation</vt:lpstr>
      <vt:lpstr>Types of DNA errors  (Nature of Mutations)</vt:lpstr>
      <vt:lpstr>Types of DNA errors  (Nature of Mutations)</vt:lpstr>
      <vt:lpstr>Types of DNA errors  (Nature of Mutations)</vt:lpstr>
      <vt:lpstr>Types of DNA errors  (Nature of Mutations)</vt:lpstr>
      <vt:lpstr>Some replication errors escape proofreading</vt:lpstr>
      <vt:lpstr>Mismatch Repair System removes errors that escape proofreading</vt:lpstr>
      <vt:lpstr>PowerPoint Presentation</vt:lpstr>
      <vt:lpstr>How can MRS recognize which nucleotide is the mismatched one? </vt:lpstr>
      <vt:lpstr>Directionality in mismatch repair: Exonuclease removal of mismatched DNA</vt:lpstr>
      <vt:lpstr>Eukaryotic MRS</vt:lpstr>
      <vt:lpstr>PowerPoint Presentation</vt:lpstr>
      <vt:lpstr>Sources of errors</vt:lpstr>
      <vt:lpstr>Ames test for mutagens</vt:lpstr>
      <vt:lpstr>1. Spontaneous Damage A- damage caused by water (hydrolysis)</vt:lpstr>
      <vt:lpstr>PowerPoint Presentation</vt:lpstr>
      <vt:lpstr>2. Damage caused by environmental factors</vt:lpstr>
      <vt:lpstr>2. Damage caused by environmental factors  A- Alkylation</vt:lpstr>
      <vt:lpstr>PowerPoint Presentation</vt:lpstr>
      <vt:lpstr>2. Damage caused by environmental factors  B- Oxidation</vt:lpstr>
      <vt:lpstr>2. Damage caused by environmental factors  C- UV radiation</vt:lpstr>
      <vt:lpstr>2. Damage caused by environmental factors  D- gamma &amp; X-ray radiation</vt:lpstr>
      <vt:lpstr>Damage caused by base analogs</vt:lpstr>
      <vt:lpstr>PowerPoint Presentation</vt:lpstr>
      <vt:lpstr>Spontaneous Damage damage caused by intercalating agents</vt:lpstr>
      <vt:lpstr>DNA Repair</vt:lpstr>
      <vt:lpstr>PowerPoint Presentation</vt:lpstr>
      <vt:lpstr>1- Direct reversal of DNA damage</vt:lpstr>
      <vt:lpstr>1- Direct reversal of DNA damage</vt:lpstr>
      <vt:lpstr>2- Repair of hydrolysis damage base excision repair system</vt:lpstr>
      <vt:lpstr>Base excision pathway:  The uracil glycosylase reaction</vt:lpstr>
      <vt:lpstr>PowerPoint Presentation</vt:lpstr>
      <vt:lpstr>How can Glycosylase complex recognize abnormal base?</vt:lpstr>
      <vt:lpstr>Fail-safe glycosylase oxoG: A reapir</vt:lpstr>
      <vt:lpstr>3- Nucleotide excision repair (NER) cleaves damaged DNA on either side of the lesion</vt:lpstr>
      <vt:lpstr>PowerPoint Presentation</vt:lpstr>
      <vt:lpstr>Nucleotide excision repair enzyme</vt:lpstr>
      <vt:lpstr>PowerPoint Presentation</vt:lpstr>
      <vt:lpstr>4- Transcription- coupled repair</vt:lpstr>
      <vt:lpstr>Transcription - coupled repair in Eukaryotes</vt:lpstr>
      <vt:lpstr>5- Double strand break (DSB) repair . Recombinational repair</vt:lpstr>
      <vt:lpstr>What happens if the break took place before replication (no sister chromosome)?</vt:lpstr>
      <vt:lpstr>6- Translesional DNA synthesis</vt:lpstr>
      <vt:lpstr>PowerPoint Presentation</vt:lpstr>
      <vt:lpstr>Box 10-6</vt:lpstr>
      <vt:lpstr>PowerPoint Presentation</vt:lpstr>
      <vt:lpstr>How a translesion polymerase gains access to the stalled replication machinery at the site of DNA damage?</vt:lpstr>
      <vt:lpstr> Alternative models for translesion synthesis:  a- The polymerase-switching model b- The gap-filling model  </vt:lpstr>
      <vt:lpstr>END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Nucleosome Assembly</dc:title>
  <dc:creator>Firas</dc:creator>
  <cp:lastModifiedBy>Laith Al-Eitan</cp:lastModifiedBy>
  <cp:revision>192</cp:revision>
  <dcterms:created xsi:type="dcterms:W3CDTF">2006-02-27T16:35:42Z</dcterms:created>
  <dcterms:modified xsi:type="dcterms:W3CDTF">2024-11-10T15:57:07Z</dcterms:modified>
</cp:coreProperties>
</file>