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Lst>
  <p:notesMasterIdLst>
    <p:notesMasterId r:id="rId45"/>
  </p:notesMasterIdLst>
  <p:sldIdLst>
    <p:sldId id="335" r:id="rId2"/>
    <p:sldId id="381" r:id="rId3"/>
    <p:sldId id="526" r:id="rId4"/>
    <p:sldId id="600" r:id="rId5"/>
    <p:sldId id="599" r:id="rId6"/>
    <p:sldId id="601" r:id="rId7"/>
    <p:sldId id="602" r:id="rId8"/>
    <p:sldId id="603" r:id="rId9"/>
    <p:sldId id="273" r:id="rId10"/>
    <p:sldId id="358" r:id="rId11"/>
    <p:sldId id="604" r:id="rId12"/>
    <p:sldId id="656" r:id="rId13"/>
    <p:sldId id="605" r:id="rId14"/>
    <p:sldId id="606" r:id="rId15"/>
    <p:sldId id="274" r:id="rId16"/>
    <p:sldId id="610" r:id="rId17"/>
    <p:sldId id="611" r:id="rId18"/>
    <p:sldId id="612" r:id="rId19"/>
    <p:sldId id="613" r:id="rId20"/>
    <p:sldId id="614" r:id="rId21"/>
    <p:sldId id="618" r:id="rId22"/>
    <p:sldId id="621" r:id="rId23"/>
    <p:sldId id="617" r:id="rId24"/>
    <p:sldId id="619" r:id="rId25"/>
    <p:sldId id="615" r:id="rId26"/>
    <p:sldId id="623" r:id="rId27"/>
    <p:sldId id="647" r:id="rId28"/>
    <p:sldId id="648" r:id="rId29"/>
    <p:sldId id="650" r:id="rId30"/>
    <p:sldId id="649" r:id="rId31"/>
    <p:sldId id="616" r:id="rId32"/>
    <p:sldId id="651" r:id="rId33"/>
    <p:sldId id="620" r:id="rId34"/>
    <p:sldId id="624" r:id="rId35"/>
    <p:sldId id="652" r:id="rId36"/>
    <p:sldId id="627" r:id="rId37"/>
    <p:sldId id="653" r:id="rId38"/>
    <p:sldId id="626" r:id="rId39"/>
    <p:sldId id="654" r:id="rId40"/>
    <p:sldId id="628" r:id="rId41"/>
    <p:sldId id="336" r:id="rId42"/>
    <p:sldId id="629" r:id="rId43"/>
    <p:sldId id="655" r:id="rId44"/>
  </p:sldIdLst>
  <p:sldSz cx="9144000" cy="6858000" type="screen4x3"/>
  <p:notesSz cx="7019925" cy="9305925"/>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0"/>
        <a:cs typeface="+mn-cs"/>
      </a:defRPr>
    </a:lvl1pPr>
    <a:lvl2pPr marL="457200" algn="l" rtl="0" eaLnBrk="0" fontAlgn="base" hangingPunct="0">
      <a:spcBef>
        <a:spcPct val="0"/>
      </a:spcBef>
      <a:spcAft>
        <a:spcPct val="0"/>
      </a:spcAft>
      <a:defRPr kern="1200">
        <a:solidFill>
          <a:schemeClr val="tx1"/>
        </a:solidFill>
        <a:latin typeface="Arial" charset="0"/>
        <a:ea typeface="ＭＳ Ｐゴシック" charset="0"/>
        <a:cs typeface="+mn-cs"/>
      </a:defRPr>
    </a:lvl2pPr>
    <a:lvl3pPr marL="914400" algn="l" rtl="0" eaLnBrk="0" fontAlgn="base" hangingPunct="0">
      <a:spcBef>
        <a:spcPct val="0"/>
      </a:spcBef>
      <a:spcAft>
        <a:spcPct val="0"/>
      </a:spcAft>
      <a:defRPr kern="1200">
        <a:solidFill>
          <a:schemeClr val="tx1"/>
        </a:solidFill>
        <a:latin typeface="Arial" charset="0"/>
        <a:ea typeface="ＭＳ Ｐゴシック" charset="0"/>
        <a:cs typeface="+mn-cs"/>
      </a:defRPr>
    </a:lvl3pPr>
    <a:lvl4pPr marL="1371600" algn="l" rtl="0" eaLnBrk="0" fontAlgn="base" hangingPunct="0">
      <a:spcBef>
        <a:spcPct val="0"/>
      </a:spcBef>
      <a:spcAft>
        <a:spcPct val="0"/>
      </a:spcAft>
      <a:defRPr kern="1200">
        <a:solidFill>
          <a:schemeClr val="tx1"/>
        </a:solidFill>
        <a:latin typeface="Arial" charset="0"/>
        <a:ea typeface="ＭＳ Ｐゴシック" charset="0"/>
        <a:cs typeface="+mn-cs"/>
      </a:defRPr>
    </a:lvl4pPr>
    <a:lvl5pPr marL="1828800" algn="l" rtl="0" eaLnBrk="0" fontAlgn="base" hangingPunct="0">
      <a:spcBef>
        <a:spcPct val="0"/>
      </a:spcBef>
      <a:spcAft>
        <a:spcPct val="0"/>
      </a:spcAft>
      <a:defRPr kern="1200">
        <a:solidFill>
          <a:schemeClr val="tx1"/>
        </a:solidFill>
        <a:latin typeface="Arial" charset="0"/>
        <a:ea typeface="ＭＳ Ｐゴシック" charset="0"/>
        <a:cs typeface="+mn-cs"/>
      </a:defRPr>
    </a:lvl5pPr>
    <a:lvl6pPr marL="2286000" algn="l" defTabSz="457200" rtl="0" eaLnBrk="1" latinLnBrk="0" hangingPunct="1">
      <a:defRPr kern="1200">
        <a:solidFill>
          <a:schemeClr val="tx1"/>
        </a:solidFill>
        <a:latin typeface="Arial" charset="0"/>
        <a:ea typeface="ＭＳ Ｐゴシック" charset="0"/>
        <a:cs typeface="+mn-cs"/>
      </a:defRPr>
    </a:lvl6pPr>
    <a:lvl7pPr marL="2743200" algn="l" defTabSz="457200" rtl="0" eaLnBrk="1" latinLnBrk="0" hangingPunct="1">
      <a:defRPr kern="1200">
        <a:solidFill>
          <a:schemeClr val="tx1"/>
        </a:solidFill>
        <a:latin typeface="Arial" charset="0"/>
        <a:ea typeface="ＭＳ Ｐゴシック" charset="0"/>
        <a:cs typeface="+mn-cs"/>
      </a:defRPr>
    </a:lvl7pPr>
    <a:lvl8pPr marL="3200400" algn="l" defTabSz="457200" rtl="0" eaLnBrk="1" latinLnBrk="0" hangingPunct="1">
      <a:defRPr kern="1200">
        <a:solidFill>
          <a:schemeClr val="tx1"/>
        </a:solidFill>
        <a:latin typeface="Arial" charset="0"/>
        <a:ea typeface="ＭＳ Ｐゴシック" charset="0"/>
        <a:cs typeface="+mn-cs"/>
      </a:defRPr>
    </a:lvl8pPr>
    <a:lvl9pPr marL="3657600" algn="l" defTabSz="457200" rtl="0" eaLnBrk="1" latinLnBrk="0" hangingPunct="1">
      <a:defRPr kern="1200">
        <a:solidFill>
          <a:schemeClr val="tx1"/>
        </a:solidFill>
        <a:latin typeface="Arial" charset="0"/>
        <a:ea typeface="ＭＳ Ｐゴシック" charset="0"/>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9CDE5"/>
    <a:srgbClr val="DCDED8"/>
    <a:srgbClr val="F300F2"/>
    <a:srgbClr val="FF4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01"/>
    <p:restoredTop sz="95288"/>
  </p:normalViewPr>
  <p:slideViewPr>
    <p:cSldViewPr snapToGrid="0" snapToObjects="1">
      <p:cViewPr>
        <p:scale>
          <a:sx n="100" d="100"/>
          <a:sy n="100" d="100"/>
        </p:scale>
        <p:origin x="136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1650"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6688" y="0"/>
            <a:ext cx="3041650" cy="466725"/>
          </a:xfrm>
          <a:prstGeom prst="rect">
            <a:avLst/>
          </a:prstGeom>
        </p:spPr>
        <p:txBody>
          <a:bodyPr vert="horz" lIns="91440" tIns="45720" rIns="91440" bIns="45720" rtlCol="0"/>
          <a:lstStyle>
            <a:lvl1pPr algn="r">
              <a:defRPr sz="1200"/>
            </a:lvl1pPr>
          </a:lstStyle>
          <a:p>
            <a:fld id="{CBF876C3-9029-4542-8AC2-E729401C4F84}" type="datetimeFigureOut">
              <a:rPr lang="en-US" smtClean="0"/>
              <a:t>12/22/2019</a:t>
            </a:fld>
            <a:endParaRPr lang="en-US"/>
          </a:p>
        </p:txBody>
      </p:sp>
      <p:sp>
        <p:nvSpPr>
          <p:cNvPr id="4" name="Slide Image Placeholder 3"/>
          <p:cNvSpPr>
            <a:spLocks noGrp="1" noRot="1" noChangeAspect="1"/>
          </p:cNvSpPr>
          <p:nvPr>
            <p:ph type="sldImg" idx="2"/>
          </p:nvPr>
        </p:nvSpPr>
        <p:spPr>
          <a:xfrm>
            <a:off x="1416050" y="1163638"/>
            <a:ext cx="4187825" cy="3140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8338"/>
            <a:ext cx="5616575" cy="36639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39200"/>
            <a:ext cx="3041650"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6688" y="8839200"/>
            <a:ext cx="3041650" cy="466725"/>
          </a:xfrm>
          <a:prstGeom prst="rect">
            <a:avLst/>
          </a:prstGeom>
        </p:spPr>
        <p:txBody>
          <a:bodyPr vert="horz" lIns="91440" tIns="45720" rIns="91440" bIns="45720" rtlCol="0" anchor="b"/>
          <a:lstStyle>
            <a:lvl1pPr algn="r">
              <a:defRPr sz="1200"/>
            </a:lvl1pPr>
          </a:lstStyle>
          <a:p>
            <a:fld id="{F4D0950C-E0EA-764D-9DD1-8DB4FB2444C1}" type="slidenum">
              <a:rPr lang="en-US" smtClean="0"/>
              <a:t>‹#›</a:t>
            </a:fld>
            <a:endParaRPr lang="en-US"/>
          </a:p>
        </p:txBody>
      </p:sp>
    </p:spTree>
    <p:extLst>
      <p:ext uri="{BB962C8B-B14F-4D97-AF65-F5344CB8AC3E}">
        <p14:creationId xmlns:p14="http://schemas.microsoft.com/office/powerpoint/2010/main" val="743344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8850" name="Rectangle 8">
            <a:extLst>
              <a:ext uri="{FF2B5EF4-FFF2-40B4-BE49-F238E27FC236}">
                <a16:creationId xmlns:a16="http://schemas.microsoft.com/office/drawing/2014/main" id="{DF696941-F9D9-9444-A0A7-E18D1318DCC0}"/>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215900" indent="-214313">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SzPct val="45000"/>
              <a:buFontTx/>
              <a:buNone/>
            </a:pPr>
            <a:fld id="{FA3F26FB-7BBB-BF4E-9B8D-A555820D5F2D}" type="slidenum">
              <a:rPr lang="en-US" altLang="en-US" smtClean="0"/>
              <a:pPr>
                <a:spcBef>
                  <a:spcPct val="0"/>
                </a:spcBef>
                <a:buClrTx/>
                <a:buSzPct val="45000"/>
                <a:buFontTx/>
                <a:buNone/>
              </a:pPr>
              <a:t>9</a:t>
            </a:fld>
            <a:endParaRPr lang="en-US" altLang="en-US"/>
          </a:p>
        </p:txBody>
      </p:sp>
      <p:sp>
        <p:nvSpPr>
          <p:cNvPr id="78851" name="Rectangle 1">
            <a:extLst>
              <a:ext uri="{FF2B5EF4-FFF2-40B4-BE49-F238E27FC236}">
                <a16:creationId xmlns:a16="http://schemas.microsoft.com/office/drawing/2014/main" id="{8A01F5F0-44DE-0C43-91CD-EEF63EEB2B3F}"/>
              </a:ext>
            </a:extLst>
          </p:cNvPr>
          <p:cNvSpPr>
            <a:spLocks noGrp="1" noRot="1" noChangeAspect="1" noChangeArrowheads="1" noTextEdit="1"/>
          </p:cNvSpPr>
          <p:nvPr>
            <p:ph type="sldImg"/>
          </p:nvPr>
        </p:nvSpPr>
        <p:spPr>
          <a:xfrm>
            <a:off x="1143000" y="685800"/>
            <a:ext cx="4572000" cy="3429000"/>
          </a:xfrm>
          <a:solidFill>
            <a:srgbClr val="FFFFFF"/>
          </a:solidFill>
          <a:ln/>
        </p:spPr>
      </p:sp>
      <p:sp>
        <p:nvSpPr>
          <p:cNvPr id="78852" name="Text Box 2">
            <a:extLst>
              <a:ext uri="{FF2B5EF4-FFF2-40B4-BE49-F238E27FC236}">
                <a16:creationId xmlns:a16="http://schemas.microsoft.com/office/drawing/2014/main" id="{D7EABC3C-BA64-C246-82C5-60AC3422590B}"/>
              </a:ext>
            </a:extLst>
          </p:cNvPr>
          <p:cNvSpPr txBox="1">
            <a:spLocks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3739023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898" name="Rectangle 8">
            <a:extLst>
              <a:ext uri="{FF2B5EF4-FFF2-40B4-BE49-F238E27FC236}">
                <a16:creationId xmlns:a16="http://schemas.microsoft.com/office/drawing/2014/main" id="{2886562A-D1A7-CE4E-AA14-E5297746745D}"/>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marL="215900" indent="-214313">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ClrTx/>
              <a:buSzPct val="45000"/>
              <a:buFontTx/>
              <a:buNone/>
            </a:pPr>
            <a:fld id="{37ABFF24-002F-4744-85B1-F59CA71A9D7D}" type="slidenum">
              <a:rPr lang="en-US" altLang="en-US" smtClean="0"/>
              <a:pPr>
                <a:spcBef>
                  <a:spcPct val="0"/>
                </a:spcBef>
                <a:buClrTx/>
                <a:buSzPct val="45000"/>
                <a:buFontTx/>
                <a:buNone/>
              </a:pPr>
              <a:t>10</a:t>
            </a:fld>
            <a:endParaRPr lang="en-US" altLang="en-US"/>
          </a:p>
        </p:txBody>
      </p:sp>
      <p:sp>
        <p:nvSpPr>
          <p:cNvPr id="80899" name="Rectangle 1">
            <a:extLst>
              <a:ext uri="{FF2B5EF4-FFF2-40B4-BE49-F238E27FC236}">
                <a16:creationId xmlns:a16="http://schemas.microsoft.com/office/drawing/2014/main" id="{5CF3CBBB-C01D-0442-8354-9758B17DDA4F}"/>
              </a:ext>
            </a:extLst>
          </p:cNvPr>
          <p:cNvSpPr>
            <a:spLocks noGrp="1" noRot="1" noChangeAspect="1" noChangeArrowheads="1" noTextEdit="1"/>
          </p:cNvSpPr>
          <p:nvPr>
            <p:ph type="sldImg"/>
          </p:nvPr>
        </p:nvSpPr>
        <p:spPr>
          <a:xfrm>
            <a:off x="1143000" y="685800"/>
            <a:ext cx="4572000" cy="3429000"/>
          </a:xfrm>
          <a:solidFill>
            <a:srgbClr val="FFFFFF"/>
          </a:solidFill>
          <a:ln/>
        </p:spPr>
      </p:sp>
      <p:sp>
        <p:nvSpPr>
          <p:cNvPr id="80900" name="Text Box 2">
            <a:extLst>
              <a:ext uri="{FF2B5EF4-FFF2-40B4-BE49-F238E27FC236}">
                <a16:creationId xmlns:a16="http://schemas.microsoft.com/office/drawing/2014/main" id="{A0FA5B88-BE90-4C4E-8F98-7F925D352D30}"/>
              </a:ext>
            </a:extLst>
          </p:cNvPr>
          <p:cNvSpPr txBox="1">
            <a:spLocks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a:buClr>
                <a:srgbClr val="000000"/>
              </a:buClr>
              <a:buSzPct val="100000"/>
              <a:buFont typeface="Times New Roman" panose="02020603050405020304" pitchFamily="18" charset="0"/>
              <a:buNone/>
            </a:pPr>
            <a:endParaRPr lang="en-US" altLang="en-US"/>
          </a:p>
        </p:txBody>
      </p:sp>
    </p:spTree>
    <p:extLst>
      <p:ext uri="{BB962C8B-B14F-4D97-AF65-F5344CB8AC3E}">
        <p14:creationId xmlns:p14="http://schemas.microsoft.com/office/powerpoint/2010/main" val="2945762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kumimoji="1" lang="en-US" altLang="ja-JP"/>
              <a:t>Click to edit Master title style</a:t>
            </a:r>
            <a:endParaRPr kumimoji="1" lang="ja-JP" alt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en-US" altLang="ja-JP"/>
              <a:t>Click to edit Master subtitle style</a:t>
            </a:r>
            <a:endParaRPr kumimoji="1" lang="ja-JP" altLang="en-US"/>
          </a:p>
        </p:txBody>
      </p:sp>
      <p:sp>
        <p:nvSpPr>
          <p:cNvPr id="4" name="Date Placeholder 3"/>
          <p:cNvSpPr>
            <a:spLocks noGrp="1"/>
          </p:cNvSpPr>
          <p:nvPr>
            <p:ph type="dt" sz="half" idx="10"/>
          </p:nvPr>
        </p:nvSpPr>
        <p:spPr/>
        <p:txBody>
          <a:bodyPr/>
          <a:lstStyle/>
          <a:p>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6F24FE7E-8641-1243-BE4C-5E559B1B384F}" type="slidenum">
              <a:rPr lang="en-US" altLang="ja-JP" smtClean="0"/>
              <a:pPr/>
              <a:t>‹#›</a:t>
            </a:fld>
            <a:endParaRPr lang="en-US" altLang="ja-JP"/>
          </a:p>
        </p:txBody>
      </p:sp>
    </p:spTree>
    <p:extLst>
      <p:ext uri="{BB962C8B-B14F-4D97-AF65-F5344CB8AC3E}">
        <p14:creationId xmlns:p14="http://schemas.microsoft.com/office/powerpoint/2010/main" val="2585112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p:cNvSpPr>
            <a:spLocks noGrp="1"/>
          </p:cNvSpPr>
          <p:nvPr>
            <p:ph idx="1"/>
          </p:nvPr>
        </p:nvSpPr>
        <p:spPr/>
        <p:txBody>
          <a:body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p:cNvSpPr>
            <a:spLocks noGrp="1"/>
          </p:cNvSpPr>
          <p:nvPr>
            <p:ph type="dt" sz="half" idx="10"/>
          </p:nvPr>
        </p:nvSpPr>
        <p:spPr/>
        <p:txBody>
          <a:bodyPr/>
          <a:lstStyle/>
          <a:p>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D5D75EE3-8080-C746-849F-0C4BD99F8AF8}" type="slidenum">
              <a:rPr lang="en-US" altLang="ja-JP" smtClean="0"/>
              <a:pPr/>
              <a:t>‹#›</a:t>
            </a:fld>
            <a:endParaRPr lang="en-US" altLang="ja-JP"/>
          </a:p>
        </p:txBody>
      </p:sp>
    </p:spTree>
    <p:extLst>
      <p:ext uri="{BB962C8B-B14F-4D97-AF65-F5344CB8AC3E}">
        <p14:creationId xmlns:p14="http://schemas.microsoft.com/office/powerpoint/2010/main" val="1389366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kumimoji="1" lang="en-US" altLang="ja-JP"/>
              <a:t>Click to edit Master title style</a:t>
            </a:r>
            <a:endParaRPr kumimoji="1" lang="ja-JP"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en-US" altLang="ja-JP"/>
              <a:t>Edit Master text styles</a:t>
            </a:r>
          </a:p>
        </p:txBody>
      </p:sp>
      <p:sp>
        <p:nvSpPr>
          <p:cNvPr id="4" name="Date Placeholder 3"/>
          <p:cNvSpPr>
            <a:spLocks noGrp="1"/>
          </p:cNvSpPr>
          <p:nvPr>
            <p:ph type="dt" sz="half" idx="10"/>
          </p:nvPr>
        </p:nvSpPr>
        <p:spPr/>
        <p:txBody>
          <a:bodyPr/>
          <a:lstStyle/>
          <a:p>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3249F7DB-D292-D84D-BA7D-16471ECDB9E6}" type="slidenum">
              <a:rPr lang="en-US" altLang="ja-JP" smtClean="0"/>
              <a:pPr/>
              <a:t>‹#›</a:t>
            </a:fld>
            <a:endParaRPr lang="en-US" altLang="ja-JP"/>
          </a:p>
        </p:txBody>
      </p:sp>
    </p:spTree>
    <p:extLst>
      <p:ext uri="{BB962C8B-B14F-4D97-AF65-F5344CB8AC3E}">
        <p14:creationId xmlns:p14="http://schemas.microsoft.com/office/powerpoint/2010/main" val="4222569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a:t>Click to edit Master title style</a:t>
            </a:r>
            <a:endParaRPr kumimoji="1" lang="ja-JP" alt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Date Placeholder 4"/>
          <p:cNvSpPr>
            <a:spLocks noGrp="1"/>
          </p:cNvSpPr>
          <p:nvPr>
            <p:ph type="dt" sz="half" idx="10"/>
          </p:nvPr>
        </p:nvSpPr>
        <p:spPr/>
        <p:txBody>
          <a:bodyPr/>
          <a:lstStyle/>
          <a:p>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30E59CC1-0C35-A746-97F4-15D32E183E05}" type="slidenum">
              <a:rPr lang="en-US" altLang="ja-JP" smtClean="0"/>
              <a:pPr/>
              <a:t>‹#›</a:t>
            </a:fld>
            <a:endParaRPr lang="en-US" altLang="ja-JP"/>
          </a:p>
        </p:txBody>
      </p:sp>
    </p:spTree>
    <p:extLst>
      <p:ext uri="{BB962C8B-B14F-4D97-AF65-F5344CB8AC3E}">
        <p14:creationId xmlns:p14="http://schemas.microsoft.com/office/powerpoint/2010/main" val="3795242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1" lang="en-US" altLang="ja-JP"/>
              <a:t>Click to edit Master title style</a:t>
            </a:r>
            <a:endParaRPr kumimoji="1" lang="ja-JP"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en-US" altLang="ja-JP"/>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7" name="Date Placeholder 6"/>
          <p:cNvSpPr>
            <a:spLocks noGrp="1"/>
          </p:cNvSpPr>
          <p:nvPr>
            <p:ph type="dt" sz="half" idx="10"/>
          </p:nvPr>
        </p:nvSpPr>
        <p:spPr/>
        <p:txBody>
          <a:bodyPr/>
          <a:lstStyle/>
          <a:p>
            <a:endParaRPr lang="ja-JP" altLang="en-US"/>
          </a:p>
        </p:txBody>
      </p:sp>
      <p:sp>
        <p:nvSpPr>
          <p:cNvPr id="8" name="Footer Placeholder 7"/>
          <p:cNvSpPr>
            <a:spLocks noGrp="1"/>
          </p:cNvSpPr>
          <p:nvPr>
            <p:ph type="ftr" sz="quarter" idx="11"/>
          </p:nvPr>
        </p:nvSpPr>
        <p:spPr/>
        <p:txBody>
          <a:bodyPr/>
          <a:lstStyle/>
          <a:p>
            <a:endParaRPr lang="ja-JP" altLang="en-US"/>
          </a:p>
        </p:txBody>
      </p:sp>
      <p:sp>
        <p:nvSpPr>
          <p:cNvPr id="9" name="Slide Number Placeholder 8"/>
          <p:cNvSpPr>
            <a:spLocks noGrp="1"/>
          </p:cNvSpPr>
          <p:nvPr>
            <p:ph type="sldNum" sz="quarter" idx="12"/>
          </p:nvPr>
        </p:nvSpPr>
        <p:spPr/>
        <p:txBody>
          <a:bodyPr/>
          <a:lstStyle/>
          <a:p>
            <a:fld id="{F7FC19DA-39D8-DA49-B49B-AF4325CF1458}" type="slidenum">
              <a:rPr lang="en-US" altLang="ja-JP" smtClean="0"/>
              <a:pPr/>
              <a:t>‹#›</a:t>
            </a:fld>
            <a:endParaRPr lang="en-US" altLang="ja-JP"/>
          </a:p>
        </p:txBody>
      </p:sp>
    </p:spTree>
    <p:extLst>
      <p:ext uri="{BB962C8B-B14F-4D97-AF65-F5344CB8AC3E}">
        <p14:creationId xmlns:p14="http://schemas.microsoft.com/office/powerpoint/2010/main" val="20358284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a:t>Click to edit Master title style</a:t>
            </a:r>
            <a:endParaRPr kumimoji="1" lang="ja-JP" altLang="en-US"/>
          </a:p>
        </p:txBody>
      </p:sp>
      <p:sp>
        <p:nvSpPr>
          <p:cNvPr id="3" name="Date Placeholder 2"/>
          <p:cNvSpPr>
            <a:spLocks noGrp="1"/>
          </p:cNvSpPr>
          <p:nvPr>
            <p:ph type="dt" sz="half" idx="10"/>
          </p:nvPr>
        </p:nvSpPr>
        <p:spPr/>
        <p:txBody>
          <a:bodyPr/>
          <a:lstStyle/>
          <a:p>
            <a:endParaRPr lang="ja-JP" altLang="en-US"/>
          </a:p>
        </p:txBody>
      </p:sp>
      <p:sp>
        <p:nvSpPr>
          <p:cNvPr id="4" name="Footer Placeholder 3"/>
          <p:cNvSpPr>
            <a:spLocks noGrp="1"/>
          </p:cNvSpPr>
          <p:nvPr>
            <p:ph type="ftr" sz="quarter" idx="11"/>
          </p:nvPr>
        </p:nvSpPr>
        <p:spPr/>
        <p:txBody>
          <a:bodyPr/>
          <a:lstStyle/>
          <a:p>
            <a:endParaRPr lang="ja-JP" altLang="en-US"/>
          </a:p>
        </p:txBody>
      </p:sp>
      <p:sp>
        <p:nvSpPr>
          <p:cNvPr id="5" name="Slide Number Placeholder 4"/>
          <p:cNvSpPr>
            <a:spLocks noGrp="1"/>
          </p:cNvSpPr>
          <p:nvPr>
            <p:ph type="sldNum" sz="quarter" idx="12"/>
          </p:nvPr>
        </p:nvSpPr>
        <p:spPr/>
        <p:txBody>
          <a:bodyPr/>
          <a:lstStyle/>
          <a:p>
            <a:fld id="{53FF4E9B-3AA6-1D4E-B340-9EE52CAB7566}" type="slidenum">
              <a:rPr lang="en-US" altLang="ja-JP" smtClean="0"/>
              <a:pPr/>
              <a:t>‹#›</a:t>
            </a:fld>
            <a:endParaRPr lang="en-US" altLang="ja-JP"/>
          </a:p>
        </p:txBody>
      </p:sp>
    </p:spTree>
    <p:extLst>
      <p:ext uri="{BB962C8B-B14F-4D97-AF65-F5344CB8AC3E}">
        <p14:creationId xmlns:p14="http://schemas.microsoft.com/office/powerpoint/2010/main" val="2225482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ja-JP" altLang="en-US"/>
          </a:p>
        </p:txBody>
      </p:sp>
      <p:sp>
        <p:nvSpPr>
          <p:cNvPr id="3" name="Footer Placeholder 2"/>
          <p:cNvSpPr>
            <a:spLocks noGrp="1"/>
          </p:cNvSpPr>
          <p:nvPr>
            <p:ph type="ftr" sz="quarter" idx="11"/>
          </p:nvPr>
        </p:nvSpPr>
        <p:spPr/>
        <p:txBody>
          <a:bodyPr/>
          <a:lstStyle/>
          <a:p>
            <a:endParaRPr lang="ja-JP" altLang="en-US"/>
          </a:p>
        </p:txBody>
      </p:sp>
      <p:sp>
        <p:nvSpPr>
          <p:cNvPr id="4" name="Slide Number Placeholder 3"/>
          <p:cNvSpPr>
            <a:spLocks noGrp="1"/>
          </p:cNvSpPr>
          <p:nvPr>
            <p:ph type="sldNum" sz="quarter" idx="12"/>
          </p:nvPr>
        </p:nvSpPr>
        <p:spPr/>
        <p:txBody>
          <a:bodyPr/>
          <a:lstStyle/>
          <a:p>
            <a:fld id="{53CBAFC2-E857-A04C-91D0-A934606C3EB7}" type="slidenum">
              <a:rPr lang="en-US" altLang="ja-JP" smtClean="0"/>
              <a:pPr/>
              <a:t>‹#›</a:t>
            </a:fld>
            <a:endParaRPr lang="en-US" altLang="ja-JP"/>
          </a:p>
        </p:txBody>
      </p:sp>
    </p:spTree>
    <p:extLst>
      <p:ext uri="{BB962C8B-B14F-4D97-AF65-F5344CB8AC3E}">
        <p14:creationId xmlns:p14="http://schemas.microsoft.com/office/powerpoint/2010/main" val="41409614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kumimoji="1" lang="en-US" altLang="ja-JP"/>
              <a:t>Click to edit Master title style</a:t>
            </a:r>
            <a:endParaRPr kumimoji="1" lang="ja-JP"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en-US" altLang="ja-JP"/>
              <a:t>Edit Master text styles</a:t>
            </a:r>
          </a:p>
        </p:txBody>
      </p:sp>
      <p:sp>
        <p:nvSpPr>
          <p:cNvPr id="5" name="Date Placeholder 4"/>
          <p:cNvSpPr>
            <a:spLocks noGrp="1"/>
          </p:cNvSpPr>
          <p:nvPr>
            <p:ph type="dt" sz="half" idx="10"/>
          </p:nvPr>
        </p:nvSpPr>
        <p:spPr/>
        <p:txBody>
          <a:bodyPr/>
          <a:lstStyle/>
          <a:p>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ABF7BC9E-4E26-E441-8C99-540BE79EB589}" type="slidenum">
              <a:rPr lang="en-US" altLang="ja-JP" smtClean="0"/>
              <a:pPr/>
              <a:t>‹#›</a:t>
            </a:fld>
            <a:endParaRPr lang="en-US" altLang="ja-JP"/>
          </a:p>
        </p:txBody>
      </p:sp>
    </p:spTree>
    <p:extLst>
      <p:ext uri="{BB962C8B-B14F-4D97-AF65-F5344CB8AC3E}">
        <p14:creationId xmlns:p14="http://schemas.microsoft.com/office/powerpoint/2010/main" val="1089621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kumimoji="1" lang="en-US" altLang="ja-JP"/>
              <a:t>Click to edit Master title style</a:t>
            </a:r>
            <a:endParaRPr kumimoji="1" lang="ja-JP"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en-US" altLang="ja-JP"/>
              <a:t>Click icon to add picture</a:t>
            </a:r>
            <a:endParaRPr kumimoji="1" lang="ja-JP" alt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en-US" altLang="ja-JP"/>
              <a:t>Edit Master text styles</a:t>
            </a:r>
          </a:p>
        </p:txBody>
      </p:sp>
      <p:sp>
        <p:nvSpPr>
          <p:cNvPr id="5" name="Date Placeholder 4"/>
          <p:cNvSpPr>
            <a:spLocks noGrp="1"/>
          </p:cNvSpPr>
          <p:nvPr>
            <p:ph type="dt" sz="half" idx="10"/>
          </p:nvPr>
        </p:nvSpPr>
        <p:spPr/>
        <p:txBody>
          <a:bodyPr/>
          <a:lstStyle/>
          <a:p>
            <a:endParaRPr lang="ja-JP" altLang="en-US"/>
          </a:p>
        </p:txBody>
      </p:sp>
      <p:sp>
        <p:nvSpPr>
          <p:cNvPr id="6" name="Footer Placeholder 5"/>
          <p:cNvSpPr>
            <a:spLocks noGrp="1"/>
          </p:cNvSpPr>
          <p:nvPr>
            <p:ph type="ftr" sz="quarter" idx="11"/>
          </p:nvPr>
        </p:nvSpPr>
        <p:spPr/>
        <p:txBody>
          <a:bodyPr/>
          <a:lstStyle/>
          <a:p>
            <a:endParaRPr lang="ja-JP" altLang="en-US"/>
          </a:p>
        </p:txBody>
      </p:sp>
      <p:sp>
        <p:nvSpPr>
          <p:cNvPr id="7" name="Slide Number Placeholder 6"/>
          <p:cNvSpPr>
            <a:spLocks noGrp="1"/>
          </p:cNvSpPr>
          <p:nvPr>
            <p:ph type="sldNum" sz="quarter" idx="12"/>
          </p:nvPr>
        </p:nvSpPr>
        <p:spPr/>
        <p:txBody>
          <a:bodyPr/>
          <a:lstStyle/>
          <a:p>
            <a:fld id="{404C48FE-32BB-4541-9031-D57AD8E780D4}" type="slidenum">
              <a:rPr lang="en-US" altLang="ja-JP" smtClean="0"/>
              <a:pPr/>
              <a:t>‹#›</a:t>
            </a:fld>
            <a:endParaRPr lang="en-US" altLang="ja-JP"/>
          </a:p>
        </p:txBody>
      </p:sp>
    </p:spTree>
    <p:extLst>
      <p:ext uri="{BB962C8B-B14F-4D97-AF65-F5344CB8AC3E}">
        <p14:creationId xmlns:p14="http://schemas.microsoft.com/office/powerpoint/2010/main" val="141627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en-US" altLang="ja-JP"/>
              <a:t>Click to edit Master title style</a:t>
            </a:r>
            <a:endParaRPr kumimoji="1" lang="ja-JP" altLang="en-US"/>
          </a:p>
        </p:txBody>
      </p:sp>
      <p:sp>
        <p:nvSpPr>
          <p:cNvPr id="3" name="Vertical Text Placeholder 2"/>
          <p:cNvSpPr>
            <a:spLocks noGrp="1"/>
          </p:cNvSpPr>
          <p:nvPr>
            <p:ph type="body" orient="vert" idx="1"/>
          </p:nvPr>
        </p:nvSpPr>
        <p:spPr/>
        <p:txBody>
          <a:bodyPr vert="eaVert"/>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p:cNvSpPr>
            <a:spLocks noGrp="1"/>
          </p:cNvSpPr>
          <p:nvPr>
            <p:ph type="dt" sz="half" idx="10"/>
          </p:nvPr>
        </p:nvSpPr>
        <p:spPr/>
        <p:txBody>
          <a:bodyPr/>
          <a:lstStyle/>
          <a:p>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6454F437-2AF0-A148-8EE8-D79F663813B8}" type="slidenum">
              <a:rPr lang="en-US" altLang="ja-JP" smtClean="0"/>
              <a:pPr/>
              <a:t>‹#›</a:t>
            </a:fld>
            <a:endParaRPr lang="en-US" altLang="ja-JP"/>
          </a:p>
        </p:txBody>
      </p:sp>
    </p:spTree>
    <p:extLst>
      <p:ext uri="{BB962C8B-B14F-4D97-AF65-F5344CB8AC3E}">
        <p14:creationId xmlns:p14="http://schemas.microsoft.com/office/powerpoint/2010/main" val="15764858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1" lang="en-US" altLang="ja-JP"/>
              <a:t>Click to edit Master title style</a:t>
            </a:r>
            <a:endParaRPr kumimoji="1" lang="ja-JP" alt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p:cNvSpPr>
            <a:spLocks noGrp="1"/>
          </p:cNvSpPr>
          <p:nvPr>
            <p:ph type="dt" sz="half" idx="10"/>
          </p:nvPr>
        </p:nvSpPr>
        <p:spPr/>
        <p:txBody>
          <a:bodyPr/>
          <a:lstStyle/>
          <a:p>
            <a:endParaRPr lang="ja-JP" altLang="en-US"/>
          </a:p>
        </p:txBody>
      </p:sp>
      <p:sp>
        <p:nvSpPr>
          <p:cNvPr id="5" name="Footer Placeholder 4"/>
          <p:cNvSpPr>
            <a:spLocks noGrp="1"/>
          </p:cNvSpPr>
          <p:nvPr>
            <p:ph type="ftr" sz="quarter" idx="11"/>
          </p:nvPr>
        </p:nvSpPr>
        <p:spPr/>
        <p:txBody>
          <a:bodyPr/>
          <a:lstStyle/>
          <a:p>
            <a:endParaRPr lang="ja-JP" altLang="en-US"/>
          </a:p>
        </p:txBody>
      </p:sp>
      <p:sp>
        <p:nvSpPr>
          <p:cNvPr id="6" name="Slide Number Placeholder 5"/>
          <p:cNvSpPr>
            <a:spLocks noGrp="1"/>
          </p:cNvSpPr>
          <p:nvPr>
            <p:ph type="sldNum" sz="quarter" idx="12"/>
          </p:nvPr>
        </p:nvSpPr>
        <p:spPr/>
        <p:txBody>
          <a:bodyPr/>
          <a:lstStyle/>
          <a:p>
            <a:fld id="{7B38A3BD-B125-7B4B-BBB9-0C98CD47C90B}" type="slidenum">
              <a:rPr lang="en-US" altLang="ja-JP" smtClean="0"/>
              <a:pPr/>
              <a:t>‹#›</a:t>
            </a:fld>
            <a:endParaRPr lang="en-US" altLang="ja-JP"/>
          </a:p>
        </p:txBody>
      </p:sp>
    </p:spTree>
    <p:extLst>
      <p:ext uri="{BB962C8B-B14F-4D97-AF65-F5344CB8AC3E}">
        <p14:creationId xmlns:p14="http://schemas.microsoft.com/office/powerpoint/2010/main" val="649754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7010400" cy="1295400"/>
          </a:xfrm>
        </p:spPr>
        <p:txBody>
          <a:bodyPr/>
          <a:lstStyle/>
          <a:p>
            <a:r>
              <a:rPr lang="en-US"/>
              <a:t>Click to edit Master title style</a:t>
            </a:r>
          </a:p>
        </p:txBody>
      </p:sp>
      <p:sp>
        <p:nvSpPr>
          <p:cNvPr id="3" name="Text Placeholder 2"/>
          <p:cNvSpPr>
            <a:spLocks noGrp="1"/>
          </p:cNvSpPr>
          <p:nvPr>
            <p:ph type="body" sz="half" idx="1"/>
          </p:nvPr>
        </p:nvSpPr>
        <p:spPr>
          <a:xfrm>
            <a:off x="1676400" y="1981200"/>
            <a:ext cx="3429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57800" y="1981200"/>
            <a:ext cx="3429000" cy="4114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endParaRPr lang="ja-JP" altLang="en-US"/>
          </a:p>
        </p:txBody>
      </p:sp>
      <p:sp>
        <p:nvSpPr>
          <p:cNvPr id="6" name="Rectangle 5"/>
          <p:cNvSpPr>
            <a:spLocks noGrp="1" noChangeArrowheads="1"/>
          </p:cNvSpPr>
          <p:nvPr>
            <p:ph type="sldNum" sz="quarter" idx="11"/>
          </p:nvPr>
        </p:nvSpPr>
        <p:spPr>
          <a:ln/>
        </p:spPr>
        <p:txBody>
          <a:bodyPr/>
          <a:lstStyle>
            <a:lvl1pPr>
              <a:defRPr/>
            </a:lvl1pPr>
          </a:lstStyle>
          <a:p>
            <a:fld id="{E323B104-541F-7C4C-BDD0-2D6EB2844906}" type="slidenum">
              <a:rPr lang="en-US" altLang="ja-JP"/>
              <a:pPr/>
              <a:t>‹#›</a:t>
            </a:fld>
            <a:endParaRPr lang="en-US" altLang="ja-JP"/>
          </a:p>
        </p:txBody>
      </p:sp>
      <p:sp>
        <p:nvSpPr>
          <p:cNvPr id="7" name="Rectangle 22"/>
          <p:cNvSpPr>
            <a:spLocks noGrp="1" noChangeArrowheads="1"/>
          </p:cNvSpPr>
          <p:nvPr>
            <p:ph type="dt" sz="half" idx="12"/>
          </p:nvPr>
        </p:nvSpPr>
        <p:spPr>
          <a:ln/>
        </p:spPr>
        <p:txBody>
          <a:bodyPr/>
          <a:lstStyle>
            <a:lvl1pPr>
              <a:defRPr/>
            </a:lvl1pPr>
          </a:lstStyle>
          <a:p>
            <a:endParaRPr lang="ja-JP" altLang="en-US"/>
          </a:p>
        </p:txBody>
      </p:sp>
    </p:spTree>
    <p:extLst>
      <p:ext uri="{BB962C8B-B14F-4D97-AF65-F5344CB8AC3E}">
        <p14:creationId xmlns:p14="http://schemas.microsoft.com/office/powerpoint/2010/main" val="573511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457200"/>
            <a:ext cx="7010400" cy="1295400"/>
          </a:xfrm>
        </p:spPr>
        <p:txBody>
          <a:bodyPr/>
          <a:lstStyle/>
          <a:p>
            <a:r>
              <a:rPr lang="en-US"/>
              <a:t>Click to edit Master title style</a:t>
            </a:r>
          </a:p>
        </p:txBody>
      </p:sp>
      <p:sp>
        <p:nvSpPr>
          <p:cNvPr id="3" name="Text Placeholder 2"/>
          <p:cNvSpPr>
            <a:spLocks noGrp="1"/>
          </p:cNvSpPr>
          <p:nvPr>
            <p:ph type="body" sz="half" idx="1"/>
          </p:nvPr>
        </p:nvSpPr>
        <p:spPr>
          <a:xfrm>
            <a:off x="1676400" y="1981200"/>
            <a:ext cx="70104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76400" y="4114800"/>
            <a:ext cx="7010400" cy="1981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a:lvl1pPr>
          </a:lstStyle>
          <a:p>
            <a:endParaRPr lang="ja-JP" altLang="en-US"/>
          </a:p>
        </p:txBody>
      </p:sp>
      <p:sp>
        <p:nvSpPr>
          <p:cNvPr id="6" name="Rectangle 5"/>
          <p:cNvSpPr>
            <a:spLocks noGrp="1" noChangeArrowheads="1"/>
          </p:cNvSpPr>
          <p:nvPr>
            <p:ph type="sldNum" sz="quarter" idx="11"/>
          </p:nvPr>
        </p:nvSpPr>
        <p:spPr>
          <a:ln/>
        </p:spPr>
        <p:txBody>
          <a:bodyPr/>
          <a:lstStyle>
            <a:lvl1pPr>
              <a:defRPr/>
            </a:lvl1pPr>
          </a:lstStyle>
          <a:p>
            <a:fld id="{BCBF7A53-2F0B-AC4A-8EC7-47270D32B7EF}" type="slidenum">
              <a:rPr lang="en-US" altLang="ja-JP"/>
              <a:pPr/>
              <a:t>‹#›</a:t>
            </a:fld>
            <a:endParaRPr lang="en-US" altLang="ja-JP"/>
          </a:p>
        </p:txBody>
      </p:sp>
      <p:sp>
        <p:nvSpPr>
          <p:cNvPr id="7" name="Rectangle 22"/>
          <p:cNvSpPr>
            <a:spLocks noGrp="1" noChangeArrowheads="1"/>
          </p:cNvSpPr>
          <p:nvPr>
            <p:ph type="dt" sz="half" idx="12"/>
          </p:nvPr>
        </p:nvSpPr>
        <p:spPr>
          <a:ln/>
        </p:spPr>
        <p:txBody>
          <a:bodyPr/>
          <a:lstStyle>
            <a:lvl1pPr>
              <a:defRPr/>
            </a:lvl1pPr>
          </a:lstStyle>
          <a:p>
            <a:endParaRPr lang="ja-JP" altLang="en-US"/>
          </a:p>
        </p:txBody>
      </p:sp>
    </p:spTree>
    <p:extLst>
      <p:ext uri="{BB962C8B-B14F-4D97-AF65-F5344CB8AC3E}">
        <p14:creationId xmlns:p14="http://schemas.microsoft.com/office/powerpoint/2010/main" val="3553047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en-US" altLang="ja-JP"/>
              <a:t>Click to edit Master title style</a:t>
            </a:r>
            <a:endParaRPr kumimoji="1" lang="ja-JP" alt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en-US" altLang="ja-JP"/>
              <a:t>Edit Master text styles</a:t>
            </a:r>
          </a:p>
          <a:p>
            <a:pPr lvl="1"/>
            <a:r>
              <a:rPr kumimoji="1" lang="en-US" altLang="ja-JP"/>
              <a:t>Second level</a:t>
            </a:r>
          </a:p>
          <a:p>
            <a:pPr lvl="2"/>
            <a:r>
              <a:rPr kumimoji="1" lang="en-US" altLang="ja-JP"/>
              <a:t>Third level</a:t>
            </a:r>
          </a:p>
          <a:p>
            <a:pPr lvl="3"/>
            <a:r>
              <a:rPr kumimoji="1" lang="en-US" altLang="ja-JP"/>
              <a:t>Fourth level</a:t>
            </a:r>
          </a:p>
          <a:p>
            <a:pPr lvl="4"/>
            <a:r>
              <a:rPr kumimoji="1" lang="en-US" altLang="ja-JP"/>
              <a:t>Fifth level</a:t>
            </a:r>
            <a:endParaRPr kumimoji="1" lang="ja-JP"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ja-JP" alt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E01BD9-0721-C941-9553-6304524F12D4}" type="slidenum">
              <a:rPr lang="en-US" altLang="ja-JP" smtClean="0"/>
              <a:pPr/>
              <a:t>‹#›</a:t>
            </a:fld>
            <a:endParaRPr lang="en-US" altLang="ja-JP"/>
          </a:p>
        </p:txBody>
      </p:sp>
    </p:spTree>
    <p:extLst>
      <p:ext uri="{BB962C8B-B14F-4D97-AF65-F5344CB8AC3E}">
        <p14:creationId xmlns:p14="http://schemas.microsoft.com/office/powerpoint/2010/main" val="716616558"/>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5" Type="http://schemas.openxmlformats.org/officeDocument/2006/relationships/image" Target="../media/image25.png"/><Relationship Id="rId4" Type="http://schemas.openxmlformats.org/officeDocument/2006/relationships/image" Target="../media/image2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F59FD-6AFD-CD49-B44B-00F134C3818E}"/>
              </a:ext>
            </a:extLst>
          </p:cNvPr>
          <p:cNvSpPr>
            <a:spLocks noGrp="1"/>
          </p:cNvSpPr>
          <p:nvPr>
            <p:ph type="ctrTitle"/>
          </p:nvPr>
        </p:nvSpPr>
        <p:spPr>
          <a:xfrm>
            <a:off x="685800" y="2130425"/>
            <a:ext cx="7772400" cy="1470025"/>
          </a:xfrm>
        </p:spPr>
        <p:txBody>
          <a:bodyPr>
            <a:noAutofit/>
          </a:bodyPr>
          <a:lstStyle/>
          <a:p>
            <a:r>
              <a:rPr lang="en-US" sz="4800" b="1" dirty="0">
                <a:solidFill>
                  <a:srgbClr val="FF0000"/>
                </a:solidFill>
                <a:latin typeface="Arial" panose="020B0604020202020204" pitchFamily="34" charset="0"/>
                <a:cs typeface="Arial" panose="020B0604020202020204" pitchFamily="34" charset="0"/>
              </a:rPr>
              <a:t>Protein sources </a:t>
            </a:r>
          </a:p>
        </p:txBody>
      </p:sp>
      <p:sp>
        <p:nvSpPr>
          <p:cNvPr id="3" name="Subtitle 2">
            <a:extLst>
              <a:ext uri="{FF2B5EF4-FFF2-40B4-BE49-F238E27FC236}">
                <a16:creationId xmlns:a16="http://schemas.microsoft.com/office/drawing/2014/main" id="{85DF89EF-4ECB-0B4D-8C78-D45F13AFEF87}"/>
              </a:ext>
            </a:extLst>
          </p:cNvPr>
          <p:cNvSpPr>
            <a:spLocks noGrp="1"/>
          </p:cNvSpPr>
          <p:nvPr>
            <p:ph type="subTitle" idx="1"/>
          </p:nvPr>
        </p:nvSpPr>
        <p:spPr>
          <a:xfrm>
            <a:off x="1371600" y="4281985"/>
            <a:ext cx="6400800" cy="1752600"/>
          </a:xfrm>
        </p:spPr>
        <p:txBody>
          <a:bodyPr/>
          <a:lstStyle/>
          <a:p>
            <a:r>
              <a:rPr lang="en-US" b="1" dirty="0">
                <a:solidFill>
                  <a:schemeClr val="tx1"/>
                </a:solidFill>
                <a:latin typeface="Arial" panose="020B0604020202020204" pitchFamily="34" charset="0"/>
                <a:cs typeface="Arial" panose="020B0604020202020204" pitchFamily="34" charset="0"/>
              </a:rPr>
              <a:t>Chapter 3</a:t>
            </a:r>
          </a:p>
        </p:txBody>
      </p:sp>
    </p:spTree>
    <p:extLst>
      <p:ext uri="{BB962C8B-B14F-4D97-AF65-F5344CB8AC3E}">
        <p14:creationId xmlns:p14="http://schemas.microsoft.com/office/powerpoint/2010/main" val="27436930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313597"/>
            <a:ext cx="8229600" cy="5360158"/>
          </a:xfrm>
        </p:spPr>
        <p:txBody>
          <a:bodyPr>
            <a:normAutofit fontScale="92500" lnSpcReduction="10000"/>
          </a:bodyPr>
          <a:lstStyle/>
          <a:p>
            <a:r>
              <a:rPr lang="en-US" dirty="0"/>
              <a:t>Proteins may be :</a:t>
            </a:r>
          </a:p>
          <a:p>
            <a:pPr marL="914400" lvl="1" indent="-514350">
              <a:buFont typeface="+mj-lt"/>
              <a:buAutoNum type="arabicPeriod"/>
            </a:pPr>
            <a:r>
              <a:rPr lang="en-US" dirty="0"/>
              <a:t>Extracted from their naturally producing source material, such proteins are called ‘</a:t>
            </a:r>
            <a:r>
              <a:rPr lang="en-US" b="1" dirty="0"/>
              <a:t>homologous’ proteins</a:t>
            </a:r>
          </a:p>
          <a:p>
            <a:pPr marL="914400" lvl="1" indent="-514350">
              <a:buFont typeface="+mj-lt"/>
              <a:buAutoNum type="arabicPeriod"/>
            </a:pPr>
            <a:r>
              <a:rPr lang="en-US" dirty="0"/>
              <a:t>Produced via recombinant DNA technology (recombinant protein production), often termed ‘</a:t>
            </a:r>
            <a:r>
              <a:rPr lang="en-US" b="1" dirty="0"/>
              <a:t>heterologous’ proteins</a:t>
            </a:r>
            <a:r>
              <a:rPr lang="en-US" dirty="0"/>
              <a:t>. </a:t>
            </a:r>
          </a:p>
          <a:p>
            <a:pPr marL="914400" lvl="1" indent="-514350">
              <a:buFont typeface="+mj-lt"/>
              <a:buAutoNum type="arabicPeriod"/>
            </a:pPr>
            <a:endParaRPr lang="en-US" dirty="0"/>
          </a:p>
          <a:p>
            <a:r>
              <a:rPr lang="en-US" dirty="0"/>
              <a:t>Advances in molecular biology and the ‘omics’ era rendered recombinant-based protein expression the more usual means of protein production. </a:t>
            </a:r>
            <a:endParaRPr lang="en-US" sz="2400" dirty="0"/>
          </a:p>
          <a:p>
            <a:pPr marL="0" indent="0">
              <a:buNone/>
            </a:pPr>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Protein sources </a:t>
            </a:r>
          </a:p>
        </p:txBody>
      </p:sp>
    </p:spTree>
    <p:extLst>
      <p:ext uri="{BB962C8B-B14F-4D97-AF65-F5344CB8AC3E}">
        <p14:creationId xmlns:p14="http://schemas.microsoft.com/office/powerpoint/2010/main" val="3822906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855140"/>
            <a:ext cx="8229600" cy="4627547"/>
          </a:xfrm>
        </p:spPr>
        <p:txBody>
          <a:bodyPr>
            <a:normAutofit lnSpcReduction="10000"/>
          </a:bodyPr>
          <a:lstStyle/>
          <a:p>
            <a:r>
              <a:rPr lang="en-US" sz="2800" dirty="0">
                <a:latin typeface="Arial" panose="020B0604020202020204" pitchFamily="34" charset="0"/>
                <a:cs typeface="Arial" panose="020B0604020202020204" pitchFamily="34" charset="0"/>
              </a:rPr>
              <a:t>Recombinant Protein production has a number of advantages over direct extraction from a native source material:</a:t>
            </a:r>
          </a:p>
          <a:p>
            <a:endParaRPr lang="en-US"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Overcomes problems of source availability.</a:t>
            </a:r>
          </a:p>
          <a:p>
            <a:pPr marL="457200" indent="-457200">
              <a:buFont typeface="+mj-lt"/>
              <a:buAutoNum type="arabicPeriod"/>
            </a:pPr>
            <a:endParaRPr lang="en-US"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Overcomes problems of source safety.</a:t>
            </a:r>
          </a:p>
          <a:p>
            <a:pPr marL="457200" indent="-457200">
              <a:buFont typeface="+mj-lt"/>
              <a:buAutoNum type="arabicPeriod"/>
            </a:pPr>
            <a:endParaRPr lang="en-US"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Facilitates predefined modification of the protein’s amino acid sequence.</a:t>
            </a:r>
          </a:p>
          <a:p>
            <a:endParaRPr lang="en-US" sz="28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1077218"/>
          </a:xfrm>
          <a:prstGeom prst="rect">
            <a:avLst/>
          </a:prstGeom>
          <a:noFill/>
        </p:spPr>
        <p:txBody>
          <a:bodyPr wrap="square" rtlCol="0">
            <a:spAutoFit/>
          </a:bodyPr>
          <a:lstStyle/>
          <a:p>
            <a:pPr algn="ctr"/>
            <a:r>
              <a:rPr lang="en-US" sz="3200" b="1" dirty="0">
                <a:solidFill>
                  <a:srgbClr val="FF0000"/>
                </a:solidFill>
              </a:rPr>
              <a:t>Recombinant versus non-recombinant production </a:t>
            </a:r>
          </a:p>
        </p:txBody>
      </p:sp>
    </p:spTree>
    <p:extLst>
      <p:ext uri="{BB962C8B-B14F-4D97-AF65-F5344CB8AC3E}">
        <p14:creationId xmlns:p14="http://schemas.microsoft.com/office/powerpoint/2010/main" val="3136418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596788"/>
            <a:ext cx="8229600" cy="4885899"/>
          </a:xfrm>
        </p:spPr>
        <p:txBody>
          <a:bodyPr>
            <a:normAutofit fontScale="77500" lnSpcReduction="20000"/>
          </a:bodyPr>
          <a:lstStyle/>
          <a:p>
            <a:r>
              <a:rPr lang="en-US" dirty="0"/>
              <a:t>Some proteins obtained by direct extraction from their native source for many reasons, including the following. </a:t>
            </a:r>
            <a:endParaRPr lang="en-US" sz="2800" dirty="0">
              <a:latin typeface="Arial" panose="020B0604020202020204" pitchFamily="34" charset="0"/>
              <a:cs typeface="Arial" panose="020B0604020202020204" pitchFamily="34" charset="0"/>
            </a:endParaRPr>
          </a:p>
          <a:p>
            <a:endParaRPr lang="en-US" sz="2800" dirty="0">
              <a:latin typeface="Arial" panose="020B0604020202020204" pitchFamily="34" charset="0"/>
              <a:cs typeface="Arial" panose="020B0604020202020204" pitchFamily="34" charset="0"/>
            </a:endParaRPr>
          </a:p>
          <a:p>
            <a:pPr marL="457200" indent="-457200">
              <a:buFont typeface="+mj-lt"/>
              <a:buAutoNum type="arabicPeriod"/>
            </a:pPr>
            <a:r>
              <a:rPr lang="en-US" sz="2800" dirty="0">
                <a:latin typeface="Arial" panose="020B0604020202020204" pitchFamily="34" charset="0"/>
                <a:cs typeface="Arial" panose="020B0604020202020204" pitchFamily="34" charset="0"/>
              </a:rPr>
              <a:t>Some proteins are produced by native production sources at very high levels.</a:t>
            </a:r>
          </a:p>
          <a:p>
            <a:pPr marL="457200" indent="-457200">
              <a:buFont typeface="+mj-lt"/>
              <a:buAutoNum type="arabicPeriod"/>
            </a:pPr>
            <a:r>
              <a:rPr lang="en-US" sz="2800" dirty="0">
                <a:latin typeface="Arial" panose="020B0604020202020204" pitchFamily="34" charset="0"/>
                <a:cs typeface="Arial" panose="020B0604020202020204" pitchFamily="34" charset="0"/>
              </a:rPr>
              <a:t>Some proteins, when expressed in recombinant systems, accumulate in a partially/fully unfolded, biologically inactive.</a:t>
            </a:r>
          </a:p>
          <a:p>
            <a:pPr marL="457200" indent="-457200">
              <a:buFont typeface="+mj-lt"/>
              <a:buAutoNum type="arabicPeriod"/>
            </a:pPr>
            <a:r>
              <a:rPr lang="en-US" sz="2800" dirty="0">
                <a:latin typeface="Arial" panose="020B0604020202020204" pitchFamily="34" charset="0"/>
                <a:cs typeface="Arial" panose="020B0604020202020204" pitchFamily="34" charset="0"/>
              </a:rPr>
              <a:t>Some proteins can be quite toxic to the recombinant cells in which they are being produced.</a:t>
            </a:r>
          </a:p>
          <a:p>
            <a:pPr marL="457200" indent="-457200">
              <a:buFont typeface="+mj-lt"/>
              <a:buAutoNum type="arabicPeriod"/>
            </a:pPr>
            <a:r>
              <a:rPr lang="en-US" sz="2800" dirty="0">
                <a:latin typeface="Arial" panose="020B0604020202020204" pitchFamily="34" charset="0"/>
                <a:cs typeface="Arial" panose="020B0604020202020204" pitchFamily="34" charset="0"/>
              </a:rPr>
              <a:t>Production in a recombinant system can influence specific post-translational modifications (PTMs) associated with a protein. </a:t>
            </a:r>
          </a:p>
          <a:p>
            <a:pPr marL="457200" indent="-457200">
              <a:buFont typeface="+mj-lt"/>
              <a:buAutoNum type="arabicPeriod"/>
            </a:pPr>
            <a:r>
              <a:rPr lang="en-US" sz="2800" dirty="0">
                <a:latin typeface="Arial" panose="020B0604020202020204" pitchFamily="34" charset="0"/>
                <a:cs typeface="Arial" panose="020B0604020202020204" pitchFamily="34" charset="0"/>
              </a:rPr>
              <a:t>Public resistance to the use of recombinant products for industrial applications (e.g. food processing), </a:t>
            </a:r>
          </a:p>
          <a:p>
            <a:pPr marL="457200" indent="-457200">
              <a:buFont typeface="+mj-lt"/>
              <a:buAutoNum type="arabicPeriod"/>
            </a:pPr>
            <a:r>
              <a:rPr lang="en-US" sz="2800" dirty="0">
                <a:latin typeface="Arial" panose="020B0604020202020204" pitchFamily="34" charset="0"/>
                <a:cs typeface="Arial" panose="020B0604020202020204" pitchFamily="34" charset="0"/>
              </a:rPr>
              <a:t>Patent issues surrounding the recombinant production route. </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136477"/>
            <a:ext cx="9144000" cy="1077218"/>
          </a:xfrm>
          <a:prstGeom prst="rect">
            <a:avLst/>
          </a:prstGeom>
          <a:noFill/>
        </p:spPr>
        <p:txBody>
          <a:bodyPr wrap="square" rtlCol="0">
            <a:spAutoFit/>
          </a:bodyPr>
          <a:lstStyle/>
          <a:p>
            <a:pPr algn="ctr"/>
            <a:r>
              <a:rPr lang="en-US" sz="3200" b="1" dirty="0">
                <a:solidFill>
                  <a:srgbClr val="FF0000"/>
                </a:solidFill>
              </a:rPr>
              <a:t>Recombinant versus non-recombinant production </a:t>
            </a:r>
          </a:p>
        </p:txBody>
      </p:sp>
    </p:spTree>
    <p:extLst>
      <p:ext uri="{BB962C8B-B14F-4D97-AF65-F5344CB8AC3E}">
        <p14:creationId xmlns:p14="http://schemas.microsoft.com/office/powerpoint/2010/main" val="3516388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855140"/>
            <a:ext cx="8229600" cy="4627547"/>
          </a:xfrm>
        </p:spPr>
        <p:txBody>
          <a:bodyPr>
            <a:normAutofit fontScale="85000" lnSpcReduction="20000"/>
          </a:bodyPr>
          <a:lstStyle/>
          <a:p>
            <a:r>
              <a:rPr lang="en-US" sz="2800" dirty="0">
                <a:latin typeface="Arial" panose="020B0604020202020204" pitchFamily="34" charset="0"/>
                <a:cs typeface="Arial" panose="020B0604020202020204" pitchFamily="34" charset="0"/>
              </a:rPr>
              <a:t>A wide variety of molecular biological approaches may be pursued in order to construct a recombinant protein source organism. The specific approach chosen will depend on a number of considerations, including:</a:t>
            </a:r>
          </a:p>
          <a:p>
            <a:endParaRPr lang="en-US" sz="2800" dirty="0">
              <a:latin typeface="Arial" panose="020B0604020202020204" pitchFamily="34" charset="0"/>
              <a:cs typeface="Arial" panose="020B0604020202020204" pitchFamily="34" charset="0"/>
            </a:endParaRPr>
          </a:p>
          <a:p>
            <a:pPr marL="514350" indent="-514350">
              <a:buFont typeface="+mj-lt"/>
              <a:buAutoNum type="arabicPeriod"/>
            </a:pPr>
            <a:r>
              <a:rPr lang="en-US" sz="2800" dirty="0">
                <a:latin typeface="Arial" panose="020B0604020202020204" pitchFamily="34" charset="0"/>
                <a:cs typeface="Arial" panose="020B0604020202020204" pitchFamily="34" charset="0"/>
              </a:rPr>
              <a:t>How much information is already known about the protein </a:t>
            </a:r>
          </a:p>
          <a:p>
            <a:pPr marL="514350" indent="-514350">
              <a:buFont typeface="+mj-lt"/>
              <a:buAutoNum type="arabicPeriod"/>
            </a:pPr>
            <a:endParaRPr lang="en-US" sz="2800" dirty="0">
              <a:latin typeface="Arial" panose="020B0604020202020204" pitchFamily="34" charset="0"/>
              <a:cs typeface="Arial" panose="020B0604020202020204" pitchFamily="34" charset="0"/>
            </a:endParaRPr>
          </a:p>
          <a:p>
            <a:pPr marL="514350" indent="-514350">
              <a:buFont typeface="+mj-lt"/>
              <a:buAutoNum type="arabicPeriod"/>
            </a:pPr>
            <a:r>
              <a:rPr lang="en-US" sz="2800" dirty="0">
                <a:latin typeface="Arial" panose="020B0604020202020204" pitchFamily="34" charset="0"/>
                <a:cs typeface="Arial" panose="020B0604020202020204" pitchFamily="34" charset="0"/>
              </a:rPr>
              <a:t>The ultimate use for which the protein is required (e.g. for research or for a specific commercial application)</a:t>
            </a:r>
          </a:p>
          <a:p>
            <a:pPr marL="514350" indent="-514350">
              <a:buFont typeface="+mj-lt"/>
              <a:buAutoNum type="arabicPeriod"/>
            </a:pPr>
            <a:endParaRPr lang="en-US" sz="2800" dirty="0">
              <a:latin typeface="Arial" panose="020B0604020202020204" pitchFamily="34" charset="0"/>
              <a:cs typeface="Arial" panose="020B0604020202020204" pitchFamily="34" charset="0"/>
            </a:endParaRPr>
          </a:p>
          <a:p>
            <a:pPr marL="514350" indent="-514350">
              <a:buFont typeface="+mj-lt"/>
              <a:buAutoNum type="arabicPeriod"/>
            </a:pPr>
            <a:r>
              <a:rPr lang="en-US" sz="2800" dirty="0">
                <a:latin typeface="Arial" panose="020B0604020202020204" pitchFamily="34" charset="0"/>
                <a:cs typeface="Arial" panose="020B0604020202020204" pitchFamily="34" charset="0"/>
              </a:rPr>
              <a:t>To some extent the personal preferences of the genetic engineers developing the recombinant system.</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1077218"/>
          </a:xfrm>
          <a:prstGeom prst="rect">
            <a:avLst/>
          </a:prstGeom>
          <a:noFill/>
        </p:spPr>
        <p:txBody>
          <a:bodyPr wrap="square" rtlCol="0">
            <a:spAutoFit/>
          </a:bodyPr>
          <a:lstStyle/>
          <a:p>
            <a:pPr algn="ctr"/>
            <a:r>
              <a:rPr lang="en-US" sz="3200" b="1" dirty="0">
                <a:solidFill>
                  <a:srgbClr val="FF0000"/>
                </a:solidFill>
              </a:rPr>
              <a:t>Approaches to recombinant protein production </a:t>
            </a:r>
          </a:p>
        </p:txBody>
      </p:sp>
    </p:spTree>
    <p:extLst>
      <p:ext uri="{BB962C8B-B14F-4D97-AF65-F5344CB8AC3E}">
        <p14:creationId xmlns:p14="http://schemas.microsoft.com/office/powerpoint/2010/main" val="1088551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1077218"/>
          </a:xfrm>
          <a:prstGeom prst="rect">
            <a:avLst/>
          </a:prstGeom>
          <a:noFill/>
        </p:spPr>
        <p:txBody>
          <a:bodyPr wrap="square" rtlCol="0">
            <a:spAutoFit/>
          </a:bodyPr>
          <a:lstStyle/>
          <a:p>
            <a:pPr algn="ctr"/>
            <a:r>
              <a:rPr lang="en-US" sz="3200" b="1" dirty="0">
                <a:solidFill>
                  <a:srgbClr val="FF0000"/>
                </a:solidFill>
              </a:rPr>
              <a:t>Approaches to recombinant protein production </a:t>
            </a:r>
          </a:p>
        </p:txBody>
      </p:sp>
      <p:pic>
        <p:nvPicPr>
          <p:cNvPr id="6" name="Picture 5">
            <a:extLst>
              <a:ext uri="{FF2B5EF4-FFF2-40B4-BE49-F238E27FC236}">
                <a16:creationId xmlns:a16="http://schemas.microsoft.com/office/drawing/2014/main" id="{2599D34A-9E10-8E4A-9582-80AEC5A82AB3}"/>
              </a:ext>
            </a:extLst>
          </p:cNvPr>
          <p:cNvPicPr>
            <a:picLocks noChangeAspect="1"/>
          </p:cNvPicPr>
          <p:nvPr/>
        </p:nvPicPr>
        <p:blipFill>
          <a:blip r:embed="rId2"/>
          <a:stretch>
            <a:fillRect/>
          </a:stretch>
        </p:blipFill>
        <p:spPr>
          <a:xfrm>
            <a:off x="179178" y="2997200"/>
            <a:ext cx="8777194" cy="1574800"/>
          </a:xfrm>
          <a:prstGeom prst="rect">
            <a:avLst/>
          </a:prstGeom>
        </p:spPr>
      </p:pic>
    </p:spTree>
    <p:extLst>
      <p:ext uri="{BB962C8B-B14F-4D97-AF65-F5344CB8AC3E}">
        <p14:creationId xmlns:p14="http://schemas.microsoft.com/office/powerpoint/2010/main" val="1069449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1077218"/>
          </a:xfrm>
          <a:prstGeom prst="rect">
            <a:avLst/>
          </a:prstGeom>
          <a:noFill/>
        </p:spPr>
        <p:txBody>
          <a:bodyPr wrap="square" rtlCol="0">
            <a:spAutoFit/>
          </a:bodyPr>
          <a:lstStyle/>
          <a:p>
            <a:pPr algn="ctr"/>
            <a:r>
              <a:rPr lang="en-US" sz="3200" b="1" dirty="0">
                <a:solidFill>
                  <a:srgbClr val="FF0000"/>
                </a:solidFill>
              </a:rPr>
              <a:t>Approaches to recombinant protein production </a:t>
            </a:r>
          </a:p>
        </p:txBody>
      </p:sp>
      <p:pic>
        <p:nvPicPr>
          <p:cNvPr id="2" name="Picture 1">
            <a:extLst>
              <a:ext uri="{FF2B5EF4-FFF2-40B4-BE49-F238E27FC236}">
                <a16:creationId xmlns:a16="http://schemas.microsoft.com/office/drawing/2014/main" id="{B903F1C7-E7A9-1E48-94DE-78935BC71D0C}"/>
              </a:ext>
            </a:extLst>
          </p:cNvPr>
          <p:cNvPicPr>
            <a:picLocks noChangeAspect="1"/>
          </p:cNvPicPr>
          <p:nvPr/>
        </p:nvPicPr>
        <p:blipFill>
          <a:blip r:embed="rId2"/>
          <a:stretch>
            <a:fillRect/>
          </a:stretch>
        </p:blipFill>
        <p:spPr>
          <a:xfrm>
            <a:off x="118038" y="2060622"/>
            <a:ext cx="8907924" cy="3848858"/>
          </a:xfrm>
          <a:prstGeom prst="rect">
            <a:avLst/>
          </a:prstGeom>
        </p:spPr>
      </p:pic>
    </p:spTree>
    <p:extLst>
      <p:ext uri="{BB962C8B-B14F-4D97-AF65-F5344CB8AC3E}">
        <p14:creationId xmlns:p14="http://schemas.microsoft.com/office/powerpoint/2010/main" val="2141963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855140"/>
            <a:ext cx="8229600" cy="4777672"/>
          </a:xfrm>
        </p:spPr>
        <p:txBody>
          <a:bodyPr>
            <a:normAutofit fontScale="77500" lnSpcReduction="20000"/>
          </a:bodyPr>
          <a:lstStyle/>
          <a:p>
            <a:r>
              <a:rPr lang="en-US" sz="2800" dirty="0">
                <a:latin typeface="Arial" panose="020B0604020202020204" pitchFamily="34" charset="0"/>
                <a:cs typeface="Arial" panose="020B0604020202020204" pitchFamily="34" charset="0"/>
              </a:rPr>
              <a:t>PCR allows the generation of multiple copies of the specific sequence encoding the target protein.</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 PCR product is then generally inserted into a </a:t>
            </a:r>
            <a:r>
              <a:rPr lang="en-US" sz="2800" b="1" dirty="0">
                <a:latin typeface="Arial" panose="020B0604020202020204" pitchFamily="34" charset="0"/>
                <a:cs typeface="Arial" panose="020B0604020202020204" pitchFamily="34" charset="0"/>
              </a:rPr>
              <a:t>cloning vector</a:t>
            </a:r>
            <a:r>
              <a:rPr lang="en-US" sz="2800" dirty="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 most commonly used vectors in conjunction with </a:t>
            </a:r>
            <a:r>
              <a:rPr lang="en-US" sz="2800" i="1" dirty="0">
                <a:latin typeface="Arial" panose="020B0604020202020204" pitchFamily="34" charset="0"/>
                <a:cs typeface="Arial" panose="020B0604020202020204" pitchFamily="34" charset="0"/>
              </a:rPr>
              <a:t>E. coli </a:t>
            </a:r>
            <a:r>
              <a:rPr lang="en-US" sz="2800" dirty="0">
                <a:latin typeface="Arial" panose="020B0604020202020204" pitchFamily="34" charset="0"/>
                <a:cs typeface="Arial" panose="020B0604020202020204" pitchFamily="34" charset="0"/>
              </a:rPr>
              <a:t>are plasmids.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Plasmids are circular extrachromosomal DNA molecules and generally house one or more genes whose product renders the plasmid-containing cell resistant to specific antibiotic(s).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One plasmid classically used in cloning experiments with </a:t>
            </a:r>
            <a:r>
              <a:rPr lang="en-US" sz="2800" i="1" dirty="0">
                <a:latin typeface="Arial" panose="020B0604020202020204" pitchFamily="34" charset="0"/>
                <a:cs typeface="Arial" panose="020B0604020202020204" pitchFamily="34" charset="0"/>
              </a:rPr>
              <a:t>E. coli </a:t>
            </a:r>
            <a:r>
              <a:rPr lang="en-US" sz="2800" dirty="0">
                <a:latin typeface="Arial" panose="020B0604020202020204" pitchFamily="34" charset="0"/>
                <a:cs typeface="Arial" panose="020B0604020202020204" pitchFamily="34" charset="0"/>
              </a:rPr>
              <a:t>is pUC18</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Cloning the target gene</a:t>
            </a:r>
          </a:p>
        </p:txBody>
      </p:sp>
    </p:spTree>
    <p:extLst>
      <p:ext uri="{BB962C8B-B14F-4D97-AF65-F5344CB8AC3E}">
        <p14:creationId xmlns:p14="http://schemas.microsoft.com/office/powerpoint/2010/main" val="1690049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
            <a:extLst>
              <a:ext uri="{FF2B5EF4-FFF2-40B4-BE49-F238E27FC236}">
                <a16:creationId xmlns:a16="http://schemas.microsoft.com/office/drawing/2014/main" id="{1F54BC94-FB8E-2F4C-9535-E83A202ACC14}"/>
              </a:ext>
            </a:extLst>
          </p:cNvPr>
          <p:cNvSpPr>
            <a:spLocks noGrp="1" noChangeArrowheads="1"/>
          </p:cNvSpPr>
          <p:nvPr>
            <p:ph type="title" idx="4294967295"/>
          </p:nvPr>
        </p:nvSpPr>
        <p:spPr>
          <a:xfrm>
            <a:off x="0" y="304800"/>
            <a:ext cx="9144000" cy="581025"/>
          </a:xfrm>
        </p:spPr>
        <p:txBody>
          <a:bodyPr>
            <a:noAutofit/>
          </a:bodyPr>
          <a:lstStyle/>
          <a:p>
            <a:pPr algn="ctr" eaLnBrk="1" hangingPunct="1">
              <a:buClrTx/>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000" b="1" dirty="0">
                <a:solidFill>
                  <a:srgbClr val="FF0000"/>
                </a:solidFill>
                <a:latin typeface="Arial" panose="020B0604020202020204" pitchFamily="34" charset="0"/>
                <a:cs typeface="Arial" panose="020B0604020202020204" pitchFamily="34" charset="0"/>
              </a:rPr>
              <a:t>Cloning vector features</a:t>
            </a:r>
          </a:p>
        </p:txBody>
      </p:sp>
      <p:sp>
        <p:nvSpPr>
          <p:cNvPr id="20484" name="Rectangle 2">
            <a:extLst>
              <a:ext uri="{FF2B5EF4-FFF2-40B4-BE49-F238E27FC236}">
                <a16:creationId xmlns:a16="http://schemas.microsoft.com/office/drawing/2014/main" id="{D1C45B47-558F-2145-9183-589D8935F1B4}"/>
              </a:ext>
            </a:extLst>
          </p:cNvPr>
          <p:cNvSpPr>
            <a:spLocks noGrp="1" noChangeArrowheads="1"/>
          </p:cNvSpPr>
          <p:nvPr>
            <p:ph type="body" idx="4294967295"/>
          </p:nvPr>
        </p:nvSpPr>
        <p:spPr>
          <a:xfrm>
            <a:off x="561975" y="1447800"/>
            <a:ext cx="8020050" cy="5564188"/>
          </a:xfrm>
        </p:spPr>
        <p:txBody>
          <a:bodyPr/>
          <a:lstStyle/>
          <a:p>
            <a:pPr>
              <a:lnSpc>
                <a:spcPct val="88000"/>
              </a:lnSpc>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altLang="en-US" sz="2800" i="1" dirty="0">
                <a:latin typeface="Arial" panose="020B0604020202020204" pitchFamily="34" charset="0"/>
                <a:cs typeface="Arial" panose="020B0604020202020204" pitchFamily="34" charset="0"/>
              </a:rPr>
              <a:t>Practical Features of DNA Cloning Vectors:</a:t>
            </a:r>
          </a:p>
          <a:p>
            <a:pPr marL="0" indent="0" eaLnBrk="1" hangingPunct="1">
              <a:lnSpc>
                <a:spcPct val="88000"/>
              </a:lnSpc>
              <a:spcBef>
                <a:spcPts val="7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altLang="en-US" sz="2800" b="1" dirty="0">
              <a:latin typeface="Arial" panose="020B0604020202020204" pitchFamily="34" charset="0"/>
              <a:cs typeface="Arial" panose="020B0604020202020204" pitchFamily="34" charset="0"/>
            </a:endParaRPr>
          </a:p>
          <a:p>
            <a:pPr marL="571500" indent="-514350" eaLnBrk="1" hangingPunct="1">
              <a:lnSpc>
                <a:spcPct val="88000"/>
              </a:lnSpc>
              <a:spcBef>
                <a:spcPts val="600"/>
              </a:spcBef>
              <a:buFont typeface="+mj-lt"/>
              <a:buAutoNum type="arabicPeriod"/>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altLang="en-US" sz="2800" b="1" dirty="0">
                <a:latin typeface="Arial" panose="020B0604020202020204" pitchFamily="34" charset="0"/>
                <a:cs typeface="Arial" panose="020B0604020202020204" pitchFamily="34" charset="0"/>
              </a:rPr>
              <a:t>Size</a:t>
            </a:r>
            <a:r>
              <a:rPr lang="en-US" altLang="en-US" sz="2800" dirty="0">
                <a:latin typeface="Arial" panose="020B0604020202020204" pitchFamily="34" charset="0"/>
                <a:cs typeface="Arial" panose="020B0604020202020204" pitchFamily="34" charset="0"/>
              </a:rPr>
              <a:t> – small enough to be separated from chromosomal DNA of host plasmid</a:t>
            </a:r>
          </a:p>
          <a:p>
            <a:pPr marL="571500" indent="-514350" eaLnBrk="1" hangingPunct="1">
              <a:lnSpc>
                <a:spcPct val="88000"/>
              </a:lnSpc>
              <a:spcBef>
                <a:spcPts val="600"/>
              </a:spcBef>
              <a:buFont typeface="+mj-lt"/>
              <a:buAutoNum type="arabicPeriod"/>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altLang="en-US" sz="2800" dirty="0">
              <a:latin typeface="Arial" panose="020B0604020202020204" pitchFamily="34" charset="0"/>
              <a:cs typeface="Arial" panose="020B0604020202020204" pitchFamily="34" charset="0"/>
            </a:endParaRPr>
          </a:p>
          <a:p>
            <a:pPr marL="571500" indent="-514350" eaLnBrk="1" hangingPunct="1">
              <a:lnSpc>
                <a:spcPct val="88000"/>
              </a:lnSpc>
              <a:spcBef>
                <a:spcPts val="600"/>
              </a:spcBef>
              <a:buFont typeface="+mj-lt"/>
              <a:buAutoNum type="arabicPeriod"/>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altLang="en-US" sz="2800" b="1" dirty="0">
                <a:latin typeface="Arial" panose="020B0604020202020204" pitchFamily="34" charset="0"/>
                <a:cs typeface="Arial" panose="020B0604020202020204" pitchFamily="34" charset="0"/>
              </a:rPr>
              <a:t>Origin of replication (</a:t>
            </a:r>
            <a:r>
              <a:rPr lang="en-US" altLang="en-US" sz="2800" b="1" i="1" dirty="0" err="1">
                <a:latin typeface="Arial" panose="020B0604020202020204" pitchFamily="34" charset="0"/>
                <a:cs typeface="Arial" panose="020B0604020202020204" pitchFamily="34" charset="0"/>
              </a:rPr>
              <a:t>ori</a:t>
            </a:r>
            <a:r>
              <a:rPr lang="en-US" altLang="en-US" sz="2800" b="1" dirty="0">
                <a:latin typeface="Arial" panose="020B0604020202020204" pitchFamily="34" charset="0"/>
                <a:cs typeface="Arial" panose="020B0604020202020204" pitchFamily="34" charset="0"/>
              </a:rPr>
              <a:t>) </a:t>
            </a:r>
            <a:r>
              <a:rPr lang="en-US" altLang="en-US" sz="2800" dirty="0">
                <a:latin typeface="Arial" panose="020B0604020202020204" pitchFamily="34" charset="0"/>
                <a:cs typeface="Arial" panose="020B0604020202020204" pitchFamily="34" charset="0"/>
              </a:rPr>
              <a:t>– site for DNA replication that allow plasmids to replicate independently from host </a:t>
            </a:r>
            <a:r>
              <a:rPr lang="en-US" altLang="en-US" sz="2800" dirty="0" smtClean="0">
                <a:latin typeface="Arial" panose="020B0604020202020204" pitchFamily="34" charset="0"/>
                <a:cs typeface="Arial" panose="020B0604020202020204" pitchFamily="34" charset="0"/>
              </a:rPr>
              <a:t>chromosome</a:t>
            </a:r>
          </a:p>
          <a:p>
            <a:pPr marL="571500" indent="-514350" eaLnBrk="1" hangingPunct="1">
              <a:lnSpc>
                <a:spcPct val="88000"/>
              </a:lnSpc>
              <a:spcBef>
                <a:spcPts val="600"/>
              </a:spcBef>
              <a:buFont typeface="+mj-lt"/>
              <a:buAutoNum type="arabicPeriod"/>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r>
              <a:rPr lang="en-US" altLang="en-US" b="1" dirty="0" smtClean="0">
                <a:latin typeface="Arial" panose="020B0604020202020204" pitchFamily="34" charset="0"/>
                <a:cs typeface="Arial" panose="020B0604020202020204" pitchFamily="34" charset="0"/>
              </a:rPr>
              <a:t>Copy </a:t>
            </a:r>
            <a:r>
              <a:rPr lang="en-US" altLang="en-US" b="1" dirty="0">
                <a:latin typeface="Arial" panose="020B0604020202020204" pitchFamily="34" charset="0"/>
                <a:cs typeface="Arial" panose="020B0604020202020204" pitchFamily="34" charset="0"/>
              </a:rPr>
              <a:t>number</a:t>
            </a:r>
            <a:r>
              <a:rPr lang="en-US" altLang="en-US" dirty="0">
                <a:latin typeface="Arial" panose="020B0604020202020204" pitchFamily="34" charset="0"/>
                <a:cs typeface="Arial" panose="020B0604020202020204" pitchFamily="34" charset="0"/>
              </a:rPr>
              <a:t>: number of plasmids in the cell (normally small but plasmids have high copy numbers)</a:t>
            </a:r>
          </a:p>
          <a:p>
            <a:pPr marL="457200" lvl="1" indent="0" eaLnBrk="1" hangingPunct="1">
              <a:lnSpc>
                <a:spcPct val="88000"/>
              </a:lnSpc>
              <a:spcBef>
                <a:spcPts val="600"/>
              </a:spcBef>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defRPr/>
            </a:pPr>
            <a:endParaRPr lang="en-US" alt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04269473"/>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5" name="Rectangle 2">
            <a:extLst>
              <a:ext uri="{FF2B5EF4-FFF2-40B4-BE49-F238E27FC236}">
                <a16:creationId xmlns:a16="http://schemas.microsoft.com/office/drawing/2014/main" id="{8BD0DCE7-6C05-DB4A-A78A-5555306BD4FB}"/>
              </a:ext>
            </a:extLst>
          </p:cNvPr>
          <p:cNvSpPr>
            <a:spLocks noGrp="1" noChangeArrowheads="1"/>
          </p:cNvSpPr>
          <p:nvPr>
            <p:ph type="body" idx="4294967295"/>
          </p:nvPr>
        </p:nvSpPr>
        <p:spPr>
          <a:xfrm>
            <a:off x="457200" y="1524000"/>
            <a:ext cx="8021638" cy="5564188"/>
          </a:xfrm>
        </p:spPr>
        <p:txBody>
          <a:bodyPr/>
          <a:lstStyle/>
          <a:p>
            <a:pPr marL="57150" indent="0" eaLnBrk="1" hangingPunct="1">
              <a:lnSpc>
                <a:spcPct val="88000"/>
              </a:lnSpc>
              <a:spcBef>
                <a:spcPts val="600"/>
              </a:spcBef>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800" b="1" dirty="0" smtClean="0">
                <a:latin typeface="Arial" panose="020B0604020202020204" pitchFamily="34" charset="0"/>
                <a:cs typeface="Arial" panose="020B0604020202020204" pitchFamily="34" charset="0"/>
              </a:rPr>
              <a:t>4. Multiple </a:t>
            </a:r>
            <a:r>
              <a:rPr lang="en-US" altLang="en-US" sz="2800" b="1" dirty="0">
                <a:latin typeface="Arial" panose="020B0604020202020204" pitchFamily="34" charset="0"/>
                <a:cs typeface="Arial" panose="020B0604020202020204" pitchFamily="34" charset="0"/>
              </a:rPr>
              <a:t>cloning site (MCS)</a:t>
            </a:r>
            <a:r>
              <a:rPr lang="en-US" altLang="en-US" sz="2800" dirty="0">
                <a:latin typeface="Arial" panose="020B0604020202020204" pitchFamily="34" charset="0"/>
                <a:cs typeface="Arial" panose="020B0604020202020204" pitchFamily="34" charset="0"/>
              </a:rPr>
              <a:t> – recognition sites for several restriction enzymes in which insert is cloned into</a:t>
            </a:r>
          </a:p>
          <a:p>
            <a:pPr marL="514350" indent="-457200" eaLnBrk="1" hangingPunct="1">
              <a:lnSpc>
                <a:spcPct val="88000"/>
              </a:lnSpc>
              <a:spcBef>
                <a:spcPts val="600"/>
              </a:spcBef>
              <a:buFont typeface="Arial" panose="020B0604020202020204" pitchFamily="34" charset="0"/>
              <a:buAutoNum type="arabicPeriod" startAt="3"/>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en-US" altLang="en-US" sz="2800" dirty="0">
              <a:latin typeface="Arial" panose="020B0604020202020204" pitchFamily="34" charset="0"/>
              <a:cs typeface="Arial" panose="020B0604020202020204" pitchFamily="34" charset="0"/>
            </a:endParaRPr>
          </a:p>
          <a:p>
            <a:pPr marL="57150" indent="0" eaLnBrk="1" hangingPunct="1">
              <a:lnSpc>
                <a:spcPct val="88000"/>
              </a:lnSpc>
              <a:spcBef>
                <a:spcPts val="600"/>
              </a:spcBef>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800" b="1" dirty="0" smtClean="0">
                <a:latin typeface="Arial" panose="020B0604020202020204" pitchFamily="34" charset="0"/>
                <a:cs typeface="Arial" panose="020B0604020202020204" pitchFamily="34" charset="0"/>
              </a:rPr>
              <a:t>5. Selectable </a:t>
            </a:r>
            <a:r>
              <a:rPr lang="en-US" altLang="en-US" sz="2800" b="1" dirty="0">
                <a:latin typeface="Arial" panose="020B0604020202020204" pitchFamily="34" charset="0"/>
                <a:cs typeface="Arial" panose="020B0604020202020204" pitchFamily="34" charset="0"/>
              </a:rPr>
              <a:t>marker genes </a:t>
            </a:r>
            <a:r>
              <a:rPr lang="en-US" altLang="en-US" sz="2800" dirty="0">
                <a:latin typeface="Arial" panose="020B0604020202020204" pitchFamily="34" charset="0"/>
                <a:cs typeface="Arial" panose="020B0604020202020204" pitchFamily="34" charset="0"/>
              </a:rPr>
              <a:t>– allow to select for transformed colonies</a:t>
            </a:r>
          </a:p>
          <a:p>
            <a:pPr marL="514350" indent="-457200" eaLnBrk="1" hangingPunct="1">
              <a:lnSpc>
                <a:spcPct val="88000"/>
              </a:lnSpc>
              <a:spcBef>
                <a:spcPts val="600"/>
              </a:spcBef>
              <a:buFont typeface="Arial" panose="020B0604020202020204" pitchFamily="34" charset="0"/>
              <a:buAutoNum type="arabicPeriod" startAt="3"/>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en-US" altLang="en-US" sz="2800" dirty="0">
              <a:latin typeface="Arial" panose="020B0604020202020204" pitchFamily="34" charset="0"/>
              <a:cs typeface="Arial" panose="020B0604020202020204" pitchFamily="34" charset="0"/>
            </a:endParaRPr>
          </a:p>
          <a:p>
            <a:pPr marL="57150" indent="0" eaLnBrk="1" hangingPunct="1">
              <a:lnSpc>
                <a:spcPct val="88000"/>
              </a:lnSpc>
              <a:spcBef>
                <a:spcPts val="600"/>
              </a:spcBef>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800" b="1" dirty="0" smtClean="0">
                <a:latin typeface="Arial" panose="020B0604020202020204" pitchFamily="34" charset="0"/>
                <a:cs typeface="Arial" panose="020B0604020202020204" pitchFamily="34" charset="0"/>
              </a:rPr>
              <a:t>6. RNA </a:t>
            </a:r>
            <a:r>
              <a:rPr lang="en-US" altLang="en-US" sz="2800" b="1" dirty="0">
                <a:latin typeface="Arial" panose="020B0604020202020204" pitchFamily="34" charset="0"/>
                <a:cs typeface="Arial" panose="020B0604020202020204" pitchFamily="34" charset="0"/>
              </a:rPr>
              <a:t>polymerase promoter sequences </a:t>
            </a:r>
            <a:r>
              <a:rPr lang="en-US" altLang="en-US" sz="2800" dirty="0">
                <a:latin typeface="Arial" panose="020B0604020202020204" pitchFamily="34" charset="0"/>
                <a:cs typeface="Arial" panose="020B0604020202020204" pitchFamily="34" charset="0"/>
              </a:rPr>
              <a:t>– used for transcription </a:t>
            </a:r>
            <a:r>
              <a:rPr lang="en-US" altLang="en-US" sz="2800" i="1" dirty="0">
                <a:latin typeface="Arial" panose="020B0604020202020204" pitchFamily="34" charset="0"/>
                <a:cs typeface="Arial" panose="020B0604020202020204" pitchFamily="34" charset="0"/>
              </a:rPr>
              <a:t>in</a:t>
            </a:r>
            <a:r>
              <a:rPr lang="en-US" altLang="en-US" sz="2800" dirty="0">
                <a:latin typeface="Arial" panose="020B0604020202020204" pitchFamily="34" charset="0"/>
                <a:cs typeface="Arial" panose="020B0604020202020204" pitchFamily="34" charset="0"/>
              </a:rPr>
              <a:t> </a:t>
            </a:r>
            <a:r>
              <a:rPr lang="en-US" altLang="en-US" sz="2800" i="1" dirty="0">
                <a:latin typeface="Arial" panose="020B0604020202020204" pitchFamily="34" charset="0"/>
                <a:cs typeface="Arial" panose="020B0604020202020204" pitchFamily="34" charset="0"/>
              </a:rPr>
              <a:t>vitro</a:t>
            </a:r>
            <a:r>
              <a:rPr lang="en-US" altLang="en-US" sz="2800" dirty="0">
                <a:latin typeface="Arial" panose="020B0604020202020204" pitchFamily="34" charset="0"/>
                <a:cs typeface="Arial" panose="020B0604020202020204" pitchFamily="34" charset="0"/>
              </a:rPr>
              <a:t> and </a:t>
            </a:r>
            <a:r>
              <a:rPr lang="en-US" altLang="en-US" sz="2800" i="1" dirty="0">
                <a:latin typeface="Arial" panose="020B0604020202020204" pitchFamily="34" charset="0"/>
                <a:cs typeface="Arial" panose="020B0604020202020204" pitchFamily="34" charset="0"/>
              </a:rPr>
              <a:t>in vivo</a:t>
            </a:r>
          </a:p>
          <a:p>
            <a:pPr marL="514350" indent="-457200" eaLnBrk="1" hangingPunct="1">
              <a:lnSpc>
                <a:spcPct val="88000"/>
              </a:lnSpc>
              <a:spcBef>
                <a:spcPts val="600"/>
              </a:spcBef>
              <a:buFont typeface="Arial" panose="020B0604020202020204" pitchFamily="34" charset="0"/>
              <a:buAutoNum type="arabicPeriod" startAt="3"/>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endParaRPr lang="en-US" altLang="en-US" sz="2800" dirty="0">
              <a:latin typeface="Arial" panose="020B0604020202020204" pitchFamily="34" charset="0"/>
              <a:cs typeface="Arial" panose="020B0604020202020204" pitchFamily="34" charset="0"/>
            </a:endParaRPr>
          </a:p>
          <a:p>
            <a:pPr marL="57150" indent="0" eaLnBrk="1" hangingPunct="1">
              <a:lnSpc>
                <a:spcPct val="88000"/>
              </a:lnSpc>
              <a:spcBef>
                <a:spcPts val="600"/>
              </a:spcBef>
              <a:buNone/>
              <a:tabLst>
                <a:tab pos="339725" algn="l"/>
                <a:tab pos="452438" algn="l"/>
                <a:tab pos="909638" algn="l"/>
                <a:tab pos="1366838" algn="l"/>
                <a:tab pos="1824038" algn="l"/>
                <a:tab pos="2281238" algn="l"/>
                <a:tab pos="2738438" algn="l"/>
                <a:tab pos="3195638" algn="l"/>
                <a:tab pos="3652838" algn="l"/>
                <a:tab pos="4110038" algn="l"/>
                <a:tab pos="4567238" algn="l"/>
                <a:tab pos="5024438" algn="l"/>
                <a:tab pos="5481638" algn="l"/>
                <a:tab pos="5938838" algn="l"/>
                <a:tab pos="6396038" algn="l"/>
                <a:tab pos="6853238" algn="l"/>
                <a:tab pos="7310438" algn="l"/>
                <a:tab pos="7767638" algn="l"/>
                <a:tab pos="8224838" algn="l"/>
                <a:tab pos="8682038" algn="l"/>
                <a:tab pos="9139238" algn="l"/>
              </a:tabLst>
            </a:pPr>
            <a:r>
              <a:rPr lang="en-US" altLang="en-US" sz="2800" b="1" dirty="0" smtClean="0">
                <a:latin typeface="Arial" panose="020B0604020202020204" pitchFamily="34" charset="0"/>
                <a:cs typeface="Arial" panose="020B0604020202020204" pitchFamily="34" charset="0"/>
              </a:rPr>
              <a:t>7. DNA </a:t>
            </a:r>
            <a:r>
              <a:rPr lang="en-US" altLang="en-US" sz="2800" b="1" dirty="0">
                <a:latin typeface="Arial" panose="020B0604020202020204" pitchFamily="34" charset="0"/>
                <a:cs typeface="Arial" panose="020B0604020202020204" pitchFamily="34" charset="0"/>
              </a:rPr>
              <a:t>sequencing primers</a:t>
            </a:r>
          </a:p>
        </p:txBody>
      </p:sp>
      <p:sp>
        <p:nvSpPr>
          <p:cNvPr id="4" name="Rectangle 1">
            <a:extLst>
              <a:ext uri="{FF2B5EF4-FFF2-40B4-BE49-F238E27FC236}">
                <a16:creationId xmlns:a16="http://schemas.microsoft.com/office/drawing/2014/main" id="{C0F87127-8786-874A-87D4-D1B96CD74FCC}"/>
              </a:ext>
            </a:extLst>
          </p:cNvPr>
          <p:cNvSpPr txBox="1">
            <a:spLocks noChangeArrowheads="1"/>
          </p:cNvSpPr>
          <p:nvPr/>
        </p:nvSpPr>
        <p:spPr>
          <a:xfrm>
            <a:off x="0" y="304800"/>
            <a:ext cx="9144000" cy="581025"/>
          </a:xfrm>
          <a:prstGeom prst="rect">
            <a:avLst/>
          </a:prstGeom>
        </p:spPr>
        <p:txBody>
          <a:bodyPr vert="horz" lIns="91440" tIns="45720" rIns="91440" bIns="45720" rtlCol="0" anchor="ctr">
            <a:noAutofit/>
          </a:bodyPr>
          <a:lstStyle>
            <a:lvl1pPr algn="ctr" defTabSz="457200" rtl="0" eaLnBrk="1" latinLnBrk="0" hangingPunct="1">
              <a:spcBef>
                <a:spcPct val="0"/>
              </a:spcBef>
              <a:buNone/>
              <a:defRPr kumimoji="1" sz="4400" kern="1200">
                <a:solidFill>
                  <a:schemeClr val="tx1"/>
                </a:solidFill>
                <a:latin typeface="+mj-lt"/>
                <a:ea typeface="+mj-ea"/>
                <a:cs typeface="+mj-cs"/>
              </a:defRPr>
            </a:lvl1pPr>
          </a:lstStyle>
          <a:p>
            <a:pPr fontAlgn="auto">
              <a:spcAft>
                <a:spcPts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4000" b="1">
                <a:solidFill>
                  <a:srgbClr val="FF0000"/>
                </a:solidFill>
                <a:latin typeface="Arial" panose="020B0604020202020204" pitchFamily="34" charset="0"/>
                <a:cs typeface="Arial" panose="020B0604020202020204" pitchFamily="34" charset="0"/>
              </a:rPr>
              <a:t>Cloning vector features</a:t>
            </a:r>
            <a:endParaRPr lang="en-US" altLang="en-US" sz="4000" b="1"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8012680"/>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Cloning plasmids</a:t>
            </a:r>
          </a:p>
        </p:txBody>
      </p:sp>
      <p:pic>
        <p:nvPicPr>
          <p:cNvPr id="6" name="Picture 5">
            <a:extLst>
              <a:ext uri="{FF2B5EF4-FFF2-40B4-BE49-F238E27FC236}">
                <a16:creationId xmlns:a16="http://schemas.microsoft.com/office/drawing/2014/main" id="{E14F1229-0B34-D14B-A1F1-DA38D3247D05}"/>
              </a:ext>
            </a:extLst>
          </p:cNvPr>
          <p:cNvPicPr>
            <a:picLocks noChangeAspect="1"/>
          </p:cNvPicPr>
          <p:nvPr/>
        </p:nvPicPr>
        <p:blipFill>
          <a:blip r:embed="rId2"/>
          <a:stretch>
            <a:fillRect/>
          </a:stretch>
        </p:blipFill>
        <p:spPr>
          <a:xfrm>
            <a:off x="551735" y="1027500"/>
            <a:ext cx="8040529" cy="4818615"/>
          </a:xfrm>
          <a:prstGeom prst="rect">
            <a:avLst/>
          </a:prstGeom>
        </p:spPr>
      </p:pic>
      <p:sp>
        <p:nvSpPr>
          <p:cNvPr id="2" name="TextBox 1"/>
          <p:cNvSpPr txBox="1"/>
          <p:nvPr/>
        </p:nvSpPr>
        <p:spPr>
          <a:xfrm>
            <a:off x="666206" y="6139543"/>
            <a:ext cx="8020594" cy="369332"/>
          </a:xfrm>
          <a:prstGeom prst="rect">
            <a:avLst/>
          </a:prstGeom>
          <a:noFill/>
        </p:spPr>
        <p:txBody>
          <a:bodyPr wrap="square" rtlCol="0">
            <a:spAutoFit/>
          </a:bodyPr>
          <a:lstStyle/>
          <a:p>
            <a:r>
              <a:rPr lang="en-US" dirty="0" err="1" smtClean="0"/>
              <a:t>Polylinker</a:t>
            </a:r>
            <a:r>
              <a:rPr lang="en-US" dirty="0" smtClean="0"/>
              <a:t> site; is a site that contain many restriction sites (up to 20)  </a:t>
            </a:r>
            <a:endParaRPr lang="en-US" dirty="0"/>
          </a:p>
        </p:txBody>
      </p:sp>
    </p:spTree>
    <p:extLst>
      <p:ext uri="{BB962C8B-B14F-4D97-AF65-F5344CB8AC3E}">
        <p14:creationId xmlns:p14="http://schemas.microsoft.com/office/powerpoint/2010/main" val="22015810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cloning vector definition puc 18"/>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384" y="313509"/>
            <a:ext cx="8442747" cy="63320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7837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664072"/>
            <a:ext cx="8229600" cy="4777672"/>
          </a:xfrm>
        </p:spPr>
        <p:txBody>
          <a:bodyPr>
            <a:normAutofit lnSpcReduction="10000"/>
          </a:bodyPr>
          <a:lstStyle/>
          <a:p>
            <a:r>
              <a:rPr lang="en-US" sz="2800" dirty="0">
                <a:latin typeface="Arial" panose="020B0604020202020204" pitchFamily="34" charset="0"/>
                <a:cs typeface="Arial" panose="020B0604020202020204" pitchFamily="34" charset="0"/>
              </a:rPr>
              <a:t>The gene/cDNA coding for a potential target protein must be expressed at high levels.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This process involves insertion of the gene into a vector that will support high-level transcription and translation (</a:t>
            </a:r>
            <a:r>
              <a:rPr lang="en-US" sz="2800" b="1" dirty="0">
                <a:latin typeface="Arial" panose="020B0604020202020204" pitchFamily="34" charset="0"/>
                <a:cs typeface="Arial" panose="020B0604020202020204" pitchFamily="34" charset="0"/>
              </a:rPr>
              <a:t>Expression vector</a:t>
            </a:r>
            <a:r>
              <a:rPr lang="en-US" sz="2800" dirty="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A wide range of such expression vectors are now commercially available and obviously each is tailored to work best in a specific host cell type (e.g. bacterial, yeast, mammalian). </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Expression vectors</a:t>
            </a:r>
          </a:p>
        </p:txBody>
      </p:sp>
    </p:spTree>
    <p:extLst>
      <p:ext uri="{BB962C8B-B14F-4D97-AF65-F5344CB8AC3E}">
        <p14:creationId xmlns:p14="http://schemas.microsoft.com/office/powerpoint/2010/main" val="219101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577BD5F-FF03-5845-B724-8FBCBD72C493}"/>
              </a:ext>
            </a:extLst>
          </p:cNvPr>
          <p:cNvPicPr>
            <a:picLocks noChangeAspect="1"/>
          </p:cNvPicPr>
          <p:nvPr/>
        </p:nvPicPr>
        <p:blipFill>
          <a:blip r:embed="rId2"/>
          <a:stretch>
            <a:fillRect/>
          </a:stretch>
        </p:blipFill>
        <p:spPr>
          <a:xfrm>
            <a:off x="89840" y="678588"/>
            <a:ext cx="9054160" cy="3133393"/>
          </a:xfrm>
          <a:prstGeom prst="rect">
            <a:avLst/>
          </a:prstGeom>
        </p:spPr>
      </p:pic>
      <p:sp>
        <p:nvSpPr>
          <p:cNvPr id="7" name="Rectangle 6">
            <a:extLst>
              <a:ext uri="{FF2B5EF4-FFF2-40B4-BE49-F238E27FC236}">
                <a16:creationId xmlns:a16="http://schemas.microsoft.com/office/drawing/2014/main" id="{425EA669-C69A-D548-BB01-FA214EB1FA6A}"/>
              </a:ext>
            </a:extLst>
          </p:cNvPr>
          <p:cNvSpPr/>
          <p:nvPr/>
        </p:nvSpPr>
        <p:spPr>
          <a:xfrm>
            <a:off x="280344" y="3811981"/>
            <a:ext cx="8673152" cy="2785378"/>
          </a:xfrm>
          <a:prstGeom prst="rect">
            <a:avLst/>
          </a:prstGeom>
        </p:spPr>
        <p:txBody>
          <a:bodyPr wrap="square">
            <a:spAutoFit/>
          </a:bodyPr>
          <a:lstStyle/>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(P): </a:t>
            </a:r>
            <a:r>
              <a:rPr lang="en-US" sz="1400" i="1" dirty="0">
                <a:latin typeface="Arial" panose="020B0604020202020204" pitchFamily="34" charset="0"/>
                <a:cs typeface="Arial" panose="020B0604020202020204" pitchFamily="34" charset="0"/>
              </a:rPr>
              <a:t>tac</a:t>
            </a:r>
            <a:r>
              <a:rPr lang="en-US" sz="1400" dirty="0">
                <a:latin typeface="Arial" panose="020B0604020202020204" pitchFamily="34" charset="0"/>
                <a:cs typeface="Arial" panose="020B0604020202020204" pitchFamily="34" charset="0"/>
              </a:rPr>
              <a:t> promoter consisting of the –35 and –10 sequences, which are separated by a 17-base spacer. </a:t>
            </a:r>
          </a:p>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(RBS): The ribosome binding site consists of the Shine–Dalgarno (SD) sequence followed by an AT-rich translational spacer that has an optimal length of approximately eight bases. The SD sequence interacts with the 3’ end of the 16S ribosomal RNA during translational initiation</a:t>
            </a:r>
          </a:p>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Start codons: with the frequency of their usage in </a:t>
            </a:r>
            <a:r>
              <a:rPr lang="en-US" sz="1400" i="1" dirty="0">
                <a:latin typeface="Arial" panose="020B0604020202020204" pitchFamily="34" charset="0"/>
                <a:cs typeface="Arial" panose="020B0604020202020204" pitchFamily="34" charset="0"/>
              </a:rPr>
              <a:t>E. coli</a:t>
            </a:r>
            <a:r>
              <a:rPr lang="en-US" sz="1400" dirty="0">
                <a:latin typeface="Arial" panose="020B0604020202020204" pitchFamily="34" charset="0"/>
                <a:cs typeface="Arial" panose="020B0604020202020204" pitchFamily="34" charset="0"/>
              </a:rPr>
              <a:t>. </a:t>
            </a:r>
          </a:p>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Stop codons: UAA followed by U is the most efficient translational-termination sequence in </a:t>
            </a:r>
            <a:r>
              <a:rPr lang="en-US" sz="1400" i="1" dirty="0">
                <a:latin typeface="Arial" panose="020B0604020202020204" pitchFamily="34" charset="0"/>
                <a:cs typeface="Arial" panose="020B0604020202020204" pitchFamily="34" charset="0"/>
              </a:rPr>
              <a:t>E. coli</a:t>
            </a:r>
            <a:r>
              <a:rPr lang="en-US" sz="1400" dirty="0">
                <a:latin typeface="Arial" panose="020B0604020202020204" pitchFamily="34" charset="0"/>
                <a:cs typeface="Arial" panose="020B0604020202020204" pitchFamily="34" charset="0"/>
              </a:rPr>
              <a:t>. </a:t>
            </a:r>
          </a:p>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(R): repressor encoded by a regulatory gene (R) that modulates the activity of the promoter.</a:t>
            </a:r>
          </a:p>
          <a:p>
            <a:pPr marL="285750" indent="-285750">
              <a:spcAft>
                <a:spcPts val="600"/>
              </a:spcAft>
              <a:buFont typeface="Arial" panose="020B0604020202020204" pitchFamily="34" charset="0"/>
              <a:buChar char="•"/>
            </a:pPr>
            <a:r>
              <a:rPr lang="en-US" sz="1400" dirty="0">
                <a:latin typeface="Arial" panose="020B0604020202020204" pitchFamily="34" charset="0"/>
                <a:cs typeface="Arial" panose="020B0604020202020204" pitchFamily="34" charset="0"/>
              </a:rPr>
              <a:t>(TT): The transcription terminator serves to stabilize the mRNA and the vector</a:t>
            </a:r>
          </a:p>
          <a:p>
            <a:pPr marL="285750" indent="-285750">
              <a:spcAft>
                <a:spcPts val="600"/>
              </a:spcAft>
              <a:buFont typeface="Arial" panose="020B0604020202020204" pitchFamily="34" charset="0"/>
              <a:buChar char="•"/>
            </a:pPr>
            <a:r>
              <a:rPr lang="en-US" sz="1400" i="1" dirty="0" err="1">
                <a:latin typeface="Arial" panose="020B0604020202020204" pitchFamily="34" charset="0"/>
                <a:cs typeface="Arial" panose="020B0604020202020204" pitchFamily="34" charset="0"/>
              </a:rPr>
              <a:t>tet</a:t>
            </a:r>
            <a:r>
              <a:rPr lang="en-US" sz="1400" baseline="30000" dirty="0" err="1">
                <a:latin typeface="Arial" panose="020B0604020202020204" pitchFamily="34" charset="0"/>
                <a:cs typeface="Arial" panose="020B0604020202020204" pitchFamily="34" charset="0"/>
              </a:rPr>
              <a:t>R</a:t>
            </a:r>
            <a:r>
              <a:rPr lang="en-US" sz="1400" dirty="0">
                <a:latin typeface="Arial" panose="020B0604020202020204" pitchFamily="34" charset="0"/>
                <a:cs typeface="Arial" panose="020B0604020202020204" pitchFamily="34" charset="0"/>
              </a:rPr>
              <a:t>: an antibiotic-resistance gene (e.g. for tetracycline) facilitates phenotypic selection of the vector</a:t>
            </a:r>
          </a:p>
          <a:p>
            <a:pPr marL="285750" indent="-285750">
              <a:spcAft>
                <a:spcPts val="600"/>
              </a:spcAft>
              <a:buFont typeface="Arial" panose="020B0604020202020204" pitchFamily="34" charset="0"/>
              <a:buChar char="•"/>
            </a:pPr>
            <a:r>
              <a:rPr lang="en-US" sz="1400" i="1" dirty="0">
                <a:latin typeface="Arial" panose="020B0604020202020204" pitchFamily="34" charset="0"/>
                <a:cs typeface="Arial" panose="020B0604020202020204" pitchFamily="34" charset="0"/>
              </a:rPr>
              <a:t>Ori</a:t>
            </a:r>
            <a:r>
              <a:rPr lang="en-US" sz="1400" dirty="0">
                <a:latin typeface="Arial" panose="020B0604020202020204" pitchFamily="34" charset="0"/>
                <a:cs typeface="Arial" panose="020B0604020202020204" pitchFamily="34" charset="0"/>
              </a:rPr>
              <a:t>: the origin of replication (Ori) determines the vector copy number. </a:t>
            </a:r>
          </a:p>
        </p:txBody>
      </p:sp>
      <p:sp>
        <p:nvSpPr>
          <p:cNvPr id="8" name="TextBox 7">
            <a:extLst>
              <a:ext uri="{FF2B5EF4-FFF2-40B4-BE49-F238E27FC236}">
                <a16:creationId xmlns:a16="http://schemas.microsoft.com/office/drawing/2014/main" id="{1BEF6396-7840-8543-8F1B-104F47F6670C}"/>
              </a:ext>
            </a:extLst>
          </p:cNvPr>
          <p:cNvSpPr txBox="1"/>
          <p:nvPr/>
        </p:nvSpPr>
        <p:spPr>
          <a:xfrm>
            <a:off x="0" y="66517"/>
            <a:ext cx="9144000" cy="584775"/>
          </a:xfrm>
          <a:prstGeom prst="rect">
            <a:avLst/>
          </a:prstGeom>
          <a:noFill/>
        </p:spPr>
        <p:txBody>
          <a:bodyPr wrap="square" rtlCol="0">
            <a:spAutoFit/>
          </a:bodyPr>
          <a:lstStyle/>
          <a:p>
            <a:pPr algn="ctr"/>
            <a:r>
              <a:rPr lang="en-US" sz="3200" b="1" dirty="0">
                <a:solidFill>
                  <a:srgbClr val="FF0000"/>
                </a:solidFill>
              </a:rPr>
              <a:t>Expression vectors</a:t>
            </a:r>
          </a:p>
        </p:txBody>
      </p:sp>
      <p:sp>
        <p:nvSpPr>
          <p:cNvPr id="2" name="Rectangle 1">
            <a:extLst>
              <a:ext uri="{FF2B5EF4-FFF2-40B4-BE49-F238E27FC236}">
                <a16:creationId xmlns:a16="http://schemas.microsoft.com/office/drawing/2014/main" id="{944FC663-0858-384F-9CDA-69A1AF692D54}"/>
              </a:ext>
            </a:extLst>
          </p:cNvPr>
          <p:cNvSpPr/>
          <p:nvPr/>
        </p:nvSpPr>
        <p:spPr>
          <a:xfrm>
            <a:off x="6799413" y="6470401"/>
            <a:ext cx="2249335" cy="253916"/>
          </a:xfrm>
          <a:prstGeom prst="rect">
            <a:avLst/>
          </a:prstGeom>
        </p:spPr>
        <p:txBody>
          <a:bodyPr wrap="none">
            <a:spAutoFit/>
          </a:bodyPr>
          <a:lstStyle/>
          <a:p>
            <a:pPr algn="r"/>
            <a:r>
              <a:rPr lang="en-US" sz="1050" dirty="0" err="1">
                <a:latin typeface="Arial" panose="020B0604020202020204" pitchFamily="34" charset="0"/>
                <a:cs typeface="Arial" panose="020B0604020202020204" pitchFamily="34" charset="0"/>
              </a:rPr>
              <a:t>Hannig</a:t>
            </a:r>
            <a:r>
              <a:rPr lang="en-US" sz="1050" dirty="0">
                <a:latin typeface="Arial" panose="020B0604020202020204" pitchFamily="34" charset="0"/>
                <a:cs typeface="Arial" panose="020B0604020202020204" pitchFamily="34" charset="0"/>
              </a:rPr>
              <a:t> and </a:t>
            </a:r>
            <a:r>
              <a:rPr lang="en-US" sz="1050" dirty="0" err="1">
                <a:latin typeface="Arial" panose="020B0604020202020204" pitchFamily="34" charset="0"/>
                <a:cs typeface="Arial" panose="020B0604020202020204" pitchFamily="34" charset="0"/>
              </a:rPr>
              <a:t>Makrides</a:t>
            </a:r>
            <a:r>
              <a:rPr lang="en-US" sz="1050" dirty="0">
                <a:latin typeface="Arial" panose="020B0604020202020204" pitchFamily="34" charset="0"/>
                <a:cs typeface="Arial" panose="020B0604020202020204" pitchFamily="34" charset="0"/>
              </a:rPr>
              <a:t> (1998) focus</a:t>
            </a:r>
            <a:endParaRPr lang="en-US" sz="105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330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96825" y="1250613"/>
            <a:ext cx="4150351" cy="5473652"/>
          </a:xfrm>
          <a:prstGeom prst="rect">
            <a:avLst/>
          </a:prstGeom>
        </p:spPr>
      </p:pic>
      <p:sp>
        <p:nvSpPr>
          <p:cNvPr id="3" name="Rectangle 2"/>
          <p:cNvSpPr/>
          <p:nvPr/>
        </p:nvSpPr>
        <p:spPr>
          <a:xfrm>
            <a:off x="979423" y="304354"/>
            <a:ext cx="7139391" cy="698396"/>
          </a:xfrm>
          <a:prstGeom prst="rect">
            <a:avLst/>
          </a:prstGeom>
        </p:spPr>
        <p:txBody>
          <a:bodyPr wrap="square">
            <a:spAutoFit/>
          </a:bodyPr>
          <a:lstStyle/>
          <a:p>
            <a:pPr algn="ctr" rtl="0" hangingPunct="0"/>
            <a:r>
              <a:rPr lang="en-US" sz="1969" b="1" dirty="0">
                <a:solidFill>
                  <a:srgbClr val="FF0000"/>
                </a:solidFill>
                <a:latin typeface="Arial"/>
                <a:cs typeface="Arial"/>
              </a:rPr>
              <a:t>Overexpression of the target gene in the native host or heterologous host</a:t>
            </a:r>
          </a:p>
        </p:txBody>
      </p:sp>
      <p:sp>
        <p:nvSpPr>
          <p:cNvPr id="4" name="TextBox 3"/>
          <p:cNvSpPr txBox="1"/>
          <p:nvPr/>
        </p:nvSpPr>
        <p:spPr>
          <a:xfrm>
            <a:off x="7003017" y="6526115"/>
            <a:ext cx="2101537" cy="3319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35719" tIns="35719" rIns="35719" bIns="35719" numCol="1" spcCol="38100" rtlCol="0" anchor="ctr">
            <a:spAutoFit/>
          </a:bodyPr>
          <a:lstStyle/>
          <a:p>
            <a:pPr rtl="0" latinLnBrk="1" hangingPunct="0"/>
            <a:r>
              <a:rPr lang="en-US" altLang="ja-JP" sz="844" i="1" dirty="0">
                <a:solidFill>
                  <a:srgbClr val="000000"/>
                </a:solidFill>
                <a:latin typeface="Arial"/>
                <a:cs typeface="Arial"/>
              </a:rPr>
              <a:t>Glazer &amp; </a:t>
            </a:r>
            <a:r>
              <a:rPr lang="en-US" altLang="ja-JP" sz="844" i="1" dirty="0" err="1">
                <a:solidFill>
                  <a:srgbClr val="000000"/>
                </a:solidFill>
                <a:latin typeface="Arial"/>
                <a:cs typeface="Arial"/>
              </a:rPr>
              <a:t>Nikaido</a:t>
            </a:r>
            <a:r>
              <a:rPr lang="en-US" altLang="ja-JP" sz="844" i="1" dirty="0">
                <a:solidFill>
                  <a:srgbClr val="000000"/>
                </a:solidFill>
                <a:latin typeface="Arial"/>
                <a:cs typeface="Arial"/>
              </a:rPr>
              <a:t>, Microbial Biotechnology</a:t>
            </a:r>
          </a:p>
          <a:p>
            <a:pPr algn="ctr" defTabSz="410751" fontAlgn="auto" latinLnBrk="1">
              <a:spcBef>
                <a:spcPts val="0"/>
              </a:spcBef>
              <a:spcAft>
                <a:spcPts val="0"/>
              </a:spcAft>
            </a:pPr>
            <a:endParaRPr lang="ja-JP" altLang="en-US" sz="844" i="1" dirty="0">
              <a:solidFill>
                <a:srgbClr val="000000"/>
              </a:solidFill>
              <a:latin typeface="Arial"/>
              <a:cs typeface="Arial"/>
              <a:sym typeface="Helvetica"/>
            </a:endParaRPr>
          </a:p>
        </p:txBody>
      </p:sp>
    </p:spTree>
    <p:extLst>
      <p:ext uri="{BB962C8B-B14F-4D97-AF65-F5344CB8AC3E}">
        <p14:creationId xmlns:p14="http://schemas.microsoft.com/office/powerpoint/2010/main" val="3683876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486650"/>
            <a:ext cx="8229600" cy="5371350"/>
          </a:xfrm>
        </p:spPr>
        <p:txBody>
          <a:bodyPr>
            <a:normAutofit fontScale="77500" lnSpcReduction="20000"/>
          </a:bodyPr>
          <a:lstStyle/>
          <a:p>
            <a:r>
              <a:rPr lang="en-US" sz="2800" dirty="0">
                <a:latin typeface="Arial" panose="020B0604020202020204" pitchFamily="34" charset="0"/>
                <a:cs typeface="Arial" panose="020B0604020202020204" pitchFamily="34" charset="0"/>
              </a:rPr>
              <a:t>The majority of recombinant proteins are produced in microbial systems, with </a:t>
            </a:r>
            <a:r>
              <a:rPr lang="en-US" sz="2800" b="1" i="1" dirty="0">
                <a:latin typeface="Arial" panose="020B0604020202020204" pitchFamily="34" charset="0"/>
                <a:cs typeface="Arial" panose="020B0604020202020204" pitchFamily="34" charset="0"/>
              </a:rPr>
              <a:t>E. coli </a:t>
            </a:r>
            <a:r>
              <a:rPr lang="en-US" sz="2800" dirty="0">
                <a:latin typeface="Arial" panose="020B0604020202020204" pitchFamily="34" charset="0"/>
                <a:cs typeface="Arial" panose="020B0604020202020204" pitchFamily="34" charset="0"/>
              </a:rPr>
              <a:t>being the most common expression system used.</a:t>
            </a:r>
          </a:p>
          <a:p>
            <a:endParaRPr lang="en-US" sz="2800" dirty="0">
              <a:latin typeface="Arial" panose="020B0604020202020204" pitchFamily="34" charset="0"/>
              <a:cs typeface="Arial" panose="020B0604020202020204" pitchFamily="34" charset="0"/>
            </a:endParaRPr>
          </a:p>
          <a:p>
            <a:r>
              <a:rPr lang="en-US" sz="2800" b="1" dirty="0">
                <a:latin typeface="Arial" panose="020B0604020202020204" pitchFamily="34" charset="0"/>
                <a:cs typeface="Arial" panose="020B0604020202020204" pitchFamily="34" charset="0"/>
              </a:rPr>
              <a:t>Why</a:t>
            </a:r>
            <a:r>
              <a:rPr lang="en-US" sz="2800" b="1" i="1" dirty="0">
                <a:latin typeface="Arial" panose="020B0604020202020204" pitchFamily="34" charset="0"/>
                <a:cs typeface="Arial" panose="020B0604020202020204" pitchFamily="34" charset="0"/>
              </a:rPr>
              <a:t> E. coli</a:t>
            </a:r>
            <a:r>
              <a:rPr lang="en-US" sz="2800" b="1" dirty="0">
                <a:latin typeface="Arial" panose="020B0604020202020204" pitchFamily="34" charset="0"/>
                <a:cs typeface="Arial" panose="020B0604020202020204" pitchFamily="34" charset="0"/>
              </a:rPr>
              <a:t>?</a:t>
            </a:r>
          </a:p>
          <a:p>
            <a:endParaRPr lang="en-US" sz="2800" b="1" dirty="0">
              <a:latin typeface="Arial" panose="020B0604020202020204" pitchFamily="34" charset="0"/>
              <a:cs typeface="Arial" panose="020B0604020202020204" pitchFamily="34" charset="0"/>
            </a:endParaRPr>
          </a:p>
          <a:p>
            <a:pPr marL="914400" lvl="1" indent="-514350">
              <a:buFont typeface="+mj-lt"/>
              <a:buAutoNum type="arabicPeriod"/>
            </a:pPr>
            <a:r>
              <a:rPr lang="en-US" sz="2400" dirty="0">
                <a:latin typeface="Arial" panose="020B0604020202020204" pitchFamily="34" charset="0"/>
                <a:cs typeface="Arial" panose="020B0604020202020204" pitchFamily="34" charset="0"/>
              </a:rPr>
              <a:t>Model organism for studying of prokaryotic genetics, the genetics of </a:t>
            </a:r>
            <a:r>
              <a:rPr lang="en-US" sz="2400" i="1" dirty="0">
                <a:latin typeface="Arial" panose="020B0604020202020204" pitchFamily="34" charset="0"/>
                <a:cs typeface="Arial" panose="020B0604020202020204" pitchFamily="34" charset="0"/>
              </a:rPr>
              <a:t>E. coli </a:t>
            </a:r>
            <a:r>
              <a:rPr lang="en-US" sz="2400" dirty="0">
                <a:latin typeface="Arial" panose="020B0604020202020204" pitchFamily="34" charset="0"/>
                <a:cs typeface="Arial" panose="020B0604020202020204" pitchFamily="34" charset="0"/>
              </a:rPr>
              <a:t>is known than any other microorganism. </a:t>
            </a:r>
          </a:p>
          <a:p>
            <a:pPr marL="914400" lvl="1" indent="-514350">
              <a:buFont typeface="+mj-lt"/>
              <a:buAutoNum type="arabicPeriod"/>
            </a:pPr>
            <a:endParaRPr lang="en-US" sz="2400" dirty="0">
              <a:latin typeface="Arial" panose="020B0604020202020204" pitchFamily="34" charset="0"/>
              <a:cs typeface="Arial" panose="020B0604020202020204" pitchFamily="34" charset="0"/>
            </a:endParaRPr>
          </a:p>
          <a:p>
            <a:pPr marL="914400" lvl="1" indent="-514350">
              <a:buFont typeface="+mj-lt"/>
              <a:buAutoNum type="arabicPeriod"/>
            </a:pPr>
            <a:r>
              <a:rPr lang="en-US" sz="2400" dirty="0">
                <a:latin typeface="Arial" panose="020B0604020202020204" pitchFamily="34" charset="0"/>
                <a:cs typeface="Arial" panose="020B0604020202020204" pitchFamily="34" charset="0"/>
              </a:rPr>
              <a:t>Suitable plasmids are available, as were a variety of appropriate powerful and inducible promoters.</a:t>
            </a:r>
          </a:p>
          <a:p>
            <a:pPr marL="400050" lvl="1" indent="0">
              <a:buNone/>
            </a:pPr>
            <a:endParaRPr lang="en-US" sz="2400"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 majority of proteins synthesized naturally by </a:t>
            </a:r>
            <a:r>
              <a:rPr lang="en-US" i="1" dirty="0">
                <a:latin typeface="Arial" panose="020B0604020202020204" pitchFamily="34" charset="0"/>
                <a:cs typeface="Arial" panose="020B0604020202020204" pitchFamily="34" charset="0"/>
              </a:rPr>
              <a:t>E. coli </a:t>
            </a:r>
            <a:r>
              <a:rPr lang="en-US" dirty="0">
                <a:latin typeface="Arial" panose="020B0604020202020204" pitchFamily="34" charset="0"/>
                <a:cs typeface="Arial" panose="020B0604020202020204" pitchFamily="34" charset="0"/>
              </a:rPr>
              <a:t>are intracellular and the majority of heterologous proteins expressed in </a:t>
            </a:r>
            <a:r>
              <a:rPr lang="en-US" i="1" dirty="0">
                <a:latin typeface="Arial" panose="020B0604020202020204" pitchFamily="34" charset="0"/>
                <a:cs typeface="Arial" panose="020B0604020202020204" pitchFamily="34" charset="0"/>
              </a:rPr>
              <a:t>E. coli </a:t>
            </a:r>
            <a:r>
              <a:rPr lang="en-US" dirty="0">
                <a:latin typeface="Arial" panose="020B0604020202020204" pitchFamily="34" charset="0"/>
                <a:cs typeface="Arial" panose="020B0604020202020204" pitchFamily="34" charset="0"/>
              </a:rPr>
              <a:t>accumulate in the cell cytoplasm, where they can represent 25% or more of total cellular protein.</a:t>
            </a:r>
            <a:endParaRPr lang="en-US" sz="28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Heterologous protein production in </a:t>
            </a:r>
            <a:r>
              <a:rPr lang="en-US" sz="3200" b="1" i="1" dirty="0">
                <a:solidFill>
                  <a:srgbClr val="FF0000"/>
                </a:solidFill>
              </a:rPr>
              <a:t>E. coli</a:t>
            </a:r>
          </a:p>
        </p:txBody>
      </p:sp>
    </p:spTree>
    <p:extLst>
      <p:ext uri="{BB962C8B-B14F-4D97-AF65-F5344CB8AC3E}">
        <p14:creationId xmlns:p14="http://schemas.microsoft.com/office/powerpoint/2010/main" val="787067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Heterologous protein production in </a:t>
            </a:r>
            <a:r>
              <a:rPr lang="en-US" sz="3200" b="1" i="1" dirty="0">
                <a:solidFill>
                  <a:srgbClr val="FF0000"/>
                </a:solidFill>
              </a:rPr>
              <a:t>E. coli</a:t>
            </a:r>
          </a:p>
        </p:txBody>
      </p:sp>
      <p:pic>
        <p:nvPicPr>
          <p:cNvPr id="6" name="Picture 5">
            <a:extLst>
              <a:ext uri="{FF2B5EF4-FFF2-40B4-BE49-F238E27FC236}">
                <a16:creationId xmlns:a16="http://schemas.microsoft.com/office/drawing/2014/main" id="{E1E00C82-7F4A-5341-B749-D6EC30ABC1F5}"/>
              </a:ext>
            </a:extLst>
          </p:cNvPr>
          <p:cNvPicPr>
            <a:picLocks noChangeAspect="1"/>
          </p:cNvPicPr>
          <p:nvPr/>
        </p:nvPicPr>
        <p:blipFill>
          <a:blip r:embed="rId2"/>
          <a:stretch>
            <a:fillRect/>
          </a:stretch>
        </p:blipFill>
        <p:spPr>
          <a:xfrm>
            <a:off x="175733" y="2169994"/>
            <a:ext cx="8792534" cy="3555242"/>
          </a:xfrm>
          <a:prstGeom prst="rect">
            <a:avLst/>
          </a:prstGeom>
        </p:spPr>
      </p:pic>
    </p:spTree>
    <p:extLst>
      <p:ext uri="{BB962C8B-B14F-4D97-AF65-F5344CB8AC3E}">
        <p14:creationId xmlns:p14="http://schemas.microsoft.com/office/powerpoint/2010/main" val="491566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486650"/>
            <a:ext cx="8229600" cy="5009683"/>
          </a:xfrm>
        </p:spPr>
        <p:txBody>
          <a:bodyPr>
            <a:normAutofit fontScale="77500" lnSpcReduction="20000"/>
          </a:bodyPr>
          <a:lstStyle/>
          <a:p>
            <a:r>
              <a:rPr lang="en-US" sz="2800" dirty="0">
                <a:latin typeface="Arial" panose="020B0604020202020204" pitchFamily="34" charset="0"/>
                <a:cs typeface="Arial" panose="020B0604020202020204" pitchFamily="34" charset="0"/>
              </a:rPr>
              <a:t>Proteins expressed in </a:t>
            </a:r>
            <a:r>
              <a:rPr lang="en-US" sz="2800" i="1" dirty="0">
                <a:latin typeface="Arial" panose="020B0604020202020204" pitchFamily="34" charset="0"/>
                <a:cs typeface="Arial" panose="020B0604020202020204" pitchFamily="34" charset="0"/>
              </a:rPr>
              <a:t>E. coli </a:t>
            </a:r>
            <a:r>
              <a:rPr lang="en-US" sz="2800" dirty="0">
                <a:latin typeface="Arial" panose="020B0604020202020204" pitchFamily="34" charset="0"/>
                <a:cs typeface="Arial" panose="020B0604020202020204" pitchFamily="34" charset="0"/>
              </a:rPr>
              <a:t>sometimes accumulates in the cytoplasm in the form of insoluble aggregates termed inclusion bodies</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Inclusion bodies are partially folded intermediates (often exhibiting stretches of intact secondary structure but little or no tertiary structure), and which are therefore obviously functionally inactive.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Inclusion body formed because of </a:t>
            </a:r>
          </a:p>
          <a:p>
            <a:pPr marL="914400" lvl="1" indent="-514350">
              <a:buFont typeface="+mj-lt"/>
              <a:buAutoNum type="arabicPeriod"/>
            </a:pPr>
            <a:r>
              <a:rPr lang="en-US" sz="2400" dirty="0">
                <a:latin typeface="Arial" panose="020B0604020202020204" pitchFamily="34" charset="0"/>
                <a:cs typeface="Arial" panose="020B0604020202020204" pitchFamily="34" charset="0"/>
              </a:rPr>
              <a:t>Very high local concentrations of the expressed protein in the cytoplasm which may lead to precipitation</a:t>
            </a:r>
          </a:p>
          <a:p>
            <a:pPr marL="914400" lvl="1" indent="-514350">
              <a:buFont typeface="+mj-lt"/>
              <a:buAutoNum type="arabicPeriod"/>
            </a:pPr>
            <a:r>
              <a:rPr lang="en-US" sz="2400" dirty="0">
                <a:latin typeface="Arial" panose="020B0604020202020204" pitchFamily="34" charset="0"/>
                <a:cs typeface="Arial" panose="020B0604020202020204" pitchFamily="34" charset="0"/>
              </a:rPr>
              <a:t>The presence of insufficient chaperones/folding enzymes</a:t>
            </a:r>
          </a:p>
          <a:p>
            <a:pPr marL="914400" lvl="1" indent="-514350">
              <a:buFont typeface="+mj-lt"/>
              <a:buAutoNum type="arabicPeriod"/>
            </a:pPr>
            <a:r>
              <a:rPr lang="en-US" sz="2400" dirty="0">
                <a:latin typeface="Arial" panose="020B0604020202020204" pitchFamily="34" charset="0"/>
                <a:cs typeface="Arial" panose="020B0604020202020204" pitchFamily="34" charset="0"/>
              </a:rPr>
              <a:t>Prevention of formation of disulfide linkages due to the reducing environment of the cytoplasm</a:t>
            </a:r>
          </a:p>
          <a:p>
            <a:pPr marL="914400" lvl="1" indent="-514350">
              <a:buFont typeface="+mj-lt"/>
              <a:buAutoNum type="arabicPeriod"/>
            </a:pPr>
            <a:r>
              <a:rPr lang="en-US" sz="2400" dirty="0">
                <a:latin typeface="Arial" panose="020B0604020202020204" pitchFamily="34" charset="0"/>
                <a:cs typeface="Arial" panose="020B0604020202020204" pitchFamily="34" charset="0"/>
              </a:rPr>
              <a:t>Lack of post-translational modifying enzymes may yield less stable (eukaryotic)</a:t>
            </a:r>
            <a:endParaRPr lang="en-US" sz="2400" dirty="0"/>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Inclusion body formation </a:t>
            </a:r>
          </a:p>
        </p:txBody>
      </p:sp>
    </p:spTree>
    <p:extLst>
      <p:ext uri="{BB962C8B-B14F-4D97-AF65-F5344CB8AC3E}">
        <p14:creationId xmlns:p14="http://schemas.microsoft.com/office/powerpoint/2010/main" val="1684742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Recovery of proteins from Inclusion body </a:t>
            </a:r>
          </a:p>
        </p:txBody>
      </p:sp>
      <p:pic>
        <p:nvPicPr>
          <p:cNvPr id="6" name="Picture 5">
            <a:extLst>
              <a:ext uri="{FF2B5EF4-FFF2-40B4-BE49-F238E27FC236}">
                <a16:creationId xmlns:a16="http://schemas.microsoft.com/office/drawing/2014/main" id="{55AD575D-C8CA-4647-AEA9-E05C1B9118B9}"/>
              </a:ext>
            </a:extLst>
          </p:cNvPr>
          <p:cNvPicPr>
            <a:picLocks noChangeAspect="1"/>
          </p:cNvPicPr>
          <p:nvPr/>
        </p:nvPicPr>
        <p:blipFill>
          <a:blip r:embed="rId2"/>
          <a:stretch>
            <a:fillRect/>
          </a:stretch>
        </p:blipFill>
        <p:spPr>
          <a:xfrm>
            <a:off x="1219010" y="1540490"/>
            <a:ext cx="6705979" cy="4938039"/>
          </a:xfrm>
          <a:prstGeom prst="rect">
            <a:avLst/>
          </a:prstGeom>
        </p:spPr>
      </p:pic>
    </p:spTree>
    <p:extLst>
      <p:ext uri="{BB962C8B-B14F-4D97-AF65-F5344CB8AC3E}">
        <p14:creationId xmlns:p14="http://schemas.microsoft.com/office/powerpoint/2010/main" val="835669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595832"/>
            <a:ext cx="8229600" cy="5009683"/>
          </a:xfrm>
        </p:spPr>
        <p:txBody>
          <a:bodyPr>
            <a:normAutofit fontScale="85000" lnSpcReduction="10000"/>
          </a:bodyPr>
          <a:lstStyle/>
          <a:p>
            <a:pPr marL="514350" indent="-514350">
              <a:buFont typeface="+mj-lt"/>
              <a:buAutoNum type="arabicPeriod"/>
            </a:pPr>
            <a:r>
              <a:rPr lang="en-US" sz="2800" dirty="0">
                <a:latin typeface="Arial" panose="020B0604020202020204" pitchFamily="34" charset="0"/>
                <a:cs typeface="Arial" panose="020B0604020202020204" pitchFamily="34" charset="0"/>
              </a:rPr>
              <a:t>Empirical determination of exact optimal expression system: the host strain, plasmid, promoter sequence, . . etc..</a:t>
            </a:r>
          </a:p>
          <a:p>
            <a:pPr marL="514350" indent="-514350">
              <a:buFont typeface="+mj-lt"/>
              <a:buAutoNum type="arabicPeriod"/>
            </a:pPr>
            <a:r>
              <a:rPr lang="en-US" sz="2800" dirty="0">
                <a:latin typeface="Arial" panose="020B0604020202020204" pitchFamily="34" charset="0"/>
                <a:cs typeface="Arial" panose="020B0604020202020204" pitchFamily="34" charset="0"/>
              </a:rPr>
              <a:t>Growth of recombinant cells below optimal growth temperatures: this slows the growth and division rate of the cells, thereby also reducing the rate of recombinant protein synthesis. </a:t>
            </a:r>
          </a:p>
          <a:p>
            <a:pPr marL="514350" indent="-514350">
              <a:buFont typeface="+mj-lt"/>
              <a:buAutoNum type="arabicPeriod"/>
            </a:pPr>
            <a:r>
              <a:rPr lang="en-US" sz="2800" dirty="0">
                <a:latin typeface="Arial" panose="020B0604020202020204" pitchFamily="34" charset="0"/>
                <a:cs typeface="Arial" panose="020B0604020202020204" pitchFamily="34" charset="0"/>
              </a:rPr>
              <a:t>Enhancing the endogenous production of a cofactor (or exogenously providing the cofactor) can increase soluble yields of a recombinant protein which requires the cofactor concerned.</a:t>
            </a:r>
          </a:p>
          <a:p>
            <a:pPr marL="514350" indent="-514350">
              <a:buFont typeface="+mj-lt"/>
              <a:buAutoNum type="arabicPeriod"/>
            </a:pPr>
            <a:r>
              <a:rPr lang="en-US" sz="2800" dirty="0">
                <a:latin typeface="Arial" panose="020B0604020202020204" pitchFamily="34" charset="0"/>
                <a:cs typeface="Arial" panose="020B0604020202020204" pitchFamily="34" charset="0"/>
              </a:rPr>
              <a:t>Co-expression of chaperones can improve soluble yield of heterologous protein.</a:t>
            </a:r>
          </a:p>
          <a:p>
            <a:pPr marL="514350" indent="-514350">
              <a:buFont typeface="+mj-lt"/>
              <a:buAutoNum type="arabicPeriod"/>
            </a:pPr>
            <a:r>
              <a:rPr lang="en-US" sz="2800" dirty="0">
                <a:latin typeface="Arial" panose="020B0604020202020204" pitchFamily="34" charset="0"/>
                <a:cs typeface="Arial" panose="020B0604020202020204" pitchFamily="34" charset="0"/>
              </a:rPr>
              <a:t>Expression of the desired product as a fusion protein</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204715"/>
            <a:ext cx="9144000" cy="1200329"/>
          </a:xfrm>
          <a:prstGeom prst="rect">
            <a:avLst/>
          </a:prstGeom>
          <a:noFill/>
        </p:spPr>
        <p:txBody>
          <a:bodyPr wrap="square" rtlCol="0">
            <a:spAutoFit/>
          </a:bodyPr>
          <a:lstStyle/>
          <a:p>
            <a:pPr algn="ctr"/>
            <a:r>
              <a:rPr lang="en-US" sz="3600" b="1" dirty="0">
                <a:solidFill>
                  <a:srgbClr val="FF0000"/>
                </a:solidFill>
              </a:rPr>
              <a:t>Production of soluble heterologous protein in </a:t>
            </a:r>
            <a:r>
              <a:rPr lang="en-US" sz="3600" b="1" i="1" dirty="0">
                <a:solidFill>
                  <a:srgbClr val="FF0000"/>
                </a:solidFill>
              </a:rPr>
              <a:t>E. coli </a:t>
            </a:r>
          </a:p>
        </p:txBody>
      </p:sp>
    </p:spTree>
    <p:extLst>
      <p:ext uri="{BB962C8B-B14F-4D97-AF65-F5344CB8AC3E}">
        <p14:creationId xmlns:p14="http://schemas.microsoft.com/office/powerpoint/2010/main" val="2866536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698192"/>
            <a:ext cx="8229600" cy="5009683"/>
          </a:xfrm>
        </p:spPr>
        <p:txBody>
          <a:bodyPr>
            <a:normAutofit fontScale="70000" lnSpcReduction="20000"/>
          </a:bodyPr>
          <a:lstStyle/>
          <a:p>
            <a:r>
              <a:rPr lang="en-US" sz="2800" dirty="0">
                <a:latin typeface="Arial" panose="020B0604020202020204" pitchFamily="34" charset="0"/>
                <a:cs typeface="Arial" panose="020B0604020202020204" pitchFamily="34" charset="0"/>
              </a:rPr>
              <a:t>Fusion to a (highly soluble) native host cytoplasmic protein enhances otherwise insoluble heterologous proteins.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In addition to that, expression levels of the recombinant protein construct increases.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Two of the more common fusion partners are maltose-binding protein (a 42-kDa protein encoded by the </a:t>
            </a:r>
            <a:r>
              <a:rPr lang="en-US" sz="2800" i="1" dirty="0" err="1">
                <a:latin typeface="Arial" panose="020B0604020202020204" pitchFamily="34" charset="0"/>
                <a:cs typeface="Arial" panose="020B0604020202020204" pitchFamily="34" charset="0"/>
              </a:rPr>
              <a:t>malE</a:t>
            </a:r>
            <a:r>
              <a:rPr lang="en-US" sz="2800" dirty="0">
                <a:latin typeface="Arial" panose="020B0604020202020204" pitchFamily="34" charset="0"/>
                <a:cs typeface="Arial" panose="020B0604020202020204" pitchFamily="34" charset="0"/>
              </a:rPr>
              <a:t> gene) and thioredoxin A (a 116-kDa cytoplasmic, highly soluble oxidoreductase enzyme).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Fusion partner approach does suffer from a number of potential drawbacks, including:</a:t>
            </a:r>
          </a:p>
          <a:p>
            <a:pPr marL="914400" lvl="1" indent="-514350">
              <a:buFont typeface="+mj-lt"/>
              <a:buAutoNum type="arabicPeriod"/>
            </a:pPr>
            <a:r>
              <a:rPr lang="en-US" sz="2400" dirty="0">
                <a:latin typeface="Arial" panose="020B0604020202020204" pitchFamily="34" charset="0"/>
                <a:cs typeface="Arial" panose="020B0604020202020204" pitchFamily="34" charset="0"/>
              </a:rPr>
              <a:t>No fusion partner works universally to solubilize all proteins, and some proteins will remain insoluble no matter which tag is attached</a:t>
            </a:r>
          </a:p>
          <a:p>
            <a:pPr marL="914400" lvl="1" indent="-514350">
              <a:buFont typeface="+mj-lt"/>
              <a:buAutoNum type="arabicPeriod"/>
            </a:pPr>
            <a:r>
              <a:rPr lang="en-US" sz="2400" dirty="0">
                <a:latin typeface="Arial" panose="020B0604020202020204" pitchFamily="34" charset="0"/>
                <a:cs typeface="Arial" panose="020B0604020202020204" pitchFamily="34" charset="0"/>
              </a:rPr>
              <a:t>Subsequent proteolytic tag removal may not be efficient (due to perhaps steric considerations);</a:t>
            </a:r>
          </a:p>
          <a:p>
            <a:pPr marL="914400" lvl="1" indent="-514350">
              <a:buFont typeface="+mj-lt"/>
              <a:buAutoNum type="arabicPeriod"/>
            </a:pPr>
            <a:r>
              <a:rPr lang="en-US" sz="2400" dirty="0">
                <a:latin typeface="Arial" panose="020B0604020202020204" pitchFamily="34" charset="0"/>
                <a:cs typeface="Arial" panose="020B0604020202020204" pitchFamily="34" charset="0"/>
              </a:rPr>
              <a:t>The protein may not remain soluble once the tag is removed.</a:t>
            </a:r>
          </a:p>
        </p:txBody>
      </p:sp>
      <p:sp>
        <p:nvSpPr>
          <p:cNvPr id="5" name="TextBox 4">
            <a:extLst>
              <a:ext uri="{FF2B5EF4-FFF2-40B4-BE49-F238E27FC236}">
                <a16:creationId xmlns:a16="http://schemas.microsoft.com/office/drawing/2014/main" id="{11D6C7E1-5D31-594A-A423-C0845B5CABA7}"/>
              </a:ext>
            </a:extLst>
          </p:cNvPr>
          <p:cNvSpPr txBox="1"/>
          <p:nvPr/>
        </p:nvSpPr>
        <p:spPr>
          <a:xfrm>
            <a:off x="0" y="204715"/>
            <a:ext cx="9144000" cy="646331"/>
          </a:xfrm>
          <a:prstGeom prst="rect">
            <a:avLst/>
          </a:prstGeom>
          <a:noFill/>
        </p:spPr>
        <p:txBody>
          <a:bodyPr wrap="square" rtlCol="0">
            <a:spAutoFit/>
          </a:bodyPr>
          <a:lstStyle/>
          <a:p>
            <a:pPr algn="ctr"/>
            <a:r>
              <a:rPr lang="en-US" sz="3600" b="1" dirty="0">
                <a:solidFill>
                  <a:srgbClr val="FF0000"/>
                </a:solidFill>
              </a:rPr>
              <a:t>Fusion Partners</a:t>
            </a:r>
            <a:endParaRPr lang="en-US" sz="3600" b="1" i="1" dirty="0">
              <a:solidFill>
                <a:srgbClr val="FF0000"/>
              </a:solidFill>
            </a:endParaRPr>
          </a:p>
        </p:txBody>
      </p:sp>
    </p:spTree>
    <p:extLst>
      <p:ext uri="{BB962C8B-B14F-4D97-AF65-F5344CB8AC3E}">
        <p14:creationId xmlns:p14="http://schemas.microsoft.com/office/powerpoint/2010/main" val="26117249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9D0F5BE-A7BB-F948-AD3C-43B4BEDD0C5E}"/>
              </a:ext>
            </a:extLst>
          </p:cNvPr>
          <p:cNvSpPr txBox="1"/>
          <p:nvPr/>
        </p:nvSpPr>
        <p:spPr>
          <a:xfrm>
            <a:off x="0" y="204715"/>
            <a:ext cx="9144000" cy="646331"/>
          </a:xfrm>
          <a:prstGeom prst="rect">
            <a:avLst/>
          </a:prstGeom>
          <a:noFill/>
        </p:spPr>
        <p:txBody>
          <a:bodyPr wrap="square" rtlCol="0">
            <a:spAutoFit/>
          </a:bodyPr>
          <a:lstStyle/>
          <a:p>
            <a:pPr algn="ctr"/>
            <a:r>
              <a:rPr lang="en-US" sz="3600" b="1" dirty="0">
                <a:solidFill>
                  <a:srgbClr val="FF0000"/>
                </a:solidFill>
              </a:rPr>
              <a:t>Fusion Partners</a:t>
            </a:r>
            <a:endParaRPr lang="en-US" sz="3600" b="1" i="1" dirty="0">
              <a:solidFill>
                <a:srgbClr val="FF0000"/>
              </a:solidFill>
            </a:endParaRPr>
          </a:p>
        </p:txBody>
      </p:sp>
      <p:pic>
        <p:nvPicPr>
          <p:cNvPr id="7" name="Picture 6">
            <a:extLst>
              <a:ext uri="{FF2B5EF4-FFF2-40B4-BE49-F238E27FC236}">
                <a16:creationId xmlns:a16="http://schemas.microsoft.com/office/drawing/2014/main" id="{DF6B57D9-E93A-9B42-8689-092F3DA30A2D}"/>
              </a:ext>
            </a:extLst>
          </p:cNvPr>
          <p:cNvPicPr>
            <a:picLocks noChangeAspect="1"/>
          </p:cNvPicPr>
          <p:nvPr/>
        </p:nvPicPr>
        <p:blipFill>
          <a:blip r:embed="rId2"/>
          <a:stretch>
            <a:fillRect/>
          </a:stretch>
        </p:blipFill>
        <p:spPr>
          <a:xfrm>
            <a:off x="1968488" y="973568"/>
            <a:ext cx="5207024" cy="5775250"/>
          </a:xfrm>
          <a:prstGeom prst="rect">
            <a:avLst/>
          </a:prstGeom>
        </p:spPr>
      </p:pic>
      <p:sp>
        <p:nvSpPr>
          <p:cNvPr id="8" name="Rectangle 7">
            <a:extLst>
              <a:ext uri="{FF2B5EF4-FFF2-40B4-BE49-F238E27FC236}">
                <a16:creationId xmlns:a16="http://schemas.microsoft.com/office/drawing/2014/main" id="{2840DCFB-82A6-1541-95CF-B17A4229CB95}"/>
              </a:ext>
            </a:extLst>
          </p:cNvPr>
          <p:cNvSpPr/>
          <p:nvPr/>
        </p:nvSpPr>
        <p:spPr>
          <a:xfrm>
            <a:off x="6799413" y="6470401"/>
            <a:ext cx="2249335" cy="253916"/>
          </a:xfrm>
          <a:prstGeom prst="rect">
            <a:avLst/>
          </a:prstGeom>
        </p:spPr>
        <p:txBody>
          <a:bodyPr wrap="none">
            <a:spAutoFit/>
          </a:bodyPr>
          <a:lstStyle/>
          <a:p>
            <a:pPr algn="r"/>
            <a:r>
              <a:rPr lang="en-US" sz="1050" dirty="0" err="1">
                <a:latin typeface="Arial" panose="020B0604020202020204" pitchFamily="34" charset="0"/>
                <a:cs typeface="Arial" panose="020B0604020202020204" pitchFamily="34" charset="0"/>
              </a:rPr>
              <a:t>Hannig</a:t>
            </a:r>
            <a:r>
              <a:rPr lang="en-US" sz="1050" dirty="0">
                <a:latin typeface="Arial" panose="020B0604020202020204" pitchFamily="34" charset="0"/>
                <a:cs typeface="Arial" panose="020B0604020202020204" pitchFamily="34" charset="0"/>
              </a:rPr>
              <a:t> and </a:t>
            </a:r>
            <a:r>
              <a:rPr lang="en-US" sz="1050" dirty="0" err="1">
                <a:latin typeface="Arial" panose="020B0604020202020204" pitchFamily="34" charset="0"/>
                <a:cs typeface="Arial" panose="020B0604020202020204" pitchFamily="34" charset="0"/>
              </a:rPr>
              <a:t>Makrides</a:t>
            </a:r>
            <a:r>
              <a:rPr lang="en-US" sz="1050" dirty="0">
                <a:latin typeface="Arial" panose="020B0604020202020204" pitchFamily="34" charset="0"/>
                <a:cs typeface="Arial" panose="020B0604020202020204" pitchFamily="34" charset="0"/>
              </a:rPr>
              <a:t> (1998) focus</a:t>
            </a:r>
            <a:endParaRPr lang="en-US" sz="105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6327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486649"/>
            <a:ext cx="8229600" cy="5009683"/>
          </a:xfrm>
        </p:spPr>
        <p:txBody>
          <a:bodyPr>
            <a:normAutofit fontScale="92500" lnSpcReduction="10000"/>
          </a:bodyPr>
          <a:lstStyle/>
          <a:p>
            <a:r>
              <a:rPr lang="en-US" sz="2800" dirty="0">
                <a:latin typeface="Arial" panose="020B0604020202020204" pitchFamily="34" charset="0"/>
                <a:cs typeface="Arial" panose="020B0604020202020204" pitchFamily="34" charset="0"/>
              </a:rPr>
              <a:t>Advantages of extracellular production of recombinant proteins in </a:t>
            </a:r>
            <a:r>
              <a:rPr lang="en-US" sz="2800" i="1" dirty="0">
                <a:latin typeface="Arial" panose="020B0604020202020204" pitchFamily="34" charset="0"/>
                <a:cs typeface="Arial" panose="020B0604020202020204" pitchFamily="34" charset="0"/>
              </a:rPr>
              <a:t>E. coli </a:t>
            </a:r>
            <a:r>
              <a:rPr lang="en-US" sz="2800" dirty="0">
                <a:latin typeface="Arial" panose="020B0604020202020204" pitchFamily="34" charset="0"/>
                <a:cs typeface="Arial" panose="020B0604020202020204" pitchFamily="34" charset="0"/>
              </a:rPr>
              <a:t>:</a:t>
            </a:r>
          </a:p>
          <a:p>
            <a:endParaRPr lang="en-US" sz="2800" dirty="0">
              <a:latin typeface="Arial" panose="020B0604020202020204" pitchFamily="34" charset="0"/>
              <a:cs typeface="Arial" panose="020B0604020202020204" pitchFamily="34" charset="0"/>
            </a:endParaRPr>
          </a:p>
          <a:p>
            <a:pPr marL="914400" lvl="1" indent="-514350">
              <a:buFont typeface="+mj-lt"/>
              <a:buAutoNum type="arabicPeriod"/>
            </a:pPr>
            <a:r>
              <a:rPr lang="en-US" sz="2400" dirty="0">
                <a:latin typeface="Arial" panose="020B0604020202020204" pitchFamily="34" charset="0"/>
                <a:cs typeface="Arial" panose="020B0604020202020204" pitchFamily="34" charset="0"/>
              </a:rPr>
              <a:t>Ease of subsequent protein recovery and simplification of subsequent protein purification as </a:t>
            </a:r>
            <a:r>
              <a:rPr lang="en-US" sz="2400" i="1" dirty="0">
                <a:latin typeface="Arial" panose="020B0604020202020204" pitchFamily="34" charset="0"/>
                <a:cs typeface="Arial" panose="020B0604020202020204" pitchFamily="34" charset="0"/>
              </a:rPr>
              <a:t>E. coli</a:t>
            </a:r>
            <a:r>
              <a:rPr lang="en-US" sz="2400" dirty="0">
                <a:latin typeface="Arial" panose="020B0604020202020204" pitchFamily="34" charset="0"/>
                <a:cs typeface="Arial" panose="020B0604020202020204" pitchFamily="34" charset="0"/>
              </a:rPr>
              <a:t> exports very few proteins</a:t>
            </a:r>
          </a:p>
          <a:p>
            <a:pPr marL="914400" lvl="1" indent="-514350">
              <a:buFont typeface="+mj-lt"/>
              <a:buAutoNum type="arabicPeriod"/>
            </a:pPr>
            <a:endParaRPr lang="en-US" sz="2400" dirty="0">
              <a:latin typeface="Arial" panose="020B0604020202020204" pitchFamily="34" charset="0"/>
              <a:cs typeface="Arial" panose="020B0604020202020204" pitchFamily="34" charset="0"/>
            </a:endParaRPr>
          </a:p>
          <a:p>
            <a:pPr marL="914400" lvl="1" indent="-514350">
              <a:buFont typeface="+mj-lt"/>
              <a:buAutoNum type="arabicPeriod"/>
            </a:pPr>
            <a:r>
              <a:rPr lang="en-US" sz="2400" dirty="0">
                <a:latin typeface="Arial" panose="020B0604020202020204" pitchFamily="34" charset="0"/>
                <a:cs typeface="Arial" panose="020B0604020202020204" pitchFamily="34" charset="0"/>
              </a:rPr>
              <a:t>Reduced likelihood of proteolytic degradation of the recombinant protein (</a:t>
            </a:r>
            <a:r>
              <a:rPr lang="en-US" sz="2400" i="1" dirty="0">
                <a:latin typeface="Arial" panose="020B0604020202020204" pitchFamily="34" charset="0"/>
                <a:cs typeface="Arial" panose="020B0604020202020204" pitchFamily="34" charset="0"/>
              </a:rPr>
              <a:t>E. coli </a:t>
            </a:r>
            <a:r>
              <a:rPr lang="en-US" sz="2400" dirty="0">
                <a:latin typeface="Arial" panose="020B0604020202020204" pitchFamily="34" charset="0"/>
                <a:cs typeface="Arial" panose="020B0604020202020204" pitchFamily="34" charset="0"/>
              </a:rPr>
              <a:t>produces many intracellular proteases but few extracellular proteases);</a:t>
            </a:r>
          </a:p>
          <a:p>
            <a:pPr marL="914400" lvl="1" indent="-514350">
              <a:buFont typeface="+mj-lt"/>
              <a:buAutoNum type="arabicPeriod"/>
            </a:pPr>
            <a:endParaRPr lang="en-US" sz="2400" dirty="0">
              <a:latin typeface="Arial" panose="020B0604020202020204" pitchFamily="34" charset="0"/>
              <a:cs typeface="Arial" panose="020B0604020202020204" pitchFamily="34" charset="0"/>
            </a:endParaRPr>
          </a:p>
          <a:p>
            <a:pPr marL="914400" lvl="1" indent="-514350">
              <a:buFont typeface="+mj-lt"/>
              <a:buAutoNum type="arabicPeriod"/>
            </a:pPr>
            <a:r>
              <a:rPr lang="en-US" sz="2400" dirty="0">
                <a:latin typeface="Arial" panose="020B0604020202020204" pitchFamily="34" charset="0"/>
                <a:cs typeface="Arial" panose="020B0604020202020204" pitchFamily="34" charset="0"/>
              </a:rPr>
              <a:t>Increased likelihood of correct protein disulfide bond formation (disulfide bonds will not form in the cytoplasm due to its reducing chemical environment).</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Extracellular production </a:t>
            </a:r>
          </a:p>
        </p:txBody>
      </p:sp>
    </p:spTree>
    <p:extLst>
      <p:ext uri="{BB962C8B-B14F-4D97-AF65-F5344CB8AC3E}">
        <p14:creationId xmlns:p14="http://schemas.microsoft.com/office/powerpoint/2010/main" val="4061677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322876"/>
            <a:ext cx="8229600" cy="5282641"/>
          </a:xfrm>
        </p:spPr>
        <p:txBody>
          <a:bodyPr>
            <a:normAutofit fontScale="70000" lnSpcReduction="20000"/>
          </a:bodyPr>
          <a:lstStyle/>
          <a:p>
            <a:r>
              <a:rPr lang="en-US" sz="2800" dirty="0">
                <a:latin typeface="Arial" panose="020B0604020202020204" pitchFamily="34" charset="0"/>
                <a:cs typeface="Arial" panose="020B0604020202020204" pitchFamily="34" charset="0"/>
              </a:rPr>
              <a:t>Extracellular protein export from Gram-negative bacteria is complex in that it requires translocation through two membranes.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At least five different secretory transport systems have been identified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Type I and type II secretory systems predominate in </a:t>
            </a:r>
            <a:r>
              <a:rPr lang="en-US" sz="2800" i="1" dirty="0">
                <a:latin typeface="Arial" panose="020B0604020202020204" pitchFamily="34" charset="0"/>
                <a:cs typeface="Arial" panose="020B0604020202020204" pitchFamily="34" charset="0"/>
              </a:rPr>
              <a:t>E. coli</a:t>
            </a:r>
            <a:r>
              <a:rPr lang="en-US" sz="2800" dirty="0">
                <a:latin typeface="Arial" panose="020B0604020202020204" pitchFamily="34" charset="0"/>
                <a:cs typeface="Arial" panose="020B0604020202020204" pitchFamily="34" charset="0"/>
              </a:rPr>
              <a:t>, and both have been used in attempts to develop engineered strains capable of exporting recombinant protein extracellularly.</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 type I secretory mechanism achieves a one-step transport of exported proteins across both membranes</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Native proteins secreted via this system have a characteristic C-terminal targeting signal peptide sequence. </a:t>
            </a:r>
          </a:p>
          <a:p>
            <a:endParaRPr lang="en-US" sz="2800"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This signal sequence can be appended to recombinant proteins in order to facilitate their export via this transport mechanism.</a:t>
            </a:r>
            <a:endParaRPr lang="en-US" sz="24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Extracellular production </a:t>
            </a:r>
          </a:p>
        </p:txBody>
      </p:sp>
    </p:spTree>
    <p:extLst>
      <p:ext uri="{BB962C8B-B14F-4D97-AF65-F5344CB8AC3E}">
        <p14:creationId xmlns:p14="http://schemas.microsoft.com/office/powerpoint/2010/main" val="3765528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The Type I secretory system </a:t>
            </a:r>
          </a:p>
        </p:txBody>
      </p:sp>
      <p:pic>
        <p:nvPicPr>
          <p:cNvPr id="2" name="Picture 1">
            <a:extLst>
              <a:ext uri="{FF2B5EF4-FFF2-40B4-BE49-F238E27FC236}">
                <a16:creationId xmlns:a16="http://schemas.microsoft.com/office/drawing/2014/main" id="{FD2809DE-0170-5149-9FE6-67286E7B8AA0}"/>
              </a:ext>
            </a:extLst>
          </p:cNvPr>
          <p:cNvPicPr>
            <a:picLocks noChangeAspect="1"/>
          </p:cNvPicPr>
          <p:nvPr/>
        </p:nvPicPr>
        <p:blipFill>
          <a:blip r:embed="rId2"/>
          <a:stretch>
            <a:fillRect/>
          </a:stretch>
        </p:blipFill>
        <p:spPr>
          <a:xfrm>
            <a:off x="238251" y="1478318"/>
            <a:ext cx="8667497" cy="4424666"/>
          </a:xfrm>
          <a:prstGeom prst="rect">
            <a:avLst/>
          </a:prstGeom>
        </p:spPr>
      </p:pic>
    </p:spTree>
    <p:extLst>
      <p:ext uri="{BB962C8B-B14F-4D97-AF65-F5344CB8AC3E}">
        <p14:creationId xmlns:p14="http://schemas.microsoft.com/office/powerpoint/2010/main" val="333642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322876"/>
            <a:ext cx="8229600" cy="5282641"/>
          </a:xfrm>
        </p:spPr>
        <p:txBody>
          <a:bodyPr>
            <a:normAutofit fontScale="85000" lnSpcReduction="10000"/>
          </a:bodyPr>
          <a:lstStyle/>
          <a:p>
            <a:r>
              <a:rPr lang="en-US" dirty="0"/>
              <a:t>Disadvantages of extracellular recombinant protein production from </a:t>
            </a:r>
            <a:r>
              <a:rPr lang="en-US" i="1" dirty="0"/>
              <a:t>E. coli:</a:t>
            </a:r>
          </a:p>
          <a:p>
            <a:endParaRPr lang="en-US" dirty="0"/>
          </a:p>
          <a:p>
            <a:pPr marL="914400" lvl="1" indent="-514350">
              <a:buFont typeface="+mj-lt"/>
              <a:buAutoNum type="arabicPeriod"/>
            </a:pPr>
            <a:r>
              <a:rPr lang="en-US" dirty="0"/>
              <a:t>High-level recombinant protein expression usually overwhelms the secretory systems</a:t>
            </a:r>
          </a:p>
          <a:p>
            <a:pPr marL="914400" lvl="1" indent="-514350">
              <a:buFont typeface="+mj-lt"/>
              <a:buAutoNum type="arabicPeriod"/>
            </a:pPr>
            <a:endParaRPr lang="en-US" dirty="0"/>
          </a:p>
          <a:p>
            <a:pPr marL="914400" lvl="1" indent="-514350">
              <a:buFont typeface="+mj-lt"/>
              <a:buAutoNum type="arabicPeriod"/>
            </a:pPr>
            <a:r>
              <a:rPr lang="en-US" dirty="0"/>
              <a:t>The signal peptide can remain attached to the protein on its export (usually necessitating its subsequent removal from the purified recombinant protein).</a:t>
            </a:r>
          </a:p>
          <a:p>
            <a:pPr marL="914400" lvl="1" indent="-514350">
              <a:buFont typeface="+mj-lt"/>
              <a:buAutoNum type="arabicPeriod"/>
            </a:pPr>
            <a:endParaRPr lang="en-US" dirty="0"/>
          </a:p>
          <a:p>
            <a:pPr marL="914400" lvl="1" indent="-514350">
              <a:buFont typeface="+mj-lt"/>
              <a:buAutoNum type="arabicPeriod"/>
            </a:pPr>
            <a:r>
              <a:rPr lang="en-US" dirty="0"/>
              <a:t>The yield of true extracellular product is less than 1 g/L of fermentation media. In contrast, intracellular expression will often generate protein levels of 5–10g/L. </a:t>
            </a:r>
          </a:p>
          <a:p>
            <a:endParaRPr lang="en-US" sz="2800" dirty="0"/>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84775"/>
          </a:xfrm>
          <a:prstGeom prst="rect">
            <a:avLst/>
          </a:prstGeom>
          <a:noFill/>
        </p:spPr>
        <p:txBody>
          <a:bodyPr wrap="square" rtlCol="0">
            <a:spAutoFit/>
          </a:bodyPr>
          <a:lstStyle/>
          <a:p>
            <a:pPr algn="ctr"/>
            <a:r>
              <a:rPr lang="en-US" sz="3200" b="1" dirty="0">
                <a:solidFill>
                  <a:srgbClr val="FF0000"/>
                </a:solidFill>
              </a:rPr>
              <a:t>Extracellular production </a:t>
            </a:r>
          </a:p>
        </p:txBody>
      </p:sp>
    </p:spTree>
    <p:extLst>
      <p:ext uri="{BB962C8B-B14F-4D97-AF65-F5344CB8AC3E}">
        <p14:creationId xmlns:p14="http://schemas.microsoft.com/office/powerpoint/2010/main" val="40207547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400110"/>
          </a:xfrm>
          <a:prstGeom prst="rect">
            <a:avLst/>
          </a:prstGeom>
          <a:noFill/>
        </p:spPr>
        <p:txBody>
          <a:bodyPr wrap="square" rtlCol="0">
            <a:spAutoFit/>
          </a:bodyPr>
          <a:lstStyle/>
          <a:p>
            <a:pPr algn="ctr"/>
            <a:r>
              <a:rPr lang="en-US" sz="2000" b="1" dirty="0">
                <a:solidFill>
                  <a:srgbClr val="FF0000"/>
                </a:solidFill>
              </a:rPr>
              <a:t>Genetic construct used to produce a secreted fusion protein </a:t>
            </a:r>
          </a:p>
        </p:txBody>
      </p:sp>
      <p:pic>
        <p:nvPicPr>
          <p:cNvPr id="6" name="Picture 5">
            <a:extLst>
              <a:ext uri="{FF2B5EF4-FFF2-40B4-BE49-F238E27FC236}">
                <a16:creationId xmlns:a16="http://schemas.microsoft.com/office/drawing/2014/main" id="{A9406D57-683C-C543-B9F3-D2B8E77174DD}"/>
              </a:ext>
            </a:extLst>
          </p:cNvPr>
          <p:cNvPicPr>
            <a:picLocks noChangeAspect="1"/>
          </p:cNvPicPr>
          <p:nvPr/>
        </p:nvPicPr>
        <p:blipFill>
          <a:blip r:embed="rId2"/>
          <a:stretch>
            <a:fillRect/>
          </a:stretch>
        </p:blipFill>
        <p:spPr>
          <a:xfrm>
            <a:off x="3362427" y="2963139"/>
            <a:ext cx="5781573" cy="1955223"/>
          </a:xfrm>
          <a:prstGeom prst="rect">
            <a:avLst/>
          </a:prstGeom>
        </p:spPr>
      </p:pic>
      <p:pic>
        <p:nvPicPr>
          <p:cNvPr id="7" name="Picture 6">
            <a:extLst>
              <a:ext uri="{FF2B5EF4-FFF2-40B4-BE49-F238E27FC236}">
                <a16:creationId xmlns:a16="http://schemas.microsoft.com/office/drawing/2014/main" id="{E4D46F5E-BEA6-F84E-BE26-75E1F2CADF88}"/>
              </a:ext>
            </a:extLst>
          </p:cNvPr>
          <p:cNvPicPr>
            <a:picLocks noChangeAspect="1"/>
          </p:cNvPicPr>
          <p:nvPr/>
        </p:nvPicPr>
        <p:blipFill>
          <a:blip r:embed="rId3"/>
          <a:stretch>
            <a:fillRect/>
          </a:stretch>
        </p:blipFill>
        <p:spPr>
          <a:xfrm>
            <a:off x="196850" y="1197550"/>
            <a:ext cx="2959100" cy="5486400"/>
          </a:xfrm>
          <a:prstGeom prst="rect">
            <a:avLst/>
          </a:prstGeom>
        </p:spPr>
      </p:pic>
      <p:sp>
        <p:nvSpPr>
          <p:cNvPr id="8" name="Rectangle 7">
            <a:extLst>
              <a:ext uri="{FF2B5EF4-FFF2-40B4-BE49-F238E27FC236}">
                <a16:creationId xmlns:a16="http://schemas.microsoft.com/office/drawing/2014/main" id="{DE84D6D5-9860-F549-B23A-8F486DBAA5EC}"/>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9211895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FF6E8CB-9480-164F-B482-021E7C33892A}"/>
              </a:ext>
            </a:extLst>
          </p:cNvPr>
          <p:cNvPicPr>
            <a:picLocks noChangeAspect="1"/>
          </p:cNvPicPr>
          <p:nvPr/>
        </p:nvPicPr>
        <p:blipFill>
          <a:blip r:embed="rId2"/>
          <a:stretch>
            <a:fillRect/>
          </a:stretch>
        </p:blipFill>
        <p:spPr>
          <a:xfrm>
            <a:off x="1775775" y="1304636"/>
            <a:ext cx="5854039" cy="5013036"/>
          </a:xfrm>
          <a:prstGeom prst="rect">
            <a:avLst/>
          </a:prstGeom>
        </p:spPr>
      </p:pic>
      <p:sp>
        <p:nvSpPr>
          <p:cNvPr id="8" name="TextBox 7">
            <a:extLst>
              <a:ext uri="{FF2B5EF4-FFF2-40B4-BE49-F238E27FC236}">
                <a16:creationId xmlns:a16="http://schemas.microsoft.com/office/drawing/2014/main" id="{E2845954-AB97-8B42-A5F5-6D0A3AA3C901}"/>
              </a:ext>
            </a:extLst>
          </p:cNvPr>
          <p:cNvSpPr txBox="1"/>
          <p:nvPr/>
        </p:nvSpPr>
        <p:spPr>
          <a:xfrm>
            <a:off x="0" y="341193"/>
            <a:ext cx="9144000" cy="400110"/>
          </a:xfrm>
          <a:prstGeom prst="rect">
            <a:avLst/>
          </a:prstGeom>
          <a:noFill/>
        </p:spPr>
        <p:txBody>
          <a:bodyPr wrap="square" rtlCol="0">
            <a:spAutoFit/>
          </a:bodyPr>
          <a:lstStyle/>
          <a:p>
            <a:pPr algn="ctr"/>
            <a:r>
              <a:rPr lang="en-US" sz="2000" b="1" dirty="0">
                <a:solidFill>
                  <a:srgbClr val="FF0000"/>
                </a:solidFill>
              </a:rPr>
              <a:t>Genetic construct used to produce a secreted fusion protein </a:t>
            </a:r>
          </a:p>
        </p:txBody>
      </p:sp>
      <p:sp>
        <p:nvSpPr>
          <p:cNvPr id="9" name="Rectangle 8">
            <a:extLst>
              <a:ext uri="{FF2B5EF4-FFF2-40B4-BE49-F238E27FC236}">
                <a16:creationId xmlns:a16="http://schemas.microsoft.com/office/drawing/2014/main" id="{E946EFA4-FDC9-A248-A1B9-2C08D902BA86}"/>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13151013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2845954-AB97-8B42-A5F5-6D0A3AA3C901}"/>
              </a:ext>
            </a:extLst>
          </p:cNvPr>
          <p:cNvSpPr txBox="1"/>
          <p:nvPr/>
        </p:nvSpPr>
        <p:spPr>
          <a:xfrm>
            <a:off x="0" y="216502"/>
            <a:ext cx="9144000" cy="1077218"/>
          </a:xfrm>
          <a:prstGeom prst="rect">
            <a:avLst/>
          </a:prstGeom>
          <a:noFill/>
        </p:spPr>
        <p:txBody>
          <a:bodyPr wrap="square" rtlCol="0">
            <a:spAutoFit/>
          </a:bodyPr>
          <a:lstStyle/>
          <a:p>
            <a:pPr algn="ctr"/>
            <a:r>
              <a:rPr lang="en-US" sz="3200" b="1" dirty="0">
                <a:solidFill>
                  <a:srgbClr val="FF0000"/>
                </a:solidFill>
              </a:rPr>
              <a:t>Integration of a cloned gene into a chromosomal site </a:t>
            </a:r>
          </a:p>
        </p:txBody>
      </p:sp>
      <p:sp>
        <p:nvSpPr>
          <p:cNvPr id="6" name="Content Placeholder 2">
            <a:extLst>
              <a:ext uri="{FF2B5EF4-FFF2-40B4-BE49-F238E27FC236}">
                <a16:creationId xmlns:a16="http://schemas.microsoft.com/office/drawing/2014/main" id="{53E6FD06-0E40-E14C-8A19-99CC164748EF}"/>
              </a:ext>
            </a:extLst>
          </p:cNvPr>
          <p:cNvSpPr>
            <a:spLocks noGrp="1"/>
          </p:cNvSpPr>
          <p:nvPr>
            <p:ph idx="1"/>
          </p:nvPr>
        </p:nvSpPr>
        <p:spPr>
          <a:xfrm>
            <a:off x="457200" y="1911927"/>
            <a:ext cx="8229600" cy="5056909"/>
          </a:xfrm>
        </p:spPr>
        <p:txBody>
          <a:bodyPr>
            <a:normAutofit fontScale="77500" lnSpcReduction="20000"/>
          </a:bodyPr>
          <a:lstStyle/>
          <a:p>
            <a:pPr marL="0" indent="0">
              <a:buNone/>
            </a:pPr>
            <a:r>
              <a:rPr lang="en-US" dirty="0"/>
              <a:t>In some cases, it is necessary to produce proteins from a cloned genes integrated into a chromosomal site to over come the following problems:</a:t>
            </a:r>
          </a:p>
          <a:p>
            <a:pPr marL="0" indent="0">
              <a:buNone/>
            </a:pPr>
            <a:endParaRPr lang="en-US" dirty="0"/>
          </a:p>
          <a:p>
            <a:pPr marL="514350" indent="-514350">
              <a:buFont typeface="+mj-lt"/>
              <a:buAutoNum type="arabicPeriod"/>
            </a:pPr>
            <a:r>
              <a:rPr lang="en-US" dirty="0"/>
              <a:t>Avoid plasmid lose during cell growth, especially during pilot plant- or industrial-scale fermentations </a:t>
            </a:r>
          </a:p>
          <a:p>
            <a:pPr marL="514350" indent="-514350">
              <a:buFont typeface="+mj-lt"/>
              <a:buAutoNum type="arabicPeriod"/>
            </a:pPr>
            <a:endParaRPr lang="en-US" dirty="0"/>
          </a:p>
          <a:p>
            <a:pPr marL="514350" indent="-514350">
              <a:buFont typeface="+mj-lt"/>
              <a:buAutoNum type="arabicPeriod"/>
            </a:pPr>
            <a:r>
              <a:rPr lang="en-US" dirty="0"/>
              <a:t>For genetically engineered microorganisms that are designed to be released into the environment to remain both effective and environmentally safe, it is essential that the cloned DNA be retained and be neither easily lost nor transferred to other microorganisms.</a:t>
            </a:r>
          </a:p>
          <a:p>
            <a:pPr marL="0" indent="0">
              <a:buNone/>
            </a:pPr>
            <a:endParaRPr lang="en-US" dirty="0"/>
          </a:p>
          <a:p>
            <a:pPr marL="0" indent="0">
              <a:buNone/>
            </a:pPr>
            <a:r>
              <a:rPr lang="en-US" dirty="0"/>
              <a:t> </a:t>
            </a:r>
          </a:p>
        </p:txBody>
      </p:sp>
    </p:spTree>
    <p:extLst>
      <p:ext uri="{BB962C8B-B14F-4D97-AF65-F5344CB8AC3E}">
        <p14:creationId xmlns:p14="http://schemas.microsoft.com/office/powerpoint/2010/main" val="2069270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2845954-AB97-8B42-A5F5-6D0A3AA3C901}"/>
              </a:ext>
            </a:extLst>
          </p:cNvPr>
          <p:cNvSpPr txBox="1"/>
          <p:nvPr/>
        </p:nvSpPr>
        <p:spPr>
          <a:xfrm>
            <a:off x="0" y="341193"/>
            <a:ext cx="9144000" cy="1077218"/>
          </a:xfrm>
          <a:prstGeom prst="rect">
            <a:avLst/>
          </a:prstGeom>
          <a:noFill/>
        </p:spPr>
        <p:txBody>
          <a:bodyPr wrap="square" rtlCol="0">
            <a:spAutoFit/>
          </a:bodyPr>
          <a:lstStyle/>
          <a:p>
            <a:pPr algn="ctr"/>
            <a:r>
              <a:rPr lang="en-US" sz="3200" b="1" dirty="0">
                <a:solidFill>
                  <a:srgbClr val="FF0000"/>
                </a:solidFill>
              </a:rPr>
              <a:t>Integration of a cloned gene into a chromosomal site </a:t>
            </a:r>
          </a:p>
        </p:txBody>
      </p:sp>
      <p:pic>
        <p:nvPicPr>
          <p:cNvPr id="3" name="Picture 2">
            <a:extLst>
              <a:ext uri="{FF2B5EF4-FFF2-40B4-BE49-F238E27FC236}">
                <a16:creationId xmlns:a16="http://schemas.microsoft.com/office/drawing/2014/main" id="{33198E32-13C9-D646-BE90-07AAE1629B60}"/>
              </a:ext>
            </a:extLst>
          </p:cNvPr>
          <p:cNvPicPr>
            <a:picLocks noChangeAspect="1"/>
          </p:cNvPicPr>
          <p:nvPr/>
        </p:nvPicPr>
        <p:blipFill rotWithShape="1">
          <a:blip r:embed="rId2"/>
          <a:srcRect l="3933" t="3687" r="25695" b="48748"/>
          <a:stretch/>
        </p:blipFill>
        <p:spPr>
          <a:xfrm>
            <a:off x="332510" y="2092036"/>
            <a:ext cx="3449782" cy="2784764"/>
          </a:xfrm>
          <a:prstGeom prst="rect">
            <a:avLst/>
          </a:prstGeom>
        </p:spPr>
      </p:pic>
      <p:pic>
        <p:nvPicPr>
          <p:cNvPr id="5" name="Picture 4">
            <a:extLst>
              <a:ext uri="{FF2B5EF4-FFF2-40B4-BE49-F238E27FC236}">
                <a16:creationId xmlns:a16="http://schemas.microsoft.com/office/drawing/2014/main" id="{DEF95021-BF6D-8441-AAD7-5FF68CE8A9CF}"/>
              </a:ext>
            </a:extLst>
          </p:cNvPr>
          <p:cNvPicPr>
            <a:picLocks noChangeAspect="1"/>
          </p:cNvPicPr>
          <p:nvPr/>
        </p:nvPicPr>
        <p:blipFill rotWithShape="1">
          <a:blip r:embed="rId2"/>
          <a:srcRect l="4498" t="57168" r="7042"/>
          <a:stretch/>
        </p:blipFill>
        <p:spPr>
          <a:xfrm>
            <a:off x="4599710" y="2369127"/>
            <a:ext cx="4336473" cy="2507673"/>
          </a:xfrm>
          <a:prstGeom prst="rect">
            <a:avLst/>
          </a:prstGeom>
        </p:spPr>
      </p:pic>
      <p:sp>
        <p:nvSpPr>
          <p:cNvPr id="4" name="TextBox 3">
            <a:extLst>
              <a:ext uri="{FF2B5EF4-FFF2-40B4-BE49-F238E27FC236}">
                <a16:creationId xmlns:a16="http://schemas.microsoft.com/office/drawing/2014/main" id="{B49840E0-86AD-A04E-AB38-99F4735096EC}"/>
              </a:ext>
            </a:extLst>
          </p:cNvPr>
          <p:cNvSpPr txBox="1"/>
          <p:nvPr/>
        </p:nvSpPr>
        <p:spPr>
          <a:xfrm>
            <a:off x="755073" y="5421360"/>
            <a:ext cx="2604655" cy="646331"/>
          </a:xfrm>
          <a:prstGeom prst="rect">
            <a:avLst/>
          </a:prstGeom>
          <a:noFill/>
        </p:spPr>
        <p:txBody>
          <a:bodyPr wrap="square" rtlCol="0">
            <a:spAutoFit/>
          </a:bodyPr>
          <a:lstStyle/>
          <a:p>
            <a:pPr algn="ctr"/>
            <a:r>
              <a:rPr lang="en-US" dirty="0"/>
              <a:t>Integration of the cloned gene only</a:t>
            </a:r>
          </a:p>
        </p:txBody>
      </p:sp>
      <p:sp>
        <p:nvSpPr>
          <p:cNvPr id="7" name="TextBox 6">
            <a:extLst>
              <a:ext uri="{FF2B5EF4-FFF2-40B4-BE49-F238E27FC236}">
                <a16:creationId xmlns:a16="http://schemas.microsoft.com/office/drawing/2014/main" id="{6DC72C8D-E2F1-CD41-B624-F2FF9304176E}"/>
              </a:ext>
            </a:extLst>
          </p:cNvPr>
          <p:cNvSpPr txBox="1"/>
          <p:nvPr/>
        </p:nvSpPr>
        <p:spPr>
          <a:xfrm>
            <a:off x="5465618" y="5421359"/>
            <a:ext cx="2604655" cy="646331"/>
          </a:xfrm>
          <a:prstGeom prst="rect">
            <a:avLst/>
          </a:prstGeom>
          <a:noFill/>
        </p:spPr>
        <p:txBody>
          <a:bodyPr wrap="square" rtlCol="0">
            <a:spAutoFit/>
          </a:bodyPr>
          <a:lstStyle/>
          <a:p>
            <a:pPr algn="ctr"/>
            <a:r>
              <a:rPr lang="en-US" dirty="0"/>
              <a:t>Integration of the whole plasmid </a:t>
            </a:r>
          </a:p>
        </p:txBody>
      </p:sp>
      <p:sp>
        <p:nvSpPr>
          <p:cNvPr id="9" name="Rectangle 8">
            <a:extLst>
              <a:ext uri="{FF2B5EF4-FFF2-40B4-BE49-F238E27FC236}">
                <a16:creationId xmlns:a16="http://schemas.microsoft.com/office/drawing/2014/main" id="{A343776D-996D-994A-9A06-472429DF0B45}"/>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42588278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521537-B9C3-9243-9C66-F5F6BB80A17E}"/>
              </a:ext>
            </a:extLst>
          </p:cNvPr>
          <p:cNvPicPr>
            <a:picLocks noChangeAspect="1"/>
          </p:cNvPicPr>
          <p:nvPr/>
        </p:nvPicPr>
        <p:blipFill>
          <a:blip r:embed="rId2"/>
          <a:stretch>
            <a:fillRect/>
          </a:stretch>
        </p:blipFill>
        <p:spPr>
          <a:xfrm>
            <a:off x="1024341" y="399581"/>
            <a:ext cx="6659348" cy="6458419"/>
          </a:xfrm>
          <a:prstGeom prst="rect">
            <a:avLst/>
          </a:prstGeom>
        </p:spPr>
      </p:pic>
    </p:spTree>
    <p:extLst>
      <p:ext uri="{BB962C8B-B14F-4D97-AF65-F5344CB8AC3E}">
        <p14:creationId xmlns:p14="http://schemas.microsoft.com/office/powerpoint/2010/main" val="1573066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2845954-AB97-8B42-A5F5-6D0A3AA3C901}"/>
              </a:ext>
            </a:extLst>
          </p:cNvPr>
          <p:cNvSpPr txBox="1"/>
          <p:nvPr/>
        </p:nvSpPr>
        <p:spPr>
          <a:xfrm>
            <a:off x="0" y="341193"/>
            <a:ext cx="9144000" cy="1077218"/>
          </a:xfrm>
          <a:prstGeom prst="rect">
            <a:avLst/>
          </a:prstGeom>
          <a:noFill/>
        </p:spPr>
        <p:txBody>
          <a:bodyPr wrap="square" rtlCol="0">
            <a:spAutoFit/>
          </a:bodyPr>
          <a:lstStyle/>
          <a:p>
            <a:pPr algn="ctr"/>
            <a:r>
              <a:rPr lang="en-US" sz="3200" b="1" i="1" dirty="0">
                <a:solidFill>
                  <a:srgbClr val="FF0000"/>
                </a:solidFill>
              </a:rPr>
              <a:t>E. coli </a:t>
            </a:r>
            <a:r>
              <a:rPr lang="en-US" sz="3200" b="1" dirty="0">
                <a:solidFill>
                  <a:srgbClr val="FF0000"/>
                </a:solidFill>
              </a:rPr>
              <a:t>cells can be engineered to secrete a foreign protein to the periplasm </a:t>
            </a:r>
          </a:p>
        </p:txBody>
      </p:sp>
      <p:sp>
        <p:nvSpPr>
          <p:cNvPr id="7" name="TextBox 6">
            <a:extLst>
              <a:ext uri="{FF2B5EF4-FFF2-40B4-BE49-F238E27FC236}">
                <a16:creationId xmlns:a16="http://schemas.microsoft.com/office/drawing/2014/main" id="{6DC72C8D-E2F1-CD41-B624-F2FF9304176E}"/>
              </a:ext>
            </a:extLst>
          </p:cNvPr>
          <p:cNvSpPr txBox="1"/>
          <p:nvPr/>
        </p:nvSpPr>
        <p:spPr>
          <a:xfrm>
            <a:off x="4800600" y="2197654"/>
            <a:ext cx="403860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By putting the bacteriocin release protein gene onto a plasmid under the control of a strong regulatable pro- </a:t>
            </a:r>
            <a:r>
              <a:rPr lang="en-US" dirty="0" err="1"/>
              <a:t>moter</a:t>
            </a:r>
            <a:r>
              <a:rPr lang="en-US" dirty="0"/>
              <a:t>, </a:t>
            </a:r>
            <a:r>
              <a:rPr lang="en-US" i="1" dirty="0"/>
              <a:t>E. coli </a:t>
            </a:r>
            <a:r>
              <a:rPr lang="en-US" dirty="0"/>
              <a:t>cells may be permeabilized at will.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i="1" dirty="0"/>
              <a:t>E. coli </a:t>
            </a:r>
            <a:r>
              <a:rPr lang="en-US" dirty="0"/>
              <a:t>cells that carry the bacteriocin release protein gene are transformed with another plasmid carrying a cloned gene that has been fused to a secretion signal peptide sequence. </a:t>
            </a:r>
          </a:p>
          <a:p>
            <a:pPr marL="285750" indent="-285750">
              <a:buFont typeface="Arial" panose="020B0604020202020204" pitchFamily="34" charset="0"/>
              <a:buChar char="•"/>
            </a:pPr>
            <a:r>
              <a:rPr lang="en-US" dirty="0"/>
              <a:t> </a:t>
            </a:r>
          </a:p>
        </p:txBody>
      </p:sp>
      <p:pic>
        <p:nvPicPr>
          <p:cNvPr id="2" name="Picture 1">
            <a:extLst>
              <a:ext uri="{FF2B5EF4-FFF2-40B4-BE49-F238E27FC236}">
                <a16:creationId xmlns:a16="http://schemas.microsoft.com/office/drawing/2014/main" id="{6C3954CF-CCFC-384A-A6F5-425611D3E761}"/>
              </a:ext>
            </a:extLst>
          </p:cNvPr>
          <p:cNvPicPr>
            <a:picLocks noChangeAspect="1"/>
          </p:cNvPicPr>
          <p:nvPr/>
        </p:nvPicPr>
        <p:blipFill>
          <a:blip r:embed="rId2"/>
          <a:stretch>
            <a:fillRect/>
          </a:stretch>
        </p:blipFill>
        <p:spPr>
          <a:xfrm>
            <a:off x="800100" y="2197654"/>
            <a:ext cx="3771900" cy="3759200"/>
          </a:xfrm>
          <a:prstGeom prst="rect">
            <a:avLst/>
          </a:prstGeom>
        </p:spPr>
      </p:pic>
      <p:sp>
        <p:nvSpPr>
          <p:cNvPr id="9" name="Rectangle 8">
            <a:extLst>
              <a:ext uri="{FF2B5EF4-FFF2-40B4-BE49-F238E27FC236}">
                <a16:creationId xmlns:a16="http://schemas.microsoft.com/office/drawing/2014/main" id="{23D4F01D-CC6D-FD4E-9760-E58996901524}"/>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15025357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DBDC98-51D8-2E47-A160-76307B7FC69D}"/>
              </a:ext>
            </a:extLst>
          </p:cNvPr>
          <p:cNvPicPr>
            <a:picLocks noChangeAspect="1"/>
          </p:cNvPicPr>
          <p:nvPr/>
        </p:nvPicPr>
        <p:blipFill>
          <a:blip r:embed="rId2"/>
          <a:stretch>
            <a:fillRect/>
          </a:stretch>
        </p:blipFill>
        <p:spPr>
          <a:xfrm>
            <a:off x="876206" y="859809"/>
            <a:ext cx="7577148" cy="5355988"/>
          </a:xfrm>
          <a:prstGeom prst="rect">
            <a:avLst/>
          </a:prstGeom>
        </p:spPr>
      </p:pic>
      <p:sp>
        <p:nvSpPr>
          <p:cNvPr id="4" name="Rectangle 3">
            <a:extLst>
              <a:ext uri="{FF2B5EF4-FFF2-40B4-BE49-F238E27FC236}">
                <a16:creationId xmlns:a16="http://schemas.microsoft.com/office/drawing/2014/main" id="{F57213CF-E457-0841-8A73-77CAF42ADEAE}"/>
              </a:ext>
            </a:extLst>
          </p:cNvPr>
          <p:cNvSpPr/>
          <p:nvPr/>
        </p:nvSpPr>
        <p:spPr>
          <a:xfrm>
            <a:off x="6799413" y="6470401"/>
            <a:ext cx="2249335" cy="253916"/>
          </a:xfrm>
          <a:prstGeom prst="rect">
            <a:avLst/>
          </a:prstGeom>
        </p:spPr>
        <p:txBody>
          <a:bodyPr wrap="none">
            <a:spAutoFit/>
          </a:bodyPr>
          <a:lstStyle/>
          <a:p>
            <a:pPr algn="r"/>
            <a:r>
              <a:rPr lang="en-US" sz="1050" dirty="0" err="1">
                <a:latin typeface="Arial" panose="020B0604020202020204" pitchFamily="34" charset="0"/>
                <a:cs typeface="Arial" panose="020B0604020202020204" pitchFamily="34" charset="0"/>
              </a:rPr>
              <a:t>Hannig</a:t>
            </a:r>
            <a:r>
              <a:rPr lang="en-US" sz="1050" dirty="0">
                <a:latin typeface="Arial" panose="020B0604020202020204" pitchFamily="34" charset="0"/>
                <a:cs typeface="Arial" panose="020B0604020202020204" pitchFamily="34" charset="0"/>
              </a:rPr>
              <a:t> and </a:t>
            </a:r>
            <a:r>
              <a:rPr lang="en-US" sz="1050" dirty="0" err="1">
                <a:latin typeface="Arial" panose="020B0604020202020204" pitchFamily="34" charset="0"/>
                <a:cs typeface="Arial" panose="020B0604020202020204" pitchFamily="34" charset="0"/>
              </a:rPr>
              <a:t>Makrides</a:t>
            </a:r>
            <a:r>
              <a:rPr lang="en-US" sz="1050" dirty="0">
                <a:latin typeface="Arial" panose="020B0604020202020204" pitchFamily="34" charset="0"/>
                <a:cs typeface="Arial" panose="020B0604020202020204" pitchFamily="34" charset="0"/>
              </a:rPr>
              <a:t> (1998) focus</a:t>
            </a:r>
            <a:endParaRPr lang="en-US" sz="1050"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9551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227341"/>
            <a:ext cx="8229600" cy="5282641"/>
          </a:xfrm>
        </p:spPr>
        <p:txBody>
          <a:bodyPr>
            <a:normAutofit fontScale="77500" lnSpcReduction="20000"/>
          </a:bodyPr>
          <a:lstStyle/>
          <a:p>
            <a:r>
              <a:rPr lang="en-US" dirty="0"/>
              <a:t>Other bacteria can be used as expression systems. Bacteria which are listed as GRAS (generally recognized as safe) serve as alternative production systems. </a:t>
            </a:r>
          </a:p>
          <a:p>
            <a:endParaRPr lang="en-US" dirty="0"/>
          </a:p>
          <a:p>
            <a:r>
              <a:rPr lang="en-US" dirty="0"/>
              <a:t>Heterologous proteins are produced in Gram-positive species of </a:t>
            </a:r>
            <a:r>
              <a:rPr lang="en-US" i="1" dirty="0"/>
              <a:t>Streptomyces</a:t>
            </a:r>
            <a:r>
              <a:rPr lang="en-US" dirty="0"/>
              <a:t> and bacilli. These are non-pathogenic, well characterized bacteria and secrete large quantities of protein extracellularly. </a:t>
            </a:r>
          </a:p>
          <a:p>
            <a:endParaRPr lang="en-US" dirty="0"/>
          </a:p>
          <a:p>
            <a:r>
              <a:rPr lang="en-US" dirty="0"/>
              <a:t>Approximately, 50% of commercially available industrial enzymes are produced by bacilli spp.</a:t>
            </a:r>
          </a:p>
          <a:p>
            <a:endParaRPr lang="en-US" dirty="0"/>
          </a:p>
          <a:p>
            <a:r>
              <a:rPr lang="en-US" dirty="0"/>
              <a:t>Considerable experience has also accumulated with regard to their industrial-scale culture and their genetic manipulation. </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461665"/>
          </a:xfrm>
          <a:prstGeom prst="rect">
            <a:avLst/>
          </a:prstGeom>
          <a:noFill/>
        </p:spPr>
        <p:txBody>
          <a:bodyPr wrap="square" rtlCol="0">
            <a:spAutoFit/>
          </a:bodyPr>
          <a:lstStyle/>
          <a:p>
            <a:pPr algn="ctr"/>
            <a:r>
              <a:rPr lang="en-US" sz="2400" b="1" dirty="0">
                <a:solidFill>
                  <a:srgbClr val="FF0000"/>
                </a:solidFill>
              </a:rPr>
              <a:t>Heterologous production in bacteria other than </a:t>
            </a:r>
            <a:r>
              <a:rPr lang="en-US" sz="2400" b="1" i="1" dirty="0">
                <a:solidFill>
                  <a:srgbClr val="FF0000"/>
                </a:solidFill>
              </a:rPr>
              <a:t>E. coli</a:t>
            </a:r>
          </a:p>
        </p:txBody>
      </p:sp>
    </p:spTree>
    <p:extLst>
      <p:ext uri="{BB962C8B-B14F-4D97-AF65-F5344CB8AC3E}">
        <p14:creationId xmlns:p14="http://schemas.microsoft.com/office/powerpoint/2010/main" val="1908098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102651"/>
            <a:ext cx="8229600" cy="4328331"/>
          </a:xfrm>
        </p:spPr>
        <p:txBody>
          <a:bodyPr>
            <a:normAutofit fontScale="55000" lnSpcReduction="20000"/>
          </a:bodyPr>
          <a:lstStyle/>
          <a:p>
            <a:r>
              <a:rPr lang="en-US" dirty="0"/>
              <a:t>Expression of foreign DNA in a host organism often change the metabolism of the organism in ways that may impair normal cellular functioning. This phenomenon, is due to a metabolic load (metabolic burden; metabolic drain) that is imposed upon the host by the foreign DNA and can occur because of the following. </a:t>
            </a:r>
          </a:p>
          <a:p>
            <a:pPr marL="514350" indent="-514350">
              <a:buFont typeface="+mj-lt"/>
              <a:buAutoNum type="arabicPeriod"/>
            </a:pPr>
            <a:r>
              <a:rPr lang="en-US" dirty="0"/>
              <a:t>An increasing plasmid copy number and/or size requires increasing amounts of cellular energy for plasmid replication and maintenance.</a:t>
            </a:r>
          </a:p>
          <a:p>
            <a:pPr marL="514350" indent="-514350">
              <a:buFont typeface="+mj-lt"/>
              <a:buAutoNum type="arabicPeriod"/>
            </a:pPr>
            <a:r>
              <a:rPr lang="en-US" dirty="0"/>
              <a:t>The limited amount of dissolved oxygen in the growth medium </a:t>
            </a:r>
          </a:p>
          <a:p>
            <a:pPr marL="514350" indent="-514350">
              <a:buFont typeface="+mj-lt"/>
              <a:buAutoNum type="arabicPeriod"/>
            </a:pPr>
            <a:r>
              <a:rPr lang="en-US" dirty="0"/>
              <a:t>Overproduction of both target and marker proteins may deplete the pools of certain aminoacyl-</a:t>
            </a:r>
            <a:r>
              <a:rPr lang="en-US" dirty="0" err="1"/>
              <a:t>tRNAs</a:t>
            </a:r>
            <a:r>
              <a:rPr lang="en-US" dirty="0"/>
              <a:t> (or even certain amino acids) and/or drain the host cell of its energy (in the form of ATP or GTP). </a:t>
            </a:r>
          </a:p>
          <a:p>
            <a:pPr marL="514350" indent="-514350">
              <a:buFont typeface="+mj-lt"/>
              <a:buAutoNum type="arabicPeriod"/>
            </a:pPr>
            <a:r>
              <a:rPr lang="en-US" dirty="0"/>
              <a:t>When a foreign protein is overexpressed and then exported from the cytoplasm to the cell membrane, the periplasm, or the external medium, it may “jam” export sites and thereby prevent the proper localization of other, essential host cell proteins. </a:t>
            </a:r>
          </a:p>
          <a:p>
            <a:pPr marL="514350" indent="-514350">
              <a:buFont typeface="+mj-lt"/>
              <a:buAutoNum type="arabicPeriod"/>
            </a:pPr>
            <a:r>
              <a:rPr lang="en-US" dirty="0"/>
              <a:t>The foreign protein per se may interfere with the functioning of the host cell.</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461665"/>
          </a:xfrm>
          <a:prstGeom prst="rect">
            <a:avLst/>
          </a:prstGeom>
          <a:noFill/>
        </p:spPr>
        <p:txBody>
          <a:bodyPr wrap="square" rtlCol="0">
            <a:spAutoFit/>
          </a:bodyPr>
          <a:lstStyle/>
          <a:p>
            <a:pPr algn="ctr"/>
            <a:r>
              <a:rPr lang="en-US" sz="2400" b="1" dirty="0">
                <a:solidFill>
                  <a:srgbClr val="FF0000"/>
                </a:solidFill>
              </a:rPr>
              <a:t>Metabolic Load</a:t>
            </a:r>
            <a:endParaRPr lang="en-US" sz="2400" b="1" i="1" dirty="0">
              <a:solidFill>
                <a:srgbClr val="FF0000"/>
              </a:solidFill>
            </a:endParaRPr>
          </a:p>
        </p:txBody>
      </p:sp>
      <p:pic>
        <p:nvPicPr>
          <p:cNvPr id="2" name="Picture 1">
            <a:extLst>
              <a:ext uri="{FF2B5EF4-FFF2-40B4-BE49-F238E27FC236}">
                <a16:creationId xmlns:a16="http://schemas.microsoft.com/office/drawing/2014/main" id="{A88B147F-1696-2D42-84EE-76725974734A}"/>
              </a:ext>
            </a:extLst>
          </p:cNvPr>
          <p:cNvPicPr>
            <a:picLocks noChangeAspect="1"/>
          </p:cNvPicPr>
          <p:nvPr/>
        </p:nvPicPr>
        <p:blipFill>
          <a:blip r:embed="rId2"/>
          <a:stretch>
            <a:fillRect/>
          </a:stretch>
        </p:blipFill>
        <p:spPr>
          <a:xfrm>
            <a:off x="2576945" y="4944919"/>
            <a:ext cx="3393209" cy="1796995"/>
          </a:xfrm>
          <a:prstGeom prst="rect">
            <a:avLst/>
          </a:prstGeom>
        </p:spPr>
      </p:pic>
      <p:sp>
        <p:nvSpPr>
          <p:cNvPr id="5" name="Rectangle 4">
            <a:extLst>
              <a:ext uri="{FF2B5EF4-FFF2-40B4-BE49-F238E27FC236}">
                <a16:creationId xmlns:a16="http://schemas.microsoft.com/office/drawing/2014/main" id="{94DC7C6F-D6C6-3048-AA74-AFAE7B7BE5EE}"/>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28460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23220"/>
          </a:xfrm>
          <a:prstGeom prst="rect">
            <a:avLst/>
          </a:prstGeom>
          <a:noFill/>
        </p:spPr>
        <p:txBody>
          <a:bodyPr wrap="square" rtlCol="0">
            <a:spAutoFit/>
          </a:bodyPr>
          <a:lstStyle/>
          <a:p>
            <a:pPr algn="ctr"/>
            <a:r>
              <a:rPr lang="en-US" sz="2800" b="1" dirty="0">
                <a:solidFill>
                  <a:srgbClr val="FF0000"/>
                </a:solidFill>
              </a:rPr>
              <a:t>Heterologous protein production in yeast </a:t>
            </a:r>
          </a:p>
        </p:txBody>
      </p:sp>
      <p:pic>
        <p:nvPicPr>
          <p:cNvPr id="2" name="Picture 1">
            <a:extLst>
              <a:ext uri="{FF2B5EF4-FFF2-40B4-BE49-F238E27FC236}">
                <a16:creationId xmlns:a16="http://schemas.microsoft.com/office/drawing/2014/main" id="{7DEB7DDD-4A65-084B-9856-FA05522A8343}"/>
              </a:ext>
            </a:extLst>
          </p:cNvPr>
          <p:cNvPicPr>
            <a:picLocks noChangeAspect="1"/>
          </p:cNvPicPr>
          <p:nvPr/>
        </p:nvPicPr>
        <p:blipFill>
          <a:blip r:embed="rId2"/>
          <a:stretch>
            <a:fillRect/>
          </a:stretch>
        </p:blipFill>
        <p:spPr>
          <a:xfrm>
            <a:off x="956430" y="1444009"/>
            <a:ext cx="7231140" cy="5052325"/>
          </a:xfrm>
          <a:prstGeom prst="rect">
            <a:avLst/>
          </a:prstGeom>
        </p:spPr>
      </p:pic>
    </p:spTree>
    <p:extLst>
      <p:ext uri="{BB962C8B-B14F-4D97-AF65-F5344CB8AC3E}">
        <p14:creationId xmlns:p14="http://schemas.microsoft.com/office/powerpoint/2010/main" val="1536808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E29A3A79-7182-BE4A-8926-C7D2D1D21268}"/>
              </a:ext>
            </a:extLst>
          </p:cNvPr>
          <p:cNvSpPr txBox="1">
            <a:spLocks noChangeArrowheads="1"/>
          </p:cNvSpPr>
          <p:nvPr/>
        </p:nvSpPr>
        <p:spPr bwMode="auto">
          <a:xfrm>
            <a:off x="419100" y="1641764"/>
            <a:ext cx="84582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cs typeface="Arial" panose="020B0604020202020204" pitchFamily="34" charset="0"/>
              </a:defRPr>
            </a:lvl1pPr>
            <a:lvl2pPr marL="800100" indent="-34290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FontTx/>
              <a:buChar char="•"/>
            </a:pPr>
            <a:r>
              <a:rPr lang="en-US" altLang="en-US" sz="2400" dirty="0"/>
              <a:t>There are three main classes of </a:t>
            </a:r>
            <a:r>
              <a:rPr lang="en-US" altLang="en-US" sz="2400" i="1" dirty="0"/>
              <a:t>S. cerevisiae </a:t>
            </a:r>
            <a:r>
              <a:rPr lang="en-US" altLang="en-US" sz="2400" dirty="0"/>
              <a:t>expression vectors:</a:t>
            </a:r>
          </a:p>
          <a:p>
            <a:pPr lvl="1" eaLnBrk="1" hangingPunct="1">
              <a:spcBef>
                <a:spcPct val="20000"/>
              </a:spcBef>
              <a:buFontTx/>
              <a:buChar char="•"/>
            </a:pPr>
            <a:r>
              <a:rPr lang="en-US" altLang="en-US" sz="2400" dirty="0"/>
              <a:t>Yeast </a:t>
            </a:r>
            <a:r>
              <a:rPr lang="en-US" altLang="en-US" sz="2400" dirty="0" err="1"/>
              <a:t>episomal</a:t>
            </a:r>
            <a:r>
              <a:rPr lang="en-US" altLang="en-US" sz="2400" dirty="0"/>
              <a:t> plasmids (</a:t>
            </a:r>
            <a:r>
              <a:rPr lang="en-US" altLang="en-US" sz="2400" dirty="0" err="1"/>
              <a:t>YEps</a:t>
            </a:r>
            <a:r>
              <a:rPr lang="en-US" altLang="en-US" sz="2400" dirty="0"/>
              <a:t>).</a:t>
            </a:r>
          </a:p>
          <a:p>
            <a:pPr lvl="1" eaLnBrk="1" hangingPunct="1">
              <a:spcBef>
                <a:spcPct val="20000"/>
              </a:spcBef>
              <a:buFontTx/>
              <a:buChar char="•"/>
            </a:pPr>
            <a:r>
              <a:rPr lang="en-US" altLang="en-US" sz="2400" dirty="0"/>
              <a:t>Yeast integrating plasmids (</a:t>
            </a:r>
            <a:r>
              <a:rPr lang="en-US" altLang="en-US" sz="2400" dirty="0" err="1"/>
              <a:t>YIps</a:t>
            </a:r>
            <a:r>
              <a:rPr lang="en-US" altLang="en-US" sz="2400" dirty="0"/>
              <a:t>)</a:t>
            </a:r>
          </a:p>
          <a:p>
            <a:pPr lvl="1" eaLnBrk="1" hangingPunct="1">
              <a:spcBef>
                <a:spcPct val="20000"/>
              </a:spcBef>
              <a:buFontTx/>
              <a:buChar char="•"/>
            </a:pPr>
            <a:r>
              <a:rPr lang="en-US" altLang="en-US" sz="2400" dirty="0"/>
              <a:t>Yeast artificial chromosomes (YACs)</a:t>
            </a:r>
          </a:p>
          <a:p>
            <a:pPr lvl="1" eaLnBrk="1" hangingPunct="1">
              <a:spcBef>
                <a:spcPct val="20000"/>
              </a:spcBef>
              <a:buFontTx/>
              <a:buChar char="•"/>
            </a:pPr>
            <a:endParaRPr lang="en-US" altLang="en-US" sz="2400" dirty="0"/>
          </a:p>
          <a:p>
            <a:pPr eaLnBrk="1" hangingPunct="1">
              <a:spcBef>
                <a:spcPct val="20000"/>
              </a:spcBef>
              <a:buFontTx/>
              <a:buChar char="•"/>
            </a:pPr>
            <a:r>
              <a:rPr lang="en-US" altLang="en-US" sz="2400" dirty="0"/>
              <a:t>Yeast </a:t>
            </a:r>
            <a:r>
              <a:rPr lang="en-US" altLang="en-US" sz="2400" dirty="0" err="1"/>
              <a:t>episomal</a:t>
            </a:r>
            <a:r>
              <a:rPr lang="en-US" altLang="en-US" sz="2400" dirty="0"/>
              <a:t> plasmids have been used extensively for the production of either intra- or extracellular heterologous proteins.</a:t>
            </a:r>
          </a:p>
          <a:p>
            <a:pPr eaLnBrk="1" hangingPunct="1">
              <a:spcBef>
                <a:spcPct val="20000"/>
              </a:spcBef>
              <a:buFontTx/>
              <a:buChar char="•"/>
            </a:pPr>
            <a:endParaRPr lang="en-US" altLang="en-US" sz="2400" dirty="0"/>
          </a:p>
          <a:p>
            <a:pPr eaLnBrk="1" hangingPunct="1">
              <a:spcBef>
                <a:spcPct val="20000"/>
              </a:spcBef>
              <a:buFontTx/>
              <a:buChar char="•"/>
            </a:pPr>
            <a:r>
              <a:rPr lang="en-US" altLang="en-US" sz="2400" dirty="0"/>
              <a:t>Typically, vectors function in both </a:t>
            </a:r>
            <a:r>
              <a:rPr lang="en-US" altLang="en-US" sz="2400" i="1" dirty="0"/>
              <a:t>E. coli </a:t>
            </a:r>
            <a:r>
              <a:rPr lang="en-US" altLang="en-US" sz="2400" dirty="0"/>
              <a:t>and </a:t>
            </a:r>
            <a:r>
              <a:rPr lang="en-US" altLang="en-US" sz="2400" i="1" dirty="0"/>
              <a:t>S. cerevisiae</a:t>
            </a:r>
            <a:r>
              <a:rPr lang="en-US" altLang="en-US" sz="2400" dirty="0"/>
              <a:t>.</a:t>
            </a:r>
          </a:p>
          <a:p>
            <a:pPr eaLnBrk="1" hangingPunct="1">
              <a:spcBef>
                <a:spcPct val="20000"/>
              </a:spcBef>
            </a:pPr>
            <a:endParaRPr lang="en-US" altLang="en-US" sz="2400" dirty="0">
              <a:solidFill>
                <a:srgbClr val="010000"/>
              </a:solidFill>
            </a:endParaRPr>
          </a:p>
        </p:txBody>
      </p:sp>
      <p:sp>
        <p:nvSpPr>
          <p:cNvPr id="6" name="Rectangle 2">
            <a:extLst>
              <a:ext uri="{FF2B5EF4-FFF2-40B4-BE49-F238E27FC236}">
                <a16:creationId xmlns:a16="http://schemas.microsoft.com/office/drawing/2014/main" id="{3926AF01-DC43-A449-A65A-88EE84D70B2C}"/>
              </a:ext>
            </a:extLst>
          </p:cNvPr>
          <p:cNvSpPr>
            <a:spLocks noGrp="1" noChangeArrowheads="1"/>
          </p:cNvSpPr>
          <p:nvPr>
            <p:ph type="title"/>
          </p:nvPr>
        </p:nvSpPr>
        <p:spPr>
          <a:xfrm>
            <a:off x="457200" y="304800"/>
            <a:ext cx="8382000" cy="914400"/>
          </a:xfrm>
        </p:spPr>
        <p:txBody>
          <a:bodyPr/>
          <a:lstStyle/>
          <a:p>
            <a:pPr eaLnBrk="1" hangingPunct="1"/>
            <a:r>
              <a:rPr lang="en-US" altLang="en-US" sz="4000" b="1" i="1" dirty="0">
                <a:solidFill>
                  <a:srgbClr val="FF0000"/>
                </a:solidFill>
                <a:latin typeface="Arial" panose="020B0604020202020204" pitchFamily="34" charset="0"/>
                <a:cs typeface="Arial" panose="020B0604020202020204" pitchFamily="34" charset="0"/>
              </a:rPr>
              <a:t>Saccharomyces cerevisiae</a:t>
            </a:r>
          </a:p>
        </p:txBody>
      </p:sp>
    </p:spTree>
    <p:extLst>
      <p:ext uri="{BB962C8B-B14F-4D97-AF65-F5344CB8AC3E}">
        <p14:creationId xmlns:p14="http://schemas.microsoft.com/office/powerpoint/2010/main" val="3874534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23220"/>
          </a:xfrm>
          <a:prstGeom prst="rect">
            <a:avLst/>
          </a:prstGeom>
          <a:noFill/>
        </p:spPr>
        <p:txBody>
          <a:bodyPr wrap="square" rtlCol="0">
            <a:spAutoFit/>
          </a:bodyPr>
          <a:lstStyle/>
          <a:p>
            <a:pPr algn="ctr"/>
            <a:r>
              <a:rPr lang="en-US" sz="2800" b="1" dirty="0">
                <a:solidFill>
                  <a:srgbClr val="FF0000"/>
                </a:solidFill>
              </a:rPr>
              <a:t>Heterologous protein production in yeast by </a:t>
            </a:r>
            <a:r>
              <a:rPr lang="en-US" sz="2800" b="1" dirty="0" err="1">
                <a:solidFill>
                  <a:srgbClr val="FF0000"/>
                </a:solidFill>
              </a:rPr>
              <a:t>Ylps</a:t>
            </a:r>
            <a:endParaRPr lang="en-US" sz="2800" b="1" dirty="0">
              <a:solidFill>
                <a:srgbClr val="FF0000"/>
              </a:solidFill>
            </a:endParaRPr>
          </a:p>
        </p:txBody>
      </p:sp>
      <p:pic>
        <p:nvPicPr>
          <p:cNvPr id="8" name="Picture 7">
            <a:extLst>
              <a:ext uri="{FF2B5EF4-FFF2-40B4-BE49-F238E27FC236}">
                <a16:creationId xmlns:a16="http://schemas.microsoft.com/office/drawing/2014/main" id="{0C33E9F1-E75F-A34A-A567-A917FE67EA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0496" y="1110831"/>
            <a:ext cx="4005617" cy="3433386"/>
          </a:xfrm>
          <a:prstGeom prst="rect">
            <a:avLst/>
          </a:prstGeom>
        </p:spPr>
      </p:pic>
      <p:sp>
        <p:nvSpPr>
          <p:cNvPr id="9" name="Rectangle 8">
            <a:extLst>
              <a:ext uri="{FF2B5EF4-FFF2-40B4-BE49-F238E27FC236}">
                <a16:creationId xmlns:a16="http://schemas.microsoft.com/office/drawing/2014/main" id="{713C72F5-2B62-EF4D-8EE2-0A2ECAE92BF9}"/>
              </a:ext>
            </a:extLst>
          </p:cNvPr>
          <p:cNvSpPr/>
          <p:nvPr/>
        </p:nvSpPr>
        <p:spPr>
          <a:xfrm>
            <a:off x="501554" y="4935672"/>
            <a:ext cx="8543500" cy="1815882"/>
          </a:xfrm>
          <a:prstGeom prst="rect">
            <a:avLst/>
          </a:prstGeom>
        </p:spPr>
        <p:txBody>
          <a:bodyPr wrap="square">
            <a:spAutoFit/>
          </a:bodyPr>
          <a:lstStyle/>
          <a:p>
            <a:r>
              <a:rPr lang="en-US" sz="1600" i="1" dirty="0">
                <a:latin typeface="Arial" panose="020B0604020202020204" pitchFamily="34" charset="0"/>
                <a:cs typeface="Arial" panose="020B0604020202020204" pitchFamily="34" charset="0"/>
              </a:rPr>
              <a:t>URA3</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Auxotropic</a:t>
            </a:r>
            <a:r>
              <a:rPr lang="en-US" sz="1600" dirty="0">
                <a:latin typeface="Arial" panose="020B0604020202020204" pitchFamily="34" charset="0"/>
                <a:cs typeface="Arial" panose="020B0604020202020204" pitchFamily="34" charset="0"/>
              </a:rPr>
              <a:t> marker GAL1: Galactose inducible  promoter </a:t>
            </a:r>
          </a:p>
          <a:p>
            <a:r>
              <a:rPr lang="en-US" sz="1600" i="1" dirty="0">
                <a:latin typeface="Arial" panose="020B0604020202020204" pitchFamily="34" charset="0"/>
                <a:cs typeface="Arial" panose="020B0604020202020204" pitchFamily="34" charset="0"/>
              </a:rPr>
              <a:t>CYC1</a:t>
            </a:r>
            <a:r>
              <a:rPr lang="en-US" sz="1600" dirty="0">
                <a:latin typeface="Arial" panose="020B0604020202020204" pitchFamily="34" charset="0"/>
                <a:cs typeface="Arial" panose="020B0604020202020204" pitchFamily="34" charset="0"/>
              </a:rPr>
              <a:t> TT: 	Terminator </a:t>
            </a:r>
          </a:p>
          <a:p>
            <a:r>
              <a:rPr lang="en-US" sz="1600" dirty="0" err="1">
                <a:latin typeface="Arial" panose="020B0604020202020204" pitchFamily="34" charset="0"/>
                <a:cs typeface="Arial" panose="020B0604020202020204" pitchFamily="34" charset="0"/>
              </a:rPr>
              <a:t>Amp</a:t>
            </a:r>
            <a:r>
              <a:rPr lang="en-US" sz="1600" baseline="30000" dirty="0" err="1">
                <a:latin typeface="Arial" panose="020B0604020202020204" pitchFamily="34" charset="0"/>
                <a:cs typeface="Arial" panose="020B0604020202020204" pitchFamily="34" charset="0"/>
              </a:rPr>
              <a:t>R</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Ampiccilin</a:t>
            </a:r>
            <a:r>
              <a:rPr lang="en-US" sz="1600" dirty="0">
                <a:latin typeface="Arial" panose="020B0604020202020204" pitchFamily="34" charset="0"/>
                <a:cs typeface="Arial" panose="020B0604020202020204" pitchFamily="34" charset="0"/>
              </a:rPr>
              <a:t> resistance gene</a:t>
            </a:r>
          </a:p>
          <a:p>
            <a:r>
              <a:rPr lang="en-US" sz="1600" dirty="0" err="1">
                <a:latin typeface="Arial" panose="020B0604020202020204" pitchFamily="34" charset="0"/>
                <a:cs typeface="Arial" panose="020B0604020202020204" pitchFamily="34" charset="0"/>
              </a:rPr>
              <a:t>pUC</a:t>
            </a:r>
            <a:r>
              <a:rPr lang="en-US" sz="1600"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ori</a:t>
            </a:r>
            <a:r>
              <a:rPr lang="en-US" sz="1600" dirty="0">
                <a:latin typeface="Arial" panose="020B0604020202020204" pitchFamily="34" charset="0"/>
                <a:cs typeface="Arial" panose="020B0604020202020204" pitchFamily="34" charset="0"/>
              </a:rPr>
              <a:t>: 		origin of replication (</a:t>
            </a:r>
            <a:r>
              <a:rPr lang="en-US" sz="1600" i="1" dirty="0">
                <a:latin typeface="Arial" panose="020B0604020202020204" pitchFamily="34" charset="0"/>
                <a:cs typeface="Arial" panose="020B0604020202020204" pitchFamily="34" charset="0"/>
              </a:rPr>
              <a:t>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coli</a:t>
            </a:r>
            <a:r>
              <a:rPr lang="en-US" sz="1600" dirty="0">
                <a:latin typeface="Arial" panose="020B0604020202020204" pitchFamily="34" charset="0"/>
                <a:cs typeface="Arial" panose="020B0604020202020204" pitchFamily="34" charset="0"/>
              </a:rPr>
              <a:t>) </a:t>
            </a:r>
          </a:p>
          <a:p>
            <a:r>
              <a:rPr lang="en-US" sz="1600" dirty="0">
                <a:latin typeface="Arial" panose="020B0604020202020204" pitchFamily="34" charset="0"/>
                <a:cs typeface="Arial" panose="020B0604020202020204" pitchFamily="34" charset="0"/>
              </a:rPr>
              <a:t>2µ:		origin of replication (Yeast) </a:t>
            </a:r>
          </a:p>
          <a:p>
            <a:r>
              <a:rPr lang="en-US" sz="1600" dirty="0">
                <a:latin typeface="Arial" panose="020B0604020202020204" pitchFamily="34" charset="0"/>
                <a:cs typeface="Arial" panose="020B0604020202020204" pitchFamily="34" charset="0"/>
              </a:rPr>
              <a:t>CEN: 		Centromere is required for segregation of chromosomes during mitosis </a:t>
            </a:r>
          </a:p>
          <a:p>
            <a:r>
              <a:rPr lang="en-US" sz="1600" dirty="0">
                <a:latin typeface="Arial" panose="020B0604020202020204" pitchFamily="34" charset="0"/>
                <a:cs typeface="Arial" panose="020B0604020202020204" pitchFamily="34" charset="0"/>
              </a:rPr>
              <a:t>ARS: 		is the origin of replication in the yeast genome </a:t>
            </a:r>
          </a:p>
        </p:txBody>
      </p:sp>
    </p:spTree>
    <p:extLst>
      <p:ext uri="{BB962C8B-B14F-4D97-AF65-F5344CB8AC3E}">
        <p14:creationId xmlns:p14="http://schemas.microsoft.com/office/powerpoint/2010/main" val="3830435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95" descr="Glick4e_07">
            <a:extLst>
              <a:ext uri="{FF2B5EF4-FFF2-40B4-BE49-F238E27FC236}">
                <a16:creationId xmlns:a16="http://schemas.microsoft.com/office/drawing/2014/main" id="{333B2481-4F05-0D4C-84C5-5003AACBA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524000"/>
            <a:ext cx="4237038"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A8090FC2-68FE-6341-8CED-C6CC7A285004}"/>
              </a:ext>
            </a:extLst>
          </p:cNvPr>
          <p:cNvSpPr txBox="1">
            <a:spLocks noChangeArrowheads="1"/>
          </p:cNvSpPr>
          <p:nvPr/>
        </p:nvSpPr>
        <p:spPr>
          <a:xfrm>
            <a:off x="442119" y="339437"/>
            <a:ext cx="8382000" cy="914400"/>
          </a:xfrm>
          <a:prstGeom prst="rect">
            <a:avLst/>
          </a:prstGeom>
        </p:spPr>
        <p:txBody>
          <a:bodyPr/>
          <a:lstStyle/>
          <a:p>
            <a:pPr>
              <a:defRPr/>
            </a:pPr>
            <a:r>
              <a:rPr lang="en-US" sz="3600" b="1" dirty="0">
                <a:solidFill>
                  <a:srgbClr val="FF0000"/>
                </a:solidFill>
                <a:latin typeface="Arial" charset="0"/>
                <a:ea typeface="+mj-ea"/>
                <a:cs typeface="Arial" charset="0"/>
              </a:rPr>
              <a:t>Integration of DNA with a Yip vector</a:t>
            </a:r>
          </a:p>
        </p:txBody>
      </p:sp>
      <p:sp>
        <p:nvSpPr>
          <p:cNvPr id="7" name="Rectangle 6">
            <a:extLst>
              <a:ext uri="{FF2B5EF4-FFF2-40B4-BE49-F238E27FC236}">
                <a16:creationId xmlns:a16="http://schemas.microsoft.com/office/drawing/2014/main" id="{A4D171C9-7669-DE48-9F4E-5C5B0F62BC6F}"/>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33864965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57200" y="1227341"/>
            <a:ext cx="8229600" cy="5514653"/>
          </a:xfrm>
        </p:spPr>
        <p:txBody>
          <a:bodyPr>
            <a:normAutofit fontScale="62500" lnSpcReduction="20000"/>
          </a:bodyPr>
          <a:lstStyle/>
          <a:p>
            <a:r>
              <a:rPr lang="en-US" dirty="0"/>
              <a:t>While </a:t>
            </a:r>
            <a:r>
              <a:rPr lang="en-US" i="1" dirty="0"/>
              <a:t>Saccharomyces cerevisiae </a:t>
            </a:r>
            <a:r>
              <a:rPr lang="en-US" dirty="0"/>
              <a:t>remains the most popular yeast host, several other yeasts are also utilized in the production of heterologous proteins. </a:t>
            </a:r>
          </a:p>
          <a:p>
            <a:endParaRPr lang="en-US" dirty="0"/>
          </a:p>
          <a:p>
            <a:r>
              <a:rPr lang="en-US" i="1" dirty="0"/>
              <a:t>Pichia pastoris </a:t>
            </a:r>
            <a:r>
              <a:rPr lang="en-US" dirty="0"/>
              <a:t>is among a limited number of yeasts capable of utilizing methanol as sole carbon source. </a:t>
            </a:r>
          </a:p>
          <a:p>
            <a:endParaRPr lang="en-US" dirty="0"/>
          </a:p>
          <a:p>
            <a:r>
              <a:rPr lang="en-US" dirty="0"/>
              <a:t>Its methanol utilization pathway contains two alcohol </a:t>
            </a:r>
            <a:r>
              <a:rPr lang="en-US" dirty="0" err="1"/>
              <a:t>oxidise</a:t>
            </a:r>
            <a:r>
              <a:rPr lang="en-US" dirty="0"/>
              <a:t> genes (</a:t>
            </a:r>
            <a:r>
              <a:rPr lang="en-US" i="1" dirty="0"/>
              <a:t>AOX1</a:t>
            </a:r>
            <a:r>
              <a:rPr lang="en-US" dirty="0"/>
              <a:t> and </a:t>
            </a:r>
            <a:r>
              <a:rPr lang="en-US" i="1" dirty="0"/>
              <a:t>AOX2</a:t>
            </a:r>
            <a:r>
              <a:rPr lang="en-US" dirty="0"/>
              <a:t>) and </a:t>
            </a:r>
            <a:r>
              <a:rPr lang="en-US" i="1" dirty="0"/>
              <a:t>AOX1</a:t>
            </a:r>
            <a:r>
              <a:rPr lang="en-US" dirty="0"/>
              <a:t> protein levels in particular can reach over 30% of total soluble protein in the cell. </a:t>
            </a:r>
          </a:p>
          <a:p>
            <a:endParaRPr lang="en-US" dirty="0"/>
          </a:p>
          <a:p>
            <a:r>
              <a:rPr lang="en-US" i="1" dirty="0"/>
              <a:t>AOX1</a:t>
            </a:r>
            <a:r>
              <a:rPr lang="en-US" dirty="0"/>
              <a:t> expression is under the control of a strong and tightly regulated </a:t>
            </a:r>
            <a:r>
              <a:rPr lang="en-US" i="1" dirty="0"/>
              <a:t>AOX1 </a:t>
            </a:r>
            <a:r>
              <a:rPr lang="en-US" dirty="0"/>
              <a:t>promoter, and this promoter is used in recombinant systems to drive high-level protein synthesis</a:t>
            </a:r>
          </a:p>
          <a:p>
            <a:endParaRPr lang="en-US" dirty="0"/>
          </a:p>
          <a:p>
            <a:r>
              <a:rPr lang="en-US" dirty="0"/>
              <a:t>Such recombinant systems are also usually designed so as to incorporate a protein export sequence on the recombinant protein, thus ensuring its extracellular export which simplifies subsequent protein recovery.</a:t>
            </a:r>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461665"/>
          </a:xfrm>
          <a:prstGeom prst="rect">
            <a:avLst/>
          </a:prstGeom>
          <a:noFill/>
        </p:spPr>
        <p:txBody>
          <a:bodyPr wrap="square" rtlCol="0">
            <a:spAutoFit/>
          </a:bodyPr>
          <a:lstStyle/>
          <a:p>
            <a:pPr algn="ctr"/>
            <a:r>
              <a:rPr lang="en-US" sz="2400" b="1" dirty="0">
                <a:solidFill>
                  <a:srgbClr val="FF0000"/>
                </a:solidFill>
              </a:rPr>
              <a:t>Heterologous production in yeast</a:t>
            </a:r>
            <a:endParaRPr lang="en-US" sz="2400" b="1" i="1" dirty="0">
              <a:solidFill>
                <a:srgbClr val="FF0000"/>
              </a:solidFill>
            </a:endParaRPr>
          </a:p>
        </p:txBody>
      </p:sp>
    </p:spTree>
    <p:extLst>
      <p:ext uri="{BB962C8B-B14F-4D97-AF65-F5344CB8AC3E}">
        <p14:creationId xmlns:p14="http://schemas.microsoft.com/office/powerpoint/2010/main" val="41402777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49648483-8D2F-C14B-8151-D30D0CB4A2AD}"/>
              </a:ext>
            </a:extLst>
          </p:cNvPr>
          <p:cNvSpPr>
            <a:spLocks noGrp="1" noChangeArrowheads="1"/>
          </p:cNvSpPr>
          <p:nvPr>
            <p:ph type="title"/>
          </p:nvPr>
        </p:nvSpPr>
        <p:spPr bwMode="auto">
          <a:xfrm>
            <a:off x="457200" y="274638"/>
            <a:ext cx="8229600" cy="639762"/>
          </a:xfrm>
          <a:solidFill>
            <a:srgbClr val="FFFFFF"/>
          </a:solid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0000"/>
          </a:bodyPr>
          <a:lstStyle/>
          <a:p>
            <a:r>
              <a:rPr lang="en-US" altLang="zh-TW" b="1" i="1" dirty="0">
                <a:solidFill>
                  <a:srgbClr val="FF0000"/>
                </a:solidFill>
              </a:rPr>
              <a:t>Pichia</a:t>
            </a:r>
            <a:r>
              <a:rPr lang="en-US" altLang="zh-TW" b="1" dirty="0">
                <a:solidFill>
                  <a:srgbClr val="FF0000"/>
                </a:solidFill>
              </a:rPr>
              <a:t> Cloning</a:t>
            </a:r>
          </a:p>
        </p:txBody>
      </p:sp>
      <p:pic>
        <p:nvPicPr>
          <p:cNvPr id="139267" name="Picture 3">
            <a:extLst>
              <a:ext uri="{FF2B5EF4-FFF2-40B4-BE49-F238E27FC236}">
                <a16:creationId xmlns:a16="http://schemas.microsoft.com/office/drawing/2014/main" id="{FC29F736-F06D-4E4F-8FD2-730EC1D157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125" t="42708" r="7813" b="19792"/>
          <a:stretch>
            <a:fillRect/>
          </a:stretch>
        </p:blipFill>
        <p:spPr bwMode="auto">
          <a:xfrm>
            <a:off x="1524000" y="3962400"/>
            <a:ext cx="62484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68" name="AutoShape 4">
            <a:extLst>
              <a:ext uri="{FF2B5EF4-FFF2-40B4-BE49-F238E27FC236}">
                <a16:creationId xmlns:a16="http://schemas.microsoft.com/office/drawing/2014/main" id="{20661838-15B4-5A4B-BA8F-A14504FC26BA}"/>
              </a:ext>
            </a:extLst>
          </p:cNvPr>
          <p:cNvSpPr>
            <a:spLocks noChangeArrowheads="1"/>
          </p:cNvSpPr>
          <p:nvPr/>
        </p:nvSpPr>
        <p:spPr bwMode="auto">
          <a:xfrm>
            <a:off x="3124200" y="2819400"/>
            <a:ext cx="609600" cy="228600"/>
          </a:xfrm>
          <a:prstGeom prst="rightArrow">
            <a:avLst>
              <a:gd name="adj1" fmla="val 50000"/>
              <a:gd name="adj2" fmla="val 66667"/>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39269" name="Picture 5">
            <a:extLst>
              <a:ext uri="{FF2B5EF4-FFF2-40B4-BE49-F238E27FC236}">
                <a16:creationId xmlns:a16="http://schemas.microsoft.com/office/drawing/2014/main" id="{0D580E48-7CA7-7443-A6E1-988BD6BC98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48242" t="31250" r="31250" b="43233"/>
          <a:stretch>
            <a:fillRect/>
          </a:stretch>
        </p:blipFill>
        <p:spPr bwMode="auto">
          <a:xfrm>
            <a:off x="4114800" y="1676400"/>
            <a:ext cx="2286000" cy="213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9270" name="AutoShape 6">
            <a:extLst>
              <a:ext uri="{FF2B5EF4-FFF2-40B4-BE49-F238E27FC236}">
                <a16:creationId xmlns:a16="http://schemas.microsoft.com/office/drawing/2014/main" id="{9CA2E4BB-E772-1D41-BEB6-11DF0394620F}"/>
              </a:ext>
            </a:extLst>
          </p:cNvPr>
          <p:cNvSpPr>
            <a:spLocks noChangeArrowheads="1"/>
          </p:cNvSpPr>
          <p:nvPr/>
        </p:nvSpPr>
        <p:spPr bwMode="auto">
          <a:xfrm>
            <a:off x="6705600" y="2743200"/>
            <a:ext cx="609600" cy="228600"/>
          </a:xfrm>
          <a:prstGeom prst="rightArrow">
            <a:avLst>
              <a:gd name="adj1" fmla="val 50000"/>
              <a:gd name="adj2" fmla="val 66667"/>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39271" name="Picture 7">
            <a:extLst>
              <a:ext uri="{FF2B5EF4-FFF2-40B4-BE49-F238E27FC236}">
                <a16:creationId xmlns:a16="http://schemas.microsoft.com/office/drawing/2014/main" id="{1679C917-6C9A-9A45-BC06-4AABA38F9C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4792" t="32813" r="42708" b="24219"/>
          <a:stretch>
            <a:fillRect/>
          </a:stretch>
        </p:blipFill>
        <p:spPr bwMode="auto">
          <a:xfrm>
            <a:off x="7696200" y="609600"/>
            <a:ext cx="9144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9272" name="Picture 8">
            <a:extLst>
              <a:ext uri="{FF2B5EF4-FFF2-40B4-BE49-F238E27FC236}">
                <a16:creationId xmlns:a16="http://schemas.microsoft.com/office/drawing/2014/main" id="{5CE98135-0C9F-AD41-8CF1-042F918FCBE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35156" t="20833" r="15625" b="13542"/>
          <a:stretch>
            <a:fillRect/>
          </a:stretch>
        </p:blipFill>
        <p:spPr bwMode="auto">
          <a:xfrm>
            <a:off x="304800" y="1447800"/>
            <a:ext cx="2743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1796F678-B85E-3D46-B95E-A39102C1D001}"/>
              </a:ext>
            </a:extLst>
          </p:cNvPr>
          <p:cNvSpPr/>
          <p:nvPr/>
        </p:nvSpPr>
        <p:spPr>
          <a:xfrm>
            <a:off x="0" y="6519446"/>
            <a:ext cx="2396836" cy="215444"/>
          </a:xfrm>
          <a:prstGeom prst="rect">
            <a:avLst/>
          </a:prstGeom>
        </p:spPr>
        <p:txBody>
          <a:bodyPr wrap="square">
            <a:spAutoFit/>
          </a:bodyPr>
          <a:lstStyle/>
          <a:p>
            <a:r>
              <a:rPr lang="en-US" sz="800" dirty="0" err="1">
                <a:latin typeface="Arial" panose="020B0604020202020204" pitchFamily="34" charset="0"/>
                <a:cs typeface="Arial" panose="020B0604020202020204" pitchFamily="34" charset="0"/>
              </a:rPr>
              <a:t>Thermo</a:t>
            </a:r>
            <a:r>
              <a:rPr lang="en-US" sz="800" dirty="0">
                <a:latin typeface="Arial" panose="020B0604020202020204" pitchFamily="34" charset="0"/>
                <a:cs typeface="Arial" panose="020B0604020202020204" pitchFamily="34" charset="0"/>
              </a:rPr>
              <a:t> Fisher</a:t>
            </a:r>
            <a:endParaRPr lang="en-US" sz="800" dirty="0"/>
          </a:p>
        </p:txBody>
      </p:sp>
    </p:spTree>
    <p:extLst>
      <p:ext uri="{BB962C8B-B14F-4D97-AF65-F5344CB8AC3E}">
        <p14:creationId xmlns:p14="http://schemas.microsoft.com/office/powerpoint/2010/main" val="39976668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741EC-CD62-D449-920C-40EA21AF79C5}"/>
              </a:ext>
            </a:extLst>
          </p:cNvPr>
          <p:cNvSpPr>
            <a:spLocks noGrp="1"/>
          </p:cNvSpPr>
          <p:nvPr>
            <p:ph idx="1"/>
          </p:nvPr>
        </p:nvSpPr>
        <p:spPr>
          <a:xfrm>
            <a:off x="419668" y="1164664"/>
            <a:ext cx="8304663" cy="6312090"/>
          </a:xfrm>
        </p:spPr>
        <p:txBody>
          <a:bodyPr>
            <a:normAutofit fontScale="77500" lnSpcReduction="20000"/>
          </a:bodyPr>
          <a:lstStyle/>
          <a:p>
            <a:r>
              <a:rPr lang="en-US" dirty="0"/>
              <a:t>Fungai such as </a:t>
            </a:r>
            <a:r>
              <a:rPr lang="en-US" i="1" dirty="0"/>
              <a:t>Aspergillus </a:t>
            </a:r>
            <a:r>
              <a:rPr lang="en-US" i="1" dirty="0" err="1"/>
              <a:t>niger</a:t>
            </a:r>
            <a:r>
              <a:rPr lang="en-US" i="1" dirty="0"/>
              <a:t> </a:t>
            </a:r>
            <a:r>
              <a:rPr lang="en-US" dirty="0"/>
              <a:t>and </a:t>
            </a:r>
            <a:r>
              <a:rPr lang="en-US" i="1" dirty="0"/>
              <a:t>Aspergillus </a:t>
            </a:r>
            <a:r>
              <a:rPr lang="en-US" i="1" dirty="0" err="1"/>
              <a:t>oryzae</a:t>
            </a:r>
            <a:r>
              <a:rPr lang="en-US" i="1" dirty="0"/>
              <a:t> </a:t>
            </a:r>
            <a:r>
              <a:rPr lang="en-US" dirty="0"/>
              <a:t>naturally produce various extracellular enzymes at very high levels (up to 20g/L) and many of these enzymes (cellulases, amylases, proteases, phytases and lipases) have been commercialized.</a:t>
            </a:r>
          </a:p>
          <a:p>
            <a:endParaRPr lang="en-US" dirty="0"/>
          </a:p>
          <a:p>
            <a:r>
              <a:rPr lang="en-US" dirty="0"/>
              <a:t>Advantages of using fungi for heterologous gene expression:</a:t>
            </a:r>
          </a:p>
          <a:p>
            <a:pPr marL="914400" lvl="1" indent="-514350">
              <a:buFont typeface="+mj-lt"/>
              <a:buAutoNum type="arabicPeriod"/>
            </a:pPr>
            <a:r>
              <a:rPr lang="en-US" dirty="0"/>
              <a:t>Many are GRAS listed and many produce non-recombinant enzymes as well as other primary and secondary products of metabolism (e.g. vitamins, various organic acids, antibiotics and alkaloids). </a:t>
            </a:r>
          </a:p>
          <a:p>
            <a:pPr marL="914400" lvl="1" indent="-514350">
              <a:buFont typeface="+mj-lt"/>
              <a:buAutoNum type="arabicPeriod"/>
            </a:pPr>
            <a:r>
              <a:rPr lang="en-US" dirty="0"/>
              <a:t>Large- scale fermentation systems are developed and optimized. </a:t>
            </a:r>
          </a:p>
          <a:p>
            <a:pPr marL="914400" lvl="1" indent="-514350">
              <a:buFont typeface="+mj-lt"/>
              <a:buAutoNum type="arabicPeriod"/>
            </a:pPr>
            <a:r>
              <a:rPr lang="en-US" dirty="0"/>
              <a:t>They have an unparalleled natural capacity to secret large quantities of certain proteins into the extracellular medium. </a:t>
            </a:r>
          </a:p>
          <a:p>
            <a:pPr marL="914400" lvl="1" indent="-514350">
              <a:buFont typeface="+mj-lt"/>
              <a:buAutoNum type="arabicPeriod"/>
            </a:pPr>
            <a:r>
              <a:rPr lang="en-US" dirty="0"/>
              <a:t>They possess the enzymatic capability to carry out PTMs (although, their glycosylation capacity differs from that characteristic of mammalian cells)</a:t>
            </a:r>
          </a:p>
          <a:p>
            <a:endParaRPr lang="en-US" dirty="0"/>
          </a:p>
          <a:p>
            <a:endParaRPr lang="en-US" dirty="0"/>
          </a:p>
        </p:txBody>
      </p:sp>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23220"/>
          </a:xfrm>
          <a:prstGeom prst="rect">
            <a:avLst/>
          </a:prstGeom>
          <a:noFill/>
        </p:spPr>
        <p:txBody>
          <a:bodyPr wrap="square" rtlCol="0">
            <a:spAutoFit/>
          </a:bodyPr>
          <a:lstStyle/>
          <a:p>
            <a:pPr algn="ctr"/>
            <a:r>
              <a:rPr lang="en-US" sz="2800" b="1" dirty="0">
                <a:solidFill>
                  <a:srgbClr val="FF0000"/>
                </a:solidFill>
              </a:rPr>
              <a:t>Heterologous protein production in fungi </a:t>
            </a:r>
          </a:p>
        </p:txBody>
      </p:sp>
    </p:spTree>
    <p:extLst>
      <p:ext uri="{BB962C8B-B14F-4D97-AF65-F5344CB8AC3E}">
        <p14:creationId xmlns:p14="http://schemas.microsoft.com/office/powerpoint/2010/main" val="18037247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4D6CC45-8A49-064B-B3D0-513D88C0F836}"/>
              </a:ext>
            </a:extLst>
          </p:cNvPr>
          <p:cNvSpPr txBox="1"/>
          <p:nvPr/>
        </p:nvSpPr>
        <p:spPr>
          <a:xfrm>
            <a:off x="0" y="341193"/>
            <a:ext cx="9144000" cy="523220"/>
          </a:xfrm>
          <a:prstGeom prst="rect">
            <a:avLst/>
          </a:prstGeom>
          <a:noFill/>
        </p:spPr>
        <p:txBody>
          <a:bodyPr wrap="square" rtlCol="0">
            <a:spAutoFit/>
          </a:bodyPr>
          <a:lstStyle/>
          <a:p>
            <a:pPr algn="ctr"/>
            <a:r>
              <a:rPr lang="en-US" sz="2800" b="1" dirty="0">
                <a:solidFill>
                  <a:srgbClr val="FF0000"/>
                </a:solidFill>
              </a:rPr>
              <a:t>Heterologous protein production in fungi </a:t>
            </a:r>
          </a:p>
        </p:txBody>
      </p:sp>
      <p:pic>
        <p:nvPicPr>
          <p:cNvPr id="6" name="Picture 5">
            <a:extLst>
              <a:ext uri="{FF2B5EF4-FFF2-40B4-BE49-F238E27FC236}">
                <a16:creationId xmlns:a16="http://schemas.microsoft.com/office/drawing/2014/main" id="{73DEB075-0F0A-6C45-AB0A-8D63C7DAF793}"/>
              </a:ext>
            </a:extLst>
          </p:cNvPr>
          <p:cNvPicPr>
            <a:picLocks noChangeAspect="1"/>
          </p:cNvPicPr>
          <p:nvPr/>
        </p:nvPicPr>
        <p:blipFill>
          <a:blip r:embed="rId2"/>
          <a:stretch>
            <a:fillRect/>
          </a:stretch>
        </p:blipFill>
        <p:spPr>
          <a:xfrm>
            <a:off x="809337" y="2220261"/>
            <a:ext cx="7683500" cy="1132539"/>
          </a:xfrm>
          <a:prstGeom prst="rect">
            <a:avLst/>
          </a:prstGeom>
        </p:spPr>
      </p:pic>
      <p:sp>
        <p:nvSpPr>
          <p:cNvPr id="7" name="Rectangle 6">
            <a:extLst>
              <a:ext uri="{FF2B5EF4-FFF2-40B4-BE49-F238E27FC236}">
                <a16:creationId xmlns:a16="http://schemas.microsoft.com/office/drawing/2014/main" id="{54317B0C-FB3D-0C47-9D71-545EC73B4662}"/>
              </a:ext>
            </a:extLst>
          </p:cNvPr>
          <p:cNvSpPr/>
          <p:nvPr/>
        </p:nvSpPr>
        <p:spPr>
          <a:xfrm>
            <a:off x="543215" y="4242367"/>
            <a:ext cx="8215744" cy="1754326"/>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Construct for expression and secretion of the human a</a:t>
            </a:r>
            <a:r>
              <a:rPr lang="en-US" sz="800" dirty="0">
                <a:latin typeface="Arial" panose="020B0604020202020204" pitchFamily="34" charset="0"/>
                <a:cs typeface="Arial" panose="020B0604020202020204" pitchFamily="34" charset="0"/>
              </a:rPr>
              <a:t>1</a:t>
            </a:r>
            <a:r>
              <a:rPr lang="en-US" dirty="0">
                <a:latin typeface="Arial" panose="020B0604020202020204" pitchFamily="34" charset="0"/>
                <a:cs typeface="Arial" panose="020B0604020202020204" pitchFamily="34" charset="0"/>
              </a:rPr>
              <a:t>-proteinase inhibitor in the filamentous fungus </a:t>
            </a:r>
            <a:r>
              <a:rPr lang="en-US" i="1" dirty="0">
                <a:latin typeface="Arial" panose="020B0604020202020204" pitchFamily="34" charset="0"/>
                <a:cs typeface="Arial" panose="020B0604020202020204" pitchFamily="34" charset="0"/>
              </a:rPr>
              <a:t>A. </a:t>
            </a:r>
            <a:r>
              <a:rPr lang="en-US" i="1" dirty="0" err="1">
                <a:latin typeface="Arial" panose="020B0604020202020204" pitchFamily="34" charset="0"/>
                <a:cs typeface="Arial" panose="020B0604020202020204" pitchFamily="34" charset="0"/>
              </a:rPr>
              <a:t>niger</a:t>
            </a:r>
            <a:r>
              <a:rPr lang="en-US" dirty="0">
                <a:latin typeface="Arial" panose="020B0604020202020204" pitchFamily="34" charset="0"/>
                <a:cs typeface="Arial" panose="020B0604020202020204" pitchFamily="34" charset="0"/>
              </a:rPr>
              <a:t>. The expression cassette includes the strong constitutive promoter </a:t>
            </a:r>
            <a:r>
              <a:rPr lang="en-US" i="1" dirty="0" err="1">
                <a:latin typeface="Arial" panose="020B0604020202020204" pitchFamily="34" charset="0"/>
                <a:cs typeface="Arial" panose="020B0604020202020204" pitchFamily="34" charset="0"/>
              </a:rPr>
              <a:t>gpdAp</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transcriptional terminator from the </a:t>
            </a:r>
            <a:r>
              <a:rPr lang="en-US" i="1" dirty="0" err="1">
                <a:latin typeface="Arial" panose="020B0604020202020204" pitchFamily="34" charset="0"/>
                <a:cs typeface="Arial" panose="020B0604020202020204" pitchFamily="34" charset="0"/>
              </a:rPr>
              <a:t>TrpC</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gene </a:t>
            </a:r>
            <a:r>
              <a:rPr lang="en-US" i="1" dirty="0">
                <a:latin typeface="Arial" panose="020B0604020202020204" pitchFamily="34" charset="0"/>
                <a:cs typeface="Arial" panose="020B0604020202020204" pitchFamily="34" charset="0"/>
              </a:rPr>
              <a:t>(</a:t>
            </a:r>
            <a:r>
              <a:rPr lang="en-US" i="1" dirty="0" err="1">
                <a:latin typeface="Arial" panose="020B0604020202020204" pitchFamily="34" charset="0"/>
                <a:cs typeface="Arial" panose="020B0604020202020204" pitchFamily="34" charset="0"/>
              </a:rPr>
              <a:t>TrpCt</a:t>
            </a:r>
            <a:r>
              <a:rPr lang="en-US" i="1"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 cDNA encoding glucoamylase to facilitate secretion, and the coding sequence for the Kex2 recognition site for in vivo removal of the </a:t>
            </a:r>
            <a:r>
              <a:rPr lang="en-US" dirty="0" err="1">
                <a:latin typeface="Arial" panose="020B0604020202020204" pitchFamily="34" charset="0"/>
                <a:cs typeface="Arial" panose="020B0604020202020204" pitchFamily="34" charset="0"/>
              </a:rPr>
              <a:t>glucoamy</a:t>
            </a:r>
            <a:r>
              <a:rPr lang="en-US" dirty="0">
                <a:latin typeface="Arial" panose="020B0604020202020204" pitchFamily="34" charset="0"/>
                <a:cs typeface="Arial" panose="020B0604020202020204" pitchFamily="34" charset="0"/>
              </a:rPr>
              <a:t> lase fusion protein by the host Kex2 </a:t>
            </a:r>
            <a:r>
              <a:rPr lang="en-US" dirty="0" err="1">
                <a:latin typeface="Arial" panose="020B0604020202020204" pitchFamily="34" charset="0"/>
                <a:cs typeface="Arial" panose="020B0604020202020204" pitchFamily="34" charset="0"/>
              </a:rPr>
              <a:t>endoprotease</a:t>
            </a:r>
            <a:r>
              <a:rPr lang="en-US" dirty="0">
                <a:latin typeface="Arial" panose="020B0604020202020204" pitchFamily="34" charset="0"/>
                <a:cs typeface="Arial" panose="020B0604020202020204" pitchFamily="34" charset="0"/>
              </a:rPr>
              <a:t>. </a:t>
            </a:r>
          </a:p>
        </p:txBody>
      </p:sp>
      <p:sp>
        <p:nvSpPr>
          <p:cNvPr id="8" name="Rectangle 7">
            <a:extLst>
              <a:ext uri="{FF2B5EF4-FFF2-40B4-BE49-F238E27FC236}">
                <a16:creationId xmlns:a16="http://schemas.microsoft.com/office/drawing/2014/main" id="{5ED43D05-240A-C54A-A732-F406A612974F}"/>
              </a:ext>
            </a:extLst>
          </p:cNvPr>
          <p:cNvSpPr/>
          <p:nvPr/>
        </p:nvSpPr>
        <p:spPr>
          <a:xfrm>
            <a:off x="6747164" y="6514673"/>
            <a:ext cx="2396836" cy="338554"/>
          </a:xfrm>
          <a:prstGeom prst="rect">
            <a:avLst/>
          </a:prstGeom>
        </p:spPr>
        <p:txBody>
          <a:bodyPr wrap="square">
            <a:spAutoFit/>
          </a:bodyPr>
          <a:lstStyle/>
          <a:p>
            <a:pPr algn="r"/>
            <a:r>
              <a:rPr lang="en-US" sz="800" dirty="0">
                <a:latin typeface="Arial" panose="020B0604020202020204" pitchFamily="34" charset="0"/>
                <a:cs typeface="Arial" panose="020B0604020202020204" pitchFamily="34" charset="0"/>
              </a:rPr>
              <a:t>Bernard et al., (2010) </a:t>
            </a:r>
            <a:r>
              <a:rPr lang="en-US" sz="800" dirty="0"/>
              <a:t>Molecular biotechnology : principles and applications of recombinant DNA </a:t>
            </a:r>
          </a:p>
        </p:txBody>
      </p:sp>
    </p:spTree>
    <p:extLst>
      <p:ext uri="{BB962C8B-B14F-4D97-AF65-F5344CB8AC3E}">
        <p14:creationId xmlns:p14="http://schemas.microsoft.com/office/powerpoint/2010/main" val="3373528843"/>
      </p:ext>
    </p:extLst>
  </p:cSld>
  <p:clrMapOvr>
    <a:masterClrMapping/>
  </p:clrMapOvr>
</p:sld>
</file>

<file path=ppt/theme/theme1.xml><?xml version="1.0" encoding="utf-8"?>
<a:theme xmlns:a="http://schemas.openxmlformats.org/drawingml/2006/main" name="Defaul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35823</TotalTime>
  <Words>2597</Words>
  <Application>Microsoft Office PowerPoint</Application>
  <PresentationFormat>On-screen Show (4:3)</PresentationFormat>
  <Paragraphs>234</Paragraphs>
  <Slides>43</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ＭＳ Ｐゴシック</vt:lpstr>
      <vt:lpstr>Arial</vt:lpstr>
      <vt:lpstr>Calibri</vt:lpstr>
      <vt:lpstr>Helvetica</vt:lpstr>
      <vt:lpstr>新細明體</vt:lpstr>
      <vt:lpstr>Times New Roman</vt:lpstr>
      <vt:lpstr>Default Theme</vt:lpstr>
      <vt:lpstr>Protein sources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Cloning vector features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Saccharomyces cerevisiae</vt:lpstr>
      <vt:lpstr>PowerPoint Presentation</vt:lpstr>
      <vt:lpstr>PowerPoint Presentation</vt:lpstr>
      <vt:lpstr>PowerPoint Presentation</vt:lpstr>
      <vt:lpstr>Pichia Cloning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JUST</cp:lastModifiedBy>
  <cp:revision>258</cp:revision>
  <cp:lastPrinted>2019-03-03T17:50:49Z</cp:lastPrinted>
  <dcterms:created xsi:type="dcterms:W3CDTF">2019-01-29T18:07:55Z</dcterms:created>
  <dcterms:modified xsi:type="dcterms:W3CDTF">2019-12-22T09:23:08Z</dcterms:modified>
</cp:coreProperties>
</file>