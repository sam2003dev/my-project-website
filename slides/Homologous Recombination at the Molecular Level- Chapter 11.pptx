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77" r:id="rId1"/>
  </p:sldMasterIdLst>
  <p:notesMasterIdLst>
    <p:notesMasterId r:id="rId67"/>
  </p:notesMasterIdLst>
  <p:sldIdLst>
    <p:sldId id="256" r:id="rId2"/>
    <p:sldId id="257" r:id="rId3"/>
    <p:sldId id="357" r:id="rId4"/>
    <p:sldId id="358" r:id="rId5"/>
    <p:sldId id="376" r:id="rId6"/>
    <p:sldId id="359" r:id="rId7"/>
    <p:sldId id="288" r:id="rId8"/>
    <p:sldId id="377" r:id="rId9"/>
    <p:sldId id="315" r:id="rId10"/>
    <p:sldId id="316" r:id="rId11"/>
    <p:sldId id="317" r:id="rId12"/>
    <p:sldId id="360" r:id="rId13"/>
    <p:sldId id="362" r:id="rId14"/>
    <p:sldId id="365" r:id="rId15"/>
    <p:sldId id="368" r:id="rId16"/>
    <p:sldId id="361" r:id="rId17"/>
    <p:sldId id="366" r:id="rId18"/>
    <p:sldId id="367" r:id="rId19"/>
    <p:sldId id="369" r:id="rId20"/>
    <p:sldId id="321" r:id="rId21"/>
    <p:sldId id="322" r:id="rId22"/>
    <p:sldId id="370" r:id="rId23"/>
    <p:sldId id="323" r:id="rId24"/>
    <p:sldId id="324" r:id="rId25"/>
    <p:sldId id="372" r:id="rId26"/>
    <p:sldId id="371" r:id="rId27"/>
    <p:sldId id="373" r:id="rId28"/>
    <p:sldId id="326" r:id="rId29"/>
    <p:sldId id="374" r:id="rId30"/>
    <p:sldId id="329" r:id="rId31"/>
    <p:sldId id="378" r:id="rId32"/>
    <p:sldId id="390" r:id="rId33"/>
    <p:sldId id="391" r:id="rId34"/>
    <p:sldId id="392" r:id="rId35"/>
    <p:sldId id="379" r:id="rId36"/>
    <p:sldId id="330" r:id="rId37"/>
    <p:sldId id="331" r:id="rId38"/>
    <p:sldId id="333" r:id="rId39"/>
    <p:sldId id="380" r:id="rId40"/>
    <p:sldId id="393" r:id="rId41"/>
    <p:sldId id="394" r:id="rId42"/>
    <p:sldId id="395" r:id="rId43"/>
    <p:sldId id="382" r:id="rId44"/>
    <p:sldId id="336" r:id="rId45"/>
    <p:sldId id="383" r:id="rId46"/>
    <p:sldId id="384" r:id="rId47"/>
    <p:sldId id="385" r:id="rId48"/>
    <p:sldId id="339" r:id="rId49"/>
    <p:sldId id="386" r:id="rId50"/>
    <p:sldId id="342" r:id="rId51"/>
    <p:sldId id="343" r:id="rId52"/>
    <p:sldId id="387" r:id="rId53"/>
    <p:sldId id="344" r:id="rId54"/>
    <p:sldId id="388" r:id="rId55"/>
    <p:sldId id="389" r:id="rId56"/>
    <p:sldId id="346" r:id="rId57"/>
    <p:sldId id="347" r:id="rId58"/>
    <p:sldId id="349" r:id="rId59"/>
    <p:sldId id="348" r:id="rId60"/>
    <p:sldId id="353" r:id="rId61"/>
    <p:sldId id="354" r:id="rId62"/>
    <p:sldId id="396" r:id="rId63"/>
    <p:sldId id="356" r:id="rId64"/>
    <p:sldId id="364" r:id="rId65"/>
    <p:sldId id="381" r:id="rId66"/>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Garamond" panose="02020404030301010803"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39" autoAdjust="0"/>
    <p:restoredTop sz="95588" autoAdjust="0"/>
  </p:normalViewPr>
  <p:slideViewPr>
    <p:cSldViewPr>
      <p:cViewPr varScale="1">
        <p:scale>
          <a:sx n="155" d="100"/>
          <a:sy n="155" d="100"/>
        </p:scale>
        <p:origin x="1448" y="17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808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C4EFAAB-5314-22A9-A096-60ED25BB6E9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48131" name="Rectangle 3">
            <a:extLst>
              <a:ext uri="{FF2B5EF4-FFF2-40B4-BE49-F238E27FC236}">
                <a16:creationId xmlns:a16="http://schemas.microsoft.com/office/drawing/2014/main" id="{C69D3072-DC9D-BA2B-E259-1FFFF7533A3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GB"/>
          </a:p>
        </p:txBody>
      </p:sp>
      <p:sp>
        <p:nvSpPr>
          <p:cNvPr id="6148" name="Rectangle 4">
            <a:extLst>
              <a:ext uri="{FF2B5EF4-FFF2-40B4-BE49-F238E27FC236}">
                <a16:creationId xmlns:a16="http://schemas.microsoft.com/office/drawing/2014/main" id="{22C6D0E7-E587-4051-BCF6-9937AD3DBE12}"/>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a:extLst>
              <a:ext uri="{FF2B5EF4-FFF2-40B4-BE49-F238E27FC236}">
                <a16:creationId xmlns:a16="http://schemas.microsoft.com/office/drawing/2014/main" id="{B5039EF3-7F31-4319-5B98-092024DBCE9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8134" name="Rectangle 6">
            <a:extLst>
              <a:ext uri="{FF2B5EF4-FFF2-40B4-BE49-F238E27FC236}">
                <a16:creationId xmlns:a16="http://schemas.microsoft.com/office/drawing/2014/main" id="{EC4FC62F-8A6D-FB68-EBCB-5CDDCF0651B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48135" name="Rectangle 7">
            <a:extLst>
              <a:ext uri="{FF2B5EF4-FFF2-40B4-BE49-F238E27FC236}">
                <a16:creationId xmlns:a16="http://schemas.microsoft.com/office/drawing/2014/main" id="{C6A3F17F-FC10-E642-ACD6-E3554ED260B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0F5AF4F9-5FCA-A64F-AC9C-E2F8B2C0E87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F6B0325-8D7C-7400-C289-DF8DF6148B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E950598-B046-9C44-9F96-04DE62D99A84}" type="slidenum">
              <a:rPr lang="en-GB" altLang="en-US"/>
              <a:pPr>
                <a:spcBef>
                  <a:spcPct val="0"/>
                </a:spcBef>
              </a:pPr>
              <a:t>1</a:t>
            </a:fld>
            <a:endParaRPr lang="en-GB" altLang="en-US"/>
          </a:p>
        </p:txBody>
      </p:sp>
      <p:sp>
        <p:nvSpPr>
          <p:cNvPr id="8195" name="Rectangle 2">
            <a:extLst>
              <a:ext uri="{FF2B5EF4-FFF2-40B4-BE49-F238E27FC236}">
                <a16:creationId xmlns:a16="http://schemas.microsoft.com/office/drawing/2014/main" id="{5A5EAA1E-C1BA-50DA-3A4C-2BDA95DDFE8D}"/>
              </a:ext>
            </a:extLst>
          </p:cNvPr>
          <p:cNvSpPr>
            <a:spLocks noRot="1" noChangeArrowheads="1" noTextEdit="1"/>
          </p:cNvSpPr>
          <p:nvPr>
            <p:ph type="sldImg"/>
          </p:nvPr>
        </p:nvSpPr>
        <p:spPr>
          <a:ln/>
        </p:spPr>
      </p:sp>
      <p:sp>
        <p:nvSpPr>
          <p:cNvPr id="8196" name="Rectangle 3">
            <a:extLst>
              <a:ext uri="{FF2B5EF4-FFF2-40B4-BE49-F238E27FC236}">
                <a16:creationId xmlns:a16="http://schemas.microsoft.com/office/drawing/2014/main" id="{7C119808-5312-A29A-D882-F6F6FBEA9C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439C9744-3024-2E59-6D8D-68C57C6AE2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2D43F8D-3879-4447-B78F-96ED3E13010B}" type="slidenum">
              <a:rPr lang="en-GB" altLang="en-US"/>
              <a:pPr>
                <a:spcBef>
                  <a:spcPct val="0"/>
                </a:spcBef>
              </a:pPr>
              <a:t>2</a:t>
            </a:fld>
            <a:endParaRPr lang="en-GB" altLang="en-US"/>
          </a:p>
        </p:txBody>
      </p:sp>
      <p:sp>
        <p:nvSpPr>
          <p:cNvPr id="10243" name="Rectangle 2">
            <a:extLst>
              <a:ext uri="{FF2B5EF4-FFF2-40B4-BE49-F238E27FC236}">
                <a16:creationId xmlns:a16="http://schemas.microsoft.com/office/drawing/2014/main" id="{AC2C1127-B17C-BBFA-16AC-95BF01E8F846}"/>
              </a:ext>
            </a:extLst>
          </p:cNvPr>
          <p:cNvSpPr>
            <a:spLocks noRot="1" noChangeArrowheads="1" noTextEdit="1"/>
          </p:cNvSpPr>
          <p:nvPr>
            <p:ph type="sldImg"/>
          </p:nvPr>
        </p:nvSpPr>
        <p:spPr>
          <a:ln/>
        </p:spPr>
      </p:sp>
      <p:sp>
        <p:nvSpPr>
          <p:cNvPr id="10244" name="Rectangle 3">
            <a:extLst>
              <a:ext uri="{FF2B5EF4-FFF2-40B4-BE49-F238E27FC236}">
                <a16:creationId xmlns:a16="http://schemas.microsoft.com/office/drawing/2014/main" id="{35F3F165-E62D-D737-03DD-AE260AFBCC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EA9F34FC-A488-0410-9311-CA383B453E30}"/>
              </a:ext>
            </a:extLst>
          </p:cNvPr>
          <p:cNvSpPr>
            <a:spLocks noGrp="1" noRot="1" noChangeAspect="1" noTextEdit="1"/>
          </p:cNvSpPr>
          <p:nvPr>
            <p:ph type="sldImg"/>
          </p:nvPr>
        </p:nvSpPr>
        <p:spPr>
          <a:ln/>
        </p:spPr>
      </p:sp>
      <p:sp>
        <p:nvSpPr>
          <p:cNvPr id="12291" name="Notes Placeholder 2">
            <a:extLst>
              <a:ext uri="{FF2B5EF4-FFF2-40B4-BE49-F238E27FC236}">
                <a16:creationId xmlns:a16="http://schemas.microsoft.com/office/drawing/2014/main" id="{302F0A1F-78B8-C767-1962-36E2387A3B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2292" name="Slide Number Placeholder 3">
            <a:extLst>
              <a:ext uri="{FF2B5EF4-FFF2-40B4-BE49-F238E27FC236}">
                <a16:creationId xmlns:a16="http://schemas.microsoft.com/office/drawing/2014/main" id="{50FD3E4B-5CC7-8C3E-0B74-E32A51C77F6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B5A8ED7-2632-F146-83E7-266C2F9D152F}" type="slidenum">
              <a:rPr lang="en-GB" altLang="en-US"/>
              <a:pPr>
                <a:spcBef>
                  <a:spcPct val="0"/>
                </a:spcBef>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219B74B6-B716-347A-A48D-0E545EE23521}"/>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DDB70597-43BE-11B1-84E4-BE91667F21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4340" name="Slide Number Placeholder 3">
            <a:extLst>
              <a:ext uri="{FF2B5EF4-FFF2-40B4-BE49-F238E27FC236}">
                <a16:creationId xmlns:a16="http://schemas.microsoft.com/office/drawing/2014/main" id="{55C4EDC6-E765-904C-E208-289B5DDD16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C4CB466-4BA6-2640-AB7F-F9331B5A0EDB}" type="slidenum">
              <a:rPr lang="en-GB" altLang="en-US"/>
              <a:pPr>
                <a:spcBef>
                  <a:spcPct val="0"/>
                </a:spcBef>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9ECFA980-8F3D-37BB-F8BB-98FCA56F4751}"/>
              </a:ext>
            </a:extLst>
          </p:cNvPr>
          <p:cNvSpPr>
            <a:spLocks noGrp="1" noRot="1" noChangeAspect="1" noTextEdit="1"/>
          </p:cNvSpPr>
          <p:nvPr>
            <p:ph type="sldImg"/>
          </p:nvPr>
        </p:nvSpPr>
        <p:spPr>
          <a:ln/>
        </p:spPr>
      </p:sp>
      <p:sp>
        <p:nvSpPr>
          <p:cNvPr id="16387" name="Notes Placeholder 2">
            <a:extLst>
              <a:ext uri="{FF2B5EF4-FFF2-40B4-BE49-F238E27FC236}">
                <a16:creationId xmlns:a16="http://schemas.microsoft.com/office/drawing/2014/main" id="{8A8B4D1A-52DC-EBB2-3FE0-DC7FB639EC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6388" name="Slide Number Placeholder 3">
            <a:extLst>
              <a:ext uri="{FF2B5EF4-FFF2-40B4-BE49-F238E27FC236}">
                <a16:creationId xmlns:a16="http://schemas.microsoft.com/office/drawing/2014/main" id="{543535D7-912F-402C-AB09-15914342D2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9D6439C-FAB1-2E4F-B801-583F552702B3}" type="slidenum">
              <a:rPr lang="en-GB" altLang="en-US"/>
              <a:pPr>
                <a:spcBef>
                  <a:spcPct val="0"/>
                </a:spcBef>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5F11ACFF-25C5-13EC-791E-21876B1E83BB}"/>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2C1E509F-1CFE-CEBD-571A-BC6252987BF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8436" name="Slide Number Placeholder 3">
            <a:extLst>
              <a:ext uri="{FF2B5EF4-FFF2-40B4-BE49-F238E27FC236}">
                <a16:creationId xmlns:a16="http://schemas.microsoft.com/office/drawing/2014/main" id="{18443A43-B5B9-A7F2-F8CA-CA001032F0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351784E-DD25-ED44-84AC-06E0DBDD1498}" type="slidenum">
              <a:rPr lang="en-GB" altLang="en-US"/>
              <a:pPr>
                <a:spcBef>
                  <a:spcPct val="0"/>
                </a:spcBef>
              </a:pPr>
              <a:t>6</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B40772D5-7E35-C90A-CD12-FA70224316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F866164-D4A2-9A4B-8B87-E0942C0C9CCD}" type="slidenum">
              <a:rPr lang="en-GB" altLang="en-US"/>
              <a:pPr>
                <a:spcBef>
                  <a:spcPct val="0"/>
                </a:spcBef>
              </a:pPr>
              <a:t>7</a:t>
            </a:fld>
            <a:endParaRPr lang="en-GB" altLang="en-US"/>
          </a:p>
        </p:txBody>
      </p:sp>
      <p:sp>
        <p:nvSpPr>
          <p:cNvPr id="20483" name="Rectangle 2">
            <a:extLst>
              <a:ext uri="{FF2B5EF4-FFF2-40B4-BE49-F238E27FC236}">
                <a16:creationId xmlns:a16="http://schemas.microsoft.com/office/drawing/2014/main" id="{E98C3990-0003-8ACC-C402-65C86ADEC5A0}"/>
              </a:ext>
            </a:extLst>
          </p:cNvPr>
          <p:cNvSpPr>
            <a:spLocks noRot="1" noChangeArrowheads="1" noTextEdit="1"/>
          </p:cNvSpPr>
          <p:nvPr>
            <p:ph type="sldImg"/>
          </p:nvPr>
        </p:nvSpPr>
        <p:spPr>
          <a:ln/>
        </p:spPr>
      </p:sp>
      <p:sp>
        <p:nvSpPr>
          <p:cNvPr id="20484" name="Rectangle 3">
            <a:extLst>
              <a:ext uri="{FF2B5EF4-FFF2-40B4-BE49-F238E27FC236}">
                <a16:creationId xmlns:a16="http://schemas.microsoft.com/office/drawing/2014/main" id="{525F12C0-EFC9-E0B4-2BEC-2057C0C0F6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3D440834-2CC8-1374-1CDE-3D8540FB02DC}"/>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E2EC5FF4-CE60-479A-E1B2-B01E9A12B1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22532" name="Slide Number Placeholder 3">
            <a:extLst>
              <a:ext uri="{FF2B5EF4-FFF2-40B4-BE49-F238E27FC236}">
                <a16:creationId xmlns:a16="http://schemas.microsoft.com/office/drawing/2014/main" id="{4EDB5778-4337-00F7-24C6-57B0ACFDD6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3E49D16-7554-7847-ACB9-590DDD63C09A}" type="slidenum">
              <a:rPr lang="en-GB" altLang="en-US"/>
              <a:pPr>
                <a:spcBef>
                  <a:spcPct val="0"/>
                </a:spcBef>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EA61056-C091-1674-FEF1-BBC9F89F24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885D7E1-8CF6-5346-950C-992F7BA4709B}" type="slidenum">
              <a:rPr lang="en-GB" altLang="en-US"/>
              <a:pPr>
                <a:spcBef>
                  <a:spcPct val="0"/>
                </a:spcBef>
              </a:pPr>
              <a:t>9</a:t>
            </a:fld>
            <a:endParaRPr lang="en-GB" altLang="en-US"/>
          </a:p>
        </p:txBody>
      </p:sp>
      <p:sp>
        <p:nvSpPr>
          <p:cNvPr id="24579" name="Rectangle 2">
            <a:extLst>
              <a:ext uri="{FF2B5EF4-FFF2-40B4-BE49-F238E27FC236}">
                <a16:creationId xmlns:a16="http://schemas.microsoft.com/office/drawing/2014/main" id="{698C1BFC-12A6-AD9D-E11D-30514A35CB98}"/>
              </a:ext>
            </a:extLst>
          </p:cNvPr>
          <p:cNvSpPr>
            <a:spLocks noRot="1" noChangeArrowheads="1" noTextEdit="1"/>
          </p:cNvSpPr>
          <p:nvPr>
            <p:ph type="sldImg"/>
          </p:nvPr>
        </p:nvSpPr>
        <p:spPr>
          <a:ln/>
        </p:spPr>
      </p:sp>
      <p:sp>
        <p:nvSpPr>
          <p:cNvPr id="24580" name="Rectangle 3">
            <a:extLst>
              <a:ext uri="{FF2B5EF4-FFF2-40B4-BE49-F238E27FC236}">
                <a16:creationId xmlns:a16="http://schemas.microsoft.com/office/drawing/2014/main" id="{097D8C8A-212E-20F7-692E-F922855BD7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612DFDF3-B482-4E96-9515-77996EC77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66D8A6A-C8BB-0446-B488-44ED964D64C7}" type="slidenum">
              <a:rPr lang="en-GB" altLang="en-US"/>
              <a:pPr>
                <a:spcBef>
                  <a:spcPct val="0"/>
                </a:spcBef>
              </a:pPr>
              <a:t>10</a:t>
            </a:fld>
            <a:endParaRPr lang="en-GB" altLang="en-US"/>
          </a:p>
        </p:txBody>
      </p:sp>
      <p:sp>
        <p:nvSpPr>
          <p:cNvPr id="26627" name="Rectangle 2">
            <a:extLst>
              <a:ext uri="{FF2B5EF4-FFF2-40B4-BE49-F238E27FC236}">
                <a16:creationId xmlns:a16="http://schemas.microsoft.com/office/drawing/2014/main" id="{27590B70-D6E7-E51A-1750-53B3E3608EC8}"/>
              </a:ext>
            </a:extLst>
          </p:cNvPr>
          <p:cNvSpPr>
            <a:spLocks noRot="1" noChangeArrowheads="1" noTextEdit="1"/>
          </p:cNvSpPr>
          <p:nvPr>
            <p:ph type="sldImg"/>
          </p:nvPr>
        </p:nvSpPr>
        <p:spPr>
          <a:ln/>
        </p:spPr>
      </p:sp>
      <p:sp>
        <p:nvSpPr>
          <p:cNvPr id="26628" name="Rectangle 3">
            <a:extLst>
              <a:ext uri="{FF2B5EF4-FFF2-40B4-BE49-F238E27FC236}">
                <a16:creationId xmlns:a16="http://schemas.microsoft.com/office/drawing/2014/main" id="{A8067D57-09DF-4430-CE6B-1F998DCA71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9643816D-FB5F-E6B8-F70A-4047E4D9FB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14BBB0B-AEBA-F64D-8774-0FA8D5052F65}" type="slidenum">
              <a:rPr lang="en-GB" altLang="en-US"/>
              <a:pPr>
                <a:spcBef>
                  <a:spcPct val="0"/>
                </a:spcBef>
              </a:pPr>
              <a:t>11</a:t>
            </a:fld>
            <a:endParaRPr lang="en-GB" altLang="en-US"/>
          </a:p>
        </p:txBody>
      </p:sp>
      <p:sp>
        <p:nvSpPr>
          <p:cNvPr id="28675" name="Rectangle 2">
            <a:extLst>
              <a:ext uri="{FF2B5EF4-FFF2-40B4-BE49-F238E27FC236}">
                <a16:creationId xmlns:a16="http://schemas.microsoft.com/office/drawing/2014/main" id="{ABFCAD47-AF75-B439-18B2-EC11F034B220}"/>
              </a:ext>
            </a:extLst>
          </p:cNvPr>
          <p:cNvSpPr>
            <a:spLocks noRot="1" noChangeArrowheads="1" noTextEdit="1"/>
          </p:cNvSpPr>
          <p:nvPr>
            <p:ph type="sldImg"/>
          </p:nvPr>
        </p:nvSpPr>
        <p:spPr>
          <a:ln/>
        </p:spPr>
      </p:sp>
      <p:sp>
        <p:nvSpPr>
          <p:cNvPr id="28676" name="Rectangle 3">
            <a:extLst>
              <a:ext uri="{FF2B5EF4-FFF2-40B4-BE49-F238E27FC236}">
                <a16:creationId xmlns:a16="http://schemas.microsoft.com/office/drawing/2014/main" id="{4FF0267A-AF39-3196-44C6-26E6D14DAA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A1DE0FBA-770F-F89B-19BA-83107FFD70FF}"/>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3497B747-3BB7-FF72-03DF-4880848B389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30724" name="Slide Number Placeholder 3">
            <a:extLst>
              <a:ext uri="{FF2B5EF4-FFF2-40B4-BE49-F238E27FC236}">
                <a16:creationId xmlns:a16="http://schemas.microsoft.com/office/drawing/2014/main" id="{931F0B8F-A66A-8113-CC04-E4AA3C4444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1EE2D44-EA08-614B-A789-861E6B554349}" type="slidenum">
              <a:rPr lang="en-GB" altLang="en-US"/>
              <a:pPr>
                <a:spcBef>
                  <a:spcPct val="0"/>
                </a:spcBef>
              </a:pPr>
              <a:t>12</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317418EB-11E5-8F96-EB4E-CF483548AF6B}"/>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375B7A50-7264-A216-FEA3-7350196B4E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32772" name="Slide Number Placeholder 3">
            <a:extLst>
              <a:ext uri="{FF2B5EF4-FFF2-40B4-BE49-F238E27FC236}">
                <a16:creationId xmlns:a16="http://schemas.microsoft.com/office/drawing/2014/main" id="{F6A67428-3D9C-B6AC-E909-6A7109044E0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67F9579-FF4F-6B48-BD3A-22E3F87A2BE0}" type="slidenum">
              <a:rPr lang="en-GB" altLang="en-US"/>
              <a:pPr>
                <a:spcBef>
                  <a:spcPct val="0"/>
                </a:spcBef>
              </a:pPr>
              <a:t>13</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9DF9E915-75AC-1AD2-6F51-2562364A21EA}"/>
              </a:ext>
            </a:extLst>
          </p:cNvPr>
          <p:cNvSpPr>
            <a:spLocks noGrp="1" noRot="1" noChangeAspect="1" noTextEdit="1"/>
          </p:cNvSpPr>
          <p:nvPr>
            <p:ph type="sldImg"/>
          </p:nvPr>
        </p:nvSpPr>
        <p:spPr>
          <a:ln/>
        </p:spPr>
      </p:sp>
      <p:sp>
        <p:nvSpPr>
          <p:cNvPr id="34819" name="Notes Placeholder 2">
            <a:extLst>
              <a:ext uri="{FF2B5EF4-FFF2-40B4-BE49-F238E27FC236}">
                <a16:creationId xmlns:a16="http://schemas.microsoft.com/office/drawing/2014/main" id="{38D87DBC-40BF-D172-9EDC-5C51C95A1B2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34820" name="Slide Number Placeholder 3">
            <a:extLst>
              <a:ext uri="{FF2B5EF4-FFF2-40B4-BE49-F238E27FC236}">
                <a16:creationId xmlns:a16="http://schemas.microsoft.com/office/drawing/2014/main" id="{B7082D1C-3571-B6D9-D462-C53449C65D7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424A4BB-AECE-6D4C-A054-CAF73AE5C812}" type="slidenum">
              <a:rPr lang="en-GB" altLang="en-US"/>
              <a:pPr>
                <a:spcBef>
                  <a:spcPct val="0"/>
                </a:spcBef>
              </a:pPr>
              <a:t>14</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CE97374C-F62F-D5E2-684F-CE813F47624A}"/>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AB06C0A6-F659-62E1-6520-39AF266812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The cut site 1 occur in the two DNA strands that are composed entirely of DNA from one of the two parental DNA molecules</a:t>
            </a:r>
          </a:p>
        </p:txBody>
      </p:sp>
      <p:sp>
        <p:nvSpPr>
          <p:cNvPr id="36868" name="Slide Number Placeholder 3">
            <a:extLst>
              <a:ext uri="{FF2B5EF4-FFF2-40B4-BE49-F238E27FC236}">
                <a16:creationId xmlns:a16="http://schemas.microsoft.com/office/drawing/2014/main" id="{7B53DBE2-6D77-6D98-C6E4-2E2C935520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0475971-1B7E-874F-877E-C89C353C37FC}" type="slidenum">
              <a:rPr lang="en-GB" altLang="en-US"/>
              <a:pPr>
                <a:spcBef>
                  <a:spcPct val="0"/>
                </a:spcBef>
              </a:pPr>
              <a:t>15</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B3D6B041-A2D5-09E2-7275-5C722D892C5D}"/>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96D36898-8E37-BEF4-F732-B48F0B87B4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38916" name="Slide Number Placeholder 3">
            <a:extLst>
              <a:ext uri="{FF2B5EF4-FFF2-40B4-BE49-F238E27FC236}">
                <a16:creationId xmlns:a16="http://schemas.microsoft.com/office/drawing/2014/main" id="{04E31D28-D9B7-C8D1-71CD-76C310E60B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C76A30D-F777-0C49-8FA9-C88DA34A6468}" type="slidenum">
              <a:rPr lang="en-GB" altLang="en-US"/>
              <a:pPr>
                <a:spcBef>
                  <a:spcPct val="0"/>
                </a:spcBef>
              </a:pPr>
              <a:t>16</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CC458B2A-3A4A-CC41-2CF0-8118CA2B83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35B1600-5056-C641-924F-B32002F93B68}" type="slidenum">
              <a:rPr lang="en-GB" altLang="en-US"/>
              <a:pPr>
                <a:spcBef>
                  <a:spcPct val="0"/>
                </a:spcBef>
              </a:pPr>
              <a:t>17</a:t>
            </a:fld>
            <a:endParaRPr lang="en-GB" altLang="en-US"/>
          </a:p>
        </p:txBody>
      </p:sp>
      <p:sp>
        <p:nvSpPr>
          <p:cNvPr id="40963" name="Rectangle 2">
            <a:extLst>
              <a:ext uri="{FF2B5EF4-FFF2-40B4-BE49-F238E27FC236}">
                <a16:creationId xmlns:a16="http://schemas.microsoft.com/office/drawing/2014/main" id="{A50EF9FD-B315-CFA5-0B64-22285EB884A4}"/>
              </a:ext>
            </a:extLst>
          </p:cNvPr>
          <p:cNvSpPr>
            <a:spLocks noRot="1" noChangeArrowheads="1" noTextEdit="1"/>
          </p:cNvSpPr>
          <p:nvPr>
            <p:ph type="sldImg"/>
          </p:nvPr>
        </p:nvSpPr>
        <p:spPr>
          <a:ln/>
        </p:spPr>
      </p:sp>
      <p:sp>
        <p:nvSpPr>
          <p:cNvPr id="40964" name="Rectangle 3">
            <a:extLst>
              <a:ext uri="{FF2B5EF4-FFF2-40B4-BE49-F238E27FC236}">
                <a16:creationId xmlns:a16="http://schemas.microsoft.com/office/drawing/2014/main" id="{105E3B4B-7A4D-A589-7C4D-32024497D2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0378D2C7-C658-30FE-E3C7-44E5AF2B09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DC6BC09-69C0-B945-A193-F9D3F02DAC8D}" type="slidenum">
              <a:rPr lang="en-GB" altLang="en-US"/>
              <a:pPr>
                <a:spcBef>
                  <a:spcPct val="0"/>
                </a:spcBef>
              </a:pPr>
              <a:t>18</a:t>
            </a:fld>
            <a:endParaRPr lang="en-GB" altLang="en-US"/>
          </a:p>
        </p:txBody>
      </p:sp>
      <p:sp>
        <p:nvSpPr>
          <p:cNvPr id="43011" name="Rectangle 2">
            <a:extLst>
              <a:ext uri="{FF2B5EF4-FFF2-40B4-BE49-F238E27FC236}">
                <a16:creationId xmlns:a16="http://schemas.microsoft.com/office/drawing/2014/main" id="{1968CADF-29CF-8EB5-707A-6D503F67D9C9}"/>
              </a:ext>
            </a:extLst>
          </p:cNvPr>
          <p:cNvSpPr>
            <a:spLocks noRot="1" noChangeArrowheads="1" noTextEdit="1"/>
          </p:cNvSpPr>
          <p:nvPr>
            <p:ph type="sldImg"/>
          </p:nvPr>
        </p:nvSpPr>
        <p:spPr>
          <a:ln/>
        </p:spPr>
      </p:sp>
      <p:sp>
        <p:nvSpPr>
          <p:cNvPr id="43012" name="Rectangle 3">
            <a:extLst>
              <a:ext uri="{FF2B5EF4-FFF2-40B4-BE49-F238E27FC236}">
                <a16:creationId xmlns:a16="http://schemas.microsoft.com/office/drawing/2014/main" id="{011FEEF4-E7F7-497E-3985-9BD9F1E9DA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1E68F6FC-9D32-AE7F-C647-7B956C5133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90122EB-26A4-D240-B75A-B1BAF5EBA090}" type="slidenum">
              <a:rPr lang="en-GB" altLang="en-US"/>
              <a:pPr>
                <a:spcBef>
                  <a:spcPct val="0"/>
                </a:spcBef>
              </a:pPr>
              <a:t>19</a:t>
            </a:fld>
            <a:endParaRPr lang="en-GB" altLang="en-US"/>
          </a:p>
        </p:txBody>
      </p:sp>
      <p:sp>
        <p:nvSpPr>
          <p:cNvPr id="45059" name="Rectangle 2">
            <a:extLst>
              <a:ext uri="{FF2B5EF4-FFF2-40B4-BE49-F238E27FC236}">
                <a16:creationId xmlns:a16="http://schemas.microsoft.com/office/drawing/2014/main" id="{7148744A-3EEE-E771-712B-61985B874449}"/>
              </a:ext>
            </a:extLst>
          </p:cNvPr>
          <p:cNvSpPr>
            <a:spLocks noRot="1" noChangeArrowheads="1" noTextEdit="1"/>
          </p:cNvSpPr>
          <p:nvPr>
            <p:ph type="sldImg"/>
          </p:nvPr>
        </p:nvSpPr>
        <p:spPr>
          <a:ln/>
        </p:spPr>
      </p:sp>
      <p:sp>
        <p:nvSpPr>
          <p:cNvPr id="45060" name="Rectangle 3">
            <a:extLst>
              <a:ext uri="{FF2B5EF4-FFF2-40B4-BE49-F238E27FC236}">
                <a16:creationId xmlns:a16="http://schemas.microsoft.com/office/drawing/2014/main" id="{9ADA6606-BAD4-9B36-E8B6-842B665C72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If both junctions are cleaved in the same way, then noncrossover products will be generated</a:t>
            </a:r>
          </a:p>
          <a:p>
            <a:pPr eaLnBrk="1" hangingPunct="1"/>
            <a:r>
              <a:rPr lang="en-US" altLang="en-US">
                <a:latin typeface="Arial" panose="020B0604020202020204" pitchFamily="34" charset="0"/>
                <a:cs typeface="Arial" panose="020B0604020202020204" pitchFamily="34" charset="0"/>
              </a:rPr>
              <a:t>When the two Holliday junctions are cleaved using different sites, then the crossover products are generated</a:t>
            </a: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B4DDC077-B10F-3DF4-7987-85284E721B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27EB80C-4BE1-EB42-9AC6-F2E46391CFF7}" type="slidenum">
              <a:rPr lang="en-GB" altLang="en-US"/>
              <a:pPr>
                <a:spcBef>
                  <a:spcPct val="0"/>
                </a:spcBef>
              </a:pPr>
              <a:t>20</a:t>
            </a:fld>
            <a:endParaRPr lang="en-GB" altLang="en-US"/>
          </a:p>
        </p:txBody>
      </p:sp>
      <p:sp>
        <p:nvSpPr>
          <p:cNvPr id="47107" name="Rectangle 2">
            <a:extLst>
              <a:ext uri="{FF2B5EF4-FFF2-40B4-BE49-F238E27FC236}">
                <a16:creationId xmlns:a16="http://schemas.microsoft.com/office/drawing/2014/main" id="{AFE74DD3-0D33-C25B-E2E2-E8C30BFA160E}"/>
              </a:ext>
            </a:extLst>
          </p:cNvPr>
          <p:cNvSpPr>
            <a:spLocks noRot="1" noChangeArrowheads="1" noTextEdit="1"/>
          </p:cNvSpPr>
          <p:nvPr>
            <p:ph type="sldImg"/>
          </p:nvPr>
        </p:nvSpPr>
        <p:spPr>
          <a:ln/>
        </p:spPr>
      </p:sp>
      <p:sp>
        <p:nvSpPr>
          <p:cNvPr id="47108" name="Rectangle 3">
            <a:extLst>
              <a:ext uri="{FF2B5EF4-FFF2-40B4-BE49-F238E27FC236}">
                <a16:creationId xmlns:a16="http://schemas.microsoft.com/office/drawing/2014/main" id="{A7CE064F-31ED-CFA6-D1DF-80BC42A32A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3405DAE-7785-F553-3B7E-F7064980FC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1769239-27CA-F94B-B18E-BFBA995B090C}" type="slidenum">
              <a:rPr lang="en-GB" altLang="en-US"/>
              <a:pPr>
                <a:spcBef>
                  <a:spcPct val="0"/>
                </a:spcBef>
              </a:pPr>
              <a:t>21</a:t>
            </a:fld>
            <a:endParaRPr lang="en-GB" altLang="en-US"/>
          </a:p>
        </p:txBody>
      </p:sp>
      <p:sp>
        <p:nvSpPr>
          <p:cNvPr id="49155" name="Rectangle 2">
            <a:extLst>
              <a:ext uri="{FF2B5EF4-FFF2-40B4-BE49-F238E27FC236}">
                <a16:creationId xmlns:a16="http://schemas.microsoft.com/office/drawing/2014/main" id="{50738845-91B2-0DFA-A290-581BE8A70EFC}"/>
              </a:ext>
            </a:extLst>
          </p:cNvPr>
          <p:cNvSpPr>
            <a:spLocks noRot="1" noChangeArrowheads="1" noTextEdit="1"/>
          </p:cNvSpPr>
          <p:nvPr>
            <p:ph type="sldImg"/>
          </p:nvPr>
        </p:nvSpPr>
        <p:spPr>
          <a:ln/>
        </p:spPr>
      </p:sp>
      <p:sp>
        <p:nvSpPr>
          <p:cNvPr id="49156" name="Rectangle 3">
            <a:extLst>
              <a:ext uri="{FF2B5EF4-FFF2-40B4-BE49-F238E27FC236}">
                <a16:creationId xmlns:a16="http://schemas.microsoft.com/office/drawing/2014/main" id="{8D3F5585-0E36-C3D1-98CD-1E8D56F099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D170D862-997D-BD00-3CB9-93289B33BDF4}"/>
              </a:ext>
            </a:extLst>
          </p:cNvPr>
          <p:cNvSpPr>
            <a:spLocks noGrp="1" noRot="1" noChangeAspect="1" noTextEdit="1"/>
          </p:cNvSpPr>
          <p:nvPr>
            <p:ph type="sldImg"/>
          </p:nvPr>
        </p:nvSpPr>
        <p:spPr>
          <a:ln/>
        </p:spPr>
      </p:sp>
      <p:sp>
        <p:nvSpPr>
          <p:cNvPr id="51203" name="Notes Placeholder 2">
            <a:extLst>
              <a:ext uri="{FF2B5EF4-FFF2-40B4-BE49-F238E27FC236}">
                <a16:creationId xmlns:a16="http://schemas.microsoft.com/office/drawing/2014/main" id="{B5E06A78-E5B8-F1EB-D821-392B6A2DB5C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No protein that introduces DSB in bacteria</a:t>
            </a:r>
          </a:p>
          <a:p>
            <a:r>
              <a:rPr lang="en-US" altLang="en-US">
                <a:latin typeface="Arial" panose="020B0604020202020204" pitchFamily="34" charset="0"/>
                <a:cs typeface="Arial" panose="020B0604020202020204" pitchFamily="34" charset="0"/>
              </a:rPr>
              <a:t>Breaks generated as a result of DNA damage or failure of replication fork </a:t>
            </a:r>
          </a:p>
          <a:p>
            <a:r>
              <a:rPr lang="en-US" altLang="en-US">
                <a:latin typeface="Arial" panose="020B0604020202020204" pitchFamily="34" charset="0"/>
                <a:cs typeface="Arial" panose="020B0604020202020204" pitchFamily="34" charset="0"/>
              </a:rPr>
              <a:t>Or during genetic exchange rxns such as phage-mediated transduction, the infecting DNA segment carries broken DNA ends</a:t>
            </a:r>
          </a:p>
        </p:txBody>
      </p:sp>
      <p:sp>
        <p:nvSpPr>
          <p:cNvPr id="51204" name="Slide Number Placeholder 3">
            <a:extLst>
              <a:ext uri="{FF2B5EF4-FFF2-40B4-BE49-F238E27FC236}">
                <a16:creationId xmlns:a16="http://schemas.microsoft.com/office/drawing/2014/main" id="{3AFAC3F5-1168-4639-4B88-677E9DF497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921C9E8-2436-A045-A13E-F323E89DBF3D}" type="slidenum">
              <a:rPr lang="en-GB" altLang="en-US"/>
              <a:pPr>
                <a:spcBef>
                  <a:spcPct val="0"/>
                </a:spcBef>
              </a:pPr>
              <a:t>22</a:t>
            </a:fld>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B37A1BC9-B784-0B3B-50D6-61A96FF0DE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9EC3A5A-F236-B640-9374-8B6E5C02549C}" type="slidenum">
              <a:rPr lang="en-GB" altLang="en-US"/>
              <a:pPr>
                <a:spcBef>
                  <a:spcPct val="0"/>
                </a:spcBef>
              </a:pPr>
              <a:t>23</a:t>
            </a:fld>
            <a:endParaRPr lang="en-GB" altLang="en-US"/>
          </a:p>
        </p:txBody>
      </p:sp>
      <p:sp>
        <p:nvSpPr>
          <p:cNvPr id="53251" name="Rectangle 2">
            <a:extLst>
              <a:ext uri="{FF2B5EF4-FFF2-40B4-BE49-F238E27FC236}">
                <a16:creationId xmlns:a16="http://schemas.microsoft.com/office/drawing/2014/main" id="{B458835F-C3C7-EBFC-C50A-7C0EBCF14429}"/>
              </a:ext>
            </a:extLst>
          </p:cNvPr>
          <p:cNvSpPr>
            <a:spLocks noRot="1" noChangeArrowheads="1" noTextEdit="1"/>
          </p:cNvSpPr>
          <p:nvPr>
            <p:ph type="sldImg"/>
          </p:nvPr>
        </p:nvSpPr>
        <p:spPr>
          <a:ln/>
        </p:spPr>
      </p:sp>
      <p:sp>
        <p:nvSpPr>
          <p:cNvPr id="53252" name="Rectangle 3">
            <a:extLst>
              <a:ext uri="{FF2B5EF4-FFF2-40B4-BE49-F238E27FC236}">
                <a16:creationId xmlns:a16="http://schemas.microsoft.com/office/drawing/2014/main" id="{89BE9790-435E-81DA-784E-621935A4D9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BFB779A0-3B26-3169-EF30-7FC04B3546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A8B7F76-D942-934B-BC2E-CB14759F1E2D}" type="slidenum">
              <a:rPr lang="en-GB" altLang="en-US"/>
              <a:pPr>
                <a:spcBef>
                  <a:spcPct val="0"/>
                </a:spcBef>
              </a:pPr>
              <a:t>24</a:t>
            </a:fld>
            <a:endParaRPr lang="en-GB" altLang="en-US"/>
          </a:p>
        </p:txBody>
      </p:sp>
      <p:sp>
        <p:nvSpPr>
          <p:cNvPr id="55299" name="Rectangle 2">
            <a:extLst>
              <a:ext uri="{FF2B5EF4-FFF2-40B4-BE49-F238E27FC236}">
                <a16:creationId xmlns:a16="http://schemas.microsoft.com/office/drawing/2014/main" id="{F7B40D5C-64DF-0E5C-15FD-0E376B86261E}"/>
              </a:ext>
            </a:extLst>
          </p:cNvPr>
          <p:cNvSpPr>
            <a:spLocks noRot="1" noChangeArrowheads="1" noTextEdit="1"/>
          </p:cNvSpPr>
          <p:nvPr>
            <p:ph type="sldImg"/>
          </p:nvPr>
        </p:nvSpPr>
        <p:spPr>
          <a:ln/>
        </p:spPr>
      </p:sp>
      <p:sp>
        <p:nvSpPr>
          <p:cNvPr id="55300" name="Rectangle 3">
            <a:extLst>
              <a:ext uri="{FF2B5EF4-FFF2-40B4-BE49-F238E27FC236}">
                <a16:creationId xmlns:a16="http://schemas.microsoft.com/office/drawing/2014/main" id="{6E73F873-4E44-3FA0-9C4A-A63AB21B03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20D30615-1302-9964-AE02-FF2391AB4DCC}"/>
              </a:ext>
            </a:extLst>
          </p:cNvPr>
          <p:cNvSpPr>
            <a:spLocks noGrp="1" noRot="1" noChangeAspect="1" noTextEdit="1"/>
          </p:cNvSpPr>
          <p:nvPr>
            <p:ph type="sldImg"/>
          </p:nvPr>
        </p:nvSpPr>
        <p:spPr>
          <a:ln/>
        </p:spPr>
      </p:sp>
      <p:sp>
        <p:nvSpPr>
          <p:cNvPr id="57347" name="Notes Placeholder 2">
            <a:extLst>
              <a:ext uri="{FF2B5EF4-FFF2-40B4-BE49-F238E27FC236}">
                <a16:creationId xmlns:a16="http://schemas.microsoft.com/office/drawing/2014/main" id="{79D16F12-7929-8E08-95F7-BFAE084618D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Chi sites function only in one orientation</a:t>
            </a:r>
          </a:p>
          <a:p>
            <a:r>
              <a:rPr lang="en-US" altLang="en-US">
                <a:latin typeface="Arial" panose="020B0604020202020204" pitchFamily="34" charset="0"/>
                <a:cs typeface="Arial" panose="020B0604020202020204" pitchFamily="34" charset="0"/>
              </a:rPr>
              <a:t>To ensure that RecA rather than SSB binds the ssDNA tails RecBCD interacts directly with RecA and promotes its assembly</a:t>
            </a:r>
          </a:p>
          <a:p>
            <a:r>
              <a:rPr lang="en-US" altLang="en-US">
                <a:latin typeface="Arial" panose="020B0604020202020204" pitchFamily="34" charset="0"/>
                <a:cs typeface="Arial" panose="020B0604020202020204" pitchFamily="34" charset="0"/>
              </a:rPr>
              <a:t>This loading activity involves a direct protein-protein interaction  between the nuclease domain of RecB and RecA</a:t>
            </a:r>
          </a:p>
        </p:txBody>
      </p:sp>
      <p:sp>
        <p:nvSpPr>
          <p:cNvPr id="57348" name="Slide Number Placeholder 3">
            <a:extLst>
              <a:ext uri="{FF2B5EF4-FFF2-40B4-BE49-F238E27FC236}">
                <a16:creationId xmlns:a16="http://schemas.microsoft.com/office/drawing/2014/main" id="{77C379CA-B988-C15B-5B84-9E2F97EAD1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B9078E-3540-CD42-86BB-1C1467D05A61}" type="slidenum">
              <a:rPr lang="en-GB" altLang="en-US"/>
              <a:pPr>
                <a:spcBef>
                  <a:spcPct val="0"/>
                </a:spcBef>
              </a:pPr>
              <a:t>25</a:t>
            </a:fld>
            <a:endParaRPr lang="en-GB"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CC67A635-543F-E054-C92B-58EFC8B45DC8}"/>
              </a:ext>
            </a:extLst>
          </p:cNvPr>
          <p:cNvSpPr>
            <a:spLocks noGrp="1" noRot="1" noChangeAspect="1" noTextEdit="1"/>
          </p:cNvSpPr>
          <p:nvPr>
            <p:ph type="sldImg"/>
          </p:nvPr>
        </p:nvSpPr>
        <p:spPr>
          <a:ln/>
        </p:spPr>
      </p:sp>
      <p:sp>
        <p:nvSpPr>
          <p:cNvPr id="59395" name="Notes Placeholder 2">
            <a:extLst>
              <a:ext uri="{FF2B5EF4-FFF2-40B4-BE49-F238E27FC236}">
                <a16:creationId xmlns:a16="http://schemas.microsoft.com/office/drawing/2014/main" id="{F763F399-0D74-5DAE-C7FC-F8FFB9F8C5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9396" name="Slide Number Placeholder 3">
            <a:extLst>
              <a:ext uri="{FF2B5EF4-FFF2-40B4-BE49-F238E27FC236}">
                <a16:creationId xmlns:a16="http://schemas.microsoft.com/office/drawing/2014/main" id="{006A2B83-3647-1B98-DFB7-67B023B597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B838758-A24D-3B4D-BB83-DAC6D5BA3264}" type="slidenum">
              <a:rPr lang="en-GB" altLang="en-US"/>
              <a:pPr>
                <a:spcBef>
                  <a:spcPct val="0"/>
                </a:spcBef>
              </a:pPr>
              <a:t>26</a:t>
            </a:fld>
            <a:endParaRPr lang="en-GB"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3B765289-2762-8BA0-8D95-CC3B85AEA610}"/>
              </a:ext>
            </a:extLst>
          </p:cNvPr>
          <p:cNvSpPr>
            <a:spLocks noGrp="1" noRot="1" noChangeAspect="1" noTextEdit="1"/>
          </p:cNvSpPr>
          <p:nvPr>
            <p:ph type="sldImg"/>
          </p:nvPr>
        </p:nvSpPr>
        <p:spPr>
          <a:ln/>
        </p:spPr>
      </p:sp>
      <p:sp>
        <p:nvSpPr>
          <p:cNvPr id="61443" name="Notes Placeholder 2">
            <a:extLst>
              <a:ext uri="{FF2B5EF4-FFF2-40B4-BE49-F238E27FC236}">
                <a16:creationId xmlns:a16="http://schemas.microsoft.com/office/drawing/2014/main" id="{D48A5860-F2E6-AB97-BFC5-811DD3282E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1444" name="Slide Number Placeholder 3">
            <a:extLst>
              <a:ext uri="{FF2B5EF4-FFF2-40B4-BE49-F238E27FC236}">
                <a16:creationId xmlns:a16="http://schemas.microsoft.com/office/drawing/2014/main" id="{55E5E6D0-23CD-D3E8-3A40-6E4E6AA003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BEFE1F0-6F6F-3F4E-AF09-FAD1B501FA41}" type="slidenum">
              <a:rPr lang="en-GB" altLang="en-US"/>
              <a:pPr>
                <a:spcBef>
                  <a:spcPct val="0"/>
                </a:spcBef>
              </a:pPr>
              <a:t>27</a:t>
            </a:fld>
            <a:endParaRPr lang="en-GB"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6D1B5EA4-DF06-58E4-75CA-7D2323BB17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89A9C97-AF3A-2E40-AF3A-B4CE96366CDA}" type="slidenum">
              <a:rPr lang="en-GB" altLang="en-US"/>
              <a:pPr>
                <a:spcBef>
                  <a:spcPct val="0"/>
                </a:spcBef>
              </a:pPr>
              <a:t>28</a:t>
            </a:fld>
            <a:endParaRPr lang="en-GB" altLang="en-US"/>
          </a:p>
        </p:txBody>
      </p:sp>
      <p:sp>
        <p:nvSpPr>
          <p:cNvPr id="63491" name="Rectangle 2">
            <a:extLst>
              <a:ext uri="{FF2B5EF4-FFF2-40B4-BE49-F238E27FC236}">
                <a16:creationId xmlns:a16="http://schemas.microsoft.com/office/drawing/2014/main" id="{44CD7AAA-82EF-3FC6-CA02-225B9372A46E}"/>
              </a:ext>
            </a:extLst>
          </p:cNvPr>
          <p:cNvSpPr>
            <a:spLocks noRot="1" noChangeArrowheads="1" noTextEdit="1"/>
          </p:cNvSpPr>
          <p:nvPr>
            <p:ph type="sldImg"/>
          </p:nvPr>
        </p:nvSpPr>
        <p:spPr>
          <a:ln/>
        </p:spPr>
      </p:sp>
      <p:sp>
        <p:nvSpPr>
          <p:cNvPr id="63492" name="Rectangle 3">
            <a:extLst>
              <a:ext uri="{FF2B5EF4-FFF2-40B4-BE49-F238E27FC236}">
                <a16:creationId xmlns:a16="http://schemas.microsoft.com/office/drawing/2014/main" id="{29648C0B-B7F0-25E7-53E8-D112A44E50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The DNA between the DSB and the chi site is cut into small pieces by the enzyme and is not available for recombination</a:t>
            </a:r>
          </a:p>
          <a:p>
            <a:pPr eaLnBrk="1" hangingPunct="1"/>
            <a:r>
              <a:rPr lang="en-US" altLang="en-US">
                <a:latin typeface="Arial" panose="020B0604020202020204" pitchFamily="34" charset="0"/>
                <a:cs typeface="Arial" panose="020B0604020202020204" pitchFamily="34" charset="0"/>
              </a:rPr>
              <a:t>The sequences met by RecBCD after its encounter with chi are preserved in a recombinogenic single stranded form and specifically loaded with RecA</a:t>
            </a:r>
          </a:p>
          <a:p>
            <a:pPr eaLnBrk="1" hangingPunct="1"/>
            <a:r>
              <a:rPr lang="en-US" altLang="en-US">
                <a:latin typeface="Arial" panose="020B0604020202020204" pitchFamily="34" charset="0"/>
                <a:cs typeface="Arial" panose="020B0604020202020204" pitchFamily="34" charset="0"/>
              </a:rPr>
              <a:t>Because of overrepresentation, E.coli DNA that enters an E.coli cell is likely to be processed by RecBCD in a maner that generates the 3’ ssDNA tails and thus to be activated for recombination</a:t>
            </a:r>
          </a:p>
          <a:p>
            <a:pPr eaLnBrk="1" hangingPunct="1"/>
            <a:r>
              <a:rPr lang="en-US" altLang="en-US">
                <a:latin typeface="Arial" panose="020B0604020202020204" pitchFamily="34" charset="0"/>
                <a:cs typeface="Arial" panose="020B0604020202020204" pitchFamily="34" charset="0"/>
              </a:rPr>
              <a:t>DNA from another species will lack frequent chi sites. RecBCD action on this DNA will lead to its extensive degradation rather than activation for recombination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023FE7D3-83FE-2F07-4284-9FC0420C2259}"/>
              </a:ext>
            </a:extLst>
          </p:cNvPr>
          <p:cNvSpPr>
            <a:spLocks noGrp="1" noRot="1" noChangeAspect="1" noTextEdit="1"/>
          </p:cNvSpPr>
          <p:nvPr>
            <p:ph type="sldImg"/>
          </p:nvPr>
        </p:nvSpPr>
        <p:spPr>
          <a:ln/>
        </p:spPr>
      </p:sp>
      <p:sp>
        <p:nvSpPr>
          <p:cNvPr id="65539" name="Notes Placeholder 2">
            <a:extLst>
              <a:ext uri="{FF2B5EF4-FFF2-40B4-BE49-F238E27FC236}">
                <a16:creationId xmlns:a16="http://schemas.microsoft.com/office/drawing/2014/main" id="{DC4FBE1F-9BC4-3D06-4A5F-9D91FAD525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5540" name="Slide Number Placeholder 3">
            <a:extLst>
              <a:ext uri="{FF2B5EF4-FFF2-40B4-BE49-F238E27FC236}">
                <a16:creationId xmlns:a16="http://schemas.microsoft.com/office/drawing/2014/main" id="{BCDD2D34-36CA-DF28-31EC-D273C0948F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3A0DF1B-05FC-4143-B5BB-8EDCD8614BD1}" type="slidenum">
              <a:rPr lang="en-GB" altLang="en-US"/>
              <a:pPr>
                <a:spcBef>
                  <a:spcPct val="0"/>
                </a:spcBef>
              </a:pPr>
              <a:t>29</a:t>
            </a:fld>
            <a:endParaRPr lang="en-GB"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A0A469AA-7872-41C1-B817-B09A4E7CAC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E0C0233-63AC-6044-9225-39CC1F087401}" type="slidenum">
              <a:rPr lang="en-GB" altLang="en-US"/>
              <a:pPr>
                <a:spcBef>
                  <a:spcPct val="0"/>
                </a:spcBef>
              </a:pPr>
              <a:t>30</a:t>
            </a:fld>
            <a:endParaRPr lang="en-GB" altLang="en-US"/>
          </a:p>
        </p:txBody>
      </p:sp>
      <p:sp>
        <p:nvSpPr>
          <p:cNvPr id="67587" name="Rectangle 2">
            <a:extLst>
              <a:ext uri="{FF2B5EF4-FFF2-40B4-BE49-F238E27FC236}">
                <a16:creationId xmlns:a16="http://schemas.microsoft.com/office/drawing/2014/main" id="{2DB4D883-76B2-987B-380E-C7405E86EFE4}"/>
              </a:ext>
            </a:extLst>
          </p:cNvPr>
          <p:cNvSpPr>
            <a:spLocks noRot="1" noChangeArrowheads="1" noTextEdit="1"/>
          </p:cNvSpPr>
          <p:nvPr>
            <p:ph type="sldImg"/>
          </p:nvPr>
        </p:nvSpPr>
        <p:spPr>
          <a:ln/>
        </p:spPr>
      </p:sp>
      <p:sp>
        <p:nvSpPr>
          <p:cNvPr id="67588" name="Rectangle 3">
            <a:extLst>
              <a:ext uri="{FF2B5EF4-FFF2-40B4-BE49-F238E27FC236}">
                <a16:creationId xmlns:a16="http://schemas.microsoft.com/office/drawing/2014/main" id="{7B23F29D-3E49-7E71-CC49-3670C355DC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243B774B-BEA0-C623-8D79-886F730C7A62}"/>
              </a:ext>
            </a:extLst>
          </p:cNvPr>
          <p:cNvSpPr>
            <a:spLocks noGrp="1" noRot="1" noChangeAspect="1" noTextEdit="1"/>
          </p:cNvSpPr>
          <p:nvPr>
            <p:ph type="sldImg"/>
          </p:nvPr>
        </p:nvSpPr>
        <p:spPr>
          <a:ln/>
        </p:spPr>
      </p:sp>
      <p:sp>
        <p:nvSpPr>
          <p:cNvPr id="69635" name="Notes Placeholder 2">
            <a:extLst>
              <a:ext uri="{FF2B5EF4-FFF2-40B4-BE49-F238E27FC236}">
                <a16:creationId xmlns:a16="http://schemas.microsoft.com/office/drawing/2014/main" id="{A81E732F-5C47-6796-3BB6-D490F572A1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69636" name="Slide Number Placeholder 3">
            <a:extLst>
              <a:ext uri="{FF2B5EF4-FFF2-40B4-BE49-F238E27FC236}">
                <a16:creationId xmlns:a16="http://schemas.microsoft.com/office/drawing/2014/main" id="{74132BD3-C345-DA71-50A4-5EDCB25810D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759F843-3562-7442-9620-AD760536F2EC}" type="slidenum">
              <a:rPr lang="en-GB" altLang="en-US"/>
              <a:pPr>
                <a:spcBef>
                  <a:spcPct val="0"/>
                </a:spcBef>
              </a:pPr>
              <a:t>31</a:t>
            </a:fld>
            <a:endParaRPr lang="en-GB"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DCFED264-E1FE-DAFD-62D8-522E57765934}"/>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9816FE07-84F1-054E-823D-592940091FEE}" type="slidenum">
              <a:rPr lang="en-US" altLang="en-US">
                <a:latin typeface="Times" pitchFamily="-32" charset="0"/>
                <a:ea typeface="ＭＳ Ｐゴシック" panose="020B0600070205080204" pitchFamily="34" charset="-128"/>
              </a:rPr>
              <a:pPr algn="r" eaLnBrk="1" hangingPunct="1">
                <a:spcBef>
                  <a:spcPct val="0"/>
                </a:spcBef>
              </a:pPr>
              <a:t>32</a:t>
            </a:fld>
            <a:endParaRPr lang="en-US" altLang="en-US">
              <a:latin typeface="Times" pitchFamily="-32" charset="0"/>
              <a:ea typeface="ＭＳ Ｐゴシック" panose="020B0600070205080204" pitchFamily="34" charset="-128"/>
            </a:endParaRPr>
          </a:p>
        </p:txBody>
      </p:sp>
      <p:sp>
        <p:nvSpPr>
          <p:cNvPr id="71683" name="Rectangle 2">
            <a:extLst>
              <a:ext uri="{FF2B5EF4-FFF2-40B4-BE49-F238E27FC236}">
                <a16:creationId xmlns:a16="http://schemas.microsoft.com/office/drawing/2014/main" id="{56B353D9-0997-FC47-3CF6-A331D44162D2}"/>
              </a:ext>
            </a:extLst>
          </p:cNvPr>
          <p:cNvSpPr>
            <a:spLocks noChangeArrowheads="1" noTextEdit="1"/>
          </p:cNvSpPr>
          <p:nvPr>
            <p:ph type="sldImg"/>
          </p:nvPr>
        </p:nvSpPr>
        <p:spPr>
          <a:ln/>
        </p:spPr>
      </p:sp>
      <p:sp>
        <p:nvSpPr>
          <p:cNvPr id="71684" name="Rectangle 3">
            <a:extLst>
              <a:ext uri="{FF2B5EF4-FFF2-40B4-BE49-F238E27FC236}">
                <a16:creationId xmlns:a16="http://schemas.microsoft.com/office/drawing/2014/main" id="{40395440-09CB-B0A8-35DF-5991A6D78C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11-8a</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70447D94-C844-4204-CFED-C9EFEDF992F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7C6D2C76-A197-F145-B8E4-4956864148A3}" type="slidenum">
              <a:rPr lang="en-US" altLang="en-US">
                <a:latin typeface="Times" pitchFamily="-32" charset="0"/>
                <a:ea typeface="ＭＳ Ｐゴシック" panose="020B0600070205080204" pitchFamily="34" charset="-128"/>
              </a:rPr>
              <a:pPr algn="r" eaLnBrk="1" hangingPunct="1">
                <a:spcBef>
                  <a:spcPct val="0"/>
                </a:spcBef>
              </a:pPr>
              <a:t>33</a:t>
            </a:fld>
            <a:endParaRPr lang="en-US" altLang="en-US">
              <a:latin typeface="Times" pitchFamily="-32" charset="0"/>
              <a:ea typeface="ＭＳ Ｐゴシック" panose="020B0600070205080204" pitchFamily="34" charset="-128"/>
            </a:endParaRPr>
          </a:p>
        </p:txBody>
      </p:sp>
      <p:sp>
        <p:nvSpPr>
          <p:cNvPr id="73731" name="Rectangle 2">
            <a:extLst>
              <a:ext uri="{FF2B5EF4-FFF2-40B4-BE49-F238E27FC236}">
                <a16:creationId xmlns:a16="http://schemas.microsoft.com/office/drawing/2014/main" id="{2E36F5B4-8CE6-29C7-33A2-73FE369437D9}"/>
              </a:ext>
            </a:extLst>
          </p:cNvPr>
          <p:cNvSpPr>
            <a:spLocks noChangeArrowheads="1" noTextEdit="1"/>
          </p:cNvSpPr>
          <p:nvPr>
            <p:ph type="sldImg"/>
          </p:nvPr>
        </p:nvSpPr>
        <p:spPr>
          <a:ln/>
        </p:spPr>
      </p:sp>
      <p:sp>
        <p:nvSpPr>
          <p:cNvPr id="73732" name="Rectangle 3">
            <a:extLst>
              <a:ext uri="{FF2B5EF4-FFF2-40B4-BE49-F238E27FC236}">
                <a16:creationId xmlns:a16="http://schemas.microsoft.com/office/drawing/2014/main" id="{F1DBA82D-58A6-9A64-E4D9-9EAB45D8A1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11-8b</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51D2062-04F8-6588-48D8-D8DAD04C7A4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A05D9148-264E-5243-B42E-FC6AB92080C5}" type="slidenum">
              <a:rPr lang="en-US" altLang="en-US">
                <a:latin typeface="Times" pitchFamily="-32" charset="0"/>
                <a:ea typeface="ＭＳ Ｐゴシック" panose="020B0600070205080204" pitchFamily="34" charset="-128"/>
              </a:rPr>
              <a:pPr algn="r" eaLnBrk="1" hangingPunct="1">
                <a:spcBef>
                  <a:spcPct val="0"/>
                </a:spcBef>
              </a:pPr>
              <a:t>34</a:t>
            </a:fld>
            <a:endParaRPr lang="en-US" altLang="en-US">
              <a:latin typeface="Times" pitchFamily="-32" charset="0"/>
              <a:ea typeface="ＭＳ Ｐゴシック" panose="020B0600070205080204" pitchFamily="34" charset="-128"/>
            </a:endParaRPr>
          </a:p>
        </p:txBody>
      </p:sp>
      <p:sp>
        <p:nvSpPr>
          <p:cNvPr id="75779" name="Rectangle 2">
            <a:extLst>
              <a:ext uri="{FF2B5EF4-FFF2-40B4-BE49-F238E27FC236}">
                <a16:creationId xmlns:a16="http://schemas.microsoft.com/office/drawing/2014/main" id="{3574A881-92FF-FB16-F927-436A73AF98EB}"/>
              </a:ext>
            </a:extLst>
          </p:cNvPr>
          <p:cNvSpPr>
            <a:spLocks noChangeArrowheads="1" noTextEdit="1"/>
          </p:cNvSpPr>
          <p:nvPr>
            <p:ph type="sldImg"/>
          </p:nvPr>
        </p:nvSpPr>
        <p:spPr>
          <a:ln/>
        </p:spPr>
      </p:sp>
      <p:sp>
        <p:nvSpPr>
          <p:cNvPr id="75780" name="Rectangle 3">
            <a:extLst>
              <a:ext uri="{FF2B5EF4-FFF2-40B4-BE49-F238E27FC236}">
                <a16:creationId xmlns:a16="http://schemas.microsoft.com/office/drawing/2014/main" id="{B7A7606C-3033-03B7-04E4-75B84941BB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11-8c</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28FA7424-8892-C449-B411-8B7157669864}"/>
              </a:ext>
            </a:extLst>
          </p:cNvPr>
          <p:cNvSpPr>
            <a:spLocks noGrp="1" noRot="1" noChangeAspect="1" noTextEdit="1"/>
          </p:cNvSpPr>
          <p:nvPr>
            <p:ph type="sldImg"/>
          </p:nvPr>
        </p:nvSpPr>
        <p:spPr>
          <a:ln/>
        </p:spPr>
      </p:sp>
      <p:sp>
        <p:nvSpPr>
          <p:cNvPr id="77827" name="Notes Placeholder 2">
            <a:extLst>
              <a:ext uri="{FF2B5EF4-FFF2-40B4-BE49-F238E27FC236}">
                <a16:creationId xmlns:a16="http://schemas.microsoft.com/office/drawing/2014/main" id="{373C7868-7DBF-6F2E-0935-E074ABB292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7828" name="Slide Number Placeholder 3">
            <a:extLst>
              <a:ext uri="{FF2B5EF4-FFF2-40B4-BE49-F238E27FC236}">
                <a16:creationId xmlns:a16="http://schemas.microsoft.com/office/drawing/2014/main" id="{CD95EF32-A61A-C47E-0AC2-4CD7FD515BD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17DAA88-2B7F-2442-8FDF-02A634046688}" type="slidenum">
              <a:rPr lang="en-GB" altLang="en-US"/>
              <a:pPr>
                <a:spcBef>
                  <a:spcPct val="0"/>
                </a:spcBef>
              </a:pPr>
              <a:t>35</a:t>
            </a:fld>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65BDA4B2-407B-C524-2266-1230EF1B46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51F9CB9-F51B-5444-8491-92C3A3526BCB}" type="slidenum">
              <a:rPr lang="en-GB" altLang="en-US"/>
              <a:pPr>
                <a:spcBef>
                  <a:spcPct val="0"/>
                </a:spcBef>
              </a:pPr>
              <a:t>36</a:t>
            </a:fld>
            <a:endParaRPr lang="en-GB" altLang="en-US"/>
          </a:p>
        </p:txBody>
      </p:sp>
      <p:sp>
        <p:nvSpPr>
          <p:cNvPr id="79875" name="Rectangle 2">
            <a:extLst>
              <a:ext uri="{FF2B5EF4-FFF2-40B4-BE49-F238E27FC236}">
                <a16:creationId xmlns:a16="http://schemas.microsoft.com/office/drawing/2014/main" id="{E23DF11F-5913-29D3-46B7-802D95E4F140}"/>
              </a:ext>
            </a:extLst>
          </p:cNvPr>
          <p:cNvSpPr>
            <a:spLocks noRot="1" noChangeArrowheads="1" noTextEdit="1"/>
          </p:cNvSpPr>
          <p:nvPr>
            <p:ph type="sldImg"/>
          </p:nvPr>
        </p:nvSpPr>
        <p:spPr>
          <a:ln/>
        </p:spPr>
      </p:sp>
      <p:sp>
        <p:nvSpPr>
          <p:cNvPr id="79876" name="Rectangle 3">
            <a:extLst>
              <a:ext uri="{FF2B5EF4-FFF2-40B4-BE49-F238E27FC236}">
                <a16:creationId xmlns:a16="http://schemas.microsoft.com/office/drawing/2014/main" id="{0CAE09DE-ADA3-A96E-0240-28B0DB7308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E56BF23F-E486-4E77-84C6-932B3CD5EF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5F7F756-2B0B-9543-8606-690843272E78}" type="slidenum">
              <a:rPr lang="en-GB" altLang="en-US"/>
              <a:pPr>
                <a:spcBef>
                  <a:spcPct val="0"/>
                </a:spcBef>
              </a:pPr>
              <a:t>37</a:t>
            </a:fld>
            <a:endParaRPr lang="en-GB" altLang="en-US"/>
          </a:p>
        </p:txBody>
      </p:sp>
      <p:sp>
        <p:nvSpPr>
          <p:cNvPr id="81923" name="Rectangle 2">
            <a:extLst>
              <a:ext uri="{FF2B5EF4-FFF2-40B4-BE49-F238E27FC236}">
                <a16:creationId xmlns:a16="http://schemas.microsoft.com/office/drawing/2014/main" id="{86CD3A0B-C0DE-9B6F-282D-72FBD326346D}"/>
              </a:ext>
            </a:extLst>
          </p:cNvPr>
          <p:cNvSpPr>
            <a:spLocks noRot="1" noChangeArrowheads="1" noTextEdit="1"/>
          </p:cNvSpPr>
          <p:nvPr>
            <p:ph type="sldImg"/>
          </p:nvPr>
        </p:nvSpPr>
        <p:spPr>
          <a:ln/>
        </p:spPr>
      </p:sp>
      <p:sp>
        <p:nvSpPr>
          <p:cNvPr id="81924" name="Rectangle 3">
            <a:extLst>
              <a:ext uri="{FF2B5EF4-FFF2-40B4-BE49-F238E27FC236}">
                <a16:creationId xmlns:a16="http://schemas.microsoft.com/office/drawing/2014/main" id="{789ABB37-1409-486E-3E36-AFA98907F9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a:latin typeface="Arial" panose="020B0604020202020204" pitchFamily="34" charset="0"/>
                <a:cs typeface="Arial" panose="020B0604020202020204" pitchFamily="34" charset="0"/>
              </a:rPr>
              <a:t>First: </a:t>
            </a:r>
            <a:r>
              <a:rPr lang="en-US" altLang="en-US">
                <a:latin typeface="Arial" panose="020B0604020202020204" pitchFamily="34" charset="0"/>
                <a:cs typeface="Arial" panose="020B0604020202020204" pitchFamily="34" charset="0"/>
              </a:rPr>
              <a:t>RecA filament must assemble on one of the participating DNA molecules.</a:t>
            </a:r>
          </a:p>
          <a:p>
            <a:pPr eaLnBrk="1" hangingPunct="1"/>
            <a:r>
              <a:rPr lang="en-US" altLang="en-US">
                <a:latin typeface="Arial" panose="020B0604020202020204" pitchFamily="34" charset="0"/>
                <a:cs typeface="Arial" panose="020B0604020202020204" pitchFamily="34" charset="0"/>
              </a:rPr>
              <a:t>Assembly occurs on a molecule containing a region of ssDNA, such as an ssDNA tail</a:t>
            </a:r>
          </a:p>
          <a:p>
            <a:pPr eaLnBrk="1" hangingPunct="1"/>
            <a:r>
              <a:rPr lang="en-US" altLang="en-US">
                <a:latin typeface="Arial" panose="020B0604020202020204" pitchFamily="34" charset="0"/>
                <a:cs typeface="Arial" panose="020B0604020202020204" pitchFamily="34" charset="0"/>
              </a:rPr>
              <a:t>This </a:t>
            </a:r>
            <a:r>
              <a:rPr lang="en-US" altLang="en-US" b="1">
                <a:latin typeface="Arial" panose="020B0604020202020204" pitchFamily="34" charset="0"/>
                <a:cs typeface="Arial" panose="020B0604020202020204" pitchFamily="34" charset="0"/>
              </a:rPr>
              <a:t>RecA-ssDNA complex </a:t>
            </a:r>
            <a:r>
              <a:rPr lang="en-US" altLang="en-US">
                <a:latin typeface="Arial" panose="020B0604020202020204" pitchFamily="34" charset="0"/>
                <a:cs typeface="Arial" panose="020B0604020202020204" pitchFamily="34" charset="0"/>
              </a:rPr>
              <a:t>is the active form that participates in the search for a homology</a:t>
            </a:r>
          </a:p>
          <a:p>
            <a:pPr eaLnBrk="1" hangingPunct="1"/>
            <a:r>
              <a:rPr lang="en-US" altLang="en-US">
                <a:latin typeface="Arial" panose="020B0604020202020204" pitchFamily="34" charset="0"/>
                <a:cs typeface="Arial" panose="020B0604020202020204" pitchFamily="34" charset="0"/>
              </a:rPr>
              <a:t>During this search, RecA must look for base-pair complementarity between the DNA </a:t>
            </a:r>
            <a:r>
              <a:rPr lang="en-US" altLang="en-US">
                <a:solidFill>
                  <a:srgbClr val="0000FF"/>
                </a:solidFill>
                <a:latin typeface="Arial" panose="020B0604020202020204" pitchFamily="34" charset="0"/>
                <a:cs typeface="Arial" panose="020B0604020202020204" pitchFamily="34" charset="0"/>
              </a:rPr>
              <a:t>within the filament and a new DNA molecule</a:t>
            </a:r>
          </a:p>
          <a:p>
            <a:pPr eaLnBrk="1" hangingPunct="1"/>
            <a:r>
              <a:rPr lang="en-US" altLang="en-US">
                <a:solidFill>
                  <a:srgbClr val="0000FF"/>
                </a:solidFill>
                <a:latin typeface="Arial" panose="020B0604020202020204" pitchFamily="34" charset="0"/>
                <a:cs typeface="Arial" panose="020B0604020202020204" pitchFamily="34" charset="0"/>
              </a:rPr>
              <a:t>The homology search is promoted by RecA because the filament structure has 2 distinct DNA-binding sites: primary (bound the first DNA molecule) and secondary (can be occupied by dsDNA)</a:t>
            </a:r>
          </a:p>
          <a:p>
            <a:pPr eaLnBrk="1" hangingPunct="1"/>
            <a:endParaRPr lang="en-US" altLang="en-US">
              <a:solidFill>
                <a:srgbClr val="0000FF"/>
              </a:solidFill>
              <a:latin typeface="Arial" panose="020B0604020202020204" pitchFamily="34" charset="0"/>
              <a:cs typeface="Arial" panose="020B0604020202020204" pitchFamily="34" charset="0"/>
            </a:endParaRP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A0463AF5-7A80-652D-86DB-1ABC426E7E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B3B1E0A-9A0E-3143-A62B-EF468A07460D}" type="slidenum">
              <a:rPr lang="en-GB" altLang="en-US"/>
              <a:pPr>
                <a:spcBef>
                  <a:spcPct val="0"/>
                </a:spcBef>
              </a:pPr>
              <a:t>38</a:t>
            </a:fld>
            <a:endParaRPr lang="en-GB" altLang="en-US"/>
          </a:p>
        </p:txBody>
      </p:sp>
      <p:sp>
        <p:nvSpPr>
          <p:cNvPr id="83971" name="Rectangle 2">
            <a:extLst>
              <a:ext uri="{FF2B5EF4-FFF2-40B4-BE49-F238E27FC236}">
                <a16:creationId xmlns:a16="http://schemas.microsoft.com/office/drawing/2014/main" id="{4DAD54CC-3056-1189-5C76-8B01B58BF0D5}"/>
              </a:ext>
            </a:extLst>
          </p:cNvPr>
          <p:cNvSpPr>
            <a:spLocks noRot="1" noChangeArrowheads="1" noTextEdit="1"/>
          </p:cNvSpPr>
          <p:nvPr>
            <p:ph type="sldImg"/>
          </p:nvPr>
        </p:nvSpPr>
        <p:spPr>
          <a:ln/>
        </p:spPr>
      </p:sp>
      <p:sp>
        <p:nvSpPr>
          <p:cNvPr id="83972" name="Rectangle 3">
            <a:extLst>
              <a:ext uri="{FF2B5EF4-FFF2-40B4-BE49-F238E27FC236}">
                <a16:creationId xmlns:a16="http://schemas.microsoft.com/office/drawing/2014/main" id="{E4BD9892-7A93-3C06-6090-0A25C69A36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Once a region of base-pair complementarity is located, RecA promotes the formation of a stable complex between these two DNA molecules </a:t>
            </a:r>
          </a:p>
          <a:p>
            <a:pPr eaLnBrk="1" hangingPunct="1"/>
            <a:r>
              <a:rPr lang="en-US" altLang="en-US">
                <a:latin typeface="Arial" panose="020B0604020202020204" pitchFamily="34" charset="0"/>
                <a:cs typeface="Arial" panose="020B0604020202020204" pitchFamily="34" charset="0"/>
              </a:rPr>
              <a:t>The RecA-bound 3-stranded structure is called a </a:t>
            </a:r>
            <a:r>
              <a:rPr lang="en-US" altLang="en-US" b="1">
                <a:latin typeface="Arial" panose="020B0604020202020204" pitchFamily="34" charset="0"/>
                <a:cs typeface="Arial" panose="020B0604020202020204" pitchFamily="34" charset="0"/>
              </a:rPr>
              <a:t>joint molecule</a:t>
            </a:r>
            <a:r>
              <a:rPr lang="en-US" altLang="en-US">
                <a:latin typeface="Arial" panose="020B0604020202020204" pitchFamily="34" charset="0"/>
                <a:cs typeface="Arial" panose="020B0604020202020204" pitchFamily="34" charset="0"/>
              </a:rPr>
              <a:t> and usually contains several hundred base pairs of hybrid DNA</a:t>
            </a:r>
          </a:p>
          <a:p>
            <a:pPr eaLnBrk="1" hangingPunct="1"/>
            <a:r>
              <a:rPr lang="en-US" altLang="en-US">
                <a:latin typeface="Arial" panose="020B0604020202020204" pitchFamily="34" charset="0"/>
                <a:cs typeface="Arial" panose="020B0604020202020204" pitchFamily="34" charset="0"/>
              </a:rPr>
              <a:t>It is within the joint molecule that the actual exchange of DNA strands occurs </a:t>
            </a:r>
          </a:p>
          <a:p>
            <a:pPr eaLnBrk="1" hangingPunct="1"/>
            <a:r>
              <a:rPr lang="en-US" altLang="en-US">
                <a:latin typeface="Arial" panose="020B0604020202020204" pitchFamily="34" charset="0"/>
                <a:cs typeface="Arial" panose="020B0604020202020204" pitchFamily="34" charset="0"/>
              </a:rPr>
              <a:t>The strand in the 1° site becomes base-paired with its complement in the DNA duplex bound in the 2° site</a:t>
            </a:r>
          </a:p>
          <a:p>
            <a:pPr eaLnBrk="1" hangingPunct="1"/>
            <a:r>
              <a:rPr lang="en-US" altLang="en-US">
                <a:latin typeface="Arial" panose="020B0604020202020204" pitchFamily="34" charset="0"/>
                <a:cs typeface="Arial" panose="020B0604020202020204" pitchFamily="34" charset="0"/>
              </a:rPr>
              <a:t>Strand exchange requires the breaking of one set of base pairs and the formation of a new set of identical base pairs</a:t>
            </a:r>
          </a:p>
          <a:p>
            <a:pPr eaLnBrk="1" hangingPunct="1"/>
            <a:r>
              <a:rPr lang="en-US" altLang="en-US">
                <a:latin typeface="Arial" panose="020B0604020202020204" pitchFamily="34" charset="0"/>
                <a:cs typeface="Arial" panose="020B0604020202020204" pitchFamily="34" charset="0"/>
              </a:rPr>
              <a:t>Completion of strand exchange also requires that the two newly paired strands be intertwined to form a proper double helix</a:t>
            </a:r>
          </a:p>
          <a:p>
            <a:pPr eaLnBrk="1" hangingPunct="1"/>
            <a:r>
              <a:rPr lang="en-US" altLang="en-US">
                <a:latin typeface="Arial" panose="020B0604020202020204" pitchFamily="34" charset="0"/>
                <a:cs typeface="Arial" panose="020B0604020202020204" pitchFamily="34" charset="0"/>
              </a:rPr>
              <a:t>RecA binds preferentially to the DNA products after strand exchange has occurred and it is this binding energy that actually drives the exchange rxn toward the new DNA configuration</a:t>
            </a:r>
          </a:p>
          <a:p>
            <a:pPr eaLnBrk="1" hangingPunct="1"/>
            <a:endParaRPr lang="en-US" altLang="en-US">
              <a:latin typeface="Arial" panose="020B0604020202020204" pitchFamily="34" charset="0"/>
              <a:cs typeface="Arial" panose="020B0604020202020204" pitchFamily="34" charset="0"/>
            </a:endParaRPr>
          </a:p>
          <a:p>
            <a:pPr eaLnBrk="1" hangingPunct="1"/>
            <a:endParaRPr lang="en-US" altLang="en-US">
              <a:latin typeface="Arial" panose="020B0604020202020204" pitchFamily="34" charset="0"/>
              <a:cs typeface="Arial" panose="020B0604020202020204" pitchFamily="34" charset="0"/>
            </a:endParaRP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641EDF17-96BE-64EE-A5E3-3B38491B5212}"/>
              </a:ext>
            </a:extLst>
          </p:cNvPr>
          <p:cNvSpPr>
            <a:spLocks noGrp="1" noRot="1" noChangeAspect="1" noTextEdit="1"/>
          </p:cNvSpPr>
          <p:nvPr>
            <p:ph type="sldImg"/>
          </p:nvPr>
        </p:nvSpPr>
        <p:spPr>
          <a:ln/>
        </p:spPr>
      </p:sp>
      <p:sp>
        <p:nvSpPr>
          <p:cNvPr id="86019" name="Notes Placeholder 2">
            <a:extLst>
              <a:ext uri="{FF2B5EF4-FFF2-40B4-BE49-F238E27FC236}">
                <a16:creationId xmlns:a16="http://schemas.microsoft.com/office/drawing/2014/main" id="{E0D17A2C-FCA9-D370-C1F5-BE04129775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Strand exchange requires the breaking of one set of base pairs and the formation of a new set of identical base pairs</a:t>
            </a:r>
          </a:p>
          <a:p>
            <a:pPr eaLnBrk="1" hangingPunct="1"/>
            <a:r>
              <a:rPr lang="en-US" altLang="en-US">
                <a:latin typeface="Arial" panose="020B0604020202020204" pitchFamily="34" charset="0"/>
                <a:cs typeface="Arial" panose="020B0604020202020204" pitchFamily="34" charset="0"/>
              </a:rPr>
              <a:t>Completion of strand exchange also requires that the two newly paired strands be intertwined to form a proper double helix</a:t>
            </a:r>
          </a:p>
        </p:txBody>
      </p:sp>
      <p:sp>
        <p:nvSpPr>
          <p:cNvPr id="86020" name="Slide Number Placeholder 3">
            <a:extLst>
              <a:ext uri="{FF2B5EF4-FFF2-40B4-BE49-F238E27FC236}">
                <a16:creationId xmlns:a16="http://schemas.microsoft.com/office/drawing/2014/main" id="{0260B5E6-CE45-7E00-5F5C-933F9B4979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4068CF9-2D33-9546-A6B1-B393D5F740E7}" type="slidenum">
              <a:rPr lang="en-GB" altLang="en-US"/>
              <a:pPr>
                <a:spcBef>
                  <a:spcPct val="0"/>
                </a:spcBef>
              </a:pPr>
              <a:t>39</a:t>
            </a:fld>
            <a:endParaRPr lang="en-GB"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0213BCF8-B3FF-640D-4B6A-58905E2CFEF8}"/>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676DC6FB-D334-B147-B6F6-AD36C88145F1}" type="slidenum">
              <a:rPr lang="en-US" altLang="en-US">
                <a:latin typeface="Times" pitchFamily="-32" charset="0"/>
                <a:ea typeface="ＭＳ Ｐゴシック" panose="020B0600070205080204" pitchFamily="34" charset="-128"/>
              </a:rPr>
              <a:pPr algn="r" eaLnBrk="1" hangingPunct="1">
                <a:spcBef>
                  <a:spcPct val="0"/>
                </a:spcBef>
              </a:pPr>
              <a:t>40</a:t>
            </a:fld>
            <a:endParaRPr lang="en-US" altLang="en-US">
              <a:latin typeface="Times" pitchFamily="-32" charset="0"/>
              <a:ea typeface="ＭＳ Ｐゴシック" panose="020B0600070205080204" pitchFamily="34" charset="-128"/>
            </a:endParaRPr>
          </a:p>
        </p:txBody>
      </p:sp>
      <p:sp>
        <p:nvSpPr>
          <p:cNvPr id="88067" name="Rectangle 2">
            <a:extLst>
              <a:ext uri="{FF2B5EF4-FFF2-40B4-BE49-F238E27FC236}">
                <a16:creationId xmlns:a16="http://schemas.microsoft.com/office/drawing/2014/main" id="{6C3B7326-3CDD-D50C-816A-48F8B7DDAC2F}"/>
              </a:ext>
            </a:extLst>
          </p:cNvPr>
          <p:cNvSpPr>
            <a:spLocks noChangeArrowheads="1" noTextEdit="1"/>
          </p:cNvSpPr>
          <p:nvPr>
            <p:ph type="sldImg"/>
          </p:nvPr>
        </p:nvSpPr>
        <p:spPr>
          <a:ln/>
        </p:spPr>
      </p:sp>
      <p:sp>
        <p:nvSpPr>
          <p:cNvPr id="88068" name="Rectangle 3">
            <a:extLst>
              <a:ext uri="{FF2B5EF4-FFF2-40B4-BE49-F238E27FC236}">
                <a16:creationId xmlns:a16="http://schemas.microsoft.com/office/drawing/2014/main" id="{1DF5FA08-06DD-8FBD-9477-9231A85A00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11-11</a:t>
            </a:r>
          </a:p>
          <a:p>
            <a:r>
              <a:rPr lang="en-US" altLang="en-US">
                <a:latin typeface="Times New Roman" panose="02020603050405020304" pitchFamily="18" charset="0"/>
                <a:cs typeface="Arial" panose="020B0604020202020204" pitchFamily="34" charset="0"/>
              </a:rPr>
              <a:t>©2008 Macmillan  www.nature.com</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816255D3-AEE2-DC8E-DA06-49B4882CA17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AE0FBE77-9801-DA4E-9D8D-9477FF24923A}" type="slidenum">
              <a:rPr lang="en-US" altLang="en-US">
                <a:latin typeface="Times" pitchFamily="-32" charset="0"/>
                <a:ea typeface="ＭＳ Ｐゴシック" panose="020B0600070205080204" pitchFamily="34" charset="-128"/>
              </a:rPr>
              <a:pPr algn="r" eaLnBrk="1" hangingPunct="1">
                <a:spcBef>
                  <a:spcPct val="0"/>
                </a:spcBef>
              </a:pPr>
              <a:t>41</a:t>
            </a:fld>
            <a:endParaRPr lang="en-US" altLang="en-US">
              <a:latin typeface="Times" pitchFamily="-32" charset="0"/>
              <a:ea typeface="ＭＳ Ｐゴシック" panose="020B0600070205080204" pitchFamily="34" charset="-128"/>
            </a:endParaRPr>
          </a:p>
        </p:txBody>
      </p:sp>
      <p:sp>
        <p:nvSpPr>
          <p:cNvPr id="90115" name="Rectangle 2">
            <a:extLst>
              <a:ext uri="{FF2B5EF4-FFF2-40B4-BE49-F238E27FC236}">
                <a16:creationId xmlns:a16="http://schemas.microsoft.com/office/drawing/2014/main" id="{2BF387E1-5768-60B1-00A3-C033DACFF94D}"/>
              </a:ext>
            </a:extLst>
          </p:cNvPr>
          <p:cNvSpPr>
            <a:spLocks noChangeArrowheads="1" noTextEdit="1"/>
          </p:cNvSpPr>
          <p:nvPr>
            <p:ph type="sldImg"/>
          </p:nvPr>
        </p:nvSpPr>
        <p:spPr>
          <a:ln/>
        </p:spPr>
      </p:sp>
      <p:sp>
        <p:nvSpPr>
          <p:cNvPr id="90116" name="Rectangle 3">
            <a:extLst>
              <a:ext uri="{FF2B5EF4-FFF2-40B4-BE49-F238E27FC236}">
                <a16:creationId xmlns:a16="http://schemas.microsoft.com/office/drawing/2014/main" id="{CF8E6B0F-37E6-6607-1B43-3974E39DF0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11-13</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99E832E2-D91A-0481-97AF-9D9E3D8CB23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5BC29F09-F14B-404E-94C9-885E5934A65B}" type="slidenum">
              <a:rPr lang="en-US" altLang="en-US">
                <a:latin typeface="Times" pitchFamily="-32" charset="0"/>
                <a:ea typeface="ＭＳ Ｐゴシック" panose="020B0600070205080204" pitchFamily="34" charset="-128"/>
              </a:rPr>
              <a:pPr algn="r" eaLnBrk="1" hangingPunct="1">
                <a:spcBef>
                  <a:spcPct val="0"/>
                </a:spcBef>
              </a:pPr>
              <a:t>42</a:t>
            </a:fld>
            <a:endParaRPr lang="en-US" altLang="en-US">
              <a:latin typeface="Times" pitchFamily="-32" charset="0"/>
              <a:ea typeface="ＭＳ Ｐゴシック" panose="020B0600070205080204" pitchFamily="34" charset="-128"/>
            </a:endParaRPr>
          </a:p>
        </p:txBody>
      </p:sp>
      <p:sp>
        <p:nvSpPr>
          <p:cNvPr id="92163" name="Rectangle 2">
            <a:extLst>
              <a:ext uri="{FF2B5EF4-FFF2-40B4-BE49-F238E27FC236}">
                <a16:creationId xmlns:a16="http://schemas.microsoft.com/office/drawing/2014/main" id="{0A8E1F84-4000-33FC-8DED-276B8652C8B6}"/>
              </a:ext>
            </a:extLst>
          </p:cNvPr>
          <p:cNvSpPr>
            <a:spLocks noChangeArrowheads="1" noTextEdit="1"/>
          </p:cNvSpPr>
          <p:nvPr>
            <p:ph type="sldImg"/>
          </p:nvPr>
        </p:nvSpPr>
        <p:spPr>
          <a:ln/>
        </p:spPr>
      </p:sp>
      <p:sp>
        <p:nvSpPr>
          <p:cNvPr id="92164" name="Rectangle 3">
            <a:extLst>
              <a:ext uri="{FF2B5EF4-FFF2-40B4-BE49-F238E27FC236}">
                <a16:creationId xmlns:a16="http://schemas.microsoft.com/office/drawing/2014/main" id="{78E40B76-FA6D-7015-51FB-BC89B3DF65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11-14</a:t>
            </a:r>
          </a:p>
          <a:p>
            <a:r>
              <a:rPr lang="en-US" altLang="en-US">
                <a:latin typeface="Times New Roman" panose="02020603050405020304" pitchFamily="18" charset="0"/>
                <a:cs typeface="Arial" panose="020B0604020202020204" pitchFamily="34" charset="0"/>
              </a:rPr>
              <a:t>©2008 Macmillan  www.nature.com</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333F54D5-81B9-0F2D-944B-39D039BEB6C6}"/>
              </a:ext>
            </a:extLst>
          </p:cNvPr>
          <p:cNvSpPr>
            <a:spLocks noGrp="1" noRot="1" noChangeAspect="1" noTextEdit="1"/>
          </p:cNvSpPr>
          <p:nvPr>
            <p:ph type="sldImg"/>
          </p:nvPr>
        </p:nvSpPr>
        <p:spPr>
          <a:ln/>
        </p:spPr>
      </p:sp>
      <p:sp>
        <p:nvSpPr>
          <p:cNvPr id="94211" name="Notes Placeholder 2">
            <a:extLst>
              <a:ext uri="{FF2B5EF4-FFF2-40B4-BE49-F238E27FC236}">
                <a16:creationId xmlns:a16="http://schemas.microsoft.com/office/drawing/2014/main" id="{97C3EAD0-83A6-C0AE-1BFB-4DD518F1C3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94212" name="Slide Number Placeholder 3">
            <a:extLst>
              <a:ext uri="{FF2B5EF4-FFF2-40B4-BE49-F238E27FC236}">
                <a16:creationId xmlns:a16="http://schemas.microsoft.com/office/drawing/2014/main" id="{1B4D66FF-8C50-124B-B9D8-8353CE7668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8C68E34-29D0-FD42-922A-3F341E8CDCD2}" type="slidenum">
              <a:rPr lang="en-GB" altLang="en-US"/>
              <a:pPr>
                <a:spcBef>
                  <a:spcPct val="0"/>
                </a:spcBef>
              </a:pPr>
              <a:t>43</a:t>
            </a:fld>
            <a:endParaRPr lang="en-GB"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338DD070-781B-22CA-C48F-AFD503F923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81B18A5-9D17-124A-88E7-8F70D1742689}" type="slidenum">
              <a:rPr lang="en-GB" altLang="en-US"/>
              <a:pPr>
                <a:spcBef>
                  <a:spcPct val="0"/>
                </a:spcBef>
              </a:pPr>
              <a:t>44</a:t>
            </a:fld>
            <a:endParaRPr lang="en-GB" altLang="en-US"/>
          </a:p>
        </p:txBody>
      </p:sp>
      <p:sp>
        <p:nvSpPr>
          <p:cNvPr id="96259" name="Rectangle 2">
            <a:extLst>
              <a:ext uri="{FF2B5EF4-FFF2-40B4-BE49-F238E27FC236}">
                <a16:creationId xmlns:a16="http://schemas.microsoft.com/office/drawing/2014/main" id="{ACF7473E-8327-2188-BDFF-8A18DC33748A}"/>
              </a:ext>
            </a:extLst>
          </p:cNvPr>
          <p:cNvSpPr>
            <a:spLocks noRot="1" noChangeArrowheads="1" noTextEdit="1"/>
          </p:cNvSpPr>
          <p:nvPr>
            <p:ph type="sldImg"/>
          </p:nvPr>
        </p:nvSpPr>
        <p:spPr>
          <a:ln/>
        </p:spPr>
      </p:sp>
      <p:sp>
        <p:nvSpPr>
          <p:cNvPr id="96260" name="Rectangle 3">
            <a:extLst>
              <a:ext uri="{FF2B5EF4-FFF2-40B4-BE49-F238E27FC236}">
                <a16:creationId xmlns:a16="http://schemas.microsoft.com/office/drawing/2014/main" id="{7EDC3EE2-4346-5F98-E0AA-68EAF6CBDF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After the strand invasion step of recombination is complete, the two recombining DNA molecules are connected by a </a:t>
            </a:r>
            <a:r>
              <a:rPr lang="en-US" altLang="en-US" b="1">
                <a:latin typeface="Arial" panose="020B0604020202020204" pitchFamily="34" charset="0"/>
                <a:cs typeface="Arial" panose="020B0604020202020204" pitchFamily="34" charset="0"/>
              </a:rPr>
              <a:t>DNA branch known as a Holliday junction</a:t>
            </a:r>
          </a:p>
          <a:p>
            <a:pPr eaLnBrk="1" hangingPunct="1"/>
            <a:r>
              <a:rPr lang="en-US" altLang="en-US">
                <a:latin typeface="Arial" panose="020B0604020202020204" pitchFamily="34" charset="0"/>
                <a:cs typeface="Arial" panose="020B0604020202020204" pitchFamily="34" charset="0"/>
              </a:rPr>
              <a:t>Movement of the site of this branch requires exchange of DNA base pairs between the two homologous DNA duplexes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019B312E-CB36-C24D-81A1-24D4C3F12C4F}"/>
              </a:ext>
            </a:extLst>
          </p:cNvPr>
          <p:cNvSpPr>
            <a:spLocks noGrp="1" noRot="1" noChangeAspect="1" noTextEdit="1"/>
          </p:cNvSpPr>
          <p:nvPr>
            <p:ph type="sldImg"/>
          </p:nvPr>
        </p:nvSpPr>
        <p:spPr>
          <a:ln/>
        </p:spPr>
      </p:sp>
      <p:sp>
        <p:nvSpPr>
          <p:cNvPr id="98307" name="Notes Placeholder 2">
            <a:extLst>
              <a:ext uri="{FF2B5EF4-FFF2-40B4-BE49-F238E27FC236}">
                <a16:creationId xmlns:a16="http://schemas.microsoft.com/office/drawing/2014/main" id="{6B12E9AA-5D6D-82AA-02CB-F84D0BB41F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98308" name="Slide Number Placeholder 3">
            <a:extLst>
              <a:ext uri="{FF2B5EF4-FFF2-40B4-BE49-F238E27FC236}">
                <a16:creationId xmlns:a16="http://schemas.microsoft.com/office/drawing/2014/main" id="{EACC3BAE-30E9-41C9-C0C4-7DDBD69318B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EE01307-92E5-5D4D-9262-C6F520B54266}" type="slidenum">
              <a:rPr lang="en-GB" altLang="en-US"/>
              <a:pPr>
                <a:spcBef>
                  <a:spcPct val="0"/>
                </a:spcBef>
              </a:pPr>
              <a:t>45</a:t>
            </a:fld>
            <a:endParaRPr lang="en-GB"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27C7F0E5-7962-DCD8-AC6B-FB7F6EAFCF14}"/>
              </a:ext>
            </a:extLst>
          </p:cNvPr>
          <p:cNvSpPr>
            <a:spLocks noGrp="1" noRot="1" noChangeAspect="1" noTextEdit="1"/>
          </p:cNvSpPr>
          <p:nvPr>
            <p:ph type="sldImg"/>
          </p:nvPr>
        </p:nvSpPr>
        <p:spPr>
          <a:ln/>
        </p:spPr>
      </p:sp>
      <p:sp>
        <p:nvSpPr>
          <p:cNvPr id="100355" name="Notes Placeholder 2">
            <a:extLst>
              <a:ext uri="{FF2B5EF4-FFF2-40B4-BE49-F238E27FC236}">
                <a16:creationId xmlns:a16="http://schemas.microsoft.com/office/drawing/2014/main" id="{5702A3D5-A828-4AA1-5FC2-A493C7A6EC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0356" name="Slide Number Placeholder 3">
            <a:extLst>
              <a:ext uri="{FF2B5EF4-FFF2-40B4-BE49-F238E27FC236}">
                <a16:creationId xmlns:a16="http://schemas.microsoft.com/office/drawing/2014/main" id="{076CB94C-B556-1622-518C-43269D27C7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F867ED2-398D-974B-A22E-CC1A332753A8}" type="slidenum">
              <a:rPr lang="en-GB" altLang="en-US"/>
              <a:pPr>
                <a:spcBef>
                  <a:spcPct val="0"/>
                </a:spcBef>
              </a:pPr>
              <a:t>46</a:t>
            </a:fld>
            <a:endParaRPr lang="en-GB"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390ED035-BC05-2DDC-8229-C5C07A2F363F}"/>
              </a:ext>
            </a:extLst>
          </p:cNvPr>
          <p:cNvSpPr>
            <a:spLocks noGrp="1" noRot="1" noChangeAspect="1" noTextEdit="1"/>
          </p:cNvSpPr>
          <p:nvPr>
            <p:ph type="sldImg"/>
          </p:nvPr>
        </p:nvSpPr>
        <p:spPr>
          <a:ln/>
        </p:spPr>
      </p:sp>
      <p:sp>
        <p:nvSpPr>
          <p:cNvPr id="102403" name="Notes Placeholder 2">
            <a:extLst>
              <a:ext uri="{FF2B5EF4-FFF2-40B4-BE49-F238E27FC236}">
                <a16:creationId xmlns:a16="http://schemas.microsoft.com/office/drawing/2014/main" id="{8982EC29-34F6-949E-5019-DD3D9D99FA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2404" name="Slide Number Placeholder 3">
            <a:extLst>
              <a:ext uri="{FF2B5EF4-FFF2-40B4-BE49-F238E27FC236}">
                <a16:creationId xmlns:a16="http://schemas.microsoft.com/office/drawing/2014/main" id="{C3C0B756-AA82-C8CE-6F53-FBC81AB080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71B10A6-66BD-E544-9B45-A2C7B18F8993}" type="slidenum">
              <a:rPr lang="en-GB" altLang="en-US"/>
              <a:pPr>
                <a:spcBef>
                  <a:spcPct val="0"/>
                </a:spcBef>
              </a:pPr>
              <a:t>47</a:t>
            </a:fld>
            <a:endParaRPr lang="en-GB"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BF077055-D25F-3C43-78B2-9B55835F48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0FD1FFA-5A90-804E-8C41-ADC01CFE5A3D}" type="slidenum">
              <a:rPr lang="en-GB" altLang="en-US"/>
              <a:pPr>
                <a:spcBef>
                  <a:spcPct val="0"/>
                </a:spcBef>
              </a:pPr>
              <a:t>48</a:t>
            </a:fld>
            <a:endParaRPr lang="en-GB" altLang="en-US"/>
          </a:p>
        </p:txBody>
      </p:sp>
      <p:sp>
        <p:nvSpPr>
          <p:cNvPr id="104451" name="Rectangle 2">
            <a:extLst>
              <a:ext uri="{FF2B5EF4-FFF2-40B4-BE49-F238E27FC236}">
                <a16:creationId xmlns:a16="http://schemas.microsoft.com/office/drawing/2014/main" id="{7AFF77F2-AEAD-A466-D4B0-CECFD61D4D23}"/>
              </a:ext>
            </a:extLst>
          </p:cNvPr>
          <p:cNvSpPr>
            <a:spLocks noRot="1" noChangeArrowheads="1" noTextEdit="1"/>
          </p:cNvSpPr>
          <p:nvPr>
            <p:ph type="sldImg"/>
          </p:nvPr>
        </p:nvSpPr>
        <p:spPr>
          <a:ln/>
        </p:spPr>
      </p:sp>
      <p:sp>
        <p:nvSpPr>
          <p:cNvPr id="104452" name="Rectangle 3">
            <a:extLst>
              <a:ext uri="{FF2B5EF4-FFF2-40B4-BE49-F238E27FC236}">
                <a16:creationId xmlns:a16="http://schemas.microsoft.com/office/drawing/2014/main" id="{64585B2E-964C-F545-2AA7-6DB230CEF5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HR is also is required for DNA repair and restarting of collapsed replication forks in euk.</a:t>
            </a:r>
          </a:p>
          <a:p>
            <a:pPr eaLnBrk="1" hangingPunct="1"/>
            <a:r>
              <a:rPr lang="en-US" altLang="en-US">
                <a:latin typeface="Arial" panose="020B0604020202020204" pitchFamily="34" charset="0"/>
                <a:cs typeface="Arial" panose="020B0604020202020204" pitchFamily="34" charset="0"/>
              </a:rPr>
              <a:t>HR is critical for meiosis for proper chr pairing and thus maintaining the integrity of the genome</a:t>
            </a: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5527F91F-6CB3-E663-4381-FFC7C50C8530}"/>
              </a:ext>
            </a:extLst>
          </p:cNvPr>
          <p:cNvSpPr>
            <a:spLocks noGrp="1" noRot="1" noChangeAspect="1" noTextEdit="1"/>
          </p:cNvSpPr>
          <p:nvPr>
            <p:ph type="sldImg"/>
          </p:nvPr>
        </p:nvSpPr>
        <p:spPr>
          <a:ln/>
        </p:spPr>
      </p:sp>
      <p:sp>
        <p:nvSpPr>
          <p:cNvPr id="106499" name="Notes Placeholder 2">
            <a:extLst>
              <a:ext uri="{FF2B5EF4-FFF2-40B4-BE49-F238E27FC236}">
                <a16:creationId xmlns:a16="http://schemas.microsoft.com/office/drawing/2014/main" id="{E0D185F8-84D0-7694-D1C6-4ACDDFA2B8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6500" name="Slide Number Placeholder 3">
            <a:extLst>
              <a:ext uri="{FF2B5EF4-FFF2-40B4-BE49-F238E27FC236}">
                <a16:creationId xmlns:a16="http://schemas.microsoft.com/office/drawing/2014/main" id="{0B857A7D-33E1-4D08-097D-E4B198EC09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EAD0856-ABB7-2D4A-8586-899262C468A6}" type="slidenum">
              <a:rPr lang="en-GB" altLang="en-US"/>
              <a:pPr>
                <a:spcBef>
                  <a:spcPct val="0"/>
                </a:spcBef>
              </a:pPr>
              <a:t>49</a:t>
            </a:fld>
            <a:endParaRPr lang="en-GB"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B745AEE7-555C-79BD-575E-2E2F12F9C2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13EE227-745F-8D4A-90C6-6CB35710BC83}" type="slidenum">
              <a:rPr lang="en-GB" altLang="en-US"/>
              <a:pPr>
                <a:spcBef>
                  <a:spcPct val="0"/>
                </a:spcBef>
              </a:pPr>
              <a:t>50</a:t>
            </a:fld>
            <a:endParaRPr lang="en-GB" altLang="en-US"/>
          </a:p>
        </p:txBody>
      </p:sp>
      <p:sp>
        <p:nvSpPr>
          <p:cNvPr id="108547" name="Rectangle 2">
            <a:extLst>
              <a:ext uri="{FF2B5EF4-FFF2-40B4-BE49-F238E27FC236}">
                <a16:creationId xmlns:a16="http://schemas.microsoft.com/office/drawing/2014/main" id="{6485A6BE-1225-3A6F-47C0-58EA6BDF709B}"/>
              </a:ext>
            </a:extLst>
          </p:cNvPr>
          <p:cNvSpPr>
            <a:spLocks noRot="1" noChangeArrowheads="1" noTextEdit="1"/>
          </p:cNvSpPr>
          <p:nvPr>
            <p:ph type="sldImg"/>
          </p:nvPr>
        </p:nvSpPr>
        <p:spPr>
          <a:ln/>
        </p:spPr>
      </p:sp>
      <p:sp>
        <p:nvSpPr>
          <p:cNvPr id="108548" name="Rectangle 3">
            <a:extLst>
              <a:ext uri="{FF2B5EF4-FFF2-40B4-BE49-F238E27FC236}">
                <a16:creationId xmlns:a16="http://schemas.microsoft.com/office/drawing/2014/main" id="{DAFC8E64-B0B7-CACC-852C-9B76E3D90F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In the absence of recombination, chrs often fail to align properly for the first meiotic division and as a result there is a high incidence of chr loss</a:t>
            </a:r>
          </a:p>
          <a:p>
            <a:pPr eaLnBrk="1" hangingPunct="1"/>
            <a:r>
              <a:rPr lang="en-US" altLang="en-US">
                <a:latin typeface="Arial" panose="020B0604020202020204" pitchFamily="34" charset="0"/>
                <a:cs typeface="Arial" panose="020B0604020202020204" pitchFamily="34" charset="0"/>
              </a:rPr>
              <a:t>The improper segregation of chrs is called </a:t>
            </a:r>
            <a:r>
              <a:rPr lang="en-US" altLang="en-US" b="1">
                <a:latin typeface="Arial" panose="020B0604020202020204" pitchFamily="34" charset="0"/>
                <a:cs typeface="Arial" panose="020B0604020202020204" pitchFamily="34" charset="0"/>
              </a:rPr>
              <a:t>nondisjunction</a:t>
            </a:r>
          </a:p>
          <a:p>
            <a:pPr eaLnBrk="1" hangingPunct="1"/>
            <a:r>
              <a:rPr lang="en-US" altLang="en-US">
                <a:latin typeface="Arial" panose="020B0604020202020204" pitchFamily="34" charset="0"/>
                <a:cs typeface="Arial" panose="020B0604020202020204" pitchFamily="34" charset="0"/>
              </a:rPr>
              <a:t>HR events that occur during meiosis are called </a:t>
            </a:r>
            <a:r>
              <a:rPr lang="en-US" altLang="en-US" b="1">
                <a:latin typeface="Arial" panose="020B0604020202020204" pitchFamily="34" charset="0"/>
                <a:cs typeface="Arial" panose="020B0604020202020204" pitchFamily="34" charset="0"/>
              </a:rPr>
              <a:t>meiotic recombination  </a:t>
            </a:r>
            <a:r>
              <a:rPr lang="en-US" altLang="en-US">
                <a:latin typeface="Arial" panose="020B0604020202020204" pitchFamily="34" charset="0"/>
                <a:cs typeface="Arial" panose="020B0604020202020204" pitchFamily="34" charset="0"/>
              </a:rPr>
              <a:t>frequently give rise to </a:t>
            </a:r>
            <a:r>
              <a:rPr lang="en-US" altLang="en-US" b="1">
                <a:latin typeface="Arial" panose="020B0604020202020204" pitchFamily="34" charset="0"/>
                <a:cs typeface="Arial" panose="020B0604020202020204" pitchFamily="34" charset="0"/>
              </a:rPr>
              <a:t>crossing over</a:t>
            </a:r>
          </a:p>
          <a:p>
            <a:pPr eaLnBrk="1" hangingPunct="1"/>
            <a:endParaRPr lang="en-US" altLang="en-US" b="1">
              <a:latin typeface="Arial" panose="020B0604020202020204" pitchFamily="34" charset="0"/>
              <a:cs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8A98B41D-87C0-7A72-9A8B-B6575DE38E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B5CB889-BFD9-434E-BF52-84643B184CBA}" type="slidenum">
              <a:rPr lang="en-GB" altLang="en-US"/>
              <a:pPr>
                <a:spcBef>
                  <a:spcPct val="0"/>
                </a:spcBef>
              </a:pPr>
              <a:t>51</a:t>
            </a:fld>
            <a:endParaRPr lang="en-GB" altLang="en-US"/>
          </a:p>
        </p:txBody>
      </p:sp>
      <p:sp>
        <p:nvSpPr>
          <p:cNvPr id="110595" name="Rectangle 2">
            <a:extLst>
              <a:ext uri="{FF2B5EF4-FFF2-40B4-BE49-F238E27FC236}">
                <a16:creationId xmlns:a16="http://schemas.microsoft.com/office/drawing/2014/main" id="{B108ECEC-CFE5-7305-DF1E-4DF829AEE123}"/>
              </a:ext>
            </a:extLst>
          </p:cNvPr>
          <p:cNvSpPr>
            <a:spLocks noRot="1" noChangeArrowheads="1" noTextEdit="1"/>
          </p:cNvSpPr>
          <p:nvPr>
            <p:ph type="sldImg"/>
          </p:nvPr>
        </p:nvSpPr>
        <p:spPr>
          <a:ln/>
        </p:spPr>
      </p:sp>
      <p:sp>
        <p:nvSpPr>
          <p:cNvPr id="110596" name="Rectangle 3">
            <a:extLst>
              <a:ext uri="{FF2B5EF4-FFF2-40B4-BE49-F238E27FC236}">
                <a16:creationId xmlns:a16="http://schemas.microsoft.com/office/drawing/2014/main" id="{98974199-C2E0-DEA3-CE7E-CEC8FBE0B6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FB6A6367-ECBF-1BD7-8F4F-14DB9CDC963F}"/>
              </a:ext>
            </a:extLst>
          </p:cNvPr>
          <p:cNvSpPr>
            <a:spLocks noGrp="1" noRot="1" noChangeAspect="1" noTextEdit="1"/>
          </p:cNvSpPr>
          <p:nvPr>
            <p:ph type="sldImg"/>
          </p:nvPr>
        </p:nvSpPr>
        <p:spPr>
          <a:ln/>
        </p:spPr>
      </p:sp>
      <p:sp>
        <p:nvSpPr>
          <p:cNvPr id="112643" name="Notes Placeholder 2">
            <a:extLst>
              <a:ext uri="{FF2B5EF4-FFF2-40B4-BE49-F238E27FC236}">
                <a16:creationId xmlns:a16="http://schemas.microsoft.com/office/drawing/2014/main" id="{CA35120C-048A-CCF6-7E5C-CA7F48DCF89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Spo11 shares this DNA cleavage mechanism with DNA topoisomerase and site-specific recombinase</a:t>
            </a:r>
          </a:p>
        </p:txBody>
      </p:sp>
      <p:sp>
        <p:nvSpPr>
          <p:cNvPr id="112644" name="Slide Number Placeholder 3">
            <a:extLst>
              <a:ext uri="{FF2B5EF4-FFF2-40B4-BE49-F238E27FC236}">
                <a16:creationId xmlns:a16="http://schemas.microsoft.com/office/drawing/2014/main" id="{C5667537-C4F4-8C30-EF48-A600B2F19B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A0EA540-A699-8140-BAED-ABFA62F6DCED}" type="slidenum">
              <a:rPr lang="en-GB" altLang="en-US"/>
              <a:pPr>
                <a:spcBef>
                  <a:spcPct val="0"/>
                </a:spcBef>
              </a:pPr>
              <a:t>52</a:t>
            </a:fld>
            <a:endParaRPr lang="en-GB"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97B62ACC-1CAA-ABD9-1FCA-564C575CC8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CEE81BD-7188-FD4B-BF8B-53C360B825E2}" type="slidenum">
              <a:rPr lang="en-GB" altLang="en-US"/>
              <a:pPr>
                <a:spcBef>
                  <a:spcPct val="0"/>
                </a:spcBef>
              </a:pPr>
              <a:t>53</a:t>
            </a:fld>
            <a:endParaRPr lang="en-GB" altLang="en-US"/>
          </a:p>
        </p:txBody>
      </p:sp>
      <p:sp>
        <p:nvSpPr>
          <p:cNvPr id="114691" name="Rectangle 2">
            <a:extLst>
              <a:ext uri="{FF2B5EF4-FFF2-40B4-BE49-F238E27FC236}">
                <a16:creationId xmlns:a16="http://schemas.microsoft.com/office/drawing/2014/main" id="{5B314A23-1B62-9BDD-C9AF-116E92A21147}"/>
              </a:ext>
            </a:extLst>
          </p:cNvPr>
          <p:cNvSpPr>
            <a:spLocks noRot="1" noChangeArrowheads="1" noTextEdit="1"/>
          </p:cNvSpPr>
          <p:nvPr>
            <p:ph type="sldImg"/>
          </p:nvPr>
        </p:nvSpPr>
        <p:spPr>
          <a:ln/>
        </p:spPr>
      </p:sp>
      <p:sp>
        <p:nvSpPr>
          <p:cNvPr id="114692" name="Rectangle 3">
            <a:extLst>
              <a:ext uri="{FF2B5EF4-FFF2-40B4-BE49-F238E27FC236}">
                <a16:creationId xmlns:a16="http://schemas.microsoft.com/office/drawing/2014/main" id="{F594DF50-A17B-7C26-FBFF-DD59B04B5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The MRX-enzyme complex is responsible for DNA processing event</a:t>
            </a:r>
          </a:p>
          <a:p>
            <a:pPr eaLnBrk="1" hangingPunct="1"/>
            <a:r>
              <a:rPr lang="en-US" altLang="en-US">
                <a:latin typeface="Arial" panose="020B0604020202020204" pitchFamily="34" charset="0"/>
                <a:cs typeface="Arial" panose="020B0604020202020204" pitchFamily="34" charset="0"/>
              </a:rPr>
              <a:t>This complex, although not homologous to RecBCD , is also a multisubunit DNA nuclease</a:t>
            </a:r>
          </a:p>
          <a:p>
            <a:pPr eaLnBrk="1" hangingPunct="1"/>
            <a:r>
              <a:rPr lang="en-US" altLang="en-US">
                <a:latin typeface="Arial" panose="020B0604020202020204" pitchFamily="34" charset="0"/>
                <a:cs typeface="Arial" panose="020B0604020202020204" pitchFamily="34" charset="0"/>
              </a:rPr>
              <a:t>The MRX-dependent  5' →3' resection generates the long ssDNA tails with 3’ ends that are often 1 kb or longer</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04C693BC-EE37-557C-982D-15BBEBD93E52}"/>
              </a:ext>
            </a:extLst>
          </p:cNvPr>
          <p:cNvSpPr>
            <a:spLocks noGrp="1" noRot="1" noChangeAspect="1" noTextEdit="1"/>
          </p:cNvSpPr>
          <p:nvPr>
            <p:ph type="sldImg"/>
          </p:nvPr>
        </p:nvSpPr>
        <p:spPr>
          <a:ln/>
        </p:spPr>
      </p:sp>
      <p:sp>
        <p:nvSpPr>
          <p:cNvPr id="116739" name="Notes Placeholder 2">
            <a:extLst>
              <a:ext uri="{FF2B5EF4-FFF2-40B4-BE49-F238E27FC236}">
                <a16:creationId xmlns:a16="http://schemas.microsoft.com/office/drawing/2014/main" id="{645FAD5C-B6D8-9971-4B66-6FFFB186A31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16740" name="Slide Number Placeholder 3">
            <a:extLst>
              <a:ext uri="{FF2B5EF4-FFF2-40B4-BE49-F238E27FC236}">
                <a16:creationId xmlns:a16="http://schemas.microsoft.com/office/drawing/2014/main" id="{50119AD4-989A-0856-FEDF-A0CECA1A04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B90E324-615A-B84C-9453-383D35A4283E}" type="slidenum">
              <a:rPr lang="en-GB" altLang="en-US"/>
              <a:pPr>
                <a:spcBef>
                  <a:spcPct val="0"/>
                </a:spcBef>
              </a:pPr>
              <a:t>54</a:t>
            </a:fld>
            <a:endParaRPr lang="en-GB"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2073AD05-6AF2-C334-669C-96EECD058FC7}"/>
              </a:ext>
            </a:extLst>
          </p:cNvPr>
          <p:cNvSpPr>
            <a:spLocks noGrp="1" noRot="1" noChangeAspect="1" noTextEdit="1"/>
          </p:cNvSpPr>
          <p:nvPr>
            <p:ph type="sldImg"/>
          </p:nvPr>
        </p:nvSpPr>
        <p:spPr>
          <a:ln/>
        </p:spPr>
      </p:sp>
      <p:sp>
        <p:nvSpPr>
          <p:cNvPr id="118787" name="Notes Placeholder 2">
            <a:extLst>
              <a:ext uri="{FF2B5EF4-FFF2-40B4-BE49-F238E27FC236}">
                <a16:creationId xmlns:a16="http://schemas.microsoft.com/office/drawing/2014/main" id="{27CBC8D4-3677-D71F-8DC6-41DFE43D1F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18788" name="Slide Number Placeholder 3">
            <a:extLst>
              <a:ext uri="{FF2B5EF4-FFF2-40B4-BE49-F238E27FC236}">
                <a16:creationId xmlns:a16="http://schemas.microsoft.com/office/drawing/2014/main" id="{BD775C25-7455-70BE-A85E-4B4A5971DC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A03077E-7749-4B4A-836A-AE228523A3BA}" type="slidenum">
              <a:rPr lang="en-GB" altLang="en-US"/>
              <a:pPr>
                <a:spcBef>
                  <a:spcPct val="0"/>
                </a:spcBef>
              </a:pPr>
              <a:t>55</a:t>
            </a:fld>
            <a:endParaRPr lang="en-GB"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D2A227AD-2F9D-E17C-B9A3-4187275BF7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27B0372-1C56-CB4A-AB2F-55584B935BEB}" type="slidenum">
              <a:rPr lang="en-GB" altLang="en-US"/>
              <a:pPr>
                <a:spcBef>
                  <a:spcPct val="0"/>
                </a:spcBef>
              </a:pPr>
              <a:t>56</a:t>
            </a:fld>
            <a:endParaRPr lang="en-GB" altLang="en-US"/>
          </a:p>
        </p:txBody>
      </p:sp>
      <p:sp>
        <p:nvSpPr>
          <p:cNvPr id="120835" name="Rectangle 2">
            <a:extLst>
              <a:ext uri="{FF2B5EF4-FFF2-40B4-BE49-F238E27FC236}">
                <a16:creationId xmlns:a16="http://schemas.microsoft.com/office/drawing/2014/main" id="{E8023BD0-B749-952E-712D-F138039AB8CF}"/>
              </a:ext>
            </a:extLst>
          </p:cNvPr>
          <p:cNvSpPr>
            <a:spLocks noRot="1" noChangeArrowheads="1" noTextEdit="1"/>
          </p:cNvSpPr>
          <p:nvPr>
            <p:ph type="sldImg"/>
          </p:nvPr>
        </p:nvSpPr>
        <p:spPr>
          <a:ln/>
        </p:spPr>
      </p:sp>
      <p:sp>
        <p:nvSpPr>
          <p:cNvPr id="120836" name="Rectangle 3">
            <a:extLst>
              <a:ext uri="{FF2B5EF4-FFF2-40B4-BE49-F238E27FC236}">
                <a16:creationId xmlns:a16="http://schemas.microsoft.com/office/drawing/2014/main" id="{9A9D6FE0-C69E-0981-1241-162ECF0991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ADE81507-8025-2049-7FE0-170D4B3F18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70561A5-D8D2-4847-8575-699B5A20A768}" type="slidenum">
              <a:rPr lang="en-GB" altLang="en-US"/>
              <a:pPr>
                <a:spcBef>
                  <a:spcPct val="0"/>
                </a:spcBef>
              </a:pPr>
              <a:t>57</a:t>
            </a:fld>
            <a:endParaRPr lang="en-GB" altLang="en-US"/>
          </a:p>
        </p:txBody>
      </p:sp>
      <p:sp>
        <p:nvSpPr>
          <p:cNvPr id="122883" name="Rectangle 2">
            <a:extLst>
              <a:ext uri="{FF2B5EF4-FFF2-40B4-BE49-F238E27FC236}">
                <a16:creationId xmlns:a16="http://schemas.microsoft.com/office/drawing/2014/main" id="{87596554-9623-33F2-3FBC-7FDD1B1BF427}"/>
              </a:ext>
            </a:extLst>
          </p:cNvPr>
          <p:cNvSpPr>
            <a:spLocks noRot="1" noChangeArrowheads="1" noTextEdit="1"/>
          </p:cNvSpPr>
          <p:nvPr>
            <p:ph type="sldImg"/>
          </p:nvPr>
        </p:nvSpPr>
        <p:spPr>
          <a:ln/>
        </p:spPr>
      </p:sp>
      <p:sp>
        <p:nvSpPr>
          <p:cNvPr id="122884" name="Rectangle 3">
            <a:extLst>
              <a:ext uri="{FF2B5EF4-FFF2-40B4-BE49-F238E27FC236}">
                <a16:creationId xmlns:a16="http://schemas.microsoft.com/office/drawing/2014/main" id="{19856894-BF4E-1AA1-ABA2-44E02F9234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HR can serve to change the DNA sequence at a specific chromosomal location</a:t>
            </a:r>
          </a:p>
          <a:p>
            <a:pPr eaLnBrk="1" hangingPunct="1"/>
            <a:r>
              <a:rPr lang="en-US" altLang="en-US">
                <a:latin typeface="Arial" panose="020B0604020202020204" pitchFamily="34" charset="0"/>
                <a:cs typeface="Arial" panose="020B0604020202020204" pitchFamily="34" charset="0"/>
              </a:rPr>
              <a:t>Used sometimes to regulated gene expression</a:t>
            </a: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F61F1387-7DE1-55CA-7FA4-5AFB4F8278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9E817D7-7754-0F44-BDD1-F3679BBD83F2}" type="slidenum">
              <a:rPr lang="en-GB" altLang="en-US"/>
              <a:pPr>
                <a:spcBef>
                  <a:spcPct val="0"/>
                </a:spcBef>
              </a:pPr>
              <a:t>58</a:t>
            </a:fld>
            <a:endParaRPr lang="en-GB" altLang="en-US"/>
          </a:p>
        </p:txBody>
      </p:sp>
      <p:sp>
        <p:nvSpPr>
          <p:cNvPr id="124931" name="Rectangle 2">
            <a:extLst>
              <a:ext uri="{FF2B5EF4-FFF2-40B4-BE49-F238E27FC236}">
                <a16:creationId xmlns:a16="http://schemas.microsoft.com/office/drawing/2014/main" id="{06F66A71-EFC3-6799-E84F-EF42CD82B53C}"/>
              </a:ext>
            </a:extLst>
          </p:cNvPr>
          <p:cNvSpPr>
            <a:spLocks noRot="1" noChangeArrowheads="1" noTextEdit="1"/>
          </p:cNvSpPr>
          <p:nvPr>
            <p:ph type="sldImg"/>
          </p:nvPr>
        </p:nvSpPr>
        <p:spPr>
          <a:ln/>
        </p:spPr>
      </p:sp>
      <p:sp>
        <p:nvSpPr>
          <p:cNvPr id="124932" name="Rectangle 3">
            <a:extLst>
              <a:ext uri="{FF2B5EF4-FFF2-40B4-BE49-F238E27FC236}">
                <a16:creationId xmlns:a16="http://schemas.microsoft.com/office/drawing/2014/main" id="{A6225212-26F0-41A8-CD20-ADB6729506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Mating type switching takes place between two sister chromatids (after replication) in the mother cells, the aim is that only haploid cells with different type can mate (a and alpha) so mother cell need to switch its type so that it can mate with its bud if needed</a:t>
            </a:r>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B0274F73-9FED-3672-4254-EA2F9135BF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81CEFF-DB15-0044-A997-BA41E44AB80A}" type="slidenum">
              <a:rPr lang="en-GB" altLang="en-US"/>
              <a:pPr>
                <a:spcBef>
                  <a:spcPct val="0"/>
                </a:spcBef>
              </a:pPr>
              <a:t>59</a:t>
            </a:fld>
            <a:endParaRPr lang="en-GB" altLang="en-US"/>
          </a:p>
        </p:txBody>
      </p:sp>
      <p:sp>
        <p:nvSpPr>
          <p:cNvPr id="126979" name="Rectangle 2">
            <a:extLst>
              <a:ext uri="{FF2B5EF4-FFF2-40B4-BE49-F238E27FC236}">
                <a16:creationId xmlns:a16="http://schemas.microsoft.com/office/drawing/2014/main" id="{78026A35-1B0A-2EA4-8B78-1E56068E5644}"/>
              </a:ext>
            </a:extLst>
          </p:cNvPr>
          <p:cNvSpPr>
            <a:spLocks noRot="1" noChangeArrowheads="1" noTextEdit="1"/>
          </p:cNvSpPr>
          <p:nvPr>
            <p:ph type="sldImg"/>
          </p:nvPr>
        </p:nvSpPr>
        <p:spPr>
          <a:ln/>
        </p:spPr>
      </p:sp>
      <p:sp>
        <p:nvSpPr>
          <p:cNvPr id="126980" name="Rectangle 3">
            <a:extLst>
              <a:ext uri="{FF2B5EF4-FFF2-40B4-BE49-F238E27FC236}">
                <a16:creationId xmlns:a16="http://schemas.microsoft.com/office/drawing/2014/main" id="{42964539-AAB5-E7BC-90A2-917619CB0F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A1 turn on different genes (50 genes) and alpha 1 and 2 activate and suppress different group of genes so that each cell type have different phenotype based on the genes that are turned on or off</a:t>
            </a:r>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C1624DF9-38BC-00BF-3770-D0727055C4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24D3E58-D258-1541-B0CC-94C98575F920}" type="slidenum">
              <a:rPr lang="en-GB" altLang="en-US"/>
              <a:pPr>
                <a:spcBef>
                  <a:spcPct val="0"/>
                </a:spcBef>
              </a:pPr>
              <a:t>60</a:t>
            </a:fld>
            <a:endParaRPr lang="en-GB" altLang="en-US"/>
          </a:p>
        </p:txBody>
      </p:sp>
      <p:sp>
        <p:nvSpPr>
          <p:cNvPr id="129027" name="Rectangle 2">
            <a:extLst>
              <a:ext uri="{FF2B5EF4-FFF2-40B4-BE49-F238E27FC236}">
                <a16:creationId xmlns:a16="http://schemas.microsoft.com/office/drawing/2014/main" id="{ABD931B0-41AF-6829-4071-B1377455CC16}"/>
              </a:ext>
            </a:extLst>
          </p:cNvPr>
          <p:cNvSpPr>
            <a:spLocks noRot="1" noChangeArrowheads="1" noTextEdit="1"/>
          </p:cNvSpPr>
          <p:nvPr>
            <p:ph type="sldImg"/>
          </p:nvPr>
        </p:nvSpPr>
        <p:spPr>
          <a:ln/>
        </p:spPr>
      </p:sp>
      <p:sp>
        <p:nvSpPr>
          <p:cNvPr id="129028" name="Rectangle 3">
            <a:extLst>
              <a:ext uri="{FF2B5EF4-FFF2-40B4-BE49-F238E27FC236}">
                <a16:creationId xmlns:a16="http://schemas.microsoft.com/office/drawing/2014/main" id="{E3BEE577-CDB3-E14D-F7E2-D60A46796D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The switch requires the transfer of genetic information from the HM sites to the MAT locus via homologous recombination</a:t>
            </a:r>
          </a:p>
          <a:p>
            <a:pPr eaLnBrk="1" hangingPunct="1"/>
            <a:r>
              <a:rPr lang="en-US" altLang="en-US">
                <a:latin typeface="Arial" panose="020B0604020202020204" pitchFamily="34" charset="0"/>
                <a:cs typeface="Arial" panose="020B0604020202020204" pitchFamily="34" charset="0"/>
              </a:rPr>
              <a:t>Once the long 3’ ssDNA tails have been generated, this DNA becomes coated by the Rad51 and Rad52 proteins</a:t>
            </a: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BBA90FF3-91A4-AF2B-B9A5-C8B912D542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12DBF3A-27F7-A148-A321-AAA26681A27A}" type="slidenum">
              <a:rPr lang="en-GB" altLang="en-US"/>
              <a:pPr>
                <a:spcBef>
                  <a:spcPct val="0"/>
                </a:spcBef>
              </a:pPr>
              <a:t>61</a:t>
            </a:fld>
            <a:endParaRPr lang="en-GB" altLang="en-US"/>
          </a:p>
        </p:txBody>
      </p:sp>
      <p:sp>
        <p:nvSpPr>
          <p:cNvPr id="131075" name="Rectangle 2">
            <a:extLst>
              <a:ext uri="{FF2B5EF4-FFF2-40B4-BE49-F238E27FC236}">
                <a16:creationId xmlns:a16="http://schemas.microsoft.com/office/drawing/2014/main" id="{F781AA26-F8A2-C7AB-C5F8-415EA6ADB024}"/>
              </a:ext>
            </a:extLst>
          </p:cNvPr>
          <p:cNvSpPr>
            <a:spLocks noRot="1" noChangeArrowheads="1" noTextEdit="1"/>
          </p:cNvSpPr>
          <p:nvPr>
            <p:ph type="sldImg"/>
          </p:nvPr>
        </p:nvSpPr>
        <p:spPr>
          <a:ln/>
        </p:spPr>
      </p:sp>
      <p:sp>
        <p:nvSpPr>
          <p:cNvPr id="131076" name="Rectangle 3">
            <a:extLst>
              <a:ext uri="{FF2B5EF4-FFF2-40B4-BE49-F238E27FC236}">
                <a16:creationId xmlns:a16="http://schemas.microsoft.com/office/drawing/2014/main" id="{F5506A73-60FC-D3DA-A571-738E5A9C2E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Mating-type switching is unidirectional i.e. sequence information is moved to the MAT locus from HMR and HML but information never goes in the other direction (HO endonuclease cannot cleave its recognition sequence at either HML or HMR.</a:t>
            </a: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4A035C5F-E338-F291-EC0B-709E4711F6D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F1CB4DBE-74D0-8E45-A85F-39622E099152}" type="slidenum">
              <a:rPr lang="en-US" altLang="en-US">
                <a:latin typeface="Times" pitchFamily="-32" charset="0"/>
                <a:ea typeface="ＭＳ Ｐゴシック" panose="020B0600070205080204" pitchFamily="34" charset="-128"/>
              </a:rPr>
              <a:pPr algn="r" eaLnBrk="1" hangingPunct="1">
                <a:spcBef>
                  <a:spcPct val="0"/>
                </a:spcBef>
              </a:pPr>
              <a:t>62</a:t>
            </a:fld>
            <a:endParaRPr lang="en-US" altLang="en-US">
              <a:latin typeface="Times" pitchFamily="-32" charset="0"/>
              <a:ea typeface="ＭＳ Ｐゴシック" panose="020B0600070205080204" pitchFamily="34" charset="-128"/>
            </a:endParaRPr>
          </a:p>
        </p:txBody>
      </p:sp>
      <p:sp>
        <p:nvSpPr>
          <p:cNvPr id="133123" name="Rectangle 2">
            <a:extLst>
              <a:ext uri="{FF2B5EF4-FFF2-40B4-BE49-F238E27FC236}">
                <a16:creationId xmlns:a16="http://schemas.microsoft.com/office/drawing/2014/main" id="{E1588703-7123-ECCD-00AD-7CDF21FA5593}"/>
              </a:ext>
            </a:extLst>
          </p:cNvPr>
          <p:cNvSpPr>
            <a:spLocks noChangeArrowheads="1" noTextEdit="1"/>
          </p:cNvSpPr>
          <p:nvPr>
            <p:ph type="sldImg"/>
          </p:nvPr>
        </p:nvSpPr>
        <p:spPr>
          <a:ln/>
        </p:spPr>
      </p:sp>
      <p:sp>
        <p:nvSpPr>
          <p:cNvPr id="133124" name="Rectangle 3">
            <a:extLst>
              <a:ext uri="{FF2B5EF4-FFF2-40B4-BE49-F238E27FC236}">
                <a16:creationId xmlns:a16="http://schemas.microsoft.com/office/drawing/2014/main" id="{1D9C5FC0-B39E-C079-E022-3BEA409741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11-27</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F6B96ADC-8806-7A19-8665-20AD2BA427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BE16C7B-6E5A-A648-AF15-01A1408EC99E}" type="slidenum">
              <a:rPr lang="en-GB" altLang="en-US"/>
              <a:pPr>
                <a:spcBef>
                  <a:spcPct val="0"/>
                </a:spcBef>
              </a:pPr>
              <a:t>63</a:t>
            </a:fld>
            <a:endParaRPr lang="en-GB" altLang="en-US"/>
          </a:p>
        </p:txBody>
      </p:sp>
      <p:sp>
        <p:nvSpPr>
          <p:cNvPr id="135171" name="Rectangle 2">
            <a:extLst>
              <a:ext uri="{FF2B5EF4-FFF2-40B4-BE49-F238E27FC236}">
                <a16:creationId xmlns:a16="http://schemas.microsoft.com/office/drawing/2014/main" id="{B559C9CA-D040-7831-241A-282DE64B5701}"/>
              </a:ext>
            </a:extLst>
          </p:cNvPr>
          <p:cNvSpPr>
            <a:spLocks noRot="1" noChangeArrowheads="1" noTextEdit="1"/>
          </p:cNvSpPr>
          <p:nvPr>
            <p:ph type="sldImg"/>
          </p:nvPr>
        </p:nvSpPr>
        <p:spPr>
          <a:ln/>
        </p:spPr>
      </p:sp>
      <p:sp>
        <p:nvSpPr>
          <p:cNvPr id="135172" name="Rectangle 3">
            <a:extLst>
              <a:ext uri="{FF2B5EF4-FFF2-40B4-BE49-F238E27FC236}">
                <a16:creationId xmlns:a16="http://schemas.microsoft.com/office/drawing/2014/main" id="{0A5E64FB-2153-926C-D89F-84511D0AC7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9AC58146-F6AE-0BC1-57B1-E6305A17CC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37D5190-C168-C14E-940F-3805DCA5B63A}" type="slidenum">
              <a:rPr lang="en-GB" altLang="en-US"/>
              <a:pPr>
                <a:spcBef>
                  <a:spcPct val="0"/>
                </a:spcBef>
              </a:pPr>
              <a:t>64</a:t>
            </a:fld>
            <a:endParaRPr lang="en-GB" altLang="en-US"/>
          </a:p>
        </p:txBody>
      </p:sp>
      <p:sp>
        <p:nvSpPr>
          <p:cNvPr id="137219" name="Rectangle 2">
            <a:extLst>
              <a:ext uri="{FF2B5EF4-FFF2-40B4-BE49-F238E27FC236}">
                <a16:creationId xmlns:a16="http://schemas.microsoft.com/office/drawing/2014/main" id="{6AFABAE8-9850-5CED-E346-C0D373D009E2}"/>
              </a:ext>
            </a:extLst>
          </p:cNvPr>
          <p:cNvSpPr>
            <a:spLocks noRot="1" noChangeArrowheads="1" noTextEdit="1"/>
          </p:cNvSpPr>
          <p:nvPr>
            <p:ph type="sldImg"/>
          </p:nvPr>
        </p:nvSpPr>
        <p:spPr>
          <a:ln/>
        </p:spPr>
      </p:sp>
      <p:sp>
        <p:nvSpPr>
          <p:cNvPr id="137220" name="Rectangle 3">
            <a:extLst>
              <a:ext uri="{FF2B5EF4-FFF2-40B4-BE49-F238E27FC236}">
                <a16:creationId xmlns:a16="http://schemas.microsoft.com/office/drawing/2014/main" id="{68BBEAA0-C7EB-4FC4-0F9F-9547D0DA67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D3513427-6516-595F-EF70-F8C9709BB8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1C45944-BC8A-E74D-B58C-935ACB21FC86}" type="slidenum">
              <a:rPr lang="en-GB" altLang="en-US"/>
              <a:pPr>
                <a:spcBef>
                  <a:spcPct val="0"/>
                </a:spcBef>
              </a:pPr>
              <a:t>65</a:t>
            </a:fld>
            <a:endParaRPr lang="en-GB" altLang="en-US"/>
          </a:p>
        </p:txBody>
      </p:sp>
      <p:sp>
        <p:nvSpPr>
          <p:cNvPr id="139267" name="Rectangle 2">
            <a:extLst>
              <a:ext uri="{FF2B5EF4-FFF2-40B4-BE49-F238E27FC236}">
                <a16:creationId xmlns:a16="http://schemas.microsoft.com/office/drawing/2014/main" id="{CAB30026-9FF5-4F2A-6441-D45A3874F3FE}"/>
              </a:ext>
            </a:extLst>
          </p:cNvPr>
          <p:cNvSpPr>
            <a:spLocks noRot="1" noChangeArrowheads="1" noTextEdit="1"/>
          </p:cNvSpPr>
          <p:nvPr>
            <p:ph type="sldImg"/>
          </p:nvPr>
        </p:nvSpPr>
        <p:spPr>
          <a:ln/>
        </p:spPr>
      </p:sp>
      <p:sp>
        <p:nvSpPr>
          <p:cNvPr id="139268" name="Rectangle 3">
            <a:extLst>
              <a:ext uri="{FF2B5EF4-FFF2-40B4-BE49-F238E27FC236}">
                <a16:creationId xmlns:a16="http://schemas.microsoft.com/office/drawing/2014/main" id="{4941C7E0-BB6D-A16B-2781-3A2F902DCE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21B49F2-6D3A-4228-E9CD-51559E3104B4}"/>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40393005-5BE6-B228-B0E1-36B99AC1AF4A}"/>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D0B421C5-94D9-4158-3173-E586F59333E0}"/>
              </a:ext>
            </a:extLst>
          </p:cNvPr>
          <p:cNvSpPr>
            <a:spLocks noGrp="1"/>
          </p:cNvSpPr>
          <p:nvPr>
            <p:ph type="sldNum" sz="quarter" idx="12"/>
          </p:nvPr>
        </p:nvSpPr>
        <p:spPr/>
        <p:txBody>
          <a:bodyPr/>
          <a:lstStyle>
            <a:lvl1pPr>
              <a:defRPr/>
            </a:lvl1pPr>
          </a:lstStyle>
          <a:p>
            <a:fld id="{A3A10A3E-AE24-5D40-B406-E88CFC998CDD}" type="slidenum">
              <a:rPr lang="en-GB" altLang="en-US"/>
              <a:pPr/>
              <a:t>‹#›</a:t>
            </a:fld>
            <a:endParaRPr lang="en-GB" altLang="en-US"/>
          </a:p>
        </p:txBody>
      </p:sp>
    </p:spTree>
    <p:extLst>
      <p:ext uri="{BB962C8B-B14F-4D97-AF65-F5344CB8AC3E}">
        <p14:creationId xmlns:p14="http://schemas.microsoft.com/office/powerpoint/2010/main" val="735829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B4415-65FB-1481-B6F0-E8FD6098D7F8}"/>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9A3B5AD0-DA9C-90F9-3207-B7209294C297}"/>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BCBA9611-33F1-EFA2-E8A1-89F25A98F75B}"/>
              </a:ext>
            </a:extLst>
          </p:cNvPr>
          <p:cNvSpPr>
            <a:spLocks noGrp="1"/>
          </p:cNvSpPr>
          <p:nvPr>
            <p:ph type="sldNum" sz="quarter" idx="12"/>
          </p:nvPr>
        </p:nvSpPr>
        <p:spPr/>
        <p:txBody>
          <a:bodyPr/>
          <a:lstStyle>
            <a:lvl1pPr>
              <a:defRPr/>
            </a:lvl1pPr>
          </a:lstStyle>
          <a:p>
            <a:fld id="{43251DC9-E491-A047-BACF-14405D13D5D9}" type="slidenum">
              <a:rPr lang="en-GB" altLang="en-US"/>
              <a:pPr/>
              <a:t>‹#›</a:t>
            </a:fld>
            <a:endParaRPr lang="en-GB" altLang="en-US"/>
          </a:p>
        </p:txBody>
      </p:sp>
    </p:spTree>
    <p:extLst>
      <p:ext uri="{BB962C8B-B14F-4D97-AF65-F5344CB8AC3E}">
        <p14:creationId xmlns:p14="http://schemas.microsoft.com/office/powerpoint/2010/main" val="1571655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1CCD15-4AA6-2731-3139-2BD0B3DFA560}"/>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184640F7-5493-1F75-7127-9451848A703A}"/>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F6AE688D-4435-67B6-7387-20C8A5423CA8}"/>
              </a:ext>
            </a:extLst>
          </p:cNvPr>
          <p:cNvSpPr>
            <a:spLocks noGrp="1"/>
          </p:cNvSpPr>
          <p:nvPr>
            <p:ph type="sldNum" sz="quarter" idx="12"/>
          </p:nvPr>
        </p:nvSpPr>
        <p:spPr/>
        <p:txBody>
          <a:bodyPr/>
          <a:lstStyle>
            <a:lvl1pPr>
              <a:defRPr/>
            </a:lvl1pPr>
          </a:lstStyle>
          <a:p>
            <a:fld id="{7134C244-33A5-5344-B002-31A5ECB62B6E}" type="slidenum">
              <a:rPr lang="en-GB" altLang="en-US"/>
              <a:pPr/>
              <a:t>‹#›</a:t>
            </a:fld>
            <a:endParaRPr lang="en-GB" altLang="en-US"/>
          </a:p>
        </p:txBody>
      </p:sp>
    </p:spTree>
    <p:extLst>
      <p:ext uri="{BB962C8B-B14F-4D97-AF65-F5344CB8AC3E}">
        <p14:creationId xmlns:p14="http://schemas.microsoft.com/office/powerpoint/2010/main" val="362224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F697B39-8053-6C80-856B-3D3341DC3EFF}"/>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450AEEE8-ED5E-5BFD-F08F-CBD1171116C7}"/>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3189AA29-9A02-7062-F04D-B1DF898EA9C8}"/>
              </a:ext>
            </a:extLst>
          </p:cNvPr>
          <p:cNvSpPr>
            <a:spLocks noGrp="1"/>
          </p:cNvSpPr>
          <p:nvPr>
            <p:ph type="sldNum" sz="quarter" idx="12"/>
          </p:nvPr>
        </p:nvSpPr>
        <p:spPr/>
        <p:txBody>
          <a:bodyPr/>
          <a:lstStyle>
            <a:lvl1pPr>
              <a:defRPr/>
            </a:lvl1pPr>
          </a:lstStyle>
          <a:p>
            <a:fld id="{A1C3233D-5217-6545-B5B0-3625786DE497}" type="slidenum">
              <a:rPr lang="en-GB" altLang="en-US"/>
              <a:pPr/>
              <a:t>‹#›</a:t>
            </a:fld>
            <a:endParaRPr lang="en-GB" altLang="en-US"/>
          </a:p>
        </p:txBody>
      </p:sp>
    </p:spTree>
    <p:extLst>
      <p:ext uri="{BB962C8B-B14F-4D97-AF65-F5344CB8AC3E}">
        <p14:creationId xmlns:p14="http://schemas.microsoft.com/office/powerpoint/2010/main" val="2869449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D100897-AE6D-20C8-134D-2CE098D2047B}"/>
              </a:ext>
            </a:extLst>
          </p:cNvPr>
          <p:cNvSpPr>
            <a:spLocks noGrp="1"/>
          </p:cNvSpPr>
          <p:nvPr>
            <p:ph type="dt" sz="half" idx="10"/>
          </p:nvPr>
        </p:nvSpPr>
        <p:spPr/>
        <p:txBody>
          <a:bodyPr/>
          <a:lstStyle>
            <a:lvl1pPr>
              <a:defRPr/>
            </a:lvl1pPr>
          </a:lstStyle>
          <a:p>
            <a:pPr>
              <a:defRPr/>
            </a:pPr>
            <a:endParaRPr lang="en-GB"/>
          </a:p>
        </p:txBody>
      </p:sp>
      <p:sp>
        <p:nvSpPr>
          <p:cNvPr id="8" name="Footer Placeholder 4">
            <a:extLst>
              <a:ext uri="{FF2B5EF4-FFF2-40B4-BE49-F238E27FC236}">
                <a16:creationId xmlns:a16="http://schemas.microsoft.com/office/drawing/2014/main" id="{6C358B49-F439-0A38-B2CA-5CC601BB0CEC}"/>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02338B16-44D2-8802-D5B6-0A8470793E67}"/>
              </a:ext>
            </a:extLst>
          </p:cNvPr>
          <p:cNvSpPr>
            <a:spLocks noGrp="1"/>
          </p:cNvSpPr>
          <p:nvPr>
            <p:ph type="sldNum" sz="quarter" idx="12"/>
          </p:nvPr>
        </p:nvSpPr>
        <p:spPr/>
        <p:txBody>
          <a:bodyPr/>
          <a:lstStyle>
            <a:lvl1pPr>
              <a:defRPr/>
            </a:lvl1pPr>
          </a:lstStyle>
          <a:p>
            <a:fld id="{F5A8FB63-BE22-D047-A0F9-3247392DA2D8}" type="slidenum">
              <a:rPr lang="en-GB" altLang="en-US"/>
              <a:pPr/>
              <a:t>‹#›</a:t>
            </a:fld>
            <a:endParaRPr lang="en-GB" altLang="en-US"/>
          </a:p>
        </p:txBody>
      </p:sp>
    </p:spTree>
    <p:extLst>
      <p:ext uri="{BB962C8B-B14F-4D97-AF65-F5344CB8AC3E}">
        <p14:creationId xmlns:p14="http://schemas.microsoft.com/office/powerpoint/2010/main" val="3891402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0CF948E-F712-7829-FA34-20ADEB7EECD1}"/>
              </a:ext>
            </a:extLst>
          </p:cNvPr>
          <p:cNvSpPr>
            <a:spLocks noGrp="1"/>
          </p:cNvSpPr>
          <p:nvPr>
            <p:ph type="dt" sz="half" idx="10"/>
          </p:nvPr>
        </p:nvSpPr>
        <p:spPr/>
        <p:txBody>
          <a:bodyPr/>
          <a:lstStyle>
            <a:lvl1pPr>
              <a:defRPr/>
            </a:lvl1pPr>
          </a:lstStyle>
          <a:p>
            <a:pPr>
              <a:defRPr/>
            </a:pPr>
            <a:endParaRPr lang="en-GB"/>
          </a:p>
        </p:txBody>
      </p:sp>
      <p:sp>
        <p:nvSpPr>
          <p:cNvPr id="4" name="Footer Placeholder 4">
            <a:extLst>
              <a:ext uri="{FF2B5EF4-FFF2-40B4-BE49-F238E27FC236}">
                <a16:creationId xmlns:a16="http://schemas.microsoft.com/office/drawing/2014/main" id="{2725F91F-941E-5F62-ACCD-5CBE01339A43}"/>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DFCA2237-EC81-2E03-1C6A-C2C272953C63}"/>
              </a:ext>
            </a:extLst>
          </p:cNvPr>
          <p:cNvSpPr>
            <a:spLocks noGrp="1"/>
          </p:cNvSpPr>
          <p:nvPr>
            <p:ph type="sldNum" sz="quarter" idx="12"/>
          </p:nvPr>
        </p:nvSpPr>
        <p:spPr/>
        <p:txBody>
          <a:bodyPr/>
          <a:lstStyle>
            <a:lvl1pPr>
              <a:defRPr/>
            </a:lvl1pPr>
          </a:lstStyle>
          <a:p>
            <a:fld id="{6393B9A8-A1E4-4D49-8CF1-58C6153F327D}" type="slidenum">
              <a:rPr lang="en-GB" altLang="en-US"/>
              <a:pPr/>
              <a:t>‹#›</a:t>
            </a:fld>
            <a:endParaRPr lang="en-GB" altLang="en-US"/>
          </a:p>
        </p:txBody>
      </p:sp>
    </p:spTree>
    <p:extLst>
      <p:ext uri="{BB962C8B-B14F-4D97-AF65-F5344CB8AC3E}">
        <p14:creationId xmlns:p14="http://schemas.microsoft.com/office/powerpoint/2010/main" val="3286313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20C9D06-D637-F391-7802-FC0822C55F10}"/>
              </a:ext>
            </a:extLst>
          </p:cNvPr>
          <p:cNvSpPr>
            <a:spLocks noGrp="1"/>
          </p:cNvSpPr>
          <p:nvPr>
            <p:ph type="dt" sz="half" idx="10"/>
          </p:nvPr>
        </p:nvSpPr>
        <p:spPr/>
        <p:txBody>
          <a:bodyPr/>
          <a:lstStyle>
            <a:lvl1pPr>
              <a:defRPr/>
            </a:lvl1pPr>
          </a:lstStyle>
          <a:p>
            <a:pPr>
              <a:defRPr/>
            </a:pPr>
            <a:endParaRPr lang="en-GB"/>
          </a:p>
        </p:txBody>
      </p:sp>
      <p:sp>
        <p:nvSpPr>
          <p:cNvPr id="3" name="Footer Placeholder 4">
            <a:extLst>
              <a:ext uri="{FF2B5EF4-FFF2-40B4-BE49-F238E27FC236}">
                <a16:creationId xmlns:a16="http://schemas.microsoft.com/office/drawing/2014/main" id="{E9CFC2FD-3978-24A5-53BE-0DF36320E8CE}"/>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B7471C98-A212-7842-B04C-29404B0B3F47}"/>
              </a:ext>
            </a:extLst>
          </p:cNvPr>
          <p:cNvSpPr>
            <a:spLocks noGrp="1"/>
          </p:cNvSpPr>
          <p:nvPr>
            <p:ph type="sldNum" sz="quarter" idx="12"/>
          </p:nvPr>
        </p:nvSpPr>
        <p:spPr/>
        <p:txBody>
          <a:bodyPr/>
          <a:lstStyle>
            <a:lvl1pPr>
              <a:defRPr/>
            </a:lvl1pPr>
          </a:lstStyle>
          <a:p>
            <a:fld id="{DAE77DC7-360F-344D-8A99-5DFF79574DD4}" type="slidenum">
              <a:rPr lang="en-GB" altLang="en-US"/>
              <a:pPr/>
              <a:t>‹#›</a:t>
            </a:fld>
            <a:endParaRPr lang="en-GB" altLang="en-US"/>
          </a:p>
        </p:txBody>
      </p:sp>
    </p:spTree>
    <p:extLst>
      <p:ext uri="{BB962C8B-B14F-4D97-AF65-F5344CB8AC3E}">
        <p14:creationId xmlns:p14="http://schemas.microsoft.com/office/powerpoint/2010/main" val="2265418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CE352335-80E2-EA15-6924-B66DF783DF9D}"/>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FCC6BE7F-B7F7-6511-6D25-E4AC93681EE3}"/>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E99BE6EA-E327-2BB9-033B-771E718B6ED1}"/>
              </a:ext>
            </a:extLst>
          </p:cNvPr>
          <p:cNvSpPr>
            <a:spLocks noGrp="1"/>
          </p:cNvSpPr>
          <p:nvPr>
            <p:ph type="sldNum" sz="quarter" idx="12"/>
          </p:nvPr>
        </p:nvSpPr>
        <p:spPr/>
        <p:txBody>
          <a:bodyPr/>
          <a:lstStyle>
            <a:lvl1pPr>
              <a:defRPr/>
            </a:lvl1pPr>
          </a:lstStyle>
          <a:p>
            <a:fld id="{AFFF3DC9-5387-5543-9DA2-7F5B62D307BC}" type="slidenum">
              <a:rPr lang="en-GB" altLang="en-US"/>
              <a:pPr/>
              <a:t>‹#›</a:t>
            </a:fld>
            <a:endParaRPr lang="en-GB" altLang="en-US"/>
          </a:p>
        </p:txBody>
      </p:sp>
    </p:spTree>
    <p:extLst>
      <p:ext uri="{BB962C8B-B14F-4D97-AF65-F5344CB8AC3E}">
        <p14:creationId xmlns:p14="http://schemas.microsoft.com/office/powerpoint/2010/main" val="617711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769F38B-ED89-20C3-25AB-3A7535494AFB}"/>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91254C14-1F7B-DDF9-29D0-33D2ABC382FE}"/>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D55B5037-EDAB-4B21-FA15-6FD767710E6F}"/>
              </a:ext>
            </a:extLst>
          </p:cNvPr>
          <p:cNvSpPr>
            <a:spLocks noGrp="1"/>
          </p:cNvSpPr>
          <p:nvPr>
            <p:ph type="sldNum" sz="quarter" idx="12"/>
          </p:nvPr>
        </p:nvSpPr>
        <p:spPr/>
        <p:txBody>
          <a:bodyPr/>
          <a:lstStyle>
            <a:lvl1pPr>
              <a:defRPr/>
            </a:lvl1pPr>
          </a:lstStyle>
          <a:p>
            <a:fld id="{769CA8ED-0A65-D746-A8C6-E779A1621783}" type="slidenum">
              <a:rPr lang="en-GB" altLang="en-US"/>
              <a:pPr/>
              <a:t>‹#›</a:t>
            </a:fld>
            <a:endParaRPr lang="en-GB" altLang="en-US"/>
          </a:p>
        </p:txBody>
      </p:sp>
    </p:spTree>
    <p:extLst>
      <p:ext uri="{BB962C8B-B14F-4D97-AF65-F5344CB8AC3E}">
        <p14:creationId xmlns:p14="http://schemas.microsoft.com/office/powerpoint/2010/main" val="1333048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7036D4-8338-3C26-6319-88C2D46E4AE3}"/>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52D95442-23C1-2EC5-CB04-E5010502AF71}"/>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F8DC93CA-6C85-C32D-AEC1-1599B9273002}"/>
              </a:ext>
            </a:extLst>
          </p:cNvPr>
          <p:cNvSpPr>
            <a:spLocks noGrp="1"/>
          </p:cNvSpPr>
          <p:nvPr>
            <p:ph type="sldNum" sz="quarter" idx="12"/>
          </p:nvPr>
        </p:nvSpPr>
        <p:spPr/>
        <p:txBody>
          <a:bodyPr/>
          <a:lstStyle>
            <a:lvl1pPr>
              <a:defRPr/>
            </a:lvl1pPr>
          </a:lstStyle>
          <a:p>
            <a:fld id="{13134D5C-9054-3A43-990A-B3C7365C6ED7}" type="slidenum">
              <a:rPr lang="en-GB" altLang="en-US"/>
              <a:pPr/>
              <a:t>‹#›</a:t>
            </a:fld>
            <a:endParaRPr lang="en-GB" altLang="en-US"/>
          </a:p>
        </p:txBody>
      </p:sp>
    </p:spTree>
    <p:extLst>
      <p:ext uri="{BB962C8B-B14F-4D97-AF65-F5344CB8AC3E}">
        <p14:creationId xmlns:p14="http://schemas.microsoft.com/office/powerpoint/2010/main" val="394253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71F9F-D05C-4922-DF8C-7B0BE14D907C}"/>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02916225-6E4A-0197-2BFC-6E0F5CFEBB1D}"/>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A2C12B58-7039-A762-7BF4-3F6B2C97353A}"/>
              </a:ext>
            </a:extLst>
          </p:cNvPr>
          <p:cNvSpPr>
            <a:spLocks noGrp="1"/>
          </p:cNvSpPr>
          <p:nvPr>
            <p:ph type="sldNum" sz="quarter" idx="12"/>
          </p:nvPr>
        </p:nvSpPr>
        <p:spPr/>
        <p:txBody>
          <a:bodyPr/>
          <a:lstStyle>
            <a:lvl1pPr>
              <a:defRPr/>
            </a:lvl1pPr>
          </a:lstStyle>
          <a:p>
            <a:fld id="{D02660A1-23A8-8E4D-95E9-B7A5ECBF2304}" type="slidenum">
              <a:rPr lang="en-GB" altLang="en-US"/>
              <a:pPr/>
              <a:t>‹#›</a:t>
            </a:fld>
            <a:endParaRPr lang="en-GB" altLang="en-US"/>
          </a:p>
        </p:txBody>
      </p:sp>
    </p:spTree>
    <p:extLst>
      <p:ext uri="{BB962C8B-B14F-4D97-AF65-F5344CB8AC3E}">
        <p14:creationId xmlns:p14="http://schemas.microsoft.com/office/powerpoint/2010/main" val="4191594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326A25-0ECD-CC14-F275-04AB11807E1F}"/>
              </a:ext>
            </a:extLst>
          </p:cNvPr>
          <p:cNvSpPr>
            <a:spLocks noGrp="1"/>
          </p:cNvSpPr>
          <p:nvPr>
            <p:ph type="dt" sz="half" idx="10"/>
          </p:nvPr>
        </p:nvSpPr>
        <p:spPr>
          <a:xfrm>
            <a:off x="457200" y="6251575"/>
            <a:ext cx="2133600" cy="476250"/>
          </a:xfrm>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10F701D6-95CA-33DD-5C71-2324C39705D5}"/>
              </a:ext>
            </a:extLst>
          </p:cNvPr>
          <p:cNvSpPr>
            <a:spLocks noGrp="1"/>
          </p:cNvSpPr>
          <p:nvPr>
            <p:ph type="sldNum" sz="quarter" idx="11"/>
          </p:nvPr>
        </p:nvSpPr>
        <p:spPr>
          <a:xfrm>
            <a:off x="6553200" y="6248400"/>
            <a:ext cx="2133600" cy="476250"/>
          </a:xfrm>
        </p:spPr>
        <p:txBody>
          <a:bodyPr/>
          <a:lstStyle>
            <a:lvl1pPr>
              <a:defRPr/>
            </a:lvl1pPr>
          </a:lstStyle>
          <a:p>
            <a:fld id="{DF26199F-1CD4-3D41-8A75-93A85F044DB8}" type="slidenum">
              <a:rPr lang="en-GB" altLang="en-US"/>
              <a:pPr/>
              <a:t>‹#›</a:t>
            </a:fld>
            <a:endParaRPr lang="en-GB" altLang="en-US"/>
          </a:p>
        </p:txBody>
      </p:sp>
      <p:sp>
        <p:nvSpPr>
          <p:cNvPr id="7" name="Footer Placeholder 6">
            <a:extLst>
              <a:ext uri="{FF2B5EF4-FFF2-40B4-BE49-F238E27FC236}">
                <a16:creationId xmlns:a16="http://schemas.microsoft.com/office/drawing/2014/main" id="{60E827A2-3349-0898-8102-5160A59209F1}"/>
              </a:ext>
            </a:extLst>
          </p:cNvPr>
          <p:cNvSpPr>
            <a:spLocks noGrp="1"/>
          </p:cNvSpPr>
          <p:nvPr>
            <p:ph type="ftr" sz="quarter" idx="12"/>
          </p:nvPr>
        </p:nvSpPr>
        <p:spPr>
          <a:xfrm>
            <a:off x="3124200" y="6248400"/>
            <a:ext cx="2895600" cy="476250"/>
          </a:xfrm>
        </p:spPr>
        <p:txBody>
          <a:bodyPr/>
          <a:lstStyle>
            <a:lvl1pPr>
              <a:defRPr/>
            </a:lvl1pPr>
          </a:lstStyle>
          <a:p>
            <a:pPr>
              <a:defRPr/>
            </a:pPr>
            <a:endParaRPr lang="en-GB"/>
          </a:p>
        </p:txBody>
      </p:sp>
    </p:spTree>
    <p:extLst>
      <p:ext uri="{BB962C8B-B14F-4D97-AF65-F5344CB8AC3E}">
        <p14:creationId xmlns:p14="http://schemas.microsoft.com/office/powerpoint/2010/main" val="2086039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A9A6F837-259E-FE9B-6038-900F2FB3CF1D}"/>
              </a:ext>
            </a:extLst>
          </p:cNvPr>
          <p:cNvSpPr>
            <a:spLocks noGrp="1"/>
          </p:cNvSpPr>
          <p:nvPr>
            <p:ph type="dt" sz="half" idx="10"/>
          </p:nvPr>
        </p:nvSpPr>
        <p:spPr>
          <a:xfrm>
            <a:off x="457200" y="6251575"/>
            <a:ext cx="2133600" cy="47625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C82E36AC-5CCD-72B4-18B5-7E3374E18E25}"/>
              </a:ext>
            </a:extLst>
          </p:cNvPr>
          <p:cNvSpPr>
            <a:spLocks noGrp="1"/>
          </p:cNvSpPr>
          <p:nvPr>
            <p:ph type="sldNum" sz="quarter" idx="11"/>
          </p:nvPr>
        </p:nvSpPr>
        <p:spPr>
          <a:xfrm>
            <a:off x="6553200" y="6248400"/>
            <a:ext cx="2133600" cy="476250"/>
          </a:xfrm>
        </p:spPr>
        <p:txBody>
          <a:bodyPr/>
          <a:lstStyle>
            <a:lvl1pPr>
              <a:defRPr/>
            </a:lvl1pPr>
          </a:lstStyle>
          <a:p>
            <a:fld id="{B4496F3B-9F89-9242-B542-8A801B56360A}" type="slidenum">
              <a:rPr lang="en-GB" altLang="en-US"/>
              <a:pPr/>
              <a:t>‹#›</a:t>
            </a:fld>
            <a:endParaRPr lang="en-GB" altLang="en-US"/>
          </a:p>
        </p:txBody>
      </p:sp>
      <p:sp>
        <p:nvSpPr>
          <p:cNvPr id="8" name="Footer Placeholder 7">
            <a:extLst>
              <a:ext uri="{FF2B5EF4-FFF2-40B4-BE49-F238E27FC236}">
                <a16:creationId xmlns:a16="http://schemas.microsoft.com/office/drawing/2014/main" id="{E5F0B5D8-8E5C-8AF7-BD4F-9A565444BC27}"/>
              </a:ext>
            </a:extLst>
          </p:cNvPr>
          <p:cNvSpPr>
            <a:spLocks noGrp="1"/>
          </p:cNvSpPr>
          <p:nvPr>
            <p:ph type="ftr" sz="quarter" idx="12"/>
          </p:nvPr>
        </p:nvSpPr>
        <p:spPr>
          <a:xfrm>
            <a:off x="3124200" y="6248400"/>
            <a:ext cx="2895600" cy="476250"/>
          </a:xfrm>
        </p:spPr>
        <p:txBody>
          <a:bodyPr/>
          <a:lstStyle>
            <a:lvl1pPr>
              <a:defRPr/>
            </a:lvl1pPr>
          </a:lstStyle>
          <a:p>
            <a:pPr>
              <a:defRPr/>
            </a:pPr>
            <a:endParaRPr lang="en-GB"/>
          </a:p>
        </p:txBody>
      </p:sp>
    </p:spTree>
    <p:extLst>
      <p:ext uri="{BB962C8B-B14F-4D97-AF65-F5344CB8AC3E}">
        <p14:creationId xmlns:p14="http://schemas.microsoft.com/office/powerpoint/2010/main" val="2810720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D7E7FE-617C-5726-3C5C-F786D62AF7C1}"/>
              </a:ext>
            </a:extLst>
          </p:cNvPr>
          <p:cNvSpPr>
            <a:spLocks noGrp="1"/>
          </p:cNvSpPr>
          <p:nvPr>
            <p:ph type="dt" sz="half" idx="10"/>
          </p:nvPr>
        </p:nvSpPr>
        <p:spPr>
          <a:xfrm>
            <a:off x="457200" y="6251575"/>
            <a:ext cx="2133600" cy="476250"/>
          </a:xfrm>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8A6B8811-57D4-D7CC-9826-BAE9F686705E}"/>
              </a:ext>
            </a:extLst>
          </p:cNvPr>
          <p:cNvSpPr>
            <a:spLocks noGrp="1"/>
          </p:cNvSpPr>
          <p:nvPr>
            <p:ph type="sldNum" sz="quarter" idx="11"/>
          </p:nvPr>
        </p:nvSpPr>
        <p:spPr>
          <a:xfrm>
            <a:off x="6553200" y="6248400"/>
            <a:ext cx="2133600" cy="476250"/>
          </a:xfrm>
        </p:spPr>
        <p:txBody>
          <a:bodyPr/>
          <a:lstStyle>
            <a:lvl1pPr>
              <a:defRPr/>
            </a:lvl1pPr>
          </a:lstStyle>
          <a:p>
            <a:fld id="{1A92C892-5B04-AF4F-B9FA-2EE5269601D1}" type="slidenum">
              <a:rPr lang="en-GB" altLang="en-US"/>
              <a:pPr/>
              <a:t>‹#›</a:t>
            </a:fld>
            <a:endParaRPr lang="en-GB" altLang="en-US"/>
          </a:p>
        </p:txBody>
      </p:sp>
      <p:sp>
        <p:nvSpPr>
          <p:cNvPr id="7" name="Footer Placeholder 6">
            <a:extLst>
              <a:ext uri="{FF2B5EF4-FFF2-40B4-BE49-F238E27FC236}">
                <a16:creationId xmlns:a16="http://schemas.microsoft.com/office/drawing/2014/main" id="{CA0DDD05-4396-9BDF-2352-6CB14F3CD98C}"/>
              </a:ext>
            </a:extLst>
          </p:cNvPr>
          <p:cNvSpPr>
            <a:spLocks noGrp="1"/>
          </p:cNvSpPr>
          <p:nvPr>
            <p:ph type="ftr" sz="quarter" idx="12"/>
          </p:nvPr>
        </p:nvSpPr>
        <p:spPr>
          <a:xfrm>
            <a:off x="3124200" y="6248400"/>
            <a:ext cx="2895600" cy="476250"/>
          </a:xfrm>
        </p:spPr>
        <p:txBody>
          <a:bodyPr/>
          <a:lstStyle>
            <a:lvl1pPr>
              <a:defRPr/>
            </a:lvl1pPr>
          </a:lstStyle>
          <a:p>
            <a:pPr>
              <a:defRPr/>
            </a:pPr>
            <a:endParaRPr lang="en-GB"/>
          </a:p>
        </p:txBody>
      </p:sp>
    </p:spTree>
    <p:extLst>
      <p:ext uri="{BB962C8B-B14F-4D97-AF65-F5344CB8AC3E}">
        <p14:creationId xmlns:p14="http://schemas.microsoft.com/office/powerpoint/2010/main" val="21563253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AFF88-9306-B95D-CFE5-BB64778F7FC5}"/>
              </a:ext>
            </a:extLst>
          </p:cNvPr>
          <p:cNvSpPr>
            <a:spLocks noGrp="1"/>
          </p:cNvSpPr>
          <p:nvPr>
            <p:ph type="dt" sz="half" idx="10"/>
          </p:nvPr>
        </p:nvSpPr>
        <p:spPr>
          <a:xfrm>
            <a:off x="457200" y="6251575"/>
            <a:ext cx="2133600" cy="476250"/>
          </a:xfrm>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9F2D2A8A-A81F-15E9-1BD2-F9207CFEFA7D}"/>
              </a:ext>
            </a:extLst>
          </p:cNvPr>
          <p:cNvSpPr>
            <a:spLocks noGrp="1"/>
          </p:cNvSpPr>
          <p:nvPr>
            <p:ph type="sldNum" sz="quarter" idx="11"/>
          </p:nvPr>
        </p:nvSpPr>
        <p:spPr>
          <a:xfrm>
            <a:off x="6553200" y="6248400"/>
            <a:ext cx="2133600" cy="476250"/>
          </a:xfrm>
        </p:spPr>
        <p:txBody>
          <a:bodyPr/>
          <a:lstStyle>
            <a:lvl1pPr>
              <a:defRPr/>
            </a:lvl1pPr>
          </a:lstStyle>
          <a:p>
            <a:fld id="{B7CB5417-7104-2D46-8771-13597A0D3E36}" type="slidenum">
              <a:rPr lang="en-GB" altLang="en-US"/>
              <a:pPr/>
              <a:t>‹#›</a:t>
            </a:fld>
            <a:endParaRPr lang="en-GB" altLang="en-US"/>
          </a:p>
        </p:txBody>
      </p:sp>
      <p:sp>
        <p:nvSpPr>
          <p:cNvPr id="7" name="Footer Placeholder 6">
            <a:extLst>
              <a:ext uri="{FF2B5EF4-FFF2-40B4-BE49-F238E27FC236}">
                <a16:creationId xmlns:a16="http://schemas.microsoft.com/office/drawing/2014/main" id="{67873B44-CA7D-E104-A1A8-2023F535F555}"/>
              </a:ext>
            </a:extLst>
          </p:cNvPr>
          <p:cNvSpPr>
            <a:spLocks noGrp="1"/>
          </p:cNvSpPr>
          <p:nvPr>
            <p:ph type="ftr" sz="quarter" idx="12"/>
          </p:nvPr>
        </p:nvSpPr>
        <p:spPr>
          <a:xfrm>
            <a:off x="3124200" y="6248400"/>
            <a:ext cx="2895600" cy="476250"/>
          </a:xfrm>
        </p:spPr>
        <p:txBody>
          <a:bodyPr/>
          <a:lstStyle>
            <a:lvl1pPr>
              <a:defRPr/>
            </a:lvl1pPr>
          </a:lstStyle>
          <a:p>
            <a:pPr>
              <a:defRPr/>
            </a:pPr>
            <a:endParaRPr lang="en-GB"/>
          </a:p>
        </p:txBody>
      </p:sp>
    </p:spTree>
    <p:extLst>
      <p:ext uri="{BB962C8B-B14F-4D97-AF65-F5344CB8AC3E}">
        <p14:creationId xmlns:p14="http://schemas.microsoft.com/office/powerpoint/2010/main" val="1424447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CF8BFDC-18FA-7695-35E9-775E21BDAF3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B6670C9-38F0-7551-8D82-16FFAA9ABC2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A24BF81-C850-1AF7-929C-0BAE3FEF8877}"/>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cs typeface="Arial" charset="0"/>
              </a:defRPr>
            </a:lvl1pPr>
          </a:lstStyle>
          <a:p>
            <a:pPr>
              <a:defRPr/>
            </a:pPr>
            <a:endParaRPr lang="en-GB"/>
          </a:p>
        </p:txBody>
      </p:sp>
      <p:sp>
        <p:nvSpPr>
          <p:cNvPr id="5" name="Footer Placeholder 4">
            <a:extLst>
              <a:ext uri="{FF2B5EF4-FFF2-40B4-BE49-F238E27FC236}">
                <a16:creationId xmlns:a16="http://schemas.microsoft.com/office/drawing/2014/main" id="{AC3A56CD-2E03-A4E8-E903-6EABC08B6F2A}"/>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cs typeface="Arial" charset="0"/>
              </a:defRPr>
            </a:lvl1pPr>
          </a:lstStyle>
          <a:p>
            <a:pPr>
              <a:defRPr/>
            </a:pPr>
            <a:endParaRPr lang="en-GB"/>
          </a:p>
        </p:txBody>
      </p:sp>
      <p:sp>
        <p:nvSpPr>
          <p:cNvPr id="6" name="Slide Number Placeholder 5">
            <a:extLst>
              <a:ext uri="{FF2B5EF4-FFF2-40B4-BE49-F238E27FC236}">
                <a16:creationId xmlns:a16="http://schemas.microsoft.com/office/drawing/2014/main" id="{0E1296B5-1FE6-A103-0428-00D72A89EB45}"/>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4A9154F5-31C0-4E47-88BF-643FD0E08FA7}"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4134" r:id="rId1"/>
    <p:sldLayoutId id="2147484135" r:id="rId2"/>
    <p:sldLayoutId id="2147484136" r:id="rId3"/>
    <p:sldLayoutId id="2147484137" r:id="rId4"/>
    <p:sldLayoutId id="2147484138" r:id="rId5"/>
    <p:sldLayoutId id="2147484139" r:id="rId6"/>
    <p:sldLayoutId id="2147484140" r:id="rId7"/>
    <p:sldLayoutId id="2147484141" r:id="rId8"/>
    <p:sldLayoutId id="2147484142" r:id="rId9"/>
    <p:sldLayoutId id="2147484143" r:id="rId10"/>
    <p:sldLayoutId id="2147484144" r:id="rId11"/>
    <p:sldLayoutId id="2147484145" r:id="rId12"/>
    <p:sldLayoutId id="2147484146" r:id="rId13"/>
    <p:sldLayoutId id="2147484147" r:id="rId14"/>
    <p:sldLayoutId id="2147484148" r:id="rId15"/>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21.jpe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5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8B95C58-8074-E9B7-282D-401C1C68EF47}"/>
              </a:ext>
            </a:extLst>
          </p:cNvPr>
          <p:cNvSpPr>
            <a:spLocks noGrp="1" noChangeArrowheads="1"/>
          </p:cNvSpPr>
          <p:nvPr>
            <p:ph type="ctrTitle"/>
          </p:nvPr>
        </p:nvSpPr>
        <p:spPr>
          <a:xfrm>
            <a:off x="323850" y="549275"/>
            <a:ext cx="7772400" cy="1470025"/>
          </a:xfrm>
        </p:spPr>
        <p:txBody>
          <a:bodyPr/>
          <a:lstStyle/>
          <a:p>
            <a:pPr eaLnBrk="1" hangingPunct="1"/>
            <a:r>
              <a:rPr lang="en-GB" altLang="en-US" b="1">
                <a:solidFill>
                  <a:srgbClr val="0000FF"/>
                </a:solidFill>
              </a:rPr>
              <a:t>Homologous Recombination</a:t>
            </a:r>
          </a:p>
        </p:txBody>
      </p:sp>
      <p:sp>
        <p:nvSpPr>
          <p:cNvPr id="7171" name="Rectangle 3">
            <a:extLst>
              <a:ext uri="{FF2B5EF4-FFF2-40B4-BE49-F238E27FC236}">
                <a16:creationId xmlns:a16="http://schemas.microsoft.com/office/drawing/2014/main" id="{57DDB961-AE49-DA20-62D9-A5ED90E23444}"/>
              </a:ext>
            </a:extLst>
          </p:cNvPr>
          <p:cNvSpPr>
            <a:spLocks noGrp="1" noChangeArrowheads="1"/>
          </p:cNvSpPr>
          <p:nvPr>
            <p:ph type="subTitle" idx="1"/>
          </p:nvPr>
        </p:nvSpPr>
        <p:spPr>
          <a:xfrm>
            <a:off x="1192213" y="1700213"/>
            <a:ext cx="6400800" cy="1201737"/>
          </a:xfrm>
        </p:spPr>
        <p:txBody>
          <a:bodyPr/>
          <a:lstStyle/>
          <a:p>
            <a:pPr eaLnBrk="1" hangingPunct="1"/>
            <a:r>
              <a:rPr lang="en-GB" altLang="en-US" sz="2800" b="1">
                <a:solidFill>
                  <a:srgbClr val="FF0000"/>
                </a:solidFill>
              </a:rPr>
              <a:t>BT 451</a:t>
            </a:r>
          </a:p>
          <a:p>
            <a:pPr eaLnBrk="1" hangingPunct="1"/>
            <a:r>
              <a:rPr lang="en-GB" altLang="en-US" sz="2800" b="1">
                <a:solidFill>
                  <a:srgbClr val="FF0000"/>
                </a:solidFill>
              </a:rPr>
              <a:t>Chapter 11</a:t>
            </a:r>
          </a:p>
        </p:txBody>
      </p:sp>
      <p:pic>
        <p:nvPicPr>
          <p:cNvPr id="7172" name="Picture 8" descr="11_00Figure-L">
            <a:extLst>
              <a:ext uri="{FF2B5EF4-FFF2-40B4-BE49-F238E27FC236}">
                <a16:creationId xmlns:a16="http://schemas.microsoft.com/office/drawing/2014/main" id="{9F4C0C22-09E3-876A-9A83-494E4430A0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428"/>
          <a:stretch>
            <a:fillRect/>
          </a:stretch>
        </p:blipFill>
        <p:spPr bwMode="auto">
          <a:xfrm>
            <a:off x="2700338" y="2924175"/>
            <a:ext cx="3535362"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B68EF3A-39A3-05B3-BEBA-12F79A136F50}"/>
              </a:ext>
            </a:extLst>
          </p:cNvPr>
          <p:cNvSpPr>
            <a:spLocks noGrp="1" noRot="1" noChangeArrowheads="1"/>
          </p:cNvSpPr>
          <p:nvPr>
            <p:ph type="title"/>
          </p:nvPr>
        </p:nvSpPr>
        <p:spPr/>
        <p:txBody>
          <a:bodyPr/>
          <a:lstStyle/>
          <a:p>
            <a:pPr eaLnBrk="1" hangingPunct="1"/>
            <a:r>
              <a:rPr lang="en-GB" altLang="en-US">
                <a:solidFill>
                  <a:srgbClr val="0000FF"/>
                </a:solidFill>
              </a:rPr>
              <a:t>Recombination</a:t>
            </a:r>
          </a:p>
        </p:txBody>
      </p:sp>
      <p:sp>
        <p:nvSpPr>
          <p:cNvPr id="9219" name="Rectangle 3">
            <a:extLst>
              <a:ext uri="{FF2B5EF4-FFF2-40B4-BE49-F238E27FC236}">
                <a16:creationId xmlns:a16="http://schemas.microsoft.com/office/drawing/2014/main" id="{321BF73C-EBF2-DD99-74D9-BFFA31121D86}"/>
              </a:ext>
            </a:extLst>
          </p:cNvPr>
          <p:cNvSpPr>
            <a:spLocks noGrp="1" noChangeArrowheads="1"/>
          </p:cNvSpPr>
          <p:nvPr>
            <p:ph idx="1"/>
          </p:nvPr>
        </p:nvSpPr>
        <p:spPr/>
        <p:txBody>
          <a:bodyPr/>
          <a:lstStyle/>
          <a:p>
            <a:pPr marL="609600" indent="-609600" eaLnBrk="1" hangingPunct="1"/>
            <a:r>
              <a:rPr lang="en-GB" altLang="en-US"/>
              <a:t>Physical exchange of DNA sequence between the chromosomes</a:t>
            </a:r>
          </a:p>
          <a:p>
            <a:pPr marL="609600" indent="-609600" eaLnBrk="1" hangingPunct="1"/>
            <a:endParaRPr lang="en-GB" altLang="en-US" sz="1600"/>
          </a:p>
          <a:p>
            <a:pPr marL="609600" indent="-609600" eaLnBrk="1" hangingPunct="1"/>
            <a:endParaRPr lang="en-US" altLang="en-US"/>
          </a:p>
          <a:p>
            <a:pPr marL="609600" indent="-609600" eaLnBrk="1" hangingPunct="1"/>
            <a:r>
              <a:rPr lang="en-US" altLang="en-US">
                <a:solidFill>
                  <a:srgbClr val="0000FF"/>
                </a:solidFill>
              </a:rPr>
              <a:t>Types of recombination</a:t>
            </a:r>
          </a:p>
          <a:p>
            <a:pPr marL="1009650" lvl="1" indent="-609600" eaLnBrk="1" hangingPunct="1">
              <a:buFont typeface="Wingdings" pitchFamily="2" charset="2"/>
              <a:buAutoNum type="arabicPeriod"/>
            </a:pPr>
            <a:r>
              <a:rPr lang="en-US" altLang="en-US" b="1">
                <a:solidFill>
                  <a:srgbClr val="FF0000"/>
                </a:solidFill>
              </a:rPr>
              <a:t>Homologous recombination (HR)</a:t>
            </a:r>
          </a:p>
          <a:p>
            <a:pPr marL="1009650" lvl="1" indent="-609600" eaLnBrk="1" hangingPunct="1">
              <a:buFont typeface="Wingdings" pitchFamily="2" charset="2"/>
              <a:buAutoNum type="arabicPeriod"/>
            </a:pPr>
            <a:r>
              <a:rPr lang="en-US" altLang="en-US" b="1">
                <a:solidFill>
                  <a:srgbClr val="7030A0"/>
                </a:solidFill>
              </a:rPr>
              <a:t>Conservative site specific recombination (CSR)</a:t>
            </a:r>
          </a:p>
          <a:p>
            <a:pPr marL="1009650" lvl="1" indent="-609600" eaLnBrk="1" hangingPunct="1">
              <a:buFont typeface="Wingdings" pitchFamily="2" charset="2"/>
              <a:buAutoNum type="arabicPeriod"/>
            </a:pPr>
            <a:r>
              <a:rPr lang="en-US" altLang="en-US" b="1">
                <a:solidFill>
                  <a:srgbClr val="7030A0"/>
                </a:solidFill>
              </a:rPr>
              <a:t>Transposition (Tp)</a:t>
            </a:r>
            <a:endParaRPr lang="en-GB" altLang="en-US" b="1">
              <a:solidFill>
                <a:srgbClr val="7030A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AA01C0D-3BBF-C5DE-77BD-1EB6CC51AA48}"/>
              </a:ext>
            </a:extLst>
          </p:cNvPr>
          <p:cNvSpPr>
            <a:spLocks noGrp="1"/>
          </p:cNvSpPr>
          <p:nvPr>
            <p:ph type="title"/>
          </p:nvPr>
        </p:nvSpPr>
        <p:spPr>
          <a:xfrm>
            <a:off x="323850" y="188913"/>
            <a:ext cx="8434388" cy="849312"/>
          </a:xfrm>
        </p:spPr>
        <p:txBody>
          <a:bodyPr/>
          <a:lstStyle/>
          <a:p>
            <a:pPr eaLnBrk="1" hangingPunct="1"/>
            <a:r>
              <a:rPr lang="en-US" altLang="en-US" sz="3200" b="1">
                <a:solidFill>
                  <a:srgbClr val="0000FF"/>
                </a:solidFill>
              </a:rPr>
              <a:t>Importance of Homologous recombination</a:t>
            </a:r>
          </a:p>
        </p:txBody>
      </p:sp>
      <p:sp>
        <p:nvSpPr>
          <p:cNvPr id="3" name="Content Placeholder 2">
            <a:extLst>
              <a:ext uri="{FF2B5EF4-FFF2-40B4-BE49-F238E27FC236}">
                <a16:creationId xmlns:a16="http://schemas.microsoft.com/office/drawing/2014/main" id="{DF50F075-1E38-ACFD-A632-B5C41B31F11B}"/>
              </a:ext>
            </a:extLst>
          </p:cNvPr>
          <p:cNvSpPr>
            <a:spLocks noGrp="1"/>
          </p:cNvSpPr>
          <p:nvPr>
            <p:ph sz="half" idx="1"/>
          </p:nvPr>
        </p:nvSpPr>
        <p:spPr>
          <a:xfrm>
            <a:off x="539750" y="1196975"/>
            <a:ext cx="8229600" cy="5400675"/>
          </a:xfrm>
        </p:spPr>
        <p:txBody>
          <a:bodyPr rtlCol="0">
            <a:normAutofit lnSpcReduction="10000"/>
          </a:bodyPr>
          <a:lstStyle/>
          <a:p>
            <a:pPr eaLnBrk="1" fontAlgn="auto" hangingPunct="1">
              <a:spcAft>
                <a:spcPts val="0"/>
              </a:spcAft>
              <a:defRPr/>
            </a:pPr>
            <a:r>
              <a:rPr lang="en-US" sz="2800" dirty="0"/>
              <a:t>Essential cellular process catalyzed by enzymes specifically made and regulated for this purpose.</a:t>
            </a:r>
          </a:p>
          <a:p>
            <a:pPr eaLnBrk="1" fontAlgn="auto" hangingPunct="1">
              <a:spcAft>
                <a:spcPts val="0"/>
              </a:spcAft>
              <a:defRPr/>
            </a:pPr>
            <a:r>
              <a:rPr lang="en-US" sz="2800" dirty="0">
                <a:solidFill>
                  <a:srgbClr val="0000FF"/>
                </a:solidFill>
              </a:rPr>
              <a:t>Provide genetic variation</a:t>
            </a:r>
          </a:p>
          <a:p>
            <a:pPr eaLnBrk="1" fontAlgn="auto" hangingPunct="1">
              <a:spcAft>
                <a:spcPts val="0"/>
              </a:spcAft>
              <a:defRPr/>
            </a:pPr>
            <a:r>
              <a:rPr lang="en-US" sz="2800" dirty="0"/>
              <a:t>Allows cells to retrieve sequences lost through DNA damage by replacing the damaged </a:t>
            </a:r>
            <a:r>
              <a:rPr lang="en-US" sz="2800" dirty="0" err="1"/>
              <a:t>chr.</a:t>
            </a:r>
            <a:endParaRPr lang="en-US" sz="2800" dirty="0"/>
          </a:p>
          <a:p>
            <a:pPr eaLnBrk="1" fontAlgn="auto" hangingPunct="1">
              <a:spcAft>
                <a:spcPts val="0"/>
              </a:spcAft>
              <a:defRPr/>
            </a:pPr>
            <a:r>
              <a:rPr lang="en-US" sz="2800" dirty="0">
                <a:solidFill>
                  <a:srgbClr val="0000FF"/>
                </a:solidFill>
              </a:rPr>
              <a:t>Provides a mechanism to restart stalled or damaged </a:t>
            </a:r>
            <a:r>
              <a:rPr lang="en-US" sz="2800" dirty="0"/>
              <a:t>replication forks</a:t>
            </a:r>
          </a:p>
          <a:p>
            <a:pPr eaLnBrk="1" fontAlgn="auto" hangingPunct="1">
              <a:spcAft>
                <a:spcPts val="0"/>
              </a:spcAft>
              <a:defRPr/>
            </a:pPr>
            <a:r>
              <a:rPr lang="en-US" sz="2800" dirty="0"/>
              <a:t>Special types of recombination regulate the expression of some genes</a:t>
            </a:r>
          </a:p>
          <a:p>
            <a:pPr eaLnBrk="1" fontAlgn="auto" hangingPunct="1">
              <a:spcAft>
                <a:spcPts val="0"/>
              </a:spcAft>
              <a:defRPr/>
            </a:pPr>
            <a:r>
              <a:rPr lang="en-US" sz="2800" dirty="0">
                <a:solidFill>
                  <a:srgbClr val="0000FF"/>
                </a:solidFill>
              </a:rPr>
              <a:t>Provide explanation for genetic processes</a:t>
            </a:r>
          </a:p>
          <a:p>
            <a:pPr eaLnBrk="1" fontAlgn="auto" hangingPunct="1">
              <a:spcAft>
                <a:spcPts val="0"/>
              </a:spcAft>
              <a:defRPr/>
            </a:pPr>
            <a:r>
              <a:rPr lang="en-US" sz="2800" dirty="0"/>
              <a:t>Development of methods to manipulate genes e.g. knock out and transgenic organisms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9D6433DE-1ECF-2688-E7C9-BDB724415B16}"/>
              </a:ext>
            </a:extLst>
          </p:cNvPr>
          <p:cNvSpPr>
            <a:spLocks noGrp="1"/>
          </p:cNvSpPr>
          <p:nvPr>
            <p:ph type="title"/>
          </p:nvPr>
        </p:nvSpPr>
        <p:spPr>
          <a:xfrm>
            <a:off x="323850" y="549275"/>
            <a:ext cx="8434388" cy="1295400"/>
          </a:xfrm>
        </p:spPr>
        <p:txBody>
          <a:bodyPr/>
          <a:lstStyle/>
          <a:p>
            <a:pPr eaLnBrk="1" hangingPunct="1"/>
            <a:r>
              <a:rPr lang="en-US" altLang="en-US" sz="3200" b="1">
                <a:solidFill>
                  <a:srgbClr val="0000FF"/>
                </a:solidFill>
              </a:rPr>
              <a:t>DNA breaks are common and initiate recombination</a:t>
            </a:r>
          </a:p>
        </p:txBody>
      </p:sp>
      <p:sp>
        <p:nvSpPr>
          <p:cNvPr id="13315" name="Content Placeholder 2">
            <a:extLst>
              <a:ext uri="{FF2B5EF4-FFF2-40B4-BE49-F238E27FC236}">
                <a16:creationId xmlns:a16="http://schemas.microsoft.com/office/drawing/2014/main" id="{EBDE7EDC-A9A7-30FF-0DCE-0538B867FE17}"/>
              </a:ext>
            </a:extLst>
          </p:cNvPr>
          <p:cNvSpPr>
            <a:spLocks noGrp="1"/>
          </p:cNvSpPr>
          <p:nvPr>
            <p:ph sz="half" idx="1"/>
          </p:nvPr>
        </p:nvSpPr>
        <p:spPr>
          <a:xfrm>
            <a:off x="468313" y="2349500"/>
            <a:ext cx="8229600" cy="3529013"/>
          </a:xfrm>
        </p:spPr>
        <p:txBody>
          <a:bodyPr/>
          <a:lstStyle/>
          <a:p>
            <a:pPr eaLnBrk="1" hangingPunct="1">
              <a:lnSpc>
                <a:spcPct val="80000"/>
              </a:lnSpc>
            </a:pPr>
            <a:r>
              <a:rPr lang="en-US" altLang="en-US" sz="2800"/>
              <a:t>A single DSB in the </a:t>
            </a:r>
            <a:r>
              <a:rPr lang="en-US" altLang="en-US" sz="2800" i="1"/>
              <a:t>E. coli </a:t>
            </a:r>
            <a:r>
              <a:rPr lang="en-US" altLang="en-US" sz="2800"/>
              <a:t>chr is lethal to a cell that lacks the ability to repair it</a:t>
            </a:r>
          </a:p>
          <a:p>
            <a:pPr eaLnBrk="1" hangingPunct="1">
              <a:lnSpc>
                <a:spcPct val="80000"/>
              </a:lnSpc>
            </a:pPr>
            <a:r>
              <a:rPr lang="en-US" altLang="en-US" sz="2800"/>
              <a:t>In most cells, </a:t>
            </a:r>
            <a:r>
              <a:rPr lang="en-US" altLang="en-US" sz="2800">
                <a:solidFill>
                  <a:srgbClr val="0000FF"/>
                </a:solidFill>
              </a:rPr>
              <a:t>HR is the major mechanism for repair of DSBs</a:t>
            </a:r>
          </a:p>
          <a:p>
            <a:pPr eaLnBrk="1" hangingPunct="1">
              <a:lnSpc>
                <a:spcPct val="80000"/>
              </a:lnSpc>
            </a:pPr>
            <a:r>
              <a:rPr lang="en-US" altLang="en-US" sz="2800"/>
              <a:t>In bacteria, </a:t>
            </a:r>
            <a:r>
              <a:rPr lang="en-US" altLang="en-US" sz="2800">
                <a:solidFill>
                  <a:srgbClr val="0000FF"/>
                </a:solidFill>
              </a:rPr>
              <a:t>major role </a:t>
            </a:r>
            <a:r>
              <a:rPr lang="en-US" altLang="en-US" sz="2800"/>
              <a:t>of HR is to repair DSBs</a:t>
            </a:r>
          </a:p>
          <a:p>
            <a:pPr eaLnBrk="1" hangingPunct="1">
              <a:lnSpc>
                <a:spcPct val="80000"/>
              </a:lnSpc>
            </a:pPr>
            <a:r>
              <a:rPr lang="en-US" altLang="en-US" sz="2800"/>
              <a:t>An unrepaired nick in one strand will lead to </a:t>
            </a:r>
            <a:r>
              <a:rPr lang="en-US" altLang="en-US" sz="2800">
                <a:solidFill>
                  <a:srgbClr val="FF0000"/>
                </a:solidFill>
              </a:rPr>
              <a:t>collapse of a passing replication fork</a:t>
            </a:r>
            <a:r>
              <a:rPr lang="en-US" altLang="en-US" sz="2800"/>
              <a:t>. Also, a fork-stopping lesion can </a:t>
            </a:r>
            <a:r>
              <a:rPr lang="en-US" altLang="en-US" sz="2800">
                <a:solidFill>
                  <a:srgbClr val="0000FF"/>
                </a:solidFill>
              </a:rPr>
              <a:t>stall replication.</a:t>
            </a:r>
          </a:p>
          <a:p>
            <a:pPr eaLnBrk="1" hangingPunct="1">
              <a:lnSpc>
                <a:spcPct val="80000"/>
              </a:lnSpc>
            </a:pPr>
            <a:endParaRPr lang="en-US"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4201E1F7-EB67-0F72-723E-6A4F6330C22A}"/>
              </a:ext>
            </a:extLst>
          </p:cNvPr>
          <p:cNvSpPr>
            <a:spLocks noGrp="1"/>
          </p:cNvSpPr>
          <p:nvPr>
            <p:ph type="body" idx="4294967295"/>
          </p:nvPr>
        </p:nvSpPr>
        <p:spPr>
          <a:xfrm>
            <a:off x="468313" y="1125538"/>
            <a:ext cx="8229600" cy="4525962"/>
          </a:xfrm>
        </p:spPr>
        <p:txBody>
          <a:bodyPr/>
          <a:lstStyle/>
          <a:p>
            <a:pPr eaLnBrk="1" hangingPunct="1">
              <a:lnSpc>
                <a:spcPct val="80000"/>
              </a:lnSpc>
            </a:pPr>
            <a:r>
              <a:rPr lang="en-US" altLang="en-US" sz="3000"/>
              <a:t>The </a:t>
            </a:r>
            <a:r>
              <a:rPr lang="en-US" altLang="en-US" sz="3000">
                <a:solidFill>
                  <a:srgbClr val="0000FF"/>
                </a:solidFill>
              </a:rPr>
              <a:t>broken ends will initiate recombination </a:t>
            </a:r>
            <a:r>
              <a:rPr lang="en-US" altLang="en-US" sz="3000"/>
              <a:t>with a homologous DNA molecule that will heal the break</a:t>
            </a:r>
          </a:p>
          <a:p>
            <a:pPr eaLnBrk="1" hangingPunct="1">
              <a:lnSpc>
                <a:spcPct val="80000"/>
              </a:lnSpc>
            </a:pPr>
            <a:r>
              <a:rPr lang="en-US" altLang="en-US" sz="3000"/>
              <a:t>Also, </a:t>
            </a:r>
            <a:r>
              <a:rPr lang="en-US" altLang="en-US" sz="3000">
                <a:solidFill>
                  <a:srgbClr val="0000FF"/>
                </a:solidFill>
              </a:rPr>
              <a:t>HR promotes genetic exchange in bacteria</a:t>
            </a:r>
            <a:r>
              <a:rPr lang="en-US" altLang="en-US" sz="3000"/>
              <a:t>. This exchange occurs between the chr of one cell and the DNA that enters that cell via phage-mediated </a:t>
            </a:r>
            <a:r>
              <a:rPr lang="en-US" altLang="en-US" sz="3000">
                <a:solidFill>
                  <a:srgbClr val="0000FF"/>
                </a:solidFill>
              </a:rPr>
              <a:t>transduction</a:t>
            </a:r>
            <a:r>
              <a:rPr lang="en-US" altLang="en-US" sz="3000"/>
              <a:t> or cell-cell </a:t>
            </a:r>
            <a:r>
              <a:rPr lang="en-US" altLang="en-US" sz="3000">
                <a:solidFill>
                  <a:srgbClr val="0000FF"/>
                </a:solidFill>
              </a:rPr>
              <a:t>conjugation</a:t>
            </a:r>
          </a:p>
          <a:p>
            <a:pPr eaLnBrk="1" hangingPunct="1">
              <a:lnSpc>
                <a:spcPct val="80000"/>
              </a:lnSpc>
            </a:pPr>
            <a:r>
              <a:rPr lang="en-US" altLang="en-US" sz="3000"/>
              <a:t>In eukaryotes, HR is critical for repairing DNA breaks and collapsed replication forks</a:t>
            </a:r>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0EA4A6D1-0C6E-9A28-1B79-CD7C9DCA21B3}"/>
              </a:ext>
            </a:extLst>
          </p:cNvPr>
          <p:cNvSpPr>
            <a:spLocks noGrp="1"/>
          </p:cNvSpPr>
          <p:nvPr>
            <p:ph type="title"/>
          </p:nvPr>
        </p:nvSpPr>
        <p:spPr>
          <a:xfrm>
            <a:off x="468313" y="0"/>
            <a:ext cx="8229600" cy="836613"/>
          </a:xfrm>
        </p:spPr>
        <p:txBody>
          <a:bodyPr/>
          <a:lstStyle/>
          <a:p>
            <a:pPr eaLnBrk="1" hangingPunct="1"/>
            <a:r>
              <a:rPr lang="en-US" altLang="en-US" sz="3200" b="1">
                <a:solidFill>
                  <a:srgbClr val="0000FF"/>
                </a:solidFill>
              </a:rPr>
              <a:t>Damage in the DNA template can lead to DSB formation during replication</a:t>
            </a:r>
          </a:p>
        </p:txBody>
      </p:sp>
      <p:pic>
        <p:nvPicPr>
          <p:cNvPr id="17411" name="Picture 2" descr="H:\Amjad Courses\BT451\Molecular Biology of the Gene images\watson_mm_jpg_chap010\chap010\10_Figure01.jpg">
            <a:extLst>
              <a:ext uri="{FF2B5EF4-FFF2-40B4-BE49-F238E27FC236}">
                <a16:creationId xmlns:a16="http://schemas.microsoft.com/office/drawing/2014/main" id="{2D3DC6E5-6F82-E786-D1B9-A40E6475E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127125"/>
            <a:ext cx="6767512" cy="573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13591BE-2BCD-C289-9E0B-C2A45FAC70C7}"/>
              </a:ext>
            </a:extLst>
          </p:cNvPr>
          <p:cNvSpPr>
            <a:spLocks noGrp="1" noRot="1" noChangeArrowheads="1"/>
          </p:cNvSpPr>
          <p:nvPr>
            <p:ph type="title"/>
          </p:nvPr>
        </p:nvSpPr>
        <p:spPr>
          <a:xfrm>
            <a:off x="468313" y="333375"/>
            <a:ext cx="8229600" cy="763588"/>
          </a:xfrm>
        </p:spPr>
        <p:txBody>
          <a:bodyPr/>
          <a:lstStyle/>
          <a:p>
            <a:pPr eaLnBrk="1" hangingPunct="1"/>
            <a:r>
              <a:rPr lang="en-US" altLang="en-US" sz="3600" b="1">
                <a:solidFill>
                  <a:srgbClr val="FF0000"/>
                </a:solidFill>
              </a:rPr>
              <a:t>Models of Homologous Recombination</a:t>
            </a:r>
            <a:endParaRPr lang="en-GB" altLang="en-US" sz="3600" b="1">
              <a:solidFill>
                <a:srgbClr val="FF0000"/>
              </a:solidFill>
            </a:endParaRPr>
          </a:p>
        </p:txBody>
      </p:sp>
      <p:sp>
        <p:nvSpPr>
          <p:cNvPr id="19459" name="Rectangle 3">
            <a:extLst>
              <a:ext uri="{FF2B5EF4-FFF2-40B4-BE49-F238E27FC236}">
                <a16:creationId xmlns:a16="http://schemas.microsoft.com/office/drawing/2014/main" id="{738F10E5-D81C-9292-C5D2-84A670C39918}"/>
              </a:ext>
            </a:extLst>
          </p:cNvPr>
          <p:cNvSpPr>
            <a:spLocks noGrp="1" noChangeArrowheads="1"/>
          </p:cNvSpPr>
          <p:nvPr>
            <p:ph idx="1"/>
          </p:nvPr>
        </p:nvSpPr>
        <p:spPr>
          <a:xfrm>
            <a:off x="454025" y="1123950"/>
            <a:ext cx="8229600" cy="5616575"/>
          </a:xfrm>
        </p:spPr>
        <p:txBody>
          <a:bodyPr/>
          <a:lstStyle/>
          <a:p>
            <a:pPr marL="60325" indent="-60325" eaLnBrk="1" hangingPunct="1">
              <a:buFont typeface="Arial" panose="020B0604020202020204" pitchFamily="34" charset="0"/>
              <a:buNone/>
              <a:defRPr/>
            </a:pPr>
            <a:r>
              <a:rPr lang="en-US" altLang="en-US" sz="2800" dirty="0"/>
              <a:t>Elegant early experiments using </a:t>
            </a:r>
            <a:r>
              <a:rPr lang="en-US" altLang="en-US" sz="2800" dirty="0">
                <a:solidFill>
                  <a:srgbClr val="0000FF"/>
                </a:solidFill>
              </a:rPr>
              <a:t>heavy isotopes </a:t>
            </a:r>
            <a:r>
              <a:rPr lang="en-US" altLang="en-US" sz="2800" dirty="0"/>
              <a:t>of atoms incorporated into DNA provided the first </a:t>
            </a:r>
            <a:r>
              <a:rPr lang="en-US" altLang="en-US" sz="2800" dirty="0">
                <a:solidFill>
                  <a:srgbClr val="0000FF"/>
                </a:solidFill>
              </a:rPr>
              <a:t>molecular view </a:t>
            </a:r>
            <a:r>
              <a:rPr lang="en-US" altLang="en-US" sz="2800" dirty="0"/>
              <a:t>of the process of HR</a:t>
            </a:r>
          </a:p>
          <a:p>
            <a:pPr eaLnBrk="1" hangingPunct="1">
              <a:defRPr/>
            </a:pPr>
            <a:r>
              <a:rPr lang="en-US" altLang="en-US" sz="2800" b="1" dirty="0"/>
              <a:t>Key steps of HR present in these models include:</a:t>
            </a:r>
          </a:p>
          <a:p>
            <a:pPr marL="60325" indent="-60325" eaLnBrk="1" hangingPunct="1">
              <a:buFont typeface="Arial" panose="020B0604020202020204" pitchFamily="34" charset="0"/>
              <a:buAutoNum type="arabicPeriod"/>
              <a:defRPr/>
            </a:pPr>
            <a:r>
              <a:rPr lang="en-US" altLang="en-US" sz="2800" b="1" dirty="0">
                <a:solidFill>
                  <a:srgbClr val="0000FF"/>
                </a:solidFill>
              </a:rPr>
              <a:t>Alignment</a:t>
            </a:r>
            <a:r>
              <a:rPr lang="en-US" altLang="en-US" sz="2800" dirty="0">
                <a:solidFill>
                  <a:srgbClr val="0000FF"/>
                </a:solidFill>
              </a:rPr>
              <a:t> </a:t>
            </a:r>
            <a:r>
              <a:rPr lang="en-US" altLang="en-US" sz="2800" dirty="0"/>
              <a:t>of two homologous DNA molecules (can have variants ; </a:t>
            </a:r>
            <a:r>
              <a:rPr lang="en-US" altLang="en-US" sz="2800" b="1" dirty="0">
                <a:solidFill>
                  <a:srgbClr val="FF0000"/>
                </a:solidFill>
              </a:rPr>
              <a:t>alleles</a:t>
            </a:r>
            <a:r>
              <a:rPr lang="en-US" altLang="en-US" sz="2800" dirty="0"/>
              <a:t>)</a:t>
            </a:r>
          </a:p>
          <a:p>
            <a:pPr marL="60325" indent="-60325" eaLnBrk="1" hangingPunct="1">
              <a:buFont typeface="Arial" panose="020B0604020202020204" pitchFamily="34" charset="0"/>
              <a:buAutoNum type="arabicPeriod"/>
              <a:defRPr/>
            </a:pPr>
            <a:r>
              <a:rPr lang="en-US" altLang="en-US" sz="2800" b="1" dirty="0">
                <a:solidFill>
                  <a:srgbClr val="0000FF"/>
                </a:solidFill>
              </a:rPr>
              <a:t>Introduction of breaks</a:t>
            </a:r>
            <a:r>
              <a:rPr lang="en-US" altLang="en-US" sz="2800" b="1" dirty="0"/>
              <a:t> </a:t>
            </a:r>
            <a:r>
              <a:rPr lang="en-US" altLang="en-US" sz="2800" dirty="0"/>
              <a:t>in the DNA (processed to produce </a:t>
            </a:r>
            <a:r>
              <a:rPr lang="en-US" altLang="en-US" sz="2800" dirty="0" err="1"/>
              <a:t>ssDNA</a:t>
            </a:r>
            <a:r>
              <a:rPr lang="en-US" altLang="en-US" sz="2800" dirty="0"/>
              <a:t> </a:t>
            </a:r>
            <a:r>
              <a:rPr lang="en-US" altLang="en-US" sz="2800" i="1" u="sng" dirty="0"/>
              <a:t>in each duplex</a:t>
            </a:r>
            <a:r>
              <a:rPr lang="en-US" altLang="en-US" sz="2800" dirty="0"/>
              <a:t>.</a:t>
            </a:r>
          </a:p>
          <a:p>
            <a:pPr marL="60325" indent="-60325" eaLnBrk="1" hangingPunct="1">
              <a:buFont typeface="Arial" panose="020B0604020202020204" pitchFamily="34" charset="0"/>
              <a:buAutoNum type="arabicPeriod"/>
              <a:defRPr/>
            </a:pPr>
            <a:r>
              <a:rPr lang="en-US" altLang="en-US" sz="2800" b="1" dirty="0">
                <a:solidFill>
                  <a:srgbClr val="0000FF"/>
                </a:solidFill>
              </a:rPr>
              <a:t>Formation of initial short regions of base pairing between the two recombining DNA molecules </a:t>
            </a:r>
            <a:r>
              <a:rPr lang="en-US" altLang="en-US" sz="2800" b="1" dirty="0"/>
              <a:t>(called </a:t>
            </a:r>
            <a:r>
              <a:rPr lang="en-US" altLang="en-US" sz="2800" b="1" dirty="0">
                <a:solidFill>
                  <a:srgbClr val="0000FF"/>
                </a:solidFill>
              </a:rPr>
              <a:t>strand invasion </a:t>
            </a:r>
            <a:r>
              <a:rPr lang="en-US" altLang="en-US" sz="2800" dirty="0"/>
              <a:t>step) → regions of new duplex DNA  are generated (</a:t>
            </a:r>
            <a:r>
              <a:rPr lang="en-US" altLang="en-US" sz="2800" b="1" dirty="0" err="1">
                <a:solidFill>
                  <a:srgbClr val="FF0000"/>
                </a:solidFill>
              </a:rPr>
              <a:t>heteroduplex</a:t>
            </a:r>
            <a:r>
              <a:rPr lang="en-US" altLang="en-US" sz="2800" b="1" dirty="0">
                <a:solidFill>
                  <a:srgbClr val="FF0000"/>
                </a:solidFill>
              </a:rPr>
              <a:t> DNA</a:t>
            </a:r>
            <a:r>
              <a:rPr lang="en-US" altLang="en-US" sz="28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79483DE6-B976-7976-EC51-AE0EA6D5C758}"/>
              </a:ext>
            </a:extLst>
          </p:cNvPr>
          <p:cNvSpPr>
            <a:spLocks noGrp="1"/>
          </p:cNvSpPr>
          <p:nvPr>
            <p:ph type="body" idx="1"/>
          </p:nvPr>
        </p:nvSpPr>
        <p:spPr>
          <a:xfrm>
            <a:off x="468313" y="1125538"/>
            <a:ext cx="8424862" cy="4967287"/>
          </a:xfrm>
        </p:spPr>
        <p:txBody>
          <a:bodyPr/>
          <a:lstStyle/>
          <a:p>
            <a:pPr marL="609600" indent="-609600" eaLnBrk="1" hangingPunct="1">
              <a:buFont typeface="Arial" panose="020B0604020202020204" pitchFamily="34" charset="0"/>
              <a:buAutoNum type="arabicPeriod" startAt="4"/>
            </a:pPr>
            <a:r>
              <a:rPr lang="en-US" altLang="en-US" sz="2800"/>
              <a:t>After strand invasion, </a:t>
            </a:r>
            <a:r>
              <a:rPr lang="en-US" altLang="en-US" sz="2800" b="1">
                <a:solidFill>
                  <a:srgbClr val="0000FF"/>
                </a:solidFill>
              </a:rPr>
              <a:t>the two DNA molecules become connected by crossing DNA strands</a:t>
            </a:r>
            <a:r>
              <a:rPr lang="en-US" altLang="en-US" sz="2800" b="1"/>
              <a:t> (</a:t>
            </a:r>
            <a:r>
              <a:rPr lang="en-US" altLang="en-US" sz="2800" b="1">
                <a:solidFill>
                  <a:srgbClr val="0000FF"/>
                </a:solidFill>
              </a:rPr>
              <a:t>Holliday junction</a:t>
            </a:r>
            <a:r>
              <a:rPr lang="en-US" altLang="en-US" sz="2800" b="1"/>
              <a:t>)</a:t>
            </a:r>
            <a:r>
              <a:rPr lang="en-US" altLang="en-US" sz="2800"/>
              <a:t>. </a:t>
            </a:r>
          </a:p>
          <a:p>
            <a:pPr marL="609600" indent="-609600" eaLnBrk="1" hangingPunct="1">
              <a:buFont typeface="Arial" panose="020B0604020202020204" pitchFamily="34" charset="0"/>
              <a:buAutoNum type="arabicPeriod" startAt="4"/>
            </a:pPr>
            <a:r>
              <a:rPr lang="en-US" altLang="en-US" sz="2800"/>
              <a:t>A Holliday junction can </a:t>
            </a:r>
            <a:r>
              <a:rPr lang="en-US" altLang="en-US" sz="2800" b="1">
                <a:solidFill>
                  <a:srgbClr val="0000FF"/>
                </a:solidFill>
              </a:rPr>
              <a:t>move along the DNA by the repeated melting and formation  of base pairs</a:t>
            </a:r>
            <a:r>
              <a:rPr lang="en-US" altLang="en-US" sz="2800"/>
              <a:t>. Each time the junction moves, base pairs are broken in the parental molecules while identical base pairs are formed in the recombination intermediate (called </a:t>
            </a:r>
            <a:r>
              <a:rPr lang="en-US" altLang="en-US" sz="2800" b="1">
                <a:solidFill>
                  <a:srgbClr val="0000FF"/>
                </a:solidFill>
              </a:rPr>
              <a:t>branch migration</a:t>
            </a:r>
            <a:r>
              <a:rPr lang="en-US" altLang="en-US" sz="2800"/>
              <a:t>)</a:t>
            </a:r>
          </a:p>
          <a:p>
            <a:pPr marL="609600" indent="-609600" eaLnBrk="1" hangingPunct="1">
              <a:buFont typeface="Arial" panose="020B0604020202020204" pitchFamily="34" charset="0"/>
              <a:buNone/>
            </a:pPr>
            <a:r>
              <a:rPr lang="en-US" altLang="en-US" sz="2800"/>
              <a:t>5.     Cleavage of the Holliday junction (called </a:t>
            </a:r>
            <a:r>
              <a:rPr lang="en-US" altLang="en-US" sz="2800" b="1">
                <a:solidFill>
                  <a:srgbClr val="0000FF"/>
                </a:solidFill>
              </a:rPr>
              <a:t>resolution</a:t>
            </a:r>
            <a:r>
              <a:rPr lang="en-US" altLang="en-US" sz="2200"/>
              <a:t>)</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FF5BEEB1-C69D-06D6-39E9-D98E234BE3B2}"/>
              </a:ext>
            </a:extLst>
          </p:cNvPr>
          <p:cNvSpPr txBox="1">
            <a:spLocks noChangeArrowheads="1"/>
          </p:cNvSpPr>
          <p:nvPr/>
        </p:nvSpPr>
        <p:spPr bwMode="auto">
          <a:xfrm>
            <a:off x="974725" y="3098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800">
              <a:latin typeface="Arial" panose="020B0604020202020204" pitchFamily="34" charset="0"/>
              <a:ea typeface="SimSun" panose="02010600030101010101" pitchFamily="2" charset="-122"/>
            </a:endParaRPr>
          </a:p>
        </p:txBody>
      </p:sp>
      <p:pic>
        <p:nvPicPr>
          <p:cNvPr id="23555" name="Picture 4" descr="IMG00001">
            <a:extLst>
              <a:ext uri="{FF2B5EF4-FFF2-40B4-BE49-F238E27FC236}">
                <a16:creationId xmlns:a16="http://schemas.microsoft.com/office/drawing/2014/main" id="{D7AFC562-73D6-46F0-223A-26C5567C8B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6121"/>
          <a:stretch>
            <a:fillRect/>
          </a:stretch>
        </p:blipFill>
        <p:spPr bwMode="auto">
          <a:xfrm>
            <a:off x="468313" y="1412875"/>
            <a:ext cx="44767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Text Box 5">
            <a:extLst>
              <a:ext uri="{FF2B5EF4-FFF2-40B4-BE49-F238E27FC236}">
                <a16:creationId xmlns:a16="http://schemas.microsoft.com/office/drawing/2014/main" id="{7C31E42C-BE5F-76A9-3D8D-2F5D6E8DAA1A}"/>
              </a:ext>
            </a:extLst>
          </p:cNvPr>
          <p:cNvSpPr txBox="1">
            <a:spLocks noChangeArrowheads="1"/>
          </p:cNvSpPr>
          <p:nvPr/>
        </p:nvSpPr>
        <p:spPr bwMode="auto">
          <a:xfrm>
            <a:off x="4859338" y="1844675"/>
            <a:ext cx="3536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1800">
                <a:latin typeface="Arial" panose="020B0604020202020204" pitchFamily="34" charset="0"/>
              </a:rPr>
              <a:t>----Aligned homologous duplexes</a:t>
            </a:r>
          </a:p>
        </p:txBody>
      </p:sp>
      <p:pic>
        <p:nvPicPr>
          <p:cNvPr id="23557" name="Picture 6" descr="IMG00001">
            <a:extLst>
              <a:ext uri="{FF2B5EF4-FFF2-40B4-BE49-F238E27FC236}">
                <a16:creationId xmlns:a16="http://schemas.microsoft.com/office/drawing/2014/main" id="{6B385D94-4DB4-DECB-91F3-886BA4E6C2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6852" r="6702" b="70261"/>
          <a:stretch>
            <a:fillRect/>
          </a:stretch>
        </p:blipFill>
        <p:spPr bwMode="auto">
          <a:xfrm>
            <a:off x="684213" y="3141663"/>
            <a:ext cx="417671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Oval 7">
            <a:extLst>
              <a:ext uri="{FF2B5EF4-FFF2-40B4-BE49-F238E27FC236}">
                <a16:creationId xmlns:a16="http://schemas.microsoft.com/office/drawing/2014/main" id="{D4E00AA4-5AC9-E47F-D37F-A4837D16E7BB}"/>
              </a:ext>
            </a:extLst>
          </p:cNvPr>
          <p:cNvSpPr>
            <a:spLocks noChangeArrowheads="1"/>
          </p:cNvSpPr>
          <p:nvPr/>
        </p:nvSpPr>
        <p:spPr bwMode="auto">
          <a:xfrm>
            <a:off x="2555875" y="3429000"/>
            <a:ext cx="457200" cy="609600"/>
          </a:xfrm>
          <a:prstGeom prst="ellipse">
            <a:avLst/>
          </a:prstGeom>
          <a:noFill/>
          <a:ln w="412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Garamond" panose="02020404030301010803" pitchFamily="18" charset="0"/>
            </a:endParaRPr>
          </a:p>
        </p:txBody>
      </p:sp>
      <p:sp>
        <p:nvSpPr>
          <p:cNvPr id="23559" name="Text Box 8">
            <a:extLst>
              <a:ext uri="{FF2B5EF4-FFF2-40B4-BE49-F238E27FC236}">
                <a16:creationId xmlns:a16="http://schemas.microsoft.com/office/drawing/2014/main" id="{DE8910B8-09A9-886B-D3DE-665F0307816F}"/>
              </a:ext>
            </a:extLst>
          </p:cNvPr>
          <p:cNvSpPr txBox="1">
            <a:spLocks noChangeArrowheads="1"/>
          </p:cNvSpPr>
          <p:nvPr/>
        </p:nvSpPr>
        <p:spPr bwMode="auto">
          <a:xfrm>
            <a:off x="4819650" y="3357563"/>
            <a:ext cx="4324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1800">
                <a:latin typeface="Arial" panose="020B0604020202020204" pitchFamily="34" charset="0"/>
              </a:rPr>
              <a:t>----single stranded breaks in each duplex</a:t>
            </a:r>
          </a:p>
        </p:txBody>
      </p:sp>
      <p:sp>
        <p:nvSpPr>
          <p:cNvPr id="23560" name="Text Box 9">
            <a:extLst>
              <a:ext uri="{FF2B5EF4-FFF2-40B4-BE49-F238E27FC236}">
                <a16:creationId xmlns:a16="http://schemas.microsoft.com/office/drawing/2014/main" id="{67FB0842-B072-EE19-DD67-BDA3E805EE8C}"/>
              </a:ext>
            </a:extLst>
          </p:cNvPr>
          <p:cNvSpPr txBox="1">
            <a:spLocks noChangeArrowheads="1"/>
          </p:cNvSpPr>
          <p:nvPr/>
        </p:nvSpPr>
        <p:spPr bwMode="auto">
          <a:xfrm>
            <a:off x="2041525" y="2781300"/>
            <a:ext cx="749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1800" b="1">
                <a:solidFill>
                  <a:srgbClr val="FF0000"/>
                </a:solidFill>
                <a:latin typeface="Arial" panose="020B0604020202020204" pitchFamily="34" charset="0"/>
              </a:rPr>
              <a:t>NICK</a:t>
            </a:r>
          </a:p>
        </p:txBody>
      </p:sp>
      <p:pic>
        <p:nvPicPr>
          <p:cNvPr id="23561" name="Picture 10" descr="IMG00001">
            <a:extLst>
              <a:ext uri="{FF2B5EF4-FFF2-40B4-BE49-F238E27FC236}">
                <a16:creationId xmlns:a16="http://schemas.microsoft.com/office/drawing/2014/main" id="{AE125E89-ED22-2037-E528-109A408D3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3705" b="51425"/>
          <a:stretch>
            <a:fillRect/>
          </a:stretch>
        </p:blipFill>
        <p:spPr bwMode="auto">
          <a:xfrm>
            <a:off x="539750" y="4652963"/>
            <a:ext cx="4476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Text Box 11">
            <a:extLst>
              <a:ext uri="{FF2B5EF4-FFF2-40B4-BE49-F238E27FC236}">
                <a16:creationId xmlns:a16="http://schemas.microsoft.com/office/drawing/2014/main" id="{A413BF8C-1B1C-4A02-6587-92F93C21290D}"/>
              </a:ext>
            </a:extLst>
          </p:cNvPr>
          <p:cNvSpPr txBox="1">
            <a:spLocks noChangeArrowheads="1"/>
          </p:cNvSpPr>
          <p:nvPr/>
        </p:nvSpPr>
        <p:spPr bwMode="auto">
          <a:xfrm>
            <a:off x="5003800" y="5084763"/>
            <a:ext cx="2025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1800">
                <a:latin typeface="Arial" panose="020B0604020202020204" pitchFamily="34" charset="0"/>
              </a:rPr>
              <a:t>----strand invasion</a:t>
            </a:r>
          </a:p>
        </p:txBody>
      </p:sp>
      <p:sp>
        <p:nvSpPr>
          <p:cNvPr id="23563" name="Rectangle 12">
            <a:extLst>
              <a:ext uri="{FF2B5EF4-FFF2-40B4-BE49-F238E27FC236}">
                <a16:creationId xmlns:a16="http://schemas.microsoft.com/office/drawing/2014/main" id="{C64E7530-90B6-1FD3-E500-8E3B30085C44}"/>
              </a:ext>
            </a:extLst>
          </p:cNvPr>
          <p:cNvSpPr>
            <a:spLocks noGrp="1" noRot="1" noChangeArrowheads="1"/>
          </p:cNvSpPr>
          <p:nvPr>
            <p:ph type="title"/>
          </p:nvPr>
        </p:nvSpPr>
        <p:spPr>
          <a:xfrm>
            <a:off x="395288" y="0"/>
            <a:ext cx="8229600" cy="922338"/>
          </a:xfrm>
        </p:spPr>
        <p:txBody>
          <a:bodyPr/>
          <a:lstStyle/>
          <a:p>
            <a:pPr eaLnBrk="1" hangingPunct="1"/>
            <a:r>
              <a:rPr lang="en-US" altLang="en-US" sz="3600" b="1">
                <a:solidFill>
                  <a:srgbClr val="0000FF"/>
                </a:solidFill>
              </a:rPr>
              <a:t>Holliday Model</a:t>
            </a:r>
            <a:endParaRPr lang="en-GB" altLang="en-US" sz="3600" b="1">
              <a:solidFill>
                <a:srgbClr val="0000FF"/>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IMG00001">
            <a:extLst>
              <a:ext uri="{FF2B5EF4-FFF2-40B4-BE49-F238E27FC236}">
                <a16:creationId xmlns:a16="http://schemas.microsoft.com/office/drawing/2014/main" id="{872DAAD1-C766-0DAB-7EB6-EBD539328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1549" b="33582"/>
          <a:stretch>
            <a:fillRect/>
          </a:stretch>
        </p:blipFill>
        <p:spPr bwMode="auto">
          <a:xfrm>
            <a:off x="533400" y="914400"/>
            <a:ext cx="4476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Oval 3">
            <a:extLst>
              <a:ext uri="{FF2B5EF4-FFF2-40B4-BE49-F238E27FC236}">
                <a16:creationId xmlns:a16="http://schemas.microsoft.com/office/drawing/2014/main" id="{28A75BCE-8679-10DD-E1B7-264AC005A15E}"/>
              </a:ext>
            </a:extLst>
          </p:cNvPr>
          <p:cNvSpPr>
            <a:spLocks noChangeArrowheads="1"/>
          </p:cNvSpPr>
          <p:nvPr/>
        </p:nvSpPr>
        <p:spPr bwMode="auto">
          <a:xfrm>
            <a:off x="2133600" y="1295400"/>
            <a:ext cx="457200" cy="457200"/>
          </a:xfrm>
          <a:prstGeom prst="ellipse">
            <a:avLst/>
          </a:prstGeom>
          <a:noFill/>
          <a:ln w="412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Garamond" panose="02020404030301010803" pitchFamily="18" charset="0"/>
            </a:endParaRPr>
          </a:p>
        </p:txBody>
      </p:sp>
      <p:pic>
        <p:nvPicPr>
          <p:cNvPr id="25604" name="Picture 4" descr="IMG00001">
            <a:extLst>
              <a:ext uri="{FF2B5EF4-FFF2-40B4-BE49-F238E27FC236}">
                <a16:creationId xmlns:a16="http://schemas.microsoft.com/office/drawing/2014/main" id="{8DF13E28-02CD-F925-F03F-CBFB72BE37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9392" b="14746"/>
          <a:stretch>
            <a:fillRect/>
          </a:stretch>
        </p:blipFill>
        <p:spPr bwMode="auto">
          <a:xfrm>
            <a:off x="457200" y="2590800"/>
            <a:ext cx="44767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5" descr="IMG00001">
            <a:extLst>
              <a:ext uri="{FF2B5EF4-FFF2-40B4-BE49-F238E27FC236}">
                <a16:creationId xmlns:a16="http://schemas.microsoft.com/office/drawing/2014/main" id="{7B0D1E9D-3C4A-0F54-1B2A-C08D7F6093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4262"/>
          <a:stretch>
            <a:fillRect/>
          </a:stretch>
        </p:blipFill>
        <p:spPr bwMode="auto">
          <a:xfrm>
            <a:off x="468313" y="4365625"/>
            <a:ext cx="453548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Line 6">
            <a:extLst>
              <a:ext uri="{FF2B5EF4-FFF2-40B4-BE49-F238E27FC236}">
                <a16:creationId xmlns:a16="http://schemas.microsoft.com/office/drawing/2014/main" id="{62600569-D0DE-2B0C-2A4A-11CA9F42647E}"/>
              </a:ext>
            </a:extLst>
          </p:cNvPr>
          <p:cNvSpPr>
            <a:spLocks noChangeShapeType="1"/>
          </p:cNvSpPr>
          <p:nvPr/>
        </p:nvSpPr>
        <p:spPr bwMode="auto">
          <a:xfrm>
            <a:off x="2590800" y="1524000"/>
            <a:ext cx="2514600" cy="0"/>
          </a:xfrm>
          <a:prstGeom prst="line">
            <a:avLst/>
          </a:prstGeom>
          <a:noFill/>
          <a:ln w="412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07" name="Text Box 7">
            <a:extLst>
              <a:ext uri="{FF2B5EF4-FFF2-40B4-BE49-F238E27FC236}">
                <a16:creationId xmlns:a16="http://schemas.microsoft.com/office/drawing/2014/main" id="{652A7752-2BC3-E13E-39D6-B4F8422C7F42}"/>
              </a:ext>
            </a:extLst>
          </p:cNvPr>
          <p:cNvSpPr txBox="1">
            <a:spLocks noChangeArrowheads="1"/>
          </p:cNvSpPr>
          <p:nvPr/>
        </p:nvSpPr>
        <p:spPr bwMode="auto">
          <a:xfrm>
            <a:off x="5181600" y="1295400"/>
            <a:ext cx="1847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1800">
                <a:latin typeface="Arial" panose="020B0604020202020204" pitchFamily="34" charset="0"/>
              </a:rPr>
              <a:t>Holliday junction</a:t>
            </a:r>
          </a:p>
        </p:txBody>
      </p:sp>
      <p:sp>
        <p:nvSpPr>
          <p:cNvPr id="25608" name="Text Box 8">
            <a:extLst>
              <a:ext uri="{FF2B5EF4-FFF2-40B4-BE49-F238E27FC236}">
                <a16:creationId xmlns:a16="http://schemas.microsoft.com/office/drawing/2014/main" id="{19CF6DA1-5869-0311-C00F-1099FE50E180}"/>
              </a:ext>
            </a:extLst>
          </p:cNvPr>
          <p:cNvSpPr txBox="1">
            <a:spLocks noChangeArrowheads="1"/>
          </p:cNvSpPr>
          <p:nvPr/>
        </p:nvSpPr>
        <p:spPr bwMode="auto">
          <a:xfrm>
            <a:off x="5029200" y="2971800"/>
            <a:ext cx="227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1800">
                <a:latin typeface="Arial" panose="020B0604020202020204" pitchFamily="34" charset="0"/>
              </a:rPr>
              <a:t>----Branch migration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A018391-86A2-EA4A-28E3-A529D0736DB1}"/>
              </a:ext>
            </a:extLst>
          </p:cNvPr>
          <p:cNvSpPr>
            <a:spLocks noGrp="1" noRot="1" noChangeArrowheads="1"/>
          </p:cNvSpPr>
          <p:nvPr>
            <p:ph type="title"/>
          </p:nvPr>
        </p:nvSpPr>
        <p:spPr/>
        <p:txBody>
          <a:bodyPr/>
          <a:lstStyle/>
          <a:p>
            <a:pPr eaLnBrk="1" hangingPunct="1"/>
            <a:r>
              <a:rPr lang="en-US" altLang="en-US" sz="3600">
                <a:solidFill>
                  <a:srgbClr val="0000FF"/>
                </a:solidFill>
              </a:rPr>
              <a:t>Products of Holliday Recombination</a:t>
            </a:r>
            <a:endParaRPr lang="en-GB" altLang="en-US" sz="3600">
              <a:solidFill>
                <a:srgbClr val="0000FF"/>
              </a:solidFill>
            </a:endParaRPr>
          </a:p>
        </p:txBody>
      </p:sp>
      <p:pic>
        <p:nvPicPr>
          <p:cNvPr id="27651" name="Picture 4" descr="IMG00001">
            <a:extLst>
              <a:ext uri="{FF2B5EF4-FFF2-40B4-BE49-F238E27FC236}">
                <a16:creationId xmlns:a16="http://schemas.microsoft.com/office/drawing/2014/main" id="{0F1B1430-3926-2B7F-FFD6-5D6179D81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8977"/>
          <a:stretch>
            <a:fillRect/>
          </a:stretch>
        </p:blipFill>
        <p:spPr bwMode="auto">
          <a:xfrm>
            <a:off x="0" y="1557338"/>
            <a:ext cx="9144000" cy="486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 Box 5">
            <a:extLst>
              <a:ext uri="{FF2B5EF4-FFF2-40B4-BE49-F238E27FC236}">
                <a16:creationId xmlns:a16="http://schemas.microsoft.com/office/drawing/2014/main" id="{CDC073BD-F758-AEDF-C710-D96F953C1F43}"/>
              </a:ext>
            </a:extLst>
          </p:cNvPr>
          <p:cNvSpPr txBox="1">
            <a:spLocks noChangeArrowheads="1"/>
          </p:cNvSpPr>
          <p:nvPr/>
        </p:nvSpPr>
        <p:spPr bwMode="auto">
          <a:xfrm>
            <a:off x="250825" y="4508500"/>
            <a:ext cx="3455988" cy="366713"/>
          </a:xfrm>
          <a:prstGeom prst="rect">
            <a:avLst/>
          </a:prstGeom>
          <a:solidFill>
            <a:schemeClr val="accent5">
              <a:lumMod val="20000"/>
              <a:lumOff val="80000"/>
            </a:schemeClr>
          </a:solidFill>
          <a:ln>
            <a:noFill/>
          </a:ln>
        </p:spPr>
        <p:txBody>
          <a:bodyPr>
            <a:spAutoFit/>
          </a:bodyPr>
          <a:lstStyle>
            <a:lvl1pPr marL="342900" indent="-342900" eaLnBrk="0" hangingPunct="0">
              <a:defRPr>
                <a:solidFill>
                  <a:schemeClr val="tx1"/>
                </a:solidFill>
                <a:latin typeface="Garamond" pitchFamily="18" charset="0"/>
                <a:cs typeface="Arial" charset="0"/>
              </a:defRPr>
            </a:lvl1pPr>
            <a:lvl2pPr marL="742950" indent="-285750" eaLnBrk="0" hangingPunct="0">
              <a:defRPr>
                <a:solidFill>
                  <a:schemeClr val="tx1"/>
                </a:solidFill>
                <a:latin typeface="Garamond" pitchFamily="18" charset="0"/>
                <a:cs typeface="Arial" charset="0"/>
              </a:defRPr>
            </a:lvl2pPr>
            <a:lvl3pPr marL="1143000" indent="-228600" eaLnBrk="0" hangingPunct="0">
              <a:defRPr>
                <a:solidFill>
                  <a:schemeClr val="tx1"/>
                </a:solidFill>
                <a:latin typeface="Garamond" pitchFamily="18" charset="0"/>
                <a:cs typeface="Arial" charset="0"/>
              </a:defRPr>
            </a:lvl3pPr>
            <a:lvl4pPr marL="1600200" indent="-228600" eaLnBrk="0" hangingPunct="0">
              <a:defRPr>
                <a:solidFill>
                  <a:schemeClr val="tx1"/>
                </a:solidFill>
                <a:latin typeface="Garamond" pitchFamily="18" charset="0"/>
                <a:cs typeface="Arial" charset="0"/>
              </a:defRPr>
            </a:lvl4pPr>
            <a:lvl5pPr marL="2057400" indent="-228600" eaLnBrk="0" hangingPunct="0">
              <a:defRPr>
                <a:solidFill>
                  <a:schemeClr val="tx1"/>
                </a:solidFill>
                <a:latin typeface="Garamond" pitchFamily="18" charset="0"/>
                <a:cs typeface="Arial" charset="0"/>
              </a:defRPr>
            </a:lvl5pPr>
            <a:lvl6pPr marL="2514600" indent="-228600" eaLnBrk="0" fontAlgn="base" hangingPunct="0">
              <a:spcBef>
                <a:spcPct val="0"/>
              </a:spcBef>
              <a:spcAft>
                <a:spcPct val="0"/>
              </a:spcAft>
              <a:defRPr>
                <a:solidFill>
                  <a:schemeClr val="tx1"/>
                </a:solidFill>
                <a:latin typeface="Garamond" pitchFamily="18" charset="0"/>
                <a:cs typeface="Arial" charset="0"/>
              </a:defRPr>
            </a:lvl6pPr>
            <a:lvl7pPr marL="2971800" indent="-228600" eaLnBrk="0" fontAlgn="base" hangingPunct="0">
              <a:spcBef>
                <a:spcPct val="0"/>
              </a:spcBef>
              <a:spcAft>
                <a:spcPct val="0"/>
              </a:spcAft>
              <a:defRPr>
                <a:solidFill>
                  <a:schemeClr val="tx1"/>
                </a:solidFill>
                <a:latin typeface="Garamond" pitchFamily="18" charset="0"/>
                <a:cs typeface="Arial" charset="0"/>
              </a:defRPr>
            </a:lvl7pPr>
            <a:lvl8pPr marL="3429000" indent="-228600" eaLnBrk="0" fontAlgn="base" hangingPunct="0">
              <a:spcBef>
                <a:spcPct val="0"/>
              </a:spcBef>
              <a:spcAft>
                <a:spcPct val="0"/>
              </a:spcAft>
              <a:defRPr>
                <a:solidFill>
                  <a:schemeClr val="tx1"/>
                </a:solidFill>
                <a:latin typeface="Garamond" pitchFamily="18" charset="0"/>
                <a:cs typeface="Arial" charset="0"/>
              </a:defRPr>
            </a:lvl8pPr>
            <a:lvl9pPr marL="3886200" indent="-228600" eaLnBrk="0" fontAlgn="base" hangingPunct="0">
              <a:spcBef>
                <a:spcPct val="0"/>
              </a:spcBef>
              <a:spcAft>
                <a:spcPct val="0"/>
              </a:spcAft>
              <a:defRPr>
                <a:solidFill>
                  <a:schemeClr val="tx1"/>
                </a:solidFill>
                <a:latin typeface="Garamond" pitchFamily="18" charset="0"/>
                <a:cs typeface="Arial" charset="0"/>
              </a:defRPr>
            </a:lvl9pPr>
          </a:lstStyle>
          <a:p>
            <a:pPr eaLnBrk="1" hangingPunct="1">
              <a:defRPr/>
            </a:pPr>
            <a:r>
              <a:rPr lang="en-US" dirty="0">
                <a:solidFill>
                  <a:srgbClr val="FF0000"/>
                </a:solidFill>
                <a:latin typeface="Arial" charset="0"/>
              </a:rPr>
              <a:t>Non-crossover “patch” product</a:t>
            </a:r>
            <a:endParaRPr lang="en-GB" dirty="0">
              <a:solidFill>
                <a:srgbClr val="FF0000"/>
              </a:solidFill>
              <a:latin typeface="Arial" charset="0"/>
            </a:endParaRPr>
          </a:p>
        </p:txBody>
      </p:sp>
      <p:sp>
        <p:nvSpPr>
          <p:cNvPr id="16389" name="Text Box 6">
            <a:extLst>
              <a:ext uri="{FF2B5EF4-FFF2-40B4-BE49-F238E27FC236}">
                <a16:creationId xmlns:a16="http://schemas.microsoft.com/office/drawing/2014/main" id="{DF288F2D-4059-C002-0BF9-9B35773CDED6}"/>
              </a:ext>
            </a:extLst>
          </p:cNvPr>
          <p:cNvSpPr txBox="1">
            <a:spLocks noChangeArrowheads="1"/>
          </p:cNvSpPr>
          <p:nvPr/>
        </p:nvSpPr>
        <p:spPr bwMode="auto">
          <a:xfrm>
            <a:off x="5975350" y="4581525"/>
            <a:ext cx="3024188" cy="366713"/>
          </a:xfrm>
          <a:prstGeom prst="rect">
            <a:avLst/>
          </a:prstGeom>
          <a:solidFill>
            <a:schemeClr val="accent5">
              <a:lumMod val="20000"/>
              <a:lumOff val="80000"/>
            </a:schemeClr>
          </a:solidFill>
          <a:ln>
            <a:noFill/>
          </a:ln>
        </p:spPr>
        <p:txBody>
          <a:bodyPr>
            <a:spAutoFit/>
          </a:bodyPr>
          <a:lstStyle>
            <a:lvl1pPr marL="342900" indent="-342900" eaLnBrk="0" hangingPunct="0">
              <a:defRPr>
                <a:solidFill>
                  <a:schemeClr val="tx1"/>
                </a:solidFill>
                <a:latin typeface="Garamond" pitchFamily="18" charset="0"/>
                <a:cs typeface="Arial" charset="0"/>
              </a:defRPr>
            </a:lvl1pPr>
            <a:lvl2pPr marL="742950" indent="-285750" eaLnBrk="0" hangingPunct="0">
              <a:defRPr>
                <a:solidFill>
                  <a:schemeClr val="tx1"/>
                </a:solidFill>
                <a:latin typeface="Garamond" pitchFamily="18" charset="0"/>
                <a:cs typeface="Arial" charset="0"/>
              </a:defRPr>
            </a:lvl2pPr>
            <a:lvl3pPr marL="1143000" indent="-228600" eaLnBrk="0" hangingPunct="0">
              <a:defRPr>
                <a:solidFill>
                  <a:schemeClr val="tx1"/>
                </a:solidFill>
                <a:latin typeface="Garamond" pitchFamily="18" charset="0"/>
                <a:cs typeface="Arial" charset="0"/>
              </a:defRPr>
            </a:lvl3pPr>
            <a:lvl4pPr marL="1600200" indent="-228600" eaLnBrk="0" hangingPunct="0">
              <a:defRPr>
                <a:solidFill>
                  <a:schemeClr val="tx1"/>
                </a:solidFill>
                <a:latin typeface="Garamond" pitchFamily="18" charset="0"/>
                <a:cs typeface="Arial" charset="0"/>
              </a:defRPr>
            </a:lvl4pPr>
            <a:lvl5pPr marL="2057400" indent="-228600" eaLnBrk="0" hangingPunct="0">
              <a:defRPr>
                <a:solidFill>
                  <a:schemeClr val="tx1"/>
                </a:solidFill>
                <a:latin typeface="Garamond" pitchFamily="18" charset="0"/>
                <a:cs typeface="Arial" charset="0"/>
              </a:defRPr>
            </a:lvl5pPr>
            <a:lvl6pPr marL="2514600" indent="-228600" eaLnBrk="0" fontAlgn="base" hangingPunct="0">
              <a:spcBef>
                <a:spcPct val="0"/>
              </a:spcBef>
              <a:spcAft>
                <a:spcPct val="0"/>
              </a:spcAft>
              <a:defRPr>
                <a:solidFill>
                  <a:schemeClr val="tx1"/>
                </a:solidFill>
                <a:latin typeface="Garamond" pitchFamily="18" charset="0"/>
                <a:cs typeface="Arial" charset="0"/>
              </a:defRPr>
            </a:lvl6pPr>
            <a:lvl7pPr marL="2971800" indent="-228600" eaLnBrk="0" fontAlgn="base" hangingPunct="0">
              <a:spcBef>
                <a:spcPct val="0"/>
              </a:spcBef>
              <a:spcAft>
                <a:spcPct val="0"/>
              </a:spcAft>
              <a:defRPr>
                <a:solidFill>
                  <a:schemeClr val="tx1"/>
                </a:solidFill>
                <a:latin typeface="Garamond" pitchFamily="18" charset="0"/>
                <a:cs typeface="Arial" charset="0"/>
              </a:defRPr>
            </a:lvl7pPr>
            <a:lvl8pPr marL="3429000" indent="-228600" eaLnBrk="0" fontAlgn="base" hangingPunct="0">
              <a:spcBef>
                <a:spcPct val="0"/>
              </a:spcBef>
              <a:spcAft>
                <a:spcPct val="0"/>
              </a:spcAft>
              <a:defRPr>
                <a:solidFill>
                  <a:schemeClr val="tx1"/>
                </a:solidFill>
                <a:latin typeface="Garamond" pitchFamily="18" charset="0"/>
                <a:cs typeface="Arial" charset="0"/>
              </a:defRPr>
            </a:lvl8pPr>
            <a:lvl9pPr marL="3886200" indent="-228600" eaLnBrk="0" fontAlgn="base" hangingPunct="0">
              <a:spcBef>
                <a:spcPct val="0"/>
              </a:spcBef>
              <a:spcAft>
                <a:spcPct val="0"/>
              </a:spcAft>
              <a:defRPr>
                <a:solidFill>
                  <a:schemeClr val="tx1"/>
                </a:solidFill>
                <a:latin typeface="Garamond" pitchFamily="18" charset="0"/>
                <a:cs typeface="Arial" charset="0"/>
              </a:defRPr>
            </a:lvl9pPr>
          </a:lstStyle>
          <a:p>
            <a:pPr eaLnBrk="1" hangingPunct="1">
              <a:defRPr/>
            </a:pPr>
            <a:r>
              <a:rPr lang="en-US" dirty="0">
                <a:solidFill>
                  <a:srgbClr val="FF0000"/>
                </a:solidFill>
                <a:latin typeface="Arial" charset="0"/>
              </a:rPr>
              <a:t>crossover “Splice” product</a:t>
            </a:r>
            <a:endParaRPr lang="en-GB" dirty="0">
              <a:solidFill>
                <a:srgbClr val="FF0000"/>
              </a:solidFill>
              <a:latin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Amjad Courses\BT451\Molecular Biology of the Gene images\watson_mm_jpg_chap010\chap010\10_Figure02.jpg">
            <a:extLst>
              <a:ext uri="{FF2B5EF4-FFF2-40B4-BE49-F238E27FC236}">
                <a16:creationId xmlns:a16="http://schemas.microsoft.com/office/drawing/2014/main" id="{ED9AAFAB-3799-99BE-46CA-8474F45A6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6200" y="0"/>
            <a:ext cx="6564313" cy="679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extBox 4">
            <a:extLst>
              <a:ext uri="{FF2B5EF4-FFF2-40B4-BE49-F238E27FC236}">
                <a16:creationId xmlns:a16="http://schemas.microsoft.com/office/drawing/2014/main" id="{2F5140AE-99BC-5737-3E53-CB1B8FC59745}"/>
              </a:ext>
            </a:extLst>
          </p:cNvPr>
          <p:cNvSpPr txBox="1">
            <a:spLocks noChangeArrowheads="1"/>
          </p:cNvSpPr>
          <p:nvPr/>
        </p:nvSpPr>
        <p:spPr bwMode="auto">
          <a:xfrm>
            <a:off x="34925" y="3783013"/>
            <a:ext cx="2592388" cy="9239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FF"/>
                </a:solidFill>
                <a:latin typeface="Garamond" panose="02020404030301010803" pitchFamily="18" charset="0"/>
              </a:rPr>
              <a:t>Strand-exchange proteins: </a:t>
            </a:r>
            <a:r>
              <a:rPr lang="en-US" altLang="en-US" sz="1800" b="1">
                <a:latin typeface="Garamond" panose="02020404030301010803" pitchFamily="18" charset="0"/>
              </a:rPr>
              <a:t>enzymes that </a:t>
            </a:r>
          </a:p>
          <a:p>
            <a:pPr eaLnBrk="1" hangingPunct="1">
              <a:spcBef>
                <a:spcPct val="0"/>
              </a:spcBef>
              <a:buFontTx/>
              <a:buNone/>
            </a:pPr>
            <a:r>
              <a:rPr lang="en-US" altLang="en-US" sz="1800" b="1">
                <a:latin typeface="Garamond" panose="02020404030301010803" pitchFamily="18" charset="0"/>
              </a:rPr>
              <a:t>Catalyze strand invasion</a:t>
            </a:r>
          </a:p>
        </p:txBody>
      </p:sp>
      <p:sp>
        <p:nvSpPr>
          <p:cNvPr id="29700" name="TextBox 5">
            <a:extLst>
              <a:ext uri="{FF2B5EF4-FFF2-40B4-BE49-F238E27FC236}">
                <a16:creationId xmlns:a16="http://schemas.microsoft.com/office/drawing/2014/main" id="{29481F8D-7B19-2C07-05F1-04DB7FA49454}"/>
              </a:ext>
            </a:extLst>
          </p:cNvPr>
          <p:cNvSpPr txBox="1">
            <a:spLocks noChangeArrowheads="1"/>
          </p:cNvSpPr>
          <p:nvPr/>
        </p:nvSpPr>
        <p:spPr bwMode="auto">
          <a:xfrm>
            <a:off x="323850" y="404813"/>
            <a:ext cx="230346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solidFill>
                  <a:srgbClr val="0000FF"/>
                </a:solidFill>
                <a:latin typeface="Times New Roman" panose="02020603050405020304" pitchFamily="18" charset="0"/>
                <a:cs typeface="Times New Roman" panose="02020603050405020304" pitchFamily="18" charset="0"/>
              </a:rPr>
              <a:t>Holliday model through the steps of branch migration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2">
            <a:extLst>
              <a:ext uri="{FF2B5EF4-FFF2-40B4-BE49-F238E27FC236}">
                <a16:creationId xmlns:a16="http://schemas.microsoft.com/office/drawing/2014/main" id="{4F1CEB2B-103F-8606-54DB-12FDA371F21C}"/>
              </a:ext>
            </a:extLst>
          </p:cNvPr>
          <p:cNvSpPr>
            <a:spLocks noGrp="1"/>
          </p:cNvSpPr>
          <p:nvPr>
            <p:ph type="title"/>
          </p:nvPr>
        </p:nvSpPr>
        <p:spPr/>
        <p:txBody>
          <a:bodyPr/>
          <a:lstStyle/>
          <a:p>
            <a:pPr eaLnBrk="1" hangingPunct="1"/>
            <a:r>
              <a:rPr lang="en-US" altLang="en-US">
                <a:solidFill>
                  <a:srgbClr val="0000FF"/>
                </a:solidFill>
              </a:rPr>
              <a:t>Resolving Holiday junctions is a key step to finishing genetic exchange</a:t>
            </a:r>
          </a:p>
        </p:txBody>
      </p:sp>
      <p:sp>
        <p:nvSpPr>
          <p:cNvPr id="31747" name="Content Placeholder 3">
            <a:extLst>
              <a:ext uri="{FF2B5EF4-FFF2-40B4-BE49-F238E27FC236}">
                <a16:creationId xmlns:a16="http://schemas.microsoft.com/office/drawing/2014/main" id="{9755F779-F094-4999-8C12-284F19E13F58}"/>
              </a:ext>
            </a:extLst>
          </p:cNvPr>
          <p:cNvSpPr>
            <a:spLocks noGrp="1"/>
          </p:cNvSpPr>
          <p:nvPr>
            <p:ph idx="1"/>
          </p:nvPr>
        </p:nvSpPr>
        <p:spPr>
          <a:xfrm>
            <a:off x="468313" y="2133600"/>
            <a:ext cx="8229600" cy="3195638"/>
          </a:xfrm>
        </p:spPr>
        <p:txBody>
          <a:bodyPr/>
          <a:lstStyle/>
          <a:p>
            <a:pPr eaLnBrk="1" hangingPunct="1"/>
            <a:r>
              <a:rPr lang="en-US" altLang="en-US"/>
              <a:t>To make the cut sites easier to visualize, the Holliday junction is </a:t>
            </a:r>
            <a:r>
              <a:rPr lang="en-US" altLang="en-US" b="1">
                <a:solidFill>
                  <a:schemeClr val="accent2"/>
                </a:solidFill>
              </a:rPr>
              <a:t>rotated to give a square, planar structure with no crossing strands</a:t>
            </a:r>
          </a:p>
          <a:p>
            <a:pPr eaLnBrk="1" hangingPunct="1"/>
            <a:r>
              <a:rPr lang="en-US" altLang="en-US"/>
              <a:t>The two strands with the same </a:t>
            </a:r>
            <a:r>
              <a:rPr lang="en-US" altLang="en-US" b="1">
                <a:solidFill>
                  <a:srgbClr val="0000FF"/>
                </a:solidFill>
              </a:rPr>
              <a:t>sequence and polarity must be cleaved.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H:\Amjad Courses\BT451\Molecular Biology of the Gene images\watson_mm_jpg_chap010\chap010\10_Figure03.jpg">
            <a:extLst>
              <a:ext uri="{FF2B5EF4-FFF2-40B4-BE49-F238E27FC236}">
                <a16:creationId xmlns:a16="http://schemas.microsoft.com/office/drawing/2014/main" id="{31F60488-073F-3C86-ACD6-A06112FE65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198" b="42827"/>
          <a:stretch>
            <a:fillRect/>
          </a:stretch>
        </p:blipFill>
        <p:spPr bwMode="auto">
          <a:xfrm>
            <a:off x="1979613" y="836613"/>
            <a:ext cx="4968875"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Box 4">
            <a:extLst>
              <a:ext uri="{FF2B5EF4-FFF2-40B4-BE49-F238E27FC236}">
                <a16:creationId xmlns:a16="http://schemas.microsoft.com/office/drawing/2014/main" id="{E0CF3A8F-5F3C-8DE5-FC31-633BAE6102AB}"/>
              </a:ext>
            </a:extLst>
          </p:cNvPr>
          <p:cNvSpPr txBox="1">
            <a:spLocks noChangeArrowheads="1"/>
          </p:cNvSpPr>
          <p:nvPr/>
        </p:nvSpPr>
        <p:spPr bwMode="auto">
          <a:xfrm>
            <a:off x="2195513" y="115888"/>
            <a:ext cx="58324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0000FF"/>
                </a:solidFill>
                <a:latin typeface="Times New Roman" panose="02020603050405020304" pitchFamily="18" charset="0"/>
                <a:cs typeface="Times New Roman" panose="02020603050405020304" pitchFamily="18" charset="0"/>
              </a:rPr>
              <a:t>Holliday junction cleavage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H:\Amjad Courses\BT451\Molecular Biology of the Gene images\watson_mm_jpg_chap010\chap010\10_Figure03.jpg">
            <a:extLst>
              <a:ext uri="{FF2B5EF4-FFF2-40B4-BE49-F238E27FC236}">
                <a16:creationId xmlns:a16="http://schemas.microsoft.com/office/drawing/2014/main" id="{430F53D7-A748-8E1C-7A6E-122DF00F8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8244"/>
          <a:stretch>
            <a:fillRect/>
          </a:stretch>
        </p:blipFill>
        <p:spPr bwMode="auto">
          <a:xfrm>
            <a:off x="755650" y="620713"/>
            <a:ext cx="7840663" cy="556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6" descr="http://www.web-books.com/MoBio/Free/images/Ch8D2.gif">
            <a:extLst>
              <a:ext uri="{FF2B5EF4-FFF2-40B4-BE49-F238E27FC236}">
                <a16:creationId xmlns:a16="http://schemas.microsoft.com/office/drawing/2014/main" id="{E05D4F24-921B-B7DB-B4D7-1CF84D23D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0"/>
            <a:ext cx="5903912" cy="676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EAE37F43-94B9-6557-BE65-145274964D39}"/>
              </a:ext>
            </a:extLst>
          </p:cNvPr>
          <p:cNvSpPr>
            <a:spLocks noGrp="1" noRot="1" noChangeArrowheads="1"/>
          </p:cNvSpPr>
          <p:nvPr>
            <p:ph type="title"/>
          </p:nvPr>
        </p:nvSpPr>
        <p:spPr>
          <a:xfrm>
            <a:off x="107950" y="115888"/>
            <a:ext cx="2808288" cy="1139825"/>
          </a:xfrm>
        </p:spPr>
        <p:txBody>
          <a:bodyPr/>
          <a:lstStyle/>
          <a:p>
            <a:pPr eaLnBrk="1" hangingPunct="1"/>
            <a:r>
              <a:rPr lang="en-GB" altLang="en-US" sz="3600" b="1">
                <a:solidFill>
                  <a:srgbClr val="0000FF"/>
                </a:solidFill>
              </a:rPr>
              <a:t>DSB repair model</a:t>
            </a:r>
          </a:p>
        </p:txBody>
      </p:sp>
      <p:pic>
        <p:nvPicPr>
          <p:cNvPr id="39939" name="Picture 5" descr="img053">
            <a:extLst>
              <a:ext uri="{FF2B5EF4-FFF2-40B4-BE49-F238E27FC236}">
                <a16:creationId xmlns:a16="http://schemas.microsoft.com/office/drawing/2014/main" id="{6312A9B4-B0B6-7126-2AF6-18A7CC36F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5255"/>
          <a:stretch>
            <a:fillRect/>
          </a:stretch>
        </p:blipFill>
        <p:spPr bwMode="auto">
          <a:xfrm>
            <a:off x="2970213" y="0"/>
            <a:ext cx="61737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Line 6">
            <a:extLst>
              <a:ext uri="{FF2B5EF4-FFF2-40B4-BE49-F238E27FC236}">
                <a16:creationId xmlns:a16="http://schemas.microsoft.com/office/drawing/2014/main" id="{E4E7DF24-9ADE-75C2-35FF-9317D48B18E2}"/>
              </a:ext>
            </a:extLst>
          </p:cNvPr>
          <p:cNvSpPr>
            <a:spLocks noChangeShapeType="1"/>
          </p:cNvSpPr>
          <p:nvPr/>
        </p:nvSpPr>
        <p:spPr bwMode="auto">
          <a:xfrm>
            <a:off x="7127875" y="3176588"/>
            <a:ext cx="576263" cy="0"/>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3" descr="img053">
            <a:extLst>
              <a:ext uri="{FF2B5EF4-FFF2-40B4-BE49-F238E27FC236}">
                <a16:creationId xmlns:a16="http://schemas.microsoft.com/office/drawing/2014/main" id="{8571C7AD-E51D-0756-9405-F0C318707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4745"/>
          <a:stretch>
            <a:fillRect/>
          </a:stretch>
        </p:blipFill>
        <p:spPr bwMode="auto">
          <a:xfrm>
            <a:off x="1476375" y="0"/>
            <a:ext cx="6480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7">
            <a:extLst>
              <a:ext uri="{FF2B5EF4-FFF2-40B4-BE49-F238E27FC236}">
                <a16:creationId xmlns:a16="http://schemas.microsoft.com/office/drawing/2014/main" id="{6DE855DE-8B7C-A4D8-9F31-7E5BAF2D3B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41438"/>
            <a:ext cx="9144000"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5" name="Rectangle 8">
            <a:extLst>
              <a:ext uri="{FF2B5EF4-FFF2-40B4-BE49-F238E27FC236}">
                <a16:creationId xmlns:a16="http://schemas.microsoft.com/office/drawing/2014/main" id="{0403C15C-8098-5CB5-2B89-6E62BC38CAF2}"/>
              </a:ext>
            </a:extLst>
          </p:cNvPr>
          <p:cNvSpPr>
            <a:spLocks noGrp="1" noRot="1" noChangeArrowheads="1"/>
          </p:cNvSpPr>
          <p:nvPr>
            <p:ph type="title"/>
          </p:nvPr>
        </p:nvSpPr>
        <p:spPr>
          <a:xfrm>
            <a:off x="468313" y="0"/>
            <a:ext cx="8229600" cy="1341438"/>
          </a:xfrm>
        </p:spPr>
        <p:txBody>
          <a:bodyPr/>
          <a:lstStyle/>
          <a:p>
            <a:pPr eaLnBrk="1" hangingPunct="1"/>
            <a:r>
              <a:rPr lang="en-US" altLang="en-US" sz="3200" b="1">
                <a:solidFill>
                  <a:srgbClr val="0000FF"/>
                </a:solidFill>
              </a:rPr>
              <a:t>How to resolve a recombination intermediate with two Holliday junctions</a:t>
            </a:r>
            <a:endParaRPr lang="en-GB" altLang="en-US" sz="3200" b="1">
              <a:solidFill>
                <a:srgbClr val="0000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029A470-DCA9-ABB2-C50D-17B1F59FC027}"/>
              </a:ext>
            </a:extLst>
          </p:cNvPr>
          <p:cNvSpPr>
            <a:spLocks noGrp="1" noChangeArrowheads="1"/>
          </p:cNvSpPr>
          <p:nvPr>
            <p:ph type="ctrTitle"/>
          </p:nvPr>
        </p:nvSpPr>
        <p:spPr/>
        <p:txBody>
          <a:bodyPr/>
          <a:lstStyle/>
          <a:p>
            <a:pPr eaLnBrk="1" hangingPunct="1"/>
            <a:r>
              <a:rPr lang="en-GB" altLang="en-US" b="1">
                <a:solidFill>
                  <a:srgbClr val="C00000"/>
                </a:solidFill>
              </a:rPr>
              <a:t>Homologous Recombination Protein Machines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258DB26-1F21-F675-C008-AC333042A856}"/>
              </a:ext>
            </a:extLst>
          </p:cNvPr>
          <p:cNvSpPr>
            <a:spLocks noGrp="1" noRot="1" noChangeArrowheads="1"/>
          </p:cNvSpPr>
          <p:nvPr>
            <p:ph type="title"/>
          </p:nvPr>
        </p:nvSpPr>
        <p:spPr>
          <a:xfrm>
            <a:off x="468313" y="0"/>
            <a:ext cx="8229600" cy="849313"/>
          </a:xfrm>
        </p:spPr>
        <p:txBody>
          <a:bodyPr/>
          <a:lstStyle/>
          <a:p>
            <a:pPr eaLnBrk="1" hangingPunct="1"/>
            <a:r>
              <a:rPr lang="en-GB" altLang="en-US" b="1">
                <a:solidFill>
                  <a:srgbClr val="0000FF"/>
                </a:solidFill>
              </a:rPr>
              <a:t>Protein Machines</a:t>
            </a:r>
          </a:p>
        </p:txBody>
      </p:sp>
      <p:sp>
        <p:nvSpPr>
          <p:cNvPr id="48131" name="Rectangle 3">
            <a:extLst>
              <a:ext uri="{FF2B5EF4-FFF2-40B4-BE49-F238E27FC236}">
                <a16:creationId xmlns:a16="http://schemas.microsoft.com/office/drawing/2014/main" id="{902A4BE0-3827-9F7B-F8DE-0829F8341C3F}"/>
              </a:ext>
            </a:extLst>
          </p:cNvPr>
          <p:cNvSpPr>
            <a:spLocks noGrp="1" noChangeArrowheads="1"/>
          </p:cNvSpPr>
          <p:nvPr>
            <p:ph idx="1"/>
          </p:nvPr>
        </p:nvSpPr>
        <p:spPr>
          <a:xfrm>
            <a:off x="468313" y="1125538"/>
            <a:ext cx="8229600" cy="4525962"/>
          </a:xfrm>
        </p:spPr>
        <p:txBody>
          <a:bodyPr/>
          <a:lstStyle/>
          <a:p>
            <a:pPr marL="609600" indent="-609600" eaLnBrk="1" hangingPunct="1">
              <a:lnSpc>
                <a:spcPct val="90000"/>
              </a:lnSpc>
            </a:pPr>
            <a:r>
              <a:rPr lang="en-GB" altLang="en-US"/>
              <a:t>All organisms encode enzymes needed for recombination</a:t>
            </a:r>
          </a:p>
          <a:p>
            <a:pPr marL="609600" indent="-609600" eaLnBrk="1" hangingPunct="1">
              <a:lnSpc>
                <a:spcPct val="90000"/>
              </a:lnSpc>
            </a:pPr>
            <a:endParaRPr lang="en-GB" altLang="en-US" sz="2400"/>
          </a:p>
          <a:p>
            <a:pPr marL="609600" indent="-609600" eaLnBrk="1" hangingPunct="1">
              <a:lnSpc>
                <a:spcPct val="90000"/>
              </a:lnSpc>
            </a:pPr>
            <a:r>
              <a:rPr lang="en-GB" altLang="en-US" i="1"/>
              <a:t>E.coli</a:t>
            </a:r>
            <a:r>
              <a:rPr lang="en-GB" altLang="en-US"/>
              <a:t> uses the </a:t>
            </a:r>
            <a:r>
              <a:rPr lang="en-GB" altLang="en-US" b="1">
                <a:solidFill>
                  <a:srgbClr val="FF0000"/>
                </a:solidFill>
              </a:rPr>
              <a:t>RecBCD</a:t>
            </a:r>
            <a:r>
              <a:rPr lang="en-GB" altLang="en-US">
                <a:solidFill>
                  <a:srgbClr val="FF0000"/>
                </a:solidFill>
              </a:rPr>
              <a:t> </a:t>
            </a:r>
            <a:r>
              <a:rPr lang="en-GB" altLang="en-US"/>
              <a:t>pathway (DSB repair, conjugation and transduction)</a:t>
            </a:r>
            <a:endParaRPr lang="en-US" altLang="en-US"/>
          </a:p>
          <a:p>
            <a:pPr marL="609600" indent="-609600" eaLnBrk="1" hangingPunct="1">
              <a:lnSpc>
                <a:spcPct val="90000"/>
              </a:lnSpc>
            </a:pPr>
            <a:r>
              <a:rPr lang="en-US" altLang="en-US"/>
              <a:t>Other Enzymes needed include:</a:t>
            </a:r>
          </a:p>
          <a:p>
            <a:pPr marL="990600" lvl="1" indent="-533400" eaLnBrk="1" hangingPunct="1">
              <a:lnSpc>
                <a:spcPct val="90000"/>
              </a:lnSpc>
            </a:pPr>
            <a:r>
              <a:rPr lang="en-US" altLang="en-US" b="1"/>
              <a:t>DNA polymerase </a:t>
            </a:r>
            <a:endParaRPr lang="en-US" altLang="en-US" sz="2000" b="1">
              <a:sym typeface="Symbol" pitchFamily="2" charset="2"/>
            </a:endParaRPr>
          </a:p>
          <a:p>
            <a:pPr marL="990600" lvl="1" indent="-533400" eaLnBrk="1" hangingPunct="1">
              <a:lnSpc>
                <a:spcPct val="90000"/>
              </a:lnSpc>
            </a:pPr>
            <a:r>
              <a:rPr lang="en-US" altLang="en-US" b="1"/>
              <a:t>Topoisomerase</a:t>
            </a:r>
            <a:endParaRPr lang="en-US" altLang="en-US" sz="2000" b="1"/>
          </a:p>
          <a:p>
            <a:pPr marL="990600" lvl="1" indent="-533400" eaLnBrk="1" hangingPunct="1">
              <a:lnSpc>
                <a:spcPct val="90000"/>
              </a:lnSpc>
            </a:pPr>
            <a:r>
              <a:rPr lang="en-US" altLang="en-US" b="1"/>
              <a:t>ligase</a:t>
            </a:r>
            <a:endParaRPr lang="en-GB" altLang="en-US" sz="2000" b="1"/>
          </a:p>
          <a:p>
            <a:pPr marL="609600" indent="-609600" eaLnBrk="1" hangingPunct="1">
              <a:lnSpc>
                <a:spcPct val="90000"/>
              </a:lnSpc>
            </a:pPr>
            <a:endParaRPr lang="en-GB"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3" descr="11_01Table-L">
            <a:extLst>
              <a:ext uri="{FF2B5EF4-FFF2-40B4-BE49-F238E27FC236}">
                <a16:creationId xmlns:a16="http://schemas.microsoft.com/office/drawing/2014/main" id="{CA993D90-A00B-CA4D-616B-F96A1C73A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879"/>
          <a:stretch>
            <a:fillRect/>
          </a:stretch>
        </p:blipFill>
        <p:spPr bwMode="auto">
          <a:xfrm>
            <a:off x="179388" y="1341438"/>
            <a:ext cx="8785225"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1">
            <a:extLst>
              <a:ext uri="{FF2B5EF4-FFF2-40B4-BE49-F238E27FC236}">
                <a16:creationId xmlns:a16="http://schemas.microsoft.com/office/drawing/2014/main" id="{293BEF85-403B-57DF-D66F-26EE5731F672}"/>
              </a:ext>
            </a:extLst>
          </p:cNvPr>
          <p:cNvSpPr>
            <a:spLocks noChangeArrowheads="1"/>
          </p:cNvSpPr>
          <p:nvPr/>
        </p:nvSpPr>
        <p:spPr bwMode="auto">
          <a:xfrm>
            <a:off x="2195513" y="620713"/>
            <a:ext cx="47529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GB" altLang="en-US" sz="4000" b="1">
                <a:solidFill>
                  <a:srgbClr val="FF0000"/>
                </a:solidFill>
                <a:latin typeface="Arial" panose="020B0604020202020204" pitchFamily="34" charset="0"/>
              </a:rPr>
              <a:t>Protein Machines</a:t>
            </a:r>
            <a:endParaRPr lang="en-US" altLang="en-US" sz="4000">
              <a:solidFill>
                <a:srgbClr val="FF0000"/>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1C604FE-B0B5-2A1D-3A14-464C428A0236}"/>
              </a:ext>
            </a:extLst>
          </p:cNvPr>
          <p:cNvSpPr>
            <a:spLocks noGrp="1" noRot="1" noChangeArrowheads="1"/>
          </p:cNvSpPr>
          <p:nvPr>
            <p:ph type="title"/>
          </p:nvPr>
        </p:nvSpPr>
        <p:spPr>
          <a:xfrm>
            <a:off x="457200" y="274638"/>
            <a:ext cx="8229600" cy="993775"/>
          </a:xfrm>
        </p:spPr>
        <p:txBody>
          <a:bodyPr/>
          <a:lstStyle/>
          <a:p>
            <a:pPr eaLnBrk="1" hangingPunct="1"/>
            <a:r>
              <a:rPr lang="en-US" altLang="en-US" b="1">
                <a:solidFill>
                  <a:srgbClr val="0000FF"/>
                </a:solidFill>
              </a:rPr>
              <a:t>Steps of the </a:t>
            </a:r>
            <a:r>
              <a:rPr lang="en-US" altLang="en-US" b="1">
                <a:solidFill>
                  <a:srgbClr val="FF0000"/>
                </a:solidFill>
              </a:rPr>
              <a:t>RecBCD </a:t>
            </a:r>
            <a:r>
              <a:rPr lang="en-US" altLang="en-US" b="1">
                <a:solidFill>
                  <a:srgbClr val="0000FF"/>
                </a:solidFill>
              </a:rPr>
              <a:t>pathway</a:t>
            </a:r>
            <a:endParaRPr lang="en-GB" altLang="en-US" b="1">
              <a:solidFill>
                <a:srgbClr val="0000FF"/>
              </a:solidFill>
            </a:endParaRPr>
          </a:p>
        </p:txBody>
      </p:sp>
      <p:sp>
        <p:nvSpPr>
          <p:cNvPr id="52227" name="Rectangle 3">
            <a:extLst>
              <a:ext uri="{FF2B5EF4-FFF2-40B4-BE49-F238E27FC236}">
                <a16:creationId xmlns:a16="http://schemas.microsoft.com/office/drawing/2014/main" id="{146A4FE4-E99F-F476-9CFD-31154EEB3929}"/>
              </a:ext>
            </a:extLst>
          </p:cNvPr>
          <p:cNvSpPr>
            <a:spLocks noGrp="1" noChangeArrowheads="1"/>
          </p:cNvSpPr>
          <p:nvPr>
            <p:ph idx="1"/>
          </p:nvPr>
        </p:nvSpPr>
        <p:spPr>
          <a:xfrm>
            <a:off x="684213" y="1628775"/>
            <a:ext cx="7786687" cy="4525963"/>
          </a:xfrm>
        </p:spPr>
        <p:txBody>
          <a:bodyPr/>
          <a:lstStyle/>
          <a:p>
            <a:pPr marL="533400" indent="-533400" eaLnBrk="1" hangingPunct="1">
              <a:buFont typeface="Wingdings" pitchFamily="2" charset="2"/>
              <a:buAutoNum type="arabicPeriod"/>
            </a:pPr>
            <a:r>
              <a:rPr lang="en-US" altLang="en-US" sz="2800" b="1">
                <a:solidFill>
                  <a:srgbClr val="7030A0"/>
                </a:solidFill>
              </a:rPr>
              <a:t>DSB results from DNA damage / Failure of replication fork (</a:t>
            </a:r>
            <a:r>
              <a:rPr lang="en-US" altLang="en-US" sz="2800" b="1" i="1">
                <a:solidFill>
                  <a:srgbClr val="7030A0"/>
                </a:solidFill>
              </a:rPr>
              <a:t>E.coli</a:t>
            </a:r>
            <a:r>
              <a:rPr lang="en-US" altLang="en-US" sz="2800" b="1">
                <a:solidFill>
                  <a:srgbClr val="7030A0"/>
                </a:solidFill>
              </a:rPr>
              <a:t>)</a:t>
            </a:r>
            <a:endParaRPr lang="en-US" altLang="en-US" sz="1600" b="1">
              <a:solidFill>
                <a:srgbClr val="7030A0"/>
              </a:solidFill>
            </a:endParaRPr>
          </a:p>
          <a:p>
            <a:pPr marL="533400" indent="-533400" eaLnBrk="1" hangingPunct="1">
              <a:buFont typeface="Wingdings" pitchFamily="2" charset="2"/>
              <a:buAutoNum type="arabicPeriod"/>
            </a:pPr>
            <a:r>
              <a:rPr lang="en-US" altLang="en-US" sz="2800" b="1"/>
              <a:t>RecBCD</a:t>
            </a:r>
            <a:r>
              <a:rPr lang="en-US" altLang="en-US" sz="2800"/>
              <a:t> processes DNA to generate </a:t>
            </a:r>
            <a:r>
              <a:rPr lang="en-US" altLang="en-US" sz="2800">
                <a:solidFill>
                  <a:srgbClr val="0000FF"/>
                </a:solidFill>
              </a:rPr>
              <a:t>ssDNA</a:t>
            </a:r>
          </a:p>
          <a:p>
            <a:pPr marL="533400" indent="-533400" eaLnBrk="1" hangingPunct="1">
              <a:buFont typeface="Wingdings" pitchFamily="2" charset="2"/>
              <a:buAutoNum type="arabicPeriod"/>
            </a:pPr>
            <a:endParaRPr lang="en-US" altLang="en-US" sz="1600"/>
          </a:p>
          <a:p>
            <a:pPr marL="533400" indent="-533400" eaLnBrk="1" hangingPunct="1">
              <a:buFont typeface="Wingdings" pitchFamily="2" charset="2"/>
              <a:buAutoNum type="arabicPeriod"/>
            </a:pPr>
            <a:r>
              <a:rPr lang="en-US" altLang="en-US" sz="2800" b="1"/>
              <a:t>RecA</a:t>
            </a:r>
            <a:r>
              <a:rPr lang="en-US" altLang="en-US" sz="2800"/>
              <a:t> promotes strand </a:t>
            </a:r>
            <a:r>
              <a:rPr lang="en-US" altLang="en-US" sz="2800">
                <a:solidFill>
                  <a:srgbClr val="0000FF"/>
                </a:solidFill>
              </a:rPr>
              <a:t>invasion</a:t>
            </a:r>
          </a:p>
          <a:p>
            <a:pPr marL="533400" indent="-533400" eaLnBrk="1" hangingPunct="1">
              <a:buFont typeface="Wingdings" pitchFamily="2" charset="2"/>
              <a:buAutoNum type="arabicPeriod"/>
            </a:pPr>
            <a:endParaRPr lang="en-US" altLang="en-US" sz="1600"/>
          </a:p>
          <a:p>
            <a:pPr marL="533400" indent="-533400" eaLnBrk="1" hangingPunct="1">
              <a:buFont typeface="Wingdings" pitchFamily="2" charset="2"/>
              <a:buAutoNum type="arabicPeriod"/>
            </a:pPr>
            <a:r>
              <a:rPr lang="en-US" altLang="en-US" sz="2800" b="1"/>
              <a:t>RuvAB</a:t>
            </a:r>
            <a:r>
              <a:rPr lang="en-US" altLang="en-US" sz="2800"/>
              <a:t> complex catalyzes </a:t>
            </a:r>
            <a:r>
              <a:rPr lang="en-US" altLang="en-US" sz="2800">
                <a:solidFill>
                  <a:srgbClr val="0000FF"/>
                </a:solidFill>
              </a:rPr>
              <a:t>branch</a:t>
            </a:r>
            <a:r>
              <a:rPr lang="en-US" altLang="en-US" sz="2800"/>
              <a:t> </a:t>
            </a:r>
            <a:r>
              <a:rPr lang="en-US" altLang="en-US" sz="2800">
                <a:solidFill>
                  <a:srgbClr val="0000FF"/>
                </a:solidFill>
              </a:rPr>
              <a:t>migration</a:t>
            </a:r>
          </a:p>
          <a:p>
            <a:pPr marL="533400" indent="-533400" eaLnBrk="1" hangingPunct="1">
              <a:buFont typeface="Wingdings" pitchFamily="2" charset="2"/>
              <a:buAutoNum type="arabicPeriod"/>
            </a:pPr>
            <a:endParaRPr lang="en-US" altLang="en-US" sz="1600">
              <a:solidFill>
                <a:srgbClr val="FFFF29"/>
              </a:solidFill>
            </a:endParaRPr>
          </a:p>
          <a:p>
            <a:pPr marL="533400" indent="-533400" eaLnBrk="1" hangingPunct="1">
              <a:buFont typeface="Wingdings" pitchFamily="2" charset="2"/>
              <a:buAutoNum type="arabicPeriod"/>
            </a:pPr>
            <a:r>
              <a:rPr lang="en-US" altLang="en-US" sz="2800" b="1"/>
              <a:t>RuvC</a:t>
            </a:r>
            <a:r>
              <a:rPr lang="en-US" altLang="en-US" sz="2800"/>
              <a:t> catalyzes </a:t>
            </a:r>
            <a:r>
              <a:rPr lang="en-US" altLang="en-US" sz="2800">
                <a:solidFill>
                  <a:srgbClr val="0000FF"/>
                </a:solidFill>
              </a:rPr>
              <a:t>Holliday junction resolution</a:t>
            </a:r>
            <a:endParaRPr lang="en-GB" altLang="en-US" sz="280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06CBE10-F248-B245-4BF7-927EC2CD7058}"/>
              </a:ext>
            </a:extLst>
          </p:cNvPr>
          <p:cNvSpPr>
            <a:spLocks noGrp="1" noRot="1" noChangeArrowheads="1"/>
          </p:cNvSpPr>
          <p:nvPr>
            <p:ph type="title"/>
          </p:nvPr>
        </p:nvSpPr>
        <p:spPr>
          <a:xfrm>
            <a:off x="395288" y="0"/>
            <a:ext cx="8229600" cy="1143000"/>
          </a:xfrm>
        </p:spPr>
        <p:txBody>
          <a:bodyPr/>
          <a:lstStyle/>
          <a:p>
            <a:pPr eaLnBrk="1" hangingPunct="1"/>
            <a:r>
              <a:rPr lang="en-US" altLang="en-US" sz="3200" b="1">
                <a:solidFill>
                  <a:srgbClr val="0000FF"/>
                </a:solidFill>
              </a:rPr>
              <a:t>RecBCD helicase/ nuclease processes broken DNA molecules for recombination</a:t>
            </a:r>
            <a:endParaRPr lang="en-GB" altLang="en-US" sz="3200" b="1">
              <a:solidFill>
                <a:srgbClr val="0000FF"/>
              </a:solidFill>
            </a:endParaRPr>
          </a:p>
        </p:txBody>
      </p:sp>
      <p:sp>
        <p:nvSpPr>
          <p:cNvPr id="54275" name="Rectangle 3">
            <a:extLst>
              <a:ext uri="{FF2B5EF4-FFF2-40B4-BE49-F238E27FC236}">
                <a16:creationId xmlns:a16="http://schemas.microsoft.com/office/drawing/2014/main" id="{33C236E9-03DC-B359-BC71-15B62B4A518E}"/>
              </a:ext>
            </a:extLst>
          </p:cNvPr>
          <p:cNvSpPr>
            <a:spLocks noGrp="1" noChangeArrowheads="1"/>
          </p:cNvSpPr>
          <p:nvPr>
            <p:ph type="body" sz="half" idx="1"/>
          </p:nvPr>
        </p:nvSpPr>
        <p:spPr>
          <a:xfrm>
            <a:off x="468313" y="1341438"/>
            <a:ext cx="8229600" cy="5183187"/>
          </a:xfrm>
        </p:spPr>
        <p:txBody>
          <a:bodyPr/>
          <a:lstStyle/>
          <a:p>
            <a:pPr eaLnBrk="1" hangingPunct="1"/>
            <a:r>
              <a:rPr lang="en-US" altLang="en-US" sz="2800"/>
              <a:t>Processes broken DNA molecules to </a:t>
            </a:r>
            <a:r>
              <a:rPr lang="en-US" altLang="en-US" sz="2800">
                <a:solidFill>
                  <a:srgbClr val="0000FF"/>
                </a:solidFill>
              </a:rPr>
              <a:t>generate ssDNA </a:t>
            </a:r>
            <a:r>
              <a:rPr lang="en-US" altLang="en-US" sz="2800"/>
              <a:t>regions</a:t>
            </a:r>
          </a:p>
          <a:p>
            <a:pPr eaLnBrk="1" hangingPunct="1"/>
            <a:r>
              <a:rPr lang="en-US" altLang="en-US" sz="2800"/>
              <a:t>Helps </a:t>
            </a:r>
            <a:r>
              <a:rPr lang="en-US" altLang="en-US" sz="2800">
                <a:solidFill>
                  <a:srgbClr val="0000FF"/>
                </a:solidFill>
              </a:rPr>
              <a:t>load the RecA strand-exchange protein </a:t>
            </a:r>
            <a:r>
              <a:rPr lang="en-US" altLang="en-US" sz="2800"/>
              <a:t>onto ssDNA</a:t>
            </a:r>
          </a:p>
          <a:p>
            <a:pPr eaLnBrk="1" hangingPunct="1"/>
            <a:r>
              <a:rPr lang="en-US" altLang="en-US" sz="2800"/>
              <a:t>Multiple enzymatic activities of RecBCD provides a means for cells to </a:t>
            </a:r>
            <a:r>
              <a:rPr lang="en-US" altLang="en-US" sz="2800" b="1">
                <a:solidFill>
                  <a:srgbClr val="C00000"/>
                </a:solidFill>
              </a:rPr>
              <a:t>choose whether to recombine with or destroy DNA molecules that enter a cell.</a:t>
            </a:r>
          </a:p>
          <a:p>
            <a:pPr eaLnBrk="1" hangingPunct="1"/>
            <a:r>
              <a:rPr lang="en-US" altLang="en-US" sz="2800"/>
              <a:t>3 proteins; </a:t>
            </a:r>
            <a:r>
              <a:rPr lang="en-US" altLang="en-US" sz="2800" b="1"/>
              <a:t>Rec B, Rec C, Rec D</a:t>
            </a:r>
          </a:p>
          <a:p>
            <a:pPr eaLnBrk="1" hangingPunct="1"/>
            <a:r>
              <a:rPr lang="en-US" altLang="en-US" sz="2800"/>
              <a:t>Has both </a:t>
            </a:r>
            <a:r>
              <a:rPr lang="en-US" altLang="en-US" sz="2800" b="1"/>
              <a:t>helicase</a:t>
            </a:r>
            <a:r>
              <a:rPr lang="en-US" altLang="en-US" sz="2800"/>
              <a:t> and </a:t>
            </a:r>
            <a:r>
              <a:rPr lang="en-US" altLang="en-US" sz="2800" b="1"/>
              <a:t>nuclease</a:t>
            </a:r>
            <a:r>
              <a:rPr lang="en-US" altLang="en-US" sz="2800"/>
              <a:t> activities</a:t>
            </a:r>
          </a:p>
          <a:p>
            <a:pPr eaLnBrk="1" hangingPunct="1"/>
            <a:r>
              <a:rPr lang="en-US" altLang="en-US" sz="2800"/>
              <a:t>The activities of </a:t>
            </a:r>
            <a:r>
              <a:rPr lang="en-US" altLang="en-US" sz="2800" b="1"/>
              <a:t>RecBCD</a:t>
            </a:r>
            <a:r>
              <a:rPr lang="en-US" altLang="en-US" sz="2800"/>
              <a:t> are controlled by specific DNA sequences called </a:t>
            </a:r>
            <a:r>
              <a:rPr lang="en-US" altLang="en-US" sz="2800" b="1">
                <a:solidFill>
                  <a:srgbClr val="00B050"/>
                </a:solidFill>
              </a:rPr>
              <a:t>chi sites </a:t>
            </a:r>
            <a:r>
              <a:rPr lang="en-US" altLang="en-US" sz="2800"/>
              <a:t>(</a:t>
            </a:r>
            <a:r>
              <a:rPr lang="el-GR" altLang="en-US" sz="2800" b="1" i="1">
                <a:solidFill>
                  <a:srgbClr val="00B050"/>
                </a:solidFill>
              </a:rPr>
              <a:t>Χ</a:t>
            </a:r>
            <a:r>
              <a:rPr lang="en-US" altLang="en-US" sz="280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a:extLst>
              <a:ext uri="{FF2B5EF4-FFF2-40B4-BE49-F238E27FC236}">
                <a16:creationId xmlns:a16="http://schemas.microsoft.com/office/drawing/2014/main" id="{035FF355-DAFC-74A2-5C13-E45943D8F3FD}"/>
              </a:ext>
            </a:extLst>
          </p:cNvPr>
          <p:cNvSpPr>
            <a:spLocks noGrp="1"/>
          </p:cNvSpPr>
          <p:nvPr>
            <p:ph idx="1"/>
          </p:nvPr>
        </p:nvSpPr>
        <p:spPr>
          <a:xfrm>
            <a:off x="323850" y="333375"/>
            <a:ext cx="4103688" cy="6524625"/>
          </a:xfrm>
        </p:spPr>
        <p:txBody>
          <a:bodyPr/>
          <a:lstStyle/>
          <a:p>
            <a:pPr eaLnBrk="1" hangingPunct="1"/>
            <a:r>
              <a:rPr lang="en-US" altLang="en-US" sz="1800"/>
              <a:t>RecBCD enters the DNA at the site of the DSB and moves along the DNA, unwinding the strands</a:t>
            </a:r>
          </a:p>
          <a:p>
            <a:pPr eaLnBrk="1" hangingPunct="1"/>
            <a:r>
              <a:rPr lang="en-US" altLang="en-US" sz="1800"/>
              <a:t>The RecB and RecD subunits (use ATP to melt DNA)</a:t>
            </a:r>
          </a:p>
          <a:p>
            <a:pPr eaLnBrk="1" hangingPunct="1"/>
            <a:r>
              <a:rPr lang="en-US" altLang="en-US" sz="1800" b="1"/>
              <a:t>RecB</a:t>
            </a:r>
            <a:r>
              <a:rPr lang="en-US" altLang="en-US" sz="1800"/>
              <a:t> is a </a:t>
            </a:r>
            <a:r>
              <a:rPr lang="en-US" altLang="en-US" sz="1800">
                <a:solidFill>
                  <a:srgbClr val="0000FF"/>
                </a:solidFill>
              </a:rPr>
              <a:t>3 ' to 5' helicase </a:t>
            </a:r>
            <a:r>
              <a:rPr lang="en-US" altLang="en-US" sz="1800"/>
              <a:t>and has a multifunctional </a:t>
            </a:r>
            <a:r>
              <a:rPr lang="en-US" altLang="en-US" sz="1800">
                <a:solidFill>
                  <a:srgbClr val="0000FF"/>
                </a:solidFill>
              </a:rPr>
              <a:t>DNA nuclease </a:t>
            </a:r>
            <a:r>
              <a:rPr lang="en-US" altLang="en-US" sz="1800"/>
              <a:t>domain while </a:t>
            </a:r>
            <a:r>
              <a:rPr lang="en-US" altLang="en-US" sz="1800" b="1"/>
              <a:t>RecD</a:t>
            </a:r>
            <a:r>
              <a:rPr lang="en-US" altLang="en-US" sz="1800"/>
              <a:t> is a </a:t>
            </a:r>
            <a:r>
              <a:rPr lang="en-US" altLang="en-US" sz="1800">
                <a:solidFill>
                  <a:srgbClr val="0000FF"/>
                </a:solidFill>
              </a:rPr>
              <a:t>5' to 3' helicase</a:t>
            </a:r>
          </a:p>
          <a:p>
            <a:pPr eaLnBrk="1" hangingPunct="1"/>
            <a:r>
              <a:rPr lang="en-US" altLang="en-US" sz="1800" b="1"/>
              <a:t>RecC</a:t>
            </a:r>
            <a:r>
              <a:rPr lang="en-US" altLang="en-US" sz="1800"/>
              <a:t> functions to </a:t>
            </a:r>
            <a:r>
              <a:rPr lang="en-US" altLang="en-US" sz="1800">
                <a:solidFill>
                  <a:srgbClr val="0000FF"/>
                </a:solidFill>
              </a:rPr>
              <a:t>recognize the chi sites</a:t>
            </a:r>
          </a:p>
          <a:p>
            <a:pPr eaLnBrk="1" hangingPunct="1"/>
            <a:r>
              <a:rPr lang="en-US" altLang="en-US" sz="1800"/>
              <a:t>Upon encountering the chi sequence, the </a:t>
            </a:r>
            <a:r>
              <a:rPr lang="en-US" altLang="en-US" sz="1800">
                <a:solidFill>
                  <a:srgbClr val="0000FF"/>
                </a:solidFill>
              </a:rPr>
              <a:t>nuclease activity </a:t>
            </a:r>
            <a:r>
              <a:rPr lang="en-US" altLang="en-US" sz="1800"/>
              <a:t>of the </a:t>
            </a:r>
            <a:r>
              <a:rPr lang="en-US" altLang="en-US" sz="1800" b="1"/>
              <a:t>RecBCD</a:t>
            </a:r>
            <a:r>
              <a:rPr lang="en-US" altLang="en-US" sz="1800"/>
              <a:t>  is </a:t>
            </a:r>
            <a:r>
              <a:rPr lang="en-US" altLang="en-US" sz="1800">
                <a:solidFill>
                  <a:srgbClr val="0000FF"/>
                </a:solidFill>
              </a:rPr>
              <a:t>altered</a:t>
            </a:r>
            <a:r>
              <a:rPr lang="en-US" altLang="en-US" sz="1800"/>
              <a:t> (</a:t>
            </a:r>
            <a:r>
              <a:rPr lang="en-US" altLang="en-US" sz="1800">
                <a:solidFill>
                  <a:srgbClr val="FF0000"/>
                </a:solidFill>
              </a:rPr>
              <a:t>due to inactivation of RecD</a:t>
            </a:r>
            <a:r>
              <a:rPr lang="en-US" altLang="en-US" sz="1800"/>
              <a:t>)</a:t>
            </a:r>
          </a:p>
          <a:p>
            <a:pPr eaLnBrk="1" hangingPunct="1"/>
            <a:r>
              <a:rPr lang="en-US" altLang="en-US" sz="1800"/>
              <a:t>It is no longer cleaves the DNA with 3' to 5' polarity  but cleaves the other strand more frequently</a:t>
            </a:r>
          </a:p>
          <a:p>
            <a:pPr eaLnBrk="1" hangingPunct="1"/>
            <a:r>
              <a:rPr lang="en-US" altLang="en-US" sz="1800"/>
              <a:t>As a result, a duplex DNA molecule is converted into one with </a:t>
            </a:r>
            <a:r>
              <a:rPr lang="en-US" altLang="en-US" sz="1800">
                <a:solidFill>
                  <a:srgbClr val="0000FF"/>
                </a:solidFill>
              </a:rPr>
              <a:t>3' single stranded extension</a:t>
            </a:r>
          </a:p>
          <a:p>
            <a:pPr eaLnBrk="1" hangingPunct="1"/>
            <a:r>
              <a:rPr lang="en-US" altLang="en-US" sz="1800"/>
              <a:t>This structure is ideal for assembly of </a:t>
            </a:r>
            <a:r>
              <a:rPr lang="en-US" altLang="en-US" sz="1800">
                <a:solidFill>
                  <a:srgbClr val="0000FF"/>
                </a:solidFill>
              </a:rPr>
              <a:t>RecA and initiation of strand exchange</a:t>
            </a:r>
          </a:p>
          <a:p>
            <a:pPr eaLnBrk="1" hangingPunct="1"/>
            <a:endParaRPr lang="en-US" altLang="en-US" sz="2000"/>
          </a:p>
        </p:txBody>
      </p:sp>
      <p:pic>
        <p:nvPicPr>
          <p:cNvPr id="56323" name="Picture 4" descr="11_05Figure-L">
            <a:extLst>
              <a:ext uri="{FF2B5EF4-FFF2-40B4-BE49-F238E27FC236}">
                <a16:creationId xmlns:a16="http://schemas.microsoft.com/office/drawing/2014/main" id="{418EE071-2530-0DF4-FDD3-CA55B8FF1A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5"/>
          <a:stretch>
            <a:fillRect/>
          </a:stretch>
        </p:blipFill>
        <p:spPr bwMode="auto">
          <a:xfrm>
            <a:off x="5219700" y="214313"/>
            <a:ext cx="3673475" cy="642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4">
            <a:extLst>
              <a:ext uri="{FF2B5EF4-FFF2-40B4-BE49-F238E27FC236}">
                <a16:creationId xmlns:a16="http://schemas.microsoft.com/office/drawing/2014/main" id="{B4C42150-130C-413D-88C4-A60FF7E950CF}"/>
              </a:ext>
            </a:extLst>
          </p:cNvPr>
          <p:cNvSpPr>
            <a:spLocks noGrp="1"/>
          </p:cNvSpPr>
          <p:nvPr>
            <p:ph type="title"/>
          </p:nvPr>
        </p:nvSpPr>
        <p:spPr>
          <a:xfrm>
            <a:off x="457200" y="274638"/>
            <a:ext cx="8229600" cy="561975"/>
          </a:xfrm>
        </p:spPr>
        <p:txBody>
          <a:bodyPr/>
          <a:lstStyle/>
          <a:p>
            <a:pPr eaLnBrk="1" hangingPunct="1"/>
            <a:endParaRPr lang="en-US" altLang="en-US"/>
          </a:p>
        </p:txBody>
      </p:sp>
      <p:pic>
        <p:nvPicPr>
          <p:cNvPr id="58371" name="Picture 4" descr="spotlight_dna_repair_fig1s">
            <a:extLst>
              <a:ext uri="{FF2B5EF4-FFF2-40B4-BE49-F238E27FC236}">
                <a16:creationId xmlns:a16="http://schemas.microsoft.com/office/drawing/2014/main" id="{A5D17D01-7769-A030-B7BC-44A42C59DA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8" y="1341438"/>
            <a:ext cx="8262937"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H:\Amjad Courses\BT451\Molecular Biology of the Gene images\watson_mm_jpg_chap010\chap010\10_Figure06.jpg">
            <a:extLst>
              <a:ext uri="{FF2B5EF4-FFF2-40B4-BE49-F238E27FC236}">
                <a16:creationId xmlns:a16="http://schemas.microsoft.com/office/drawing/2014/main" id="{6CD88BB8-E51A-5D4F-AC24-4FF23F414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6588" y="188913"/>
            <a:ext cx="5967412" cy="650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Content Placeholder 5">
            <a:extLst>
              <a:ext uri="{FF2B5EF4-FFF2-40B4-BE49-F238E27FC236}">
                <a16:creationId xmlns:a16="http://schemas.microsoft.com/office/drawing/2014/main" id="{996B79DE-5FDD-7C61-08BE-8DFAF3CA4900}"/>
              </a:ext>
            </a:extLst>
          </p:cNvPr>
          <p:cNvSpPr>
            <a:spLocks noGrp="1"/>
          </p:cNvSpPr>
          <p:nvPr>
            <p:ph idx="1"/>
          </p:nvPr>
        </p:nvSpPr>
        <p:spPr>
          <a:xfrm>
            <a:off x="250825" y="908050"/>
            <a:ext cx="2747963" cy="4926013"/>
          </a:xfrm>
        </p:spPr>
        <p:txBody>
          <a:bodyPr/>
          <a:lstStyle/>
          <a:p>
            <a:pPr eaLnBrk="1" hangingPunct="1"/>
            <a:r>
              <a:rPr lang="en-US" altLang="en-US" sz="2000"/>
              <a:t>The DNA enters from the top, it encounter a </a:t>
            </a:r>
            <a:r>
              <a:rPr lang="en-US" altLang="en-US" sz="2000">
                <a:solidFill>
                  <a:srgbClr val="0000FF"/>
                </a:solidFill>
              </a:rPr>
              <a:t>pin structure </a:t>
            </a:r>
            <a:r>
              <a:rPr lang="en-US" altLang="en-US" sz="2000"/>
              <a:t>protruding from </a:t>
            </a:r>
            <a:r>
              <a:rPr lang="en-US" altLang="en-US" sz="2000" b="1">
                <a:solidFill>
                  <a:srgbClr val="FF0000"/>
                </a:solidFill>
              </a:rPr>
              <a:t>RecC</a:t>
            </a:r>
            <a:r>
              <a:rPr lang="en-US" altLang="en-US" sz="2000">
                <a:solidFill>
                  <a:srgbClr val="FF0000"/>
                </a:solidFill>
              </a:rPr>
              <a:t> </a:t>
            </a:r>
            <a:r>
              <a:rPr lang="en-US" altLang="en-US" sz="2000"/>
              <a:t>that </a:t>
            </a:r>
            <a:r>
              <a:rPr lang="en-US" altLang="en-US" sz="2000">
                <a:solidFill>
                  <a:srgbClr val="0000FF"/>
                </a:solidFill>
              </a:rPr>
              <a:t>splits the helix </a:t>
            </a:r>
            <a:r>
              <a:rPr lang="en-US" altLang="en-US" sz="2000"/>
              <a:t>and guides the two strands to the two motors with in the enzyme</a:t>
            </a:r>
          </a:p>
          <a:p>
            <a:pPr eaLnBrk="1" hangingPunct="1"/>
            <a:r>
              <a:rPr lang="en-US" altLang="en-US" sz="2000"/>
              <a:t>The RecC channels </a:t>
            </a:r>
            <a:r>
              <a:rPr lang="en-US" altLang="en-US" sz="2000" b="1">
                <a:solidFill>
                  <a:srgbClr val="333399"/>
                </a:solidFill>
              </a:rPr>
              <a:t>the 3' strand to the RecB motor </a:t>
            </a:r>
            <a:r>
              <a:rPr lang="en-US" altLang="en-US" sz="2000"/>
              <a:t>and the </a:t>
            </a:r>
            <a:r>
              <a:rPr lang="en-US" altLang="en-US" sz="2000" b="1">
                <a:solidFill>
                  <a:srgbClr val="FF0000"/>
                </a:solidFill>
              </a:rPr>
              <a:t>5 ' strand to the RecD motor.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1B724AE-97E2-DF58-642E-E4128E3DECAD}"/>
              </a:ext>
            </a:extLst>
          </p:cNvPr>
          <p:cNvSpPr>
            <a:spLocks noGrp="1" noRot="1" noChangeArrowheads="1"/>
          </p:cNvSpPr>
          <p:nvPr>
            <p:ph type="title"/>
          </p:nvPr>
        </p:nvSpPr>
        <p:spPr>
          <a:xfrm>
            <a:off x="323850" y="260350"/>
            <a:ext cx="8496300" cy="1152525"/>
          </a:xfrm>
        </p:spPr>
        <p:txBody>
          <a:bodyPr/>
          <a:lstStyle/>
          <a:p>
            <a:pPr eaLnBrk="1" hangingPunct="1"/>
            <a:r>
              <a:rPr lang="en-US" altLang="en-US" sz="3600" b="1">
                <a:solidFill>
                  <a:srgbClr val="0000FF"/>
                </a:solidFill>
              </a:rPr>
              <a:t>Crossover hot spot instigator (Chi Sites)</a:t>
            </a:r>
            <a:endParaRPr lang="en-GB" altLang="en-US" sz="3600" b="1">
              <a:solidFill>
                <a:srgbClr val="0000FF"/>
              </a:solidFill>
            </a:endParaRPr>
          </a:p>
        </p:txBody>
      </p:sp>
      <p:sp>
        <p:nvSpPr>
          <p:cNvPr id="62467" name="Rectangle 3">
            <a:extLst>
              <a:ext uri="{FF2B5EF4-FFF2-40B4-BE49-F238E27FC236}">
                <a16:creationId xmlns:a16="http://schemas.microsoft.com/office/drawing/2014/main" id="{61A93408-24E6-6338-AB1B-E3CBD3B31E66}"/>
              </a:ext>
            </a:extLst>
          </p:cNvPr>
          <p:cNvSpPr>
            <a:spLocks noGrp="1" noChangeArrowheads="1"/>
          </p:cNvSpPr>
          <p:nvPr>
            <p:ph idx="1"/>
          </p:nvPr>
        </p:nvSpPr>
        <p:spPr>
          <a:xfrm>
            <a:off x="468313" y="1484313"/>
            <a:ext cx="8229600" cy="4824412"/>
          </a:xfrm>
        </p:spPr>
        <p:txBody>
          <a:bodyPr/>
          <a:lstStyle/>
          <a:p>
            <a:pPr eaLnBrk="1" hangingPunct="1">
              <a:lnSpc>
                <a:spcPct val="90000"/>
              </a:lnSpc>
            </a:pPr>
            <a:r>
              <a:rPr lang="en-US" altLang="zh-CN" sz="2800"/>
              <a:t>Specific sequence of DNA </a:t>
            </a:r>
            <a:r>
              <a:rPr lang="en-US" altLang="zh-CN" sz="2800" b="1">
                <a:solidFill>
                  <a:srgbClr val="FF0000"/>
                </a:solidFill>
              </a:rPr>
              <a:t>5'GCTGGTGG 3'</a:t>
            </a:r>
            <a:endParaRPr lang="en-US" altLang="zh-CN" sz="1000" b="1">
              <a:solidFill>
                <a:srgbClr val="FF0000"/>
              </a:solidFill>
            </a:endParaRPr>
          </a:p>
          <a:p>
            <a:pPr eaLnBrk="1" hangingPunct="1">
              <a:lnSpc>
                <a:spcPct val="90000"/>
              </a:lnSpc>
            </a:pPr>
            <a:r>
              <a:rPr lang="en-US" altLang="zh-CN" sz="2800"/>
              <a:t>Highly overrepresented in </a:t>
            </a:r>
            <a:r>
              <a:rPr lang="en-US" altLang="zh-CN" sz="2800" i="1"/>
              <a:t>E.coli </a:t>
            </a:r>
            <a:r>
              <a:rPr lang="en-US" altLang="zh-CN" sz="2800"/>
              <a:t>genome (1009 sites compared to 80 predicted sites)</a:t>
            </a:r>
          </a:p>
          <a:p>
            <a:pPr eaLnBrk="1" hangingPunct="1">
              <a:lnSpc>
                <a:spcPct val="90000"/>
              </a:lnSpc>
            </a:pPr>
            <a:r>
              <a:rPr lang="en-US" altLang="zh-CN" sz="2800"/>
              <a:t>The ability of chi sites to control the nuclease activity of </a:t>
            </a:r>
            <a:r>
              <a:rPr lang="en-US" altLang="zh-CN" sz="2800" b="1"/>
              <a:t>RecBCD</a:t>
            </a:r>
            <a:r>
              <a:rPr lang="en-US" altLang="zh-CN" sz="2800"/>
              <a:t> also helps bacterial cells protect themselves from foreign DNA that may enter via phage infection or conjugation.</a:t>
            </a:r>
          </a:p>
          <a:p>
            <a:pPr eaLnBrk="1" hangingPunct="1">
              <a:lnSpc>
                <a:spcPct val="90000"/>
              </a:lnSpc>
            </a:pPr>
            <a:r>
              <a:rPr lang="en-US" altLang="zh-CN" sz="2800">
                <a:solidFill>
                  <a:srgbClr val="0000FF"/>
                </a:solidFill>
              </a:rPr>
              <a:t>Increase frequency of recombination 10X</a:t>
            </a:r>
          </a:p>
          <a:p>
            <a:pPr eaLnBrk="1" hangingPunct="1">
              <a:lnSpc>
                <a:spcPct val="90000"/>
              </a:lnSpc>
            </a:pPr>
            <a:endParaRPr lang="en-US" altLang="zh-CN" sz="1000"/>
          </a:p>
          <a:p>
            <a:pPr eaLnBrk="1" hangingPunct="1">
              <a:lnSpc>
                <a:spcPct val="90000"/>
              </a:lnSpc>
            </a:pPr>
            <a:r>
              <a:rPr lang="en-US" altLang="en-US" sz="2800" b="1">
                <a:solidFill>
                  <a:srgbClr val="C00000"/>
                </a:solidFill>
              </a:rPr>
              <a:t>Destroy foreign DNA.</a:t>
            </a:r>
          </a:p>
          <a:p>
            <a:pPr eaLnBrk="1" hangingPunct="1">
              <a:lnSpc>
                <a:spcPct val="90000"/>
              </a:lnSpc>
            </a:pPr>
            <a:endParaRPr lang="en-US" altLang="en-US" sz="1000"/>
          </a:p>
          <a:p>
            <a:pPr eaLnBrk="1" hangingPunct="1">
              <a:lnSpc>
                <a:spcPct val="90000"/>
              </a:lnSpc>
            </a:pPr>
            <a:r>
              <a:rPr lang="en-US" altLang="zh-CN" sz="2800"/>
              <a:t>Alter the RecBCD function.</a:t>
            </a:r>
            <a:endParaRPr lang="en-GB" altLang="en-US" sz="2800">
              <a:ea typeface="SimSun"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a:extLst>
              <a:ext uri="{FF2B5EF4-FFF2-40B4-BE49-F238E27FC236}">
                <a16:creationId xmlns:a16="http://schemas.microsoft.com/office/drawing/2014/main" id="{FB7BF971-499D-E06D-FF72-69E91F2706AD}"/>
              </a:ext>
            </a:extLst>
          </p:cNvPr>
          <p:cNvSpPr>
            <a:spLocks noGrp="1"/>
          </p:cNvSpPr>
          <p:nvPr>
            <p:ph type="title"/>
          </p:nvPr>
        </p:nvSpPr>
        <p:spPr>
          <a:xfrm>
            <a:off x="457200" y="274638"/>
            <a:ext cx="8229600" cy="633412"/>
          </a:xfrm>
        </p:spPr>
        <p:txBody>
          <a:bodyPr/>
          <a:lstStyle/>
          <a:p>
            <a:r>
              <a:rPr lang="en-US" altLang="en-US" sz="4000" b="1">
                <a:solidFill>
                  <a:srgbClr val="0000FF"/>
                </a:solidFill>
              </a:rPr>
              <a:t>Polar action of chi</a:t>
            </a:r>
          </a:p>
        </p:txBody>
      </p:sp>
      <p:pic>
        <p:nvPicPr>
          <p:cNvPr id="64515" name="Picture 8" descr="10_Figure07">
            <a:extLst>
              <a:ext uri="{FF2B5EF4-FFF2-40B4-BE49-F238E27FC236}">
                <a16:creationId xmlns:a16="http://schemas.microsoft.com/office/drawing/2014/main" id="{61AA2583-89CA-12B2-E4F4-8AFE863E3721}"/>
              </a:ext>
            </a:extLst>
          </p:cNvPr>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31913" y="1298575"/>
            <a:ext cx="6769100" cy="5359400"/>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994AB2C-4906-05A2-3E91-7C750F0724EF}"/>
              </a:ext>
            </a:extLst>
          </p:cNvPr>
          <p:cNvSpPr>
            <a:spLocks noGrp="1" noRot="1" noChangeArrowheads="1"/>
          </p:cNvSpPr>
          <p:nvPr>
            <p:ph type="title"/>
          </p:nvPr>
        </p:nvSpPr>
        <p:spPr>
          <a:xfrm>
            <a:off x="539750" y="188913"/>
            <a:ext cx="8229600" cy="1143000"/>
          </a:xfrm>
        </p:spPr>
        <p:txBody>
          <a:bodyPr/>
          <a:lstStyle/>
          <a:p>
            <a:pPr eaLnBrk="1" hangingPunct="1"/>
            <a:r>
              <a:rPr lang="en-US" altLang="en-US" sz="3000" b="1">
                <a:solidFill>
                  <a:srgbClr val="C00000"/>
                </a:solidFill>
              </a:rPr>
              <a:t>RecA</a:t>
            </a:r>
            <a:r>
              <a:rPr lang="en-US" altLang="en-US" sz="3000" b="1">
                <a:solidFill>
                  <a:srgbClr val="0000FF"/>
                </a:solidFill>
              </a:rPr>
              <a:t> protein assembles on ssDNA and promotes strand invasion</a:t>
            </a:r>
            <a:endParaRPr lang="en-GB" altLang="en-US" sz="3000" b="1">
              <a:solidFill>
                <a:srgbClr val="0000FF"/>
              </a:solidFill>
            </a:endParaRPr>
          </a:p>
        </p:txBody>
      </p:sp>
      <p:sp>
        <p:nvSpPr>
          <p:cNvPr id="66563" name="Rectangle 3">
            <a:extLst>
              <a:ext uri="{FF2B5EF4-FFF2-40B4-BE49-F238E27FC236}">
                <a16:creationId xmlns:a16="http://schemas.microsoft.com/office/drawing/2014/main" id="{65998034-91B2-C4D2-DA38-8275B60D3D6C}"/>
              </a:ext>
            </a:extLst>
          </p:cNvPr>
          <p:cNvSpPr>
            <a:spLocks noGrp="1" noChangeArrowheads="1"/>
          </p:cNvSpPr>
          <p:nvPr>
            <p:ph type="body" sz="half" idx="2"/>
          </p:nvPr>
        </p:nvSpPr>
        <p:spPr>
          <a:xfrm>
            <a:off x="323850" y="1341438"/>
            <a:ext cx="8229600" cy="5256212"/>
          </a:xfrm>
        </p:spPr>
        <p:txBody>
          <a:bodyPr/>
          <a:lstStyle/>
          <a:p>
            <a:pPr eaLnBrk="1" hangingPunct="1"/>
            <a:r>
              <a:rPr lang="en-US" altLang="en-US" sz="2800"/>
              <a:t>A member of the strand-exchange proteins that catalyze pairing of homologous DNA molecules.</a:t>
            </a:r>
          </a:p>
          <a:p>
            <a:pPr eaLnBrk="1" hangingPunct="1"/>
            <a:r>
              <a:rPr lang="en-US" altLang="en-US" sz="2800"/>
              <a:t>The </a:t>
            </a:r>
            <a:r>
              <a:rPr lang="en-US" altLang="en-US" sz="2800">
                <a:solidFill>
                  <a:srgbClr val="0000FF"/>
                </a:solidFill>
              </a:rPr>
              <a:t>DNA pairing </a:t>
            </a:r>
            <a:r>
              <a:rPr lang="en-US" altLang="en-US" sz="2800"/>
              <a:t>and </a:t>
            </a:r>
            <a:r>
              <a:rPr lang="en-US" altLang="en-US" sz="2800">
                <a:solidFill>
                  <a:srgbClr val="0000FF"/>
                </a:solidFill>
              </a:rPr>
              <a:t>strand exchange activities</a:t>
            </a:r>
            <a:r>
              <a:rPr lang="en-US" altLang="en-US" sz="2800"/>
              <a:t> of </a:t>
            </a:r>
            <a:r>
              <a:rPr lang="en-US" altLang="en-US" sz="2800" b="1">
                <a:solidFill>
                  <a:srgbClr val="C00000"/>
                </a:solidFill>
              </a:rPr>
              <a:t>RecA</a:t>
            </a:r>
            <a:r>
              <a:rPr lang="en-US" altLang="en-US" sz="2800">
                <a:solidFill>
                  <a:srgbClr val="C00000"/>
                </a:solidFill>
              </a:rPr>
              <a:t> </a:t>
            </a:r>
            <a:r>
              <a:rPr lang="en-US" altLang="en-US" sz="2800"/>
              <a:t>can be observed using simple DNA substrates in vitro.</a:t>
            </a:r>
          </a:p>
          <a:p>
            <a:pPr eaLnBrk="1" hangingPunct="1"/>
            <a:r>
              <a:rPr lang="en-US" altLang="en-US" sz="2800"/>
              <a:t>Important features of these molecules (</a:t>
            </a:r>
            <a:r>
              <a:rPr lang="en-US" altLang="en-US" sz="2800" b="1">
                <a:solidFill>
                  <a:srgbClr val="C00000"/>
                </a:solidFill>
              </a:rPr>
              <a:t>RecA</a:t>
            </a:r>
            <a:r>
              <a:rPr lang="en-US" altLang="en-US" sz="2800"/>
              <a:t>):</a:t>
            </a:r>
          </a:p>
          <a:p>
            <a:pPr eaLnBrk="1" hangingPunct="1">
              <a:buFont typeface="Arial" panose="020B0604020202020204" pitchFamily="34" charset="0"/>
              <a:buNone/>
            </a:pPr>
            <a:r>
              <a:rPr lang="en-US" altLang="en-US" sz="2800"/>
              <a:t>	1. </a:t>
            </a:r>
            <a:r>
              <a:rPr lang="en-US" altLang="en-US" sz="2800">
                <a:solidFill>
                  <a:srgbClr val="0000FF"/>
                </a:solidFill>
              </a:rPr>
              <a:t>complementarity</a:t>
            </a:r>
            <a:r>
              <a:rPr lang="en-US" altLang="en-US" sz="2800"/>
              <a:t> between the partner molecules</a:t>
            </a:r>
          </a:p>
          <a:p>
            <a:pPr eaLnBrk="1" hangingPunct="1">
              <a:buFont typeface="Arial" panose="020B0604020202020204" pitchFamily="34" charset="0"/>
              <a:buNone/>
            </a:pPr>
            <a:r>
              <a:rPr lang="en-US" altLang="en-US" sz="2800"/>
              <a:t>	2. a </a:t>
            </a:r>
            <a:r>
              <a:rPr lang="en-US" altLang="en-US" sz="2800">
                <a:solidFill>
                  <a:srgbClr val="0000FF"/>
                </a:solidFill>
              </a:rPr>
              <a:t>ssDNA</a:t>
            </a:r>
            <a:r>
              <a:rPr lang="en-US" altLang="en-US" sz="2800"/>
              <a:t> on at least one molecule.</a:t>
            </a:r>
          </a:p>
          <a:p>
            <a:pPr eaLnBrk="1" hangingPunct="1">
              <a:buFont typeface="Arial" panose="020B0604020202020204" pitchFamily="34" charset="0"/>
              <a:buNone/>
            </a:pPr>
            <a:r>
              <a:rPr lang="en-US" altLang="en-US" sz="2800"/>
              <a:t>	3. </a:t>
            </a:r>
            <a:r>
              <a:rPr lang="en-US" altLang="en-US" sz="2800">
                <a:solidFill>
                  <a:srgbClr val="0000FF"/>
                </a:solidFill>
              </a:rPr>
              <a:t>presence of DNA end within the region </a:t>
            </a:r>
            <a:r>
              <a:rPr lang="en-US" altLang="en-US" sz="2800"/>
              <a:t>of complementarity enabling the DNA strands in the newly formed complex to </a:t>
            </a:r>
            <a:r>
              <a:rPr lang="en-US" altLang="en-US" sz="2800">
                <a:solidFill>
                  <a:srgbClr val="0000FF"/>
                </a:solidFill>
              </a:rPr>
              <a:t>intertwine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7">
            <a:extLst>
              <a:ext uri="{FF2B5EF4-FFF2-40B4-BE49-F238E27FC236}">
                <a16:creationId xmlns:a16="http://schemas.microsoft.com/office/drawing/2014/main" id="{615FE277-8B4D-923C-CF93-E117CA8C2586}"/>
              </a:ext>
            </a:extLst>
          </p:cNvPr>
          <p:cNvGrpSpPr>
            <a:grpSpLocks/>
          </p:cNvGrpSpPr>
          <p:nvPr/>
        </p:nvGrpSpPr>
        <p:grpSpPr bwMode="auto">
          <a:xfrm>
            <a:off x="827088" y="0"/>
            <a:ext cx="7077075" cy="2466975"/>
            <a:chOff x="612" y="2693"/>
            <a:chExt cx="4458" cy="1554"/>
          </a:xfrm>
        </p:grpSpPr>
        <p:pic>
          <p:nvPicPr>
            <p:cNvPr id="68613" name="Picture 4">
              <a:extLst>
                <a:ext uri="{FF2B5EF4-FFF2-40B4-BE49-F238E27FC236}">
                  <a16:creationId xmlns:a16="http://schemas.microsoft.com/office/drawing/2014/main" id="{EEE14AB2-841D-895D-7A4C-2C9E13C99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227" b="4227"/>
            <a:stretch>
              <a:fillRect/>
            </a:stretch>
          </p:blipFill>
          <p:spPr bwMode="auto">
            <a:xfrm>
              <a:off x="612" y="2693"/>
              <a:ext cx="4458" cy="1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4" name="Line 5">
              <a:extLst>
                <a:ext uri="{FF2B5EF4-FFF2-40B4-BE49-F238E27FC236}">
                  <a16:creationId xmlns:a16="http://schemas.microsoft.com/office/drawing/2014/main" id="{2FA177E0-DA83-63BC-09A7-3E1A7052D3CC}"/>
                </a:ext>
              </a:extLst>
            </p:cNvPr>
            <p:cNvSpPr>
              <a:spLocks noChangeShapeType="1"/>
            </p:cNvSpPr>
            <p:nvPr/>
          </p:nvSpPr>
          <p:spPr bwMode="auto">
            <a:xfrm flipV="1">
              <a:off x="2200" y="3475"/>
              <a:ext cx="681" cy="408"/>
            </a:xfrm>
            <a:prstGeom prst="line">
              <a:avLst/>
            </a:prstGeom>
            <a:noFill/>
            <a:ln w="31750">
              <a:solidFill>
                <a:srgbClr val="00FF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68611" name="TextBox 8">
            <a:extLst>
              <a:ext uri="{FF2B5EF4-FFF2-40B4-BE49-F238E27FC236}">
                <a16:creationId xmlns:a16="http://schemas.microsoft.com/office/drawing/2014/main" id="{81EE998F-61C4-4697-FF30-4DB58B1DD864}"/>
              </a:ext>
            </a:extLst>
          </p:cNvPr>
          <p:cNvSpPr txBox="1">
            <a:spLocks noChangeArrowheads="1"/>
          </p:cNvSpPr>
          <p:nvPr/>
        </p:nvSpPr>
        <p:spPr bwMode="auto">
          <a:xfrm>
            <a:off x="1763713" y="6219825"/>
            <a:ext cx="5689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solidFill>
                  <a:srgbClr val="FF0000"/>
                </a:solidFill>
                <a:latin typeface="Garamond" panose="02020404030301010803" pitchFamily="18" charset="0"/>
              </a:rPr>
              <a:t>Substrates for RecA strand substrate</a:t>
            </a:r>
          </a:p>
        </p:txBody>
      </p:sp>
      <p:pic>
        <p:nvPicPr>
          <p:cNvPr id="68612" name="Picture 3" descr="11_08Figure-L">
            <a:extLst>
              <a:ext uri="{FF2B5EF4-FFF2-40B4-BE49-F238E27FC236}">
                <a16:creationId xmlns:a16="http://schemas.microsoft.com/office/drawing/2014/main" id="{3E7B861F-9225-A628-966C-E250567F77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4547"/>
          <a:stretch>
            <a:fillRect/>
          </a:stretch>
        </p:blipFill>
        <p:spPr bwMode="auto">
          <a:xfrm>
            <a:off x="333375" y="2925763"/>
            <a:ext cx="8548688"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DCB2EFA3-25DA-0ED8-06C7-953D9A3E06CC}"/>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11-8a</a:t>
            </a:r>
          </a:p>
        </p:txBody>
      </p:sp>
      <p:pic>
        <p:nvPicPr>
          <p:cNvPr id="70659" name="Picture 3" descr="11_08FigureA-L">
            <a:extLst>
              <a:ext uri="{FF2B5EF4-FFF2-40B4-BE49-F238E27FC236}">
                <a16:creationId xmlns:a16="http://schemas.microsoft.com/office/drawing/2014/main" id="{6A95654A-680A-93E4-D794-C736FCAFD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287"/>
          <a:stretch>
            <a:fillRect/>
          </a:stretch>
        </p:blipFill>
        <p:spPr bwMode="auto">
          <a:xfrm>
            <a:off x="2078038" y="166688"/>
            <a:ext cx="4987925" cy="637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68CA0082-E758-4618-F735-F54B2987A255}"/>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11-8b</a:t>
            </a:r>
          </a:p>
        </p:txBody>
      </p:sp>
      <p:pic>
        <p:nvPicPr>
          <p:cNvPr id="72707" name="Picture 3" descr="11_08FigureB-L">
            <a:extLst>
              <a:ext uri="{FF2B5EF4-FFF2-40B4-BE49-F238E27FC236}">
                <a16:creationId xmlns:a16="http://schemas.microsoft.com/office/drawing/2014/main" id="{231CC7C6-F9BE-E3F0-F67B-CA6B8A633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86"/>
          <a:stretch>
            <a:fillRect/>
          </a:stretch>
        </p:blipFill>
        <p:spPr bwMode="auto">
          <a:xfrm>
            <a:off x="2022475" y="136525"/>
            <a:ext cx="5097463" cy="642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EACE2605-B808-A3E3-E9FE-7232902A272C}"/>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11-8c</a:t>
            </a:r>
          </a:p>
        </p:txBody>
      </p:sp>
      <p:pic>
        <p:nvPicPr>
          <p:cNvPr id="74755" name="Picture 3" descr="11_08FigureC-L">
            <a:extLst>
              <a:ext uri="{FF2B5EF4-FFF2-40B4-BE49-F238E27FC236}">
                <a16:creationId xmlns:a16="http://schemas.microsoft.com/office/drawing/2014/main" id="{78EC6016-EBB0-6E13-DFF7-B3E19E86F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06"/>
          <a:stretch>
            <a:fillRect/>
          </a:stretch>
        </p:blipFill>
        <p:spPr bwMode="auto">
          <a:xfrm>
            <a:off x="1843088" y="157163"/>
            <a:ext cx="5456237" cy="639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3">
            <a:extLst>
              <a:ext uri="{FF2B5EF4-FFF2-40B4-BE49-F238E27FC236}">
                <a16:creationId xmlns:a16="http://schemas.microsoft.com/office/drawing/2014/main" id="{B4D28210-15C3-19D0-4DC7-32540AC15349}"/>
              </a:ext>
            </a:extLst>
          </p:cNvPr>
          <p:cNvSpPr>
            <a:spLocks noGrp="1"/>
          </p:cNvSpPr>
          <p:nvPr>
            <p:ph idx="1"/>
          </p:nvPr>
        </p:nvSpPr>
        <p:spPr>
          <a:xfrm>
            <a:off x="107950" y="658813"/>
            <a:ext cx="3384550" cy="5467350"/>
          </a:xfrm>
        </p:spPr>
        <p:txBody>
          <a:bodyPr/>
          <a:lstStyle/>
          <a:p>
            <a:r>
              <a:rPr lang="en-US" altLang="en-US" sz="2000"/>
              <a:t>The active site of </a:t>
            </a:r>
            <a:r>
              <a:rPr lang="en-US" altLang="en-US" sz="2000" b="1">
                <a:solidFill>
                  <a:srgbClr val="FF0000"/>
                </a:solidFill>
              </a:rPr>
              <a:t>RecA</a:t>
            </a:r>
            <a:r>
              <a:rPr lang="en-US" altLang="en-US" sz="2000">
                <a:solidFill>
                  <a:srgbClr val="FF0000"/>
                </a:solidFill>
              </a:rPr>
              <a:t> </a:t>
            </a:r>
            <a:r>
              <a:rPr lang="en-US" altLang="en-US" sz="2000"/>
              <a:t>is a protein-DNA filament (huge and variable in size, 100 subunit and 300 nucleotides of DNA)</a:t>
            </a:r>
          </a:p>
          <a:p>
            <a:r>
              <a:rPr lang="en-US" altLang="en-US" sz="2000"/>
              <a:t>Filament can accommodate up to </a:t>
            </a:r>
            <a:r>
              <a:rPr lang="en-US" altLang="en-US" sz="2000" b="1"/>
              <a:t>4 strands of DNA </a:t>
            </a:r>
            <a:r>
              <a:rPr lang="en-US" altLang="en-US" sz="2000"/>
              <a:t>(1 and </a:t>
            </a:r>
            <a:r>
              <a:rPr lang="en-US" altLang="en-US" sz="2000" u="sng"/>
              <a:t>3 are most common  called </a:t>
            </a:r>
            <a:r>
              <a:rPr lang="en-US" altLang="en-US" sz="2000" b="1" u="sng">
                <a:solidFill>
                  <a:srgbClr val="FF0000"/>
                </a:solidFill>
              </a:rPr>
              <a:t>Joint Molecule</a:t>
            </a:r>
            <a:r>
              <a:rPr lang="en-US" altLang="en-US" sz="2000"/>
              <a:t>)</a:t>
            </a:r>
          </a:p>
          <a:p>
            <a:r>
              <a:rPr lang="en-US" altLang="en-US" sz="2000"/>
              <a:t>DNA is highly extended compared to uncoated ssDNA or B-DNA</a:t>
            </a:r>
          </a:p>
          <a:p>
            <a:r>
              <a:rPr lang="en-US" altLang="en-US" sz="2000"/>
              <a:t>Distance between bases is ~ 5Å compared to 3.4Å.</a:t>
            </a:r>
          </a:p>
          <a:p>
            <a:r>
              <a:rPr lang="en-US" altLang="en-US" sz="2000"/>
              <a:t>Length of DNA is extended ~ 1.5 fold</a:t>
            </a:r>
          </a:p>
        </p:txBody>
      </p:sp>
      <p:pic>
        <p:nvPicPr>
          <p:cNvPr id="76803" name="Picture 3" descr="11_09Figure-L">
            <a:extLst>
              <a:ext uri="{FF2B5EF4-FFF2-40B4-BE49-F238E27FC236}">
                <a16:creationId xmlns:a16="http://schemas.microsoft.com/office/drawing/2014/main" id="{873E0FBF-EBC5-238C-59F7-7811B52C6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86"/>
          <a:stretch>
            <a:fillRect/>
          </a:stretch>
        </p:blipFill>
        <p:spPr bwMode="auto">
          <a:xfrm>
            <a:off x="3603625" y="765175"/>
            <a:ext cx="5387975"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4D298A1F-A193-A509-71E1-16CCD9BE56D7}"/>
              </a:ext>
            </a:extLst>
          </p:cNvPr>
          <p:cNvSpPr>
            <a:spLocks noGrp="1" noRot="1" noChangeArrowheads="1"/>
          </p:cNvSpPr>
          <p:nvPr>
            <p:ph type="title"/>
          </p:nvPr>
        </p:nvSpPr>
        <p:spPr>
          <a:xfrm>
            <a:off x="457200" y="274638"/>
            <a:ext cx="8229600" cy="850900"/>
          </a:xfrm>
        </p:spPr>
        <p:txBody>
          <a:bodyPr/>
          <a:lstStyle/>
          <a:p>
            <a:pPr eaLnBrk="1" hangingPunct="1"/>
            <a:r>
              <a:rPr lang="en-US" altLang="en-US" b="1">
                <a:solidFill>
                  <a:srgbClr val="0000FF"/>
                </a:solidFill>
              </a:rPr>
              <a:t>Polarity of RecA assembly</a:t>
            </a:r>
            <a:endParaRPr lang="en-GB" altLang="en-US" b="1">
              <a:solidFill>
                <a:srgbClr val="0000FF"/>
              </a:solidFill>
            </a:endParaRPr>
          </a:p>
        </p:txBody>
      </p:sp>
      <p:pic>
        <p:nvPicPr>
          <p:cNvPr id="78851" name="Picture 4">
            <a:extLst>
              <a:ext uri="{FF2B5EF4-FFF2-40B4-BE49-F238E27FC236}">
                <a16:creationId xmlns:a16="http://schemas.microsoft.com/office/drawing/2014/main" id="{5878055A-5966-9B60-D6E8-39FBFAE60342}"/>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911350" y="1600200"/>
            <a:ext cx="5321300" cy="2185988"/>
          </a:xfrm>
        </p:spPr>
      </p:pic>
      <p:pic>
        <p:nvPicPr>
          <p:cNvPr id="211973" name="Picture 5">
            <a:extLst>
              <a:ext uri="{FF2B5EF4-FFF2-40B4-BE49-F238E27FC236}">
                <a16:creationId xmlns:a16="http://schemas.microsoft.com/office/drawing/2014/main" id="{2501BED3-681D-E524-1B70-31553AA332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1341438"/>
            <a:ext cx="8547100" cy="270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3" name="Text Placeholder 5">
            <a:extLst>
              <a:ext uri="{FF2B5EF4-FFF2-40B4-BE49-F238E27FC236}">
                <a16:creationId xmlns:a16="http://schemas.microsoft.com/office/drawing/2014/main" id="{3DC2B9E5-8505-4DCC-1749-CFDDEC56FA1E}"/>
              </a:ext>
            </a:extLst>
          </p:cNvPr>
          <p:cNvSpPr>
            <a:spLocks noGrp="1"/>
          </p:cNvSpPr>
          <p:nvPr>
            <p:ph type="body" sz="half" idx="2"/>
          </p:nvPr>
        </p:nvSpPr>
        <p:spPr>
          <a:xfrm>
            <a:off x="179388" y="4083050"/>
            <a:ext cx="8640762" cy="2730500"/>
          </a:xfrm>
        </p:spPr>
        <p:txBody>
          <a:bodyPr/>
          <a:lstStyle/>
          <a:p>
            <a:r>
              <a:rPr lang="en-US" altLang="en-US" sz="2800"/>
              <a:t>To form a filament, subunits of </a:t>
            </a:r>
            <a:r>
              <a:rPr lang="en-US" altLang="en-US" sz="2800" b="1">
                <a:solidFill>
                  <a:srgbClr val="FF0000"/>
                </a:solidFill>
              </a:rPr>
              <a:t>RecA </a:t>
            </a:r>
            <a:r>
              <a:rPr lang="en-US" altLang="en-US" sz="2800"/>
              <a:t>bind </a:t>
            </a:r>
            <a:r>
              <a:rPr lang="en-US" altLang="en-US" sz="2800" u="sng"/>
              <a:t>cooperatively</a:t>
            </a:r>
            <a:r>
              <a:rPr lang="en-US" altLang="en-US" sz="2800"/>
              <a:t> to DNA much more rapid on ssDNA than dsDNA.</a:t>
            </a:r>
          </a:p>
          <a:p>
            <a:r>
              <a:rPr lang="en-US" altLang="en-US" sz="2800"/>
              <a:t>Filament grows in the 5' to 3' such that a DNA strand that terminates in 3' ends is most likely to be coated by </a:t>
            </a:r>
            <a:r>
              <a:rPr lang="en-US" altLang="en-US" sz="2800" b="1">
                <a:solidFill>
                  <a:srgbClr val="FF0000"/>
                </a:solidFill>
              </a:rPr>
              <a:t>RecA</a:t>
            </a:r>
            <a:r>
              <a:rPr lang="en-US" altLang="en-US"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1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E2C57148-2768-868E-B69C-6AFD7B39F607}"/>
              </a:ext>
            </a:extLst>
          </p:cNvPr>
          <p:cNvSpPr>
            <a:spLocks noGrp="1" noRot="1" noChangeArrowheads="1"/>
          </p:cNvSpPr>
          <p:nvPr>
            <p:ph type="title"/>
          </p:nvPr>
        </p:nvSpPr>
        <p:spPr>
          <a:xfrm>
            <a:off x="395288" y="115888"/>
            <a:ext cx="8229600" cy="1009650"/>
          </a:xfrm>
        </p:spPr>
        <p:txBody>
          <a:bodyPr/>
          <a:lstStyle/>
          <a:p>
            <a:pPr eaLnBrk="1" hangingPunct="1"/>
            <a:r>
              <a:rPr lang="en-US" altLang="en-US" sz="2800" b="1">
                <a:solidFill>
                  <a:srgbClr val="C00000"/>
                </a:solidFill>
              </a:rPr>
              <a:t>RecA</a:t>
            </a:r>
            <a:r>
              <a:rPr lang="en-US" altLang="en-US" sz="2800">
                <a:solidFill>
                  <a:srgbClr val="C00000"/>
                </a:solidFill>
              </a:rPr>
              <a:t> </a:t>
            </a:r>
            <a:r>
              <a:rPr lang="en-US" altLang="en-US" sz="2800">
                <a:solidFill>
                  <a:srgbClr val="0000FF"/>
                </a:solidFill>
              </a:rPr>
              <a:t>searches for bp complementarity</a:t>
            </a:r>
            <a:endParaRPr lang="en-GB" altLang="en-US" sz="2800">
              <a:solidFill>
                <a:srgbClr val="0000FF"/>
              </a:solidFill>
            </a:endParaRPr>
          </a:p>
        </p:txBody>
      </p:sp>
      <p:sp>
        <p:nvSpPr>
          <p:cNvPr id="80899" name="Rectangle 3">
            <a:extLst>
              <a:ext uri="{FF2B5EF4-FFF2-40B4-BE49-F238E27FC236}">
                <a16:creationId xmlns:a16="http://schemas.microsoft.com/office/drawing/2014/main" id="{15613DC5-9549-4683-5440-25E1D8DF4239}"/>
              </a:ext>
            </a:extLst>
          </p:cNvPr>
          <p:cNvSpPr>
            <a:spLocks noGrp="1" noChangeArrowheads="1"/>
          </p:cNvSpPr>
          <p:nvPr>
            <p:ph type="body" sz="half" idx="2"/>
          </p:nvPr>
        </p:nvSpPr>
        <p:spPr>
          <a:xfrm>
            <a:off x="395288" y="4365625"/>
            <a:ext cx="8229600" cy="2187575"/>
          </a:xfrm>
        </p:spPr>
        <p:txBody>
          <a:bodyPr/>
          <a:lstStyle/>
          <a:p>
            <a:pPr eaLnBrk="1" hangingPunct="1">
              <a:lnSpc>
                <a:spcPct val="90000"/>
              </a:lnSpc>
              <a:buFont typeface="Arial" panose="020B0604020202020204" pitchFamily="34" charset="0"/>
              <a:buNone/>
            </a:pPr>
            <a:r>
              <a:rPr lang="en-US" altLang="en-US" sz="2800"/>
              <a:t>1</a:t>
            </a:r>
            <a:r>
              <a:rPr lang="en-US" altLang="en-US" sz="2800">
                <a:sym typeface="Symbol" pitchFamily="2" charset="2"/>
              </a:rPr>
              <a:t> binding site  invading DNA</a:t>
            </a:r>
          </a:p>
          <a:p>
            <a:pPr eaLnBrk="1" hangingPunct="1">
              <a:lnSpc>
                <a:spcPct val="90000"/>
              </a:lnSpc>
              <a:buFont typeface="Arial" panose="020B0604020202020204" pitchFamily="34" charset="0"/>
              <a:buNone/>
            </a:pPr>
            <a:r>
              <a:rPr lang="en-US" altLang="en-US" sz="2800">
                <a:sym typeface="Symbol" pitchFamily="2" charset="2"/>
              </a:rPr>
              <a:t>2 binding site  invaded DNA </a:t>
            </a:r>
          </a:p>
          <a:p>
            <a:pPr lvl="1" eaLnBrk="1" hangingPunct="1">
              <a:lnSpc>
                <a:spcPct val="90000"/>
              </a:lnSpc>
            </a:pPr>
            <a:r>
              <a:rPr lang="en-US" altLang="en-US" sz="2400">
                <a:sym typeface="Symbol" pitchFamily="2" charset="2"/>
              </a:rPr>
              <a:t>Ds DNA</a:t>
            </a:r>
          </a:p>
          <a:p>
            <a:pPr lvl="1" eaLnBrk="1" hangingPunct="1">
              <a:lnSpc>
                <a:spcPct val="90000"/>
              </a:lnSpc>
            </a:pPr>
            <a:r>
              <a:rPr lang="en-US" altLang="en-US" sz="2400">
                <a:sym typeface="Symbol" pitchFamily="2" charset="2"/>
              </a:rPr>
              <a:t>Transient &amp; rapid</a:t>
            </a:r>
          </a:p>
          <a:p>
            <a:pPr lvl="1" eaLnBrk="1" hangingPunct="1">
              <a:lnSpc>
                <a:spcPct val="90000"/>
              </a:lnSpc>
            </a:pPr>
            <a:r>
              <a:rPr lang="en-US" altLang="en-US" sz="2400">
                <a:sym typeface="Symbol" pitchFamily="2" charset="2"/>
              </a:rPr>
              <a:t>Independent of DNA sequence</a:t>
            </a:r>
          </a:p>
        </p:txBody>
      </p:sp>
      <p:pic>
        <p:nvPicPr>
          <p:cNvPr id="80900" name="Picture 4">
            <a:extLst>
              <a:ext uri="{FF2B5EF4-FFF2-40B4-BE49-F238E27FC236}">
                <a16:creationId xmlns:a16="http://schemas.microsoft.com/office/drawing/2014/main" id="{85E7B5E6-4E19-8E44-7E88-D9894B5E2F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593" b="17419"/>
          <a:stretch>
            <a:fillRect/>
          </a:stretch>
        </p:blipFill>
        <p:spPr bwMode="auto">
          <a:xfrm>
            <a:off x="900113" y="1196975"/>
            <a:ext cx="6264275"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7E37626-5022-DF70-1C89-C1C9856585FC}"/>
              </a:ext>
            </a:extLst>
          </p:cNvPr>
          <p:cNvSpPr>
            <a:spLocks noGrp="1" noRot="1" noChangeArrowheads="1"/>
          </p:cNvSpPr>
          <p:nvPr>
            <p:ph type="title"/>
          </p:nvPr>
        </p:nvSpPr>
        <p:spPr>
          <a:xfrm>
            <a:off x="323850" y="188913"/>
            <a:ext cx="8362950" cy="849312"/>
          </a:xfrm>
        </p:spPr>
        <p:txBody>
          <a:bodyPr/>
          <a:lstStyle/>
          <a:p>
            <a:pPr eaLnBrk="1" hangingPunct="1"/>
            <a:r>
              <a:rPr lang="en-US" altLang="en-US" sz="3200" b="1">
                <a:solidFill>
                  <a:srgbClr val="0000FF"/>
                </a:solidFill>
              </a:rPr>
              <a:t>How does the </a:t>
            </a:r>
            <a:r>
              <a:rPr lang="en-US" altLang="en-US" sz="3200" b="1">
                <a:solidFill>
                  <a:srgbClr val="FF0000"/>
                </a:solidFill>
              </a:rPr>
              <a:t>RecA</a:t>
            </a:r>
            <a:r>
              <a:rPr lang="en-US" altLang="en-US" sz="3200" b="1">
                <a:solidFill>
                  <a:srgbClr val="0000FF"/>
                </a:solidFill>
              </a:rPr>
              <a:t> filament sense sequence homology?</a:t>
            </a:r>
            <a:endParaRPr lang="en-GB" altLang="en-US" sz="3200" b="1">
              <a:solidFill>
                <a:srgbClr val="0000FF"/>
              </a:solidFill>
            </a:endParaRPr>
          </a:p>
        </p:txBody>
      </p:sp>
      <p:sp>
        <p:nvSpPr>
          <p:cNvPr id="82947" name="Rectangle 4">
            <a:extLst>
              <a:ext uri="{FF2B5EF4-FFF2-40B4-BE49-F238E27FC236}">
                <a16:creationId xmlns:a16="http://schemas.microsoft.com/office/drawing/2014/main" id="{FF99C50F-86F1-26F0-5BB8-A07069511E0D}"/>
              </a:ext>
            </a:extLst>
          </p:cNvPr>
          <p:cNvSpPr>
            <a:spLocks noGrp="1" noChangeArrowheads="1"/>
          </p:cNvSpPr>
          <p:nvPr>
            <p:ph type="body" sz="half" idx="2"/>
          </p:nvPr>
        </p:nvSpPr>
        <p:spPr>
          <a:xfrm>
            <a:off x="323850" y="1052513"/>
            <a:ext cx="8229600" cy="2520950"/>
          </a:xfrm>
        </p:spPr>
        <p:txBody>
          <a:bodyPr/>
          <a:lstStyle/>
          <a:p>
            <a:pPr eaLnBrk="1" hangingPunct="1"/>
            <a:r>
              <a:rPr lang="en-US" altLang="en-US" sz="2800"/>
              <a:t>Not yet clear, probably by base-pairing interactions (without disrupting base pairing between two strands in the 2 site) probably through </a:t>
            </a:r>
            <a:r>
              <a:rPr lang="en-US" altLang="en-US" sz="2800">
                <a:solidFill>
                  <a:srgbClr val="0000FF"/>
                </a:solidFill>
              </a:rPr>
              <a:t>base flipping</a:t>
            </a:r>
          </a:p>
          <a:p>
            <a:pPr eaLnBrk="1" hangingPunct="1"/>
            <a:r>
              <a:rPr lang="en-US" altLang="en-US" sz="2800"/>
              <a:t>Match of </a:t>
            </a:r>
            <a:r>
              <a:rPr lang="en-US" altLang="en-US" sz="2800">
                <a:solidFill>
                  <a:srgbClr val="FF0000"/>
                </a:solidFill>
              </a:rPr>
              <a:t>15 bp</a:t>
            </a:r>
            <a:r>
              <a:rPr lang="en-US" altLang="en-US" sz="2800"/>
              <a:t> sequence is </a:t>
            </a:r>
            <a:r>
              <a:rPr lang="en-US" altLang="en-US" sz="2800" b="1"/>
              <a:t>sufficient</a:t>
            </a:r>
            <a:r>
              <a:rPr lang="en-US" altLang="en-US" sz="2800"/>
              <a:t> signal for RecA to trigger exchange</a:t>
            </a:r>
            <a:endParaRPr lang="en-GB" altLang="en-US" sz="2800"/>
          </a:p>
        </p:txBody>
      </p:sp>
      <p:pic>
        <p:nvPicPr>
          <p:cNvPr id="82948" name="Picture 5">
            <a:extLst>
              <a:ext uri="{FF2B5EF4-FFF2-40B4-BE49-F238E27FC236}">
                <a16:creationId xmlns:a16="http://schemas.microsoft.com/office/drawing/2014/main" id="{58F5297B-F40B-191C-4A2C-8EA4A7879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254" t="1971" r="543" b="2786"/>
          <a:stretch>
            <a:fillRect/>
          </a:stretch>
        </p:blipFill>
        <p:spPr bwMode="auto">
          <a:xfrm>
            <a:off x="1187450" y="3644900"/>
            <a:ext cx="7345363"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descr="H:\Amjad Courses\BT451\Molecular Biology of the Gene images\watson_mm_jpg_chap010\chap010\10_Figure11.jpg">
            <a:extLst>
              <a:ext uri="{FF2B5EF4-FFF2-40B4-BE49-F238E27FC236}">
                <a16:creationId xmlns:a16="http://schemas.microsoft.com/office/drawing/2014/main" id="{FBCF4ABD-AB8B-0E0E-C175-8507C0CD6C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2"/>
          <a:stretch>
            <a:fillRect/>
          </a:stretch>
        </p:blipFill>
        <p:spPr bwMode="auto">
          <a:xfrm>
            <a:off x="3708400" y="254000"/>
            <a:ext cx="4956175" cy="660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Rectangle 5">
            <a:extLst>
              <a:ext uri="{FF2B5EF4-FFF2-40B4-BE49-F238E27FC236}">
                <a16:creationId xmlns:a16="http://schemas.microsoft.com/office/drawing/2014/main" id="{CE88498C-F863-66F6-6295-934D65B448D9}"/>
              </a:ext>
            </a:extLst>
          </p:cNvPr>
          <p:cNvSpPr>
            <a:spLocks noGrp="1"/>
          </p:cNvSpPr>
          <p:nvPr>
            <p:ph type="body" idx="4294967295"/>
          </p:nvPr>
        </p:nvSpPr>
        <p:spPr>
          <a:xfrm>
            <a:off x="323850" y="1052513"/>
            <a:ext cx="3095625" cy="5184775"/>
          </a:xfrm>
        </p:spPr>
        <p:txBody>
          <a:bodyPr/>
          <a:lstStyle/>
          <a:p>
            <a:pPr eaLnBrk="1" hangingPunct="1">
              <a:lnSpc>
                <a:spcPct val="90000"/>
              </a:lnSpc>
            </a:pPr>
            <a:r>
              <a:rPr lang="en-US" altLang="en-US" sz="2400"/>
              <a:t>Strand exchange requires the </a:t>
            </a:r>
            <a:r>
              <a:rPr lang="en-US" altLang="en-US" sz="2400">
                <a:solidFill>
                  <a:srgbClr val="0000FF"/>
                </a:solidFill>
              </a:rPr>
              <a:t>breaking of one set of base pairs and the formation of a new set of identical base pairs</a:t>
            </a:r>
          </a:p>
          <a:p>
            <a:pPr eaLnBrk="1" hangingPunct="1">
              <a:lnSpc>
                <a:spcPct val="90000"/>
              </a:lnSpc>
            </a:pPr>
            <a:r>
              <a:rPr lang="en-US" altLang="en-US" sz="2400"/>
              <a:t>Completion of strand exchange also requires that </a:t>
            </a:r>
            <a:r>
              <a:rPr lang="en-US" altLang="en-US" sz="2400">
                <a:solidFill>
                  <a:srgbClr val="0000FF"/>
                </a:solidFill>
              </a:rPr>
              <a:t>the two newly paired strands be intertwined to form a proper double helix</a:t>
            </a:r>
          </a:p>
          <a:p>
            <a:pPr>
              <a:lnSpc>
                <a:spcPct val="90000"/>
              </a:lnSpc>
            </a:pPr>
            <a:endParaRPr lang="en-US" alt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A35196B6-77A9-49AD-17AF-4751A473A213}"/>
              </a:ext>
            </a:extLst>
          </p:cNvPr>
          <p:cNvSpPr>
            <a:spLocks noGrp="1" noChangeArrowheads="1"/>
          </p:cNvSpPr>
          <p:nvPr>
            <p:ph type="ctrTitle" idx="4294967295"/>
          </p:nvPr>
        </p:nvSpPr>
        <p:spPr>
          <a:xfrm>
            <a:off x="250825" y="260350"/>
            <a:ext cx="8380413" cy="493713"/>
          </a:xfrm>
          <a:solidFill>
            <a:schemeClr val="accent5">
              <a:lumMod val="20000"/>
              <a:lumOff val="80000"/>
            </a:schemeClr>
          </a:solidFill>
        </p:spPr>
        <p:txBody>
          <a:bodyPr/>
          <a:lstStyle/>
          <a:p>
            <a:pPr eaLnBrk="1" hangingPunct="1">
              <a:defRPr/>
            </a:pPr>
            <a:r>
              <a:rPr lang="en-US" sz="1600" b="1" dirty="0">
                <a:solidFill>
                  <a:srgbClr val="C00000"/>
                </a:solidFill>
                <a:latin typeface="Arial" charset="0"/>
              </a:rPr>
              <a:t>Model of Two steps in search for homology and DNA strand exchange within the RecA Filament</a:t>
            </a:r>
          </a:p>
        </p:txBody>
      </p:sp>
      <p:pic>
        <p:nvPicPr>
          <p:cNvPr id="87043" name="Picture 4" descr="11_11Figure-L">
            <a:extLst>
              <a:ext uri="{FF2B5EF4-FFF2-40B4-BE49-F238E27FC236}">
                <a16:creationId xmlns:a16="http://schemas.microsoft.com/office/drawing/2014/main" id="{0F852CCA-75A3-A32D-652D-9052FDD11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502"/>
          <a:stretch>
            <a:fillRect/>
          </a:stretch>
        </p:blipFill>
        <p:spPr bwMode="auto">
          <a:xfrm>
            <a:off x="250825" y="836613"/>
            <a:ext cx="8380413" cy="582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a:extLst>
              <a:ext uri="{FF2B5EF4-FFF2-40B4-BE49-F238E27FC236}">
                <a16:creationId xmlns:a16="http://schemas.microsoft.com/office/drawing/2014/main" id="{00B805F9-3017-D8A2-9205-1DAC453A840C}"/>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11-13</a:t>
            </a:r>
          </a:p>
        </p:txBody>
      </p:sp>
      <p:pic>
        <p:nvPicPr>
          <p:cNvPr id="89091" name="Picture 3" descr="11_13Figure-L">
            <a:extLst>
              <a:ext uri="{FF2B5EF4-FFF2-40B4-BE49-F238E27FC236}">
                <a16:creationId xmlns:a16="http://schemas.microsoft.com/office/drawing/2014/main" id="{3E1A8878-1503-8D0C-93EC-87D9594883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326"/>
          <a:stretch>
            <a:fillRect/>
          </a:stretch>
        </p:blipFill>
        <p:spPr bwMode="auto">
          <a:xfrm>
            <a:off x="296863" y="922338"/>
            <a:ext cx="8548687" cy="484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50CC3E5-9B4B-4DAF-88D2-878FC4CDA15D}"/>
              </a:ext>
            </a:extLst>
          </p:cNvPr>
          <p:cNvSpPr txBox="1"/>
          <p:nvPr/>
        </p:nvSpPr>
        <p:spPr>
          <a:xfrm>
            <a:off x="2268538" y="276225"/>
            <a:ext cx="4140200" cy="400050"/>
          </a:xfrm>
          <a:prstGeom prst="rect">
            <a:avLst/>
          </a:prstGeom>
          <a:solidFill>
            <a:schemeClr val="accent5">
              <a:lumMod val="20000"/>
              <a:lumOff val="80000"/>
            </a:schemeClr>
          </a:solidFill>
        </p:spPr>
        <p:txBody>
          <a:bodyPr wrap="none">
            <a:spAutoFit/>
          </a:bodyPr>
          <a:lstStyle/>
          <a:p>
            <a:pPr eaLnBrk="1" hangingPunct="1">
              <a:defRPr/>
            </a:pPr>
            <a:r>
              <a:rPr lang="en-US" sz="2000" b="1" dirty="0">
                <a:solidFill>
                  <a:srgbClr val="C00000"/>
                </a:solidFill>
                <a:cs typeface="Arial" charset="0"/>
              </a:rPr>
              <a:t>RecA </a:t>
            </a:r>
            <a:r>
              <a:rPr lang="en-US" sz="2000" b="1" dirty="0" err="1">
                <a:solidFill>
                  <a:srgbClr val="C00000"/>
                </a:solidFill>
                <a:cs typeface="Arial" charset="0"/>
              </a:rPr>
              <a:t>ssDNA</a:t>
            </a:r>
            <a:r>
              <a:rPr lang="en-US" sz="2000" b="1" dirty="0">
                <a:solidFill>
                  <a:srgbClr val="C00000"/>
                </a:solidFill>
                <a:cs typeface="Arial" charset="0"/>
              </a:rPr>
              <a:t> and </a:t>
            </a:r>
            <a:r>
              <a:rPr lang="en-US" sz="2000" b="1" dirty="0" err="1">
                <a:solidFill>
                  <a:srgbClr val="C00000"/>
                </a:solidFill>
                <a:cs typeface="Arial" charset="0"/>
              </a:rPr>
              <a:t>dsDNA</a:t>
            </a:r>
            <a:r>
              <a:rPr lang="en-US" sz="2000" b="1" dirty="0">
                <a:solidFill>
                  <a:srgbClr val="C00000"/>
                </a:solidFill>
                <a:cs typeface="Arial" charset="0"/>
              </a:rPr>
              <a:t> structures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a:extLst>
              <a:ext uri="{FF2B5EF4-FFF2-40B4-BE49-F238E27FC236}">
                <a16:creationId xmlns:a16="http://schemas.microsoft.com/office/drawing/2014/main" id="{66AFD2EE-9E4E-729D-4E3E-396C2D0C2887}"/>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11-14</a:t>
            </a:r>
          </a:p>
        </p:txBody>
      </p:sp>
      <p:pic>
        <p:nvPicPr>
          <p:cNvPr id="91139" name="Picture 3" descr="11_14Figure-L">
            <a:extLst>
              <a:ext uri="{FF2B5EF4-FFF2-40B4-BE49-F238E27FC236}">
                <a16:creationId xmlns:a16="http://schemas.microsoft.com/office/drawing/2014/main" id="{FADD6ABA-01C9-082C-0E44-93E65DE59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507"/>
          <a:stretch>
            <a:fillRect/>
          </a:stretch>
        </p:blipFill>
        <p:spPr bwMode="auto">
          <a:xfrm>
            <a:off x="1355725" y="136525"/>
            <a:ext cx="6432550" cy="641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DB1EA84-EFC4-36E9-F370-C07FD1A66533}"/>
              </a:ext>
            </a:extLst>
          </p:cNvPr>
          <p:cNvSpPr txBox="1"/>
          <p:nvPr/>
        </p:nvSpPr>
        <p:spPr>
          <a:xfrm>
            <a:off x="0" y="3716338"/>
            <a:ext cx="2168525" cy="400050"/>
          </a:xfrm>
          <a:prstGeom prst="rect">
            <a:avLst/>
          </a:prstGeom>
          <a:solidFill>
            <a:schemeClr val="accent5">
              <a:lumMod val="20000"/>
              <a:lumOff val="80000"/>
            </a:schemeClr>
          </a:solidFill>
        </p:spPr>
        <p:txBody>
          <a:bodyPr wrap="none">
            <a:spAutoFit/>
          </a:bodyPr>
          <a:lstStyle/>
          <a:p>
            <a:pPr eaLnBrk="1" hangingPunct="1">
              <a:defRPr/>
            </a:pPr>
            <a:r>
              <a:rPr lang="en-US" sz="2000" b="1" dirty="0">
                <a:solidFill>
                  <a:srgbClr val="C00000"/>
                </a:solidFill>
                <a:cs typeface="Arial" charset="0"/>
              </a:rPr>
              <a:t>RecA with </a:t>
            </a:r>
            <a:r>
              <a:rPr lang="en-US" sz="2000" b="1" dirty="0" err="1">
                <a:solidFill>
                  <a:srgbClr val="C00000"/>
                </a:solidFill>
                <a:cs typeface="Arial" charset="0"/>
              </a:rPr>
              <a:t>ssDNA</a:t>
            </a:r>
            <a:endParaRPr lang="en-US" sz="2000" b="1" dirty="0">
              <a:solidFill>
                <a:srgbClr val="C00000"/>
              </a:solidFill>
              <a:cs typeface="Arial"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H:\Amjad Courses\BT451\Molecular Biology of the Gene images\watson_mm_jpg_chap010\chap010\10_Figure12.jpg">
            <a:extLst>
              <a:ext uri="{FF2B5EF4-FFF2-40B4-BE49-F238E27FC236}">
                <a16:creationId xmlns:a16="http://schemas.microsoft.com/office/drawing/2014/main" id="{68E81DDA-C525-0D31-7C78-BFB9D76631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 y="1319213"/>
            <a:ext cx="758666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Box 2">
            <a:extLst>
              <a:ext uri="{FF2B5EF4-FFF2-40B4-BE49-F238E27FC236}">
                <a16:creationId xmlns:a16="http://schemas.microsoft.com/office/drawing/2014/main" id="{9A24A75A-CFE8-F2F0-29A0-CB52D9F1D7C5}"/>
              </a:ext>
            </a:extLst>
          </p:cNvPr>
          <p:cNvSpPr txBox="1">
            <a:spLocks noChangeArrowheads="1"/>
          </p:cNvSpPr>
          <p:nvPr/>
        </p:nvSpPr>
        <p:spPr bwMode="auto">
          <a:xfrm>
            <a:off x="1908175" y="908050"/>
            <a:ext cx="1606550" cy="369888"/>
          </a:xfrm>
          <a:prstGeom prst="rect">
            <a:avLst/>
          </a:prstGeom>
          <a:solidFill>
            <a:schemeClr val="accent5">
              <a:lumMod val="20000"/>
              <a:lumOff val="80000"/>
            </a:schemeClr>
          </a:solidFill>
          <a:ln>
            <a:noFill/>
          </a:ln>
        </p:spPr>
        <p:txBody>
          <a:bodyPr wrap="none">
            <a:spAutoFit/>
          </a:bodyPr>
          <a:lstStyle>
            <a:lvl1pPr eaLnBrk="0" hangingPunct="0">
              <a:defRPr>
                <a:solidFill>
                  <a:schemeClr val="tx1"/>
                </a:solidFill>
                <a:latin typeface="Garamond" pitchFamily="18" charset="0"/>
                <a:cs typeface="Arial" charset="0"/>
              </a:defRPr>
            </a:lvl1pPr>
            <a:lvl2pPr marL="742950" indent="-285750" eaLnBrk="0" hangingPunct="0">
              <a:defRPr>
                <a:solidFill>
                  <a:schemeClr val="tx1"/>
                </a:solidFill>
                <a:latin typeface="Garamond" pitchFamily="18" charset="0"/>
                <a:cs typeface="Arial" charset="0"/>
              </a:defRPr>
            </a:lvl2pPr>
            <a:lvl3pPr marL="1143000" indent="-228600" eaLnBrk="0" hangingPunct="0">
              <a:defRPr>
                <a:solidFill>
                  <a:schemeClr val="tx1"/>
                </a:solidFill>
                <a:latin typeface="Garamond" pitchFamily="18" charset="0"/>
                <a:cs typeface="Arial" charset="0"/>
              </a:defRPr>
            </a:lvl3pPr>
            <a:lvl4pPr marL="1600200" indent="-228600" eaLnBrk="0" hangingPunct="0">
              <a:defRPr>
                <a:solidFill>
                  <a:schemeClr val="tx1"/>
                </a:solidFill>
                <a:latin typeface="Garamond" pitchFamily="18" charset="0"/>
                <a:cs typeface="Arial" charset="0"/>
              </a:defRPr>
            </a:lvl4pPr>
            <a:lvl5pPr marL="2057400" indent="-228600" eaLnBrk="0" hangingPunct="0">
              <a:defRPr>
                <a:solidFill>
                  <a:schemeClr val="tx1"/>
                </a:solidFill>
                <a:latin typeface="Garamond" pitchFamily="18" charset="0"/>
                <a:cs typeface="Arial" charset="0"/>
              </a:defRPr>
            </a:lvl5pPr>
            <a:lvl6pPr marL="2514600" indent="-228600" eaLnBrk="0" fontAlgn="base" hangingPunct="0">
              <a:spcBef>
                <a:spcPct val="0"/>
              </a:spcBef>
              <a:spcAft>
                <a:spcPct val="0"/>
              </a:spcAft>
              <a:defRPr>
                <a:solidFill>
                  <a:schemeClr val="tx1"/>
                </a:solidFill>
                <a:latin typeface="Garamond" pitchFamily="18" charset="0"/>
                <a:cs typeface="Arial" charset="0"/>
              </a:defRPr>
            </a:lvl6pPr>
            <a:lvl7pPr marL="2971800" indent="-228600" eaLnBrk="0" fontAlgn="base" hangingPunct="0">
              <a:spcBef>
                <a:spcPct val="0"/>
              </a:spcBef>
              <a:spcAft>
                <a:spcPct val="0"/>
              </a:spcAft>
              <a:defRPr>
                <a:solidFill>
                  <a:schemeClr val="tx1"/>
                </a:solidFill>
                <a:latin typeface="Garamond" pitchFamily="18" charset="0"/>
                <a:cs typeface="Arial" charset="0"/>
              </a:defRPr>
            </a:lvl7pPr>
            <a:lvl8pPr marL="3429000" indent="-228600" eaLnBrk="0" fontAlgn="base" hangingPunct="0">
              <a:spcBef>
                <a:spcPct val="0"/>
              </a:spcBef>
              <a:spcAft>
                <a:spcPct val="0"/>
              </a:spcAft>
              <a:defRPr>
                <a:solidFill>
                  <a:schemeClr val="tx1"/>
                </a:solidFill>
                <a:latin typeface="Garamond" pitchFamily="18" charset="0"/>
                <a:cs typeface="Arial" charset="0"/>
              </a:defRPr>
            </a:lvl8pPr>
            <a:lvl9pPr marL="3886200" indent="-228600" eaLnBrk="0" fontAlgn="base" hangingPunct="0">
              <a:spcBef>
                <a:spcPct val="0"/>
              </a:spcBef>
              <a:spcAft>
                <a:spcPct val="0"/>
              </a:spcAft>
              <a:defRPr>
                <a:solidFill>
                  <a:schemeClr val="tx1"/>
                </a:solidFill>
                <a:latin typeface="Garamond" pitchFamily="18" charset="0"/>
                <a:cs typeface="Arial" charset="0"/>
              </a:defRPr>
            </a:lvl9pPr>
          </a:lstStyle>
          <a:p>
            <a:pPr eaLnBrk="1" hangingPunct="1">
              <a:defRPr/>
            </a:pPr>
            <a:r>
              <a:rPr lang="en-US" b="1" dirty="0">
                <a:solidFill>
                  <a:srgbClr val="C00000"/>
                </a:solidFill>
              </a:rPr>
              <a:t>Human Rad51</a:t>
            </a:r>
          </a:p>
        </p:txBody>
      </p:sp>
      <p:sp>
        <p:nvSpPr>
          <p:cNvPr id="43012" name="TextBox 3">
            <a:extLst>
              <a:ext uri="{FF2B5EF4-FFF2-40B4-BE49-F238E27FC236}">
                <a16:creationId xmlns:a16="http://schemas.microsoft.com/office/drawing/2014/main" id="{195D8D29-6537-0064-70CA-3FA618E09E9F}"/>
              </a:ext>
            </a:extLst>
          </p:cNvPr>
          <p:cNvSpPr txBox="1">
            <a:spLocks noChangeArrowheads="1"/>
          </p:cNvSpPr>
          <p:nvPr/>
        </p:nvSpPr>
        <p:spPr bwMode="auto">
          <a:xfrm>
            <a:off x="6084888" y="908050"/>
            <a:ext cx="1347787" cy="369888"/>
          </a:xfrm>
          <a:prstGeom prst="rect">
            <a:avLst/>
          </a:prstGeom>
          <a:solidFill>
            <a:schemeClr val="accent5">
              <a:lumMod val="20000"/>
              <a:lumOff val="80000"/>
            </a:schemeClr>
          </a:solidFill>
          <a:ln>
            <a:noFill/>
          </a:ln>
        </p:spPr>
        <p:txBody>
          <a:bodyPr wrap="none">
            <a:spAutoFit/>
          </a:bodyPr>
          <a:lstStyle>
            <a:lvl1pPr eaLnBrk="0" hangingPunct="0">
              <a:defRPr>
                <a:solidFill>
                  <a:schemeClr val="tx1"/>
                </a:solidFill>
                <a:latin typeface="Garamond" pitchFamily="18" charset="0"/>
                <a:cs typeface="Arial" charset="0"/>
              </a:defRPr>
            </a:lvl1pPr>
            <a:lvl2pPr marL="742950" indent="-285750" eaLnBrk="0" hangingPunct="0">
              <a:defRPr>
                <a:solidFill>
                  <a:schemeClr val="tx1"/>
                </a:solidFill>
                <a:latin typeface="Garamond" pitchFamily="18" charset="0"/>
                <a:cs typeface="Arial" charset="0"/>
              </a:defRPr>
            </a:lvl2pPr>
            <a:lvl3pPr marL="1143000" indent="-228600" eaLnBrk="0" hangingPunct="0">
              <a:defRPr>
                <a:solidFill>
                  <a:schemeClr val="tx1"/>
                </a:solidFill>
                <a:latin typeface="Garamond" pitchFamily="18" charset="0"/>
                <a:cs typeface="Arial" charset="0"/>
              </a:defRPr>
            </a:lvl3pPr>
            <a:lvl4pPr marL="1600200" indent="-228600" eaLnBrk="0" hangingPunct="0">
              <a:defRPr>
                <a:solidFill>
                  <a:schemeClr val="tx1"/>
                </a:solidFill>
                <a:latin typeface="Garamond" pitchFamily="18" charset="0"/>
                <a:cs typeface="Arial" charset="0"/>
              </a:defRPr>
            </a:lvl4pPr>
            <a:lvl5pPr marL="2057400" indent="-228600" eaLnBrk="0" hangingPunct="0">
              <a:defRPr>
                <a:solidFill>
                  <a:schemeClr val="tx1"/>
                </a:solidFill>
                <a:latin typeface="Garamond" pitchFamily="18" charset="0"/>
                <a:cs typeface="Arial" charset="0"/>
              </a:defRPr>
            </a:lvl5pPr>
            <a:lvl6pPr marL="2514600" indent="-228600" eaLnBrk="0" fontAlgn="base" hangingPunct="0">
              <a:spcBef>
                <a:spcPct val="0"/>
              </a:spcBef>
              <a:spcAft>
                <a:spcPct val="0"/>
              </a:spcAft>
              <a:defRPr>
                <a:solidFill>
                  <a:schemeClr val="tx1"/>
                </a:solidFill>
                <a:latin typeface="Garamond" pitchFamily="18" charset="0"/>
                <a:cs typeface="Arial" charset="0"/>
              </a:defRPr>
            </a:lvl6pPr>
            <a:lvl7pPr marL="2971800" indent="-228600" eaLnBrk="0" fontAlgn="base" hangingPunct="0">
              <a:spcBef>
                <a:spcPct val="0"/>
              </a:spcBef>
              <a:spcAft>
                <a:spcPct val="0"/>
              </a:spcAft>
              <a:defRPr>
                <a:solidFill>
                  <a:schemeClr val="tx1"/>
                </a:solidFill>
                <a:latin typeface="Garamond" pitchFamily="18" charset="0"/>
                <a:cs typeface="Arial" charset="0"/>
              </a:defRPr>
            </a:lvl7pPr>
            <a:lvl8pPr marL="3429000" indent="-228600" eaLnBrk="0" fontAlgn="base" hangingPunct="0">
              <a:spcBef>
                <a:spcPct val="0"/>
              </a:spcBef>
              <a:spcAft>
                <a:spcPct val="0"/>
              </a:spcAft>
              <a:defRPr>
                <a:solidFill>
                  <a:schemeClr val="tx1"/>
                </a:solidFill>
                <a:latin typeface="Garamond" pitchFamily="18" charset="0"/>
                <a:cs typeface="Arial" charset="0"/>
              </a:defRPr>
            </a:lvl8pPr>
            <a:lvl9pPr marL="3886200" indent="-228600" eaLnBrk="0" fontAlgn="base" hangingPunct="0">
              <a:spcBef>
                <a:spcPct val="0"/>
              </a:spcBef>
              <a:spcAft>
                <a:spcPct val="0"/>
              </a:spcAft>
              <a:defRPr>
                <a:solidFill>
                  <a:schemeClr val="tx1"/>
                </a:solidFill>
                <a:latin typeface="Garamond" pitchFamily="18" charset="0"/>
                <a:cs typeface="Arial" charset="0"/>
              </a:defRPr>
            </a:lvl9pPr>
          </a:lstStyle>
          <a:p>
            <a:pPr eaLnBrk="1" hangingPunct="1">
              <a:defRPr/>
            </a:pPr>
            <a:r>
              <a:rPr lang="en-US" b="1" dirty="0" err="1">
                <a:solidFill>
                  <a:srgbClr val="C00000"/>
                </a:solidFill>
              </a:rPr>
              <a:t>E.coli</a:t>
            </a:r>
            <a:r>
              <a:rPr lang="en-US" b="1" dirty="0">
                <a:solidFill>
                  <a:srgbClr val="C00000"/>
                </a:solidFill>
              </a:rPr>
              <a:t> RecA</a:t>
            </a:r>
          </a:p>
        </p:txBody>
      </p:sp>
      <p:sp>
        <p:nvSpPr>
          <p:cNvPr id="43013" name="TextBox 4">
            <a:extLst>
              <a:ext uri="{FF2B5EF4-FFF2-40B4-BE49-F238E27FC236}">
                <a16:creationId xmlns:a16="http://schemas.microsoft.com/office/drawing/2014/main" id="{37BF79B0-6E4F-6D33-85B2-D7365A07A2C3}"/>
              </a:ext>
            </a:extLst>
          </p:cNvPr>
          <p:cNvSpPr txBox="1">
            <a:spLocks noChangeArrowheads="1"/>
          </p:cNvSpPr>
          <p:nvPr/>
        </p:nvSpPr>
        <p:spPr bwMode="auto">
          <a:xfrm>
            <a:off x="5343525" y="6165850"/>
            <a:ext cx="3173413" cy="369888"/>
          </a:xfrm>
          <a:prstGeom prst="rect">
            <a:avLst/>
          </a:prstGeom>
          <a:solidFill>
            <a:schemeClr val="accent5">
              <a:lumMod val="20000"/>
              <a:lumOff val="80000"/>
            </a:schemeClr>
          </a:solidFill>
          <a:ln>
            <a:noFill/>
          </a:ln>
        </p:spPr>
        <p:txBody>
          <a:bodyPr wrap="none">
            <a:spAutoFit/>
          </a:bodyPr>
          <a:lstStyle>
            <a:lvl1pPr eaLnBrk="0" hangingPunct="0">
              <a:defRPr>
                <a:solidFill>
                  <a:schemeClr val="tx1"/>
                </a:solidFill>
                <a:latin typeface="Garamond" pitchFamily="18" charset="0"/>
                <a:cs typeface="Arial" charset="0"/>
              </a:defRPr>
            </a:lvl1pPr>
            <a:lvl2pPr marL="742950" indent="-285750" eaLnBrk="0" hangingPunct="0">
              <a:defRPr>
                <a:solidFill>
                  <a:schemeClr val="tx1"/>
                </a:solidFill>
                <a:latin typeface="Garamond" pitchFamily="18" charset="0"/>
                <a:cs typeface="Arial" charset="0"/>
              </a:defRPr>
            </a:lvl2pPr>
            <a:lvl3pPr marL="1143000" indent="-228600" eaLnBrk="0" hangingPunct="0">
              <a:defRPr>
                <a:solidFill>
                  <a:schemeClr val="tx1"/>
                </a:solidFill>
                <a:latin typeface="Garamond" pitchFamily="18" charset="0"/>
                <a:cs typeface="Arial" charset="0"/>
              </a:defRPr>
            </a:lvl3pPr>
            <a:lvl4pPr marL="1600200" indent="-228600" eaLnBrk="0" hangingPunct="0">
              <a:defRPr>
                <a:solidFill>
                  <a:schemeClr val="tx1"/>
                </a:solidFill>
                <a:latin typeface="Garamond" pitchFamily="18" charset="0"/>
                <a:cs typeface="Arial" charset="0"/>
              </a:defRPr>
            </a:lvl4pPr>
            <a:lvl5pPr marL="2057400" indent="-228600" eaLnBrk="0" hangingPunct="0">
              <a:defRPr>
                <a:solidFill>
                  <a:schemeClr val="tx1"/>
                </a:solidFill>
                <a:latin typeface="Garamond" pitchFamily="18" charset="0"/>
                <a:cs typeface="Arial" charset="0"/>
              </a:defRPr>
            </a:lvl5pPr>
            <a:lvl6pPr marL="2514600" indent="-228600" eaLnBrk="0" fontAlgn="base" hangingPunct="0">
              <a:spcBef>
                <a:spcPct val="0"/>
              </a:spcBef>
              <a:spcAft>
                <a:spcPct val="0"/>
              </a:spcAft>
              <a:defRPr>
                <a:solidFill>
                  <a:schemeClr val="tx1"/>
                </a:solidFill>
                <a:latin typeface="Garamond" pitchFamily="18" charset="0"/>
                <a:cs typeface="Arial" charset="0"/>
              </a:defRPr>
            </a:lvl6pPr>
            <a:lvl7pPr marL="2971800" indent="-228600" eaLnBrk="0" fontAlgn="base" hangingPunct="0">
              <a:spcBef>
                <a:spcPct val="0"/>
              </a:spcBef>
              <a:spcAft>
                <a:spcPct val="0"/>
              </a:spcAft>
              <a:defRPr>
                <a:solidFill>
                  <a:schemeClr val="tx1"/>
                </a:solidFill>
                <a:latin typeface="Garamond" pitchFamily="18" charset="0"/>
                <a:cs typeface="Arial" charset="0"/>
              </a:defRPr>
            </a:lvl7pPr>
            <a:lvl8pPr marL="3429000" indent="-228600" eaLnBrk="0" fontAlgn="base" hangingPunct="0">
              <a:spcBef>
                <a:spcPct val="0"/>
              </a:spcBef>
              <a:spcAft>
                <a:spcPct val="0"/>
              </a:spcAft>
              <a:defRPr>
                <a:solidFill>
                  <a:schemeClr val="tx1"/>
                </a:solidFill>
                <a:latin typeface="Garamond" pitchFamily="18" charset="0"/>
                <a:cs typeface="Arial" charset="0"/>
              </a:defRPr>
            </a:lvl8pPr>
            <a:lvl9pPr marL="3886200" indent="-228600" eaLnBrk="0" fontAlgn="base" hangingPunct="0">
              <a:spcBef>
                <a:spcPct val="0"/>
              </a:spcBef>
              <a:spcAft>
                <a:spcPct val="0"/>
              </a:spcAft>
              <a:defRPr>
                <a:solidFill>
                  <a:schemeClr val="tx1"/>
                </a:solidFill>
                <a:latin typeface="Garamond" pitchFamily="18" charset="0"/>
                <a:cs typeface="Arial" charset="0"/>
              </a:defRPr>
            </a:lvl9pPr>
          </a:lstStyle>
          <a:p>
            <a:pPr eaLnBrk="1" hangingPunct="1">
              <a:defRPr/>
            </a:pPr>
            <a:r>
              <a:rPr lang="en-US" b="1" i="1" dirty="0" err="1"/>
              <a:t>Archaeoglobus</a:t>
            </a:r>
            <a:r>
              <a:rPr lang="en-US" b="1" i="1" dirty="0"/>
              <a:t> </a:t>
            </a:r>
            <a:r>
              <a:rPr lang="en-US" b="1" i="1" dirty="0" err="1"/>
              <a:t>fulgidus</a:t>
            </a:r>
            <a:r>
              <a:rPr lang="en-US" b="1" i="1" dirty="0"/>
              <a:t>  </a:t>
            </a:r>
            <a:r>
              <a:rPr lang="en-US" b="1" dirty="0" err="1"/>
              <a:t>RadA</a:t>
            </a:r>
            <a:endParaRPr lang="en-US" b="1" dirty="0"/>
          </a:p>
        </p:txBody>
      </p:sp>
      <p:sp>
        <p:nvSpPr>
          <p:cNvPr id="93190" name="Title 5">
            <a:extLst>
              <a:ext uri="{FF2B5EF4-FFF2-40B4-BE49-F238E27FC236}">
                <a16:creationId xmlns:a16="http://schemas.microsoft.com/office/drawing/2014/main" id="{8170ADDC-DAD9-18C7-287F-6A6A6EF36FC5}"/>
              </a:ext>
            </a:extLst>
          </p:cNvPr>
          <p:cNvSpPr>
            <a:spLocks noGrp="1"/>
          </p:cNvSpPr>
          <p:nvPr>
            <p:ph type="title"/>
          </p:nvPr>
        </p:nvSpPr>
        <p:spPr>
          <a:xfrm>
            <a:off x="323850" y="188913"/>
            <a:ext cx="8229600" cy="692150"/>
          </a:xfrm>
        </p:spPr>
        <p:txBody>
          <a:bodyPr/>
          <a:lstStyle/>
          <a:p>
            <a:r>
              <a:rPr lang="en-US" altLang="en-US" sz="3200" b="1">
                <a:solidFill>
                  <a:srgbClr val="0000FF"/>
                </a:solidFill>
              </a:rPr>
              <a:t>Each homologs are found in all organisms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A730A62-6402-9229-5E78-3F3EA5473CD1}"/>
              </a:ext>
            </a:extLst>
          </p:cNvPr>
          <p:cNvSpPr>
            <a:spLocks noGrp="1" noRot="1" noChangeArrowheads="1"/>
          </p:cNvSpPr>
          <p:nvPr>
            <p:ph type="title"/>
          </p:nvPr>
        </p:nvSpPr>
        <p:spPr>
          <a:xfrm>
            <a:off x="539750" y="0"/>
            <a:ext cx="8229600" cy="1143000"/>
          </a:xfrm>
        </p:spPr>
        <p:txBody>
          <a:bodyPr/>
          <a:lstStyle/>
          <a:p>
            <a:pPr eaLnBrk="1" hangingPunct="1"/>
            <a:r>
              <a:rPr lang="en-US" altLang="en-US" sz="3200" b="1">
                <a:solidFill>
                  <a:srgbClr val="C00000"/>
                </a:solidFill>
              </a:rPr>
              <a:t>RuvAB </a:t>
            </a:r>
            <a:r>
              <a:rPr lang="en-US" altLang="en-US" sz="3200" b="1">
                <a:solidFill>
                  <a:srgbClr val="0000FF"/>
                </a:solidFill>
              </a:rPr>
              <a:t>Complex specifically recognizes Holliday junctions and promotes branch migration</a:t>
            </a:r>
            <a:endParaRPr lang="en-GB" altLang="en-US" sz="3200" b="1">
              <a:solidFill>
                <a:srgbClr val="0000FF"/>
              </a:solidFill>
            </a:endParaRPr>
          </a:p>
        </p:txBody>
      </p:sp>
      <p:sp>
        <p:nvSpPr>
          <p:cNvPr id="95235" name="Rectangle 3">
            <a:extLst>
              <a:ext uri="{FF2B5EF4-FFF2-40B4-BE49-F238E27FC236}">
                <a16:creationId xmlns:a16="http://schemas.microsoft.com/office/drawing/2014/main" id="{E088EA38-212E-0CC3-2EC3-234C7DE398A0}"/>
              </a:ext>
            </a:extLst>
          </p:cNvPr>
          <p:cNvSpPr>
            <a:spLocks noGrp="1" noChangeArrowheads="1"/>
          </p:cNvSpPr>
          <p:nvPr>
            <p:ph sz="half" idx="1"/>
          </p:nvPr>
        </p:nvSpPr>
        <p:spPr/>
        <p:txBody>
          <a:bodyPr/>
          <a:lstStyle/>
          <a:p>
            <a:pPr eaLnBrk="1" hangingPunct="1"/>
            <a:endParaRPr lang="en-US" altLang="en-US" sz="2800"/>
          </a:p>
        </p:txBody>
      </p:sp>
      <p:sp>
        <p:nvSpPr>
          <p:cNvPr id="50180" name="Rectangle 4">
            <a:extLst>
              <a:ext uri="{FF2B5EF4-FFF2-40B4-BE49-F238E27FC236}">
                <a16:creationId xmlns:a16="http://schemas.microsoft.com/office/drawing/2014/main" id="{2320372E-3B45-3301-CAD7-29E2C4FFD886}"/>
              </a:ext>
            </a:extLst>
          </p:cNvPr>
          <p:cNvSpPr>
            <a:spLocks noGrp="1" noChangeArrowheads="1"/>
          </p:cNvSpPr>
          <p:nvPr>
            <p:ph type="body" sz="half" idx="2"/>
          </p:nvPr>
        </p:nvSpPr>
        <p:spPr>
          <a:xfrm>
            <a:off x="454025" y="4005263"/>
            <a:ext cx="8424863" cy="2767012"/>
          </a:xfrm>
          <a:solidFill>
            <a:schemeClr val="accent4">
              <a:lumMod val="20000"/>
              <a:lumOff val="80000"/>
            </a:schemeClr>
          </a:solidFill>
        </p:spPr>
        <p:txBody>
          <a:bodyPr/>
          <a:lstStyle/>
          <a:p>
            <a:pPr eaLnBrk="1" hangingPunct="1">
              <a:lnSpc>
                <a:spcPct val="90000"/>
              </a:lnSpc>
              <a:buFont typeface="Arial" charset="0"/>
              <a:buChar char="•"/>
              <a:defRPr/>
            </a:pPr>
            <a:r>
              <a:rPr lang="en-US" sz="2400" b="1" dirty="0" err="1">
                <a:solidFill>
                  <a:srgbClr val="C00000"/>
                </a:solidFill>
              </a:rPr>
              <a:t>RuvA</a:t>
            </a:r>
            <a:endParaRPr lang="en-US" sz="2400" b="1" dirty="0">
              <a:solidFill>
                <a:srgbClr val="C00000"/>
              </a:solidFill>
            </a:endParaRPr>
          </a:p>
          <a:p>
            <a:pPr lvl="1" indent="-220663" eaLnBrk="1" hangingPunct="1">
              <a:lnSpc>
                <a:spcPct val="90000"/>
              </a:lnSpc>
              <a:buFont typeface="Arial" charset="0"/>
              <a:buChar char="–"/>
              <a:defRPr/>
            </a:pPr>
            <a:r>
              <a:rPr lang="en-US" sz="2000" dirty="0"/>
              <a:t>Recognize Holliday junction </a:t>
            </a:r>
            <a:r>
              <a:rPr lang="en-US" sz="1600" dirty="0"/>
              <a:t>(regardless of DNA sequence)</a:t>
            </a:r>
          </a:p>
          <a:p>
            <a:pPr lvl="1" indent="-220663" eaLnBrk="1" hangingPunct="1">
              <a:lnSpc>
                <a:spcPct val="90000"/>
              </a:lnSpc>
              <a:buFont typeface="Arial" charset="0"/>
              <a:buChar char="–"/>
              <a:defRPr/>
            </a:pPr>
            <a:r>
              <a:rPr lang="en-US" sz="2000" dirty="0"/>
              <a:t>Recruits </a:t>
            </a:r>
            <a:r>
              <a:rPr lang="en-US" sz="2000" dirty="0" err="1"/>
              <a:t>RuvB</a:t>
            </a:r>
            <a:endParaRPr lang="en-US" sz="2000" dirty="0"/>
          </a:p>
          <a:p>
            <a:pPr eaLnBrk="1" hangingPunct="1">
              <a:lnSpc>
                <a:spcPct val="90000"/>
              </a:lnSpc>
              <a:buFont typeface="Arial" charset="0"/>
              <a:buChar char="•"/>
              <a:defRPr/>
            </a:pPr>
            <a:r>
              <a:rPr lang="en-US" sz="2400" b="1" dirty="0" err="1">
                <a:solidFill>
                  <a:srgbClr val="C00000"/>
                </a:solidFill>
              </a:rPr>
              <a:t>RuvB</a:t>
            </a:r>
            <a:endParaRPr lang="en-US" sz="2400" b="1" dirty="0">
              <a:solidFill>
                <a:srgbClr val="C00000"/>
              </a:solidFill>
            </a:endParaRPr>
          </a:p>
          <a:p>
            <a:pPr lvl="1" indent="-220663" eaLnBrk="1" hangingPunct="1">
              <a:lnSpc>
                <a:spcPct val="90000"/>
              </a:lnSpc>
              <a:buFont typeface="Arial" charset="0"/>
              <a:buChar char="–"/>
              <a:defRPr/>
            </a:pPr>
            <a:r>
              <a:rPr lang="en-US" sz="2000" dirty="0" err="1"/>
              <a:t>Hexameric</a:t>
            </a:r>
            <a:r>
              <a:rPr lang="en-US" sz="2000" dirty="0"/>
              <a:t> ATPase that provide energy to drive the exchange of </a:t>
            </a:r>
            <a:r>
              <a:rPr lang="en-US" sz="2000" dirty="0" err="1"/>
              <a:t>bp</a:t>
            </a:r>
            <a:r>
              <a:rPr lang="en-US" sz="2000" dirty="0"/>
              <a:t> that moves the DNA branch rapidly and in one direction</a:t>
            </a:r>
          </a:p>
          <a:p>
            <a:pPr lvl="1" indent="-220663" eaLnBrk="1" hangingPunct="1">
              <a:lnSpc>
                <a:spcPct val="90000"/>
              </a:lnSpc>
              <a:buFont typeface="Arial" charset="0"/>
              <a:buNone/>
              <a:defRPr/>
            </a:pPr>
            <a:r>
              <a:rPr lang="en-US" sz="2000" dirty="0"/>
              <a:t>* Movement of the site of this branch </a:t>
            </a:r>
            <a:r>
              <a:rPr lang="en-US" sz="2000" dirty="0">
                <a:solidFill>
                  <a:srgbClr val="0000FF"/>
                </a:solidFill>
              </a:rPr>
              <a:t>requires exchange of DNA base pairs between the two homologous DNA duplexes</a:t>
            </a:r>
            <a:endParaRPr lang="en-GB" sz="2000" dirty="0">
              <a:solidFill>
                <a:srgbClr val="0000FF"/>
              </a:solidFill>
            </a:endParaRPr>
          </a:p>
        </p:txBody>
      </p:sp>
      <p:pic>
        <p:nvPicPr>
          <p:cNvPr id="95237" name="Picture 5">
            <a:extLst>
              <a:ext uri="{FF2B5EF4-FFF2-40B4-BE49-F238E27FC236}">
                <a16:creationId xmlns:a16="http://schemas.microsoft.com/office/drawing/2014/main" id="{6987722D-67C7-7FB2-A583-A40A943CD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270"/>
          <a:stretch>
            <a:fillRect/>
          </a:stretch>
        </p:blipFill>
        <p:spPr bwMode="auto">
          <a:xfrm>
            <a:off x="468313" y="1125538"/>
            <a:ext cx="8332787" cy="277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descr="H:\Amjad Courses\BT451\Molecular Biology of the Gene images\watson_mm_jpg_chap010\chap010\10_Figure13.jpg">
            <a:extLst>
              <a:ext uri="{FF2B5EF4-FFF2-40B4-BE49-F238E27FC236}">
                <a16:creationId xmlns:a16="http://schemas.microsoft.com/office/drawing/2014/main" id="{309C2635-2FA2-D4E6-0AD1-1E0C3218BC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916113"/>
            <a:ext cx="8547100" cy="447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Title 5">
            <a:extLst>
              <a:ext uri="{FF2B5EF4-FFF2-40B4-BE49-F238E27FC236}">
                <a16:creationId xmlns:a16="http://schemas.microsoft.com/office/drawing/2014/main" id="{7EC41B68-E39B-0A60-0A33-27DEA93B0436}"/>
              </a:ext>
            </a:extLst>
          </p:cNvPr>
          <p:cNvSpPr>
            <a:spLocks noGrp="1"/>
          </p:cNvSpPr>
          <p:nvPr>
            <p:ph type="title"/>
          </p:nvPr>
        </p:nvSpPr>
        <p:spPr>
          <a:xfrm>
            <a:off x="323850" y="274638"/>
            <a:ext cx="8496300" cy="1143000"/>
          </a:xfrm>
        </p:spPr>
        <p:txBody>
          <a:bodyPr/>
          <a:lstStyle/>
          <a:p>
            <a:r>
              <a:rPr lang="en-US" altLang="en-US" sz="2800" b="1">
                <a:solidFill>
                  <a:srgbClr val="0000FF"/>
                </a:solidFill>
              </a:rPr>
              <a:t>High resolution structure of RuvA and schematic model of the RuvAB complex bound to Holliday junction of DNA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F0AF7D35-6E8E-006D-7C4E-D449CF75BCB1}"/>
              </a:ext>
            </a:extLst>
          </p:cNvPr>
          <p:cNvSpPr>
            <a:spLocks noGrp="1"/>
          </p:cNvSpPr>
          <p:nvPr>
            <p:ph type="title"/>
          </p:nvPr>
        </p:nvSpPr>
        <p:spPr>
          <a:xfrm>
            <a:off x="468313" y="115888"/>
            <a:ext cx="8229600" cy="1143000"/>
          </a:xfrm>
        </p:spPr>
        <p:txBody>
          <a:bodyPr/>
          <a:lstStyle/>
          <a:p>
            <a:r>
              <a:rPr lang="en-US" altLang="en-US" sz="3200" b="1">
                <a:solidFill>
                  <a:srgbClr val="C00000"/>
                </a:solidFill>
              </a:rPr>
              <a:t>RuvC </a:t>
            </a:r>
            <a:r>
              <a:rPr lang="en-US" altLang="en-US" sz="3200" b="1">
                <a:solidFill>
                  <a:srgbClr val="0000FF"/>
                </a:solidFill>
              </a:rPr>
              <a:t>cleaves specific DNA strands at the Holliday junction to finish recombination</a:t>
            </a:r>
          </a:p>
        </p:txBody>
      </p:sp>
      <p:sp>
        <p:nvSpPr>
          <p:cNvPr id="99331" name="Content Placeholder 2">
            <a:extLst>
              <a:ext uri="{FF2B5EF4-FFF2-40B4-BE49-F238E27FC236}">
                <a16:creationId xmlns:a16="http://schemas.microsoft.com/office/drawing/2014/main" id="{96DC0B8C-7313-8CF7-7101-EB158C4935DC}"/>
              </a:ext>
            </a:extLst>
          </p:cNvPr>
          <p:cNvSpPr>
            <a:spLocks noGrp="1"/>
          </p:cNvSpPr>
          <p:nvPr>
            <p:ph idx="1"/>
          </p:nvPr>
        </p:nvSpPr>
        <p:spPr>
          <a:xfrm>
            <a:off x="468313" y="1268413"/>
            <a:ext cx="8229600" cy="5400675"/>
          </a:xfrm>
        </p:spPr>
        <p:txBody>
          <a:bodyPr/>
          <a:lstStyle/>
          <a:p>
            <a:r>
              <a:rPr lang="en-US" altLang="en-US" sz="2800"/>
              <a:t>Resolution by RuvC occurs when RuvC recognizes the Holiday junction-likely in a complex with RuvA and RuvB- and </a:t>
            </a:r>
            <a:r>
              <a:rPr lang="en-US" altLang="en-US" sz="2800" b="1" u="sng"/>
              <a:t>specifically</a:t>
            </a:r>
            <a:r>
              <a:rPr lang="en-US" altLang="en-US" sz="2800"/>
              <a:t> nicks two of the homologous DNA strands that have the </a:t>
            </a:r>
            <a:r>
              <a:rPr lang="en-US" altLang="en-US" sz="2800" b="1" u="sng"/>
              <a:t>same polarity</a:t>
            </a:r>
          </a:p>
          <a:p>
            <a:r>
              <a:rPr lang="en-US" altLang="en-US" sz="2800"/>
              <a:t>This cleavage results in DNA ends that terminate with 5 phosphate and 3 OH groups that can be directly joined by DNA ligase</a:t>
            </a:r>
          </a:p>
          <a:p>
            <a:r>
              <a:rPr lang="en-US" altLang="en-US" sz="2800"/>
              <a:t>Depending on which pair of strands is cleaved, the resulting ligated products will be either the splice (</a:t>
            </a:r>
            <a:r>
              <a:rPr lang="en-US" altLang="en-US" sz="2800" b="1">
                <a:solidFill>
                  <a:srgbClr val="FF0000"/>
                </a:solidFill>
              </a:rPr>
              <a:t>crossover</a:t>
            </a:r>
            <a:r>
              <a:rPr lang="en-US" altLang="en-US" sz="2800"/>
              <a:t>)  or patch type (</a:t>
            </a:r>
            <a:r>
              <a:rPr lang="en-US" altLang="en-US" sz="2800" b="1">
                <a:solidFill>
                  <a:srgbClr val="FF0000"/>
                </a:solidFill>
              </a:rPr>
              <a:t>noncorssover</a:t>
            </a:r>
            <a:r>
              <a:rPr lang="en-US" altLang="en-US" sz="2800"/>
              <a:t>).</a:t>
            </a:r>
          </a:p>
          <a:p>
            <a:r>
              <a:rPr lang="en-US" altLang="en-US" sz="2800"/>
              <a:t>Modest sequence specificity for cleavage at sites conforming to </a:t>
            </a:r>
            <a:r>
              <a:rPr lang="en-US" altLang="en-US" sz="2800" b="1">
                <a:solidFill>
                  <a:srgbClr val="C00000"/>
                </a:solidFill>
              </a:rPr>
              <a:t>5'A/T-T-T-G/C3' </a:t>
            </a:r>
            <a:r>
              <a:rPr lang="en-US" altLang="en-US" sz="2800"/>
              <a:t>(after 2</a:t>
            </a:r>
            <a:r>
              <a:rPr lang="en-US" altLang="en-US" sz="2800" baseline="30000"/>
              <a:t>nd</a:t>
            </a:r>
            <a:r>
              <a:rPr lang="en-US" altLang="en-US" sz="2800"/>
              <a:t> T).</a:t>
            </a:r>
          </a:p>
          <a:p>
            <a:endParaRPr lang="en-US" altLang="en-US" sz="2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828C6C4B-E222-90C9-2656-EEDAFC4FBA3A}"/>
              </a:ext>
            </a:extLst>
          </p:cNvPr>
          <p:cNvSpPr>
            <a:spLocks noGrp="1"/>
          </p:cNvSpPr>
          <p:nvPr>
            <p:ph type="title"/>
          </p:nvPr>
        </p:nvSpPr>
        <p:spPr>
          <a:xfrm>
            <a:off x="395288" y="274638"/>
            <a:ext cx="8291512" cy="1143000"/>
          </a:xfrm>
        </p:spPr>
        <p:txBody>
          <a:bodyPr/>
          <a:lstStyle/>
          <a:p>
            <a:r>
              <a:rPr lang="en-US" altLang="en-US" sz="2800" b="1">
                <a:solidFill>
                  <a:srgbClr val="0000FF"/>
                </a:solidFill>
              </a:rPr>
              <a:t>High resolution structure of the </a:t>
            </a:r>
            <a:r>
              <a:rPr lang="en-US" altLang="en-US" sz="2800" b="1">
                <a:solidFill>
                  <a:srgbClr val="C00000"/>
                </a:solidFill>
              </a:rPr>
              <a:t>RuvC resolvase </a:t>
            </a:r>
            <a:r>
              <a:rPr lang="en-US" altLang="en-US" sz="2800" b="1">
                <a:solidFill>
                  <a:srgbClr val="0000FF"/>
                </a:solidFill>
              </a:rPr>
              <a:t>and schematic model of the RuvC dimer bound to Holliday junction of DNA</a:t>
            </a:r>
          </a:p>
        </p:txBody>
      </p:sp>
      <p:pic>
        <p:nvPicPr>
          <p:cNvPr id="101379" name="Picture 2" descr="H:\Amjad Courses\BT451\Molecular Biology of the Gene images\watson_mm_jpg_chap010\chap010\10_Figure14.jpg">
            <a:extLst>
              <a:ext uri="{FF2B5EF4-FFF2-40B4-BE49-F238E27FC236}">
                <a16:creationId xmlns:a16="http://schemas.microsoft.com/office/drawing/2014/main" id="{EBC2974E-FD1F-215B-735C-820E10A732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844675"/>
            <a:ext cx="8547100"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A78E884-C003-629A-1DA0-13CD70FB5D5E}"/>
              </a:ext>
            </a:extLst>
          </p:cNvPr>
          <p:cNvSpPr>
            <a:spLocks noGrp="1" noChangeArrowheads="1"/>
          </p:cNvSpPr>
          <p:nvPr>
            <p:ph type="ctrTitle"/>
          </p:nvPr>
        </p:nvSpPr>
        <p:spPr>
          <a:xfrm>
            <a:off x="685800" y="1736725"/>
            <a:ext cx="8207375" cy="1920875"/>
          </a:xfrm>
        </p:spPr>
        <p:txBody>
          <a:bodyPr/>
          <a:lstStyle/>
          <a:p>
            <a:pPr eaLnBrk="1" hangingPunct="1"/>
            <a:r>
              <a:rPr lang="en-GB" altLang="en-US" sz="4800" b="1">
                <a:solidFill>
                  <a:srgbClr val="C00000"/>
                </a:solidFill>
              </a:rPr>
              <a:t>Homologous Recombination In </a:t>
            </a:r>
            <a:r>
              <a:rPr lang="en-GB" altLang="en-US" sz="4800" b="1">
                <a:solidFill>
                  <a:srgbClr val="3399FF"/>
                </a:solidFill>
              </a:rPr>
              <a:t>Eukaryotes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descr="H:\Amjad Courses\BT451\Molecular Biology of the Gene images\watson_mm_jpg_chap010\chap010\10_Figure15.jpg">
            <a:extLst>
              <a:ext uri="{FF2B5EF4-FFF2-40B4-BE49-F238E27FC236}">
                <a16:creationId xmlns:a16="http://schemas.microsoft.com/office/drawing/2014/main" id="{5B3EEC4C-BF96-7B16-72D4-A2F2AF392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584200"/>
            <a:ext cx="3571875" cy="626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TextBox 5">
            <a:extLst>
              <a:ext uri="{FF2B5EF4-FFF2-40B4-BE49-F238E27FC236}">
                <a16:creationId xmlns:a16="http://schemas.microsoft.com/office/drawing/2014/main" id="{08A0EB3A-AC2B-EF94-0973-AAD0ECE036A9}"/>
              </a:ext>
            </a:extLst>
          </p:cNvPr>
          <p:cNvSpPr txBox="1">
            <a:spLocks noChangeArrowheads="1"/>
          </p:cNvSpPr>
          <p:nvPr/>
        </p:nvSpPr>
        <p:spPr bwMode="auto">
          <a:xfrm>
            <a:off x="1692275" y="0"/>
            <a:ext cx="5570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0000FF"/>
                </a:solidFill>
                <a:latin typeface="Garamond" panose="02020404030301010803" pitchFamily="18" charset="0"/>
              </a:rPr>
              <a:t>DNA dynamics during meiosis</a:t>
            </a:r>
          </a:p>
        </p:txBody>
      </p:sp>
      <p:pic>
        <p:nvPicPr>
          <p:cNvPr id="105476" name="Picture 4" descr="H:\Amjad Courses\BT451\Molecular Biology of the Gene images\watson_mm_jpg_chap010\chap010\10_Figure16.jpg">
            <a:extLst>
              <a:ext uri="{FF2B5EF4-FFF2-40B4-BE49-F238E27FC236}">
                <a16:creationId xmlns:a16="http://schemas.microsoft.com/office/drawing/2014/main" id="{C4541ADE-26D9-0580-FA5A-5C01FD92D2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412875"/>
            <a:ext cx="27495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4CAE2414-920E-A951-3D5F-02840C7A876F}"/>
              </a:ext>
            </a:extLst>
          </p:cNvPr>
          <p:cNvSpPr>
            <a:spLocks noGrp="1" noRot="1" noChangeArrowheads="1"/>
          </p:cNvSpPr>
          <p:nvPr>
            <p:ph type="title"/>
          </p:nvPr>
        </p:nvSpPr>
        <p:spPr>
          <a:xfrm>
            <a:off x="323850" y="188913"/>
            <a:ext cx="8578850" cy="1425575"/>
          </a:xfrm>
        </p:spPr>
        <p:txBody>
          <a:bodyPr/>
          <a:lstStyle/>
          <a:p>
            <a:pPr eaLnBrk="1" hangingPunct="1"/>
            <a:r>
              <a:rPr lang="en-GB" altLang="en-US" sz="3200" b="1">
                <a:solidFill>
                  <a:srgbClr val="C00000"/>
                </a:solidFill>
              </a:rPr>
              <a:t>Meiotic recombination </a:t>
            </a:r>
            <a:r>
              <a:rPr lang="en-GB" altLang="en-US" sz="3200" b="1">
                <a:solidFill>
                  <a:srgbClr val="0000FF"/>
                </a:solidFill>
              </a:rPr>
              <a:t>prevents </a:t>
            </a:r>
            <a:r>
              <a:rPr lang="en-GB" altLang="en-US" sz="3200" b="1">
                <a:solidFill>
                  <a:srgbClr val="FF0000"/>
                </a:solidFill>
              </a:rPr>
              <a:t>non-disjunction</a:t>
            </a:r>
            <a:r>
              <a:rPr lang="en-GB" altLang="en-US" sz="3200" b="1">
                <a:solidFill>
                  <a:srgbClr val="0000FF"/>
                </a:solidFill>
              </a:rPr>
              <a:t> (</a:t>
            </a:r>
            <a:r>
              <a:rPr lang="en-GB" altLang="en-US" sz="3200" b="1">
                <a:solidFill>
                  <a:srgbClr val="FF0000"/>
                </a:solidFill>
              </a:rPr>
              <a:t>improper segregation of chromosomes</a:t>
            </a:r>
            <a:r>
              <a:rPr lang="en-GB" altLang="en-US" sz="3200" b="1">
                <a:solidFill>
                  <a:srgbClr val="0000FF"/>
                </a:solidFill>
              </a:rPr>
              <a:t>)</a:t>
            </a:r>
            <a:endParaRPr lang="en-US" altLang="en-US" sz="3200" b="1">
              <a:solidFill>
                <a:srgbClr val="0000FF"/>
              </a:solidFill>
            </a:endParaRPr>
          </a:p>
        </p:txBody>
      </p:sp>
      <p:pic>
        <p:nvPicPr>
          <p:cNvPr id="107523" name="Picture 3" descr="pict2">
            <a:extLst>
              <a:ext uri="{FF2B5EF4-FFF2-40B4-BE49-F238E27FC236}">
                <a16:creationId xmlns:a16="http://schemas.microsoft.com/office/drawing/2014/main" id="{55EC8987-CA43-F9C5-3984-244281AEBF1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r="33820"/>
          <a:stretch>
            <a:fillRect/>
          </a:stretch>
        </p:blipFill>
        <p:spPr>
          <a:xfrm>
            <a:off x="1619250" y="1484313"/>
            <a:ext cx="5337175" cy="5048250"/>
          </a:xfr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D47406A0-7BE1-1CDD-CB28-A78B5FB01BF4}"/>
              </a:ext>
            </a:extLst>
          </p:cNvPr>
          <p:cNvSpPr>
            <a:spLocks noGrp="1" noRot="1" noChangeArrowheads="1"/>
          </p:cNvSpPr>
          <p:nvPr>
            <p:ph type="title"/>
          </p:nvPr>
        </p:nvSpPr>
        <p:spPr>
          <a:xfrm>
            <a:off x="593725" y="115888"/>
            <a:ext cx="8229600" cy="922337"/>
          </a:xfrm>
        </p:spPr>
        <p:txBody>
          <a:bodyPr/>
          <a:lstStyle/>
          <a:p>
            <a:pPr eaLnBrk="1" hangingPunct="1"/>
            <a:r>
              <a:rPr lang="en-US" altLang="en-US" sz="3200" b="1" u="sng">
                <a:solidFill>
                  <a:srgbClr val="FF0000"/>
                </a:solidFill>
              </a:rPr>
              <a:t>Programmed</a:t>
            </a:r>
            <a:r>
              <a:rPr lang="en-US" altLang="en-US" sz="3200" b="1">
                <a:solidFill>
                  <a:srgbClr val="0000FF"/>
                </a:solidFill>
              </a:rPr>
              <a:t> generation of DSB occurs </a:t>
            </a:r>
            <a:br>
              <a:rPr lang="en-US" altLang="en-US" sz="3200" b="1">
                <a:solidFill>
                  <a:srgbClr val="0000FF"/>
                </a:solidFill>
              </a:rPr>
            </a:br>
            <a:r>
              <a:rPr lang="en-US" altLang="en-US" sz="3200" b="1">
                <a:solidFill>
                  <a:srgbClr val="0000FF"/>
                </a:solidFill>
              </a:rPr>
              <a:t>during meiosis</a:t>
            </a:r>
            <a:endParaRPr lang="en-GB" altLang="en-US" sz="3200" b="1">
              <a:solidFill>
                <a:srgbClr val="0000FF"/>
              </a:solidFill>
            </a:endParaRPr>
          </a:p>
        </p:txBody>
      </p:sp>
      <p:sp>
        <p:nvSpPr>
          <p:cNvPr id="109571" name="Rectangle 3">
            <a:extLst>
              <a:ext uri="{FF2B5EF4-FFF2-40B4-BE49-F238E27FC236}">
                <a16:creationId xmlns:a16="http://schemas.microsoft.com/office/drawing/2014/main" id="{B829B707-0458-1502-87FC-DD7481FDD506}"/>
              </a:ext>
            </a:extLst>
          </p:cNvPr>
          <p:cNvSpPr>
            <a:spLocks noGrp="1" noChangeArrowheads="1"/>
          </p:cNvSpPr>
          <p:nvPr>
            <p:ph type="body" sz="half" idx="1"/>
          </p:nvPr>
        </p:nvSpPr>
        <p:spPr>
          <a:xfrm>
            <a:off x="468313" y="1196975"/>
            <a:ext cx="7848600" cy="2736850"/>
          </a:xfrm>
        </p:spPr>
        <p:txBody>
          <a:bodyPr/>
          <a:lstStyle/>
          <a:p>
            <a:pPr eaLnBrk="1" hangingPunct="1"/>
            <a:r>
              <a:rPr lang="en-US" altLang="en-US" sz="2400"/>
              <a:t>Turning on expression of </a:t>
            </a:r>
            <a:r>
              <a:rPr lang="en-US" altLang="en-US" sz="2400" b="1">
                <a:solidFill>
                  <a:srgbClr val="C00000"/>
                </a:solidFill>
              </a:rPr>
              <a:t>SPO11</a:t>
            </a:r>
            <a:r>
              <a:rPr lang="en-US" altLang="en-US" sz="2400">
                <a:solidFill>
                  <a:srgbClr val="C00000"/>
                </a:solidFill>
              </a:rPr>
              <a:t> </a:t>
            </a:r>
            <a:r>
              <a:rPr lang="en-US" altLang="en-US" sz="2400"/>
              <a:t>gene to initiate meiotic recombination</a:t>
            </a:r>
          </a:p>
          <a:p>
            <a:pPr lvl="1" eaLnBrk="1" hangingPunct="1"/>
            <a:r>
              <a:rPr lang="en-US" altLang="en-US" sz="2000"/>
              <a:t>Cuts DNA at </a:t>
            </a:r>
            <a:r>
              <a:rPr lang="en-US" altLang="en-US" sz="2000">
                <a:solidFill>
                  <a:srgbClr val="0000FF"/>
                </a:solidFill>
              </a:rPr>
              <a:t>many locations with little sequence specificity </a:t>
            </a:r>
            <a:r>
              <a:rPr lang="en-US" altLang="en-US" sz="2000"/>
              <a:t>but at</a:t>
            </a:r>
          </a:p>
          <a:p>
            <a:pPr lvl="1" eaLnBrk="1" hangingPunct="1"/>
            <a:r>
              <a:rPr lang="en-US" altLang="en-US" sz="2000">
                <a:solidFill>
                  <a:srgbClr val="0000FF"/>
                </a:solidFill>
              </a:rPr>
              <a:t>Very specific time </a:t>
            </a:r>
            <a:r>
              <a:rPr lang="en-US" altLang="en-US" sz="2000"/>
              <a:t>during meiosis </a:t>
            </a:r>
          </a:p>
          <a:p>
            <a:pPr lvl="1" eaLnBrk="1" hangingPunct="1"/>
            <a:r>
              <a:rPr lang="en-US" altLang="en-US" sz="2000"/>
              <a:t>Cuts sites although frequent </a:t>
            </a:r>
            <a:r>
              <a:rPr lang="en-US" altLang="en-US" sz="2000">
                <a:solidFill>
                  <a:srgbClr val="0000FF"/>
                </a:solidFill>
              </a:rPr>
              <a:t>but not random mostly </a:t>
            </a:r>
            <a:r>
              <a:rPr lang="en-US" altLang="en-US" sz="2000"/>
              <a:t>in less tightly packed DNA such as promoters</a:t>
            </a:r>
          </a:p>
          <a:p>
            <a:pPr eaLnBrk="1" hangingPunct="1"/>
            <a:endParaRPr lang="en-US" altLang="en-US" sz="1600"/>
          </a:p>
        </p:txBody>
      </p:sp>
      <p:grpSp>
        <p:nvGrpSpPr>
          <p:cNvPr id="2" name="Group 18">
            <a:extLst>
              <a:ext uri="{FF2B5EF4-FFF2-40B4-BE49-F238E27FC236}">
                <a16:creationId xmlns:a16="http://schemas.microsoft.com/office/drawing/2014/main" id="{67C521BE-DE98-2A6B-79F8-0FF7DD5F4AF4}"/>
              </a:ext>
            </a:extLst>
          </p:cNvPr>
          <p:cNvGrpSpPr>
            <a:grpSpLocks/>
          </p:cNvGrpSpPr>
          <p:nvPr/>
        </p:nvGrpSpPr>
        <p:grpSpPr bwMode="auto">
          <a:xfrm>
            <a:off x="0" y="3940175"/>
            <a:ext cx="9144000" cy="2873375"/>
            <a:chOff x="0" y="2510"/>
            <a:chExt cx="5760" cy="1810"/>
          </a:xfrm>
        </p:grpSpPr>
        <p:pic>
          <p:nvPicPr>
            <p:cNvPr id="109573" name="Picture 14">
              <a:extLst>
                <a:ext uri="{FF2B5EF4-FFF2-40B4-BE49-F238E27FC236}">
                  <a16:creationId xmlns:a16="http://schemas.microsoft.com/office/drawing/2014/main" id="{FF4FCEAC-80DA-C3B7-703D-C3C28862D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1763"/>
            <a:stretch>
              <a:fillRect/>
            </a:stretch>
          </p:blipFill>
          <p:spPr bwMode="auto">
            <a:xfrm>
              <a:off x="0" y="2510"/>
              <a:ext cx="5760" cy="1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4" name="Text Box 15">
              <a:extLst>
                <a:ext uri="{FF2B5EF4-FFF2-40B4-BE49-F238E27FC236}">
                  <a16:creationId xmlns:a16="http://schemas.microsoft.com/office/drawing/2014/main" id="{130E2BB1-2255-C722-835A-11FAB523CE41}"/>
                </a:ext>
              </a:extLst>
            </p:cNvPr>
            <p:cNvSpPr txBox="1">
              <a:spLocks noChangeArrowheads="1"/>
            </p:cNvSpPr>
            <p:nvPr/>
          </p:nvSpPr>
          <p:spPr bwMode="auto">
            <a:xfrm>
              <a:off x="226" y="3430"/>
              <a:ext cx="318" cy="17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200" b="1">
                  <a:solidFill>
                    <a:srgbClr val="3399FF"/>
                  </a:solidFill>
                  <a:latin typeface="Arial" panose="020B0604020202020204" pitchFamily="34" charset="0"/>
                </a:rPr>
                <a:t>Tyr</a:t>
              </a:r>
            </a:p>
          </p:txBody>
        </p:sp>
        <p:sp>
          <p:nvSpPr>
            <p:cNvPr id="109575" name="Text Box 16">
              <a:extLst>
                <a:ext uri="{FF2B5EF4-FFF2-40B4-BE49-F238E27FC236}">
                  <a16:creationId xmlns:a16="http://schemas.microsoft.com/office/drawing/2014/main" id="{8A44D6C5-CD6A-2E29-ACF8-BB13A162600C}"/>
                </a:ext>
              </a:extLst>
            </p:cNvPr>
            <p:cNvSpPr txBox="1">
              <a:spLocks noChangeArrowheads="1"/>
            </p:cNvSpPr>
            <p:nvPr/>
          </p:nvSpPr>
          <p:spPr bwMode="auto">
            <a:xfrm>
              <a:off x="4150" y="3612"/>
              <a:ext cx="318" cy="17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200" b="1">
                  <a:solidFill>
                    <a:srgbClr val="3399FF"/>
                  </a:solidFill>
                  <a:latin typeface="Arial" panose="020B0604020202020204" pitchFamily="34" charset="0"/>
                </a:rPr>
                <a:t>Tyr</a:t>
              </a:r>
            </a:p>
          </p:txBody>
        </p:sp>
        <p:sp>
          <p:nvSpPr>
            <p:cNvPr id="109576" name="Text Box 17">
              <a:extLst>
                <a:ext uri="{FF2B5EF4-FFF2-40B4-BE49-F238E27FC236}">
                  <a16:creationId xmlns:a16="http://schemas.microsoft.com/office/drawing/2014/main" id="{8FBDEFC8-75BF-37AD-349D-8B6390966A77}"/>
                </a:ext>
              </a:extLst>
            </p:cNvPr>
            <p:cNvSpPr txBox="1">
              <a:spLocks noChangeArrowheads="1"/>
            </p:cNvSpPr>
            <p:nvPr/>
          </p:nvSpPr>
          <p:spPr bwMode="auto">
            <a:xfrm>
              <a:off x="2381" y="3385"/>
              <a:ext cx="273" cy="173"/>
            </a:xfrm>
            <a:prstGeom prst="rect">
              <a:avLst/>
            </a:prstGeom>
            <a:solidFill>
              <a:srgbClr val="FFE4C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GB" altLang="en-US" sz="1200" b="1">
                  <a:solidFill>
                    <a:srgbClr val="3399FF"/>
                  </a:solidFill>
                  <a:latin typeface="Arial" panose="020B0604020202020204" pitchFamily="34" charset="0"/>
                </a:rPr>
                <a:t>Tyr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H:\Amjad Courses\BT451\Molecular Biology of the Gene images\watson_mm_jpg_chap010\chap010\10_Figure18.jpg">
            <a:extLst>
              <a:ext uri="{FF2B5EF4-FFF2-40B4-BE49-F238E27FC236}">
                <a16:creationId xmlns:a16="http://schemas.microsoft.com/office/drawing/2014/main" id="{88CEEFE5-5592-00B1-CEF9-B16C366D8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338" y="158750"/>
            <a:ext cx="4919662" cy="658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19" name="Content Placeholder 15">
            <a:extLst>
              <a:ext uri="{FF2B5EF4-FFF2-40B4-BE49-F238E27FC236}">
                <a16:creationId xmlns:a16="http://schemas.microsoft.com/office/drawing/2014/main" id="{687C553D-67BA-68B4-34E5-1E088556E11F}"/>
              </a:ext>
            </a:extLst>
          </p:cNvPr>
          <p:cNvSpPr>
            <a:spLocks noGrp="1"/>
          </p:cNvSpPr>
          <p:nvPr>
            <p:ph idx="1"/>
          </p:nvPr>
        </p:nvSpPr>
        <p:spPr>
          <a:xfrm>
            <a:off x="179388" y="188913"/>
            <a:ext cx="4032250" cy="6553200"/>
          </a:xfrm>
        </p:spPr>
        <p:txBody>
          <a:bodyPr/>
          <a:lstStyle/>
          <a:p>
            <a:r>
              <a:rPr lang="en-US" altLang="en-US" sz="1800">
                <a:solidFill>
                  <a:srgbClr val="0000FF"/>
                </a:solidFill>
              </a:rPr>
              <a:t>A specific tyrosine </a:t>
            </a:r>
            <a:r>
              <a:rPr lang="en-US" altLang="en-US" sz="1800"/>
              <a:t>in the Spo11 </a:t>
            </a:r>
            <a:r>
              <a:rPr lang="en-US" altLang="en-US" sz="1800">
                <a:solidFill>
                  <a:srgbClr val="0000FF"/>
                </a:solidFill>
              </a:rPr>
              <a:t>attacks the phosphodiester </a:t>
            </a:r>
            <a:r>
              <a:rPr lang="en-US" altLang="en-US" sz="1800"/>
              <a:t>backbone to cut the DNA and generate a covalent complex between the protein and the served DNA strand </a:t>
            </a:r>
          </a:p>
          <a:p>
            <a:r>
              <a:rPr lang="en-US" altLang="en-US" sz="1800"/>
              <a:t>Two subunits of Spo11 cleave the DNA </a:t>
            </a:r>
            <a:r>
              <a:rPr lang="en-US" altLang="en-US" sz="1800">
                <a:solidFill>
                  <a:srgbClr val="0000FF"/>
                </a:solidFill>
              </a:rPr>
              <a:t>two nucleotides apart </a:t>
            </a:r>
            <a:r>
              <a:rPr lang="en-US" altLang="en-US" sz="1800"/>
              <a:t>on the two DNA strands to make a </a:t>
            </a:r>
            <a:r>
              <a:rPr lang="en-US" altLang="en-US" sz="1800">
                <a:solidFill>
                  <a:srgbClr val="FF0000"/>
                </a:solidFill>
              </a:rPr>
              <a:t>staggered</a:t>
            </a:r>
            <a:r>
              <a:rPr lang="en-US" altLang="en-US" sz="1800"/>
              <a:t> DSB</a:t>
            </a:r>
          </a:p>
          <a:p>
            <a:r>
              <a:rPr lang="en-US" altLang="en-US" sz="1800"/>
              <a:t>Covalent protein-DNA complex has two consequences:</a:t>
            </a:r>
          </a:p>
          <a:p>
            <a:pPr>
              <a:buFont typeface="Calibri" panose="020F0502020204030204" pitchFamily="34" charset="0"/>
              <a:buAutoNum type="arabicPeriod"/>
            </a:pPr>
            <a:r>
              <a:rPr lang="en-US" altLang="en-US" sz="1800">
                <a:solidFill>
                  <a:srgbClr val="0000FF"/>
                </a:solidFill>
              </a:rPr>
              <a:t>The 5’ends of the DNA </a:t>
            </a:r>
            <a:r>
              <a:rPr lang="en-US" altLang="en-US" sz="1800"/>
              <a:t>at the site of Spo11 cleavage are </a:t>
            </a:r>
            <a:r>
              <a:rPr lang="en-US" altLang="en-US" sz="1800">
                <a:solidFill>
                  <a:srgbClr val="0000FF"/>
                </a:solidFill>
              </a:rPr>
              <a:t>covalently bound to the enzyme</a:t>
            </a:r>
            <a:r>
              <a:rPr lang="en-US" altLang="en-US" sz="1800"/>
              <a:t> (these are initial sites for DNA processing to create the ssDNA tails required by RecA-like proteins and initiation of DNA strand invasion</a:t>
            </a:r>
          </a:p>
          <a:p>
            <a:pPr>
              <a:buFont typeface="Calibri" panose="020F0502020204030204" pitchFamily="34" charset="0"/>
              <a:buAutoNum type="arabicPeriod"/>
            </a:pPr>
            <a:r>
              <a:rPr lang="en-US" altLang="en-US" sz="1800"/>
              <a:t>Energy of the cleaved DNA phosphodiester bond is </a:t>
            </a:r>
            <a:r>
              <a:rPr lang="en-US" altLang="en-US" sz="1800">
                <a:solidFill>
                  <a:srgbClr val="0000FF"/>
                </a:solidFill>
              </a:rPr>
              <a:t>stored in the bound protein-DNA linkage  </a:t>
            </a:r>
            <a:r>
              <a:rPr lang="en-US" altLang="en-US" sz="1800"/>
              <a:t>and so the DNA strands can be released by a simple reversal of the cleavage rxn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5" descr="H:\Amjad Courses\BT451\Molecular Biology of the Gene images\watson_mm_jpg_chap010\chap010\10_Figure19.jpg">
            <a:extLst>
              <a:ext uri="{FF2B5EF4-FFF2-40B4-BE49-F238E27FC236}">
                <a16:creationId xmlns:a16="http://schemas.microsoft.com/office/drawing/2014/main" id="{07DA19CD-A4E8-53AC-1B20-592F811EAC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274638"/>
            <a:ext cx="3846512" cy="658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7" name="Title 5">
            <a:extLst>
              <a:ext uri="{FF2B5EF4-FFF2-40B4-BE49-F238E27FC236}">
                <a16:creationId xmlns:a16="http://schemas.microsoft.com/office/drawing/2014/main" id="{5E806673-46E4-BC84-F8EF-F9A67F3E94FF}"/>
              </a:ext>
            </a:extLst>
          </p:cNvPr>
          <p:cNvSpPr>
            <a:spLocks noGrp="1"/>
          </p:cNvSpPr>
          <p:nvPr>
            <p:ph type="title"/>
          </p:nvPr>
        </p:nvSpPr>
        <p:spPr>
          <a:xfrm>
            <a:off x="457200" y="274638"/>
            <a:ext cx="4402138" cy="1143000"/>
          </a:xfrm>
        </p:spPr>
        <p:txBody>
          <a:bodyPr/>
          <a:lstStyle/>
          <a:p>
            <a:r>
              <a:rPr lang="en-US" altLang="en-US" sz="2400" b="1">
                <a:solidFill>
                  <a:srgbClr val="0000FF"/>
                </a:solidFill>
              </a:rPr>
              <a:t>MRX processes the cleaved DNA ends for assembly of the RecA-like exchange proteins</a:t>
            </a:r>
          </a:p>
        </p:txBody>
      </p:sp>
      <p:sp>
        <p:nvSpPr>
          <p:cNvPr id="113668" name="Content Placeholder 6">
            <a:extLst>
              <a:ext uri="{FF2B5EF4-FFF2-40B4-BE49-F238E27FC236}">
                <a16:creationId xmlns:a16="http://schemas.microsoft.com/office/drawing/2014/main" id="{152B8085-A06A-8A43-67BB-2357A6F33587}"/>
              </a:ext>
            </a:extLst>
          </p:cNvPr>
          <p:cNvSpPr>
            <a:spLocks noGrp="1"/>
          </p:cNvSpPr>
          <p:nvPr>
            <p:ph idx="1"/>
          </p:nvPr>
        </p:nvSpPr>
        <p:spPr>
          <a:xfrm>
            <a:off x="457200" y="1600200"/>
            <a:ext cx="4330700" cy="5068888"/>
          </a:xfrm>
        </p:spPr>
        <p:txBody>
          <a:bodyPr/>
          <a:lstStyle/>
          <a:p>
            <a:r>
              <a:rPr lang="en-US" altLang="en-US" b="1">
                <a:solidFill>
                  <a:srgbClr val="C00000"/>
                </a:solidFill>
              </a:rPr>
              <a:t>MRX</a:t>
            </a:r>
            <a:r>
              <a:rPr lang="en-US" altLang="en-US">
                <a:solidFill>
                  <a:srgbClr val="C00000"/>
                </a:solidFill>
              </a:rPr>
              <a:t> </a:t>
            </a:r>
            <a:r>
              <a:rPr lang="en-US" altLang="en-US"/>
              <a:t>is composed of </a:t>
            </a:r>
            <a:r>
              <a:rPr lang="en-US" altLang="en-US" b="1">
                <a:solidFill>
                  <a:srgbClr val="C00000"/>
                </a:solidFill>
              </a:rPr>
              <a:t>Mre11, Rad50 and Xrs2</a:t>
            </a:r>
          </a:p>
          <a:p>
            <a:r>
              <a:rPr lang="en-US" altLang="en-US"/>
              <a:t>Processing of the DNA at the break site occurs </a:t>
            </a:r>
            <a:r>
              <a:rPr lang="en-US" altLang="en-US">
                <a:solidFill>
                  <a:srgbClr val="0000FF"/>
                </a:solidFill>
              </a:rPr>
              <a:t>exclusively on the DNA strand that terminates with a 5'-end</a:t>
            </a:r>
            <a:r>
              <a:rPr lang="en-US" altLang="en-US"/>
              <a:t> (the one attached to Spo11) 5' →3'</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8A0D0B23-64F8-FD38-3679-76E21615D391}"/>
              </a:ext>
            </a:extLst>
          </p:cNvPr>
          <p:cNvSpPr>
            <a:spLocks noGrp="1"/>
          </p:cNvSpPr>
          <p:nvPr>
            <p:ph type="title"/>
          </p:nvPr>
        </p:nvSpPr>
        <p:spPr>
          <a:xfrm>
            <a:off x="395288" y="0"/>
            <a:ext cx="8229600" cy="1143000"/>
          </a:xfrm>
        </p:spPr>
        <p:txBody>
          <a:bodyPr/>
          <a:lstStyle/>
          <a:p>
            <a:r>
              <a:rPr lang="en-US" altLang="en-US" sz="3200" b="1">
                <a:solidFill>
                  <a:srgbClr val="0000FF"/>
                </a:solidFill>
              </a:rPr>
              <a:t>Dmc1 is RecA-like protein that specifically functions in meiotic recombination</a:t>
            </a:r>
          </a:p>
        </p:txBody>
      </p:sp>
      <p:sp>
        <p:nvSpPr>
          <p:cNvPr id="115715" name="Content Placeholder 2">
            <a:extLst>
              <a:ext uri="{FF2B5EF4-FFF2-40B4-BE49-F238E27FC236}">
                <a16:creationId xmlns:a16="http://schemas.microsoft.com/office/drawing/2014/main" id="{A03651A4-ABA2-4BD2-CE67-D521AF6ED90C}"/>
              </a:ext>
            </a:extLst>
          </p:cNvPr>
          <p:cNvSpPr>
            <a:spLocks noGrp="1"/>
          </p:cNvSpPr>
          <p:nvPr>
            <p:ph idx="1"/>
          </p:nvPr>
        </p:nvSpPr>
        <p:spPr>
          <a:xfrm>
            <a:off x="468313" y="1196975"/>
            <a:ext cx="8424862" cy="4537075"/>
          </a:xfrm>
        </p:spPr>
        <p:txBody>
          <a:bodyPr/>
          <a:lstStyle/>
          <a:p>
            <a:r>
              <a:rPr lang="en-US" altLang="en-US" sz="3000" b="1" u="sng">
                <a:solidFill>
                  <a:srgbClr val="C00000"/>
                </a:solidFill>
              </a:rPr>
              <a:t>Rad51</a:t>
            </a:r>
            <a:r>
              <a:rPr lang="en-US" altLang="en-US" sz="3000">
                <a:solidFill>
                  <a:srgbClr val="C00000"/>
                </a:solidFill>
              </a:rPr>
              <a:t> </a:t>
            </a:r>
            <a:r>
              <a:rPr lang="en-US" altLang="en-US" sz="3000"/>
              <a:t>is widely expressed in cells dividing mitotically and meiotically but </a:t>
            </a:r>
            <a:r>
              <a:rPr lang="en-US" altLang="en-US" sz="3000" b="1" u="sng">
                <a:solidFill>
                  <a:srgbClr val="C00000"/>
                </a:solidFill>
              </a:rPr>
              <a:t>Dmc</a:t>
            </a:r>
            <a:r>
              <a:rPr lang="en-US" altLang="en-US" sz="3000" b="1">
                <a:solidFill>
                  <a:srgbClr val="C00000"/>
                </a:solidFill>
              </a:rPr>
              <a:t>1</a:t>
            </a:r>
            <a:r>
              <a:rPr lang="en-US" altLang="en-US" sz="3000">
                <a:solidFill>
                  <a:srgbClr val="C00000"/>
                </a:solidFill>
              </a:rPr>
              <a:t> </a:t>
            </a:r>
            <a:r>
              <a:rPr lang="en-US" altLang="en-US" sz="3000"/>
              <a:t>is expressed only as cells enter meiosis</a:t>
            </a:r>
          </a:p>
          <a:p>
            <a:r>
              <a:rPr lang="en-US" altLang="en-US" sz="3000"/>
              <a:t>Strand exchange during </a:t>
            </a:r>
            <a:r>
              <a:rPr lang="en-US" altLang="en-US" sz="3000">
                <a:solidFill>
                  <a:srgbClr val="FF0000"/>
                </a:solidFill>
              </a:rPr>
              <a:t>meiosis</a:t>
            </a:r>
            <a:r>
              <a:rPr lang="en-US" altLang="en-US" sz="3000"/>
              <a:t> occurs between a particular type of homologous DNA partner</a:t>
            </a:r>
          </a:p>
          <a:p>
            <a:r>
              <a:rPr lang="en-US" altLang="en-US" sz="3000" b="1"/>
              <a:t>Dmc1-dependent recombination </a:t>
            </a:r>
            <a:r>
              <a:rPr lang="en-US" altLang="en-US" sz="3000"/>
              <a:t>is preferentially between the </a:t>
            </a:r>
            <a:r>
              <a:rPr lang="en-US" altLang="en-US" sz="3000" u="sng">
                <a:solidFill>
                  <a:srgbClr val="0000FF"/>
                </a:solidFill>
              </a:rPr>
              <a:t>nonsister homologous chromatids </a:t>
            </a:r>
            <a:r>
              <a:rPr lang="en-US" altLang="en-US" sz="3000"/>
              <a:t>rather than between sister chromatids.</a:t>
            </a:r>
          </a:p>
          <a:p>
            <a:endParaRPr lang="en-US" altLang="en-US" sz="2400"/>
          </a:p>
          <a:p>
            <a:endParaRPr lang="en-US" altLang="en-US"/>
          </a:p>
        </p:txBody>
      </p:sp>
      <p:pic>
        <p:nvPicPr>
          <p:cNvPr id="115716" name="Picture 3" descr="11_24Figure-L">
            <a:extLst>
              <a:ext uri="{FF2B5EF4-FFF2-40B4-BE49-F238E27FC236}">
                <a16:creationId xmlns:a16="http://schemas.microsoft.com/office/drawing/2014/main" id="{1891581B-6A39-E903-9DDA-A4AAF3145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047"/>
          <a:stretch>
            <a:fillRect/>
          </a:stretch>
        </p:blipFill>
        <p:spPr bwMode="auto">
          <a:xfrm>
            <a:off x="4500563" y="5084763"/>
            <a:ext cx="4643437"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3">
            <a:extLst>
              <a:ext uri="{FF2B5EF4-FFF2-40B4-BE49-F238E27FC236}">
                <a16:creationId xmlns:a16="http://schemas.microsoft.com/office/drawing/2014/main" id="{5D97FF96-273A-BCB0-1363-6AB843EC28BF}"/>
              </a:ext>
            </a:extLst>
          </p:cNvPr>
          <p:cNvSpPr>
            <a:spLocks noGrp="1"/>
          </p:cNvSpPr>
          <p:nvPr>
            <p:ph type="title"/>
          </p:nvPr>
        </p:nvSpPr>
        <p:spPr>
          <a:xfrm>
            <a:off x="457200" y="0"/>
            <a:ext cx="8229600" cy="1052513"/>
          </a:xfrm>
        </p:spPr>
        <p:txBody>
          <a:bodyPr/>
          <a:lstStyle/>
          <a:p>
            <a:r>
              <a:rPr lang="en-US" altLang="en-US" sz="3200">
                <a:solidFill>
                  <a:srgbClr val="0000FF"/>
                </a:solidFill>
              </a:rPr>
              <a:t>Many proteins function together to promote meiotic recombination</a:t>
            </a:r>
          </a:p>
        </p:txBody>
      </p:sp>
      <p:sp>
        <p:nvSpPr>
          <p:cNvPr id="117763" name="Content Placeholder 2">
            <a:extLst>
              <a:ext uri="{FF2B5EF4-FFF2-40B4-BE49-F238E27FC236}">
                <a16:creationId xmlns:a16="http://schemas.microsoft.com/office/drawing/2014/main" id="{14D0FB75-2EFC-AB1F-A81E-1B26E54C12B5}"/>
              </a:ext>
            </a:extLst>
          </p:cNvPr>
          <p:cNvSpPr>
            <a:spLocks noGrp="1"/>
          </p:cNvSpPr>
          <p:nvPr>
            <p:ph idx="1"/>
          </p:nvPr>
        </p:nvSpPr>
        <p:spPr>
          <a:xfrm>
            <a:off x="395288" y="1268413"/>
            <a:ext cx="8229600" cy="5545137"/>
          </a:xfrm>
        </p:spPr>
        <p:txBody>
          <a:bodyPr/>
          <a:lstStyle/>
          <a:p>
            <a:r>
              <a:rPr lang="en-US" altLang="en-US" sz="2400"/>
              <a:t>Many additional proteins appear to interact with the known recombination enzymes in a </a:t>
            </a:r>
            <a:r>
              <a:rPr lang="en-US" altLang="en-US" sz="2400">
                <a:solidFill>
                  <a:srgbClr val="0000FF"/>
                </a:solidFill>
              </a:rPr>
              <a:t>large protein-DNA complex </a:t>
            </a:r>
            <a:r>
              <a:rPr lang="en-US" altLang="en-US" sz="2400"/>
              <a:t>known as </a:t>
            </a:r>
            <a:r>
              <a:rPr lang="en-US" altLang="en-US" sz="2400" u="sng">
                <a:solidFill>
                  <a:srgbClr val="0000FF"/>
                </a:solidFill>
              </a:rPr>
              <a:t>recombination factories</a:t>
            </a:r>
          </a:p>
          <a:p>
            <a:r>
              <a:rPr lang="en-US" altLang="en-US" sz="2400" b="1">
                <a:solidFill>
                  <a:srgbClr val="C00000"/>
                </a:solidFill>
              </a:rPr>
              <a:t>Rad52</a:t>
            </a:r>
            <a:r>
              <a:rPr lang="en-US" altLang="en-US" sz="2400">
                <a:solidFill>
                  <a:srgbClr val="C00000"/>
                </a:solidFill>
              </a:rPr>
              <a:t> </a:t>
            </a:r>
            <a:r>
              <a:rPr lang="en-US" altLang="en-US" sz="2400"/>
              <a:t>functions to promote </a:t>
            </a:r>
            <a:r>
              <a:rPr lang="en-US" altLang="en-US" sz="2400">
                <a:solidFill>
                  <a:srgbClr val="0000FF"/>
                </a:solidFill>
              </a:rPr>
              <a:t>assembly of Rad51 DNA filaments by </a:t>
            </a:r>
            <a:r>
              <a:rPr lang="en-US" altLang="en-US" sz="2400" u="sng">
                <a:solidFill>
                  <a:srgbClr val="0000FF"/>
                </a:solidFill>
              </a:rPr>
              <a:t>antagonizing</a:t>
            </a:r>
            <a:r>
              <a:rPr lang="en-US" altLang="en-US" sz="2400">
                <a:solidFill>
                  <a:srgbClr val="0000FF"/>
                </a:solidFill>
              </a:rPr>
              <a:t> the action of RPA</a:t>
            </a:r>
            <a:r>
              <a:rPr lang="en-US" altLang="en-US" sz="2400"/>
              <a:t> (SSB protein). Also, promotes the </a:t>
            </a:r>
            <a:r>
              <a:rPr lang="en-US" altLang="en-US" sz="2400">
                <a:solidFill>
                  <a:srgbClr val="0000FF"/>
                </a:solidFill>
              </a:rPr>
              <a:t>annealing</a:t>
            </a:r>
            <a:r>
              <a:rPr lang="en-US" altLang="en-US" sz="2400"/>
              <a:t> and base pairing of complementary ssDNA molecules</a:t>
            </a:r>
          </a:p>
          <a:p>
            <a:r>
              <a:rPr lang="en-US" altLang="en-US" sz="2400"/>
              <a:t> </a:t>
            </a:r>
            <a:r>
              <a:rPr lang="en-US" altLang="en-US" sz="2400" b="1" i="1">
                <a:solidFill>
                  <a:srgbClr val="C00000"/>
                </a:solidFill>
              </a:rPr>
              <a:t>BRCA2</a:t>
            </a:r>
            <a:r>
              <a:rPr lang="en-US" altLang="en-US" sz="2400">
                <a:solidFill>
                  <a:srgbClr val="C00000"/>
                </a:solidFill>
              </a:rPr>
              <a:t> </a:t>
            </a:r>
            <a:r>
              <a:rPr lang="en-US" altLang="en-US" sz="2400"/>
              <a:t>also participates in Rad51-meidated DSB repair</a:t>
            </a:r>
          </a:p>
          <a:p>
            <a:r>
              <a:rPr lang="en-US" altLang="en-US" sz="2400" b="1" u="sng">
                <a:solidFill>
                  <a:srgbClr val="C00000"/>
                </a:solidFill>
              </a:rPr>
              <a:t>Rad51C and XRCC3 </a:t>
            </a:r>
            <a:r>
              <a:rPr lang="en-US" altLang="en-US" sz="2400"/>
              <a:t>contain </a:t>
            </a:r>
            <a:r>
              <a:rPr lang="en-US" altLang="en-US" sz="2400">
                <a:solidFill>
                  <a:srgbClr val="0000FF"/>
                </a:solidFill>
              </a:rPr>
              <a:t>Holliday junction resolvase </a:t>
            </a:r>
            <a:r>
              <a:rPr lang="en-US" altLang="en-US" sz="2400"/>
              <a:t>activity</a:t>
            </a:r>
          </a:p>
          <a:p>
            <a:r>
              <a:rPr lang="en-US" altLang="en-US" sz="2400"/>
              <a:t>Noncrossover recombination can have genetic consequence such as giving rise to a </a:t>
            </a:r>
            <a:r>
              <a:rPr lang="en-US" altLang="en-US" sz="2400" b="1" u="sng">
                <a:solidFill>
                  <a:srgbClr val="0000FF"/>
                </a:solidFill>
              </a:rPr>
              <a:t>gene conversion </a:t>
            </a:r>
            <a:r>
              <a:rPr lang="en-US" altLang="en-US" sz="2400"/>
              <a:t>event. </a:t>
            </a:r>
            <a:r>
              <a:rPr lang="en-US" altLang="en-US" sz="2400">
                <a:solidFill>
                  <a:srgbClr val="FF0000"/>
                </a:solidFill>
              </a:rPr>
              <a:t>It happens when an allele of a gene is lost and replaced by an alternative allele.</a:t>
            </a:r>
          </a:p>
          <a:p>
            <a:endParaRPr lang="en-US" altLang="en-US" sz="28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2D101FCB-4872-3BFA-6C2F-A4CBFAD5A7B1}"/>
              </a:ext>
            </a:extLst>
          </p:cNvPr>
          <p:cNvSpPr>
            <a:spLocks noGrp="1" noChangeArrowheads="1"/>
          </p:cNvSpPr>
          <p:nvPr>
            <p:ph type="ctrTitle"/>
          </p:nvPr>
        </p:nvSpPr>
        <p:spPr/>
        <p:txBody>
          <a:bodyPr/>
          <a:lstStyle/>
          <a:p>
            <a:pPr eaLnBrk="1" hangingPunct="1"/>
            <a:r>
              <a:rPr lang="en-GB" altLang="en-US" sz="4800" b="1">
                <a:solidFill>
                  <a:srgbClr val="0000FF"/>
                </a:solidFill>
              </a:rPr>
              <a:t>Mating Type Switching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722EFDB3-E4FF-5D90-D153-0F8FEDBE080C}"/>
              </a:ext>
            </a:extLst>
          </p:cNvPr>
          <p:cNvSpPr>
            <a:spLocks noGrp="1" noRot="1" noChangeArrowheads="1"/>
          </p:cNvSpPr>
          <p:nvPr>
            <p:ph type="title"/>
          </p:nvPr>
        </p:nvSpPr>
        <p:spPr>
          <a:xfrm>
            <a:off x="0" y="0"/>
            <a:ext cx="8507413" cy="1143000"/>
          </a:xfrm>
        </p:spPr>
        <p:txBody>
          <a:bodyPr rtlCol="0">
            <a:normAutofit fontScale="90000"/>
          </a:bodyPr>
          <a:lstStyle/>
          <a:p>
            <a:pPr eaLnBrk="1" fontAlgn="auto" hangingPunct="1">
              <a:spcAft>
                <a:spcPts val="0"/>
              </a:spcAft>
              <a:defRPr/>
            </a:pPr>
            <a:r>
              <a:rPr lang="en-US" altLang="zh-CN" sz="3600" b="1" dirty="0">
                <a:solidFill>
                  <a:srgbClr val="0000FF"/>
                </a:solidFill>
              </a:rPr>
              <a:t>Control of Gene Expression Mating-Type Switching </a:t>
            </a:r>
            <a:r>
              <a:rPr lang="en-US" altLang="zh-CN" sz="3600" b="1" i="1" dirty="0">
                <a:solidFill>
                  <a:srgbClr val="0000FF"/>
                </a:solidFill>
              </a:rPr>
              <a:t>S. Cerevisiae</a:t>
            </a:r>
            <a:r>
              <a:rPr lang="en-US" altLang="zh-CN" sz="3600" b="1" dirty="0">
                <a:solidFill>
                  <a:srgbClr val="0000FF"/>
                </a:solidFill>
              </a:rPr>
              <a:t> </a:t>
            </a:r>
          </a:p>
        </p:txBody>
      </p:sp>
      <p:sp>
        <p:nvSpPr>
          <p:cNvPr id="121859" name="Rectangle 3">
            <a:extLst>
              <a:ext uri="{FF2B5EF4-FFF2-40B4-BE49-F238E27FC236}">
                <a16:creationId xmlns:a16="http://schemas.microsoft.com/office/drawing/2014/main" id="{A68D7006-C39E-FCFC-B0F7-89C6AB1FB139}"/>
              </a:ext>
            </a:extLst>
          </p:cNvPr>
          <p:cNvSpPr>
            <a:spLocks noGrp="1" noChangeArrowheads="1"/>
          </p:cNvSpPr>
          <p:nvPr>
            <p:ph type="body" sz="half" idx="1"/>
          </p:nvPr>
        </p:nvSpPr>
        <p:spPr>
          <a:xfrm>
            <a:off x="179388" y="1196975"/>
            <a:ext cx="4629150" cy="5545138"/>
          </a:xfrm>
        </p:spPr>
        <p:txBody>
          <a:bodyPr/>
          <a:lstStyle/>
          <a:p>
            <a:pPr eaLnBrk="1" hangingPunct="1"/>
            <a:r>
              <a:rPr lang="en-US" altLang="zh-CN" sz="2400"/>
              <a:t>Exist in any of 3 cell types:</a:t>
            </a:r>
          </a:p>
          <a:p>
            <a:pPr lvl="1" eaLnBrk="1" hangingPunct="1"/>
            <a:r>
              <a:rPr lang="en-US" altLang="zh-CN" sz="2000"/>
              <a:t>Haploid </a:t>
            </a:r>
          </a:p>
          <a:p>
            <a:pPr lvl="2" eaLnBrk="1" hangingPunct="1"/>
            <a:r>
              <a:rPr lang="en-US" altLang="zh-CN" sz="1800"/>
              <a:t>a</a:t>
            </a:r>
          </a:p>
          <a:p>
            <a:pPr lvl="2" eaLnBrk="1" hangingPunct="1"/>
            <a:r>
              <a:rPr lang="en-US" altLang="zh-CN" sz="1800">
                <a:sym typeface="Symbol" pitchFamily="2" charset="2"/>
              </a:rPr>
              <a:t></a:t>
            </a:r>
          </a:p>
          <a:p>
            <a:pPr lvl="1" eaLnBrk="1" hangingPunct="1"/>
            <a:r>
              <a:rPr lang="en-US" altLang="zh-CN" sz="2000">
                <a:sym typeface="Symbol" pitchFamily="2" charset="2"/>
              </a:rPr>
              <a:t>Diploid a/</a:t>
            </a:r>
            <a:r>
              <a:rPr lang="el-GR" altLang="zh-CN" sz="2000">
                <a:sym typeface="Symbol" pitchFamily="2" charset="2"/>
              </a:rPr>
              <a:t>α</a:t>
            </a:r>
            <a:endParaRPr lang="en-US" altLang="zh-CN" sz="2000">
              <a:sym typeface="Symbol" pitchFamily="2" charset="2"/>
            </a:endParaRPr>
          </a:p>
          <a:p>
            <a:pPr eaLnBrk="1" hangingPunct="1"/>
            <a:r>
              <a:rPr lang="en-US" altLang="zh-CN" sz="2400">
                <a:sym typeface="Symbol" pitchFamily="2" charset="2"/>
              </a:rPr>
              <a:t>The mating-type genes </a:t>
            </a:r>
            <a:r>
              <a:rPr lang="en-US" altLang="zh-CN" sz="2400">
                <a:solidFill>
                  <a:srgbClr val="0000FF"/>
                </a:solidFill>
                <a:sym typeface="Symbol" pitchFamily="2" charset="2"/>
              </a:rPr>
              <a:t>encode transcriptional regulators</a:t>
            </a:r>
            <a:r>
              <a:rPr lang="en-US" altLang="zh-CN" sz="2400">
                <a:sym typeface="Symbol" pitchFamily="2" charset="2"/>
              </a:rPr>
              <a:t>. These regulators </a:t>
            </a:r>
            <a:r>
              <a:rPr lang="en-US" altLang="zh-CN" sz="2400" u="sng">
                <a:sym typeface="Symbol" pitchFamily="2" charset="2"/>
              </a:rPr>
              <a:t>control expression of target genes whose products define each cell type</a:t>
            </a:r>
          </a:p>
          <a:p>
            <a:pPr eaLnBrk="1" hangingPunct="1"/>
            <a:r>
              <a:rPr lang="en-US" altLang="zh-CN" sz="2400">
                <a:sym typeface="Symbol" pitchFamily="2" charset="2"/>
              </a:rPr>
              <a:t>The mating type genes expressed in a given cell are those found at the </a:t>
            </a:r>
            <a:r>
              <a:rPr lang="en-US" altLang="zh-CN" sz="2400" b="1" u="sng">
                <a:solidFill>
                  <a:srgbClr val="C00000"/>
                </a:solidFill>
                <a:sym typeface="Symbol" pitchFamily="2" charset="2"/>
              </a:rPr>
              <a:t>M</a:t>
            </a:r>
            <a:r>
              <a:rPr lang="en-US" altLang="zh-CN" sz="2400" b="1">
                <a:solidFill>
                  <a:srgbClr val="C00000"/>
                </a:solidFill>
                <a:sym typeface="Symbol" pitchFamily="2" charset="2"/>
              </a:rPr>
              <a:t>ating </a:t>
            </a:r>
            <a:r>
              <a:rPr lang="en-US" altLang="zh-CN" sz="2400" b="1" u="sng">
                <a:solidFill>
                  <a:srgbClr val="C00000"/>
                </a:solidFill>
                <a:sym typeface="Symbol" pitchFamily="2" charset="2"/>
              </a:rPr>
              <a:t>T</a:t>
            </a:r>
            <a:r>
              <a:rPr lang="en-US" altLang="zh-CN" sz="2400" b="1">
                <a:solidFill>
                  <a:srgbClr val="C00000"/>
                </a:solidFill>
                <a:sym typeface="Symbol" pitchFamily="2" charset="2"/>
              </a:rPr>
              <a:t>ype </a:t>
            </a:r>
            <a:r>
              <a:rPr lang="en-US" altLang="zh-CN" sz="2400" b="1" u="sng">
                <a:solidFill>
                  <a:srgbClr val="C00000"/>
                </a:solidFill>
                <a:sym typeface="Symbol" pitchFamily="2" charset="2"/>
              </a:rPr>
              <a:t>L</a:t>
            </a:r>
            <a:r>
              <a:rPr lang="en-US" altLang="zh-CN" sz="2400" b="1">
                <a:solidFill>
                  <a:srgbClr val="C00000"/>
                </a:solidFill>
                <a:sym typeface="Symbol" pitchFamily="2" charset="2"/>
              </a:rPr>
              <a:t>ocus (MAT locus) </a:t>
            </a:r>
            <a:r>
              <a:rPr lang="en-US" altLang="zh-CN" sz="2400">
                <a:sym typeface="Symbol" pitchFamily="2" charset="2"/>
              </a:rPr>
              <a:t>in that cell.</a:t>
            </a:r>
          </a:p>
          <a:p>
            <a:pPr eaLnBrk="1" hangingPunct="1">
              <a:buFont typeface="Wingdings" pitchFamily="2" charset="2"/>
              <a:buNone/>
            </a:pPr>
            <a:r>
              <a:rPr lang="en-US" altLang="zh-CN" sz="2400"/>
              <a:t> </a:t>
            </a:r>
          </a:p>
        </p:txBody>
      </p:sp>
      <p:grpSp>
        <p:nvGrpSpPr>
          <p:cNvPr id="121860" name="Group 4">
            <a:extLst>
              <a:ext uri="{FF2B5EF4-FFF2-40B4-BE49-F238E27FC236}">
                <a16:creationId xmlns:a16="http://schemas.microsoft.com/office/drawing/2014/main" id="{FBE9CEA2-6909-C330-8988-C1B579CDD7EE}"/>
              </a:ext>
            </a:extLst>
          </p:cNvPr>
          <p:cNvGrpSpPr>
            <a:grpSpLocks/>
          </p:cNvGrpSpPr>
          <p:nvPr/>
        </p:nvGrpSpPr>
        <p:grpSpPr bwMode="auto">
          <a:xfrm>
            <a:off x="4808538" y="1844675"/>
            <a:ext cx="4294187" cy="4608513"/>
            <a:chOff x="3029" y="1162"/>
            <a:chExt cx="2705" cy="2903"/>
          </a:xfrm>
        </p:grpSpPr>
        <p:pic>
          <p:nvPicPr>
            <p:cNvPr id="121861" name="Picture 5">
              <a:extLst>
                <a:ext uri="{FF2B5EF4-FFF2-40B4-BE49-F238E27FC236}">
                  <a16:creationId xmlns:a16="http://schemas.microsoft.com/office/drawing/2014/main" id="{CD2CCA08-36C8-5014-ACED-4573869B35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9" y="1162"/>
              <a:ext cx="2705" cy="2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2" name="Oval 6">
              <a:extLst>
                <a:ext uri="{FF2B5EF4-FFF2-40B4-BE49-F238E27FC236}">
                  <a16:creationId xmlns:a16="http://schemas.microsoft.com/office/drawing/2014/main" id="{F91669AF-141C-C1A7-6517-A938B7D3F3F7}"/>
                </a:ext>
              </a:extLst>
            </p:cNvPr>
            <p:cNvSpPr>
              <a:spLocks noChangeArrowheads="1"/>
            </p:cNvSpPr>
            <p:nvPr/>
          </p:nvSpPr>
          <p:spPr bwMode="auto">
            <a:xfrm>
              <a:off x="3288" y="2160"/>
              <a:ext cx="318" cy="181"/>
            </a:xfrm>
            <a:prstGeom prst="ellipse">
              <a:avLst/>
            </a:prstGeom>
            <a:noFill/>
            <a:ln w="28575">
              <a:solidFill>
                <a:srgbClr val="00CC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Garamond" panose="02020404030301010803" pitchFamily="18" charset="0"/>
              </a:endParaRP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60EF6265-EF98-E102-ED86-B6241A2D25B9}"/>
              </a:ext>
            </a:extLst>
          </p:cNvPr>
          <p:cNvSpPr>
            <a:spLocks noGrp="1" noRot="1" noChangeArrowheads="1"/>
          </p:cNvSpPr>
          <p:nvPr>
            <p:ph type="title"/>
          </p:nvPr>
        </p:nvSpPr>
        <p:spPr/>
        <p:txBody>
          <a:bodyPr rtlCol="0">
            <a:normAutofit fontScale="90000"/>
          </a:bodyPr>
          <a:lstStyle/>
          <a:p>
            <a:pPr eaLnBrk="1" fontAlgn="auto" hangingPunct="1">
              <a:spcAft>
                <a:spcPts val="0"/>
              </a:spcAft>
              <a:defRPr/>
            </a:pPr>
            <a:r>
              <a:rPr lang="en-US" altLang="zh-CN" dirty="0">
                <a:solidFill>
                  <a:srgbClr val="0000FF"/>
                </a:solidFill>
              </a:rPr>
              <a:t>Genetic loci encoding mating-type information</a:t>
            </a:r>
          </a:p>
        </p:txBody>
      </p:sp>
      <p:pic>
        <p:nvPicPr>
          <p:cNvPr id="123907" name="Picture 4">
            <a:extLst>
              <a:ext uri="{FF2B5EF4-FFF2-40B4-BE49-F238E27FC236}">
                <a16:creationId xmlns:a16="http://schemas.microsoft.com/office/drawing/2014/main" id="{046AC255-808A-CAAB-AFC5-9A6D2F293F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844675"/>
            <a:ext cx="8547100"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TextBox 3">
            <a:extLst>
              <a:ext uri="{FF2B5EF4-FFF2-40B4-BE49-F238E27FC236}">
                <a16:creationId xmlns:a16="http://schemas.microsoft.com/office/drawing/2014/main" id="{7D49BEC8-F9BF-B274-165D-045D62CB3EF0}"/>
              </a:ext>
            </a:extLst>
          </p:cNvPr>
          <p:cNvSpPr txBox="1">
            <a:spLocks noChangeArrowheads="1"/>
          </p:cNvSpPr>
          <p:nvPr/>
        </p:nvSpPr>
        <p:spPr bwMode="auto">
          <a:xfrm>
            <a:off x="139700" y="5441950"/>
            <a:ext cx="8464550" cy="646113"/>
          </a:xfrm>
          <a:prstGeom prst="rect">
            <a:avLst/>
          </a:prstGeom>
          <a:solidFill>
            <a:schemeClr val="accent5">
              <a:lumMod val="20000"/>
              <a:lumOff val="80000"/>
            </a:schemeClr>
          </a:solidFill>
          <a:ln>
            <a:noFill/>
          </a:ln>
        </p:spPr>
        <p:txBody>
          <a:bodyPr>
            <a:spAutoFit/>
          </a:bodyPr>
          <a:lstStyle>
            <a:lvl1pPr eaLnBrk="0" hangingPunct="0">
              <a:defRPr>
                <a:solidFill>
                  <a:schemeClr val="tx1"/>
                </a:solidFill>
                <a:latin typeface="Garamond" pitchFamily="18" charset="0"/>
                <a:cs typeface="Arial" charset="0"/>
              </a:defRPr>
            </a:lvl1pPr>
            <a:lvl2pPr marL="742950" indent="-285750" eaLnBrk="0" hangingPunct="0">
              <a:defRPr>
                <a:solidFill>
                  <a:schemeClr val="tx1"/>
                </a:solidFill>
                <a:latin typeface="Garamond" pitchFamily="18" charset="0"/>
                <a:cs typeface="Arial" charset="0"/>
              </a:defRPr>
            </a:lvl2pPr>
            <a:lvl3pPr marL="1143000" indent="-228600" eaLnBrk="0" hangingPunct="0">
              <a:defRPr>
                <a:solidFill>
                  <a:schemeClr val="tx1"/>
                </a:solidFill>
                <a:latin typeface="Garamond" pitchFamily="18" charset="0"/>
                <a:cs typeface="Arial" charset="0"/>
              </a:defRPr>
            </a:lvl3pPr>
            <a:lvl4pPr marL="1600200" indent="-228600" eaLnBrk="0" hangingPunct="0">
              <a:defRPr>
                <a:solidFill>
                  <a:schemeClr val="tx1"/>
                </a:solidFill>
                <a:latin typeface="Garamond" pitchFamily="18" charset="0"/>
                <a:cs typeface="Arial" charset="0"/>
              </a:defRPr>
            </a:lvl4pPr>
            <a:lvl5pPr marL="2057400" indent="-228600" eaLnBrk="0" hangingPunct="0">
              <a:defRPr>
                <a:solidFill>
                  <a:schemeClr val="tx1"/>
                </a:solidFill>
                <a:latin typeface="Garamond" pitchFamily="18" charset="0"/>
                <a:cs typeface="Arial" charset="0"/>
              </a:defRPr>
            </a:lvl5pPr>
            <a:lvl6pPr marL="2514600" indent="-228600" eaLnBrk="0" fontAlgn="base" hangingPunct="0">
              <a:spcBef>
                <a:spcPct val="0"/>
              </a:spcBef>
              <a:spcAft>
                <a:spcPct val="0"/>
              </a:spcAft>
              <a:defRPr>
                <a:solidFill>
                  <a:schemeClr val="tx1"/>
                </a:solidFill>
                <a:latin typeface="Garamond" pitchFamily="18" charset="0"/>
                <a:cs typeface="Arial" charset="0"/>
              </a:defRPr>
            </a:lvl6pPr>
            <a:lvl7pPr marL="2971800" indent="-228600" eaLnBrk="0" fontAlgn="base" hangingPunct="0">
              <a:spcBef>
                <a:spcPct val="0"/>
              </a:spcBef>
              <a:spcAft>
                <a:spcPct val="0"/>
              </a:spcAft>
              <a:defRPr>
                <a:solidFill>
                  <a:schemeClr val="tx1"/>
                </a:solidFill>
                <a:latin typeface="Garamond" pitchFamily="18" charset="0"/>
                <a:cs typeface="Arial" charset="0"/>
              </a:defRPr>
            </a:lvl7pPr>
            <a:lvl8pPr marL="3429000" indent="-228600" eaLnBrk="0" fontAlgn="base" hangingPunct="0">
              <a:spcBef>
                <a:spcPct val="0"/>
              </a:spcBef>
              <a:spcAft>
                <a:spcPct val="0"/>
              </a:spcAft>
              <a:defRPr>
                <a:solidFill>
                  <a:schemeClr val="tx1"/>
                </a:solidFill>
                <a:latin typeface="Garamond" pitchFamily="18" charset="0"/>
                <a:cs typeface="Arial" charset="0"/>
              </a:defRPr>
            </a:lvl8pPr>
            <a:lvl9pPr marL="3886200" indent="-228600" eaLnBrk="0" fontAlgn="base" hangingPunct="0">
              <a:spcBef>
                <a:spcPct val="0"/>
              </a:spcBef>
              <a:spcAft>
                <a:spcPct val="0"/>
              </a:spcAft>
              <a:defRPr>
                <a:solidFill>
                  <a:schemeClr val="tx1"/>
                </a:solidFill>
                <a:latin typeface="Garamond" pitchFamily="18" charset="0"/>
                <a:cs typeface="Arial" charset="0"/>
              </a:defRPr>
            </a:lvl9pPr>
          </a:lstStyle>
          <a:p>
            <a:pPr eaLnBrk="1" hangingPunct="1">
              <a:defRPr/>
            </a:pPr>
            <a:r>
              <a:rPr lang="en-US" b="1" u="sng" dirty="0">
                <a:solidFill>
                  <a:srgbClr val="C00000"/>
                </a:solidFill>
              </a:rPr>
              <a:t>Mating type switching </a:t>
            </a:r>
            <a:r>
              <a:rPr lang="en-US" b="1" dirty="0">
                <a:solidFill>
                  <a:srgbClr val="C00000"/>
                </a:solidFill>
              </a:rPr>
              <a:t>takes place between two sister chromatids (after replication) in the mother cells, the aim is that only haploid cells with different type can mate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DE9A5992-8DF5-DB3C-7802-F63421A5F9FC}"/>
              </a:ext>
            </a:extLst>
          </p:cNvPr>
          <p:cNvSpPr>
            <a:spLocks noGrp="1" noRot="1" noChangeArrowheads="1"/>
          </p:cNvSpPr>
          <p:nvPr>
            <p:ph type="title"/>
          </p:nvPr>
        </p:nvSpPr>
        <p:spPr>
          <a:xfrm>
            <a:off x="468313" y="188913"/>
            <a:ext cx="8229600" cy="1143000"/>
          </a:xfrm>
        </p:spPr>
        <p:txBody>
          <a:bodyPr/>
          <a:lstStyle/>
          <a:p>
            <a:pPr eaLnBrk="1" hangingPunct="1"/>
            <a:r>
              <a:rPr lang="en-US" altLang="zh-CN" sz="3300" b="1">
                <a:solidFill>
                  <a:srgbClr val="0000FF"/>
                </a:solidFill>
              </a:rPr>
              <a:t>Example of combinatorial activation in mating type gene in S</a:t>
            </a:r>
            <a:r>
              <a:rPr lang="en-US" altLang="zh-CN" sz="3300" b="1" i="1">
                <a:solidFill>
                  <a:srgbClr val="0000FF"/>
                </a:solidFill>
              </a:rPr>
              <a:t>. cervisiae</a:t>
            </a:r>
            <a:r>
              <a:rPr lang="en-US" altLang="zh-CN" sz="3600" b="1">
                <a:solidFill>
                  <a:srgbClr val="0000FF"/>
                </a:solidFill>
              </a:rPr>
              <a:t> </a:t>
            </a:r>
          </a:p>
        </p:txBody>
      </p:sp>
      <p:pic>
        <p:nvPicPr>
          <p:cNvPr id="125955" name="Picture 3">
            <a:extLst>
              <a:ext uri="{FF2B5EF4-FFF2-40B4-BE49-F238E27FC236}">
                <a16:creationId xmlns:a16="http://schemas.microsoft.com/office/drawing/2014/main" id="{94BED9DA-492C-0148-FDBA-B72A49E3A4E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9125" y="1600200"/>
            <a:ext cx="7905750" cy="4525963"/>
          </a:xfr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55CD7A8E-5AED-4046-A1DC-1EA462A556C6}"/>
              </a:ext>
            </a:extLst>
          </p:cNvPr>
          <p:cNvSpPr>
            <a:spLocks noGrp="1" noRot="1" noChangeArrowheads="1"/>
          </p:cNvSpPr>
          <p:nvPr>
            <p:ph type="title"/>
          </p:nvPr>
        </p:nvSpPr>
        <p:spPr>
          <a:xfrm>
            <a:off x="1619250" y="0"/>
            <a:ext cx="6084888" cy="908050"/>
          </a:xfrm>
        </p:spPr>
        <p:txBody>
          <a:bodyPr/>
          <a:lstStyle/>
          <a:p>
            <a:pPr eaLnBrk="1" hangingPunct="1"/>
            <a:r>
              <a:rPr lang="en-US" altLang="en-US" sz="3200" b="1">
                <a:solidFill>
                  <a:srgbClr val="0000FF"/>
                </a:solidFill>
              </a:rPr>
              <a:t>Mating – Type Switching</a:t>
            </a:r>
            <a:endParaRPr lang="en-GB" altLang="en-US" sz="3200" b="1">
              <a:solidFill>
                <a:srgbClr val="0000FF"/>
              </a:solidFill>
            </a:endParaRPr>
          </a:p>
        </p:txBody>
      </p:sp>
      <p:sp>
        <p:nvSpPr>
          <p:cNvPr id="128003" name="Rectangle 3">
            <a:extLst>
              <a:ext uri="{FF2B5EF4-FFF2-40B4-BE49-F238E27FC236}">
                <a16:creationId xmlns:a16="http://schemas.microsoft.com/office/drawing/2014/main" id="{E79A8F41-216A-09EB-6DF2-92BE6F01E51D}"/>
              </a:ext>
            </a:extLst>
          </p:cNvPr>
          <p:cNvSpPr>
            <a:spLocks noGrp="1" noChangeArrowheads="1"/>
          </p:cNvSpPr>
          <p:nvPr>
            <p:ph type="body" sz="half" idx="2"/>
          </p:nvPr>
        </p:nvSpPr>
        <p:spPr>
          <a:xfrm>
            <a:off x="323850" y="1412875"/>
            <a:ext cx="3455988" cy="5111750"/>
          </a:xfrm>
        </p:spPr>
        <p:txBody>
          <a:bodyPr/>
          <a:lstStyle/>
          <a:p>
            <a:pPr eaLnBrk="1" hangingPunct="1"/>
            <a:r>
              <a:rPr lang="en-US" altLang="en-US" sz="2800">
                <a:solidFill>
                  <a:srgbClr val="0000FF"/>
                </a:solidFill>
              </a:rPr>
              <a:t>HO endonuclease</a:t>
            </a:r>
          </a:p>
          <a:p>
            <a:pPr eaLnBrk="1" hangingPunct="1"/>
            <a:r>
              <a:rPr lang="en-US" altLang="en-US" sz="2800">
                <a:solidFill>
                  <a:srgbClr val="0000FF"/>
                </a:solidFill>
              </a:rPr>
              <a:t>A sequence-specific endonuclease (only at MAT loci)</a:t>
            </a:r>
          </a:p>
          <a:p>
            <a:pPr eaLnBrk="1" hangingPunct="1"/>
            <a:r>
              <a:rPr lang="en-US" altLang="en-US" sz="2800">
                <a:solidFill>
                  <a:srgbClr val="0000FF"/>
                </a:solidFill>
              </a:rPr>
              <a:t>MRX protein: </a:t>
            </a:r>
            <a:r>
              <a:rPr lang="en-US" altLang="en-US" sz="2400"/>
              <a:t>5`</a:t>
            </a:r>
            <a:r>
              <a:rPr lang="en-US" altLang="en-US" sz="2400">
                <a:sym typeface="Symbol" pitchFamily="2" charset="2"/>
              </a:rPr>
              <a:t>3` resection of the DNA at the site of HO-induced break</a:t>
            </a:r>
            <a:endParaRPr lang="en-GB" altLang="en-US" sz="2400">
              <a:sym typeface="Symbol" pitchFamily="2" charset="2"/>
            </a:endParaRPr>
          </a:p>
        </p:txBody>
      </p:sp>
      <p:pic>
        <p:nvPicPr>
          <p:cNvPr id="128004" name="Picture 2" descr="H:\Amjad Courses\BT451\Molecular Biology of the Gene images\watson_mm_jpg_chap010\chap010\10_Figure22.jpg">
            <a:extLst>
              <a:ext uri="{FF2B5EF4-FFF2-40B4-BE49-F238E27FC236}">
                <a16:creationId xmlns:a16="http://schemas.microsoft.com/office/drawing/2014/main" id="{02AC037C-BE50-CEAB-E777-6A5E3BF78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1685" b="37956"/>
          <a:stretch>
            <a:fillRect/>
          </a:stretch>
        </p:blipFill>
        <p:spPr bwMode="auto">
          <a:xfrm>
            <a:off x="3851275" y="1154113"/>
            <a:ext cx="5257800" cy="519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3">
            <a:extLst>
              <a:ext uri="{FF2B5EF4-FFF2-40B4-BE49-F238E27FC236}">
                <a16:creationId xmlns:a16="http://schemas.microsoft.com/office/drawing/2014/main" id="{E902B03C-2184-3DB9-F7ED-6BFA254BD569}"/>
              </a:ext>
            </a:extLst>
          </p:cNvPr>
          <p:cNvSpPr>
            <a:spLocks noGrp="1" noChangeArrowheads="1"/>
          </p:cNvSpPr>
          <p:nvPr>
            <p:ph type="body" sz="half" idx="2"/>
          </p:nvPr>
        </p:nvSpPr>
        <p:spPr>
          <a:xfrm>
            <a:off x="395288" y="476250"/>
            <a:ext cx="3889375" cy="5905500"/>
          </a:xfrm>
        </p:spPr>
        <p:txBody>
          <a:bodyPr/>
          <a:lstStyle/>
          <a:p>
            <a:pPr eaLnBrk="1" hangingPunct="1"/>
            <a:r>
              <a:rPr lang="en-US" altLang="en-US" sz="2800">
                <a:solidFill>
                  <a:srgbClr val="0000FF"/>
                </a:solidFill>
              </a:rPr>
              <a:t>Rad51 &amp; Rad52</a:t>
            </a:r>
          </a:p>
          <a:p>
            <a:pPr lvl="1" eaLnBrk="1" hangingPunct="1"/>
            <a:r>
              <a:rPr lang="en-US" altLang="en-US" sz="2400"/>
              <a:t>Strand invasion</a:t>
            </a:r>
          </a:p>
          <a:p>
            <a:pPr lvl="1" eaLnBrk="1" hangingPunct="1"/>
            <a:r>
              <a:rPr lang="en-US" altLang="en-US" sz="2400"/>
              <a:t>Matching (search for homologous regions) </a:t>
            </a:r>
          </a:p>
          <a:p>
            <a:pPr eaLnBrk="1" hangingPunct="1"/>
            <a:endParaRPr lang="en-US" altLang="en-US" sz="2800">
              <a:solidFill>
                <a:srgbClr val="FFFF29"/>
              </a:solidFill>
            </a:endParaRPr>
          </a:p>
          <a:p>
            <a:pPr eaLnBrk="1" hangingPunct="1"/>
            <a:r>
              <a:rPr lang="en-US" altLang="en-US" sz="2800">
                <a:solidFill>
                  <a:srgbClr val="0000FF"/>
                </a:solidFill>
              </a:rPr>
              <a:t>No crossing over  (crossover products never observed)</a:t>
            </a:r>
          </a:p>
          <a:p>
            <a:pPr eaLnBrk="1" hangingPunct="1"/>
            <a:r>
              <a:rPr lang="en-US" altLang="en-US" sz="2800" b="1">
                <a:solidFill>
                  <a:srgbClr val="C00000"/>
                </a:solidFill>
              </a:rPr>
              <a:t>No Holliday Junction</a:t>
            </a:r>
          </a:p>
          <a:p>
            <a:pPr eaLnBrk="1" hangingPunct="1"/>
            <a:endParaRPr lang="en-US" altLang="en-US" sz="2800">
              <a:solidFill>
                <a:srgbClr val="FFFF29"/>
              </a:solidFill>
            </a:endParaRPr>
          </a:p>
        </p:txBody>
      </p:sp>
      <p:pic>
        <p:nvPicPr>
          <p:cNvPr id="130051" name="Picture 3" descr="H:\Amjad Courses\BT451\Molecular Biology of the Gene images\watson_mm_jpg_chap010\chap010\10_Figure22.jpg">
            <a:extLst>
              <a:ext uri="{FF2B5EF4-FFF2-40B4-BE49-F238E27FC236}">
                <a16:creationId xmlns:a16="http://schemas.microsoft.com/office/drawing/2014/main" id="{5A98E37A-5159-3415-D69D-CCA5749BD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2527" t="792" b="1862"/>
          <a:stretch>
            <a:fillRect/>
          </a:stretch>
        </p:blipFill>
        <p:spPr bwMode="auto">
          <a:xfrm>
            <a:off x="4500563" y="-6350"/>
            <a:ext cx="4344987"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3">
            <a:extLst>
              <a:ext uri="{FF2B5EF4-FFF2-40B4-BE49-F238E27FC236}">
                <a16:creationId xmlns:a16="http://schemas.microsoft.com/office/drawing/2014/main" id="{3F7FCC64-3D4E-AC65-4A18-EB36D1752D94}"/>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Figure 11-27</a:t>
            </a:r>
          </a:p>
        </p:txBody>
      </p:sp>
      <p:pic>
        <p:nvPicPr>
          <p:cNvPr id="132099" name="Picture 3" descr="11_27Figure-L">
            <a:extLst>
              <a:ext uri="{FF2B5EF4-FFF2-40B4-BE49-F238E27FC236}">
                <a16:creationId xmlns:a16="http://schemas.microsoft.com/office/drawing/2014/main" id="{D5EEBFBE-01A0-E53C-B43D-9CFFADB05B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636"/>
          <a:stretch>
            <a:fillRect/>
          </a:stretch>
        </p:blipFill>
        <p:spPr bwMode="auto">
          <a:xfrm>
            <a:off x="296863" y="2060575"/>
            <a:ext cx="8548687"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C5EBD589-1CE4-55E3-9D25-56DB5E4E1CFE}"/>
              </a:ext>
            </a:extLst>
          </p:cNvPr>
          <p:cNvSpPr txBox="1"/>
          <p:nvPr/>
        </p:nvSpPr>
        <p:spPr>
          <a:xfrm>
            <a:off x="468313" y="677863"/>
            <a:ext cx="7594600" cy="708025"/>
          </a:xfrm>
          <a:prstGeom prst="rect">
            <a:avLst/>
          </a:prstGeom>
          <a:solidFill>
            <a:schemeClr val="accent5">
              <a:lumMod val="20000"/>
              <a:lumOff val="80000"/>
            </a:schemeClr>
          </a:solidFill>
        </p:spPr>
        <p:txBody>
          <a:bodyPr wrap="none">
            <a:spAutoFit/>
          </a:bodyPr>
          <a:lstStyle/>
          <a:p>
            <a:pPr algn="ctr" eaLnBrk="1" hangingPunct="1">
              <a:defRPr/>
            </a:pPr>
            <a:r>
              <a:rPr lang="en-US" sz="2000" b="1" dirty="0">
                <a:solidFill>
                  <a:srgbClr val="C00000"/>
                </a:solidFill>
                <a:cs typeface="Arial" charset="0"/>
              </a:rPr>
              <a:t>Comparison of the genetic and physical maps of a typical region of </a:t>
            </a:r>
          </a:p>
          <a:p>
            <a:pPr algn="ctr" eaLnBrk="1" hangingPunct="1">
              <a:defRPr/>
            </a:pPr>
            <a:r>
              <a:rPr lang="en-US" sz="2000" b="1" dirty="0">
                <a:solidFill>
                  <a:srgbClr val="C00000"/>
                </a:solidFill>
                <a:cs typeface="Arial" charset="0"/>
              </a:rPr>
              <a:t>a yeast chromosome.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25FCD2B0-8A79-5D99-EDAB-38E204B3E0FA}"/>
              </a:ext>
            </a:extLst>
          </p:cNvPr>
          <p:cNvSpPr>
            <a:spLocks noGrp="1" noRot="1" noChangeArrowheads="1"/>
          </p:cNvSpPr>
          <p:nvPr>
            <p:ph type="title"/>
          </p:nvPr>
        </p:nvSpPr>
        <p:spPr>
          <a:xfrm>
            <a:off x="457200" y="274638"/>
            <a:ext cx="8229600" cy="777875"/>
          </a:xfrm>
        </p:spPr>
        <p:txBody>
          <a:bodyPr/>
          <a:lstStyle/>
          <a:p>
            <a:pPr eaLnBrk="1" hangingPunct="1"/>
            <a:r>
              <a:rPr lang="en-US" altLang="zh-CN" sz="3300" b="1">
                <a:solidFill>
                  <a:srgbClr val="0000FF"/>
                </a:solidFill>
              </a:rPr>
              <a:t>synthesis-dependent strand annealing (SDSA)</a:t>
            </a:r>
            <a:endParaRPr lang="en-GB" altLang="en-US" sz="3300"/>
          </a:p>
        </p:txBody>
      </p:sp>
      <p:sp>
        <p:nvSpPr>
          <p:cNvPr id="134147" name="Rectangle 4">
            <a:extLst>
              <a:ext uri="{FF2B5EF4-FFF2-40B4-BE49-F238E27FC236}">
                <a16:creationId xmlns:a16="http://schemas.microsoft.com/office/drawing/2014/main" id="{03EF9E64-AEB7-E78E-E816-A3FC7AC4C057}"/>
              </a:ext>
            </a:extLst>
          </p:cNvPr>
          <p:cNvSpPr>
            <a:spLocks noGrp="1" noChangeArrowheads="1"/>
          </p:cNvSpPr>
          <p:nvPr>
            <p:ph type="body" sz="half" idx="4294967295"/>
          </p:nvPr>
        </p:nvSpPr>
        <p:spPr>
          <a:xfrm>
            <a:off x="900113" y="1557338"/>
            <a:ext cx="6696075" cy="4525962"/>
          </a:xfrm>
        </p:spPr>
        <p:txBody>
          <a:bodyPr/>
          <a:lstStyle/>
          <a:p>
            <a:pPr eaLnBrk="1" hangingPunct="1"/>
            <a:r>
              <a:rPr lang="en-US" altLang="en-US" sz="2800"/>
              <a:t>No Holliday Junction</a:t>
            </a:r>
          </a:p>
          <a:p>
            <a:pPr eaLnBrk="1" hangingPunct="1"/>
            <a:endParaRPr lang="en-US" altLang="en-US" sz="2800"/>
          </a:p>
          <a:p>
            <a:pPr eaLnBrk="1" hangingPunct="1"/>
            <a:r>
              <a:rPr lang="en-US" altLang="en-US" sz="2800"/>
              <a:t>Formation of replication fork</a:t>
            </a:r>
          </a:p>
          <a:p>
            <a:pPr eaLnBrk="1" hangingPunct="1"/>
            <a:endParaRPr lang="en-US" altLang="en-US" sz="2800"/>
          </a:p>
          <a:p>
            <a:pPr eaLnBrk="1" hangingPunct="1"/>
            <a:r>
              <a:rPr lang="en-US" altLang="en-US" sz="2800"/>
              <a:t>Excision of 3` strand</a:t>
            </a:r>
            <a:endParaRPr lang="en-GB" altLang="en-US" sz="280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B210145-B521-6480-4784-F31C15568833}"/>
              </a:ext>
            </a:extLst>
          </p:cNvPr>
          <p:cNvSpPr>
            <a:spLocks noGrp="1" noRot="1" noChangeArrowheads="1"/>
          </p:cNvSpPr>
          <p:nvPr>
            <p:ph type="title"/>
          </p:nvPr>
        </p:nvSpPr>
        <p:spPr>
          <a:xfrm>
            <a:off x="0" y="115888"/>
            <a:ext cx="3960813" cy="777875"/>
          </a:xfrm>
          <a:solidFill>
            <a:schemeClr val="accent5">
              <a:lumMod val="20000"/>
              <a:lumOff val="80000"/>
            </a:schemeClr>
          </a:solidFill>
        </p:spPr>
        <p:txBody>
          <a:bodyPr/>
          <a:lstStyle/>
          <a:p>
            <a:pPr eaLnBrk="1" hangingPunct="1">
              <a:defRPr/>
            </a:pPr>
            <a:r>
              <a:rPr lang="en-US" sz="3600" b="1" dirty="0">
                <a:solidFill>
                  <a:srgbClr val="C00000"/>
                </a:solidFill>
              </a:rPr>
              <a:t>Gene conversion</a:t>
            </a:r>
            <a:endParaRPr lang="en-GB" sz="3600" b="1" dirty="0">
              <a:solidFill>
                <a:srgbClr val="C00000"/>
              </a:solidFill>
            </a:endParaRPr>
          </a:p>
        </p:txBody>
      </p:sp>
      <p:sp>
        <p:nvSpPr>
          <p:cNvPr id="64515" name="Rectangle 3">
            <a:extLst>
              <a:ext uri="{FF2B5EF4-FFF2-40B4-BE49-F238E27FC236}">
                <a16:creationId xmlns:a16="http://schemas.microsoft.com/office/drawing/2014/main" id="{0AB4198A-7AFE-CCD5-73AB-ED43A5D74492}"/>
              </a:ext>
            </a:extLst>
          </p:cNvPr>
          <p:cNvSpPr>
            <a:spLocks noGrp="1" noChangeArrowheads="1"/>
          </p:cNvSpPr>
          <p:nvPr>
            <p:ph type="body" sz="half" idx="1"/>
          </p:nvPr>
        </p:nvSpPr>
        <p:spPr>
          <a:xfrm>
            <a:off x="179388" y="966788"/>
            <a:ext cx="2630487" cy="792162"/>
          </a:xfrm>
          <a:solidFill>
            <a:schemeClr val="accent3">
              <a:lumMod val="20000"/>
              <a:lumOff val="80000"/>
            </a:schemeClr>
          </a:solidFill>
        </p:spPr>
        <p:txBody>
          <a:bodyPr/>
          <a:lstStyle/>
          <a:p>
            <a:pPr eaLnBrk="1" hangingPunct="1">
              <a:buFont typeface="Arial" charset="0"/>
              <a:buChar char="•"/>
              <a:defRPr/>
            </a:pPr>
            <a:r>
              <a:rPr lang="en-US" sz="1800" dirty="0"/>
              <a:t>Close to cut site </a:t>
            </a:r>
          </a:p>
          <a:p>
            <a:pPr eaLnBrk="1" hangingPunct="1">
              <a:buFont typeface="Arial" charset="0"/>
              <a:buChar char="•"/>
              <a:defRPr/>
            </a:pPr>
            <a:r>
              <a:rPr lang="en-US" sz="1800" dirty="0"/>
              <a:t>Within exchange  area</a:t>
            </a:r>
            <a:endParaRPr lang="en-GB" sz="1800" dirty="0"/>
          </a:p>
        </p:txBody>
      </p:sp>
      <p:sp>
        <p:nvSpPr>
          <p:cNvPr id="136196" name="Rectangle 4">
            <a:extLst>
              <a:ext uri="{FF2B5EF4-FFF2-40B4-BE49-F238E27FC236}">
                <a16:creationId xmlns:a16="http://schemas.microsoft.com/office/drawing/2014/main" id="{C487927B-ECDF-99C0-B17B-CD62F37100A4}"/>
              </a:ext>
            </a:extLst>
          </p:cNvPr>
          <p:cNvSpPr>
            <a:spLocks noGrp="1" noChangeArrowheads="1"/>
          </p:cNvSpPr>
          <p:nvPr>
            <p:ph sz="half" idx="2"/>
          </p:nvPr>
        </p:nvSpPr>
        <p:spPr/>
        <p:txBody>
          <a:bodyPr/>
          <a:lstStyle/>
          <a:p>
            <a:pPr eaLnBrk="1" hangingPunct="1"/>
            <a:endParaRPr lang="en-US" altLang="en-US" sz="2800"/>
          </a:p>
        </p:txBody>
      </p:sp>
      <p:pic>
        <p:nvPicPr>
          <p:cNvPr id="191493" name="Picture 5">
            <a:extLst>
              <a:ext uri="{FF2B5EF4-FFF2-40B4-BE49-F238E27FC236}">
                <a16:creationId xmlns:a16="http://schemas.microsoft.com/office/drawing/2014/main" id="{DFD750C5-B7E3-8FD4-EA63-2A91B74E2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75" y="966788"/>
            <a:ext cx="6334125" cy="579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91493"/>
                                        </p:tgtEl>
                                        <p:attrNameLst>
                                          <p:attrName>style.visibility</p:attrName>
                                        </p:attrNameLst>
                                      </p:cBhvr>
                                      <p:to>
                                        <p:strVal val="visible"/>
                                      </p:to>
                                    </p:set>
                                    <p:animEffect transition="in" filter="fade">
                                      <p:cBhvr>
                                        <p:cTn id="7" dur="500"/>
                                        <p:tgtEl>
                                          <p:spTgt spid="191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Box 1">
            <a:extLst>
              <a:ext uri="{FF2B5EF4-FFF2-40B4-BE49-F238E27FC236}">
                <a16:creationId xmlns:a16="http://schemas.microsoft.com/office/drawing/2014/main" id="{7EC0CFE9-C9BD-FE2C-E7BE-670D0DF2AE2C}"/>
              </a:ext>
            </a:extLst>
          </p:cNvPr>
          <p:cNvSpPr txBox="1">
            <a:spLocks noChangeArrowheads="1"/>
          </p:cNvSpPr>
          <p:nvPr/>
        </p:nvSpPr>
        <p:spPr bwMode="auto">
          <a:xfrm>
            <a:off x="3635375" y="2636838"/>
            <a:ext cx="15017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4400" b="1">
                <a:solidFill>
                  <a:srgbClr val="0000FF"/>
                </a:solidFill>
                <a:latin typeface="Garamond" panose="02020404030301010803" pitchFamily="18" charset="0"/>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8418</TotalTime>
  <Words>3241</Words>
  <Application>Microsoft Macintosh PowerPoint</Application>
  <PresentationFormat>On-screen Show (4:3)</PresentationFormat>
  <Paragraphs>340</Paragraphs>
  <Slides>65</Slides>
  <Notes>65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Garamond</vt:lpstr>
      <vt:lpstr>Arial</vt:lpstr>
      <vt:lpstr>Calibri</vt:lpstr>
      <vt:lpstr>Wingdings</vt:lpstr>
      <vt:lpstr>SimSun</vt:lpstr>
      <vt:lpstr>Times New Roman</vt:lpstr>
      <vt:lpstr>Symbol</vt:lpstr>
      <vt:lpstr>Times</vt:lpstr>
      <vt:lpstr>ＭＳ Ｐゴシック</vt:lpstr>
      <vt:lpstr>Office Theme</vt:lpstr>
      <vt:lpstr>Homologous Recombination</vt:lpstr>
      <vt:lpstr>Recombination</vt:lpstr>
      <vt:lpstr>Importance of Homologous recombination</vt:lpstr>
      <vt:lpstr>DNA breaks are common and initiate recombination</vt:lpstr>
      <vt:lpstr>PowerPoint Presentation</vt:lpstr>
      <vt:lpstr>Damage in the DNA template can lead to DSB formation during replication</vt:lpstr>
      <vt:lpstr>Models of Homologous Recombination</vt:lpstr>
      <vt:lpstr>PowerPoint Presentation</vt:lpstr>
      <vt:lpstr>Holliday Model</vt:lpstr>
      <vt:lpstr>PowerPoint Presentation</vt:lpstr>
      <vt:lpstr>Products of Holliday Recombination</vt:lpstr>
      <vt:lpstr>PowerPoint Presentation</vt:lpstr>
      <vt:lpstr>Resolving Holiday junctions is a key step to finishing genetic exchange</vt:lpstr>
      <vt:lpstr>PowerPoint Presentation</vt:lpstr>
      <vt:lpstr>PowerPoint Presentation</vt:lpstr>
      <vt:lpstr>PowerPoint Presentation</vt:lpstr>
      <vt:lpstr>DSB repair model</vt:lpstr>
      <vt:lpstr>PowerPoint Presentation</vt:lpstr>
      <vt:lpstr>How to resolve a recombination intermediate with two Holliday junctions</vt:lpstr>
      <vt:lpstr>Homologous Recombination Protein Machines</vt:lpstr>
      <vt:lpstr>Protein Machines</vt:lpstr>
      <vt:lpstr>PowerPoint Presentation</vt:lpstr>
      <vt:lpstr>Steps of the RecBCD pathway</vt:lpstr>
      <vt:lpstr>RecBCD helicase/ nuclease processes broken DNA molecules for recombination</vt:lpstr>
      <vt:lpstr>PowerPoint Presentation</vt:lpstr>
      <vt:lpstr>PowerPoint Presentation</vt:lpstr>
      <vt:lpstr>PowerPoint Presentation</vt:lpstr>
      <vt:lpstr>Crossover hot spot instigator (Chi Sites)</vt:lpstr>
      <vt:lpstr>Polar action of chi</vt:lpstr>
      <vt:lpstr>RecA protein assembles on ssDNA and promotes strand invasion</vt:lpstr>
      <vt:lpstr>PowerPoint Presentation</vt:lpstr>
      <vt:lpstr>Figure 11-8a</vt:lpstr>
      <vt:lpstr>Figure 11-8b</vt:lpstr>
      <vt:lpstr>Figure 11-8c</vt:lpstr>
      <vt:lpstr>PowerPoint Presentation</vt:lpstr>
      <vt:lpstr>Polarity of RecA assembly</vt:lpstr>
      <vt:lpstr>RecA searches for bp complementarity</vt:lpstr>
      <vt:lpstr>How does the RecA filament sense sequence homology?</vt:lpstr>
      <vt:lpstr>PowerPoint Presentation</vt:lpstr>
      <vt:lpstr>Model of Two steps in search for homology and DNA strand exchange within the RecA Filament</vt:lpstr>
      <vt:lpstr>Figure 11-13</vt:lpstr>
      <vt:lpstr>Figure 11-14</vt:lpstr>
      <vt:lpstr>Each homologs are found in all organisms</vt:lpstr>
      <vt:lpstr>RuvAB Complex specifically recognizes Holliday junctions and promotes branch migration</vt:lpstr>
      <vt:lpstr>High resolution structure of RuvA and schematic model of the RuvAB complex bound to Holliday junction of DNA</vt:lpstr>
      <vt:lpstr>RuvC cleaves specific DNA strands at the Holliday junction to finish recombination</vt:lpstr>
      <vt:lpstr>High resolution structure of the RuvC resolvase and schematic model of the RuvC dimer bound to Holliday junction of DNA</vt:lpstr>
      <vt:lpstr>Homologous Recombination In Eukaryotes</vt:lpstr>
      <vt:lpstr>PowerPoint Presentation</vt:lpstr>
      <vt:lpstr>Meiotic recombination prevents non-disjunction (improper segregation of chromosomes)</vt:lpstr>
      <vt:lpstr>Programmed generation of DSB occurs  during meiosis</vt:lpstr>
      <vt:lpstr>PowerPoint Presentation</vt:lpstr>
      <vt:lpstr>MRX processes the cleaved DNA ends for assembly of the RecA-like exchange proteins</vt:lpstr>
      <vt:lpstr>Dmc1 is RecA-like protein that specifically functions in meiotic recombination</vt:lpstr>
      <vt:lpstr>Many proteins function together to promote meiotic recombination</vt:lpstr>
      <vt:lpstr>Mating Type Switching</vt:lpstr>
      <vt:lpstr>Control of Gene Expression Mating-Type Switching S. Cerevisiae </vt:lpstr>
      <vt:lpstr>Genetic loci encoding mating-type information</vt:lpstr>
      <vt:lpstr>Example of combinatorial activation in mating type gene in S. cervisiae </vt:lpstr>
      <vt:lpstr>Mating – Type Switching</vt:lpstr>
      <vt:lpstr>PowerPoint Presentation</vt:lpstr>
      <vt:lpstr>Figure 11-27</vt:lpstr>
      <vt:lpstr>synthesis-dependent strand annealing (SDSA)</vt:lpstr>
      <vt:lpstr>Gene conversion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Conservative site specific recombination</dc:title>
  <dc:creator>Firas</dc:creator>
  <cp:lastModifiedBy>Laith Al-Eitan</cp:lastModifiedBy>
  <cp:revision>226</cp:revision>
  <dcterms:created xsi:type="dcterms:W3CDTF">2006-03-25T10:32:49Z</dcterms:created>
  <dcterms:modified xsi:type="dcterms:W3CDTF">2024-11-17T16:53:24Z</dcterms:modified>
</cp:coreProperties>
</file>