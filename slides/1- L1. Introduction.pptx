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61" r:id="rId4"/>
    <p:sldId id="259" r:id="rId5"/>
    <p:sldId id="262" r:id="rId6"/>
    <p:sldId id="278" r:id="rId7"/>
    <p:sldId id="266" r:id="rId8"/>
    <p:sldId id="265" r:id="rId9"/>
    <p:sldId id="269" r:id="rId10"/>
    <p:sldId id="271" r:id="rId11"/>
    <p:sldId id="273" r:id="rId12"/>
    <p:sldId id="274" r:id="rId13"/>
    <p:sldId id="263" r:id="rId14"/>
    <p:sldId id="279" r:id="rId15"/>
    <p:sldId id="275" r:id="rId16"/>
    <p:sldId id="277" r:id="rId17"/>
    <p:sldId id="276" r:id="rId18"/>
    <p:sldId id="272" r:id="rId19"/>
  </p:sldIdLst>
  <p:sldSz cx="13004800" cy="9753600"/>
  <p:notesSz cx="6858000" cy="9144000"/>
  <p:defaultTextStyle>
    <a:lvl1pPr algn="ctr" defTabSz="584200">
      <a:defRPr sz="3600" b="1">
        <a:latin typeface="Helvetica"/>
        <a:ea typeface="Helvetica"/>
        <a:cs typeface="Helvetica"/>
        <a:sym typeface="Helvetica"/>
      </a:defRPr>
    </a:lvl1pPr>
    <a:lvl2pPr indent="228600" algn="ctr" defTabSz="584200">
      <a:defRPr sz="3600" b="1">
        <a:latin typeface="Helvetica"/>
        <a:ea typeface="Helvetica"/>
        <a:cs typeface="Helvetica"/>
        <a:sym typeface="Helvetica"/>
      </a:defRPr>
    </a:lvl2pPr>
    <a:lvl3pPr indent="457200" algn="ctr" defTabSz="584200">
      <a:defRPr sz="3600" b="1">
        <a:latin typeface="Helvetica"/>
        <a:ea typeface="Helvetica"/>
        <a:cs typeface="Helvetica"/>
        <a:sym typeface="Helvetica"/>
      </a:defRPr>
    </a:lvl3pPr>
    <a:lvl4pPr indent="685800" algn="ctr" defTabSz="584200">
      <a:defRPr sz="3600" b="1">
        <a:latin typeface="Helvetica"/>
        <a:ea typeface="Helvetica"/>
        <a:cs typeface="Helvetica"/>
        <a:sym typeface="Helvetica"/>
      </a:defRPr>
    </a:lvl4pPr>
    <a:lvl5pPr indent="914400" algn="ctr" defTabSz="584200">
      <a:defRPr sz="3600" b="1">
        <a:latin typeface="Helvetica"/>
        <a:ea typeface="Helvetica"/>
        <a:cs typeface="Helvetica"/>
        <a:sym typeface="Helvetica"/>
      </a:defRPr>
    </a:lvl5pPr>
    <a:lvl6pPr indent="1143000" algn="ctr" defTabSz="584200">
      <a:defRPr sz="3600" b="1">
        <a:latin typeface="Helvetica"/>
        <a:ea typeface="Helvetica"/>
        <a:cs typeface="Helvetica"/>
        <a:sym typeface="Helvetica"/>
      </a:defRPr>
    </a:lvl6pPr>
    <a:lvl7pPr indent="1371600" algn="ctr" defTabSz="584200">
      <a:defRPr sz="3600" b="1">
        <a:latin typeface="Helvetica"/>
        <a:ea typeface="Helvetica"/>
        <a:cs typeface="Helvetica"/>
        <a:sym typeface="Helvetica"/>
      </a:defRPr>
    </a:lvl7pPr>
    <a:lvl8pPr indent="1600200" algn="ctr" defTabSz="584200">
      <a:defRPr sz="3600" b="1">
        <a:latin typeface="Helvetica"/>
        <a:ea typeface="Helvetica"/>
        <a:cs typeface="Helvetica"/>
        <a:sym typeface="Helvetica"/>
      </a:defRPr>
    </a:lvl8pPr>
    <a:lvl9pPr indent="1828800" algn="ctr" defTabSz="584200">
      <a:defRPr sz="3600" b="1"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1392" y="48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0045AD-F6A2-F040-A8F7-CC63B8D479A0}" type="doc">
      <dgm:prSet loTypeId="urn:microsoft.com/office/officeart/2005/8/layout/radial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15711E-AE7F-4148-AE81-8265C99ADBF6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3600" b="1" i="1" dirty="0" smtClean="0">
              <a:latin typeface="Arial"/>
              <a:cs typeface="Arial"/>
            </a:rPr>
            <a:t>Gene transfer methods</a:t>
          </a:r>
          <a:endParaRPr lang="en-US" sz="3600" b="1" i="1" dirty="0">
            <a:latin typeface="Arial"/>
            <a:cs typeface="Arial"/>
          </a:endParaRPr>
        </a:p>
      </dgm:t>
    </dgm:pt>
    <dgm:pt modelId="{233C1D46-3B27-8940-BFE1-116AD2E632CF}" type="parTrans" cxnId="{F1A51FC2-C1E4-254E-9C3F-0C981619720F}">
      <dgm:prSet/>
      <dgm:spPr/>
      <dgm:t>
        <a:bodyPr/>
        <a:lstStyle/>
        <a:p>
          <a:endParaRPr lang="en-US"/>
        </a:p>
      </dgm:t>
    </dgm:pt>
    <dgm:pt modelId="{86720D57-AD69-3644-A9FF-5B6BE8142848}" type="sibTrans" cxnId="{F1A51FC2-C1E4-254E-9C3F-0C981619720F}">
      <dgm:prSet/>
      <dgm:spPr/>
      <dgm:t>
        <a:bodyPr/>
        <a:lstStyle/>
        <a:p>
          <a:endParaRPr lang="en-US"/>
        </a:p>
      </dgm:t>
    </dgm:pt>
    <dgm:pt modelId="{6A75FF20-0178-5242-9526-26BB2859EA3C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b="1" dirty="0" smtClean="0">
              <a:latin typeface="Arial"/>
              <a:cs typeface="Arial"/>
            </a:rPr>
            <a:t>Electroporation</a:t>
          </a:r>
          <a:endParaRPr lang="en-US" sz="2800" b="1" dirty="0">
            <a:latin typeface="Arial"/>
            <a:cs typeface="Arial"/>
          </a:endParaRPr>
        </a:p>
      </dgm:t>
    </dgm:pt>
    <dgm:pt modelId="{D821F50D-339F-2A43-9492-7BDD8034FCBC}" type="parTrans" cxnId="{615CEAAD-3018-FC4B-983C-7441B16DE431}">
      <dgm:prSet/>
      <dgm:spPr/>
      <dgm:t>
        <a:bodyPr/>
        <a:lstStyle/>
        <a:p>
          <a:endParaRPr lang="en-US"/>
        </a:p>
      </dgm:t>
    </dgm:pt>
    <dgm:pt modelId="{8B129991-4C12-2C47-BAB3-8AB479AA779C}" type="sibTrans" cxnId="{615CEAAD-3018-FC4B-983C-7441B16DE431}">
      <dgm:prSet/>
      <dgm:spPr/>
      <dgm:t>
        <a:bodyPr/>
        <a:lstStyle/>
        <a:p>
          <a:endParaRPr lang="en-US"/>
        </a:p>
      </dgm:t>
    </dgm:pt>
    <dgm:pt modelId="{88B97D1E-D7F4-484B-BD26-DD5397914712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b="1" dirty="0" smtClean="0">
              <a:latin typeface="Arial"/>
              <a:cs typeface="Arial"/>
            </a:rPr>
            <a:t>Transformation</a:t>
          </a:r>
          <a:endParaRPr lang="en-US" sz="2800" b="1" dirty="0">
            <a:latin typeface="Arial"/>
            <a:cs typeface="Arial"/>
          </a:endParaRPr>
        </a:p>
      </dgm:t>
    </dgm:pt>
    <dgm:pt modelId="{1B457AE3-E486-E34B-8698-FDEB8D55EA3A}" type="parTrans" cxnId="{070D9AE3-A2EF-4A4E-BBB3-BCA47F284984}">
      <dgm:prSet/>
      <dgm:spPr/>
      <dgm:t>
        <a:bodyPr/>
        <a:lstStyle/>
        <a:p>
          <a:endParaRPr lang="en-US"/>
        </a:p>
      </dgm:t>
    </dgm:pt>
    <dgm:pt modelId="{EBCCC7C7-3C70-CB4B-8E65-89DFFB1F96A2}" type="sibTrans" cxnId="{070D9AE3-A2EF-4A4E-BBB3-BCA47F284984}">
      <dgm:prSet/>
      <dgm:spPr/>
      <dgm:t>
        <a:bodyPr/>
        <a:lstStyle/>
        <a:p>
          <a:endParaRPr lang="en-US"/>
        </a:p>
      </dgm:t>
    </dgm:pt>
    <dgm:pt modelId="{5911B727-AC84-CF43-B940-DD311B3F37A5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b="1" dirty="0" smtClean="0">
              <a:latin typeface="Arial"/>
              <a:cs typeface="Arial"/>
            </a:rPr>
            <a:t>Transduction</a:t>
          </a:r>
          <a:endParaRPr lang="en-US" sz="2800" b="1" dirty="0">
            <a:latin typeface="Arial"/>
            <a:cs typeface="Arial"/>
          </a:endParaRPr>
        </a:p>
      </dgm:t>
    </dgm:pt>
    <dgm:pt modelId="{1E9B70D4-F5EC-AB4C-84D3-C3DECCD33C52}" type="parTrans" cxnId="{B45D304E-8B7D-F14A-AD99-D1B88BB165EE}">
      <dgm:prSet/>
      <dgm:spPr/>
      <dgm:t>
        <a:bodyPr/>
        <a:lstStyle/>
        <a:p>
          <a:endParaRPr lang="en-US"/>
        </a:p>
      </dgm:t>
    </dgm:pt>
    <dgm:pt modelId="{306EA3E2-AD48-4240-B9E3-8BE15B617C38}" type="sibTrans" cxnId="{B45D304E-8B7D-F14A-AD99-D1B88BB165EE}">
      <dgm:prSet/>
      <dgm:spPr/>
      <dgm:t>
        <a:bodyPr/>
        <a:lstStyle/>
        <a:p>
          <a:endParaRPr lang="en-US"/>
        </a:p>
      </dgm:t>
    </dgm:pt>
    <dgm:pt modelId="{75CFBB9C-02EE-724D-9F88-3437FFD51CD1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b="1" dirty="0" smtClean="0">
              <a:latin typeface="Arial"/>
              <a:cs typeface="Arial"/>
            </a:rPr>
            <a:t>Protoplast transformation</a:t>
          </a:r>
          <a:endParaRPr lang="en-US" sz="2800" b="1" dirty="0">
            <a:latin typeface="Arial"/>
            <a:cs typeface="Arial"/>
          </a:endParaRPr>
        </a:p>
      </dgm:t>
    </dgm:pt>
    <dgm:pt modelId="{18DD5C61-DFED-B740-B695-5F54810576E9}" type="parTrans" cxnId="{90D197A5-92BC-4D4E-B29F-6FC1C8577AF3}">
      <dgm:prSet/>
      <dgm:spPr/>
      <dgm:t>
        <a:bodyPr/>
        <a:lstStyle/>
        <a:p>
          <a:endParaRPr lang="en-US"/>
        </a:p>
      </dgm:t>
    </dgm:pt>
    <dgm:pt modelId="{8596B333-8020-D54B-90FB-BDA0C4DDD3CE}" type="sibTrans" cxnId="{90D197A5-92BC-4D4E-B29F-6FC1C8577AF3}">
      <dgm:prSet/>
      <dgm:spPr/>
      <dgm:t>
        <a:bodyPr/>
        <a:lstStyle/>
        <a:p>
          <a:endParaRPr lang="en-US"/>
        </a:p>
      </dgm:t>
    </dgm:pt>
    <dgm:pt modelId="{B51A5842-D9FA-2243-9613-2D09433DCBA8}" type="pres">
      <dgm:prSet presAssocID="{B90045AD-F6A2-F040-A8F7-CC63B8D479A0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BD25464-4CFB-5C44-B91A-993E65A06F1B}" type="pres">
      <dgm:prSet presAssocID="{4915711E-AE7F-4148-AE81-8265C99ADBF6}" presName="centerShape" presStyleLbl="node0" presStyleIdx="0" presStyleCnt="1" custScaleX="120520" custScaleY="107138"/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D3505993-508F-164F-8B27-9C96489895AF}" type="pres">
      <dgm:prSet presAssocID="{D821F50D-339F-2A43-9492-7BDD8034FCBC}" presName="Name9" presStyleLbl="parChTrans1D2" presStyleIdx="0" presStyleCnt="4"/>
      <dgm:spPr/>
      <dgm:t>
        <a:bodyPr/>
        <a:lstStyle/>
        <a:p>
          <a:endParaRPr lang="en-US"/>
        </a:p>
      </dgm:t>
    </dgm:pt>
    <dgm:pt modelId="{B479EDDC-5DDF-304E-98A1-02EA87734A83}" type="pres">
      <dgm:prSet presAssocID="{D821F50D-339F-2A43-9492-7BDD8034FCBC}" presName="connTx" presStyleLbl="parChTrans1D2" presStyleIdx="0" presStyleCnt="4"/>
      <dgm:spPr/>
      <dgm:t>
        <a:bodyPr/>
        <a:lstStyle/>
        <a:p>
          <a:endParaRPr lang="en-US"/>
        </a:p>
      </dgm:t>
    </dgm:pt>
    <dgm:pt modelId="{25CD5480-3963-7843-B6E2-3E16CA2D1287}" type="pres">
      <dgm:prSet presAssocID="{6A75FF20-0178-5242-9526-26BB2859EA3C}" presName="node" presStyleLbl="node1" presStyleIdx="0" presStyleCnt="4" custScaleX="142872" custScaleY="49111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3DDE2993-B6C8-814D-AC3F-1C3889AD0BB3}" type="pres">
      <dgm:prSet presAssocID="{1B457AE3-E486-E34B-8698-FDEB8D55EA3A}" presName="Name9" presStyleLbl="parChTrans1D2" presStyleIdx="1" presStyleCnt="4"/>
      <dgm:spPr/>
      <dgm:t>
        <a:bodyPr/>
        <a:lstStyle/>
        <a:p>
          <a:endParaRPr lang="en-US"/>
        </a:p>
      </dgm:t>
    </dgm:pt>
    <dgm:pt modelId="{9CD55914-8977-3342-A5B2-F77BC01487A3}" type="pres">
      <dgm:prSet presAssocID="{1B457AE3-E486-E34B-8698-FDEB8D55EA3A}" presName="connTx" presStyleLbl="parChTrans1D2" presStyleIdx="1" presStyleCnt="4"/>
      <dgm:spPr/>
      <dgm:t>
        <a:bodyPr/>
        <a:lstStyle/>
        <a:p>
          <a:endParaRPr lang="en-US"/>
        </a:p>
      </dgm:t>
    </dgm:pt>
    <dgm:pt modelId="{05ABC4C6-1E60-7443-A931-15B30B456AE8}" type="pres">
      <dgm:prSet presAssocID="{88B97D1E-D7F4-484B-BD26-DD5397914712}" presName="node" presStyleLbl="node1" presStyleIdx="1" presStyleCnt="4" custScaleX="142872" custScaleY="49111" custRadScaleRad="140278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C4AA3E2F-BCC2-4C40-B3B4-E9BF48B8E321}" type="pres">
      <dgm:prSet presAssocID="{1E9B70D4-F5EC-AB4C-84D3-C3DECCD33C52}" presName="Name9" presStyleLbl="parChTrans1D2" presStyleIdx="2" presStyleCnt="4"/>
      <dgm:spPr/>
      <dgm:t>
        <a:bodyPr/>
        <a:lstStyle/>
        <a:p>
          <a:endParaRPr lang="en-US"/>
        </a:p>
      </dgm:t>
    </dgm:pt>
    <dgm:pt modelId="{221529A3-1DF0-6D4D-BEDF-F5B63E6DE8AF}" type="pres">
      <dgm:prSet presAssocID="{1E9B70D4-F5EC-AB4C-84D3-C3DECCD33C52}" presName="connTx" presStyleLbl="parChTrans1D2" presStyleIdx="2" presStyleCnt="4"/>
      <dgm:spPr/>
      <dgm:t>
        <a:bodyPr/>
        <a:lstStyle/>
        <a:p>
          <a:endParaRPr lang="en-US"/>
        </a:p>
      </dgm:t>
    </dgm:pt>
    <dgm:pt modelId="{84AFF226-E91E-A644-A28C-BB90A4565EDE}" type="pres">
      <dgm:prSet presAssocID="{5911B727-AC84-CF43-B940-DD311B3F37A5}" presName="node" presStyleLbl="node1" presStyleIdx="2" presStyleCnt="4" custScaleX="142872" custScaleY="49111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191F4674-AF2F-794D-8A05-FF8368CA9DCE}" type="pres">
      <dgm:prSet presAssocID="{18DD5C61-DFED-B740-B695-5F54810576E9}" presName="Name9" presStyleLbl="parChTrans1D2" presStyleIdx="3" presStyleCnt="4"/>
      <dgm:spPr/>
      <dgm:t>
        <a:bodyPr/>
        <a:lstStyle/>
        <a:p>
          <a:endParaRPr lang="en-US"/>
        </a:p>
      </dgm:t>
    </dgm:pt>
    <dgm:pt modelId="{947E7145-71B8-9442-965F-E48AA25A0D3C}" type="pres">
      <dgm:prSet presAssocID="{18DD5C61-DFED-B740-B695-5F54810576E9}" presName="connTx" presStyleLbl="parChTrans1D2" presStyleIdx="3" presStyleCnt="4"/>
      <dgm:spPr/>
      <dgm:t>
        <a:bodyPr/>
        <a:lstStyle/>
        <a:p>
          <a:endParaRPr lang="en-US"/>
        </a:p>
      </dgm:t>
    </dgm:pt>
    <dgm:pt modelId="{08E68221-A099-314C-8706-506F26D7F387}" type="pres">
      <dgm:prSet presAssocID="{75CFBB9C-02EE-724D-9F88-3437FFD51CD1}" presName="node" presStyleLbl="node1" presStyleIdx="3" presStyleCnt="4" custScaleX="142872" custScaleY="49111" custRadScaleRad="139832" custRadScaleInc="121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</dgm:ptLst>
  <dgm:cxnLst>
    <dgm:cxn modelId="{070D9AE3-A2EF-4A4E-BBB3-BCA47F284984}" srcId="{4915711E-AE7F-4148-AE81-8265C99ADBF6}" destId="{88B97D1E-D7F4-484B-BD26-DD5397914712}" srcOrd="1" destOrd="0" parTransId="{1B457AE3-E486-E34B-8698-FDEB8D55EA3A}" sibTransId="{EBCCC7C7-3C70-CB4B-8E65-89DFFB1F96A2}"/>
    <dgm:cxn modelId="{9A83421C-9F9D-744B-AB6B-DB63FA57471D}" type="presOf" srcId="{18DD5C61-DFED-B740-B695-5F54810576E9}" destId="{191F4674-AF2F-794D-8A05-FF8368CA9DCE}" srcOrd="0" destOrd="0" presId="urn:microsoft.com/office/officeart/2005/8/layout/radial1"/>
    <dgm:cxn modelId="{7B8AC339-1FB0-9C48-B5CD-40A35D9D1A4E}" type="presOf" srcId="{6A75FF20-0178-5242-9526-26BB2859EA3C}" destId="{25CD5480-3963-7843-B6E2-3E16CA2D1287}" srcOrd="0" destOrd="0" presId="urn:microsoft.com/office/officeart/2005/8/layout/radial1"/>
    <dgm:cxn modelId="{2C475BDF-EEAB-9046-9248-78B1FBDE11FA}" type="presOf" srcId="{B90045AD-F6A2-F040-A8F7-CC63B8D479A0}" destId="{B51A5842-D9FA-2243-9613-2D09433DCBA8}" srcOrd="0" destOrd="0" presId="urn:microsoft.com/office/officeart/2005/8/layout/radial1"/>
    <dgm:cxn modelId="{90D197A5-92BC-4D4E-B29F-6FC1C8577AF3}" srcId="{4915711E-AE7F-4148-AE81-8265C99ADBF6}" destId="{75CFBB9C-02EE-724D-9F88-3437FFD51CD1}" srcOrd="3" destOrd="0" parTransId="{18DD5C61-DFED-B740-B695-5F54810576E9}" sibTransId="{8596B333-8020-D54B-90FB-BDA0C4DDD3CE}"/>
    <dgm:cxn modelId="{A0E47CA3-BA32-0043-8DDD-9AAEE5D4EB80}" type="presOf" srcId="{75CFBB9C-02EE-724D-9F88-3437FFD51CD1}" destId="{08E68221-A099-314C-8706-506F26D7F387}" srcOrd="0" destOrd="0" presId="urn:microsoft.com/office/officeart/2005/8/layout/radial1"/>
    <dgm:cxn modelId="{B3F3170A-050F-6347-83FE-5FE202744010}" type="presOf" srcId="{5911B727-AC84-CF43-B940-DD311B3F37A5}" destId="{84AFF226-E91E-A644-A28C-BB90A4565EDE}" srcOrd="0" destOrd="0" presId="urn:microsoft.com/office/officeart/2005/8/layout/radial1"/>
    <dgm:cxn modelId="{8678FAFD-D0F4-A24B-A428-3E8D56407D86}" type="presOf" srcId="{88B97D1E-D7F4-484B-BD26-DD5397914712}" destId="{05ABC4C6-1E60-7443-A931-15B30B456AE8}" srcOrd="0" destOrd="0" presId="urn:microsoft.com/office/officeart/2005/8/layout/radial1"/>
    <dgm:cxn modelId="{F1A51FC2-C1E4-254E-9C3F-0C981619720F}" srcId="{B90045AD-F6A2-F040-A8F7-CC63B8D479A0}" destId="{4915711E-AE7F-4148-AE81-8265C99ADBF6}" srcOrd="0" destOrd="0" parTransId="{233C1D46-3B27-8940-BFE1-116AD2E632CF}" sibTransId="{86720D57-AD69-3644-A9FF-5B6BE8142848}"/>
    <dgm:cxn modelId="{1C668517-F88F-DF4F-9D1C-4C37EDAFBDB4}" type="presOf" srcId="{18DD5C61-DFED-B740-B695-5F54810576E9}" destId="{947E7145-71B8-9442-965F-E48AA25A0D3C}" srcOrd="1" destOrd="0" presId="urn:microsoft.com/office/officeart/2005/8/layout/radial1"/>
    <dgm:cxn modelId="{5A6908D6-0705-F145-95DF-12ECF390673A}" type="presOf" srcId="{1E9B70D4-F5EC-AB4C-84D3-C3DECCD33C52}" destId="{C4AA3E2F-BCC2-4C40-B3B4-E9BF48B8E321}" srcOrd="0" destOrd="0" presId="urn:microsoft.com/office/officeart/2005/8/layout/radial1"/>
    <dgm:cxn modelId="{9122F983-678C-AB42-874E-A051B57F004F}" type="presOf" srcId="{4915711E-AE7F-4148-AE81-8265C99ADBF6}" destId="{FBD25464-4CFB-5C44-B91A-993E65A06F1B}" srcOrd="0" destOrd="0" presId="urn:microsoft.com/office/officeart/2005/8/layout/radial1"/>
    <dgm:cxn modelId="{615CEAAD-3018-FC4B-983C-7441B16DE431}" srcId="{4915711E-AE7F-4148-AE81-8265C99ADBF6}" destId="{6A75FF20-0178-5242-9526-26BB2859EA3C}" srcOrd="0" destOrd="0" parTransId="{D821F50D-339F-2A43-9492-7BDD8034FCBC}" sibTransId="{8B129991-4C12-2C47-BAB3-8AB479AA779C}"/>
    <dgm:cxn modelId="{4E23E747-858E-1E4E-851F-F01B20987193}" type="presOf" srcId="{1B457AE3-E486-E34B-8698-FDEB8D55EA3A}" destId="{3DDE2993-B6C8-814D-AC3F-1C3889AD0BB3}" srcOrd="0" destOrd="0" presId="urn:microsoft.com/office/officeart/2005/8/layout/radial1"/>
    <dgm:cxn modelId="{BB3CDE0B-AC02-4F40-9805-4B732DF57DE4}" type="presOf" srcId="{1E9B70D4-F5EC-AB4C-84D3-C3DECCD33C52}" destId="{221529A3-1DF0-6D4D-BEDF-F5B63E6DE8AF}" srcOrd="1" destOrd="0" presId="urn:microsoft.com/office/officeart/2005/8/layout/radial1"/>
    <dgm:cxn modelId="{E8E4ABC7-5187-6E4A-9A77-0EA451543897}" type="presOf" srcId="{1B457AE3-E486-E34B-8698-FDEB8D55EA3A}" destId="{9CD55914-8977-3342-A5B2-F77BC01487A3}" srcOrd="1" destOrd="0" presId="urn:microsoft.com/office/officeart/2005/8/layout/radial1"/>
    <dgm:cxn modelId="{B45D304E-8B7D-F14A-AD99-D1B88BB165EE}" srcId="{4915711E-AE7F-4148-AE81-8265C99ADBF6}" destId="{5911B727-AC84-CF43-B940-DD311B3F37A5}" srcOrd="2" destOrd="0" parTransId="{1E9B70D4-F5EC-AB4C-84D3-C3DECCD33C52}" sibTransId="{306EA3E2-AD48-4240-B9E3-8BE15B617C38}"/>
    <dgm:cxn modelId="{DA06475D-0F8A-6448-BCDF-29966B93A39D}" type="presOf" srcId="{D821F50D-339F-2A43-9492-7BDD8034FCBC}" destId="{B479EDDC-5DDF-304E-98A1-02EA87734A83}" srcOrd="1" destOrd="0" presId="urn:microsoft.com/office/officeart/2005/8/layout/radial1"/>
    <dgm:cxn modelId="{E39472C8-6E89-1047-B357-0986B9E2C92B}" type="presOf" srcId="{D821F50D-339F-2A43-9492-7BDD8034FCBC}" destId="{D3505993-508F-164F-8B27-9C96489895AF}" srcOrd="0" destOrd="0" presId="urn:microsoft.com/office/officeart/2005/8/layout/radial1"/>
    <dgm:cxn modelId="{7238B201-854E-0748-9C4D-CC0B7FC84168}" type="presParOf" srcId="{B51A5842-D9FA-2243-9613-2D09433DCBA8}" destId="{FBD25464-4CFB-5C44-B91A-993E65A06F1B}" srcOrd="0" destOrd="0" presId="urn:microsoft.com/office/officeart/2005/8/layout/radial1"/>
    <dgm:cxn modelId="{39028EBF-CD09-B743-834F-5866DA5AD8EB}" type="presParOf" srcId="{B51A5842-D9FA-2243-9613-2D09433DCBA8}" destId="{D3505993-508F-164F-8B27-9C96489895AF}" srcOrd="1" destOrd="0" presId="urn:microsoft.com/office/officeart/2005/8/layout/radial1"/>
    <dgm:cxn modelId="{3239A2D1-89AE-3447-803E-9E50B9C237AF}" type="presParOf" srcId="{D3505993-508F-164F-8B27-9C96489895AF}" destId="{B479EDDC-5DDF-304E-98A1-02EA87734A83}" srcOrd="0" destOrd="0" presId="urn:microsoft.com/office/officeart/2005/8/layout/radial1"/>
    <dgm:cxn modelId="{F9C2D4EA-CB12-934B-ADEA-8F7F1BA3F881}" type="presParOf" srcId="{B51A5842-D9FA-2243-9613-2D09433DCBA8}" destId="{25CD5480-3963-7843-B6E2-3E16CA2D1287}" srcOrd="2" destOrd="0" presId="urn:microsoft.com/office/officeart/2005/8/layout/radial1"/>
    <dgm:cxn modelId="{D042765D-9395-664C-A0EC-8A1468744931}" type="presParOf" srcId="{B51A5842-D9FA-2243-9613-2D09433DCBA8}" destId="{3DDE2993-B6C8-814D-AC3F-1C3889AD0BB3}" srcOrd="3" destOrd="0" presId="urn:microsoft.com/office/officeart/2005/8/layout/radial1"/>
    <dgm:cxn modelId="{2E67FC64-15B6-5042-BF82-D71F925BCE9E}" type="presParOf" srcId="{3DDE2993-B6C8-814D-AC3F-1C3889AD0BB3}" destId="{9CD55914-8977-3342-A5B2-F77BC01487A3}" srcOrd="0" destOrd="0" presId="urn:microsoft.com/office/officeart/2005/8/layout/radial1"/>
    <dgm:cxn modelId="{07FE9444-EFE4-094C-BCB5-46B376EA0F64}" type="presParOf" srcId="{B51A5842-D9FA-2243-9613-2D09433DCBA8}" destId="{05ABC4C6-1E60-7443-A931-15B30B456AE8}" srcOrd="4" destOrd="0" presId="urn:microsoft.com/office/officeart/2005/8/layout/radial1"/>
    <dgm:cxn modelId="{8875A621-25A2-E442-8379-F04AD96CB31D}" type="presParOf" srcId="{B51A5842-D9FA-2243-9613-2D09433DCBA8}" destId="{C4AA3E2F-BCC2-4C40-B3B4-E9BF48B8E321}" srcOrd="5" destOrd="0" presId="urn:microsoft.com/office/officeart/2005/8/layout/radial1"/>
    <dgm:cxn modelId="{F3686DF2-4A7A-184D-8FDC-7279B529F20B}" type="presParOf" srcId="{C4AA3E2F-BCC2-4C40-B3B4-E9BF48B8E321}" destId="{221529A3-1DF0-6D4D-BEDF-F5B63E6DE8AF}" srcOrd="0" destOrd="0" presId="urn:microsoft.com/office/officeart/2005/8/layout/radial1"/>
    <dgm:cxn modelId="{BCA825D0-41F1-9F42-B7C6-5E56F2FFB952}" type="presParOf" srcId="{B51A5842-D9FA-2243-9613-2D09433DCBA8}" destId="{84AFF226-E91E-A644-A28C-BB90A4565EDE}" srcOrd="6" destOrd="0" presId="urn:microsoft.com/office/officeart/2005/8/layout/radial1"/>
    <dgm:cxn modelId="{D76C29AB-1FBA-1F42-8000-EDF2CFC3CE6C}" type="presParOf" srcId="{B51A5842-D9FA-2243-9613-2D09433DCBA8}" destId="{191F4674-AF2F-794D-8A05-FF8368CA9DCE}" srcOrd="7" destOrd="0" presId="urn:microsoft.com/office/officeart/2005/8/layout/radial1"/>
    <dgm:cxn modelId="{83855CC8-9911-3A4C-928F-82311232F1C7}" type="presParOf" srcId="{191F4674-AF2F-794D-8A05-FF8368CA9DCE}" destId="{947E7145-71B8-9442-965F-E48AA25A0D3C}" srcOrd="0" destOrd="0" presId="urn:microsoft.com/office/officeart/2005/8/layout/radial1"/>
    <dgm:cxn modelId="{3D675279-EBBC-664A-AE80-589352E1C97D}" type="presParOf" srcId="{B51A5842-D9FA-2243-9613-2D09433DCBA8}" destId="{08E68221-A099-314C-8706-506F26D7F387}" srcOrd="8" destOrd="0" presId="urn:microsoft.com/office/officeart/2005/8/layout/radial1"/>
  </dgm:cxnLst>
  <dgm:bg/>
  <dgm:whole>
    <a:ln w="76200" cmpd="sng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25464-4CFB-5C44-B91A-993E65A06F1B}">
      <dsp:nvSpPr>
        <dsp:cNvPr id="0" name=""/>
        <dsp:cNvSpPr/>
      </dsp:nvSpPr>
      <dsp:spPr>
        <a:xfrm>
          <a:off x="4010544" y="2620546"/>
          <a:ext cx="2468153" cy="2194100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i="1" kern="1200" dirty="0" smtClean="0">
              <a:latin typeface="Arial"/>
              <a:cs typeface="Arial"/>
            </a:rPr>
            <a:t>Gene transfer methods</a:t>
          </a:r>
          <a:endParaRPr lang="en-US" sz="3600" b="1" i="1" kern="1200" dirty="0">
            <a:latin typeface="Arial"/>
            <a:cs typeface="Arial"/>
          </a:endParaRPr>
        </a:p>
      </dsp:txBody>
      <dsp:txXfrm>
        <a:off x="4010544" y="2620546"/>
        <a:ext cx="2468153" cy="2194100"/>
      </dsp:txXfrm>
    </dsp:sp>
    <dsp:sp modelId="{D3505993-508F-164F-8B27-9C96489895AF}">
      <dsp:nvSpPr>
        <dsp:cNvPr id="0" name=""/>
        <dsp:cNvSpPr/>
      </dsp:nvSpPr>
      <dsp:spPr>
        <a:xfrm rot="16200000">
          <a:off x="4711819" y="2070173"/>
          <a:ext cx="1065603" cy="35143"/>
        </a:xfrm>
        <a:custGeom>
          <a:avLst/>
          <a:gdLst/>
          <a:ahLst/>
          <a:cxnLst/>
          <a:rect l="0" t="0" r="0" b="0"/>
          <a:pathLst>
            <a:path>
              <a:moveTo>
                <a:pt x="0" y="17571"/>
              </a:moveTo>
              <a:lnTo>
                <a:pt x="1065603" y="17571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217981" y="2061104"/>
        <a:ext cx="53280" cy="53280"/>
      </dsp:txXfrm>
    </dsp:sp>
    <dsp:sp modelId="{25CD5480-3963-7843-B6E2-3E16CA2D1287}">
      <dsp:nvSpPr>
        <dsp:cNvPr id="0" name=""/>
        <dsp:cNvSpPr/>
      </dsp:nvSpPr>
      <dsp:spPr>
        <a:xfrm>
          <a:off x="3781669" y="549189"/>
          <a:ext cx="2925904" cy="1005754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latin typeface="Arial"/>
              <a:cs typeface="Arial"/>
            </a:rPr>
            <a:t>Electroporation</a:t>
          </a:r>
          <a:endParaRPr lang="en-US" sz="2800" b="1" kern="1200" dirty="0">
            <a:latin typeface="Arial"/>
            <a:cs typeface="Arial"/>
          </a:endParaRPr>
        </a:p>
      </dsp:txBody>
      <dsp:txXfrm>
        <a:off x="3781669" y="549189"/>
        <a:ext cx="2925904" cy="1005754"/>
      </dsp:txXfrm>
    </dsp:sp>
    <dsp:sp modelId="{3DDE2993-B6C8-814D-AC3F-1C3889AD0BB3}">
      <dsp:nvSpPr>
        <dsp:cNvPr id="0" name=""/>
        <dsp:cNvSpPr/>
      </dsp:nvSpPr>
      <dsp:spPr>
        <a:xfrm>
          <a:off x="6478698" y="3700025"/>
          <a:ext cx="1042124" cy="35143"/>
        </a:xfrm>
        <a:custGeom>
          <a:avLst/>
          <a:gdLst/>
          <a:ahLst/>
          <a:cxnLst/>
          <a:rect l="0" t="0" r="0" b="0"/>
          <a:pathLst>
            <a:path>
              <a:moveTo>
                <a:pt x="0" y="17571"/>
              </a:moveTo>
              <a:lnTo>
                <a:pt x="1042124" y="17571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6973707" y="3691543"/>
        <a:ext cx="52106" cy="52106"/>
      </dsp:txXfrm>
    </dsp:sp>
    <dsp:sp modelId="{05ABC4C6-1E60-7443-A931-15B30B456AE8}">
      <dsp:nvSpPr>
        <dsp:cNvPr id="0" name=""/>
        <dsp:cNvSpPr/>
      </dsp:nvSpPr>
      <dsp:spPr>
        <a:xfrm>
          <a:off x="7520822" y="3214719"/>
          <a:ext cx="2925904" cy="1005754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latin typeface="Arial"/>
              <a:cs typeface="Arial"/>
            </a:rPr>
            <a:t>Transformation</a:t>
          </a:r>
          <a:endParaRPr lang="en-US" sz="2800" b="1" kern="1200" dirty="0">
            <a:latin typeface="Arial"/>
            <a:cs typeface="Arial"/>
          </a:endParaRPr>
        </a:p>
      </dsp:txBody>
      <dsp:txXfrm>
        <a:off x="7520822" y="3214719"/>
        <a:ext cx="2925904" cy="1005754"/>
      </dsp:txXfrm>
    </dsp:sp>
    <dsp:sp modelId="{C4AA3E2F-BCC2-4C40-B3B4-E9BF48B8E321}">
      <dsp:nvSpPr>
        <dsp:cNvPr id="0" name=""/>
        <dsp:cNvSpPr/>
      </dsp:nvSpPr>
      <dsp:spPr>
        <a:xfrm rot="5400000">
          <a:off x="4711819" y="5329877"/>
          <a:ext cx="1065603" cy="35143"/>
        </a:xfrm>
        <a:custGeom>
          <a:avLst/>
          <a:gdLst/>
          <a:ahLst/>
          <a:cxnLst/>
          <a:rect l="0" t="0" r="0" b="0"/>
          <a:pathLst>
            <a:path>
              <a:moveTo>
                <a:pt x="0" y="17571"/>
              </a:moveTo>
              <a:lnTo>
                <a:pt x="1065603" y="17571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217981" y="5320809"/>
        <a:ext cx="53280" cy="53280"/>
      </dsp:txXfrm>
    </dsp:sp>
    <dsp:sp modelId="{84AFF226-E91E-A644-A28C-BB90A4565EDE}">
      <dsp:nvSpPr>
        <dsp:cNvPr id="0" name=""/>
        <dsp:cNvSpPr/>
      </dsp:nvSpPr>
      <dsp:spPr>
        <a:xfrm>
          <a:off x="3781669" y="5880250"/>
          <a:ext cx="2925904" cy="1005754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latin typeface="Arial"/>
              <a:cs typeface="Arial"/>
            </a:rPr>
            <a:t>Transduction</a:t>
          </a:r>
          <a:endParaRPr lang="en-US" sz="2800" b="1" kern="1200" dirty="0">
            <a:latin typeface="Arial"/>
            <a:cs typeface="Arial"/>
          </a:endParaRPr>
        </a:p>
      </dsp:txBody>
      <dsp:txXfrm>
        <a:off x="3781669" y="5880250"/>
        <a:ext cx="2925904" cy="1005754"/>
      </dsp:txXfrm>
    </dsp:sp>
    <dsp:sp modelId="{191F4674-AF2F-794D-8A05-FF8368CA9DCE}">
      <dsp:nvSpPr>
        <dsp:cNvPr id="0" name=""/>
        <dsp:cNvSpPr/>
      </dsp:nvSpPr>
      <dsp:spPr>
        <a:xfrm rot="10803267">
          <a:off x="2980304" y="3698363"/>
          <a:ext cx="1030241" cy="35143"/>
        </a:xfrm>
        <a:custGeom>
          <a:avLst/>
          <a:gdLst/>
          <a:ahLst/>
          <a:cxnLst/>
          <a:rect l="0" t="0" r="0" b="0"/>
          <a:pathLst>
            <a:path>
              <a:moveTo>
                <a:pt x="0" y="17571"/>
              </a:moveTo>
              <a:lnTo>
                <a:pt x="1030241" y="17571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0800000">
        <a:off x="3469669" y="3690178"/>
        <a:ext cx="51512" cy="51512"/>
      </dsp:txXfrm>
    </dsp:sp>
    <dsp:sp modelId="{08E68221-A099-314C-8706-506F26D7F387}">
      <dsp:nvSpPr>
        <dsp:cNvPr id="0" name=""/>
        <dsp:cNvSpPr/>
      </dsp:nvSpPr>
      <dsp:spPr>
        <a:xfrm>
          <a:off x="54405" y="3211177"/>
          <a:ext cx="2925904" cy="1005754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latin typeface="Arial"/>
              <a:cs typeface="Arial"/>
            </a:rPr>
            <a:t>Protoplast transformation</a:t>
          </a:r>
          <a:endParaRPr lang="en-US" sz="2800" b="1" kern="1200" dirty="0">
            <a:latin typeface="Arial"/>
            <a:cs typeface="Arial"/>
          </a:endParaRPr>
        </a:p>
      </dsp:txBody>
      <dsp:txXfrm>
        <a:off x="54405" y="3211177"/>
        <a:ext cx="2925904" cy="10057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09063006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3200"/>
              <a:t>Body Level Two</a:t>
            </a:r>
          </a:p>
          <a:p>
            <a:pPr lvl="2">
              <a:defRPr sz="1800"/>
            </a:pPr>
            <a:r>
              <a:rPr sz="3200"/>
              <a:t>Body Level Three</a:t>
            </a:r>
          </a:p>
          <a:p>
            <a:pPr lvl="3">
              <a:defRPr sz="1800"/>
            </a:pPr>
            <a:r>
              <a:rPr sz="3200"/>
              <a:t>Body Level Four</a:t>
            </a:r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9" name="Shape 9"/>
          <p:cNvSpPr>
            <a:spLocks noGrp="1"/>
          </p:cNvSpPr>
          <p:nvPr>
            <p:ph type="body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3200"/>
              <a:t>Body Level Two</a:t>
            </a:r>
          </a:p>
          <a:p>
            <a:pPr lvl="2">
              <a:defRPr sz="1800"/>
            </a:pPr>
            <a:r>
              <a:rPr sz="3200"/>
              <a:t>Body Level Three</a:t>
            </a:r>
          </a:p>
          <a:p>
            <a:pPr lvl="3">
              <a:defRPr sz="1800"/>
            </a:pPr>
            <a:r>
              <a:rPr sz="3200"/>
              <a:t>Body Level Four</a:t>
            </a:r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lvl="0">
              <a:defRPr sz="1800"/>
            </a:pPr>
            <a:r>
              <a:rPr sz="6000"/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body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 lvl="0">
              <a:defRPr sz="1800"/>
            </a:pPr>
            <a:r>
              <a:rPr sz="3200"/>
              <a:t>Body Level One</a:t>
            </a:r>
          </a:p>
          <a:p>
            <a:pPr lvl="1">
              <a:defRPr sz="1800"/>
            </a:pPr>
            <a:r>
              <a:rPr sz="3200"/>
              <a:t>Body Level Two</a:t>
            </a:r>
          </a:p>
          <a:p>
            <a:pPr lvl="2">
              <a:defRPr sz="1800"/>
            </a:pPr>
            <a:r>
              <a:rPr sz="3200"/>
              <a:t>Body Level Three</a:t>
            </a:r>
          </a:p>
          <a:p>
            <a:pPr lvl="3">
              <a:defRPr sz="1800"/>
            </a:pPr>
            <a:r>
              <a:rPr sz="3200"/>
              <a:t>Body Level Four</a:t>
            </a:r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19" name="Shape 1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600"/>
              <a:t>Body Level One</a:t>
            </a:r>
          </a:p>
          <a:p>
            <a:pPr lvl="1">
              <a:defRPr sz="1800"/>
            </a:pPr>
            <a:r>
              <a:rPr sz="3600"/>
              <a:t>Body Level Two</a:t>
            </a:r>
          </a:p>
          <a:p>
            <a:pPr lvl="2">
              <a:defRPr sz="1800"/>
            </a:pPr>
            <a:r>
              <a:rPr sz="3600"/>
              <a:t>Body Level Three</a:t>
            </a:r>
          </a:p>
          <a:p>
            <a:pPr lvl="3">
              <a:defRPr sz="1800"/>
            </a:pPr>
            <a:r>
              <a:rPr sz="3600"/>
              <a:t>Body Level Four</a:t>
            </a:r>
          </a:p>
          <a:p>
            <a:pPr lvl="4">
              <a:defRPr sz="1800"/>
            </a:pPr>
            <a:r>
              <a:rPr sz="36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 lvl="0">
              <a:defRPr sz="1800"/>
            </a:pPr>
            <a:r>
              <a:rPr sz="2800"/>
              <a:t>Body Level One</a:t>
            </a:r>
          </a:p>
          <a:p>
            <a:pPr lvl="1">
              <a:defRPr sz="1800"/>
            </a:pPr>
            <a:r>
              <a:rPr sz="2800"/>
              <a:t>Body Level Two</a:t>
            </a:r>
          </a:p>
          <a:p>
            <a:pPr lvl="2">
              <a:defRPr sz="1800"/>
            </a:pPr>
            <a:r>
              <a:rPr sz="2800"/>
              <a:t>Body Level Three</a:t>
            </a:r>
          </a:p>
          <a:p>
            <a:pPr lvl="3">
              <a:defRPr sz="1800"/>
            </a:pPr>
            <a:r>
              <a:rPr sz="2800"/>
              <a:t>Body Level Four</a:t>
            </a:r>
          </a:p>
          <a:p>
            <a:pPr lvl="4">
              <a:defRPr sz="1800"/>
            </a:pPr>
            <a:r>
              <a:rPr sz="28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600"/>
              <a:t>Body Level One</a:t>
            </a:r>
          </a:p>
          <a:p>
            <a:pPr lvl="1">
              <a:defRPr sz="1800"/>
            </a:pPr>
            <a:r>
              <a:rPr sz="3600"/>
              <a:t>Body Level Two</a:t>
            </a:r>
          </a:p>
          <a:p>
            <a:pPr lvl="2">
              <a:defRPr sz="1800"/>
            </a:pPr>
            <a:r>
              <a:rPr sz="3600"/>
              <a:t>Body Level Three</a:t>
            </a:r>
          </a:p>
          <a:p>
            <a:pPr lvl="3">
              <a:defRPr sz="1800"/>
            </a:pPr>
            <a:r>
              <a:rPr sz="3600"/>
              <a:t>Body Level Four</a:t>
            </a:r>
          </a:p>
          <a:p>
            <a:pPr lvl="4">
              <a:defRPr sz="1800"/>
            </a:pPr>
            <a:r>
              <a:rPr sz="36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3600"/>
              <a:t>Body Level One</a:t>
            </a:r>
          </a:p>
          <a:p>
            <a:pPr lvl="1">
              <a:defRPr sz="1800"/>
            </a:pPr>
            <a:r>
              <a:rPr sz="3600"/>
              <a:t>Body Level Two</a:t>
            </a:r>
          </a:p>
          <a:p>
            <a:pPr lvl="2">
              <a:defRPr sz="1800"/>
            </a:pPr>
            <a:r>
              <a:rPr sz="3600"/>
              <a:t>Body Level Three</a:t>
            </a:r>
          </a:p>
          <a:p>
            <a:pPr lvl="3">
              <a:defRPr sz="1800"/>
            </a:pPr>
            <a:r>
              <a:rPr sz="3600"/>
              <a:t>Body Level Four</a:t>
            </a:r>
          </a:p>
          <a:p>
            <a:pPr lvl="4">
              <a:defRPr sz="1800"/>
            </a:pPr>
            <a:r>
              <a:rPr sz="3600"/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ctr" defTabSz="584200">
        <a:defRPr sz="8000">
          <a:latin typeface="+mn-lt"/>
          <a:ea typeface="+mn-ea"/>
          <a:cs typeface="+mn-cs"/>
          <a:sym typeface="Helvetica Light"/>
        </a:defRPr>
      </a:lvl1pPr>
      <a:lvl2pPr indent="228600" algn="ctr" defTabSz="584200">
        <a:defRPr sz="8000">
          <a:latin typeface="+mn-lt"/>
          <a:ea typeface="+mn-ea"/>
          <a:cs typeface="+mn-cs"/>
          <a:sym typeface="Helvetica Light"/>
        </a:defRPr>
      </a:lvl2pPr>
      <a:lvl3pPr indent="457200" algn="ctr" defTabSz="584200">
        <a:defRPr sz="8000">
          <a:latin typeface="+mn-lt"/>
          <a:ea typeface="+mn-ea"/>
          <a:cs typeface="+mn-cs"/>
          <a:sym typeface="Helvetica Light"/>
        </a:defRPr>
      </a:lvl3pPr>
      <a:lvl4pPr indent="685800" algn="ctr" defTabSz="584200">
        <a:defRPr sz="8000">
          <a:latin typeface="+mn-lt"/>
          <a:ea typeface="+mn-ea"/>
          <a:cs typeface="+mn-cs"/>
          <a:sym typeface="Helvetica Light"/>
        </a:defRPr>
      </a:lvl4pPr>
      <a:lvl5pPr indent="914400" algn="ctr" defTabSz="584200">
        <a:defRPr sz="8000">
          <a:latin typeface="+mn-lt"/>
          <a:ea typeface="+mn-ea"/>
          <a:cs typeface="+mn-cs"/>
          <a:sym typeface="Helvetica Light"/>
        </a:defRPr>
      </a:lvl5pPr>
      <a:lvl6pPr indent="1143000" algn="ctr" defTabSz="584200">
        <a:defRPr sz="8000">
          <a:latin typeface="+mn-lt"/>
          <a:ea typeface="+mn-ea"/>
          <a:cs typeface="+mn-cs"/>
          <a:sym typeface="Helvetica Light"/>
        </a:defRPr>
      </a:lvl6pPr>
      <a:lvl7pPr indent="1371600" algn="ctr" defTabSz="584200">
        <a:defRPr sz="8000">
          <a:latin typeface="+mn-lt"/>
          <a:ea typeface="+mn-ea"/>
          <a:cs typeface="+mn-cs"/>
          <a:sym typeface="Helvetica Light"/>
        </a:defRPr>
      </a:lvl7pPr>
      <a:lvl8pPr indent="1600200" algn="ctr" defTabSz="584200">
        <a:defRPr sz="8000">
          <a:latin typeface="+mn-lt"/>
          <a:ea typeface="+mn-ea"/>
          <a:cs typeface="+mn-cs"/>
          <a:sym typeface="Helvetica Light"/>
        </a:defRPr>
      </a:lvl8pPr>
      <a:lvl9pPr indent="1828800" algn="ctr" defTabSz="584200">
        <a:defRPr sz="8000">
          <a:latin typeface="+mn-lt"/>
          <a:ea typeface="+mn-ea"/>
          <a:cs typeface="+mn-cs"/>
          <a:sym typeface="Helvetica Light"/>
        </a:defRPr>
      </a:lvl9pPr>
    </p:titleStyle>
    <p:bodyStyle>
      <a:lvl1pPr marL="444500" indent="-444500" defTabSz="58420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1pPr>
      <a:lvl2pPr marL="889000" indent="-444500" defTabSz="58420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2pPr>
      <a:lvl3pPr marL="1333500" indent="-444500" defTabSz="58420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3pPr>
      <a:lvl4pPr marL="1778000" indent="-444500" defTabSz="58420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4pPr>
      <a:lvl5pPr marL="2222500" indent="-444500" defTabSz="58420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5pPr>
      <a:lvl6pPr marL="2667000" indent="-444500" defTabSz="58420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6pPr>
      <a:lvl7pPr marL="3111500" indent="-444500" defTabSz="58420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7pPr>
      <a:lvl8pPr marL="3556000" indent="-444500" defTabSz="58420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8pPr>
      <a:lvl9pPr marL="4000500" indent="-444500" defTabSz="58420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9pPr>
    </p:bodyStyle>
    <p:otherStyle>
      <a:lvl1pPr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58420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3632026" y="3638550"/>
            <a:ext cx="5550248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 b="0"/>
            </a:pPr>
            <a:r>
              <a:rPr sz="3600" b="1"/>
              <a:t>Microbial Biotechnology</a:t>
            </a:r>
          </a:p>
          <a:p>
            <a:pPr lvl="0">
              <a:defRPr sz="1800" b="0"/>
            </a:pPr>
            <a:r>
              <a:rPr sz="3600" b="1"/>
              <a:t>BT431</a:t>
            </a:r>
          </a:p>
          <a:p>
            <a:pPr lvl="0">
              <a:defRPr sz="1800" b="0"/>
            </a:pPr>
            <a:endParaRPr sz="3600" b="1"/>
          </a:p>
          <a:p>
            <a:pPr lvl="0">
              <a:defRPr sz="1800" b="0"/>
            </a:pPr>
            <a:r>
              <a:rPr sz="3600" b="1"/>
              <a:t>Introduction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/>
        </p:nvSpPr>
        <p:spPr>
          <a:xfrm>
            <a:off x="1705860" y="586106"/>
            <a:ext cx="9593096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 b="0"/>
            </a:pPr>
            <a:r>
              <a:rPr sz="3600" b="1" dirty="0" smtClean="0"/>
              <a:t>Microorganisms</a:t>
            </a:r>
            <a:r>
              <a:rPr lang="en-US" sz="3600" b="1" dirty="0" smtClean="0"/>
              <a:t> as input in Biotechnology</a:t>
            </a:r>
            <a:endParaRPr sz="3600" b="1" dirty="0"/>
          </a:p>
        </p:txBody>
      </p:sp>
      <p:sp>
        <p:nvSpPr>
          <p:cNvPr id="40" name="Shape 40"/>
          <p:cNvSpPr/>
          <p:nvPr/>
        </p:nvSpPr>
        <p:spPr>
          <a:xfrm>
            <a:off x="1139493" y="1865974"/>
            <a:ext cx="10883663" cy="7550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lvl="0" algn="l" defTabSz="457200">
              <a:spcBef>
                <a:spcPts val="1200"/>
              </a:spcBef>
              <a:defRPr sz="1800" b="0"/>
            </a:pPr>
            <a:r>
              <a:rPr sz="2800" dirty="0">
                <a:latin typeface="Times New Roman"/>
                <a:ea typeface="Times New Roman"/>
                <a:cs typeface="Times New Roman"/>
                <a:sym typeface="Times New Roman"/>
              </a:rPr>
              <a:t>In general, microorganisms have the following advantages over plants or animals as inputs in biotechnology: </a:t>
            </a:r>
            <a:endParaRPr lang="en-US" sz="28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l" defTabSz="457200">
              <a:spcBef>
                <a:spcPts val="1200"/>
              </a:spcBef>
              <a:defRPr sz="1800" b="0"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7500" lvl="0" indent="-317500" algn="l" defTabSz="457200">
              <a:spcBef>
                <a:spcPts val="1300"/>
              </a:spcBef>
              <a:spcAft>
                <a:spcPts val="1800"/>
              </a:spcAft>
              <a:buSzPct val="100000"/>
              <a:buAutoNum type="arabicPeriod"/>
              <a:tabLst>
                <a:tab pos="139700" algn="l"/>
                <a:tab pos="457200" algn="l"/>
              </a:tabLst>
              <a:defRPr sz="1800" b="0"/>
            </a:pPr>
            <a:r>
              <a:rPr sz="2800" dirty="0">
                <a:latin typeface="Times New Roman"/>
                <a:ea typeface="Times New Roman"/>
                <a:cs typeface="Times New Roman"/>
                <a:sym typeface="Times New Roman"/>
              </a:rPr>
              <a:t>Microorganisms grow rapidly in comparison with plants and animals.</a:t>
            </a:r>
          </a:p>
          <a:p>
            <a:pPr marL="317500" lvl="0" indent="-317500" algn="l" defTabSz="457200">
              <a:spcBef>
                <a:spcPts val="1300"/>
              </a:spcBef>
              <a:spcAft>
                <a:spcPts val="1800"/>
              </a:spcAft>
              <a:buSzPct val="100000"/>
              <a:buAutoNum type="arabicPeriod"/>
              <a:tabLst>
                <a:tab pos="139700" algn="l"/>
                <a:tab pos="457200" algn="l"/>
              </a:tabLst>
              <a:defRPr sz="1800" b="0"/>
            </a:pPr>
            <a:r>
              <a:rPr sz="2800" dirty="0">
                <a:latin typeface="Times New Roman"/>
                <a:ea typeface="Times New Roman"/>
                <a:cs typeface="Times New Roman"/>
                <a:sym typeface="Times New Roman"/>
              </a:rPr>
              <a:t>The space requirement for growth microorganisms is small.</a:t>
            </a:r>
          </a:p>
          <a:p>
            <a:pPr marL="317500" lvl="0" indent="-317500" algn="l" defTabSz="457200">
              <a:spcBef>
                <a:spcPts val="1300"/>
              </a:spcBef>
              <a:spcAft>
                <a:spcPts val="1800"/>
              </a:spcAft>
              <a:buSzPct val="100000"/>
              <a:buAutoNum type="arabicPeriod"/>
              <a:defRPr sz="1800" b="0"/>
            </a:pPr>
            <a:r>
              <a:rPr sz="2800" dirty="0">
                <a:latin typeface="Times New Roman"/>
                <a:ea typeface="Times New Roman"/>
                <a:cs typeface="Times New Roman"/>
                <a:sym typeface="Times New Roman"/>
              </a:rPr>
              <a:t>Microorganisms are not subject to the problems of the vicissitudes of weather which may  affect agricultural  production especially among plants. </a:t>
            </a:r>
          </a:p>
          <a:p>
            <a:pPr marL="317500" lvl="0" indent="-317500" algn="l" defTabSz="457200">
              <a:spcBef>
                <a:spcPts val="1300"/>
              </a:spcBef>
              <a:spcAft>
                <a:spcPts val="1800"/>
              </a:spcAft>
              <a:buSzPct val="100000"/>
              <a:buAutoNum type="arabicPeriod"/>
              <a:tabLst>
                <a:tab pos="139700" algn="l"/>
                <a:tab pos="457200" algn="l"/>
              </a:tabLst>
              <a:defRPr sz="1800" b="0"/>
            </a:pPr>
            <a:r>
              <a:rPr sz="2800" dirty="0">
                <a:latin typeface="Times New Roman"/>
                <a:ea typeface="Times New Roman"/>
                <a:cs typeface="Times New Roman"/>
                <a:sym typeface="Times New Roman"/>
              </a:rPr>
              <a:t>Microorganisms are not affected by diseases of plants and animals, although they do have their peculiar scourges in the form phages and contaminants, but there are </a:t>
            </a:r>
            <a:r>
              <a:rPr sz="2800" dirty="0" smtClean="0">
                <a:latin typeface="Times New Roman"/>
                <a:ea typeface="Times New Roman"/>
                <a:cs typeface="Times New Roman"/>
                <a:sym typeface="Times New Roman"/>
              </a:rPr>
              <a:t>procedure</a:t>
            </a:r>
            <a:r>
              <a:rPr lang="en-US" sz="2800" dirty="0" smtClean="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sz="2800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2800" dirty="0">
                <a:latin typeface="Times New Roman"/>
                <a:ea typeface="Times New Roman"/>
                <a:cs typeface="Times New Roman"/>
                <a:sym typeface="Times New Roman"/>
              </a:rPr>
              <a:t>to contain them. </a:t>
            </a:r>
            <a:br>
              <a:rPr sz="2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l" defTabSz="457200">
              <a:spcBef>
                <a:spcPts val="1200"/>
              </a:spcBef>
              <a:defRPr sz="1800" b="0"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/>
        </p:nvSpPr>
        <p:spPr>
          <a:xfrm>
            <a:off x="1313693" y="590550"/>
            <a:ext cx="1037741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 b="0"/>
            </a:pPr>
            <a:r>
              <a:rPr sz="3600" b="1" dirty="0" smtClean="0"/>
              <a:t>Genetically Modified Microorganisms (GMMOs)</a:t>
            </a:r>
            <a:endParaRPr sz="3600" b="1" dirty="0"/>
          </a:p>
        </p:txBody>
      </p:sp>
      <p:sp>
        <p:nvSpPr>
          <p:cNvPr id="35" name="Shape 35"/>
          <p:cNvSpPr/>
          <p:nvPr/>
        </p:nvSpPr>
        <p:spPr>
          <a:xfrm>
            <a:off x="6438900" y="4572000"/>
            <a:ext cx="1270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 algn="l" defTabSz="457200">
              <a:spcBef>
                <a:spcPts val="1200"/>
              </a:spcBef>
              <a:defRPr sz="1800" b="0"/>
            </a:pP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6407150" y="4648199"/>
            <a:ext cx="1905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1200" b="0">
                <a:latin typeface="Times"/>
                <a:ea typeface="Times"/>
                <a:cs typeface="Times"/>
                <a:sym typeface="Times"/>
              </a:defRPr>
            </a:lvl1pPr>
          </a:lstStyle>
          <a:p>
            <a:pPr lvl="0">
              <a:defRPr sz="1800"/>
            </a:pPr>
            <a:r>
              <a:rPr sz="120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1313692" y="1679083"/>
            <a:ext cx="11145007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b="0" dirty="0">
                <a:latin typeface="Times New Roman"/>
                <a:cs typeface="Times New Roman"/>
              </a:rPr>
              <a:t>Irrespective of the origins of </a:t>
            </a:r>
            <a:r>
              <a:rPr lang="en-US" sz="2800" b="0" dirty="0" smtClean="0">
                <a:latin typeface="Times New Roman"/>
                <a:cs typeface="Times New Roman"/>
              </a:rPr>
              <a:t>a GMMO, </a:t>
            </a:r>
            <a:r>
              <a:rPr lang="en-US" sz="2800" b="0" dirty="0">
                <a:latin typeface="Times New Roman"/>
                <a:cs typeface="Times New Roman"/>
              </a:rPr>
              <a:t>it should ideally exhibit</a:t>
            </a:r>
            <a:r>
              <a:rPr lang="en-US" sz="2800" b="0" dirty="0" smtClean="0">
                <a:latin typeface="Times New Roman"/>
                <a:cs typeface="Times New Roman"/>
              </a:rPr>
              <a:t>:</a:t>
            </a:r>
          </a:p>
          <a:p>
            <a:pPr algn="l"/>
            <a:endParaRPr lang="en-US" sz="2800" b="0" dirty="0">
              <a:latin typeface="Times New Roman"/>
              <a:cs typeface="Times New Roman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800" b="0" dirty="0">
                <a:latin typeface="Times New Roman"/>
                <a:cs typeface="Times New Roman"/>
              </a:rPr>
              <a:t>G</a:t>
            </a:r>
            <a:r>
              <a:rPr lang="en-US" sz="2800" b="0" dirty="0" smtClean="0">
                <a:latin typeface="Times New Roman"/>
                <a:cs typeface="Times New Roman"/>
              </a:rPr>
              <a:t>enetic stability</a:t>
            </a:r>
            <a:endParaRPr lang="en-US" sz="2800" b="0" dirty="0">
              <a:latin typeface="Times New Roman"/>
              <a:cs typeface="Times New Roman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800" b="0" dirty="0">
                <a:latin typeface="Times New Roman"/>
                <a:cs typeface="Times New Roman"/>
              </a:rPr>
              <a:t>E</a:t>
            </a:r>
            <a:r>
              <a:rPr lang="en-US" sz="2800" b="0" dirty="0" smtClean="0">
                <a:latin typeface="Times New Roman"/>
                <a:cs typeface="Times New Roman"/>
              </a:rPr>
              <a:t>fficient </a:t>
            </a:r>
            <a:r>
              <a:rPr lang="en-US" sz="2800" b="0" dirty="0">
                <a:latin typeface="Times New Roman"/>
                <a:cs typeface="Times New Roman"/>
              </a:rPr>
              <a:t>production of the target product, whose route of biosynthesis should preferably be well </a:t>
            </a:r>
            <a:r>
              <a:rPr lang="en-US" sz="2800" b="0" dirty="0" smtClean="0">
                <a:latin typeface="Times New Roman"/>
                <a:cs typeface="Times New Roman"/>
              </a:rPr>
              <a:t>characterized</a:t>
            </a:r>
            <a:endParaRPr lang="en-US" sz="2800" b="0" dirty="0">
              <a:latin typeface="Times New Roman"/>
              <a:cs typeface="Times New Roman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800" b="0" dirty="0">
                <a:latin typeface="Times New Roman"/>
                <a:cs typeface="Times New Roman"/>
              </a:rPr>
              <a:t>L</a:t>
            </a:r>
            <a:r>
              <a:rPr lang="en-US" sz="2800" b="0" dirty="0" smtClean="0">
                <a:latin typeface="Times New Roman"/>
                <a:cs typeface="Times New Roman"/>
              </a:rPr>
              <a:t>imited </a:t>
            </a:r>
            <a:r>
              <a:rPr lang="en-US" sz="2800" b="0" dirty="0">
                <a:latin typeface="Times New Roman"/>
                <a:cs typeface="Times New Roman"/>
              </a:rPr>
              <a:t>or no need for vitamins and additional growth </a:t>
            </a:r>
            <a:r>
              <a:rPr lang="en-US" sz="2800" b="0" dirty="0" smtClean="0">
                <a:latin typeface="Times New Roman"/>
                <a:cs typeface="Times New Roman"/>
              </a:rPr>
              <a:t>factors</a:t>
            </a:r>
            <a:endParaRPr lang="en-US" sz="2800" b="0" dirty="0">
              <a:latin typeface="Times New Roman"/>
              <a:cs typeface="Times New Roman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800" b="0" dirty="0">
                <a:latin typeface="Times New Roman"/>
                <a:cs typeface="Times New Roman"/>
              </a:rPr>
              <a:t>U</a:t>
            </a:r>
            <a:r>
              <a:rPr lang="en-US" sz="2800" b="0" dirty="0" smtClean="0">
                <a:latin typeface="Times New Roman"/>
                <a:cs typeface="Times New Roman"/>
              </a:rPr>
              <a:t>tilization </a:t>
            </a:r>
            <a:r>
              <a:rPr lang="en-US" sz="2800" b="0" dirty="0">
                <a:latin typeface="Times New Roman"/>
                <a:cs typeface="Times New Roman"/>
              </a:rPr>
              <a:t>of a wide range of low-cost and readily available carbon </a:t>
            </a:r>
            <a:r>
              <a:rPr lang="en-US" sz="2800" b="0" dirty="0" smtClean="0">
                <a:latin typeface="Times New Roman"/>
                <a:cs typeface="Times New Roman"/>
              </a:rPr>
              <a:t>sources</a:t>
            </a:r>
            <a:endParaRPr lang="en-US" sz="2800" b="0" dirty="0">
              <a:latin typeface="Times New Roman"/>
              <a:cs typeface="Times New Roman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800" b="0" dirty="0">
                <a:latin typeface="Times New Roman"/>
                <a:cs typeface="Times New Roman"/>
              </a:rPr>
              <a:t>A</a:t>
            </a:r>
            <a:r>
              <a:rPr lang="en-US" sz="2800" b="0" dirty="0" smtClean="0">
                <a:latin typeface="Times New Roman"/>
                <a:cs typeface="Times New Roman"/>
              </a:rPr>
              <a:t>menability to genetic manipulation</a:t>
            </a:r>
            <a:endParaRPr lang="en-US" sz="2800" b="0" dirty="0">
              <a:latin typeface="Times New Roman"/>
              <a:cs typeface="Times New Roman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800" b="0" dirty="0">
                <a:latin typeface="Times New Roman"/>
                <a:cs typeface="Times New Roman"/>
              </a:rPr>
              <a:t>S</a:t>
            </a:r>
            <a:r>
              <a:rPr lang="en-US" sz="2800" b="0" dirty="0" smtClean="0">
                <a:latin typeface="Times New Roman"/>
                <a:cs typeface="Times New Roman"/>
              </a:rPr>
              <a:t>afety</a:t>
            </a:r>
            <a:r>
              <a:rPr lang="en-US" sz="2800" b="0" dirty="0">
                <a:latin typeface="Times New Roman"/>
                <a:cs typeface="Times New Roman"/>
              </a:rPr>
              <a:t>, non-pathogenicity and should not produce toxic agents, unless this is the target </a:t>
            </a:r>
            <a:r>
              <a:rPr lang="en-US" sz="2800" b="0" dirty="0" smtClean="0">
                <a:latin typeface="Times New Roman"/>
                <a:cs typeface="Times New Roman"/>
              </a:rPr>
              <a:t>product</a:t>
            </a:r>
            <a:endParaRPr lang="en-US" sz="2800" b="0" dirty="0">
              <a:latin typeface="Times New Roman"/>
              <a:cs typeface="Times New Roman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800" b="0" dirty="0">
                <a:latin typeface="Times New Roman"/>
                <a:cs typeface="Times New Roman"/>
              </a:rPr>
              <a:t>R</a:t>
            </a:r>
            <a:r>
              <a:rPr lang="en-US" sz="2800" b="0" dirty="0" smtClean="0">
                <a:latin typeface="Times New Roman"/>
                <a:cs typeface="Times New Roman"/>
              </a:rPr>
              <a:t>eady </a:t>
            </a:r>
            <a:r>
              <a:rPr lang="en-US" sz="2800" b="0" dirty="0">
                <a:latin typeface="Times New Roman"/>
                <a:cs typeface="Times New Roman"/>
              </a:rPr>
              <a:t>harvesting from the </a:t>
            </a:r>
            <a:r>
              <a:rPr lang="en-US" sz="2800" b="0" dirty="0" smtClean="0">
                <a:latin typeface="Times New Roman"/>
                <a:cs typeface="Times New Roman"/>
              </a:rPr>
              <a:t>fermentation</a:t>
            </a:r>
            <a:endParaRPr lang="en-US" sz="2800" b="0" dirty="0">
              <a:latin typeface="Times New Roman"/>
              <a:cs typeface="Times New Roman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800" b="0" dirty="0">
                <a:latin typeface="Times New Roman"/>
                <a:cs typeface="Times New Roman"/>
              </a:rPr>
              <a:t>R</a:t>
            </a:r>
            <a:r>
              <a:rPr lang="en-US" sz="2800" b="0" dirty="0" smtClean="0">
                <a:latin typeface="Times New Roman"/>
                <a:cs typeface="Times New Roman"/>
              </a:rPr>
              <a:t>eady </a:t>
            </a:r>
            <a:r>
              <a:rPr lang="en-US" sz="2800" b="0" dirty="0">
                <a:latin typeface="Times New Roman"/>
                <a:cs typeface="Times New Roman"/>
              </a:rPr>
              <a:t>breakage, if the target product is </a:t>
            </a:r>
            <a:r>
              <a:rPr lang="en-US" sz="2800" b="0" dirty="0" smtClean="0">
                <a:latin typeface="Times New Roman"/>
                <a:cs typeface="Times New Roman"/>
              </a:rPr>
              <a:t>intracellular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0" dirty="0" smtClean="0">
                <a:latin typeface="Times New Roman"/>
                <a:cs typeface="Times New Roman"/>
              </a:rPr>
              <a:t>Production </a:t>
            </a:r>
            <a:r>
              <a:rPr lang="en-US" sz="2800" b="0" dirty="0">
                <a:latin typeface="Times New Roman"/>
                <a:cs typeface="Times New Roman"/>
              </a:rPr>
              <a:t>of limited byproducts to ease subsequent purification problems </a:t>
            </a:r>
          </a:p>
          <a:p>
            <a:pPr marL="457200" indent="-457200" algn="l">
              <a:buFont typeface="+mj-lt"/>
              <a:buAutoNum type="arabicPeriod"/>
            </a:pPr>
            <a:endParaRPr lang="en-US" sz="2800" b="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480219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/>
        </p:nvSpPr>
        <p:spPr>
          <a:xfrm>
            <a:off x="1313693" y="590550"/>
            <a:ext cx="1037741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 b="0"/>
            </a:pPr>
            <a:r>
              <a:rPr sz="3600" b="1" dirty="0"/>
              <a:t>Genetically Modified Microorganisms (GMMOs)</a:t>
            </a:r>
          </a:p>
        </p:txBody>
      </p:sp>
      <p:sp>
        <p:nvSpPr>
          <p:cNvPr id="35" name="Shape 35"/>
          <p:cNvSpPr/>
          <p:nvPr/>
        </p:nvSpPr>
        <p:spPr>
          <a:xfrm>
            <a:off x="6438900" y="4572000"/>
            <a:ext cx="1270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 algn="l" defTabSz="457200">
              <a:spcBef>
                <a:spcPts val="1200"/>
              </a:spcBef>
              <a:defRPr sz="1800" b="0"/>
            </a:pP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6407150" y="4648199"/>
            <a:ext cx="1905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1200" b="0">
                <a:latin typeface="Times"/>
                <a:ea typeface="Times"/>
                <a:cs typeface="Times"/>
                <a:sym typeface="Times"/>
              </a:defRPr>
            </a:lvl1pPr>
          </a:lstStyle>
          <a:p>
            <a:pPr lvl="0">
              <a:defRPr sz="1800"/>
            </a:pPr>
            <a:r>
              <a:rPr sz="120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1313693" y="2129698"/>
            <a:ext cx="10612083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200" b="0" dirty="0" smtClean="0">
                <a:latin typeface="Times New Roman"/>
                <a:cs typeface="Times New Roman"/>
              </a:rPr>
              <a:t>A  </a:t>
            </a:r>
            <a:r>
              <a:rPr lang="en-US" sz="3200" b="0" dirty="0">
                <a:latin typeface="Times New Roman"/>
                <a:cs typeface="Times New Roman"/>
              </a:rPr>
              <a:t>number of molecular tools are needed to manipulate microorganisms for the expression of desired traits. These include </a:t>
            </a:r>
            <a:endParaRPr lang="en-US" sz="3200" b="0" dirty="0" smtClean="0">
              <a:latin typeface="Times New Roman"/>
              <a:cs typeface="Times New Roman"/>
            </a:endParaRPr>
          </a:p>
          <a:p>
            <a:pPr algn="l"/>
            <a:endParaRPr lang="en-US" sz="3200" b="0" dirty="0" smtClean="0">
              <a:latin typeface="Times New Roman"/>
              <a:cs typeface="Times New Roman"/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en-US" sz="3200" b="0" dirty="0" smtClean="0">
                <a:latin typeface="Times New Roman"/>
                <a:cs typeface="Times New Roman"/>
              </a:rPr>
              <a:t>Gene </a:t>
            </a:r>
            <a:r>
              <a:rPr lang="en-US" sz="3200" b="0" dirty="0">
                <a:latin typeface="Times New Roman"/>
                <a:cs typeface="Times New Roman"/>
              </a:rPr>
              <a:t>transfer methods to deliver the selected genes into desired </a:t>
            </a:r>
            <a:r>
              <a:rPr lang="en-US" sz="3200" b="0" dirty="0" smtClean="0">
                <a:latin typeface="Times New Roman"/>
                <a:cs typeface="Times New Roman"/>
              </a:rPr>
              <a:t>hosts</a:t>
            </a:r>
          </a:p>
          <a:p>
            <a:pPr marL="742950" indent="-742950" algn="l">
              <a:buFont typeface="+mj-lt"/>
              <a:buAutoNum type="arabicPeriod"/>
            </a:pPr>
            <a:endParaRPr lang="en-US" sz="3200" b="0" dirty="0" smtClean="0">
              <a:latin typeface="Times New Roman"/>
              <a:cs typeface="Times New Roman"/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en-US" sz="3200" b="0" dirty="0" smtClean="0">
                <a:latin typeface="Times New Roman"/>
                <a:cs typeface="Times New Roman"/>
              </a:rPr>
              <a:t>Cloning vectors</a:t>
            </a:r>
          </a:p>
          <a:p>
            <a:pPr marL="742950" indent="-742950" algn="l">
              <a:buFont typeface="+mj-lt"/>
              <a:buAutoNum type="arabicPeriod"/>
            </a:pPr>
            <a:endParaRPr lang="en-US" sz="3200" b="0" dirty="0" smtClean="0">
              <a:latin typeface="Times New Roman"/>
              <a:cs typeface="Times New Roman"/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en-US" sz="3200" b="0" dirty="0" smtClean="0">
                <a:latin typeface="Times New Roman"/>
                <a:cs typeface="Times New Roman"/>
              </a:rPr>
              <a:t>Promoters </a:t>
            </a:r>
            <a:r>
              <a:rPr lang="en-US" sz="3200" b="0" dirty="0">
                <a:latin typeface="Times New Roman"/>
                <a:cs typeface="Times New Roman"/>
              </a:rPr>
              <a:t>to control the expression of the desired </a:t>
            </a:r>
            <a:r>
              <a:rPr lang="en-US" sz="3200" b="0" dirty="0" smtClean="0">
                <a:latin typeface="Times New Roman"/>
                <a:cs typeface="Times New Roman"/>
              </a:rPr>
              <a:t>genes</a:t>
            </a:r>
          </a:p>
          <a:p>
            <a:pPr marL="742950" indent="-742950" algn="l">
              <a:buFont typeface="+mj-lt"/>
              <a:buAutoNum type="arabicPeriod"/>
            </a:pPr>
            <a:endParaRPr lang="en-US" sz="3200" b="0" dirty="0" smtClean="0">
              <a:latin typeface="Times New Roman"/>
              <a:cs typeface="Times New Roman"/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en-US" sz="3200" b="0" dirty="0" smtClean="0">
                <a:latin typeface="Times New Roman"/>
                <a:cs typeface="Times New Roman"/>
              </a:rPr>
              <a:t>Selectable </a:t>
            </a:r>
            <a:r>
              <a:rPr lang="en-US" sz="3200" b="0" dirty="0">
                <a:latin typeface="Times New Roman"/>
                <a:cs typeface="Times New Roman"/>
              </a:rPr>
              <a:t>marker genes to identify </a:t>
            </a:r>
            <a:r>
              <a:rPr lang="en-US" sz="3200" b="0" dirty="0" smtClean="0">
                <a:latin typeface="Times New Roman"/>
                <a:cs typeface="Times New Roman"/>
              </a:rPr>
              <a:t>recombinant </a:t>
            </a:r>
            <a:r>
              <a:rPr lang="en-US" sz="3200" b="0" dirty="0">
                <a:latin typeface="Times New Roman"/>
                <a:cs typeface="Times New Roman"/>
              </a:rPr>
              <a:t>microorganism</a:t>
            </a:r>
          </a:p>
        </p:txBody>
      </p:sp>
    </p:spTree>
    <p:extLst>
      <p:ext uri="{BB962C8B-B14F-4D97-AF65-F5344CB8AC3E}">
        <p14:creationId xmlns:p14="http://schemas.microsoft.com/office/powerpoint/2010/main" val="27483941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291751115"/>
              </p:ext>
            </p:extLst>
          </p:nvPr>
        </p:nvGraphicFramePr>
        <p:xfrm>
          <a:off x="1371082" y="1042738"/>
          <a:ext cx="10489243" cy="74351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2644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1446848"/>
            <a:ext cx="1152525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8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l"/>
            <a:r>
              <a:rPr lang="en-US" sz="2400" dirty="0" smtClean="0">
                <a:solidFill>
                  <a:srgbClr val="222222"/>
                </a:solidFill>
                <a:latin typeface="Arial" panose="020B0604020202020204" pitchFamily="34" charset="0"/>
              </a:rPr>
              <a:t>Transduction; is the process by which a foreign DNA is introduced into a cell by a virus or a viral vector. Example is the viral transfer of DNA from one bacterium to another and hence is an example of </a:t>
            </a:r>
            <a:r>
              <a:rPr lang="en-US" sz="2400" dirty="0" err="1" smtClean="0">
                <a:solidFill>
                  <a:srgbClr val="222222"/>
                </a:solidFill>
                <a:latin typeface="Arial" panose="020B0604020202020204" pitchFamily="34" charset="0"/>
              </a:rPr>
              <a:t>Horizental</a:t>
            </a:r>
            <a:r>
              <a:rPr lang="en-US" sz="2400" dirty="0" smtClean="0">
                <a:solidFill>
                  <a:srgbClr val="222222"/>
                </a:solidFill>
                <a:latin typeface="Arial" panose="020B0604020202020204" pitchFamily="34" charset="0"/>
              </a:rPr>
              <a:t> gene transfer. </a:t>
            </a:r>
            <a:endParaRPr lang="en-US" sz="24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lang="en-US" sz="24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l"/>
            <a:r>
              <a:rPr lang="en-US" sz="2400" dirty="0" smtClean="0"/>
              <a:t>Transformation</a:t>
            </a:r>
            <a:r>
              <a:rPr lang="en-US" sz="2400" b="0" dirty="0"/>
              <a:t> is a process of horizontal gene transfer by which some </a:t>
            </a:r>
            <a:r>
              <a:rPr lang="en-US" sz="2400" dirty="0"/>
              <a:t>bacteria</a:t>
            </a:r>
            <a:r>
              <a:rPr lang="en-US" sz="2400" b="0" dirty="0"/>
              <a:t> take up foreign genetic material (naked DNA) from the environment. It was first reported in Streptococcus </a:t>
            </a:r>
            <a:r>
              <a:rPr lang="en-US" sz="2400" b="0" dirty="0" err="1"/>
              <a:t>pneumoniae</a:t>
            </a:r>
            <a:r>
              <a:rPr lang="en-US" sz="2400" b="0" dirty="0"/>
              <a:t> by Griffith in 1928. ... Such </a:t>
            </a:r>
            <a:r>
              <a:rPr lang="en-US" sz="2400" dirty="0"/>
              <a:t>bacteria</a:t>
            </a:r>
            <a:r>
              <a:rPr lang="en-US" sz="2400" b="0" dirty="0"/>
              <a:t> are termed as </a:t>
            </a:r>
            <a:r>
              <a:rPr lang="en-US" sz="2400" dirty="0"/>
              <a:t>competent </a:t>
            </a:r>
            <a:r>
              <a:rPr lang="en-US" sz="2400" b="0" dirty="0"/>
              <a:t>cells.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497836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04265" y="502257"/>
            <a:ext cx="6785106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rtl="0" latinLnBrk="1" hangingPunct="0"/>
            <a:r>
              <a:rPr lang="en-US" sz="4000" dirty="0">
                <a:solidFill>
                  <a:srgbClr val="000000"/>
                </a:solidFill>
                <a:latin typeface="Arial"/>
                <a:cs typeface="Arial"/>
              </a:rPr>
              <a:t>Cloning </a:t>
            </a:r>
            <a:r>
              <a:rPr lang="en-US" sz="4000" dirty="0" smtClean="0">
                <a:solidFill>
                  <a:srgbClr val="000000"/>
                </a:solidFill>
                <a:latin typeface="Arial"/>
                <a:cs typeface="Arial"/>
              </a:rPr>
              <a:t>vectors - </a:t>
            </a:r>
            <a:r>
              <a:rPr lang="en-US" sz="4000" i="1" dirty="0" smtClean="0">
                <a:solidFill>
                  <a:srgbClr val="000000"/>
                </a:solidFill>
                <a:latin typeface="Arial"/>
                <a:cs typeface="Arial"/>
              </a:rPr>
              <a:t>Plasmids</a:t>
            </a:r>
            <a:endParaRPr lang="en-US" sz="400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659" y="1471810"/>
            <a:ext cx="7717425" cy="77706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59846" y="9281676"/>
            <a:ext cx="300601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rtl="0" latinLnBrk="1" hangingPunct="0"/>
            <a:r>
              <a:rPr lang="en-US" altLang="ja-JP" sz="1200" b="0" i="1" dirty="0" smtClean="0">
                <a:solidFill>
                  <a:srgbClr val="000000"/>
                </a:solidFill>
                <a:latin typeface="Arial"/>
                <a:cs typeface="Arial"/>
              </a:rPr>
              <a:t>Glazer &amp; </a:t>
            </a:r>
            <a:r>
              <a:rPr lang="en-US" altLang="ja-JP" sz="1200" b="0" i="1" dirty="0" err="1" smtClean="0">
                <a:solidFill>
                  <a:srgbClr val="000000"/>
                </a:solidFill>
                <a:latin typeface="Arial"/>
                <a:cs typeface="Arial"/>
              </a:rPr>
              <a:t>Nikaido</a:t>
            </a:r>
            <a:r>
              <a:rPr lang="en-US" altLang="ja-JP" sz="1200" b="0" i="1" dirty="0" smtClean="0">
                <a:solidFill>
                  <a:srgbClr val="000000"/>
                </a:solidFill>
                <a:latin typeface="Arial"/>
                <a:cs typeface="Arial"/>
              </a:rPr>
              <a:t>, Microbial Biotechnology</a:t>
            </a:r>
            <a:endParaRPr lang="en-US" altLang="ja-JP" sz="1200" b="0" i="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1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cs typeface="Arial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676172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3062"/>
          <a:stretch/>
        </p:blipFill>
        <p:spPr>
          <a:xfrm>
            <a:off x="463294" y="1220402"/>
            <a:ext cx="7937860" cy="83501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4265" y="502257"/>
            <a:ext cx="6785106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rtl="0" latinLnBrk="1" hangingPunct="0"/>
            <a:r>
              <a:rPr lang="en-US" sz="4000" dirty="0">
                <a:solidFill>
                  <a:srgbClr val="000000"/>
                </a:solidFill>
                <a:latin typeface="Arial"/>
                <a:cs typeface="Arial"/>
              </a:rPr>
              <a:t>Cloning </a:t>
            </a:r>
            <a:r>
              <a:rPr lang="en-US" sz="4000" dirty="0" smtClean="0">
                <a:solidFill>
                  <a:srgbClr val="000000"/>
                </a:solidFill>
                <a:latin typeface="Arial"/>
                <a:cs typeface="Arial"/>
              </a:rPr>
              <a:t>vectors - </a:t>
            </a:r>
            <a:r>
              <a:rPr lang="en-US" sz="4000" i="1" dirty="0" smtClean="0">
                <a:solidFill>
                  <a:srgbClr val="000000"/>
                </a:solidFill>
                <a:latin typeface="Arial"/>
                <a:cs typeface="Arial"/>
              </a:rPr>
              <a:t>Plasmids</a:t>
            </a:r>
            <a:endParaRPr lang="en-US" sz="400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85549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3062"/>
          <a:stretch/>
        </p:blipFill>
        <p:spPr>
          <a:xfrm>
            <a:off x="463295" y="1982012"/>
            <a:ext cx="6438432" cy="67728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4265" y="502257"/>
            <a:ext cx="6785106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rtl="0" latinLnBrk="1" hangingPunct="0"/>
            <a:r>
              <a:rPr lang="en-US" sz="4000" dirty="0">
                <a:solidFill>
                  <a:srgbClr val="000000"/>
                </a:solidFill>
                <a:latin typeface="Arial"/>
                <a:cs typeface="Arial"/>
              </a:rPr>
              <a:t>Cloning </a:t>
            </a:r>
            <a:r>
              <a:rPr lang="en-US" sz="4000" dirty="0" smtClean="0">
                <a:solidFill>
                  <a:srgbClr val="000000"/>
                </a:solidFill>
                <a:latin typeface="Arial"/>
                <a:cs typeface="Arial"/>
              </a:rPr>
              <a:t>vectors - </a:t>
            </a:r>
            <a:r>
              <a:rPr lang="en-US" sz="4000" i="1" dirty="0" smtClean="0">
                <a:solidFill>
                  <a:srgbClr val="000000"/>
                </a:solidFill>
                <a:latin typeface="Arial"/>
                <a:cs typeface="Arial"/>
              </a:rPr>
              <a:t>Plasmids</a:t>
            </a:r>
            <a:endParaRPr lang="en-US" sz="400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6851"/>
          <a:stretch/>
        </p:blipFill>
        <p:spPr>
          <a:xfrm>
            <a:off x="6670155" y="2893167"/>
            <a:ext cx="6438431" cy="51326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59846" y="9281676"/>
            <a:ext cx="300601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rtl="0" latinLnBrk="1" hangingPunct="0"/>
            <a:r>
              <a:rPr lang="en-US" altLang="ja-JP" sz="1200" b="0" i="1" dirty="0" smtClean="0">
                <a:solidFill>
                  <a:srgbClr val="000000"/>
                </a:solidFill>
                <a:latin typeface="Arial"/>
                <a:cs typeface="Arial"/>
              </a:rPr>
              <a:t>Glazer &amp; </a:t>
            </a:r>
            <a:r>
              <a:rPr lang="en-US" altLang="ja-JP" sz="1200" b="0" i="1" dirty="0" err="1" smtClean="0">
                <a:solidFill>
                  <a:srgbClr val="000000"/>
                </a:solidFill>
                <a:latin typeface="Arial"/>
                <a:cs typeface="Arial"/>
              </a:rPr>
              <a:t>Nikaido</a:t>
            </a:r>
            <a:r>
              <a:rPr lang="en-US" altLang="ja-JP" sz="1200" b="0" i="1" dirty="0" smtClean="0">
                <a:solidFill>
                  <a:srgbClr val="000000"/>
                </a:solidFill>
                <a:latin typeface="Arial"/>
                <a:cs typeface="Arial"/>
              </a:rPr>
              <a:t>, Microbial Biotechnology</a:t>
            </a:r>
            <a:endParaRPr lang="en-US" altLang="ja-JP" sz="1200" b="0" i="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1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cs typeface="Arial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424810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22875" y="1702689"/>
            <a:ext cx="11076420" cy="7294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ja-JP" b="0" dirty="0" smtClean="0"/>
              <a:t>Gene expression :</a:t>
            </a:r>
          </a:p>
          <a:p>
            <a:pPr algn="l"/>
            <a:endParaRPr lang="en-US" altLang="ja-JP" b="0" dirty="0" smtClean="0"/>
          </a:p>
          <a:p>
            <a:pPr marL="742950" indent="-742950" algn="l">
              <a:buFont typeface="+mj-lt"/>
              <a:buAutoNum type="arabicPeriod"/>
            </a:pPr>
            <a:r>
              <a:rPr lang="en-US" altLang="ja-JP" dirty="0" smtClean="0"/>
              <a:t>Constitutive</a:t>
            </a:r>
          </a:p>
          <a:p>
            <a:pPr marL="571500" lvl="8" indent="-571500" algn="l">
              <a:buFontTx/>
              <a:buChar char="-"/>
            </a:pPr>
            <a:r>
              <a:rPr lang="en-US" altLang="ja-JP" b="0" dirty="0" smtClean="0"/>
              <a:t>Housekeeping </a:t>
            </a:r>
          </a:p>
          <a:p>
            <a:pPr marL="571500" lvl="8" indent="-571500" algn="l">
              <a:buFontTx/>
              <a:buChar char="-"/>
            </a:pPr>
            <a:r>
              <a:rPr lang="en-US" altLang="ja-JP" b="0" dirty="0" smtClean="0"/>
              <a:t>e.g. </a:t>
            </a:r>
            <a:r>
              <a:rPr lang="en-US" altLang="ja-JP" b="0" dirty="0"/>
              <a:t>ribosomal </a:t>
            </a:r>
            <a:r>
              <a:rPr lang="en-US" altLang="ja-JP" b="0" dirty="0" smtClean="0"/>
              <a:t>proteins</a:t>
            </a:r>
          </a:p>
          <a:p>
            <a:pPr lvl="8" indent="0" algn="l"/>
            <a:endParaRPr lang="en-US" altLang="ja-JP" b="0" dirty="0" smtClean="0"/>
          </a:p>
          <a:p>
            <a:pPr marL="742950" indent="-742950" algn="l">
              <a:buFont typeface="+mj-lt"/>
              <a:buAutoNum type="arabicPeriod"/>
            </a:pPr>
            <a:r>
              <a:rPr lang="en-US" altLang="ja-JP" dirty="0" smtClean="0"/>
              <a:t>Inducible</a:t>
            </a:r>
          </a:p>
          <a:p>
            <a:pPr marL="571500" indent="-571500" algn="l">
              <a:buFontTx/>
              <a:buChar char="-"/>
            </a:pPr>
            <a:r>
              <a:rPr lang="en-US" altLang="ja-JP" b="0" dirty="0" smtClean="0"/>
              <a:t>Catabolic </a:t>
            </a:r>
            <a:r>
              <a:rPr lang="en-US" altLang="ja-JP" b="0" dirty="0"/>
              <a:t>(</a:t>
            </a:r>
            <a:r>
              <a:rPr lang="en-US" altLang="ja-JP" b="0" dirty="0" err="1"/>
              <a:t>Degradative</a:t>
            </a:r>
            <a:r>
              <a:rPr lang="en-US" altLang="ja-JP" b="0" dirty="0" smtClean="0"/>
              <a:t>)</a:t>
            </a:r>
          </a:p>
          <a:p>
            <a:pPr marL="571500" indent="-571500" algn="l">
              <a:buFontTx/>
              <a:buChar char="-"/>
            </a:pPr>
            <a:r>
              <a:rPr lang="en-US" altLang="ja-JP" b="0" dirty="0" smtClean="0"/>
              <a:t>e.g. </a:t>
            </a:r>
            <a:r>
              <a:rPr lang="en-US" altLang="ja-JP" b="0" dirty="0"/>
              <a:t>Carbohydrate (lactose) Utilization </a:t>
            </a:r>
            <a:r>
              <a:rPr lang="en-US" altLang="ja-JP" b="0" dirty="0" smtClean="0"/>
              <a:t> </a:t>
            </a:r>
          </a:p>
          <a:p>
            <a:pPr algn="l"/>
            <a:r>
              <a:rPr lang="en-US" altLang="ja-JP" b="0" dirty="0" smtClean="0"/>
              <a:t> </a:t>
            </a:r>
          </a:p>
          <a:p>
            <a:pPr marL="742950" indent="-742950" algn="l">
              <a:buFont typeface="+mj-lt"/>
              <a:buAutoNum type="arabicPeriod" startAt="3"/>
            </a:pPr>
            <a:r>
              <a:rPr lang="en-US" altLang="ja-JP" dirty="0" smtClean="0"/>
              <a:t>Repressible</a:t>
            </a:r>
          </a:p>
          <a:p>
            <a:pPr marL="571500" lvl="0" indent="-571500" algn="l">
              <a:buFontTx/>
              <a:buChar char="-"/>
            </a:pPr>
            <a:r>
              <a:rPr lang="en-US" altLang="ja-JP" b="0" dirty="0"/>
              <a:t>Anabolic (Biosynthetic</a:t>
            </a:r>
            <a:r>
              <a:rPr lang="en-US" altLang="ja-JP" b="0" dirty="0" smtClean="0"/>
              <a:t>)</a:t>
            </a:r>
            <a:endParaRPr lang="en-US" altLang="ja-JP" dirty="0" smtClean="0"/>
          </a:p>
          <a:p>
            <a:pPr marL="571500" indent="-571500" algn="l">
              <a:buFontTx/>
              <a:buChar char="-"/>
            </a:pPr>
            <a:r>
              <a:rPr lang="en-US" altLang="ja-JP" b="0" dirty="0" smtClean="0"/>
              <a:t>e.g. Amino </a:t>
            </a:r>
            <a:r>
              <a:rPr lang="en-US" altLang="ja-JP" b="0" dirty="0"/>
              <a:t>Acid (Tryptophan) </a:t>
            </a:r>
            <a:r>
              <a:rPr lang="en-US" altLang="ja-JP" b="0" dirty="0" smtClean="0"/>
              <a:t>Biosynthesis</a:t>
            </a:r>
            <a:endParaRPr lang="ja-JP" altLang="en-US" b="0" dirty="0"/>
          </a:p>
        </p:txBody>
      </p:sp>
      <p:sp>
        <p:nvSpPr>
          <p:cNvPr id="3" name="TextBox 2"/>
          <p:cNvSpPr txBox="1"/>
          <p:nvPr/>
        </p:nvSpPr>
        <p:spPr>
          <a:xfrm>
            <a:off x="5113780" y="502257"/>
            <a:ext cx="2766077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rtl="0" latinLnBrk="1" hangingPunct="0"/>
            <a:r>
              <a:rPr lang="en-US" sz="4000" dirty="0" smtClean="0">
                <a:solidFill>
                  <a:srgbClr val="000000"/>
                </a:solidFill>
                <a:latin typeface="Arial"/>
                <a:cs typeface="Arial"/>
              </a:rPr>
              <a:t>Promoters</a:t>
            </a:r>
            <a:endParaRPr lang="en-US" sz="400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6796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4227482" y="3643863"/>
            <a:ext cx="4603267" cy="2376750"/>
          </a:xfrm>
          <a:prstGeom prst="ellipse">
            <a:avLst/>
          </a:prstGeom>
          <a:ln w="76200" cmpd="sng">
            <a:solidFill>
              <a:srgbClr val="0365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+mn-cs"/>
                <a:sym typeface="Helvetica Light"/>
              </a:rPr>
              <a:t>Strategies of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+mn-cs"/>
                <a:sym typeface="Helvetica Light"/>
              </a:rPr>
              <a:t>creating GMMO</a:t>
            </a:r>
            <a:endParaRPr kumimoji="0" lang="en-US" sz="320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Arial"/>
              <a:ea typeface="+mn-ea"/>
              <a:cs typeface="+mn-cs"/>
              <a:sym typeface="Helvetica Light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751281" y="2816181"/>
            <a:ext cx="952401" cy="975077"/>
          </a:xfrm>
          <a:prstGeom prst="straightConnector1">
            <a:avLst/>
          </a:prstGeom>
          <a:noFill/>
          <a:ln w="76200" cap="flat" cmpd="sng">
            <a:solidFill>
              <a:srgbClr val="0365C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ectangle 8"/>
          <p:cNvSpPr/>
          <p:nvPr/>
        </p:nvSpPr>
        <p:spPr>
          <a:xfrm>
            <a:off x="1392956" y="1161879"/>
            <a:ext cx="47166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hangingPunct="0"/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Overexpression of the </a:t>
            </a:r>
            <a:r>
              <a:rPr lang="en-US" sz="2800" b="0" kern="1200" dirty="0" smtClean="0">
                <a:solidFill>
                  <a:srgbClr val="000000"/>
                </a:solidFill>
                <a:latin typeface="Arial"/>
                <a:cs typeface="Arial"/>
              </a:rPr>
              <a:t>target gene </a:t>
            </a:r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in the native host </a:t>
            </a:r>
            <a:r>
              <a:rPr lang="en-US" sz="2800" b="0" kern="1200" dirty="0" smtClean="0">
                <a:solidFill>
                  <a:srgbClr val="000000"/>
                </a:solidFill>
                <a:latin typeface="Arial"/>
                <a:cs typeface="Arial"/>
              </a:rPr>
              <a:t>or heterologous </a:t>
            </a:r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host</a:t>
            </a:r>
          </a:p>
        </p:txBody>
      </p:sp>
    </p:spTree>
    <p:extLst>
      <p:ext uri="{BB962C8B-B14F-4D97-AF65-F5344CB8AC3E}">
        <p14:creationId xmlns:p14="http://schemas.microsoft.com/office/powerpoint/2010/main" val="25634046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040" y="1778649"/>
            <a:ext cx="5902722" cy="77847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92956" y="432858"/>
            <a:ext cx="1015380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hangingPunct="0"/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Overexpression of the </a:t>
            </a:r>
            <a:r>
              <a:rPr lang="en-US" sz="2800" b="0" kern="1200" dirty="0" smtClean="0">
                <a:solidFill>
                  <a:srgbClr val="000000"/>
                </a:solidFill>
                <a:latin typeface="Arial"/>
                <a:cs typeface="Arial"/>
              </a:rPr>
              <a:t>target gene </a:t>
            </a:r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in the native host </a:t>
            </a:r>
            <a:r>
              <a:rPr lang="en-US" sz="2800" b="0" kern="1200" dirty="0" smtClean="0">
                <a:solidFill>
                  <a:srgbClr val="000000"/>
                </a:solidFill>
                <a:latin typeface="Arial"/>
                <a:cs typeface="Arial"/>
              </a:rPr>
              <a:t>or heterologous </a:t>
            </a:r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host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9846" y="9281676"/>
            <a:ext cx="300601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rtl="0" latinLnBrk="1" hangingPunct="0"/>
            <a:r>
              <a:rPr lang="en-US" altLang="ja-JP" sz="1200" b="0" i="1" dirty="0" smtClean="0">
                <a:solidFill>
                  <a:srgbClr val="000000"/>
                </a:solidFill>
                <a:latin typeface="Arial"/>
                <a:cs typeface="Arial"/>
              </a:rPr>
              <a:t>Glazer &amp; </a:t>
            </a:r>
            <a:r>
              <a:rPr lang="en-US" altLang="ja-JP" sz="1200" b="0" i="1" dirty="0" err="1" smtClean="0">
                <a:solidFill>
                  <a:srgbClr val="000000"/>
                </a:solidFill>
                <a:latin typeface="Arial"/>
                <a:cs typeface="Arial"/>
              </a:rPr>
              <a:t>Nikaido</a:t>
            </a:r>
            <a:r>
              <a:rPr lang="en-US" altLang="ja-JP" sz="1200" b="0" i="1" dirty="0" smtClean="0">
                <a:solidFill>
                  <a:srgbClr val="000000"/>
                </a:solidFill>
                <a:latin typeface="Arial"/>
                <a:cs typeface="Arial"/>
              </a:rPr>
              <a:t>, Microbial Biotechnology</a:t>
            </a:r>
            <a:endParaRPr lang="en-US" altLang="ja-JP" sz="1200" b="0" i="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1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cs typeface="Arial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315983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4227482" y="3643863"/>
            <a:ext cx="4603267" cy="2376750"/>
          </a:xfrm>
          <a:prstGeom prst="ellipse">
            <a:avLst/>
          </a:prstGeom>
          <a:ln w="76200" cmpd="sng">
            <a:solidFill>
              <a:srgbClr val="0365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+mn-cs"/>
                <a:sym typeface="Helvetica Light"/>
              </a:rPr>
              <a:t>Strategies of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+mn-cs"/>
                <a:sym typeface="Helvetica Light"/>
              </a:rPr>
              <a:t>creating GMMO</a:t>
            </a:r>
            <a:endParaRPr kumimoji="0" lang="en-US" sz="320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Arial"/>
              <a:ea typeface="+mn-ea"/>
              <a:cs typeface="+mn-cs"/>
              <a:sym typeface="Helvetica Light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8331872" y="2816181"/>
            <a:ext cx="952401" cy="975077"/>
          </a:xfrm>
          <a:prstGeom prst="straightConnector1">
            <a:avLst/>
          </a:prstGeom>
          <a:noFill/>
          <a:ln w="76200" cap="flat" cmpd="sng">
            <a:solidFill>
              <a:srgbClr val="0365C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3751281" y="2816181"/>
            <a:ext cx="952401" cy="975077"/>
          </a:xfrm>
          <a:prstGeom prst="straightConnector1">
            <a:avLst/>
          </a:prstGeom>
          <a:noFill/>
          <a:ln w="76200" cap="flat" cmpd="sng">
            <a:solidFill>
              <a:srgbClr val="0365C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ectangle 8"/>
          <p:cNvSpPr/>
          <p:nvPr/>
        </p:nvSpPr>
        <p:spPr>
          <a:xfrm>
            <a:off x="1392956" y="1161879"/>
            <a:ext cx="47166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hangingPunct="0"/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Overexpression of the </a:t>
            </a:r>
            <a:r>
              <a:rPr lang="en-US" sz="2800" b="0" kern="1200" dirty="0" smtClean="0">
                <a:solidFill>
                  <a:srgbClr val="000000"/>
                </a:solidFill>
                <a:latin typeface="Arial"/>
                <a:cs typeface="Arial"/>
              </a:rPr>
              <a:t>target gene </a:t>
            </a:r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in the native host </a:t>
            </a:r>
            <a:r>
              <a:rPr lang="en-US" sz="2800" b="0" kern="1200" dirty="0" smtClean="0">
                <a:solidFill>
                  <a:srgbClr val="000000"/>
                </a:solidFill>
                <a:latin typeface="Arial"/>
                <a:cs typeface="Arial"/>
              </a:rPr>
              <a:t>or heterologous </a:t>
            </a:r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25948" y="1161879"/>
            <a:ext cx="47166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hangingPunct="0"/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Alteration of gene sequence resulting in a change in the target protein sequence </a:t>
            </a:r>
          </a:p>
        </p:txBody>
      </p:sp>
    </p:spTree>
    <p:extLst>
      <p:ext uri="{BB962C8B-B14F-4D97-AF65-F5344CB8AC3E}">
        <p14:creationId xmlns:p14="http://schemas.microsoft.com/office/powerpoint/2010/main" val="21762715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0435" y="1905298"/>
            <a:ext cx="1077824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222222"/>
                </a:solidFill>
                <a:latin typeface="Arial" panose="020B0604020202020204" pitchFamily="34" charset="0"/>
              </a:rPr>
              <a:t>The basic procedure </a:t>
            </a:r>
            <a:r>
              <a:rPr lang="en-US" b="0" dirty="0" smtClean="0">
                <a:solidFill>
                  <a:srgbClr val="222222"/>
                </a:solidFill>
                <a:latin typeface="Arial" panose="020B0604020202020204" pitchFamily="34" charset="0"/>
              </a:rPr>
              <a:t>requires; </a:t>
            </a:r>
          </a:p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US" b="0" dirty="0">
                <a:solidFill>
                  <a:srgbClr val="222222"/>
                </a:solidFill>
                <a:latin typeface="Arial" panose="020B0604020202020204" pitchFamily="34" charset="0"/>
              </a:rPr>
              <a:t>T</a:t>
            </a:r>
            <a:r>
              <a:rPr lang="en-US" sz="2800" b="0" dirty="0" smtClean="0">
                <a:solidFill>
                  <a:srgbClr val="222222"/>
                </a:solidFill>
                <a:latin typeface="Arial" panose="020B0604020202020204" pitchFamily="34" charset="0"/>
              </a:rPr>
              <a:t>he synthesis of </a:t>
            </a:r>
            <a:r>
              <a:rPr lang="en-US" sz="2800" b="0" dirty="0">
                <a:solidFill>
                  <a:srgbClr val="222222"/>
                </a:solidFill>
                <a:latin typeface="Arial" panose="020B0604020202020204" pitchFamily="34" charset="0"/>
              </a:rPr>
              <a:t>a short DNA primer. This synthetic primer contains the desired mutation and is complementary to the template DNA around the mutation site so it </a:t>
            </a:r>
            <a:r>
              <a:rPr lang="en-US" sz="2800" b="0" dirty="0" smtClean="0">
                <a:solidFill>
                  <a:srgbClr val="222222"/>
                </a:solidFill>
                <a:latin typeface="Arial" panose="020B0604020202020204" pitchFamily="34" charset="0"/>
              </a:rPr>
              <a:t>can hybridize</a:t>
            </a:r>
            <a:r>
              <a:rPr lang="en-US" sz="2800" b="0" dirty="0">
                <a:solidFill>
                  <a:srgbClr val="222222"/>
                </a:solidFill>
                <a:latin typeface="Arial" panose="020B0604020202020204" pitchFamily="34" charset="0"/>
              </a:rPr>
              <a:t> with the DNA in the gene of interest. The mutation may be a single base change (a </a:t>
            </a:r>
            <a:r>
              <a:rPr lang="en-US" sz="2800" b="0" dirty="0" smtClean="0">
                <a:solidFill>
                  <a:srgbClr val="222222"/>
                </a:solidFill>
                <a:latin typeface="Arial" panose="020B0604020202020204" pitchFamily="34" charset="0"/>
              </a:rPr>
              <a:t>point mutation), </a:t>
            </a:r>
            <a:r>
              <a:rPr lang="en-US" sz="2800" b="0" dirty="0">
                <a:solidFill>
                  <a:srgbClr val="222222"/>
                </a:solidFill>
                <a:latin typeface="Arial" panose="020B0604020202020204" pitchFamily="34" charset="0"/>
              </a:rPr>
              <a:t>multiple base changes, </a:t>
            </a:r>
            <a:r>
              <a:rPr lang="en-US" sz="2800" b="0" dirty="0" smtClean="0">
                <a:solidFill>
                  <a:srgbClr val="222222"/>
                </a:solidFill>
                <a:latin typeface="Arial" panose="020B0604020202020204" pitchFamily="34" charset="0"/>
              </a:rPr>
              <a:t>deletion, or insertion.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800" b="0" dirty="0" smtClean="0">
                <a:solidFill>
                  <a:srgbClr val="222222"/>
                </a:solidFill>
                <a:latin typeface="Arial" panose="020B0604020202020204" pitchFamily="34" charset="0"/>
              </a:rPr>
              <a:t>The </a:t>
            </a:r>
            <a:r>
              <a:rPr lang="en-US" sz="2800" b="0" dirty="0">
                <a:solidFill>
                  <a:srgbClr val="222222"/>
                </a:solidFill>
                <a:latin typeface="Arial" panose="020B0604020202020204" pitchFamily="34" charset="0"/>
              </a:rPr>
              <a:t>single-strand primer is then extended using a </a:t>
            </a:r>
            <a:r>
              <a:rPr lang="en-US" sz="2800" b="0" dirty="0" smtClean="0">
                <a:solidFill>
                  <a:srgbClr val="222222"/>
                </a:solidFill>
                <a:latin typeface="Arial" panose="020B0604020202020204" pitchFamily="34" charset="0"/>
              </a:rPr>
              <a:t>DNA polymerase </a:t>
            </a:r>
            <a:r>
              <a:rPr lang="en-US" sz="2800" b="0" dirty="0">
                <a:solidFill>
                  <a:srgbClr val="222222"/>
                </a:solidFill>
                <a:latin typeface="Arial" panose="020B0604020202020204" pitchFamily="34" charset="0"/>
              </a:rPr>
              <a:t>which copies the rest of the gene. </a:t>
            </a:r>
            <a:endParaRPr lang="en-US" sz="2800" b="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800" b="0" dirty="0" smtClean="0">
                <a:solidFill>
                  <a:srgbClr val="222222"/>
                </a:solidFill>
                <a:latin typeface="Arial" panose="020B0604020202020204" pitchFamily="34" charset="0"/>
              </a:rPr>
              <a:t>The </a:t>
            </a:r>
            <a:r>
              <a:rPr lang="en-US" sz="2800" b="0" dirty="0">
                <a:solidFill>
                  <a:srgbClr val="222222"/>
                </a:solidFill>
                <a:latin typeface="Arial" panose="020B0604020202020204" pitchFamily="34" charset="0"/>
              </a:rPr>
              <a:t>gene thus copied contains the mutated site, and is then introduced into a host cell as a vector and </a:t>
            </a:r>
            <a:r>
              <a:rPr lang="en-US" sz="2800" b="0" dirty="0" smtClean="0">
                <a:solidFill>
                  <a:srgbClr val="222222"/>
                </a:solidFill>
                <a:latin typeface="Arial" panose="020B0604020202020204" pitchFamily="34" charset="0"/>
              </a:rPr>
              <a:t>cloned.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2800" b="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800" b="0" dirty="0" smtClean="0">
                <a:solidFill>
                  <a:srgbClr val="222222"/>
                </a:solidFill>
                <a:latin typeface="Arial" panose="020B0604020202020204" pitchFamily="34" charset="0"/>
              </a:rPr>
              <a:t>Finally</a:t>
            </a:r>
            <a:r>
              <a:rPr lang="en-US" sz="2800" b="0" dirty="0">
                <a:solidFill>
                  <a:srgbClr val="222222"/>
                </a:solidFill>
                <a:latin typeface="Arial" panose="020B0604020202020204" pitchFamily="34" charset="0"/>
              </a:rPr>
              <a:t>, mutants are selected by </a:t>
            </a:r>
            <a:r>
              <a:rPr lang="en-US" sz="2800" b="0" dirty="0" smtClean="0">
                <a:solidFill>
                  <a:srgbClr val="222222"/>
                </a:solidFill>
                <a:latin typeface="Arial" panose="020B0604020202020204" pitchFamily="34" charset="0"/>
              </a:rPr>
              <a:t>DNA sequencing  </a:t>
            </a:r>
            <a:r>
              <a:rPr lang="en-US" sz="2800" b="0" dirty="0">
                <a:solidFill>
                  <a:srgbClr val="222222"/>
                </a:solidFill>
                <a:latin typeface="Arial" panose="020B0604020202020204" pitchFamily="34" charset="0"/>
              </a:rPr>
              <a:t> to check that they contain the desired mutation.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2684834" y="856034"/>
            <a:ext cx="8482519" cy="66148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</a:rPr>
              <a:t>Site Directed mutagenesis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032361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70002"/>
          <a:stretch/>
        </p:blipFill>
        <p:spPr>
          <a:xfrm>
            <a:off x="540887" y="2098554"/>
            <a:ext cx="5056115" cy="37747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28808" y="543723"/>
            <a:ext cx="107942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hangingPunct="0"/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Alteration of gene sequence resulting in a change in the target protein sequence </a:t>
            </a:r>
            <a:r>
              <a:rPr lang="en-US" sz="2800" b="0" kern="1200" dirty="0" smtClean="0">
                <a:solidFill>
                  <a:srgbClr val="000000"/>
                </a:solidFill>
                <a:latin typeface="Arial"/>
                <a:cs typeface="Arial"/>
              </a:rPr>
              <a:t> using site directed mutagenesis </a:t>
            </a:r>
            <a:endParaRPr lang="en-US" sz="2800" b="0" kern="12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92511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70002"/>
          <a:stretch/>
        </p:blipFill>
        <p:spPr>
          <a:xfrm>
            <a:off x="540887" y="2098554"/>
            <a:ext cx="5056115" cy="37747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28808" y="543723"/>
            <a:ext cx="107942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hangingPunct="0"/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Alteration of gene sequence resulting in a change in the target protein sequence 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032215" y="4679847"/>
            <a:ext cx="5056115" cy="5544089"/>
            <a:chOff x="4032215" y="4679847"/>
            <a:chExt cx="5056115" cy="554408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t="30282" b="32154"/>
            <a:stretch/>
          </p:blipFill>
          <p:spPr>
            <a:xfrm>
              <a:off x="4032215" y="4885617"/>
              <a:ext cx="5056115" cy="4726881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6020305" y="4679847"/>
              <a:ext cx="517370" cy="940672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ja-JP" alt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020305" y="9283264"/>
              <a:ext cx="517370" cy="940672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ja-JP" alt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cxnSp>
        <p:nvCxnSpPr>
          <p:cNvPr id="11" name="Straight Arrow Connector 10"/>
          <p:cNvCxnSpPr/>
          <p:nvPr/>
        </p:nvCxnSpPr>
        <p:spPr>
          <a:xfrm>
            <a:off x="4173316" y="5591123"/>
            <a:ext cx="517369" cy="470336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0580998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70002"/>
          <a:stretch/>
        </p:blipFill>
        <p:spPr>
          <a:xfrm>
            <a:off x="540887" y="2098554"/>
            <a:ext cx="5056115" cy="37747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28808" y="543723"/>
            <a:ext cx="107942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hangingPunct="0"/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Alteration of gene sequence resulting in a change in the target protein sequence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70552"/>
          <a:stretch/>
        </p:blipFill>
        <p:spPr>
          <a:xfrm>
            <a:off x="8182935" y="2355902"/>
            <a:ext cx="5056115" cy="3705557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4032215" y="4679847"/>
            <a:ext cx="5056115" cy="5544089"/>
            <a:chOff x="4032215" y="4679847"/>
            <a:chExt cx="5056115" cy="554408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t="30282" b="32154"/>
            <a:stretch/>
          </p:blipFill>
          <p:spPr>
            <a:xfrm>
              <a:off x="4032215" y="4885617"/>
              <a:ext cx="5056115" cy="4726881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6020305" y="4679847"/>
              <a:ext cx="517370" cy="940672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ja-JP" alt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020305" y="9283264"/>
              <a:ext cx="517370" cy="940672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ja-JP" alt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cxnSp>
        <p:nvCxnSpPr>
          <p:cNvPr id="11" name="Straight Arrow Connector 10"/>
          <p:cNvCxnSpPr/>
          <p:nvPr/>
        </p:nvCxnSpPr>
        <p:spPr>
          <a:xfrm>
            <a:off x="4173316" y="5591123"/>
            <a:ext cx="517369" cy="470336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/>
          <p:cNvCxnSpPr/>
          <p:nvPr/>
        </p:nvCxnSpPr>
        <p:spPr>
          <a:xfrm flipV="1">
            <a:off x="8240807" y="5591123"/>
            <a:ext cx="517369" cy="470336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extBox 13"/>
          <p:cNvSpPr txBox="1"/>
          <p:nvPr/>
        </p:nvSpPr>
        <p:spPr>
          <a:xfrm>
            <a:off x="9959846" y="9281676"/>
            <a:ext cx="300601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rtl="0" latinLnBrk="1" hangingPunct="0"/>
            <a:r>
              <a:rPr lang="en-US" altLang="ja-JP" sz="1200" b="0" i="1" dirty="0" smtClean="0">
                <a:solidFill>
                  <a:srgbClr val="000000"/>
                </a:solidFill>
                <a:latin typeface="Arial"/>
                <a:cs typeface="Arial"/>
              </a:rPr>
              <a:t>Glazer &amp; </a:t>
            </a:r>
            <a:r>
              <a:rPr lang="en-US" altLang="ja-JP" sz="1200" b="0" i="1" dirty="0" err="1" smtClean="0">
                <a:solidFill>
                  <a:srgbClr val="000000"/>
                </a:solidFill>
                <a:latin typeface="Arial"/>
                <a:cs typeface="Arial"/>
              </a:rPr>
              <a:t>Nikaido</a:t>
            </a:r>
            <a:r>
              <a:rPr lang="en-US" altLang="ja-JP" sz="1200" b="0" i="1" dirty="0" smtClean="0">
                <a:solidFill>
                  <a:srgbClr val="000000"/>
                </a:solidFill>
                <a:latin typeface="Arial"/>
                <a:cs typeface="Arial"/>
              </a:rPr>
              <a:t>, Microbial Biotechnology</a:t>
            </a:r>
            <a:endParaRPr lang="en-US" altLang="ja-JP" sz="1200" b="0" i="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1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cs typeface="Arial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3613076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4227482" y="3643863"/>
            <a:ext cx="4603267" cy="2376750"/>
          </a:xfrm>
          <a:prstGeom prst="ellipse">
            <a:avLst/>
          </a:prstGeom>
          <a:ln w="76200" cmpd="sng">
            <a:solidFill>
              <a:srgbClr val="0365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+mn-cs"/>
                <a:sym typeface="Helvetica Light"/>
              </a:rPr>
              <a:t>Strategies of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+mn-cs"/>
                <a:sym typeface="Helvetica Light"/>
              </a:rPr>
              <a:t>creating GMMO</a:t>
            </a:r>
            <a:endParaRPr kumimoji="0" lang="en-US" sz="320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Arial"/>
              <a:ea typeface="+mn-ea"/>
              <a:cs typeface="+mn-cs"/>
              <a:sym typeface="Helvetica Light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8331872" y="2816181"/>
            <a:ext cx="952401" cy="975077"/>
          </a:xfrm>
          <a:prstGeom prst="straightConnector1">
            <a:avLst/>
          </a:prstGeom>
          <a:noFill/>
          <a:ln w="76200" cap="flat" cmpd="sng">
            <a:solidFill>
              <a:srgbClr val="0365C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Arrow Connector 5"/>
          <p:cNvCxnSpPr/>
          <p:nvPr/>
        </p:nvCxnSpPr>
        <p:spPr>
          <a:xfrm>
            <a:off x="6505108" y="6270051"/>
            <a:ext cx="0" cy="975077"/>
          </a:xfrm>
          <a:prstGeom prst="straightConnector1">
            <a:avLst/>
          </a:prstGeom>
          <a:noFill/>
          <a:ln w="76200" cap="flat" cmpd="sng">
            <a:solidFill>
              <a:srgbClr val="0365C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3751281" y="2816181"/>
            <a:ext cx="952401" cy="975077"/>
          </a:xfrm>
          <a:prstGeom prst="straightConnector1">
            <a:avLst/>
          </a:prstGeom>
          <a:noFill/>
          <a:ln w="76200" cap="flat" cmpd="sng">
            <a:solidFill>
              <a:srgbClr val="0365C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ectangle 8"/>
          <p:cNvSpPr/>
          <p:nvPr/>
        </p:nvSpPr>
        <p:spPr>
          <a:xfrm>
            <a:off x="1392956" y="1161879"/>
            <a:ext cx="47166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hangingPunct="0"/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Overexpression of the </a:t>
            </a:r>
            <a:r>
              <a:rPr lang="en-US" sz="2800" b="0" kern="1200" dirty="0" smtClean="0">
                <a:solidFill>
                  <a:srgbClr val="000000"/>
                </a:solidFill>
                <a:latin typeface="Arial"/>
                <a:cs typeface="Arial"/>
              </a:rPr>
              <a:t>target gene </a:t>
            </a:r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in the native host </a:t>
            </a:r>
            <a:r>
              <a:rPr lang="en-US" sz="2800" b="0" kern="1200" dirty="0" smtClean="0">
                <a:solidFill>
                  <a:srgbClr val="000000"/>
                </a:solidFill>
                <a:latin typeface="Arial"/>
                <a:cs typeface="Arial"/>
              </a:rPr>
              <a:t>or heterologous </a:t>
            </a:r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host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0571" y="7527558"/>
            <a:ext cx="430907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hangingPunct="0"/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Disruption or complete removal of the target gene or pathway.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25948" y="1161879"/>
            <a:ext cx="47166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 hangingPunct="0"/>
            <a:r>
              <a:rPr lang="en-US" sz="2800" b="0" kern="1200" dirty="0">
                <a:solidFill>
                  <a:srgbClr val="000000"/>
                </a:solidFill>
                <a:latin typeface="Arial"/>
                <a:cs typeface="Arial"/>
              </a:rPr>
              <a:t>Alteration of gene sequence resulting in a change in the target protein sequence </a:t>
            </a:r>
          </a:p>
        </p:txBody>
      </p:sp>
    </p:spTree>
    <p:extLst>
      <p:ext uri="{BB962C8B-B14F-4D97-AF65-F5344CB8AC3E}">
        <p14:creationId xmlns:p14="http://schemas.microsoft.com/office/powerpoint/2010/main" val="34810372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3158</TotalTime>
  <Words>562</Words>
  <Application>Microsoft Office PowerPoint</Application>
  <PresentationFormat>Custom</PresentationFormat>
  <Paragraphs>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Helvetica</vt:lpstr>
      <vt:lpstr>Helvetica Light</vt:lpstr>
      <vt:lpstr>Helvetica Neue</vt:lpstr>
      <vt:lpstr>Times</vt:lpstr>
      <vt:lpstr>Times New Roman</vt:lpstr>
      <vt:lpstr>Wingdings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Ziad Jaradat</cp:lastModifiedBy>
  <cp:revision>39</cp:revision>
  <dcterms:modified xsi:type="dcterms:W3CDTF">2019-09-29T08:05:10Z</dcterms:modified>
</cp:coreProperties>
</file>