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258" r:id="rId4"/>
    <p:sldId id="270" r:id="rId5"/>
    <p:sldId id="260" r:id="rId6"/>
    <p:sldId id="266" r:id="rId7"/>
    <p:sldId id="268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5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-56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966D3-A5E9-4FDA-BE41-45D0362CFCF6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C245-9F61-4DD7-A78E-69885D214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1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DB13-B9BA-4233-945C-1A336727B8A8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27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4607-0123-4A3B-AA4D-17E34CFD98E0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2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C0D-850A-4AE2-B182-1618076C2FA2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7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F9C0E-A35C-4B6B-984B-514F51ECEADC}" type="datetime12">
              <a:rPr lang="en-US" smtClean="0"/>
              <a:t>8:52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7DE-0140-40C2-B75C-4044683F33CD}" type="datetime12">
              <a:rPr lang="en-US" smtClean="0"/>
              <a:t>8:52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5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A09CC-B343-457C-851D-DF99ECD2E162}" type="datetime12">
              <a:rPr lang="en-US" smtClean="0"/>
              <a:t>8:52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81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94D4D-54DA-43C4-B456-96BFE136AA6B}" type="datetime12">
              <a:rPr lang="en-US" smtClean="0"/>
              <a:t>8:52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9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1ED50-4E3A-45BB-BE6B-B54015BE3B53}" type="datetime12">
              <a:rPr lang="en-US" smtClean="0"/>
              <a:t>8:52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6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EBBC-0C08-4286-A8E5-CDAEB81B7504}" type="datetime12">
              <a:rPr lang="en-US" smtClean="0"/>
              <a:t>8:52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1BAF-41A3-40D5-94C7-34492F363DA9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27CF-F5BB-4A48-9E1B-430A52E1F8F7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1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8A2BB-A16B-4439-B329-FF1F15F2CA14}" type="datetime12">
              <a:rPr lang="en-US" smtClean="0"/>
              <a:t>8:52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8CC6D-4527-486F-B404-4AC77BEB4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7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>
          <a:xfrm>
            <a:off x="228600" y="2438400"/>
            <a:ext cx="8763000" cy="1261884"/>
          </a:xfrm>
        </p:spPr>
        <p:txBody>
          <a:bodyPr>
            <a:spAutoFit/>
          </a:bodyPr>
          <a:lstStyle/>
          <a:p>
            <a:r>
              <a:rPr lang="en-US" sz="4000" b="1" dirty="0" smtClean="0"/>
              <a:t>Autosomal structural rearrangements</a:t>
            </a:r>
            <a:r>
              <a:rPr lang="en-US" sz="4000" b="1" dirty="0"/>
              <a:t/>
            </a:r>
            <a:br>
              <a:rPr lang="en-US" sz="4000" b="1" dirty="0"/>
            </a:br>
            <a:r>
              <a:rPr lang="en-US" sz="3600" dirty="0" smtClean="0"/>
              <a:t>Deletions and Duplications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8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228600"/>
            <a:ext cx="861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Mechanisms of formation of structural rearrangement</a:t>
            </a:r>
          </a:p>
          <a:p>
            <a:endParaRPr lang="en-US" sz="2800" dirty="0"/>
          </a:p>
          <a:p>
            <a:r>
              <a:rPr lang="en-US" sz="2800" b="1" dirty="0"/>
              <a:t>Recurrent rearrangements </a:t>
            </a:r>
            <a:r>
              <a:rPr lang="en-US" sz="2800" dirty="0"/>
              <a:t>share essentially the same size and genomic content in unrelated individuals, the breakpoints being fixed by the presence of highly homologous long flanking </a:t>
            </a:r>
            <a:r>
              <a:rPr lang="en-US" sz="2800" dirty="0" smtClean="0"/>
              <a:t>repeats</a:t>
            </a:r>
          </a:p>
          <a:p>
            <a:endParaRPr lang="en-US" sz="2800" dirty="0"/>
          </a:p>
          <a:p>
            <a:r>
              <a:rPr lang="en-US" sz="2800" b="1" dirty="0" err="1" smtClean="0"/>
              <a:t>Nonrecurrent</a:t>
            </a:r>
            <a:r>
              <a:rPr lang="en-US" sz="2800" b="1" dirty="0" smtClean="0"/>
              <a:t> </a:t>
            </a:r>
            <a:r>
              <a:rPr lang="en-US" sz="2800" b="1" dirty="0"/>
              <a:t>rearrangements </a:t>
            </a:r>
            <a:r>
              <a:rPr lang="en-US" sz="2800" dirty="0"/>
              <a:t>have a size and genomic content that is unique to the individual</a:t>
            </a:r>
          </a:p>
        </p:txBody>
      </p:sp>
    </p:spTree>
    <p:extLst>
      <p:ext uri="{BB962C8B-B14F-4D97-AF65-F5344CB8AC3E}">
        <p14:creationId xmlns:p14="http://schemas.microsoft.com/office/powerpoint/2010/main" val="156265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5344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Recurrent rearrangements </a:t>
            </a:r>
            <a:endParaRPr lang="en-US" sz="2800" b="1" dirty="0" smtClean="0"/>
          </a:p>
          <a:p>
            <a:endParaRPr lang="en-US" sz="2400" dirty="0"/>
          </a:p>
          <a:p>
            <a:r>
              <a:rPr lang="en-US" sz="2400" b="1" dirty="0" err="1" smtClean="0">
                <a:solidFill>
                  <a:srgbClr val="0070C0"/>
                </a:solidFill>
              </a:rPr>
              <a:t>Nonallelic</a:t>
            </a:r>
            <a:r>
              <a:rPr lang="en-US" sz="2400" b="1" dirty="0" smtClean="0">
                <a:solidFill>
                  <a:srgbClr val="0070C0"/>
                </a:solidFill>
              </a:rPr>
              <a:t> homologous recombination NAHR</a:t>
            </a:r>
          </a:p>
          <a:p>
            <a:r>
              <a:rPr lang="en-US" sz="2400" dirty="0" smtClean="0"/>
              <a:t>Existence of multiple DNA sequences throughout the genome, which are sufficiently similar (paralogous) that they enable erroneous coming-together of different chromosome regions</a:t>
            </a:r>
          </a:p>
          <a:p>
            <a:endParaRPr lang="en-US" sz="2400" dirty="0"/>
          </a:p>
          <a:p>
            <a:r>
              <a:rPr lang="en-US" sz="2400" dirty="0"/>
              <a:t>“ectopic synapsis” sets the scene for a subsequent “ectopic</a:t>
            </a:r>
          </a:p>
          <a:p>
            <a:r>
              <a:rPr lang="en-US" sz="2400" dirty="0"/>
              <a:t>homologous </a:t>
            </a:r>
            <a:r>
              <a:rPr lang="en-US" sz="2400" dirty="0" smtClean="0"/>
              <a:t>recombination”</a:t>
            </a:r>
          </a:p>
          <a:p>
            <a:endParaRPr lang="en-US" sz="2400" dirty="0"/>
          </a:p>
          <a:p>
            <a:r>
              <a:rPr lang="en-US" sz="2400" dirty="0" smtClean="0"/>
              <a:t>These similar sequences are called </a:t>
            </a:r>
            <a:r>
              <a:rPr lang="en-US" sz="2400" dirty="0" err="1" smtClean="0">
                <a:solidFill>
                  <a:srgbClr val="0070C0"/>
                </a:solidFill>
              </a:rPr>
              <a:t>duplicons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70C0"/>
                </a:solidFill>
              </a:rPr>
              <a:t>segmental duplications</a:t>
            </a:r>
            <a:r>
              <a:rPr lang="en-US" sz="2400" dirty="0" smtClean="0"/>
              <a:t>, or </a:t>
            </a:r>
            <a:r>
              <a:rPr lang="en-US" sz="2400" dirty="0" smtClean="0">
                <a:solidFill>
                  <a:srgbClr val="0070C0"/>
                </a:solidFill>
              </a:rPr>
              <a:t>low copy repeats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5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80"/>
            <a:ext cx="6850856" cy="673655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514600" y="5943600"/>
            <a:ext cx="1600200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89754" y="5943600"/>
            <a:ext cx="1653846" cy="2286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136570" y="6357256"/>
            <a:ext cx="2492829" cy="19594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066801" y="6539388"/>
            <a:ext cx="2072026" cy="22764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610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17p11.2</a:t>
            </a:r>
          </a:p>
          <a:p>
            <a:r>
              <a:rPr lang="en-US" sz="2400" dirty="0" smtClean="0"/>
              <a:t>Deletion:	Smith-</a:t>
            </a:r>
            <a:r>
              <a:rPr lang="en-US" sz="2400" dirty="0" err="1" smtClean="0"/>
              <a:t>Magenis</a:t>
            </a:r>
            <a:r>
              <a:rPr lang="en-US" sz="2400" dirty="0" smtClean="0"/>
              <a:t> syndrome</a:t>
            </a:r>
          </a:p>
          <a:p>
            <a:r>
              <a:rPr lang="en-US" sz="2400" dirty="0" smtClean="0"/>
              <a:t>Duplication:	</a:t>
            </a:r>
            <a:r>
              <a:rPr lang="en-US" sz="2400" dirty="0" err="1" smtClean="0"/>
              <a:t>Potocki-Lupski</a:t>
            </a:r>
            <a:r>
              <a:rPr lang="en-US" sz="2400" dirty="0" smtClean="0"/>
              <a:t> syndrome</a:t>
            </a:r>
          </a:p>
          <a:p>
            <a:endParaRPr lang="en-US" sz="2400" dirty="0"/>
          </a:p>
          <a:p>
            <a:r>
              <a:rPr lang="en-US" sz="2400" b="1" dirty="0" smtClean="0"/>
              <a:t>17p12</a:t>
            </a:r>
          </a:p>
          <a:p>
            <a:r>
              <a:rPr lang="en-US" sz="2400" dirty="0" smtClean="0"/>
              <a:t>Deletion:	Hereditary pressure-sensitive neuropathy</a:t>
            </a:r>
          </a:p>
          <a:p>
            <a:r>
              <a:rPr lang="en-US" sz="2400" dirty="0" smtClean="0"/>
              <a:t>Duplication:	Charcot-Marie-Tooth neuropathy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304800"/>
            <a:ext cx="85344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Nonrecurrent</a:t>
            </a:r>
            <a:r>
              <a:rPr lang="en-US" sz="2800" b="1" dirty="0" smtClean="0"/>
              <a:t> </a:t>
            </a:r>
            <a:r>
              <a:rPr lang="en-US" sz="2800" b="1" dirty="0"/>
              <a:t>rearrangements </a:t>
            </a:r>
            <a:endParaRPr lang="en-US" sz="2800" b="1" dirty="0" smtClean="0"/>
          </a:p>
          <a:p>
            <a:endParaRPr lang="en-US" sz="2400" dirty="0"/>
          </a:p>
          <a:p>
            <a:r>
              <a:rPr lang="en-US" sz="2400" dirty="0" smtClean="0"/>
              <a:t>Characterized </a:t>
            </a:r>
            <a:r>
              <a:rPr lang="en-US" sz="2400" dirty="0"/>
              <a:t>by the widespread locations of breakpoints</a:t>
            </a:r>
            <a:r>
              <a:rPr lang="en-US" sz="2400" dirty="0" smtClean="0"/>
              <a:t>, </a:t>
            </a:r>
            <a:r>
              <a:rPr lang="en-US" sz="2400" dirty="0"/>
              <a:t>leading to del/dups of unique size and genomic content</a:t>
            </a:r>
          </a:p>
          <a:p>
            <a:endParaRPr lang="en-US" sz="2400" dirty="0"/>
          </a:p>
          <a:p>
            <a:r>
              <a:rPr lang="en-US" sz="2400" dirty="0" smtClean="0"/>
              <a:t>Absence </a:t>
            </a:r>
            <a:r>
              <a:rPr lang="en-US" sz="2400" dirty="0"/>
              <a:t>of any sequence homology (“blunt ends”), </a:t>
            </a:r>
            <a:r>
              <a:rPr lang="en-US" sz="2400" dirty="0" smtClean="0"/>
              <a:t>is </a:t>
            </a:r>
            <a:r>
              <a:rPr lang="en-US" sz="2400" dirty="0"/>
              <a:t>indicative of </a:t>
            </a:r>
            <a:r>
              <a:rPr lang="en-US" sz="2400" b="1" dirty="0">
                <a:solidFill>
                  <a:srgbClr val="0070C0"/>
                </a:solidFill>
              </a:rPr>
              <a:t>nonhomologous end joining 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NHEJ</a:t>
            </a:r>
            <a:r>
              <a:rPr lang="en-US" sz="2400" b="1" dirty="0" smtClean="0"/>
              <a:t>)</a:t>
            </a:r>
          </a:p>
          <a:p>
            <a:endParaRPr lang="en-US" sz="2400" dirty="0"/>
          </a:p>
          <a:p>
            <a:r>
              <a:rPr lang="en-US" sz="2400" dirty="0"/>
              <a:t>During mitotic </a:t>
            </a:r>
            <a:r>
              <a:rPr lang="en-US" sz="2400" dirty="0" smtClean="0"/>
              <a:t>cell, </a:t>
            </a:r>
            <a:r>
              <a:rPr lang="en-US" sz="2400" dirty="0"/>
              <a:t>different chromosomal segments may happen to be in close proximity, due to their “</a:t>
            </a:r>
            <a:r>
              <a:rPr lang="en-US" sz="2400" dirty="0">
                <a:solidFill>
                  <a:srgbClr val="0070C0"/>
                </a:solidFill>
              </a:rPr>
              <a:t>geographical space</a:t>
            </a:r>
            <a:r>
              <a:rPr lang="en-US" sz="2400" dirty="0"/>
              <a:t>” within the </a:t>
            </a:r>
            <a:r>
              <a:rPr lang="en-US" sz="2400" dirty="0" smtClean="0"/>
              <a:t>nucleus may </a:t>
            </a:r>
            <a:r>
              <a:rPr lang="en-US" sz="2400" dirty="0"/>
              <a:t>have predisposed to their coming </a:t>
            </a:r>
            <a:r>
              <a:rPr lang="en-US" sz="2400" dirty="0" smtClean="0"/>
              <a:t>together. If </a:t>
            </a:r>
            <a:r>
              <a:rPr lang="en-US" sz="2400" dirty="0"/>
              <a:t>breaks occur during replication, instead of the correct ends being brought back together, the broken ends of different segments may inappropriately be ligated</a:t>
            </a:r>
          </a:p>
        </p:txBody>
      </p:sp>
    </p:spTree>
    <p:extLst>
      <p:ext uri="{BB962C8B-B14F-4D97-AF65-F5344CB8AC3E}">
        <p14:creationId xmlns:p14="http://schemas.microsoft.com/office/powerpoint/2010/main" val="332074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8392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Origin intra-, pre-, or post-meiosis</a:t>
            </a:r>
          </a:p>
          <a:p>
            <a:endParaRPr lang="en-US" sz="2800" dirty="0"/>
          </a:p>
          <a:p>
            <a:r>
              <a:rPr lang="en-US" sz="2800" b="1" dirty="0" smtClean="0"/>
              <a:t>Recurrent</a:t>
            </a:r>
            <a:r>
              <a:rPr lang="en-US" sz="2800" dirty="0" smtClean="0"/>
              <a:t> de novo del/dup typically reflect an origin </a:t>
            </a:r>
            <a:r>
              <a:rPr lang="en-US" sz="2800" b="1" dirty="0" smtClean="0"/>
              <a:t>during meiosis </a:t>
            </a:r>
            <a:r>
              <a:rPr lang="en-US" sz="2800" dirty="0" smtClean="0"/>
              <a:t>&gt;&gt; </a:t>
            </a:r>
            <a:r>
              <a:rPr lang="en-US" sz="2800" b="1" dirty="0" smtClean="0"/>
              <a:t>risk of recurrence very low</a:t>
            </a:r>
            <a:r>
              <a:rPr lang="en-US" sz="2800" dirty="0" smtClean="0"/>
              <a:t>, because only the gamete from that particular meiosis carried the defect</a:t>
            </a:r>
          </a:p>
          <a:p>
            <a:endParaRPr lang="en-US" sz="2800" dirty="0"/>
          </a:p>
          <a:p>
            <a:r>
              <a:rPr lang="en-US" sz="2800" b="1" dirty="0" smtClean="0"/>
              <a:t>Nonrecurrent</a:t>
            </a:r>
            <a:r>
              <a:rPr lang="en-US" sz="2800" dirty="0" smtClean="0"/>
              <a:t>, some of meiotic origin, without increased risk of recurrence, some originated in a </a:t>
            </a:r>
            <a:r>
              <a:rPr lang="en-US" sz="2800" b="1" dirty="0" err="1" smtClean="0"/>
              <a:t>premeiotic</a:t>
            </a:r>
            <a:r>
              <a:rPr lang="en-US" sz="2800" dirty="0" smtClean="0"/>
              <a:t> mitosis, gonadal mosaicism, there is a </a:t>
            </a:r>
            <a:r>
              <a:rPr lang="en-US" sz="2800" b="1" dirty="0" smtClean="0"/>
              <a:t>risk of passing </a:t>
            </a:r>
            <a:r>
              <a:rPr lang="en-US" sz="2800" dirty="0" smtClean="0"/>
              <a:t>imbalance</a:t>
            </a:r>
          </a:p>
          <a:p>
            <a:endParaRPr lang="en-US" sz="2800" dirty="0"/>
          </a:p>
          <a:p>
            <a:r>
              <a:rPr lang="en-US" sz="2800" dirty="0" smtClean="0"/>
              <a:t>Rearrangement arising at a </a:t>
            </a:r>
            <a:r>
              <a:rPr lang="en-US" sz="2800" b="1" dirty="0" err="1" smtClean="0"/>
              <a:t>postzygotic</a:t>
            </a:r>
            <a:r>
              <a:rPr lang="en-US" sz="2800" dirty="0" smtClean="0"/>
              <a:t> mitosis, from an initially normal conceptus, leading to mosaicism, </a:t>
            </a:r>
            <a:r>
              <a:rPr lang="en-US" sz="2800" b="1" dirty="0" smtClean="0"/>
              <a:t>no increased risk of recurrence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6025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8CC6D-4527-486F-B404-4AC77BEB4F4E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8893683" cy="39566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0223" y="282676"/>
            <a:ext cx="8869680" cy="5078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700" b="1" dirty="0"/>
              <a:t>Apparently balanced but actually unbalanced rearrangement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863" y="5470417"/>
            <a:ext cx="8839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Gene might be disrupted or affected by the new position</a:t>
            </a: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6553200" y="3581400"/>
            <a:ext cx="1828800" cy="23116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543800" y="3812568"/>
            <a:ext cx="495300" cy="2567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ket 7"/>
          <p:cNvSpPr/>
          <p:nvPr/>
        </p:nvSpPr>
        <p:spPr>
          <a:xfrm>
            <a:off x="8534400" y="4069306"/>
            <a:ext cx="381000" cy="28762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62600" y="4334815"/>
            <a:ext cx="1447800" cy="23718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6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320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Autosomal structural rearrangements Deletions and Duplications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rearrangements</dc:title>
  <dc:creator>alkhateeb</dc:creator>
  <cp:lastModifiedBy>JUST</cp:lastModifiedBy>
  <cp:revision>34</cp:revision>
  <dcterms:created xsi:type="dcterms:W3CDTF">2012-05-01T16:10:43Z</dcterms:created>
  <dcterms:modified xsi:type="dcterms:W3CDTF">2024-04-29T19:16:30Z</dcterms:modified>
</cp:coreProperties>
</file>