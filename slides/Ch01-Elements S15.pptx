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72" r:id="rId3"/>
    <p:sldId id="256" r:id="rId4"/>
    <p:sldId id="257" r:id="rId5"/>
    <p:sldId id="263" r:id="rId6"/>
    <p:sldId id="258" r:id="rId7"/>
    <p:sldId id="264" r:id="rId8"/>
    <p:sldId id="259" r:id="rId9"/>
    <p:sldId id="265" r:id="rId10"/>
    <p:sldId id="266" r:id="rId11"/>
    <p:sldId id="267" r:id="rId12"/>
    <p:sldId id="268" r:id="rId13"/>
    <p:sldId id="271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>
      <p:cViewPr varScale="1">
        <p:scale>
          <a:sx n="73" d="100"/>
          <a:sy n="73" d="100"/>
        </p:scale>
        <p:origin x="12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6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9E259-D54F-470B-97E5-2D81BC1AD29F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3588E-3963-449E-9BFC-DEBBCBCD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4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C5A6E-244C-4D82-BC70-C4E89D7A938B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4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8767E-C864-41D4-9304-542D67521EF7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8DCF-3F50-4322-9E32-AD682504EBF3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6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0030F-6006-4C23-8816-3EB868530E39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5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3B1F-DBE3-438D-9CDA-87159A469E98}" type="datetime1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3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BC97-7E07-42F1-9E13-DFD95C9A0969}" type="datetime1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8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87217-AA7F-457A-B322-D161F26B64E1}" type="datetime1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3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D429-8B99-47D4-BE2F-B9428485447B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1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21C3B-9553-49E1-8FE3-89EE94AC50C1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2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5FF5D-2D52-44C6-A981-BA5D98FF7A73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8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354EE-A200-444A-AEE4-E6760BF22350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6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AA51C-825F-4B3D-9B73-86B67F1D9F2A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A093-DB52-46D7-ACEE-B7BCB9F7E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3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752600"/>
            <a:ext cx="8229600" cy="1143000"/>
          </a:xfrm>
        </p:spPr>
        <p:txBody>
          <a:bodyPr/>
          <a:lstStyle/>
          <a:p>
            <a:r>
              <a:rPr lang="en-US" dirty="0" smtClean="0"/>
              <a:t>Elements of Medical Cytogenetics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3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Chromosome: chroma (colored) soma (body)</a:t>
            </a:r>
          </a:p>
          <a:p>
            <a:r>
              <a:rPr lang="en-US" dirty="0" smtClean="0"/>
              <a:t>1954 recognition of 46 chromosomes not 48</a:t>
            </a:r>
          </a:p>
          <a:p>
            <a:r>
              <a:rPr lang="en-US" dirty="0" smtClean="0"/>
              <a:t>1959 Down, Klinefelter, and Turner basis recognized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6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480" y="1524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Banded chromosomes. </a:t>
            </a:r>
            <a:r>
              <a:rPr lang="en-US" sz="2800" dirty="0" smtClean="0">
                <a:solidFill>
                  <a:srgbClr val="C00000"/>
                </a:solidFill>
              </a:rPr>
              <a:t>C</a:t>
            </a:r>
            <a:r>
              <a:rPr lang="en-US" sz="2800" dirty="0" smtClean="0">
                <a:solidFill>
                  <a:srgbClr val="FF0000"/>
                </a:solidFill>
              </a:rPr>
              <a:t>o</a:t>
            </a:r>
            <a:r>
              <a:rPr lang="en-US" sz="2800" dirty="0" smtClean="0">
                <a:solidFill>
                  <a:srgbClr val="00B050"/>
                </a:solidFill>
              </a:rPr>
              <a:t>l</a:t>
            </a:r>
            <a:r>
              <a:rPr lang="en-US" sz="2800" dirty="0" smtClean="0">
                <a:solidFill>
                  <a:srgbClr val="00B0F0"/>
                </a:solidFill>
              </a:rPr>
              <a:t>o</a:t>
            </a:r>
            <a:r>
              <a:rPr lang="en-US" sz="2800" dirty="0" smtClean="0">
                <a:solidFill>
                  <a:srgbClr val="0070C0"/>
                </a:solidFill>
              </a:rPr>
              <a:t>r</a:t>
            </a:r>
            <a:r>
              <a:rPr lang="en-US" sz="2800" dirty="0" smtClean="0">
                <a:solidFill>
                  <a:srgbClr val="7030A0"/>
                </a:solidFill>
              </a:rPr>
              <a:t>e</a:t>
            </a:r>
            <a:r>
              <a:rPr lang="en-US" sz="2800" dirty="0" smtClean="0">
                <a:solidFill>
                  <a:srgbClr val="C00000"/>
                </a:solidFill>
              </a:rPr>
              <a:t>d</a:t>
            </a:r>
            <a:r>
              <a:rPr lang="en-US" sz="2800" dirty="0" smtClean="0"/>
              <a:t> ones are also available!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85696"/>
            <a:ext cx="5445760" cy="478917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84480" y="5684942"/>
            <a:ext cx="87071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1–1 The appearance of banded chromosomes, from a classical cytogenetic study.</a:t>
            </a:r>
          </a:p>
        </p:txBody>
      </p:sp>
    </p:spTree>
    <p:extLst>
      <p:ext uri="{BB962C8B-B14F-4D97-AF65-F5344CB8AC3E}">
        <p14:creationId xmlns:p14="http://schemas.microsoft.com/office/powerpoint/2010/main" val="44823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p\Documents\My Scans\scan00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1"/>
            <a:ext cx="8102824" cy="251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3810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Chromosomal morphology</a:t>
            </a:r>
          </a:p>
          <a:p>
            <a:r>
              <a:rPr lang="en-US" sz="2400" dirty="0" smtClean="0"/>
              <a:t>A chromosome contains two arms (p and q) and a centromere</a:t>
            </a:r>
          </a:p>
          <a:p>
            <a:r>
              <a:rPr lang="en-US" sz="2400" dirty="0" smtClean="0"/>
              <a:t>After replication a chromosome is made of two sister chromatids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4495800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Routine classical cytogenetic analysis is done on mitotic representative blood lymphocytes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066800"/>
            <a:ext cx="762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Genome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Homologous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Autosomes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Sex chromosomes (</a:t>
            </a:r>
            <a:r>
              <a:rPr lang="en-US" sz="2800" dirty="0" err="1" smtClean="0"/>
              <a:t>Gonosomes</a:t>
            </a:r>
            <a:r>
              <a:rPr lang="en-US" sz="2800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Haploid, gametocytes, ovum, sperm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Heterozygote, homozygote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3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85800"/>
            <a:ext cx="800100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/>
              <a:t>Chromosomes are distinguishable on the basis of their: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Size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Centromere position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Banding pattern</a:t>
            </a:r>
            <a:endParaRPr lang="en-US" sz="2400" dirty="0" smtClean="0"/>
          </a:p>
          <a:p>
            <a:endParaRPr lang="en-US" sz="2400" b="1" dirty="0" smtClean="0"/>
          </a:p>
          <a:p>
            <a:endParaRPr lang="en-US" sz="2400" b="1" dirty="0"/>
          </a:p>
          <a:p>
            <a:r>
              <a:rPr lang="en-US" sz="2400" b="1" dirty="0" smtClean="0"/>
              <a:t>Metacentric, </a:t>
            </a:r>
            <a:r>
              <a:rPr lang="en-US" sz="2400" b="1" dirty="0" err="1" smtClean="0"/>
              <a:t>submetacentric</a:t>
            </a:r>
            <a:r>
              <a:rPr lang="en-US" sz="2400" b="1" dirty="0" smtClean="0"/>
              <a:t>, acrocentric, </a:t>
            </a:r>
            <a:r>
              <a:rPr lang="en-US" sz="2400" dirty="0" smtClean="0"/>
              <a:t>telocentric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rgbClr val="FF0000"/>
                </a:solidFill>
              </a:rPr>
              <a:t>note from the lecture: there is 5 acrocentric chromosome in humans </a:t>
            </a:r>
            <a:r>
              <a:rPr lang="en-US" sz="2400" smtClean="0">
                <a:solidFill>
                  <a:srgbClr val="FF0000"/>
                </a:solidFill>
              </a:rPr>
              <a:t>(chromosome 13, 14, 15, 21, and 22)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3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p\Documents\My Scans\scan0007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80" t="6154" r="14969"/>
          <a:stretch/>
        </p:blipFill>
        <p:spPr bwMode="auto">
          <a:xfrm>
            <a:off x="4231330" y="1"/>
            <a:ext cx="49223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0254" y="838200"/>
            <a:ext cx="3735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Ideogram</a:t>
            </a:r>
            <a:r>
              <a:rPr lang="en-US" sz="2400" dirty="0"/>
              <a:t>: diagrammatic representation of the banding pattern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6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57400" y="185448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Karyotype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716059"/>
            <a:ext cx="6153150" cy="500062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28600" y="5904845"/>
            <a:ext cx="868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FIGURE 1–2 Chromosomes arranged as a formal karyotype, from a classical cytogenetic study.</a:t>
            </a:r>
          </a:p>
        </p:txBody>
      </p:sp>
    </p:spTree>
    <p:extLst>
      <p:ext uri="{BB962C8B-B14F-4D97-AF65-F5344CB8AC3E}">
        <p14:creationId xmlns:p14="http://schemas.microsoft.com/office/powerpoint/2010/main" val="242565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00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Euchromatin</a:t>
            </a:r>
            <a:r>
              <a:rPr lang="en-US" sz="2400" dirty="0" smtClean="0"/>
              <a:t>: less condensed, contains coding DNA</a:t>
            </a:r>
          </a:p>
          <a:p>
            <a:r>
              <a:rPr lang="en-US" sz="2400" b="1" dirty="0" smtClean="0"/>
              <a:t>Heterochromatin</a:t>
            </a:r>
            <a:r>
              <a:rPr lang="en-US" sz="2400" dirty="0" smtClean="0"/>
              <a:t>: more condensed, contains noncoding DNA</a:t>
            </a:r>
          </a:p>
          <a:p>
            <a:endParaRPr lang="en-US" sz="2400" dirty="0"/>
          </a:p>
          <a:p>
            <a:r>
              <a:rPr lang="en-US" sz="2400" b="1" dirty="0" smtClean="0"/>
              <a:t>Telomeres</a:t>
            </a:r>
            <a:r>
              <a:rPr lang="en-US" sz="2400" dirty="0" smtClean="0"/>
              <a:t>: TTAGGG</a:t>
            </a:r>
          </a:p>
          <a:p>
            <a:r>
              <a:rPr lang="en-US" sz="2400" b="1" dirty="0" smtClean="0"/>
              <a:t>Centromeres</a:t>
            </a:r>
          </a:p>
          <a:p>
            <a:endParaRPr lang="en-US" sz="2400" dirty="0"/>
          </a:p>
          <a:p>
            <a:r>
              <a:rPr lang="en-US" sz="2400" dirty="0" err="1" smtClean="0"/>
              <a:t>Centromeric</a:t>
            </a:r>
            <a:r>
              <a:rPr lang="en-US" sz="2400" dirty="0" smtClean="0"/>
              <a:t> heterochromatin contains satellite DNA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799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57200"/>
            <a:ext cx="838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dirty="0" smtClean="0"/>
              <a:t>Chromosome abnormality</a:t>
            </a:r>
          </a:p>
          <a:p>
            <a:endParaRPr lang="en-US" sz="2400" b="1" dirty="0"/>
          </a:p>
          <a:p>
            <a:r>
              <a:rPr lang="en-US" sz="2400" b="1" dirty="0" smtClean="0"/>
              <a:t>Constitutional abnormality</a:t>
            </a:r>
            <a:r>
              <a:rPr lang="en-US" sz="2400" dirty="0" smtClean="0"/>
              <a:t>: a chromosome abnormality that is present from conception and involves the entire body</a:t>
            </a:r>
          </a:p>
          <a:p>
            <a:endParaRPr lang="en-US" sz="2400" dirty="0"/>
          </a:p>
          <a:p>
            <a:r>
              <a:rPr lang="en-US" sz="2400" b="1" dirty="0" smtClean="0"/>
              <a:t>Constitutional </a:t>
            </a:r>
            <a:r>
              <a:rPr lang="en-US" sz="2400" b="1" dirty="0" err="1" smtClean="0"/>
              <a:t>mosaicism</a:t>
            </a:r>
            <a:r>
              <a:rPr lang="en-US" sz="2400" dirty="0" smtClean="0"/>
              <a:t>: if an additional cell line with a different chromosomal complement arises before the basis of the body structure is formed (i.e. in embryonic or pre-embryonic life) and becomes an integral part of the organism</a:t>
            </a:r>
          </a:p>
          <a:p>
            <a:endParaRPr lang="en-US" sz="2400" dirty="0"/>
          </a:p>
          <a:p>
            <a:r>
              <a:rPr lang="en-US" sz="2400" b="1" dirty="0" smtClean="0"/>
              <a:t>Acquired chromosomal abnormality</a:t>
            </a:r>
            <a:r>
              <a:rPr lang="en-US" sz="2400" dirty="0" smtClean="0"/>
              <a:t>: happens later on, after body structure is formed.</a:t>
            </a:r>
          </a:p>
        </p:txBody>
      </p:sp>
    </p:spTree>
    <p:extLst>
      <p:ext uri="{BB962C8B-B14F-4D97-AF65-F5344CB8AC3E}">
        <p14:creationId xmlns:p14="http://schemas.microsoft.com/office/powerpoint/2010/main" val="289515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8229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 incorrect amount of genetic material carried out by the conceptus disturbs and distorts its normal growth pattern</a:t>
            </a:r>
          </a:p>
          <a:p>
            <a:endParaRPr lang="en-US" sz="2400" dirty="0"/>
          </a:p>
          <a:p>
            <a:r>
              <a:rPr lang="en-US" sz="2400" dirty="0" smtClean="0"/>
              <a:t>Trisomy</a:t>
            </a:r>
          </a:p>
          <a:p>
            <a:r>
              <a:rPr lang="en-US" sz="2400" dirty="0" err="1" smtClean="0"/>
              <a:t>Monosomy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Pathogenetic</a:t>
            </a:r>
            <a:r>
              <a:rPr lang="en-US" sz="2400" dirty="0" smtClean="0"/>
              <a:t> mechanisms that arise from chromosomal abnormalities: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A dosage effect with a lack (deletion) or excess (duplication) of chromosomal material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A direct damaging effect, with disruption of a gene at the breakpoint of a rearrangement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Genomic imprinting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A position effect, whereby a gene in a new chromosomal environment functions inappropriately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026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8305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Full aneuploidy </a:t>
            </a:r>
            <a:r>
              <a:rPr lang="en-US" sz="2400" dirty="0" smtClean="0"/>
              <a:t>(i.e. Down, </a:t>
            </a:r>
            <a:r>
              <a:rPr lang="en-US" sz="2400" dirty="0" err="1"/>
              <a:t>K</a:t>
            </a:r>
            <a:r>
              <a:rPr lang="en-US" sz="2400" dirty="0" err="1" smtClean="0"/>
              <a:t>linefelter</a:t>
            </a:r>
            <a:r>
              <a:rPr lang="en-US" sz="2400" dirty="0" smtClean="0"/>
              <a:t>, Turner)</a:t>
            </a:r>
          </a:p>
          <a:p>
            <a:r>
              <a:rPr lang="en-US" sz="2400" b="1" dirty="0" smtClean="0"/>
              <a:t>Partial aneuploidy</a:t>
            </a:r>
          </a:p>
          <a:p>
            <a:endParaRPr lang="en-US" sz="2400" dirty="0"/>
          </a:p>
          <a:p>
            <a:r>
              <a:rPr lang="en-US" sz="2400" dirty="0" smtClean="0"/>
              <a:t>Loss of chromosomal material generally has a more devastating effect on growth of the conceptus than does an excess of material</a:t>
            </a:r>
          </a:p>
          <a:p>
            <a:endParaRPr lang="en-US" sz="2400" dirty="0"/>
          </a:p>
          <a:p>
            <a:r>
              <a:rPr lang="en-US" sz="2400" dirty="0" smtClean="0"/>
              <a:t>Most full autosomal trisomies and virtually all full autosomal monosomies set development so awry that, sooner or later, abortion occurs – the embryo “self-destructs” and is expelled from the uterus</a:t>
            </a:r>
          </a:p>
          <a:p>
            <a:endParaRPr lang="en-US" sz="2400" dirty="0"/>
          </a:p>
          <a:p>
            <a:r>
              <a:rPr lang="en-US" sz="2400" dirty="0" smtClean="0"/>
              <a:t>Brain is most complex; most vulnerable to less than optimal genetic constitution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178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Phenotype – first approach</a:t>
            </a:r>
          </a:p>
          <a:p>
            <a:r>
              <a:rPr lang="en-US" sz="2400" dirty="0" smtClean="0"/>
              <a:t>To identify the chromosomal basis of many syndromes following analysis of groups of patients with similar phenotypes</a:t>
            </a:r>
          </a:p>
          <a:p>
            <a:endParaRPr lang="en-US" sz="2400" dirty="0"/>
          </a:p>
          <a:p>
            <a:r>
              <a:rPr lang="en-US" sz="2400" b="1" dirty="0" smtClean="0"/>
              <a:t>Genotype – first approach</a:t>
            </a:r>
          </a:p>
          <a:p>
            <a:r>
              <a:rPr lang="en-US" sz="2400" dirty="0" smtClean="0"/>
              <a:t>New syndromes are being identified based on their DNA aberration primarily due to use of microarray analysis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8343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381000"/>
            <a:ext cx="8305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Sex chromosomal abnormality</a:t>
            </a:r>
          </a:p>
          <a:p>
            <a:endParaRPr lang="en-US" sz="2400" dirty="0"/>
          </a:p>
          <a:p>
            <a:r>
              <a:rPr lang="en-US" sz="2400" dirty="0" smtClean="0"/>
              <a:t>Sex chromosomal imbalance has a much less deleterious effect on the phenotype than does autosomal aneuploidy</a:t>
            </a:r>
          </a:p>
          <a:p>
            <a:endParaRPr lang="en-US" sz="2400" dirty="0"/>
          </a:p>
          <a:p>
            <a:r>
              <a:rPr lang="en-US" sz="2400" dirty="0" smtClean="0"/>
              <a:t>In both male and female, one, and only one, completely functioning X chromosome is needed</a:t>
            </a:r>
          </a:p>
          <a:p>
            <a:endParaRPr lang="en-US" sz="2400" dirty="0"/>
          </a:p>
          <a:p>
            <a:r>
              <a:rPr lang="en-US" sz="2400" dirty="0" smtClean="0"/>
              <a:t>If an abnormal X chromosome is present, then, as a rule, cells containing this abnormal chromosome as the active X are </a:t>
            </a:r>
            <a:r>
              <a:rPr lang="en-US" sz="2400" dirty="0" smtClean="0">
                <a:solidFill>
                  <a:srgbClr val="0070C0"/>
                </a:solidFill>
              </a:rPr>
              <a:t>selected against</a:t>
            </a:r>
            <a:r>
              <a:rPr lang="en-US" sz="2400" dirty="0" smtClean="0"/>
              <a:t>, perhaps due to preferential growth of those cells in which it is the normal X that is the active one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463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810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Frequency and impact of cytogenetic pathology</a:t>
            </a:r>
          </a:p>
          <a:p>
            <a:endParaRPr lang="en-US" sz="2400" dirty="0"/>
          </a:p>
          <a:p>
            <a:r>
              <a:rPr lang="en-US" sz="2400" dirty="0"/>
              <a:t>According to the window of observation, chromosomal disorders make </a:t>
            </a:r>
            <a:r>
              <a:rPr lang="en-US" sz="2400" dirty="0" smtClean="0"/>
              <a:t>a greater </a:t>
            </a:r>
            <a:r>
              <a:rPr lang="en-US" sz="2400" dirty="0"/>
              <a:t>or lesser contribution to human mortality and morbidity</a:t>
            </a:r>
            <a:endParaRPr lang="en-US" sz="2400" dirty="0" smtClean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Overall, around 1 in 135 </a:t>
            </a:r>
            <a:r>
              <a:rPr lang="en-US" sz="2400" dirty="0" err="1" smtClean="0"/>
              <a:t>liveborn</a:t>
            </a:r>
            <a:r>
              <a:rPr lang="en-US" sz="2400" dirty="0" smtClean="0"/>
              <a:t> babies have a chromosomal abnormality, and about 40% of these are phenotypically abnormal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If we were to look at 5-day blastocysts, the fraction with abnormality might be close to a half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If we studied a population of 70-year-olds, we could expect to see very few individuals with unbalanced autosomal karyotype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157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635</Words>
  <Application>Microsoft Office PowerPoint</Application>
  <PresentationFormat>On-screen Show (4:3)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Elements of Medical Cytogenetics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alkhateeb</dc:creator>
  <cp:lastModifiedBy>HAMZEH AYED ELAMIN ABID</cp:lastModifiedBy>
  <cp:revision>51</cp:revision>
  <dcterms:created xsi:type="dcterms:W3CDTF">2012-02-07T10:19:37Z</dcterms:created>
  <dcterms:modified xsi:type="dcterms:W3CDTF">2025-02-24T16:55:31Z</dcterms:modified>
</cp:coreProperties>
</file>