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5" r:id="rId10"/>
    <p:sldId id="267" r:id="rId11"/>
    <p:sldId id="268" r:id="rId12"/>
    <p:sldId id="269" r:id="rId13"/>
    <p:sldId id="270" r:id="rId14"/>
    <p:sldId id="271" r:id="rId15"/>
    <p:sldId id="273" r:id="rId16"/>
    <p:sldId id="274" r:id="rId17"/>
    <p:sldId id="276" r:id="rId18"/>
    <p:sldId id="277" r:id="rId19"/>
    <p:sldId id="278" r:id="rId20"/>
    <p:sldId id="279" r:id="rId21"/>
    <p:sldId id="281" r:id="rId22"/>
    <p:sldId id="282" r:id="rId23"/>
    <p:sldId id="283" r:id="rId24"/>
    <p:sldId id="285" r:id="rId25"/>
    <p:sldId id="286" r:id="rId26"/>
    <p:sldId id="287" r:id="rId27"/>
    <p:sldId id="288" r:id="rId28"/>
    <p:sldId id="289" r:id="rId29"/>
    <p:sldId id="290" r:id="rId30"/>
    <p:sldId id="292" r:id="rId31"/>
    <p:sldId id="293" r:id="rId32"/>
    <p:sldId id="294" r:id="rId33"/>
    <p:sldId id="295" r:id="rId34"/>
    <p:sldId id="296" r:id="rId35"/>
    <p:sldId id="297" r:id="rId36"/>
  </p:sldIdLst>
  <p:sldSz cx="9144000" cy="6858000" type="screen4x3"/>
  <p:notesSz cx="6858000" cy="9144000"/>
  <p:custDataLst>
    <p:tags r:id="rId3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882" autoAdjust="0"/>
    <p:restoredTop sz="94660"/>
  </p:normalViewPr>
  <p:slideViewPr>
    <p:cSldViewPr>
      <p:cViewPr varScale="1">
        <p:scale>
          <a:sx n="74" d="100"/>
          <a:sy n="74" d="100"/>
        </p:scale>
        <p:origin x="153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30D3CB-AB8E-4924-A7A6-B3213A3455FA}" type="datetimeFigureOut">
              <a:rPr lang="en-US" smtClean="0"/>
              <a:pPr/>
              <a:t>12/3/2022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01BA58-2951-486B-9DEE-A8699590E1A5}" type="slidenum">
              <a:rPr lang="en-US" smtClean="0"/>
              <a:pPr/>
              <a:t>‹#›</a:t>
            </a:fld>
            <a:endParaRPr lang="en-US"/>
          </a:p>
        </p:txBody>
      </p:sp>
    </p:spTree>
    <p:extLst>
      <p:ext uri="{BB962C8B-B14F-4D97-AF65-F5344CB8AC3E}">
        <p14:creationId xmlns:p14="http://schemas.microsoft.com/office/powerpoint/2010/main" val="3956374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defRPr sz="3600">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815454F-ECDB-4842-AF71-F9E8195E2EAE}" type="datetime1">
              <a:rPr lang="en-US" smtClean="0"/>
              <a:pPr/>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457822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0CD5D7F-3933-4309-8034-0F93355438F7}" type="datetime1">
              <a:rPr lang="en-US" smtClean="0"/>
              <a:pPr/>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57884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C6B14C-AE06-4A23-89A1-5EF01B1A418B}" type="datetime1">
              <a:rPr lang="en-US" smtClean="0"/>
              <a:pPr/>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223001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D8CB9A4-23AA-4DC3-A257-AD75712A2865}" type="datetime1">
              <a:rPr lang="en-US" smtClean="0"/>
              <a:pPr/>
              <a:t>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350947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89D155C-674B-4796-BBC2-FCD13546F93B}" type="datetime1">
              <a:rPr lang="en-US" smtClean="0"/>
              <a:pPr/>
              <a:t>12/3/2022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585470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F70BCA5-5AC7-4B00-85A8-8E2615460E4F}" type="datetime1">
              <a:rPr lang="en-US" smtClean="0"/>
              <a:pPr/>
              <a:t>12/3/2022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035365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3D31C3-CEED-4AB3-8385-FB58CACF14B7}" type="datetime1">
              <a:rPr lang="en-US" smtClean="0"/>
              <a:pPr/>
              <a:t>12/3/2022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64564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1A879B-5B0D-4A04-96A8-F9A63EEDE15E}" type="datetime1">
              <a:rPr lang="en-US" smtClean="0"/>
              <a:pPr/>
              <a:t>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328268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78211E-FE34-4C0A-B5A1-267E9B129D2C}" type="datetime1">
              <a:rPr lang="en-US" smtClean="0"/>
              <a:pPr/>
              <a:t>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186978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03F265-EC92-4E3A-8B2F-17EA75E99940}" type="datetime1">
              <a:rPr lang="en-US" smtClean="0"/>
              <a:pPr/>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019088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510B38-9655-43E1-BBFD-8C7DABE26029}" type="datetime1">
              <a:rPr lang="en-US" smtClean="0"/>
              <a:pPr/>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319958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AFF1A8-D92E-4DC4-8F80-25205ADBC8C6}" type="datetime1">
              <a:rPr lang="en-US" smtClean="0"/>
              <a:pPr/>
              <a:t>12/3/2022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1A82D2-719A-4A87-BECB-D74482819C19}" type="slidenum">
              <a:rPr lang="en-US" smtClean="0"/>
              <a:pPr/>
              <a:t>‹#›</a:t>
            </a:fld>
            <a:endParaRPr lang="en-US"/>
          </a:p>
        </p:txBody>
      </p:sp>
      <p:sp>
        <p:nvSpPr>
          <p:cNvPr id="7" name="Rectangle 5"/>
          <p:cNvSpPr>
            <a:spLocks noChangeArrowheads="1"/>
          </p:cNvSpPr>
          <p:nvPr userDrawn="1"/>
        </p:nvSpPr>
        <p:spPr bwMode="auto">
          <a:xfrm>
            <a:off x="0" y="6642100"/>
            <a:ext cx="9144000" cy="215444"/>
          </a:xfrm>
          <a:prstGeom prst="rect">
            <a:avLst/>
          </a:prstGeom>
          <a:noFill/>
          <a:ln w="9525">
            <a:noFill/>
            <a:miter lim="800000"/>
            <a:headEnd/>
            <a:tailEnd/>
          </a:ln>
        </p:spPr>
        <p:txBody>
          <a:bodyPr>
            <a:spAutoFit/>
          </a:bodyPr>
          <a:lstStyle/>
          <a:p>
            <a:pPr algn="ctr"/>
            <a:r>
              <a:rPr lang="en-US" sz="800" b="0" dirty="0">
                <a:ea typeface="ヒラギノ角ゴ Pro W3"/>
                <a:cs typeface="ヒラギノ角ゴ Pro W3"/>
              </a:rPr>
              <a:t>Copyright (c) 2017 McGraw-Hill Education. All rights reserved. No reproduction or distribution without the prior written consent of McGraw-Hill Education.</a:t>
            </a:r>
          </a:p>
        </p:txBody>
      </p:sp>
    </p:spTree>
    <p:extLst>
      <p:ext uri="{BB962C8B-B14F-4D97-AF65-F5344CB8AC3E}">
        <p14:creationId xmlns:p14="http://schemas.microsoft.com/office/powerpoint/2010/main" val="376157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3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2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22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B1A82D2-719A-4A87-BECB-D74482819C19}" type="slidenum">
              <a:rPr lang="en-US" smtClean="0"/>
              <a:pPr/>
              <a:t>1</a:t>
            </a:fld>
            <a:endParaRPr lang="en-US"/>
          </a:p>
        </p:txBody>
      </p:sp>
      <p:sp>
        <p:nvSpPr>
          <p:cNvPr id="2" name="Title 1"/>
          <p:cNvSpPr>
            <a:spLocks noGrp="1"/>
          </p:cNvSpPr>
          <p:nvPr>
            <p:ph type="ctrTitle"/>
          </p:nvPr>
        </p:nvSpPr>
        <p:spPr>
          <a:xfrm>
            <a:off x="685800" y="304801"/>
            <a:ext cx="7772400" cy="1219200"/>
          </a:xfrm>
        </p:spPr>
        <p:txBody>
          <a:bodyPr/>
          <a:lstStyle/>
          <a:p>
            <a:r>
              <a:rPr lang="en-US" dirty="0"/>
              <a:t>Chapter 26 – Fungi (</a:t>
            </a:r>
            <a:r>
              <a:rPr lang="en-US" dirty="0" err="1"/>
              <a:t>Eumycota</a:t>
            </a:r>
            <a:r>
              <a:rPr lang="en-US" dirty="0"/>
              <a:t>)</a:t>
            </a:r>
          </a:p>
        </p:txBody>
      </p:sp>
      <p:pic>
        <p:nvPicPr>
          <p:cNvPr id="7" name="Picture 2" descr="X:\Graphics\Powerpoint\MH_DCM\MH_DCM-TEXTEDIT PROJECTS\WILLEY_10e\Incoming\Wille10e17tlm_nm3.jpg"/>
          <p:cNvPicPr>
            <a:picLocks noChangeAspect="1" noChangeArrowheads="1"/>
          </p:cNvPicPr>
          <p:nvPr/>
        </p:nvPicPr>
        <p:blipFill>
          <a:blip r:embed="rId2" cstate="print"/>
          <a:srcRect/>
          <a:stretch>
            <a:fillRect/>
          </a:stretch>
        </p:blipFill>
        <p:spPr bwMode="auto">
          <a:xfrm>
            <a:off x="2502128" y="1600200"/>
            <a:ext cx="4139744" cy="5029200"/>
          </a:xfrm>
          <a:prstGeom prst="rect">
            <a:avLst/>
          </a:prstGeom>
          <a:noFill/>
        </p:spPr>
      </p:pic>
    </p:spTree>
    <p:extLst>
      <p:ext uri="{BB962C8B-B14F-4D97-AF65-F5344CB8AC3E}">
        <p14:creationId xmlns:p14="http://schemas.microsoft.com/office/powerpoint/2010/main" val="1490809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839200" cy="990600"/>
          </a:xfrm>
        </p:spPr>
        <p:txBody>
          <a:bodyPr>
            <a:normAutofit/>
          </a:bodyPr>
          <a:lstStyle/>
          <a:p>
            <a:r>
              <a:rPr lang="en-US" dirty="0"/>
              <a:t>26.1 Fungal Biology Reflects Vast Diversity</a:t>
            </a:r>
          </a:p>
        </p:txBody>
      </p:sp>
      <p:sp>
        <p:nvSpPr>
          <p:cNvPr id="3" name="Content Placeholder 2"/>
          <p:cNvSpPr>
            <a:spLocks noGrp="1"/>
          </p:cNvSpPr>
          <p:nvPr>
            <p:ph idx="1"/>
          </p:nvPr>
        </p:nvSpPr>
        <p:spPr>
          <a:xfrm>
            <a:off x="228600" y="1295400"/>
            <a:ext cx="8686800" cy="5410200"/>
          </a:xfrm>
        </p:spPr>
        <p:txBody>
          <a:bodyPr>
            <a:normAutofit fontScale="92500" lnSpcReduction="10000"/>
          </a:bodyPr>
          <a:lstStyle/>
          <a:p>
            <a:pPr marL="514350" indent="-514350">
              <a:buFont typeface="+mj-lt"/>
              <a:buAutoNum type="arabicPeriod"/>
            </a:pPr>
            <a:r>
              <a:rPr lang="en-US" dirty="0"/>
              <a:t>Discuss the importance of fungi in their environment as well as their practical importance</a:t>
            </a:r>
            <a:br>
              <a:rPr lang="en-US" dirty="0"/>
            </a:br>
            <a:endParaRPr lang="en-US" dirty="0"/>
          </a:p>
          <a:p>
            <a:pPr marL="514350" indent="-514350">
              <a:buFont typeface="+mj-lt"/>
              <a:buAutoNum type="arabicPeriod"/>
            </a:pPr>
            <a:r>
              <a:rPr lang="en-US" dirty="0"/>
              <a:t>Differentiate between a yeast and a mold, and between hypha and mycelium</a:t>
            </a:r>
            <a:br>
              <a:rPr lang="en-US" dirty="0"/>
            </a:br>
            <a:endParaRPr lang="en-US" dirty="0"/>
          </a:p>
          <a:p>
            <a:pPr marL="514350" indent="-514350">
              <a:buFont typeface="+mj-lt"/>
              <a:buAutoNum type="arabicPeriod"/>
            </a:pPr>
            <a:r>
              <a:rPr lang="en-US" dirty="0"/>
              <a:t>Compare and contrast different spore morphologies</a:t>
            </a:r>
            <a:br>
              <a:rPr lang="en-US" dirty="0"/>
            </a:br>
            <a:endParaRPr lang="en-US" dirty="0"/>
          </a:p>
          <a:p>
            <a:pPr marL="514350" indent="-514350">
              <a:buFont typeface="+mj-lt"/>
              <a:buAutoNum type="arabicPeriod"/>
            </a:pPr>
            <a:r>
              <a:rPr lang="en-US" dirty="0"/>
              <a:t>Explain how mating types govern sexual reproduction</a:t>
            </a:r>
            <a:br>
              <a:rPr lang="en-US" dirty="0"/>
            </a:br>
            <a:endParaRPr lang="en-US" dirty="0"/>
          </a:p>
          <a:p>
            <a:pPr marL="514350" indent="-514350">
              <a:buFont typeface="+mj-lt"/>
              <a:buAutoNum type="arabicPeriod"/>
            </a:pPr>
            <a:r>
              <a:rPr lang="en-US" dirty="0"/>
              <a:t>Infer what is meant by a “</a:t>
            </a:r>
            <a:r>
              <a:rPr lang="en-US" dirty="0" err="1"/>
              <a:t>dikaryotic</a:t>
            </a:r>
            <a:r>
              <a:rPr lang="en-US" dirty="0"/>
              <a:t> fungus”</a:t>
            </a:r>
            <a:br>
              <a:rPr lang="en-US" dirty="0"/>
            </a:br>
            <a:endParaRPr lang="en-US" dirty="0"/>
          </a:p>
          <a:p>
            <a:pPr marL="514350" indent="-514350">
              <a:buFont typeface="+mj-lt"/>
              <a:buAutoNum type="arabicPeriod"/>
            </a:pPr>
            <a:r>
              <a:rPr lang="en-US" dirty="0"/>
              <a:t>Assess the role of fungal decomposition on global carbon flux</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a:t>
            </a:fld>
            <a:endParaRPr lang="en-US"/>
          </a:p>
        </p:txBody>
      </p:sp>
    </p:spTree>
    <p:extLst>
      <p:ext uri="{BB962C8B-B14F-4D97-AF65-F5344CB8AC3E}">
        <p14:creationId xmlns:p14="http://schemas.microsoft.com/office/powerpoint/2010/main" val="2698581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True Fungi: </a:t>
            </a:r>
            <a:r>
              <a:rPr lang="en-US" dirty="0" err="1"/>
              <a:t>Eumycota</a:t>
            </a:r>
            <a:endParaRPr lang="en-US" dirty="0"/>
          </a:p>
        </p:txBody>
      </p:sp>
      <p:sp>
        <p:nvSpPr>
          <p:cNvPr id="3" name="Content Placeholder 2"/>
          <p:cNvSpPr>
            <a:spLocks noGrp="1"/>
          </p:cNvSpPr>
          <p:nvPr>
            <p:ph idx="1"/>
          </p:nvPr>
        </p:nvSpPr>
        <p:spPr>
          <a:xfrm>
            <a:off x="457200" y="1371600"/>
            <a:ext cx="8229600" cy="5105400"/>
          </a:xfrm>
        </p:spPr>
        <p:txBody>
          <a:bodyPr/>
          <a:lstStyle/>
          <a:p>
            <a:pPr>
              <a:lnSpc>
                <a:spcPct val="90000"/>
              </a:lnSpc>
            </a:pPr>
            <a:r>
              <a:rPr lang="en-US" dirty="0"/>
              <a:t>Eukaryotic, spore-bearing</a:t>
            </a:r>
            <a:br>
              <a:rPr lang="en-US" dirty="0"/>
            </a:br>
            <a:endParaRPr lang="en-US" dirty="0"/>
          </a:p>
          <a:p>
            <a:pPr>
              <a:lnSpc>
                <a:spcPct val="90000"/>
              </a:lnSpc>
            </a:pPr>
            <a:r>
              <a:rPr lang="en-US" dirty="0" err="1"/>
              <a:t>Chemoorganoheterotrophs</a:t>
            </a:r>
            <a:r>
              <a:rPr lang="en-US" dirty="0"/>
              <a:t> with absorptive metabolism</a:t>
            </a:r>
            <a:br>
              <a:rPr lang="en-US" dirty="0"/>
            </a:br>
            <a:endParaRPr lang="en-US" dirty="0"/>
          </a:p>
          <a:p>
            <a:pPr>
              <a:lnSpc>
                <a:spcPct val="90000"/>
              </a:lnSpc>
            </a:pPr>
            <a:r>
              <a:rPr lang="en-US" dirty="0"/>
              <a:t>Saprophytes</a:t>
            </a:r>
          </a:p>
          <a:p>
            <a:pPr lvl="1">
              <a:lnSpc>
                <a:spcPct val="90000"/>
              </a:lnSpc>
            </a:pPr>
            <a:r>
              <a:rPr lang="en-US" dirty="0"/>
              <a:t>absorb nutrients from dead organic material by releasing degradative enzymes</a:t>
            </a:r>
          </a:p>
          <a:p>
            <a:pPr lvl="1">
              <a:lnSpc>
                <a:spcPct val="90000"/>
              </a:lnSpc>
            </a:pPr>
            <a:r>
              <a:rPr lang="en-US" dirty="0" err="1"/>
              <a:t>osmotrophy</a:t>
            </a:r>
            <a:r>
              <a:rPr lang="en-US" dirty="0"/>
              <a:t> - absorb soluble products</a:t>
            </a:r>
            <a:br>
              <a:rPr lang="en-US" dirty="0"/>
            </a:br>
            <a:endParaRPr lang="en-US" dirty="0"/>
          </a:p>
          <a:p>
            <a:pPr>
              <a:lnSpc>
                <a:spcPct val="90000"/>
              </a:lnSpc>
            </a:pPr>
            <a:r>
              <a:rPr lang="en-US" dirty="0"/>
              <a:t>Lack chlorophyll</a:t>
            </a:r>
            <a:br>
              <a:rPr lang="en-US" dirty="0"/>
            </a:br>
            <a:endParaRPr lang="en-US" dirty="0"/>
          </a:p>
          <a:p>
            <a:pPr>
              <a:lnSpc>
                <a:spcPct val="90000"/>
              </a:lnSpc>
            </a:pPr>
            <a:r>
              <a:rPr lang="en-US" dirty="0"/>
              <a:t>Reproduce sexually and asexually</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a:t>
            </a:fld>
            <a:endParaRPr lang="en-US"/>
          </a:p>
        </p:txBody>
      </p:sp>
    </p:spTree>
    <p:extLst>
      <p:ext uri="{BB962C8B-B14F-4D97-AF65-F5344CB8AC3E}">
        <p14:creationId xmlns:p14="http://schemas.microsoft.com/office/powerpoint/2010/main" val="3784050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Terminology</a:t>
            </a:r>
          </a:p>
        </p:txBody>
      </p:sp>
      <p:sp>
        <p:nvSpPr>
          <p:cNvPr id="3" name="Content Placeholder 2"/>
          <p:cNvSpPr>
            <a:spLocks noGrp="1"/>
          </p:cNvSpPr>
          <p:nvPr>
            <p:ph idx="1"/>
          </p:nvPr>
        </p:nvSpPr>
        <p:spPr/>
        <p:txBody>
          <a:bodyPr/>
          <a:lstStyle/>
          <a:p>
            <a:r>
              <a:rPr lang="en-US" dirty="0"/>
              <a:t>Mycology – study of fungi</a:t>
            </a:r>
            <a:br>
              <a:rPr lang="en-US" dirty="0"/>
            </a:br>
            <a:endParaRPr lang="en-US" dirty="0"/>
          </a:p>
          <a:p>
            <a:r>
              <a:rPr lang="en-US" dirty="0"/>
              <a:t>Mycologists – scientists who study fungi</a:t>
            </a:r>
            <a:br>
              <a:rPr lang="en-US" dirty="0"/>
            </a:br>
            <a:endParaRPr lang="en-US" dirty="0"/>
          </a:p>
          <a:p>
            <a:r>
              <a:rPr lang="en-US" dirty="0"/>
              <a:t>Mycoses – diseases caused by fungi</a:t>
            </a:r>
            <a:br>
              <a:rPr lang="en-US" dirty="0"/>
            </a:br>
            <a:endParaRPr lang="en-US" dirty="0"/>
          </a:p>
          <a:p>
            <a:r>
              <a:rPr lang="en-US" dirty="0" err="1"/>
              <a:t>Mycotoxicology</a:t>
            </a:r>
            <a:r>
              <a:rPr lang="en-US" dirty="0"/>
              <a:t> – study of fungal toxins and their effects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a:t>
            </a:fld>
            <a:endParaRPr lang="en-US"/>
          </a:p>
        </p:txBody>
      </p:sp>
    </p:spTree>
    <p:extLst>
      <p:ext uri="{BB962C8B-B14F-4D97-AF65-F5344CB8AC3E}">
        <p14:creationId xmlns:p14="http://schemas.microsoft.com/office/powerpoint/2010/main" val="2639199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Taxonomy of Fungi</a:t>
            </a:r>
          </a:p>
        </p:txBody>
      </p:sp>
      <p:sp>
        <p:nvSpPr>
          <p:cNvPr id="3" name="Content Placeholder 2"/>
          <p:cNvSpPr>
            <a:spLocks noGrp="1"/>
          </p:cNvSpPr>
          <p:nvPr>
            <p:ph sz="half" idx="1"/>
          </p:nvPr>
        </p:nvSpPr>
        <p:spPr>
          <a:xfrm>
            <a:off x="76200" y="1600200"/>
            <a:ext cx="4038600" cy="5181600"/>
          </a:xfrm>
        </p:spPr>
        <p:txBody>
          <a:bodyPr/>
          <a:lstStyle/>
          <a:p>
            <a:pPr>
              <a:lnSpc>
                <a:spcPct val="90000"/>
              </a:lnSpc>
            </a:pPr>
            <a:r>
              <a:rPr lang="en-US" dirty="0"/>
              <a:t>90,000 fungal species have been described, possible 1.5 million</a:t>
            </a:r>
            <a:br>
              <a:rPr lang="en-US" dirty="0"/>
            </a:br>
            <a:endParaRPr lang="en-US" dirty="0"/>
          </a:p>
          <a:p>
            <a:pPr>
              <a:lnSpc>
                <a:spcPct val="90000"/>
              </a:lnSpc>
            </a:pPr>
            <a:r>
              <a:rPr lang="en-US" dirty="0"/>
              <a:t>Six major fungal groups</a:t>
            </a:r>
          </a:p>
          <a:p>
            <a:pPr lvl="1">
              <a:lnSpc>
                <a:spcPct val="90000"/>
              </a:lnSpc>
            </a:pPr>
            <a:r>
              <a:rPr lang="en-US" i="1" dirty="0" err="1"/>
              <a:t>Chytridiomycota</a:t>
            </a:r>
            <a:endParaRPr lang="en-US" i="1" dirty="0"/>
          </a:p>
          <a:p>
            <a:pPr lvl="1">
              <a:lnSpc>
                <a:spcPct val="90000"/>
              </a:lnSpc>
            </a:pPr>
            <a:r>
              <a:rPr lang="en-US" i="1" dirty="0" err="1"/>
              <a:t>Zygomycota</a:t>
            </a:r>
            <a:endParaRPr lang="en-US" i="1" dirty="0"/>
          </a:p>
          <a:p>
            <a:pPr lvl="1">
              <a:lnSpc>
                <a:spcPct val="90000"/>
              </a:lnSpc>
            </a:pPr>
            <a:r>
              <a:rPr lang="en-US" i="1" dirty="0" err="1"/>
              <a:t>Glomeromycota</a:t>
            </a:r>
            <a:endParaRPr lang="en-US" i="1" dirty="0"/>
          </a:p>
          <a:p>
            <a:pPr lvl="1">
              <a:lnSpc>
                <a:spcPct val="90000"/>
              </a:lnSpc>
            </a:pPr>
            <a:r>
              <a:rPr lang="en-US" i="1" dirty="0"/>
              <a:t>Ascomycota</a:t>
            </a:r>
          </a:p>
          <a:p>
            <a:pPr lvl="1">
              <a:lnSpc>
                <a:spcPct val="90000"/>
              </a:lnSpc>
            </a:pPr>
            <a:r>
              <a:rPr lang="en-US" i="1" dirty="0"/>
              <a:t>Basidiomycota</a:t>
            </a:r>
          </a:p>
          <a:p>
            <a:pPr lvl="1">
              <a:lnSpc>
                <a:spcPct val="90000"/>
              </a:lnSpc>
            </a:pPr>
            <a:r>
              <a:rPr lang="en-US" i="1" dirty="0"/>
              <a:t>Microsporidia</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a:t>
            </a:fld>
            <a:endParaRPr lang="en-US"/>
          </a:p>
        </p:txBody>
      </p:sp>
      <p:pic>
        <p:nvPicPr>
          <p:cNvPr id="1026" name="Picture 2" descr="Phylogenetic analysis of the seven fungal groups: Dikarya (Ascomycota, Basidiomycota), Glomeromycota, Zygomycota (Mucormycotina, Entomopthorales), Chytridiomycota (Olpidium, Blastocladiales, Euchytrids), Cryptomycota, Microsporidia, and Metazoa.  Some suggest that the Microsporidia and Cryptomycota be combined into a single phylum." title="Figure 26.1 The Major Branches of the Fungi."/>
          <p:cNvPicPr>
            <a:picLocks noChangeAspect="1" noChangeArrowheads="1"/>
          </p:cNvPicPr>
          <p:nvPr/>
        </p:nvPicPr>
        <p:blipFill>
          <a:blip r:embed="rId2" cstate="print"/>
          <a:srcRect/>
          <a:stretch>
            <a:fillRect/>
          </a:stretch>
        </p:blipFill>
        <p:spPr bwMode="auto">
          <a:xfrm>
            <a:off x="3991042" y="1811868"/>
            <a:ext cx="5000558" cy="3929590"/>
          </a:xfrm>
          <a:prstGeom prst="rect">
            <a:avLst/>
          </a:prstGeom>
          <a:noFill/>
        </p:spPr>
      </p:pic>
    </p:spTree>
    <p:extLst>
      <p:ext uri="{BB962C8B-B14F-4D97-AF65-F5344CB8AC3E}">
        <p14:creationId xmlns:p14="http://schemas.microsoft.com/office/powerpoint/2010/main" val="328308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Tricky Taxonomy of Fungi</a:t>
            </a:r>
          </a:p>
        </p:txBody>
      </p:sp>
      <p:sp>
        <p:nvSpPr>
          <p:cNvPr id="3" name="Content Placeholder 2"/>
          <p:cNvSpPr>
            <a:spLocks noGrp="1"/>
          </p:cNvSpPr>
          <p:nvPr>
            <p:ph sz="half" idx="1"/>
          </p:nvPr>
        </p:nvSpPr>
        <p:spPr>
          <a:xfrm>
            <a:off x="76200" y="1142999"/>
            <a:ext cx="8991600" cy="2743201"/>
          </a:xfrm>
        </p:spPr>
        <p:txBody>
          <a:bodyPr>
            <a:normAutofit fontScale="92500" lnSpcReduction="10000"/>
          </a:bodyPr>
          <a:lstStyle/>
          <a:p>
            <a:r>
              <a:rPr lang="en-US" i="1" dirty="0"/>
              <a:t>Basidiomycota</a:t>
            </a:r>
            <a:r>
              <a:rPr lang="en-US" dirty="0"/>
              <a:t> and </a:t>
            </a:r>
            <a:r>
              <a:rPr lang="en-US" i="1" dirty="0"/>
              <a:t>Ascomycota</a:t>
            </a:r>
            <a:r>
              <a:rPr lang="en-US" dirty="0"/>
              <a:t> are </a:t>
            </a:r>
            <a:r>
              <a:rPr lang="en-US" dirty="0" err="1"/>
              <a:t>dikarya</a:t>
            </a:r>
            <a:endParaRPr lang="en-US" dirty="0"/>
          </a:p>
          <a:p>
            <a:pPr lvl="1"/>
            <a:r>
              <a:rPr lang="en-US" dirty="0"/>
              <a:t>two parental nuclei are initially paired</a:t>
            </a:r>
          </a:p>
          <a:p>
            <a:pPr lvl="1"/>
            <a:r>
              <a:rPr lang="en-US" dirty="0"/>
              <a:t>nuclei fuse, undergo meiosis, produce haploid progeny</a:t>
            </a:r>
            <a:br>
              <a:rPr lang="en-US" dirty="0"/>
            </a:br>
            <a:endParaRPr lang="en-US" dirty="0"/>
          </a:p>
          <a:p>
            <a:r>
              <a:rPr lang="en-US" i="1" dirty="0" err="1"/>
              <a:t>Zygomycota</a:t>
            </a:r>
            <a:r>
              <a:rPr lang="en-US" dirty="0"/>
              <a:t> and </a:t>
            </a:r>
            <a:r>
              <a:rPr lang="en-US" i="1" dirty="0" err="1"/>
              <a:t>Chytridiomycota</a:t>
            </a:r>
            <a:r>
              <a:rPr lang="en-US" i="1" dirty="0"/>
              <a:t> </a:t>
            </a:r>
            <a:r>
              <a:rPr lang="en-US" dirty="0"/>
              <a:t>are paraphyletic</a:t>
            </a:r>
          </a:p>
          <a:p>
            <a:pPr lvl="1"/>
            <a:r>
              <a:rPr lang="en-US" dirty="0"/>
              <a:t>taxonomic group includes some </a:t>
            </a:r>
            <a:r>
              <a:rPr lang="en-US" dirty="0" err="1"/>
              <a:t>descendents</a:t>
            </a:r>
            <a:r>
              <a:rPr lang="en-US" dirty="0"/>
              <a:t> of a single common ancestor</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a:t>
            </a:fld>
            <a:endParaRPr lang="en-US"/>
          </a:p>
        </p:txBody>
      </p:sp>
      <p:pic>
        <p:nvPicPr>
          <p:cNvPr id="2050" name="Picture 2" descr="(a) The free living chytrid Allomyces macrogynus, which lives in mud. (b) Pilobolus sp., a zygomycete, grows on animal dung and on culture medium. Stalks about 10 mm long contain dark, spore-bearing sacs. (c) Mycorrhizae are glomeromycetes associated with roots. (d) The cup fungus Cookeina tricholoma is an ascomycete from the rain forest of Costa Rica. In cup fungi, the spore-producing structures line the cup; in basidiomycetes that form mushrooms such as Amanita sp. they line the gills beneath the cap of the mushroom. (e) Pleurotus ostreatus, the oyster mushroom, is a basidiomycete. All visible structures of fungi arise from an extensive network of hyphae that penetrate and are interwoven with the substrate as they grow. (f) By contrast, the unusual fungi that belong to Microsporidia form spores that germinate in host cells. Shown here is the mosquito pathogen Edhazardia aedis." title="Figure 26.2 Representatives of the Fungal Groups."/>
          <p:cNvPicPr>
            <a:picLocks noChangeAspect="1" noChangeArrowheads="1"/>
          </p:cNvPicPr>
          <p:nvPr/>
        </p:nvPicPr>
        <p:blipFill>
          <a:blip r:embed="rId2" cstate="print"/>
          <a:srcRect/>
          <a:stretch>
            <a:fillRect/>
          </a:stretch>
        </p:blipFill>
        <p:spPr bwMode="auto">
          <a:xfrm>
            <a:off x="127000" y="3657600"/>
            <a:ext cx="8890000" cy="2763122"/>
          </a:xfrm>
          <a:prstGeom prst="rect">
            <a:avLst/>
          </a:prstGeom>
          <a:noFill/>
        </p:spPr>
      </p:pic>
    </p:spTree>
    <p:extLst>
      <p:ext uri="{BB962C8B-B14F-4D97-AF65-F5344CB8AC3E}">
        <p14:creationId xmlns:p14="http://schemas.microsoft.com/office/powerpoint/2010/main" val="3180564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5190"/>
            <a:ext cx="8229600" cy="1143000"/>
          </a:xfrm>
        </p:spPr>
        <p:txBody>
          <a:bodyPr/>
          <a:lstStyle/>
          <a:p>
            <a:r>
              <a:rPr lang="en-US" dirty="0"/>
              <a:t>Abbreviated Classification of Fungi</a:t>
            </a:r>
          </a:p>
        </p:txBody>
      </p:sp>
      <p:sp>
        <p:nvSpPr>
          <p:cNvPr id="3" name="Slide Number Placeholder 2"/>
          <p:cNvSpPr>
            <a:spLocks noGrp="1"/>
          </p:cNvSpPr>
          <p:nvPr>
            <p:ph type="sldNum" sz="quarter" idx="12"/>
          </p:nvPr>
        </p:nvSpPr>
        <p:spPr/>
        <p:txBody>
          <a:bodyPr/>
          <a:lstStyle/>
          <a:p>
            <a:fld id="{3B1A82D2-719A-4A87-BECB-D74482819C19}" type="slidenum">
              <a:rPr lang="en-US" smtClean="0"/>
              <a:pPr/>
              <a:t>7</a:t>
            </a:fld>
            <a:endParaRPr lang="en-US"/>
          </a:p>
        </p:txBody>
      </p:sp>
      <p:pic>
        <p:nvPicPr>
          <p:cNvPr id="3074" name="Picture 2" descr="Header Row: Subclass; Characteristic; Examples&#10;Chytridiomycota; Flagellated cells in at least one stage of life cycle. May have one or more flagella. Cell walls with chitin and β-1,3 / 1,6-glucan. Glycogen is used as a storage carbohydrate. Sexual reproduction often results in a zygote that becomes a resting spore or sporangium. Saprophytic or parasitic. Chytrid subdivisions include Blastocladiales, Monoblepharidales, Neocallimastigaceae, Spizellomycetales, and Chytridiales.; Allomyces, Blastocladiella, Coelomomyces, Physoderma, Synchytrium&#10;Zygomycota; Thalli usually filamentous and nonseptate, without cilia. Sexual reproduction gives rise to thick-walled zygospores that are often ornamented. Includes seven subdivisions: Basidiobolus, Dimargaritales, Endogonales, Entomophthorales, Harpellales, Kickxellales, Mucorales, and Zoopagales. Human pathogens found in Mucorales and Entomophthorales.; Amoebophilus, Mucor, Phycomyces, Rhizopus, Thamnidium&#10;Ascomycota; Sexual reproduction involves meiosis of a diploid nucleus in an ascus, giving rise to haploid ascospores. Most also undergo asexual reproduction with the formation of conidiospores with specialized aerial hyphae called conidiophores. Many produce asci within complex fruiting bodies called ascocarps. Includes saprophytic, parasitic forms. Many form mutualisms with phototrophic microbes to form lichens. Four monophyletic subdivisions: Saccharomycetes, Pezizomycotina, Taphrinomycotina, and Neolecta.; Ascobolus, Aspergillis, Candida, Crinula, Neurospora, Penicillium, Pneumocystis, Saccharomyces&#10;Basidiomycota; Includes many common mushrooms and shelf fungi. Sexual reproduction involves formation of a basidium (small, club-shaped structure that typically forms spores at the ends of tiny projections) within which haploid basidiospores are formed. Usually four spores per basidium but can range from one to eight. Sexual reproduction involves fusion with opposite mating type resulting in a dikaryotic mycelium with parental nuclei paired but not initially fused. No subdivisions recognized. Also includes plant pathogens (rusts and smuts) belonging to Urediniomycota and Ustilaginomycota.; Agaricus, Boletes, Dacrymyces, Lycoperdon, Polyporus, Uromyces, Ustilago&#10;Glomeromycota; Filamentous, most are endomycorrhizal, arbuscular. Lack cilium, form asexual spores outside of host plant, lack centrioles, conidia, and aerial spores. No subdivisions recognized.; Acaulospora, Entrophospora, Glomus&#10;Microsporidia; Obligate intracellular parasites usually of animals. Lack mitochondria, peroxisomes, kinetosomes, cilia, and centrioles. Spores have an inner chitin wall and outer wall of protein. Produce a tube for host penetration. Subdivisions currently uncertain.; Amblyospora, Encephalitozoon, Enterocytozoon, Nosema&#10;Cryptomycota; 3-5 μm roughly spherical cells, flagellated, osmotrophic. Cell wall does not possess chitin. Broadly distributed in soil, freshwater, and aquatic sediments.; Rozella" title="Table 26.1 Abbreviated Classification of Fungi"/>
          <p:cNvPicPr>
            <a:picLocks noChangeAspect="1" noChangeArrowheads="1"/>
          </p:cNvPicPr>
          <p:nvPr/>
        </p:nvPicPr>
        <p:blipFill>
          <a:blip r:embed="rId2" cstate="print"/>
          <a:srcRect/>
          <a:stretch>
            <a:fillRect/>
          </a:stretch>
        </p:blipFill>
        <p:spPr bwMode="auto">
          <a:xfrm>
            <a:off x="1665558" y="1159933"/>
            <a:ext cx="5812884" cy="5326972"/>
          </a:xfrm>
          <a:prstGeom prst="rect">
            <a:avLst/>
          </a:prstGeom>
          <a:noFill/>
        </p:spPr>
      </p:pic>
    </p:spTree>
    <p:extLst>
      <p:ext uri="{BB962C8B-B14F-4D97-AF65-F5344CB8AC3E}">
        <p14:creationId xmlns:p14="http://schemas.microsoft.com/office/powerpoint/2010/main" val="2059998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Fungal Distribution and Importance</a:t>
            </a:r>
          </a:p>
        </p:txBody>
      </p:sp>
      <p:sp>
        <p:nvSpPr>
          <p:cNvPr id="3" name="Content Placeholder 2"/>
          <p:cNvSpPr>
            <a:spLocks noGrp="1"/>
          </p:cNvSpPr>
          <p:nvPr>
            <p:ph idx="1"/>
          </p:nvPr>
        </p:nvSpPr>
        <p:spPr>
          <a:xfrm>
            <a:off x="228600" y="1143000"/>
            <a:ext cx="8686800" cy="5562600"/>
          </a:xfrm>
        </p:spPr>
        <p:txBody>
          <a:bodyPr>
            <a:normAutofit fontScale="92500" lnSpcReduction="20000"/>
          </a:bodyPr>
          <a:lstStyle/>
          <a:p>
            <a:pPr>
              <a:lnSpc>
                <a:spcPct val="110000"/>
              </a:lnSpc>
              <a:spcBef>
                <a:spcPts val="600"/>
              </a:spcBef>
            </a:pPr>
            <a:r>
              <a:rPr lang="en-US" dirty="0"/>
              <a:t>Primarily terrestrial, few aquatic</a:t>
            </a:r>
          </a:p>
          <a:p>
            <a:pPr lvl="1">
              <a:lnSpc>
                <a:spcPct val="110000"/>
              </a:lnSpc>
              <a:spcBef>
                <a:spcPts val="600"/>
              </a:spcBef>
            </a:pPr>
            <a:r>
              <a:rPr lang="en-US" dirty="0"/>
              <a:t>global from polar to tropical</a:t>
            </a:r>
          </a:p>
          <a:p>
            <a:pPr>
              <a:lnSpc>
                <a:spcPct val="110000"/>
              </a:lnSpc>
              <a:spcBef>
                <a:spcPts val="600"/>
              </a:spcBef>
            </a:pPr>
            <a:r>
              <a:rPr lang="en-US" dirty="0"/>
              <a:t>Primarily terrestrial</a:t>
            </a:r>
          </a:p>
          <a:p>
            <a:pPr lvl="1">
              <a:lnSpc>
                <a:spcPct val="110000"/>
              </a:lnSpc>
              <a:spcBef>
                <a:spcPts val="600"/>
              </a:spcBef>
            </a:pPr>
            <a:r>
              <a:rPr lang="en-US" dirty="0"/>
              <a:t>few aquatic species</a:t>
            </a:r>
          </a:p>
          <a:p>
            <a:pPr>
              <a:lnSpc>
                <a:spcPct val="110000"/>
              </a:lnSpc>
              <a:spcBef>
                <a:spcPts val="600"/>
              </a:spcBef>
            </a:pPr>
            <a:r>
              <a:rPr lang="en-US" dirty="0"/>
              <a:t>Many are pathogenic in plants or animals</a:t>
            </a:r>
          </a:p>
          <a:p>
            <a:pPr>
              <a:lnSpc>
                <a:spcPct val="110000"/>
              </a:lnSpc>
              <a:spcBef>
                <a:spcPts val="600"/>
              </a:spcBef>
            </a:pPr>
            <a:r>
              <a:rPr lang="en-US" dirty="0"/>
              <a:t>Some form associations</a:t>
            </a:r>
          </a:p>
          <a:p>
            <a:pPr lvl="1">
              <a:lnSpc>
                <a:spcPct val="110000"/>
              </a:lnSpc>
              <a:spcBef>
                <a:spcPts val="600"/>
              </a:spcBef>
            </a:pPr>
            <a:r>
              <a:rPr lang="en-US" dirty="0"/>
              <a:t>mycorrhizae – associations with plant roots</a:t>
            </a:r>
          </a:p>
          <a:p>
            <a:pPr lvl="1">
              <a:lnSpc>
                <a:spcPct val="110000"/>
              </a:lnSpc>
              <a:spcBef>
                <a:spcPts val="600"/>
              </a:spcBef>
            </a:pPr>
            <a:r>
              <a:rPr lang="en-US" dirty="0"/>
              <a:t>lichens </a:t>
            </a:r>
          </a:p>
          <a:p>
            <a:pPr lvl="2">
              <a:lnSpc>
                <a:spcPct val="110000"/>
              </a:lnSpc>
              <a:spcBef>
                <a:spcPts val="600"/>
              </a:spcBef>
            </a:pPr>
            <a:r>
              <a:rPr lang="en-US" sz="2400" dirty="0"/>
              <a:t>associations with algae or cyanobacteria</a:t>
            </a:r>
          </a:p>
          <a:p>
            <a:pPr>
              <a:lnSpc>
                <a:spcPct val="110000"/>
              </a:lnSpc>
              <a:spcBef>
                <a:spcPts val="600"/>
              </a:spcBef>
            </a:pPr>
            <a:r>
              <a:rPr lang="en-US" dirty="0"/>
              <a:t>Decomposers </a:t>
            </a:r>
          </a:p>
          <a:p>
            <a:pPr lvl="1">
              <a:lnSpc>
                <a:spcPct val="110000"/>
              </a:lnSpc>
              <a:spcBef>
                <a:spcPts val="600"/>
              </a:spcBef>
            </a:pPr>
            <a:r>
              <a:rPr lang="en-US" dirty="0"/>
              <a:t>degrade complex organic material in the environment to simple organic compounds and inorganic molecules</a:t>
            </a:r>
          </a:p>
          <a:p>
            <a:pPr lvl="1">
              <a:lnSpc>
                <a:spcPct val="110000"/>
              </a:lnSpc>
              <a:spcBef>
                <a:spcPts val="600"/>
              </a:spcBef>
            </a:pPr>
            <a:r>
              <a:rPr lang="en-US" dirty="0"/>
              <a:t>carbon, nitrogen, phosphorus, and other critical constituents are recycled for other living organisms</a:t>
            </a:r>
          </a:p>
          <a:p>
            <a:pPr lvl="1">
              <a:lnSpc>
                <a:spcPct val="90000"/>
              </a:lnSpc>
            </a:pPr>
            <a:endParaRPr lang="en-US" sz="2600"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8</a:t>
            </a:fld>
            <a:endParaRPr lang="en-US"/>
          </a:p>
        </p:txBody>
      </p:sp>
    </p:spTree>
    <p:extLst>
      <p:ext uri="{BB962C8B-B14F-4D97-AF65-F5344CB8AC3E}">
        <p14:creationId xmlns:p14="http://schemas.microsoft.com/office/powerpoint/2010/main" val="1221886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a:t>Fungal Distribution and Importance – Industrial and Research Use</a:t>
            </a:r>
          </a:p>
        </p:txBody>
      </p:sp>
      <p:sp>
        <p:nvSpPr>
          <p:cNvPr id="3" name="Content Placeholder 2"/>
          <p:cNvSpPr>
            <a:spLocks noGrp="1"/>
          </p:cNvSpPr>
          <p:nvPr>
            <p:ph idx="1"/>
          </p:nvPr>
        </p:nvSpPr>
        <p:spPr>
          <a:xfrm>
            <a:off x="228600" y="1371600"/>
            <a:ext cx="8686800" cy="5181600"/>
          </a:xfrm>
        </p:spPr>
        <p:txBody>
          <a:bodyPr>
            <a:normAutofit fontScale="92500" lnSpcReduction="10000"/>
          </a:bodyPr>
          <a:lstStyle/>
          <a:p>
            <a:r>
              <a:rPr lang="en-US" dirty="0"/>
              <a:t>Industrial importance</a:t>
            </a:r>
          </a:p>
          <a:p>
            <a:pPr lvl="1">
              <a:lnSpc>
                <a:spcPct val="110000"/>
              </a:lnSpc>
            </a:pPr>
            <a:r>
              <a:rPr lang="en-US" dirty="0"/>
              <a:t>fermentation – yeast used in making bread, wine, beer, cheese, soy sauce</a:t>
            </a:r>
          </a:p>
          <a:p>
            <a:pPr lvl="1">
              <a:lnSpc>
                <a:spcPct val="110000"/>
              </a:lnSpc>
            </a:pPr>
            <a:r>
              <a:rPr lang="en-US" dirty="0"/>
              <a:t>organic acids – citric and </a:t>
            </a:r>
            <a:r>
              <a:rPr lang="en-US" dirty="0" err="1"/>
              <a:t>gallic</a:t>
            </a:r>
            <a:r>
              <a:rPr lang="en-US" dirty="0"/>
              <a:t> acid</a:t>
            </a:r>
          </a:p>
          <a:p>
            <a:pPr lvl="1">
              <a:lnSpc>
                <a:spcPct val="110000"/>
              </a:lnSpc>
            </a:pPr>
            <a:r>
              <a:rPr lang="en-US" dirty="0"/>
              <a:t>certain drugs – </a:t>
            </a:r>
            <a:r>
              <a:rPr lang="en-US" dirty="0" err="1"/>
              <a:t>ergometrine</a:t>
            </a:r>
            <a:r>
              <a:rPr lang="en-US" dirty="0"/>
              <a:t>, cortisone</a:t>
            </a:r>
          </a:p>
          <a:p>
            <a:pPr lvl="1">
              <a:lnSpc>
                <a:spcPct val="110000"/>
              </a:lnSpc>
            </a:pPr>
            <a:r>
              <a:rPr lang="en-US" dirty="0"/>
              <a:t>antibiotics – penicillin, </a:t>
            </a:r>
            <a:r>
              <a:rPr lang="en-US" dirty="0" err="1"/>
              <a:t>griseofulvin</a:t>
            </a:r>
            <a:endParaRPr lang="en-US" dirty="0"/>
          </a:p>
          <a:p>
            <a:pPr lvl="1">
              <a:lnSpc>
                <a:spcPct val="110000"/>
              </a:lnSpc>
            </a:pPr>
            <a:r>
              <a:rPr lang="en-US" dirty="0"/>
              <a:t>immunosuppressive agents – </a:t>
            </a:r>
            <a:r>
              <a:rPr lang="en-US" dirty="0" err="1"/>
              <a:t>cyclosporin</a:t>
            </a:r>
            <a:br>
              <a:rPr lang="en-US" dirty="0"/>
            </a:br>
            <a:endParaRPr lang="en-US" dirty="0"/>
          </a:p>
          <a:p>
            <a:r>
              <a:rPr lang="en-US" dirty="0"/>
              <a:t>Research use</a:t>
            </a:r>
          </a:p>
          <a:p>
            <a:pPr lvl="1"/>
            <a:r>
              <a:rPr lang="en-US" dirty="0"/>
              <a:t>geneticists, cytologists, biochemists, biophysicists, and microbiologists</a:t>
            </a:r>
          </a:p>
          <a:p>
            <a:pPr lvl="1"/>
            <a:r>
              <a:rPr lang="en-US" i="1" dirty="0"/>
              <a:t>Saccharomyces cerevisiae</a:t>
            </a:r>
            <a:endParaRPr lang="en-US" dirty="0"/>
          </a:p>
          <a:p>
            <a:pPr lvl="2"/>
            <a:r>
              <a:rPr lang="en-US" dirty="0"/>
              <a:t>yeast model system for cell biology, genetics, and cancer</a:t>
            </a:r>
          </a:p>
          <a:p>
            <a:pPr lvl="1">
              <a:lnSpc>
                <a:spcPct val="110000"/>
              </a:lnSpc>
            </a:pP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9</a:t>
            </a:fld>
            <a:endParaRPr lang="en-US"/>
          </a:p>
        </p:txBody>
      </p:sp>
    </p:spTree>
    <p:extLst>
      <p:ext uri="{BB962C8B-B14F-4D97-AF65-F5344CB8AC3E}">
        <p14:creationId xmlns:p14="http://schemas.microsoft.com/office/powerpoint/2010/main" val="1194932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Fungal Structure</a:t>
            </a:r>
          </a:p>
        </p:txBody>
      </p:sp>
      <p:sp>
        <p:nvSpPr>
          <p:cNvPr id="3" name="Content Placeholder 2"/>
          <p:cNvSpPr>
            <a:spLocks noGrp="1"/>
          </p:cNvSpPr>
          <p:nvPr>
            <p:ph sz="half" idx="1"/>
          </p:nvPr>
        </p:nvSpPr>
        <p:spPr>
          <a:xfrm>
            <a:off x="152400" y="1066801"/>
            <a:ext cx="8839200" cy="3124200"/>
          </a:xfrm>
        </p:spPr>
        <p:txBody>
          <a:bodyPr>
            <a:normAutofit fontScale="92500" lnSpcReduction="20000"/>
          </a:bodyPr>
          <a:lstStyle/>
          <a:p>
            <a:pPr marL="342900" lvl="1" indent="-342900">
              <a:buFontTx/>
              <a:buChar char="•"/>
            </a:pPr>
            <a:r>
              <a:rPr lang="en-US" dirty="0"/>
              <a:t>Cell walls composed of chitin polysaccharide</a:t>
            </a:r>
            <a:br>
              <a:rPr lang="en-US" dirty="0"/>
            </a:br>
            <a:endParaRPr lang="en-US" dirty="0"/>
          </a:p>
          <a:p>
            <a:pPr marL="342900" lvl="1" indent="-342900">
              <a:buFontTx/>
              <a:buChar char="•"/>
            </a:pPr>
            <a:r>
              <a:rPr lang="en-US" dirty="0"/>
              <a:t>Single-celled microscopic fungi = yeasts</a:t>
            </a:r>
            <a:br>
              <a:rPr lang="en-US" dirty="0"/>
            </a:br>
            <a:endParaRPr lang="en-US" dirty="0"/>
          </a:p>
          <a:p>
            <a:r>
              <a:rPr lang="en-US" dirty="0"/>
              <a:t>Body/vegetative structure of a fungus = thallus (pl. thalli)</a:t>
            </a:r>
          </a:p>
          <a:p>
            <a:pPr lvl="1"/>
            <a:r>
              <a:rPr lang="en-US" dirty="0"/>
              <a:t>multicellular fungi are called molds</a:t>
            </a:r>
          </a:p>
          <a:p>
            <a:pPr lvl="1"/>
            <a:r>
              <a:rPr lang="en-US" dirty="0"/>
              <a:t>thallus consists of long, branched hyphae filaments tangled into a mycelium mass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10</a:t>
            </a:fld>
            <a:endParaRPr lang="en-US"/>
          </a:p>
        </p:txBody>
      </p:sp>
      <p:pic>
        <p:nvPicPr>
          <p:cNvPr id="4098" name="Picture 2" descr="Drawings of (a) coenocytic hyphae (aseptate) and (b) hyphae divided into cells by septa. (c) Electron micrograph of a section of Drechslera sorokiniana showing wall differentiation and a single pore. (d) Drawing of a multiperforate septal structure." title="Figure 26.3 Hyphae."/>
          <p:cNvPicPr>
            <a:picLocks noChangeAspect="1" noChangeArrowheads="1"/>
          </p:cNvPicPr>
          <p:nvPr/>
        </p:nvPicPr>
        <p:blipFill>
          <a:blip r:embed="rId2" cstate="print"/>
          <a:srcRect/>
          <a:stretch>
            <a:fillRect/>
          </a:stretch>
        </p:blipFill>
        <p:spPr bwMode="auto">
          <a:xfrm>
            <a:off x="203188" y="4114800"/>
            <a:ext cx="8737626" cy="2073802"/>
          </a:xfrm>
          <a:prstGeom prst="rect">
            <a:avLst/>
          </a:prstGeom>
          <a:noFill/>
        </p:spPr>
      </p:pic>
    </p:spTree>
    <p:extLst>
      <p:ext uri="{BB962C8B-B14F-4D97-AF65-F5344CB8AC3E}">
        <p14:creationId xmlns:p14="http://schemas.microsoft.com/office/powerpoint/2010/main" val="1194932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828800"/>
            <a:ext cx="4038600" cy="1676400"/>
          </a:xfrm>
        </p:spPr>
        <p:txBody>
          <a:bodyPr>
            <a:normAutofit/>
          </a:bodyPr>
          <a:lstStyle/>
          <a:p>
            <a:r>
              <a:rPr lang="en-US" dirty="0"/>
              <a:t>Fungal Reproduction</a:t>
            </a:r>
          </a:p>
        </p:txBody>
      </p:sp>
      <p:sp>
        <p:nvSpPr>
          <p:cNvPr id="3" name="Content Placeholder 2"/>
          <p:cNvSpPr>
            <a:spLocks noGrp="1"/>
          </p:cNvSpPr>
          <p:nvPr>
            <p:ph sz="half" idx="1"/>
          </p:nvPr>
        </p:nvSpPr>
        <p:spPr>
          <a:xfrm>
            <a:off x="152400" y="4343400"/>
            <a:ext cx="8839200" cy="2438400"/>
          </a:xfrm>
        </p:spPr>
        <p:txBody>
          <a:bodyPr/>
          <a:lstStyle/>
          <a:p>
            <a:pPr>
              <a:spcBef>
                <a:spcPts val="600"/>
              </a:spcBef>
            </a:pPr>
            <a:r>
              <a:rPr lang="en-US" dirty="0"/>
              <a:t>Asexual reproduction</a:t>
            </a:r>
          </a:p>
          <a:p>
            <a:pPr lvl="1">
              <a:spcBef>
                <a:spcPts val="600"/>
              </a:spcBef>
            </a:pPr>
            <a:r>
              <a:rPr lang="en-US" dirty="0"/>
              <a:t>Parent cell undergoes mitosis to form daughter cells</a:t>
            </a:r>
          </a:p>
          <a:p>
            <a:pPr lvl="1">
              <a:spcBef>
                <a:spcPts val="600"/>
              </a:spcBef>
            </a:pPr>
            <a:r>
              <a:rPr lang="en-US" dirty="0"/>
              <a:t>Mitosis in vegetative cells may be concurrent with budding to produce a daughter cell</a:t>
            </a:r>
          </a:p>
          <a:p>
            <a:pPr lvl="1">
              <a:spcBef>
                <a:spcPts val="600"/>
              </a:spcBef>
            </a:pPr>
            <a:r>
              <a:rPr lang="en-US" dirty="0"/>
              <a:t>May proceed through a spore form</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11</a:t>
            </a:fld>
            <a:endParaRPr lang="en-US"/>
          </a:p>
        </p:txBody>
      </p:sp>
      <p:pic>
        <p:nvPicPr>
          <p:cNvPr id="5122" name="Picture 2" descr="(a) Transverse fissure forming new cell wall. (b) Hyphal fragmentation resulting in arthroconidia (arthrospores). (c) Sporangiospores in a sporangium. (d) Conidiospores arranged in chains at the end of a conidiophore. (e) Blastospores are formed from buds off of the parent cell." title="Figure 26.4 Asexual Reproduction in Fungi and Some Representative Asexual Spores."/>
          <p:cNvPicPr>
            <a:picLocks noChangeAspect="1" noChangeArrowheads="1"/>
          </p:cNvPicPr>
          <p:nvPr/>
        </p:nvPicPr>
        <p:blipFill>
          <a:blip r:embed="rId2" cstate="print"/>
          <a:srcRect/>
          <a:stretch>
            <a:fillRect/>
          </a:stretch>
        </p:blipFill>
        <p:spPr bwMode="auto">
          <a:xfrm>
            <a:off x="3581400" y="533400"/>
            <a:ext cx="5392224" cy="3399886"/>
          </a:xfrm>
          <a:prstGeom prst="rect">
            <a:avLst/>
          </a:prstGeom>
          <a:noFill/>
        </p:spPr>
      </p:pic>
    </p:spTree>
    <p:extLst>
      <p:ext uri="{BB962C8B-B14F-4D97-AF65-F5344CB8AC3E}">
        <p14:creationId xmlns:p14="http://schemas.microsoft.com/office/powerpoint/2010/main" val="1194932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B1A82D2-719A-4A87-BECB-D74482819C19}" type="slidenum">
              <a:rPr lang="en-US" smtClean="0"/>
              <a:pPr/>
              <a:t>12</a:t>
            </a:fld>
            <a:endParaRPr lang="en-US"/>
          </a:p>
        </p:txBody>
      </p:sp>
      <p:sp>
        <p:nvSpPr>
          <p:cNvPr id="3" name="Content Placeholder 2"/>
          <p:cNvSpPr>
            <a:spLocks noGrp="1"/>
          </p:cNvSpPr>
          <p:nvPr>
            <p:ph sz="half" idx="1"/>
          </p:nvPr>
        </p:nvSpPr>
        <p:spPr>
          <a:xfrm>
            <a:off x="76200" y="1219201"/>
            <a:ext cx="4419600" cy="5474330"/>
          </a:xfrm>
        </p:spPr>
        <p:txBody>
          <a:bodyPr>
            <a:normAutofit/>
          </a:bodyPr>
          <a:lstStyle/>
          <a:p>
            <a:pPr>
              <a:spcBef>
                <a:spcPts val="600"/>
              </a:spcBef>
            </a:pPr>
            <a:r>
              <a:rPr lang="en-US" dirty="0"/>
              <a:t>Sexual reproduction</a:t>
            </a:r>
          </a:p>
          <a:p>
            <a:pPr lvl="1">
              <a:spcBef>
                <a:spcPts val="600"/>
              </a:spcBef>
            </a:pPr>
            <a:r>
              <a:rPr lang="en-US" dirty="0"/>
              <a:t>Involves fusion of compatible nuclei</a:t>
            </a:r>
          </a:p>
          <a:p>
            <a:pPr lvl="2">
              <a:spcBef>
                <a:spcPts val="600"/>
              </a:spcBef>
            </a:pPr>
            <a:r>
              <a:rPr lang="en-US" dirty="0"/>
              <a:t>Homothallic: Sexually-compatible gametes are formed on the same mycelium (self-fertilizing)</a:t>
            </a:r>
          </a:p>
          <a:p>
            <a:pPr lvl="2">
              <a:spcBef>
                <a:spcPts val="600"/>
              </a:spcBef>
            </a:pPr>
            <a:r>
              <a:rPr lang="en-US" dirty="0"/>
              <a:t>Heterothallic: Require outcrossing between different, yet compatible mycelia</a:t>
            </a:r>
          </a:p>
          <a:p>
            <a:pPr lvl="3">
              <a:spcBef>
                <a:spcPts val="600"/>
              </a:spcBef>
            </a:pPr>
            <a:r>
              <a:rPr lang="en-US" dirty="0"/>
              <a:t>A </a:t>
            </a:r>
            <a:r>
              <a:rPr lang="en-US" dirty="0" err="1"/>
              <a:t>dikaryotic</a:t>
            </a:r>
            <a:r>
              <a:rPr lang="en-US" dirty="0"/>
              <a:t> stage can exist temporarily prior to fusion of two haploid nuclei</a:t>
            </a:r>
          </a:p>
        </p:txBody>
      </p:sp>
      <p:sp>
        <p:nvSpPr>
          <p:cNvPr id="2" name="Title 1"/>
          <p:cNvSpPr>
            <a:spLocks noGrp="1"/>
          </p:cNvSpPr>
          <p:nvPr>
            <p:ph type="title"/>
          </p:nvPr>
        </p:nvSpPr>
        <p:spPr>
          <a:xfrm>
            <a:off x="457200" y="76200"/>
            <a:ext cx="8229600" cy="1143000"/>
          </a:xfrm>
        </p:spPr>
        <p:txBody>
          <a:bodyPr/>
          <a:lstStyle/>
          <a:p>
            <a:r>
              <a:rPr lang="en-US" dirty="0"/>
              <a:t>Fungal Reproduction - 2</a:t>
            </a:r>
          </a:p>
        </p:txBody>
      </p:sp>
      <p:pic>
        <p:nvPicPr>
          <p:cNvPr id="6146" name="Picture 2" descr="A drawing of the generalized life cycle for fungi showing the alternation of haploid and diploid stages. Some fungal species do not pass through the dikaryotic stage indicated in this drawing. The asexual (haploid) stage is used to produce spores that aid in the dissemination of the species. The sexual (diploid) stage involves the formation of spores that survive adverse environmental conditions (e.g., cold, dryness, heat)." title="Figure 26.5 Reproduction in Fungi."/>
          <p:cNvPicPr>
            <a:picLocks noChangeAspect="1" noChangeArrowheads="1"/>
          </p:cNvPicPr>
          <p:nvPr/>
        </p:nvPicPr>
        <p:blipFill>
          <a:blip r:embed="rId2" cstate="print"/>
          <a:srcRect/>
          <a:stretch>
            <a:fillRect/>
          </a:stretch>
        </p:blipFill>
        <p:spPr bwMode="auto">
          <a:xfrm>
            <a:off x="4453523" y="1515004"/>
            <a:ext cx="4640680" cy="3827992"/>
          </a:xfrm>
          <a:prstGeom prst="rect">
            <a:avLst/>
          </a:prstGeom>
          <a:noFill/>
        </p:spPr>
      </p:pic>
    </p:spTree>
    <p:extLst>
      <p:ext uri="{BB962C8B-B14F-4D97-AF65-F5344CB8AC3E}">
        <p14:creationId xmlns:p14="http://schemas.microsoft.com/office/powerpoint/2010/main" val="1194932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839200" cy="1265238"/>
          </a:xfrm>
        </p:spPr>
        <p:txBody>
          <a:bodyPr>
            <a:normAutofit/>
          </a:bodyPr>
          <a:lstStyle/>
          <a:p>
            <a:r>
              <a:rPr lang="en-US" dirty="0"/>
              <a:t>26.2 </a:t>
            </a:r>
            <a:r>
              <a:rPr lang="en-US" i="1" dirty="0" err="1"/>
              <a:t>Chytridiomycota</a:t>
            </a:r>
            <a:r>
              <a:rPr lang="en-US" i="1" dirty="0"/>
              <a:t> </a:t>
            </a:r>
            <a:r>
              <a:rPr lang="en-US" dirty="0"/>
              <a:t>Produce Motile Spores</a:t>
            </a:r>
          </a:p>
        </p:txBody>
      </p:sp>
      <p:sp>
        <p:nvSpPr>
          <p:cNvPr id="3" name="Content Placeholder 2"/>
          <p:cNvSpPr>
            <a:spLocks noGrp="1"/>
          </p:cNvSpPr>
          <p:nvPr>
            <p:ph idx="1"/>
          </p:nvPr>
        </p:nvSpPr>
        <p:spPr/>
        <p:txBody>
          <a:bodyPr/>
          <a:lstStyle/>
          <a:p>
            <a:pPr marL="514350" indent="-514350">
              <a:buFont typeface="+mj-lt"/>
              <a:buAutoNum type="arabicPeriod"/>
            </a:pPr>
            <a:r>
              <a:rPr lang="en-US" dirty="0"/>
              <a:t>Explain why </a:t>
            </a:r>
            <a:r>
              <a:rPr lang="en-US" dirty="0" err="1"/>
              <a:t>chytrids</a:t>
            </a:r>
            <a:r>
              <a:rPr lang="en-US" dirty="0"/>
              <a:t> are unique among fungi</a:t>
            </a:r>
            <a:br>
              <a:rPr lang="en-US" dirty="0"/>
            </a:br>
            <a:endParaRPr lang="en-US" dirty="0"/>
          </a:p>
          <a:p>
            <a:pPr marL="514350" indent="-514350">
              <a:buFont typeface="+mj-lt"/>
              <a:buAutoNum type="arabicPeriod"/>
            </a:pPr>
            <a:r>
              <a:rPr lang="en-US" dirty="0"/>
              <a:t>Identify several habitats where </a:t>
            </a:r>
            <a:r>
              <a:rPr lang="en-US" dirty="0" err="1"/>
              <a:t>chytrids</a:t>
            </a:r>
            <a:r>
              <a:rPr lang="en-US" dirty="0"/>
              <a:t> grow</a:t>
            </a:r>
            <a:br>
              <a:rPr lang="en-US" dirty="0"/>
            </a:br>
            <a:endParaRPr lang="en-US" dirty="0"/>
          </a:p>
          <a:p>
            <a:pPr marL="514350" indent="-514350">
              <a:buFont typeface="+mj-lt"/>
              <a:buAutoNum type="arabicPeriod"/>
            </a:pPr>
            <a:r>
              <a:rPr lang="en-US" dirty="0"/>
              <a:t>Describe general </a:t>
            </a:r>
            <a:r>
              <a:rPr lang="en-US" dirty="0" err="1"/>
              <a:t>chytrid</a:t>
            </a:r>
            <a:r>
              <a:rPr lang="en-US" dirty="0"/>
              <a:t> morphology</a:t>
            </a:r>
          </a:p>
          <a:p>
            <a:pPr marL="514350" indent="-514350">
              <a:buFont typeface="+mj-lt"/>
              <a:buAutoNum type="arabicPeriod"/>
            </a:pP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13</a:t>
            </a:fld>
            <a:endParaRPr lang="en-US"/>
          </a:p>
        </p:txBody>
      </p:sp>
    </p:spTree>
    <p:extLst>
      <p:ext uri="{BB962C8B-B14F-4D97-AF65-F5344CB8AC3E}">
        <p14:creationId xmlns:p14="http://schemas.microsoft.com/office/powerpoint/2010/main" val="1194932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i="1" dirty="0" err="1"/>
              <a:t>Chytridiomycota</a:t>
            </a:r>
            <a:endParaRPr lang="en-US" dirty="0"/>
          </a:p>
        </p:txBody>
      </p:sp>
      <p:sp>
        <p:nvSpPr>
          <p:cNvPr id="5" name="Content Placeholder 4"/>
          <p:cNvSpPr>
            <a:spLocks noGrp="1"/>
          </p:cNvSpPr>
          <p:nvPr>
            <p:ph sz="half" idx="2"/>
          </p:nvPr>
        </p:nvSpPr>
        <p:spPr>
          <a:xfrm>
            <a:off x="3657600" y="1143000"/>
            <a:ext cx="5410200" cy="5562600"/>
          </a:xfrm>
        </p:spPr>
        <p:txBody>
          <a:bodyPr>
            <a:normAutofit fontScale="85000" lnSpcReduction="20000"/>
          </a:bodyPr>
          <a:lstStyle/>
          <a:p>
            <a:r>
              <a:rPr lang="en-US" dirty="0"/>
              <a:t>Simplest fungi, also called </a:t>
            </a:r>
            <a:r>
              <a:rPr lang="en-US" dirty="0" err="1"/>
              <a:t>chytrids</a:t>
            </a:r>
            <a:endParaRPr lang="en-US" dirty="0"/>
          </a:p>
          <a:p>
            <a:pPr lvl="1"/>
            <a:r>
              <a:rPr lang="en-US" dirty="0"/>
              <a:t>free living, saprophytic</a:t>
            </a:r>
          </a:p>
          <a:p>
            <a:pPr lvl="1"/>
            <a:r>
              <a:rPr lang="en-US" dirty="0"/>
              <a:t>parasitic forms infect aquatic plants and animals, insects</a:t>
            </a:r>
          </a:p>
          <a:p>
            <a:pPr lvl="1"/>
            <a:r>
              <a:rPr lang="en-US" dirty="0"/>
              <a:t>found in the anoxic rumen of herbivores</a:t>
            </a:r>
          </a:p>
          <a:p>
            <a:pPr lvl="1"/>
            <a:r>
              <a:rPr lang="en-US" dirty="0"/>
              <a:t>may be responsible for large-scale mortality of amphibians</a:t>
            </a:r>
            <a:br>
              <a:rPr lang="en-US" dirty="0"/>
            </a:br>
            <a:endParaRPr lang="en-US" dirty="0"/>
          </a:p>
          <a:p>
            <a:r>
              <a:rPr lang="en-US" dirty="0"/>
              <a:t>Produce a zoospore with single, posterior, whiplash flagellum </a:t>
            </a:r>
          </a:p>
          <a:p>
            <a:pPr lvl="1"/>
            <a:r>
              <a:rPr lang="en-US" dirty="0"/>
              <a:t>most primitive form of spore dispersal</a:t>
            </a:r>
          </a:p>
          <a:p>
            <a:pPr lvl="1"/>
            <a:r>
              <a:rPr lang="en-US" dirty="0"/>
              <a:t>flagella lost in higher forms </a:t>
            </a:r>
            <a:br>
              <a:rPr lang="en-US" dirty="0"/>
            </a:br>
            <a:endParaRPr lang="en-US" dirty="0"/>
          </a:p>
          <a:p>
            <a:r>
              <a:rPr lang="en-US" dirty="0"/>
              <a:t>Asexual and sexual reproduction</a:t>
            </a:r>
            <a:br>
              <a:rPr lang="en-US" dirty="0"/>
            </a:br>
            <a:endParaRPr lang="en-US" dirty="0"/>
          </a:p>
          <a:p>
            <a:r>
              <a:rPr lang="en-US" dirty="0"/>
              <a:t>Many members degrade cellulose and keratin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14</a:t>
            </a:fld>
            <a:endParaRPr lang="en-US"/>
          </a:p>
        </p:txBody>
      </p:sp>
      <p:pic>
        <p:nvPicPr>
          <p:cNvPr id="7170" name="Picture 2" descr="(a) A chytrid with a single round sporangium that is about 50 μm in diameter. In this image, the fungus is growing between brown pollen grains, which it will eventually penetrate with its branched rhizoids. (b) Parasitic chytrids attached to the surface of a photosynthetic protist (a green alga)." title="Figure 26.6 Chytridiomycota."/>
          <p:cNvPicPr>
            <a:picLocks noChangeAspect="1" noChangeArrowheads="1"/>
          </p:cNvPicPr>
          <p:nvPr/>
        </p:nvPicPr>
        <p:blipFill>
          <a:blip r:embed="rId2" cstate="print"/>
          <a:srcRect/>
          <a:stretch>
            <a:fillRect/>
          </a:stretch>
        </p:blipFill>
        <p:spPr bwMode="auto">
          <a:xfrm>
            <a:off x="304800" y="1045647"/>
            <a:ext cx="3187702" cy="5490524"/>
          </a:xfrm>
          <a:prstGeom prst="rect">
            <a:avLst/>
          </a:prstGeom>
          <a:noFill/>
        </p:spPr>
      </p:pic>
    </p:spTree>
    <p:extLst>
      <p:ext uri="{BB962C8B-B14F-4D97-AF65-F5344CB8AC3E}">
        <p14:creationId xmlns:p14="http://schemas.microsoft.com/office/powerpoint/2010/main" val="1194932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26.3 </a:t>
            </a:r>
            <a:r>
              <a:rPr lang="en-US" i="1" dirty="0" err="1"/>
              <a:t>Zygomycota</a:t>
            </a:r>
            <a:r>
              <a:rPr lang="en-US" dirty="0"/>
              <a:t>: Fungi with </a:t>
            </a:r>
            <a:r>
              <a:rPr lang="en-US" dirty="0" err="1"/>
              <a:t>Coenocytic</a:t>
            </a:r>
            <a:r>
              <a:rPr lang="en-US" dirty="0"/>
              <a:t> Hyphae</a:t>
            </a:r>
          </a:p>
        </p:txBody>
      </p:sp>
      <p:sp>
        <p:nvSpPr>
          <p:cNvPr id="3" name="Content Placeholder 2"/>
          <p:cNvSpPr>
            <a:spLocks noGrp="1"/>
          </p:cNvSpPr>
          <p:nvPr>
            <p:ph idx="1"/>
          </p:nvPr>
        </p:nvSpPr>
        <p:spPr/>
        <p:txBody>
          <a:bodyPr/>
          <a:lstStyle/>
          <a:p>
            <a:pPr marL="514350" indent="-514350">
              <a:buFont typeface="+mj-lt"/>
              <a:buAutoNum type="arabicPeriod"/>
            </a:pPr>
            <a:r>
              <a:rPr lang="en-US" dirty="0"/>
              <a:t>Recognize </a:t>
            </a:r>
            <a:r>
              <a:rPr lang="en-US" dirty="0" err="1"/>
              <a:t>zygomycetes</a:t>
            </a:r>
            <a:r>
              <a:rPr lang="en-US" dirty="0"/>
              <a:t> in nature</a:t>
            </a:r>
            <a:br>
              <a:rPr lang="en-US" dirty="0"/>
            </a:br>
            <a:endParaRPr lang="en-US" dirty="0"/>
          </a:p>
          <a:p>
            <a:pPr marL="514350" indent="-514350">
              <a:buFont typeface="+mj-lt"/>
              <a:buAutoNum type="arabicPeriod"/>
            </a:pPr>
            <a:r>
              <a:rPr lang="en-US" dirty="0"/>
              <a:t>Outline the life cycle of a </a:t>
            </a:r>
            <a:r>
              <a:rPr lang="en-US" i="1" dirty="0" err="1"/>
              <a:t>Rhizopus</a:t>
            </a:r>
            <a:r>
              <a:rPr lang="en-US" i="1" dirty="0"/>
              <a:t> </a:t>
            </a:r>
            <a:r>
              <a:rPr lang="en-US" dirty="0"/>
              <a:t>species</a:t>
            </a:r>
            <a:br>
              <a:rPr lang="en-US" dirty="0"/>
            </a:br>
            <a:endParaRPr lang="en-US" dirty="0"/>
          </a:p>
          <a:p>
            <a:pPr marL="514350" indent="-514350">
              <a:buFont typeface="+mj-lt"/>
              <a:buAutoNum type="arabicPeriod"/>
            </a:pPr>
            <a:r>
              <a:rPr lang="en-US" dirty="0"/>
              <a:t>List at least two reasons </a:t>
            </a:r>
            <a:r>
              <a:rPr lang="en-US" dirty="0" err="1"/>
              <a:t>zygomycetes</a:t>
            </a:r>
            <a:r>
              <a:rPr lang="en-US" dirty="0"/>
              <a:t> benefit humans</a:t>
            </a:r>
          </a:p>
          <a:p>
            <a:pPr marL="514350" indent="-514350">
              <a:buFont typeface="+mj-lt"/>
              <a:buAutoNum type="arabicPeriod"/>
            </a:pP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15</a:t>
            </a:fld>
            <a:endParaRPr lang="en-US"/>
          </a:p>
        </p:txBody>
      </p:sp>
    </p:spTree>
    <p:extLst>
      <p:ext uri="{BB962C8B-B14F-4D97-AF65-F5344CB8AC3E}">
        <p14:creationId xmlns:p14="http://schemas.microsoft.com/office/powerpoint/2010/main" val="1194932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i="1" dirty="0" err="1"/>
              <a:t>Zygomycota</a:t>
            </a:r>
            <a:endParaRPr lang="en-US" dirty="0"/>
          </a:p>
        </p:txBody>
      </p:sp>
      <p:sp>
        <p:nvSpPr>
          <p:cNvPr id="3" name="Content Placeholder 2"/>
          <p:cNvSpPr>
            <a:spLocks noGrp="1"/>
          </p:cNvSpPr>
          <p:nvPr>
            <p:ph idx="1"/>
          </p:nvPr>
        </p:nvSpPr>
        <p:spPr>
          <a:xfrm>
            <a:off x="228600" y="1143000"/>
            <a:ext cx="8686800" cy="5562600"/>
          </a:xfrm>
        </p:spPr>
        <p:txBody>
          <a:bodyPr>
            <a:normAutofit fontScale="85000" lnSpcReduction="20000"/>
          </a:bodyPr>
          <a:lstStyle/>
          <a:p>
            <a:pPr>
              <a:lnSpc>
                <a:spcPct val="120000"/>
              </a:lnSpc>
              <a:spcBef>
                <a:spcPts val="600"/>
              </a:spcBef>
            </a:pPr>
            <a:r>
              <a:rPr lang="en-US" dirty="0" err="1"/>
              <a:t>Zygomycetes</a:t>
            </a:r>
            <a:endParaRPr lang="en-US" dirty="0"/>
          </a:p>
          <a:p>
            <a:pPr>
              <a:lnSpc>
                <a:spcPct val="120000"/>
              </a:lnSpc>
              <a:spcBef>
                <a:spcPts val="600"/>
              </a:spcBef>
            </a:pPr>
            <a:r>
              <a:rPr lang="en-US" dirty="0"/>
              <a:t>Most are saprophytes</a:t>
            </a:r>
          </a:p>
          <a:p>
            <a:pPr lvl="1">
              <a:lnSpc>
                <a:spcPct val="120000"/>
              </a:lnSpc>
              <a:spcBef>
                <a:spcPts val="600"/>
              </a:spcBef>
            </a:pPr>
            <a:r>
              <a:rPr lang="en-US" dirty="0"/>
              <a:t>a few are plant and animal parasites</a:t>
            </a:r>
          </a:p>
          <a:p>
            <a:pPr>
              <a:lnSpc>
                <a:spcPct val="120000"/>
              </a:lnSpc>
              <a:spcBef>
                <a:spcPts val="600"/>
              </a:spcBef>
            </a:pPr>
            <a:r>
              <a:rPr lang="en-US" dirty="0"/>
              <a:t>Form </a:t>
            </a:r>
            <a:r>
              <a:rPr lang="en-US" dirty="0" err="1"/>
              <a:t>coenocytic</a:t>
            </a:r>
            <a:r>
              <a:rPr lang="en-US" dirty="0"/>
              <a:t> hyphae containing numerous haploid nuclei</a:t>
            </a:r>
          </a:p>
          <a:p>
            <a:pPr>
              <a:lnSpc>
                <a:spcPct val="120000"/>
              </a:lnSpc>
              <a:spcBef>
                <a:spcPts val="600"/>
              </a:spcBef>
            </a:pPr>
            <a:r>
              <a:rPr lang="en-US" dirty="0"/>
              <a:t>Some of industrial importance</a:t>
            </a:r>
          </a:p>
          <a:p>
            <a:pPr lvl="1">
              <a:lnSpc>
                <a:spcPct val="120000"/>
              </a:lnSpc>
              <a:spcBef>
                <a:spcPts val="600"/>
              </a:spcBef>
            </a:pPr>
            <a:r>
              <a:rPr lang="en-US" dirty="0"/>
              <a:t>foods, antibiotics and other drugs, meat tenderizer, and food coloring</a:t>
            </a:r>
          </a:p>
          <a:p>
            <a:pPr>
              <a:lnSpc>
                <a:spcPct val="120000"/>
              </a:lnSpc>
              <a:spcBef>
                <a:spcPts val="600"/>
              </a:spcBef>
            </a:pPr>
            <a:r>
              <a:rPr lang="en-US" sz="2800" dirty="0"/>
              <a:t>Usually reproduce asexually by spores that develop at the tips of aerial hyphae</a:t>
            </a:r>
          </a:p>
          <a:p>
            <a:pPr>
              <a:lnSpc>
                <a:spcPct val="120000"/>
              </a:lnSpc>
              <a:spcBef>
                <a:spcPts val="600"/>
              </a:spcBef>
            </a:pPr>
            <a:r>
              <a:rPr lang="en-US" dirty="0"/>
              <a:t>S</a:t>
            </a:r>
            <a:r>
              <a:rPr lang="en-US" sz="2800" dirty="0"/>
              <a:t>exual reproduction occurs when environmental conditions are not favorable</a:t>
            </a:r>
          </a:p>
          <a:p>
            <a:pPr lvl="1">
              <a:lnSpc>
                <a:spcPct val="120000"/>
              </a:lnSpc>
              <a:spcBef>
                <a:spcPts val="600"/>
              </a:spcBef>
            </a:pPr>
            <a:r>
              <a:rPr lang="en-US" dirty="0"/>
              <a:t>requires compatible opposite mating types</a:t>
            </a:r>
          </a:p>
          <a:p>
            <a:pPr lvl="1">
              <a:lnSpc>
                <a:spcPct val="120000"/>
              </a:lnSpc>
              <a:spcBef>
                <a:spcPts val="600"/>
              </a:spcBef>
            </a:pPr>
            <a:r>
              <a:rPr lang="en-US" dirty="0"/>
              <a:t>hormone production causes hyphae to produce gametes</a:t>
            </a:r>
          </a:p>
          <a:p>
            <a:pPr lvl="1">
              <a:lnSpc>
                <a:spcPct val="120000"/>
              </a:lnSpc>
              <a:spcBef>
                <a:spcPts val="600"/>
              </a:spcBef>
            </a:pPr>
            <a:r>
              <a:rPr lang="en-US" dirty="0"/>
              <a:t>gametes fuse, forming a zygote</a:t>
            </a:r>
          </a:p>
          <a:p>
            <a:pPr lvl="1">
              <a:lnSpc>
                <a:spcPct val="120000"/>
              </a:lnSpc>
              <a:spcBef>
                <a:spcPts val="600"/>
              </a:spcBef>
            </a:pPr>
            <a:r>
              <a:rPr lang="en-US" dirty="0"/>
              <a:t>zygote becomes </a:t>
            </a:r>
            <a:r>
              <a:rPr lang="en-US" dirty="0" err="1"/>
              <a:t>zygospore</a:t>
            </a:r>
            <a:endParaRPr lang="en-US" dirty="0"/>
          </a:p>
          <a:p>
            <a:pPr lvl="1">
              <a:lnSpc>
                <a:spcPct val="90000"/>
              </a:lnSpc>
            </a:pP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16</a:t>
            </a:fld>
            <a:endParaRPr lang="en-US"/>
          </a:p>
        </p:txBody>
      </p:sp>
    </p:spTree>
    <p:extLst>
      <p:ext uri="{BB962C8B-B14F-4D97-AF65-F5344CB8AC3E}">
        <p14:creationId xmlns:p14="http://schemas.microsoft.com/office/powerpoint/2010/main" val="1194932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1618"/>
            <a:ext cx="8229600" cy="1143000"/>
          </a:xfrm>
        </p:spPr>
        <p:txBody>
          <a:bodyPr/>
          <a:lstStyle/>
          <a:p>
            <a:r>
              <a:rPr lang="en-US" dirty="0"/>
              <a:t>Genus </a:t>
            </a:r>
            <a:r>
              <a:rPr lang="en-US" i="1" dirty="0" err="1"/>
              <a:t>Rhizopus</a:t>
            </a:r>
            <a:endParaRPr lang="en-US" dirty="0"/>
          </a:p>
        </p:txBody>
      </p:sp>
      <p:sp>
        <p:nvSpPr>
          <p:cNvPr id="3" name="Content Placeholder 2"/>
          <p:cNvSpPr>
            <a:spLocks noGrp="1"/>
          </p:cNvSpPr>
          <p:nvPr>
            <p:ph sz="half" idx="1"/>
          </p:nvPr>
        </p:nvSpPr>
        <p:spPr>
          <a:xfrm>
            <a:off x="76200" y="1219200"/>
            <a:ext cx="3505200" cy="5486400"/>
          </a:xfrm>
        </p:spPr>
        <p:txBody>
          <a:bodyPr>
            <a:normAutofit lnSpcReduction="10000"/>
          </a:bodyPr>
          <a:lstStyle/>
          <a:p>
            <a:r>
              <a:rPr lang="en-US" i="1" dirty="0"/>
              <a:t>R. </a:t>
            </a:r>
            <a:r>
              <a:rPr lang="en-US" i="1" dirty="0" err="1"/>
              <a:t>stolonifer</a:t>
            </a:r>
            <a:endParaRPr lang="en-US" i="1" dirty="0"/>
          </a:p>
          <a:p>
            <a:pPr lvl="1"/>
            <a:r>
              <a:rPr lang="en-US" dirty="0"/>
              <a:t>grows on surface of moist carbohydrate rich foods such as bread</a:t>
            </a:r>
            <a:br>
              <a:rPr lang="en-US" dirty="0"/>
            </a:br>
            <a:endParaRPr lang="en-US" dirty="0"/>
          </a:p>
          <a:p>
            <a:pPr lvl="1"/>
            <a:r>
              <a:rPr lang="en-US" dirty="0"/>
              <a:t>hyphae quickly cover surface as rhizoids, absorb nutrients</a:t>
            </a:r>
            <a:br>
              <a:rPr lang="en-US" dirty="0"/>
            </a:br>
            <a:endParaRPr lang="en-US" dirty="0"/>
          </a:p>
          <a:p>
            <a:pPr lvl="1"/>
            <a:r>
              <a:rPr lang="en-US" dirty="0"/>
              <a:t>stolon hyphae become form new rhizoids</a:t>
            </a:r>
            <a:endParaRPr lang="en-US" sz="3600"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17</a:t>
            </a:fld>
            <a:endParaRPr lang="en-US"/>
          </a:p>
        </p:txBody>
      </p:sp>
      <p:pic>
        <p:nvPicPr>
          <p:cNvPr id="8194" name="Picture 2" descr="Illustration of Rhizopus stolonifer growing on moist bread with spores, sporangium, sporangiophore, mating strain, rhizoid, hypha, gametangia, zygosporangium, zygospore, and germinating zygosporanium. The life cycle of Rhizopus spp. involves sexual and asexual phases. Zygomycota is named for the zygosporangia characteristic of members of the genus Rhizopus." title="Figure 26.7 Rhizopus stolonifer, a Zygomycete That Grows on Simple Sugars."/>
          <p:cNvPicPr>
            <a:picLocks noChangeAspect="1" noChangeArrowheads="1"/>
          </p:cNvPicPr>
          <p:nvPr/>
        </p:nvPicPr>
        <p:blipFill>
          <a:blip r:embed="rId2" cstate="print"/>
          <a:srcRect/>
          <a:stretch>
            <a:fillRect/>
          </a:stretch>
        </p:blipFill>
        <p:spPr bwMode="auto">
          <a:xfrm>
            <a:off x="3530589" y="1447800"/>
            <a:ext cx="5453601" cy="4953000"/>
          </a:xfrm>
          <a:prstGeom prst="rect">
            <a:avLst/>
          </a:prstGeom>
          <a:noFill/>
        </p:spPr>
      </p:pic>
    </p:spTree>
    <p:extLst>
      <p:ext uri="{BB962C8B-B14F-4D97-AF65-F5344CB8AC3E}">
        <p14:creationId xmlns:p14="http://schemas.microsoft.com/office/powerpoint/2010/main" val="1194932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Genus </a:t>
            </a:r>
            <a:r>
              <a:rPr lang="en-US" i="1" dirty="0" err="1"/>
              <a:t>Rhizopus</a:t>
            </a:r>
            <a:endParaRPr lang="en-US" dirty="0"/>
          </a:p>
        </p:txBody>
      </p:sp>
      <p:sp>
        <p:nvSpPr>
          <p:cNvPr id="3" name="Content Placeholder 2"/>
          <p:cNvSpPr>
            <a:spLocks noGrp="1"/>
          </p:cNvSpPr>
          <p:nvPr>
            <p:ph idx="1"/>
          </p:nvPr>
        </p:nvSpPr>
        <p:spPr>
          <a:xfrm>
            <a:off x="228600" y="1600200"/>
            <a:ext cx="8686800" cy="5105400"/>
          </a:xfrm>
        </p:spPr>
        <p:txBody>
          <a:bodyPr>
            <a:normAutofit fontScale="92500" lnSpcReduction="10000"/>
          </a:bodyPr>
          <a:lstStyle/>
          <a:p>
            <a:pPr>
              <a:lnSpc>
                <a:spcPct val="120000"/>
              </a:lnSpc>
            </a:pPr>
            <a:r>
              <a:rPr lang="en-US" sz="2800" i="1" dirty="0" err="1"/>
              <a:t>Rhizopus-Burkholderia</a:t>
            </a:r>
            <a:r>
              <a:rPr lang="en-US" sz="2800" dirty="0"/>
              <a:t> symbiosis</a:t>
            </a:r>
          </a:p>
          <a:p>
            <a:pPr lvl="1">
              <a:lnSpc>
                <a:spcPct val="120000"/>
              </a:lnSpc>
            </a:pPr>
            <a:r>
              <a:rPr lang="en-US" dirty="0"/>
              <a:t>seedling blight in rice bacterium </a:t>
            </a:r>
            <a:r>
              <a:rPr lang="en-US" i="1" dirty="0" err="1"/>
              <a:t>Burkholderia</a:t>
            </a:r>
            <a:r>
              <a:rPr lang="en-US" dirty="0"/>
              <a:t> growing within </a:t>
            </a:r>
            <a:r>
              <a:rPr lang="en-US" i="1" dirty="0" err="1"/>
              <a:t>Rhizopus</a:t>
            </a:r>
            <a:r>
              <a:rPr lang="en-US" dirty="0"/>
              <a:t> produces toxin</a:t>
            </a:r>
            <a:br>
              <a:rPr lang="en-US" dirty="0"/>
            </a:br>
            <a:endParaRPr lang="en-US" dirty="0"/>
          </a:p>
          <a:p>
            <a:pPr>
              <a:lnSpc>
                <a:spcPct val="120000"/>
              </a:lnSpc>
            </a:pPr>
            <a:r>
              <a:rPr lang="en-US" dirty="0"/>
              <a:t>Used to produce tempeh from soybeans</a:t>
            </a:r>
            <a:br>
              <a:rPr lang="en-US" dirty="0"/>
            </a:br>
            <a:endParaRPr lang="en-US" dirty="0"/>
          </a:p>
          <a:p>
            <a:pPr>
              <a:lnSpc>
                <a:spcPct val="120000"/>
              </a:lnSpc>
            </a:pPr>
            <a:r>
              <a:rPr lang="en-US" dirty="0"/>
              <a:t>Used with soybeans to make </a:t>
            </a:r>
            <a:r>
              <a:rPr lang="en-US" dirty="0" err="1"/>
              <a:t>sufu</a:t>
            </a:r>
            <a:r>
              <a:rPr lang="en-US" dirty="0"/>
              <a:t> curd</a:t>
            </a:r>
            <a:br>
              <a:rPr lang="en-US" dirty="0"/>
            </a:br>
            <a:endParaRPr lang="en-US" dirty="0"/>
          </a:p>
          <a:p>
            <a:pPr>
              <a:lnSpc>
                <a:spcPct val="120000"/>
              </a:lnSpc>
            </a:pPr>
            <a:r>
              <a:rPr lang="en-US" dirty="0"/>
              <a:t>Commercially</a:t>
            </a:r>
          </a:p>
          <a:p>
            <a:pPr lvl="1">
              <a:lnSpc>
                <a:spcPct val="120000"/>
              </a:lnSpc>
            </a:pPr>
            <a:r>
              <a:rPr lang="en-US" dirty="0"/>
              <a:t>used to produce anesthetics, birth control, alcohols, meat tenderizers, yellow coloring in margarine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18</a:t>
            </a:fld>
            <a:endParaRPr lang="en-US"/>
          </a:p>
        </p:txBody>
      </p:sp>
    </p:spTree>
    <p:extLst>
      <p:ext uri="{BB962C8B-B14F-4D97-AF65-F5344CB8AC3E}">
        <p14:creationId xmlns:p14="http://schemas.microsoft.com/office/powerpoint/2010/main" val="11949329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265238"/>
          </a:xfrm>
        </p:spPr>
        <p:txBody>
          <a:bodyPr>
            <a:normAutofit/>
          </a:bodyPr>
          <a:lstStyle/>
          <a:p>
            <a:r>
              <a:rPr lang="en-US" dirty="0"/>
              <a:t>26.4 </a:t>
            </a:r>
            <a:r>
              <a:rPr lang="en-US" i="1" dirty="0" err="1"/>
              <a:t>Glomeromycota</a:t>
            </a:r>
            <a:r>
              <a:rPr lang="en-US" dirty="0"/>
              <a:t> Are Mycorrhizal Symbionts</a:t>
            </a:r>
          </a:p>
        </p:txBody>
      </p:sp>
      <p:sp>
        <p:nvSpPr>
          <p:cNvPr id="3" name="Content Placeholder 2"/>
          <p:cNvSpPr>
            <a:spLocks noGrp="1"/>
          </p:cNvSpPr>
          <p:nvPr>
            <p:ph idx="1"/>
          </p:nvPr>
        </p:nvSpPr>
        <p:spPr/>
        <p:txBody>
          <a:bodyPr/>
          <a:lstStyle/>
          <a:p>
            <a:pPr marL="514350" indent="-514350">
              <a:buFont typeface="+mj-lt"/>
              <a:buAutoNum type="arabicPeriod"/>
            </a:pPr>
            <a:r>
              <a:rPr lang="en-US" dirty="0"/>
              <a:t>Describe the functional importance of </a:t>
            </a:r>
            <a:r>
              <a:rPr lang="en-US" dirty="0" err="1"/>
              <a:t>glomeromycetes</a:t>
            </a:r>
            <a:br>
              <a:rPr lang="en-US" dirty="0"/>
            </a:br>
            <a:endParaRPr lang="en-US" dirty="0"/>
          </a:p>
          <a:p>
            <a:pPr marL="514350" indent="-514350">
              <a:buFont typeface="+mj-lt"/>
              <a:buAutoNum type="arabicPeriod"/>
            </a:pPr>
            <a:r>
              <a:rPr lang="en-US" dirty="0"/>
              <a:t>Differentiate between </a:t>
            </a:r>
            <a:r>
              <a:rPr lang="en-US" dirty="0" err="1"/>
              <a:t>ectomycorrhizae</a:t>
            </a:r>
            <a:r>
              <a:rPr lang="en-US" dirty="0"/>
              <a:t> and arbuscular mycorrhizae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19</a:t>
            </a:fld>
            <a:endParaRPr lang="en-US"/>
          </a:p>
        </p:txBody>
      </p:sp>
    </p:spTree>
    <p:extLst>
      <p:ext uri="{BB962C8B-B14F-4D97-AF65-F5344CB8AC3E}">
        <p14:creationId xmlns:p14="http://schemas.microsoft.com/office/powerpoint/2010/main" val="1194932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i="1" dirty="0" err="1"/>
              <a:t>Glomeromycota</a:t>
            </a:r>
            <a:endParaRPr lang="en-US" dirty="0"/>
          </a:p>
        </p:txBody>
      </p:sp>
      <p:sp>
        <p:nvSpPr>
          <p:cNvPr id="3" name="Content Placeholder 2"/>
          <p:cNvSpPr>
            <a:spLocks noGrp="1"/>
          </p:cNvSpPr>
          <p:nvPr>
            <p:ph idx="1"/>
          </p:nvPr>
        </p:nvSpPr>
        <p:spPr>
          <a:xfrm>
            <a:off x="152400" y="1143000"/>
            <a:ext cx="8839200" cy="5562600"/>
          </a:xfrm>
        </p:spPr>
        <p:txBody>
          <a:bodyPr>
            <a:normAutofit lnSpcReduction="10000"/>
          </a:bodyPr>
          <a:lstStyle/>
          <a:p>
            <a:pPr>
              <a:lnSpc>
                <a:spcPct val="110000"/>
              </a:lnSpc>
            </a:pPr>
            <a:r>
              <a:rPr lang="en-US" dirty="0" err="1"/>
              <a:t>Aseptate</a:t>
            </a:r>
            <a:r>
              <a:rPr lang="en-US" dirty="0"/>
              <a:t> flat hyphae (</a:t>
            </a:r>
            <a:r>
              <a:rPr lang="en-US" dirty="0" err="1"/>
              <a:t>appressoria</a:t>
            </a:r>
            <a:r>
              <a:rPr lang="en-US" dirty="0"/>
              <a:t>) to penetrate host plants; produce large, multinucleate spores and only reproduce asexually</a:t>
            </a:r>
            <a:br>
              <a:rPr lang="en-US" dirty="0"/>
            </a:br>
            <a:endParaRPr lang="en-US" dirty="0"/>
          </a:p>
          <a:p>
            <a:pPr>
              <a:lnSpc>
                <a:spcPct val="110000"/>
              </a:lnSpc>
            </a:pPr>
            <a:r>
              <a:rPr lang="en-US" dirty="0"/>
              <a:t>Major importance as mycorrhizal symbionts of vascular plants </a:t>
            </a:r>
          </a:p>
          <a:p>
            <a:pPr lvl="1">
              <a:lnSpc>
                <a:spcPct val="110000"/>
              </a:lnSpc>
            </a:pPr>
            <a:r>
              <a:rPr lang="en-US" dirty="0"/>
              <a:t>form intracellular associations within roots of almost all herbaceous plants and tropical trees</a:t>
            </a:r>
          </a:p>
          <a:p>
            <a:pPr lvl="2">
              <a:lnSpc>
                <a:spcPct val="110000"/>
              </a:lnSpc>
            </a:pPr>
            <a:r>
              <a:rPr lang="en-US" dirty="0" err="1"/>
              <a:t>Ectomycorrhizae</a:t>
            </a:r>
            <a:r>
              <a:rPr lang="en-US" dirty="0"/>
              <a:t> do not penetrate root cells</a:t>
            </a:r>
          </a:p>
          <a:p>
            <a:pPr lvl="2">
              <a:lnSpc>
                <a:spcPct val="110000"/>
              </a:lnSpc>
            </a:pPr>
            <a:r>
              <a:rPr lang="en-US" dirty="0"/>
              <a:t>Arbuscular mycorrhizae penetrate root cell wall</a:t>
            </a:r>
          </a:p>
          <a:p>
            <a:pPr lvl="1">
              <a:lnSpc>
                <a:spcPct val="110000"/>
              </a:lnSpc>
            </a:pPr>
            <a:r>
              <a:rPr lang="en-US" dirty="0"/>
              <a:t>mutualistic relationship (both benefit)</a:t>
            </a:r>
          </a:p>
          <a:p>
            <a:pPr lvl="2">
              <a:lnSpc>
                <a:spcPct val="120000"/>
              </a:lnSpc>
            </a:pPr>
            <a:r>
              <a:rPr lang="en-US" dirty="0"/>
              <a:t>fungus helps protect host from stress, delivers soil nutrients to the plant; plant provides carbohydrates to fungus </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20</a:t>
            </a:fld>
            <a:endParaRPr lang="en-US"/>
          </a:p>
        </p:txBody>
      </p:sp>
    </p:spTree>
    <p:extLst>
      <p:ext uri="{BB962C8B-B14F-4D97-AF65-F5344CB8AC3E}">
        <p14:creationId xmlns:p14="http://schemas.microsoft.com/office/powerpoint/2010/main" val="11949329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26.5 </a:t>
            </a:r>
            <a:r>
              <a:rPr lang="en-US" i="1" dirty="0"/>
              <a:t>Ascomycota</a:t>
            </a:r>
            <a:r>
              <a:rPr lang="en-US" dirty="0"/>
              <a:t> Includes Yeasts and Molds</a:t>
            </a:r>
          </a:p>
        </p:txBody>
      </p:sp>
      <p:sp>
        <p:nvSpPr>
          <p:cNvPr id="3" name="Content Placeholder 2"/>
          <p:cNvSpPr>
            <a:spLocks noGrp="1"/>
          </p:cNvSpPr>
          <p:nvPr>
            <p:ph idx="1"/>
          </p:nvPr>
        </p:nvSpPr>
        <p:spPr>
          <a:xfrm>
            <a:off x="228600" y="1600200"/>
            <a:ext cx="8686800" cy="5029200"/>
          </a:xfrm>
        </p:spPr>
        <p:txBody>
          <a:bodyPr>
            <a:normAutofit fontScale="92500" lnSpcReduction="10000"/>
          </a:bodyPr>
          <a:lstStyle/>
          <a:p>
            <a:pPr marL="514350" indent="-514350">
              <a:buFont typeface="+mj-lt"/>
              <a:buAutoNum type="arabicPeriod"/>
            </a:pPr>
            <a:r>
              <a:rPr lang="en-US" dirty="0"/>
              <a:t>Describe ecological, economic, and medical importance of ascomycetes</a:t>
            </a:r>
            <a:br>
              <a:rPr lang="en-US" dirty="0"/>
            </a:br>
            <a:endParaRPr lang="en-US" dirty="0"/>
          </a:p>
          <a:p>
            <a:pPr marL="514350" indent="-514350">
              <a:buFont typeface="+mj-lt"/>
              <a:buAutoNum type="arabicPeriod"/>
            </a:pPr>
            <a:r>
              <a:rPr lang="en-US" dirty="0"/>
              <a:t>Diagram the </a:t>
            </a:r>
            <a:r>
              <a:rPr lang="en-US" i="1" dirty="0"/>
              <a:t>Saccharomyces cerevisiae </a:t>
            </a:r>
            <a:r>
              <a:rPr lang="en-US" dirty="0"/>
              <a:t>life cycle</a:t>
            </a:r>
            <a:br>
              <a:rPr lang="en-US" dirty="0"/>
            </a:br>
            <a:endParaRPr lang="en-US" dirty="0"/>
          </a:p>
          <a:p>
            <a:pPr marL="514350" indent="-514350">
              <a:buFont typeface="+mj-lt"/>
              <a:buAutoNum type="arabicPeriod"/>
            </a:pPr>
            <a:r>
              <a:rPr lang="en-US" dirty="0"/>
              <a:t>Outline the mechanisms used by typical filamentous ascomycetes to reproduce, survive unfavorable conditions, and disperse</a:t>
            </a:r>
            <a:br>
              <a:rPr lang="en-US" dirty="0"/>
            </a:br>
            <a:endParaRPr lang="en-US" dirty="0"/>
          </a:p>
          <a:p>
            <a:pPr marL="514350" indent="-514350">
              <a:buFont typeface="+mj-lt"/>
              <a:buAutoNum type="arabicPeriod"/>
            </a:pPr>
            <a:r>
              <a:rPr lang="en-US" dirty="0"/>
              <a:t>Explain the function of </a:t>
            </a:r>
            <a:r>
              <a:rPr lang="en-US" dirty="0" err="1"/>
              <a:t>sclerotia</a:t>
            </a:r>
            <a:br>
              <a:rPr lang="en-US" dirty="0"/>
            </a:br>
            <a:endParaRPr lang="en-US" dirty="0"/>
          </a:p>
          <a:p>
            <a:pPr marL="514350" indent="-514350">
              <a:buFont typeface="+mj-lt"/>
              <a:buAutoNum type="arabicPeriod"/>
            </a:pPr>
            <a:r>
              <a:rPr lang="en-US" dirty="0"/>
              <a:t>Identify the origin of St. Anthony’s fire, LSD, and “sick building syndrome”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21</a:t>
            </a:fld>
            <a:endParaRPr lang="en-US"/>
          </a:p>
        </p:txBody>
      </p:sp>
    </p:spTree>
    <p:extLst>
      <p:ext uri="{BB962C8B-B14F-4D97-AF65-F5344CB8AC3E}">
        <p14:creationId xmlns:p14="http://schemas.microsoft.com/office/powerpoint/2010/main" val="1598424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719784"/>
            <a:ext cx="3962400" cy="1752600"/>
          </a:xfrm>
        </p:spPr>
        <p:txBody>
          <a:bodyPr/>
          <a:lstStyle/>
          <a:p>
            <a:r>
              <a:rPr lang="en-US" i="1" dirty="0"/>
              <a:t>Ascomycota</a:t>
            </a:r>
          </a:p>
        </p:txBody>
      </p:sp>
      <p:sp>
        <p:nvSpPr>
          <p:cNvPr id="3" name="Content Placeholder 2"/>
          <p:cNvSpPr>
            <a:spLocks noGrp="1"/>
          </p:cNvSpPr>
          <p:nvPr>
            <p:ph sz="half" idx="1"/>
          </p:nvPr>
        </p:nvSpPr>
        <p:spPr>
          <a:xfrm>
            <a:off x="76200" y="3962400"/>
            <a:ext cx="8991600" cy="2819400"/>
          </a:xfrm>
        </p:spPr>
        <p:txBody>
          <a:bodyPr>
            <a:normAutofit/>
          </a:bodyPr>
          <a:lstStyle/>
          <a:p>
            <a:pPr>
              <a:spcBef>
                <a:spcPts val="600"/>
              </a:spcBef>
            </a:pPr>
            <a:r>
              <a:rPr lang="en-US" dirty="0"/>
              <a:t>Ascomycetes or sac fungi</a:t>
            </a:r>
          </a:p>
          <a:p>
            <a:pPr lvl="1">
              <a:spcBef>
                <a:spcPts val="600"/>
              </a:spcBef>
            </a:pPr>
            <a:r>
              <a:rPr lang="en-US" dirty="0"/>
              <a:t>found in freshwater, marine, and terrestrial habitats</a:t>
            </a:r>
          </a:p>
          <a:p>
            <a:pPr lvl="1">
              <a:spcBef>
                <a:spcPts val="600"/>
              </a:spcBef>
            </a:pPr>
            <a:r>
              <a:rPr lang="en-US" dirty="0"/>
              <a:t>red, brown, and blue-green molds cause food spoilage </a:t>
            </a:r>
          </a:p>
          <a:p>
            <a:pPr lvl="1">
              <a:spcBef>
                <a:spcPts val="600"/>
              </a:spcBef>
            </a:pPr>
            <a:r>
              <a:rPr lang="en-US" dirty="0"/>
              <a:t>some are human and plant pathogens</a:t>
            </a:r>
          </a:p>
          <a:p>
            <a:pPr lvl="1">
              <a:spcBef>
                <a:spcPts val="600"/>
              </a:spcBef>
            </a:pPr>
            <a:r>
              <a:rPr lang="en-US" dirty="0"/>
              <a:t>some yeasts and truffles are edible</a:t>
            </a:r>
          </a:p>
          <a:p>
            <a:pPr lvl="1">
              <a:spcBef>
                <a:spcPts val="600"/>
              </a:spcBef>
            </a:pPr>
            <a:r>
              <a:rPr lang="en-US" dirty="0"/>
              <a:t>some used as research tools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22</a:t>
            </a:fld>
            <a:endParaRPr lang="en-US"/>
          </a:p>
        </p:txBody>
      </p:sp>
      <p:pic>
        <p:nvPicPr>
          <p:cNvPr id="9218" name="Picture 2" descr="(a) The common morel, Morchella esculenta, is one of the choicest edible fungi. It fruits in the spring. (b) The black truffle, Tuber brumale, is highly prized for its flavor by gourmet cooks." title="Figure 26.8 Ascomycota."/>
          <p:cNvPicPr>
            <a:picLocks noChangeAspect="1" noChangeArrowheads="1"/>
          </p:cNvPicPr>
          <p:nvPr/>
        </p:nvPicPr>
        <p:blipFill>
          <a:blip r:embed="rId2" cstate="print"/>
          <a:srcRect/>
          <a:stretch>
            <a:fillRect/>
          </a:stretch>
        </p:blipFill>
        <p:spPr bwMode="auto">
          <a:xfrm>
            <a:off x="3883025" y="52387"/>
            <a:ext cx="4879975" cy="3986213"/>
          </a:xfrm>
          <a:prstGeom prst="rect">
            <a:avLst/>
          </a:prstGeom>
          <a:noFill/>
        </p:spPr>
      </p:pic>
    </p:spTree>
    <p:extLst>
      <p:ext uri="{BB962C8B-B14F-4D97-AF65-F5344CB8AC3E}">
        <p14:creationId xmlns:p14="http://schemas.microsoft.com/office/powerpoint/2010/main" val="1035579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4343400" cy="1341438"/>
          </a:xfrm>
        </p:spPr>
        <p:txBody>
          <a:bodyPr>
            <a:normAutofit/>
          </a:bodyPr>
          <a:lstStyle/>
          <a:p>
            <a:r>
              <a:rPr lang="en-US" i="1" dirty="0"/>
              <a:t>Ascomycota </a:t>
            </a:r>
            <a:br>
              <a:rPr lang="en-US" i="1" dirty="0"/>
            </a:br>
            <a:r>
              <a:rPr lang="en-US" dirty="0"/>
              <a:t>Yeast Life Cycle</a:t>
            </a:r>
          </a:p>
        </p:txBody>
      </p:sp>
      <p:sp>
        <p:nvSpPr>
          <p:cNvPr id="3" name="Content Placeholder 2"/>
          <p:cNvSpPr>
            <a:spLocks noGrp="1"/>
          </p:cNvSpPr>
          <p:nvPr>
            <p:ph sz="half" idx="1"/>
          </p:nvPr>
        </p:nvSpPr>
        <p:spPr>
          <a:xfrm>
            <a:off x="76200" y="1447800"/>
            <a:ext cx="4419600" cy="5334000"/>
          </a:xfrm>
        </p:spPr>
        <p:txBody>
          <a:bodyPr>
            <a:normAutofit fontScale="92500" lnSpcReduction="10000"/>
          </a:bodyPr>
          <a:lstStyle/>
          <a:p>
            <a:pPr>
              <a:lnSpc>
                <a:spcPct val="110000"/>
              </a:lnSpc>
              <a:spcBef>
                <a:spcPts val="600"/>
              </a:spcBef>
            </a:pPr>
            <a:r>
              <a:rPr lang="en-US" dirty="0"/>
              <a:t>Alternates between haploid and diploid </a:t>
            </a:r>
          </a:p>
          <a:p>
            <a:pPr lvl="1">
              <a:lnSpc>
                <a:spcPct val="110000"/>
              </a:lnSpc>
              <a:spcBef>
                <a:spcPts val="600"/>
              </a:spcBef>
            </a:pPr>
            <a:r>
              <a:rPr lang="en-US" dirty="0"/>
              <a:t>in nutrient rich, mitosis and budding occurs at non-scarred regions</a:t>
            </a:r>
          </a:p>
          <a:p>
            <a:pPr lvl="2">
              <a:lnSpc>
                <a:spcPct val="110000"/>
              </a:lnSpc>
              <a:spcBef>
                <a:spcPts val="600"/>
              </a:spcBef>
            </a:pPr>
            <a:r>
              <a:rPr lang="en-US" sz="2400" dirty="0"/>
              <a:t>stops after entire mother cell is scarred </a:t>
            </a:r>
          </a:p>
          <a:p>
            <a:pPr lvl="1">
              <a:lnSpc>
                <a:spcPct val="110000"/>
              </a:lnSpc>
              <a:spcBef>
                <a:spcPts val="600"/>
              </a:spcBef>
            </a:pPr>
            <a:r>
              <a:rPr lang="en-US" dirty="0"/>
              <a:t>nutrient poor, meiosis and haploid ascus containing </a:t>
            </a:r>
            <a:r>
              <a:rPr lang="en-US" dirty="0" err="1"/>
              <a:t>ascospores</a:t>
            </a:r>
            <a:r>
              <a:rPr lang="en-US" dirty="0"/>
              <a:t> formed</a:t>
            </a:r>
          </a:p>
          <a:p>
            <a:pPr lvl="2">
              <a:lnSpc>
                <a:spcPct val="110000"/>
              </a:lnSpc>
              <a:spcBef>
                <a:spcPts val="600"/>
              </a:spcBef>
            </a:pPr>
            <a:r>
              <a:rPr lang="en-US" sz="2400" dirty="0"/>
              <a:t>haploid cells of opposite mating types fuse</a:t>
            </a:r>
          </a:p>
          <a:p>
            <a:pPr lvl="2">
              <a:lnSpc>
                <a:spcPct val="110000"/>
              </a:lnSpc>
              <a:spcBef>
                <a:spcPts val="600"/>
              </a:spcBef>
            </a:pPr>
            <a:r>
              <a:rPr lang="en-US" sz="2400" dirty="0"/>
              <a:t>tightly regulated by pheromones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23</a:t>
            </a:fld>
            <a:endParaRPr lang="en-US"/>
          </a:p>
        </p:txBody>
      </p:sp>
      <p:pic>
        <p:nvPicPr>
          <p:cNvPr id="10242" name="Picture 2" descr="(a) Budding division results in asymmetric septation and the formation of a smaller daughter cell. (b) When nutrients are abundant, haploid and diploid cells undergo mitosis and grow vegetatively. When nutrients are limited, diploid S. cerevisiae cells undergo meiosis to produce four haploid cells that remain bound within a common cell wall, the ascus. Upon the addition of nutrients, two haploid cells of opposite mating types (a and α) fuse to create a diploid cell." title="Figure 26.9 The Life Cycle of the Yeast Saccharomyces cerevisiae."/>
          <p:cNvPicPr>
            <a:picLocks noChangeAspect="1" noChangeArrowheads="1"/>
          </p:cNvPicPr>
          <p:nvPr/>
        </p:nvPicPr>
        <p:blipFill>
          <a:blip r:embed="rId2" cstate="print"/>
          <a:srcRect/>
          <a:stretch>
            <a:fillRect/>
          </a:stretch>
        </p:blipFill>
        <p:spPr bwMode="auto">
          <a:xfrm>
            <a:off x="5166318" y="304800"/>
            <a:ext cx="3402414" cy="6076950"/>
          </a:xfrm>
          <a:prstGeom prst="rect">
            <a:avLst/>
          </a:prstGeom>
          <a:noFill/>
        </p:spPr>
      </p:pic>
    </p:spTree>
    <p:extLst>
      <p:ext uri="{BB962C8B-B14F-4D97-AF65-F5344CB8AC3E}">
        <p14:creationId xmlns:p14="http://schemas.microsoft.com/office/powerpoint/2010/main" val="27818262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295400"/>
          </a:xfrm>
        </p:spPr>
        <p:txBody>
          <a:bodyPr>
            <a:normAutofit/>
          </a:bodyPr>
          <a:lstStyle/>
          <a:p>
            <a:r>
              <a:rPr lang="en-US" i="1" dirty="0"/>
              <a:t>Ascomycota </a:t>
            </a:r>
            <a:br>
              <a:rPr lang="en-US" i="1" dirty="0"/>
            </a:br>
            <a:r>
              <a:rPr lang="en-US" i="1" dirty="0"/>
              <a:t> </a:t>
            </a:r>
            <a:r>
              <a:rPr lang="en-US" dirty="0"/>
              <a:t>Filamentous Form Life Cycle </a:t>
            </a:r>
          </a:p>
        </p:txBody>
      </p:sp>
      <p:sp>
        <p:nvSpPr>
          <p:cNvPr id="3" name="Content Placeholder 2"/>
          <p:cNvSpPr>
            <a:spLocks noGrp="1"/>
          </p:cNvSpPr>
          <p:nvPr>
            <p:ph sz="half" idx="1"/>
          </p:nvPr>
        </p:nvSpPr>
        <p:spPr>
          <a:xfrm>
            <a:off x="152400" y="1371601"/>
            <a:ext cx="8839200" cy="3048000"/>
          </a:xfrm>
        </p:spPr>
        <p:txBody>
          <a:bodyPr>
            <a:normAutofit fontScale="92500" lnSpcReduction="20000"/>
          </a:bodyPr>
          <a:lstStyle/>
          <a:p>
            <a:pPr>
              <a:lnSpc>
                <a:spcPct val="90000"/>
              </a:lnSpc>
            </a:pPr>
            <a:r>
              <a:rPr lang="en-US" dirty="0"/>
              <a:t>Asexual reproduction – conidia</a:t>
            </a:r>
            <a:br>
              <a:rPr lang="en-US" dirty="0"/>
            </a:br>
            <a:endParaRPr lang="en-US" dirty="0"/>
          </a:p>
          <a:p>
            <a:pPr>
              <a:lnSpc>
                <a:spcPct val="90000"/>
              </a:lnSpc>
            </a:pPr>
            <a:r>
              <a:rPr lang="en-US" dirty="0"/>
              <a:t>Sexual reproduction </a:t>
            </a:r>
          </a:p>
          <a:p>
            <a:pPr lvl="1">
              <a:lnSpc>
                <a:spcPct val="90000"/>
              </a:lnSpc>
            </a:pPr>
            <a:r>
              <a:rPr lang="en-US" dirty="0"/>
              <a:t>ascus formation with </a:t>
            </a:r>
            <a:r>
              <a:rPr lang="en-US" dirty="0" err="1"/>
              <a:t>ascospores</a:t>
            </a:r>
            <a:endParaRPr lang="en-US" dirty="0"/>
          </a:p>
          <a:p>
            <a:pPr lvl="1">
              <a:lnSpc>
                <a:spcPct val="90000"/>
              </a:lnSpc>
            </a:pPr>
            <a:r>
              <a:rPr lang="en-US" dirty="0"/>
              <a:t>opposite mating types form zygote </a:t>
            </a:r>
          </a:p>
          <a:p>
            <a:pPr lvl="1">
              <a:lnSpc>
                <a:spcPct val="90000"/>
              </a:lnSpc>
            </a:pPr>
            <a:r>
              <a:rPr lang="en-US" dirty="0" err="1"/>
              <a:t>ascospores</a:t>
            </a:r>
            <a:r>
              <a:rPr lang="en-US" dirty="0"/>
              <a:t> forcefully released from </a:t>
            </a:r>
            <a:r>
              <a:rPr lang="en-US" dirty="0" err="1"/>
              <a:t>ascocarp</a:t>
            </a:r>
            <a:r>
              <a:rPr lang="en-US" dirty="0"/>
              <a:t>, germinate</a:t>
            </a:r>
            <a:br>
              <a:rPr lang="en-US" dirty="0"/>
            </a:br>
            <a:endParaRPr lang="en-US" dirty="0"/>
          </a:p>
          <a:p>
            <a:pPr>
              <a:lnSpc>
                <a:spcPct val="90000"/>
              </a:lnSpc>
            </a:pPr>
            <a:r>
              <a:rPr lang="en-US" dirty="0" err="1"/>
              <a:t>Sclerotia</a:t>
            </a:r>
            <a:r>
              <a:rPr lang="en-US" dirty="0"/>
              <a:t> masses of hyphae survive the winter then germinate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24</a:t>
            </a:fld>
            <a:endParaRPr lang="en-US"/>
          </a:p>
        </p:txBody>
      </p:sp>
      <p:pic>
        <p:nvPicPr>
          <p:cNvPr id="11266" name="Picture 2" descr="Characteristic conidiospores of Aspergillus spp. as viewed with the scanning electron microscope." title="Figure 26.10 Asexual Reproduction in Filamentous Ascomycetes."/>
          <p:cNvPicPr>
            <a:picLocks noChangeAspect="1" noChangeArrowheads="1"/>
          </p:cNvPicPr>
          <p:nvPr/>
        </p:nvPicPr>
        <p:blipFill>
          <a:blip r:embed="rId2" cstate="print"/>
          <a:srcRect/>
          <a:stretch>
            <a:fillRect/>
          </a:stretch>
        </p:blipFill>
        <p:spPr bwMode="auto">
          <a:xfrm>
            <a:off x="2624137" y="3862245"/>
            <a:ext cx="3895726" cy="2672048"/>
          </a:xfrm>
          <a:prstGeom prst="rect">
            <a:avLst/>
          </a:prstGeom>
          <a:noFill/>
        </p:spPr>
      </p:pic>
    </p:spTree>
    <p:extLst>
      <p:ext uri="{BB962C8B-B14F-4D97-AF65-F5344CB8AC3E}">
        <p14:creationId xmlns:p14="http://schemas.microsoft.com/office/powerpoint/2010/main" val="34139872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52400" y="76200"/>
            <a:ext cx="8839200" cy="1143000"/>
          </a:xfrm>
        </p:spPr>
        <p:txBody>
          <a:bodyPr>
            <a:normAutofit fontScale="90000"/>
          </a:bodyPr>
          <a:lstStyle/>
          <a:p>
            <a:r>
              <a:rPr lang="en-US" dirty="0"/>
              <a:t>Typical Life Cycle of Filamentous Ascomycete</a:t>
            </a:r>
          </a:p>
        </p:txBody>
      </p:sp>
      <p:sp>
        <p:nvSpPr>
          <p:cNvPr id="3" name="Slide Number Placeholder 2"/>
          <p:cNvSpPr>
            <a:spLocks noGrp="1"/>
          </p:cNvSpPr>
          <p:nvPr>
            <p:ph type="sldNum" sz="quarter" idx="12"/>
          </p:nvPr>
        </p:nvSpPr>
        <p:spPr/>
        <p:txBody>
          <a:bodyPr/>
          <a:lstStyle/>
          <a:p>
            <a:fld id="{3B1A82D2-719A-4A87-BECB-D74482819C19}" type="slidenum">
              <a:rPr lang="en-US" smtClean="0"/>
              <a:pPr/>
              <a:t>25</a:t>
            </a:fld>
            <a:endParaRPr lang="en-US"/>
          </a:p>
        </p:txBody>
      </p:sp>
      <p:pic>
        <p:nvPicPr>
          <p:cNvPr id="12290" name="Picture 2" descr="Illustration of the life cycle of a filamentous ascomycete showing formation of young ascus, maryogamy, meiosis, mitosis, ascospore, germination, - and + mating strains, conidia, asexual reproduction, developing mycelium, antheridium, ascogonium, fertilization, dikaryotic hyphae forming ascogonium, and fully developed ascocarp composed of dikaryotic (ascogenic) hyphae and sterile hyphae.  &#10;Sexual reproduction involves the formation of asci and ascospores. Within the ascus, karyogamy is followed by meiosis to produce the ascospores." title="Figure 26.11 The Typical Life Cycle of a Filamentous Ascomycete."/>
          <p:cNvPicPr>
            <a:picLocks noChangeAspect="1" noChangeArrowheads="1"/>
          </p:cNvPicPr>
          <p:nvPr/>
        </p:nvPicPr>
        <p:blipFill>
          <a:blip r:embed="rId2" cstate="print"/>
          <a:srcRect/>
          <a:stretch>
            <a:fillRect/>
          </a:stretch>
        </p:blipFill>
        <p:spPr bwMode="auto">
          <a:xfrm>
            <a:off x="1828800" y="990600"/>
            <a:ext cx="5486400" cy="5395182"/>
          </a:xfrm>
          <a:prstGeom prst="rect">
            <a:avLst/>
          </a:prstGeom>
          <a:noFill/>
        </p:spPr>
      </p:pic>
    </p:spTree>
    <p:extLst>
      <p:ext uri="{BB962C8B-B14F-4D97-AF65-F5344CB8AC3E}">
        <p14:creationId xmlns:p14="http://schemas.microsoft.com/office/powerpoint/2010/main" val="24889503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 </a:t>
            </a:r>
            <a:r>
              <a:rPr lang="en-US" i="1" dirty="0"/>
              <a:t>Aspergillus </a:t>
            </a:r>
            <a:endParaRPr lang="en-US" dirty="0"/>
          </a:p>
        </p:txBody>
      </p:sp>
      <p:sp>
        <p:nvSpPr>
          <p:cNvPr id="3" name="Content Placeholder 2"/>
          <p:cNvSpPr>
            <a:spLocks noGrp="1"/>
          </p:cNvSpPr>
          <p:nvPr>
            <p:ph idx="1"/>
          </p:nvPr>
        </p:nvSpPr>
        <p:spPr/>
        <p:txBody>
          <a:bodyPr/>
          <a:lstStyle/>
          <a:p>
            <a:pPr>
              <a:lnSpc>
                <a:spcPct val="90000"/>
              </a:lnSpc>
            </a:pPr>
            <a:r>
              <a:rPr lang="en-US" i="1" dirty="0"/>
              <a:t>A. fumigatus</a:t>
            </a:r>
          </a:p>
          <a:p>
            <a:pPr lvl="1">
              <a:lnSpc>
                <a:spcPct val="90000"/>
              </a:lnSpc>
            </a:pPr>
            <a:r>
              <a:rPr lang="en-US" dirty="0"/>
              <a:t>ubiquitous environmental </a:t>
            </a:r>
          </a:p>
          <a:p>
            <a:pPr lvl="1">
              <a:lnSpc>
                <a:spcPct val="90000"/>
              </a:lnSpc>
            </a:pPr>
            <a:r>
              <a:rPr lang="en-US" dirty="0"/>
              <a:t>allergies and significant pathogen</a:t>
            </a:r>
            <a:br>
              <a:rPr lang="en-US" dirty="0"/>
            </a:br>
            <a:endParaRPr lang="en-US" dirty="0"/>
          </a:p>
          <a:p>
            <a:pPr>
              <a:lnSpc>
                <a:spcPct val="90000"/>
              </a:lnSpc>
            </a:pPr>
            <a:r>
              <a:rPr lang="en-US" i="1" dirty="0"/>
              <a:t>A. </a:t>
            </a:r>
            <a:r>
              <a:rPr lang="en-US" i="1" dirty="0" err="1"/>
              <a:t>oryzae</a:t>
            </a:r>
            <a:r>
              <a:rPr lang="en-US" i="1" dirty="0"/>
              <a:t> </a:t>
            </a:r>
          </a:p>
          <a:p>
            <a:pPr lvl="1">
              <a:lnSpc>
                <a:spcPct val="90000"/>
              </a:lnSpc>
            </a:pPr>
            <a:r>
              <a:rPr lang="en-US" dirty="0"/>
              <a:t>production of fermented foods</a:t>
            </a:r>
          </a:p>
          <a:p>
            <a:pPr lvl="1">
              <a:lnSpc>
                <a:spcPct val="90000"/>
              </a:lnSpc>
            </a:pPr>
            <a:r>
              <a:rPr lang="en-US" dirty="0"/>
              <a:t>important in biotechnology</a:t>
            </a:r>
            <a:br>
              <a:rPr lang="en-US" dirty="0"/>
            </a:br>
            <a:endParaRPr lang="en-US" dirty="0"/>
          </a:p>
          <a:p>
            <a:pPr>
              <a:lnSpc>
                <a:spcPct val="90000"/>
              </a:lnSpc>
            </a:pPr>
            <a:r>
              <a:rPr lang="en-US" i="1" dirty="0"/>
              <a:t>Aspergillus </a:t>
            </a:r>
          </a:p>
          <a:p>
            <a:pPr lvl="1">
              <a:lnSpc>
                <a:spcPct val="90000"/>
              </a:lnSpc>
            </a:pPr>
            <a:r>
              <a:rPr lang="en-US" dirty="0"/>
              <a:t>37 Mb genome, model system</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26</a:t>
            </a:fld>
            <a:endParaRPr lang="en-US"/>
          </a:p>
        </p:txBody>
      </p:sp>
    </p:spTree>
    <p:extLst>
      <p:ext uri="{BB962C8B-B14F-4D97-AF65-F5344CB8AC3E}">
        <p14:creationId xmlns:p14="http://schemas.microsoft.com/office/powerpoint/2010/main" val="9315765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More Pathogenic </a:t>
            </a:r>
            <a:r>
              <a:rPr lang="en-US" i="1" dirty="0"/>
              <a:t>Ascomycota</a:t>
            </a:r>
            <a:endParaRPr lang="en-US" dirty="0"/>
          </a:p>
        </p:txBody>
      </p:sp>
      <p:sp>
        <p:nvSpPr>
          <p:cNvPr id="3" name="Content Placeholder 2"/>
          <p:cNvSpPr>
            <a:spLocks noGrp="1"/>
          </p:cNvSpPr>
          <p:nvPr>
            <p:ph sz="half" idx="1"/>
          </p:nvPr>
        </p:nvSpPr>
        <p:spPr>
          <a:xfrm>
            <a:off x="152400" y="1143000"/>
            <a:ext cx="4343400" cy="5562600"/>
          </a:xfrm>
        </p:spPr>
        <p:txBody>
          <a:bodyPr>
            <a:normAutofit fontScale="85000" lnSpcReduction="20000"/>
          </a:bodyPr>
          <a:lstStyle/>
          <a:p>
            <a:r>
              <a:rPr lang="en-US" i="1" dirty="0" err="1"/>
              <a:t>Claviceps</a:t>
            </a:r>
            <a:r>
              <a:rPr lang="en-US" i="1" dirty="0"/>
              <a:t> purpura</a:t>
            </a:r>
            <a:r>
              <a:rPr lang="en-US" sz="3200" dirty="0"/>
              <a:t>	</a:t>
            </a:r>
          </a:p>
          <a:p>
            <a:pPr lvl="1"/>
            <a:r>
              <a:rPr lang="en-US" dirty="0"/>
              <a:t>parasite on higher plants </a:t>
            </a:r>
          </a:p>
          <a:p>
            <a:pPr lvl="1"/>
            <a:r>
              <a:rPr lang="en-US" dirty="0" err="1"/>
              <a:t>ergotism</a:t>
            </a:r>
            <a:endParaRPr lang="en-US" dirty="0"/>
          </a:p>
          <a:p>
            <a:pPr lvl="2"/>
            <a:r>
              <a:rPr lang="en-US" sz="2400" dirty="0"/>
              <a:t>toxic condition from eating infected grain</a:t>
            </a:r>
          </a:p>
          <a:p>
            <a:pPr lvl="2"/>
            <a:r>
              <a:rPr lang="en-US" sz="2400" dirty="0"/>
              <a:t>due to lysergic acid diethylamide (LSD)</a:t>
            </a:r>
            <a:br>
              <a:rPr lang="en-US" sz="2400" dirty="0"/>
            </a:br>
            <a:endParaRPr lang="en-US" sz="2400" dirty="0"/>
          </a:p>
          <a:p>
            <a:r>
              <a:rPr lang="en-US" i="1" dirty="0"/>
              <a:t>Candida, </a:t>
            </a:r>
            <a:r>
              <a:rPr lang="en-US" i="1" dirty="0" err="1"/>
              <a:t>Blastomyces</a:t>
            </a:r>
            <a:r>
              <a:rPr lang="en-US" i="1" dirty="0"/>
              <a:t>, Histoplasma </a:t>
            </a:r>
          </a:p>
          <a:p>
            <a:pPr lvl="1"/>
            <a:r>
              <a:rPr lang="en-US" dirty="0"/>
              <a:t>human pathogens</a:t>
            </a:r>
            <a:br>
              <a:rPr lang="en-US" dirty="0"/>
            </a:br>
            <a:endParaRPr lang="en-US" dirty="0"/>
          </a:p>
          <a:p>
            <a:r>
              <a:rPr lang="en-US" i="1" dirty="0" err="1"/>
              <a:t>Stachybotrys</a:t>
            </a:r>
            <a:r>
              <a:rPr lang="en-US" i="1" dirty="0"/>
              <a:t> – “</a:t>
            </a:r>
            <a:r>
              <a:rPr lang="en-US" dirty="0"/>
              <a:t>sick building syndrome”</a:t>
            </a:r>
            <a:br>
              <a:rPr lang="en-US" dirty="0"/>
            </a:br>
            <a:endParaRPr lang="en-US" dirty="0"/>
          </a:p>
          <a:p>
            <a:r>
              <a:rPr lang="en-US" i="1" dirty="0"/>
              <a:t>Aspergillus</a:t>
            </a:r>
            <a:r>
              <a:rPr lang="en-US" dirty="0"/>
              <a:t> – aflatoxins and cancer</a:t>
            </a:r>
            <a:endParaRPr lang="en-US" i="1"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27</a:t>
            </a:fld>
            <a:endParaRPr lang="en-US"/>
          </a:p>
        </p:txBody>
      </p:sp>
      <p:pic>
        <p:nvPicPr>
          <p:cNvPr id="13314" name="Picture 2" descr="The ascomycete Claviceps purpurea infects rye and other grasses, producing hard masses of hyphae known as ergots, shown here, in place of some of the grains. Ergots produce alkaloids related to LSD and thus cause psychotic delusions in humans and animals that consume products made with infected grain. Ergots have been used to treat migraine headaches and hasten childbirth." title="Figure 26.12 Ergot of Rye."/>
          <p:cNvPicPr>
            <a:picLocks noChangeAspect="1" noChangeArrowheads="1"/>
          </p:cNvPicPr>
          <p:nvPr/>
        </p:nvPicPr>
        <p:blipFill>
          <a:blip r:embed="rId2" cstate="print"/>
          <a:srcRect/>
          <a:stretch>
            <a:fillRect/>
          </a:stretch>
        </p:blipFill>
        <p:spPr bwMode="auto">
          <a:xfrm>
            <a:off x="4572000" y="958850"/>
            <a:ext cx="3751730" cy="2698750"/>
          </a:xfrm>
          <a:prstGeom prst="rect">
            <a:avLst/>
          </a:prstGeom>
          <a:noFill/>
        </p:spPr>
      </p:pic>
      <p:pic>
        <p:nvPicPr>
          <p:cNvPr id="13315" name="Picture 3" descr="Scanning electron micrograph of dense mycelia and conidiophores characteristic of Stachybotrys chartarum." title="Figure 26.13 Fungal “Sick Building Syndrome” Is Caused by an Ascomycete."/>
          <p:cNvPicPr>
            <a:picLocks noChangeAspect="1" noChangeArrowheads="1"/>
          </p:cNvPicPr>
          <p:nvPr/>
        </p:nvPicPr>
        <p:blipFill>
          <a:blip r:embed="rId3" cstate="print"/>
          <a:srcRect/>
          <a:stretch>
            <a:fillRect/>
          </a:stretch>
        </p:blipFill>
        <p:spPr bwMode="auto">
          <a:xfrm>
            <a:off x="4572000" y="3810000"/>
            <a:ext cx="3642540" cy="2842149"/>
          </a:xfrm>
          <a:prstGeom prst="rect">
            <a:avLst/>
          </a:prstGeom>
          <a:noFill/>
        </p:spPr>
      </p:pic>
    </p:spTree>
    <p:extLst>
      <p:ext uri="{BB962C8B-B14F-4D97-AF65-F5344CB8AC3E}">
        <p14:creationId xmlns:p14="http://schemas.microsoft.com/office/powerpoint/2010/main" val="29534210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26.6 </a:t>
            </a:r>
            <a:r>
              <a:rPr lang="en-US" i="1" dirty="0"/>
              <a:t>Basidiomycota </a:t>
            </a:r>
            <a:r>
              <a:rPr lang="en-US" dirty="0"/>
              <a:t>Includes Mushrooms and Plant Pathogens</a:t>
            </a:r>
          </a:p>
        </p:txBody>
      </p:sp>
      <p:sp>
        <p:nvSpPr>
          <p:cNvPr id="3" name="Content Placeholder 2"/>
          <p:cNvSpPr>
            <a:spLocks noGrp="1"/>
          </p:cNvSpPr>
          <p:nvPr>
            <p:ph idx="1"/>
          </p:nvPr>
        </p:nvSpPr>
        <p:spPr/>
        <p:txBody>
          <a:bodyPr/>
          <a:lstStyle/>
          <a:p>
            <a:pPr marL="514350" indent="-514350">
              <a:buFont typeface="+mj-lt"/>
              <a:buAutoNum type="arabicPeriod"/>
            </a:pPr>
            <a:r>
              <a:rPr lang="en-US" dirty="0"/>
              <a:t>Describe the life cycle of a typical basidiomycete</a:t>
            </a:r>
            <a:br>
              <a:rPr lang="en-US" dirty="0"/>
            </a:br>
            <a:endParaRPr lang="en-US" dirty="0"/>
          </a:p>
          <a:p>
            <a:pPr marL="514350" indent="-514350">
              <a:buFont typeface="+mj-lt"/>
              <a:buAutoNum type="arabicPeriod"/>
            </a:pPr>
            <a:r>
              <a:rPr lang="en-US" dirty="0"/>
              <a:t>Identify the fungi that cause plant rusts</a:t>
            </a:r>
            <a:br>
              <a:rPr lang="en-US" dirty="0"/>
            </a:br>
            <a:endParaRPr lang="en-US" dirty="0"/>
          </a:p>
          <a:p>
            <a:pPr marL="514350" indent="-514350">
              <a:buFont typeface="+mj-lt"/>
              <a:buAutoNum type="arabicPeriod"/>
            </a:pPr>
            <a:r>
              <a:rPr lang="en-US" dirty="0"/>
              <a:t>Describe one human and one plant disease caused by a basidiomycete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28</a:t>
            </a:fld>
            <a:endParaRPr lang="en-US"/>
          </a:p>
        </p:txBody>
      </p:sp>
    </p:spTree>
    <p:extLst>
      <p:ext uri="{BB962C8B-B14F-4D97-AF65-F5344CB8AC3E}">
        <p14:creationId xmlns:p14="http://schemas.microsoft.com/office/powerpoint/2010/main" val="33535900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a) The death cap mushroom Amanita phalloides is usually fatal when eaten. (b) The life cycle of a typical soil basidiomycete starts with a basidiospore germinating to produce a monokaryotic mycelium (a single nucleus in each septate cell). The mycelium grows and spreads throughout the soil. When this primary mycelium meets another monokaryotic mycelium of a different mating type, the two fuse to initiate a dikaryotic secondary mycelium. The secondary mycelium is divided by septa into cells, each of which contains two nuclei, one of each mating type. This dikaryotic mycelium is eventually stimulated to produce basidiocarps. A solid mass of hyphae forms a button that pushes through the soil, elongates, and develops a cap. The cap contains many platelike gills, each of which is coated with basidia. The two nuclei in the tip of each basidium fuse to form a diploid zygote nucleus, which immediately undergoes meiosis to form four haploid nuclei. These nuclei push their way into the developing basidiospores, which are then released at maturity." title="Figure 26.14 Basidiomycota."/>
          <p:cNvPicPr>
            <a:picLocks noChangeAspect="1" noChangeArrowheads="1"/>
          </p:cNvPicPr>
          <p:nvPr/>
        </p:nvPicPr>
        <p:blipFill>
          <a:blip r:embed="rId2" cstate="print"/>
          <a:srcRect/>
          <a:stretch>
            <a:fillRect/>
          </a:stretch>
        </p:blipFill>
        <p:spPr bwMode="auto">
          <a:xfrm>
            <a:off x="1752600" y="2005013"/>
            <a:ext cx="7285037" cy="4624387"/>
          </a:xfrm>
          <a:prstGeom prst="rect">
            <a:avLst/>
          </a:prstGeom>
          <a:noFill/>
        </p:spPr>
      </p:pic>
      <p:sp>
        <p:nvSpPr>
          <p:cNvPr id="2" name="Title 1"/>
          <p:cNvSpPr>
            <a:spLocks noGrp="1"/>
          </p:cNvSpPr>
          <p:nvPr>
            <p:ph type="title"/>
          </p:nvPr>
        </p:nvSpPr>
        <p:spPr>
          <a:xfrm>
            <a:off x="457200" y="152400"/>
            <a:ext cx="8229600" cy="1143000"/>
          </a:xfrm>
        </p:spPr>
        <p:txBody>
          <a:bodyPr/>
          <a:lstStyle/>
          <a:p>
            <a:r>
              <a:rPr lang="en-US" i="1" dirty="0"/>
              <a:t>Basidiomycota</a:t>
            </a:r>
            <a:endParaRPr lang="en-US" dirty="0"/>
          </a:p>
        </p:txBody>
      </p:sp>
      <p:sp>
        <p:nvSpPr>
          <p:cNvPr id="3" name="Content Placeholder 2"/>
          <p:cNvSpPr>
            <a:spLocks noGrp="1"/>
          </p:cNvSpPr>
          <p:nvPr>
            <p:ph sz="half" idx="1"/>
          </p:nvPr>
        </p:nvSpPr>
        <p:spPr>
          <a:xfrm>
            <a:off x="76200" y="1143001"/>
            <a:ext cx="4419600" cy="3581400"/>
          </a:xfrm>
        </p:spPr>
        <p:txBody>
          <a:bodyPr>
            <a:normAutofit fontScale="92500" lnSpcReduction="10000"/>
          </a:bodyPr>
          <a:lstStyle/>
          <a:p>
            <a:pPr>
              <a:lnSpc>
                <a:spcPct val="110000"/>
              </a:lnSpc>
              <a:spcBef>
                <a:spcPts val="600"/>
              </a:spcBef>
            </a:pPr>
            <a:r>
              <a:rPr lang="en-US" dirty="0"/>
              <a:t>Basidiomycetes (club fungi)</a:t>
            </a:r>
          </a:p>
          <a:p>
            <a:pPr lvl="1">
              <a:lnSpc>
                <a:spcPct val="110000"/>
              </a:lnSpc>
              <a:spcBef>
                <a:spcPts val="600"/>
              </a:spcBef>
            </a:pPr>
            <a:r>
              <a:rPr lang="en-US" dirty="0"/>
              <a:t>examples include rusts, shelf fungi, puffballs, toadstools, mushrooms</a:t>
            </a:r>
          </a:p>
          <a:p>
            <a:pPr lvl="1">
              <a:lnSpc>
                <a:spcPct val="110000"/>
              </a:lnSpc>
              <a:spcBef>
                <a:spcPts val="600"/>
              </a:spcBef>
            </a:pPr>
            <a:r>
              <a:rPr lang="en-US" dirty="0"/>
              <a:t>sexual reproduction form </a:t>
            </a:r>
            <a:r>
              <a:rPr lang="en-US" dirty="0" err="1"/>
              <a:t>basidium</a:t>
            </a:r>
            <a:endParaRPr lang="en-US" dirty="0"/>
          </a:p>
          <a:p>
            <a:pPr lvl="2">
              <a:lnSpc>
                <a:spcPct val="110000"/>
              </a:lnSpc>
              <a:spcBef>
                <a:spcPts val="600"/>
              </a:spcBef>
            </a:pPr>
            <a:r>
              <a:rPr lang="en-US" dirty="0" err="1"/>
              <a:t>basidiospores</a:t>
            </a:r>
            <a:r>
              <a:rPr lang="en-US" dirty="0"/>
              <a:t> are released at maturity</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29</a:t>
            </a:fld>
            <a:endParaRPr lang="en-US"/>
          </a:p>
        </p:txBody>
      </p:sp>
    </p:spTree>
    <p:extLst>
      <p:ext uri="{BB962C8B-B14F-4D97-AF65-F5344CB8AC3E}">
        <p14:creationId xmlns:p14="http://schemas.microsoft.com/office/powerpoint/2010/main" val="34352474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295400"/>
          </a:xfrm>
        </p:spPr>
        <p:txBody>
          <a:bodyPr>
            <a:normAutofit/>
          </a:bodyPr>
          <a:lstStyle/>
          <a:p>
            <a:r>
              <a:rPr lang="en-US" i="1" dirty="0"/>
              <a:t>Basidiomycota</a:t>
            </a:r>
            <a:r>
              <a:rPr lang="en-US" dirty="0"/>
              <a:t> Impact on Human Beings</a:t>
            </a:r>
          </a:p>
        </p:txBody>
      </p:sp>
      <p:sp>
        <p:nvSpPr>
          <p:cNvPr id="3" name="Content Placeholder 2"/>
          <p:cNvSpPr>
            <a:spLocks noGrp="1"/>
          </p:cNvSpPr>
          <p:nvPr>
            <p:ph sz="half" idx="1"/>
          </p:nvPr>
        </p:nvSpPr>
        <p:spPr>
          <a:xfrm>
            <a:off x="152400" y="4114800"/>
            <a:ext cx="8839200" cy="2667000"/>
          </a:xfrm>
        </p:spPr>
        <p:txBody>
          <a:bodyPr>
            <a:normAutofit fontScale="92500" lnSpcReduction="20000"/>
          </a:bodyPr>
          <a:lstStyle/>
          <a:p>
            <a:pPr>
              <a:lnSpc>
                <a:spcPct val="90000"/>
              </a:lnSpc>
            </a:pPr>
            <a:r>
              <a:rPr lang="en-US" dirty="0"/>
              <a:t>Decomposers</a:t>
            </a:r>
            <a:br>
              <a:rPr lang="en-US" dirty="0"/>
            </a:br>
            <a:endParaRPr lang="en-US" dirty="0"/>
          </a:p>
          <a:p>
            <a:pPr>
              <a:lnSpc>
                <a:spcPct val="90000"/>
              </a:lnSpc>
            </a:pPr>
            <a:r>
              <a:rPr lang="en-US" dirty="0"/>
              <a:t>Edible and non-edible mushrooms</a:t>
            </a:r>
          </a:p>
          <a:p>
            <a:pPr lvl="1">
              <a:lnSpc>
                <a:spcPct val="90000"/>
              </a:lnSpc>
            </a:pPr>
            <a:r>
              <a:rPr lang="en-US" dirty="0"/>
              <a:t>toxins are poisons and hallucinogenic</a:t>
            </a:r>
            <a:br>
              <a:rPr lang="en-US" dirty="0"/>
            </a:br>
            <a:endParaRPr lang="en-US" dirty="0"/>
          </a:p>
          <a:p>
            <a:pPr>
              <a:lnSpc>
                <a:spcPct val="90000"/>
              </a:lnSpc>
            </a:pPr>
            <a:r>
              <a:rPr lang="en-US" dirty="0"/>
              <a:t>Pathogens of humans, other animals, and plants</a:t>
            </a:r>
          </a:p>
          <a:p>
            <a:pPr lvl="1">
              <a:lnSpc>
                <a:spcPct val="90000"/>
              </a:lnSpc>
            </a:pPr>
            <a:r>
              <a:rPr lang="en-US" dirty="0"/>
              <a:t>e.g. </a:t>
            </a:r>
            <a:r>
              <a:rPr lang="en-US" i="1" dirty="0"/>
              <a:t>Cryptococcus </a:t>
            </a:r>
            <a:r>
              <a:rPr lang="en-US" i="1" dirty="0" err="1"/>
              <a:t>neoformans</a:t>
            </a:r>
            <a:r>
              <a:rPr lang="en-US" dirty="0"/>
              <a:t> – </a:t>
            </a:r>
            <a:r>
              <a:rPr lang="en-US" dirty="0" err="1"/>
              <a:t>cryptococcosis</a:t>
            </a:r>
            <a:endParaRPr lang="en-US" dirty="0"/>
          </a:p>
          <a:p>
            <a:pPr lvl="2">
              <a:lnSpc>
                <a:spcPct val="90000"/>
              </a:lnSpc>
            </a:pPr>
            <a:r>
              <a:rPr lang="en-US" dirty="0"/>
              <a:t>systemic infection, primarily of lungs and central nervous system</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30</a:t>
            </a:fld>
            <a:endParaRPr lang="en-US"/>
          </a:p>
        </p:txBody>
      </p:sp>
      <p:pic>
        <p:nvPicPr>
          <p:cNvPr id="15362" name="Picture 2" descr="This pathogen causes tumor formation in corn. Note the enlarged tumors releasing dark teliospores in place of normal corn kernels." title="Figure 26.15 Ustilago maydis."/>
          <p:cNvPicPr>
            <a:picLocks noChangeAspect="1" noChangeArrowheads="1"/>
          </p:cNvPicPr>
          <p:nvPr/>
        </p:nvPicPr>
        <p:blipFill>
          <a:blip r:embed="rId2" cstate="print"/>
          <a:srcRect/>
          <a:stretch>
            <a:fillRect/>
          </a:stretch>
        </p:blipFill>
        <p:spPr bwMode="auto">
          <a:xfrm>
            <a:off x="4419600" y="1295400"/>
            <a:ext cx="4293412" cy="3421592"/>
          </a:xfrm>
          <a:prstGeom prst="rect">
            <a:avLst/>
          </a:prstGeom>
          <a:noFill/>
        </p:spPr>
      </p:pic>
    </p:spTree>
    <p:extLst>
      <p:ext uri="{BB962C8B-B14F-4D97-AF65-F5344CB8AC3E}">
        <p14:creationId xmlns:p14="http://schemas.microsoft.com/office/powerpoint/2010/main" val="24641245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Urediniomycetes</a:t>
            </a:r>
            <a:r>
              <a:rPr lang="en-US" dirty="0"/>
              <a:t> and </a:t>
            </a:r>
            <a:r>
              <a:rPr lang="en-US" dirty="0" err="1"/>
              <a:t>Ustilaginomycetes</a:t>
            </a:r>
            <a:endParaRPr lang="en-US" dirty="0"/>
          </a:p>
        </p:txBody>
      </p:sp>
      <p:sp>
        <p:nvSpPr>
          <p:cNvPr id="3" name="Content Placeholder 2"/>
          <p:cNvSpPr>
            <a:spLocks noGrp="1"/>
          </p:cNvSpPr>
          <p:nvPr>
            <p:ph sz="half" idx="1"/>
          </p:nvPr>
        </p:nvSpPr>
        <p:spPr>
          <a:xfrm>
            <a:off x="152400" y="1371600"/>
            <a:ext cx="3733800" cy="5181600"/>
          </a:xfrm>
        </p:spPr>
        <p:txBody>
          <a:bodyPr>
            <a:normAutofit lnSpcReduction="10000"/>
          </a:bodyPr>
          <a:lstStyle/>
          <a:p>
            <a:r>
              <a:rPr lang="en-US" dirty="0"/>
              <a:t>Plant pathogens causing “rusts” and “smuts’</a:t>
            </a:r>
          </a:p>
          <a:p>
            <a:pPr lvl="1"/>
            <a:r>
              <a:rPr lang="en-US" dirty="0"/>
              <a:t>dimorphic </a:t>
            </a:r>
          </a:p>
          <a:p>
            <a:pPr lvl="2"/>
            <a:r>
              <a:rPr lang="en-US" dirty="0"/>
              <a:t>yeasts are infectious form</a:t>
            </a:r>
          </a:p>
          <a:p>
            <a:pPr lvl="2"/>
            <a:r>
              <a:rPr lang="en-US" dirty="0"/>
              <a:t>mold - </a:t>
            </a:r>
            <a:r>
              <a:rPr lang="en-US" dirty="0" err="1"/>
              <a:t>teliospores</a:t>
            </a:r>
            <a:r>
              <a:rPr lang="en-US" dirty="0"/>
              <a:t> form tumors</a:t>
            </a:r>
            <a:br>
              <a:rPr lang="en-US" dirty="0"/>
            </a:br>
            <a:endParaRPr lang="en-US" dirty="0"/>
          </a:p>
          <a:p>
            <a:r>
              <a:rPr lang="en-US" dirty="0"/>
              <a:t>Some </a:t>
            </a:r>
            <a:r>
              <a:rPr lang="en-US" dirty="0" err="1"/>
              <a:t>urediniomycetes</a:t>
            </a:r>
            <a:r>
              <a:rPr lang="en-US" dirty="0"/>
              <a:t> are also human pathogens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31</a:t>
            </a:fld>
            <a:endParaRPr lang="en-US"/>
          </a:p>
        </p:txBody>
      </p:sp>
      <p:pic>
        <p:nvPicPr>
          <p:cNvPr id="16386" name="Picture 2" descr="(n+n) Dikaryotic filament, appressorium formation, plant penetration, proliferation and branching, teliospore (2n) formation, spore germination, haploid sporidia (1n) conjugation tube formation&#10;Haploid sporidia must mate to form infectious dikaryons, which in turn depend on the host plant for continued development. The formation of fungal appressoria within the host induces tumor formation." title="Figure 26.16 Life Cycle of the Plant Pathogen Ustilago maydis."/>
          <p:cNvPicPr>
            <a:picLocks noChangeAspect="1" noChangeArrowheads="1"/>
          </p:cNvPicPr>
          <p:nvPr/>
        </p:nvPicPr>
        <p:blipFill>
          <a:blip r:embed="rId2" cstate="print"/>
          <a:srcRect/>
          <a:stretch>
            <a:fillRect/>
          </a:stretch>
        </p:blipFill>
        <p:spPr bwMode="auto">
          <a:xfrm>
            <a:off x="4160414" y="1509183"/>
            <a:ext cx="4842722" cy="3839634"/>
          </a:xfrm>
          <a:prstGeom prst="rect">
            <a:avLst/>
          </a:prstGeom>
          <a:noFill/>
        </p:spPr>
      </p:pic>
    </p:spTree>
    <p:extLst>
      <p:ext uri="{BB962C8B-B14F-4D97-AF65-F5344CB8AC3E}">
        <p14:creationId xmlns:p14="http://schemas.microsoft.com/office/powerpoint/2010/main" val="36691648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26.7 </a:t>
            </a:r>
            <a:r>
              <a:rPr lang="en-US" i="1" dirty="0"/>
              <a:t>Microsporidia</a:t>
            </a:r>
            <a:r>
              <a:rPr lang="en-US" dirty="0"/>
              <a:t> Are Intracellular Parasites</a:t>
            </a:r>
          </a:p>
        </p:txBody>
      </p:sp>
      <p:sp>
        <p:nvSpPr>
          <p:cNvPr id="3" name="Content Placeholder 2"/>
          <p:cNvSpPr>
            <a:spLocks noGrp="1"/>
          </p:cNvSpPr>
          <p:nvPr>
            <p:ph idx="1"/>
          </p:nvPr>
        </p:nvSpPr>
        <p:spPr/>
        <p:txBody>
          <a:bodyPr/>
          <a:lstStyle/>
          <a:p>
            <a:pPr marL="514350" indent="-514350">
              <a:buFont typeface="+mj-lt"/>
              <a:buAutoNum type="arabicPeriod"/>
            </a:pPr>
            <a:r>
              <a:rPr lang="en-US" dirty="0"/>
              <a:t>Explain why the </a:t>
            </a:r>
            <a:r>
              <a:rPr lang="en-US" i="1" dirty="0"/>
              <a:t>Microsporidia</a:t>
            </a:r>
            <a:r>
              <a:rPr lang="en-US" dirty="0"/>
              <a:t> are no longer considered </a:t>
            </a:r>
            <a:r>
              <a:rPr lang="en-US" dirty="0" err="1"/>
              <a:t>protists</a:t>
            </a:r>
            <a:br>
              <a:rPr lang="en-US" dirty="0"/>
            </a:br>
            <a:endParaRPr lang="en-US" dirty="0"/>
          </a:p>
          <a:p>
            <a:pPr marL="514350" indent="-514350">
              <a:buFont typeface="+mj-lt"/>
              <a:buAutoNum type="arabicPeriod"/>
            </a:pPr>
            <a:r>
              <a:rPr lang="en-US" dirty="0"/>
              <a:t>Describe the microsporidian life cycle and relate its unique morphology to host invasion</a:t>
            </a:r>
            <a:br>
              <a:rPr lang="en-US" dirty="0"/>
            </a:br>
            <a:endParaRPr lang="en-US" dirty="0"/>
          </a:p>
          <a:p>
            <a:pPr marL="514350" indent="-514350">
              <a:buFont typeface="+mj-lt"/>
              <a:buAutoNum type="arabicPeriod"/>
            </a:pPr>
            <a:r>
              <a:rPr lang="en-US" dirty="0"/>
              <a:t>List at least two human diseases caused by microsporidia</a:t>
            </a:r>
          </a:p>
          <a:p>
            <a:pPr marL="514350" indent="-514350">
              <a:buFont typeface="+mj-lt"/>
              <a:buAutoNum type="arabicPeriod"/>
            </a:pP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32</a:t>
            </a:fld>
            <a:endParaRPr lang="en-US"/>
          </a:p>
        </p:txBody>
      </p:sp>
    </p:spTree>
    <p:extLst>
      <p:ext uri="{BB962C8B-B14F-4D97-AF65-F5344CB8AC3E}">
        <p14:creationId xmlns:p14="http://schemas.microsoft.com/office/powerpoint/2010/main" val="17380828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Microsporidia</a:t>
            </a:r>
          </a:p>
        </p:txBody>
      </p:sp>
      <p:sp>
        <p:nvSpPr>
          <p:cNvPr id="3" name="Content Placeholder 2"/>
          <p:cNvSpPr>
            <a:spLocks noGrp="1"/>
          </p:cNvSpPr>
          <p:nvPr>
            <p:ph idx="1"/>
          </p:nvPr>
        </p:nvSpPr>
        <p:spPr>
          <a:xfrm>
            <a:off x="457200" y="1447800"/>
            <a:ext cx="8229600" cy="5181600"/>
          </a:xfrm>
        </p:spPr>
        <p:txBody>
          <a:bodyPr>
            <a:normAutofit fontScale="92500"/>
          </a:bodyPr>
          <a:lstStyle/>
          <a:p>
            <a:r>
              <a:rPr lang="en-US" dirty="0"/>
              <a:t>Obligate intracellular fungal parasites that infect insects, fish, and humans </a:t>
            </a:r>
          </a:p>
          <a:p>
            <a:pPr lvl="1"/>
            <a:r>
              <a:rPr lang="en-US" dirty="0"/>
              <a:t>Aquatic birds are common hosts and contribute to large numbers of spores in environment</a:t>
            </a:r>
            <a:br>
              <a:rPr lang="en-US" dirty="0"/>
            </a:br>
            <a:endParaRPr lang="en-US" dirty="0"/>
          </a:p>
          <a:p>
            <a:r>
              <a:rPr lang="en-US" dirty="0"/>
              <a:t>Transitional form is a spore structure capable of surviving outside the host</a:t>
            </a:r>
            <a:br>
              <a:rPr lang="en-US" dirty="0"/>
            </a:br>
            <a:endParaRPr lang="en-US" dirty="0"/>
          </a:p>
          <a:p>
            <a:r>
              <a:rPr lang="en-US" dirty="0"/>
              <a:t>Structurally similar to ‘classic’ fungi </a:t>
            </a:r>
          </a:p>
          <a:p>
            <a:pPr lvl="1"/>
            <a:r>
              <a:rPr lang="en-US" dirty="0"/>
              <a:t>contain chitin, </a:t>
            </a:r>
            <a:r>
              <a:rPr lang="en-US" dirty="0" err="1"/>
              <a:t>trehalose</a:t>
            </a:r>
            <a:r>
              <a:rPr lang="en-US" dirty="0"/>
              <a:t>, and </a:t>
            </a:r>
            <a:r>
              <a:rPr lang="en-US" dirty="0" err="1"/>
              <a:t>mitosomes</a:t>
            </a:r>
            <a:r>
              <a:rPr lang="en-US" dirty="0"/>
              <a:t> </a:t>
            </a:r>
          </a:p>
          <a:p>
            <a:pPr lvl="1"/>
            <a:r>
              <a:rPr lang="en-US" dirty="0"/>
              <a:t>however, lack mitochondria, peroxisomes and centrioles</a:t>
            </a:r>
          </a:p>
          <a:p>
            <a:pPr lvl="1"/>
            <a:r>
              <a:rPr lang="en-US" dirty="0"/>
              <a:t>unique morphology is polar tube essential for host invasion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33</a:t>
            </a:fld>
            <a:endParaRPr lang="en-US"/>
          </a:p>
        </p:txBody>
      </p:sp>
    </p:spTree>
    <p:extLst>
      <p:ext uri="{BB962C8B-B14F-4D97-AF65-F5344CB8AC3E}">
        <p14:creationId xmlns:p14="http://schemas.microsoft.com/office/powerpoint/2010/main" val="30213487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i="1" dirty="0"/>
              <a:t>Microsporidia </a:t>
            </a:r>
            <a:r>
              <a:rPr lang="en-US" dirty="0"/>
              <a:t>Pathogenesis</a:t>
            </a:r>
          </a:p>
        </p:txBody>
      </p:sp>
      <p:sp>
        <p:nvSpPr>
          <p:cNvPr id="6" name="Content Placeholder 5"/>
          <p:cNvSpPr>
            <a:spLocks noGrp="1"/>
          </p:cNvSpPr>
          <p:nvPr>
            <p:ph sz="half" idx="2"/>
          </p:nvPr>
        </p:nvSpPr>
        <p:spPr>
          <a:xfrm>
            <a:off x="5410200" y="1219200"/>
            <a:ext cx="3581400" cy="5410200"/>
          </a:xfrm>
        </p:spPr>
        <p:txBody>
          <a:bodyPr/>
          <a:lstStyle/>
          <a:p>
            <a:r>
              <a:rPr lang="en-US" dirty="0"/>
              <a:t>Human infections</a:t>
            </a:r>
          </a:p>
          <a:p>
            <a:pPr lvl="1"/>
            <a:r>
              <a:rPr lang="en-US" i="1" dirty="0" err="1"/>
              <a:t>Enterocystozoon</a:t>
            </a:r>
            <a:r>
              <a:rPr lang="en-US" i="1" dirty="0"/>
              <a:t> </a:t>
            </a:r>
            <a:r>
              <a:rPr lang="en-US" i="1" dirty="0" err="1"/>
              <a:t>bieneusi</a:t>
            </a:r>
            <a:r>
              <a:rPr lang="en-US" dirty="0"/>
              <a:t> </a:t>
            </a:r>
          </a:p>
          <a:p>
            <a:pPr lvl="2"/>
            <a:r>
              <a:rPr lang="en-US" dirty="0"/>
              <a:t>diarrhea </a:t>
            </a:r>
          </a:p>
          <a:p>
            <a:pPr lvl="2"/>
            <a:r>
              <a:rPr lang="en-US" dirty="0"/>
              <a:t>Pneumonia</a:t>
            </a:r>
            <a:br>
              <a:rPr lang="en-US" dirty="0"/>
            </a:br>
            <a:endParaRPr lang="en-US" dirty="0"/>
          </a:p>
          <a:p>
            <a:pPr lvl="1"/>
            <a:r>
              <a:rPr lang="en-US" i="1" dirty="0" err="1"/>
              <a:t>Encephalitozoon</a:t>
            </a:r>
            <a:r>
              <a:rPr lang="en-US" i="1" dirty="0"/>
              <a:t> </a:t>
            </a:r>
            <a:r>
              <a:rPr lang="en-US" i="1" dirty="0" err="1"/>
              <a:t>cuniculi</a:t>
            </a:r>
            <a:endParaRPr lang="en-US" i="1" dirty="0"/>
          </a:p>
          <a:p>
            <a:pPr lvl="2"/>
            <a:r>
              <a:rPr lang="en-US" dirty="0"/>
              <a:t>encephalitis </a:t>
            </a:r>
          </a:p>
          <a:p>
            <a:pPr lvl="2"/>
            <a:r>
              <a:rPr lang="en-US" dirty="0"/>
              <a:t>Nephritis</a:t>
            </a:r>
            <a:br>
              <a:rPr lang="en-US" dirty="0"/>
            </a:br>
            <a:endParaRPr lang="en-US" dirty="0"/>
          </a:p>
          <a:p>
            <a:pPr lvl="1"/>
            <a:r>
              <a:rPr lang="en-US" dirty="0"/>
              <a:t>severe in HIV/AIDS patients </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34</a:t>
            </a:fld>
            <a:endParaRPr lang="en-US"/>
          </a:p>
        </p:txBody>
      </p:sp>
      <p:pic>
        <p:nvPicPr>
          <p:cNvPr id="17410" name="Picture 2" descr="Illustration of a microsporidian spore with anchoring disk, lamellar polarplast, exospore, endospore, vesicular polarplast, nucleus, polar filament (polar tube), and posterior vacuole identified. Upon germination in a host cell, the polar tube is ejected with enough force to pierce the host cell membrane, allowing the fungus to gain entry." title="Figure 26.17 The Unique Structure of a Microsporidian Spore."/>
          <p:cNvPicPr>
            <a:picLocks noChangeAspect="1" noChangeArrowheads="1"/>
          </p:cNvPicPr>
          <p:nvPr/>
        </p:nvPicPr>
        <p:blipFill>
          <a:blip r:embed="rId2" cstate="print"/>
          <a:srcRect/>
          <a:stretch>
            <a:fillRect/>
          </a:stretch>
        </p:blipFill>
        <p:spPr bwMode="auto">
          <a:xfrm>
            <a:off x="304800" y="1371600"/>
            <a:ext cx="4929187" cy="4910138"/>
          </a:xfrm>
          <a:prstGeom prst="rect">
            <a:avLst/>
          </a:prstGeom>
          <a:noFill/>
        </p:spPr>
      </p:pic>
    </p:spTree>
    <p:extLst>
      <p:ext uri="{BB962C8B-B14F-4D97-AF65-F5344CB8AC3E}">
        <p14:creationId xmlns:p14="http://schemas.microsoft.com/office/powerpoint/2010/main" val="14678584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lstStyle/>
          <a:p>
            <a:r>
              <a:rPr lang="en-US" dirty="0"/>
              <a:t>Take Home Message</a:t>
            </a:r>
          </a:p>
        </p:txBody>
      </p:sp>
      <p:sp>
        <p:nvSpPr>
          <p:cNvPr id="3" name="Content Placeholder 2"/>
          <p:cNvSpPr>
            <a:spLocks noGrp="1"/>
          </p:cNvSpPr>
          <p:nvPr>
            <p:ph idx="1"/>
          </p:nvPr>
        </p:nvSpPr>
        <p:spPr>
          <a:xfrm>
            <a:off x="152400" y="1295400"/>
            <a:ext cx="8839200" cy="5410200"/>
          </a:xfrm>
        </p:spPr>
        <p:txBody>
          <a:bodyPr>
            <a:normAutofit lnSpcReduction="10000"/>
          </a:bodyPr>
          <a:lstStyle/>
          <a:p>
            <a:r>
              <a:rPr lang="en-US" dirty="0"/>
              <a:t>Fungi are incredibly important to life on this planet, as they recycle nutrients from decomposition processes</a:t>
            </a:r>
            <a:br>
              <a:rPr lang="en-US" dirty="0"/>
            </a:br>
            <a:endParaRPr lang="en-US" dirty="0"/>
          </a:p>
          <a:p>
            <a:r>
              <a:rPr lang="en-US" dirty="0"/>
              <a:t>But, they can sometimes grow in/on places we don’t want them to, causing diseases of plants and animals</a:t>
            </a:r>
            <a:br>
              <a:rPr lang="en-US" dirty="0"/>
            </a:br>
            <a:endParaRPr lang="en-US" dirty="0"/>
          </a:p>
          <a:p>
            <a:r>
              <a:rPr lang="en-US" dirty="0"/>
              <a:t>This chapter gives you a quick rundown of the main groups of fungi, how they operate, and which ones can cause problems for humans and plants</a:t>
            </a:r>
            <a:br>
              <a:rPr lang="en-US" dirty="0"/>
            </a:br>
            <a:endParaRPr lang="en-US" dirty="0"/>
          </a:p>
          <a:p>
            <a:r>
              <a:rPr lang="en-US" dirty="0"/>
              <a:t>It’s not meant to be comprehensive – but you should have a much better general understanding of the role of microbial fungi in the world after going through this material</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35</a:t>
            </a:fld>
            <a:endParaRPr lang="en-US"/>
          </a:p>
        </p:txBody>
      </p:sp>
    </p:spTree>
    <p:extLst>
      <p:ext uri="{BB962C8B-B14F-4D97-AF65-F5344CB8AC3E}">
        <p14:creationId xmlns:p14="http://schemas.microsoft.com/office/powerpoint/2010/main" val="9433074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5"/>
  <p:tag name="MMPROD_UIDATA" val="&lt;database version=&quot;6.0&quot;&gt;&lt;object type=&quot;1&quot; unique_id=&quot;10001&quot;&gt;&lt;object type=&quot;8&quot; unique_id=&quot;82076&quot;&gt;&lt;/object&gt;&lt;object type=&quot;2&quot; unique_id=&quot;82077&quot;&gt;&lt;object type=&quot;3&quot; unique_id=&quot;82078&quot;&gt;&lt;property id=&quot;20148&quot; value=&quot;5&quot;/&gt;&lt;property id=&quot;20300&quot; value=&quot;Slide 1 - &amp;quot;Chapter 26 – The Fungi (Eumycota)&amp;quot;&quot;/&gt;&lt;property id=&quot;20307&quot; value=&quot;256&quot;/&gt;&lt;/object&gt;&lt;object type=&quot;3&quot; unique_id=&quot;82079&quot;&gt;&lt;property id=&quot;20148&quot; value=&quot;5&quot;/&gt;&lt;property id=&quot;20300&quot; value=&quot;Slide 2 - &amp;quot;26.1 Fungal Biology Reflects Vast Diversity&amp;quot;&quot;/&gt;&lt;property id=&quot;20307&quot; value=&quot;257&quot;/&gt;&lt;/object&gt;&lt;object type=&quot;3&quot; unique_id=&quot;82080&quot;&gt;&lt;property id=&quot;20148&quot; value=&quot;5&quot;/&gt;&lt;property id=&quot;20300&quot; value=&quot;Slide 3 - &amp;quot;True Fungi: Eumycota&amp;quot;&quot;/&gt;&lt;property id=&quot;20307&quot; value=&quot;258&quot;/&gt;&lt;/object&gt;&lt;object type=&quot;3&quot; unique_id=&quot;82081&quot;&gt;&lt;property id=&quot;20148&quot; value=&quot;5&quot;/&gt;&lt;property id=&quot;20300&quot; value=&quot;Slide 4 - &amp;quot;Terminology&amp;quot;&quot;/&gt;&lt;property id=&quot;20307&quot; value=&quot;259&quot;/&gt;&lt;/object&gt;&lt;object type=&quot;3&quot; unique_id=&quot;82082&quot;&gt;&lt;property id=&quot;20148&quot; value=&quot;5&quot;/&gt;&lt;property id=&quot;20300&quot; value=&quot;Slide 5 - &amp;quot;Taxonomy of Fungi&amp;quot;&quot;/&gt;&lt;property id=&quot;20307&quot; value=&quot;260&quot;/&gt;&lt;/object&gt;&lt;object type=&quot;3&quot; unique_id=&quot;82083&quot;&gt;&lt;property id=&quot;20148&quot; value=&quot;5&quot;/&gt;&lt;property id=&quot;20300&quot; value=&quot;Slide 6 - &amp;quot;Tricky Taxonomy of Fungi&amp;quot;&quot;/&gt;&lt;property id=&quot;20307&quot; value=&quot;261&quot;/&gt;&lt;/object&gt;&lt;object type=&quot;3&quot; unique_id=&quot;82084&quot;&gt;&lt;property id=&quot;20148&quot; value=&quot;5&quot;/&gt;&lt;property id=&quot;20300&quot; value=&quot;Slide 7 - &amp;quot;Abbreviated Classification of Fungi&amp;quot;&quot;/&gt;&lt;property id=&quot;20307&quot; value=&quot;262&quot;/&gt;&lt;/object&gt;&lt;object type=&quot;3&quot; unique_id=&quot;82085&quot;&gt;&lt;property id=&quot;20148&quot; value=&quot;5&quot;/&gt;&lt;property id=&quot;20300&quot; value=&quot;Slide 8 - &amp;quot;Fungal Distribution and Importance&amp;quot;&quot;/&gt;&lt;property id=&quot;20307&quot; value=&quot;263&quot;/&gt;&lt;/object&gt;&lt;object type=&quot;3&quot; unique_id=&quot;82086&quot;&gt;&lt;property id=&quot;20148&quot; value=&quot;5&quot;/&gt;&lt;property id=&quot;20300&quot; value=&quot;Slide 9 - &amp;quot;Fungal Distribution and Importance – Industrial and Research Use&amp;quot;&quot;/&gt;&lt;property id=&quot;20307&quot; value=&quot;265&quot;/&gt;&lt;/object&gt;&lt;object type=&quot;3&quot; unique_id=&quot;82087&quot;&gt;&lt;property id=&quot;20148&quot; value=&quot;5&quot;/&gt;&lt;property id=&quot;20300&quot; value=&quot;Slide 10 - &amp;quot;Fungal Structure&amp;quot;&quot;/&gt;&lt;property id=&quot;20307&quot; value=&quot;267&quot;/&gt;&lt;/object&gt;&lt;object type=&quot;3&quot; unique_id=&quot;82088&quot;&gt;&lt;property id=&quot;20148&quot; value=&quot;5&quot;/&gt;&lt;property id=&quot;20300&quot; value=&quot;Slide 11 - &amp;quot;Fungal Reproduction&amp;quot;&quot;/&gt;&lt;property id=&quot;20307&quot; value=&quot;268&quot;/&gt;&lt;/object&gt;&lt;object type=&quot;3&quot; unique_id=&quot;82089&quot;&gt;&lt;property id=&quot;20148&quot; value=&quot;5&quot;/&gt;&lt;property id=&quot;20300&quot; value=&quot;Slide 12 - &amp;quot;Fungal Reproduction - 2&amp;quot;&quot;/&gt;&lt;property id=&quot;20307&quot; value=&quot;269&quot;/&gt;&lt;/object&gt;&lt;object type=&quot;3&quot; unique_id=&quot;82090&quot;&gt;&lt;property id=&quot;20148&quot; value=&quot;5&quot;/&gt;&lt;property id=&quot;20300&quot; value=&quot;Slide 13 - &amp;quot;26.2 Chytridiomycota Produce Motile Spores&amp;quot;&quot;/&gt;&lt;property id=&quot;20307&quot; value=&quot;270&quot;/&gt;&lt;/object&gt;&lt;object type=&quot;3&quot; unique_id=&quot;82091&quot;&gt;&lt;property id=&quot;20148&quot; value=&quot;5&quot;/&gt;&lt;property id=&quot;20300&quot; value=&quot;Slide 14 - &amp;quot;Chytridiomycota&amp;quot;&quot;/&gt;&lt;property id=&quot;20307&quot; value=&quot;271&quot;/&gt;&lt;/object&gt;&lt;object type=&quot;3&quot; unique_id=&quot;82092&quot;&gt;&lt;property id=&quot;20148&quot; value=&quot;5&quot;/&gt;&lt;property id=&quot;20300&quot; value=&quot;Slide 15 - &amp;quot;26.3 Zygomycota: Fungi with Coenocytic Hyphae&amp;quot;&quot;/&gt;&lt;property id=&quot;20307&quot; value=&quot;273&quot;/&gt;&lt;/object&gt;&lt;object type=&quot;3&quot; unique_id=&quot;82093&quot;&gt;&lt;property id=&quot;20148&quot; value=&quot;5&quot;/&gt;&lt;property id=&quot;20300&quot; value=&quot;Slide 16 - &amp;quot;Zygomycota&amp;quot;&quot;/&gt;&lt;property id=&quot;20307&quot; value=&quot;274&quot;/&gt;&lt;/object&gt;&lt;object type=&quot;3&quot; unique_id=&quot;82094&quot;&gt;&lt;property id=&quot;20148&quot; value=&quot;5&quot;/&gt;&lt;property id=&quot;20300&quot; value=&quot;Slide 17 - &amp;quot;Genus Rhizopus&amp;quot;&quot;/&gt;&lt;property id=&quot;20307&quot; value=&quot;276&quot;/&gt;&lt;/object&gt;&lt;object type=&quot;3&quot; unique_id=&quot;82095&quot;&gt;&lt;property id=&quot;20148&quot; value=&quot;5&quot;/&gt;&lt;property id=&quot;20300&quot; value=&quot;Slide 18 - &amp;quot;Importance of Genus Rhizopus&amp;quot;&quot;/&gt;&lt;property id=&quot;20307&quot; value=&quot;277&quot;/&gt;&lt;/object&gt;&lt;object type=&quot;3&quot; unique_id=&quot;82096&quot;&gt;&lt;property id=&quot;20148&quot; value=&quot;5&quot;/&gt;&lt;property id=&quot;20300&quot; value=&quot;Slide 19 - &amp;quot;26.4 Glomeromycota Are Mycorrhizal Symbionts&amp;quot;&quot;/&gt;&lt;property id=&quot;20307&quot; value=&quot;278&quot;/&gt;&lt;/object&gt;&lt;object type=&quot;3&quot; unique_id=&quot;82097&quot;&gt;&lt;property id=&quot;20148&quot; value=&quot;5&quot;/&gt;&lt;property id=&quot;20300&quot; value=&quot;Slide 20 - &amp;quot;Glomeromycota&amp;quot;&quot;/&gt;&lt;property id=&quot;20307&quot; value=&quot;279&quot;/&gt;&lt;/object&gt;&lt;object type=&quot;3&quot; unique_id=&quot;82098&quot;&gt;&lt;property id=&quot;20148&quot; value=&quot;5&quot;/&gt;&lt;property id=&quot;20300&quot; value=&quot;Slide 21 - &amp;quot;26.5 Ascomycota Includes Yeasts and Molds&amp;quot;&quot;/&gt;&lt;property id=&quot;20307&quot; value=&quot;281&quot;/&gt;&lt;/object&gt;&lt;object type=&quot;3&quot; unique_id=&quot;82099&quot;&gt;&lt;property id=&quot;20148&quot; value=&quot;5&quot;/&gt;&lt;property id=&quot;20300&quot; value=&quot;Slide 22 - &amp;quot;Ascomycota&amp;quot;&quot;/&gt;&lt;property id=&quot;20307&quot; value=&quot;282&quot;/&gt;&lt;/object&gt;&lt;object type=&quot;3&quot; unique_id=&quot;82100&quot;&gt;&lt;property id=&quot;20148&quot; value=&quot;5&quot;/&gt;&lt;property id=&quot;20300&quot; value=&quot;Slide 23 - &amp;quot;Ascomycota &amp;#x0D;&amp;#x0A;Yeast Life Cycle&amp;quot;&quot;/&gt;&lt;property id=&quot;20307&quot; value=&quot;283&quot;/&gt;&lt;/object&gt;&lt;object type=&quot;3&quot; unique_id=&quot;82101&quot;&gt;&lt;property id=&quot;20148&quot; value=&quot;5&quot;/&gt;&lt;property id=&quot;20300&quot; value=&quot;Slide 24 - &amp;quot;Ascomycota &amp;#x0D;&amp;#x0A; Filamentous Form Life Cycle &amp;quot;&quot;/&gt;&lt;property id=&quot;20307&quot; value=&quot;285&quot;/&gt;&lt;/object&gt;&lt;object type=&quot;3&quot; unique_id=&quot;82102&quot;&gt;&lt;property id=&quot;20148&quot; value=&quot;5&quot;/&gt;&lt;property id=&quot;20300&quot; value=&quot;Slide 25 - &amp;quot;Typical Life Cycle of Filamentous Ascomycete&amp;quot;&quot;/&gt;&lt;property id=&quot;20307&quot; value=&quot;286&quot;/&gt;&lt;/object&gt;&lt;object type=&quot;3&quot; unique_id=&quot;82103&quot;&gt;&lt;property id=&quot;20148&quot; value=&quot;5&quot;/&gt;&lt;property id=&quot;20300&quot; value=&quot;Slide 26 - &amp;quot;Genus Aspergillus &amp;quot;&quot;/&gt;&lt;property id=&quot;20307&quot; value=&quot;287&quot;/&gt;&lt;/object&gt;&lt;object type=&quot;3&quot; unique_id=&quot;82104&quot;&gt;&lt;property id=&quot;20148&quot; value=&quot;5&quot;/&gt;&lt;property id=&quot;20300&quot; value=&quot;Slide 27 - &amp;quot;More Pathogenic Ascomycota&amp;quot;&quot;/&gt;&lt;property id=&quot;20307&quot; value=&quot;288&quot;/&gt;&lt;/object&gt;&lt;object type=&quot;3&quot; unique_id=&quot;82105&quot;&gt;&lt;property id=&quot;20148&quot; value=&quot;5&quot;/&gt;&lt;property id=&quot;20300&quot; value=&quot;Slide 28 - &amp;quot;26.6 Basidiomycota Includes Mushrooms and Plant Pathogens&amp;quot;&quot;/&gt;&lt;property id=&quot;20307&quot; value=&quot;289&quot;/&gt;&lt;/object&gt;&lt;object type=&quot;3&quot; unique_id=&quot;82106&quot;&gt;&lt;property id=&quot;20148&quot; value=&quot;5&quot;/&gt;&lt;property id=&quot;20300&quot; value=&quot;Slide 29 - &amp;quot;Basidiomycota&amp;quot;&quot;/&gt;&lt;property id=&quot;20307&quot; value=&quot;290&quot;/&gt;&lt;/object&gt;&lt;object type=&quot;3&quot; unique_id=&quot;82107&quot;&gt;&lt;property id=&quot;20148&quot; value=&quot;5&quot;/&gt;&lt;property id=&quot;20300&quot; value=&quot;Slide 30 - &amp;quot;Basidiomycota Impact on Human Beings&amp;quot;&quot;/&gt;&lt;property id=&quot;20307&quot; value=&quot;292&quot;/&gt;&lt;/object&gt;&lt;object type=&quot;3&quot; unique_id=&quot;82108&quot;&gt;&lt;property id=&quot;20148&quot; value=&quot;5&quot;/&gt;&lt;property id=&quot;20300&quot; value=&quot;Slide 31 - &amp;quot;Urediniomycetes and Ustilaginomycetes&amp;quot;&quot;/&gt;&lt;property id=&quot;20307&quot; value=&quot;293&quot;/&gt;&lt;/object&gt;&lt;object type=&quot;3&quot; unique_id=&quot;82109&quot;&gt;&lt;property id=&quot;20148&quot; value=&quot;5&quot;/&gt;&lt;property id=&quot;20300&quot; value=&quot;Slide 32 - &amp;quot;26.7 Microsporidia Are Intracellular Parasites&amp;quot;&quot;/&gt;&lt;property id=&quot;20307&quot; value=&quot;294&quot;/&gt;&lt;/object&gt;&lt;object type=&quot;3&quot; unique_id=&quot;82110&quot;&gt;&lt;property id=&quot;20148&quot; value=&quot;5&quot;/&gt;&lt;property id=&quot;20300&quot; value=&quot;Slide 33 - &amp;quot;Microsporidia&amp;quot;&quot;/&gt;&lt;property id=&quot;20307&quot; value=&quot;295&quot;/&gt;&lt;/object&gt;&lt;object type=&quot;3&quot; unique_id=&quot;82111&quot;&gt;&lt;property id=&quot;20148&quot; value=&quot;5&quot;/&gt;&lt;property id=&quot;20300&quot; value=&quot;Slide 34 - &amp;quot;Microsporidia Pathogenesis&amp;quot;&quot;/&gt;&lt;property id=&quot;20307&quot; value=&quot;296&quot;/&gt;&lt;/object&gt;&lt;object type=&quot;3&quot; unique_id=&quot;82112&quot;&gt;&lt;property id=&quot;20148&quot; value=&quot;5&quot;/&gt;&lt;property id=&quot;20300&quot; value=&quot;Slide 35 - &amp;quot;Take Home Message&amp;quot;&quot;/&gt;&lt;property id=&quot;20307&quot; value=&quot;297&quot;/&gt;&lt;/object&gt;&lt;/object&gt;&lt;/object&gt;&lt;/database&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330</TotalTime>
  <Words>795</Words>
  <Application>Microsoft Office PowerPoint</Application>
  <PresentationFormat>On-screen Show (4:3)</PresentationFormat>
  <Paragraphs>263</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Chapter 26 – Fungi (Eumycota)</vt:lpstr>
      <vt:lpstr>26.1 Fungal Biology Reflects Vast Diversity</vt:lpstr>
      <vt:lpstr>True Fungi: Eumycota</vt:lpstr>
      <vt:lpstr>Terminology</vt:lpstr>
      <vt:lpstr>Taxonomy of Fungi</vt:lpstr>
      <vt:lpstr>Tricky Taxonomy of Fungi</vt:lpstr>
      <vt:lpstr>Abbreviated Classification of Fungi</vt:lpstr>
      <vt:lpstr>Fungal Distribution and Importance</vt:lpstr>
      <vt:lpstr>Fungal Distribution and Importance – Industrial and Research Use</vt:lpstr>
      <vt:lpstr>Fungal Structure</vt:lpstr>
      <vt:lpstr>Fungal Reproduction</vt:lpstr>
      <vt:lpstr>Fungal Reproduction - 2</vt:lpstr>
      <vt:lpstr>26.2 Chytridiomycota Produce Motile Spores</vt:lpstr>
      <vt:lpstr>Chytridiomycota</vt:lpstr>
      <vt:lpstr>26.3 Zygomycota: Fungi with Coenocytic Hyphae</vt:lpstr>
      <vt:lpstr>Zygomycota</vt:lpstr>
      <vt:lpstr>Genus Rhizopus</vt:lpstr>
      <vt:lpstr>Importance of Genus Rhizopus</vt:lpstr>
      <vt:lpstr>26.4 Glomeromycota Are Mycorrhizal Symbionts</vt:lpstr>
      <vt:lpstr>Glomeromycota</vt:lpstr>
      <vt:lpstr>26.5 Ascomycota Includes Yeasts and Molds</vt:lpstr>
      <vt:lpstr>Ascomycota</vt:lpstr>
      <vt:lpstr>Ascomycota  Yeast Life Cycle</vt:lpstr>
      <vt:lpstr>Ascomycota   Filamentous Form Life Cycle </vt:lpstr>
      <vt:lpstr>Typical Life Cycle of Filamentous Ascomycete</vt:lpstr>
      <vt:lpstr>Genus Aspergillus </vt:lpstr>
      <vt:lpstr>More Pathogenic Ascomycota</vt:lpstr>
      <vt:lpstr>26.6 Basidiomycota Includes Mushrooms and Plant Pathogens</vt:lpstr>
      <vt:lpstr>Basidiomycota</vt:lpstr>
      <vt:lpstr>Basidiomycota Impact on Human Beings</vt:lpstr>
      <vt:lpstr>Urediniomycetes and Ustilaginomycetes</vt:lpstr>
      <vt:lpstr>26.7 Microsporidia Are Intracellular Parasites</vt:lpstr>
      <vt:lpstr>Microsporidia</vt:lpstr>
      <vt:lpstr>Microsporidia Pathogenesis</vt:lpstr>
      <vt:lpstr>Take Home Message</vt:lpstr>
    </vt:vector>
  </TitlesOfParts>
  <Company>University of Central Arkansas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dc:creator>
  <cp:lastModifiedBy>just</cp:lastModifiedBy>
  <cp:revision>32</cp:revision>
  <dcterms:created xsi:type="dcterms:W3CDTF">2016-01-04T02:13:32Z</dcterms:created>
  <dcterms:modified xsi:type="dcterms:W3CDTF">2022-12-03T14:08:29Z</dcterms:modified>
</cp:coreProperties>
</file>