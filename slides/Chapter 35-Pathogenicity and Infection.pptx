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56" r:id="rId2"/>
    <p:sldId id="257" r:id="rId3"/>
    <p:sldId id="258" r:id="rId4"/>
    <p:sldId id="259" r:id="rId5"/>
    <p:sldId id="260" r:id="rId6"/>
    <p:sldId id="261" r:id="rId7"/>
    <p:sldId id="264" r:id="rId8"/>
    <p:sldId id="265" r:id="rId9"/>
    <p:sldId id="266" r:id="rId10"/>
    <p:sldId id="267" r:id="rId11"/>
    <p:sldId id="305" r:id="rId12"/>
    <p:sldId id="306" r:id="rId13"/>
    <p:sldId id="308" r:id="rId14"/>
    <p:sldId id="307" r:id="rId15"/>
    <p:sldId id="268" r:id="rId16"/>
    <p:sldId id="269" r:id="rId17"/>
    <p:sldId id="270" r:id="rId18"/>
    <p:sldId id="271" r:id="rId19"/>
    <p:sldId id="272" r:id="rId20"/>
    <p:sldId id="273" r:id="rId21"/>
    <p:sldId id="274" r:id="rId22"/>
    <p:sldId id="275" r:id="rId23"/>
    <p:sldId id="276" r:id="rId24"/>
    <p:sldId id="277" r:id="rId25"/>
    <p:sldId id="278" r:id="rId26"/>
    <p:sldId id="309" r:id="rId27"/>
    <p:sldId id="279" r:id="rId28"/>
    <p:sldId id="280" r:id="rId29"/>
    <p:sldId id="281" r:id="rId30"/>
    <p:sldId id="282" r:id="rId31"/>
    <p:sldId id="283" r:id="rId32"/>
    <p:sldId id="284" r:id="rId33"/>
    <p:sldId id="310" r:id="rId34"/>
    <p:sldId id="286" r:id="rId35"/>
    <p:sldId id="287" r:id="rId36"/>
    <p:sldId id="288" r:id="rId37"/>
    <p:sldId id="290" r:id="rId38"/>
    <p:sldId id="291" r:id="rId39"/>
    <p:sldId id="292" r:id="rId40"/>
    <p:sldId id="293" r:id="rId41"/>
    <p:sldId id="294" r:id="rId42"/>
    <p:sldId id="295" r:id="rId43"/>
    <p:sldId id="296" r:id="rId44"/>
    <p:sldId id="297" r:id="rId45"/>
    <p:sldId id="298" r:id="rId46"/>
    <p:sldId id="299" r:id="rId47"/>
    <p:sldId id="304" r:id="rId48"/>
  </p:sldIdLst>
  <p:sldSz cx="9144000" cy="6858000" type="screen4x3"/>
  <p:notesSz cx="6858000" cy="91440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59" autoAdjust="0"/>
    <p:restoredTop sz="94660"/>
  </p:normalViewPr>
  <p:slideViewPr>
    <p:cSldViewPr>
      <p:cViewPr varScale="1">
        <p:scale>
          <a:sx n="66" d="100"/>
          <a:sy n="66" d="100"/>
        </p:scale>
        <p:origin x="132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30D3CB-AB8E-4924-A7A6-B3213A3455FA}" type="datetimeFigureOut">
              <a:rPr lang="en-US" smtClean="0"/>
              <a:pPr/>
              <a:t>12/24/2022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A58-2951-486B-9DEE-A8699590E1A5}" type="slidenum">
              <a:rPr lang="en-US" smtClean="0"/>
              <a:pPr/>
              <a:t>‹#›</a:t>
            </a:fld>
            <a:endParaRPr lang="en-US"/>
          </a:p>
        </p:txBody>
      </p:sp>
    </p:spTree>
    <p:extLst>
      <p:ext uri="{BB962C8B-B14F-4D97-AF65-F5344CB8AC3E}">
        <p14:creationId xmlns:p14="http://schemas.microsoft.com/office/powerpoint/2010/main" val="3956374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3600">
                <a:latin typeface="Tahoma" panose="020B0604030504040204" pitchFamily="34" charset="0"/>
                <a:ea typeface="Tahoma" panose="020B0604030504040204" pitchFamily="34" charset="0"/>
                <a:cs typeface="Tahoma" panose="020B060403050404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15454F-ECDB-4842-AF71-F9E8195E2EAE}" type="datetime1">
              <a:rPr lang="en-US" smtClean="0"/>
              <a:pPr/>
              <a:t>12/24/2022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45782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0CD5D7F-3933-4309-8034-0F93355438F7}" type="datetime1">
              <a:rPr lang="en-US" smtClean="0"/>
              <a:pPr/>
              <a:t>12/24/2022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5788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C6B14C-AE06-4A23-89A1-5EF01B1A418B}" type="datetime1">
              <a:rPr lang="en-US" smtClean="0"/>
              <a:pPr/>
              <a:t>12/24/2022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223001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8CB9A4-23AA-4DC3-A257-AD75712A2865}" type="datetime1">
              <a:rPr lang="en-US" smtClean="0"/>
              <a:pPr/>
              <a:t>12/24/2022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350947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89D155C-674B-4796-BBC2-FCD13546F93B}" type="datetime1">
              <a:rPr lang="en-US" smtClean="0"/>
              <a:pPr/>
              <a:t>12/24/2022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585470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0BCA5-5AC7-4B00-85A8-8E2615460E4F}" type="datetime1">
              <a:rPr lang="en-US" smtClean="0"/>
              <a:pPr/>
              <a:t>12/24/2022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2035365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3D31C3-CEED-4AB3-8385-FB58CACF14B7}" type="datetime1">
              <a:rPr lang="en-US" smtClean="0"/>
              <a:pPr/>
              <a:t>12/24/2022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364564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A879B-5B0D-4A04-96A8-F9A63EEDE15E}" type="datetime1">
              <a:rPr lang="en-US" smtClean="0"/>
              <a:pPr/>
              <a:t>12/24/2022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28268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78211E-FE34-4C0A-B5A1-267E9B129D2C}" type="datetime1">
              <a:rPr lang="en-US" smtClean="0"/>
              <a:pPr/>
              <a:t>12/24/2022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186978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03F265-EC92-4E3A-8B2F-17EA75E99940}" type="datetime1">
              <a:rPr lang="en-US" smtClean="0"/>
              <a:pPr/>
              <a:t>12/24/2022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019088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510B38-9655-43E1-BBFD-8C7DABE26029}" type="datetime1">
              <a:rPr lang="en-US" smtClean="0"/>
              <a:pPr/>
              <a:t>12/24/2022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1A82D2-719A-4A87-BECB-D74482819C19}" type="slidenum">
              <a:rPr lang="en-US" smtClean="0"/>
              <a:pPr/>
              <a:t>‹#›</a:t>
            </a:fld>
            <a:endParaRPr lang="en-US"/>
          </a:p>
        </p:txBody>
      </p:sp>
    </p:spTree>
    <p:extLst>
      <p:ext uri="{BB962C8B-B14F-4D97-AF65-F5344CB8AC3E}">
        <p14:creationId xmlns:p14="http://schemas.microsoft.com/office/powerpoint/2010/main" val="1319958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FF1A8-D92E-4DC4-8F80-25205ADBC8C6}" type="datetime1">
              <a:rPr lang="en-US" smtClean="0"/>
              <a:pPr/>
              <a:t>12/24/2022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1A82D2-719A-4A87-BECB-D74482819C19}" type="slidenum">
              <a:rPr lang="en-US" smtClean="0"/>
              <a:pPr/>
              <a:t>‹#›</a:t>
            </a:fld>
            <a:endParaRPr lang="en-US"/>
          </a:p>
        </p:txBody>
      </p:sp>
      <p:sp>
        <p:nvSpPr>
          <p:cNvPr id="7" name="Rectangle 5"/>
          <p:cNvSpPr>
            <a:spLocks noChangeArrowheads="1"/>
          </p:cNvSpPr>
          <p:nvPr userDrawn="1"/>
        </p:nvSpPr>
        <p:spPr bwMode="auto">
          <a:xfrm>
            <a:off x="0" y="6642100"/>
            <a:ext cx="9144000" cy="215444"/>
          </a:xfrm>
          <a:prstGeom prst="rect">
            <a:avLst/>
          </a:prstGeom>
          <a:noFill/>
          <a:ln w="9525">
            <a:noFill/>
            <a:miter lim="800000"/>
            <a:headEnd/>
            <a:tailEnd/>
          </a:ln>
        </p:spPr>
        <p:txBody>
          <a:bodyPr>
            <a:spAutoFit/>
          </a:bodyPr>
          <a:lstStyle/>
          <a:p>
            <a:pPr algn="ctr"/>
            <a:r>
              <a:rPr lang="en-US" sz="800" b="0" dirty="0">
                <a:ea typeface="ヒラギノ角ゴ Pro W3"/>
                <a:cs typeface="ヒラギノ角ゴ Pro W3"/>
              </a:rPr>
              <a:t>Copyright (c) 2017 McGraw-Hill Education. All rights reserved. No reproduction or distribution without the prior written consent of McGraw-Hill Education.</a:t>
            </a:r>
          </a:p>
        </p:txBody>
      </p:sp>
    </p:spTree>
    <p:extLst>
      <p:ext uri="{BB962C8B-B14F-4D97-AF65-F5344CB8AC3E}">
        <p14:creationId xmlns:p14="http://schemas.microsoft.com/office/powerpoint/2010/main" val="376157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3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6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B1A82D2-719A-4A87-BECB-D74482819C19}" type="slidenum">
              <a:rPr lang="en-US" smtClean="0"/>
              <a:pPr/>
              <a:t>1</a:t>
            </a:fld>
            <a:endParaRPr lang="en-US"/>
          </a:p>
        </p:txBody>
      </p:sp>
      <p:sp>
        <p:nvSpPr>
          <p:cNvPr id="2" name="Title 1"/>
          <p:cNvSpPr>
            <a:spLocks noGrp="1"/>
          </p:cNvSpPr>
          <p:nvPr>
            <p:ph type="ctrTitle"/>
          </p:nvPr>
        </p:nvSpPr>
        <p:spPr>
          <a:xfrm>
            <a:off x="685800" y="304800"/>
            <a:ext cx="7772400" cy="1470025"/>
          </a:xfrm>
        </p:spPr>
        <p:txBody>
          <a:bodyPr/>
          <a:lstStyle/>
          <a:p>
            <a:r>
              <a:rPr lang="en-US" dirty="0"/>
              <a:t>Chapter 35 – Pathogenicity and Infection</a:t>
            </a:r>
          </a:p>
        </p:txBody>
      </p:sp>
      <p:pic>
        <p:nvPicPr>
          <p:cNvPr id="7" name="Picture 2" descr="X:\Graphics\Powerpoint\MH_DCM\MH_DCM-TEXTEDIT PROJECTS\WILLEY_10e\Incoming\Wille10e17tlm_nm3.jpg"/>
          <p:cNvPicPr>
            <a:picLocks noChangeAspect="1" noChangeArrowheads="1"/>
          </p:cNvPicPr>
          <p:nvPr/>
        </p:nvPicPr>
        <p:blipFill>
          <a:blip r:embed="rId2" cstate="print"/>
          <a:srcRect/>
          <a:stretch>
            <a:fillRect/>
          </a:stretch>
        </p:blipFill>
        <p:spPr bwMode="auto">
          <a:xfrm>
            <a:off x="2502128" y="1642532"/>
            <a:ext cx="4139744" cy="5029200"/>
          </a:xfrm>
          <a:prstGeom prst="rect">
            <a:avLst/>
          </a:prstGeom>
          <a:noFill/>
        </p:spPr>
      </p:pic>
    </p:spTree>
    <p:extLst>
      <p:ext uri="{BB962C8B-B14F-4D97-AF65-F5344CB8AC3E}">
        <p14:creationId xmlns:p14="http://schemas.microsoft.com/office/powerpoint/2010/main" val="1490809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35.1 Pathogenicity Drives Infectious Disease</a:t>
            </a:r>
          </a:p>
        </p:txBody>
      </p:sp>
      <p:sp>
        <p:nvSpPr>
          <p:cNvPr id="3" name="Content Placeholder 2"/>
          <p:cNvSpPr>
            <a:spLocks noGrp="1"/>
          </p:cNvSpPr>
          <p:nvPr>
            <p:ph idx="1"/>
          </p:nvPr>
        </p:nvSpPr>
        <p:spPr/>
        <p:txBody>
          <a:bodyPr/>
          <a:lstStyle/>
          <a:p>
            <a:pPr marL="514350" indent="-514350">
              <a:buFont typeface="+mj-lt"/>
              <a:buAutoNum type="arabicPeriod"/>
            </a:pPr>
            <a:r>
              <a:rPr lang="en-US" dirty="0"/>
              <a:t>Compare and contrast competition between microbial species with competition between microbial and human cells</a:t>
            </a:r>
            <a:br>
              <a:rPr lang="en-US" dirty="0"/>
            </a:br>
            <a:endParaRPr lang="en-US" dirty="0"/>
          </a:p>
          <a:p>
            <a:pPr marL="514350" indent="-514350">
              <a:buFont typeface="+mj-lt"/>
              <a:buAutoNum type="arabicPeriod"/>
            </a:pPr>
            <a:r>
              <a:rPr lang="en-US" dirty="0"/>
              <a:t>Predict the microbial virulence factors and host cell responses that result in disease</a:t>
            </a:r>
            <a:br>
              <a:rPr lang="en-US" dirty="0"/>
            </a:br>
            <a:endParaRPr lang="en-US" dirty="0"/>
          </a:p>
          <a:p>
            <a:pPr marL="514350" indent="-514350">
              <a:buFont typeface="+mj-lt"/>
              <a:buAutoNum type="arabicPeriod"/>
            </a:pPr>
            <a:r>
              <a:rPr lang="en-US" dirty="0"/>
              <a:t>Relate the infectious disease process to time, identifying events associated with each stage of the process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a:t>
            </a:fld>
            <a:endParaRPr lang="en-US"/>
          </a:p>
        </p:txBody>
      </p:sp>
    </p:spTree>
    <p:extLst>
      <p:ext uri="{BB962C8B-B14F-4D97-AF65-F5344CB8AC3E}">
        <p14:creationId xmlns:p14="http://schemas.microsoft.com/office/powerpoint/2010/main" val="2197204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Pathogenicity and </a:t>
            </a:r>
            <a:br>
              <a:rPr lang="en-US" dirty="0"/>
            </a:br>
            <a:r>
              <a:rPr lang="en-US" dirty="0"/>
              <a:t>Infectious Disease</a:t>
            </a:r>
          </a:p>
        </p:txBody>
      </p:sp>
      <p:sp>
        <p:nvSpPr>
          <p:cNvPr id="3" name="Content Placeholder 2"/>
          <p:cNvSpPr>
            <a:spLocks noGrp="1"/>
          </p:cNvSpPr>
          <p:nvPr>
            <p:ph idx="1"/>
          </p:nvPr>
        </p:nvSpPr>
        <p:spPr/>
        <p:txBody>
          <a:bodyPr/>
          <a:lstStyle/>
          <a:p>
            <a:r>
              <a:rPr lang="en-US" dirty="0"/>
              <a:t>Host – larger organism that supports the survival and growth of a smaller organism</a:t>
            </a:r>
            <a:br>
              <a:rPr lang="en-US" dirty="0"/>
            </a:br>
            <a:endParaRPr lang="en-US" dirty="0"/>
          </a:p>
          <a:p>
            <a:r>
              <a:rPr lang="en-US" dirty="0"/>
              <a:t>Parasites are organisms that </a:t>
            </a:r>
          </a:p>
          <a:p>
            <a:pPr lvl="1"/>
            <a:r>
              <a:rPr lang="en-US" dirty="0"/>
              <a:t>live on or within a host organism and are metabolically dependent on the host</a:t>
            </a:r>
          </a:p>
          <a:p>
            <a:pPr lvl="1"/>
            <a:r>
              <a:rPr lang="en-US" dirty="0"/>
              <a:t>are any organism that cause disease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a:t>
            </a:fld>
            <a:endParaRPr lang="en-US"/>
          </a:p>
        </p:txBody>
      </p:sp>
    </p:spTree>
    <p:extLst>
      <p:ext uri="{BB962C8B-B14F-4D97-AF65-F5344CB8AC3E}">
        <p14:creationId xmlns:p14="http://schemas.microsoft.com/office/powerpoint/2010/main" val="2306084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Pathogenicity and Infectious Disease</a:t>
            </a:r>
          </a:p>
        </p:txBody>
      </p:sp>
      <p:sp>
        <p:nvSpPr>
          <p:cNvPr id="3" name="Content Placeholder 2"/>
          <p:cNvSpPr>
            <a:spLocks noGrp="1"/>
          </p:cNvSpPr>
          <p:nvPr>
            <p:ph idx="1"/>
          </p:nvPr>
        </p:nvSpPr>
        <p:spPr>
          <a:xfrm>
            <a:off x="152400" y="1371600"/>
            <a:ext cx="8763000" cy="5334000"/>
          </a:xfrm>
        </p:spPr>
        <p:txBody>
          <a:bodyPr>
            <a:normAutofit lnSpcReduction="10000"/>
          </a:bodyPr>
          <a:lstStyle/>
          <a:p>
            <a:pPr>
              <a:lnSpc>
                <a:spcPct val="90000"/>
              </a:lnSpc>
            </a:pPr>
            <a:r>
              <a:rPr lang="en-US" sz="2800" dirty="0"/>
              <a:t>Infection </a:t>
            </a:r>
          </a:p>
          <a:p>
            <a:pPr lvl="1">
              <a:lnSpc>
                <a:spcPct val="90000"/>
              </a:lnSpc>
            </a:pPr>
            <a:r>
              <a:rPr lang="en-US" dirty="0"/>
              <a:t>a parasite growing and multiplying within/on a host</a:t>
            </a:r>
          </a:p>
          <a:p>
            <a:pPr lvl="1">
              <a:lnSpc>
                <a:spcPct val="90000"/>
              </a:lnSpc>
            </a:pPr>
            <a:r>
              <a:rPr lang="en-US" dirty="0"/>
              <a:t>may or may not result in overt infectious disease</a:t>
            </a:r>
            <a:br>
              <a:rPr lang="en-US" dirty="0"/>
            </a:br>
            <a:r>
              <a:rPr lang="en-US" dirty="0"/>
              <a:t> </a:t>
            </a:r>
          </a:p>
          <a:p>
            <a:pPr>
              <a:lnSpc>
                <a:spcPct val="90000"/>
              </a:lnSpc>
            </a:pPr>
            <a:r>
              <a:rPr lang="en-US" dirty="0"/>
              <a:t>P</a:t>
            </a:r>
            <a:r>
              <a:rPr lang="en-US" sz="2800" dirty="0"/>
              <a:t>athogen</a:t>
            </a:r>
          </a:p>
          <a:p>
            <a:pPr lvl="1">
              <a:lnSpc>
                <a:spcPct val="90000"/>
              </a:lnSpc>
            </a:pPr>
            <a:r>
              <a:rPr lang="en-US" dirty="0"/>
              <a:t>any parasitic organism causing infectious disease</a:t>
            </a:r>
          </a:p>
          <a:p>
            <a:pPr lvl="1">
              <a:lnSpc>
                <a:spcPct val="90000"/>
              </a:lnSpc>
            </a:pPr>
            <a:r>
              <a:rPr lang="en-US" dirty="0"/>
              <a:t>primary (frank) pathogen – causes disease by direct interaction with healthy host</a:t>
            </a:r>
          </a:p>
          <a:p>
            <a:pPr lvl="1">
              <a:lnSpc>
                <a:spcPct val="90000"/>
              </a:lnSpc>
            </a:pPr>
            <a:r>
              <a:rPr lang="en-US" dirty="0"/>
              <a:t>opportunistic pathogen – may be part of normal flora and causes disease when it has gained access to other tissue sites or host is immunocompromised </a:t>
            </a:r>
            <a:br>
              <a:rPr lang="en-US" dirty="0"/>
            </a:br>
            <a:endParaRPr lang="en-US" dirty="0"/>
          </a:p>
          <a:p>
            <a:pPr>
              <a:lnSpc>
                <a:spcPct val="90000"/>
              </a:lnSpc>
            </a:pPr>
            <a:r>
              <a:rPr lang="en-US" dirty="0"/>
              <a:t>P</a:t>
            </a:r>
            <a:r>
              <a:rPr lang="en-US" sz="2800" dirty="0"/>
              <a:t>athogenicity</a:t>
            </a:r>
          </a:p>
          <a:p>
            <a:pPr lvl="1">
              <a:lnSpc>
                <a:spcPct val="90000"/>
              </a:lnSpc>
            </a:pPr>
            <a:r>
              <a:rPr lang="en-US" dirty="0"/>
              <a:t>ability of parasite to cause disease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a:t>
            </a:fld>
            <a:endParaRPr lang="en-US"/>
          </a:p>
        </p:txBody>
      </p:sp>
    </p:spTree>
    <p:extLst>
      <p:ext uri="{BB962C8B-B14F-4D97-AF65-F5344CB8AC3E}">
        <p14:creationId xmlns:p14="http://schemas.microsoft.com/office/powerpoint/2010/main" val="3423190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The Chain of Infection</a:t>
            </a:r>
          </a:p>
        </p:txBody>
      </p:sp>
      <p:sp>
        <p:nvSpPr>
          <p:cNvPr id="3" name="Content Placeholder 2"/>
          <p:cNvSpPr>
            <a:spLocks noGrp="1"/>
          </p:cNvSpPr>
          <p:nvPr>
            <p:ph sz="half" idx="1"/>
          </p:nvPr>
        </p:nvSpPr>
        <p:spPr>
          <a:xfrm>
            <a:off x="152400" y="1066801"/>
            <a:ext cx="8839200" cy="2743200"/>
          </a:xfrm>
        </p:spPr>
        <p:txBody>
          <a:bodyPr/>
          <a:lstStyle/>
          <a:p>
            <a:r>
              <a:rPr lang="en-US" dirty="0"/>
              <a:t>Chain of events for a successful infection</a:t>
            </a:r>
          </a:p>
          <a:p>
            <a:pPr lvl="1"/>
            <a:r>
              <a:rPr lang="en-US" dirty="0"/>
              <a:t>agent identity</a:t>
            </a:r>
          </a:p>
          <a:p>
            <a:pPr lvl="1"/>
            <a:r>
              <a:rPr lang="en-US" dirty="0"/>
              <a:t>virulence of agent</a:t>
            </a:r>
          </a:p>
          <a:p>
            <a:pPr lvl="1"/>
            <a:r>
              <a:rPr lang="en-US" dirty="0"/>
              <a:t>means of exposure to agent</a:t>
            </a:r>
          </a:p>
          <a:p>
            <a:pPr lvl="1"/>
            <a:r>
              <a:rPr lang="en-US" dirty="0"/>
              <a:t>dose of agent</a:t>
            </a:r>
          </a:p>
          <a:p>
            <a:pPr lvl="1"/>
            <a:r>
              <a:rPr lang="en-US" dirty="0"/>
              <a:t>susceptibility of host to agent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5</a:t>
            </a:fld>
            <a:endParaRPr lang="en-US"/>
          </a:p>
        </p:txBody>
      </p:sp>
      <p:pic>
        <p:nvPicPr>
          <p:cNvPr id="1026" name="Picture 2" descr="Five interlinking chains: Agent, Exposure, Susceptibility, Virulence, and Dose&#10;The infectious disease process requires that a specific agent of substantial virulence is exposed to a susceptible host in an appropriate dose (number of organisms). All links of the chain are necessary for infectious disease to result. Breaking the chain, by removal of any link, prevents infectious disease." title="Figure 35.1 The Chain of Infection."/>
          <p:cNvPicPr>
            <a:picLocks noChangeAspect="1" noChangeArrowheads="1"/>
          </p:cNvPicPr>
          <p:nvPr/>
        </p:nvPicPr>
        <p:blipFill>
          <a:blip r:embed="rId2" cstate="print"/>
          <a:srcRect/>
          <a:stretch>
            <a:fillRect/>
          </a:stretch>
        </p:blipFill>
        <p:spPr bwMode="auto">
          <a:xfrm>
            <a:off x="1542495" y="3793067"/>
            <a:ext cx="6059010" cy="2813578"/>
          </a:xfrm>
          <a:prstGeom prst="rect">
            <a:avLst/>
          </a:prstGeom>
          <a:noFill/>
        </p:spPr>
      </p:pic>
    </p:spTree>
    <p:extLst>
      <p:ext uri="{BB962C8B-B14F-4D97-AF65-F5344CB8AC3E}">
        <p14:creationId xmlns:p14="http://schemas.microsoft.com/office/powerpoint/2010/main" val="3822146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Pathogens</a:t>
            </a:r>
          </a:p>
        </p:txBody>
      </p:sp>
      <p:sp>
        <p:nvSpPr>
          <p:cNvPr id="3" name="Content Placeholder 2"/>
          <p:cNvSpPr>
            <a:spLocks noGrp="1"/>
          </p:cNvSpPr>
          <p:nvPr>
            <p:ph idx="1"/>
          </p:nvPr>
        </p:nvSpPr>
        <p:spPr/>
        <p:txBody>
          <a:bodyPr/>
          <a:lstStyle/>
          <a:p>
            <a:r>
              <a:rPr lang="en-US" dirty="0"/>
              <a:t>Can be animate (other humans or animals)</a:t>
            </a:r>
          </a:p>
          <a:p>
            <a:pPr lvl="1"/>
            <a:r>
              <a:rPr lang="en-US" dirty="0"/>
              <a:t>infections passed from animal to human are termed </a:t>
            </a:r>
            <a:r>
              <a:rPr lang="en-US" dirty="0" err="1"/>
              <a:t>zoonoses</a:t>
            </a:r>
            <a:endParaRPr lang="en-US" dirty="0"/>
          </a:p>
          <a:p>
            <a:pPr lvl="1"/>
            <a:r>
              <a:rPr lang="en-US" dirty="0"/>
              <a:t>many examples of </a:t>
            </a:r>
            <a:r>
              <a:rPr lang="en-US" dirty="0" err="1"/>
              <a:t>zoonoses</a:t>
            </a:r>
            <a:r>
              <a:rPr lang="en-US" dirty="0"/>
              <a:t> exist (see tables on next two slides)</a:t>
            </a:r>
            <a:br>
              <a:rPr lang="en-US" dirty="0"/>
            </a:br>
            <a:endParaRPr lang="en-US" dirty="0"/>
          </a:p>
          <a:p>
            <a:r>
              <a:rPr lang="en-US" dirty="0"/>
              <a:t>Can be inanimate (water, soil, food)</a:t>
            </a:r>
            <a:br>
              <a:rPr lang="en-US" dirty="0"/>
            </a:br>
            <a:endParaRPr lang="en-US" dirty="0"/>
          </a:p>
          <a:p>
            <a:r>
              <a:rPr lang="en-US" dirty="0"/>
              <a:t>Reservoir = natural environmental location in which the pathogen normally resides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6</a:t>
            </a:fld>
            <a:endParaRPr lang="en-US"/>
          </a:p>
        </p:txBody>
      </p:sp>
    </p:spTree>
    <p:extLst>
      <p:ext uri="{BB962C8B-B14F-4D97-AF65-F5344CB8AC3E}">
        <p14:creationId xmlns:p14="http://schemas.microsoft.com/office/powerpoint/2010/main" val="643220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r>
              <a:rPr lang="en-US" dirty="0"/>
              <a:t>Infectious Process</a:t>
            </a:r>
          </a:p>
        </p:txBody>
      </p:sp>
      <p:sp>
        <p:nvSpPr>
          <p:cNvPr id="3" name="Content Placeholder 2"/>
          <p:cNvSpPr>
            <a:spLocks noGrp="1"/>
          </p:cNvSpPr>
          <p:nvPr>
            <p:ph sz="half" idx="1"/>
          </p:nvPr>
        </p:nvSpPr>
        <p:spPr>
          <a:xfrm>
            <a:off x="152400" y="1066800"/>
            <a:ext cx="4343400" cy="5715000"/>
          </a:xfrm>
        </p:spPr>
        <p:txBody>
          <a:bodyPr>
            <a:normAutofit lnSpcReduction="10000"/>
          </a:bodyPr>
          <a:lstStyle/>
          <a:p>
            <a:r>
              <a:rPr lang="en-US" dirty="0"/>
              <a:t>A pathogen must contact a host AND survive within it to cause a disease. To survive, it needs:</a:t>
            </a:r>
          </a:p>
          <a:p>
            <a:pPr lvl="1"/>
            <a:r>
              <a:rPr lang="en-US" dirty="0"/>
              <a:t>a suitable environment</a:t>
            </a:r>
          </a:p>
          <a:p>
            <a:pPr lvl="1"/>
            <a:r>
              <a:rPr lang="en-US" dirty="0"/>
              <a:t>a source of nutrients</a:t>
            </a:r>
          </a:p>
          <a:p>
            <a:pPr lvl="2"/>
            <a:r>
              <a:rPr lang="en-US" dirty="0"/>
              <a:t>in competition with </a:t>
            </a:r>
          </a:p>
          <a:p>
            <a:pPr marL="914400" lvl="2" indent="0">
              <a:buNone/>
            </a:pPr>
            <a:r>
              <a:rPr lang="en-US" dirty="0"/>
              <a:t>   eukaryotic host cells</a:t>
            </a:r>
          </a:p>
          <a:p>
            <a:pPr lvl="1"/>
            <a:r>
              <a:rPr lang="en-US" dirty="0"/>
              <a:t>protection from harmful </a:t>
            </a:r>
          </a:p>
          <a:p>
            <a:pPr marL="457200" lvl="1" indent="0">
              <a:buNone/>
            </a:pPr>
            <a:r>
              <a:rPr lang="en-US" dirty="0"/>
              <a:t>   elements</a:t>
            </a:r>
          </a:p>
          <a:p>
            <a:pPr lvl="2"/>
            <a:r>
              <a:rPr lang="en-US" dirty="0"/>
              <a:t>virulence factors allow </a:t>
            </a:r>
          </a:p>
          <a:p>
            <a:pPr marL="914400" lvl="2" indent="0">
              <a:buNone/>
            </a:pPr>
            <a:r>
              <a:rPr lang="en-US" dirty="0"/>
              <a:t>   a pathogen to outcompete </a:t>
            </a:r>
          </a:p>
          <a:p>
            <a:pPr marL="914400" lvl="2" indent="0">
              <a:buNone/>
            </a:pPr>
            <a:r>
              <a:rPr lang="en-US" dirty="0"/>
              <a:t>   host cells and resist their defenses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7</a:t>
            </a:fld>
            <a:endParaRPr lang="en-US"/>
          </a:p>
        </p:txBody>
      </p:sp>
      <p:pic>
        <p:nvPicPr>
          <p:cNvPr id="2050" name="Picture 2" descr="The infectious disease process is complex and dynamic. To the host, infection is at best an annoyance and at worst lethal, if the microorganism succeeds. To the microorganism, infection is focused on finding a suitable environment, obtaining nutrients, and avoiding host immune responses to establish a niche. Microorganisms use numerous physical and chemical strategies to survive.&#10;Survival strategies include: Adhesins, Enzymes, Toxins, Invasins, and Autoinducers" title="Figure 35.2 Overview of the Infection Process."/>
          <p:cNvPicPr>
            <a:picLocks noChangeAspect="1" noChangeArrowheads="1"/>
          </p:cNvPicPr>
          <p:nvPr/>
        </p:nvPicPr>
        <p:blipFill>
          <a:blip r:embed="rId2" cstate="print"/>
          <a:srcRect/>
          <a:stretch>
            <a:fillRect/>
          </a:stretch>
        </p:blipFill>
        <p:spPr bwMode="auto">
          <a:xfrm>
            <a:off x="4241799" y="1219200"/>
            <a:ext cx="4864100" cy="3943350"/>
          </a:xfrm>
          <a:prstGeom prst="rect">
            <a:avLst/>
          </a:prstGeom>
          <a:noFill/>
        </p:spPr>
      </p:pic>
    </p:spTree>
    <p:extLst>
      <p:ext uri="{BB962C8B-B14F-4D97-AF65-F5344CB8AC3E}">
        <p14:creationId xmlns:p14="http://schemas.microsoft.com/office/powerpoint/2010/main" val="3192947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Toxigenicity</a:t>
            </a:r>
            <a:endParaRPr lang="en-US" dirty="0"/>
          </a:p>
        </p:txBody>
      </p:sp>
      <p:sp>
        <p:nvSpPr>
          <p:cNvPr id="3" name="Content Placeholder 2"/>
          <p:cNvSpPr>
            <a:spLocks noGrp="1"/>
          </p:cNvSpPr>
          <p:nvPr>
            <p:ph idx="1"/>
          </p:nvPr>
        </p:nvSpPr>
        <p:spPr>
          <a:xfrm>
            <a:off x="457200" y="1600200"/>
            <a:ext cx="8229600" cy="4876800"/>
          </a:xfrm>
        </p:spPr>
        <p:txBody>
          <a:bodyPr/>
          <a:lstStyle/>
          <a:p>
            <a:pPr>
              <a:lnSpc>
                <a:spcPct val="90000"/>
              </a:lnSpc>
            </a:pPr>
            <a:r>
              <a:rPr lang="en-US" dirty="0"/>
              <a:t>Some microbes possess </a:t>
            </a:r>
            <a:r>
              <a:rPr lang="en-US" dirty="0" err="1"/>
              <a:t>toxigenicity</a:t>
            </a:r>
            <a:endParaRPr lang="en-US" dirty="0"/>
          </a:p>
          <a:p>
            <a:pPr lvl="1">
              <a:lnSpc>
                <a:spcPct val="90000"/>
              </a:lnSpc>
            </a:pPr>
            <a:r>
              <a:rPr lang="en-US" dirty="0"/>
              <a:t>ability to produce toxins</a:t>
            </a:r>
            <a:br>
              <a:rPr lang="en-US" dirty="0"/>
            </a:br>
            <a:endParaRPr lang="en-US" dirty="0"/>
          </a:p>
          <a:p>
            <a:pPr>
              <a:lnSpc>
                <a:spcPct val="90000"/>
              </a:lnSpc>
            </a:pPr>
            <a:r>
              <a:rPr lang="en-US" dirty="0"/>
              <a:t>Toxin</a:t>
            </a:r>
          </a:p>
          <a:p>
            <a:pPr lvl="1">
              <a:lnSpc>
                <a:spcPct val="90000"/>
              </a:lnSpc>
            </a:pPr>
            <a:r>
              <a:rPr lang="en-US" dirty="0"/>
              <a:t>specific substance that damages host</a:t>
            </a:r>
            <a:br>
              <a:rPr lang="en-US" dirty="0"/>
            </a:br>
            <a:endParaRPr lang="en-US" dirty="0"/>
          </a:p>
          <a:p>
            <a:pPr>
              <a:lnSpc>
                <a:spcPct val="90000"/>
              </a:lnSpc>
            </a:pPr>
            <a:r>
              <a:rPr lang="en-US" dirty="0"/>
              <a:t>Intoxications</a:t>
            </a:r>
          </a:p>
          <a:p>
            <a:pPr lvl="1">
              <a:lnSpc>
                <a:spcPct val="90000"/>
              </a:lnSpc>
            </a:pPr>
            <a:r>
              <a:rPr lang="en-US" dirty="0"/>
              <a:t>diseases that result from entry of a specific preformed toxin into host</a:t>
            </a:r>
            <a:br>
              <a:rPr lang="en-US" dirty="0"/>
            </a:br>
            <a:endParaRPr lang="en-US" dirty="0"/>
          </a:p>
          <a:p>
            <a:pPr>
              <a:lnSpc>
                <a:spcPct val="90000"/>
              </a:lnSpc>
            </a:pPr>
            <a:r>
              <a:rPr lang="en-US" dirty="0"/>
              <a:t>Toxemia</a:t>
            </a:r>
          </a:p>
          <a:p>
            <a:pPr lvl="1">
              <a:lnSpc>
                <a:spcPct val="90000"/>
              </a:lnSpc>
            </a:pPr>
            <a:r>
              <a:rPr lang="en-US" dirty="0"/>
              <a:t>condition caused by toxins in the blood of host</a:t>
            </a:r>
          </a:p>
        </p:txBody>
      </p:sp>
      <p:sp>
        <p:nvSpPr>
          <p:cNvPr id="4" name="Slide Number Placeholder 3"/>
          <p:cNvSpPr>
            <a:spLocks noGrp="1"/>
          </p:cNvSpPr>
          <p:nvPr>
            <p:ph type="sldNum" sz="quarter" idx="12"/>
          </p:nvPr>
        </p:nvSpPr>
        <p:spPr/>
        <p:txBody>
          <a:bodyPr/>
          <a:lstStyle/>
          <a:p>
            <a:fld id="{3B1A82D2-719A-4A87-BECB-D74482819C19}" type="slidenum">
              <a:rPr lang="en-US" smtClean="0"/>
              <a:pPr/>
              <a:t>8</a:t>
            </a:fld>
            <a:endParaRPr lang="en-US"/>
          </a:p>
        </p:txBody>
      </p:sp>
    </p:spTree>
    <p:extLst>
      <p:ext uri="{BB962C8B-B14F-4D97-AF65-F5344CB8AC3E}">
        <p14:creationId xmlns:p14="http://schemas.microsoft.com/office/powerpoint/2010/main" val="2239520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265238"/>
          </a:xfrm>
        </p:spPr>
        <p:txBody>
          <a:bodyPr>
            <a:normAutofit/>
          </a:bodyPr>
          <a:lstStyle/>
          <a:p>
            <a:r>
              <a:rPr lang="en-US" dirty="0"/>
              <a:t>Course of Infectious Disease – Important Terms</a:t>
            </a:r>
          </a:p>
        </p:txBody>
      </p:sp>
      <p:sp>
        <p:nvSpPr>
          <p:cNvPr id="3" name="Content Placeholder 2"/>
          <p:cNvSpPr>
            <a:spLocks noGrp="1"/>
          </p:cNvSpPr>
          <p:nvPr>
            <p:ph idx="1"/>
          </p:nvPr>
        </p:nvSpPr>
        <p:spPr>
          <a:xfrm>
            <a:off x="457200" y="1600200"/>
            <a:ext cx="8229600" cy="4953000"/>
          </a:xfrm>
        </p:spPr>
        <p:txBody>
          <a:bodyPr>
            <a:normAutofit lnSpcReduction="10000"/>
          </a:bodyPr>
          <a:lstStyle/>
          <a:p>
            <a:pPr>
              <a:lnSpc>
                <a:spcPct val="90000"/>
              </a:lnSpc>
            </a:pPr>
            <a:r>
              <a:rPr lang="en-US" dirty="0"/>
              <a:t>Infectious disease</a:t>
            </a:r>
          </a:p>
          <a:p>
            <a:pPr lvl="1">
              <a:lnSpc>
                <a:spcPct val="90000"/>
              </a:lnSpc>
            </a:pPr>
            <a:r>
              <a:rPr lang="en-US" dirty="0"/>
              <a:t>infection with viruses, bacteria, fungi, protozoa, </a:t>
            </a:r>
            <a:br>
              <a:rPr lang="en-US" dirty="0"/>
            </a:br>
            <a:r>
              <a:rPr lang="en-US" dirty="0"/>
              <a:t>and helminths</a:t>
            </a:r>
            <a:br>
              <a:rPr lang="en-US" dirty="0"/>
            </a:br>
            <a:endParaRPr lang="en-US" dirty="0"/>
          </a:p>
          <a:p>
            <a:pPr>
              <a:lnSpc>
                <a:spcPct val="90000"/>
              </a:lnSpc>
            </a:pPr>
            <a:r>
              <a:rPr lang="en-US" dirty="0"/>
              <a:t>Signs </a:t>
            </a:r>
          </a:p>
          <a:p>
            <a:pPr lvl="1">
              <a:lnSpc>
                <a:spcPct val="90000"/>
              </a:lnSpc>
            </a:pPr>
            <a:r>
              <a:rPr lang="en-US" dirty="0"/>
              <a:t>objective changes in body that </a:t>
            </a:r>
          </a:p>
          <a:p>
            <a:pPr marL="457200" lvl="1" indent="0">
              <a:lnSpc>
                <a:spcPct val="90000"/>
              </a:lnSpc>
              <a:buNone/>
            </a:pPr>
            <a:r>
              <a:rPr lang="en-US" dirty="0"/>
              <a:t>   can be directly observed</a:t>
            </a:r>
            <a:br>
              <a:rPr lang="en-US" dirty="0"/>
            </a:br>
            <a:endParaRPr lang="en-US" dirty="0"/>
          </a:p>
          <a:p>
            <a:pPr>
              <a:lnSpc>
                <a:spcPct val="90000"/>
              </a:lnSpc>
            </a:pPr>
            <a:r>
              <a:rPr lang="en-US" dirty="0"/>
              <a:t>Symptoms</a:t>
            </a:r>
          </a:p>
          <a:p>
            <a:pPr lvl="1">
              <a:lnSpc>
                <a:spcPct val="90000"/>
              </a:lnSpc>
            </a:pPr>
            <a:r>
              <a:rPr lang="en-US" dirty="0"/>
              <a:t>subjective changes experienced by patient</a:t>
            </a:r>
            <a:br>
              <a:rPr lang="en-US" dirty="0"/>
            </a:br>
            <a:endParaRPr lang="en-US" dirty="0"/>
          </a:p>
          <a:p>
            <a:pPr>
              <a:lnSpc>
                <a:spcPct val="90000"/>
              </a:lnSpc>
            </a:pPr>
            <a:r>
              <a:rPr lang="en-US" dirty="0"/>
              <a:t>Disease syndrome</a:t>
            </a:r>
          </a:p>
          <a:p>
            <a:pPr lvl="1">
              <a:lnSpc>
                <a:spcPct val="90000"/>
              </a:lnSpc>
            </a:pPr>
            <a:r>
              <a:rPr lang="en-US" dirty="0"/>
              <a:t>set of characteristic signs and symptoms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9</a:t>
            </a:fld>
            <a:endParaRPr lang="en-US"/>
          </a:p>
        </p:txBody>
      </p:sp>
    </p:spTree>
    <p:extLst>
      <p:ext uri="{BB962C8B-B14F-4D97-AF65-F5344CB8AC3E}">
        <p14:creationId xmlns:p14="http://schemas.microsoft.com/office/powerpoint/2010/main" val="2239520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dirty="0" err="1"/>
              <a:t>Timecourse</a:t>
            </a:r>
            <a:r>
              <a:rPr lang="en-US" dirty="0"/>
              <a:t> of Infectious Disease</a:t>
            </a:r>
          </a:p>
        </p:txBody>
      </p:sp>
      <p:sp>
        <p:nvSpPr>
          <p:cNvPr id="3" name="Content Placeholder 2"/>
          <p:cNvSpPr>
            <a:spLocks noGrp="1"/>
          </p:cNvSpPr>
          <p:nvPr>
            <p:ph sz="half" idx="1"/>
          </p:nvPr>
        </p:nvSpPr>
        <p:spPr>
          <a:xfrm>
            <a:off x="152400" y="1295400"/>
            <a:ext cx="3886200" cy="5334000"/>
          </a:xfrm>
        </p:spPr>
        <p:txBody>
          <a:bodyPr>
            <a:normAutofit fontScale="85000" lnSpcReduction="20000"/>
          </a:bodyPr>
          <a:lstStyle/>
          <a:p>
            <a:pPr>
              <a:lnSpc>
                <a:spcPct val="110000"/>
              </a:lnSpc>
              <a:spcBef>
                <a:spcPts val="600"/>
              </a:spcBef>
            </a:pPr>
            <a:r>
              <a:rPr lang="en-US" dirty="0"/>
              <a:t>Incubation period</a:t>
            </a:r>
          </a:p>
          <a:p>
            <a:pPr lvl="1">
              <a:lnSpc>
                <a:spcPct val="110000"/>
              </a:lnSpc>
              <a:spcBef>
                <a:spcPts val="600"/>
              </a:spcBef>
            </a:pPr>
            <a:r>
              <a:rPr lang="en-US" dirty="0"/>
              <a:t>period after </a:t>
            </a:r>
            <a:r>
              <a:rPr lang="en-US" dirty="0" err="1"/>
              <a:t>patho</a:t>
            </a:r>
            <a:r>
              <a:rPr lang="en-US" dirty="0"/>
              <a:t>-</a:t>
            </a:r>
          </a:p>
          <a:p>
            <a:pPr marL="457200" lvl="1" indent="0">
              <a:lnSpc>
                <a:spcPct val="110000"/>
              </a:lnSpc>
              <a:spcBef>
                <a:spcPts val="600"/>
              </a:spcBef>
              <a:buNone/>
            </a:pPr>
            <a:r>
              <a:rPr lang="en-US" dirty="0"/>
              <a:t>   gen entry, before</a:t>
            </a:r>
          </a:p>
          <a:p>
            <a:pPr marL="457200" lvl="1" indent="0">
              <a:lnSpc>
                <a:spcPct val="110000"/>
              </a:lnSpc>
              <a:spcBef>
                <a:spcPts val="600"/>
              </a:spcBef>
              <a:buNone/>
            </a:pPr>
            <a:r>
              <a:rPr lang="en-US" dirty="0"/>
              <a:t>   signs and symptoms </a:t>
            </a:r>
          </a:p>
          <a:p>
            <a:pPr>
              <a:lnSpc>
                <a:spcPct val="110000"/>
              </a:lnSpc>
              <a:spcBef>
                <a:spcPts val="600"/>
              </a:spcBef>
            </a:pPr>
            <a:r>
              <a:rPr lang="en-US" dirty="0"/>
              <a:t>Prodromal stage</a:t>
            </a:r>
          </a:p>
          <a:p>
            <a:pPr lvl="1">
              <a:lnSpc>
                <a:spcPct val="110000"/>
              </a:lnSpc>
              <a:spcBef>
                <a:spcPts val="600"/>
              </a:spcBef>
            </a:pPr>
            <a:r>
              <a:rPr lang="en-US" dirty="0"/>
              <a:t>onset of signs and </a:t>
            </a:r>
          </a:p>
          <a:p>
            <a:pPr marL="457200" lvl="1" indent="0">
              <a:lnSpc>
                <a:spcPct val="110000"/>
              </a:lnSpc>
              <a:spcBef>
                <a:spcPts val="600"/>
              </a:spcBef>
              <a:buNone/>
            </a:pPr>
            <a:r>
              <a:rPr lang="en-US" dirty="0"/>
              <a:t>   symptoms</a:t>
            </a:r>
          </a:p>
          <a:p>
            <a:pPr lvl="1">
              <a:lnSpc>
                <a:spcPct val="110000"/>
              </a:lnSpc>
              <a:spcBef>
                <a:spcPts val="600"/>
              </a:spcBef>
            </a:pPr>
            <a:r>
              <a:rPr lang="en-US" dirty="0"/>
              <a:t>not clear enough for diagnosis</a:t>
            </a:r>
          </a:p>
          <a:p>
            <a:pPr>
              <a:lnSpc>
                <a:spcPct val="110000"/>
              </a:lnSpc>
              <a:spcBef>
                <a:spcPts val="600"/>
              </a:spcBef>
            </a:pPr>
            <a:r>
              <a:rPr lang="en-US" dirty="0"/>
              <a:t>Period of illness</a:t>
            </a:r>
          </a:p>
          <a:p>
            <a:pPr lvl="1">
              <a:lnSpc>
                <a:spcPct val="110000"/>
              </a:lnSpc>
              <a:spcBef>
                <a:spcPts val="600"/>
              </a:spcBef>
            </a:pPr>
            <a:r>
              <a:rPr lang="en-US" dirty="0"/>
              <a:t>disease is most severe, signs and symptoms</a:t>
            </a:r>
          </a:p>
          <a:p>
            <a:pPr>
              <a:lnSpc>
                <a:spcPct val="110000"/>
              </a:lnSpc>
              <a:spcBef>
                <a:spcPts val="600"/>
              </a:spcBef>
            </a:pPr>
            <a:r>
              <a:rPr lang="en-US" dirty="0"/>
              <a:t>Convalescence</a:t>
            </a:r>
          </a:p>
          <a:p>
            <a:pPr lvl="1">
              <a:lnSpc>
                <a:spcPct val="110000"/>
              </a:lnSpc>
              <a:spcBef>
                <a:spcPts val="600"/>
              </a:spcBef>
            </a:pPr>
            <a:r>
              <a:rPr lang="en-US" dirty="0"/>
              <a:t>signs and symptoms begin to disappear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10</a:t>
            </a:fld>
            <a:endParaRPr lang="en-US"/>
          </a:p>
        </p:txBody>
      </p:sp>
      <p:pic>
        <p:nvPicPr>
          <p:cNvPr id="3074" name="Picture 2" descr="Most infectious diseases occur in four stages: Incubation period, Prodromal stage, Illness period, and Convalescent period. The duration of each stage is a characteristic feature of each disease. The shaded area represents when many diseases are communicable (the prodromal stage and first half of the illness period). Should the host be unable to overcome illness, death results." title="Figure 35.3 The Course of an Infectious Disease."/>
          <p:cNvPicPr>
            <a:picLocks noChangeAspect="1" noChangeArrowheads="1"/>
          </p:cNvPicPr>
          <p:nvPr/>
        </p:nvPicPr>
        <p:blipFill>
          <a:blip r:embed="rId2" cstate="print"/>
          <a:srcRect/>
          <a:stretch>
            <a:fillRect/>
          </a:stretch>
        </p:blipFill>
        <p:spPr bwMode="auto">
          <a:xfrm>
            <a:off x="3800907" y="1371600"/>
            <a:ext cx="5018440" cy="4483444"/>
          </a:xfrm>
          <a:prstGeom prst="rect">
            <a:avLst/>
          </a:prstGeom>
          <a:noFill/>
        </p:spPr>
      </p:pic>
    </p:spTree>
    <p:extLst>
      <p:ext uri="{BB962C8B-B14F-4D97-AF65-F5344CB8AC3E}">
        <p14:creationId xmlns:p14="http://schemas.microsoft.com/office/powerpoint/2010/main" val="223952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Infectious Dose</a:t>
            </a:r>
          </a:p>
        </p:txBody>
      </p:sp>
      <p:sp>
        <p:nvSpPr>
          <p:cNvPr id="3" name="Content Placeholder 2"/>
          <p:cNvSpPr>
            <a:spLocks noGrp="1"/>
          </p:cNvSpPr>
          <p:nvPr>
            <p:ph sz="half" idx="1"/>
          </p:nvPr>
        </p:nvSpPr>
        <p:spPr>
          <a:xfrm>
            <a:off x="152400" y="1371600"/>
            <a:ext cx="3886200" cy="5334000"/>
          </a:xfrm>
        </p:spPr>
        <p:txBody>
          <a:bodyPr/>
          <a:lstStyle/>
          <a:p>
            <a:r>
              <a:rPr lang="en-US" dirty="0"/>
              <a:t>Infectious dose 50 (ID</a:t>
            </a:r>
            <a:r>
              <a:rPr lang="en-US" baseline="-25000" dirty="0"/>
              <a:t>50</a:t>
            </a:r>
            <a:r>
              <a:rPr lang="en-US" dirty="0"/>
              <a:t>)</a:t>
            </a:r>
          </a:p>
          <a:p>
            <a:pPr lvl="1"/>
            <a:r>
              <a:rPr lang="en-US" dirty="0"/>
              <a:t>number of pathogens that will infect 50% of an experimental group of hosts in a specified time</a:t>
            </a:r>
          </a:p>
          <a:p>
            <a:pPr lvl="1"/>
            <a:r>
              <a:rPr lang="en-US" dirty="0"/>
              <a:t>varies with pathogen</a:t>
            </a:r>
          </a:p>
          <a:p>
            <a:pPr lvl="1"/>
            <a:r>
              <a:rPr lang="en-US" dirty="0"/>
              <a:t>handwashing reduces number of pathogens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11</a:t>
            </a:fld>
            <a:endParaRPr lang="en-US"/>
          </a:p>
        </p:txBody>
      </p:sp>
      <p:pic>
        <p:nvPicPr>
          <p:cNvPr id="4098" name="Picture 2" descr="Two sigmoidal growth curves of Percent infection (y-axis) per Dose per unit time (Number of organisms x 10^3; x-axis).&#10;Various doses of a specific pathogen are introduced into experimental host animals.  Infections are recorded and a graph constructed.  In this example, the graph represents the susceptibility of host animals to two different strains of a pathogen-strain A and strain B.  For strain A, the ID50 is 3000, and for strain B, it is 5000.  Hence strain A is more virulent than strain B." title="Figure 35.4 Determination of the ID50 of a Pathogenic Microorganism."/>
          <p:cNvPicPr>
            <a:picLocks noChangeAspect="1" noChangeArrowheads="1"/>
          </p:cNvPicPr>
          <p:nvPr/>
        </p:nvPicPr>
        <p:blipFill>
          <a:blip r:embed="rId2" cstate="print"/>
          <a:srcRect/>
          <a:stretch>
            <a:fillRect/>
          </a:stretch>
        </p:blipFill>
        <p:spPr bwMode="auto">
          <a:xfrm>
            <a:off x="4112152" y="1350516"/>
            <a:ext cx="4964112" cy="4091882"/>
          </a:xfrm>
          <a:prstGeom prst="rect">
            <a:avLst/>
          </a:prstGeom>
          <a:noFill/>
        </p:spPr>
      </p:pic>
    </p:spTree>
    <p:extLst>
      <p:ext uri="{BB962C8B-B14F-4D97-AF65-F5344CB8AC3E}">
        <p14:creationId xmlns:p14="http://schemas.microsoft.com/office/powerpoint/2010/main" val="1597026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Lethal Dose</a:t>
            </a:r>
          </a:p>
        </p:txBody>
      </p:sp>
      <p:sp>
        <p:nvSpPr>
          <p:cNvPr id="3" name="Content Placeholder 2"/>
          <p:cNvSpPr>
            <a:spLocks noGrp="1"/>
          </p:cNvSpPr>
          <p:nvPr>
            <p:ph idx="1"/>
          </p:nvPr>
        </p:nvSpPr>
        <p:spPr/>
        <p:txBody>
          <a:bodyPr/>
          <a:lstStyle/>
          <a:p>
            <a:r>
              <a:rPr lang="en-US" dirty="0"/>
              <a:t>Lethal dose 50 (LD</a:t>
            </a:r>
            <a:r>
              <a:rPr lang="en-US" baseline="-25000" dirty="0"/>
              <a:t>50</a:t>
            </a:r>
            <a:r>
              <a:rPr lang="en-US" dirty="0"/>
              <a:t>)</a:t>
            </a:r>
          </a:p>
          <a:p>
            <a:pPr lvl="1"/>
            <a:r>
              <a:rPr lang="en-US" dirty="0"/>
              <a:t>dose that kills 50% of experimental animals within a specified period</a:t>
            </a:r>
            <a:br>
              <a:rPr lang="en-US" dirty="0"/>
            </a:br>
            <a:endParaRPr lang="en-US" dirty="0"/>
          </a:p>
          <a:p>
            <a:r>
              <a:rPr lang="en-US" dirty="0"/>
              <a:t>Cytopathology – cellular changes</a:t>
            </a:r>
          </a:p>
          <a:p>
            <a:pPr lvl="1"/>
            <a:r>
              <a:rPr lang="en-US" dirty="0"/>
              <a:t>Can be used to observe cells in tissue culture for death rates rather than entire organisms</a:t>
            </a:r>
            <a:br>
              <a:rPr lang="en-US" dirty="0"/>
            </a:br>
            <a:endParaRPr lang="en-US" dirty="0"/>
          </a:p>
          <a:p>
            <a:r>
              <a:rPr lang="en-US" dirty="0"/>
              <a:t>Examining virulence factors and their release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12</a:t>
            </a:fld>
            <a:endParaRPr lang="en-US"/>
          </a:p>
        </p:txBody>
      </p:sp>
    </p:spTree>
    <p:extLst>
      <p:ext uri="{BB962C8B-B14F-4D97-AF65-F5344CB8AC3E}">
        <p14:creationId xmlns:p14="http://schemas.microsoft.com/office/powerpoint/2010/main" val="2790665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Host Susceptibility</a:t>
            </a:r>
          </a:p>
        </p:txBody>
      </p:sp>
      <p:sp>
        <p:nvSpPr>
          <p:cNvPr id="3" name="Content Placeholder 2"/>
          <p:cNvSpPr>
            <a:spLocks noGrp="1"/>
          </p:cNvSpPr>
          <p:nvPr>
            <p:ph idx="1"/>
          </p:nvPr>
        </p:nvSpPr>
        <p:spPr/>
        <p:txBody>
          <a:bodyPr/>
          <a:lstStyle/>
          <a:p>
            <a:r>
              <a:rPr lang="en-US" dirty="0"/>
              <a:t>Two main factors</a:t>
            </a:r>
          </a:p>
          <a:p>
            <a:pPr lvl="1"/>
            <a:r>
              <a:rPr lang="en-US" dirty="0"/>
              <a:t>defense mechanisms of host (discussed in </a:t>
            </a:r>
            <a:r>
              <a:rPr lang="en-US" dirty="0" err="1"/>
              <a:t>Chs</a:t>
            </a:r>
            <a:r>
              <a:rPr lang="en-US" dirty="0"/>
              <a:t>. 33 and 34)</a:t>
            </a:r>
          </a:p>
          <a:p>
            <a:pPr lvl="1"/>
            <a:r>
              <a:rPr lang="en-US" dirty="0"/>
              <a:t>pathogenicity of pathogen</a:t>
            </a:r>
            <a:br>
              <a:rPr lang="en-US" dirty="0"/>
            </a:br>
            <a:endParaRPr lang="en-US" dirty="0"/>
          </a:p>
          <a:p>
            <a:r>
              <a:rPr lang="en-US" dirty="0"/>
              <a:t>Nutrition, genetic predisposition, and stress also play a role in host susceptibility to infection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13</a:t>
            </a:fld>
            <a:endParaRPr lang="en-US"/>
          </a:p>
        </p:txBody>
      </p:sp>
    </p:spTree>
    <p:extLst>
      <p:ext uri="{BB962C8B-B14F-4D97-AF65-F5344CB8AC3E}">
        <p14:creationId xmlns:p14="http://schemas.microsoft.com/office/powerpoint/2010/main" val="482749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341438"/>
          </a:xfrm>
        </p:spPr>
        <p:txBody>
          <a:bodyPr>
            <a:normAutofit/>
          </a:bodyPr>
          <a:lstStyle/>
          <a:p>
            <a:r>
              <a:rPr lang="en-US" dirty="0"/>
              <a:t>Growth Rate – Extracellular vs. Intracellular Pathogens</a:t>
            </a:r>
          </a:p>
        </p:txBody>
      </p:sp>
      <p:sp>
        <p:nvSpPr>
          <p:cNvPr id="3" name="Content Placeholder 2"/>
          <p:cNvSpPr>
            <a:spLocks noGrp="1"/>
          </p:cNvSpPr>
          <p:nvPr>
            <p:ph idx="1"/>
          </p:nvPr>
        </p:nvSpPr>
        <p:spPr>
          <a:xfrm>
            <a:off x="457200" y="1600200"/>
            <a:ext cx="8229600" cy="5181600"/>
          </a:xfrm>
        </p:spPr>
        <p:txBody>
          <a:bodyPr/>
          <a:lstStyle/>
          <a:p>
            <a:pPr>
              <a:lnSpc>
                <a:spcPct val="90000"/>
              </a:lnSpc>
            </a:pPr>
            <a:r>
              <a:rPr lang="en-US" dirty="0"/>
              <a:t>Pathogen must find most favorable conditions in the host</a:t>
            </a:r>
            <a:br>
              <a:rPr lang="en-US" dirty="0"/>
            </a:br>
            <a:endParaRPr lang="en-US" dirty="0"/>
          </a:p>
          <a:p>
            <a:pPr lvl="1">
              <a:lnSpc>
                <a:spcPct val="90000"/>
              </a:lnSpc>
            </a:pPr>
            <a:r>
              <a:rPr lang="en-US" dirty="0"/>
              <a:t>extracellular pathogens</a:t>
            </a:r>
          </a:p>
          <a:p>
            <a:pPr lvl="2">
              <a:lnSpc>
                <a:spcPct val="90000"/>
              </a:lnSpc>
            </a:pPr>
            <a:r>
              <a:rPr lang="en-US" dirty="0"/>
              <a:t>grow outside cells in blood, tissue fluids</a:t>
            </a:r>
            <a:br>
              <a:rPr lang="en-US" dirty="0"/>
            </a:br>
            <a:endParaRPr lang="en-US" dirty="0"/>
          </a:p>
          <a:p>
            <a:pPr lvl="1">
              <a:lnSpc>
                <a:spcPct val="90000"/>
              </a:lnSpc>
            </a:pPr>
            <a:r>
              <a:rPr lang="en-US" dirty="0"/>
              <a:t>intracellular pathogens </a:t>
            </a:r>
          </a:p>
          <a:p>
            <a:pPr lvl="2">
              <a:lnSpc>
                <a:spcPct val="90000"/>
              </a:lnSpc>
            </a:pPr>
            <a:r>
              <a:rPr lang="en-US" dirty="0"/>
              <a:t>grow and multiply within cells</a:t>
            </a:r>
          </a:p>
          <a:p>
            <a:pPr lvl="2">
              <a:lnSpc>
                <a:spcPct val="90000"/>
              </a:lnSpc>
            </a:pPr>
            <a:r>
              <a:rPr lang="en-US" dirty="0"/>
              <a:t>facultative intracellular pathogens</a:t>
            </a:r>
          </a:p>
          <a:p>
            <a:pPr lvl="3">
              <a:lnSpc>
                <a:spcPct val="90000"/>
              </a:lnSpc>
            </a:pPr>
            <a:r>
              <a:rPr lang="en-US" dirty="0"/>
              <a:t>grow within or outside cells</a:t>
            </a:r>
          </a:p>
          <a:p>
            <a:pPr lvl="2">
              <a:lnSpc>
                <a:spcPct val="90000"/>
              </a:lnSpc>
            </a:pPr>
            <a:r>
              <a:rPr lang="en-US" dirty="0"/>
              <a:t>obligate intracellular pathogens</a:t>
            </a:r>
          </a:p>
          <a:p>
            <a:pPr lvl="3">
              <a:lnSpc>
                <a:spcPct val="90000"/>
              </a:lnSpc>
            </a:pPr>
            <a:r>
              <a:rPr lang="en-US" dirty="0"/>
              <a:t>only grow when inside cells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14</a:t>
            </a:fld>
            <a:endParaRPr lang="en-US"/>
          </a:p>
        </p:txBody>
      </p:sp>
    </p:spTree>
    <p:extLst>
      <p:ext uri="{BB962C8B-B14F-4D97-AF65-F5344CB8AC3E}">
        <p14:creationId xmlns:p14="http://schemas.microsoft.com/office/powerpoint/2010/main" val="1501073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t>35.2 Virulence Defines a Pathogen’s Success</a:t>
            </a:r>
          </a:p>
        </p:txBody>
      </p:sp>
      <p:sp>
        <p:nvSpPr>
          <p:cNvPr id="3" name="Content Placeholder 2"/>
          <p:cNvSpPr>
            <a:spLocks noGrp="1"/>
          </p:cNvSpPr>
          <p:nvPr>
            <p:ph idx="1"/>
          </p:nvPr>
        </p:nvSpPr>
        <p:spPr>
          <a:xfrm>
            <a:off x="228600" y="1295400"/>
            <a:ext cx="8686800" cy="5334000"/>
          </a:xfrm>
        </p:spPr>
        <p:txBody>
          <a:bodyPr>
            <a:normAutofit fontScale="92500" lnSpcReduction="10000"/>
          </a:bodyPr>
          <a:lstStyle/>
          <a:p>
            <a:pPr marL="514350" indent="-514350">
              <a:buFont typeface="+mj-lt"/>
              <a:buAutoNum type="arabicPeriod"/>
            </a:pPr>
            <a:r>
              <a:rPr lang="en-US" dirty="0"/>
              <a:t>Identify and describe the features that allow microorganisms to overcome host resistance and immunity</a:t>
            </a:r>
            <a:br>
              <a:rPr lang="en-US" dirty="0"/>
            </a:br>
            <a:endParaRPr lang="en-US" dirty="0"/>
          </a:p>
          <a:p>
            <a:pPr marL="514350" indent="-514350">
              <a:buFont typeface="+mj-lt"/>
              <a:buAutoNum type="arabicPeriod"/>
            </a:pPr>
            <a:r>
              <a:rPr lang="en-US" dirty="0"/>
              <a:t>Discuss the strategies microorganisms have evolved to exploit human cells and tissues as resources for their survival</a:t>
            </a:r>
            <a:br>
              <a:rPr lang="en-US" dirty="0"/>
            </a:br>
            <a:endParaRPr lang="en-US" dirty="0"/>
          </a:p>
          <a:p>
            <a:pPr marL="514350" indent="-514350">
              <a:buFont typeface="+mj-lt"/>
              <a:buAutoNum type="arabicPeriod"/>
            </a:pPr>
            <a:r>
              <a:rPr lang="en-US" dirty="0"/>
              <a:t>Compare the molecular mechanisms by which microorganisms adhere to and invade human cells and tissues</a:t>
            </a:r>
            <a:br>
              <a:rPr lang="en-US" dirty="0"/>
            </a:br>
            <a:endParaRPr lang="en-US" dirty="0"/>
          </a:p>
          <a:p>
            <a:pPr marL="514350" indent="-514350">
              <a:buFont typeface="+mj-lt"/>
              <a:buAutoNum type="arabicPeriod"/>
            </a:pPr>
            <a:r>
              <a:rPr lang="en-US" dirty="0"/>
              <a:t>Illustrate the mechanisms by which microbial toxins impact human cells</a:t>
            </a:r>
            <a:br>
              <a:rPr lang="en-US" dirty="0"/>
            </a:br>
            <a:endParaRPr lang="en-US" dirty="0"/>
          </a:p>
          <a:p>
            <a:pPr marL="514350" indent="-514350">
              <a:buFont typeface="+mj-lt"/>
              <a:buAutoNum type="arabicPeriod"/>
            </a:pPr>
            <a:r>
              <a:rPr lang="en-US" dirty="0"/>
              <a:t>Model disease processes and explain virulence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15</a:t>
            </a:fld>
            <a:endParaRPr lang="en-US"/>
          </a:p>
        </p:txBody>
      </p:sp>
    </p:spTree>
    <p:extLst>
      <p:ext uri="{BB962C8B-B14F-4D97-AF65-F5344CB8AC3E}">
        <p14:creationId xmlns:p14="http://schemas.microsoft.com/office/powerpoint/2010/main" val="2239520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Virulence</a:t>
            </a:r>
          </a:p>
        </p:txBody>
      </p:sp>
      <p:sp>
        <p:nvSpPr>
          <p:cNvPr id="3" name="Content Placeholder 2"/>
          <p:cNvSpPr>
            <a:spLocks noGrp="1"/>
          </p:cNvSpPr>
          <p:nvPr>
            <p:ph idx="1"/>
          </p:nvPr>
        </p:nvSpPr>
        <p:spPr/>
        <p:txBody>
          <a:bodyPr/>
          <a:lstStyle/>
          <a:p>
            <a:r>
              <a:rPr lang="en-US" dirty="0"/>
              <a:t>Degree or intensity of pathogenicity </a:t>
            </a:r>
            <a:br>
              <a:rPr lang="en-US" dirty="0"/>
            </a:br>
            <a:endParaRPr lang="en-US" dirty="0"/>
          </a:p>
          <a:p>
            <a:r>
              <a:rPr lang="en-US" dirty="0"/>
              <a:t>Virulence factors </a:t>
            </a:r>
          </a:p>
          <a:p>
            <a:pPr lvl="1"/>
            <a:r>
              <a:rPr lang="en-US" dirty="0"/>
              <a:t>determine the degree to which the pathogen causes damage, invasion, infectivity</a:t>
            </a:r>
            <a:br>
              <a:rPr lang="en-US" dirty="0"/>
            </a:br>
            <a:endParaRPr lang="en-US" dirty="0"/>
          </a:p>
          <a:p>
            <a:r>
              <a:rPr lang="en-US" dirty="0"/>
              <a:t>Determined in part by pathogen’s ability to survive outside host </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16</a:t>
            </a:fld>
            <a:endParaRPr lang="en-US"/>
          </a:p>
        </p:txBody>
      </p:sp>
    </p:spTree>
    <p:extLst>
      <p:ext uri="{BB962C8B-B14F-4D97-AF65-F5344CB8AC3E}">
        <p14:creationId xmlns:p14="http://schemas.microsoft.com/office/powerpoint/2010/main" val="22395201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Pathogenicity Islands</a:t>
            </a:r>
          </a:p>
        </p:txBody>
      </p:sp>
      <p:sp>
        <p:nvSpPr>
          <p:cNvPr id="3" name="Content Placeholder 2"/>
          <p:cNvSpPr>
            <a:spLocks noGrp="1"/>
          </p:cNvSpPr>
          <p:nvPr>
            <p:ph idx="1"/>
          </p:nvPr>
        </p:nvSpPr>
        <p:spPr>
          <a:xfrm>
            <a:off x="228600" y="1600200"/>
            <a:ext cx="8610600" cy="4343400"/>
          </a:xfrm>
        </p:spPr>
        <p:txBody>
          <a:bodyPr/>
          <a:lstStyle/>
          <a:p>
            <a:pPr>
              <a:lnSpc>
                <a:spcPct val="90000"/>
              </a:lnSpc>
            </a:pPr>
            <a:r>
              <a:rPr lang="en-US" dirty="0"/>
              <a:t>Major virulence factors on large segments on chromosomal or plasmid DNA</a:t>
            </a:r>
          </a:p>
          <a:p>
            <a:pPr lvl="1">
              <a:lnSpc>
                <a:spcPct val="90000"/>
              </a:lnSpc>
            </a:pPr>
            <a:r>
              <a:rPr lang="en-US" dirty="0"/>
              <a:t>increase bacterial virulence</a:t>
            </a:r>
          </a:p>
          <a:p>
            <a:pPr lvl="1">
              <a:lnSpc>
                <a:spcPct val="90000"/>
              </a:lnSpc>
            </a:pPr>
            <a:r>
              <a:rPr lang="en-US" dirty="0"/>
              <a:t>absent in nonpathogenic members</a:t>
            </a:r>
          </a:p>
          <a:p>
            <a:pPr lvl="1">
              <a:lnSpc>
                <a:spcPct val="90000"/>
              </a:lnSpc>
            </a:pPr>
            <a:r>
              <a:rPr lang="en-US" dirty="0"/>
              <a:t>common sequence characteristics</a:t>
            </a:r>
          </a:p>
          <a:p>
            <a:pPr lvl="2">
              <a:lnSpc>
                <a:spcPct val="90000"/>
              </a:lnSpc>
            </a:pPr>
            <a:r>
              <a:rPr lang="en-US" sz="2400" dirty="0"/>
              <a:t>insertion-like sequences for mobility</a:t>
            </a:r>
          </a:p>
          <a:p>
            <a:pPr lvl="2">
              <a:lnSpc>
                <a:spcPct val="90000"/>
              </a:lnSpc>
            </a:pPr>
            <a:r>
              <a:rPr lang="en-US" sz="2400" dirty="0"/>
              <a:t>G + C content different from bacterial genome</a:t>
            </a:r>
          </a:p>
          <a:p>
            <a:pPr lvl="2">
              <a:lnSpc>
                <a:spcPct val="90000"/>
              </a:lnSpc>
            </a:pPr>
            <a:r>
              <a:rPr lang="en-US" sz="2400" dirty="0"/>
              <a:t>several open reading frames</a:t>
            </a:r>
          </a:p>
          <a:p>
            <a:pPr lvl="1">
              <a:lnSpc>
                <a:spcPct val="90000"/>
              </a:lnSpc>
            </a:pPr>
            <a:r>
              <a:rPr lang="en-US" dirty="0"/>
              <a:t>can be spread through horizontal transfer of virulence genes to bacteria </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17</a:t>
            </a:fld>
            <a:endParaRPr lang="en-US"/>
          </a:p>
        </p:txBody>
      </p:sp>
    </p:spTree>
    <p:extLst>
      <p:ext uri="{BB962C8B-B14F-4D97-AF65-F5344CB8AC3E}">
        <p14:creationId xmlns:p14="http://schemas.microsoft.com/office/powerpoint/2010/main" val="2239520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Examples of Pathogenicity Islands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18</a:t>
            </a:fld>
            <a:endParaRPr lang="en-US"/>
          </a:p>
        </p:txBody>
      </p:sp>
      <p:pic>
        <p:nvPicPr>
          <p:cNvPr id="5122" name="Picture 2" descr="Header Row: Organism; Pathogenicity Island (PI or PAI); Gene Product; Function&#10;Escherichia coli; cagPI; Type IV secretion proteins; Cytotoxin&#10;Helicobacter pylori; PAI-III; Type 1 pili, Secreted protein; Attachment, Hemolysin, cytotoxic necrosing factor, uropathogenic protein&#10;Legionella pneumophila; icm/dot; Type IV secretion proteins; Intracellular survival&#10;Rhodococcus equi; PAI-vap; Secreted proteins; Intracellular survival&#10;Salmonella enterica; SPI-1, SPI-2; Type III secretion proteins; Cytotoxin&#10;Shigella flexneri; SHI-1, SHI-2; Type III secretion proteins; Cytotoxin&#10;Staphylococcus aureus; SaPI; Secreted proteins; Superantigens&#10;Vibrio cholera; VPI; Secreted protein; Toxin&#10;Yersinia pestis; HPI-1; Siderophore synthesis; Iron uptake and storage" title="Table 35.1 Examples of Pathogenicity Islands and the Products They Encode"/>
          <p:cNvPicPr>
            <a:picLocks noChangeAspect="1" noChangeArrowheads="1"/>
          </p:cNvPicPr>
          <p:nvPr/>
        </p:nvPicPr>
        <p:blipFill>
          <a:blip r:embed="rId2" cstate="print"/>
          <a:srcRect/>
          <a:stretch>
            <a:fillRect/>
          </a:stretch>
        </p:blipFill>
        <p:spPr bwMode="auto">
          <a:xfrm>
            <a:off x="101600" y="1186850"/>
            <a:ext cx="8940800" cy="4484300"/>
          </a:xfrm>
          <a:prstGeom prst="rect">
            <a:avLst/>
          </a:prstGeom>
          <a:noFill/>
        </p:spPr>
      </p:pic>
    </p:spTree>
    <p:extLst>
      <p:ext uri="{BB962C8B-B14F-4D97-AF65-F5344CB8AC3E}">
        <p14:creationId xmlns:p14="http://schemas.microsoft.com/office/powerpoint/2010/main" val="3161698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38200"/>
          </a:xfrm>
        </p:spPr>
        <p:txBody>
          <a:bodyPr/>
          <a:lstStyle/>
          <a:p>
            <a:r>
              <a:rPr lang="en-US" dirty="0"/>
              <a:t>Virulence Factors</a:t>
            </a:r>
          </a:p>
        </p:txBody>
      </p:sp>
      <p:sp>
        <p:nvSpPr>
          <p:cNvPr id="3" name="Content Placeholder 2"/>
          <p:cNvSpPr>
            <a:spLocks noGrp="1"/>
          </p:cNvSpPr>
          <p:nvPr>
            <p:ph sz="half" idx="1"/>
          </p:nvPr>
        </p:nvSpPr>
        <p:spPr>
          <a:xfrm>
            <a:off x="76200" y="914400"/>
            <a:ext cx="8991600" cy="2514601"/>
          </a:xfrm>
        </p:spPr>
        <p:txBody>
          <a:bodyPr>
            <a:normAutofit fontScale="92500" lnSpcReduction="10000"/>
          </a:bodyPr>
          <a:lstStyle/>
          <a:p>
            <a:r>
              <a:rPr lang="en-US" dirty="0"/>
              <a:t>Animal model systems may be used to determine role of virulence factor in disease process</a:t>
            </a:r>
            <a:br>
              <a:rPr lang="en-US" dirty="0"/>
            </a:br>
            <a:endParaRPr lang="en-US" dirty="0"/>
          </a:p>
          <a:p>
            <a:r>
              <a:rPr lang="en-US" dirty="0"/>
              <a:t>Determined by characteristics of the pathogen</a:t>
            </a:r>
          </a:p>
          <a:p>
            <a:pPr lvl="1"/>
            <a:r>
              <a:rPr lang="en-US" dirty="0"/>
              <a:t>adherence and colonization</a:t>
            </a:r>
          </a:p>
          <a:p>
            <a:pPr lvl="1"/>
            <a:r>
              <a:rPr lang="en-US" dirty="0"/>
              <a:t>invasion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19</a:t>
            </a:fld>
            <a:endParaRPr lang="en-US"/>
          </a:p>
        </p:txBody>
      </p:sp>
      <p:pic>
        <p:nvPicPr>
          <p:cNvPr id="6146" name="Picture 2" descr="Header Row: Microbe; Diseas; Adhesion Mechanis; Host Receptor&#10;Neisseria gonorrheae; Gonorrhea; Type IV fimbriae; Mannose on urethral epithelium&#10;Escherichia coli; Diarrhea; Type I fimbriae; Sugar residue on intestinal epithelium&#10;Escherichia coli; Hemolytic uremic syndrome; P pili; Sugar residue on kidney cell&#10;Escherichia coli; Urinary tract infection; P pili; Sugar residue on urethral epithelium&#10;Treponema pallidum; Syphilis; Outer membrane protein; Fibronectin on mucosal cell&#10;Mycoplasma pneumoniae; Pneumonia; Membrane protein; Sialic acid on lung cell&#10;Streptococcus pyogenes; Sore throat; Protein F; Protein residue on upper respiratory tract cell&#10;Streptococcus mutans; Dental caries; Sugar residue; Salivary glycoprotein on tooth&#10;Influenza virus; Influenza; Hemagglutinin spike protein; Protein residue on upper respiratory tract cell&#10;HIV-1; AIDS; gp120 protein; CD4 receptor on T cells&#10;Polio virus; Poliomyelitis; Capsid protein VP1; CD 155 protein on intestinal and nerve cells" title="Table 35.2 Examples of Microbial Attachment Mechanisms"/>
          <p:cNvPicPr>
            <a:picLocks noChangeAspect="1" noChangeArrowheads="1"/>
          </p:cNvPicPr>
          <p:nvPr/>
        </p:nvPicPr>
        <p:blipFill>
          <a:blip r:embed="rId2" cstate="print"/>
          <a:srcRect/>
          <a:stretch>
            <a:fillRect/>
          </a:stretch>
        </p:blipFill>
        <p:spPr bwMode="auto">
          <a:xfrm>
            <a:off x="1642533" y="3124200"/>
            <a:ext cx="7063848" cy="3452624"/>
          </a:xfrm>
          <a:prstGeom prst="rect">
            <a:avLst/>
          </a:prstGeom>
          <a:noFill/>
        </p:spPr>
      </p:pic>
    </p:spTree>
    <p:extLst>
      <p:ext uri="{BB962C8B-B14F-4D97-AF65-F5344CB8AC3E}">
        <p14:creationId xmlns:p14="http://schemas.microsoft.com/office/powerpoint/2010/main" val="3763842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Adherence and Colonization</a:t>
            </a:r>
          </a:p>
        </p:txBody>
      </p:sp>
      <p:sp>
        <p:nvSpPr>
          <p:cNvPr id="3" name="Content Placeholder 2"/>
          <p:cNvSpPr>
            <a:spLocks noGrp="1"/>
          </p:cNvSpPr>
          <p:nvPr>
            <p:ph idx="1"/>
          </p:nvPr>
        </p:nvSpPr>
        <p:spPr>
          <a:xfrm>
            <a:off x="228600" y="1219200"/>
            <a:ext cx="8686800" cy="5334000"/>
          </a:xfrm>
        </p:spPr>
        <p:txBody>
          <a:bodyPr>
            <a:normAutofit fontScale="92500" lnSpcReduction="10000"/>
          </a:bodyPr>
          <a:lstStyle/>
          <a:p>
            <a:r>
              <a:rPr lang="en-US" dirty="0"/>
              <a:t>First step in disease is entrance and attachment</a:t>
            </a:r>
            <a:br>
              <a:rPr lang="en-US" dirty="0"/>
            </a:br>
            <a:endParaRPr lang="en-US" dirty="0"/>
          </a:p>
          <a:p>
            <a:r>
              <a:rPr lang="en-US" dirty="0"/>
              <a:t>Portal of entry</a:t>
            </a:r>
          </a:p>
          <a:p>
            <a:pPr lvl="1"/>
            <a:r>
              <a:rPr lang="en-US" dirty="0"/>
              <a:t>skin, respiratory, gastrointestinal, urogenital systems, or conjunctiva of eye</a:t>
            </a:r>
          </a:p>
          <a:p>
            <a:pPr lvl="1"/>
            <a:r>
              <a:rPr lang="en-US" dirty="0"/>
              <a:t>vector borne, sexual contact, blood transfusion, or organ transplant</a:t>
            </a:r>
            <a:br>
              <a:rPr lang="en-US" dirty="0"/>
            </a:br>
            <a:endParaRPr lang="en-US" dirty="0"/>
          </a:p>
          <a:p>
            <a:r>
              <a:rPr lang="en-US" dirty="0"/>
              <a:t>Adherence</a:t>
            </a:r>
          </a:p>
          <a:p>
            <a:pPr lvl="1"/>
            <a:r>
              <a:rPr lang="en-US" dirty="0"/>
              <a:t>mediated by special molecules called </a:t>
            </a:r>
            <a:r>
              <a:rPr lang="en-US" dirty="0" err="1"/>
              <a:t>adhesins</a:t>
            </a:r>
            <a:br>
              <a:rPr lang="en-US" dirty="0"/>
            </a:br>
            <a:endParaRPr lang="en-US" dirty="0"/>
          </a:p>
          <a:p>
            <a:r>
              <a:rPr lang="en-US" dirty="0"/>
              <a:t>Colonization</a:t>
            </a:r>
          </a:p>
          <a:p>
            <a:pPr lvl="1"/>
            <a:r>
              <a:rPr lang="en-US" dirty="0"/>
              <a:t>a site of microbial reproduction on or within host</a:t>
            </a:r>
          </a:p>
          <a:p>
            <a:pPr lvl="1"/>
            <a:r>
              <a:rPr lang="en-US" dirty="0"/>
              <a:t>does not necessarily result in tissue invasion or damage</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20</a:t>
            </a:fld>
            <a:endParaRPr lang="en-US"/>
          </a:p>
        </p:txBody>
      </p:sp>
    </p:spTree>
    <p:extLst>
      <p:ext uri="{BB962C8B-B14F-4D97-AF65-F5344CB8AC3E}">
        <p14:creationId xmlns:p14="http://schemas.microsoft.com/office/powerpoint/2010/main" val="1744063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4343400" cy="1295400"/>
          </a:xfrm>
        </p:spPr>
        <p:txBody>
          <a:bodyPr>
            <a:normAutofit/>
          </a:bodyPr>
          <a:lstStyle/>
          <a:p>
            <a:r>
              <a:rPr lang="en-US" dirty="0"/>
              <a:t>Attachment and Colonization </a:t>
            </a:r>
          </a:p>
        </p:txBody>
      </p:sp>
      <p:sp>
        <p:nvSpPr>
          <p:cNvPr id="3" name="Content Placeholder 2"/>
          <p:cNvSpPr>
            <a:spLocks noGrp="1"/>
          </p:cNvSpPr>
          <p:nvPr>
            <p:ph sz="half" idx="1"/>
          </p:nvPr>
        </p:nvSpPr>
        <p:spPr>
          <a:xfrm>
            <a:off x="152400" y="1371600"/>
            <a:ext cx="4343400" cy="5334000"/>
          </a:xfrm>
        </p:spPr>
        <p:txBody>
          <a:bodyPr>
            <a:normAutofit fontScale="92500" lnSpcReduction="20000"/>
          </a:bodyPr>
          <a:lstStyle/>
          <a:p>
            <a:pPr>
              <a:lnSpc>
                <a:spcPct val="130000"/>
              </a:lnSpc>
            </a:pPr>
            <a:r>
              <a:rPr lang="en-US" sz="2800" dirty="0"/>
              <a:t>Adherence structures</a:t>
            </a:r>
          </a:p>
          <a:p>
            <a:pPr lvl="1">
              <a:lnSpc>
                <a:spcPct val="130000"/>
              </a:lnSpc>
            </a:pPr>
            <a:r>
              <a:rPr lang="en-US" dirty="0"/>
              <a:t>pili, fimbriae (adhesion molecules on bacterium’s cell surface) bind complementary receptor sites on host cell surface</a:t>
            </a:r>
            <a:br>
              <a:rPr lang="en-US" dirty="0"/>
            </a:br>
            <a:r>
              <a:rPr lang="en-US" dirty="0"/>
              <a:t> </a:t>
            </a:r>
          </a:p>
          <a:p>
            <a:pPr>
              <a:lnSpc>
                <a:spcPct val="130000"/>
              </a:lnSpc>
            </a:pPr>
            <a:r>
              <a:rPr lang="en-US" sz="2800" dirty="0"/>
              <a:t>Colonization</a:t>
            </a:r>
          </a:p>
          <a:p>
            <a:pPr lvl="1">
              <a:lnSpc>
                <a:spcPct val="130000"/>
              </a:lnSpc>
            </a:pPr>
            <a:r>
              <a:rPr lang="en-US" dirty="0"/>
              <a:t>a site of microbial reproduction on/in host</a:t>
            </a:r>
          </a:p>
          <a:p>
            <a:pPr lvl="1">
              <a:lnSpc>
                <a:spcPct val="130000"/>
              </a:lnSpc>
            </a:pPr>
            <a:r>
              <a:rPr lang="en-US" dirty="0"/>
              <a:t>does not necessarily result in tissue damage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21</a:t>
            </a:fld>
            <a:endParaRPr lang="en-US"/>
          </a:p>
        </p:txBody>
      </p:sp>
      <p:pic>
        <p:nvPicPr>
          <p:cNvPr id="7170" name="Picture 2" descr="Illustration of: (a) Bacterial fimbriae, (b) Bacterial capsules, and (c) Viral protein spikes in relation to a host cell membrane." title="Figure 35.5 Microbial Adherence Mechanisms."/>
          <p:cNvPicPr>
            <a:picLocks noChangeAspect="1" noChangeArrowheads="1"/>
          </p:cNvPicPr>
          <p:nvPr/>
        </p:nvPicPr>
        <p:blipFill>
          <a:blip r:embed="rId2" cstate="print"/>
          <a:srcRect/>
          <a:stretch>
            <a:fillRect/>
          </a:stretch>
        </p:blipFill>
        <p:spPr bwMode="auto">
          <a:xfrm>
            <a:off x="4893733" y="152400"/>
            <a:ext cx="3444346" cy="6433284"/>
          </a:xfrm>
          <a:prstGeom prst="rect">
            <a:avLst/>
          </a:prstGeom>
          <a:noFill/>
        </p:spPr>
      </p:pic>
    </p:spTree>
    <p:extLst>
      <p:ext uri="{BB962C8B-B14F-4D97-AF65-F5344CB8AC3E}">
        <p14:creationId xmlns:p14="http://schemas.microsoft.com/office/powerpoint/2010/main" val="2095195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a:t>Invasion</a:t>
            </a:r>
          </a:p>
        </p:txBody>
      </p:sp>
      <p:sp>
        <p:nvSpPr>
          <p:cNvPr id="3" name="Content Placeholder 2"/>
          <p:cNvSpPr>
            <a:spLocks noGrp="1"/>
          </p:cNvSpPr>
          <p:nvPr>
            <p:ph idx="1"/>
          </p:nvPr>
        </p:nvSpPr>
        <p:spPr>
          <a:xfrm>
            <a:off x="228600" y="1219200"/>
            <a:ext cx="8686800" cy="5334000"/>
          </a:xfrm>
        </p:spPr>
        <p:txBody>
          <a:bodyPr>
            <a:normAutofit/>
          </a:bodyPr>
          <a:lstStyle/>
          <a:p>
            <a:pPr>
              <a:lnSpc>
                <a:spcPct val="90000"/>
              </a:lnSpc>
            </a:pPr>
            <a:r>
              <a:rPr lang="en-US" dirty="0"/>
              <a:t>Infectivity - ability to create a discrete point of infection</a:t>
            </a:r>
            <a:br>
              <a:rPr lang="en-US" dirty="0"/>
            </a:br>
            <a:endParaRPr lang="en-US" dirty="0"/>
          </a:p>
          <a:p>
            <a:pPr>
              <a:lnSpc>
                <a:spcPct val="90000"/>
              </a:lnSpc>
            </a:pPr>
            <a:r>
              <a:rPr lang="en-US" dirty="0"/>
              <a:t>Invasiveness - ability to spread to adjacent tissues</a:t>
            </a:r>
            <a:br>
              <a:rPr lang="en-US" dirty="0"/>
            </a:br>
            <a:endParaRPr lang="en-US" dirty="0"/>
          </a:p>
          <a:p>
            <a:pPr>
              <a:lnSpc>
                <a:spcPct val="90000"/>
              </a:lnSpc>
            </a:pPr>
            <a:r>
              <a:rPr lang="en-US" dirty="0"/>
              <a:t>Penetration can be active or passive</a:t>
            </a:r>
          </a:p>
          <a:p>
            <a:pPr lvl="1"/>
            <a:r>
              <a:rPr lang="en-US" dirty="0"/>
              <a:t>active occurs through lytic substances which</a:t>
            </a:r>
          </a:p>
          <a:p>
            <a:pPr lvl="2"/>
            <a:r>
              <a:rPr lang="en-US" dirty="0"/>
              <a:t>attack the extracellular matrix and basement membranes of integuments and intestinal linings</a:t>
            </a:r>
          </a:p>
          <a:p>
            <a:pPr lvl="2"/>
            <a:r>
              <a:rPr lang="en-US" dirty="0"/>
              <a:t>degrade carbohydrate-protein complexes between cells</a:t>
            </a:r>
          </a:p>
          <a:p>
            <a:pPr lvl="2"/>
            <a:r>
              <a:rPr lang="en-US" dirty="0"/>
              <a:t>disrupt host cell surface</a:t>
            </a:r>
          </a:p>
          <a:p>
            <a:pPr lvl="1"/>
            <a:r>
              <a:rPr lang="en-US" dirty="0"/>
              <a:t>passive (e.g. skin lesions, insect bites, wounds)</a:t>
            </a:r>
          </a:p>
          <a:p>
            <a:pPr lvl="2"/>
            <a:r>
              <a:rPr lang="en-US" dirty="0"/>
              <a:t>spread to deeper tissues involves production of specific products and/or enzymes that promote spreading</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22</a:t>
            </a:fld>
            <a:endParaRPr lang="en-US"/>
          </a:p>
        </p:txBody>
      </p:sp>
    </p:spTree>
    <p:extLst>
      <p:ext uri="{BB962C8B-B14F-4D97-AF65-F5344CB8AC3E}">
        <p14:creationId xmlns:p14="http://schemas.microsoft.com/office/powerpoint/2010/main" val="503787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 y="274638"/>
            <a:ext cx="2438400" cy="2087562"/>
          </a:xfrm>
        </p:spPr>
        <p:txBody>
          <a:bodyPr>
            <a:normAutofit fontScale="90000"/>
          </a:bodyPr>
          <a:lstStyle/>
          <a:p>
            <a:r>
              <a:rPr lang="en-US" dirty="0"/>
              <a:t>Microbial Invasion Virulence Factors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23</a:t>
            </a:fld>
            <a:endParaRPr lang="en-US"/>
          </a:p>
        </p:txBody>
      </p:sp>
      <p:pic>
        <p:nvPicPr>
          <p:cNvPr id="8194" name="Picture 2" descr="Header Row: Product; Organism Involved; Mechanism of Action&#10;Coagulase; Staphylococcus aureus; Coagulates (clots) the fibrinogen in plasma. The clot protects the pathogen from phagocytosis and isolates it from other host defenses.&#10;Collagenase; Clostridium spp.; Breaks down collagen that forms the framework of connective tissues; allows the pathogen to spread&#10;Deoxyribonuclease; Group A streptococci, staphylococci, Clostridium perfringens; Lowers viscosity of exudates, giving the pathogen more mobility&#10;Elastase and alkaline protease; Pseudomonas aeruginosa; Cleaves laminin associated with basement membranes&#10;Hemolysins; Staphylococci, streptococci, Escherichia coli, Clostridium perfringens; Lyse erythrocytes; make iron available for microbial growth&#10;Hyaluronidase; Groups A, B, C, and G streptococci, staphylococci, clostridia; Hydrolyzes hyaluronic acid, a constituent of the extracellular matrix that cements cells together and renders the intercellular spaces amenable to passage by the pathogen&#10;Hydrogen peroxide (H2O2) and ammonia (NH3); Mycoplasma spp., Ureaplasma spp.; Are produced as metabolic wastes. These are toxic and damage epithelia in respiratory and urogenital systems.&#10;Immunoglobulin A protease; Streptococcus pneumoniae; Cleaves immunoglobulin A into Fab and Fc fragments&#10;Lecithinase or phospholipase; Clostridium spp.; Destroys the lecithin (phosphatidylcholine) component of plasma membranes, allowing pathogen to spread&#10;Leukocidins; Staphylococci, pneumococci, and other streptococci; Pore-forming exotoxins that kill leukocytes; cause degranulation of lysosomes within leukocytes, which decreases host resistance&#10;Porins; Salmonella enterica serovar Typhimurium; Inhibit leukocyte phagocytosis by activating the adenylate cyclase system&#10;Protein A; Staphylococcus aureus; Located on cell wall. Immunoglobulin G (IgG) binds to either protein A or protein G by its Fc end, thereby preventing complement from interacting with bound IgG.&#10;Protein G; Streptococcus pyogenes; Located on cell wall. Immunoglobulin G (IgG) binds to either protein A or protein G by its Fc end, thereby preventing complement from interacting with bound IgG.&#10;Pyrogenic exotoxin B (cysteine protease); Group A streptococci (Streptococcus pyogenes); Degrades proteins&#10;Streptokinase (fibrinolysin, staphylokinase); Groups A, C, and G streptococci, staphylococci; A protein that binds to plasminogen and activates the production of plasmin, thus digesting fibrin clots. This allows the pathogen to move from the clotted area." title="Table 35.3 Microbial Virulence Factors Involved in Bacterial Pathogen Invasion and Dissemination"/>
          <p:cNvPicPr>
            <a:picLocks noChangeAspect="1" noChangeArrowheads="1"/>
          </p:cNvPicPr>
          <p:nvPr/>
        </p:nvPicPr>
        <p:blipFill>
          <a:blip r:embed="rId2" cstate="print"/>
          <a:srcRect/>
          <a:stretch>
            <a:fillRect/>
          </a:stretch>
        </p:blipFill>
        <p:spPr bwMode="auto">
          <a:xfrm>
            <a:off x="2249833" y="338667"/>
            <a:ext cx="6761532" cy="6063192"/>
          </a:xfrm>
          <a:prstGeom prst="rect">
            <a:avLst/>
          </a:prstGeom>
          <a:noFill/>
        </p:spPr>
      </p:pic>
    </p:spTree>
    <p:extLst>
      <p:ext uri="{BB962C8B-B14F-4D97-AF65-F5344CB8AC3E}">
        <p14:creationId xmlns:p14="http://schemas.microsoft.com/office/powerpoint/2010/main" val="3174511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Invasion – Specific Examples</a:t>
            </a:r>
          </a:p>
        </p:txBody>
      </p:sp>
      <p:sp>
        <p:nvSpPr>
          <p:cNvPr id="3" name="Content Placeholder 2"/>
          <p:cNvSpPr>
            <a:spLocks noGrp="1"/>
          </p:cNvSpPr>
          <p:nvPr>
            <p:ph idx="1"/>
          </p:nvPr>
        </p:nvSpPr>
        <p:spPr>
          <a:xfrm>
            <a:off x="457200" y="1295400"/>
            <a:ext cx="8229600" cy="5257800"/>
          </a:xfrm>
        </p:spPr>
        <p:txBody>
          <a:bodyPr>
            <a:normAutofit fontScale="92500" lnSpcReduction="10000"/>
          </a:bodyPr>
          <a:lstStyle/>
          <a:p>
            <a:pPr>
              <a:lnSpc>
                <a:spcPct val="110000"/>
              </a:lnSpc>
              <a:spcBef>
                <a:spcPts val="600"/>
              </a:spcBef>
            </a:pPr>
            <a:r>
              <a:rPr lang="en-US" dirty="0"/>
              <a:t>Once in circulatory system, bacteria have access to all organs and systems</a:t>
            </a:r>
          </a:p>
          <a:p>
            <a:pPr lvl="1">
              <a:lnSpc>
                <a:spcPct val="110000"/>
              </a:lnSpc>
              <a:spcBef>
                <a:spcPts val="600"/>
              </a:spcBef>
            </a:pPr>
            <a:r>
              <a:rPr lang="en-US" dirty="0"/>
              <a:t>bacteremia – presence of viable bacteria in the blood</a:t>
            </a:r>
          </a:p>
          <a:p>
            <a:pPr lvl="1">
              <a:lnSpc>
                <a:spcPct val="110000"/>
              </a:lnSpc>
              <a:spcBef>
                <a:spcPts val="600"/>
              </a:spcBef>
            </a:pPr>
            <a:r>
              <a:rPr lang="en-US" dirty="0"/>
              <a:t>septicemia –pathogens or their toxins in the blood </a:t>
            </a:r>
            <a:br>
              <a:rPr lang="en-US" dirty="0"/>
            </a:br>
            <a:endParaRPr lang="en-US" dirty="0"/>
          </a:p>
          <a:p>
            <a:pPr>
              <a:lnSpc>
                <a:spcPct val="110000"/>
              </a:lnSpc>
              <a:spcBef>
                <a:spcPts val="600"/>
              </a:spcBef>
            </a:pPr>
            <a:r>
              <a:rPr lang="en-US" dirty="0"/>
              <a:t>varies among pathogens</a:t>
            </a:r>
          </a:p>
          <a:p>
            <a:pPr lvl="1">
              <a:lnSpc>
                <a:spcPct val="110000"/>
              </a:lnSpc>
              <a:spcBef>
                <a:spcPts val="600"/>
              </a:spcBef>
            </a:pPr>
            <a:r>
              <a:rPr lang="en-US" dirty="0"/>
              <a:t>e.g. </a:t>
            </a:r>
            <a:r>
              <a:rPr lang="en-US" i="1" dirty="0"/>
              <a:t>Clostridium </a:t>
            </a:r>
            <a:r>
              <a:rPr lang="en-US" i="1" dirty="0" err="1"/>
              <a:t>tetani</a:t>
            </a:r>
            <a:r>
              <a:rPr lang="en-US" dirty="0"/>
              <a:t> (tetanus) produces a number of virulence factors but is non-invasive</a:t>
            </a:r>
          </a:p>
          <a:p>
            <a:pPr lvl="1">
              <a:lnSpc>
                <a:spcPct val="110000"/>
              </a:lnSpc>
              <a:spcBef>
                <a:spcPts val="600"/>
              </a:spcBef>
            </a:pPr>
            <a:r>
              <a:rPr lang="en-US" dirty="0"/>
              <a:t>e.g. </a:t>
            </a:r>
            <a:r>
              <a:rPr lang="en-US" i="1" dirty="0"/>
              <a:t>Bacillus anthracis</a:t>
            </a:r>
            <a:r>
              <a:rPr lang="en-US" dirty="0"/>
              <a:t> (anthrax) and </a:t>
            </a:r>
            <a:r>
              <a:rPr lang="en-US" i="1" dirty="0"/>
              <a:t>Yersinia </a:t>
            </a:r>
            <a:r>
              <a:rPr lang="en-US" i="1" dirty="0" err="1"/>
              <a:t>pestis</a:t>
            </a:r>
            <a:r>
              <a:rPr lang="en-US" dirty="0"/>
              <a:t> (plague) also produce many virulence factors and are highly invasive</a:t>
            </a:r>
          </a:p>
          <a:p>
            <a:pPr lvl="1">
              <a:lnSpc>
                <a:spcPct val="110000"/>
              </a:lnSpc>
              <a:spcBef>
                <a:spcPts val="600"/>
              </a:spcBef>
            </a:pPr>
            <a:r>
              <a:rPr lang="en-US" dirty="0"/>
              <a:t>e.g. </a:t>
            </a:r>
            <a:r>
              <a:rPr lang="en-US" i="1" dirty="0"/>
              <a:t>Streptococcus</a:t>
            </a:r>
            <a:r>
              <a:rPr lang="en-US" dirty="0"/>
              <a:t> spp. span the spectrum of virulence factors and invasiveness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24</a:t>
            </a:fld>
            <a:endParaRPr lang="en-US"/>
          </a:p>
        </p:txBody>
      </p:sp>
    </p:spTree>
    <p:extLst>
      <p:ext uri="{BB962C8B-B14F-4D97-AF65-F5344CB8AC3E}">
        <p14:creationId xmlns:p14="http://schemas.microsoft.com/office/powerpoint/2010/main" val="834517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Exotoxins</a:t>
            </a:r>
          </a:p>
        </p:txBody>
      </p:sp>
      <p:sp>
        <p:nvSpPr>
          <p:cNvPr id="3" name="Content Placeholder 2"/>
          <p:cNvSpPr>
            <a:spLocks noGrp="1"/>
          </p:cNvSpPr>
          <p:nvPr>
            <p:ph idx="1"/>
          </p:nvPr>
        </p:nvSpPr>
        <p:spPr>
          <a:xfrm>
            <a:off x="457200" y="1295400"/>
            <a:ext cx="8305800" cy="5105400"/>
          </a:xfrm>
        </p:spPr>
        <p:txBody>
          <a:bodyPr>
            <a:normAutofit/>
          </a:bodyPr>
          <a:lstStyle/>
          <a:p>
            <a:pPr>
              <a:lnSpc>
                <a:spcPct val="90000"/>
              </a:lnSpc>
              <a:spcBef>
                <a:spcPts val="600"/>
              </a:spcBef>
            </a:pPr>
            <a:r>
              <a:rPr lang="en-US" sz="2800" dirty="0"/>
              <a:t>Soluble, heat-labile, proteins</a:t>
            </a:r>
            <a:br>
              <a:rPr lang="en-US" sz="2800" dirty="0"/>
            </a:br>
            <a:endParaRPr lang="en-US" sz="2800" dirty="0"/>
          </a:p>
          <a:p>
            <a:pPr>
              <a:lnSpc>
                <a:spcPct val="90000"/>
              </a:lnSpc>
              <a:spcBef>
                <a:spcPts val="600"/>
              </a:spcBef>
            </a:pPr>
            <a:r>
              <a:rPr lang="en-US" sz="2800" dirty="0"/>
              <a:t>Secreted into surroundings as pathogen grows</a:t>
            </a:r>
            <a:br>
              <a:rPr lang="en-US" sz="2800" dirty="0"/>
            </a:br>
            <a:endParaRPr lang="en-US" sz="2800" dirty="0"/>
          </a:p>
          <a:p>
            <a:pPr>
              <a:lnSpc>
                <a:spcPct val="90000"/>
              </a:lnSpc>
              <a:spcBef>
                <a:spcPts val="600"/>
              </a:spcBef>
            </a:pPr>
            <a:r>
              <a:rPr lang="en-US" sz="2800" dirty="0"/>
              <a:t>Most exotoxin producers are Gram-negative</a:t>
            </a:r>
            <a:br>
              <a:rPr lang="en-US" sz="2800" dirty="0"/>
            </a:br>
            <a:endParaRPr lang="en-US" sz="2800" dirty="0"/>
          </a:p>
          <a:p>
            <a:pPr>
              <a:lnSpc>
                <a:spcPct val="90000"/>
              </a:lnSpc>
              <a:spcBef>
                <a:spcPts val="600"/>
              </a:spcBef>
            </a:pPr>
            <a:r>
              <a:rPr lang="en-US" sz="2800" dirty="0"/>
              <a:t>Often travel from site of infection to other tissues or cells where they exert their effects</a:t>
            </a:r>
            <a:br>
              <a:rPr lang="en-US" sz="2800" dirty="0"/>
            </a:br>
            <a:endParaRPr lang="en-US" sz="2800" dirty="0"/>
          </a:p>
          <a:p>
            <a:pPr>
              <a:lnSpc>
                <a:spcPct val="80000"/>
              </a:lnSpc>
              <a:spcBef>
                <a:spcPts val="600"/>
              </a:spcBef>
            </a:pPr>
            <a:r>
              <a:rPr lang="en-US" sz="2800" dirty="0"/>
              <a:t>Usually synthesized by specific bacteria that have toxin genes in their plasmids or prophage DNA</a:t>
            </a:r>
            <a:br>
              <a:rPr lang="en-US" sz="2800" dirty="0"/>
            </a:br>
            <a:endParaRPr lang="en-US" sz="2800"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25</a:t>
            </a:fld>
            <a:endParaRPr lang="en-US"/>
          </a:p>
        </p:txBody>
      </p:sp>
    </p:spTree>
    <p:extLst>
      <p:ext uri="{BB962C8B-B14F-4D97-AF65-F5344CB8AC3E}">
        <p14:creationId xmlns:p14="http://schemas.microsoft.com/office/powerpoint/2010/main" val="1963418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Exotoxins - 2</a:t>
            </a:r>
          </a:p>
        </p:txBody>
      </p:sp>
      <p:sp>
        <p:nvSpPr>
          <p:cNvPr id="6" name="Content Placeholder 5"/>
          <p:cNvSpPr>
            <a:spLocks noGrp="1"/>
          </p:cNvSpPr>
          <p:nvPr>
            <p:ph sz="half" idx="1"/>
          </p:nvPr>
        </p:nvSpPr>
        <p:spPr>
          <a:xfrm>
            <a:off x="457200" y="1600200"/>
            <a:ext cx="8305800" cy="4525963"/>
          </a:xfrm>
        </p:spPr>
        <p:txBody>
          <a:bodyPr>
            <a:normAutofit lnSpcReduction="10000"/>
          </a:bodyPr>
          <a:lstStyle/>
          <a:p>
            <a:pPr>
              <a:spcBef>
                <a:spcPts val="600"/>
              </a:spcBef>
            </a:pPr>
            <a:r>
              <a:rPr lang="en-US" dirty="0"/>
              <a:t>Among the most lethal substances known</a:t>
            </a:r>
            <a:br>
              <a:rPr lang="en-US" dirty="0"/>
            </a:br>
            <a:endParaRPr lang="en-US" dirty="0"/>
          </a:p>
          <a:p>
            <a:pPr>
              <a:spcBef>
                <a:spcPts val="600"/>
              </a:spcBef>
            </a:pPr>
            <a:r>
              <a:rPr lang="en-US" dirty="0"/>
              <a:t>Are highly immunogenic</a:t>
            </a:r>
            <a:br>
              <a:rPr lang="en-US" dirty="0"/>
            </a:br>
            <a:endParaRPr lang="en-US" dirty="0"/>
          </a:p>
          <a:p>
            <a:pPr>
              <a:spcBef>
                <a:spcPts val="600"/>
              </a:spcBef>
            </a:pPr>
            <a:r>
              <a:rPr lang="en-US" dirty="0"/>
              <a:t>Stimulate production of neutralizing Ab (antitoxins)</a:t>
            </a:r>
            <a:br>
              <a:rPr lang="en-US" dirty="0"/>
            </a:br>
            <a:endParaRPr lang="en-US" dirty="0"/>
          </a:p>
          <a:p>
            <a:pPr>
              <a:spcBef>
                <a:spcPts val="600"/>
              </a:spcBef>
            </a:pPr>
            <a:r>
              <a:rPr lang="en-US" dirty="0"/>
              <a:t>Chemically inactivated to form immunogenic toxoids</a:t>
            </a:r>
          </a:p>
          <a:p>
            <a:pPr lvl="1">
              <a:spcBef>
                <a:spcPts val="600"/>
              </a:spcBef>
            </a:pPr>
            <a:r>
              <a:rPr lang="en-US" dirty="0"/>
              <a:t>e.g. tetanus toxoid</a:t>
            </a:r>
          </a:p>
          <a:p>
            <a:pPr>
              <a:spcBef>
                <a:spcPts val="600"/>
              </a:spcBef>
            </a:pP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26</a:t>
            </a:fld>
            <a:endParaRPr lang="en-US"/>
          </a:p>
        </p:txBody>
      </p:sp>
    </p:spTree>
    <p:extLst>
      <p:ext uri="{BB962C8B-B14F-4D97-AF65-F5344CB8AC3E}">
        <p14:creationId xmlns:p14="http://schemas.microsoft.com/office/powerpoint/2010/main" val="28963492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4572000" cy="792162"/>
          </a:xfrm>
        </p:spPr>
        <p:txBody>
          <a:bodyPr/>
          <a:lstStyle/>
          <a:p>
            <a:r>
              <a:rPr lang="en-US" dirty="0"/>
              <a:t>Types of Exotoxins</a:t>
            </a:r>
          </a:p>
        </p:txBody>
      </p:sp>
      <p:sp>
        <p:nvSpPr>
          <p:cNvPr id="3" name="Content Placeholder 2"/>
          <p:cNvSpPr>
            <a:spLocks noGrp="1"/>
          </p:cNvSpPr>
          <p:nvPr>
            <p:ph sz="half" idx="1"/>
          </p:nvPr>
        </p:nvSpPr>
        <p:spPr>
          <a:xfrm>
            <a:off x="152400" y="1219200"/>
            <a:ext cx="4343400" cy="5486400"/>
          </a:xfrm>
        </p:spPr>
        <p:txBody>
          <a:bodyPr>
            <a:normAutofit lnSpcReduction="10000"/>
          </a:bodyPr>
          <a:lstStyle/>
          <a:p>
            <a:r>
              <a:rPr lang="en-US" dirty="0"/>
              <a:t>AB exotoxins</a:t>
            </a:r>
          </a:p>
          <a:p>
            <a:pPr lvl="1">
              <a:lnSpc>
                <a:spcPct val="90000"/>
              </a:lnSpc>
            </a:pPr>
            <a:r>
              <a:rPr lang="en-US" dirty="0"/>
              <a:t>composed of two subunits</a:t>
            </a:r>
          </a:p>
          <a:p>
            <a:pPr lvl="2">
              <a:lnSpc>
                <a:spcPct val="90000"/>
              </a:lnSpc>
            </a:pPr>
            <a:r>
              <a:rPr lang="en-US" dirty="0"/>
              <a:t>A subunit – responsible for toxic effect</a:t>
            </a:r>
          </a:p>
          <a:p>
            <a:pPr lvl="2">
              <a:lnSpc>
                <a:spcPct val="90000"/>
              </a:lnSpc>
            </a:pPr>
            <a:r>
              <a:rPr lang="en-US" dirty="0"/>
              <a:t>B subunit – binds to specific target cell</a:t>
            </a:r>
            <a:br>
              <a:rPr lang="en-US" dirty="0"/>
            </a:br>
            <a:endParaRPr lang="en-US" dirty="0"/>
          </a:p>
          <a:p>
            <a:r>
              <a:rPr lang="en-US" dirty="0"/>
              <a:t>Specific host site exotoxins</a:t>
            </a:r>
            <a:br>
              <a:rPr lang="en-US" dirty="0"/>
            </a:br>
            <a:endParaRPr lang="en-US" dirty="0"/>
          </a:p>
          <a:p>
            <a:r>
              <a:rPr lang="en-US" dirty="0"/>
              <a:t>Membrane-disrupting exotoxins</a:t>
            </a:r>
            <a:br>
              <a:rPr lang="en-US" dirty="0"/>
            </a:br>
            <a:endParaRPr lang="en-US" dirty="0"/>
          </a:p>
          <a:p>
            <a:r>
              <a:rPr lang="en-US" dirty="0" err="1"/>
              <a:t>Superantigens</a:t>
            </a:r>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27</a:t>
            </a:fld>
            <a:endParaRPr lang="en-US"/>
          </a:p>
        </p:txBody>
      </p:sp>
      <p:pic>
        <p:nvPicPr>
          <p:cNvPr id="9218" name="Picture 2" descr="(a) This AB toxin binds to the cell receptor within clathrin-coated pits by the B subunit. The intact toxin is endocytosed, and the pH change resulting from H+/ATPase activity within the endosome causes the subunits to separate. An endosome in which this separation occurs is sometimes called a compartment of uncoupling of receptor and ligand (CURL). The B subunit is then recycled. The active toxin (A) subunit exerts its effect on its target, in this case the elongation factor-2 (EF-2) of protein synthesis, by enzymatically attaching an ADP-ribose to EF-2. The altered EF-2 is inhibited from assisting in protein synthesis, leading to cell death. (b) This channel-forming (pore-forming) toxin inserts itself into the host cell membrane, forming a channel (or pore). Multiple membrane pores results in an osmolarity shift, as water enters the cell and cytoplasmic contents move out. The resulting effect of this toxin is cell lysis." title="Figure 35.6 Two Examples of Exotoxin Mechanisms."/>
          <p:cNvPicPr>
            <a:picLocks noChangeAspect="1" noChangeArrowheads="1"/>
          </p:cNvPicPr>
          <p:nvPr/>
        </p:nvPicPr>
        <p:blipFill>
          <a:blip r:embed="rId2" cstate="print"/>
          <a:srcRect/>
          <a:stretch>
            <a:fillRect/>
          </a:stretch>
        </p:blipFill>
        <p:spPr bwMode="auto">
          <a:xfrm>
            <a:off x="4995333" y="152400"/>
            <a:ext cx="3393546" cy="6477704"/>
          </a:xfrm>
          <a:prstGeom prst="rect">
            <a:avLst/>
          </a:prstGeom>
          <a:noFill/>
        </p:spPr>
      </p:pic>
    </p:spTree>
    <p:extLst>
      <p:ext uri="{BB962C8B-B14F-4D97-AF65-F5344CB8AC3E}">
        <p14:creationId xmlns:p14="http://schemas.microsoft.com/office/powerpoint/2010/main" val="4081884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76200"/>
            <a:ext cx="8229600" cy="1143000"/>
          </a:xfrm>
        </p:spPr>
        <p:txBody>
          <a:bodyPr>
            <a:normAutofit fontScale="90000"/>
          </a:bodyPr>
          <a:lstStyle/>
          <a:p>
            <a:r>
              <a:rPr lang="en-US" dirty="0"/>
              <a:t>Exotoxins Produced By Human Pathogens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28</a:t>
            </a:fld>
            <a:endParaRPr lang="en-US"/>
          </a:p>
        </p:txBody>
      </p:sp>
      <p:pic>
        <p:nvPicPr>
          <p:cNvPr id="10242" name="Picture 2" descr="Header Row: Toxin; Organism; Gene Location; Toxin Type; Mechanism of Action&#10;Edema factor (EF), Lethal factor (LF), and Protective antigen (PA); Bacillus anthracis; Plasmid; Tripartite AB; EF causes edema, LF is a cytotoxin, and PA is a B component.&#10;Pertussis toxin; Bordetella pertussis; Chromosome; AB; ↓ ATP, ↑ cAMP alters cell function, leading to death.&#10;Botulinum toxin; Clostridium botulinum  Prophage; AB; Blocks neurotransmitter release, leading to paralysis&#10;CPE enterotoxin; Clostridium perfringens; Chromosome  Cytotoxin; Hemolysis&#10;Tetanospasmin  Clostridium tetani; Plasmid; AB; Blocks neurotransmitter, leading to spastic paralysis&#10;Diphtheria toxin; Corynebacterium diphtheria; Phage; AB; Alters translation, leading to protein synthesis inhibition&#10;Enterotoxin; Escherichia coli; Plasmid; AB; ↑cAMP, leading to water secretion from cell Inhibits protein synthesis leading to death&#10;Shiga-like toxin; E. coli O157:H7; Phage gene integrated into chromosome; AB; ↑cAMP, leading to water secretion from cell Inhibits protein synthesis leading to death&#10;Cytolysin; Salmonella spp.; Chromosome; Cytotoxin; ↑cAMP, leading to water secretion from cell&#10;Shiga toxin; Shigella dysenteriae; Chromosome; AB; Inhibits protein synthesis, leading to death&#10;Exfolative toxin; Staphylococcus aureus; Chromosome; Protease; Skin peeling&#10;Toxic shock syndrome toxin-1; Staphylococcus aureus; Chromosome; Superantigen; Cytokine-induced shock&#10;Panton-Valentine leucocidin; Staphylococcus aureus; Phage; Cytotoxin; Necrotizing pneumonia&#10;Streptolysin O; Streptococcus pyogenes; Chromosome; Cytolysin; Hemolysis&#10;Erythrogenic toxin; Streptococcus pyogenes; Phage; Superantigen; Cytokine-induced shock&#10;Cholera toxin; Vibrio cholera; Phage; AB; ↑cAMP, leading to water secretion from cell" title="Table 35.4 Exotoxins Produced by Human Pathogens"/>
          <p:cNvPicPr>
            <a:picLocks noChangeAspect="1" noChangeArrowheads="1"/>
          </p:cNvPicPr>
          <p:nvPr/>
        </p:nvPicPr>
        <p:blipFill>
          <a:blip r:embed="rId2" cstate="print"/>
          <a:srcRect/>
          <a:stretch>
            <a:fillRect/>
          </a:stretch>
        </p:blipFill>
        <p:spPr bwMode="auto">
          <a:xfrm>
            <a:off x="1177369" y="948267"/>
            <a:ext cx="7213126" cy="5658380"/>
          </a:xfrm>
          <a:prstGeom prst="rect">
            <a:avLst/>
          </a:prstGeom>
          <a:noFill/>
        </p:spPr>
      </p:pic>
    </p:spTree>
    <p:extLst>
      <p:ext uri="{BB962C8B-B14F-4D97-AF65-F5344CB8AC3E}">
        <p14:creationId xmlns:p14="http://schemas.microsoft.com/office/powerpoint/2010/main" val="3319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0" y="274638"/>
            <a:ext cx="4038600" cy="1143000"/>
          </a:xfrm>
        </p:spPr>
        <p:txBody>
          <a:bodyPr/>
          <a:lstStyle/>
          <a:p>
            <a:r>
              <a:rPr lang="en-US" dirty="0" err="1"/>
              <a:t>Superantigens</a:t>
            </a:r>
            <a:endParaRPr lang="en-US" dirty="0"/>
          </a:p>
        </p:txBody>
      </p:sp>
      <p:sp>
        <p:nvSpPr>
          <p:cNvPr id="6" name="Content Placeholder 5"/>
          <p:cNvSpPr>
            <a:spLocks noGrp="1"/>
          </p:cNvSpPr>
          <p:nvPr>
            <p:ph sz="half" idx="2"/>
          </p:nvPr>
        </p:nvSpPr>
        <p:spPr>
          <a:xfrm>
            <a:off x="5181600" y="1600200"/>
            <a:ext cx="3886200" cy="4800600"/>
          </a:xfrm>
        </p:spPr>
        <p:txBody>
          <a:bodyPr>
            <a:normAutofit fontScale="92500" lnSpcReduction="10000"/>
          </a:bodyPr>
          <a:lstStyle/>
          <a:p>
            <a:r>
              <a:rPr lang="en-US" dirty="0"/>
              <a:t>Stimulate ~30% of T cells of the immune system</a:t>
            </a:r>
          </a:p>
          <a:p>
            <a:pPr lvl="1"/>
            <a:r>
              <a:rPr lang="en-US" dirty="0"/>
              <a:t>causes the T cells to overexpress and release cytokines</a:t>
            </a:r>
          </a:p>
          <a:p>
            <a:pPr lvl="1"/>
            <a:r>
              <a:rPr lang="en-US" dirty="0"/>
              <a:t>results in failure of multiple host organs allowing time for the microbe to disseminate</a:t>
            </a:r>
          </a:p>
          <a:p>
            <a:pPr lvl="1"/>
            <a:r>
              <a:rPr lang="en-US" dirty="0"/>
              <a:t>Example is staphylococcal enterotoxin B</a:t>
            </a:r>
          </a:p>
        </p:txBody>
      </p:sp>
      <p:sp>
        <p:nvSpPr>
          <p:cNvPr id="4" name="Slide Number Placeholder 3"/>
          <p:cNvSpPr>
            <a:spLocks noGrp="1"/>
          </p:cNvSpPr>
          <p:nvPr>
            <p:ph type="sldNum" sz="quarter" idx="12"/>
          </p:nvPr>
        </p:nvSpPr>
        <p:spPr/>
        <p:txBody>
          <a:bodyPr/>
          <a:lstStyle/>
          <a:p>
            <a:fld id="{3B1A82D2-719A-4A87-BECB-D74482819C19}" type="slidenum">
              <a:rPr lang="en-US" smtClean="0"/>
              <a:pPr/>
              <a:t>29</a:t>
            </a:fld>
            <a:endParaRPr lang="en-US"/>
          </a:p>
        </p:txBody>
      </p:sp>
      <p:pic>
        <p:nvPicPr>
          <p:cNvPr id="11266" name="Picture 2" descr="Nonspecific activation of T cells by a superantigen, in the absence of antigen, stimulates massive amounts of cytokines that overwhelm the host and result in shock and death." title="Figure 35.7 Superantigen."/>
          <p:cNvPicPr>
            <a:picLocks noChangeAspect="1" noChangeArrowheads="1"/>
          </p:cNvPicPr>
          <p:nvPr/>
        </p:nvPicPr>
        <p:blipFill>
          <a:blip r:embed="rId2" cstate="print"/>
          <a:srcRect/>
          <a:stretch>
            <a:fillRect/>
          </a:stretch>
        </p:blipFill>
        <p:spPr bwMode="auto">
          <a:xfrm>
            <a:off x="209289" y="812800"/>
            <a:ext cx="4982094" cy="4029076"/>
          </a:xfrm>
          <a:prstGeom prst="rect">
            <a:avLst/>
          </a:prstGeom>
          <a:noFill/>
        </p:spPr>
      </p:pic>
    </p:spTree>
    <p:extLst>
      <p:ext uri="{BB962C8B-B14F-4D97-AF65-F5344CB8AC3E}">
        <p14:creationId xmlns:p14="http://schemas.microsoft.com/office/powerpoint/2010/main" val="9715043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Endotoxin - Lipopolysaccharide</a:t>
            </a:r>
          </a:p>
        </p:txBody>
      </p:sp>
      <p:sp>
        <p:nvSpPr>
          <p:cNvPr id="3" name="Content Placeholder 2"/>
          <p:cNvSpPr>
            <a:spLocks noGrp="1"/>
          </p:cNvSpPr>
          <p:nvPr>
            <p:ph idx="1"/>
          </p:nvPr>
        </p:nvSpPr>
        <p:spPr/>
        <p:txBody>
          <a:bodyPr/>
          <a:lstStyle/>
          <a:p>
            <a:r>
              <a:rPr lang="en-US" dirty="0"/>
              <a:t>Lipopolysaccharide (LPS) in Gram-negative cell wall can be toxic to specific hosts</a:t>
            </a:r>
          </a:p>
          <a:p>
            <a:pPr lvl="1"/>
            <a:r>
              <a:rPr lang="en-US" dirty="0"/>
              <a:t>called endotoxin because it is an endogenous (part) of the bacterium and released when organism lyses</a:t>
            </a:r>
          </a:p>
          <a:p>
            <a:pPr lvl="2"/>
            <a:r>
              <a:rPr lang="en-US" dirty="0"/>
              <a:t>some is also released during multiplication </a:t>
            </a:r>
          </a:p>
          <a:p>
            <a:pPr lvl="1"/>
            <a:r>
              <a:rPr lang="en-US" dirty="0"/>
              <a:t>toxic component is the lipid portion, lipid A</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30</a:t>
            </a:fld>
            <a:endParaRPr lang="en-US"/>
          </a:p>
        </p:txBody>
      </p:sp>
    </p:spTree>
    <p:extLst>
      <p:ext uri="{BB962C8B-B14F-4D97-AF65-F5344CB8AC3E}">
        <p14:creationId xmlns:p14="http://schemas.microsoft.com/office/powerpoint/2010/main" val="11840742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6200" y="274638"/>
            <a:ext cx="2819400" cy="2468562"/>
          </a:xfrm>
        </p:spPr>
        <p:txBody>
          <a:bodyPr>
            <a:normAutofit/>
          </a:bodyPr>
          <a:lstStyle/>
          <a:p>
            <a:r>
              <a:rPr lang="en-US" dirty="0"/>
              <a:t>The Septic Shock Cascade</a:t>
            </a:r>
          </a:p>
        </p:txBody>
      </p:sp>
      <p:sp>
        <p:nvSpPr>
          <p:cNvPr id="3" name="Slide Number Placeholder 2"/>
          <p:cNvSpPr>
            <a:spLocks noGrp="1"/>
          </p:cNvSpPr>
          <p:nvPr>
            <p:ph type="sldNum" sz="quarter" idx="12"/>
          </p:nvPr>
        </p:nvSpPr>
        <p:spPr/>
        <p:txBody>
          <a:bodyPr/>
          <a:lstStyle/>
          <a:p>
            <a:fld id="{3B1A82D2-719A-4A87-BECB-D74482819C19}" type="slidenum">
              <a:rPr lang="en-US" smtClean="0"/>
              <a:pPr/>
              <a:t>31</a:t>
            </a:fld>
            <a:endParaRPr lang="en-US"/>
          </a:p>
        </p:txBody>
      </p:sp>
      <p:pic>
        <p:nvPicPr>
          <p:cNvPr id="12290" name="Picture 2" descr="Gram-negative bacterial endotoxin triggers the biochemical events that lead to such serious complications as shock, acute respiratory distress syndrome, and disseminated intravascular coagulation.&#10;Flow chart, from top to bottom:&#10;ENDOTOXIN&#10;Factor XII&#10;Coagulation cascade, Complement cascade, Fibrinolytic cascade, Kininogen cascade&#10;Endogenous mediators:&#10;Cytokines (Tumor necrosis factor, Interleukin-1, 2, 6, 8…), Platelet-activating factor, Endorphins, Endothelium-derived relaxing factor, Arachidonic acid metabolites (Cyclooxygenase, Lipoxygenase, Prostaglandins, Leukotrienes), Complement C5a, Kinin, Coagulation, Mycardial depressant substance&#10;Mycardium (Depression, Dilation), Vasculature (Vasodilatation, Vasoconstriction, Leukocyte aggregation, Endothelial cell dysfunction), Organs (kidney, liver, lung brain; Dysfunction, Metabolic defect)&#10;Shock&#10;Refractory hypotension or Multiple-organ-system failure which can lead to death, or Recovery" title="Figure 35.8 The Septic Shock Cascade."/>
          <p:cNvPicPr>
            <a:picLocks noChangeAspect="1" noChangeArrowheads="1"/>
          </p:cNvPicPr>
          <p:nvPr/>
        </p:nvPicPr>
        <p:blipFill>
          <a:blip r:embed="rId2" cstate="print"/>
          <a:srcRect/>
          <a:stretch>
            <a:fillRect/>
          </a:stretch>
        </p:blipFill>
        <p:spPr bwMode="auto">
          <a:xfrm>
            <a:off x="3033821" y="228600"/>
            <a:ext cx="5786748" cy="6079066"/>
          </a:xfrm>
          <a:prstGeom prst="rect">
            <a:avLst/>
          </a:prstGeom>
          <a:noFill/>
        </p:spPr>
      </p:pic>
    </p:spTree>
    <p:extLst>
      <p:ext uri="{BB962C8B-B14F-4D97-AF65-F5344CB8AC3E}">
        <p14:creationId xmlns:p14="http://schemas.microsoft.com/office/powerpoint/2010/main" val="4048704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Endotoxins: General Features</a:t>
            </a:r>
          </a:p>
        </p:txBody>
      </p:sp>
      <p:sp>
        <p:nvSpPr>
          <p:cNvPr id="3" name="Content Placeholder 2"/>
          <p:cNvSpPr>
            <a:spLocks noGrp="1"/>
          </p:cNvSpPr>
          <p:nvPr>
            <p:ph idx="1"/>
          </p:nvPr>
        </p:nvSpPr>
        <p:spPr>
          <a:xfrm>
            <a:off x="304800" y="1295400"/>
            <a:ext cx="8534400" cy="5410200"/>
          </a:xfrm>
        </p:spPr>
        <p:txBody>
          <a:bodyPr>
            <a:normAutofit/>
          </a:bodyPr>
          <a:lstStyle/>
          <a:p>
            <a:r>
              <a:rPr lang="en-US" dirty="0"/>
              <a:t>Heat stable</a:t>
            </a:r>
            <a:br>
              <a:rPr lang="en-US" dirty="0"/>
            </a:br>
            <a:endParaRPr lang="en-US" dirty="0"/>
          </a:p>
          <a:p>
            <a:r>
              <a:rPr lang="en-US" dirty="0"/>
              <a:t>Toxic (</a:t>
            </a:r>
            <a:r>
              <a:rPr lang="en-US" dirty="0" err="1"/>
              <a:t>nanogram</a:t>
            </a:r>
            <a:r>
              <a:rPr lang="en-US" dirty="0"/>
              <a:t> amounts)</a:t>
            </a:r>
            <a:br>
              <a:rPr lang="en-US" dirty="0"/>
            </a:br>
            <a:endParaRPr lang="en-US" dirty="0"/>
          </a:p>
          <a:p>
            <a:r>
              <a:rPr lang="en-US" dirty="0"/>
              <a:t>Weakly immunogenic</a:t>
            </a:r>
            <a:br>
              <a:rPr lang="en-US" dirty="0"/>
            </a:br>
            <a:endParaRPr lang="en-US" dirty="0"/>
          </a:p>
          <a:p>
            <a:r>
              <a:rPr lang="en-US" dirty="0"/>
              <a:t>Generally similar, despite source</a:t>
            </a:r>
            <a:br>
              <a:rPr lang="en-US" dirty="0"/>
            </a:br>
            <a:endParaRPr lang="en-US" dirty="0"/>
          </a:p>
          <a:p>
            <a:r>
              <a:rPr lang="en-US" dirty="0"/>
              <a:t>Cause general system effects</a:t>
            </a:r>
          </a:p>
          <a:p>
            <a:pPr lvl="1"/>
            <a:r>
              <a:rPr lang="en-US" dirty="0"/>
              <a:t>fever, weakness, diarrhea, inflammation, intestinal hemorrhage, and fibrinolysis, the enzymatic breakdown of fibrin, the major protein component of blood clots</a:t>
            </a:r>
          </a:p>
          <a:p>
            <a:pPr lvl="1"/>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32</a:t>
            </a:fld>
            <a:endParaRPr lang="en-US"/>
          </a:p>
        </p:txBody>
      </p:sp>
    </p:spTree>
    <p:extLst>
      <p:ext uri="{BB962C8B-B14F-4D97-AF65-F5344CB8AC3E}">
        <p14:creationId xmlns:p14="http://schemas.microsoft.com/office/powerpoint/2010/main" val="32938716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Endotoxins: General Features – 2 </a:t>
            </a:r>
          </a:p>
        </p:txBody>
      </p:sp>
      <p:sp>
        <p:nvSpPr>
          <p:cNvPr id="6" name="Content Placeholder 5"/>
          <p:cNvSpPr>
            <a:spLocks noGrp="1"/>
          </p:cNvSpPr>
          <p:nvPr>
            <p:ph sz="half" idx="1"/>
          </p:nvPr>
        </p:nvSpPr>
        <p:spPr>
          <a:xfrm>
            <a:off x="457200" y="1600200"/>
            <a:ext cx="8229600" cy="4724400"/>
          </a:xfrm>
        </p:spPr>
        <p:txBody>
          <a:bodyPr/>
          <a:lstStyle/>
          <a:p>
            <a:r>
              <a:rPr lang="en-US" dirty="0"/>
              <a:t>Bring about these effects indirectly</a:t>
            </a:r>
          </a:p>
          <a:p>
            <a:pPr lvl="1"/>
            <a:r>
              <a:rPr lang="en-US" dirty="0"/>
              <a:t>endotoxin interacts with host molecules and cells, activating host systems</a:t>
            </a:r>
          </a:p>
          <a:p>
            <a:pPr lvl="2"/>
            <a:r>
              <a:rPr lang="en-US" sz="2400" dirty="0"/>
              <a:t>coagulation, complement, fibrinolytic, and </a:t>
            </a:r>
            <a:r>
              <a:rPr lang="en-US" sz="2400" dirty="0" err="1"/>
              <a:t>kininogen</a:t>
            </a:r>
            <a:r>
              <a:rPr lang="en-US" sz="2400" dirty="0"/>
              <a:t> system</a:t>
            </a:r>
          </a:p>
          <a:p>
            <a:pPr lvl="1"/>
            <a:r>
              <a:rPr lang="en-US" dirty="0"/>
              <a:t>e.g. interaction with macrophages </a:t>
            </a:r>
            <a:r>
              <a:rPr lang="en-US" dirty="0">
                <a:sym typeface="Symbol" pitchFamily="18" charset="2"/>
              </a:rPr>
              <a:t> release of endogenous pyrogen (induces fever)</a:t>
            </a:r>
          </a:p>
          <a:p>
            <a:pPr lvl="1"/>
            <a:r>
              <a:rPr lang="en-US" dirty="0"/>
              <a:t>e.g. binding to LPS-binding protein </a:t>
            </a:r>
            <a:r>
              <a:rPr lang="en-US" dirty="0">
                <a:sym typeface="Symbol" pitchFamily="18" charset="2"/>
              </a:rPr>
              <a:t> release of cytokines</a:t>
            </a:r>
          </a:p>
          <a:p>
            <a:pPr lvl="2"/>
            <a:r>
              <a:rPr lang="en-US" sz="2400" dirty="0"/>
              <a:t>tumor necrosis and others lead to septic shock</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33</a:t>
            </a:fld>
            <a:endParaRPr lang="en-US"/>
          </a:p>
        </p:txBody>
      </p:sp>
    </p:spTree>
    <p:extLst>
      <p:ext uri="{BB962C8B-B14F-4D97-AF65-F5344CB8AC3E}">
        <p14:creationId xmlns:p14="http://schemas.microsoft.com/office/powerpoint/2010/main" val="14268049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Mycotoxins</a:t>
            </a:r>
          </a:p>
        </p:txBody>
      </p:sp>
      <p:sp>
        <p:nvSpPr>
          <p:cNvPr id="3" name="Content Placeholder 2"/>
          <p:cNvSpPr>
            <a:spLocks noGrp="1"/>
          </p:cNvSpPr>
          <p:nvPr>
            <p:ph idx="1"/>
          </p:nvPr>
        </p:nvSpPr>
        <p:spPr/>
        <p:txBody>
          <a:bodyPr/>
          <a:lstStyle/>
          <a:p>
            <a:r>
              <a:rPr lang="en-US" dirty="0"/>
              <a:t>Secondary metabolites of fungi</a:t>
            </a:r>
          </a:p>
          <a:p>
            <a:pPr lvl="1"/>
            <a:r>
              <a:rPr lang="en-US" dirty="0"/>
              <a:t>common contaminants of food crops</a:t>
            </a:r>
          </a:p>
          <a:p>
            <a:pPr lvl="1"/>
            <a:r>
              <a:rPr lang="en-US" i="1" dirty="0"/>
              <a:t>Aspergillus </a:t>
            </a:r>
            <a:r>
              <a:rPr lang="en-US" i="1" dirty="0" err="1"/>
              <a:t>flavus</a:t>
            </a:r>
            <a:r>
              <a:rPr lang="en-US" dirty="0"/>
              <a:t> and </a:t>
            </a:r>
            <a:r>
              <a:rPr lang="en-US" i="1" dirty="0"/>
              <a:t>A. </a:t>
            </a:r>
            <a:r>
              <a:rPr lang="en-US" i="1" dirty="0" err="1"/>
              <a:t>parasiticus</a:t>
            </a:r>
            <a:r>
              <a:rPr lang="en-US" i="1" dirty="0"/>
              <a:t> </a:t>
            </a:r>
            <a:r>
              <a:rPr lang="en-US" dirty="0"/>
              <a:t>produce carcinogenic aflatoxin</a:t>
            </a:r>
          </a:p>
          <a:p>
            <a:pPr lvl="1"/>
            <a:r>
              <a:rPr lang="en-US" i="1" dirty="0" err="1"/>
              <a:t>Stachybotrys</a:t>
            </a:r>
            <a:r>
              <a:rPr lang="en-US" dirty="0"/>
              <a:t> produce tissue-damaging </a:t>
            </a:r>
            <a:r>
              <a:rPr lang="en-US" dirty="0" err="1"/>
              <a:t>satratoxins</a:t>
            </a:r>
            <a:endParaRPr lang="en-US" dirty="0"/>
          </a:p>
          <a:p>
            <a:pPr lvl="1"/>
            <a:r>
              <a:rPr lang="en-US" i="1" dirty="0" err="1"/>
              <a:t>Claviceps</a:t>
            </a:r>
            <a:r>
              <a:rPr lang="en-US" i="1" dirty="0"/>
              <a:t> </a:t>
            </a:r>
            <a:r>
              <a:rPr lang="en-US" i="1" dirty="0" err="1"/>
              <a:t>purpurea</a:t>
            </a:r>
            <a:r>
              <a:rPr lang="en-US" dirty="0"/>
              <a:t> (ergot) produce hallucinogen lysergic acid (LSD)</a:t>
            </a:r>
            <a:endParaRPr lang="en-US" i="1"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34</a:t>
            </a:fld>
            <a:endParaRPr lang="en-US"/>
          </a:p>
        </p:txBody>
      </p:sp>
    </p:spTree>
    <p:extLst>
      <p:ext uri="{BB962C8B-B14F-4D97-AF65-F5344CB8AC3E}">
        <p14:creationId xmlns:p14="http://schemas.microsoft.com/office/powerpoint/2010/main" val="9836651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8200" y="274638"/>
            <a:ext cx="4419600" cy="868362"/>
          </a:xfrm>
        </p:spPr>
        <p:txBody>
          <a:bodyPr>
            <a:normAutofit/>
          </a:bodyPr>
          <a:lstStyle/>
          <a:p>
            <a:r>
              <a:rPr lang="en-US" dirty="0"/>
              <a:t>Biofilm Development</a:t>
            </a:r>
          </a:p>
        </p:txBody>
      </p:sp>
      <p:sp>
        <p:nvSpPr>
          <p:cNvPr id="6" name="Content Placeholder 5"/>
          <p:cNvSpPr>
            <a:spLocks noGrp="1"/>
          </p:cNvSpPr>
          <p:nvPr>
            <p:ph sz="half" idx="2"/>
          </p:nvPr>
        </p:nvSpPr>
        <p:spPr>
          <a:xfrm>
            <a:off x="4648200" y="1493837"/>
            <a:ext cx="4343400" cy="4906963"/>
          </a:xfrm>
        </p:spPr>
        <p:txBody>
          <a:bodyPr>
            <a:normAutofit lnSpcReduction="10000"/>
          </a:bodyPr>
          <a:lstStyle/>
          <a:p>
            <a:r>
              <a:rPr lang="en-US" dirty="0"/>
              <a:t>Biofilm growth is physiologically different from planktonic growth</a:t>
            </a:r>
          </a:p>
          <a:p>
            <a:pPr lvl="1"/>
            <a:r>
              <a:rPr lang="en-US" dirty="0"/>
              <a:t>may cause chronic infection</a:t>
            </a:r>
          </a:p>
          <a:p>
            <a:pPr lvl="1"/>
            <a:r>
              <a:rPr lang="en-US" dirty="0"/>
              <a:t>increases virulence</a:t>
            </a:r>
          </a:p>
          <a:p>
            <a:pPr lvl="1"/>
            <a:r>
              <a:rPr lang="en-US" dirty="0"/>
              <a:t>become less sensitive to antibiotics </a:t>
            </a:r>
          </a:p>
          <a:p>
            <a:pPr lvl="1"/>
            <a:r>
              <a:rPr lang="en-US" dirty="0"/>
              <a:t>make cells in biofilm more resistant to host defense (“frustrates” phagocytes)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35</a:t>
            </a:fld>
            <a:endParaRPr lang="en-US"/>
          </a:p>
        </p:txBody>
      </p:sp>
      <p:pic>
        <p:nvPicPr>
          <p:cNvPr id="13314" name="Picture 2" descr="(a) Planktonic cells are sensitive to antibiotics and are detected by host phagocytes and antibodies. (b) Planktonic cells settle to form a biofilm and become biofilm cells. (c) Biofilm cells resist antibiotics and antibody detection. Host phagocytes detect and attempt to destroy biofilm cells. (d) Unable to capture biofilm cells, phagocytes release antimicrobial products that kill host cells but not biofilm cells." title="Figure 35.9 Frustrated Phagocytosis."/>
          <p:cNvPicPr>
            <a:picLocks noChangeAspect="1" noChangeArrowheads="1"/>
          </p:cNvPicPr>
          <p:nvPr/>
        </p:nvPicPr>
        <p:blipFill>
          <a:blip r:embed="rId2" cstate="print"/>
          <a:srcRect/>
          <a:stretch>
            <a:fillRect/>
          </a:stretch>
        </p:blipFill>
        <p:spPr bwMode="auto">
          <a:xfrm>
            <a:off x="116700" y="381000"/>
            <a:ext cx="4365588" cy="6180138"/>
          </a:xfrm>
          <a:prstGeom prst="rect">
            <a:avLst/>
          </a:prstGeom>
          <a:noFill/>
        </p:spPr>
      </p:pic>
    </p:spTree>
    <p:extLst>
      <p:ext uri="{BB962C8B-B14F-4D97-AF65-F5344CB8AC3E}">
        <p14:creationId xmlns:p14="http://schemas.microsoft.com/office/powerpoint/2010/main" val="983665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a:t>Resisting Host Defenses</a:t>
            </a:r>
          </a:p>
        </p:txBody>
      </p:sp>
      <p:sp>
        <p:nvSpPr>
          <p:cNvPr id="3" name="Content Placeholder 2"/>
          <p:cNvSpPr>
            <a:spLocks noGrp="1"/>
          </p:cNvSpPr>
          <p:nvPr>
            <p:ph idx="1"/>
          </p:nvPr>
        </p:nvSpPr>
        <p:spPr>
          <a:xfrm>
            <a:off x="152400" y="1219200"/>
            <a:ext cx="8839200" cy="5486400"/>
          </a:xfrm>
        </p:spPr>
        <p:txBody>
          <a:bodyPr>
            <a:normAutofit fontScale="92500" lnSpcReduction="10000"/>
          </a:bodyPr>
          <a:lstStyle/>
          <a:p>
            <a:r>
              <a:rPr lang="en-US" dirty="0"/>
              <a:t>Most microbes eliminated before they can cause disease due to immune system</a:t>
            </a:r>
            <a:br>
              <a:rPr lang="en-US" dirty="0"/>
            </a:br>
            <a:endParaRPr lang="en-US" dirty="0"/>
          </a:p>
          <a:p>
            <a:r>
              <a:rPr lang="en-US" dirty="0"/>
              <a:t>Successful pathogen evades immune system</a:t>
            </a:r>
            <a:br>
              <a:rPr lang="en-US" dirty="0"/>
            </a:br>
            <a:r>
              <a:rPr lang="en-US" dirty="0"/>
              <a:t> </a:t>
            </a:r>
          </a:p>
          <a:p>
            <a:r>
              <a:rPr lang="en-US" dirty="0"/>
              <a:t>Numerous mechanisms for both viral and bacterial pathogens</a:t>
            </a:r>
          </a:p>
          <a:p>
            <a:pPr lvl="1"/>
            <a:r>
              <a:rPr lang="en-US" dirty="0"/>
              <a:t>infection of immune system cells, diminishing function</a:t>
            </a:r>
          </a:p>
          <a:p>
            <a:pPr lvl="1"/>
            <a:r>
              <a:rPr lang="en-US" dirty="0"/>
              <a:t>fuse with adjacent cells to prevent exposure to antimicrobial proteins in host </a:t>
            </a:r>
          </a:p>
          <a:p>
            <a:pPr lvl="1"/>
            <a:r>
              <a:rPr lang="en-US" dirty="0"/>
              <a:t>capsules prevent phagocytosis</a:t>
            </a:r>
          </a:p>
          <a:p>
            <a:pPr lvl="1">
              <a:lnSpc>
                <a:spcPct val="90000"/>
              </a:lnSpc>
            </a:pPr>
            <a:r>
              <a:rPr lang="en-US" dirty="0"/>
              <a:t>mutations change antigenic sites or alter expression of antigens </a:t>
            </a:r>
          </a:p>
          <a:p>
            <a:pPr lvl="2">
              <a:lnSpc>
                <a:spcPct val="90000"/>
              </a:lnSpc>
            </a:pPr>
            <a:r>
              <a:rPr lang="en-US" dirty="0"/>
              <a:t>through downregulation or phase variation</a:t>
            </a:r>
          </a:p>
          <a:p>
            <a:pPr lvl="1">
              <a:lnSpc>
                <a:spcPct val="90000"/>
              </a:lnSpc>
            </a:pPr>
            <a:r>
              <a:rPr lang="en-US" dirty="0"/>
              <a:t>produce substances that resemble host tissue</a:t>
            </a:r>
          </a:p>
          <a:p>
            <a:pPr lvl="1">
              <a:lnSpc>
                <a:spcPct val="90000"/>
              </a:lnSpc>
            </a:pPr>
            <a:r>
              <a:rPr lang="en-US" dirty="0"/>
              <a:t>produce proteases that degrade host proteins </a:t>
            </a:r>
          </a:p>
          <a:p>
            <a:pPr lvl="1">
              <a:lnSpc>
                <a:spcPct val="90000"/>
              </a:lnSpc>
            </a:pPr>
            <a:r>
              <a:rPr lang="en-US" dirty="0"/>
              <a:t>special proteins that interfere with host defenses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36</a:t>
            </a:fld>
            <a:endParaRPr lang="en-US"/>
          </a:p>
        </p:txBody>
      </p:sp>
    </p:spTree>
    <p:extLst>
      <p:ext uri="{BB962C8B-B14F-4D97-AF65-F5344CB8AC3E}">
        <p14:creationId xmlns:p14="http://schemas.microsoft.com/office/powerpoint/2010/main" val="983665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a:t>More Ways of Resisting Host Defenses</a:t>
            </a:r>
          </a:p>
        </p:txBody>
      </p:sp>
      <p:sp>
        <p:nvSpPr>
          <p:cNvPr id="3" name="Content Placeholder 2"/>
          <p:cNvSpPr>
            <a:spLocks noGrp="1"/>
          </p:cNvSpPr>
          <p:nvPr>
            <p:ph sz="half" idx="1"/>
          </p:nvPr>
        </p:nvSpPr>
        <p:spPr>
          <a:xfrm>
            <a:off x="457200" y="1295400"/>
            <a:ext cx="4038600" cy="5410200"/>
          </a:xfrm>
        </p:spPr>
        <p:txBody>
          <a:bodyPr>
            <a:normAutofit fontScale="92500" lnSpcReduction="10000"/>
          </a:bodyPr>
          <a:lstStyle/>
          <a:p>
            <a:r>
              <a:rPr lang="en-US" dirty="0"/>
              <a:t>Production of decoy proteins to bind available neutralizing antibodies</a:t>
            </a:r>
            <a:br>
              <a:rPr lang="en-US" dirty="0"/>
            </a:br>
            <a:endParaRPr lang="en-US" dirty="0"/>
          </a:p>
          <a:p>
            <a:r>
              <a:rPr lang="en-US" dirty="0"/>
              <a:t>Lengthened O-chains to prevent host detection or lysis</a:t>
            </a:r>
            <a:br>
              <a:rPr lang="en-US" dirty="0"/>
            </a:br>
            <a:endParaRPr lang="en-US" dirty="0"/>
          </a:p>
          <a:p>
            <a:r>
              <a:rPr lang="en-US" dirty="0"/>
              <a:t>Some survive inside </a:t>
            </a:r>
          </a:p>
          <a:p>
            <a:pPr marL="0" indent="0">
              <a:buNone/>
            </a:pPr>
            <a:r>
              <a:rPr lang="en-US" dirty="0"/>
              <a:t>    host cells </a:t>
            </a:r>
          </a:p>
          <a:p>
            <a:pPr lvl="1"/>
            <a:r>
              <a:rPr lang="en-US" dirty="0"/>
              <a:t>eject themselves from </a:t>
            </a:r>
          </a:p>
          <a:p>
            <a:pPr marL="457200" lvl="1" indent="0">
              <a:buNone/>
            </a:pPr>
            <a:r>
              <a:rPr lang="en-US" dirty="0"/>
              <a:t>   cell to cell using host </a:t>
            </a:r>
          </a:p>
          <a:p>
            <a:pPr marL="457200" lvl="1" indent="0">
              <a:buNone/>
            </a:pPr>
            <a:r>
              <a:rPr lang="en-US" dirty="0"/>
              <a:t>   actin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37</a:t>
            </a:fld>
            <a:endParaRPr lang="en-US"/>
          </a:p>
        </p:txBody>
      </p:sp>
      <p:pic>
        <p:nvPicPr>
          <p:cNvPr id="14338" name="Picture 2" descr="Scanning electron micrograph of Listeria monocytogenes in a host macrophage. The bacterium has polymerized host actin into a long tail at only one pole that it uses for intracellular propulsion and to move from one host cell to another." title="Figure 35.10 Formation of Actin Tails by Intracellular Bacterial Pathogens."/>
          <p:cNvPicPr>
            <a:picLocks noChangeAspect="1" noChangeArrowheads="1"/>
          </p:cNvPicPr>
          <p:nvPr/>
        </p:nvPicPr>
        <p:blipFill>
          <a:blip r:embed="rId2" cstate="print"/>
          <a:srcRect/>
          <a:stretch>
            <a:fillRect/>
          </a:stretch>
        </p:blipFill>
        <p:spPr bwMode="auto">
          <a:xfrm>
            <a:off x="4482795" y="1371600"/>
            <a:ext cx="4591894" cy="4487334"/>
          </a:xfrm>
          <a:prstGeom prst="rect">
            <a:avLst/>
          </a:prstGeom>
          <a:noFill/>
        </p:spPr>
      </p:pic>
    </p:spTree>
    <p:extLst>
      <p:ext uri="{BB962C8B-B14F-4D97-AF65-F5344CB8AC3E}">
        <p14:creationId xmlns:p14="http://schemas.microsoft.com/office/powerpoint/2010/main" val="983665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35.3 Exposure and Transmission Can Lead to Infectious Disease</a:t>
            </a:r>
          </a:p>
        </p:txBody>
      </p:sp>
      <p:sp>
        <p:nvSpPr>
          <p:cNvPr id="3" name="Content Placeholder 2"/>
          <p:cNvSpPr>
            <a:spLocks noGrp="1"/>
          </p:cNvSpPr>
          <p:nvPr>
            <p:ph idx="1"/>
          </p:nvPr>
        </p:nvSpPr>
        <p:spPr/>
        <p:txBody>
          <a:bodyPr/>
          <a:lstStyle/>
          <a:p>
            <a:pPr marL="514350" indent="-514350">
              <a:buFont typeface="+mj-lt"/>
              <a:buAutoNum type="arabicPeriod"/>
            </a:pPr>
            <a:r>
              <a:rPr lang="en-US" dirty="0"/>
              <a:t>List and describe the means by which microorganisms access humans to cause disease</a:t>
            </a:r>
            <a:br>
              <a:rPr lang="en-US" dirty="0"/>
            </a:br>
            <a:endParaRPr lang="en-US" dirty="0"/>
          </a:p>
          <a:p>
            <a:pPr marL="514350" indent="-514350">
              <a:buFont typeface="+mj-lt"/>
              <a:buAutoNum type="arabicPeriod"/>
            </a:pPr>
            <a:r>
              <a:rPr lang="en-US" dirty="0"/>
              <a:t>Correlate initial microbial numbers and replication rates to infection and lethality</a:t>
            </a:r>
            <a:br>
              <a:rPr lang="en-US" dirty="0"/>
            </a:br>
            <a:endParaRPr lang="en-US" dirty="0"/>
          </a:p>
          <a:p>
            <a:pPr marL="514350" indent="-514350">
              <a:buFont typeface="+mj-lt"/>
              <a:buAutoNum type="arabicPeriod"/>
            </a:pPr>
            <a:r>
              <a:rPr lang="en-US" dirty="0"/>
              <a:t>Synthesize a concept map of the infectious process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38</a:t>
            </a:fld>
            <a:endParaRPr lang="en-US"/>
          </a:p>
        </p:txBody>
      </p:sp>
    </p:spTree>
    <p:extLst>
      <p:ext uri="{BB962C8B-B14F-4D97-AF65-F5344CB8AC3E}">
        <p14:creationId xmlns:p14="http://schemas.microsoft.com/office/powerpoint/2010/main" val="983665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dirty="0"/>
              <a:t>Pathogen Transmission</a:t>
            </a:r>
          </a:p>
        </p:txBody>
      </p:sp>
      <p:sp>
        <p:nvSpPr>
          <p:cNvPr id="3" name="Content Placeholder 2"/>
          <p:cNvSpPr>
            <a:spLocks noGrp="1"/>
          </p:cNvSpPr>
          <p:nvPr>
            <p:ph idx="1"/>
          </p:nvPr>
        </p:nvSpPr>
        <p:spPr>
          <a:xfrm>
            <a:off x="228600" y="1219200"/>
            <a:ext cx="8686800" cy="5410200"/>
          </a:xfrm>
        </p:spPr>
        <p:txBody>
          <a:bodyPr>
            <a:normAutofit fontScale="92500" lnSpcReduction="10000"/>
          </a:bodyPr>
          <a:lstStyle/>
          <a:p>
            <a:r>
              <a:rPr lang="en-US" dirty="0"/>
              <a:t>Initial transmission of pathogen to host</a:t>
            </a:r>
          </a:p>
          <a:p>
            <a:pPr lvl="1"/>
            <a:r>
              <a:rPr lang="en-US" dirty="0"/>
              <a:t>evidence suggests correlation between mode of transmission and degree of virulence</a:t>
            </a:r>
          </a:p>
          <a:p>
            <a:pPr lvl="2"/>
            <a:r>
              <a:rPr lang="en-US" sz="2400" dirty="0"/>
              <a:t>direct contact </a:t>
            </a:r>
            <a:r>
              <a:rPr lang="en-US" sz="2400" dirty="0">
                <a:sym typeface="Symbol" pitchFamily="18" charset="2"/>
              </a:rPr>
              <a:t> less virulent</a:t>
            </a:r>
          </a:p>
          <a:p>
            <a:pPr lvl="2"/>
            <a:r>
              <a:rPr lang="en-US" sz="2400" dirty="0">
                <a:sym typeface="Symbol" pitchFamily="18" charset="2"/>
              </a:rPr>
              <a:t>vector-borne  highly virulent in human host; relatively benign in vector</a:t>
            </a:r>
          </a:p>
          <a:p>
            <a:pPr lvl="2"/>
            <a:r>
              <a:rPr lang="en-US" sz="2400" dirty="0">
                <a:sym typeface="Symbol" pitchFamily="18" charset="2"/>
              </a:rPr>
              <a:t>greater ability to survive outside host  more virulent</a:t>
            </a:r>
            <a:br>
              <a:rPr lang="en-US" sz="2400" dirty="0">
                <a:sym typeface="Symbol" pitchFamily="18" charset="2"/>
              </a:rPr>
            </a:br>
            <a:endParaRPr lang="en-US" sz="2400" dirty="0">
              <a:sym typeface="Symbol" pitchFamily="18" charset="2"/>
            </a:endParaRPr>
          </a:p>
          <a:p>
            <a:r>
              <a:rPr lang="en-US" dirty="0"/>
              <a:t>Transmission from host to host</a:t>
            </a:r>
            <a:br>
              <a:rPr lang="en-US" dirty="0"/>
            </a:br>
            <a:endParaRPr lang="en-US" dirty="0"/>
          </a:p>
          <a:p>
            <a:r>
              <a:rPr lang="en-US" dirty="0"/>
              <a:t>Transmission alone not enough for infection to occur</a:t>
            </a:r>
          </a:p>
          <a:p>
            <a:pPr lvl="1"/>
            <a:r>
              <a:rPr lang="en-US" dirty="0"/>
              <a:t>Tropism - pathogen must make contact with appropriate host tissue</a:t>
            </a:r>
          </a:p>
          <a:p>
            <a:pPr lvl="2"/>
            <a:r>
              <a:rPr lang="en-US" dirty="0"/>
              <a:t>determined by specific cell surface receptors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39</a:t>
            </a:fld>
            <a:endParaRPr lang="en-US"/>
          </a:p>
        </p:txBody>
      </p:sp>
    </p:spTree>
    <p:extLst>
      <p:ext uri="{BB962C8B-B14F-4D97-AF65-F5344CB8AC3E}">
        <p14:creationId xmlns:p14="http://schemas.microsoft.com/office/powerpoint/2010/main" val="983665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76200"/>
            <a:ext cx="8229600" cy="1143000"/>
          </a:xfrm>
        </p:spPr>
        <p:txBody>
          <a:bodyPr/>
          <a:lstStyle/>
          <a:p>
            <a:r>
              <a:rPr lang="en-US" dirty="0"/>
              <a:t>Transmission of Infectious Diseases</a:t>
            </a:r>
          </a:p>
        </p:txBody>
      </p:sp>
      <p:sp>
        <p:nvSpPr>
          <p:cNvPr id="3" name="Slide Number Placeholder 2"/>
          <p:cNvSpPr>
            <a:spLocks noGrp="1"/>
          </p:cNvSpPr>
          <p:nvPr>
            <p:ph type="sldNum" sz="quarter" idx="12"/>
          </p:nvPr>
        </p:nvSpPr>
        <p:spPr/>
        <p:txBody>
          <a:bodyPr/>
          <a:lstStyle/>
          <a:p>
            <a:fld id="{3B1A82D2-719A-4A87-BECB-D74482819C19}" type="slidenum">
              <a:rPr lang="en-US" smtClean="0"/>
              <a:pPr/>
              <a:t>40</a:t>
            </a:fld>
            <a:endParaRPr lang="en-US"/>
          </a:p>
        </p:txBody>
      </p:sp>
      <p:pic>
        <p:nvPicPr>
          <p:cNvPr id="15362" name="Picture 2" descr="Infectious diseases can be transmitted by various direct and indirect methods. Illustrated here: Direct methods – Horizontal contact (kissing, sex), Airborne droplets (like from coughing in someone’s face), Vertical contact (like from a mother to her unborn child), and Vector-borne (like disease transmitted by a mosquito).  Indirect (vehicle) methods – Contact (fomites), Food, water, and biological products, and Airborne (in dust, for example).  Fecal-oral contamination can also lead to both Contact (fomites) and Food/water/biological products types of transmission." title="Figure 35.11 Transmission of Infectious Disease."/>
          <p:cNvPicPr>
            <a:picLocks noChangeAspect="1" noChangeArrowheads="1"/>
          </p:cNvPicPr>
          <p:nvPr/>
        </p:nvPicPr>
        <p:blipFill>
          <a:blip r:embed="rId2" cstate="print"/>
          <a:srcRect/>
          <a:stretch>
            <a:fillRect/>
          </a:stretch>
        </p:blipFill>
        <p:spPr bwMode="auto">
          <a:xfrm>
            <a:off x="973668" y="933611"/>
            <a:ext cx="7383990" cy="5720496"/>
          </a:xfrm>
          <a:prstGeom prst="rect">
            <a:avLst/>
          </a:prstGeom>
          <a:noFill/>
        </p:spPr>
      </p:pic>
      <p:sp>
        <p:nvSpPr>
          <p:cNvPr id="2" name="TextBox 1"/>
          <p:cNvSpPr txBox="1"/>
          <p:nvPr/>
        </p:nvSpPr>
        <p:spPr>
          <a:xfrm>
            <a:off x="3048000" y="3810000"/>
            <a:ext cx="1143000" cy="1477328"/>
          </a:xfrm>
          <a:prstGeom prst="rect">
            <a:avLst/>
          </a:prstGeom>
          <a:solidFill>
            <a:schemeClr val="bg1"/>
          </a:solidFill>
        </p:spPr>
        <p:txBody>
          <a:bodyPr wrap="square" rtlCol="0">
            <a:spAutoFit/>
          </a:bodyPr>
          <a:lstStyle/>
          <a:p>
            <a:endParaRPr lang="en-US" dirty="0"/>
          </a:p>
          <a:p>
            <a:r>
              <a:rPr lang="en-US" b="1" dirty="0"/>
              <a:t>From mother to fetus</a:t>
            </a:r>
          </a:p>
          <a:p>
            <a:endParaRPr lang="en-US" dirty="0"/>
          </a:p>
        </p:txBody>
      </p:sp>
      <p:sp>
        <p:nvSpPr>
          <p:cNvPr id="6" name="TextBox 5"/>
          <p:cNvSpPr txBox="1"/>
          <p:nvPr/>
        </p:nvSpPr>
        <p:spPr>
          <a:xfrm>
            <a:off x="2819400" y="1598758"/>
            <a:ext cx="1357952" cy="1200329"/>
          </a:xfrm>
          <a:prstGeom prst="rect">
            <a:avLst/>
          </a:prstGeom>
          <a:solidFill>
            <a:schemeClr val="bg1"/>
          </a:solidFill>
        </p:spPr>
        <p:txBody>
          <a:bodyPr wrap="square" rtlCol="0">
            <a:spAutoFit/>
          </a:bodyPr>
          <a:lstStyle/>
          <a:p>
            <a:endParaRPr lang="en-US" dirty="0"/>
          </a:p>
          <a:p>
            <a:endParaRPr lang="en-US" dirty="0"/>
          </a:p>
          <a:p>
            <a:endParaRPr lang="en-US" dirty="0"/>
          </a:p>
          <a:p>
            <a:endParaRPr lang="en-US" dirty="0"/>
          </a:p>
        </p:txBody>
      </p:sp>
    </p:spTree>
    <p:extLst>
      <p:ext uri="{BB962C8B-B14F-4D97-AF65-F5344CB8AC3E}">
        <p14:creationId xmlns:p14="http://schemas.microsoft.com/office/powerpoint/2010/main" val="6873949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Pathogen Transmission – Main Modes</a:t>
            </a:r>
          </a:p>
        </p:txBody>
      </p:sp>
      <p:sp>
        <p:nvSpPr>
          <p:cNvPr id="3" name="Content Placeholder 2"/>
          <p:cNvSpPr>
            <a:spLocks noGrp="1"/>
          </p:cNvSpPr>
          <p:nvPr>
            <p:ph idx="1"/>
          </p:nvPr>
        </p:nvSpPr>
        <p:spPr/>
        <p:txBody>
          <a:bodyPr/>
          <a:lstStyle/>
          <a:p>
            <a:r>
              <a:rPr lang="en-US" dirty="0"/>
              <a:t>Five main modes of transmission</a:t>
            </a:r>
          </a:p>
          <a:p>
            <a:pPr lvl="1"/>
            <a:r>
              <a:rPr lang="en-US" dirty="0"/>
              <a:t>airborne</a:t>
            </a:r>
          </a:p>
          <a:p>
            <a:pPr lvl="1"/>
            <a:r>
              <a:rPr lang="en-US" dirty="0"/>
              <a:t>contact</a:t>
            </a:r>
          </a:p>
          <a:p>
            <a:pPr lvl="1"/>
            <a:r>
              <a:rPr lang="en-US" dirty="0"/>
              <a:t>vehicle</a:t>
            </a:r>
          </a:p>
          <a:p>
            <a:pPr lvl="1"/>
            <a:r>
              <a:rPr lang="en-US" dirty="0"/>
              <a:t>vector borne</a:t>
            </a:r>
          </a:p>
          <a:p>
            <a:pPr lvl="1"/>
            <a:r>
              <a:rPr lang="en-US" dirty="0"/>
              <a:t>vertical</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41</a:t>
            </a:fld>
            <a:endParaRPr lang="en-US"/>
          </a:p>
        </p:txBody>
      </p:sp>
    </p:spTree>
    <p:extLst>
      <p:ext uri="{BB962C8B-B14F-4D97-AF65-F5344CB8AC3E}">
        <p14:creationId xmlns:p14="http://schemas.microsoft.com/office/powerpoint/2010/main" val="41625932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Airborne Transmission</a:t>
            </a:r>
          </a:p>
        </p:txBody>
      </p:sp>
      <p:sp>
        <p:nvSpPr>
          <p:cNvPr id="3" name="Content Placeholder 2"/>
          <p:cNvSpPr>
            <a:spLocks noGrp="1"/>
          </p:cNvSpPr>
          <p:nvPr>
            <p:ph idx="1"/>
          </p:nvPr>
        </p:nvSpPr>
        <p:spPr>
          <a:xfrm>
            <a:off x="228600" y="1600200"/>
            <a:ext cx="8610600" cy="4876800"/>
          </a:xfrm>
        </p:spPr>
        <p:txBody>
          <a:bodyPr>
            <a:normAutofit fontScale="92500" lnSpcReduction="10000"/>
          </a:bodyPr>
          <a:lstStyle/>
          <a:p>
            <a:r>
              <a:rPr lang="en-US" sz="2800" dirty="0"/>
              <a:t>Pathogen suspended in air and travels </a:t>
            </a:r>
            <a:r>
              <a:rPr lang="en-US" sz="2800" dirty="0">
                <a:sym typeface="Symbol" pitchFamily="18" charset="2"/>
              </a:rPr>
              <a:t>1 meter</a:t>
            </a:r>
            <a:br>
              <a:rPr lang="en-US" sz="2800" dirty="0">
                <a:sym typeface="Symbol" pitchFamily="18" charset="2"/>
              </a:rPr>
            </a:br>
            <a:endParaRPr lang="en-US" sz="2800" dirty="0">
              <a:sym typeface="Symbol" pitchFamily="18" charset="2"/>
            </a:endParaRPr>
          </a:p>
          <a:p>
            <a:r>
              <a:rPr lang="en-US" dirty="0">
                <a:sym typeface="Symbol" pitchFamily="18" charset="2"/>
              </a:rPr>
              <a:t>D</a:t>
            </a:r>
            <a:r>
              <a:rPr lang="en-US" sz="2800" dirty="0">
                <a:sym typeface="Symbol" pitchFamily="18" charset="2"/>
              </a:rPr>
              <a:t>roplet nuclei</a:t>
            </a:r>
          </a:p>
          <a:p>
            <a:pPr lvl="1"/>
            <a:r>
              <a:rPr lang="en-US" dirty="0"/>
              <a:t>small particles (1–4 </a:t>
            </a:r>
            <a:r>
              <a:rPr lang="en-US" dirty="0">
                <a:sym typeface="Symbol" pitchFamily="18" charset="2"/>
              </a:rPr>
              <a:t></a:t>
            </a:r>
            <a:r>
              <a:rPr lang="en-US" dirty="0">
                <a:sym typeface="WP Greek Century" pitchFamily="2" charset="2"/>
              </a:rPr>
              <a:t>m diameter)</a:t>
            </a:r>
          </a:p>
          <a:p>
            <a:pPr lvl="1"/>
            <a:r>
              <a:rPr lang="en-US" dirty="0">
                <a:sym typeface="WP Greek Century" pitchFamily="2" charset="2"/>
              </a:rPr>
              <a:t>can remain airborne for long time</a:t>
            </a:r>
          </a:p>
          <a:p>
            <a:pPr lvl="1"/>
            <a:r>
              <a:rPr lang="en-US" dirty="0">
                <a:sym typeface="WP Greek Century" pitchFamily="2" charset="2"/>
              </a:rPr>
              <a:t>can travel long distances</a:t>
            </a:r>
          </a:p>
          <a:p>
            <a:pPr lvl="1"/>
            <a:r>
              <a:rPr lang="en-US" dirty="0"/>
              <a:t>usually propelled from respiratory</a:t>
            </a:r>
          </a:p>
          <a:p>
            <a:pPr marL="457200" lvl="1" indent="0">
              <a:buNone/>
            </a:pPr>
            <a:r>
              <a:rPr lang="en-US" dirty="0"/>
              <a:t>   tract of source organisms by sneezing, coughing, or </a:t>
            </a:r>
          </a:p>
          <a:p>
            <a:pPr marL="457200" lvl="1" indent="0">
              <a:buNone/>
            </a:pPr>
            <a:r>
              <a:rPr lang="en-US" dirty="0"/>
              <a:t>   vocalization</a:t>
            </a:r>
            <a:br>
              <a:rPr lang="en-US" dirty="0"/>
            </a:br>
            <a:endParaRPr lang="en-US" dirty="0"/>
          </a:p>
          <a:p>
            <a:r>
              <a:rPr lang="en-US" dirty="0"/>
              <a:t>D</a:t>
            </a:r>
            <a:r>
              <a:rPr lang="en-US" sz="2800" dirty="0"/>
              <a:t>ust particles also important route of airborne transmission</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42</a:t>
            </a:fld>
            <a:endParaRPr lang="en-US"/>
          </a:p>
        </p:txBody>
      </p:sp>
    </p:spTree>
    <p:extLst>
      <p:ext uri="{BB962C8B-B14F-4D97-AF65-F5344CB8AC3E}">
        <p14:creationId xmlns:p14="http://schemas.microsoft.com/office/powerpoint/2010/main" val="2372774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Contact Transmission</a:t>
            </a:r>
          </a:p>
        </p:txBody>
      </p:sp>
      <p:sp>
        <p:nvSpPr>
          <p:cNvPr id="3" name="Content Placeholder 2"/>
          <p:cNvSpPr>
            <a:spLocks noGrp="1"/>
          </p:cNvSpPr>
          <p:nvPr>
            <p:ph idx="1"/>
          </p:nvPr>
        </p:nvSpPr>
        <p:spPr>
          <a:xfrm>
            <a:off x="228600" y="1371600"/>
            <a:ext cx="8686800" cy="5257800"/>
          </a:xfrm>
        </p:spPr>
        <p:txBody>
          <a:bodyPr>
            <a:normAutofit lnSpcReduction="10000"/>
          </a:bodyPr>
          <a:lstStyle/>
          <a:p>
            <a:pPr>
              <a:lnSpc>
                <a:spcPct val="90000"/>
              </a:lnSpc>
            </a:pPr>
            <a:r>
              <a:rPr lang="en-US" sz="2800" dirty="0"/>
              <a:t>Coming together or touching of source/reservoir and host</a:t>
            </a:r>
            <a:br>
              <a:rPr lang="en-US" sz="2800" dirty="0"/>
            </a:br>
            <a:endParaRPr lang="en-US" sz="2800" dirty="0"/>
          </a:p>
          <a:p>
            <a:pPr>
              <a:lnSpc>
                <a:spcPct val="90000"/>
              </a:lnSpc>
            </a:pPr>
            <a:r>
              <a:rPr lang="en-US" sz="2800" dirty="0"/>
              <a:t>Direct contact (person-to-person)</a:t>
            </a:r>
          </a:p>
          <a:p>
            <a:pPr lvl="1">
              <a:lnSpc>
                <a:spcPct val="90000"/>
              </a:lnSpc>
            </a:pPr>
            <a:r>
              <a:rPr lang="en-US" dirty="0"/>
              <a:t>physical interaction between source/reservoir and host</a:t>
            </a:r>
          </a:p>
          <a:p>
            <a:pPr lvl="1">
              <a:lnSpc>
                <a:spcPct val="90000"/>
              </a:lnSpc>
            </a:pPr>
            <a:r>
              <a:rPr lang="en-US" dirty="0"/>
              <a:t>e.g., kissing, touching, and sexual contact</a:t>
            </a:r>
            <a:br>
              <a:rPr lang="en-US" dirty="0"/>
            </a:br>
            <a:endParaRPr lang="en-US" dirty="0"/>
          </a:p>
          <a:p>
            <a:pPr>
              <a:lnSpc>
                <a:spcPct val="90000"/>
              </a:lnSpc>
            </a:pPr>
            <a:r>
              <a:rPr lang="en-US" sz="2800" dirty="0"/>
              <a:t>Indirect contact</a:t>
            </a:r>
          </a:p>
          <a:p>
            <a:pPr lvl="1">
              <a:lnSpc>
                <a:spcPct val="90000"/>
              </a:lnSpc>
            </a:pPr>
            <a:r>
              <a:rPr lang="en-US" dirty="0"/>
              <a:t>involves an intermediate (usually inanimate)</a:t>
            </a:r>
          </a:p>
          <a:p>
            <a:pPr lvl="1">
              <a:lnSpc>
                <a:spcPct val="90000"/>
              </a:lnSpc>
            </a:pPr>
            <a:r>
              <a:rPr lang="en-US" dirty="0"/>
              <a:t>e.g., eating utensils, bedding</a:t>
            </a:r>
            <a:br>
              <a:rPr lang="en-US" dirty="0"/>
            </a:br>
            <a:endParaRPr lang="en-US" dirty="0"/>
          </a:p>
          <a:p>
            <a:pPr>
              <a:lnSpc>
                <a:spcPct val="90000"/>
              </a:lnSpc>
            </a:pPr>
            <a:r>
              <a:rPr lang="en-US" dirty="0"/>
              <a:t>D</a:t>
            </a:r>
            <a:r>
              <a:rPr lang="en-US" sz="2800" dirty="0"/>
              <a:t>roplet spread</a:t>
            </a:r>
          </a:p>
          <a:p>
            <a:pPr lvl="1">
              <a:lnSpc>
                <a:spcPct val="90000"/>
              </a:lnSpc>
            </a:pPr>
            <a:r>
              <a:rPr lang="en-US" dirty="0"/>
              <a:t>large particles (&gt;5 </a:t>
            </a:r>
            <a:r>
              <a:rPr lang="en-US" dirty="0">
                <a:sym typeface="Symbol" pitchFamily="18" charset="2"/>
              </a:rPr>
              <a:t></a:t>
            </a:r>
            <a:r>
              <a:rPr lang="en-US" dirty="0">
                <a:sym typeface="WP Greek Century" pitchFamily="2" charset="2"/>
              </a:rPr>
              <a:t>m) that travel &lt;1 meter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43</a:t>
            </a:fld>
            <a:endParaRPr lang="en-US"/>
          </a:p>
        </p:txBody>
      </p:sp>
    </p:spTree>
    <p:extLst>
      <p:ext uri="{BB962C8B-B14F-4D97-AF65-F5344CB8AC3E}">
        <p14:creationId xmlns:p14="http://schemas.microsoft.com/office/powerpoint/2010/main" val="23727743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lstStyle/>
          <a:p>
            <a:r>
              <a:rPr lang="en-US" dirty="0"/>
              <a:t>Vehicle Transmission</a:t>
            </a:r>
          </a:p>
        </p:txBody>
      </p:sp>
      <p:sp>
        <p:nvSpPr>
          <p:cNvPr id="6" name="Content Placeholder 5"/>
          <p:cNvSpPr>
            <a:spLocks noGrp="1"/>
          </p:cNvSpPr>
          <p:nvPr>
            <p:ph sz="half" idx="2"/>
          </p:nvPr>
        </p:nvSpPr>
        <p:spPr>
          <a:xfrm>
            <a:off x="5105400" y="1143000"/>
            <a:ext cx="3962400" cy="5562600"/>
          </a:xfrm>
        </p:spPr>
        <p:txBody>
          <a:bodyPr>
            <a:normAutofit fontScale="85000" lnSpcReduction="20000"/>
          </a:bodyPr>
          <a:lstStyle/>
          <a:p>
            <a:pPr>
              <a:lnSpc>
                <a:spcPct val="110000"/>
              </a:lnSpc>
              <a:spcBef>
                <a:spcPts val="600"/>
              </a:spcBef>
            </a:pPr>
            <a:r>
              <a:rPr lang="en-US" dirty="0"/>
              <a:t>Vehicles</a:t>
            </a:r>
          </a:p>
          <a:p>
            <a:pPr lvl="1">
              <a:lnSpc>
                <a:spcPct val="110000"/>
              </a:lnSpc>
              <a:spcBef>
                <a:spcPts val="600"/>
              </a:spcBef>
            </a:pPr>
            <a:r>
              <a:rPr lang="en-US" dirty="0"/>
              <a:t>inanimate materials or objects involved in pathogen transmission</a:t>
            </a:r>
            <a:br>
              <a:rPr lang="en-US" dirty="0"/>
            </a:br>
            <a:endParaRPr lang="en-US" dirty="0"/>
          </a:p>
          <a:p>
            <a:pPr>
              <a:lnSpc>
                <a:spcPct val="110000"/>
              </a:lnSpc>
              <a:spcBef>
                <a:spcPts val="600"/>
              </a:spcBef>
            </a:pPr>
            <a:r>
              <a:rPr lang="en-US" dirty="0"/>
              <a:t>Common vehicle transmission</a:t>
            </a:r>
          </a:p>
          <a:p>
            <a:pPr lvl="1">
              <a:lnSpc>
                <a:spcPct val="110000"/>
              </a:lnSpc>
              <a:spcBef>
                <a:spcPts val="600"/>
              </a:spcBef>
            </a:pPr>
            <a:r>
              <a:rPr lang="en-US" dirty="0"/>
              <a:t>single vehicle spreads pathogen to multiple hosts</a:t>
            </a:r>
          </a:p>
          <a:p>
            <a:pPr lvl="1">
              <a:lnSpc>
                <a:spcPct val="110000"/>
              </a:lnSpc>
              <a:spcBef>
                <a:spcPts val="600"/>
              </a:spcBef>
            </a:pPr>
            <a:r>
              <a:rPr lang="en-US" dirty="0"/>
              <a:t>e.g., water and food</a:t>
            </a:r>
            <a:br>
              <a:rPr lang="en-US" dirty="0"/>
            </a:br>
            <a:endParaRPr lang="en-US" dirty="0"/>
          </a:p>
          <a:p>
            <a:pPr>
              <a:lnSpc>
                <a:spcPct val="110000"/>
              </a:lnSpc>
              <a:spcBef>
                <a:spcPts val="600"/>
              </a:spcBef>
            </a:pPr>
            <a:r>
              <a:rPr lang="en-US" dirty="0"/>
              <a:t>Fomites</a:t>
            </a:r>
          </a:p>
          <a:p>
            <a:pPr lvl="1">
              <a:lnSpc>
                <a:spcPct val="110000"/>
              </a:lnSpc>
              <a:spcBef>
                <a:spcPts val="600"/>
              </a:spcBef>
            </a:pPr>
            <a:r>
              <a:rPr lang="en-US" dirty="0"/>
              <a:t>common vehicles such as surgical instruments, bedding, and eating utensils</a:t>
            </a:r>
          </a:p>
          <a:p>
            <a:endParaRPr lang="en-US" dirty="0"/>
          </a:p>
        </p:txBody>
      </p:sp>
      <p:sp>
        <p:nvSpPr>
          <p:cNvPr id="4" name="Slide Number Placeholder 3"/>
          <p:cNvSpPr>
            <a:spLocks noGrp="1"/>
          </p:cNvSpPr>
          <p:nvPr>
            <p:ph type="sldNum" sz="quarter" idx="12"/>
          </p:nvPr>
        </p:nvSpPr>
        <p:spPr/>
        <p:txBody>
          <a:bodyPr/>
          <a:lstStyle/>
          <a:p>
            <a:fld id="{3B1A82D2-719A-4A87-BECB-D74482819C19}" type="slidenum">
              <a:rPr lang="en-US" smtClean="0"/>
              <a:pPr/>
              <a:t>44</a:t>
            </a:fld>
            <a:endParaRPr lang="en-US"/>
          </a:p>
        </p:txBody>
      </p:sp>
      <p:pic>
        <p:nvPicPr>
          <p:cNvPr id="16386" name="Picture 2" descr="Any inanimate object that transmits infectious agents to humans is referred to as a vehicle.  Illustrated here: water, contaminated drugs (pills or needles), cosmetics, and food." title="Figure 35.12 Common Vehicles of Microbial Contamination."/>
          <p:cNvPicPr>
            <a:picLocks noChangeAspect="1" noChangeArrowheads="1"/>
          </p:cNvPicPr>
          <p:nvPr/>
        </p:nvPicPr>
        <p:blipFill rotWithShape="1">
          <a:blip r:embed="rId2" cstate="print"/>
          <a:srcRect r="3165" b="35751"/>
          <a:stretch/>
        </p:blipFill>
        <p:spPr bwMode="auto">
          <a:xfrm>
            <a:off x="304800" y="1905000"/>
            <a:ext cx="4662376" cy="2971800"/>
          </a:xfrm>
          <a:prstGeom prst="rect">
            <a:avLst/>
          </a:prstGeom>
          <a:noFill/>
        </p:spPr>
      </p:pic>
    </p:spTree>
    <p:extLst>
      <p:ext uri="{BB962C8B-B14F-4D97-AF65-F5344CB8AC3E}">
        <p14:creationId xmlns:p14="http://schemas.microsoft.com/office/powerpoint/2010/main" val="23727743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Vector-Borne Transmission</a:t>
            </a:r>
          </a:p>
        </p:txBody>
      </p:sp>
      <p:sp>
        <p:nvSpPr>
          <p:cNvPr id="3" name="Content Placeholder 2"/>
          <p:cNvSpPr>
            <a:spLocks noGrp="1"/>
          </p:cNvSpPr>
          <p:nvPr>
            <p:ph idx="1"/>
          </p:nvPr>
        </p:nvSpPr>
        <p:spPr/>
        <p:txBody>
          <a:bodyPr/>
          <a:lstStyle/>
          <a:p>
            <a:pPr>
              <a:lnSpc>
                <a:spcPct val="90000"/>
              </a:lnSpc>
            </a:pPr>
            <a:r>
              <a:rPr lang="en-US" dirty="0"/>
              <a:t>External (mechanical) transmission</a:t>
            </a:r>
          </a:p>
          <a:p>
            <a:pPr lvl="1">
              <a:lnSpc>
                <a:spcPct val="90000"/>
              </a:lnSpc>
            </a:pPr>
            <a:r>
              <a:rPr lang="en-US" dirty="0"/>
              <a:t>passive carriage of pathogen on body of vector</a:t>
            </a:r>
          </a:p>
          <a:p>
            <a:pPr lvl="1">
              <a:lnSpc>
                <a:spcPct val="90000"/>
              </a:lnSpc>
            </a:pPr>
            <a:r>
              <a:rPr lang="en-US" dirty="0"/>
              <a:t>no growth of pathogen during transmission</a:t>
            </a:r>
            <a:br>
              <a:rPr lang="en-US" dirty="0"/>
            </a:br>
            <a:endParaRPr lang="en-US" dirty="0"/>
          </a:p>
          <a:p>
            <a:pPr>
              <a:lnSpc>
                <a:spcPct val="90000"/>
              </a:lnSpc>
            </a:pPr>
            <a:r>
              <a:rPr lang="en-US" dirty="0"/>
              <a:t>Internal transmission</a:t>
            </a:r>
          </a:p>
          <a:p>
            <a:pPr lvl="1">
              <a:lnSpc>
                <a:spcPct val="90000"/>
              </a:lnSpc>
            </a:pPr>
            <a:r>
              <a:rPr lang="en-US" dirty="0"/>
              <a:t>carried within vector</a:t>
            </a:r>
          </a:p>
          <a:p>
            <a:pPr lvl="1">
              <a:lnSpc>
                <a:spcPct val="90000"/>
              </a:lnSpc>
            </a:pPr>
            <a:r>
              <a:rPr lang="en-US" dirty="0"/>
              <a:t>harborage transmission – pathogen does not undergo changes within vector</a:t>
            </a:r>
          </a:p>
          <a:p>
            <a:pPr lvl="1">
              <a:lnSpc>
                <a:spcPct val="90000"/>
              </a:lnSpc>
            </a:pPr>
            <a:r>
              <a:rPr lang="en-US" dirty="0"/>
              <a:t>biologic transmission – pathogen undergoes changes within vector</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45</a:t>
            </a:fld>
            <a:endParaRPr lang="en-US"/>
          </a:p>
        </p:txBody>
      </p:sp>
    </p:spTree>
    <p:extLst>
      <p:ext uri="{BB962C8B-B14F-4D97-AF65-F5344CB8AC3E}">
        <p14:creationId xmlns:p14="http://schemas.microsoft.com/office/powerpoint/2010/main" val="23727743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Vertical Transmission</a:t>
            </a:r>
          </a:p>
        </p:txBody>
      </p:sp>
      <p:sp>
        <p:nvSpPr>
          <p:cNvPr id="3" name="Content Placeholder 2"/>
          <p:cNvSpPr>
            <a:spLocks noGrp="1"/>
          </p:cNvSpPr>
          <p:nvPr>
            <p:ph idx="1"/>
          </p:nvPr>
        </p:nvSpPr>
        <p:spPr>
          <a:xfrm>
            <a:off x="457200" y="1295400"/>
            <a:ext cx="8305800" cy="5181600"/>
          </a:xfrm>
        </p:spPr>
        <p:txBody>
          <a:bodyPr>
            <a:normAutofit lnSpcReduction="10000"/>
          </a:bodyPr>
          <a:lstStyle/>
          <a:p>
            <a:r>
              <a:rPr lang="en-US" dirty="0"/>
              <a:t>Occurs when the unborn child acquires a pathogen from an infected mother</a:t>
            </a:r>
            <a:br>
              <a:rPr lang="en-US" dirty="0"/>
            </a:br>
            <a:endParaRPr lang="en-US" dirty="0"/>
          </a:p>
          <a:p>
            <a:r>
              <a:rPr lang="en-US" dirty="0"/>
              <a:t>Not as common as horizontal transmission</a:t>
            </a:r>
            <a:br>
              <a:rPr lang="en-US" dirty="0"/>
            </a:br>
            <a:endParaRPr lang="en-US" dirty="0"/>
          </a:p>
          <a:p>
            <a:r>
              <a:rPr lang="en-US" dirty="0"/>
              <a:t>Babies born with an infectious disease are said to have a congenital infection</a:t>
            </a:r>
            <a:br>
              <a:rPr lang="en-US" dirty="0"/>
            </a:br>
            <a:endParaRPr lang="en-US" dirty="0"/>
          </a:p>
          <a:p>
            <a:r>
              <a:rPr lang="en-US" dirty="0"/>
              <a:t>Examples include</a:t>
            </a:r>
          </a:p>
          <a:p>
            <a:pPr lvl="1"/>
            <a:r>
              <a:rPr lang="en-US" dirty="0"/>
              <a:t>gonorrhea (especially in the eyes)</a:t>
            </a:r>
          </a:p>
          <a:p>
            <a:pPr lvl="1"/>
            <a:r>
              <a:rPr lang="en-US" dirty="0"/>
              <a:t>herpes</a:t>
            </a:r>
          </a:p>
          <a:p>
            <a:pPr lvl="1"/>
            <a:r>
              <a:rPr lang="en-US" dirty="0"/>
              <a:t>German measles (rubella)</a:t>
            </a:r>
          </a:p>
          <a:p>
            <a:pPr lvl="1"/>
            <a:r>
              <a:rPr lang="en-US" dirty="0"/>
              <a:t>toxoplasmosis</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46</a:t>
            </a:fld>
            <a:endParaRPr lang="en-US"/>
          </a:p>
        </p:txBody>
      </p:sp>
    </p:spTree>
    <p:extLst>
      <p:ext uri="{BB962C8B-B14F-4D97-AF65-F5344CB8AC3E}">
        <p14:creationId xmlns:p14="http://schemas.microsoft.com/office/powerpoint/2010/main" val="2372774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t>Take Home Message</a:t>
            </a:r>
          </a:p>
        </p:txBody>
      </p:sp>
      <p:sp>
        <p:nvSpPr>
          <p:cNvPr id="3" name="Content Placeholder 2"/>
          <p:cNvSpPr>
            <a:spLocks noGrp="1"/>
          </p:cNvSpPr>
          <p:nvPr>
            <p:ph idx="1"/>
          </p:nvPr>
        </p:nvSpPr>
        <p:spPr>
          <a:xfrm>
            <a:off x="457200" y="1371600"/>
            <a:ext cx="8229600" cy="5181600"/>
          </a:xfrm>
        </p:spPr>
        <p:txBody>
          <a:bodyPr/>
          <a:lstStyle/>
          <a:p>
            <a:r>
              <a:rPr lang="en-US" dirty="0"/>
              <a:t>If you understand the basic idea of the chain of infection, you can categorize and better understand any disease</a:t>
            </a:r>
            <a:br>
              <a:rPr lang="en-US" dirty="0"/>
            </a:br>
            <a:endParaRPr lang="en-US" dirty="0"/>
          </a:p>
          <a:p>
            <a:r>
              <a:rPr lang="en-US" dirty="0"/>
              <a:t>Understanding where the weak links in the chain of infection lie allow you to break those links</a:t>
            </a:r>
            <a:br>
              <a:rPr lang="en-US" dirty="0"/>
            </a:br>
            <a:endParaRPr lang="en-US" dirty="0"/>
          </a:p>
          <a:p>
            <a:r>
              <a:rPr lang="en-US" dirty="0"/>
              <a:t>When you work with this material, try to think forward to different disease states, using them for examples – ask yourself what would be the easiest way to “break the chain of infection” and control a disease state</a:t>
            </a:r>
          </a:p>
        </p:txBody>
      </p:sp>
      <p:sp>
        <p:nvSpPr>
          <p:cNvPr id="4" name="Slide Number Placeholder 3"/>
          <p:cNvSpPr>
            <a:spLocks noGrp="1"/>
          </p:cNvSpPr>
          <p:nvPr>
            <p:ph type="sldNum" sz="quarter" idx="12"/>
          </p:nvPr>
        </p:nvSpPr>
        <p:spPr/>
        <p:txBody>
          <a:bodyPr/>
          <a:lstStyle/>
          <a:p>
            <a:fld id="{3B1A82D2-719A-4A87-BECB-D74482819C19}" type="slidenum">
              <a:rPr lang="en-US" smtClean="0"/>
              <a:pPr/>
              <a:t>47</a:t>
            </a:fld>
            <a:endParaRPr lang="en-US"/>
          </a:p>
        </p:txBody>
      </p:sp>
    </p:spTree>
    <p:extLst>
      <p:ext uri="{BB962C8B-B14F-4D97-AF65-F5344CB8AC3E}">
        <p14:creationId xmlns:p14="http://schemas.microsoft.com/office/powerpoint/2010/main" val="23727743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1"/>
  <p:tag name="MMPROD_UIDATA" val="&lt;database version=&quot;6.0&quot;&gt;&lt;object type=&quot;1&quot; unique_id=&quot;10001&quot;&gt;&lt;object type=&quot;8&quot; unique_id=&quot;10753&quot;&gt;&lt;/object&gt;&lt;object type=&quot;2&quot; unique_id=&quot;10754&quot;&gt;&lt;object type=&quot;3&quot; unique_id=&quot;10755&quot;&gt;&lt;property id=&quot;20148&quot; value=&quot;5&quot;/&gt;&lt;property id=&quot;20300&quot; value=&quot;Slide 1 - &amp;quot;Chapter 35 – Pathogenicity and Infection&amp;quot;&quot;/&gt;&lt;property id=&quot;20307&quot; value=&quot;256&quot;/&gt;&lt;/object&gt;&lt;object type=&quot;3&quot; unique_id=&quot;10756&quot;&gt;&lt;property id=&quot;20148&quot; value=&quot;5&quot;/&gt;&lt;property id=&quot;20300&quot; value=&quot;Slide 2 - &amp;quot;35.1 Pathogenicity Drives Infectious Disease&amp;quot;&quot;/&gt;&lt;property id=&quot;20307&quot; value=&quot;257&quot;/&gt;&lt;/object&gt;&lt;object type=&quot;3&quot; unique_id=&quot;10757&quot;&gt;&lt;property id=&quot;20148&quot; value=&quot;5&quot;/&gt;&lt;property id=&quot;20300&quot; value=&quot;Slide 3 - &amp;quot;Pathogenicity and &amp;#x0D;&amp;#x0A;Infectious Disease&amp;quot;&quot;/&gt;&lt;property id=&quot;20307&quot; value=&quot;258&quot;/&gt;&lt;/object&gt;&lt;object type=&quot;3&quot; unique_id=&quot;10758&quot;&gt;&lt;property id=&quot;20148&quot; value=&quot;5&quot;/&gt;&lt;property id=&quot;20300&quot; value=&quot;Slide 4 - &amp;quot;Pathogenicity and Infectious Disease&amp;quot;&quot;/&gt;&lt;property id=&quot;20307&quot; value=&quot;259&quot;/&gt;&lt;/object&gt;&lt;object type=&quot;3&quot; unique_id=&quot;10759&quot;&gt;&lt;property id=&quot;20148&quot; value=&quot;5&quot;/&gt;&lt;property id=&quot;20300&quot; value=&quot;Slide 5 - &amp;quot;The Chain of Infection&amp;quot;&quot;/&gt;&lt;property id=&quot;20307&quot; value=&quot;260&quot;/&gt;&lt;/object&gt;&lt;object type=&quot;3&quot; unique_id=&quot;10760&quot;&gt;&lt;property id=&quot;20148&quot; value=&quot;5&quot;/&gt;&lt;property id=&quot;20300&quot; value=&quot;Slide 6 - &amp;quot;Sources of Pathogens&amp;quot;&quot;/&gt;&lt;property id=&quot;20307&quot; value=&quot;261&quot;/&gt;&lt;/object&gt;&lt;object type=&quot;3&quot; unique_id=&quot;10761&quot;&gt;&lt;property id=&quot;20148&quot; value=&quot;5&quot;/&gt;&lt;property id=&quot;20300&quot; value=&quot;Slide 7 - &amp;quot;Infectious Process&amp;quot;&quot;/&gt;&lt;property id=&quot;20307&quot; value=&quot;264&quot;/&gt;&lt;/object&gt;&lt;object type=&quot;3&quot; unique_id=&quot;10762&quot;&gt;&lt;property id=&quot;20148&quot; value=&quot;5&quot;/&gt;&lt;property id=&quot;20300&quot; value=&quot;Slide 8 - &amp;quot;Toxigenicity&amp;quot;&quot;/&gt;&lt;property id=&quot;20307&quot; value=&quot;265&quot;/&gt;&lt;/object&gt;&lt;object type=&quot;3&quot; unique_id=&quot;10763&quot;&gt;&lt;property id=&quot;20148&quot; value=&quot;5&quot;/&gt;&lt;property id=&quot;20300&quot; value=&quot;Slide 9 - &amp;quot;Course of Infectious Disease – Important Terms&amp;quot;&quot;/&gt;&lt;property id=&quot;20307&quot; value=&quot;266&quot;/&gt;&lt;/object&gt;&lt;object type=&quot;3&quot; unique_id=&quot;10764&quot;&gt;&lt;property id=&quot;20148&quot; value=&quot;5&quot;/&gt;&lt;property id=&quot;20300&quot; value=&quot;Slide 10 - &amp;quot;Timecourse of Infectious Disease&amp;quot;&quot;/&gt;&lt;property id=&quot;20307&quot; value=&quot;267&quot;/&gt;&lt;/object&gt;&lt;object type=&quot;3&quot; unique_id=&quot;10765&quot;&gt;&lt;property id=&quot;20148&quot; value=&quot;5&quot;/&gt;&lt;property id=&quot;20300&quot; value=&quot;Slide 11 - &amp;quot;Infectious Dose&amp;quot;&quot;/&gt;&lt;property id=&quot;20307&quot; value=&quot;305&quot;/&gt;&lt;/object&gt;&lt;object type=&quot;3&quot; unique_id=&quot;10766&quot;&gt;&lt;property id=&quot;20148&quot; value=&quot;5&quot;/&gt;&lt;property id=&quot;20300&quot; value=&quot;Slide 12 - &amp;quot;Lethal Dose&amp;quot;&quot;/&gt;&lt;property id=&quot;20307&quot; value=&quot;306&quot;/&gt;&lt;/object&gt;&lt;object type=&quot;3&quot; unique_id=&quot;10767&quot;&gt;&lt;property id=&quot;20148&quot; value=&quot;5&quot;/&gt;&lt;property id=&quot;20300&quot; value=&quot;Slide 13 - &amp;quot;Host Susceptibility&amp;quot;&quot;/&gt;&lt;property id=&quot;20307&quot; value=&quot;308&quot;/&gt;&lt;/object&gt;&lt;object type=&quot;3&quot; unique_id=&quot;10768&quot;&gt;&lt;property id=&quot;20148&quot; value=&quot;5&quot;/&gt;&lt;property id=&quot;20300&quot; value=&quot;Slide 14 - &amp;quot;Growth Rate – Extracellular vs. Intracellular Pathogens&amp;quot;&quot;/&gt;&lt;property id=&quot;20307&quot; value=&quot;307&quot;/&gt;&lt;/object&gt;&lt;object type=&quot;3&quot; unique_id=&quot;10769&quot;&gt;&lt;property id=&quot;20148&quot; value=&quot;5&quot;/&gt;&lt;property id=&quot;20300&quot; value=&quot;Slide 15 - &amp;quot;35.2 Virulence Defines a Pathogen’s Success&amp;quot;&quot;/&gt;&lt;property id=&quot;20307&quot; value=&quot;268&quot;/&gt;&lt;/object&gt;&lt;object type=&quot;3&quot; unique_id=&quot;10770&quot;&gt;&lt;property id=&quot;20148&quot; value=&quot;5&quot;/&gt;&lt;property id=&quot;20300&quot; value=&quot;Slide 16 - &amp;quot;Virulence&amp;quot;&quot;/&gt;&lt;property id=&quot;20307&quot; value=&quot;269&quot;/&gt;&lt;/object&gt;&lt;object type=&quot;3&quot; unique_id=&quot;10771&quot;&gt;&lt;property id=&quot;20148&quot; value=&quot;5&quot;/&gt;&lt;property id=&quot;20300&quot; value=&quot;Slide 17 - &amp;quot;Pathogenicity Islands&amp;quot;&quot;/&gt;&lt;property id=&quot;20307&quot; value=&quot;270&quot;/&gt;&lt;/object&gt;&lt;object type=&quot;3&quot; unique_id=&quot;10772&quot;&gt;&lt;property id=&quot;20148&quot; value=&quot;5&quot;/&gt;&lt;property id=&quot;20300&quot; value=&quot;Slide 18 - &amp;quot;Examples of Pathogenicity Islands&amp;quot;&quot;/&gt;&lt;property id=&quot;20307&quot; value=&quot;271&quot;/&gt;&lt;/object&gt;&lt;object type=&quot;3&quot; unique_id=&quot;10773&quot;&gt;&lt;property id=&quot;20148&quot; value=&quot;5&quot;/&gt;&lt;property id=&quot;20300&quot; value=&quot;Slide 19 - &amp;quot;Virulence Factors&amp;quot;&quot;/&gt;&lt;property id=&quot;20307&quot; value=&quot;272&quot;/&gt;&lt;/object&gt;&lt;object type=&quot;3&quot; unique_id=&quot;10774&quot;&gt;&lt;property id=&quot;20148&quot; value=&quot;5&quot;/&gt;&lt;property id=&quot;20300&quot; value=&quot;Slide 20 - &amp;quot;Adherence and Colonization&amp;quot;&quot;/&gt;&lt;property id=&quot;20307&quot; value=&quot;273&quot;/&gt;&lt;/object&gt;&lt;object type=&quot;3&quot; unique_id=&quot;10775&quot;&gt;&lt;property id=&quot;20148&quot; value=&quot;5&quot;/&gt;&lt;property id=&quot;20300&quot; value=&quot;Slide 21 - &amp;quot;Attachment and Colonization &amp;quot;&quot;/&gt;&lt;property id=&quot;20307&quot; value=&quot;274&quot;/&gt;&lt;/object&gt;&lt;object type=&quot;3&quot; unique_id=&quot;10776&quot;&gt;&lt;property id=&quot;20148&quot; value=&quot;5&quot;/&gt;&lt;property id=&quot;20300&quot; value=&quot;Slide 22 - &amp;quot;Invasion&amp;quot;&quot;/&gt;&lt;property id=&quot;20307&quot; value=&quot;275&quot;/&gt;&lt;/object&gt;&lt;object type=&quot;3&quot; unique_id=&quot;10777&quot;&gt;&lt;property id=&quot;20148&quot; value=&quot;5&quot;/&gt;&lt;property id=&quot;20300&quot; value=&quot;Slide 23 - &amp;quot;Microbial Invasion Virulence Factors&amp;quot;&quot;/&gt;&lt;property id=&quot;20307&quot; value=&quot;276&quot;/&gt;&lt;/object&gt;&lt;object type=&quot;3&quot; unique_id=&quot;10778&quot;&gt;&lt;property id=&quot;20148&quot; value=&quot;5&quot;/&gt;&lt;property id=&quot;20300&quot; value=&quot;Slide 24 - &amp;quot;Invasion – Specific Examples&amp;quot;&quot;/&gt;&lt;property id=&quot;20307&quot; value=&quot;277&quot;/&gt;&lt;/object&gt;&lt;object type=&quot;3&quot; unique_id=&quot;10779&quot;&gt;&lt;property id=&quot;20148&quot; value=&quot;5&quot;/&gt;&lt;property id=&quot;20300&quot; value=&quot;Slide 25 - &amp;quot;Exotoxins&amp;quot;&quot;/&gt;&lt;property id=&quot;20307&quot; value=&quot;278&quot;/&gt;&lt;/object&gt;&lt;object type=&quot;3&quot; unique_id=&quot;10780&quot;&gt;&lt;property id=&quot;20148&quot; value=&quot;5&quot;/&gt;&lt;property id=&quot;20300&quot; value=&quot;Slide 26 - &amp;quot;Exotoxins - 2&amp;quot;&quot;/&gt;&lt;property id=&quot;20307&quot; value=&quot;309&quot;/&gt;&lt;/object&gt;&lt;object type=&quot;3&quot; unique_id=&quot;10781&quot;&gt;&lt;property id=&quot;20148&quot; value=&quot;5&quot;/&gt;&lt;property id=&quot;20300&quot; value=&quot;Slide 27 - &amp;quot;Types of Exotoxins&amp;quot;&quot;/&gt;&lt;property id=&quot;20307&quot; value=&quot;279&quot;/&gt;&lt;/object&gt;&lt;object type=&quot;3&quot; unique_id=&quot;10782&quot;&gt;&lt;property id=&quot;20148&quot; value=&quot;5&quot;/&gt;&lt;property id=&quot;20300&quot; value=&quot;Slide 28 - &amp;quot;Exotoxins Produced By Human Pathogens&amp;quot;&quot;/&gt;&lt;property id=&quot;20307&quot; value=&quot;280&quot;/&gt;&lt;/object&gt;&lt;object type=&quot;3&quot; unique_id=&quot;10783&quot;&gt;&lt;property id=&quot;20148&quot; value=&quot;5&quot;/&gt;&lt;property id=&quot;20300&quot; value=&quot;Slide 29 - &amp;quot;Superantigens&amp;quot;&quot;/&gt;&lt;property id=&quot;20307&quot; value=&quot;281&quot;/&gt;&lt;/object&gt;&lt;object type=&quot;3&quot; unique_id=&quot;10784&quot;&gt;&lt;property id=&quot;20148&quot; value=&quot;5&quot;/&gt;&lt;property id=&quot;20300&quot; value=&quot;Slide 30 - &amp;quot;Endotoxin - Lipopolysaccharide&amp;quot;&quot;/&gt;&lt;property id=&quot;20307&quot; value=&quot;282&quot;/&gt;&lt;/object&gt;&lt;object type=&quot;3&quot; unique_id=&quot;10785&quot;&gt;&lt;property id=&quot;20148&quot; value=&quot;5&quot;/&gt;&lt;property id=&quot;20300&quot; value=&quot;Slide 31 - &amp;quot;The Septic Shock Cascade&amp;quot;&quot;/&gt;&lt;property id=&quot;20307&quot; value=&quot;283&quot;/&gt;&lt;/object&gt;&lt;object type=&quot;3&quot; unique_id=&quot;10786&quot;&gt;&lt;property id=&quot;20148&quot; value=&quot;5&quot;/&gt;&lt;property id=&quot;20300&quot; value=&quot;Slide 32 - &amp;quot;Endotoxins: General Features&amp;quot;&quot;/&gt;&lt;property id=&quot;20307&quot; value=&quot;284&quot;/&gt;&lt;/object&gt;&lt;object type=&quot;3&quot; unique_id=&quot;10787&quot;&gt;&lt;property id=&quot;20148&quot; value=&quot;5&quot;/&gt;&lt;property id=&quot;20300&quot; value=&quot;Slide 33 - &amp;quot;Endotoxins: General Features – 2 &amp;quot;&quot;/&gt;&lt;property id=&quot;20307&quot; value=&quot;310&quot;/&gt;&lt;/object&gt;&lt;object type=&quot;3&quot; unique_id=&quot;10788&quot;&gt;&lt;property id=&quot;20148&quot; value=&quot;5&quot;/&gt;&lt;property id=&quot;20300&quot; value=&quot;Slide 34 - &amp;quot;Mycotoxins&amp;quot;&quot;/&gt;&lt;property id=&quot;20307&quot; value=&quot;286&quot;/&gt;&lt;/object&gt;&lt;object type=&quot;3&quot; unique_id=&quot;10789&quot;&gt;&lt;property id=&quot;20148&quot; value=&quot;5&quot;/&gt;&lt;property id=&quot;20300&quot; value=&quot;Slide 35 - &amp;quot;Biofilm Development&amp;quot;&quot;/&gt;&lt;property id=&quot;20307&quot; value=&quot;287&quot;/&gt;&lt;/object&gt;&lt;object type=&quot;3&quot; unique_id=&quot;10790&quot;&gt;&lt;property id=&quot;20148&quot; value=&quot;5&quot;/&gt;&lt;property id=&quot;20300&quot; value=&quot;Slide 36 - &amp;quot;Resisting Host Defenses&amp;quot;&quot;/&gt;&lt;property id=&quot;20307&quot; value=&quot;288&quot;/&gt;&lt;/object&gt;&lt;object type=&quot;3&quot; unique_id=&quot;10791&quot;&gt;&lt;property id=&quot;20148&quot; value=&quot;5&quot;/&gt;&lt;property id=&quot;20300&quot; value=&quot;Slide 37 - &amp;quot;More Ways of Resisting Host Defenses&amp;quot;&quot;/&gt;&lt;property id=&quot;20307&quot; value=&quot;290&quot;/&gt;&lt;/object&gt;&lt;object type=&quot;3&quot; unique_id=&quot;10792&quot;&gt;&lt;property id=&quot;20148&quot; value=&quot;5&quot;/&gt;&lt;property id=&quot;20300&quot; value=&quot;Slide 38 - &amp;quot;35.3 Exposure and Transmission Can Lead to Infectious Disease&amp;quot;&quot;/&gt;&lt;property id=&quot;20307&quot; value=&quot;291&quot;/&gt;&lt;/object&gt;&lt;object type=&quot;3&quot; unique_id=&quot;10793&quot;&gt;&lt;property id=&quot;20148&quot; value=&quot;5&quot;/&gt;&lt;property id=&quot;20300&quot; value=&quot;Slide 39 - &amp;quot;Pathogen Transmission&amp;quot;&quot;/&gt;&lt;property id=&quot;20307&quot; value=&quot;292&quot;/&gt;&lt;/object&gt;&lt;object type=&quot;3&quot; unique_id=&quot;10794&quot;&gt;&lt;property id=&quot;20148&quot; value=&quot;5&quot;/&gt;&lt;property id=&quot;20300&quot; value=&quot;Slide 40 - &amp;quot;Transmission of Infectious Diseases&amp;quot;&quot;/&gt;&lt;property id=&quot;20307&quot; value=&quot;293&quot;/&gt;&lt;/object&gt;&lt;object type=&quot;3&quot; unique_id=&quot;10795&quot;&gt;&lt;property id=&quot;20148&quot; value=&quot;5&quot;/&gt;&lt;property id=&quot;20300&quot; value=&quot;Slide 41 - &amp;quot;Pathogen Transmission – Main Modes&amp;quot;&quot;/&gt;&lt;property id=&quot;20307&quot; value=&quot;294&quot;/&gt;&lt;/object&gt;&lt;object type=&quot;3&quot; unique_id=&quot;10796&quot;&gt;&lt;property id=&quot;20148&quot; value=&quot;5&quot;/&gt;&lt;property id=&quot;20300&quot; value=&quot;Slide 42 - &amp;quot;Airborne Transmission&amp;quot;&quot;/&gt;&lt;property id=&quot;20307&quot; value=&quot;295&quot;/&gt;&lt;/object&gt;&lt;object type=&quot;3&quot; unique_id=&quot;10797&quot;&gt;&lt;property id=&quot;20148&quot; value=&quot;5&quot;/&gt;&lt;property id=&quot;20300&quot; value=&quot;Slide 43 - &amp;quot;Contact Transmission&amp;quot;&quot;/&gt;&lt;property id=&quot;20307&quot; value=&quot;296&quot;/&gt;&lt;/object&gt;&lt;object type=&quot;3&quot; unique_id=&quot;10798&quot;&gt;&lt;property id=&quot;20148&quot; value=&quot;5&quot;/&gt;&lt;property id=&quot;20300&quot; value=&quot;Slide 44 - &amp;quot;Vehicle Transmission&amp;quot;&quot;/&gt;&lt;property id=&quot;20307&quot; value=&quot;297&quot;/&gt;&lt;/object&gt;&lt;object type=&quot;3&quot; unique_id=&quot;10799&quot;&gt;&lt;property id=&quot;20148&quot; value=&quot;5&quot;/&gt;&lt;property id=&quot;20300&quot; value=&quot;Slide 45 - &amp;quot;Vector-Borne Transmission&amp;quot;&quot;/&gt;&lt;property id=&quot;20307&quot; value=&quot;298&quot;/&gt;&lt;/object&gt;&lt;object type=&quot;3&quot; unique_id=&quot;10800&quot;&gt;&lt;property id=&quot;20148&quot; value=&quot;5&quot;/&gt;&lt;property id=&quot;20300&quot; value=&quot;Slide 46 - &amp;quot;Vertical Transmission&amp;quot;&quot;/&gt;&lt;property id=&quot;20307&quot; value=&quot;299&quot;/&gt;&lt;/object&gt;&lt;object type=&quot;3&quot; unique_id=&quot;10801&quot;&gt;&lt;property id=&quot;20148&quot; value=&quot;5&quot;/&gt;&lt;property id=&quot;20300&quot; value=&quot;Slide 47 - &amp;quot;Take Home Message&amp;quot;&quot;/&gt;&lt;property id=&quot;20307&quot; value=&quot;304&quot;/&gt;&lt;/object&gt;&lt;/object&gt;&lt;/object&gt;&lt;/database&gt;"/>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2200</Words>
  <Application>Microsoft Office PowerPoint</Application>
  <PresentationFormat>On-screen Show (4:3)</PresentationFormat>
  <Paragraphs>363</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Tahoma</vt:lpstr>
      <vt:lpstr>Office Theme</vt:lpstr>
      <vt:lpstr>Chapter 35 – Pathogenicity and Infection</vt:lpstr>
      <vt:lpstr>35.1 Pathogenicity Drives Infectious Disease</vt:lpstr>
      <vt:lpstr>Pathogenicity and  Infectious Disease</vt:lpstr>
      <vt:lpstr>Pathogenicity and Infectious Disease</vt:lpstr>
      <vt:lpstr>The Chain of Infection</vt:lpstr>
      <vt:lpstr>Sources of Pathogens</vt:lpstr>
      <vt:lpstr>Infectious Process</vt:lpstr>
      <vt:lpstr>Toxigenicity</vt:lpstr>
      <vt:lpstr>Course of Infectious Disease – Important Terms</vt:lpstr>
      <vt:lpstr>Timecourse of Infectious Disease</vt:lpstr>
      <vt:lpstr>Infectious Dose</vt:lpstr>
      <vt:lpstr>Lethal Dose</vt:lpstr>
      <vt:lpstr>Host Susceptibility</vt:lpstr>
      <vt:lpstr>Growth Rate – Extracellular vs. Intracellular Pathogens</vt:lpstr>
      <vt:lpstr>35.2 Virulence Defines a Pathogen’s Success</vt:lpstr>
      <vt:lpstr>Virulence</vt:lpstr>
      <vt:lpstr>Pathogenicity Islands</vt:lpstr>
      <vt:lpstr>Examples of Pathogenicity Islands</vt:lpstr>
      <vt:lpstr>Virulence Factors</vt:lpstr>
      <vt:lpstr>Adherence and Colonization</vt:lpstr>
      <vt:lpstr>Attachment and Colonization </vt:lpstr>
      <vt:lpstr>Invasion</vt:lpstr>
      <vt:lpstr>Microbial Invasion Virulence Factors</vt:lpstr>
      <vt:lpstr>Invasion – Specific Examples</vt:lpstr>
      <vt:lpstr>Exotoxins</vt:lpstr>
      <vt:lpstr>Exotoxins - 2</vt:lpstr>
      <vt:lpstr>Types of Exotoxins</vt:lpstr>
      <vt:lpstr>Exotoxins Produced By Human Pathogens</vt:lpstr>
      <vt:lpstr>Superantigens</vt:lpstr>
      <vt:lpstr>Endotoxin - Lipopolysaccharide</vt:lpstr>
      <vt:lpstr>The Septic Shock Cascade</vt:lpstr>
      <vt:lpstr>Endotoxins: General Features</vt:lpstr>
      <vt:lpstr>Endotoxins: General Features – 2 </vt:lpstr>
      <vt:lpstr>Mycotoxins</vt:lpstr>
      <vt:lpstr>Biofilm Development</vt:lpstr>
      <vt:lpstr>Resisting Host Defenses</vt:lpstr>
      <vt:lpstr>More Ways of Resisting Host Defenses</vt:lpstr>
      <vt:lpstr>35.3 Exposure and Transmission Can Lead to Infectious Disease</vt:lpstr>
      <vt:lpstr>Pathogen Transmission</vt:lpstr>
      <vt:lpstr>Transmission of Infectious Diseases</vt:lpstr>
      <vt:lpstr>Pathogen Transmission – Main Modes</vt:lpstr>
      <vt:lpstr>Airborne Transmission</vt:lpstr>
      <vt:lpstr>Contact Transmission</vt:lpstr>
      <vt:lpstr>Vehicle Transmission</vt:lpstr>
      <vt:lpstr>Vector-Borne Transmission</vt:lpstr>
      <vt:lpstr>Vertical Transmission</vt:lpstr>
      <vt:lpstr>Take Home Message</vt:lpstr>
    </vt:vector>
  </TitlesOfParts>
  <Company>University of Central Arkansas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Ben</dc:creator>
  <cp:lastModifiedBy>Homa Darmani</cp:lastModifiedBy>
  <cp:revision>30</cp:revision>
  <dcterms:created xsi:type="dcterms:W3CDTF">2016-01-04T02:13:32Z</dcterms:created>
  <dcterms:modified xsi:type="dcterms:W3CDTF">2022-12-24T09:18:37Z</dcterms:modified>
</cp:coreProperties>
</file>