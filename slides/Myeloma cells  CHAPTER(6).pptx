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-552" y="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B121-1673-4555-8709-B6AFDEC467DD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587D-1E54-427E-9AD4-ED117399C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45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B121-1673-4555-8709-B6AFDEC467DD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587D-1E54-427E-9AD4-ED117399C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83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B121-1673-4555-8709-B6AFDEC467DD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587D-1E54-427E-9AD4-ED117399C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B121-1673-4555-8709-B6AFDEC467DD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587D-1E54-427E-9AD4-ED117399C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0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B121-1673-4555-8709-B6AFDEC467DD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587D-1E54-427E-9AD4-ED117399C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90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B121-1673-4555-8709-B6AFDEC467DD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587D-1E54-427E-9AD4-ED117399C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7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B121-1673-4555-8709-B6AFDEC467DD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587D-1E54-427E-9AD4-ED117399C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90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B121-1673-4555-8709-B6AFDEC467DD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587D-1E54-427E-9AD4-ED117399C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70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B121-1673-4555-8709-B6AFDEC467DD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587D-1E54-427E-9AD4-ED117399C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48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B121-1673-4555-8709-B6AFDEC467DD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587D-1E54-427E-9AD4-ED117399C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504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B121-1673-4555-8709-B6AFDEC467DD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587D-1E54-427E-9AD4-ED117399C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6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8B121-1673-4555-8709-B6AFDEC467DD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F587D-1E54-427E-9AD4-ED117399C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91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CNtKrxlZPs" TargetMode="External"/><Relationship Id="rId2" Type="http://schemas.openxmlformats.org/officeDocument/2006/relationships/hyperlink" Target="https://www.youtube.com/watch?v=CMRKKl9XS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Characteristics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Myeloma is a neoplasm of Ab-producing cells </a:t>
            </a:r>
          </a:p>
          <a:p>
            <a:pPr marL="0" indent="0">
              <a:buNone/>
            </a:pPr>
            <a:r>
              <a:rPr lang="en-US" dirty="0" smtClean="0"/>
              <a:t>Characteristics:</a:t>
            </a:r>
          </a:p>
          <a:p>
            <a:pPr marL="514350" indent="-514350">
              <a:buAutoNum type="alphaLcPeriod"/>
            </a:pPr>
            <a:r>
              <a:rPr lang="en-US" dirty="0" smtClean="0"/>
              <a:t>Immortal</a:t>
            </a:r>
          </a:p>
          <a:p>
            <a:pPr marL="514350" indent="-514350">
              <a:buAutoNum type="alphaLcPeriod"/>
            </a:pPr>
            <a:r>
              <a:rPr lang="en-US" dirty="0" smtClean="0"/>
              <a:t>HGPRT-</a:t>
            </a:r>
          </a:p>
          <a:p>
            <a:pPr marL="514350" indent="-514350">
              <a:buAutoNum type="alphaLcPeriod"/>
            </a:pPr>
            <a:r>
              <a:rPr lang="en-US" dirty="0" smtClean="0"/>
              <a:t>Nonproducing and </a:t>
            </a:r>
            <a:r>
              <a:rPr lang="en-US" dirty="0" err="1" smtClean="0"/>
              <a:t>nonsecreting</a:t>
            </a:r>
            <a:r>
              <a:rPr lang="en-US" dirty="0" smtClean="0"/>
              <a:t> Abs</a:t>
            </a:r>
          </a:p>
          <a:p>
            <a:r>
              <a:rPr lang="en-US" dirty="0" smtClean="0"/>
              <a:t>The isolation of HGPRT- myeloma is easy because the E is coded for on the single active x chromosome present in each cell. A single mutation is required . </a:t>
            </a:r>
          </a:p>
          <a:p>
            <a:r>
              <a:rPr lang="en-US" dirty="0" smtClean="0"/>
              <a:t>Selection of HGPRT- cells is carried out in the presence of the toxic 8-azaguanine or 6-thioguanine which are incorporated into DNA via HGPRT . </a:t>
            </a:r>
          </a:p>
          <a:p>
            <a:r>
              <a:rPr lang="en-US" dirty="0" smtClean="0"/>
              <a:t>The cell line are readily available commercially</a:t>
            </a:r>
          </a:p>
          <a:p>
            <a:pPr marL="0" indent="0">
              <a:buNone/>
            </a:pPr>
            <a:r>
              <a:rPr lang="en-US" dirty="0" smtClean="0"/>
              <a:t>Internationally, The SP2/0-Ag14 or SP2 or NS-1 are commonly used  murine </a:t>
            </a:r>
          </a:p>
          <a:p>
            <a:pPr marL="0" indent="0">
              <a:buNone/>
            </a:pPr>
            <a:r>
              <a:rPr lang="en-US" dirty="0" smtClean="0"/>
              <a:t>myeloma cells for </a:t>
            </a:r>
            <a:r>
              <a:rPr lang="en-US" dirty="0" err="1" smtClean="0"/>
              <a:t>hybridoma</a:t>
            </a:r>
            <a:r>
              <a:rPr lang="en-US" dirty="0" smtClean="0"/>
              <a:t> production while Lou/c is a rat cell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002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86841" y="-695957"/>
            <a:ext cx="8696963" cy="8239761"/>
          </a:xfrm>
        </p:spPr>
      </p:pic>
    </p:spTree>
    <p:extLst>
      <p:ext uri="{BB962C8B-B14F-4D97-AF65-F5344CB8AC3E}">
        <p14:creationId xmlns:p14="http://schemas.microsoft.com/office/powerpoint/2010/main" val="44375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Human myeloma cells</a:t>
            </a:r>
          </a:p>
          <a:p>
            <a:r>
              <a:rPr lang="en-US" dirty="0" smtClean="0"/>
              <a:t>The search is hampered  by: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a. source of highly sensitized immune lymphocytes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b. human myelomas are difficult to establish in tissue culture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b="1" dirty="0" smtClean="0">
                <a:solidFill>
                  <a:srgbClr val="FF0000"/>
                </a:solidFill>
              </a:rPr>
              <a:t>-</a:t>
            </a:r>
            <a:r>
              <a:rPr lang="en-US" dirty="0" smtClean="0"/>
              <a:t>have abundant RER, mitochondria and Golgi associated with high Ig production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b="1" dirty="0" smtClean="0">
                <a:solidFill>
                  <a:srgbClr val="FF0000"/>
                </a:solidFill>
              </a:rPr>
              <a:t>-</a:t>
            </a:r>
            <a:r>
              <a:rPr lang="en-US" dirty="0" smtClean="0"/>
              <a:t>Do not carry EBV and are </a:t>
            </a:r>
            <a:r>
              <a:rPr lang="en-US" dirty="0" err="1" smtClean="0"/>
              <a:t>aneuploid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b="1" dirty="0" smtClean="0">
                <a:solidFill>
                  <a:srgbClr val="FF0000"/>
                </a:solidFill>
              </a:rPr>
              <a:t>-</a:t>
            </a:r>
            <a:r>
              <a:rPr lang="en-US" dirty="0" smtClean="0"/>
              <a:t>doubling time in culture is about 70 </a:t>
            </a:r>
            <a:r>
              <a:rPr lang="en-US" dirty="0" err="1" smtClean="0"/>
              <a:t>hrs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18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9157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Maintenance of Myeloma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/>
          <a:lstStyle/>
          <a:p>
            <a:r>
              <a:rPr lang="en-US" dirty="0" smtClean="0"/>
              <a:t>50 ml in TC flask of complete media 10%FCS, 5% CO2, 37</a:t>
            </a:r>
            <a:r>
              <a:rPr lang="en-US" baseline="30000" dirty="0" smtClean="0"/>
              <a:t>0</a:t>
            </a:r>
            <a:r>
              <a:rPr lang="en-US" dirty="0" smtClean="0"/>
              <a:t>C</a:t>
            </a:r>
          </a:p>
          <a:p>
            <a:r>
              <a:rPr lang="en-US" dirty="0" smtClean="0"/>
              <a:t>Density 10</a:t>
            </a:r>
            <a:r>
              <a:rPr lang="en-US" baseline="30000" dirty="0" smtClean="0"/>
              <a:t>5</a:t>
            </a:r>
            <a:r>
              <a:rPr lang="en-US" dirty="0" smtClean="0"/>
              <a:t>- 5x10</a:t>
            </a:r>
            <a:r>
              <a:rPr lang="en-US" baseline="30000" dirty="0" smtClean="0"/>
              <a:t>6</a:t>
            </a:r>
            <a:r>
              <a:rPr lang="en-US" dirty="0" smtClean="0"/>
              <a:t>  cells/ml</a:t>
            </a:r>
          </a:p>
          <a:p>
            <a:r>
              <a:rPr lang="en-US" dirty="0" smtClean="0"/>
              <a:t>Doubling time 12-18 h</a:t>
            </a:r>
          </a:p>
          <a:p>
            <a:r>
              <a:rPr lang="en-US" dirty="0" smtClean="0"/>
              <a:t>Should be diluted in fresh medium and distributed to additional flasks</a:t>
            </a:r>
          </a:p>
          <a:p>
            <a:r>
              <a:rPr lang="en-US" dirty="0" smtClean="0"/>
              <a:t>Medium should never be poured from the flask</a:t>
            </a:r>
          </a:p>
          <a:p>
            <a:r>
              <a:rPr lang="en-US" dirty="0" smtClean="0"/>
              <a:t>It is inadvisable to maintain myeloma cells in culture indefinitely since they are prone to spontaneous mutations and revert to HGPRT+. The cells should be grown periodically in media containing 6-TG or 8-AG. HGPRT-  Will be unaffected but any HGPRT+ die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381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Counting Myeloma cells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hemocytometer slide or cell counter</a:t>
            </a:r>
          </a:p>
          <a:p>
            <a:r>
              <a:rPr lang="en-US" dirty="0" smtClean="0"/>
              <a:t>Count all the cells in each of the 4 large corner squares. The total is divided by 4 to obtain the mean number</a:t>
            </a:r>
          </a:p>
          <a:p>
            <a:r>
              <a:rPr lang="en-US" dirty="0" smtClean="0"/>
              <a:t>53+ 51 + 47 +49/4 =50</a:t>
            </a:r>
          </a:p>
          <a:p>
            <a:pPr marL="0" indent="0">
              <a:buNone/>
            </a:pPr>
            <a:r>
              <a:rPr lang="en-US" dirty="0" smtClean="0"/>
              <a:t>  50 x 10</a:t>
            </a:r>
            <a:r>
              <a:rPr lang="en-US" baseline="30000" dirty="0" smtClean="0"/>
              <a:t>4</a:t>
            </a:r>
            <a:r>
              <a:rPr lang="en-US" dirty="0" smtClean="0"/>
              <a:t>= 5 x 10</a:t>
            </a:r>
            <a:r>
              <a:rPr lang="en-US" baseline="30000" dirty="0" smtClean="0"/>
              <a:t>5</a:t>
            </a:r>
            <a:r>
              <a:rPr lang="en-US" dirty="0" smtClean="0"/>
              <a:t> cell/ml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82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نتيجة بحث الصور عن ‪squares of hemocytometer‬‏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561" y="2165684"/>
            <a:ext cx="6699183" cy="4177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94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Viability tes</a:t>
            </a:r>
            <a:r>
              <a:rPr lang="en-US" dirty="0" smtClean="0">
                <a:solidFill>
                  <a:srgbClr val="FF0000"/>
                </a:solidFill>
              </a:rPr>
              <a:t>t</a:t>
            </a:r>
          </a:p>
          <a:p>
            <a:r>
              <a:rPr lang="en-US" dirty="0" smtClean="0"/>
              <a:t>Using  trypan blue stain </a:t>
            </a:r>
          </a:p>
          <a:p>
            <a:r>
              <a:rPr lang="en-US" dirty="0" smtClean="0"/>
              <a:t>Disadvantage: rapidly taken by viable cells within 10 min</a:t>
            </a:r>
          </a:p>
          <a:p>
            <a:r>
              <a:rPr lang="en-US" dirty="0" smtClean="0"/>
              <a:t>Have great affinity to proteins so elimination of serum from the cell diluent  would give greater accuracy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Storage of cells</a:t>
            </a:r>
          </a:p>
          <a:p>
            <a:r>
              <a:rPr lang="en-US" dirty="0" smtClean="0"/>
              <a:t>Density: 2-10</a:t>
            </a:r>
            <a:r>
              <a:rPr lang="en-US" baseline="30000" dirty="0" smtClean="0"/>
              <a:t>6 </a:t>
            </a:r>
            <a:r>
              <a:rPr lang="en-US" dirty="0" smtClean="0"/>
              <a:t>cells in 0.25 ml freezing medium/</a:t>
            </a:r>
            <a:r>
              <a:rPr lang="en-US" dirty="0" err="1" smtClean="0"/>
              <a:t>cryotube</a:t>
            </a:r>
            <a:endParaRPr lang="en-US" dirty="0"/>
          </a:p>
          <a:p>
            <a:r>
              <a:rPr lang="en-US" dirty="0" smtClean="0"/>
              <a:t>Freezing medium Glycerol or 4%DMSO +96%FCS</a:t>
            </a:r>
          </a:p>
          <a:p>
            <a:r>
              <a:rPr lang="en-US" dirty="0" smtClean="0"/>
              <a:t>Place in polystyrene box in -80</a:t>
            </a:r>
            <a:r>
              <a:rPr lang="en-US" baseline="30000" dirty="0" smtClean="0"/>
              <a:t>0</a:t>
            </a:r>
            <a:r>
              <a:rPr lang="en-US" dirty="0" smtClean="0"/>
              <a:t>C immediately and transfer to L N2 within 24 h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Thawing</a:t>
            </a:r>
          </a:p>
          <a:p>
            <a:r>
              <a:rPr lang="en-US" dirty="0" smtClean="0"/>
              <a:t>Thaw </a:t>
            </a:r>
            <a:r>
              <a:rPr lang="en-US" dirty="0" err="1" smtClean="0"/>
              <a:t>cryotube</a:t>
            </a:r>
            <a:r>
              <a:rPr lang="en-US" dirty="0" smtClean="0"/>
              <a:t> quickly in 56</a:t>
            </a:r>
            <a:r>
              <a:rPr lang="en-US" baseline="30000" dirty="0" smtClean="0"/>
              <a:t>0</a:t>
            </a:r>
            <a:r>
              <a:rPr lang="en-US" dirty="0" smtClean="0"/>
              <a:t>C </a:t>
            </a:r>
            <a:r>
              <a:rPr lang="en-US" dirty="0" err="1" smtClean="0"/>
              <a:t>waterbath</a:t>
            </a:r>
            <a:endParaRPr lang="en-US" dirty="0" smtClean="0"/>
          </a:p>
          <a:p>
            <a:r>
              <a:rPr lang="en-US" dirty="0" smtClean="0"/>
              <a:t>Dilute gradually with cold media</a:t>
            </a:r>
          </a:p>
          <a:p>
            <a:r>
              <a:rPr lang="en-US" dirty="0" smtClean="0"/>
              <a:t>Centrifuge and suspend pellet in warm </a:t>
            </a:r>
            <a:r>
              <a:rPr lang="en-US" dirty="0" err="1" smtClean="0"/>
              <a:t>thymocyte</a:t>
            </a:r>
            <a:r>
              <a:rPr lang="en-US" dirty="0" smtClean="0"/>
              <a:t> media and transfer to 24-well plate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208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Basic tissue culture (</a:t>
            </a:r>
            <a:r>
              <a:rPr lang="en-US" dirty="0" err="1" smtClean="0"/>
              <a:t>subculturing</a:t>
            </a:r>
            <a:r>
              <a:rPr lang="en-US" dirty="0" smtClean="0"/>
              <a:t>)</a:t>
            </a:r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www.youtube.com/watch?v=CMRKKl9XSDU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Freezing cells</a:t>
            </a:r>
            <a:endParaRPr lang="en-US" dirty="0"/>
          </a:p>
          <a:p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www.youtube.com/watch?v=tCNtKrxlZPs</a:t>
            </a:r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Thawing cells</a:t>
            </a:r>
            <a:endParaRPr lang="en-US" dirty="0"/>
          </a:p>
          <a:p>
            <a:r>
              <a:rPr lang="en-US" dirty="0"/>
              <a:t>https://www.youtube.com/watch?v=4HxqQOHifkU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8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362</Words>
  <Application>Microsoft Office PowerPoint</Application>
  <PresentationFormat>مخصص</PresentationFormat>
  <Paragraphs>50</Paragraphs>
  <Slides>8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9" baseType="lpstr">
      <vt:lpstr>Office Theme</vt:lpstr>
      <vt:lpstr>Characteristics</vt:lpstr>
      <vt:lpstr>عرض تقديمي في PowerPoint</vt:lpstr>
      <vt:lpstr>عرض تقديمي في PowerPoint</vt:lpstr>
      <vt:lpstr>Maintenance of Myeloma </vt:lpstr>
      <vt:lpstr>Counting Myeloma cells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</cp:lastModifiedBy>
  <cp:revision>19</cp:revision>
  <dcterms:created xsi:type="dcterms:W3CDTF">2020-01-21T09:46:21Z</dcterms:created>
  <dcterms:modified xsi:type="dcterms:W3CDTF">2021-02-20T08:48:32Z</dcterms:modified>
</cp:coreProperties>
</file>