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3"/>
  </p:notesMasterIdLst>
  <p:sldIdLst>
    <p:sldId id="256" r:id="rId2"/>
    <p:sldId id="257" r:id="rId3"/>
    <p:sldId id="258" r:id="rId4"/>
    <p:sldId id="259" r:id="rId5"/>
    <p:sldId id="260" r:id="rId6"/>
    <p:sldId id="312" r:id="rId7"/>
    <p:sldId id="262" r:id="rId8"/>
    <p:sldId id="263" r:id="rId9"/>
    <p:sldId id="264" r:id="rId10"/>
    <p:sldId id="265" r:id="rId11"/>
    <p:sldId id="314" r:id="rId12"/>
    <p:sldId id="268" r:id="rId13"/>
    <p:sldId id="269" r:id="rId14"/>
    <p:sldId id="270" r:id="rId15"/>
    <p:sldId id="271" r:id="rId16"/>
    <p:sldId id="272" r:id="rId17"/>
    <p:sldId id="273" r:id="rId18"/>
    <p:sldId id="313" r:id="rId19"/>
    <p:sldId id="275" r:id="rId20"/>
    <p:sldId id="311" r:id="rId21"/>
    <p:sldId id="276" r:id="rId22"/>
    <p:sldId id="277" r:id="rId23"/>
    <p:sldId id="278" r:id="rId24"/>
    <p:sldId id="279" r:id="rId25"/>
    <p:sldId id="280" r:id="rId26"/>
    <p:sldId id="281" r:id="rId27"/>
    <p:sldId id="282" r:id="rId28"/>
    <p:sldId id="283" r:id="rId29"/>
    <p:sldId id="284" r:id="rId30"/>
    <p:sldId id="286" r:id="rId31"/>
    <p:sldId id="287" r:id="rId32"/>
    <p:sldId id="288" r:id="rId33"/>
    <p:sldId id="289" r:id="rId34"/>
    <p:sldId id="290" r:id="rId35"/>
    <p:sldId id="292" r:id="rId36"/>
    <p:sldId id="293" r:id="rId37"/>
    <p:sldId id="294" r:id="rId38"/>
    <p:sldId id="295" r:id="rId39"/>
    <p:sldId id="315" r:id="rId40"/>
    <p:sldId id="298" r:id="rId41"/>
    <p:sldId id="299" r:id="rId42"/>
    <p:sldId id="300" r:id="rId43"/>
    <p:sldId id="302" r:id="rId44"/>
    <p:sldId id="303" r:id="rId45"/>
    <p:sldId id="316" r:id="rId46"/>
    <p:sldId id="305" r:id="rId47"/>
    <p:sldId id="306" r:id="rId48"/>
    <p:sldId id="307" r:id="rId49"/>
    <p:sldId id="308" r:id="rId50"/>
    <p:sldId id="309" r:id="rId51"/>
    <p:sldId id="310" r:id="rId52"/>
  </p:sldIdLst>
  <p:sldSz cx="9144000" cy="6858000" type="screen4x3"/>
  <p:notesSz cx="6858000" cy="9144000"/>
  <p:custDataLst>
    <p:tags r:id="rId5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p:cViewPr varScale="1">
        <p:scale>
          <a:sx n="74" d="100"/>
          <a:sy n="74" d="100"/>
        </p:scale>
        <p:origin x="1266"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730D3CB-AB8E-4924-A7A6-B3213A3455FA}" type="datetimeFigureOut">
              <a:rPr lang="en-US" smtClean="0"/>
              <a:pPr/>
              <a:t>1/24/2018</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401BA58-2951-486B-9DEE-A8699590E1A5}" type="slidenum">
              <a:rPr lang="en-US" smtClean="0"/>
              <a:pPr/>
              <a:t>‹#›</a:t>
            </a:fld>
            <a:endParaRPr lang="en-US"/>
          </a:p>
        </p:txBody>
      </p:sp>
    </p:spTree>
    <p:extLst>
      <p:ext uri="{BB962C8B-B14F-4D97-AF65-F5344CB8AC3E}">
        <p14:creationId xmlns:p14="http://schemas.microsoft.com/office/powerpoint/2010/main" val="39563747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815454F-ECDB-4842-AF71-F9E8195E2EAE}" type="datetime1">
              <a:rPr lang="en-US" smtClean="0"/>
              <a:pPr/>
              <a:t>1/24/2018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12230660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0CD5D7F-3933-4309-8034-0F93355438F7}" type="datetime1">
              <a:rPr lang="en-US" smtClean="0"/>
              <a:pPr/>
              <a:t>1/24/2018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42119586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DC6B14C-AE06-4A23-89A1-5EF01B1A418B}" type="datetime1">
              <a:rPr lang="en-US" smtClean="0"/>
              <a:pPr/>
              <a:t>1/24/2018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35914335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0D8CB9A4-23AA-4DC3-A257-AD75712A2865}" type="datetime1">
              <a:rPr lang="en-US" smtClean="0"/>
              <a:pPr/>
              <a:t>1/24/2018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10460897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89D155C-674B-4796-BBC2-FCD13546F93B}" type="datetime1">
              <a:rPr lang="en-US" smtClean="0"/>
              <a:pPr/>
              <a:t>1/24/2018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19249503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2F70BCA5-5AC7-4B00-85A8-8E2615460E4F}" type="datetime1">
              <a:rPr lang="en-US" smtClean="0"/>
              <a:pPr/>
              <a:t>1/24/2018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32390104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83D31C3-CEED-4AB3-8385-FB58CACF14B7}" type="datetime1">
              <a:rPr lang="en-US" smtClean="0"/>
              <a:pPr/>
              <a:t>1/24/2018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18104978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E1A879B-5B0D-4A04-96A8-F9A63EEDE15E}" type="datetime1">
              <a:rPr lang="en-US" smtClean="0"/>
              <a:pPr/>
              <a:t>1/24/2018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16544648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D78211E-FE34-4C0A-B5A1-267E9B129D2C}" type="datetime1">
              <a:rPr lang="en-US" smtClean="0"/>
              <a:pPr/>
              <a:t>1/24/2018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38566002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D03F265-EC92-4E3A-8B2F-17EA75E99940}" type="datetime1">
              <a:rPr lang="en-US" smtClean="0"/>
              <a:pPr/>
              <a:t>1/24/2018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25232456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C510B38-9655-43E1-BBFD-8C7DABE26029}" type="datetime1">
              <a:rPr lang="en-US" smtClean="0"/>
              <a:pPr/>
              <a:t>1/24/2018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28974588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2AFF1A8-D92E-4DC4-8F80-25205ADBC8C6}" type="datetime1">
              <a:rPr lang="en-US" smtClean="0"/>
              <a:pPr/>
              <a:t>1/24/2018</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B1A82D2-719A-4A87-BECB-D74482819C19}" type="slidenum">
              <a:rPr lang="en-US" smtClean="0"/>
              <a:pPr/>
              <a:t>‹#›</a:t>
            </a:fld>
            <a:endParaRPr lang="en-US"/>
          </a:p>
        </p:txBody>
      </p:sp>
      <p:sp>
        <p:nvSpPr>
          <p:cNvPr id="7" name="Rectangle 5"/>
          <p:cNvSpPr>
            <a:spLocks noChangeArrowheads="1"/>
          </p:cNvSpPr>
          <p:nvPr userDrawn="1"/>
        </p:nvSpPr>
        <p:spPr bwMode="auto">
          <a:xfrm>
            <a:off x="0" y="6642100"/>
            <a:ext cx="9144000" cy="215444"/>
          </a:xfrm>
          <a:prstGeom prst="rect">
            <a:avLst/>
          </a:prstGeom>
          <a:noFill/>
          <a:ln w="9525">
            <a:noFill/>
            <a:miter lim="800000"/>
            <a:headEnd/>
            <a:tailEnd/>
          </a:ln>
        </p:spPr>
        <p:txBody>
          <a:bodyPr>
            <a:spAutoFit/>
          </a:bodyPr>
          <a:lstStyle/>
          <a:p>
            <a:pPr algn="ctr"/>
            <a:r>
              <a:rPr lang="en-US" sz="800" b="0" dirty="0" smtClean="0">
                <a:ea typeface="ヒラギノ角ゴ Pro W3"/>
                <a:cs typeface="ヒラギノ角ゴ Pro W3"/>
              </a:rPr>
              <a:t>Copyright (c) 2017 McGraw-Hill Education. All rights reserved. No reproduction or distribution without the prior written consent of McGraw-Hill Education.</a:t>
            </a:r>
          </a:p>
        </p:txBody>
      </p:sp>
    </p:spTree>
    <p:extLst>
      <p:ext uri="{BB962C8B-B14F-4D97-AF65-F5344CB8AC3E}">
        <p14:creationId xmlns:p14="http://schemas.microsoft.com/office/powerpoint/2010/main" val="2173030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jpe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Chapter 6 – Viruses and Other Acellular Infectious Agents</a:t>
            </a:r>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1</a:t>
            </a:fld>
            <a:endParaRPr lang="en-US"/>
          </a:p>
        </p:txBody>
      </p:sp>
      <p:pic>
        <p:nvPicPr>
          <p:cNvPr id="7" name="Picture 2" descr="X:\Graphics\Powerpoint\MH_DCM\MH_DCM-TEXTEDIT PROJECTS\WILLEY_10e\Incoming\Wille10e17tlm_nm3.jpg"/>
          <p:cNvPicPr>
            <a:picLocks noGrp="1" noChangeAspect="1" noChangeArrowheads="1"/>
          </p:cNvPicPr>
          <p:nvPr>
            <p:ph idx="1"/>
          </p:nvPr>
        </p:nvPicPr>
        <p:blipFill>
          <a:blip r:embed="rId2" cstate="print"/>
          <a:srcRect/>
          <a:stretch>
            <a:fillRect/>
          </a:stretch>
        </p:blipFill>
        <p:spPr bwMode="auto">
          <a:xfrm>
            <a:off x="2438400" y="1516130"/>
            <a:ext cx="4334386" cy="5265670"/>
          </a:xfrm>
          <a:prstGeom prst="rect">
            <a:avLst/>
          </a:prstGeom>
          <a:noFill/>
        </p:spPr>
      </p:pic>
    </p:spTree>
    <p:extLst>
      <p:ext uri="{BB962C8B-B14F-4D97-AF65-F5344CB8AC3E}">
        <p14:creationId xmlns:p14="http://schemas.microsoft.com/office/powerpoint/2010/main" val="14908095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6.1 Viruses are Acellular</a:t>
            </a:r>
            <a:endParaRPr lang="en-US" dirty="0"/>
          </a:p>
        </p:txBody>
      </p:sp>
      <p:sp>
        <p:nvSpPr>
          <p:cNvPr id="3" name="Content Placeholder 2"/>
          <p:cNvSpPr>
            <a:spLocks noGrp="1"/>
          </p:cNvSpPr>
          <p:nvPr>
            <p:ph idx="1"/>
          </p:nvPr>
        </p:nvSpPr>
        <p:spPr/>
        <p:txBody>
          <a:bodyPr/>
          <a:lstStyle/>
          <a:p>
            <a:pPr marL="514350" indent="-514350">
              <a:buFont typeface="+mj-lt"/>
              <a:buAutoNum type="arabicPeriod"/>
            </a:pPr>
            <a:r>
              <a:rPr lang="en-US" dirty="0"/>
              <a:t>Defines the terms virology, bacteriophages, and phages</a:t>
            </a:r>
            <a:r>
              <a:rPr lang="en-US" dirty="0" smtClean="0"/>
              <a:t>.</a:t>
            </a:r>
            <a:br>
              <a:rPr lang="en-US" dirty="0" smtClean="0"/>
            </a:br>
            <a:endParaRPr lang="en-US" dirty="0"/>
          </a:p>
          <a:p>
            <a:pPr marL="514350" indent="-514350">
              <a:buFont typeface="+mj-lt"/>
              <a:buAutoNum type="arabicPeriod"/>
            </a:pPr>
            <a:r>
              <a:rPr lang="en-US" dirty="0"/>
              <a:t>List organisms that are hosts to viruses.</a:t>
            </a:r>
          </a:p>
        </p:txBody>
      </p:sp>
      <p:sp>
        <p:nvSpPr>
          <p:cNvPr id="4" name="Slide Number Placeholder 3"/>
          <p:cNvSpPr>
            <a:spLocks noGrp="1"/>
          </p:cNvSpPr>
          <p:nvPr>
            <p:ph type="sldNum" sz="quarter" idx="12"/>
          </p:nvPr>
        </p:nvSpPr>
        <p:spPr/>
        <p:txBody>
          <a:bodyPr/>
          <a:lstStyle/>
          <a:p>
            <a:fld id="{3B1A82D2-719A-4A87-BECB-D74482819C19}" type="slidenum">
              <a:rPr lang="en-US" smtClean="0"/>
              <a:pPr/>
              <a:t>2</a:t>
            </a:fld>
            <a:endParaRPr lang="en-US"/>
          </a:p>
        </p:txBody>
      </p:sp>
    </p:spTree>
    <p:extLst>
      <p:ext uri="{BB962C8B-B14F-4D97-AF65-F5344CB8AC3E}">
        <p14:creationId xmlns:p14="http://schemas.microsoft.com/office/powerpoint/2010/main" val="33814449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Acellular Agents</a:t>
            </a:r>
            <a:endParaRPr lang="en-US" dirty="0"/>
          </a:p>
        </p:txBody>
      </p:sp>
      <p:sp>
        <p:nvSpPr>
          <p:cNvPr id="3" name="Content Placeholder 2"/>
          <p:cNvSpPr>
            <a:spLocks noGrp="1"/>
          </p:cNvSpPr>
          <p:nvPr>
            <p:ph idx="1"/>
          </p:nvPr>
        </p:nvSpPr>
        <p:spPr/>
        <p:txBody>
          <a:bodyPr/>
          <a:lstStyle/>
          <a:p>
            <a:pPr>
              <a:lnSpc>
                <a:spcPct val="110000"/>
              </a:lnSpc>
            </a:pPr>
            <a:r>
              <a:rPr lang="en-US" dirty="0"/>
              <a:t>Viruses – protein and nucleic </a:t>
            </a:r>
            <a:r>
              <a:rPr lang="en-US" dirty="0" smtClean="0"/>
              <a:t>acid</a:t>
            </a:r>
          </a:p>
          <a:p>
            <a:pPr marL="0" indent="0">
              <a:lnSpc>
                <a:spcPct val="110000"/>
              </a:lnSpc>
              <a:buNone/>
            </a:pPr>
            <a:endParaRPr lang="en-US" dirty="0"/>
          </a:p>
          <a:p>
            <a:pPr>
              <a:lnSpc>
                <a:spcPct val="110000"/>
              </a:lnSpc>
            </a:pPr>
            <a:r>
              <a:rPr lang="en-US" dirty="0" err="1"/>
              <a:t>Viroids</a:t>
            </a:r>
            <a:r>
              <a:rPr lang="en-US" dirty="0"/>
              <a:t> – only </a:t>
            </a:r>
            <a:r>
              <a:rPr lang="en-US" dirty="0" smtClean="0"/>
              <a:t>RNA</a:t>
            </a:r>
          </a:p>
          <a:p>
            <a:pPr marL="0" indent="0">
              <a:lnSpc>
                <a:spcPct val="110000"/>
              </a:lnSpc>
              <a:buNone/>
            </a:pPr>
            <a:endParaRPr lang="en-US" dirty="0"/>
          </a:p>
          <a:p>
            <a:pPr>
              <a:lnSpc>
                <a:spcPct val="110000"/>
              </a:lnSpc>
            </a:pPr>
            <a:r>
              <a:rPr lang="en-US" dirty="0"/>
              <a:t>Satellites – only nucleic </a:t>
            </a:r>
            <a:r>
              <a:rPr lang="en-US" dirty="0" smtClean="0"/>
              <a:t>acids</a:t>
            </a:r>
          </a:p>
          <a:p>
            <a:pPr marL="0" indent="0">
              <a:lnSpc>
                <a:spcPct val="110000"/>
              </a:lnSpc>
              <a:buNone/>
            </a:pPr>
            <a:endParaRPr lang="en-US" dirty="0"/>
          </a:p>
          <a:p>
            <a:pPr>
              <a:lnSpc>
                <a:spcPct val="110000"/>
              </a:lnSpc>
            </a:pPr>
            <a:r>
              <a:rPr lang="en-US" dirty="0"/>
              <a:t>Prions – proteins only</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3</a:t>
            </a:fld>
            <a:endParaRPr lang="en-US"/>
          </a:p>
        </p:txBody>
      </p:sp>
    </p:spTree>
    <p:extLst>
      <p:ext uri="{BB962C8B-B14F-4D97-AF65-F5344CB8AC3E}">
        <p14:creationId xmlns:p14="http://schemas.microsoft.com/office/powerpoint/2010/main" val="42771570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Viruses</a:t>
            </a:r>
            <a:endParaRPr lang="en-US" dirty="0"/>
          </a:p>
        </p:txBody>
      </p:sp>
      <p:sp>
        <p:nvSpPr>
          <p:cNvPr id="3" name="Content Placeholder 2"/>
          <p:cNvSpPr>
            <a:spLocks noGrp="1"/>
          </p:cNvSpPr>
          <p:nvPr>
            <p:ph idx="1"/>
          </p:nvPr>
        </p:nvSpPr>
        <p:spPr/>
        <p:txBody>
          <a:bodyPr>
            <a:normAutofit lnSpcReduction="10000"/>
          </a:bodyPr>
          <a:lstStyle/>
          <a:p>
            <a:pPr>
              <a:lnSpc>
                <a:spcPct val="80000"/>
              </a:lnSpc>
            </a:pPr>
            <a:r>
              <a:rPr lang="en-US" dirty="0"/>
              <a:t>Major cause of disease</a:t>
            </a:r>
          </a:p>
          <a:p>
            <a:pPr lvl="1">
              <a:lnSpc>
                <a:spcPct val="80000"/>
              </a:lnSpc>
            </a:pPr>
            <a:r>
              <a:rPr lang="en-US" dirty="0"/>
              <a:t>also importance as a new source of therapy</a:t>
            </a:r>
          </a:p>
          <a:p>
            <a:pPr lvl="1">
              <a:lnSpc>
                <a:spcPct val="80000"/>
              </a:lnSpc>
            </a:pPr>
            <a:r>
              <a:rPr lang="en-US" dirty="0"/>
              <a:t>new viruses are </a:t>
            </a:r>
            <a:r>
              <a:rPr lang="en-US" dirty="0" smtClean="0"/>
              <a:t>emerging</a:t>
            </a:r>
          </a:p>
          <a:p>
            <a:pPr marL="457200" lvl="1" indent="0">
              <a:lnSpc>
                <a:spcPct val="80000"/>
              </a:lnSpc>
              <a:buNone/>
            </a:pPr>
            <a:endParaRPr lang="en-US" dirty="0"/>
          </a:p>
          <a:p>
            <a:pPr>
              <a:lnSpc>
                <a:spcPct val="80000"/>
              </a:lnSpc>
            </a:pPr>
            <a:r>
              <a:rPr lang="en-US" dirty="0"/>
              <a:t>Important members of aquatic world</a:t>
            </a:r>
          </a:p>
          <a:p>
            <a:pPr lvl="1">
              <a:lnSpc>
                <a:spcPct val="80000"/>
              </a:lnSpc>
            </a:pPr>
            <a:r>
              <a:rPr lang="en-US" dirty="0"/>
              <a:t>move organic matter from particulate to </a:t>
            </a:r>
            <a:r>
              <a:rPr lang="en-US" dirty="0" smtClean="0"/>
              <a:t>dissolved</a:t>
            </a:r>
          </a:p>
          <a:p>
            <a:pPr marL="457200" lvl="1" indent="0">
              <a:lnSpc>
                <a:spcPct val="80000"/>
              </a:lnSpc>
              <a:buNone/>
            </a:pPr>
            <a:endParaRPr lang="en-US" dirty="0"/>
          </a:p>
          <a:p>
            <a:pPr>
              <a:lnSpc>
                <a:spcPct val="80000"/>
              </a:lnSpc>
            </a:pPr>
            <a:r>
              <a:rPr lang="en-US" dirty="0"/>
              <a:t>Important in evolution</a:t>
            </a:r>
          </a:p>
          <a:p>
            <a:pPr lvl="1">
              <a:lnSpc>
                <a:spcPct val="80000"/>
              </a:lnSpc>
            </a:pPr>
            <a:r>
              <a:rPr lang="en-US" dirty="0"/>
              <a:t>transfer genes between bacteria, </a:t>
            </a:r>
            <a:r>
              <a:rPr lang="en-US" dirty="0" smtClean="0"/>
              <a:t>others</a:t>
            </a:r>
          </a:p>
          <a:p>
            <a:pPr marL="457200" lvl="1" indent="0">
              <a:lnSpc>
                <a:spcPct val="80000"/>
              </a:lnSpc>
              <a:buNone/>
            </a:pPr>
            <a:endParaRPr lang="en-US" dirty="0"/>
          </a:p>
          <a:p>
            <a:pPr>
              <a:lnSpc>
                <a:spcPct val="80000"/>
              </a:lnSpc>
            </a:pPr>
            <a:r>
              <a:rPr lang="en-US" dirty="0"/>
              <a:t>Important model systems in molecular biology</a:t>
            </a:r>
          </a:p>
        </p:txBody>
      </p:sp>
      <p:sp>
        <p:nvSpPr>
          <p:cNvPr id="4" name="Slide Number Placeholder 3"/>
          <p:cNvSpPr>
            <a:spLocks noGrp="1"/>
          </p:cNvSpPr>
          <p:nvPr>
            <p:ph type="sldNum" sz="quarter" idx="12"/>
          </p:nvPr>
        </p:nvSpPr>
        <p:spPr/>
        <p:txBody>
          <a:bodyPr/>
          <a:lstStyle/>
          <a:p>
            <a:fld id="{3B1A82D2-719A-4A87-BECB-D74482819C19}" type="slidenum">
              <a:rPr lang="en-US" smtClean="0"/>
              <a:pPr/>
              <a:t>4</a:t>
            </a:fld>
            <a:endParaRPr lang="en-US"/>
          </a:p>
        </p:txBody>
      </p:sp>
    </p:spTree>
    <p:extLst>
      <p:ext uri="{BB962C8B-B14F-4D97-AF65-F5344CB8AC3E}">
        <p14:creationId xmlns:p14="http://schemas.microsoft.com/office/powerpoint/2010/main" val="42771570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General Properties of Viruses</a:t>
            </a:r>
            <a:endParaRPr lang="en-US" dirty="0"/>
          </a:p>
        </p:txBody>
      </p:sp>
      <p:sp>
        <p:nvSpPr>
          <p:cNvPr id="3" name="Content Placeholder 2"/>
          <p:cNvSpPr>
            <a:spLocks noGrp="1"/>
          </p:cNvSpPr>
          <p:nvPr>
            <p:ph idx="1"/>
          </p:nvPr>
        </p:nvSpPr>
        <p:spPr/>
        <p:txBody>
          <a:bodyPr>
            <a:normAutofit/>
          </a:bodyPr>
          <a:lstStyle/>
          <a:p>
            <a:pPr>
              <a:lnSpc>
                <a:spcPct val="90000"/>
              </a:lnSpc>
            </a:pPr>
            <a:r>
              <a:rPr lang="en-US" dirty="0" smtClean="0"/>
              <a:t>Virion</a:t>
            </a:r>
            <a:r>
              <a:rPr lang="en-US" dirty="0"/>
              <a:t> </a:t>
            </a:r>
            <a:r>
              <a:rPr lang="en-US" dirty="0" smtClean="0"/>
              <a:t>– complete </a:t>
            </a:r>
            <a:r>
              <a:rPr lang="en-US" dirty="0"/>
              <a:t>virus </a:t>
            </a:r>
            <a:r>
              <a:rPr lang="en-US" dirty="0" smtClean="0"/>
              <a:t>particle</a:t>
            </a:r>
            <a:br>
              <a:rPr lang="en-US" dirty="0" smtClean="0"/>
            </a:br>
            <a:endParaRPr lang="en-US" dirty="0"/>
          </a:p>
          <a:p>
            <a:pPr lvl="1">
              <a:lnSpc>
                <a:spcPct val="90000"/>
              </a:lnSpc>
            </a:pPr>
            <a:r>
              <a:rPr lang="en-US" dirty="0"/>
              <a:t>consists of </a:t>
            </a:r>
            <a:r>
              <a:rPr lang="en-US" dirty="0">
                <a:sym typeface="Symbol" pitchFamily="18" charset="2"/>
              </a:rPr>
              <a:t>1 molecule of </a:t>
            </a:r>
            <a:r>
              <a:rPr lang="en-US" dirty="0" smtClean="0">
                <a:sym typeface="Symbol" pitchFamily="18" charset="2"/>
              </a:rPr>
              <a:t>DNA/RNA in protein coat</a:t>
            </a:r>
            <a:br>
              <a:rPr lang="en-US" dirty="0" smtClean="0">
                <a:sym typeface="Symbol" pitchFamily="18" charset="2"/>
              </a:rPr>
            </a:br>
            <a:endParaRPr lang="en-US" dirty="0">
              <a:sym typeface="Symbol" pitchFamily="18" charset="2"/>
            </a:endParaRPr>
          </a:p>
          <a:p>
            <a:pPr lvl="1">
              <a:lnSpc>
                <a:spcPct val="90000"/>
              </a:lnSpc>
            </a:pPr>
            <a:r>
              <a:rPr lang="en-US" dirty="0">
                <a:sym typeface="Symbol" pitchFamily="18" charset="2"/>
              </a:rPr>
              <a:t>may have additional </a:t>
            </a:r>
            <a:r>
              <a:rPr lang="en-US" dirty="0" smtClean="0">
                <a:sym typeface="Symbol" pitchFamily="18" charset="2"/>
              </a:rPr>
              <a:t>layers</a:t>
            </a:r>
            <a:br>
              <a:rPr lang="en-US" dirty="0" smtClean="0">
                <a:sym typeface="Symbol" pitchFamily="18" charset="2"/>
              </a:rPr>
            </a:br>
            <a:endParaRPr lang="en-US" dirty="0">
              <a:sym typeface="Symbol" pitchFamily="18" charset="2"/>
            </a:endParaRPr>
          </a:p>
          <a:p>
            <a:pPr lvl="1">
              <a:lnSpc>
                <a:spcPct val="90000"/>
              </a:lnSpc>
            </a:pPr>
            <a:r>
              <a:rPr lang="en-US" dirty="0">
                <a:sym typeface="Symbol" pitchFamily="18" charset="2"/>
              </a:rPr>
              <a:t>cannot reproduce independent of living cells nor carry out cell division</a:t>
            </a:r>
          </a:p>
          <a:p>
            <a:pPr lvl="2">
              <a:lnSpc>
                <a:spcPct val="90000"/>
              </a:lnSpc>
            </a:pPr>
            <a:r>
              <a:rPr lang="en-US" dirty="0"/>
              <a:t>but can exist extracellularly</a:t>
            </a:r>
          </a:p>
        </p:txBody>
      </p:sp>
      <p:sp>
        <p:nvSpPr>
          <p:cNvPr id="4" name="Slide Number Placeholder 3"/>
          <p:cNvSpPr>
            <a:spLocks noGrp="1"/>
          </p:cNvSpPr>
          <p:nvPr>
            <p:ph type="sldNum" sz="quarter" idx="12"/>
          </p:nvPr>
        </p:nvSpPr>
        <p:spPr/>
        <p:txBody>
          <a:bodyPr/>
          <a:lstStyle/>
          <a:p>
            <a:fld id="{3B1A82D2-719A-4A87-BECB-D74482819C19}" type="slidenum">
              <a:rPr lang="en-US" smtClean="0"/>
              <a:pPr/>
              <a:t>5</a:t>
            </a:fld>
            <a:endParaRPr lang="en-US"/>
          </a:p>
        </p:txBody>
      </p:sp>
    </p:spTree>
    <p:extLst>
      <p:ext uri="{BB962C8B-B14F-4D97-AF65-F5344CB8AC3E}">
        <p14:creationId xmlns:p14="http://schemas.microsoft.com/office/powerpoint/2010/main" val="42771570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fontScale="90000"/>
          </a:bodyPr>
          <a:lstStyle/>
          <a:p>
            <a:r>
              <a:rPr lang="en-US" dirty="0" smtClean="0"/>
              <a:t/>
            </a:r>
            <a:br>
              <a:rPr lang="en-US" dirty="0" smtClean="0"/>
            </a:br>
            <a:r>
              <a:rPr lang="en-US" dirty="0" smtClean="0"/>
              <a:t>Virions Infect All Cell Types</a:t>
            </a:r>
            <a:br>
              <a:rPr lang="en-US" dirty="0" smtClean="0"/>
            </a:br>
            <a:endParaRPr lang="en-US" dirty="0"/>
          </a:p>
        </p:txBody>
      </p:sp>
      <p:sp>
        <p:nvSpPr>
          <p:cNvPr id="8" name="Content Placeholder 7"/>
          <p:cNvSpPr>
            <a:spLocks noGrp="1"/>
          </p:cNvSpPr>
          <p:nvPr>
            <p:ph idx="1"/>
          </p:nvPr>
        </p:nvSpPr>
        <p:spPr>
          <a:xfrm>
            <a:off x="457200" y="1600200"/>
            <a:ext cx="8229600" cy="4953000"/>
          </a:xfrm>
        </p:spPr>
        <p:txBody>
          <a:bodyPr>
            <a:normAutofit lnSpcReduction="10000"/>
          </a:bodyPr>
          <a:lstStyle/>
          <a:p>
            <a:pPr>
              <a:lnSpc>
                <a:spcPct val="90000"/>
              </a:lnSpc>
            </a:pPr>
            <a:r>
              <a:rPr lang="en-US" dirty="0" smtClean="0"/>
              <a:t>Bacterial viruses called bacteriophages (phages)</a:t>
            </a:r>
            <a:br>
              <a:rPr lang="en-US" dirty="0" smtClean="0"/>
            </a:br>
            <a:endParaRPr lang="en-US" dirty="0" smtClean="0"/>
          </a:p>
          <a:p>
            <a:pPr>
              <a:lnSpc>
                <a:spcPct val="90000"/>
              </a:lnSpc>
            </a:pPr>
            <a:r>
              <a:rPr lang="en-US" dirty="0" smtClean="0"/>
              <a:t>Few archaeal viruses</a:t>
            </a:r>
            <a:br>
              <a:rPr lang="en-US" dirty="0" smtClean="0"/>
            </a:br>
            <a:endParaRPr lang="en-US" dirty="0" smtClean="0"/>
          </a:p>
          <a:p>
            <a:pPr>
              <a:lnSpc>
                <a:spcPct val="90000"/>
              </a:lnSpc>
            </a:pPr>
            <a:r>
              <a:rPr lang="en-US" dirty="0" smtClean="0"/>
              <a:t>Most are eukaryotic viruses</a:t>
            </a:r>
          </a:p>
          <a:p>
            <a:pPr lvl="1">
              <a:lnSpc>
                <a:spcPct val="90000"/>
              </a:lnSpc>
            </a:pPr>
            <a:r>
              <a:rPr lang="en-US" dirty="0" smtClean="0"/>
              <a:t>plants, animals, </a:t>
            </a:r>
            <a:r>
              <a:rPr lang="en-US" dirty="0" err="1" smtClean="0"/>
              <a:t>protists</a:t>
            </a:r>
            <a:r>
              <a:rPr lang="en-US" dirty="0" smtClean="0"/>
              <a:t>, and fungi</a:t>
            </a:r>
            <a:br>
              <a:rPr lang="en-US" dirty="0" smtClean="0"/>
            </a:br>
            <a:endParaRPr lang="en-US" dirty="0" smtClean="0"/>
          </a:p>
          <a:p>
            <a:pPr>
              <a:lnSpc>
                <a:spcPct val="90000"/>
              </a:lnSpc>
            </a:pPr>
            <a:r>
              <a:rPr lang="en-US" dirty="0" smtClean="0"/>
              <a:t>Classified into families based on</a:t>
            </a:r>
          </a:p>
          <a:p>
            <a:pPr lvl="1">
              <a:lnSpc>
                <a:spcPct val="90000"/>
              </a:lnSpc>
            </a:pPr>
            <a:r>
              <a:rPr lang="en-US" dirty="0" smtClean="0"/>
              <a:t>genome structure, life cycle, morphology, genetic relatedness</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6</a:t>
            </a:fld>
            <a:endParaRPr lang="en-US"/>
          </a:p>
        </p:txBody>
      </p:sp>
    </p:spTree>
    <p:extLst>
      <p:ext uri="{BB962C8B-B14F-4D97-AF65-F5344CB8AC3E}">
        <p14:creationId xmlns:p14="http://schemas.microsoft.com/office/powerpoint/2010/main" val="21148853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274638"/>
            <a:ext cx="8915400" cy="1143000"/>
          </a:xfrm>
        </p:spPr>
        <p:txBody>
          <a:bodyPr>
            <a:noAutofit/>
          </a:bodyPr>
          <a:lstStyle/>
          <a:p>
            <a:r>
              <a:rPr lang="en-US" sz="3400" dirty="0" smtClean="0"/>
              <a:t>6.2 Virion Structure is Defined by Capsid Symmetry and Presence or Absence of an Envelope</a:t>
            </a:r>
            <a:endParaRPr lang="en-US" sz="3400" dirty="0"/>
          </a:p>
        </p:txBody>
      </p:sp>
      <p:sp>
        <p:nvSpPr>
          <p:cNvPr id="3" name="Content Placeholder 2"/>
          <p:cNvSpPr>
            <a:spLocks noGrp="1"/>
          </p:cNvSpPr>
          <p:nvPr>
            <p:ph idx="1"/>
          </p:nvPr>
        </p:nvSpPr>
        <p:spPr>
          <a:xfrm>
            <a:off x="457200" y="2179637"/>
            <a:ext cx="8229600" cy="4525963"/>
          </a:xfrm>
        </p:spPr>
        <p:txBody>
          <a:bodyPr>
            <a:normAutofit lnSpcReduction="10000"/>
          </a:bodyPr>
          <a:lstStyle/>
          <a:p>
            <a:pPr marL="514350" indent="-514350">
              <a:buFont typeface="+mj-lt"/>
              <a:buAutoNum type="arabicPeriod"/>
            </a:pPr>
            <a:r>
              <a:rPr lang="en-US" dirty="0"/>
              <a:t>State the size range of </a:t>
            </a:r>
            <a:r>
              <a:rPr lang="en-US" dirty="0" err="1"/>
              <a:t>virions</a:t>
            </a:r>
            <a:r>
              <a:rPr lang="en-US" dirty="0" smtClean="0"/>
              <a:t>.</a:t>
            </a:r>
            <a:br>
              <a:rPr lang="en-US" dirty="0" smtClean="0"/>
            </a:br>
            <a:endParaRPr lang="en-US" dirty="0"/>
          </a:p>
          <a:p>
            <a:pPr marL="514350" indent="-514350">
              <a:buFont typeface="+mj-lt"/>
              <a:buAutoNum type="arabicPeriod"/>
            </a:pPr>
            <a:r>
              <a:rPr lang="en-US" dirty="0"/>
              <a:t>Identify the parts of a </a:t>
            </a:r>
            <a:r>
              <a:rPr lang="en-US" dirty="0" err="1"/>
              <a:t>virion</a:t>
            </a:r>
            <a:r>
              <a:rPr lang="en-US" dirty="0"/>
              <a:t> and describe their function</a:t>
            </a:r>
            <a:r>
              <a:rPr lang="en-US" dirty="0" smtClean="0"/>
              <a:t>.</a:t>
            </a:r>
            <a:br>
              <a:rPr lang="en-US" dirty="0" smtClean="0"/>
            </a:br>
            <a:endParaRPr lang="en-US" dirty="0"/>
          </a:p>
          <a:p>
            <a:pPr marL="514350" indent="-514350">
              <a:buFont typeface="+mj-lt"/>
              <a:buAutoNum type="arabicPeriod"/>
            </a:pPr>
            <a:r>
              <a:rPr lang="en-US" dirty="0"/>
              <a:t>Distinguish enveloped viruses from </a:t>
            </a:r>
            <a:r>
              <a:rPr lang="en-US" dirty="0" err="1"/>
              <a:t>nonenveloped</a:t>
            </a:r>
            <a:r>
              <a:rPr lang="en-US" dirty="0"/>
              <a:t> viruses</a:t>
            </a:r>
            <a:r>
              <a:rPr lang="en-US" dirty="0" smtClean="0"/>
              <a:t>.</a:t>
            </a:r>
            <a:br>
              <a:rPr lang="en-US" dirty="0" smtClean="0"/>
            </a:br>
            <a:endParaRPr lang="en-US" dirty="0"/>
          </a:p>
          <a:p>
            <a:pPr marL="514350" indent="-514350">
              <a:buFont typeface="+mj-lt"/>
              <a:buAutoNum type="arabicPeriod"/>
            </a:pPr>
            <a:r>
              <a:rPr lang="en-US" dirty="0"/>
              <a:t>Describe the types of capsid symmetry.</a:t>
            </a:r>
          </a:p>
        </p:txBody>
      </p:sp>
      <p:sp>
        <p:nvSpPr>
          <p:cNvPr id="4" name="Slide Number Placeholder 3"/>
          <p:cNvSpPr>
            <a:spLocks noGrp="1"/>
          </p:cNvSpPr>
          <p:nvPr>
            <p:ph type="sldNum" sz="quarter" idx="12"/>
          </p:nvPr>
        </p:nvSpPr>
        <p:spPr/>
        <p:txBody>
          <a:bodyPr/>
          <a:lstStyle/>
          <a:p>
            <a:fld id="{3B1A82D2-719A-4A87-BECB-D74482819C19}" type="slidenum">
              <a:rPr lang="en-US" smtClean="0"/>
              <a:pPr/>
              <a:t>7</a:t>
            </a:fld>
            <a:endParaRPr lang="en-US"/>
          </a:p>
        </p:txBody>
      </p:sp>
    </p:spTree>
    <p:extLst>
      <p:ext uri="{BB962C8B-B14F-4D97-AF65-F5344CB8AC3E}">
        <p14:creationId xmlns:p14="http://schemas.microsoft.com/office/powerpoint/2010/main" val="42771570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92162"/>
          </a:xfrm>
        </p:spPr>
        <p:txBody>
          <a:bodyPr/>
          <a:lstStyle/>
          <a:p>
            <a:r>
              <a:rPr lang="en-US" dirty="0"/>
              <a:t>The Structure of Viruses</a:t>
            </a:r>
          </a:p>
        </p:txBody>
      </p:sp>
      <p:sp>
        <p:nvSpPr>
          <p:cNvPr id="6" name="Content Placeholder 5"/>
          <p:cNvSpPr>
            <a:spLocks noGrp="1"/>
          </p:cNvSpPr>
          <p:nvPr>
            <p:ph sz="half" idx="1"/>
          </p:nvPr>
        </p:nvSpPr>
        <p:spPr>
          <a:xfrm>
            <a:off x="152400" y="914400"/>
            <a:ext cx="8839200" cy="2819400"/>
          </a:xfrm>
        </p:spPr>
        <p:txBody>
          <a:bodyPr>
            <a:normAutofit fontScale="92500" lnSpcReduction="20000"/>
          </a:bodyPr>
          <a:lstStyle/>
          <a:p>
            <a:pPr>
              <a:lnSpc>
                <a:spcPct val="90000"/>
              </a:lnSpc>
            </a:pPr>
            <a:r>
              <a:rPr lang="en-US" dirty="0" smtClean="0"/>
              <a:t>Virion size range is ~10–400 nm in diameter and most viruses must be viewed with an electron microscope</a:t>
            </a:r>
            <a:br>
              <a:rPr lang="en-US" dirty="0" smtClean="0"/>
            </a:br>
            <a:endParaRPr lang="en-US" dirty="0" smtClean="0"/>
          </a:p>
          <a:p>
            <a:pPr>
              <a:lnSpc>
                <a:spcPct val="90000"/>
              </a:lnSpc>
            </a:pPr>
            <a:r>
              <a:rPr lang="en-US" dirty="0" smtClean="0"/>
              <a:t>All virions contain a </a:t>
            </a:r>
            <a:r>
              <a:rPr lang="en-US" dirty="0" err="1" smtClean="0"/>
              <a:t>nucleocapsid</a:t>
            </a:r>
            <a:r>
              <a:rPr lang="en-US" dirty="0" smtClean="0"/>
              <a:t> which is composed of nucleic acid (DNA or RNA) and a protein coat (capsid)</a:t>
            </a:r>
          </a:p>
          <a:p>
            <a:pPr lvl="1">
              <a:lnSpc>
                <a:spcPct val="90000"/>
              </a:lnSpc>
            </a:pPr>
            <a:r>
              <a:rPr lang="en-US" sz="2600" dirty="0" smtClean="0"/>
              <a:t>some viruses consist only of a </a:t>
            </a:r>
            <a:r>
              <a:rPr lang="en-US" sz="2600" dirty="0" err="1" smtClean="0"/>
              <a:t>nucleocapsid</a:t>
            </a:r>
            <a:r>
              <a:rPr lang="en-US" sz="2600" dirty="0" smtClean="0"/>
              <a:t>, others have additional components</a:t>
            </a:r>
            <a:br>
              <a:rPr lang="en-US" sz="2600" dirty="0" smtClean="0"/>
            </a:br>
            <a:endParaRPr lang="en-US" sz="2600" dirty="0" smtClean="0"/>
          </a:p>
          <a:p>
            <a:pPr>
              <a:lnSpc>
                <a:spcPct val="90000"/>
              </a:lnSpc>
            </a:pPr>
            <a:r>
              <a:rPr lang="en-US" dirty="0" smtClean="0"/>
              <a:t>Envelopes</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8</a:t>
            </a:fld>
            <a:endParaRPr lang="en-US"/>
          </a:p>
        </p:txBody>
      </p:sp>
      <p:pic>
        <p:nvPicPr>
          <p:cNvPr id="8" name="Picture 10" descr="(Left) The simplest virion is that of a nonenveloped virus (nucleocapsid), consisting of an icosahedral capsid assembled around its nucleic acid.  (Right) Virions of enveloped viruses are composed of a nucleocapsid surrounded by a membrane called an envelope.  The envelope usually has viral proteins called spikes inserted into it." title="Figure 6.2 Generalized Structure of Virions."/>
          <p:cNvPicPr>
            <a:picLocks noGrp="1" noChangeAspect="1" noChangeArrowheads="1"/>
          </p:cNvPicPr>
          <p:nvPr>
            <p:ph sz="half" idx="2"/>
          </p:nvPr>
        </p:nvPicPr>
        <p:blipFill>
          <a:blip r:embed="rId2" cstate="print"/>
          <a:stretch>
            <a:fillRect/>
          </a:stretch>
        </p:blipFill>
        <p:spPr bwMode="auto">
          <a:xfrm>
            <a:off x="1447800" y="3657600"/>
            <a:ext cx="6781800" cy="30806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71570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639762"/>
          </a:xfrm>
        </p:spPr>
        <p:txBody>
          <a:bodyPr>
            <a:normAutofit fontScale="90000"/>
          </a:bodyPr>
          <a:lstStyle/>
          <a:p>
            <a:r>
              <a:rPr lang="en-US" dirty="0" smtClean="0"/>
              <a:t>Size and Morphology of Select Viruses</a:t>
            </a:r>
            <a:endParaRPr lang="en-US" dirty="0"/>
          </a:p>
        </p:txBody>
      </p:sp>
      <p:sp>
        <p:nvSpPr>
          <p:cNvPr id="3" name="Slide Number Placeholder 2"/>
          <p:cNvSpPr>
            <a:spLocks noGrp="1"/>
          </p:cNvSpPr>
          <p:nvPr>
            <p:ph type="sldNum" sz="quarter" idx="12"/>
          </p:nvPr>
        </p:nvSpPr>
        <p:spPr/>
        <p:txBody>
          <a:bodyPr/>
          <a:lstStyle/>
          <a:p>
            <a:fld id="{3B1A82D2-719A-4A87-BECB-D74482819C19}" type="slidenum">
              <a:rPr lang="en-US" smtClean="0"/>
              <a:pPr/>
              <a:t>9</a:t>
            </a:fld>
            <a:endParaRPr lang="en-US"/>
          </a:p>
        </p:txBody>
      </p:sp>
      <p:pic>
        <p:nvPicPr>
          <p:cNvPr id="6" name="Picture 2" descr="Virions range in size from about 10 to 400 nanometers in diameter.  This figure illustrates the size and morphology of a variety of virions.  In order of approximate size they are фX174 phage, human papillomavirus, a flexuous-tailed phage, tobacco mosaic virus, rhabdovirus, T-even coliphage, herpesvirus, vaccinia virus, and mimivirus.&#10;&#10;Viruses pictured with icosahedral symmetry include human papillomavirus, herpesvirus, and фX174 phage.  Those with helical capsids include Rhabdovirus and tobacco mosaic virus.  Those with complex capsids include T-even coliphages, flexuous-tailed phage, and Mimivirus." title="Figure 6.1 The Size and Virion Morphology of Selected Viruses."/>
          <p:cNvPicPr>
            <a:picLocks noGrp="1" noChangeAspect="1" noChangeArrowheads="1"/>
          </p:cNvPicPr>
          <p:nvPr>
            <p:ph idx="1"/>
          </p:nvPr>
        </p:nvPicPr>
        <p:blipFill>
          <a:blip r:embed="rId2" cstate="print"/>
          <a:stretch>
            <a:fillRect/>
          </a:stretch>
        </p:blipFill>
        <p:spPr bwMode="auto">
          <a:xfrm>
            <a:off x="1012395" y="1066800"/>
            <a:ext cx="7177811" cy="5638801"/>
          </a:xfrm>
          <a:prstGeom prst="rect">
            <a:avLst/>
          </a:prstGeom>
          <a:noFill/>
          <a:ln w="9525">
            <a:noFill/>
            <a:miter lim="800000"/>
            <a:headEnd/>
            <a:tailEnd/>
          </a:ln>
        </p:spPr>
      </p:pic>
    </p:spTree>
    <p:extLst>
      <p:ext uri="{BB962C8B-B14F-4D97-AF65-F5344CB8AC3E}">
        <p14:creationId xmlns:p14="http://schemas.microsoft.com/office/powerpoint/2010/main" val="10477624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Capsids</a:t>
            </a:r>
            <a:endParaRPr lang="en-US" dirty="0"/>
          </a:p>
        </p:txBody>
      </p:sp>
      <p:sp>
        <p:nvSpPr>
          <p:cNvPr id="3" name="Content Placeholder 2"/>
          <p:cNvSpPr>
            <a:spLocks noGrp="1"/>
          </p:cNvSpPr>
          <p:nvPr>
            <p:ph idx="1"/>
          </p:nvPr>
        </p:nvSpPr>
        <p:spPr/>
        <p:txBody>
          <a:bodyPr>
            <a:normAutofit lnSpcReduction="10000"/>
          </a:bodyPr>
          <a:lstStyle/>
          <a:p>
            <a:pPr>
              <a:lnSpc>
                <a:spcPct val="90000"/>
              </a:lnSpc>
            </a:pPr>
            <a:r>
              <a:rPr lang="en-US" dirty="0"/>
              <a:t>Large macromolecular structures which serve as protein coat of </a:t>
            </a:r>
            <a:r>
              <a:rPr lang="en-US" dirty="0" smtClean="0"/>
              <a:t>virus</a:t>
            </a:r>
          </a:p>
          <a:p>
            <a:pPr marL="0" indent="0">
              <a:lnSpc>
                <a:spcPct val="90000"/>
              </a:lnSpc>
              <a:buNone/>
            </a:pPr>
            <a:endParaRPr lang="en-US" dirty="0"/>
          </a:p>
          <a:p>
            <a:pPr>
              <a:lnSpc>
                <a:spcPct val="90000"/>
              </a:lnSpc>
            </a:pPr>
            <a:r>
              <a:rPr lang="en-US" dirty="0"/>
              <a:t>Protect viral genetic material and aids in its transfer between host </a:t>
            </a:r>
            <a:r>
              <a:rPr lang="en-US" dirty="0" smtClean="0"/>
              <a:t>cells</a:t>
            </a:r>
          </a:p>
          <a:p>
            <a:pPr marL="0" indent="0">
              <a:lnSpc>
                <a:spcPct val="90000"/>
              </a:lnSpc>
              <a:buNone/>
            </a:pPr>
            <a:endParaRPr lang="en-US" dirty="0"/>
          </a:p>
          <a:p>
            <a:pPr>
              <a:lnSpc>
                <a:spcPct val="90000"/>
              </a:lnSpc>
            </a:pPr>
            <a:r>
              <a:rPr lang="en-US" dirty="0"/>
              <a:t>Made of protein subunits called </a:t>
            </a:r>
            <a:r>
              <a:rPr lang="en-US" dirty="0" err="1" smtClean="0"/>
              <a:t>protomers</a:t>
            </a:r>
            <a:endParaRPr lang="en-US" dirty="0" smtClean="0"/>
          </a:p>
          <a:p>
            <a:pPr marL="0" indent="0">
              <a:lnSpc>
                <a:spcPct val="90000"/>
              </a:lnSpc>
              <a:buNone/>
            </a:pPr>
            <a:endParaRPr lang="en-US" dirty="0"/>
          </a:p>
          <a:p>
            <a:pPr>
              <a:lnSpc>
                <a:spcPct val="90000"/>
              </a:lnSpc>
            </a:pPr>
            <a:r>
              <a:rPr lang="en-US" dirty="0"/>
              <a:t>Capsids are helical, icosahedral, or complex</a:t>
            </a:r>
          </a:p>
        </p:txBody>
      </p:sp>
      <p:sp>
        <p:nvSpPr>
          <p:cNvPr id="4" name="Slide Number Placeholder 3"/>
          <p:cNvSpPr>
            <a:spLocks noGrp="1"/>
          </p:cNvSpPr>
          <p:nvPr>
            <p:ph type="sldNum" sz="quarter" idx="12"/>
          </p:nvPr>
        </p:nvSpPr>
        <p:spPr/>
        <p:txBody>
          <a:bodyPr/>
          <a:lstStyle/>
          <a:p>
            <a:fld id="{3B1A82D2-719A-4A87-BECB-D74482819C19}" type="slidenum">
              <a:rPr lang="en-US" smtClean="0"/>
              <a:pPr/>
              <a:t>10</a:t>
            </a:fld>
            <a:endParaRPr lang="en-US"/>
          </a:p>
        </p:txBody>
      </p:sp>
    </p:spTree>
    <p:extLst>
      <p:ext uri="{BB962C8B-B14F-4D97-AF65-F5344CB8AC3E}">
        <p14:creationId xmlns:p14="http://schemas.microsoft.com/office/powerpoint/2010/main" val="32794494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52400"/>
            <a:ext cx="6019800" cy="2209800"/>
          </a:xfrm>
        </p:spPr>
        <p:txBody>
          <a:bodyPr>
            <a:normAutofit fontScale="90000"/>
          </a:bodyPr>
          <a:lstStyle/>
          <a:p>
            <a:pPr marL="342900" lvl="0" indent="-342900">
              <a:spcBef>
                <a:spcPct val="20000"/>
              </a:spcBef>
            </a:pPr>
            <a:r>
              <a:rPr lang="en-US" dirty="0" smtClean="0"/>
              <a:t>Helical Capsids</a:t>
            </a:r>
            <a:br>
              <a:rPr lang="en-US" dirty="0" smtClean="0"/>
            </a:br>
            <a:r>
              <a:rPr lang="en-US" sz="2700" dirty="0">
                <a:solidFill>
                  <a:prstClr val="black"/>
                </a:solidFill>
                <a:ea typeface="+mn-ea"/>
                <a:cs typeface="+mn-cs"/>
              </a:rPr>
              <a:t>Shaped like hollow tubes with protein walls</a:t>
            </a:r>
            <a:br>
              <a:rPr lang="en-US" sz="2700" dirty="0">
                <a:solidFill>
                  <a:prstClr val="black"/>
                </a:solidFill>
                <a:ea typeface="+mn-ea"/>
                <a:cs typeface="+mn-cs"/>
              </a:rPr>
            </a:br>
            <a:r>
              <a:rPr lang="en-US" sz="2700" dirty="0" err="1">
                <a:solidFill>
                  <a:prstClr val="black"/>
                </a:solidFill>
                <a:ea typeface="+mn-ea"/>
                <a:cs typeface="+mn-cs"/>
              </a:rPr>
              <a:t>Protomers</a:t>
            </a:r>
            <a:r>
              <a:rPr lang="en-US" sz="2700" dirty="0">
                <a:solidFill>
                  <a:prstClr val="black"/>
                </a:solidFill>
                <a:ea typeface="+mn-ea"/>
                <a:cs typeface="+mn-cs"/>
              </a:rPr>
              <a:t> self assemble</a:t>
            </a:r>
            <a:br>
              <a:rPr lang="en-US" sz="2700" dirty="0">
                <a:solidFill>
                  <a:prstClr val="black"/>
                </a:solidFill>
                <a:ea typeface="+mn-ea"/>
                <a:cs typeface="+mn-cs"/>
              </a:rPr>
            </a:br>
            <a:r>
              <a:rPr lang="en-US" sz="2700" dirty="0">
                <a:solidFill>
                  <a:prstClr val="black"/>
                </a:solidFill>
                <a:ea typeface="+mn-ea"/>
                <a:cs typeface="+mn-cs"/>
              </a:rPr>
              <a:t>Size of capsid is a function of nucleic acid</a:t>
            </a:r>
            <a:br>
              <a:rPr lang="en-US" sz="2700" dirty="0">
                <a:solidFill>
                  <a:prstClr val="black"/>
                </a:solidFill>
                <a:ea typeface="+mn-ea"/>
                <a:cs typeface="+mn-cs"/>
              </a:rPr>
            </a:br>
            <a:endParaRPr lang="en-US" sz="2700" dirty="0"/>
          </a:p>
        </p:txBody>
      </p:sp>
      <p:sp>
        <p:nvSpPr>
          <p:cNvPr id="5" name="Slide Number Placeholder 4"/>
          <p:cNvSpPr>
            <a:spLocks noGrp="1"/>
          </p:cNvSpPr>
          <p:nvPr>
            <p:ph type="sldNum" sz="quarter" idx="12"/>
          </p:nvPr>
        </p:nvSpPr>
        <p:spPr/>
        <p:txBody>
          <a:bodyPr/>
          <a:lstStyle/>
          <a:p>
            <a:fld id="{3B1A82D2-719A-4A87-BECB-D74482819C19}" type="slidenum">
              <a:rPr lang="en-US" smtClean="0"/>
              <a:pPr/>
              <a:t>11</a:t>
            </a:fld>
            <a:endParaRPr lang="en-US"/>
          </a:p>
        </p:txBody>
      </p:sp>
      <p:pic>
        <p:nvPicPr>
          <p:cNvPr id="6" name="Content Placeholder 5" descr="(Left) An electron micrograph of negatively stained helical capsids.  The virions are usually 15-18 nanometers in diameter and 300 nanometers long.  (Center) Illustration of a tobacco mosaic virus nucleocapsid.  It is comprised of a helical array of protomers with the RNA spiraling on the inside.  (Right) A model of a tobacco mosaic virus virion." title="Figure 6.3 Tobacco Mosaic Virus Virions."/>
          <p:cNvPicPr>
            <a:picLocks noGrp="1" noChangeAspect="1" noChangeArrowheads="1"/>
          </p:cNvPicPr>
          <p:nvPr>
            <p:ph sz="half" idx="1"/>
          </p:nvPr>
        </p:nvPicPr>
        <p:blipFill>
          <a:blip r:embed="rId2" cstate="print"/>
          <a:stretch>
            <a:fillRect/>
          </a:stretch>
        </p:blipFill>
        <p:spPr bwMode="auto">
          <a:xfrm>
            <a:off x="73307" y="2590800"/>
            <a:ext cx="5325103" cy="2819400"/>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Top) Schematic view.  Influenza viruses have segmented genomes consisting of seven to eight different RNA molecules.  Each is coated by capsid proteins to create seven or eight flexible nucleocapsids.  The envelope has spikes that project 10 nanometers from the surface at seven to eight nanometer intervals.  (Bottom) Electron micrograph of virions.  Because the nucleocapsids are flexible, the virions are pleomorphic (vary in size and shape)." title="Figure 6.4 Influenza Virus Virions: An Enveloped Virus with Helical Nucelocapsids."/>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5943560" y="292023"/>
            <a:ext cx="3124240" cy="60325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753193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normAutofit/>
          </a:bodyPr>
          <a:lstStyle/>
          <a:p>
            <a:r>
              <a:rPr lang="en-US" dirty="0"/>
              <a:t>Icosahedral Capsids</a:t>
            </a:r>
          </a:p>
        </p:txBody>
      </p:sp>
      <p:sp>
        <p:nvSpPr>
          <p:cNvPr id="3" name="Content Placeholder 2"/>
          <p:cNvSpPr>
            <a:spLocks noGrp="1"/>
          </p:cNvSpPr>
          <p:nvPr>
            <p:ph sz="half" idx="1"/>
          </p:nvPr>
        </p:nvSpPr>
        <p:spPr>
          <a:xfrm>
            <a:off x="0" y="1371600"/>
            <a:ext cx="4191000" cy="5334000"/>
          </a:xfrm>
        </p:spPr>
        <p:txBody>
          <a:bodyPr>
            <a:normAutofit/>
          </a:bodyPr>
          <a:lstStyle/>
          <a:p>
            <a:r>
              <a:rPr lang="en-US" dirty="0"/>
              <a:t>An icosahedron is a regular polyhedron with 20 equilateral faces and 12 </a:t>
            </a:r>
            <a:r>
              <a:rPr lang="en-US" dirty="0" smtClean="0"/>
              <a:t>vertices</a:t>
            </a:r>
            <a:br>
              <a:rPr lang="en-US" dirty="0" smtClean="0"/>
            </a:br>
            <a:endParaRPr lang="en-US" dirty="0"/>
          </a:p>
          <a:p>
            <a:r>
              <a:rPr lang="en-US" dirty="0" err="1"/>
              <a:t>Capsomers</a:t>
            </a:r>
            <a:endParaRPr lang="en-US" dirty="0"/>
          </a:p>
          <a:p>
            <a:pPr lvl="1"/>
            <a:r>
              <a:rPr lang="en-US" dirty="0"/>
              <a:t>ring or knob-shaped units made of 5 or 6 </a:t>
            </a:r>
            <a:r>
              <a:rPr lang="en-US" dirty="0" err="1"/>
              <a:t>protomers</a:t>
            </a:r>
            <a:endParaRPr lang="en-US" dirty="0"/>
          </a:p>
          <a:p>
            <a:pPr lvl="1"/>
            <a:r>
              <a:rPr lang="en-US" dirty="0" err="1"/>
              <a:t>pentamers</a:t>
            </a:r>
            <a:r>
              <a:rPr lang="en-US" dirty="0"/>
              <a:t> (pentons) – 5 subunit </a:t>
            </a:r>
            <a:r>
              <a:rPr lang="en-US" dirty="0" err="1"/>
              <a:t>capsomers</a:t>
            </a:r>
            <a:endParaRPr lang="en-US" dirty="0"/>
          </a:p>
          <a:p>
            <a:pPr lvl="1"/>
            <a:r>
              <a:rPr lang="en-US" dirty="0"/>
              <a:t>hexamers (</a:t>
            </a:r>
            <a:r>
              <a:rPr lang="en-US" dirty="0" err="1"/>
              <a:t>hexons</a:t>
            </a:r>
            <a:r>
              <a:rPr lang="en-US" dirty="0"/>
              <a:t>) – 6 subunit </a:t>
            </a:r>
            <a:r>
              <a:rPr lang="en-US" dirty="0" err="1"/>
              <a:t>capsomers</a:t>
            </a:r>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12</a:t>
            </a:fld>
            <a:endParaRPr lang="en-US"/>
          </a:p>
        </p:txBody>
      </p:sp>
      <p:pic>
        <p:nvPicPr>
          <p:cNvPr id="7" name="Content Placeholder 6" descr="(Left) Electron micrograph of adenovirus virions, 252 capsomers.  (Right) Computer simulated model of an adenovirus virion.  In the computer-simulated model, the coat proteins and capsomers are indicated by different colors and the model shows one capsomer contacting five other coat proteins, thus they are pentamers." title="Figure 6.5 The Icosahedral Capsid of an Adenovirus."/>
          <p:cNvPicPr>
            <a:picLocks noGrp="1" noChangeAspect="1" noChangeArrowheads="1"/>
          </p:cNvPicPr>
          <p:nvPr>
            <p:ph sz="half" idx="2"/>
          </p:nvPr>
        </p:nvPicPr>
        <p:blipFill>
          <a:blip r:embed="rId2" cstate="print"/>
          <a:stretch>
            <a:fillRect/>
          </a:stretch>
        </p:blipFill>
        <p:spPr bwMode="auto">
          <a:xfrm>
            <a:off x="4191000" y="2362200"/>
            <a:ext cx="4869437" cy="23040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2038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8" name="Content Placeholder 7" descr="(Left) Diagram of virion structure with core membrane, nucleic acid, outer envelope, soluble protein antigens, and lateral body labeled.  The virion is about 200 nanometers wide and 240-300 nanometers long.  (Right) Electron cryotomogram of the virion with DNA, envelope, lateral body, and core membrane identified." title="Figure 6.6 Morphology of Vaccinia Virus Virions."/>
          <p:cNvPicPr>
            <a:picLocks noGrp="1" noChangeAspect="1" noChangeArrowheads="1"/>
          </p:cNvPicPr>
          <p:nvPr>
            <p:ph sz="half" idx="2"/>
          </p:nvPr>
        </p:nvPicPr>
        <p:blipFill>
          <a:blip r:embed="rId2" cstate="print"/>
          <a:stretch>
            <a:fillRect/>
          </a:stretch>
        </p:blipFill>
        <p:spPr bwMode="auto">
          <a:xfrm>
            <a:off x="416488" y="3733799"/>
            <a:ext cx="8346512" cy="304944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457200" y="76200"/>
            <a:ext cx="8229600" cy="792162"/>
          </a:xfrm>
        </p:spPr>
        <p:txBody>
          <a:bodyPr/>
          <a:lstStyle/>
          <a:p>
            <a:r>
              <a:rPr lang="en-US" dirty="0"/>
              <a:t>Capsids of Complex Symmetry</a:t>
            </a:r>
          </a:p>
        </p:txBody>
      </p:sp>
      <p:sp>
        <p:nvSpPr>
          <p:cNvPr id="6" name="Content Placeholder 5"/>
          <p:cNvSpPr>
            <a:spLocks noGrp="1"/>
          </p:cNvSpPr>
          <p:nvPr>
            <p:ph sz="half" idx="1"/>
          </p:nvPr>
        </p:nvSpPr>
        <p:spPr>
          <a:xfrm>
            <a:off x="152400" y="838200"/>
            <a:ext cx="8839200" cy="2743200"/>
          </a:xfrm>
        </p:spPr>
        <p:txBody>
          <a:bodyPr>
            <a:normAutofit/>
          </a:bodyPr>
          <a:lstStyle/>
          <a:p>
            <a:r>
              <a:rPr lang="en-US" dirty="0" smtClean="0"/>
              <a:t>Some viruses do not fit into the category of having helical or icosahedral capsids</a:t>
            </a:r>
            <a:br>
              <a:rPr lang="en-US" dirty="0" smtClean="0"/>
            </a:br>
            <a:endParaRPr lang="en-US" dirty="0" smtClean="0"/>
          </a:p>
          <a:p>
            <a:pPr lvl="1"/>
            <a:r>
              <a:rPr lang="en-US" dirty="0" smtClean="0"/>
              <a:t>poxviruses – largest animal virus</a:t>
            </a:r>
          </a:p>
          <a:p>
            <a:pPr lvl="1"/>
            <a:r>
              <a:rPr lang="en-US" dirty="0" smtClean="0"/>
              <a:t>large bacteriophages – </a:t>
            </a:r>
            <a:r>
              <a:rPr lang="en-US" dirty="0" err="1" smtClean="0"/>
              <a:t>binal</a:t>
            </a:r>
            <a:r>
              <a:rPr lang="en-US" dirty="0" smtClean="0"/>
              <a:t> symmetry</a:t>
            </a:r>
          </a:p>
          <a:p>
            <a:pPr lvl="2"/>
            <a:r>
              <a:rPr lang="en-US" dirty="0" smtClean="0"/>
              <a:t>head resembles icosahedral, tail is helical </a:t>
            </a:r>
          </a:p>
          <a:p>
            <a:endParaRPr lang="en-US" dirty="0"/>
          </a:p>
        </p:txBody>
      </p:sp>
      <p:sp>
        <p:nvSpPr>
          <p:cNvPr id="4" name="Slide Number Placeholder 3"/>
          <p:cNvSpPr>
            <a:spLocks noGrp="1"/>
          </p:cNvSpPr>
          <p:nvPr>
            <p:ph type="sldNum" sz="quarter" idx="12"/>
          </p:nvPr>
        </p:nvSpPr>
        <p:spPr>
          <a:xfrm>
            <a:off x="6934200" y="6356350"/>
            <a:ext cx="2133600" cy="365125"/>
          </a:xfrm>
        </p:spPr>
        <p:txBody>
          <a:bodyPr/>
          <a:lstStyle/>
          <a:p>
            <a:fld id="{3B1A82D2-719A-4A87-BECB-D74482819C19}" type="slidenum">
              <a:rPr lang="en-US" smtClean="0"/>
              <a:pPr/>
              <a:t>13</a:t>
            </a:fld>
            <a:endParaRPr lang="en-US" dirty="0"/>
          </a:p>
        </p:txBody>
      </p:sp>
    </p:spTree>
    <p:extLst>
      <p:ext uri="{BB962C8B-B14F-4D97-AF65-F5344CB8AC3E}">
        <p14:creationId xmlns:p14="http://schemas.microsoft.com/office/powerpoint/2010/main" val="26699463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Phages: An Example of Complex Capsid Symmetry</a:t>
            </a:r>
            <a:endParaRPr lang="en-US" dirty="0"/>
          </a:p>
        </p:txBody>
      </p:sp>
      <p:sp>
        <p:nvSpPr>
          <p:cNvPr id="3" name="Slide Number Placeholder 2"/>
          <p:cNvSpPr>
            <a:spLocks noGrp="1"/>
          </p:cNvSpPr>
          <p:nvPr>
            <p:ph type="sldNum" sz="quarter" idx="12"/>
          </p:nvPr>
        </p:nvSpPr>
        <p:spPr/>
        <p:txBody>
          <a:bodyPr/>
          <a:lstStyle/>
          <a:p>
            <a:fld id="{3B1A82D2-719A-4A87-BECB-D74482819C19}" type="slidenum">
              <a:rPr lang="en-US" smtClean="0"/>
              <a:pPr/>
              <a:t>14</a:t>
            </a:fld>
            <a:endParaRPr lang="en-US"/>
          </a:p>
        </p:txBody>
      </p:sp>
      <p:pic>
        <p:nvPicPr>
          <p:cNvPr id="6" name="Content Placeholder 5" descr="(Left) The structure of T4 bacteriophage virion with the icosahedral capsid head, nucleic acid, collar, sheath, baseplate, tail pins, and tail fibers identified.  (Right) Electron micrograph of the virion." title="Figure 6.7 Phage of E. coli."/>
          <p:cNvPicPr>
            <a:picLocks noGrp="1" noChangeAspect="1" noChangeArrowheads="1"/>
          </p:cNvPicPr>
          <p:nvPr>
            <p:ph idx="1"/>
          </p:nvPr>
        </p:nvPicPr>
        <p:blipFill>
          <a:blip r:embed="rId2" cstate="print"/>
          <a:stretch>
            <a:fillRect/>
          </a:stretch>
        </p:blipFill>
        <p:spPr bwMode="auto">
          <a:xfrm>
            <a:off x="103720" y="1600200"/>
            <a:ext cx="8887880" cy="42822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95959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868362"/>
          </a:xfrm>
        </p:spPr>
        <p:txBody>
          <a:bodyPr/>
          <a:lstStyle/>
          <a:p>
            <a:r>
              <a:rPr lang="en-US" dirty="0"/>
              <a:t>Viral Envelopes and Enzymes</a:t>
            </a:r>
          </a:p>
        </p:txBody>
      </p:sp>
      <p:sp>
        <p:nvSpPr>
          <p:cNvPr id="7" name="Content Placeholder 6"/>
          <p:cNvSpPr>
            <a:spLocks noGrp="1"/>
          </p:cNvSpPr>
          <p:nvPr>
            <p:ph sz="half" idx="2"/>
          </p:nvPr>
        </p:nvSpPr>
        <p:spPr>
          <a:xfrm>
            <a:off x="0" y="4694237"/>
            <a:ext cx="9144000" cy="2011363"/>
          </a:xfrm>
        </p:spPr>
        <p:txBody>
          <a:bodyPr>
            <a:normAutofit fontScale="92500" lnSpcReduction="10000"/>
          </a:bodyPr>
          <a:lstStyle/>
          <a:p>
            <a:r>
              <a:rPr lang="en-US" dirty="0" smtClean="0"/>
              <a:t>Many viruses are bound by an outer, flexible, membranous layer called the envelope</a:t>
            </a:r>
            <a:br>
              <a:rPr lang="en-US" dirty="0" smtClean="0"/>
            </a:br>
            <a:endParaRPr lang="en-US" dirty="0" smtClean="0"/>
          </a:p>
          <a:p>
            <a:r>
              <a:rPr lang="en-US" dirty="0" smtClean="0"/>
              <a:t>Animal virus envelopes (lipids and carbohydrates) usually arise from host cell plasma or nuclear membranes</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15</a:t>
            </a:fld>
            <a:endParaRPr lang="en-US"/>
          </a:p>
        </p:txBody>
      </p:sp>
      <p:pic>
        <p:nvPicPr>
          <p:cNvPr id="8" name="Content Placeholder 7" descr="(Left) Photo of a negatively stained virion of a rabies virus with envelope spikes identified.  (Right) Photo of a herpesvirus virion with nucleocapsid, tegument, envelope, and glycoprotein beta-envelope spikes labeled." title="Figure 6.8 Examples of Enveloped Viruses."/>
          <p:cNvPicPr>
            <a:picLocks noGrp="1" noChangeAspect="1" noChangeArrowheads="1"/>
          </p:cNvPicPr>
          <p:nvPr>
            <p:ph sz="half" idx="1"/>
          </p:nvPr>
        </p:nvPicPr>
        <p:blipFill>
          <a:blip r:embed="rId2" cstate="print"/>
          <a:stretch>
            <a:fillRect/>
          </a:stretch>
        </p:blipFill>
        <p:spPr bwMode="auto">
          <a:xfrm>
            <a:off x="609600" y="1261491"/>
            <a:ext cx="8029751" cy="32652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55905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Viral Envelope Proteins</a:t>
            </a:r>
          </a:p>
        </p:txBody>
      </p:sp>
      <p:sp>
        <p:nvSpPr>
          <p:cNvPr id="3" name="Content Placeholder 2"/>
          <p:cNvSpPr>
            <a:spLocks noGrp="1"/>
          </p:cNvSpPr>
          <p:nvPr>
            <p:ph idx="1"/>
          </p:nvPr>
        </p:nvSpPr>
        <p:spPr/>
        <p:txBody>
          <a:bodyPr>
            <a:normAutofit fontScale="92500" lnSpcReduction="20000"/>
          </a:bodyPr>
          <a:lstStyle/>
          <a:p>
            <a:pPr>
              <a:lnSpc>
                <a:spcPct val="90000"/>
              </a:lnSpc>
            </a:pPr>
            <a:r>
              <a:rPr lang="en-US" dirty="0"/>
              <a:t>Envelope proteins, which are viral encoded, may project from the envelope surface as spikes or </a:t>
            </a:r>
            <a:r>
              <a:rPr lang="en-US" dirty="0" err="1" smtClean="0"/>
              <a:t>peplomers</a:t>
            </a:r>
            <a:r>
              <a:rPr lang="en-US" dirty="0" smtClean="0"/>
              <a:t/>
            </a:r>
            <a:br>
              <a:rPr lang="en-US" dirty="0" smtClean="0"/>
            </a:br>
            <a:endParaRPr lang="en-US" dirty="0"/>
          </a:p>
          <a:p>
            <a:pPr lvl="1">
              <a:lnSpc>
                <a:spcPct val="90000"/>
              </a:lnSpc>
            </a:pPr>
            <a:r>
              <a:rPr lang="en-US" dirty="0"/>
              <a:t>involved in viral attachment to host cell</a:t>
            </a:r>
          </a:p>
          <a:p>
            <a:pPr lvl="2">
              <a:lnSpc>
                <a:spcPct val="90000"/>
              </a:lnSpc>
            </a:pPr>
            <a:r>
              <a:rPr lang="en-US" sz="2400" dirty="0"/>
              <a:t>e.g., hemagglutinin of influenza </a:t>
            </a:r>
            <a:r>
              <a:rPr lang="en-US" sz="2400" dirty="0" smtClean="0"/>
              <a:t>virus</a:t>
            </a:r>
            <a:br>
              <a:rPr lang="en-US" sz="2400" dirty="0" smtClean="0"/>
            </a:br>
            <a:endParaRPr lang="en-US" sz="2400" dirty="0"/>
          </a:p>
          <a:p>
            <a:pPr lvl="1">
              <a:lnSpc>
                <a:spcPct val="90000"/>
              </a:lnSpc>
            </a:pPr>
            <a:r>
              <a:rPr lang="en-US" dirty="0"/>
              <a:t>used for identification of </a:t>
            </a:r>
            <a:r>
              <a:rPr lang="en-US" dirty="0" smtClean="0"/>
              <a:t>virus</a:t>
            </a:r>
            <a:br>
              <a:rPr lang="en-US" dirty="0" smtClean="0"/>
            </a:br>
            <a:endParaRPr lang="en-US" dirty="0"/>
          </a:p>
          <a:p>
            <a:pPr lvl="1">
              <a:lnSpc>
                <a:spcPct val="90000"/>
              </a:lnSpc>
            </a:pPr>
            <a:r>
              <a:rPr lang="en-US" dirty="0"/>
              <a:t>may have enzymatic or other activity</a:t>
            </a:r>
          </a:p>
          <a:p>
            <a:pPr lvl="2">
              <a:lnSpc>
                <a:spcPct val="90000"/>
              </a:lnSpc>
            </a:pPr>
            <a:r>
              <a:rPr lang="en-US" sz="2400" dirty="0"/>
              <a:t>e.g., neuraminidase of influenza </a:t>
            </a:r>
            <a:r>
              <a:rPr lang="en-US" sz="2400" dirty="0" smtClean="0"/>
              <a:t>virus</a:t>
            </a:r>
            <a:br>
              <a:rPr lang="en-US" sz="2400" dirty="0" smtClean="0"/>
            </a:br>
            <a:endParaRPr lang="en-US" sz="2400" dirty="0"/>
          </a:p>
          <a:p>
            <a:pPr lvl="1">
              <a:lnSpc>
                <a:spcPct val="90000"/>
              </a:lnSpc>
            </a:pPr>
            <a:r>
              <a:rPr lang="en-US" dirty="0"/>
              <a:t>may play a role in nucleic acid replication</a:t>
            </a:r>
          </a:p>
        </p:txBody>
      </p:sp>
      <p:sp>
        <p:nvSpPr>
          <p:cNvPr id="4" name="Slide Number Placeholder 3"/>
          <p:cNvSpPr>
            <a:spLocks noGrp="1"/>
          </p:cNvSpPr>
          <p:nvPr>
            <p:ph type="sldNum" sz="quarter" idx="12"/>
          </p:nvPr>
        </p:nvSpPr>
        <p:spPr/>
        <p:txBody>
          <a:bodyPr/>
          <a:lstStyle/>
          <a:p>
            <a:fld id="{3B1A82D2-719A-4A87-BECB-D74482819C19}" type="slidenum">
              <a:rPr lang="en-US" smtClean="0"/>
              <a:pPr/>
              <a:t>16</a:t>
            </a:fld>
            <a:endParaRPr lang="en-US"/>
          </a:p>
        </p:txBody>
      </p:sp>
    </p:spTree>
    <p:extLst>
      <p:ext uri="{BB962C8B-B14F-4D97-AF65-F5344CB8AC3E}">
        <p14:creationId xmlns:p14="http://schemas.microsoft.com/office/powerpoint/2010/main" val="16356766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Virion Enzymes</a:t>
            </a:r>
          </a:p>
        </p:txBody>
      </p:sp>
      <p:sp>
        <p:nvSpPr>
          <p:cNvPr id="3" name="Content Placeholder 2"/>
          <p:cNvSpPr>
            <a:spLocks noGrp="1"/>
          </p:cNvSpPr>
          <p:nvPr>
            <p:ph idx="1"/>
          </p:nvPr>
        </p:nvSpPr>
        <p:spPr/>
        <p:txBody>
          <a:bodyPr>
            <a:normAutofit/>
          </a:bodyPr>
          <a:lstStyle/>
          <a:p>
            <a:r>
              <a:rPr lang="en-US" dirty="0"/>
              <a:t>F</a:t>
            </a:r>
            <a:r>
              <a:rPr lang="en-US" dirty="0" smtClean="0"/>
              <a:t>irst </a:t>
            </a:r>
            <a:r>
              <a:rPr lang="en-US" dirty="0"/>
              <a:t>erroneously thought that all </a:t>
            </a:r>
            <a:r>
              <a:rPr lang="en-US" dirty="0" err="1"/>
              <a:t>virions</a:t>
            </a:r>
            <a:r>
              <a:rPr lang="en-US" dirty="0"/>
              <a:t> lacked </a:t>
            </a:r>
            <a:r>
              <a:rPr lang="en-US" dirty="0" smtClean="0"/>
              <a:t>enzymes</a:t>
            </a:r>
            <a:br>
              <a:rPr lang="en-US" dirty="0" smtClean="0"/>
            </a:br>
            <a:endParaRPr lang="en-US" dirty="0"/>
          </a:p>
          <a:p>
            <a:r>
              <a:rPr lang="en-US" dirty="0"/>
              <a:t>Now accepted that a variety of </a:t>
            </a:r>
            <a:r>
              <a:rPr lang="en-US" dirty="0" err="1"/>
              <a:t>virions</a:t>
            </a:r>
            <a:r>
              <a:rPr lang="en-US" dirty="0"/>
              <a:t> have enzymes</a:t>
            </a:r>
          </a:p>
          <a:p>
            <a:pPr lvl="1"/>
            <a:r>
              <a:rPr lang="en-US" dirty="0"/>
              <a:t>some are associated with the envelope or capsid but most are within the capsid</a:t>
            </a:r>
          </a:p>
        </p:txBody>
      </p:sp>
      <p:sp>
        <p:nvSpPr>
          <p:cNvPr id="4" name="Slide Number Placeholder 3"/>
          <p:cNvSpPr>
            <a:spLocks noGrp="1"/>
          </p:cNvSpPr>
          <p:nvPr>
            <p:ph type="sldNum" sz="quarter" idx="12"/>
          </p:nvPr>
        </p:nvSpPr>
        <p:spPr/>
        <p:txBody>
          <a:bodyPr/>
          <a:lstStyle/>
          <a:p>
            <a:fld id="{3B1A82D2-719A-4A87-BECB-D74482819C19}" type="slidenum">
              <a:rPr lang="en-US" smtClean="0"/>
              <a:pPr/>
              <a:t>17</a:t>
            </a:fld>
            <a:endParaRPr lang="en-US"/>
          </a:p>
        </p:txBody>
      </p:sp>
    </p:spTree>
    <p:extLst>
      <p:ext uri="{BB962C8B-B14F-4D97-AF65-F5344CB8AC3E}">
        <p14:creationId xmlns:p14="http://schemas.microsoft.com/office/powerpoint/2010/main" val="16356766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fontScale="90000"/>
          </a:bodyPr>
          <a:lstStyle/>
          <a:p>
            <a:r>
              <a:rPr lang="en-US" dirty="0" smtClean="0"/>
              <a:t>Viral Genome</a:t>
            </a:r>
            <a:br>
              <a:rPr lang="en-US" dirty="0" smtClean="0"/>
            </a:br>
            <a:endParaRPr lang="en-US" dirty="0"/>
          </a:p>
        </p:txBody>
      </p:sp>
      <p:sp>
        <p:nvSpPr>
          <p:cNvPr id="8" name="Content Placeholder 7"/>
          <p:cNvSpPr>
            <a:spLocks noGrp="1"/>
          </p:cNvSpPr>
          <p:nvPr>
            <p:ph idx="1"/>
          </p:nvPr>
        </p:nvSpPr>
        <p:spPr>
          <a:xfrm>
            <a:off x="457200" y="1219200"/>
            <a:ext cx="8229600" cy="5257800"/>
          </a:xfrm>
        </p:spPr>
        <p:txBody>
          <a:bodyPr/>
          <a:lstStyle/>
          <a:p>
            <a:pPr>
              <a:lnSpc>
                <a:spcPct val="90000"/>
              </a:lnSpc>
            </a:pPr>
            <a:r>
              <a:rPr lang="en-US" dirty="0" smtClean="0"/>
              <a:t>Diverse nature of genomes</a:t>
            </a:r>
            <a:br>
              <a:rPr lang="en-US" dirty="0" smtClean="0"/>
            </a:br>
            <a:r>
              <a:rPr lang="en-US" dirty="0" smtClean="0"/>
              <a:t> </a:t>
            </a:r>
          </a:p>
          <a:p>
            <a:pPr>
              <a:lnSpc>
                <a:spcPct val="90000"/>
              </a:lnSpc>
            </a:pPr>
            <a:r>
              <a:rPr lang="en-US" dirty="0" smtClean="0"/>
              <a:t>A virus may have single or double stranded DNA or RNA</a:t>
            </a:r>
            <a:br>
              <a:rPr lang="en-US" dirty="0" smtClean="0"/>
            </a:br>
            <a:endParaRPr lang="en-US" dirty="0" smtClean="0"/>
          </a:p>
          <a:p>
            <a:pPr>
              <a:lnSpc>
                <a:spcPct val="90000"/>
              </a:lnSpc>
            </a:pPr>
            <a:r>
              <a:rPr lang="en-US" dirty="0" smtClean="0"/>
              <a:t>The length of the nucleic acid also varies from virus to virus</a:t>
            </a:r>
            <a:br>
              <a:rPr lang="en-US" dirty="0" smtClean="0"/>
            </a:br>
            <a:endParaRPr lang="en-US" dirty="0" smtClean="0"/>
          </a:p>
          <a:p>
            <a:pPr>
              <a:lnSpc>
                <a:spcPct val="90000"/>
              </a:lnSpc>
            </a:pPr>
            <a:r>
              <a:rPr lang="en-US" dirty="0" smtClean="0"/>
              <a:t>Genomes can be segmented or circular</a:t>
            </a:r>
          </a:p>
          <a:p>
            <a:endParaRPr lang="en-US" b="1"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18</a:t>
            </a:fld>
            <a:endParaRPr lang="en-US"/>
          </a:p>
        </p:txBody>
      </p:sp>
    </p:spTree>
    <p:extLst>
      <p:ext uri="{BB962C8B-B14F-4D97-AF65-F5344CB8AC3E}">
        <p14:creationId xmlns:p14="http://schemas.microsoft.com/office/powerpoint/2010/main" val="28855791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6.3 Viral Life Cycles Have Five Steps</a:t>
            </a:r>
            <a:endParaRPr lang="en-US" dirty="0"/>
          </a:p>
        </p:txBody>
      </p:sp>
      <p:sp>
        <p:nvSpPr>
          <p:cNvPr id="3" name="Content Placeholder 2"/>
          <p:cNvSpPr>
            <a:spLocks noGrp="1"/>
          </p:cNvSpPr>
          <p:nvPr>
            <p:ph idx="1"/>
          </p:nvPr>
        </p:nvSpPr>
        <p:spPr/>
        <p:txBody>
          <a:bodyPr>
            <a:normAutofit lnSpcReduction="10000"/>
          </a:bodyPr>
          <a:lstStyle/>
          <a:p>
            <a:pPr marL="514350" indent="-514350">
              <a:buFont typeface="+mj-lt"/>
              <a:buAutoNum type="arabicPeriod"/>
            </a:pPr>
            <a:r>
              <a:rPr lang="en-US" dirty="0"/>
              <a:t>Describe the five steps common to the life cycles of all viruses</a:t>
            </a:r>
            <a:r>
              <a:rPr lang="en-US" dirty="0" smtClean="0"/>
              <a:t>.</a:t>
            </a:r>
            <a:br>
              <a:rPr lang="en-US" dirty="0" smtClean="0"/>
            </a:br>
            <a:endParaRPr lang="en-US" dirty="0"/>
          </a:p>
          <a:p>
            <a:pPr marL="514350" indent="-514350">
              <a:buFont typeface="+mj-lt"/>
              <a:buAutoNum type="arabicPeriod"/>
            </a:pPr>
            <a:r>
              <a:rPr lang="en-US" dirty="0"/>
              <a:t>Discuss the role of receptors, capsid proteins, and envelope proteins in the life cycles of viruses</a:t>
            </a:r>
            <a:r>
              <a:rPr lang="en-US" dirty="0" smtClean="0"/>
              <a:t>.</a:t>
            </a:r>
            <a:br>
              <a:rPr lang="en-US" dirty="0" smtClean="0"/>
            </a:br>
            <a:endParaRPr lang="en-US" dirty="0"/>
          </a:p>
          <a:p>
            <a:pPr marL="514350" indent="-514350">
              <a:buFont typeface="+mj-lt"/>
              <a:buAutoNum type="arabicPeriod"/>
            </a:pPr>
            <a:r>
              <a:rPr lang="en-US" dirty="0"/>
              <a:t>Describe the two most common methods for </a:t>
            </a:r>
            <a:r>
              <a:rPr lang="en-US" dirty="0" err="1"/>
              <a:t>virion</a:t>
            </a:r>
            <a:r>
              <a:rPr lang="en-US" dirty="0"/>
              <a:t> release from a host cell.</a:t>
            </a:r>
          </a:p>
        </p:txBody>
      </p:sp>
      <p:sp>
        <p:nvSpPr>
          <p:cNvPr id="4" name="Slide Number Placeholder 3"/>
          <p:cNvSpPr>
            <a:spLocks noGrp="1"/>
          </p:cNvSpPr>
          <p:nvPr>
            <p:ph type="sldNum" sz="quarter" idx="12"/>
          </p:nvPr>
        </p:nvSpPr>
        <p:spPr/>
        <p:txBody>
          <a:bodyPr/>
          <a:lstStyle/>
          <a:p>
            <a:fld id="{3B1A82D2-719A-4A87-BECB-D74482819C19}" type="slidenum">
              <a:rPr lang="en-US" smtClean="0"/>
              <a:pPr/>
              <a:t>19</a:t>
            </a:fld>
            <a:endParaRPr lang="en-US"/>
          </a:p>
        </p:txBody>
      </p:sp>
    </p:spTree>
    <p:extLst>
      <p:ext uri="{BB962C8B-B14F-4D97-AF65-F5344CB8AC3E}">
        <p14:creationId xmlns:p14="http://schemas.microsoft.com/office/powerpoint/2010/main" val="16356766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868362"/>
          </a:xfrm>
        </p:spPr>
        <p:txBody>
          <a:bodyPr/>
          <a:lstStyle/>
          <a:p>
            <a:r>
              <a:rPr lang="en-US" dirty="0" smtClean="0"/>
              <a:t>One-Step Growth Curves</a:t>
            </a:r>
            <a:endParaRPr lang="en-US" dirty="0"/>
          </a:p>
        </p:txBody>
      </p:sp>
      <p:sp>
        <p:nvSpPr>
          <p:cNvPr id="6" name="Content Placeholder 5"/>
          <p:cNvSpPr>
            <a:spLocks noGrp="1"/>
          </p:cNvSpPr>
          <p:nvPr>
            <p:ph sz="half" idx="2"/>
          </p:nvPr>
        </p:nvSpPr>
        <p:spPr>
          <a:xfrm>
            <a:off x="4876800" y="1371600"/>
            <a:ext cx="4191000" cy="5334000"/>
          </a:xfrm>
        </p:spPr>
        <p:txBody>
          <a:bodyPr>
            <a:normAutofit fontScale="92500" lnSpcReduction="20000"/>
          </a:bodyPr>
          <a:lstStyle/>
          <a:p>
            <a:r>
              <a:rPr lang="en-US" dirty="0" smtClean="0"/>
              <a:t>Early experiments in 1939 by Delbruck and Ellis with bacteriophage T4 and </a:t>
            </a:r>
            <a:r>
              <a:rPr lang="en-US" i="1" dirty="0" smtClean="0"/>
              <a:t>E. coli </a:t>
            </a:r>
            <a:r>
              <a:rPr lang="en-US" dirty="0" smtClean="0"/>
              <a:t>host cells</a:t>
            </a:r>
            <a:br>
              <a:rPr lang="en-US" dirty="0" smtClean="0"/>
            </a:br>
            <a:endParaRPr lang="en-US" i="1" dirty="0" smtClean="0"/>
          </a:p>
          <a:p>
            <a:pPr lvl="1"/>
            <a:r>
              <a:rPr lang="en-US" dirty="0" smtClean="0"/>
              <a:t>illustrated an eclipse period where no new virus was present in host cells</a:t>
            </a:r>
            <a:br>
              <a:rPr lang="en-US" dirty="0" smtClean="0"/>
            </a:br>
            <a:endParaRPr lang="en-US" dirty="0" smtClean="0"/>
          </a:p>
          <a:p>
            <a:pPr lvl="1"/>
            <a:r>
              <a:rPr lang="en-US" dirty="0" smtClean="0"/>
              <a:t>also showed burst size – the number of new viruses produced per infected cell</a:t>
            </a:r>
            <a:br>
              <a:rPr lang="en-US" dirty="0" smtClean="0"/>
            </a:br>
            <a:endParaRPr lang="en-US" dirty="0" smtClean="0"/>
          </a:p>
          <a:p>
            <a:r>
              <a:rPr lang="en-US" dirty="0" smtClean="0"/>
              <a:t>First steps and evidence to understanding viral life cycle steps</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20</a:t>
            </a:fld>
            <a:endParaRPr lang="en-US"/>
          </a:p>
        </p:txBody>
      </p:sp>
      <p:pic>
        <p:nvPicPr>
          <p:cNvPr id="8" name="Picture 2" descr="This figure plots phage count numbers by time in minutes.  The eclipse period is the initial portion of the latent period in which host cells do not contain any complete, infective virions.  During the remainder of the latent period, an increasing number of infective virions are present, but none are released.  The latent period ends with host cell lysis and rapid release of virions (rise period). " title="Figure 6.9 The One-Step Growth Curve."/>
          <p:cNvPicPr>
            <a:picLocks noGrp="1" noChangeAspect="1" noChangeArrowheads="1"/>
          </p:cNvPicPr>
          <p:nvPr>
            <p:ph sz="half" idx="1"/>
          </p:nvPr>
        </p:nvPicPr>
        <p:blipFill>
          <a:blip r:embed="rId2" cstate="print"/>
          <a:srcRect/>
          <a:stretch>
            <a:fillRect/>
          </a:stretch>
        </p:blipFill>
        <p:spPr bwMode="auto">
          <a:xfrm>
            <a:off x="178597" y="1676400"/>
            <a:ext cx="4489343" cy="3974510"/>
          </a:xfrm>
          <a:prstGeom prst="rect">
            <a:avLst/>
          </a:prstGeom>
          <a:noFill/>
        </p:spPr>
      </p:pic>
    </p:spTree>
    <p:extLst>
      <p:ext uri="{BB962C8B-B14F-4D97-AF65-F5344CB8AC3E}">
        <p14:creationId xmlns:p14="http://schemas.microsoft.com/office/powerpoint/2010/main" val="12616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52400"/>
            <a:ext cx="4495800" cy="1143000"/>
          </a:xfrm>
        </p:spPr>
        <p:txBody>
          <a:bodyPr>
            <a:normAutofit fontScale="90000"/>
          </a:bodyPr>
          <a:lstStyle/>
          <a:p>
            <a:r>
              <a:rPr lang="en-US" dirty="0" smtClean="0"/>
              <a:t>Viral Multiplication</a:t>
            </a:r>
            <a:endParaRPr lang="en-US" dirty="0"/>
          </a:p>
        </p:txBody>
      </p:sp>
      <p:sp>
        <p:nvSpPr>
          <p:cNvPr id="6" name="Content Placeholder 5"/>
          <p:cNvSpPr>
            <a:spLocks noGrp="1"/>
          </p:cNvSpPr>
          <p:nvPr>
            <p:ph sz="half" idx="1"/>
          </p:nvPr>
        </p:nvSpPr>
        <p:spPr>
          <a:xfrm>
            <a:off x="152400" y="1447800"/>
            <a:ext cx="4343400" cy="5181600"/>
          </a:xfrm>
        </p:spPr>
        <p:txBody>
          <a:bodyPr>
            <a:normAutofit/>
          </a:bodyPr>
          <a:lstStyle/>
          <a:p>
            <a:pPr>
              <a:lnSpc>
                <a:spcPct val="90000"/>
              </a:lnSpc>
            </a:pPr>
            <a:r>
              <a:rPr lang="en-US" dirty="0" smtClean="0"/>
              <a:t>Mechanism used depends on viral structure and genome</a:t>
            </a:r>
          </a:p>
          <a:p>
            <a:pPr marL="0" indent="0">
              <a:lnSpc>
                <a:spcPct val="90000"/>
              </a:lnSpc>
              <a:buNone/>
            </a:pPr>
            <a:endParaRPr lang="en-US" dirty="0" smtClean="0"/>
          </a:p>
          <a:p>
            <a:pPr>
              <a:lnSpc>
                <a:spcPct val="90000"/>
              </a:lnSpc>
            </a:pPr>
            <a:r>
              <a:rPr lang="en-US" dirty="0" smtClean="0"/>
              <a:t>Steps are similar</a:t>
            </a:r>
            <a:br>
              <a:rPr lang="en-US" dirty="0" smtClean="0"/>
            </a:br>
            <a:endParaRPr lang="en-US" dirty="0" smtClean="0"/>
          </a:p>
          <a:p>
            <a:pPr lvl="1">
              <a:lnSpc>
                <a:spcPct val="90000"/>
              </a:lnSpc>
            </a:pPr>
            <a:r>
              <a:rPr lang="en-US" dirty="0" smtClean="0"/>
              <a:t>attachment to host cell</a:t>
            </a:r>
          </a:p>
          <a:p>
            <a:pPr lvl="1">
              <a:lnSpc>
                <a:spcPct val="90000"/>
              </a:lnSpc>
            </a:pPr>
            <a:r>
              <a:rPr lang="en-US" dirty="0" smtClean="0"/>
              <a:t>entry and </a:t>
            </a:r>
            <a:r>
              <a:rPr lang="en-US" dirty="0" err="1" smtClean="0"/>
              <a:t>uncoating</a:t>
            </a:r>
            <a:r>
              <a:rPr lang="en-US" dirty="0" smtClean="0"/>
              <a:t> of genome</a:t>
            </a:r>
          </a:p>
          <a:p>
            <a:pPr lvl="1">
              <a:lnSpc>
                <a:spcPct val="90000"/>
              </a:lnSpc>
            </a:pPr>
            <a:r>
              <a:rPr lang="en-US" dirty="0" smtClean="0"/>
              <a:t>synthesis </a:t>
            </a:r>
          </a:p>
          <a:p>
            <a:pPr lvl="1">
              <a:lnSpc>
                <a:spcPct val="90000"/>
              </a:lnSpc>
            </a:pPr>
            <a:r>
              <a:rPr lang="en-US" dirty="0" smtClean="0"/>
              <a:t>assembly</a:t>
            </a:r>
          </a:p>
          <a:p>
            <a:pPr lvl="1">
              <a:lnSpc>
                <a:spcPct val="90000"/>
              </a:lnSpc>
            </a:pPr>
            <a:r>
              <a:rPr lang="en-US" dirty="0" smtClean="0"/>
              <a:t>release</a:t>
            </a:r>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21</a:t>
            </a:fld>
            <a:endParaRPr lang="en-US"/>
          </a:p>
        </p:txBody>
      </p:sp>
      <p:pic>
        <p:nvPicPr>
          <p:cNvPr id="8" name="Content Placeholder 7" descr="The life cycle of a virus that infects a eukaryotic cell is shown.&#10;Step 1 – Attachment of virion to host cell&#10;Step 2 – Entry of viral nucleocapsid&#10;Step 3 – Synthesis of viral proteins and nucleic acids&#10;Step 4 – Self-assembly of virions&#10;Step 5 – Cell lysis and release of progeny virions" title="Figure 6.10 Generalized Illustration of Virus Multiplication."/>
          <p:cNvPicPr>
            <a:picLocks noGrp="1" noChangeAspect="1" noChangeArrowheads="1"/>
          </p:cNvPicPr>
          <p:nvPr>
            <p:ph sz="half" idx="2"/>
          </p:nvPr>
        </p:nvPicPr>
        <p:blipFill>
          <a:blip r:embed="rId2" cstate="print"/>
          <a:stretch>
            <a:fillRect/>
          </a:stretch>
        </p:blipFill>
        <p:spPr bwMode="auto">
          <a:xfrm>
            <a:off x="5105400" y="61784"/>
            <a:ext cx="3069940" cy="67206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56766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Attachment (Adsorption)</a:t>
            </a:r>
            <a:endParaRPr lang="en-US" dirty="0"/>
          </a:p>
        </p:txBody>
      </p:sp>
      <p:sp>
        <p:nvSpPr>
          <p:cNvPr id="3" name="Content Placeholder 2"/>
          <p:cNvSpPr>
            <a:spLocks noGrp="1"/>
          </p:cNvSpPr>
          <p:nvPr>
            <p:ph idx="1"/>
          </p:nvPr>
        </p:nvSpPr>
        <p:spPr/>
        <p:txBody>
          <a:bodyPr/>
          <a:lstStyle/>
          <a:p>
            <a:r>
              <a:rPr lang="en-US" dirty="0"/>
              <a:t>Specific receptor </a:t>
            </a:r>
            <a:r>
              <a:rPr lang="en-US" dirty="0" smtClean="0"/>
              <a:t>attachment</a:t>
            </a:r>
          </a:p>
          <a:p>
            <a:pPr marL="0" indent="0">
              <a:buNone/>
            </a:pPr>
            <a:endParaRPr lang="en-US" dirty="0"/>
          </a:p>
          <a:p>
            <a:r>
              <a:rPr lang="en-US" dirty="0"/>
              <a:t>Receptor determines host </a:t>
            </a:r>
            <a:r>
              <a:rPr lang="en-US" dirty="0" smtClean="0"/>
              <a:t>preference</a:t>
            </a:r>
            <a:endParaRPr lang="en-US" dirty="0"/>
          </a:p>
          <a:p>
            <a:pPr lvl="1"/>
            <a:r>
              <a:rPr lang="en-US" dirty="0"/>
              <a:t>may be specific tissue (tropism)</a:t>
            </a:r>
          </a:p>
          <a:p>
            <a:pPr lvl="1"/>
            <a:r>
              <a:rPr lang="en-US" dirty="0"/>
              <a:t>may be more than one host</a:t>
            </a:r>
          </a:p>
          <a:p>
            <a:pPr lvl="1"/>
            <a:r>
              <a:rPr lang="en-US" dirty="0"/>
              <a:t>may be more than one receptor</a:t>
            </a:r>
          </a:p>
          <a:p>
            <a:pPr lvl="1"/>
            <a:r>
              <a:rPr lang="en-US" dirty="0"/>
              <a:t>may be in lipid rafts providing entry of virus</a:t>
            </a:r>
          </a:p>
        </p:txBody>
      </p:sp>
      <p:sp>
        <p:nvSpPr>
          <p:cNvPr id="4" name="Slide Number Placeholder 3"/>
          <p:cNvSpPr>
            <a:spLocks noGrp="1"/>
          </p:cNvSpPr>
          <p:nvPr>
            <p:ph type="sldNum" sz="quarter" idx="12"/>
          </p:nvPr>
        </p:nvSpPr>
        <p:spPr/>
        <p:txBody>
          <a:bodyPr/>
          <a:lstStyle/>
          <a:p>
            <a:fld id="{3B1A82D2-719A-4A87-BECB-D74482819C19}" type="slidenum">
              <a:rPr lang="en-US" smtClean="0"/>
              <a:pPr/>
              <a:t>22</a:t>
            </a:fld>
            <a:endParaRPr lang="en-US"/>
          </a:p>
        </p:txBody>
      </p:sp>
    </p:spTree>
    <p:extLst>
      <p:ext uri="{BB962C8B-B14F-4D97-AF65-F5344CB8AC3E}">
        <p14:creationId xmlns:p14="http://schemas.microsoft.com/office/powerpoint/2010/main" val="16356766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Viral Entry and </a:t>
            </a:r>
            <a:r>
              <a:rPr lang="en-US" dirty="0" err="1" smtClean="0"/>
              <a:t>Uncoating</a:t>
            </a:r>
            <a:endParaRPr lang="en-US" dirty="0"/>
          </a:p>
        </p:txBody>
      </p:sp>
      <p:sp>
        <p:nvSpPr>
          <p:cNvPr id="3" name="Content Placeholder 2"/>
          <p:cNvSpPr>
            <a:spLocks noGrp="1"/>
          </p:cNvSpPr>
          <p:nvPr>
            <p:ph idx="1"/>
          </p:nvPr>
        </p:nvSpPr>
        <p:spPr>
          <a:xfrm>
            <a:off x="457200" y="1600200"/>
            <a:ext cx="8229600" cy="4800600"/>
          </a:xfrm>
        </p:spPr>
        <p:txBody>
          <a:bodyPr>
            <a:normAutofit fontScale="92500" lnSpcReduction="10000"/>
          </a:bodyPr>
          <a:lstStyle/>
          <a:p>
            <a:r>
              <a:rPr lang="en-US" dirty="0"/>
              <a:t>Entire genome or </a:t>
            </a:r>
            <a:r>
              <a:rPr lang="en-US" dirty="0" err="1" smtClean="0"/>
              <a:t>nucleocapsid</a:t>
            </a:r>
            <a:endParaRPr lang="en-US" dirty="0" smtClean="0"/>
          </a:p>
          <a:p>
            <a:pPr marL="0" indent="0">
              <a:buNone/>
            </a:pPr>
            <a:endParaRPr lang="en-US" dirty="0"/>
          </a:p>
          <a:p>
            <a:r>
              <a:rPr lang="en-US" dirty="0"/>
              <a:t>Varies between naked or enveloped </a:t>
            </a:r>
            <a:r>
              <a:rPr lang="en-US" dirty="0" smtClean="0"/>
              <a:t>virus</a:t>
            </a:r>
          </a:p>
          <a:p>
            <a:pPr marL="0" indent="0">
              <a:buNone/>
            </a:pPr>
            <a:endParaRPr lang="en-US" dirty="0"/>
          </a:p>
          <a:p>
            <a:r>
              <a:rPr lang="en-US" dirty="0"/>
              <a:t>Three methods used</a:t>
            </a:r>
          </a:p>
          <a:p>
            <a:pPr lvl="1"/>
            <a:r>
              <a:rPr lang="en-US" dirty="0"/>
              <a:t>fusion of the viral envelope with host membrane; </a:t>
            </a:r>
            <a:r>
              <a:rPr lang="en-US" dirty="0" err="1"/>
              <a:t>nucleocapsid</a:t>
            </a:r>
            <a:r>
              <a:rPr lang="en-US" dirty="0"/>
              <a:t> enters</a:t>
            </a:r>
          </a:p>
          <a:p>
            <a:pPr lvl="1"/>
            <a:r>
              <a:rPr lang="en-US" dirty="0"/>
              <a:t>endocytosis in vesicle; endosome aids in viral </a:t>
            </a:r>
            <a:r>
              <a:rPr lang="en-US" dirty="0" err="1"/>
              <a:t>uncoating</a:t>
            </a:r>
            <a:endParaRPr lang="en-US" dirty="0"/>
          </a:p>
          <a:p>
            <a:pPr lvl="1"/>
            <a:r>
              <a:rPr lang="en-US" dirty="0"/>
              <a:t>injection of nucleic acid </a:t>
            </a:r>
          </a:p>
        </p:txBody>
      </p:sp>
      <p:sp>
        <p:nvSpPr>
          <p:cNvPr id="4" name="Slide Number Placeholder 3"/>
          <p:cNvSpPr>
            <a:spLocks noGrp="1"/>
          </p:cNvSpPr>
          <p:nvPr>
            <p:ph type="sldNum" sz="quarter" idx="12"/>
          </p:nvPr>
        </p:nvSpPr>
        <p:spPr/>
        <p:txBody>
          <a:bodyPr/>
          <a:lstStyle/>
          <a:p>
            <a:fld id="{3B1A82D2-719A-4A87-BECB-D74482819C19}" type="slidenum">
              <a:rPr lang="en-US" smtClean="0"/>
              <a:pPr/>
              <a:t>23</a:t>
            </a:fld>
            <a:endParaRPr lang="en-US"/>
          </a:p>
        </p:txBody>
      </p:sp>
    </p:spTree>
    <p:extLst>
      <p:ext uri="{BB962C8B-B14F-4D97-AF65-F5344CB8AC3E}">
        <p14:creationId xmlns:p14="http://schemas.microsoft.com/office/powerpoint/2010/main" val="16356766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6" name="Picture 7" descr="Examples of animal virus attachment and entry into host cells.  Enveloped viruses can (top) enter after fusion of the envelope with the plasma membrane or (middle) escape from an endosome after endocytosis.  (Bottom) Nonenveloped viruses may be taken up by endocytosis and then insert their nucleic acid into the cytosol through the vesicle membrane.  It is also possible that they insert the nucleic acid directly through the plasma membrane.&#10;&#10;(Top) Entry of enveloped virus by fusing with plasma membrane.  Viral envelope spikes bind to receptors on the surface of the host cell, then the lipid bilayer of the viral envelope fuses with the host cell membrane, and the nucleocapsid is released into the cytoplasm.&#10;(Middle) Entry of enveloped virus by endocytosis.  Viral envelope spikes bind to receptors on the host’s cell surface, binding to the receptor triggers receptor-mediated endocytosis, and increased acidity allows the nucleocapsid to escape from the endosome and enter the cytosol.&#10;(Bottom) Entry of nonenveloped virus by endocytosis.  Capsid proteins bind to receptors on the cell surface and trigger receptor-mediated endocytosis, then nucleic acid is extruded from the endosome into the cytosol." title="Figure 6.11 Animal Virus Entry."/>
          <p:cNvPicPr>
            <a:picLocks noGrp="1" noChangeAspect="1" noChangeArrowheads="1"/>
          </p:cNvPicPr>
          <p:nvPr>
            <p:ph idx="1"/>
          </p:nvPr>
        </p:nvPicPr>
        <p:blipFill>
          <a:blip r:embed="rId2" cstate="print"/>
          <a:stretch>
            <a:fillRect/>
          </a:stretch>
        </p:blipFill>
        <p:spPr bwMode="auto">
          <a:xfrm>
            <a:off x="48871" y="76200"/>
            <a:ext cx="6270841" cy="670059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5943600" y="228600"/>
            <a:ext cx="3048000" cy="1676400"/>
          </a:xfrm>
        </p:spPr>
        <p:txBody>
          <a:bodyPr>
            <a:normAutofit fontScale="90000"/>
          </a:bodyPr>
          <a:lstStyle/>
          <a:p>
            <a:r>
              <a:rPr lang="en-US" dirty="0" smtClean="0"/>
              <a:t>Animal Virus Entry Mechanisms</a:t>
            </a:r>
            <a:endParaRPr lang="en-US" dirty="0"/>
          </a:p>
        </p:txBody>
      </p:sp>
      <p:sp>
        <p:nvSpPr>
          <p:cNvPr id="3" name="Slide Number Placeholder 2"/>
          <p:cNvSpPr>
            <a:spLocks noGrp="1"/>
          </p:cNvSpPr>
          <p:nvPr>
            <p:ph type="sldNum" sz="quarter" idx="12"/>
          </p:nvPr>
        </p:nvSpPr>
        <p:spPr/>
        <p:txBody>
          <a:bodyPr/>
          <a:lstStyle/>
          <a:p>
            <a:fld id="{3B1A82D2-719A-4A87-BECB-D74482819C19}" type="slidenum">
              <a:rPr lang="en-US" smtClean="0"/>
              <a:pPr/>
              <a:t>24</a:t>
            </a:fld>
            <a:endParaRPr lang="en-US"/>
          </a:p>
        </p:txBody>
      </p:sp>
    </p:spTree>
    <p:extLst>
      <p:ext uri="{BB962C8B-B14F-4D97-AF65-F5344CB8AC3E}">
        <p14:creationId xmlns:p14="http://schemas.microsoft.com/office/powerpoint/2010/main" val="33429457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343400" y="76200"/>
            <a:ext cx="4724400" cy="868362"/>
          </a:xfrm>
        </p:spPr>
        <p:txBody>
          <a:bodyPr/>
          <a:lstStyle/>
          <a:p>
            <a:r>
              <a:rPr lang="en-US" dirty="0" smtClean="0"/>
              <a:t>Synthesis Stage</a:t>
            </a:r>
            <a:endParaRPr lang="en-US" dirty="0"/>
          </a:p>
        </p:txBody>
      </p:sp>
      <p:sp>
        <p:nvSpPr>
          <p:cNvPr id="5" name="Content Placeholder 4"/>
          <p:cNvSpPr>
            <a:spLocks noGrp="1"/>
          </p:cNvSpPr>
          <p:nvPr>
            <p:ph sz="half" idx="1"/>
          </p:nvPr>
        </p:nvSpPr>
        <p:spPr>
          <a:xfrm>
            <a:off x="152400" y="228600"/>
            <a:ext cx="4267200" cy="6477000"/>
          </a:xfrm>
        </p:spPr>
        <p:txBody>
          <a:bodyPr>
            <a:normAutofit fontScale="92500" lnSpcReduction="20000"/>
          </a:bodyPr>
          <a:lstStyle/>
          <a:p>
            <a:r>
              <a:rPr lang="en-US" dirty="0" smtClean="0"/>
              <a:t>Genome dictates the events</a:t>
            </a:r>
            <a:br>
              <a:rPr lang="en-US" dirty="0" smtClean="0"/>
            </a:br>
            <a:endParaRPr lang="en-US" dirty="0" smtClean="0"/>
          </a:p>
          <a:p>
            <a:r>
              <a:rPr lang="en-US" dirty="0" smtClean="0"/>
              <a:t>ds DNA typical flow</a:t>
            </a:r>
            <a:br>
              <a:rPr lang="en-US" dirty="0" smtClean="0"/>
            </a:br>
            <a:endParaRPr lang="en-US" dirty="0" smtClean="0"/>
          </a:p>
          <a:p>
            <a:r>
              <a:rPr lang="en-US" dirty="0" smtClean="0"/>
              <a:t>RNA viruses</a:t>
            </a:r>
          </a:p>
          <a:p>
            <a:pPr lvl="1"/>
            <a:r>
              <a:rPr lang="en-US" dirty="0" smtClean="0"/>
              <a:t>virus must carry in or </a:t>
            </a:r>
            <a:br>
              <a:rPr lang="en-US" dirty="0" smtClean="0"/>
            </a:br>
            <a:r>
              <a:rPr lang="en-US" dirty="0" smtClean="0"/>
              <a:t>synthesize the proteins </a:t>
            </a:r>
            <a:br>
              <a:rPr lang="en-US" dirty="0" smtClean="0"/>
            </a:br>
            <a:r>
              <a:rPr lang="en-US" dirty="0" smtClean="0"/>
              <a:t>necessary to complete </a:t>
            </a:r>
            <a:br>
              <a:rPr lang="en-US" dirty="0" smtClean="0"/>
            </a:br>
            <a:r>
              <a:rPr lang="en-US" dirty="0" smtClean="0"/>
              <a:t>synthesis</a:t>
            </a:r>
            <a:br>
              <a:rPr lang="en-US" dirty="0" smtClean="0"/>
            </a:br>
            <a:endParaRPr lang="en-US" dirty="0" smtClean="0"/>
          </a:p>
          <a:p>
            <a:r>
              <a:rPr lang="en-US" dirty="0" smtClean="0"/>
              <a:t>Stages may occur, e.g., </a:t>
            </a:r>
          </a:p>
          <a:p>
            <a:pPr marL="0" indent="0">
              <a:buNone/>
            </a:pPr>
            <a:r>
              <a:rPr lang="en-US" dirty="0" smtClean="0"/>
              <a:t>   early and late</a:t>
            </a:r>
            <a:br>
              <a:rPr lang="en-US" dirty="0" smtClean="0"/>
            </a:br>
            <a:endParaRPr lang="en-US" dirty="0" smtClean="0"/>
          </a:p>
          <a:p>
            <a:r>
              <a:rPr lang="en-US" dirty="0" smtClean="0"/>
              <a:t>May induce formation of </a:t>
            </a:r>
          </a:p>
          <a:p>
            <a:pPr marL="0" indent="0">
              <a:buNone/>
            </a:pPr>
            <a:r>
              <a:rPr lang="en-US" dirty="0" smtClean="0"/>
              <a:t>   membrane-protected </a:t>
            </a:r>
          </a:p>
          <a:p>
            <a:pPr marL="0" indent="0">
              <a:buNone/>
            </a:pPr>
            <a:r>
              <a:rPr lang="en-US" dirty="0" smtClean="0"/>
              <a:t>   replication complexes</a:t>
            </a:r>
          </a:p>
          <a:p>
            <a:endParaRPr lang="en-US" dirty="0" smtClean="0"/>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25</a:t>
            </a:fld>
            <a:endParaRPr lang="en-US"/>
          </a:p>
        </p:txBody>
      </p:sp>
      <p:pic>
        <p:nvPicPr>
          <p:cNvPr id="8" name="Picture 2" descr="An electron tomogram of cells infected with severe acute respiratory syndrome coronavirus.  The vesicles of the viral replication complex have a double membrane derived from endoplasmic reticulum membranes.  The membranes of vesicles are connected to the endoplasmic reticulum." title="Figure 6.12 A Viral Replication Complex."/>
          <p:cNvPicPr>
            <a:picLocks noGrp="1" noChangeAspect="1" noChangeArrowheads="1"/>
          </p:cNvPicPr>
          <p:nvPr>
            <p:ph sz="half" idx="2"/>
          </p:nvPr>
        </p:nvPicPr>
        <p:blipFill>
          <a:blip r:embed="rId2" cstate="print"/>
          <a:srcRect/>
          <a:stretch>
            <a:fillRect/>
          </a:stretch>
        </p:blipFill>
        <p:spPr bwMode="auto">
          <a:xfrm>
            <a:off x="4267200" y="1035667"/>
            <a:ext cx="4800600" cy="5620739"/>
          </a:xfrm>
          <a:prstGeom prst="rect">
            <a:avLst/>
          </a:prstGeom>
          <a:noFill/>
        </p:spPr>
      </p:pic>
    </p:spTree>
    <p:extLst>
      <p:ext uri="{BB962C8B-B14F-4D97-AF65-F5344CB8AC3E}">
        <p14:creationId xmlns:p14="http://schemas.microsoft.com/office/powerpoint/2010/main" val="23409975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5181600" y="0"/>
            <a:ext cx="3505200" cy="914400"/>
          </a:xfrm>
        </p:spPr>
        <p:txBody>
          <a:bodyPr/>
          <a:lstStyle/>
          <a:p>
            <a:r>
              <a:rPr lang="en-US" dirty="0" smtClean="0"/>
              <a:t>Assembly</a:t>
            </a:r>
            <a:endParaRPr lang="en-US" dirty="0"/>
          </a:p>
        </p:txBody>
      </p:sp>
      <p:sp>
        <p:nvSpPr>
          <p:cNvPr id="7" name="Content Placeholder 6"/>
          <p:cNvSpPr>
            <a:spLocks noGrp="1"/>
          </p:cNvSpPr>
          <p:nvPr>
            <p:ph sz="half" idx="2"/>
          </p:nvPr>
        </p:nvSpPr>
        <p:spPr>
          <a:xfrm>
            <a:off x="4876800" y="1066800"/>
            <a:ext cx="4038600" cy="5665564"/>
          </a:xfrm>
        </p:spPr>
        <p:txBody>
          <a:bodyPr>
            <a:normAutofit/>
          </a:bodyPr>
          <a:lstStyle/>
          <a:p>
            <a:pPr>
              <a:lnSpc>
                <a:spcPct val="90000"/>
              </a:lnSpc>
            </a:pPr>
            <a:r>
              <a:rPr lang="en-US" dirty="0" smtClean="0"/>
              <a:t>Late proteins are important in assembly</a:t>
            </a:r>
          </a:p>
          <a:p>
            <a:pPr marL="0" indent="0">
              <a:lnSpc>
                <a:spcPct val="90000"/>
              </a:lnSpc>
              <a:buNone/>
            </a:pPr>
            <a:endParaRPr lang="en-US" dirty="0" smtClean="0"/>
          </a:p>
          <a:p>
            <a:pPr>
              <a:lnSpc>
                <a:spcPct val="90000"/>
              </a:lnSpc>
            </a:pPr>
            <a:r>
              <a:rPr lang="en-US" dirty="0" smtClean="0"/>
              <a:t>Assembly is complicated but varies</a:t>
            </a:r>
            <a:br>
              <a:rPr lang="en-US" dirty="0" smtClean="0"/>
            </a:br>
            <a:endParaRPr lang="en-US" dirty="0" smtClean="0"/>
          </a:p>
          <a:p>
            <a:pPr lvl="1">
              <a:lnSpc>
                <a:spcPct val="90000"/>
              </a:lnSpc>
            </a:pPr>
            <a:r>
              <a:rPr lang="en-US" dirty="0" smtClean="0"/>
              <a:t>bacteriophages – stages </a:t>
            </a:r>
          </a:p>
          <a:p>
            <a:pPr lvl="1">
              <a:lnSpc>
                <a:spcPct val="90000"/>
              </a:lnSpc>
            </a:pPr>
            <a:r>
              <a:rPr lang="en-US" dirty="0" smtClean="0"/>
              <a:t>some are assembled in nucleus</a:t>
            </a:r>
          </a:p>
          <a:p>
            <a:pPr lvl="1">
              <a:lnSpc>
                <a:spcPct val="90000"/>
              </a:lnSpc>
            </a:pPr>
            <a:r>
              <a:rPr lang="en-US" dirty="0" smtClean="0"/>
              <a:t>some are assembled in cytoplasm</a:t>
            </a:r>
          </a:p>
          <a:p>
            <a:pPr lvl="1">
              <a:lnSpc>
                <a:spcPct val="90000"/>
              </a:lnSpc>
            </a:pPr>
            <a:r>
              <a:rPr lang="en-US" dirty="0" smtClean="0"/>
              <a:t>may be seen as </a:t>
            </a:r>
            <a:r>
              <a:rPr lang="en-US" dirty="0" err="1" smtClean="0"/>
              <a:t>paracrystalline</a:t>
            </a:r>
            <a:r>
              <a:rPr lang="en-US" dirty="0" smtClean="0"/>
              <a:t> structures in cell</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26</a:t>
            </a:fld>
            <a:endParaRPr lang="en-US"/>
          </a:p>
        </p:txBody>
      </p:sp>
      <p:pic>
        <p:nvPicPr>
          <p:cNvPr id="8" name="Content Placeholder 7" descr="The assembly process can be quite complex with multiple subassembly lines functioning independently and converging in later steps to complete nucleocapsid construction.  As shown in this figure, the baseplate, tail fibers, and head components of bacteriophage T4 are assembled separately.  Once the baseplate is finished, the tail tube is built on it and the sheath is assembled around the tube.  The phage prohead is constructed with the aid of scaffolding proteins that are degraded or removed after assembly is completed.  DNA is incorporated into the prohead by a complex of proteins.  After the head is completed, it spontaneously combines with the tube and sheath (connected to the baseplate) and the tail assembly." title="Figure 6.13 The Assembly of T4 Virions."/>
          <p:cNvPicPr>
            <a:picLocks noGrp="1" noChangeAspect="1" noChangeArrowheads="1"/>
          </p:cNvPicPr>
          <p:nvPr>
            <p:ph sz="half" idx="1"/>
          </p:nvPr>
        </p:nvPicPr>
        <p:blipFill>
          <a:blip r:embed="rId2" cstate="print"/>
          <a:stretch>
            <a:fillRect/>
          </a:stretch>
        </p:blipFill>
        <p:spPr bwMode="auto">
          <a:xfrm>
            <a:off x="251520" y="116518"/>
            <a:ext cx="4402862" cy="65890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11683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92162"/>
          </a:xfrm>
        </p:spPr>
        <p:txBody>
          <a:bodyPr/>
          <a:lstStyle/>
          <a:p>
            <a:r>
              <a:rPr lang="en-US" dirty="0" smtClean="0"/>
              <a:t>Virion Release</a:t>
            </a:r>
            <a:endParaRPr lang="en-US" dirty="0"/>
          </a:p>
        </p:txBody>
      </p:sp>
      <p:sp>
        <p:nvSpPr>
          <p:cNvPr id="6" name="Content Placeholder 5"/>
          <p:cNvSpPr>
            <a:spLocks noGrp="1"/>
          </p:cNvSpPr>
          <p:nvPr>
            <p:ph sz="half" idx="1"/>
          </p:nvPr>
        </p:nvSpPr>
        <p:spPr>
          <a:xfrm>
            <a:off x="76200" y="838200"/>
            <a:ext cx="9067800" cy="1676400"/>
          </a:xfrm>
        </p:spPr>
        <p:txBody>
          <a:bodyPr>
            <a:normAutofit/>
          </a:bodyPr>
          <a:lstStyle/>
          <a:p>
            <a:pPr>
              <a:lnSpc>
                <a:spcPct val="90000"/>
              </a:lnSpc>
            </a:pPr>
            <a:r>
              <a:rPr lang="en-US" dirty="0" smtClean="0"/>
              <a:t>Nonenveloped viruses lyse the host cell</a:t>
            </a:r>
          </a:p>
          <a:p>
            <a:pPr lvl="1">
              <a:lnSpc>
                <a:spcPct val="90000"/>
              </a:lnSpc>
            </a:pPr>
            <a:r>
              <a:rPr lang="en-US" dirty="0" smtClean="0"/>
              <a:t>viral proteins may attack peptidoglycan or membrane</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27</a:t>
            </a:fld>
            <a:endParaRPr lang="en-US"/>
          </a:p>
        </p:txBody>
      </p:sp>
      <p:pic>
        <p:nvPicPr>
          <p:cNvPr id="8" name="Content Placeholder 7" descr="Photo.  The host cell has been lysed and virions have been released into the surroundings.  Progeny virions also can be seen in the cytoplasm.  In addition, empty capsids of the infecting virus particles coat the outside of the cell." title="Figure 6.14 Release of T4 Virions by Lysis of the Host Cell."/>
          <p:cNvPicPr>
            <a:picLocks noGrp="1" noChangeAspect="1" noChangeArrowheads="1"/>
          </p:cNvPicPr>
          <p:nvPr>
            <p:ph sz="half" idx="2"/>
          </p:nvPr>
        </p:nvPicPr>
        <p:blipFill>
          <a:blip r:embed="rId2" cstate="print"/>
          <a:stretch>
            <a:fillRect/>
          </a:stretch>
        </p:blipFill>
        <p:spPr bwMode="auto">
          <a:xfrm>
            <a:off x="1087355" y="1828800"/>
            <a:ext cx="7082894" cy="49530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11683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914400"/>
          </a:xfrm>
        </p:spPr>
        <p:txBody>
          <a:bodyPr>
            <a:normAutofit/>
          </a:bodyPr>
          <a:lstStyle/>
          <a:p>
            <a:r>
              <a:rPr lang="en-US" dirty="0" smtClean="0"/>
              <a:t>Virion Release (2)</a:t>
            </a:r>
            <a:endParaRPr lang="en-US" dirty="0"/>
          </a:p>
        </p:txBody>
      </p:sp>
      <p:sp>
        <p:nvSpPr>
          <p:cNvPr id="7" name="Content Placeholder 6"/>
          <p:cNvSpPr>
            <a:spLocks noGrp="1"/>
          </p:cNvSpPr>
          <p:nvPr>
            <p:ph sz="half" idx="2"/>
          </p:nvPr>
        </p:nvSpPr>
        <p:spPr>
          <a:xfrm>
            <a:off x="152400" y="4572000"/>
            <a:ext cx="8839200" cy="2209800"/>
          </a:xfrm>
        </p:spPr>
        <p:txBody>
          <a:bodyPr>
            <a:normAutofit fontScale="92500" lnSpcReduction="20000"/>
          </a:bodyPr>
          <a:lstStyle/>
          <a:p>
            <a:pPr>
              <a:lnSpc>
                <a:spcPct val="90000"/>
              </a:lnSpc>
            </a:pPr>
            <a:r>
              <a:rPr lang="en-US" dirty="0" smtClean="0"/>
              <a:t>Enveloped viruses use budding</a:t>
            </a:r>
            <a:br>
              <a:rPr lang="en-US" dirty="0" smtClean="0"/>
            </a:br>
            <a:endParaRPr lang="en-US" dirty="0" smtClean="0"/>
          </a:p>
          <a:p>
            <a:pPr lvl="1">
              <a:lnSpc>
                <a:spcPct val="90000"/>
              </a:lnSpc>
            </a:pPr>
            <a:r>
              <a:rPr lang="en-US" dirty="0" smtClean="0"/>
              <a:t>viral proteins are placed into host membrane</a:t>
            </a:r>
          </a:p>
          <a:p>
            <a:pPr lvl="1">
              <a:lnSpc>
                <a:spcPct val="90000"/>
              </a:lnSpc>
            </a:pPr>
            <a:r>
              <a:rPr lang="en-US" dirty="0" err="1" smtClean="0"/>
              <a:t>nucleocapsid</a:t>
            </a:r>
            <a:r>
              <a:rPr lang="en-US" dirty="0" smtClean="0"/>
              <a:t> may bind to viral proteins</a:t>
            </a:r>
          </a:p>
          <a:p>
            <a:pPr lvl="1">
              <a:lnSpc>
                <a:spcPct val="90000"/>
              </a:lnSpc>
            </a:pPr>
            <a:r>
              <a:rPr lang="en-US" dirty="0" smtClean="0"/>
              <a:t>envelope derived from host cell membrane, but may be Golgi, ER, or other</a:t>
            </a:r>
          </a:p>
          <a:p>
            <a:pPr lvl="1">
              <a:lnSpc>
                <a:spcPct val="90000"/>
              </a:lnSpc>
            </a:pPr>
            <a:r>
              <a:rPr lang="en-US" dirty="0" smtClean="0"/>
              <a:t>virus may use host actin tails to propel through host membrane</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28</a:t>
            </a:fld>
            <a:endParaRPr lang="en-US"/>
          </a:p>
        </p:txBody>
      </p:sp>
      <p:pic>
        <p:nvPicPr>
          <p:cNvPr id="8" name="Picture 2" descr="Step 1 – Viral envelope proteins are inserted into the host cell’s plasma membrane.  The viral matrix protein lines the cytoplasmic face of the plasma membrane.&#10;Step 2 – Nucleocapsids are directed to the plasma membrane by the host cell’s microtubules.&#10;Step 3 – Plasma membrane protrudes outward and nucleocapsids are surrounded by matrix-lined plasma membrane.&#10;Step 4 – The neck of the protruding membrane is pinched off and a mature virion is released." title="Figure 6.15 Release of Influenza Virus Virions by Budding."/>
          <p:cNvPicPr>
            <a:picLocks noGrp="1" noChangeAspect="1" noChangeArrowheads="1"/>
          </p:cNvPicPr>
          <p:nvPr>
            <p:ph sz="half" idx="1"/>
          </p:nvPr>
        </p:nvPicPr>
        <p:blipFill>
          <a:blip r:embed="rId2" cstate="print"/>
          <a:stretch>
            <a:fillRect/>
          </a:stretch>
        </p:blipFill>
        <p:spPr bwMode="auto">
          <a:xfrm>
            <a:off x="1796335" y="914400"/>
            <a:ext cx="5504285" cy="34339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11683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74638"/>
            <a:ext cx="8915400" cy="1143000"/>
          </a:xfrm>
        </p:spPr>
        <p:txBody>
          <a:bodyPr>
            <a:normAutofit fontScale="90000"/>
          </a:bodyPr>
          <a:lstStyle/>
          <a:p>
            <a:r>
              <a:rPr lang="en-US" dirty="0" smtClean="0"/>
              <a:t>6.4 There Are Several Types of Viral Infections</a:t>
            </a:r>
            <a:endParaRPr lang="en-US" dirty="0"/>
          </a:p>
        </p:txBody>
      </p:sp>
      <p:sp>
        <p:nvSpPr>
          <p:cNvPr id="3" name="Content Placeholder 2"/>
          <p:cNvSpPr>
            <a:spLocks noGrp="1"/>
          </p:cNvSpPr>
          <p:nvPr>
            <p:ph idx="1"/>
          </p:nvPr>
        </p:nvSpPr>
        <p:spPr>
          <a:xfrm>
            <a:off x="457200" y="2057400"/>
            <a:ext cx="8229600" cy="4525963"/>
          </a:xfrm>
        </p:spPr>
        <p:txBody>
          <a:bodyPr>
            <a:normAutofit fontScale="92500" lnSpcReduction="10000"/>
          </a:bodyPr>
          <a:lstStyle/>
          <a:p>
            <a:pPr marL="514350" indent="-514350">
              <a:buFont typeface="+mj-lt"/>
              <a:buAutoNum type="arabicPeriod"/>
            </a:pPr>
            <a:r>
              <a:rPr lang="en-US" dirty="0"/>
              <a:t>Compare and contrast the major steps of the life cycles of virulent phages and temperate phages</a:t>
            </a:r>
            <a:r>
              <a:rPr lang="en-US" dirty="0" smtClean="0"/>
              <a:t>.</a:t>
            </a:r>
            <a:br>
              <a:rPr lang="en-US" dirty="0" smtClean="0"/>
            </a:br>
            <a:endParaRPr lang="en-US" dirty="0"/>
          </a:p>
          <a:p>
            <a:pPr marL="514350" indent="-514350">
              <a:buFont typeface="+mj-lt"/>
              <a:buAutoNum type="arabicPeriod"/>
            </a:pPr>
            <a:r>
              <a:rPr lang="en-US" dirty="0"/>
              <a:t>List examples of lysogenic conversion</a:t>
            </a:r>
            <a:r>
              <a:rPr lang="en-US" dirty="0" smtClean="0"/>
              <a:t>.</a:t>
            </a:r>
            <a:br>
              <a:rPr lang="en-US" dirty="0" smtClean="0"/>
            </a:br>
            <a:endParaRPr lang="en-US" dirty="0"/>
          </a:p>
          <a:p>
            <a:pPr marL="514350" indent="-514350">
              <a:buFont typeface="+mj-lt"/>
              <a:buAutoNum type="arabicPeriod"/>
            </a:pPr>
            <a:r>
              <a:rPr lang="en-US" dirty="0"/>
              <a:t>Differentiate among the types of viral infections of eukaryotic cells</a:t>
            </a:r>
            <a:r>
              <a:rPr lang="en-US" dirty="0" smtClean="0"/>
              <a:t>.</a:t>
            </a:r>
            <a:br>
              <a:rPr lang="en-US" dirty="0" smtClean="0"/>
            </a:br>
            <a:endParaRPr lang="en-US" dirty="0"/>
          </a:p>
          <a:p>
            <a:pPr marL="514350" indent="-514350">
              <a:buFont typeface="+mj-lt"/>
              <a:buAutoNum type="arabicPeriod"/>
            </a:pPr>
            <a:r>
              <a:rPr lang="en-US" dirty="0"/>
              <a:t>Summarize the current understanding of how </a:t>
            </a:r>
            <a:r>
              <a:rPr lang="en-US" dirty="0" err="1"/>
              <a:t>oncoviruses</a:t>
            </a:r>
            <a:r>
              <a:rPr lang="en-US" dirty="0"/>
              <a:t> cause cancer.</a:t>
            </a:r>
          </a:p>
        </p:txBody>
      </p:sp>
      <p:sp>
        <p:nvSpPr>
          <p:cNvPr id="4" name="Slide Number Placeholder 3"/>
          <p:cNvSpPr>
            <a:spLocks noGrp="1"/>
          </p:cNvSpPr>
          <p:nvPr>
            <p:ph type="sldNum" sz="quarter" idx="12"/>
          </p:nvPr>
        </p:nvSpPr>
        <p:spPr/>
        <p:txBody>
          <a:bodyPr/>
          <a:lstStyle/>
          <a:p>
            <a:fld id="{3B1A82D2-719A-4A87-BECB-D74482819C19}" type="slidenum">
              <a:rPr lang="en-US" smtClean="0"/>
              <a:pPr/>
              <a:t>29</a:t>
            </a:fld>
            <a:endParaRPr lang="en-US"/>
          </a:p>
        </p:txBody>
      </p:sp>
    </p:spTree>
    <p:extLst>
      <p:ext uri="{BB962C8B-B14F-4D97-AF65-F5344CB8AC3E}">
        <p14:creationId xmlns:p14="http://schemas.microsoft.com/office/powerpoint/2010/main" val="25911683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Bacterial and Archaeal Viral Infections</a:t>
            </a:r>
          </a:p>
        </p:txBody>
      </p:sp>
      <p:sp>
        <p:nvSpPr>
          <p:cNvPr id="3" name="Content Placeholder 2"/>
          <p:cNvSpPr>
            <a:spLocks noGrp="1"/>
          </p:cNvSpPr>
          <p:nvPr>
            <p:ph idx="1"/>
          </p:nvPr>
        </p:nvSpPr>
        <p:spPr/>
        <p:txBody>
          <a:bodyPr>
            <a:normAutofit fontScale="92500"/>
          </a:bodyPr>
          <a:lstStyle/>
          <a:p>
            <a:pPr>
              <a:lnSpc>
                <a:spcPct val="90000"/>
              </a:lnSpc>
            </a:pPr>
            <a:r>
              <a:rPr lang="en-US" dirty="0"/>
              <a:t>Virulent phage – one reproductive </a:t>
            </a:r>
            <a:r>
              <a:rPr lang="en-US" dirty="0" smtClean="0"/>
              <a:t>choice</a:t>
            </a:r>
            <a:endParaRPr lang="en-US" dirty="0"/>
          </a:p>
          <a:p>
            <a:pPr lvl="1">
              <a:lnSpc>
                <a:spcPct val="90000"/>
              </a:lnSpc>
            </a:pPr>
            <a:r>
              <a:rPr lang="en-US" dirty="0"/>
              <a:t>multiplies immediately upon entry</a:t>
            </a:r>
          </a:p>
          <a:p>
            <a:pPr lvl="1">
              <a:lnSpc>
                <a:spcPct val="90000"/>
              </a:lnSpc>
            </a:pPr>
            <a:r>
              <a:rPr lang="en-US" dirty="0"/>
              <a:t>lyses bacterial host </a:t>
            </a:r>
            <a:r>
              <a:rPr lang="en-US" dirty="0" smtClean="0"/>
              <a:t>cell</a:t>
            </a:r>
          </a:p>
          <a:p>
            <a:pPr marL="457200" lvl="1" indent="0">
              <a:lnSpc>
                <a:spcPct val="90000"/>
              </a:lnSpc>
              <a:buNone/>
            </a:pPr>
            <a:endParaRPr lang="en-US" dirty="0"/>
          </a:p>
          <a:p>
            <a:pPr>
              <a:lnSpc>
                <a:spcPct val="90000"/>
              </a:lnSpc>
            </a:pPr>
            <a:r>
              <a:rPr lang="en-US" dirty="0"/>
              <a:t>Temperate phages have two reproductive options</a:t>
            </a:r>
          </a:p>
          <a:p>
            <a:pPr lvl="1">
              <a:lnSpc>
                <a:spcPct val="90000"/>
              </a:lnSpc>
            </a:pPr>
            <a:r>
              <a:rPr lang="en-US" dirty="0"/>
              <a:t>reproduce </a:t>
            </a:r>
            <a:r>
              <a:rPr lang="en-US" dirty="0" err="1"/>
              <a:t>lytically</a:t>
            </a:r>
            <a:r>
              <a:rPr lang="en-US" dirty="0"/>
              <a:t> as virulent phages do</a:t>
            </a:r>
          </a:p>
          <a:p>
            <a:pPr lvl="1">
              <a:lnSpc>
                <a:spcPct val="90000"/>
              </a:lnSpc>
            </a:pPr>
            <a:r>
              <a:rPr lang="en-US" dirty="0"/>
              <a:t>remain within host cell without destroying it</a:t>
            </a:r>
          </a:p>
          <a:p>
            <a:pPr lvl="2">
              <a:lnSpc>
                <a:spcPct val="110000"/>
              </a:lnSpc>
            </a:pPr>
            <a:r>
              <a:rPr lang="en-US" sz="2400" dirty="0"/>
              <a:t>many temperate phages integrate their genome into host genome (becoming a ‘prophage’ in a ‘lysogenic bacterium’) in a relationship called </a:t>
            </a:r>
            <a:r>
              <a:rPr lang="en-US" sz="2400" dirty="0" err="1"/>
              <a:t>lysogeny</a:t>
            </a:r>
            <a:endParaRPr lang="en-US" sz="2400" dirty="0"/>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30</a:t>
            </a:fld>
            <a:endParaRPr lang="en-US"/>
          </a:p>
        </p:txBody>
      </p:sp>
    </p:spTree>
    <p:extLst>
      <p:ext uri="{BB962C8B-B14F-4D97-AF65-F5344CB8AC3E}">
        <p14:creationId xmlns:p14="http://schemas.microsoft.com/office/powerpoint/2010/main" val="25911683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Lytic and Lysogenic Cycles</a:t>
            </a:r>
            <a:endParaRPr lang="en-US" dirty="0"/>
          </a:p>
        </p:txBody>
      </p:sp>
      <p:sp>
        <p:nvSpPr>
          <p:cNvPr id="3" name="Slide Number Placeholder 2"/>
          <p:cNvSpPr>
            <a:spLocks noGrp="1"/>
          </p:cNvSpPr>
          <p:nvPr>
            <p:ph type="sldNum" sz="quarter" idx="12"/>
          </p:nvPr>
        </p:nvSpPr>
        <p:spPr/>
        <p:txBody>
          <a:bodyPr/>
          <a:lstStyle/>
          <a:p>
            <a:fld id="{3B1A82D2-719A-4A87-BECB-D74482819C19}" type="slidenum">
              <a:rPr lang="en-US" smtClean="0"/>
              <a:pPr/>
              <a:t>31</a:t>
            </a:fld>
            <a:endParaRPr lang="en-US"/>
          </a:p>
        </p:txBody>
      </p:sp>
      <p:pic>
        <p:nvPicPr>
          <p:cNvPr id="6" name="Content Placeholder 5" descr="Temperate phages have two phases to their life cycles.  The lysogenic cycle allows the genome of the virus to be replicated passively as the host cell’s genome is replicated.  Certain environmental factors such as UV light can cause a switch from the lysogenic cycle to the lytic cycle.  In the lytic cycle, new virus particles are made and released when the host cell lyses.  Virulent phages are limited to just the lytic cycle.&#10;The Lysogenic Cycle. Phage DNA integrates into host chromosome.  Prophage DNA is copied when the cell divides.  Exposure to stress such as UV light triggers excision from the host chromosome.  &#10;The Lytic Cycle. Phage DNA injects its DNA into the cytoplasm.  Phage DNA directs the synthesis of many new phages.  Cell lyses and releases the new phages.  New phages bind to bacterial cells and start the cycle over." title="Figure 6.16 Lytic and Lysogenic Cycles of Temperate Phages."/>
          <p:cNvPicPr>
            <a:picLocks noGrp="1" noChangeAspect="1" noChangeArrowheads="1"/>
          </p:cNvPicPr>
          <p:nvPr>
            <p:ph idx="1"/>
          </p:nvPr>
        </p:nvPicPr>
        <p:blipFill>
          <a:blip r:embed="rId2" cstate="print"/>
          <a:stretch>
            <a:fillRect/>
          </a:stretch>
        </p:blipFill>
        <p:spPr bwMode="auto">
          <a:xfrm>
            <a:off x="152400" y="1675951"/>
            <a:ext cx="8907872" cy="42676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71913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944562"/>
          </a:xfrm>
        </p:spPr>
        <p:txBody>
          <a:bodyPr/>
          <a:lstStyle/>
          <a:p>
            <a:r>
              <a:rPr lang="en-US" dirty="0"/>
              <a:t>Lysogenic Conversion</a:t>
            </a:r>
          </a:p>
        </p:txBody>
      </p:sp>
      <p:sp>
        <p:nvSpPr>
          <p:cNvPr id="3" name="Content Placeholder 2"/>
          <p:cNvSpPr>
            <a:spLocks noGrp="1"/>
          </p:cNvSpPr>
          <p:nvPr>
            <p:ph idx="1"/>
          </p:nvPr>
        </p:nvSpPr>
        <p:spPr>
          <a:xfrm>
            <a:off x="457200" y="1447800"/>
            <a:ext cx="8229600" cy="5029200"/>
          </a:xfrm>
        </p:spPr>
        <p:txBody>
          <a:bodyPr>
            <a:normAutofit fontScale="92500" lnSpcReduction="10000"/>
          </a:bodyPr>
          <a:lstStyle/>
          <a:p>
            <a:pPr>
              <a:lnSpc>
                <a:spcPct val="90000"/>
              </a:lnSpc>
            </a:pPr>
            <a:r>
              <a:rPr lang="en-US" sz="2800" dirty="0"/>
              <a:t>Temperate phage changes phenotype of its host</a:t>
            </a:r>
          </a:p>
          <a:p>
            <a:pPr lvl="1">
              <a:lnSpc>
                <a:spcPct val="90000"/>
              </a:lnSpc>
            </a:pPr>
            <a:r>
              <a:rPr lang="en-US" dirty="0"/>
              <a:t>bacteria become immune to superinfection </a:t>
            </a:r>
          </a:p>
          <a:p>
            <a:pPr lvl="1">
              <a:lnSpc>
                <a:spcPct val="90000"/>
              </a:lnSpc>
            </a:pPr>
            <a:r>
              <a:rPr lang="en-US" dirty="0"/>
              <a:t>phage may express pathogenic toxin or </a:t>
            </a:r>
            <a:r>
              <a:rPr lang="en-US" dirty="0" smtClean="0"/>
              <a:t>enzyme</a:t>
            </a:r>
          </a:p>
          <a:p>
            <a:pPr marL="457200" lvl="1" indent="0">
              <a:lnSpc>
                <a:spcPct val="90000"/>
              </a:lnSpc>
              <a:buNone/>
            </a:pPr>
            <a:endParaRPr lang="en-US" dirty="0"/>
          </a:p>
          <a:p>
            <a:pPr>
              <a:lnSpc>
                <a:spcPct val="90000"/>
              </a:lnSpc>
            </a:pPr>
            <a:r>
              <a:rPr lang="en-US" sz="2800" dirty="0"/>
              <a:t>Two advantages to </a:t>
            </a:r>
            <a:r>
              <a:rPr lang="en-US" sz="2800" dirty="0" err="1"/>
              <a:t>lysogeny</a:t>
            </a:r>
            <a:r>
              <a:rPr lang="en-US" sz="2800" dirty="0"/>
              <a:t> for virus</a:t>
            </a:r>
          </a:p>
          <a:p>
            <a:pPr lvl="1">
              <a:lnSpc>
                <a:spcPct val="90000"/>
              </a:lnSpc>
            </a:pPr>
            <a:r>
              <a:rPr lang="en-US" dirty="0"/>
              <a:t>phage remains viable but may not replicate</a:t>
            </a:r>
          </a:p>
          <a:p>
            <a:pPr lvl="1">
              <a:lnSpc>
                <a:spcPct val="90000"/>
              </a:lnSpc>
            </a:pPr>
            <a:r>
              <a:rPr lang="en-US" dirty="0"/>
              <a:t>multiplicity of infection ensures survival of host </a:t>
            </a:r>
            <a:r>
              <a:rPr lang="en-US" dirty="0" smtClean="0"/>
              <a:t>cell</a:t>
            </a:r>
          </a:p>
          <a:p>
            <a:pPr marL="457200" lvl="1" indent="0">
              <a:lnSpc>
                <a:spcPct val="90000"/>
              </a:lnSpc>
              <a:buNone/>
            </a:pPr>
            <a:endParaRPr lang="en-US" dirty="0"/>
          </a:p>
          <a:p>
            <a:pPr>
              <a:lnSpc>
                <a:spcPct val="90000"/>
              </a:lnSpc>
            </a:pPr>
            <a:r>
              <a:rPr lang="en-US" sz="2800" dirty="0"/>
              <a:t>Under appropriate conditions infected bacteria will lyse and release phage particles</a:t>
            </a:r>
          </a:p>
          <a:p>
            <a:pPr lvl="1">
              <a:lnSpc>
                <a:spcPct val="90000"/>
              </a:lnSpc>
            </a:pPr>
            <a:r>
              <a:rPr lang="en-US" dirty="0"/>
              <a:t>occurs when conditions in the cell cause the prophage to initiate synthesis of new phage particles, a process called induction </a:t>
            </a:r>
          </a:p>
        </p:txBody>
      </p:sp>
      <p:sp>
        <p:nvSpPr>
          <p:cNvPr id="4" name="Slide Number Placeholder 3"/>
          <p:cNvSpPr>
            <a:spLocks noGrp="1"/>
          </p:cNvSpPr>
          <p:nvPr>
            <p:ph type="sldNum" sz="quarter" idx="12"/>
          </p:nvPr>
        </p:nvSpPr>
        <p:spPr/>
        <p:txBody>
          <a:bodyPr/>
          <a:lstStyle/>
          <a:p>
            <a:fld id="{3B1A82D2-719A-4A87-BECB-D74482819C19}" type="slidenum">
              <a:rPr lang="en-US" smtClean="0"/>
              <a:pPr/>
              <a:t>32</a:t>
            </a:fld>
            <a:endParaRPr lang="en-US"/>
          </a:p>
        </p:txBody>
      </p:sp>
    </p:spTree>
    <p:extLst>
      <p:ext uri="{BB962C8B-B14F-4D97-AF65-F5344CB8AC3E}">
        <p14:creationId xmlns:p14="http://schemas.microsoft.com/office/powerpoint/2010/main" val="37694128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Archaeal Viruses</a:t>
            </a:r>
          </a:p>
        </p:txBody>
      </p:sp>
      <p:sp>
        <p:nvSpPr>
          <p:cNvPr id="3" name="Content Placeholder 2"/>
          <p:cNvSpPr>
            <a:spLocks noGrp="1"/>
          </p:cNvSpPr>
          <p:nvPr>
            <p:ph idx="1"/>
          </p:nvPr>
        </p:nvSpPr>
        <p:spPr/>
        <p:txBody>
          <a:bodyPr/>
          <a:lstStyle/>
          <a:p>
            <a:r>
              <a:rPr lang="en-US" dirty="0"/>
              <a:t>May be lytic or </a:t>
            </a:r>
            <a:r>
              <a:rPr lang="en-US" dirty="0" smtClean="0"/>
              <a:t>temperate</a:t>
            </a:r>
          </a:p>
          <a:p>
            <a:pPr marL="0" indent="0">
              <a:buNone/>
            </a:pPr>
            <a:endParaRPr lang="en-US" dirty="0"/>
          </a:p>
          <a:p>
            <a:r>
              <a:rPr lang="en-US" dirty="0"/>
              <a:t>Most discovered so far are temperate by unknown mechanisms</a:t>
            </a:r>
          </a:p>
        </p:txBody>
      </p:sp>
      <p:sp>
        <p:nvSpPr>
          <p:cNvPr id="4" name="Slide Number Placeholder 3"/>
          <p:cNvSpPr>
            <a:spLocks noGrp="1"/>
          </p:cNvSpPr>
          <p:nvPr>
            <p:ph type="sldNum" sz="quarter" idx="12"/>
          </p:nvPr>
        </p:nvSpPr>
        <p:spPr/>
        <p:txBody>
          <a:bodyPr/>
          <a:lstStyle/>
          <a:p>
            <a:fld id="{3B1A82D2-719A-4A87-BECB-D74482819C19}" type="slidenum">
              <a:rPr lang="en-US" smtClean="0"/>
              <a:pPr/>
              <a:t>33</a:t>
            </a:fld>
            <a:endParaRPr lang="en-US"/>
          </a:p>
        </p:txBody>
      </p:sp>
    </p:spTree>
    <p:extLst>
      <p:ext uri="{BB962C8B-B14F-4D97-AF65-F5344CB8AC3E}">
        <p14:creationId xmlns:p14="http://schemas.microsoft.com/office/powerpoint/2010/main" val="137533335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020762"/>
          </a:xfrm>
        </p:spPr>
        <p:txBody>
          <a:bodyPr/>
          <a:lstStyle/>
          <a:p>
            <a:r>
              <a:rPr lang="en-US" dirty="0"/>
              <a:t>Infection in Eukaryotic Cells</a:t>
            </a:r>
          </a:p>
        </p:txBody>
      </p:sp>
      <p:sp>
        <p:nvSpPr>
          <p:cNvPr id="6" name="Content Placeholder 5"/>
          <p:cNvSpPr>
            <a:spLocks noGrp="1"/>
          </p:cNvSpPr>
          <p:nvPr>
            <p:ph sz="half" idx="1"/>
          </p:nvPr>
        </p:nvSpPr>
        <p:spPr>
          <a:xfrm>
            <a:off x="0" y="1066800"/>
            <a:ext cx="3962400" cy="5638800"/>
          </a:xfrm>
        </p:spPr>
        <p:txBody>
          <a:bodyPr>
            <a:normAutofit fontScale="92500" lnSpcReduction="10000"/>
          </a:bodyPr>
          <a:lstStyle/>
          <a:p>
            <a:r>
              <a:rPr lang="en-US" dirty="0" err="1" smtClean="0"/>
              <a:t>Cytocidal</a:t>
            </a:r>
            <a:r>
              <a:rPr lang="en-US" dirty="0" smtClean="0"/>
              <a:t> infection results in cell death through lysis</a:t>
            </a:r>
          </a:p>
          <a:p>
            <a:pPr marL="0" indent="0">
              <a:buNone/>
            </a:pPr>
            <a:endParaRPr lang="en-US" dirty="0" smtClean="0"/>
          </a:p>
          <a:p>
            <a:r>
              <a:rPr lang="en-US" dirty="0" smtClean="0"/>
              <a:t>Persistent infections may last years</a:t>
            </a:r>
          </a:p>
          <a:p>
            <a:pPr marL="0" indent="0">
              <a:buNone/>
            </a:pPr>
            <a:endParaRPr lang="en-US" dirty="0" smtClean="0"/>
          </a:p>
          <a:p>
            <a:r>
              <a:rPr lang="en-US" dirty="0" smtClean="0"/>
              <a:t>Cytopathic effects (CPEs)</a:t>
            </a:r>
          </a:p>
          <a:p>
            <a:pPr lvl="1"/>
            <a:r>
              <a:rPr lang="en-US" dirty="0" smtClean="0"/>
              <a:t>degenerative changes</a:t>
            </a:r>
          </a:p>
          <a:p>
            <a:pPr lvl="1"/>
            <a:r>
              <a:rPr lang="en-US" dirty="0" smtClean="0"/>
              <a:t>abnormalities</a:t>
            </a:r>
          </a:p>
          <a:p>
            <a:pPr marL="457200" lvl="1" indent="0">
              <a:buNone/>
            </a:pPr>
            <a:endParaRPr lang="en-US" dirty="0" smtClean="0"/>
          </a:p>
          <a:p>
            <a:r>
              <a:rPr lang="en-US" dirty="0" smtClean="0"/>
              <a:t>Transformation to malignant cell</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34</a:t>
            </a:fld>
            <a:endParaRPr lang="en-US"/>
          </a:p>
        </p:txBody>
      </p:sp>
      <p:pic>
        <p:nvPicPr>
          <p:cNvPr id="8" name="Picture 5" descr="Lytic infections of host cells can lead to disease states in animal hosts called acute infections.  Step 1 – Adsorption to host.  Step 2 – Penetration.  Step 3 – Rapid multiplication.  Step 4 – Cell death and virus release.&#10;There are two types of persistent infections: latent infections and chronic infections.  Step 1 – Adsorption to host and Step 2 – Penetration are the same for both.  For Step 3 of latent infections, viral components are present but the host is not harmed.  For Step 3 of chronic infections, there is a slow release of virus without cell death.   &#10;Some infections of animal cells cause the cell to be transformed into a malignant cell, which can cause cancer in the animal host.  Step 1 – Adsorption to host.  Step 2 – Penetration.  Step 3 – Activation of host proto-oncogene (human cancers), insertion of oncogene (cancers in other animals), or inactivation of tumor suppressor protein." title="Figure 6.17 Types of Viral Infections and Their Effects on Animal Cells."/>
          <p:cNvPicPr>
            <a:picLocks noGrp="1" noChangeAspect="1" noChangeArrowheads="1"/>
          </p:cNvPicPr>
          <p:nvPr>
            <p:ph sz="half" idx="2"/>
          </p:nvPr>
        </p:nvPicPr>
        <p:blipFill>
          <a:blip r:embed="rId2" cstate="print"/>
          <a:stretch>
            <a:fillRect/>
          </a:stretch>
        </p:blipFill>
        <p:spPr bwMode="auto">
          <a:xfrm>
            <a:off x="3886200" y="1229115"/>
            <a:ext cx="5199125" cy="50300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59668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Viruses and Cancer</a:t>
            </a:r>
            <a:endParaRPr lang="en-US" dirty="0"/>
          </a:p>
        </p:txBody>
      </p:sp>
      <p:sp>
        <p:nvSpPr>
          <p:cNvPr id="3" name="Content Placeholder 2"/>
          <p:cNvSpPr>
            <a:spLocks noGrp="1"/>
          </p:cNvSpPr>
          <p:nvPr>
            <p:ph idx="1"/>
          </p:nvPr>
        </p:nvSpPr>
        <p:spPr>
          <a:xfrm>
            <a:off x="457200" y="1600200"/>
            <a:ext cx="8229600" cy="4876800"/>
          </a:xfrm>
        </p:spPr>
        <p:txBody>
          <a:bodyPr>
            <a:normAutofit fontScale="92500" lnSpcReduction="20000"/>
          </a:bodyPr>
          <a:lstStyle/>
          <a:p>
            <a:pPr>
              <a:lnSpc>
                <a:spcPct val="80000"/>
              </a:lnSpc>
            </a:pPr>
            <a:r>
              <a:rPr lang="en-US" dirty="0"/>
              <a:t>Tumor</a:t>
            </a:r>
          </a:p>
          <a:p>
            <a:pPr lvl="1">
              <a:lnSpc>
                <a:spcPct val="80000"/>
              </a:lnSpc>
            </a:pPr>
            <a:r>
              <a:rPr lang="en-US" dirty="0"/>
              <a:t>growth or lump of tissue; </a:t>
            </a:r>
          </a:p>
          <a:p>
            <a:pPr lvl="1">
              <a:lnSpc>
                <a:spcPct val="80000"/>
              </a:lnSpc>
            </a:pPr>
            <a:r>
              <a:rPr lang="en-US" dirty="0"/>
              <a:t>benign tumors remain in </a:t>
            </a:r>
            <a:r>
              <a:rPr lang="en-US" dirty="0" smtClean="0"/>
              <a:t>place</a:t>
            </a:r>
          </a:p>
          <a:p>
            <a:pPr marL="457200" lvl="1" indent="0">
              <a:lnSpc>
                <a:spcPct val="80000"/>
              </a:lnSpc>
              <a:buNone/>
            </a:pPr>
            <a:r>
              <a:rPr lang="en-US" dirty="0" smtClean="0"/>
              <a:t> </a:t>
            </a:r>
            <a:endParaRPr lang="en-US" dirty="0"/>
          </a:p>
          <a:p>
            <a:pPr>
              <a:lnSpc>
                <a:spcPct val="80000"/>
              </a:lnSpc>
            </a:pPr>
            <a:r>
              <a:rPr lang="en-US" dirty="0"/>
              <a:t>Neoplasia</a:t>
            </a:r>
          </a:p>
          <a:p>
            <a:pPr lvl="1">
              <a:lnSpc>
                <a:spcPct val="80000"/>
              </a:lnSpc>
            </a:pPr>
            <a:r>
              <a:rPr lang="en-US" dirty="0"/>
              <a:t>abnormal new cell growth and reproduction due to loss of </a:t>
            </a:r>
            <a:r>
              <a:rPr lang="en-US" dirty="0" smtClean="0"/>
              <a:t>regulation</a:t>
            </a:r>
          </a:p>
          <a:p>
            <a:pPr marL="457200" lvl="1" indent="0">
              <a:lnSpc>
                <a:spcPct val="80000"/>
              </a:lnSpc>
              <a:buNone/>
            </a:pPr>
            <a:endParaRPr lang="en-US" dirty="0"/>
          </a:p>
          <a:p>
            <a:pPr>
              <a:lnSpc>
                <a:spcPct val="80000"/>
              </a:lnSpc>
            </a:pPr>
            <a:r>
              <a:rPr lang="en-US" dirty="0"/>
              <a:t>Anaplasia</a:t>
            </a:r>
          </a:p>
          <a:p>
            <a:pPr lvl="1">
              <a:lnSpc>
                <a:spcPct val="80000"/>
              </a:lnSpc>
            </a:pPr>
            <a:r>
              <a:rPr lang="en-US" dirty="0"/>
              <a:t>reversion to a more primitive or less differentiated </a:t>
            </a:r>
            <a:r>
              <a:rPr lang="en-US" dirty="0" smtClean="0"/>
              <a:t>state</a:t>
            </a:r>
          </a:p>
          <a:p>
            <a:pPr marL="457200" lvl="1" indent="0">
              <a:lnSpc>
                <a:spcPct val="80000"/>
              </a:lnSpc>
              <a:buNone/>
            </a:pPr>
            <a:endParaRPr lang="en-US" dirty="0"/>
          </a:p>
          <a:p>
            <a:pPr>
              <a:lnSpc>
                <a:spcPct val="80000"/>
              </a:lnSpc>
            </a:pPr>
            <a:r>
              <a:rPr lang="en-US" dirty="0"/>
              <a:t>Metastasis</a:t>
            </a:r>
          </a:p>
          <a:p>
            <a:pPr lvl="1">
              <a:lnSpc>
                <a:spcPct val="80000"/>
              </a:lnSpc>
            </a:pPr>
            <a:r>
              <a:rPr lang="en-US" dirty="0"/>
              <a:t>spread of cancerous cells throughout body</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35</a:t>
            </a:fld>
            <a:endParaRPr lang="en-US"/>
          </a:p>
        </p:txBody>
      </p:sp>
    </p:spTree>
    <p:extLst>
      <p:ext uri="{BB962C8B-B14F-4D97-AF65-F5344CB8AC3E}">
        <p14:creationId xmlns:p14="http://schemas.microsoft.com/office/powerpoint/2010/main" val="26487193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68362"/>
          </a:xfrm>
        </p:spPr>
        <p:txBody>
          <a:bodyPr>
            <a:normAutofit/>
          </a:bodyPr>
          <a:lstStyle/>
          <a:p>
            <a:r>
              <a:rPr lang="en-US" dirty="0" smtClean="0"/>
              <a:t>Carcinogenesis</a:t>
            </a:r>
            <a:endParaRPr lang="en-US" dirty="0"/>
          </a:p>
        </p:txBody>
      </p:sp>
      <p:sp>
        <p:nvSpPr>
          <p:cNvPr id="6" name="Content Placeholder 5"/>
          <p:cNvSpPr>
            <a:spLocks noGrp="1"/>
          </p:cNvSpPr>
          <p:nvPr>
            <p:ph sz="half" idx="1"/>
          </p:nvPr>
        </p:nvSpPr>
        <p:spPr>
          <a:xfrm>
            <a:off x="152400" y="990600"/>
            <a:ext cx="8839200" cy="2667000"/>
          </a:xfrm>
        </p:spPr>
        <p:txBody>
          <a:bodyPr>
            <a:normAutofit fontScale="92500" lnSpcReduction="10000"/>
          </a:bodyPr>
          <a:lstStyle/>
          <a:p>
            <a:r>
              <a:rPr lang="en-US" dirty="0" smtClean="0"/>
              <a:t>Complex, multistep process</a:t>
            </a:r>
            <a:br>
              <a:rPr lang="en-US" dirty="0" smtClean="0"/>
            </a:br>
            <a:endParaRPr lang="en-US" dirty="0" smtClean="0"/>
          </a:p>
          <a:p>
            <a:r>
              <a:rPr lang="en-US" dirty="0" smtClean="0"/>
              <a:t>Often involves oncogenes</a:t>
            </a:r>
          </a:p>
          <a:p>
            <a:pPr lvl="1"/>
            <a:r>
              <a:rPr lang="en-US" dirty="0" smtClean="0"/>
              <a:t>cancer causing genes</a:t>
            </a:r>
          </a:p>
          <a:p>
            <a:pPr lvl="1"/>
            <a:r>
              <a:rPr lang="en-US" dirty="0" smtClean="0"/>
              <a:t>may come from the virus OR may be transformed host proto-oncogenes (involved in normal regulation of cell growth/differentiation)</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36</a:t>
            </a:fld>
            <a:endParaRPr lang="en-US"/>
          </a:p>
        </p:txBody>
      </p:sp>
      <p:pic>
        <p:nvPicPr>
          <p:cNvPr id="8" name="Content Placeholder 7" descr="Header Row: Virus, Genome Type, Cancer&#10;Human herpesvirus 8 (HHV8), Double-stranded (ds) DNA, Several, including Kaposi's sarcoma&#10;Epstein-Barr virus (EBV), dsDNA, Several, including Burkitt's lymphoma and nasopharyngeal carcinoma&#10;Hepatitis B virus, dsDNA, Hepatocellular carcinoma&#10;Hepatitis C virus, Single-stranded (ss) RNA, Liver cancer&#10;Human papillomaviruses (HPV) strains 6, 11, 16, and 18, dsDNA, Cervical cancer&#10;Human T-cell lymphotropic virus1 (HTLV-1), ssRNA (retrovirus), T-cell leukemia" title="Table 6.1 Some Viruses Associated with Human Cancers"/>
          <p:cNvPicPr>
            <a:picLocks noGrp="1" noChangeAspect="1" noChangeArrowheads="1"/>
          </p:cNvPicPr>
          <p:nvPr>
            <p:ph sz="half" idx="2"/>
          </p:nvPr>
        </p:nvPicPr>
        <p:blipFill>
          <a:blip r:embed="rId2" cstate="print"/>
          <a:stretch>
            <a:fillRect/>
          </a:stretch>
        </p:blipFill>
        <p:spPr bwMode="auto">
          <a:xfrm>
            <a:off x="533400" y="3671294"/>
            <a:ext cx="8334671" cy="30343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573240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Possible Mechanisms by Which Viruses Cause Cancer</a:t>
            </a:r>
          </a:p>
        </p:txBody>
      </p:sp>
      <p:sp>
        <p:nvSpPr>
          <p:cNvPr id="3" name="Content Placeholder 2"/>
          <p:cNvSpPr>
            <a:spLocks noGrp="1"/>
          </p:cNvSpPr>
          <p:nvPr>
            <p:ph idx="1"/>
          </p:nvPr>
        </p:nvSpPr>
        <p:spPr>
          <a:xfrm>
            <a:off x="457200" y="1874837"/>
            <a:ext cx="8229600" cy="4525963"/>
          </a:xfrm>
        </p:spPr>
        <p:txBody>
          <a:bodyPr>
            <a:normAutofit fontScale="92500" lnSpcReduction="10000"/>
          </a:bodyPr>
          <a:lstStyle/>
          <a:p>
            <a:pPr>
              <a:lnSpc>
                <a:spcPct val="90000"/>
              </a:lnSpc>
            </a:pPr>
            <a:r>
              <a:rPr lang="en-US" dirty="0"/>
              <a:t>Viral proteins bind host cell tumor suppressor </a:t>
            </a:r>
            <a:r>
              <a:rPr lang="en-US" dirty="0" smtClean="0"/>
              <a:t>proteins</a:t>
            </a:r>
          </a:p>
          <a:p>
            <a:pPr marL="0" indent="0">
              <a:lnSpc>
                <a:spcPct val="90000"/>
              </a:lnSpc>
              <a:buNone/>
            </a:pPr>
            <a:endParaRPr lang="en-US" dirty="0"/>
          </a:p>
          <a:p>
            <a:pPr>
              <a:lnSpc>
                <a:spcPct val="90000"/>
              </a:lnSpc>
            </a:pPr>
            <a:r>
              <a:rPr lang="en-US" dirty="0"/>
              <a:t>Carry oncogene into cell and insert it into host </a:t>
            </a:r>
            <a:r>
              <a:rPr lang="en-US" dirty="0" smtClean="0"/>
              <a:t>genome</a:t>
            </a:r>
          </a:p>
          <a:p>
            <a:pPr marL="0" indent="0">
              <a:lnSpc>
                <a:spcPct val="90000"/>
              </a:lnSpc>
              <a:buNone/>
            </a:pPr>
            <a:endParaRPr lang="en-US" dirty="0"/>
          </a:p>
          <a:p>
            <a:pPr>
              <a:lnSpc>
                <a:spcPct val="90000"/>
              </a:lnSpc>
            </a:pPr>
            <a:r>
              <a:rPr lang="en-US" dirty="0"/>
              <a:t>Altered cell regulation </a:t>
            </a:r>
            <a:endParaRPr lang="en-US" dirty="0" smtClean="0"/>
          </a:p>
          <a:p>
            <a:pPr marL="0" indent="0">
              <a:lnSpc>
                <a:spcPct val="90000"/>
              </a:lnSpc>
              <a:buNone/>
            </a:pPr>
            <a:endParaRPr lang="en-US" dirty="0"/>
          </a:p>
          <a:p>
            <a:pPr>
              <a:lnSpc>
                <a:spcPct val="90000"/>
              </a:lnSpc>
            </a:pPr>
            <a:r>
              <a:rPr lang="en-US" dirty="0"/>
              <a:t>Insertion of promoter or enhancer next to cellular oncogene</a:t>
            </a:r>
          </a:p>
        </p:txBody>
      </p:sp>
      <p:sp>
        <p:nvSpPr>
          <p:cNvPr id="4" name="Slide Number Placeholder 3"/>
          <p:cNvSpPr>
            <a:spLocks noGrp="1"/>
          </p:cNvSpPr>
          <p:nvPr>
            <p:ph type="sldNum" sz="quarter" idx="12"/>
          </p:nvPr>
        </p:nvSpPr>
        <p:spPr/>
        <p:txBody>
          <a:bodyPr/>
          <a:lstStyle/>
          <a:p>
            <a:fld id="{3B1A82D2-719A-4A87-BECB-D74482819C19}" type="slidenum">
              <a:rPr lang="en-US" smtClean="0"/>
              <a:pPr/>
              <a:t>37</a:t>
            </a:fld>
            <a:endParaRPr lang="en-US"/>
          </a:p>
        </p:txBody>
      </p:sp>
    </p:spTree>
    <p:extLst>
      <p:ext uri="{BB962C8B-B14F-4D97-AF65-F5344CB8AC3E}">
        <p14:creationId xmlns:p14="http://schemas.microsoft.com/office/powerpoint/2010/main" val="40057324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6.5 Cultivation and Enumeration of Viruses</a:t>
            </a:r>
            <a:endParaRPr lang="en-US" dirty="0"/>
          </a:p>
        </p:txBody>
      </p:sp>
      <p:sp>
        <p:nvSpPr>
          <p:cNvPr id="3" name="Content Placeholder 2"/>
          <p:cNvSpPr>
            <a:spLocks noGrp="1"/>
          </p:cNvSpPr>
          <p:nvPr>
            <p:ph idx="1"/>
          </p:nvPr>
        </p:nvSpPr>
        <p:spPr>
          <a:xfrm>
            <a:off x="457200" y="1600200"/>
            <a:ext cx="8229600" cy="4876800"/>
          </a:xfrm>
        </p:spPr>
        <p:txBody>
          <a:bodyPr>
            <a:normAutofit fontScale="92500" lnSpcReduction="20000"/>
          </a:bodyPr>
          <a:lstStyle/>
          <a:p>
            <a:pPr marL="514350" indent="-514350">
              <a:buFont typeface="+mj-lt"/>
              <a:buAutoNum type="arabicPeriod"/>
            </a:pPr>
            <a:r>
              <a:rPr lang="en-US" dirty="0"/>
              <a:t>List the types of approaches used to cultivate viruses, noting which types of viruses are cultivated by each method</a:t>
            </a:r>
            <a:r>
              <a:rPr lang="en-US" dirty="0" smtClean="0"/>
              <a:t>.</a:t>
            </a:r>
            <a:br>
              <a:rPr lang="en-US" dirty="0" smtClean="0"/>
            </a:br>
            <a:endParaRPr lang="en-US" dirty="0"/>
          </a:p>
          <a:p>
            <a:pPr marL="514350" indent="-514350">
              <a:buFont typeface="+mj-lt"/>
              <a:buAutoNum type="arabicPeriod"/>
            </a:pPr>
            <a:r>
              <a:rPr lang="en-US" dirty="0"/>
              <a:t>Describe three direct counting methods and two indirect counting methods used to enumerate viruses</a:t>
            </a:r>
            <a:r>
              <a:rPr lang="en-US" dirty="0" smtClean="0"/>
              <a:t>.</a:t>
            </a:r>
            <a:br>
              <a:rPr lang="en-US" dirty="0" smtClean="0"/>
            </a:br>
            <a:endParaRPr lang="en-US" dirty="0"/>
          </a:p>
          <a:p>
            <a:pPr marL="514350" indent="-514350">
              <a:buFont typeface="+mj-lt"/>
              <a:buAutoNum type="arabicPeriod"/>
            </a:pPr>
            <a:r>
              <a:rPr lang="en-US" dirty="0"/>
              <a:t>Outline the events that lead to the formation of a plaque in a lawn of bacterial cells</a:t>
            </a:r>
            <a:r>
              <a:rPr lang="en-US" dirty="0" smtClean="0"/>
              <a:t>.</a:t>
            </a:r>
            <a:br>
              <a:rPr lang="en-US" dirty="0" smtClean="0"/>
            </a:br>
            <a:endParaRPr lang="en-US" dirty="0"/>
          </a:p>
          <a:p>
            <a:pPr marL="514350" indent="-514350">
              <a:buFont typeface="+mj-lt"/>
              <a:buAutoNum type="arabicPeriod"/>
            </a:pPr>
            <a:r>
              <a:rPr lang="en-US" dirty="0"/>
              <a:t>Distinguish lethal dose from infectious dose.</a:t>
            </a:r>
          </a:p>
        </p:txBody>
      </p:sp>
      <p:sp>
        <p:nvSpPr>
          <p:cNvPr id="4" name="Slide Number Placeholder 3"/>
          <p:cNvSpPr>
            <a:spLocks noGrp="1"/>
          </p:cNvSpPr>
          <p:nvPr>
            <p:ph type="sldNum" sz="quarter" idx="12"/>
          </p:nvPr>
        </p:nvSpPr>
        <p:spPr/>
        <p:txBody>
          <a:bodyPr/>
          <a:lstStyle/>
          <a:p>
            <a:fld id="{3B1A82D2-719A-4A87-BECB-D74482819C19}" type="slidenum">
              <a:rPr lang="en-US" smtClean="0"/>
              <a:pPr/>
              <a:t>38</a:t>
            </a:fld>
            <a:endParaRPr lang="en-US"/>
          </a:p>
        </p:txBody>
      </p:sp>
    </p:spTree>
    <p:extLst>
      <p:ext uri="{BB962C8B-B14F-4D97-AF65-F5344CB8AC3E}">
        <p14:creationId xmlns:p14="http://schemas.microsoft.com/office/powerpoint/2010/main" val="400573240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lstStyle/>
          <a:p>
            <a:r>
              <a:rPr lang="en-US" dirty="0" smtClean="0"/>
              <a:t>The Cultivation of Viruses</a:t>
            </a:r>
            <a:endParaRPr lang="en-US" dirty="0"/>
          </a:p>
        </p:txBody>
      </p:sp>
      <p:sp>
        <p:nvSpPr>
          <p:cNvPr id="3" name="Content Placeholder 2"/>
          <p:cNvSpPr>
            <a:spLocks noGrp="1"/>
          </p:cNvSpPr>
          <p:nvPr>
            <p:ph idx="1"/>
          </p:nvPr>
        </p:nvSpPr>
        <p:spPr>
          <a:xfrm>
            <a:off x="457200" y="1295400"/>
            <a:ext cx="8229600" cy="5410200"/>
          </a:xfrm>
        </p:spPr>
        <p:txBody>
          <a:bodyPr>
            <a:normAutofit lnSpcReduction="10000"/>
          </a:bodyPr>
          <a:lstStyle/>
          <a:p>
            <a:r>
              <a:rPr lang="en-US" dirty="0" smtClean="0"/>
              <a:t>Requires inoculation of appropriate living host</a:t>
            </a:r>
          </a:p>
          <a:p>
            <a:endParaRPr lang="en-US" dirty="0" smtClean="0"/>
          </a:p>
          <a:p>
            <a:pPr marL="0" indent="0" algn="ctr">
              <a:buNone/>
            </a:pPr>
            <a:r>
              <a:rPr lang="en-US" sz="3600" dirty="0" smtClean="0"/>
              <a:t>Hosts for Bacterial and </a:t>
            </a:r>
            <a:r>
              <a:rPr lang="en-US" sz="3600" dirty="0" err="1" smtClean="0"/>
              <a:t>Archael</a:t>
            </a:r>
            <a:r>
              <a:rPr lang="en-US" sz="3600" dirty="0" smtClean="0"/>
              <a:t> Viruses</a:t>
            </a:r>
          </a:p>
          <a:p>
            <a:r>
              <a:rPr lang="en-US" dirty="0" smtClean="0"/>
              <a:t>Usually cultivated in broth or agar cultures of suitable, young, actively growing bacteria</a:t>
            </a:r>
          </a:p>
          <a:p>
            <a:pPr marL="0" indent="0">
              <a:buNone/>
            </a:pPr>
            <a:endParaRPr lang="en-US" dirty="0" smtClean="0"/>
          </a:p>
          <a:p>
            <a:r>
              <a:rPr lang="en-US" dirty="0" smtClean="0"/>
              <a:t>Broth cultures lose turbidity as viruses reproduce</a:t>
            </a:r>
          </a:p>
          <a:p>
            <a:pPr marL="0" indent="0">
              <a:buNone/>
            </a:pPr>
            <a:endParaRPr lang="en-US" dirty="0" smtClean="0"/>
          </a:p>
          <a:p>
            <a:r>
              <a:rPr lang="en-US" dirty="0" smtClean="0"/>
              <a:t>Plaques observed on agar cultures</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39</a:t>
            </a:fld>
            <a:endParaRPr lang="en-US"/>
          </a:p>
        </p:txBody>
      </p:sp>
    </p:spTree>
    <p:extLst>
      <p:ext uri="{BB962C8B-B14F-4D97-AF65-F5344CB8AC3E}">
        <p14:creationId xmlns:p14="http://schemas.microsoft.com/office/powerpoint/2010/main" val="41491592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14400"/>
          </a:xfrm>
        </p:spPr>
        <p:txBody>
          <a:bodyPr/>
          <a:lstStyle/>
          <a:p>
            <a:r>
              <a:rPr lang="en-US" dirty="0"/>
              <a:t>Hosts for Animal Viruses</a:t>
            </a:r>
          </a:p>
        </p:txBody>
      </p:sp>
      <p:sp>
        <p:nvSpPr>
          <p:cNvPr id="6" name="Content Placeholder 5"/>
          <p:cNvSpPr>
            <a:spLocks noGrp="1"/>
          </p:cNvSpPr>
          <p:nvPr>
            <p:ph sz="half" idx="1"/>
          </p:nvPr>
        </p:nvSpPr>
        <p:spPr>
          <a:xfrm>
            <a:off x="152400" y="1143000"/>
            <a:ext cx="5486400" cy="5562600"/>
          </a:xfrm>
        </p:spPr>
        <p:txBody>
          <a:bodyPr>
            <a:normAutofit/>
          </a:bodyPr>
          <a:lstStyle/>
          <a:p>
            <a:pPr>
              <a:lnSpc>
                <a:spcPct val="90000"/>
              </a:lnSpc>
            </a:pPr>
            <a:r>
              <a:rPr lang="en-US" dirty="0" smtClean="0"/>
              <a:t>Tissue (cell) cultures </a:t>
            </a:r>
          </a:p>
          <a:p>
            <a:pPr lvl="1">
              <a:lnSpc>
                <a:spcPct val="90000"/>
              </a:lnSpc>
            </a:pPr>
            <a:r>
              <a:rPr lang="en-US" dirty="0" smtClean="0"/>
              <a:t>cells are infected with virus (phage)</a:t>
            </a:r>
          </a:p>
          <a:p>
            <a:pPr lvl="1">
              <a:lnSpc>
                <a:spcPct val="90000"/>
              </a:lnSpc>
            </a:pPr>
            <a:r>
              <a:rPr lang="en-US" dirty="0" smtClean="0"/>
              <a:t>viral plaques</a:t>
            </a:r>
          </a:p>
          <a:p>
            <a:pPr lvl="2">
              <a:lnSpc>
                <a:spcPct val="90000"/>
              </a:lnSpc>
            </a:pPr>
            <a:r>
              <a:rPr lang="en-US" sz="2400" dirty="0" smtClean="0"/>
              <a:t>localized area of cellular destruction and lysis that enlarge as the virus replicates</a:t>
            </a:r>
            <a:br>
              <a:rPr lang="en-US" sz="2400" dirty="0" smtClean="0"/>
            </a:br>
            <a:endParaRPr lang="en-US" sz="2400" dirty="0" smtClean="0"/>
          </a:p>
          <a:p>
            <a:pPr>
              <a:lnSpc>
                <a:spcPct val="90000"/>
              </a:lnSpc>
            </a:pPr>
            <a:r>
              <a:rPr lang="en-US" dirty="0" smtClean="0"/>
              <a:t>Cytopathic effects (CPEs)</a:t>
            </a:r>
          </a:p>
          <a:p>
            <a:pPr lvl="1">
              <a:lnSpc>
                <a:spcPct val="90000"/>
              </a:lnSpc>
            </a:pPr>
            <a:r>
              <a:rPr lang="en-US" dirty="0" smtClean="0"/>
              <a:t>microscopic or macroscopic </a:t>
            </a:r>
          </a:p>
          <a:p>
            <a:pPr marL="457200" lvl="1" indent="0">
              <a:lnSpc>
                <a:spcPct val="90000"/>
              </a:lnSpc>
              <a:buNone/>
            </a:pPr>
            <a:r>
              <a:rPr lang="en-US" dirty="0" smtClean="0"/>
              <a:t>degenerative changes or </a:t>
            </a:r>
          </a:p>
          <a:p>
            <a:pPr marL="457200" lvl="1" indent="0">
              <a:lnSpc>
                <a:spcPct val="90000"/>
              </a:lnSpc>
              <a:buNone/>
            </a:pPr>
            <a:r>
              <a:rPr lang="en-US" dirty="0" smtClean="0"/>
              <a:t>abnormalities in host </a:t>
            </a:r>
          </a:p>
          <a:p>
            <a:pPr marL="457200" lvl="1" indent="0">
              <a:lnSpc>
                <a:spcPct val="90000"/>
              </a:lnSpc>
              <a:buNone/>
            </a:pPr>
            <a:r>
              <a:rPr lang="en-US" dirty="0" smtClean="0"/>
              <a:t>cells and tissues</a:t>
            </a:r>
            <a:br>
              <a:rPr lang="en-US" dirty="0" smtClean="0"/>
            </a:br>
            <a:endParaRPr lang="en-US" dirty="0" smtClean="0"/>
          </a:p>
          <a:p>
            <a:pPr>
              <a:lnSpc>
                <a:spcPct val="90000"/>
              </a:lnSpc>
            </a:pPr>
            <a:r>
              <a:rPr lang="en-US" dirty="0" err="1" smtClean="0"/>
              <a:t>Embryonated</a:t>
            </a:r>
            <a:r>
              <a:rPr lang="en-US" dirty="0" smtClean="0"/>
              <a:t> eggs</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40</a:t>
            </a:fld>
            <a:endParaRPr lang="en-US"/>
          </a:p>
        </p:txBody>
      </p:sp>
      <p:pic>
        <p:nvPicPr>
          <p:cNvPr id="8" name="Content Placeholder 7" descr="Photo of plaques formed by the multiplication of T4 in a lawn of E. coli cells." title="Figure 6.18 Viral Plaques."/>
          <p:cNvPicPr>
            <a:picLocks noGrp="1" noChangeAspect="1" noChangeArrowheads="1"/>
          </p:cNvPicPr>
          <p:nvPr>
            <p:ph sz="half" idx="2"/>
          </p:nvPr>
        </p:nvPicPr>
        <p:blipFill>
          <a:blip r:embed="rId2" cstate="print"/>
          <a:stretch>
            <a:fillRect/>
          </a:stretch>
        </p:blipFill>
        <p:spPr bwMode="auto">
          <a:xfrm>
            <a:off x="4953000" y="3200400"/>
            <a:ext cx="4038600" cy="34433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573240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lstStyle/>
          <a:p>
            <a:r>
              <a:rPr lang="en-US" dirty="0"/>
              <a:t>Hosts for Plant Viruses</a:t>
            </a:r>
          </a:p>
        </p:txBody>
      </p:sp>
      <p:sp>
        <p:nvSpPr>
          <p:cNvPr id="6" name="Content Placeholder 5"/>
          <p:cNvSpPr>
            <a:spLocks noGrp="1"/>
          </p:cNvSpPr>
          <p:nvPr>
            <p:ph sz="half" idx="1"/>
          </p:nvPr>
        </p:nvSpPr>
        <p:spPr>
          <a:xfrm>
            <a:off x="152400" y="1295400"/>
            <a:ext cx="4343400" cy="5410200"/>
          </a:xfrm>
        </p:spPr>
        <p:txBody>
          <a:bodyPr>
            <a:normAutofit/>
          </a:bodyPr>
          <a:lstStyle/>
          <a:p>
            <a:r>
              <a:rPr lang="en-US" dirty="0" smtClean="0"/>
              <a:t>Plant tissue cultures</a:t>
            </a:r>
          </a:p>
          <a:p>
            <a:pPr marL="0" indent="0">
              <a:buNone/>
            </a:pPr>
            <a:endParaRPr lang="en-US" dirty="0" smtClean="0"/>
          </a:p>
          <a:p>
            <a:r>
              <a:rPr lang="en-US" dirty="0" smtClean="0"/>
              <a:t>Plant protoplast cultures</a:t>
            </a:r>
          </a:p>
          <a:p>
            <a:pPr marL="0" indent="0">
              <a:buNone/>
            </a:pPr>
            <a:endParaRPr lang="en-US" dirty="0" smtClean="0"/>
          </a:p>
          <a:p>
            <a:r>
              <a:rPr lang="en-US" dirty="0" smtClean="0"/>
              <a:t>Suitable whole plants</a:t>
            </a:r>
          </a:p>
          <a:p>
            <a:pPr lvl="1"/>
            <a:r>
              <a:rPr lang="en-US" dirty="0" smtClean="0"/>
              <a:t>may cause localized </a:t>
            </a:r>
          </a:p>
          <a:p>
            <a:pPr marL="457200" lvl="1" indent="0">
              <a:buNone/>
            </a:pPr>
            <a:r>
              <a:rPr lang="en-US" dirty="0" smtClean="0"/>
              <a:t>necrotic lesions or </a:t>
            </a:r>
          </a:p>
          <a:p>
            <a:pPr marL="457200" lvl="1" indent="0">
              <a:buNone/>
            </a:pPr>
            <a:r>
              <a:rPr lang="en-US" dirty="0" smtClean="0"/>
              <a:t>generalized symptoms </a:t>
            </a:r>
          </a:p>
          <a:p>
            <a:pPr marL="457200" lvl="1" indent="0">
              <a:buNone/>
            </a:pPr>
            <a:r>
              <a:rPr lang="en-US" dirty="0" smtClean="0"/>
              <a:t>of infection</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41</a:t>
            </a:fld>
            <a:endParaRPr lang="en-US"/>
          </a:p>
        </p:txBody>
      </p:sp>
      <p:pic>
        <p:nvPicPr>
          <p:cNvPr id="8" name="Content Placeholder 7" descr="Photo of a tobacco plant leaf showing leaf color changes caused by tobacco mosaic virus." title="Figure 6.19 Necrotic Lesions on Plant Leaves."/>
          <p:cNvPicPr>
            <a:picLocks noGrp="1" noChangeAspect="1" noChangeArrowheads="1"/>
          </p:cNvPicPr>
          <p:nvPr>
            <p:ph sz="half" idx="2"/>
          </p:nvPr>
        </p:nvPicPr>
        <p:blipFill>
          <a:blip r:embed="rId2" cstate="print"/>
          <a:stretch>
            <a:fillRect/>
          </a:stretch>
        </p:blipFill>
        <p:spPr bwMode="auto">
          <a:xfrm>
            <a:off x="4324121" y="1981200"/>
            <a:ext cx="4687313" cy="33063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573240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4293"/>
            <a:ext cx="4419600" cy="1143000"/>
          </a:xfrm>
        </p:spPr>
        <p:txBody>
          <a:bodyPr>
            <a:normAutofit fontScale="90000"/>
          </a:bodyPr>
          <a:lstStyle/>
          <a:p>
            <a:r>
              <a:rPr lang="en-US" dirty="0"/>
              <a:t>Quantification of Virus</a:t>
            </a:r>
          </a:p>
        </p:txBody>
      </p:sp>
      <p:sp>
        <p:nvSpPr>
          <p:cNvPr id="7" name="Content Placeholder 6"/>
          <p:cNvSpPr>
            <a:spLocks noGrp="1"/>
          </p:cNvSpPr>
          <p:nvPr>
            <p:ph sz="half" idx="1"/>
          </p:nvPr>
        </p:nvSpPr>
        <p:spPr>
          <a:xfrm>
            <a:off x="76200" y="1219200"/>
            <a:ext cx="4953000" cy="5486400"/>
          </a:xfrm>
        </p:spPr>
        <p:txBody>
          <a:bodyPr>
            <a:normAutofit fontScale="92500"/>
          </a:bodyPr>
          <a:lstStyle/>
          <a:p>
            <a:r>
              <a:rPr lang="en-US" dirty="0" smtClean="0"/>
              <a:t>Direct counting of viral particles</a:t>
            </a:r>
            <a:br>
              <a:rPr lang="en-US" dirty="0" smtClean="0"/>
            </a:br>
            <a:endParaRPr lang="en-US" dirty="0" smtClean="0"/>
          </a:p>
          <a:p>
            <a:r>
              <a:rPr lang="en-US" dirty="0" smtClean="0"/>
              <a:t>Indirect counting by an observable effect of the virus </a:t>
            </a:r>
          </a:p>
          <a:p>
            <a:pPr lvl="1"/>
            <a:r>
              <a:rPr lang="en-US" dirty="0" err="1" smtClean="0"/>
              <a:t>hemagglutination</a:t>
            </a:r>
            <a:r>
              <a:rPr lang="en-US" dirty="0" smtClean="0"/>
              <a:t> assay</a:t>
            </a:r>
          </a:p>
          <a:p>
            <a:pPr lvl="1"/>
            <a:r>
              <a:rPr lang="en-US" dirty="0" smtClean="0"/>
              <a:t>plaque assays</a:t>
            </a:r>
          </a:p>
          <a:p>
            <a:pPr lvl="2"/>
            <a:r>
              <a:rPr lang="en-US" dirty="0" smtClean="0"/>
              <a:t>dilutions of virus preparation made and plated on lawn of host cells</a:t>
            </a:r>
          </a:p>
          <a:p>
            <a:pPr lvl="2"/>
            <a:r>
              <a:rPr lang="en-US" dirty="0" smtClean="0"/>
              <a:t>number of plaques counted</a:t>
            </a:r>
          </a:p>
          <a:p>
            <a:pPr lvl="2"/>
            <a:r>
              <a:rPr lang="en-US" dirty="0" smtClean="0"/>
              <a:t>results expressed as plaque-forming units (PFU) – plaque forming units (PFU)</a:t>
            </a:r>
          </a:p>
          <a:p>
            <a:pPr lvl="3"/>
            <a:r>
              <a:rPr lang="en-US" dirty="0" smtClean="0"/>
              <a:t>PFU/ml = number of plaques/sample dilution</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42</a:t>
            </a:fld>
            <a:endParaRPr lang="en-US"/>
          </a:p>
        </p:txBody>
      </p:sp>
      <p:pic>
        <p:nvPicPr>
          <p:cNvPr id="9" name="Content Placeholder 8" descr="When phage particles and host bacterial cells are mixed at an appropriate ratio, only a portion of the cells are initially infected. When this mixture is plated, the infected cells will be separated from each other. The infected cells eventually lyse, releasing progeny phage particles. They infect nearby cells, which eventually lyse, releasing more phage particles. This continues and ultimately gives rise to a clear area within a lawn of bacteria. The clear area is a plaque. " title="Figure 6.20 Formation of Phage Plaques."/>
          <p:cNvPicPr>
            <a:picLocks noGrp="1" noChangeAspect="1" noChangeArrowheads="1"/>
          </p:cNvPicPr>
          <p:nvPr>
            <p:ph sz="half" idx="2"/>
          </p:nvPr>
        </p:nvPicPr>
        <p:blipFill>
          <a:blip r:embed="rId2" cstate="print"/>
          <a:stretch>
            <a:fillRect/>
          </a:stretch>
        </p:blipFill>
        <p:spPr bwMode="auto">
          <a:xfrm>
            <a:off x="5029200" y="76200"/>
            <a:ext cx="3255547" cy="6629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573240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868362"/>
          </a:xfrm>
        </p:spPr>
        <p:txBody>
          <a:bodyPr/>
          <a:lstStyle/>
          <a:p>
            <a:r>
              <a:rPr lang="en-US" dirty="0"/>
              <a:t>Measuring Biological Effects</a:t>
            </a:r>
          </a:p>
        </p:txBody>
      </p:sp>
      <p:sp>
        <p:nvSpPr>
          <p:cNvPr id="6" name="Content Placeholder 5"/>
          <p:cNvSpPr>
            <a:spLocks noGrp="1"/>
          </p:cNvSpPr>
          <p:nvPr>
            <p:ph sz="half" idx="1"/>
          </p:nvPr>
        </p:nvSpPr>
        <p:spPr>
          <a:xfrm>
            <a:off x="152400" y="990600"/>
            <a:ext cx="8839200" cy="2438400"/>
          </a:xfrm>
        </p:spPr>
        <p:txBody>
          <a:bodyPr>
            <a:normAutofit/>
          </a:bodyPr>
          <a:lstStyle/>
          <a:p>
            <a:r>
              <a:rPr lang="en-US" dirty="0" smtClean="0"/>
              <a:t>Infectious dose and lethal dose assays</a:t>
            </a:r>
            <a:br>
              <a:rPr lang="en-US" dirty="0" smtClean="0"/>
            </a:br>
            <a:endParaRPr lang="en-US" dirty="0" smtClean="0"/>
          </a:p>
          <a:p>
            <a:pPr lvl="1"/>
            <a:r>
              <a:rPr lang="en-US" dirty="0" smtClean="0"/>
              <a:t>determine smallest amount of virus needed to cause infection (ID) or death (LD) of 50% of exposed host cells or organisms (ID</a:t>
            </a:r>
            <a:r>
              <a:rPr lang="en-US" baseline="-25000" dirty="0" smtClean="0"/>
              <a:t>50</a:t>
            </a:r>
            <a:r>
              <a:rPr lang="en-US" dirty="0" smtClean="0"/>
              <a:t> or LD</a:t>
            </a:r>
            <a:r>
              <a:rPr lang="en-US" baseline="-25000" dirty="0" smtClean="0"/>
              <a:t>50</a:t>
            </a:r>
            <a:r>
              <a:rPr lang="en-US" dirty="0" smtClean="0"/>
              <a:t>)</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43</a:t>
            </a:fld>
            <a:endParaRPr lang="en-US"/>
          </a:p>
        </p:txBody>
      </p:sp>
      <p:pic>
        <p:nvPicPr>
          <p:cNvPr id="8" name="Content Placeholder 7" descr="Chart of percent deaths by dilution.  The lethal dose (LD50) is the dilution that contains a concentration (dose) of virions large enough to destroy fifty percent of the host cells or organisms." title="Figure 6.21 Determination of LD50."/>
          <p:cNvPicPr>
            <a:picLocks noGrp="1" noChangeAspect="1" noChangeArrowheads="1"/>
          </p:cNvPicPr>
          <p:nvPr>
            <p:ph sz="half" idx="2"/>
          </p:nvPr>
        </p:nvPicPr>
        <p:blipFill>
          <a:blip r:embed="rId2" cstate="print"/>
          <a:stretch>
            <a:fillRect/>
          </a:stretch>
        </p:blipFill>
        <p:spPr bwMode="auto">
          <a:xfrm>
            <a:off x="2971800" y="2877414"/>
            <a:ext cx="5105400" cy="39043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573240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6.6 </a:t>
            </a:r>
            <a:r>
              <a:rPr lang="en-US" dirty="0" err="1" smtClean="0"/>
              <a:t>Viroids</a:t>
            </a:r>
            <a:r>
              <a:rPr lang="en-US" dirty="0" smtClean="0"/>
              <a:t> and Satellites: Nucleic Acid-Based </a:t>
            </a:r>
            <a:r>
              <a:rPr lang="en-US" dirty="0" err="1" smtClean="0"/>
              <a:t>Subviral</a:t>
            </a:r>
            <a:r>
              <a:rPr lang="en-US" dirty="0" smtClean="0"/>
              <a:t> Agents</a:t>
            </a:r>
            <a:endParaRPr lang="en-US" dirty="0"/>
          </a:p>
        </p:txBody>
      </p:sp>
      <p:sp>
        <p:nvSpPr>
          <p:cNvPr id="3" name="Content Placeholder 2"/>
          <p:cNvSpPr>
            <a:spLocks noGrp="1"/>
          </p:cNvSpPr>
          <p:nvPr>
            <p:ph idx="1"/>
          </p:nvPr>
        </p:nvSpPr>
        <p:spPr>
          <a:xfrm>
            <a:off x="457200" y="1951037"/>
            <a:ext cx="8229600" cy="4525963"/>
          </a:xfrm>
        </p:spPr>
        <p:txBody>
          <a:bodyPr/>
          <a:lstStyle/>
          <a:p>
            <a:pPr marL="514350" indent="-514350">
              <a:buFont typeface="+mj-lt"/>
              <a:buAutoNum type="arabicPeriod"/>
            </a:pPr>
            <a:r>
              <a:rPr lang="en-US" dirty="0"/>
              <a:t>Describe the structure of a viroid and discuss the practical importance of </a:t>
            </a:r>
            <a:r>
              <a:rPr lang="en-US" dirty="0" err="1"/>
              <a:t>viroids</a:t>
            </a:r>
            <a:r>
              <a:rPr lang="en-US" dirty="0" smtClean="0"/>
              <a:t>.</a:t>
            </a:r>
            <a:br>
              <a:rPr lang="en-US" dirty="0" smtClean="0"/>
            </a:br>
            <a:endParaRPr lang="en-US" dirty="0"/>
          </a:p>
          <a:p>
            <a:pPr marL="514350" indent="-514350">
              <a:buFont typeface="+mj-lt"/>
              <a:buAutoNum type="arabicPeriod"/>
            </a:pPr>
            <a:r>
              <a:rPr lang="en-US" dirty="0"/>
              <a:t>Distinguish satellite viruses from satellite nucleic acids.</a:t>
            </a:r>
          </a:p>
        </p:txBody>
      </p:sp>
      <p:sp>
        <p:nvSpPr>
          <p:cNvPr id="4" name="Slide Number Placeholder 3"/>
          <p:cNvSpPr>
            <a:spLocks noGrp="1"/>
          </p:cNvSpPr>
          <p:nvPr>
            <p:ph type="sldNum" sz="quarter" idx="12"/>
          </p:nvPr>
        </p:nvSpPr>
        <p:spPr/>
        <p:txBody>
          <a:bodyPr/>
          <a:lstStyle/>
          <a:p>
            <a:fld id="{3B1A82D2-719A-4A87-BECB-D74482819C19}" type="slidenum">
              <a:rPr lang="en-US" smtClean="0"/>
              <a:pPr/>
              <a:t>44</a:t>
            </a:fld>
            <a:endParaRPr lang="en-US"/>
          </a:p>
        </p:txBody>
      </p:sp>
    </p:spTree>
    <p:extLst>
      <p:ext uri="{BB962C8B-B14F-4D97-AF65-F5344CB8AC3E}">
        <p14:creationId xmlns:p14="http://schemas.microsoft.com/office/powerpoint/2010/main" val="400573240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399" y="76200"/>
            <a:ext cx="4724401" cy="3048000"/>
          </a:xfrm>
        </p:spPr>
        <p:txBody>
          <a:bodyPr>
            <a:normAutofit fontScale="90000"/>
          </a:bodyPr>
          <a:lstStyle/>
          <a:p>
            <a:pPr marL="342900" lvl="0" indent="-342900">
              <a:lnSpc>
                <a:spcPct val="90000"/>
              </a:lnSpc>
              <a:spcBef>
                <a:spcPct val="20000"/>
              </a:spcBef>
            </a:pPr>
            <a:r>
              <a:rPr lang="en-US" dirty="0" err="1" smtClean="0"/>
              <a:t>Viroids</a:t>
            </a:r>
            <a:r>
              <a:rPr lang="en-US" dirty="0" smtClean="0"/>
              <a:t/>
            </a:r>
            <a:br>
              <a:rPr lang="en-US" dirty="0" smtClean="0"/>
            </a:br>
            <a:r>
              <a:rPr lang="en-US" sz="2400" dirty="0">
                <a:solidFill>
                  <a:prstClr val="black"/>
                </a:solidFill>
                <a:ea typeface="+mn-ea"/>
                <a:cs typeface="+mn-cs"/>
              </a:rPr>
              <a:t>Infectious agents composed of closed, circular </a:t>
            </a:r>
            <a:r>
              <a:rPr lang="en-US" sz="2400" dirty="0" err="1" smtClean="0">
                <a:solidFill>
                  <a:prstClr val="black"/>
                </a:solidFill>
                <a:ea typeface="+mn-ea"/>
                <a:cs typeface="+mn-cs"/>
              </a:rPr>
              <a:t>ssRNAs</a:t>
            </a:r>
            <a:r>
              <a:rPr lang="en-US" sz="2400" dirty="0">
                <a:solidFill>
                  <a:prstClr val="black"/>
                </a:solidFill>
                <a:ea typeface="+mn-ea"/>
                <a:cs typeface="+mn-cs"/>
              </a:rPr>
              <a:t/>
            </a:r>
            <a:br>
              <a:rPr lang="en-US" sz="2400" dirty="0">
                <a:solidFill>
                  <a:prstClr val="black"/>
                </a:solidFill>
                <a:ea typeface="+mn-ea"/>
                <a:cs typeface="+mn-cs"/>
              </a:rPr>
            </a:br>
            <a:r>
              <a:rPr lang="en-US" sz="2400" dirty="0">
                <a:solidFill>
                  <a:prstClr val="black"/>
                </a:solidFill>
                <a:ea typeface="+mn-ea"/>
                <a:cs typeface="+mn-cs"/>
              </a:rPr>
              <a:t>Do not encode gene </a:t>
            </a:r>
            <a:r>
              <a:rPr lang="en-US" sz="2400" dirty="0" smtClean="0">
                <a:solidFill>
                  <a:prstClr val="black"/>
                </a:solidFill>
                <a:ea typeface="+mn-ea"/>
                <a:cs typeface="+mn-cs"/>
              </a:rPr>
              <a:t>products</a:t>
            </a:r>
            <a:r>
              <a:rPr lang="en-US" sz="2400" dirty="0">
                <a:solidFill>
                  <a:prstClr val="black"/>
                </a:solidFill>
                <a:ea typeface="+mn-ea"/>
                <a:cs typeface="+mn-cs"/>
              </a:rPr>
              <a:t/>
            </a:r>
            <a:br>
              <a:rPr lang="en-US" sz="2400" dirty="0">
                <a:solidFill>
                  <a:prstClr val="black"/>
                </a:solidFill>
                <a:ea typeface="+mn-ea"/>
                <a:cs typeface="+mn-cs"/>
              </a:rPr>
            </a:br>
            <a:r>
              <a:rPr lang="en-US" sz="2400" dirty="0">
                <a:solidFill>
                  <a:prstClr val="black"/>
                </a:solidFill>
                <a:ea typeface="+mn-ea"/>
                <a:cs typeface="+mn-cs"/>
              </a:rPr>
              <a:t>Replication requires host cell DNA-dependent RNA </a:t>
            </a:r>
            <a:r>
              <a:rPr lang="en-US" sz="2400" dirty="0" smtClean="0">
                <a:solidFill>
                  <a:prstClr val="black"/>
                </a:solidFill>
                <a:ea typeface="+mn-ea"/>
                <a:cs typeface="+mn-cs"/>
              </a:rPr>
              <a:t>polymerase</a:t>
            </a:r>
            <a:r>
              <a:rPr lang="en-US" sz="2400" dirty="0">
                <a:solidFill>
                  <a:prstClr val="black"/>
                </a:solidFill>
                <a:ea typeface="+mn-ea"/>
                <a:cs typeface="+mn-cs"/>
              </a:rPr>
              <a:t/>
            </a:r>
            <a:br>
              <a:rPr lang="en-US" sz="2400" dirty="0">
                <a:solidFill>
                  <a:prstClr val="black"/>
                </a:solidFill>
                <a:ea typeface="+mn-ea"/>
                <a:cs typeface="+mn-cs"/>
              </a:rPr>
            </a:br>
            <a:r>
              <a:rPr lang="en-US" sz="2400" dirty="0">
                <a:solidFill>
                  <a:prstClr val="black"/>
                </a:solidFill>
                <a:ea typeface="+mn-ea"/>
                <a:cs typeface="+mn-cs"/>
              </a:rPr>
              <a:t>Cause plant diseases</a:t>
            </a:r>
            <a:br>
              <a:rPr lang="en-US" sz="2400" dirty="0">
                <a:solidFill>
                  <a:prstClr val="black"/>
                </a:solidFill>
                <a:ea typeface="+mn-ea"/>
                <a:cs typeface="+mn-cs"/>
              </a:rPr>
            </a:br>
            <a:endParaRPr lang="en-US" dirty="0"/>
          </a:p>
        </p:txBody>
      </p:sp>
      <p:sp>
        <p:nvSpPr>
          <p:cNvPr id="5" name="Slide Number Placeholder 4"/>
          <p:cNvSpPr>
            <a:spLocks noGrp="1"/>
          </p:cNvSpPr>
          <p:nvPr>
            <p:ph type="sldNum" sz="quarter" idx="12"/>
          </p:nvPr>
        </p:nvSpPr>
        <p:spPr/>
        <p:txBody>
          <a:bodyPr/>
          <a:lstStyle/>
          <a:p>
            <a:fld id="{3B1A82D2-719A-4A87-BECB-D74482819C19}" type="slidenum">
              <a:rPr lang="en-US" smtClean="0"/>
              <a:pPr/>
              <a:t>45</a:t>
            </a:fld>
            <a:endParaRPr lang="en-US"/>
          </a:p>
        </p:txBody>
      </p:sp>
      <p:pic>
        <p:nvPicPr>
          <p:cNvPr id="6" name="Content Placeholder 5" descr="A comparison of E. coli, several viruses, and the potato spindle-tuber viroid with respect to size and the amount of nucleic acid possessed.  The simplest is the viroid, a single-stranded RNA circle.  Next is Bacteriophage f2 represented by an S-shape of RNA.  Third smallest is Human papillomavirus, with circular DNA.  Next is Bacteriophage T2 with a long strand of DNA looped in rectangles of increasing size.  And largest is the Escherichia coli cell." title="Figure 6.22 Viroids, Viruses, and Bacteria."/>
          <p:cNvPicPr>
            <a:picLocks noGrp="1" noChangeAspect="1" noChangeArrowheads="1"/>
          </p:cNvPicPr>
          <p:nvPr>
            <p:ph sz="half" idx="2"/>
          </p:nvPr>
        </p:nvPicPr>
        <p:blipFill>
          <a:blip r:embed="rId2" cstate="print"/>
          <a:stretch>
            <a:fillRect/>
          </a:stretch>
        </p:blipFill>
        <p:spPr bwMode="auto">
          <a:xfrm>
            <a:off x="5181601" y="266306"/>
            <a:ext cx="3853128" cy="6363218"/>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Top) This schematic diagram shows the general organization of a viroid belonging to the family Pospiviroidae.  The closed single-stranded RNA circle has extensive intrastrand base pairing and interspersed unpaired loops.  Also shown are five domains identified in the molecule.  Most changes in viroid pathogenicity arise from variations in the P and T_L_ domains.&#10;(Bottom) Schematic diagram of a viroid belonging to Avsunviroidae.  These viroids lack the central conserved region observed in pospiviroids." title="Figure 6.23 Viroid Structure."/>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bwMode="auto">
          <a:xfrm>
            <a:off x="609600" y="2945312"/>
            <a:ext cx="4036557" cy="387616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3464699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Satellites</a:t>
            </a:r>
            <a:endParaRPr lang="en-US" dirty="0"/>
          </a:p>
        </p:txBody>
      </p:sp>
      <p:sp>
        <p:nvSpPr>
          <p:cNvPr id="3" name="Content Placeholder 2"/>
          <p:cNvSpPr>
            <a:spLocks noGrp="1"/>
          </p:cNvSpPr>
          <p:nvPr>
            <p:ph idx="1"/>
          </p:nvPr>
        </p:nvSpPr>
        <p:spPr/>
        <p:txBody>
          <a:bodyPr>
            <a:normAutofit fontScale="92500" lnSpcReduction="20000"/>
          </a:bodyPr>
          <a:lstStyle/>
          <a:p>
            <a:r>
              <a:rPr lang="en-US" dirty="0"/>
              <a:t>Infectious nucleic acids (DNA or RNA)</a:t>
            </a:r>
          </a:p>
          <a:p>
            <a:pPr lvl="1"/>
            <a:r>
              <a:rPr lang="en-US" dirty="0" smtClean="0"/>
              <a:t>satellite </a:t>
            </a:r>
            <a:r>
              <a:rPr lang="en-US" dirty="0"/>
              <a:t>viruses encode their own capsid proteins when helped by a helper virus</a:t>
            </a:r>
          </a:p>
          <a:p>
            <a:pPr lvl="1"/>
            <a:r>
              <a:rPr lang="en-US" dirty="0" smtClean="0"/>
              <a:t>satellite </a:t>
            </a:r>
            <a:r>
              <a:rPr lang="en-US" dirty="0"/>
              <a:t>RNAs/DNAs do NOT encode their own capsid proteins </a:t>
            </a:r>
            <a:endParaRPr lang="en-US" dirty="0" smtClean="0"/>
          </a:p>
          <a:p>
            <a:pPr marL="457200" lvl="1" indent="0">
              <a:buNone/>
            </a:pPr>
            <a:endParaRPr lang="en-US" dirty="0"/>
          </a:p>
          <a:p>
            <a:r>
              <a:rPr lang="en-US" dirty="0"/>
              <a:t>Encode one or more gene </a:t>
            </a:r>
            <a:r>
              <a:rPr lang="en-US" dirty="0" smtClean="0"/>
              <a:t>products</a:t>
            </a:r>
          </a:p>
          <a:p>
            <a:pPr marL="0" indent="0">
              <a:buNone/>
            </a:pPr>
            <a:endParaRPr lang="en-US" dirty="0"/>
          </a:p>
          <a:p>
            <a:r>
              <a:rPr lang="en-US" dirty="0"/>
              <a:t>Require a helper virus for replication</a:t>
            </a:r>
          </a:p>
          <a:p>
            <a:pPr lvl="1"/>
            <a:r>
              <a:rPr lang="en-US" dirty="0"/>
              <a:t>human hepatitis D virus is satellite</a:t>
            </a:r>
          </a:p>
          <a:p>
            <a:pPr lvl="1"/>
            <a:r>
              <a:rPr lang="en-US" dirty="0"/>
              <a:t>requires human hepatitis B virus</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46</a:t>
            </a:fld>
            <a:endParaRPr lang="en-US"/>
          </a:p>
        </p:txBody>
      </p:sp>
    </p:spTree>
    <p:extLst>
      <p:ext uri="{BB962C8B-B14F-4D97-AF65-F5344CB8AC3E}">
        <p14:creationId xmlns:p14="http://schemas.microsoft.com/office/powerpoint/2010/main" val="400573240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6.7 Prions Are Composed Only of Protein</a:t>
            </a:r>
            <a:endParaRPr lang="en-US" dirty="0"/>
          </a:p>
        </p:txBody>
      </p:sp>
      <p:sp>
        <p:nvSpPr>
          <p:cNvPr id="3" name="Content Placeholder 2"/>
          <p:cNvSpPr>
            <a:spLocks noGrp="1"/>
          </p:cNvSpPr>
          <p:nvPr>
            <p:ph idx="1"/>
          </p:nvPr>
        </p:nvSpPr>
        <p:spPr/>
        <p:txBody>
          <a:bodyPr>
            <a:normAutofit fontScale="92500" lnSpcReduction="20000"/>
          </a:bodyPr>
          <a:lstStyle/>
          <a:p>
            <a:pPr marL="514350" indent="-514350">
              <a:buFont typeface="+mj-lt"/>
              <a:buAutoNum type="arabicPeriod"/>
            </a:pPr>
            <a:r>
              <a:rPr lang="en-US" dirty="0"/>
              <a:t>Describe prion structure and how prions are thought to replicate</a:t>
            </a:r>
            <a:r>
              <a:rPr lang="en-US" dirty="0" smtClean="0"/>
              <a:t>.</a:t>
            </a:r>
            <a:br>
              <a:rPr lang="en-US" dirty="0" smtClean="0"/>
            </a:br>
            <a:endParaRPr lang="en-US" dirty="0"/>
          </a:p>
          <a:p>
            <a:pPr marL="514350" indent="-514350">
              <a:buFont typeface="+mj-lt"/>
              <a:buAutoNum type="arabicPeriod"/>
            </a:pPr>
            <a:r>
              <a:rPr lang="en-US" dirty="0"/>
              <a:t>List characteristics common to all animal diseases caused by prions</a:t>
            </a:r>
            <a:r>
              <a:rPr lang="en-US" dirty="0" smtClean="0"/>
              <a:t>.</a:t>
            </a:r>
            <a:br>
              <a:rPr lang="en-US" dirty="0" smtClean="0"/>
            </a:br>
            <a:endParaRPr lang="en-US" dirty="0"/>
          </a:p>
          <a:p>
            <a:pPr marL="514350" indent="-514350">
              <a:buFont typeface="+mj-lt"/>
              <a:buAutoNum type="arabicPeriod"/>
            </a:pPr>
            <a:r>
              <a:rPr lang="en-US" dirty="0"/>
              <a:t>Name at least two human diseases caused by prions</a:t>
            </a:r>
            <a:r>
              <a:rPr lang="en-US" dirty="0" smtClean="0"/>
              <a:t>.</a:t>
            </a:r>
            <a:br>
              <a:rPr lang="en-US" dirty="0" smtClean="0"/>
            </a:br>
            <a:endParaRPr lang="en-US" dirty="0"/>
          </a:p>
          <a:p>
            <a:pPr marL="514350" indent="-514350">
              <a:buFont typeface="+mj-lt"/>
              <a:buAutoNum type="arabicPeriod"/>
            </a:pPr>
            <a:r>
              <a:rPr lang="en-US" dirty="0"/>
              <a:t>Describe the mechanisms by which a prion protein might first appear in a brain cell.</a:t>
            </a:r>
          </a:p>
        </p:txBody>
      </p:sp>
      <p:sp>
        <p:nvSpPr>
          <p:cNvPr id="4" name="Slide Number Placeholder 3"/>
          <p:cNvSpPr>
            <a:spLocks noGrp="1"/>
          </p:cNvSpPr>
          <p:nvPr>
            <p:ph type="sldNum" sz="quarter" idx="12"/>
          </p:nvPr>
        </p:nvSpPr>
        <p:spPr/>
        <p:txBody>
          <a:bodyPr/>
          <a:lstStyle/>
          <a:p>
            <a:fld id="{3B1A82D2-719A-4A87-BECB-D74482819C19}" type="slidenum">
              <a:rPr lang="en-US" smtClean="0"/>
              <a:pPr/>
              <a:t>47</a:t>
            </a:fld>
            <a:endParaRPr lang="en-US"/>
          </a:p>
        </p:txBody>
      </p:sp>
    </p:spTree>
    <p:extLst>
      <p:ext uri="{BB962C8B-B14F-4D97-AF65-F5344CB8AC3E}">
        <p14:creationId xmlns:p14="http://schemas.microsoft.com/office/powerpoint/2010/main" val="400573240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Prions – Proteinaceous Infectious Particle</a:t>
            </a:r>
          </a:p>
        </p:txBody>
      </p:sp>
      <p:sp>
        <p:nvSpPr>
          <p:cNvPr id="3" name="Content Placeholder 2"/>
          <p:cNvSpPr>
            <a:spLocks noGrp="1"/>
          </p:cNvSpPr>
          <p:nvPr>
            <p:ph idx="1"/>
          </p:nvPr>
        </p:nvSpPr>
        <p:spPr/>
        <p:txBody>
          <a:bodyPr/>
          <a:lstStyle/>
          <a:p>
            <a:pPr>
              <a:lnSpc>
                <a:spcPct val="90000"/>
              </a:lnSpc>
            </a:pPr>
            <a:r>
              <a:rPr lang="en-US" dirty="0"/>
              <a:t>Cause a variety of degenerative diseases in humans and </a:t>
            </a:r>
            <a:r>
              <a:rPr lang="en-US" dirty="0" smtClean="0"/>
              <a:t>animals</a:t>
            </a:r>
            <a:br>
              <a:rPr lang="en-US" dirty="0" smtClean="0"/>
            </a:br>
            <a:endParaRPr lang="en-US" dirty="0"/>
          </a:p>
          <a:p>
            <a:pPr lvl="1">
              <a:lnSpc>
                <a:spcPct val="90000"/>
              </a:lnSpc>
            </a:pPr>
            <a:r>
              <a:rPr lang="en-US" dirty="0"/>
              <a:t>scrapie in sheep</a:t>
            </a:r>
          </a:p>
          <a:p>
            <a:pPr lvl="1">
              <a:lnSpc>
                <a:spcPct val="90000"/>
              </a:lnSpc>
            </a:pPr>
            <a:r>
              <a:rPr lang="en-US" dirty="0"/>
              <a:t>bovine spongiform encephalopathy (BSE) or mad cow disease</a:t>
            </a:r>
          </a:p>
          <a:p>
            <a:pPr lvl="1">
              <a:lnSpc>
                <a:spcPct val="90000"/>
              </a:lnSpc>
            </a:pPr>
            <a:r>
              <a:rPr lang="en-US" dirty="0"/>
              <a:t>Creutzfeldt-Jakob disease (CJD) and variant CJD (</a:t>
            </a:r>
            <a:r>
              <a:rPr lang="en-US" dirty="0" err="1"/>
              <a:t>vCJD</a:t>
            </a:r>
            <a:r>
              <a:rPr lang="en-US" dirty="0"/>
              <a:t>) in humans</a:t>
            </a:r>
          </a:p>
          <a:p>
            <a:pPr lvl="1">
              <a:lnSpc>
                <a:spcPct val="90000"/>
              </a:lnSpc>
            </a:pPr>
            <a:r>
              <a:rPr lang="en-US" dirty="0"/>
              <a:t>kuru in humans</a:t>
            </a:r>
          </a:p>
        </p:txBody>
      </p:sp>
      <p:sp>
        <p:nvSpPr>
          <p:cNvPr id="4" name="Slide Number Placeholder 3"/>
          <p:cNvSpPr>
            <a:spLocks noGrp="1"/>
          </p:cNvSpPr>
          <p:nvPr>
            <p:ph type="sldNum" sz="quarter" idx="12"/>
          </p:nvPr>
        </p:nvSpPr>
        <p:spPr/>
        <p:txBody>
          <a:bodyPr/>
          <a:lstStyle/>
          <a:p>
            <a:fld id="{3B1A82D2-719A-4A87-BECB-D74482819C19}" type="slidenum">
              <a:rPr lang="en-US" smtClean="0"/>
              <a:pPr/>
              <a:t>48</a:t>
            </a:fld>
            <a:endParaRPr lang="en-US"/>
          </a:p>
        </p:txBody>
      </p:sp>
    </p:spTree>
    <p:extLst>
      <p:ext uri="{BB962C8B-B14F-4D97-AF65-F5344CB8AC3E}">
        <p14:creationId xmlns:p14="http://schemas.microsoft.com/office/powerpoint/2010/main" val="400573240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152400"/>
            <a:ext cx="4800600" cy="1524000"/>
          </a:xfrm>
        </p:spPr>
        <p:txBody>
          <a:bodyPr>
            <a:noAutofit/>
          </a:bodyPr>
          <a:lstStyle/>
          <a:p>
            <a:r>
              <a:rPr lang="en-US" sz="3200" dirty="0"/>
              <a:t>Current Model of Disease Production by Prions</a:t>
            </a:r>
          </a:p>
        </p:txBody>
      </p:sp>
      <p:sp>
        <p:nvSpPr>
          <p:cNvPr id="6" name="Content Placeholder 5"/>
          <p:cNvSpPr>
            <a:spLocks noGrp="1"/>
          </p:cNvSpPr>
          <p:nvPr>
            <p:ph sz="half" idx="1"/>
          </p:nvPr>
        </p:nvSpPr>
        <p:spPr>
          <a:xfrm>
            <a:off x="228600" y="1752600"/>
            <a:ext cx="4343400" cy="5029200"/>
          </a:xfrm>
        </p:spPr>
        <p:txBody>
          <a:bodyPr>
            <a:normAutofit fontScale="85000" lnSpcReduction="10000"/>
          </a:bodyPr>
          <a:lstStyle/>
          <a:p>
            <a:pPr>
              <a:lnSpc>
                <a:spcPct val="110000"/>
              </a:lnSpc>
            </a:pPr>
            <a:r>
              <a:rPr lang="en-US" dirty="0" err="1" smtClean="0"/>
              <a:t>PrP</a:t>
            </a:r>
            <a:r>
              <a:rPr lang="en-US" baseline="40000" dirty="0" err="1" smtClean="0"/>
              <a:t>C</a:t>
            </a:r>
            <a:r>
              <a:rPr lang="en-US" dirty="0" smtClean="0"/>
              <a:t> (prion protein) is present in “normal” form (abnormal form of prion protein is </a:t>
            </a:r>
            <a:r>
              <a:rPr lang="en-US" dirty="0" err="1" smtClean="0"/>
              <a:t>PrP</a:t>
            </a:r>
            <a:r>
              <a:rPr lang="en-US" baseline="40000" dirty="0" err="1" smtClean="0"/>
              <a:t>Sc</a:t>
            </a:r>
            <a:r>
              <a:rPr lang="en-US" dirty="0" smtClean="0"/>
              <a:t>)</a:t>
            </a:r>
            <a:r>
              <a:rPr lang="en-US" baseline="40000" dirty="0" smtClean="0"/>
              <a:t> </a:t>
            </a:r>
          </a:p>
          <a:p>
            <a:pPr marL="0" indent="0">
              <a:lnSpc>
                <a:spcPct val="110000"/>
              </a:lnSpc>
              <a:buNone/>
            </a:pPr>
            <a:endParaRPr lang="en-US" baseline="40000" dirty="0" smtClean="0"/>
          </a:p>
          <a:p>
            <a:pPr>
              <a:lnSpc>
                <a:spcPct val="110000"/>
              </a:lnSpc>
            </a:pPr>
            <a:r>
              <a:rPr lang="en-US" dirty="0" err="1" smtClean="0"/>
              <a:t>PrP</a:t>
            </a:r>
            <a:r>
              <a:rPr lang="en-US" baseline="40000" dirty="0" err="1" smtClean="0"/>
              <a:t>Sc</a:t>
            </a:r>
            <a:r>
              <a:rPr lang="en-US" baseline="40000" dirty="0" smtClean="0"/>
              <a:t> </a:t>
            </a:r>
            <a:r>
              <a:rPr lang="en-US" dirty="0" smtClean="0"/>
              <a:t>causes </a:t>
            </a:r>
            <a:r>
              <a:rPr lang="en-US" dirty="0" err="1" smtClean="0"/>
              <a:t>PrP</a:t>
            </a:r>
            <a:r>
              <a:rPr lang="en-US" baseline="40000" dirty="0" err="1" smtClean="0"/>
              <a:t>C</a:t>
            </a:r>
            <a:r>
              <a:rPr lang="en-US" dirty="0" smtClean="0"/>
              <a:t> protein to change its conformation to abnormal form</a:t>
            </a:r>
          </a:p>
          <a:p>
            <a:pPr marL="0" indent="0">
              <a:lnSpc>
                <a:spcPct val="110000"/>
              </a:lnSpc>
              <a:buNone/>
            </a:pPr>
            <a:endParaRPr lang="en-US" dirty="0" smtClean="0"/>
          </a:p>
          <a:p>
            <a:pPr>
              <a:lnSpc>
                <a:spcPct val="110000"/>
              </a:lnSpc>
            </a:pPr>
            <a:r>
              <a:rPr lang="en-US" dirty="0" smtClean="0"/>
              <a:t>Newly produced </a:t>
            </a:r>
            <a:r>
              <a:rPr lang="en-US" dirty="0" err="1" smtClean="0"/>
              <a:t>PrP</a:t>
            </a:r>
            <a:r>
              <a:rPr lang="en-US" baseline="40000" dirty="0" err="1" smtClean="0"/>
              <a:t>Sc</a:t>
            </a:r>
            <a:r>
              <a:rPr lang="en-US" baseline="40000" dirty="0" smtClean="0"/>
              <a:t> </a:t>
            </a:r>
            <a:r>
              <a:rPr lang="en-US" dirty="0" smtClean="0"/>
              <a:t>molecules convert more normal molecules to the abnormal form through unknown mechanism</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49</a:t>
            </a:fld>
            <a:endParaRPr lang="en-US"/>
          </a:p>
        </p:txBody>
      </p:sp>
      <p:pic>
        <p:nvPicPr>
          <p:cNvPr id="8" name="Content Placeholder 7" descr="This is an illustration of one proposed model for prion replication.  Both normal protein and abnormal protein are present.  The normal and prion proteins differ in their tertiary structure.  &#10;Step 1 – Abnormal prion protein interacts with the normal protein.  &#10;Step 2 – The normal protein is converted to the abnormal prion protein.&#10;Steps 3 and 4 – The abnormal prion proteins continue to interact with normal proteins until they convert all of the normal proteins to abnormal proteins." title="Figure 6.24 One Proposed Model for Prion Replication."/>
          <p:cNvPicPr>
            <a:picLocks noGrp="1" noChangeAspect="1" noChangeArrowheads="1"/>
          </p:cNvPicPr>
          <p:nvPr>
            <p:ph sz="half" idx="2"/>
          </p:nvPr>
        </p:nvPicPr>
        <p:blipFill>
          <a:blip r:embed="rId2" cstate="print"/>
          <a:stretch>
            <a:fillRect/>
          </a:stretch>
        </p:blipFill>
        <p:spPr bwMode="auto">
          <a:xfrm>
            <a:off x="5105400" y="152400"/>
            <a:ext cx="3552012" cy="66237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573240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Neural Loss</a:t>
            </a:r>
            <a:endParaRPr lang="en-US" dirty="0"/>
          </a:p>
        </p:txBody>
      </p:sp>
      <p:sp>
        <p:nvSpPr>
          <p:cNvPr id="3" name="Content Placeholder 2"/>
          <p:cNvSpPr>
            <a:spLocks noGrp="1"/>
          </p:cNvSpPr>
          <p:nvPr>
            <p:ph idx="1"/>
          </p:nvPr>
        </p:nvSpPr>
        <p:spPr>
          <a:xfrm>
            <a:off x="457200" y="1600200"/>
            <a:ext cx="8229600" cy="5105400"/>
          </a:xfrm>
        </p:spPr>
        <p:txBody>
          <a:bodyPr>
            <a:normAutofit fontScale="92500" lnSpcReduction="20000"/>
          </a:bodyPr>
          <a:lstStyle/>
          <a:p>
            <a:pPr>
              <a:lnSpc>
                <a:spcPct val="90000"/>
              </a:lnSpc>
            </a:pPr>
            <a:r>
              <a:rPr lang="en-US" dirty="0"/>
              <a:t>Evidence suggests that </a:t>
            </a:r>
            <a:r>
              <a:rPr lang="en-US" dirty="0" err="1"/>
              <a:t>PrP</a:t>
            </a:r>
            <a:r>
              <a:rPr lang="en-US" baseline="40000" dirty="0" err="1"/>
              <a:t>C</a:t>
            </a:r>
            <a:r>
              <a:rPr lang="en-US" dirty="0"/>
              <a:t> must be present for neural degeneration to </a:t>
            </a:r>
            <a:r>
              <a:rPr lang="en-US" dirty="0" smtClean="0"/>
              <a:t>occur</a:t>
            </a:r>
          </a:p>
          <a:p>
            <a:pPr marL="0" indent="0">
              <a:lnSpc>
                <a:spcPct val="90000"/>
              </a:lnSpc>
              <a:buNone/>
            </a:pPr>
            <a:endParaRPr lang="en-US" dirty="0"/>
          </a:p>
          <a:p>
            <a:pPr>
              <a:lnSpc>
                <a:spcPct val="90000"/>
              </a:lnSpc>
            </a:pPr>
            <a:r>
              <a:rPr lang="en-US" dirty="0"/>
              <a:t>Interaction of </a:t>
            </a:r>
            <a:r>
              <a:rPr lang="en-US" dirty="0" err="1"/>
              <a:t>PrP</a:t>
            </a:r>
            <a:r>
              <a:rPr lang="en-US" baseline="40000" dirty="0" err="1"/>
              <a:t>Sc</a:t>
            </a:r>
            <a:r>
              <a:rPr lang="en-US" baseline="40000" dirty="0"/>
              <a:t> </a:t>
            </a:r>
            <a:r>
              <a:rPr lang="en-US" dirty="0"/>
              <a:t>with </a:t>
            </a:r>
            <a:r>
              <a:rPr lang="en-US" dirty="0" err="1"/>
              <a:t>PrP</a:t>
            </a:r>
            <a:r>
              <a:rPr lang="en-US" baseline="40000" dirty="0" err="1"/>
              <a:t>C</a:t>
            </a:r>
            <a:r>
              <a:rPr lang="en-US" baseline="40000" dirty="0"/>
              <a:t> </a:t>
            </a:r>
            <a:r>
              <a:rPr lang="en-US" dirty="0"/>
              <a:t>may cause </a:t>
            </a:r>
            <a:r>
              <a:rPr lang="en-US" dirty="0" err="1"/>
              <a:t>PrP</a:t>
            </a:r>
            <a:r>
              <a:rPr lang="en-US" baseline="40000" dirty="0" err="1"/>
              <a:t>C</a:t>
            </a:r>
            <a:r>
              <a:rPr lang="en-US" dirty="0"/>
              <a:t> to crosslink and trigger </a:t>
            </a:r>
            <a:r>
              <a:rPr lang="en-US" dirty="0" smtClean="0"/>
              <a:t>apoptosis</a:t>
            </a:r>
          </a:p>
          <a:p>
            <a:pPr marL="0" indent="0">
              <a:lnSpc>
                <a:spcPct val="90000"/>
              </a:lnSpc>
              <a:buNone/>
            </a:pPr>
            <a:endParaRPr lang="en-US" dirty="0"/>
          </a:p>
          <a:p>
            <a:pPr>
              <a:lnSpc>
                <a:spcPct val="90000"/>
              </a:lnSpc>
            </a:pPr>
            <a:r>
              <a:rPr lang="en-US" dirty="0" err="1"/>
              <a:t>PrP</a:t>
            </a:r>
            <a:r>
              <a:rPr lang="en-US" baseline="40000" dirty="0" err="1"/>
              <a:t>C</a:t>
            </a:r>
            <a:r>
              <a:rPr lang="en-US" baseline="40000" dirty="0"/>
              <a:t> </a:t>
            </a:r>
            <a:r>
              <a:rPr lang="en-US" dirty="0"/>
              <a:t>conversion causes neuron loss, </a:t>
            </a:r>
            <a:r>
              <a:rPr lang="en-US" dirty="0" err="1"/>
              <a:t>PrP</a:t>
            </a:r>
            <a:r>
              <a:rPr lang="en-US" baseline="40000" dirty="0" err="1"/>
              <a:t>Sc</a:t>
            </a:r>
            <a:r>
              <a:rPr lang="en-US" baseline="40000" dirty="0"/>
              <a:t> </a:t>
            </a:r>
            <a:r>
              <a:rPr lang="en-US" dirty="0"/>
              <a:t>is the infectious </a:t>
            </a:r>
            <a:r>
              <a:rPr lang="en-US" dirty="0" smtClean="0"/>
              <a:t>agent</a:t>
            </a:r>
          </a:p>
          <a:p>
            <a:pPr marL="0" indent="0">
              <a:lnSpc>
                <a:spcPct val="90000"/>
              </a:lnSpc>
              <a:buNone/>
            </a:pPr>
            <a:endParaRPr lang="en-US" dirty="0"/>
          </a:p>
          <a:p>
            <a:pPr>
              <a:lnSpc>
                <a:spcPct val="80000"/>
              </a:lnSpc>
            </a:pPr>
            <a:r>
              <a:rPr lang="en-US" dirty="0"/>
              <a:t>All prion caused diseases</a:t>
            </a:r>
          </a:p>
          <a:p>
            <a:pPr lvl="1">
              <a:lnSpc>
                <a:spcPct val="80000"/>
              </a:lnSpc>
            </a:pPr>
            <a:r>
              <a:rPr lang="en-US" dirty="0"/>
              <a:t>have no effective treatment</a:t>
            </a:r>
          </a:p>
          <a:p>
            <a:pPr lvl="1">
              <a:lnSpc>
                <a:spcPct val="80000"/>
              </a:lnSpc>
            </a:pPr>
            <a:r>
              <a:rPr lang="en-US" dirty="0"/>
              <a:t>result in progressive degeneration of the brain and eventual death </a:t>
            </a:r>
          </a:p>
        </p:txBody>
      </p:sp>
      <p:sp>
        <p:nvSpPr>
          <p:cNvPr id="4" name="Slide Number Placeholder 3"/>
          <p:cNvSpPr>
            <a:spLocks noGrp="1"/>
          </p:cNvSpPr>
          <p:nvPr>
            <p:ph type="sldNum" sz="quarter" idx="12"/>
          </p:nvPr>
        </p:nvSpPr>
        <p:spPr/>
        <p:txBody>
          <a:bodyPr/>
          <a:lstStyle/>
          <a:p>
            <a:fld id="{3B1A82D2-719A-4A87-BECB-D74482819C19}" type="slidenum">
              <a:rPr lang="en-US" smtClean="0"/>
              <a:pPr/>
              <a:t>50</a:t>
            </a:fld>
            <a:endParaRPr lang="en-US"/>
          </a:p>
        </p:txBody>
      </p:sp>
    </p:spTree>
    <p:extLst>
      <p:ext uri="{BB962C8B-B14F-4D97-AF65-F5344CB8AC3E}">
        <p14:creationId xmlns:p14="http://schemas.microsoft.com/office/powerpoint/2010/main" val="400573240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Take Home Message</a:t>
            </a:r>
            <a:endParaRPr lang="en-US" dirty="0"/>
          </a:p>
        </p:txBody>
      </p:sp>
      <p:sp>
        <p:nvSpPr>
          <p:cNvPr id="3" name="Content Placeholder 2"/>
          <p:cNvSpPr>
            <a:spLocks noGrp="1"/>
          </p:cNvSpPr>
          <p:nvPr>
            <p:ph idx="1"/>
          </p:nvPr>
        </p:nvSpPr>
        <p:spPr>
          <a:xfrm>
            <a:off x="457200" y="1600200"/>
            <a:ext cx="8229600" cy="4953000"/>
          </a:xfrm>
        </p:spPr>
        <p:txBody>
          <a:bodyPr>
            <a:normAutofit fontScale="77500" lnSpcReduction="20000"/>
          </a:bodyPr>
          <a:lstStyle/>
          <a:p>
            <a:r>
              <a:rPr lang="en-US" dirty="0" smtClean="0"/>
              <a:t>This material is a complement to the chapters on the three Domains of life</a:t>
            </a:r>
            <a:br>
              <a:rPr lang="en-US" dirty="0" smtClean="0"/>
            </a:br>
            <a:endParaRPr lang="en-US" dirty="0" smtClean="0"/>
          </a:p>
          <a:p>
            <a:r>
              <a:rPr lang="en-US" dirty="0" smtClean="0"/>
              <a:t>The items in this chapter fall outside of the three Domains, but are very important members of the microbial world</a:t>
            </a:r>
            <a:br>
              <a:rPr lang="en-US" dirty="0" smtClean="0"/>
            </a:br>
            <a:endParaRPr lang="en-US" dirty="0" smtClean="0"/>
          </a:p>
          <a:p>
            <a:r>
              <a:rPr lang="en-US" dirty="0" smtClean="0"/>
              <a:t>Understand what each member of the acellular entities is, how they function, and how they replicate can round out your greater understanding of the microbial world</a:t>
            </a:r>
            <a:br>
              <a:rPr lang="en-US" dirty="0" smtClean="0"/>
            </a:br>
            <a:endParaRPr lang="en-US" dirty="0" smtClean="0"/>
          </a:p>
          <a:p>
            <a:r>
              <a:rPr lang="en-US" dirty="0" smtClean="0"/>
              <a:t>Try to think of how these entities fit into the overall scheme of microbes on Earth – how are they similar, how are they different</a:t>
            </a:r>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51</a:t>
            </a:fld>
            <a:endParaRPr lang="en-US"/>
          </a:p>
        </p:txBody>
      </p:sp>
    </p:spTree>
    <p:extLst>
      <p:ext uri="{BB962C8B-B14F-4D97-AF65-F5344CB8AC3E}">
        <p14:creationId xmlns:p14="http://schemas.microsoft.com/office/powerpoint/2010/main" val="400573240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6.0&quot;&gt;&lt;object type=&quot;1&quot; unique_id=&quot;10001&quot;&gt;&lt;object type=&quot;8&quot; unique_id=&quot;10113&quot;&gt;&lt;/object&gt;&lt;object type=&quot;2&quot; unique_id=&quot;10114&quot;&gt;&lt;object type=&quot;3&quot; unique_id=&quot;10115&quot;&gt;&lt;property id=&quot;20148&quot; value=&quot;5&quot;/&gt;&lt;property id=&quot;20300&quot; value=&quot;Slide 1 - &amp;quot;Chapter 6 – Viruses and Other Acellular Infectious Agents&amp;quot;&quot;/&gt;&lt;property id=&quot;20307&quot; value=&quot;256&quot;/&gt;&lt;/object&gt;&lt;object type=&quot;3&quot; unique_id=&quot;10116&quot;&gt;&lt;property id=&quot;20148&quot; value=&quot;5&quot;/&gt;&lt;property id=&quot;20300&quot; value=&quot;Slide 2 - &amp;quot;6.1 Viruses are Acellular&amp;quot;&quot;/&gt;&lt;property id=&quot;20307&quot; value=&quot;257&quot;/&gt;&lt;/object&gt;&lt;object type=&quot;3&quot; unique_id=&quot;10117&quot;&gt;&lt;property id=&quot;20148&quot; value=&quot;5&quot;/&gt;&lt;property id=&quot;20300&quot; value=&quot;Slide 3 - &amp;quot;Acellular Agents&amp;quot;&quot;/&gt;&lt;property id=&quot;20307&quot; value=&quot;258&quot;/&gt;&lt;/object&gt;&lt;object type=&quot;3&quot; unique_id=&quot;10118&quot;&gt;&lt;property id=&quot;20148&quot; value=&quot;5&quot;/&gt;&lt;property id=&quot;20300&quot; value=&quot;Slide 4 - &amp;quot;Viruses&amp;quot;&quot;/&gt;&lt;property id=&quot;20307&quot; value=&quot;259&quot;/&gt;&lt;/object&gt;&lt;object type=&quot;3&quot; unique_id=&quot;10119&quot;&gt;&lt;property id=&quot;20148&quot; value=&quot;5&quot;/&gt;&lt;property id=&quot;20300&quot; value=&quot;Slide 5 - &amp;quot;General Properties of Viruses&amp;quot;&quot;/&gt;&lt;property id=&quot;20307&quot; value=&quot;260&quot;/&gt;&lt;/object&gt;&lt;object type=&quot;3&quot; unique_id=&quot;10120&quot;&gt;&lt;property id=&quot;20148&quot; value=&quot;5&quot;/&gt;&lt;property id=&quot;20300&quot; value=&quot;Slide 6&quot;/&gt;&lt;property id=&quot;20307&quot; value=&quot;312&quot;/&gt;&lt;/object&gt;&lt;object type=&quot;3&quot; unique_id=&quot;10121&quot;&gt;&lt;property id=&quot;20148&quot; value=&quot;5&quot;/&gt;&lt;property id=&quot;20300&quot; value=&quot;Slide 7 - &amp;quot;6.2 Virion Structure is Defined by Capsid Symmetry and Presence or Absence of an Envelope&amp;quot;&quot;/&gt;&lt;property id=&quot;20307&quot; value=&quot;262&quot;/&gt;&lt;/object&gt;&lt;object type=&quot;3&quot; unique_id=&quot;10122&quot;&gt;&lt;property id=&quot;20148&quot; value=&quot;5&quot;/&gt;&lt;property id=&quot;20300&quot; value=&quot;Slide 8 - &amp;quot;The Structure of Viruses&amp;quot;&quot;/&gt;&lt;property id=&quot;20307&quot; value=&quot;263&quot;/&gt;&lt;/object&gt;&lt;object type=&quot;3&quot; unique_id=&quot;10123&quot;&gt;&lt;property id=&quot;20148&quot; value=&quot;5&quot;/&gt;&lt;property id=&quot;20300&quot; value=&quot;Slide 9 - &amp;quot;Size and Morphology of Select Viruses&amp;quot;&quot;/&gt;&lt;property id=&quot;20307&quot; value=&quot;264&quot;/&gt;&lt;/object&gt;&lt;object type=&quot;3&quot; unique_id=&quot;10124&quot;&gt;&lt;property id=&quot;20148&quot; value=&quot;5&quot;/&gt;&lt;property id=&quot;20300&quot; value=&quot;Slide 10 - &amp;quot;Capsids&amp;quot;&quot;/&gt;&lt;property id=&quot;20307&quot; value=&quot;265&quot;/&gt;&lt;/object&gt;&lt;object type=&quot;3&quot; unique_id=&quot;10125&quot;&gt;&lt;property id=&quot;20148&quot; value=&quot;5&quot;/&gt;&lt;property id=&quot;20300&quot; value=&quot;Slide 11 - &amp;quot;Helical Capsids&amp;quot;&quot;/&gt;&lt;property id=&quot;20307&quot; value=&quot;266&quot;/&gt;&lt;/object&gt;&lt;object type=&quot;3&quot; unique_id=&quot;10126&quot;&gt;&lt;property id=&quot;20148&quot; value=&quot;5&quot;/&gt;&lt;property id=&quot;20300&quot; value=&quot;Slide 12 - &amp;quot;Icosahedral Capsids&amp;quot;&quot;/&gt;&lt;property id=&quot;20307&quot; value=&quot;268&quot;/&gt;&lt;/object&gt;&lt;object type=&quot;3&quot; unique_id=&quot;10127&quot;&gt;&lt;property id=&quot;20148&quot; value=&quot;5&quot;/&gt;&lt;property id=&quot;20300&quot; value=&quot;Slide 13 - &amp;quot;Capsids of Complex Symmetry&amp;quot;&quot;/&gt;&lt;property id=&quot;20307&quot; value=&quot;269&quot;/&gt;&lt;/object&gt;&lt;object type=&quot;3&quot; unique_id=&quot;10128&quot;&gt;&lt;property id=&quot;20148&quot; value=&quot;5&quot;/&gt;&lt;property id=&quot;20300&quot; value=&quot;Slide 14 - &amp;quot;Phages: An Example of Complex Capsid Symmetry&amp;quot;&quot;/&gt;&lt;property id=&quot;20307&quot; value=&quot;270&quot;/&gt;&lt;/object&gt;&lt;object type=&quot;3&quot; unique_id=&quot;10129&quot;&gt;&lt;property id=&quot;20148&quot; value=&quot;5&quot;/&gt;&lt;property id=&quot;20300&quot; value=&quot;Slide 15 - &amp;quot;Viral Envelopes and Enzymes&amp;quot;&quot;/&gt;&lt;property id=&quot;20307&quot; value=&quot;271&quot;/&gt;&lt;/object&gt;&lt;object type=&quot;3&quot; unique_id=&quot;10130&quot;&gt;&lt;property id=&quot;20148&quot; value=&quot;5&quot;/&gt;&lt;property id=&quot;20300&quot; value=&quot;Slide 16 - &amp;quot;Viral Envelope Proteins&amp;quot;&quot;/&gt;&lt;property id=&quot;20307&quot; value=&quot;272&quot;/&gt;&lt;/object&gt;&lt;object type=&quot;3&quot; unique_id=&quot;10131&quot;&gt;&lt;property id=&quot;20148&quot; value=&quot;5&quot;/&gt;&lt;property id=&quot;20300&quot; value=&quot;Slide 17 - &amp;quot;Virion Enzymes&amp;quot;&quot;/&gt;&lt;property id=&quot;20307&quot; value=&quot;273&quot;/&gt;&lt;/object&gt;&lt;object type=&quot;3&quot; unique_id=&quot;10132&quot;&gt;&lt;property id=&quot;20148&quot; value=&quot;5&quot;/&gt;&lt;property id=&quot;20300&quot; value=&quot;Slide 18&quot;/&gt;&lt;property id=&quot;20307&quot; value=&quot;313&quot;/&gt;&lt;/object&gt;&lt;object type=&quot;3&quot; unique_id=&quot;10133&quot;&gt;&lt;property id=&quot;20148&quot; value=&quot;5&quot;/&gt;&lt;property id=&quot;20300&quot; value=&quot;Slide 19 - &amp;quot;6.3 Viral Life Cycles Have Five Steps&amp;quot;&quot;/&gt;&lt;property id=&quot;20307&quot; value=&quot;275&quot;/&gt;&lt;/object&gt;&lt;object type=&quot;3&quot; unique_id=&quot;10134&quot;&gt;&lt;property id=&quot;20148&quot; value=&quot;5&quot;/&gt;&lt;property id=&quot;20300&quot; value=&quot;Slide 20 - &amp;quot;One-Step Growth Curves&amp;quot;&quot;/&gt;&lt;property id=&quot;20307&quot; value=&quot;311&quot;/&gt;&lt;/object&gt;&lt;object type=&quot;3&quot; unique_id=&quot;10135&quot;&gt;&lt;property id=&quot;20148&quot; value=&quot;5&quot;/&gt;&lt;property id=&quot;20300&quot; value=&quot;Slide 21 - &amp;quot;Viral Multiplication&amp;quot;&quot;/&gt;&lt;property id=&quot;20307&quot; value=&quot;276&quot;/&gt;&lt;/object&gt;&lt;object type=&quot;3&quot; unique_id=&quot;10136&quot;&gt;&lt;property id=&quot;20148&quot; value=&quot;5&quot;/&gt;&lt;property id=&quot;20300&quot; value=&quot;Slide 22 - &amp;quot;Attachment (Adsorption)&amp;quot;&quot;/&gt;&lt;property id=&quot;20307&quot; value=&quot;277&quot;/&gt;&lt;/object&gt;&lt;object type=&quot;3&quot; unique_id=&quot;10137&quot;&gt;&lt;property id=&quot;20148&quot; value=&quot;5&quot;/&gt;&lt;property id=&quot;20300&quot; value=&quot;Slide 23 - &amp;quot;Viral Entry and Uncoating&amp;quot;&quot;/&gt;&lt;property id=&quot;20307&quot; value=&quot;278&quot;/&gt;&lt;/object&gt;&lt;object type=&quot;3&quot; unique_id=&quot;10138&quot;&gt;&lt;property id=&quot;20148&quot; value=&quot;5&quot;/&gt;&lt;property id=&quot;20300&quot; value=&quot;Slide 24 - &amp;quot;Animal Virus Entry Mechanisms&amp;quot;&quot;/&gt;&lt;property id=&quot;20307&quot; value=&quot;279&quot;/&gt;&lt;/object&gt;&lt;object type=&quot;3&quot; unique_id=&quot;10139&quot;&gt;&lt;property id=&quot;20148&quot; value=&quot;5&quot;/&gt;&lt;property id=&quot;20300&quot; value=&quot;Slide 25 - &amp;quot;Synthesis Stage&amp;quot;&quot;/&gt;&lt;property id=&quot;20307&quot; value=&quot;280&quot;/&gt;&lt;/object&gt;&lt;object type=&quot;3&quot; unique_id=&quot;10140&quot;&gt;&lt;property id=&quot;20148&quot; value=&quot;5&quot;/&gt;&lt;property id=&quot;20300&quot; value=&quot;Slide 26 - &amp;quot;Assembly&amp;quot;&quot;/&gt;&lt;property id=&quot;20307&quot; value=&quot;281&quot;/&gt;&lt;/object&gt;&lt;object type=&quot;3&quot; unique_id=&quot;10141&quot;&gt;&lt;property id=&quot;20148&quot; value=&quot;5&quot;/&gt;&lt;property id=&quot;20300&quot; value=&quot;Slide 27 - &amp;quot;Virion Release&amp;quot;&quot;/&gt;&lt;property id=&quot;20307&quot; value=&quot;282&quot;/&gt;&lt;/object&gt;&lt;object type=&quot;3&quot; unique_id=&quot;10142&quot;&gt;&lt;property id=&quot;20148&quot; value=&quot;5&quot;/&gt;&lt;property id=&quot;20300&quot; value=&quot;Slide 28 - &amp;quot;Virion Release&amp;quot;&quot;/&gt;&lt;property id=&quot;20307&quot; value=&quot;283&quot;/&gt;&lt;/object&gt;&lt;object type=&quot;3&quot; unique_id=&quot;10143&quot;&gt;&lt;property id=&quot;20148&quot; value=&quot;5&quot;/&gt;&lt;property id=&quot;20300&quot; value=&quot;Slide 29 - &amp;quot;6.4 There Are Several Types of Viral Infections&amp;quot;&quot;/&gt;&lt;property id=&quot;20307&quot; value=&quot;284&quot;/&gt;&lt;/object&gt;&lt;object type=&quot;3&quot; unique_id=&quot;10144&quot;&gt;&lt;property id=&quot;20148&quot; value=&quot;5&quot;/&gt;&lt;property id=&quot;20300&quot; value=&quot;Slide 30 - &amp;quot;Bacterial and Archaeal Viral Infections&amp;quot;&quot;/&gt;&lt;property id=&quot;20307&quot; value=&quot;286&quot;/&gt;&lt;/object&gt;&lt;object type=&quot;3&quot; unique_id=&quot;10145&quot;&gt;&lt;property id=&quot;20148&quot; value=&quot;5&quot;/&gt;&lt;property id=&quot;20300&quot; value=&quot;Slide 31 - &amp;quot;Lytic and Lysogenic Cycles&amp;quot;&quot;/&gt;&lt;property id=&quot;20307&quot; value=&quot;287&quot;/&gt;&lt;/object&gt;&lt;object type=&quot;3&quot; unique_id=&quot;10146&quot;&gt;&lt;property id=&quot;20148&quot; value=&quot;5&quot;/&gt;&lt;property id=&quot;20300&quot; value=&quot;Slide 32 - &amp;quot;Lysogenic Conversion&amp;quot;&quot;/&gt;&lt;property id=&quot;20307&quot; value=&quot;288&quot;/&gt;&lt;/object&gt;&lt;object type=&quot;3&quot; unique_id=&quot;10147&quot;&gt;&lt;property id=&quot;20148&quot; value=&quot;5&quot;/&gt;&lt;property id=&quot;20300&quot; value=&quot;Slide 33 - &amp;quot;Archaeal Viruses&amp;quot;&quot;/&gt;&lt;property id=&quot;20307&quot; value=&quot;289&quot;/&gt;&lt;/object&gt;&lt;object type=&quot;3&quot; unique_id=&quot;10148&quot;&gt;&lt;property id=&quot;20148&quot; value=&quot;5&quot;/&gt;&lt;property id=&quot;20300&quot; value=&quot;Slide 34 - &amp;quot;Infection in Eukaryotic Cells&amp;quot;&quot;/&gt;&lt;property id=&quot;20307&quot; value=&quot;290&quot;/&gt;&lt;/object&gt;&lt;object type=&quot;3&quot; unique_id=&quot;10149&quot;&gt;&lt;property id=&quot;20148&quot; value=&quot;5&quot;/&gt;&lt;property id=&quot;20300&quot; value=&quot;Slide 35 - &amp;quot;Viruses and Cancer&amp;quot;&quot;/&gt;&lt;property id=&quot;20307&quot; value=&quot;292&quot;/&gt;&lt;/object&gt;&lt;object type=&quot;3&quot; unique_id=&quot;10150&quot;&gt;&lt;property id=&quot;20148&quot; value=&quot;5&quot;/&gt;&lt;property id=&quot;20300&quot; value=&quot;Slide 36 - &amp;quot;Carcinogenesis&amp;quot;&quot;/&gt;&lt;property id=&quot;20307&quot; value=&quot;293&quot;/&gt;&lt;/object&gt;&lt;object type=&quot;3&quot; unique_id=&quot;10151&quot;&gt;&lt;property id=&quot;20148&quot; value=&quot;5&quot;/&gt;&lt;property id=&quot;20300&quot; value=&quot;Slide 37 - &amp;quot;Possible Mechanisms by Which Viruses Cause Cancer&amp;quot;&quot;/&gt;&lt;property id=&quot;20307&quot; value=&quot;294&quot;/&gt;&lt;/object&gt;&lt;object type=&quot;3&quot; unique_id=&quot;10152&quot;&gt;&lt;property id=&quot;20148&quot; value=&quot;5&quot;/&gt;&lt;property id=&quot;20300&quot; value=&quot;Slide 38 - &amp;quot;6.5 Cultivation and Enumeration of Viruses&amp;quot;&quot;/&gt;&lt;property id=&quot;20307&quot; value=&quot;295&quot;/&gt;&lt;/object&gt;&lt;object type=&quot;3&quot; unique_id=&quot;10153&quot;&gt;&lt;property id=&quot;20148&quot; value=&quot;5&quot;/&gt;&lt;property id=&quot;20300&quot; value=&quot;Slide 39 - &amp;quot;The Cultivation of Viruses&amp;quot;&quot;/&gt;&lt;property id=&quot;20307&quot; value=&quot;296&quot;/&gt;&lt;/object&gt;&lt;object type=&quot;3&quot; unique_id=&quot;10154&quot;&gt;&lt;property id=&quot;20148&quot; value=&quot;5&quot;/&gt;&lt;property id=&quot;20300&quot; value=&quot;Slide 40 - &amp;quot;Hosts for Animal Viruses&amp;quot;&quot;/&gt;&lt;property id=&quot;20307&quot; value=&quot;298&quot;/&gt;&lt;/object&gt;&lt;object type=&quot;3&quot; unique_id=&quot;10155&quot;&gt;&lt;property id=&quot;20148&quot; value=&quot;5&quot;/&gt;&lt;property id=&quot;20300&quot; value=&quot;Slide 41 - &amp;quot;Hosts for Plant Viruses&amp;quot;&quot;/&gt;&lt;property id=&quot;20307&quot; value=&quot;299&quot;/&gt;&lt;/object&gt;&lt;object type=&quot;3&quot; unique_id=&quot;10156&quot;&gt;&lt;property id=&quot;20148&quot; value=&quot;5&quot;/&gt;&lt;property id=&quot;20300&quot; value=&quot;Slide 42 - &amp;quot;Quantification of Virus&amp;quot;&quot;/&gt;&lt;property id=&quot;20307&quot; value=&quot;300&quot;/&gt;&lt;/object&gt;&lt;object type=&quot;3&quot; unique_id=&quot;10157&quot;&gt;&lt;property id=&quot;20148&quot; value=&quot;5&quot;/&gt;&lt;property id=&quot;20300&quot; value=&quot;Slide 43 - &amp;quot;Measuring Biological Effects&amp;quot;&quot;/&gt;&lt;property id=&quot;20307&quot; value=&quot;302&quot;/&gt;&lt;/object&gt;&lt;object type=&quot;3&quot; unique_id=&quot;10158&quot;&gt;&lt;property id=&quot;20148&quot; value=&quot;5&quot;/&gt;&lt;property id=&quot;20300&quot; value=&quot;Slide 44 - &amp;quot;6.6 Viroids and Satellites: Nucleic Acid-Based Subviral Agents&amp;quot;&quot;/&gt;&lt;property id=&quot;20307&quot; value=&quot;303&quot;/&gt;&lt;/object&gt;&lt;object type=&quot;3&quot; unique_id=&quot;10159&quot;&gt;&lt;property id=&quot;20148&quot; value=&quot;5&quot;/&gt;&lt;property id=&quot;20300&quot; value=&quot;Slide 45 - &amp;quot;Viroids&amp;quot;&quot;/&gt;&lt;property id=&quot;20307&quot; value=&quot;304&quot;/&gt;&lt;/object&gt;&lt;object type=&quot;3&quot; unique_id=&quot;10160&quot;&gt;&lt;property id=&quot;20148&quot; value=&quot;5&quot;/&gt;&lt;property id=&quot;20300&quot; value=&quot;Slide 46 - &amp;quot;Satellites&amp;quot;&quot;/&gt;&lt;property id=&quot;20307&quot; value=&quot;305&quot;/&gt;&lt;/object&gt;&lt;object type=&quot;3&quot; unique_id=&quot;10161&quot;&gt;&lt;property id=&quot;20148&quot; value=&quot;5&quot;/&gt;&lt;property id=&quot;20300&quot; value=&quot;Slide 47 - &amp;quot;6.7 Prions Are Composed Only of Protein&amp;quot;&quot;/&gt;&lt;property id=&quot;20307&quot; value=&quot;306&quot;/&gt;&lt;/object&gt;&lt;object type=&quot;3&quot; unique_id=&quot;10162&quot;&gt;&lt;property id=&quot;20148&quot; value=&quot;5&quot;/&gt;&lt;property id=&quot;20300&quot; value=&quot;Slide 48 - &amp;quot;Prions – Proteinaceous Infectious Particle&amp;quot;&quot;/&gt;&lt;property id=&quot;20307&quot; value=&quot;307&quot;/&gt;&lt;/object&gt;&lt;object type=&quot;3&quot; unique_id=&quot;10163&quot;&gt;&lt;property id=&quot;20148&quot; value=&quot;5&quot;/&gt;&lt;property id=&quot;20300&quot; value=&quot;Slide 49 - &amp;quot;Current Model of Disease Production by Prions&amp;quot;&quot;/&gt;&lt;property id=&quot;20307&quot; value=&quot;308&quot;/&gt;&lt;/object&gt;&lt;object type=&quot;3&quot; unique_id=&quot;10164&quot;&gt;&lt;property id=&quot;20148&quot; value=&quot;5&quot;/&gt;&lt;property id=&quot;20300&quot; value=&quot;Slide 50 - &amp;quot;Neural Loss&amp;quot;&quot;/&gt;&lt;property id=&quot;20307&quot; value=&quot;309&quot;/&gt;&lt;/object&gt;&lt;object type=&quot;3&quot; unique_id=&quot;10165&quot;&gt;&lt;property id=&quot;20148&quot; value=&quot;5&quot;/&gt;&lt;property id=&quot;20300&quot; value=&quot;Slide 51 - &amp;quot;Take Home Message&amp;quot;&quot;/&gt;&lt;property id=&quot;20307&quot; value=&quot;310&quot;/&gt;&lt;/object&gt;&lt;/object&gt;&lt;/object&gt;&lt;/database&gt;"/>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401</TotalTime>
  <Words>1200</Words>
  <Application>Microsoft Office PowerPoint</Application>
  <PresentationFormat>On-screen Show (4:3)</PresentationFormat>
  <Paragraphs>362</Paragraphs>
  <Slides>51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51</vt:i4>
      </vt:variant>
    </vt:vector>
  </HeadingPairs>
  <TitlesOfParts>
    <vt:vector size="56" baseType="lpstr">
      <vt:lpstr>Arial</vt:lpstr>
      <vt:lpstr>Calibri</vt:lpstr>
      <vt:lpstr>Symbol</vt:lpstr>
      <vt:lpstr>ヒラギノ角ゴ Pro W3</vt:lpstr>
      <vt:lpstr>Office Theme</vt:lpstr>
      <vt:lpstr>Chapter 6 – Viruses and Other Acellular Infectious Agents</vt:lpstr>
      <vt:lpstr>6.1 Viruses are Acellular</vt:lpstr>
      <vt:lpstr>Acellular Agents</vt:lpstr>
      <vt:lpstr>Viruses</vt:lpstr>
      <vt:lpstr>General Properties of Viruses</vt:lpstr>
      <vt:lpstr> Virions Infect All Cell Types </vt:lpstr>
      <vt:lpstr>6.2 Virion Structure is Defined by Capsid Symmetry and Presence or Absence of an Envelope</vt:lpstr>
      <vt:lpstr>The Structure of Viruses</vt:lpstr>
      <vt:lpstr>Size and Morphology of Select Viruses</vt:lpstr>
      <vt:lpstr>Capsids</vt:lpstr>
      <vt:lpstr>Helical Capsids Shaped like hollow tubes with protein walls Protomers self assemble Size of capsid is a function of nucleic acid </vt:lpstr>
      <vt:lpstr>Icosahedral Capsids</vt:lpstr>
      <vt:lpstr>Capsids of Complex Symmetry</vt:lpstr>
      <vt:lpstr>Phages: An Example of Complex Capsid Symmetry</vt:lpstr>
      <vt:lpstr>Viral Envelopes and Enzymes</vt:lpstr>
      <vt:lpstr>Viral Envelope Proteins</vt:lpstr>
      <vt:lpstr>Virion Enzymes</vt:lpstr>
      <vt:lpstr>Viral Genome </vt:lpstr>
      <vt:lpstr>6.3 Viral Life Cycles Have Five Steps</vt:lpstr>
      <vt:lpstr>One-Step Growth Curves</vt:lpstr>
      <vt:lpstr>Viral Multiplication</vt:lpstr>
      <vt:lpstr>Attachment (Adsorption)</vt:lpstr>
      <vt:lpstr>Viral Entry and Uncoating</vt:lpstr>
      <vt:lpstr>Animal Virus Entry Mechanisms</vt:lpstr>
      <vt:lpstr>Synthesis Stage</vt:lpstr>
      <vt:lpstr>Assembly</vt:lpstr>
      <vt:lpstr>Virion Release</vt:lpstr>
      <vt:lpstr>Virion Release (2)</vt:lpstr>
      <vt:lpstr>6.4 There Are Several Types of Viral Infections</vt:lpstr>
      <vt:lpstr>Bacterial and Archaeal Viral Infections</vt:lpstr>
      <vt:lpstr>Lytic and Lysogenic Cycles</vt:lpstr>
      <vt:lpstr>Lysogenic Conversion</vt:lpstr>
      <vt:lpstr>Archaeal Viruses</vt:lpstr>
      <vt:lpstr>Infection in Eukaryotic Cells</vt:lpstr>
      <vt:lpstr>Viruses and Cancer</vt:lpstr>
      <vt:lpstr>Carcinogenesis</vt:lpstr>
      <vt:lpstr>Possible Mechanisms by Which Viruses Cause Cancer</vt:lpstr>
      <vt:lpstr>6.5 Cultivation and Enumeration of Viruses</vt:lpstr>
      <vt:lpstr>The Cultivation of Viruses</vt:lpstr>
      <vt:lpstr>Hosts for Animal Viruses</vt:lpstr>
      <vt:lpstr>Hosts for Plant Viruses</vt:lpstr>
      <vt:lpstr>Quantification of Virus</vt:lpstr>
      <vt:lpstr>Measuring Biological Effects</vt:lpstr>
      <vt:lpstr>6.6 Viroids and Satellites: Nucleic Acid-Based Subviral Agents</vt:lpstr>
      <vt:lpstr>Viroids Infectious agents composed of closed, circular ssRNAs Do not encode gene products Replication requires host cell DNA-dependent RNA polymerase Cause plant diseases </vt:lpstr>
      <vt:lpstr>Satellites</vt:lpstr>
      <vt:lpstr>6.7 Prions Are Composed Only of Protein</vt:lpstr>
      <vt:lpstr>Prions – Proteinaceous Infectious Particle</vt:lpstr>
      <vt:lpstr>Current Model of Disease Production by Prions</vt:lpstr>
      <vt:lpstr>Neural Loss</vt:lpstr>
      <vt:lpstr>Take Home Message</vt:lpstr>
    </vt:vector>
  </TitlesOfParts>
  <Company>University of Central Arkansas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Ben</dc:creator>
  <cp:lastModifiedBy>just</cp:lastModifiedBy>
  <cp:revision>41</cp:revision>
  <dcterms:created xsi:type="dcterms:W3CDTF">2016-01-04T02:13:32Z</dcterms:created>
  <dcterms:modified xsi:type="dcterms:W3CDTF">2018-01-24T10:50:19Z</dcterms:modified>
</cp:coreProperties>
</file>