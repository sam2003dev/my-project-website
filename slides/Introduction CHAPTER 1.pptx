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4" r:id="rId6"/>
    <p:sldId id="270" r:id="rId7"/>
    <p:sldId id="258" r:id="rId8"/>
    <p:sldId id="271" r:id="rId9"/>
    <p:sldId id="272" r:id="rId10"/>
    <p:sldId id="259" r:id="rId11"/>
    <p:sldId id="260" r:id="rId12"/>
    <p:sldId id="261" r:id="rId13"/>
    <p:sldId id="265" r:id="rId14"/>
    <p:sldId id="263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>
        <p:scale>
          <a:sx n="77" d="100"/>
          <a:sy n="77" d="100"/>
        </p:scale>
        <p:origin x="-174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5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0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6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5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6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1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4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4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108B-6D11-4FB3-A220-615B4BBC20F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307A8-8309-408E-8065-52C1A086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7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da.gov/news-events/press-announcements/fda-approves-first-treatment-ebola-viru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Introduction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Production of Monoclonal Antibodies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29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Polyclonal vs monoclonal antibodies</a:t>
            </a:r>
          </a:p>
          <a:p>
            <a:r>
              <a:rPr lang="en-US" dirty="0" smtClean="0"/>
              <a:t>Misdiagnosis using polyclonal antibodies</a:t>
            </a:r>
          </a:p>
          <a:p>
            <a:r>
              <a:rPr lang="en-US" dirty="0" smtClean="0"/>
              <a:t>George Kohler won a Noble prize in discovery of Mab 1984</a:t>
            </a:r>
          </a:p>
          <a:p>
            <a:r>
              <a:rPr lang="en-US" dirty="0" smtClean="0"/>
              <a:t>The </a:t>
            </a:r>
            <a:r>
              <a:rPr lang="en-US" dirty="0"/>
              <a:t>principle of Mab </a:t>
            </a:r>
            <a:r>
              <a:rPr lang="en-US" dirty="0" err="1" smtClean="0"/>
              <a:t>prodution</a:t>
            </a:r>
            <a:endParaRPr lang="en-US" dirty="0" smtClean="0"/>
          </a:p>
          <a:p>
            <a:r>
              <a:rPr lang="en-US" dirty="0"/>
              <a:t>Lab sessions during the </a:t>
            </a:r>
            <a:r>
              <a:rPr lang="en-US" dirty="0" err="1" smtClean="0"/>
              <a:t>cource</a:t>
            </a:r>
            <a:endParaRPr lang="en-US" dirty="0" smtClean="0"/>
          </a:p>
          <a:p>
            <a:r>
              <a:rPr lang="en-US" dirty="0" smtClean="0"/>
              <a:t>Applications of </a:t>
            </a:r>
            <a:r>
              <a:rPr lang="en-US" dirty="0" err="1" smtClean="0"/>
              <a:t>Mabs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1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577"/>
            <a:ext cx="10515600" cy="53911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polyclonal and monoclonal antibodies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880" y="1087120"/>
            <a:ext cx="10109200" cy="614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9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840" y="365125"/>
            <a:ext cx="10474960" cy="58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4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نتيجة بحث الصور عن ‪polyclonal vs monoclonal antibodies‬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107" y="288758"/>
            <a:ext cx="8812946" cy="641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The principle of Mab production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92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Ag injection in a mouse --------specific B cells in spleen-----specific Abs in serum</a:t>
            </a:r>
          </a:p>
          <a:p>
            <a:pPr marL="0" indent="0">
              <a:buNone/>
            </a:pPr>
            <a:r>
              <a:rPr lang="en-US" dirty="0" smtClean="0"/>
              <a:t>Specific B cells +  Myeloma cells (cancerous B cells)------</a:t>
            </a:r>
            <a:r>
              <a:rPr lang="en-US" dirty="0" err="1" smtClean="0"/>
              <a:t>Hybridoma</a:t>
            </a:r>
            <a:r>
              <a:rPr lang="en-US" dirty="0" smtClean="0"/>
              <a:t> cells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Hybridoma</a:t>
            </a:r>
            <a:r>
              <a:rPr lang="en-US" dirty="0" smtClean="0"/>
              <a:t> cell: immortal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      Produce polyclonal abs</a:t>
            </a:r>
          </a:p>
          <a:p>
            <a:pPr marL="0" indent="0">
              <a:buNone/>
            </a:pPr>
            <a:r>
              <a:rPr lang="en-US" dirty="0" smtClean="0"/>
              <a:t>Cloning or separation of </a:t>
            </a:r>
            <a:r>
              <a:rPr lang="en-US" dirty="0" err="1" smtClean="0"/>
              <a:t>hybridoma</a:t>
            </a:r>
            <a:r>
              <a:rPr lang="en-US" dirty="0" smtClean="0"/>
              <a:t> cells so each </a:t>
            </a:r>
            <a:r>
              <a:rPr lang="en-US" dirty="0" err="1" smtClean="0"/>
              <a:t>hybridoma</a:t>
            </a:r>
            <a:r>
              <a:rPr lang="en-US" dirty="0" smtClean="0"/>
              <a:t> cell produce a Mab	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4438650" y="1828800"/>
            <a:ext cx="638175" cy="47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8753475" y="1828800"/>
            <a:ext cx="323850" cy="47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8286750" y="2743200"/>
            <a:ext cx="46672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0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sessions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 err="1" smtClean="0"/>
              <a:t>Immunisation</a:t>
            </a:r>
            <a:r>
              <a:rPr lang="en-US" dirty="0" smtClean="0"/>
              <a:t> of mice</a:t>
            </a:r>
          </a:p>
          <a:p>
            <a:pPr marL="514350" indent="-514350">
              <a:buAutoNum type="arabicPeriod"/>
            </a:pPr>
            <a:r>
              <a:rPr lang="en-US" dirty="0" smtClean="0"/>
              <a:t>Screening for Ab production by ELISA</a:t>
            </a:r>
          </a:p>
          <a:p>
            <a:pPr marL="514350" indent="-514350">
              <a:buAutoNum type="arabicPeriod"/>
            </a:pPr>
            <a:r>
              <a:rPr lang="en-US" dirty="0" smtClean="0"/>
              <a:t>Isolation of B cells from spleen of injected mice</a:t>
            </a:r>
          </a:p>
          <a:p>
            <a:pPr marL="514350" indent="-514350">
              <a:buAutoNum type="arabicPeriod"/>
            </a:pPr>
            <a:r>
              <a:rPr lang="en-US" dirty="0" smtClean="0"/>
              <a:t>Preparation of myeloma cells in tissue culture</a:t>
            </a:r>
          </a:p>
          <a:p>
            <a:pPr marL="514350" indent="-514350">
              <a:buAutoNum type="arabicPeriod"/>
            </a:pPr>
            <a:r>
              <a:rPr lang="en-US" dirty="0" smtClean="0"/>
              <a:t>Fusion of myeloma cells with the isolated B cells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Propagation  of </a:t>
            </a:r>
            <a:r>
              <a:rPr lang="en-US" dirty="0" err="1" smtClean="0"/>
              <a:t>hybridoama</a:t>
            </a:r>
            <a:r>
              <a:rPr lang="en-US" dirty="0" smtClean="0"/>
              <a:t> cells in culture</a:t>
            </a:r>
          </a:p>
          <a:p>
            <a:pPr marL="514350" indent="-514350">
              <a:buAutoNum type="arabicPeriod"/>
            </a:pPr>
            <a:r>
              <a:rPr lang="en-US" dirty="0" smtClean="0"/>
              <a:t>Expansion of </a:t>
            </a:r>
            <a:r>
              <a:rPr lang="en-US" dirty="0" err="1" smtClean="0"/>
              <a:t>hybridoma</a:t>
            </a:r>
            <a:r>
              <a:rPr lang="en-US" dirty="0" smtClean="0"/>
              <a:t> cells</a:t>
            </a:r>
          </a:p>
          <a:p>
            <a:pPr marL="514350" indent="-514350">
              <a:buAutoNum type="arabicPeriod"/>
            </a:pPr>
            <a:r>
              <a:rPr lang="en-US" dirty="0" smtClean="0"/>
              <a:t>Cloning of </a:t>
            </a:r>
            <a:r>
              <a:rPr lang="en-US" dirty="0" err="1" smtClean="0"/>
              <a:t>hybridoma</a:t>
            </a:r>
            <a:r>
              <a:rPr lang="en-US" dirty="0" smtClean="0"/>
              <a:t> cells</a:t>
            </a:r>
          </a:p>
          <a:p>
            <a:pPr marL="514350" indent="-514350">
              <a:buAutoNum type="arabicPeriod"/>
            </a:pPr>
            <a:r>
              <a:rPr lang="en-US" dirty="0" smtClean="0"/>
              <a:t>Large scale production of </a:t>
            </a:r>
            <a:r>
              <a:rPr lang="en-US" dirty="0" err="1" smtClean="0"/>
              <a:t>Mabs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10. Characterization of </a:t>
            </a:r>
            <a:r>
              <a:rPr lang="en-US" dirty="0" err="1" smtClean="0"/>
              <a:t>Mabs</a:t>
            </a:r>
            <a:r>
              <a:rPr lang="en-US" dirty="0" smtClean="0"/>
              <a:t>: isotype determination</a:t>
            </a:r>
          </a:p>
          <a:p>
            <a:pPr marL="0" indent="0">
              <a:buNone/>
            </a:pPr>
            <a:r>
              <a:rPr lang="en-US" dirty="0" smtClean="0"/>
              <a:t>11</a:t>
            </a:r>
            <a:r>
              <a:rPr lang="en-US" dirty="0"/>
              <a:t>. Characterization of </a:t>
            </a:r>
            <a:r>
              <a:rPr lang="en-US" dirty="0" err="1"/>
              <a:t>Mabs</a:t>
            </a:r>
            <a:r>
              <a:rPr lang="en-US" dirty="0"/>
              <a:t>: </a:t>
            </a:r>
            <a:r>
              <a:rPr lang="en-US" dirty="0" smtClean="0"/>
              <a:t>Titer determination</a:t>
            </a:r>
          </a:p>
        </p:txBody>
      </p:sp>
    </p:spTree>
    <p:extLst>
      <p:ext uri="{BB962C8B-B14F-4D97-AF65-F5344CB8AC3E}">
        <p14:creationId xmlns:p14="http://schemas.microsoft.com/office/powerpoint/2010/main" val="128551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9829" y="1797050"/>
            <a:ext cx="2900892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690688"/>
            <a:ext cx="6096000" cy="35086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Georges J.F. </a:t>
            </a:r>
            <a:r>
              <a:rPr lang="en-US" sz="2400" b="1" dirty="0" err="1">
                <a:solidFill>
                  <a:srgbClr val="C00000"/>
                </a:solidFill>
              </a:rPr>
              <a:t>Köhler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dirty="0"/>
              <a:t>The Nobel Prize in Physiology or Medicine 1984</a:t>
            </a:r>
          </a:p>
          <a:p>
            <a:endParaRPr lang="en-US" dirty="0"/>
          </a:p>
          <a:p>
            <a:r>
              <a:rPr lang="en-US" dirty="0"/>
              <a:t>Born: 17 April 1946, Munich, Germany</a:t>
            </a:r>
          </a:p>
          <a:p>
            <a:endParaRPr lang="en-US" dirty="0"/>
          </a:p>
          <a:p>
            <a:r>
              <a:rPr lang="en-US" dirty="0"/>
              <a:t>Died: 1 March 1995, Freiburg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Breisgau</a:t>
            </a:r>
            <a:r>
              <a:rPr lang="en-US" dirty="0"/>
              <a:t>, Germany</a:t>
            </a:r>
          </a:p>
          <a:p>
            <a:endParaRPr lang="en-US" dirty="0"/>
          </a:p>
          <a:p>
            <a:r>
              <a:rPr lang="en-US" dirty="0"/>
              <a:t>Affiliation at the time of the award: Basel Institute for Immunology, Basel, Switzerland</a:t>
            </a:r>
          </a:p>
          <a:p>
            <a:endParaRPr lang="en-US" dirty="0"/>
          </a:p>
          <a:p>
            <a:r>
              <a:rPr lang="en-US" dirty="0"/>
              <a:t>Prize motivation: "for </a:t>
            </a:r>
            <a:r>
              <a:rPr lang="en-US" dirty="0" smtClean="0"/>
              <a:t>the </a:t>
            </a:r>
            <a:r>
              <a:rPr lang="en-US" dirty="0"/>
              <a:t>discovery of the principle for production of monoclonal antibodies."</a:t>
            </a:r>
          </a:p>
        </p:txBody>
      </p:sp>
    </p:spTree>
    <p:extLst>
      <p:ext uri="{BB962C8B-B14F-4D97-AF65-F5344CB8AC3E}">
        <p14:creationId xmlns:p14="http://schemas.microsoft.com/office/powerpoint/2010/main" val="142869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" y="0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3979" y="1529566"/>
            <a:ext cx="2900892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500" y="1529566"/>
            <a:ext cx="6096000" cy="35086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César Milstein</a:t>
            </a:r>
          </a:p>
          <a:p>
            <a:r>
              <a:rPr lang="en-US" dirty="0"/>
              <a:t>The Nobel Prize in Physiology or Medicine 1984</a:t>
            </a:r>
          </a:p>
          <a:p>
            <a:endParaRPr lang="en-US" dirty="0"/>
          </a:p>
          <a:p>
            <a:r>
              <a:rPr lang="en-US" dirty="0"/>
              <a:t>Born: 8 October 1927, Bahia Blanca, Argentina</a:t>
            </a:r>
          </a:p>
          <a:p>
            <a:endParaRPr lang="en-US" dirty="0"/>
          </a:p>
          <a:p>
            <a:r>
              <a:rPr lang="en-US" dirty="0"/>
              <a:t>Died: 24 March 2002, Cambridge, United Kingdom</a:t>
            </a:r>
          </a:p>
          <a:p>
            <a:endParaRPr lang="en-US" dirty="0"/>
          </a:p>
          <a:p>
            <a:r>
              <a:rPr lang="en-US" dirty="0"/>
              <a:t>Affiliation at the time of the award: MRC Laboratory of Molecular Biology, Cambridge, United Kingdom</a:t>
            </a:r>
          </a:p>
          <a:p>
            <a:endParaRPr lang="en-US" dirty="0"/>
          </a:p>
          <a:p>
            <a:r>
              <a:rPr lang="en-US" dirty="0"/>
              <a:t>Prize motivation: "for </a:t>
            </a:r>
            <a:r>
              <a:rPr lang="en-US" dirty="0" smtClean="0"/>
              <a:t>the </a:t>
            </a:r>
            <a:r>
              <a:rPr lang="en-US" dirty="0"/>
              <a:t>discovery of the principle for production of monoclonal antibodies."</a:t>
            </a:r>
          </a:p>
        </p:txBody>
      </p:sp>
    </p:spTree>
    <p:extLst>
      <p:ext uri="{BB962C8B-B14F-4D97-AF65-F5344CB8AC3E}">
        <p14:creationId xmlns:p14="http://schemas.microsoft.com/office/powerpoint/2010/main" val="14036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Applications of </a:t>
            </a:r>
            <a:r>
              <a:rPr lang="en-US" b="1" dirty="0" err="1" smtClean="0">
                <a:solidFill>
                  <a:srgbClr val="FF0000"/>
                </a:solidFill>
              </a:rPr>
              <a:t>Mabs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3 </a:t>
            </a:r>
            <a:r>
              <a:rPr lang="en-US" dirty="0"/>
              <a:t>types of applications are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(1) Diagnostic Applications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2) Therapeutic Applications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3) Protein Purification </a:t>
            </a:r>
            <a:r>
              <a:rPr lang="en-US" dirty="0" smtClean="0"/>
              <a:t>and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63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 smtClean="0">
                <a:solidFill>
                  <a:srgbClr val="00B0F0"/>
                </a:solidFill>
              </a:rPr>
              <a:t>Diagnostic application :</a:t>
            </a:r>
            <a:endParaRPr lang="en-US" b="1" dirty="0">
              <a:solidFill>
                <a:srgbClr val="00B0F0"/>
              </a:solidFill>
            </a:endParaRPr>
          </a:p>
          <a:p>
            <a:pPr fontAlgn="base"/>
            <a:r>
              <a:rPr lang="en-US" dirty="0"/>
              <a:t>Diagnostic tests based on the use of </a:t>
            </a:r>
            <a:r>
              <a:rPr lang="en-US" dirty="0" err="1"/>
              <a:t>MAbs</a:t>
            </a:r>
            <a:r>
              <a:rPr lang="en-US" dirty="0"/>
              <a:t> as reagents are routinely used in radioimmunoassay (RIA) and enzyme-linked immunosorbent assays (ELISA) in the laboratory. </a:t>
            </a:r>
            <a:endParaRPr lang="en-US" dirty="0" smtClean="0"/>
          </a:p>
          <a:p>
            <a:pPr fontAlgn="base"/>
            <a:r>
              <a:rPr lang="en-US" b="1" dirty="0" smtClean="0"/>
              <a:t>These </a:t>
            </a:r>
            <a:r>
              <a:rPr lang="en-US" b="1" dirty="0"/>
              <a:t>assays measure the circulating concentrations of hormones</a:t>
            </a:r>
            <a:r>
              <a:rPr lang="en-US" dirty="0"/>
              <a:t> (insulin, human chorionic gonadotropin, growth hormone, progesterone, thyroxine, triiodothyronine, thyroid stimulating hormone, gastrin, renin), </a:t>
            </a:r>
            <a:endParaRPr lang="en-US" dirty="0" smtClean="0"/>
          </a:p>
          <a:p>
            <a:pPr fontAlgn="base"/>
            <a:r>
              <a:rPr lang="en-US" dirty="0"/>
              <a:t> </a:t>
            </a:r>
            <a:r>
              <a:rPr lang="en-US" b="1" dirty="0"/>
              <a:t>it is now possible to do the early diagnosis of the following </a:t>
            </a:r>
            <a:r>
              <a:rPr lang="en-US" b="1" dirty="0" smtClean="0"/>
              <a:t>conditions/diseases</a:t>
            </a:r>
            <a:r>
              <a:rPr lang="en-US" dirty="0" smtClean="0"/>
              <a:t>: pregnancy, cancer, hormonal disorders, infectious diseases, cardiovascular diseases (atherosclerosis, DVT, myocardial infarction, </a:t>
            </a:r>
            <a:r>
              <a:rPr lang="en-US" dirty="0" err="1" smtClean="0"/>
              <a:t>immunohistopathology</a:t>
            </a:r>
            <a:r>
              <a:rPr lang="en-US" dirty="0" smtClean="0"/>
              <a:t> and </a:t>
            </a:r>
            <a:r>
              <a:rPr lang="en-US" dirty="0" err="1" smtClean="0"/>
              <a:t>immunohaematopoietic</a:t>
            </a:r>
            <a:r>
              <a:rPr lang="en-US" dirty="0" smtClean="0"/>
              <a:t> malignancies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23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7442"/>
            <a:ext cx="10515600" cy="537952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smtClean="0">
                <a:solidFill>
                  <a:srgbClr val="00B0F0"/>
                </a:solidFill>
              </a:rPr>
              <a:t> 2. Therapeutic Applications: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Monoclonal antibodies have a wide range of therapeutic applications. </a:t>
            </a:r>
            <a:r>
              <a:rPr lang="en-US" dirty="0" err="1" smtClean="0"/>
              <a:t>MAbs</a:t>
            </a:r>
            <a:r>
              <a:rPr lang="en-US" dirty="0" smtClean="0"/>
              <a:t> are used in the treatment of cancer, transplantation of bone marrow and organs, autoimmune diseases, cardiovascular diseases and infectious diseases.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In 2018, a record number (12) of antibodies that </a:t>
            </a:r>
            <a:r>
              <a:rPr lang="en-US" dirty="0"/>
              <a:t>treat a wide variety of diseases were granted a first approval in either the European Union (EU) or United States (US).</a:t>
            </a:r>
          </a:p>
          <a:p>
            <a:pPr marL="0" indent="0" fontAlgn="base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2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lang="en-US" dirty="0"/>
              <a:t>November 2018, 4 antibody therapeutics (</a:t>
            </a:r>
            <a:r>
              <a:rPr lang="en-US" dirty="0" err="1"/>
              <a:t>sacituzumab</a:t>
            </a:r>
            <a:r>
              <a:rPr lang="en-US" dirty="0"/>
              <a:t> </a:t>
            </a:r>
            <a:r>
              <a:rPr lang="en-US" dirty="0" err="1"/>
              <a:t>govitecan</a:t>
            </a:r>
            <a:r>
              <a:rPr lang="en-US" dirty="0"/>
              <a:t>, </a:t>
            </a:r>
            <a:r>
              <a:rPr lang="en-US" dirty="0" err="1"/>
              <a:t>ravulizumab</a:t>
            </a:r>
            <a:r>
              <a:rPr lang="en-US" dirty="0"/>
              <a:t>, </a:t>
            </a:r>
            <a:r>
              <a:rPr lang="en-US" dirty="0" err="1"/>
              <a:t>risankizumab</a:t>
            </a:r>
            <a:r>
              <a:rPr lang="en-US" dirty="0"/>
              <a:t>, </a:t>
            </a:r>
            <a:r>
              <a:rPr lang="en-US" dirty="0" err="1"/>
              <a:t>romosozumab</a:t>
            </a:r>
            <a:r>
              <a:rPr lang="en-US" dirty="0"/>
              <a:t>) were being considered for their first marketing approval in the EU or </a:t>
            </a:r>
            <a:r>
              <a:rPr lang="en-US" dirty="0" smtClean="0"/>
              <a:t>US.</a:t>
            </a:r>
          </a:p>
          <a:p>
            <a:r>
              <a:rPr lang="en-US" dirty="0" smtClean="0"/>
              <a:t>Finally</a:t>
            </a:r>
            <a:r>
              <a:rPr lang="en-US" dirty="0"/>
              <a:t>, </a:t>
            </a:r>
            <a:r>
              <a:rPr lang="en-US" dirty="0" smtClean="0"/>
              <a:t> </a:t>
            </a:r>
            <a:r>
              <a:rPr lang="en-US" dirty="0"/>
              <a:t>approximately half (18 of 33) of the late-stage pipeline of antibody therapeutics for cancer are immune checkpoint modulators or antibody-drug </a:t>
            </a:r>
            <a:r>
              <a:rPr lang="en-US" dirty="0" smtClean="0"/>
              <a:t>conjugates are found. </a:t>
            </a:r>
            <a:r>
              <a:rPr lang="en-US" dirty="0"/>
              <a:t>Of these, 7 </a:t>
            </a:r>
            <a:r>
              <a:rPr lang="en-US" dirty="0" smtClean="0"/>
              <a:t>are </a:t>
            </a:r>
            <a:r>
              <a:rPr lang="en-US" dirty="0"/>
              <a:t>being evaluated in clinical studies with primary completion dates in late 2018 and in </a:t>
            </a:r>
            <a:r>
              <a:rPr lang="en-US" dirty="0" smtClean="0"/>
              <a:t>2019</a:t>
            </a:r>
          </a:p>
          <a:p>
            <a:r>
              <a:rPr lang="en-US" dirty="0"/>
              <a:t>On October 14, 2020, </a:t>
            </a:r>
            <a:r>
              <a:rPr lang="en-US" b="1" dirty="0">
                <a:hlinkClick r:id="rId2"/>
              </a:rPr>
              <a:t>FDA approved the triple antibody cocktail of </a:t>
            </a:r>
            <a:r>
              <a:rPr lang="en-US" b="1" dirty="0" err="1">
                <a:hlinkClick r:id="rId2"/>
              </a:rPr>
              <a:t>atoltivimab</a:t>
            </a:r>
            <a:r>
              <a:rPr lang="en-US" b="1" dirty="0">
                <a:hlinkClick r:id="rId2"/>
              </a:rPr>
              <a:t>, </a:t>
            </a:r>
            <a:r>
              <a:rPr lang="en-US" b="1" dirty="0" err="1">
                <a:hlinkClick r:id="rId2"/>
              </a:rPr>
              <a:t>maftivimab</a:t>
            </a:r>
            <a:r>
              <a:rPr lang="en-US" b="1" dirty="0">
                <a:hlinkClick r:id="rId2"/>
              </a:rPr>
              <a:t>, and </a:t>
            </a:r>
            <a:r>
              <a:rPr lang="en-US" b="1" dirty="0" err="1">
                <a:hlinkClick r:id="rId2"/>
              </a:rPr>
              <a:t>odesivimab-ebgn</a:t>
            </a:r>
            <a:r>
              <a:rPr lang="en-US" b="1" dirty="0">
                <a:hlinkClick r:id="rId2"/>
              </a:rPr>
              <a:t> (</a:t>
            </a:r>
            <a:r>
              <a:rPr lang="en-US" b="1" dirty="0" err="1">
                <a:hlinkClick r:id="rId2"/>
              </a:rPr>
              <a:t>Inmazeb</a:t>
            </a:r>
            <a:r>
              <a:rPr lang="en-US" b="1" dirty="0">
                <a:hlinkClick r:id="rId2"/>
              </a:rPr>
              <a:t>)</a:t>
            </a:r>
            <a:r>
              <a:rPr lang="en-US" dirty="0"/>
              <a:t> for the treatment for Zaire ebolavirus (Ebola virus) infection in adult and pediatric patients</a:t>
            </a:r>
            <a:r>
              <a:rPr lang="en-US" dirty="0" smtClean="0"/>
              <a:t>. </a:t>
            </a:r>
            <a:r>
              <a:rPr lang="en-US" dirty="0" err="1"/>
              <a:t>Atoltivimab</a:t>
            </a:r>
            <a:r>
              <a:rPr lang="en-US" dirty="0"/>
              <a:t>, </a:t>
            </a:r>
            <a:r>
              <a:rPr lang="en-US" dirty="0" err="1"/>
              <a:t>maftivimab</a:t>
            </a:r>
            <a:r>
              <a:rPr lang="en-US" dirty="0"/>
              <a:t>, and </a:t>
            </a:r>
            <a:r>
              <a:rPr lang="en-US" dirty="0" err="1"/>
              <a:t>odesivimab</a:t>
            </a:r>
            <a:r>
              <a:rPr lang="en-US" dirty="0"/>
              <a:t> are IgG1 antibodies that bind glycoprotein on the surface of Ebola virus, thereby blocking attachment and entry of the virus into cells.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7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 smtClean="0">
                <a:solidFill>
                  <a:srgbClr val="00B0F0"/>
                </a:solidFill>
              </a:rPr>
              <a:t>3</a:t>
            </a:r>
            <a:r>
              <a:rPr lang="en-US" b="1" dirty="0">
                <a:solidFill>
                  <a:srgbClr val="00B0F0"/>
                </a:solidFill>
              </a:rPr>
              <a:t>. Protein </a:t>
            </a:r>
            <a:r>
              <a:rPr lang="en-US" b="1" dirty="0" smtClean="0">
                <a:solidFill>
                  <a:srgbClr val="00B0F0"/>
                </a:solidFill>
              </a:rPr>
              <a:t>Purification and identification</a:t>
            </a:r>
            <a:r>
              <a:rPr lang="en-US" b="1" dirty="0" smtClean="0"/>
              <a:t>:</a:t>
            </a:r>
            <a:endParaRPr lang="en-US" b="1" dirty="0"/>
          </a:p>
          <a:p>
            <a:pPr fontAlgn="base"/>
            <a:r>
              <a:rPr lang="en-US" dirty="0"/>
              <a:t>Monoclonal antibodies can be produced for any protein. And the </a:t>
            </a:r>
            <a:r>
              <a:rPr lang="en-US" dirty="0" smtClean="0"/>
              <a:t> </a:t>
            </a:r>
            <a:r>
              <a:rPr lang="en-US" dirty="0"/>
              <a:t>produced </a:t>
            </a:r>
            <a:r>
              <a:rPr lang="en-US" dirty="0" err="1"/>
              <a:t>MAb</a:t>
            </a:r>
            <a:r>
              <a:rPr lang="en-US" dirty="0"/>
              <a:t> can be conveniently used for the purification of the protein against which it was raised. </a:t>
            </a:r>
            <a:r>
              <a:rPr lang="en-US" dirty="0" err="1"/>
              <a:t>MAbs</a:t>
            </a:r>
            <a:r>
              <a:rPr lang="en-US" dirty="0"/>
              <a:t> columns can be prepared by coupling them to cyanogen bromide activated </a:t>
            </a:r>
            <a:r>
              <a:rPr lang="en-US" dirty="0" err="1"/>
              <a:t>Sepharose</a:t>
            </a:r>
            <a:r>
              <a:rPr lang="en-US" dirty="0"/>
              <a:t> (chromatographic matrix). The immobilized </a:t>
            </a:r>
            <a:r>
              <a:rPr lang="en-US" dirty="0" err="1"/>
              <a:t>MAbs</a:t>
            </a:r>
            <a:r>
              <a:rPr lang="en-US" dirty="0"/>
              <a:t> in this manner are very useful for the purification of proteins by </a:t>
            </a:r>
            <a:r>
              <a:rPr lang="en-US" dirty="0" err="1"/>
              <a:t>immunoaffinity</a:t>
            </a:r>
            <a:r>
              <a:rPr lang="en-US" dirty="0"/>
              <a:t> method.</a:t>
            </a:r>
          </a:p>
        </p:txBody>
      </p:sp>
    </p:spTree>
    <p:extLst>
      <p:ext uri="{BB962C8B-B14F-4D97-AF65-F5344CB8AC3E}">
        <p14:creationId xmlns:p14="http://schemas.microsoft.com/office/powerpoint/2010/main" val="12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1638"/>
            <a:ext cx="10515600" cy="5705325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3200" b="1" dirty="0">
                <a:solidFill>
                  <a:srgbClr val="FF0000"/>
                </a:solidFill>
              </a:rPr>
              <a:t>Limitations for direct use of </a:t>
            </a:r>
            <a:r>
              <a:rPr lang="en-US" sz="3200" b="1" dirty="0" err="1">
                <a:solidFill>
                  <a:srgbClr val="FF0000"/>
                </a:solidFill>
              </a:rPr>
              <a:t>MAbs</a:t>
            </a:r>
            <a:r>
              <a:rPr lang="en-US" sz="3200" b="1" dirty="0">
                <a:solidFill>
                  <a:srgbClr val="FF0000"/>
                </a:solidFill>
              </a:rPr>
              <a:t> in cancer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1</a:t>
            </a:r>
            <a:r>
              <a:rPr lang="en-US" dirty="0"/>
              <a:t>. The </a:t>
            </a:r>
            <a:r>
              <a:rPr lang="en-US" dirty="0" err="1"/>
              <a:t>MAbs</a:t>
            </a:r>
            <a:r>
              <a:rPr lang="en-US" dirty="0"/>
              <a:t> produced in mice and directly used for therapeutic purposes may lead to the development of anti-mouse antibodies and hypersensitivity reactions.</a:t>
            </a:r>
          </a:p>
          <a:p>
            <a:pPr fontAlgn="base"/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2</a:t>
            </a:r>
            <a:r>
              <a:rPr lang="en-US" dirty="0"/>
              <a:t>. All the cancer cells may not carry the same antigen for which </a:t>
            </a:r>
            <a:r>
              <a:rPr lang="en-US" dirty="0" err="1"/>
              <a:t>MAb</a:t>
            </a:r>
            <a:r>
              <a:rPr lang="en-US" dirty="0"/>
              <a:t> has been produced. Thus, </a:t>
            </a:r>
            <a:r>
              <a:rPr lang="en-US" dirty="0" err="1"/>
              <a:t>MAbs</a:t>
            </a:r>
            <a:r>
              <a:rPr lang="en-US" dirty="0"/>
              <a:t> may not be attached to some cancer cells at all.</a:t>
            </a:r>
          </a:p>
          <a:p>
            <a:pPr fontAlgn="base"/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smtClean="0"/>
              <a:t>The </a:t>
            </a:r>
            <a:r>
              <a:rPr lang="en-US" dirty="0"/>
              <a:t>free antigens (of target cells) present in the circulation may bind to </a:t>
            </a:r>
            <a:r>
              <a:rPr lang="en-US" dirty="0" err="1"/>
              <a:t>MAbs</a:t>
            </a:r>
            <a:r>
              <a:rPr lang="en-US" dirty="0"/>
              <a:t> and prevent them from their action on the target cells.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99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622</Words>
  <Application>Microsoft Office PowerPoint</Application>
  <PresentationFormat>مخصص</PresentationFormat>
  <Paragraphs>75</Paragraphs>
  <Slides>15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6" baseType="lpstr">
      <vt:lpstr>Office Theme</vt:lpstr>
      <vt:lpstr>Introduction</vt:lpstr>
      <vt:lpstr>Introduction</vt:lpstr>
      <vt:lpstr>polyclonal and monoclonal antibodies</vt:lpstr>
      <vt:lpstr>عرض تقديمي في PowerPoint</vt:lpstr>
      <vt:lpstr>عرض تقديمي في PowerPoint</vt:lpstr>
      <vt:lpstr>The principle of Mab production</vt:lpstr>
      <vt:lpstr>Lab sessions </vt:lpstr>
      <vt:lpstr>عرض تقديمي في PowerPoint</vt:lpstr>
      <vt:lpstr>عرض تقديمي في PowerPoint</vt:lpstr>
      <vt:lpstr>Applications of Mabs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</cp:lastModifiedBy>
  <cp:revision>22</cp:revision>
  <dcterms:created xsi:type="dcterms:W3CDTF">2020-01-19T12:53:39Z</dcterms:created>
  <dcterms:modified xsi:type="dcterms:W3CDTF">2021-02-20T07:57:33Z</dcterms:modified>
</cp:coreProperties>
</file>