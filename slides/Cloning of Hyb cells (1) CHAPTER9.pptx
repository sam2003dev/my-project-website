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unknown"/>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3"/>
  </p:sldMasterIdLst>
  <p:notesMasterIdLst>
    <p:notesMasterId r:id="rId26"/>
  </p:notesMasterIdLst>
  <p:sldIdLst>
    <p:sldId id="256" r:id="rId14"/>
    <p:sldId id="257" r:id="rId15"/>
    <p:sldId id="258" r:id="rId16"/>
    <p:sldId id="275" r:id="rId17"/>
    <p:sldId id="277" r:id="rId18"/>
    <p:sldId id="259" r:id="rId19"/>
    <p:sldId id="274" r:id="rId20"/>
    <p:sldId id="273" r:id="rId21"/>
    <p:sldId id="276" r:id="rId22"/>
    <p:sldId id="260" r:id="rId23"/>
    <p:sldId id="278"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77" d="100"/>
          <a:sy n="77" d="100"/>
        </p:scale>
        <p:origin x="-378"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Master" Target="slideMasters/slideMaster1.xml"/><Relationship Id="rId18" Type="http://schemas.openxmlformats.org/officeDocument/2006/relationships/slide" Target="slides/slide5.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slide" Target="slides/slide4.xml"/><Relationship Id="rId25"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1.xml"/><Relationship Id="rId5" Type="http://schemas.openxmlformats.org/officeDocument/2006/relationships/customXml" Target="../customXml/item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slide" Target="slides/slide6.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9D3060-3920-40CC-89D2-3CC4BFCC0D64}" type="datetimeFigureOut">
              <a:rPr lang="en-US" smtClean="0"/>
              <a:t>2/20/2021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5534D-EBF7-49D2-AF0F-0A26BFA443EC}" type="slidenum">
              <a:rPr lang="en-US" smtClean="0"/>
              <a:t>‹#›</a:t>
            </a:fld>
            <a:endParaRPr lang="en-US"/>
          </a:p>
        </p:txBody>
      </p:sp>
    </p:spTree>
    <p:extLst>
      <p:ext uri="{BB962C8B-B14F-4D97-AF65-F5344CB8AC3E}">
        <p14:creationId xmlns:p14="http://schemas.microsoft.com/office/powerpoint/2010/main" val="1805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235A2C-6E6A-47EA-859C-74E14098C89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1100268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35A2C-6E6A-47EA-859C-74E14098C89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1567243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235A2C-6E6A-47EA-859C-74E14098C89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3851530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235A2C-6E6A-47EA-859C-74E14098C89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1636279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235A2C-6E6A-47EA-859C-74E14098C892}" type="datetimeFigureOut">
              <a:rPr lang="en-US" smtClean="0"/>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801802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235A2C-6E6A-47EA-859C-74E14098C892}" type="datetimeFigureOut">
              <a:rPr lang="en-US" smtClean="0"/>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38076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35A2C-6E6A-47EA-859C-74E14098C892}" type="datetimeFigureOut">
              <a:rPr lang="en-US" smtClean="0"/>
              <a:t>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3830548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235A2C-6E6A-47EA-859C-74E14098C89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14204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235A2C-6E6A-47EA-859C-74E14098C89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598754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35A2C-6E6A-47EA-859C-74E14098C89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88360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35A2C-6E6A-47EA-859C-74E14098C89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20D047-A191-4F2E-B659-C549462DAC27}" type="slidenum">
              <a:rPr lang="en-US" smtClean="0"/>
              <a:t>‹#›</a:t>
            </a:fld>
            <a:endParaRPr lang="en-US"/>
          </a:p>
        </p:txBody>
      </p:sp>
    </p:spTree>
    <p:extLst>
      <p:ext uri="{BB962C8B-B14F-4D97-AF65-F5344CB8AC3E}">
        <p14:creationId xmlns:p14="http://schemas.microsoft.com/office/powerpoint/2010/main" val="107531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235A2C-6E6A-47EA-859C-74E14098C892}" type="datetimeFigureOut">
              <a:rPr lang="en-US" smtClean="0"/>
              <a:t>2/20/2021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20D047-A191-4F2E-B659-C549462DAC27}" type="slidenum">
              <a:rPr lang="en-US" smtClean="0"/>
              <a:t>‹#›</a:t>
            </a:fld>
            <a:endParaRPr lang="en-US"/>
          </a:p>
        </p:txBody>
      </p:sp>
    </p:spTree>
    <p:extLst>
      <p:ext uri="{BB962C8B-B14F-4D97-AF65-F5344CB8AC3E}">
        <p14:creationId xmlns:p14="http://schemas.microsoft.com/office/powerpoint/2010/main" val="484609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ustomXml" Target="../../customXml/item7.xml"/><Relationship Id="rId6" Type="http://schemas.microsoft.com/office/2007/relationships/media" Target="../media/media1.mp4"/><Relationship Id="rId5" Type="http://schemas.openxmlformats.org/officeDocument/2006/relationships/tags" Target="../tags/tag2.xml"/><Relationship Id="rId4" Type="http://schemas.openxmlformats.org/officeDocument/2006/relationships/customXml" Target="../../customXml/item8.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customXml" Target="../../customXml/item12.xml"/><Relationship Id="rId6" Type="http://schemas.microsoft.com/office/2007/relationships/media" Target="../media/media1.mp4"/><Relationship Id="rId5" Type="http://schemas.openxmlformats.org/officeDocument/2006/relationships/tags" Target="../tags/tag4.xml"/><Relationship Id="rId4" Type="http://schemas.openxmlformats.org/officeDocument/2006/relationships/customXml" Target="../../customXml/item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customXml" Target="../../customXml/item11.xml"/><Relationship Id="rId6" Type="http://schemas.microsoft.com/office/2007/relationships/media" Target="../media/media1.mp4"/><Relationship Id="rId5" Type="http://schemas.openxmlformats.org/officeDocument/2006/relationships/tags" Target="../tags/tag6.xml"/><Relationship Id="rId4" Type="http://schemas.openxmlformats.org/officeDocument/2006/relationships/customXml" Target="../../customXml/item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customXml" Target="../../customXml/item9.xml"/><Relationship Id="rId6" Type="http://schemas.microsoft.com/office/2007/relationships/media" Target="../media/media1.mp4"/><Relationship Id="rId5" Type="http://schemas.openxmlformats.org/officeDocument/2006/relationships/tags" Target="../tags/tag8.xml"/><Relationship Id="rId4" Type="http://schemas.openxmlformats.org/officeDocument/2006/relationships/customXml" Target="../../customXml/item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customXml" Target="../../customXml/item1.xml"/><Relationship Id="rId6" Type="http://schemas.microsoft.com/office/2007/relationships/media" Target="../media/media1.mp4"/><Relationship Id="rId5" Type="http://schemas.openxmlformats.org/officeDocument/2006/relationships/tags" Target="../tags/tag10.xml"/><Relationship Id="rId4" Type="http://schemas.openxmlformats.org/officeDocument/2006/relationships/customXml" Target="../../customXml/item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customXml" Target="../../customXml/item4.xml"/><Relationship Id="rId6" Type="http://schemas.microsoft.com/office/2007/relationships/media" Target="../media/media1.mp4"/><Relationship Id="rId5" Type="http://schemas.openxmlformats.org/officeDocument/2006/relationships/tags" Target="../tags/tag12.xml"/><Relationship Id="rId4" Type="http://schemas.openxmlformats.org/officeDocument/2006/relationships/customXml" Target="../../customXml/item3.xm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Cloning of </a:t>
            </a:r>
            <a:r>
              <a:rPr lang="en-US" b="1" dirty="0" err="1" smtClean="0">
                <a:solidFill>
                  <a:srgbClr val="FF0000"/>
                </a:solidFill>
              </a:rPr>
              <a:t>Hybridoma</a:t>
            </a:r>
            <a:r>
              <a:rPr lang="en-US" b="1" dirty="0" smtClean="0">
                <a:solidFill>
                  <a:srgbClr val="FF0000"/>
                </a:solidFill>
              </a:rPr>
              <a:t> cells</a:t>
            </a:r>
            <a:endParaRPr lang="en-US" b="1" dirty="0">
              <a:solidFill>
                <a:srgbClr val="FF0000"/>
              </a:solidFill>
            </a:endParaRPr>
          </a:p>
        </p:txBody>
      </p:sp>
      <p:sp>
        <p:nvSpPr>
          <p:cNvPr id="3" name="Subtitle 2"/>
          <p:cNvSpPr>
            <a:spLocks noGrp="1"/>
          </p:cNvSpPr>
          <p:nvPr>
            <p:ph type="subTitle" idx="1"/>
          </p:nvPr>
        </p:nvSpPr>
        <p:spPr/>
        <p:txBody>
          <a:bodyPr/>
          <a:lstStyle/>
          <a:p>
            <a:endParaRPr lang="en-US"/>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end="1.0362414172E6"/>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7840379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20938"/>
          </a:xfrm>
        </p:spPr>
        <p:txBody>
          <a:bodyPr>
            <a:normAutofit fontScale="90000"/>
          </a:bodyPr>
          <a:lstStyle/>
          <a:p>
            <a:r>
              <a:rPr lang="en-US" b="1" dirty="0" smtClean="0">
                <a:solidFill>
                  <a:srgbClr val="FF0000"/>
                </a:solidFill>
              </a:rPr>
              <a:t>Cloning</a:t>
            </a:r>
            <a:endParaRPr lang="en-US" b="1" dirty="0">
              <a:solidFill>
                <a:srgbClr val="FF0000"/>
              </a:solidFill>
            </a:endParaRPr>
          </a:p>
        </p:txBody>
      </p:sp>
      <p:sp>
        <p:nvSpPr>
          <p:cNvPr id="3" name="Content Placeholder 2"/>
          <p:cNvSpPr>
            <a:spLocks noGrp="1"/>
          </p:cNvSpPr>
          <p:nvPr>
            <p:ph idx="1"/>
          </p:nvPr>
        </p:nvSpPr>
        <p:spPr>
          <a:xfrm>
            <a:off x="838200" y="1106905"/>
            <a:ext cx="10515600" cy="5070058"/>
          </a:xfrm>
        </p:spPr>
        <p:txBody>
          <a:bodyPr>
            <a:normAutofit fontScale="92500" lnSpcReduction="20000"/>
          </a:bodyPr>
          <a:lstStyle/>
          <a:p>
            <a:r>
              <a:rPr lang="en-US" dirty="0"/>
              <a:t>The requirement for continued storage of cells at all stages is essential for the following reasons:</a:t>
            </a:r>
          </a:p>
          <a:p>
            <a:pPr marL="514350" indent="-514350">
              <a:buAutoNum type="alphaLcPeriod"/>
            </a:pPr>
            <a:r>
              <a:rPr lang="en-US" dirty="0"/>
              <a:t>Throughout cloning, particularly during the early stages, there is a high probability of chromosome loss and consequent loss of Ig secretion from the </a:t>
            </a:r>
            <a:r>
              <a:rPr lang="en-US" dirty="0" err="1"/>
              <a:t>hybridoma</a:t>
            </a:r>
            <a:r>
              <a:rPr lang="en-US" dirty="0"/>
              <a:t> cells.</a:t>
            </a:r>
          </a:p>
          <a:p>
            <a:pPr marL="514350" indent="-514350">
              <a:buAutoNum type="alphaLcPeriod"/>
            </a:pPr>
            <a:r>
              <a:rPr lang="en-US" dirty="0"/>
              <a:t>There is always a risk of overgrowth by Ig-nonproducing </a:t>
            </a:r>
            <a:r>
              <a:rPr lang="en-US" dirty="0" err="1"/>
              <a:t>hybridomas</a:t>
            </a:r>
            <a:endParaRPr lang="en-US" dirty="0"/>
          </a:p>
          <a:p>
            <a:pPr marL="0" indent="0">
              <a:buNone/>
            </a:pPr>
            <a:r>
              <a:rPr lang="en-US" dirty="0"/>
              <a:t>c. The risk of infection</a:t>
            </a:r>
          </a:p>
          <a:p>
            <a:pPr marL="0" indent="0">
              <a:buNone/>
            </a:pPr>
            <a:endParaRPr lang="en-US" dirty="0" smtClean="0"/>
          </a:p>
          <a:p>
            <a:endParaRPr lang="en-US" dirty="0"/>
          </a:p>
          <a:p>
            <a:r>
              <a:rPr lang="en-US" dirty="0" smtClean="0"/>
              <a:t>The types  of </a:t>
            </a:r>
            <a:r>
              <a:rPr lang="en-US" dirty="0" err="1" smtClean="0"/>
              <a:t>hybridoma</a:t>
            </a:r>
            <a:r>
              <a:rPr lang="en-US" dirty="0" smtClean="0"/>
              <a:t> cells depends on the number of epitopes of the injected Ag.</a:t>
            </a:r>
          </a:p>
          <a:p>
            <a:r>
              <a:rPr lang="en-US" dirty="0" smtClean="0"/>
              <a:t>The purpose of cloning is to isolate a single-specific Ab-secreting cell from the hundreds of other cells in the culture. So that Monoclonal cell line can be established.</a:t>
            </a:r>
            <a:endParaRPr lang="en-US" dirty="0"/>
          </a:p>
          <a:p>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46135" end="940991.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8962481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4403"/>
          </a:xfrm>
        </p:spPr>
        <p:txBody>
          <a:bodyPr>
            <a:normAutofit fontScale="90000"/>
          </a:bodyPr>
          <a:lstStyle/>
          <a:p>
            <a:r>
              <a:rPr lang="en-US" b="1" dirty="0" smtClean="0">
                <a:solidFill>
                  <a:srgbClr val="FF0000"/>
                </a:solidFill>
              </a:rPr>
              <a:t>Test of FCS for ability to support hybrid clones</a:t>
            </a:r>
            <a:r>
              <a:rPr lang="en-US" dirty="0" smtClean="0"/>
              <a:t/>
            </a:r>
            <a:br>
              <a:rPr lang="en-US" dirty="0" smtClean="0"/>
            </a:br>
            <a:endParaRPr lang="en-US" dirty="0"/>
          </a:p>
        </p:txBody>
      </p:sp>
      <p:sp>
        <p:nvSpPr>
          <p:cNvPr id="3" name="Content Placeholder 2"/>
          <p:cNvSpPr>
            <a:spLocks noGrp="1"/>
          </p:cNvSpPr>
          <p:nvPr>
            <p:ph idx="1"/>
          </p:nvPr>
        </p:nvSpPr>
        <p:spPr>
          <a:xfrm>
            <a:off x="838200" y="1106905"/>
            <a:ext cx="10515600" cy="5070058"/>
          </a:xfrm>
        </p:spPr>
        <p:txBody>
          <a:bodyPr>
            <a:normAutofit lnSpcReduction="10000"/>
          </a:bodyPr>
          <a:lstStyle/>
          <a:p>
            <a:r>
              <a:rPr lang="en-US" dirty="0" smtClean="0"/>
              <a:t>A prerequisite is the need for a medium in which </a:t>
            </a:r>
            <a:r>
              <a:rPr lang="en-US" dirty="0" err="1" smtClean="0"/>
              <a:t>hybridoma</a:t>
            </a:r>
            <a:r>
              <a:rPr lang="en-US" dirty="0" smtClean="0"/>
              <a:t> cells may be grown from very low densities . Each new patch of FCS must  be tested for the ability  to support hybrid clones.</a:t>
            </a:r>
          </a:p>
          <a:p>
            <a:r>
              <a:rPr lang="en-US" dirty="0" smtClean="0"/>
              <a:t>Usually the growth of hybrids is inhibited at high cell dilutions. This can be overcome by the use of feeder cells such as </a:t>
            </a:r>
            <a:r>
              <a:rPr lang="en-US" dirty="0" err="1" smtClean="0"/>
              <a:t>thymocytes</a:t>
            </a:r>
            <a:r>
              <a:rPr lang="en-US" dirty="0" smtClean="0"/>
              <a:t>, peritoneal macrophages or spleen cells.</a:t>
            </a:r>
          </a:p>
          <a:p>
            <a:r>
              <a:rPr lang="en-US" dirty="0" smtClean="0"/>
              <a:t> hybrids are seeded into culture wells containing such cells.</a:t>
            </a:r>
          </a:p>
          <a:p>
            <a:r>
              <a:rPr lang="en-US" dirty="0" smtClean="0"/>
              <a:t>1 thymus/96-well plate +wash medium + 10 cells /100 </a:t>
            </a:r>
            <a:r>
              <a:rPr lang="en-US" dirty="0" err="1" smtClean="0"/>
              <a:t>uL</a:t>
            </a:r>
            <a:r>
              <a:rPr lang="en-US" dirty="0" smtClean="0"/>
              <a:t>/well</a:t>
            </a:r>
          </a:p>
          <a:p>
            <a:pPr marL="0" indent="0">
              <a:buNone/>
            </a:pPr>
            <a:r>
              <a:rPr lang="en-US" dirty="0"/>
              <a:t> </a:t>
            </a:r>
            <a:r>
              <a:rPr lang="en-US" dirty="0" smtClean="0"/>
              <a:t>      (12 wells or 1 row)</a:t>
            </a:r>
          </a:p>
          <a:p>
            <a:r>
              <a:rPr lang="en-US" dirty="0" smtClean="0"/>
              <a:t>5% FCS (to be tested)  in medium + -</a:t>
            </a:r>
            <a:r>
              <a:rPr lang="en-US" dirty="0" err="1" smtClean="0"/>
              <a:t>ve</a:t>
            </a:r>
            <a:r>
              <a:rPr lang="en-US" dirty="0" smtClean="0"/>
              <a:t> and + </a:t>
            </a:r>
            <a:r>
              <a:rPr lang="en-US" dirty="0" err="1" smtClean="0"/>
              <a:t>ve</a:t>
            </a:r>
            <a:r>
              <a:rPr lang="en-US" dirty="0" smtClean="0"/>
              <a:t> controls</a:t>
            </a:r>
          </a:p>
          <a:p>
            <a:r>
              <a:rPr lang="en-US" dirty="0" smtClean="0"/>
              <a:t>After 5 days score each well for hybrid growth</a:t>
            </a:r>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141385" end="868504.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3754741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66725"/>
            <a:ext cx="10515600" cy="5710238"/>
          </a:xfrm>
        </p:spPr>
        <p:txBody>
          <a:bodyPr>
            <a:normAutofit/>
          </a:bodyPr>
          <a:lstStyle/>
          <a:p>
            <a:pPr marL="0" indent="0">
              <a:buNone/>
            </a:pPr>
            <a:r>
              <a:rPr lang="en-US" dirty="0" smtClean="0"/>
              <a:t>1. B cells (specific and nonspecific) + Myeloma cells         HAT &amp; PEG</a:t>
            </a:r>
          </a:p>
          <a:p>
            <a:pPr marL="0" indent="0">
              <a:buNone/>
            </a:pPr>
            <a:r>
              <a:rPr lang="en-US" dirty="0"/>
              <a:t>	</a:t>
            </a:r>
            <a:r>
              <a:rPr lang="en-US" dirty="0" smtClean="0"/>
              <a:t>			</a:t>
            </a:r>
            <a:r>
              <a:rPr lang="en-US" dirty="0" err="1" smtClean="0"/>
              <a:t>Hybridoma</a:t>
            </a:r>
            <a:r>
              <a:rPr lang="en-US" dirty="0" smtClean="0"/>
              <a:t> cells survive only</a:t>
            </a:r>
          </a:p>
          <a:p>
            <a:pPr marL="0" indent="0">
              <a:buNone/>
            </a:pPr>
            <a:r>
              <a:rPr lang="en-US" dirty="0" smtClean="0"/>
              <a:t>2. Specific (</a:t>
            </a:r>
            <a:r>
              <a:rPr lang="en-US" dirty="0" err="1" smtClean="0"/>
              <a:t>e.g</a:t>
            </a:r>
            <a:r>
              <a:rPr lang="en-US" dirty="0" smtClean="0"/>
              <a:t> 10 </a:t>
            </a:r>
            <a:r>
              <a:rPr lang="en-US" dirty="0" err="1" smtClean="0"/>
              <a:t>hybridoma</a:t>
            </a:r>
            <a:r>
              <a:rPr lang="en-US" dirty="0" smtClean="0"/>
              <a:t> cells against 10 injected Ag epitopes) survive</a:t>
            </a:r>
          </a:p>
          <a:p>
            <a:pPr marL="0" indent="0">
              <a:buNone/>
            </a:pPr>
            <a:r>
              <a:rPr lang="en-US" dirty="0" smtClean="0"/>
              <a:t>Nonspecific </a:t>
            </a:r>
            <a:r>
              <a:rPr lang="en-US" dirty="0" err="1" smtClean="0"/>
              <a:t>e.g</a:t>
            </a:r>
            <a:r>
              <a:rPr lang="en-US" dirty="0" smtClean="0"/>
              <a:t> 10</a:t>
            </a:r>
            <a:r>
              <a:rPr lang="en-US" b="1" baseline="30000" dirty="0" smtClean="0"/>
              <a:t>4</a:t>
            </a:r>
            <a:r>
              <a:rPr lang="en-US" dirty="0" smtClean="0"/>
              <a:t> </a:t>
            </a:r>
            <a:r>
              <a:rPr lang="en-US" dirty="0" err="1" smtClean="0"/>
              <a:t>hybridoma</a:t>
            </a:r>
            <a:r>
              <a:rPr lang="en-US" dirty="0" smtClean="0"/>
              <a:t> cells against different epitopes survive also</a:t>
            </a:r>
          </a:p>
          <a:p>
            <a:pPr marL="0" indent="0">
              <a:buNone/>
            </a:pPr>
            <a:r>
              <a:rPr lang="en-US" dirty="0" smtClean="0"/>
              <a:t>3. Limiting dilution and ELISA</a:t>
            </a:r>
            <a:endParaRPr lang="en-US" dirty="0"/>
          </a:p>
          <a:p>
            <a:pPr marL="0" indent="0">
              <a:buNone/>
            </a:pPr>
            <a:r>
              <a:rPr lang="en-US" dirty="0" smtClean="0"/>
              <a:t>Isolation of each specific </a:t>
            </a:r>
            <a:r>
              <a:rPr lang="en-US" dirty="0" err="1" smtClean="0"/>
              <a:t>hybridoma</a:t>
            </a:r>
            <a:r>
              <a:rPr lang="en-US" dirty="0" smtClean="0"/>
              <a:t> cell alone</a:t>
            </a:r>
          </a:p>
          <a:p>
            <a:pPr marL="0" indent="0">
              <a:buNone/>
            </a:pPr>
            <a:r>
              <a:rPr lang="en-US" dirty="0" smtClean="0"/>
              <a:t>Each specific </a:t>
            </a:r>
            <a:r>
              <a:rPr lang="en-US" dirty="0" err="1" smtClean="0"/>
              <a:t>Hybridoma</a:t>
            </a:r>
            <a:r>
              <a:rPr lang="en-US" dirty="0" smtClean="0"/>
              <a:t> cell divides in culture to make a clone that secrete specific Mab against one epitope. 10 </a:t>
            </a:r>
            <a:r>
              <a:rPr lang="en-US" dirty="0" err="1" smtClean="0"/>
              <a:t>hybridoma</a:t>
            </a:r>
            <a:r>
              <a:rPr lang="en-US" dirty="0" smtClean="0"/>
              <a:t> clone  each secretes a specific Mab</a:t>
            </a:r>
          </a:p>
          <a:p>
            <a:pPr marL="0" indent="0">
              <a:buNone/>
            </a:pPr>
            <a:r>
              <a:rPr lang="en-US" dirty="0" smtClean="0"/>
              <a:t>4. Nonspecific </a:t>
            </a:r>
            <a:r>
              <a:rPr lang="en-US" dirty="0" err="1" smtClean="0"/>
              <a:t>hybridoma</a:t>
            </a:r>
            <a:r>
              <a:rPr lang="en-US" dirty="0" smtClean="0"/>
              <a:t> cells give negative in ELISA and not selected</a:t>
            </a:r>
            <a:endParaRPr lang="en-US" dirty="0"/>
          </a:p>
        </p:txBody>
      </p:sp>
      <p:sp>
        <p:nvSpPr>
          <p:cNvPr id="4" name="Right Arrow 3"/>
          <p:cNvSpPr/>
          <p:nvPr/>
        </p:nvSpPr>
        <p:spPr>
          <a:xfrm>
            <a:off x="8562975" y="581025"/>
            <a:ext cx="219075" cy="314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676650" y="1190625"/>
            <a:ext cx="685800" cy="114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499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761353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fontScale="90000"/>
          </a:bodyPr>
          <a:lstStyle/>
          <a:p>
            <a:r>
              <a:rPr lang="en-US" b="1" dirty="0" smtClean="0">
                <a:solidFill>
                  <a:srgbClr val="FF0000"/>
                </a:solidFill>
              </a:rPr>
              <a:t>Cloning by limiting dilution</a:t>
            </a:r>
            <a:endParaRPr lang="en-US" b="1" dirty="0">
              <a:solidFill>
                <a:srgbClr val="FF0000"/>
              </a:solidFill>
            </a:endParaRPr>
          </a:p>
        </p:txBody>
      </p:sp>
      <p:sp>
        <p:nvSpPr>
          <p:cNvPr id="3" name="Content Placeholder 2"/>
          <p:cNvSpPr>
            <a:spLocks noGrp="1"/>
          </p:cNvSpPr>
          <p:nvPr>
            <p:ph idx="1"/>
          </p:nvPr>
        </p:nvSpPr>
        <p:spPr>
          <a:xfrm>
            <a:off x="838200" y="1376412"/>
            <a:ext cx="10515600" cy="4819801"/>
          </a:xfrm>
        </p:spPr>
        <p:txBody>
          <a:bodyPr>
            <a:normAutofit/>
          </a:bodyPr>
          <a:lstStyle/>
          <a:p>
            <a:r>
              <a:rPr lang="en-US" dirty="0" smtClean="0"/>
              <a:t>The objective is to set up at least 3 very low dilutions of cells resulting in a mean of </a:t>
            </a:r>
            <a:r>
              <a:rPr lang="en-US" b="1" dirty="0" smtClean="0"/>
              <a:t>1 cell/well</a:t>
            </a:r>
            <a:r>
              <a:rPr lang="en-US" dirty="0" smtClean="0"/>
              <a:t>.</a:t>
            </a:r>
            <a:endParaRPr lang="en-US" dirty="0"/>
          </a:p>
          <a:p>
            <a:r>
              <a:rPr lang="en-US" dirty="0" smtClean="0"/>
              <a:t>Within 2 weeks of cloning, clones should be visible macroscopically and some of the wells contain monoclonal growth.</a:t>
            </a:r>
          </a:p>
          <a:p>
            <a:r>
              <a:rPr lang="en-US" dirty="0" smtClean="0"/>
              <a:t>At this stage, each of the cell supernatant should be screened to determine which of them contains the desired Ab.</a:t>
            </a:r>
          </a:p>
          <a:p>
            <a:r>
              <a:rPr lang="en-US" dirty="0" smtClean="0"/>
              <a:t>Positive wells are expanded and </a:t>
            </a:r>
            <a:r>
              <a:rPr lang="en-US" dirty="0" err="1" smtClean="0"/>
              <a:t>recloned</a:t>
            </a:r>
            <a:r>
              <a:rPr lang="en-US" dirty="0" smtClean="0"/>
              <a:t> at least 3 times</a:t>
            </a:r>
          </a:p>
          <a:p>
            <a:r>
              <a:rPr lang="en-US" dirty="0" smtClean="0"/>
              <a:t>The final clone should display positive Ab production in all the seeded wells. </a:t>
            </a:r>
          </a:p>
          <a:p>
            <a:r>
              <a:rPr lang="en-US" dirty="0" smtClean="0"/>
              <a:t>A proportion of each culture  should be frozen and stored.</a:t>
            </a:r>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213872" end="784863.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721423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2145306"/>
          </a:xfrm>
        </p:spPr>
        <p:txBody>
          <a:bodyPr>
            <a:noAutofit/>
          </a:bodyPr>
          <a:lstStyle/>
          <a:p>
            <a:r>
              <a:rPr lang="en-US" sz="2000" b="1" dirty="0" smtClean="0"/>
              <a:t>Hybridoma cell mixture. Count them</a:t>
            </a:r>
            <a:br>
              <a:rPr lang="en-US" sz="2000" b="1" dirty="0" smtClean="0"/>
            </a:br>
            <a:r>
              <a:rPr lang="en-US" sz="2000" b="1" dirty="0" smtClean="0"/>
              <a:t>Make dilution to 2000 cell/ml= diluted </a:t>
            </a:r>
            <a:r>
              <a:rPr lang="en-US" sz="2000" b="1" dirty="0" err="1" smtClean="0"/>
              <a:t>Hyb</a:t>
            </a:r>
            <a:r>
              <a:rPr lang="en-US" sz="2000" b="1" dirty="0" smtClean="0"/>
              <a:t> cells</a:t>
            </a:r>
            <a:br>
              <a:rPr lang="en-US" sz="2000" b="1" dirty="0" smtClean="0"/>
            </a:br>
            <a:r>
              <a:rPr lang="en-US" sz="2000" b="1" dirty="0" smtClean="0"/>
              <a:t>Add 100 </a:t>
            </a:r>
            <a:r>
              <a:rPr lang="en-US" sz="2000" b="1" dirty="0" err="1" smtClean="0"/>
              <a:t>uL</a:t>
            </a:r>
            <a:r>
              <a:rPr lang="en-US" sz="2000" b="1" dirty="0" smtClean="0"/>
              <a:t> media to every 96 well</a:t>
            </a:r>
            <a:r>
              <a:rPr lang="en-US" sz="2000" b="1" dirty="0"/>
              <a:t/>
            </a:r>
            <a:br>
              <a:rPr lang="en-US" sz="2000" b="1" dirty="0"/>
            </a:br>
            <a:r>
              <a:rPr lang="en-US" sz="2000" b="1" dirty="0" err="1" smtClean="0"/>
              <a:t>Pipett</a:t>
            </a:r>
            <a:r>
              <a:rPr lang="en-US" sz="2000" b="1" dirty="0" smtClean="0"/>
              <a:t> 100 </a:t>
            </a:r>
            <a:r>
              <a:rPr lang="en-US" sz="2000" b="1" dirty="0" err="1" smtClean="0"/>
              <a:t>uL</a:t>
            </a:r>
            <a:r>
              <a:rPr lang="en-US" sz="2000" b="1" dirty="0" smtClean="0"/>
              <a:t> of diluted </a:t>
            </a:r>
            <a:r>
              <a:rPr lang="en-US" sz="2000" b="1" dirty="0" err="1" smtClean="0"/>
              <a:t>Hyb</a:t>
            </a:r>
            <a:r>
              <a:rPr lang="en-US" sz="2000" b="1" dirty="0" smtClean="0"/>
              <a:t> cell to A1 well then serial  dilution  horizontally to A12</a:t>
            </a:r>
            <a:br>
              <a:rPr lang="en-US" sz="2000" b="1" dirty="0" smtClean="0"/>
            </a:br>
            <a:r>
              <a:rPr lang="en-US" sz="2000" b="1" dirty="0" smtClean="0"/>
              <a:t>Make serial dilution to each well starting from column A1 to H1, A2 to H2 </a:t>
            </a:r>
            <a:r>
              <a:rPr lang="en-US" sz="2000" b="1" dirty="0" err="1" smtClean="0"/>
              <a:t>itc</a:t>
            </a:r>
            <a:r>
              <a:rPr lang="en-US" sz="2000" b="1" dirty="0" smtClean="0"/>
              <a:t>……</a:t>
            </a:r>
            <a:br>
              <a:rPr lang="en-US" sz="2000" b="1" dirty="0" smtClean="0"/>
            </a:br>
            <a:r>
              <a:rPr lang="en-US" sz="2000" b="1" dirty="0" smtClean="0"/>
              <a:t>Let the cells grow </a:t>
            </a:r>
            <a:br>
              <a:rPr lang="en-US" sz="2000" b="1" dirty="0" smtClean="0"/>
            </a:br>
            <a:r>
              <a:rPr lang="en-US" sz="2000" b="1" dirty="0" smtClean="0"/>
              <a:t>ELISA screening</a:t>
            </a:r>
            <a:br>
              <a:rPr lang="en-US" sz="2000" b="1" dirty="0" smtClean="0"/>
            </a:br>
            <a:r>
              <a:rPr lang="en-US" sz="2000" b="1" dirty="0" smtClean="0"/>
              <a:t>Repeat the same dilution procedure for every positive clone</a:t>
            </a:r>
            <a:endParaRPr lang="en-US" sz="20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25158917"/>
              </p:ext>
            </p:extLst>
          </p:nvPr>
        </p:nvGraphicFramePr>
        <p:xfrm>
          <a:off x="1185041" y="3408482"/>
          <a:ext cx="10515600" cy="2966720"/>
        </p:xfrm>
        <a:graphic>
          <a:graphicData uri="http://schemas.openxmlformats.org/drawingml/2006/table">
            <a:tbl>
              <a:tblPr firstRow="1" bandRow="1">
                <a:tableStyleId>{5C22544A-7EE6-4342-B048-85BDC9FD1C3A}</a:tableStyleId>
              </a:tblPr>
              <a:tblGrid>
                <a:gridCol w="876300"/>
                <a:gridCol w="876300"/>
                <a:gridCol w="876300"/>
                <a:gridCol w="876300"/>
                <a:gridCol w="876300"/>
                <a:gridCol w="876300"/>
                <a:gridCol w="876300"/>
                <a:gridCol w="876300"/>
                <a:gridCol w="876300"/>
                <a:gridCol w="876300"/>
                <a:gridCol w="876300"/>
                <a:gridCol w="876300"/>
              </a:tblGrid>
              <a:tr h="370840">
                <a:tc>
                  <a:txBody>
                    <a:bodyPr/>
                    <a:lstStyle/>
                    <a:p>
                      <a:endParaRPr lang="en-US" dirty="0"/>
                    </a:p>
                  </a:txBody>
                  <a:tcPr>
                    <a:solidFill>
                      <a:srgbClr val="FF0000"/>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r>
                        <a:rPr lang="en-US" dirty="0" smtClean="0"/>
                        <a:t>H1</a:t>
                      </a:r>
                      <a:endParaRPr lang="en-US" dirty="0"/>
                    </a:p>
                  </a:txBody>
                  <a:tcPr>
                    <a:noFill/>
                  </a:tcPr>
                </a:tc>
                <a:tc>
                  <a:txBody>
                    <a:bodyPr/>
                    <a:lstStyle/>
                    <a:p>
                      <a:endParaRPr lang="en-US"/>
                    </a:p>
                  </a:txBody>
                  <a:tcPr/>
                </a:tc>
                <a:tc>
                  <a:txBody>
                    <a:bodyPr/>
                    <a:lstStyle/>
                    <a:p>
                      <a:r>
                        <a:rPr lang="en-US" dirty="0" smtClean="0"/>
                        <a:t>H3</a:t>
                      </a:r>
                      <a:endParaRPr lang="en-US" dirty="0"/>
                    </a:p>
                  </a:txBody>
                  <a:tcPr>
                    <a:noFill/>
                  </a:tcPr>
                </a:tc>
                <a:tc>
                  <a:txBody>
                    <a:bodyPr/>
                    <a:lstStyle/>
                    <a:p>
                      <a:endParaRPr lang="en-US"/>
                    </a:p>
                  </a:txBody>
                  <a:tcPr/>
                </a:tc>
                <a:tc>
                  <a:txBody>
                    <a:bodyPr/>
                    <a:lstStyle/>
                    <a:p>
                      <a:endParaRPr lang="en-US"/>
                    </a:p>
                  </a:txBody>
                  <a:tcPr/>
                </a:tc>
                <a:tc>
                  <a:txBody>
                    <a:bodyPr/>
                    <a:lstStyle/>
                    <a:p>
                      <a:r>
                        <a:rPr lang="en-US" dirty="0" smtClean="0"/>
                        <a:t>H6</a:t>
                      </a:r>
                      <a:endParaRPr lang="en-US" dirty="0"/>
                    </a:p>
                  </a:txBody>
                  <a:tcPr>
                    <a:solidFill>
                      <a:schemeClr val="bg1"/>
                    </a:solidFill>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dirty="0" smtClean="0"/>
                        <a:t>H12</a:t>
                      </a:r>
                      <a:endParaRPr lang="en-US" dirty="0"/>
                    </a:p>
                  </a:txBody>
                  <a:tcPr/>
                </a:tc>
              </a:tr>
            </a:tbl>
          </a:graphicData>
        </a:graphic>
      </p:graphicFrame>
      <p:sp>
        <p:nvSpPr>
          <p:cNvPr id="5" name="TextBox 4"/>
          <p:cNvSpPr txBox="1"/>
          <p:nvPr/>
        </p:nvSpPr>
        <p:spPr>
          <a:xfrm>
            <a:off x="1517431" y="2996584"/>
            <a:ext cx="515007" cy="369332"/>
          </a:xfrm>
          <a:prstGeom prst="rect">
            <a:avLst/>
          </a:prstGeom>
          <a:noFill/>
        </p:spPr>
        <p:txBody>
          <a:bodyPr wrap="square" rtlCol="0">
            <a:spAutoFit/>
          </a:bodyPr>
          <a:lstStyle/>
          <a:p>
            <a:r>
              <a:rPr lang="en-US" dirty="0" smtClean="0"/>
              <a:t>1</a:t>
            </a:r>
            <a:endParaRPr lang="en-US" dirty="0"/>
          </a:p>
        </p:txBody>
      </p:sp>
      <p:sp>
        <p:nvSpPr>
          <p:cNvPr id="6" name="TextBox 5"/>
          <p:cNvSpPr txBox="1"/>
          <p:nvPr/>
        </p:nvSpPr>
        <p:spPr>
          <a:xfrm>
            <a:off x="838200" y="3336604"/>
            <a:ext cx="420413" cy="369332"/>
          </a:xfrm>
          <a:prstGeom prst="rect">
            <a:avLst/>
          </a:prstGeom>
          <a:noFill/>
        </p:spPr>
        <p:txBody>
          <a:bodyPr wrap="square" rtlCol="0">
            <a:spAutoFit/>
          </a:bodyPr>
          <a:lstStyle/>
          <a:p>
            <a:r>
              <a:rPr lang="en-US" dirty="0" smtClean="0"/>
              <a:t>A</a:t>
            </a:r>
            <a:endParaRPr lang="en-US" dirty="0"/>
          </a:p>
        </p:txBody>
      </p:sp>
      <p:sp>
        <p:nvSpPr>
          <p:cNvPr id="7" name="TextBox 6"/>
          <p:cNvSpPr txBox="1"/>
          <p:nvPr/>
        </p:nvSpPr>
        <p:spPr>
          <a:xfrm>
            <a:off x="786962" y="3738817"/>
            <a:ext cx="504496" cy="369332"/>
          </a:xfrm>
          <a:prstGeom prst="rect">
            <a:avLst/>
          </a:prstGeom>
          <a:noFill/>
        </p:spPr>
        <p:txBody>
          <a:bodyPr wrap="square" rtlCol="0">
            <a:spAutoFit/>
          </a:bodyPr>
          <a:lstStyle/>
          <a:p>
            <a:r>
              <a:rPr lang="en-US" dirty="0" smtClean="0"/>
              <a:t>B</a:t>
            </a:r>
            <a:endParaRPr lang="en-US" dirty="0"/>
          </a:p>
        </p:txBody>
      </p:sp>
      <p:sp>
        <p:nvSpPr>
          <p:cNvPr id="8" name="TextBox 7"/>
          <p:cNvSpPr txBox="1"/>
          <p:nvPr/>
        </p:nvSpPr>
        <p:spPr>
          <a:xfrm>
            <a:off x="780394" y="4096247"/>
            <a:ext cx="420413" cy="369332"/>
          </a:xfrm>
          <a:prstGeom prst="rect">
            <a:avLst/>
          </a:prstGeom>
          <a:noFill/>
        </p:spPr>
        <p:txBody>
          <a:bodyPr wrap="square" rtlCol="0">
            <a:spAutoFit/>
          </a:bodyPr>
          <a:lstStyle/>
          <a:p>
            <a:r>
              <a:rPr lang="en-US" dirty="0" smtClean="0"/>
              <a:t>C</a:t>
            </a:r>
            <a:endParaRPr lang="en-US" dirty="0"/>
          </a:p>
        </p:txBody>
      </p:sp>
      <p:sp>
        <p:nvSpPr>
          <p:cNvPr id="9" name="TextBox 8"/>
          <p:cNvSpPr txBox="1"/>
          <p:nvPr/>
        </p:nvSpPr>
        <p:spPr>
          <a:xfrm>
            <a:off x="827689" y="4516149"/>
            <a:ext cx="420413" cy="369332"/>
          </a:xfrm>
          <a:prstGeom prst="rect">
            <a:avLst/>
          </a:prstGeom>
          <a:noFill/>
        </p:spPr>
        <p:txBody>
          <a:bodyPr wrap="square" rtlCol="0">
            <a:spAutoFit/>
          </a:bodyPr>
          <a:lstStyle/>
          <a:p>
            <a:r>
              <a:rPr lang="en-US" dirty="0" smtClean="0"/>
              <a:t>D</a:t>
            </a:r>
            <a:endParaRPr lang="en-US" dirty="0"/>
          </a:p>
        </p:txBody>
      </p:sp>
      <p:sp>
        <p:nvSpPr>
          <p:cNvPr id="11" name="TextBox 10"/>
          <p:cNvSpPr txBox="1"/>
          <p:nvPr/>
        </p:nvSpPr>
        <p:spPr>
          <a:xfrm>
            <a:off x="869731" y="4934322"/>
            <a:ext cx="493986" cy="369332"/>
          </a:xfrm>
          <a:prstGeom prst="rect">
            <a:avLst/>
          </a:prstGeom>
          <a:noFill/>
        </p:spPr>
        <p:txBody>
          <a:bodyPr wrap="square" rtlCol="0">
            <a:spAutoFit/>
          </a:bodyPr>
          <a:lstStyle/>
          <a:p>
            <a:r>
              <a:rPr lang="en-US" dirty="0" smtClean="0"/>
              <a:t>E</a:t>
            </a:r>
            <a:endParaRPr lang="en-US" dirty="0"/>
          </a:p>
        </p:txBody>
      </p:sp>
      <p:sp>
        <p:nvSpPr>
          <p:cNvPr id="12" name="TextBox 11"/>
          <p:cNvSpPr txBox="1"/>
          <p:nvPr/>
        </p:nvSpPr>
        <p:spPr>
          <a:xfrm>
            <a:off x="827689" y="5267363"/>
            <a:ext cx="536028" cy="369332"/>
          </a:xfrm>
          <a:prstGeom prst="rect">
            <a:avLst/>
          </a:prstGeom>
          <a:noFill/>
        </p:spPr>
        <p:txBody>
          <a:bodyPr wrap="square" rtlCol="0">
            <a:spAutoFit/>
          </a:bodyPr>
          <a:lstStyle/>
          <a:p>
            <a:r>
              <a:rPr lang="en-US" dirty="0" smtClean="0"/>
              <a:t>F</a:t>
            </a:r>
            <a:endParaRPr lang="en-US" dirty="0"/>
          </a:p>
        </p:txBody>
      </p:sp>
      <p:sp>
        <p:nvSpPr>
          <p:cNvPr id="13" name="TextBox 12"/>
          <p:cNvSpPr txBox="1"/>
          <p:nvPr/>
        </p:nvSpPr>
        <p:spPr>
          <a:xfrm>
            <a:off x="783020" y="5613642"/>
            <a:ext cx="609600" cy="369332"/>
          </a:xfrm>
          <a:prstGeom prst="rect">
            <a:avLst/>
          </a:prstGeom>
          <a:noFill/>
        </p:spPr>
        <p:txBody>
          <a:bodyPr wrap="square" rtlCol="0">
            <a:spAutoFit/>
          </a:bodyPr>
          <a:lstStyle/>
          <a:p>
            <a:r>
              <a:rPr lang="en-US" dirty="0" smtClean="0"/>
              <a:t>G</a:t>
            </a:r>
            <a:endParaRPr lang="en-US" dirty="0"/>
          </a:p>
        </p:txBody>
      </p:sp>
      <p:sp>
        <p:nvSpPr>
          <p:cNvPr id="14" name="TextBox 13"/>
          <p:cNvSpPr txBox="1"/>
          <p:nvPr/>
        </p:nvSpPr>
        <p:spPr>
          <a:xfrm>
            <a:off x="775138" y="6007394"/>
            <a:ext cx="451945" cy="369332"/>
          </a:xfrm>
          <a:prstGeom prst="rect">
            <a:avLst/>
          </a:prstGeom>
          <a:noFill/>
        </p:spPr>
        <p:txBody>
          <a:bodyPr wrap="square" rtlCol="0">
            <a:spAutoFit/>
          </a:bodyPr>
          <a:lstStyle/>
          <a:p>
            <a:r>
              <a:rPr lang="en-US" dirty="0" smtClean="0"/>
              <a:t>H</a:t>
            </a:r>
            <a:endParaRPr lang="en-US" dirty="0"/>
          </a:p>
        </p:txBody>
      </p:sp>
      <p:sp>
        <p:nvSpPr>
          <p:cNvPr id="15" name="TextBox 14"/>
          <p:cNvSpPr txBox="1"/>
          <p:nvPr/>
        </p:nvSpPr>
        <p:spPr>
          <a:xfrm>
            <a:off x="2271548" y="3124319"/>
            <a:ext cx="914400" cy="369332"/>
          </a:xfrm>
          <a:prstGeom prst="rect">
            <a:avLst/>
          </a:prstGeom>
          <a:noFill/>
        </p:spPr>
        <p:txBody>
          <a:bodyPr wrap="square" rtlCol="0">
            <a:spAutoFit/>
          </a:bodyPr>
          <a:lstStyle/>
          <a:p>
            <a:r>
              <a:rPr lang="en-US" dirty="0" smtClean="0"/>
              <a:t>2</a:t>
            </a:r>
            <a:endParaRPr lang="en-US" dirty="0"/>
          </a:p>
        </p:txBody>
      </p:sp>
      <p:sp>
        <p:nvSpPr>
          <p:cNvPr id="16" name="TextBox 15"/>
          <p:cNvSpPr txBox="1"/>
          <p:nvPr/>
        </p:nvSpPr>
        <p:spPr>
          <a:xfrm>
            <a:off x="3124200" y="3081735"/>
            <a:ext cx="641131" cy="369332"/>
          </a:xfrm>
          <a:prstGeom prst="rect">
            <a:avLst/>
          </a:prstGeom>
          <a:noFill/>
        </p:spPr>
        <p:txBody>
          <a:bodyPr wrap="square" rtlCol="0">
            <a:spAutoFit/>
          </a:bodyPr>
          <a:lstStyle/>
          <a:p>
            <a:r>
              <a:rPr lang="en-US" dirty="0" smtClean="0"/>
              <a:t>3</a:t>
            </a:r>
            <a:endParaRPr lang="en-US" dirty="0"/>
          </a:p>
        </p:txBody>
      </p:sp>
      <p:sp>
        <p:nvSpPr>
          <p:cNvPr id="17" name="TextBox 16"/>
          <p:cNvSpPr txBox="1"/>
          <p:nvPr/>
        </p:nvSpPr>
        <p:spPr>
          <a:xfrm>
            <a:off x="4130565" y="2993235"/>
            <a:ext cx="567559" cy="369332"/>
          </a:xfrm>
          <a:prstGeom prst="rect">
            <a:avLst/>
          </a:prstGeom>
          <a:noFill/>
        </p:spPr>
        <p:txBody>
          <a:bodyPr wrap="square" rtlCol="0">
            <a:spAutoFit/>
          </a:bodyPr>
          <a:lstStyle/>
          <a:p>
            <a:r>
              <a:rPr lang="en-US" dirty="0" smtClean="0"/>
              <a:t>4</a:t>
            </a:r>
            <a:endParaRPr lang="en-US" dirty="0"/>
          </a:p>
        </p:txBody>
      </p:sp>
      <p:sp>
        <p:nvSpPr>
          <p:cNvPr id="18" name="TextBox 17"/>
          <p:cNvSpPr txBox="1"/>
          <p:nvPr/>
        </p:nvSpPr>
        <p:spPr>
          <a:xfrm>
            <a:off x="5000296" y="2993235"/>
            <a:ext cx="567558" cy="369332"/>
          </a:xfrm>
          <a:prstGeom prst="rect">
            <a:avLst/>
          </a:prstGeom>
          <a:noFill/>
        </p:spPr>
        <p:txBody>
          <a:bodyPr wrap="square" rtlCol="0">
            <a:spAutoFit/>
          </a:bodyPr>
          <a:lstStyle/>
          <a:p>
            <a:r>
              <a:rPr lang="en-US" dirty="0" smtClean="0"/>
              <a:t>5</a:t>
            </a:r>
            <a:endParaRPr lang="en-US" dirty="0"/>
          </a:p>
        </p:txBody>
      </p:sp>
      <p:sp>
        <p:nvSpPr>
          <p:cNvPr id="19" name="TextBox 18"/>
          <p:cNvSpPr txBox="1"/>
          <p:nvPr/>
        </p:nvSpPr>
        <p:spPr>
          <a:xfrm>
            <a:off x="5984327" y="3017867"/>
            <a:ext cx="493986" cy="369332"/>
          </a:xfrm>
          <a:prstGeom prst="rect">
            <a:avLst/>
          </a:prstGeom>
          <a:noFill/>
        </p:spPr>
        <p:txBody>
          <a:bodyPr wrap="square" rtlCol="0">
            <a:spAutoFit/>
          </a:bodyPr>
          <a:lstStyle/>
          <a:p>
            <a:r>
              <a:rPr lang="en-US" dirty="0" smtClean="0"/>
              <a:t>6</a:t>
            </a:r>
            <a:endParaRPr lang="en-US" dirty="0"/>
          </a:p>
        </p:txBody>
      </p:sp>
      <p:sp>
        <p:nvSpPr>
          <p:cNvPr id="20" name="TextBox 19"/>
          <p:cNvSpPr txBox="1"/>
          <p:nvPr/>
        </p:nvSpPr>
        <p:spPr>
          <a:xfrm>
            <a:off x="6705600" y="2993235"/>
            <a:ext cx="536028" cy="369332"/>
          </a:xfrm>
          <a:prstGeom prst="rect">
            <a:avLst/>
          </a:prstGeom>
          <a:noFill/>
        </p:spPr>
        <p:txBody>
          <a:bodyPr wrap="square" rtlCol="0">
            <a:spAutoFit/>
          </a:bodyPr>
          <a:lstStyle/>
          <a:p>
            <a:r>
              <a:rPr lang="en-US" dirty="0" smtClean="0"/>
              <a:t>7</a:t>
            </a:r>
            <a:endParaRPr lang="en-US" dirty="0"/>
          </a:p>
        </p:txBody>
      </p:sp>
      <p:sp>
        <p:nvSpPr>
          <p:cNvPr id="22" name="TextBox 21"/>
          <p:cNvSpPr txBox="1"/>
          <p:nvPr/>
        </p:nvSpPr>
        <p:spPr>
          <a:xfrm>
            <a:off x="7616059" y="3011610"/>
            <a:ext cx="578068" cy="369332"/>
          </a:xfrm>
          <a:prstGeom prst="rect">
            <a:avLst/>
          </a:prstGeom>
          <a:noFill/>
        </p:spPr>
        <p:txBody>
          <a:bodyPr wrap="square" rtlCol="0">
            <a:spAutoFit/>
          </a:bodyPr>
          <a:lstStyle/>
          <a:p>
            <a:r>
              <a:rPr lang="en-US" dirty="0" smtClean="0"/>
              <a:t>8</a:t>
            </a:r>
            <a:endParaRPr lang="en-US" dirty="0"/>
          </a:p>
        </p:txBody>
      </p:sp>
      <p:sp>
        <p:nvSpPr>
          <p:cNvPr id="23" name="TextBox 22"/>
          <p:cNvSpPr txBox="1"/>
          <p:nvPr/>
        </p:nvSpPr>
        <p:spPr>
          <a:xfrm>
            <a:off x="8434550" y="2941467"/>
            <a:ext cx="525517" cy="369332"/>
          </a:xfrm>
          <a:prstGeom prst="rect">
            <a:avLst/>
          </a:prstGeom>
          <a:noFill/>
        </p:spPr>
        <p:txBody>
          <a:bodyPr wrap="square" rtlCol="0">
            <a:spAutoFit/>
          </a:bodyPr>
          <a:lstStyle/>
          <a:p>
            <a:r>
              <a:rPr lang="en-US" dirty="0" smtClean="0"/>
              <a:t>9</a:t>
            </a:r>
            <a:endParaRPr lang="en-US" dirty="0"/>
          </a:p>
        </p:txBody>
      </p:sp>
      <p:sp>
        <p:nvSpPr>
          <p:cNvPr id="24" name="TextBox 23"/>
          <p:cNvSpPr txBox="1"/>
          <p:nvPr/>
        </p:nvSpPr>
        <p:spPr>
          <a:xfrm>
            <a:off x="9200490" y="2990309"/>
            <a:ext cx="557049" cy="369332"/>
          </a:xfrm>
          <a:prstGeom prst="rect">
            <a:avLst/>
          </a:prstGeom>
          <a:noFill/>
        </p:spPr>
        <p:txBody>
          <a:bodyPr wrap="square" rtlCol="0">
            <a:spAutoFit/>
          </a:bodyPr>
          <a:lstStyle/>
          <a:p>
            <a:r>
              <a:rPr lang="en-US" dirty="0" smtClean="0"/>
              <a:t>10</a:t>
            </a:r>
            <a:endParaRPr lang="en-US" dirty="0"/>
          </a:p>
        </p:txBody>
      </p:sp>
      <p:sp>
        <p:nvSpPr>
          <p:cNvPr id="25" name="TextBox 24"/>
          <p:cNvSpPr txBox="1"/>
          <p:nvPr/>
        </p:nvSpPr>
        <p:spPr>
          <a:xfrm>
            <a:off x="10167443" y="3025380"/>
            <a:ext cx="472966" cy="369332"/>
          </a:xfrm>
          <a:prstGeom prst="rect">
            <a:avLst/>
          </a:prstGeom>
          <a:noFill/>
        </p:spPr>
        <p:txBody>
          <a:bodyPr wrap="square" rtlCol="0">
            <a:spAutoFit/>
          </a:bodyPr>
          <a:lstStyle/>
          <a:p>
            <a:r>
              <a:rPr lang="en-US" dirty="0" smtClean="0"/>
              <a:t>11</a:t>
            </a:r>
            <a:endParaRPr lang="en-US" dirty="0"/>
          </a:p>
        </p:txBody>
      </p:sp>
      <p:sp>
        <p:nvSpPr>
          <p:cNvPr id="26" name="TextBox 25"/>
          <p:cNvSpPr txBox="1"/>
          <p:nvPr/>
        </p:nvSpPr>
        <p:spPr>
          <a:xfrm>
            <a:off x="11060823" y="2990309"/>
            <a:ext cx="418704" cy="369332"/>
          </a:xfrm>
          <a:prstGeom prst="rect">
            <a:avLst/>
          </a:prstGeom>
          <a:noFill/>
        </p:spPr>
        <p:txBody>
          <a:bodyPr wrap="none" rtlCol="0">
            <a:spAutoFit/>
          </a:bodyPr>
          <a:lstStyle/>
          <a:p>
            <a:r>
              <a:rPr lang="en-US" dirty="0" smtClean="0"/>
              <a:t>12</a:t>
            </a:r>
            <a:endParaRPr lang="en-US" dirty="0"/>
          </a:p>
        </p:txBody>
      </p:sp>
      <p:sp>
        <p:nvSpPr>
          <p:cNvPr id="10" name="TextBox 9"/>
          <p:cNvSpPr txBox="1"/>
          <p:nvPr/>
        </p:nvSpPr>
        <p:spPr>
          <a:xfrm>
            <a:off x="2271548" y="4516149"/>
            <a:ext cx="800100" cy="369332"/>
          </a:xfrm>
          <a:prstGeom prst="rect">
            <a:avLst/>
          </a:prstGeom>
          <a:noFill/>
        </p:spPr>
        <p:txBody>
          <a:bodyPr wrap="square" rtlCol="0">
            <a:spAutoFit/>
          </a:bodyPr>
          <a:lstStyle/>
          <a:p>
            <a:r>
              <a:rPr lang="en-US" dirty="0" smtClean="0"/>
              <a:t>+</a:t>
            </a:r>
            <a:endParaRPr lang="en-US" dirty="0"/>
          </a:p>
        </p:txBody>
      </p:sp>
      <p:sp>
        <p:nvSpPr>
          <p:cNvPr id="21" name="TextBox 20"/>
          <p:cNvSpPr txBox="1"/>
          <p:nvPr/>
        </p:nvSpPr>
        <p:spPr>
          <a:xfrm>
            <a:off x="6705600" y="4096247"/>
            <a:ext cx="361950" cy="369332"/>
          </a:xfrm>
          <a:prstGeom prst="rect">
            <a:avLst/>
          </a:prstGeom>
          <a:noFill/>
        </p:spPr>
        <p:txBody>
          <a:bodyPr wrap="square" rtlCol="0">
            <a:spAutoFit/>
          </a:bodyPr>
          <a:lstStyle/>
          <a:p>
            <a:r>
              <a:rPr lang="en-US" dirty="0" smtClean="0"/>
              <a:t>+</a:t>
            </a:r>
            <a:endParaRPr lang="en-US" dirty="0"/>
          </a:p>
        </p:txBody>
      </p:sp>
      <p:sp>
        <p:nvSpPr>
          <p:cNvPr id="27" name="TextBox 26"/>
          <p:cNvSpPr txBox="1"/>
          <p:nvPr/>
        </p:nvSpPr>
        <p:spPr>
          <a:xfrm>
            <a:off x="8434550" y="5303654"/>
            <a:ext cx="262758" cy="369332"/>
          </a:xfrm>
          <a:prstGeom prst="rect">
            <a:avLst/>
          </a:prstGeom>
          <a:noFill/>
        </p:spPr>
        <p:txBody>
          <a:bodyPr wrap="square" rtlCol="0">
            <a:spAutoFit/>
          </a:bodyPr>
          <a:lstStyle/>
          <a:p>
            <a:r>
              <a:rPr lang="en-US" dirty="0" smtClean="0"/>
              <a:t>+</a:t>
            </a:r>
            <a:endParaRPr lang="en-US" dirty="0"/>
          </a:p>
        </p:txBody>
      </p:sp>
      <p:sp>
        <p:nvSpPr>
          <p:cNvPr id="28" name="TextBox 27"/>
          <p:cNvSpPr txBox="1"/>
          <p:nvPr/>
        </p:nvSpPr>
        <p:spPr>
          <a:xfrm>
            <a:off x="3071648" y="5672986"/>
            <a:ext cx="443077" cy="369332"/>
          </a:xfrm>
          <a:prstGeom prst="rect">
            <a:avLst/>
          </a:prstGeom>
          <a:noFill/>
        </p:spPr>
        <p:txBody>
          <a:bodyPr wrap="square" rtlCol="0">
            <a:spAutoFit/>
          </a:bodyPr>
          <a:lstStyle/>
          <a:p>
            <a:r>
              <a:rPr lang="en-US" dirty="0" smtClean="0"/>
              <a:t>+</a:t>
            </a:r>
            <a:endParaRPr lang="en-US" dirty="0"/>
          </a:p>
        </p:txBody>
      </p:sp>
      <p:sp>
        <p:nvSpPr>
          <p:cNvPr id="29" name="TextBox 28"/>
          <p:cNvSpPr txBox="1"/>
          <p:nvPr/>
        </p:nvSpPr>
        <p:spPr>
          <a:xfrm>
            <a:off x="7486650" y="6042318"/>
            <a:ext cx="418443" cy="369332"/>
          </a:xfrm>
          <a:prstGeom prst="rect">
            <a:avLst/>
          </a:prstGeom>
          <a:noFill/>
        </p:spPr>
        <p:txBody>
          <a:bodyPr wrap="square" rtlCol="0">
            <a:spAutoFit/>
          </a:bodyPr>
          <a:lstStyle/>
          <a:p>
            <a:r>
              <a:rPr lang="en-US" dirty="0" smtClean="0"/>
              <a:t>+</a:t>
            </a:r>
            <a:endParaRPr lang="en-US" dirty="0"/>
          </a:p>
        </p:txBody>
      </p:sp>
      <p:sp>
        <p:nvSpPr>
          <p:cNvPr id="30" name="TextBox 29"/>
          <p:cNvSpPr txBox="1"/>
          <p:nvPr/>
        </p:nvSpPr>
        <p:spPr>
          <a:xfrm>
            <a:off x="4698124" y="4934322"/>
            <a:ext cx="585951" cy="369332"/>
          </a:xfrm>
          <a:prstGeom prst="rect">
            <a:avLst/>
          </a:prstGeom>
          <a:noFill/>
        </p:spPr>
        <p:txBody>
          <a:bodyPr wrap="square" rtlCol="0">
            <a:spAutoFit/>
          </a:bodyPr>
          <a:lstStyle/>
          <a:p>
            <a:r>
              <a:rPr lang="en-US" dirty="0" smtClean="0"/>
              <a:t>+</a:t>
            </a:r>
            <a:endParaRPr lang="en-US" dirty="0"/>
          </a:p>
        </p:txBody>
      </p:sp>
      <p:sp>
        <p:nvSpPr>
          <p:cNvPr id="31" name="TextBox 30"/>
          <p:cNvSpPr txBox="1"/>
          <p:nvPr/>
        </p:nvSpPr>
        <p:spPr>
          <a:xfrm>
            <a:off x="10963275" y="5672986"/>
            <a:ext cx="516252" cy="369332"/>
          </a:xfrm>
          <a:prstGeom prst="rect">
            <a:avLst/>
          </a:prstGeom>
          <a:noFill/>
        </p:spPr>
        <p:txBody>
          <a:bodyPr wrap="square" rtlCol="0">
            <a:spAutoFit/>
          </a:bodyPr>
          <a:lstStyle/>
          <a:p>
            <a:r>
              <a:rPr lang="en-US" dirty="0" smtClean="0"/>
              <a:t>+</a:t>
            </a:r>
            <a:endParaRPr lang="en-US" dirty="0"/>
          </a:p>
        </p:txBody>
      </p:sp>
      <p:sp>
        <p:nvSpPr>
          <p:cNvPr id="32" name="TextBox 31"/>
          <p:cNvSpPr txBox="1"/>
          <p:nvPr/>
        </p:nvSpPr>
        <p:spPr>
          <a:xfrm>
            <a:off x="3245561" y="4439961"/>
            <a:ext cx="538327" cy="584775"/>
          </a:xfrm>
          <a:prstGeom prst="rect">
            <a:avLst/>
          </a:prstGeom>
          <a:noFill/>
        </p:spPr>
        <p:txBody>
          <a:bodyPr wrap="square" rtlCol="0">
            <a:spAutoFit/>
          </a:bodyPr>
          <a:lstStyle/>
          <a:p>
            <a:r>
              <a:rPr lang="en-US" sz="3200" b="1" dirty="0" smtClean="0"/>
              <a:t>-</a:t>
            </a:r>
            <a:endParaRPr lang="en-US" sz="3200" b="1" dirty="0"/>
          </a:p>
        </p:txBody>
      </p:sp>
    </p:spTree>
    <p:extLst>
      <p:ext uri="{BB962C8B-B14F-4D97-AF65-F5344CB8AC3E}">
        <p14:creationId xmlns:p14="http://schemas.microsoft.com/office/powerpoint/2010/main" val="1234680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1957410"/>
          </a:xfrm>
        </p:spPr>
        <p:txBody>
          <a:bodyPr>
            <a:normAutofit fontScale="90000"/>
          </a:bodyPr>
          <a:lstStyle/>
          <a:p>
            <a:r>
              <a:rPr lang="en-US" sz="2000" b="1" dirty="0" smtClean="0">
                <a:solidFill>
                  <a:srgbClr val="C00000"/>
                </a:solidFill>
              </a:rPr>
              <a:t>For each Positive  clone</a:t>
            </a:r>
            <a:r>
              <a:rPr lang="en-US" sz="2000" b="1" dirty="0" smtClean="0">
                <a:solidFill>
                  <a:prstClr val="black"/>
                </a:solidFill>
              </a:rPr>
              <a:t>. </a:t>
            </a:r>
            <a:r>
              <a:rPr lang="en-US" sz="2000" b="1" dirty="0">
                <a:solidFill>
                  <a:prstClr val="black"/>
                </a:solidFill>
              </a:rPr>
              <a:t>Count </a:t>
            </a:r>
            <a:r>
              <a:rPr lang="en-US" sz="2000" b="1" dirty="0" smtClean="0">
                <a:solidFill>
                  <a:prstClr val="black"/>
                </a:solidFill>
              </a:rPr>
              <a:t>the cells</a:t>
            </a:r>
            <a:r>
              <a:rPr lang="en-US" sz="2000" b="1" dirty="0">
                <a:solidFill>
                  <a:prstClr val="black"/>
                </a:solidFill>
              </a:rPr>
              <a:t/>
            </a:r>
            <a:br>
              <a:rPr lang="en-US" sz="2000" b="1" dirty="0">
                <a:solidFill>
                  <a:prstClr val="black"/>
                </a:solidFill>
              </a:rPr>
            </a:br>
            <a:r>
              <a:rPr lang="en-US" sz="2000" b="1" dirty="0">
                <a:solidFill>
                  <a:prstClr val="black"/>
                </a:solidFill>
              </a:rPr>
              <a:t>Make dilution to 2000 cell/ml= diluted </a:t>
            </a:r>
            <a:r>
              <a:rPr lang="en-US" sz="2000" b="1" dirty="0" smtClean="0">
                <a:solidFill>
                  <a:prstClr val="black"/>
                </a:solidFill>
              </a:rPr>
              <a:t>positive clone </a:t>
            </a:r>
            <a:r>
              <a:rPr lang="en-US" sz="2000" b="1" dirty="0">
                <a:solidFill>
                  <a:prstClr val="black"/>
                </a:solidFill>
              </a:rPr>
              <a:t/>
            </a:r>
            <a:br>
              <a:rPr lang="en-US" sz="2000" b="1" dirty="0">
                <a:solidFill>
                  <a:prstClr val="black"/>
                </a:solidFill>
              </a:rPr>
            </a:br>
            <a:r>
              <a:rPr lang="en-US" sz="2000" b="1" dirty="0">
                <a:solidFill>
                  <a:prstClr val="black"/>
                </a:solidFill>
              </a:rPr>
              <a:t>Add 100 </a:t>
            </a:r>
            <a:r>
              <a:rPr lang="en-US" sz="2000" b="1" dirty="0" err="1">
                <a:solidFill>
                  <a:prstClr val="black"/>
                </a:solidFill>
              </a:rPr>
              <a:t>uL</a:t>
            </a:r>
            <a:r>
              <a:rPr lang="en-US" sz="2000" b="1" dirty="0">
                <a:solidFill>
                  <a:prstClr val="black"/>
                </a:solidFill>
              </a:rPr>
              <a:t> media to each well</a:t>
            </a:r>
            <a:br>
              <a:rPr lang="en-US" sz="2000" b="1" dirty="0">
                <a:solidFill>
                  <a:prstClr val="black"/>
                </a:solidFill>
              </a:rPr>
            </a:br>
            <a:r>
              <a:rPr lang="en-US" sz="2000" b="1" dirty="0" err="1">
                <a:solidFill>
                  <a:prstClr val="black"/>
                </a:solidFill>
              </a:rPr>
              <a:t>Pipett</a:t>
            </a:r>
            <a:r>
              <a:rPr lang="en-US" sz="2000" b="1" dirty="0">
                <a:solidFill>
                  <a:prstClr val="black"/>
                </a:solidFill>
              </a:rPr>
              <a:t> 100 </a:t>
            </a:r>
            <a:r>
              <a:rPr lang="en-US" sz="2000" b="1" dirty="0" err="1">
                <a:solidFill>
                  <a:prstClr val="black"/>
                </a:solidFill>
              </a:rPr>
              <a:t>uL</a:t>
            </a:r>
            <a:r>
              <a:rPr lang="en-US" sz="2000" b="1" dirty="0">
                <a:solidFill>
                  <a:prstClr val="black"/>
                </a:solidFill>
              </a:rPr>
              <a:t> of </a:t>
            </a:r>
            <a:r>
              <a:rPr lang="en-US" sz="2000" b="1" dirty="0" smtClean="0">
                <a:solidFill>
                  <a:prstClr val="black"/>
                </a:solidFill>
              </a:rPr>
              <a:t>positive clone  </a:t>
            </a:r>
            <a:r>
              <a:rPr lang="en-US" sz="2000" b="1" dirty="0">
                <a:solidFill>
                  <a:prstClr val="black"/>
                </a:solidFill>
              </a:rPr>
              <a:t>to A1 well then serial  </a:t>
            </a:r>
            <a:r>
              <a:rPr lang="en-US" sz="2000" b="1" dirty="0" smtClean="0">
                <a:solidFill>
                  <a:prstClr val="black"/>
                </a:solidFill>
              </a:rPr>
              <a:t>dilution horizontally </a:t>
            </a:r>
            <a:r>
              <a:rPr lang="en-US" sz="2000" b="1" dirty="0">
                <a:solidFill>
                  <a:prstClr val="black"/>
                </a:solidFill>
              </a:rPr>
              <a:t>to A12</a:t>
            </a:r>
            <a:br>
              <a:rPr lang="en-US" sz="2000" b="1" dirty="0">
                <a:solidFill>
                  <a:prstClr val="black"/>
                </a:solidFill>
              </a:rPr>
            </a:br>
            <a:r>
              <a:rPr lang="en-US" sz="2000" b="1" dirty="0">
                <a:solidFill>
                  <a:prstClr val="black"/>
                </a:solidFill>
              </a:rPr>
              <a:t>Make serial dilution to each well starting from column A1 to H1, A2 to H2 </a:t>
            </a:r>
            <a:r>
              <a:rPr lang="en-US" sz="2000" b="1" dirty="0" err="1">
                <a:solidFill>
                  <a:prstClr val="black"/>
                </a:solidFill>
              </a:rPr>
              <a:t>itc</a:t>
            </a:r>
            <a:r>
              <a:rPr lang="en-US" sz="2000" b="1" dirty="0">
                <a:solidFill>
                  <a:prstClr val="black"/>
                </a:solidFill>
              </a:rPr>
              <a:t>……</a:t>
            </a:r>
            <a:br>
              <a:rPr lang="en-US" sz="2000" b="1" dirty="0">
                <a:solidFill>
                  <a:prstClr val="black"/>
                </a:solidFill>
              </a:rPr>
            </a:br>
            <a:r>
              <a:rPr lang="en-US" sz="2000" b="1" dirty="0">
                <a:solidFill>
                  <a:prstClr val="black"/>
                </a:solidFill>
              </a:rPr>
              <a:t>Let the cells grow </a:t>
            </a:r>
            <a:br>
              <a:rPr lang="en-US" sz="2000" b="1" dirty="0">
                <a:solidFill>
                  <a:prstClr val="black"/>
                </a:solidFill>
              </a:rPr>
            </a:br>
            <a:r>
              <a:rPr lang="en-US" sz="2000" b="1" dirty="0">
                <a:solidFill>
                  <a:prstClr val="black"/>
                </a:solidFill>
              </a:rPr>
              <a:t>ELISA screening</a:t>
            </a:r>
            <a:br>
              <a:rPr lang="en-US" sz="2000" b="1" dirty="0">
                <a:solidFill>
                  <a:prstClr val="black"/>
                </a:solidFill>
              </a:rPr>
            </a:br>
            <a:r>
              <a:rPr lang="en-US" sz="2000" b="1" dirty="0">
                <a:solidFill>
                  <a:prstClr val="black"/>
                </a:solidFill>
              </a:rPr>
              <a:t>Repeat the same dilution procedure for every positive clone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531991"/>
              </p:ext>
            </p:extLst>
          </p:nvPr>
        </p:nvGraphicFramePr>
        <p:xfrm>
          <a:off x="1185041" y="3408482"/>
          <a:ext cx="10515600" cy="2966720"/>
        </p:xfrm>
        <a:graphic>
          <a:graphicData uri="http://schemas.openxmlformats.org/drawingml/2006/table">
            <a:tbl>
              <a:tblPr firstRow="1" bandRow="1">
                <a:tableStyleId>{5C22544A-7EE6-4342-B048-85BDC9FD1C3A}</a:tableStyleId>
              </a:tblPr>
              <a:tblGrid>
                <a:gridCol w="876300"/>
                <a:gridCol w="876300"/>
                <a:gridCol w="876300"/>
                <a:gridCol w="876300"/>
                <a:gridCol w="876300"/>
                <a:gridCol w="876300"/>
                <a:gridCol w="876300"/>
                <a:gridCol w="876300"/>
                <a:gridCol w="876300"/>
                <a:gridCol w="876300"/>
                <a:gridCol w="876300"/>
                <a:gridCol w="876300"/>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r>
                        <a:rPr lang="en-US" dirty="0" smtClean="0"/>
                        <a:t>H1</a:t>
                      </a:r>
                      <a:endParaRPr lang="en-US" dirty="0"/>
                    </a:p>
                  </a:txBody>
                  <a:tcPr>
                    <a:noFill/>
                  </a:tcPr>
                </a:tc>
                <a:tc>
                  <a:txBody>
                    <a:bodyPr/>
                    <a:lstStyle/>
                    <a:p>
                      <a:endParaRPr lang="en-US"/>
                    </a:p>
                  </a:txBody>
                  <a:tcPr/>
                </a:tc>
                <a:tc>
                  <a:txBody>
                    <a:bodyPr/>
                    <a:lstStyle/>
                    <a:p>
                      <a:r>
                        <a:rPr lang="en-US" dirty="0" smtClean="0"/>
                        <a:t>H3</a:t>
                      </a:r>
                      <a:endParaRPr lang="en-US" dirty="0"/>
                    </a:p>
                  </a:txBody>
                  <a:tcPr>
                    <a:noFill/>
                  </a:tcPr>
                </a:tc>
                <a:tc>
                  <a:txBody>
                    <a:bodyPr/>
                    <a:lstStyle/>
                    <a:p>
                      <a:endParaRPr lang="en-US" dirty="0"/>
                    </a:p>
                  </a:txBody>
                  <a:tcPr/>
                </a:tc>
                <a:tc>
                  <a:txBody>
                    <a:bodyPr/>
                    <a:lstStyle/>
                    <a:p>
                      <a:endParaRPr lang="en-US"/>
                    </a:p>
                  </a:txBody>
                  <a:tcPr/>
                </a:tc>
                <a:tc>
                  <a:txBody>
                    <a:bodyPr/>
                    <a:lstStyle/>
                    <a:p>
                      <a:r>
                        <a:rPr lang="en-US" dirty="0" smtClean="0"/>
                        <a:t>H6</a:t>
                      </a:r>
                      <a:endParaRPr lang="en-US" dirty="0"/>
                    </a:p>
                  </a:txBody>
                  <a:tcPr>
                    <a:solidFill>
                      <a:schemeClr val="bg1"/>
                    </a:solidFill>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5" name="TextBox 4"/>
          <p:cNvSpPr txBox="1"/>
          <p:nvPr/>
        </p:nvSpPr>
        <p:spPr>
          <a:xfrm>
            <a:off x="1517431" y="2996584"/>
            <a:ext cx="515007" cy="369332"/>
          </a:xfrm>
          <a:prstGeom prst="rect">
            <a:avLst/>
          </a:prstGeom>
          <a:noFill/>
        </p:spPr>
        <p:txBody>
          <a:bodyPr wrap="square" rtlCol="0">
            <a:spAutoFit/>
          </a:bodyPr>
          <a:lstStyle/>
          <a:p>
            <a:r>
              <a:rPr lang="en-US" dirty="0" smtClean="0"/>
              <a:t>1</a:t>
            </a:r>
            <a:endParaRPr lang="en-US" dirty="0"/>
          </a:p>
        </p:txBody>
      </p:sp>
      <p:sp>
        <p:nvSpPr>
          <p:cNvPr id="6" name="TextBox 5"/>
          <p:cNvSpPr txBox="1"/>
          <p:nvPr/>
        </p:nvSpPr>
        <p:spPr>
          <a:xfrm>
            <a:off x="838200" y="3336604"/>
            <a:ext cx="420413" cy="369332"/>
          </a:xfrm>
          <a:prstGeom prst="rect">
            <a:avLst/>
          </a:prstGeom>
          <a:noFill/>
        </p:spPr>
        <p:txBody>
          <a:bodyPr wrap="square" rtlCol="0">
            <a:spAutoFit/>
          </a:bodyPr>
          <a:lstStyle/>
          <a:p>
            <a:r>
              <a:rPr lang="en-US" dirty="0" smtClean="0"/>
              <a:t>A</a:t>
            </a:r>
            <a:endParaRPr lang="en-US" dirty="0"/>
          </a:p>
        </p:txBody>
      </p:sp>
      <p:sp>
        <p:nvSpPr>
          <p:cNvPr id="7" name="TextBox 6"/>
          <p:cNvSpPr txBox="1"/>
          <p:nvPr/>
        </p:nvSpPr>
        <p:spPr>
          <a:xfrm>
            <a:off x="786962" y="3738817"/>
            <a:ext cx="504496" cy="369332"/>
          </a:xfrm>
          <a:prstGeom prst="rect">
            <a:avLst/>
          </a:prstGeom>
          <a:noFill/>
        </p:spPr>
        <p:txBody>
          <a:bodyPr wrap="square" rtlCol="0">
            <a:spAutoFit/>
          </a:bodyPr>
          <a:lstStyle/>
          <a:p>
            <a:r>
              <a:rPr lang="en-US" dirty="0" smtClean="0"/>
              <a:t>B</a:t>
            </a:r>
            <a:endParaRPr lang="en-US" dirty="0"/>
          </a:p>
        </p:txBody>
      </p:sp>
      <p:sp>
        <p:nvSpPr>
          <p:cNvPr id="8" name="TextBox 7"/>
          <p:cNvSpPr txBox="1"/>
          <p:nvPr/>
        </p:nvSpPr>
        <p:spPr>
          <a:xfrm>
            <a:off x="780394" y="4096247"/>
            <a:ext cx="420413" cy="369332"/>
          </a:xfrm>
          <a:prstGeom prst="rect">
            <a:avLst/>
          </a:prstGeom>
          <a:noFill/>
        </p:spPr>
        <p:txBody>
          <a:bodyPr wrap="square" rtlCol="0">
            <a:spAutoFit/>
          </a:bodyPr>
          <a:lstStyle/>
          <a:p>
            <a:r>
              <a:rPr lang="en-US" dirty="0" smtClean="0"/>
              <a:t>C</a:t>
            </a:r>
            <a:endParaRPr lang="en-US" dirty="0"/>
          </a:p>
        </p:txBody>
      </p:sp>
      <p:sp>
        <p:nvSpPr>
          <p:cNvPr id="9" name="TextBox 8"/>
          <p:cNvSpPr txBox="1"/>
          <p:nvPr/>
        </p:nvSpPr>
        <p:spPr>
          <a:xfrm>
            <a:off x="827689" y="4516149"/>
            <a:ext cx="420413" cy="369332"/>
          </a:xfrm>
          <a:prstGeom prst="rect">
            <a:avLst/>
          </a:prstGeom>
          <a:noFill/>
        </p:spPr>
        <p:txBody>
          <a:bodyPr wrap="square" rtlCol="0">
            <a:spAutoFit/>
          </a:bodyPr>
          <a:lstStyle/>
          <a:p>
            <a:r>
              <a:rPr lang="en-US" dirty="0" smtClean="0"/>
              <a:t>D</a:t>
            </a:r>
            <a:endParaRPr lang="en-US" dirty="0"/>
          </a:p>
        </p:txBody>
      </p:sp>
      <p:sp>
        <p:nvSpPr>
          <p:cNvPr id="11" name="TextBox 10"/>
          <p:cNvSpPr txBox="1"/>
          <p:nvPr/>
        </p:nvSpPr>
        <p:spPr>
          <a:xfrm>
            <a:off x="869731" y="4934322"/>
            <a:ext cx="493986" cy="369332"/>
          </a:xfrm>
          <a:prstGeom prst="rect">
            <a:avLst/>
          </a:prstGeom>
          <a:noFill/>
        </p:spPr>
        <p:txBody>
          <a:bodyPr wrap="square" rtlCol="0">
            <a:spAutoFit/>
          </a:bodyPr>
          <a:lstStyle/>
          <a:p>
            <a:r>
              <a:rPr lang="en-US" dirty="0" smtClean="0"/>
              <a:t>E</a:t>
            </a:r>
            <a:endParaRPr lang="en-US" dirty="0"/>
          </a:p>
        </p:txBody>
      </p:sp>
      <p:sp>
        <p:nvSpPr>
          <p:cNvPr id="12" name="TextBox 11"/>
          <p:cNvSpPr txBox="1"/>
          <p:nvPr/>
        </p:nvSpPr>
        <p:spPr>
          <a:xfrm>
            <a:off x="827689" y="5267363"/>
            <a:ext cx="536028" cy="369332"/>
          </a:xfrm>
          <a:prstGeom prst="rect">
            <a:avLst/>
          </a:prstGeom>
          <a:noFill/>
        </p:spPr>
        <p:txBody>
          <a:bodyPr wrap="square" rtlCol="0">
            <a:spAutoFit/>
          </a:bodyPr>
          <a:lstStyle/>
          <a:p>
            <a:r>
              <a:rPr lang="en-US" dirty="0" smtClean="0"/>
              <a:t>F</a:t>
            </a:r>
            <a:endParaRPr lang="en-US" dirty="0"/>
          </a:p>
        </p:txBody>
      </p:sp>
      <p:sp>
        <p:nvSpPr>
          <p:cNvPr id="13" name="TextBox 12"/>
          <p:cNvSpPr txBox="1"/>
          <p:nvPr/>
        </p:nvSpPr>
        <p:spPr>
          <a:xfrm>
            <a:off x="783020" y="5613642"/>
            <a:ext cx="609600" cy="369332"/>
          </a:xfrm>
          <a:prstGeom prst="rect">
            <a:avLst/>
          </a:prstGeom>
          <a:noFill/>
        </p:spPr>
        <p:txBody>
          <a:bodyPr wrap="square" rtlCol="0">
            <a:spAutoFit/>
          </a:bodyPr>
          <a:lstStyle/>
          <a:p>
            <a:r>
              <a:rPr lang="en-US" dirty="0" smtClean="0"/>
              <a:t>G</a:t>
            </a:r>
            <a:endParaRPr lang="en-US" dirty="0"/>
          </a:p>
        </p:txBody>
      </p:sp>
      <p:sp>
        <p:nvSpPr>
          <p:cNvPr id="14" name="TextBox 13"/>
          <p:cNvSpPr txBox="1"/>
          <p:nvPr/>
        </p:nvSpPr>
        <p:spPr>
          <a:xfrm>
            <a:off x="775138" y="6007394"/>
            <a:ext cx="451945" cy="369332"/>
          </a:xfrm>
          <a:prstGeom prst="rect">
            <a:avLst/>
          </a:prstGeom>
          <a:noFill/>
        </p:spPr>
        <p:txBody>
          <a:bodyPr wrap="square" rtlCol="0">
            <a:spAutoFit/>
          </a:bodyPr>
          <a:lstStyle/>
          <a:p>
            <a:r>
              <a:rPr lang="en-US" dirty="0" smtClean="0"/>
              <a:t>H</a:t>
            </a:r>
            <a:endParaRPr lang="en-US" dirty="0"/>
          </a:p>
        </p:txBody>
      </p:sp>
      <p:sp>
        <p:nvSpPr>
          <p:cNvPr id="15" name="TextBox 14"/>
          <p:cNvSpPr txBox="1"/>
          <p:nvPr/>
        </p:nvSpPr>
        <p:spPr>
          <a:xfrm>
            <a:off x="2271548" y="3124319"/>
            <a:ext cx="914400" cy="369332"/>
          </a:xfrm>
          <a:prstGeom prst="rect">
            <a:avLst/>
          </a:prstGeom>
          <a:noFill/>
        </p:spPr>
        <p:txBody>
          <a:bodyPr wrap="square" rtlCol="0">
            <a:spAutoFit/>
          </a:bodyPr>
          <a:lstStyle/>
          <a:p>
            <a:r>
              <a:rPr lang="en-US" dirty="0" smtClean="0"/>
              <a:t>2</a:t>
            </a:r>
            <a:endParaRPr lang="en-US" dirty="0"/>
          </a:p>
        </p:txBody>
      </p:sp>
      <p:sp>
        <p:nvSpPr>
          <p:cNvPr id="16" name="TextBox 15"/>
          <p:cNvSpPr txBox="1"/>
          <p:nvPr/>
        </p:nvSpPr>
        <p:spPr>
          <a:xfrm>
            <a:off x="3124200" y="3081735"/>
            <a:ext cx="641131" cy="369332"/>
          </a:xfrm>
          <a:prstGeom prst="rect">
            <a:avLst/>
          </a:prstGeom>
          <a:noFill/>
        </p:spPr>
        <p:txBody>
          <a:bodyPr wrap="square" rtlCol="0">
            <a:spAutoFit/>
          </a:bodyPr>
          <a:lstStyle/>
          <a:p>
            <a:r>
              <a:rPr lang="en-US" dirty="0" smtClean="0"/>
              <a:t>3</a:t>
            </a:r>
            <a:endParaRPr lang="en-US" dirty="0"/>
          </a:p>
        </p:txBody>
      </p:sp>
      <p:sp>
        <p:nvSpPr>
          <p:cNvPr id="17" name="TextBox 16"/>
          <p:cNvSpPr txBox="1"/>
          <p:nvPr/>
        </p:nvSpPr>
        <p:spPr>
          <a:xfrm>
            <a:off x="4130565" y="2993235"/>
            <a:ext cx="567559" cy="369332"/>
          </a:xfrm>
          <a:prstGeom prst="rect">
            <a:avLst/>
          </a:prstGeom>
          <a:noFill/>
        </p:spPr>
        <p:txBody>
          <a:bodyPr wrap="square" rtlCol="0">
            <a:spAutoFit/>
          </a:bodyPr>
          <a:lstStyle/>
          <a:p>
            <a:r>
              <a:rPr lang="en-US" dirty="0" smtClean="0"/>
              <a:t>4</a:t>
            </a:r>
            <a:endParaRPr lang="en-US" dirty="0"/>
          </a:p>
        </p:txBody>
      </p:sp>
      <p:sp>
        <p:nvSpPr>
          <p:cNvPr id="18" name="TextBox 17"/>
          <p:cNvSpPr txBox="1"/>
          <p:nvPr/>
        </p:nvSpPr>
        <p:spPr>
          <a:xfrm>
            <a:off x="5000296" y="2993235"/>
            <a:ext cx="567558" cy="369332"/>
          </a:xfrm>
          <a:prstGeom prst="rect">
            <a:avLst/>
          </a:prstGeom>
          <a:noFill/>
        </p:spPr>
        <p:txBody>
          <a:bodyPr wrap="square" rtlCol="0">
            <a:spAutoFit/>
          </a:bodyPr>
          <a:lstStyle/>
          <a:p>
            <a:r>
              <a:rPr lang="en-US" dirty="0" smtClean="0"/>
              <a:t>5</a:t>
            </a:r>
            <a:endParaRPr lang="en-US" dirty="0"/>
          </a:p>
        </p:txBody>
      </p:sp>
      <p:sp>
        <p:nvSpPr>
          <p:cNvPr id="19" name="TextBox 18"/>
          <p:cNvSpPr txBox="1"/>
          <p:nvPr/>
        </p:nvSpPr>
        <p:spPr>
          <a:xfrm>
            <a:off x="5984327" y="3017867"/>
            <a:ext cx="493986" cy="369332"/>
          </a:xfrm>
          <a:prstGeom prst="rect">
            <a:avLst/>
          </a:prstGeom>
          <a:noFill/>
        </p:spPr>
        <p:txBody>
          <a:bodyPr wrap="square" rtlCol="0">
            <a:spAutoFit/>
          </a:bodyPr>
          <a:lstStyle/>
          <a:p>
            <a:r>
              <a:rPr lang="en-US" dirty="0" smtClean="0"/>
              <a:t>6</a:t>
            </a:r>
            <a:endParaRPr lang="en-US" dirty="0"/>
          </a:p>
        </p:txBody>
      </p:sp>
      <p:sp>
        <p:nvSpPr>
          <p:cNvPr id="20" name="TextBox 19"/>
          <p:cNvSpPr txBox="1"/>
          <p:nvPr/>
        </p:nvSpPr>
        <p:spPr>
          <a:xfrm>
            <a:off x="6705600" y="2993235"/>
            <a:ext cx="536028" cy="369332"/>
          </a:xfrm>
          <a:prstGeom prst="rect">
            <a:avLst/>
          </a:prstGeom>
          <a:noFill/>
        </p:spPr>
        <p:txBody>
          <a:bodyPr wrap="square" rtlCol="0">
            <a:spAutoFit/>
          </a:bodyPr>
          <a:lstStyle/>
          <a:p>
            <a:r>
              <a:rPr lang="en-US" dirty="0" smtClean="0"/>
              <a:t>7</a:t>
            </a:r>
            <a:endParaRPr lang="en-US" dirty="0"/>
          </a:p>
        </p:txBody>
      </p:sp>
      <p:sp>
        <p:nvSpPr>
          <p:cNvPr id="22" name="TextBox 21"/>
          <p:cNvSpPr txBox="1"/>
          <p:nvPr/>
        </p:nvSpPr>
        <p:spPr>
          <a:xfrm>
            <a:off x="7616059" y="3011610"/>
            <a:ext cx="578068" cy="369332"/>
          </a:xfrm>
          <a:prstGeom prst="rect">
            <a:avLst/>
          </a:prstGeom>
          <a:noFill/>
        </p:spPr>
        <p:txBody>
          <a:bodyPr wrap="square" rtlCol="0">
            <a:spAutoFit/>
          </a:bodyPr>
          <a:lstStyle/>
          <a:p>
            <a:r>
              <a:rPr lang="en-US" dirty="0" smtClean="0"/>
              <a:t>8</a:t>
            </a:r>
            <a:endParaRPr lang="en-US" dirty="0"/>
          </a:p>
        </p:txBody>
      </p:sp>
      <p:sp>
        <p:nvSpPr>
          <p:cNvPr id="23" name="TextBox 22"/>
          <p:cNvSpPr txBox="1"/>
          <p:nvPr/>
        </p:nvSpPr>
        <p:spPr>
          <a:xfrm>
            <a:off x="8434550" y="2941467"/>
            <a:ext cx="525517" cy="369332"/>
          </a:xfrm>
          <a:prstGeom prst="rect">
            <a:avLst/>
          </a:prstGeom>
          <a:noFill/>
        </p:spPr>
        <p:txBody>
          <a:bodyPr wrap="square" rtlCol="0">
            <a:spAutoFit/>
          </a:bodyPr>
          <a:lstStyle/>
          <a:p>
            <a:r>
              <a:rPr lang="en-US" dirty="0" smtClean="0"/>
              <a:t>9</a:t>
            </a:r>
            <a:endParaRPr lang="en-US" dirty="0"/>
          </a:p>
        </p:txBody>
      </p:sp>
      <p:sp>
        <p:nvSpPr>
          <p:cNvPr id="24" name="TextBox 23"/>
          <p:cNvSpPr txBox="1"/>
          <p:nvPr/>
        </p:nvSpPr>
        <p:spPr>
          <a:xfrm>
            <a:off x="9200490" y="2990309"/>
            <a:ext cx="557049" cy="369332"/>
          </a:xfrm>
          <a:prstGeom prst="rect">
            <a:avLst/>
          </a:prstGeom>
          <a:noFill/>
        </p:spPr>
        <p:txBody>
          <a:bodyPr wrap="square" rtlCol="0">
            <a:spAutoFit/>
          </a:bodyPr>
          <a:lstStyle/>
          <a:p>
            <a:r>
              <a:rPr lang="en-US" dirty="0" smtClean="0"/>
              <a:t>10</a:t>
            </a:r>
            <a:endParaRPr lang="en-US" dirty="0"/>
          </a:p>
        </p:txBody>
      </p:sp>
      <p:sp>
        <p:nvSpPr>
          <p:cNvPr id="25" name="TextBox 24"/>
          <p:cNvSpPr txBox="1"/>
          <p:nvPr/>
        </p:nvSpPr>
        <p:spPr>
          <a:xfrm>
            <a:off x="10167443" y="2946438"/>
            <a:ext cx="472966" cy="369332"/>
          </a:xfrm>
          <a:prstGeom prst="rect">
            <a:avLst/>
          </a:prstGeom>
          <a:noFill/>
        </p:spPr>
        <p:txBody>
          <a:bodyPr wrap="square" rtlCol="0">
            <a:spAutoFit/>
          </a:bodyPr>
          <a:lstStyle/>
          <a:p>
            <a:r>
              <a:rPr lang="en-US" dirty="0" smtClean="0"/>
              <a:t>11</a:t>
            </a:r>
            <a:endParaRPr lang="en-US" dirty="0"/>
          </a:p>
        </p:txBody>
      </p:sp>
      <p:sp>
        <p:nvSpPr>
          <p:cNvPr id="26" name="TextBox 25"/>
          <p:cNvSpPr txBox="1"/>
          <p:nvPr/>
        </p:nvSpPr>
        <p:spPr>
          <a:xfrm>
            <a:off x="11060823" y="2924875"/>
            <a:ext cx="418704" cy="369332"/>
          </a:xfrm>
          <a:prstGeom prst="rect">
            <a:avLst/>
          </a:prstGeom>
          <a:noFill/>
        </p:spPr>
        <p:txBody>
          <a:bodyPr wrap="none" rtlCol="0">
            <a:spAutoFit/>
          </a:bodyPr>
          <a:lstStyle/>
          <a:p>
            <a:r>
              <a:rPr lang="en-US" dirty="0" smtClean="0"/>
              <a:t>12</a:t>
            </a:r>
            <a:endParaRPr lang="en-US" dirty="0"/>
          </a:p>
        </p:txBody>
      </p:sp>
      <p:sp>
        <p:nvSpPr>
          <p:cNvPr id="10" name="TextBox 9"/>
          <p:cNvSpPr txBox="1"/>
          <p:nvPr/>
        </p:nvSpPr>
        <p:spPr>
          <a:xfrm>
            <a:off x="7486650" y="3738817"/>
            <a:ext cx="418443" cy="369332"/>
          </a:xfrm>
          <a:prstGeom prst="rect">
            <a:avLst/>
          </a:prstGeom>
          <a:noFill/>
        </p:spPr>
        <p:txBody>
          <a:bodyPr wrap="square" rtlCol="0">
            <a:spAutoFit/>
          </a:bodyPr>
          <a:lstStyle/>
          <a:p>
            <a:r>
              <a:rPr lang="en-US" dirty="0" smtClean="0"/>
              <a:t>+</a:t>
            </a:r>
            <a:endParaRPr lang="en-US" dirty="0"/>
          </a:p>
        </p:txBody>
      </p:sp>
      <p:sp>
        <p:nvSpPr>
          <p:cNvPr id="21" name="TextBox 20"/>
          <p:cNvSpPr txBox="1"/>
          <p:nvPr/>
        </p:nvSpPr>
        <p:spPr>
          <a:xfrm>
            <a:off x="10934700" y="6007394"/>
            <a:ext cx="419100" cy="369332"/>
          </a:xfrm>
          <a:prstGeom prst="rect">
            <a:avLst/>
          </a:prstGeom>
          <a:noFill/>
        </p:spPr>
        <p:txBody>
          <a:bodyPr wrap="square" rtlCol="0">
            <a:spAutoFit/>
          </a:bodyPr>
          <a:lstStyle/>
          <a:p>
            <a:r>
              <a:rPr lang="en-US" dirty="0" smtClean="0"/>
              <a:t>+</a:t>
            </a:r>
            <a:endParaRPr lang="en-US" dirty="0"/>
          </a:p>
        </p:txBody>
      </p:sp>
      <p:sp>
        <p:nvSpPr>
          <p:cNvPr id="27" name="TextBox 26"/>
          <p:cNvSpPr txBox="1"/>
          <p:nvPr/>
        </p:nvSpPr>
        <p:spPr>
          <a:xfrm>
            <a:off x="10109639" y="6007442"/>
            <a:ext cx="620109" cy="369332"/>
          </a:xfrm>
          <a:prstGeom prst="rect">
            <a:avLst/>
          </a:prstGeom>
          <a:noFill/>
        </p:spPr>
        <p:txBody>
          <a:bodyPr wrap="square" rtlCol="0">
            <a:spAutoFit/>
          </a:bodyPr>
          <a:lstStyle/>
          <a:p>
            <a:r>
              <a:rPr lang="en-US" dirty="0" smtClean="0"/>
              <a:t>+</a:t>
            </a:r>
            <a:endParaRPr lang="en-US" dirty="0"/>
          </a:p>
        </p:txBody>
      </p:sp>
      <p:sp>
        <p:nvSpPr>
          <p:cNvPr id="28" name="TextBox 27"/>
          <p:cNvSpPr txBox="1"/>
          <p:nvPr/>
        </p:nvSpPr>
        <p:spPr>
          <a:xfrm>
            <a:off x="9200490" y="6079103"/>
            <a:ext cx="557049" cy="369332"/>
          </a:xfrm>
          <a:prstGeom prst="rect">
            <a:avLst/>
          </a:prstGeom>
          <a:noFill/>
        </p:spPr>
        <p:txBody>
          <a:bodyPr wrap="square" rtlCol="0">
            <a:spAutoFit/>
          </a:bodyPr>
          <a:lstStyle/>
          <a:p>
            <a:r>
              <a:rPr lang="en-US" dirty="0" smtClean="0"/>
              <a:t>+</a:t>
            </a:r>
            <a:endParaRPr lang="en-US" dirty="0"/>
          </a:p>
        </p:txBody>
      </p:sp>
      <p:sp>
        <p:nvSpPr>
          <p:cNvPr id="30" name="TextBox 29"/>
          <p:cNvSpPr txBox="1"/>
          <p:nvPr/>
        </p:nvSpPr>
        <p:spPr>
          <a:xfrm>
            <a:off x="8324850" y="6079103"/>
            <a:ext cx="476250" cy="369332"/>
          </a:xfrm>
          <a:prstGeom prst="rect">
            <a:avLst/>
          </a:prstGeom>
          <a:noFill/>
        </p:spPr>
        <p:txBody>
          <a:bodyPr wrap="square" rtlCol="0">
            <a:spAutoFit/>
          </a:bodyPr>
          <a:lstStyle/>
          <a:p>
            <a:r>
              <a:rPr lang="en-US" dirty="0" smtClean="0"/>
              <a:t>-</a:t>
            </a:r>
            <a:endParaRPr lang="en-US" dirty="0"/>
          </a:p>
        </p:txBody>
      </p:sp>
      <p:sp>
        <p:nvSpPr>
          <p:cNvPr id="31" name="TextBox 30"/>
          <p:cNvSpPr txBox="1"/>
          <p:nvPr/>
        </p:nvSpPr>
        <p:spPr>
          <a:xfrm>
            <a:off x="6581775" y="6023986"/>
            <a:ext cx="391839" cy="369332"/>
          </a:xfrm>
          <a:prstGeom prst="rect">
            <a:avLst/>
          </a:prstGeom>
          <a:noFill/>
        </p:spPr>
        <p:txBody>
          <a:bodyPr wrap="square" rtlCol="0">
            <a:spAutoFit/>
          </a:bodyPr>
          <a:lstStyle/>
          <a:p>
            <a:r>
              <a:rPr lang="en-US" dirty="0" smtClean="0"/>
              <a:t>+</a:t>
            </a:r>
            <a:endParaRPr lang="en-US" dirty="0"/>
          </a:p>
        </p:txBody>
      </p:sp>
      <p:sp>
        <p:nvSpPr>
          <p:cNvPr id="32" name="TextBox 31"/>
          <p:cNvSpPr txBox="1"/>
          <p:nvPr/>
        </p:nvSpPr>
        <p:spPr>
          <a:xfrm>
            <a:off x="3952875" y="6042361"/>
            <a:ext cx="461469" cy="369332"/>
          </a:xfrm>
          <a:prstGeom prst="rect">
            <a:avLst/>
          </a:prstGeom>
          <a:noFill/>
        </p:spPr>
        <p:txBody>
          <a:bodyPr wrap="square" rtlCol="0">
            <a:spAutoFit/>
          </a:bodyPr>
          <a:lstStyle/>
          <a:p>
            <a:r>
              <a:rPr lang="en-US" dirty="0" smtClean="0"/>
              <a:t>+</a:t>
            </a:r>
            <a:endParaRPr lang="en-US" dirty="0"/>
          </a:p>
        </p:txBody>
      </p:sp>
    </p:spTree>
    <p:extLst>
      <p:ext uri="{BB962C8B-B14F-4D97-AF65-F5344CB8AC3E}">
        <p14:creationId xmlns:p14="http://schemas.microsoft.com/office/powerpoint/2010/main" val="328467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198136" y="1825625"/>
            <a:ext cx="5795727" cy="4351338"/>
          </a:xfrm>
          <a:prstGeom prst="rect">
            <a:avLst/>
          </a:prstGeom>
        </p:spPr>
      </p:pic>
    </p:spTree>
    <p:extLst>
      <p:ext uri="{BB962C8B-B14F-4D97-AF65-F5344CB8AC3E}">
        <p14:creationId xmlns:p14="http://schemas.microsoft.com/office/powerpoint/2010/main" val="3610191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Alternative dilution procedure</a:t>
            </a:r>
            <a:endParaRPr lang="en-US" b="1" dirty="0"/>
          </a:p>
        </p:txBody>
      </p:sp>
      <p:sp>
        <p:nvSpPr>
          <p:cNvPr id="3" name="Content Placeholder 2"/>
          <p:cNvSpPr>
            <a:spLocks noGrp="1"/>
          </p:cNvSpPr>
          <p:nvPr>
            <p:ph idx="1"/>
          </p:nvPr>
        </p:nvSpPr>
        <p:spPr/>
        <p:txBody>
          <a:bodyPr>
            <a:normAutofit lnSpcReduction="10000"/>
          </a:bodyPr>
          <a:lstStyle/>
          <a:p>
            <a:r>
              <a:rPr lang="en-US" dirty="0" smtClean="0"/>
              <a:t>Dilute the </a:t>
            </a:r>
            <a:r>
              <a:rPr lang="en-US" dirty="0" err="1" smtClean="0"/>
              <a:t>hybridoma</a:t>
            </a:r>
            <a:r>
              <a:rPr lang="en-US" dirty="0" smtClean="0"/>
              <a:t> cells to 2000 cells/ml</a:t>
            </a:r>
          </a:p>
          <a:p>
            <a:r>
              <a:rPr lang="en-US" dirty="0" smtClean="0"/>
              <a:t>100 µL of these + 3.9 ml of  </a:t>
            </a:r>
            <a:r>
              <a:rPr lang="en-US" dirty="0" err="1" smtClean="0"/>
              <a:t>thymocyte</a:t>
            </a:r>
            <a:r>
              <a:rPr lang="en-US" dirty="0" smtClean="0"/>
              <a:t> medium makes 4 ml </a:t>
            </a:r>
          </a:p>
          <a:p>
            <a:r>
              <a:rPr lang="en-US" dirty="0" smtClean="0"/>
              <a:t>Plate 24 wells (row A &amp; B) of 96-well plate  100 </a:t>
            </a:r>
            <a:r>
              <a:rPr lang="en-US" dirty="0"/>
              <a:t>µL </a:t>
            </a:r>
            <a:r>
              <a:rPr lang="en-US" dirty="0" smtClean="0"/>
              <a:t>each (5 cell/well)</a:t>
            </a:r>
          </a:p>
          <a:p>
            <a:r>
              <a:rPr lang="en-US" dirty="0" smtClean="0"/>
              <a:t>To the 1.6 ml remaining, add 2.4 ml </a:t>
            </a:r>
            <a:r>
              <a:rPr lang="en-US" dirty="0" err="1" smtClean="0"/>
              <a:t>thymocyte</a:t>
            </a:r>
            <a:r>
              <a:rPr lang="en-US" dirty="0" smtClean="0"/>
              <a:t> medium</a:t>
            </a:r>
          </a:p>
          <a:p>
            <a:r>
              <a:rPr lang="en-US" dirty="0" smtClean="0"/>
              <a:t>Plate 24 wells (row C &amp; D) of 96-well plate  </a:t>
            </a:r>
            <a:r>
              <a:rPr lang="en-US" dirty="0"/>
              <a:t>100 µL each </a:t>
            </a:r>
            <a:r>
              <a:rPr lang="en-US" dirty="0" smtClean="0"/>
              <a:t>( 2 cells/well)</a:t>
            </a:r>
          </a:p>
          <a:p>
            <a:r>
              <a:rPr lang="en-US" dirty="0" smtClean="0"/>
              <a:t>To the 1.6 ml remaining, add 1.6 ml </a:t>
            </a:r>
            <a:r>
              <a:rPr lang="en-US" dirty="0" err="1" smtClean="0"/>
              <a:t>thymocyte</a:t>
            </a:r>
            <a:r>
              <a:rPr lang="en-US" dirty="0" smtClean="0"/>
              <a:t> medium</a:t>
            </a:r>
          </a:p>
          <a:p>
            <a:r>
              <a:rPr lang="en-US" dirty="0" smtClean="0"/>
              <a:t>Plate 24 wells (row E &amp; F) of 96-well plate  100 </a:t>
            </a:r>
            <a:r>
              <a:rPr lang="en-US" dirty="0"/>
              <a:t>µL each </a:t>
            </a:r>
            <a:r>
              <a:rPr lang="en-US" dirty="0" smtClean="0"/>
              <a:t>( 1 cells/well)</a:t>
            </a:r>
          </a:p>
          <a:p>
            <a:r>
              <a:rPr lang="en-US" dirty="0" smtClean="0"/>
              <a:t>Expand the Mab-producing isolated </a:t>
            </a:r>
            <a:r>
              <a:rPr lang="en-US" dirty="0" err="1" smtClean="0"/>
              <a:t>hybridoma</a:t>
            </a:r>
            <a:r>
              <a:rPr lang="en-US" dirty="0" smtClean="0"/>
              <a:t> clones, freeze and propagate </a:t>
            </a:r>
          </a:p>
          <a:p>
            <a:pPr marL="0" indent="0">
              <a:buNone/>
            </a:pPr>
            <a:endParaRPr lang="en-US" dirty="0" smtClean="0"/>
          </a:p>
          <a:p>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297513" end="639520.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354720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484924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8" cstate="print">
            <a:extLst>
              <a:ext uri="{28A0092B-C50C-407E-A947-70E740481C1C}">
                <a14:useLocalDpi xmlns:a14="http://schemas.microsoft.com/office/drawing/2010/main" val="0"/>
              </a:ext>
            </a:extLst>
          </a:blip>
          <a:stretch>
            <a:fillRect/>
          </a:stretch>
        </p:blipFill>
        <p:spPr>
          <a:xfrm rot="5400000">
            <a:off x="1952324" y="-3107354"/>
            <a:ext cx="8460605" cy="12018744"/>
          </a:xfrm>
        </p:spPr>
      </p:pic>
      <p:pic>
        <p:nvPicPr>
          <p:cNvPr id="3"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442856" end="620582.4172"/>
                </p14:media>
              </p:ext>
            </p:extLst>
          </p:nvPr>
        </p:nvPicPr>
        <p:blipFill>
          <a:blip r:embed="rId9"/>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840131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THENA.CUSTOMXMLID" val="{374378F9-34B2-45C5-B5F2-3CE6741856EF}"/>
  <p:tag name="ATHENA.CUSTOMXMLCONTENT" val="&lt;?xml version=&quot;1.0&quot;?&gt;&lt;athena xmlns=&quot;http://schemas.microsoft.com/edu/athena&quot; version=&quot;0.1.3517.0&quot;&gt;&lt;timings duration=&quot;46135&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2BCE23D1-7866-4F85-95D2-DA072F0002B5}"/>
  <p:tag name="ATHENA.CUSTOMXMLCONTENT" val="&lt;?xml version=&quot;1.0&quot;?&gt;&lt;athena xmlns=&quot;http://schemas.microsoft.com/edu/athena&quot; version=&quot;0.1.3517.0&quot;&gt;&lt;media streamable=&quot;true&quot; recordStart=&quot;0&quot; recordEnd=&quot;46135&quot; recordLength=&quot;1082376&quot; audioOnly=&quot;true&quot; start=&quot;0&quot; end=&quot;46135&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3.xml><?xml version="1.0" encoding="utf-8"?>
<p:tagLst xmlns:a="http://schemas.openxmlformats.org/drawingml/2006/main" xmlns:r="http://schemas.openxmlformats.org/officeDocument/2006/relationships" xmlns:p="http://schemas.openxmlformats.org/presentationml/2006/main">
  <p:tag name="ATHENA.CUSTOMXMLID" val="{2DB7A781-56B6-40D7-8646-775A851C376D}"/>
  <p:tag name="ATHENA.CUSTOMXMLCONTENT" val="&lt;?xml version=&quot;1.0&quot;?&gt;&lt;athena xmlns=&quot;http://schemas.microsoft.com/edu/athena&quot; version=&quot;0.1.3517.0&quot;&gt;&lt;timings duration=&quot;95250&quot;/&gt;&lt;/athena&gt;"/>
</p:tagLst>
</file>

<file path=ppt/tags/tag4.xml><?xml version="1.0" encoding="utf-8"?>
<p:tagLst xmlns:a="http://schemas.openxmlformats.org/drawingml/2006/main" xmlns:r="http://schemas.openxmlformats.org/officeDocument/2006/relationships" xmlns:p="http://schemas.openxmlformats.org/presentationml/2006/main">
  <p:tag name="ATHENA.CUSTOMXMLID" val="{BFF65CF7-98F2-42C2-926A-07AEE599909B}"/>
  <p:tag name="ATHENA.CUSTOMXMLCONTENT" val="&lt;?xml version=&quot;1.0&quot;?&gt;&lt;athena xmlns=&quot;http://schemas.microsoft.com/edu/athena&quot; version=&quot;0.1.3517.0&quot;&gt;&lt;media streamable=&quot;true&quot; recordStart=&quot;46135&quot; recordEnd=&quot;141385&quot; recordLength=&quot;1082376&quot; audioOnly=&quot;true&quot; start=&quot;46135&quot; end=&quot;141385&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5.xml><?xml version="1.0" encoding="utf-8"?>
<p:tagLst xmlns:a="http://schemas.openxmlformats.org/drawingml/2006/main" xmlns:r="http://schemas.openxmlformats.org/officeDocument/2006/relationships" xmlns:p="http://schemas.openxmlformats.org/presentationml/2006/main">
  <p:tag name="ATHENA.CUSTOMXMLID" val="{2568AC8D-7B9E-4DB7-BD6D-B29566693520}"/>
  <p:tag name="ATHENA.CUSTOMXMLCONTENT" val="&lt;?xml version=&quot;1.0&quot;?&gt;&lt;athena xmlns=&quot;http://schemas.microsoft.com/edu/athena&quot; version=&quot;0.1.3517.0&quot;&gt;&lt;timings duration=&quot;72487&quot;/&gt;&lt;/athena&gt;"/>
</p:tagLst>
</file>

<file path=ppt/tags/tag6.xml><?xml version="1.0" encoding="utf-8"?>
<p:tagLst xmlns:a="http://schemas.openxmlformats.org/drawingml/2006/main" xmlns:r="http://schemas.openxmlformats.org/officeDocument/2006/relationships" xmlns:p="http://schemas.openxmlformats.org/presentationml/2006/main">
  <p:tag name="ATHENA.CUSTOMXMLID" val="{1F5F9E2A-D58E-41B8-9D6C-999DE312B088}"/>
  <p:tag name="ATHENA.CUSTOMXMLCONTENT" val="&lt;?xml version=&quot;1.0&quot;?&gt;&lt;athena xmlns=&quot;http://schemas.microsoft.com/edu/athena&quot; version=&quot;0.1.3517.0&quot;&gt;&lt;media streamable=&quot;true&quot; recordStart=&quot;141385&quot; recordEnd=&quot;213872&quot; recordLength=&quot;1082376&quot; audioOnly=&quot;true&quot; start=&quot;141385&quot; end=&quot;213872&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7.xml><?xml version="1.0" encoding="utf-8"?>
<p:tagLst xmlns:a="http://schemas.openxmlformats.org/drawingml/2006/main" xmlns:r="http://schemas.openxmlformats.org/officeDocument/2006/relationships" xmlns:p="http://schemas.openxmlformats.org/presentationml/2006/main">
  <p:tag name="ATHENA.CUSTOMXMLID" val="{12AA01EA-7794-4A92-AF01-2A00126890F9}"/>
  <p:tag name="ATHENA.CUSTOMXMLCONTENT" val="&lt;?xml version=&quot;1.0&quot;?&gt;&lt;athena xmlns=&quot;http://schemas.microsoft.com/edu/athena&quot; version=&quot;0.1.3517.0&quot;&gt;&lt;timings duration=&quot;83641&quot;/&gt;&lt;/athena&gt;"/>
</p:tagLst>
</file>

<file path=ppt/tags/tag8.xml><?xml version="1.0" encoding="utf-8"?>
<p:tagLst xmlns:a="http://schemas.openxmlformats.org/drawingml/2006/main" xmlns:r="http://schemas.openxmlformats.org/officeDocument/2006/relationships" xmlns:p="http://schemas.openxmlformats.org/presentationml/2006/main">
  <p:tag name="ATHENA.CUSTOMXMLID" val="{E2750EA8-438B-4B97-92AD-BF043C73DAA9}"/>
  <p:tag name="ATHENA.CUSTOMXMLCONTENT" val="&lt;?xml version=&quot;1.0&quot;?&gt;&lt;athena xmlns=&quot;http://schemas.microsoft.com/edu/athena&quot; version=&quot;0.1.3517.0&quot;&gt;&lt;media streamable=&quot;true&quot; recordStart=&quot;213872&quot; recordEnd=&quot;297513&quot; recordLength=&quot;1082376&quot; audioOnly=&quot;true&quot; start=&quot;213872&quot; end=&quot;297513&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9.xml><?xml version="1.0" encoding="utf-8"?>
<p:tagLst xmlns:a="http://schemas.openxmlformats.org/drawingml/2006/main" xmlns:r="http://schemas.openxmlformats.org/officeDocument/2006/relationships" xmlns:p="http://schemas.openxmlformats.org/presentationml/2006/main">
  <p:tag name="ATHENA.CUSTOMXMLID" val="{D48B1BF1-DA98-40DC-9534-5E5F107E3716}"/>
  <p:tag name="ATHENA.CUSTOMXMLCONTENT" val="&lt;?xml version=&quot;1.0&quot;?&gt;&lt;athena xmlns=&quot;http://schemas.microsoft.com/edu/athena&quot; version=&quot;0.1.3517.0&quot;&gt;&lt;timings duration=&quot;145343&quot;/&gt;&lt;/athena&gt;"/>
</p:tagLst>
</file>

<file path=ppt/tags/tag10.xml><?xml version="1.0" encoding="utf-8"?>
<p:tagLst xmlns:a="http://schemas.openxmlformats.org/drawingml/2006/main" xmlns:r="http://schemas.openxmlformats.org/officeDocument/2006/relationships" xmlns:p="http://schemas.openxmlformats.org/presentationml/2006/main">
  <p:tag name="ATHENA.CUSTOMXMLID" val="{4FD282EF-4FB3-43AB-8EBA-848D8D5278F6}"/>
  <p:tag name="ATHENA.CUSTOMXMLCONTENT" val="&lt;?xml version=&quot;1.0&quot;?&gt;&lt;athena xmlns=&quot;http://schemas.microsoft.com/edu/athena&quot; version=&quot;0.1.3517.0&quot;&gt;&lt;media streamable=&quot;true&quot; recordStart=&quot;297513&quot; recordEnd=&quot;442856&quot; recordLength=&quot;1082376&quot; audioOnly=&quot;true&quot; start=&quot;297513&quot; end=&quot;442856&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1.xml><?xml version="1.0" encoding="utf-8"?>
<p:tagLst xmlns:a="http://schemas.openxmlformats.org/drawingml/2006/main" xmlns:r="http://schemas.openxmlformats.org/officeDocument/2006/relationships" xmlns:p="http://schemas.openxmlformats.org/presentationml/2006/main">
  <p:tag name="ATHENA.CUSTOMXMLID" val="{E9A5462F-F211-4DDD-A97C-5268B177F42F}"/>
  <p:tag name="ATHENA.CUSTOMXMLCONTENT" val="&lt;?xml version=&quot;1.0&quot;?&gt;&lt;athena xmlns=&quot;http://schemas.microsoft.com/edu/athena&quot; version=&quot;0.1.3517.0&quot;&gt;&lt;timings duration=&quot;18938&quot;/&gt;&lt;/athena&gt;"/>
</p:tagLst>
</file>

<file path=ppt/tags/tag12.xml><?xml version="1.0" encoding="utf-8"?>
<p:tagLst xmlns:a="http://schemas.openxmlformats.org/drawingml/2006/main" xmlns:r="http://schemas.openxmlformats.org/officeDocument/2006/relationships" xmlns:p="http://schemas.openxmlformats.org/presentationml/2006/main">
  <p:tag name="ATHENA.CUSTOMXMLID" val="{4FF5EEF4-B536-4BF4-AC0C-64BB09A365C7}"/>
  <p:tag name="ATHENA.CUSTOMXMLCONTENT" val="&lt;?xml version=&quot;1.0&quot;?&gt;&lt;athena xmlns=&quot;http://schemas.microsoft.com/edu/athena&quot; version=&quot;0.1.3517.0&quot;&gt;&lt;media streamable=&quot;true&quot; recordStart=&quot;442856&quot; recordEnd=&quot;461794&quot; recordLength=&quot;1082376&quot; audioOnly=&quot;true&quot; start=&quot;442856&quot; end=&quot;461794&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xml version="1.0" encoding="utf-8"?>
<athena xmlns="http://schemas.microsoft.com/edu/athena" version="0.1.3517.0">
  <timings duration="145343"/>
</athena>
</file>

<file path=customXml/item2.xml><?xml version="1.0" encoding="utf-8"?>
<athena xmlns="http://schemas.microsoft.com/edu/athena" version="0.1.3517.0">
  <media streamable="true" recordStart="46135" recordEnd="141385" recordLength="1082376" audioOnly="true" start="46135" end="141385" audioFormat="{00001610-0000-0010-8000-00AA00389B71}" audioRate="44100" muted="false" volume="0.8" fadeIn="0" fadeOut="0" videoFormat="{34363248-0000-0010-8000-00AA00389B71}" videoRate="15" videoWidth="256" videoHeight="256"/>
</athena>
</file>

<file path=customXml/item3.xml><?xml version="1.0" encoding="utf-8"?>
<athena xmlns="http://schemas.microsoft.com/edu/athena" version="0.1.3517.0">
  <media streamable="true" recordStart="442856" recordEnd="461794" recordLength="1082376" audioOnly="true" start="442856" end="461794" audioFormat="{00001610-0000-0010-8000-00AA00389B71}" audioRate="44100" muted="false" volume="0.8" fadeIn="0" fadeOut="0" videoFormat="{34363248-0000-0010-8000-00AA00389B71}" videoRate="15" videoWidth="256" videoHeight="256"/>
</athena>
</file>

<file path=customXml/item4.xml><?xml version="1.0" encoding="utf-8"?>
<athena xmlns="http://schemas.microsoft.com/edu/athena" version="0.1.3517.0">
  <timings duration="18938"/>
</athena>
</file>

<file path=customXml/item5.xml><?xml version="1.0" encoding="utf-8"?>
<athena xmlns="http://schemas.microsoft.com/edu/athena" version="0.1.3517.0">
  <media streamable="true" recordStart="297513" recordEnd="442856" recordLength="1082376" audioOnly="true" start="297513" end="442856" audioFormat="{00001610-0000-0010-8000-00AA00389B71}" audioRate="44100" muted="false" volume="0.8" fadeIn="0" fadeOut="0" videoFormat="{34363248-0000-0010-8000-00AA00389B71}" videoRate="15" videoWidth="256" videoHeight="256"/>
</athena>
</file>

<file path=customXml/item6.xml><?xml version="1.0" encoding="utf-8"?>
<athena xmlns="http://schemas.microsoft.com/edu/athena" version="0.1.3517.0">
  <media streamable="true" recordStart="213872" recordEnd="297513" recordLength="1082376" audioOnly="true" start="213872" end="297513" audioFormat="{00001610-0000-0010-8000-00AA00389B71}" audioRate="44100" muted="false" volume="0.8" fadeIn="0" fadeOut="0" videoFormat="{34363248-0000-0010-8000-00AA00389B71}" videoRate="15" videoWidth="256" videoHeight="256"/>
</athena>
</file>

<file path=customXml/item7.xml><?xml version="1.0" encoding="utf-8"?>
<athena xmlns="http://schemas.microsoft.com/edu/athena" version="0.1.3517.0">
  <timings duration="46135"/>
</athena>
</file>

<file path=customXml/item8.xml><?xml version="1.0" encoding="utf-8"?>
<athena xmlns="http://schemas.microsoft.com/edu/athena" version="0.1.3517.0">
  <media streamable="true" recordStart="0" recordEnd="46135" recordLength="1082376" audioOnly="true" start="0" end="46135" audioFormat="{00001610-0000-0010-8000-00AA00389B71}" audioRate="44100" muted="false" volume="0.8" fadeIn="0" fadeOut="0" videoFormat="{34363248-0000-0010-8000-00AA00389B71}" videoRate="15" videoWidth="256" videoHeight="256"/>
</athena>
</file>

<file path=customXml/item9.xml><?xml version="1.0" encoding="utf-8"?>
<athena xmlns="http://schemas.microsoft.com/edu/athena" version="0.1.3517.0">
  <timings duration="83641"/>
</athena>
</file>

<file path=customXml/item10.xml><?xml version="1.0" encoding="utf-8"?>
<athena xmlns="http://schemas.microsoft.com/edu/athena" version="0.1.3517.0">
  <media streamable="true" recordStart="141385" recordEnd="213872" recordLength="1082376" audioOnly="true" start="141385" end="213872" audioFormat="{00001610-0000-0010-8000-00AA00389B71}" audioRate="44100" muted="false" volume="0.8" fadeIn="0" fadeOut="0" videoFormat="{34363248-0000-0010-8000-00AA00389B71}" videoRate="15" videoWidth="256" videoHeight="256"/>
</athena>
</file>

<file path=customXml/item11.xml><?xml version="1.0" encoding="utf-8"?>
<athena xmlns="http://schemas.microsoft.com/edu/athena" version="0.1.3517.0">
  <timings duration="72487"/>
</athena>
</file>

<file path=customXml/item12.xml><?xml version="1.0" encoding="utf-8"?>
<athena xmlns="http://schemas.microsoft.com/edu/athena" version="0.1.3517.0">
  <timings duration="95250"/>
</athena>
</file>

<file path=customXml/itemProps1.xml><?xml version="1.0" encoding="utf-8"?>
<ds:datastoreItem xmlns:ds="http://schemas.openxmlformats.org/officeDocument/2006/customXml" ds:itemID="{D48B1BF1-DA98-40DC-9534-5E5F107E3716}">
  <ds:schemaRefs>
    <ds:schemaRef ds:uri="http://schemas.microsoft.com/edu/athena"/>
  </ds:schemaRefs>
</ds:datastoreItem>
</file>

<file path=customXml/itemProps2.xml><?xml version="1.0" encoding="utf-8"?>
<ds:datastoreItem xmlns:ds="http://schemas.openxmlformats.org/officeDocument/2006/customXml" ds:itemID="{BFF65CF7-98F2-42C2-926A-07AEE599909B}">
  <ds:schemaRefs>
    <ds:schemaRef ds:uri="http://schemas.microsoft.com/edu/athena"/>
  </ds:schemaRefs>
</ds:datastoreItem>
</file>

<file path=customXml/itemProps3.xml><?xml version="1.0" encoding="utf-8"?>
<ds:datastoreItem xmlns:ds="http://schemas.openxmlformats.org/officeDocument/2006/customXml" ds:itemID="{4FF5EEF4-B536-4BF4-AC0C-64BB09A365C7}">
  <ds:schemaRefs>
    <ds:schemaRef ds:uri="http://schemas.microsoft.com/edu/athena"/>
  </ds:schemaRefs>
</ds:datastoreItem>
</file>

<file path=customXml/itemProps4.xml><?xml version="1.0" encoding="utf-8"?>
<ds:datastoreItem xmlns:ds="http://schemas.openxmlformats.org/officeDocument/2006/customXml" ds:itemID="{E9A5462F-F211-4DDD-A97C-5268B177F42F}">
  <ds:schemaRefs>
    <ds:schemaRef ds:uri="http://schemas.microsoft.com/edu/athena"/>
  </ds:schemaRefs>
</ds:datastoreItem>
</file>

<file path=customXml/itemProps5.xml><?xml version="1.0" encoding="utf-8"?>
<ds:datastoreItem xmlns:ds="http://schemas.openxmlformats.org/officeDocument/2006/customXml" ds:itemID="{4FD282EF-4FB3-43AB-8EBA-848D8D5278F6}">
  <ds:schemaRefs>
    <ds:schemaRef ds:uri="http://schemas.microsoft.com/edu/athena"/>
  </ds:schemaRefs>
</ds:datastoreItem>
</file>

<file path=customXml/itemProps6.xml><?xml version="1.0" encoding="utf-8"?>
<ds:datastoreItem xmlns:ds="http://schemas.openxmlformats.org/officeDocument/2006/customXml" ds:itemID="{E2750EA8-438B-4B97-92AD-BF043C73DAA9}">
  <ds:schemaRefs>
    <ds:schemaRef ds:uri="http://schemas.microsoft.com/edu/athena"/>
  </ds:schemaRefs>
</ds:datastoreItem>
</file>

<file path=customXml/itemProps7.xml><?xml version="1.0" encoding="utf-8"?>
<ds:datastoreItem xmlns:ds="http://schemas.openxmlformats.org/officeDocument/2006/customXml" ds:itemID="{374378F9-34B2-45C5-B5F2-3CE6741856EF}">
  <ds:schemaRefs>
    <ds:schemaRef ds:uri="http://schemas.microsoft.com/edu/athena"/>
  </ds:schemaRefs>
</ds:datastoreItem>
</file>

<file path=customXml/itemProps8.xml><?xml version="1.0" encoding="utf-8"?>
<ds:datastoreItem xmlns:ds="http://schemas.openxmlformats.org/officeDocument/2006/customXml" ds:itemID="{2BCE23D1-7866-4F85-95D2-DA072F0002B5}">
  <ds:schemaRefs>
    <ds:schemaRef ds:uri="http://schemas.microsoft.com/edu/athena"/>
  </ds:schemaRefs>
</ds:datastoreItem>
</file>

<file path=customXml/itemProps9.xml><?xml version="1.0" encoding="utf-8"?>
<ds:datastoreItem xmlns:ds="http://schemas.openxmlformats.org/officeDocument/2006/customXml" ds:itemID="{12AA01EA-7794-4A92-AF01-2A00126890F9}">
  <ds:schemaRefs>
    <ds:schemaRef ds:uri="http://schemas.microsoft.com/edu/athena"/>
  </ds:schemaRefs>
</ds:datastoreItem>
</file>

<file path=customXml/itemProps10.xml><?xml version="1.0" encoding="utf-8"?>
<ds:datastoreItem xmlns:ds="http://schemas.openxmlformats.org/officeDocument/2006/customXml" ds:itemID="{1F5F9E2A-D58E-41B8-9D6C-999DE312B088}">
  <ds:schemaRefs>
    <ds:schemaRef ds:uri="http://schemas.microsoft.com/edu/athena"/>
  </ds:schemaRefs>
</ds:datastoreItem>
</file>

<file path=customXml/itemProps11.xml><?xml version="1.0" encoding="utf-8"?>
<ds:datastoreItem xmlns:ds="http://schemas.openxmlformats.org/officeDocument/2006/customXml" ds:itemID="{2568AC8D-7B9E-4DB7-BD6D-B29566693520}">
  <ds:schemaRefs>
    <ds:schemaRef ds:uri="http://schemas.microsoft.com/edu/athena"/>
  </ds:schemaRefs>
</ds:datastoreItem>
</file>

<file path=customXml/itemProps12.xml><?xml version="1.0" encoding="utf-8"?>
<ds:datastoreItem xmlns:ds="http://schemas.openxmlformats.org/officeDocument/2006/customXml" ds:itemID="{2DB7A781-56B6-40D7-8646-775A851C376D}">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otalTime>473</TotalTime>
  <Words>552</Words>
  <Application>Microsoft Office PowerPoint</Application>
  <PresentationFormat>مخصص</PresentationFormat>
  <Paragraphs>106</Paragraphs>
  <Slides>12</Slides>
  <Notes>0</Notes>
  <HiddenSlides>0</HiddenSlides>
  <MMClips>6</MMClips>
  <ScaleCrop>false</ScaleCrop>
  <HeadingPairs>
    <vt:vector size="4" baseType="variant">
      <vt:variant>
        <vt:lpstr>نسق</vt:lpstr>
      </vt:variant>
      <vt:variant>
        <vt:i4>1</vt:i4>
      </vt:variant>
      <vt:variant>
        <vt:lpstr>عناوين الشرائح</vt:lpstr>
      </vt:variant>
      <vt:variant>
        <vt:i4>12</vt:i4>
      </vt:variant>
    </vt:vector>
  </HeadingPairs>
  <TitlesOfParts>
    <vt:vector size="13" baseType="lpstr">
      <vt:lpstr>Office Theme</vt:lpstr>
      <vt:lpstr>Cloning of Hybridoma cells</vt:lpstr>
      <vt:lpstr>Cloning</vt:lpstr>
      <vt:lpstr>Test of FCS for ability to support hybrid clones </vt:lpstr>
      <vt:lpstr>عرض تقديمي في PowerPoint</vt:lpstr>
      <vt:lpstr>عرض تقديمي في PowerPoint</vt:lpstr>
      <vt:lpstr>Cloning by limiting dilution</vt:lpstr>
      <vt:lpstr>Hybridoma cell mixture. Count them Make dilution to 2000 cell/ml= diluted Hyb cells Add 100 uL media to every 96 well Pipett 100 uL of diluted Hyb cell to A1 well then serial  dilution  horizontally to A12 Make serial dilution to each well starting from column A1 to H1, A2 to H2 itc…… Let the cells grow  ELISA screening Repeat the same dilution procedure for every positive clone</vt:lpstr>
      <vt:lpstr>For each Positive  clone. Count the cells Make dilution to 2000 cell/ml= diluted positive clone  Add 100 uL media to each well Pipett 100 uL of positive clone  to A1 well then serial  dilution horizontally to A12 Make serial dilution to each well starting from column A1 to H1, A2 to H2 itc…… Let the cells grow  ELISA screening Repeat the same dilution procedure for every positive clone</vt:lpstr>
      <vt:lpstr>عرض تقديمي في PowerPoint</vt:lpstr>
      <vt:lpstr>Alternative dilution procedure</vt:lpstr>
      <vt:lpstr>عرض تقديمي في PowerPoint</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Cloning &amp; propagation of selected expanded clones</dc:title>
  <dc:creator>Dell</dc:creator>
  <cp:lastModifiedBy>user</cp:lastModifiedBy>
  <cp:revision>61</cp:revision>
  <dcterms:created xsi:type="dcterms:W3CDTF">2020-01-23T07:25:16Z</dcterms:created>
  <dcterms:modified xsi:type="dcterms:W3CDTF">2021-02-20T08:53:39Z</dcterms:modified>
</cp:coreProperties>
</file>