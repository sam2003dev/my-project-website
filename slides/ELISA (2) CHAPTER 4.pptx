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57" r:id="rId5"/>
    <p:sldId id="258" r:id="rId6"/>
    <p:sldId id="259" r:id="rId7"/>
    <p:sldId id="260" r:id="rId8"/>
    <p:sldId id="261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552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7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9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10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0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0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6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5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4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6A948-4CD4-47A9-B427-133AFEFBBB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028F0-8E33-44B9-A0B5-6579E559A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5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dsorption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en.wikipedia.org/wiki/Polystyren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ellplate.com/f-bottom-shape/" TargetMode="External"/><Relationship Id="rId5" Type="http://schemas.openxmlformats.org/officeDocument/2006/relationships/hyperlink" Target="https://www.wellplate.com/v-bottom-shape/" TargetMode="External"/><Relationship Id="rId4" Type="http://schemas.openxmlformats.org/officeDocument/2006/relationships/hyperlink" Target="https://www.wellplate.com/u-bottom-shape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R_xlV5v_f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Screening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DID</a:t>
            </a:r>
          </a:p>
          <a:p>
            <a:r>
              <a:rPr lang="en-US" dirty="0" smtClean="0"/>
              <a:t>Radioimmunoassay</a:t>
            </a:r>
          </a:p>
          <a:p>
            <a:r>
              <a:rPr lang="en-US" dirty="0" smtClean="0"/>
              <a:t>Enzyme-linked immunosorbent assay ELISA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7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Principle</a:t>
            </a:r>
            <a:endParaRPr lang="en-US" dirty="0"/>
          </a:p>
        </p:txBody>
      </p:sp>
      <p:pic>
        <p:nvPicPr>
          <p:cNvPr id="4" name="Picture 2" descr="https://upload.wikimedia.org/wikipedia/commons/thumb/8/8e/Fig._E._COV.jpg/1280px-Fig._E._COV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-142240"/>
            <a:ext cx="10535919" cy="659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94960" y="1871147"/>
            <a:ext cx="70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wash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61220" y="3291840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wash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37120" y="568960"/>
            <a:ext cx="853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-Enzyme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76320" y="3661172"/>
            <a:ext cx="202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Colored substrate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3661172"/>
            <a:ext cx="186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Optical density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845" y="5559530"/>
            <a:ext cx="1097375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7840"/>
            <a:ext cx="10515600" cy="56791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Microtiter plates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solid support (usually a </a:t>
            </a:r>
            <a:r>
              <a:rPr lang="en-US" dirty="0">
                <a:hlinkClick r:id="rId2" tooltip="Polystyrene"/>
              </a:rPr>
              <a:t>polystyrene</a:t>
            </a:r>
            <a:r>
              <a:rPr lang="en-US" dirty="0"/>
              <a:t> </a:t>
            </a:r>
            <a:r>
              <a:rPr lang="en-US" dirty="0" smtClean="0"/>
              <a:t>) non-specifically bind protein antigens with high affinity (via</a:t>
            </a:r>
            <a:r>
              <a:rPr lang="en-US" dirty="0"/>
              <a:t> </a:t>
            </a:r>
            <a:r>
              <a:rPr lang="en-US" dirty="0">
                <a:hlinkClick r:id="rId3" tooltip="Adsorption"/>
              </a:rPr>
              <a:t>adsorption</a:t>
            </a:r>
            <a:r>
              <a:rPr lang="en-US" dirty="0"/>
              <a:t> to the surface</a:t>
            </a:r>
            <a:r>
              <a:rPr lang="en-US" dirty="0" smtClean="0"/>
              <a:t>)</a:t>
            </a:r>
          </a:p>
          <a:p>
            <a:endParaRPr lang="en-US" sz="2600" b="1" dirty="0" smtClean="0"/>
          </a:p>
          <a:p>
            <a:r>
              <a:rPr lang="en-US" sz="2600" b="1" dirty="0" smtClean="0"/>
              <a:t>Bottom </a:t>
            </a:r>
            <a:r>
              <a:rPr lang="en-US" sz="2600" b="1" dirty="0"/>
              <a:t>Shapes Of 96-Well Plates</a:t>
            </a:r>
            <a:endParaRPr lang="en-US" sz="2600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96-well format microplates are available in four distinct bottom shapes. 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i="1" dirty="0" smtClean="0">
                <a:hlinkClick r:id="rId4"/>
              </a:rPr>
              <a:t>U-bottom</a:t>
            </a:r>
            <a:r>
              <a:rPr lang="en-US" b="1" dirty="0"/>
              <a:t>;</a:t>
            </a:r>
            <a:r>
              <a:rPr lang="en-US" dirty="0"/>
              <a:t> round-shaped well </a:t>
            </a:r>
            <a:r>
              <a:rPr lang="en-US" dirty="0" smtClean="0"/>
              <a:t>bottom, used in agglutination assay</a:t>
            </a:r>
            <a:endParaRPr lang="en-US" dirty="0"/>
          </a:p>
          <a:p>
            <a:pPr marL="0" indent="0">
              <a:buNone/>
            </a:pPr>
            <a:r>
              <a:rPr lang="en-US" b="1" i="1" dirty="0" smtClean="0">
                <a:hlinkClick r:id="rId5"/>
              </a:rPr>
              <a:t>V-bottom</a:t>
            </a:r>
            <a:r>
              <a:rPr lang="en-US" b="1" i="1" dirty="0"/>
              <a:t>;</a:t>
            </a:r>
            <a:r>
              <a:rPr lang="en-US" i="1" dirty="0"/>
              <a:t> </a:t>
            </a:r>
            <a:r>
              <a:rPr lang="en-US" dirty="0"/>
              <a:t>conically-shaped well </a:t>
            </a:r>
            <a:r>
              <a:rPr lang="en-US" dirty="0" smtClean="0"/>
              <a:t>bottom, used in precipitation reactions</a:t>
            </a:r>
            <a:endParaRPr lang="en-US" dirty="0"/>
          </a:p>
          <a:p>
            <a:pPr marL="0" indent="0">
              <a:buNone/>
            </a:pPr>
            <a:r>
              <a:rPr lang="en-US" b="1" i="1" dirty="0" smtClean="0">
                <a:hlinkClick r:id="rId6"/>
              </a:rPr>
              <a:t>F-Bottom</a:t>
            </a:r>
            <a:r>
              <a:rPr lang="en-US" b="1" i="1" dirty="0"/>
              <a:t>;</a:t>
            </a:r>
            <a:r>
              <a:rPr lang="en-US" i="1" dirty="0"/>
              <a:t> </a:t>
            </a:r>
            <a:r>
              <a:rPr lang="en-US" dirty="0"/>
              <a:t>flat </a:t>
            </a:r>
            <a:r>
              <a:rPr lang="en-US" dirty="0" smtClean="0"/>
              <a:t>well-bottom, used in ELISA and tissue culture</a:t>
            </a:r>
          </a:p>
          <a:p>
            <a:endParaRPr lang="en-US" b="1" dirty="0" smtClean="0"/>
          </a:p>
          <a:p>
            <a:r>
              <a:rPr lang="en-US" b="1" dirty="0" smtClean="0"/>
              <a:t>Surfaces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sterile </a:t>
            </a:r>
            <a:r>
              <a:rPr lang="en-US" dirty="0"/>
              <a:t>and non-sterile.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410" y="4673599"/>
            <a:ext cx="4389500" cy="198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2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ELISA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Ag coating: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soluble proteins: 1-10 </a:t>
            </a:r>
            <a:r>
              <a:rPr lang="en-US" dirty="0" err="1" smtClean="0"/>
              <a:t>ug</a:t>
            </a:r>
            <a:r>
              <a:rPr lang="en-US" dirty="0" smtClean="0"/>
              <a:t>/ml optimal</a:t>
            </a:r>
          </a:p>
          <a:p>
            <a:pPr marL="0" indent="0">
              <a:buNone/>
            </a:pPr>
            <a:r>
              <a:rPr lang="en-US" dirty="0" smtClean="0"/>
              <a:t>A. Too little reduce the sensitivity</a:t>
            </a:r>
          </a:p>
          <a:p>
            <a:pPr marL="0" indent="0">
              <a:buNone/>
            </a:pPr>
            <a:r>
              <a:rPr lang="en-US" dirty="0" smtClean="0"/>
              <a:t>Too much wasteful and produce multilayers  so that binding is unstable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B. The Buffer: Carbonate  (the best) or </a:t>
            </a:r>
            <a:r>
              <a:rPr lang="en-US" dirty="0" err="1" smtClean="0"/>
              <a:t>Tris</a:t>
            </a:r>
            <a:r>
              <a:rPr lang="en-US" dirty="0" smtClean="0"/>
              <a:t> or Phosphate without detergent</a:t>
            </a:r>
          </a:p>
          <a:p>
            <a:pPr marL="0" indent="0">
              <a:buNone/>
            </a:pPr>
            <a:r>
              <a:rPr lang="en-US" dirty="0" smtClean="0"/>
              <a:t>C. Normal incubation: overnight at 4</a:t>
            </a:r>
            <a:r>
              <a:rPr lang="en-US" baseline="30000" dirty="0" smtClean="0"/>
              <a:t>0</a:t>
            </a:r>
            <a:r>
              <a:rPr lang="en-US" dirty="0" smtClean="0"/>
              <a:t>C, sealed, can be kept for several weeks</a:t>
            </a:r>
          </a:p>
          <a:p>
            <a:r>
              <a:rPr lang="en-US" dirty="0" smtClean="0"/>
              <a:t>Cells:</a:t>
            </a:r>
          </a:p>
          <a:p>
            <a:pPr marL="0" indent="0">
              <a:buNone/>
            </a:pPr>
            <a:r>
              <a:rPr lang="en-US" dirty="0" smtClean="0"/>
              <a:t>Attached to plastic surfaces via bridging molecules </a:t>
            </a:r>
            <a:r>
              <a:rPr lang="en-US" dirty="0" err="1" smtClean="0"/>
              <a:t>e.g</a:t>
            </a:r>
            <a:r>
              <a:rPr lang="en-US" dirty="0" smtClean="0"/>
              <a:t> Glutaraldehyde or PHA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93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lang="en-US" b="1" dirty="0" smtClean="0"/>
              <a:t>Blocking solution: </a:t>
            </a:r>
            <a:r>
              <a:rPr lang="en-US" dirty="0"/>
              <a:t>is a </a:t>
            </a:r>
            <a:r>
              <a:rPr lang="en-US" b="1" dirty="0"/>
              <a:t>solution</a:t>
            </a:r>
            <a:r>
              <a:rPr lang="en-US" dirty="0"/>
              <a:t> of irrelevant protein, mixture of proteins, or other compound that passively adsorbs to all remaining binding surfaces of the </a:t>
            </a:r>
            <a:r>
              <a:rPr lang="en-US" dirty="0" smtClean="0"/>
              <a:t>plate to prevent any nonspecific binding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Incubation with BSA, gelatin or OVA</a:t>
            </a:r>
          </a:p>
          <a:p>
            <a:pPr marL="0" indent="0">
              <a:buNone/>
            </a:pPr>
            <a:r>
              <a:rPr lang="en-US" dirty="0" smtClean="0"/>
              <a:t>Block the remaining  binding sites</a:t>
            </a:r>
          </a:p>
          <a:p>
            <a:endParaRPr lang="en-US" b="1" dirty="0" smtClean="0"/>
          </a:p>
          <a:p>
            <a:r>
              <a:rPr lang="en-US" b="1" dirty="0" smtClean="0"/>
              <a:t>Washing</a:t>
            </a:r>
          </a:p>
          <a:p>
            <a:pPr marL="0" indent="0">
              <a:buNone/>
            </a:pPr>
            <a:r>
              <a:rPr lang="en-US" dirty="0" smtClean="0"/>
              <a:t>Addition of detergent to the buffer: Tween 20  ( 0.05%)</a:t>
            </a:r>
          </a:p>
          <a:p>
            <a:pPr marL="0" indent="0">
              <a:buNone/>
            </a:pPr>
            <a:r>
              <a:rPr lang="en-US" dirty="0" smtClean="0"/>
              <a:t>Removal of nonspecific binding</a:t>
            </a:r>
          </a:p>
          <a:p>
            <a:pPr marL="0" indent="0">
              <a:buNone/>
            </a:pPr>
            <a:r>
              <a:rPr lang="en-US" dirty="0" smtClean="0"/>
              <a:t>Inefficient washing: common cause of nonspecific variability</a:t>
            </a:r>
          </a:p>
          <a:p>
            <a:pPr marL="0" indent="0">
              <a:buNone/>
            </a:pPr>
            <a:r>
              <a:rPr lang="en-US" dirty="0" smtClean="0"/>
              <a:t>Usually 3x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Tested mice serum</a:t>
            </a:r>
          </a:p>
          <a:p>
            <a:pPr marL="0" indent="0">
              <a:buNone/>
            </a:pPr>
            <a:r>
              <a:rPr lang="en-US" dirty="0" smtClean="0"/>
              <a:t>Normally tested mouse serum without dilution</a:t>
            </a:r>
            <a:endParaRPr lang="en-US" dirty="0"/>
          </a:p>
          <a:p>
            <a:r>
              <a:rPr lang="en-US" b="1" dirty="0" smtClean="0"/>
              <a:t>Enzyme Ab Conjugate (second Ab):</a:t>
            </a:r>
          </a:p>
          <a:p>
            <a:pPr marL="0" indent="0">
              <a:buNone/>
            </a:pPr>
            <a:r>
              <a:rPr lang="en-US" dirty="0" smtClean="0"/>
              <a:t>The preferred E: horseradish peroxidase (HRP) and its Substrate            o-</a:t>
            </a:r>
            <a:r>
              <a:rPr lang="en-US" dirty="0" err="1" smtClean="0"/>
              <a:t>phenelene</a:t>
            </a:r>
            <a:r>
              <a:rPr lang="en-US" dirty="0" smtClean="0"/>
              <a:t> diamine (OPD) produce orange color (mutagenic)</a:t>
            </a:r>
          </a:p>
          <a:p>
            <a:pPr marL="0" indent="0">
              <a:buNone/>
            </a:pPr>
            <a:r>
              <a:rPr lang="en-US" dirty="0" smtClean="0"/>
              <a:t>HRP inactivated above 15</a:t>
            </a:r>
            <a:r>
              <a:rPr lang="en-US" baseline="30000" dirty="0" smtClean="0"/>
              <a:t>0</a:t>
            </a:r>
            <a:r>
              <a:rPr lang="en-US" dirty="0" smtClean="0"/>
              <a:t>C</a:t>
            </a:r>
          </a:p>
          <a:p>
            <a:pPr marL="0" indent="0">
              <a:buNone/>
            </a:pPr>
            <a:r>
              <a:rPr lang="en-US" dirty="0" smtClean="0"/>
              <a:t>Not advisable when using plant tissues due to endogenous HRP</a:t>
            </a:r>
          </a:p>
          <a:p>
            <a:pPr marL="0" indent="0">
              <a:buNone/>
            </a:pPr>
            <a:r>
              <a:rPr lang="en-US" dirty="0" smtClean="0"/>
              <a:t>Alkaline phosphatase AP is a good alternative with PNPP as substrate (avoid phosphate buffer)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80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Controls</a:t>
            </a:r>
            <a:r>
              <a:rPr lang="en-US" dirty="0" smtClean="0"/>
              <a:t>: to have reliable results</a:t>
            </a:r>
          </a:p>
          <a:p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To test for undesired Ab binding </a:t>
            </a:r>
          </a:p>
          <a:p>
            <a:pPr marL="0" indent="0">
              <a:buNone/>
            </a:pPr>
            <a:r>
              <a:rPr lang="en-US" dirty="0" smtClean="0"/>
              <a:t>Coat alternative Ag</a:t>
            </a:r>
          </a:p>
          <a:p>
            <a:pPr marL="0" indent="0">
              <a:buNone/>
            </a:pPr>
            <a:r>
              <a:rPr lang="en-US" dirty="0" smtClean="0"/>
              <a:t>2. To test for nonspecific Ab: </a:t>
            </a:r>
          </a:p>
          <a:p>
            <a:pPr marL="0" indent="0">
              <a:buNone/>
            </a:pPr>
            <a:r>
              <a:rPr lang="en-US" dirty="0" smtClean="0"/>
              <a:t>Add irrelevant Ab</a:t>
            </a:r>
          </a:p>
          <a:p>
            <a:pPr marL="0" indent="0">
              <a:buNone/>
            </a:pPr>
            <a:r>
              <a:rPr lang="en-US" dirty="0" smtClean="0"/>
              <a:t>3. To quantify specific binding </a:t>
            </a:r>
          </a:p>
          <a:p>
            <a:pPr marL="0" indent="0">
              <a:buNone/>
            </a:pPr>
            <a:r>
              <a:rPr lang="en-US" dirty="0" smtClean="0"/>
              <a:t>Add known positive Ab</a:t>
            </a:r>
          </a:p>
          <a:p>
            <a:pPr marL="0" indent="0">
              <a:buNone/>
            </a:pPr>
            <a:r>
              <a:rPr lang="en-US" dirty="0" smtClean="0"/>
              <a:t>4. To test for nonspecific conjugate label</a:t>
            </a:r>
          </a:p>
          <a:p>
            <a:pPr marL="0" indent="0">
              <a:buNone/>
            </a:pPr>
            <a:r>
              <a:rPr lang="en-US" dirty="0" smtClean="0"/>
              <a:t>Add buffer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32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Controls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-2428240"/>
            <a:ext cx="9707880" cy="1128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6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s://upload.wikimedia.org/wikipedia/commons/8/84/ELISA_TMB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238" y="1825625"/>
            <a:ext cx="633952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34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Procedure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://www.youtube.com/watch?v=zR_xlV5v_f4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1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154</Words>
  <Application>Microsoft Office PowerPoint</Application>
  <PresentationFormat>مخصص</PresentationFormat>
  <Paragraphs>66</Paragraphs>
  <Slides>10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1" baseType="lpstr">
      <vt:lpstr>Office Theme</vt:lpstr>
      <vt:lpstr>Screening tests</vt:lpstr>
      <vt:lpstr>Principle</vt:lpstr>
      <vt:lpstr>عرض تقديمي في PowerPoint</vt:lpstr>
      <vt:lpstr>ELISA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Screening tests</dc:title>
  <dc:creator>Dell</dc:creator>
  <cp:lastModifiedBy>user</cp:lastModifiedBy>
  <cp:revision>20</cp:revision>
  <dcterms:created xsi:type="dcterms:W3CDTF">2020-01-19T14:22:01Z</dcterms:created>
  <dcterms:modified xsi:type="dcterms:W3CDTF">2021-02-20T08:45:26Z</dcterms:modified>
</cp:coreProperties>
</file>