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900" r:id="rId1"/>
    <p:sldMasterId id="2147483905" r:id="rId2"/>
    <p:sldMasterId id="2147483910" r:id="rId3"/>
  </p:sldMasterIdLst>
  <p:notesMasterIdLst>
    <p:notesMasterId r:id="rId71"/>
  </p:notesMasterIdLst>
  <p:handoutMasterIdLst>
    <p:handoutMasterId r:id="rId72"/>
  </p:handoutMasterIdLst>
  <p:sldIdLst>
    <p:sldId id="717" r:id="rId4"/>
    <p:sldId id="505" r:id="rId5"/>
    <p:sldId id="506" r:id="rId6"/>
    <p:sldId id="516" r:id="rId7"/>
    <p:sldId id="519" r:id="rId8"/>
    <p:sldId id="520" r:id="rId9"/>
    <p:sldId id="521" r:id="rId10"/>
    <p:sldId id="640" r:id="rId11"/>
    <p:sldId id="641" r:id="rId12"/>
    <p:sldId id="718" r:id="rId13"/>
    <p:sldId id="527" r:id="rId14"/>
    <p:sldId id="528" r:id="rId15"/>
    <p:sldId id="644" r:id="rId16"/>
    <p:sldId id="530" r:id="rId17"/>
    <p:sldId id="688" r:id="rId18"/>
    <p:sldId id="532" r:id="rId19"/>
    <p:sldId id="533" r:id="rId20"/>
    <p:sldId id="645" r:id="rId21"/>
    <p:sldId id="646" r:id="rId22"/>
    <p:sldId id="647" r:id="rId23"/>
    <p:sldId id="648" r:id="rId24"/>
    <p:sldId id="538" r:id="rId25"/>
    <p:sldId id="649" r:id="rId26"/>
    <p:sldId id="542" r:id="rId27"/>
    <p:sldId id="650" r:id="rId28"/>
    <p:sldId id="548" r:id="rId29"/>
    <p:sldId id="557" r:id="rId30"/>
    <p:sldId id="558" r:id="rId31"/>
    <p:sldId id="657" r:id="rId32"/>
    <p:sldId id="562" r:id="rId33"/>
    <p:sldId id="563" r:id="rId34"/>
    <p:sldId id="564" r:id="rId35"/>
    <p:sldId id="659" r:id="rId36"/>
    <p:sldId id="568" r:id="rId37"/>
    <p:sldId id="569" r:id="rId38"/>
    <p:sldId id="570" r:id="rId39"/>
    <p:sldId id="571" r:id="rId40"/>
    <p:sldId id="689" r:id="rId41"/>
    <p:sldId id="662" r:id="rId42"/>
    <p:sldId id="663" r:id="rId43"/>
    <p:sldId id="664" r:id="rId44"/>
    <p:sldId id="665" r:id="rId45"/>
    <p:sldId id="666" r:id="rId46"/>
    <p:sldId id="578" r:id="rId47"/>
    <p:sldId id="579" r:id="rId48"/>
    <p:sldId id="580" r:id="rId49"/>
    <p:sldId id="581" r:id="rId50"/>
    <p:sldId id="582" r:id="rId51"/>
    <p:sldId id="667" r:id="rId52"/>
    <p:sldId id="584" r:id="rId53"/>
    <p:sldId id="668" r:id="rId54"/>
    <p:sldId id="586" r:id="rId55"/>
    <p:sldId id="590" r:id="rId56"/>
    <p:sldId id="690" r:id="rId57"/>
    <p:sldId id="670" r:id="rId58"/>
    <p:sldId id="671" r:id="rId59"/>
    <p:sldId id="672" r:id="rId60"/>
    <p:sldId id="595" r:id="rId61"/>
    <p:sldId id="596" r:id="rId62"/>
    <p:sldId id="673" r:id="rId63"/>
    <p:sldId id="674" r:id="rId64"/>
    <p:sldId id="675" r:id="rId65"/>
    <p:sldId id="617" r:id="rId66"/>
    <p:sldId id="683" r:id="rId67"/>
    <p:sldId id="715" r:id="rId68"/>
    <p:sldId id="716" r:id="rId69"/>
    <p:sldId id="710" r:id="rId70"/>
  </p:sldIdLst>
  <p:sldSz cx="9144000" cy="6858000" type="screen4x3"/>
  <p:notesSz cx="6858000" cy="9144000"/>
  <p:custDataLst>
    <p:tags r:id="rId73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athleen Fitzpatrick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887E"/>
    <a:srgbClr val="D1300D"/>
    <a:srgbClr val="B9B9B9"/>
    <a:srgbClr val="AA2B15"/>
    <a:srgbClr val="AEB9B1"/>
    <a:srgbClr val="4F6F92"/>
    <a:srgbClr val="F7F7F7"/>
    <a:srgbClr val="0047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060" autoAdjust="0"/>
  </p:normalViewPr>
  <p:slideViewPr>
    <p:cSldViewPr>
      <p:cViewPr varScale="1">
        <p:scale>
          <a:sx n="80" d="100"/>
          <a:sy n="80" d="100"/>
        </p:scale>
        <p:origin x="1522" y="67"/>
      </p:cViewPr>
      <p:guideLst>
        <p:guide orient="horz" pos="1296"/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0444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3294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76" Type="http://schemas.openxmlformats.org/officeDocument/2006/relationships/viewProps" Target="viewProps.xml"/><Relationship Id="rId7" Type="http://schemas.openxmlformats.org/officeDocument/2006/relationships/slide" Target="slides/slide4.xml"/><Relationship Id="rId71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commentAuthors" Target="commentAuthor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61" Type="http://schemas.openxmlformats.org/officeDocument/2006/relationships/slide" Target="slides/slide58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tags" Target="tags/tag1.xml"/><Relationship Id="rId78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ea typeface="ヒラギノ角ゴ Pro W3" pitchFamily="12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2FDBCFE6-7A80-4E41-8712-1C12F7B6050B}" type="datetimeFigureOut">
              <a:rPr lang="en-US" altLang="en-US"/>
              <a:pPr>
                <a:defRPr/>
              </a:pPr>
              <a:t>3/10/2024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ea typeface="ヒラギノ角ゴ Pro W3" pitchFamily="12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1A23EEE-2F46-4732-8626-99218F3EFA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5027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ヒラギノ角ゴ Pro W3" pitchFamily="8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ヒラギノ角ゴ Pro W3" pitchFamily="8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2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ヒラギノ角ゴ Pro W3" pitchFamily="8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D957CC8-6916-4659-8D61-C81A523E194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4750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84" charset="0"/>
        <a:ea typeface="ヒラギノ角ゴ Pro W3" pitchFamily="84" charset="-128"/>
        <a:cs typeface="ヒラギノ角ゴ Pro W3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84" charset="0"/>
        <a:ea typeface="ヒラギノ角ゴ Pro W3" pitchFamily="84" charset="-128"/>
        <a:cs typeface="ヒラギノ角ゴ Pro W3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84" charset="0"/>
        <a:ea typeface="ヒラギノ角ゴ Pro W3" pitchFamily="84" charset="-128"/>
        <a:cs typeface="ヒラギノ角ゴ Pro W3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84" charset="0"/>
        <a:ea typeface="ヒラギノ角ゴ Pro W3" pitchFamily="84" charset="-128"/>
        <a:cs typeface="ヒラギノ角ゴ Pro W3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84" charset="0"/>
        <a:ea typeface="ヒラギノ角ゴ Pro W3" pitchFamily="84" charset="-128"/>
        <a:cs typeface="ヒラギノ角ゴ Pro W3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Geneva" charset="0"/>
                <a:cs typeface="Genev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Geneva" charset="0"/>
                <a:cs typeface="Genev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Geneva" charset="0"/>
                <a:cs typeface="Genev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Geneva" charset="0"/>
                <a:cs typeface="Genev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Geneva" charset="0"/>
                <a:cs typeface="Genev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Geneva" charset="0"/>
                <a:cs typeface="Genev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Geneva" charset="0"/>
                <a:cs typeface="Genev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Geneva" charset="0"/>
                <a:cs typeface="Genev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Geneva" charset="0"/>
                <a:cs typeface="Geneva" charset="0"/>
              </a:defRPr>
            </a:lvl9pPr>
          </a:lstStyle>
          <a:p>
            <a:fld id="{2B6EC3A2-C51E-43E5-A923-92FA45B68BC9}" type="slidenum">
              <a:rPr lang="en-US" altLang="en-US" sz="1200">
                <a:latin typeface="Times New Roman" pitchFamily="18" charset="0"/>
                <a:ea typeface="MS PGothic" pitchFamily="34" charset="-128"/>
              </a:rPr>
              <a:pPr/>
              <a:t>2</a:t>
            </a:fld>
            <a:endParaRPr lang="en-US" altLang="en-US" sz="1200"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206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820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11.4a Zooming in on the location of photosynthesis in a plant (part 1: detail of art)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5070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11.4b Zooming in on the location of photosynthesis in a plant (part 2: chloroplast)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382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11.5 Tracking atoms through photosynthesis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13812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11.UN01 In-text figure, photosynthesis equation, p. 263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8064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11.6_1 An overview of photosynthesis: cooperation of the light reactions and the Calvin cycle (step 1)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5614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11.6_2 An overview of photosynthesis: cooperation of the light reactions and the Calvin cycle (step 2) 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592408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11.6_3 An overview of photosynthesis: cooperation of the light reactions and the Calvin cycle (step 3)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32779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11.6_4 An overview of photosynthesis: cooperation of the light reactions and the Calvin cycle (step 4)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06027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11.7 The electromagnetic spectrum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8694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11.8 Why leaves are green: interaction of light with chloroplasts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56832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957CC8-6916-4659-8D61-C81A523E1943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91356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11.12 Excitation of isolated chlorophyll by light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994317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11.13 The structure and function of a photosystem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44012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11.UN02 In-text figure, light reaction schematic, p. 269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40183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11.14_1 How linear electron flow during the light reactions generates ATP and NADPH (step 1)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04834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11.14_2 How linear electron flow during the light reactions generates ATP and NADPH (step 2)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23665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11.14_3 How linear electron flow during the light reactions generates ATP and NADPH (step 3), </a:t>
            </a:r>
            <a:r>
              <a:rPr lang="en-US" dirty="0" err="1" smtClean="0">
                <a:latin typeface="Arial"/>
              </a:rPr>
              <a:t>plastoquinone</a:t>
            </a:r>
            <a:r>
              <a:rPr lang="en-US" dirty="0" smtClean="0">
                <a:latin typeface="Arial"/>
              </a:rPr>
              <a:t> (</a:t>
            </a:r>
            <a:r>
              <a:rPr lang="en-US" dirty="0" err="1" smtClean="0">
                <a:latin typeface="Arial"/>
              </a:rPr>
              <a:t>Pq</a:t>
            </a:r>
            <a:r>
              <a:rPr lang="en-US" dirty="0" smtClean="0">
                <a:latin typeface="Arial"/>
              </a:rPr>
              <a:t>) e carrier and </a:t>
            </a:r>
            <a:r>
              <a:rPr lang="en-US" dirty="0" err="1" smtClean="0">
                <a:latin typeface="Arial"/>
              </a:rPr>
              <a:t>plastocyanin</a:t>
            </a:r>
            <a:r>
              <a:rPr lang="en-US" dirty="0" smtClean="0">
                <a:latin typeface="Arial"/>
              </a:rPr>
              <a:t> (Pc) copper containing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85957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11.14_4 How linear electron flow during the light reactions generates ATP and NADPH (step 4)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90818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11.14_5 How linear electron flow during the light reactions generates ATP and NADPH (step 5), </a:t>
            </a:r>
            <a:r>
              <a:rPr lang="en-US" dirty="0" err="1" smtClean="0">
                <a:latin typeface="Arial"/>
              </a:rPr>
              <a:t>ferrodoxin</a:t>
            </a:r>
            <a:r>
              <a:rPr lang="en-US" dirty="0" smtClean="0">
                <a:latin typeface="Arial"/>
              </a:rPr>
              <a:t> iron containing protein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67468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11.15 A mechanical analogy for linear electron flow during the light reactions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57056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11.16 Cyclic electron flow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96237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11.UN03 In-text figure, Calvin cycle schematic, p. 274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64869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11.18 The light reactions and chemiosmosis: Current model of the organization of the thylakoid membrane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9884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11.18a The light reactions and chemiosmosis: Current model of the organization of the thylakoid membrane (part 1)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7369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11.18b The light reactions and chemiosmosis: Current model of the organization of the thylakoid membrane (part 2)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10470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11.19_1 The Calvin cycle (step 1)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32798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11.19_2 The Calvin cycle (step 2)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90705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11.19_3 The Calvin cycle (step 3)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82047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11.22b A review of photosynthesis (part 2)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23810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11.UN05 Summary of key concepts: linear electron flow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290298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11.UN06 Summary of key concepts: Calvin cycle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041049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/>
              </a:rPr>
              <a:t>Figure 11.22c A review of photosynthesis (part 3)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8533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F2B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45588"/>
            <a:ext cx="4495800" cy="536998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27225" y="6019800"/>
            <a:ext cx="21643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 smtClean="0"/>
              <a:t>Lecture</a:t>
            </a:r>
            <a:r>
              <a:rPr lang="en-US" sz="1400" baseline="0" dirty="0" smtClean="0"/>
              <a:t> Presentations by</a:t>
            </a:r>
            <a:br>
              <a:rPr lang="en-US" sz="1400" baseline="0" dirty="0" smtClean="0"/>
            </a:br>
            <a:r>
              <a:rPr lang="en-US" sz="1400" baseline="0" dirty="0" smtClean="0"/>
              <a:t>Nicole </a:t>
            </a:r>
            <a:r>
              <a:rPr lang="en-US" sz="1400" baseline="0" dirty="0" err="1" smtClean="0"/>
              <a:t>Tunbridge</a:t>
            </a:r>
            <a:r>
              <a:rPr lang="en-US" sz="1400" baseline="0" dirty="0" smtClean="0"/>
              <a:t> and</a:t>
            </a:r>
            <a:endParaRPr lang="en-US" sz="1400" dirty="0" smtClean="0"/>
          </a:p>
          <a:p>
            <a:pPr algn="r"/>
            <a:r>
              <a:rPr lang="en-US" sz="1400" baseline="0" dirty="0" smtClean="0"/>
              <a:t>Kathleen Fitzpatrick</a:t>
            </a: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0" y="649009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© 2018 Pearson Education Ltd.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4876800" y="645587"/>
            <a:ext cx="4114800" cy="5369983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 smtClean="0">
                <a:solidFill>
                  <a:srgbClr val="DF4A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11</a:t>
            </a:r>
            <a:r>
              <a:rPr lang="en-US" sz="3200" b="1" dirty="0" smtClean="0">
                <a:solidFill>
                  <a:srgbClr val="DF4A20"/>
                </a:solidFill>
              </a:rPr>
              <a:t/>
            </a:r>
            <a:br>
              <a:rPr lang="en-US" sz="3200" b="1" dirty="0" smtClean="0">
                <a:solidFill>
                  <a:srgbClr val="DF4A20"/>
                </a:solidFill>
              </a:rPr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4000" b="1" kern="1200" baseline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ヒラギノ角ゴ Pro W3" charset="-128"/>
                <a:cs typeface="+mn-cs"/>
              </a:rPr>
              <a:t> Photosynthetic Processes</a:t>
            </a:r>
          </a:p>
        </p:txBody>
      </p:sp>
    </p:spTree>
    <p:extLst>
      <p:ext uri="{BB962C8B-B14F-4D97-AF65-F5344CB8AC3E}">
        <p14:creationId xmlns:p14="http://schemas.microsoft.com/office/powerpoint/2010/main" val="18082879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and 2 line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7472" indent="-347472">
              <a:buClr>
                <a:srgbClr val="DF4A20"/>
              </a:buClr>
              <a:defRPr/>
            </a:lvl1pPr>
            <a:lvl2pPr marL="740664" indent="-283464">
              <a:buClr>
                <a:srgbClr val="DF4A20"/>
              </a:buClr>
              <a:defRPr/>
            </a:lvl2pPr>
            <a:lvl3pPr marL="1143000" indent="-228600">
              <a:buClr>
                <a:srgbClr val="DF4A20"/>
              </a:buClr>
              <a:defRPr/>
            </a:lvl3pPr>
            <a:lvl4pPr marL="1600200" indent="-228600">
              <a:buClr>
                <a:srgbClr val="DF4A20"/>
              </a:buClr>
              <a:defRPr/>
            </a:lvl4pPr>
            <a:lvl5pPr marL="2057400" indent="-228600">
              <a:buClr>
                <a:srgbClr val="DF4A20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8079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line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752600"/>
            <a:ext cx="8839199" cy="4737496"/>
          </a:xfrm>
        </p:spPr>
        <p:txBody>
          <a:bodyPr/>
          <a:lstStyle>
            <a:lvl1pPr marL="347472" indent="-347472">
              <a:buClr>
                <a:srgbClr val="DF4A20"/>
              </a:buClr>
              <a:defRPr/>
            </a:lvl1pPr>
            <a:lvl2pPr marL="740664" indent="-283464">
              <a:buClr>
                <a:srgbClr val="DF4A20"/>
              </a:buClr>
              <a:defRPr/>
            </a:lvl2pPr>
            <a:lvl3pPr marL="1143000" indent="-228600">
              <a:buClr>
                <a:srgbClr val="DF4A20"/>
              </a:buClr>
              <a:defRPr/>
            </a:lvl3pPr>
            <a:lvl4pPr marL="1600200" indent="-228600">
              <a:buClr>
                <a:srgbClr val="DF4A20"/>
              </a:buClr>
              <a:defRPr/>
            </a:lvl4pPr>
            <a:lvl5pPr marL="2057400" indent="-228600">
              <a:buClr>
                <a:srgbClr val="DF4A20"/>
              </a:buCl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3202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7472" indent="-347472">
              <a:buClr>
                <a:srgbClr val="DF4A20"/>
              </a:buClr>
              <a:defRPr/>
            </a:lvl1pPr>
            <a:lvl2pPr marL="740664" indent="-283464">
              <a:buClr>
                <a:srgbClr val="DF4A20"/>
              </a:buClr>
              <a:defRPr/>
            </a:lvl2pPr>
            <a:lvl3pPr marL="1143000" indent="-228600">
              <a:buClr>
                <a:srgbClr val="DF4A20"/>
              </a:buClr>
              <a:defRPr/>
            </a:lvl3pPr>
            <a:lvl4pPr marL="1600200" indent="-228600">
              <a:buClr>
                <a:srgbClr val="DF4A20"/>
              </a:buClr>
              <a:defRPr/>
            </a:lvl4pPr>
            <a:lvl5pPr marL="2057400" indent="-228600">
              <a:buClr>
                <a:srgbClr val="DF4A20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2323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1052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7336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4104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264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272910"/>
            <a:ext cx="8839199" cy="5217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13716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26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182880" tIns="91440" rIns="228600" bIns="9144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218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8" r:id="rId3"/>
    <p:sldLayoutId id="2147483907" r:id="rId4"/>
    <p:sldLayoutId id="2147483903" r:id="rId5"/>
    <p:sldLayoutId id="2147483904" r:id="rId6"/>
    <p:sldLayoutId id="2147483909" r:id="rId7"/>
  </p:sldLayoutIdLst>
  <p:timing>
    <p:tnLst>
      <p:par>
        <p:cTn id="1" dur="indefinite" restart="never" nodeType="tmRoot"/>
      </p:par>
    </p:tnLst>
  </p:timing>
  <p:hf sldNum="0" hdr="0" dt="0"/>
  <p:txStyles>
    <p:titleStyle>
      <a:lvl1pPr marL="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/>
          <a:ea typeface="Arial" panose="020B0604020202020204" pitchFamily="34" charset="0"/>
          <a:cs typeface="Arial"/>
        </a:defRPr>
      </a:lvl1pPr>
      <a:lvl2pPr marL="4508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9D002D"/>
          </a:solidFill>
          <a:latin typeface="Times New Roman" charset="0"/>
          <a:ea typeface="Geneva" charset="0"/>
          <a:cs typeface="Arial" charset="0"/>
        </a:defRPr>
      </a:lvl2pPr>
      <a:lvl3pPr marL="4508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9D002D"/>
          </a:solidFill>
          <a:latin typeface="Times New Roman" charset="0"/>
          <a:ea typeface="Geneva" charset="0"/>
          <a:cs typeface="Arial" charset="0"/>
        </a:defRPr>
      </a:lvl3pPr>
      <a:lvl4pPr marL="4508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9D002D"/>
          </a:solidFill>
          <a:latin typeface="Times New Roman" charset="0"/>
          <a:ea typeface="Geneva" charset="0"/>
          <a:cs typeface="Arial" charset="0"/>
        </a:defRPr>
      </a:lvl4pPr>
      <a:lvl5pPr marL="4508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9D002D"/>
          </a:solidFill>
          <a:latin typeface="Times New Roman" charset="0"/>
          <a:ea typeface="Geneva" charset="0"/>
          <a:cs typeface="Arial" charset="0"/>
        </a:defRPr>
      </a:lvl5pPr>
      <a:lvl6pPr marL="9080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6pPr>
      <a:lvl7pPr marL="13652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7pPr>
      <a:lvl8pPr marL="18224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8pPr>
      <a:lvl9pPr marL="22796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9pPr>
    </p:titleStyle>
    <p:bodyStyle>
      <a:lvl1pPr marL="347472" indent="-347472" algn="l" rtl="0" eaLnBrk="1" fontAlgn="base" hangingPunct="1">
        <a:spcBef>
          <a:spcPts val="600"/>
        </a:spcBef>
        <a:spcAft>
          <a:spcPts val="600"/>
        </a:spcAft>
        <a:buClr>
          <a:srgbClr val="DF4A20"/>
        </a:buClr>
        <a:buFont typeface="Wingdings" charset="2"/>
        <a:buChar char="§"/>
        <a:defRPr sz="2800">
          <a:solidFill>
            <a:schemeClr val="tx1"/>
          </a:solidFill>
          <a:latin typeface="Arial" charset="0"/>
          <a:ea typeface="Arial" panose="020B0604020202020204" pitchFamily="34" charset="0"/>
          <a:cs typeface="+mn-cs"/>
        </a:defRPr>
      </a:lvl1pPr>
      <a:lvl2pPr marL="740664" indent="-283464" algn="l" rtl="0" eaLnBrk="1" fontAlgn="base" hangingPunct="1">
        <a:spcBef>
          <a:spcPts val="600"/>
        </a:spcBef>
        <a:spcAft>
          <a:spcPts val="600"/>
        </a:spcAft>
        <a:buClr>
          <a:srgbClr val="DF4A20"/>
        </a:buClr>
        <a:buFont typeface="Wingdings" charset="2"/>
        <a:buChar char="§"/>
        <a:defRPr sz="260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rtl="0" eaLnBrk="1" fontAlgn="base" hangingPunct="1">
        <a:spcBef>
          <a:spcPts val="600"/>
        </a:spcBef>
        <a:spcAft>
          <a:spcPts val="600"/>
        </a:spcAft>
        <a:buClr>
          <a:srgbClr val="DF4A20"/>
        </a:buClr>
        <a:buFont typeface="Wingdings" charset="2"/>
        <a:buChar char="§"/>
        <a:defRPr sz="240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rtl="0" eaLnBrk="1" fontAlgn="base" hangingPunct="1">
        <a:spcBef>
          <a:spcPts val="600"/>
        </a:spcBef>
        <a:spcAft>
          <a:spcPts val="600"/>
        </a:spcAft>
        <a:buClr>
          <a:srgbClr val="DF4A20"/>
        </a:buClr>
        <a:buFont typeface="Wingdings" charset="2"/>
        <a:buChar char="§"/>
        <a:defRPr sz="220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rtl="0" eaLnBrk="1" fontAlgn="base" hangingPunct="1">
        <a:spcBef>
          <a:spcPts val="600"/>
        </a:spcBef>
        <a:spcAft>
          <a:spcPts val="600"/>
        </a:spcAft>
        <a:buClr>
          <a:srgbClr val="DF4A20"/>
        </a:buClr>
        <a:buFont typeface="Wingdings" charset="2"/>
        <a:buChar char="§"/>
        <a:defRPr sz="2200">
          <a:solidFill>
            <a:schemeClr val="tx1"/>
          </a:solidFill>
          <a:latin typeface="Arial" charset="0"/>
          <a:ea typeface="+mn-ea"/>
          <a:cs typeface="+mn-cs"/>
        </a:defRPr>
      </a:lvl5pPr>
      <a:lvl6pPr marL="3316288" indent="-347663" algn="l" rtl="0" eaLnBrk="1" fontAlgn="base" hangingPunct="1">
        <a:spcBef>
          <a:spcPct val="45000"/>
        </a:spcBef>
        <a:spcAft>
          <a:spcPct val="20000"/>
        </a:spcAft>
        <a:buClr>
          <a:schemeClr val="tx2"/>
        </a:buClr>
        <a:buFont typeface="Wingdings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3773488" indent="-347663" algn="l" rtl="0" eaLnBrk="1" fontAlgn="base" hangingPunct="1">
        <a:spcBef>
          <a:spcPct val="45000"/>
        </a:spcBef>
        <a:spcAft>
          <a:spcPct val="20000"/>
        </a:spcAft>
        <a:buClr>
          <a:schemeClr val="tx2"/>
        </a:buClr>
        <a:buFont typeface="Wingdings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4230688" indent="-347663" algn="l" rtl="0" eaLnBrk="1" fontAlgn="base" hangingPunct="1">
        <a:spcBef>
          <a:spcPct val="45000"/>
        </a:spcBef>
        <a:spcAft>
          <a:spcPct val="20000"/>
        </a:spcAft>
        <a:buClr>
          <a:schemeClr val="tx2"/>
        </a:buClr>
        <a:buFont typeface="Wingdings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4687888" indent="-347663" algn="l" rtl="0" eaLnBrk="1" fontAlgn="base" hangingPunct="1">
        <a:spcBef>
          <a:spcPct val="45000"/>
        </a:spcBef>
        <a:spcAft>
          <a:spcPct val="20000"/>
        </a:spcAft>
        <a:buClr>
          <a:schemeClr val="tx2"/>
        </a:buClr>
        <a:buFont typeface="Wingdings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rPr>
              <a:t>© 2014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30376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file:///C:\Documents%20and%20Settings\rajesh.ACEPRO\Desktop\03-Sep\JPEG%20FILES\Unlabeled\10_04aChloroplast-U.jpg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file:///C:\Documents%20and%20Settings\rajesh.ACEPRO\Desktop\03-Sep\JPEG%20FILES\Unlabeled\10_04bChloroplast-U.jpg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file:///C:\Documents%20and%20Settings\rajesh.ACEPRO\Desktop\03-Sep\JPEG%20FILES\Unlabeled\10_05TrackingAtoms-U.jpg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file:///C:\Documents%20and%20Settings\rajesh.ACEPRO\Desktop\03-Sep\JPEG%20FILES\Unlabeled\10_UN01RedoxEquation-U.jpg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file:///C:\Documents%20and%20Settings\rajesh.ACEPRO\Desktop\03-Sep\JPEG%20FILES\Unlabeled\10_06PhotosynOverview_1-U.jpg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file:///C:\Documents%20and%20Settings\rajesh.ACEPRO\Desktop\03-Sep\JPEG%20FILES\Unlabeled\10_06PhotosynOverview_2-U.jpg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file:///C:\Documents%20and%20Settings\rajesh.ACEPRO\Desktop\03-Sep\JPEG%20FILES\Unlabeled\10_06PhotosynOverview_4-U.jpg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file:///C:\Documents%20and%20Settings\rajesh.ACEPRO\Desktop\03-Sep\JPEG%20FILES\Unlabeled\10_07ElectromagSpectrum-U.jpg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file:///C:\Documents%20and%20Settings\rajesh.ACEPRO\Desktop\03-Sep\JPEG%20FILES\Unlabeled\10_08WhyLeavesAreGreen-U.jpg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file:///C:\Documents%20and%20Settings\rajesh.ACEPRO\Desktop\03-Sep\JPEG%20FILES\Unlabeled\10_12_ExcitChlorophyll-U.jpg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file:///C:\Documents%20and%20Settings\rajesh.ACEPRO\Desktop\03-Sep\JPEG%20FILES\Unlabeled\10_13_HarvestLight-U.jpg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image" Target="file:///C:\Documents%20and%20Settings\rajesh.ACEPRO\Desktop\03-Sep\JPEG%20FILES\Unlabeled\10_UN02LightRxnsMini-U.jpg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4" Type="http://schemas.openxmlformats.org/officeDocument/2006/relationships/image" Target="file:///C:\Documents%20and%20Settings\rajesh.ACEPRO\Desktop\03-Sep\JPEG%20FILES\Unlabeled\10_14ElectronFlow_1-U.jpg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file:///C:\Documents%20and%20Settings\rajesh.ACEPRO\Desktop\03-Sep\JPEG%20FILES\Unlabeled\10_14ElectronFlow_2-U.jpg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4" Type="http://schemas.openxmlformats.org/officeDocument/2006/relationships/image" Target="file:///C:\Documents%20and%20Settings\rajesh.ACEPRO\Desktop\03-Sep\JPEG%20FILES\Unlabeled\10_14ElectronFlow_3-U.jpg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4" Type="http://schemas.openxmlformats.org/officeDocument/2006/relationships/image" Target="file:///C:\Documents%20and%20Settings\rajesh.ACEPRO\Desktop\03-Sep\JPEG%20FILES\Unlabeled\10_14ElectronFlow_4-U.jpg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4" Type="http://schemas.openxmlformats.org/officeDocument/2006/relationships/image" Target="file:///C:\Documents%20and%20Settings\rajesh.ACEPRO\Desktop\03-Sep\JPEG%20FILES\Unlabeled\10_14ElectronFlow_5-U.jpg" TargetMode="Externa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4" Type="http://schemas.openxmlformats.org/officeDocument/2006/relationships/image" Target="file:///C:\Documents%20and%20Settings\rajesh.ACEPRO\Desktop\03-Sep\JPEG%20FILES\Unlabeled\10_15MechanicalAnalogy-U.jpg" TargetMode="Externa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4" Type="http://schemas.openxmlformats.org/officeDocument/2006/relationships/image" Target="file:///C:\Documents%20and%20Settings\rajesh.ACEPRO\Desktop\03-Sep\JPEG%20FILES\Unlabeled\10_16CyclicElectronFlow-U.jpg" TargetMode="Externa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4" Type="http://schemas.openxmlformats.org/officeDocument/2006/relationships/image" Target="file:///C:\Documents%20and%20Settings\rajesh.ACEPRO\Desktop\03-Sep\JPEG%20FILES\Unlabeled\10_UN03CalvinCycleMini-U.jpg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Relationship Id="rId4" Type="http://schemas.openxmlformats.org/officeDocument/2006/relationships/image" Target="file:///C:\Documents%20and%20Settings\rajesh.ACEPRO\Desktop\03-Sep\JPEG%20FILES\Unlabeled\10_18_ThylakoidMembrane-U.jpg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Relationship Id="rId4" Type="http://schemas.openxmlformats.org/officeDocument/2006/relationships/image" Target="file:///C:\Documents%20and%20Settings\rajesh.ACEPRO\Desktop\03-Sep\JPEG%20FILES\Unlabeled\10_18aThylakoidMembrane-U.jpg" TargetMode="Externa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Relationship Id="rId4" Type="http://schemas.openxmlformats.org/officeDocument/2006/relationships/image" Target="file:///C:\Documents%20and%20Settings\rajesh.ACEPRO\Desktop\03-Sep\JPEG%20FILES\Unlabeled\10_18bThylakoidMembrane-U.jpg" TargetMode="Externa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Relationship Id="rId4" Type="http://schemas.openxmlformats.org/officeDocument/2006/relationships/image" Target="file:///C:\Documents%20and%20Settings\rajesh.ACEPRO\Desktop\03-Sep\JPEG%20FILES\Unlabeled\10_19CalvinCycle_1-U.jpg" TargetMode="Externa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Relationship Id="rId4" Type="http://schemas.openxmlformats.org/officeDocument/2006/relationships/image" Target="file:///C:\Documents%20and%20Settings\rajesh.ACEPRO\Desktop\03-Sep\JPEG%20FILES\Unlabeled\10_19CalvinCycle_2-U.jpg" TargetMode="Externa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Relationship Id="rId4" Type="http://schemas.openxmlformats.org/officeDocument/2006/relationships/image" Target="file:///C:\Documents%20and%20Settings\rajesh.ACEPRO\Desktop\03-Sep\JPEG%20FILES\Unlabeled\10_19CalvinCycle_3-U.jpg" TargetMode="Externa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Relationship Id="rId4" Type="http://schemas.openxmlformats.org/officeDocument/2006/relationships/image" Target="file:///C:\Documents%20and%20Settings\rajesh.ACEPRO\Desktop\03-Sep\JPEG%20FILES\Unlabeled\10_22bPhotosynthReview-U.jpg" TargetMode="Externa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Relationship Id="rId4" Type="http://schemas.openxmlformats.org/officeDocument/2006/relationships/image" Target="file:///C:\Documents%20and%20Settings\rajesh.ACEPRO\Desktop\03-Sep\JPEG%20FILES\Unlabeled\10_UN05Summary_C2-U.jpg" TargetMode="Externa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Relationship Id="rId4" Type="http://schemas.openxmlformats.org/officeDocument/2006/relationships/image" Target="file:///C:\Documents%20and%20Settings\rajesh.ACEPRO\Desktop\03-Sep\JPEG%20FILES\Unlabeled\10_UN06Summary_C3-U.jpg" TargetMode="Externa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www.youtube.com/watch?v=NqCmzk4Z9L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200329"/>
          </a:xfrm>
        </p:spPr>
        <p:txBody>
          <a:bodyPr/>
          <a:lstStyle/>
          <a:p>
            <a:pPr algn="ctr"/>
            <a:r>
              <a:rPr lang="en-US" sz="6600" dirty="0" smtClean="0">
                <a:solidFill>
                  <a:srgbClr val="FF0000"/>
                </a:solidFill>
              </a:rPr>
              <a:t>PHOTOSYNTHESIS</a:t>
            </a:r>
            <a:endParaRPr lang="en-US" sz="6600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1745905"/>
            <a:ext cx="6095999" cy="474379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630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</a:t>
            </a:r>
            <a:r>
              <a:rPr lang="en-US" altLang="en-US" dirty="0" smtClean="0"/>
              <a:t>Process That Feeds </a:t>
            </a:r>
            <a:r>
              <a:rPr lang="en-US" altLang="en-US" smtClean="0"/>
              <a:t>the Biosphere</a:t>
            </a:r>
            <a:endParaRPr lang="en-US" altLang="en-US" dirty="0" smtClean="0"/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Plants and other photosynthetic organisms contain organelles called </a:t>
            </a:r>
            <a:r>
              <a:rPr lang="en-US" altLang="en-US" b="1" dirty="0" smtClean="0"/>
              <a:t>chloroplasts</a:t>
            </a:r>
          </a:p>
          <a:p>
            <a:r>
              <a:rPr lang="en-US" altLang="en-US" b="1" dirty="0" smtClean="0"/>
              <a:t>Photosynthesis</a:t>
            </a:r>
            <a:r>
              <a:rPr lang="en-US" altLang="en-US" dirty="0" smtClean="0"/>
              <a:t> is the process that converts solar energy into chemical energy within chloroplasts</a:t>
            </a:r>
          </a:p>
          <a:p>
            <a:r>
              <a:rPr lang="en-US" altLang="en-US" dirty="0" smtClean="0"/>
              <a:t>Directly or indirectly, photosynthesis nourishes almost the entire living world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391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 smtClean="0"/>
              <a:t>Autotrophs </a:t>
            </a:r>
            <a:r>
              <a:rPr lang="en-US" altLang="en-US" dirty="0" smtClean="0"/>
              <a:t>are “self-feeders” that sustain themselves without eating anything derived from other organisms</a:t>
            </a:r>
          </a:p>
          <a:p>
            <a:r>
              <a:rPr lang="en-US" altLang="en-US" dirty="0" smtClean="0"/>
              <a:t>Autotrophs are the producers of the biosphere, producing organic molecules from CO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 and other inorganic molecules</a:t>
            </a:r>
          </a:p>
          <a:p>
            <a:r>
              <a:rPr lang="en-US" altLang="en-US" dirty="0" smtClean="0"/>
              <a:t>Almost all plants are photoautotrophs, using the energy of sunlight to make organic molecules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361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smtClean="0"/>
              <a:t>Heterotrophs </a:t>
            </a:r>
            <a:r>
              <a:rPr lang="en-US" altLang="en-US" smtClean="0"/>
              <a:t>obtain organic material from other organisms</a:t>
            </a:r>
          </a:p>
          <a:p>
            <a:r>
              <a:rPr lang="en-US" altLang="en-US" smtClean="0"/>
              <a:t>Heterotrophs are the consumers of the biosphere</a:t>
            </a:r>
          </a:p>
          <a:p>
            <a:r>
              <a:rPr lang="en-US" altLang="en-US" smtClean="0"/>
              <a:t>Some eat other living organisms; others, called decomposers, consume dead organic material or feces</a:t>
            </a:r>
          </a:p>
          <a:p>
            <a:r>
              <a:rPr lang="en-US" altLang="en-US" smtClean="0"/>
              <a:t>Almost all heterotrophs, including humans, depend on photoautotrophs for food and O</a:t>
            </a:r>
            <a:r>
              <a:rPr lang="en-US" altLang="en-US" baseline="-25000" smtClean="0"/>
              <a:t>2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42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07996"/>
          </a:xfrm>
        </p:spPr>
        <p:txBody>
          <a:bodyPr/>
          <a:lstStyle/>
          <a:p>
            <a:r>
              <a:rPr lang="en-US" altLang="en-US" dirty="0" smtClean="0"/>
              <a:t>Concept 11.1: Photosynthesis converts light energy to the chemical energy of food</a:t>
            </a:r>
          </a:p>
        </p:txBody>
      </p:sp>
      <p:sp>
        <p:nvSpPr>
          <p:cNvPr id="911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Chloroplasts are structurally similar to and likely evolved from photosynthetic bacteria </a:t>
            </a:r>
          </a:p>
          <a:p>
            <a:r>
              <a:rPr lang="en-US" altLang="en-US" smtClean="0"/>
              <a:t>The structural organization of these organelles allows for the chemical reactions of photosynthesis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414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Chloroplasts: The Sites of Photosynthesis </a:t>
            </a:r>
            <a:br>
              <a:rPr lang="en-US" altLang="en-US" smtClean="0"/>
            </a:br>
            <a:r>
              <a:rPr lang="en-US" altLang="en-US" smtClean="0"/>
              <a:t>in Plants</a:t>
            </a:r>
          </a:p>
        </p:txBody>
      </p:sp>
      <p:sp>
        <p:nvSpPr>
          <p:cNvPr id="921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Leaves are the major locations of photosynthesis in plants</a:t>
            </a:r>
          </a:p>
          <a:p>
            <a:r>
              <a:rPr lang="en-US" altLang="en-US" smtClean="0"/>
              <a:t>Chloroplasts are found mainly in cells of the </a:t>
            </a:r>
            <a:r>
              <a:rPr lang="en-US" altLang="en-US" b="1" smtClean="0"/>
              <a:t>mesophyll</a:t>
            </a:r>
            <a:r>
              <a:rPr lang="en-US" altLang="en-US" smtClean="0"/>
              <a:t>, the interior tissue of the leaf</a:t>
            </a:r>
          </a:p>
          <a:p>
            <a:r>
              <a:rPr lang="en-US" altLang="en-US" smtClean="0"/>
              <a:t>Each mesophyll cell contains 30–40 chloroplasts</a:t>
            </a:r>
          </a:p>
          <a:p>
            <a:r>
              <a:rPr lang="en-US" altLang="en-US" smtClean="0"/>
              <a:t>CO</a:t>
            </a:r>
            <a:r>
              <a:rPr lang="en-US" altLang="en-US" baseline="-25000" smtClean="0"/>
              <a:t>2</a:t>
            </a:r>
            <a:r>
              <a:rPr lang="en-US" altLang="en-US" smtClean="0"/>
              <a:t> enters and O</a:t>
            </a:r>
            <a:r>
              <a:rPr lang="en-US" altLang="en-US" baseline="-25000" smtClean="0"/>
              <a:t>2</a:t>
            </a:r>
            <a:r>
              <a:rPr lang="en-US" altLang="en-US" smtClean="0"/>
              <a:t> exits the leaf through microscopic pores called </a:t>
            </a:r>
            <a:r>
              <a:rPr lang="en-US" altLang="en-US" b="1" smtClean="0"/>
              <a:t>stomata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547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A chloroplast has an envelope of two membranes surrounding a dense fluid called the </a:t>
            </a:r>
            <a:r>
              <a:rPr lang="en-US" altLang="en-US" b="1" dirty="0" err="1" smtClean="0"/>
              <a:t>stroma</a:t>
            </a:r>
            <a:endParaRPr lang="en-US" altLang="en-US" b="1" dirty="0" smtClean="0"/>
          </a:p>
          <a:p>
            <a:r>
              <a:rPr lang="en-US" altLang="en-US" b="1" dirty="0" smtClean="0"/>
              <a:t>Thylakoids </a:t>
            </a:r>
            <a:r>
              <a:rPr lang="en-US" altLang="en-US" dirty="0" smtClean="0"/>
              <a:t>are connected sacs in the chloroplast that compose a third membrane system</a:t>
            </a:r>
          </a:p>
          <a:p>
            <a:r>
              <a:rPr lang="en-US" altLang="en-US" dirty="0" smtClean="0"/>
              <a:t>Thylakoids may be stacked in columns called grana</a:t>
            </a:r>
          </a:p>
          <a:p>
            <a:r>
              <a:rPr lang="en-US" altLang="en-US" b="1" dirty="0" smtClean="0"/>
              <a:t>Chlorophyll</a:t>
            </a:r>
            <a:r>
              <a:rPr lang="en-US" altLang="en-US" dirty="0" smtClean="0"/>
              <a:t>, the pigment that gives leaves their green color, resides in the thylakoid membranes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971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838200" y="213360"/>
            <a:ext cx="7467600" cy="64312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11.4a</a:t>
            </a:r>
            <a:endParaRPr lang="en-US" dirty="0"/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5340348" y="187442"/>
            <a:ext cx="236282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100" b="1" dirty="0">
                <a:solidFill>
                  <a:srgbClr val="000000"/>
                </a:solidFill>
                <a:latin typeface="Arial"/>
              </a:rPr>
              <a:t>Leaf cross section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5357810" y="550980"/>
            <a:ext cx="164628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100" b="1" dirty="0" smtClean="0">
                <a:solidFill>
                  <a:srgbClr val="000000"/>
                </a:solidFill>
                <a:latin typeface="Arial"/>
              </a:rPr>
              <a:t>Chloroplasts</a:t>
            </a:r>
            <a:endParaRPr lang="en-US" sz="21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3738776" y="1509830"/>
            <a:ext cx="13176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100" b="1" dirty="0">
                <a:solidFill>
                  <a:srgbClr val="000000"/>
                </a:solidFill>
                <a:latin typeface="Arial"/>
              </a:rPr>
              <a:t>Mesophyll</a:t>
            </a: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5335601" y="2911593"/>
            <a:ext cx="106118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100" b="1" dirty="0">
                <a:solidFill>
                  <a:srgbClr val="000000"/>
                </a:solidFill>
                <a:latin typeface="Arial"/>
              </a:rPr>
              <a:t>Stomata</a:t>
            </a:r>
          </a:p>
        </p:txBody>
      </p:sp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4164010" y="3622793"/>
            <a:ext cx="149720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100" b="1">
                <a:solidFill>
                  <a:srgbClr val="000000"/>
                </a:solidFill>
                <a:latin typeface="Arial"/>
              </a:rPr>
              <a:t>Chloroplast</a:t>
            </a:r>
          </a:p>
        </p:txBody>
      </p:sp>
      <p:sp>
        <p:nvSpPr>
          <p:cNvPr id="11" name="TextBox 7"/>
          <p:cNvSpPr txBox="1">
            <a:spLocks noChangeArrowheads="1"/>
          </p:cNvSpPr>
          <p:nvPr/>
        </p:nvSpPr>
        <p:spPr bwMode="auto">
          <a:xfrm>
            <a:off x="6462729" y="3159243"/>
            <a:ext cx="43120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 dirty="0">
                <a:solidFill>
                  <a:srgbClr val="FFFFFF"/>
                </a:solidFill>
                <a:latin typeface="Arial"/>
              </a:rPr>
              <a:t>CO</a:t>
            </a:r>
            <a:r>
              <a:rPr lang="en-US" sz="1800" b="1" baseline="-25000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8"/>
          <p:cNvSpPr txBox="1">
            <a:spLocks noChangeArrowheads="1"/>
          </p:cNvSpPr>
          <p:nvPr/>
        </p:nvSpPr>
        <p:spPr bwMode="auto">
          <a:xfrm>
            <a:off x="7181869" y="3140193"/>
            <a:ext cx="26449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 dirty="0">
                <a:solidFill>
                  <a:srgbClr val="FFFFFF"/>
                </a:solidFill>
                <a:latin typeface="Arial"/>
              </a:rPr>
              <a:t>O</a:t>
            </a:r>
            <a:r>
              <a:rPr lang="en-US" sz="1800" b="1" baseline="-25000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9"/>
          <p:cNvSpPr txBox="1">
            <a:spLocks noChangeArrowheads="1"/>
          </p:cNvSpPr>
          <p:nvPr/>
        </p:nvSpPr>
        <p:spPr bwMode="auto">
          <a:xfrm>
            <a:off x="5916051" y="3649901"/>
            <a:ext cx="1317668" cy="589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300"/>
              </a:lnSpc>
            </a:pPr>
            <a:r>
              <a:rPr lang="en-US" sz="2100" b="1" dirty="0" smtClean="0">
                <a:solidFill>
                  <a:srgbClr val="000000"/>
                </a:solidFill>
                <a:latin typeface="Arial"/>
              </a:rPr>
              <a:t>Mesophyll</a:t>
            </a:r>
          </a:p>
          <a:p>
            <a:pPr algn="ctr">
              <a:lnSpc>
                <a:spcPts val="2300"/>
              </a:lnSpc>
            </a:pPr>
            <a:r>
              <a:rPr lang="en-US" sz="2100" b="1" dirty="0" smtClean="0">
                <a:solidFill>
                  <a:srgbClr val="000000"/>
                </a:solidFill>
                <a:latin typeface="Arial"/>
              </a:rPr>
              <a:t>cell</a:t>
            </a:r>
            <a:endParaRPr lang="en-US" sz="21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Box 11"/>
          <p:cNvSpPr txBox="1">
            <a:spLocks noChangeArrowheads="1"/>
          </p:cNvSpPr>
          <p:nvPr/>
        </p:nvSpPr>
        <p:spPr bwMode="auto">
          <a:xfrm>
            <a:off x="6717720" y="6269154"/>
            <a:ext cx="76783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100" b="1" dirty="0">
                <a:solidFill>
                  <a:srgbClr val="000000"/>
                </a:solidFill>
                <a:latin typeface="Arial"/>
              </a:rPr>
              <a:t>20 </a:t>
            </a:r>
            <a:r>
              <a:rPr lang="en-US" sz="21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µ</a:t>
            </a:r>
            <a:r>
              <a:rPr lang="en-US" sz="2100" b="1" dirty="0">
                <a:solidFill>
                  <a:srgbClr val="000000"/>
                </a:solidFill>
                <a:latin typeface="Arial"/>
              </a:rPr>
              <a:t>m</a:t>
            </a:r>
          </a:p>
        </p:txBody>
      </p:sp>
      <p:sp>
        <p:nvSpPr>
          <p:cNvPr id="15" name="TextBox 3"/>
          <p:cNvSpPr txBox="1">
            <a:spLocks noChangeArrowheads="1"/>
          </p:cNvSpPr>
          <p:nvPr/>
        </p:nvSpPr>
        <p:spPr bwMode="auto">
          <a:xfrm>
            <a:off x="7145808" y="550980"/>
            <a:ext cx="55419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100" b="1" dirty="0" smtClean="0">
                <a:solidFill>
                  <a:srgbClr val="000000"/>
                </a:solidFill>
                <a:latin typeface="Arial"/>
              </a:rPr>
              <a:t>Vein</a:t>
            </a:r>
            <a:endParaRPr lang="en-US" sz="21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5105916" y="1178690"/>
            <a:ext cx="165811" cy="994968"/>
          </a:xfrm>
          <a:custGeom>
            <a:avLst/>
            <a:gdLst>
              <a:gd name="connsiteX0" fmla="*/ 153111 w 165811"/>
              <a:gd name="connsiteY0" fmla="*/ 12700 h 994968"/>
              <a:gd name="connsiteX1" fmla="*/ 68872 w 165811"/>
              <a:gd name="connsiteY1" fmla="*/ 67449 h 994968"/>
              <a:gd name="connsiteX2" fmla="*/ 68872 w 165811"/>
              <a:gd name="connsiteY2" fmla="*/ 432460 h 994968"/>
              <a:gd name="connsiteX3" fmla="*/ 12700 w 165811"/>
              <a:gd name="connsiteY3" fmla="*/ 497484 h 994968"/>
              <a:gd name="connsiteX4" fmla="*/ 68872 w 165811"/>
              <a:gd name="connsiteY4" fmla="*/ 562508 h 994968"/>
              <a:gd name="connsiteX5" fmla="*/ 68872 w 165811"/>
              <a:gd name="connsiteY5" fmla="*/ 927531 h 994968"/>
              <a:gd name="connsiteX6" fmla="*/ 153111 w 165811"/>
              <a:gd name="connsiteY6" fmla="*/ 982268 h 99496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</a:cxnLst>
            <a:rect l="l" t="t" r="r" b="b"/>
            <a:pathLst>
              <a:path w="165811" h="994968">
                <a:moveTo>
                  <a:pt x="153111" y="12700"/>
                </a:moveTo>
                <a:cubicBezTo>
                  <a:pt x="153111" y="12700"/>
                  <a:pt x="68872" y="19532"/>
                  <a:pt x="68872" y="67449"/>
                </a:cubicBezTo>
                <a:lnTo>
                  <a:pt x="68872" y="432460"/>
                </a:lnTo>
                <a:cubicBezTo>
                  <a:pt x="68872" y="470115"/>
                  <a:pt x="12700" y="497484"/>
                  <a:pt x="12700" y="497484"/>
                </a:cubicBezTo>
                <a:cubicBezTo>
                  <a:pt x="12700" y="497484"/>
                  <a:pt x="68872" y="524865"/>
                  <a:pt x="68872" y="562508"/>
                </a:cubicBezTo>
                <a:lnTo>
                  <a:pt x="68872" y="927531"/>
                </a:lnTo>
                <a:cubicBezTo>
                  <a:pt x="68872" y="975423"/>
                  <a:pt x="153111" y="982268"/>
                  <a:pt x="153111" y="982268"/>
                </a:cubicBez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7" name="Freeform 3"/>
          <p:cNvSpPr/>
          <p:nvPr/>
        </p:nvSpPr>
        <p:spPr>
          <a:xfrm>
            <a:off x="5703403" y="2273147"/>
            <a:ext cx="523011" cy="683653"/>
          </a:xfrm>
          <a:custGeom>
            <a:avLst/>
            <a:gdLst>
              <a:gd name="connsiteX0" fmla="*/ 12700 w 523011"/>
              <a:gd name="connsiteY0" fmla="*/ 12700 h 683653"/>
              <a:gd name="connsiteX1" fmla="*/ 181114 w 523011"/>
              <a:gd name="connsiteY1" fmla="*/ 670953 h 683653"/>
              <a:gd name="connsiteX2" fmla="*/ 510311 w 523011"/>
              <a:gd name="connsiteY2" fmla="*/ 309092 h 68365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523011" h="683653">
                <a:moveTo>
                  <a:pt x="12700" y="12700"/>
                </a:moveTo>
                <a:lnTo>
                  <a:pt x="181114" y="670953"/>
                </a:lnTo>
                <a:lnTo>
                  <a:pt x="510311" y="309092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8" name="Freeform 3"/>
          <p:cNvSpPr/>
          <p:nvPr/>
        </p:nvSpPr>
        <p:spPr>
          <a:xfrm>
            <a:off x="7345970" y="851057"/>
            <a:ext cx="50800" cy="864095"/>
          </a:xfrm>
          <a:custGeom>
            <a:avLst/>
            <a:gdLst>
              <a:gd name="connsiteX0" fmla="*/ 12700 w 50800"/>
              <a:gd name="connsiteY0" fmla="*/ 12700 h 864095"/>
              <a:gd name="connsiteX1" fmla="*/ 12700 w 50800"/>
              <a:gd name="connsiteY1" fmla="*/ 851395 h 86409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50800" h="864095">
                <a:moveTo>
                  <a:pt x="12700" y="12700"/>
                </a:moveTo>
                <a:lnTo>
                  <a:pt x="12700" y="851395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9" name="Freeform 3"/>
          <p:cNvSpPr/>
          <p:nvPr/>
        </p:nvSpPr>
        <p:spPr>
          <a:xfrm>
            <a:off x="5963890" y="851053"/>
            <a:ext cx="483996" cy="343090"/>
          </a:xfrm>
          <a:custGeom>
            <a:avLst/>
            <a:gdLst>
              <a:gd name="connsiteX0" fmla="*/ 12700 w 483996"/>
              <a:gd name="connsiteY0" fmla="*/ 330390 h 343090"/>
              <a:gd name="connsiteX1" fmla="*/ 192455 w 483996"/>
              <a:gd name="connsiteY1" fmla="*/ 12700 h 343090"/>
              <a:gd name="connsiteX2" fmla="*/ 471296 w 483996"/>
              <a:gd name="connsiteY2" fmla="*/ 330390 h 34309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483996" h="343090">
                <a:moveTo>
                  <a:pt x="12700" y="330390"/>
                </a:moveTo>
                <a:lnTo>
                  <a:pt x="192455" y="12700"/>
                </a:lnTo>
                <a:lnTo>
                  <a:pt x="471296" y="330390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0" name="Freeform 3"/>
          <p:cNvSpPr/>
          <p:nvPr/>
        </p:nvSpPr>
        <p:spPr>
          <a:xfrm>
            <a:off x="4490047" y="3978446"/>
            <a:ext cx="1567281" cy="1560741"/>
          </a:xfrm>
          <a:custGeom>
            <a:avLst/>
            <a:gdLst>
              <a:gd name="connsiteX0" fmla="*/ 1554581 w 1567281"/>
              <a:gd name="connsiteY0" fmla="*/ 1548041 h 1560741"/>
              <a:gd name="connsiteX1" fmla="*/ 417258 w 1567281"/>
              <a:gd name="connsiteY1" fmla="*/ 12700 h 1560741"/>
              <a:gd name="connsiteX2" fmla="*/ 12700 w 1567281"/>
              <a:gd name="connsiteY2" fmla="*/ 205333 h 156074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1567281" h="1560741">
                <a:moveTo>
                  <a:pt x="1554581" y="1548041"/>
                </a:moveTo>
                <a:lnTo>
                  <a:pt x="417258" y="12700"/>
                </a:lnTo>
                <a:lnTo>
                  <a:pt x="12700" y="205333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1" name="Freeform 3"/>
          <p:cNvSpPr/>
          <p:nvPr/>
        </p:nvSpPr>
        <p:spPr>
          <a:xfrm>
            <a:off x="7402400" y="6115093"/>
            <a:ext cx="22059" cy="110959"/>
          </a:xfrm>
          <a:custGeom>
            <a:avLst/>
            <a:gdLst>
              <a:gd name="connsiteX0" fmla="*/ 6350 w 22059"/>
              <a:gd name="connsiteY0" fmla="*/ 104609 h 110959"/>
              <a:gd name="connsiteX1" fmla="*/ 6350 w 22059"/>
              <a:gd name="connsiteY1" fmla="*/ 6350 h 11095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2059" h="110959">
                <a:moveTo>
                  <a:pt x="6350" y="104609"/>
                </a:moveTo>
                <a:lnTo>
                  <a:pt x="6350" y="6350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2" name="Freeform 3"/>
          <p:cNvSpPr/>
          <p:nvPr/>
        </p:nvSpPr>
        <p:spPr>
          <a:xfrm>
            <a:off x="6781862" y="6115093"/>
            <a:ext cx="22059" cy="110959"/>
          </a:xfrm>
          <a:custGeom>
            <a:avLst/>
            <a:gdLst>
              <a:gd name="connsiteX0" fmla="*/ 6350 w 22059"/>
              <a:gd name="connsiteY0" fmla="*/ 104609 h 110959"/>
              <a:gd name="connsiteX1" fmla="*/ 6350 w 22059"/>
              <a:gd name="connsiteY1" fmla="*/ 6350 h 11095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2059" h="110959">
                <a:moveTo>
                  <a:pt x="6350" y="104609"/>
                </a:moveTo>
                <a:lnTo>
                  <a:pt x="6350" y="6350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3" name="Freeform 3"/>
          <p:cNvSpPr/>
          <p:nvPr/>
        </p:nvSpPr>
        <p:spPr>
          <a:xfrm>
            <a:off x="6781859" y="6164214"/>
            <a:ext cx="630885" cy="22059"/>
          </a:xfrm>
          <a:custGeom>
            <a:avLst/>
            <a:gdLst>
              <a:gd name="connsiteX0" fmla="*/ 624535 w 630885"/>
              <a:gd name="connsiteY0" fmla="*/ 6350 h 22059"/>
              <a:gd name="connsiteX1" fmla="*/ 6350 w 630885"/>
              <a:gd name="connsiteY1" fmla="*/ 6350 h 2205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630885" h="22059">
                <a:moveTo>
                  <a:pt x="624535" y="6350"/>
                </a:moveTo>
                <a:lnTo>
                  <a:pt x="6350" y="6350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4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30806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469392" y="213360"/>
            <a:ext cx="8205216" cy="643128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11.4b</a:t>
            </a:r>
            <a:endParaRPr lang="en-US" dirty="0"/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504453" y="3481487"/>
            <a:ext cx="1061188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>
                <a:solidFill>
                  <a:srgbClr val="000000"/>
                </a:solidFill>
                <a:latin typeface="Arial"/>
              </a:rPr>
              <a:t>Stroma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49215" y="2878237"/>
            <a:ext cx="1434688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>
                <a:solidFill>
                  <a:srgbClr val="000000"/>
                </a:solidFill>
                <a:latin typeface="Arial"/>
              </a:rPr>
              <a:t>Thylakoid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4022353" y="3278287"/>
            <a:ext cx="1434688" cy="666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smtClean="0">
                <a:solidFill>
                  <a:srgbClr val="000000"/>
                </a:solidFill>
                <a:latin typeface="Arial"/>
              </a:rPr>
              <a:t>Thylakoid</a:t>
            </a:r>
          </a:p>
          <a:p>
            <a:pPr>
              <a:lnSpc>
                <a:spcPts val="2600"/>
              </a:lnSpc>
            </a:pPr>
            <a:r>
              <a:rPr lang="en-US" b="1" smtClean="0">
                <a:solidFill>
                  <a:srgbClr val="000000"/>
                </a:solidFill>
                <a:latin typeface="Arial"/>
              </a:rPr>
              <a:t>space</a:t>
            </a:r>
            <a:endParaRPr lang="en-US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2036390" y="3532287"/>
            <a:ext cx="1179810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>
                <a:solidFill>
                  <a:srgbClr val="000000"/>
                </a:solidFill>
                <a:latin typeface="Arial"/>
              </a:rPr>
              <a:t>Granum</a:t>
            </a:r>
          </a:p>
        </p:txBody>
      </p:sp>
      <p:sp>
        <p:nvSpPr>
          <p:cNvPr id="10" name="TextBox 7"/>
          <p:cNvSpPr txBox="1">
            <a:spLocks noChangeArrowheads="1"/>
          </p:cNvSpPr>
          <p:nvPr/>
        </p:nvSpPr>
        <p:spPr bwMode="auto">
          <a:xfrm>
            <a:off x="6536953" y="2432150"/>
            <a:ext cx="1558119" cy="666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smtClean="0">
                <a:solidFill>
                  <a:srgbClr val="000000"/>
                </a:solidFill>
                <a:latin typeface="Arial"/>
              </a:rPr>
              <a:t>Outer</a:t>
            </a:r>
          </a:p>
          <a:p>
            <a:pPr>
              <a:lnSpc>
                <a:spcPts val="2600"/>
              </a:lnSpc>
            </a:pPr>
            <a:r>
              <a:rPr lang="en-US" b="1" smtClean="0">
                <a:solidFill>
                  <a:srgbClr val="000000"/>
                </a:solidFill>
                <a:latin typeface="Arial"/>
              </a:rPr>
              <a:t>membrane</a:t>
            </a:r>
            <a:endParaRPr lang="en-US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Box 9"/>
          <p:cNvSpPr txBox="1">
            <a:spLocks noChangeArrowheads="1"/>
          </p:cNvSpPr>
          <p:nvPr/>
        </p:nvSpPr>
        <p:spPr bwMode="auto">
          <a:xfrm>
            <a:off x="6436940" y="3325912"/>
            <a:ext cx="2224968" cy="666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smtClean="0">
                <a:solidFill>
                  <a:srgbClr val="000000"/>
                </a:solidFill>
                <a:latin typeface="Arial"/>
              </a:rPr>
              <a:t>Intermembrane</a:t>
            </a:r>
          </a:p>
          <a:p>
            <a:pPr>
              <a:lnSpc>
                <a:spcPts val="2600"/>
              </a:lnSpc>
            </a:pPr>
            <a:r>
              <a:rPr lang="en-US" b="1" smtClean="0">
                <a:solidFill>
                  <a:srgbClr val="000000"/>
                </a:solidFill>
                <a:latin typeface="Arial"/>
              </a:rPr>
              <a:t>space</a:t>
            </a:r>
            <a:endParaRPr lang="en-US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6373440" y="4227612"/>
            <a:ext cx="1558119" cy="666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smtClean="0">
                <a:solidFill>
                  <a:srgbClr val="000000"/>
                </a:solidFill>
                <a:latin typeface="Arial"/>
              </a:rPr>
              <a:t>Inner</a:t>
            </a:r>
          </a:p>
          <a:p>
            <a:pPr>
              <a:lnSpc>
                <a:spcPts val="2600"/>
              </a:lnSpc>
            </a:pPr>
            <a:r>
              <a:rPr lang="en-US" b="1" smtClean="0">
                <a:solidFill>
                  <a:srgbClr val="000000"/>
                </a:solidFill>
                <a:latin typeface="Arial"/>
              </a:rPr>
              <a:t>membrane</a:t>
            </a:r>
            <a:endParaRPr lang="en-US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Box 13"/>
          <p:cNvSpPr txBox="1">
            <a:spLocks noChangeArrowheads="1"/>
          </p:cNvSpPr>
          <p:nvPr/>
        </p:nvSpPr>
        <p:spPr bwMode="auto">
          <a:xfrm>
            <a:off x="3657228" y="6177061"/>
            <a:ext cx="1708801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000000"/>
                </a:solidFill>
                <a:latin typeface="Arial"/>
              </a:rPr>
              <a:t>Chloroplast</a:t>
            </a:r>
          </a:p>
        </p:txBody>
      </p:sp>
      <p:sp>
        <p:nvSpPr>
          <p:cNvPr id="14" name="TextBox 15"/>
          <p:cNvSpPr txBox="1">
            <a:spLocks noChangeArrowheads="1"/>
          </p:cNvSpPr>
          <p:nvPr/>
        </p:nvSpPr>
        <p:spPr bwMode="auto">
          <a:xfrm>
            <a:off x="6214690" y="6265962"/>
            <a:ext cx="708527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000000"/>
                </a:solidFill>
                <a:latin typeface="Arial"/>
              </a:rPr>
              <a:t>1 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µ</a:t>
            </a:r>
            <a:r>
              <a:rPr lang="en-US" b="1" dirty="0">
                <a:solidFill>
                  <a:srgbClr val="000000"/>
                </a:solidFill>
                <a:latin typeface="Arial"/>
              </a:rPr>
              <a:t>m</a:t>
            </a:r>
          </a:p>
        </p:txBody>
      </p:sp>
      <p:sp>
        <p:nvSpPr>
          <p:cNvPr id="15" name="Freeform 14"/>
          <p:cNvSpPr/>
          <p:nvPr/>
        </p:nvSpPr>
        <p:spPr>
          <a:xfrm>
            <a:off x="2396177" y="1991016"/>
            <a:ext cx="798410" cy="1546644"/>
          </a:xfrm>
          <a:custGeom>
            <a:avLst/>
            <a:gdLst>
              <a:gd name="connsiteX0" fmla="*/ 25400 w 798410"/>
              <a:gd name="connsiteY0" fmla="*/ 1521244 h 1546644"/>
              <a:gd name="connsiteX1" fmla="*/ 773010 w 798410"/>
              <a:gd name="connsiteY1" fmla="*/ 25400 h 154664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98410" h="1546644">
                <a:moveTo>
                  <a:pt x="25400" y="1521244"/>
                </a:moveTo>
                <a:lnTo>
                  <a:pt x="773010" y="25400"/>
                </a:lnTo>
              </a:path>
            </a:pathLst>
          </a:custGeom>
          <a:ln w="25400">
            <a:solidFill>
              <a:srgbClr val="FFFFF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6" name="Freeform 3"/>
          <p:cNvSpPr/>
          <p:nvPr/>
        </p:nvSpPr>
        <p:spPr>
          <a:xfrm>
            <a:off x="2394551" y="3872139"/>
            <a:ext cx="971816" cy="779449"/>
          </a:xfrm>
          <a:custGeom>
            <a:avLst/>
            <a:gdLst>
              <a:gd name="connsiteX0" fmla="*/ 25400 w 971816"/>
              <a:gd name="connsiteY0" fmla="*/ 25400 h 779449"/>
              <a:gd name="connsiteX1" fmla="*/ 946416 w 971816"/>
              <a:gd name="connsiteY1" fmla="*/ 754049 h 77944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71816" h="779449">
                <a:moveTo>
                  <a:pt x="25400" y="25400"/>
                </a:moveTo>
                <a:lnTo>
                  <a:pt x="946416" y="754049"/>
                </a:lnTo>
              </a:path>
            </a:pathLst>
          </a:custGeom>
          <a:ln w="25400">
            <a:solidFill>
              <a:srgbClr val="FFFFF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7" name="Freeform 3"/>
          <p:cNvSpPr/>
          <p:nvPr/>
        </p:nvSpPr>
        <p:spPr>
          <a:xfrm>
            <a:off x="3151049" y="1529690"/>
            <a:ext cx="268681" cy="973937"/>
          </a:xfrm>
          <a:custGeom>
            <a:avLst/>
            <a:gdLst>
              <a:gd name="connsiteX0" fmla="*/ 243281 w 268681"/>
              <a:gd name="connsiteY0" fmla="*/ 25400 h 973937"/>
              <a:gd name="connsiteX1" fmla="*/ 112559 w 268681"/>
              <a:gd name="connsiteY1" fmla="*/ 115125 h 973937"/>
              <a:gd name="connsiteX2" fmla="*/ 112559 w 268681"/>
              <a:gd name="connsiteY2" fmla="*/ 380466 h 973937"/>
              <a:gd name="connsiteX3" fmla="*/ 25400 w 268681"/>
              <a:gd name="connsiteY3" fmla="*/ 486981 h 973937"/>
              <a:gd name="connsiteX4" fmla="*/ 112559 w 268681"/>
              <a:gd name="connsiteY4" fmla="*/ 593521 h 973937"/>
              <a:gd name="connsiteX5" fmla="*/ 112559 w 268681"/>
              <a:gd name="connsiteY5" fmla="*/ 858862 h 973937"/>
              <a:gd name="connsiteX6" fmla="*/ 243281 w 268681"/>
              <a:gd name="connsiteY6" fmla="*/ 948537 h 97393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</a:cxnLst>
            <a:rect l="l" t="t" r="r" b="b"/>
            <a:pathLst>
              <a:path w="268681" h="973937">
                <a:moveTo>
                  <a:pt x="243281" y="25400"/>
                </a:moveTo>
                <a:cubicBezTo>
                  <a:pt x="243281" y="25400"/>
                  <a:pt x="112559" y="36271"/>
                  <a:pt x="112559" y="115125"/>
                </a:cubicBezTo>
                <a:lnTo>
                  <a:pt x="112559" y="380466"/>
                </a:lnTo>
                <a:cubicBezTo>
                  <a:pt x="112559" y="442125"/>
                  <a:pt x="25400" y="486981"/>
                  <a:pt x="25400" y="486981"/>
                </a:cubicBezTo>
                <a:cubicBezTo>
                  <a:pt x="25400" y="486981"/>
                  <a:pt x="112559" y="531825"/>
                  <a:pt x="112559" y="593521"/>
                </a:cubicBezTo>
                <a:lnTo>
                  <a:pt x="112559" y="858862"/>
                </a:lnTo>
                <a:cubicBezTo>
                  <a:pt x="112559" y="937336"/>
                  <a:pt x="243281" y="948537"/>
                  <a:pt x="243281" y="948537"/>
                </a:cubicBezTo>
              </a:path>
            </a:pathLst>
          </a:custGeom>
          <a:ln w="25400">
            <a:solidFill>
              <a:srgbClr val="FFFFF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8" name="Freeform 3"/>
          <p:cNvSpPr/>
          <p:nvPr/>
        </p:nvSpPr>
        <p:spPr>
          <a:xfrm>
            <a:off x="3163749" y="1542390"/>
            <a:ext cx="243281" cy="948537"/>
          </a:xfrm>
          <a:custGeom>
            <a:avLst/>
            <a:gdLst>
              <a:gd name="connsiteX0" fmla="*/ 230581 w 243281"/>
              <a:gd name="connsiteY0" fmla="*/ 12700 h 948537"/>
              <a:gd name="connsiteX1" fmla="*/ 99859 w 243281"/>
              <a:gd name="connsiteY1" fmla="*/ 102425 h 948537"/>
              <a:gd name="connsiteX2" fmla="*/ 99859 w 243281"/>
              <a:gd name="connsiteY2" fmla="*/ 367766 h 948537"/>
              <a:gd name="connsiteX3" fmla="*/ 12700 w 243281"/>
              <a:gd name="connsiteY3" fmla="*/ 474281 h 948537"/>
              <a:gd name="connsiteX4" fmla="*/ 99859 w 243281"/>
              <a:gd name="connsiteY4" fmla="*/ 580821 h 948537"/>
              <a:gd name="connsiteX5" fmla="*/ 99859 w 243281"/>
              <a:gd name="connsiteY5" fmla="*/ 846162 h 948537"/>
              <a:gd name="connsiteX6" fmla="*/ 230581 w 243281"/>
              <a:gd name="connsiteY6" fmla="*/ 935837 h 94853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</a:cxnLst>
            <a:rect l="l" t="t" r="r" b="b"/>
            <a:pathLst>
              <a:path w="243281" h="948537">
                <a:moveTo>
                  <a:pt x="230581" y="12700"/>
                </a:moveTo>
                <a:cubicBezTo>
                  <a:pt x="230581" y="12700"/>
                  <a:pt x="99859" y="23571"/>
                  <a:pt x="99859" y="102425"/>
                </a:cubicBezTo>
                <a:lnTo>
                  <a:pt x="99859" y="367766"/>
                </a:lnTo>
                <a:cubicBezTo>
                  <a:pt x="99859" y="429425"/>
                  <a:pt x="12700" y="474281"/>
                  <a:pt x="12700" y="474281"/>
                </a:cubicBezTo>
                <a:cubicBezTo>
                  <a:pt x="12700" y="474281"/>
                  <a:pt x="99859" y="519125"/>
                  <a:pt x="99859" y="580821"/>
                </a:cubicBezTo>
                <a:lnTo>
                  <a:pt x="99859" y="846162"/>
                </a:lnTo>
                <a:cubicBezTo>
                  <a:pt x="99859" y="924636"/>
                  <a:pt x="230581" y="935837"/>
                  <a:pt x="230581" y="935837"/>
                </a:cubicBez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9" name="Freeform 3"/>
          <p:cNvSpPr/>
          <p:nvPr/>
        </p:nvSpPr>
        <p:spPr>
          <a:xfrm>
            <a:off x="4413907" y="2165081"/>
            <a:ext cx="90754" cy="154279"/>
          </a:xfrm>
          <a:custGeom>
            <a:avLst/>
            <a:gdLst>
              <a:gd name="connsiteX0" fmla="*/ 78054 w 90754"/>
              <a:gd name="connsiteY0" fmla="*/ 12700 h 154279"/>
              <a:gd name="connsiteX1" fmla="*/ 38836 w 90754"/>
              <a:gd name="connsiteY1" fmla="*/ 33426 h 154279"/>
              <a:gd name="connsiteX2" fmla="*/ 38836 w 90754"/>
              <a:gd name="connsiteY2" fmla="*/ 52552 h 154279"/>
              <a:gd name="connsiteX3" fmla="*/ 12700 w 90754"/>
              <a:gd name="connsiteY3" fmla="*/ 77127 h 154279"/>
              <a:gd name="connsiteX4" fmla="*/ 38836 w 90754"/>
              <a:gd name="connsiteY4" fmla="*/ 101701 h 154279"/>
              <a:gd name="connsiteX5" fmla="*/ 38836 w 90754"/>
              <a:gd name="connsiteY5" fmla="*/ 120916 h 154279"/>
              <a:gd name="connsiteX6" fmla="*/ 78054 w 90754"/>
              <a:gd name="connsiteY6" fmla="*/ 141579 h 1542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</a:cxnLst>
            <a:rect l="l" t="t" r="r" b="b"/>
            <a:pathLst>
              <a:path w="90754" h="154279">
                <a:moveTo>
                  <a:pt x="78054" y="12700"/>
                </a:moveTo>
                <a:cubicBezTo>
                  <a:pt x="78054" y="12700"/>
                  <a:pt x="38836" y="15214"/>
                  <a:pt x="38836" y="33426"/>
                </a:cubicBezTo>
                <a:lnTo>
                  <a:pt x="38836" y="52552"/>
                </a:lnTo>
                <a:cubicBezTo>
                  <a:pt x="38836" y="66827"/>
                  <a:pt x="12700" y="77127"/>
                  <a:pt x="12700" y="77127"/>
                </a:cubicBezTo>
                <a:cubicBezTo>
                  <a:pt x="12700" y="77127"/>
                  <a:pt x="38836" y="87541"/>
                  <a:pt x="38836" y="101701"/>
                </a:cubicBezTo>
                <a:lnTo>
                  <a:pt x="38836" y="120916"/>
                </a:lnTo>
                <a:cubicBezTo>
                  <a:pt x="38836" y="139001"/>
                  <a:pt x="78054" y="141579"/>
                  <a:pt x="78054" y="141579"/>
                </a:cubicBez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0" name="Freeform 3"/>
          <p:cNvSpPr/>
          <p:nvPr/>
        </p:nvSpPr>
        <p:spPr>
          <a:xfrm>
            <a:off x="3310089" y="4458274"/>
            <a:ext cx="195962" cy="232809"/>
          </a:xfrm>
          <a:custGeom>
            <a:avLst/>
            <a:gdLst>
              <a:gd name="connsiteX0" fmla="*/ 62561 w 195962"/>
              <a:gd name="connsiteY0" fmla="*/ 25400 h 232809"/>
              <a:gd name="connsiteX1" fmla="*/ 25528 w 195962"/>
              <a:gd name="connsiteY1" fmla="*/ 84099 h 232809"/>
              <a:gd name="connsiteX2" fmla="*/ 44705 w 195962"/>
              <a:gd name="connsiteY2" fmla="*/ 111658 h 232809"/>
              <a:gd name="connsiteX3" fmla="*/ 30887 w 195962"/>
              <a:gd name="connsiteY3" fmla="*/ 167919 h 232809"/>
              <a:gd name="connsiteX4" fmla="*/ 82424 w 195962"/>
              <a:gd name="connsiteY4" fmla="*/ 171627 h 232809"/>
              <a:gd name="connsiteX5" fmla="*/ 101715 w 195962"/>
              <a:gd name="connsiteY5" fmla="*/ 199364 h 232809"/>
              <a:gd name="connsiteX6" fmla="*/ 170562 w 195962"/>
              <a:gd name="connsiteY6" fmla="*/ 191223 h 23280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</a:cxnLst>
            <a:rect l="l" t="t" r="r" b="b"/>
            <a:pathLst>
              <a:path w="195962" h="232809">
                <a:moveTo>
                  <a:pt x="62561" y="25400"/>
                </a:moveTo>
                <a:cubicBezTo>
                  <a:pt x="62561" y="25400"/>
                  <a:pt x="11507" y="61823"/>
                  <a:pt x="25528" y="84099"/>
                </a:cubicBezTo>
                <a:cubicBezTo>
                  <a:pt x="39434" y="106184"/>
                  <a:pt x="33758" y="94322"/>
                  <a:pt x="44705" y="111658"/>
                </a:cubicBezTo>
                <a:cubicBezTo>
                  <a:pt x="55665" y="129044"/>
                  <a:pt x="30887" y="167919"/>
                  <a:pt x="30887" y="167919"/>
                </a:cubicBezTo>
                <a:cubicBezTo>
                  <a:pt x="30887" y="167919"/>
                  <a:pt x="71591" y="154355"/>
                  <a:pt x="82424" y="171627"/>
                </a:cubicBezTo>
                <a:cubicBezTo>
                  <a:pt x="93384" y="189039"/>
                  <a:pt x="87707" y="177101"/>
                  <a:pt x="101715" y="199364"/>
                </a:cubicBezTo>
                <a:cubicBezTo>
                  <a:pt x="115622" y="221450"/>
                  <a:pt x="170562" y="191223"/>
                  <a:pt x="170562" y="191223"/>
                </a:cubicBezTo>
              </a:path>
            </a:pathLst>
          </a:custGeom>
          <a:ln w="25400">
            <a:solidFill>
              <a:srgbClr val="FFFFF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1" name="Freeform 3"/>
          <p:cNvSpPr/>
          <p:nvPr/>
        </p:nvSpPr>
        <p:spPr>
          <a:xfrm>
            <a:off x="3322789" y="4470974"/>
            <a:ext cx="170562" cy="207409"/>
          </a:xfrm>
          <a:custGeom>
            <a:avLst/>
            <a:gdLst>
              <a:gd name="connsiteX0" fmla="*/ 49861 w 170562"/>
              <a:gd name="connsiteY0" fmla="*/ 12700 h 207409"/>
              <a:gd name="connsiteX1" fmla="*/ 12828 w 170562"/>
              <a:gd name="connsiteY1" fmla="*/ 71399 h 207409"/>
              <a:gd name="connsiteX2" fmla="*/ 32005 w 170562"/>
              <a:gd name="connsiteY2" fmla="*/ 98958 h 207409"/>
              <a:gd name="connsiteX3" fmla="*/ 18187 w 170562"/>
              <a:gd name="connsiteY3" fmla="*/ 155219 h 207409"/>
              <a:gd name="connsiteX4" fmla="*/ 69724 w 170562"/>
              <a:gd name="connsiteY4" fmla="*/ 158927 h 207409"/>
              <a:gd name="connsiteX5" fmla="*/ 89015 w 170562"/>
              <a:gd name="connsiteY5" fmla="*/ 186664 h 207409"/>
              <a:gd name="connsiteX6" fmla="*/ 157862 w 170562"/>
              <a:gd name="connsiteY6" fmla="*/ 178523 h 20740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</a:cxnLst>
            <a:rect l="l" t="t" r="r" b="b"/>
            <a:pathLst>
              <a:path w="170562" h="207409">
                <a:moveTo>
                  <a:pt x="49861" y="12700"/>
                </a:moveTo>
                <a:cubicBezTo>
                  <a:pt x="49861" y="12700"/>
                  <a:pt x="-1192" y="49123"/>
                  <a:pt x="12828" y="71399"/>
                </a:cubicBezTo>
                <a:cubicBezTo>
                  <a:pt x="26734" y="93484"/>
                  <a:pt x="21058" y="81622"/>
                  <a:pt x="32005" y="98958"/>
                </a:cubicBezTo>
                <a:cubicBezTo>
                  <a:pt x="42965" y="116344"/>
                  <a:pt x="18187" y="155219"/>
                  <a:pt x="18187" y="155219"/>
                </a:cubicBezTo>
                <a:cubicBezTo>
                  <a:pt x="18187" y="155219"/>
                  <a:pt x="58891" y="141655"/>
                  <a:pt x="69724" y="158927"/>
                </a:cubicBezTo>
                <a:cubicBezTo>
                  <a:pt x="80684" y="176339"/>
                  <a:pt x="75007" y="164401"/>
                  <a:pt x="89015" y="186664"/>
                </a:cubicBezTo>
                <a:cubicBezTo>
                  <a:pt x="102922" y="208750"/>
                  <a:pt x="157862" y="178523"/>
                  <a:pt x="157862" y="178523"/>
                </a:cubicBez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2" name="Freeform 3"/>
          <p:cNvSpPr/>
          <p:nvPr/>
        </p:nvSpPr>
        <p:spPr>
          <a:xfrm>
            <a:off x="1287990" y="2191690"/>
            <a:ext cx="1678495" cy="1270800"/>
          </a:xfrm>
          <a:custGeom>
            <a:avLst/>
            <a:gdLst>
              <a:gd name="connsiteX0" fmla="*/ 12700 w 1678495"/>
              <a:gd name="connsiteY0" fmla="*/ 1258100 h 1270800"/>
              <a:gd name="connsiteX1" fmla="*/ 1665795 w 1678495"/>
              <a:gd name="connsiteY1" fmla="*/ 12700 h 12708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678495" h="1270800">
                <a:moveTo>
                  <a:pt x="12700" y="1258100"/>
                </a:moveTo>
                <a:lnTo>
                  <a:pt x="1665795" y="12700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3" name="Freeform 3"/>
          <p:cNvSpPr/>
          <p:nvPr/>
        </p:nvSpPr>
        <p:spPr>
          <a:xfrm>
            <a:off x="2408877" y="2003716"/>
            <a:ext cx="773010" cy="1521244"/>
          </a:xfrm>
          <a:custGeom>
            <a:avLst/>
            <a:gdLst>
              <a:gd name="connsiteX0" fmla="*/ 12700 w 773010"/>
              <a:gd name="connsiteY0" fmla="*/ 1508544 h 1521244"/>
              <a:gd name="connsiteX1" fmla="*/ 760310 w 773010"/>
              <a:gd name="connsiteY1" fmla="*/ 12700 h 152124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73010" h="1521244">
                <a:moveTo>
                  <a:pt x="12700" y="1508544"/>
                </a:moveTo>
                <a:lnTo>
                  <a:pt x="760310" y="12700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4" name="Freeform 3"/>
          <p:cNvSpPr/>
          <p:nvPr/>
        </p:nvSpPr>
        <p:spPr>
          <a:xfrm>
            <a:off x="4710911" y="2210250"/>
            <a:ext cx="223913" cy="1032433"/>
          </a:xfrm>
          <a:custGeom>
            <a:avLst/>
            <a:gdLst>
              <a:gd name="connsiteX0" fmla="*/ 211213 w 223913"/>
              <a:gd name="connsiteY0" fmla="*/ 1019733 h 1032433"/>
              <a:gd name="connsiteX1" fmla="*/ 12700 w 223913"/>
              <a:gd name="connsiteY1" fmla="*/ 12700 h 103243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23913" h="1032433">
                <a:moveTo>
                  <a:pt x="211213" y="1019733"/>
                </a:moveTo>
                <a:lnTo>
                  <a:pt x="12700" y="12700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5" name="Freeform 3"/>
          <p:cNvSpPr/>
          <p:nvPr/>
        </p:nvSpPr>
        <p:spPr>
          <a:xfrm>
            <a:off x="5327761" y="2675872"/>
            <a:ext cx="1004633" cy="1665757"/>
          </a:xfrm>
          <a:custGeom>
            <a:avLst/>
            <a:gdLst>
              <a:gd name="connsiteX0" fmla="*/ 991933 w 1004633"/>
              <a:gd name="connsiteY0" fmla="*/ 1653057 h 1665757"/>
              <a:gd name="connsiteX1" fmla="*/ 12700 w 1004633"/>
              <a:gd name="connsiteY1" fmla="*/ 12700 h 166575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004633" h="1665757">
                <a:moveTo>
                  <a:pt x="991933" y="1653057"/>
                </a:moveTo>
                <a:lnTo>
                  <a:pt x="12700" y="12700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6" name="Freeform 3"/>
          <p:cNvSpPr/>
          <p:nvPr/>
        </p:nvSpPr>
        <p:spPr>
          <a:xfrm>
            <a:off x="5753505" y="2553424"/>
            <a:ext cx="633907" cy="909066"/>
          </a:xfrm>
          <a:custGeom>
            <a:avLst/>
            <a:gdLst>
              <a:gd name="connsiteX0" fmla="*/ 621207 w 633907"/>
              <a:gd name="connsiteY0" fmla="*/ 896366 h 909066"/>
              <a:gd name="connsiteX1" fmla="*/ 12700 w 633907"/>
              <a:gd name="connsiteY1" fmla="*/ 12700 h 90906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633907" h="909066">
                <a:moveTo>
                  <a:pt x="621207" y="896366"/>
                </a:moveTo>
                <a:lnTo>
                  <a:pt x="12700" y="12700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7" name="Freeform 3"/>
          <p:cNvSpPr/>
          <p:nvPr/>
        </p:nvSpPr>
        <p:spPr>
          <a:xfrm>
            <a:off x="5931601" y="2254775"/>
            <a:ext cx="548805" cy="324053"/>
          </a:xfrm>
          <a:custGeom>
            <a:avLst/>
            <a:gdLst>
              <a:gd name="connsiteX0" fmla="*/ 12700 w 548805"/>
              <a:gd name="connsiteY0" fmla="*/ 12700 h 324053"/>
              <a:gd name="connsiteX1" fmla="*/ 536104 w 548805"/>
              <a:gd name="connsiteY1" fmla="*/ 311353 h 32405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548805" h="324053">
                <a:moveTo>
                  <a:pt x="12700" y="12700"/>
                </a:moveTo>
                <a:lnTo>
                  <a:pt x="536104" y="311353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8" name="Freeform 3"/>
          <p:cNvSpPr/>
          <p:nvPr/>
        </p:nvSpPr>
        <p:spPr>
          <a:xfrm>
            <a:off x="1300852" y="3828631"/>
            <a:ext cx="2029231" cy="1193495"/>
          </a:xfrm>
          <a:custGeom>
            <a:avLst/>
            <a:gdLst>
              <a:gd name="connsiteX0" fmla="*/ 12700 w 2029231"/>
              <a:gd name="connsiteY0" fmla="*/ 12700 h 1193495"/>
              <a:gd name="connsiteX1" fmla="*/ 2016531 w 2029231"/>
              <a:gd name="connsiteY1" fmla="*/ 1180794 h 119349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029231" h="1193495">
                <a:moveTo>
                  <a:pt x="12700" y="12700"/>
                </a:moveTo>
                <a:lnTo>
                  <a:pt x="2016531" y="1180794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9" name="Freeform 3"/>
          <p:cNvSpPr/>
          <p:nvPr/>
        </p:nvSpPr>
        <p:spPr>
          <a:xfrm>
            <a:off x="3808183" y="2229500"/>
            <a:ext cx="631113" cy="644956"/>
          </a:xfrm>
          <a:custGeom>
            <a:avLst/>
            <a:gdLst>
              <a:gd name="connsiteX0" fmla="*/ 12700 w 631113"/>
              <a:gd name="connsiteY0" fmla="*/ 632256 h 644956"/>
              <a:gd name="connsiteX1" fmla="*/ 618413 w 631113"/>
              <a:gd name="connsiteY1" fmla="*/ 12700 h 64495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631113" h="644956">
                <a:moveTo>
                  <a:pt x="12700" y="632256"/>
                </a:moveTo>
                <a:lnTo>
                  <a:pt x="618413" y="12700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0" name="Freeform 3"/>
          <p:cNvSpPr/>
          <p:nvPr/>
        </p:nvSpPr>
        <p:spPr>
          <a:xfrm>
            <a:off x="2407251" y="3884839"/>
            <a:ext cx="946416" cy="754049"/>
          </a:xfrm>
          <a:custGeom>
            <a:avLst/>
            <a:gdLst>
              <a:gd name="connsiteX0" fmla="*/ 12700 w 946416"/>
              <a:gd name="connsiteY0" fmla="*/ 12700 h 754049"/>
              <a:gd name="connsiteX1" fmla="*/ 933716 w 946416"/>
              <a:gd name="connsiteY1" fmla="*/ 741349 h 75404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46416" h="754049">
                <a:moveTo>
                  <a:pt x="12700" y="12700"/>
                </a:moveTo>
                <a:lnTo>
                  <a:pt x="933716" y="741349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1" name="Freeform 3"/>
          <p:cNvSpPr/>
          <p:nvPr/>
        </p:nvSpPr>
        <p:spPr>
          <a:xfrm>
            <a:off x="6831044" y="6093598"/>
            <a:ext cx="23825" cy="129565"/>
          </a:xfrm>
          <a:custGeom>
            <a:avLst/>
            <a:gdLst>
              <a:gd name="connsiteX0" fmla="*/ 6350 w 23825"/>
              <a:gd name="connsiteY0" fmla="*/ 123215 h 129565"/>
              <a:gd name="connsiteX1" fmla="*/ 6350 w 23825"/>
              <a:gd name="connsiteY1" fmla="*/ 6350 h 12956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3825" h="129565">
                <a:moveTo>
                  <a:pt x="6350" y="123215"/>
                </a:moveTo>
                <a:lnTo>
                  <a:pt x="6350" y="6350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2" name="Freeform 3"/>
          <p:cNvSpPr/>
          <p:nvPr/>
        </p:nvSpPr>
        <p:spPr>
          <a:xfrm>
            <a:off x="6312105" y="6093598"/>
            <a:ext cx="23825" cy="129565"/>
          </a:xfrm>
          <a:custGeom>
            <a:avLst/>
            <a:gdLst>
              <a:gd name="connsiteX0" fmla="*/ 6350 w 23825"/>
              <a:gd name="connsiteY0" fmla="*/ 123215 h 129565"/>
              <a:gd name="connsiteX1" fmla="*/ 6350 w 23825"/>
              <a:gd name="connsiteY1" fmla="*/ 6350 h 12956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3825" h="129565">
                <a:moveTo>
                  <a:pt x="6350" y="123215"/>
                </a:moveTo>
                <a:lnTo>
                  <a:pt x="6350" y="6350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3" name="Freeform 3"/>
          <p:cNvSpPr/>
          <p:nvPr/>
        </p:nvSpPr>
        <p:spPr>
          <a:xfrm>
            <a:off x="6312105" y="6152037"/>
            <a:ext cx="529132" cy="23825"/>
          </a:xfrm>
          <a:custGeom>
            <a:avLst/>
            <a:gdLst>
              <a:gd name="connsiteX0" fmla="*/ 522782 w 529132"/>
              <a:gd name="connsiteY0" fmla="*/ 6350 h 23825"/>
              <a:gd name="connsiteX1" fmla="*/ 6350 w 529132"/>
              <a:gd name="connsiteY1" fmla="*/ 6350 h 2382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529132" h="23825">
                <a:moveTo>
                  <a:pt x="522782" y="6350"/>
                </a:moveTo>
                <a:lnTo>
                  <a:pt x="6350" y="6350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4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027342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© 2018 Pearson Education Ltd.</a:t>
            </a:r>
            <a:endParaRPr lang="en-US" dirty="0"/>
          </a:p>
        </p:txBody>
      </p:sp>
      <p:pic>
        <p:nvPicPr>
          <p:cNvPr id="2050" name="Picture 2" descr="D:\Rami's Documents\Batool-Thesis &amp; others\Thesis\Thesis images\TEM pics\Contro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93914"/>
            <a:ext cx="6553200" cy="561702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04800" y="6093767"/>
            <a:ext cx="8460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</a:rPr>
              <a:t>Alkhatib </a:t>
            </a:r>
            <a:r>
              <a:rPr lang="en-US" sz="1600" b="1" smtClean="0">
                <a:solidFill>
                  <a:srgbClr val="FF0000"/>
                </a:solidFill>
              </a:rPr>
              <a:t>R. </a:t>
            </a:r>
            <a:r>
              <a:rPr lang="en-US" sz="1600" b="1" dirty="0" smtClean="0">
                <a:solidFill>
                  <a:srgbClr val="FF0000"/>
                </a:solidFill>
              </a:rPr>
              <a:t>et al. </a:t>
            </a:r>
            <a:r>
              <a:rPr lang="en-US" sz="1600" b="1" i="1" dirty="0">
                <a:solidFill>
                  <a:srgbClr val="FF0000"/>
                </a:solidFill>
              </a:rPr>
              <a:t>Biologia Plantarum </a:t>
            </a:r>
            <a:r>
              <a:rPr lang="en-US" sz="1600" b="1" dirty="0">
                <a:solidFill>
                  <a:srgbClr val="FF0000"/>
                </a:solidFill>
              </a:rPr>
              <a:t>60 (4): 706-714. (DIO:10.1007/s10535-016-0600-z).</a:t>
            </a:r>
          </a:p>
        </p:txBody>
      </p:sp>
    </p:spTree>
    <p:extLst>
      <p:ext uri="{BB962C8B-B14F-4D97-AF65-F5344CB8AC3E}">
        <p14:creationId xmlns:p14="http://schemas.microsoft.com/office/powerpoint/2010/main" val="697168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Tracking Atoms Through Photosynthesis: </a:t>
            </a:r>
            <a:r>
              <a:rPr lang="en-US" altLang="en-US" i="1" smtClean="0"/>
              <a:t>Scientific Inquiry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Photosynthesis is a complex series of reactions that can be summarized as the following equation:</a:t>
            </a:r>
          </a:p>
          <a:p>
            <a:pPr marL="358775" indent="-358775">
              <a:buNone/>
            </a:pPr>
            <a:r>
              <a:rPr lang="en-US" dirty="0" smtClean="0"/>
              <a:t>	6 CO</a:t>
            </a:r>
            <a:r>
              <a:rPr lang="en-US" baseline="-25000" dirty="0" smtClean="0"/>
              <a:t>2</a:t>
            </a:r>
            <a:r>
              <a:rPr lang="en-US" dirty="0" smtClean="0"/>
              <a:t> </a:t>
            </a:r>
            <a:r>
              <a:rPr lang="en-US" dirty="0" smtClean="0">
                <a:latin typeface="+mj-lt"/>
              </a:rPr>
              <a:t>+</a:t>
            </a:r>
            <a:r>
              <a:rPr lang="en-US" dirty="0" smtClean="0"/>
              <a:t> 12 H</a:t>
            </a:r>
            <a:r>
              <a:rPr lang="en-US" baseline="-25000" dirty="0" smtClean="0"/>
              <a:t>2</a:t>
            </a:r>
            <a:r>
              <a:rPr lang="en-US" dirty="0" smtClean="0"/>
              <a:t>O </a:t>
            </a:r>
            <a:r>
              <a:rPr lang="en-US" dirty="0" smtClean="0">
                <a:latin typeface="+mj-lt"/>
              </a:rPr>
              <a:t>+</a:t>
            </a:r>
            <a:r>
              <a:rPr lang="en-US" dirty="0" smtClean="0"/>
              <a:t> Light energy </a:t>
            </a:r>
            <a:r>
              <a:rPr lang="en-US" dirty="0" smtClean="0">
                <a:latin typeface="+mj-lt"/>
                <a:sym typeface="Symbol" charset="0"/>
              </a:rPr>
              <a:t>→</a:t>
            </a:r>
            <a:r>
              <a:rPr lang="en-US" dirty="0" smtClean="0">
                <a:sym typeface="Symbol" charset="0"/>
              </a:rPr>
              <a:t> C</a:t>
            </a:r>
            <a:r>
              <a:rPr lang="en-US" baseline="-25000" dirty="0" smtClean="0">
                <a:sym typeface="Symbol" charset="0"/>
              </a:rPr>
              <a:t>6</a:t>
            </a:r>
            <a:r>
              <a:rPr lang="en-US" dirty="0" smtClean="0">
                <a:sym typeface="Symbol" charset="0"/>
              </a:rPr>
              <a:t>H</a:t>
            </a:r>
            <a:r>
              <a:rPr lang="en-US" baseline="-25000" dirty="0" smtClean="0">
                <a:sym typeface="Symbol" charset="0"/>
              </a:rPr>
              <a:t>12</a:t>
            </a:r>
            <a:r>
              <a:rPr lang="en-US" dirty="0" smtClean="0">
                <a:sym typeface="Symbol" charset="0"/>
              </a:rPr>
              <a:t>O</a:t>
            </a:r>
            <a:r>
              <a:rPr lang="en-US" baseline="-25000" dirty="0" smtClean="0">
                <a:sym typeface="Symbol" charset="0"/>
              </a:rPr>
              <a:t>6</a:t>
            </a:r>
            <a:r>
              <a:rPr lang="en-US" dirty="0" smtClean="0">
                <a:sym typeface="Symbol" charset="0"/>
              </a:rPr>
              <a:t> </a:t>
            </a:r>
            <a:r>
              <a:rPr lang="en-US" dirty="0" smtClean="0">
                <a:latin typeface="+mj-lt"/>
              </a:rPr>
              <a:t>+</a:t>
            </a:r>
            <a:r>
              <a:rPr lang="en-US" dirty="0" smtClean="0">
                <a:sym typeface="Symbol" charset="0"/>
              </a:rPr>
              <a:t> 6 O</a:t>
            </a:r>
            <a:r>
              <a:rPr lang="en-US" baseline="-25000" dirty="0" smtClean="0">
                <a:sym typeface="Symbol" charset="0"/>
              </a:rPr>
              <a:t>2</a:t>
            </a:r>
            <a:r>
              <a:rPr lang="en-US" dirty="0" smtClean="0">
                <a:sym typeface="Symbol" charset="0"/>
              </a:rPr>
              <a:t> </a:t>
            </a:r>
            <a:r>
              <a:rPr lang="en-US" dirty="0" smtClean="0">
                <a:latin typeface="+mj-lt"/>
              </a:rPr>
              <a:t>+</a:t>
            </a:r>
            <a:r>
              <a:rPr lang="en-US" dirty="0" smtClean="0">
                <a:sym typeface="Symbol" charset="0"/>
              </a:rPr>
              <a:t> 6 H</a:t>
            </a:r>
            <a:r>
              <a:rPr lang="en-US" baseline="-25000" dirty="0" smtClean="0">
                <a:sym typeface="Symbol" charset="0"/>
              </a:rPr>
              <a:t>2</a:t>
            </a:r>
            <a:r>
              <a:rPr lang="en-US" dirty="0" smtClean="0">
                <a:sym typeface="Symbol" charset="0"/>
              </a:rPr>
              <a:t>O </a:t>
            </a:r>
          </a:p>
          <a:p>
            <a:r>
              <a:rPr lang="en-US" dirty="0" smtClean="0"/>
              <a:t>The overall chemical change during photosynthesis is the reverse of the one that occurs during cellular respiration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816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 smtClean="0"/>
              <a:t>The Splitting of Water</a:t>
            </a:r>
          </a:p>
        </p:txBody>
      </p:sp>
      <p:sp>
        <p:nvSpPr>
          <p:cNvPr id="1003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Chloroplasts split H</a:t>
            </a:r>
            <a:r>
              <a:rPr lang="en-US" altLang="en-US" baseline="-25000" smtClean="0"/>
              <a:t>2</a:t>
            </a:r>
            <a:r>
              <a:rPr lang="en-US" altLang="en-US" smtClean="0"/>
              <a:t>O into hydrogen and oxygen, incorporating the electrons of hydrogen into sugar molecules and releasing oxygen as a by-product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299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95"/>
          <a:stretch>
            <a:fillRect/>
          </a:stretch>
        </p:blipFill>
        <p:spPr>
          <a:xfrm>
            <a:off x="298704" y="2118360"/>
            <a:ext cx="8546592" cy="262128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11.5</a:t>
            </a:r>
            <a:endParaRPr lang="en-US" dirty="0"/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1239328" y="2467231"/>
            <a:ext cx="144590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400"/>
              </a:lnSpc>
            </a:pPr>
            <a:r>
              <a:rPr lang="en-US" sz="2200" b="1">
                <a:solidFill>
                  <a:srgbClr val="000000"/>
                </a:solidFill>
                <a:latin typeface="Arial"/>
              </a:rPr>
              <a:t>Reactants: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4044441" y="2467231"/>
            <a:ext cx="76302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400"/>
              </a:lnSpc>
            </a:pPr>
            <a:r>
              <a:rPr lang="en-US" sz="2200" b="1" dirty="0">
                <a:solidFill>
                  <a:srgbClr val="000000"/>
                </a:solidFill>
                <a:latin typeface="Arial"/>
              </a:rPr>
              <a:t>6 </a:t>
            </a:r>
            <a:r>
              <a:rPr lang="en-US" sz="2200" b="1" dirty="0">
                <a:solidFill>
                  <a:srgbClr val="EC068D"/>
                </a:solidFill>
                <a:latin typeface="Arial"/>
              </a:rPr>
              <a:t>CO</a:t>
            </a:r>
            <a:r>
              <a:rPr lang="en-US" sz="2200" b="1" baseline="-25000" dirty="0">
                <a:solidFill>
                  <a:srgbClr val="EC068D"/>
                </a:solidFill>
                <a:latin typeface="Arial"/>
              </a:rPr>
              <a:t>2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5643053" y="2467231"/>
            <a:ext cx="9201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400"/>
              </a:lnSpc>
            </a:pPr>
            <a:r>
              <a:rPr lang="en-US" sz="2200" b="1" dirty="0">
                <a:solidFill>
                  <a:srgbClr val="000000"/>
                </a:solidFill>
                <a:latin typeface="Arial"/>
              </a:rPr>
              <a:t>12 </a:t>
            </a:r>
            <a:r>
              <a:rPr lang="en-US" sz="2200" b="1" dirty="0">
                <a:solidFill>
                  <a:srgbClr val="1091D3"/>
                </a:solidFill>
                <a:latin typeface="Arial"/>
              </a:rPr>
              <a:t>H</a:t>
            </a:r>
            <a:r>
              <a:rPr lang="en-US" sz="2200" b="1" baseline="-25000" dirty="0">
                <a:solidFill>
                  <a:srgbClr val="1091D3"/>
                </a:solidFill>
                <a:latin typeface="Arial"/>
              </a:rPr>
              <a:t>2</a:t>
            </a:r>
            <a:r>
              <a:rPr lang="en-US" sz="2200" b="1" dirty="0">
                <a:solidFill>
                  <a:srgbClr val="1091D3"/>
                </a:solidFill>
                <a:latin typeface="Arial"/>
              </a:rPr>
              <a:t>O</a:t>
            </a: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1239328" y="4042031"/>
            <a:ext cx="131927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400"/>
              </a:lnSpc>
            </a:pPr>
            <a:r>
              <a:rPr lang="en-US" sz="2200" b="1">
                <a:solidFill>
                  <a:srgbClr val="000000"/>
                </a:solidFill>
                <a:latin typeface="Arial"/>
              </a:rPr>
              <a:t>Products:</a:t>
            </a:r>
          </a:p>
        </p:txBody>
      </p:sp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4969953" y="4042031"/>
            <a:ext cx="76302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400"/>
              </a:lnSpc>
            </a:pPr>
            <a:r>
              <a:rPr lang="en-US" sz="2200" b="1" dirty="0">
                <a:solidFill>
                  <a:srgbClr val="000000"/>
                </a:solidFill>
                <a:latin typeface="Arial"/>
              </a:rPr>
              <a:t>6 </a:t>
            </a:r>
            <a:r>
              <a:rPr lang="en-US" sz="2200" b="1" dirty="0">
                <a:solidFill>
                  <a:srgbClr val="1091D3"/>
                </a:solidFill>
                <a:latin typeface="Arial"/>
              </a:rPr>
              <a:t>H</a:t>
            </a:r>
            <a:r>
              <a:rPr lang="en-US" sz="2200" b="1" baseline="-25000" dirty="0">
                <a:solidFill>
                  <a:srgbClr val="1091D3"/>
                </a:solidFill>
                <a:latin typeface="Arial"/>
              </a:rPr>
              <a:t>2</a:t>
            </a:r>
            <a:r>
              <a:rPr lang="en-US" sz="2200" b="1" dirty="0">
                <a:solidFill>
                  <a:srgbClr val="EC068D"/>
                </a:solidFill>
                <a:latin typeface="Arial"/>
              </a:rPr>
              <a:t>O</a:t>
            </a:r>
          </a:p>
        </p:txBody>
      </p:sp>
      <p:sp>
        <p:nvSpPr>
          <p:cNvPr id="12" name="TextBox 9"/>
          <p:cNvSpPr txBox="1">
            <a:spLocks noChangeArrowheads="1"/>
          </p:cNvSpPr>
          <p:nvPr/>
        </p:nvSpPr>
        <p:spPr bwMode="auto">
          <a:xfrm>
            <a:off x="6938453" y="4042031"/>
            <a:ext cx="55944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400"/>
              </a:lnSpc>
            </a:pPr>
            <a:r>
              <a:rPr lang="en-US" sz="2200" b="1" dirty="0">
                <a:solidFill>
                  <a:srgbClr val="000000"/>
                </a:solidFill>
                <a:latin typeface="Arial"/>
              </a:rPr>
              <a:t>6 </a:t>
            </a:r>
            <a:r>
              <a:rPr lang="en-US" sz="2200" b="1" dirty="0">
                <a:solidFill>
                  <a:srgbClr val="1091D3"/>
                </a:solidFill>
                <a:latin typeface="Arial"/>
              </a:rPr>
              <a:t>O</a:t>
            </a:r>
            <a:r>
              <a:rPr lang="en-US" sz="2200" b="1" baseline="-25000" dirty="0">
                <a:solidFill>
                  <a:srgbClr val="1091D3"/>
                </a:solidFill>
                <a:latin typeface="Arial"/>
              </a:rPr>
              <a:t>2</a:t>
            </a:r>
          </a:p>
        </p:txBody>
      </p:sp>
      <p:sp>
        <p:nvSpPr>
          <p:cNvPr id="13" name="TextBox 7"/>
          <p:cNvSpPr txBox="1">
            <a:spLocks noChangeArrowheads="1"/>
          </p:cNvSpPr>
          <p:nvPr/>
        </p:nvSpPr>
        <p:spPr bwMode="auto">
          <a:xfrm>
            <a:off x="3135823" y="4052590"/>
            <a:ext cx="104355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400"/>
              </a:lnSpc>
            </a:pPr>
            <a:r>
              <a:rPr lang="en-US" sz="2200" b="1" dirty="0">
                <a:solidFill>
                  <a:srgbClr val="EC068D"/>
                </a:solidFill>
                <a:latin typeface="Arial"/>
              </a:rPr>
              <a:t>C</a:t>
            </a:r>
            <a:r>
              <a:rPr lang="en-US" sz="2200" b="1" baseline="-25000" dirty="0">
                <a:solidFill>
                  <a:srgbClr val="EC068D"/>
                </a:solidFill>
                <a:latin typeface="Arial"/>
              </a:rPr>
              <a:t>6</a:t>
            </a:r>
            <a:r>
              <a:rPr lang="en-US" sz="2200" b="1" dirty="0">
                <a:solidFill>
                  <a:srgbClr val="1091D3"/>
                </a:solidFill>
                <a:latin typeface="Arial"/>
              </a:rPr>
              <a:t>H</a:t>
            </a:r>
            <a:r>
              <a:rPr lang="en-US" sz="2200" b="1" baseline="-25000" dirty="0">
                <a:solidFill>
                  <a:srgbClr val="1091D3"/>
                </a:solidFill>
                <a:latin typeface="Arial"/>
              </a:rPr>
              <a:t>12</a:t>
            </a:r>
            <a:r>
              <a:rPr lang="en-US" sz="2200" b="1" dirty="0">
                <a:solidFill>
                  <a:srgbClr val="EC068D"/>
                </a:solidFill>
                <a:latin typeface="Arial"/>
              </a:rPr>
              <a:t>O</a:t>
            </a:r>
            <a:r>
              <a:rPr lang="en-US" sz="2200" b="1" baseline="-25000" dirty="0">
                <a:solidFill>
                  <a:srgbClr val="EC068D"/>
                </a:solidFill>
                <a:latin typeface="Arial"/>
              </a:rPr>
              <a:t>6</a:t>
            </a:r>
          </a:p>
        </p:txBody>
      </p:sp>
      <p:sp>
        <p:nvSpPr>
          <p:cNvPr id="14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71627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 smtClean="0"/>
              <a:t>Photosynthesis as a Redox Process</a:t>
            </a:r>
          </a:p>
        </p:txBody>
      </p:sp>
      <p:sp>
        <p:nvSpPr>
          <p:cNvPr id="1024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Photosynthesis reverses the direction of electron flow compared to respiration</a:t>
            </a:r>
          </a:p>
          <a:p>
            <a:r>
              <a:rPr lang="en-US" altLang="en-US" smtClean="0"/>
              <a:t>Photosynthesis is a redox process in which H</a:t>
            </a:r>
            <a:r>
              <a:rPr lang="en-US" altLang="en-US" baseline="-25000" smtClean="0"/>
              <a:t>2</a:t>
            </a:r>
            <a:r>
              <a:rPr lang="en-US" altLang="en-US" smtClean="0"/>
              <a:t>O is oxidized and CO</a:t>
            </a:r>
            <a:r>
              <a:rPr lang="en-US" altLang="en-US" baseline="-25000" smtClean="0"/>
              <a:t>2</a:t>
            </a:r>
            <a:r>
              <a:rPr lang="en-US" altLang="en-US" smtClean="0"/>
              <a:t> is reduced</a:t>
            </a:r>
          </a:p>
          <a:p>
            <a:r>
              <a:rPr lang="en-US" altLang="en-US" smtClean="0"/>
              <a:t>Photosynthesis is an endergonic process; the energy boost is provided by light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753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51"/>
          <a:stretch>
            <a:fillRect/>
          </a:stretch>
        </p:blipFill>
        <p:spPr>
          <a:xfrm>
            <a:off x="298704" y="2624328"/>
            <a:ext cx="8546592" cy="1609344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11.UN01</a:t>
            </a:r>
            <a:endParaRPr lang="en-US" dirty="0"/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3307598" y="2622309"/>
            <a:ext cx="2617704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009ACC"/>
                </a:solidFill>
                <a:latin typeface="Arial"/>
              </a:rPr>
              <a:t>becomes reduced</a:t>
            </a:r>
          </a:p>
        </p:txBody>
      </p:sp>
      <p:sp>
        <p:nvSpPr>
          <p:cNvPr id="13" name="TextBox 10"/>
          <p:cNvSpPr txBox="1">
            <a:spLocks noChangeArrowheads="1"/>
          </p:cNvSpPr>
          <p:nvPr/>
        </p:nvSpPr>
        <p:spPr bwMode="auto">
          <a:xfrm>
            <a:off x="5091948" y="3925647"/>
            <a:ext cx="2649764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009ACC"/>
                </a:solidFill>
                <a:latin typeface="Arial"/>
              </a:rPr>
              <a:t>becomes oxidized</a:t>
            </a:r>
          </a:p>
        </p:txBody>
      </p:sp>
      <p:sp>
        <p:nvSpPr>
          <p:cNvPr id="7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0863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/>
          <a:p>
            <a:r>
              <a:rPr lang="en-US" altLang="en-US" smtClean="0"/>
              <a:t>The Two Stages of Photosynthesis: </a:t>
            </a:r>
            <a:r>
              <a:rPr lang="en-US" altLang="en-US" i="1" smtClean="0"/>
              <a:t>A Preview</a:t>
            </a:r>
          </a:p>
        </p:txBody>
      </p:sp>
      <p:sp>
        <p:nvSpPr>
          <p:cNvPr id="1044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Photosynthesis consists of the </a:t>
            </a:r>
            <a:r>
              <a:rPr lang="en-US" altLang="en-US" b="1" dirty="0" smtClean="0"/>
              <a:t>light reactions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>(the photo part) and</a:t>
            </a:r>
            <a:r>
              <a:rPr lang="en-US" altLang="en-US" b="1" dirty="0" smtClean="0"/>
              <a:t> Calvin cycle</a:t>
            </a:r>
            <a:r>
              <a:rPr lang="en-US" altLang="en-US" dirty="0" smtClean="0"/>
              <a:t> (the synthesis part)</a:t>
            </a:r>
          </a:p>
          <a:p>
            <a:r>
              <a:rPr lang="en-US" altLang="en-US" dirty="0" smtClean="0"/>
              <a:t>The light reactions (in the thylakoids)</a:t>
            </a:r>
          </a:p>
          <a:p>
            <a:pPr lvl="1"/>
            <a:r>
              <a:rPr lang="en-US" altLang="en-US" dirty="0" smtClean="0"/>
              <a:t>Split H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O</a:t>
            </a:r>
          </a:p>
          <a:p>
            <a:pPr lvl="1"/>
            <a:r>
              <a:rPr lang="en-US" altLang="en-US" dirty="0" smtClean="0"/>
              <a:t>Release O</a:t>
            </a:r>
            <a:r>
              <a:rPr lang="en-US" altLang="en-US" baseline="-25000" dirty="0" smtClean="0"/>
              <a:t>2</a:t>
            </a:r>
          </a:p>
          <a:p>
            <a:pPr lvl="1"/>
            <a:r>
              <a:rPr lang="en-US" altLang="en-US" dirty="0" smtClean="0"/>
              <a:t>Reduce the electron acceptor </a:t>
            </a:r>
            <a:r>
              <a:rPr lang="en-US" altLang="en-US" b="1" dirty="0" smtClean="0"/>
              <a:t>NADP</a:t>
            </a:r>
            <a:r>
              <a:rPr lang="en-US" altLang="en-US" b="1" baseline="30000" dirty="0" smtClean="0">
                <a:latin typeface="+mj-lt"/>
              </a:rPr>
              <a:t>+</a:t>
            </a:r>
            <a:r>
              <a:rPr lang="en-US" altLang="en-US" baseline="30000" dirty="0" smtClean="0"/>
              <a:t> </a:t>
            </a:r>
            <a:r>
              <a:rPr lang="en-US" altLang="en-US" dirty="0" smtClean="0"/>
              <a:t>to </a:t>
            </a:r>
            <a:r>
              <a:rPr lang="en-US" altLang="en-US" b="1" dirty="0" smtClean="0"/>
              <a:t>NADPH</a:t>
            </a:r>
          </a:p>
          <a:p>
            <a:pPr lvl="1"/>
            <a:r>
              <a:rPr lang="en-US" altLang="en-US" dirty="0" smtClean="0"/>
              <a:t>Generate ATP from ADP by </a:t>
            </a:r>
            <a:r>
              <a:rPr lang="en-US" altLang="en-US" b="1" dirty="0" smtClean="0"/>
              <a:t>photophosphorylation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96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 Calvin cycle (in the stroma) forms sugar from CO</a:t>
            </a:r>
            <a:r>
              <a:rPr lang="en-US" altLang="en-US" baseline="-25000" smtClean="0"/>
              <a:t>2</a:t>
            </a:r>
            <a:r>
              <a:rPr lang="en-US" altLang="en-US" smtClean="0"/>
              <a:t>, using ATP and NADPH</a:t>
            </a:r>
          </a:p>
          <a:p>
            <a:r>
              <a:rPr lang="en-US" altLang="en-US" smtClean="0"/>
              <a:t>The Calvin cycle begins with </a:t>
            </a:r>
            <a:r>
              <a:rPr lang="en-US" altLang="en-US" b="1" smtClean="0"/>
              <a:t>carbon fixation</a:t>
            </a:r>
            <a:r>
              <a:rPr lang="en-US" altLang="en-US" smtClean="0"/>
              <a:t>, incorporating CO</a:t>
            </a:r>
            <a:r>
              <a:rPr lang="en-US" altLang="en-US" baseline="-25000" smtClean="0"/>
              <a:t>2</a:t>
            </a:r>
            <a:r>
              <a:rPr lang="en-US" altLang="en-US" smtClean="0"/>
              <a:t> into organic molecules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195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560832" y="213360"/>
            <a:ext cx="8022336" cy="64312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11.6_1</a:t>
            </a:r>
            <a:endParaRPr lang="en-US" dirty="0"/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1562088" y="421581"/>
            <a:ext cx="564257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Light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25763" y="412055"/>
            <a:ext cx="455253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>
                <a:solidFill>
                  <a:srgbClr val="FFFFFF"/>
                </a:solidFill>
                <a:latin typeface="Arial"/>
              </a:rPr>
              <a:t>H</a:t>
            </a:r>
            <a:r>
              <a:rPr lang="en-US" sz="1900" b="1" baseline="-25000" dirty="0">
                <a:solidFill>
                  <a:srgbClr val="FFFFFF"/>
                </a:solidFill>
                <a:latin typeface="Arial"/>
              </a:rPr>
              <a:t>2</a:t>
            </a:r>
            <a:r>
              <a:rPr lang="en-US" sz="1900" b="1" dirty="0">
                <a:solidFill>
                  <a:srgbClr val="FFFFFF"/>
                </a:solidFill>
                <a:latin typeface="Arial"/>
              </a:rPr>
              <a:t>O</a:t>
            </a: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4322971" y="2042418"/>
            <a:ext cx="783869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 smtClean="0">
                <a:solidFill>
                  <a:srgbClr val="000000"/>
                </a:solidFill>
                <a:latin typeface="Arial"/>
              </a:rPr>
              <a:t>NADP</a:t>
            </a:r>
            <a:r>
              <a:rPr lang="en-US" sz="19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1900" b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4467148" y="2558454"/>
            <a:ext cx="514564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>
                <a:solidFill>
                  <a:srgbClr val="000000"/>
                </a:solidFill>
                <a:latin typeface="Arial"/>
              </a:rPr>
              <a:t>ADP</a:t>
            </a:r>
          </a:p>
        </p:txBody>
      </p:sp>
      <p:sp>
        <p:nvSpPr>
          <p:cNvPr id="11" name="TextBox 7"/>
          <p:cNvSpPr txBox="1">
            <a:spLocks noChangeArrowheads="1"/>
          </p:cNvSpPr>
          <p:nvPr/>
        </p:nvSpPr>
        <p:spPr bwMode="auto">
          <a:xfrm>
            <a:off x="4646565" y="2826545"/>
            <a:ext cx="139462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1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Box 11"/>
          <p:cNvSpPr txBox="1">
            <a:spLocks noChangeArrowheads="1"/>
          </p:cNvSpPr>
          <p:nvPr/>
        </p:nvSpPr>
        <p:spPr bwMode="auto">
          <a:xfrm>
            <a:off x="2464615" y="3170335"/>
            <a:ext cx="1434688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900" b="1" dirty="0" smtClean="0">
                <a:solidFill>
                  <a:srgbClr val="000000"/>
                </a:solidFill>
                <a:latin typeface="Arial"/>
              </a:rPr>
              <a:t>LIGHT</a:t>
            </a:r>
          </a:p>
          <a:p>
            <a:pPr algn="ctr">
              <a:lnSpc>
                <a:spcPts val="2000"/>
              </a:lnSpc>
            </a:pPr>
            <a:r>
              <a:rPr lang="en-US" sz="1900" b="1" dirty="0" smtClean="0">
                <a:solidFill>
                  <a:srgbClr val="000000"/>
                </a:solidFill>
                <a:latin typeface="Arial"/>
              </a:rPr>
              <a:t>REACTIONS</a:t>
            </a:r>
            <a:endParaRPr lang="en-US" sz="1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Box 13"/>
          <p:cNvSpPr txBox="1">
            <a:spLocks noChangeArrowheads="1"/>
          </p:cNvSpPr>
          <p:nvPr/>
        </p:nvSpPr>
        <p:spPr bwMode="auto">
          <a:xfrm>
            <a:off x="1241425" y="4028380"/>
            <a:ext cx="1139736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>
                <a:solidFill>
                  <a:srgbClr val="000000"/>
                </a:solidFill>
                <a:latin typeface="Arial"/>
              </a:rPr>
              <a:t>Thylakoid</a:t>
            </a:r>
          </a:p>
        </p:txBody>
      </p:sp>
      <p:sp>
        <p:nvSpPr>
          <p:cNvPr id="18" name="TextBox 16"/>
          <p:cNvSpPr txBox="1">
            <a:spLocks noChangeArrowheads="1"/>
          </p:cNvSpPr>
          <p:nvPr/>
        </p:nvSpPr>
        <p:spPr bwMode="auto">
          <a:xfrm>
            <a:off x="7227899" y="4030761"/>
            <a:ext cx="839974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 err="1">
                <a:solidFill>
                  <a:srgbClr val="000000"/>
                </a:solidFill>
                <a:latin typeface="Arial"/>
              </a:rPr>
              <a:t>Stroma</a:t>
            </a:r>
            <a:endParaRPr lang="en-US" sz="1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Box 17"/>
          <p:cNvSpPr txBox="1">
            <a:spLocks noChangeArrowheads="1"/>
          </p:cNvSpPr>
          <p:nvPr/>
        </p:nvSpPr>
        <p:spPr bwMode="auto">
          <a:xfrm>
            <a:off x="758233" y="5600005"/>
            <a:ext cx="135614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>
                <a:solidFill>
                  <a:srgbClr val="000000"/>
                </a:solidFill>
                <a:latin typeface="Arial"/>
              </a:rPr>
              <a:t>Chloroplast</a:t>
            </a:r>
          </a:p>
        </p:txBody>
      </p:sp>
      <p:sp>
        <p:nvSpPr>
          <p:cNvPr id="22" name="TextBox 8"/>
          <p:cNvSpPr txBox="1">
            <a:spLocks noChangeArrowheads="1"/>
          </p:cNvSpPr>
          <p:nvPr/>
        </p:nvSpPr>
        <p:spPr bwMode="auto">
          <a:xfrm>
            <a:off x="4763087" y="3131541"/>
            <a:ext cx="57708" cy="239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/>
              </a:rPr>
              <a:t>i</a:t>
            </a:r>
            <a:endParaRPr lang="en-US" sz="16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2390685" y="4049979"/>
            <a:ext cx="189128" cy="101879"/>
          </a:xfrm>
          <a:custGeom>
            <a:avLst/>
            <a:gdLst>
              <a:gd name="connsiteX0" fmla="*/ 9525 w 189128"/>
              <a:gd name="connsiteY0" fmla="*/ 92354 h 101879"/>
              <a:gd name="connsiteX1" fmla="*/ 179603 w 189128"/>
              <a:gd name="connsiteY1" fmla="*/ 9525 h 1018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89128" h="101879">
                <a:moveTo>
                  <a:pt x="9525" y="92354"/>
                </a:moveTo>
                <a:lnTo>
                  <a:pt x="179603" y="9525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0" name="Freeform 3"/>
          <p:cNvSpPr/>
          <p:nvPr/>
        </p:nvSpPr>
        <p:spPr>
          <a:xfrm>
            <a:off x="1440603" y="5123167"/>
            <a:ext cx="215874" cy="493966"/>
          </a:xfrm>
          <a:custGeom>
            <a:avLst/>
            <a:gdLst>
              <a:gd name="connsiteX0" fmla="*/ 9525 w 215874"/>
              <a:gd name="connsiteY0" fmla="*/ 484441 h 493966"/>
              <a:gd name="connsiteX1" fmla="*/ 206349 w 215874"/>
              <a:gd name="connsiteY1" fmla="*/ 9525 h 49396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15874" h="493966">
                <a:moveTo>
                  <a:pt x="9525" y="484441"/>
                </a:moveTo>
                <a:lnTo>
                  <a:pt x="206349" y="9525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4" name="TextBox 8"/>
          <p:cNvSpPr txBox="1">
            <a:spLocks noChangeArrowheads="1"/>
          </p:cNvSpPr>
          <p:nvPr/>
        </p:nvSpPr>
        <p:spPr bwMode="auto">
          <a:xfrm>
            <a:off x="4561090" y="3086297"/>
            <a:ext cx="161904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 smtClean="0">
                <a:solidFill>
                  <a:srgbClr val="000000"/>
                </a:solidFill>
                <a:latin typeface="Arial"/>
              </a:rPr>
              <a:t>P</a:t>
            </a:r>
            <a:endParaRPr lang="en-US" sz="1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24900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560832" y="213360"/>
            <a:ext cx="8022336" cy="64312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11.6_2</a:t>
            </a:r>
            <a:endParaRPr lang="en-US" dirty="0"/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1562088" y="421581"/>
            <a:ext cx="564257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Light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25763" y="412055"/>
            <a:ext cx="455253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>
                <a:solidFill>
                  <a:srgbClr val="FFFFFF"/>
                </a:solidFill>
                <a:latin typeface="Arial"/>
              </a:rPr>
              <a:t>H</a:t>
            </a:r>
            <a:r>
              <a:rPr lang="en-US" sz="1900" b="1" baseline="-25000" dirty="0">
                <a:solidFill>
                  <a:srgbClr val="FFFFFF"/>
                </a:solidFill>
                <a:latin typeface="Arial"/>
              </a:rPr>
              <a:t>2</a:t>
            </a:r>
            <a:r>
              <a:rPr lang="en-US" sz="1900" b="1" dirty="0">
                <a:solidFill>
                  <a:srgbClr val="FFFFFF"/>
                </a:solidFill>
                <a:latin typeface="Arial"/>
              </a:rPr>
              <a:t>O</a:t>
            </a: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4322971" y="2042418"/>
            <a:ext cx="783869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 smtClean="0">
                <a:solidFill>
                  <a:srgbClr val="000000"/>
                </a:solidFill>
                <a:latin typeface="Arial"/>
              </a:rPr>
              <a:t>NADP</a:t>
            </a:r>
            <a:r>
              <a:rPr lang="en-US" sz="19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1900" b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4467148" y="2558454"/>
            <a:ext cx="514564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>
                <a:solidFill>
                  <a:srgbClr val="000000"/>
                </a:solidFill>
                <a:latin typeface="Arial"/>
              </a:rPr>
              <a:t>ADP</a:t>
            </a:r>
          </a:p>
        </p:txBody>
      </p:sp>
      <p:sp>
        <p:nvSpPr>
          <p:cNvPr id="11" name="TextBox 7"/>
          <p:cNvSpPr txBox="1">
            <a:spLocks noChangeArrowheads="1"/>
          </p:cNvSpPr>
          <p:nvPr/>
        </p:nvSpPr>
        <p:spPr bwMode="auto">
          <a:xfrm>
            <a:off x="4646565" y="2826545"/>
            <a:ext cx="139462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1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Box 9"/>
          <p:cNvSpPr txBox="1">
            <a:spLocks noChangeArrowheads="1"/>
          </p:cNvSpPr>
          <p:nvPr/>
        </p:nvSpPr>
        <p:spPr bwMode="auto">
          <a:xfrm>
            <a:off x="4513623" y="3889474"/>
            <a:ext cx="46923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>
                <a:solidFill>
                  <a:srgbClr val="000000"/>
                </a:solidFill>
                <a:latin typeface="Arial"/>
              </a:rPr>
              <a:t>ATP</a:t>
            </a:r>
          </a:p>
        </p:txBody>
      </p:sp>
      <p:sp>
        <p:nvSpPr>
          <p:cNvPr id="14" name="TextBox 10"/>
          <p:cNvSpPr txBox="1">
            <a:spLocks noChangeArrowheads="1"/>
          </p:cNvSpPr>
          <p:nvPr/>
        </p:nvSpPr>
        <p:spPr bwMode="auto">
          <a:xfrm>
            <a:off x="4309865" y="4463355"/>
            <a:ext cx="867225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>
                <a:solidFill>
                  <a:srgbClr val="000000"/>
                </a:solidFill>
                <a:latin typeface="Arial"/>
              </a:rPr>
              <a:t>NADPH</a:t>
            </a:r>
          </a:p>
        </p:txBody>
      </p:sp>
      <p:sp>
        <p:nvSpPr>
          <p:cNvPr id="15" name="TextBox 11"/>
          <p:cNvSpPr txBox="1">
            <a:spLocks noChangeArrowheads="1"/>
          </p:cNvSpPr>
          <p:nvPr/>
        </p:nvSpPr>
        <p:spPr bwMode="auto">
          <a:xfrm>
            <a:off x="2464615" y="3170335"/>
            <a:ext cx="1434688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900" b="1" dirty="0" smtClean="0">
                <a:solidFill>
                  <a:srgbClr val="000000"/>
                </a:solidFill>
                <a:latin typeface="Arial"/>
              </a:rPr>
              <a:t>LIGHT</a:t>
            </a:r>
          </a:p>
          <a:p>
            <a:pPr algn="ctr">
              <a:lnSpc>
                <a:spcPts val="2000"/>
              </a:lnSpc>
            </a:pPr>
            <a:r>
              <a:rPr lang="en-US" sz="1900" b="1" dirty="0" smtClean="0">
                <a:solidFill>
                  <a:srgbClr val="000000"/>
                </a:solidFill>
                <a:latin typeface="Arial"/>
              </a:rPr>
              <a:t>REACTIONS</a:t>
            </a:r>
            <a:endParaRPr lang="en-US" sz="1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Box 13"/>
          <p:cNvSpPr txBox="1">
            <a:spLocks noChangeArrowheads="1"/>
          </p:cNvSpPr>
          <p:nvPr/>
        </p:nvSpPr>
        <p:spPr bwMode="auto">
          <a:xfrm>
            <a:off x="1241425" y="4028380"/>
            <a:ext cx="1139736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>
                <a:solidFill>
                  <a:srgbClr val="000000"/>
                </a:solidFill>
                <a:latin typeface="Arial"/>
              </a:rPr>
              <a:t>Thylakoid</a:t>
            </a:r>
          </a:p>
        </p:txBody>
      </p:sp>
      <p:sp>
        <p:nvSpPr>
          <p:cNvPr id="18" name="TextBox 16"/>
          <p:cNvSpPr txBox="1">
            <a:spLocks noChangeArrowheads="1"/>
          </p:cNvSpPr>
          <p:nvPr/>
        </p:nvSpPr>
        <p:spPr bwMode="auto">
          <a:xfrm>
            <a:off x="7227899" y="4030761"/>
            <a:ext cx="839974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 err="1">
                <a:solidFill>
                  <a:srgbClr val="000000"/>
                </a:solidFill>
                <a:latin typeface="Arial"/>
              </a:rPr>
              <a:t>Stroma</a:t>
            </a:r>
            <a:endParaRPr lang="en-US" sz="1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Box 17"/>
          <p:cNvSpPr txBox="1">
            <a:spLocks noChangeArrowheads="1"/>
          </p:cNvSpPr>
          <p:nvPr/>
        </p:nvSpPr>
        <p:spPr bwMode="auto">
          <a:xfrm>
            <a:off x="758233" y="5600005"/>
            <a:ext cx="135614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>
                <a:solidFill>
                  <a:srgbClr val="000000"/>
                </a:solidFill>
                <a:latin typeface="Arial"/>
              </a:rPr>
              <a:t>Chloroplast</a:t>
            </a:r>
          </a:p>
        </p:txBody>
      </p:sp>
      <p:sp>
        <p:nvSpPr>
          <p:cNvPr id="20" name="TextBox 18"/>
          <p:cNvSpPr txBox="1">
            <a:spLocks noChangeArrowheads="1"/>
          </p:cNvSpPr>
          <p:nvPr/>
        </p:nvSpPr>
        <p:spPr bwMode="auto">
          <a:xfrm>
            <a:off x="3104912" y="5900143"/>
            <a:ext cx="278923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>
                <a:solidFill>
                  <a:srgbClr val="FFFFFF"/>
                </a:solidFill>
                <a:latin typeface="Arial"/>
              </a:rPr>
              <a:t>O</a:t>
            </a:r>
            <a:r>
              <a:rPr lang="en-US" sz="1900" b="1" baseline="-25000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8"/>
          <p:cNvSpPr txBox="1">
            <a:spLocks noChangeArrowheads="1"/>
          </p:cNvSpPr>
          <p:nvPr/>
        </p:nvSpPr>
        <p:spPr bwMode="auto">
          <a:xfrm>
            <a:off x="4763087" y="3131541"/>
            <a:ext cx="57708" cy="239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/>
              </a:rPr>
              <a:t>i</a:t>
            </a:r>
            <a:endParaRPr lang="en-US" sz="16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Freeform 20"/>
          <p:cNvSpPr/>
          <p:nvPr/>
        </p:nvSpPr>
        <p:spPr>
          <a:xfrm>
            <a:off x="2390685" y="4049979"/>
            <a:ext cx="189128" cy="101879"/>
          </a:xfrm>
          <a:custGeom>
            <a:avLst/>
            <a:gdLst>
              <a:gd name="connsiteX0" fmla="*/ 9525 w 189128"/>
              <a:gd name="connsiteY0" fmla="*/ 92354 h 101879"/>
              <a:gd name="connsiteX1" fmla="*/ 179603 w 189128"/>
              <a:gd name="connsiteY1" fmla="*/ 9525 h 1018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89128" h="101879">
                <a:moveTo>
                  <a:pt x="9525" y="92354"/>
                </a:moveTo>
                <a:lnTo>
                  <a:pt x="179603" y="9525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3" name="Freeform 3"/>
          <p:cNvSpPr/>
          <p:nvPr/>
        </p:nvSpPr>
        <p:spPr>
          <a:xfrm>
            <a:off x="1440603" y="5123167"/>
            <a:ext cx="215874" cy="493966"/>
          </a:xfrm>
          <a:custGeom>
            <a:avLst/>
            <a:gdLst>
              <a:gd name="connsiteX0" fmla="*/ 9525 w 215874"/>
              <a:gd name="connsiteY0" fmla="*/ 484441 h 493966"/>
              <a:gd name="connsiteX1" fmla="*/ 206349 w 215874"/>
              <a:gd name="connsiteY1" fmla="*/ 9525 h 49396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15874" h="493966">
                <a:moveTo>
                  <a:pt x="9525" y="484441"/>
                </a:moveTo>
                <a:lnTo>
                  <a:pt x="206349" y="9525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4" name="TextBox 8"/>
          <p:cNvSpPr txBox="1">
            <a:spLocks noChangeArrowheads="1"/>
          </p:cNvSpPr>
          <p:nvPr/>
        </p:nvSpPr>
        <p:spPr bwMode="auto">
          <a:xfrm>
            <a:off x="4561090" y="3086297"/>
            <a:ext cx="161904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 smtClean="0">
                <a:solidFill>
                  <a:srgbClr val="000000"/>
                </a:solidFill>
                <a:latin typeface="Arial"/>
              </a:rPr>
              <a:t>P</a:t>
            </a:r>
            <a:endParaRPr lang="en-US" sz="1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669978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560832" y="213360"/>
            <a:ext cx="8022336" cy="64312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11.6_3</a:t>
            </a:r>
            <a:endParaRPr lang="en-US" dirty="0"/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1562088" y="421581"/>
            <a:ext cx="564257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Light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25763" y="412055"/>
            <a:ext cx="455253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>
                <a:solidFill>
                  <a:srgbClr val="FFFFFF"/>
                </a:solidFill>
                <a:latin typeface="Arial"/>
              </a:rPr>
              <a:t>H</a:t>
            </a:r>
            <a:r>
              <a:rPr lang="en-US" sz="1900" b="1" baseline="-25000" dirty="0">
                <a:solidFill>
                  <a:srgbClr val="FFFFFF"/>
                </a:solidFill>
                <a:latin typeface="Arial"/>
              </a:rPr>
              <a:t>2</a:t>
            </a:r>
            <a:r>
              <a:rPr lang="en-US" sz="1900" b="1" dirty="0">
                <a:solidFill>
                  <a:srgbClr val="FFFFFF"/>
                </a:solidFill>
                <a:latin typeface="Arial"/>
              </a:rPr>
              <a:t>O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6054713" y="431105"/>
            <a:ext cx="455253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>
                <a:solidFill>
                  <a:srgbClr val="FFFFFF"/>
                </a:solidFill>
                <a:latin typeface="Arial"/>
              </a:rPr>
              <a:t>CO</a:t>
            </a:r>
            <a:r>
              <a:rPr lang="en-US" sz="1900" b="1" baseline="-25000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4322971" y="2042418"/>
            <a:ext cx="783869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 smtClean="0">
                <a:solidFill>
                  <a:srgbClr val="000000"/>
                </a:solidFill>
                <a:latin typeface="Arial"/>
              </a:rPr>
              <a:t>NADP</a:t>
            </a:r>
            <a:r>
              <a:rPr lang="en-US" sz="19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1900" b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4467148" y="2558454"/>
            <a:ext cx="514564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>
                <a:solidFill>
                  <a:srgbClr val="000000"/>
                </a:solidFill>
                <a:latin typeface="Arial"/>
              </a:rPr>
              <a:t>ADP</a:t>
            </a:r>
          </a:p>
        </p:txBody>
      </p:sp>
      <p:sp>
        <p:nvSpPr>
          <p:cNvPr id="11" name="TextBox 7"/>
          <p:cNvSpPr txBox="1">
            <a:spLocks noChangeArrowheads="1"/>
          </p:cNvSpPr>
          <p:nvPr/>
        </p:nvSpPr>
        <p:spPr bwMode="auto">
          <a:xfrm>
            <a:off x="4646565" y="2826545"/>
            <a:ext cx="139462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1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Box 9"/>
          <p:cNvSpPr txBox="1">
            <a:spLocks noChangeArrowheads="1"/>
          </p:cNvSpPr>
          <p:nvPr/>
        </p:nvSpPr>
        <p:spPr bwMode="auto">
          <a:xfrm>
            <a:off x="4513623" y="3889474"/>
            <a:ext cx="46923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>
                <a:solidFill>
                  <a:srgbClr val="000000"/>
                </a:solidFill>
                <a:latin typeface="Arial"/>
              </a:rPr>
              <a:t>ATP</a:t>
            </a:r>
          </a:p>
        </p:txBody>
      </p:sp>
      <p:sp>
        <p:nvSpPr>
          <p:cNvPr id="14" name="TextBox 10"/>
          <p:cNvSpPr txBox="1">
            <a:spLocks noChangeArrowheads="1"/>
          </p:cNvSpPr>
          <p:nvPr/>
        </p:nvSpPr>
        <p:spPr bwMode="auto">
          <a:xfrm>
            <a:off x="4309865" y="4463355"/>
            <a:ext cx="867225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>
                <a:solidFill>
                  <a:srgbClr val="000000"/>
                </a:solidFill>
                <a:latin typeface="Arial"/>
              </a:rPr>
              <a:t>NADPH</a:t>
            </a:r>
          </a:p>
        </p:txBody>
      </p:sp>
      <p:sp>
        <p:nvSpPr>
          <p:cNvPr id="15" name="TextBox 11"/>
          <p:cNvSpPr txBox="1">
            <a:spLocks noChangeArrowheads="1"/>
          </p:cNvSpPr>
          <p:nvPr/>
        </p:nvSpPr>
        <p:spPr bwMode="auto">
          <a:xfrm>
            <a:off x="2464615" y="3170335"/>
            <a:ext cx="1434688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900" b="1" dirty="0" smtClean="0">
                <a:solidFill>
                  <a:srgbClr val="000000"/>
                </a:solidFill>
                <a:latin typeface="Arial"/>
              </a:rPr>
              <a:t>LIGHT</a:t>
            </a:r>
          </a:p>
          <a:p>
            <a:pPr algn="ctr">
              <a:lnSpc>
                <a:spcPts val="2000"/>
              </a:lnSpc>
            </a:pPr>
            <a:r>
              <a:rPr lang="en-US" sz="1900" b="1" dirty="0" smtClean="0">
                <a:solidFill>
                  <a:srgbClr val="000000"/>
                </a:solidFill>
                <a:latin typeface="Arial"/>
              </a:rPr>
              <a:t>REACTIONS</a:t>
            </a:r>
            <a:endParaRPr lang="en-US" sz="1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Box 13"/>
          <p:cNvSpPr txBox="1">
            <a:spLocks noChangeArrowheads="1"/>
          </p:cNvSpPr>
          <p:nvPr/>
        </p:nvSpPr>
        <p:spPr bwMode="auto">
          <a:xfrm>
            <a:off x="1241425" y="4028380"/>
            <a:ext cx="1139736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>
                <a:solidFill>
                  <a:srgbClr val="000000"/>
                </a:solidFill>
                <a:latin typeface="Arial"/>
              </a:rPr>
              <a:t>Thylakoid</a:t>
            </a:r>
          </a:p>
        </p:txBody>
      </p:sp>
      <p:sp>
        <p:nvSpPr>
          <p:cNvPr id="17" name="TextBox 14"/>
          <p:cNvSpPr txBox="1">
            <a:spLocks noChangeArrowheads="1"/>
          </p:cNvSpPr>
          <p:nvPr/>
        </p:nvSpPr>
        <p:spPr bwMode="auto">
          <a:xfrm>
            <a:off x="5828764" y="3090168"/>
            <a:ext cx="889219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900" b="1" dirty="0" smtClean="0">
                <a:solidFill>
                  <a:srgbClr val="000000"/>
                </a:solidFill>
                <a:latin typeface="Arial"/>
              </a:rPr>
              <a:t>CALVIN</a:t>
            </a:r>
          </a:p>
          <a:p>
            <a:pPr algn="ctr">
              <a:lnSpc>
                <a:spcPts val="2000"/>
              </a:lnSpc>
            </a:pPr>
            <a:r>
              <a:rPr lang="en-US" sz="1900" b="1" dirty="0" smtClean="0">
                <a:solidFill>
                  <a:srgbClr val="000000"/>
                </a:solidFill>
                <a:latin typeface="Arial"/>
              </a:rPr>
              <a:t>CYCLE</a:t>
            </a:r>
            <a:endParaRPr lang="en-US" sz="1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Box 16"/>
          <p:cNvSpPr txBox="1">
            <a:spLocks noChangeArrowheads="1"/>
          </p:cNvSpPr>
          <p:nvPr/>
        </p:nvSpPr>
        <p:spPr bwMode="auto">
          <a:xfrm>
            <a:off x="7227899" y="4030761"/>
            <a:ext cx="839974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 err="1">
                <a:solidFill>
                  <a:srgbClr val="000000"/>
                </a:solidFill>
                <a:latin typeface="Arial"/>
              </a:rPr>
              <a:t>Stroma</a:t>
            </a:r>
            <a:endParaRPr lang="en-US" sz="1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Box 17"/>
          <p:cNvSpPr txBox="1">
            <a:spLocks noChangeArrowheads="1"/>
          </p:cNvSpPr>
          <p:nvPr/>
        </p:nvSpPr>
        <p:spPr bwMode="auto">
          <a:xfrm>
            <a:off x="758233" y="5600005"/>
            <a:ext cx="135614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>
                <a:solidFill>
                  <a:srgbClr val="000000"/>
                </a:solidFill>
                <a:latin typeface="Arial"/>
              </a:rPr>
              <a:t>Chloroplast</a:t>
            </a:r>
          </a:p>
        </p:txBody>
      </p:sp>
      <p:sp>
        <p:nvSpPr>
          <p:cNvPr id="20" name="TextBox 18"/>
          <p:cNvSpPr txBox="1">
            <a:spLocks noChangeArrowheads="1"/>
          </p:cNvSpPr>
          <p:nvPr/>
        </p:nvSpPr>
        <p:spPr bwMode="auto">
          <a:xfrm>
            <a:off x="3104912" y="5900143"/>
            <a:ext cx="278923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>
                <a:solidFill>
                  <a:srgbClr val="FFFFFF"/>
                </a:solidFill>
                <a:latin typeface="Arial"/>
              </a:rPr>
              <a:t>O</a:t>
            </a:r>
            <a:r>
              <a:rPr lang="en-US" sz="1900" b="1" baseline="-25000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8"/>
          <p:cNvSpPr txBox="1">
            <a:spLocks noChangeArrowheads="1"/>
          </p:cNvSpPr>
          <p:nvPr/>
        </p:nvSpPr>
        <p:spPr bwMode="auto">
          <a:xfrm>
            <a:off x="4763087" y="3131541"/>
            <a:ext cx="57708" cy="239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/>
              </a:rPr>
              <a:t>i</a:t>
            </a:r>
            <a:endParaRPr lang="en-US" sz="16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Freeform 20"/>
          <p:cNvSpPr/>
          <p:nvPr/>
        </p:nvSpPr>
        <p:spPr>
          <a:xfrm>
            <a:off x="2390685" y="4049979"/>
            <a:ext cx="189128" cy="101879"/>
          </a:xfrm>
          <a:custGeom>
            <a:avLst/>
            <a:gdLst>
              <a:gd name="connsiteX0" fmla="*/ 9525 w 189128"/>
              <a:gd name="connsiteY0" fmla="*/ 92354 h 101879"/>
              <a:gd name="connsiteX1" fmla="*/ 179603 w 189128"/>
              <a:gd name="connsiteY1" fmla="*/ 9525 h 1018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89128" h="101879">
                <a:moveTo>
                  <a:pt x="9525" y="92354"/>
                </a:moveTo>
                <a:lnTo>
                  <a:pt x="179603" y="9525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3" name="Freeform 3"/>
          <p:cNvSpPr/>
          <p:nvPr/>
        </p:nvSpPr>
        <p:spPr>
          <a:xfrm>
            <a:off x="1440603" y="5123167"/>
            <a:ext cx="215874" cy="493966"/>
          </a:xfrm>
          <a:custGeom>
            <a:avLst/>
            <a:gdLst>
              <a:gd name="connsiteX0" fmla="*/ 9525 w 215874"/>
              <a:gd name="connsiteY0" fmla="*/ 484441 h 493966"/>
              <a:gd name="connsiteX1" fmla="*/ 206349 w 215874"/>
              <a:gd name="connsiteY1" fmla="*/ 9525 h 49396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15874" h="493966">
                <a:moveTo>
                  <a:pt x="9525" y="484441"/>
                </a:moveTo>
                <a:lnTo>
                  <a:pt x="206349" y="9525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4" name="TextBox 8"/>
          <p:cNvSpPr txBox="1">
            <a:spLocks noChangeArrowheads="1"/>
          </p:cNvSpPr>
          <p:nvPr/>
        </p:nvSpPr>
        <p:spPr bwMode="auto">
          <a:xfrm>
            <a:off x="4561090" y="3086297"/>
            <a:ext cx="161904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 smtClean="0">
                <a:solidFill>
                  <a:srgbClr val="000000"/>
                </a:solidFill>
                <a:latin typeface="Arial"/>
              </a:rPr>
              <a:t>P</a:t>
            </a:r>
            <a:endParaRPr lang="en-US" sz="1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921597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560832" y="213360"/>
            <a:ext cx="8022336" cy="64312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11.6_4</a:t>
            </a:r>
            <a:endParaRPr lang="en-US" dirty="0"/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1562088" y="421581"/>
            <a:ext cx="564257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Light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25763" y="412055"/>
            <a:ext cx="455253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>
                <a:solidFill>
                  <a:srgbClr val="FFFFFF"/>
                </a:solidFill>
                <a:latin typeface="Arial"/>
              </a:rPr>
              <a:t>H</a:t>
            </a:r>
            <a:r>
              <a:rPr lang="en-US" sz="1900" b="1" baseline="-25000" dirty="0">
                <a:solidFill>
                  <a:srgbClr val="FFFFFF"/>
                </a:solidFill>
                <a:latin typeface="Arial"/>
              </a:rPr>
              <a:t>2</a:t>
            </a:r>
            <a:r>
              <a:rPr lang="en-US" sz="1900" b="1" dirty="0">
                <a:solidFill>
                  <a:srgbClr val="FFFFFF"/>
                </a:solidFill>
                <a:latin typeface="Arial"/>
              </a:rPr>
              <a:t>O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6054713" y="431105"/>
            <a:ext cx="455253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>
                <a:solidFill>
                  <a:srgbClr val="FFFFFF"/>
                </a:solidFill>
                <a:latin typeface="Arial"/>
              </a:rPr>
              <a:t>CO</a:t>
            </a:r>
            <a:r>
              <a:rPr lang="en-US" sz="1900" b="1" baseline="-25000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4322971" y="2042418"/>
            <a:ext cx="783869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 smtClean="0">
                <a:solidFill>
                  <a:srgbClr val="000000"/>
                </a:solidFill>
                <a:latin typeface="Arial"/>
              </a:rPr>
              <a:t>NADP</a:t>
            </a:r>
            <a:r>
              <a:rPr lang="en-US" sz="19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1900" b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4467148" y="2558454"/>
            <a:ext cx="514564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>
                <a:solidFill>
                  <a:srgbClr val="000000"/>
                </a:solidFill>
                <a:latin typeface="Arial"/>
              </a:rPr>
              <a:t>ADP</a:t>
            </a:r>
          </a:p>
        </p:txBody>
      </p:sp>
      <p:sp>
        <p:nvSpPr>
          <p:cNvPr id="11" name="TextBox 7"/>
          <p:cNvSpPr txBox="1">
            <a:spLocks noChangeArrowheads="1"/>
          </p:cNvSpPr>
          <p:nvPr/>
        </p:nvSpPr>
        <p:spPr bwMode="auto">
          <a:xfrm>
            <a:off x="4646565" y="2826545"/>
            <a:ext cx="139462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1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Box 9"/>
          <p:cNvSpPr txBox="1">
            <a:spLocks noChangeArrowheads="1"/>
          </p:cNvSpPr>
          <p:nvPr/>
        </p:nvSpPr>
        <p:spPr bwMode="auto">
          <a:xfrm>
            <a:off x="4513623" y="3889474"/>
            <a:ext cx="46923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>
                <a:solidFill>
                  <a:srgbClr val="000000"/>
                </a:solidFill>
                <a:latin typeface="Arial"/>
              </a:rPr>
              <a:t>ATP</a:t>
            </a:r>
          </a:p>
        </p:txBody>
      </p:sp>
      <p:sp>
        <p:nvSpPr>
          <p:cNvPr id="14" name="TextBox 10"/>
          <p:cNvSpPr txBox="1">
            <a:spLocks noChangeArrowheads="1"/>
          </p:cNvSpPr>
          <p:nvPr/>
        </p:nvSpPr>
        <p:spPr bwMode="auto">
          <a:xfrm>
            <a:off x="4309865" y="4463355"/>
            <a:ext cx="867225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>
                <a:solidFill>
                  <a:srgbClr val="000000"/>
                </a:solidFill>
                <a:latin typeface="Arial"/>
              </a:rPr>
              <a:t>NADPH</a:t>
            </a:r>
          </a:p>
        </p:txBody>
      </p:sp>
      <p:sp>
        <p:nvSpPr>
          <p:cNvPr id="15" name="TextBox 11"/>
          <p:cNvSpPr txBox="1">
            <a:spLocks noChangeArrowheads="1"/>
          </p:cNvSpPr>
          <p:nvPr/>
        </p:nvSpPr>
        <p:spPr bwMode="auto">
          <a:xfrm>
            <a:off x="2464615" y="3170335"/>
            <a:ext cx="1434688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900" b="1" dirty="0" smtClean="0">
                <a:solidFill>
                  <a:srgbClr val="000000"/>
                </a:solidFill>
                <a:latin typeface="Arial"/>
              </a:rPr>
              <a:t>LIGHT</a:t>
            </a:r>
          </a:p>
          <a:p>
            <a:pPr algn="ctr">
              <a:lnSpc>
                <a:spcPts val="2000"/>
              </a:lnSpc>
            </a:pPr>
            <a:r>
              <a:rPr lang="en-US" sz="1900" b="1" dirty="0" smtClean="0">
                <a:solidFill>
                  <a:srgbClr val="000000"/>
                </a:solidFill>
                <a:latin typeface="Arial"/>
              </a:rPr>
              <a:t>REACTIONS</a:t>
            </a:r>
            <a:endParaRPr lang="en-US" sz="1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Box 13"/>
          <p:cNvSpPr txBox="1">
            <a:spLocks noChangeArrowheads="1"/>
          </p:cNvSpPr>
          <p:nvPr/>
        </p:nvSpPr>
        <p:spPr bwMode="auto">
          <a:xfrm>
            <a:off x="1241425" y="4028380"/>
            <a:ext cx="1139736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>
                <a:solidFill>
                  <a:srgbClr val="000000"/>
                </a:solidFill>
                <a:latin typeface="Arial"/>
              </a:rPr>
              <a:t>Thylakoid</a:t>
            </a:r>
          </a:p>
        </p:txBody>
      </p:sp>
      <p:sp>
        <p:nvSpPr>
          <p:cNvPr id="17" name="TextBox 14"/>
          <p:cNvSpPr txBox="1">
            <a:spLocks noChangeArrowheads="1"/>
          </p:cNvSpPr>
          <p:nvPr/>
        </p:nvSpPr>
        <p:spPr bwMode="auto">
          <a:xfrm>
            <a:off x="5828764" y="3090168"/>
            <a:ext cx="889219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900" b="1" dirty="0" smtClean="0">
                <a:solidFill>
                  <a:srgbClr val="000000"/>
                </a:solidFill>
                <a:latin typeface="Arial"/>
              </a:rPr>
              <a:t>CALVIN</a:t>
            </a:r>
          </a:p>
          <a:p>
            <a:pPr algn="ctr">
              <a:lnSpc>
                <a:spcPts val="2000"/>
              </a:lnSpc>
            </a:pPr>
            <a:r>
              <a:rPr lang="en-US" sz="1900" b="1" dirty="0" smtClean="0">
                <a:solidFill>
                  <a:srgbClr val="000000"/>
                </a:solidFill>
                <a:latin typeface="Arial"/>
              </a:rPr>
              <a:t>CYCLE</a:t>
            </a:r>
            <a:endParaRPr lang="en-US" sz="1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Box 16"/>
          <p:cNvSpPr txBox="1">
            <a:spLocks noChangeArrowheads="1"/>
          </p:cNvSpPr>
          <p:nvPr/>
        </p:nvSpPr>
        <p:spPr bwMode="auto">
          <a:xfrm>
            <a:off x="7227899" y="4030761"/>
            <a:ext cx="839974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 err="1">
                <a:solidFill>
                  <a:srgbClr val="000000"/>
                </a:solidFill>
                <a:latin typeface="Arial"/>
              </a:rPr>
              <a:t>Stroma</a:t>
            </a:r>
            <a:endParaRPr lang="en-US" sz="1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Box 17"/>
          <p:cNvSpPr txBox="1">
            <a:spLocks noChangeArrowheads="1"/>
          </p:cNvSpPr>
          <p:nvPr/>
        </p:nvSpPr>
        <p:spPr bwMode="auto">
          <a:xfrm>
            <a:off x="758233" y="5600005"/>
            <a:ext cx="135614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>
                <a:solidFill>
                  <a:srgbClr val="000000"/>
                </a:solidFill>
                <a:latin typeface="Arial"/>
              </a:rPr>
              <a:t>Chloroplast</a:t>
            </a:r>
          </a:p>
        </p:txBody>
      </p:sp>
      <p:sp>
        <p:nvSpPr>
          <p:cNvPr id="20" name="TextBox 18"/>
          <p:cNvSpPr txBox="1">
            <a:spLocks noChangeArrowheads="1"/>
          </p:cNvSpPr>
          <p:nvPr/>
        </p:nvSpPr>
        <p:spPr bwMode="auto">
          <a:xfrm>
            <a:off x="3104912" y="5900143"/>
            <a:ext cx="278923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>
                <a:solidFill>
                  <a:srgbClr val="FFFFFF"/>
                </a:solidFill>
                <a:latin typeface="Arial"/>
              </a:rPr>
              <a:t>O</a:t>
            </a:r>
            <a:r>
              <a:rPr lang="en-US" sz="1900" b="1" baseline="-25000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5918996" y="5902623"/>
            <a:ext cx="828753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900" b="1" dirty="0" smtClean="0">
                <a:solidFill>
                  <a:srgbClr val="FFFFFF"/>
                </a:solidFill>
                <a:latin typeface="Arial"/>
              </a:rPr>
              <a:t>[CH</a:t>
            </a:r>
            <a:r>
              <a:rPr lang="en-US" sz="1900" b="1" baseline="-25000" dirty="0" smtClean="0">
                <a:solidFill>
                  <a:srgbClr val="FFFFFF"/>
                </a:solidFill>
                <a:latin typeface="Arial"/>
              </a:rPr>
              <a:t>2</a:t>
            </a:r>
            <a:r>
              <a:rPr lang="en-US" sz="1900" b="1" dirty="0" smtClean="0">
                <a:solidFill>
                  <a:srgbClr val="FFFFFF"/>
                </a:solidFill>
                <a:latin typeface="Arial"/>
              </a:rPr>
              <a:t>O]</a:t>
            </a:r>
          </a:p>
          <a:p>
            <a:pPr algn="ctr">
              <a:lnSpc>
                <a:spcPts val="2000"/>
              </a:lnSpc>
            </a:pPr>
            <a:r>
              <a:rPr lang="en-US" sz="1900" b="1" dirty="0" smtClean="0">
                <a:solidFill>
                  <a:srgbClr val="FFFFFF"/>
                </a:solidFill>
                <a:latin typeface="Arial"/>
              </a:rPr>
              <a:t>(sugar)</a:t>
            </a:r>
            <a:endParaRPr lang="en-US" sz="1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Box 8"/>
          <p:cNvSpPr txBox="1">
            <a:spLocks noChangeArrowheads="1"/>
          </p:cNvSpPr>
          <p:nvPr/>
        </p:nvSpPr>
        <p:spPr bwMode="auto">
          <a:xfrm>
            <a:off x="4763087" y="3131541"/>
            <a:ext cx="57708" cy="239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/>
              </a:rPr>
              <a:t>i</a:t>
            </a:r>
            <a:endParaRPr lang="en-US" sz="16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Freeform 22"/>
          <p:cNvSpPr/>
          <p:nvPr/>
        </p:nvSpPr>
        <p:spPr>
          <a:xfrm>
            <a:off x="2390685" y="4049979"/>
            <a:ext cx="189128" cy="101879"/>
          </a:xfrm>
          <a:custGeom>
            <a:avLst/>
            <a:gdLst>
              <a:gd name="connsiteX0" fmla="*/ 9525 w 189128"/>
              <a:gd name="connsiteY0" fmla="*/ 92354 h 101879"/>
              <a:gd name="connsiteX1" fmla="*/ 179603 w 189128"/>
              <a:gd name="connsiteY1" fmla="*/ 9525 h 1018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89128" h="101879">
                <a:moveTo>
                  <a:pt x="9525" y="92354"/>
                </a:moveTo>
                <a:lnTo>
                  <a:pt x="179603" y="9525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4" name="Freeform 3"/>
          <p:cNvSpPr/>
          <p:nvPr/>
        </p:nvSpPr>
        <p:spPr>
          <a:xfrm>
            <a:off x="1440603" y="5123167"/>
            <a:ext cx="215874" cy="493966"/>
          </a:xfrm>
          <a:custGeom>
            <a:avLst/>
            <a:gdLst>
              <a:gd name="connsiteX0" fmla="*/ 9525 w 215874"/>
              <a:gd name="connsiteY0" fmla="*/ 484441 h 493966"/>
              <a:gd name="connsiteX1" fmla="*/ 206349 w 215874"/>
              <a:gd name="connsiteY1" fmla="*/ 9525 h 49396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15874" h="493966">
                <a:moveTo>
                  <a:pt x="9525" y="484441"/>
                </a:moveTo>
                <a:lnTo>
                  <a:pt x="206349" y="9525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5" name="TextBox 8"/>
          <p:cNvSpPr txBox="1">
            <a:spLocks noChangeArrowheads="1"/>
          </p:cNvSpPr>
          <p:nvPr/>
        </p:nvSpPr>
        <p:spPr bwMode="auto">
          <a:xfrm>
            <a:off x="4561090" y="3086297"/>
            <a:ext cx="161904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900" b="1" dirty="0" smtClean="0">
                <a:solidFill>
                  <a:srgbClr val="000000"/>
                </a:solidFill>
                <a:latin typeface="Arial"/>
              </a:rPr>
              <a:t>P</a:t>
            </a:r>
            <a:endParaRPr lang="en-US" sz="1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23158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569660"/>
          </a:xfrm>
        </p:spPr>
        <p:txBody>
          <a:bodyPr/>
          <a:lstStyle/>
          <a:p>
            <a:r>
              <a:rPr lang="en-US" altLang="en-US" dirty="0" smtClean="0"/>
              <a:t>Concept 11.2: The light reactions convert solar energy to the chemical energy of ATP and NADPH</a:t>
            </a:r>
          </a:p>
        </p:txBody>
      </p:sp>
      <p:sp>
        <p:nvSpPr>
          <p:cNvPr id="1105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Chloroplasts are solar-powered chemical factories</a:t>
            </a:r>
          </a:p>
          <a:p>
            <a:r>
              <a:rPr lang="en-US" altLang="en-US" smtClean="0"/>
              <a:t>Their thylakoids transform light energy into the chemical energy of ATP and NADPH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795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5"/>
          <a:stretch>
            <a:fillRect/>
          </a:stretch>
        </p:blipFill>
        <p:spPr>
          <a:xfrm>
            <a:off x="298704" y="350520"/>
            <a:ext cx="8546592" cy="61569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11.7</a:t>
            </a:r>
            <a:endParaRPr lang="en-US" dirty="0"/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496486" y="747714"/>
            <a:ext cx="884858" cy="26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100"/>
              </a:lnSpc>
            </a:pPr>
            <a:r>
              <a:rPr lang="en-US" sz="1900" b="1" dirty="0">
                <a:solidFill>
                  <a:srgbClr val="000000"/>
                </a:solidFill>
                <a:latin typeface="Arial"/>
              </a:rPr>
              <a:t>10</a:t>
            </a:r>
            <a:r>
              <a:rPr lang="en-US" sz="1900" b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1900" b="1" baseline="30000" dirty="0">
                <a:solidFill>
                  <a:srgbClr val="000000"/>
                </a:solidFill>
                <a:latin typeface="Arial"/>
              </a:rPr>
              <a:t>5</a:t>
            </a:r>
            <a:r>
              <a:rPr lang="en-US" sz="1900" b="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900" b="1" dirty="0" smtClean="0">
                <a:solidFill>
                  <a:srgbClr val="000000"/>
                </a:solidFill>
                <a:latin typeface="Arial"/>
              </a:rPr>
              <a:t>nm</a:t>
            </a:r>
            <a:endParaRPr lang="en-US" sz="1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1027507" y="1369220"/>
            <a:ext cx="894476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100"/>
              </a:lnSpc>
            </a:pPr>
            <a:r>
              <a:rPr lang="en-US" sz="1900" b="1" dirty="0" smtClean="0">
                <a:solidFill>
                  <a:srgbClr val="FFFFFF"/>
                </a:solidFill>
                <a:latin typeface="Arial"/>
              </a:rPr>
              <a:t>Gamma</a:t>
            </a:r>
          </a:p>
          <a:p>
            <a:pPr algn="ctr">
              <a:lnSpc>
                <a:spcPts val="2100"/>
              </a:lnSpc>
            </a:pPr>
            <a:r>
              <a:rPr lang="en-US" sz="1900" b="1" dirty="0" smtClean="0">
                <a:solidFill>
                  <a:srgbClr val="FFFFFF"/>
                </a:solidFill>
                <a:latin typeface="Arial"/>
              </a:rPr>
              <a:t> rays</a:t>
            </a:r>
            <a:endParaRPr lang="en-US" sz="1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2194319" y="1499395"/>
            <a:ext cx="746999" cy="26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100"/>
              </a:lnSpc>
            </a:pPr>
            <a:r>
              <a:rPr lang="en-US" sz="1900" b="1">
                <a:solidFill>
                  <a:srgbClr val="FFFFFF"/>
                </a:solidFill>
                <a:latin typeface="Arial"/>
              </a:rPr>
              <a:t>X-rays</a:t>
            </a:r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2861861" y="747714"/>
            <a:ext cx="569067" cy="26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100"/>
              </a:lnSpc>
            </a:pPr>
            <a:r>
              <a:rPr lang="en-US" sz="1900" b="1">
                <a:solidFill>
                  <a:srgbClr val="000000"/>
                </a:solidFill>
                <a:latin typeface="Arial"/>
              </a:rPr>
              <a:t>1 nm</a:t>
            </a:r>
          </a:p>
        </p:txBody>
      </p:sp>
      <p:sp>
        <p:nvSpPr>
          <p:cNvPr id="10" name="TextBox 7"/>
          <p:cNvSpPr txBox="1">
            <a:spLocks noChangeArrowheads="1"/>
          </p:cNvSpPr>
          <p:nvPr/>
        </p:nvSpPr>
        <p:spPr bwMode="auto">
          <a:xfrm>
            <a:off x="3469078" y="1499395"/>
            <a:ext cx="338234" cy="26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100"/>
              </a:lnSpc>
            </a:pPr>
            <a:r>
              <a:rPr lang="en-US" sz="1900" b="1">
                <a:solidFill>
                  <a:srgbClr val="FFFFFF"/>
                </a:solidFill>
                <a:latin typeface="Arial"/>
              </a:rPr>
              <a:t>UV</a:t>
            </a:r>
          </a:p>
        </p:txBody>
      </p:sp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4055661" y="747714"/>
            <a:ext cx="795089" cy="26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100"/>
              </a:lnSpc>
            </a:pPr>
            <a:r>
              <a:rPr lang="en-US" sz="1900" b="1" dirty="0">
                <a:solidFill>
                  <a:srgbClr val="000000"/>
                </a:solidFill>
                <a:latin typeface="Arial"/>
              </a:rPr>
              <a:t>10</a:t>
            </a:r>
            <a:r>
              <a:rPr lang="en-US" sz="1900" b="1" baseline="30000" dirty="0">
                <a:solidFill>
                  <a:srgbClr val="000000"/>
                </a:solidFill>
                <a:latin typeface="Arial"/>
              </a:rPr>
              <a:t>3</a:t>
            </a:r>
            <a:r>
              <a:rPr lang="en-US" sz="1900" b="1" dirty="0">
                <a:solidFill>
                  <a:srgbClr val="000000"/>
                </a:solidFill>
                <a:latin typeface="Arial"/>
              </a:rPr>
              <a:t> nm</a:t>
            </a:r>
          </a:p>
        </p:txBody>
      </p:sp>
      <p:sp>
        <p:nvSpPr>
          <p:cNvPr id="12" name="TextBox 9"/>
          <p:cNvSpPr txBox="1">
            <a:spLocks noChangeArrowheads="1"/>
          </p:cNvSpPr>
          <p:nvPr/>
        </p:nvSpPr>
        <p:spPr bwMode="auto">
          <a:xfrm>
            <a:off x="5281211" y="747714"/>
            <a:ext cx="795089" cy="26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100"/>
              </a:lnSpc>
            </a:pPr>
            <a:r>
              <a:rPr lang="en-US" sz="1900" b="1" dirty="0">
                <a:solidFill>
                  <a:srgbClr val="000000"/>
                </a:solidFill>
                <a:latin typeface="Arial"/>
              </a:rPr>
              <a:t>10</a:t>
            </a:r>
            <a:r>
              <a:rPr lang="en-US" sz="1900" b="1" baseline="30000" dirty="0">
                <a:solidFill>
                  <a:srgbClr val="000000"/>
                </a:solidFill>
                <a:latin typeface="Arial"/>
              </a:rPr>
              <a:t>6</a:t>
            </a:r>
            <a:r>
              <a:rPr lang="en-US" sz="1900" b="1" dirty="0">
                <a:solidFill>
                  <a:srgbClr val="000000"/>
                </a:solidFill>
                <a:latin typeface="Arial"/>
              </a:rPr>
              <a:t> nm</a:t>
            </a:r>
          </a:p>
        </p:txBody>
      </p:sp>
      <p:sp>
        <p:nvSpPr>
          <p:cNvPr id="13" name="TextBox 10"/>
          <p:cNvSpPr txBox="1">
            <a:spLocks noChangeArrowheads="1"/>
          </p:cNvSpPr>
          <p:nvPr/>
        </p:nvSpPr>
        <p:spPr bwMode="auto">
          <a:xfrm>
            <a:off x="6809973" y="444501"/>
            <a:ext cx="419987" cy="26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100"/>
              </a:lnSpc>
            </a:pPr>
            <a:r>
              <a:rPr lang="en-US" sz="1900" b="1" dirty="0" smtClean="0">
                <a:solidFill>
                  <a:srgbClr val="000000"/>
                </a:solidFill>
                <a:latin typeface="Arial"/>
              </a:rPr>
              <a:t>1 m</a:t>
            </a:r>
            <a:endParaRPr lang="en-US" sz="1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Box 11"/>
          <p:cNvSpPr txBox="1">
            <a:spLocks noChangeArrowheads="1"/>
          </p:cNvSpPr>
          <p:nvPr/>
        </p:nvSpPr>
        <p:spPr bwMode="auto">
          <a:xfrm>
            <a:off x="6559148" y="711201"/>
            <a:ext cx="958596" cy="26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100"/>
              </a:lnSpc>
            </a:pPr>
            <a:r>
              <a:rPr lang="en-US" sz="1900" b="1" dirty="0">
                <a:solidFill>
                  <a:srgbClr val="000000"/>
                </a:solidFill>
                <a:latin typeface="Arial"/>
              </a:rPr>
              <a:t>(10</a:t>
            </a:r>
            <a:r>
              <a:rPr lang="en-US" sz="1900" b="1" baseline="30000" dirty="0">
                <a:solidFill>
                  <a:srgbClr val="000000"/>
                </a:solidFill>
                <a:latin typeface="Arial"/>
              </a:rPr>
              <a:t>9</a:t>
            </a:r>
            <a:r>
              <a:rPr lang="en-US" sz="1900" b="1" dirty="0">
                <a:solidFill>
                  <a:srgbClr val="000000"/>
                </a:solidFill>
                <a:latin typeface="Arial"/>
              </a:rPr>
              <a:t> nm)</a:t>
            </a:r>
          </a:p>
        </p:txBody>
      </p:sp>
      <p:sp>
        <p:nvSpPr>
          <p:cNvPr id="15" name="TextBox 12"/>
          <p:cNvSpPr txBox="1">
            <a:spLocks noChangeArrowheads="1"/>
          </p:cNvSpPr>
          <p:nvPr/>
        </p:nvSpPr>
        <p:spPr bwMode="auto">
          <a:xfrm>
            <a:off x="7903761" y="747714"/>
            <a:ext cx="646011" cy="26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100"/>
              </a:lnSpc>
            </a:pPr>
            <a:r>
              <a:rPr lang="en-US" sz="1900" b="1" dirty="0">
                <a:solidFill>
                  <a:srgbClr val="000000"/>
                </a:solidFill>
                <a:latin typeface="Arial"/>
              </a:rPr>
              <a:t>10</a:t>
            </a:r>
            <a:r>
              <a:rPr lang="en-US" sz="1900" b="1" baseline="30000" dirty="0">
                <a:solidFill>
                  <a:srgbClr val="000000"/>
                </a:solidFill>
                <a:latin typeface="Arial"/>
              </a:rPr>
              <a:t>3</a:t>
            </a:r>
            <a:r>
              <a:rPr lang="en-US" sz="1900" b="1" dirty="0">
                <a:solidFill>
                  <a:srgbClr val="000000"/>
                </a:solidFill>
                <a:latin typeface="Arial"/>
              </a:rPr>
              <a:t> m</a:t>
            </a:r>
          </a:p>
        </p:txBody>
      </p:sp>
      <p:sp>
        <p:nvSpPr>
          <p:cNvPr id="16" name="TextBox 13"/>
          <p:cNvSpPr txBox="1">
            <a:spLocks noChangeArrowheads="1"/>
          </p:cNvSpPr>
          <p:nvPr/>
        </p:nvSpPr>
        <p:spPr bwMode="auto">
          <a:xfrm>
            <a:off x="7470103" y="1327945"/>
            <a:ext cx="734175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100"/>
              </a:lnSpc>
            </a:pPr>
            <a:r>
              <a:rPr lang="en-US" sz="1900" b="1" smtClean="0">
                <a:solidFill>
                  <a:srgbClr val="FFFFFF"/>
                </a:solidFill>
                <a:latin typeface="Arial"/>
              </a:rPr>
              <a:t>Radio</a:t>
            </a:r>
          </a:p>
          <a:p>
            <a:pPr algn="ctr">
              <a:lnSpc>
                <a:spcPts val="2100"/>
              </a:lnSpc>
            </a:pPr>
            <a:r>
              <a:rPr lang="en-US" sz="1900" b="1" smtClean="0">
                <a:solidFill>
                  <a:srgbClr val="FFFFFF"/>
                </a:solidFill>
                <a:latin typeface="Arial"/>
              </a:rPr>
              <a:t>waves</a:t>
            </a:r>
            <a:endParaRPr lang="en-US" sz="19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Box 15"/>
          <p:cNvSpPr txBox="1">
            <a:spLocks noChangeArrowheads="1"/>
          </p:cNvSpPr>
          <p:nvPr/>
        </p:nvSpPr>
        <p:spPr bwMode="auto">
          <a:xfrm>
            <a:off x="4545405" y="1499395"/>
            <a:ext cx="908903" cy="26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100"/>
              </a:lnSpc>
            </a:pPr>
            <a:r>
              <a:rPr lang="en-US" sz="1900" b="1">
                <a:solidFill>
                  <a:srgbClr val="FFFFFF"/>
                </a:solidFill>
                <a:latin typeface="Arial"/>
              </a:rPr>
              <a:t>Infrared</a:t>
            </a:r>
          </a:p>
        </p:txBody>
      </p:sp>
      <p:sp>
        <p:nvSpPr>
          <p:cNvPr id="18" name="TextBox 16"/>
          <p:cNvSpPr txBox="1">
            <a:spLocks noChangeArrowheads="1"/>
          </p:cNvSpPr>
          <p:nvPr/>
        </p:nvSpPr>
        <p:spPr bwMode="auto">
          <a:xfrm>
            <a:off x="5989229" y="1320008"/>
            <a:ext cx="734175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100"/>
              </a:lnSpc>
            </a:pPr>
            <a:r>
              <a:rPr lang="en-US" sz="1900" b="1" smtClean="0">
                <a:solidFill>
                  <a:srgbClr val="FFFFFF"/>
                </a:solidFill>
                <a:latin typeface="Arial"/>
              </a:rPr>
              <a:t>Micro-</a:t>
            </a:r>
          </a:p>
          <a:p>
            <a:pPr algn="ctr">
              <a:lnSpc>
                <a:spcPts val="2100"/>
              </a:lnSpc>
            </a:pPr>
            <a:r>
              <a:rPr lang="en-US" sz="1900" b="1" smtClean="0">
                <a:solidFill>
                  <a:srgbClr val="FFFFFF"/>
                </a:solidFill>
                <a:latin typeface="Arial"/>
              </a:rPr>
              <a:t>waves</a:t>
            </a:r>
            <a:endParaRPr lang="en-US" sz="1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3760383" y="3910014"/>
            <a:ext cx="1362937" cy="26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100"/>
              </a:lnSpc>
            </a:pPr>
            <a:r>
              <a:rPr lang="en-US" sz="1900" b="1">
                <a:solidFill>
                  <a:srgbClr val="000000"/>
                </a:solidFill>
                <a:latin typeface="Arial"/>
              </a:rPr>
              <a:t>Visible light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817158" y="5122070"/>
            <a:ext cx="408766" cy="26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100"/>
              </a:lnSpc>
            </a:pPr>
            <a:r>
              <a:rPr lang="en-US" sz="1900" b="1" dirty="0">
                <a:solidFill>
                  <a:srgbClr val="000000"/>
                </a:solidFill>
                <a:latin typeface="Arial"/>
              </a:rPr>
              <a:t>380</a:t>
            </a: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1883958" y="5122070"/>
            <a:ext cx="408766" cy="26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100"/>
              </a:lnSpc>
            </a:pPr>
            <a:r>
              <a:rPr lang="en-US" sz="1900" b="1" dirty="0" smtClean="0">
                <a:solidFill>
                  <a:srgbClr val="000000"/>
                </a:solidFill>
                <a:latin typeface="Arial"/>
              </a:rPr>
              <a:t>450</a:t>
            </a:r>
            <a:endParaRPr lang="en-US" sz="1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2842808" y="5122864"/>
            <a:ext cx="408766" cy="26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100"/>
              </a:lnSpc>
            </a:pPr>
            <a:r>
              <a:rPr lang="en-US" sz="1900" b="1" dirty="0">
                <a:solidFill>
                  <a:srgbClr val="000000"/>
                </a:solidFill>
                <a:latin typeface="Arial"/>
              </a:rPr>
              <a:t>500</a:t>
            </a:r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3801658" y="5122864"/>
            <a:ext cx="408766" cy="26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100"/>
              </a:lnSpc>
            </a:pPr>
            <a:r>
              <a:rPr lang="en-US" sz="1900" b="1" dirty="0">
                <a:solidFill>
                  <a:srgbClr val="000000"/>
                </a:solidFill>
                <a:latin typeface="Arial"/>
              </a:rPr>
              <a:t>550</a:t>
            </a: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4762096" y="5122864"/>
            <a:ext cx="408766" cy="26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100"/>
              </a:lnSpc>
            </a:pPr>
            <a:r>
              <a:rPr lang="en-US" sz="1900" b="1" dirty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5720946" y="5122864"/>
            <a:ext cx="408766" cy="26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100"/>
              </a:lnSpc>
            </a:pPr>
            <a:r>
              <a:rPr lang="en-US" sz="1900" b="1" dirty="0">
                <a:solidFill>
                  <a:srgbClr val="000000"/>
                </a:solidFill>
                <a:latin typeface="Arial"/>
              </a:rPr>
              <a:t>650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6679796" y="5122864"/>
            <a:ext cx="408766" cy="26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100"/>
              </a:lnSpc>
            </a:pPr>
            <a:r>
              <a:rPr lang="en-US" sz="1900" b="1">
                <a:solidFill>
                  <a:srgbClr val="000000"/>
                </a:solidFill>
                <a:latin typeface="Arial"/>
              </a:rPr>
              <a:t>700</a:t>
            </a: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6100358" y="6008689"/>
            <a:ext cx="1586973" cy="26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100"/>
              </a:lnSpc>
            </a:pPr>
            <a:r>
              <a:rPr lang="en-US" sz="1900" b="1">
                <a:solidFill>
                  <a:srgbClr val="000000"/>
                </a:solidFill>
                <a:latin typeface="Arial"/>
              </a:rPr>
              <a:t>Lower energy</a:t>
            </a:r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7694208" y="5122864"/>
            <a:ext cx="841577" cy="26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100"/>
              </a:lnSpc>
            </a:pPr>
            <a:r>
              <a:rPr lang="en-US" sz="1900" b="1" dirty="0">
                <a:solidFill>
                  <a:srgbClr val="000000"/>
                </a:solidFill>
                <a:latin typeface="Arial"/>
              </a:rPr>
              <a:t>750 nm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936767" y="5610226"/>
            <a:ext cx="2265044" cy="26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100"/>
              </a:lnSpc>
            </a:pPr>
            <a:r>
              <a:rPr lang="en-US" sz="1900" b="1" dirty="0">
                <a:solidFill>
                  <a:srgbClr val="000000"/>
                </a:solidFill>
                <a:latin typeface="Arial"/>
              </a:rPr>
              <a:t>Shorter wavelength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1536679" y="6003926"/>
            <a:ext cx="1641475" cy="26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100"/>
              </a:lnSpc>
            </a:pPr>
            <a:r>
              <a:rPr lang="en-US" sz="1900" b="1">
                <a:solidFill>
                  <a:srgbClr val="000000"/>
                </a:solidFill>
                <a:latin typeface="Arial"/>
              </a:rPr>
              <a:t>Higher energy</a:t>
            </a:r>
          </a:p>
        </p:txBody>
      </p:sp>
      <p:sp>
        <p:nvSpPr>
          <p:cNvPr id="31" name="TextBox 31"/>
          <p:cNvSpPr txBox="1">
            <a:spLocks noChangeArrowheads="1"/>
          </p:cNvSpPr>
          <p:nvPr/>
        </p:nvSpPr>
        <p:spPr bwMode="auto">
          <a:xfrm>
            <a:off x="6100358" y="5614989"/>
            <a:ext cx="2224968" cy="26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100"/>
              </a:lnSpc>
            </a:pPr>
            <a:r>
              <a:rPr lang="en-US" sz="1900" b="1">
                <a:solidFill>
                  <a:srgbClr val="000000"/>
                </a:solidFill>
                <a:latin typeface="Arial"/>
              </a:rPr>
              <a:t>Longer wavelength</a:t>
            </a:r>
          </a:p>
        </p:txBody>
      </p:sp>
      <p:sp>
        <p:nvSpPr>
          <p:cNvPr id="32" name="TextBox 2"/>
          <p:cNvSpPr txBox="1">
            <a:spLocks noChangeArrowheads="1"/>
          </p:cNvSpPr>
          <p:nvPr/>
        </p:nvSpPr>
        <p:spPr bwMode="auto">
          <a:xfrm>
            <a:off x="1570849" y="751176"/>
            <a:ext cx="884858" cy="26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100"/>
              </a:lnSpc>
            </a:pPr>
            <a:r>
              <a:rPr lang="en-US" sz="1900" b="1" dirty="0" smtClean="0">
                <a:solidFill>
                  <a:srgbClr val="000000"/>
                </a:solidFill>
                <a:latin typeface="Arial"/>
              </a:rPr>
              <a:t>10</a:t>
            </a:r>
            <a:r>
              <a:rPr lang="en-US" sz="19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1900" b="1" baseline="30000" dirty="0" smtClean="0">
                <a:solidFill>
                  <a:srgbClr val="000000"/>
                </a:solidFill>
                <a:latin typeface="Arial"/>
              </a:rPr>
              <a:t>3</a:t>
            </a:r>
            <a:r>
              <a:rPr lang="en-US" sz="1900" b="1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900" b="1" dirty="0">
                <a:solidFill>
                  <a:srgbClr val="000000"/>
                </a:solidFill>
                <a:latin typeface="Arial"/>
              </a:rPr>
              <a:t>nm</a:t>
            </a:r>
          </a:p>
        </p:txBody>
      </p:sp>
      <p:sp>
        <p:nvSpPr>
          <p:cNvPr id="33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811878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/>
          <a:p>
            <a:r>
              <a:rPr lang="en-US" altLang="en-US" smtClean="0"/>
              <a:t>Photosynthetic Pigments: The Light Receptors</a:t>
            </a:r>
          </a:p>
        </p:txBody>
      </p:sp>
      <p:sp>
        <p:nvSpPr>
          <p:cNvPr id="1146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Pigments are substances that absorb visible light</a:t>
            </a:r>
          </a:p>
          <a:p>
            <a:r>
              <a:rPr lang="en-US" altLang="en-US" smtClean="0"/>
              <a:t>Different pigments absorb different wavelengths</a:t>
            </a:r>
          </a:p>
          <a:p>
            <a:r>
              <a:rPr lang="en-US" altLang="en-US" smtClean="0"/>
              <a:t>Wavelengths that are not absorbed are reflected or transmitted</a:t>
            </a:r>
          </a:p>
          <a:p>
            <a:r>
              <a:rPr lang="en-US" altLang="en-US" smtClean="0"/>
              <a:t>Leaves appear green because chlorophyll reflects and transmits green light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245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99"/>
          <a:stretch>
            <a:fillRect/>
          </a:stretch>
        </p:blipFill>
        <p:spPr>
          <a:xfrm>
            <a:off x="1258824" y="329184"/>
            <a:ext cx="6626352" cy="61996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11.8</a:t>
            </a:r>
            <a:endParaRPr lang="en-US" dirty="0"/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3552135" y="1008063"/>
            <a:ext cx="564257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Light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5579377" y="1266825"/>
            <a:ext cx="1038746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Reflected</a:t>
            </a: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light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1782068" y="1984375"/>
            <a:ext cx="1282402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Chloroplast</a:t>
            </a:r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2396439" y="4729163"/>
            <a:ext cx="1077218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Absorbed</a:t>
            </a: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light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Box 8"/>
          <p:cNvSpPr txBox="1">
            <a:spLocks noChangeArrowheads="1"/>
          </p:cNvSpPr>
          <p:nvPr/>
        </p:nvSpPr>
        <p:spPr bwMode="auto">
          <a:xfrm>
            <a:off x="3880752" y="5754688"/>
            <a:ext cx="1308115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smtClean="0">
                <a:solidFill>
                  <a:srgbClr val="000000"/>
                </a:solidFill>
                <a:latin typeface="Arial"/>
              </a:rPr>
              <a:t>Transmitted</a:t>
            </a:r>
          </a:p>
          <a:p>
            <a:pPr>
              <a:lnSpc>
                <a:spcPts val="2000"/>
              </a:lnSpc>
            </a:pPr>
            <a:r>
              <a:rPr lang="en-US" sz="1800" b="1" smtClean="0">
                <a:solidFill>
                  <a:srgbClr val="000000"/>
                </a:solidFill>
                <a:latin typeface="Arial"/>
              </a:rPr>
              <a:t>light</a:t>
            </a:r>
            <a:endParaRPr lang="en-US" sz="1800" b="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Box 11"/>
          <p:cNvSpPr txBox="1">
            <a:spLocks noChangeArrowheads="1"/>
          </p:cNvSpPr>
          <p:nvPr/>
        </p:nvSpPr>
        <p:spPr bwMode="auto">
          <a:xfrm>
            <a:off x="5865127" y="4797425"/>
            <a:ext cx="884858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Granum</a:t>
            </a:r>
          </a:p>
        </p:txBody>
      </p:sp>
      <p:sp>
        <p:nvSpPr>
          <p:cNvPr id="16" name="Freeform 15"/>
          <p:cNvSpPr/>
          <p:nvPr/>
        </p:nvSpPr>
        <p:spPr>
          <a:xfrm>
            <a:off x="2345921" y="2211285"/>
            <a:ext cx="289991" cy="704837"/>
          </a:xfrm>
          <a:custGeom>
            <a:avLst/>
            <a:gdLst>
              <a:gd name="connsiteX0" fmla="*/ 9525 w 289991"/>
              <a:gd name="connsiteY0" fmla="*/ 9525 h 704837"/>
              <a:gd name="connsiteX1" fmla="*/ 280466 w 289991"/>
              <a:gd name="connsiteY1" fmla="*/ 695312 h 70483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89991" h="704837">
                <a:moveTo>
                  <a:pt x="9525" y="9525"/>
                </a:moveTo>
                <a:lnTo>
                  <a:pt x="280466" y="695312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7" name="Freeform 3"/>
          <p:cNvSpPr/>
          <p:nvPr/>
        </p:nvSpPr>
        <p:spPr>
          <a:xfrm>
            <a:off x="3497405" y="3972330"/>
            <a:ext cx="1373695" cy="903833"/>
          </a:xfrm>
          <a:custGeom>
            <a:avLst/>
            <a:gdLst>
              <a:gd name="connsiteX0" fmla="*/ 1364170 w 1373695"/>
              <a:gd name="connsiteY0" fmla="*/ 9525 h 903833"/>
              <a:gd name="connsiteX1" fmla="*/ 9525 w 1373695"/>
              <a:gd name="connsiteY1" fmla="*/ 894308 h 903833"/>
              <a:gd name="connsiteX2" fmla="*/ 1194841 w 1373695"/>
              <a:gd name="connsiteY2" fmla="*/ 322808 h 90383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1373695" h="903833">
                <a:moveTo>
                  <a:pt x="1364170" y="9525"/>
                </a:moveTo>
                <a:lnTo>
                  <a:pt x="9525" y="894308"/>
                </a:lnTo>
                <a:lnTo>
                  <a:pt x="1194841" y="322808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8" name="Freeform 3"/>
          <p:cNvSpPr/>
          <p:nvPr/>
        </p:nvSpPr>
        <p:spPr>
          <a:xfrm>
            <a:off x="5516716" y="3686606"/>
            <a:ext cx="209550" cy="1411808"/>
          </a:xfrm>
          <a:custGeom>
            <a:avLst/>
            <a:gdLst>
              <a:gd name="connsiteX0" fmla="*/ 9525 w 209550"/>
              <a:gd name="connsiteY0" fmla="*/ 9525 h 1411808"/>
              <a:gd name="connsiteX1" fmla="*/ 123825 w 209550"/>
              <a:gd name="connsiteY1" fmla="*/ 85725 h 1411808"/>
              <a:gd name="connsiteX2" fmla="*/ 123825 w 209550"/>
              <a:gd name="connsiteY2" fmla="*/ 920229 h 1411808"/>
              <a:gd name="connsiteX3" fmla="*/ 200025 w 209550"/>
              <a:gd name="connsiteY3" fmla="*/ 1010716 h 1411808"/>
              <a:gd name="connsiteX4" fmla="*/ 123825 w 209550"/>
              <a:gd name="connsiteY4" fmla="*/ 1101204 h 1411808"/>
              <a:gd name="connsiteX5" fmla="*/ 123825 w 209550"/>
              <a:gd name="connsiteY5" fmla="*/ 1326083 h 1411808"/>
              <a:gd name="connsiteX6" fmla="*/ 9525 w 209550"/>
              <a:gd name="connsiteY6" fmla="*/ 1402283 h 14118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</a:cxnLst>
            <a:rect l="l" t="t" r="r" b="b"/>
            <a:pathLst>
              <a:path w="209550" h="1411808">
                <a:moveTo>
                  <a:pt x="9525" y="9525"/>
                </a:moveTo>
                <a:cubicBezTo>
                  <a:pt x="9525" y="9525"/>
                  <a:pt x="123825" y="18757"/>
                  <a:pt x="123825" y="85725"/>
                </a:cubicBezTo>
                <a:lnTo>
                  <a:pt x="123825" y="920229"/>
                </a:lnTo>
                <a:cubicBezTo>
                  <a:pt x="123825" y="972616"/>
                  <a:pt x="200025" y="1010716"/>
                  <a:pt x="200025" y="1010716"/>
                </a:cubicBezTo>
                <a:cubicBezTo>
                  <a:pt x="200025" y="1010716"/>
                  <a:pt x="123825" y="1048816"/>
                  <a:pt x="123825" y="1101204"/>
                </a:cubicBezTo>
                <a:lnTo>
                  <a:pt x="123825" y="1326083"/>
                </a:lnTo>
                <a:cubicBezTo>
                  <a:pt x="123825" y="1392758"/>
                  <a:pt x="9525" y="1402283"/>
                  <a:pt x="9525" y="1402283"/>
                </a:cubicBez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9" name="Freeform 3"/>
          <p:cNvSpPr/>
          <p:nvPr/>
        </p:nvSpPr>
        <p:spPr>
          <a:xfrm>
            <a:off x="5707216" y="4687797"/>
            <a:ext cx="138861" cy="213817"/>
          </a:xfrm>
          <a:custGeom>
            <a:avLst/>
            <a:gdLst>
              <a:gd name="connsiteX0" fmla="*/ 9525 w 138861"/>
              <a:gd name="connsiteY0" fmla="*/ 9525 h 213817"/>
              <a:gd name="connsiteX1" fmla="*/ 129337 w 138861"/>
              <a:gd name="connsiteY1" fmla="*/ 204292 h 21381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38861" h="213817">
                <a:moveTo>
                  <a:pt x="9525" y="9525"/>
                </a:moveTo>
                <a:lnTo>
                  <a:pt x="129337" y="204292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4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583386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There are three types of pigments in chloroplasts: </a:t>
            </a:r>
          </a:p>
          <a:p>
            <a:pPr lvl="1"/>
            <a:r>
              <a:rPr lang="en-US" altLang="en-US" b="1" smtClean="0"/>
              <a:t>Chlorophyll</a:t>
            </a:r>
            <a:r>
              <a:rPr lang="en-US" altLang="en-US" b="1" i="1" smtClean="0"/>
              <a:t> a</a:t>
            </a:r>
            <a:r>
              <a:rPr lang="en-US" altLang="en-US" i="1" smtClean="0"/>
              <a:t>,</a:t>
            </a:r>
            <a:r>
              <a:rPr lang="en-US" altLang="en-US" smtClean="0"/>
              <a:t> the key light-capturing pigment</a:t>
            </a:r>
          </a:p>
          <a:p>
            <a:pPr lvl="1"/>
            <a:r>
              <a:rPr lang="en-US" altLang="en-US" b="1" smtClean="0"/>
              <a:t>Chlorophyll</a:t>
            </a:r>
            <a:r>
              <a:rPr lang="en-US" altLang="en-US" b="1" i="1" smtClean="0"/>
              <a:t> b</a:t>
            </a:r>
            <a:r>
              <a:rPr lang="en-US" altLang="en-US" i="1" smtClean="0"/>
              <a:t>,</a:t>
            </a:r>
            <a:r>
              <a:rPr lang="en-US" altLang="en-US" smtClean="0"/>
              <a:t> an accessory pigment</a:t>
            </a:r>
          </a:p>
          <a:p>
            <a:pPr lvl="1"/>
            <a:r>
              <a:rPr lang="en-US" altLang="en-US" smtClean="0"/>
              <a:t>Carotenoids, a separate group of accessory pigments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38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Accessory pigments called </a:t>
            </a:r>
            <a:r>
              <a:rPr lang="en-US" altLang="en-US" b="1" dirty="0" smtClean="0"/>
              <a:t>carotenoids</a:t>
            </a:r>
            <a:r>
              <a:rPr lang="en-US" altLang="en-US" dirty="0" smtClean="0"/>
              <a:t> may broaden the spectrum of colors that drive photosynthesis</a:t>
            </a:r>
            <a:endParaRPr lang="en-US" altLang="en-US" b="1" dirty="0" smtClean="0"/>
          </a:p>
          <a:p>
            <a:r>
              <a:rPr lang="en-US" altLang="en-US" dirty="0" smtClean="0"/>
              <a:t>Some carotenoids function in </a:t>
            </a:r>
            <a:r>
              <a:rPr lang="en-US" altLang="en-US" dirty="0" err="1" smtClean="0"/>
              <a:t>photoprotection</a:t>
            </a:r>
            <a:r>
              <a:rPr lang="en-US" altLang="en-US" dirty="0" smtClean="0"/>
              <a:t>; they absorb excessive light that would damage chlorophyll or react with oxygen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180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Excitation of Chlorophyll by Light</a:t>
            </a:r>
          </a:p>
        </p:txBody>
      </p:sp>
      <p:sp>
        <p:nvSpPr>
          <p:cNvPr id="131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When a pigment absorbs light, it goes from a ground state to an excited state, which is unstable</a:t>
            </a:r>
          </a:p>
          <a:p>
            <a:r>
              <a:rPr lang="en-US" altLang="en-US" smtClean="0"/>
              <a:t>When excited electrons fall back to the ground state, excess energy is released as heat</a:t>
            </a:r>
          </a:p>
          <a:p>
            <a:r>
              <a:rPr lang="en-US" altLang="en-US" smtClean="0"/>
              <a:t>In isolation, some pigments also emit light, an afterglow called fluorescence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899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04"/>
          <a:stretch>
            <a:fillRect/>
          </a:stretch>
        </p:blipFill>
        <p:spPr>
          <a:xfrm>
            <a:off x="298704" y="880872"/>
            <a:ext cx="8546592" cy="50962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11.12</a:t>
            </a:r>
            <a:endParaRPr lang="en-US" dirty="0"/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2828746" y="1453726"/>
            <a:ext cx="205184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i="1" dirty="0" smtClean="0">
                <a:solidFill>
                  <a:srgbClr val="000000"/>
                </a:solidFill>
                <a:latin typeface="Arial"/>
              </a:rPr>
              <a:t>e</a:t>
            </a:r>
            <a:r>
              <a:rPr lang="en-US" sz="18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US" sz="1800" b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926499" y="1271164"/>
            <a:ext cx="820738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Excited</a:t>
            </a: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state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4845662" y="2285576"/>
            <a:ext cx="500137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Heat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308" y="2026367"/>
            <a:ext cx="256480" cy="2026196"/>
          </a:xfrm>
          <a:prstGeom prst="rect">
            <a:avLst/>
          </a:prstGeom>
          <a:noFill/>
        </p:spPr>
        <p:txBody>
          <a:bodyPr vert="vert270" wrap="none" lIns="0" tIns="0" rIns="0" bIns="0">
            <a:spAutoFit/>
          </a:bodyPr>
          <a:lstStyle/>
          <a:p>
            <a:pPr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Energy of electron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Box 7"/>
          <p:cNvSpPr txBox="1">
            <a:spLocks noChangeArrowheads="1"/>
          </p:cNvSpPr>
          <p:nvPr/>
        </p:nvSpPr>
        <p:spPr bwMode="auto">
          <a:xfrm>
            <a:off x="1129324" y="4258046"/>
            <a:ext cx="795089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Photon</a:t>
            </a:r>
          </a:p>
        </p:txBody>
      </p:sp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2323118" y="4554910"/>
            <a:ext cx="1282402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FFFFFF"/>
                </a:solidFill>
                <a:latin typeface="Arial"/>
              </a:rPr>
              <a:t>Chlorophyll</a:t>
            </a:r>
          </a:p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FFFFFF"/>
                </a:solidFill>
                <a:latin typeface="Arial"/>
              </a:rPr>
              <a:t>molecule</a:t>
            </a:r>
            <a:endParaRPr lang="en-US" sz="1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Box 10"/>
          <p:cNvSpPr txBox="1">
            <a:spLocks noChangeArrowheads="1"/>
          </p:cNvSpPr>
          <p:nvPr/>
        </p:nvSpPr>
        <p:spPr bwMode="auto">
          <a:xfrm>
            <a:off x="4274161" y="3803226"/>
            <a:ext cx="1577355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Photon</a:t>
            </a: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(fluorescence)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005874" y="4382664"/>
            <a:ext cx="833562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Ground</a:t>
            </a: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state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Box 14"/>
          <p:cNvSpPr txBox="1">
            <a:spLocks noChangeArrowheads="1"/>
          </p:cNvSpPr>
          <p:nvPr/>
        </p:nvSpPr>
        <p:spPr bwMode="auto">
          <a:xfrm>
            <a:off x="327636" y="5685209"/>
            <a:ext cx="503984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(a) Excitation of isolated chlorophyll molecule</a:t>
            </a:r>
          </a:p>
        </p:txBody>
      </p:sp>
      <p:sp>
        <p:nvSpPr>
          <p:cNvPr id="15" name="TextBox 16"/>
          <p:cNvSpPr txBox="1">
            <a:spLocks noChangeArrowheads="1"/>
          </p:cNvSpPr>
          <p:nvPr/>
        </p:nvSpPr>
        <p:spPr bwMode="auto">
          <a:xfrm>
            <a:off x="6029936" y="5675683"/>
            <a:ext cx="1846659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(b) Fluorescence</a:t>
            </a:r>
          </a:p>
        </p:txBody>
      </p:sp>
      <p:sp>
        <p:nvSpPr>
          <p:cNvPr id="16" name="Freeform 15"/>
          <p:cNvSpPr/>
          <p:nvPr/>
        </p:nvSpPr>
        <p:spPr>
          <a:xfrm>
            <a:off x="2957940" y="1392438"/>
            <a:ext cx="962266" cy="38100"/>
          </a:xfrm>
          <a:custGeom>
            <a:avLst/>
            <a:gdLst>
              <a:gd name="connsiteX0" fmla="*/ 9525 w 962266"/>
              <a:gd name="connsiteY0" fmla="*/ 9525 h 38100"/>
              <a:gd name="connsiteX1" fmla="*/ 952741 w 962266"/>
              <a:gd name="connsiteY1" fmla="*/ 9525 h 381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62266" h="38100">
                <a:moveTo>
                  <a:pt x="9525" y="9525"/>
                </a:moveTo>
                <a:lnTo>
                  <a:pt x="952741" y="9525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7" name="Freeform 3"/>
          <p:cNvSpPr/>
          <p:nvPr/>
        </p:nvSpPr>
        <p:spPr>
          <a:xfrm>
            <a:off x="3064054" y="4505005"/>
            <a:ext cx="919022" cy="38100"/>
          </a:xfrm>
          <a:custGeom>
            <a:avLst/>
            <a:gdLst>
              <a:gd name="connsiteX0" fmla="*/ 9525 w 919022"/>
              <a:gd name="connsiteY0" fmla="*/ 9525 h 38100"/>
              <a:gd name="connsiteX1" fmla="*/ 909497 w 919022"/>
              <a:gd name="connsiteY1" fmla="*/ 9525 h 381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19022" h="38100">
                <a:moveTo>
                  <a:pt x="9525" y="9525"/>
                </a:moveTo>
                <a:lnTo>
                  <a:pt x="909497" y="9525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8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95583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 Photosystem: A Reaction-Center Complex Associated with Light-Harvesting Complexes</a:t>
            </a:r>
          </a:p>
        </p:txBody>
      </p:sp>
      <p:sp>
        <p:nvSpPr>
          <p:cNvPr id="135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 </a:t>
            </a:r>
            <a:r>
              <a:rPr lang="en-US" altLang="en-US" b="1" smtClean="0"/>
              <a:t>photosystem</a:t>
            </a:r>
            <a:r>
              <a:rPr lang="en-US" altLang="en-US" smtClean="0"/>
              <a:t> consists of a reaction-center complex surrounded by light-harvesting complexes</a:t>
            </a:r>
          </a:p>
          <a:p>
            <a:r>
              <a:rPr lang="en-US" altLang="en-US" smtClean="0"/>
              <a:t>The </a:t>
            </a:r>
            <a:r>
              <a:rPr lang="en-US" altLang="en-US" b="1" smtClean="0"/>
              <a:t>reaction-center complex </a:t>
            </a:r>
            <a:r>
              <a:rPr lang="en-US" altLang="en-US" smtClean="0"/>
              <a:t>is an association of proteins holding a special pair of chlorophyll </a:t>
            </a:r>
            <a:r>
              <a:rPr lang="en-US" altLang="en-US" i="1" smtClean="0"/>
              <a:t>a</a:t>
            </a:r>
            <a:r>
              <a:rPr lang="en-US" altLang="en-US" smtClean="0"/>
              <a:t> molecules and a primary electron acceptor</a:t>
            </a:r>
          </a:p>
          <a:p>
            <a:endParaRPr lang="en-US" altLang="en-US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466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 </a:t>
            </a:r>
            <a:r>
              <a:rPr lang="en-US" altLang="en-US" b="1" smtClean="0"/>
              <a:t>light-harvesting complex</a:t>
            </a:r>
            <a:r>
              <a:rPr lang="en-US" altLang="en-US" smtClean="0"/>
              <a:t> consists of pigment molecules bound to proteins </a:t>
            </a:r>
          </a:p>
          <a:p>
            <a:r>
              <a:rPr lang="en-US" altLang="en-US" smtClean="0"/>
              <a:t>Light-harvesting complexes transfer the energy of photons to the chlorophyll </a:t>
            </a:r>
            <a:r>
              <a:rPr lang="en-US" altLang="en-US" i="1" smtClean="0"/>
              <a:t>a</a:t>
            </a:r>
            <a:r>
              <a:rPr lang="en-US" altLang="en-US" smtClean="0"/>
              <a:t> molecules in the reaction-center complex</a:t>
            </a:r>
          </a:p>
          <a:p>
            <a:r>
              <a:rPr lang="en-US" altLang="en-US" smtClean="0"/>
              <a:t>These chlorophyll </a:t>
            </a:r>
            <a:r>
              <a:rPr lang="en-US" altLang="en-US" i="1" smtClean="0"/>
              <a:t>a</a:t>
            </a:r>
            <a:r>
              <a:rPr lang="en-US" altLang="en-US" smtClean="0"/>
              <a:t> molecules are special because they can transfer an excited electron to a different molecule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83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 </a:t>
            </a:r>
            <a:r>
              <a:rPr lang="en-US" altLang="en-US" b="1" smtClean="0"/>
              <a:t>primary electron acceptor</a:t>
            </a:r>
            <a:r>
              <a:rPr lang="en-US" altLang="en-US" smtClean="0"/>
              <a:t> in the reaction center accepts excited electrons and is reduced as a result</a:t>
            </a:r>
          </a:p>
          <a:p>
            <a:r>
              <a:rPr lang="en-US" altLang="en-US" smtClean="0"/>
              <a:t>Solar-powered transfer of an electron from a chlorophyll </a:t>
            </a:r>
            <a:r>
              <a:rPr lang="en-US" altLang="en-US" i="1" smtClean="0"/>
              <a:t>a</a:t>
            </a:r>
            <a:r>
              <a:rPr lang="en-US" altLang="en-US" smtClean="0"/>
              <a:t> molecule to the primary electron acceptor is the first step of the light reactions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29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98"/>
          <a:stretch>
            <a:fillRect/>
          </a:stretch>
        </p:blipFill>
        <p:spPr>
          <a:xfrm>
            <a:off x="298704" y="1045464"/>
            <a:ext cx="8546592" cy="47670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11.13</a:t>
            </a:r>
            <a:endParaRPr lang="en-US" dirty="0"/>
          </a:p>
        </p:txBody>
      </p:sp>
      <p:sp>
        <p:nvSpPr>
          <p:cNvPr id="6" name="TextBox 10"/>
          <p:cNvSpPr txBox="1">
            <a:spLocks noChangeArrowheads="1"/>
          </p:cNvSpPr>
          <p:nvPr/>
        </p:nvSpPr>
        <p:spPr bwMode="auto">
          <a:xfrm>
            <a:off x="7742286" y="5094414"/>
            <a:ext cx="1046761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THYLAKOID</a:t>
            </a:r>
          </a:p>
          <a:p>
            <a:pPr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SPACE</a:t>
            </a:r>
            <a:endParaRPr lang="en-US" sz="1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4921170" y="4846962"/>
            <a:ext cx="743793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Protein</a:t>
            </a:r>
          </a:p>
          <a:p>
            <a:pPr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subunits</a:t>
            </a:r>
          </a:p>
          <a:p>
            <a:pPr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(purple)</a:t>
            </a:r>
            <a:endParaRPr lang="en-US" sz="1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Box 8"/>
          <p:cNvSpPr txBox="1">
            <a:spLocks noChangeArrowheads="1"/>
          </p:cNvSpPr>
          <p:nvPr/>
        </p:nvSpPr>
        <p:spPr bwMode="auto">
          <a:xfrm>
            <a:off x="4574381" y="5535864"/>
            <a:ext cx="2603277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</a:rPr>
              <a:t>(b) Structure of a photosystem</a:t>
            </a:r>
          </a:p>
        </p:txBody>
      </p:sp>
      <p:sp>
        <p:nvSpPr>
          <p:cNvPr id="9" name="TextBox 3"/>
          <p:cNvSpPr txBox="1">
            <a:spLocks noChangeArrowheads="1"/>
          </p:cNvSpPr>
          <p:nvPr/>
        </p:nvSpPr>
        <p:spPr bwMode="auto">
          <a:xfrm>
            <a:off x="5362780" y="3137652"/>
            <a:ext cx="1649491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</a:rPr>
              <a:t>Chlorophyll (green)</a:t>
            </a:r>
          </a:p>
        </p:txBody>
      </p:sp>
      <p:sp>
        <p:nvSpPr>
          <p:cNvPr id="10" name="TextBox 4"/>
          <p:cNvSpPr txBox="1">
            <a:spLocks noChangeArrowheads="1"/>
          </p:cNvSpPr>
          <p:nvPr/>
        </p:nvSpPr>
        <p:spPr bwMode="auto">
          <a:xfrm>
            <a:off x="8025876" y="3165873"/>
            <a:ext cx="777457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</a:rPr>
              <a:t>STROMA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8185" y="3118599"/>
            <a:ext cx="205184" cy="1790555"/>
          </a:xfrm>
          <a:prstGeom prst="rect">
            <a:avLst/>
          </a:prstGeom>
          <a:noFill/>
        </p:spPr>
        <p:txBody>
          <a:bodyPr vert="vert270" wrap="none" lIns="0" tIns="0" rIns="0" bIns="0">
            <a:spAutoFit/>
          </a:bodyPr>
          <a:lstStyle/>
          <a:p>
            <a:pPr fontAlgn="auto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Thylakoid membrane</a:t>
            </a:r>
            <a:endParaRPr lang="en-US" sz="1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Box 4"/>
          <p:cNvSpPr txBox="1">
            <a:spLocks noChangeArrowheads="1"/>
          </p:cNvSpPr>
          <p:nvPr/>
        </p:nvSpPr>
        <p:spPr bwMode="auto">
          <a:xfrm>
            <a:off x="1572533" y="1500168"/>
            <a:ext cx="924933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Light-</a:t>
            </a:r>
          </a:p>
          <a:p>
            <a:pPr algn="ctr"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harvesting</a:t>
            </a:r>
          </a:p>
          <a:p>
            <a:pPr algn="ctr"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complexes</a:t>
            </a:r>
            <a:endParaRPr lang="en-US" sz="1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Box 7"/>
          <p:cNvSpPr txBox="1">
            <a:spLocks noChangeArrowheads="1"/>
          </p:cNvSpPr>
          <p:nvPr/>
        </p:nvSpPr>
        <p:spPr bwMode="auto">
          <a:xfrm>
            <a:off x="2591058" y="1500166"/>
            <a:ext cx="814325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Reaction-</a:t>
            </a:r>
          </a:p>
          <a:p>
            <a:pPr algn="ctr"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center</a:t>
            </a:r>
          </a:p>
          <a:p>
            <a:pPr algn="ctr"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complex</a:t>
            </a:r>
            <a:endParaRPr lang="en-US" sz="1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Box 11"/>
          <p:cNvSpPr txBox="1">
            <a:spLocks noChangeArrowheads="1"/>
          </p:cNvSpPr>
          <p:nvPr/>
        </p:nvSpPr>
        <p:spPr bwMode="auto">
          <a:xfrm>
            <a:off x="3660670" y="1709718"/>
            <a:ext cx="745397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Primary</a:t>
            </a:r>
          </a:p>
          <a:p>
            <a:pPr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electron</a:t>
            </a:r>
          </a:p>
          <a:p>
            <a:pPr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acceptor</a:t>
            </a:r>
            <a:endParaRPr lang="en-US" sz="1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Box 2"/>
          <p:cNvSpPr txBox="1">
            <a:spLocks noChangeArrowheads="1"/>
          </p:cNvSpPr>
          <p:nvPr/>
        </p:nvSpPr>
        <p:spPr bwMode="auto">
          <a:xfrm>
            <a:off x="2066835" y="1208012"/>
            <a:ext cx="1123706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</a:rPr>
              <a:t>Photosystem</a:t>
            </a:r>
          </a:p>
        </p:txBody>
      </p:sp>
      <p:sp>
        <p:nvSpPr>
          <p:cNvPr id="16" name="TextBox 3"/>
          <p:cNvSpPr txBox="1">
            <a:spLocks noChangeArrowheads="1"/>
          </p:cNvSpPr>
          <p:nvPr/>
        </p:nvSpPr>
        <p:spPr bwMode="auto">
          <a:xfrm>
            <a:off x="756363" y="1541427"/>
            <a:ext cx="615553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</a:rPr>
              <a:t>Photon</a:t>
            </a:r>
          </a:p>
        </p:txBody>
      </p:sp>
      <p:sp>
        <p:nvSpPr>
          <p:cNvPr id="17" name="TextBox 10"/>
          <p:cNvSpPr txBox="1">
            <a:spLocks noChangeArrowheads="1"/>
          </p:cNvSpPr>
          <p:nvPr/>
        </p:nvSpPr>
        <p:spPr bwMode="auto">
          <a:xfrm>
            <a:off x="3630353" y="1208012"/>
            <a:ext cx="777457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</a:rPr>
              <a:t>STROMA</a:t>
            </a:r>
          </a:p>
        </p:txBody>
      </p:sp>
      <p:sp>
        <p:nvSpPr>
          <p:cNvPr id="18" name="TextBox 16"/>
          <p:cNvSpPr txBox="1">
            <a:spLocks noChangeArrowheads="1"/>
          </p:cNvSpPr>
          <p:nvPr/>
        </p:nvSpPr>
        <p:spPr bwMode="auto">
          <a:xfrm>
            <a:off x="692738" y="4560468"/>
            <a:ext cx="804707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Transfer</a:t>
            </a:r>
          </a:p>
          <a:p>
            <a:pPr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of energy</a:t>
            </a:r>
            <a:endParaRPr lang="en-US" sz="1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1615391" y="4589040"/>
            <a:ext cx="1878719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Special pair of </a:t>
            </a:r>
            <a:r>
              <a:rPr lang="en-US" sz="1400" b="1" dirty="0" err="1" smtClean="0">
                <a:solidFill>
                  <a:srgbClr val="000000"/>
                </a:solidFill>
                <a:latin typeface="Arial"/>
              </a:rPr>
              <a:t>chloro</a:t>
            </a: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-</a:t>
            </a:r>
          </a:p>
          <a:p>
            <a:pPr>
              <a:lnSpc>
                <a:spcPts val="1600"/>
              </a:lnSpc>
            </a:pPr>
            <a:r>
              <a:rPr lang="en-US" sz="1400" b="1" dirty="0" err="1" smtClean="0">
                <a:solidFill>
                  <a:srgbClr val="000000"/>
                </a:solidFill>
                <a:latin typeface="Arial"/>
              </a:rPr>
              <a:t>phyll</a:t>
            </a: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1" i="1" dirty="0" smtClean="0">
                <a:solidFill>
                  <a:srgbClr val="000000"/>
                </a:solidFill>
                <a:latin typeface="Arial"/>
              </a:rPr>
              <a:t>a</a:t>
            </a: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 molecules</a:t>
            </a:r>
            <a:endParaRPr lang="en-US" sz="1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Box 20"/>
          <p:cNvSpPr txBox="1">
            <a:spLocks noChangeArrowheads="1"/>
          </p:cNvSpPr>
          <p:nvPr/>
        </p:nvSpPr>
        <p:spPr bwMode="auto">
          <a:xfrm>
            <a:off x="3515903" y="4870772"/>
            <a:ext cx="875240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Pigment</a:t>
            </a:r>
          </a:p>
          <a:p>
            <a:pPr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molecules</a:t>
            </a:r>
            <a:endParaRPr lang="en-US" sz="1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Box 22"/>
          <p:cNvSpPr txBox="1">
            <a:spLocks noChangeArrowheads="1"/>
          </p:cNvSpPr>
          <p:nvPr/>
        </p:nvSpPr>
        <p:spPr bwMode="auto">
          <a:xfrm>
            <a:off x="695988" y="5062425"/>
            <a:ext cx="2370841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THYLAKOID SPACE</a:t>
            </a:r>
          </a:p>
          <a:p>
            <a:pPr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(INTERIOR OF THYLAKOID)</a:t>
            </a:r>
            <a:endParaRPr lang="en-US" sz="1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08230" y="2693705"/>
            <a:ext cx="205184" cy="1790555"/>
          </a:xfrm>
          <a:prstGeom prst="rect">
            <a:avLst/>
          </a:prstGeom>
          <a:noFill/>
        </p:spPr>
        <p:txBody>
          <a:bodyPr vert="vert270" wrap="none" lIns="0" tIns="0" rIns="0" bIns="0">
            <a:spAutoFit/>
          </a:bodyPr>
          <a:lstStyle/>
          <a:p>
            <a:pPr fontAlgn="auto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Thylakoid membrane</a:t>
            </a:r>
            <a:endParaRPr lang="en-US" sz="1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Box 24"/>
          <p:cNvSpPr txBox="1">
            <a:spLocks noChangeArrowheads="1"/>
          </p:cNvSpPr>
          <p:nvPr/>
        </p:nvSpPr>
        <p:spPr bwMode="auto">
          <a:xfrm>
            <a:off x="336802" y="5571579"/>
            <a:ext cx="3169137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</a:rPr>
              <a:t>(a) How a photosystem harvests light</a:t>
            </a:r>
          </a:p>
        </p:txBody>
      </p:sp>
      <p:sp>
        <p:nvSpPr>
          <p:cNvPr id="24" name="Freeform 23"/>
          <p:cNvSpPr/>
          <p:nvPr/>
        </p:nvSpPr>
        <p:spPr>
          <a:xfrm>
            <a:off x="4760540" y="3622906"/>
            <a:ext cx="113182" cy="782828"/>
          </a:xfrm>
          <a:custGeom>
            <a:avLst/>
            <a:gdLst>
              <a:gd name="connsiteX0" fmla="*/ 106622 w 113182"/>
              <a:gd name="connsiteY0" fmla="*/ 6559 h 782828"/>
              <a:gd name="connsiteX1" fmla="*/ 46564 w 113182"/>
              <a:gd name="connsiteY1" fmla="*/ 45599 h 782828"/>
              <a:gd name="connsiteX2" fmla="*/ 46564 w 113182"/>
              <a:gd name="connsiteY2" fmla="*/ 347033 h 782828"/>
              <a:gd name="connsiteX3" fmla="*/ 6559 w 113182"/>
              <a:gd name="connsiteY3" fmla="*/ 393414 h 782828"/>
              <a:gd name="connsiteX4" fmla="*/ 46564 w 113182"/>
              <a:gd name="connsiteY4" fmla="*/ 439794 h 782828"/>
              <a:gd name="connsiteX5" fmla="*/ 46564 w 113182"/>
              <a:gd name="connsiteY5" fmla="*/ 737177 h 782828"/>
              <a:gd name="connsiteX6" fmla="*/ 106622 w 113182"/>
              <a:gd name="connsiteY6" fmla="*/ 776268 h 78282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</a:cxnLst>
            <a:rect l="l" t="t" r="r" b="b"/>
            <a:pathLst>
              <a:path w="113182" h="782828">
                <a:moveTo>
                  <a:pt x="106622" y="6559"/>
                </a:moveTo>
                <a:cubicBezTo>
                  <a:pt x="106622" y="6559"/>
                  <a:pt x="46564" y="11448"/>
                  <a:pt x="46564" y="45599"/>
                </a:cubicBezTo>
                <a:lnTo>
                  <a:pt x="46564" y="347033"/>
                </a:lnTo>
                <a:cubicBezTo>
                  <a:pt x="46564" y="373868"/>
                  <a:pt x="6559" y="393414"/>
                  <a:pt x="6559" y="393414"/>
                </a:cubicBezTo>
                <a:cubicBezTo>
                  <a:pt x="6559" y="393414"/>
                  <a:pt x="46564" y="412934"/>
                  <a:pt x="46564" y="439794"/>
                </a:cubicBezTo>
                <a:lnTo>
                  <a:pt x="46564" y="737177"/>
                </a:lnTo>
                <a:cubicBezTo>
                  <a:pt x="46564" y="771416"/>
                  <a:pt x="106622" y="776268"/>
                  <a:pt x="106622" y="776268"/>
                </a:cubicBez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5" name="Freeform 3"/>
          <p:cNvSpPr/>
          <p:nvPr/>
        </p:nvSpPr>
        <p:spPr>
          <a:xfrm>
            <a:off x="5016946" y="4359655"/>
            <a:ext cx="494423" cy="493687"/>
          </a:xfrm>
          <a:custGeom>
            <a:avLst/>
            <a:gdLst>
              <a:gd name="connsiteX0" fmla="*/ 6559 w 494423"/>
              <a:gd name="connsiteY0" fmla="*/ 6559 h 493687"/>
              <a:gd name="connsiteX1" fmla="*/ 146704 w 494423"/>
              <a:gd name="connsiteY1" fmla="*/ 487127 h 493687"/>
              <a:gd name="connsiteX2" fmla="*/ 487864 w 494423"/>
              <a:gd name="connsiteY2" fmla="*/ 480472 h 49368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494423" h="493687">
                <a:moveTo>
                  <a:pt x="6559" y="6559"/>
                </a:moveTo>
                <a:lnTo>
                  <a:pt x="146704" y="487127"/>
                </a:lnTo>
                <a:lnTo>
                  <a:pt x="487864" y="48047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6" name="Freeform 3"/>
          <p:cNvSpPr/>
          <p:nvPr/>
        </p:nvSpPr>
        <p:spPr>
          <a:xfrm>
            <a:off x="5779389" y="3340604"/>
            <a:ext cx="324942" cy="605574"/>
          </a:xfrm>
          <a:custGeom>
            <a:avLst/>
            <a:gdLst>
              <a:gd name="connsiteX0" fmla="*/ 312032 w 324942"/>
              <a:gd name="connsiteY0" fmla="*/ 12909 h 605574"/>
              <a:gd name="connsiteX1" fmla="*/ 12909 w 324942"/>
              <a:gd name="connsiteY1" fmla="*/ 592664 h 60557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324942" h="605574">
                <a:moveTo>
                  <a:pt x="312032" y="12909"/>
                </a:moveTo>
                <a:lnTo>
                  <a:pt x="12909" y="592664"/>
                </a:lnTo>
              </a:path>
            </a:pathLst>
          </a:custGeom>
          <a:ln w="25400">
            <a:solidFill>
              <a:srgbClr val="FFFFF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7" name="Freeform 3"/>
          <p:cNvSpPr/>
          <p:nvPr/>
        </p:nvSpPr>
        <p:spPr>
          <a:xfrm>
            <a:off x="5785841" y="3347056"/>
            <a:ext cx="312038" cy="592670"/>
          </a:xfrm>
          <a:custGeom>
            <a:avLst/>
            <a:gdLst>
              <a:gd name="connsiteX0" fmla="*/ 305581 w 312038"/>
              <a:gd name="connsiteY0" fmla="*/ 6457 h 592670"/>
              <a:gd name="connsiteX1" fmla="*/ 6458 w 312038"/>
              <a:gd name="connsiteY1" fmla="*/ 586212 h 59267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312038" h="592670">
                <a:moveTo>
                  <a:pt x="305581" y="6457"/>
                </a:moveTo>
                <a:lnTo>
                  <a:pt x="6458" y="586212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8" name="Freeform 3"/>
          <p:cNvSpPr/>
          <p:nvPr/>
        </p:nvSpPr>
        <p:spPr>
          <a:xfrm>
            <a:off x="1558883" y="1431622"/>
            <a:ext cx="2137067" cy="132384"/>
          </a:xfrm>
          <a:custGeom>
            <a:avLst/>
            <a:gdLst>
              <a:gd name="connsiteX0" fmla="*/ 2130609 w 2137067"/>
              <a:gd name="connsiteY0" fmla="*/ 125926 h 132384"/>
              <a:gd name="connsiteX1" fmla="*/ 2082806 w 2137067"/>
              <a:gd name="connsiteY1" fmla="*/ 54235 h 132384"/>
              <a:gd name="connsiteX2" fmla="*/ 1119993 w 2137067"/>
              <a:gd name="connsiteY2" fmla="*/ 54235 h 132384"/>
              <a:gd name="connsiteX3" fmla="*/ 1063237 w 2137067"/>
              <a:gd name="connsiteY3" fmla="*/ 6457 h 132384"/>
              <a:gd name="connsiteX4" fmla="*/ 1006455 w 2137067"/>
              <a:gd name="connsiteY4" fmla="*/ 54235 h 132384"/>
              <a:gd name="connsiteX5" fmla="*/ 54260 w 2137067"/>
              <a:gd name="connsiteY5" fmla="*/ 54235 h 132384"/>
              <a:gd name="connsiteX6" fmla="*/ 6457 w 2137067"/>
              <a:gd name="connsiteY6" fmla="*/ 125926 h 13238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</a:cxnLst>
            <a:rect l="l" t="t" r="r" b="b"/>
            <a:pathLst>
              <a:path w="2137067" h="132384">
                <a:moveTo>
                  <a:pt x="2130609" y="125926"/>
                </a:moveTo>
                <a:cubicBezTo>
                  <a:pt x="2130609" y="125926"/>
                  <a:pt x="2124652" y="54235"/>
                  <a:pt x="2082806" y="54235"/>
                </a:cubicBezTo>
                <a:lnTo>
                  <a:pt x="1119993" y="54235"/>
                </a:lnTo>
                <a:cubicBezTo>
                  <a:pt x="1087151" y="54235"/>
                  <a:pt x="1063237" y="6457"/>
                  <a:pt x="1063237" y="6457"/>
                </a:cubicBezTo>
                <a:cubicBezTo>
                  <a:pt x="1063237" y="6457"/>
                  <a:pt x="1039323" y="54235"/>
                  <a:pt x="1006455" y="54235"/>
                </a:cubicBezTo>
                <a:lnTo>
                  <a:pt x="54260" y="54235"/>
                </a:lnTo>
                <a:cubicBezTo>
                  <a:pt x="12439" y="54235"/>
                  <a:pt x="6457" y="125926"/>
                  <a:pt x="6457" y="125926"/>
                </a:cubicBez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9" name="Freeform 3"/>
          <p:cNvSpPr/>
          <p:nvPr/>
        </p:nvSpPr>
        <p:spPr>
          <a:xfrm>
            <a:off x="1964816" y="2136436"/>
            <a:ext cx="655802" cy="424154"/>
          </a:xfrm>
          <a:custGeom>
            <a:avLst/>
            <a:gdLst>
              <a:gd name="connsiteX0" fmla="*/ 95726 w 655802"/>
              <a:gd name="connsiteY0" fmla="*/ 417696 h 424154"/>
              <a:gd name="connsiteX1" fmla="*/ 6457 w 655802"/>
              <a:gd name="connsiteY1" fmla="*/ 6457 h 424154"/>
              <a:gd name="connsiteX2" fmla="*/ 649344 w 655802"/>
              <a:gd name="connsiteY2" fmla="*/ 330091 h 42415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655802" h="424154">
                <a:moveTo>
                  <a:pt x="95726" y="417696"/>
                </a:moveTo>
                <a:lnTo>
                  <a:pt x="6457" y="6457"/>
                </a:lnTo>
                <a:lnTo>
                  <a:pt x="649344" y="330091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0" name="Freeform 3"/>
          <p:cNvSpPr/>
          <p:nvPr/>
        </p:nvSpPr>
        <p:spPr>
          <a:xfrm>
            <a:off x="3247594" y="3670831"/>
            <a:ext cx="528053" cy="1182408"/>
          </a:xfrm>
          <a:custGeom>
            <a:avLst/>
            <a:gdLst>
              <a:gd name="connsiteX0" fmla="*/ 229495 w 528053"/>
              <a:gd name="connsiteY0" fmla="*/ 6457 h 1182408"/>
              <a:gd name="connsiteX1" fmla="*/ 521595 w 528053"/>
              <a:gd name="connsiteY1" fmla="*/ 1175950 h 1182408"/>
              <a:gd name="connsiteX2" fmla="*/ 6457 w 528053"/>
              <a:gd name="connsiteY2" fmla="*/ 420643 h 11824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528053" h="1182408">
                <a:moveTo>
                  <a:pt x="229495" y="6457"/>
                </a:moveTo>
                <a:lnTo>
                  <a:pt x="521595" y="1175950"/>
                </a:lnTo>
                <a:lnTo>
                  <a:pt x="6457" y="420643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1" name="Freeform 3"/>
          <p:cNvSpPr/>
          <p:nvPr/>
        </p:nvSpPr>
        <p:spPr>
          <a:xfrm>
            <a:off x="2490792" y="3925724"/>
            <a:ext cx="305066" cy="667042"/>
          </a:xfrm>
          <a:custGeom>
            <a:avLst/>
            <a:gdLst>
              <a:gd name="connsiteX0" fmla="*/ 43694 w 305066"/>
              <a:gd name="connsiteY0" fmla="*/ 6457 h 667042"/>
              <a:gd name="connsiteX1" fmla="*/ 6457 w 305066"/>
              <a:gd name="connsiteY1" fmla="*/ 660584 h 667042"/>
              <a:gd name="connsiteX2" fmla="*/ 298608 w 305066"/>
              <a:gd name="connsiteY2" fmla="*/ 6457 h 66704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305066" h="667042">
                <a:moveTo>
                  <a:pt x="43694" y="6457"/>
                </a:moveTo>
                <a:lnTo>
                  <a:pt x="6457" y="660584"/>
                </a:lnTo>
                <a:lnTo>
                  <a:pt x="298608" y="6457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2" name="Freeform 3"/>
          <p:cNvSpPr/>
          <p:nvPr/>
        </p:nvSpPr>
        <p:spPr>
          <a:xfrm>
            <a:off x="2671394" y="2104689"/>
            <a:ext cx="281978" cy="686904"/>
          </a:xfrm>
          <a:custGeom>
            <a:avLst/>
            <a:gdLst>
              <a:gd name="connsiteX0" fmla="*/ 275520 w 281978"/>
              <a:gd name="connsiteY0" fmla="*/ 6457 h 686904"/>
              <a:gd name="connsiteX1" fmla="*/ 6457 w 281978"/>
              <a:gd name="connsiteY1" fmla="*/ 680447 h 68690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81978" h="686904">
                <a:moveTo>
                  <a:pt x="275520" y="6457"/>
                </a:moveTo>
                <a:lnTo>
                  <a:pt x="6457" y="680447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3" name="Freeform 3"/>
          <p:cNvSpPr/>
          <p:nvPr/>
        </p:nvSpPr>
        <p:spPr>
          <a:xfrm>
            <a:off x="2679389" y="1827681"/>
            <a:ext cx="944105" cy="1202880"/>
          </a:xfrm>
          <a:custGeom>
            <a:avLst/>
            <a:gdLst>
              <a:gd name="connsiteX0" fmla="*/ 937647 w 944105"/>
              <a:gd name="connsiteY0" fmla="*/ 6457 h 1202880"/>
              <a:gd name="connsiteX1" fmla="*/ 6457 w 944105"/>
              <a:gd name="connsiteY1" fmla="*/ 1196422 h 120288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44105" h="1202880">
                <a:moveTo>
                  <a:pt x="937647" y="6457"/>
                </a:moveTo>
                <a:lnTo>
                  <a:pt x="6457" y="119642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4" name="Freeform 3"/>
          <p:cNvSpPr/>
          <p:nvPr/>
        </p:nvSpPr>
        <p:spPr>
          <a:xfrm>
            <a:off x="1308872" y="3861981"/>
            <a:ext cx="662546" cy="716470"/>
          </a:xfrm>
          <a:custGeom>
            <a:avLst/>
            <a:gdLst>
              <a:gd name="connsiteX0" fmla="*/ 6457 w 662546"/>
              <a:gd name="connsiteY0" fmla="*/ 710012 h 716470"/>
              <a:gd name="connsiteX1" fmla="*/ 656088 w 662546"/>
              <a:gd name="connsiteY1" fmla="*/ 6457 h 71647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662546" h="716470">
                <a:moveTo>
                  <a:pt x="6457" y="710012"/>
                </a:moveTo>
                <a:lnTo>
                  <a:pt x="656088" y="6457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5" name="Freeform 3"/>
          <p:cNvSpPr/>
          <p:nvPr/>
        </p:nvSpPr>
        <p:spPr>
          <a:xfrm>
            <a:off x="506858" y="2717612"/>
            <a:ext cx="114401" cy="1789226"/>
          </a:xfrm>
          <a:custGeom>
            <a:avLst/>
            <a:gdLst>
              <a:gd name="connsiteX0" fmla="*/ 107943 w 114401"/>
              <a:gd name="connsiteY0" fmla="*/ 6457 h 1789226"/>
              <a:gd name="connsiteX1" fmla="*/ 54260 w 114401"/>
              <a:gd name="connsiteY1" fmla="*/ 54260 h 1789226"/>
              <a:gd name="connsiteX2" fmla="*/ 54260 w 114401"/>
              <a:gd name="connsiteY2" fmla="*/ 818114 h 1789226"/>
              <a:gd name="connsiteX3" fmla="*/ 6457 w 114401"/>
              <a:gd name="connsiteY3" fmla="*/ 874871 h 1789226"/>
              <a:gd name="connsiteX4" fmla="*/ 54260 w 114401"/>
              <a:gd name="connsiteY4" fmla="*/ 931627 h 1789226"/>
              <a:gd name="connsiteX5" fmla="*/ 54260 w 114401"/>
              <a:gd name="connsiteY5" fmla="*/ 1734978 h 1789226"/>
              <a:gd name="connsiteX6" fmla="*/ 107943 w 114401"/>
              <a:gd name="connsiteY6" fmla="*/ 1782768 h 178922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</a:cxnLst>
            <a:rect l="l" t="t" r="r" b="b"/>
            <a:pathLst>
              <a:path w="114401" h="1789226">
                <a:moveTo>
                  <a:pt x="107943" y="6457"/>
                </a:moveTo>
                <a:cubicBezTo>
                  <a:pt x="107943" y="6457"/>
                  <a:pt x="54260" y="12439"/>
                  <a:pt x="54260" y="54260"/>
                </a:cubicBezTo>
                <a:lnTo>
                  <a:pt x="54260" y="818114"/>
                </a:lnTo>
                <a:cubicBezTo>
                  <a:pt x="54260" y="850982"/>
                  <a:pt x="6457" y="874871"/>
                  <a:pt x="6457" y="874871"/>
                </a:cubicBezTo>
                <a:cubicBezTo>
                  <a:pt x="6457" y="874871"/>
                  <a:pt x="54260" y="898785"/>
                  <a:pt x="54260" y="931627"/>
                </a:cubicBezTo>
                <a:lnTo>
                  <a:pt x="54260" y="1734978"/>
                </a:lnTo>
                <a:cubicBezTo>
                  <a:pt x="54260" y="1776787"/>
                  <a:pt x="107943" y="1782768"/>
                  <a:pt x="107943" y="1782768"/>
                </a:cubicBez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6" name="TextBox 11"/>
          <p:cNvSpPr txBox="1">
            <a:spLocks noChangeArrowheads="1"/>
          </p:cNvSpPr>
          <p:nvPr/>
        </p:nvSpPr>
        <p:spPr bwMode="auto">
          <a:xfrm>
            <a:off x="2619372" y="3304979"/>
            <a:ext cx="113814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200"/>
              </a:lnSpc>
            </a:pPr>
            <a:r>
              <a:rPr lang="en-US" sz="1000" b="1" i="1" dirty="0" smtClean="0">
                <a:solidFill>
                  <a:srgbClr val="000000"/>
                </a:solidFill>
                <a:latin typeface="Arial"/>
              </a:rPr>
              <a:t>e</a:t>
            </a:r>
            <a:r>
              <a:rPr lang="en-US" sz="1000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US" sz="1000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172740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 are two types of photosystems in the thylakoid membrane</a:t>
            </a:r>
          </a:p>
          <a:p>
            <a:r>
              <a:rPr lang="en-US" b="1" dirty="0" smtClean="0"/>
              <a:t>Photosystem </a:t>
            </a:r>
            <a:r>
              <a:rPr lang="en-US" b="1" dirty="0" smtClean="0">
                <a:latin typeface="+mj-lt"/>
              </a:rPr>
              <a:t>II </a:t>
            </a:r>
            <a:r>
              <a:rPr lang="en-US" b="1" dirty="0" smtClean="0"/>
              <a:t>(PS </a:t>
            </a:r>
            <a:r>
              <a:rPr lang="en-US" b="1" dirty="0" smtClean="0">
                <a:latin typeface="+mj-lt"/>
              </a:rPr>
              <a:t>II</a:t>
            </a:r>
            <a:r>
              <a:rPr lang="en-US" b="1" dirty="0" smtClean="0"/>
              <a:t>)</a:t>
            </a:r>
            <a:r>
              <a:rPr lang="en-US" dirty="0" smtClean="0"/>
              <a:t> functions first (the numbers reflect order of discovery) </a:t>
            </a:r>
          </a:p>
          <a:p>
            <a:r>
              <a:rPr lang="en-US" dirty="0" smtClean="0"/>
              <a:t>The reaction-center chlorophyll </a:t>
            </a:r>
            <a:r>
              <a:rPr lang="en-US" i="1" dirty="0" smtClean="0"/>
              <a:t>a</a:t>
            </a:r>
            <a:r>
              <a:rPr lang="en-US" dirty="0" smtClean="0"/>
              <a:t> of PS </a:t>
            </a:r>
            <a:r>
              <a:rPr lang="en-US" dirty="0" smtClean="0">
                <a:latin typeface="+mj-lt"/>
              </a:rPr>
              <a:t>II</a:t>
            </a:r>
            <a:r>
              <a:rPr lang="en-US" dirty="0" smtClean="0"/>
              <a:t> is called P680 because it is best at absorbing a wavelength of 680 nm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348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Photosystem </a:t>
            </a:r>
            <a:r>
              <a:rPr lang="en-US" b="1" dirty="0" smtClean="0">
                <a:latin typeface="+mj-lt"/>
              </a:rPr>
              <a:t>I</a:t>
            </a:r>
            <a:r>
              <a:rPr lang="en-US" b="1" dirty="0" smtClean="0"/>
              <a:t> (PS </a:t>
            </a:r>
            <a:r>
              <a:rPr lang="en-US" b="1" dirty="0" smtClean="0">
                <a:latin typeface="+mj-lt"/>
              </a:rPr>
              <a:t>I</a:t>
            </a:r>
            <a:r>
              <a:rPr lang="en-US" b="1" dirty="0" smtClean="0"/>
              <a:t>)</a:t>
            </a:r>
            <a:r>
              <a:rPr lang="en-US" dirty="0" smtClean="0"/>
              <a:t> is best at absorbing a wavelength of 700 nm</a:t>
            </a:r>
          </a:p>
          <a:p>
            <a:r>
              <a:rPr lang="en-US" dirty="0" smtClean="0"/>
              <a:t>The reaction-center chlorophyll </a:t>
            </a:r>
            <a:r>
              <a:rPr lang="en-US" i="1" dirty="0" smtClean="0"/>
              <a:t>a</a:t>
            </a:r>
            <a:r>
              <a:rPr lang="en-US" dirty="0" smtClean="0"/>
              <a:t> of PS </a:t>
            </a:r>
            <a:r>
              <a:rPr lang="en-US" dirty="0" smtClean="0">
                <a:latin typeface="+mj-lt"/>
              </a:rPr>
              <a:t>I</a:t>
            </a:r>
            <a:r>
              <a:rPr lang="en-US" dirty="0" smtClean="0"/>
              <a:t> is called P700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935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Linear Electron Flow</a:t>
            </a:r>
          </a:p>
        </p:txBody>
      </p:sp>
      <p:sp>
        <p:nvSpPr>
          <p:cNvPr id="143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During the light reactions, there are two possible routes for electron flow: cyclic and linear</a:t>
            </a:r>
          </a:p>
          <a:p>
            <a:r>
              <a:rPr lang="en-US" altLang="en-US" b="1" smtClean="0"/>
              <a:t>Linear electron flow</a:t>
            </a:r>
            <a:r>
              <a:rPr lang="en-US" altLang="en-US" smtClean="0"/>
              <a:t>, the primary pathway, involves both photosystems and produces ATP and NADPH using light energy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91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There are eight steps in linear electron flow: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 smtClean="0"/>
              <a:t>A photon hits a pigment in a light-harvesting complex of PS </a:t>
            </a:r>
            <a:r>
              <a:rPr lang="en-US" altLang="en-US" dirty="0" smtClean="0">
                <a:latin typeface="+mj-lt"/>
              </a:rPr>
              <a:t>II</a:t>
            </a:r>
            <a:r>
              <a:rPr lang="en-US" altLang="en-US" dirty="0" smtClean="0"/>
              <a:t>, and its energy is passed among pigment molecules until it excites P680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 smtClean="0"/>
              <a:t>An excited electron from P680 is transferred to the primary electron acceptor (we now call it P680</a:t>
            </a:r>
            <a:r>
              <a:rPr lang="en-US" altLang="en-US" baseline="30000" dirty="0" smtClean="0">
                <a:latin typeface="+mj-lt"/>
              </a:rPr>
              <a:t>+</a:t>
            </a:r>
            <a:r>
              <a:rPr lang="en-US" altLang="en-US" dirty="0" smtClean="0"/>
              <a:t>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762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94"/>
          <a:stretch>
            <a:fillRect/>
          </a:stretch>
        </p:blipFill>
        <p:spPr>
          <a:xfrm>
            <a:off x="1524000" y="1219200"/>
            <a:ext cx="5946261" cy="43072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11.UN02</a:t>
            </a:r>
            <a:endParaRPr lang="en-US" dirty="0"/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3647192" y="1895548"/>
            <a:ext cx="288541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dirty="0">
                <a:solidFill>
                  <a:srgbClr val="FFFFFF"/>
                </a:solidFill>
                <a:latin typeface="Arial"/>
              </a:rPr>
              <a:t>H</a:t>
            </a:r>
            <a:r>
              <a:rPr lang="en-US" sz="1200" b="1" baseline="-25000" dirty="0">
                <a:solidFill>
                  <a:srgbClr val="FFFFFF"/>
                </a:solidFill>
                <a:latin typeface="Arial"/>
              </a:rPr>
              <a:t>2</a:t>
            </a:r>
            <a:r>
              <a:rPr lang="en-US" sz="1200" b="1" dirty="0">
                <a:solidFill>
                  <a:srgbClr val="FFFFFF"/>
                </a:solidFill>
                <a:latin typeface="Arial"/>
              </a:rPr>
              <a:t>O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2404180" y="2249560"/>
            <a:ext cx="378309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dirty="0">
                <a:solidFill>
                  <a:srgbClr val="000000"/>
                </a:solidFill>
                <a:latin typeface="Arial"/>
              </a:rPr>
              <a:t>Light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4320290" y="2652785"/>
            <a:ext cx="493725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dirty="0">
                <a:solidFill>
                  <a:srgbClr val="000000"/>
                </a:solidFill>
                <a:latin typeface="Arial"/>
              </a:rPr>
              <a:t>NADP</a:t>
            </a:r>
            <a:r>
              <a:rPr lang="en-US" sz="1200" b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4383790" y="2870272"/>
            <a:ext cx="323807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>
                <a:solidFill>
                  <a:srgbClr val="000000"/>
                </a:solidFill>
                <a:latin typeface="Arial"/>
              </a:rPr>
              <a:t>ADP</a:t>
            </a:r>
          </a:p>
        </p:txBody>
      </p:sp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3349779" y="3189360"/>
            <a:ext cx="905697" cy="359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420"/>
              </a:lnSpc>
            </a:pPr>
            <a:r>
              <a:rPr lang="en-US" sz="1200" b="1" smtClean="0">
                <a:solidFill>
                  <a:srgbClr val="000000"/>
                </a:solidFill>
                <a:latin typeface="Arial"/>
              </a:rPr>
              <a:t>LIGHT</a:t>
            </a:r>
          </a:p>
          <a:p>
            <a:pPr algn="ctr">
              <a:lnSpc>
                <a:spcPts val="1420"/>
              </a:lnSpc>
            </a:pPr>
            <a:r>
              <a:rPr lang="en-US" sz="1200" b="1" smtClean="0">
                <a:solidFill>
                  <a:srgbClr val="000000"/>
                </a:solidFill>
                <a:latin typeface="Arial"/>
              </a:rPr>
              <a:t>REACTIONS</a:t>
            </a:r>
            <a:endParaRPr lang="en-US" sz="12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4386173" y="3629097"/>
            <a:ext cx="296363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>
                <a:solidFill>
                  <a:srgbClr val="000000"/>
                </a:solidFill>
                <a:latin typeface="Arial"/>
              </a:rPr>
              <a:t>ATP</a:t>
            </a:r>
          </a:p>
        </p:txBody>
      </p:sp>
      <p:sp>
        <p:nvSpPr>
          <p:cNvPr id="12" name="TextBox 9"/>
          <p:cNvSpPr txBox="1">
            <a:spLocks noChangeArrowheads="1"/>
          </p:cNvSpPr>
          <p:nvPr/>
        </p:nvSpPr>
        <p:spPr bwMode="auto">
          <a:xfrm>
            <a:off x="4270287" y="3930723"/>
            <a:ext cx="545021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dirty="0">
                <a:solidFill>
                  <a:srgbClr val="000000"/>
                </a:solidFill>
                <a:latin typeface="Arial"/>
              </a:rPr>
              <a:t>NADPH</a:t>
            </a:r>
          </a:p>
        </p:txBody>
      </p:sp>
      <p:sp>
        <p:nvSpPr>
          <p:cNvPr id="13" name="TextBox 10"/>
          <p:cNvSpPr txBox="1">
            <a:spLocks noChangeArrowheads="1"/>
          </p:cNvSpPr>
          <p:nvPr/>
        </p:nvSpPr>
        <p:spPr bwMode="auto">
          <a:xfrm>
            <a:off x="5255330" y="1914597"/>
            <a:ext cx="288541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dirty="0">
                <a:solidFill>
                  <a:srgbClr val="000000"/>
                </a:solidFill>
                <a:latin typeface="Arial"/>
              </a:rPr>
              <a:t>CO</a:t>
            </a:r>
            <a:r>
              <a:rPr lang="en-US" sz="1200" b="1" baseline="-25000" dirty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4" name="TextBox 11"/>
          <p:cNvSpPr txBox="1">
            <a:spLocks noChangeArrowheads="1"/>
          </p:cNvSpPr>
          <p:nvPr/>
        </p:nvSpPr>
        <p:spPr bwMode="auto">
          <a:xfrm>
            <a:off x="5134682" y="3122685"/>
            <a:ext cx="560858" cy="359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420"/>
              </a:lnSpc>
            </a:pPr>
            <a:r>
              <a:rPr lang="en-US" sz="1200" b="1" smtClean="0">
                <a:solidFill>
                  <a:srgbClr val="000000"/>
                </a:solidFill>
                <a:latin typeface="Arial"/>
              </a:rPr>
              <a:t>CALVIN</a:t>
            </a:r>
          </a:p>
          <a:p>
            <a:pPr algn="ctr">
              <a:lnSpc>
                <a:spcPts val="1420"/>
              </a:lnSpc>
            </a:pPr>
            <a:r>
              <a:rPr lang="en-US" sz="1200" b="1" smtClean="0">
                <a:solidFill>
                  <a:srgbClr val="000000"/>
                </a:solidFill>
                <a:latin typeface="Arial"/>
              </a:rPr>
              <a:t>CYCLE</a:t>
            </a:r>
            <a:endParaRPr lang="en-US" sz="12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Box 13"/>
          <p:cNvSpPr txBox="1">
            <a:spLocks noChangeArrowheads="1"/>
          </p:cNvSpPr>
          <p:nvPr/>
        </p:nvSpPr>
        <p:spPr bwMode="auto">
          <a:xfrm>
            <a:off x="3695610" y="4710185"/>
            <a:ext cx="177934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dirty="0">
                <a:solidFill>
                  <a:srgbClr val="FFFFFF"/>
                </a:solidFill>
                <a:latin typeface="Arial"/>
              </a:rPr>
              <a:t>O</a:t>
            </a:r>
            <a:r>
              <a:rPr lang="en-US" sz="1200" b="1" baseline="-25000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4907668" y="4667323"/>
            <a:ext cx="1093248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dirty="0">
                <a:solidFill>
                  <a:srgbClr val="000000"/>
                </a:solidFill>
                <a:latin typeface="Arial"/>
              </a:rPr>
              <a:t>[CH</a:t>
            </a:r>
            <a:r>
              <a:rPr lang="en-US" sz="1200" b="1" baseline="-25000" dirty="0">
                <a:solidFill>
                  <a:srgbClr val="000000"/>
                </a:solidFill>
                <a:latin typeface="Arial"/>
              </a:rPr>
              <a:t>2</a:t>
            </a:r>
            <a:r>
              <a:rPr lang="en-US" sz="1200" b="1" dirty="0">
                <a:solidFill>
                  <a:srgbClr val="000000"/>
                </a:solidFill>
                <a:latin typeface="Arial"/>
              </a:rPr>
              <a:t>O] (sugar)</a:t>
            </a:r>
          </a:p>
        </p:txBody>
      </p:sp>
      <p:sp>
        <p:nvSpPr>
          <p:cNvPr id="17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33208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77"/>
          <a:stretch>
            <a:fillRect/>
          </a:stretch>
        </p:blipFill>
        <p:spPr>
          <a:xfrm>
            <a:off x="298704" y="856488"/>
            <a:ext cx="8546592" cy="51450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11.14_1</a:t>
            </a:r>
            <a:endParaRPr lang="en-US" dirty="0"/>
          </a:p>
        </p:txBody>
      </p:sp>
      <p:sp>
        <p:nvSpPr>
          <p:cNvPr id="6" name="TextBox 43"/>
          <p:cNvSpPr txBox="1">
            <a:spLocks noChangeArrowheads="1"/>
          </p:cNvSpPr>
          <p:nvPr/>
        </p:nvSpPr>
        <p:spPr bwMode="auto">
          <a:xfrm>
            <a:off x="3120854" y="4772223"/>
            <a:ext cx="1128514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Pigment</a:t>
            </a: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molecules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45"/>
          <p:cNvSpPr txBox="1">
            <a:spLocks noChangeArrowheads="1"/>
          </p:cNvSpPr>
          <p:nvPr/>
        </p:nvSpPr>
        <p:spPr bwMode="auto">
          <a:xfrm>
            <a:off x="1141788" y="5465960"/>
            <a:ext cx="1692772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Photosystem </a:t>
            </a:r>
            <a:r>
              <a:rPr lang="en-US" sz="18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II</a:t>
            </a:r>
          </a:p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(PS </a:t>
            </a:r>
            <a:r>
              <a:rPr lang="en-US" sz="18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II</a:t>
            </a: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)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323063" y="3792534"/>
            <a:ext cx="56425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latin typeface="Arial"/>
              </a:rPr>
              <a:t>Light</a:t>
            </a:r>
          </a:p>
        </p:txBody>
      </p:sp>
      <p:sp>
        <p:nvSpPr>
          <p:cNvPr id="9" name="TextBox 37"/>
          <p:cNvSpPr txBox="1">
            <a:spLocks noChangeArrowheads="1"/>
          </p:cNvSpPr>
          <p:nvPr/>
        </p:nvSpPr>
        <p:spPr bwMode="auto">
          <a:xfrm>
            <a:off x="2040738" y="3473446"/>
            <a:ext cx="53860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latin typeface="Arial"/>
              </a:rPr>
              <a:t>P680</a:t>
            </a:r>
          </a:p>
        </p:txBody>
      </p:sp>
      <p:sp>
        <p:nvSpPr>
          <p:cNvPr id="10" name="TextBox 2"/>
          <p:cNvSpPr txBox="1">
            <a:spLocks noChangeArrowheads="1"/>
          </p:cNvSpPr>
          <p:nvPr/>
        </p:nvSpPr>
        <p:spPr bwMode="auto">
          <a:xfrm>
            <a:off x="1688464" y="1831805"/>
            <a:ext cx="58830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300"/>
              </a:lnSpc>
            </a:pPr>
            <a:r>
              <a:rPr lang="en-US" sz="1100" b="1" dirty="0" smtClean="0">
                <a:solidFill>
                  <a:srgbClr val="FFFFFF"/>
                </a:solidFill>
                <a:latin typeface="Arial"/>
              </a:rPr>
              <a:t>Primary</a:t>
            </a:r>
          </a:p>
          <a:p>
            <a:pPr algn="ctr">
              <a:lnSpc>
                <a:spcPts val="1300"/>
              </a:lnSpc>
            </a:pPr>
            <a:r>
              <a:rPr lang="en-US" sz="1100" b="1" dirty="0" smtClean="0">
                <a:solidFill>
                  <a:srgbClr val="FFFFFF"/>
                </a:solidFill>
                <a:latin typeface="Arial"/>
              </a:rPr>
              <a:t>electron</a:t>
            </a:r>
          </a:p>
          <a:p>
            <a:pPr algn="ctr">
              <a:lnSpc>
                <a:spcPts val="1300"/>
              </a:lnSpc>
            </a:pPr>
            <a:r>
              <a:rPr lang="en-US" sz="1100" b="1" dirty="0" smtClean="0">
                <a:solidFill>
                  <a:srgbClr val="FFFFFF"/>
                </a:solidFill>
                <a:latin typeface="Arial"/>
              </a:rPr>
              <a:t>acceptor</a:t>
            </a:r>
            <a:endParaRPr lang="en-US" sz="11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Box 26"/>
          <p:cNvSpPr txBox="1">
            <a:spLocks noChangeArrowheads="1"/>
          </p:cNvSpPr>
          <p:nvPr/>
        </p:nvSpPr>
        <p:spPr bwMode="auto">
          <a:xfrm>
            <a:off x="1895214" y="2547935"/>
            <a:ext cx="12503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i="1" dirty="0">
                <a:solidFill>
                  <a:srgbClr val="000000"/>
                </a:solidFill>
                <a:latin typeface="Arial"/>
              </a:rPr>
              <a:t>e</a:t>
            </a:r>
            <a:r>
              <a:rPr lang="en-US" sz="1100" b="1" i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US" sz="900" b="1" i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1950435" y="3705454"/>
            <a:ext cx="209257" cy="220141"/>
          </a:xfrm>
          <a:custGeom>
            <a:avLst/>
            <a:gdLst>
              <a:gd name="connsiteX0" fmla="*/ 9525 w 209257"/>
              <a:gd name="connsiteY0" fmla="*/ 210616 h 220141"/>
              <a:gd name="connsiteX1" fmla="*/ 199732 w 209257"/>
              <a:gd name="connsiteY1" fmla="*/ 9525 h 220141"/>
              <a:gd name="connsiteX2" fmla="*/ 168973 w 209257"/>
              <a:gd name="connsiteY2" fmla="*/ 193852 h 22014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209257" h="220141">
                <a:moveTo>
                  <a:pt x="9525" y="210616"/>
                </a:moveTo>
                <a:lnTo>
                  <a:pt x="199732" y="9525"/>
                </a:lnTo>
                <a:lnTo>
                  <a:pt x="168973" y="193852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8" name="Freeform 3"/>
          <p:cNvSpPr/>
          <p:nvPr/>
        </p:nvSpPr>
        <p:spPr>
          <a:xfrm>
            <a:off x="2501458" y="4908979"/>
            <a:ext cx="589673" cy="349427"/>
          </a:xfrm>
          <a:custGeom>
            <a:avLst/>
            <a:gdLst>
              <a:gd name="connsiteX0" fmla="*/ 127012 w 589673"/>
              <a:gd name="connsiteY0" fmla="*/ 32194 h 349427"/>
              <a:gd name="connsiteX1" fmla="*/ 580148 w 589673"/>
              <a:gd name="connsiteY1" fmla="*/ 9525 h 349427"/>
              <a:gd name="connsiteX2" fmla="*/ 9525 w 589673"/>
              <a:gd name="connsiteY2" fmla="*/ 339902 h 34942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589673" h="349427">
                <a:moveTo>
                  <a:pt x="127012" y="32194"/>
                </a:moveTo>
                <a:lnTo>
                  <a:pt x="580148" y="9525"/>
                </a:lnTo>
                <a:lnTo>
                  <a:pt x="9525" y="339902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2224086" y="2381248"/>
            <a:ext cx="210312" cy="276999"/>
            <a:chOff x="2605086" y="1309213"/>
            <a:chExt cx="210312" cy="276999"/>
          </a:xfrm>
        </p:grpSpPr>
        <p:sp>
          <p:nvSpPr>
            <p:cNvPr id="24" name="Oval 23"/>
            <p:cNvSpPr/>
            <p:nvPr/>
          </p:nvSpPr>
          <p:spPr>
            <a:xfrm>
              <a:off x="2605086" y="1342556"/>
              <a:ext cx="210312" cy="210312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25" name="TextBox 16"/>
            <p:cNvSpPr txBox="1">
              <a:spLocks noChangeArrowheads="1"/>
            </p:cNvSpPr>
            <p:nvPr/>
          </p:nvSpPr>
          <p:spPr bwMode="auto">
            <a:xfrm>
              <a:off x="2646122" y="1309213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800" b="1" dirty="0" smtClean="0">
                  <a:solidFill>
                    <a:srgbClr val="FFFFFF"/>
                  </a:solidFill>
                  <a:latin typeface="Arial"/>
                </a:rPr>
                <a:t>2</a:t>
              </a:r>
              <a:endParaRPr lang="en-US" sz="1800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52428" y="3471855"/>
            <a:ext cx="210312" cy="276999"/>
            <a:chOff x="2605086" y="1309213"/>
            <a:chExt cx="210312" cy="276999"/>
          </a:xfrm>
        </p:grpSpPr>
        <p:sp>
          <p:nvSpPr>
            <p:cNvPr id="30" name="Oval 29"/>
            <p:cNvSpPr/>
            <p:nvPr/>
          </p:nvSpPr>
          <p:spPr>
            <a:xfrm>
              <a:off x="2605086" y="1342556"/>
              <a:ext cx="210312" cy="210312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31" name="TextBox 16"/>
            <p:cNvSpPr txBox="1">
              <a:spLocks noChangeArrowheads="1"/>
            </p:cNvSpPr>
            <p:nvPr/>
          </p:nvSpPr>
          <p:spPr bwMode="auto">
            <a:xfrm>
              <a:off x="2646122" y="1309213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800" b="1" dirty="0" smtClean="0">
                  <a:solidFill>
                    <a:srgbClr val="FFFFFF"/>
                  </a:solidFill>
                  <a:latin typeface="Arial"/>
                </a:rPr>
                <a:t>1</a:t>
              </a:r>
              <a:endParaRPr lang="en-US" sz="1800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9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159317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77"/>
          <a:stretch>
            <a:fillRect/>
          </a:stretch>
        </p:blipFill>
        <p:spPr>
          <a:xfrm>
            <a:off x="298704" y="856488"/>
            <a:ext cx="8546592" cy="51450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11.14_2</a:t>
            </a:r>
            <a:endParaRPr lang="en-US" dirty="0"/>
          </a:p>
        </p:txBody>
      </p:sp>
      <p:sp>
        <p:nvSpPr>
          <p:cNvPr id="6" name="TextBox 43"/>
          <p:cNvSpPr txBox="1">
            <a:spLocks noChangeArrowheads="1"/>
          </p:cNvSpPr>
          <p:nvPr/>
        </p:nvSpPr>
        <p:spPr bwMode="auto">
          <a:xfrm>
            <a:off x="3120854" y="4772223"/>
            <a:ext cx="1128514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Pigment</a:t>
            </a: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molecules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45"/>
          <p:cNvSpPr txBox="1">
            <a:spLocks noChangeArrowheads="1"/>
          </p:cNvSpPr>
          <p:nvPr/>
        </p:nvSpPr>
        <p:spPr bwMode="auto">
          <a:xfrm>
            <a:off x="1141788" y="5465960"/>
            <a:ext cx="1692772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Photosystem </a:t>
            </a:r>
            <a:r>
              <a:rPr lang="en-US" sz="18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II</a:t>
            </a:r>
          </a:p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(PS </a:t>
            </a:r>
            <a:r>
              <a:rPr lang="en-US" sz="18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II</a:t>
            </a: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)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323063" y="3792534"/>
            <a:ext cx="56425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latin typeface="Arial"/>
              </a:rPr>
              <a:t>Light</a:t>
            </a:r>
          </a:p>
        </p:txBody>
      </p:sp>
      <p:sp>
        <p:nvSpPr>
          <p:cNvPr id="10" name="TextBox 37"/>
          <p:cNvSpPr txBox="1">
            <a:spLocks noChangeArrowheads="1"/>
          </p:cNvSpPr>
          <p:nvPr/>
        </p:nvSpPr>
        <p:spPr bwMode="auto">
          <a:xfrm>
            <a:off x="2040738" y="3473446"/>
            <a:ext cx="53860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latin typeface="Arial"/>
              </a:rPr>
              <a:t>P680</a:t>
            </a:r>
          </a:p>
        </p:txBody>
      </p:sp>
      <p:sp>
        <p:nvSpPr>
          <p:cNvPr id="12" name="TextBox 2"/>
          <p:cNvSpPr txBox="1">
            <a:spLocks noChangeArrowheads="1"/>
          </p:cNvSpPr>
          <p:nvPr/>
        </p:nvSpPr>
        <p:spPr bwMode="auto">
          <a:xfrm>
            <a:off x="1688464" y="1831805"/>
            <a:ext cx="58830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300"/>
              </a:lnSpc>
            </a:pPr>
            <a:r>
              <a:rPr lang="en-US" sz="1100" b="1" dirty="0" smtClean="0">
                <a:solidFill>
                  <a:srgbClr val="FFFFFF"/>
                </a:solidFill>
                <a:latin typeface="Arial"/>
              </a:rPr>
              <a:t>Primary</a:t>
            </a:r>
          </a:p>
          <a:p>
            <a:pPr algn="ctr">
              <a:lnSpc>
                <a:spcPts val="1300"/>
              </a:lnSpc>
            </a:pPr>
            <a:r>
              <a:rPr lang="en-US" sz="1100" b="1" dirty="0" smtClean="0">
                <a:solidFill>
                  <a:srgbClr val="FFFFFF"/>
                </a:solidFill>
                <a:latin typeface="Arial"/>
              </a:rPr>
              <a:t>electron</a:t>
            </a:r>
          </a:p>
          <a:p>
            <a:pPr algn="ctr">
              <a:lnSpc>
                <a:spcPts val="1300"/>
              </a:lnSpc>
            </a:pPr>
            <a:r>
              <a:rPr lang="en-US" sz="1100" b="1" dirty="0" smtClean="0">
                <a:solidFill>
                  <a:srgbClr val="FFFFFF"/>
                </a:solidFill>
                <a:latin typeface="Arial"/>
              </a:rPr>
              <a:t>acceptor</a:t>
            </a:r>
            <a:endParaRPr lang="en-US" sz="11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Box 19"/>
          <p:cNvSpPr txBox="1">
            <a:spLocks noChangeArrowheads="1"/>
          </p:cNvSpPr>
          <p:nvPr/>
        </p:nvSpPr>
        <p:spPr bwMode="auto">
          <a:xfrm>
            <a:off x="513608" y="2502842"/>
            <a:ext cx="448842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2 H</a:t>
            </a:r>
            <a:r>
              <a:rPr lang="en-US" sz="18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1800" b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4"/>
          <p:cNvSpPr txBox="1">
            <a:spLocks noChangeArrowheads="1"/>
          </p:cNvSpPr>
          <p:nvPr/>
        </p:nvSpPr>
        <p:spPr bwMode="auto">
          <a:xfrm>
            <a:off x="685430" y="2747166"/>
            <a:ext cx="13144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23" name="TextBox 25"/>
          <p:cNvSpPr txBox="1">
            <a:spLocks noChangeArrowheads="1"/>
          </p:cNvSpPr>
          <p:nvPr/>
        </p:nvSpPr>
        <p:spPr bwMode="auto">
          <a:xfrm>
            <a:off x="1215657" y="2609848"/>
            <a:ext cx="264496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Arial"/>
              </a:rPr>
              <a:t>H</a:t>
            </a:r>
            <a:r>
              <a:rPr lang="en-US" sz="1100" b="1" baseline="-25000" dirty="0">
                <a:solidFill>
                  <a:srgbClr val="FFFFFF"/>
                </a:solidFill>
                <a:latin typeface="Arial"/>
              </a:rPr>
              <a:t>2</a:t>
            </a:r>
            <a:r>
              <a:rPr lang="en-US" sz="1100" b="1" dirty="0">
                <a:solidFill>
                  <a:srgbClr val="FFFFFF"/>
                </a:solidFill>
                <a:latin typeface="Arial"/>
              </a:rPr>
              <a:t>O</a:t>
            </a:r>
          </a:p>
        </p:txBody>
      </p:sp>
      <p:sp>
        <p:nvSpPr>
          <p:cNvPr id="24" name="TextBox 31"/>
          <p:cNvSpPr txBox="1">
            <a:spLocks noChangeArrowheads="1"/>
          </p:cNvSpPr>
          <p:nvPr/>
        </p:nvSpPr>
        <p:spPr bwMode="auto">
          <a:xfrm>
            <a:off x="712420" y="3043235"/>
            <a:ext cx="16190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Arial"/>
              </a:rPr>
              <a:t>O</a:t>
            </a:r>
            <a:r>
              <a:rPr lang="en-US" sz="1100" b="1" baseline="-25000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398095" y="2974977"/>
            <a:ext cx="232055" cy="256962"/>
            <a:chOff x="398095" y="2974977"/>
            <a:chExt cx="232055" cy="256962"/>
          </a:xfrm>
        </p:grpSpPr>
        <p:sp>
          <p:nvSpPr>
            <p:cNvPr id="26" name="TextBox 23"/>
            <p:cNvSpPr txBox="1">
              <a:spLocks noChangeArrowheads="1"/>
            </p:cNvSpPr>
            <p:nvPr/>
          </p:nvSpPr>
          <p:spPr bwMode="auto">
            <a:xfrm>
              <a:off x="398095" y="2974977"/>
              <a:ext cx="9938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400" b="1" dirty="0" smtClean="0">
                  <a:solidFill>
                    <a:srgbClr val="000000"/>
                  </a:solidFill>
                  <a:latin typeface="Arial"/>
                </a:rPr>
                <a:t>1</a:t>
              </a:r>
              <a:endParaRPr lang="en-US" sz="1400" b="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" name="TextBox 23"/>
            <p:cNvSpPr txBox="1">
              <a:spLocks noChangeArrowheads="1"/>
            </p:cNvSpPr>
            <p:nvPr/>
          </p:nvSpPr>
          <p:spPr bwMode="auto">
            <a:xfrm>
              <a:off x="481070" y="3016495"/>
              <a:ext cx="14908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400" b="1" dirty="0" smtClean="0">
                  <a:solidFill>
                    <a:srgbClr val="000000"/>
                  </a:solidFill>
                  <a:latin typeface="Arial"/>
                </a:rPr>
                <a:t>/</a:t>
              </a:r>
              <a:r>
                <a:rPr lang="en-US" sz="1400" b="1" dirty="0">
                  <a:solidFill>
                    <a:srgbClr val="000000"/>
                  </a:solidFill>
                  <a:latin typeface="Arial"/>
                </a:rPr>
                <a:t>2</a:t>
              </a:r>
            </a:p>
          </p:txBody>
        </p:sp>
      </p:grpSp>
      <p:sp>
        <p:nvSpPr>
          <p:cNvPr id="28" name="TextBox 26"/>
          <p:cNvSpPr txBox="1">
            <a:spLocks noChangeArrowheads="1"/>
          </p:cNvSpPr>
          <p:nvPr/>
        </p:nvSpPr>
        <p:spPr bwMode="auto">
          <a:xfrm>
            <a:off x="1895214" y="2547935"/>
            <a:ext cx="12503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i="1" dirty="0">
                <a:solidFill>
                  <a:srgbClr val="000000"/>
                </a:solidFill>
                <a:latin typeface="Arial"/>
              </a:rPr>
              <a:t>e</a:t>
            </a:r>
            <a:r>
              <a:rPr lang="en-US" sz="1100" b="1" i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US" sz="900" b="1" i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33"/>
          <p:cNvSpPr txBox="1">
            <a:spLocks noChangeArrowheads="1"/>
          </p:cNvSpPr>
          <p:nvPr/>
        </p:nvSpPr>
        <p:spPr bwMode="auto">
          <a:xfrm>
            <a:off x="1352289" y="3219447"/>
            <a:ext cx="12503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i="1" dirty="0" smtClean="0">
                <a:solidFill>
                  <a:srgbClr val="000000"/>
                </a:solidFill>
                <a:latin typeface="Arial"/>
              </a:rPr>
              <a:t>e</a:t>
            </a:r>
            <a:r>
              <a:rPr lang="en-US" sz="1100" b="1" i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US" sz="900" b="1" i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1418964" y="3416297"/>
            <a:ext cx="12503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i="1" dirty="0">
                <a:solidFill>
                  <a:srgbClr val="000000"/>
                </a:solidFill>
                <a:latin typeface="Arial"/>
              </a:rPr>
              <a:t>e</a:t>
            </a:r>
            <a:r>
              <a:rPr lang="en-US" sz="1100" b="1" i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US" sz="900" b="1" i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Freeform 30"/>
          <p:cNvSpPr/>
          <p:nvPr/>
        </p:nvSpPr>
        <p:spPr>
          <a:xfrm>
            <a:off x="1950435" y="3705454"/>
            <a:ext cx="209257" cy="220141"/>
          </a:xfrm>
          <a:custGeom>
            <a:avLst/>
            <a:gdLst>
              <a:gd name="connsiteX0" fmla="*/ 9525 w 209257"/>
              <a:gd name="connsiteY0" fmla="*/ 210616 h 220141"/>
              <a:gd name="connsiteX1" fmla="*/ 199732 w 209257"/>
              <a:gd name="connsiteY1" fmla="*/ 9525 h 220141"/>
              <a:gd name="connsiteX2" fmla="*/ 168973 w 209257"/>
              <a:gd name="connsiteY2" fmla="*/ 193852 h 22014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209257" h="220141">
                <a:moveTo>
                  <a:pt x="9525" y="210616"/>
                </a:moveTo>
                <a:lnTo>
                  <a:pt x="199732" y="9525"/>
                </a:lnTo>
                <a:lnTo>
                  <a:pt x="168973" y="193852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3" name="Freeform 3"/>
          <p:cNvSpPr/>
          <p:nvPr/>
        </p:nvSpPr>
        <p:spPr>
          <a:xfrm>
            <a:off x="2501458" y="4908979"/>
            <a:ext cx="589673" cy="349427"/>
          </a:xfrm>
          <a:custGeom>
            <a:avLst/>
            <a:gdLst>
              <a:gd name="connsiteX0" fmla="*/ 127012 w 589673"/>
              <a:gd name="connsiteY0" fmla="*/ 32194 h 349427"/>
              <a:gd name="connsiteX1" fmla="*/ 580148 w 589673"/>
              <a:gd name="connsiteY1" fmla="*/ 9525 h 349427"/>
              <a:gd name="connsiteX2" fmla="*/ 9525 w 589673"/>
              <a:gd name="connsiteY2" fmla="*/ 339902 h 34942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589673" h="349427">
                <a:moveTo>
                  <a:pt x="127012" y="32194"/>
                </a:moveTo>
                <a:lnTo>
                  <a:pt x="580148" y="9525"/>
                </a:lnTo>
                <a:lnTo>
                  <a:pt x="9525" y="339902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2224086" y="2381248"/>
            <a:ext cx="210312" cy="276999"/>
            <a:chOff x="2605086" y="1309213"/>
            <a:chExt cx="210312" cy="276999"/>
          </a:xfrm>
        </p:grpSpPr>
        <p:sp>
          <p:nvSpPr>
            <p:cNvPr id="40" name="Oval 39"/>
            <p:cNvSpPr/>
            <p:nvPr/>
          </p:nvSpPr>
          <p:spPr>
            <a:xfrm>
              <a:off x="2605086" y="1342556"/>
              <a:ext cx="210312" cy="210312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41" name="TextBox 16"/>
            <p:cNvSpPr txBox="1">
              <a:spLocks noChangeArrowheads="1"/>
            </p:cNvSpPr>
            <p:nvPr/>
          </p:nvSpPr>
          <p:spPr bwMode="auto">
            <a:xfrm>
              <a:off x="2646122" y="1309213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800" b="1" dirty="0" smtClean="0">
                  <a:solidFill>
                    <a:srgbClr val="FFFFFF"/>
                  </a:solidFill>
                  <a:latin typeface="Arial"/>
                </a:rPr>
                <a:t>2</a:t>
              </a:r>
              <a:endParaRPr lang="en-US" sz="1800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1071562" y="2936077"/>
            <a:ext cx="210312" cy="276999"/>
            <a:chOff x="2605086" y="1309213"/>
            <a:chExt cx="210312" cy="276999"/>
          </a:xfrm>
        </p:grpSpPr>
        <p:sp>
          <p:nvSpPr>
            <p:cNvPr id="43" name="Oval 42"/>
            <p:cNvSpPr/>
            <p:nvPr/>
          </p:nvSpPr>
          <p:spPr>
            <a:xfrm>
              <a:off x="2605086" y="1342556"/>
              <a:ext cx="210312" cy="210312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44" name="TextBox 16"/>
            <p:cNvSpPr txBox="1">
              <a:spLocks noChangeArrowheads="1"/>
            </p:cNvSpPr>
            <p:nvPr/>
          </p:nvSpPr>
          <p:spPr bwMode="auto">
            <a:xfrm>
              <a:off x="2646122" y="1309213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800" b="1" dirty="0" smtClean="0">
                  <a:solidFill>
                    <a:srgbClr val="FFFFFF"/>
                  </a:solidFill>
                  <a:latin typeface="Arial"/>
                </a:rPr>
                <a:t>3</a:t>
              </a:r>
              <a:endParaRPr lang="en-US" sz="1800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352428" y="3471855"/>
            <a:ext cx="210312" cy="276999"/>
            <a:chOff x="2605086" y="1309213"/>
            <a:chExt cx="210312" cy="276999"/>
          </a:xfrm>
        </p:grpSpPr>
        <p:sp>
          <p:nvSpPr>
            <p:cNvPr id="46" name="Oval 45"/>
            <p:cNvSpPr/>
            <p:nvPr/>
          </p:nvSpPr>
          <p:spPr>
            <a:xfrm>
              <a:off x="2605086" y="1342556"/>
              <a:ext cx="210312" cy="210312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47" name="TextBox 16"/>
            <p:cNvSpPr txBox="1">
              <a:spLocks noChangeArrowheads="1"/>
            </p:cNvSpPr>
            <p:nvPr/>
          </p:nvSpPr>
          <p:spPr bwMode="auto">
            <a:xfrm>
              <a:off x="2646122" y="1309213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800" b="1" dirty="0" smtClean="0">
                  <a:solidFill>
                    <a:srgbClr val="FFFFFF"/>
                  </a:solidFill>
                  <a:latin typeface="Arial"/>
                </a:rPr>
                <a:t>1</a:t>
              </a:r>
              <a:endParaRPr lang="en-US" sz="1800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2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19622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77"/>
          <a:stretch>
            <a:fillRect/>
          </a:stretch>
        </p:blipFill>
        <p:spPr>
          <a:xfrm>
            <a:off x="298704" y="856488"/>
            <a:ext cx="8546592" cy="51450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11.14_3</a:t>
            </a:r>
            <a:endParaRPr lang="en-US" dirty="0"/>
          </a:p>
        </p:txBody>
      </p:sp>
      <p:sp>
        <p:nvSpPr>
          <p:cNvPr id="6" name="TextBox 43"/>
          <p:cNvSpPr txBox="1">
            <a:spLocks noChangeArrowheads="1"/>
          </p:cNvSpPr>
          <p:nvPr/>
        </p:nvSpPr>
        <p:spPr bwMode="auto">
          <a:xfrm>
            <a:off x="3120854" y="4772223"/>
            <a:ext cx="1128514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Pigment</a:t>
            </a: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molecules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45"/>
          <p:cNvSpPr txBox="1">
            <a:spLocks noChangeArrowheads="1"/>
          </p:cNvSpPr>
          <p:nvPr/>
        </p:nvSpPr>
        <p:spPr bwMode="auto">
          <a:xfrm>
            <a:off x="1141788" y="5465960"/>
            <a:ext cx="1692772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Photosystem </a:t>
            </a:r>
            <a:r>
              <a:rPr lang="en-US" sz="18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II</a:t>
            </a:r>
          </a:p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(PS </a:t>
            </a:r>
            <a:r>
              <a:rPr lang="en-US" sz="18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II</a:t>
            </a: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)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2918468" y="1323499"/>
            <a:ext cx="1679947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Electron</a:t>
            </a: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transport chain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/>
        </p:nvSpPr>
        <p:spPr bwMode="auto">
          <a:xfrm>
            <a:off x="323063" y="3792534"/>
            <a:ext cx="56425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latin typeface="Arial"/>
              </a:rPr>
              <a:t>Light</a:t>
            </a:r>
          </a:p>
        </p:txBody>
      </p:sp>
      <p:sp>
        <p:nvSpPr>
          <p:cNvPr id="11" name="TextBox 37"/>
          <p:cNvSpPr txBox="1">
            <a:spLocks noChangeArrowheads="1"/>
          </p:cNvSpPr>
          <p:nvPr/>
        </p:nvSpPr>
        <p:spPr bwMode="auto">
          <a:xfrm>
            <a:off x="2040738" y="3473446"/>
            <a:ext cx="53860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latin typeface="Arial"/>
              </a:rPr>
              <a:t>P680</a:t>
            </a:r>
          </a:p>
        </p:txBody>
      </p:sp>
      <p:sp>
        <p:nvSpPr>
          <p:cNvPr id="12" name="TextBox 39"/>
          <p:cNvSpPr txBox="1">
            <a:spLocks noChangeArrowheads="1"/>
          </p:cNvSpPr>
          <p:nvPr/>
        </p:nvSpPr>
        <p:spPr bwMode="auto">
          <a:xfrm>
            <a:off x="3737776" y="4210046"/>
            <a:ext cx="34573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400" b="1">
                <a:solidFill>
                  <a:srgbClr val="000000"/>
                </a:solidFill>
                <a:latin typeface="Arial"/>
              </a:rPr>
              <a:t>ATP</a:t>
            </a:r>
          </a:p>
        </p:txBody>
      </p:sp>
      <p:sp>
        <p:nvSpPr>
          <p:cNvPr id="15" name="TextBox 2"/>
          <p:cNvSpPr txBox="1">
            <a:spLocks noChangeArrowheads="1"/>
          </p:cNvSpPr>
          <p:nvPr/>
        </p:nvSpPr>
        <p:spPr bwMode="auto">
          <a:xfrm>
            <a:off x="1688464" y="1831805"/>
            <a:ext cx="58830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300"/>
              </a:lnSpc>
            </a:pPr>
            <a:r>
              <a:rPr lang="en-US" sz="1100" b="1" dirty="0" smtClean="0">
                <a:solidFill>
                  <a:srgbClr val="FFFFFF"/>
                </a:solidFill>
                <a:latin typeface="Arial"/>
              </a:rPr>
              <a:t>Primary</a:t>
            </a:r>
          </a:p>
          <a:p>
            <a:pPr algn="ctr">
              <a:lnSpc>
                <a:spcPts val="1300"/>
              </a:lnSpc>
            </a:pPr>
            <a:r>
              <a:rPr lang="en-US" sz="1100" b="1" dirty="0" smtClean="0">
                <a:solidFill>
                  <a:srgbClr val="FFFFFF"/>
                </a:solidFill>
                <a:latin typeface="Arial"/>
              </a:rPr>
              <a:t>electron</a:t>
            </a:r>
          </a:p>
          <a:p>
            <a:pPr algn="ctr">
              <a:lnSpc>
                <a:spcPts val="1300"/>
              </a:lnSpc>
            </a:pPr>
            <a:r>
              <a:rPr lang="en-US" sz="1100" b="1" dirty="0" smtClean="0">
                <a:solidFill>
                  <a:srgbClr val="FFFFFF"/>
                </a:solidFill>
                <a:latin typeface="Arial"/>
              </a:rPr>
              <a:t>acceptor</a:t>
            </a:r>
            <a:endParaRPr lang="en-US" sz="11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Box 28"/>
          <p:cNvSpPr txBox="1">
            <a:spLocks noChangeArrowheads="1"/>
          </p:cNvSpPr>
          <p:nvPr/>
        </p:nvSpPr>
        <p:spPr bwMode="auto">
          <a:xfrm>
            <a:off x="3560400" y="2477293"/>
            <a:ext cx="1045158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Cytochrome</a:t>
            </a:r>
          </a:p>
          <a:p>
            <a:pPr algn="ctr"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complex</a:t>
            </a:r>
            <a:endParaRPr lang="en-US" sz="1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Box 7"/>
          <p:cNvSpPr txBox="1">
            <a:spLocks noChangeArrowheads="1"/>
          </p:cNvSpPr>
          <p:nvPr/>
        </p:nvSpPr>
        <p:spPr bwMode="auto">
          <a:xfrm>
            <a:off x="3032592" y="2160267"/>
            <a:ext cx="22923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400" b="1">
                <a:solidFill>
                  <a:srgbClr val="000000"/>
                </a:solidFill>
                <a:latin typeface="Arial"/>
              </a:rPr>
              <a:t>Pq</a:t>
            </a:r>
          </a:p>
        </p:txBody>
      </p:sp>
      <p:sp>
        <p:nvSpPr>
          <p:cNvPr id="23" name="TextBox 30"/>
          <p:cNvSpPr txBox="1">
            <a:spLocks noChangeArrowheads="1"/>
          </p:cNvSpPr>
          <p:nvPr/>
        </p:nvSpPr>
        <p:spPr bwMode="auto">
          <a:xfrm>
            <a:off x="4774080" y="3020692"/>
            <a:ext cx="2196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400" b="1">
                <a:solidFill>
                  <a:srgbClr val="000000"/>
                </a:solidFill>
                <a:latin typeface="Arial"/>
              </a:rPr>
              <a:t>Pc</a:t>
            </a:r>
          </a:p>
        </p:txBody>
      </p:sp>
      <p:sp>
        <p:nvSpPr>
          <p:cNvPr id="26" name="TextBox 19"/>
          <p:cNvSpPr txBox="1">
            <a:spLocks noChangeArrowheads="1"/>
          </p:cNvSpPr>
          <p:nvPr/>
        </p:nvSpPr>
        <p:spPr bwMode="auto">
          <a:xfrm>
            <a:off x="513608" y="2502842"/>
            <a:ext cx="448842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2 H</a:t>
            </a:r>
            <a:r>
              <a:rPr lang="en-US" sz="18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1800" b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4"/>
          <p:cNvSpPr txBox="1">
            <a:spLocks noChangeArrowheads="1"/>
          </p:cNvSpPr>
          <p:nvPr/>
        </p:nvSpPr>
        <p:spPr bwMode="auto">
          <a:xfrm>
            <a:off x="685430" y="2747166"/>
            <a:ext cx="13144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28" name="TextBox 25"/>
          <p:cNvSpPr txBox="1">
            <a:spLocks noChangeArrowheads="1"/>
          </p:cNvSpPr>
          <p:nvPr/>
        </p:nvSpPr>
        <p:spPr bwMode="auto">
          <a:xfrm>
            <a:off x="1215657" y="2609848"/>
            <a:ext cx="264496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Arial"/>
              </a:rPr>
              <a:t>H</a:t>
            </a:r>
            <a:r>
              <a:rPr lang="en-US" sz="1100" b="1" baseline="-25000" dirty="0">
                <a:solidFill>
                  <a:srgbClr val="FFFFFF"/>
                </a:solidFill>
                <a:latin typeface="Arial"/>
              </a:rPr>
              <a:t>2</a:t>
            </a:r>
            <a:r>
              <a:rPr lang="en-US" sz="1100" b="1" dirty="0">
                <a:solidFill>
                  <a:srgbClr val="FFFFFF"/>
                </a:solidFill>
                <a:latin typeface="Arial"/>
              </a:rPr>
              <a:t>O</a:t>
            </a:r>
          </a:p>
        </p:txBody>
      </p:sp>
      <p:sp>
        <p:nvSpPr>
          <p:cNvPr id="29" name="TextBox 31"/>
          <p:cNvSpPr txBox="1">
            <a:spLocks noChangeArrowheads="1"/>
          </p:cNvSpPr>
          <p:nvPr/>
        </p:nvSpPr>
        <p:spPr bwMode="auto">
          <a:xfrm>
            <a:off x="712420" y="3043235"/>
            <a:ext cx="16190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Arial"/>
              </a:rPr>
              <a:t>O</a:t>
            </a:r>
            <a:r>
              <a:rPr lang="en-US" sz="1100" b="1" baseline="-25000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398095" y="2974977"/>
            <a:ext cx="232055" cy="256962"/>
            <a:chOff x="398095" y="2974977"/>
            <a:chExt cx="232055" cy="256962"/>
          </a:xfrm>
        </p:grpSpPr>
        <p:sp>
          <p:nvSpPr>
            <p:cNvPr id="31" name="TextBox 23"/>
            <p:cNvSpPr txBox="1">
              <a:spLocks noChangeArrowheads="1"/>
            </p:cNvSpPr>
            <p:nvPr/>
          </p:nvSpPr>
          <p:spPr bwMode="auto">
            <a:xfrm>
              <a:off x="398095" y="2974977"/>
              <a:ext cx="9938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400" b="1" dirty="0" smtClean="0">
                  <a:solidFill>
                    <a:srgbClr val="000000"/>
                  </a:solidFill>
                  <a:latin typeface="Arial"/>
                </a:rPr>
                <a:t>1</a:t>
              </a:r>
              <a:endParaRPr lang="en-US" sz="1400" b="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" name="TextBox 23"/>
            <p:cNvSpPr txBox="1">
              <a:spLocks noChangeArrowheads="1"/>
            </p:cNvSpPr>
            <p:nvPr/>
          </p:nvSpPr>
          <p:spPr bwMode="auto">
            <a:xfrm>
              <a:off x="481070" y="3016495"/>
              <a:ext cx="14908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400" b="1" dirty="0" smtClean="0">
                  <a:solidFill>
                    <a:srgbClr val="000000"/>
                  </a:solidFill>
                  <a:latin typeface="Arial"/>
                </a:rPr>
                <a:t>/</a:t>
              </a:r>
              <a:r>
                <a:rPr lang="en-US" sz="1400" b="1" dirty="0">
                  <a:solidFill>
                    <a:srgbClr val="000000"/>
                  </a:solidFill>
                  <a:latin typeface="Arial"/>
                </a:rPr>
                <a:t>2</a:t>
              </a:r>
            </a:p>
          </p:txBody>
        </p:sp>
      </p:grpSp>
      <p:sp>
        <p:nvSpPr>
          <p:cNvPr id="34" name="TextBox 26"/>
          <p:cNvSpPr txBox="1">
            <a:spLocks noChangeArrowheads="1"/>
          </p:cNvSpPr>
          <p:nvPr/>
        </p:nvSpPr>
        <p:spPr bwMode="auto">
          <a:xfrm>
            <a:off x="1895214" y="2547935"/>
            <a:ext cx="12503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i="1" dirty="0">
                <a:solidFill>
                  <a:srgbClr val="000000"/>
                </a:solidFill>
                <a:latin typeface="Arial"/>
              </a:rPr>
              <a:t>e</a:t>
            </a:r>
            <a:r>
              <a:rPr lang="en-US" sz="1100" b="1" i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US" sz="900" b="1" i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3"/>
          <p:cNvSpPr txBox="1">
            <a:spLocks noChangeArrowheads="1"/>
          </p:cNvSpPr>
          <p:nvPr/>
        </p:nvSpPr>
        <p:spPr bwMode="auto">
          <a:xfrm>
            <a:off x="1352289" y="3219447"/>
            <a:ext cx="12503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i="1" dirty="0" smtClean="0">
                <a:solidFill>
                  <a:srgbClr val="000000"/>
                </a:solidFill>
                <a:latin typeface="Arial"/>
              </a:rPr>
              <a:t>e</a:t>
            </a:r>
            <a:r>
              <a:rPr lang="en-US" sz="1100" b="1" i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US" sz="900" b="1" i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6"/>
          <p:cNvSpPr txBox="1">
            <a:spLocks noChangeArrowheads="1"/>
          </p:cNvSpPr>
          <p:nvPr/>
        </p:nvSpPr>
        <p:spPr bwMode="auto">
          <a:xfrm>
            <a:off x="1418964" y="3416297"/>
            <a:ext cx="12503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i="1" dirty="0">
                <a:solidFill>
                  <a:srgbClr val="000000"/>
                </a:solidFill>
                <a:latin typeface="Arial"/>
              </a:rPr>
              <a:t>e</a:t>
            </a:r>
            <a:r>
              <a:rPr lang="en-US" sz="1100" b="1" i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US" sz="900" b="1" i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Freeform 32"/>
          <p:cNvSpPr/>
          <p:nvPr/>
        </p:nvSpPr>
        <p:spPr>
          <a:xfrm>
            <a:off x="1950435" y="3705454"/>
            <a:ext cx="209257" cy="220141"/>
          </a:xfrm>
          <a:custGeom>
            <a:avLst/>
            <a:gdLst>
              <a:gd name="connsiteX0" fmla="*/ 9525 w 209257"/>
              <a:gd name="connsiteY0" fmla="*/ 210616 h 220141"/>
              <a:gd name="connsiteX1" fmla="*/ 199732 w 209257"/>
              <a:gd name="connsiteY1" fmla="*/ 9525 h 220141"/>
              <a:gd name="connsiteX2" fmla="*/ 168973 w 209257"/>
              <a:gd name="connsiteY2" fmla="*/ 193852 h 22014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209257" h="220141">
                <a:moveTo>
                  <a:pt x="9525" y="210616"/>
                </a:moveTo>
                <a:lnTo>
                  <a:pt x="199732" y="9525"/>
                </a:lnTo>
                <a:lnTo>
                  <a:pt x="168973" y="193852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8" name="Freeform 3"/>
          <p:cNvSpPr/>
          <p:nvPr/>
        </p:nvSpPr>
        <p:spPr>
          <a:xfrm>
            <a:off x="2501458" y="4908979"/>
            <a:ext cx="589673" cy="349427"/>
          </a:xfrm>
          <a:custGeom>
            <a:avLst/>
            <a:gdLst>
              <a:gd name="connsiteX0" fmla="*/ 127012 w 589673"/>
              <a:gd name="connsiteY0" fmla="*/ 32194 h 349427"/>
              <a:gd name="connsiteX1" fmla="*/ 580148 w 589673"/>
              <a:gd name="connsiteY1" fmla="*/ 9525 h 349427"/>
              <a:gd name="connsiteX2" fmla="*/ 9525 w 589673"/>
              <a:gd name="connsiteY2" fmla="*/ 339902 h 34942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589673" h="349427">
                <a:moveTo>
                  <a:pt x="127012" y="32194"/>
                </a:moveTo>
                <a:lnTo>
                  <a:pt x="580148" y="9525"/>
                </a:lnTo>
                <a:lnTo>
                  <a:pt x="9525" y="339902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2605086" y="1309213"/>
            <a:ext cx="210312" cy="276999"/>
            <a:chOff x="2605086" y="1309213"/>
            <a:chExt cx="210312" cy="276999"/>
          </a:xfrm>
        </p:grpSpPr>
        <p:sp>
          <p:nvSpPr>
            <p:cNvPr id="39" name="Oval 38"/>
            <p:cNvSpPr/>
            <p:nvPr/>
          </p:nvSpPr>
          <p:spPr>
            <a:xfrm>
              <a:off x="2605086" y="1342556"/>
              <a:ext cx="210312" cy="210312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40" name="TextBox 16"/>
            <p:cNvSpPr txBox="1">
              <a:spLocks noChangeArrowheads="1"/>
            </p:cNvSpPr>
            <p:nvPr/>
          </p:nvSpPr>
          <p:spPr bwMode="auto">
            <a:xfrm>
              <a:off x="2646122" y="1309213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800" b="1" dirty="0" smtClean="0">
                  <a:solidFill>
                    <a:srgbClr val="FFFFFF"/>
                  </a:solidFill>
                  <a:latin typeface="Arial"/>
                </a:rPr>
                <a:t>4</a:t>
              </a:r>
              <a:endParaRPr lang="en-US" sz="1800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3825875" y="3366700"/>
            <a:ext cx="210312" cy="276999"/>
            <a:chOff x="2605086" y="1309213"/>
            <a:chExt cx="210312" cy="276999"/>
          </a:xfrm>
        </p:grpSpPr>
        <p:sp>
          <p:nvSpPr>
            <p:cNvPr id="42" name="Oval 41"/>
            <p:cNvSpPr/>
            <p:nvPr/>
          </p:nvSpPr>
          <p:spPr>
            <a:xfrm>
              <a:off x="2605086" y="1342556"/>
              <a:ext cx="210312" cy="210312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43" name="TextBox 16"/>
            <p:cNvSpPr txBox="1">
              <a:spLocks noChangeArrowheads="1"/>
            </p:cNvSpPr>
            <p:nvPr/>
          </p:nvSpPr>
          <p:spPr bwMode="auto">
            <a:xfrm>
              <a:off x="2646122" y="1309213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800" b="1" dirty="0" smtClean="0">
                  <a:solidFill>
                    <a:srgbClr val="FFFFFF"/>
                  </a:solidFill>
                  <a:latin typeface="Arial"/>
                </a:rPr>
                <a:t>5</a:t>
              </a:r>
              <a:endParaRPr lang="en-US" sz="1800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2224086" y="2381248"/>
            <a:ext cx="210312" cy="276999"/>
            <a:chOff x="2605086" y="1309213"/>
            <a:chExt cx="210312" cy="276999"/>
          </a:xfrm>
        </p:grpSpPr>
        <p:sp>
          <p:nvSpPr>
            <p:cNvPr id="45" name="Oval 44"/>
            <p:cNvSpPr/>
            <p:nvPr/>
          </p:nvSpPr>
          <p:spPr>
            <a:xfrm>
              <a:off x="2605086" y="1342556"/>
              <a:ext cx="210312" cy="210312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46" name="TextBox 16"/>
            <p:cNvSpPr txBox="1">
              <a:spLocks noChangeArrowheads="1"/>
            </p:cNvSpPr>
            <p:nvPr/>
          </p:nvSpPr>
          <p:spPr bwMode="auto">
            <a:xfrm>
              <a:off x="2646122" y="1309213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800" b="1" dirty="0" smtClean="0">
                  <a:solidFill>
                    <a:srgbClr val="FFFFFF"/>
                  </a:solidFill>
                  <a:latin typeface="Arial"/>
                </a:rPr>
                <a:t>2</a:t>
              </a:r>
              <a:endParaRPr lang="en-US" sz="1800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1071562" y="2936077"/>
            <a:ext cx="210312" cy="276999"/>
            <a:chOff x="2605086" y="1309213"/>
            <a:chExt cx="210312" cy="276999"/>
          </a:xfrm>
        </p:grpSpPr>
        <p:sp>
          <p:nvSpPr>
            <p:cNvPr id="48" name="Oval 47"/>
            <p:cNvSpPr/>
            <p:nvPr/>
          </p:nvSpPr>
          <p:spPr>
            <a:xfrm>
              <a:off x="2605086" y="1342556"/>
              <a:ext cx="210312" cy="210312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49" name="TextBox 16"/>
            <p:cNvSpPr txBox="1">
              <a:spLocks noChangeArrowheads="1"/>
            </p:cNvSpPr>
            <p:nvPr/>
          </p:nvSpPr>
          <p:spPr bwMode="auto">
            <a:xfrm>
              <a:off x="2646122" y="1309213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800" b="1" dirty="0" smtClean="0">
                  <a:solidFill>
                    <a:srgbClr val="FFFFFF"/>
                  </a:solidFill>
                  <a:latin typeface="Arial"/>
                </a:rPr>
                <a:t>3</a:t>
              </a:r>
              <a:endParaRPr lang="en-US" sz="1800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352428" y="3471855"/>
            <a:ext cx="210312" cy="276999"/>
            <a:chOff x="2605086" y="1309213"/>
            <a:chExt cx="210312" cy="276999"/>
          </a:xfrm>
        </p:grpSpPr>
        <p:sp>
          <p:nvSpPr>
            <p:cNvPr id="51" name="Oval 50"/>
            <p:cNvSpPr/>
            <p:nvPr/>
          </p:nvSpPr>
          <p:spPr>
            <a:xfrm>
              <a:off x="2605086" y="1342556"/>
              <a:ext cx="210312" cy="210312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52" name="TextBox 16"/>
            <p:cNvSpPr txBox="1">
              <a:spLocks noChangeArrowheads="1"/>
            </p:cNvSpPr>
            <p:nvPr/>
          </p:nvSpPr>
          <p:spPr bwMode="auto">
            <a:xfrm>
              <a:off x="2646122" y="1309213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800" b="1" dirty="0" smtClean="0">
                  <a:solidFill>
                    <a:srgbClr val="FFFFFF"/>
                  </a:solidFill>
                  <a:latin typeface="Arial"/>
                </a:rPr>
                <a:t>1</a:t>
              </a:r>
              <a:endParaRPr lang="en-US" sz="1800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53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677604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77"/>
          <a:stretch>
            <a:fillRect/>
          </a:stretch>
        </p:blipFill>
        <p:spPr>
          <a:xfrm>
            <a:off x="298704" y="856488"/>
            <a:ext cx="8546592" cy="51450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11.14_4</a:t>
            </a:r>
            <a:endParaRPr lang="en-US" dirty="0"/>
          </a:p>
        </p:txBody>
      </p:sp>
      <p:sp>
        <p:nvSpPr>
          <p:cNvPr id="6" name="TextBox 43"/>
          <p:cNvSpPr txBox="1">
            <a:spLocks noChangeArrowheads="1"/>
          </p:cNvSpPr>
          <p:nvPr/>
        </p:nvSpPr>
        <p:spPr bwMode="auto">
          <a:xfrm>
            <a:off x="3120854" y="4772223"/>
            <a:ext cx="1128514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Pigment</a:t>
            </a: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molecules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45"/>
          <p:cNvSpPr txBox="1">
            <a:spLocks noChangeArrowheads="1"/>
          </p:cNvSpPr>
          <p:nvPr/>
        </p:nvSpPr>
        <p:spPr bwMode="auto">
          <a:xfrm>
            <a:off x="1141788" y="5465960"/>
            <a:ext cx="1692772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Photosystem </a:t>
            </a:r>
            <a:r>
              <a:rPr lang="en-US" sz="18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II</a:t>
            </a:r>
          </a:p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(PS </a:t>
            </a:r>
            <a:r>
              <a:rPr lang="en-US" sz="18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II</a:t>
            </a: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)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Box 48"/>
          <p:cNvSpPr txBox="1">
            <a:spLocks noChangeArrowheads="1"/>
          </p:cNvSpPr>
          <p:nvPr/>
        </p:nvSpPr>
        <p:spPr bwMode="auto">
          <a:xfrm>
            <a:off x="5078097" y="5129409"/>
            <a:ext cx="1603004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Photosystem </a:t>
            </a:r>
            <a:r>
              <a:rPr lang="en-US" sz="18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</a:p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(PS </a:t>
            </a:r>
            <a:r>
              <a:rPr lang="en-US" sz="18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)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2918468" y="1323499"/>
            <a:ext cx="1679947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Electron</a:t>
            </a: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transport chain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Box 35"/>
          <p:cNvSpPr txBox="1">
            <a:spLocks noChangeArrowheads="1"/>
          </p:cNvSpPr>
          <p:nvPr/>
        </p:nvSpPr>
        <p:spPr bwMode="auto">
          <a:xfrm>
            <a:off x="323063" y="3792534"/>
            <a:ext cx="56425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latin typeface="Arial"/>
              </a:rPr>
              <a:t>Light</a:t>
            </a:r>
          </a:p>
        </p:txBody>
      </p:sp>
      <p:sp>
        <p:nvSpPr>
          <p:cNvPr id="12" name="TextBox 37"/>
          <p:cNvSpPr txBox="1">
            <a:spLocks noChangeArrowheads="1"/>
          </p:cNvSpPr>
          <p:nvPr/>
        </p:nvSpPr>
        <p:spPr bwMode="auto">
          <a:xfrm>
            <a:off x="2040738" y="3473446"/>
            <a:ext cx="53860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latin typeface="Arial"/>
              </a:rPr>
              <a:t>P680</a:t>
            </a:r>
          </a:p>
        </p:txBody>
      </p:sp>
      <p:sp>
        <p:nvSpPr>
          <p:cNvPr id="13" name="TextBox 39"/>
          <p:cNvSpPr txBox="1">
            <a:spLocks noChangeArrowheads="1"/>
          </p:cNvSpPr>
          <p:nvPr/>
        </p:nvSpPr>
        <p:spPr bwMode="auto">
          <a:xfrm>
            <a:off x="3737776" y="4210046"/>
            <a:ext cx="34573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400" b="1">
                <a:solidFill>
                  <a:srgbClr val="000000"/>
                </a:solidFill>
                <a:latin typeface="Arial"/>
              </a:rPr>
              <a:t>ATP</a:t>
            </a:r>
          </a:p>
        </p:txBody>
      </p:sp>
      <p:sp>
        <p:nvSpPr>
          <p:cNvPr id="14" name="TextBox 40"/>
          <p:cNvSpPr txBox="1">
            <a:spLocks noChangeArrowheads="1"/>
          </p:cNvSpPr>
          <p:nvPr/>
        </p:nvSpPr>
        <p:spPr bwMode="auto">
          <a:xfrm>
            <a:off x="5952338" y="3171821"/>
            <a:ext cx="53860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latin typeface="Arial"/>
              </a:rPr>
              <a:t>P700</a:t>
            </a:r>
          </a:p>
        </p:txBody>
      </p:sp>
      <p:sp>
        <p:nvSpPr>
          <p:cNvPr id="15" name="TextBox 41"/>
          <p:cNvSpPr txBox="1">
            <a:spLocks noChangeArrowheads="1"/>
          </p:cNvSpPr>
          <p:nvPr/>
        </p:nvSpPr>
        <p:spPr bwMode="auto">
          <a:xfrm>
            <a:off x="7189001" y="3444871"/>
            <a:ext cx="56425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latin typeface="Arial"/>
              </a:rPr>
              <a:t>Light</a:t>
            </a:r>
          </a:p>
        </p:txBody>
      </p:sp>
      <p:sp>
        <p:nvSpPr>
          <p:cNvPr id="16" name="TextBox 2"/>
          <p:cNvSpPr txBox="1">
            <a:spLocks noChangeArrowheads="1"/>
          </p:cNvSpPr>
          <p:nvPr/>
        </p:nvSpPr>
        <p:spPr bwMode="auto">
          <a:xfrm>
            <a:off x="1688464" y="1831805"/>
            <a:ext cx="58830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300"/>
              </a:lnSpc>
            </a:pPr>
            <a:r>
              <a:rPr lang="en-US" sz="1100" b="1" dirty="0" smtClean="0">
                <a:solidFill>
                  <a:srgbClr val="FFFFFF"/>
                </a:solidFill>
                <a:latin typeface="Arial"/>
              </a:rPr>
              <a:t>Primary</a:t>
            </a:r>
          </a:p>
          <a:p>
            <a:pPr algn="ctr">
              <a:lnSpc>
                <a:spcPts val="1300"/>
              </a:lnSpc>
            </a:pPr>
            <a:r>
              <a:rPr lang="en-US" sz="1100" b="1" dirty="0" smtClean="0">
                <a:solidFill>
                  <a:srgbClr val="FFFFFF"/>
                </a:solidFill>
                <a:latin typeface="Arial"/>
              </a:rPr>
              <a:t>electron</a:t>
            </a:r>
          </a:p>
          <a:p>
            <a:pPr algn="ctr">
              <a:lnSpc>
                <a:spcPts val="1300"/>
              </a:lnSpc>
            </a:pPr>
            <a:r>
              <a:rPr lang="en-US" sz="1100" b="1" dirty="0" smtClean="0">
                <a:solidFill>
                  <a:srgbClr val="FFFFFF"/>
                </a:solidFill>
                <a:latin typeface="Arial"/>
              </a:rPr>
              <a:t>acceptor</a:t>
            </a:r>
            <a:endParaRPr lang="en-US" sz="11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Box 10"/>
          <p:cNvSpPr txBox="1">
            <a:spLocks noChangeArrowheads="1"/>
          </p:cNvSpPr>
          <p:nvPr/>
        </p:nvSpPr>
        <p:spPr bwMode="auto">
          <a:xfrm>
            <a:off x="5571489" y="1493668"/>
            <a:ext cx="58830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300"/>
              </a:lnSpc>
            </a:pPr>
            <a:r>
              <a:rPr lang="en-US" sz="1100" b="1" smtClean="0">
                <a:solidFill>
                  <a:srgbClr val="FFFFFF"/>
                </a:solidFill>
                <a:latin typeface="Arial"/>
              </a:rPr>
              <a:t>Primary</a:t>
            </a:r>
          </a:p>
          <a:p>
            <a:pPr algn="ctr">
              <a:lnSpc>
                <a:spcPts val="1300"/>
              </a:lnSpc>
            </a:pPr>
            <a:r>
              <a:rPr lang="en-US" sz="1100" b="1" smtClean="0">
                <a:solidFill>
                  <a:srgbClr val="FFFFFF"/>
                </a:solidFill>
                <a:latin typeface="Arial"/>
              </a:rPr>
              <a:t>electron</a:t>
            </a:r>
          </a:p>
          <a:p>
            <a:pPr algn="ctr">
              <a:lnSpc>
                <a:spcPts val="1300"/>
              </a:lnSpc>
            </a:pPr>
            <a:r>
              <a:rPr lang="en-US" sz="1100" b="1" smtClean="0">
                <a:solidFill>
                  <a:srgbClr val="FFFFFF"/>
                </a:solidFill>
                <a:latin typeface="Arial"/>
              </a:rPr>
              <a:t>acceptor</a:t>
            </a:r>
            <a:endParaRPr lang="en-US" sz="11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Box 28"/>
          <p:cNvSpPr txBox="1">
            <a:spLocks noChangeArrowheads="1"/>
          </p:cNvSpPr>
          <p:nvPr/>
        </p:nvSpPr>
        <p:spPr bwMode="auto">
          <a:xfrm>
            <a:off x="3560400" y="2477293"/>
            <a:ext cx="1045158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Cytochrome</a:t>
            </a:r>
          </a:p>
          <a:p>
            <a:pPr algn="ctr"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complex</a:t>
            </a:r>
            <a:endParaRPr lang="en-US" sz="1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Box 7"/>
          <p:cNvSpPr txBox="1">
            <a:spLocks noChangeArrowheads="1"/>
          </p:cNvSpPr>
          <p:nvPr/>
        </p:nvSpPr>
        <p:spPr bwMode="auto">
          <a:xfrm>
            <a:off x="3032592" y="2160267"/>
            <a:ext cx="22923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400" b="1">
                <a:solidFill>
                  <a:srgbClr val="000000"/>
                </a:solidFill>
                <a:latin typeface="Arial"/>
              </a:rPr>
              <a:t>Pq</a:t>
            </a:r>
          </a:p>
        </p:txBody>
      </p:sp>
      <p:sp>
        <p:nvSpPr>
          <p:cNvPr id="26" name="TextBox 30"/>
          <p:cNvSpPr txBox="1">
            <a:spLocks noChangeArrowheads="1"/>
          </p:cNvSpPr>
          <p:nvPr/>
        </p:nvSpPr>
        <p:spPr bwMode="auto">
          <a:xfrm>
            <a:off x="4774080" y="3020692"/>
            <a:ext cx="2196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400" b="1">
                <a:solidFill>
                  <a:srgbClr val="000000"/>
                </a:solidFill>
                <a:latin typeface="Arial"/>
              </a:rPr>
              <a:t>Pc</a:t>
            </a:r>
          </a:p>
        </p:txBody>
      </p:sp>
      <p:sp>
        <p:nvSpPr>
          <p:cNvPr id="33" name="TextBox 19"/>
          <p:cNvSpPr txBox="1">
            <a:spLocks noChangeArrowheads="1"/>
          </p:cNvSpPr>
          <p:nvPr/>
        </p:nvSpPr>
        <p:spPr bwMode="auto">
          <a:xfrm>
            <a:off x="513608" y="2502842"/>
            <a:ext cx="448842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2 H</a:t>
            </a:r>
            <a:r>
              <a:rPr lang="en-US" sz="18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1800" b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24"/>
          <p:cNvSpPr txBox="1">
            <a:spLocks noChangeArrowheads="1"/>
          </p:cNvSpPr>
          <p:nvPr/>
        </p:nvSpPr>
        <p:spPr bwMode="auto">
          <a:xfrm>
            <a:off x="685430" y="2747166"/>
            <a:ext cx="13144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35" name="TextBox 25"/>
          <p:cNvSpPr txBox="1">
            <a:spLocks noChangeArrowheads="1"/>
          </p:cNvSpPr>
          <p:nvPr/>
        </p:nvSpPr>
        <p:spPr bwMode="auto">
          <a:xfrm>
            <a:off x="1215657" y="2609848"/>
            <a:ext cx="264496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Arial"/>
              </a:rPr>
              <a:t>H</a:t>
            </a:r>
            <a:r>
              <a:rPr lang="en-US" sz="1100" b="1" baseline="-25000" dirty="0">
                <a:solidFill>
                  <a:srgbClr val="FFFFFF"/>
                </a:solidFill>
                <a:latin typeface="Arial"/>
              </a:rPr>
              <a:t>2</a:t>
            </a:r>
            <a:r>
              <a:rPr lang="en-US" sz="1100" b="1" dirty="0">
                <a:solidFill>
                  <a:srgbClr val="FFFFFF"/>
                </a:solidFill>
                <a:latin typeface="Arial"/>
              </a:rPr>
              <a:t>O</a:t>
            </a:r>
          </a:p>
        </p:txBody>
      </p:sp>
      <p:sp>
        <p:nvSpPr>
          <p:cNvPr id="36" name="TextBox 31"/>
          <p:cNvSpPr txBox="1">
            <a:spLocks noChangeArrowheads="1"/>
          </p:cNvSpPr>
          <p:nvPr/>
        </p:nvSpPr>
        <p:spPr bwMode="auto">
          <a:xfrm>
            <a:off x="712420" y="3043235"/>
            <a:ext cx="16190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Arial"/>
              </a:rPr>
              <a:t>O</a:t>
            </a:r>
            <a:r>
              <a:rPr lang="en-US" sz="1100" b="1" baseline="-25000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398095" y="2974977"/>
            <a:ext cx="232055" cy="256962"/>
            <a:chOff x="398095" y="2974977"/>
            <a:chExt cx="232055" cy="256962"/>
          </a:xfrm>
        </p:grpSpPr>
        <p:sp>
          <p:nvSpPr>
            <p:cNvPr id="38" name="TextBox 23"/>
            <p:cNvSpPr txBox="1">
              <a:spLocks noChangeArrowheads="1"/>
            </p:cNvSpPr>
            <p:nvPr/>
          </p:nvSpPr>
          <p:spPr bwMode="auto">
            <a:xfrm>
              <a:off x="398095" y="2974977"/>
              <a:ext cx="9938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400" b="1" dirty="0" smtClean="0">
                  <a:solidFill>
                    <a:srgbClr val="000000"/>
                  </a:solidFill>
                  <a:latin typeface="Arial"/>
                </a:rPr>
                <a:t>1</a:t>
              </a:r>
              <a:endParaRPr lang="en-US" sz="1400" b="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" name="TextBox 23"/>
            <p:cNvSpPr txBox="1">
              <a:spLocks noChangeArrowheads="1"/>
            </p:cNvSpPr>
            <p:nvPr/>
          </p:nvSpPr>
          <p:spPr bwMode="auto">
            <a:xfrm>
              <a:off x="481070" y="3016495"/>
              <a:ext cx="14908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400" b="1" dirty="0" smtClean="0">
                  <a:solidFill>
                    <a:srgbClr val="000000"/>
                  </a:solidFill>
                  <a:latin typeface="Arial"/>
                </a:rPr>
                <a:t>/</a:t>
              </a:r>
              <a:r>
                <a:rPr lang="en-US" sz="1400" b="1" dirty="0">
                  <a:solidFill>
                    <a:srgbClr val="000000"/>
                  </a:solidFill>
                  <a:latin typeface="Arial"/>
                </a:rPr>
                <a:t>2</a:t>
              </a:r>
            </a:p>
          </p:txBody>
        </p:sp>
      </p:grpSp>
      <p:sp>
        <p:nvSpPr>
          <p:cNvPr id="40" name="TextBox 13"/>
          <p:cNvSpPr txBox="1">
            <a:spLocks noChangeArrowheads="1"/>
          </p:cNvSpPr>
          <p:nvPr/>
        </p:nvSpPr>
        <p:spPr bwMode="auto">
          <a:xfrm>
            <a:off x="5790939" y="2181222"/>
            <a:ext cx="12503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i="1" dirty="0">
                <a:solidFill>
                  <a:srgbClr val="000000"/>
                </a:solidFill>
                <a:latin typeface="Arial"/>
              </a:rPr>
              <a:t>e</a:t>
            </a:r>
            <a:r>
              <a:rPr lang="en-US" sz="1100" b="1" i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US" sz="900" b="1" i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Box 26"/>
          <p:cNvSpPr txBox="1">
            <a:spLocks noChangeArrowheads="1"/>
          </p:cNvSpPr>
          <p:nvPr/>
        </p:nvSpPr>
        <p:spPr bwMode="auto">
          <a:xfrm>
            <a:off x="1895214" y="2547935"/>
            <a:ext cx="12503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i="1" dirty="0">
                <a:solidFill>
                  <a:srgbClr val="000000"/>
                </a:solidFill>
                <a:latin typeface="Arial"/>
              </a:rPr>
              <a:t>e</a:t>
            </a:r>
            <a:r>
              <a:rPr lang="en-US" sz="1100" b="1" i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US" sz="900" b="1" i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Box 33"/>
          <p:cNvSpPr txBox="1">
            <a:spLocks noChangeArrowheads="1"/>
          </p:cNvSpPr>
          <p:nvPr/>
        </p:nvSpPr>
        <p:spPr bwMode="auto">
          <a:xfrm>
            <a:off x="1352289" y="3219447"/>
            <a:ext cx="12503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i="1" dirty="0" smtClean="0">
                <a:solidFill>
                  <a:srgbClr val="000000"/>
                </a:solidFill>
                <a:latin typeface="Arial"/>
              </a:rPr>
              <a:t>e</a:t>
            </a:r>
            <a:r>
              <a:rPr lang="en-US" sz="1100" b="1" i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US" sz="900" b="1" i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TextBox 36"/>
          <p:cNvSpPr txBox="1">
            <a:spLocks noChangeArrowheads="1"/>
          </p:cNvSpPr>
          <p:nvPr/>
        </p:nvSpPr>
        <p:spPr bwMode="auto">
          <a:xfrm>
            <a:off x="1418964" y="3416297"/>
            <a:ext cx="12503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i="1" dirty="0">
                <a:solidFill>
                  <a:srgbClr val="000000"/>
                </a:solidFill>
                <a:latin typeface="Arial"/>
              </a:rPr>
              <a:t>e</a:t>
            </a:r>
            <a:r>
              <a:rPr lang="en-US" sz="1100" b="1" i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US" sz="900" b="1" i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Freeform 40"/>
          <p:cNvSpPr/>
          <p:nvPr/>
        </p:nvSpPr>
        <p:spPr>
          <a:xfrm>
            <a:off x="1950435" y="3705454"/>
            <a:ext cx="209257" cy="220141"/>
          </a:xfrm>
          <a:custGeom>
            <a:avLst/>
            <a:gdLst>
              <a:gd name="connsiteX0" fmla="*/ 9525 w 209257"/>
              <a:gd name="connsiteY0" fmla="*/ 210616 h 220141"/>
              <a:gd name="connsiteX1" fmla="*/ 199732 w 209257"/>
              <a:gd name="connsiteY1" fmla="*/ 9525 h 220141"/>
              <a:gd name="connsiteX2" fmla="*/ 168973 w 209257"/>
              <a:gd name="connsiteY2" fmla="*/ 193852 h 22014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209257" h="220141">
                <a:moveTo>
                  <a:pt x="9525" y="210616"/>
                </a:moveTo>
                <a:lnTo>
                  <a:pt x="199732" y="9525"/>
                </a:lnTo>
                <a:lnTo>
                  <a:pt x="168973" y="193852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45" name="Freeform 3"/>
          <p:cNvSpPr/>
          <p:nvPr/>
        </p:nvSpPr>
        <p:spPr>
          <a:xfrm>
            <a:off x="5832295" y="3406163"/>
            <a:ext cx="221437" cy="162915"/>
          </a:xfrm>
          <a:custGeom>
            <a:avLst/>
            <a:gdLst>
              <a:gd name="connsiteX0" fmla="*/ 9525 w 221437"/>
              <a:gd name="connsiteY0" fmla="*/ 153390 h 162915"/>
              <a:gd name="connsiteX1" fmla="*/ 211912 w 221437"/>
              <a:gd name="connsiteY1" fmla="*/ 9525 h 162915"/>
              <a:gd name="connsiteX2" fmla="*/ 168960 w 221437"/>
              <a:gd name="connsiteY2" fmla="*/ 136601 h 16291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221437" h="162915">
                <a:moveTo>
                  <a:pt x="9525" y="153390"/>
                </a:moveTo>
                <a:lnTo>
                  <a:pt x="211912" y="9525"/>
                </a:lnTo>
                <a:lnTo>
                  <a:pt x="168960" y="136601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46" name="Freeform 3"/>
          <p:cNvSpPr/>
          <p:nvPr/>
        </p:nvSpPr>
        <p:spPr>
          <a:xfrm>
            <a:off x="2501458" y="4908979"/>
            <a:ext cx="589673" cy="349427"/>
          </a:xfrm>
          <a:custGeom>
            <a:avLst/>
            <a:gdLst>
              <a:gd name="connsiteX0" fmla="*/ 127012 w 589673"/>
              <a:gd name="connsiteY0" fmla="*/ 32194 h 349427"/>
              <a:gd name="connsiteX1" fmla="*/ 580148 w 589673"/>
              <a:gd name="connsiteY1" fmla="*/ 9525 h 349427"/>
              <a:gd name="connsiteX2" fmla="*/ 9525 w 589673"/>
              <a:gd name="connsiteY2" fmla="*/ 339902 h 34942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589673" h="349427">
                <a:moveTo>
                  <a:pt x="127012" y="32194"/>
                </a:moveTo>
                <a:lnTo>
                  <a:pt x="580148" y="9525"/>
                </a:lnTo>
                <a:lnTo>
                  <a:pt x="9525" y="339902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grpSp>
        <p:nvGrpSpPr>
          <p:cNvPr id="47" name="Group 46"/>
          <p:cNvGrpSpPr/>
          <p:nvPr/>
        </p:nvGrpSpPr>
        <p:grpSpPr>
          <a:xfrm>
            <a:off x="2605086" y="1309213"/>
            <a:ext cx="210312" cy="276999"/>
            <a:chOff x="2605086" y="1309213"/>
            <a:chExt cx="210312" cy="276999"/>
          </a:xfrm>
        </p:grpSpPr>
        <p:sp>
          <p:nvSpPr>
            <p:cNvPr id="48" name="Oval 47"/>
            <p:cNvSpPr/>
            <p:nvPr/>
          </p:nvSpPr>
          <p:spPr>
            <a:xfrm>
              <a:off x="2605086" y="1342556"/>
              <a:ext cx="210312" cy="210312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49" name="TextBox 16"/>
            <p:cNvSpPr txBox="1">
              <a:spLocks noChangeArrowheads="1"/>
            </p:cNvSpPr>
            <p:nvPr/>
          </p:nvSpPr>
          <p:spPr bwMode="auto">
            <a:xfrm>
              <a:off x="2646122" y="1309213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800" b="1" dirty="0" smtClean="0">
                  <a:solidFill>
                    <a:srgbClr val="FFFFFF"/>
                  </a:solidFill>
                  <a:latin typeface="Arial"/>
                </a:rPr>
                <a:t>4</a:t>
              </a:r>
              <a:endParaRPr lang="en-US" sz="1800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3825875" y="3366700"/>
            <a:ext cx="210312" cy="276999"/>
            <a:chOff x="2605086" y="1309213"/>
            <a:chExt cx="210312" cy="276999"/>
          </a:xfrm>
        </p:grpSpPr>
        <p:sp>
          <p:nvSpPr>
            <p:cNvPr id="51" name="Oval 50"/>
            <p:cNvSpPr/>
            <p:nvPr/>
          </p:nvSpPr>
          <p:spPr>
            <a:xfrm>
              <a:off x="2605086" y="1342556"/>
              <a:ext cx="210312" cy="210312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52" name="TextBox 16"/>
            <p:cNvSpPr txBox="1">
              <a:spLocks noChangeArrowheads="1"/>
            </p:cNvSpPr>
            <p:nvPr/>
          </p:nvSpPr>
          <p:spPr bwMode="auto">
            <a:xfrm>
              <a:off x="2646122" y="1309213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800" b="1" dirty="0" smtClean="0">
                  <a:solidFill>
                    <a:srgbClr val="FFFFFF"/>
                  </a:solidFill>
                  <a:latin typeface="Arial"/>
                </a:rPr>
                <a:t>5</a:t>
              </a:r>
              <a:endParaRPr lang="en-US" sz="1800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2224086" y="2381248"/>
            <a:ext cx="210312" cy="276999"/>
            <a:chOff x="2605086" y="1309213"/>
            <a:chExt cx="210312" cy="276999"/>
          </a:xfrm>
        </p:grpSpPr>
        <p:sp>
          <p:nvSpPr>
            <p:cNvPr id="54" name="Oval 53"/>
            <p:cNvSpPr/>
            <p:nvPr/>
          </p:nvSpPr>
          <p:spPr>
            <a:xfrm>
              <a:off x="2605086" y="1342556"/>
              <a:ext cx="210312" cy="210312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55" name="TextBox 16"/>
            <p:cNvSpPr txBox="1">
              <a:spLocks noChangeArrowheads="1"/>
            </p:cNvSpPr>
            <p:nvPr/>
          </p:nvSpPr>
          <p:spPr bwMode="auto">
            <a:xfrm>
              <a:off x="2646122" y="1309213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800" b="1" dirty="0" smtClean="0">
                  <a:solidFill>
                    <a:srgbClr val="FFFFFF"/>
                  </a:solidFill>
                  <a:latin typeface="Arial"/>
                </a:rPr>
                <a:t>2</a:t>
              </a:r>
              <a:endParaRPr lang="en-US" sz="1800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1071562" y="2936077"/>
            <a:ext cx="210312" cy="276999"/>
            <a:chOff x="2605086" y="1309213"/>
            <a:chExt cx="210312" cy="276999"/>
          </a:xfrm>
        </p:grpSpPr>
        <p:sp>
          <p:nvSpPr>
            <p:cNvPr id="57" name="Oval 56"/>
            <p:cNvSpPr/>
            <p:nvPr/>
          </p:nvSpPr>
          <p:spPr>
            <a:xfrm>
              <a:off x="2605086" y="1342556"/>
              <a:ext cx="210312" cy="210312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58" name="TextBox 16"/>
            <p:cNvSpPr txBox="1">
              <a:spLocks noChangeArrowheads="1"/>
            </p:cNvSpPr>
            <p:nvPr/>
          </p:nvSpPr>
          <p:spPr bwMode="auto">
            <a:xfrm>
              <a:off x="2646122" y="1309213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800" b="1" dirty="0" smtClean="0">
                  <a:solidFill>
                    <a:srgbClr val="FFFFFF"/>
                  </a:solidFill>
                  <a:latin typeface="Arial"/>
                </a:rPr>
                <a:t>3</a:t>
              </a:r>
              <a:endParaRPr lang="en-US" sz="1800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352428" y="3471855"/>
            <a:ext cx="210312" cy="276999"/>
            <a:chOff x="2605086" y="1309213"/>
            <a:chExt cx="210312" cy="276999"/>
          </a:xfrm>
        </p:grpSpPr>
        <p:sp>
          <p:nvSpPr>
            <p:cNvPr id="60" name="Oval 59"/>
            <p:cNvSpPr/>
            <p:nvPr/>
          </p:nvSpPr>
          <p:spPr>
            <a:xfrm>
              <a:off x="2605086" y="1342556"/>
              <a:ext cx="210312" cy="210312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61" name="TextBox 16"/>
            <p:cNvSpPr txBox="1">
              <a:spLocks noChangeArrowheads="1"/>
            </p:cNvSpPr>
            <p:nvPr/>
          </p:nvSpPr>
          <p:spPr bwMode="auto">
            <a:xfrm>
              <a:off x="2646122" y="1309213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800" b="1" dirty="0" smtClean="0">
                  <a:solidFill>
                    <a:srgbClr val="FFFFFF"/>
                  </a:solidFill>
                  <a:latin typeface="Arial"/>
                </a:rPr>
                <a:t>1</a:t>
              </a:r>
              <a:endParaRPr lang="en-US" sz="1800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6946900" y="3877433"/>
            <a:ext cx="210312" cy="276999"/>
            <a:chOff x="2605086" y="1309213"/>
            <a:chExt cx="210312" cy="276999"/>
          </a:xfrm>
        </p:grpSpPr>
        <p:sp>
          <p:nvSpPr>
            <p:cNvPr id="63" name="Oval 62"/>
            <p:cNvSpPr/>
            <p:nvPr/>
          </p:nvSpPr>
          <p:spPr>
            <a:xfrm>
              <a:off x="2605086" y="1342556"/>
              <a:ext cx="210312" cy="210312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64" name="TextBox 16"/>
            <p:cNvSpPr txBox="1">
              <a:spLocks noChangeArrowheads="1"/>
            </p:cNvSpPr>
            <p:nvPr/>
          </p:nvSpPr>
          <p:spPr bwMode="auto">
            <a:xfrm>
              <a:off x="2646122" y="1309213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800" b="1" dirty="0" smtClean="0">
                  <a:solidFill>
                    <a:srgbClr val="FFFFFF"/>
                  </a:solidFill>
                  <a:latin typeface="Arial"/>
                </a:rPr>
                <a:t>6</a:t>
              </a:r>
              <a:endParaRPr lang="en-US" sz="1800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65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43922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77"/>
          <a:stretch>
            <a:fillRect/>
          </a:stretch>
        </p:blipFill>
        <p:spPr>
          <a:xfrm>
            <a:off x="298704" y="856488"/>
            <a:ext cx="8546592" cy="51450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11.14_5</a:t>
            </a:r>
            <a:endParaRPr lang="en-US" dirty="0"/>
          </a:p>
        </p:txBody>
      </p:sp>
      <p:sp>
        <p:nvSpPr>
          <p:cNvPr id="6" name="TextBox 43"/>
          <p:cNvSpPr txBox="1">
            <a:spLocks noChangeArrowheads="1"/>
          </p:cNvSpPr>
          <p:nvPr/>
        </p:nvSpPr>
        <p:spPr bwMode="auto">
          <a:xfrm>
            <a:off x="3120854" y="4772223"/>
            <a:ext cx="1128514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Pigment</a:t>
            </a: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molecules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45"/>
          <p:cNvSpPr txBox="1">
            <a:spLocks noChangeArrowheads="1"/>
          </p:cNvSpPr>
          <p:nvPr/>
        </p:nvSpPr>
        <p:spPr bwMode="auto">
          <a:xfrm>
            <a:off x="1141788" y="5465960"/>
            <a:ext cx="1692772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Photosystem </a:t>
            </a:r>
            <a:r>
              <a:rPr lang="en-US" sz="18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II</a:t>
            </a:r>
          </a:p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(PS </a:t>
            </a:r>
            <a:r>
              <a:rPr lang="en-US" sz="18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II</a:t>
            </a: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)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Box 48"/>
          <p:cNvSpPr txBox="1">
            <a:spLocks noChangeArrowheads="1"/>
          </p:cNvSpPr>
          <p:nvPr/>
        </p:nvSpPr>
        <p:spPr bwMode="auto">
          <a:xfrm>
            <a:off x="5078097" y="5129409"/>
            <a:ext cx="1603004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Photosystem </a:t>
            </a:r>
            <a:r>
              <a:rPr lang="en-US" sz="18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</a:p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(PS </a:t>
            </a:r>
            <a:r>
              <a:rPr lang="en-US" sz="18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)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2918468" y="1323499"/>
            <a:ext cx="1679947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Electron</a:t>
            </a: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transport chain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Box 8"/>
          <p:cNvSpPr txBox="1">
            <a:spLocks noChangeArrowheads="1"/>
          </p:cNvSpPr>
          <p:nvPr/>
        </p:nvSpPr>
        <p:spPr bwMode="auto">
          <a:xfrm>
            <a:off x="6953099" y="890111"/>
            <a:ext cx="1679947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Electron</a:t>
            </a: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transport chain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Box 35"/>
          <p:cNvSpPr txBox="1">
            <a:spLocks noChangeArrowheads="1"/>
          </p:cNvSpPr>
          <p:nvPr/>
        </p:nvSpPr>
        <p:spPr bwMode="auto">
          <a:xfrm>
            <a:off x="323063" y="3792534"/>
            <a:ext cx="56425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latin typeface="Arial"/>
              </a:rPr>
              <a:t>Light</a:t>
            </a:r>
          </a:p>
        </p:txBody>
      </p:sp>
      <p:sp>
        <p:nvSpPr>
          <p:cNvPr id="12" name="TextBox 37"/>
          <p:cNvSpPr txBox="1">
            <a:spLocks noChangeArrowheads="1"/>
          </p:cNvSpPr>
          <p:nvPr/>
        </p:nvSpPr>
        <p:spPr bwMode="auto">
          <a:xfrm>
            <a:off x="2040738" y="3473446"/>
            <a:ext cx="53860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latin typeface="Arial"/>
              </a:rPr>
              <a:t>P680</a:t>
            </a:r>
          </a:p>
        </p:txBody>
      </p:sp>
      <p:sp>
        <p:nvSpPr>
          <p:cNvPr id="13" name="TextBox 39"/>
          <p:cNvSpPr txBox="1">
            <a:spLocks noChangeArrowheads="1"/>
          </p:cNvSpPr>
          <p:nvPr/>
        </p:nvSpPr>
        <p:spPr bwMode="auto">
          <a:xfrm>
            <a:off x="3737776" y="4210046"/>
            <a:ext cx="34573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400" b="1">
                <a:solidFill>
                  <a:srgbClr val="000000"/>
                </a:solidFill>
                <a:latin typeface="Arial"/>
              </a:rPr>
              <a:t>ATP</a:t>
            </a:r>
          </a:p>
        </p:txBody>
      </p:sp>
      <p:sp>
        <p:nvSpPr>
          <p:cNvPr id="14" name="TextBox 40"/>
          <p:cNvSpPr txBox="1">
            <a:spLocks noChangeArrowheads="1"/>
          </p:cNvSpPr>
          <p:nvPr/>
        </p:nvSpPr>
        <p:spPr bwMode="auto">
          <a:xfrm>
            <a:off x="5952338" y="3171821"/>
            <a:ext cx="53860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latin typeface="Arial"/>
              </a:rPr>
              <a:t>P700</a:t>
            </a:r>
          </a:p>
        </p:txBody>
      </p:sp>
      <p:sp>
        <p:nvSpPr>
          <p:cNvPr id="15" name="TextBox 41"/>
          <p:cNvSpPr txBox="1">
            <a:spLocks noChangeArrowheads="1"/>
          </p:cNvSpPr>
          <p:nvPr/>
        </p:nvSpPr>
        <p:spPr bwMode="auto">
          <a:xfrm>
            <a:off x="7189001" y="3444871"/>
            <a:ext cx="56425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latin typeface="Arial"/>
              </a:rPr>
              <a:t>Light</a:t>
            </a:r>
          </a:p>
        </p:txBody>
      </p:sp>
      <p:sp>
        <p:nvSpPr>
          <p:cNvPr id="16" name="TextBox 2"/>
          <p:cNvSpPr txBox="1">
            <a:spLocks noChangeArrowheads="1"/>
          </p:cNvSpPr>
          <p:nvPr/>
        </p:nvSpPr>
        <p:spPr bwMode="auto">
          <a:xfrm>
            <a:off x="1688464" y="1831805"/>
            <a:ext cx="58830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300"/>
              </a:lnSpc>
            </a:pPr>
            <a:r>
              <a:rPr lang="en-US" sz="1100" b="1" dirty="0" smtClean="0">
                <a:solidFill>
                  <a:srgbClr val="FFFFFF"/>
                </a:solidFill>
                <a:latin typeface="Arial"/>
              </a:rPr>
              <a:t>Primary</a:t>
            </a:r>
          </a:p>
          <a:p>
            <a:pPr algn="ctr">
              <a:lnSpc>
                <a:spcPts val="1300"/>
              </a:lnSpc>
            </a:pPr>
            <a:r>
              <a:rPr lang="en-US" sz="1100" b="1" dirty="0" smtClean="0">
                <a:solidFill>
                  <a:srgbClr val="FFFFFF"/>
                </a:solidFill>
                <a:latin typeface="Arial"/>
              </a:rPr>
              <a:t>electron</a:t>
            </a:r>
          </a:p>
          <a:p>
            <a:pPr algn="ctr">
              <a:lnSpc>
                <a:spcPts val="1300"/>
              </a:lnSpc>
            </a:pPr>
            <a:r>
              <a:rPr lang="en-US" sz="1100" b="1" dirty="0" smtClean="0">
                <a:solidFill>
                  <a:srgbClr val="FFFFFF"/>
                </a:solidFill>
                <a:latin typeface="Arial"/>
              </a:rPr>
              <a:t>acceptor</a:t>
            </a:r>
            <a:endParaRPr lang="en-US" sz="11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Box 10"/>
          <p:cNvSpPr txBox="1">
            <a:spLocks noChangeArrowheads="1"/>
          </p:cNvSpPr>
          <p:nvPr/>
        </p:nvSpPr>
        <p:spPr bwMode="auto">
          <a:xfrm>
            <a:off x="5571489" y="1493668"/>
            <a:ext cx="58830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300"/>
              </a:lnSpc>
            </a:pPr>
            <a:r>
              <a:rPr lang="en-US" sz="1100" b="1" smtClean="0">
                <a:solidFill>
                  <a:srgbClr val="FFFFFF"/>
                </a:solidFill>
                <a:latin typeface="Arial"/>
              </a:rPr>
              <a:t>Primary</a:t>
            </a:r>
          </a:p>
          <a:p>
            <a:pPr algn="ctr">
              <a:lnSpc>
                <a:spcPts val="1300"/>
              </a:lnSpc>
            </a:pPr>
            <a:r>
              <a:rPr lang="en-US" sz="1100" b="1" smtClean="0">
                <a:solidFill>
                  <a:srgbClr val="FFFFFF"/>
                </a:solidFill>
                <a:latin typeface="Arial"/>
              </a:rPr>
              <a:t>electron</a:t>
            </a:r>
          </a:p>
          <a:p>
            <a:pPr algn="ctr">
              <a:lnSpc>
                <a:spcPts val="1300"/>
              </a:lnSpc>
            </a:pPr>
            <a:r>
              <a:rPr lang="en-US" sz="1100" b="1" smtClean="0">
                <a:solidFill>
                  <a:srgbClr val="FFFFFF"/>
                </a:solidFill>
                <a:latin typeface="Arial"/>
              </a:rPr>
              <a:t>acceptor</a:t>
            </a:r>
            <a:endParaRPr lang="en-US" sz="11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Box 28"/>
          <p:cNvSpPr txBox="1">
            <a:spLocks noChangeArrowheads="1"/>
          </p:cNvSpPr>
          <p:nvPr/>
        </p:nvSpPr>
        <p:spPr bwMode="auto">
          <a:xfrm>
            <a:off x="3560400" y="2477293"/>
            <a:ext cx="1045158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Cytochrome</a:t>
            </a:r>
          </a:p>
          <a:p>
            <a:pPr algn="ctr"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complex</a:t>
            </a:r>
            <a:endParaRPr lang="en-US" sz="1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Box 7"/>
          <p:cNvSpPr txBox="1">
            <a:spLocks noChangeArrowheads="1"/>
          </p:cNvSpPr>
          <p:nvPr/>
        </p:nvSpPr>
        <p:spPr bwMode="auto">
          <a:xfrm>
            <a:off x="3032592" y="2160267"/>
            <a:ext cx="22923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400" b="1">
                <a:solidFill>
                  <a:srgbClr val="000000"/>
                </a:solidFill>
                <a:latin typeface="Arial"/>
              </a:rPr>
              <a:t>Pq</a:t>
            </a:r>
          </a:p>
        </p:txBody>
      </p:sp>
      <p:sp>
        <p:nvSpPr>
          <p:cNvPr id="25" name="TextBox 14"/>
          <p:cNvSpPr txBox="1">
            <a:spLocks noChangeArrowheads="1"/>
          </p:cNvSpPr>
          <p:nvPr/>
        </p:nvSpPr>
        <p:spPr bwMode="auto">
          <a:xfrm>
            <a:off x="6631455" y="1657029"/>
            <a:ext cx="21800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400" b="1">
                <a:solidFill>
                  <a:srgbClr val="000000"/>
                </a:solidFill>
                <a:latin typeface="Arial"/>
              </a:rPr>
              <a:t>Fd</a:t>
            </a:r>
          </a:p>
        </p:txBody>
      </p:sp>
      <p:sp>
        <p:nvSpPr>
          <p:cNvPr id="26" name="TextBox 30"/>
          <p:cNvSpPr txBox="1">
            <a:spLocks noChangeArrowheads="1"/>
          </p:cNvSpPr>
          <p:nvPr/>
        </p:nvSpPr>
        <p:spPr bwMode="auto">
          <a:xfrm>
            <a:off x="4774080" y="3020692"/>
            <a:ext cx="2196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400" b="1">
                <a:solidFill>
                  <a:srgbClr val="000000"/>
                </a:solidFill>
                <a:latin typeface="Arial"/>
              </a:rPr>
              <a:t>Pc</a:t>
            </a:r>
          </a:p>
        </p:txBody>
      </p:sp>
      <p:sp>
        <p:nvSpPr>
          <p:cNvPr id="28" name="TextBox 17"/>
          <p:cNvSpPr txBox="1">
            <a:spLocks noChangeArrowheads="1"/>
          </p:cNvSpPr>
          <p:nvPr/>
        </p:nvSpPr>
        <p:spPr bwMode="auto">
          <a:xfrm>
            <a:off x="7211709" y="2024858"/>
            <a:ext cx="894477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NADP</a:t>
            </a:r>
            <a:r>
              <a:rPr lang="en-US" sz="14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  <a:p>
            <a:pPr algn="ctr"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1" dirty="0" err="1" smtClean="0">
                <a:solidFill>
                  <a:srgbClr val="000000"/>
                </a:solidFill>
                <a:latin typeface="Arial"/>
              </a:rPr>
              <a:t>reductase</a:t>
            </a:r>
            <a:endParaRPr lang="en-US" sz="1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Box 21"/>
          <p:cNvSpPr txBox="1">
            <a:spLocks noChangeArrowheads="1"/>
          </p:cNvSpPr>
          <p:nvPr/>
        </p:nvSpPr>
        <p:spPr bwMode="auto">
          <a:xfrm>
            <a:off x="8293159" y="2337256"/>
            <a:ext cx="504946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000000"/>
                </a:solidFill>
                <a:latin typeface="Arial"/>
              </a:rPr>
              <a:t>NADPH</a:t>
            </a:r>
          </a:p>
        </p:txBody>
      </p:sp>
      <p:sp>
        <p:nvSpPr>
          <p:cNvPr id="30" name="TextBox 19"/>
          <p:cNvSpPr txBox="1">
            <a:spLocks noChangeArrowheads="1"/>
          </p:cNvSpPr>
          <p:nvPr/>
        </p:nvSpPr>
        <p:spPr bwMode="auto">
          <a:xfrm>
            <a:off x="8049018" y="1714173"/>
            <a:ext cx="743793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NADP</a:t>
            </a:r>
            <a:r>
              <a:rPr lang="en-US" sz="18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 H</a:t>
            </a:r>
            <a:r>
              <a:rPr lang="en-US" sz="18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1800" b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19"/>
          <p:cNvSpPr txBox="1">
            <a:spLocks noChangeArrowheads="1"/>
          </p:cNvSpPr>
          <p:nvPr/>
        </p:nvSpPr>
        <p:spPr bwMode="auto">
          <a:xfrm>
            <a:off x="513608" y="2502842"/>
            <a:ext cx="448842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2 H</a:t>
            </a:r>
            <a:r>
              <a:rPr lang="en-US" sz="18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1800" b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24"/>
          <p:cNvSpPr txBox="1">
            <a:spLocks noChangeArrowheads="1"/>
          </p:cNvSpPr>
          <p:nvPr/>
        </p:nvSpPr>
        <p:spPr bwMode="auto">
          <a:xfrm>
            <a:off x="685430" y="2747166"/>
            <a:ext cx="13144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36" name="TextBox 25"/>
          <p:cNvSpPr txBox="1">
            <a:spLocks noChangeArrowheads="1"/>
          </p:cNvSpPr>
          <p:nvPr/>
        </p:nvSpPr>
        <p:spPr bwMode="auto">
          <a:xfrm>
            <a:off x="1215657" y="2609848"/>
            <a:ext cx="264496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Arial"/>
              </a:rPr>
              <a:t>H</a:t>
            </a:r>
            <a:r>
              <a:rPr lang="en-US" sz="1100" b="1" baseline="-25000" dirty="0">
                <a:solidFill>
                  <a:srgbClr val="FFFFFF"/>
                </a:solidFill>
                <a:latin typeface="Arial"/>
              </a:rPr>
              <a:t>2</a:t>
            </a:r>
            <a:r>
              <a:rPr lang="en-US" sz="1100" b="1" dirty="0">
                <a:solidFill>
                  <a:srgbClr val="FFFFFF"/>
                </a:solidFill>
                <a:latin typeface="Arial"/>
              </a:rPr>
              <a:t>O</a:t>
            </a:r>
          </a:p>
        </p:txBody>
      </p:sp>
      <p:sp>
        <p:nvSpPr>
          <p:cNvPr id="37" name="TextBox 31"/>
          <p:cNvSpPr txBox="1">
            <a:spLocks noChangeArrowheads="1"/>
          </p:cNvSpPr>
          <p:nvPr/>
        </p:nvSpPr>
        <p:spPr bwMode="auto">
          <a:xfrm>
            <a:off x="712420" y="3043235"/>
            <a:ext cx="16190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Arial"/>
              </a:rPr>
              <a:t>O</a:t>
            </a:r>
            <a:r>
              <a:rPr lang="en-US" sz="1100" b="1" baseline="-25000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98095" y="2974977"/>
            <a:ext cx="232055" cy="256962"/>
            <a:chOff x="398095" y="2974977"/>
            <a:chExt cx="232055" cy="256962"/>
          </a:xfrm>
        </p:grpSpPr>
        <p:sp>
          <p:nvSpPr>
            <p:cNvPr id="34" name="TextBox 23"/>
            <p:cNvSpPr txBox="1">
              <a:spLocks noChangeArrowheads="1"/>
            </p:cNvSpPr>
            <p:nvPr/>
          </p:nvSpPr>
          <p:spPr bwMode="auto">
            <a:xfrm>
              <a:off x="398095" y="2974977"/>
              <a:ext cx="9938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400" b="1" dirty="0" smtClean="0">
                  <a:solidFill>
                    <a:srgbClr val="000000"/>
                  </a:solidFill>
                  <a:latin typeface="Arial"/>
                </a:rPr>
                <a:t>1</a:t>
              </a:r>
              <a:endParaRPr lang="en-US" sz="1400" b="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" name="TextBox 23"/>
            <p:cNvSpPr txBox="1">
              <a:spLocks noChangeArrowheads="1"/>
            </p:cNvSpPr>
            <p:nvPr/>
          </p:nvSpPr>
          <p:spPr bwMode="auto">
            <a:xfrm>
              <a:off x="481070" y="3016495"/>
              <a:ext cx="14908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400" b="1" dirty="0" smtClean="0">
                  <a:solidFill>
                    <a:srgbClr val="000000"/>
                  </a:solidFill>
                  <a:latin typeface="Arial"/>
                </a:rPr>
                <a:t>/</a:t>
              </a:r>
              <a:r>
                <a:rPr lang="en-US" sz="1400" b="1" dirty="0">
                  <a:solidFill>
                    <a:srgbClr val="000000"/>
                  </a:solidFill>
                  <a:latin typeface="Arial"/>
                </a:rPr>
                <a:t>2</a:t>
              </a:r>
            </a:p>
          </p:txBody>
        </p:sp>
      </p:grpSp>
      <p:sp>
        <p:nvSpPr>
          <p:cNvPr id="39" name="TextBox 13"/>
          <p:cNvSpPr txBox="1">
            <a:spLocks noChangeArrowheads="1"/>
          </p:cNvSpPr>
          <p:nvPr/>
        </p:nvSpPr>
        <p:spPr bwMode="auto">
          <a:xfrm>
            <a:off x="5790939" y="2181222"/>
            <a:ext cx="12503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i="1" dirty="0">
                <a:solidFill>
                  <a:srgbClr val="000000"/>
                </a:solidFill>
                <a:latin typeface="Arial"/>
              </a:rPr>
              <a:t>e</a:t>
            </a:r>
            <a:r>
              <a:rPr lang="en-US" sz="1100" b="1" i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US" sz="900" b="1" i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15"/>
          <p:cNvSpPr txBox="1">
            <a:spLocks noChangeArrowheads="1"/>
          </p:cNvSpPr>
          <p:nvPr/>
        </p:nvSpPr>
        <p:spPr bwMode="auto">
          <a:xfrm>
            <a:off x="6913302" y="1838322"/>
            <a:ext cx="12503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i="1" dirty="0">
                <a:solidFill>
                  <a:srgbClr val="000000"/>
                </a:solidFill>
                <a:latin typeface="Arial"/>
              </a:rPr>
              <a:t>e</a:t>
            </a:r>
            <a:r>
              <a:rPr lang="en-US" sz="1100" b="1" i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US" sz="1100" b="1" i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TextBox 26"/>
          <p:cNvSpPr txBox="1">
            <a:spLocks noChangeArrowheads="1"/>
          </p:cNvSpPr>
          <p:nvPr/>
        </p:nvSpPr>
        <p:spPr bwMode="auto">
          <a:xfrm>
            <a:off x="1895214" y="2547935"/>
            <a:ext cx="12503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i="1" dirty="0">
                <a:solidFill>
                  <a:srgbClr val="000000"/>
                </a:solidFill>
                <a:latin typeface="Arial"/>
              </a:rPr>
              <a:t>e</a:t>
            </a:r>
            <a:r>
              <a:rPr lang="en-US" sz="1100" b="1" i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US" sz="900" b="1" i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Box 33"/>
          <p:cNvSpPr txBox="1">
            <a:spLocks noChangeArrowheads="1"/>
          </p:cNvSpPr>
          <p:nvPr/>
        </p:nvSpPr>
        <p:spPr bwMode="auto">
          <a:xfrm>
            <a:off x="1352289" y="3219447"/>
            <a:ext cx="12503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i="1" dirty="0" smtClean="0">
                <a:solidFill>
                  <a:srgbClr val="000000"/>
                </a:solidFill>
                <a:latin typeface="Arial"/>
              </a:rPr>
              <a:t>e</a:t>
            </a:r>
            <a:r>
              <a:rPr lang="en-US" sz="1100" b="1" i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US" sz="900" b="1" i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Box 36"/>
          <p:cNvSpPr txBox="1">
            <a:spLocks noChangeArrowheads="1"/>
          </p:cNvSpPr>
          <p:nvPr/>
        </p:nvSpPr>
        <p:spPr bwMode="auto">
          <a:xfrm>
            <a:off x="1418964" y="3416297"/>
            <a:ext cx="12503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i="1" dirty="0">
                <a:solidFill>
                  <a:srgbClr val="000000"/>
                </a:solidFill>
                <a:latin typeface="Arial"/>
              </a:rPr>
              <a:t>e</a:t>
            </a:r>
            <a:r>
              <a:rPr lang="en-US" sz="1100" b="1" i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US" sz="900" b="1" i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TextBox 15"/>
          <p:cNvSpPr txBox="1">
            <a:spLocks noChangeArrowheads="1"/>
          </p:cNvSpPr>
          <p:nvPr/>
        </p:nvSpPr>
        <p:spPr bwMode="auto">
          <a:xfrm>
            <a:off x="7077609" y="1893157"/>
            <a:ext cx="12503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i="1" dirty="0" smtClean="0">
                <a:solidFill>
                  <a:srgbClr val="000000"/>
                </a:solidFill>
                <a:latin typeface="Arial"/>
              </a:rPr>
              <a:t>e</a:t>
            </a:r>
            <a:r>
              <a:rPr lang="en-US" sz="1100" b="1" i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US" sz="1100" b="1" i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Freeform 44"/>
          <p:cNvSpPr/>
          <p:nvPr/>
        </p:nvSpPr>
        <p:spPr>
          <a:xfrm>
            <a:off x="1950435" y="3705454"/>
            <a:ext cx="209257" cy="220141"/>
          </a:xfrm>
          <a:custGeom>
            <a:avLst/>
            <a:gdLst>
              <a:gd name="connsiteX0" fmla="*/ 9525 w 209257"/>
              <a:gd name="connsiteY0" fmla="*/ 210616 h 220141"/>
              <a:gd name="connsiteX1" fmla="*/ 199732 w 209257"/>
              <a:gd name="connsiteY1" fmla="*/ 9525 h 220141"/>
              <a:gd name="connsiteX2" fmla="*/ 168973 w 209257"/>
              <a:gd name="connsiteY2" fmla="*/ 193852 h 22014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209257" h="220141">
                <a:moveTo>
                  <a:pt x="9525" y="210616"/>
                </a:moveTo>
                <a:lnTo>
                  <a:pt x="199732" y="9525"/>
                </a:lnTo>
                <a:lnTo>
                  <a:pt x="168973" y="193852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46" name="Freeform 3"/>
          <p:cNvSpPr/>
          <p:nvPr/>
        </p:nvSpPr>
        <p:spPr>
          <a:xfrm>
            <a:off x="5832295" y="3406163"/>
            <a:ext cx="221437" cy="162915"/>
          </a:xfrm>
          <a:custGeom>
            <a:avLst/>
            <a:gdLst>
              <a:gd name="connsiteX0" fmla="*/ 9525 w 221437"/>
              <a:gd name="connsiteY0" fmla="*/ 153390 h 162915"/>
              <a:gd name="connsiteX1" fmla="*/ 211912 w 221437"/>
              <a:gd name="connsiteY1" fmla="*/ 9525 h 162915"/>
              <a:gd name="connsiteX2" fmla="*/ 168960 w 221437"/>
              <a:gd name="connsiteY2" fmla="*/ 136601 h 16291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221437" h="162915">
                <a:moveTo>
                  <a:pt x="9525" y="153390"/>
                </a:moveTo>
                <a:lnTo>
                  <a:pt x="211912" y="9525"/>
                </a:lnTo>
                <a:lnTo>
                  <a:pt x="168960" y="136601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47" name="Freeform 3"/>
          <p:cNvSpPr/>
          <p:nvPr/>
        </p:nvSpPr>
        <p:spPr>
          <a:xfrm>
            <a:off x="2501458" y="4908979"/>
            <a:ext cx="589673" cy="349427"/>
          </a:xfrm>
          <a:custGeom>
            <a:avLst/>
            <a:gdLst>
              <a:gd name="connsiteX0" fmla="*/ 127012 w 589673"/>
              <a:gd name="connsiteY0" fmla="*/ 32194 h 349427"/>
              <a:gd name="connsiteX1" fmla="*/ 580148 w 589673"/>
              <a:gd name="connsiteY1" fmla="*/ 9525 h 349427"/>
              <a:gd name="connsiteX2" fmla="*/ 9525 w 589673"/>
              <a:gd name="connsiteY2" fmla="*/ 339902 h 34942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589673" h="349427">
                <a:moveTo>
                  <a:pt x="127012" y="32194"/>
                </a:moveTo>
                <a:lnTo>
                  <a:pt x="580148" y="9525"/>
                </a:lnTo>
                <a:lnTo>
                  <a:pt x="9525" y="339902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grpSp>
        <p:nvGrpSpPr>
          <p:cNvPr id="48" name="Group 47"/>
          <p:cNvGrpSpPr/>
          <p:nvPr/>
        </p:nvGrpSpPr>
        <p:grpSpPr>
          <a:xfrm>
            <a:off x="2605086" y="1309213"/>
            <a:ext cx="210312" cy="276999"/>
            <a:chOff x="2605086" y="1309213"/>
            <a:chExt cx="210312" cy="276999"/>
          </a:xfrm>
        </p:grpSpPr>
        <p:sp>
          <p:nvSpPr>
            <p:cNvPr id="49" name="Oval 48"/>
            <p:cNvSpPr/>
            <p:nvPr/>
          </p:nvSpPr>
          <p:spPr>
            <a:xfrm>
              <a:off x="2605086" y="1342556"/>
              <a:ext cx="210312" cy="210312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50" name="TextBox 16"/>
            <p:cNvSpPr txBox="1">
              <a:spLocks noChangeArrowheads="1"/>
            </p:cNvSpPr>
            <p:nvPr/>
          </p:nvSpPr>
          <p:spPr bwMode="auto">
            <a:xfrm>
              <a:off x="2646122" y="1309213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800" b="1" dirty="0" smtClean="0">
                  <a:solidFill>
                    <a:srgbClr val="FFFFFF"/>
                  </a:solidFill>
                  <a:latin typeface="Arial"/>
                </a:rPr>
                <a:t>4</a:t>
              </a:r>
              <a:endParaRPr lang="en-US" sz="1800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3825875" y="3366700"/>
            <a:ext cx="210312" cy="276999"/>
            <a:chOff x="2605086" y="1309213"/>
            <a:chExt cx="210312" cy="276999"/>
          </a:xfrm>
        </p:grpSpPr>
        <p:sp>
          <p:nvSpPr>
            <p:cNvPr id="52" name="Oval 51"/>
            <p:cNvSpPr/>
            <p:nvPr/>
          </p:nvSpPr>
          <p:spPr>
            <a:xfrm>
              <a:off x="2605086" y="1342556"/>
              <a:ext cx="210312" cy="210312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53" name="TextBox 16"/>
            <p:cNvSpPr txBox="1">
              <a:spLocks noChangeArrowheads="1"/>
            </p:cNvSpPr>
            <p:nvPr/>
          </p:nvSpPr>
          <p:spPr bwMode="auto">
            <a:xfrm>
              <a:off x="2646122" y="1309213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800" b="1" dirty="0" smtClean="0">
                  <a:solidFill>
                    <a:srgbClr val="FFFFFF"/>
                  </a:solidFill>
                  <a:latin typeface="Arial"/>
                </a:rPr>
                <a:t>5</a:t>
              </a:r>
              <a:endParaRPr lang="en-US" sz="1800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2224086" y="2381248"/>
            <a:ext cx="210312" cy="276999"/>
            <a:chOff x="2605086" y="1309213"/>
            <a:chExt cx="210312" cy="276999"/>
          </a:xfrm>
        </p:grpSpPr>
        <p:sp>
          <p:nvSpPr>
            <p:cNvPr id="55" name="Oval 54"/>
            <p:cNvSpPr/>
            <p:nvPr/>
          </p:nvSpPr>
          <p:spPr>
            <a:xfrm>
              <a:off x="2605086" y="1342556"/>
              <a:ext cx="210312" cy="210312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56" name="TextBox 16"/>
            <p:cNvSpPr txBox="1">
              <a:spLocks noChangeArrowheads="1"/>
            </p:cNvSpPr>
            <p:nvPr/>
          </p:nvSpPr>
          <p:spPr bwMode="auto">
            <a:xfrm>
              <a:off x="2646122" y="1309213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800" b="1" dirty="0" smtClean="0">
                  <a:solidFill>
                    <a:srgbClr val="FFFFFF"/>
                  </a:solidFill>
                  <a:latin typeface="Arial"/>
                </a:rPr>
                <a:t>2</a:t>
              </a:r>
              <a:endParaRPr lang="en-US" sz="1800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1071562" y="2936077"/>
            <a:ext cx="210312" cy="276999"/>
            <a:chOff x="2605086" y="1309213"/>
            <a:chExt cx="210312" cy="276999"/>
          </a:xfrm>
        </p:grpSpPr>
        <p:sp>
          <p:nvSpPr>
            <p:cNvPr id="58" name="Oval 57"/>
            <p:cNvSpPr/>
            <p:nvPr/>
          </p:nvSpPr>
          <p:spPr>
            <a:xfrm>
              <a:off x="2605086" y="1342556"/>
              <a:ext cx="210312" cy="210312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59" name="TextBox 16"/>
            <p:cNvSpPr txBox="1">
              <a:spLocks noChangeArrowheads="1"/>
            </p:cNvSpPr>
            <p:nvPr/>
          </p:nvSpPr>
          <p:spPr bwMode="auto">
            <a:xfrm>
              <a:off x="2646122" y="1309213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800" b="1" dirty="0" smtClean="0">
                  <a:solidFill>
                    <a:srgbClr val="FFFFFF"/>
                  </a:solidFill>
                  <a:latin typeface="Arial"/>
                </a:rPr>
                <a:t>3</a:t>
              </a:r>
              <a:endParaRPr lang="en-US" sz="1800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352428" y="3471855"/>
            <a:ext cx="210312" cy="276999"/>
            <a:chOff x="2605086" y="1309213"/>
            <a:chExt cx="210312" cy="276999"/>
          </a:xfrm>
        </p:grpSpPr>
        <p:sp>
          <p:nvSpPr>
            <p:cNvPr id="61" name="Oval 60"/>
            <p:cNvSpPr/>
            <p:nvPr/>
          </p:nvSpPr>
          <p:spPr>
            <a:xfrm>
              <a:off x="2605086" y="1342556"/>
              <a:ext cx="210312" cy="210312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62" name="TextBox 16"/>
            <p:cNvSpPr txBox="1">
              <a:spLocks noChangeArrowheads="1"/>
            </p:cNvSpPr>
            <p:nvPr/>
          </p:nvSpPr>
          <p:spPr bwMode="auto">
            <a:xfrm>
              <a:off x="2646122" y="1309213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800" b="1" dirty="0" smtClean="0">
                  <a:solidFill>
                    <a:srgbClr val="FFFFFF"/>
                  </a:solidFill>
                  <a:latin typeface="Arial"/>
                </a:rPr>
                <a:t>1</a:t>
              </a:r>
              <a:endParaRPr lang="en-US" sz="1800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6946900" y="3877433"/>
            <a:ext cx="210312" cy="276999"/>
            <a:chOff x="2605086" y="1309213"/>
            <a:chExt cx="210312" cy="276999"/>
          </a:xfrm>
        </p:grpSpPr>
        <p:sp>
          <p:nvSpPr>
            <p:cNvPr id="64" name="Oval 63"/>
            <p:cNvSpPr/>
            <p:nvPr/>
          </p:nvSpPr>
          <p:spPr>
            <a:xfrm>
              <a:off x="2605086" y="1342556"/>
              <a:ext cx="210312" cy="210312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65" name="TextBox 16"/>
            <p:cNvSpPr txBox="1">
              <a:spLocks noChangeArrowheads="1"/>
            </p:cNvSpPr>
            <p:nvPr/>
          </p:nvSpPr>
          <p:spPr bwMode="auto">
            <a:xfrm>
              <a:off x="2646122" y="1309213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800" b="1" dirty="0" smtClean="0">
                  <a:solidFill>
                    <a:srgbClr val="FFFFFF"/>
                  </a:solidFill>
                  <a:latin typeface="Arial"/>
                </a:rPr>
                <a:t>6</a:t>
              </a:r>
              <a:endParaRPr lang="en-US" sz="1800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6637541" y="875536"/>
            <a:ext cx="210312" cy="276999"/>
            <a:chOff x="2605086" y="1309213"/>
            <a:chExt cx="210312" cy="276999"/>
          </a:xfrm>
        </p:grpSpPr>
        <p:sp>
          <p:nvSpPr>
            <p:cNvPr id="67" name="Oval 66"/>
            <p:cNvSpPr/>
            <p:nvPr/>
          </p:nvSpPr>
          <p:spPr>
            <a:xfrm>
              <a:off x="2605086" y="1342556"/>
              <a:ext cx="210312" cy="210312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68" name="TextBox 16"/>
            <p:cNvSpPr txBox="1">
              <a:spLocks noChangeArrowheads="1"/>
            </p:cNvSpPr>
            <p:nvPr/>
          </p:nvSpPr>
          <p:spPr bwMode="auto">
            <a:xfrm>
              <a:off x="2646122" y="1309213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800" b="1" dirty="0" smtClean="0">
                  <a:solidFill>
                    <a:srgbClr val="FFFFFF"/>
                  </a:solidFill>
                  <a:latin typeface="Arial"/>
                </a:rPr>
                <a:t>7</a:t>
              </a:r>
              <a:endParaRPr lang="en-US" sz="1800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7569999" y="1669257"/>
            <a:ext cx="210312" cy="276999"/>
            <a:chOff x="2605086" y="1309213"/>
            <a:chExt cx="210312" cy="276999"/>
          </a:xfrm>
        </p:grpSpPr>
        <p:sp>
          <p:nvSpPr>
            <p:cNvPr id="70" name="Oval 69"/>
            <p:cNvSpPr/>
            <p:nvPr/>
          </p:nvSpPr>
          <p:spPr>
            <a:xfrm>
              <a:off x="2605086" y="1342556"/>
              <a:ext cx="210312" cy="210312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71" name="TextBox 16"/>
            <p:cNvSpPr txBox="1">
              <a:spLocks noChangeArrowheads="1"/>
            </p:cNvSpPr>
            <p:nvPr/>
          </p:nvSpPr>
          <p:spPr bwMode="auto">
            <a:xfrm>
              <a:off x="2646122" y="1309213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800" b="1" smtClean="0">
                  <a:solidFill>
                    <a:srgbClr val="FFFFFF"/>
                  </a:solidFill>
                  <a:latin typeface="Arial"/>
                </a:rPr>
                <a:t>8</a:t>
              </a:r>
              <a:endParaRPr lang="en-US" sz="1800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72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51117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07542" lvl="1" indent="-514350">
              <a:buFont typeface="+mj-lt"/>
              <a:buAutoNum type="arabicPeriod" startAt="3"/>
            </a:pPr>
            <a:r>
              <a:rPr lang="en-US" altLang="en-US" dirty="0" smtClean="0"/>
              <a:t>H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O is split by enzymes, and the electrons are transferred from the hydrogen atoms to P680</a:t>
            </a:r>
            <a:r>
              <a:rPr lang="en-US" altLang="en-US" baseline="30000" dirty="0" smtClean="0">
                <a:latin typeface="+mj-lt"/>
              </a:rPr>
              <a:t>+</a:t>
            </a:r>
            <a:r>
              <a:rPr lang="en-US" altLang="en-US" dirty="0" smtClean="0"/>
              <a:t>, thus reducing it to P680</a:t>
            </a:r>
          </a:p>
          <a:p>
            <a:pPr lvl="2"/>
            <a:r>
              <a:rPr lang="en-US" altLang="en-US" dirty="0" smtClean="0"/>
              <a:t>P680</a:t>
            </a:r>
            <a:r>
              <a:rPr lang="en-US" altLang="en-US" baseline="30000" dirty="0" smtClean="0">
                <a:latin typeface="+mj-lt"/>
              </a:rPr>
              <a:t>+</a:t>
            </a:r>
            <a:r>
              <a:rPr lang="en-US" altLang="en-US" dirty="0" smtClean="0"/>
              <a:t> is the strongest known biological oxidizing agent</a:t>
            </a:r>
          </a:p>
          <a:p>
            <a:pPr lvl="2"/>
            <a:r>
              <a:rPr lang="en-US" altLang="en-US" dirty="0" smtClean="0"/>
              <a:t>The H</a:t>
            </a:r>
            <a:r>
              <a:rPr lang="en-US" altLang="en-US" baseline="30000" dirty="0" smtClean="0">
                <a:latin typeface="+mj-lt"/>
              </a:rPr>
              <a:t>+</a:t>
            </a:r>
            <a:r>
              <a:rPr lang="en-US" altLang="en-US" dirty="0" smtClean="0"/>
              <a:t> are released into the thylakoid space</a:t>
            </a:r>
          </a:p>
          <a:p>
            <a:pPr lvl="2"/>
            <a:r>
              <a:rPr lang="en-US" altLang="en-US" dirty="0" smtClean="0"/>
              <a:t>O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 is released as a by-product of this reaction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19200" y="4798367"/>
            <a:ext cx="74765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https://www.youtube.com/watch?v=qJqEk1ouDuo</a:t>
            </a:r>
          </a:p>
        </p:txBody>
      </p:sp>
    </p:spTree>
    <p:extLst>
      <p:ext uri="{BB962C8B-B14F-4D97-AF65-F5344CB8AC3E}">
        <p14:creationId xmlns:p14="http://schemas.microsoft.com/office/powerpoint/2010/main" val="161009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07542" lvl="1" indent="-514350">
              <a:buFont typeface="+mj-lt"/>
              <a:buAutoNum type="arabicPeriod" startAt="4"/>
            </a:pPr>
            <a:r>
              <a:rPr lang="en-US" altLang="en-US" dirty="0" smtClean="0"/>
              <a:t>Each electron </a:t>
            </a:r>
            <a:r>
              <a:rPr lang="ja-JP" altLang="en-US" dirty="0" smtClean="0"/>
              <a:t>“</a:t>
            </a:r>
            <a:r>
              <a:rPr lang="en-US" altLang="ja-JP" dirty="0" smtClean="0"/>
              <a:t>falls</a:t>
            </a:r>
            <a:r>
              <a:rPr lang="ja-JP" altLang="en-US" dirty="0" smtClean="0"/>
              <a:t>”</a:t>
            </a:r>
            <a:r>
              <a:rPr lang="en-US" altLang="ja-JP" dirty="0" smtClean="0"/>
              <a:t> down an electron transport chain from the primary electron acceptor of PS </a:t>
            </a:r>
            <a:r>
              <a:rPr lang="en-US" altLang="ja-JP" dirty="0" smtClean="0">
                <a:latin typeface="+mj-lt"/>
              </a:rPr>
              <a:t>II</a:t>
            </a:r>
            <a:r>
              <a:rPr lang="en-US" altLang="ja-JP" dirty="0" smtClean="0"/>
              <a:t> to PS </a:t>
            </a:r>
            <a:r>
              <a:rPr lang="en-US" altLang="ja-JP" dirty="0" smtClean="0">
                <a:latin typeface="+mj-lt"/>
              </a:rPr>
              <a:t>I</a:t>
            </a:r>
            <a:r>
              <a:rPr lang="en-US" altLang="ja-JP" dirty="0" smtClean="0"/>
              <a:t>. Energy released by the fall drives the creation of a proton gradient across the thylakoid membrane</a:t>
            </a:r>
          </a:p>
          <a:p>
            <a:pPr marL="907542" lvl="1" indent="-514350">
              <a:buFont typeface="+mj-lt"/>
              <a:buAutoNum type="arabicPeriod" startAt="4"/>
            </a:pPr>
            <a:r>
              <a:rPr lang="en-US" altLang="en-US" dirty="0" smtClean="0"/>
              <a:t>Potential energy stored in the proton gradient drives production of ATP by chemiosmosis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434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07542" lvl="1" indent="-514350">
              <a:buFont typeface="+mj-lt"/>
              <a:buAutoNum type="arabicPeriod" startAt="6"/>
            </a:pPr>
            <a:r>
              <a:rPr lang="en-US" altLang="en-US" dirty="0" smtClean="0"/>
              <a:t>In PS </a:t>
            </a:r>
            <a:r>
              <a:rPr lang="en-US" altLang="en-US" dirty="0" smtClean="0">
                <a:latin typeface="+mj-lt"/>
              </a:rPr>
              <a:t>I</a:t>
            </a:r>
            <a:r>
              <a:rPr lang="en-US" altLang="en-US" dirty="0" smtClean="0"/>
              <a:t> (like PS </a:t>
            </a:r>
            <a:r>
              <a:rPr lang="en-US" altLang="en-US" dirty="0" smtClean="0">
                <a:latin typeface="+mj-lt"/>
              </a:rPr>
              <a:t>II</a:t>
            </a:r>
            <a:r>
              <a:rPr lang="en-US" altLang="en-US" dirty="0" smtClean="0"/>
              <a:t>), transferred light energy excites P700, which loses an electron to the primary electron acceptor</a:t>
            </a:r>
          </a:p>
          <a:p>
            <a:pPr lvl="2"/>
            <a:r>
              <a:rPr lang="en-US" altLang="en-US" dirty="0" smtClean="0"/>
              <a:t>P700</a:t>
            </a:r>
            <a:r>
              <a:rPr lang="en-US" altLang="en-US" baseline="30000" dirty="0" smtClean="0">
                <a:latin typeface="+mj-lt"/>
              </a:rPr>
              <a:t>+</a:t>
            </a:r>
            <a:r>
              <a:rPr lang="en-US" altLang="en-US" dirty="0" smtClean="0"/>
              <a:t> (P700 that is missing an electron) accepts an electron passed down from PS </a:t>
            </a:r>
            <a:r>
              <a:rPr lang="en-US" altLang="en-US" dirty="0" smtClean="0">
                <a:latin typeface="+mj-lt"/>
              </a:rPr>
              <a:t>II</a:t>
            </a:r>
            <a:r>
              <a:rPr lang="en-US" altLang="en-US" dirty="0" smtClean="0"/>
              <a:t> via the electron transport chain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335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07542" lvl="1" indent="-514350">
              <a:buFont typeface="+mj-lt"/>
              <a:buAutoNum type="arabicPeriod" startAt="7"/>
            </a:pPr>
            <a:r>
              <a:rPr lang="en-US" altLang="en-US" dirty="0" smtClean="0"/>
              <a:t>Each electron </a:t>
            </a:r>
            <a:r>
              <a:rPr lang="ja-JP" altLang="en-US" dirty="0" smtClean="0"/>
              <a:t>“</a:t>
            </a:r>
            <a:r>
              <a:rPr lang="en-US" altLang="ja-JP" dirty="0" smtClean="0"/>
              <a:t>falls</a:t>
            </a:r>
            <a:r>
              <a:rPr lang="ja-JP" altLang="en-US" dirty="0" smtClean="0"/>
              <a:t>”</a:t>
            </a:r>
            <a:r>
              <a:rPr lang="en-US" altLang="ja-JP" dirty="0" smtClean="0"/>
              <a:t> down an electron transport chain from the primary electron acceptor of PS </a:t>
            </a:r>
            <a:r>
              <a:rPr lang="en-US" altLang="ja-JP" dirty="0" smtClean="0">
                <a:latin typeface="+mj-lt"/>
              </a:rPr>
              <a:t>I</a:t>
            </a:r>
            <a:r>
              <a:rPr lang="en-US" altLang="ja-JP" dirty="0" smtClean="0"/>
              <a:t> to the protein </a:t>
            </a:r>
            <a:r>
              <a:rPr lang="en-US" altLang="ja-JP" dirty="0" err="1" smtClean="0"/>
              <a:t>ferredoxin</a:t>
            </a:r>
            <a:r>
              <a:rPr lang="en-US" altLang="ja-JP" dirty="0" smtClean="0"/>
              <a:t> (</a:t>
            </a:r>
            <a:r>
              <a:rPr lang="en-US" altLang="ja-JP" dirty="0" err="1" smtClean="0"/>
              <a:t>Fd</a:t>
            </a:r>
            <a:r>
              <a:rPr lang="en-US" altLang="ja-JP" dirty="0" smtClean="0"/>
              <a:t>)</a:t>
            </a:r>
          </a:p>
          <a:p>
            <a:pPr marL="907542" lvl="1" indent="-514350">
              <a:buFont typeface="+mj-lt"/>
              <a:buAutoNum type="arabicPeriod" startAt="7"/>
            </a:pPr>
            <a:r>
              <a:rPr lang="en-US" altLang="en-US" dirty="0" smtClean="0"/>
              <a:t>NADP</a:t>
            </a:r>
            <a:r>
              <a:rPr lang="en-US" altLang="en-US" baseline="30000" dirty="0" smtClean="0">
                <a:latin typeface="+mj-lt"/>
              </a:rPr>
              <a:t>+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reductase</a:t>
            </a:r>
            <a:r>
              <a:rPr lang="en-US" altLang="en-US" dirty="0" smtClean="0"/>
              <a:t> catalyzes the transfer of electrons to NADP</a:t>
            </a:r>
            <a:r>
              <a:rPr lang="en-US" altLang="en-US" baseline="30000" dirty="0" smtClean="0">
                <a:latin typeface="+mj-lt"/>
              </a:rPr>
              <a:t>+</a:t>
            </a:r>
            <a:r>
              <a:rPr lang="en-US" altLang="en-US" dirty="0" smtClean="0"/>
              <a:t>, reducing it to NADPH</a:t>
            </a:r>
          </a:p>
          <a:p>
            <a:pPr lvl="2"/>
            <a:r>
              <a:rPr lang="en-US" altLang="en-US" dirty="0" smtClean="0"/>
              <a:t>The electrons of NADPH are available for the reactions of the Calvin cycle</a:t>
            </a:r>
          </a:p>
          <a:p>
            <a:pPr lvl="2"/>
            <a:r>
              <a:rPr lang="en-US" altLang="en-US" dirty="0" smtClean="0"/>
              <a:t>This process also removes an H</a:t>
            </a:r>
            <a:r>
              <a:rPr lang="en-US" altLang="en-US" baseline="30000" dirty="0" smtClean="0">
                <a:latin typeface="+mj-lt"/>
              </a:rPr>
              <a:t>+</a:t>
            </a:r>
            <a:r>
              <a:rPr lang="en-US" altLang="en-US" dirty="0" smtClean="0"/>
              <a:t> from the </a:t>
            </a:r>
            <a:r>
              <a:rPr lang="en-US" altLang="en-US" dirty="0" err="1" smtClean="0"/>
              <a:t>stroma</a:t>
            </a:r>
            <a:endParaRPr lang="en-US" altLang="en-US" dirty="0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446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 energy changes of electrons during linear flow through the light reactions can be shown in a mechanical analogy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165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399288" y="213360"/>
            <a:ext cx="8345424" cy="64312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11.15</a:t>
            </a:r>
            <a:endParaRPr lang="en-US" dirty="0"/>
          </a:p>
        </p:txBody>
      </p:sp>
      <p:sp>
        <p:nvSpPr>
          <p:cNvPr id="6" name="TextBox 8"/>
          <p:cNvSpPr txBox="1">
            <a:spLocks noChangeArrowheads="1"/>
          </p:cNvSpPr>
          <p:nvPr/>
        </p:nvSpPr>
        <p:spPr bwMode="auto">
          <a:xfrm>
            <a:off x="4858703" y="2580932"/>
            <a:ext cx="51860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100" b="1" dirty="0">
                <a:solidFill>
                  <a:srgbClr val="000000"/>
                </a:solidFill>
                <a:latin typeface="Arial"/>
              </a:rPr>
              <a:t>ATP</a:t>
            </a:r>
          </a:p>
        </p:txBody>
      </p:sp>
      <p:sp>
        <p:nvSpPr>
          <p:cNvPr id="7" name="TextBox 10"/>
          <p:cNvSpPr txBox="1">
            <a:spLocks noChangeArrowheads="1"/>
          </p:cNvSpPr>
          <p:nvPr/>
        </p:nvSpPr>
        <p:spPr bwMode="auto">
          <a:xfrm>
            <a:off x="7754303" y="2436470"/>
            <a:ext cx="95539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100" b="1">
                <a:solidFill>
                  <a:srgbClr val="000000"/>
                </a:solidFill>
                <a:latin typeface="Arial"/>
              </a:rPr>
              <a:t>NADPH</a:t>
            </a:r>
          </a:p>
        </p:txBody>
      </p:sp>
      <p:sp>
        <p:nvSpPr>
          <p:cNvPr id="8" name="TextBox 14"/>
          <p:cNvSpPr txBox="1">
            <a:spLocks noChangeArrowheads="1"/>
          </p:cNvSpPr>
          <p:nvPr/>
        </p:nvSpPr>
        <p:spPr bwMode="auto">
          <a:xfrm>
            <a:off x="4880134" y="5448407"/>
            <a:ext cx="51860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100" b="1" dirty="0">
                <a:solidFill>
                  <a:srgbClr val="000000"/>
                </a:solidFill>
                <a:latin typeface="Arial"/>
              </a:rPr>
              <a:t>ATP</a:t>
            </a:r>
          </a:p>
        </p:txBody>
      </p:sp>
      <p:sp>
        <p:nvSpPr>
          <p:cNvPr id="9" name="TextBox 15"/>
          <p:cNvSpPr txBox="1">
            <a:spLocks noChangeArrowheads="1"/>
          </p:cNvSpPr>
          <p:nvPr/>
        </p:nvSpPr>
        <p:spPr bwMode="auto">
          <a:xfrm>
            <a:off x="2238534" y="6113914"/>
            <a:ext cx="197329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100" b="1" dirty="0">
                <a:solidFill>
                  <a:srgbClr val="000000"/>
                </a:solidFill>
                <a:latin typeface="Arial"/>
              </a:rPr>
              <a:t>Photosystem </a:t>
            </a:r>
            <a:r>
              <a:rPr lang="en-US" sz="21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II</a:t>
            </a:r>
          </a:p>
        </p:txBody>
      </p:sp>
      <p:sp>
        <p:nvSpPr>
          <p:cNvPr id="10" name="TextBox 16"/>
          <p:cNvSpPr txBox="1">
            <a:spLocks noChangeArrowheads="1"/>
          </p:cNvSpPr>
          <p:nvPr/>
        </p:nvSpPr>
        <p:spPr bwMode="auto">
          <a:xfrm>
            <a:off x="6249353" y="6114707"/>
            <a:ext cx="186910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100" b="1" dirty="0">
                <a:solidFill>
                  <a:srgbClr val="000000"/>
                </a:solidFill>
                <a:latin typeface="Arial"/>
              </a:rPr>
              <a:t>Photosystem </a:t>
            </a:r>
            <a:r>
              <a:rPr lang="en-US" sz="21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</a:p>
        </p:txBody>
      </p:sp>
      <p:sp>
        <p:nvSpPr>
          <p:cNvPr id="11" name="TextBox 6"/>
          <p:cNvSpPr txBox="1">
            <a:spLocks noChangeArrowheads="1"/>
          </p:cNvSpPr>
          <p:nvPr/>
        </p:nvSpPr>
        <p:spPr bwMode="auto">
          <a:xfrm>
            <a:off x="4692377" y="2028710"/>
            <a:ext cx="835165" cy="589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300"/>
              </a:lnSpc>
            </a:pPr>
            <a:r>
              <a:rPr lang="en-US" sz="2100" b="1" dirty="0" smtClean="0">
                <a:solidFill>
                  <a:srgbClr val="000000"/>
                </a:solidFill>
                <a:latin typeface="Arial"/>
              </a:rPr>
              <a:t>Mill</a:t>
            </a:r>
          </a:p>
          <a:p>
            <a:pPr algn="ctr">
              <a:lnSpc>
                <a:spcPts val="2300"/>
              </a:lnSpc>
            </a:pPr>
            <a:r>
              <a:rPr lang="en-US" sz="2100" b="1" dirty="0" smtClean="0">
                <a:solidFill>
                  <a:srgbClr val="000000"/>
                </a:solidFill>
                <a:latin typeface="Arial"/>
              </a:rPr>
              <a:t>makes</a:t>
            </a:r>
            <a:endParaRPr lang="en-US" sz="21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 rot="586199">
            <a:off x="1376795" y="5627851"/>
            <a:ext cx="223138" cy="641201"/>
          </a:xfrm>
          <a:prstGeom prst="rect">
            <a:avLst/>
          </a:prstGeom>
          <a:noFill/>
        </p:spPr>
        <p:txBody>
          <a:bodyPr vert="vert270"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50" b="1">
                <a:solidFill>
                  <a:srgbClr val="000000"/>
                </a:solidFill>
                <a:latin typeface="Arial"/>
              </a:rPr>
              <a:t>Photon</a:t>
            </a:r>
          </a:p>
        </p:txBody>
      </p:sp>
      <p:sp>
        <p:nvSpPr>
          <p:cNvPr id="13" name="TextBox 12"/>
          <p:cNvSpPr txBox="1"/>
          <p:nvPr/>
        </p:nvSpPr>
        <p:spPr>
          <a:xfrm rot="20878306">
            <a:off x="7320876" y="3852864"/>
            <a:ext cx="223138" cy="641201"/>
          </a:xfrm>
          <a:prstGeom prst="rect">
            <a:avLst/>
          </a:prstGeom>
          <a:noFill/>
        </p:spPr>
        <p:txBody>
          <a:bodyPr vert="vert270"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50" b="1">
                <a:solidFill>
                  <a:srgbClr val="000000"/>
                </a:solidFill>
                <a:latin typeface="Arial"/>
              </a:rPr>
              <a:t>Photon</a:t>
            </a:r>
          </a:p>
        </p:txBody>
      </p:sp>
      <p:sp>
        <p:nvSpPr>
          <p:cNvPr id="14" name="TextBox 2"/>
          <p:cNvSpPr txBox="1">
            <a:spLocks noChangeArrowheads="1"/>
          </p:cNvSpPr>
          <p:nvPr/>
        </p:nvSpPr>
        <p:spPr bwMode="auto">
          <a:xfrm>
            <a:off x="7047836" y="802649"/>
            <a:ext cx="177934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500" b="1" i="1" dirty="0">
                <a:solidFill>
                  <a:srgbClr val="000000"/>
                </a:solidFill>
                <a:latin typeface="Arial"/>
              </a:rPr>
              <a:t>e</a:t>
            </a:r>
            <a:r>
              <a:rPr lang="en-US" sz="1500" b="1" i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</a:p>
        </p:txBody>
      </p:sp>
      <p:sp>
        <p:nvSpPr>
          <p:cNvPr id="15" name="TextBox 3"/>
          <p:cNvSpPr txBox="1">
            <a:spLocks noChangeArrowheads="1"/>
          </p:cNvSpPr>
          <p:nvPr/>
        </p:nvSpPr>
        <p:spPr bwMode="auto">
          <a:xfrm>
            <a:off x="3250536" y="1781343"/>
            <a:ext cx="177934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500" b="1" i="1" dirty="0" smtClean="0">
                <a:solidFill>
                  <a:srgbClr val="000000"/>
                </a:solidFill>
                <a:latin typeface="Arial"/>
              </a:rPr>
              <a:t>e</a:t>
            </a:r>
            <a:r>
              <a:rPr lang="en-US" sz="1500" b="1" i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US" sz="1500" b="1" i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4"/>
          <p:cNvSpPr txBox="1">
            <a:spLocks noChangeArrowheads="1"/>
          </p:cNvSpPr>
          <p:nvPr/>
        </p:nvSpPr>
        <p:spPr bwMode="auto">
          <a:xfrm>
            <a:off x="7863811" y="1767055"/>
            <a:ext cx="177934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500" b="1" i="1" dirty="0">
                <a:solidFill>
                  <a:srgbClr val="000000"/>
                </a:solidFill>
                <a:latin typeface="Arial"/>
              </a:rPr>
              <a:t>e</a:t>
            </a:r>
            <a:r>
              <a:rPr lang="en-US" sz="1500" b="1" i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</a:p>
        </p:txBody>
      </p: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4096673" y="2695743"/>
            <a:ext cx="177934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500" b="1" i="1" dirty="0">
                <a:solidFill>
                  <a:srgbClr val="000000"/>
                </a:solidFill>
                <a:latin typeface="Arial"/>
              </a:rPr>
              <a:t>e</a:t>
            </a:r>
            <a:r>
              <a:rPr lang="en-US" sz="1500" b="1" i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</a:p>
        </p:txBody>
      </p:sp>
      <p:sp>
        <p:nvSpPr>
          <p:cNvPr id="18" name="TextBox 9"/>
          <p:cNvSpPr txBox="1">
            <a:spLocks noChangeArrowheads="1"/>
          </p:cNvSpPr>
          <p:nvPr/>
        </p:nvSpPr>
        <p:spPr bwMode="auto">
          <a:xfrm>
            <a:off x="5303173" y="3057693"/>
            <a:ext cx="177934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500" b="1" i="1" dirty="0">
                <a:solidFill>
                  <a:srgbClr val="000000"/>
                </a:solidFill>
                <a:latin typeface="Arial"/>
              </a:rPr>
              <a:t>e</a:t>
            </a:r>
            <a:r>
              <a:rPr lang="en-US" sz="1500" b="1" i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</a:p>
        </p:txBody>
      </p:sp>
      <p:sp>
        <p:nvSpPr>
          <p:cNvPr id="19" name="TextBox 11"/>
          <p:cNvSpPr txBox="1">
            <a:spLocks noChangeArrowheads="1"/>
          </p:cNvSpPr>
          <p:nvPr/>
        </p:nvSpPr>
        <p:spPr bwMode="auto">
          <a:xfrm>
            <a:off x="6225511" y="2859255"/>
            <a:ext cx="177934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500" b="1" i="1" dirty="0">
                <a:solidFill>
                  <a:srgbClr val="000000"/>
                </a:solidFill>
                <a:latin typeface="Arial"/>
              </a:rPr>
              <a:t>e</a:t>
            </a:r>
            <a:r>
              <a:rPr lang="en-US" sz="1500" b="1" i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</a:p>
        </p:txBody>
      </p:sp>
      <p:sp>
        <p:nvSpPr>
          <p:cNvPr id="20" name="TextBox 12"/>
          <p:cNvSpPr txBox="1">
            <a:spLocks noChangeArrowheads="1"/>
          </p:cNvSpPr>
          <p:nvPr/>
        </p:nvSpPr>
        <p:spPr bwMode="auto">
          <a:xfrm>
            <a:off x="2045623" y="5140493"/>
            <a:ext cx="177934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500" b="1" i="1" dirty="0">
                <a:solidFill>
                  <a:srgbClr val="000000"/>
                </a:solidFill>
                <a:latin typeface="Arial"/>
              </a:rPr>
              <a:t>e</a:t>
            </a:r>
            <a:r>
              <a:rPr lang="en-US" sz="1500" b="1" i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</a:p>
        </p:txBody>
      </p:sp>
      <p:sp>
        <p:nvSpPr>
          <p:cNvPr id="21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21803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Cyclic Electron Flow</a:t>
            </a:r>
          </a:p>
        </p:txBody>
      </p:sp>
      <p:sp>
        <p:nvSpPr>
          <p:cNvPr id="157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In </a:t>
            </a:r>
            <a:r>
              <a:rPr lang="en-US" altLang="en-US" b="1" dirty="0" smtClean="0"/>
              <a:t>cyclic electron flow</a:t>
            </a:r>
            <a:r>
              <a:rPr lang="en-US" altLang="en-US" dirty="0" smtClean="0"/>
              <a:t>, electrons cycle back from </a:t>
            </a:r>
            <a:r>
              <a:rPr lang="en-US" altLang="en-US" dirty="0" err="1" smtClean="0"/>
              <a:t>Fd</a:t>
            </a:r>
            <a:r>
              <a:rPr lang="en-US" altLang="en-US" dirty="0" smtClean="0"/>
              <a:t> to the PS </a:t>
            </a:r>
            <a:r>
              <a:rPr lang="en-US" altLang="en-US" dirty="0" smtClean="0">
                <a:latin typeface="+mj-lt"/>
              </a:rPr>
              <a:t>I</a:t>
            </a:r>
            <a:r>
              <a:rPr lang="en-US" altLang="en-US" dirty="0" smtClean="0"/>
              <a:t> reaction center via a </a:t>
            </a:r>
            <a:r>
              <a:rPr lang="en-US" altLang="en-US" dirty="0" err="1" smtClean="0"/>
              <a:t>plastocyanin</a:t>
            </a:r>
            <a:r>
              <a:rPr lang="en-US" altLang="en-US" dirty="0" smtClean="0"/>
              <a:t> molecule (Pc)</a:t>
            </a:r>
          </a:p>
          <a:p>
            <a:r>
              <a:rPr lang="en-US" altLang="en-US" dirty="0" smtClean="0"/>
              <a:t>Cyclic electron flow uses only photosystem </a:t>
            </a:r>
            <a:r>
              <a:rPr lang="en-US" altLang="en-US" dirty="0" smtClean="0">
                <a:latin typeface="+mj-lt"/>
              </a:rPr>
              <a:t>I</a:t>
            </a:r>
            <a:r>
              <a:rPr lang="en-US" altLang="en-US" dirty="0" smtClean="0"/>
              <a:t> and produces ATP, but not NADPH</a:t>
            </a:r>
          </a:p>
          <a:p>
            <a:r>
              <a:rPr lang="en-US" altLang="en-US" dirty="0" smtClean="0"/>
              <a:t>No oxygen is released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39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98"/>
          <a:stretch>
            <a:fillRect/>
          </a:stretch>
        </p:blipFill>
        <p:spPr>
          <a:xfrm>
            <a:off x="298704" y="1194816"/>
            <a:ext cx="8546592" cy="44683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11.16</a:t>
            </a:r>
            <a:endParaRPr lang="en-US" dirty="0"/>
          </a:p>
        </p:txBody>
      </p:sp>
      <p:sp>
        <p:nvSpPr>
          <p:cNvPr id="20" name="TextBox 4"/>
          <p:cNvSpPr txBox="1">
            <a:spLocks noChangeArrowheads="1"/>
          </p:cNvSpPr>
          <p:nvPr/>
        </p:nvSpPr>
        <p:spPr bwMode="auto">
          <a:xfrm>
            <a:off x="2225929" y="2449256"/>
            <a:ext cx="26129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>
                <a:solidFill>
                  <a:srgbClr val="A9AAAC"/>
                </a:solidFill>
                <a:latin typeface="Arial"/>
              </a:rPr>
              <a:t>Pq</a:t>
            </a:r>
          </a:p>
        </p:txBody>
      </p:sp>
      <p:sp>
        <p:nvSpPr>
          <p:cNvPr id="21" name="TextBox 5"/>
          <p:cNvSpPr txBox="1">
            <a:spLocks noChangeArrowheads="1"/>
          </p:cNvSpPr>
          <p:nvPr/>
        </p:nvSpPr>
        <p:spPr bwMode="auto">
          <a:xfrm>
            <a:off x="3194304" y="1785681"/>
            <a:ext cx="25006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>
                <a:solidFill>
                  <a:srgbClr val="000000"/>
                </a:solidFill>
                <a:latin typeface="Arial"/>
              </a:rPr>
              <a:t>Fd</a:t>
            </a:r>
          </a:p>
        </p:txBody>
      </p:sp>
      <p:sp>
        <p:nvSpPr>
          <p:cNvPr id="23" name="TextBox 8"/>
          <p:cNvSpPr txBox="1">
            <a:spLocks noChangeArrowheads="1"/>
          </p:cNvSpPr>
          <p:nvPr/>
        </p:nvSpPr>
        <p:spPr bwMode="auto">
          <a:xfrm>
            <a:off x="6281992" y="2020631"/>
            <a:ext cx="25006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 err="1">
                <a:solidFill>
                  <a:srgbClr val="A9AAAC"/>
                </a:solidFill>
                <a:latin typeface="Arial"/>
              </a:rPr>
              <a:t>Fd</a:t>
            </a:r>
            <a:endParaRPr lang="en-US" sz="1600" b="1" dirty="0">
              <a:solidFill>
                <a:srgbClr val="A9AAAC"/>
              </a:solidFill>
              <a:latin typeface="Arial"/>
            </a:endParaRPr>
          </a:p>
        </p:txBody>
      </p:sp>
      <p:sp>
        <p:nvSpPr>
          <p:cNvPr id="24" name="TextBox 9"/>
          <p:cNvSpPr txBox="1">
            <a:spLocks noChangeArrowheads="1"/>
          </p:cNvSpPr>
          <p:nvPr/>
        </p:nvSpPr>
        <p:spPr bwMode="auto">
          <a:xfrm>
            <a:off x="6492616" y="2586575"/>
            <a:ext cx="9682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820"/>
              </a:lnSpc>
            </a:pPr>
            <a:r>
              <a:rPr lang="en-US" sz="1600" b="1" dirty="0" smtClean="0">
                <a:solidFill>
                  <a:srgbClr val="A9AAAC"/>
                </a:solidFill>
                <a:latin typeface="Arial"/>
              </a:rPr>
              <a:t>NADP</a:t>
            </a:r>
            <a:r>
              <a:rPr lang="en-US" sz="1600" b="1" baseline="30000" dirty="0" smtClean="0">
                <a:solidFill>
                  <a:srgbClr val="A9AAAC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  <a:p>
            <a:pPr algn="ctr">
              <a:lnSpc>
                <a:spcPts val="1820"/>
              </a:lnSpc>
            </a:pPr>
            <a:r>
              <a:rPr lang="en-US" sz="1600" b="1" dirty="0" err="1" smtClean="0">
                <a:solidFill>
                  <a:srgbClr val="A9AAAC"/>
                </a:solidFill>
                <a:latin typeface="Arial"/>
              </a:rPr>
              <a:t>reductase</a:t>
            </a:r>
            <a:endParaRPr lang="en-US" sz="1600" b="1" dirty="0">
              <a:solidFill>
                <a:srgbClr val="A9AAAC"/>
              </a:solidFill>
              <a:latin typeface="Arial"/>
            </a:endParaRPr>
          </a:p>
        </p:txBody>
      </p:sp>
      <p:sp>
        <p:nvSpPr>
          <p:cNvPr id="25" name="TextBox 11"/>
          <p:cNvSpPr txBox="1">
            <a:spLocks noChangeArrowheads="1"/>
          </p:cNvSpPr>
          <p:nvPr/>
        </p:nvSpPr>
        <p:spPr bwMode="auto">
          <a:xfrm>
            <a:off x="8116543" y="2341306"/>
            <a:ext cx="65723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820"/>
              </a:lnSpc>
            </a:pPr>
            <a:r>
              <a:rPr lang="en-US" sz="1600" b="1" dirty="0" smtClean="0">
                <a:solidFill>
                  <a:srgbClr val="A9AAAC"/>
                </a:solidFill>
                <a:latin typeface="Arial"/>
              </a:rPr>
              <a:t>NADP</a:t>
            </a:r>
            <a:r>
              <a:rPr lang="en-US" sz="1600" b="1" baseline="30000" dirty="0" smtClean="0">
                <a:solidFill>
                  <a:srgbClr val="A9AAAC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1600" b="1" dirty="0">
              <a:solidFill>
                <a:srgbClr val="A9AAAC"/>
              </a:solidFill>
              <a:latin typeface="Arial"/>
            </a:endParaRPr>
          </a:p>
        </p:txBody>
      </p:sp>
      <p:sp>
        <p:nvSpPr>
          <p:cNvPr id="26" name="TextBox 13"/>
          <p:cNvSpPr txBox="1">
            <a:spLocks noChangeArrowheads="1"/>
          </p:cNvSpPr>
          <p:nvPr/>
        </p:nvSpPr>
        <p:spPr bwMode="auto">
          <a:xfrm>
            <a:off x="8037296" y="3103306"/>
            <a:ext cx="72616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A9AAAC"/>
                </a:solidFill>
                <a:latin typeface="Arial"/>
              </a:rPr>
              <a:t>NADPH</a:t>
            </a:r>
          </a:p>
        </p:txBody>
      </p:sp>
      <p:sp>
        <p:nvSpPr>
          <p:cNvPr id="27" name="TextBox 14"/>
          <p:cNvSpPr txBox="1">
            <a:spLocks noChangeArrowheads="1"/>
          </p:cNvSpPr>
          <p:nvPr/>
        </p:nvSpPr>
        <p:spPr bwMode="auto">
          <a:xfrm>
            <a:off x="4038854" y="3844668"/>
            <a:ext cx="25006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</a:rPr>
              <a:t>Pc</a:t>
            </a:r>
          </a:p>
        </p:txBody>
      </p:sp>
      <p:sp>
        <p:nvSpPr>
          <p:cNvPr id="28" name="TextBox 15"/>
          <p:cNvSpPr txBox="1">
            <a:spLocks noChangeArrowheads="1"/>
          </p:cNvSpPr>
          <p:nvPr/>
        </p:nvSpPr>
        <p:spPr bwMode="auto">
          <a:xfrm>
            <a:off x="2503742" y="3020756"/>
            <a:ext cx="11958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820"/>
              </a:lnSpc>
            </a:pPr>
            <a:r>
              <a:rPr lang="en-US" sz="1600" b="1" smtClean="0">
                <a:solidFill>
                  <a:srgbClr val="000000"/>
                </a:solidFill>
                <a:latin typeface="Arial"/>
              </a:rPr>
              <a:t>Cytochrome</a:t>
            </a:r>
          </a:p>
          <a:p>
            <a:pPr algn="ctr">
              <a:lnSpc>
                <a:spcPts val="1820"/>
              </a:lnSpc>
            </a:pPr>
            <a:r>
              <a:rPr lang="en-US" sz="1600" b="1" smtClean="0">
                <a:solidFill>
                  <a:srgbClr val="000000"/>
                </a:solidFill>
                <a:latin typeface="Arial"/>
              </a:rPr>
              <a:t>complex</a:t>
            </a:r>
            <a:endParaRPr lang="en-US" sz="16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Box 17"/>
          <p:cNvSpPr txBox="1">
            <a:spLocks noChangeArrowheads="1"/>
          </p:cNvSpPr>
          <p:nvPr/>
        </p:nvSpPr>
        <p:spPr bwMode="auto">
          <a:xfrm>
            <a:off x="4573842" y="4821774"/>
            <a:ext cx="1603003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Photosystem </a:t>
            </a:r>
            <a:r>
              <a:rPr lang="en-US" sz="1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</a:p>
        </p:txBody>
      </p:sp>
      <p:sp>
        <p:nvSpPr>
          <p:cNvPr id="30" name="TextBox 18"/>
          <p:cNvSpPr txBox="1">
            <a:spLocks noChangeArrowheads="1"/>
          </p:cNvSpPr>
          <p:nvPr/>
        </p:nvSpPr>
        <p:spPr bwMode="auto">
          <a:xfrm>
            <a:off x="351887" y="5187693"/>
            <a:ext cx="169277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A9AAAC"/>
                </a:solidFill>
                <a:latin typeface="Arial"/>
              </a:rPr>
              <a:t>Photosystem </a:t>
            </a:r>
            <a:r>
              <a:rPr lang="en-US" sz="1800" b="1" dirty="0">
                <a:solidFill>
                  <a:srgbClr val="A9AAAC"/>
                </a:solidFill>
                <a:latin typeface="Times New Roman" pitchFamily="18" charset="0"/>
                <a:cs typeface="Times New Roman" pitchFamily="18" charset="0"/>
              </a:rPr>
              <a:t>II</a:t>
            </a:r>
          </a:p>
        </p:txBody>
      </p:sp>
      <p:sp>
        <p:nvSpPr>
          <p:cNvPr id="31" name="TextBox 20"/>
          <p:cNvSpPr txBox="1">
            <a:spLocks noChangeArrowheads="1"/>
          </p:cNvSpPr>
          <p:nvPr/>
        </p:nvSpPr>
        <p:spPr bwMode="auto">
          <a:xfrm>
            <a:off x="2966493" y="5149594"/>
            <a:ext cx="39350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</a:rPr>
              <a:t>ATP</a:t>
            </a:r>
          </a:p>
        </p:txBody>
      </p:sp>
      <p:sp>
        <p:nvSpPr>
          <p:cNvPr id="32" name="TextBox 11"/>
          <p:cNvSpPr txBox="1">
            <a:spLocks noChangeArrowheads="1"/>
          </p:cNvSpPr>
          <p:nvPr/>
        </p:nvSpPr>
        <p:spPr bwMode="auto">
          <a:xfrm>
            <a:off x="8168582" y="2574196"/>
            <a:ext cx="40075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820"/>
              </a:lnSpc>
            </a:pPr>
            <a:r>
              <a:rPr lang="en-US" sz="1600" b="1" dirty="0" smtClean="0">
                <a:solidFill>
                  <a:srgbClr val="A9AAAC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1600" b="1" dirty="0" smtClean="0">
                <a:solidFill>
                  <a:srgbClr val="A9AAAC"/>
                </a:solidFill>
                <a:latin typeface="Arial"/>
              </a:rPr>
              <a:t> H</a:t>
            </a:r>
            <a:r>
              <a:rPr lang="en-US" sz="1600" b="1" baseline="30000" dirty="0" smtClean="0">
                <a:solidFill>
                  <a:srgbClr val="A9AAAC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1600" b="1" baseline="30000" dirty="0">
              <a:solidFill>
                <a:srgbClr val="A9AAA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2"/>
          <p:cNvSpPr txBox="1">
            <a:spLocks noChangeArrowheads="1"/>
          </p:cNvSpPr>
          <p:nvPr/>
        </p:nvSpPr>
        <p:spPr bwMode="auto">
          <a:xfrm>
            <a:off x="757472" y="1757955"/>
            <a:ext cx="8544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820"/>
              </a:lnSpc>
            </a:pPr>
            <a:r>
              <a:rPr lang="en-US" sz="1600" b="1" dirty="0" smtClean="0">
                <a:solidFill>
                  <a:srgbClr val="A9AAAC"/>
                </a:solidFill>
                <a:latin typeface="Arial"/>
              </a:rPr>
              <a:t>Primary</a:t>
            </a:r>
          </a:p>
          <a:p>
            <a:pPr algn="ctr">
              <a:lnSpc>
                <a:spcPts val="1820"/>
              </a:lnSpc>
            </a:pPr>
            <a:r>
              <a:rPr lang="en-US" sz="1600" b="1" dirty="0" smtClean="0">
                <a:solidFill>
                  <a:srgbClr val="A9AAAC"/>
                </a:solidFill>
                <a:latin typeface="Arial"/>
              </a:rPr>
              <a:t>acceptor</a:t>
            </a:r>
            <a:endParaRPr lang="en-US" sz="1600" b="1" dirty="0">
              <a:solidFill>
                <a:srgbClr val="A9AAAC"/>
              </a:solidFill>
              <a:latin typeface="Arial"/>
            </a:endParaRPr>
          </a:p>
        </p:txBody>
      </p:sp>
      <p:sp>
        <p:nvSpPr>
          <p:cNvPr id="34" name="TextBox 6"/>
          <p:cNvSpPr txBox="1">
            <a:spLocks noChangeArrowheads="1"/>
          </p:cNvSpPr>
          <p:nvPr/>
        </p:nvSpPr>
        <p:spPr bwMode="auto">
          <a:xfrm>
            <a:off x="4900847" y="1407856"/>
            <a:ext cx="8544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/>
              </a:rPr>
              <a:t>Primary</a:t>
            </a:r>
          </a:p>
          <a:p>
            <a:pPr algn="ct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/>
              </a:rPr>
              <a:t>acceptor</a:t>
            </a:r>
            <a:endParaRPr lang="en-US" sz="16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73534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Some organisms such as purple sulfur bacteria have PS </a:t>
            </a:r>
            <a:r>
              <a:rPr lang="en-US" altLang="en-US" dirty="0" smtClean="0">
                <a:latin typeface="+mj-lt"/>
              </a:rPr>
              <a:t>I</a:t>
            </a:r>
            <a:r>
              <a:rPr lang="en-US" altLang="en-US" dirty="0" smtClean="0"/>
              <a:t> but not PS </a:t>
            </a:r>
            <a:r>
              <a:rPr lang="en-US" altLang="en-US" dirty="0" smtClean="0">
                <a:latin typeface="+mj-lt"/>
              </a:rPr>
              <a:t>II (2CO2 + H2S + H2O------2(CH2O) + H2SO4.</a:t>
            </a:r>
          </a:p>
          <a:p>
            <a:r>
              <a:rPr lang="en-US" altLang="en-US" dirty="0" smtClean="0"/>
              <a:t>Cyclic electron flow is thought to have evolved before linear electron flow</a:t>
            </a:r>
          </a:p>
          <a:p>
            <a:r>
              <a:rPr lang="en-US" altLang="en-US" dirty="0" smtClean="0"/>
              <a:t>Cyclic electron flow may protect cells from light-induced damage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32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ATP and NADPH are produced on the side facing the stroma, where the Calvin cycle takes place</a:t>
            </a:r>
          </a:p>
          <a:p>
            <a:r>
              <a:rPr lang="en-US" altLang="en-US" smtClean="0"/>
              <a:t>In summary, light reactions generate ATP and increase the potential energy of electrons by moving them from H</a:t>
            </a:r>
            <a:r>
              <a:rPr lang="en-US" altLang="en-US" baseline="-25000" smtClean="0"/>
              <a:t>2</a:t>
            </a:r>
            <a:r>
              <a:rPr lang="en-US" altLang="en-US" smtClean="0"/>
              <a:t>O to NADPH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606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83"/>
          <a:stretch>
            <a:fillRect/>
          </a:stretch>
        </p:blipFill>
        <p:spPr>
          <a:xfrm>
            <a:off x="298704" y="307848"/>
            <a:ext cx="8546592" cy="62423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11.UN03</a:t>
            </a:r>
            <a:endParaRPr lang="en-US" dirty="0"/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2876545" y="527100"/>
            <a:ext cx="575479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000000"/>
                </a:solidFill>
                <a:latin typeface="Arial"/>
              </a:rPr>
              <a:t>H</a:t>
            </a:r>
            <a:r>
              <a:rPr lang="en-US" b="1" baseline="-25000" dirty="0">
                <a:solidFill>
                  <a:srgbClr val="000000"/>
                </a:solidFill>
                <a:latin typeface="Arial"/>
              </a:rPr>
              <a:t>2</a:t>
            </a:r>
            <a:r>
              <a:rPr lang="en-US" b="1" dirty="0">
                <a:solidFill>
                  <a:srgbClr val="000000"/>
                </a:solidFill>
                <a:latin typeface="Arial"/>
              </a:rPr>
              <a:t>O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449580" y="1330375"/>
            <a:ext cx="750205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000000"/>
                </a:solidFill>
                <a:latin typeface="Arial"/>
              </a:rPr>
              <a:t>Light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4111937" y="1993950"/>
            <a:ext cx="993862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dirty="0" smtClean="0">
                <a:solidFill>
                  <a:srgbClr val="000000"/>
                </a:solidFill>
                <a:latin typeface="Arial"/>
              </a:rPr>
              <a:t>NADP</a:t>
            </a:r>
            <a:r>
              <a:rPr lang="en-US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b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4224650" y="2478138"/>
            <a:ext cx="650819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>
                <a:solidFill>
                  <a:srgbClr val="000000"/>
                </a:solidFill>
                <a:latin typeface="Arial"/>
              </a:rPr>
              <a:t>ADP</a:t>
            </a:r>
          </a:p>
        </p:txBody>
      </p:sp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2240415" y="3125838"/>
            <a:ext cx="1812997" cy="666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600"/>
              </a:lnSpc>
            </a:pPr>
            <a:r>
              <a:rPr lang="en-US" b="1" dirty="0" smtClean="0">
                <a:solidFill>
                  <a:srgbClr val="000000"/>
                </a:solidFill>
                <a:latin typeface="Arial"/>
              </a:rPr>
              <a:t>LIGHT</a:t>
            </a:r>
          </a:p>
          <a:p>
            <a:pPr algn="ctr">
              <a:lnSpc>
                <a:spcPts val="2600"/>
              </a:lnSpc>
            </a:pPr>
            <a:r>
              <a:rPr lang="en-US" b="1" dirty="0" smtClean="0">
                <a:solidFill>
                  <a:srgbClr val="000000"/>
                </a:solidFill>
                <a:latin typeface="Arial"/>
              </a:rPr>
              <a:t>REACTIONS</a:t>
            </a:r>
            <a:endParaRPr lang="en-US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4286568" y="3951338"/>
            <a:ext cx="592726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000000"/>
                </a:solidFill>
                <a:latin typeface="Arial"/>
              </a:rPr>
              <a:t>ATP</a:t>
            </a:r>
          </a:p>
        </p:txBody>
      </p:sp>
      <p:sp>
        <p:nvSpPr>
          <p:cNvPr id="12" name="TextBox 9"/>
          <p:cNvSpPr txBox="1">
            <a:spLocks noChangeArrowheads="1"/>
          </p:cNvSpPr>
          <p:nvPr/>
        </p:nvSpPr>
        <p:spPr bwMode="auto">
          <a:xfrm>
            <a:off x="4035424" y="4521250"/>
            <a:ext cx="1096454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000000"/>
                </a:solidFill>
                <a:latin typeface="Arial"/>
              </a:rPr>
              <a:t>NADPH</a:t>
            </a:r>
          </a:p>
        </p:txBody>
      </p:sp>
      <p:sp>
        <p:nvSpPr>
          <p:cNvPr id="13" name="TextBox 10"/>
          <p:cNvSpPr txBox="1">
            <a:spLocks noChangeArrowheads="1"/>
          </p:cNvSpPr>
          <p:nvPr/>
        </p:nvSpPr>
        <p:spPr bwMode="auto">
          <a:xfrm>
            <a:off x="5925344" y="589012"/>
            <a:ext cx="575479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FFFFFF"/>
                </a:solidFill>
                <a:latin typeface="Arial"/>
              </a:rPr>
              <a:t>CO</a:t>
            </a:r>
            <a:r>
              <a:rPr lang="en-US" b="1" baseline="-25000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1"/>
          <p:cNvSpPr txBox="1">
            <a:spLocks noChangeArrowheads="1"/>
          </p:cNvSpPr>
          <p:nvPr/>
        </p:nvSpPr>
        <p:spPr bwMode="auto">
          <a:xfrm>
            <a:off x="5745163" y="2940100"/>
            <a:ext cx="1123321" cy="666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600"/>
              </a:lnSpc>
            </a:pPr>
            <a:r>
              <a:rPr lang="en-US" b="1" smtClean="0">
                <a:solidFill>
                  <a:srgbClr val="000000"/>
                </a:solidFill>
                <a:latin typeface="Arial"/>
              </a:rPr>
              <a:t>CALVIN</a:t>
            </a:r>
          </a:p>
          <a:p>
            <a:pPr algn="ctr">
              <a:lnSpc>
                <a:spcPts val="2600"/>
              </a:lnSpc>
            </a:pPr>
            <a:r>
              <a:rPr lang="en-US" b="1" smtClean="0">
                <a:solidFill>
                  <a:srgbClr val="000000"/>
                </a:solidFill>
                <a:latin typeface="Arial"/>
              </a:rPr>
              <a:t>CYCLE</a:t>
            </a:r>
            <a:endParaRPr lang="en-US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Box 13"/>
          <p:cNvSpPr txBox="1">
            <a:spLocks noChangeArrowheads="1"/>
          </p:cNvSpPr>
          <p:nvPr/>
        </p:nvSpPr>
        <p:spPr bwMode="auto">
          <a:xfrm>
            <a:off x="2940050" y="5961113"/>
            <a:ext cx="352661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000000"/>
                </a:solidFill>
                <a:latin typeface="Arial"/>
              </a:rPr>
              <a:t>O</a:t>
            </a:r>
            <a:r>
              <a:rPr lang="en-US" b="1" baseline="-25000" dirty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5230021" y="5968255"/>
            <a:ext cx="2175275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000000"/>
                </a:solidFill>
                <a:latin typeface="Arial"/>
              </a:rPr>
              <a:t>[CH</a:t>
            </a:r>
            <a:r>
              <a:rPr lang="en-US" b="1" baseline="-25000" dirty="0">
                <a:solidFill>
                  <a:srgbClr val="000000"/>
                </a:solidFill>
                <a:latin typeface="Arial"/>
              </a:rPr>
              <a:t>2</a:t>
            </a:r>
            <a:r>
              <a:rPr lang="en-US" b="1" dirty="0">
                <a:solidFill>
                  <a:srgbClr val="000000"/>
                </a:solidFill>
                <a:latin typeface="Arial"/>
              </a:rPr>
              <a:t>O] (sugar)</a:t>
            </a:r>
          </a:p>
        </p:txBody>
      </p:sp>
      <p:sp>
        <p:nvSpPr>
          <p:cNvPr id="17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8545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06"/>
          <a:stretch>
            <a:fillRect/>
          </a:stretch>
        </p:blipFill>
        <p:spPr>
          <a:xfrm>
            <a:off x="298704" y="1051560"/>
            <a:ext cx="8546592" cy="47548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11.18</a:t>
            </a:r>
            <a:endParaRPr lang="en-US" dirty="0"/>
          </a:p>
        </p:txBody>
      </p:sp>
      <p:sp>
        <p:nvSpPr>
          <p:cNvPr id="6" name="TextBox 19"/>
          <p:cNvSpPr txBox="1">
            <a:spLocks noChangeArrowheads="1"/>
          </p:cNvSpPr>
          <p:nvPr/>
        </p:nvSpPr>
        <p:spPr bwMode="auto">
          <a:xfrm>
            <a:off x="7122953" y="2479277"/>
            <a:ext cx="639599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</a:rPr>
              <a:t>NADPH</a:t>
            </a:r>
          </a:p>
        </p:txBody>
      </p:sp>
      <p:sp>
        <p:nvSpPr>
          <p:cNvPr id="7" name="TextBox 23"/>
          <p:cNvSpPr txBox="1">
            <a:spLocks noChangeArrowheads="1"/>
          </p:cNvSpPr>
          <p:nvPr/>
        </p:nvSpPr>
        <p:spPr bwMode="auto">
          <a:xfrm>
            <a:off x="8030209" y="3829446"/>
            <a:ext cx="560858" cy="359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400"/>
              </a:lnSpc>
            </a:pPr>
            <a:r>
              <a:rPr lang="en-US" sz="1200" b="1" dirty="0" smtClean="0">
                <a:solidFill>
                  <a:srgbClr val="000000"/>
                </a:solidFill>
                <a:latin typeface="Arial"/>
              </a:rPr>
              <a:t>CALVIN</a:t>
            </a:r>
          </a:p>
          <a:p>
            <a:pPr algn="ctr">
              <a:lnSpc>
                <a:spcPts val="1400"/>
              </a:lnSpc>
            </a:pPr>
            <a:r>
              <a:rPr lang="en-US" sz="1200" b="1" dirty="0" smtClean="0">
                <a:solidFill>
                  <a:srgbClr val="000000"/>
                </a:solidFill>
                <a:latin typeface="Arial"/>
              </a:rPr>
              <a:t>CYCLE</a:t>
            </a:r>
            <a:endParaRPr lang="en-US" sz="12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Box 25"/>
          <p:cNvSpPr txBox="1">
            <a:spLocks noChangeArrowheads="1"/>
          </p:cNvSpPr>
          <p:nvPr/>
        </p:nvSpPr>
        <p:spPr bwMode="auto">
          <a:xfrm>
            <a:off x="447516" y="3223815"/>
            <a:ext cx="2010166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THYLAKOID SPACE</a:t>
            </a:r>
          </a:p>
          <a:p>
            <a:pPr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(high H</a:t>
            </a:r>
            <a:r>
              <a:rPr lang="en-US" sz="14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 concentration)</a:t>
            </a:r>
            <a:endParaRPr lang="en-US" sz="1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Box 29"/>
          <p:cNvSpPr txBox="1">
            <a:spLocks noChangeArrowheads="1"/>
          </p:cNvSpPr>
          <p:nvPr/>
        </p:nvSpPr>
        <p:spPr bwMode="auto">
          <a:xfrm>
            <a:off x="446723" y="4911328"/>
            <a:ext cx="1931619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STROMA</a:t>
            </a:r>
          </a:p>
          <a:p>
            <a:pPr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(low H</a:t>
            </a:r>
            <a:r>
              <a:rPr lang="en-US" sz="14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 concentration)</a:t>
            </a:r>
            <a:endParaRPr lang="en-US" sz="1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Box 31"/>
          <p:cNvSpPr txBox="1">
            <a:spLocks noChangeArrowheads="1"/>
          </p:cNvSpPr>
          <p:nvPr/>
        </p:nvSpPr>
        <p:spPr bwMode="auto">
          <a:xfrm>
            <a:off x="2581857" y="4546203"/>
            <a:ext cx="907300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Thylakoid</a:t>
            </a:r>
          </a:p>
          <a:p>
            <a:pPr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membrane</a:t>
            </a:r>
            <a:endParaRPr lang="en-US" sz="1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Box 33"/>
          <p:cNvSpPr txBox="1">
            <a:spLocks noChangeArrowheads="1"/>
          </p:cNvSpPr>
          <p:nvPr/>
        </p:nvSpPr>
        <p:spPr bwMode="auto">
          <a:xfrm>
            <a:off x="4272655" y="4714478"/>
            <a:ext cx="774251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ATP</a:t>
            </a:r>
          </a:p>
          <a:p>
            <a:pPr algn="ctr"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synthase</a:t>
            </a:r>
            <a:endParaRPr lang="en-US" sz="1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Box 2"/>
          <p:cNvSpPr txBox="1">
            <a:spLocks noChangeArrowheads="1"/>
          </p:cNvSpPr>
          <p:nvPr/>
        </p:nvSpPr>
        <p:spPr bwMode="auto">
          <a:xfrm>
            <a:off x="3153196" y="1149182"/>
            <a:ext cx="1045158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600"/>
              </a:lnSpc>
            </a:pPr>
            <a:r>
              <a:rPr lang="en-US" sz="1400" b="1" smtClean="0">
                <a:solidFill>
                  <a:srgbClr val="000000"/>
                </a:solidFill>
                <a:latin typeface="Arial"/>
              </a:rPr>
              <a:t>Cytochrome</a:t>
            </a:r>
          </a:p>
          <a:p>
            <a:pPr algn="ctr">
              <a:lnSpc>
                <a:spcPts val="1600"/>
              </a:lnSpc>
            </a:pPr>
            <a:r>
              <a:rPr lang="en-US" sz="1400" b="1" smtClean="0">
                <a:solidFill>
                  <a:srgbClr val="000000"/>
                </a:solidFill>
                <a:latin typeface="Arial"/>
              </a:rPr>
              <a:t>complex</a:t>
            </a:r>
            <a:endParaRPr lang="en-US" sz="1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Box 4"/>
          <p:cNvSpPr txBox="1">
            <a:spLocks noChangeArrowheads="1"/>
          </p:cNvSpPr>
          <p:nvPr/>
        </p:nvSpPr>
        <p:spPr bwMode="auto">
          <a:xfrm>
            <a:off x="4514477" y="1393656"/>
            <a:ext cx="1243930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</a:rPr>
              <a:t>Photosystem </a:t>
            </a:r>
            <a:r>
              <a:rPr lang="en-US" sz="1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1849858" y="1401594"/>
            <a:ext cx="1314462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</a:rPr>
              <a:t>Photosystem </a:t>
            </a:r>
            <a:r>
              <a:rPr lang="en-US" sz="1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II</a:t>
            </a:r>
          </a:p>
        </p:txBody>
      </p:sp>
      <p:sp>
        <p:nvSpPr>
          <p:cNvPr id="15" name="TextBox 6"/>
          <p:cNvSpPr txBox="1">
            <a:spLocks noChangeArrowheads="1"/>
          </p:cNvSpPr>
          <p:nvPr/>
        </p:nvSpPr>
        <p:spPr bwMode="auto">
          <a:xfrm>
            <a:off x="4097511" y="1586935"/>
            <a:ext cx="436017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</a:rPr>
              <a:t>Light</a:t>
            </a:r>
          </a:p>
        </p:txBody>
      </p:sp>
      <p:sp>
        <p:nvSpPr>
          <p:cNvPr id="16" name="TextBox 8"/>
          <p:cNvSpPr txBox="1">
            <a:spLocks noChangeArrowheads="1"/>
          </p:cNvSpPr>
          <p:nvPr/>
        </p:nvSpPr>
        <p:spPr bwMode="auto">
          <a:xfrm>
            <a:off x="1429716" y="1723857"/>
            <a:ext cx="436017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</a:rPr>
              <a:t>Light</a:t>
            </a:r>
          </a:p>
        </p:txBody>
      </p:sp>
      <p:sp>
        <p:nvSpPr>
          <p:cNvPr id="17" name="TextBox 9"/>
          <p:cNvSpPr txBox="1">
            <a:spLocks noChangeArrowheads="1"/>
          </p:cNvSpPr>
          <p:nvPr/>
        </p:nvSpPr>
        <p:spPr bwMode="auto">
          <a:xfrm>
            <a:off x="6032125" y="1943725"/>
            <a:ext cx="218008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400" b="1" dirty="0" err="1">
                <a:solidFill>
                  <a:srgbClr val="FFFFFF"/>
                </a:solidFill>
                <a:latin typeface="Arial"/>
              </a:rPr>
              <a:t>Fd</a:t>
            </a:r>
            <a:endParaRPr lang="en-US" sz="14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Box 10"/>
          <p:cNvSpPr txBox="1">
            <a:spLocks noChangeArrowheads="1"/>
          </p:cNvSpPr>
          <p:nvPr/>
        </p:nvSpPr>
        <p:spPr bwMode="auto">
          <a:xfrm>
            <a:off x="3257546" y="2378702"/>
            <a:ext cx="229230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400" b="1" dirty="0" err="1">
                <a:solidFill>
                  <a:srgbClr val="FFFFFF"/>
                </a:solidFill>
                <a:latin typeface="Arial"/>
              </a:rPr>
              <a:t>Pq</a:t>
            </a:r>
            <a:endParaRPr lang="en-US" sz="14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Box 7"/>
          <p:cNvSpPr txBox="1">
            <a:spLocks noChangeArrowheads="1"/>
          </p:cNvSpPr>
          <p:nvPr/>
        </p:nvSpPr>
        <p:spPr bwMode="auto">
          <a:xfrm>
            <a:off x="2684137" y="1670477"/>
            <a:ext cx="347852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</a:rPr>
              <a:t>4 H</a:t>
            </a:r>
            <a:r>
              <a:rPr lang="en-US" sz="1400" b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20" name="TextBox 15"/>
          <p:cNvSpPr txBox="1">
            <a:spLocks noChangeArrowheads="1"/>
          </p:cNvSpPr>
          <p:nvPr/>
        </p:nvSpPr>
        <p:spPr bwMode="auto">
          <a:xfrm>
            <a:off x="6417546" y="1206927"/>
            <a:ext cx="844783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NADP</a:t>
            </a:r>
            <a:r>
              <a:rPr lang="en-US" sz="14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  <a:p>
            <a:pPr algn="ctr">
              <a:lnSpc>
                <a:spcPts val="1600"/>
              </a:lnSpc>
            </a:pPr>
            <a:r>
              <a:rPr lang="en-US" sz="1400" b="1" dirty="0" err="1" smtClean="0">
                <a:solidFill>
                  <a:srgbClr val="000000"/>
                </a:solidFill>
                <a:latin typeface="Arial"/>
              </a:rPr>
              <a:t>reductase</a:t>
            </a:r>
            <a:endParaRPr lang="en-US" sz="1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Box 18"/>
          <p:cNvSpPr txBox="1">
            <a:spLocks noChangeArrowheads="1"/>
          </p:cNvSpPr>
          <p:nvPr/>
        </p:nvSpPr>
        <p:spPr bwMode="auto">
          <a:xfrm>
            <a:off x="7369642" y="1784777"/>
            <a:ext cx="984244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NADP</a:t>
            </a:r>
            <a:r>
              <a:rPr lang="en-US" sz="14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1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</a:t>
            </a: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 H</a:t>
            </a:r>
            <a:r>
              <a:rPr lang="en-US" sz="14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1400" b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1"/>
          <p:cNvSpPr txBox="1">
            <a:spLocks noChangeArrowheads="1"/>
          </p:cNvSpPr>
          <p:nvPr/>
        </p:nvSpPr>
        <p:spPr bwMode="auto">
          <a:xfrm>
            <a:off x="4542383" y="2732088"/>
            <a:ext cx="2196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400" b="1" dirty="0">
                <a:solidFill>
                  <a:srgbClr val="FFFFFF"/>
                </a:solidFill>
                <a:latin typeface="Arial"/>
              </a:rPr>
              <a:t>Pc</a:t>
            </a:r>
          </a:p>
        </p:txBody>
      </p:sp>
      <p:sp>
        <p:nvSpPr>
          <p:cNvPr id="27" name="TextBox 35"/>
          <p:cNvSpPr txBox="1">
            <a:spLocks noChangeArrowheads="1"/>
          </p:cNvSpPr>
          <p:nvPr/>
        </p:nvSpPr>
        <p:spPr bwMode="auto">
          <a:xfrm>
            <a:off x="4780853" y="5136692"/>
            <a:ext cx="3799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400" b="1" dirty="0">
                <a:solidFill>
                  <a:srgbClr val="000000"/>
                </a:solidFill>
                <a:latin typeface="Arial"/>
              </a:rPr>
              <a:t>ADP</a:t>
            </a:r>
          </a:p>
        </p:txBody>
      </p:sp>
      <p:sp>
        <p:nvSpPr>
          <p:cNvPr id="28" name="TextBox 36"/>
          <p:cNvSpPr txBox="1">
            <a:spLocks noChangeArrowheads="1"/>
          </p:cNvSpPr>
          <p:nvPr/>
        </p:nvSpPr>
        <p:spPr bwMode="auto">
          <a:xfrm>
            <a:off x="4915787" y="5299411"/>
            <a:ext cx="10419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29" name="TextBox 37"/>
          <p:cNvSpPr txBox="1">
            <a:spLocks noChangeArrowheads="1"/>
          </p:cNvSpPr>
          <p:nvPr/>
        </p:nvSpPr>
        <p:spPr bwMode="auto">
          <a:xfrm>
            <a:off x="4926108" y="5512930"/>
            <a:ext cx="84960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000" b="1" dirty="0" smtClean="0">
                <a:solidFill>
                  <a:srgbClr val="000000"/>
                </a:solidFill>
                <a:latin typeface="Arial"/>
              </a:rPr>
              <a:t>P</a:t>
            </a:r>
            <a:endParaRPr lang="en-US" sz="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Box 38"/>
          <p:cNvSpPr txBox="1">
            <a:spLocks noChangeArrowheads="1"/>
          </p:cNvSpPr>
          <p:nvPr/>
        </p:nvSpPr>
        <p:spPr bwMode="auto">
          <a:xfrm>
            <a:off x="5392038" y="5451811"/>
            <a:ext cx="20037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400" b="1" dirty="0">
                <a:solidFill>
                  <a:srgbClr val="000000"/>
                </a:solidFill>
                <a:latin typeface="Arial"/>
              </a:rPr>
              <a:t>H</a:t>
            </a:r>
            <a:r>
              <a:rPr lang="en-US" sz="1400" b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31" name="TextBox 39"/>
          <p:cNvSpPr txBox="1">
            <a:spLocks noChangeArrowheads="1"/>
          </p:cNvSpPr>
          <p:nvPr/>
        </p:nvSpPr>
        <p:spPr bwMode="auto">
          <a:xfrm>
            <a:off x="6123878" y="5360530"/>
            <a:ext cx="256480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000" b="1">
                <a:solidFill>
                  <a:srgbClr val="000000"/>
                </a:solidFill>
                <a:latin typeface="Arial"/>
              </a:rPr>
              <a:t>ATP</a:t>
            </a:r>
          </a:p>
        </p:txBody>
      </p:sp>
      <p:sp>
        <p:nvSpPr>
          <p:cNvPr id="32" name="TextBox 37"/>
          <p:cNvSpPr txBox="1">
            <a:spLocks noChangeArrowheads="1"/>
          </p:cNvSpPr>
          <p:nvPr/>
        </p:nvSpPr>
        <p:spPr bwMode="auto">
          <a:xfrm>
            <a:off x="5032479" y="5585112"/>
            <a:ext cx="28854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800" b="1" dirty="0" smtClean="0">
                <a:solidFill>
                  <a:srgbClr val="000000"/>
                </a:solidFill>
                <a:latin typeface="Arial"/>
              </a:rPr>
              <a:t>i</a:t>
            </a:r>
            <a:endParaRPr lang="en-US" sz="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Box 22"/>
          <p:cNvSpPr txBox="1">
            <a:spLocks noChangeArrowheads="1"/>
          </p:cNvSpPr>
          <p:nvPr/>
        </p:nvSpPr>
        <p:spPr bwMode="auto">
          <a:xfrm>
            <a:off x="3725669" y="3245079"/>
            <a:ext cx="34785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400" b="1" dirty="0">
                <a:solidFill>
                  <a:srgbClr val="000000"/>
                </a:solidFill>
                <a:latin typeface="Arial"/>
              </a:rPr>
              <a:t>4 H</a:t>
            </a:r>
            <a:r>
              <a:rPr lang="en-US" sz="1400" b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34" name="TextBox 28"/>
          <p:cNvSpPr txBox="1">
            <a:spLocks noChangeArrowheads="1"/>
          </p:cNvSpPr>
          <p:nvPr/>
        </p:nvSpPr>
        <p:spPr bwMode="auto">
          <a:xfrm>
            <a:off x="2633469" y="3302229"/>
            <a:ext cx="45044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1400" b="1" dirty="0">
                <a:solidFill>
                  <a:srgbClr val="000000"/>
                </a:solidFill>
                <a:latin typeface="Arial"/>
              </a:rPr>
              <a:t>2 H</a:t>
            </a:r>
            <a:r>
              <a:rPr lang="en-US" sz="1400" b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36" name="TextBox 11"/>
          <p:cNvSpPr txBox="1">
            <a:spLocks noChangeArrowheads="1"/>
          </p:cNvSpPr>
          <p:nvPr/>
        </p:nvSpPr>
        <p:spPr bwMode="auto">
          <a:xfrm>
            <a:off x="1891924" y="2981095"/>
            <a:ext cx="240450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000" b="1" dirty="0">
                <a:solidFill>
                  <a:srgbClr val="FFFFFF"/>
                </a:solidFill>
                <a:latin typeface="Arial"/>
              </a:rPr>
              <a:t>H</a:t>
            </a:r>
            <a:r>
              <a:rPr lang="en-US" sz="1000" b="1" baseline="-25000" dirty="0">
                <a:solidFill>
                  <a:srgbClr val="FFFFFF"/>
                </a:solidFill>
                <a:latin typeface="Arial"/>
              </a:rPr>
              <a:t>2</a:t>
            </a:r>
            <a:r>
              <a:rPr lang="en-US" sz="1000" b="1" dirty="0">
                <a:solidFill>
                  <a:srgbClr val="FFFFFF"/>
                </a:solidFill>
                <a:latin typeface="Arial"/>
              </a:rPr>
              <a:t>O</a:t>
            </a:r>
          </a:p>
        </p:txBody>
      </p:sp>
      <p:sp>
        <p:nvSpPr>
          <p:cNvPr id="37" name="TextBox 28"/>
          <p:cNvSpPr txBox="1">
            <a:spLocks noChangeArrowheads="1"/>
          </p:cNvSpPr>
          <p:nvPr/>
        </p:nvSpPr>
        <p:spPr bwMode="auto">
          <a:xfrm>
            <a:off x="2750146" y="3108214"/>
            <a:ext cx="14747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000" b="1" dirty="0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O</a:t>
            </a:r>
            <a:r>
              <a:rPr lang="en-US" sz="1000" b="1" baseline="-25000" dirty="0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2</a:t>
            </a:r>
            <a:endParaRPr lang="en-US" sz="1000" b="1" baseline="-25000" dirty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TextBox 28"/>
          <p:cNvSpPr txBox="1">
            <a:spLocks noChangeArrowheads="1"/>
          </p:cNvSpPr>
          <p:nvPr/>
        </p:nvSpPr>
        <p:spPr bwMode="auto">
          <a:xfrm>
            <a:off x="2530147" y="3117738"/>
            <a:ext cx="70532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0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1</a:t>
            </a:r>
            <a:endParaRPr lang="en-US" sz="1000" b="1" baseline="-250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9" name="TextBox 28"/>
          <p:cNvSpPr txBox="1">
            <a:spLocks noChangeArrowheads="1"/>
          </p:cNvSpPr>
          <p:nvPr/>
        </p:nvSpPr>
        <p:spPr bwMode="auto">
          <a:xfrm>
            <a:off x="2619180" y="3158205"/>
            <a:ext cx="70532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0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2</a:t>
            </a:r>
            <a:endParaRPr lang="en-US" sz="1000" b="1" baseline="-250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TextBox 28"/>
          <p:cNvSpPr txBox="1">
            <a:spLocks noChangeArrowheads="1"/>
          </p:cNvSpPr>
          <p:nvPr/>
        </p:nvSpPr>
        <p:spPr bwMode="auto">
          <a:xfrm>
            <a:off x="2593213" y="3124525"/>
            <a:ext cx="3526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0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/</a:t>
            </a:r>
            <a:endParaRPr lang="en-US" sz="1000" b="1" baseline="-250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TextBox 12"/>
          <p:cNvSpPr txBox="1">
            <a:spLocks noChangeArrowheads="1"/>
          </p:cNvSpPr>
          <p:nvPr/>
        </p:nvSpPr>
        <p:spPr bwMode="auto">
          <a:xfrm>
            <a:off x="2281927" y="2883337"/>
            <a:ext cx="113814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000" b="1" i="1" dirty="0" smtClean="0">
                <a:solidFill>
                  <a:srgbClr val="000000"/>
                </a:solidFill>
                <a:latin typeface="Arial"/>
              </a:rPr>
              <a:t>e</a:t>
            </a:r>
            <a:r>
              <a:rPr lang="en-US" sz="1000" b="1" i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US" sz="800" b="1" i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Box 13"/>
          <p:cNvSpPr txBox="1">
            <a:spLocks noChangeArrowheads="1"/>
          </p:cNvSpPr>
          <p:nvPr/>
        </p:nvSpPr>
        <p:spPr bwMode="auto">
          <a:xfrm>
            <a:off x="2437502" y="2800787"/>
            <a:ext cx="113814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000" b="1" i="1" dirty="0">
                <a:solidFill>
                  <a:srgbClr val="000000"/>
                </a:solidFill>
                <a:latin typeface="Arial"/>
              </a:rPr>
              <a:t>e</a:t>
            </a:r>
            <a:r>
              <a:rPr lang="en-US" sz="1000" b="1" i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US" sz="800" b="1" i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Freeform 3"/>
          <p:cNvSpPr/>
          <p:nvPr/>
        </p:nvSpPr>
        <p:spPr>
          <a:xfrm>
            <a:off x="2174907" y="4383669"/>
            <a:ext cx="366153" cy="269074"/>
          </a:xfrm>
          <a:custGeom>
            <a:avLst/>
            <a:gdLst>
              <a:gd name="connsiteX0" fmla="*/ 359803 w 366153"/>
              <a:gd name="connsiteY0" fmla="*/ 262724 h 269074"/>
              <a:gd name="connsiteX1" fmla="*/ 6350 w 366153"/>
              <a:gd name="connsiteY1" fmla="*/ 6350 h 26907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366153" h="269074">
                <a:moveTo>
                  <a:pt x="359803" y="262724"/>
                </a:moveTo>
                <a:lnTo>
                  <a:pt x="6350" y="6350"/>
                </a:lnTo>
              </a:path>
            </a:pathLst>
          </a:cu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48" name="Freeform 3"/>
          <p:cNvSpPr/>
          <p:nvPr/>
        </p:nvSpPr>
        <p:spPr>
          <a:xfrm>
            <a:off x="2479073" y="1641901"/>
            <a:ext cx="147548" cy="648119"/>
          </a:xfrm>
          <a:custGeom>
            <a:avLst/>
            <a:gdLst>
              <a:gd name="connsiteX0" fmla="*/ 6350 w 147548"/>
              <a:gd name="connsiteY0" fmla="*/ 6350 h 648119"/>
              <a:gd name="connsiteX1" fmla="*/ 141198 w 147548"/>
              <a:gd name="connsiteY1" fmla="*/ 641769 h 64811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47548" h="648119">
                <a:moveTo>
                  <a:pt x="6350" y="6350"/>
                </a:moveTo>
                <a:lnTo>
                  <a:pt x="141198" y="641769"/>
                </a:lnTo>
              </a:path>
            </a:pathLst>
          </a:cu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49" name="Freeform 3"/>
          <p:cNvSpPr/>
          <p:nvPr/>
        </p:nvSpPr>
        <p:spPr>
          <a:xfrm>
            <a:off x="3716779" y="1598859"/>
            <a:ext cx="338924" cy="784529"/>
          </a:xfrm>
          <a:custGeom>
            <a:avLst/>
            <a:gdLst>
              <a:gd name="connsiteX0" fmla="*/ 6350 w 338924"/>
              <a:gd name="connsiteY0" fmla="*/ 6350 h 784529"/>
              <a:gd name="connsiteX1" fmla="*/ 332575 w 338924"/>
              <a:gd name="connsiteY1" fmla="*/ 778179 h 78452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338924" h="784529">
                <a:moveTo>
                  <a:pt x="6350" y="6350"/>
                </a:moveTo>
                <a:lnTo>
                  <a:pt x="332575" y="778179"/>
                </a:lnTo>
              </a:path>
            </a:pathLst>
          </a:cu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50" name="Freeform 3"/>
          <p:cNvSpPr/>
          <p:nvPr/>
        </p:nvSpPr>
        <p:spPr>
          <a:xfrm>
            <a:off x="5132927" y="1636716"/>
            <a:ext cx="85978" cy="540486"/>
          </a:xfrm>
          <a:custGeom>
            <a:avLst/>
            <a:gdLst>
              <a:gd name="connsiteX0" fmla="*/ 6350 w 85978"/>
              <a:gd name="connsiteY0" fmla="*/ 6350 h 540486"/>
              <a:gd name="connsiteX1" fmla="*/ 79629 w 85978"/>
              <a:gd name="connsiteY1" fmla="*/ 534136 h 54048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85978" h="540486">
                <a:moveTo>
                  <a:pt x="6350" y="6350"/>
                </a:moveTo>
                <a:lnTo>
                  <a:pt x="79629" y="534136"/>
                </a:lnTo>
              </a:path>
            </a:pathLst>
          </a:cu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51" name="Freeform 3"/>
          <p:cNvSpPr/>
          <p:nvPr/>
        </p:nvSpPr>
        <p:spPr>
          <a:xfrm>
            <a:off x="6789581" y="1605599"/>
            <a:ext cx="59372" cy="209804"/>
          </a:xfrm>
          <a:custGeom>
            <a:avLst/>
            <a:gdLst>
              <a:gd name="connsiteX0" fmla="*/ 53022 w 59372"/>
              <a:gd name="connsiteY0" fmla="*/ 6350 h 209804"/>
              <a:gd name="connsiteX1" fmla="*/ 6350 w 59372"/>
              <a:gd name="connsiteY1" fmla="*/ 203454 h 20980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59372" h="209804">
                <a:moveTo>
                  <a:pt x="53022" y="6350"/>
                </a:moveTo>
                <a:lnTo>
                  <a:pt x="6350" y="203454"/>
                </a:lnTo>
              </a:path>
            </a:pathLst>
          </a:cu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52" name="Freeform 3"/>
          <p:cNvSpPr/>
          <p:nvPr/>
        </p:nvSpPr>
        <p:spPr>
          <a:xfrm>
            <a:off x="4849608" y="4795669"/>
            <a:ext cx="484708" cy="25400"/>
          </a:xfrm>
          <a:custGeom>
            <a:avLst/>
            <a:gdLst>
              <a:gd name="connsiteX0" fmla="*/ 6350 w 484708"/>
              <a:gd name="connsiteY0" fmla="*/ 6350 h 25400"/>
              <a:gd name="connsiteX1" fmla="*/ 478358 w 484708"/>
              <a:gd name="connsiteY1" fmla="*/ 6350 h 254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484708" h="25400">
                <a:moveTo>
                  <a:pt x="6350" y="6350"/>
                </a:moveTo>
                <a:lnTo>
                  <a:pt x="478358" y="6350"/>
                </a:lnTo>
              </a:path>
            </a:pathLst>
          </a:cu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grpSp>
        <p:nvGrpSpPr>
          <p:cNvPr id="60" name="Group 59"/>
          <p:cNvGrpSpPr/>
          <p:nvPr/>
        </p:nvGrpSpPr>
        <p:grpSpPr>
          <a:xfrm>
            <a:off x="2324096" y="3096649"/>
            <a:ext cx="164592" cy="215444"/>
            <a:chOff x="2324096" y="3096649"/>
            <a:chExt cx="164592" cy="215444"/>
          </a:xfrm>
        </p:grpSpPr>
        <p:sp>
          <p:nvSpPr>
            <p:cNvPr id="61" name="Oval 60"/>
            <p:cNvSpPr/>
            <p:nvPr/>
          </p:nvSpPr>
          <p:spPr>
            <a:xfrm>
              <a:off x="2324096" y="3122075"/>
              <a:ext cx="164592" cy="164592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62" name="TextBox 20"/>
            <p:cNvSpPr txBox="1">
              <a:spLocks noChangeArrowheads="1"/>
            </p:cNvSpPr>
            <p:nvPr/>
          </p:nvSpPr>
          <p:spPr bwMode="auto">
            <a:xfrm>
              <a:off x="2356699" y="3096649"/>
              <a:ext cx="9938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400" b="1" dirty="0" smtClean="0">
                  <a:solidFill>
                    <a:srgbClr val="FFFFFF"/>
                  </a:solidFill>
                  <a:latin typeface="Arial"/>
                </a:rPr>
                <a:t>1</a:t>
              </a:r>
              <a:endParaRPr lang="en-US" sz="1400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3552820" y="2812257"/>
            <a:ext cx="164592" cy="215444"/>
            <a:chOff x="2324096" y="3096649"/>
            <a:chExt cx="164592" cy="215444"/>
          </a:xfrm>
        </p:grpSpPr>
        <p:sp>
          <p:nvSpPr>
            <p:cNvPr id="64" name="Oval 63"/>
            <p:cNvSpPr/>
            <p:nvPr/>
          </p:nvSpPr>
          <p:spPr>
            <a:xfrm>
              <a:off x="2324096" y="3122075"/>
              <a:ext cx="164592" cy="164592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65" name="TextBox 20"/>
            <p:cNvSpPr txBox="1">
              <a:spLocks noChangeArrowheads="1"/>
            </p:cNvSpPr>
            <p:nvPr/>
          </p:nvSpPr>
          <p:spPr bwMode="auto">
            <a:xfrm>
              <a:off x="2356699" y="3096649"/>
              <a:ext cx="9938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400" b="1" dirty="0" smtClean="0">
                  <a:solidFill>
                    <a:srgbClr val="FFFFFF"/>
                  </a:solidFill>
                  <a:latin typeface="Arial"/>
                </a:rPr>
                <a:t>2</a:t>
              </a:r>
              <a:endParaRPr lang="en-US" sz="1400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7143762" y="1640692"/>
            <a:ext cx="164592" cy="215444"/>
            <a:chOff x="2324096" y="3096649"/>
            <a:chExt cx="164592" cy="215444"/>
          </a:xfrm>
        </p:grpSpPr>
        <p:sp>
          <p:nvSpPr>
            <p:cNvPr id="67" name="Oval 66"/>
            <p:cNvSpPr/>
            <p:nvPr/>
          </p:nvSpPr>
          <p:spPr>
            <a:xfrm>
              <a:off x="2324096" y="3122075"/>
              <a:ext cx="164592" cy="164592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68" name="TextBox 20"/>
            <p:cNvSpPr txBox="1">
              <a:spLocks noChangeArrowheads="1"/>
            </p:cNvSpPr>
            <p:nvPr/>
          </p:nvSpPr>
          <p:spPr bwMode="auto">
            <a:xfrm>
              <a:off x="2356699" y="3096649"/>
              <a:ext cx="9938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400" b="1" dirty="0" smtClean="0">
                  <a:solidFill>
                    <a:srgbClr val="FFFFFF"/>
                  </a:solidFill>
                  <a:latin typeface="Arial"/>
                </a:rPr>
                <a:t>3</a:t>
              </a:r>
              <a:endParaRPr lang="en-US" sz="1400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53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9924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298704" y="213360"/>
            <a:ext cx="8546592" cy="64312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11.18a</a:t>
            </a:r>
            <a:endParaRPr lang="en-US" dirty="0"/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2439000" y="698499"/>
            <a:ext cx="169277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Photosystem </a:t>
            </a:r>
            <a:r>
              <a:rPr lang="en-US" sz="1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II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1811951" y="1138236"/>
            <a:ext cx="564257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Light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3543914" y="1062036"/>
            <a:ext cx="447238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4 H</a:t>
            </a:r>
            <a:r>
              <a:rPr lang="en-US" sz="1800" b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4199543" y="358774"/>
            <a:ext cx="1346522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Cytochrome</a:t>
            </a:r>
          </a:p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complex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Box 7"/>
          <p:cNvSpPr txBox="1">
            <a:spLocks noChangeArrowheads="1"/>
          </p:cNvSpPr>
          <p:nvPr/>
        </p:nvSpPr>
        <p:spPr bwMode="auto">
          <a:xfrm>
            <a:off x="5442564" y="944561"/>
            <a:ext cx="564257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Light</a:t>
            </a:r>
          </a:p>
        </p:txBody>
      </p:sp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6060090" y="681036"/>
            <a:ext cx="1603003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Photosystem </a:t>
            </a:r>
            <a:r>
              <a:rPr lang="en-US" sz="1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</a:p>
        </p:txBody>
      </p:sp>
      <p:sp>
        <p:nvSpPr>
          <p:cNvPr id="12" name="TextBox 9"/>
          <p:cNvSpPr txBox="1">
            <a:spLocks noChangeArrowheads="1"/>
          </p:cNvSpPr>
          <p:nvPr/>
        </p:nvSpPr>
        <p:spPr bwMode="auto">
          <a:xfrm>
            <a:off x="8096864" y="1430336"/>
            <a:ext cx="282129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err="1">
                <a:solidFill>
                  <a:srgbClr val="FFFFFF"/>
                </a:solidFill>
                <a:latin typeface="Arial"/>
              </a:rPr>
              <a:t>Fd</a:t>
            </a:r>
            <a:endParaRPr lang="en-US" sz="1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Box 10"/>
          <p:cNvSpPr txBox="1">
            <a:spLocks noChangeArrowheads="1"/>
          </p:cNvSpPr>
          <p:nvPr/>
        </p:nvSpPr>
        <p:spPr bwMode="auto">
          <a:xfrm>
            <a:off x="4321790" y="2017712"/>
            <a:ext cx="294953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err="1">
                <a:solidFill>
                  <a:srgbClr val="FFFFFF"/>
                </a:solidFill>
                <a:latin typeface="Arial"/>
              </a:rPr>
              <a:t>Pq</a:t>
            </a:r>
            <a:endParaRPr lang="en-US" sz="1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Box 11"/>
          <p:cNvSpPr txBox="1">
            <a:spLocks noChangeArrowheads="1"/>
          </p:cNvSpPr>
          <p:nvPr/>
        </p:nvSpPr>
        <p:spPr bwMode="auto">
          <a:xfrm>
            <a:off x="2442190" y="2822575"/>
            <a:ext cx="336631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H</a:t>
            </a:r>
            <a:r>
              <a:rPr lang="en-US" sz="1400" b="1" baseline="-25000" dirty="0">
                <a:solidFill>
                  <a:srgbClr val="FFFFFF"/>
                </a:solidFill>
                <a:latin typeface="Arial"/>
              </a:rPr>
              <a:t>2</a:t>
            </a:r>
            <a:r>
              <a:rPr lang="en-US" sz="1400" b="1" dirty="0">
                <a:solidFill>
                  <a:srgbClr val="FFFFFF"/>
                </a:solidFill>
                <a:latin typeface="Arial"/>
              </a:rPr>
              <a:t>O</a:t>
            </a:r>
          </a:p>
        </p:txBody>
      </p:sp>
      <p:sp>
        <p:nvSpPr>
          <p:cNvPr id="15" name="TextBox 12"/>
          <p:cNvSpPr txBox="1">
            <a:spLocks noChangeArrowheads="1"/>
          </p:cNvSpPr>
          <p:nvPr/>
        </p:nvSpPr>
        <p:spPr bwMode="auto">
          <a:xfrm>
            <a:off x="2969240" y="2688431"/>
            <a:ext cx="158698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400" b="1" i="1" dirty="0" smtClean="0">
                <a:solidFill>
                  <a:srgbClr val="000000"/>
                </a:solidFill>
                <a:latin typeface="Arial"/>
              </a:rPr>
              <a:t>e</a:t>
            </a:r>
            <a:r>
              <a:rPr lang="en-US" sz="1400" b="1" i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US" sz="1400" b="1" i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3"/>
          <p:cNvSpPr txBox="1">
            <a:spLocks noChangeArrowheads="1"/>
          </p:cNvSpPr>
          <p:nvPr/>
        </p:nvSpPr>
        <p:spPr bwMode="auto">
          <a:xfrm>
            <a:off x="3180378" y="2575719"/>
            <a:ext cx="158698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400" b="1" i="1" dirty="0">
                <a:solidFill>
                  <a:srgbClr val="000000"/>
                </a:solidFill>
                <a:latin typeface="Arial"/>
              </a:rPr>
              <a:t>e</a:t>
            </a:r>
            <a:r>
              <a:rPr lang="en-US" sz="1400" b="1" i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</a:p>
        </p:txBody>
      </p:sp>
      <p:sp>
        <p:nvSpPr>
          <p:cNvPr id="18" name="TextBox 15"/>
          <p:cNvSpPr txBox="1">
            <a:spLocks noChangeArrowheads="1"/>
          </p:cNvSpPr>
          <p:nvPr/>
        </p:nvSpPr>
        <p:spPr bwMode="auto">
          <a:xfrm>
            <a:off x="4944088" y="3217861"/>
            <a:ext cx="447238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4 H</a:t>
            </a:r>
            <a:r>
              <a:rPr lang="en-US" sz="1800" b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19" name="TextBox 16"/>
          <p:cNvSpPr txBox="1">
            <a:spLocks noChangeArrowheads="1"/>
          </p:cNvSpPr>
          <p:nvPr/>
        </p:nvSpPr>
        <p:spPr bwMode="auto">
          <a:xfrm>
            <a:off x="6060103" y="2511424"/>
            <a:ext cx="282129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FFFFFF"/>
                </a:solidFill>
                <a:latin typeface="Arial"/>
              </a:rPr>
              <a:t>Pc</a:t>
            </a:r>
          </a:p>
        </p:txBody>
      </p:sp>
      <p:sp>
        <p:nvSpPr>
          <p:cNvPr id="20" name="TextBox 17"/>
          <p:cNvSpPr txBox="1">
            <a:spLocks noChangeArrowheads="1"/>
          </p:cNvSpPr>
          <p:nvPr/>
        </p:nvSpPr>
        <p:spPr bwMode="auto">
          <a:xfrm>
            <a:off x="481626" y="3174999"/>
            <a:ext cx="2596865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THYLAKOID SPACE</a:t>
            </a: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(high H</a:t>
            </a:r>
            <a:r>
              <a:rPr lang="en-US" sz="18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 concentration)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Box 20"/>
          <p:cNvSpPr txBox="1">
            <a:spLocks noChangeArrowheads="1"/>
          </p:cNvSpPr>
          <p:nvPr/>
        </p:nvSpPr>
        <p:spPr bwMode="auto">
          <a:xfrm>
            <a:off x="3455014" y="3285331"/>
            <a:ext cx="578685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1800" b="1" dirty="0">
                <a:solidFill>
                  <a:srgbClr val="000000"/>
                </a:solidFill>
                <a:latin typeface="Arial"/>
              </a:rPr>
              <a:t>2 H</a:t>
            </a:r>
            <a:r>
              <a:rPr lang="en-US" sz="1800" b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23" name="TextBox 21"/>
          <p:cNvSpPr txBox="1">
            <a:spLocks noChangeArrowheads="1"/>
          </p:cNvSpPr>
          <p:nvPr/>
        </p:nvSpPr>
        <p:spPr bwMode="auto">
          <a:xfrm>
            <a:off x="492740" y="5473699"/>
            <a:ext cx="2494273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STROMA</a:t>
            </a: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(low H</a:t>
            </a:r>
            <a:r>
              <a:rPr lang="en-US" sz="18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 concentration)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3379972" y="4972049"/>
            <a:ext cx="1166986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Thylakoid</a:t>
            </a: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membrane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717151" y="5197474"/>
            <a:ext cx="1000274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ATP</a:t>
            </a:r>
          </a:p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synthase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Box 27"/>
          <p:cNvSpPr txBox="1">
            <a:spLocks noChangeArrowheads="1"/>
          </p:cNvSpPr>
          <p:nvPr/>
        </p:nvSpPr>
        <p:spPr bwMode="auto">
          <a:xfrm>
            <a:off x="6393478" y="5784055"/>
            <a:ext cx="487313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ADP</a:t>
            </a:r>
          </a:p>
        </p:txBody>
      </p:sp>
      <p:sp>
        <p:nvSpPr>
          <p:cNvPr id="27" name="TextBox 28"/>
          <p:cNvSpPr txBox="1">
            <a:spLocks noChangeArrowheads="1"/>
          </p:cNvSpPr>
          <p:nvPr/>
        </p:nvSpPr>
        <p:spPr bwMode="auto">
          <a:xfrm>
            <a:off x="6564130" y="6049961"/>
            <a:ext cx="134652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28" name="TextBox 29"/>
          <p:cNvSpPr txBox="1">
            <a:spLocks noChangeArrowheads="1"/>
          </p:cNvSpPr>
          <p:nvPr/>
        </p:nvSpPr>
        <p:spPr bwMode="auto">
          <a:xfrm>
            <a:off x="6569689" y="6273006"/>
            <a:ext cx="120226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P</a:t>
            </a:r>
            <a:endParaRPr lang="en-US" sz="1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Box 30"/>
          <p:cNvSpPr txBox="1">
            <a:spLocks noChangeArrowheads="1"/>
          </p:cNvSpPr>
          <p:nvPr/>
        </p:nvSpPr>
        <p:spPr bwMode="auto">
          <a:xfrm>
            <a:off x="7217387" y="6213474"/>
            <a:ext cx="25648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H</a:t>
            </a:r>
            <a:r>
              <a:rPr lang="en-US" sz="1800" b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30" name="TextBox 31"/>
          <p:cNvSpPr txBox="1">
            <a:spLocks noChangeArrowheads="1"/>
          </p:cNvSpPr>
          <p:nvPr/>
        </p:nvSpPr>
        <p:spPr bwMode="auto">
          <a:xfrm>
            <a:off x="8201640" y="6061869"/>
            <a:ext cx="345736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</a:rPr>
              <a:t>ATP</a:t>
            </a:r>
          </a:p>
        </p:txBody>
      </p:sp>
      <p:sp>
        <p:nvSpPr>
          <p:cNvPr id="31" name="TextBox 29"/>
          <p:cNvSpPr txBox="1">
            <a:spLocks noChangeArrowheads="1"/>
          </p:cNvSpPr>
          <p:nvPr/>
        </p:nvSpPr>
        <p:spPr bwMode="auto">
          <a:xfrm>
            <a:off x="6717425" y="6339758"/>
            <a:ext cx="43282" cy="18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200" b="1" dirty="0" smtClean="0">
                <a:solidFill>
                  <a:srgbClr val="000000"/>
                </a:solidFill>
                <a:latin typeface="Arial"/>
              </a:rPr>
              <a:t>i</a:t>
            </a:r>
            <a:endParaRPr lang="en-US" sz="12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Box 19"/>
          <p:cNvSpPr txBox="1">
            <a:spLocks noChangeArrowheads="1"/>
          </p:cNvSpPr>
          <p:nvPr/>
        </p:nvSpPr>
        <p:spPr bwMode="auto">
          <a:xfrm>
            <a:off x="3303823" y="3110000"/>
            <a:ext cx="25648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 /2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Box 19"/>
          <p:cNvSpPr txBox="1">
            <a:spLocks noChangeArrowheads="1"/>
          </p:cNvSpPr>
          <p:nvPr/>
        </p:nvSpPr>
        <p:spPr bwMode="auto">
          <a:xfrm>
            <a:off x="3599358" y="2980429"/>
            <a:ext cx="235642" cy="239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600" b="1" dirty="0" smtClean="0">
                <a:solidFill>
                  <a:srgbClr val="FFFFFF"/>
                </a:solidFill>
                <a:latin typeface="Arial"/>
              </a:rPr>
              <a:t>O</a:t>
            </a:r>
            <a:r>
              <a:rPr lang="en-US" sz="1600" b="1" baseline="-25000" dirty="0" smtClean="0">
                <a:solidFill>
                  <a:srgbClr val="FFFFFF"/>
                </a:solidFill>
                <a:latin typeface="Arial"/>
              </a:rPr>
              <a:t>2</a:t>
            </a:r>
            <a:endParaRPr lang="en-US" sz="1600" b="1" baseline="-250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Box 19"/>
          <p:cNvSpPr txBox="1">
            <a:spLocks noChangeArrowheads="1"/>
          </p:cNvSpPr>
          <p:nvPr/>
        </p:nvSpPr>
        <p:spPr bwMode="auto">
          <a:xfrm>
            <a:off x="3211131" y="3056331"/>
            <a:ext cx="19236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 1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Freeform 34"/>
          <p:cNvSpPr/>
          <p:nvPr/>
        </p:nvSpPr>
        <p:spPr>
          <a:xfrm>
            <a:off x="2843383" y="4727982"/>
            <a:ext cx="499414" cy="367487"/>
          </a:xfrm>
          <a:custGeom>
            <a:avLst/>
            <a:gdLst>
              <a:gd name="connsiteX0" fmla="*/ 489889 w 499414"/>
              <a:gd name="connsiteY0" fmla="*/ 357962 h 367487"/>
              <a:gd name="connsiteX1" fmla="*/ 9525 w 499414"/>
              <a:gd name="connsiteY1" fmla="*/ 9525 h 36748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499414" h="367487">
                <a:moveTo>
                  <a:pt x="489889" y="357962"/>
                </a:moveTo>
                <a:lnTo>
                  <a:pt x="9525" y="9525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6" name="Freeform 3"/>
          <p:cNvSpPr/>
          <p:nvPr/>
        </p:nvSpPr>
        <p:spPr>
          <a:xfrm>
            <a:off x="3256775" y="1001709"/>
            <a:ext cx="202323" cy="882637"/>
          </a:xfrm>
          <a:custGeom>
            <a:avLst/>
            <a:gdLst>
              <a:gd name="connsiteX0" fmla="*/ 9525 w 202323"/>
              <a:gd name="connsiteY0" fmla="*/ 9525 h 882637"/>
              <a:gd name="connsiteX1" fmla="*/ 192798 w 202323"/>
              <a:gd name="connsiteY1" fmla="*/ 873112 h 88263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02323" h="882637">
                <a:moveTo>
                  <a:pt x="9525" y="9525"/>
                </a:moveTo>
                <a:lnTo>
                  <a:pt x="192798" y="873112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7" name="Freeform 3"/>
          <p:cNvSpPr/>
          <p:nvPr/>
        </p:nvSpPr>
        <p:spPr>
          <a:xfrm>
            <a:off x="4938905" y="943214"/>
            <a:ext cx="462381" cy="1068019"/>
          </a:xfrm>
          <a:custGeom>
            <a:avLst/>
            <a:gdLst>
              <a:gd name="connsiteX0" fmla="*/ 9525 w 462381"/>
              <a:gd name="connsiteY0" fmla="*/ 9525 h 1068019"/>
              <a:gd name="connsiteX1" fmla="*/ 452856 w 462381"/>
              <a:gd name="connsiteY1" fmla="*/ 1058494 h 106801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462381" h="1068019">
                <a:moveTo>
                  <a:pt x="9525" y="9525"/>
                </a:moveTo>
                <a:lnTo>
                  <a:pt x="452856" y="1058494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8" name="Freeform 3"/>
          <p:cNvSpPr/>
          <p:nvPr/>
        </p:nvSpPr>
        <p:spPr>
          <a:xfrm>
            <a:off x="6863550" y="994666"/>
            <a:ext cx="118643" cy="736333"/>
          </a:xfrm>
          <a:custGeom>
            <a:avLst/>
            <a:gdLst>
              <a:gd name="connsiteX0" fmla="*/ 9525 w 118643"/>
              <a:gd name="connsiteY0" fmla="*/ 9525 h 736333"/>
              <a:gd name="connsiteX1" fmla="*/ 109118 w 118643"/>
              <a:gd name="connsiteY1" fmla="*/ 726808 h 73633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18643" h="736333">
                <a:moveTo>
                  <a:pt x="9525" y="9525"/>
                </a:moveTo>
                <a:lnTo>
                  <a:pt x="109118" y="726808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9" name="Freeform 3"/>
          <p:cNvSpPr/>
          <p:nvPr/>
        </p:nvSpPr>
        <p:spPr>
          <a:xfrm>
            <a:off x="6478483" y="5287903"/>
            <a:ext cx="660552" cy="38100"/>
          </a:xfrm>
          <a:custGeom>
            <a:avLst/>
            <a:gdLst>
              <a:gd name="connsiteX0" fmla="*/ 9525 w 660552"/>
              <a:gd name="connsiteY0" fmla="*/ 9525 h 38100"/>
              <a:gd name="connsiteX1" fmla="*/ 651027 w 660552"/>
              <a:gd name="connsiteY1" fmla="*/ 9525 h 381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660552" h="38100">
                <a:moveTo>
                  <a:pt x="9525" y="9525"/>
                </a:moveTo>
                <a:lnTo>
                  <a:pt x="651027" y="9525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3038476" y="2992297"/>
            <a:ext cx="219456" cy="256480"/>
            <a:chOff x="3040857" y="3006584"/>
            <a:chExt cx="219456" cy="256480"/>
          </a:xfrm>
        </p:grpSpPr>
        <p:sp>
          <p:nvSpPr>
            <p:cNvPr id="41" name="Oval 40"/>
            <p:cNvSpPr/>
            <p:nvPr/>
          </p:nvSpPr>
          <p:spPr>
            <a:xfrm>
              <a:off x="3040857" y="3020524"/>
              <a:ext cx="219456" cy="228600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42" name="TextBox 19"/>
            <p:cNvSpPr txBox="1">
              <a:spLocks noChangeArrowheads="1"/>
            </p:cNvSpPr>
            <p:nvPr/>
          </p:nvSpPr>
          <p:spPr bwMode="auto">
            <a:xfrm>
              <a:off x="3086465" y="3006584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lnSpc>
                  <a:spcPts val="2000"/>
                </a:lnSpc>
              </a:pPr>
              <a:r>
                <a:rPr lang="en-US" sz="1800" b="1" dirty="0" smtClean="0">
                  <a:solidFill>
                    <a:srgbClr val="FFFFFF"/>
                  </a:solidFill>
                  <a:latin typeface="Arial"/>
                </a:rPr>
                <a:t>1</a:t>
              </a:r>
              <a:endParaRPr lang="en-US" sz="1800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4710114" y="2609848"/>
            <a:ext cx="219456" cy="256480"/>
            <a:chOff x="3040857" y="3006584"/>
            <a:chExt cx="219456" cy="256480"/>
          </a:xfrm>
        </p:grpSpPr>
        <p:sp>
          <p:nvSpPr>
            <p:cNvPr id="44" name="Oval 43"/>
            <p:cNvSpPr/>
            <p:nvPr/>
          </p:nvSpPr>
          <p:spPr>
            <a:xfrm>
              <a:off x="3040857" y="3020524"/>
              <a:ext cx="219456" cy="228600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45" name="TextBox 19"/>
            <p:cNvSpPr txBox="1">
              <a:spLocks noChangeArrowheads="1"/>
            </p:cNvSpPr>
            <p:nvPr/>
          </p:nvSpPr>
          <p:spPr bwMode="auto">
            <a:xfrm>
              <a:off x="3086465" y="3006584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lnSpc>
                  <a:spcPts val="2000"/>
                </a:lnSpc>
              </a:pPr>
              <a:r>
                <a:rPr lang="en-US" sz="1800" b="1" dirty="0" smtClean="0">
                  <a:solidFill>
                    <a:srgbClr val="FFFFFF"/>
                  </a:solidFill>
                  <a:latin typeface="Arial"/>
                </a:rPr>
                <a:t>2</a:t>
              </a:r>
              <a:endParaRPr lang="en-US" sz="1800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6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42008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694944" y="213360"/>
            <a:ext cx="7754112" cy="64312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11.18b</a:t>
            </a:r>
            <a:endParaRPr lang="en-US" dirty="0"/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760696" y="351482"/>
            <a:ext cx="1346522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Cytochrome</a:t>
            </a:r>
          </a:p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complex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2006601" y="940445"/>
            <a:ext cx="564257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Light</a:t>
            </a: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2618581" y="681682"/>
            <a:ext cx="1603003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Photosystem </a:t>
            </a:r>
            <a:r>
              <a:rPr lang="en-US" sz="1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4629151" y="1430982"/>
            <a:ext cx="282129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FFFFFF"/>
                </a:solidFill>
                <a:latin typeface="Arial"/>
              </a:rPr>
              <a:t>Fd</a:t>
            </a:r>
          </a:p>
        </p:txBody>
      </p:sp>
      <p:sp>
        <p:nvSpPr>
          <p:cNvPr id="10" name="TextBox 7"/>
          <p:cNvSpPr txBox="1">
            <a:spLocks noChangeArrowheads="1"/>
          </p:cNvSpPr>
          <p:nvPr/>
        </p:nvSpPr>
        <p:spPr bwMode="auto">
          <a:xfrm>
            <a:off x="5178488" y="433239"/>
            <a:ext cx="1090042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NADP</a:t>
            </a:r>
            <a:r>
              <a:rPr lang="en-US" sz="18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  <a:p>
            <a:pPr algn="ctr">
              <a:lnSpc>
                <a:spcPts val="2000"/>
              </a:lnSpc>
            </a:pPr>
            <a:r>
              <a:rPr lang="en-US" sz="1800" b="1" dirty="0" err="1" smtClean="0">
                <a:solidFill>
                  <a:srgbClr val="000000"/>
                </a:solidFill>
                <a:latin typeface="Arial"/>
              </a:rPr>
              <a:t>reductase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Box 10"/>
          <p:cNvSpPr txBox="1">
            <a:spLocks noChangeArrowheads="1"/>
          </p:cNvSpPr>
          <p:nvPr/>
        </p:nvSpPr>
        <p:spPr bwMode="auto">
          <a:xfrm>
            <a:off x="6454774" y="1215876"/>
            <a:ext cx="74219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NADP</a:t>
            </a:r>
            <a:r>
              <a:rPr lang="en-US" sz="18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1800" b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1"/>
          <p:cNvSpPr txBox="1">
            <a:spLocks noChangeArrowheads="1"/>
          </p:cNvSpPr>
          <p:nvPr/>
        </p:nvSpPr>
        <p:spPr bwMode="auto">
          <a:xfrm>
            <a:off x="873125" y="2013596"/>
            <a:ext cx="294953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err="1">
                <a:solidFill>
                  <a:srgbClr val="FFFFFF"/>
                </a:solidFill>
                <a:latin typeface="Arial"/>
              </a:rPr>
              <a:t>Pq</a:t>
            </a:r>
            <a:endParaRPr lang="en-US" sz="1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Box 13"/>
          <p:cNvSpPr txBox="1">
            <a:spLocks noChangeArrowheads="1"/>
          </p:cNvSpPr>
          <p:nvPr/>
        </p:nvSpPr>
        <p:spPr bwMode="auto">
          <a:xfrm>
            <a:off x="1505741" y="3215333"/>
            <a:ext cx="44884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4 H</a:t>
            </a:r>
            <a:r>
              <a:rPr lang="en-US" sz="1800" b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16" name="TextBox 14"/>
          <p:cNvSpPr txBox="1">
            <a:spLocks noChangeArrowheads="1"/>
          </p:cNvSpPr>
          <p:nvPr/>
        </p:nvSpPr>
        <p:spPr bwMode="auto">
          <a:xfrm>
            <a:off x="2611438" y="2516832"/>
            <a:ext cx="282129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FFFFFF"/>
                </a:solidFill>
                <a:latin typeface="Arial"/>
              </a:rPr>
              <a:t>Pc</a:t>
            </a:r>
          </a:p>
        </p:txBody>
      </p:sp>
      <p:sp>
        <p:nvSpPr>
          <p:cNvPr id="17" name="TextBox 15"/>
          <p:cNvSpPr txBox="1">
            <a:spLocks noChangeArrowheads="1"/>
          </p:cNvSpPr>
          <p:nvPr/>
        </p:nvSpPr>
        <p:spPr bwMode="auto">
          <a:xfrm>
            <a:off x="2594765" y="2989114"/>
            <a:ext cx="2596865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THYLAKOID SPACE</a:t>
            </a: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(high H</a:t>
            </a:r>
            <a:r>
              <a:rPr lang="en-US" sz="18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 concentration)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6115492" y="2153295"/>
            <a:ext cx="820738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NADPH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7312231" y="3986064"/>
            <a:ext cx="7713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/>
              </a:rPr>
              <a:t>CALVIN</a:t>
            </a:r>
          </a:p>
          <a:p>
            <a:pPr algn="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/>
              </a:rPr>
              <a:t>CYCLE</a:t>
            </a:r>
            <a:endParaRPr lang="en-US" sz="16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Box 20"/>
          <p:cNvSpPr txBox="1">
            <a:spLocks noChangeArrowheads="1"/>
          </p:cNvSpPr>
          <p:nvPr/>
        </p:nvSpPr>
        <p:spPr bwMode="auto">
          <a:xfrm>
            <a:off x="2271661" y="5202882"/>
            <a:ext cx="1000274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ATP</a:t>
            </a:r>
          </a:p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synthase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Box 22"/>
          <p:cNvSpPr txBox="1">
            <a:spLocks noChangeArrowheads="1"/>
          </p:cNvSpPr>
          <p:nvPr/>
        </p:nvSpPr>
        <p:spPr bwMode="auto">
          <a:xfrm>
            <a:off x="2943226" y="5787082"/>
            <a:ext cx="487313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</a:rPr>
              <a:t>ADP</a:t>
            </a:r>
          </a:p>
        </p:txBody>
      </p:sp>
      <p:sp>
        <p:nvSpPr>
          <p:cNvPr id="22" name="TextBox 23"/>
          <p:cNvSpPr txBox="1">
            <a:spLocks noChangeArrowheads="1"/>
          </p:cNvSpPr>
          <p:nvPr/>
        </p:nvSpPr>
        <p:spPr bwMode="auto">
          <a:xfrm>
            <a:off x="3123402" y="6052988"/>
            <a:ext cx="134652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23" name="TextBox 24"/>
          <p:cNvSpPr txBox="1">
            <a:spLocks noChangeArrowheads="1"/>
          </p:cNvSpPr>
          <p:nvPr/>
        </p:nvSpPr>
        <p:spPr bwMode="auto">
          <a:xfrm>
            <a:off x="3131342" y="6271271"/>
            <a:ext cx="120226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/>
              </a:rPr>
              <a:t>P</a:t>
            </a:r>
            <a:endParaRPr lang="en-US" sz="1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Box 26"/>
          <p:cNvSpPr txBox="1">
            <a:spLocks noChangeArrowheads="1"/>
          </p:cNvSpPr>
          <p:nvPr/>
        </p:nvSpPr>
        <p:spPr bwMode="auto">
          <a:xfrm>
            <a:off x="3776659" y="6214120"/>
            <a:ext cx="25648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H</a:t>
            </a:r>
            <a:r>
              <a:rPr lang="en-US" sz="1800" b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25" name="TextBox 27"/>
          <p:cNvSpPr txBox="1">
            <a:spLocks noChangeArrowheads="1"/>
          </p:cNvSpPr>
          <p:nvPr/>
        </p:nvSpPr>
        <p:spPr bwMode="auto">
          <a:xfrm>
            <a:off x="4760912" y="6062515"/>
            <a:ext cx="345736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</a:rPr>
              <a:t>ATP</a:t>
            </a:r>
          </a:p>
        </p:txBody>
      </p:sp>
      <p:sp>
        <p:nvSpPr>
          <p:cNvPr id="26" name="TextBox 28"/>
          <p:cNvSpPr txBox="1">
            <a:spLocks noChangeArrowheads="1"/>
          </p:cNvSpPr>
          <p:nvPr/>
        </p:nvSpPr>
        <p:spPr bwMode="auto">
          <a:xfrm>
            <a:off x="5716592" y="5696595"/>
            <a:ext cx="2494273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STROMA</a:t>
            </a: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(low H</a:t>
            </a:r>
            <a:r>
              <a:rPr lang="en-US" sz="18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 concentration)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Box 10"/>
          <p:cNvSpPr txBox="1">
            <a:spLocks noChangeArrowheads="1"/>
          </p:cNvSpPr>
          <p:nvPr/>
        </p:nvSpPr>
        <p:spPr bwMode="auto">
          <a:xfrm>
            <a:off x="7294711" y="1215283"/>
            <a:ext cx="444032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1800" b="1" dirty="0">
                <a:solidFill>
                  <a:srgbClr val="000000"/>
                </a:solidFill>
                <a:latin typeface="Arial"/>
              </a:rPr>
              <a:t>H</a:t>
            </a:r>
            <a:r>
              <a:rPr lang="en-US" sz="1800" b="1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28" name="TextBox 24"/>
          <p:cNvSpPr txBox="1">
            <a:spLocks noChangeArrowheads="1"/>
          </p:cNvSpPr>
          <p:nvPr/>
        </p:nvSpPr>
        <p:spPr bwMode="auto">
          <a:xfrm>
            <a:off x="3274316" y="6342910"/>
            <a:ext cx="43282" cy="18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200" b="1" dirty="0" smtClean="0">
                <a:solidFill>
                  <a:srgbClr val="000000"/>
                </a:solidFill>
                <a:latin typeface="Arial"/>
              </a:rPr>
              <a:t>i</a:t>
            </a:r>
            <a:endParaRPr lang="en-US" sz="12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Freeform 3"/>
          <p:cNvSpPr/>
          <p:nvPr/>
        </p:nvSpPr>
        <p:spPr>
          <a:xfrm>
            <a:off x="1495633" y="945351"/>
            <a:ext cx="462381" cy="1068019"/>
          </a:xfrm>
          <a:custGeom>
            <a:avLst/>
            <a:gdLst>
              <a:gd name="connsiteX0" fmla="*/ 9525 w 462381"/>
              <a:gd name="connsiteY0" fmla="*/ 9525 h 1068019"/>
              <a:gd name="connsiteX1" fmla="*/ 452856 w 462381"/>
              <a:gd name="connsiteY1" fmla="*/ 1058494 h 106801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462381" h="1068019">
                <a:moveTo>
                  <a:pt x="9525" y="9525"/>
                </a:moveTo>
                <a:lnTo>
                  <a:pt x="452856" y="1058494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0" name="Freeform 3"/>
          <p:cNvSpPr/>
          <p:nvPr/>
        </p:nvSpPr>
        <p:spPr>
          <a:xfrm>
            <a:off x="3420279" y="996803"/>
            <a:ext cx="118643" cy="736333"/>
          </a:xfrm>
          <a:custGeom>
            <a:avLst/>
            <a:gdLst>
              <a:gd name="connsiteX0" fmla="*/ 9525 w 118643"/>
              <a:gd name="connsiteY0" fmla="*/ 9525 h 736333"/>
              <a:gd name="connsiteX1" fmla="*/ 109118 w 118643"/>
              <a:gd name="connsiteY1" fmla="*/ 726808 h 73633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18643" h="736333">
                <a:moveTo>
                  <a:pt x="9525" y="9525"/>
                </a:moveTo>
                <a:lnTo>
                  <a:pt x="109118" y="726808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1" name="Freeform 3"/>
          <p:cNvSpPr/>
          <p:nvPr/>
        </p:nvSpPr>
        <p:spPr>
          <a:xfrm>
            <a:off x="5671802" y="954510"/>
            <a:ext cx="82473" cy="286931"/>
          </a:xfrm>
          <a:custGeom>
            <a:avLst/>
            <a:gdLst>
              <a:gd name="connsiteX0" fmla="*/ 72948 w 82473"/>
              <a:gd name="connsiteY0" fmla="*/ 9525 h 286931"/>
              <a:gd name="connsiteX1" fmla="*/ 9525 w 82473"/>
              <a:gd name="connsiteY1" fmla="*/ 277406 h 28693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82473" h="286931">
                <a:moveTo>
                  <a:pt x="72948" y="9525"/>
                </a:moveTo>
                <a:lnTo>
                  <a:pt x="9525" y="277406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2" name="Freeform 3"/>
          <p:cNvSpPr/>
          <p:nvPr/>
        </p:nvSpPr>
        <p:spPr>
          <a:xfrm>
            <a:off x="3035211" y="5290040"/>
            <a:ext cx="660552" cy="38100"/>
          </a:xfrm>
          <a:custGeom>
            <a:avLst/>
            <a:gdLst>
              <a:gd name="connsiteX0" fmla="*/ 9525 w 660552"/>
              <a:gd name="connsiteY0" fmla="*/ 9525 h 38100"/>
              <a:gd name="connsiteX1" fmla="*/ 651027 w 660552"/>
              <a:gd name="connsiteY1" fmla="*/ 9525 h 381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660552" h="38100">
                <a:moveTo>
                  <a:pt x="9525" y="9525"/>
                </a:moveTo>
                <a:lnTo>
                  <a:pt x="651027" y="9525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1264036" y="2607321"/>
            <a:ext cx="228600" cy="256480"/>
            <a:chOff x="1264036" y="2616845"/>
            <a:chExt cx="228600" cy="256480"/>
          </a:xfrm>
        </p:grpSpPr>
        <p:sp>
          <p:nvSpPr>
            <p:cNvPr id="34" name="Oval 33"/>
            <p:cNvSpPr/>
            <p:nvPr/>
          </p:nvSpPr>
          <p:spPr>
            <a:xfrm>
              <a:off x="1264036" y="2630785"/>
              <a:ext cx="228600" cy="228600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35" name="TextBox 12"/>
            <p:cNvSpPr txBox="1">
              <a:spLocks noChangeArrowheads="1"/>
            </p:cNvSpPr>
            <p:nvPr/>
          </p:nvSpPr>
          <p:spPr bwMode="auto">
            <a:xfrm>
              <a:off x="1314216" y="2616845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lnSpc>
                  <a:spcPts val="2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Arial"/>
                </a:rPr>
                <a:t>2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6146800" y="1019175"/>
            <a:ext cx="228600" cy="256480"/>
            <a:chOff x="1264036" y="2616845"/>
            <a:chExt cx="228600" cy="256480"/>
          </a:xfrm>
        </p:grpSpPr>
        <p:sp>
          <p:nvSpPr>
            <p:cNvPr id="37" name="Oval 36"/>
            <p:cNvSpPr/>
            <p:nvPr/>
          </p:nvSpPr>
          <p:spPr>
            <a:xfrm>
              <a:off x="1264036" y="2630785"/>
              <a:ext cx="228600" cy="228600"/>
            </a:xfrm>
            <a:prstGeom prst="ellipse">
              <a:avLst/>
            </a:prstGeom>
            <a:solidFill>
              <a:srgbClr val="0090BD"/>
            </a:solidFill>
            <a:ln>
              <a:solidFill>
                <a:srgbClr val="009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FFFFFF"/>
                </a:solidFill>
              </a:endParaRPr>
            </a:p>
          </p:txBody>
        </p:sp>
        <p:sp>
          <p:nvSpPr>
            <p:cNvPr id="38" name="TextBox 12"/>
            <p:cNvSpPr txBox="1">
              <a:spLocks noChangeArrowheads="1"/>
            </p:cNvSpPr>
            <p:nvPr/>
          </p:nvSpPr>
          <p:spPr bwMode="auto">
            <a:xfrm>
              <a:off x="1314216" y="2616845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lnSpc>
                  <a:spcPts val="2000"/>
                </a:lnSpc>
              </a:pPr>
              <a:r>
                <a:rPr lang="en-US" sz="1800" b="1" dirty="0" smtClean="0">
                  <a:solidFill>
                    <a:srgbClr val="FFFFFF"/>
                  </a:solidFill>
                  <a:latin typeface="Arial"/>
                </a:rPr>
                <a:t>3</a:t>
              </a:r>
              <a:endParaRPr lang="en-US" sz="1800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9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38500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569660"/>
          </a:xfrm>
        </p:spPr>
        <p:txBody>
          <a:bodyPr/>
          <a:lstStyle/>
          <a:p>
            <a:r>
              <a:rPr lang="en-US" altLang="en-US" dirty="0" smtClean="0"/>
              <a:t>Concept 11.3: The Calvin cycle uses the chemical energy of ATP and NADPH to reduce CO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 to sugar</a:t>
            </a:r>
          </a:p>
        </p:txBody>
      </p:sp>
      <p:sp>
        <p:nvSpPr>
          <p:cNvPr id="1689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 Calvin cycle, like the citric acid cycle, regenerates its starting material after molecules enter and leave the cycle</a:t>
            </a:r>
          </a:p>
          <a:p>
            <a:r>
              <a:rPr lang="en-US" altLang="en-US" smtClean="0"/>
              <a:t>The Calvin cycle is anabolic; it builds sugar from smaller molecules by using ATP and the reducing power of electrons carried by NADPH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817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Carbon enters the cycle as CO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 and leaves as a sugar named </a:t>
            </a:r>
            <a:r>
              <a:rPr lang="en-US" altLang="en-US" b="1" dirty="0" smtClean="0"/>
              <a:t>glyceraldehyde 3-phospate (G3P)</a:t>
            </a:r>
          </a:p>
          <a:p>
            <a:r>
              <a:rPr lang="en-US" altLang="en-US" dirty="0" smtClean="0"/>
              <a:t>For net synthesis of one G3P, the cycle must take place three times, fixing three molecules of CO</a:t>
            </a:r>
            <a:r>
              <a:rPr lang="en-US" altLang="en-US" baseline="-25000" dirty="0" smtClean="0"/>
              <a:t>2</a:t>
            </a:r>
          </a:p>
          <a:p>
            <a:r>
              <a:rPr lang="en-US" altLang="en-US" dirty="0" smtClean="0"/>
              <a:t>The Calvin cycle has three phases: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 smtClean="0"/>
              <a:t> </a:t>
            </a:r>
            <a:r>
              <a:rPr lang="en-US" altLang="en-US" b="1" dirty="0" smtClean="0"/>
              <a:t>Carbon fixation </a:t>
            </a:r>
            <a:r>
              <a:rPr lang="en-US" altLang="en-US" dirty="0" smtClean="0"/>
              <a:t>(catalyzed by </a:t>
            </a:r>
            <a:r>
              <a:rPr lang="en-US" altLang="en-US" b="1" dirty="0" err="1" smtClean="0"/>
              <a:t>rubisco</a:t>
            </a:r>
            <a:r>
              <a:rPr lang="en-US" altLang="en-US" dirty="0" smtClean="0"/>
              <a:t>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 smtClean="0"/>
              <a:t> </a:t>
            </a:r>
            <a:r>
              <a:rPr lang="en-US" altLang="en-US" b="1" dirty="0" smtClean="0"/>
              <a:t>Reduction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 smtClean="0"/>
              <a:t> </a:t>
            </a:r>
            <a:r>
              <a:rPr lang="en-US" altLang="en-US" b="1" dirty="0" smtClean="0"/>
              <a:t>Regeneration of the CO</a:t>
            </a:r>
            <a:r>
              <a:rPr lang="en-US" altLang="en-US" b="1" baseline="-25000" dirty="0" smtClean="0"/>
              <a:t>2</a:t>
            </a:r>
            <a:r>
              <a:rPr lang="en-US" altLang="en-US" b="1" dirty="0" smtClean="0"/>
              <a:t> acceptor (</a:t>
            </a:r>
            <a:r>
              <a:rPr lang="en-US" altLang="en-US" b="1" dirty="0" err="1" smtClean="0"/>
              <a:t>RuBP</a:t>
            </a:r>
            <a:r>
              <a:rPr lang="en-US" altLang="en-US" b="1" dirty="0" smtClean="0"/>
              <a:t>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114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807720" y="213360"/>
            <a:ext cx="7528560" cy="64312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11.19_1</a:t>
            </a:r>
            <a:endParaRPr lang="en-US" dirty="0"/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4255640" y="229343"/>
            <a:ext cx="3872855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Input 3 CO</a:t>
            </a:r>
            <a:r>
              <a:rPr lang="en-US" sz="1800" b="1" baseline="-25000" dirty="0">
                <a:solidFill>
                  <a:srgbClr val="000000"/>
                </a:solidFill>
                <a:latin typeface="Arial"/>
              </a:rPr>
              <a:t>2</a:t>
            </a:r>
            <a:r>
              <a:rPr lang="en-US" sz="1800" b="1" dirty="0">
                <a:solidFill>
                  <a:srgbClr val="000000"/>
                </a:solidFill>
                <a:latin typeface="Arial"/>
              </a:rPr>
              <a:t>, entering one per cycle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533320" y="954831"/>
            <a:ext cx="910506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err="1">
                <a:solidFill>
                  <a:srgbClr val="FFFFFF"/>
                </a:solidFill>
                <a:latin typeface="Arial"/>
              </a:rPr>
              <a:t>Rubisco</a:t>
            </a:r>
            <a:endParaRPr lang="en-US" sz="1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TextBox 8"/>
          <p:cNvSpPr txBox="1">
            <a:spLocks noChangeArrowheads="1"/>
          </p:cNvSpPr>
          <p:nvPr/>
        </p:nvSpPr>
        <p:spPr bwMode="auto">
          <a:xfrm>
            <a:off x="5544687" y="816718"/>
            <a:ext cx="2705869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Phase 1: Carbon fixation</a:t>
            </a:r>
          </a:p>
        </p:txBody>
      </p:sp>
      <p:sp>
        <p:nvSpPr>
          <p:cNvPr id="9" name="TextBox 11"/>
          <p:cNvSpPr txBox="1">
            <a:spLocks noChangeArrowheads="1"/>
          </p:cNvSpPr>
          <p:nvPr/>
        </p:nvSpPr>
        <p:spPr bwMode="auto">
          <a:xfrm>
            <a:off x="2535580" y="2138263"/>
            <a:ext cx="556243" cy="239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600" b="1" dirty="0" err="1">
                <a:solidFill>
                  <a:srgbClr val="000000"/>
                </a:solidFill>
                <a:latin typeface="Arial"/>
              </a:rPr>
              <a:t>RuBP</a:t>
            </a:r>
            <a:endParaRPr lang="en-US" sz="16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Box 19"/>
          <p:cNvSpPr txBox="1">
            <a:spLocks noChangeArrowheads="1"/>
          </p:cNvSpPr>
          <p:nvPr/>
        </p:nvSpPr>
        <p:spPr bwMode="auto">
          <a:xfrm>
            <a:off x="4117526" y="2834381"/>
            <a:ext cx="692497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Calvin</a:t>
            </a:r>
          </a:p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Cycle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4976847" y="2071851"/>
            <a:ext cx="195887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600" b="1" dirty="0">
                <a:solidFill>
                  <a:srgbClr val="000000"/>
                </a:solidFill>
                <a:latin typeface="Arial"/>
              </a:rPr>
              <a:t>3-Phosphoglycerate</a:t>
            </a:r>
          </a:p>
        </p:txBody>
      </p: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2063751" y="1935077"/>
            <a:ext cx="7854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 smtClean="0">
                <a:solidFill>
                  <a:srgbClr val="000000"/>
                </a:solidFill>
                <a:latin typeface="Arial"/>
              </a:rPr>
              <a:t>3</a:t>
            </a:r>
            <a:endParaRPr lang="en-US" sz="11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Box 6"/>
          <p:cNvSpPr txBox="1">
            <a:spLocks noChangeArrowheads="1"/>
          </p:cNvSpPr>
          <p:nvPr/>
        </p:nvSpPr>
        <p:spPr bwMode="auto">
          <a:xfrm>
            <a:off x="3717926" y="1944602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000000"/>
                </a:solidFill>
                <a:latin typeface="Arial"/>
              </a:rPr>
              <a:t>P</a:t>
            </a:r>
          </a:p>
        </p:txBody>
      </p:sp>
      <p:sp>
        <p:nvSpPr>
          <p:cNvPr id="20" name="TextBox 6"/>
          <p:cNvSpPr txBox="1">
            <a:spLocks noChangeArrowheads="1"/>
          </p:cNvSpPr>
          <p:nvPr/>
        </p:nvSpPr>
        <p:spPr bwMode="auto">
          <a:xfrm>
            <a:off x="2203451" y="1942122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000000"/>
                </a:solidFill>
                <a:latin typeface="Arial"/>
              </a:rPr>
              <a:t>P</a:t>
            </a:r>
          </a:p>
        </p:txBody>
      </p:sp>
      <p:sp>
        <p:nvSpPr>
          <p:cNvPr id="21" name="TextBox 5"/>
          <p:cNvSpPr txBox="1">
            <a:spLocks noChangeArrowheads="1"/>
          </p:cNvSpPr>
          <p:nvPr/>
        </p:nvSpPr>
        <p:spPr bwMode="auto">
          <a:xfrm>
            <a:off x="4566464" y="1442159"/>
            <a:ext cx="7854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 smtClean="0">
                <a:solidFill>
                  <a:srgbClr val="000000"/>
                </a:solidFill>
                <a:latin typeface="Arial"/>
              </a:rPr>
              <a:t>3</a:t>
            </a:r>
            <a:endParaRPr lang="en-US" sz="11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Box 6"/>
          <p:cNvSpPr txBox="1">
            <a:spLocks noChangeArrowheads="1"/>
          </p:cNvSpPr>
          <p:nvPr/>
        </p:nvSpPr>
        <p:spPr bwMode="auto">
          <a:xfrm>
            <a:off x="6215877" y="1439779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000000"/>
                </a:solidFill>
                <a:latin typeface="Arial"/>
              </a:rPr>
              <a:t>P</a:t>
            </a:r>
          </a:p>
        </p:txBody>
      </p:sp>
      <p:sp>
        <p:nvSpPr>
          <p:cNvPr id="23" name="TextBox 6"/>
          <p:cNvSpPr txBox="1">
            <a:spLocks noChangeArrowheads="1"/>
          </p:cNvSpPr>
          <p:nvPr/>
        </p:nvSpPr>
        <p:spPr bwMode="auto">
          <a:xfrm>
            <a:off x="4734736" y="1444442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000000"/>
                </a:solidFill>
                <a:latin typeface="Arial"/>
              </a:rPr>
              <a:t>P</a:t>
            </a:r>
          </a:p>
        </p:txBody>
      </p:sp>
      <p:sp>
        <p:nvSpPr>
          <p:cNvPr id="24" name="TextBox 7"/>
          <p:cNvSpPr txBox="1">
            <a:spLocks noChangeArrowheads="1"/>
          </p:cNvSpPr>
          <p:nvPr/>
        </p:nvSpPr>
        <p:spPr bwMode="auto">
          <a:xfrm>
            <a:off x="5344703" y="1954126"/>
            <a:ext cx="7854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25" name="TextBox 10"/>
          <p:cNvSpPr txBox="1">
            <a:spLocks noChangeArrowheads="1"/>
          </p:cNvSpPr>
          <p:nvPr/>
        </p:nvSpPr>
        <p:spPr bwMode="auto">
          <a:xfrm>
            <a:off x="6251166" y="1950951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>
                <a:solidFill>
                  <a:srgbClr val="000000"/>
                </a:solidFill>
                <a:latin typeface="Arial"/>
              </a:rPr>
              <a:t>P</a:t>
            </a:r>
          </a:p>
        </p:txBody>
      </p:sp>
      <p:sp>
        <p:nvSpPr>
          <p:cNvPr id="26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93357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807720" y="213360"/>
            <a:ext cx="7528560" cy="64312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11.19_2</a:t>
            </a:r>
            <a:endParaRPr lang="en-US" dirty="0"/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4255640" y="229343"/>
            <a:ext cx="3872855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Input 3 CO</a:t>
            </a:r>
            <a:r>
              <a:rPr lang="en-US" sz="1800" b="1" baseline="-25000" dirty="0">
                <a:solidFill>
                  <a:srgbClr val="000000"/>
                </a:solidFill>
                <a:latin typeface="Arial"/>
              </a:rPr>
              <a:t>2</a:t>
            </a:r>
            <a:r>
              <a:rPr lang="en-US" sz="1800" b="1" dirty="0">
                <a:solidFill>
                  <a:srgbClr val="000000"/>
                </a:solidFill>
                <a:latin typeface="Arial"/>
              </a:rPr>
              <a:t>, entering one per cycle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533320" y="954831"/>
            <a:ext cx="910506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err="1">
                <a:solidFill>
                  <a:srgbClr val="FFFFFF"/>
                </a:solidFill>
                <a:latin typeface="Arial"/>
              </a:rPr>
              <a:t>Rubisco</a:t>
            </a:r>
            <a:endParaRPr lang="en-US" sz="1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TextBox 8"/>
          <p:cNvSpPr txBox="1">
            <a:spLocks noChangeArrowheads="1"/>
          </p:cNvSpPr>
          <p:nvPr/>
        </p:nvSpPr>
        <p:spPr bwMode="auto">
          <a:xfrm>
            <a:off x="5544687" y="816718"/>
            <a:ext cx="2705869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Phase 1: Carbon fixation</a:t>
            </a:r>
          </a:p>
        </p:txBody>
      </p:sp>
      <p:sp>
        <p:nvSpPr>
          <p:cNvPr id="9" name="TextBox 11"/>
          <p:cNvSpPr txBox="1">
            <a:spLocks noChangeArrowheads="1"/>
          </p:cNvSpPr>
          <p:nvPr/>
        </p:nvSpPr>
        <p:spPr bwMode="auto">
          <a:xfrm>
            <a:off x="2535580" y="2138263"/>
            <a:ext cx="556243" cy="239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600" b="1" dirty="0" err="1">
                <a:solidFill>
                  <a:srgbClr val="000000"/>
                </a:solidFill>
                <a:latin typeface="Arial"/>
              </a:rPr>
              <a:t>RuBP</a:t>
            </a:r>
            <a:endParaRPr lang="en-US" sz="16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Box 19"/>
          <p:cNvSpPr txBox="1">
            <a:spLocks noChangeArrowheads="1"/>
          </p:cNvSpPr>
          <p:nvPr/>
        </p:nvSpPr>
        <p:spPr bwMode="auto">
          <a:xfrm>
            <a:off x="4117526" y="2834381"/>
            <a:ext cx="692497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Calvin</a:t>
            </a:r>
          </a:p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Cycle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Box 35"/>
          <p:cNvSpPr txBox="1">
            <a:spLocks noChangeArrowheads="1"/>
          </p:cNvSpPr>
          <p:nvPr/>
        </p:nvSpPr>
        <p:spPr bwMode="auto">
          <a:xfrm>
            <a:off x="5290686" y="4629893"/>
            <a:ext cx="410369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600" b="1">
                <a:solidFill>
                  <a:srgbClr val="000000"/>
                </a:solidFill>
                <a:latin typeface="Arial"/>
              </a:rPr>
              <a:t>G3P</a:t>
            </a:r>
          </a:p>
        </p:txBody>
      </p:sp>
      <p:sp>
        <p:nvSpPr>
          <p:cNvPr id="14" name="TextBox 36"/>
          <p:cNvSpPr txBox="1">
            <a:spLocks noChangeArrowheads="1"/>
          </p:cNvSpPr>
          <p:nvPr/>
        </p:nvSpPr>
        <p:spPr bwMode="auto">
          <a:xfrm>
            <a:off x="6730549" y="4620368"/>
            <a:ext cx="1128514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Phase 2:</a:t>
            </a: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Reduction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Box 40"/>
          <p:cNvSpPr txBox="1">
            <a:spLocks noChangeArrowheads="1"/>
          </p:cNvSpPr>
          <p:nvPr/>
        </p:nvSpPr>
        <p:spPr bwMode="auto">
          <a:xfrm>
            <a:off x="4269928" y="6025306"/>
            <a:ext cx="461665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G3P</a:t>
            </a:r>
          </a:p>
        </p:txBody>
      </p:sp>
      <p:sp>
        <p:nvSpPr>
          <p:cNvPr id="16" name="TextBox 41"/>
          <p:cNvSpPr txBox="1">
            <a:spLocks noChangeArrowheads="1"/>
          </p:cNvSpPr>
          <p:nvPr/>
        </p:nvSpPr>
        <p:spPr bwMode="auto">
          <a:xfrm>
            <a:off x="4122290" y="6352331"/>
            <a:ext cx="756617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Output</a:t>
            </a:r>
          </a:p>
        </p:txBody>
      </p:sp>
      <p:sp>
        <p:nvSpPr>
          <p:cNvPr id="17" name="TextBox 43"/>
          <p:cNvSpPr txBox="1">
            <a:spLocks noChangeArrowheads="1"/>
          </p:cNvSpPr>
          <p:nvPr/>
        </p:nvSpPr>
        <p:spPr bwMode="auto">
          <a:xfrm>
            <a:off x="5616918" y="5840363"/>
            <a:ext cx="1474763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Glucose and</a:t>
            </a: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other organic</a:t>
            </a: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compounds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Box 15"/>
          <p:cNvSpPr txBox="1">
            <a:spLocks noChangeArrowheads="1"/>
          </p:cNvSpPr>
          <p:nvPr/>
        </p:nvSpPr>
        <p:spPr bwMode="auto">
          <a:xfrm>
            <a:off x="4976847" y="2071851"/>
            <a:ext cx="195887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600" b="1" dirty="0">
                <a:solidFill>
                  <a:srgbClr val="000000"/>
                </a:solidFill>
                <a:latin typeface="Arial"/>
              </a:rPr>
              <a:t>3-Phosphoglycerate</a:t>
            </a:r>
          </a:p>
        </p:txBody>
      </p:sp>
      <p:sp>
        <p:nvSpPr>
          <p:cNvPr id="19" name="TextBox 21"/>
          <p:cNvSpPr txBox="1">
            <a:spLocks noChangeArrowheads="1"/>
          </p:cNvSpPr>
          <p:nvPr/>
        </p:nvSpPr>
        <p:spPr bwMode="auto">
          <a:xfrm>
            <a:off x="4993520" y="3278351"/>
            <a:ext cx="243816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600" b="1">
                <a:solidFill>
                  <a:srgbClr val="000000"/>
                </a:solidFill>
                <a:latin typeface="Arial"/>
              </a:rPr>
              <a:t>1,3-Bisphosphoglycerate</a:t>
            </a:r>
          </a:p>
        </p:txBody>
      </p:sp>
      <p:sp>
        <p:nvSpPr>
          <p:cNvPr id="20" name="TextBox 5"/>
          <p:cNvSpPr txBox="1">
            <a:spLocks noChangeArrowheads="1"/>
          </p:cNvSpPr>
          <p:nvPr/>
        </p:nvSpPr>
        <p:spPr bwMode="auto">
          <a:xfrm>
            <a:off x="2063751" y="1935077"/>
            <a:ext cx="7854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 smtClean="0">
                <a:solidFill>
                  <a:srgbClr val="000000"/>
                </a:solidFill>
                <a:latin typeface="Arial"/>
              </a:rPr>
              <a:t>3</a:t>
            </a:r>
            <a:endParaRPr lang="en-US" sz="11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Box 6"/>
          <p:cNvSpPr txBox="1">
            <a:spLocks noChangeArrowheads="1"/>
          </p:cNvSpPr>
          <p:nvPr/>
        </p:nvSpPr>
        <p:spPr bwMode="auto">
          <a:xfrm>
            <a:off x="3717926" y="1944602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000000"/>
                </a:solidFill>
                <a:latin typeface="Arial"/>
              </a:rPr>
              <a:t>P</a:t>
            </a:r>
          </a:p>
        </p:txBody>
      </p:sp>
      <p:sp>
        <p:nvSpPr>
          <p:cNvPr id="22" name="TextBox 6"/>
          <p:cNvSpPr txBox="1">
            <a:spLocks noChangeArrowheads="1"/>
          </p:cNvSpPr>
          <p:nvPr/>
        </p:nvSpPr>
        <p:spPr bwMode="auto">
          <a:xfrm>
            <a:off x="2203451" y="1942122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000000"/>
                </a:solidFill>
                <a:latin typeface="Arial"/>
              </a:rPr>
              <a:t>P</a:t>
            </a: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4566464" y="1442159"/>
            <a:ext cx="7854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 smtClean="0">
                <a:solidFill>
                  <a:srgbClr val="000000"/>
                </a:solidFill>
                <a:latin typeface="Arial"/>
              </a:rPr>
              <a:t>3</a:t>
            </a:r>
            <a:endParaRPr lang="en-US" sz="11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Box 6"/>
          <p:cNvSpPr txBox="1">
            <a:spLocks noChangeArrowheads="1"/>
          </p:cNvSpPr>
          <p:nvPr/>
        </p:nvSpPr>
        <p:spPr bwMode="auto">
          <a:xfrm>
            <a:off x="6215877" y="1439779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000000"/>
                </a:solidFill>
                <a:latin typeface="Arial"/>
              </a:rPr>
              <a:t>P</a:t>
            </a:r>
          </a:p>
        </p:txBody>
      </p:sp>
      <p:sp>
        <p:nvSpPr>
          <p:cNvPr id="28" name="TextBox 6"/>
          <p:cNvSpPr txBox="1">
            <a:spLocks noChangeArrowheads="1"/>
          </p:cNvSpPr>
          <p:nvPr/>
        </p:nvSpPr>
        <p:spPr bwMode="auto">
          <a:xfrm>
            <a:off x="4734736" y="1444442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000000"/>
                </a:solidFill>
                <a:latin typeface="Arial"/>
              </a:rPr>
              <a:t>P</a:t>
            </a:r>
          </a:p>
        </p:txBody>
      </p:sp>
      <p:sp>
        <p:nvSpPr>
          <p:cNvPr id="29" name="TextBox 7"/>
          <p:cNvSpPr txBox="1">
            <a:spLocks noChangeArrowheads="1"/>
          </p:cNvSpPr>
          <p:nvPr/>
        </p:nvSpPr>
        <p:spPr bwMode="auto">
          <a:xfrm>
            <a:off x="5344703" y="1954126"/>
            <a:ext cx="7854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30" name="TextBox 10"/>
          <p:cNvSpPr txBox="1">
            <a:spLocks noChangeArrowheads="1"/>
          </p:cNvSpPr>
          <p:nvPr/>
        </p:nvSpPr>
        <p:spPr bwMode="auto">
          <a:xfrm>
            <a:off x="6251166" y="1950951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>
                <a:solidFill>
                  <a:srgbClr val="000000"/>
                </a:solidFill>
                <a:latin typeface="Arial"/>
              </a:rPr>
              <a:t>P</a:t>
            </a:r>
          </a:p>
        </p:txBody>
      </p:sp>
      <p:sp>
        <p:nvSpPr>
          <p:cNvPr id="31" name="TextBox 16"/>
          <p:cNvSpPr txBox="1">
            <a:spLocks noChangeArrowheads="1"/>
          </p:cNvSpPr>
          <p:nvPr/>
        </p:nvSpPr>
        <p:spPr bwMode="auto">
          <a:xfrm>
            <a:off x="7257640" y="2206539"/>
            <a:ext cx="7854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32" name="TextBox 17"/>
          <p:cNvSpPr txBox="1">
            <a:spLocks noChangeArrowheads="1"/>
          </p:cNvSpPr>
          <p:nvPr/>
        </p:nvSpPr>
        <p:spPr bwMode="auto">
          <a:xfrm>
            <a:off x="7017927" y="2517689"/>
            <a:ext cx="416781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000000"/>
                </a:solidFill>
                <a:latin typeface="Arial"/>
              </a:rPr>
              <a:t>6 ADP</a:t>
            </a:r>
          </a:p>
        </p:txBody>
      </p:sp>
      <p:sp>
        <p:nvSpPr>
          <p:cNvPr id="33" name="TextBox 18"/>
          <p:cNvSpPr txBox="1">
            <a:spLocks noChangeArrowheads="1"/>
          </p:cNvSpPr>
          <p:nvPr/>
        </p:nvSpPr>
        <p:spPr bwMode="auto">
          <a:xfrm>
            <a:off x="7541011" y="2213683"/>
            <a:ext cx="283732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000000"/>
                </a:solidFill>
                <a:latin typeface="Arial"/>
              </a:rPr>
              <a:t>ATP</a:t>
            </a:r>
          </a:p>
        </p:txBody>
      </p:sp>
      <p:sp>
        <p:nvSpPr>
          <p:cNvPr id="34" name="TextBox 6"/>
          <p:cNvSpPr txBox="1">
            <a:spLocks noChangeArrowheads="1"/>
          </p:cNvSpPr>
          <p:nvPr/>
        </p:nvSpPr>
        <p:spPr bwMode="auto">
          <a:xfrm>
            <a:off x="6749597" y="3134209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000000"/>
                </a:solidFill>
                <a:latin typeface="Arial"/>
              </a:rPr>
              <a:t>P</a:t>
            </a:r>
          </a:p>
        </p:txBody>
      </p:sp>
      <p:sp>
        <p:nvSpPr>
          <p:cNvPr id="35" name="TextBox 6"/>
          <p:cNvSpPr txBox="1">
            <a:spLocks noChangeArrowheads="1"/>
          </p:cNvSpPr>
          <p:nvPr/>
        </p:nvSpPr>
        <p:spPr bwMode="auto">
          <a:xfrm>
            <a:off x="5766975" y="3134209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000000"/>
                </a:solidFill>
                <a:latin typeface="Arial"/>
              </a:rPr>
              <a:t>P</a:t>
            </a:r>
          </a:p>
        </p:txBody>
      </p:sp>
      <p:sp>
        <p:nvSpPr>
          <p:cNvPr id="36" name="TextBox 25"/>
          <p:cNvSpPr txBox="1">
            <a:spLocks noChangeArrowheads="1"/>
          </p:cNvSpPr>
          <p:nvPr/>
        </p:nvSpPr>
        <p:spPr bwMode="auto">
          <a:xfrm>
            <a:off x="5604186" y="3136590"/>
            <a:ext cx="7854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37" name="TextBox 22"/>
          <p:cNvSpPr txBox="1">
            <a:spLocks noChangeArrowheads="1"/>
          </p:cNvSpPr>
          <p:nvPr/>
        </p:nvSpPr>
        <p:spPr bwMode="auto">
          <a:xfrm>
            <a:off x="7231133" y="3542500"/>
            <a:ext cx="7854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 smtClean="0">
                <a:solidFill>
                  <a:srgbClr val="000000"/>
                </a:solidFill>
                <a:latin typeface="Arial"/>
              </a:rPr>
              <a:t>6</a:t>
            </a:r>
            <a:endParaRPr lang="en-US" sz="11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Box 23"/>
          <p:cNvSpPr txBox="1">
            <a:spLocks noChangeArrowheads="1"/>
          </p:cNvSpPr>
          <p:nvPr/>
        </p:nvSpPr>
        <p:spPr bwMode="auto">
          <a:xfrm>
            <a:off x="6969989" y="3859206"/>
            <a:ext cx="573875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000000"/>
                </a:solidFill>
                <a:latin typeface="Arial"/>
              </a:rPr>
              <a:t>6 </a:t>
            </a:r>
            <a:r>
              <a:rPr lang="en-US" sz="1100" b="1" dirty="0" smtClean="0">
                <a:solidFill>
                  <a:srgbClr val="000000"/>
                </a:solidFill>
                <a:latin typeface="Arial"/>
              </a:rPr>
              <a:t>NADP</a:t>
            </a:r>
            <a:r>
              <a:rPr lang="en-US" sz="11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900" b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TextBox 24"/>
          <p:cNvSpPr txBox="1">
            <a:spLocks noChangeArrowheads="1"/>
          </p:cNvSpPr>
          <p:nvPr/>
        </p:nvSpPr>
        <p:spPr bwMode="auto">
          <a:xfrm>
            <a:off x="6866802" y="4064787"/>
            <a:ext cx="7854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 smtClean="0">
                <a:solidFill>
                  <a:srgbClr val="000000"/>
                </a:solidFill>
                <a:latin typeface="Arial"/>
              </a:rPr>
              <a:t>6</a:t>
            </a:r>
            <a:endParaRPr lang="en-US" sz="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Box 24"/>
          <p:cNvSpPr txBox="1">
            <a:spLocks noChangeArrowheads="1"/>
          </p:cNvSpPr>
          <p:nvPr/>
        </p:nvSpPr>
        <p:spPr bwMode="auto">
          <a:xfrm>
            <a:off x="7017094" y="4060018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 smtClean="0">
                <a:solidFill>
                  <a:srgbClr val="000000"/>
                </a:solidFill>
                <a:latin typeface="Arial"/>
              </a:rPr>
              <a:t>P</a:t>
            </a:r>
            <a:endParaRPr lang="en-US" sz="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Box 24"/>
          <p:cNvSpPr txBox="1">
            <a:spLocks noChangeArrowheads="1"/>
          </p:cNvSpPr>
          <p:nvPr/>
        </p:nvSpPr>
        <p:spPr bwMode="auto">
          <a:xfrm>
            <a:off x="7135053" y="4132758"/>
            <a:ext cx="320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900" b="1" dirty="0" smtClean="0">
                <a:solidFill>
                  <a:srgbClr val="000000"/>
                </a:solidFill>
                <a:latin typeface="Arial"/>
              </a:rPr>
              <a:t>i</a:t>
            </a:r>
            <a:endParaRPr lang="en-US" sz="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Box 22"/>
          <p:cNvSpPr txBox="1">
            <a:spLocks noChangeArrowheads="1"/>
          </p:cNvSpPr>
          <p:nvPr/>
        </p:nvSpPr>
        <p:spPr bwMode="auto">
          <a:xfrm>
            <a:off x="7381152" y="3548843"/>
            <a:ext cx="504946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 smtClean="0">
                <a:solidFill>
                  <a:srgbClr val="000000"/>
                </a:solidFill>
                <a:latin typeface="Arial"/>
              </a:rPr>
              <a:t>NADPH</a:t>
            </a:r>
            <a:endParaRPr lang="en-US" sz="11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Box 25"/>
          <p:cNvSpPr txBox="1">
            <a:spLocks noChangeArrowheads="1"/>
          </p:cNvSpPr>
          <p:nvPr/>
        </p:nvSpPr>
        <p:spPr bwMode="auto">
          <a:xfrm>
            <a:off x="4963460" y="4464428"/>
            <a:ext cx="7854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44" name="TextBox 26"/>
          <p:cNvSpPr txBox="1">
            <a:spLocks noChangeArrowheads="1"/>
          </p:cNvSpPr>
          <p:nvPr/>
        </p:nvSpPr>
        <p:spPr bwMode="auto">
          <a:xfrm>
            <a:off x="5881035" y="4458078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>
                <a:solidFill>
                  <a:srgbClr val="000000"/>
                </a:solidFill>
                <a:latin typeface="Arial"/>
              </a:rPr>
              <a:t>P</a:t>
            </a:r>
          </a:p>
        </p:txBody>
      </p:sp>
      <p:sp>
        <p:nvSpPr>
          <p:cNvPr id="47" name="TextBox 38"/>
          <p:cNvSpPr txBox="1">
            <a:spLocks noChangeArrowheads="1"/>
          </p:cNvSpPr>
          <p:nvPr/>
        </p:nvSpPr>
        <p:spPr bwMode="auto">
          <a:xfrm>
            <a:off x="3990322" y="5837616"/>
            <a:ext cx="7854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48" name="TextBox 39"/>
          <p:cNvSpPr txBox="1">
            <a:spLocks noChangeArrowheads="1"/>
          </p:cNvSpPr>
          <p:nvPr/>
        </p:nvSpPr>
        <p:spPr bwMode="auto">
          <a:xfrm>
            <a:off x="4899960" y="5831266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>
                <a:solidFill>
                  <a:srgbClr val="000000"/>
                </a:solidFill>
                <a:latin typeface="Arial"/>
              </a:rPr>
              <a:t>P</a:t>
            </a:r>
          </a:p>
        </p:txBody>
      </p:sp>
      <p:sp>
        <p:nvSpPr>
          <p:cNvPr id="45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599848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807720" y="213360"/>
            <a:ext cx="7528560" cy="64312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11.19_3</a:t>
            </a:r>
            <a:endParaRPr lang="en-US" dirty="0"/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4255640" y="229343"/>
            <a:ext cx="3872855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Input 3 CO</a:t>
            </a:r>
            <a:r>
              <a:rPr lang="en-US" sz="1800" b="1" baseline="-25000" dirty="0">
                <a:solidFill>
                  <a:srgbClr val="000000"/>
                </a:solidFill>
                <a:latin typeface="Arial"/>
              </a:rPr>
              <a:t>2</a:t>
            </a:r>
            <a:r>
              <a:rPr lang="en-US" sz="1800" b="1" dirty="0">
                <a:solidFill>
                  <a:srgbClr val="000000"/>
                </a:solidFill>
                <a:latin typeface="Arial"/>
              </a:rPr>
              <a:t>, entering one per cycle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533320" y="954831"/>
            <a:ext cx="910506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err="1">
                <a:solidFill>
                  <a:srgbClr val="FFFFFF"/>
                </a:solidFill>
                <a:latin typeface="Arial"/>
              </a:rPr>
              <a:t>Rubisco</a:t>
            </a:r>
            <a:endParaRPr lang="en-US" sz="1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TextBox 8"/>
          <p:cNvSpPr txBox="1">
            <a:spLocks noChangeArrowheads="1"/>
          </p:cNvSpPr>
          <p:nvPr/>
        </p:nvSpPr>
        <p:spPr bwMode="auto">
          <a:xfrm>
            <a:off x="5544687" y="816718"/>
            <a:ext cx="2705869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Phase 1: Carbon fixation</a:t>
            </a:r>
          </a:p>
        </p:txBody>
      </p:sp>
      <p:sp>
        <p:nvSpPr>
          <p:cNvPr id="9" name="TextBox 11"/>
          <p:cNvSpPr txBox="1">
            <a:spLocks noChangeArrowheads="1"/>
          </p:cNvSpPr>
          <p:nvPr/>
        </p:nvSpPr>
        <p:spPr bwMode="auto">
          <a:xfrm>
            <a:off x="2535580" y="2138263"/>
            <a:ext cx="556243" cy="239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600" b="1" dirty="0" err="1">
                <a:solidFill>
                  <a:srgbClr val="000000"/>
                </a:solidFill>
                <a:latin typeface="Arial"/>
              </a:rPr>
              <a:t>RuBP</a:t>
            </a:r>
            <a:endParaRPr lang="en-US" sz="16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Box 19"/>
          <p:cNvSpPr txBox="1">
            <a:spLocks noChangeArrowheads="1"/>
          </p:cNvSpPr>
          <p:nvPr/>
        </p:nvSpPr>
        <p:spPr bwMode="auto">
          <a:xfrm>
            <a:off x="4117526" y="2834381"/>
            <a:ext cx="692497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Calvin</a:t>
            </a:r>
          </a:p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Cycle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Box 29"/>
          <p:cNvSpPr txBox="1">
            <a:spLocks noChangeArrowheads="1"/>
          </p:cNvSpPr>
          <p:nvPr/>
        </p:nvSpPr>
        <p:spPr bwMode="auto">
          <a:xfrm>
            <a:off x="913155" y="3759944"/>
            <a:ext cx="1474763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Phase 3:</a:t>
            </a: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Regeneration</a:t>
            </a: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of </a:t>
            </a:r>
            <a:r>
              <a:rPr lang="en-US" sz="1800" b="1" dirty="0" err="1" smtClean="0">
                <a:solidFill>
                  <a:srgbClr val="000000"/>
                </a:solidFill>
                <a:latin typeface="Arial"/>
              </a:rPr>
              <a:t>RuBP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2866574" y="4404468"/>
            <a:ext cx="410369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</a:rPr>
              <a:t>G3P</a:t>
            </a:r>
          </a:p>
        </p:txBody>
      </p:sp>
      <p:sp>
        <p:nvSpPr>
          <p:cNvPr id="13" name="TextBox 35"/>
          <p:cNvSpPr txBox="1">
            <a:spLocks noChangeArrowheads="1"/>
          </p:cNvSpPr>
          <p:nvPr/>
        </p:nvSpPr>
        <p:spPr bwMode="auto">
          <a:xfrm>
            <a:off x="5290686" y="4629893"/>
            <a:ext cx="410369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600" b="1">
                <a:solidFill>
                  <a:srgbClr val="000000"/>
                </a:solidFill>
                <a:latin typeface="Arial"/>
              </a:rPr>
              <a:t>G3P</a:t>
            </a:r>
          </a:p>
        </p:txBody>
      </p:sp>
      <p:sp>
        <p:nvSpPr>
          <p:cNvPr id="14" name="TextBox 36"/>
          <p:cNvSpPr txBox="1">
            <a:spLocks noChangeArrowheads="1"/>
          </p:cNvSpPr>
          <p:nvPr/>
        </p:nvSpPr>
        <p:spPr bwMode="auto">
          <a:xfrm>
            <a:off x="6730549" y="4620368"/>
            <a:ext cx="1128514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Phase 2:</a:t>
            </a: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Reduction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Box 40"/>
          <p:cNvSpPr txBox="1">
            <a:spLocks noChangeArrowheads="1"/>
          </p:cNvSpPr>
          <p:nvPr/>
        </p:nvSpPr>
        <p:spPr bwMode="auto">
          <a:xfrm>
            <a:off x="4269928" y="6025306"/>
            <a:ext cx="461665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G3P</a:t>
            </a:r>
          </a:p>
        </p:txBody>
      </p:sp>
      <p:sp>
        <p:nvSpPr>
          <p:cNvPr id="16" name="TextBox 41"/>
          <p:cNvSpPr txBox="1">
            <a:spLocks noChangeArrowheads="1"/>
          </p:cNvSpPr>
          <p:nvPr/>
        </p:nvSpPr>
        <p:spPr bwMode="auto">
          <a:xfrm>
            <a:off x="4122290" y="6352331"/>
            <a:ext cx="756617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Output</a:t>
            </a:r>
          </a:p>
        </p:txBody>
      </p:sp>
      <p:sp>
        <p:nvSpPr>
          <p:cNvPr id="17" name="TextBox 43"/>
          <p:cNvSpPr txBox="1">
            <a:spLocks noChangeArrowheads="1"/>
          </p:cNvSpPr>
          <p:nvPr/>
        </p:nvSpPr>
        <p:spPr bwMode="auto">
          <a:xfrm>
            <a:off x="5616918" y="5840363"/>
            <a:ext cx="1474763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Glucose and</a:t>
            </a: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other organic</a:t>
            </a: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compounds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Box 15"/>
          <p:cNvSpPr txBox="1">
            <a:spLocks noChangeArrowheads="1"/>
          </p:cNvSpPr>
          <p:nvPr/>
        </p:nvSpPr>
        <p:spPr bwMode="auto">
          <a:xfrm>
            <a:off x="4976847" y="2071851"/>
            <a:ext cx="195887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600" b="1" dirty="0">
                <a:solidFill>
                  <a:srgbClr val="000000"/>
                </a:solidFill>
                <a:latin typeface="Arial"/>
              </a:rPr>
              <a:t>3-Phosphoglycerate</a:t>
            </a:r>
          </a:p>
        </p:txBody>
      </p:sp>
      <p:sp>
        <p:nvSpPr>
          <p:cNvPr id="19" name="TextBox 21"/>
          <p:cNvSpPr txBox="1">
            <a:spLocks noChangeArrowheads="1"/>
          </p:cNvSpPr>
          <p:nvPr/>
        </p:nvSpPr>
        <p:spPr bwMode="auto">
          <a:xfrm>
            <a:off x="4993520" y="3278351"/>
            <a:ext cx="243816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600" b="1">
                <a:solidFill>
                  <a:srgbClr val="000000"/>
                </a:solidFill>
                <a:latin typeface="Arial"/>
              </a:rPr>
              <a:t>1,3-Bisphosphoglycerate</a:t>
            </a:r>
          </a:p>
        </p:txBody>
      </p:sp>
      <p:sp>
        <p:nvSpPr>
          <p:cNvPr id="20" name="TextBox 5"/>
          <p:cNvSpPr txBox="1">
            <a:spLocks noChangeArrowheads="1"/>
          </p:cNvSpPr>
          <p:nvPr/>
        </p:nvSpPr>
        <p:spPr bwMode="auto">
          <a:xfrm>
            <a:off x="2063751" y="1935077"/>
            <a:ext cx="7854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 smtClean="0">
                <a:solidFill>
                  <a:srgbClr val="000000"/>
                </a:solidFill>
                <a:latin typeface="Arial"/>
              </a:rPr>
              <a:t>3</a:t>
            </a:r>
            <a:endParaRPr lang="en-US" sz="11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Box 6"/>
          <p:cNvSpPr txBox="1">
            <a:spLocks noChangeArrowheads="1"/>
          </p:cNvSpPr>
          <p:nvPr/>
        </p:nvSpPr>
        <p:spPr bwMode="auto">
          <a:xfrm>
            <a:off x="3717926" y="1944602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000000"/>
                </a:solidFill>
                <a:latin typeface="Arial"/>
              </a:rPr>
              <a:t>P</a:t>
            </a:r>
          </a:p>
        </p:txBody>
      </p:sp>
      <p:sp>
        <p:nvSpPr>
          <p:cNvPr id="22" name="TextBox 6"/>
          <p:cNvSpPr txBox="1">
            <a:spLocks noChangeArrowheads="1"/>
          </p:cNvSpPr>
          <p:nvPr/>
        </p:nvSpPr>
        <p:spPr bwMode="auto">
          <a:xfrm>
            <a:off x="2203451" y="1942122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000000"/>
                </a:solidFill>
                <a:latin typeface="Arial"/>
              </a:rPr>
              <a:t>P</a:t>
            </a:r>
          </a:p>
        </p:txBody>
      </p:sp>
      <p:sp>
        <p:nvSpPr>
          <p:cNvPr id="23" name="TextBox 12"/>
          <p:cNvSpPr txBox="1">
            <a:spLocks noChangeArrowheads="1"/>
          </p:cNvSpPr>
          <p:nvPr/>
        </p:nvSpPr>
        <p:spPr bwMode="auto">
          <a:xfrm>
            <a:off x="1442145" y="2861800"/>
            <a:ext cx="416781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000000"/>
                </a:solidFill>
                <a:latin typeface="Arial"/>
              </a:rPr>
              <a:t>3 ADP</a:t>
            </a:r>
          </a:p>
        </p:txBody>
      </p: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844551" y="3241047"/>
            <a:ext cx="7854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25" name="TextBox 14"/>
          <p:cNvSpPr txBox="1">
            <a:spLocks noChangeArrowheads="1"/>
          </p:cNvSpPr>
          <p:nvPr/>
        </p:nvSpPr>
        <p:spPr bwMode="auto">
          <a:xfrm>
            <a:off x="1139828" y="3254541"/>
            <a:ext cx="283732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000000"/>
                </a:solidFill>
                <a:latin typeface="Arial"/>
              </a:rPr>
              <a:t>ATP</a:t>
            </a:r>
          </a:p>
        </p:txBody>
      </p:sp>
      <p:sp>
        <p:nvSpPr>
          <p:cNvPr id="32" name="TextBox 5"/>
          <p:cNvSpPr txBox="1">
            <a:spLocks noChangeArrowheads="1"/>
          </p:cNvSpPr>
          <p:nvPr/>
        </p:nvSpPr>
        <p:spPr bwMode="auto">
          <a:xfrm>
            <a:off x="4566464" y="1442159"/>
            <a:ext cx="7854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 smtClean="0">
                <a:solidFill>
                  <a:srgbClr val="000000"/>
                </a:solidFill>
                <a:latin typeface="Arial"/>
              </a:rPr>
              <a:t>3</a:t>
            </a:r>
            <a:endParaRPr lang="en-US" sz="11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Box 6"/>
          <p:cNvSpPr txBox="1">
            <a:spLocks noChangeArrowheads="1"/>
          </p:cNvSpPr>
          <p:nvPr/>
        </p:nvSpPr>
        <p:spPr bwMode="auto">
          <a:xfrm>
            <a:off x="6215877" y="1439779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000000"/>
                </a:solidFill>
                <a:latin typeface="Arial"/>
              </a:rPr>
              <a:t>P</a:t>
            </a:r>
          </a:p>
        </p:txBody>
      </p:sp>
      <p:sp>
        <p:nvSpPr>
          <p:cNvPr id="34" name="TextBox 6"/>
          <p:cNvSpPr txBox="1">
            <a:spLocks noChangeArrowheads="1"/>
          </p:cNvSpPr>
          <p:nvPr/>
        </p:nvSpPr>
        <p:spPr bwMode="auto">
          <a:xfrm>
            <a:off x="4734736" y="1444442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000000"/>
                </a:solidFill>
                <a:latin typeface="Arial"/>
              </a:rPr>
              <a:t>P</a:t>
            </a:r>
          </a:p>
        </p:txBody>
      </p:sp>
      <p:sp>
        <p:nvSpPr>
          <p:cNvPr id="35" name="TextBox 7"/>
          <p:cNvSpPr txBox="1">
            <a:spLocks noChangeArrowheads="1"/>
          </p:cNvSpPr>
          <p:nvPr/>
        </p:nvSpPr>
        <p:spPr bwMode="auto">
          <a:xfrm>
            <a:off x="5344703" y="1954126"/>
            <a:ext cx="7854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36" name="TextBox 10"/>
          <p:cNvSpPr txBox="1">
            <a:spLocks noChangeArrowheads="1"/>
          </p:cNvSpPr>
          <p:nvPr/>
        </p:nvSpPr>
        <p:spPr bwMode="auto">
          <a:xfrm>
            <a:off x="6251166" y="1950951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>
                <a:solidFill>
                  <a:srgbClr val="000000"/>
                </a:solidFill>
                <a:latin typeface="Arial"/>
              </a:rPr>
              <a:t>P</a:t>
            </a:r>
          </a:p>
        </p:txBody>
      </p:sp>
      <p:sp>
        <p:nvSpPr>
          <p:cNvPr id="37" name="TextBox 16"/>
          <p:cNvSpPr txBox="1">
            <a:spLocks noChangeArrowheads="1"/>
          </p:cNvSpPr>
          <p:nvPr/>
        </p:nvSpPr>
        <p:spPr bwMode="auto">
          <a:xfrm>
            <a:off x="7257640" y="2206539"/>
            <a:ext cx="7854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38" name="TextBox 17"/>
          <p:cNvSpPr txBox="1">
            <a:spLocks noChangeArrowheads="1"/>
          </p:cNvSpPr>
          <p:nvPr/>
        </p:nvSpPr>
        <p:spPr bwMode="auto">
          <a:xfrm>
            <a:off x="7017927" y="2517689"/>
            <a:ext cx="416781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000000"/>
                </a:solidFill>
                <a:latin typeface="Arial"/>
              </a:rPr>
              <a:t>6 ADP</a:t>
            </a:r>
          </a:p>
        </p:txBody>
      </p:sp>
      <p:sp>
        <p:nvSpPr>
          <p:cNvPr id="39" name="TextBox 18"/>
          <p:cNvSpPr txBox="1">
            <a:spLocks noChangeArrowheads="1"/>
          </p:cNvSpPr>
          <p:nvPr/>
        </p:nvSpPr>
        <p:spPr bwMode="auto">
          <a:xfrm>
            <a:off x="7541011" y="2213683"/>
            <a:ext cx="283732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000000"/>
                </a:solidFill>
                <a:latin typeface="Arial"/>
              </a:rPr>
              <a:t>ATP</a:t>
            </a:r>
          </a:p>
        </p:txBody>
      </p:sp>
      <p:sp>
        <p:nvSpPr>
          <p:cNvPr id="40" name="TextBox 6"/>
          <p:cNvSpPr txBox="1">
            <a:spLocks noChangeArrowheads="1"/>
          </p:cNvSpPr>
          <p:nvPr/>
        </p:nvSpPr>
        <p:spPr bwMode="auto">
          <a:xfrm>
            <a:off x="6749597" y="3134209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000000"/>
                </a:solidFill>
                <a:latin typeface="Arial"/>
              </a:rPr>
              <a:t>P</a:t>
            </a:r>
          </a:p>
        </p:txBody>
      </p:sp>
      <p:sp>
        <p:nvSpPr>
          <p:cNvPr id="41" name="TextBox 6"/>
          <p:cNvSpPr txBox="1">
            <a:spLocks noChangeArrowheads="1"/>
          </p:cNvSpPr>
          <p:nvPr/>
        </p:nvSpPr>
        <p:spPr bwMode="auto">
          <a:xfrm>
            <a:off x="5766975" y="3134209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000000"/>
                </a:solidFill>
                <a:latin typeface="Arial"/>
              </a:rPr>
              <a:t>P</a:t>
            </a:r>
          </a:p>
        </p:txBody>
      </p:sp>
      <p:sp>
        <p:nvSpPr>
          <p:cNvPr id="42" name="TextBox 25"/>
          <p:cNvSpPr txBox="1">
            <a:spLocks noChangeArrowheads="1"/>
          </p:cNvSpPr>
          <p:nvPr/>
        </p:nvSpPr>
        <p:spPr bwMode="auto">
          <a:xfrm>
            <a:off x="5604186" y="3136590"/>
            <a:ext cx="7854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43" name="TextBox 22"/>
          <p:cNvSpPr txBox="1">
            <a:spLocks noChangeArrowheads="1"/>
          </p:cNvSpPr>
          <p:nvPr/>
        </p:nvSpPr>
        <p:spPr bwMode="auto">
          <a:xfrm>
            <a:off x="7231133" y="3542500"/>
            <a:ext cx="7854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 smtClean="0">
                <a:solidFill>
                  <a:srgbClr val="000000"/>
                </a:solidFill>
                <a:latin typeface="Arial"/>
              </a:rPr>
              <a:t>6</a:t>
            </a:r>
            <a:endParaRPr lang="en-US" sz="11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Box 23"/>
          <p:cNvSpPr txBox="1">
            <a:spLocks noChangeArrowheads="1"/>
          </p:cNvSpPr>
          <p:nvPr/>
        </p:nvSpPr>
        <p:spPr bwMode="auto">
          <a:xfrm>
            <a:off x="6969989" y="3859206"/>
            <a:ext cx="573875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>
                <a:solidFill>
                  <a:srgbClr val="000000"/>
                </a:solidFill>
                <a:latin typeface="Arial"/>
              </a:rPr>
              <a:t>6 </a:t>
            </a:r>
            <a:r>
              <a:rPr lang="en-US" sz="1100" b="1" dirty="0" smtClean="0">
                <a:solidFill>
                  <a:srgbClr val="000000"/>
                </a:solidFill>
                <a:latin typeface="Arial"/>
              </a:rPr>
              <a:t>NADP</a:t>
            </a:r>
            <a:r>
              <a:rPr lang="en-US" sz="11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900" b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24"/>
          <p:cNvSpPr txBox="1">
            <a:spLocks noChangeArrowheads="1"/>
          </p:cNvSpPr>
          <p:nvPr/>
        </p:nvSpPr>
        <p:spPr bwMode="auto">
          <a:xfrm>
            <a:off x="6866802" y="4064787"/>
            <a:ext cx="7854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 smtClean="0">
                <a:solidFill>
                  <a:srgbClr val="000000"/>
                </a:solidFill>
                <a:latin typeface="Arial"/>
              </a:rPr>
              <a:t>6</a:t>
            </a:r>
            <a:endParaRPr lang="en-US" sz="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Box 24"/>
          <p:cNvSpPr txBox="1">
            <a:spLocks noChangeArrowheads="1"/>
          </p:cNvSpPr>
          <p:nvPr/>
        </p:nvSpPr>
        <p:spPr bwMode="auto">
          <a:xfrm>
            <a:off x="7017094" y="4060018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 smtClean="0">
                <a:solidFill>
                  <a:srgbClr val="000000"/>
                </a:solidFill>
                <a:latin typeface="Arial"/>
              </a:rPr>
              <a:t>P</a:t>
            </a:r>
            <a:endParaRPr lang="en-US" sz="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Box 24"/>
          <p:cNvSpPr txBox="1">
            <a:spLocks noChangeArrowheads="1"/>
          </p:cNvSpPr>
          <p:nvPr/>
        </p:nvSpPr>
        <p:spPr bwMode="auto">
          <a:xfrm>
            <a:off x="7135053" y="4132758"/>
            <a:ext cx="320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900" b="1" dirty="0" smtClean="0">
                <a:solidFill>
                  <a:srgbClr val="000000"/>
                </a:solidFill>
                <a:latin typeface="Arial"/>
              </a:rPr>
              <a:t>i</a:t>
            </a:r>
            <a:endParaRPr lang="en-US" sz="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Box 22"/>
          <p:cNvSpPr txBox="1">
            <a:spLocks noChangeArrowheads="1"/>
          </p:cNvSpPr>
          <p:nvPr/>
        </p:nvSpPr>
        <p:spPr bwMode="auto">
          <a:xfrm>
            <a:off x="7381152" y="3548843"/>
            <a:ext cx="504946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 dirty="0" smtClean="0">
                <a:solidFill>
                  <a:srgbClr val="000000"/>
                </a:solidFill>
                <a:latin typeface="Arial"/>
              </a:rPr>
              <a:t>NADPH</a:t>
            </a:r>
            <a:endParaRPr lang="en-US" sz="11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Box 25"/>
          <p:cNvSpPr txBox="1">
            <a:spLocks noChangeArrowheads="1"/>
          </p:cNvSpPr>
          <p:nvPr/>
        </p:nvSpPr>
        <p:spPr bwMode="auto">
          <a:xfrm>
            <a:off x="4963460" y="4464428"/>
            <a:ext cx="7854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50" name="TextBox 26"/>
          <p:cNvSpPr txBox="1">
            <a:spLocks noChangeArrowheads="1"/>
          </p:cNvSpPr>
          <p:nvPr/>
        </p:nvSpPr>
        <p:spPr bwMode="auto">
          <a:xfrm>
            <a:off x="5881035" y="4458078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>
                <a:solidFill>
                  <a:srgbClr val="000000"/>
                </a:solidFill>
                <a:latin typeface="Arial"/>
              </a:rPr>
              <a:t>P</a:t>
            </a:r>
          </a:p>
        </p:txBody>
      </p:sp>
      <p:sp>
        <p:nvSpPr>
          <p:cNvPr id="51" name="TextBox 32"/>
          <p:cNvSpPr txBox="1">
            <a:spLocks noChangeArrowheads="1"/>
          </p:cNvSpPr>
          <p:nvPr/>
        </p:nvSpPr>
        <p:spPr bwMode="auto">
          <a:xfrm>
            <a:off x="2561572" y="4253291"/>
            <a:ext cx="7854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52" name="TextBox 34"/>
          <p:cNvSpPr txBox="1">
            <a:spLocks noChangeArrowheads="1"/>
          </p:cNvSpPr>
          <p:nvPr/>
        </p:nvSpPr>
        <p:spPr bwMode="auto">
          <a:xfrm>
            <a:off x="3483910" y="4243766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>
                <a:solidFill>
                  <a:srgbClr val="000000"/>
                </a:solidFill>
                <a:latin typeface="Arial"/>
              </a:rPr>
              <a:t>P</a:t>
            </a:r>
          </a:p>
        </p:txBody>
      </p:sp>
      <p:sp>
        <p:nvSpPr>
          <p:cNvPr id="53" name="TextBox 38"/>
          <p:cNvSpPr txBox="1">
            <a:spLocks noChangeArrowheads="1"/>
          </p:cNvSpPr>
          <p:nvPr/>
        </p:nvSpPr>
        <p:spPr bwMode="auto">
          <a:xfrm>
            <a:off x="3990322" y="5837616"/>
            <a:ext cx="7854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54" name="TextBox 39"/>
          <p:cNvSpPr txBox="1">
            <a:spLocks noChangeArrowheads="1"/>
          </p:cNvSpPr>
          <p:nvPr/>
        </p:nvSpPr>
        <p:spPr bwMode="auto">
          <a:xfrm>
            <a:off x="4899960" y="5831266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100" b="1">
                <a:solidFill>
                  <a:srgbClr val="000000"/>
                </a:solidFill>
                <a:latin typeface="Arial"/>
              </a:rPr>
              <a:t>P</a:t>
            </a:r>
          </a:p>
        </p:txBody>
      </p:sp>
      <p:sp>
        <p:nvSpPr>
          <p:cNvPr id="55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05337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569660"/>
          </a:xfrm>
        </p:spPr>
        <p:txBody>
          <a:bodyPr/>
          <a:lstStyle/>
          <a:p>
            <a:r>
              <a:rPr lang="en-US" altLang="en-US" dirty="0" smtClean="0"/>
              <a:t>Concept 11.5: Life depends on photosynthesis</a:t>
            </a:r>
            <a:br>
              <a:rPr lang="en-US" altLang="en-US" dirty="0" smtClean="0"/>
            </a:br>
            <a:r>
              <a:rPr lang="en-US" altLang="en-US" dirty="0" smtClean="0"/>
              <a:t>The Importance of Photosynthesis: </a:t>
            </a:r>
            <a:r>
              <a:rPr lang="en-US" altLang="en-US" i="1" dirty="0" smtClean="0"/>
              <a:t>A Review</a:t>
            </a:r>
            <a:br>
              <a:rPr lang="en-US" altLang="en-US" i="1" dirty="0" smtClean="0"/>
            </a:br>
            <a:endParaRPr lang="en-US" i="1" dirty="0"/>
          </a:p>
        </p:txBody>
      </p:sp>
      <p:sp>
        <p:nvSpPr>
          <p:cNvPr id="1914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 energy entering chloroplasts as sunlight gets stored as chemical energy in organic compounds</a:t>
            </a:r>
          </a:p>
          <a:p>
            <a:r>
              <a:rPr lang="en-US" altLang="en-US" smtClean="0"/>
              <a:t>Sugar made in the chloroplasts supplies chemical energy and carbon skeletons to synthesize the organic molecules of cells</a:t>
            </a:r>
          </a:p>
          <a:p>
            <a:r>
              <a:rPr lang="en-US" altLang="en-US" smtClean="0"/>
              <a:t>Plants store excess sugar as starch in chloroplasts and other structures such as roots, tubers, seeds, and fruits</a:t>
            </a:r>
            <a:endParaRPr lang="en-US" altLang="en-US" dirty="0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452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1"/>
          <a:stretch>
            <a:fillRect/>
          </a:stretch>
        </p:blipFill>
        <p:spPr>
          <a:xfrm>
            <a:off x="298704" y="249936"/>
            <a:ext cx="8546592" cy="63581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11.22b</a:t>
            </a:r>
            <a:endParaRPr lang="en-US" dirty="0"/>
          </a:p>
        </p:txBody>
      </p:sp>
      <p:sp>
        <p:nvSpPr>
          <p:cNvPr id="35" name="TextBox 7"/>
          <p:cNvSpPr txBox="1">
            <a:spLocks noChangeArrowheads="1"/>
          </p:cNvSpPr>
          <p:nvPr/>
        </p:nvSpPr>
        <p:spPr bwMode="auto">
          <a:xfrm>
            <a:off x="1870660" y="2527985"/>
            <a:ext cx="80951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100" b="1" dirty="0">
                <a:solidFill>
                  <a:srgbClr val="000000"/>
                </a:solidFill>
                <a:latin typeface="Arial"/>
              </a:rPr>
              <a:t>LIGHT</a:t>
            </a:r>
          </a:p>
        </p:txBody>
      </p:sp>
      <p:sp>
        <p:nvSpPr>
          <p:cNvPr id="36" name="TextBox 8"/>
          <p:cNvSpPr txBox="1">
            <a:spLocks noChangeArrowheads="1"/>
          </p:cNvSpPr>
          <p:nvPr/>
        </p:nvSpPr>
        <p:spPr bwMode="auto">
          <a:xfrm>
            <a:off x="1445210" y="2820085"/>
            <a:ext cx="167513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100" b="1" dirty="0">
                <a:solidFill>
                  <a:srgbClr val="000000"/>
                </a:solidFill>
                <a:latin typeface="Arial"/>
              </a:rPr>
              <a:t>REACTIONS:</a:t>
            </a:r>
          </a:p>
        </p:txBody>
      </p:sp>
      <p:sp>
        <p:nvSpPr>
          <p:cNvPr id="37" name="TextBox 9"/>
          <p:cNvSpPr txBox="1">
            <a:spLocks noChangeArrowheads="1"/>
          </p:cNvSpPr>
          <p:nvPr/>
        </p:nvSpPr>
        <p:spPr bwMode="auto">
          <a:xfrm>
            <a:off x="1357897" y="3104247"/>
            <a:ext cx="196528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100" b="1" dirty="0">
                <a:solidFill>
                  <a:srgbClr val="000000"/>
                </a:solidFill>
                <a:latin typeface="Arial"/>
              </a:rPr>
              <a:t>Photosystem</a:t>
            </a:r>
            <a:r>
              <a:rPr lang="en-US" sz="21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II</a:t>
            </a:r>
          </a:p>
        </p:txBody>
      </p:sp>
      <p:sp>
        <p:nvSpPr>
          <p:cNvPr id="38" name="TextBox 10"/>
          <p:cNvSpPr txBox="1">
            <a:spLocks noChangeArrowheads="1"/>
          </p:cNvSpPr>
          <p:nvPr/>
        </p:nvSpPr>
        <p:spPr bwMode="auto">
          <a:xfrm>
            <a:off x="794335" y="3396347"/>
            <a:ext cx="311303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100" b="1">
                <a:solidFill>
                  <a:srgbClr val="000000"/>
                </a:solidFill>
                <a:latin typeface="Arial"/>
              </a:rPr>
              <a:t>Electron transport chain</a:t>
            </a:r>
          </a:p>
        </p:txBody>
      </p:sp>
      <p:sp>
        <p:nvSpPr>
          <p:cNvPr id="39" name="TextBox 11"/>
          <p:cNvSpPr txBox="1">
            <a:spLocks noChangeArrowheads="1"/>
          </p:cNvSpPr>
          <p:nvPr/>
        </p:nvSpPr>
        <p:spPr bwMode="auto">
          <a:xfrm>
            <a:off x="1405522" y="3688447"/>
            <a:ext cx="186108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100" b="1" dirty="0">
                <a:solidFill>
                  <a:srgbClr val="000000"/>
                </a:solidFill>
                <a:latin typeface="Arial"/>
              </a:rPr>
              <a:t>Photosystem</a:t>
            </a:r>
            <a:r>
              <a:rPr lang="en-US" sz="21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</a:t>
            </a:r>
          </a:p>
        </p:txBody>
      </p:sp>
      <p:sp>
        <p:nvSpPr>
          <p:cNvPr id="40" name="TextBox 12"/>
          <p:cNvSpPr txBox="1">
            <a:spLocks noChangeArrowheads="1"/>
          </p:cNvSpPr>
          <p:nvPr/>
        </p:nvSpPr>
        <p:spPr bwMode="auto">
          <a:xfrm>
            <a:off x="794335" y="3980547"/>
            <a:ext cx="311303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100" b="1">
                <a:solidFill>
                  <a:srgbClr val="000000"/>
                </a:solidFill>
                <a:latin typeface="Arial"/>
              </a:rPr>
              <a:t>Electron transport chain</a:t>
            </a:r>
          </a:p>
        </p:txBody>
      </p:sp>
      <p:sp>
        <p:nvSpPr>
          <p:cNvPr id="41" name="TextBox 3"/>
          <p:cNvSpPr txBox="1">
            <a:spLocks noChangeArrowheads="1"/>
          </p:cNvSpPr>
          <p:nvPr/>
        </p:nvSpPr>
        <p:spPr bwMode="auto">
          <a:xfrm>
            <a:off x="574675" y="1238722"/>
            <a:ext cx="660437" cy="294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300"/>
              </a:lnSpc>
            </a:pPr>
            <a:r>
              <a:rPr lang="en-US" sz="2100" b="1" dirty="0">
                <a:solidFill>
                  <a:srgbClr val="000000"/>
                </a:solidFill>
                <a:latin typeface="Arial"/>
              </a:rPr>
              <a:t>Light</a:t>
            </a:r>
          </a:p>
        </p:txBody>
      </p:sp>
      <p:sp>
        <p:nvSpPr>
          <p:cNvPr id="42" name="TextBox 20"/>
          <p:cNvSpPr txBox="1">
            <a:spLocks noChangeArrowheads="1"/>
          </p:cNvSpPr>
          <p:nvPr/>
        </p:nvSpPr>
        <p:spPr bwMode="auto">
          <a:xfrm>
            <a:off x="5965827" y="2979416"/>
            <a:ext cx="981872" cy="589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300"/>
              </a:lnSpc>
            </a:pPr>
            <a:r>
              <a:rPr lang="en-US" sz="2100" b="1" dirty="0" smtClean="0">
                <a:solidFill>
                  <a:srgbClr val="000000"/>
                </a:solidFill>
                <a:latin typeface="Arial"/>
              </a:rPr>
              <a:t>CALVIN</a:t>
            </a:r>
          </a:p>
          <a:p>
            <a:pPr algn="ctr">
              <a:lnSpc>
                <a:spcPts val="2300"/>
              </a:lnSpc>
            </a:pPr>
            <a:r>
              <a:rPr lang="en-US" sz="2100" b="1" dirty="0" smtClean="0">
                <a:solidFill>
                  <a:srgbClr val="000000"/>
                </a:solidFill>
                <a:latin typeface="Arial"/>
              </a:rPr>
              <a:t>CYCLE</a:t>
            </a:r>
            <a:endParaRPr lang="en-US" sz="21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Box 22"/>
          <p:cNvSpPr txBox="1">
            <a:spLocks noChangeArrowheads="1"/>
          </p:cNvSpPr>
          <p:nvPr/>
        </p:nvSpPr>
        <p:spPr bwMode="auto">
          <a:xfrm>
            <a:off x="6937375" y="4006528"/>
            <a:ext cx="538609" cy="294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300"/>
              </a:lnSpc>
            </a:pPr>
            <a:r>
              <a:rPr lang="en-US" sz="2100" b="1" dirty="0">
                <a:solidFill>
                  <a:srgbClr val="000000"/>
                </a:solidFill>
                <a:latin typeface="Arial"/>
              </a:rPr>
              <a:t>G3P</a:t>
            </a:r>
          </a:p>
        </p:txBody>
      </p:sp>
      <p:sp>
        <p:nvSpPr>
          <p:cNvPr id="44" name="TextBox 23"/>
          <p:cNvSpPr txBox="1">
            <a:spLocks noChangeArrowheads="1"/>
          </p:cNvSpPr>
          <p:nvPr/>
        </p:nvSpPr>
        <p:spPr bwMode="auto">
          <a:xfrm>
            <a:off x="6905268" y="4466903"/>
            <a:ext cx="1150956" cy="589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300"/>
              </a:lnSpc>
            </a:pPr>
            <a:r>
              <a:rPr lang="en-US" sz="2100" b="1" dirty="0" smtClean="0">
                <a:solidFill>
                  <a:srgbClr val="000000"/>
                </a:solidFill>
                <a:latin typeface="Arial"/>
              </a:rPr>
              <a:t>Starch</a:t>
            </a:r>
          </a:p>
          <a:p>
            <a:pPr>
              <a:lnSpc>
                <a:spcPts val="2300"/>
              </a:lnSpc>
            </a:pPr>
            <a:r>
              <a:rPr lang="en-US" sz="2100" b="1" dirty="0" smtClean="0">
                <a:solidFill>
                  <a:srgbClr val="000000"/>
                </a:solidFill>
                <a:latin typeface="Arial"/>
              </a:rPr>
              <a:t>(storage)</a:t>
            </a:r>
            <a:endParaRPr lang="en-US" sz="21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Box 27"/>
          <p:cNvSpPr txBox="1">
            <a:spLocks noChangeArrowheads="1"/>
          </p:cNvSpPr>
          <p:nvPr/>
        </p:nvSpPr>
        <p:spPr bwMode="auto">
          <a:xfrm>
            <a:off x="5426076" y="6047259"/>
            <a:ext cx="2138406" cy="294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300"/>
              </a:lnSpc>
            </a:pPr>
            <a:r>
              <a:rPr lang="en-US" sz="2100" b="1" dirty="0">
                <a:solidFill>
                  <a:srgbClr val="FFFFFF"/>
                </a:solidFill>
                <a:latin typeface="Arial"/>
              </a:rPr>
              <a:t>Sucrose (export)</a:t>
            </a:r>
          </a:p>
        </p:txBody>
      </p:sp>
      <p:sp>
        <p:nvSpPr>
          <p:cNvPr id="46" name="TextBox 6"/>
          <p:cNvSpPr txBox="1">
            <a:spLocks noChangeArrowheads="1"/>
          </p:cNvSpPr>
          <p:nvPr/>
        </p:nvSpPr>
        <p:spPr bwMode="auto">
          <a:xfrm>
            <a:off x="3935421" y="1858745"/>
            <a:ext cx="86562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100" b="1" dirty="0" smtClean="0">
                <a:solidFill>
                  <a:srgbClr val="000000"/>
                </a:solidFill>
                <a:latin typeface="Arial"/>
              </a:rPr>
              <a:t>NADP</a:t>
            </a:r>
            <a:r>
              <a:rPr lang="en-US" sz="21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2100" b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13"/>
          <p:cNvSpPr txBox="1">
            <a:spLocks noChangeArrowheads="1"/>
          </p:cNvSpPr>
          <p:nvPr/>
        </p:nvSpPr>
        <p:spPr bwMode="auto">
          <a:xfrm>
            <a:off x="4078296" y="2374683"/>
            <a:ext cx="567463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100" b="1" dirty="0">
                <a:solidFill>
                  <a:srgbClr val="000000"/>
                </a:solidFill>
                <a:latin typeface="Arial"/>
              </a:rPr>
              <a:t>ADP</a:t>
            </a:r>
          </a:p>
        </p:txBody>
      </p:sp>
      <p:sp>
        <p:nvSpPr>
          <p:cNvPr id="48" name="TextBox 14"/>
          <p:cNvSpPr txBox="1">
            <a:spLocks noChangeArrowheads="1"/>
          </p:cNvSpPr>
          <p:nvPr/>
        </p:nvSpPr>
        <p:spPr bwMode="auto">
          <a:xfrm>
            <a:off x="4278316" y="2682657"/>
            <a:ext cx="15709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1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49" name="TextBox 15"/>
          <p:cNvSpPr txBox="1">
            <a:spLocks noChangeArrowheads="1"/>
          </p:cNvSpPr>
          <p:nvPr/>
        </p:nvSpPr>
        <p:spPr bwMode="auto">
          <a:xfrm>
            <a:off x="4287051" y="3020001"/>
            <a:ext cx="17953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100" b="1" dirty="0" smtClean="0">
                <a:solidFill>
                  <a:srgbClr val="000000"/>
                </a:solidFill>
                <a:latin typeface="Arial"/>
              </a:rPr>
              <a:t>P</a:t>
            </a:r>
            <a:endParaRPr lang="en-US" sz="1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Box 16"/>
          <p:cNvSpPr txBox="1">
            <a:spLocks noChangeArrowheads="1"/>
          </p:cNvSpPr>
          <p:nvPr/>
        </p:nvSpPr>
        <p:spPr bwMode="auto">
          <a:xfrm>
            <a:off x="4135446" y="3844708"/>
            <a:ext cx="51860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100" b="1" dirty="0">
                <a:solidFill>
                  <a:srgbClr val="000000"/>
                </a:solidFill>
                <a:latin typeface="Arial"/>
              </a:rPr>
              <a:t>ATP</a:t>
            </a:r>
          </a:p>
        </p:txBody>
      </p:sp>
      <p:sp>
        <p:nvSpPr>
          <p:cNvPr id="51" name="TextBox 17"/>
          <p:cNvSpPr txBox="1">
            <a:spLocks noChangeArrowheads="1"/>
          </p:cNvSpPr>
          <p:nvPr/>
        </p:nvSpPr>
        <p:spPr bwMode="auto">
          <a:xfrm>
            <a:off x="3907642" y="4417795"/>
            <a:ext cx="95539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100" b="1">
                <a:solidFill>
                  <a:srgbClr val="000000"/>
                </a:solidFill>
                <a:latin typeface="Arial"/>
              </a:rPr>
              <a:t>NADPH</a:t>
            </a:r>
          </a:p>
        </p:txBody>
      </p:sp>
      <p:sp>
        <p:nvSpPr>
          <p:cNvPr id="52" name="TextBox 19"/>
          <p:cNvSpPr txBox="1">
            <a:spLocks noChangeArrowheads="1"/>
          </p:cNvSpPr>
          <p:nvPr/>
        </p:nvSpPr>
        <p:spPr bwMode="auto">
          <a:xfrm>
            <a:off x="5048255" y="3068420"/>
            <a:ext cx="732573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100" b="1" dirty="0" err="1">
                <a:solidFill>
                  <a:srgbClr val="000000"/>
                </a:solidFill>
                <a:latin typeface="Arial"/>
              </a:rPr>
              <a:t>RuBP</a:t>
            </a:r>
            <a:endParaRPr lang="en-US" sz="21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15"/>
          <p:cNvSpPr txBox="1">
            <a:spLocks noChangeArrowheads="1"/>
          </p:cNvSpPr>
          <p:nvPr/>
        </p:nvSpPr>
        <p:spPr bwMode="auto">
          <a:xfrm>
            <a:off x="4526432" y="3146136"/>
            <a:ext cx="67326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900" b="1" dirty="0" smtClean="0">
                <a:solidFill>
                  <a:srgbClr val="000000"/>
                </a:solidFill>
                <a:latin typeface="Arial"/>
              </a:rPr>
              <a:t>i</a:t>
            </a:r>
            <a:endParaRPr lang="en-US" sz="1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2"/>
          <p:cNvSpPr txBox="1">
            <a:spLocks noChangeArrowheads="1"/>
          </p:cNvSpPr>
          <p:nvPr/>
        </p:nvSpPr>
        <p:spPr bwMode="auto">
          <a:xfrm>
            <a:off x="2048145" y="435675"/>
            <a:ext cx="503343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100" b="1" dirty="0">
                <a:solidFill>
                  <a:srgbClr val="FFFFFF"/>
                </a:solidFill>
                <a:latin typeface="Arial"/>
              </a:rPr>
              <a:t>H</a:t>
            </a:r>
            <a:r>
              <a:rPr lang="en-US" sz="2100" b="1" baseline="-25000" dirty="0">
                <a:solidFill>
                  <a:srgbClr val="FFFFFF"/>
                </a:solidFill>
                <a:latin typeface="Arial"/>
              </a:rPr>
              <a:t>2</a:t>
            </a:r>
            <a:r>
              <a:rPr lang="en-US" sz="2100" b="1" dirty="0">
                <a:solidFill>
                  <a:srgbClr val="FFFFFF"/>
                </a:solidFill>
                <a:latin typeface="Arial"/>
              </a:rPr>
              <a:t>O</a:t>
            </a:r>
          </a:p>
        </p:txBody>
      </p:sp>
      <p:sp>
        <p:nvSpPr>
          <p:cNvPr id="55" name="TextBox 4"/>
          <p:cNvSpPr txBox="1">
            <a:spLocks noChangeArrowheads="1"/>
          </p:cNvSpPr>
          <p:nvPr/>
        </p:nvSpPr>
        <p:spPr bwMode="auto">
          <a:xfrm>
            <a:off x="2991123" y="259462"/>
            <a:ext cx="149720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100" b="1">
                <a:solidFill>
                  <a:srgbClr val="000000"/>
                </a:solidFill>
                <a:latin typeface="Arial"/>
              </a:rPr>
              <a:t>Chloroplast</a:t>
            </a:r>
          </a:p>
        </p:txBody>
      </p:sp>
      <p:sp>
        <p:nvSpPr>
          <p:cNvPr id="56" name="TextBox 5"/>
          <p:cNvSpPr txBox="1">
            <a:spLocks noChangeArrowheads="1"/>
          </p:cNvSpPr>
          <p:nvPr/>
        </p:nvSpPr>
        <p:spPr bwMode="auto">
          <a:xfrm>
            <a:off x="6196282" y="457900"/>
            <a:ext cx="4937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100" b="1" dirty="0">
                <a:solidFill>
                  <a:srgbClr val="FFFFFF"/>
                </a:solidFill>
                <a:latin typeface="Arial"/>
              </a:rPr>
              <a:t>CO</a:t>
            </a:r>
            <a:r>
              <a:rPr lang="en-US" sz="1900" b="1" baseline="-25000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7" name="TextBox 18"/>
          <p:cNvSpPr txBox="1">
            <a:spLocks noChangeArrowheads="1"/>
          </p:cNvSpPr>
          <p:nvPr/>
        </p:nvSpPr>
        <p:spPr bwMode="auto">
          <a:xfrm>
            <a:off x="5907361" y="2401000"/>
            <a:ext cx="257282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100" b="1">
                <a:solidFill>
                  <a:srgbClr val="000000"/>
                </a:solidFill>
                <a:latin typeface="Arial"/>
              </a:rPr>
              <a:t>3-Phosphoglycerate</a:t>
            </a:r>
          </a:p>
        </p:txBody>
      </p:sp>
      <p:sp>
        <p:nvSpPr>
          <p:cNvPr id="58" name="TextBox 25"/>
          <p:cNvSpPr txBox="1">
            <a:spLocks noChangeArrowheads="1"/>
          </p:cNvSpPr>
          <p:nvPr/>
        </p:nvSpPr>
        <p:spPr bwMode="auto">
          <a:xfrm>
            <a:off x="2136215" y="5969002"/>
            <a:ext cx="30938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100" b="1" dirty="0" smtClean="0">
                <a:solidFill>
                  <a:srgbClr val="FFFFFF"/>
                </a:solidFill>
                <a:latin typeface="Arial"/>
              </a:rPr>
              <a:t>O</a:t>
            </a:r>
            <a:r>
              <a:rPr lang="en-US" sz="2100" b="1" baseline="-25000" dirty="0" smtClean="0">
                <a:solidFill>
                  <a:srgbClr val="FFFFFF"/>
                </a:solidFill>
                <a:latin typeface="Arial"/>
              </a:rPr>
              <a:t>2</a:t>
            </a:r>
            <a:endParaRPr lang="en-US" sz="1900" b="1" baseline="-250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3543300" y="561974"/>
            <a:ext cx="0" cy="781050"/>
          </a:xfrm>
          <a:custGeom>
            <a:avLst/>
            <a:gdLst>
              <a:gd name="connsiteX0" fmla="*/ 0 w 0"/>
              <a:gd name="connsiteY0" fmla="*/ 0 h 781050"/>
              <a:gd name="connsiteX1" fmla="*/ 0 w 0"/>
              <a:gd name="connsiteY1" fmla="*/ 781050 h 781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781050">
                <a:moveTo>
                  <a:pt x="0" y="0"/>
                </a:moveTo>
                <a:lnTo>
                  <a:pt x="0" y="78105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29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51164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64"/>
          <a:stretch>
            <a:fillRect/>
          </a:stretch>
        </p:blipFill>
        <p:spPr>
          <a:xfrm>
            <a:off x="298704" y="844296"/>
            <a:ext cx="8546592" cy="51694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11.UN05</a:t>
            </a:r>
            <a:endParaRPr lang="en-US" dirty="0"/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3112297" y="5452288"/>
            <a:ext cx="44454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latin typeface="Arial"/>
              </a:rPr>
              <a:t>ATP</a:t>
            </a:r>
          </a:p>
        </p:txBody>
      </p:sp>
      <p:sp>
        <p:nvSpPr>
          <p:cNvPr id="7" name="TextBox 36"/>
          <p:cNvSpPr txBox="1">
            <a:spLocks noChangeArrowheads="1"/>
          </p:cNvSpPr>
          <p:nvPr/>
        </p:nvSpPr>
        <p:spPr bwMode="auto">
          <a:xfrm>
            <a:off x="4569619" y="5325074"/>
            <a:ext cx="16030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latin typeface="Arial"/>
              </a:rPr>
              <a:t>Photosystem </a:t>
            </a:r>
            <a:r>
              <a:rPr lang="en-US" sz="1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</a:p>
        </p:txBody>
      </p:sp>
      <p:sp>
        <p:nvSpPr>
          <p:cNvPr id="8" name="TextBox 37"/>
          <p:cNvSpPr txBox="1">
            <a:spLocks noChangeArrowheads="1"/>
          </p:cNvSpPr>
          <p:nvPr/>
        </p:nvSpPr>
        <p:spPr bwMode="auto">
          <a:xfrm>
            <a:off x="992980" y="5699724"/>
            <a:ext cx="169277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latin typeface="Arial"/>
              </a:rPr>
              <a:t>Photosystem </a:t>
            </a:r>
            <a:r>
              <a:rPr lang="en-US" sz="1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II</a:t>
            </a:r>
          </a:p>
        </p:txBody>
      </p:sp>
      <p:sp>
        <p:nvSpPr>
          <p:cNvPr id="9" name="TextBox 3"/>
          <p:cNvSpPr txBox="1">
            <a:spLocks noChangeArrowheads="1"/>
          </p:cNvSpPr>
          <p:nvPr/>
        </p:nvSpPr>
        <p:spPr bwMode="auto">
          <a:xfrm>
            <a:off x="4860113" y="1577981"/>
            <a:ext cx="961802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Primary</a:t>
            </a:r>
          </a:p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electron</a:t>
            </a:r>
          </a:p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acceptor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Box 12"/>
          <p:cNvSpPr txBox="1">
            <a:spLocks noChangeArrowheads="1"/>
          </p:cNvSpPr>
          <p:nvPr/>
        </p:nvSpPr>
        <p:spPr bwMode="auto">
          <a:xfrm>
            <a:off x="6496589" y="2347125"/>
            <a:ext cx="1090042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NADP</a:t>
            </a:r>
            <a:r>
              <a:rPr lang="en-US" sz="18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  <a:p>
            <a:pPr algn="ctr">
              <a:lnSpc>
                <a:spcPts val="2000"/>
              </a:lnSpc>
            </a:pPr>
            <a:r>
              <a:rPr lang="en-US" sz="1800" b="1" dirty="0" err="1" smtClean="0">
                <a:solidFill>
                  <a:srgbClr val="000000"/>
                </a:solidFill>
                <a:latin typeface="Arial"/>
              </a:rPr>
              <a:t>reductase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Box 17"/>
          <p:cNvSpPr txBox="1">
            <a:spLocks noChangeArrowheads="1"/>
          </p:cNvSpPr>
          <p:nvPr/>
        </p:nvSpPr>
        <p:spPr bwMode="auto">
          <a:xfrm>
            <a:off x="1358082" y="1927231"/>
            <a:ext cx="961802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Primary</a:t>
            </a:r>
          </a:p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electron</a:t>
            </a:r>
          </a:p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acceptor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Box 20"/>
          <p:cNvSpPr txBox="1">
            <a:spLocks noChangeArrowheads="1"/>
          </p:cNvSpPr>
          <p:nvPr/>
        </p:nvSpPr>
        <p:spPr bwMode="auto">
          <a:xfrm>
            <a:off x="916928" y="3118154"/>
            <a:ext cx="43120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 dirty="0">
                <a:solidFill>
                  <a:srgbClr val="FFFFFF"/>
                </a:solidFill>
                <a:latin typeface="Arial"/>
              </a:rPr>
              <a:t>H</a:t>
            </a:r>
            <a:r>
              <a:rPr lang="en-US" sz="1800" b="1" baseline="-25000" dirty="0">
                <a:solidFill>
                  <a:srgbClr val="FFFFFF"/>
                </a:solidFill>
                <a:latin typeface="Arial"/>
              </a:rPr>
              <a:t>2</a:t>
            </a:r>
            <a:r>
              <a:rPr lang="en-US" sz="1800" b="1" dirty="0">
                <a:solidFill>
                  <a:srgbClr val="FFFFFF"/>
                </a:solidFill>
                <a:latin typeface="Arial"/>
              </a:rPr>
              <a:t>O</a:t>
            </a:r>
          </a:p>
        </p:txBody>
      </p:sp>
      <p:sp>
        <p:nvSpPr>
          <p:cNvPr id="13" name="TextBox 21"/>
          <p:cNvSpPr txBox="1">
            <a:spLocks noChangeArrowheads="1"/>
          </p:cNvSpPr>
          <p:nvPr/>
        </p:nvSpPr>
        <p:spPr bwMode="auto">
          <a:xfrm>
            <a:off x="408927" y="3522967"/>
            <a:ext cx="26449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 dirty="0">
                <a:solidFill>
                  <a:srgbClr val="FFFFFF"/>
                </a:solidFill>
                <a:latin typeface="Arial"/>
              </a:rPr>
              <a:t>O</a:t>
            </a:r>
            <a:r>
              <a:rPr lang="en-US" sz="1800" b="1" baseline="-25000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2798296" y="2937675"/>
            <a:ext cx="294953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err="1">
                <a:solidFill>
                  <a:srgbClr val="000000"/>
                </a:solidFill>
                <a:latin typeface="Arial"/>
              </a:rPr>
              <a:t>Pq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Box 26"/>
          <p:cNvSpPr txBox="1">
            <a:spLocks noChangeArrowheads="1"/>
          </p:cNvSpPr>
          <p:nvPr/>
        </p:nvSpPr>
        <p:spPr bwMode="auto">
          <a:xfrm>
            <a:off x="2836543" y="3479013"/>
            <a:ext cx="1346522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Cytochrome</a:t>
            </a:r>
          </a:p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complex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Box 28"/>
          <p:cNvSpPr txBox="1">
            <a:spLocks noChangeArrowheads="1"/>
          </p:cNvSpPr>
          <p:nvPr/>
        </p:nvSpPr>
        <p:spPr bwMode="auto">
          <a:xfrm>
            <a:off x="4027961" y="4254507"/>
            <a:ext cx="282129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Pc</a:t>
            </a:r>
          </a:p>
        </p:txBody>
      </p:sp>
      <p:sp>
        <p:nvSpPr>
          <p:cNvPr id="17" name="TextBox 11"/>
          <p:cNvSpPr txBox="1">
            <a:spLocks noChangeArrowheads="1"/>
          </p:cNvSpPr>
          <p:nvPr/>
        </p:nvSpPr>
        <p:spPr bwMode="auto">
          <a:xfrm>
            <a:off x="6475160" y="1778163"/>
            <a:ext cx="28212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latin typeface="Arial"/>
              </a:rPr>
              <a:t>Fd</a:t>
            </a:r>
          </a:p>
        </p:txBody>
      </p:sp>
      <p:sp>
        <p:nvSpPr>
          <p:cNvPr id="18" name="TextBox 16"/>
          <p:cNvSpPr txBox="1">
            <a:spLocks noChangeArrowheads="1"/>
          </p:cNvSpPr>
          <p:nvPr/>
        </p:nvSpPr>
        <p:spPr bwMode="auto">
          <a:xfrm>
            <a:off x="7953120" y="2651288"/>
            <a:ext cx="8207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latin typeface="Arial"/>
              </a:rPr>
              <a:t>NADPH</a:t>
            </a:r>
          </a:p>
        </p:txBody>
      </p:sp>
      <p:sp>
        <p:nvSpPr>
          <p:cNvPr id="19" name="TextBox 16"/>
          <p:cNvSpPr txBox="1">
            <a:spLocks noChangeArrowheads="1"/>
          </p:cNvSpPr>
          <p:nvPr/>
        </p:nvSpPr>
        <p:spPr bwMode="auto">
          <a:xfrm>
            <a:off x="7943596" y="2094233"/>
            <a:ext cx="74379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NADP</a:t>
            </a:r>
            <a:r>
              <a:rPr lang="en-US" sz="18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1800" b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6"/>
          <p:cNvSpPr txBox="1">
            <a:spLocks noChangeArrowheads="1"/>
          </p:cNvSpPr>
          <p:nvPr/>
        </p:nvSpPr>
        <p:spPr bwMode="auto">
          <a:xfrm>
            <a:off x="8088852" y="2344548"/>
            <a:ext cx="44403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H</a:t>
            </a:r>
            <a:r>
              <a:rPr lang="en-US" sz="18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1800" b="1" baseline="30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6"/>
          <p:cNvSpPr txBox="1">
            <a:spLocks noChangeArrowheads="1"/>
          </p:cNvSpPr>
          <p:nvPr/>
        </p:nvSpPr>
        <p:spPr bwMode="auto">
          <a:xfrm rot="2745197">
            <a:off x="2396398" y="2474450"/>
            <a:ext cx="2000548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Electron transport</a:t>
            </a:r>
          </a:p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chain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Box 26"/>
          <p:cNvSpPr txBox="1">
            <a:spLocks noChangeArrowheads="1"/>
          </p:cNvSpPr>
          <p:nvPr/>
        </p:nvSpPr>
        <p:spPr bwMode="auto">
          <a:xfrm rot="1436187">
            <a:off x="5783205" y="1226261"/>
            <a:ext cx="2000548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Electron transport</a:t>
            </a:r>
          </a:p>
          <a:p>
            <a:pPr algn="ctr"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chain</a:t>
            </a:r>
            <a:endParaRPr lang="en-US"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44484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1216152" y="213360"/>
            <a:ext cx="6711696" cy="64312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11.UN06</a:t>
            </a:r>
            <a:endParaRPr lang="en-US" dirty="0"/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4836441" y="226704"/>
            <a:ext cx="727763" cy="294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300"/>
              </a:lnSpc>
            </a:pPr>
            <a:r>
              <a:rPr lang="en-US" sz="2100" b="1" dirty="0">
                <a:solidFill>
                  <a:srgbClr val="000000"/>
                </a:solidFill>
                <a:latin typeface="Arial"/>
              </a:rPr>
              <a:t>3 CO</a:t>
            </a:r>
            <a:r>
              <a:rPr lang="en-US" sz="2100" b="1" baseline="-25000" dirty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5946905" y="1173649"/>
            <a:ext cx="1976503" cy="294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300"/>
              </a:lnSpc>
            </a:pPr>
            <a:r>
              <a:rPr lang="en-US" sz="2100" b="1" dirty="0">
                <a:solidFill>
                  <a:srgbClr val="000000"/>
                </a:solidFill>
                <a:latin typeface="Arial"/>
              </a:rPr>
              <a:t>Carbon fixation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3217170" y="2304583"/>
            <a:ext cx="799899" cy="294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300"/>
              </a:lnSpc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3 </a:t>
            </a:r>
            <a:r>
              <a:rPr lang="en-US" sz="21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x </a:t>
            </a:r>
            <a:r>
              <a:rPr lang="en-US" sz="21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5C</a:t>
            </a: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4834853" y="3046105"/>
            <a:ext cx="807913" cy="294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300"/>
              </a:lnSpc>
            </a:pPr>
            <a:r>
              <a:rPr lang="en-US" sz="2100" b="1" dirty="0">
                <a:solidFill>
                  <a:srgbClr val="000000"/>
                </a:solidFill>
                <a:latin typeface="Arial"/>
              </a:rPr>
              <a:t>Calvin</a:t>
            </a:r>
          </a:p>
        </p:txBody>
      </p:sp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4879303" y="3338205"/>
            <a:ext cx="716543" cy="294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300"/>
              </a:lnSpc>
            </a:pPr>
            <a:r>
              <a:rPr lang="en-US" sz="2100" b="1">
                <a:solidFill>
                  <a:srgbClr val="000000"/>
                </a:solidFill>
                <a:latin typeface="Arial"/>
              </a:rPr>
              <a:t>Cycle</a:t>
            </a:r>
          </a:p>
        </p:txBody>
      </p:sp>
      <p:sp>
        <p:nvSpPr>
          <p:cNvPr id="11" name="TextBox 7"/>
          <p:cNvSpPr txBox="1">
            <a:spLocks noChangeArrowheads="1"/>
          </p:cNvSpPr>
          <p:nvPr/>
        </p:nvSpPr>
        <p:spPr bwMode="auto">
          <a:xfrm>
            <a:off x="1239967" y="3669199"/>
            <a:ext cx="2050241" cy="589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300"/>
              </a:lnSpc>
            </a:pPr>
            <a:r>
              <a:rPr lang="en-US" sz="2100" b="1" dirty="0" smtClean="0">
                <a:solidFill>
                  <a:srgbClr val="000000"/>
                </a:solidFill>
                <a:latin typeface="Arial"/>
              </a:rPr>
              <a:t>Regeneration of</a:t>
            </a:r>
          </a:p>
          <a:p>
            <a:pPr algn="ctr">
              <a:lnSpc>
                <a:spcPts val="2300"/>
              </a:lnSpc>
            </a:pPr>
            <a:r>
              <a:rPr lang="en-US" sz="2100" b="1" dirty="0" smtClean="0">
                <a:solidFill>
                  <a:srgbClr val="000000"/>
                </a:solidFill>
                <a:latin typeface="Arial"/>
              </a:rPr>
              <a:t>CO</a:t>
            </a:r>
            <a:r>
              <a:rPr lang="en-US" sz="2100" b="1" baseline="-25000" dirty="0" smtClean="0">
                <a:solidFill>
                  <a:srgbClr val="000000"/>
                </a:solidFill>
                <a:latin typeface="Arial"/>
              </a:rPr>
              <a:t>2</a:t>
            </a:r>
            <a:r>
              <a:rPr lang="en-US" sz="2100" b="1" dirty="0" smtClean="0">
                <a:solidFill>
                  <a:srgbClr val="000000"/>
                </a:solidFill>
                <a:latin typeface="Arial"/>
              </a:rPr>
              <a:t> acceptor</a:t>
            </a:r>
            <a:endParaRPr lang="en-US" sz="21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Box 11"/>
          <p:cNvSpPr txBox="1">
            <a:spLocks noChangeArrowheads="1"/>
          </p:cNvSpPr>
          <p:nvPr/>
        </p:nvSpPr>
        <p:spPr bwMode="auto">
          <a:xfrm>
            <a:off x="6469977" y="4890779"/>
            <a:ext cx="1317668" cy="294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300"/>
              </a:lnSpc>
            </a:pPr>
            <a:r>
              <a:rPr lang="en-US" sz="2100" b="1" dirty="0">
                <a:solidFill>
                  <a:srgbClr val="000000"/>
                </a:solidFill>
                <a:latin typeface="Arial"/>
              </a:rPr>
              <a:t>Reduction</a:t>
            </a:r>
          </a:p>
        </p:txBody>
      </p:sp>
      <p:sp>
        <p:nvSpPr>
          <p:cNvPr id="15" name="TextBox 12"/>
          <p:cNvSpPr txBox="1">
            <a:spLocks noChangeArrowheads="1"/>
          </p:cNvSpPr>
          <p:nvPr/>
        </p:nvSpPr>
        <p:spPr bwMode="auto">
          <a:xfrm>
            <a:off x="4621340" y="6312386"/>
            <a:ext cx="1356077" cy="294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300"/>
              </a:lnSpc>
            </a:pPr>
            <a:r>
              <a:rPr lang="en-US" sz="2100" b="1" dirty="0">
                <a:solidFill>
                  <a:srgbClr val="000000"/>
                </a:solidFill>
                <a:latin typeface="Arial"/>
              </a:rPr>
              <a:t>1 G3P (3C)</a:t>
            </a:r>
          </a:p>
        </p:txBody>
      </p:sp>
      <p:sp>
        <p:nvSpPr>
          <p:cNvPr id="17" name="TextBox 10"/>
          <p:cNvSpPr txBox="1">
            <a:spLocks noChangeArrowheads="1"/>
          </p:cNvSpPr>
          <p:nvPr/>
        </p:nvSpPr>
        <p:spPr bwMode="auto">
          <a:xfrm>
            <a:off x="6383461" y="2345388"/>
            <a:ext cx="799899" cy="294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300"/>
              </a:lnSpc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6 </a:t>
            </a:r>
            <a:r>
              <a:rPr lang="en-US" sz="21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x </a:t>
            </a:r>
            <a:r>
              <a:rPr lang="en-US" sz="21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3C</a:t>
            </a:r>
          </a:p>
        </p:txBody>
      </p:sp>
      <p:sp>
        <p:nvSpPr>
          <p:cNvPr id="12" name="TextBox 9"/>
          <p:cNvSpPr txBox="1">
            <a:spLocks noChangeArrowheads="1"/>
          </p:cNvSpPr>
          <p:nvPr/>
        </p:nvSpPr>
        <p:spPr bwMode="auto">
          <a:xfrm>
            <a:off x="3521307" y="4316575"/>
            <a:ext cx="799899" cy="294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300"/>
              </a:lnSpc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5 </a:t>
            </a:r>
            <a:r>
              <a:rPr lang="en-US" sz="21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x </a:t>
            </a:r>
            <a:r>
              <a:rPr lang="en-US" sz="21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3C</a:t>
            </a:r>
          </a:p>
        </p:txBody>
      </p:sp>
      <p:sp>
        <p:nvSpPr>
          <p:cNvPr id="16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3522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95"/>
          <a:stretch>
            <a:fillRect/>
          </a:stretch>
        </p:blipFill>
        <p:spPr>
          <a:xfrm>
            <a:off x="298704" y="2118360"/>
            <a:ext cx="8546592" cy="26212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11.22c</a:t>
            </a:r>
            <a:endParaRPr lang="en-US" dirty="0"/>
          </a:p>
        </p:txBody>
      </p:sp>
      <p:sp>
        <p:nvSpPr>
          <p:cNvPr id="4" name="TextBox 7"/>
          <p:cNvSpPr txBox="1">
            <a:spLocks noChangeArrowheads="1"/>
          </p:cNvSpPr>
          <p:nvPr/>
        </p:nvSpPr>
        <p:spPr bwMode="auto">
          <a:xfrm>
            <a:off x="1415072" y="2319239"/>
            <a:ext cx="2115964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FFFFFF"/>
                </a:solidFill>
                <a:latin typeface="Arial"/>
              </a:rPr>
              <a:t>LIGHT REACTIONS</a:t>
            </a:r>
            <a:endParaRPr lang="en-US" sz="1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5400967" y="2318604"/>
            <a:ext cx="3111942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FFFFFF"/>
                </a:solidFill>
                <a:latin typeface="Arial"/>
              </a:rPr>
              <a:t>CALVIN CYCLE REACTIONS</a:t>
            </a:r>
            <a:endParaRPr lang="en-US" sz="1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479747" y="2803586"/>
            <a:ext cx="3306033" cy="546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37160" indent="-137160">
              <a:lnSpc>
                <a:spcPts val="2200"/>
              </a:lnSpc>
              <a:buFont typeface="Arial" pitchFamily="34" charset="0"/>
              <a:buChar char="•"/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Are carried out by molecules</a:t>
            </a:r>
            <a:r>
              <a:rPr lang="en-US" sz="1800" b="1" dirty="0">
                <a:solidFill>
                  <a:srgbClr val="000000"/>
                </a:solidFill>
                <a:latin typeface="Arial"/>
              </a:rPr>
              <a:t/>
            </a:r>
            <a:br>
              <a:rPr lang="en-US" sz="1800" b="1" dirty="0">
                <a:solidFill>
                  <a:srgbClr val="000000"/>
                </a:solidFill>
                <a:latin typeface="Arial"/>
              </a:rPr>
            </a:b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in the thylakoid membranes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77276" y="3419492"/>
            <a:ext cx="4126771" cy="564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37160" indent="-137160">
              <a:lnSpc>
                <a:spcPts val="2200"/>
              </a:lnSpc>
              <a:buFont typeface="Arial" pitchFamily="34" charset="0"/>
              <a:buChar char="•"/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Convert light energy to the chemical</a:t>
            </a:r>
            <a:br>
              <a:rPr lang="en-US" sz="1800" b="1" dirty="0" smtClean="0">
                <a:solidFill>
                  <a:srgbClr val="000000"/>
                </a:solidFill>
                <a:latin typeface="Arial"/>
              </a:rPr>
            </a:b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energy of ATP and NADPH 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77277" y="4029089"/>
            <a:ext cx="2860398" cy="564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37160" indent="-137160">
              <a:lnSpc>
                <a:spcPts val="2200"/>
              </a:lnSpc>
              <a:buFont typeface="Arial" pitchFamily="34" charset="0"/>
              <a:buChar char="•"/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Split H</a:t>
            </a:r>
            <a:r>
              <a:rPr lang="en-US" sz="1800" b="1" baseline="-25000" dirty="0" smtClean="0">
                <a:solidFill>
                  <a:srgbClr val="000000"/>
                </a:solidFill>
                <a:latin typeface="Arial"/>
              </a:rPr>
              <a:t>2</a:t>
            </a: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O and release O</a:t>
            </a:r>
            <a:r>
              <a:rPr lang="en-US" sz="1800" b="1" baseline="-25000" dirty="0" smtClean="0">
                <a:solidFill>
                  <a:srgbClr val="000000"/>
                </a:solidFill>
                <a:latin typeface="Arial"/>
              </a:rPr>
              <a:t>2</a:t>
            </a: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 </a:t>
            </a:r>
            <a:br>
              <a:rPr lang="en-US" sz="1800" b="1" dirty="0" smtClean="0">
                <a:solidFill>
                  <a:srgbClr val="000000"/>
                </a:solidFill>
                <a:latin typeface="Arial"/>
              </a:rPr>
            </a:b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to the atmosphere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944513" y="2805117"/>
            <a:ext cx="2814425" cy="28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37160" indent="-137160">
              <a:lnSpc>
                <a:spcPts val="2200"/>
              </a:lnSpc>
              <a:buFont typeface="Arial" pitchFamily="34" charset="0"/>
              <a:buChar char="•"/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Take place in the </a:t>
            </a:r>
            <a:r>
              <a:rPr lang="en-US" sz="1800" b="1" dirty="0" err="1" smtClean="0">
                <a:solidFill>
                  <a:srgbClr val="000000"/>
                </a:solidFill>
                <a:latin typeface="Arial"/>
              </a:rPr>
              <a:t>stroma</a:t>
            </a:r>
            <a:endParaRPr lang="en-US" sz="1800" b="1" dirty="0" smtClean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4935005" y="3143235"/>
            <a:ext cx="3596754" cy="564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37160" indent="-137160">
              <a:lnSpc>
                <a:spcPts val="2200"/>
              </a:lnSpc>
              <a:buFont typeface="Arial" pitchFamily="34" charset="0"/>
              <a:buChar char="•"/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Use ATP and NADPH to convert</a:t>
            </a:r>
            <a:br>
              <a:rPr lang="en-US" sz="1800" b="1" dirty="0" smtClean="0">
                <a:solidFill>
                  <a:srgbClr val="000000"/>
                </a:solidFill>
                <a:latin typeface="Arial"/>
              </a:rPr>
            </a:b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CO</a:t>
            </a:r>
            <a:r>
              <a:rPr lang="en-US" sz="1800" b="1" baseline="-25000" dirty="0" smtClean="0">
                <a:solidFill>
                  <a:srgbClr val="000000"/>
                </a:solidFill>
                <a:latin typeface="Arial"/>
              </a:rPr>
              <a:t>2</a:t>
            </a: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 to the sugar G3P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4939783" y="3757549"/>
            <a:ext cx="3857594" cy="564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37160" indent="-137160">
              <a:lnSpc>
                <a:spcPts val="2200"/>
              </a:lnSpc>
              <a:buFont typeface="Arial" pitchFamily="34" charset="0"/>
              <a:buChar char="•"/>
            </a:pP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Return ADP, inorganic phosphate,</a:t>
            </a:r>
            <a:br>
              <a:rPr lang="en-US" sz="1800" b="1" dirty="0" smtClean="0">
                <a:solidFill>
                  <a:srgbClr val="000000"/>
                </a:solidFill>
                <a:latin typeface="Arial"/>
              </a:rPr>
            </a:br>
            <a:r>
              <a:rPr lang="en-US" sz="1800" b="1" dirty="0" smtClean="0">
                <a:solidFill>
                  <a:srgbClr val="000000"/>
                </a:solidFill>
                <a:latin typeface="Arial"/>
              </a:rPr>
              <a:t>and NADP</a:t>
            </a:r>
            <a:r>
              <a:rPr lang="en-US" sz="1800" b="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18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to the light reactions</a:t>
            </a:r>
          </a:p>
        </p:txBody>
      </p:sp>
      <p:sp>
        <p:nvSpPr>
          <p:cNvPr id="14" name="Footer Placeholder 1"/>
          <p:cNvSpPr txBox="1">
            <a:spLocks/>
          </p:cNvSpPr>
          <p:nvPr/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defRPr>
            </a:lvl9pPr>
          </a:lstStyle>
          <a:p>
            <a:r>
              <a:rPr lang="en-US" sz="900" dirty="0"/>
              <a:t>© </a:t>
            </a:r>
            <a:r>
              <a:rPr lang="en-US" sz="900" dirty="0" smtClean="0"/>
              <a:t>2018 Pearson Education Ltd.</a:t>
            </a:r>
            <a:endParaRPr lang="en-US" sz="900" dirty="0"/>
          </a:p>
        </p:txBody>
      </p:sp>
      <p:sp>
        <p:nvSpPr>
          <p:cNvPr id="2" name="TextBox 1"/>
          <p:cNvSpPr txBox="1"/>
          <p:nvPr/>
        </p:nvSpPr>
        <p:spPr>
          <a:xfrm>
            <a:off x="748090" y="5333999"/>
            <a:ext cx="75823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hlinkClick r:id="rId4"/>
              </a:rPr>
              <a:t>https://</a:t>
            </a:r>
            <a:r>
              <a:rPr lang="en-US" b="1" dirty="0" smtClean="0">
                <a:solidFill>
                  <a:srgbClr val="FF0000"/>
                </a:solidFill>
                <a:hlinkClick r:id="rId4"/>
              </a:rPr>
              <a:t>www.youtube.com/watch?v=NqCmzk4Z9LA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https://www.youtube.com/watch?v=XSMjfvpDtTY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2567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Campbell11e_LectureDesign">
  <a:themeElements>
    <a:clrScheme name="1_CC4eActiveLectureQuestions 15">
      <a:dk1>
        <a:srgbClr val="000000"/>
      </a:dk1>
      <a:lt1>
        <a:srgbClr val="FFFFFF"/>
      </a:lt1>
      <a:dk2>
        <a:srgbClr val="0060AF"/>
      </a:dk2>
      <a:lt2>
        <a:srgbClr val="000000"/>
      </a:lt2>
      <a:accent1>
        <a:srgbClr val="F7955A"/>
      </a:accent1>
      <a:accent2>
        <a:srgbClr val="009247"/>
      </a:accent2>
      <a:accent3>
        <a:srgbClr val="FFFFFF"/>
      </a:accent3>
      <a:accent4>
        <a:srgbClr val="000000"/>
      </a:accent4>
      <a:accent5>
        <a:srgbClr val="FAC8B5"/>
      </a:accent5>
      <a:accent6>
        <a:srgbClr val="00843F"/>
      </a:accent6>
      <a:hlink>
        <a:srgbClr val="009999"/>
      </a:hlink>
      <a:folHlink>
        <a:srgbClr val="99CC00"/>
      </a:folHlink>
    </a:clrScheme>
    <a:fontScheme name="1_CC4eActiveLectureQuestions">
      <a:majorFont>
        <a:latin typeface="Times New Roman"/>
        <a:ea typeface="Arial"/>
        <a:cs typeface="Arial"/>
      </a:majorFont>
      <a:minorFont>
        <a:latin typeface="Tahoma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CC4eActiveLectureQuestion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3">
        <a:dk1>
          <a:srgbClr val="000000"/>
        </a:dk1>
        <a:lt1>
          <a:srgbClr val="FFFFFF"/>
        </a:lt1>
        <a:dk2>
          <a:srgbClr val="005472"/>
        </a:dk2>
        <a:lt2>
          <a:srgbClr val="00000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14">
        <a:dk1>
          <a:srgbClr val="000000"/>
        </a:dk1>
        <a:lt1>
          <a:srgbClr val="FFFFFF"/>
        </a:lt1>
        <a:dk2>
          <a:srgbClr val="333399"/>
        </a:dk2>
        <a:lt2>
          <a:srgbClr val="000000"/>
        </a:lt2>
        <a:accent1>
          <a:srgbClr val="B7DAB8"/>
        </a:accent1>
        <a:accent2>
          <a:srgbClr val="005472"/>
        </a:accent2>
        <a:accent3>
          <a:srgbClr val="FFFFFF"/>
        </a:accent3>
        <a:accent4>
          <a:srgbClr val="000000"/>
        </a:accent4>
        <a:accent5>
          <a:srgbClr val="D8EAD8"/>
        </a:accent5>
        <a:accent6>
          <a:srgbClr val="004B67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15">
        <a:dk1>
          <a:srgbClr val="000000"/>
        </a:dk1>
        <a:lt1>
          <a:srgbClr val="FFFFFF"/>
        </a:lt1>
        <a:dk2>
          <a:srgbClr val="0060AF"/>
        </a:dk2>
        <a:lt2>
          <a:srgbClr val="000000"/>
        </a:lt2>
        <a:accent1>
          <a:srgbClr val="F7955A"/>
        </a:accent1>
        <a:accent2>
          <a:srgbClr val="009247"/>
        </a:accent2>
        <a:accent3>
          <a:srgbClr val="FFFFFF"/>
        </a:accent3>
        <a:accent4>
          <a:srgbClr val="000000"/>
        </a:accent4>
        <a:accent5>
          <a:srgbClr val="FAC8B5"/>
        </a:accent5>
        <a:accent6>
          <a:srgbClr val="00843F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ampbell11e_LectureDesign" id="{1E29558D-F693-462F-BFE8-09589E69881C}" vid="{70B05F25-2FB3-4FD4-980B-A633ABC17E0B}"/>
    </a:ext>
  </a:extLst>
</a:theme>
</file>

<file path=ppt/theme/theme2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rtlCol="0" anchor="ctr"/>
      <a:lstStyle>
        <a:defPPr algn="ctr">
          <a:defRPr/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Campbell11e_LectureDesign</Template>
  <TotalTime>53125</TotalTime>
  <Words>3403</Words>
  <Application>Microsoft Office PowerPoint</Application>
  <PresentationFormat>On-screen Show (4:3)</PresentationFormat>
  <Paragraphs>926</Paragraphs>
  <Slides>67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67</vt:i4>
      </vt:variant>
    </vt:vector>
  </HeadingPairs>
  <TitlesOfParts>
    <vt:vector size="79" baseType="lpstr">
      <vt:lpstr>ＭＳ Ｐゴシック</vt:lpstr>
      <vt:lpstr>ＭＳ Ｐゴシック</vt:lpstr>
      <vt:lpstr>Arial</vt:lpstr>
      <vt:lpstr>Geneva</vt:lpstr>
      <vt:lpstr>Symbol</vt:lpstr>
      <vt:lpstr>Times</vt:lpstr>
      <vt:lpstr>Times New Roman</vt:lpstr>
      <vt:lpstr>Wingdings</vt:lpstr>
      <vt:lpstr>ヒラギノ角ゴ Pro W3</vt:lpstr>
      <vt:lpstr>Campbell11e_LectureDesign</vt:lpstr>
      <vt:lpstr>Blank</vt:lpstr>
      <vt:lpstr>1_Blank</vt:lpstr>
      <vt:lpstr>PHOTOSYNTHESIS</vt:lpstr>
      <vt:lpstr>The Process That Feeds the Biosphere</vt:lpstr>
      <vt:lpstr>PowerPoint Presentation</vt:lpstr>
      <vt:lpstr>PowerPoint Presentation</vt:lpstr>
      <vt:lpstr>Concept 11.1: Photosynthesis converts light energy to the chemical energy of food</vt:lpstr>
      <vt:lpstr>Chloroplasts: The Sites of Photosynthesis  in Plants</vt:lpstr>
      <vt:lpstr>PowerPoint Presentation</vt:lpstr>
      <vt:lpstr>Figure 11.4a</vt:lpstr>
      <vt:lpstr>Figure 11.4b</vt:lpstr>
      <vt:lpstr>PowerPoint Presentation</vt:lpstr>
      <vt:lpstr>Tracking Atoms Through Photosynthesis: Scientific Inquiry</vt:lpstr>
      <vt:lpstr>The Splitting of Water</vt:lpstr>
      <vt:lpstr>Figure 11.5</vt:lpstr>
      <vt:lpstr>Photosynthesis as a Redox Process</vt:lpstr>
      <vt:lpstr>Figure 11.UN01</vt:lpstr>
      <vt:lpstr>The Two Stages of Photosynthesis: A Preview</vt:lpstr>
      <vt:lpstr>PowerPoint Presentation</vt:lpstr>
      <vt:lpstr>Figure 11.6_1</vt:lpstr>
      <vt:lpstr>Figure 11.6_2</vt:lpstr>
      <vt:lpstr>Figure 11.6_3</vt:lpstr>
      <vt:lpstr>Figure 11.6_4</vt:lpstr>
      <vt:lpstr>Concept 11.2: The light reactions convert solar energy to the chemical energy of ATP and NADPH</vt:lpstr>
      <vt:lpstr>Figure 11.7</vt:lpstr>
      <vt:lpstr>Photosynthetic Pigments: The Light Receptors</vt:lpstr>
      <vt:lpstr>Figure 11.8</vt:lpstr>
      <vt:lpstr>PowerPoint Presentation</vt:lpstr>
      <vt:lpstr>PowerPoint Presentation</vt:lpstr>
      <vt:lpstr>Excitation of Chlorophyll by Light</vt:lpstr>
      <vt:lpstr>Figure 11.12</vt:lpstr>
      <vt:lpstr>A Photosystem: A Reaction-Center Complex Associated with Light-Harvesting Complexes</vt:lpstr>
      <vt:lpstr>PowerPoint Presentation</vt:lpstr>
      <vt:lpstr>PowerPoint Presentation</vt:lpstr>
      <vt:lpstr>Figure 11.13</vt:lpstr>
      <vt:lpstr>PowerPoint Presentation</vt:lpstr>
      <vt:lpstr>PowerPoint Presentation</vt:lpstr>
      <vt:lpstr>Linear Electron Flow</vt:lpstr>
      <vt:lpstr>PowerPoint Presentation</vt:lpstr>
      <vt:lpstr>Figure 11.UN02</vt:lpstr>
      <vt:lpstr>Figure 11.14_1</vt:lpstr>
      <vt:lpstr>Figure 11.14_2</vt:lpstr>
      <vt:lpstr>Figure 11.14_3</vt:lpstr>
      <vt:lpstr>Figure 11.14_4</vt:lpstr>
      <vt:lpstr>Figure 11.14_5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Figure 11.15</vt:lpstr>
      <vt:lpstr>Cyclic Electron Flow</vt:lpstr>
      <vt:lpstr>Figure 11.16</vt:lpstr>
      <vt:lpstr>PowerPoint Presentation</vt:lpstr>
      <vt:lpstr>PowerPoint Presentation</vt:lpstr>
      <vt:lpstr>Figure 11.UN03</vt:lpstr>
      <vt:lpstr>Figure 11.18</vt:lpstr>
      <vt:lpstr>Figure 11.18a</vt:lpstr>
      <vt:lpstr>Figure 11.18b</vt:lpstr>
      <vt:lpstr>Concept 11.3: The Calvin cycle uses the chemical energy of ATP and NADPH to reduce CO2 to sugar</vt:lpstr>
      <vt:lpstr>PowerPoint Presentation</vt:lpstr>
      <vt:lpstr>Figure 11.19_1</vt:lpstr>
      <vt:lpstr>Figure 11.19_2</vt:lpstr>
      <vt:lpstr>Figure 11.19_3</vt:lpstr>
      <vt:lpstr>Concept 11.5: Life depends on photosynthesis The Importance of Photosynthesis: A Review </vt:lpstr>
      <vt:lpstr>Figure 11.22b</vt:lpstr>
      <vt:lpstr>Figure 11.UN05</vt:lpstr>
      <vt:lpstr>Figure 11.UN06</vt:lpstr>
      <vt:lpstr>Figure 11.22c</vt:lpstr>
    </vt:vector>
  </TitlesOfParts>
  <Company>Jerome Burg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Jerome Burg</dc:creator>
  <cp:lastModifiedBy>JUST</cp:lastModifiedBy>
  <cp:revision>550</cp:revision>
  <dcterms:created xsi:type="dcterms:W3CDTF">2010-08-06T18:35:02Z</dcterms:created>
  <dcterms:modified xsi:type="dcterms:W3CDTF">2024-03-10T18:39:49Z</dcterms:modified>
</cp:coreProperties>
</file>