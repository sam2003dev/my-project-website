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76" r:id="rId4"/>
    <p:sldId id="377" r:id="rId5"/>
    <p:sldId id="378" r:id="rId6"/>
    <p:sldId id="394" r:id="rId7"/>
    <p:sldId id="395" r:id="rId8"/>
    <p:sldId id="317" r:id="rId9"/>
    <p:sldId id="276" r:id="rId10"/>
    <p:sldId id="379" r:id="rId11"/>
    <p:sldId id="321" r:id="rId12"/>
    <p:sldId id="380" r:id="rId13"/>
    <p:sldId id="396" r:id="rId14"/>
    <p:sldId id="382" r:id="rId15"/>
    <p:sldId id="383" r:id="rId16"/>
    <p:sldId id="397" r:id="rId17"/>
    <p:sldId id="384" r:id="rId18"/>
    <p:sldId id="385" r:id="rId19"/>
    <p:sldId id="386" r:id="rId20"/>
    <p:sldId id="387" r:id="rId21"/>
    <p:sldId id="388" r:id="rId22"/>
    <p:sldId id="391" r:id="rId23"/>
    <p:sldId id="389" r:id="rId24"/>
    <p:sldId id="392" r:id="rId25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5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50" autoAdjust="0"/>
  </p:normalViewPr>
  <p:slideViewPr>
    <p:cSldViewPr snapToGrid="0" snapToObjects="1">
      <p:cViewPr varScale="1">
        <p:scale>
          <a:sx n="87" d="100"/>
          <a:sy n="87" d="100"/>
        </p:scale>
        <p:origin x="14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E1327-DBD9-1D4E-A4ED-BE184B65546F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22C4A-05CC-2C4D-BA55-606EE4608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27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B22C4A-05CC-2C4D-BA55-606EE4608CD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30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11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12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14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15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17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18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19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20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21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22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23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29057" indent="-280406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eaLnBrk="0" hangingPunct="0"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81D9BAE-DBB4-A84F-A1B1-3CAB5524CFE5}" type="slidenum">
              <a:rPr lang="en-US" altLang="ja-JP" sz="1200"/>
              <a:pPr eaLnBrk="1" hangingPunct="1"/>
              <a:t>24</a:t>
            </a:fld>
            <a:endParaRPr lang="en-US" altLang="ja-JP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654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2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88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1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29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67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87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48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32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2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1828F-421C-4E44-B579-1CA9A818CADC}" type="datetimeFigureOut">
              <a:rPr kumimoji="1" lang="ja-JP" altLang="en-US" smtClean="0"/>
              <a:t>2019/12/15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8205F-E862-8F41-A23C-AA35F6CC0F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8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15543874_Light-addressable_potentiometric_sensor_with_gold_nanoparticles_enhancing_enzymatic_silver_deposition_for_15-anhydroglucitol_determination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2044642"/>
            <a:ext cx="77694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CHAPTER 9</a:t>
            </a:r>
          </a:p>
          <a:p>
            <a:pPr algn="ctr"/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Immobilization and Microbial Biosensors</a:t>
            </a:r>
            <a:endParaRPr lang="en-US" altLang="ja-JP" sz="4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055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8838" y="33779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Immobilization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374333"/>
            <a:ext cx="7981103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The </a:t>
            </a:r>
            <a:r>
              <a:rPr lang="en-US" altLang="ja-JP" sz="2600" dirty="0">
                <a:latin typeface="Times New Roman"/>
                <a:cs typeface="Times New Roman"/>
              </a:rPr>
              <a:t>technique of fixing the cells, organelles or </a:t>
            </a:r>
            <a:r>
              <a:rPr lang="en-US" altLang="ja-JP" sz="2600" dirty="0" smtClean="0">
                <a:latin typeface="Times New Roman"/>
                <a:cs typeface="Times New Roman"/>
              </a:rPr>
              <a:t>proteins onto </a:t>
            </a:r>
            <a:r>
              <a:rPr lang="en-US" altLang="ja-JP" sz="2600" dirty="0">
                <a:latin typeface="Times New Roman"/>
                <a:cs typeface="Times New Roman"/>
              </a:rPr>
              <a:t>a solid support system, into a solid support matrix or retained by a membrane, in order to maintain stability and make possible their repeated or </a:t>
            </a:r>
            <a:r>
              <a:rPr lang="en-US" altLang="ja-JP" sz="2600" dirty="0" smtClean="0">
                <a:latin typeface="Times New Roman"/>
                <a:cs typeface="Times New Roman"/>
              </a:rPr>
              <a:t>continued use.</a:t>
            </a:r>
          </a:p>
          <a:p>
            <a:r>
              <a:rPr lang="en-US" altLang="ja-JP" sz="2600" dirty="0" smtClean="0">
                <a:latin typeface="Times New Roman"/>
                <a:cs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The </a:t>
            </a:r>
            <a:r>
              <a:rPr lang="en-US" altLang="ja-JP" sz="2600" dirty="0">
                <a:latin typeface="Times New Roman"/>
                <a:cs typeface="Times New Roman"/>
              </a:rPr>
              <a:t>early attempts of whole cell </a:t>
            </a:r>
            <a:r>
              <a:rPr lang="en-US" altLang="ja-JP" sz="2600" dirty="0" smtClean="0">
                <a:latin typeface="Times New Roman"/>
                <a:cs typeface="Times New Roman"/>
              </a:rPr>
              <a:t>immobilization </a:t>
            </a:r>
            <a:r>
              <a:rPr lang="en-US" altLang="ja-JP" sz="2600" dirty="0">
                <a:latin typeface="Times New Roman"/>
                <a:cs typeface="Times New Roman"/>
              </a:rPr>
              <a:t>were developed from processes applied to the </a:t>
            </a:r>
            <a:r>
              <a:rPr lang="en-US" altLang="ja-JP" sz="2600" dirty="0" smtClean="0">
                <a:latin typeface="Times New Roman"/>
                <a:cs typeface="Times New Roman"/>
              </a:rPr>
              <a:t>immobilization </a:t>
            </a:r>
            <a:r>
              <a:rPr lang="en-US" altLang="ja-JP" sz="2600" dirty="0">
                <a:latin typeface="Times New Roman"/>
                <a:cs typeface="Times New Roman"/>
              </a:rPr>
              <a:t>of enzymes and generally involved non-viable </a:t>
            </a:r>
            <a:r>
              <a:rPr lang="en-US" altLang="ja-JP" sz="2600" dirty="0" smtClean="0">
                <a:latin typeface="Times New Roman"/>
                <a:cs typeface="Times New Roman"/>
              </a:rPr>
              <a:t>cells.</a:t>
            </a:r>
          </a:p>
          <a:p>
            <a:endParaRPr lang="en-US" altLang="ja-JP" sz="2600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altLang="ja-JP" sz="2600" dirty="0" smtClean="0">
                <a:latin typeface="Times New Roman"/>
                <a:cs typeface="Times New Roman"/>
              </a:rPr>
              <a:t>Immobilization is </a:t>
            </a:r>
            <a:r>
              <a:rPr lang="en-US" altLang="ja-JP" sz="2600" dirty="0">
                <a:latin typeface="Times New Roman"/>
                <a:cs typeface="Times New Roman"/>
              </a:rPr>
              <a:t>extended to viable cells as they were exploited in bioreactors and fermentation systems. </a:t>
            </a:r>
            <a:endParaRPr lang="en-US" altLang="ja-JP" sz="2600" dirty="0" smtClean="0">
              <a:latin typeface="Times New Roman"/>
              <a:cs typeface="Times New Roman"/>
            </a:endParaRPr>
          </a:p>
          <a:p>
            <a:endParaRPr lang="en-US" altLang="ja-JP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452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8838" y="29075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Immobilization of enzymes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233213"/>
            <a:ext cx="7981103" cy="6186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200" dirty="0">
                <a:latin typeface="Times New Roman"/>
                <a:cs typeface="Times New Roman"/>
              </a:rPr>
              <a:t>The advantages of immobilized enzymes beside reuse are as </a:t>
            </a:r>
            <a:r>
              <a:rPr lang="en-US" altLang="ja-JP" sz="2200" dirty="0" smtClean="0">
                <a:latin typeface="Times New Roman"/>
                <a:cs typeface="Times New Roman"/>
              </a:rPr>
              <a:t>follows:</a:t>
            </a:r>
          </a:p>
          <a:p>
            <a:endParaRPr lang="en-US" altLang="ja-JP" sz="22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They can be easily separated from the reaction mixture containing any residual </a:t>
            </a:r>
            <a:r>
              <a:rPr lang="en-US" altLang="ja-JP" sz="2200" dirty="0">
                <a:latin typeface="Times New Roman"/>
                <a:cs typeface="Times New Roman"/>
              </a:rPr>
              <a:t>reactants and reused in subsequent </a:t>
            </a:r>
            <a:r>
              <a:rPr lang="en-US" altLang="ja-JP" sz="2200" dirty="0" smtClean="0">
                <a:latin typeface="Times New Roman"/>
                <a:cs typeface="Times New Roman"/>
              </a:rPr>
              <a:t>conservations.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Immobilized enzymes are more stable over broad ranges of pH and temperature</a:t>
            </a:r>
            <a:r>
              <a:rPr lang="en-US" altLang="ja-JP" sz="2200" dirty="0">
                <a:latin typeface="Times New Roman"/>
                <a:cs typeface="Times New Roman"/>
              </a:rPr>
              <a:t>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Enzymes are absent in the waste</a:t>
            </a:r>
            <a:r>
              <a:rPr lang="en-US" altLang="ja-JP" sz="2200" dirty="0">
                <a:latin typeface="Times New Roman"/>
                <a:cs typeface="Times New Roman"/>
              </a:rPr>
              <a:t>-</a:t>
            </a:r>
            <a:r>
              <a:rPr lang="en-US" altLang="ja-JP" sz="2200" dirty="0" smtClean="0">
                <a:latin typeface="Times New Roman"/>
                <a:cs typeface="Times New Roman"/>
              </a:rPr>
              <a:t>stream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Immobilized systems specially lend themselves to continuous processes</a:t>
            </a:r>
            <a:r>
              <a:rPr lang="en-US" altLang="ja-JP" sz="2200" dirty="0">
                <a:latin typeface="Times New Roman"/>
                <a:cs typeface="Times New Roman"/>
              </a:rPr>
              <a:t>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Reduced </a:t>
            </a:r>
            <a:r>
              <a:rPr lang="en-US" altLang="ja-JP" sz="2200" dirty="0">
                <a:latin typeface="Times New Roman"/>
                <a:cs typeface="Times New Roman"/>
              </a:rPr>
              <a:t>costs in industrial </a:t>
            </a:r>
            <a:r>
              <a:rPr lang="en-US" altLang="ja-JP" sz="2200" dirty="0" smtClean="0">
                <a:latin typeface="Times New Roman"/>
                <a:cs typeface="Times New Roman"/>
              </a:rPr>
              <a:t>production.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Greater control of the catalytic effect.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Greater ease of new applications for industrial and medical purposes.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Immobilized enzymes permit the use of enzymes from organisms which would not normally </a:t>
            </a:r>
            <a:r>
              <a:rPr lang="en-US" altLang="ja-JP" sz="2200" dirty="0">
                <a:latin typeface="Times New Roman"/>
                <a:cs typeface="Times New Roman"/>
              </a:rPr>
              <a:t>be regarded as safe (i.e. non-GRAS). </a:t>
            </a:r>
          </a:p>
          <a:p>
            <a:endParaRPr lang="en-US" altLang="ja-JP" sz="2200" b="1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US" altLang="ja-JP" sz="2200" dirty="0" smtClean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545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02592"/>
            <a:ext cx="776941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 smtClean="0">
                <a:solidFill>
                  <a:srgbClr val="FF0000"/>
                </a:solidFill>
                <a:latin typeface="Arial"/>
                <a:cs typeface="Arial"/>
              </a:rPr>
              <a:t>Strategies of enzyme immobilization </a:t>
            </a:r>
            <a:endParaRPr lang="en-US" altLang="ja-JP" sz="3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28" y="857636"/>
            <a:ext cx="7352827" cy="600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8838" y="29075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Immobilization of whole cells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233213"/>
            <a:ext cx="79811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200" dirty="0">
                <a:latin typeface="Times New Roman"/>
                <a:cs typeface="Times New Roman"/>
              </a:rPr>
              <a:t>Immobilized cells have the following advantages over conventional batch fermentation as well as over immobilized </a:t>
            </a:r>
            <a:r>
              <a:rPr lang="en-US" altLang="ja-JP" sz="2200" dirty="0" smtClean="0">
                <a:latin typeface="Times New Roman"/>
                <a:cs typeface="Times New Roman"/>
              </a:rPr>
              <a:t>enzymes:</a:t>
            </a:r>
          </a:p>
          <a:p>
            <a:endParaRPr lang="en-US" altLang="ja-JP" sz="2200" dirty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When </a:t>
            </a:r>
            <a:r>
              <a:rPr lang="en-US" altLang="ja-JP" sz="2200" dirty="0">
                <a:latin typeface="Times New Roman"/>
                <a:cs typeface="Times New Roman"/>
              </a:rPr>
              <a:t>cells are immobilized the reactions are more homogeneous and can be treated more like catalysts.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>
                <a:latin typeface="Times New Roman"/>
                <a:cs typeface="Times New Roman"/>
              </a:rPr>
              <a:t>The lag period which occurs in a conventional batch fermentation is eliminated for the accumulation of products associated with non-growth phase of the cells.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>
                <a:latin typeface="Times New Roman"/>
                <a:cs typeface="Times New Roman"/>
              </a:rPr>
              <a:t>It is more feasible to run immobilized cells continuously at high dilution rates without the risk of washout which would occur in a conventional continuous culture system.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200" dirty="0" smtClean="0">
                <a:latin typeface="Times New Roman"/>
                <a:cs typeface="Times New Roman"/>
              </a:rPr>
              <a:t>When cells are immobilized, they can be handled easily and thus can be easily transferred or simply decant the   media and reuse.</a:t>
            </a:r>
            <a:endParaRPr lang="en-US" altLang="ja-JP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038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8838" y="29075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Immobilization of whole cells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186173"/>
            <a:ext cx="832677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5"/>
            </a:pPr>
            <a:r>
              <a:rPr lang="en-US" altLang="ja-JP" sz="2200" dirty="0">
                <a:latin typeface="Times New Roman"/>
                <a:cs typeface="Times New Roman"/>
              </a:rPr>
              <a:t>Higher and faster yield is possible because of the greater density of cells; furthermore, toxic materials are continuously removed.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5"/>
            </a:pPr>
            <a:r>
              <a:rPr lang="en-US" altLang="ja-JP" sz="2200" dirty="0" smtClean="0">
                <a:latin typeface="Times New Roman"/>
                <a:cs typeface="Times New Roman"/>
              </a:rPr>
              <a:t>It </a:t>
            </a:r>
            <a:r>
              <a:rPr lang="en-US" altLang="ja-JP" sz="2200" dirty="0">
                <a:latin typeface="Times New Roman"/>
                <a:cs typeface="Times New Roman"/>
              </a:rPr>
              <a:t>is possible to recharge or resuscitate the cells by inducing growth and </a:t>
            </a:r>
            <a:r>
              <a:rPr lang="en-US" altLang="ja-JP" sz="2200" dirty="0" smtClean="0">
                <a:latin typeface="Times New Roman"/>
                <a:cs typeface="Times New Roman"/>
              </a:rPr>
              <a:t>reproduction </a:t>
            </a:r>
            <a:r>
              <a:rPr lang="en-US" altLang="ja-JP" sz="2200" dirty="0">
                <a:latin typeface="Times New Roman"/>
                <a:cs typeface="Times New Roman"/>
              </a:rPr>
              <a:t>among resting </a:t>
            </a:r>
            <a:r>
              <a:rPr lang="en-US" altLang="ja-JP" sz="2200" dirty="0" smtClean="0">
                <a:latin typeface="Times New Roman"/>
                <a:cs typeface="Times New Roman"/>
              </a:rPr>
              <a:t>cells.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 startAt="5"/>
            </a:pPr>
            <a:r>
              <a:rPr lang="en-US" altLang="ja-JP" sz="2200" dirty="0" smtClean="0">
                <a:latin typeface="Times New Roman"/>
                <a:cs typeface="Times New Roman"/>
              </a:rPr>
              <a:t>A high capital cost is involved in installing, and operating a </a:t>
            </a:r>
            <a:r>
              <a:rPr lang="en-US" altLang="ja-JP" sz="2200" dirty="0" err="1" smtClean="0">
                <a:latin typeface="Times New Roman"/>
                <a:cs typeface="Times New Roman"/>
              </a:rPr>
              <a:t>fermentor</a:t>
            </a:r>
            <a:r>
              <a:rPr lang="en-US" altLang="ja-JP" sz="2200" dirty="0" smtClean="0">
                <a:latin typeface="Times New Roman"/>
                <a:cs typeface="Times New Roman"/>
              </a:rPr>
              <a:t>; in systems where </a:t>
            </a:r>
            <a:r>
              <a:rPr lang="en-US" altLang="ja-JP" sz="2200" dirty="0">
                <a:latin typeface="Times New Roman"/>
                <a:cs typeface="Times New Roman"/>
              </a:rPr>
              <a:t>comparison have been made</a:t>
            </a:r>
            <a:r>
              <a:rPr lang="en-US" altLang="ja-JP" sz="2200" dirty="0" smtClean="0">
                <a:latin typeface="Times New Roman"/>
                <a:cs typeface="Times New Roman"/>
              </a:rPr>
              <a:t>, immobilized </a:t>
            </a:r>
            <a:r>
              <a:rPr lang="en-US" altLang="ja-JP" sz="2200" dirty="0">
                <a:latin typeface="Times New Roman"/>
                <a:cs typeface="Times New Roman"/>
              </a:rPr>
              <a:t>cells are cheaper than the </a:t>
            </a:r>
            <a:r>
              <a:rPr lang="en-US" altLang="ja-JP" sz="2200" dirty="0" smtClean="0">
                <a:latin typeface="Times New Roman"/>
                <a:cs typeface="Times New Roman"/>
              </a:rPr>
              <a:t>conventional </a:t>
            </a:r>
            <a:r>
              <a:rPr lang="en-US" altLang="ja-JP" sz="2200" dirty="0">
                <a:latin typeface="Times New Roman"/>
                <a:cs typeface="Times New Roman"/>
              </a:rPr>
              <a:t>batch production. </a:t>
            </a:r>
            <a:endParaRPr lang="en-US" altLang="ja-JP" sz="22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1200"/>
              </a:spcAft>
              <a:buFont typeface="+mj-lt"/>
              <a:buAutoNum type="arabicPeriod" startAt="5"/>
            </a:pPr>
            <a:r>
              <a:rPr lang="en-US" altLang="ja-JP" sz="2200" dirty="0" smtClean="0">
                <a:latin typeface="Times New Roman"/>
                <a:cs typeface="Times New Roman"/>
              </a:rPr>
              <a:t>The </a:t>
            </a:r>
            <a:r>
              <a:rPr lang="en-US" altLang="ja-JP" sz="2200" dirty="0">
                <a:latin typeface="Times New Roman"/>
                <a:cs typeface="Times New Roman"/>
              </a:rPr>
              <a:t>use of immobilized cells eliminates the need for enzyme extraction and </a:t>
            </a:r>
            <a:r>
              <a:rPr lang="en-US" altLang="ja-JP" sz="2200" dirty="0" smtClean="0">
                <a:latin typeface="Times New Roman"/>
                <a:cs typeface="Times New Roman"/>
              </a:rPr>
              <a:t>purification</a:t>
            </a:r>
            <a:r>
              <a:rPr lang="en-US" altLang="ja-JP" sz="2200" dirty="0">
                <a:latin typeface="Times New Roman"/>
                <a:cs typeface="Times New Roman"/>
              </a:rPr>
              <a:t>. Furthermore, systems involving multi-enzyme reactions can occur </a:t>
            </a:r>
            <a:r>
              <a:rPr lang="en-US" altLang="ja-JP" sz="2200" dirty="0" smtClean="0">
                <a:latin typeface="Times New Roman"/>
                <a:cs typeface="Times New Roman"/>
              </a:rPr>
              <a:t>more </a:t>
            </a:r>
            <a:r>
              <a:rPr lang="en-US" altLang="ja-JP" sz="2200" dirty="0">
                <a:latin typeface="Times New Roman"/>
                <a:cs typeface="Times New Roman"/>
              </a:rPr>
              <a:t>easily in intact cells harboring these </a:t>
            </a:r>
            <a:r>
              <a:rPr lang="en-US" altLang="ja-JP" sz="2200" dirty="0" smtClean="0">
                <a:latin typeface="Times New Roman"/>
                <a:cs typeface="Times New Roman"/>
              </a:rPr>
              <a:t>enzymes and the immobilization keeps cells intact.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 startAt="5"/>
            </a:pPr>
            <a:r>
              <a:rPr lang="en-US" altLang="ja-JP" sz="2200" dirty="0" smtClean="0">
                <a:latin typeface="Times New Roman"/>
                <a:cs typeface="Times New Roman"/>
              </a:rPr>
              <a:t>Immobilized cells are more suited to multiple step processes</a:t>
            </a:r>
          </a:p>
        </p:txBody>
      </p:sp>
    </p:spTree>
    <p:extLst>
      <p:ext uri="{BB962C8B-B14F-4D97-AF65-F5344CB8AC3E}">
        <p14:creationId xmlns:p14="http://schemas.microsoft.com/office/powerpoint/2010/main" val="54447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8838" y="494592"/>
            <a:ext cx="7769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dirty="0" smtClean="0">
                <a:solidFill>
                  <a:srgbClr val="FF0000"/>
                </a:solidFill>
                <a:latin typeface="Arial"/>
                <a:cs typeface="Arial"/>
              </a:rPr>
              <a:t>Immobilization of whole cells</a:t>
            </a:r>
            <a:endParaRPr lang="ar-sa" altLang="ja-JP" sz="4000" b="1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2824" y="1609533"/>
            <a:ext cx="7981103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ja-JP" sz="2400" dirty="0" smtClean="0">
                <a:latin typeface="Times New Roman"/>
                <a:cs typeface="Times New Roman"/>
              </a:rPr>
              <a:t>Immobilized </a:t>
            </a:r>
            <a:r>
              <a:rPr lang="en-US" altLang="ja-JP" sz="2400" dirty="0">
                <a:latin typeface="Times New Roman"/>
                <a:cs typeface="Times New Roman"/>
              </a:rPr>
              <a:t>cells are particularly appropriate under the following conditions: 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When the enzymes are intracellular: the use of immobilized cells would eliminate the </a:t>
            </a:r>
            <a:r>
              <a:rPr lang="en-US" altLang="ja-JP" sz="2400" dirty="0">
                <a:latin typeface="Times New Roman"/>
                <a:cs typeface="Times New Roman"/>
              </a:rPr>
              <a:t>need for breaking the cells for enzyme </a:t>
            </a:r>
            <a:r>
              <a:rPr lang="en-US" altLang="ja-JP" sz="2400" dirty="0" smtClean="0">
                <a:latin typeface="Times New Roman"/>
                <a:cs typeface="Times New Roman"/>
              </a:rPr>
              <a:t>isolation.</a:t>
            </a: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When extracted enzymes are unstable during or after immobilization</a:t>
            </a:r>
            <a:r>
              <a:rPr lang="en-US" altLang="ja-JP" sz="2400" dirty="0">
                <a:latin typeface="Times New Roman"/>
                <a:cs typeface="Times New Roman"/>
              </a:rPr>
              <a:t>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When </a:t>
            </a:r>
            <a:r>
              <a:rPr lang="en-US" altLang="ja-JP" sz="2400" dirty="0">
                <a:latin typeface="Times New Roman"/>
                <a:cs typeface="Times New Roman"/>
              </a:rPr>
              <a:t>the substrates and products are not high molecular weight substances. </a:t>
            </a:r>
            <a:endParaRPr lang="en-US" altLang="ja-JP" sz="2400" dirty="0"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381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400512"/>
            <a:ext cx="77694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dirty="0" smtClean="0">
                <a:solidFill>
                  <a:srgbClr val="FF0000"/>
                </a:solidFill>
                <a:latin typeface="Arial"/>
                <a:cs typeface="Arial"/>
              </a:rPr>
              <a:t>Strategies of whole cell immobilization </a:t>
            </a:r>
            <a:endParaRPr lang="en-US" altLang="ja-JP" sz="4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0804" y="2022711"/>
            <a:ext cx="9434076" cy="415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5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516" y="164111"/>
            <a:ext cx="77694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b="1" dirty="0" smtClean="0">
                <a:solidFill>
                  <a:srgbClr val="FF0000"/>
                </a:solidFill>
                <a:latin typeface="Arial"/>
                <a:cs typeface="Arial"/>
              </a:rPr>
              <a:t>Biosensors</a:t>
            </a:r>
            <a:endParaRPr lang="en-US" altLang="ja-JP" sz="44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1942" y="1097591"/>
            <a:ext cx="8418907" cy="5586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A </a:t>
            </a:r>
            <a:r>
              <a:rPr lang="en-US" altLang="ja-JP" sz="2400" dirty="0">
                <a:latin typeface="Times New Roman"/>
                <a:cs typeface="Times New Roman"/>
              </a:rPr>
              <a:t>biosensor is an analytical device which comprises of biological molecules as the recognition element with physical transducer and provides quantitative and semi-quantitative analytical data corresponding to the target concentration.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8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Enzymes &amp; whole cells have </a:t>
            </a:r>
            <a:r>
              <a:rPr lang="en-US" altLang="ja-JP" sz="2400" dirty="0">
                <a:latin typeface="Times New Roman"/>
                <a:cs typeface="Times New Roman"/>
              </a:rPr>
              <a:t>been </a:t>
            </a:r>
            <a:r>
              <a:rPr lang="en-US" altLang="ja-JP" sz="2400" dirty="0" smtClean="0">
                <a:latin typeface="Times New Roman"/>
                <a:cs typeface="Times New Roman"/>
              </a:rPr>
              <a:t>exploited </a:t>
            </a:r>
            <a:r>
              <a:rPr lang="en-US" altLang="ja-JP" sz="2400" dirty="0">
                <a:latin typeface="Times New Roman"/>
                <a:cs typeface="Times New Roman"/>
              </a:rPr>
              <a:t>in developing biosensors, but the processes of isolation and purification of enzymes make them highly expensive which in turn enhance the cost of the sensor.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8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Whole </a:t>
            </a:r>
            <a:r>
              <a:rPr lang="en-US" altLang="ja-JP" sz="2400" dirty="0">
                <a:latin typeface="Times New Roman"/>
                <a:cs typeface="Times New Roman"/>
              </a:rPr>
              <a:t>cells </a:t>
            </a:r>
            <a:r>
              <a:rPr lang="en-US" altLang="ja-JP" sz="2400" dirty="0" smtClean="0">
                <a:latin typeface="Times New Roman"/>
                <a:cs typeface="Times New Roman"/>
              </a:rPr>
              <a:t>are a good alternative </a:t>
            </a:r>
            <a:r>
              <a:rPr lang="en-US" altLang="ja-JP" sz="2400" dirty="0">
                <a:latin typeface="Times New Roman"/>
                <a:cs typeface="Times New Roman"/>
              </a:rPr>
              <a:t>to enzymes as they are less expensive and have more stability.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342900" indent="-342900">
              <a:spcAft>
                <a:spcPts val="18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basis of a microbial biosensor is the close contact between the microorganisms and the transducer which is generally based on </a:t>
            </a:r>
            <a:r>
              <a:rPr lang="en-US" altLang="ja-JP" sz="2400" dirty="0" smtClean="0">
                <a:latin typeface="Times New Roman"/>
                <a:cs typeface="Times New Roman"/>
              </a:rPr>
              <a:t>immobilization </a:t>
            </a:r>
            <a:r>
              <a:rPr lang="en-US" altLang="ja-JP" sz="2400" dirty="0">
                <a:latin typeface="Times New Roman"/>
                <a:cs typeface="Times New Roman"/>
              </a:rPr>
              <a:t>on the transducer. </a:t>
            </a: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426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9144000" cy="469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2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18960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Microbial Electrochemical </a:t>
            </a:r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Biosensors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4652" y="1709110"/>
            <a:ext cx="8215099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Times New Roman"/>
                <a:cs typeface="Times New Roman"/>
              </a:rPr>
              <a:t>Microbial electrochemical biosensors are of three types</a:t>
            </a:r>
            <a:r>
              <a:rPr lang="en-US" altLang="ja-JP" sz="3200" dirty="0" smtClean="0">
                <a:latin typeface="Times New Roman"/>
                <a:cs typeface="Times New Roman"/>
              </a:rPr>
              <a:t>:</a:t>
            </a:r>
          </a:p>
          <a:p>
            <a:endParaRPr lang="en-US" altLang="ja-JP" sz="3200" dirty="0" smtClean="0">
              <a:latin typeface="Times New Roman"/>
              <a:cs typeface="Times New Roman"/>
            </a:endParaRPr>
          </a:p>
          <a:p>
            <a:pPr marL="514350" indent="-514350">
              <a:spcAft>
                <a:spcPts val="4200"/>
              </a:spcAft>
              <a:buFont typeface="+mj-lt"/>
              <a:buAutoNum type="arabicPeriod"/>
            </a:pPr>
            <a:r>
              <a:rPr lang="en-US" altLang="ja-JP" sz="3200" dirty="0" err="1" smtClean="0">
                <a:latin typeface="Times New Roman"/>
                <a:cs typeface="Times New Roman"/>
              </a:rPr>
              <a:t>Amperometric</a:t>
            </a:r>
            <a:endParaRPr lang="en-US" altLang="ja-JP" sz="3200" dirty="0" smtClean="0">
              <a:latin typeface="Times New Roman"/>
              <a:cs typeface="Times New Roman"/>
            </a:endParaRPr>
          </a:p>
          <a:p>
            <a:pPr marL="514350" indent="-514350">
              <a:spcAft>
                <a:spcPts val="4200"/>
              </a:spcAft>
              <a:buFont typeface="+mj-lt"/>
              <a:buAutoNum type="arabicPeriod"/>
            </a:pPr>
            <a:r>
              <a:rPr lang="en-US" altLang="ja-JP" sz="3200" dirty="0">
                <a:latin typeface="Times New Roman"/>
                <a:cs typeface="Times New Roman"/>
              </a:rPr>
              <a:t>P</a:t>
            </a:r>
            <a:r>
              <a:rPr lang="en-US" altLang="ja-JP" sz="3200" dirty="0" smtClean="0">
                <a:latin typeface="Times New Roman"/>
                <a:cs typeface="Times New Roman"/>
              </a:rPr>
              <a:t>otentiometric </a:t>
            </a:r>
          </a:p>
          <a:p>
            <a:pPr marL="514350" indent="-514350">
              <a:spcAft>
                <a:spcPts val="4200"/>
              </a:spcAft>
              <a:buFont typeface="+mj-lt"/>
              <a:buAutoNum type="arabicPeriod"/>
            </a:pPr>
            <a:r>
              <a:rPr lang="en-US" altLang="ja-JP" sz="3200" dirty="0" err="1" smtClean="0">
                <a:latin typeface="Times New Roman"/>
                <a:cs typeface="Times New Roman"/>
              </a:rPr>
              <a:t>Conductometric</a:t>
            </a:r>
            <a:r>
              <a:rPr lang="en-US" altLang="ja-JP" sz="3200" dirty="0" smtClean="0">
                <a:latin typeface="Times New Roman"/>
                <a:cs typeface="Times New Roman"/>
              </a:rPr>
              <a:t> </a:t>
            </a:r>
            <a:endParaRPr lang="en-US" altLang="ja-JP" sz="3200" dirty="0">
              <a:latin typeface="Times New Roman"/>
              <a:cs typeface="Times New Roman"/>
            </a:endParaRPr>
          </a:p>
          <a:p>
            <a:endParaRPr kumimoji="1" lang="ja-JP" altLang="en-US"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546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8320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 err="1" smtClean="0">
                <a:solidFill>
                  <a:srgbClr val="FF0000"/>
                </a:solidFill>
                <a:latin typeface="Arial" charset="0"/>
              </a:rPr>
              <a:t>Amperometric</a:t>
            </a:r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 Biosensors 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4399027"/>
            <a:ext cx="6350000" cy="238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1942" y="1223032"/>
            <a:ext cx="82464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ja-JP" sz="2400" dirty="0" err="1">
                <a:latin typeface="Times New Roman"/>
                <a:cs typeface="Times New Roman"/>
              </a:rPr>
              <a:t>Amperometric</a:t>
            </a:r>
            <a:r>
              <a:rPr lang="en-US" altLang="ja-JP" sz="2400" dirty="0">
                <a:latin typeface="Times New Roman"/>
                <a:cs typeface="Times New Roman"/>
              </a:rPr>
              <a:t> microbial biosensors work at a fixed potential with respect to the </a:t>
            </a:r>
            <a:r>
              <a:rPr lang="en-US" altLang="ja-JP" sz="2400" dirty="0" smtClean="0">
                <a:latin typeface="Times New Roman"/>
                <a:cs typeface="Times New Roman"/>
              </a:rPr>
              <a:t>reference </a:t>
            </a:r>
            <a:r>
              <a:rPr lang="en-US" altLang="ja-JP" sz="2400" dirty="0">
                <a:latin typeface="Times New Roman"/>
                <a:cs typeface="Times New Roman"/>
              </a:rPr>
              <a:t>electrode and involves the detection of current generated by the oxidation or reduction of the species at the surface of the electrode.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ja-JP" sz="2400" dirty="0" err="1" smtClean="0">
                <a:latin typeface="Times New Roman"/>
                <a:cs typeface="Times New Roman"/>
              </a:rPr>
              <a:t>Amperometric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microbial biosensors have been developed for the estimation of biochemical oxygen demand (BOD) for the measurement of biodegradable organic </a:t>
            </a:r>
            <a:r>
              <a:rPr lang="en-US" altLang="ja-JP" sz="2400" dirty="0" smtClean="0">
                <a:latin typeface="Times New Roman"/>
                <a:cs typeface="Times New Roman"/>
              </a:rPr>
              <a:t>matter.</a:t>
            </a: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311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2806779"/>
            <a:ext cx="84058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Biochemical oxygen demand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BOD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 is the amount </a:t>
            </a:r>
            <a:r>
              <a:rPr 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of dissolved oxygen needed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(i.e. demanded) by aerobic biological organisms to break down organic material present in a given water sample at certain temperature over a specific time period. </a:t>
            </a:r>
            <a:endParaRPr lang="en-US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The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BOD value is most commonly expressed in milligrams of oxygen consumed per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litre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of sample during 5 days of incubation at 20 °C and is often used as a surrogate of the degree </a:t>
            </a:r>
            <a:r>
              <a:rPr 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of organic pollution of water. 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BOD reduction is used as a gauge of the effectiveness of </a:t>
            </a:r>
            <a:r>
              <a:rPr 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wastewater treatment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plants. 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73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050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Potentiometric Biosensors 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1942" y="1619861"/>
            <a:ext cx="82464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The microbial potentiometric biosensor is </a:t>
            </a:r>
            <a:r>
              <a:rPr lang="en-US" altLang="ja-JP" sz="2400" dirty="0" smtClean="0">
                <a:latin typeface="Times New Roman"/>
                <a:cs typeface="Times New Roman"/>
              </a:rPr>
              <a:t>developed </a:t>
            </a:r>
            <a:r>
              <a:rPr lang="en-US" altLang="ja-JP" sz="2400" dirty="0">
                <a:latin typeface="Times New Roman"/>
                <a:cs typeface="Times New Roman"/>
              </a:rPr>
              <a:t>using a conventional ion-selective electrode (pH, ammonium chloride, etc.) or a gas sensing electrode (</a:t>
            </a:r>
            <a:r>
              <a:rPr lang="en-US" altLang="ja-JP" sz="2400" dirty="0" smtClean="0">
                <a:latin typeface="Times New Roman"/>
                <a:cs typeface="Times New Roman"/>
              </a:rPr>
              <a:t>pCO</a:t>
            </a:r>
            <a:r>
              <a:rPr lang="en-US" altLang="ja-JP" sz="2400" baseline="-25000" dirty="0" smtClean="0">
                <a:latin typeface="Times New Roman"/>
                <a:cs typeface="Times New Roman"/>
              </a:rPr>
              <a:t>2</a:t>
            </a:r>
            <a:r>
              <a:rPr lang="en-US" altLang="ja-JP" sz="2400" dirty="0" smtClean="0"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latin typeface="Times New Roman"/>
                <a:cs typeface="Times New Roman"/>
              </a:rPr>
              <a:t>and pNH</a:t>
            </a:r>
            <a:r>
              <a:rPr lang="en-US" altLang="ja-JP" sz="2400" baseline="-25000" dirty="0">
                <a:latin typeface="Times New Roman"/>
                <a:cs typeface="Times New Roman"/>
              </a:rPr>
              <a:t>3</a:t>
            </a:r>
            <a:r>
              <a:rPr lang="en-US" altLang="ja-JP" sz="2400" dirty="0">
                <a:latin typeface="Times New Roman"/>
                <a:cs typeface="Times New Roman"/>
              </a:rPr>
              <a:t>) coated with an </a:t>
            </a:r>
            <a:r>
              <a:rPr lang="en-US" altLang="ja-JP" sz="2400" dirty="0" smtClean="0">
                <a:latin typeface="Times New Roman"/>
                <a:cs typeface="Times New Roman"/>
              </a:rPr>
              <a:t>immobilized </a:t>
            </a:r>
            <a:r>
              <a:rPr lang="en-US" altLang="ja-JP" sz="2400" dirty="0">
                <a:latin typeface="Times New Roman"/>
                <a:cs typeface="Times New Roman"/>
              </a:rPr>
              <a:t>microbe layer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microorganisms </a:t>
            </a:r>
            <a:r>
              <a:rPr lang="en-US" altLang="ja-JP" sz="2400" dirty="0" smtClean="0">
                <a:latin typeface="Times New Roman"/>
                <a:cs typeface="Times New Roman"/>
              </a:rPr>
              <a:t>consume </a:t>
            </a:r>
            <a:r>
              <a:rPr lang="en-US" altLang="ja-JP" sz="2400" dirty="0">
                <a:latin typeface="Times New Roman"/>
                <a:cs typeface="Times New Roman"/>
              </a:rPr>
              <a:t>the </a:t>
            </a:r>
            <a:r>
              <a:rPr lang="en-US" altLang="ja-JP" sz="2400" dirty="0" err="1">
                <a:latin typeface="Times New Roman"/>
                <a:cs typeface="Times New Roman"/>
              </a:rPr>
              <a:t>analyte</a:t>
            </a:r>
            <a:r>
              <a:rPr lang="en-US" altLang="ja-JP" sz="2400" dirty="0">
                <a:latin typeface="Times New Roman"/>
                <a:cs typeface="Times New Roman"/>
              </a:rPr>
              <a:t> thereby bringing a change in the potential resulting from ion accumulation or depletion.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altLang="ja-JP" sz="2400" dirty="0" smtClean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potentiometric transducers </a:t>
            </a:r>
            <a:r>
              <a:rPr lang="en-US" altLang="ja-JP" sz="2400" dirty="0" smtClean="0">
                <a:latin typeface="Times New Roman"/>
                <a:cs typeface="Times New Roman"/>
              </a:rPr>
              <a:t>compare </a:t>
            </a:r>
            <a:r>
              <a:rPr lang="en-US" altLang="ja-JP" sz="2400" dirty="0">
                <a:latin typeface="Times New Roman"/>
                <a:cs typeface="Times New Roman"/>
              </a:rPr>
              <a:t>the change between the working electrode and the reference electrode, and the signal is correlated to the concentration of the </a:t>
            </a:r>
            <a:r>
              <a:rPr lang="en-US" altLang="ja-JP" sz="2400" dirty="0" err="1">
                <a:latin typeface="Times New Roman"/>
                <a:cs typeface="Times New Roman"/>
              </a:rPr>
              <a:t>analyte</a:t>
            </a:r>
            <a:r>
              <a:rPr lang="en-US" altLang="ja-JP" sz="2400" dirty="0">
                <a:latin typeface="Times New Roman"/>
                <a:cs typeface="Times New Roman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1109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24810"/>
          <a:stretch/>
        </p:blipFill>
        <p:spPr>
          <a:xfrm>
            <a:off x="290175" y="1735597"/>
            <a:ext cx="8433669" cy="403686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340504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Potentiometric Biosensors 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6" name="AutoShape 2" descr="Image result for laps measureme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0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Image result for laps measureme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Image result for laps measur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192165"/>
            <a:ext cx="809625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hlinkClick r:id="rId3"/>
              </a:rPr>
              <a:t>Light-addressable potentiometric sensor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787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753" y="1051064"/>
            <a:ext cx="5011302" cy="5806936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340504"/>
            <a:ext cx="77724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smtClean="0">
                <a:solidFill>
                  <a:srgbClr val="FF0000"/>
                </a:solidFill>
                <a:latin typeface="Arial" charset="0"/>
              </a:rPr>
              <a:t>Potentiometric Biosensors 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94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4434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 err="1" smtClean="0">
                <a:solidFill>
                  <a:srgbClr val="FF0000"/>
                </a:solidFill>
                <a:latin typeface="Arial" charset="0"/>
              </a:rPr>
              <a:t>Conductometric</a:t>
            </a:r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 Biosensors 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1942" y="1964817"/>
            <a:ext cx="82464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ja-JP" sz="3200" dirty="0" err="1">
                <a:latin typeface="Times New Roman"/>
                <a:cs typeface="Times New Roman"/>
              </a:rPr>
              <a:t>Conductometry</a:t>
            </a:r>
            <a:r>
              <a:rPr lang="en-US" altLang="ja-JP" sz="3200" dirty="0">
                <a:latin typeface="Times New Roman"/>
                <a:cs typeface="Times New Roman"/>
              </a:rPr>
              <a:t> is a technique which measures conductivity changes in the solution due to the production or consumption of ionic species. </a:t>
            </a:r>
            <a:endParaRPr lang="en-US" altLang="ja-JP" sz="3200" dirty="0" smtClean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altLang="ja-JP" sz="3200" dirty="0" smtClean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ja-JP" sz="3200" dirty="0" smtClean="0">
                <a:latin typeface="Times New Roman"/>
                <a:cs typeface="Times New Roman"/>
              </a:rPr>
              <a:t>A </a:t>
            </a:r>
            <a:r>
              <a:rPr lang="en-US" altLang="ja-JP" sz="3200" dirty="0">
                <a:latin typeface="Times New Roman"/>
                <a:cs typeface="Times New Roman"/>
              </a:rPr>
              <a:t>majority of microbe-</a:t>
            </a:r>
            <a:r>
              <a:rPr lang="en-US" altLang="ja-JP" sz="3200" dirty="0" smtClean="0">
                <a:latin typeface="Times New Roman"/>
                <a:cs typeface="Times New Roman"/>
              </a:rPr>
              <a:t>catalyzed </a:t>
            </a:r>
            <a:r>
              <a:rPr lang="en-US" altLang="ja-JP" sz="3200" dirty="0">
                <a:latin typeface="Times New Roman"/>
                <a:cs typeface="Times New Roman"/>
              </a:rPr>
              <a:t>reactions involved a change in the ionic species. </a:t>
            </a:r>
          </a:p>
        </p:txBody>
      </p:sp>
    </p:spTree>
    <p:extLst>
      <p:ext uri="{BB962C8B-B14F-4D97-AF65-F5344CB8AC3E}">
        <p14:creationId xmlns:p14="http://schemas.microsoft.com/office/powerpoint/2010/main" val="82329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210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Optical microbial biosensors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942" y="1431700"/>
            <a:ext cx="843458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Optical microbial biosensors are generally based on the changes in the optical </a:t>
            </a:r>
            <a:r>
              <a:rPr lang="en-US" altLang="ja-JP" sz="2400" dirty="0" smtClean="0">
                <a:latin typeface="Times New Roman"/>
                <a:cs typeface="Times New Roman"/>
              </a:rPr>
              <a:t>properties </a:t>
            </a:r>
            <a:r>
              <a:rPr lang="en-US" altLang="ja-JP" sz="2400" dirty="0">
                <a:latin typeface="Times New Roman"/>
                <a:cs typeface="Times New Roman"/>
              </a:rPr>
              <a:t>brought by the interaction of the biocatalyst with the target </a:t>
            </a:r>
            <a:r>
              <a:rPr lang="en-US" altLang="ja-JP" sz="2400" dirty="0" err="1">
                <a:latin typeface="Times New Roman"/>
                <a:cs typeface="Times New Roman"/>
              </a:rPr>
              <a:t>analyte</a:t>
            </a:r>
            <a:r>
              <a:rPr lang="en-US" altLang="ja-JP" sz="2400" dirty="0" smtClean="0">
                <a:latin typeface="Times New Roman"/>
                <a:cs typeface="Times New Roman"/>
              </a:rPr>
              <a:t>:</a:t>
            </a:r>
          </a:p>
          <a:p>
            <a:pPr marL="285750" indent="-285750">
              <a:buFont typeface="Arial"/>
              <a:buChar char="•"/>
            </a:pPr>
            <a:endParaRPr lang="en-US" altLang="ja-JP" sz="2000" dirty="0" smtClean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Some of the optical properties are:</a:t>
            </a:r>
            <a:endParaRPr lang="en-US" altLang="ja-JP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Absorption </a:t>
            </a:r>
            <a:r>
              <a:rPr lang="en-US" altLang="ja-JP" sz="2400" dirty="0">
                <a:latin typeface="Times New Roman"/>
                <a:cs typeface="Times New Roman"/>
              </a:rPr>
              <a:t>(UV-Vis),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Bioluminescence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400" dirty="0" err="1" smtClean="0">
                <a:latin typeface="Times New Roman"/>
                <a:cs typeface="Times New Roman"/>
              </a:rPr>
              <a:t>Chemiluminescence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Reflectance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400" dirty="0" smtClean="0">
                <a:latin typeface="Times New Roman"/>
                <a:cs typeface="Times New Roman"/>
              </a:rPr>
              <a:t>Fluorescence</a:t>
            </a:r>
          </a:p>
          <a:p>
            <a:pPr marL="742950" lvl="1" indent="-285750">
              <a:buFont typeface="Arial"/>
              <a:buChar char="•"/>
            </a:pPr>
            <a:endParaRPr lang="en-US" altLang="ja-JP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advantages of optical </a:t>
            </a:r>
            <a:r>
              <a:rPr lang="en-US" altLang="ja-JP" sz="2400" dirty="0" smtClean="0">
                <a:latin typeface="Times New Roman"/>
                <a:cs typeface="Times New Roman"/>
              </a:rPr>
              <a:t>biosensors </a:t>
            </a:r>
            <a:r>
              <a:rPr lang="en-US" altLang="ja-JP" sz="2400" dirty="0">
                <a:latin typeface="Times New Roman"/>
                <a:cs typeface="Times New Roman"/>
              </a:rPr>
              <a:t>are compactness, flexibility, resistance to electrical noise and small probe size. </a:t>
            </a:r>
          </a:p>
        </p:txBody>
      </p:sp>
    </p:spTree>
    <p:extLst>
      <p:ext uri="{BB962C8B-B14F-4D97-AF65-F5344CB8AC3E}">
        <p14:creationId xmlns:p14="http://schemas.microsoft.com/office/powerpoint/2010/main" val="380774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162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Optical microbial biosensors</a:t>
            </a:r>
            <a:br>
              <a:rPr lang="en-US" altLang="ja-JP" sz="3600" b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  <a:t>Fluorescence Biosensor </a:t>
            </a:r>
            <a:b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75" y="1427384"/>
            <a:ext cx="820735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0"/>
              </a:spcAft>
              <a:buFont typeface="Arial"/>
              <a:buChar char="•"/>
            </a:pPr>
            <a:r>
              <a:rPr lang="en-US" altLang="ja-JP" sz="2400" dirty="0">
                <a:latin typeface="Times New Roman"/>
                <a:cs typeface="Times New Roman"/>
              </a:rPr>
              <a:t>Fluorescence spectroscopy is a sensitive </a:t>
            </a:r>
            <a:r>
              <a:rPr lang="en-US" altLang="ja-JP" sz="2400" dirty="0" smtClean="0">
                <a:latin typeface="Times New Roman"/>
                <a:cs typeface="Times New Roman"/>
              </a:rPr>
              <a:t>analytical </a:t>
            </a:r>
            <a:r>
              <a:rPr lang="en-US" altLang="ja-JP" sz="2400" dirty="0">
                <a:latin typeface="Times New Roman"/>
                <a:cs typeface="Times New Roman"/>
              </a:rPr>
              <a:t>technique which can detect very low </a:t>
            </a:r>
            <a:r>
              <a:rPr lang="en-US" altLang="ja-JP" sz="2400" dirty="0" smtClean="0">
                <a:latin typeface="Times New Roman"/>
                <a:cs typeface="Times New Roman"/>
              </a:rPr>
              <a:t>concentrations </a:t>
            </a:r>
            <a:r>
              <a:rPr lang="en-US" altLang="ja-JP" sz="2400" dirty="0">
                <a:latin typeface="Times New Roman"/>
                <a:cs typeface="Times New Roman"/>
              </a:rPr>
              <a:t>of the </a:t>
            </a:r>
            <a:r>
              <a:rPr lang="en-US" altLang="ja-JP" sz="2400" dirty="0" err="1">
                <a:latin typeface="Times New Roman"/>
                <a:cs typeface="Times New Roman"/>
              </a:rPr>
              <a:t>analyte</a:t>
            </a:r>
            <a:r>
              <a:rPr lang="en-US" altLang="ja-JP" sz="2400" dirty="0" smtClean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spcAft>
                <a:spcPts val="30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There </a:t>
            </a:r>
            <a:r>
              <a:rPr lang="en-US" altLang="ja-JP" sz="2400" dirty="0">
                <a:latin typeface="Times New Roman"/>
                <a:cs typeface="Times New Roman"/>
              </a:rPr>
              <a:t>is a direct correlation between the fluorescence emission intensity and concentration at low </a:t>
            </a:r>
            <a:r>
              <a:rPr lang="en-US" altLang="ja-JP" sz="2400" dirty="0" err="1">
                <a:latin typeface="Times New Roman"/>
                <a:cs typeface="Times New Roman"/>
              </a:rPr>
              <a:t>analyte</a:t>
            </a:r>
            <a:r>
              <a:rPr lang="en-US" altLang="ja-JP" sz="2400" dirty="0">
                <a:latin typeface="Times New Roman"/>
                <a:cs typeface="Times New Roman"/>
              </a:rPr>
              <a:t> concentrations.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285750" indent="-285750">
              <a:spcAft>
                <a:spcPts val="30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fluorescent microbial biosensors have been divided into two broad categories based on the detection mode: in vivo and in vitro. </a:t>
            </a:r>
          </a:p>
          <a:p>
            <a:pPr marL="285750" indent="-285750">
              <a:spcAft>
                <a:spcPts val="3000"/>
              </a:spcAft>
              <a:buFont typeface="Arial"/>
              <a:buChar char="•"/>
            </a:pPr>
            <a:r>
              <a:rPr lang="en-US" altLang="ja-JP" sz="2400" dirty="0" smtClean="0">
                <a:latin typeface="Times New Roman"/>
                <a:cs typeface="Times New Roman"/>
              </a:rPr>
              <a:t>The </a:t>
            </a:r>
            <a:r>
              <a:rPr lang="en-US" altLang="ja-JP" sz="2400" dirty="0">
                <a:latin typeface="Times New Roman"/>
                <a:cs typeface="Times New Roman"/>
              </a:rPr>
              <a:t>in vivo fluorescent microbial sensor generally </a:t>
            </a:r>
            <a:r>
              <a:rPr lang="en-US" altLang="ja-JP" sz="2400" dirty="0" smtClean="0">
                <a:latin typeface="Times New Roman"/>
                <a:cs typeface="Times New Roman"/>
              </a:rPr>
              <a:t>incorporates </a:t>
            </a:r>
            <a:r>
              <a:rPr lang="en-US" altLang="ja-JP" sz="2400" dirty="0">
                <a:latin typeface="Times New Roman"/>
                <a:cs typeface="Times New Roman"/>
              </a:rPr>
              <a:t>the use of a genetically engineered </a:t>
            </a:r>
            <a:r>
              <a:rPr lang="en-US" altLang="ja-JP" sz="2400" dirty="0" smtClean="0">
                <a:latin typeface="Times New Roman"/>
                <a:cs typeface="Times New Roman"/>
              </a:rPr>
              <a:t>microorganism </a:t>
            </a:r>
            <a:r>
              <a:rPr lang="en-US" altLang="ja-JP" sz="2400" dirty="0">
                <a:latin typeface="Times New Roman"/>
                <a:cs typeface="Times New Roman"/>
              </a:rPr>
              <a:t>which is able to express a reporter gene encoding a protein. </a:t>
            </a:r>
            <a:endParaRPr lang="en-US" altLang="ja-JP" sz="2400" dirty="0" smtClean="0">
              <a:latin typeface="Times New Roman"/>
              <a:cs typeface="Times New Roman"/>
            </a:endParaRPr>
          </a:p>
          <a:p>
            <a:pPr marL="285750" indent="-285750">
              <a:spcAft>
                <a:spcPts val="3000"/>
              </a:spcAft>
              <a:buFont typeface="Arial"/>
              <a:buChar char="•"/>
            </a:pPr>
            <a:endParaRPr kumimoji="1" lang="ja-JP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757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162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Optical microbial biosensors</a:t>
            </a:r>
            <a:br>
              <a:rPr lang="en-US" altLang="ja-JP" sz="3600" b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  <a:t>Fluorescence Biosensor </a:t>
            </a:r>
            <a:b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4" y="2963503"/>
            <a:ext cx="9037314" cy="350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75" y="1631224"/>
            <a:ext cx="8207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>
                <a:solidFill>
                  <a:prstClr val="black"/>
                </a:solidFill>
                <a:latin typeface="Times New Roman"/>
                <a:cs typeface="Times New Roman"/>
              </a:rPr>
              <a:t>Green fluorescent protein (GFP) encoded by the gene </a:t>
            </a:r>
            <a:r>
              <a:rPr lang="en-US" altLang="ja-JP" sz="2400" i="1" dirty="0" err="1">
                <a:solidFill>
                  <a:prstClr val="black"/>
                </a:solidFill>
                <a:latin typeface="Times New Roman"/>
                <a:cs typeface="Times New Roman"/>
              </a:rPr>
              <a:t>gfp</a:t>
            </a:r>
            <a:r>
              <a:rPr lang="en-US" altLang="ja-JP" sz="2400" i="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altLang="ja-JP" sz="2400" dirty="0">
                <a:solidFill>
                  <a:prstClr val="black"/>
                </a:solidFill>
                <a:latin typeface="Times New Roman"/>
                <a:cs typeface="Times New Roman"/>
              </a:rPr>
              <a:t>is the most popular tool due to its stability and sensitivity </a:t>
            </a:r>
          </a:p>
        </p:txBody>
      </p:sp>
    </p:spTree>
    <p:extLst>
      <p:ext uri="{BB962C8B-B14F-4D97-AF65-F5344CB8AC3E}">
        <p14:creationId xmlns:p14="http://schemas.microsoft.com/office/powerpoint/2010/main" val="225126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162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Optical microbial biosensors</a:t>
            </a:r>
            <a:br>
              <a:rPr lang="en-US" altLang="ja-JP" sz="3600" b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  <a:t>Fluorescence Biosensor </a:t>
            </a:r>
            <a:b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54515"/>
          <a:stretch/>
        </p:blipFill>
        <p:spPr>
          <a:xfrm>
            <a:off x="1607912" y="1348984"/>
            <a:ext cx="5807625" cy="571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7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162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Optical microbial biosensors</a:t>
            </a:r>
            <a:br>
              <a:rPr lang="en-US" altLang="ja-JP" sz="3600" b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  <a:t>Bioluminescent Microbial Biosensor </a:t>
            </a:r>
            <a:b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 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75" y="1427384"/>
            <a:ext cx="8207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/>
              <a:buChar char="•"/>
            </a:pPr>
            <a:r>
              <a:rPr lang="en-US" altLang="ja-JP" sz="2400" dirty="0">
                <a:solidFill>
                  <a:prstClr val="black"/>
                </a:solidFill>
                <a:latin typeface="Times New Roman"/>
                <a:cs typeface="Times New Roman"/>
              </a:rPr>
              <a:t>The bioluminescent microbial biosensor </a:t>
            </a:r>
            <a:r>
              <a:rPr lang="en-US" altLang="ja-JP" sz="2400" dirty="0" smtClean="0">
                <a:solidFill>
                  <a:prstClr val="black"/>
                </a:solidFill>
                <a:latin typeface="Times New Roman"/>
                <a:cs typeface="Times New Roman"/>
              </a:rPr>
              <a:t>measures </a:t>
            </a:r>
            <a:r>
              <a:rPr lang="en-US" altLang="ja-JP" sz="2400" dirty="0">
                <a:solidFill>
                  <a:prstClr val="black"/>
                </a:solidFill>
                <a:latin typeface="Times New Roman"/>
                <a:cs typeface="Times New Roman"/>
              </a:rPr>
              <a:t>the changes in luminosity of the living microorganisms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58" y="2446066"/>
            <a:ext cx="7741442" cy="428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4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1624"/>
            <a:ext cx="7772400" cy="914400"/>
          </a:xfrm>
        </p:spPr>
        <p:txBody>
          <a:bodyPr>
            <a:noAutofit/>
          </a:bodyPr>
          <a:lstStyle/>
          <a:p>
            <a:r>
              <a:rPr lang="en-US" altLang="ja-JP" sz="3600" b="1" dirty="0">
                <a:solidFill>
                  <a:srgbClr val="FF0000"/>
                </a:solidFill>
                <a:latin typeface="Arial" charset="0"/>
              </a:rPr>
              <a:t>Optical microbial biosensors</a:t>
            </a:r>
            <a:br>
              <a:rPr lang="en-US" altLang="ja-JP" sz="3600" b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  <a:t>Bioluminescent Microbial Biosensor </a:t>
            </a:r>
            <a:br>
              <a:rPr lang="en-US" altLang="ja-JP" sz="2400" b="1" i="1" dirty="0">
                <a:solidFill>
                  <a:srgbClr val="FF0000"/>
                </a:solidFill>
                <a:latin typeface="Arial" charset="0"/>
              </a:rPr>
            </a:br>
            <a:r>
              <a:rPr lang="en-US" altLang="ja-JP" sz="3600" b="1" dirty="0" smtClean="0">
                <a:solidFill>
                  <a:srgbClr val="FF0000"/>
                </a:solidFill>
                <a:latin typeface="Arial" charset="0"/>
              </a:rPr>
              <a:t> </a:t>
            </a:r>
            <a:endParaRPr lang="en-US" altLang="ja-JP" sz="36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55648"/>
          <a:stretch/>
        </p:blipFill>
        <p:spPr>
          <a:xfrm>
            <a:off x="2143822" y="1262924"/>
            <a:ext cx="4644607" cy="568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1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8541</TotalTime>
  <Words>1025</Words>
  <Application>Microsoft Office PowerPoint</Application>
  <PresentationFormat>On-screen Show (4:3)</PresentationFormat>
  <Paragraphs>106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ＭＳ Ｐゴシック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Microbial Electrochemical Biosensors </vt:lpstr>
      <vt:lpstr>Amperometric Biosensors </vt:lpstr>
      <vt:lpstr>PowerPoint Presentation</vt:lpstr>
      <vt:lpstr>Potentiometric Biosensors </vt:lpstr>
      <vt:lpstr>PowerPoint Presentation</vt:lpstr>
      <vt:lpstr>Light-addressable potentiometric sensor </vt:lpstr>
      <vt:lpstr>PowerPoint Presentation</vt:lpstr>
      <vt:lpstr>Conductometric Biosensors </vt:lpstr>
      <vt:lpstr>Optical microbial biosensors </vt:lpstr>
      <vt:lpstr>Optical microbial biosensors Fluorescence Biosensor   </vt:lpstr>
      <vt:lpstr>Optical microbial biosensors Fluorescence Biosensor   </vt:lpstr>
      <vt:lpstr>Optical microbial biosensors Fluorescence Biosensor   </vt:lpstr>
      <vt:lpstr>Optical microbial biosensors Bioluminescent Microbial Biosensor   </vt:lpstr>
      <vt:lpstr>Optical microbial biosensors Bioluminescent Microbial Biosensor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qutaiba ababneh</dc:creator>
  <cp:lastModifiedBy>JUST</cp:lastModifiedBy>
  <cp:revision>163</cp:revision>
  <dcterms:created xsi:type="dcterms:W3CDTF">2015-11-08T19:51:44Z</dcterms:created>
  <dcterms:modified xsi:type="dcterms:W3CDTF">2019-12-15T09:16:24Z</dcterms:modified>
</cp:coreProperties>
</file>