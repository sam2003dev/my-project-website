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91" r:id="rId5"/>
    <p:sldId id="297" r:id="rId6"/>
    <p:sldId id="298" r:id="rId7"/>
    <p:sldId id="300" r:id="rId8"/>
    <p:sldId id="299" r:id="rId9"/>
    <p:sldId id="301" r:id="rId10"/>
    <p:sldId id="302" r:id="rId11"/>
    <p:sldId id="260" r:id="rId12"/>
    <p:sldId id="303" r:id="rId13"/>
    <p:sldId id="304" r:id="rId14"/>
    <p:sldId id="305" r:id="rId15"/>
    <p:sldId id="309" r:id="rId16"/>
    <p:sldId id="262" r:id="rId17"/>
    <p:sldId id="306" r:id="rId18"/>
    <p:sldId id="263" r:id="rId19"/>
    <p:sldId id="273" r:id="rId20"/>
    <p:sldId id="274" r:id="rId21"/>
    <p:sldId id="275" r:id="rId22"/>
    <p:sldId id="276" r:id="rId23"/>
    <p:sldId id="277" r:id="rId24"/>
    <p:sldId id="278" r:id="rId25"/>
    <p:sldId id="280" r:id="rId26"/>
    <p:sldId id="282" r:id="rId27"/>
    <p:sldId id="307" r:id="rId28"/>
    <p:sldId id="283" r:id="rId29"/>
    <p:sldId id="284" r:id="rId30"/>
    <p:sldId id="281" r:id="rId31"/>
    <p:sldId id="285" r:id="rId32"/>
    <p:sldId id="308" r:id="rId33"/>
    <p:sldId id="286" r:id="rId34"/>
    <p:sldId id="288" r:id="rId35"/>
    <p:sldId id="289" r:id="rId36"/>
    <p:sldId id="287" r:id="rId3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1" autoAdjust="0"/>
    <p:restoredTop sz="94660"/>
  </p:normalViewPr>
  <p:slideViewPr>
    <p:cSldViewPr>
      <p:cViewPr varScale="1">
        <p:scale>
          <a:sx n="88" d="100"/>
          <a:sy n="88" d="100"/>
        </p:scale>
        <p:origin x="1373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10661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6CE48A-AE6E-43BD-8E7E-9191D8C26396}" type="datetimeFigureOut">
              <a:rPr lang="en-US" smtClean="0"/>
              <a:t>3/18/2024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611CD8-DD0F-4CD1-A3A1-B82D876F8B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0675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AD9BD-0040-4C1C-B9A8-15B160ECBE11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34110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2AA598-20DB-4841-82DE-CB0D9D98E786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018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30C7A2-E1BC-42EF-9E64-37AF989066C6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2687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357F07-AA8D-42A8-8C95-CF31C53F6261}" type="datetime12">
              <a:rPr lang="en-US" smtClean="0"/>
              <a:t>9:03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366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1C7095-6F97-420A-AB6E-91D73AC8DCD9}" type="datetime12">
              <a:rPr lang="en-US" smtClean="0"/>
              <a:t>9:03 PM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0282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08935-59CE-4F05-8E25-C5895053E512}" type="datetime12">
              <a:rPr lang="en-US" smtClean="0"/>
              <a:t>9:03 PM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0930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0022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4206-BB97-4E9B-AA74-390DB3378978}" type="datetime12">
              <a:rPr lang="en-US" smtClean="0"/>
              <a:t>9:03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297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CA4CCD-D648-4BB7-AE0E-B3D104236E02}" type="datetime12">
              <a:rPr lang="en-US" smtClean="0"/>
              <a:t>9:03 PM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596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F34746-2ADB-4D8F-B2BD-E3E324CDBDEA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526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353AAD-4F5B-4E92-B7A3-68ECE061E3A9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10303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1B50A1F-C2F2-42AB-88DC-CE59E50E8BE6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DD2E34-380E-4811-A0BA-D4C00E1BCA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49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9783" y="21336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Origins and consequences of chromosome pathology</a:t>
            </a:r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72A093-DB52-46D7-ACEE-B7BCB9F7EED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548C07-232B-4994-8F4F-FC75A9590771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663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28600" y="304800"/>
            <a:ext cx="70866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Meiosis in chromosomally normal persons</a:t>
            </a:r>
          </a:p>
          <a:p>
            <a:endParaRPr lang="en-US" sz="2800" dirty="0" smtClean="0"/>
          </a:p>
          <a:p>
            <a:r>
              <a:rPr lang="en-US" sz="2800" dirty="0" smtClean="0"/>
              <a:t>Diploid → Haploid &amp; variation creation</a:t>
            </a:r>
          </a:p>
          <a:p>
            <a:endParaRPr lang="en-US" sz="2800" dirty="0"/>
          </a:p>
          <a:p>
            <a:r>
              <a:rPr lang="en-US" sz="2800" dirty="0" smtClean="0"/>
              <a:t>Differences in timing between the two sexes</a:t>
            </a:r>
            <a:endParaRPr lang="en-US" sz="280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</a:t>
            </a:fld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64BD4-AA14-4708-ADD3-0FB600578080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1891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28600" y="212501"/>
            <a:ext cx="37338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Synapsis</a:t>
            </a:r>
          </a:p>
          <a:p>
            <a:r>
              <a:rPr lang="en-US" sz="2800" dirty="0" smtClean="0"/>
              <a:t>Synaptonemal complex</a:t>
            </a:r>
          </a:p>
          <a:p>
            <a:r>
              <a:rPr lang="en-US" sz="2800" dirty="0" smtClean="0"/>
              <a:t>Bivalents</a:t>
            </a:r>
          </a:p>
          <a:p>
            <a:r>
              <a:rPr lang="en-US" sz="2800" dirty="0" smtClean="0"/>
              <a:t>Recombination</a:t>
            </a:r>
          </a:p>
          <a:p>
            <a:r>
              <a:rPr lang="en-US" sz="2800" dirty="0" smtClean="0"/>
              <a:t>Crossing-over</a:t>
            </a:r>
          </a:p>
          <a:p>
            <a:endParaRPr lang="en-US" sz="2800" dirty="0"/>
          </a:p>
          <a:p>
            <a:r>
              <a:rPr lang="en-US" sz="2400" dirty="0" err="1" smtClean="0"/>
              <a:t>Desynapsis</a:t>
            </a:r>
            <a:r>
              <a:rPr lang="en-US" sz="2400" dirty="0" smtClean="0"/>
              <a:t>, dissociation of synaptonemal complex and chiasmata formation</a:t>
            </a:r>
          </a:p>
          <a:p>
            <a:endParaRPr lang="en-US" sz="2800" dirty="0"/>
          </a:p>
          <a:p>
            <a:r>
              <a:rPr lang="en-US" sz="2800" dirty="0" smtClean="0"/>
              <a:t>Disjoin, disjunction, segregation</a:t>
            </a:r>
          </a:p>
          <a:p>
            <a:endParaRPr lang="en-US" sz="2800" dirty="0"/>
          </a:p>
          <a:p>
            <a:r>
              <a:rPr lang="en-US" sz="2800" i="1" dirty="0" smtClean="0"/>
              <a:t>Non</a:t>
            </a:r>
            <a:r>
              <a:rPr lang="en-US" sz="2800" dirty="0" smtClean="0"/>
              <a:t>disjunction</a:t>
            </a:r>
          </a:p>
          <a:p>
            <a:r>
              <a:rPr lang="en-US" sz="2800" i="1" dirty="0" smtClean="0"/>
              <a:t>Mal</a:t>
            </a:r>
            <a:r>
              <a:rPr lang="en-US" sz="2800" dirty="0" smtClean="0"/>
              <a:t>segregation</a:t>
            </a:r>
            <a:endParaRPr lang="en-US" sz="2800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</a:t>
            </a:fld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F42813-16C6-417B-9FA8-E69D4267335A}" type="datetime12">
              <a:rPr lang="en-US" smtClean="0"/>
              <a:t>9:03 PM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41610" y="0"/>
            <a:ext cx="5302390" cy="68580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5943600"/>
            <a:ext cx="685800" cy="1524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057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4</a:t>
            </a:fld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112776"/>
            <a:ext cx="5212080" cy="674522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7086" y="457200"/>
            <a:ext cx="3200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Reverse segregation</a:t>
            </a:r>
            <a:endParaRPr lang="en-US" sz="2800" dirty="0"/>
          </a:p>
        </p:txBody>
      </p:sp>
      <p:sp>
        <p:nvSpPr>
          <p:cNvPr id="7" name="Rounded Rectangle 6"/>
          <p:cNvSpPr/>
          <p:nvPr/>
        </p:nvSpPr>
        <p:spPr>
          <a:xfrm>
            <a:off x="3505200" y="5715000"/>
            <a:ext cx="914400" cy="1524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3352800" y="6356350"/>
            <a:ext cx="3886200" cy="12065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8031480" y="6172200"/>
            <a:ext cx="350520" cy="184149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35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5</a:t>
            </a:fld>
            <a:endParaRPr lang="en-US"/>
          </a:p>
        </p:txBody>
      </p:sp>
      <p:pic>
        <p:nvPicPr>
          <p:cNvPr id="5" name="Picture 2" descr="C:\Users\hp\Documents\My Scans\scan001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3973"/>
          <a:stretch/>
        </p:blipFill>
        <p:spPr bwMode="auto">
          <a:xfrm>
            <a:off x="0" y="3430610"/>
            <a:ext cx="3773071" cy="34177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692" y="111430"/>
            <a:ext cx="5081016" cy="6574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88692" y="3214032"/>
            <a:ext cx="1524000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/>
              <a:t>Metaphase II</a:t>
            </a:r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152400" y="167628"/>
            <a:ext cx="3962400" cy="23698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Nondisjunction in meiosis</a:t>
            </a:r>
          </a:p>
          <a:p>
            <a:endParaRPr lang="en-US" sz="2400" dirty="0"/>
          </a:p>
          <a:p>
            <a:r>
              <a:rPr lang="en-US" sz="2400" b="1" dirty="0" smtClean="0"/>
              <a:t>Nondisjunction</a:t>
            </a:r>
            <a:r>
              <a:rPr lang="en-US" sz="2400" dirty="0" smtClean="0"/>
              <a:t>: failure of homologous chromosomes or sister chromatids to segregate symmetrically at cell division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877034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6</a:t>
            </a:fld>
            <a:endParaRPr lang="en-US"/>
          </a:p>
        </p:txBody>
      </p:sp>
      <p:pic>
        <p:nvPicPr>
          <p:cNvPr id="3074" name="Picture 2" descr="C:\Users\hp\Documents\My Scans\scan0016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90" t="2756" r="2898" b="2536"/>
          <a:stretch/>
        </p:blipFill>
        <p:spPr bwMode="auto">
          <a:xfrm>
            <a:off x="1110078" y="4292"/>
            <a:ext cx="8023190" cy="6853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D442A9-B8F4-4A4A-AB08-5D6144FE5148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668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7</a:t>
            </a:fld>
            <a:endParaRPr lang="en-US"/>
          </a:p>
        </p:txBody>
      </p:sp>
      <p:pic>
        <p:nvPicPr>
          <p:cNvPr id="4098" name="Picture 2" descr="C:\Users\hp\Documents\My Scans\scan0017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60" t="2162" r="2160" b="1804"/>
          <a:stretch/>
        </p:blipFill>
        <p:spPr bwMode="auto">
          <a:xfrm>
            <a:off x="2657018" y="-2"/>
            <a:ext cx="6482689" cy="685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C:\Users\hp\Documents\My Scans\scan0015.jpg"/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72" b="4121"/>
          <a:stretch/>
        </p:blipFill>
        <p:spPr bwMode="auto">
          <a:xfrm>
            <a:off x="15027" y="0"/>
            <a:ext cx="2990014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4724400"/>
            <a:ext cx="3200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Chromatid “</a:t>
            </a:r>
            <a:r>
              <a:rPr lang="en-US" sz="2400" dirty="0" err="1" smtClean="0"/>
              <a:t>predivision</a:t>
            </a:r>
            <a:r>
              <a:rPr lang="en-US" sz="2400" dirty="0" smtClean="0"/>
              <a:t>” hypothesis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A85262-4D9B-47BC-8C2E-6F153418319F}" type="datetime12">
              <a:rPr lang="en-US" smtClean="0"/>
              <a:t>9:03 PM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6377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839200" cy="5847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The majority of human malsegregation takes place in oogenesis</a:t>
            </a:r>
          </a:p>
          <a:p>
            <a:endParaRPr lang="en-US" sz="2200" dirty="0"/>
          </a:p>
          <a:p>
            <a:r>
              <a:rPr lang="en-US" sz="2200" dirty="0" smtClean="0"/>
              <a:t>Women in their twenties</a:t>
            </a:r>
            <a:r>
              <a:rPr lang="en-US" sz="2200" dirty="0"/>
              <a:t>, </a:t>
            </a:r>
            <a:r>
              <a:rPr lang="en-US" sz="2200" dirty="0" smtClean="0"/>
              <a:t>meiosis I errors are predominant</a:t>
            </a:r>
          </a:p>
          <a:p>
            <a:r>
              <a:rPr lang="en-US" sz="2200" dirty="0" smtClean="0"/>
              <a:t>Women in their forties, meiosis II errors are predominant</a:t>
            </a:r>
          </a:p>
          <a:p>
            <a:endParaRPr lang="en-US" sz="2200" dirty="0"/>
          </a:p>
          <a:p>
            <a:r>
              <a:rPr lang="en-US" sz="2200" dirty="0" smtClean="0"/>
              <a:t>Women aged 28-37, 47% of eggs are disomic or nullisomic</a:t>
            </a:r>
          </a:p>
          <a:p>
            <a:r>
              <a:rPr lang="en-US" sz="2200" dirty="0" smtClean="0"/>
              <a:t>Women aged 38-47, 78% of eggs are disomic or nullisomic</a:t>
            </a:r>
          </a:p>
          <a:p>
            <a:endParaRPr lang="en-US" sz="2200" dirty="0"/>
          </a:p>
          <a:p>
            <a:r>
              <a:rPr lang="en-US" sz="2200" b="1" dirty="0" smtClean="0"/>
              <a:t>Multiple aneuploidy </a:t>
            </a:r>
            <a:r>
              <a:rPr lang="en-US" sz="2200" dirty="0" smtClean="0"/>
              <a:t>are known</a:t>
            </a:r>
          </a:p>
          <a:p>
            <a:endParaRPr lang="en-US" sz="2200" dirty="0"/>
          </a:p>
          <a:p>
            <a:r>
              <a:rPr lang="en-US" sz="2200" b="1" dirty="0" smtClean="0"/>
              <a:t>Sequential nondisjunction </a:t>
            </a:r>
            <a:r>
              <a:rPr lang="en-US" sz="2200" dirty="0" smtClean="0"/>
              <a:t>at both meiotic divisions could lead to tetrasomy, this is the basis of some X chromosomal polysomy</a:t>
            </a:r>
          </a:p>
          <a:p>
            <a:endParaRPr lang="en-US" sz="2200" dirty="0"/>
          </a:p>
          <a:p>
            <a:r>
              <a:rPr lang="en-US" sz="2200" b="1" dirty="0" smtClean="0"/>
              <a:t>Complete nondisjunction</a:t>
            </a:r>
            <a:r>
              <a:rPr lang="en-US" sz="2200" dirty="0" smtClean="0"/>
              <a:t>, could lead to </a:t>
            </a:r>
            <a:r>
              <a:rPr lang="en-US" sz="2200" dirty="0" err="1" smtClean="0"/>
              <a:t>triploidy</a:t>
            </a:r>
            <a:r>
              <a:rPr lang="en-US" sz="2200" dirty="0" smtClean="0"/>
              <a:t>, retention of polar body within the ovum</a:t>
            </a:r>
          </a:p>
          <a:p>
            <a:endParaRPr lang="en-US" sz="2200" dirty="0"/>
          </a:p>
          <a:p>
            <a:r>
              <a:rPr lang="en-US" sz="2200" b="1" dirty="0" smtClean="0"/>
              <a:t>Simultaneous parental nondisjunctions </a:t>
            </a:r>
            <a:r>
              <a:rPr lang="en-US" sz="2200" dirty="0" smtClean="0"/>
              <a:t>a rarer source of double aneuploidy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B21E86-FEDE-4B00-AA0D-8105B66A9772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900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228600"/>
            <a:ext cx="8610600" cy="42165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Causes of nondisjunction</a:t>
            </a:r>
          </a:p>
          <a:p>
            <a:endParaRPr lang="en-US" sz="2400" dirty="0" smtClean="0"/>
          </a:p>
          <a:p>
            <a:r>
              <a:rPr lang="en-US" sz="2400" dirty="0" smtClean="0"/>
              <a:t>Most aneuploidy due to nondisjunction arises in oogenesis</a:t>
            </a:r>
          </a:p>
          <a:p>
            <a:endParaRPr lang="en-US" sz="2400" dirty="0" smtClean="0"/>
          </a:p>
          <a:p>
            <a:r>
              <a:rPr lang="en-US" sz="2400" dirty="0" smtClean="0"/>
              <a:t>Vulnerability of maternal meiosis lies in the degradation, over time, of factors that support the adhesion of the homologous chromatids of the bivalent</a:t>
            </a:r>
          </a:p>
          <a:p>
            <a:endParaRPr lang="en-US" sz="2400" dirty="0" smtClean="0"/>
          </a:p>
          <a:p>
            <a:r>
              <a:rPr lang="en-US" sz="2400" dirty="0" smtClean="0"/>
              <a:t>Compromised function of spindle apparatus could cause aneuploidy</a:t>
            </a:r>
          </a:p>
          <a:p>
            <a:endParaRPr lang="en-US" sz="2400" dirty="0"/>
          </a:p>
          <a:p>
            <a:r>
              <a:rPr lang="en-US" sz="2400" dirty="0" smtClean="0"/>
              <a:t>Mutations in genes coding for synaptonemal complex proteins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62C397-8CD6-4DC1-BEDC-F2E3782F8720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312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10</a:t>
            </a:fld>
            <a:endParaRPr lang="en-US"/>
          </a:p>
        </p:txBody>
      </p:sp>
      <p:pic>
        <p:nvPicPr>
          <p:cNvPr id="1026" name="Picture 2" descr="C:\Users\hp\Documents\My Scans\scan0018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61" t="1349" r="3880" b="8932"/>
          <a:stretch/>
        </p:blipFill>
        <p:spPr bwMode="auto">
          <a:xfrm>
            <a:off x="4817197" y="0"/>
            <a:ext cx="4326803" cy="6806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1" y="152400"/>
            <a:ext cx="480059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Researchers sampled oocytes at meiosis II metaphase from younger (</a:t>
            </a:r>
            <a:r>
              <a:rPr lang="en-US" sz="2400" dirty="0" smtClean="0">
                <a:solidFill>
                  <a:srgbClr val="FF0000"/>
                </a:solidFill>
              </a:rPr>
              <a:t>20-25 years</a:t>
            </a:r>
            <a:r>
              <a:rPr lang="en-US" sz="2400" dirty="0" smtClean="0"/>
              <a:t>) and older (</a:t>
            </a:r>
            <a:r>
              <a:rPr lang="en-US" sz="2400" dirty="0" smtClean="0">
                <a:solidFill>
                  <a:srgbClr val="FF0000"/>
                </a:solidFill>
              </a:rPr>
              <a:t>40-45</a:t>
            </a:r>
            <a:r>
              <a:rPr lang="en-US" sz="2400" dirty="0" smtClean="0"/>
              <a:t>) women</a:t>
            </a:r>
          </a:p>
          <a:p>
            <a:endParaRPr lang="en-US" sz="2400" dirty="0"/>
          </a:p>
          <a:p>
            <a:r>
              <a:rPr lang="en-US" sz="2400" dirty="0" smtClean="0"/>
              <a:t>Looked at the nature of the spindle and the metaphase chromosomes as a whole</a:t>
            </a:r>
          </a:p>
          <a:p>
            <a:endParaRPr lang="en-US" sz="2400" dirty="0"/>
          </a:p>
          <a:p>
            <a:r>
              <a:rPr lang="en-US" sz="2400" dirty="0" smtClean="0"/>
              <a:t>Found:  </a:t>
            </a:r>
            <a:r>
              <a:rPr lang="en-US" sz="2400" dirty="0" smtClean="0">
                <a:solidFill>
                  <a:srgbClr val="FF0000"/>
                </a:solidFill>
              </a:rPr>
              <a:t>symmetrical and neatly arrayed</a:t>
            </a:r>
            <a:r>
              <a:rPr lang="en-US" sz="2400" dirty="0" smtClean="0"/>
              <a:t> complex in younger women, while in older women the spindle was </a:t>
            </a:r>
            <a:r>
              <a:rPr lang="en-US" sz="2400" dirty="0" smtClean="0">
                <a:solidFill>
                  <a:srgbClr val="FF0000"/>
                </a:solidFill>
              </a:rPr>
              <a:t>skewed</a:t>
            </a:r>
            <a:r>
              <a:rPr lang="en-US" sz="2400" dirty="0" smtClean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and the chromosomes in a mess</a:t>
            </a:r>
            <a:endParaRPr lang="en-US" sz="2400" dirty="0">
              <a:solidFill>
                <a:srgbClr val="FF000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B58A22-A253-4913-B622-AA4A8F032115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861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11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228600" y="228600"/>
            <a:ext cx="87630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 smtClean="0"/>
              <a:t>Meiosis in chromosomally abnormal persons</a:t>
            </a:r>
          </a:p>
          <a:p>
            <a:endParaRPr lang="en-US" sz="2800" dirty="0"/>
          </a:p>
          <a:p>
            <a:r>
              <a:rPr lang="en-US" sz="2800" i="1" dirty="0" smtClean="0"/>
              <a:t>First</a:t>
            </a:r>
            <a:r>
              <a:rPr lang="en-US" sz="2800" dirty="0" smtClean="0"/>
              <a:t>, phenotypically normal person heterozygous for a balanced structural rearrangement</a:t>
            </a:r>
          </a:p>
          <a:p>
            <a:r>
              <a:rPr lang="en-US" sz="2800" dirty="0"/>
              <a:t>	</a:t>
            </a:r>
            <a:r>
              <a:rPr lang="en-US" sz="2400" dirty="0" err="1" smtClean="0"/>
              <a:t>heterosynapsis</a:t>
            </a:r>
            <a:r>
              <a:rPr lang="en-US" sz="2400" dirty="0" smtClean="0"/>
              <a:t>, </a:t>
            </a:r>
            <a:r>
              <a:rPr lang="en-US" sz="2400" dirty="0" err="1" smtClean="0"/>
              <a:t>homosynapsis</a:t>
            </a:r>
            <a:endParaRPr lang="en-US" sz="2400" dirty="0" smtClean="0"/>
          </a:p>
          <a:p>
            <a:endParaRPr lang="en-US" sz="2800" dirty="0" smtClean="0"/>
          </a:p>
          <a:p>
            <a:r>
              <a:rPr lang="en-US" sz="2800" i="1" dirty="0" smtClean="0"/>
              <a:t>Second</a:t>
            </a:r>
            <a:r>
              <a:rPr lang="en-US" sz="2800" dirty="0" smtClean="0"/>
              <a:t>, phenotypically normal or mildly abnormal person with molecularly-defined microdeletion or micro duplication</a:t>
            </a:r>
          </a:p>
          <a:p>
            <a:r>
              <a:rPr lang="en-US" sz="2800" dirty="0"/>
              <a:t>	</a:t>
            </a:r>
            <a:r>
              <a:rPr lang="en-US" sz="2400" dirty="0" smtClean="0"/>
              <a:t>not known to interfere with normal cell division</a:t>
            </a:r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70474E-3675-4865-BEA8-F495A5684C75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5172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228600"/>
            <a:ext cx="8686800" cy="38933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Nondisjunction in mitosis and the generation of mosaicism</a:t>
            </a:r>
          </a:p>
          <a:p>
            <a:endParaRPr lang="en-US" sz="2300" dirty="0"/>
          </a:p>
          <a:p>
            <a:r>
              <a:rPr lang="en-US" sz="2400" dirty="0" smtClean="0"/>
              <a:t>Difference between mitotic and meiotic errors:</a:t>
            </a:r>
          </a:p>
          <a:p>
            <a:r>
              <a:rPr lang="en-US" sz="2400" dirty="0" smtClean="0"/>
              <a:t>Mitotic produce mosaic conceptus, meiotic produce a </a:t>
            </a:r>
            <a:r>
              <a:rPr lang="en-US" sz="2400" dirty="0" err="1" smtClean="0"/>
              <a:t>nonmosaic</a:t>
            </a:r>
            <a:r>
              <a:rPr lang="en-US" sz="2400" dirty="0" smtClean="0"/>
              <a:t> abnormality</a:t>
            </a:r>
          </a:p>
          <a:p>
            <a:endParaRPr lang="en-US" sz="2400" dirty="0"/>
          </a:p>
          <a:p>
            <a:r>
              <a:rPr lang="en-US" sz="2400" dirty="0" smtClean="0"/>
              <a:t>The earlier in embryogenesis that a mitotic error occurs, the greater the likelihood for a substantial fraction of the soma to be aneuploid, leading to increasing departure from normality of the phenotype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68ED-0158-4A0E-A203-953BEE2B44C6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882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13</a:t>
            </a:fld>
            <a:endParaRPr lang="en-US"/>
          </a:p>
        </p:txBody>
      </p:sp>
      <p:pic>
        <p:nvPicPr>
          <p:cNvPr id="2050" name="Picture 2" descr="C:\Users\hp\Documents\My Scans\scan0019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07" r="9048" b="24078"/>
          <a:stretch/>
        </p:blipFill>
        <p:spPr bwMode="auto">
          <a:xfrm>
            <a:off x="5544098" y="-1"/>
            <a:ext cx="35999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228600" y="228600"/>
            <a:ext cx="5315498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Nondisjunction in mitosis</a:t>
            </a:r>
          </a:p>
          <a:p>
            <a:endParaRPr lang="en-US" sz="2400" dirty="0"/>
          </a:p>
          <a:p>
            <a:r>
              <a:rPr lang="en-US" sz="2400" dirty="0" smtClean="0"/>
              <a:t>Mitotic nondisjunction is the major mechanism causing mosaicism</a:t>
            </a:r>
          </a:p>
          <a:p>
            <a:endParaRPr lang="en-US" sz="2400" dirty="0"/>
          </a:p>
          <a:p>
            <a:r>
              <a:rPr lang="en-US" sz="2400" b="1" dirty="0" smtClean="0"/>
              <a:t>(a)</a:t>
            </a:r>
            <a:r>
              <a:rPr lang="en-US" sz="2400" dirty="0" smtClean="0"/>
              <a:t> and </a:t>
            </a:r>
            <a:r>
              <a:rPr lang="en-US" sz="2400" b="1" dirty="0" smtClean="0"/>
              <a:t>(b)</a:t>
            </a:r>
            <a:r>
              <a:rPr lang="en-US" sz="2400" dirty="0" smtClean="0"/>
              <a:t> initially normal zygote, </a:t>
            </a:r>
            <a:r>
              <a:rPr lang="en-US" sz="2400" b="1" dirty="0" smtClean="0"/>
              <a:t>(c)</a:t>
            </a:r>
            <a:r>
              <a:rPr lang="en-US" sz="2400" dirty="0" smtClean="0"/>
              <a:t> initially aneuploid zygote </a:t>
            </a:r>
          </a:p>
          <a:p>
            <a:pPr marL="457200" indent="-457200">
              <a:buAutoNum type="alphaLcParenBoth"/>
            </a:pPr>
            <a:endParaRPr lang="en-US" sz="2400" dirty="0"/>
          </a:p>
          <a:p>
            <a:r>
              <a:rPr lang="en-US" sz="2400" dirty="0" smtClean="0"/>
              <a:t>In </a:t>
            </a:r>
            <a:r>
              <a:rPr lang="en-US" sz="2400" b="1" dirty="0" smtClean="0"/>
              <a:t>(b)</a:t>
            </a:r>
            <a:r>
              <a:rPr lang="en-US" sz="2400" dirty="0" smtClean="0"/>
              <a:t>, if nondisjunction happen at first division then </a:t>
            </a:r>
            <a:r>
              <a:rPr lang="en-US" sz="2400" b="1" dirty="0" smtClean="0"/>
              <a:t>no</a:t>
            </a:r>
            <a:r>
              <a:rPr lang="en-US" sz="2400" dirty="0" smtClean="0"/>
              <a:t> 46,XX will be observed. Having some cells 46,XX indicates that nondisjunction happened later than the first division</a:t>
            </a:r>
          </a:p>
          <a:p>
            <a:endParaRPr lang="en-US" sz="2400" dirty="0"/>
          </a:p>
          <a:p>
            <a:r>
              <a:rPr lang="en-US" sz="2400" dirty="0" smtClean="0"/>
              <a:t>Same applies to 46,XY zygote with either X/XYY or X/XY/XYY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B2E6CE-E2B7-48A6-A6A4-CEBE5DC13405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9216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14</a:t>
            </a:fld>
            <a:endParaRPr lang="en-US"/>
          </a:p>
        </p:txBody>
      </p:sp>
      <p:pic>
        <p:nvPicPr>
          <p:cNvPr id="3074" name="Picture 2" descr="C:\Users\hp\Documents\My Scans\scan0020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" t="1583" r="2582" b="1662"/>
          <a:stretch/>
        </p:blipFill>
        <p:spPr bwMode="auto">
          <a:xfrm>
            <a:off x="3374834" y="-17172"/>
            <a:ext cx="5769166" cy="68751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152400" y="2146"/>
            <a:ext cx="3352800" cy="6001643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en-US" sz="2400" dirty="0" smtClean="0"/>
          </a:p>
          <a:p>
            <a:r>
              <a:rPr lang="en-US" sz="2400" dirty="0" smtClean="0"/>
              <a:t>Generation of UPD as a result of trisomic rescue</a:t>
            </a:r>
          </a:p>
          <a:p>
            <a:endParaRPr lang="en-US" sz="2400" dirty="0"/>
          </a:p>
          <a:p>
            <a:r>
              <a:rPr lang="en-US" sz="2400" dirty="0" smtClean="0"/>
              <a:t>Inference of rescue may be made in cases of UPD discovered because of </a:t>
            </a:r>
            <a:r>
              <a:rPr lang="en-US" sz="2400" dirty="0" err="1" smtClean="0"/>
              <a:t>isozygosity</a:t>
            </a:r>
            <a:r>
              <a:rPr lang="en-US" sz="2400" dirty="0" smtClean="0"/>
              <a:t> for a recessive gene</a:t>
            </a:r>
          </a:p>
          <a:p>
            <a:endParaRPr lang="en-US" sz="2400" dirty="0"/>
          </a:p>
          <a:p>
            <a:r>
              <a:rPr lang="en-US" sz="2400" dirty="0" smtClean="0"/>
              <a:t>Postzygotic correction can happen in the other direction: to convert a monosomic zygote into a disomic one</a:t>
            </a:r>
          </a:p>
          <a:p>
            <a:r>
              <a:rPr lang="en-US" sz="2400" dirty="0" smtClean="0"/>
              <a:t>45,XO to 46,XX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AB1CC-066A-40CD-9184-AD37CDE4EFE9}" type="datetime12">
              <a:rPr lang="en-US" smtClean="0"/>
              <a:t>9:03 PM</a:t>
            </a:fld>
            <a:endParaRPr lang="en-US"/>
          </a:p>
        </p:txBody>
      </p:sp>
      <p:sp>
        <p:nvSpPr>
          <p:cNvPr id="5" name="Rounded Rectangle 4"/>
          <p:cNvSpPr/>
          <p:nvPr/>
        </p:nvSpPr>
        <p:spPr>
          <a:xfrm>
            <a:off x="7696200" y="6324600"/>
            <a:ext cx="1371600" cy="1524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7391400" y="6639059"/>
            <a:ext cx="1371600" cy="152400"/>
          </a:xfrm>
          <a:prstGeom prst="roundRect">
            <a:avLst/>
          </a:prstGeom>
          <a:noFill/>
          <a:ln w="127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77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15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228600" y="228600"/>
            <a:ext cx="87630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Mosaicism could happen in the first divisions of the zygote –  lessons from IVF embryos</a:t>
            </a:r>
          </a:p>
          <a:p>
            <a:pPr lvl="0"/>
            <a:endParaRPr lang="en-US" sz="2800" b="1" dirty="0" smtClean="0">
              <a:solidFill>
                <a:prstClr val="black"/>
              </a:solidFill>
            </a:endParaRPr>
          </a:p>
          <a:p>
            <a:pPr lvl="0"/>
            <a:endParaRPr lang="en-US" sz="2800" b="1" dirty="0">
              <a:solidFill>
                <a:prstClr val="black"/>
              </a:solidFill>
            </a:endParaRPr>
          </a:p>
          <a:p>
            <a:pPr lvl="0"/>
            <a:r>
              <a:rPr lang="en-US" sz="2800" b="1" dirty="0" smtClean="0">
                <a:solidFill>
                  <a:prstClr val="black"/>
                </a:solidFill>
              </a:rPr>
              <a:t>Gonadal mosaicism</a:t>
            </a:r>
          </a:p>
          <a:p>
            <a:pPr lvl="0"/>
            <a:endParaRPr lang="en-US" sz="2800" dirty="0" smtClean="0">
              <a:solidFill>
                <a:prstClr val="black"/>
              </a:solidFill>
            </a:endParaRP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Gametocytes </a:t>
            </a:r>
            <a:r>
              <a:rPr lang="en-US" sz="2800" dirty="0">
                <a:solidFill>
                  <a:prstClr val="black"/>
                </a:solidFill>
              </a:rPr>
              <a:t>undergo around 30 cycles of division producing 2</a:t>
            </a:r>
            <a:r>
              <a:rPr lang="en-US" sz="2800" baseline="30000" dirty="0">
                <a:solidFill>
                  <a:prstClr val="black"/>
                </a:solidFill>
              </a:rPr>
              <a:t>30</a:t>
            </a:r>
            <a:r>
              <a:rPr lang="en-US" sz="2800" dirty="0">
                <a:solidFill>
                  <a:prstClr val="black"/>
                </a:solidFill>
              </a:rPr>
              <a:t> (1 billion) </a:t>
            </a:r>
            <a:r>
              <a:rPr lang="en-US" sz="2800" dirty="0" smtClean="0">
                <a:solidFill>
                  <a:prstClr val="black"/>
                </a:solidFill>
              </a:rPr>
              <a:t>cells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If a mutation occur in the </a:t>
            </a:r>
            <a:r>
              <a:rPr lang="en-US" sz="2800" dirty="0" smtClean="0">
                <a:solidFill>
                  <a:prstClr val="black"/>
                </a:solidFill>
              </a:rPr>
              <a:t>20</a:t>
            </a:r>
            <a:r>
              <a:rPr lang="en-US" sz="2800" baseline="30000" dirty="0" smtClean="0">
                <a:solidFill>
                  <a:prstClr val="black"/>
                </a:solidFill>
              </a:rPr>
              <a:t>th</a:t>
            </a:r>
            <a:r>
              <a:rPr lang="en-US" sz="2800" dirty="0" smtClean="0">
                <a:solidFill>
                  <a:prstClr val="black"/>
                </a:solidFill>
              </a:rPr>
              <a:t> division</a:t>
            </a:r>
            <a:r>
              <a:rPr lang="en-US" sz="2800" dirty="0">
                <a:solidFill>
                  <a:prstClr val="black"/>
                </a:solidFill>
              </a:rPr>
              <a:t>, its progeny go through 10 more divisions resulting in 2</a:t>
            </a:r>
            <a:r>
              <a:rPr lang="en-US" sz="2800" baseline="30000" dirty="0">
                <a:solidFill>
                  <a:prstClr val="black"/>
                </a:solidFill>
              </a:rPr>
              <a:t>10</a:t>
            </a:r>
            <a:r>
              <a:rPr lang="en-US" sz="2800" dirty="0">
                <a:solidFill>
                  <a:prstClr val="black"/>
                </a:solidFill>
              </a:rPr>
              <a:t> (1 thousand) cells – resulting in one millionth abnormal</a:t>
            </a:r>
          </a:p>
        </p:txBody>
      </p:sp>
    </p:spTree>
    <p:extLst>
      <p:ext uri="{BB962C8B-B14F-4D97-AF65-F5344CB8AC3E}">
        <p14:creationId xmlns:p14="http://schemas.microsoft.com/office/powerpoint/2010/main" val="35913485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304800"/>
            <a:ext cx="86868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Chimerism</a:t>
            </a:r>
            <a:r>
              <a:rPr lang="en-US" sz="2800" dirty="0" smtClean="0"/>
              <a:t>: coexistence of more than one cell line in an individual, due to the union of two originally separate conceptions</a:t>
            </a:r>
          </a:p>
          <a:p>
            <a:endParaRPr lang="en-US" sz="2800" dirty="0"/>
          </a:p>
          <a:p>
            <a:r>
              <a:rPr lang="en-US" sz="2800" dirty="0" smtClean="0"/>
              <a:t>Tetragametic 46,XX//46,XX chimera, most probably normal</a:t>
            </a:r>
          </a:p>
          <a:p>
            <a:endParaRPr lang="en-US" sz="2800" dirty="0"/>
          </a:p>
          <a:p>
            <a:r>
              <a:rPr lang="en-US" sz="2800" dirty="0" smtClean="0"/>
              <a:t>Twin blastocysts contact and fuse, or</a:t>
            </a:r>
          </a:p>
          <a:p>
            <a:r>
              <a:rPr lang="en-US" sz="2800" dirty="0" smtClean="0"/>
              <a:t>Two sperms fertilizing an ovum and a polar body</a:t>
            </a:r>
          </a:p>
          <a:p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D7F319-A06B-4562-8E2D-321A6524AA98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016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17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228600" y="231596"/>
            <a:ext cx="8610600" cy="61247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b="1" dirty="0" smtClean="0">
                <a:solidFill>
                  <a:prstClr val="black"/>
                </a:solidFill>
              </a:rPr>
              <a:t>Chimerism case: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Mother-son HLA mismatch, suggest not real mother.</a:t>
            </a: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Mother ovaries comprised tissue from both fused conceptuses, but blood-forming tissue came from only one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b="1" dirty="0" smtClean="0">
                <a:solidFill>
                  <a:prstClr val="black"/>
                </a:solidFill>
              </a:rPr>
              <a:t>Confined </a:t>
            </a:r>
            <a:r>
              <a:rPr lang="en-US" sz="2800" b="1" dirty="0">
                <a:solidFill>
                  <a:prstClr val="black"/>
                </a:solidFill>
              </a:rPr>
              <a:t>chimerism</a:t>
            </a:r>
            <a:r>
              <a:rPr lang="en-US" sz="2800" dirty="0">
                <a:solidFill>
                  <a:prstClr val="black"/>
                </a:solidFill>
              </a:rPr>
              <a:t>: </a:t>
            </a:r>
            <a:r>
              <a:rPr lang="en-US" sz="2800" dirty="0" smtClean="0">
                <a:solidFill>
                  <a:prstClr val="black"/>
                </a:solidFill>
              </a:rPr>
              <a:t>Only one tissue, mostly blood, possesses the two cell lines. Dizygotic </a:t>
            </a:r>
            <a:r>
              <a:rPr lang="en-US" sz="2800" dirty="0">
                <a:solidFill>
                  <a:prstClr val="black"/>
                </a:solidFill>
              </a:rPr>
              <a:t>twins may have intimately opposed placentae, allowing vascular connections to form between </a:t>
            </a:r>
            <a:r>
              <a:rPr lang="en-US" sz="2800" dirty="0" smtClean="0">
                <a:solidFill>
                  <a:prstClr val="black"/>
                </a:solidFill>
              </a:rPr>
              <a:t>them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 smtClean="0">
                <a:solidFill>
                  <a:prstClr val="black"/>
                </a:solidFill>
              </a:rPr>
              <a:t>A woman is XY in almost all her peripheral lymphocytes, but XX in other tissues including ovaries. Had a twin brother, who died as a neonate.</a:t>
            </a:r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577212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228600"/>
            <a:ext cx="86868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Twining</a:t>
            </a:r>
          </a:p>
          <a:p>
            <a:endParaRPr lang="en-US" sz="2800" dirty="0" smtClean="0"/>
          </a:p>
          <a:p>
            <a:r>
              <a:rPr lang="en-US" sz="2800" dirty="0" smtClean="0"/>
              <a:t>Occasionally monozygous twins with chromosomally abnormal karyotype will be concordant</a:t>
            </a:r>
          </a:p>
          <a:p>
            <a:endParaRPr lang="en-US" sz="2800" dirty="0" smtClean="0"/>
          </a:p>
          <a:p>
            <a:r>
              <a:rPr lang="en-US" sz="2800" dirty="0" smtClean="0"/>
              <a:t>Sometimes, monozygotic twins would be discordant for the karyotype!</a:t>
            </a:r>
          </a:p>
          <a:p>
            <a:endParaRPr lang="en-US" sz="2800" dirty="0"/>
          </a:p>
          <a:p>
            <a:r>
              <a:rPr lang="en-US" sz="2800" dirty="0" smtClean="0"/>
              <a:t>e.g. monozygous twin, one with 46,XY and one with 47,XY,+21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a) initially 47,XY,+21 conceptus underwent splitting, with loss of a chromosome 21 in one embryo</a:t>
            </a:r>
          </a:p>
          <a:p>
            <a:r>
              <a:rPr lang="en-US" sz="2800" dirty="0"/>
              <a:t>	</a:t>
            </a:r>
            <a:r>
              <a:rPr lang="en-US" sz="2800" dirty="0" smtClean="0"/>
              <a:t>b) a mitotic nondisjunction occurred in one monozygous embryo from an initially normal conception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F18409-EB71-4F5C-B1DC-FA6B44544BB9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812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19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81000" y="304800"/>
            <a:ext cx="8534400" cy="60631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Structural rearrangement</a:t>
            </a:r>
          </a:p>
          <a:p>
            <a:r>
              <a:rPr lang="en-US" sz="2400" dirty="0" smtClean="0"/>
              <a:t>Translocations			Insertions</a:t>
            </a:r>
          </a:p>
          <a:p>
            <a:r>
              <a:rPr lang="en-US" sz="2400" dirty="0" smtClean="0"/>
              <a:t>Inversions			Isochromosomes</a:t>
            </a:r>
          </a:p>
          <a:p>
            <a:r>
              <a:rPr lang="en-US" sz="2400" dirty="0" smtClean="0"/>
              <a:t>Duplications			Deletions</a:t>
            </a:r>
          </a:p>
          <a:p>
            <a:r>
              <a:rPr lang="en-US" sz="2400" dirty="0" smtClean="0"/>
              <a:t>Complex rearrangements</a:t>
            </a:r>
          </a:p>
          <a:p>
            <a:endParaRPr lang="en-US" sz="2400" dirty="0"/>
          </a:p>
          <a:p>
            <a:r>
              <a:rPr lang="en-US" sz="2400" dirty="0" smtClean="0"/>
              <a:t>Illegitimate breakage and reunion is typically due to apposition of nonmatching (nonhomologous) chromosomal segments, but which do happen to contain DNA sequences with high degree of homology (low copy repeats) – “paralogous sequences” “duplicons” “segmental duplications”</a:t>
            </a:r>
          </a:p>
          <a:p>
            <a:endParaRPr lang="en-US" sz="2400" dirty="0"/>
          </a:p>
          <a:p>
            <a:r>
              <a:rPr lang="en-US" sz="2400" dirty="0" smtClean="0"/>
              <a:t>Non-allelic homologous recombination</a:t>
            </a:r>
          </a:p>
          <a:p>
            <a:endParaRPr lang="en-US" sz="2400" dirty="0"/>
          </a:p>
          <a:p>
            <a:r>
              <a:rPr lang="en-US" sz="2400" dirty="0" smtClean="0"/>
              <a:t>Most breakpoints are in nontranscribed DNA with no effect on phenotype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0F6B42-44C0-4BE9-B430-008A827269E0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7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20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65834"/>
            <a:ext cx="87630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Balanced and unbalanced rearrangements</a:t>
            </a:r>
          </a:p>
          <a:p>
            <a:r>
              <a:rPr lang="en-US" sz="2800" b="1" dirty="0" smtClean="0"/>
              <a:t>Apparently balanced</a:t>
            </a:r>
          </a:p>
          <a:p>
            <a:r>
              <a:rPr lang="en-US" sz="2800" b="1" dirty="0" smtClean="0"/>
              <a:t>Gene </a:t>
            </a:r>
            <a:r>
              <a:rPr lang="en-US" sz="2800" b="1" smtClean="0"/>
              <a:t>disruption or Position </a:t>
            </a:r>
            <a:r>
              <a:rPr lang="en-US" sz="2800" b="1" dirty="0" smtClean="0"/>
              <a:t>effect</a:t>
            </a:r>
          </a:p>
          <a:p>
            <a:endParaRPr lang="en-US" sz="2800" b="1" dirty="0"/>
          </a:p>
          <a:p>
            <a:r>
              <a:rPr lang="en-US" sz="2800" b="1" dirty="0" smtClean="0"/>
              <a:t>Microdeletions and microduplications of incomplete penetrance and variable expressivity</a:t>
            </a:r>
          </a:p>
          <a:p>
            <a:endParaRPr lang="en-US" sz="2800" dirty="0"/>
          </a:p>
          <a:p>
            <a:r>
              <a:rPr lang="en-US" sz="2800" dirty="0" smtClean="0"/>
              <a:t>A slightly abnormal person might be considered to represent nonpenetrance or penetrance of very mild expressivity</a:t>
            </a:r>
          </a:p>
          <a:p>
            <a:endParaRPr lang="en-US" sz="2800" dirty="0"/>
          </a:p>
          <a:p>
            <a:r>
              <a:rPr lang="en-US" sz="2800" dirty="0" smtClean="0"/>
              <a:t>“Two-hit” hypothesis</a:t>
            </a:r>
          </a:p>
          <a:p>
            <a:r>
              <a:rPr lang="en-US" sz="2800" dirty="0" smtClean="0"/>
              <a:t>An autistic son of parents, each with minor attention deficit, was affected due to having inherited a CNV from each of them 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CF479E-6151-4B5D-820A-000DE79E24FA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82914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87630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Epigenetic</a:t>
            </a:r>
          </a:p>
          <a:p>
            <a:r>
              <a:rPr lang="en-US" sz="2400" dirty="0" smtClean="0"/>
              <a:t>DNA sequence </a:t>
            </a:r>
            <a:r>
              <a:rPr lang="en-US" sz="2400" dirty="0"/>
              <a:t>of a particular gene remains unaltered, but the capacity of </a:t>
            </a:r>
            <a:r>
              <a:rPr lang="en-US" sz="2400" dirty="0" smtClean="0"/>
              <a:t>this gene </a:t>
            </a:r>
            <a:r>
              <a:rPr lang="en-US" sz="2400" dirty="0"/>
              <a:t>to be expressed is </a:t>
            </a:r>
            <a:r>
              <a:rPr lang="en-US" sz="2400" dirty="0" smtClean="0"/>
              <a:t>altered</a:t>
            </a:r>
          </a:p>
          <a:p>
            <a:endParaRPr lang="en-US" sz="2400" dirty="0"/>
          </a:p>
          <a:p>
            <a:r>
              <a:rPr lang="en-US" sz="2400" b="1" dirty="0" smtClean="0"/>
              <a:t>Genomic imprinting</a:t>
            </a:r>
          </a:p>
          <a:p>
            <a:r>
              <a:rPr lang="en-US" sz="2400" dirty="0" smtClean="0"/>
              <a:t>Genes in the chromosomal segment are expressed, or not expressed, according to whether the chromosome had been transmitted in the sperm or in the ovum (parent-of-origin effect)</a:t>
            </a:r>
          </a:p>
          <a:p>
            <a:endParaRPr lang="en-US" sz="2400" dirty="0"/>
          </a:p>
          <a:p>
            <a:r>
              <a:rPr lang="en-US" sz="2400" dirty="0" smtClean="0"/>
              <a:t>Biallelic gene expression is the norm</a:t>
            </a:r>
          </a:p>
          <a:p>
            <a:r>
              <a:rPr lang="en-US" sz="2400" dirty="0" err="1" smtClean="0"/>
              <a:t>Monoallelic</a:t>
            </a:r>
            <a:r>
              <a:rPr lang="en-US" sz="2400" dirty="0" smtClean="0"/>
              <a:t> gene expression is the exception (imprinted genes)</a:t>
            </a:r>
          </a:p>
          <a:p>
            <a:endParaRPr lang="en-US" sz="2400" dirty="0"/>
          </a:p>
          <a:p>
            <a:r>
              <a:rPr lang="en-US" sz="2400" dirty="0" smtClean="0"/>
              <a:t>The imprinting pattern may be specific to a certain tissue, or to a certain developmental stage</a:t>
            </a:r>
          </a:p>
          <a:p>
            <a:endParaRPr lang="en-US" sz="2400" dirty="0"/>
          </a:p>
          <a:p>
            <a:r>
              <a:rPr lang="en-US" sz="2400" dirty="0" smtClean="0"/>
              <a:t>Imprint is re-established in each subsequent generation depending on sex of parent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FEC55-B6B8-492B-8965-BE03A9C41BC3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6241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22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5344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Three categories of functional genetic defects connected to imprinting:</a:t>
            </a:r>
          </a:p>
          <a:p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Uniparental disomy will lead to either biallelic expression, or no expression at the locus within the imprintable segment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Deletion at the imprinted locus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Relaxation of imprinting allows a segment that should be nonexpressed to lose its imprint</a:t>
            </a:r>
          </a:p>
          <a:p>
            <a:endParaRPr lang="en-US" sz="2800" dirty="0"/>
          </a:p>
          <a:p>
            <a:endParaRPr lang="en-US" sz="2800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5AA539-48B2-4F14-88B9-16E1EBEF645E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243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23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152400"/>
            <a:ext cx="8610600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Consequences of genetic abnormality</a:t>
            </a:r>
          </a:p>
          <a:p>
            <a:r>
              <a:rPr lang="en-US" sz="2400" b="1" dirty="0" smtClean="0"/>
              <a:t>Structural imbalance</a:t>
            </a:r>
          </a:p>
          <a:p>
            <a:endParaRPr lang="en-US" sz="2400" dirty="0"/>
          </a:p>
          <a:p>
            <a:r>
              <a:rPr lang="en-US" sz="2400" dirty="0" smtClean="0"/>
              <a:t>Many genes are </a:t>
            </a:r>
            <a:r>
              <a:rPr lang="en-US" sz="2400" dirty="0" smtClean="0">
                <a:solidFill>
                  <a:srgbClr val="0070C0"/>
                </a:solidFill>
              </a:rPr>
              <a:t>dosage sensitive</a:t>
            </a:r>
          </a:p>
          <a:p>
            <a:r>
              <a:rPr lang="en-US" sz="2400" dirty="0" smtClean="0"/>
              <a:t>Incorrect amount of dosage-sensitive genetic material in every cell of the conceptus </a:t>
            </a:r>
            <a:r>
              <a:rPr lang="en-US" sz="2400" dirty="0" smtClean="0">
                <a:solidFill>
                  <a:srgbClr val="0070C0"/>
                </a:solidFill>
              </a:rPr>
              <a:t>distorts its development </a:t>
            </a:r>
            <a:r>
              <a:rPr lang="en-US" sz="2400" dirty="0" smtClean="0"/>
              <a:t>to a greater or lesser extent</a:t>
            </a:r>
          </a:p>
          <a:p>
            <a:endParaRPr lang="en-US" sz="2400" dirty="0"/>
          </a:p>
          <a:p>
            <a:r>
              <a:rPr lang="en-US" sz="2400" dirty="0" smtClean="0"/>
              <a:t>Large losses or gains almost invariably set early anatomical development so awry that </a:t>
            </a:r>
            <a:r>
              <a:rPr lang="en-US" sz="2400" dirty="0" smtClean="0">
                <a:solidFill>
                  <a:srgbClr val="0070C0"/>
                </a:solidFill>
              </a:rPr>
              <a:t>natural abortion </a:t>
            </a:r>
            <a:r>
              <a:rPr lang="en-US" sz="2400" dirty="0" smtClean="0"/>
              <a:t>occurs</a:t>
            </a:r>
          </a:p>
          <a:p>
            <a:endParaRPr lang="en-US" sz="2400" dirty="0"/>
          </a:p>
          <a:p>
            <a:r>
              <a:rPr lang="en-US" sz="2400" dirty="0" smtClean="0"/>
              <a:t>Lesser imbalances may be compatible with continued </a:t>
            </a:r>
            <a:r>
              <a:rPr lang="en-US" sz="2400" dirty="0" smtClean="0">
                <a:solidFill>
                  <a:srgbClr val="0070C0"/>
                </a:solidFill>
              </a:rPr>
              <a:t>intrauterine survival</a:t>
            </a:r>
            <a:r>
              <a:rPr lang="en-US" sz="2400" dirty="0" smtClean="0"/>
              <a:t>, but with the eventual production of phenotypically abnormal child</a:t>
            </a:r>
          </a:p>
          <a:p>
            <a:endParaRPr lang="en-US" sz="2400" dirty="0"/>
          </a:p>
          <a:p>
            <a:r>
              <a:rPr lang="en-US" sz="2400" dirty="0" smtClean="0">
                <a:solidFill>
                  <a:srgbClr val="0070C0"/>
                </a:solidFill>
              </a:rPr>
              <a:t>Mental defect </a:t>
            </a:r>
            <a:r>
              <a:rPr lang="en-US" sz="2400" dirty="0" smtClean="0"/>
              <a:t>is the almost universal consequence of classical autosomal imbalance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FC7FB7-CE6C-46C1-AE78-39C1435D3FB6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619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165834"/>
            <a:ext cx="8610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Assessment of imbalance</a:t>
            </a:r>
          </a:p>
          <a:p>
            <a:r>
              <a:rPr lang="en-US" sz="2800" dirty="0" smtClean="0"/>
              <a:t>Previously, </a:t>
            </a:r>
            <a:r>
              <a:rPr lang="en-US" sz="2800" dirty="0" smtClean="0">
                <a:solidFill>
                  <a:srgbClr val="0070C0"/>
                </a:solidFill>
              </a:rPr>
              <a:t>quantitative</a:t>
            </a:r>
            <a:r>
              <a:rPr lang="en-US" sz="2800" dirty="0" smtClean="0"/>
              <a:t> assessment of imbalance</a:t>
            </a:r>
          </a:p>
          <a:p>
            <a:endParaRPr lang="en-US" sz="2400" dirty="0" smtClean="0"/>
          </a:p>
          <a:p>
            <a:r>
              <a:rPr lang="en-US" sz="2400" dirty="0" smtClean="0"/>
              <a:t>What is a large or a small degree of genetic imbalance</a:t>
            </a:r>
          </a:p>
          <a:p>
            <a:r>
              <a:rPr lang="en-US" sz="2400" dirty="0" smtClean="0"/>
              <a:t>Quantitative – how much material is involved?</a:t>
            </a:r>
          </a:p>
          <a:p>
            <a:r>
              <a:rPr lang="en-US" sz="2400" dirty="0" smtClean="0">
                <a:solidFill>
                  <a:srgbClr val="0070C0"/>
                </a:solidFill>
              </a:rPr>
              <a:t>Haploid autosomal length (HAL)</a:t>
            </a:r>
          </a:p>
          <a:p>
            <a:r>
              <a:rPr lang="en-US" sz="2400" dirty="0" smtClean="0"/>
              <a:t>Chromosome 1 comprises 8.5% of HAL</a:t>
            </a:r>
          </a:p>
          <a:p>
            <a:r>
              <a:rPr lang="en-US" sz="2400" dirty="0" smtClean="0"/>
              <a:t>Chromosome 21 comprises 1.9% of HAL</a:t>
            </a:r>
          </a:p>
          <a:p>
            <a:endParaRPr lang="en-US" sz="2400" dirty="0"/>
          </a:p>
          <a:p>
            <a:r>
              <a:rPr lang="en-US" sz="2400" dirty="0" smtClean="0"/>
              <a:t>If imbalance consists of less than 1% of HAL (~30 Mb), the conceptus is often viable in utero, and live birth frequently results</a:t>
            </a:r>
          </a:p>
          <a:p>
            <a:endParaRPr lang="en-US" sz="2400" dirty="0"/>
          </a:p>
          <a:p>
            <a:r>
              <a:rPr lang="en-US" sz="2400" dirty="0" smtClean="0"/>
              <a:t>If imbalance is greater than 2%, in utero lethality, with spontaneous abortion, is likely</a:t>
            </a:r>
          </a:p>
          <a:p>
            <a:endParaRPr lang="en-US" sz="2400" dirty="0"/>
          </a:p>
          <a:p>
            <a:r>
              <a:rPr lang="en-US" sz="2400" dirty="0" smtClean="0"/>
              <a:t>Autosomal deficiency is much less survivable than is duplication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DC8C3-9F0D-4385-A20A-C06BBAE358C7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6375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2400" y="152400"/>
            <a:ext cx="88392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 firmer assessment is based on </a:t>
            </a:r>
            <a:r>
              <a:rPr lang="en-US" sz="2800" dirty="0" smtClean="0">
                <a:solidFill>
                  <a:srgbClr val="0070C0"/>
                </a:solidFill>
              </a:rPr>
              <a:t>empiric observations of phenotypes</a:t>
            </a:r>
          </a:p>
          <a:p>
            <a:endParaRPr lang="en-US" sz="2800" dirty="0" smtClean="0"/>
          </a:p>
          <a:p>
            <a:r>
              <a:rPr lang="en-US" sz="2800" dirty="0" smtClean="0"/>
              <a:t>Some regions in the genome are more gene-rich than others, hence, abnormality herewith has more impact</a:t>
            </a:r>
          </a:p>
          <a:p>
            <a:endParaRPr lang="en-US" sz="2800" dirty="0"/>
          </a:p>
          <a:p>
            <a:r>
              <a:rPr lang="en-US" sz="2800" dirty="0" smtClean="0"/>
              <a:t>Trisomy 13, 3.7% of HAL, frequently goes through live birth. </a:t>
            </a:r>
          </a:p>
          <a:p>
            <a:r>
              <a:rPr lang="en-US" sz="2800" dirty="0" smtClean="0"/>
              <a:t>13q- deletion syndrome, monosomy occurs for 2.5% of HAL</a:t>
            </a:r>
          </a:p>
          <a:p>
            <a:endParaRPr lang="en-US" sz="2800" dirty="0"/>
          </a:p>
          <a:p>
            <a:r>
              <a:rPr lang="en-US" sz="2800" dirty="0" smtClean="0"/>
              <a:t>&gt;&gt; low gene density for </a:t>
            </a:r>
            <a:r>
              <a:rPr lang="en-US" sz="2800" dirty="0" err="1" smtClean="0"/>
              <a:t>chr</a:t>
            </a:r>
            <a:r>
              <a:rPr lang="en-US" sz="2800" dirty="0" smtClean="0"/>
              <a:t> 13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528F80-CC02-4E1F-8823-66325583ABC1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3461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26</a:t>
            </a:fld>
            <a:endParaRPr lang="en-US"/>
          </a:p>
        </p:txBody>
      </p:sp>
      <p:pic>
        <p:nvPicPr>
          <p:cNvPr id="1026" name="Picture 2" descr="C:\Users\hp\Documents\My Scans\scan0022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45" r="9324" b="17895"/>
          <a:stretch/>
        </p:blipFill>
        <p:spPr bwMode="auto">
          <a:xfrm>
            <a:off x="4830923" y="10731"/>
            <a:ext cx="4313077" cy="684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152400" y="171933"/>
            <a:ext cx="4800600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Karyotype-phenotype correlations for deletions and duplications</a:t>
            </a:r>
          </a:p>
          <a:p>
            <a:endParaRPr lang="en-US" sz="2800" dirty="0"/>
          </a:p>
          <a:p>
            <a:r>
              <a:rPr lang="en-US" sz="2800" dirty="0" smtClean="0"/>
              <a:t>Differing lengths of deleted or duplicated segments enable a dissection of the specific segmental contributions to components of an abnormal phenotype</a:t>
            </a:r>
          </a:p>
          <a:p>
            <a:endParaRPr lang="en-US" sz="2800" dirty="0"/>
          </a:p>
          <a:p>
            <a:r>
              <a:rPr lang="en-US" sz="2800" dirty="0" smtClean="0"/>
              <a:t>A malformation map</a:t>
            </a:r>
          </a:p>
          <a:p>
            <a:r>
              <a:rPr lang="en-US" sz="2800" dirty="0">
                <a:solidFill>
                  <a:srgbClr val="0070C0"/>
                </a:solidFill>
              </a:rPr>
              <a:t>A duplication-malformation correlation </a:t>
            </a:r>
            <a:r>
              <a:rPr lang="en-US" sz="2800" dirty="0" smtClean="0">
                <a:solidFill>
                  <a:srgbClr val="0070C0"/>
                </a:solidFill>
              </a:rPr>
              <a:t>map </a:t>
            </a:r>
          </a:p>
          <a:p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B13DF5-D60F-41E5-AC48-2F691E7C7A44}" type="datetime12">
              <a:rPr lang="en-US" smtClean="0"/>
              <a:t>9:03 PM</a:t>
            </a:fld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2743200" y="6019800"/>
            <a:ext cx="1828800" cy="0"/>
          </a:xfrm>
          <a:prstGeom prst="straightConnector1">
            <a:avLst/>
          </a:prstGeom>
          <a:ln w="25400">
            <a:solidFill>
              <a:srgbClr val="C0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8295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27</a:t>
            </a:fld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228600" y="304800"/>
            <a:ext cx="8686800" cy="6555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Any </a:t>
            </a:r>
            <a:r>
              <a:rPr lang="en-US" sz="2800" dirty="0">
                <a:solidFill>
                  <a:srgbClr val="0070C0"/>
                </a:solidFill>
              </a:rPr>
              <a:t>X chromosomes </a:t>
            </a:r>
            <a:r>
              <a:rPr lang="en-US" sz="2800" dirty="0">
                <a:solidFill>
                  <a:prstClr val="black"/>
                </a:solidFill>
              </a:rPr>
              <a:t>in excess of one are genetically </a:t>
            </a:r>
            <a:r>
              <a:rPr lang="en-US" sz="2800" dirty="0" smtClean="0">
                <a:solidFill>
                  <a:prstClr val="black"/>
                </a:solidFill>
              </a:rPr>
              <a:t>inactivated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srgbClr val="0070C0"/>
                </a:solidFill>
              </a:rPr>
              <a:t>Y </a:t>
            </a:r>
            <a:r>
              <a:rPr lang="en-US" sz="2800" dirty="0" smtClean="0">
                <a:solidFill>
                  <a:srgbClr val="0070C0"/>
                </a:solidFill>
              </a:rPr>
              <a:t>chromosome</a:t>
            </a:r>
            <a:r>
              <a:rPr lang="en-US" sz="2800" dirty="0" smtClean="0">
                <a:solidFill>
                  <a:prstClr val="black"/>
                </a:solidFill>
              </a:rPr>
              <a:t>: </a:t>
            </a:r>
            <a:r>
              <a:rPr lang="en-US" sz="2800" dirty="0">
                <a:solidFill>
                  <a:prstClr val="black"/>
                </a:solidFill>
              </a:rPr>
              <a:t>its active genetic material </a:t>
            </a:r>
            <a:r>
              <a:rPr lang="en-US" sz="2800" dirty="0" smtClean="0">
                <a:solidFill>
                  <a:prstClr val="black"/>
                </a:solidFill>
              </a:rPr>
              <a:t>is confined </a:t>
            </a:r>
            <a:r>
              <a:rPr lang="en-US" sz="2800" dirty="0">
                <a:solidFill>
                  <a:prstClr val="black"/>
                </a:solidFill>
              </a:rPr>
              <a:t>to only a small segment, </a:t>
            </a:r>
            <a:r>
              <a:rPr lang="en-US" sz="2800" dirty="0" smtClean="0">
                <a:solidFill>
                  <a:prstClr val="black"/>
                </a:solidFill>
              </a:rPr>
              <a:t>genes </a:t>
            </a:r>
            <a:r>
              <a:rPr lang="en-US" sz="2800" dirty="0">
                <a:solidFill>
                  <a:prstClr val="black"/>
                </a:solidFill>
              </a:rPr>
              <a:t>being mostly related to </a:t>
            </a:r>
            <a:r>
              <a:rPr lang="en-US" sz="2800" dirty="0" smtClean="0">
                <a:solidFill>
                  <a:prstClr val="black"/>
                </a:solidFill>
              </a:rPr>
              <a:t>sex determination </a:t>
            </a:r>
            <a:r>
              <a:rPr lang="en-US" sz="2800" dirty="0">
                <a:solidFill>
                  <a:prstClr val="black"/>
                </a:solidFill>
              </a:rPr>
              <a:t>and testicular function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45,X has a high in utero </a:t>
            </a:r>
            <a:r>
              <a:rPr lang="en-US" sz="2800" dirty="0" smtClean="0">
                <a:solidFill>
                  <a:prstClr val="black"/>
                </a:solidFill>
              </a:rPr>
              <a:t>lethality, Turner syndrome, mild phenotype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 err="1">
                <a:solidFill>
                  <a:srgbClr val="0070C0"/>
                </a:solidFill>
              </a:rPr>
              <a:t>Phenocopies</a:t>
            </a:r>
            <a:r>
              <a:rPr lang="en-US" sz="2800" dirty="0">
                <a:solidFill>
                  <a:prstClr val="black"/>
                </a:solidFill>
              </a:rPr>
              <a:t>: similar phenotypes may flow from different </a:t>
            </a:r>
            <a:r>
              <a:rPr lang="en-US" sz="2800" dirty="0" smtClean="0">
                <a:solidFill>
                  <a:prstClr val="black"/>
                </a:solidFill>
              </a:rPr>
              <a:t>genotypes. e.g. </a:t>
            </a:r>
            <a:r>
              <a:rPr lang="en-US" sz="2800" dirty="0" err="1" smtClean="0">
                <a:solidFill>
                  <a:prstClr val="black"/>
                </a:solidFill>
              </a:rPr>
              <a:t>Pseudotrisomy</a:t>
            </a:r>
            <a:r>
              <a:rPr lang="en-US" sz="2800" dirty="0" smtClean="0">
                <a:solidFill>
                  <a:prstClr val="black"/>
                </a:solidFill>
              </a:rPr>
              <a:t> 13</a:t>
            </a:r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i="1" dirty="0">
                <a:solidFill>
                  <a:prstClr val="black"/>
                </a:solidFill>
              </a:rPr>
              <a:t>A non-genetic condition resembling a genetically determined one</a:t>
            </a:r>
          </a:p>
          <a:p>
            <a:pPr lvl="0"/>
            <a:endParaRPr lang="en-US" sz="2800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4541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28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143690" y="82135"/>
            <a:ext cx="8924110" cy="67403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The mosaic state</a:t>
            </a:r>
          </a:p>
          <a:p>
            <a:endParaRPr lang="en-US" sz="2400" dirty="0"/>
          </a:p>
          <a:p>
            <a:r>
              <a:rPr lang="en-US" sz="2400" dirty="0" smtClean="0"/>
              <a:t>Whether mosaicism matters depends upon which tissue, and how much of that tissue, is abnormal</a:t>
            </a:r>
          </a:p>
          <a:p>
            <a:endParaRPr lang="en-US" sz="2400" dirty="0"/>
          </a:p>
          <a:p>
            <a:r>
              <a:rPr lang="en-US" sz="2400" dirty="0" smtClean="0"/>
              <a:t>An individual with an aneuploid line in only some tissues is likely to have a less severe but qualitatively similar phenotype to some one with the </a:t>
            </a:r>
            <a:r>
              <a:rPr lang="en-US" sz="2400" dirty="0" err="1" smtClean="0"/>
              <a:t>nonmosaic</a:t>
            </a:r>
            <a:r>
              <a:rPr lang="en-US" sz="2400" dirty="0" smtClean="0"/>
              <a:t> aneuploidy</a:t>
            </a:r>
          </a:p>
          <a:p>
            <a:endParaRPr lang="en-US" sz="2400" dirty="0"/>
          </a:p>
          <a:p>
            <a:r>
              <a:rPr lang="en-US" sz="2400" dirty="0" smtClean="0"/>
              <a:t>Some aneuploidies can only exist in the mosaic state, the </a:t>
            </a:r>
            <a:r>
              <a:rPr lang="en-US" sz="2400" dirty="0" err="1" smtClean="0"/>
              <a:t>nonmosaic</a:t>
            </a:r>
            <a:r>
              <a:rPr lang="en-US" sz="2400" dirty="0" smtClean="0"/>
              <a:t> form being lethal in utero  e.g. trisomy 8</a:t>
            </a:r>
          </a:p>
          <a:p>
            <a:endParaRPr lang="en-US" sz="2400" dirty="0"/>
          </a:p>
          <a:p>
            <a:r>
              <a:rPr lang="en-US" sz="2400" dirty="0" smtClean="0"/>
              <a:t>Mosaicism excluding the bone marrow will give a normal blood karyotype, and vice versa mosaicism confined to marrow would be seen on routine peripheral blood analysis, but not on other samplings</a:t>
            </a:r>
          </a:p>
          <a:p>
            <a:endParaRPr lang="en-US" sz="2400" dirty="0"/>
          </a:p>
          <a:p>
            <a:r>
              <a:rPr lang="en-US" sz="2400" dirty="0" smtClean="0"/>
              <a:t>In sex chromosome mosaicism, fertility can exist when otherwise infertility is the rule  e.g. Turner and </a:t>
            </a:r>
            <a:r>
              <a:rPr lang="en-US" sz="2400" dirty="0" err="1" smtClean="0"/>
              <a:t>Klinefelter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365340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29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8686800" cy="57246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An interesting case of mosaicism for a structural rearrangement is that in which two lines of opposite imbalance coexist, with or without a normal cell line</a:t>
            </a:r>
          </a:p>
          <a:p>
            <a:endParaRPr lang="en-US" sz="2800" dirty="0"/>
          </a:p>
          <a:p>
            <a:pPr>
              <a:spcAft>
                <a:spcPts val="1200"/>
              </a:spcAft>
            </a:pPr>
            <a:r>
              <a:rPr lang="en-US" sz="2800" dirty="0" smtClean="0"/>
              <a:t>e.g. 46,XY,del(7q)/46,XY,dup(7q)</a:t>
            </a:r>
          </a:p>
          <a:p>
            <a:r>
              <a:rPr lang="en-US" sz="2400" dirty="0" smtClean="0"/>
              <a:t>(by age 12-14 months, deletion cell line disappeared, at least from blood)</a:t>
            </a:r>
          </a:p>
          <a:p>
            <a:endParaRPr lang="en-US" sz="2800" dirty="0"/>
          </a:p>
          <a:p>
            <a:r>
              <a:rPr lang="en-US" sz="2800" dirty="0" smtClean="0"/>
              <a:t>Having no normal cell line suggest mosaicism resulted at the first mitosis of the zygote</a:t>
            </a:r>
          </a:p>
          <a:p>
            <a:endParaRPr lang="en-US" sz="2800" dirty="0"/>
          </a:p>
          <a:p>
            <a:r>
              <a:rPr lang="en-US" sz="2800" dirty="0" smtClean="0"/>
              <a:t>Analysis of tissues other than blood can clarify the picture of mosaicism</a:t>
            </a:r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3BB4A6-CCD1-4A77-8AAC-58A90A11D7E7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937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30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28600" y="152400"/>
            <a:ext cx="876300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 smtClean="0"/>
              <a:t>Gonadal (and somatic-gonadal) mosaicism</a:t>
            </a:r>
          </a:p>
          <a:p>
            <a:endParaRPr lang="en-US" sz="2800" dirty="0" smtClean="0"/>
          </a:p>
          <a:p>
            <a:r>
              <a:rPr lang="en-US" sz="2800" b="1" dirty="0" smtClean="0"/>
              <a:t>Gonadal mosaicism </a:t>
            </a:r>
            <a:r>
              <a:rPr lang="en-US" sz="2800" dirty="0" smtClean="0"/>
              <a:t>happen when an abnormality arises during the formation of a germ cell prior to the onset of meiosis which would result in an abnormal cell line establishment and occupation of a apart of the gonad</a:t>
            </a:r>
          </a:p>
          <a:p>
            <a:endParaRPr lang="en-US" sz="2800" dirty="0" smtClean="0"/>
          </a:p>
          <a:p>
            <a:r>
              <a:rPr lang="en-US" sz="2800" b="1" dirty="0"/>
              <a:t>Somatic-gonadal </a:t>
            </a:r>
            <a:r>
              <a:rPr lang="en-US" sz="2800" b="1" dirty="0" smtClean="0"/>
              <a:t>mosaicism</a:t>
            </a:r>
            <a:r>
              <a:rPr lang="en-US" sz="2800" dirty="0" smtClean="0"/>
              <a:t>: if </a:t>
            </a:r>
            <a:r>
              <a:rPr lang="en-US" sz="2800" dirty="0"/>
              <a:t>the abnormality arose in embryogenesis prior to the differentiation of the germ cell line, the soma may also be involved</a:t>
            </a:r>
          </a:p>
          <a:p>
            <a:endParaRPr lang="en-US" sz="280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5D5C0B-BB85-4AFF-A193-D1A1B00DFC68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3509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31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04800" y="304800"/>
            <a:ext cx="8610600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rgbClr val="0070C0"/>
                </a:solidFill>
              </a:rPr>
              <a:t>Gonadal mosaicism </a:t>
            </a:r>
            <a:r>
              <a:rPr lang="en-US" sz="2800" dirty="0"/>
              <a:t>can also arise due to correction of an initially trisomic conception</a:t>
            </a:r>
          </a:p>
          <a:p>
            <a:endParaRPr lang="en-US" sz="2800" dirty="0"/>
          </a:p>
          <a:p>
            <a:r>
              <a:rPr lang="en-US" sz="2800" dirty="0"/>
              <a:t>A clinical observation supporting this conclusion: low-level mosaic mothers (who had </a:t>
            </a:r>
            <a:r>
              <a:rPr lang="en-US" sz="2800" dirty="0" err="1"/>
              <a:t>nonmosaic</a:t>
            </a:r>
            <a:r>
              <a:rPr lang="en-US" sz="2800" dirty="0"/>
              <a:t> Down child) are of a typical maternal age range, whereas their mothers were of older maternal age at the time their daughters were born. Consistent with their daughters being conceived as (maternal-age-influenced) trisomy </a:t>
            </a:r>
            <a:r>
              <a:rPr lang="en-US" sz="2800" dirty="0" smtClean="0"/>
              <a:t>21</a:t>
            </a:r>
          </a:p>
          <a:p>
            <a:endParaRPr lang="en-US" sz="2800" dirty="0"/>
          </a:p>
          <a:p>
            <a:r>
              <a:rPr lang="en-US" sz="2800" dirty="0">
                <a:solidFill>
                  <a:srgbClr val="0070C0"/>
                </a:solidFill>
              </a:rPr>
              <a:t>Gonadal mosaicism </a:t>
            </a:r>
            <a:r>
              <a:rPr lang="en-US" sz="2800" dirty="0"/>
              <a:t>is suspected upon the observation of a chromosomally normal couple (on blood testing) having had two children with the same abnormal karyotype</a:t>
            </a:r>
          </a:p>
          <a:p>
            <a:endParaRPr lang="en-US" sz="2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3EAD5C-CF39-4BA3-A5E8-96E25C2A06ED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745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3643E-EA43-428C-A8B5-E4F341F03B4D}" type="datetime12">
              <a:rPr lang="en-US" smtClean="0"/>
              <a:t>9:03 PM</a:t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32</a:t>
            </a:fld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4800" y="228600"/>
            <a:ext cx="8610600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sz="2800" dirty="0">
                <a:solidFill>
                  <a:prstClr val="black"/>
                </a:solidFill>
              </a:rPr>
              <a:t>The recognition of the same abnormality in somatic tissue of a </a:t>
            </a:r>
            <a:r>
              <a:rPr lang="en-US" sz="2800" dirty="0" smtClean="0">
                <a:solidFill>
                  <a:prstClr val="black"/>
                </a:solidFill>
              </a:rPr>
              <a:t>parent, albeit </a:t>
            </a:r>
            <a:r>
              <a:rPr lang="en-US" sz="2800" dirty="0">
                <a:solidFill>
                  <a:prstClr val="black"/>
                </a:solidFill>
              </a:rPr>
              <a:t>at low level, naturally allows the inference of </a:t>
            </a:r>
            <a:r>
              <a:rPr lang="en-US" sz="2800" dirty="0" smtClean="0">
                <a:solidFill>
                  <a:srgbClr val="0070C0"/>
                </a:solidFill>
              </a:rPr>
              <a:t>somatic-gonadal mosaicism</a:t>
            </a:r>
            <a:endParaRPr lang="en-US" sz="2800" dirty="0">
              <a:solidFill>
                <a:srgbClr val="0070C0"/>
              </a:solidFill>
            </a:endParaRPr>
          </a:p>
          <a:p>
            <a:pPr lvl="0"/>
            <a:endParaRPr lang="en-US" sz="2800" dirty="0">
              <a:solidFill>
                <a:prstClr val="black"/>
              </a:solidFill>
            </a:endParaRPr>
          </a:p>
          <a:p>
            <a:pPr lvl="0"/>
            <a:r>
              <a:rPr lang="en-US" sz="2800" dirty="0">
                <a:solidFill>
                  <a:prstClr val="black"/>
                </a:solidFill>
              </a:rPr>
              <a:t>A woman with several trisomic pregnancies was found to be somatic mosaic </a:t>
            </a:r>
            <a:r>
              <a:rPr lang="en-US" sz="2800" dirty="0" smtClean="0">
                <a:solidFill>
                  <a:prstClr val="black"/>
                </a:solidFill>
              </a:rPr>
              <a:t>with blood karyotype </a:t>
            </a:r>
            <a:r>
              <a:rPr lang="en-US" sz="2800" dirty="0">
                <a:solidFill>
                  <a:prstClr val="black"/>
                </a:solidFill>
              </a:rPr>
              <a:t>47,+21[3%] and ovarian </a:t>
            </a:r>
            <a:r>
              <a:rPr lang="en-US" sz="2800" dirty="0" smtClean="0">
                <a:solidFill>
                  <a:prstClr val="black"/>
                </a:solidFill>
              </a:rPr>
              <a:t>karyotype 47</a:t>
            </a:r>
            <a:r>
              <a:rPr lang="en-US" sz="2800" dirty="0">
                <a:solidFill>
                  <a:prstClr val="black"/>
                </a:solidFill>
              </a:rPr>
              <a:t>,+21[50%]</a:t>
            </a:r>
          </a:p>
        </p:txBody>
      </p:sp>
    </p:spTree>
    <p:extLst>
      <p:ext uri="{BB962C8B-B14F-4D97-AF65-F5344CB8AC3E}">
        <p14:creationId xmlns:p14="http://schemas.microsoft.com/office/powerpoint/2010/main" val="38821713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33</a:t>
            </a:fld>
            <a:endParaRPr lang="en-US"/>
          </a:p>
        </p:txBody>
      </p:sp>
      <p:pic>
        <p:nvPicPr>
          <p:cNvPr id="1026" name="Picture 2" descr="C:\Users\hp\Documents\My Scans\scan0024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45" r="2006" b="3421"/>
          <a:stretch/>
        </p:blipFill>
        <p:spPr bwMode="auto">
          <a:xfrm>
            <a:off x="0" y="-1"/>
            <a:ext cx="912468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ounded Rectangle 3"/>
          <p:cNvSpPr/>
          <p:nvPr/>
        </p:nvSpPr>
        <p:spPr>
          <a:xfrm>
            <a:off x="3200400" y="4800600"/>
            <a:ext cx="2362200" cy="3048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38200" y="5105400"/>
            <a:ext cx="3352800" cy="3048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le 6"/>
          <p:cNvSpPr/>
          <p:nvPr/>
        </p:nvSpPr>
        <p:spPr>
          <a:xfrm>
            <a:off x="4876800" y="5600699"/>
            <a:ext cx="1600200" cy="304800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/>
          <p:cNvSpPr/>
          <p:nvPr/>
        </p:nvSpPr>
        <p:spPr>
          <a:xfrm>
            <a:off x="6019800" y="5905499"/>
            <a:ext cx="1066800" cy="314325"/>
          </a:xfrm>
          <a:prstGeom prst="roundRect">
            <a:avLst/>
          </a:prstGeom>
          <a:noFill/>
          <a:ln w="127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577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34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228600"/>
            <a:ext cx="8763000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 smtClean="0"/>
              <a:t>Confined placental mosaicism</a:t>
            </a:r>
            <a:r>
              <a:rPr lang="en-US" sz="2400" dirty="0" smtClean="0"/>
              <a:t>:</a:t>
            </a:r>
          </a:p>
          <a:p>
            <a:r>
              <a:rPr lang="en-US" sz="2400" dirty="0" smtClean="0"/>
              <a:t>About 1-2% of placentas can have a different chromosomal constitution from that of the embryo with usually the embryo being normal and the placenta trisomic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Qualitative imbalance</a:t>
            </a:r>
          </a:p>
          <a:p>
            <a:r>
              <a:rPr lang="en-US" sz="2400" dirty="0" smtClean="0"/>
              <a:t>Abnormality could be due to unequal parental contributions of an overall correct amount of chromosome material – genomic imprinting, uniparental disomy</a:t>
            </a:r>
          </a:p>
          <a:p>
            <a:endParaRPr lang="en-US" sz="2400" dirty="0" smtClean="0"/>
          </a:p>
          <a:p>
            <a:r>
              <a:rPr lang="en-US" sz="2400" dirty="0" err="1" smtClean="0"/>
              <a:t>Paradar</a:t>
            </a:r>
            <a:r>
              <a:rPr lang="en-US" sz="2400" dirty="0" smtClean="0"/>
              <a:t>-Willi syndrome – </a:t>
            </a:r>
            <a:r>
              <a:rPr lang="en-US" sz="2400" dirty="0" err="1" smtClean="0"/>
              <a:t>Angelman</a:t>
            </a:r>
            <a:r>
              <a:rPr lang="en-US" sz="2400" dirty="0" smtClean="0"/>
              <a:t> syndrome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i="1" dirty="0" smtClean="0"/>
              <a:t>PWS critical region</a:t>
            </a:r>
            <a:r>
              <a:rPr lang="en-US" sz="2400" dirty="0" smtClean="0"/>
              <a:t>, paternally expressed</a:t>
            </a:r>
          </a:p>
          <a:p>
            <a:pPr marL="342900" indent="-342900">
              <a:buClr>
                <a:srgbClr val="0070C0"/>
              </a:buClr>
              <a:buFont typeface="Wingdings" panose="05000000000000000000" pitchFamily="2" charset="2"/>
              <a:buChar char="§"/>
            </a:pPr>
            <a:r>
              <a:rPr lang="en-US" sz="2400" i="1" dirty="0" smtClean="0"/>
              <a:t>AS critical region</a:t>
            </a:r>
            <a:r>
              <a:rPr lang="en-US" sz="2400" dirty="0" smtClean="0"/>
              <a:t>, maternally expressed</a:t>
            </a:r>
          </a:p>
          <a:p>
            <a:r>
              <a:rPr lang="en-US" sz="2400" dirty="0" smtClean="0"/>
              <a:t>Different but neighboring segments in chromosome 15</a:t>
            </a:r>
          </a:p>
          <a:p>
            <a:r>
              <a:rPr lang="en-US" sz="2400" dirty="0" smtClean="0"/>
              <a:t>Absence of PWS or AS critical region can happen majorly by:</a:t>
            </a:r>
          </a:p>
          <a:p>
            <a:r>
              <a:rPr lang="en-US" sz="2400" dirty="0"/>
              <a:t>	</a:t>
            </a:r>
            <a:r>
              <a:rPr lang="en-US" sz="2400" dirty="0" smtClean="0">
                <a:solidFill>
                  <a:srgbClr val="0070C0"/>
                </a:solidFill>
              </a:rPr>
              <a:t>UPD</a:t>
            </a:r>
            <a:r>
              <a:rPr lang="en-US" sz="2400" dirty="0" smtClean="0"/>
              <a:t> or </a:t>
            </a:r>
            <a:r>
              <a:rPr lang="en-US" sz="2400" dirty="0" smtClean="0">
                <a:solidFill>
                  <a:srgbClr val="0070C0"/>
                </a:solidFill>
              </a:rPr>
              <a:t>deletion</a:t>
            </a:r>
            <a:endParaRPr lang="en-US" sz="2400" dirty="0">
              <a:solidFill>
                <a:srgbClr val="0070C0"/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673521-D244-4007-ACBA-D405EDDF12FF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02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35</a:t>
            </a:fld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28600" y="381000"/>
            <a:ext cx="86868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Most chromosomes do not appear to be subject to imprinting,</a:t>
            </a:r>
          </a:p>
          <a:p>
            <a:r>
              <a:rPr lang="en-US" sz="2400" dirty="0" smtClean="0"/>
              <a:t>UPD for those chromosomes is not expected to cause problems</a:t>
            </a:r>
          </a:p>
          <a:p>
            <a:r>
              <a:rPr lang="en-US" sz="2400" dirty="0" smtClean="0"/>
              <a:t>With the exception of </a:t>
            </a:r>
            <a:r>
              <a:rPr lang="en-US" sz="2400" dirty="0" err="1" smtClean="0">
                <a:solidFill>
                  <a:srgbClr val="0070C0"/>
                </a:solidFill>
              </a:rPr>
              <a:t>isohomozygous</a:t>
            </a:r>
            <a:r>
              <a:rPr lang="en-US" sz="2400" dirty="0" smtClean="0">
                <a:solidFill>
                  <a:srgbClr val="0070C0"/>
                </a:solidFill>
              </a:rPr>
              <a:t> mutation </a:t>
            </a:r>
            <a:r>
              <a:rPr lang="en-US" sz="2400" dirty="0" smtClean="0"/>
              <a:t>resulting from </a:t>
            </a:r>
            <a:r>
              <a:rPr lang="en-US" sz="2400" dirty="0" err="1" smtClean="0">
                <a:solidFill>
                  <a:srgbClr val="0070C0"/>
                </a:solidFill>
              </a:rPr>
              <a:t>isodisomy</a:t>
            </a:r>
            <a:r>
              <a:rPr lang="en-US" sz="2400" dirty="0" smtClean="0"/>
              <a:t> </a:t>
            </a:r>
          </a:p>
          <a:p>
            <a:endParaRPr lang="en-US" sz="2400" dirty="0"/>
          </a:p>
          <a:p>
            <a:r>
              <a:rPr lang="en-US" sz="2400" dirty="0" err="1" smtClean="0">
                <a:solidFill>
                  <a:srgbClr val="0070C0"/>
                </a:solidFill>
              </a:rPr>
              <a:t>Uniparental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err="1" smtClean="0">
                <a:solidFill>
                  <a:srgbClr val="0070C0"/>
                </a:solidFill>
              </a:rPr>
              <a:t>diploidy</a:t>
            </a:r>
            <a:r>
              <a:rPr lang="en-US" sz="2400" dirty="0" smtClean="0">
                <a:solidFill>
                  <a:srgbClr val="0070C0"/>
                </a:solidFill>
              </a:rPr>
              <a:t> </a:t>
            </a:r>
            <a:r>
              <a:rPr lang="en-US" sz="2400" dirty="0" smtClean="0"/>
              <a:t>– paternal origin – </a:t>
            </a:r>
            <a:r>
              <a:rPr lang="en-US" sz="2400" dirty="0" err="1" smtClean="0">
                <a:solidFill>
                  <a:srgbClr val="0070C0"/>
                </a:solidFill>
              </a:rPr>
              <a:t>hydatidiform</a:t>
            </a:r>
            <a:r>
              <a:rPr lang="en-US" sz="2400" dirty="0" smtClean="0">
                <a:solidFill>
                  <a:srgbClr val="0070C0"/>
                </a:solidFill>
              </a:rPr>
              <a:t> mole</a:t>
            </a:r>
          </a:p>
          <a:p>
            <a:r>
              <a:rPr lang="en-US" sz="2400" dirty="0"/>
              <a:t>	</a:t>
            </a:r>
            <a:r>
              <a:rPr lang="en-US" sz="2400" dirty="0" smtClean="0"/>
              <a:t>		maternal origin – </a:t>
            </a:r>
            <a:r>
              <a:rPr lang="en-US" sz="2400" dirty="0" smtClean="0">
                <a:solidFill>
                  <a:srgbClr val="0070C0"/>
                </a:solidFill>
              </a:rPr>
              <a:t>ovarian </a:t>
            </a:r>
            <a:r>
              <a:rPr lang="en-US" sz="2400" dirty="0" err="1" smtClean="0">
                <a:solidFill>
                  <a:srgbClr val="0070C0"/>
                </a:solidFill>
              </a:rPr>
              <a:t>teratoma</a:t>
            </a:r>
            <a:endParaRPr lang="en-US" sz="2400" dirty="0" smtClean="0">
              <a:solidFill>
                <a:srgbClr val="0070C0"/>
              </a:solidFill>
            </a:endParaRPr>
          </a:p>
          <a:p>
            <a:endParaRPr lang="en-US" sz="2400" dirty="0"/>
          </a:p>
          <a:p>
            <a:endParaRPr lang="en-US" sz="2400" dirty="0" smtClean="0"/>
          </a:p>
          <a:p>
            <a:r>
              <a:rPr lang="en-US" sz="2400" b="1" dirty="0" smtClean="0"/>
              <a:t>Sporadic and recurrent abnormalities</a:t>
            </a:r>
          </a:p>
          <a:p>
            <a:r>
              <a:rPr lang="en-US" sz="2400" dirty="0" smtClean="0"/>
              <a:t>Trisomy 21 causes</a:t>
            </a:r>
          </a:p>
          <a:p>
            <a:r>
              <a:rPr lang="en-US" sz="2400" dirty="0" smtClean="0"/>
              <a:t>Genes related to regulation of chromosome interaction and separation</a:t>
            </a:r>
            <a:endParaRPr lang="en-US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A80496-7D3E-4D09-B7D4-DE2A7D66D857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5643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DD2E34-380E-4811-A0BA-D4C00E1BCA99}" type="slidenum">
              <a:rPr lang="en-US" smtClean="0"/>
              <a:t>36</a:t>
            </a:fld>
            <a:endParaRPr lang="en-US"/>
          </a:p>
        </p:txBody>
      </p:sp>
      <p:pic>
        <p:nvPicPr>
          <p:cNvPr id="2050" name="Picture 2" descr="C:\Users\hp\Documents\My Scans\scan0025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178" t="9613" r="1935" b="6439"/>
          <a:stretch/>
        </p:blipFill>
        <p:spPr bwMode="auto">
          <a:xfrm>
            <a:off x="0" y="609600"/>
            <a:ext cx="9144000" cy="27829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DC1004-0C16-4217-A30D-B60946D64E05}" type="datetime12">
              <a:rPr lang="en-US" smtClean="0"/>
              <a:t>9:03 PM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63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4777</TotalTime>
  <Words>1870</Words>
  <Application>Microsoft Office PowerPoint</Application>
  <PresentationFormat>On-screen Show (4:3)</PresentationFormat>
  <Paragraphs>321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Wingdings</vt:lpstr>
      <vt:lpstr>Office Theme</vt:lpstr>
      <vt:lpstr>Origins and consequences of chromosome pathology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Origins and consequences of chromosome pathology</dc:title>
  <dc:creator>alkhateeb</dc:creator>
  <cp:lastModifiedBy>JUST</cp:lastModifiedBy>
  <cp:revision>197</cp:revision>
  <dcterms:created xsi:type="dcterms:W3CDTF">2012-02-14T18:38:26Z</dcterms:created>
  <dcterms:modified xsi:type="dcterms:W3CDTF">2024-03-18T19:15:49Z</dcterms:modified>
</cp:coreProperties>
</file>