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7" r:id="rId2"/>
    <p:sldId id="258" r:id="rId3"/>
    <p:sldId id="274" r:id="rId4"/>
    <p:sldId id="259" r:id="rId5"/>
    <p:sldId id="260" r:id="rId6"/>
    <p:sldId id="261" r:id="rId7"/>
    <p:sldId id="271" r:id="rId8"/>
    <p:sldId id="262" r:id="rId9"/>
    <p:sldId id="266" r:id="rId10"/>
    <p:sldId id="263" r:id="rId11"/>
    <p:sldId id="267" r:id="rId12"/>
    <p:sldId id="268" r:id="rId13"/>
    <p:sldId id="277" r:id="rId14"/>
    <p:sldId id="272" r:id="rId15"/>
    <p:sldId id="276" r:id="rId16"/>
    <p:sldId id="269" r:id="rId17"/>
    <p:sldId id="278" r:id="rId18"/>
    <p:sldId id="273" r:id="rId19"/>
    <p:sldId id="275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88" d="100"/>
          <a:sy n="88" d="100"/>
        </p:scale>
        <p:origin x="586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39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CC895C-31EC-47F0-9E04-50835ADC13FC}" type="datetimeFigureOut">
              <a:rPr lang="en-US" smtClean="0"/>
              <a:t>5/13/2024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C3C7C9-D94F-4E65-81CD-184CD5D4B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670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E39F8-0353-4023-AE13-ECB46B9F20E0}" type="datetime12">
              <a:rPr lang="en-US" smtClean="0"/>
              <a:t>9:50 PM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509CB-2895-4F27-99A5-EEDAF9F74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984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94930-3E1C-45EC-B20D-CE57C85C5122}" type="datetime12">
              <a:rPr lang="en-US" smtClean="0"/>
              <a:t>9:50 PM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509CB-2895-4F27-99A5-EEDAF9F74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297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853AB-C1E0-4EC4-9548-B0E7A0E44BB9}" type="datetime12">
              <a:rPr lang="en-US" smtClean="0"/>
              <a:t>9:50 PM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509CB-2895-4F27-99A5-EEDAF9F74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512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E19A2-302E-4C8C-93C2-0FC98C0E7A80}" type="datetime12">
              <a:rPr lang="en-US" smtClean="0"/>
              <a:t>9:50 PM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509CB-2895-4F27-99A5-EEDAF9F74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990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1566E-0ADC-42B8-B0B9-9A36AF8AF318}" type="datetime12">
              <a:rPr lang="en-US" smtClean="0"/>
              <a:t>9:50 PM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509CB-2895-4F27-99A5-EEDAF9F74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833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D1C11-AF32-4AD9-8E36-564F7EDE157B}" type="datetime12">
              <a:rPr lang="en-US" smtClean="0"/>
              <a:t>9:50 PM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509CB-2895-4F27-99A5-EEDAF9F74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775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1F7EA-2260-4EAC-8923-572E6950003F}" type="datetime12">
              <a:rPr lang="en-US" smtClean="0"/>
              <a:t>9:50 PM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509CB-2895-4F27-99A5-EEDAF9F74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554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E7193-C71B-4663-A1DC-E7E930D7BE55}" type="datetime12">
              <a:rPr lang="en-US" smtClean="0"/>
              <a:t>9:50 PM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509CB-2895-4F27-99A5-EEDAF9F74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493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2FB75-2AF4-47EA-AA74-93069932684E}" type="datetime12">
              <a:rPr lang="en-US" smtClean="0"/>
              <a:t>9:50 PM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509CB-2895-4F27-99A5-EEDAF9F74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998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85526-D9F2-4675-95C1-F936742AA720}" type="datetime12">
              <a:rPr lang="en-US" smtClean="0"/>
              <a:t>9:50 PM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509CB-2895-4F27-99A5-EEDAF9F74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362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EB41F-40E3-4EF9-9C99-82F414382AA0}" type="datetime12">
              <a:rPr lang="en-US" smtClean="0"/>
              <a:t>9:50 PM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509CB-2895-4F27-99A5-EEDAF9F74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588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DAF4DC-B76C-4C74-9403-738C0975B042}" type="datetime12">
              <a:rPr lang="en-US" smtClean="0"/>
              <a:t>9:50 PM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A509CB-2895-4F27-99A5-EEDAF9F74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368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438400"/>
            <a:ext cx="8382000" cy="1143000"/>
          </a:xfrm>
        </p:spPr>
        <p:txBody>
          <a:bodyPr>
            <a:noAutofit/>
          </a:bodyPr>
          <a:lstStyle/>
          <a:p>
            <a:r>
              <a:rPr lang="en-US" b="1" dirty="0" smtClean="0"/>
              <a:t>Prenatal diagnostic</a:t>
            </a:r>
            <a:br>
              <a:rPr lang="en-US" b="1" dirty="0" smtClean="0"/>
            </a:br>
            <a:r>
              <a:rPr lang="en-US" b="1" dirty="0" smtClean="0"/>
              <a:t>procedures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2A093-DB52-46D7-ACEE-B7BCB9F7EED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4B3C0-9C99-4E00-8A1A-7BEFA9EC4AE3}" type="datetime12">
              <a:rPr lang="en-US" smtClean="0"/>
              <a:t>9:50 PM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210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" y="228600"/>
            <a:ext cx="88392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M</a:t>
            </a:r>
            <a:r>
              <a:rPr lang="en-US" sz="2800" b="1" dirty="0" smtClean="0"/>
              <a:t>ain indications for prenatal cytogenetic diagnosis:</a:t>
            </a:r>
          </a:p>
          <a:p>
            <a:endParaRPr lang="en-US" sz="2800" dirty="0"/>
          </a:p>
          <a:p>
            <a:pPr marL="457200" indent="-457200">
              <a:buAutoNum type="arabicParenBoth"/>
            </a:pPr>
            <a:r>
              <a:rPr lang="en-US" sz="2800" dirty="0" smtClean="0"/>
              <a:t>the pregnant woman being of older childbearing age</a:t>
            </a:r>
          </a:p>
          <a:p>
            <a:pPr marL="457200" indent="-457200">
              <a:buAutoNum type="arabicParenBoth"/>
            </a:pPr>
            <a:r>
              <a:rPr lang="en-US" sz="2800" dirty="0" smtClean="0"/>
              <a:t>parental heterozygosity for a chromosome rearrangement</a:t>
            </a:r>
          </a:p>
          <a:p>
            <a:r>
              <a:rPr lang="en-US" sz="2800" dirty="0" smtClean="0"/>
              <a:t>(3) the birth of a previous child with a chromosome defect</a:t>
            </a:r>
          </a:p>
          <a:p>
            <a:r>
              <a:rPr lang="en-US" sz="2800" dirty="0" smtClean="0"/>
              <a:t>(4) </a:t>
            </a:r>
            <a:r>
              <a:rPr lang="en-US" sz="2800" dirty="0"/>
              <a:t>increased risk on maternal screening </a:t>
            </a:r>
            <a:r>
              <a:rPr lang="en-US" sz="2800" dirty="0" smtClean="0"/>
              <a:t>test</a:t>
            </a:r>
          </a:p>
          <a:p>
            <a:r>
              <a:rPr lang="en-US" sz="2800" dirty="0" smtClean="0"/>
              <a:t>(5) fetal anomaly detected on ultrasonography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416CC-AFBF-470F-85F9-BDE7BA885229}" type="datetime12">
              <a:rPr lang="en-US" smtClean="0"/>
              <a:t>9:50 PM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509CB-2895-4F27-99A5-EEDAF9F74DC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935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1F7EA-2260-4EAC-8923-572E6950003F}" type="datetime12">
              <a:rPr lang="en-US" smtClean="0"/>
              <a:t>9:50 PM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509CB-2895-4F27-99A5-EEDAF9F74DC8}" type="slidenum">
              <a:rPr lang="en-US" smtClean="0"/>
              <a:t>3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57200" y="381000"/>
            <a:ext cx="84582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Analytical procedures used to detect common aneuploidies in prenatal testing: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 smtClean="0">
                <a:solidFill>
                  <a:srgbClr val="0070C0"/>
                </a:solidFill>
              </a:rPr>
              <a:t>Classical cytogenetics </a:t>
            </a:r>
            <a:r>
              <a:rPr lang="en-US" sz="3200" dirty="0" smtClean="0"/>
              <a:t>(slow)</a:t>
            </a:r>
          </a:p>
          <a:p>
            <a:endParaRPr lang="en-US" sz="3200" dirty="0" smtClean="0"/>
          </a:p>
          <a:p>
            <a:r>
              <a:rPr lang="en-US" sz="3200" dirty="0" smtClean="0"/>
              <a:t>Faster return of results: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 smtClean="0">
                <a:solidFill>
                  <a:srgbClr val="0070C0"/>
                </a:solidFill>
              </a:rPr>
              <a:t>FISH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 smtClean="0">
                <a:solidFill>
                  <a:srgbClr val="0070C0"/>
                </a:solidFill>
              </a:rPr>
              <a:t>QF-PCR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 smtClean="0">
                <a:solidFill>
                  <a:srgbClr val="0070C0"/>
                </a:solidFill>
              </a:rPr>
              <a:t>MLPA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 smtClean="0">
                <a:solidFill>
                  <a:srgbClr val="0070C0"/>
                </a:solidFill>
              </a:rPr>
              <a:t>Microarray</a:t>
            </a:r>
            <a:endParaRPr lang="en-US" sz="3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0891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" y="88795"/>
            <a:ext cx="8915400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L</a:t>
            </a:r>
            <a:r>
              <a:rPr lang="en-US" sz="2800" b="1" dirty="0" smtClean="0"/>
              <a:t>aboratory (molecular) prenatal diagnostic procedures</a:t>
            </a:r>
          </a:p>
          <a:p>
            <a:endParaRPr lang="en-US" sz="2000" dirty="0"/>
          </a:p>
          <a:p>
            <a:r>
              <a:rPr lang="en-US" sz="2400" b="1" dirty="0"/>
              <a:t>F</a:t>
            </a:r>
            <a:r>
              <a:rPr lang="en-US" sz="2400" b="1" dirty="0" smtClean="0"/>
              <a:t>luorescence in situ hybridization</a:t>
            </a:r>
          </a:p>
          <a:p>
            <a:r>
              <a:rPr lang="en-US" sz="2400" dirty="0" smtClean="0"/>
              <a:t>Using multiple colored probes and targeting chromosomes most prone to survivable aneuploidy (</a:t>
            </a:r>
            <a:r>
              <a:rPr lang="en-US" sz="2400" dirty="0" smtClean="0">
                <a:solidFill>
                  <a:srgbClr val="0070C0"/>
                </a:solidFill>
              </a:rPr>
              <a:t>13</a:t>
            </a:r>
            <a:r>
              <a:rPr lang="en-US" sz="2400" dirty="0" smtClean="0"/>
              <a:t>, </a:t>
            </a:r>
            <a:r>
              <a:rPr lang="en-US" sz="2400" dirty="0" smtClean="0">
                <a:solidFill>
                  <a:srgbClr val="0070C0"/>
                </a:solidFill>
              </a:rPr>
              <a:t>18</a:t>
            </a:r>
            <a:r>
              <a:rPr lang="en-US" sz="2400" dirty="0" smtClean="0"/>
              <a:t>, </a:t>
            </a:r>
            <a:r>
              <a:rPr lang="en-US" sz="2400" dirty="0" smtClean="0">
                <a:solidFill>
                  <a:srgbClr val="0070C0"/>
                </a:solidFill>
              </a:rPr>
              <a:t>21</a:t>
            </a:r>
            <a:r>
              <a:rPr lang="en-US" sz="2400" dirty="0" smtClean="0"/>
              <a:t>, </a:t>
            </a:r>
            <a:r>
              <a:rPr lang="en-US" sz="2400" dirty="0" smtClean="0">
                <a:solidFill>
                  <a:srgbClr val="0070C0"/>
                </a:solidFill>
              </a:rPr>
              <a:t>X</a:t>
            </a:r>
            <a:r>
              <a:rPr lang="en-US" sz="2400" dirty="0" smtClean="0"/>
              <a:t>, and </a:t>
            </a:r>
            <a:r>
              <a:rPr lang="en-US" sz="2400" dirty="0" smtClean="0">
                <a:solidFill>
                  <a:srgbClr val="0070C0"/>
                </a:solidFill>
              </a:rPr>
              <a:t>Y</a:t>
            </a:r>
            <a:r>
              <a:rPr lang="en-US" sz="2400" dirty="0" smtClean="0"/>
              <a:t>) </a:t>
            </a:r>
            <a:r>
              <a:rPr lang="en-US" sz="2400" dirty="0" smtClean="0">
                <a:solidFill>
                  <a:srgbClr val="0070C0"/>
                </a:solidFill>
              </a:rPr>
              <a:t>bypasses need for culture</a:t>
            </a:r>
            <a:r>
              <a:rPr lang="en-US" sz="2400" dirty="0" smtClean="0"/>
              <a:t>, whether cells are from amniotic fluid or CVS, and result can be given within space of one working day</a:t>
            </a:r>
          </a:p>
          <a:p>
            <a:endParaRPr lang="en-US" sz="1400" dirty="0" smtClean="0"/>
          </a:p>
          <a:p>
            <a:r>
              <a:rPr lang="en-US" sz="2400" dirty="0">
                <a:solidFill>
                  <a:srgbClr val="0070C0"/>
                </a:solidFill>
              </a:rPr>
              <a:t>Focused FISH </a:t>
            </a:r>
            <a:r>
              <a:rPr lang="en-US" sz="2400" dirty="0"/>
              <a:t>can be applied in specific </a:t>
            </a:r>
            <a:r>
              <a:rPr lang="en-US" sz="2400" dirty="0" smtClean="0"/>
              <a:t>circumstances: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/>
              <a:t>The ultrasound discovery </a:t>
            </a:r>
            <a:r>
              <a:rPr lang="en-US" sz="2400" dirty="0"/>
              <a:t>of a cardiac </a:t>
            </a:r>
            <a:r>
              <a:rPr lang="en-US" sz="2400" dirty="0" smtClean="0"/>
              <a:t>abnormality </a:t>
            </a:r>
            <a:r>
              <a:rPr lang="en-US" sz="2400" dirty="0"/>
              <a:t>would, for example, </a:t>
            </a:r>
            <a:r>
              <a:rPr lang="en-US" sz="2400" dirty="0" smtClean="0"/>
              <a:t>point to </a:t>
            </a:r>
            <a:r>
              <a:rPr lang="en-US" sz="2400" dirty="0"/>
              <a:t>the need for 22q11 </a:t>
            </a:r>
            <a:r>
              <a:rPr lang="en-US" sz="2400" dirty="0" smtClean="0"/>
              <a:t>analysis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/>
              <a:t>A </a:t>
            </a:r>
            <a:r>
              <a:rPr lang="en-US" sz="2400" dirty="0"/>
              <a:t>rapid diagnosis is particularly to </a:t>
            </a:r>
            <a:r>
              <a:rPr lang="en-US" sz="2400" dirty="0" smtClean="0"/>
              <a:t>be desired </a:t>
            </a:r>
            <a:r>
              <a:rPr lang="en-US" sz="2400" dirty="0"/>
              <a:t>in the setting of parental heterozygosity for a </a:t>
            </a:r>
            <a:r>
              <a:rPr lang="en-US" sz="2400" dirty="0" smtClean="0"/>
              <a:t>chromosome rearrangement</a:t>
            </a:r>
            <a:endParaRPr lang="en-US" sz="2400" dirty="0"/>
          </a:p>
          <a:p>
            <a:endParaRPr lang="en-US" sz="1400" dirty="0"/>
          </a:p>
          <a:p>
            <a:r>
              <a:rPr lang="en-US" sz="2400" dirty="0" smtClean="0"/>
              <a:t>FISH tests only that segment of the chromosome to which the probe binds</a:t>
            </a:r>
            <a:r>
              <a:rPr lang="en-US" sz="2400" dirty="0"/>
              <a:t>. Inferentially, the complete chromosome is present; but this is </a:t>
            </a:r>
            <a:r>
              <a:rPr lang="en-US" sz="2400" dirty="0" smtClean="0"/>
              <a:t>not necessarily so</a:t>
            </a:r>
            <a:endParaRPr lang="en-US" sz="24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5D254-D099-4BD9-A944-43B06FA082E7}" type="datetime12">
              <a:rPr lang="en-US" smtClean="0"/>
              <a:t>9:50 PM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509CB-2895-4F27-99A5-EEDAF9F74DC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610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:\WINDOWS\Desktop\FISH\fish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952500"/>
            <a:ext cx="7924800" cy="495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256FC-8971-4B1F-A35C-25DA6A8B86A5}" type="datetime12">
              <a:rPr lang="en-US" smtClean="0"/>
              <a:t>9:50 PM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509CB-2895-4F27-99A5-EEDAF9F74DC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107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842" y="152400"/>
            <a:ext cx="8864958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/>
              <a:t>Q</a:t>
            </a:r>
            <a:r>
              <a:rPr lang="en-US" sz="2600" b="1" dirty="0" smtClean="0"/>
              <a:t>uantitative fluorescence polymerase chain reaction</a:t>
            </a:r>
          </a:p>
          <a:p>
            <a:endParaRPr lang="en-US" sz="2600" b="1" dirty="0" smtClean="0"/>
          </a:p>
          <a:p>
            <a:r>
              <a:rPr lang="en-US" sz="2600" dirty="0" smtClean="0"/>
              <a:t>QF-PCR relies on use of molecular markers that display high level of heterozygosity, such that presence of three alleles—that is, a trisomy— can reliably be detected </a:t>
            </a:r>
          </a:p>
          <a:p>
            <a:endParaRPr lang="en-US" sz="2600" dirty="0"/>
          </a:p>
          <a:p>
            <a:r>
              <a:rPr lang="en-US" sz="2600" dirty="0"/>
              <a:t>Similarly to FISH, when compared to karyotyping, QF-PCR </a:t>
            </a:r>
            <a:r>
              <a:rPr lang="en-US" sz="2600" dirty="0" smtClean="0"/>
              <a:t>has </a:t>
            </a:r>
            <a:r>
              <a:rPr lang="en-US" sz="2600" dirty="0" smtClean="0">
                <a:solidFill>
                  <a:srgbClr val="0070C0"/>
                </a:solidFill>
              </a:rPr>
              <a:t>advantages</a:t>
            </a:r>
            <a:r>
              <a:rPr lang="en-US" sz="2600" dirty="0" smtClean="0"/>
              <a:t> of: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600" dirty="0" smtClean="0"/>
              <a:t>lower cost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600" dirty="0" smtClean="0"/>
              <a:t>shorter </a:t>
            </a:r>
            <a:r>
              <a:rPr lang="en-US" sz="2600" dirty="0"/>
              <a:t>turnaround of </a:t>
            </a:r>
            <a:r>
              <a:rPr lang="en-US" sz="2600" dirty="0" smtClean="0"/>
              <a:t>results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600" dirty="0" smtClean="0"/>
              <a:t>lower technical complexity</a:t>
            </a:r>
          </a:p>
          <a:p>
            <a:endParaRPr lang="en-US" sz="2600" dirty="0"/>
          </a:p>
          <a:p>
            <a:r>
              <a:rPr lang="en-US" sz="2600" dirty="0" smtClean="0"/>
              <a:t>The </a:t>
            </a:r>
            <a:r>
              <a:rPr lang="en-US" sz="2600" dirty="0"/>
              <a:t>major </a:t>
            </a:r>
            <a:r>
              <a:rPr lang="en-US" sz="2600" dirty="0">
                <a:solidFill>
                  <a:srgbClr val="0070C0"/>
                </a:solidFill>
              </a:rPr>
              <a:t>disadvantage</a:t>
            </a:r>
            <a:r>
              <a:rPr lang="en-US" sz="2600" dirty="0"/>
              <a:t> is that QF-PCR will </a:t>
            </a:r>
            <a:r>
              <a:rPr lang="en-US" sz="2600" dirty="0" smtClean="0"/>
              <a:t>only identify </a:t>
            </a:r>
            <a:r>
              <a:rPr lang="en-US" sz="2600" dirty="0"/>
              <a:t>common aneuploidies: Most deletions and duplications, </a:t>
            </a:r>
            <a:r>
              <a:rPr lang="en-US" sz="2600" dirty="0" smtClean="0"/>
              <a:t>along with </a:t>
            </a:r>
            <a:r>
              <a:rPr lang="en-US" sz="2600" dirty="0"/>
              <a:t>balanced rearrangements, will not be detected</a:t>
            </a:r>
            <a:endParaRPr lang="en-US" sz="2600" dirty="0" smtClean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ABDB7-5574-4036-BF63-F18448F1DCF8}" type="datetime12">
              <a:rPr lang="en-US" smtClean="0"/>
              <a:t>9:50 PM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509CB-2895-4F27-99A5-EEDAF9F74DC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353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1F7EA-2260-4EAC-8923-572E6950003F}" type="datetime12">
              <a:rPr lang="en-US" smtClean="0"/>
              <a:t>9:50 PM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509CB-2895-4F27-99A5-EEDAF9F74DC8}" type="slidenum">
              <a:rPr lang="en-US" smtClean="0"/>
              <a:t>7</a:t>
            </a:fld>
            <a:endParaRPr lang="en-US"/>
          </a:p>
        </p:txBody>
      </p:sp>
      <p:pic>
        <p:nvPicPr>
          <p:cNvPr id="4" name="Picture 4" descr="Image result for Schematic of QF-PCR output, with an example polymorphic microsatellite repeat ATTT on chromosome 2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49" y="76200"/>
            <a:ext cx="6286500" cy="5136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6347460" y="197411"/>
            <a:ext cx="2733402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dirty="0"/>
              <a:t>Sequences assessed are </a:t>
            </a:r>
            <a:r>
              <a:rPr lang="en-US" sz="2600" dirty="0" smtClean="0"/>
              <a:t>chromosome-specific polymorphic </a:t>
            </a:r>
            <a:r>
              <a:rPr lang="en-US" sz="2600" dirty="0"/>
              <a:t>small tandem </a:t>
            </a:r>
            <a:r>
              <a:rPr lang="en-US" sz="2600" dirty="0" smtClean="0"/>
              <a:t>repeats. </a:t>
            </a:r>
            <a:r>
              <a:rPr lang="en-US" sz="2600" dirty="0"/>
              <a:t>Three allelic forms </a:t>
            </a:r>
            <a:r>
              <a:rPr lang="en-US" sz="2600" dirty="0" smtClean="0"/>
              <a:t>of </a:t>
            </a:r>
            <a:r>
              <a:rPr lang="en-US" sz="2600" dirty="0"/>
              <a:t>a particular marker allows </a:t>
            </a:r>
            <a:r>
              <a:rPr lang="en-US" sz="2600" dirty="0" smtClean="0"/>
              <a:t>the </a:t>
            </a:r>
            <a:r>
              <a:rPr lang="en-US" sz="2600" dirty="0"/>
              <a:t>assumption of trisomy </a:t>
            </a:r>
            <a:r>
              <a:rPr lang="en-US" sz="2600" dirty="0" smtClean="0"/>
              <a:t>for </a:t>
            </a:r>
            <a:r>
              <a:rPr lang="en-US" sz="2600" dirty="0"/>
              <a:t>that chromosome</a:t>
            </a:r>
          </a:p>
        </p:txBody>
      </p:sp>
    </p:spTree>
    <p:extLst>
      <p:ext uri="{BB962C8B-B14F-4D97-AF65-F5344CB8AC3E}">
        <p14:creationId xmlns:p14="http://schemas.microsoft.com/office/powerpoint/2010/main" val="4059658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842" y="152400"/>
            <a:ext cx="878875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Multiplex ligation-dependent probe analysis</a:t>
            </a:r>
          </a:p>
          <a:p>
            <a:endParaRPr lang="en-US" sz="2800" b="1" dirty="0" smtClean="0"/>
          </a:p>
          <a:p>
            <a:r>
              <a:rPr lang="en-US" sz="2800" dirty="0" smtClean="0"/>
              <a:t>MLPA is a PCR-based assay that can combine probes to many chromosomal loci, has a short turnaround time</a:t>
            </a:r>
            <a:endParaRPr lang="en-US" sz="2800" dirty="0"/>
          </a:p>
          <a:p>
            <a:endParaRPr lang="en-US" sz="2800" dirty="0"/>
          </a:p>
          <a:p>
            <a:r>
              <a:rPr lang="en-US" sz="2800" dirty="0" smtClean="0"/>
              <a:t>A targeted application enables the diagnosis of microdeletion syndromes that would otherwise have escaped detection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21574-8463-4268-BA6D-C2DF20CBC76E}" type="datetime12">
              <a:rPr lang="en-US" smtClean="0"/>
              <a:t>9:50 PM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509CB-2895-4F27-99A5-EEDAF9F74DC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711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1F7EA-2260-4EAC-8923-572E6950003F}" type="datetime12">
              <a:rPr lang="en-US" smtClean="0"/>
              <a:t>9:50 PM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509CB-2895-4F27-99A5-EEDAF9F74DC8}" type="slidenum">
              <a:rPr lang="en-US" smtClean="0"/>
              <a:t>9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13" t="10387" r="19537" b="5572"/>
          <a:stretch/>
        </p:blipFill>
        <p:spPr bwMode="auto">
          <a:xfrm>
            <a:off x="533400" y="152400"/>
            <a:ext cx="8229600" cy="6147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05054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1F7EA-2260-4EAC-8923-572E6950003F}" type="datetime12">
              <a:rPr lang="en-US" smtClean="0"/>
              <a:t>9:50 PM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509CB-2895-4F27-99A5-EEDAF9F74DC8}" type="slidenum">
              <a:rPr lang="en-US" smtClean="0"/>
              <a:t>10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02842" y="152400"/>
            <a:ext cx="886495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M</a:t>
            </a:r>
            <a:r>
              <a:rPr lang="en-US" sz="2800" b="1" dirty="0" smtClean="0"/>
              <a:t>icroarray analysis</a:t>
            </a:r>
          </a:p>
          <a:p>
            <a:endParaRPr lang="en-US" sz="2800" dirty="0" smtClean="0"/>
          </a:p>
          <a:p>
            <a:r>
              <a:rPr lang="en-US" sz="2800" dirty="0"/>
              <a:t>Microarray analysis can be applied to CVS and </a:t>
            </a:r>
            <a:r>
              <a:rPr lang="en-US" sz="2800" dirty="0" smtClean="0"/>
              <a:t>amniocentesis samples</a:t>
            </a:r>
            <a:r>
              <a:rPr lang="en-US" sz="2800" dirty="0"/>
              <a:t>, with or without prior culture. Results can be delivered </a:t>
            </a:r>
            <a:r>
              <a:rPr lang="en-US" sz="2800" dirty="0" smtClean="0"/>
              <a:t>within several days</a:t>
            </a:r>
          </a:p>
          <a:p>
            <a:endParaRPr lang="en-US" sz="2800" dirty="0"/>
          </a:p>
          <a:p>
            <a:r>
              <a:rPr lang="en-US" sz="2800" dirty="0"/>
              <a:t>A </a:t>
            </a:r>
            <a:r>
              <a:rPr lang="en-US" sz="2800" dirty="0" smtClean="0"/>
              <a:t>possible drawback </a:t>
            </a:r>
            <a:r>
              <a:rPr lang="en-US" sz="2800" dirty="0"/>
              <a:t>is that microarrays can show copy number variants (</a:t>
            </a:r>
            <a:r>
              <a:rPr lang="en-US" sz="2800" dirty="0" smtClean="0"/>
              <a:t>CNVs), </a:t>
            </a:r>
            <a:r>
              <a:rPr lang="en-US" sz="2800" dirty="0"/>
              <a:t>which may introduce an uncertainty into the </a:t>
            </a:r>
            <a:r>
              <a:rPr lang="en-US" sz="2800" dirty="0" smtClean="0"/>
              <a:t>diagnostic interpretation</a:t>
            </a:r>
          </a:p>
        </p:txBody>
      </p:sp>
    </p:spTree>
    <p:extLst>
      <p:ext uri="{BB962C8B-B14F-4D97-AF65-F5344CB8AC3E}">
        <p14:creationId xmlns:p14="http://schemas.microsoft.com/office/powerpoint/2010/main" val="3288529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1F7EA-2260-4EAC-8923-572E6950003F}" type="datetime12">
              <a:rPr lang="en-US" smtClean="0"/>
              <a:t>9:50 PM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509CB-2895-4F27-99A5-EEDAF9F74DC8}" type="slidenum">
              <a:rPr lang="en-US" smtClean="0"/>
              <a:t>11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97" t="16941" r="25923" b="1028"/>
          <a:stretch/>
        </p:blipFill>
        <p:spPr bwMode="auto">
          <a:xfrm>
            <a:off x="156693" y="134155"/>
            <a:ext cx="6190735" cy="600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6476999" y="102668"/>
            <a:ext cx="2666999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Chromosomal and genomic approaches to the diagnosis of trisomy 21. </a:t>
            </a:r>
            <a:endParaRPr lang="en-US" b="1" dirty="0" smtClean="0"/>
          </a:p>
          <a:p>
            <a:r>
              <a:rPr lang="en-US" b="1" dirty="0" smtClean="0"/>
              <a:t>A</a:t>
            </a:r>
            <a:r>
              <a:rPr lang="en-US" dirty="0"/>
              <a:t>, </a:t>
            </a:r>
            <a:r>
              <a:rPr lang="en-US" dirty="0" smtClean="0">
                <a:solidFill>
                  <a:srgbClr val="0070C0"/>
                </a:solidFill>
              </a:rPr>
              <a:t>Karyotype</a:t>
            </a:r>
            <a:r>
              <a:rPr lang="en-US" dirty="0" smtClean="0"/>
              <a:t> from </a:t>
            </a:r>
            <a:r>
              <a:rPr lang="en-US" dirty="0"/>
              <a:t>a male patient with Down syndrome, showing three copies of chromosome 21. </a:t>
            </a:r>
            <a:r>
              <a:rPr lang="en-US" b="1" dirty="0"/>
              <a:t>B</a:t>
            </a:r>
            <a:r>
              <a:rPr lang="en-US" dirty="0"/>
              <a:t>, </a:t>
            </a:r>
            <a:r>
              <a:rPr lang="en-US" dirty="0" smtClean="0">
                <a:solidFill>
                  <a:srgbClr val="0070C0"/>
                </a:solidFill>
              </a:rPr>
              <a:t>Interphase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0070C0"/>
                </a:solidFill>
              </a:rPr>
              <a:t>FISH</a:t>
            </a:r>
            <a:r>
              <a:rPr lang="en-US" dirty="0" smtClean="0"/>
              <a:t> </a:t>
            </a:r>
            <a:r>
              <a:rPr lang="en-US" dirty="0"/>
              <a:t>analysis using locus-specific probes from chromosome 21 (</a:t>
            </a:r>
            <a:r>
              <a:rPr lang="en-US" i="1" dirty="0" smtClean="0"/>
              <a:t>red</a:t>
            </a:r>
            <a:r>
              <a:rPr lang="en-US" dirty="0" smtClean="0"/>
              <a:t>, three </a:t>
            </a:r>
            <a:r>
              <a:rPr lang="en-US" dirty="0"/>
              <a:t>spots) and from a control autosome (</a:t>
            </a:r>
            <a:r>
              <a:rPr lang="en-US" i="1" dirty="0"/>
              <a:t>green</a:t>
            </a:r>
            <a:r>
              <a:rPr lang="en-US" dirty="0"/>
              <a:t>, two spots). </a:t>
            </a:r>
            <a:endParaRPr lang="en-US" dirty="0" smtClean="0"/>
          </a:p>
          <a:p>
            <a:r>
              <a:rPr lang="en-US" b="1" dirty="0" smtClean="0"/>
              <a:t>C</a:t>
            </a:r>
            <a:r>
              <a:rPr lang="en-US" dirty="0"/>
              <a:t>, Detection of trisomy 21 in </a:t>
            </a:r>
            <a:r>
              <a:rPr lang="en-US" dirty="0" smtClean="0"/>
              <a:t>a female </a:t>
            </a:r>
            <a:r>
              <a:rPr lang="en-US" dirty="0"/>
              <a:t>patient by whole-genome chromosomal </a:t>
            </a:r>
            <a:r>
              <a:rPr lang="en-US" dirty="0">
                <a:solidFill>
                  <a:srgbClr val="0070C0"/>
                </a:solidFill>
              </a:rPr>
              <a:t>microarray</a:t>
            </a:r>
            <a:r>
              <a:rPr lang="en-US" dirty="0"/>
              <a:t>. Increase in </a:t>
            </a:r>
            <a:r>
              <a:rPr lang="en-US" dirty="0" smtClean="0"/>
              <a:t>fluorescence </a:t>
            </a:r>
            <a:r>
              <a:rPr lang="en-US" dirty="0"/>
              <a:t>ratio </a:t>
            </a:r>
            <a:r>
              <a:rPr lang="en-US" dirty="0" smtClean="0"/>
              <a:t>for sequences </a:t>
            </a:r>
            <a:r>
              <a:rPr lang="en-US" dirty="0"/>
              <a:t>from chromosome 21 are indicated by </a:t>
            </a:r>
            <a:r>
              <a:rPr lang="en-US" i="1" dirty="0" smtClean="0"/>
              <a:t>red </a:t>
            </a:r>
            <a:r>
              <a:rPr lang="en-US" i="1" dirty="0"/>
              <a:t>arrow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520845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1F7EA-2260-4EAC-8923-572E6950003F}" type="datetime12">
              <a:rPr lang="en-US" smtClean="0"/>
              <a:t>9:50 PM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509CB-2895-4F27-99A5-EEDAF9F74DC8}" type="slidenum">
              <a:rPr lang="en-US" smtClean="0"/>
              <a:t>12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52400" y="46930"/>
            <a:ext cx="89154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Clinical prenatal diagnostic procedures</a:t>
            </a:r>
          </a:p>
          <a:p>
            <a:endParaRPr lang="en-US" sz="2800" dirty="0"/>
          </a:p>
          <a:p>
            <a:r>
              <a:rPr lang="en-US" sz="2800" b="1" dirty="0"/>
              <a:t>Chorionic Villus </a:t>
            </a:r>
            <a:r>
              <a:rPr lang="en-US" sz="2800" b="1" dirty="0" smtClean="0"/>
              <a:t>Sampling</a:t>
            </a:r>
          </a:p>
          <a:p>
            <a:endParaRPr lang="en-US" sz="2800" b="1" dirty="0" smtClean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 smtClean="0"/>
              <a:t>CVS </a:t>
            </a:r>
            <a:r>
              <a:rPr lang="en-US" sz="2800" dirty="0"/>
              <a:t>is typically a </a:t>
            </a:r>
            <a:r>
              <a:rPr lang="en-US" sz="2800" dirty="0" smtClean="0"/>
              <a:t>first trimester procedure</a:t>
            </a:r>
            <a:r>
              <a:rPr lang="en-US" sz="2800" dirty="0"/>
              <a:t>, </a:t>
            </a:r>
            <a:r>
              <a:rPr lang="en-US" sz="2800" dirty="0" smtClean="0"/>
              <a:t>usual </a:t>
            </a:r>
            <a:r>
              <a:rPr lang="en-US" sz="2800" dirty="0"/>
              <a:t>time being at </a:t>
            </a:r>
            <a:r>
              <a:rPr lang="en-US" sz="2800" b="1" dirty="0" smtClean="0">
                <a:solidFill>
                  <a:srgbClr val="0070C0"/>
                </a:solidFill>
              </a:rPr>
              <a:t>10–11 weeks </a:t>
            </a:r>
            <a:r>
              <a:rPr lang="en-US" sz="2800" dirty="0" smtClean="0"/>
              <a:t>gestation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 smtClean="0"/>
              <a:t>Transabdominal needle insertion through placental tissue under ultrasound guidance and aspiration of a chorionic villus tissue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E</a:t>
            </a:r>
            <a:r>
              <a:rPr lang="en-US" sz="2800" dirty="0" smtClean="0"/>
              <a:t>arlier </a:t>
            </a:r>
            <a:r>
              <a:rPr lang="en-US" sz="2800" dirty="0"/>
              <a:t>period of diagnosis permitted by CVS, compared </a:t>
            </a:r>
            <a:r>
              <a:rPr lang="en-US" sz="2800" dirty="0" smtClean="0"/>
              <a:t>with amniocentesis</a:t>
            </a:r>
            <a:r>
              <a:rPr lang="en-US" sz="2800" dirty="0"/>
              <a:t>, may be seen as more useful in the setting of a </a:t>
            </a:r>
            <a:r>
              <a:rPr lang="en-US" sz="2800" dirty="0" smtClean="0"/>
              <a:t>higher genetic risk</a:t>
            </a:r>
          </a:p>
        </p:txBody>
      </p:sp>
    </p:spTree>
    <p:extLst>
      <p:ext uri="{BB962C8B-B14F-4D97-AF65-F5344CB8AC3E}">
        <p14:creationId xmlns:p14="http://schemas.microsoft.com/office/powerpoint/2010/main" val="3813862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1F7EA-2260-4EAC-8923-572E6950003F}" type="datetime12">
              <a:rPr lang="en-US" smtClean="0"/>
              <a:t>9:51 PM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509CB-2895-4F27-99A5-EEDAF9F74DC8}" type="slidenum">
              <a:rPr lang="en-US" smtClean="0"/>
              <a:t>13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0747" y="516342"/>
            <a:ext cx="6362700" cy="403383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6200" y="99364"/>
            <a:ext cx="422910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dirty="0"/>
              <a:t>Chorionic Villus Sampling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4886744"/>
            <a:ext cx="830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 smtClean="0"/>
              <a:t>Two alternative approaches are drawn:</a:t>
            </a:r>
          </a:p>
          <a:p>
            <a:pPr marL="342900" indent="-342900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sz="2500" dirty="0" err="1" smtClean="0"/>
              <a:t>Transcervical</a:t>
            </a:r>
            <a:r>
              <a:rPr lang="en-US" sz="2500" dirty="0" smtClean="0"/>
              <a:t> (by means of a flexible cannula)</a:t>
            </a:r>
          </a:p>
          <a:p>
            <a:pPr marL="342900" indent="-342900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sz="2500" dirty="0" smtClean="0"/>
              <a:t>Transabdominal (with a spinal needle)</a:t>
            </a:r>
          </a:p>
          <a:p>
            <a:pPr>
              <a:buClr>
                <a:srgbClr val="0070C0"/>
              </a:buClr>
            </a:pPr>
            <a:r>
              <a:rPr lang="en-US" sz="2500" dirty="0" smtClean="0"/>
              <a:t>Success and safety depend o fuse of ultrasound imaging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38219932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1F7EA-2260-4EAC-8923-572E6950003F}" type="datetime12">
              <a:rPr lang="en-US" smtClean="0"/>
              <a:t>9:50 PM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509CB-2895-4F27-99A5-EEDAF9F74DC8}" type="slidenum">
              <a:rPr lang="en-US" smtClean="0"/>
              <a:t>14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52400" y="304800"/>
            <a:ext cx="8839200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There is potential in CVS for diagnostic difficulty due to the occasional detection of </a:t>
            </a:r>
            <a:r>
              <a:rPr lang="en-US" sz="2800" b="1" dirty="0">
                <a:solidFill>
                  <a:srgbClr val="0070C0"/>
                </a:solidFill>
              </a:rPr>
              <a:t>confined placental mosaicism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Risk of </a:t>
            </a:r>
            <a:r>
              <a:rPr lang="en-US" sz="2800" dirty="0">
                <a:solidFill>
                  <a:srgbClr val="0070C0"/>
                </a:solidFill>
              </a:rPr>
              <a:t>procedure-related miscarriage </a:t>
            </a:r>
            <a:r>
              <a:rPr lang="en-US" sz="2800" dirty="0"/>
              <a:t>in women who had undergone CVS was only 0.22% (approximately 1 in 500 procedures)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CVS earlier than 10 weeks is associated with increased health risks for the child, thus it is not done earlier than 10 weeks</a:t>
            </a:r>
          </a:p>
        </p:txBody>
      </p:sp>
    </p:spTree>
    <p:extLst>
      <p:ext uri="{BB962C8B-B14F-4D97-AF65-F5344CB8AC3E}">
        <p14:creationId xmlns:p14="http://schemas.microsoft.com/office/powerpoint/2010/main" val="27822728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1F7EA-2260-4EAC-8923-572E6950003F}" type="datetime12">
              <a:rPr lang="en-US" smtClean="0"/>
              <a:t>9:50 PM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509CB-2895-4F27-99A5-EEDAF9F74DC8}" type="slidenum">
              <a:rPr lang="en-US" smtClean="0"/>
              <a:t>15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66" y="457200"/>
            <a:ext cx="8894064" cy="48463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0966" y="5105400"/>
            <a:ext cx="3927634" cy="152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810000" y="4907280"/>
            <a:ext cx="5105400" cy="19812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10966" y="4350384"/>
            <a:ext cx="879634" cy="2216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3105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1F7EA-2260-4EAC-8923-572E6950003F}" type="datetime12">
              <a:rPr lang="en-US" smtClean="0"/>
              <a:t>9:50 PM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509CB-2895-4F27-99A5-EEDAF9F74DC8}" type="slidenum">
              <a:rPr lang="en-US" smtClean="0"/>
              <a:t>16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52400" y="152400"/>
            <a:ext cx="8915400" cy="52937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 smtClean="0">
                <a:solidFill>
                  <a:prstClr val="black"/>
                </a:solidFill>
              </a:rPr>
              <a:t>Amniocentesis</a:t>
            </a:r>
            <a:endParaRPr lang="en-US" sz="2800" b="1" dirty="0">
              <a:solidFill>
                <a:prstClr val="black"/>
              </a:solidFill>
            </a:endParaRPr>
          </a:p>
          <a:p>
            <a:pPr lvl="0"/>
            <a:endParaRPr lang="en-US" sz="2800" b="1" dirty="0">
              <a:solidFill>
                <a:prstClr val="black"/>
              </a:solidFill>
            </a:endParaRPr>
          </a:p>
          <a:p>
            <a:pPr marL="342900" lvl="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prstClr val="black"/>
                </a:solidFill>
              </a:rPr>
              <a:t>Amniocentesis</a:t>
            </a:r>
            <a:r>
              <a:rPr lang="en-US" sz="2800" dirty="0">
                <a:solidFill>
                  <a:prstClr val="black"/>
                </a:solidFill>
              </a:rPr>
              <a:t>, </a:t>
            </a:r>
            <a:r>
              <a:rPr lang="en-US" sz="2800" dirty="0" smtClean="0">
                <a:solidFill>
                  <a:srgbClr val="0070C0"/>
                </a:solidFill>
              </a:rPr>
              <a:t>15–17</a:t>
            </a:r>
            <a:r>
              <a:rPr lang="en-US" sz="2800" dirty="0" smtClean="0">
                <a:solidFill>
                  <a:prstClr val="black"/>
                </a:solidFill>
              </a:rPr>
              <a:t> weeks </a:t>
            </a:r>
            <a:r>
              <a:rPr lang="en-US" sz="2800" dirty="0">
                <a:solidFill>
                  <a:prstClr val="black"/>
                </a:solidFill>
              </a:rPr>
              <a:t>gestation, with culture of cells for </a:t>
            </a:r>
            <a:r>
              <a:rPr lang="en-US" sz="2800" dirty="0" smtClean="0">
                <a:solidFill>
                  <a:prstClr val="black"/>
                </a:solidFill>
              </a:rPr>
              <a:t>chromosome analysis</a:t>
            </a:r>
            <a:r>
              <a:rPr lang="en-US" sz="2800" dirty="0">
                <a:solidFill>
                  <a:prstClr val="black"/>
                </a:solidFill>
              </a:rPr>
              <a:t>, has been </a:t>
            </a:r>
            <a:r>
              <a:rPr lang="en-US" sz="2800" dirty="0" smtClean="0">
                <a:solidFill>
                  <a:prstClr val="black"/>
                </a:solidFill>
              </a:rPr>
              <a:t>standard cytogenetic prenatal </a:t>
            </a:r>
            <a:r>
              <a:rPr lang="en-US" sz="2800" dirty="0">
                <a:solidFill>
                  <a:prstClr val="black"/>
                </a:solidFill>
              </a:rPr>
              <a:t>diagnostic procedure </a:t>
            </a:r>
            <a:r>
              <a:rPr lang="en-US" sz="2800" dirty="0" smtClean="0">
                <a:solidFill>
                  <a:prstClr val="black"/>
                </a:solidFill>
              </a:rPr>
              <a:t>since 1970s</a:t>
            </a:r>
          </a:p>
          <a:p>
            <a:pPr marL="342900" lvl="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prstClr val="black"/>
                </a:solidFill>
              </a:rPr>
              <a:t>Has </a:t>
            </a:r>
            <a:r>
              <a:rPr lang="en-US" sz="2800" dirty="0">
                <a:solidFill>
                  <a:prstClr val="black"/>
                </a:solidFill>
              </a:rPr>
              <a:t>a high degree of safety to both </a:t>
            </a:r>
            <a:r>
              <a:rPr lang="en-US" sz="2800" dirty="0" smtClean="0">
                <a:solidFill>
                  <a:prstClr val="black"/>
                </a:solidFill>
              </a:rPr>
              <a:t>mother and fetus</a:t>
            </a:r>
          </a:p>
          <a:p>
            <a:pPr marL="342900" lvl="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prstClr val="black"/>
                </a:solidFill>
              </a:rPr>
              <a:t>Risk </a:t>
            </a:r>
            <a:r>
              <a:rPr lang="en-US" sz="2800" dirty="0">
                <a:solidFill>
                  <a:prstClr val="black"/>
                </a:solidFill>
              </a:rPr>
              <a:t>of </a:t>
            </a:r>
            <a:r>
              <a:rPr lang="en-US" sz="2800" dirty="0" smtClean="0">
                <a:solidFill>
                  <a:srgbClr val="0070C0"/>
                </a:solidFill>
              </a:rPr>
              <a:t>procedure-related miscarriage </a:t>
            </a:r>
            <a:r>
              <a:rPr lang="en-US" sz="2800" dirty="0">
                <a:solidFill>
                  <a:prstClr val="black"/>
                </a:solidFill>
              </a:rPr>
              <a:t>in women who had undergone amniocentesis </a:t>
            </a:r>
            <a:r>
              <a:rPr lang="en-US" sz="2800" dirty="0" smtClean="0">
                <a:solidFill>
                  <a:prstClr val="black"/>
                </a:solidFill>
              </a:rPr>
              <a:t>was 0.11</a:t>
            </a:r>
            <a:r>
              <a:rPr lang="en-US" sz="2800" dirty="0">
                <a:solidFill>
                  <a:prstClr val="black"/>
                </a:solidFill>
              </a:rPr>
              <a:t>% (approximately 1 in 1,000 procedures</a:t>
            </a:r>
            <a:r>
              <a:rPr lang="en-US" sz="2800" dirty="0" smtClean="0">
                <a:solidFill>
                  <a:prstClr val="black"/>
                </a:solidFill>
              </a:rPr>
              <a:t>)</a:t>
            </a:r>
          </a:p>
          <a:p>
            <a:pPr marL="342900" lvl="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prstClr val="black"/>
                </a:solidFill>
              </a:rPr>
              <a:t>A </a:t>
            </a:r>
            <a:r>
              <a:rPr lang="en-US" sz="2800" dirty="0">
                <a:solidFill>
                  <a:srgbClr val="0070C0"/>
                </a:solidFill>
              </a:rPr>
              <a:t>disadvantage</a:t>
            </a:r>
            <a:r>
              <a:rPr lang="en-US" sz="2800" dirty="0">
                <a:solidFill>
                  <a:prstClr val="black"/>
                </a:solidFill>
              </a:rPr>
              <a:t> of amniocentesis is that </a:t>
            </a:r>
            <a:r>
              <a:rPr lang="en-US" sz="2800" dirty="0" smtClean="0">
                <a:solidFill>
                  <a:prstClr val="black"/>
                </a:solidFill>
              </a:rPr>
              <a:t>results </a:t>
            </a:r>
            <a:r>
              <a:rPr lang="en-US" sz="2800" dirty="0">
                <a:solidFill>
                  <a:prstClr val="black"/>
                </a:solidFill>
              </a:rPr>
              <a:t>are not </a:t>
            </a:r>
            <a:r>
              <a:rPr lang="en-US" sz="2800" dirty="0" smtClean="0">
                <a:solidFill>
                  <a:prstClr val="black"/>
                </a:solidFill>
              </a:rPr>
              <a:t>to hand </a:t>
            </a:r>
            <a:r>
              <a:rPr lang="en-US" sz="2800" dirty="0">
                <a:solidFill>
                  <a:prstClr val="black"/>
                </a:solidFill>
              </a:rPr>
              <a:t>until about 16–18 </a:t>
            </a:r>
            <a:r>
              <a:rPr lang="en-US" sz="2800" dirty="0" smtClean="0">
                <a:solidFill>
                  <a:prstClr val="black"/>
                </a:solidFill>
              </a:rPr>
              <a:t>weeks</a:t>
            </a:r>
          </a:p>
        </p:txBody>
      </p:sp>
    </p:spTree>
    <p:extLst>
      <p:ext uri="{BB962C8B-B14F-4D97-AF65-F5344CB8AC3E}">
        <p14:creationId xmlns:p14="http://schemas.microsoft.com/office/powerpoint/2010/main" val="20085219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1F7EA-2260-4EAC-8923-572E6950003F}" type="datetime12">
              <a:rPr lang="en-US" smtClean="0"/>
              <a:t>10:09 PM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509CB-2895-4F27-99A5-EEDAF9F74DC8}" type="slidenum">
              <a:rPr lang="en-US" smtClean="0"/>
              <a:t>17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380785"/>
            <a:ext cx="4281488" cy="353853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90500" y="179778"/>
            <a:ext cx="262890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dirty="0" smtClean="0"/>
              <a:t>Amniocentesis</a:t>
            </a:r>
            <a:endParaRPr lang="en-US" sz="3000" dirty="0"/>
          </a:p>
        </p:txBody>
      </p:sp>
      <p:sp>
        <p:nvSpPr>
          <p:cNvPr id="6" name="TextBox 5"/>
          <p:cNvSpPr txBox="1"/>
          <p:nvPr/>
        </p:nvSpPr>
        <p:spPr>
          <a:xfrm>
            <a:off x="164374" y="4322228"/>
            <a:ext cx="88011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 smtClean="0"/>
              <a:t>A needle is inserted </a:t>
            </a:r>
            <a:r>
              <a:rPr lang="en-US" sz="2500" dirty="0" err="1" smtClean="0"/>
              <a:t>transabdominally</a:t>
            </a:r>
            <a:r>
              <a:rPr lang="en-US" sz="2500" dirty="0" smtClean="0"/>
              <a:t> into the amniotic cavity, and a sample of amniotic fluid is withdrawn by syringe for diagnostic studies (e.g. chromosome studies, enzyme measurements, or DNA analysis). </a:t>
            </a:r>
            <a:r>
              <a:rPr lang="en-US" sz="2500" dirty="0"/>
              <a:t>Success and safety depend </a:t>
            </a:r>
            <a:r>
              <a:rPr lang="en-US" sz="2500" dirty="0" smtClean="0"/>
              <a:t>on use </a:t>
            </a:r>
            <a:r>
              <a:rPr lang="en-US" sz="2500" dirty="0"/>
              <a:t>of ultrasound </a:t>
            </a:r>
            <a:r>
              <a:rPr lang="en-US" sz="2500" dirty="0" smtClean="0"/>
              <a:t>imaging. 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41325910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1F7EA-2260-4EAC-8923-572E6950003F}" type="datetime12">
              <a:rPr lang="en-US" smtClean="0"/>
              <a:t>9:50 PM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509CB-2895-4F27-99A5-EEDAF9F74DC8}" type="slidenum">
              <a:rPr lang="en-US" smtClean="0"/>
              <a:t>18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52400" y="228600"/>
            <a:ext cx="883920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Noninvasive prenatal </a:t>
            </a:r>
            <a:r>
              <a:rPr lang="en-US" sz="2800" b="1" dirty="0" smtClean="0"/>
              <a:t>testing using cell-free DNA from maternal blood</a:t>
            </a:r>
          </a:p>
          <a:p>
            <a:endParaRPr lang="en-US" sz="2800" dirty="0"/>
          </a:p>
          <a:p>
            <a:r>
              <a:rPr lang="en-US" sz="2800" dirty="0"/>
              <a:t>Noninvasive prenatal testing (</a:t>
            </a:r>
            <a:r>
              <a:rPr lang="en-US" sz="2800" dirty="0">
                <a:solidFill>
                  <a:srgbClr val="0070C0"/>
                </a:solidFill>
              </a:rPr>
              <a:t>NIPT</a:t>
            </a:r>
            <a:r>
              <a:rPr lang="en-US" sz="2800" dirty="0"/>
              <a:t>) for fetal aneuploidy detection, </a:t>
            </a:r>
            <a:r>
              <a:rPr lang="en-US" sz="2800" dirty="0" smtClean="0"/>
              <a:t>using cell-free </a:t>
            </a:r>
            <a:r>
              <a:rPr lang="en-US" sz="2800" dirty="0"/>
              <a:t>DNA from maternal blood, has been implemented in the </a:t>
            </a:r>
            <a:r>
              <a:rPr lang="en-US" sz="2800" dirty="0" smtClean="0"/>
              <a:t>clinical setting </a:t>
            </a:r>
            <a:r>
              <a:rPr lang="en-US" sz="2800" dirty="0"/>
              <a:t>since </a:t>
            </a:r>
            <a:r>
              <a:rPr lang="en-US" sz="2800" dirty="0" smtClean="0"/>
              <a:t>2012</a:t>
            </a:r>
          </a:p>
          <a:p>
            <a:endParaRPr lang="en-US" sz="2800" dirty="0"/>
          </a:p>
          <a:p>
            <a:r>
              <a:rPr lang="en-US" sz="2800" dirty="0"/>
              <a:t>Cell-free DNA (</a:t>
            </a:r>
            <a:r>
              <a:rPr lang="en-US" sz="2800" dirty="0" err="1">
                <a:solidFill>
                  <a:srgbClr val="0070C0"/>
                </a:solidFill>
              </a:rPr>
              <a:t>cfDNA</a:t>
            </a:r>
            <a:r>
              <a:rPr lang="en-US" sz="2800" dirty="0"/>
              <a:t>) testing takes advantage of the fact </a:t>
            </a:r>
            <a:r>
              <a:rPr lang="en-US" sz="2800" dirty="0" smtClean="0"/>
              <a:t>that everyone </a:t>
            </a:r>
            <a:r>
              <a:rPr lang="en-US" sz="2800" dirty="0"/>
              <a:t>has free DNA </a:t>
            </a:r>
            <a:r>
              <a:rPr lang="en-US" sz="2800" dirty="0" smtClean="0"/>
              <a:t>circulating in the </a:t>
            </a:r>
            <a:r>
              <a:rPr lang="en-US" sz="2800" dirty="0"/>
              <a:t>bloodstream, and in pregnant women, a proportion of that DNA </a:t>
            </a:r>
            <a:r>
              <a:rPr lang="en-US" sz="2800" dirty="0" smtClean="0"/>
              <a:t>is derived </a:t>
            </a:r>
            <a:r>
              <a:rPr lang="en-US" sz="2800" dirty="0"/>
              <a:t>from </a:t>
            </a:r>
            <a:r>
              <a:rPr lang="en-US" sz="2800" dirty="0" err="1" smtClean="0"/>
              <a:t>apoptosing</a:t>
            </a:r>
            <a:r>
              <a:rPr lang="en-US" sz="2800" dirty="0" smtClean="0"/>
              <a:t> cells of the fetus placenta</a:t>
            </a:r>
          </a:p>
          <a:p>
            <a:endParaRPr lang="en-US" sz="2800" dirty="0"/>
          </a:p>
          <a:p>
            <a:r>
              <a:rPr lang="en-US" sz="2800" dirty="0" smtClean="0"/>
              <a:t>The </a:t>
            </a:r>
            <a:r>
              <a:rPr lang="en-US" sz="2800" dirty="0"/>
              <a:t>“fetal fraction” of the maternal sample, </a:t>
            </a:r>
            <a:r>
              <a:rPr lang="en-US" sz="2800" dirty="0" smtClean="0"/>
              <a:t>typically comprises approximately </a:t>
            </a:r>
            <a:r>
              <a:rPr lang="en-US" sz="2800" dirty="0"/>
              <a:t>10% of the whole</a:t>
            </a:r>
          </a:p>
        </p:txBody>
      </p:sp>
    </p:spTree>
    <p:extLst>
      <p:ext uri="{BB962C8B-B14F-4D97-AF65-F5344CB8AC3E}">
        <p14:creationId xmlns:p14="http://schemas.microsoft.com/office/powerpoint/2010/main" val="2071539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1F7EA-2260-4EAC-8923-572E6950003F}" type="datetime12">
              <a:rPr lang="en-US" smtClean="0"/>
              <a:t>9:50 PM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509CB-2895-4F27-99A5-EEDAF9F74DC8}" type="slidenum">
              <a:rPr lang="en-US" smtClean="0"/>
              <a:t>19</a:t>
            </a:fld>
            <a:endParaRPr lang="en-US"/>
          </a:p>
        </p:txBody>
      </p:sp>
      <p:pic>
        <p:nvPicPr>
          <p:cNvPr id="1026" name="Picture 2" descr="https://i.pinimg.com/originals/8e/d5/02/8ed502195267eb93cb465ac0cf16534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2" y="135606"/>
            <a:ext cx="6023369" cy="6637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7327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867</TotalTime>
  <Words>902</Words>
  <Application>Microsoft Office PowerPoint</Application>
  <PresentationFormat>On-screen Show (4:3)</PresentationFormat>
  <Paragraphs>118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Wingdings</vt:lpstr>
      <vt:lpstr>Office Theme</vt:lpstr>
      <vt:lpstr>Prenatal diagnostic procedures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Prenatal diagnostic procedures</dc:title>
  <dc:creator>Asem</dc:creator>
  <cp:lastModifiedBy>JUST</cp:lastModifiedBy>
  <cp:revision>56</cp:revision>
  <dcterms:created xsi:type="dcterms:W3CDTF">2018-04-02T16:43:07Z</dcterms:created>
  <dcterms:modified xsi:type="dcterms:W3CDTF">2024-05-13T19:20:31Z</dcterms:modified>
</cp:coreProperties>
</file>